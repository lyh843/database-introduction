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8.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9.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10.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0"/>
  </p:notesMasterIdLst>
  <p:handoutMasterIdLst>
    <p:handoutMasterId r:id="rId131"/>
  </p:handoutMasterIdLst>
  <p:sldIdLst>
    <p:sldId id="687" r:id="rId2"/>
    <p:sldId id="331" r:id="rId3"/>
    <p:sldId id="763" r:id="rId4"/>
    <p:sldId id="262" r:id="rId5"/>
    <p:sldId id="404" r:id="rId6"/>
    <p:sldId id="263" r:id="rId7"/>
    <p:sldId id="764" r:id="rId8"/>
    <p:sldId id="765" r:id="rId9"/>
    <p:sldId id="545" r:id="rId10"/>
    <p:sldId id="476" r:id="rId11"/>
    <p:sldId id="266" r:id="rId12"/>
    <p:sldId id="267" r:id="rId13"/>
    <p:sldId id="268" r:id="rId14"/>
    <p:sldId id="269" r:id="rId15"/>
    <p:sldId id="271" r:id="rId16"/>
    <p:sldId id="272" r:id="rId17"/>
    <p:sldId id="273" r:id="rId18"/>
    <p:sldId id="274" r:id="rId19"/>
    <p:sldId id="767" r:id="rId20"/>
    <p:sldId id="275" r:id="rId21"/>
    <p:sldId id="277" r:id="rId22"/>
    <p:sldId id="278" r:id="rId23"/>
    <p:sldId id="839" r:id="rId24"/>
    <p:sldId id="893" r:id="rId25"/>
    <p:sldId id="913" r:id="rId26"/>
    <p:sldId id="279" r:id="rId27"/>
    <p:sldId id="895" r:id="rId28"/>
    <p:sldId id="914" r:id="rId29"/>
    <p:sldId id="912" r:id="rId30"/>
    <p:sldId id="915" r:id="rId31"/>
    <p:sldId id="917" r:id="rId32"/>
    <p:sldId id="916" r:id="rId33"/>
    <p:sldId id="918" r:id="rId34"/>
    <p:sldId id="919" r:id="rId35"/>
    <p:sldId id="920" r:id="rId36"/>
    <p:sldId id="921" r:id="rId37"/>
    <p:sldId id="977" r:id="rId38"/>
    <p:sldId id="922" r:id="rId39"/>
    <p:sldId id="900" r:id="rId40"/>
    <p:sldId id="901" r:id="rId41"/>
    <p:sldId id="902" r:id="rId42"/>
    <p:sldId id="904" r:id="rId43"/>
    <p:sldId id="905" r:id="rId44"/>
    <p:sldId id="906" r:id="rId45"/>
    <p:sldId id="978" r:id="rId46"/>
    <p:sldId id="909" r:id="rId47"/>
    <p:sldId id="908" r:id="rId48"/>
    <p:sldId id="910" r:id="rId49"/>
    <p:sldId id="911" r:id="rId50"/>
    <p:sldId id="896" r:id="rId51"/>
    <p:sldId id="979" r:id="rId52"/>
    <p:sldId id="982" r:id="rId53"/>
    <p:sldId id="981" r:id="rId54"/>
    <p:sldId id="980" r:id="rId55"/>
    <p:sldId id="984" r:id="rId56"/>
    <p:sldId id="983" r:id="rId57"/>
    <p:sldId id="985" r:id="rId58"/>
    <p:sldId id="986" r:id="rId59"/>
    <p:sldId id="987" r:id="rId60"/>
    <p:sldId id="988" r:id="rId61"/>
    <p:sldId id="1002" r:id="rId62"/>
    <p:sldId id="989" r:id="rId63"/>
    <p:sldId id="990" r:id="rId64"/>
    <p:sldId id="1006" r:id="rId65"/>
    <p:sldId id="1030" r:id="rId66"/>
    <p:sldId id="1007" r:id="rId67"/>
    <p:sldId id="1008" r:id="rId68"/>
    <p:sldId id="1032" r:id="rId69"/>
    <p:sldId id="1017" r:id="rId70"/>
    <p:sldId id="1149" r:id="rId71"/>
    <p:sldId id="1019" r:id="rId72"/>
    <p:sldId id="1020" r:id="rId73"/>
    <p:sldId id="1036" r:id="rId74"/>
    <p:sldId id="1037" r:id="rId75"/>
    <p:sldId id="1038" r:id="rId76"/>
    <p:sldId id="1039" r:id="rId77"/>
    <p:sldId id="1035" r:id="rId78"/>
    <p:sldId id="1021" r:id="rId79"/>
    <p:sldId id="1022" r:id="rId80"/>
    <p:sldId id="1023" r:id="rId81"/>
    <p:sldId id="1024" r:id="rId82"/>
    <p:sldId id="1083" r:id="rId83"/>
    <p:sldId id="1025" r:id="rId84"/>
    <p:sldId id="1027" r:id="rId85"/>
    <p:sldId id="1092" r:id="rId86"/>
    <p:sldId id="1093" r:id="rId87"/>
    <p:sldId id="1094" r:id="rId88"/>
    <p:sldId id="1095" r:id="rId89"/>
    <p:sldId id="1084" r:id="rId90"/>
    <p:sldId id="1085" r:id="rId91"/>
    <p:sldId id="1097" r:id="rId92"/>
    <p:sldId id="1099" r:id="rId93"/>
    <p:sldId id="1098" r:id="rId94"/>
    <p:sldId id="1100" r:id="rId95"/>
    <p:sldId id="1096" r:id="rId96"/>
    <p:sldId id="1087" r:id="rId97"/>
    <p:sldId id="1088" r:id="rId98"/>
    <p:sldId id="1089" r:id="rId99"/>
    <p:sldId id="1090" r:id="rId100"/>
    <p:sldId id="1104" r:id="rId101"/>
    <p:sldId id="1106" r:id="rId102"/>
    <p:sldId id="1107" r:id="rId103"/>
    <p:sldId id="1108" r:id="rId104"/>
    <p:sldId id="1109" r:id="rId105"/>
    <p:sldId id="1110" r:id="rId106"/>
    <p:sldId id="1111" r:id="rId107"/>
    <p:sldId id="1126" r:id="rId108"/>
    <p:sldId id="1113" r:id="rId109"/>
    <p:sldId id="1114" r:id="rId110"/>
    <p:sldId id="1115" r:id="rId111"/>
    <p:sldId id="1116" r:id="rId112"/>
    <p:sldId id="1117" r:id="rId113"/>
    <p:sldId id="1118" r:id="rId114"/>
    <p:sldId id="1119" r:id="rId115"/>
    <p:sldId id="1132" r:id="rId116"/>
    <p:sldId id="1127" r:id="rId117"/>
    <p:sldId id="1128" r:id="rId118"/>
    <p:sldId id="1129" r:id="rId119"/>
    <p:sldId id="1130" r:id="rId120"/>
    <p:sldId id="1131" r:id="rId121"/>
    <p:sldId id="1105" r:id="rId122"/>
    <p:sldId id="1120" r:id="rId123"/>
    <p:sldId id="1121" r:id="rId124"/>
    <p:sldId id="1122" r:id="rId125"/>
    <p:sldId id="1123" r:id="rId126"/>
    <p:sldId id="1124" r:id="rId127"/>
    <p:sldId id="1125" r:id="rId128"/>
    <p:sldId id="328" r:id="rId129"/>
  </p:sldIdLst>
  <p:sldSz cx="12192000" cy="6858000"/>
  <p:notesSz cx="6858000" cy="9144000"/>
  <p:custDataLst>
    <p:tags r:id="rId1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53" autoAdjust="0"/>
    <p:restoredTop sz="93405"/>
  </p:normalViewPr>
  <p:slideViewPr>
    <p:cSldViewPr snapToGrid="0">
      <p:cViewPr varScale="1">
        <p:scale>
          <a:sx n="136" d="100"/>
          <a:sy n="136" d="100"/>
        </p:scale>
        <p:origin x="69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gs" Target="tags/tag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2024.3.15  17:17</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a:t>
            </a:r>
            <a:r>
              <a:rPr lang="zh-CN" altLang="en-US" dirty="0">
                <a:sym typeface="+mn-ea"/>
              </a:rPr>
              <a:t>信息</a:t>
            </a:r>
            <a:r>
              <a:rPr lang="en-US" altLang="zh-CN" dirty="0">
                <a:sym typeface="+mn-ea"/>
              </a:rPr>
              <a:t>’</a:t>
            </a:r>
            <a:r>
              <a:rPr lang="zh-CN" altLang="en-US" dirty="0">
                <a:sym typeface="+mn-ea"/>
              </a:rPr>
              <a:t>泛指人类社会传播的一切内容。</a:t>
            </a:r>
            <a:endParaRPr lang="en-US" altLang="zh-CN" dirty="0">
              <a:sym typeface="+mn-ea"/>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诺伯特</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维纳</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数据是一种</a:t>
            </a:r>
            <a:r>
              <a:rPr lang="en-US" altLang="zh-CN"/>
              <a:t>  </a:t>
            </a:r>
            <a:r>
              <a:rPr lang="zh-CN" altLang="en-US"/>
              <a:t>新资源、新资产、新资本</a:t>
            </a:r>
            <a:endParaRPr lang="en-US" altLang="zh-CN"/>
          </a:p>
          <a:p>
            <a:r>
              <a:rPr lang="zh-CN" altLang="en-US"/>
              <a:t>数字经济</a:t>
            </a:r>
            <a:r>
              <a:rPr lang="en-US" altLang="zh-CN"/>
              <a:t>  --&gt; 2022</a:t>
            </a:r>
            <a:r>
              <a:rPr lang="zh-CN" altLang="en-US"/>
              <a:t>年，我国数字经济的</a:t>
            </a:r>
            <a:r>
              <a:rPr lang="en-US" altLang="zh-CN"/>
              <a:t>GDP</a:t>
            </a:r>
            <a:r>
              <a:rPr lang="zh-CN" altLang="en-US"/>
              <a:t>占比已超过</a:t>
            </a:r>
            <a:r>
              <a:rPr lang="en-US" altLang="zh-CN"/>
              <a:t>40%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SQL</a:t>
            </a:r>
            <a:r>
              <a:rPr lang="zh-CN" altLang="en-US"/>
              <a:t>：Structured Query Language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Cassandra</a:t>
            </a:r>
            <a:r>
              <a:rPr lang="zh-CN" altLang="en-US">
                <a:sym typeface="+mn-ea"/>
              </a:rPr>
              <a:t>：阿里云基于</a:t>
            </a:r>
            <a:r>
              <a:rPr lang="en-US" altLang="zh-CN">
                <a:sym typeface="+mn-ea"/>
              </a:rPr>
              <a:t>Apache</a:t>
            </a:r>
            <a:r>
              <a:rPr lang="zh-CN" altLang="en-US">
                <a:sym typeface="+mn-ea"/>
              </a:rPr>
              <a:t>架构、列存储、分布式数据库</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基础软件：</a:t>
            </a:r>
            <a:r>
              <a:rPr lang="en-US" altLang="zh-CN"/>
              <a:t>OS, DBMS, </a:t>
            </a:r>
            <a:r>
              <a:rPr lang="zh-CN" altLang="en-US"/>
              <a:t>中间件</a:t>
            </a:r>
          </a:p>
          <a:p>
            <a:r>
              <a:rPr lang="zh-CN" altLang="en-US"/>
              <a:t>2020年9月11日，习近平总书记在科学家座谈会上明确提出，广大科技工作者要“弘扬‘两弹一星’精神，主动肩负起历史重任，把自己的科学追求融入建设社会主义现代化国家的伟大事业中去”</a:t>
            </a:r>
          </a:p>
          <a:p>
            <a:r>
              <a:rPr lang="en-US" altLang="zh-CN"/>
              <a:t>1964.10.16</a:t>
            </a:r>
            <a:r>
              <a:rPr lang="zh-CN" altLang="en-US"/>
              <a:t>原子弹，</a:t>
            </a:r>
            <a:r>
              <a:rPr lang="en-US" altLang="zh-CN"/>
              <a:t>1967.6.17</a:t>
            </a:r>
            <a:r>
              <a:rPr lang="zh-CN" altLang="en-US"/>
              <a:t>氢弹，</a:t>
            </a:r>
            <a:r>
              <a:rPr lang="en-US" altLang="zh-CN"/>
              <a:t>1970.4.24</a:t>
            </a:r>
            <a:r>
              <a:rPr lang="zh-CN" altLang="en-US"/>
              <a:t>人造卫星（中国航天日）</a:t>
            </a:r>
          </a:p>
          <a:p>
            <a:r>
              <a:t>热爱祖国、无私奉献，自力更生、艰苦奋斗，大力协同、勇于登攀</a:t>
            </a:r>
          </a:p>
          <a:p>
            <a:r>
              <a:rPr lang="zh-CN" altLang="en-US"/>
              <a:t>自立自强</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A7D1B64-3B7B-4749-BCFC-E584430C4BBF}" type="slidenum">
              <a:rPr lang="en-US" altLang="zh-CN" smtClean="0"/>
              <a:t>64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5" name="页脚占位符 4"/>
          <p:cNvSpPr>
            <a:spLocks noGrp="1"/>
          </p:cNvSpPr>
          <p:nvPr>
            <p:ph type="ftr" sz="quarter" idx="11"/>
          </p:nvPr>
        </p:nvSpPr>
        <p:spPr/>
        <p:txBody>
          <a:bodyPr/>
          <a:lstStyle/>
          <a:p>
            <a:r>
              <a:rPr lang="zh-CN" altLang="en-US"/>
              <a:t>ch01_绪论</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p>
            <a:r>
              <a:rPr lang="zh-CN" altLang="en-US"/>
              <a:t>ch01_绪论</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4815" y="615950"/>
            <a:ext cx="557974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615950"/>
            <a:ext cx="558863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p>
            <a:r>
              <a:rPr lang="zh-CN" altLang="en-US"/>
              <a:t>ch01_绪论</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a:t>单击此处编辑母版标题样式</a:t>
            </a:r>
          </a:p>
        </p:txBody>
      </p:sp>
      <p:sp>
        <p:nvSpPr>
          <p:cNvPr id="3" name="文本占位符 2"/>
          <p:cNvSpPr>
            <a:spLocks noGrp="1"/>
          </p:cNvSpPr>
          <p:nvPr>
            <p:ph type="body" idx="1"/>
          </p:nvPr>
        </p:nvSpPr>
        <p:spPr>
          <a:xfrm>
            <a:off x="424800" y="604520"/>
            <a:ext cx="558000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24815" y="1229995"/>
            <a:ext cx="5579745" cy="538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604520"/>
            <a:ext cx="558927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229995"/>
            <a:ext cx="5589270" cy="538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p>
            <a:r>
              <a:rPr lang="zh-CN" altLang="en-US"/>
              <a:t>ch01_绪论</a:t>
            </a:r>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r>
              <a:rPr lang="zh-CN" altLang="en-US"/>
              <a:t>ch01_绪论</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horz"/>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1"/>
            <p:custDataLst>
              <p:tags r:id="rId1"/>
            </p:custDataLst>
          </p:nvPr>
        </p:nvSpPr>
        <p:spPr/>
        <p:txBody>
          <a:bodyPr/>
          <a:lstStyle/>
          <a:p>
            <a:r>
              <a:rPr lang="zh-CN" altLang="en-US"/>
              <a:t>ch01_绪论</a:t>
            </a:r>
          </a:p>
        </p:txBody>
      </p:sp>
      <p:sp>
        <p:nvSpPr>
          <p:cNvPr id="7" name="灯片编号占位符 6"/>
          <p:cNvSpPr>
            <a:spLocks noGrp="1"/>
          </p:cNvSpPr>
          <p:nvPr>
            <p:ph type="sldNum" sz="quarter" idx="12"/>
            <p:custDataLst>
              <p:tags r:id="rId2"/>
            </p:custDataLst>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a:t>单击此处编辑母版标题样式</a:t>
            </a:r>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0" y="6695365"/>
            <a:ext cx="4114800" cy="153670"/>
          </a:xfrm>
          <a:prstGeom prst="rect">
            <a:avLst/>
          </a:prstGeom>
        </p:spPr>
        <p:txBody>
          <a:bodyPr vert="horz" lIns="91440" tIns="0" rIns="91440" bIns="0" rtlCol="0" anchor="ctr">
            <a:spAutoFit/>
          </a:bodyPr>
          <a:lstStyle>
            <a:lvl1pPr algn="l">
              <a:defRPr sz="1000" b="1" i="0">
                <a:solidFill>
                  <a:schemeClr val="tx1">
                    <a:tint val="75000"/>
                  </a:schemeClr>
                </a:solidFill>
                <a:latin typeface="+mn-lt"/>
                <a:ea typeface="楷体" panose="02010609060101010101" charset="-122"/>
                <a:cs typeface="+mn-lt"/>
              </a:defRPr>
            </a:lvl1pPr>
          </a:lstStyle>
          <a:p>
            <a:r>
              <a:rPr lang="zh-CN" altLang="en-US"/>
              <a:t>ch01_绪论</a:t>
            </a:r>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360680" indent="-36068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楷体" panose="02010609060101010101" charset="-122"/>
          <a:ea typeface="楷体" panose="02010609060101010101" charset="-122"/>
          <a:cs typeface="+mn-cs"/>
        </a:defRPr>
      </a:lvl1pPr>
      <a:lvl2pPr marL="6858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4pPr>
      <a:lvl5pPr marL="20574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
        <a:defRPr sz="24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2.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image" Target="../media/image4.png"/><Relationship Id="rId2" Type="http://schemas.openxmlformats.org/officeDocument/2006/relationships/tags" Target="../tags/tag24.xml"/><Relationship Id="rId16" Type="http://schemas.openxmlformats.org/officeDocument/2006/relationships/image" Target="../media/image2.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slideLayout" Target="../slideLayouts/slideLayout5.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slideLayout" Target="../slideLayouts/slideLayout5.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25.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6.xml"/></Relationships>
</file>

<file path=ppt/slides/_rels/slide32.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slideLayout" Target="../slideLayouts/slideLayout5.xml"/><Relationship Id="rId5" Type="http://schemas.openxmlformats.org/officeDocument/2006/relationships/tags" Target="../tags/tag7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tags" Target="../tags/tag89.xml"/><Relationship Id="rId18" Type="http://schemas.openxmlformats.org/officeDocument/2006/relationships/tags" Target="../tags/tag9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tags" Target="../tags/tag88.xml"/><Relationship Id="rId17" Type="http://schemas.openxmlformats.org/officeDocument/2006/relationships/tags" Target="../tags/tag93.xml"/><Relationship Id="rId2" Type="http://schemas.openxmlformats.org/officeDocument/2006/relationships/tags" Target="../tags/tag78.xml"/><Relationship Id="rId16" Type="http://schemas.openxmlformats.org/officeDocument/2006/relationships/tags" Target="../tags/tag92.xml"/><Relationship Id="rId20" Type="http://schemas.openxmlformats.org/officeDocument/2006/relationships/slideLayout" Target="../slideLayouts/slideLayout5.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5" Type="http://schemas.openxmlformats.org/officeDocument/2006/relationships/tags" Target="../tags/tag91.xml"/><Relationship Id="rId10" Type="http://schemas.openxmlformats.org/officeDocument/2006/relationships/tags" Target="../tags/tag86.xml"/><Relationship Id="rId19" Type="http://schemas.openxmlformats.org/officeDocument/2006/relationships/tags" Target="../tags/tag95.xml"/><Relationship Id="rId4" Type="http://schemas.openxmlformats.org/officeDocument/2006/relationships/tags" Target="../tags/tag80.xml"/><Relationship Id="rId9" Type="http://schemas.openxmlformats.org/officeDocument/2006/relationships/tags" Target="../tags/tag85.xml"/><Relationship Id="rId14" Type="http://schemas.openxmlformats.org/officeDocument/2006/relationships/tags" Target="../tags/tag9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tags" Target="../tags/tag113.xml"/><Relationship Id="rId26" Type="http://schemas.openxmlformats.org/officeDocument/2006/relationships/tags" Target="../tags/tag121.xml"/><Relationship Id="rId3" Type="http://schemas.openxmlformats.org/officeDocument/2006/relationships/tags" Target="../tags/tag98.xml"/><Relationship Id="rId21" Type="http://schemas.openxmlformats.org/officeDocument/2006/relationships/tags" Target="../tags/tag116.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tags" Target="../tags/tag112.xml"/><Relationship Id="rId25" Type="http://schemas.openxmlformats.org/officeDocument/2006/relationships/tags" Target="../tags/tag120.xml"/><Relationship Id="rId2" Type="http://schemas.openxmlformats.org/officeDocument/2006/relationships/tags" Target="../tags/tag97.xml"/><Relationship Id="rId16" Type="http://schemas.openxmlformats.org/officeDocument/2006/relationships/tags" Target="../tags/tag111.xml"/><Relationship Id="rId20" Type="http://schemas.openxmlformats.org/officeDocument/2006/relationships/tags" Target="../tags/tag115.xml"/><Relationship Id="rId29" Type="http://schemas.openxmlformats.org/officeDocument/2006/relationships/slideLayout" Target="../slideLayouts/slideLayout5.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24" Type="http://schemas.openxmlformats.org/officeDocument/2006/relationships/tags" Target="../tags/tag119.xml"/><Relationship Id="rId5" Type="http://schemas.openxmlformats.org/officeDocument/2006/relationships/tags" Target="../tags/tag100.xml"/><Relationship Id="rId15" Type="http://schemas.openxmlformats.org/officeDocument/2006/relationships/tags" Target="../tags/tag110.xml"/><Relationship Id="rId23" Type="http://schemas.openxmlformats.org/officeDocument/2006/relationships/tags" Target="../tags/tag118.xml"/><Relationship Id="rId28" Type="http://schemas.openxmlformats.org/officeDocument/2006/relationships/tags" Target="../tags/tag123.xml"/><Relationship Id="rId10" Type="http://schemas.openxmlformats.org/officeDocument/2006/relationships/tags" Target="../tags/tag105.xml"/><Relationship Id="rId19" Type="http://schemas.openxmlformats.org/officeDocument/2006/relationships/tags" Target="../tags/tag114.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tags" Target="../tags/tag117.xml"/><Relationship Id="rId27" Type="http://schemas.openxmlformats.org/officeDocument/2006/relationships/tags" Target="../tags/tag122.xml"/></Relationships>
</file>

<file path=ppt/slides/_rels/slide39.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image" Target="../media/image12.tiff"/><Relationship Id="rId3" Type="http://schemas.openxmlformats.org/officeDocument/2006/relationships/tags" Target="../tags/tag126.xml"/><Relationship Id="rId7" Type="http://schemas.openxmlformats.org/officeDocument/2006/relationships/tags" Target="../tags/tag130.xml"/><Relationship Id="rId12" Type="http://schemas.openxmlformats.org/officeDocument/2006/relationships/image" Target="../media/image11.jpe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10.jpeg"/><Relationship Id="rId5" Type="http://schemas.openxmlformats.org/officeDocument/2006/relationships/tags" Target="../tags/tag128.xml"/><Relationship Id="rId10" Type="http://schemas.openxmlformats.org/officeDocument/2006/relationships/image" Target="../media/image9.jpeg"/><Relationship Id="rId4" Type="http://schemas.openxmlformats.org/officeDocument/2006/relationships/tags" Target="../tags/tag127.xml"/><Relationship Id="rId9"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database.ppt"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3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5.xml"/><Relationship Id="rId1" Type="http://schemas.openxmlformats.org/officeDocument/2006/relationships/tags" Target="../tags/tag133.xml"/><Relationship Id="rId4" Type="http://schemas.openxmlformats.org/officeDocument/2006/relationships/hyperlink" Target="https://db-engines.com/en/ranking"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34.xml"/><Relationship Id="rId4" Type="http://schemas.openxmlformats.org/officeDocument/2006/relationships/image" Target="../media/image16.jpe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modb.pro/dbrank" TargetMode="Externa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137.xml"/><Relationship Id="rId7" Type="http://schemas.openxmlformats.org/officeDocument/2006/relationships/image" Target="../media/image19.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18.png"/><Relationship Id="rId5" Type="http://schemas.openxmlformats.org/officeDocument/2006/relationships/slideLayout" Target="../slideLayouts/slideLayout5.xml"/><Relationship Id="rId4" Type="http://schemas.openxmlformats.org/officeDocument/2006/relationships/tags" Target="../tags/tag1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slideLayout" Target="../slideLayouts/slideLayout5.xml"/><Relationship Id="rId4" Type="http://schemas.openxmlformats.org/officeDocument/2006/relationships/tags" Target="../tags/tag14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6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44.xml"/><Relationship Id="rId4" Type="http://schemas.openxmlformats.org/officeDocument/2006/relationships/image" Target="../media/image2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18" Type="http://schemas.openxmlformats.org/officeDocument/2006/relationships/slideLayout" Target="../slideLayouts/slideLayout2.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tags" Target="../tags/tag161.xml"/><Relationship Id="rId2" Type="http://schemas.openxmlformats.org/officeDocument/2006/relationships/tags" Target="../tags/tag146.xml"/><Relationship Id="rId16" Type="http://schemas.openxmlformats.org/officeDocument/2006/relationships/tags" Target="../tags/tag160.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tags" Target="../tags/tag159.xml"/><Relationship Id="rId10" Type="http://schemas.openxmlformats.org/officeDocument/2006/relationships/tags" Target="../tags/tag154.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tags" Target="../tags/tag177.xml"/><Relationship Id="rId18" Type="http://schemas.openxmlformats.org/officeDocument/2006/relationships/slideLayout" Target="../slideLayouts/slideLayout2.xml"/><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tags" Target="../tags/tag176.xml"/><Relationship Id="rId17" Type="http://schemas.openxmlformats.org/officeDocument/2006/relationships/tags" Target="../tags/tag181.xml"/><Relationship Id="rId2" Type="http://schemas.openxmlformats.org/officeDocument/2006/relationships/tags" Target="../tags/tag166.xml"/><Relationship Id="rId16" Type="http://schemas.openxmlformats.org/officeDocument/2006/relationships/tags" Target="../tags/tag180.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5" Type="http://schemas.openxmlformats.org/officeDocument/2006/relationships/tags" Target="../tags/tag169.xml"/><Relationship Id="rId15" Type="http://schemas.openxmlformats.org/officeDocument/2006/relationships/tags" Target="../tags/tag179.xml"/><Relationship Id="rId10" Type="http://schemas.openxmlformats.org/officeDocument/2006/relationships/tags" Target="../tags/tag174.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tags" Target="../tags/tag178.xml"/></Relationships>
</file>

<file path=ppt/slides/_rels/slide82.xml.rels><?xml version="1.0" encoding="UTF-8" standalone="yes"?>
<Relationships xmlns="http://schemas.openxmlformats.org/package/2006/relationships"><Relationship Id="rId8" Type="http://schemas.openxmlformats.org/officeDocument/2006/relationships/tags" Target="../tags/tag189.xml"/><Relationship Id="rId13" Type="http://schemas.openxmlformats.org/officeDocument/2006/relationships/slideLayout" Target="../slideLayouts/slideLayout2.xml"/><Relationship Id="rId3" Type="http://schemas.openxmlformats.org/officeDocument/2006/relationships/tags" Target="../tags/tag184.xml"/><Relationship Id="rId7" Type="http://schemas.openxmlformats.org/officeDocument/2006/relationships/tags" Target="../tags/tag188.xml"/><Relationship Id="rId12" Type="http://schemas.openxmlformats.org/officeDocument/2006/relationships/tags" Target="../tags/tag193.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tags" Target="../tags/tag192.xml"/><Relationship Id="rId5" Type="http://schemas.openxmlformats.org/officeDocument/2006/relationships/tags" Target="../tags/tag186.xml"/><Relationship Id="rId10" Type="http://schemas.openxmlformats.org/officeDocument/2006/relationships/tags" Target="../tags/tag191.xml"/><Relationship Id="rId4" Type="http://schemas.openxmlformats.org/officeDocument/2006/relationships/tags" Target="../tags/tag185.xml"/><Relationship Id="rId9" Type="http://schemas.openxmlformats.org/officeDocument/2006/relationships/tags" Target="../tags/tag190.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tags" Target="../tags/tag19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5.xml"/><Relationship Id="rId1" Type="http://schemas.openxmlformats.org/officeDocument/2006/relationships/tags" Target="../tags/tag198.xml"/></Relationships>
</file>

<file path=ppt/slides/_rels/slide9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201.xml"/><Relationship Id="rId7" Type="http://schemas.openxmlformats.org/officeDocument/2006/relationships/image" Target="../media/image34.wmf"/><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oleObject" Target="../embeddings/oleObject1.bin"/><Relationship Id="rId5" Type="http://schemas.openxmlformats.org/officeDocument/2006/relationships/slideLayout" Target="../slideLayouts/slideLayout5.xml"/><Relationship Id="rId4" Type="http://schemas.openxmlformats.org/officeDocument/2006/relationships/tags" Target="../tags/tag20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20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3.png"/><Relationship Id="rId2" Type="http://schemas.openxmlformats.org/officeDocument/2006/relationships/oleObject" Target="../embeddings/oleObject2.bin"/><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oleObject" Target="../embeddings/oleObject3.bin"/><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lstStyle/>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a:t>
            </a:r>
            <a:r>
              <a:rPr kumimoji="1" lang="en-US" altLang="zh-CN" sz="20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6</a:t>
            </a:r>
            <a:r>
              <a:rPr kumimoji="1" lang="zh-CN" altLang="en-US" sz="20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 </a:t>
            </a: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春季）</a:t>
            </a: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lstStyle/>
          <a:p>
            <a:pPr algn="ct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第</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1</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章</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  </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绪论</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mn-ea"/>
              </a:rPr>
              <a:t>第</a:t>
            </a:r>
            <a:r>
              <a:rPr lang="en-US" altLang="zh-CN" dirty="0">
                <a:sym typeface="+mn-ea"/>
              </a:rPr>
              <a:t> 1 </a:t>
            </a:r>
            <a:r>
              <a:rPr lang="zh-CN" altLang="en-US" dirty="0">
                <a:sym typeface="+mn-ea"/>
              </a:rPr>
              <a:t>章  </a:t>
            </a:r>
            <a:r>
              <a:rPr lang="en-US" altLang="zh-CN" dirty="0">
                <a:sym typeface="+mn-ea"/>
              </a:rPr>
              <a:t> </a:t>
            </a:r>
            <a:r>
              <a:rPr lang="zh-CN" altLang="en-US" dirty="0">
                <a:sym typeface="+mn-ea"/>
              </a:rPr>
              <a:t>绪</a:t>
            </a:r>
            <a:r>
              <a:rPr lang="en-US" altLang="zh-CN" dirty="0">
                <a:sym typeface="+mn-ea"/>
              </a:rPr>
              <a:t>  </a:t>
            </a:r>
            <a:r>
              <a:rPr lang="zh-CN" altLang="en-US" dirty="0">
                <a:sym typeface="+mn-ea"/>
              </a:rPr>
              <a:t>论</a:t>
            </a:r>
            <a:endParaRPr lang="en-US" altLang="zh-CN" dirty="0">
              <a:sym typeface="+mn-ea"/>
            </a:endParaRPr>
          </a:p>
        </p:txBody>
      </p:sp>
      <p:sp>
        <p:nvSpPr>
          <p:cNvPr id="5" name="内容占位符 4"/>
          <p:cNvSpPr>
            <a:spLocks noGrp="1"/>
          </p:cNvSpPr>
          <p:nvPr>
            <p:ph idx="1"/>
          </p:nvPr>
        </p:nvSpPr>
        <p:spPr/>
        <p:txBody>
          <a:bodyPr/>
          <a:lstStyle/>
          <a:p>
            <a:pPr>
              <a:lnSpc>
                <a:spcPct val="100000"/>
              </a:lnSpc>
              <a:spcBef>
                <a:spcPts val="1000"/>
              </a:spcBef>
            </a:pPr>
            <a:r>
              <a:rPr lang="zh-CN" altLang="en-US"/>
              <a:t>当今，信息资源已经成为社会的重要财富和资源，计算机信息系统也已成为一个企业或组织生存和发展的重要条件。</a:t>
            </a:r>
          </a:p>
          <a:p>
            <a:pPr>
              <a:lnSpc>
                <a:spcPct val="100000"/>
              </a:lnSpc>
              <a:spcBef>
                <a:spcPts val="1000"/>
              </a:spcBef>
            </a:pPr>
            <a:r>
              <a:rPr lang="zh-CN" altLang="en-US"/>
              <a:t>作为信息系统核心和基础的数据库技术得到越来越广泛的应用。</a:t>
            </a:r>
          </a:p>
        </p:txBody>
      </p:sp>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2</a:t>
            </a:fld>
            <a:endParaRPr lang="zh-CN" altLang="en-US"/>
          </a:p>
        </p:txBody>
      </p:sp>
      <p:grpSp>
        <p:nvGrpSpPr>
          <p:cNvPr id="8" name="组合 7"/>
          <p:cNvGrpSpPr/>
          <p:nvPr>
            <p:custDataLst>
              <p:tags r:id="rId1"/>
            </p:custDataLst>
          </p:nvPr>
        </p:nvGrpSpPr>
        <p:grpSpPr>
          <a:xfrm>
            <a:off x="972185" y="2814955"/>
            <a:ext cx="10180321" cy="1075254"/>
            <a:chOff x="1531" y="4481"/>
            <a:chExt cx="16032" cy="1693"/>
          </a:xfrm>
        </p:grpSpPr>
        <p:sp>
          <p:nvSpPr>
            <p:cNvPr id="16" name="矩形 15"/>
            <p:cNvSpPr/>
            <p:nvPr>
              <p:custDataLst>
                <p:tags r:id="rId6"/>
              </p:custDataLst>
            </p:nvPr>
          </p:nvSpPr>
          <p:spPr>
            <a:xfrm>
              <a:off x="1641" y="4580"/>
              <a:ext cx="15799" cy="1501"/>
            </a:xfrm>
            <a:prstGeom prst="rect">
              <a:avLst/>
            </a:prstGeom>
            <a:solidFill>
              <a:schemeClr val="accent1">
                <a:lumMod val="20000"/>
                <a:lumOff val="80000"/>
                <a:alpha val="30000"/>
              </a:schemeClr>
            </a:solid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lIns="252095" rtlCol="0" anchor="ctr" anchorCtr="0">
              <a:spAutoFit/>
            </a:bodyPr>
            <a:lstStyle/>
            <a:p>
              <a:pPr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从</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联机事务处理</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(On-Line Transaction Processing, OLTP)</a:t>
              </a:r>
            </a:p>
            <a:p>
              <a:pPr lvl="1"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到</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联机分析处理</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(On-Line Analysis Processing, OLAP)</a:t>
              </a:r>
            </a:p>
          </p:txBody>
        </p:sp>
        <p:sp>
          <p:nvSpPr>
            <p:cNvPr id="18" name="任意多边形 17"/>
            <p:cNvSpPr/>
            <p:nvPr>
              <p:custDataLst>
                <p:tags r:id="rId7"/>
              </p:custDataLst>
            </p:nvPr>
          </p:nvSpPr>
          <p:spPr>
            <a:xfrm flipV="1">
              <a:off x="1531" y="4481"/>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2" charset="0"/>
                <a:cs typeface="Times New Roman" panose="02020603050405020304" pitchFamily="2" charset="0"/>
              </a:endParaRPr>
            </a:p>
          </p:txBody>
        </p:sp>
        <p:sp>
          <p:nvSpPr>
            <p:cNvPr id="19" name="任意多边形 18"/>
            <p:cNvSpPr/>
            <p:nvPr>
              <p:custDataLst>
                <p:tags r:id="rId8"/>
              </p:custDataLst>
            </p:nvPr>
          </p:nvSpPr>
          <p:spPr>
            <a:xfrm flipH="1">
              <a:off x="15724" y="5828"/>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2" charset="0"/>
                <a:cs typeface="Times New Roman" panose="02020603050405020304" pitchFamily="2" charset="0"/>
              </a:endParaRPr>
            </a:p>
          </p:txBody>
        </p:sp>
      </p:grpSp>
      <p:grpSp>
        <p:nvGrpSpPr>
          <p:cNvPr id="9" name="组合 8"/>
          <p:cNvGrpSpPr/>
          <p:nvPr>
            <p:custDataLst>
              <p:tags r:id="rId2"/>
            </p:custDataLst>
          </p:nvPr>
        </p:nvGrpSpPr>
        <p:grpSpPr>
          <a:xfrm>
            <a:off x="972022" y="4297372"/>
            <a:ext cx="10180297" cy="1951048"/>
            <a:chOff x="1531" y="6768"/>
            <a:chExt cx="16032" cy="3073"/>
          </a:xfrm>
        </p:grpSpPr>
        <p:sp>
          <p:nvSpPr>
            <p:cNvPr id="28" name="矩形 27"/>
            <p:cNvSpPr/>
            <p:nvPr>
              <p:custDataLst>
                <p:tags r:id="rId3"/>
              </p:custDataLst>
            </p:nvPr>
          </p:nvSpPr>
          <p:spPr>
            <a:xfrm>
              <a:off x="1641" y="6869"/>
              <a:ext cx="15799" cy="2858"/>
            </a:xfrm>
            <a:prstGeom prst="rect">
              <a:avLst/>
            </a:prstGeom>
            <a:solidFill>
              <a:schemeClr val="accent1">
                <a:lumMod val="20000"/>
                <a:lumOff val="80000"/>
                <a:alpha val="30000"/>
              </a:schemeClr>
            </a:solid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lIns="252095" rtlCol="0" anchor="ctr" anchorCtr="0">
              <a:spAutoFit/>
            </a:bodyPr>
            <a:lstStyle/>
            <a:p>
              <a:pPr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从一般</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科学计算</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到</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企业资源计划</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(ERP)</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计算机辅助设计与制造</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(CAD/CAM)</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计算机集成制造系统</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(CIMS)</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电子政务</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(e-Government)</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电子商务</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(e-Commerce)</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地理信息系统</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(GIS) ...</a:t>
              </a:r>
            </a:p>
          </p:txBody>
        </p:sp>
        <p:sp>
          <p:nvSpPr>
            <p:cNvPr id="30" name="任意多边形 29"/>
            <p:cNvSpPr/>
            <p:nvPr>
              <p:custDataLst>
                <p:tags r:id="rId4"/>
              </p:custDataLst>
            </p:nvPr>
          </p:nvSpPr>
          <p:spPr>
            <a:xfrm flipV="1">
              <a:off x="1531" y="6768"/>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2" charset="0"/>
                <a:cs typeface="Times New Roman" panose="02020603050405020304" pitchFamily="2" charset="0"/>
              </a:endParaRPr>
            </a:p>
          </p:txBody>
        </p:sp>
        <p:sp>
          <p:nvSpPr>
            <p:cNvPr id="31" name="任意多边形 30"/>
            <p:cNvSpPr/>
            <p:nvPr>
              <p:custDataLst>
                <p:tags r:id="rId5"/>
              </p:custDataLst>
            </p:nvPr>
          </p:nvSpPr>
          <p:spPr>
            <a:xfrm flipH="1">
              <a:off x="15724" y="9494"/>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2" charset="0"/>
                <a:cs typeface="Times New Roman" panose="02020603050405020304" pitchFamily="2" charset="0"/>
              </a:endParaRPr>
            </a:p>
          </p:txBody>
        </p:sp>
      </p:gr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mn-ea"/>
              </a:rPr>
              <a:t>第</a:t>
            </a:r>
            <a:r>
              <a:rPr lang="en-US" altLang="zh-CN" dirty="0">
                <a:sym typeface="+mn-ea"/>
              </a:rPr>
              <a:t> 1 </a:t>
            </a:r>
            <a:r>
              <a:rPr lang="zh-CN" altLang="en-US" dirty="0">
                <a:sym typeface="+mn-ea"/>
              </a:rPr>
              <a:t>章  </a:t>
            </a:r>
            <a:r>
              <a:rPr lang="en-US" altLang="zh-CN" dirty="0">
                <a:sym typeface="+mn-ea"/>
              </a:rPr>
              <a:t> </a:t>
            </a:r>
            <a:r>
              <a:rPr lang="zh-CN" altLang="en-US" dirty="0">
                <a:sym typeface="+mn-ea"/>
              </a:rPr>
              <a:t>绪</a:t>
            </a:r>
            <a:r>
              <a:rPr lang="en-US" altLang="zh-CN" dirty="0">
                <a:sym typeface="+mn-ea"/>
              </a:rPr>
              <a:t>  </a:t>
            </a:r>
            <a:r>
              <a:rPr lang="zh-CN" altLang="en-US" dirty="0">
                <a:sym typeface="+mn-ea"/>
              </a:rPr>
              <a:t>论</a:t>
            </a:r>
            <a:endParaRPr lang="en-US" altLang="zh-CN" dirty="0">
              <a:sym typeface="+mn-ea"/>
            </a:endParaRPr>
          </a:p>
        </p:txBody>
      </p:sp>
      <p:sp>
        <p:nvSpPr>
          <p:cNvPr id="5" name="内容占位符 4"/>
          <p:cNvSpPr>
            <a:spLocks noGrp="1"/>
          </p:cNvSpPr>
          <p:nvPr>
            <p:ph idx="1"/>
          </p:nvPr>
        </p:nvSpPr>
        <p:spPr/>
        <p:txBody>
          <a:bodyPr/>
          <a:lstStyle/>
          <a:p>
            <a:pPr>
              <a:lnSpc>
                <a:spcPct val="100000"/>
              </a:lnSpc>
              <a:spcBef>
                <a:spcPts val="1000"/>
              </a:spcBef>
            </a:pPr>
            <a:r>
              <a:rPr lang="zh-CN" altLang="en-US"/>
              <a:t>数据库是数据管理的有效技术，是计算机科学的一个重要分支。</a:t>
            </a:r>
          </a:p>
          <a:p>
            <a:pPr>
              <a:lnSpc>
                <a:spcPct val="100000"/>
              </a:lnSpc>
              <a:spcBef>
                <a:spcPts val="1000"/>
              </a:spcBef>
            </a:pPr>
            <a:r>
              <a:rPr lang="zh-CN" altLang="en-US">
                <a:sym typeface="+mn-ea"/>
              </a:rPr>
              <a:t>数据库课程不仅是计算机类专业、信息管理专业的重要课程，也是许多非计算机专业的选修课程。</a:t>
            </a:r>
          </a:p>
          <a:p>
            <a:pPr>
              <a:lnSpc>
                <a:spcPct val="100000"/>
              </a:lnSpc>
              <a:spcBef>
                <a:spcPts val="1000"/>
              </a:spcBef>
            </a:pPr>
            <a:endParaRPr lang="zh-CN" altLang="en-US">
              <a:sym typeface="+mn-ea"/>
            </a:endParaRPr>
          </a:p>
          <a:p>
            <a:pPr>
              <a:lnSpc>
                <a:spcPct val="100000"/>
              </a:lnSpc>
              <a:spcBef>
                <a:spcPts val="1000"/>
              </a:spcBef>
            </a:pPr>
            <a:r>
              <a:rPr lang="zh-CN" altLang="en-US">
                <a:solidFill>
                  <a:srgbClr val="FF0000"/>
                </a:solidFill>
              </a:rPr>
              <a:t>本章主要内容</a:t>
            </a:r>
            <a:r>
              <a:rPr lang="zh-CN" altLang="en-US">
                <a:solidFill>
                  <a:srgbClr val="1F2DA8"/>
                </a:solidFill>
              </a:rPr>
              <a:t>（初步介绍）</a:t>
            </a:r>
            <a:endParaRPr lang="zh-CN" altLang="en-US"/>
          </a:p>
          <a:p>
            <a:pPr lvl="1">
              <a:lnSpc>
                <a:spcPct val="100000"/>
              </a:lnSpc>
              <a:spcBef>
                <a:spcPts val="1000"/>
              </a:spcBef>
            </a:pPr>
            <a:r>
              <a:rPr lang="zh-CN" altLang="en-US"/>
              <a:t>数据库的基本概念</a:t>
            </a:r>
          </a:p>
          <a:p>
            <a:pPr lvl="1">
              <a:lnSpc>
                <a:spcPct val="100000"/>
              </a:lnSpc>
              <a:spcBef>
                <a:spcPts val="1000"/>
              </a:spcBef>
            </a:pPr>
            <a:r>
              <a:rPr lang="zh-CN" altLang="en-US"/>
              <a:t>数据模型的组成要素</a:t>
            </a:r>
            <a:r>
              <a:rPr lang="en-US" altLang="zh-CN"/>
              <a:t> </a:t>
            </a:r>
            <a:r>
              <a:rPr lang="zh-CN" altLang="en-US"/>
              <a:t>和</a:t>
            </a:r>
            <a:r>
              <a:rPr lang="en-US" altLang="zh-CN"/>
              <a:t> </a:t>
            </a:r>
            <a:r>
              <a:rPr lang="zh-CN" altLang="en-US"/>
              <a:t>常用数据模型</a:t>
            </a:r>
          </a:p>
          <a:p>
            <a:pPr lvl="1">
              <a:lnSpc>
                <a:spcPct val="100000"/>
              </a:lnSpc>
              <a:spcBef>
                <a:spcPts val="1000"/>
              </a:spcBef>
            </a:pPr>
            <a:r>
              <a:rPr lang="zh-CN" altLang="en-US"/>
              <a:t>数据库的三级模式</a:t>
            </a:r>
            <a:r>
              <a:rPr lang="en-US" altLang="zh-CN"/>
              <a:t> </a:t>
            </a:r>
            <a:r>
              <a:rPr lang="zh-CN" altLang="en-US"/>
              <a:t>和</a:t>
            </a:r>
            <a:r>
              <a:rPr lang="en-US" altLang="zh-CN"/>
              <a:t> </a:t>
            </a:r>
            <a:r>
              <a:rPr lang="zh-CN" altLang="en-US"/>
              <a:t>数据库系统的主要组成部分</a:t>
            </a:r>
          </a:p>
        </p:txBody>
      </p:sp>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3</a:t>
            </a:fld>
            <a:endParaRPr lang="zh-CN" altLang="en-US"/>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blinds(horizontal)">
                                      <p:cBhvr>
                                        <p:cTn id="10" dur="500"/>
                                        <p:tgtEl>
                                          <p:spTgt spid="5">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blinds(horizontal)">
                                      <p:cBhvr>
                                        <p:cTn id="13" dur="500"/>
                                        <p:tgtEl>
                                          <p:spTgt spid="5">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blinds(horizontal)">
                                      <p:cBhvr>
                                        <p:cTn id="16"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wrap="square" tIns="0" bIns="0" anchor="ctr"/>
          <a:lstStyle/>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p>
        </p:txBody>
      </p:sp>
      <p:sp>
        <p:nvSpPr>
          <p:cNvPr id="5124" name="Rectangle 3"/>
          <p:cNvSpPr>
            <a:spLocks noGrp="1"/>
          </p:cNvSpPr>
          <p:nvPr>
            <p:ph idx="1"/>
          </p:nvPr>
        </p:nvSpPr>
        <p:spPr/>
        <p:txBody>
          <a:bodyPr wrap="square" anchor="t"/>
          <a:lstStyle/>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2" action="ppaction://hlinksldjump"/>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1.1  数据库系统概述</a:t>
            </a:r>
            <a:endParaRPr lang="zh-CN" altLang="en-US"/>
          </a:p>
        </p:txBody>
      </p:sp>
      <p:sp>
        <p:nvSpPr>
          <p:cNvPr id="3" name="内容占位符 2"/>
          <p:cNvSpPr>
            <a:spLocks noGrp="1"/>
          </p:cNvSpPr>
          <p:nvPr>
            <p:ph idx="1"/>
          </p:nvPr>
        </p:nvSpPr>
        <p:spPr/>
        <p:txBody>
          <a:bodyPr/>
          <a:lstStyle/>
          <a:p>
            <a:pPr marL="0" indent="0">
              <a:lnSpc>
                <a:spcPct val="150000"/>
              </a:lnSpc>
              <a:buNone/>
            </a:pPr>
            <a:r>
              <a:rPr lang="en-US" altLang="zh-CN"/>
              <a:t>1.1.1 </a:t>
            </a:r>
            <a:r>
              <a:rPr lang="zh-CN" altLang="en-US"/>
              <a:t>数据库的四个基本概念</a:t>
            </a:r>
          </a:p>
          <a:p>
            <a:pPr marL="0" indent="0">
              <a:lnSpc>
                <a:spcPct val="150000"/>
              </a:lnSpc>
              <a:buNone/>
            </a:pPr>
            <a:r>
              <a:rPr lang="en-US" altLang="zh-CN"/>
              <a:t>1.1.2 </a:t>
            </a:r>
            <a:r>
              <a:rPr lang="zh-CN" altLang="en-US"/>
              <a:t>数据管理技术的产生和发展</a:t>
            </a:r>
          </a:p>
          <a:p>
            <a:pPr marL="0" indent="0">
              <a:lnSpc>
                <a:spcPct val="150000"/>
              </a:lnSpc>
              <a:buNone/>
            </a:pPr>
            <a:r>
              <a:rPr lang="en-US" altLang="zh-CN"/>
              <a:t>1.1.3 </a:t>
            </a:r>
            <a:r>
              <a:rPr lang="zh-CN" altLang="en-US"/>
              <a:t>数据库系统的特点</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p:cNvSpPr>
          <p:nvPr>
            <p:ph type="title"/>
          </p:nvPr>
        </p:nvSpPr>
        <p:spPr/>
        <p:txBody>
          <a:bodyPr wrap="square" tIns="0" bIns="0" anchor="ctr"/>
          <a:lstStyle/>
          <a:p>
            <a:pPr eaLnBrk="1" hangingPunct="1"/>
            <a:r>
              <a:rPr lang="en-US" altLang="zh-CN"/>
              <a:t>1.1.1  数据库</a:t>
            </a:r>
            <a:r>
              <a:rPr lang="zh-CN" altLang="en-US"/>
              <a:t>的四个基本概念</a:t>
            </a:r>
          </a:p>
        </p:txBody>
      </p:sp>
      <p:sp>
        <p:nvSpPr>
          <p:cNvPr id="6148" name="Rectangle 3"/>
          <p:cNvSpPr>
            <a:spLocks noGrp="1"/>
          </p:cNvSpPr>
          <p:nvPr>
            <p:ph idx="1"/>
          </p:nvPr>
        </p:nvSpPr>
        <p:spPr/>
        <p:txBody>
          <a:bodyPr wrap="square" anchor="t"/>
          <a:lstStyle/>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data</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ata</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B</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ase</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数据库管理系统（</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ata</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B</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ase </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M</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anagement </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S</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y</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stem</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数据库系统</a:t>
            </a:r>
            <a:r>
              <a:rPr lang="zh-CN">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cs typeface="楷体" panose="02010609060101010101" charset="-122"/>
                <a:sym typeface="Wingdings 3" panose="05040102010807070707" pitchFamily="2" charset="2"/>
              </a:rPr>
              <a:t>D</a:t>
            </a:r>
            <a:r>
              <a:rPr lang="en-US" altLang="zh-CN">
                <a:solidFill>
                  <a:srgbClr val="1F2DA8"/>
                </a:solidFill>
                <a:cs typeface="楷体" panose="02010609060101010101" charset="-122"/>
                <a:sym typeface="Wingdings 3" panose="05040102010807070707" pitchFamily="2" charset="2"/>
              </a:rPr>
              <a:t>ata</a:t>
            </a:r>
            <a:r>
              <a:rPr lang="en-US" altLang="zh-CN">
                <a:solidFill>
                  <a:srgbClr val="FF0000"/>
                </a:solidFill>
                <a:cs typeface="楷体" panose="02010609060101010101" charset="-122"/>
                <a:sym typeface="Wingdings 3" panose="05040102010807070707" pitchFamily="2" charset="2"/>
              </a:rPr>
              <a:t>B</a:t>
            </a:r>
            <a:r>
              <a:rPr lang="en-US" altLang="zh-CN">
                <a:cs typeface="楷体" panose="02010609060101010101" charset="-122"/>
                <a:sym typeface="Wingdings 3" panose="05040102010807070707" pitchFamily="2" charset="2"/>
              </a:rPr>
              <a:t>ase </a:t>
            </a:r>
            <a:r>
              <a:rPr lang="en-US" altLang="zh-CN">
                <a:solidFill>
                  <a:srgbClr val="FF0000"/>
                </a:solidFill>
                <a:cs typeface="楷体" panose="02010609060101010101" charset="-122"/>
                <a:sym typeface="Wingdings 3" panose="05040102010807070707" pitchFamily="2" charset="2"/>
              </a:rPr>
              <a:t>S</a:t>
            </a:r>
            <a:r>
              <a:rPr lang="en-US" altLang="zh-CN">
                <a:cs typeface="楷体" panose="02010609060101010101" charset="-122"/>
                <a:sym typeface="Wingdings 3" panose="05040102010807070707" pitchFamily="2" charset="2"/>
              </a:rPr>
              <a:t>ystem</a:t>
            </a:r>
            <a:r>
              <a:rPr lang="zh-CN" altLang="en-US">
                <a:cs typeface="楷体" panose="02010609060101010101" charset="-122"/>
                <a:sym typeface="Wingdings 3" panose="05040102010807070707" pitchFamily="2" charset="2"/>
              </a:rPr>
              <a:t>，</a:t>
            </a:r>
            <a:r>
              <a:rPr lang="en-US" altLang="zh-CN">
                <a:solidFill>
                  <a:srgbClr val="FF0000"/>
                </a:solidFill>
                <a:cs typeface="楷体" panose="02010609060101010101" charset="-122"/>
                <a:sym typeface="Wingdings 3" panose="05040102010807070707" pitchFamily="2" charset="2"/>
              </a:rPr>
              <a:t>DBS</a:t>
            </a:r>
            <a:r>
              <a:rPr lang="zh-CN">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6</a:t>
            </a:fld>
            <a:endParaRPr lang="zh-CN" altLang="en-US" strike="noStrike" noProof="1"/>
          </a:p>
        </p:txBody>
      </p:sp>
      <p:sp>
        <p:nvSpPr>
          <p:cNvPr id="5" name="文本框 4"/>
          <p:cNvSpPr txBox="1"/>
          <p:nvPr/>
        </p:nvSpPr>
        <p:spPr>
          <a:xfrm>
            <a:off x="907415" y="4018915"/>
            <a:ext cx="9834245" cy="1976120"/>
          </a:xfrm>
          <a:prstGeom prst="rect">
            <a:avLst/>
          </a:prstGeom>
          <a:noFill/>
        </p:spPr>
        <p:txBody>
          <a:bodyPr wrap="square" rtlCol="0">
            <a:spAutoFit/>
          </a:bodyPr>
          <a:lstStyle/>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数据库用户（</a:t>
            </a:r>
            <a:r>
              <a:rPr lang="en-US" altLang="zh-CN" sz="3000" b="1">
                <a:solidFill>
                  <a:srgbClr val="1F2DA8"/>
                </a:solidFill>
                <a:latin typeface="楷体" panose="02010609060101010101" charset="-122"/>
                <a:ea typeface="楷体" panose="02010609060101010101" charset="-122"/>
                <a:cs typeface="楷体" panose="02010609060101010101" charset="-122"/>
              </a:rPr>
              <a:t>Database User</a:t>
            </a:r>
            <a:r>
              <a:rPr lang="zh-CN" altLang="en-US" sz="3000" b="1">
                <a:solidFill>
                  <a:srgbClr val="1F2DA8"/>
                </a:solidFill>
                <a:latin typeface="楷体" panose="02010609060101010101" charset="-122"/>
                <a:ea typeface="楷体" panose="02010609060101010101" charset="-122"/>
                <a:cs typeface="楷体" panose="02010609060101010101" charset="-122"/>
              </a:rPr>
              <a:t>）</a:t>
            </a:r>
            <a:endParaRPr lang="en-US" altLang="zh-CN" sz="3000" b="1">
              <a:solidFill>
                <a:srgbClr val="1F2DA8"/>
              </a:solidFill>
              <a:latin typeface="楷体" panose="02010609060101010101" charset="-122"/>
              <a:ea typeface="楷体" panose="02010609060101010101" charset="-122"/>
              <a:cs typeface="楷体" panose="02010609060101010101" charset="-122"/>
            </a:endParaRPr>
          </a:p>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数据库管理员（</a:t>
            </a:r>
            <a:r>
              <a:rPr lang="en-US" altLang="zh-CN" sz="3000" b="1">
                <a:solidFill>
                  <a:srgbClr val="FF0000"/>
                </a:solidFill>
                <a:latin typeface="楷体" panose="02010609060101010101" charset="-122"/>
                <a:ea typeface="楷体" panose="02010609060101010101" charset="-122"/>
                <a:cs typeface="楷体" panose="02010609060101010101" charset="-122"/>
              </a:rPr>
              <a:t>D</a:t>
            </a:r>
            <a:r>
              <a:rPr lang="en-US" altLang="zh-CN" sz="3000" b="1">
                <a:solidFill>
                  <a:srgbClr val="1F2DA8"/>
                </a:solidFill>
                <a:latin typeface="楷体" panose="02010609060101010101" charset="-122"/>
                <a:ea typeface="楷体" panose="02010609060101010101" charset="-122"/>
                <a:cs typeface="楷体" panose="02010609060101010101" charset="-122"/>
              </a:rPr>
              <a:t>ata</a:t>
            </a:r>
            <a:r>
              <a:rPr lang="en-US" altLang="zh-CN" sz="3000" b="1">
                <a:solidFill>
                  <a:srgbClr val="FF0000"/>
                </a:solidFill>
                <a:latin typeface="楷体" panose="02010609060101010101" charset="-122"/>
                <a:ea typeface="楷体" panose="02010609060101010101" charset="-122"/>
                <a:cs typeface="楷体" panose="02010609060101010101" charset="-122"/>
              </a:rPr>
              <a:t>B</a:t>
            </a:r>
            <a:r>
              <a:rPr lang="en-US" altLang="zh-CN" sz="3000" b="1">
                <a:solidFill>
                  <a:srgbClr val="1F2DA8"/>
                </a:solidFill>
                <a:latin typeface="楷体" panose="02010609060101010101" charset="-122"/>
                <a:ea typeface="楷体" panose="02010609060101010101" charset="-122"/>
                <a:cs typeface="楷体" panose="02010609060101010101" charset="-122"/>
              </a:rPr>
              <a:t>ase </a:t>
            </a:r>
            <a:r>
              <a:rPr lang="en-US" altLang="zh-CN" sz="3000" b="1">
                <a:solidFill>
                  <a:srgbClr val="FF0000"/>
                </a:solidFill>
                <a:latin typeface="楷体" panose="02010609060101010101" charset="-122"/>
                <a:ea typeface="楷体" panose="02010609060101010101" charset="-122"/>
                <a:cs typeface="楷体" panose="02010609060101010101" charset="-122"/>
              </a:rPr>
              <a:t>A</a:t>
            </a:r>
            <a:r>
              <a:rPr lang="en-US" altLang="zh-CN" sz="3000" b="1">
                <a:solidFill>
                  <a:srgbClr val="1F2DA8"/>
                </a:solidFill>
                <a:latin typeface="楷体" panose="02010609060101010101" charset="-122"/>
                <a:ea typeface="楷体" panose="02010609060101010101" charset="-122"/>
                <a:cs typeface="楷体" panose="02010609060101010101" charset="-122"/>
              </a:rPr>
              <a:t>dministrator</a:t>
            </a:r>
            <a:r>
              <a:rPr lang="zh-CN" altLang="en-US" sz="3000" b="1">
                <a:solidFill>
                  <a:srgbClr val="1F2DA8"/>
                </a:solidFill>
                <a:latin typeface="楷体" panose="02010609060101010101" charset="-122"/>
                <a:ea typeface="楷体" panose="02010609060101010101" charset="-122"/>
                <a:cs typeface="楷体" panose="02010609060101010101" charset="-122"/>
              </a:rPr>
              <a:t>，</a:t>
            </a:r>
            <a:r>
              <a:rPr lang="en-US" altLang="zh-CN" sz="3000" b="1">
                <a:solidFill>
                  <a:srgbClr val="FF0000"/>
                </a:solidFill>
                <a:latin typeface="楷体" panose="02010609060101010101" charset="-122"/>
                <a:ea typeface="楷体" panose="02010609060101010101" charset="-122"/>
                <a:cs typeface="楷体" panose="02010609060101010101" charset="-122"/>
              </a:rPr>
              <a:t>DBA</a:t>
            </a:r>
            <a:r>
              <a:rPr lang="zh-CN" altLang="en-US" sz="3000" b="1">
                <a:solidFill>
                  <a:srgbClr val="1F2DA8"/>
                </a:solidFill>
                <a:latin typeface="楷体" panose="02010609060101010101" charset="-122"/>
                <a:ea typeface="楷体" panose="02010609060101010101" charset="-122"/>
                <a:cs typeface="楷体" panose="02010609060101010101" charset="-122"/>
              </a:rPr>
              <a:t>）</a:t>
            </a:r>
          </a:p>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数据库应用系统（</a:t>
            </a:r>
            <a:r>
              <a:rPr lang="en-US" altLang="zh-CN" sz="3000" b="1">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DataBase Application System</a:t>
            </a:r>
            <a:r>
              <a:rPr lang="zh-CN" altLang="en-US" sz="3000" b="1">
                <a:solidFill>
                  <a:srgbClr val="1F2DA8"/>
                </a:solidFill>
                <a:latin typeface="楷体" panose="02010609060101010101" charset="-122"/>
                <a:ea typeface="楷体" panose="02010609060101010101" charset="-122"/>
                <a:cs typeface="楷体" panose="02010609060101010101" charset="-122"/>
              </a:rPr>
              <a:t>）</a:t>
            </a:r>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7172" name="Rectangle 3"/>
          <p:cNvSpPr>
            <a:spLocks noGrp="1"/>
          </p:cNvSpPr>
          <p:nvPr>
            <p:ph idx="1"/>
          </p:nvPr>
        </p:nvSpPr>
        <p:spPr>
          <a:xfrm>
            <a:off x="424180" y="615950"/>
            <a:ext cx="11343005" cy="4897755"/>
          </a:xfrm>
        </p:spPr>
        <p:txBody>
          <a:bodyPr wrap="square" anchor="t">
            <a:spAutoFit/>
          </a:bodyPr>
          <a:lstStyle/>
          <a:p>
            <a:pPr marL="457200" indent="-457200" eaLnBrk="1" hangingPunct="1">
              <a:lnSpc>
                <a:spcPct val="100000"/>
              </a:lnSpc>
              <a:spcBef>
                <a:spcPts val="1000"/>
              </a:spcBef>
              <a:buFont typeface="+mj-lt"/>
              <a:buAutoNum type="arabicPeriod"/>
            </a:pPr>
            <a:r>
              <a:rPr lang="zh-CN" altLang="en-US" dirty="0">
                <a:solidFill>
                  <a:srgbClr val="FF0000"/>
                </a:solidFill>
                <a:latin typeface="楷体" panose="02010609060101010101" charset="-122"/>
                <a:ea typeface="楷体" panose="02010609060101010101" charset="-122"/>
                <a:cs typeface="楷体" panose="02010609060101010101" charset="-122"/>
              </a:rPr>
              <a:t>数据</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data）</a:t>
            </a:r>
          </a:p>
          <a:p>
            <a:pPr lvl="1" eaLnBrk="1" hangingPunct="1">
              <a:lnSpc>
                <a:spcPct val="100000"/>
              </a:lnSpc>
              <a:spcBef>
                <a:spcPts val="1000"/>
              </a:spcBef>
              <a:spcAft>
                <a:spcPts val="2000"/>
              </a:spcAft>
            </a:pP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rPr>
              <a:t>数据</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latin typeface="楷体" panose="02010609060101010101" charset="-122"/>
                <a:ea typeface="楷体" panose="02010609060101010101" charset="-122"/>
                <a:cs typeface="楷体" panose="02010609060101010101" charset="-122"/>
              </a:rPr>
              <a:t>是指具有一定的</a:t>
            </a:r>
            <a:r>
              <a:rPr lang="zh-CN" altLang="en-US" dirty="0">
                <a:solidFill>
                  <a:srgbClr val="FF0000"/>
                </a:solidFill>
                <a:latin typeface="楷体" panose="02010609060101010101" charset="-122"/>
                <a:ea typeface="楷体" panose="02010609060101010101" charset="-122"/>
                <a:cs typeface="楷体" panose="02010609060101010101" charset="-122"/>
              </a:rPr>
              <a:t>语义</a:t>
            </a:r>
            <a:r>
              <a:rPr lang="en-US" altLang="zh-CN" dirty="0">
                <a:solidFill>
                  <a:srgbClr val="1F2DA8"/>
                </a:solidFill>
                <a:latin typeface="楷体" panose="02010609060101010101" charset="-122"/>
                <a:ea typeface="楷体" panose="02010609060101010101" charset="-122"/>
                <a:cs typeface="楷体" panose="02010609060101010101" charset="-122"/>
              </a:rPr>
              <a:t>(semantic)</a:t>
            </a:r>
            <a:r>
              <a:rPr lang="zh-CN" altLang="en-US" dirty="0">
                <a:latin typeface="楷体" panose="02010609060101010101" charset="-122"/>
                <a:ea typeface="楷体" panose="02010609060101010101" charset="-122"/>
                <a:cs typeface="楷体" panose="02010609060101010101" charset="-122"/>
              </a:rPr>
              <a:t>含义，并且可以被记录下来的已知信息。</a:t>
            </a:r>
          </a:p>
          <a:p>
            <a:pPr lvl="1" eaLnBrk="1" hangingPunct="1">
              <a:lnSpc>
                <a:spcPct val="100000"/>
              </a:lnSpc>
              <a:spcBef>
                <a:spcPts val="1000"/>
              </a:spcBef>
            </a:pPr>
            <a:r>
              <a:rPr lang="zh-CN" altLang="en-US" dirty="0">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什么是</a:t>
            </a:r>
            <a:r>
              <a:rPr lang="en-US" altLang="zh-CN" dirty="0">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FF0000"/>
                </a:solidFill>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语义</a:t>
            </a:r>
            <a:r>
              <a:rPr lang="en-US" altLang="zh-CN" dirty="0">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在计算机中，</a:t>
            </a: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被表示为</a:t>
            </a:r>
            <a:r>
              <a:rPr lang="zh-CN" altLang="en-US" i="1"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具有一定格式或结构的符号串</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solidFill>
                  <a:srgbClr val="1F2DA8"/>
                </a:solidFill>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描述事物的符号串</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p>
          <a:p>
            <a:pPr lvl="2" eaLnBrk="1" hangingPunct="1">
              <a:lnSpc>
                <a:spcPct val="100000"/>
              </a:lnSpc>
              <a:spcBef>
                <a:spcPts val="1000"/>
              </a:spcBef>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单纯的符号没有任何意义，需要给予解释，说明其含义。数据的含义即</a:t>
            </a:r>
            <a:r>
              <a:rPr lang="en-US" altLang="zh-CN" dirty="0">
                <a:solidFill>
                  <a:srgbClr val="1F2DA8"/>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语义</a:t>
            </a:r>
            <a:r>
              <a:rPr lang="en-US" altLang="zh-CN" dirty="0">
                <a:solidFill>
                  <a:srgbClr val="1F2DA8"/>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spcBef>
                <a:spcPts val="1000"/>
              </a:spcBef>
            </a:pP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只有被赋予确定含义后，</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数据</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才能变成人们可用的</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信息</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blinds(horizontal)">
                                      <p:cBhvr>
                                        <p:cTn id="7" dur="500"/>
                                        <p:tgtEl>
                                          <p:spTgt spid="717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2" dur="500"/>
                                        <p:tgtEl>
                                          <p:spTgt spid="717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animEffect transition="in" filter="blinds(horizontal)">
                                      <p:cBhvr>
                                        <p:cTn id="17" dur="500"/>
                                        <p:tgtEl>
                                          <p:spTgt spid="717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72">
                                            <p:txEl>
                                              <p:pRg st="4" end="4"/>
                                            </p:txEl>
                                          </p:spTgt>
                                        </p:tgtEl>
                                        <p:attrNameLst>
                                          <p:attrName>style.visibility</p:attrName>
                                        </p:attrNameLst>
                                      </p:cBhvr>
                                      <p:to>
                                        <p:strVal val="visible"/>
                                      </p:to>
                                    </p:set>
                                    <p:animEffect transition="in" filter="blinds(horizontal)">
                                      <p:cBhvr>
                                        <p:cTn id="22" dur="500"/>
                                        <p:tgtEl>
                                          <p:spTgt spid="717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Effect transition="in" filter="blinds(horizontal)">
                                      <p:cBhvr>
                                        <p:cTn id="27" dur="500"/>
                                        <p:tgtEl>
                                          <p:spTgt spid="71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p:txBody>
          <a:bodyPr wrap="square" tIns="0" bIns="0" anchor="ctr"/>
          <a:lstStyle/>
          <a:p>
            <a:pPr eaLnBrk="1" hangingPunct="1"/>
            <a:r>
              <a:rPr lang="zh-CN" altLang="en-US">
                <a:sym typeface="+mn-ea"/>
              </a:rPr>
              <a:t>数据</a:t>
            </a:r>
            <a:r>
              <a:rPr lang="en-US" altLang="zh-CN">
                <a:sym typeface="+mn-ea"/>
              </a:rPr>
              <a:t> &amp; </a:t>
            </a:r>
            <a:r>
              <a:rPr lang="zh-CN" altLang="en-US">
                <a:sym typeface="+mn-ea"/>
              </a:rPr>
              <a:t>信息（</a:t>
            </a:r>
            <a:r>
              <a:rPr lang="en-US" altLang="zh-CN">
                <a:sym typeface="+mn-ea"/>
              </a:rPr>
              <a:t>1</a:t>
            </a:r>
            <a:r>
              <a:rPr lang="zh-CN" altLang="en-US">
                <a:sym typeface="+mn-ea"/>
              </a:rPr>
              <a:t>）</a:t>
            </a:r>
          </a:p>
        </p:txBody>
      </p:sp>
      <p:sp>
        <p:nvSpPr>
          <p:cNvPr id="7172" name="Rectangle 3"/>
          <p:cNvSpPr>
            <a:spLocks noGrp="1"/>
          </p:cNvSpPr>
          <p:nvPr>
            <p:ph idx="1"/>
          </p:nvPr>
        </p:nvSpPr>
        <p:spPr>
          <a:xfrm>
            <a:off x="424180" y="615950"/>
            <a:ext cx="11343005" cy="3522980"/>
          </a:xfrm>
        </p:spPr>
        <p:txBody>
          <a:bodyPr wrap="square" anchor="t">
            <a:spAutoFit/>
          </a:bodyPr>
          <a:lstStyle/>
          <a:p>
            <a:pPr lvl="0" eaLnBrk="1" hangingPunct="1">
              <a:lnSpc>
                <a:spcPct val="100000"/>
              </a:lnSpc>
              <a:spcBef>
                <a:spcPts val="1000"/>
              </a:spcBef>
            </a:pPr>
            <a:r>
              <a:rPr lang="zh-CN" altLang="en-US" dirty="0">
                <a:solidFill>
                  <a:srgbClr val="1F2DA8"/>
                </a:solidFill>
                <a:highlight>
                  <a:srgbClr val="FFFF00"/>
                </a:highlight>
                <a:latin typeface="Arial" panose="020B0604020202020204" pitchFamily="34" charset="0"/>
                <a:cs typeface="Arial" panose="020B0604020202020204" pitchFamily="34" charset="0"/>
                <a:sym typeface="+mn-ea"/>
              </a:rPr>
              <a:t>什么是</a:t>
            </a:r>
            <a:r>
              <a:rPr lang="en-US" altLang="zh-CN" dirty="0">
                <a:solidFill>
                  <a:srgbClr val="1F2DA8"/>
                </a:solidFill>
                <a:highlight>
                  <a:srgbClr val="FFFF00"/>
                </a:highlight>
                <a:latin typeface="Arial" panose="020B0604020202020204" pitchFamily="34" charset="0"/>
                <a:cs typeface="Arial" panose="020B0604020202020204" pitchFamily="34" charset="0"/>
                <a:sym typeface="+mn-ea"/>
              </a:rPr>
              <a:t>‘</a:t>
            </a:r>
            <a:r>
              <a:rPr lang="zh-CN" altLang="en-US" dirty="0">
                <a:solidFill>
                  <a:srgbClr val="FF0000"/>
                </a:solidFill>
                <a:highlight>
                  <a:srgbClr val="FFFF00"/>
                </a:highlight>
                <a:latin typeface="Arial" panose="020B0604020202020204" pitchFamily="34" charset="0"/>
                <a:cs typeface="Arial" panose="020B0604020202020204" pitchFamily="34" charset="0"/>
                <a:sym typeface="+mn-ea"/>
              </a:rPr>
              <a:t>信息</a:t>
            </a:r>
            <a:r>
              <a:rPr lang="en-US" altLang="zh-CN" dirty="0">
                <a:solidFill>
                  <a:srgbClr val="1F2DA8"/>
                </a:solidFill>
                <a:highlight>
                  <a:srgbClr val="FFFF00"/>
                </a:highlight>
                <a:latin typeface="Arial" panose="020B0604020202020204" pitchFamily="34" charset="0"/>
                <a:cs typeface="Arial" panose="020B0604020202020204" pitchFamily="34" charset="0"/>
                <a:sym typeface="+mn-ea"/>
              </a:rPr>
              <a:t>’</a:t>
            </a:r>
            <a:r>
              <a:rPr lang="en-US" altLang="zh-CN" dirty="0">
                <a:solidFill>
                  <a:srgbClr val="1F2DA8"/>
                </a:solidFill>
                <a:highlight>
                  <a:srgbClr val="FFFF00"/>
                </a:highlight>
                <a:latin typeface="Times New Roman" panose="02020603050405020304" pitchFamily="2" charset="0"/>
                <a:cs typeface="Times New Roman" panose="02020603050405020304" pitchFamily="2" charset="0"/>
                <a:sym typeface="+mn-ea"/>
              </a:rPr>
              <a:t> (information)</a:t>
            </a:r>
            <a:r>
              <a:rPr lang="zh-CN" altLang="en-US" dirty="0">
                <a:solidFill>
                  <a:srgbClr val="1F2DA8"/>
                </a:solidFill>
                <a:highlight>
                  <a:srgbClr val="FFFF00"/>
                </a:highlight>
                <a:latin typeface="Arial" panose="020B0604020202020204" pitchFamily="34" charset="0"/>
                <a:cs typeface="Arial" panose="020B0604020202020204" pitchFamily="34" charset="0"/>
                <a:sym typeface="+mn-ea"/>
              </a:rPr>
              <a:t>？</a:t>
            </a:r>
            <a:endParaRPr lang="en-US" altLang="zh-CN" dirty="0">
              <a:solidFill>
                <a:srgbClr val="FF0000"/>
              </a:solidFill>
              <a:latin typeface="Arial" panose="020B0604020202020204" pitchFamily="34" charset="0"/>
              <a:cs typeface="Arial" panose="020B0604020202020204" pitchFamily="34" charset="0"/>
              <a:sym typeface="+mn-ea"/>
            </a:endParaRPr>
          </a:p>
          <a:p>
            <a:pPr lvl="1" eaLnBrk="1" hangingPunct="1">
              <a:lnSpc>
                <a:spcPct val="100000"/>
              </a:lnSpc>
              <a:spcBef>
                <a:spcPts val="1000"/>
              </a:spcBef>
            </a:pPr>
            <a:r>
              <a:rPr lang="zh-CN" altLang="en-US" dirty="0">
                <a:sym typeface="+mn-ea"/>
              </a:rPr>
              <a:t>信息是用来消除随机不确定性的东西。</a:t>
            </a:r>
            <a:r>
              <a:rPr lang="en-US" altLang="zh-CN" dirty="0">
                <a:sym typeface="+mn-ea"/>
              </a:rPr>
              <a:t>[</a:t>
            </a:r>
            <a:r>
              <a:rPr lang="zh-CN" altLang="en-US" dirty="0">
                <a:sym typeface="+mn-ea"/>
              </a:rPr>
              <a:t>Shannon</a:t>
            </a:r>
            <a:r>
              <a:rPr lang="en-US" altLang="zh-CN" dirty="0">
                <a:sym typeface="+mn-ea"/>
              </a:rPr>
              <a:t>]</a:t>
            </a:r>
            <a:endParaRPr lang="zh-CN" altLang="en-US" dirty="0">
              <a:sym typeface="+mn-ea"/>
            </a:endParaRPr>
          </a:p>
          <a:p>
            <a:pPr lvl="1" eaLnBrk="1" hangingPunct="1">
              <a:lnSpc>
                <a:spcPct val="100000"/>
              </a:lnSpc>
              <a:spcBef>
                <a:spcPts val="1000"/>
              </a:spcBef>
            </a:pPr>
            <a:r>
              <a:rPr lang="zh-CN" altLang="en-US" dirty="0">
                <a:sym typeface="+mn-ea"/>
              </a:rPr>
              <a:t>信息是人们在适应外部世界，并使这种适应反作用于外部世界的过程中，同外部世界进行互相交换的内容和名称。</a:t>
            </a:r>
            <a:r>
              <a:rPr lang="en-US" altLang="zh-CN" dirty="0">
                <a:sym typeface="+mn-ea"/>
              </a:rPr>
              <a:t>[</a:t>
            </a:r>
            <a:r>
              <a:rPr lang="zh-CN" altLang="en-US" dirty="0">
                <a:sym typeface="+mn-ea"/>
              </a:rPr>
              <a:t>Norbert Wiener</a:t>
            </a:r>
            <a:r>
              <a:rPr lang="en-US" altLang="zh-CN" dirty="0">
                <a:sym typeface="+mn-ea"/>
              </a:rPr>
              <a:t>]</a:t>
            </a:r>
            <a:endParaRPr lang="zh-CN" altLang="en-US" dirty="0">
              <a:sym typeface="+mn-ea"/>
            </a:endParaRPr>
          </a:p>
          <a:p>
            <a:pPr lvl="1" eaLnBrk="1" hangingPunct="1">
              <a:lnSpc>
                <a:spcPct val="100000"/>
              </a:lnSpc>
              <a:spcBef>
                <a:spcPts val="1000"/>
              </a:spcBef>
            </a:pPr>
            <a:r>
              <a:rPr lang="zh-CN" altLang="en-US" dirty="0">
                <a:sym typeface="+mn-ea"/>
              </a:rPr>
              <a:t>信息是对客观世界中各种事物的物理状态及其变化的反映，是客观事物之间相互联系和相互作用的表征，表现的是客观事物运动状态和变化的实质内容。</a:t>
            </a:r>
            <a:endPar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8</a:t>
            </a:fld>
            <a:endParaRPr lang="zh-CN" altLang="en-US" strike="noStrike" noProof="1"/>
          </a:p>
        </p:txBody>
      </p:sp>
      <p:sp>
        <p:nvSpPr>
          <p:cNvPr id="2" name="Rectangle 3"/>
          <p:cNvSpPr>
            <a:spLocks noGrp="1"/>
          </p:cNvSpPr>
          <p:nvPr/>
        </p:nvSpPr>
        <p:spPr>
          <a:xfrm>
            <a:off x="424180" y="4466590"/>
            <a:ext cx="11343005" cy="1732915"/>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1000"/>
              </a:spcBef>
            </a:pPr>
            <a:r>
              <a:rPr lang="zh-CN" altLang="en-US" sz="3000" dirty="0">
                <a:solidFill>
                  <a:srgbClr val="1F2DA8"/>
                </a:solidFill>
                <a:latin typeface="楷体" panose="02010609060101010101" charset="-122"/>
                <a:ea typeface="楷体" panose="02010609060101010101" charset="-122"/>
                <a:cs typeface="楷体" panose="02010609060101010101" charset="-122"/>
              </a:rPr>
              <a:t>例如，在计算机中有这样一个符号串</a:t>
            </a:r>
          </a:p>
          <a:p>
            <a:pPr marL="457200" lvl="1" indent="0" eaLnBrk="1" hangingPunct="1">
              <a:lnSpc>
                <a:spcPct val="100000"/>
              </a:lnSpc>
              <a:spcBef>
                <a:spcPts val="1000"/>
              </a:spcBef>
              <a:buNone/>
            </a:pPr>
            <a:r>
              <a:rPr lang="en-US" altLang="zh-CN" sz="3000" i="1" dirty="0">
                <a:solidFill>
                  <a:srgbClr val="FF0000"/>
                </a:solidFill>
                <a:latin typeface="楷体" panose="02010609060101010101" charset="-122"/>
                <a:ea typeface="楷体" panose="02010609060101010101" charset="-122"/>
                <a:cs typeface="楷体" panose="02010609060101010101" charset="-122"/>
              </a:rPr>
              <a:t>(</a:t>
            </a:r>
            <a:r>
              <a:rPr lang="zh-CN" altLang="en-US" sz="3000" i="1" dirty="0">
                <a:solidFill>
                  <a:srgbClr val="FF0000"/>
                </a:solidFill>
                <a:latin typeface="楷体" panose="02010609060101010101" charset="-122"/>
                <a:ea typeface="楷体" panose="02010609060101010101" charset="-122"/>
                <a:cs typeface="楷体" panose="02010609060101010101" charset="-122"/>
              </a:rPr>
              <a:t>李明，男，</a:t>
            </a:r>
            <a:r>
              <a:rPr lang="en-US" altLang="zh-CN" sz="3000" i="1" dirty="0">
                <a:solidFill>
                  <a:srgbClr val="FF0000"/>
                </a:solidFill>
                <a:latin typeface="楷体" panose="02010609060101010101" charset="-122"/>
                <a:ea typeface="楷体" panose="02010609060101010101" charset="-122"/>
                <a:cs typeface="楷体" panose="02010609060101010101" charset="-122"/>
              </a:rPr>
              <a:t>199505</a:t>
            </a:r>
            <a:r>
              <a:rPr lang="zh-CN" altLang="en-US" sz="3000" i="1" dirty="0">
                <a:solidFill>
                  <a:srgbClr val="FF0000"/>
                </a:solidFill>
                <a:latin typeface="楷体" panose="02010609060101010101" charset="-122"/>
                <a:ea typeface="楷体" panose="02010609060101010101" charset="-122"/>
                <a:cs typeface="楷体" panose="02010609060101010101" charset="-122"/>
              </a:rPr>
              <a:t>，江苏省南京市，计算机系，</a:t>
            </a:r>
            <a:r>
              <a:rPr lang="en-US" altLang="zh-CN" sz="3000" i="1" dirty="0">
                <a:solidFill>
                  <a:srgbClr val="FF0000"/>
                </a:solidFill>
                <a:latin typeface="楷体" panose="02010609060101010101" charset="-122"/>
                <a:ea typeface="楷体" panose="02010609060101010101" charset="-122"/>
                <a:cs typeface="楷体" panose="02010609060101010101" charset="-122"/>
              </a:rPr>
              <a:t>2013)</a:t>
            </a:r>
            <a:endParaRPr lang="zh-CN" altLang="en-US" sz="3000" dirty="0">
              <a:solidFill>
                <a:srgbClr val="1F2DA8"/>
              </a:solidFill>
              <a:latin typeface="楷体" panose="02010609060101010101" charset="-122"/>
              <a:ea typeface="楷体" panose="02010609060101010101" charset="-122"/>
              <a:cs typeface="楷体" panose="02010609060101010101" charset="-122"/>
            </a:endParaRPr>
          </a:p>
          <a:p>
            <a:pPr marL="457200" lvl="1" indent="0" eaLnBrk="1" hangingPunct="1">
              <a:lnSpc>
                <a:spcPct val="100000"/>
              </a:lnSpc>
              <a:spcBef>
                <a:spcPts val="1000"/>
              </a:spcBef>
              <a:buNone/>
            </a:pPr>
            <a:r>
              <a:rPr lang="zh-CN" altLang="en-US" sz="3000" dirty="0">
                <a:solidFill>
                  <a:srgbClr val="1F2DA8"/>
                </a:solidFill>
                <a:latin typeface="楷体" panose="02010609060101010101" charset="-122"/>
                <a:ea typeface="楷体" panose="02010609060101010101" charset="-122"/>
                <a:cs typeface="楷体" panose="02010609060101010101" charset="-122"/>
              </a:rPr>
              <a:t>如果没有附加的语义解释和定义，这样的符号串是无法使用的。</a:t>
            </a:r>
            <a:endParaRPr lang="en-US" altLang="zh-CN" sz="3000"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blinds(horizontal)">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7" dur="500"/>
                                        <p:tgtEl>
                                          <p:spTgt spid="71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2" dur="500"/>
                                        <p:tgtEl>
                                          <p:spTgt spid="71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p:txBody>
          <a:bodyPr wrap="square" tIns="0" bIns="0" anchor="ctr"/>
          <a:lstStyle/>
          <a:p>
            <a:pPr eaLnBrk="1" hangingPunct="1"/>
            <a:r>
              <a:rPr lang="zh-CN" altLang="en-US"/>
              <a:t>数据</a:t>
            </a:r>
            <a:r>
              <a:rPr lang="en-US" altLang="zh-CN"/>
              <a:t> &amp; </a:t>
            </a:r>
            <a:r>
              <a:rPr lang="zh-CN" altLang="en-US"/>
              <a:t>信息（</a:t>
            </a:r>
            <a:r>
              <a:rPr lang="en-US" altLang="zh-CN"/>
              <a:t>2</a:t>
            </a:r>
            <a:r>
              <a:rPr lang="zh-CN" altLang="en-US"/>
              <a:t>）</a:t>
            </a:r>
          </a:p>
        </p:txBody>
      </p:sp>
      <p:sp>
        <p:nvSpPr>
          <p:cNvPr id="7172" name="Rectangle 3"/>
          <p:cNvSpPr>
            <a:spLocks noGrp="1"/>
          </p:cNvSpPr>
          <p:nvPr>
            <p:ph idx="1"/>
          </p:nvPr>
        </p:nvSpPr>
        <p:spPr>
          <a:xfrm>
            <a:off x="424180" y="615950"/>
            <a:ext cx="11343005" cy="1143000"/>
          </a:xfrm>
        </p:spPr>
        <p:txBody>
          <a:bodyPr wrap="square" anchor="t">
            <a:spAutoFit/>
          </a:bodyPr>
          <a:lstStyle/>
          <a:p>
            <a:pPr eaLnBrk="1" hangingPunct="1">
              <a:lnSpc>
                <a:spcPct val="100000"/>
              </a:lnSpc>
              <a:spcBef>
                <a:spcPts val="1000"/>
              </a:spcBef>
            </a:pPr>
            <a:r>
              <a:rPr lang="zh-CN" altLang="en-US" dirty="0">
                <a:cs typeface="楷体" panose="02010609060101010101" charset="-122"/>
                <a:sym typeface="+mn-ea"/>
              </a:rPr>
              <a:t>现实世界中的信息是多种多样的！</a:t>
            </a:r>
          </a:p>
          <a:p>
            <a:pPr eaLnBrk="1" hangingPunct="1">
              <a:lnSpc>
                <a:spcPct val="100000"/>
              </a:lnSpc>
              <a:spcBef>
                <a:spcPts val="1000"/>
              </a:spcBef>
            </a:pPr>
            <a:r>
              <a:rPr lang="zh-CN" altLang="en-US" dirty="0">
                <a:cs typeface="楷体" panose="02010609060101010101" charset="-122"/>
                <a:sym typeface="+mn-ea"/>
              </a:rPr>
              <a:t>可以从中抽取出人们感兴趣的内容，抽象成为计算机中的</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数据</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9</a:t>
            </a:fld>
            <a:endParaRPr lang="zh-CN" altLang="en-US" strike="noStrike" noProof="1"/>
          </a:p>
        </p:txBody>
      </p:sp>
      <p:sp>
        <p:nvSpPr>
          <p:cNvPr id="2" name="Rectangle 3"/>
          <p:cNvSpPr>
            <a:spLocks noGrp="1"/>
          </p:cNvSpPr>
          <p:nvPr>
            <p:custDataLst>
              <p:tags r:id="rId1"/>
            </p:custDataLst>
          </p:nvPr>
        </p:nvSpPr>
        <p:spPr>
          <a:xfrm>
            <a:off x="424180" y="2342515"/>
            <a:ext cx="11343005" cy="553085"/>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q"/>
              <a:defRPr sz="24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4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1000"/>
              </a:spcBef>
            </a:pPr>
            <a:r>
              <a:rPr lang="zh-CN" altLang="en-US" sz="3000" dirty="0">
                <a:latin typeface="楷体" panose="02010609060101010101" charset="-122"/>
                <a:ea typeface="楷体" panose="02010609060101010101" charset="-122"/>
                <a:cs typeface="楷体" panose="02010609060101010101" charset="-122"/>
                <a:sym typeface="Wingdings 3" panose="05040102010807070707" pitchFamily="2" charset="2"/>
              </a:rPr>
              <a:t>例：</a:t>
            </a:r>
          </a:p>
        </p:txBody>
      </p:sp>
      <p:pic>
        <p:nvPicPr>
          <p:cNvPr id="7" name="图片 6"/>
          <p:cNvPicPr>
            <a:picLocks noChangeAspect="1"/>
          </p:cNvPicPr>
          <p:nvPr>
            <p:custDataLst>
              <p:tags r:id="rId2"/>
            </p:custDataLst>
          </p:nvPr>
        </p:nvPicPr>
        <p:blipFill>
          <a:blip r:embed="rId7"/>
          <a:stretch>
            <a:fillRect/>
          </a:stretch>
        </p:blipFill>
        <p:spPr>
          <a:xfrm>
            <a:off x="644525" y="3395345"/>
            <a:ext cx="4507230" cy="2515870"/>
          </a:xfrm>
          <a:prstGeom prst="rect">
            <a:avLst/>
          </a:prstGeom>
        </p:spPr>
      </p:pic>
      <p:grpSp>
        <p:nvGrpSpPr>
          <p:cNvPr id="11" name="组合 10"/>
          <p:cNvGrpSpPr/>
          <p:nvPr/>
        </p:nvGrpSpPr>
        <p:grpSpPr>
          <a:xfrm>
            <a:off x="5297170" y="3039745"/>
            <a:ext cx="6040755" cy="3046095"/>
            <a:chOff x="6294" y="5747"/>
            <a:chExt cx="9513" cy="4797"/>
          </a:xfrm>
        </p:grpSpPr>
        <p:sp>
          <p:nvSpPr>
            <p:cNvPr id="8" name="文本框 7"/>
            <p:cNvSpPr txBox="1"/>
            <p:nvPr>
              <p:custDataLst>
                <p:tags r:id="rId3"/>
              </p:custDataLst>
            </p:nvPr>
          </p:nvSpPr>
          <p:spPr>
            <a:xfrm>
              <a:off x="7624" y="5747"/>
              <a:ext cx="8183" cy="4797"/>
            </a:xfrm>
            <a:prstGeom prst="rect">
              <a:avLst/>
            </a:prstGeom>
            <a:solidFill>
              <a:schemeClr val="accent1">
                <a:lumMod val="20000"/>
                <a:lumOff val="80000"/>
                <a:alpha val="50000"/>
              </a:schemeClr>
            </a:solidFill>
          </p:spPr>
          <p:txBody>
            <a:bodyPr wrap="square" rtlCol="0">
              <a:spAutoFit/>
            </a:bodyPr>
            <a:lstStyle/>
            <a:p>
              <a:pPr>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姓名：</a:t>
              </a:r>
              <a:r>
                <a:rPr lang="zh-CN" altLang="en-US" sz="2400">
                  <a:latin typeface="华文新魏" panose="02010800040101010101" charset="-122"/>
                  <a:ea typeface="华文新魏" panose="02010800040101010101" charset="-122"/>
                  <a:cs typeface="华文新魏" panose="02010800040101010101" charset="-122"/>
                </a:rPr>
                <a:t>王东杰</a:t>
              </a:r>
            </a:p>
            <a:p>
              <a:pPr>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电话：</a:t>
              </a:r>
              <a:r>
                <a:rPr lang="en-US" altLang="zh-CN" sz="2400">
                  <a:latin typeface="华文新魏" panose="02010800040101010101" charset="-122"/>
                  <a:ea typeface="华文新魏" panose="02010800040101010101" charset="-122"/>
                  <a:cs typeface="华文新魏" panose="02010800040101010101" charset="-122"/>
                </a:rPr>
                <a:t>18637161988</a:t>
              </a:r>
            </a:p>
            <a:p>
              <a:pPr lvl="2">
                <a:lnSpc>
                  <a:spcPct val="100000"/>
                </a:lnSpc>
                <a:spcBef>
                  <a:spcPts val="0"/>
                </a:spcBef>
                <a:spcAft>
                  <a:spcPts val="0"/>
                </a:spcAft>
              </a:pPr>
              <a:r>
                <a:rPr lang="en-US" altLang="zh-CN" sz="2400">
                  <a:latin typeface="华文新魏" panose="02010800040101010101" charset="-122"/>
                  <a:ea typeface="华文新魏" panose="02010800040101010101" charset="-122"/>
                  <a:cs typeface="华文新魏" panose="02010800040101010101" charset="-122"/>
                </a:rPr>
                <a:t>0371-65832568</a:t>
              </a: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传真：</a:t>
              </a:r>
              <a:r>
                <a:rPr lang="en-US" altLang="zh-CN" sz="2400">
                  <a:latin typeface="华文新魏" panose="02010800040101010101" charset="-122"/>
                  <a:ea typeface="华文新魏" panose="02010800040101010101" charset="-122"/>
                  <a:cs typeface="华文新魏" panose="02010800040101010101" charset="-122"/>
                  <a:sym typeface="+mn-ea"/>
                </a:rPr>
                <a:t>0371-65832578</a:t>
              </a: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网址：</a:t>
              </a:r>
              <a:r>
                <a:rPr lang="en-US" altLang="zh-CN" sz="2400">
                  <a:latin typeface="华文新魏" panose="02010800040101010101" charset="-122"/>
                  <a:ea typeface="华文新魏" panose="02010800040101010101" charset="-122"/>
                  <a:cs typeface="华文新魏" panose="02010800040101010101" charset="-122"/>
                </a:rPr>
                <a:t>www.hnhrfs.com</a:t>
              </a: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邮箱：</a:t>
              </a:r>
              <a:r>
                <a:rPr lang="en-US" altLang="zh-CN" sz="2400">
                  <a:latin typeface="华文新魏" panose="02010800040101010101" charset="-122"/>
                  <a:ea typeface="华文新魏" panose="02010800040101010101" charset="-122"/>
                  <a:cs typeface="华文新魏" panose="02010800040101010101" charset="-122"/>
                </a:rPr>
                <a:t>hnhrfs@126.com</a:t>
              </a:r>
            </a:p>
            <a:p>
              <a:pPr marL="899795" lvl="0" indent="-899795">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公司：</a:t>
              </a:r>
              <a:r>
                <a:rPr lang="zh-CN" altLang="en-US" sz="2400">
                  <a:latin typeface="华文新魏" panose="02010800040101010101" charset="-122"/>
                  <a:ea typeface="华文新魏" panose="02010800040101010101" charset="-122"/>
                  <a:cs typeface="华文新魏" panose="02010800040101010101" charset="-122"/>
                  <a:sym typeface="+mn-ea"/>
                </a:rPr>
                <a:t>河南省华瑞防水防腐有限公司</a:t>
              </a:r>
              <a:endParaRPr lang="en-US" altLang="zh-CN" sz="2400">
                <a:latin typeface="华文新魏" panose="02010800040101010101" charset="-122"/>
                <a:ea typeface="华文新魏" panose="02010800040101010101" charset="-122"/>
                <a:cs typeface="华文新魏" panose="02010800040101010101" charset="-122"/>
              </a:endParaRPr>
            </a:p>
            <a:p>
              <a:pPr lvl="0">
                <a:lnSpc>
                  <a:spcPct val="100000"/>
                </a:lnSpc>
                <a:spcBef>
                  <a:spcPts val="0"/>
                </a:spcBef>
                <a:spcAft>
                  <a:spcPts val="0"/>
                </a:spcAft>
              </a:pPr>
              <a:r>
                <a:rPr lang="en-US" altLang="zh-CN" sz="2400">
                  <a:latin typeface="华文新魏" panose="02010800040101010101" charset="-122"/>
                  <a:ea typeface="华文新魏" panose="02010800040101010101" charset="-122"/>
                  <a:cs typeface="华文新魏" panose="02010800040101010101" charset="-122"/>
                </a:rPr>
                <a:t>......</a:t>
              </a:r>
              <a:r>
                <a:rPr lang="en-US" altLang="zh-CN" sz="2400">
                  <a:latin typeface="华文新魏" panose="02010800040101010101" charset="-122"/>
                  <a:ea typeface="华文新魏" panose="02010800040101010101" charset="-122"/>
                  <a:cs typeface="华文新魏" panose="02010800040101010101" charset="-122"/>
                  <a:sym typeface="+mn-ea"/>
                </a:rPr>
                <a:t>......</a:t>
              </a:r>
              <a:endParaRPr lang="en-US" altLang="zh-CN" sz="2400">
                <a:latin typeface="华文新魏" panose="02010800040101010101" charset="-122"/>
                <a:ea typeface="华文新魏" panose="02010800040101010101" charset="-122"/>
                <a:cs typeface="华文新魏" panose="02010800040101010101" charset="-122"/>
              </a:endParaRPr>
            </a:p>
          </p:txBody>
        </p:sp>
        <p:sp>
          <p:nvSpPr>
            <p:cNvPr id="9" name="右箭头 8"/>
            <p:cNvSpPr/>
            <p:nvPr>
              <p:custDataLst>
                <p:tags r:id="rId4"/>
              </p:custDataLst>
            </p:nvPr>
          </p:nvSpPr>
          <p:spPr>
            <a:xfrm>
              <a:off x="6294" y="7894"/>
              <a:ext cx="1021" cy="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大括号 9"/>
            <p:cNvSpPr/>
            <p:nvPr>
              <p:custDataLst>
                <p:tags r:id="rId5"/>
              </p:custDataLst>
            </p:nvPr>
          </p:nvSpPr>
          <p:spPr>
            <a:xfrm>
              <a:off x="7436" y="5818"/>
              <a:ext cx="331" cy="4572"/>
            </a:xfrm>
            <a:prstGeom prst="leftBrace">
              <a:avLst>
                <a:gd name="adj1" fmla="val 58308"/>
                <a:gd name="adj2" fmla="val 501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5" name="线形标注 2(带强调线) 4"/>
          <p:cNvSpPr/>
          <p:nvPr/>
        </p:nvSpPr>
        <p:spPr>
          <a:xfrm>
            <a:off x="9258935" y="2291715"/>
            <a:ext cx="1231900" cy="478155"/>
          </a:xfrm>
          <a:prstGeom prst="accentCallout2">
            <a:avLst>
              <a:gd name="adj1" fmla="val 18750"/>
              <a:gd name="adj2" fmla="val -8333"/>
              <a:gd name="adj3" fmla="val 18750"/>
              <a:gd name="adj4" fmla="val -16667"/>
              <a:gd name="adj5" fmla="val 205710"/>
              <a:gd name="adj6" fmla="val -73350"/>
            </a:avLst>
          </a:prstGeom>
          <a:noFill/>
          <a:ln w="19050">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2800" b="1">
                <a:solidFill>
                  <a:srgbClr val="1F2DA8"/>
                </a:solidFill>
                <a:latin typeface="楷体" panose="02010609060101010101" charset="-122"/>
                <a:ea typeface="楷体" panose="02010609060101010101" charset="-122"/>
              </a:rPr>
              <a:t>数据</a:t>
            </a:r>
          </a:p>
        </p:txBody>
      </p:sp>
      <p:sp>
        <p:nvSpPr>
          <p:cNvPr id="6" name="线形标注 2(带强调线) 5"/>
          <p:cNvSpPr/>
          <p:nvPr/>
        </p:nvSpPr>
        <p:spPr>
          <a:xfrm>
            <a:off x="4115435" y="2291715"/>
            <a:ext cx="2026285" cy="478155"/>
          </a:xfrm>
          <a:prstGeom prst="accentCallout2">
            <a:avLst>
              <a:gd name="adj1" fmla="val 14342"/>
              <a:gd name="adj2" fmla="val 104587"/>
              <a:gd name="adj3" fmla="val 32005"/>
              <a:gd name="adj4" fmla="val 114381"/>
              <a:gd name="adj5" fmla="val 172509"/>
              <a:gd name="adj6" fmla="val 122093"/>
            </a:avLst>
          </a:prstGeom>
          <a:noFill/>
          <a:ln w="19050">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2800" b="1">
                <a:solidFill>
                  <a:srgbClr val="1F2DA8"/>
                </a:solidFill>
                <a:latin typeface="楷体" panose="02010609060101010101" charset="-122"/>
                <a:ea typeface="楷体" panose="02010609060101010101" charset="-122"/>
              </a:rPr>
              <a:t>数据的语义</a:t>
            </a:r>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数据</a:t>
            </a:r>
            <a:r>
              <a:rPr lang="en-US" altLang="zh-CN">
                <a:sym typeface="+mn-ea"/>
              </a:rPr>
              <a:t> &amp; </a:t>
            </a:r>
            <a:r>
              <a:rPr lang="zh-CN" altLang="en-US">
                <a:sym typeface="+mn-ea"/>
              </a:rPr>
              <a:t>信息（</a:t>
            </a:r>
            <a:r>
              <a:rPr lang="en-US" altLang="zh-CN">
                <a:sym typeface="+mn-ea"/>
              </a:rPr>
              <a:t>3</a:t>
            </a:r>
            <a:r>
              <a:rPr lang="zh-CN" altLang="en-US">
                <a:sym typeface="+mn-ea"/>
              </a:rPr>
              <a:t>）</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10</a:t>
            </a:fld>
            <a:endParaRPr lang="zh-CN" altLang="en-US"/>
          </a:p>
        </p:txBody>
      </p:sp>
      <p:pic>
        <p:nvPicPr>
          <p:cNvPr id="9" name="图片 8"/>
          <p:cNvPicPr>
            <a:picLocks noChangeAspect="1"/>
          </p:cNvPicPr>
          <p:nvPr/>
        </p:nvPicPr>
        <p:blipFill>
          <a:blip r:embed="rId5"/>
          <a:stretch>
            <a:fillRect/>
          </a:stretch>
        </p:blipFill>
        <p:spPr>
          <a:xfrm>
            <a:off x="514985" y="953770"/>
            <a:ext cx="6381750" cy="5107305"/>
          </a:xfrm>
          <a:prstGeom prst="rect">
            <a:avLst/>
          </a:prstGeom>
          <a:ln>
            <a:noFill/>
          </a:ln>
        </p:spPr>
      </p:pic>
      <p:grpSp>
        <p:nvGrpSpPr>
          <p:cNvPr id="11" name="组合 10"/>
          <p:cNvGrpSpPr/>
          <p:nvPr/>
        </p:nvGrpSpPr>
        <p:grpSpPr>
          <a:xfrm>
            <a:off x="6358890" y="720090"/>
            <a:ext cx="5704205" cy="5507990"/>
            <a:chOff x="6039" y="5763"/>
            <a:chExt cx="8983" cy="8674"/>
          </a:xfrm>
        </p:grpSpPr>
        <p:sp>
          <p:nvSpPr>
            <p:cNvPr id="8" name="文本框 7"/>
            <p:cNvSpPr txBox="1"/>
            <p:nvPr>
              <p:custDataLst>
                <p:tags r:id="rId1"/>
              </p:custDataLst>
            </p:nvPr>
          </p:nvSpPr>
          <p:spPr>
            <a:xfrm>
              <a:off x="7624" y="5763"/>
              <a:ext cx="7398" cy="8674"/>
            </a:xfrm>
            <a:prstGeom prst="rect">
              <a:avLst/>
            </a:prstGeom>
            <a:solidFill>
              <a:schemeClr val="accent1">
                <a:lumMod val="20000"/>
                <a:lumOff val="80000"/>
                <a:alpha val="50000"/>
              </a:schemeClr>
            </a:solidFill>
          </p:spPr>
          <p:txBody>
            <a:bodyPr wrap="square" rtlCol="0">
              <a:spAutoFit/>
            </a:bodyPr>
            <a:lstStyle/>
            <a:p>
              <a:pPr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书名：</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数据库系统概论</a:t>
              </a:r>
            </a:p>
            <a:p>
              <a:pPr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作者：</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王珊，萨师煊</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endParaRPr>
            </a:p>
            <a:p>
              <a:pPr lvl="0"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出版社：</a:t>
              </a:r>
              <a:r>
                <a:rPr lang="zh-CN" altLang="en-US" sz="2400">
                  <a:solidFill>
                    <a:srgbClr val="1F2DA8"/>
                  </a:solidFill>
                  <a:latin typeface="华文新魏" panose="02010800040101010101" charset="-122"/>
                  <a:ea typeface="华文新魏" panose="02010800040101010101" charset="-122"/>
                  <a:cs typeface="华文新魏" panose="02010800040101010101" charset="-122"/>
                  <a:sym typeface="+mn-ea"/>
                </a:rPr>
                <a:t>高等教育出版社</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a:p>
              <a:pPr lvl="0"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书号：</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9787040406641</a:t>
              </a: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开本：</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16</a:t>
              </a: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页码：</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418</a:t>
              </a: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出版日期：</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2014-09-01</a:t>
              </a: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版次：</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5</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endParaRPr>
            </a:p>
            <a:p>
              <a:pPr marL="409575" lvl="0" indent="-40957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内容提要：</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本书第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1</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版于</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1983</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年出版，至今已修订至第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5</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5</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版被列入</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十二五</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普通高等教育本科国家级规划教材。</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a:t>
              </a:r>
            </a:p>
          </p:txBody>
        </p:sp>
        <p:sp>
          <p:nvSpPr>
            <p:cNvPr id="6" name="右箭头 5"/>
            <p:cNvSpPr/>
            <p:nvPr>
              <p:custDataLst>
                <p:tags r:id="rId2"/>
              </p:custDataLst>
            </p:nvPr>
          </p:nvSpPr>
          <p:spPr>
            <a:xfrm>
              <a:off x="6039" y="9900"/>
              <a:ext cx="1021" cy="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大括号 9"/>
            <p:cNvSpPr/>
            <p:nvPr>
              <p:custDataLst>
                <p:tags r:id="rId3"/>
              </p:custDataLst>
            </p:nvPr>
          </p:nvSpPr>
          <p:spPr>
            <a:xfrm>
              <a:off x="7436" y="5818"/>
              <a:ext cx="188" cy="8618"/>
            </a:xfrm>
            <a:prstGeom prst="leftBrace">
              <a:avLst>
                <a:gd name="adj1" fmla="val 58308"/>
                <a:gd name="adj2" fmla="val 501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 name="内容占位符 2"/>
          <p:cNvSpPr>
            <a:spLocks noGrp="1"/>
          </p:cNvSpPr>
          <p:nvPr>
            <p:ph idx="1"/>
          </p:nvPr>
        </p:nvSpPr>
        <p:spPr/>
        <p:txBody>
          <a:bodyPr/>
          <a:lstStyle/>
          <a:p>
            <a:r>
              <a:rPr lang="zh-CN" altLang="en-US" dirty="0">
                <a:solidFill>
                  <a:srgbClr val="FF0000"/>
                </a:solidFill>
                <a:cs typeface="楷体" panose="02010609060101010101" charset="-122"/>
                <a:sym typeface="+mn-ea"/>
              </a:rPr>
              <a:t>例：</a:t>
            </a:r>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p:cNvSpPr>
          <p:nvPr>
            <p:ph type="title"/>
          </p:nvPr>
        </p:nvSpPr>
        <p:spPr/>
        <p:txBody>
          <a:bodyPr wrap="square" tIns="0" bIns="0" anchor="ctr"/>
          <a:lstStyle/>
          <a:p>
            <a:pPr eaLnBrk="1" hangingPunct="1"/>
            <a:r>
              <a:rPr lang="zh-CN" altLang="en-US">
                <a:sym typeface="+mn-ea"/>
              </a:rPr>
              <a:t>数据</a:t>
            </a:r>
            <a:r>
              <a:rPr lang="en-US" altLang="zh-CN">
                <a:sym typeface="+mn-ea"/>
              </a:rPr>
              <a:t> &amp; </a:t>
            </a:r>
            <a:r>
              <a:rPr lang="zh-CN" altLang="en-US">
                <a:sym typeface="+mn-ea"/>
              </a:rPr>
              <a:t>信息（</a:t>
            </a:r>
            <a:r>
              <a:rPr lang="en-US" altLang="zh-CN">
                <a:sym typeface="+mn-ea"/>
              </a:rPr>
              <a:t>4</a:t>
            </a:r>
            <a:r>
              <a:rPr lang="zh-CN" altLang="en-US">
                <a:sym typeface="+mn-ea"/>
              </a:rPr>
              <a:t>）</a:t>
            </a:r>
          </a:p>
        </p:txBody>
      </p:sp>
      <p:grpSp>
        <p:nvGrpSpPr>
          <p:cNvPr id="8197" name="组合 7173"/>
          <p:cNvGrpSpPr/>
          <p:nvPr>
            <p:custDataLst>
              <p:tags r:id="rId1"/>
            </p:custDataLst>
          </p:nvPr>
        </p:nvGrpSpPr>
        <p:grpSpPr>
          <a:xfrm>
            <a:off x="5747385" y="3825875"/>
            <a:ext cx="5135245" cy="2157983"/>
            <a:chOff x="0" y="0"/>
            <a:chExt cx="3235" cy="760"/>
          </a:xfrm>
        </p:grpSpPr>
        <p:sp>
          <p:nvSpPr>
            <p:cNvPr id="8198" name="AutoShape 4"/>
            <p:cNvSpPr/>
            <p:nvPr>
              <p:custDataLst>
                <p:tags r:id="rId13"/>
              </p:custDataLst>
            </p:nvPr>
          </p:nvSpPr>
          <p:spPr>
            <a:xfrm>
              <a:off x="0" y="0"/>
              <a:ext cx="3235" cy="544"/>
            </a:xfrm>
            <a:prstGeom prst="cloudCallout">
              <a:avLst>
                <a:gd name="adj1" fmla="val 477"/>
                <a:gd name="adj2" fmla="val -42463"/>
              </a:avLst>
            </a:prstGeom>
            <a:solidFill>
              <a:srgbClr val="CCFFFF"/>
            </a:solidFill>
            <a:ln w="9525" cap="flat" cmpd="sng">
              <a:solidFill>
                <a:schemeClr val="tx1"/>
              </a:solidFill>
              <a:prstDash val="solid"/>
              <a:round/>
              <a:headEnd type="none" w="med" len="med"/>
              <a:tailEnd type="none" w="med" len="med"/>
            </a:ln>
          </p:spPr>
          <p:txBody>
            <a:bodyPr lIns="0" tIns="0" rIns="0" bIns="0" anchor="t"/>
            <a:lstStyle/>
            <a:p>
              <a:pPr algn="ctr"/>
              <a:r>
                <a:rPr lang="zh-CN" altLang="en-US" sz="2800" b="1" dirty="0">
                  <a:latin typeface="Times New Roman" panose="02020603050405020304" pitchFamily="2" charset="0"/>
                </a:rPr>
                <a:t>信息（</a:t>
              </a:r>
              <a:r>
                <a:rPr lang="en-US" altLang="zh-CN" sz="2800" b="1" dirty="0">
                  <a:latin typeface="Times New Roman" panose="02020603050405020304" pitchFamily="2" charset="0"/>
                </a:rPr>
                <a:t>Information）</a:t>
              </a:r>
            </a:p>
          </p:txBody>
        </p:sp>
        <p:sp>
          <p:nvSpPr>
            <p:cNvPr id="8199" name="Text Box 6"/>
            <p:cNvSpPr txBox="1"/>
            <p:nvPr>
              <p:custDataLst>
                <p:tags r:id="rId14"/>
              </p:custDataLst>
            </p:nvPr>
          </p:nvSpPr>
          <p:spPr>
            <a:xfrm>
              <a:off x="1123" y="576"/>
              <a:ext cx="1353" cy="184"/>
            </a:xfrm>
            <a:prstGeom prst="rect">
              <a:avLst/>
            </a:prstGeom>
            <a:noFill/>
            <a:ln w="9525">
              <a:noFill/>
            </a:ln>
          </p:spPr>
          <p:txBody>
            <a:bodyPr wrap="square" anchor="t">
              <a:spAutoFit/>
            </a:bodyPr>
            <a:lstStyle/>
            <a:p>
              <a:pPr algn="dist">
                <a:spcBef>
                  <a:spcPct val="50000"/>
                </a:spcBef>
              </a:pPr>
              <a:r>
                <a:rPr lang="zh-CN" altLang="en-US" sz="2800" b="1" dirty="0">
                  <a:solidFill>
                    <a:srgbClr val="1F2DA8"/>
                  </a:solidFill>
                  <a:latin typeface="Times New Roman" panose="02020603050405020304" pitchFamily="2" charset="0"/>
                </a:rPr>
                <a:t>现实世界</a:t>
              </a:r>
            </a:p>
          </p:txBody>
        </p:sp>
      </p:grpSp>
      <p:grpSp>
        <p:nvGrpSpPr>
          <p:cNvPr id="8203" name="组合 7179"/>
          <p:cNvGrpSpPr/>
          <p:nvPr>
            <p:custDataLst>
              <p:tags r:id="rId2"/>
            </p:custDataLst>
          </p:nvPr>
        </p:nvGrpSpPr>
        <p:grpSpPr>
          <a:xfrm>
            <a:off x="3720465" y="3984625"/>
            <a:ext cx="2026920" cy="990600"/>
            <a:chOff x="0" y="0"/>
            <a:chExt cx="720" cy="624"/>
          </a:xfrm>
        </p:grpSpPr>
        <p:sp>
          <p:nvSpPr>
            <p:cNvPr id="8204" name="Freeform 10"/>
            <p:cNvSpPr/>
            <p:nvPr>
              <p:custDataLst>
                <p:tags r:id="rId11"/>
              </p:custDataLst>
            </p:nvPr>
          </p:nvSpPr>
          <p:spPr>
            <a:xfrm>
              <a:off x="0" y="0"/>
              <a:ext cx="720" cy="624"/>
            </a:xfrm>
            <a:custGeom>
              <a:avLst/>
              <a:gdLst/>
              <a:ahLst/>
              <a:cxnLst>
                <a:cxn ang="0">
                  <a:pos x="720" y="624"/>
                </a:cxn>
                <a:cxn ang="0">
                  <a:pos x="192" y="480"/>
                </a:cxn>
                <a:cxn ang="0">
                  <a:pos x="0" y="0"/>
                </a:cxn>
              </a:cxnLst>
              <a:rect l="0" t="0" r="0" b="0"/>
              <a:pathLst>
                <a:path w="720" h="624">
                  <a:moveTo>
                    <a:pt x="720" y="624"/>
                  </a:moveTo>
                  <a:cubicBezTo>
                    <a:pt x="516" y="604"/>
                    <a:pt x="312" y="584"/>
                    <a:pt x="192" y="480"/>
                  </a:cubicBezTo>
                  <a:cubicBezTo>
                    <a:pt x="72" y="376"/>
                    <a:pt x="36" y="188"/>
                    <a:pt x="0" y="0"/>
                  </a:cubicBezTo>
                </a:path>
              </a:pathLst>
            </a:custGeom>
            <a:noFill/>
            <a:ln w="38100" cap="flat" cmpd="sng">
              <a:solidFill>
                <a:schemeClr val="tx1"/>
              </a:solidFill>
              <a:prstDash val="solid"/>
              <a:round/>
              <a:headEnd type="none" w="med" len="med"/>
              <a:tailEnd type="arrow" w="lg" len="med"/>
            </a:ln>
          </p:spPr>
          <p:txBody>
            <a:bodyPr/>
            <a:lstStyle/>
            <a:p>
              <a:endParaRPr lang="zh-CN" altLang="en-US" sz="2800"/>
            </a:p>
          </p:txBody>
        </p:sp>
        <p:sp>
          <p:nvSpPr>
            <p:cNvPr id="8205" name="Text Box 11"/>
            <p:cNvSpPr txBox="1"/>
            <p:nvPr>
              <p:custDataLst>
                <p:tags r:id="rId12"/>
              </p:custDataLst>
            </p:nvPr>
          </p:nvSpPr>
          <p:spPr>
            <a:xfrm>
              <a:off x="84" y="216"/>
              <a:ext cx="528" cy="329"/>
            </a:xfrm>
            <a:prstGeom prst="rect">
              <a:avLst/>
            </a:prstGeom>
            <a:noFill/>
            <a:ln w="9525">
              <a:noFill/>
            </a:ln>
          </p:spPr>
          <p:txBody>
            <a:bodyPr anchor="t">
              <a:spAutoFit/>
            </a:bodyPr>
            <a:lstStyle/>
            <a:p>
              <a:pPr algn="ctr">
                <a:spcBef>
                  <a:spcPct val="50000"/>
                </a:spcBef>
              </a:pPr>
              <a:r>
                <a:rPr lang="zh-CN" altLang="en-US" sz="2800" b="1" dirty="0">
                  <a:solidFill>
                    <a:srgbClr val="1F2DA8"/>
                  </a:solidFill>
                  <a:latin typeface="Times New Roman" panose="02020603050405020304" pitchFamily="2" charset="0"/>
                </a:rPr>
                <a:t>抽</a:t>
              </a:r>
              <a:r>
                <a:rPr lang="en-US" altLang="zh-CN" sz="2800" b="1" dirty="0">
                  <a:solidFill>
                    <a:srgbClr val="1F2DA8"/>
                  </a:solidFill>
                  <a:latin typeface="Times New Roman" panose="02020603050405020304" pitchFamily="2" charset="0"/>
                </a:rPr>
                <a:t> </a:t>
              </a:r>
              <a:r>
                <a:rPr lang="zh-CN" altLang="en-US" sz="2800" b="1" dirty="0">
                  <a:solidFill>
                    <a:srgbClr val="1F2DA8"/>
                  </a:solidFill>
                  <a:latin typeface="Times New Roman" panose="02020603050405020304" pitchFamily="2" charset="0"/>
                </a:rPr>
                <a:t>象</a:t>
              </a:r>
            </a:p>
          </p:txBody>
        </p:sp>
      </p:grpSp>
      <p:grpSp>
        <p:nvGrpSpPr>
          <p:cNvPr id="8206" name="组合 7182"/>
          <p:cNvGrpSpPr/>
          <p:nvPr>
            <p:custDataLst>
              <p:tags r:id="rId3"/>
            </p:custDataLst>
          </p:nvPr>
        </p:nvGrpSpPr>
        <p:grpSpPr>
          <a:xfrm>
            <a:off x="4189730" y="2064385"/>
            <a:ext cx="2973070" cy="1880870"/>
            <a:chOff x="0" y="0"/>
            <a:chExt cx="1488" cy="1152"/>
          </a:xfrm>
        </p:grpSpPr>
        <p:sp>
          <p:nvSpPr>
            <p:cNvPr id="8207" name="Freeform 12"/>
            <p:cNvSpPr/>
            <p:nvPr>
              <p:custDataLst>
                <p:tags r:id="rId9"/>
              </p:custDataLst>
            </p:nvPr>
          </p:nvSpPr>
          <p:spPr>
            <a:xfrm>
              <a:off x="0" y="0"/>
              <a:ext cx="1488" cy="1152"/>
            </a:xfrm>
            <a:custGeom>
              <a:avLst/>
              <a:gdLst/>
              <a:ahLst/>
              <a:cxnLst>
                <a:cxn ang="0">
                  <a:pos x="0" y="0"/>
                </a:cxn>
                <a:cxn ang="0">
                  <a:pos x="912" y="336"/>
                </a:cxn>
                <a:cxn ang="0">
                  <a:pos x="1488" y="1152"/>
                </a:cxn>
              </a:cxnLst>
              <a:rect l="0" t="0" r="0" b="0"/>
              <a:pathLst>
                <a:path w="1488" h="1152">
                  <a:moveTo>
                    <a:pt x="0" y="0"/>
                  </a:moveTo>
                  <a:cubicBezTo>
                    <a:pt x="332" y="72"/>
                    <a:pt x="664" y="144"/>
                    <a:pt x="912" y="336"/>
                  </a:cubicBezTo>
                  <a:cubicBezTo>
                    <a:pt x="1160" y="528"/>
                    <a:pt x="1324" y="840"/>
                    <a:pt x="1488" y="1152"/>
                  </a:cubicBezTo>
                </a:path>
              </a:pathLst>
            </a:custGeom>
            <a:noFill/>
            <a:ln w="38100" cap="flat" cmpd="sng">
              <a:solidFill>
                <a:schemeClr val="tx1"/>
              </a:solidFill>
              <a:prstDash val="solid"/>
              <a:round/>
              <a:headEnd type="none" w="med" len="med"/>
              <a:tailEnd type="arrow" w="lg" len="med"/>
            </a:ln>
          </p:spPr>
          <p:txBody>
            <a:bodyPr/>
            <a:lstStyle/>
            <a:p>
              <a:endParaRPr lang="zh-CN" altLang="en-US" sz="2800"/>
            </a:p>
          </p:txBody>
        </p:sp>
        <p:sp>
          <p:nvSpPr>
            <p:cNvPr id="8208" name="Text Box 13"/>
            <p:cNvSpPr txBox="1"/>
            <p:nvPr>
              <p:custDataLst>
                <p:tags r:id="rId10"/>
              </p:custDataLst>
            </p:nvPr>
          </p:nvSpPr>
          <p:spPr>
            <a:xfrm>
              <a:off x="351" y="336"/>
              <a:ext cx="675" cy="320"/>
            </a:xfrm>
            <a:prstGeom prst="rect">
              <a:avLst/>
            </a:prstGeom>
            <a:noFill/>
            <a:ln w="9525">
              <a:noFill/>
            </a:ln>
          </p:spPr>
          <p:txBody>
            <a:bodyPr wrap="square" anchor="t">
              <a:spAutoFit/>
            </a:bodyPr>
            <a:lstStyle/>
            <a:p>
              <a:pPr algn="ctr">
                <a:spcBef>
                  <a:spcPct val="50000"/>
                </a:spcBef>
              </a:pPr>
              <a:r>
                <a:rPr lang="zh-CN" altLang="en-US" sz="2800" b="1" dirty="0">
                  <a:solidFill>
                    <a:srgbClr val="1F2DA8"/>
                  </a:solidFill>
                  <a:latin typeface="Times New Roman" panose="02020603050405020304" pitchFamily="2" charset="0"/>
                </a:rPr>
                <a:t>蕴</a:t>
              </a:r>
              <a:r>
                <a:rPr lang="en-US" altLang="zh-CN" sz="2800" b="1" dirty="0">
                  <a:solidFill>
                    <a:srgbClr val="1F2DA8"/>
                  </a:solidFill>
                  <a:latin typeface="Times New Roman" panose="02020603050405020304" pitchFamily="2" charset="0"/>
                </a:rPr>
                <a:t> </a:t>
              </a:r>
              <a:r>
                <a:rPr lang="zh-CN" altLang="en-US" sz="2800" b="1" dirty="0">
                  <a:solidFill>
                    <a:srgbClr val="1F2DA8"/>
                  </a:solidFill>
                  <a:latin typeface="Times New Roman" panose="02020603050405020304" pitchFamily="2" charset="0"/>
                </a:rPr>
                <a:t>涵</a:t>
              </a:r>
            </a:p>
          </p:txBody>
        </p:sp>
      </p:grpSp>
      <p:sp>
        <p:nvSpPr>
          <p:cNvPr id="3" name="文本框 2"/>
          <p:cNvSpPr txBox="1"/>
          <p:nvPr>
            <p:custDataLst>
              <p:tags r:id="rId4"/>
            </p:custDataLst>
          </p:nvPr>
        </p:nvSpPr>
        <p:spPr>
          <a:xfrm>
            <a:off x="5747385" y="1971675"/>
            <a:ext cx="4462780" cy="521970"/>
          </a:xfrm>
          <a:prstGeom prst="rect">
            <a:avLst/>
          </a:prstGeom>
          <a:noFill/>
        </p:spPr>
        <p:txBody>
          <a:bodyPr wrap="square" rtlCol="0">
            <a:spAutoFit/>
          </a:bodyPr>
          <a:lstStyle/>
          <a:p>
            <a:pPr lvl="1" indent="-457200">
              <a:buClr>
                <a:srgbClr val="C00000"/>
              </a:buClr>
              <a:buSzPct val="85000"/>
              <a:buFont typeface="Arial" panose="020B0604020202020204" pitchFamily="34" charset="0"/>
              <a:buChar char="•"/>
            </a:pPr>
            <a:r>
              <a:rPr lang="zh-CN" altLang="en-US" sz="2800" b="1">
                <a:solidFill>
                  <a:srgbClr val="FF0000"/>
                </a:solidFill>
                <a:sym typeface="+mn-ea"/>
              </a:rPr>
              <a:t>信息是数据的内涵</a:t>
            </a:r>
          </a:p>
        </p:txBody>
      </p:sp>
      <p:pic>
        <p:nvPicPr>
          <p:cNvPr id="7" name="图片 6"/>
          <p:cNvPicPr>
            <a:picLocks noChangeAspect="1"/>
          </p:cNvPicPr>
          <p:nvPr>
            <p:custDataLst>
              <p:tags r:id="rId5"/>
            </p:custDataLst>
          </p:nvPr>
        </p:nvPicPr>
        <p:blipFill>
          <a:blip r:embed="rId16"/>
          <a:stretch>
            <a:fillRect/>
          </a:stretch>
        </p:blipFill>
        <p:spPr>
          <a:xfrm>
            <a:off x="7824470" y="4593590"/>
            <a:ext cx="981710" cy="548005"/>
          </a:xfrm>
          <a:prstGeom prst="rect">
            <a:avLst/>
          </a:prstGeom>
        </p:spPr>
      </p:pic>
      <p:grpSp>
        <p:nvGrpSpPr>
          <p:cNvPr id="4" name="组合 3"/>
          <p:cNvGrpSpPr/>
          <p:nvPr>
            <p:custDataLst>
              <p:tags r:id="rId6"/>
            </p:custDataLst>
          </p:nvPr>
        </p:nvGrpSpPr>
        <p:grpSpPr>
          <a:xfrm>
            <a:off x="1163524" y="694690"/>
            <a:ext cx="2934131" cy="3863976"/>
            <a:chOff x="458" y="1704"/>
            <a:chExt cx="4620" cy="6086"/>
          </a:xfrm>
        </p:grpSpPr>
        <p:grpSp>
          <p:nvGrpSpPr>
            <p:cNvPr id="8200" name="组合 7176"/>
            <p:cNvGrpSpPr/>
            <p:nvPr/>
          </p:nvGrpSpPr>
          <p:grpSpPr>
            <a:xfrm>
              <a:off x="458" y="1704"/>
              <a:ext cx="4620" cy="6086"/>
              <a:chOff x="-50" y="0"/>
              <a:chExt cx="1634" cy="2434"/>
            </a:xfrm>
          </p:grpSpPr>
          <p:sp>
            <p:nvSpPr>
              <p:cNvPr id="8201" name="AutoShape 5"/>
              <p:cNvSpPr/>
              <p:nvPr/>
            </p:nvSpPr>
            <p:spPr>
              <a:xfrm>
                <a:off x="367" y="0"/>
                <a:ext cx="1217" cy="2434"/>
              </a:xfrm>
              <a:prstGeom prst="flowChartMultidocument">
                <a:avLst/>
              </a:prstGeom>
              <a:solidFill>
                <a:srgbClr val="FFFF99"/>
              </a:solidFill>
              <a:ln w="9525" cap="flat" cmpd="sng">
                <a:solidFill>
                  <a:schemeClr val="tx1"/>
                </a:solidFill>
                <a:prstDash val="solid"/>
                <a:miter/>
                <a:headEnd type="none" w="med" len="med"/>
                <a:tailEnd type="none" w="med" len="med"/>
              </a:ln>
            </p:spPr>
            <p:txBody>
              <a:bodyPr tIns="226695" anchor="t">
                <a:spAutoFit/>
              </a:bodyPr>
              <a:lstStyle/>
              <a:p>
                <a:pPr algn="ctr">
                  <a:lnSpc>
                    <a:spcPct val="100000"/>
                  </a:lnSpc>
                  <a:spcBef>
                    <a:spcPts val="100"/>
                  </a:spcBef>
                  <a:spcAft>
                    <a:spcPts val="0"/>
                  </a:spcAft>
                </a:pPr>
                <a:r>
                  <a:rPr lang="zh-CN" altLang="en-US" sz="2800" b="1" dirty="0">
                    <a:latin typeface="Times New Roman" panose="02020603050405020304" pitchFamily="2" charset="0"/>
                  </a:rPr>
                  <a:t>数  据</a:t>
                </a:r>
              </a:p>
              <a:p>
                <a:pPr algn="ctr">
                  <a:lnSpc>
                    <a:spcPct val="100000"/>
                  </a:lnSpc>
                  <a:spcBef>
                    <a:spcPts val="50"/>
                  </a:spcBef>
                  <a:spcAft>
                    <a:spcPts val="0"/>
                  </a:spcAft>
                </a:pPr>
                <a:r>
                  <a:rPr lang="zh-CN" altLang="en-US" sz="2800" b="1" dirty="0">
                    <a:latin typeface="Times New Roman" panose="02020603050405020304" pitchFamily="2" charset="0"/>
                  </a:rPr>
                  <a:t>（</a:t>
                </a:r>
                <a:r>
                  <a:rPr lang="en-US" altLang="zh-CN" sz="2800" b="1" dirty="0">
                    <a:latin typeface="Times New Roman" panose="02020603050405020304" pitchFamily="2" charset="0"/>
                  </a:rPr>
                  <a:t>data）</a:t>
                </a:r>
              </a:p>
              <a:p>
                <a:pPr algn="ctr">
                  <a:spcBef>
                    <a:spcPct val="50000"/>
                  </a:spcBef>
                </a:pPr>
                <a:endParaRPr lang="zh-CN" altLang="en-US" sz="2800" b="1" dirty="0">
                  <a:latin typeface="Times New Roman" panose="02020603050405020304" pitchFamily="2" charset="0"/>
                </a:endParaRPr>
              </a:p>
              <a:p>
                <a:pPr algn="ctr">
                  <a:spcBef>
                    <a:spcPct val="50000"/>
                  </a:spcBef>
                </a:pPr>
                <a:endParaRPr lang="zh-CN" altLang="en-US" sz="2800" b="1" dirty="0">
                  <a:latin typeface="Times New Roman" panose="02020603050405020304" pitchFamily="2" charset="0"/>
                </a:endParaRPr>
              </a:p>
              <a:p>
                <a:pPr algn="ctr">
                  <a:spcBef>
                    <a:spcPct val="50000"/>
                  </a:spcBef>
                </a:pPr>
                <a:endParaRPr lang="zh-CN" altLang="en-US" sz="2800" b="1" dirty="0">
                  <a:latin typeface="Times New Roman" panose="02020603050405020304" pitchFamily="2" charset="0"/>
                </a:endParaRPr>
              </a:p>
            </p:txBody>
          </p:sp>
          <p:sp>
            <p:nvSpPr>
              <p:cNvPr id="8202" name="Text Box 7"/>
              <p:cNvSpPr txBox="1"/>
              <p:nvPr/>
            </p:nvSpPr>
            <p:spPr>
              <a:xfrm>
                <a:off x="-50" y="202"/>
                <a:ext cx="366" cy="1374"/>
              </a:xfrm>
              <a:prstGeom prst="rect">
                <a:avLst/>
              </a:prstGeom>
              <a:noFill/>
              <a:ln w="9525">
                <a:noFill/>
              </a:ln>
            </p:spPr>
            <p:txBody>
              <a:bodyPr vert="eaVert" wrap="square" anchor="t">
                <a:spAutoFit/>
              </a:bodyPr>
              <a:lstStyle/>
              <a:p>
                <a:pPr algn="dist">
                  <a:lnSpc>
                    <a:spcPct val="110000"/>
                  </a:lnSpc>
                  <a:spcBef>
                    <a:spcPct val="50000"/>
                  </a:spcBef>
                </a:pPr>
                <a:r>
                  <a:rPr lang="zh-CN" altLang="en-US" sz="2800" b="1" spc="100" dirty="0">
                    <a:solidFill>
                      <a:srgbClr val="1F2DA8"/>
                    </a:solidFill>
                    <a:uFillTx/>
                    <a:latin typeface="Times New Roman" panose="02020603050405020304" pitchFamily="2" charset="0"/>
                  </a:rPr>
                  <a:t>计算机世界</a:t>
                </a:r>
              </a:p>
            </p:txBody>
          </p:sp>
        </p:grpSp>
        <p:pic>
          <p:nvPicPr>
            <p:cNvPr id="12" name="图片 11"/>
            <p:cNvPicPr>
              <a:picLocks noChangeAspect="1"/>
            </p:cNvPicPr>
            <p:nvPr>
              <p:custDataLst>
                <p:tags r:id="rId8"/>
              </p:custDataLst>
            </p:nvPr>
          </p:nvPicPr>
          <p:blipFill>
            <a:blip r:embed="rId17"/>
            <a:stretch>
              <a:fillRect/>
            </a:stretch>
          </p:blipFill>
          <p:spPr>
            <a:xfrm>
              <a:off x="1770" y="4542"/>
              <a:ext cx="2661" cy="1923"/>
            </a:xfrm>
            <a:prstGeom prst="rect">
              <a:avLst/>
            </a:prstGeom>
          </p:spPr>
        </p:pic>
      </p:grpSp>
      <p:sp>
        <p:nvSpPr>
          <p:cNvPr id="2" name="文本框 1"/>
          <p:cNvSpPr txBox="1"/>
          <p:nvPr>
            <p:custDataLst>
              <p:tags r:id="rId7"/>
            </p:custDataLst>
          </p:nvPr>
        </p:nvSpPr>
        <p:spPr>
          <a:xfrm>
            <a:off x="1839595" y="5014595"/>
            <a:ext cx="3518535" cy="521970"/>
          </a:xfrm>
          <a:prstGeom prst="rect">
            <a:avLst/>
          </a:prstGeom>
          <a:noFill/>
        </p:spPr>
        <p:txBody>
          <a:bodyPr wrap="square" rtlCol="0">
            <a:spAutoFit/>
          </a:bodyPr>
          <a:lstStyle/>
          <a:p>
            <a:pPr lvl="1" indent="-457200">
              <a:buClr>
                <a:srgbClr val="C00000"/>
              </a:buClr>
              <a:buSzPct val="85000"/>
              <a:buFont typeface="Arial" panose="020B0604020202020204" pitchFamily="34" charset="0"/>
              <a:buChar char="•"/>
            </a:pPr>
            <a:r>
              <a:rPr lang="zh-CN" altLang="en-US" sz="2800" b="1">
                <a:solidFill>
                  <a:srgbClr val="FF0000"/>
                </a:solidFill>
                <a:sym typeface="+mn-ea"/>
              </a:rPr>
              <a:t>数据是信息的载体</a:t>
            </a:r>
          </a:p>
        </p:txBody>
      </p:sp>
      <p:sp>
        <p:nvSpPr>
          <p:cNvPr id="6" name="灯片编号占位符 5"/>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a:t>
            </a:fld>
            <a:endParaRPr lang="zh-CN" altLang="en-US" strike="noStrike" noProof="1"/>
          </a:p>
        </p:txBody>
      </p:sp>
      <p:sp>
        <p:nvSpPr>
          <p:cNvPr id="5" name="页脚占位符 4"/>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3"/>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206"/>
                                        </p:tgtEl>
                                        <p:attrNameLst>
                                          <p:attrName>style.visibility</p:attrName>
                                        </p:attrNameLst>
                                      </p:cBhvr>
                                      <p:to>
                                        <p:strVal val="visible"/>
                                      </p:to>
                                    </p:set>
                                    <p:animEffect transition="in" filter="blinds(horizontal)">
                                      <p:cBhvr>
                                        <p:cTn id="15" dur="500"/>
                                        <p:tgtEl>
                                          <p:spTgt spid="8206"/>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9220" name="Rectangle 3"/>
          <p:cNvSpPr>
            <a:spLocks noGrp="1"/>
          </p:cNvSpPr>
          <p:nvPr>
            <p:ph idx="1"/>
          </p:nvPr>
        </p:nvSpPr>
        <p:spPr/>
        <p:txBody>
          <a:bodyPr wrap="square" anchor="t"/>
          <a:lstStyle/>
          <a:p>
            <a:pPr eaLnBrk="1" hangingPunct="1">
              <a:lnSpc>
                <a:spcPct val="100000"/>
              </a:lnSpc>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数据的特性</a:t>
            </a:r>
          </a:p>
          <a:p>
            <a:pPr marL="914400" lvl="1" indent="-457200"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1) </a:t>
            </a:r>
            <a:r>
              <a:rPr lang="zh-CN" altLang="en-US" dirty="0">
                <a:solidFill>
                  <a:srgbClr val="FF0000"/>
                </a:solidFill>
                <a:latin typeface="楷体" panose="02010609060101010101" charset="-122"/>
                <a:ea typeface="楷体" panose="02010609060101010101" charset="-122"/>
                <a:cs typeface="楷体" panose="02010609060101010101" charset="-122"/>
              </a:rPr>
              <a:t>数据表现的多样性</a:t>
            </a:r>
            <a:r>
              <a:rPr lang="zh-CN" altLang="en-US" dirty="0">
                <a:sym typeface="+mn-ea"/>
              </a:rPr>
              <a:t>：数字、文字、日期</a:t>
            </a:r>
            <a:r>
              <a:rPr lang="en-US" altLang="zh-CN" dirty="0">
                <a:sym typeface="+mn-ea"/>
              </a:rPr>
              <a:t>/</a:t>
            </a:r>
            <a:r>
              <a:rPr lang="zh-CN" altLang="en-US" dirty="0">
                <a:sym typeface="+mn-ea"/>
              </a:rPr>
              <a:t>时间、图形</a:t>
            </a:r>
            <a:r>
              <a:rPr lang="en-US" altLang="zh-CN" dirty="0">
                <a:sym typeface="+mn-ea"/>
              </a:rPr>
              <a:t>/</a:t>
            </a:r>
            <a:r>
              <a:rPr lang="zh-CN" altLang="en-US" dirty="0">
                <a:sym typeface="+mn-ea"/>
              </a:rPr>
              <a:t>图像、音频</a:t>
            </a:r>
            <a:r>
              <a:rPr lang="en-US" altLang="zh-CN" dirty="0">
                <a:sym typeface="+mn-ea"/>
              </a:rPr>
              <a:t>/</a:t>
            </a:r>
            <a:r>
              <a:rPr lang="zh-CN" altLang="en-US" dirty="0">
                <a:sym typeface="+mn-ea"/>
              </a:rPr>
              <a:t>视频、二进制串、文档、抽象数据类型等</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spcAft>
                <a:spcPts val="1000"/>
              </a:spcAft>
            </a:pP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3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2) </a:t>
            </a:r>
            <a:r>
              <a:rPr lang="zh-CN" altLang="en-US" dirty="0">
                <a:solidFill>
                  <a:srgbClr val="FF0000"/>
                </a:solidFill>
                <a:latin typeface="楷体" panose="02010609060101010101" charset="-122"/>
                <a:ea typeface="楷体" panose="02010609060101010101" charset="-122"/>
                <a:cs typeface="楷体" panose="02010609060101010101" charset="-122"/>
              </a:rPr>
              <a:t>数据的可构造性</a:t>
            </a:r>
          </a:p>
          <a:p>
            <a:pPr marL="914400" lvl="1" indent="-457200" algn="just" eaLnBrk="1" hangingPunct="1">
              <a:lnSpc>
                <a:spcPct val="100000"/>
              </a:lnSpc>
              <a:spcBef>
                <a:spcPts val="1000"/>
              </a:spcBef>
            </a:pP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3) </a:t>
            </a:r>
            <a:r>
              <a:rPr lang="zh-CN" altLang="en-US" dirty="0">
                <a:solidFill>
                  <a:srgbClr val="FF0000"/>
                </a:solidFill>
                <a:latin typeface="楷体" panose="02010609060101010101" charset="-122"/>
                <a:ea typeface="楷体" panose="02010609060101010101" charset="-122"/>
                <a:cs typeface="楷体" panose="02010609060101010101" charset="-122"/>
              </a:rPr>
              <a:t>数据的挥发性</a:t>
            </a:r>
            <a:r>
              <a:rPr lang="en-US" altLang="zh-CN" dirty="0">
                <a:solidFill>
                  <a:srgbClr val="FF0000"/>
                </a:solidFill>
                <a:latin typeface="楷体" panose="02010609060101010101" charset="-122"/>
                <a:ea typeface="楷体" panose="02010609060101010101" charset="-122"/>
                <a:cs typeface="楷体" panose="02010609060101010101" charset="-122"/>
              </a:rPr>
              <a:t>/</a:t>
            </a:r>
            <a:r>
              <a:rPr lang="zh-CN" altLang="en-US" dirty="0">
                <a:solidFill>
                  <a:srgbClr val="FF0000"/>
                </a:solidFill>
                <a:latin typeface="楷体" panose="02010609060101010101" charset="-122"/>
                <a:ea typeface="楷体" panose="02010609060101010101" charset="-122"/>
                <a:cs typeface="楷体" panose="02010609060101010101" charset="-122"/>
              </a:rPr>
              <a:t>持久性</a:t>
            </a:r>
            <a:endParaRPr lang="en-US" altLang="zh-CN"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4) </a:t>
            </a:r>
            <a:r>
              <a:rPr lang="zh-CN" altLang="en-US" dirty="0">
                <a:solidFill>
                  <a:srgbClr val="FF0000"/>
                </a:solidFill>
                <a:latin typeface="楷体" panose="02010609060101010101" charset="-122"/>
                <a:ea typeface="楷体" panose="02010609060101010101" charset="-122"/>
                <a:cs typeface="楷体" panose="02010609060101010101" charset="-122"/>
              </a:rPr>
              <a:t>数据的私有性</a:t>
            </a:r>
            <a:r>
              <a:rPr lang="en-US" altLang="zh-CN" dirty="0">
                <a:solidFill>
                  <a:srgbClr val="FF0000"/>
                </a:solidFill>
                <a:latin typeface="楷体" panose="02010609060101010101" charset="-122"/>
                <a:ea typeface="楷体" panose="02010609060101010101" charset="-122"/>
                <a:cs typeface="楷体" panose="02010609060101010101" charset="-122"/>
              </a:rPr>
              <a:t>/</a:t>
            </a:r>
            <a:r>
              <a:rPr lang="zh-CN" altLang="en-US" dirty="0">
                <a:solidFill>
                  <a:srgbClr val="FF0000"/>
                </a:solidFill>
                <a:latin typeface="楷体" panose="02010609060101010101" charset="-122"/>
                <a:ea typeface="楷体" panose="02010609060101010101" charset="-122"/>
                <a:cs typeface="楷体" panose="02010609060101010101" charset="-122"/>
              </a:rPr>
              <a:t>共享性</a:t>
            </a:r>
            <a:endParaRPr lang="en-US" altLang="zh-CN"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5) </a:t>
            </a:r>
            <a:r>
              <a:rPr lang="zh-CN" altLang="en-US" dirty="0">
                <a:solidFill>
                  <a:srgbClr val="FF0000"/>
                </a:solidFill>
                <a:latin typeface="楷体" panose="02010609060101010101" charset="-122"/>
                <a:ea typeface="楷体" panose="02010609060101010101" charset="-122"/>
                <a:cs typeface="楷体" panose="02010609060101010101" charset="-122"/>
              </a:rPr>
              <a:t>数据的</a:t>
            </a:r>
            <a:r>
              <a:rPr lang="en-US" altLang="zh-CN" dirty="0">
                <a:solidFill>
                  <a:srgbClr val="FF0000"/>
                </a:solidFill>
                <a:latin typeface="楷体" panose="02010609060101010101" charset="-122"/>
                <a:ea typeface="楷体" panose="02010609060101010101" charset="-122"/>
                <a:cs typeface="楷体" panose="02010609060101010101" charset="-122"/>
              </a:rPr>
              <a:t> </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rPr>
              <a:t>量</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latin typeface="Arial" panose="020B0604020202020204" pitchFamily="34" charset="0"/>
                <a:cs typeface="Arial" panose="020B0604020202020204" pitchFamily="34" charset="0"/>
                <a:sym typeface="+mn-ea"/>
              </a:rPr>
              <a:t>：从</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少量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到</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大量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海量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，再到</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大数据</a:t>
            </a:r>
            <a:r>
              <a:rPr lang="en-US" altLang="zh-CN" dirty="0">
                <a:latin typeface="Arial" panose="020B0604020202020204" pitchFamily="34" charset="0"/>
                <a:cs typeface="Arial" panose="020B0604020202020204" pitchFamily="34" charset="0"/>
                <a:sym typeface="+mn-ea"/>
              </a:rPr>
              <a:t>’(Big Data)</a:t>
            </a:r>
            <a:endParaRPr lang="en-US" altLang="zh-CN" dirty="0">
              <a:solidFill>
                <a:srgbClr val="1F2DA8"/>
              </a:solidFill>
              <a:latin typeface="Arial" panose="020B0604020202020204" pitchFamily="34" charset="0"/>
              <a:ea typeface="楷体" panose="02010609060101010101" charset="-122"/>
              <a:cs typeface="Arial" panose="020B0604020202020204" pitchFamily="34" charset="0"/>
            </a:endParaRPr>
          </a:p>
        </p:txBody>
      </p:sp>
      <p:grpSp>
        <p:nvGrpSpPr>
          <p:cNvPr id="8198" name="组合 8197"/>
          <p:cNvGrpSpPr/>
          <p:nvPr/>
        </p:nvGrpSpPr>
        <p:grpSpPr>
          <a:xfrm>
            <a:off x="4155440" y="2565400"/>
            <a:ext cx="2546350" cy="1595438"/>
            <a:chOff x="0" y="0"/>
            <a:chExt cx="1604" cy="1005"/>
          </a:xfrm>
        </p:grpSpPr>
        <p:sp>
          <p:nvSpPr>
            <p:cNvPr id="9222" name="Rectangle 12"/>
            <p:cNvSpPr/>
            <p:nvPr/>
          </p:nvSpPr>
          <p:spPr>
            <a:xfrm>
              <a:off x="0" y="0"/>
              <a:ext cx="1152" cy="796"/>
            </a:xfrm>
            <a:prstGeom prst="rect">
              <a:avLst/>
            </a:prstGeom>
            <a:solidFill>
              <a:schemeClr val="bg1"/>
            </a:solidFill>
            <a:ln w="9525">
              <a:noFill/>
            </a:ln>
          </p:spPr>
          <p:txBody>
            <a:bodyPr wrap="none" anchor="ctr"/>
            <a:lstStyle/>
            <a:p>
              <a:pPr algn="ctr"/>
              <a:endParaRPr lang="zh-CN" altLang="en-US" sz="2800" dirty="0">
                <a:latin typeface="楷体" panose="02010609060101010101" charset="-122"/>
                <a:ea typeface="楷体" panose="02010609060101010101" charset="-122"/>
              </a:endParaRPr>
            </a:p>
          </p:txBody>
        </p:sp>
        <p:sp>
          <p:nvSpPr>
            <p:cNvPr id="9223" name="AutoShape 5"/>
            <p:cNvSpPr/>
            <p:nvPr/>
          </p:nvSpPr>
          <p:spPr>
            <a:xfrm>
              <a:off x="108" y="218"/>
              <a:ext cx="148" cy="676"/>
            </a:xfrm>
            <a:prstGeom prst="leftBrace">
              <a:avLst>
                <a:gd name="adj1" fmla="val 30264"/>
                <a:gd name="adj2" fmla="val 50000"/>
              </a:avLst>
            </a:prstGeom>
            <a:noFill/>
            <a:ln w="25400" cap="flat" cmpd="sng">
              <a:solidFill>
                <a:schemeClr val="tx1"/>
              </a:solidFill>
              <a:prstDash val="solid"/>
              <a:round/>
              <a:headEnd type="none" w="med" len="med"/>
              <a:tailEnd type="none" w="med" len="med"/>
            </a:ln>
          </p:spPr>
          <p:txBody>
            <a:bodyPr wrap="none" anchor="ctr"/>
            <a:lstStyle/>
            <a:p>
              <a:pPr algn="ctr"/>
              <a:endParaRPr lang="zh-CN" altLang="en-US" sz="2800" dirty="0">
                <a:latin typeface="楷体" panose="02010609060101010101" charset="-122"/>
                <a:ea typeface="楷体" panose="02010609060101010101" charset="-122"/>
              </a:endParaRPr>
            </a:p>
          </p:txBody>
        </p:sp>
        <p:sp>
          <p:nvSpPr>
            <p:cNvPr id="9224" name="Text Box 6"/>
            <p:cNvSpPr txBox="1"/>
            <p:nvPr/>
          </p:nvSpPr>
          <p:spPr>
            <a:xfrm>
              <a:off x="256" y="57"/>
              <a:ext cx="1348" cy="329"/>
            </a:xfrm>
            <a:prstGeom prst="rect">
              <a:avLst/>
            </a:prstGeom>
            <a:noFill/>
            <a:ln w="9525">
              <a:noFill/>
            </a:ln>
          </p:spPr>
          <p:txBody>
            <a:bodyPr wrap="square" anchor="t">
              <a:spAutoFit/>
            </a:bodyPr>
            <a:lstStyle/>
            <a:p>
              <a:r>
                <a:rPr lang="zh-CN" altLang="en-US" sz="2800" b="1" dirty="0">
                  <a:solidFill>
                    <a:srgbClr val="1F2DA8"/>
                  </a:solidFill>
                  <a:latin typeface="楷体" panose="02010609060101010101" charset="-122"/>
                  <a:ea typeface="楷体" panose="02010609060101010101" charset="-122"/>
                  <a:cs typeface="楷体" panose="02010609060101010101" charset="-122"/>
                </a:rPr>
                <a:t>型  </a:t>
              </a:r>
              <a:r>
                <a:rPr lang="en-US" altLang="zh-CN" sz="2800" b="1" dirty="0">
                  <a:solidFill>
                    <a:srgbClr val="1F2DA8"/>
                  </a:solidFill>
                  <a:latin typeface="楷体" panose="02010609060101010101" charset="-122"/>
                  <a:ea typeface="楷体" panose="02010609060101010101" charset="-122"/>
                  <a:cs typeface="楷体" panose="02010609060101010101" charset="-122"/>
                </a:rPr>
                <a:t>type</a:t>
              </a:r>
            </a:p>
          </p:txBody>
        </p:sp>
        <p:sp>
          <p:nvSpPr>
            <p:cNvPr id="9225" name="Text Box 7"/>
            <p:cNvSpPr txBox="1"/>
            <p:nvPr/>
          </p:nvSpPr>
          <p:spPr>
            <a:xfrm>
              <a:off x="265" y="676"/>
              <a:ext cx="1334" cy="329"/>
            </a:xfrm>
            <a:prstGeom prst="rect">
              <a:avLst/>
            </a:prstGeom>
            <a:noFill/>
            <a:ln w="9525">
              <a:noFill/>
            </a:ln>
          </p:spPr>
          <p:txBody>
            <a:bodyPr wrap="square" anchor="t">
              <a:spAutoFit/>
            </a:bodyPr>
            <a:lstStyle/>
            <a:p>
              <a:r>
                <a:rPr lang="zh-CN" altLang="en-US" sz="2800" b="1" dirty="0">
                  <a:solidFill>
                    <a:srgbClr val="1F2DA8"/>
                  </a:solidFill>
                  <a:latin typeface="楷体" panose="02010609060101010101" charset="-122"/>
                  <a:ea typeface="楷体" panose="02010609060101010101" charset="-122"/>
                  <a:cs typeface="楷体" panose="02010609060101010101" charset="-122"/>
                </a:rPr>
                <a:t>值 </a:t>
              </a:r>
              <a:r>
                <a:rPr lang="en-US" altLang="zh-CN" sz="2800" b="1" dirty="0">
                  <a:solidFill>
                    <a:srgbClr val="1F2DA8"/>
                  </a:solidFill>
                  <a:latin typeface="楷体" panose="02010609060101010101" charset="-122"/>
                  <a:ea typeface="楷体" panose="02010609060101010101" charset="-122"/>
                  <a:cs typeface="楷体" panose="02010609060101010101" charset="-122"/>
                </a:rPr>
                <a:t>value</a:t>
              </a:r>
            </a:p>
          </p:txBody>
        </p:sp>
      </p:grpSp>
      <p:grpSp>
        <p:nvGrpSpPr>
          <p:cNvPr id="8203" name="组合 8202"/>
          <p:cNvGrpSpPr/>
          <p:nvPr/>
        </p:nvGrpSpPr>
        <p:grpSpPr>
          <a:xfrm>
            <a:off x="6409690" y="2268855"/>
            <a:ext cx="3937000" cy="1384301"/>
            <a:chOff x="80" y="0"/>
            <a:chExt cx="2480" cy="872"/>
          </a:xfrm>
        </p:grpSpPr>
        <p:sp>
          <p:nvSpPr>
            <p:cNvPr id="9227" name="Text Box 8"/>
            <p:cNvSpPr txBox="1"/>
            <p:nvPr/>
          </p:nvSpPr>
          <p:spPr>
            <a:xfrm>
              <a:off x="200" y="0"/>
              <a:ext cx="2360" cy="872"/>
            </a:xfrm>
            <a:prstGeom prst="rect">
              <a:avLst/>
            </a:prstGeom>
            <a:solidFill>
              <a:schemeClr val="bg1"/>
            </a:solidFill>
            <a:ln w="9525">
              <a:noFill/>
            </a:ln>
          </p:spPr>
          <p:txBody>
            <a:bodyPr wrap="square" anchor="t">
              <a:spAutoFit/>
            </a:bodyPr>
            <a:lstStyle/>
            <a:p>
              <a:r>
                <a:rPr lang="zh-CN" altLang="en-US" sz="2800" b="1" dirty="0">
                  <a:solidFill>
                    <a:srgbClr val="1F2DA8"/>
                  </a:solidFill>
                  <a:latin typeface="楷体" panose="02010609060101010101" charset="-122"/>
                  <a:ea typeface="楷体" panose="02010609060101010101" charset="-122"/>
                  <a:cs typeface="楷体" panose="02010609060101010101" charset="-122"/>
                </a:rPr>
                <a:t>数据类型 </a:t>
              </a:r>
              <a:r>
                <a:rPr lang="en-US" altLang="zh-CN" sz="2800" b="1" dirty="0">
                  <a:solidFill>
                    <a:srgbClr val="1F2DA8"/>
                  </a:solidFill>
                  <a:latin typeface="楷体" panose="02010609060101010101" charset="-122"/>
                  <a:ea typeface="楷体" panose="02010609060101010101" charset="-122"/>
                  <a:cs typeface="楷体" panose="02010609060101010101" charset="-122"/>
                </a:rPr>
                <a:t>type</a:t>
              </a:r>
            </a:p>
            <a:p>
              <a:r>
                <a:rPr lang="zh-CN" altLang="en-US" sz="2800" b="1" dirty="0">
                  <a:solidFill>
                    <a:srgbClr val="1F2DA8"/>
                  </a:solidFill>
                  <a:latin typeface="楷体" panose="02010609060101010101" charset="-122"/>
                  <a:ea typeface="楷体" panose="02010609060101010101" charset="-122"/>
                  <a:cs typeface="楷体" panose="02010609060101010101" charset="-122"/>
                </a:rPr>
                <a:t>数据结构 </a:t>
              </a:r>
              <a:r>
                <a:rPr lang="en-US" altLang="zh-CN" sz="2800" b="1" dirty="0">
                  <a:solidFill>
                    <a:srgbClr val="1F2DA8"/>
                  </a:solidFill>
                  <a:latin typeface="楷体" panose="02010609060101010101" charset="-122"/>
                  <a:ea typeface="楷体" panose="02010609060101010101" charset="-122"/>
                  <a:cs typeface="楷体" panose="02010609060101010101" charset="-122"/>
                </a:rPr>
                <a:t>structure</a:t>
              </a:r>
            </a:p>
            <a:p>
              <a:r>
                <a:rPr lang="zh-CN" altLang="en-US" sz="2800" b="1" dirty="0">
                  <a:solidFill>
                    <a:srgbClr val="1F2DA8"/>
                  </a:solidFill>
                  <a:latin typeface="楷体" panose="02010609060101010101" charset="-122"/>
                  <a:ea typeface="楷体" panose="02010609060101010101" charset="-122"/>
                  <a:cs typeface="楷体" panose="02010609060101010101" charset="-122"/>
                </a:rPr>
                <a:t>数据模式 </a:t>
              </a:r>
              <a:r>
                <a:rPr lang="en-US" altLang="zh-CN" sz="2800" b="1" dirty="0">
                  <a:solidFill>
                    <a:srgbClr val="1F2DA8"/>
                  </a:solidFill>
                  <a:latin typeface="楷体" panose="02010609060101010101" charset="-122"/>
                  <a:ea typeface="楷体" panose="02010609060101010101" charset="-122"/>
                  <a:cs typeface="楷体" panose="02010609060101010101" charset="-122"/>
                </a:rPr>
                <a:t>schema</a:t>
              </a:r>
            </a:p>
          </p:txBody>
        </p:sp>
        <p:sp>
          <p:nvSpPr>
            <p:cNvPr id="9228" name="AutoShape 9"/>
            <p:cNvSpPr/>
            <p:nvPr/>
          </p:nvSpPr>
          <p:spPr>
            <a:xfrm>
              <a:off x="80" y="102"/>
              <a:ext cx="120" cy="660"/>
            </a:xfrm>
            <a:prstGeom prst="leftBrace">
              <a:avLst>
                <a:gd name="adj1" fmla="val 21145"/>
                <a:gd name="adj2" fmla="val 50000"/>
              </a:avLst>
            </a:prstGeom>
            <a:solidFill>
              <a:schemeClr val="bg1"/>
            </a:solidFill>
            <a:ln w="25400" cap="flat" cmpd="sng">
              <a:solidFill>
                <a:schemeClr val="tx1"/>
              </a:solidFill>
              <a:prstDash val="solid"/>
              <a:round/>
              <a:headEnd type="none" w="med" len="med"/>
              <a:tailEnd type="none" w="med" len="med"/>
            </a:ln>
          </p:spPr>
          <p:txBody>
            <a:bodyPr wrap="none" anchor="ctr"/>
            <a:lstStyle/>
            <a:p>
              <a:pPr algn="ctr"/>
              <a:endParaRPr lang="zh-CN" altLang="en-US" sz="2800" dirty="0">
                <a:solidFill>
                  <a:srgbClr val="1F2DA8"/>
                </a:solidFill>
                <a:latin typeface="楷体" panose="02010609060101010101" charset="-122"/>
                <a:ea typeface="楷体" panose="02010609060101010101" charset="-122"/>
              </a:endParaRPr>
            </a:p>
          </p:txBody>
        </p:sp>
      </p:gr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12</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0">
                                            <p:txEl>
                                              <p:pRg st="3" end="3"/>
                                            </p:txEl>
                                          </p:spTgt>
                                        </p:tgtEl>
                                        <p:attrNameLst>
                                          <p:attrName>style.visibility</p:attrName>
                                        </p:attrNameLst>
                                      </p:cBhvr>
                                      <p:to>
                                        <p:strVal val="visible"/>
                                      </p:to>
                                    </p:set>
                                    <p:anim calcmode="lin" valueType="num">
                                      <p:cBhvr additive="base">
                                        <p:cTn id="7" dur="500" fill="hold"/>
                                        <p:tgtEl>
                                          <p:spTgt spid="922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198"/>
                                        </p:tgtEl>
                                        <p:attrNameLst>
                                          <p:attrName>style.visibility</p:attrName>
                                        </p:attrNameLst>
                                      </p:cBhvr>
                                      <p:to>
                                        <p:strVal val="visible"/>
                                      </p:to>
                                    </p:set>
                                    <p:anim calcmode="lin" valueType="num">
                                      <p:cBhvr>
                                        <p:cTn id="13" dur="500" fill="hold"/>
                                        <p:tgtEl>
                                          <p:spTgt spid="8198"/>
                                        </p:tgtEl>
                                        <p:attrNameLst>
                                          <p:attrName>ppt_x</p:attrName>
                                        </p:attrNameLst>
                                      </p:cBhvr>
                                      <p:tavLst>
                                        <p:tav tm="0">
                                          <p:val>
                                            <p:strVal val="1+#ppt_w/2"/>
                                          </p:val>
                                        </p:tav>
                                        <p:tav tm="100000">
                                          <p:val>
                                            <p:strVal val="#ppt_x"/>
                                          </p:val>
                                        </p:tav>
                                      </p:tavLst>
                                    </p:anim>
                                    <p:anim calcmode="lin" valueType="num">
                                      <p:cBhvr>
                                        <p:cTn id="14"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203"/>
                                        </p:tgtEl>
                                        <p:attrNameLst>
                                          <p:attrName>style.visibility</p:attrName>
                                        </p:attrNameLst>
                                      </p:cBhvr>
                                      <p:to>
                                        <p:strVal val="visible"/>
                                      </p:to>
                                    </p:set>
                                    <p:anim calcmode="lin" valueType="num">
                                      <p:cBhvr>
                                        <p:cTn id="19" dur="500" fill="hold"/>
                                        <p:tgtEl>
                                          <p:spTgt spid="8203"/>
                                        </p:tgtEl>
                                        <p:attrNameLst>
                                          <p:attrName>ppt_x</p:attrName>
                                        </p:attrNameLst>
                                      </p:cBhvr>
                                      <p:tavLst>
                                        <p:tav tm="0">
                                          <p:val>
                                            <p:strVal val="1+#ppt_w/2"/>
                                          </p:val>
                                        </p:tav>
                                        <p:tav tm="100000">
                                          <p:val>
                                            <p:strVal val="#ppt_x"/>
                                          </p:val>
                                        </p:tav>
                                      </p:tavLst>
                                    </p:anim>
                                    <p:anim calcmode="lin" valueType="num">
                                      <p:cBhvr>
                                        <p:cTn id="20" dur="500" fill="hold"/>
                                        <p:tgtEl>
                                          <p:spTgt spid="820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20">
                                            <p:txEl>
                                              <p:pRg st="5" end="5"/>
                                            </p:txEl>
                                          </p:spTgt>
                                        </p:tgtEl>
                                        <p:attrNameLst>
                                          <p:attrName>style.visibility</p:attrName>
                                        </p:attrNameLst>
                                      </p:cBhvr>
                                      <p:to>
                                        <p:strVal val="visible"/>
                                      </p:to>
                                    </p:set>
                                    <p:anim calcmode="lin" valueType="num">
                                      <p:cBhvr additive="base">
                                        <p:cTn id="25" dur="500" fill="hold"/>
                                        <p:tgtEl>
                                          <p:spTgt spid="922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2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anim calcmode="lin" valueType="num">
                                      <p:cBhvr additive="base">
                                        <p:cTn id="31" dur="500" fill="hold"/>
                                        <p:tgtEl>
                                          <p:spTgt spid="922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2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220">
                                            <p:txEl>
                                              <p:pRg st="7" end="7"/>
                                            </p:txEl>
                                          </p:spTgt>
                                        </p:tgtEl>
                                        <p:attrNameLst>
                                          <p:attrName>style.visibility</p:attrName>
                                        </p:attrNameLst>
                                      </p:cBhvr>
                                      <p:to>
                                        <p:strVal val="visible"/>
                                      </p:to>
                                    </p:set>
                                    <p:anim calcmode="lin" valueType="num">
                                      <p:cBhvr additive="base">
                                        <p:cTn id="37" dur="500" fill="hold"/>
                                        <p:tgtEl>
                                          <p:spTgt spid="922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2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10244" name="Rectangle 3"/>
          <p:cNvSpPr>
            <a:spLocks noGrp="1"/>
          </p:cNvSpPr>
          <p:nvPr>
            <p:ph idx="1"/>
          </p:nvPr>
        </p:nvSpPr>
        <p:spPr/>
        <p:txBody>
          <a:bodyPr wrap="square" anchor="t"/>
          <a:lstStyle/>
          <a:p>
            <a:pPr eaLnBrk="1" hangingPunct="1">
              <a:lnSpc>
                <a:spcPct val="120000"/>
              </a:lnSpc>
              <a:spcBef>
                <a:spcPts val="1000"/>
              </a:spcBef>
            </a:pPr>
            <a:r>
              <a:rPr lang="zh-CN" altLang="en-US" dirty="0">
                <a:latin typeface="楷体" panose="02010609060101010101" charset="-122"/>
                <a:ea typeface="楷体" panose="02010609060101010101" charset="-122"/>
                <a:cs typeface="楷体" panose="02010609060101010101" charset="-122"/>
              </a:rPr>
              <a:t>数据特性的变化趋势</a:t>
            </a: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1) </a:t>
            </a:r>
            <a:r>
              <a:rPr lang="zh-CN" altLang="en-US" dirty="0">
                <a:solidFill>
                  <a:srgbClr val="FF0000"/>
                </a:solidFill>
                <a:latin typeface="楷体" panose="02010609060101010101" charset="-122"/>
                <a:ea typeface="楷体" panose="02010609060101010101" charset="-122"/>
                <a:cs typeface="楷体" panose="02010609060101010101" charset="-122"/>
              </a:rPr>
              <a:t>数据的量</a:t>
            </a:r>
            <a:r>
              <a:rPr lang="zh-CN" altLang="en-US" dirty="0">
                <a:latin typeface="楷体" panose="02010609060101010101" charset="-122"/>
                <a:ea typeface="楷体" panose="02010609060101010101" charset="-122"/>
                <a:cs typeface="楷体" panose="02010609060101010101" charset="-122"/>
              </a:rPr>
              <a:t>：少量     大量     海量      大数据 (Big Data)</a:t>
            </a: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2) </a:t>
            </a:r>
            <a:r>
              <a:rPr lang="zh-CN" altLang="en-US" dirty="0">
                <a:solidFill>
                  <a:srgbClr val="FF0000"/>
                </a:solidFill>
                <a:latin typeface="楷体" panose="02010609060101010101" charset="-122"/>
                <a:ea typeface="楷体" panose="02010609060101010101" charset="-122"/>
                <a:cs typeface="楷体" panose="02010609060101010101" charset="-122"/>
              </a:rPr>
              <a:t>数据的结构</a:t>
            </a:r>
            <a:r>
              <a:rPr lang="zh-CN" altLang="en-US" dirty="0">
                <a:latin typeface="楷体" panose="02010609060101010101" charset="-122"/>
                <a:ea typeface="楷体" panose="02010609060101010101" charset="-122"/>
                <a:cs typeface="楷体" panose="02010609060101010101" charset="-122"/>
              </a:rPr>
              <a:t>：简单      复杂      无结构</a:t>
            </a: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3) </a:t>
            </a:r>
            <a:r>
              <a:rPr lang="zh-CN" altLang="en-US" dirty="0">
                <a:solidFill>
                  <a:srgbClr val="FF0000"/>
                </a:solidFill>
                <a:latin typeface="楷体" panose="02010609060101010101" charset="-122"/>
                <a:ea typeface="楷体" panose="02010609060101010101" charset="-122"/>
                <a:cs typeface="楷体" panose="02010609060101010101" charset="-122"/>
              </a:rPr>
              <a:t>数据的服务范围</a:t>
            </a:r>
            <a:r>
              <a:rPr lang="zh-CN" altLang="en-US" dirty="0">
                <a:latin typeface="楷体" panose="02010609060101010101" charset="-122"/>
                <a:ea typeface="楷体" panose="02010609060101010101" charset="-122"/>
                <a:cs typeface="楷体" panose="02010609060101010101" charset="-122"/>
              </a:rPr>
              <a:t>：私有       共享</a:t>
            </a: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4) </a:t>
            </a:r>
            <a:r>
              <a:rPr lang="zh-CN" altLang="en-US" dirty="0">
                <a:solidFill>
                  <a:srgbClr val="FF0000"/>
                </a:solidFill>
                <a:latin typeface="楷体" panose="02010609060101010101" charset="-122"/>
                <a:ea typeface="楷体" panose="02010609060101010101" charset="-122"/>
                <a:cs typeface="楷体" panose="02010609060101010101" charset="-122"/>
              </a:rPr>
              <a:t>数据在软件中的地位</a:t>
            </a:r>
          </a:p>
        </p:txBody>
      </p:sp>
      <p:grpSp>
        <p:nvGrpSpPr>
          <p:cNvPr id="10245" name="组合 9221"/>
          <p:cNvGrpSpPr/>
          <p:nvPr/>
        </p:nvGrpSpPr>
        <p:grpSpPr>
          <a:xfrm>
            <a:off x="2102803" y="4451985"/>
            <a:ext cx="7245350" cy="952501"/>
            <a:chOff x="-341" y="0"/>
            <a:chExt cx="4564" cy="600"/>
          </a:xfrm>
        </p:grpSpPr>
        <p:sp>
          <p:nvSpPr>
            <p:cNvPr id="10246" name="Text Box 4"/>
            <p:cNvSpPr txBox="1"/>
            <p:nvPr/>
          </p:nvSpPr>
          <p:spPr>
            <a:xfrm>
              <a:off x="-341" y="0"/>
              <a:ext cx="1973" cy="600"/>
            </a:xfrm>
            <a:prstGeom prst="rect">
              <a:avLst/>
            </a:prstGeom>
            <a:solidFill>
              <a:srgbClr val="CCFFFF"/>
            </a:solidFill>
            <a:ln w="9525" cap="flat" cmpd="sng">
              <a:solidFill>
                <a:schemeClr val="tx1"/>
              </a:solidFill>
              <a:prstDash val="solid"/>
              <a:miter/>
              <a:headEnd type="none" w="med" len="med"/>
              <a:tailEnd type="none" w="med" len="med"/>
            </a:ln>
          </p:spPr>
          <p:txBody>
            <a:bodyPr wrap="square" anchor="t">
              <a:spAutoFit/>
            </a:bodyPr>
            <a:lstStyle/>
            <a:p>
              <a:pPr algn="ctr"/>
              <a:r>
                <a:rPr lang="zh-CN" altLang="en-US" sz="2800" b="1" dirty="0">
                  <a:solidFill>
                    <a:srgbClr val="1F2DA8"/>
                  </a:solidFill>
                  <a:latin typeface="楷体" panose="02010609060101010101" charset="-122"/>
                  <a:ea typeface="楷体" panose="02010609060101010101" charset="-122"/>
                  <a:cs typeface="楷体" panose="02010609060101010101" charset="-122"/>
                </a:rPr>
                <a:t>附 属 地 位</a:t>
              </a:r>
            </a:p>
            <a:p>
              <a:pPr algn="ctr"/>
              <a:r>
                <a:rPr lang="zh-CN" altLang="en-US" sz="2800" b="1" dirty="0">
                  <a:latin typeface="楷体" panose="02010609060101010101" charset="-122"/>
                  <a:ea typeface="楷体" panose="02010609060101010101" charset="-122"/>
                  <a:cs typeface="楷体" panose="02010609060101010101" charset="-122"/>
                </a:rPr>
                <a:t>（以程序为主体）</a:t>
              </a:r>
            </a:p>
          </p:txBody>
        </p:sp>
        <p:sp>
          <p:nvSpPr>
            <p:cNvPr id="10247" name="Text Box 5"/>
            <p:cNvSpPr txBox="1"/>
            <p:nvPr/>
          </p:nvSpPr>
          <p:spPr>
            <a:xfrm>
              <a:off x="2304" y="0"/>
              <a:ext cx="1919" cy="600"/>
            </a:xfrm>
            <a:prstGeom prst="rect">
              <a:avLst/>
            </a:prstGeom>
            <a:solidFill>
              <a:srgbClr val="CCFFFF"/>
            </a:solidFill>
            <a:ln w="9525" cap="flat" cmpd="sng">
              <a:solidFill>
                <a:schemeClr val="tx1"/>
              </a:solidFill>
              <a:prstDash val="solid"/>
              <a:miter/>
              <a:headEnd type="none" w="med" len="med"/>
              <a:tailEnd type="none" w="med" len="med"/>
            </a:ln>
          </p:spPr>
          <p:txBody>
            <a:bodyPr wrap="square" anchor="t">
              <a:spAutoFit/>
            </a:bodyPr>
            <a:lstStyle/>
            <a:p>
              <a:pPr algn="ctr"/>
              <a:r>
                <a:rPr lang="zh-CN" altLang="en-US" sz="2800" b="1" dirty="0">
                  <a:solidFill>
                    <a:srgbClr val="1F2DA8"/>
                  </a:solidFill>
                  <a:latin typeface="楷体" panose="02010609060101010101" charset="-122"/>
                  <a:ea typeface="楷体" panose="02010609060101010101" charset="-122"/>
                  <a:cs typeface="楷体" panose="02010609060101010101" charset="-122"/>
                </a:rPr>
                <a:t>主</a:t>
              </a:r>
              <a:r>
                <a:rPr lang="en-US" altLang="zh-CN" sz="2800" b="1" dirty="0">
                  <a:solidFill>
                    <a:srgbClr val="1F2DA8"/>
                  </a:solidFill>
                  <a:latin typeface="楷体" panose="02010609060101010101" charset="-122"/>
                  <a:ea typeface="楷体" panose="02010609060101010101" charset="-122"/>
                  <a:cs typeface="楷体" panose="02010609060101010101" charset="-122"/>
                </a:rPr>
                <a:t> </a:t>
              </a:r>
              <a:r>
                <a:rPr lang="zh-CN" altLang="en-US" sz="2800" b="1" dirty="0">
                  <a:solidFill>
                    <a:srgbClr val="1F2DA8"/>
                  </a:solidFill>
                  <a:latin typeface="楷体" panose="02010609060101010101" charset="-122"/>
                  <a:ea typeface="楷体" panose="02010609060101010101" charset="-122"/>
                  <a:cs typeface="楷体" panose="02010609060101010101" charset="-122"/>
                </a:rPr>
                <a:t>导 地 位</a:t>
              </a:r>
              <a:endParaRPr lang="zh-CN" altLang="en-US" sz="2800" b="1" dirty="0">
                <a:solidFill>
                  <a:schemeClr val="accent2"/>
                </a:solidFill>
                <a:latin typeface="楷体" panose="02010609060101010101" charset="-122"/>
                <a:ea typeface="楷体" panose="02010609060101010101" charset="-122"/>
                <a:cs typeface="楷体" panose="02010609060101010101" charset="-122"/>
              </a:endParaRPr>
            </a:p>
            <a:p>
              <a:pPr algn="ctr"/>
              <a:r>
                <a:rPr lang="zh-CN" altLang="en-US" sz="2800" b="1" dirty="0">
                  <a:latin typeface="楷体" panose="02010609060101010101" charset="-122"/>
                  <a:ea typeface="楷体" panose="02010609060101010101" charset="-122"/>
                  <a:cs typeface="楷体" panose="02010609060101010101" charset="-122"/>
                </a:rPr>
                <a:t>（以数据为中心）</a:t>
              </a:r>
            </a:p>
          </p:txBody>
        </p:sp>
        <p:sp>
          <p:nvSpPr>
            <p:cNvPr id="10248" name="Line 6"/>
            <p:cNvSpPr/>
            <p:nvPr/>
          </p:nvSpPr>
          <p:spPr>
            <a:xfrm>
              <a:off x="1824" y="288"/>
              <a:ext cx="288" cy="0"/>
            </a:xfrm>
            <a:prstGeom prst="line">
              <a:avLst/>
            </a:prstGeom>
            <a:ln w="38100" cap="flat" cmpd="dbl">
              <a:solidFill>
                <a:srgbClr val="1F2DA8"/>
              </a:solidFill>
              <a:prstDash val="solid"/>
              <a:round/>
              <a:headEnd type="none" w="med" len="med"/>
              <a:tailEnd type="arrow" w="sm" len="med"/>
            </a:ln>
          </p:spPr>
        </p:sp>
      </p:grpSp>
      <p:sp>
        <p:nvSpPr>
          <p:cNvPr id="10249" name="Line 7"/>
          <p:cNvSpPr/>
          <p:nvPr/>
        </p:nvSpPr>
        <p:spPr>
          <a:xfrm>
            <a:off x="4197350" y="1808480"/>
            <a:ext cx="457200" cy="0"/>
          </a:xfrm>
          <a:prstGeom prst="line">
            <a:avLst/>
          </a:prstGeom>
          <a:ln w="38100" cap="flat" cmpd="dbl">
            <a:solidFill>
              <a:srgbClr val="1F2DA8"/>
            </a:solidFill>
            <a:prstDash val="solid"/>
            <a:round/>
            <a:headEnd type="none" w="med" len="med"/>
            <a:tailEnd type="arrow" w="sm" len="med"/>
          </a:ln>
        </p:spPr>
      </p:sp>
      <p:sp>
        <p:nvSpPr>
          <p:cNvPr id="10250" name="Line 8"/>
          <p:cNvSpPr/>
          <p:nvPr/>
        </p:nvSpPr>
        <p:spPr>
          <a:xfrm>
            <a:off x="4675505" y="2585720"/>
            <a:ext cx="457200" cy="0"/>
          </a:xfrm>
          <a:prstGeom prst="line">
            <a:avLst/>
          </a:prstGeom>
          <a:ln w="38100" cap="flat" cmpd="dbl">
            <a:solidFill>
              <a:srgbClr val="1F2DA8"/>
            </a:solidFill>
            <a:prstDash val="solid"/>
            <a:round/>
            <a:headEnd type="none" w="med" len="med"/>
            <a:tailEnd type="arrow" w="sm" len="med"/>
          </a:ln>
        </p:spPr>
      </p:sp>
      <p:sp>
        <p:nvSpPr>
          <p:cNvPr id="10251" name="Line 9"/>
          <p:cNvSpPr/>
          <p:nvPr/>
        </p:nvSpPr>
        <p:spPr>
          <a:xfrm>
            <a:off x="5746115" y="1808480"/>
            <a:ext cx="457200" cy="0"/>
          </a:xfrm>
          <a:prstGeom prst="line">
            <a:avLst/>
          </a:prstGeom>
          <a:ln w="38100" cap="flat" cmpd="dbl">
            <a:solidFill>
              <a:srgbClr val="1F2DA8"/>
            </a:solidFill>
            <a:prstDash val="solid"/>
            <a:round/>
            <a:headEnd type="none" w="med" len="med"/>
            <a:tailEnd type="arrow" w="sm" len="med"/>
          </a:ln>
        </p:spPr>
      </p:sp>
      <p:sp>
        <p:nvSpPr>
          <p:cNvPr id="10252" name="Line 11"/>
          <p:cNvSpPr/>
          <p:nvPr/>
        </p:nvSpPr>
        <p:spPr>
          <a:xfrm>
            <a:off x="5456555" y="3358515"/>
            <a:ext cx="457200" cy="0"/>
          </a:xfrm>
          <a:prstGeom prst="line">
            <a:avLst/>
          </a:prstGeom>
          <a:ln w="38100" cap="flat" cmpd="dbl">
            <a:solidFill>
              <a:srgbClr val="1F2DA8"/>
            </a:solidFill>
            <a:prstDash val="solid"/>
            <a:round/>
            <a:headEnd type="none" w="med" len="med"/>
            <a:tailEnd type="arrow" w="sm" len="med"/>
          </a:ln>
        </p:spPr>
      </p:sp>
      <p:sp>
        <p:nvSpPr>
          <p:cNvPr id="10253" name="Line 9"/>
          <p:cNvSpPr/>
          <p:nvPr/>
        </p:nvSpPr>
        <p:spPr>
          <a:xfrm>
            <a:off x="7455535" y="1808480"/>
            <a:ext cx="457200" cy="0"/>
          </a:xfrm>
          <a:prstGeom prst="line">
            <a:avLst/>
          </a:prstGeom>
          <a:ln w="38100" cap="flat" cmpd="dbl">
            <a:solidFill>
              <a:srgbClr val="1F2DA8"/>
            </a:solidFill>
            <a:prstDash val="solid"/>
            <a:round/>
            <a:headEnd type="none" w="med" len="med"/>
            <a:tailEnd type="arrow" w="sm" len="med"/>
          </a:ln>
        </p:spPr>
      </p:sp>
      <p:sp>
        <p:nvSpPr>
          <p:cNvPr id="10254" name="Line 8"/>
          <p:cNvSpPr/>
          <p:nvPr/>
        </p:nvSpPr>
        <p:spPr>
          <a:xfrm>
            <a:off x="6362383" y="2601595"/>
            <a:ext cx="457200" cy="0"/>
          </a:xfrm>
          <a:prstGeom prst="line">
            <a:avLst/>
          </a:prstGeom>
          <a:ln w="38100" cap="flat" cmpd="dbl">
            <a:solidFill>
              <a:srgbClr val="1F2DA8"/>
            </a:solidFill>
            <a:prstDash val="solid"/>
            <a:round/>
            <a:headEnd type="none" w="med" len="med"/>
            <a:tailEnd type="arrow" w="sm" len="med"/>
          </a:ln>
        </p:spPr>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13</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tretch>
            <a:fillRect/>
          </a:stretch>
        </p:blipFill>
        <p:spPr>
          <a:xfrm>
            <a:off x="3262630" y="3365500"/>
            <a:ext cx="5666105" cy="3169285"/>
          </a:xfrm>
          <a:prstGeom prst="rect">
            <a:avLst/>
          </a:prstGeom>
        </p:spPr>
      </p:pic>
      <p:sp>
        <p:nvSpPr>
          <p:cNvPr id="11267"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11268" name="Rectangle 3"/>
          <p:cNvSpPr>
            <a:spLocks noGrp="1"/>
          </p:cNvSpPr>
          <p:nvPr>
            <p:ph idx="1"/>
          </p:nvPr>
        </p:nvSpPr>
        <p:spPr>
          <a:xfrm>
            <a:off x="424180" y="615950"/>
            <a:ext cx="11343005" cy="2588895"/>
          </a:xfrm>
        </p:spPr>
        <p:txBody>
          <a:bodyPr wrap="square" anchor="t">
            <a:spAutoFit/>
          </a:bodyPr>
          <a:lstStyle/>
          <a:p>
            <a:pPr fontAlgn="auto">
              <a:spcBef>
                <a:spcPts val="1000"/>
              </a:spcBef>
            </a:pPr>
            <a:r>
              <a:rPr lang="zh-CN" altLang="en-US">
                <a:latin typeface="Times New Roman" panose="02020603050405020304" pitchFamily="2" charset="0"/>
                <a:ea typeface="楷体" panose="02010609060101010101" charset="-122"/>
                <a:cs typeface="Times New Roman" panose="02020603050405020304" pitchFamily="2" charset="0"/>
              </a:rPr>
              <a:t>传统的以程序为中心的数据管理方式已经无法适应上述数据特性的</a:t>
            </a:r>
            <a:r>
              <a:rPr lang="en-US" altLang="zh-CN">
                <a:latin typeface="Arial" panose="020B0604020202020204" pitchFamily="34" charset="0"/>
                <a:ea typeface="楷体" panose="02010609060101010101" charset="-122"/>
                <a:cs typeface="Arial" panose="020B0604020202020204" pitchFamily="34" charset="0"/>
              </a:rPr>
              <a:t>‘</a:t>
            </a:r>
            <a:r>
              <a:rPr lang="zh-CN" altLang="en-US">
                <a:latin typeface="Arial" panose="020B0604020202020204" pitchFamily="34" charset="0"/>
                <a:ea typeface="楷体" panose="02010609060101010101" charset="-122"/>
                <a:cs typeface="Arial" panose="020B0604020202020204" pitchFamily="34" charset="0"/>
              </a:rPr>
              <a:t>变化</a:t>
            </a:r>
            <a:r>
              <a:rPr lang="en-US" altLang="zh-CN">
                <a:latin typeface="Arial" panose="020B0604020202020204" pitchFamily="34" charset="0"/>
                <a:ea typeface="楷体" panose="02010609060101010101" charset="-122"/>
                <a:cs typeface="Arial" panose="020B0604020202020204" pitchFamily="34" charset="0"/>
              </a:rPr>
              <a:t>’</a:t>
            </a:r>
            <a:r>
              <a:rPr lang="zh-CN" altLang="en-US">
                <a:latin typeface="Times New Roman" panose="02020603050405020304" pitchFamily="2" charset="0"/>
                <a:ea typeface="楷体" panose="02010609060101010101" charset="-122"/>
                <a:cs typeface="Times New Roman" panose="02020603050405020304" pitchFamily="2" charset="0"/>
              </a:rPr>
              <a:t>情况，需要有新的数据管理技术，以便对数据作集中、统一的管理并使其对应用（程序）共享。</a:t>
            </a:r>
          </a:p>
          <a:p>
            <a:pPr fontAlgn="auto">
              <a:spcBef>
                <a:spcPts val="1000"/>
              </a:spcBef>
            </a:pPr>
            <a:r>
              <a:rPr lang="zh-CN" altLang="en-US">
                <a:latin typeface="Times New Roman" panose="02020603050405020304" pitchFamily="2" charset="0"/>
                <a:ea typeface="楷体" panose="02010609060101010101" charset="-122"/>
                <a:cs typeface="Times New Roman" panose="02020603050405020304" pitchFamily="2" charset="0"/>
              </a:rPr>
              <a:t>数据不再是依赖于处理过程的附属品，而是在现实世界中独立存在的对象。</a:t>
            </a:r>
            <a:r>
              <a:rPr lang="zh-CN" altLang="en-US" u="sng">
                <a:solidFill>
                  <a:srgbClr val="C00000"/>
                </a:solidFill>
                <a:latin typeface="Times New Roman" panose="02020603050405020304" pitchFamily="2" charset="0"/>
                <a:ea typeface="楷体" panose="02010609060101010101" charset="-122"/>
                <a:cs typeface="Times New Roman" panose="02020603050405020304" pitchFamily="2" charset="0"/>
              </a:rPr>
              <a:t>数据已成为了一种新的生产要素！</a:t>
            </a:r>
            <a:endParaRPr lang="zh-CN" altLang="en-US">
              <a:latin typeface="Times New Roman" panose="02020603050405020304" pitchFamily="2" charset="0"/>
              <a:ea typeface="楷体" panose="02010609060101010101" charset="-122"/>
              <a:cs typeface="Times New Roman" panose="02020603050405020304" pitchFamily="2" charset="0"/>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14</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12293" name="Rectangle 3"/>
          <p:cNvSpPr>
            <a:spLocks noGrp="1"/>
          </p:cNvSpPr>
          <p:nvPr>
            <p:ph idx="1"/>
          </p:nvPr>
        </p:nvSpPr>
        <p:spPr/>
        <p:txBody>
          <a:bodyPr wrap="square" anchor="t"/>
          <a:lstStyle/>
          <a:p>
            <a:pPr marL="457200" indent="-457200" fontAlgn="auto">
              <a:lnSpc>
                <a:spcPct val="100000"/>
              </a:lnSpc>
              <a:spcBef>
                <a:spcPts val="1000"/>
              </a:spcBef>
              <a:buFont typeface="+mj-lt"/>
              <a:buAutoNum type="arabicPeriod" startAt="2"/>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数据库</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DataBase，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 DB）</a:t>
            </a:r>
          </a:p>
          <a:p>
            <a:pPr lvl="1" fontAlgn="auto">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是指长期储存在计算机内、有组织的、可共享的大量数据的集合。</a:t>
            </a:r>
          </a:p>
          <a:p>
            <a:pPr lvl="1" fontAlgn="auto">
              <a:lnSpc>
                <a:spcPct val="100000"/>
              </a:lnSpc>
              <a:spcBef>
                <a:spcPts val="1000"/>
              </a:spcBef>
            </a:pP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数据库中的数据按一定的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数据模型</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组织、描述和储存，具有较小的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数据冗余</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(data redundancy)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、较高的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数据独立性</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(data independency)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和</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易扩展性</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(scalability)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，并可为各种用户</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共享</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p>
          <a:p>
            <a:pPr lvl="1" fontAlgn="auto">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数据库中的数据具有以下特点</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15</a:t>
            </a:fld>
            <a:endParaRPr lang="zh-CN" altLang="en-US" strike="noStrike" noProof="1"/>
          </a:p>
        </p:txBody>
      </p:sp>
      <p:sp>
        <p:nvSpPr>
          <p:cNvPr id="2" name="Rectangle 3"/>
          <p:cNvSpPr>
            <a:spLocks noGrp="1"/>
          </p:cNvSpPr>
          <p:nvPr/>
        </p:nvSpPr>
        <p:spPr>
          <a:xfrm>
            <a:off x="1401445" y="3665220"/>
            <a:ext cx="7433945" cy="3107690"/>
          </a:xfrm>
          <a:prstGeom prst="rect">
            <a:avLst/>
          </a:prstGeom>
          <a:noFill/>
        </p:spPr>
        <p:txBody>
          <a:bodyPr vert="horz" wrap="square" lIns="91440" tIns="45720" rIns="91440" bIns="45720" rtlCol="0" anchor="t">
            <a:spAutoFit/>
          </a:bodyPr>
          <a:lstStyle>
            <a:lvl1pPr marL="2286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q"/>
              <a:defRPr sz="24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4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永久存储</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：存储在计算机的持久存储设备上</a:t>
            </a:r>
          </a:p>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有组织</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a:t>
            </a: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按一定的数据模型组织、描述和储存</a:t>
            </a: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统一组织、集中存储</a:t>
            </a: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较小的数据冗余度</a:t>
            </a: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较高的数据独立性</a:t>
            </a:r>
          </a:p>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可共享</a:t>
            </a:r>
          </a:p>
        </p:txBody>
      </p:sp>
      <p:grpSp>
        <p:nvGrpSpPr>
          <p:cNvPr id="7" name="组合 6"/>
          <p:cNvGrpSpPr/>
          <p:nvPr/>
        </p:nvGrpSpPr>
        <p:grpSpPr>
          <a:xfrm>
            <a:off x="8946515" y="3665220"/>
            <a:ext cx="1892935" cy="3082290"/>
            <a:chOff x="14089" y="5772"/>
            <a:chExt cx="2981" cy="4854"/>
          </a:xfrm>
        </p:grpSpPr>
        <p:sp>
          <p:nvSpPr>
            <p:cNvPr id="5" name="文本框 4"/>
            <p:cNvSpPr txBox="1"/>
            <p:nvPr/>
          </p:nvSpPr>
          <p:spPr>
            <a:xfrm>
              <a:off x="14439" y="6591"/>
              <a:ext cx="2631" cy="3197"/>
            </a:xfrm>
            <a:prstGeom prst="rect">
              <a:avLst/>
            </a:prstGeom>
            <a:noFill/>
          </p:spPr>
          <p:txBody>
            <a:bodyPr wrap="square" rtlCol="0">
              <a:spAutoFit/>
            </a:bodyPr>
            <a:lstStyle/>
            <a:p>
              <a:pPr>
                <a:lnSpc>
                  <a:spcPct val="150000"/>
                </a:lnSpc>
              </a:pPr>
              <a:r>
                <a:rPr lang="zh-CN" altLang="en-US" sz="2800" b="1">
                  <a:solidFill>
                    <a:srgbClr val="FF0000"/>
                  </a:solidFill>
                  <a:latin typeface="楷体" panose="02010609060101010101" charset="-122"/>
                  <a:ea typeface="楷体" panose="02010609060101010101" charset="-122"/>
                </a:rPr>
                <a:t>结构化</a:t>
              </a:r>
            </a:p>
            <a:p>
              <a:pPr>
                <a:lnSpc>
                  <a:spcPct val="150000"/>
                </a:lnSpc>
              </a:pPr>
              <a:r>
                <a:rPr lang="zh-CN" altLang="en-US" sz="2800" b="1">
                  <a:solidFill>
                    <a:srgbClr val="FF0000"/>
                  </a:solidFill>
                  <a:latin typeface="楷体" panose="02010609060101010101" charset="-122"/>
                  <a:ea typeface="楷体" panose="02010609060101010101" charset="-122"/>
                </a:rPr>
                <a:t>集成化</a:t>
              </a:r>
            </a:p>
            <a:p>
              <a:pPr>
                <a:lnSpc>
                  <a:spcPct val="150000"/>
                </a:lnSpc>
              </a:pPr>
              <a:r>
                <a:rPr lang="zh-CN" altLang="en-US" sz="2800" b="1">
                  <a:solidFill>
                    <a:srgbClr val="FF0000"/>
                  </a:solidFill>
                  <a:latin typeface="楷体" panose="02010609060101010101" charset="-122"/>
                  <a:ea typeface="楷体" panose="02010609060101010101" charset="-122"/>
                </a:rPr>
                <a:t>集中管理</a:t>
              </a:r>
            </a:p>
          </p:txBody>
        </p:sp>
        <p:sp>
          <p:nvSpPr>
            <p:cNvPr id="6" name="右大括号 5"/>
            <p:cNvSpPr/>
            <p:nvPr/>
          </p:nvSpPr>
          <p:spPr>
            <a:xfrm>
              <a:off x="14089" y="5772"/>
              <a:ext cx="254" cy="4854"/>
            </a:xfrm>
            <a:prstGeom prst="rightBrace">
              <a:avLst>
                <a:gd name="adj1" fmla="val 80991"/>
                <a:gd name="adj2" fmla="val 50020"/>
              </a:avLst>
            </a:prstGeom>
            <a:ln w="22225">
              <a:solidFill>
                <a:srgbClr val="C0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xEl>
                                              <p:pRg st="1" end="1"/>
                                            </p:txEl>
                                          </p:spTgt>
                                        </p:tgtEl>
                                        <p:attrNameLst>
                                          <p:attrName>style.visibility</p:attrName>
                                        </p:attrNameLst>
                                      </p:cBhvr>
                                      <p:to>
                                        <p:strVal val="visible"/>
                                      </p:to>
                                    </p:set>
                                    <p:animEffect transition="in" filter="blinds(horizontal)">
                                      <p:cBhvr>
                                        <p:cTn id="7" dur="500"/>
                                        <p:tgtEl>
                                          <p:spTgt spid="1229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3">
                                            <p:txEl>
                                              <p:pRg st="2" end="2"/>
                                            </p:txEl>
                                          </p:spTgt>
                                        </p:tgtEl>
                                        <p:attrNameLst>
                                          <p:attrName>style.visibility</p:attrName>
                                        </p:attrNameLst>
                                      </p:cBhvr>
                                      <p:to>
                                        <p:strVal val="visible"/>
                                      </p:to>
                                    </p:set>
                                    <p:animEffect transition="in" filter="blinds(horizontal)">
                                      <p:cBhvr>
                                        <p:cTn id="12" dur="500"/>
                                        <p:tgtEl>
                                          <p:spTgt spid="1229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93">
                                            <p:txEl>
                                              <p:pRg st="3" end="3"/>
                                            </p:txEl>
                                          </p:spTgt>
                                        </p:tgtEl>
                                        <p:attrNameLst>
                                          <p:attrName>style.visibility</p:attrName>
                                        </p:attrNameLst>
                                      </p:cBhvr>
                                      <p:to>
                                        <p:strVal val="visible"/>
                                      </p:to>
                                    </p:set>
                                    <p:animEffect transition="in" filter="blinds(horizontal)">
                                      <p:cBhvr>
                                        <p:cTn id="17" dur="500"/>
                                        <p:tgtEl>
                                          <p:spTgt spid="1229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数据库的示例</a:t>
            </a:r>
          </a:p>
        </p:txBody>
      </p:sp>
      <p:sp>
        <p:nvSpPr>
          <p:cNvPr id="3" name="内容占位符 2"/>
          <p:cNvSpPr>
            <a:spLocks noGrp="1"/>
          </p:cNvSpPr>
          <p:nvPr>
            <p:ph idx="1"/>
          </p:nvPr>
        </p:nvSpPr>
        <p:spPr>
          <a:xfrm>
            <a:off x="424180" y="615950"/>
            <a:ext cx="11343005" cy="2905125"/>
          </a:xfrm>
        </p:spPr>
        <p:txBody>
          <a:bodyPr>
            <a:spAutoFit/>
          </a:bodyPr>
          <a:lstStyle/>
          <a:p>
            <a:pPr>
              <a:lnSpc>
                <a:spcPct val="110000"/>
              </a:lnSpc>
              <a:spcBef>
                <a:spcPts val="800"/>
              </a:spcBef>
            </a:pPr>
            <a:r>
              <a:rPr lang="en-US" altLang="zh-CN">
                <a:latin typeface="楷体" panose="02010609060101010101" charset="-122"/>
                <a:ea typeface="楷体" panose="02010609060101010101" charset="-122"/>
                <a:cs typeface="楷体" panose="02010609060101010101" charset="-122"/>
              </a:rPr>
              <a:t>Example 1: </a:t>
            </a:r>
            <a:r>
              <a:rPr lang="zh-CN" altLang="en-US">
                <a:latin typeface="楷体" panose="02010609060101010101" charset="-122"/>
                <a:ea typeface="楷体" panose="02010609060101010101" charset="-122"/>
                <a:cs typeface="楷体" panose="02010609060101010101" charset="-122"/>
              </a:rPr>
              <a:t>高校数据库</a:t>
            </a: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人员信息</a:t>
            </a:r>
            <a:r>
              <a:rPr lang="zh-CN" altLang="en-US">
                <a:latin typeface="楷体" panose="02010609060101010101" charset="-122"/>
                <a:ea typeface="楷体" panose="02010609060101010101" charset="-122"/>
                <a:cs typeface="楷体" panose="02010609060101010101" charset="-122"/>
              </a:rPr>
              <a:t>：学生</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教师</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职员</a:t>
            </a:r>
            <a:r>
              <a:rPr lang="en-US" altLang="zh-CN">
                <a:latin typeface="楷体" panose="02010609060101010101" charset="-122"/>
                <a:ea typeface="楷体" panose="02010609060101010101" charset="-122"/>
                <a:cs typeface="楷体" panose="02010609060101010101" charset="-122"/>
              </a:rPr>
              <a:t>, ...</a:t>
            </a:r>
            <a:endParaRPr lang="zh-CN" altLang="en-US">
              <a:latin typeface="楷体" panose="02010609060101010101" charset="-122"/>
              <a:ea typeface="楷体" panose="02010609060101010101" charset="-122"/>
              <a:cs typeface="楷体" panose="02010609060101010101" charset="-122"/>
            </a:endParaRP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机构信息</a:t>
            </a:r>
            <a:r>
              <a:rPr lang="zh-CN" altLang="en-US">
                <a:latin typeface="楷体" panose="02010609060101010101" charset="-122"/>
                <a:ea typeface="楷体" panose="02010609060101010101" charset="-122"/>
                <a:cs typeface="楷体" panose="02010609060101010101" charset="-122"/>
              </a:rPr>
              <a:t>：院系</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部门</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机构</a:t>
            </a:r>
            <a:r>
              <a:rPr lang="en-US" altLang="zh-CN">
                <a:latin typeface="楷体" panose="02010609060101010101" charset="-122"/>
                <a:ea typeface="楷体" panose="02010609060101010101" charset="-122"/>
                <a:cs typeface="楷体" panose="02010609060101010101" charset="-122"/>
              </a:rPr>
              <a:t>, ...</a:t>
            </a: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教务信息</a:t>
            </a:r>
            <a:r>
              <a:rPr lang="zh-CN" altLang="en-US">
                <a:latin typeface="楷体" panose="02010609060101010101" charset="-122"/>
                <a:ea typeface="楷体" panose="02010609060101010101" charset="-122"/>
                <a:cs typeface="楷体" panose="02010609060101010101" charset="-122"/>
              </a:rPr>
              <a:t>：课程</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班级</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选课</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成绩</a:t>
            </a:r>
            <a:r>
              <a:rPr lang="en-US" altLang="zh-CN">
                <a:latin typeface="楷体" panose="02010609060101010101" charset="-122"/>
                <a:ea typeface="楷体" panose="02010609060101010101" charset="-122"/>
                <a:cs typeface="楷体" panose="02010609060101010101" charset="-122"/>
              </a:rPr>
              <a:t>, ...</a:t>
            </a:r>
          </a:p>
          <a:p>
            <a:pPr lvl="1">
              <a:lnSpc>
                <a:spcPct val="110000"/>
              </a:lnSpc>
              <a:spcBef>
                <a:spcPts val="800"/>
              </a:spcBef>
            </a:pPr>
            <a:r>
              <a:rPr lang="en-US" altLang="zh-CN">
                <a:latin typeface="楷体" panose="02010609060101010101" charset="-122"/>
                <a:ea typeface="楷体" panose="02010609060101010101" charset="-122"/>
                <a:cs typeface="楷体" panose="02010609060101010101" charset="-122"/>
              </a:rPr>
              <a:t>......</a:t>
            </a:r>
            <a:endParaRPr lang="zh-CN" altLang="en-US">
              <a:latin typeface="楷体" panose="02010609060101010101" charset="-122"/>
              <a:ea typeface="楷体" panose="02010609060101010101" charset="-122"/>
              <a:cs typeface="楷体" panose="02010609060101010101" charset="-122"/>
            </a:endParaRPr>
          </a:p>
        </p:txBody>
      </p:sp>
      <p:sp>
        <p:nvSpPr>
          <p:cNvPr id="4" name="内容占位符 2"/>
          <p:cNvSpPr>
            <a:spLocks noGrp="1"/>
          </p:cNvSpPr>
          <p:nvPr/>
        </p:nvSpPr>
        <p:spPr>
          <a:xfrm>
            <a:off x="4319270" y="3644900"/>
            <a:ext cx="7539990" cy="3041015"/>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9pPr>
          </a:lstStyle>
          <a:p>
            <a:pPr lvl="0">
              <a:lnSpc>
                <a:spcPct val="110000"/>
              </a:lnSpc>
              <a:spcBef>
                <a:spcPts val="800"/>
              </a:spcBef>
              <a:spcAft>
                <a:spcPts val="0"/>
              </a:spcAft>
              <a:buClr>
                <a:srgbClr val="C00000"/>
              </a:buClr>
              <a:buSzPct val="85000"/>
            </a:pPr>
            <a:r>
              <a:rPr lang="en-US" altLang="zh-CN" sz="3000">
                <a:solidFill>
                  <a:srgbClr val="1F2DA8"/>
                </a:solidFill>
                <a:latin typeface="楷体" panose="02010609060101010101" charset="-122"/>
                <a:ea typeface="楷体" panose="02010609060101010101" charset="-122"/>
                <a:cs typeface="楷体" panose="02010609060101010101" charset="-122"/>
              </a:rPr>
              <a:t>Example 2: </a:t>
            </a:r>
            <a:r>
              <a:rPr lang="zh-CN" altLang="en-US" sz="3000">
                <a:solidFill>
                  <a:srgbClr val="1F2DA8"/>
                </a:solidFill>
                <a:latin typeface="楷体" panose="02010609060101010101" charset="-122"/>
                <a:ea typeface="楷体" panose="02010609060101010101" charset="-122"/>
                <a:cs typeface="楷体" panose="02010609060101010101" charset="-122"/>
              </a:rPr>
              <a:t>企业数据库</a:t>
            </a: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企业信息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员工</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部门</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薪水</a:t>
            </a:r>
            <a:r>
              <a:rPr lang="en-US" altLang="zh-CN" sz="3000">
                <a:solidFill>
                  <a:srgbClr val="1F2DA8"/>
                </a:solidFill>
                <a:latin typeface="楷体" panose="02010609060101010101" charset="-122"/>
                <a:ea typeface="楷体" panose="02010609060101010101" charset="-122"/>
                <a:cs typeface="楷体" panose="02010609060101010101" charset="-122"/>
              </a:rPr>
              <a:t>, ...</a:t>
            </a: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生产信息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产品</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仓库</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供应链</a:t>
            </a:r>
            <a:r>
              <a:rPr lang="en-US" altLang="zh-CN" sz="3000">
                <a:solidFill>
                  <a:srgbClr val="1F2DA8"/>
                </a:solidFill>
                <a:latin typeface="楷体" panose="02010609060101010101" charset="-122"/>
                <a:ea typeface="楷体" panose="02010609060101010101" charset="-122"/>
                <a:cs typeface="楷体" panose="02010609060101010101" charset="-122"/>
              </a:rPr>
              <a:t>, ...</a:t>
            </a:r>
            <a:endParaRPr lang="zh-CN" altLang="en-US" sz="3000">
              <a:solidFill>
                <a:srgbClr val="1F2DA8"/>
              </a:solidFill>
              <a:latin typeface="楷体" panose="02010609060101010101" charset="-122"/>
              <a:ea typeface="楷体" panose="02010609060101010101" charset="-122"/>
              <a:cs typeface="楷体" panose="02010609060101010101" charset="-122"/>
            </a:endParaRP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销售信息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客户</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经销商</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订单</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支付</a:t>
            </a:r>
            <a:r>
              <a:rPr lang="en-US" altLang="zh-CN" sz="3000">
                <a:solidFill>
                  <a:srgbClr val="1F2DA8"/>
                </a:solidFill>
                <a:latin typeface="楷体" panose="02010609060101010101" charset="-122"/>
                <a:ea typeface="楷体" panose="02010609060101010101" charset="-122"/>
                <a:cs typeface="楷体" panose="02010609060101010101" charset="-122"/>
              </a:rPr>
              <a:t>,...</a:t>
            </a:r>
          </a:p>
          <a:p>
            <a:pPr lvl="1">
              <a:lnSpc>
                <a:spcPct val="110000"/>
              </a:lnSpc>
              <a:spcBef>
                <a:spcPts val="800"/>
              </a:spcBef>
              <a:spcAft>
                <a:spcPts val="0"/>
              </a:spcAft>
              <a:buClr>
                <a:srgbClr val="C00000"/>
              </a:buClr>
              <a:buSzPct val="85000"/>
            </a:pPr>
            <a:r>
              <a:rPr lang="en-US" altLang="zh-CN" sz="3000">
                <a:solidFill>
                  <a:srgbClr val="1F2DA8"/>
                </a:solidFill>
                <a:latin typeface="楷体" panose="02010609060101010101" charset="-122"/>
                <a:ea typeface="楷体" panose="02010609060101010101" charset="-122"/>
                <a:cs typeface="楷体" panose="02010609060101010101" charset="-122"/>
              </a:rPr>
              <a:t>......</a:t>
            </a:r>
          </a:p>
        </p:txBody>
      </p:sp>
      <p:sp>
        <p:nvSpPr>
          <p:cNvPr id="6" name="灯片编号占位符 5"/>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16</a:t>
            </a:fld>
            <a:endParaRPr lang="zh-CN" altLang="en-US" strike="noStrike" noProof="1"/>
          </a:p>
        </p:txBody>
      </p:sp>
      <p:pic>
        <p:nvPicPr>
          <p:cNvPr id="100" name="图片 99"/>
          <p:cNvPicPr>
            <a:picLocks noChangeAspect="1"/>
          </p:cNvPicPr>
          <p:nvPr/>
        </p:nvPicPr>
        <p:blipFill>
          <a:blip r:embed="rId2"/>
          <a:stretch>
            <a:fillRect/>
          </a:stretch>
        </p:blipFill>
        <p:spPr>
          <a:xfrm>
            <a:off x="7383145" y="614045"/>
            <a:ext cx="4271087" cy="2664000"/>
          </a:xfrm>
          <a:prstGeom prst="rect">
            <a:avLst/>
          </a:prstGeom>
          <a:noFill/>
          <a:ln w="9525">
            <a:noFill/>
          </a:ln>
        </p:spPr>
      </p:pic>
      <p:pic>
        <p:nvPicPr>
          <p:cNvPr id="101" name="图片 100"/>
          <p:cNvPicPr>
            <a:picLocks noChangeAspect="1"/>
          </p:cNvPicPr>
          <p:nvPr/>
        </p:nvPicPr>
        <p:blipFill>
          <a:blip r:embed="rId3"/>
          <a:stretch>
            <a:fillRect/>
          </a:stretch>
        </p:blipFill>
        <p:spPr>
          <a:xfrm>
            <a:off x="424180" y="3796348"/>
            <a:ext cx="3894873" cy="2664000"/>
          </a:xfrm>
          <a:prstGeom prst="rect">
            <a:avLst/>
          </a:prstGeom>
          <a:noFill/>
          <a:ln w="9525">
            <a:noFill/>
          </a:ln>
        </p:spPr>
      </p:pic>
      <p:sp>
        <p:nvSpPr>
          <p:cNvPr id="5" name="页脚占位符 4"/>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500" fill="hold"/>
                                        <p:tgtEl>
                                          <p:spTgt spid="100"/>
                                        </p:tgtEl>
                                        <p:attrNameLst>
                                          <p:attrName>ppt_x</p:attrName>
                                        </p:attrNameLst>
                                      </p:cBhvr>
                                      <p:tavLst>
                                        <p:tav tm="0">
                                          <p:val>
                                            <p:strVal val="1+#ppt_w/2"/>
                                          </p:val>
                                        </p:tav>
                                        <p:tav tm="100000">
                                          <p:val>
                                            <p:strVal val="#ppt_x"/>
                                          </p:val>
                                        </p:tav>
                                      </p:tavLst>
                                    </p:anim>
                                    <p:anim calcmode="lin" valueType="num">
                                      <p:cBhvr additive="base">
                                        <p:cTn id="12"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anim calcmode="lin" valueType="num">
                                      <p:cBhvr additive="base">
                                        <p:cTn id="17" dur="500" fill="hold"/>
                                        <p:tgtEl>
                                          <p:spTgt spid="101"/>
                                        </p:tgtEl>
                                        <p:attrNameLst>
                                          <p:attrName>ppt_x</p:attrName>
                                        </p:attrNameLst>
                                      </p:cBhvr>
                                      <p:tavLst>
                                        <p:tav tm="0">
                                          <p:val>
                                            <p:strVal val="0-#ppt_w/2"/>
                                          </p:val>
                                        </p:tav>
                                        <p:tav tm="100000">
                                          <p:val>
                                            <p:strVal val="#ppt_x"/>
                                          </p:val>
                                        </p:tav>
                                      </p:tavLst>
                                    </p:anim>
                                    <p:anim calcmode="lin" valueType="num">
                                      <p:cBhvr additive="base">
                                        <p:cTn id="18" dur="500" fill="hold"/>
                                        <p:tgtEl>
                                          <p:spTgt spid="101"/>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p:cNvSpPr>
          <p:nvPr>
            <p:ph type="title"/>
          </p:nvPr>
        </p:nvSpPr>
        <p:spPr/>
        <p:txBody>
          <a:bodyPr wrap="square" tIns="0" bIns="0" anchor="ctr"/>
          <a:lstStyle/>
          <a:p>
            <a:pPr eaLnBrk="1" hangingPunct="1"/>
            <a:r>
              <a:rPr lang="zh-CN" altLang="en-US" sz="2400"/>
              <a:t>一个关系数据库的例子</a:t>
            </a:r>
          </a:p>
        </p:txBody>
      </p:sp>
      <p:grpSp>
        <p:nvGrpSpPr>
          <p:cNvPr id="5" name="组合 4"/>
          <p:cNvGrpSpPr/>
          <p:nvPr/>
        </p:nvGrpSpPr>
        <p:grpSpPr>
          <a:xfrm>
            <a:off x="1289050" y="695960"/>
            <a:ext cx="5153025" cy="2641600"/>
            <a:chOff x="3385" y="1550"/>
            <a:chExt cx="8115" cy="4160"/>
          </a:xfrm>
        </p:grpSpPr>
        <p:sp>
          <p:nvSpPr>
            <p:cNvPr id="13318" name="Rectangle 6"/>
            <p:cNvSpPr/>
            <p:nvPr/>
          </p:nvSpPr>
          <p:spPr>
            <a:xfrm>
              <a:off x="9198" y="5010"/>
              <a:ext cx="2302"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555-3344</a:t>
              </a:r>
            </a:p>
          </p:txBody>
        </p:sp>
        <p:sp>
          <p:nvSpPr>
            <p:cNvPr id="13319" name="Rectangle 7"/>
            <p:cNvSpPr/>
            <p:nvPr/>
          </p:nvSpPr>
          <p:spPr>
            <a:xfrm>
              <a:off x="7865" y="5010"/>
              <a:ext cx="1333"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p>
          </p:txBody>
        </p:sp>
        <p:sp>
          <p:nvSpPr>
            <p:cNvPr id="13320" name="Rectangle 8"/>
            <p:cNvSpPr/>
            <p:nvPr/>
          </p:nvSpPr>
          <p:spPr>
            <a:xfrm>
              <a:off x="6050" y="5010"/>
              <a:ext cx="1815"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Edward</a:t>
              </a:r>
            </a:p>
          </p:txBody>
        </p:sp>
        <p:sp>
          <p:nvSpPr>
            <p:cNvPr id="13321" name="Rectangle 9"/>
            <p:cNvSpPr/>
            <p:nvPr/>
          </p:nvSpPr>
          <p:spPr>
            <a:xfrm>
              <a:off x="4355" y="5010"/>
              <a:ext cx="1695"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White</a:t>
              </a:r>
            </a:p>
          </p:txBody>
        </p:sp>
        <p:sp>
          <p:nvSpPr>
            <p:cNvPr id="13322" name="Rectangle 10"/>
            <p:cNvSpPr/>
            <p:nvPr/>
          </p:nvSpPr>
          <p:spPr>
            <a:xfrm>
              <a:off x="3385" y="5010"/>
              <a:ext cx="970"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p>
          </p:txBody>
        </p:sp>
        <p:sp>
          <p:nvSpPr>
            <p:cNvPr id="13323" name="Rectangle 11"/>
            <p:cNvSpPr/>
            <p:nvPr/>
          </p:nvSpPr>
          <p:spPr>
            <a:xfrm>
              <a:off x="9198" y="4308"/>
              <a:ext cx="2302"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555-1122</a:t>
              </a:r>
            </a:p>
          </p:txBody>
        </p:sp>
        <p:sp>
          <p:nvSpPr>
            <p:cNvPr id="13324" name="Rectangle 12"/>
            <p:cNvSpPr/>
            <p:nvPr/>
          </p:nvSpPr>
          <p:spPr>
            <a:xfrm>
              <a:off x="7865" y="4308"/>
              <a:ext cx="1333"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p>
          </p:txBody>
        </p:sp>
        <p:sp>
          <p:nvSpPr>
            <p:cNvPr id="13325" name="Rectangle 13"/>
            <p:cNvSpPr/>
            <p:nvPr/>
          </p:nvSpPr>
          <p:spPr>
            <a:xfrm>
              <a:off x="6050" y="4308"/>
              <a:ext cx="1815"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Harry</a:t>
              </a:r>
            </a:p>
          </p:txBody>
        </p:sp>
        <p:sp>
          <p:nvSpPr>
            <p:cNvPr id="13326" name="Rectangle 14"/>
            <p:cNvSpPr/>
            <p:nvPr/>
          </p:nvSpPr>
          <p:spPr>
            <a:xfrm>
              <a:off x="4355" y="4308"/>
              <a:ext cx="1695"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Brown</a:t>
              </a:r>
            </a:p>
          </p:txBody>
        </p:sp>
        <p:sp>
          <p:nvSpPr>
            <p:cNvPr id="13327" name="Rectangle 15"/>
            <p:cNvSpPr/>
            <p:nvPr/>
          </p:nvSpPr>
          <p:spPr>
            <a:xfrm>
              <a:off x="3385" y="4308"/>
              <a:ext cx="970"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p>
          </p:txBody>
        </p:sp>
        <p:sp>
          <p:nvSpPr>
            <p:cNvPr id="13328" name="Rectangle 16"/>
            <p:cNvSpPr/>
            <p:nvPr/>
          </p:nvSpPr>
          <p:spPr>
            <a:xfrm>
              <a:off x="9198" y="3603"/>
              <a:ext cx="2302"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555-4321</a:t>
              </a:r>
            </a:p>
          </p:txBody>
        </p:sp>
        <p:sp>
          <p:nvSpPr>
            <p:cNvPr id="13329" name="Rectangle 17"/>
            <p:cNvSpPr/>
            <p:nvPr/>
          </p:nvSpPr>
          <p:spPr>
            <a:xfrm>
              <a:off x="7865" y="3603"/>
              <a:ext cx="1333"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p>
          </p:txBody>
        </p:sp>
        <p:sp>
          <p:nvSpPr>
            <p:cNvPr id="13330" name="Rectangle 18"/>
            <p:cNvSpPr/>
            <p:nvPr/>
          </p:nvSpPr>
          <p:spPr>
            <a:xfrm>
              <a:off x="6050" y="3603"/>
              <a:ext cx="1815"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John</a:t>
              </a:r>
            </a:p>
          </p:txBody>
        </p:sp>
        <p:sp>
          <p:nvSpPr>
            <p:cNvPr id="13331" name="Rectangle 19"/>
            <p:cNvSpPr/>
            <p:nvPr/>
          </p:nvSpPr>
          <p:spPr>
            <a:xfrm>
              <a:off x="4355" y="3603"/>
              <a:ext cx="1695"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Smith</a:t>
              </a:r>
            </a:p>
          </p:txBody>
        </p:sp>
        <p:sp>
          <p:nvSpPr>
            <p:cNvPr id="13332" name="Rectangle 20"/>
            <p:cNvSpPr/>
            <p:nvPr/>
          </p:nvSpPr>
          <p:spPr>
            <a:xfrm>
              <a:off x="3385" y="3603"/>
              <a:ext cx="970"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p>
          </p:txBody>
        </p:sp>
        <p:sp>
          <p:nvSpPr>
            <p:cNvPr id="13333" name="Rectangle 21"/>
            <p:cNvSpPr/>
            <p:nvPr/>
          </p:nvSpPr>
          <p:spPr>
            <a:xfrm>
              <a:off x="9198" y="2903"/>
              <a:ext cx="2302"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555-1234</a:t>
              </a:r>
            </a:p>
          </p:txBody>
        </p:sp>
        <p:sp>
          <p:nvSpPr>
            <p:cNvPr id="13334" name="Rectangle 22"/>
            <p:cNvSpPr/>
            <p:nvPr/>
          </p:nvSpPr>
          <p:spPr>
            <a:xfrm>
              <a:off x="7865" y="2903"/>
              <a:ext cx="1333"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p>
          </p:txBody>
        </p:sp>
        <p:sp>
          <p:nvSpPr>
            <p:cNvPr id="13335" name="Rectangle 23"/>
            <p:cNvSpPr/>
            <p:nvPr/>
          </p:nvSpPr>
          <p:spPr>
            <a:xfrm>
              <a:off x="6050" y="2903"/>
              <a:ext cx="1815"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Allan</a:t>
              </a:r>
            </a:p>
          </p:txBody>
        </p:sp>
        <p:sp>
          <p:nvSpPr>
            <p:cNvPr id="13336" name="Rectangle 24"/>
            <p:cNvSpPr/>
            <p:nvPr/>
          </p:nvSpPr>
          <p:spPr>
            <a:xfrm>
              <a:off x="4355" y="2903"/>
              <a:ext cx="1695"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Jones</a:t>
              </a:r>
            </a:p>
          </p:txBody>
        </p:sp>
        <p:sp>
          <p:nvSpPr>
            <p:cNvPr id="13337" name="Rectangle 25"/>
            <p:cNvSpPr/>
            <p:nvPr/>
          </p:nvSpPr>
          <p:spPr>
            <a:xfrm>
              <a:off x="3385" y="2903"/>
              <a:ext cx="970" cy="700"/>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p>
          </p:txBody>
        </p:sp>
        <p:sp>
          <p:nvSpPr>
            <p:cNvPr id="13338" name="Rectangle 26"/>
            <p:cNvSpPr/>
            <p:nvPr/>
          </p:nvSpPr>
          <p:spPr>
            <a:xfrm>
              <a:off x="9198" y="2228"/>
              <a:ext cx="2302"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telephone</a:t>
              </a:r>
            </a:p>
          </p:txBody>
        </p:sp>
        <p:sp>
          <p:nvSpPr>
            <p:cNvPr id="13339" name="Rectangle 27"/>
            <p:cNvSpPr/>
            <p:nvPr/>
          </p:nvSpPr>
          <p:spPr>
            <a:xfrm>
              <a:off x="7865" y="2228"/>
              <a:ext cx="1333"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class</a:t>
              </a:r>
            </a:p>
          </p:txBody>
        </p:sp>
        <p:sp>
          <p:nvSpPr>
            <p:cNvPr id="13340" name="Rectangle 28"/>
            <p:cNvSpPr/>
            <p:nvPr/>
          </p:nvSpPr>
          <p:spPr>
            <a:xfrm>
              <a:off x="6050" y="2228"/>
              <a:ext cx="1815"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fname</a:t>
              </a:r>
            </a:p>
          </p:txBody>
        </p:sp>
        <p:sp>
          <p:nvSpPr>
            <p:cNvPr id="13341" name="Rectangle 29"/>
            <p:cNvSpPr/>
            <p:nvPr/>
          </p:nvSpPr>
          <p:spPr>
            <a:xfrm>
              <a:off x="4355" y="2228"/>
              <a:ext cx="1695"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lname</a:t>
              </a:r>
            </a:p>
          </p:txBody>
        </p:sp>
        <p:sp>
          <p:nvSpPr>
            <p:cNvPr id="13342" name="Rectangle 30"/>
            <p:cNvSpPr/>
            <p:nvPr/>
          </p:nvSpPr>
          <p:spPr>
            <a:xfrm>
              <a:off x="3385" y="2228"/>
              <a:ext cx="970"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sid</a:t>
              </a:r>
            </a:p>
          </p:txBody>
        </p:sp>
        <p:sp>
          <p:nvSpPr>
            <p:cNvPr id="13343" name="Line 31"/>
            <p:cNvSpPr/>
            <p:nvPr/>
          </p:nvSpPr>
          <p:spPr>
            <a:xfrm>
              <a:off x="3385" y="2228"/>
              <a:ext cx="8115" cy="0"/>
            </a:xfrm>
            <a:prstGeom prst="line">
              <a:avLst/>
            </a:prstGeom>
            <a:ln w="28575" cap="sq" cmpd="sng">
              <a:solidFill>
                <a:schemeClr val="tx1"/>
              </a:solidFill>
              <a:prstDash val="solid"/>
              <a:round/>
              <a:headEnd type="none" w="med" len="med"/>
              <a:tailEnd type="none" w="med" len="med"/>
            </a:ln>
          </p:spPr>
        </p:sp>
        <p:sp>
          <p:nvSpPr>
            <p:cNvPr id="13344" name="Line 32"/>
            <p:cNvSpPr/>
            <p:nvPr/>
          </p:nvSpPr>
          <p:spPr>
            <a:xfrm>
              <a:off x="3385" y="2903"/>
              <a:ext cx="8115" cy="0"/>
            </a:xfrm>
            <a:prstGeom prst="line">
              <a:avLst/>
            </a:prstGeom>
            <a:ln w="12700" cap="flat" cmpd="sng">
              <a:solidFill>
                <a:schemeClr val="tx1"/>
              </a:solidFill>
              <a:prstDash val="solid"/>
              <a:round/>
              <a:headEnd type="none" w="med" len="med"/>
              <a:tailEnd type="none" w="med" len="med"/>
            </a:ln>
          </p:spPr>
        </p:sp>
        <p:sp>
          <p:nvSpPr>
            <p:cNvPr id="13345" name="Line 33"/>
            <p:cNvSpPr/>
            <p:nvPr/>
          </p:nvSpPr>
          <p:spPr>
            <a:xfrm>
              <a:off x="3385" y="3603"/>
              <a:ext cx="8115" cy="0"/>
            </a:xfrm>
            <a:prstGeom prst="line">
              <a:avLst/>
            </a:prstGeom>
            <a:ln w="12700" cap="flat" cmpd="sng">
              <a:solidFill>
                <a:schemeClr val="tx1"/>
              </a:solidFill>
              <a:prstDash val="solid"/>
              <a:round/>
              <a:headEnd type="none" w="med" len="med"/>
              <a:tailEnd type="none" w="med" len="med"/>
            </a:ln>
          </p:spPr>
        </p:sp>
        <p:sp>
          <p:nvSpPr>
            <p:cNvPr id="13346" name="Line 34"/>
            <p:cNvSpPr/>
            <p:nvPr/>
          </p:nvSpPr>
          <p:spPr>
            <a:xfrm>
              <a:off x="3385" y="4308"/>
              <a:ext cx="8115" cy="0"/>
            </a:xfrm>
            <a:prstGeom prst="line">
              <a:avLst/>
            </a:prstGeom>
            <a:ln w="12700" cap="flat" cmpd="sng">
              <a:solidFill>
                <a:schemeClr val="tx1"/>
              </a:solidFill>
              <a:prstDash val="solid"/>
              <a:round/>
              <a:headEnd type="none" w="med" len="med"/>
              <a:tailEnd type="none" w="med" len="med"/>
            </a:ln>
          </p:spPr>
        </p:sp>
        <p:sp>
          <p:nvSpPr>
            <p:cNvPr id="13347" name="Line 35"/>
            <p:cNvSpPr/>
            <p:nvPr/>
          </p:nvSpPr>
          <p:spPr>
            <a:xfrm>
              <a:off x="3385" y="5010"/>
              <a:ext cx="8115" cy="0"/>
            </a:xfrm>
            <a:prstGeom prst="line">
              <a:avLst/>
            </a:prstGeom>
            <a:ln w="12700" cap="flat" cmpd="sng">
              <a:solidFill>
                <a:schemeClr val="tx1"/>
              </a:solidFill>
              <a:prstDash val="solid"/>
              <a:round/>
              <a:headEnd type="none" w="med" len="med"/>
              <a:tailEnd type="none" w="med" len="med"/>
            </a:ln>
          </p:spPr>
        </p:sp>
        <p:sp>
          <p:nvSpPr>
            <p:cNvPr id="13348" name="Line 36"/>
            <p:cNvSpPr/>
            <p:nvPr/>
          </p:nvSpPr>
          <p:spPr>
            <a:xfrm>
              <a:off x="3385" y="5710"/>
              <a:ext cx="8115" cy="0"/>
            </a:xfrm>
            <a:prstGeom prst="line">
              <a:avLst/>
            </a:prstGeom>
            <a:ln w="28575" cap="sq" cmpd="sng">
              <a:solidFill>
                <a:schemeClr val="tx1"/>
              </a:solidFill>
              <a:prstDash val="solid"/>
              <a:round/>
              <a:headEnd type="none" w="med" len="med"/>
              <a:tailEnd type="none" w="med" len="med"/>
            </a:ln>
          </p:spPr>
        </p:sp>
        <p:sp>
          <p:nvSpPr>
            <p:cNvPr id="13349" name="Line 37"/>
            <p:cNvSpPr/>
            <p:nvPr/>
          </p:nvSpPr>
          <p:spPr>
            <a:xfrm>
              <a:off x="3385" y="2228"/>
              <a:ext cx="0" cy="3482"/>
            </a:xfrm>
            <a:prstGeom prst="line">
              <a:avLst/>
            </a:prstGeom>
            <a:ln w="28575" cap="sq" cmpd="sng">
              <a:solidFill>
                <a:schemeClr val="tx1"/>
              </a:solidFill>
              <a:prstDash val="solid"/>
              <a:round/>
              <a:headEnd type="none" w="med" len="med"/>
              <a:tailEnd type="none" w="med" len="med"/>
            </a:ln>
          </p:spPr>
        </p:sp>
        <p:sp>
          <p:nvSpPr>
            <p:cNvPr id="13350" name="Line 38"/>
            <p:cNvSpPr/>
            <p:nvPr/>
          </p:nvSpPr>
          <p:spPr>
            <a:xfrm>
              <a:off x="4355" y="2228"/>
              <a:ext cx="0" cy="3482"/>
            </a:xfrm>
            <a:prstGeom prst="line">
              <a:avLst/>
            </a:prstGeom>
            <a:ln w="12700" cap="flat" cmpd="sng">
              <a:solidFill>
                <a:schemeClr val="tx1"/>
              </a:solidFill>
              <a:prstDash val="solid"/>
              <a:round/>
              <a:headEnd type="none" w="med" len="med"/>
              <a:tailEnd type="none" w="med" len="med"/>
            </a:ln>
          </p:spPr>
        </p:sp>
        <p:sp>
          <p:nvSpPr>
            <p:cNvPr id="13351" name="Line 39"/>
            <p:cNvSpPr/>
            <p:nvPr/>
          </p:nvSpPr>
          <p:spPr>
            <a:xfrm>
              <a:off x="6050" y="2228"/>
              <a:ext cx="0" cy="3482"/>
            </a:xfrm>
            <a:prstGeom prst="line">
              <a:avLst/>
            </a:prstGeom>
            <a:ln w="12700" cap="flat" cmpd="sng">
              <a:solidFill>
                <a:schemeClr val="tx1"/>
              </a:solidFill>
              <a:prstDash val="solid"/>
              <a:round/>
              <a:headEnd type="none" w="med" len="med"/>
              <a:tailEnd type="none" w="med" len="med"/>
            </a:ln>
          </p:spPr>
        </p:sp>
        <p:sp>
          <p:nvSpPr>
            <p:cNvPr id="13352" name="Line 40"/>
            <p:cNvSpPr/>
            <p:nvPr/>
          </p:nvSpPr>
          <p:spPr>
            <a:xfrm>
              <a:off x="7865" y="2228"/>
              <a:ext cx="0" cy="3482"/>
            </a:xfrm>
            <a:prstGeom prst="line">
              <a:avLst/>
            </a:prstGeom>
            <a:ln w="12700" cap="flat" cmpd="sng">
              <a:solidFill>
                <a:schemeClr val="tx1"/>
              </a:solidFill>
              <a:prstDash val="solid"/>
              <a:round/>
              <a:headEnd type="none" w="med" len="med"/>
              <a:tailEnd type="none" w="med" len="med"/>
            </a:ln>
          </p:spPr>
        </p:sp>
        <p:sp>
          <p:nvSpPr>
            <p:cNvPr id="13353" name="Line 41"/>
            <p:cNvSpPr/>
            <p:nvPr/>
          </p:nvSpPr>
          <p:spPr>
            <a:xfrm>
              <a:off x="9198" y="2228"/>
              <a:ext cx="0" cy="3482"/>
            </a:xfrm>
            <a:prstGeom prst="line">
              <a:avLst/>
            </a:prstGeom>
            <a:ln w="12700" cap="flat" cmpd="sng">
              <a:solidFill>
                <a:schemeClr val="tx1"/>
              </a:solidFill>
              <a:prstDash val="solid"/>
              <a:round/>
              <a:headEnd type="none" w="med" len="med"/>
              <a:tailEnd type="none" w="med" len="med"/>
            </a:ln>
          </p:spPr>
        </p:sp>
        <p:sp>
          <p:nvSpPr>
            <p:cNvPr id="13354" name="Line 42"/>
            <p:cNvSpPr/>
            <p:nvPr/>
          </p:nvSpPr>
          <p:spPr>
            <a:xfrm>
              <a:off x="11500" y="2228"/>
              <a:ext cx="0" cy="3482"/>
            </a:xfrm>
            <a:prstGeom prst="line">
              <a:avLst/>
            </a:prstGeom>
            <a:ln w="28575" cap="sq" cmpd="sng">
              <a:solidFill>
                <a:schemeClr val="tx1"/>
              </a:solidFill>
              <a:prstDash val="solid"/>
              <a:round/>
              <a:headEnd type="none" w="med" len="med"/>
              <a:tailEnd type="none" w="med" len="med"/>
            </a:ln>
          </p:spPr>
        </p:sp>
        <p:sp>
          <p:nvSpPr>
            <p:cNvPr id="13355" name="Text Box 111"/>
            <p:cNvSpPr txBox="1"/>
            <p:nvPr/>
          </p:nvSpPr>
          <p:spPr>
            <a:xfrm>
              <a:off x="3508" y="1550"/>
              <a:ext cx="2422" cy="580"/>
            </a:xfrm>
            <a:prstGeom prst="rect">
              <a:avLst/>
            </a:prstGeom>
            <a:noFill/>
            <a:ln w="9525">
              <a:noFill/>
            </a:ln>
          </p:spPr>
          <p:txBody>
            <a:bodyPr anchor="t">
              <a:spAutoFit/>
            </a:bodyPr>
            <a:lstStyle/>
            <a:p>
              <a:pPr>
                <a:spcBef>
                  <a:spcPct val="50000"/>
                </a:spcBef>
              </a:pPr>
              <a:r>
                <a:rPr lang="en-US" altLang="zh-CN" b="1" dirty="0">
                  <a:latin typeface="Arial" panose="020B0604020202020204" pitchFamily="34" charset="0"/>
                </a:rPr>
                <a:t>students</a:t>
              </a:r>
            </a:p>
          </p:txBody>
        </p:sp>
      </p:grpSp>
      <p:grpSp>
        <p:nvGrpSpPr>
          <p:cNvPr id="12333" name="组合 12332"/>
          <p:cNvGrpSpPr/>
          <p:nvPr/>
        </p:nvGrpSpPr>
        <p:grpSpPr>
          <a:xfrm>
            <a:off x="1366520" y="3658222"/>
            <a:ext cx="3844925" cy="2629866"/>
            <a:chOff x="0" y="176"/>
            <a:chExt cx="6054" cy="4142"/>
          </a:xfrm>
        </p:grpSpPr>
        <p:sp>
          <p:nvSpPr>
            <p:cNvPr id="13357" name="Rectangle 43"/>
            <p:cNvSpPr/>
            <p:nvPr/>
          </p:nvSpPr>
          <p:spPr>
            <a:xfrm>
              <a:off x="4722" y="3616"/>
              <a:ext cx="1332"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MW4</a:t>
              </a:r>
            </a:p>
          </p:txBody>
        </p:sp>
        <p:sp>
          <p:nvSpPr>
            <p:cNvPr id="13358" name="Rectangle 44"/>
            <p:cNvSpPr/>
            <p:nvPr/>
          </p:nvSpPr>
          <p:spPr>
            <a:xfrm>
              <a:off x="3148" y="3616"/>
              <a:ext cx="1574"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2-113</a:t>
              </a:r>
            </a:p>
          </p:txBody>
        </p:sp>
        <p:sp>
          <p:nvSpPr>
            <p:cNvPr id="13359" name="Rectangle 45"/>
            <p:cNvSpPr/>
            <p:nvPr/>
          </p:nvSpPr>
          <p:spPr>
            <a:xfrm>
              <a:off x="1090" y="3616"/>
              <a:ext cx="2058"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Calculus</a:t>
              </a:r>
            </a:p>
          </p:txBody>
        </p:sp>
        <p:sp>
          <p:nvSpPr>
            <p:cNvPr id="13360" name="Rectangle 46"/>
            <p:cNvSpPr/>
            <p:nvPr/>
          </p:nvSpPr>
          <p:spPr>
            <a:xfrm>
              <a:off x="0" y="3616"/>
              <a:ext cx="1090"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p>
          </p:txBody>
        </p:sp>
        <p:sp>
          <p:nvSpPr>
            <p:cNvPr id="13361" name="Rectangle 47"/>
            <p:cNvSpPr/>
            <p:nvPr/>
          </p:nvSpPr>
          <p:spPr>
            <a:xfrm>
              <a:off x="4722" y="2915"/>
              <a:ext cx="1332"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MW2</a:t>
              </a:r>
            </a:p>
          </p:txBody>
        </p:sp>
        <p:sp>
          <p:nvSpPr>
            <p:cNvPr id="13362" name="Rectangle 48"/>
            <p:cNvSpPr/>
            <p:nvPr/>
          </p:nvSpPr>
          <p:spPr>
            <a:xfrm>
              <a:off x="3148" y="2915"/>
              <a:ext cx="1574"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3-105</a:t>
              </a:r>
            </a:p>
          </p:txBody>
        </p:sp>
        <p:sp>
          <p:nvSpPr>
            <p:cNvPr id="13363" name="Rectangle 49"/>
            <p:cNvSpPr/>
            <p:nvPr/>
          </p:nvSpPr>
          <p:spPr>
            <a:xfrm>
              <a:off x="1090" y="2915"/>
              <a:ext cx="2058"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Algebra</a:t>
              </a:r>
            </a:p>
          </p:txBody>
        </p:sp>
        <p:sp>
          <p:nvSpPr>
            <p:cNvPr id="13364" name="Rectangle 50"/>
            <p:cNvSpPr/>
            <p:nvPr/>
          </p:nvSpPr>
          <p:spPr>
            <a:xfrm>
              <a:off x="0" y="2915"/>
              <a:ext cx="1090"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p>
          </p:txBody>
        </p:sp>
        <p:sp>
          <p:nvSpPr>
            <p:cNvPr id="13365" name="Rectangle 51"/>
            <p:cNvSpPr/>
            <p:nvPr/>
          </p:nvSpPr>
          <p:spPr>
            <a:xfrm>
              <a:off x="4722" y="2210"/>
              <a:ext cx="1332"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MW3</a:t>
              </a:r>
            </a:p>
          </p:txBody>
        </p:sp>
        <p:sp>
          <p:nvSpPr>
            <p:cNvPr id="13366" name="Rectangle 52"/>
            <p:cNvSpPr/>
            <p:nvPr/>
          </p:nvSpPr>
          <p:spPr>
            <a:xfrm>
              <a:off x="3148" y="2210"/>
              <a:ext cx="1574"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2-113</a:t>
              </a:r>
            </a:p>
          </p:txBody>
        </p:sp>
        <p:sp>
          <p:nvSpPr>
            <p:cNvPr id="13367" name="Rectangle 53"/>
            <p:cNvSpPr/>
            <p:nvPr/>
          </p:nvSpPr>
          <p:spPr>
            <a:xfrm>
              <a:off x="1090" y="2210"/>
              <a:ext cx="2058"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French II</a:t>
              </a:r>
            </a:p>
          </p:txBody>
        </p:sp>
        <p:sp>
          <p:nvSpPr>
            <p:cNvPr id="13368" name="Rectangle 54"/>
            <p:cNvSpPr/>
            <p:nvPr/>
          </p:nvSpPr>
          <p:spPr>
            <a:xfrm>
              <a:off x="0" y="2210"/>
              <a:ext cx="1090"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102</a:t>
              </a:r>
            </a:p>
          </p:txBody>
        </p:sp>
        <p:sp>
          <p:nvSpPr>
            <p:cNvPr id="13369" name="Rectangle 55"/>
            <p:cNvSpPr/>
            <p:nvPr/>
          </p:nvSpPr>
          <p:spPr>
            <a:xfrm>
              <a:off x="4722" y="1455"/>
              <a:ext cx="1332"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MW2</a:t>
              </a:r>
            </a:p>
          </p:txBody>
        </p:sp>
        <p:sp>
          <p:nvSpPr>
            <p:cNvPr id="13370" name="Rectangle 56"/>
            <p:cNvSpPr/>
            <p:nvPr/>
          </p:nvSpPr>
          <p:spPr>
            <a:xfrm>
              <a:off x="3148" y="1455"/>
              <a:ext cx="1574"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2-104</a:t>
              </a:r>
            </a:p>
          </p:txBody>
        </p:sp>
        <p:sp>
          <p:nvSpPr>
            <p:cNvPr id="13371" name="Rectangle 57"/>
            <p:cNvSpPr/>
            <p:nvPr/>
          </p:nvSpPr>
          <p:spPr>
            <a:xfrm>
              <a:off x="1090" y="1455"/>
              <a:ext cx="2058"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French I</a:t>
              </a:r>
            </a:p>
          </p:txBody>
        </p:sp>
        <p:sp>
          <p:nvSpPr>
            <p:cNvPr id="13372" name="Rectangle 58"/>
            <p:cNvSpPr/>
            <p:nvPr/>
          </p:nvSpPr>
          <p:spPr>
            <a:xfrm>
              <a:off x="0" y="1455"/>
              <a:ext cx="1090"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p>
          </p:txBody>
        </p:sp>
        <p:sp>
          <p:nvSpPr>
            <p:cNvPr id="13373" name="Rectangle 59"/>
            <p:cNvSpPr/>
            <p:nvPr/>
          </p:nvSpPr>
          <p:spPr>
            <a:xfrm>
              <a:off x="4722" y="780"/>
              <a:ext cx="1332"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time</a:t>
              </a:r>
            </a:p>
          </p:txBody>
        </p:sp>
        <p:sp>
          <p:nvSpPr>
            <p:cNvPr id="13374" name="Rectangle 60"/>
            <p:cNvSpPr/>
            <p:nvPr/>
          </p:nvSpPr>
          <p:spPr>
            <a:xfrm>
              <a:off x="3148" y="780"/>
              <a:ext cx="1574"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croom</a:t>
              </a:r>
            </a:p>
          </p:txBody>
        </p:sp>
        <p:sp>
          <p:nvSpPr>
            <p:cNvPr id="13375" name="Rectangle 61"/>
            <p:cNvSpPr/>
            <p:nvPr/>
          </p:nvSpPr>
          <p:spPr>
            <a:xfrm>
              <a:off x="1090" y="780"/>
              <a:ext cx="2058"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cname</a:t>
              </a:r>
            </a:p>
          </p:txBody>
        </p:sp>
        <p:sp>
          <p:nvSpPr>
            <p:cNvPr id="13376" name="Rectangle 62"/>
            <p:cNvSpPr/>
            <p:nvPr/>
          </p:nvSpPr>
          <p:spPr>
            <a:xfrm>
              <a:off x="0" y="780"/>
              <a:ext cx="1090"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cno</a:t>
              </a:r>
            </a:p>
          </p:txBody>
        </p:sp>
        <p:sp>
          <p:nvSpPr>
            <p:cNvPr id="13377" name="Line 63"/>
            <p:cNvSpPr/>
            <p:nvPr/>
          </p:nvSpPr>
          <p:spPr>
            <a:xfrm>
              <a:off x="0" y="780"/>
              <a:ext cx="6054" cy="0"/>
            </a:xfrm>
            <a:prstGeom prst="line">
              <a:avLst/>
            </a:prstGeom>
            <a:ln w="28575" cap="sq" cmpd="sng">
              <a:solidFill>
                <a:schemeClr val="tx1"/>
              </a:solidFill>
              <a:prstDash val="solid"/>
              <a:round/>
              <a:headEnd type="none" w="med" len="med"/>
              <a:tailEnd type="none" w="med" len="med"/>
            </a:ln>
          </p:spPr>
        </p:sp>
        <p:sp>
          <p:nvSpPr>
            <p:cNvPr id="13378" name="Line 64"/>
            <p:cNvSpPr/>
            <p:nvPr/>
          </p:nvSpPr>
          <p:spPr>
            <a:xfrm>
              <a:off x="0" y="1455"/>
              <a:ext cx="6054" cy="0"/>
            </a:xfrm>
            <a:prstGeom prst="line">
              <a:avLst/>
            </a:prstGeom>
            <a:ln w="12700" cap="flat" cmpd="sng">
              <a:solidFill>
                <a:schemeClr val="tx1"/>
              </a:solidFill>
              <a:prstDash val="solid"/>
              <a:round/>
              <a:headEnd type="none" w="med" len="med"/>
              <a:tailEnd type="none" w="med" len="med"/>
            </a:ln>
          </p:spPr>
        </p:sp>
        <p:sp>
          <p:nvSpPr>
            <p:cNvPr id="13379" name="Line 65"/>
            <p:cNvSpPr/>
            <p:nvPr/>
          </p:nvSpPr>
          <p:spPr>
            <a:xfrm>
              <a:off x="0" y="2210"/>
              <a:ext cx="6054" cy="0"/>
            </a:xfrm>
            <a:prstGeom prst="line">
              <a:avLst/>
            </a:prstGeom>
            <a:ln w="12700" cap="flat" cmpd="sng">
              <a:solidFill>
                <a:schemeClr val="tx1"/>
              </a:solidFill>
              <a:prstDash val="solid"/>
              <a:round/>
              <a:headEnd type="none" w="med" len="med"/>
              <a:tailEnd type="none" w="med" len="med"/>
            </a:ln>
          </p:spPr>
        </p:sp>
        <p:sp>
          <p:nvSpPr>
            <p:cNvPr id="13380" name="Line 66"/>
            <p:cNvSpPr/>
            <p:nvPr/>
          </p:nvSpPr>
          <p:spPr>
            <a:xfrm>
              <a:off x="0" y="2915"/>
              <a:ext cx="6054" cy="0"/>
            </a:xfrm>
            <a:prstGeom prst="line">
              <a:avLst/>
            </a:prstGeom>
            <a:ln w="12700" cap="flat" cmpd="sng">
              <a:solidFill>
                <a:schemeClr val="tx1"/>
              </a:solidFill>
              <a:prstDash val="solid"/>
              <a:round/>
              <a:headEnd type="none" w="med" len="med"/>
              <a:tailEnd type="none" w="med" len="med"/>
            </a:ln>
          </p:spPr>
        </p:sp>
        <p:sp>
          <p:nvSpPr>
            <p:cNvPr id="13381" name="Line 67"/>
            <p:cNvSpPr/>
            <p:nvPr/>
          </p:nvSpPr>
          <p:spPr>
            <a:xfrm>
              <a:off x="0" y="3616"/>
              <a:ext cx="6054" cy="0"/>
            </a:xfrm>
            <a:prstGeom prst="line">
              <a:avLst/>
            </a:prstGeom>
            <a:ln w="12700" cap="flat" cmpd="sng">
              <a:solidFill>
                <a:schemeClr val="tx1"/>
              </a:solidFill>
              <a:prstDash val="solid"/>
              <a:round/>
              <a:headEnd type="none" w="med" len="med"/>
              <a:tailEnd type="none" w="med" len="med"/>
            </a:ln>
          </p:spPr>
        </p:sp>
        <p:sp>
          <p:nvSpPr>
            <p:cNvPr id="13382" name="Line 68"/>
            <p:cNvSpPr/>
            <p:nvPr/>
          </p:nvSpPr>
          <p:spPr>
            <a:xfrm>
              <a:off x="0" y="4318"/>
              <a:ext cx="6054" cy="0"/>
            </a:xfrm>
            <a:prstGeom prst="line">
              <a:avLst/>
            </a:prstGeom>
            <a:ln w="28575" cap="sq" cmpd="sng">
              <a:solidFill>
                <a:schemeClr val="tx1"/>
              </a:solidFill>
              <a:prstDash val="solid"/>
              <a:round/>
              <a:headEnd type="none" w="med" len="med"/>
              <a:tailEnd type="none" w="med" len="med"/>
            </a:ln>
          </p:spPr>
        </p:sp>
        <p:sp>
          <p:nvSpPr>
            <p:cNvPr id="13383" name="Line 69"/>
            <p:cNvSpPr/>
            <p:nvPr/>
          </p:nvSpPr>
          <p:spPr>
            <a:xfrm>
              <a:off x="0" y="780"/>
              <a:ext cx="0" cy="3538"/>
            </a:xfrm>
            <a:prstGeom prst="line">
              <a:avLst/>
            </a:prstGeom>
            <a:ln w="28575" cap="sq" cmpd="sng">
              <a:solidFill>
                <a:schemeClr val="tx1"/>
              </a:solidFill>
              <a:prstDash val="solid"/>
              <a:round/>
              <a:headEnd type="none" w="med" len="med"/>
              <a:tailEnd type="none" w="med" len="med"/>
            </a:ln>
          </p:spPr>
        </p:sp>
        <p:sp>
          <p:nvSpPr>
            <p:cNvPr id="13384" name="Line 70"/>
            <p:cNvSpPr/>
            <p:nvPr/>
          </p:nvSpPr>
          <p:spPr>
            <a:xfrm>
              <a:off x="1090" y="780"/>
              <a:ext cx="0" cy="3538"/>
            </a:xfrm>
            <a:prstGeom prst="line">
              <a:avLst/>
            </a:prstGeom>
            <a:ln w="12700" cap="flat" cmpd="sng">
              <a:solidFill>
                <a:schemeClr val="tx1"/>
              </a:solidFill>
              <a:prstDash val="solid"/>
              <a:round/>
              <a:headEnd type="none" w="med" len="med"/>
              <a:tailEnd type="none" w="med" len="med"/>
            </a:ln>
          </p:spPr>
        </p:sp>
        <p:sp>
          <p:nvSpPr>
            <p:cNvPr id="13385" name="Line 71"/>
            <p:cNvSpPr/>
            <p:nvPr/>
          </p:nvSpPr>
          <p:spPr>
            <a:xfrm>
              <a:off x="3148" y="780"/>
              <a:ext cx="0" cy="3538"/>
            </a:xfrm>
            <a:prstGeom prst="line">
              <a:avLst/>
            </a:prstGeom>
            <a:ln w="12700" cap="flat" cmpd="sng">
              <a:solidFill>
                <a:schemeClr val="tx1"/>
              </a:solidFill>
              <a:prstDash val="solid"/>
              <a:round/>
              <a:headEnd type="none" w="med" len="med"/>
              <a:tailEnd type="none" w="med" len="med"/>
            </a:ln>
          </p:spPr>
        </p:sp>
        <p:sp>
          <p:nvSpPr>
            <p:cNvPr id="13386" name="Line 72"/>
            <p:cNvSpPr/>
            <p:nvPr/>
          </p:nvSpPr>
          <p:spPr>
            <a:xfrm>
              <a:off x="4722" y="780"/>
              <a:ext cx="0" cy="3538"/>
            </a:xfrm>
            <a:prstGeom prst="line">
              <a:avLst/>
            </a:prstGeom>
            <a:ln w="12700" cap="flat" cmpd="sng">
              <a:solidFill>
                <a:schemeClr val="tx1"/>
              </a:solidFill>
              <a:prstDash val="solid"/>
              <a:round/>
              <a:headEnd type="none" w="med" len="med"/>
              <a:tailEnd type="none" w="med" len="med"/>
            </a:ln>
          </p:spPr>
        </p:sp>
        <p:sp>
          <p:nvSpPr>
            <p:cNvPr id="13387" name="Line 73"/>
            <p:cNvSpPr/>
            <p:nvPr/>
          </p:nvSpPr>
          <p:spPr>
            <a:xfrm>
              <a:off x="6054" y="780"/>
              <a:ext cx="0" cy="3538"/>
            </a:xfrm>
            <a:prstGeom prst="line">
              <a:avLst/>
            </a:prstGeom>
            <a:ln w="28575" cap="sq" cmpd="sng">
              <a:solidFill>
                <a:schemeClr val="tx1"/>
              </a:solidFill>
              <a:prstDash val="solid"/>
              <a:round/>
              <a:headEnd type="none" w="med" len="med"/>
              <a:tailEnd type="none" w="med" len="med"/>
            </a:ln>
          </p:spPr>
        </p:sp>
        <p:sp>
          <p:nvSpPr>
            <p:cNvPr id="13388" name="Text Box 112"/>
            <p:cNvSpPr txBox="1"/>
            <p:nvPr/>
          </p:nvSpPr>
          <p:spPr>
            <a:xfrm>
              <a:off x="121" y="176"/>
              <a:ext cx="2422" cy="580"/>
            </a:xfrm>
            <a:prstGeom prst="rect">
              <a:avLst/>
            </a:prstGeom>
            <a:noFill/>
            <a:ln w="9525">
              <a:noFill/>
            </a:ln>
          </p:spPr>
          <p:txBody>
            <a:bodyPr anchor="t">
              <a:spAutoFit/>
            </a:bodyPr>
            <a:lstStyle/>
            <a:p>
              <a:pPr>
                <a:spcBef>
                  <a:spcPct val="50000"/>
                </a:spcBef>
              </a:pPr>
              <a:r>
                <a:rPr lang="en-US" altLang="zh-CN" b="1" dirty="0">
                  <a:solidFill>
                    <a:schemeClr val="tx1"/>
                  </a:solidFill>
                  <a:latin typeface="Arial" panose="020B0604020202020204" pitchFamily="34" charset="0"/>
                </a:rPr>
                <a:t>courses</a:t>
              </a:r>
            </a:p>
          </p:txBody>
        </p:sp>
      </p:grpSp>
      <p:grpSp>
        <p:nvGrpSpPr>
          <p:cNvPr id="12366" name="组合 12365"/>
          <p:cNvGrpSpPr/>
          <p:nvPr/>
        </p:nvGrpSpPr>
        <p:grpSpPr>
          <a:xfrm>
            <a:off x="7916863" y="695960"/>
            <a:ext cx="2230437" cy="3995738"/>
            <a:chOff x="0" y="0"/>
            <a:chExt cx="3511" cy="6292"/>
          </a:xfrm>
        </p:grpSpPr>
        <p:sp>
          <p:nvSpPr>
            <p:cNvPr id="13390" name="Rectangle 74"/>
            <p:cNvSpPr/>
            <p:nvPr/>
          </p:nvSpPr>
          <p:spPr>
            <a:xfrm>
              <a:off x="2058" y="4188"/>
              <a:ext cx="1453"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p>
          </p:txBody>
        </p:sp>
        <p:sp>
          <p:nvSpPr>
            <p:cNvPr id="13391" name="Rectangle 75"/>
            <p:cNvSpPr/>
            <p:nvPr/>
          </p:nvSpPr>
          <p:spPr>
            <a:xfrm>
              <a:off x="968" y="4188"/>
              <a:ext cx="1090"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p>
          </p:txBody>
        </p:sp>
        <p:sp>
          <p:nvSpPr>
            <p:cNvPr id="13392" name="Rectangle 76"/>
            <p:cNvSpPr/>
            <p:nvPr/>
          </p:nvSpPr>
          <p:spPr>
            <a:xfrm>
              <a:off x="0" y="4188"/>
              <a:ext cx="968"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p>
          </p:txBody>
        </p:sp>
        <p:sp>
          <p:nvSpPr>
            <p:cNvPr id="13393" name="Rectangle 77"/>
            <p:cNvSpPr/>
            <p:nvPr/>
          </p:nvSpPr>
          <p:spPr>
            <a:xfrm>
              <a:off x="2058" y="4889"/>
              <a:ext cx="1453"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p>
          </p:txBody>
        </p:sp>
        <p:sp>
          <p:nvSpPr>
            <p:cNvPr id="13394" name="Rectangle 78"/>
            <p:cNvSpPr/>
            <p:nvPr/>
          </p:nvSpPr>
          <p:spPr>
            <a:xfrm>
              <a:off x="968" y="4889"/>
              <a:ext cx="1090"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102</a:t>
              </a:r>
            </a:p>
          </p:txBody>
        </p:sp>
        <p:sp>
          <p:nvSpPr>
            <p:cNvPr id="13395" name="Rectangle 79"/>
            <p:cNvSpPr/>
            <p:nvPr/>
          </p:nvSpPr>
          <p:spPr>
            <a:xfrm>
              <a:off x="0" y="4889"/>
              <a:ext cx="968"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p>
          </p:txBody>
        </p:sp>
        <p:sp>
          <p:nvSpPr>
            <p:cNvPr id="13396" name="Rectangle 80"/>
            <p:cNvSpPr/>
            <p:nvPr/>
          </p:nvSpPr>
          <p:spPr>
            <a:xfrm>
              <a:off x="2058" y="5590"/>
              <a:ext cx="1453"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p>
          </p:txBody>
        </p:sp>
        <p:sp>
          <p:nvSpPr>
            <p:cNvPr id="13397" name="Rectangle 81"/>
            <p:cNvSpPr/>
            <p:nvPr/>
          </p:nvSpPr>
          <p:spPr>
            <a:xfrm>
              <a:off x="968" y="5590"/>
              <a:ext cx="1090"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p>
          </p:txBody>
        </p:sp>
        <p:sp>
          <p:nvSpPr>
            <p:cNvPr id="13398" name="Rectangle 82"/>
            <p:cNvSpPr/>
            <p:nvPr/>
          </p:nvSpPr>
          <p:spPr>
            <a:xfrm>
              <a:off x="0" y="5590"/>
              <a:ext cx="968"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p>
          </p:txBody>
        </p:sp>
        <p:sp>
          <p:nvSpPr>
            <p:cNvPr id="13399" name="Rectangle 83"/>
            <p:cNvSpPr/>
            <p:nvPr/>
          </p:nvSpPr>
          <p:spPr>
            <a:xfrm>
              <a:off x="2058" y="3486"/>
              <a:ext cx="1453"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Yes</a:t>
              </a:r>
            </a:p>
          </p:txBody>
        </p:sp>
        <p:sp>
          <p:nvSpPr>
            <p:cNvPr id="13400" name="Rectangle 84"/>
            <p:cNvSpPr/>
            <p:nvPr/>
          </p:nvSpPr>
          <p:spPr>
            <a:xfrm>
              <a:off x="968" y="3486"/>
              <a:ext cx="1090"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p>
          </p:txBody>
        </p:sp>
        <p:sp>
          <p:nvSpPr>
            <p:cNvPr id="13401" name="Rectangle 85"/>
            <p:cNvSpPr/>
            <p:nvPr/>
          </p:nvSpPr>
          <p:spPr>
            <a:xfrm>
              <a:off x="0" y="3486"/>
              <a:ext cx="968" cy="702"/>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p>
          </p:txBody>
        </p:sp>
        <p:sp>
          <p:nvSpPr>
            <p:cNvPr id="13402" name="Rectangle 86"/>
            <p:cNvSpPr/>
            <p:nvPr/>
          </p:nvSpPr>
          <p:spPr>
            <a:xfrm>
              <a:off x="2058" y="2785"/>
              <a:ext cx="1453"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p>
          </p:txBody>
        </p:sp>
        <p:sp>
          <p:nvSpPr>
            <p:cNvPr id="13403" name="Rectangle 87"/>
            <p:cNvSpPr/>
            <p:nvPr/>
          </p:nvSpPr>
          <p:spPr>
            <a:xfrm>
              <a:off x="968" y="2785"/>
              <a:ext cx="1090"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p>
          </p:txBody>
        </p:sp>
        <p:sp>
          <p:nvSpPr>
            <p:cNvPr id="13404" name="Rectangle 88"/>
            <p:cNvSpPr/>
            <p:nvPr/>
          </p:nvSpPr>
          <p:spPr>
            <a:xfrm>
              <a:off x="0" y="2785"/>
              <a:ext cx="968" cy="701"/>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p>
          </p:txBody>
        </p:sp>
        <p:sp>
          <p:nvSpPr>
            <p:cNvPr id="13405" name="Rectangle 89"/>
            <p:cNvSpPr/>
            <p:nvPr/>
          </p:nvSpPr>
          <p:spPr>
            <a:xfrm>
              <a:off x="2058" y="2080"/>
              <a:ext cx="1453"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Yes</a:t>
              </a:r>
            </a:p>
          </p:txBody>
        </p:sp>
        <p:sp>
          <p:nvSpPr>
            <p:cNvPr id="13406" name="Rectangle 90"/>
            <p:cNvSpPr/>
            <p:nvPr/>
          </p:nvSpPr>
          <p:spPr>
            <a:xfrm>
              <a:off x="968" y="2080"/>
              <a:ext cx="1090"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p>
          </p:txBody>
        </p:sp>
        <p:sp>
          <p:nvSpPr>
            <p:cNvPr id="13407" name="Rectangle 91"/>
            <p:cNvSpPr/>
            <p:nvPr/>
          </p:nvSpPr>
          <p:spPr>
            <a:xfrm>
              <a:off x="0" y="2080"/>
              <a:ext cx="968" cy="70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p>
          </p:txBody>
        </p:sp>
        <p:sp>
          <p:nvSpPr>
            <p:cNvPr id="13408" name="Rectangle 92"/>
            <p:cNvSpPr/>
            <p:nvPr/>
          </p:nvSpPr>
          <p:spPr>
            <a:xfrm>
              <a:off x="2058" y="1325"/>
              <a:ext cx="1453"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p>
          </p:txBody>
        </p:sp>
        <p:sp>
          <p:nvSpPr>
            <p:cNvPr id="13409" name="Rectangle 93"/>
            <p:cNvSpPr/>
            <p:nvPr/>
          </p:nvSpPr>
          <p:spPr>
            <a:xfrm>
              <a:off x="968" y="1325"/>
              <a:ext cx="1090"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p>
          </p:txBody>
        </p:sp>
        <p:sp>
          <p:nvSpPr>
            <p:cNvPr id="13410" name="Rectangle 94"/>
            <p:cNvSpPr/>
            <p:nvPr/>
          </p:nvSpPr>
          <p:spPr>
            <a:xfrm>
              <a:off x="0" y="1325"/>
              <a:ext cx="968" cy="755"/>
            </a:xfrm>
            <a:prstGeom prst="rect">
              <a:avLst/>
            </a:prstGeom>
            <a:noFill/>
            <a:ln w="9525">
              <a:noFill/>
            </a:ln>
          </p:spPr>
          <p:txBody>
            <a:bodyPr anchor="ctr"/>
            <a:lstStyle/>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p>
          </p:txBody>
        </p:sp>
        <p:sp>
          <p:nvSpPr>
            <p:cNvPr id="13411" name="Rectangle 95"/>
            <p:cNvSpPr/>
            <p:nvPr/>
          </p:nvSpPr>
          <p:spPr>
            <a:xfrm>
              <a:off x="2058" y="650"/>
              <a:ext cx="1453"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major</a:t>
              </a:r>
            </a:p>
          </p:txBody>
        </p:sp>
        <p:sp>
          <p:nvSpPr>
            <p:cNvPr id="13412" name="Rectangle 96"/>
            <p:cNvSpPr/>
            <p:nvPr/>
          </p:nvSpPr>
          <p:spPr>
            <a:xfrm>
              <a:off x="968" y="650"/>
              <a:ext cx="1090"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cno</a:t>
              </a:r>
            </a:p>
          </p:txBody>
        </p:sp>
        <p:sp>
          <p:nvSpPr>
            <p:cNvPr id="13413" name="Rectangle 97"/>
            <p:cNvSpPr/>
            <p:nvPr/>
          </p:nvSpPr>
          <p:spPr>
            <a:xfrm>
              <a:off x="0" y="650"/>
              <a:ext cx="968" cy="675"/>
            </a:xfrm>
            <a:prstGeom prst="rect">
              <a:avLst/>
            </a:prstGeom>
            <a:solidFill>
              <a:srgbClr val="EAEAEA"/>
            </a:solidFill>
            <a:ln w="9525">
              <a:noFill/>
            </a:ln>
          </p:spPr>
          <p:txBody>
            <a:bodyPr anchor="ctr"/>
            <a:lstStyle/>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sid</a:t>
              </a:r>
            </a:p>
          </p:txBody>
        </p:sp>
        <p:sp>
          <p:nvSpPr>
            <p:cNvPr id="13414" name="Line 98"/>
            <p:cNvSpPr/>
            <p:nvPr/>
          </p:nvSpPr>
          <p:spPr>
            <a:xfrm>
              <a:off x="0" y="650"/>
              <a:ext cx="3511" cy="0"/>
            </a:xfrm>
            <a:prstGeom prst="line">
              <a:avLst/>
            </a:prstGeom>
            <a:ln w="28575" cap="sq" cmpd="sng">
              <a:solidFill>
                <a:schemeClr val="tx1"/>
              </a:solidFill>
              <a:prstDash val="solid"/>
              <a:round/>
              <a:headEnd type="none" w="med" len="med"/>
              <a:tailEnd type="none" w="med" len="med"/>
            </a:ln>
          </p:spPr>
        </p:sp>
        <p:sp>
          <p:nvSpPr>
            <p:cNvPr id="13415" name="Line 99"/>
            <p:cNvSpPr/>
            <p:nvPr/>
          </p:nvSpPr>
          <p:spPr>
            <a:xfrm>
              <a:off x="0" y="1325"/>
              <a:ext cx="3511" cy="0"/>
            </a:xfrm>
            <a:prstGeom prst="line">
              <a:avLst/>
            </a:prstGeom>
            <a:ln w="12700" cap="flat" cmpd="sng">
              <a:solidFill>
                <a:schemeClr val="tx1"/>
              </a:solidFill>
              <a:prstDash val="solid"/>
              <a:round/>
              <a:headEnd type="none" w="med" len="med"/>
              <a:tailEnd type="none" w="med" len="med"/>
            </a:ln>
          </p:spPr>
        </p:sp>
        <p:sp>
          <p:nvSpPr>
            <p:cNvPr id="13416" name="Line 100"/>
            <p:cNvSpPr/>
            <p:nvPr/>
          </p:nvSpPr>
          <p:spPr>
            <a:xfrm>
              <a:off x="0" y="2080"/>
              <a:ext cx="3511" cy="0"/>
            </a:xfrm>
            <a:prstGeom prst="line">
              <a:avLst/>
            </a:prstGeom>
            <a:ln w="12700" cap="flat" cmpd="sng">
              <a:solidFill>
                <a:schemeClr val="tx1"/>
              </a:solidFill>
              <a:prstDash val="solid"/>
              <a:round/>
              <a:headEnd type="none" w="med" len="med"/>
              <a:tailEnd type="none" w="med" len="med"/>
            </a:ln>
          </p:spPr>
        </p:sp>
        <p:sp>
          <p:nvSpPr>
            <p:cNvPr id="13417" name="Line 101"/>
            <p:cNvSpPr/>
            <p:nvPr/>
          </p:nvSpPr>
          <p:spPr>
            <a:xfrm>
              <a:off x="0" y="2785"/>
              <a:ext cx="3511" cy="0"/>
            </a:xfrm>
            <a:prstGeom prst="line">
              <a:avLst/>
            </a:prstGeom>
            <a:ln w="12700" cap="flat" cmpd="sng">
              <a:solidFill>
                <a:schemeClr val="tx1"/>
              </a:solidFill>
              <a:prstDash val="solid"/>
              <a:round/>
              <a:headEnd type="none" w="med" len="med"/>
              <a:tailEnd type="none" w="med" len="med"/>
            </a:ln>
          </p:spPr>
        </p:sp>
        <p:sp>
          <p:nvSpPr>
            <p:cNvPr id="13418" name="Line 102"/>
            <p:cNvSpPr/>
            <p:nvPr/>
          </p:nvSpPr>
          <p:spPr>
            <a:xfrm>
              <a:off x="0" y="3486"/>
              <a:ext cx="3511" cy="0"/>
            </a:xfrm>
            <a:prstGeom prst="line">
              <a:avLst/>
            </a:prstGeom>
            <a:ln w="12700" cap="flat" cmpd="sng">
              <a:solidFill>
                <a:schemeClr val="tx1"/>
              </a:solidFill>
              <a:prstDash val="solid"/>
              <a:round/>
              <a:headEnd type="none" w="med" len="med"/>
              <a:tailEnd type="none" w="med" len="med"/>
            </a:ln>
          </p:spPr>
        </p:sp>
        <p:sp>
          <p:nvSpPr>
            <p:cNvPr id="13419" name="Line 103"/>
            <p:cNvSpPr/>
            <p:nvPr/>
          </p:nvSpPr>
          <p:spPr>
            <a:xfrm>
              <a:off x="0" y="6292"/>
              <a:ext cx="3511" cy="0"/>
            </a:xfrm>
            <a:prstGeom prst="line">
              <a:avLst/>
            </a:prstGeom>
            <a:ln w="28575" cap="sq" cmpd="sng">
              <a:solidFill>
                <a:schemeClr val="tx1"/>
              </a:solidFill>
              <a:prstDash val="solid"/>
              <a:round/>
              <a:headEnd type="none" w="med" len="med"/>
              <a:tailEnd type="none" w="med" len="med"/>
            </a:ln>
          </p:spPr>
        </p:sp>
        <p:sp>
          <p:nvSpPr>
            <p:cNvPr id="13420" name="Line 104"/>
            <p:cNvSpPr/>
            <p:nvPr/>
          </p:nvSpPr>
          <p:spPr>
            <a:xfrm>
              <a:off x="0" y="650"/>
              <a:ext cx="0" cy="5642"/>
            </a:xfrm>
            <a:prstGeom prst="line">
              <a:avLst/>
            </a:prstGeom>
            <a:ln w="28575" cap="sq" cmpd="sng">
              <a:solidFill>
                <a:schemeClr val="tx1"/>
              </a:solidFill>
              <a:prstDash val="solid"/>
              <a:round/>
              <a:headEnd type="none" w="med" len="med"/>
              <a:tailEnd type="none" w="med" len="med"/>
            </a:ln>
          </p:spPr>
        </p:sp>
        <p:sp>
          <p:nvSpPr>
            <p:cNvPr id="13421" name="Line 105"/>
            <p:cNvSpPr/>
            <p:nvPr/>
          </p:nvSpPr>
          <p:spPr>
            <a:xfrm>
              <a:off x="968" y="650"/>
              <a:ext cx="0" cy="5642"/>
            </a:xfrm>
            <a:prstGeom prst="line">
              <a:avLst/>
            </a:prstGeom>
            <a:ln w="12700" cap="flat" cmpd="sng">
              <a:solidFill>
                <a:schemeClr val="tx1"/>
              </a:solidFill>
              <a:prstDash val="solid"/>
              <a:round/>
              <a:headEnd type="none" w="med" len="med"/>
              <a:tailEnd type="none" w="med" len="med"/>
            </a:ln>
          </p:spPr>
        </p:sp>
        <p:sp>
          <p:nvSpPr>
            <p:cNvPr id="13422" name="Line 106"/>
            <p:cNvSpPr/>
            <p:nvPr/>
          </p:nvSpPr>
          <p:spPr>
            <a:xfrm>
              <a:off x="2058" y="650"/>
              <a:ext cx="0" cy="5642"/>
            </a:xfrm>
            <a:prstGeom prst="line">
              <a:avLst/>
            </a:prstGeom>
            <a:ln w="12700" cap="flat" cmpd="sng">
              <a:solidFill>
                <a:schemeClr val="tx1"/>
              </a:solidFill>
              <a:prstDash val="solid"/>
              <a:round/>
              <a:headEnd type="none" w="med" len="med"/>
              <a:tailEnd type="none" w="med" len="med"/>
            </a:ln>
          </p:spPr>
        </p:sp>
        <p:sp>
          <p:nvSpPr>
            <p:cNvPr id="13423" name="Line 107"/>
            <p:cNvSpPr/>
            <p:nvPr/>
          </p:nvSpPr>
          <p:spPr>
            <a:xfrm>
              <a:off x="3511" y="650"/>
              <a:ext cx="0" cy="5642"/>
            </a:xfrm>
            <a:prstGeom prst="line">
              <a:avLst/>
            </a:prstGeom>
            <a:ln w="28575" cap="sq" cmpd="sng">
              <a:solidFill>
                <a:schemeClr val="tx1"/>
              </a:solidFill>
              <a:prstDash val="solid"/>
              <a:round/>
              <a:headEnd type="none" w="med" len="med"/>
              <a:tailEnd type="none" w="med" len="med"/>
            </a:ln>
          </p:spPr>
        </p:sp>
        <p:sp>
          <p:nvSpPr>
            <p:cNvPr id="13424" name="Line 108"/>
            <p:cNvSpPr/>
            <p:nvPr/>
          </p:nvSpPr>
          <p:spPr>
            <a:xfrm>
              <a:off x="0" y="4188"/>
              <a:ext cx="3511" cy="0"/>
            </a:xfrm>
            <a:prstGeom prst="line">
              <a:avLst/>
            </a:prstGeom>
            <a:ln w="12700" cap="flat" cmpd="sng">
              <a:solidFill>
                <a:schemeClr val="tx1"/>
              </a:solidFill>
              <a:prstDash val="solid"/>
              <a:round/>
              <a:headEnd type="none" w="med" len="med"/>
              <a:tailEnd type="none" w="med" len="med"/>
            </a:ln>
          </p:spPr>
        </p:sp>
        <p:sp>
          <p:nvSpPr>
            <p:cNvPr id="13425" name="Line 109"/>
            <p:cNvSpPr/>
            <p:nvPr/>
          </p:nvSpPr>
          <p:spPr>
            <a:xfrm>
              <a:off x="0" y="5590"/>
              <a:ext cx="3511" cy="0"/>
            </a:xfrm>
            <a:prstGeom prst="line">
              <a:avLst/>
            </a:prstGeom>
            <a:ln w="12700" cap="flat" cmpd="sng">
              <a:solidFill>
                <a:schemeClr val="tx1"/>
              </a:solidFill>
              <a:prstDash val="solid"/>
              <a:round/>
              <a:headEnd type="none" w="med" len="med"/>
              <a:tailEnd type="none" w="med" len="med"/>
            </a:ln>
          </p:spPr>
        </p:sp>
        <p:sp>
          <p:nvSpPr>
            <p:cNvPr id="13426" name="Line 110"/>
            <p:cNvSpPr/>
            <p:nvPr/>
          </p:nvSpPr>
          <p:spPr>
            <a:xfrm>
              <a:off x="0" y="4889"/>
              <a:ext cx="3511" cy="0"/>
            </a:xfrm>
            <a:prstGeom prst="line">
              <a:avLst/>
            </a:prstGeom>
            <a:ln w="12700" cap="flat" cmpd="sng">
              <a:solidFill>
                <a:schemeClr val="tx1"/>
              </a:solidFill>
              <a:prstDash val="solid"/>
              <a:round/>
              <a:headEnd type="none" w="med" len="med"/>
              <a:tailEnd type="none" w="med" len="med"/>
            </a:ln>
          </p:spPr>
        </p:sp>
        <p:sp>
          <p:nvSpPr>
            <p:cNvPr id="13427" name="Text Box 113"/>
            <p:cNvSpPr txBox="1"/>
            <p:nvPr/>
          </p:nvSpPr>
          <p:spPr>
            <a:xfrm>
              <a:off x="0" y="0"/>
              <a:ext cx="2782" cy="580"/>
            </a:xfrm>
            <a:prstGeom prst="rect">
              <a:avLst/>
            </a:prstGeom>
            <a:noFill/>
            <a:ln w="9525">
              <a:noFill/>
            </a:ln>
          </p:spPr>
          <p:txBody>
            <a:bodyPr anchor="t">
              <a:spAutoFit/>
            </a:bodyPr>
            <a:lstStyle/>
            <a:p>
              <a:pPr>
                <a:spcBef>
                  <a:spcPct val="50000"/>
                </a:spcBef>
              </a:pPr>
              <a:r>
                <a:rPr lang="en-US" altLang="zh-CN" b="1" dirty="0">
                  <a:solidFill>
                    <a:schemeClr val="tx1"/>
                  </a:solidFill>
                  <a:latin typeface="Arial" panose="020B0604020202020204" pitchFamily="34" charset="0"/>
                </a:rPr>
                <a:t>enrollment</a:t>
              </a:r>
            </a:p>
          </p:txBody>
        </p:sp>
      </p:gr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17</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333"/>
                                        </p:tgtEl>
                                        <p:attrNameLst>
                                          <p:attrName>style.visibility</p:attrName>
                                        </p:attrNameLst>
                                      </p:cBhvr>
                                      <p:to>
                                        <p:strVal val="visible"/>
                                      </p:to>
                                    </p:set>
                                    <p:anim calcmode="lin" valueType="num">
                                      <p:cBhvr>
                                        <p:cTn id="7" dur="500" fill="hold"/>
                                        <p:tgtEl>
                                          <p:spTgt spid="12333"/>
                                        </p:tgtEl>
                                        <p:attrNameLst>
                                          <p:attrName>ppt_x</p:attrName>
                                        </p:attrNameLst>
                                      </p:cBhvr>
                                      <p:tavLst>
                                        <p:tav tm="0">
                                          <p:val>
                                            <p:strVal val="#ppt_x"/>
                                          </p:val>
                                        </p:tav>
                                        <p:tav tm="100000">
                                          <p:val>
                                            <p:strVal val="#ppt_x"/>
                                          </p:val>
                                        </p:tav>
                                      </p:tavLst>
                                    </p:anim>
                                    <p:anim calcmode="lin" valueType="num">
                                      <p:cBhvr>
                                        <p:cTn id="8" dur="500" fill="hold"/>
                                        <p:tgtEl>
                                          <p:spTgt spid="1233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nodeType="afterEffect">
                                  <p:stCondLst>
                                    <p:cond delay="0"/>
                                  </p:stCondLst>
                                  <p:childTnLst>
                                    <p:set>
                                      <p:cBhvr>
                                        <p:cTn id="11" dur="1" fill="hold">
                                          <p:stCondLst>
                                            <p:cond delay="0"/>
                                          </p:stCondLst>
                                        </p:cTn>
                                        <p:tgtEl>
                                          <p:spTgt spid="12366"/>
                                        </p:tgtEl>
                                        <p:attrNameLst>
                                          <p:attrName>style.visibility</p:attrName>
                                        </p:attrNameLst>
                                      </p:cBhvr>
                                      <p:to>
                                        <p:strVal val="visible"/>
                                      </p:to>
                                    </p:set>
                                    <p:anim calcmode="lin" valueType="num">
                                      <p:cBhvr>
                                        <p:cTn id="12" dur="500" fill="hold"/>
                                        <p:tgtEl>
                                          <p:spTgt spid="12366"/>
                                        </p:tgtEl>
                                        <p:attrNameLst>
                                          <p:attrName>ppt_x</p:attrName>
                                        </p:attrNameLst>
                                      </p:cBhvr>
                                      <p:tavLst>
                                        <p:tav tm="0">
                                          <p:val>
                                            <p:strVal val="1+#ppt_w/2"/>
                                          </p:val>
                                        </p:tav>
                                        <p:tav tm="100000">
                                          <p:val>
                                            <p:strVal val="#ppt_x"/>
                                          </p:val>
                                        </p:tav>
                                      </p:tavLst>
                                    </p:anim>
                                    <p:anim calcmode="lin" valueType="num">
                                      <p:cBhvr>
                                        <p:cTn id="13" dur="500" fill="hold"/>
                                        <p:tgtEl>
                                          <p:spTgt spid="12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14340" name="Rectangle 3"/>
          <p:cNvSpPr>
            <a:spLocks noGrp="1"/>
          </p:cNvSpPr>
          <p:nvPr>
            <p:ph idx="1"/>
          </p:nvPr>
        </p:nvSpPr>
        <p:spPr/>
        <p:txBody>
          <a:bodyPr wrap="square" anchor="t"/>
          <a:lstStyle/>
          <a:p>
            <a:pPr marL="457200" indent="-457200" eaLnBrk="1" hangingPunct="1">
              <a:lnSpc>
                <a:spcPct val="100000"/>
              </a:lnSpc>
              <a:spcBef>
                <a:spcPct val="0"/>
              </a:spcBef>
              <a:buFont typeface="+mj-lt"/>
              <a:buAutoNum type="arabicPeriod" startAt="3"/>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数据库管理系统</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Database Management System，</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 </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DBMS</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p>
          <a:p>
            <a:pPr lvl="1" eaLnBrk="1" hangingPunct="1">
              <a:lnSpc>
                <a:spcPct val="100000"/>
              </a:lnSpc>
              <a:spcBef>
                <a:spcPct val="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位于用户（应用程序）与数据库（操作系统）之间的一层数据管理软件，</a:t>
            </a:r>
            <a:r>
              <a:rPr lang="zh-CN" altLang="en-US" dirty="0">
                <a:cs typeface="楷体" panose="02010609060101010101" charset="-122"/>
                <a:sym typeface="Wingdings 3" panose="05040102010807070707" pitchFamily="2" charset="2"/>
              </a:rPr>
              <a:t>是一种用于</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管理数据库的大型系统软件。</a:t>
            </a:r>
            <a:endParaRPr lang="zh-CN" altLang="en-US" sz="12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是在文件管理系统的基础上发展起来的，它区别于其它计算机软件系统的特点在于：</a:t>
            </a: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能对持久性数据进行管理</a:t>
            </a: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能对大量数据进行有效存取</a:t>
            </a: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可实现数据共享（众多用户可使用同一数据）</a:t>
            </a:r>
            <a:endParaRPr lang="zh-CN" altLang="en-US" sz="12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的作用：</a:t>
            </a:r>
            <a:r>
              <a:rPr lang="zh-CN" altLang="en-US" dirty="0">
                <a:solidFill>
                  <a:srgbClr val="FF0000"/>
                </a:solidFill>
                <a:sym typeface="+mn-ea"/>
              </a:rPr>
              <a:t>科学地组织和存储数据、高效地获取和维护数据</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是数据库应用程序与数据库之间的访问接口</a:t>
            </a: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在保证数据安全、可靠的同时，提高数据库应用时的简明性和方便性</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18</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2" end="2"/>
                                            </p:txEl>
                                          </p:spTgt>
                                        </p:tgtEl>
                                        <p:attrNameLst>
                                          <p:attrName>style.visibility</p:attrName>
                                        </p:attrNameLst>
                                      </p:cBhvr>
                                      <p:to>
                                        <p:strVal val="visible"/>
                                      </p:to>
                                    </p:set>
                                    <p:animEffect transition="in" filter="blinds(horizontal)">
                                      <p:cBhvr>
                                        <p:cTn id="7" dur="500"/>
                                        <p:tgtEl>
                                          <p:spTgt spid="1434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40">
                                            <p:txEl>
                                              <p:pRg st="3" end="3"/>
                                            </p:txEl>
                                          </p:spTgt>
                                        </p:tgtEl>
                                        <p:attrNameLst>
                                          <p:attrName>style.visibility</p:attrName>
                                        </p:attrNameLst>
                                      </p:cBhvr>
                                      <p:to>
                                        <p:strVal val="visible"/>
                                      </p:to>
                                    </p:set>
                                    <p:animEffect transition="in" filter="blinds(horizontal)">
                                      <p:cBhvr>
                                        <p:cTn id="10" dur="500"/>
                                        <p:tgtEl>
                                          <p:spTgt spid="14340">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40">
                                            <p:txEl>
                                              <p:pRg st="4" end="4"/>
                                            </p:txEl>
                                          </p:spTgt>
                                        </p:tgtEl>
                                        <p:attrNameLst>
                                          <p:attrName>style.visibility</p:attrName>
                                        </p:attrNameLst>
                                      </p:cBhvr>
                                      <p:to>
                                        <p:strVal val="visible"/>
                                      </p:to>
                                    </p:set>
                                    <p:animEffect transition="in" filter="blinds(horizontal)">
                                      <p:cBhvr>
                                        <p:cTn id="13" dur="500"/>
                                        <p:tgtEl>
                                          <p:spTgt spid="14340">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340">
                                            <p:txEl>
                                              <p:pRg st="5" end="5"/>
                                            </p:txEl>
                                          </p:spTgt>
                                        </p:tgtEl>
                                        <p:attrNameLst>
                                          <p:attrName>style.visibility</p:attrName>
                                        </p:attrNameLst>
                                      </p:cBhvr>
                                      <p:to>
                                        <p:strVal val="visible"/>
                                      </p:to>
                                    </p:set>
                                    <p:animEffect transition="in" filter="blinds(horizontal)">
                                      <p:cBhvr>
                                        <p:cTn id="16" dur="500"/>
                                        <p:tgtEl>
                                          <p:spTgt spid="14340">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4340">
                                            <p:txEl>
                                              <p:pRg st="6" end="6"/>
                                            </p:txEl>
                                          </p:spTgt>
                                        </p:tgtEl>
                                        <p:attrNameLst>
                                          <p:attrName>style.visibility</p:attrName>
                                        </p:attrNameLst>
                                      </p:cBhvr>
                                      <p:to>
                                        <p:strVal val="visible"/>
                                      </p:to>
                                    </p:set>
                                    <p:animEffect transition="in" filter="blinds(horizontal)">
                                      <p:cBhvr>
                                        <p:cTn id="21" dur="500"/>
                                        <p:tgtEl>
                                          <p:spTgt spid="14340">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4340">
                                            <p:txEl>
                                              <p:pRg st="7" end="7"/>
                                            </p:txEl>
                                          </p:spTgt>
                                        </p:tgtEl>
                                        <p:attrNameLst>
                                          <p:attrName>style.visibility</p:attrName>
                                        </p:attrNameLst>
                                      </p:cBhvr>
                                      <p:to>
                                        <p:strVal val="visible"/>
                                      </p:to>
                                    </p:set>
                                    <p:animEffect transition="in" filter="blinds(horizontal)">
                                      <p:cBhvr>
                                        <p:cTn id="24" dur="500"/>
                                        <p:tgtEl>
                                          <p:spTgt spid="14340">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4340">
                                            <p:txEl>
                                              <p:pRg st="8" end="8"/>
                                            </p:txEl>
                                          </p:spTgt>
                                        </p:tgtEl>
                                        <p:attrNameLst>
                                          <p:attrName>style.visibility</p:attrName>
                                        </p:attrNameLst>
                                      </p:cBhvr>
                                      <p:to>
                                        <p:strVal val="visible"/>
                                      </p:to>
                                    </p:set>
                                    <p:animEffect transition="in" filter="blinds(horizontal)">
                                      <p:cBhvr>
                                        <p:cTn id="27" dur="500"/>
                                        <p:tgtEl>
                                          <p:spTgt spid="1434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p:cNvSpPr>
          <p:nvPr>
            <p:ph type="title"/>
          </p:nvPr>
        </p:nvSpPr>
        <p:spPr/>
        <p:txBody>
          <a:bodyPr wrap="square" tIns="0" bIns="0" anchor="ctr"/>
          <a:lstStyle/>
          <a:p>
            <a:pPr algn="ctr" eaLnBrk="1" hangingPunct="1"/>
            <a:r>
              <a:rPr lang="zh-CN" altLang="en-US" sz="2800"/>
              <a:t>数据库管理系统的功能（</a:t>
            </a:r>
            <a:r>
              <a:rPr lang="en-US" altLang="zh-CN" sz="2800"/>
              <a:t>1</a:t>
            </a:r>
            <a:r>
              <a:rPr lang="zh-CN" altLang="en-US" sz="2800"/>
              <a:t>）</a:t>
            </a:r>
          </a:p>
        </p:txBody>
      </p:sp>
      <p:sp>
        <p:nvSpPr>
          <p:cNvPr id="2" name="内容占位符 1"/>
          <p:cNvSpPr>
            <a:spLocks noGrp="1"/>
          </p:cNvSpPr>
          <p:nvPr>
            <p:ph idx="1"/>
          </p:nvPr>
        </p:nvSpPr>
        <p:spPr/>
        <p:txBody>
          <a:bodyPr>
            <a:noAutofit/>
          </a:bodyPr>
          <a:lstStyle/>
          <a:p>
            <a:pPr marL="0" indent="0">
              <a:lnSpc>
                <a:spcPct val="100000"/>
              </a:lnSpc>
              <a:spcBef>
                <a:spcPct val="0"/>
              </a:spcBef>
              <a:buNone/>
            </a:pPr>
            <a:r>
              <a:rPr lang="zh-CN" altLang="en-US">
                <a:solidFill>
                  <a:srgbClr val="FF0000"/>
                </a:solidFill>
              </a:rPr>
              <a:t>（</a:t>
            </a:r>
            <a:r>
              <a:rPr lang="en-US" altLang="zh-CN">
                <a:solidFill>
                  <a:srgbClr val="FF0000"/>
                </a:solidFill>
              </a:rPr>
              <a:t>1）数据定义功能</a:t>
            </a:r>
            <a:endParaRPr lang="zh-CN" altLang="en-US">
              <a:solidFill>
                <a:srgbClr val="FF0000"/>
              </a:solidFill>
            </a:endParaRPr>
          </a:p>
          <a:p>
            <a:pPr lvl="1">
              <a:lnSpc>
                <a:spcPct val="100000"/>
              </a:lnSpc>
              <a:spcBef>
                <a:spcPct val="0"/>
              </a:spcBef>
            </a:pPr>
            <a:r>
              <a:rPr lang="zh-CN" altLang="en-US"/>
              <a:t>提供数据定义语言</a:t>
            </a:r>
            <a:r>
              <a:rPr lang="en-US" altLang="zh-CN"/>
              <a:t>(Data Definition Language,DDL)</a:t>
            </a:r>
            <a:endParaRPr lang="zh-CN" altLang="en-US"/>
          </a:p>
          <a:p>
            <a:pPr lvl="1">
              <a:lnSpc>
                <a:spcPct val="100000"/>
              </a:lnSpc>
              <a:spcBef>
                <a:spcPct val="0"/>
              </a:spcBef>
            </a:pPr>
            <a:r>
              <a:rPr lang="zh-CN" altLang="en-US"/>
              <a:t>定义数据库中的数据对象（数据模式</a:t>
            </a:r>
            <a:r>
              <a:rPr lang="en-US" altLang="zh-CN"/>
              <a:t> data schema</a:t>
            </a:r>
            <a:r>
              <a:rPr lang="zh-CN" altLang="en-US"/>
              <a:t>）</a:t>
            </a:r>
          </a:p>
          <a:p>
            <a:pPr marL="0" indent="0">
              <a:lnSpc>
                <a:spcPct val="100000"/>
              </a:lnSpc>
              <a:spcBef>
                <a:spcPts val="2000"/>
              </a:spcBef>
              <a:buNone/>
            </a:pPr>
            <a:r>
              <a:rPr lang="zh-CN" altLang="en-US">
                <a:solidFill>
                  <a:srgbClr val="FF0000"/>
                </a:solidFill>
              </a:rPr>
              <a:t>（</a:t>
            </a:r>
            <a:r>
              <a:rPr lang="en-US" altLang="zh-CN">
                <a:solidFill>
                  <a:srgbClr val="FF0000"/>
                </a:solidFill>
              </a:rPr>
              <a:t>2</a:t>
            </a:r>
            <a:r>
              <a:rPr lang="zh-CN" altLang="en-US">
                <a:solidFill>
                  <a:srgbClr val="FF0000"/>
                </a:solidFill>
              </a:rPr>
              <a:t>）数据组织、存储和管理</a:t>
            </a:r>
          </a:p>
          <a:p>
            <a:pPr lvl="1">
              <a:lnSpc>
                <a:spcPct val="100000"/>
              </a:lnSpc>
              <a:spcBef>
                <a:spcPct val="0"/>
              </a:spcBef>
            </a:pPr>
            <a:r>
              <a:rPr lang="zh-CN" altLang="en-US" dirty="0">
                <a:sym typeface="+mn-ea"/>
              </a:rPr>
              <a:t>分类组织、存储和管理各种数据</a:t>
            </a:r>
          </a:p>
          <a:p>
            <a:pPr lvl="1">
              <a:lnSpc>
                <a:spcPct val="100000"/>
              </a:lnSpc>
              <a:spcBef>
                <a:spcPct val="0"/>
              </a:spcBef>
            </a:pPr>
            <a:r>
              <a:rPr lang="zh-CN" altLang="en-US"/>
              <a:t>确定数据的存储方式（文件结构、存储组织等），实现数据之间的联系</a:t>
            </a:r>
          </a:p>
          <a:p>
            <a:pPr lvl="1">
              <a:lnSpc>
                <a:spcPct val="100000"/>
              </a:lnSpc>
              <a:spcBef>
                <a:spcPct val="0"/>
              </a:spcBef>
            </a:pPr>
            <a:r>
              <a:rPr lang="zh-CN" altLang="en-US"/>
              <a:t>提供多种存取方法（顺序扫描、索引扫描、</a:t>
            </a:r>
            <a:r>
              <a:rPr lang="en-US" altLang="zh-CN"/>
              <a:t>HASH</a:t>
            </a:r>
            <a:r>
              <a:rPr lang="zh-CN" altLang="en-US"/>
              <a:t>扫描等），提高存取效率</a:t>
            </a:r>
          </a:p>
          <a:p>
            <a:pPr marL="0" indent="0">
              <a:lnSpc>
                <a:spcPct val="100000"/>
              </a:lnSpc>
              <a:spcBef>
                <a:spcPts val="2000"/>
              </a:spcBef>
              <a:buNone/>
            </a:pPr>
            <a:r>
              <a:rPr lang="zh-CN" altLang="en-US">
                <a:solidFill>
                  <a:srgbClr val="FF0000"/>
                </a:solidFill>
              </a:rPr>
              <a:t>（</a:t>
            </a:r>
            <a:r>
              <a:rPr lang="en-US" altLang="zh-CN">
                <a:solidFill>
                  <a:srgbClr val="FF0000"/>
                </a:solidFill>
              </a:rPr>
              <a:t>3）数据操纵功能</a:t>
            </a:r>
            <a:endParaRPr lang="zh-CN" altLang="en-US">
              <a:solidFill>
                <a:srgbClr val="FF0000"/>
              </a:solidFill>
            </a:endParaRPr>
          </a:p>
          <a:p>
            <a:pPr lvl="1">
              <a:lnSpc>
                <a:spcPct val="100000"/>
              </a:lnSpc>
              <a:spcBef>
                <a:spcPct val="0"/>
              </a:spcBef>
            </a:pPr>
            <a:r>
              <a:rPr lang="zh-CN" altLang="en-US"/>
              <a:t>提供数据操纵语言</a:t>
            </a:r>
            <a:r>
              <a:rPr lang="en-US" altLang="zh-CN"/>
              <a:t>(Data Manipulation Language,DML)</a:t>
            </a:r>
            <a:endParaRPr lang="zh-CN" altLang="en-US"/>
          </a:p>
          <a:p>
            <a:pPr lvl="1">
              <a:lnSpc>
                <a:spcPct val="100000"/>
              </a:lnSpc>
              <a:spcBef>
                <a:spcPct val="0"/>
              </a:spcBef>
            </a:pPr>
            <a:r>
              <a:rPr lang="zh-CN" altLang="en-US"/>
              <a:t>实现对数据库中数据的基本操作</a:t>
            </a:r>
            <a:r>
              <a:rPr lang="en-US" altLang="zh-CN"/>
              <a:t>(</a:t>
            </a:r>
            <a:r>
              <a:rPr lang="zh-CN" altLang="en-US"/>
              <a:t>查询</a:t>
            </a:r>
            <a:r>
              <a:rPr lang="en-US" altLang="zh-CN"/>
              <a:t>,</a:t>
            </a:r>
            <a:r>
              <a:rPr lang="zh-CN" altLang="en-US"/>
              <a:t>插入</a:t>
            </a:r>
            <a:r>
              <a:rPr lang="en-US" altLang="zh-CN"/>
              <a:t>,</a:t>
            </a:r>
            <a:r>
              <a:rPr lang="zh-CN" altLang="en-US"/>
              <a:t>删除</a:t>
            </a:r>
            <a:r>
              <a:rPr lang="en-US" altLang="zh-CN"/>
              <a:t>,</a:t>
            </a:r>
            <a:r>
              <a:rPr lang="zh-CN" altLang="en-US"/>
              <a:t>修改等）</a:t>
            </a:r>
            <a:endParaRPr lang="zh-CN" altLang="en-US">
              <a:solidFill>
                <a:srgbClr val="FF0000"/>
              </a:solidFill>
            </a:endParaRPr>
          </a:p>
        </p:txBody>
      </p:sp>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19</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 calcmode="lin" valueType="num">
                                      <p:cBhvr additive="base">
                                        <p:cTn id="3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 calcmode="lin" valueType="num">
                                      <p:cBhvr additive="base">
                                        <p:cTn id="3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 calcmode="lin" valueType="num">
                                      <p:cBhvr additive="base">
                                        <p:cTn id="4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 calcmode="lin" valueType="num">
                                      <p:cBhvr additive="base">
                                        <p:cTn id="47"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p:cNvSpPr>
          <p:nvPr>
            <p:ph type="title"/>
          </p:nvPr>
        </p:nvSpPr>
        <p:spPr/>
        <p:txBody>
          <a:bodyPr wrap="square" tIns="0" bIns="0" anchor="ctr"/>
          <a:lstStyle/>
          <a:p>
            <a:pPr algn="ctr" eaLnBrk="1" hangingPunct="1"/>
            <a:r>
              <a:rPr lang="zh-CN" altLang="en-US" sz="2800"/>
              <a:t>数据库管理系统的功能（</a:t>
            </a:r>
            <a:r>
              <a:rPr lang="en-US" altLang="zh-CN" sz="2800"/>
              <a:t>2</a:t>
            </a:r>
            <a:r>
              <a:rPr lang="zh-CN" altLang="en-US" sz="2800"/>
              <a:t>）</a:t>
            </a:r>
          </a:p>
        </p:txBody>
      </p:sp>
      <p:sp>
        <p:nvSpPr>
          <p:cNvPr id="2" name="内容占位符 1"/>
          <p:cNvSpPr>
            <a:spLocks noGrp="1"/>
          </p:cNvSpPr>
          <p:nvPr>
            <p:ph idx="1"/>
          </p:nvPr>
        </p:nvSpPr>
        <p:spPr/>
        <p:txBody>
          <a:bodyPr>
            <a:noAutofit/>
          </a:bodyPr>
          <a:lstStyle/>
          <a:p>
            <a:pPr marL="0" indent="0">
              <a:lnSpc>
                <a:spcPct val="100000"/>
              </a:lnSpc>
              <a:spcBef>
                <a:spcPct val="0"/>
              </a:spcBef>
              <a:buNone/>
            </a:pPr>
            <a:r>
              <a:rPr lang="zh-CN" altLang="en-US">
                <a:solidFill>
                  <a:srgbClr val="FF0000"/>
                </a:solidFill>
              </a:rPr>
              <a:t>（</a:t>
            </a:r>
            <a:r>
              <a:rPr lang="en-US" altLang="zh-CN">
                <a:solidFill>
                  <a:srgbClr val="FF0000"/>
                </a:solidFill>
              </a:rPr>
              <a:t>4</a:t>
            </a:r>
            <a:r>
              <a:rPr lang="zh-CN" altLang="en-US">
                <a:solidFill>
                  <a:srgbClr val="FF0000"/>
                </a:solidFill>
              </a:rPr>
              <a:t>）数据库的事务管理和运行管理</a:t>
            </a:r>
            <a:endParaRPr lang="zh-CN" altLang="en-US"/>
          </a:p>
          <a:p>
            <a:pPr lvl="1">
              <a:lnSpc>
                <a:spcPct val="100000"/>
              </a:lnSpc>
              <a:spcBef>
                <a:spcPct val="0"/>
              </a:spcBef>
            </a:pPr>
            <a:r>
              <a:rPr lang="zh-CN" altLang="en-US" dirty="0">
                <a:sym typeface="+mn-ea"/>
              </a:rPr>
              <a:t>数据库在建立、运行和维护时由数据库管理系统统一管理和控制</a:t>
            </a:r>
            <a:endParaRPr lang="zh-CN" altLang="en-US" dirty="0"/>
          </a:p>
          <a:p>
            <a:pPr lvl="1">
              <a:lnSpc>
                <a:spcPct val="100000"/>
              </a:lnSpc>
              <a:spcBef>
                <a:spcPct val="0"/>
              </a:spcBef>
            </a:pPr>
            <a:r>
              <a:rPr lang="zh-CN" altLang="en-US" dirty="0">
                <a:sym typeface="+mn-ea"/>
              </a:rPr>
              <a:t>保证数据的安全性、完整性、多用户对数据的并发使用（</a:t>
            </a:r>
            <a:r>
              <a:rPr lang="zh-CN" altLang="en-US" dirty="0">
                <a:solidFill>
                  <a:srgbClr val="FF0000"/>
                </a:solidFill>
                <a:sym typeface="+mn-ea"/>
              </a:rPr>
              <a:t>事务管理</a:t>
            </a:r>
            <a:r>
              <a:rPr lang="zh-CN" altLang="en-US" dirty="0">
                <a:sym typeface="+mn-ea"/>
              </a:rPr>
              <a:t>）</a:t>
            </a:r>
            <a:endParaRPr lang="zh-CN" altLang="en-US" dirty="0"/>
          </a:p>
          <a:p>
            <a:pPr lvl="1">
              <a:lnSpc>
                <a:spcPct val="100000"/>
              </a:lnSpc>
              <a:spcBef>
                <a:spcPct val="0"/>
              </a:spcBef>
            </a:pPr>
            <a:r>
              <a:rPr lang="zh-CN" altLang="en-US" dirty="0">
                <a:sym typeface="+mn-ea"/>
              </a:rPr>
              <a:t>发生故障后的系统恢复（数据库恢复）</a:t>
            </a:r>
          </a:p>
          <a:p>
            <a:pPr marL="0" indent="0">
              <a:lnSpc>
                <a:spcPct val="100000"/>
              </a:lnSpc>
              <a:spcBef>
                <a:spcPts val="2000"/>
              </a:spcBef>
              <a:buNone/>
            </a:pPr>
            <a:r>
              <a:rPr lang="zh-CN" altLang="en-US">
                <a:solidFill>
                  <a:srgbClr val="FF0000"/>
                </a:solidFill>
              </a:rPr>
              <a:t>（</a:t>
            </a:r>
            <a:r>
              <a:rPr lang="en-US" altLang="zh-CN">
                <a:solidFill>
                  <a:srgbClr val="FF0000"/>
                </a:solidFill>
              </a:rPr>
              <a:t>5</a:t>
            </a:r>
            <a:r>
              <a:rPr lang="zh-CN" altLang="en-US">
                <a:solidFill>
                  <a:srgbClr val="FF0000"/>
                </a:solidFill>
              </a:rPr>
              <a:t>）数据库的建立和维护功能</a:t>
            </a:r>
          </a:p>
          <a:p>
            <a:pPr lvl="1">
              <a:lnSpc>
                <a:spcPct val="100000"/>
              </a:lnSpc>
              <a:spcBef>
                <a:spcPct val="0"/>
              </a:spcBef>
            </a:pPr>
            <a:r>
              <a:rPr lang="zh-CN" altLang="en-US"/>
              <a:t>数据库的建立，初始数据加载与转换</a:t>
            </a:r>
          </a:p>
          <a:p>
            <a:pPr lvl="1">
              <a:lnSpc>
                <a:spcPct val="100000"/>
              </a:lnSpc>
              <a:spcBef>
                <a:spcPct val="0"/>
              </a:spcBef>
            </a:pPr>
            <a:r>
              <a:rPr lang="zh-CN" altLang="en-US"/>
              <a:t>数据库转储，数据库恢复</a:t>
            </a:r>
          </a:p>
          <a:p>
            <a:pPr lvl="1">
              <a:lnSpc>
                <a:spcPct val="100000"/>
              </a:lnSpc>
              <a:spcBef>
                <a:spcPct val="0"/>
              </a:spcBef>
            </a:pPr>
            <a:r>
              <a:rPr lang="zh-CN" altLang="en-US"/>
              <a:t>数据库的重组，性能监视与分析等</a:t>
            </a:r>
          </a:p>
          <a:p>
            <a:pPr marL="0" indent="0">
              <a:lnSpc>
                <a:spcPct val="100000"/>
              </a:lnSpc>
              <a:spcBef>
                <a:spcPts val="2000"/>
              </a:spcBef>
              <a:buNone/>
            </a:pPr>
            <a:r>
              <a:rPr lang="zh-CN" altLang="en-US">
                <a:solidFill>
                  <a:srgbClr val="FF0000"/>
                </a:solidFill>
              </a:rPr>
              <a:t>（</a:t>
            </a:r>
            <a:r>
              <a:rPr lang="en-US" altLang="zh-CN">
                <a:solidFill>
                  <a:srgbClr val="FF0000"/>
                </a:solidFill>
              </a:rPr>
              <a:t>6</a:t>
            </a:r>
            <a:r>
              <a:rPr lang="zh-CN" altLang="en-US">
                <a:solidFill>
                  <a:srgbClr val="FF0000"/>
                </a:solidFill>
              </a:rPr>
              <a:t>）其他功能</a:t>
            </a:r>
          </a:p>
          <a:p>
            <a:pPr lvl="1" algn="l">
              <a:lnSpc>
                <a:spcPct val="100000"/>
              </a:lnSpc>
              <a:spcBef>
                <a:spcPct val="0"/>
              </a:spcBef>
            </a:pPr>
            <a:r>
              <a:rPr lang="zh-CN" altLang="en-US"/>
              <a:t>与网络中其他软件系统的通信</a:t>
            </a:r>
          </a:p>
          <a:p>
            <a:pPr lvl="1" algn="l">
              <a:lnSpc>
                <a:spcPct val="100000"/>
              </a:lnSpc>
              <a:spcBef>
                <a:spcPct val="0"/>
              </a:spcBef>
            </a:pPr>
            <a:r>
              <a:rPr lang="zh-CN" altLang="en-US"/>
              <a:t>数据库管理系统之间的数据转换</a:t>
            </a:r>
          </a:p>
          <a:p>
            <a:pPr lvl="1" algn="l">
              <a:lnSpc>
                <a:spcPct val="100000"/>
              </a:lnSpc>
              <a:spcBef>
                <a:spcPct val="0"/>
              </a:spcBef>
            </a:pPr>
            <a:r>
              <a:rPr lang="zh-CN" altLang="en-US">
                <a:sym typeface="+mn-ea"/>
              </a:rPr>
              <a:t>异构数据库系统之间的</a:t>
            </a:r>
            <a:r>
              <a:rPr lang="zh-CN" altLang="en-US"/>
              <a:t>互访/互操作</a:t>
            </a:r>
          </a:p>
        </p:txBody>
      </p:sp>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20</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blinds(horizontal)">
                                      <p:cBhvr>
                                        <p:cTn id="24" dur="500"/>
                                        <p:tgtEl>
                                          <p:spTgt spid="2">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blinds(horizontal)">
                                      <p:cBhvr>
                                        <p:cTn id="30" dur="500"/>
                                        <p:tgtEl>
                                          <p:spTgt spid="2">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blinds(horizontal)">
                                      <p:cBhvr>
                                        <p:cTn id="35" dur="500"/>
                                        <p:tgtEl>
                                          <p:spTgt spid="2">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blinds(horizontal)">
                                      <p:cBhvr>
                                        <p:cTn id="38" dur="500"/>
                                        <p:tgtEl>
                                          <p:spTgt spid="2">
                                            <p:txEl>
                                              <p:pRg st="9" end="9"/>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animEffect transition="in" filter="blinds(horizontal)">
                                      <p:cBhvr>
                                        <p:cTn id="41" dur="500"/>
                                        <p:tgtEl>
                                          <p:spTgt spid="2">
                                            <p:txEl>
                                              <p:pRg st="10" end="10"/>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
                                            <p:txEl>
                                              <p:pRg st="11" end="11"/>
                                            </p:txEl>
                                          </p:spTgt>
                                        </p:tgtEl>
                                        <p:attrNameLst>
                                          <p:attrName>style.visibility</p:attrName>
                                        </p:attrNameLst>
                                      </p:cBhvr>
                                      <p:to>
                                        <p:strVal val="visible"/>
                                      </p:to>
                                    </p:set>
                                    <p:animEffect transition="in" filter="blinds(horizontal)">
                                      <p:cBhvr>
                                        <p:cTn id="44"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p:cNvSpPr>
          <p:nvPr>
            <p:ph type="title"/>
          </p:nvPr>
        </p:nvSpPr>
        <p:spPr/>
        <p:txBody>
          <a:bodyPr wrap="square" tIns="0" bIns="0" anchor="ctr"/>
          <a:lstStyle/>
          <a:p>
            <a:pPr eaLnBrk="1" hangingPunct="1"/>
            <a:r>
              <a:rPr lang="zh-CN" altLang="en-US" sz="2800"/>
              <a:t>数据库子语言（</a:t>
            </a:r>
            <a:r>
              <a:rPr lang="en-US" altLang="zh-CN" sz="2800"/>
              <a:t>1</a:t>
            </a:r>
            <a:r>
              <a:rPr lang="zh-CN" altLang="en-US" sz="2800"/>
              <a:t>）</a:t>
            </a:r>
          </a:p>
        </p:txBody>
      </p:sp>
      <p:sp>
        <p:nvSpPr>
          <p:cNvPr id="15365" name="Rectangle 3"/>
          <p:cNvSpPr>
            <a:spLocks noGrp="1"/>
          </p:cNvSpPr>
          <p:nvPr>
            <p:ph idx="1"/>
          </p:nvPr>
        </p:nvSpPr>
        <p:spPr>
          <a:xfrm>
            <a:off x="424180" y="615950"/>
            <a:ext cx="9442450" cy="5502910"/>
          </a:xfrm>
        </p:spPr>
        <p:txBody>
          <a:bodyPr wrap="square" anchor="t">
            <a:spAutoFit/>
          </a:bodyPr>
          <a:lstStyle/>
          <a:p>
            <a:pPr eaLnBrk="1" hangingPunct="1">
              <a:lnSpc>
                <a:spcPct val="100000"/>
              </a:lnSpc>
              <a:spcBef>
                <a:spcPts val="1000"/>
              </a:spcBef>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数据子语言（</a:t>
            </a:r>
            <a:r>
              <a:rPr lang="en-US" altLang="zh-CN"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data sub_language）</a:t>
            </a:r>
            <a:endParaRPr lang="en-US" altLang="zh-CN" dirty="0">
              <a:solidFill>
                <a:schemeClr val="tx2"/>
              </a:solidFill>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1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数据定义语言</a:t>
            </a: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Definition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DDL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负责数据模式的定义及数据存取方法的选择</a:t>
            </a: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数据操纵语言</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Manipulation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DML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负责数据的操纵，包括查询及增、删、改等操作</a:t>
            </a: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数据控制语言</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Control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DCL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负责数据的完整性、安全性的定义与检查以及并发控制、故障恢复等功能</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grpSp>
        <p:nvGrpSpPr>
          <p:cNvPr id="15366" name="组合 15365"/>
          <p:cNvGrpSpPr/>
          <p:nvPr/>
        </p:nvGrpSpPr>
        <p:grpSpPr>
          <a:xfrm>
            <a:off x="10270490" y="1197722"/>
            <a:ext cx="917575" cy="4842232"/>
            <a:chOff x="152" y="-187"/>
            <a:chExt cx="578" cy="3287"/>
          </a:xfrm>
        </p:grpSpPr>
        <p:sp>
          <p:nvSpPr>
            <p:cNvPr id="16390" name="AutoShape 4"/>
            <p:cNvSpPr/>
            <p:nvPr/>
          </p:nvSpPr>
          <p:spPr>
            <a:xfrm>
              <a:off x="152" y="0"/>
              <a:ext cx="157" cy="3048"/>
            </a:xfrm>
            <a:prstGeom prst="rightBrace">
              <a:avLst>
                <a:gd name="adj1" fmla="val 70003"/>
                <a:gd name="adj2" fmla="val 51273"/>
              </a:avLst>
            </a:prstGeom>
            <a:noFill/>
            <a:ln w="25400" cap="flat" cmpd="sng">
              <a:solidFill>
                <a:schemeClr val="tx1"/>
              </a:solidFill>
              <a:prstDash val="solid"/>
              <a:round/>
              <a:headEnd type="none" w="med" len="med"/>
              <a:tailEnd type="none" w="med" len="med"/>
            </a:ln>
          </p:spPr>
          <p:txBody>
            <a:bodyPr wrap="none" anchor="ctr"/>
            <a:lstStyle/>
            <a:p>
              <a:pPr algn="ctr"/>
              <a:endParaRPr lang="zh-CN" altLang="en-US" dirty="0">
                <a:latin typeface="Times New Roman" panose="02020603050405020304" pitchFamily="2" charset="0"/>
              </a:endParaRPr>
            </a:p>
          </p:txBody>
        </p:sp>
        <p:sp>
          <p:nvSpPr>
            <p:cNvPr id="16391" name="Text Box 5"/>
            <p:cNvSpPr txBox="1"/>
            <p:nvPr/>
          </p:nvSpPr>
          <p:spPr>
            <a:xfrm>
              <a:off x="344" y="-187"/>
              <a:ext cx="386" cy="3287"/>
            </a:xfrm>
            <a:prstGeom prst="rect">
              <a:avLst/>
            </a:prstGeom>
            <a:noFill/>
            <a:ln w="9525">
              <a:noFill/>
            </a:ln>
          </p:spPr>
          <p:txBody>
            <a:bodyPr vert="eaVert" wrap="square" anchor="t">
              <a:spAutoFit/>
            </a:bodyPr>
            <a:lstStyle/>
            <a:p>
              <a:pPr algn="ctr">
                <a:spcBef>
                  <a:spcPct val="50000"/>
                </a:spcBef>
              </a:pPr>
              <a:r>
                <a:rPr lang="zh-CN" altLang="en-US" sz="2800" dirty="0">
                  <a:solidFill>
                    <a:srgbClr val="FF0000"/>
                  </a:solidFill>
                  <a:latin typeface="Arial" panose="020B0604020202020204" pitchFamily="34" charset="0"/>
                </a:rPr>
                <a:t>统一的关系数据子语言</a:t>
              </a:r>
              <a:r>
                <a:rPr lang="en-US" altLang="zh-CN" sz="2800" dirty="0">
                  <a:solidFill>
                    <a:srgbClr val="FF0000"/>
                  </a:solidFill>
                  <a:latin typeface="Arial" panose="020B0604020202020204" pitchFamily="34" charset="0"/>
                </a:rPr>
                <a:t>  SQL </a:t>
              </a:r>
              <a:endParaRPr lang="zh-CN" altLang="en-US" sz="2800" dirty="0">
                <a:solidFill>
                  <a:srgbClr val="FF0000"/>
                </a:solidFill>
                <a:latin typeface="Arial" panose="020B0604020202020204" pitchFamily="34" charset="0"/>
              </a:endParaRPr>
            </a:p>
          </p:txBody>
        </p:sp>
      </p:grpSp>
      <p:sp>
        <p:nvSpPr>
          <p:cNvPr id="2" name="文本框 1"/>
          <p:cNvSpPr txBox="1"/>
          <p:nvPr/>
        </p:nvSpPr>
        <p:spPr>
          <a:xfrm>
            <a:off x="7625080" y="6039485"/>
            <a:ext cx="4553585" cy="521970"/>
          </a:xfrm>
          <a:prstGeom prst="rect">
            <a:avLst/>
          </a:prstGeom>
          <a:noFill/>
        </p:spPr>
        <p:txBody>
          <a:bodyPr wrap="square" rtlCol="0">
            <a:spAutoFit/>
          </a:bodyPr>
          <a:lstStyle/>
          <a:p>
            <a:r>
              <a:rPr lang="en-US" altLang="zh-CN" sz="2800">
                <a:sym typeface="+mn-ea"/>
              </a:rPr>
              <a:t>( </a:t>
            </a:r>
            <a:r>
              <a:rPr lang="zh-CN" altLang="en-US" sz="2800">
                <a:solidFill>
                  <a:srgbClr val="FF0000"/>
                </a:solidFill>
                <a:sym typeface="+mn-ea"/>
              </a:rPr>
              <a:t>S</a:t>
            </a:r>
            <a:r>
              <a:rPr lang="zh-CN" altLang="en-US" sz="2800">
                <a:sym typeface="+mn-ea"/>
              </a:rPr>
              <a:t>tructured </a:t>
            </a:r>
            <a:r>
              <a:rPr lang="zh-CN" altLang="en-US" sz="2800">
                <a:solidFill>
                  <a:srgbClr val="FF0000"/>
                </a:solidFill>
                <a:sym typeface="+mn-ea"/>
              </a:rPr>
              <a:t>Q</a:t>
            </a:r>
            <a:r>
              <a:rPr lang="zh-CN" altLang="en-US" sz="2800">
                <a:sym typeface="+mn-ea"/>
              </a:rPr>
              <a:t>uery </a:t>
            </a:r>
            <a:r>
              <a:rPr lang="zh-CN" altLang="en-US" sz="2800">
                <a:solidFill>
                  <a:srgbClr val="FF0000"/>
                </a:solidFill>
                <a:sym typeface="+mn-ea"/>
              </a:rPr>
              <a:t>L</a:t>
            </a:r>
            <a:r>
              <a:rPr lang="zh-CN" altLang="en-US" sz="2800">
                <a:sym typeface="+mn-ea"/>
              </a:rPr>
              <a:t>anguage</a:t>
            </a:r>
            <a:r>
              <a:rPr lang="en-US" altLang="zh-CN" sz="2800">
                <a:sym typeface="+mn-ea"/>
              </a:rPr>
              <a:t> )</a:t>
            </a:r>
          </a:p>
        </p:txBody>
      </p:sp>
      <p:sp>
        <p:nvSpPr>
          <p:cNvPr id="4" name="灯片编号占位符 3"/>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21</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5">
                                            <p:txEl>
                                              <p:pRg st="2" end="2"/>
                                            </p:txEl>
                                          </p:spTgt>
                                        </p:tgtEl>
                                        <p:attrNameLst>
                                          <p:attrName>style.visibility</p:attrName>
                                        </p:attrNameLst>
                                      </p:cBhvr>
                                      <p:to>
                                        <p:strVal val="visible"/>
                                      </p:to>
                                    </p:set>
                                    <p:animEffect transition="in" filter="blinds(horizontal)">
                                      <p:cBhvr>
                                        <p:cTn id="7" dur="500"/>
                                        <p:tgtEl>
                                          <p:spTgt spid="1536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5">
                                            <p:txEl>
                                              <p:pRg st="4" end="4"/>
                                            </p:txEl>
                                          </p:spTgt>
                                        </p:tgtEl>
                                        <p:attrNameLst>
                                          <p:attrName>style.visibility</p:attrName>
                                        </p:attrNameLst>
                                      </p:cBhvr>
                                      <p:to>
                                        <p:strVal val="visible"/>
                                      </p:to>
                                    </p:set>
                                    <p:animEffect transition="in" filter="blinds(horizontal)">
                                      <p:cBhvr>
                                        <p:cTn id="12" dur="500"/>
                                        <p:tgtEl>
                                          <p:spTgt spid="1536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5">
                                            <p:txEl>
                                              <p:pRg st="6" end="6"/>
                                            </p:txEl>
                                          </p:spTgt>
                                        </p:tgtEl>
                                        <p:attrNameLst>
                                          <p:attrName>style.visibility</p:attrName>
                                        </p:attrNameLst>
                                      </p:cBhvr>
                                      <p:to>
                                        <p:strVal val="visible"/>
                                      </p:to>
                                    </p:set>
                                    <p:animEffect transition="in" filter="blinds(horizontal)">
                                      <p:cBhvr>
                                        <p:cTn id="17" dur="500"/>
                                        <p:tgtEl>
                                          <p:spTgt spid="1536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nodeType="clickEffect">
                                  <p:stCondLst>
                                    <p:cond delay="0"/>
                                  </p:stCondLst>
                                  <p:childTnLst>
                                    <p:set>
                                      <p:cBhvr>
                                        <p:cTn id="21" dur="1" fill="hold">
                                          <p:stCondLst>
                                            <p:cond delay="0"/>
                                          </p:stCondLst>
                                        </p:cTn>
                                        <p:tgtEl>
                                          <p:spTgt spid="15366"/>
                                        </p:tgtEl>
                                        <p:attrNameLst>
                                          <p:attrName>style.visibility</p:attrName>
                                        </p:attrNameLst>
                                      </p:cBhvr>
                                      <p:to>
                                        <p:strVal val="visible"/>
                                      </p:to>
                                    </p:set>
                                    <p:anim calcmode="lin" valueType="num">
                                      <p:cBhvr>
                                        <p:cTn id="22" dur="500" fill="hold"/>
                                        <p:tgtEl>
                                          <p:spTgt spid="15366"/>
                                        </p:tgtEl>
                                        <p:attrNameLst>
                                          <p:attrName>ppt_x</p:attrName>
                                        </p:attrNameLst>
                                      </p:cBhvr>
                                      <p:tavLst>
                                        <p:tav tm="0">
                                          <p:val>
                                            <p:strVal val="#ppt_x-#ppt_w/2"/>
                                          </p:val>
                                        </p:tav>
                                        <p:tav tm="100000">
                                          <p:val>
                                            <p:strVal val="#ppt_x"/>
                                          </p:val>
                                        </p:tav>
                                      </p:tavLst>
                                    </p:anim>
                                    <p:anim calcmode="lin" valueType="num">
                                      <p:cBhvr>
                                        <p:cTn id="23" dur="500" fill="hold"/>
                                        <p:tgtEl>
                                          <p:spTgt spid="15366"/>
                                        </p:tgtEl>
                                        <p:attrNameLst>
                                          <p:attrName>ppt_y</p:attrName>
                                        </p:attrNameLst>
                                      </p:cBhvr>
                                      <p:tavLst>
                                        <p:tav tm="0">
                                          <p:val>
                                            <p:strVal val="#ppt_y"/>
                                          </p:val>
                                        </p:tav>
                                        <p:tav tm="100000">
                                          <p:val>
                                            <p:strVal val="#ppt_y"/>
                                          </p:val>
                                        </p:tav>
                                      </p:tavLst>
                                    </p:anim>
                                    <p:anim calcmode="lin" valueType="num">
                                      <p:cBhvr>
                                        <p:cTn id="24" dur="500" fill="hold"/>
                                        <p:tgtEl>
                                          <p:spTgt spid="15366"/>
                                        </p:tgtEl>
                                        <p:attrNameLst>
                                          <p:attrName>ppt_w</p:attrName>
                                        </p:attrNameLst>
                                      </p:cBhvr>
                                      <p:tavLst>
                                        <p:tav tm="0">
                                          <p:val>
                                            <p:fltVal val="0"/>
                                          </p:val>
                                        </p:tav>
                                        <p:tav tm="100000">
                                          <p:val>
                                            <p:strVal val="#ppt_w"/>
                                          </p:val>
                                        </p:tav>
                                      </p:tavLst>
                                    </p:anim>
                                    <p:anim calcmode="lin" valueType="num">
                                      <p:cBhvr>
                                        <p:cTn id="25" dur="500" fill="hold"/>
                                        <p:tgtEl>
                                          <p:spTgt spid="1536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p:cNvSpPr>
          <p:nvPr>
            <p:ph type="title"/>
          </p:nvPr>
        </p:nvSpPr>
        <p:spPr/>
        <p:txBody>
          <a:bodyPr wrap="square" tIns="0" bIns="0" anchor="ctr"/>
          <a:lstStyle/>
          <a:p>
            <a:pPr eaLnBrk="1" hangingPunct="1"/>
            <a:r>
              <a:rPr lang="zh-CN" altLang="en-US" sz="2800"/>
              <a:t>数据库子语言（</a:t>
            </a:r>
            <a:r>
              <a:rPr lang="en-US" altLang="zh-CN" sz="2800"/>
              <a:t>2</a:t>
            </a:r>
            <a:r>
              <a:rPr lang="zh-CN" altLang="en-US" sz="2800"/>
              <a:t>）</a:t>
            </a:r>
          </a:p>
        </p:txBody>
      </p:sp>
      <p:sp>
        <p:nvSpPr>
          <p:cNvPr id="17412" name="Rectangle 3"/>
          <p:cNvSpPr>
            <a:spLocks noGrp="1"/>
          </p:cNvSpPr>
          <p:nvPr>
            <p:ph idx="1"/>
          </p:nvPr>
        </p:nvSpPr>
        <p:spPr>
          <a:xfrm>
            <a:off x="424180" y="615950"/>
            <a:ext cx="11343005" cy="5328920"/>
          </a:xfrm>
        </p:spPr>
        <p:txBody>
          <a:bodyPr wrap="square" anchor="t">
            <a:spAutoFit/>
          </a:bodyPr>
          <a:lstStyle/>
          <a:p>
            <a:pPr eaLnBrk="1" hangingPunct="1">
              <a:lnSpc>
                <a:spcPct val="100000"/>
              </a:lnSpc>
              <a:spcBef>
                <a:spcPts val="1000"/>
              </a:spcBef>
              <a:spcAft>
                <a:spcPts val="0"/>
              </a:spcAft>
            </a:pPr>
            <a:r>
              <a:rPr lang="zh-CN" altLang="en-US" dirty="0">
                <a:solidFill>
                  <a:srgbClr val="1F2DA8"/>
                </a:solidFill>
                <a:latin typeface="楷体" panose="02010609060101010101" charset="-122"/>
                <a:ea typeface="楷体" panose="02010609060101010101" charset="-122"/>
                <a:sym typeface="Wingdings 3" panose="05040102010807070707" pitchFamily="2" charset="2"/>
              </a:rPr>
              <a:t>数据子语言的使用方式</a:t>
            </a:r>
            <a:endParaRPr lang="zh-CN" altLang="en-US" sz="1200" dirty="0">
              <a:solidFill>
                <a:srgbClr val="1F2DA8"/>
              </a:solidFill>
              <a:latin typeface="楷体" panose="02010609060101010101" charset="-122"/>
              <a:ea typeface="楷体" panose="02010609060101010101" charset="-122"/>
              <a:sym typeface="Wingdings 3" panose="05040102010807070707" pitchFamily="2" charset="2"/>
            </a:endParaRPr>
          </a:p>
          <a:p>
            <a:pPr lvl="1" eaLnBrk="1" hangingPunct="1">
              <a:lnSpc>
                <a:spcPct val="100000"/>
              </a:lnSpc>
              <a:spcBef>
                <a:spcPts val="1000"/>
              </a:spcBef>
              <a:spcAft>
                <a:spcPts val="0"/>
              </a:spcAft>
            </a:pPr>
            <a:r>
              <a:rPr lang="zh-CN" altLang="en-US" u="sng" dirty="0">
                <a:solidFill>
                  <a:srgbClr val="FF0000"/>
                </a:solidFill>
                <a:latin typeface="楷体" panose="02010609060101010101" charset="-122"/>
                <a:ea typeface="楷体" panose="02010609060101010101" charset="-122"/>
              </a:rPr>
              <a:t>交互式命令语言</a:t>
            </a:r>
            <a:endParaRPr lang="zh-CN" altLang="en-US" dirty="0">
              <a:solidFill>
                <a:schemeClr val="tx2"/>
              </a:solidFill>
              <a:latin typeface="楷体" panose="02010609060101010101" charset="-122"/>
              <a:ea typeface="楷体" panose="02010609060101010101" charset="-122"/>
            </a:endParaRPr>
          </a:p>
          <a:p>
            <a:pPr lvl="2" algn="just"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能在终端上即席操作，又被称为</a:t>
            </a:r>
            <a:r>
              <a:rPr lang="zh-CN" altLang="en-US" dirty="0">
                <a:solidFill>
                  <a:srgbClr val="FF0000"/>
                </a:solidFill>
                <a:latin typeface="楷体" panose="02010609060101010101" charset="-122"/>
                <a:ea typeface="楷体" panose="02010609060101010101" charset="-122"/>
              </a:rPr>
              <a:t>自含型</a:t>
            </a:r>
            <a:r>
              <a:rPr lang="zh-CN" altLang="en-US" dirty="0">
                <a:latin typeface="楷体" panose="02010609060101010101" charset="-122"/>
                <a:ea typeface="楷体" panose="02010609060101010101" charset="-122"/>
              </a:rPr>
              <a:t>或</a:t>
            </a:r>
            <a:r>
              <a:rPr lang="zh-CN" altLang="en-US" dirty="0">
                <a:solidFill>
                  <a:srgbClr val="FF0000"/>
                </a:solidFill>
                <a:latin typeface="楷体" panose="02010609060101010101" charset="-122"/>
                <a:ea typeface="楷体" panose="02010609060101010101" charset="-122"/>
              </a:rPr>
              <a:t>自主型</a:t>
            </a:r>
            <a:r>
              <a:rPr lang="zh-CN" altLang="en-US" dirty="0">
                <a:latin typeface="楷体" panose="02010609060101010101" charset="-122"/>
                <a:ea typeface="楷体" panose="02010609060101010101" charset="-122"/>
              </a:rPr>
              <a:t>语言</a:t>
            </a:r>
          </a:p>
          <a:p>
            <a:pPr lvl="2" algn="just"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能够以</a:t>
            </a:r>
            <a:r>
              <a:rPr lang="zh-CN" altLang="en-US" dirty="0">
                <a:solidFill>
                  <a:srgbClr val="FF0000"/>
                </a:solidFill>
                <a:latin typeface="楷体" panose="02010609060101010101" charset="-122"/>
                <a:ea typeface="楷体" panose="02010609060101010101" charset="-122"/>
              </a:rPr>
              <a:t>命令行交互</a:t>
            </a:r>
            <a:r>
              <a:rPr lang="zh-CN" altLang="en-US" dirty="0">
                <a:latin typeface="楷体" panose="02010609060101010101" charset="-122"/>
                <a:ea typeface="楷体" panose="02010609060101010101" charset="-122"/>
              </a:rPr>
              <a:t>方式或</a:t>
            </a:r>
            <a:r>
              <a:rPr lang="zh-CN" altLang="en-US" dirty="0">
                <a:solidFill>
                  <a:srgbClr val="FF0000"/>
                </a:solidFill>
                <a:latin typeface="楷体" panose="02010609060101010101" charset="-122"/>
                <a:ea typeface="楷体" panose="02010609060101010101" charset="-122"/>
              </a:rPr>
              <a:t>批处理</a:t>
            </a:r>
            <a:r>
              <a:rPr lang="zh-CN" altLang="en-US" dirty="0">
                <a:latin typeface="楷体" panose="02010609060101010101" charset="-122"/>
                <a:ea typeface="楷体" panose="02010609060101010101" charset="-122"/>
              </a:rPr>
              <a:t>方式独立运行</a:t>
            </a:r>
          </a:p>
          <a:p>
            <a:pPr lvl="2" algn="just" eaLnBrk="1" hangingPunct="1">
              <a:lnSpc>
                <a:spcPct val="100000"/>
              </a:lnSpc>
              <a:spcBef>
                <a:spcPts val="1000"/>
              </a:spcBef>
              <a:spcAft>
                <a:spcPts val="0"/>
              </a:spcAft>
              <a:buFont typeface="Arial" panose="020B0604020202020204" pitchFamily="34" charset="0"/>
              <a:buChar char="•"/>
            </a:pPr>
            <a:endParaRPr lang="zh-CN" altLang="en-US" dirty="0">
              <a:solidFill>
                <a:schemeClr val="tx2"/>
              </a:solidFill>
              <a:latin typeface="楷体" panose="02010609060101010101" charset="-122"/>
              <a:ea typeface="楷体" panose="02010609060101010101" charset="-122"/>
            </a:endParaRPr>
          </a:p>
          <a:p>
            <a:pPr lvl="1" eaLnBrk="1" hangingPunct="1">
              <a:lnSpc>
                <a:spcPct val="100000"/>
              </a:lnSpc>
              <a:spcBef>
                <a:spcPts val="1000"/>
              </a:spcBef>
              <a:spcAft>
                <a:spcPts val="0"/>
              </a:spcAft>
            </a:pPr>
            <a:r>
              <a:rPr lang="zh-CN" altLang="en-US" u="sng" dirty="0">
                <a:solidFill>
                  <a:srgbClr val="FF0000"/>
                </a:solidFill>
                <a:latin typeface="楷体" panose="02010609060101010101" charset="-122"/>
                <a:ea typeface="楷体" panose="02010609060101010101" charset="-122"/>
              </a:rPr>
              <a:t>宿主型语言</a:t>
            </a:r>
            <a:endParaRPr lang="zh-CN" altLang="en-US" dirty="0">
              <a:solidFill>
                <a:schemeClr val="tx2"/>
              </a:solidFill>
              <a:latin typeface="楷体" panose="02010609060101010101" charset="-122"/>
              <a:ea typeface="楷体" panose="02010609060101010101" charset="-122"/>
            </a:endParaRPr>
          </a:p>
          <a:p>
            <a:pPr lvl="2"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需要被嵌入到某种</a:t>
            </a:r>
            <a:r>
              <a:rPr lang="en-US" altLang="zh-CN" dirty="0">
                <a:latin typeface="楷体" panose="02010609060101010101" charset="-122"/>
                <a:ea typeface="楷体" panose="02010609060101010101" charset="-122"/>
              </a:rPr>
              <a:t> </a:t>
            </a:r>
            <a:r>
              <a:rPr lang="zh-CN" altLang="en-US" u="sng" dirty="0">
                <a:solidFill>
                  <a:srgbClr val="FF0000"/>
                </a:solidFill>
                <a:latin typeface="楷体" panose="02010609060101010101" charset="-122"/>
                <a:ea typeface="楷体" panose="02010609060101010101" charset="-122"/>
              </a:rPr>
              <a:t>宿主语言</a:t>
            </a:r>
            <a:r>
              <a:rPr lang="en-US" altLang="zh-CN" dirty="0">
                <a:solidFill>
                  <a:srgbClr val="FF0000"/>
                </a:solidFill>
                <a:latin typeface="楷体" panose="02010609060101010101" charset="-122"/>
                <a:ea typeface="楷体" panose="02010609060101010101" charset="-122"/>
              </a:rPr>
              <a:t> </a:t>
            </a:r>
            <a:r>
              <a:rPr lang="zh-CN" altLang="en-US" dirty="0">
                <a:latin typeface="楷体" panose="02010609060101010101" charset="-122"/>
                <a:ea typeface="楷体" panose="02010609060101010101" charset="-122"/>
              </a:rPr>
              <a:t>中</a:t>
            </a:r>
          </a:p>
          <a:p>
            <a:pPr lvl="2" eaLnBrk="1" hangingPunct="1">
              <a:lnSpc>
                <a:spcPct val="100000"/>
              </a:lnSpc>
              <a:spcBef>
                <a:spcPts val="1000"/>
              </a:spcBef>
              <a:spcAft>
                <a:spcPts val="0"/>
              </a:spcAft>
            </a:pP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solidFill>
                  <a:srgbClr val="1F2DA8"/>
                </a:solidFill>
                <a:uFillTx/>
                <a:latin typeface="Arial" panose="020B0604020202020204" pitchFamily="34" charset="0"/>
                <a:ea typeface="楷体" panose="02010609060101010101" charset="-122"/>
                <a:cs typeface="楷体" panose="02010609060101010101" charset="-122"/>
                <a:sym typeface="+mn-ea"/>
              </a:rPr>
              <a:t>宿主语言</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通常是一种高级过程性程序设计语言，从早期的 </a:t>
            </a:r>
            <a:r>
              <a:rPr lang="en-US" altLang="zh-CN" dirty="0">
                <a:latin typeface="楷体" panose="02010609060101010101" charset="-122"/>
                <a:ea typeface="楷体" panose="02010609060101010101" charset="-122"/>
                <a:cs typeface="楷体" panose="02010609060101010101" charset="-122"/>
                <a:sym typeface="+mn-ea"/>
              </a:rPr>
              <a:t>Fortran, Cobol, C/C</a:t>
            </a:r>
            <a:r>
              <a:rPr lang="en-US" altLang="zh-CN" baseline="30000" dirty="0">
                <a:latin typeface="楷体" panose="02010609060101010101" charset="-122"/>
                <a:ea typeface="楷体" panose="02010609060101010101" charset="-122"/>
                <a:cs typeface="楷体" panose="02010609060101010101" charset="-122"/>
                <a:sym typeface="+mn-ea"/>
              </a:rPr>
              <a:t>＋＋ </a:t>
            </a:r>
            <a:r>
              <a:rPr lang="zh-CN" altLang="en-US" dirty="0">
                <a:latin typeface="楷体" panose="02010609060101010101" charset="-122"/>
                <a:ea typeface="楷体" panose="02010609060101010101" charset="-122"/>
                <a:cs typeface="楷体" panose="02010609060101010101" charset="-122"/>
                <a:sym typeface="+mn-ea"/>
              </a:rPr>
              <a:t>到现在的 </a:t>
            </a:r>
            <a:r>
              <a:rPr lang="en-US" altLang="zh-CN" dirty="0">
                <a:latin typeface="楷体" panose="02010609060101010101" charset="-122"/>
                <a:ea typeface="楷体" panose="02010609060101010101" charset="-122"/>
                <a:cs typeface="楷体" panose="02010609060101010101" charset="-122"/>
                <a:sym typeface="+mn-ea"/>
              </a:rPr>
              <a:t>JAVA , Python </a:t>
            </a:r>
            <a:r>
              <a:rPr lang="zh-CN" altLang="en-US" dirty="0">
                <a:latin typeface="楷体" panose="02010609060101010101" charset="-122"/>
                <a:ea typeface="楷体" panose="02010609060101010101" charset="-122"/>
                <a:cs typeface="楷体" panose="02010609060101010101" charset="-122"/>
                <a:sym typeface="+mn-ea"/>
              </a:rPr>
              <a:t>等，可以在其程序中使用</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solidFill>
                  <a:srgbClr val="1F2DA8"/>
                </a:solidFill>
                <a:uFillTx/>
                <a:latin typeface="Arial" panose="020B0604020202020204" pitchFamily="34" charset="0"/>
                <a:ea typeface="楷体" panose="02010609060101010101" charset="-122"/>
                <a:cs typeface="楷体" panose="02010609060101010101" charset="-122"/>
                <a:sym typeface="+mn-ea"/>
              </a:rPr>
              <a:t>数据子语言</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来访问数据库。</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22</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animEffect transition="in" filter="blinds(horizontal)">
                                      <p:cBhvr>
                                        <p:cTn id="7" dur="500"/>
                                        <p:tgtEl>
                                          <p:spTgt spid="1741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412">
                                            <p:txEl>
                                              <p:pRg st="3" end="3"/>
                                            </p:txEl>
                                          </p:spTgt>
                                        </p:tgtEl>
                                        <p:attrNameLst>
                                          <p:attrName>style.visibility</p:attrName>
                                        </p:attrNameLst>
                                      </p:cBhvr>
                                      <p:to>
                                        <p:strVal val="visible"/>
                                      </p:to>
                                    </p:set>
                                    <p:animEffect transition="in" filter="blinds(horizontal)">
                                      <p:cBhvr>
                                        <p:cTn id="10" dur="500"/>
                                        <p:tgtEl>
                                          <p:spTgt spid="1741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7412">
                                            <p:txEl>
                                              <p:pRg st="6" end="6"/>
                                            </p:txEl>
                                          </p:spTgt>
                                        </p:tgtEl>
                                        <p:attrNameLst>
                                          <p:attrName>style.visibility</p:attrName>
                                        </p:attrNameLst>
                                      </p:cBhvr>
                                      <p:to>
                                        <p:strVal val="visible"/>
                                      </p:to>
                                    </p:set>
                                    <p:animEffect transition="in" filter="blinds(horizontal)">
                                      <p:cBhvr>
                                        <p:cTn id="15" dur="500"/>
                                        <p:tgtEl>
                                          <p:spTgt spid="17412">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7412">
                                            <p:txEl>
                                              <p:pRg st="7" end="7"/>
                                            </p:txEl>
                                          </p:spTgt>
                                        </p:tgtEl>
                                        <p:attrNameLst>
                                          <p:attrName>style.visibility</p:attrName>
                                        </p:attrNameLst>
                                      </p:cBhvr>
                                      <p:to>
                                        <p:strVal val="visible"/>
                                      </p:to>
                                    </p:set>
                                    <p:animEffect transition="in" filter="blinds(horizontal)">
                                      <p:cBhvr>
                                        <p:cTn id="18" dur="500"/>
                                        <p:tgtEl>
                                          <p:spTgt spid="174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18437" name="Rectangle 3"/>
          <p:cNvSpPr>
            <a:spLocks noGrp="1"/>
          </p:cNvSpPr>
          <p:nvPr>
            <p:ph idx="1"/>
          </p:nvPr>
        </p:nvSpPr>
        <p:spPr/>
        <p:txBody>
          <a:bodyPr wrap="square" anchor="t"/>
          <a:lstStyle/>
          <a:p>
            <a:pPr marL="514350" indent="-514350" eaLnBrk="1" hangingPunct="1">
              <a:lnSpc>
                <a:spcPct val="100000"/>
              </a:lnSpc>
              <a:spcBef>
                <a:spcPct val="0"/>
              </a:spcBef>
              <a:buFont typeface="+mj-lt"/>
              <a:buAutoNum type="arabicPeriod" startAt="4"/>
            </a:pPr>
            <a:r>
              <a:rPr lang="zh-CN" altLang="en-US" dirty="0">
                <a:solidFill>
                  <a:srgbClr val="1F2DA8"/>
                </a:solidFill>
                <a:latin typeface="楷体" panose="02010609060101010101" charset="-122"/>
                <a:ea typeface="楷体" panose="02010609060101010101" charset="-122"/>
                <a:cs typeface="楷体" panose="02010609060101010101" charset="-122"/>
              </a:rPr>
              <a:t>数据库系统</a:t>
            </a:r>
            <a:r>
              <a:rPr lang="en-US" altLang="zh-CN" dirty="0">
                <a:solidFill>
                  <a:srgbClr val="1F2DA8"/>
                </a:solidFill>
                <a:latin typeface="楷体" panose="02010609060101010101" charset="-122"/>
                <a:ea typeface="楷体" panose="02010609060101010101" charset="-122"/>
                <a:cs typeface="楷体" panose="02010609060101010101" charset="-122"/>
              </a:rPr>
              <a:t> </a:t>
            </a:r>
            <a:r>
              <a:rPr lang="zh-CN" altLang="en-US" dirty="0">
                <a:solidFill>
                  <a:srgbClr val="1F2DA8"/>
                </a:solidFill>
                <a:latin typeface="楷体" panose="02010609060101010101" charset="-122"/>
                <a:ea typeface="楷体" panose="02010609060101010101" charset="-122"/>
                <a:cs typeface="楷体" panose="02010609060101010101" charset="-122"/>
              </a:rPr>
              <a:t>与</a:t>
            </a:r>
            <a:r>
              <a:rPr lang="en-US" altLang="zh-CN" dirty="0">
                <a:solidFill>
                  <a:srgbClr val="1F2DA8"/>
                </a:solidFill>
                <a:latin typeface="楷体" panose="02010609060101010101" charset="-122"/>
                <a:ea typeface="楷体" panose="02010609060101010101" charset="-122"/>
                <a:cs typeface="楷体" panose="02010609060101010101" charset="-122"/>
              </a:rPr>
              <a:t> </a:t>
            </a:r>
            <a:r>
              <a:rPr lang="zh-CN" altLang="en-US" dirty="0">
                <a:solidFill>
                  <a:srgbClr val="1F2DA8"/>
                </a:solidFill>
                <a:latin typeface="楷体" panose="02010609060101010101" charset="-122"/>
                <a:ea typeface="楷体" panose="02010609060101010101" charset="-122"/>
                <a:cs typeface="楷体" panose="02010609060101010101" charset="-122"/>
              </a:rPr>
              <a:t>数据库应用系统</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1" eaLnBrk="1" hangingPunct="1">
              <a:lnSpc>
                <a:spcPct val="100000"/>
              </a:lnSpc>
              <a:spcBef>
                <a:spcPts val="100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数据库系统</a:t>
            </a:r>
            <a:r>
              <a:rPr lang="zh-CN" altLang="en-US" dirty="0">
                <a:cs typeface="楷体" panose="02010609060101010101" charset="-122"/>
                <a:sym typeface="+mn-ea"/>
              </a:rPr>
              <a:t>（</a:t>
            </a:r>
            <a:r>
              <a:rPr lang="en-US" altLang="zh-CN" dirty="0">
                <a:cs typeface="楷体" panose="02010609060101010101" charset="-122"/>
                <a:sym typeface="+mn-ea"/>
              </a:rPr>
              <a:t>Database System，</a:t>
            </a:r>
            <a:r>
              <a:rPr lang="zh-CN" altLang="en-US" dirty="0">
                <a:cs typeface="楷体" panose="02010609060101010101" charset="-122"/>
                <a:sym typeface="+mn-ea"/>
              </a:rPr>
              <a:t>简称</a:t>
            </a:r>
            <a:r>
              <a:rPr lang="en-US" altLang="zh-CN" dirty="0">
                <a:cs typeface="楷体" panose="02010609060101010101" charset="-122"/>
                <a:sym typeface="+mn-ea"/>
              </a:rPr>
              <a:t> </a:t>
            </a:r>
            <a:r>
              <a:rPr lang="en-US" altLang="zh-CN" dirty="0">
                <a:solidFill>
                  <a:srgbClr val="FF0000"/>
                </a:solidFill>
                <a:cs typeface="楷体" panose="02010609060101010101" charset="-122"/>
                <a:sym typeface="+mn-ea"/>
              </a:rPr>
              <a:t>DBS</a:t>
            </a:r>
            <a:r>
              <a:rPr lang="en-US" altLang="zh-CN" dirty="0">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rPr>
              <a:t>是由数据库、数据库管理系统、数据库管理员、</a:t>
            </a:r>
            <a:r>
              <a:rPr lang="zh-CN" altLang="en-US" dirty="0">
                <a:cs typeface="楷体" panose="02010609060101010101" charset="-122"/>
                <a:sym typeface="+mn-ea"/>
              </a:rPr>
              <a:t>支撑系统运行所必须的系统软件和硬件平台</a:t>
            </a:r>
            <a:r>
              <a:rPr lang="zh-CN" altLang="en-US" dirty="0">
                <a:latin typeface="楷体" panose="02010609060101010101" charset="-122"/>
                <a:ea typeface="楷体" panose="02010609060101010101" charset="-122"/>
                <a:cs typeface="楷体" panose="02010609060101010101" charset="-122"/>
              </a:rPr>
              <a:t>组成的存储、管理、处理和维护数据的系统。</a:t>
            </a: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数据库应用系统</a:t>
            </a:r>
            <a:r>
              <a:rPr lang="zh-CN" altLang="en-US" dirty="0">
                <a:latin typeface="楷体" panose="02010609060101010101" charset="-122"/>
                <a:ea typeface="楷体" panose="02010609060101010101" charset="-122"/>
                <a:cs typeface="楷体" panose="02010609060101010101" charset="-122"/>
              </a:rPr>
              <a:t>（</a:t>
            </a:r>
            <a:r>
              <a:rPr lang="en-US" altLang="zh-CN" dirty="0">
                <a:cs typeface="楷体" panose="02010609060101010101" charset="-122"/>
                <a:sym typeface="+mn-ea"/>
              </a:rPr>
              <a:t>Database Application System</a:t>
            </a:r>
            <a:r>
              <a:rPr lang="zh-CN" altLang="en-US" dirty="0">
                <a:latin typeface="楷体" panose="02010609060101010101" charset="-122"/>
                <a:ea typeface="楷体" panose="02010609060101010101" charset="-122"/>
                <a:cs typeface="楷体" panose="02010609060101010101" charset="-122"/>
              </a:rPr>
              <a:t>）是由数据库系统、应用开发工具、应用系统、数据库用户</a:t>
            </a:r>
            <a:r>
              <a:rPr lang="zh-CN" altLang="en-US" dirty="0">
                <a:cs typeface="楷体" panose="02010609060101010101" charset="-122"/>
                <a:sym typeface="+mn-ea"/>
              </a:rPr>
              <a:t>组成的计算机系统。</a:t>
            </a:r>
          </a:p>
          <a:p>
            <a:pPr lvl="1" eaLnBrk="1" hangingPunct="1">
              <a:lnSpc>
                <a:spcPct val="100000"/>
              </a:lnSpc>
              <a:spcBef>
                <a:spcPts val="1000"/>
              </a:spcBef>
            </a:pPr>
            <a:r>
              <a:rPr lang="zh-CN" altLang="en-US" dirty="0">
                <a:cs typeface="楷体" panose="02010609060101010101" charset="-122"/>
                <a:sym typeface="+mn-ea"/>
              </a:rPr>
              <a:t>在不引起混淆的情况下，常常把两者都统称为</a:t>
            </a:r>
            <a:r>
              <a:rPr lang="en-US" altLang="zh-CN" dirty="0">
                <a:cs typeface="楷体" panose="02010609060101010101" charset="-122"/>
                <a:sym typeface="+mn-ea"/>
              </a:rPr>
              <a:t> </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数据库系统</a:t>
            </a:r>
            <a:r>
              <a:rPr lang="en-US" altLang="zh-CN" dirty="0">
                <a:latin typeface="Times New Roman" panose="02020603050405020304" pitchFamily="2" charset="0"/>
                <a:cs typeface="Times New Roman" panose="02020603050405020304" pitchFamily="2" charset="0"/>
                <a:sym typeface="+mn-ea"/>
              </a:rPr>
              <a:t>’</a:t>
            </a:r>
            <a:r>
              <a:rPr lang="zh-CN" altLang="en-US" dirty="0">
                <a:cs typeface="楷体" panose="02010609060101010101" charset="-122"/>
                <a:sym typeface="+mn-ea"/>
              </a:rPr>
              <a:t>。</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ts val="2000"/>
              </a:spcBef>
            </a:pPr>
            <a:r>
              <a:rPr lang="zh-CN" altLang="en-US" dirty="0">
                <a:latin typeface="楷体" panose="02010609060101010101" charset="-122"/>
                <a:ea typeface="楷体" panose="02010609060101010101" charset="-122"/>
                <a:cs typeface="楷体" panose="02010609060101010101" charset="-122"/>
              </a:rPr>
              <a:t>数据库系统的构成</a:t>
            </a: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a:t>
            </a: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数据库管理系统</a:t>
            </a: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数据库管理员</a:t>
            </a:r>
            <a:r>
              <a:rPr lang="en-US" altLang="zh-CN" dirty="0">
                <a:solidFill>
                  <a:srgbClr val="FF0000"/>
                </a:solidFill>
                <a:latin typeface="楷体" panose="02010609060101010101" charset="-122"/>
                <a:ea typeface="楷体" panose="02010609060101010101" charset="-122"/>
                <a:cs typeface="楷体" panose="02010609060101010101" charset="-122"/>
              </a:rPr>
              <a:t> DBA</a:t>
            </a:r>
            <a:endParaRPr lang="zh-CN" altLang="en-US" dirty="0">
              <a:solidFill>
                <a:srgbClr val="FF0000"/>
              </a:solidFill>
              <a:latin typeface="楷体" panose="02010609060101010101" charset="-122"/>
              <a:ea typeface="楷体" panose="02010609060101010101" charset="-122"/>
              <a:cs typeface="楷体" panose="02010609060101010101" charset="-122"/>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23</a:t>
            </a:fld>
            <a:endParaRPr lang="zh-CN" altLang="en-US" strike="noStrike" noProof="1"/>
          </a:p>
        </p:txBody>
      </p:sp>
      <p:sp>
        <p:nvSpPr>
          <p:cNvPr id="2" name="文本框 1"/>
          <p:cNvSpPr txBox="1"/>
          <p:nvPr/>
        </p:nvSpPr>
        <p:spPr>
          <a:xfrm>
            <a:off x="5903595" y="4777105"/>
            <a:ext cx="5715000" cy="1383665"/>
          </a:xfrm>
          <a:prstGeom prst="rect">
            <a:avLst/>
          </a:prstGeom>
          <a:noFill/>
        </p:spPr>
        <p:txBody>
          <a:bodyPr wrap="square" rtlCol="0">
            <a:spAutoFit/>
          </a:bodyPr>
          <a:lstStyle/>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系统硬件平台</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与</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系统软件平台</a:t>
            </a:r>
          </a:p>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应用系统</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与</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应用开发工具</a:t>
            </a:r>
          </a:p>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数据库用户</a:t>
            </a:r>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7">
                                            <p:txEl>
                                              <p:pRg st="2" end="2"/>
                                            </p:txEl>
                                          </p:spTgt>
                                        </p:tgtEl>
                                        <p:attrNameLst>
                                          <p:attrName>style.visibility</p:attrName>
                                        </p:attrNameLst>
                                      </p:cBhvr>
                                      <p:to>
                                        <p:strVal val="visible"/>
                                      </p:to>
                                    </p:set>
                                    <p:animEffect transition="in" filter="blinds(horizontal)">
                                      <p:cBhvr>
                                        <p:cTn id="7" dur="500"/>
                                        <p:tgtEl>
                                          <p:spTgt spid="1843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37">
                                            <p:txEl>
                                              <p:pRg st="3" end="3"/>
                                            </p:txEl>
                                          </p:spTgt>
                                        </p:tgtEl>
                                        <p:attrNameLst>
                                          <p:attrName>style.visibility</p:attrName>
                                        </p:attrNameLst>
                                      </p:cBhvr>
                                      <p:to>
                                        <p:strVal val="visible"/>
                                      </p:to>
                                    </p:set>
                                    <p:animEffect transition="in" filter="blinds(horizontal)">
                                      <p:cBhvr>
                                        <p:cTn id="12" dur="500"/>
                                        <p:tgtEl>
                                          <p:spTgt spid="1843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437">
                                            <p:txEl>
                                              <p:pRg st="4" end="4"/>
                                            </p:txEl>
                                          </p:spTgt>
                                        </p:tgtEl>
                                        <p:attrNameLst>
                                          <p:attrName>style.visibility</p:attrName>
                                        </p:attrNameLst>
                                      </p:cBhvr>
                                      <p:to>
                                        <p:strVal val="visible"/>
                                      </p:to>
                                    </p:set>
                                    <p:anim calcmode="lin" valueType="num">
                                      <p:cBhvr additive="base">
                                        <p:cTn id="17" dur="500" fill="hold"/>
                                        <p:tgtEl>
                                          <p:spTgt spid="1843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7">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437">
                                            <p:txEl>
                                              <p:pRg st="5" end="5"/>
                                            </p:txEl>
                                          </p:spTgt>
                                        </p:tgtEl>
                                        <p:attrNameLst>
                                          <p:attrName>style.visibility</p:attrName>
                                        </p:attrNameLst>
                                      </p:cBhvr>
                                      <p:to>
                                        <p:strVal val="visible"/>
                                      </p:to>
                                    </p:set>
                                    <p:anim calcmode="lin" valueType="num">
                                      <p:cBhvr additive="base">
                                        <p:cTn id="21" dur="500" fill="hold"/>
                                        <p:tgtEl>
                                          <p:spTgt spid="1843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437">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437">
                                            <p:txEl>
                                              <p:pRg st="6" end="6"/>
                                            </p:txEl>
                                          </p:spTgt>
                                        </p:tgtEl>
                                        <p:attrNameLst>
                                          <p:attrName>style.visibility</p:attrName>
                                        </p:attrNameLst>
                                      </p:cBhvr>
                                      <p:to>
                                        <p:strVal val="visible"/>
                                      </p:to>
                                    </p:set>
                                    <p:anim calcmode="lin" valueType="num">
                                      <p:cBhvr additive="base">
                                        <p:cTn id="25" dur="500" fill="hold"/>
                                        <p:tgtEl>
                                          <p:spTgt spid="1843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37">
                                            <p:txEl>
                                              <p:pRg st="7" end="7"/>
                                            </p:txEl>
                                          </p:spTgt>
                                        </p:tgtEl>
                                        <p:attrNameLst>
                                          <p:attrName>style.visibility</p:attrName>
                                        </p:attrNameLst>
                                      </p:cBhvr>
                                      <p:to>
                                        <p:strVal val="visible"/>
                                      </p:to>
                                    </p:set>
                                    <p:anim calcmode="lin" valueType="num">
                                      <p:cBhvr additive="base">
                                        <p:cTn id="29" dur="500" fill="hold"/>
                                        <p:tgtEl>
                                          <p:spTgt spid="18437">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3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1+#ppt_w/2"/>
                                          </p:val>
                                        </p:tav>
                                        <p:tav tm="100000">
                                          <p:val>
                                            <p:strVal val="#ppt_x"/>
                                          </p:val>
                                        </p:tav>
                                      </p:tavLst>
                                    </p:anim>
                                    <p:anim calcmode="lin" valueType="num">
                                      <p:cBhvr additive="base">
                                        <p:cTn id="3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a:t>图</a:t>
            </a:r>
            <a:r>
              <a:rPr lang="en-US" altLang="zh-CN"/>
              <a:t>1.1  </a:t>
            </a:r>
            <a:r>
              <a:rPr lang="zh-CN" altLang="en-US"/>
              <a:t>数据库系统的构成</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24</a:t>
            </a:fld>
            <a:endParaRPr lang="zh-CN" altLang="en-US"/>
          </a:p>
        </p:txBody>
      </p:sp>
      <p:grpSp>
        <p:nvGrpSpPr>
          <p:cNvPr id="18" name="组合 17"/>
          <p:cNvGrpSpPr/>
          <p:nvPr/>
        </p:nvGrpSpPr>
        <p:grpSpPr>
          <a:xfrm>
            <a:off x="3329940" y="3369945"/>
            <a:ext cx="7181215" cy="2733040"/>
            <a:chOff x="5244" y="5307"/>
            <a:chExt cx="11309" cy="4304"/>
          </a:xfrm>
        </p:grpSpPr>
        <p:sp>
          <p:nvSpPr>
            <p:cNvPr id="52" name="AutoShape 13"/>
            <p:cNvSpPr>
              <a:spLocks noChangeArrowheads="1"/>
            </p:cNvSpPr>
            <p:nvPr>
              <p:custDataLst>
                <p:tags r:id="rId9"/>
              </p:custDataLst>
            </p:nvPr>
          </p:nvSpPr>
          <p:spPr bwMode="auto">
            <a:xfrm>
              <a:off x="5244" y="5307"/>
              <a:ext cx="5892" cy="986"/>
            </a:xfrm>
            <a:prstGeom prst="hexagon">
              <a:avLst>
                <a:gd name="adj" fmla="val 141667"/>
                <a:gd name="vf" fmla="val 115470"/>
              </a:avLst>
            </a:prstGeom>
            <a:solidFill>
              <a:srgbClr val="BBE0E3"/>
            </a:solidFill>
            <a:ln w="9525">
              <a:solidFill>
                <a:srgbClr val="000000"/>
              </a:solidFill>
              <a:miter lim="800000"/>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数据库管理系统</a:t>
              </a:r>
            </a:p>
          </p:txBody>
        </p:sp>
        <p:sp>
          <p:nvSpPr>
            <p:cNvPr id="54" name="AutoShape 15"/>
            <p:cNvSpPr>
              <a:spLocks noChangeArrowheads="1"/>
            </p:cNvSpPr>
            <p:nvPr>
              <p:custDataLst>
                <p:tags r:id="rId10"/>
              </p:custDataLst>
            </p:nvPr>
          </p:nvSpPr>
          <p:spPr bwMode="auto">
            <a:xfrm>
              <a:off x="7236" y="8053"/>
              <a:ext cx="2153" cy="1558"/>
            </a:xfrm>
            <a:prstGeom prst="flowChartMagneticDisk">
              <a:avLst/>
            </a:prstGeom>
            <a:solidFill>
              <a:srgbClr val="BBE0E3"/>
            </a:solidFill>
            <a:ln w="9525">
              <a:solidFill>
                <a:srgbClr val="000000"/>
              </a:solidFill>
              <a:round/>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a:t>
              </a:r>
            </a:p>
          </p:txBody>
        </p:sp>
        <p:sp>
          <p:nvSpPr>
            <p:cNvPr id="55" name="Rectangle 16"/>
            <p:cNvSpPr>
              <a:spLocks noChangeArrowheads="1"/>
            </p:cNvSpPr>
            <p:nvPr>
              <p:custDataLst>
                <p:tags r:id="rId11"/>
              </p:custDataLst>
            </p:nvPr>
          </p:nvSpPr>
          <p:spPr bwMode="auto">
            <a:xfrm>
              <a:off x="12887" y="5307"/>
              <a:ext cx="3666" cy="969"/>
            </a:xfrm>
            <a:prstGeom prst="rect">
              <a:avLst/>
            </a:prstGeom>
            <a:solidFill>
              <a:srgbClr val="BBE0E3"/>
            </a:solidFill>
            <a:ln w="9525">
              <a:solidFill>
                <a:srgbClr val="000000"/>
              </a:solidFill>
              <a:miter lim="800000"/>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数据库管理员</a:t>
              </a:r>
            </a:p>
          </p:txBody>
        </p:sp>
        <p:cxnSp>
          <p:nvCxnSpPr>
            <p:cNvPr id="14" name="直接连接符 13"/>
            <p:cNvCxnSpPr>
              <a:endCxn id="54" idx="1"/>
            </p:cNvCxnSpPr>
            <p:nvPr/>
          </p:nvCxnSpPr>
          <p:spPr>
            <a:xfrm>
              <a:off x="8260" y="6277"/>
              <a:ext cx="53" cy="177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55" idx="1"/>
              <a:endCxn id="52" idx="0"/>
            </p:cNvCxnSpPr>
            <p:nvPr>
              <p:custDataLst>
                <p:tags r:id="rId12"/>
              </p:custDataLst>
            </p:nvPr>
          </p:nvCxnSpPr>
          <p:spPr>
            <a:xfrm flipH="1">
              <a:off x="11152" y="5792"/>
              <a:ext cx="1735" cy="8"/>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直接连接符 15"/>
            <p:cNvCxnSpPr/>
            <p:nvPr>
              <p:custDataLst>
                <p:tags r:id="rId13"/>
              </p:custDataLst>
            </p:nvPr>
          </p:nvCxnSpPr>
          <p:spPr>
            <a:xfrm>
              <a:off x="14694" y="6293"/>
              <a:ext cx="71" cy="2527"/>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custDataLst>
                <p:tags r:id="rId14"/>
              </p:custDataLst>
            </p:nvPr>
          </p:nvCxnSpPr>
          <p:spPr>
            <a:xfrm flipH="1">
              <a:off x="9405" y="8820"/>
              <a:ext cx="5343" cy="1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grpSp>
      <p:sp>
        <p:nvSpPr>
          <p:cNvPr id="53" name="AutoShape 14"/>
          <p:cNvSpPr>
            <a:spLocks noChangeArrowheads="1"/>
          </p:cNvSpPr>
          <p:nvPr/>
        </p:nvSpPr>
        <p:spPr bwMode="auto">
          <a:xfrm>
            <a:off x="3354070" y="4264025"/>
            <a:ext cx="3717290" cy="626110"/>
          </a:xfrm>
          <a:prstGeom prst="hexagon">
            <a:avLst>
              <a:gd name="adj" fmla="val 141667"/>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操作系统</a:t>
            </a:r>
          </a:p>
        </p:txBody>
      </p:sp>
      <p:grpSp>
        <p:nvGrpSpPr>
          <p:cNvPr id="21" name="组合 20"/>
          <p:cNvGrpSpPr/>
          <p:nvPr/>
        </p:nvGrpSpPr>
        <p:grpSpPr>
          <a:xfrm>
            <a:off x="2759710" y="704215"/>
            <a:ext cx="4832265" cy="2653665"/>
            <a:chOff x="4346" y="1109"/>
            <a:chExt cx="7610" cy="4179"/>
          </a:xfrm>
        </p:grpSpPr>
        <p:sp>
          <p:nvSpPr>
            <p:cNvPr id="47" name="Rectangle 7"/>
            <p:cNvSpPr>
              <a:spLocks noChangeArrowheads="1"/>
            </p:cNvSpPr>
            <p:nvPr>
              <p:custDataLst>
                <p:tags r:id="rId1"/>
              </p:custDataLst>
            </p:nvPr>
          </p:nvSpPr>
          <p:spPr bwMode="auto">
            <a:xfrm>
              <a:off x="4346"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p>
          </p:txBody>
        </p:sp>
        <p:sp>
          <p:nvSpPr>
            <p:cNvPr id="48" name="Rectangle 8"/>
            <p:cNvSpPr>
              <a:spLocks noChangeArrowheads="1"/>
            </p:cNvSpPr>
            <p:nvPr>
              <p:custDataLst>
                <p:tags r:id="rId2"/>
              </p:custDataLst>
            </p:nvPr>
          </p:nvSpPr>
          <p:spPr bwMode="auto">
            <a:xfrm>
              <a:off x="7204"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p>
          </p:txBody>
        </p:sp>
        <p:sp>
          <p:nvSpPr>
            <p:cNvPr id="49" name="Rectangle 9"/>
            <p:cNvSpPr>
              <a:spLocks noChangeArrowheads="1"/>
            </p:cNvSpPr>
            <p:nvPr>
              <p:custDataLst>
                <p:tags r:id="rId3"/>
              </p:custDataLst>
            </p:nvPr>
          </p:nvSpPr>
          <p:spPr bwMode="auto">
            <a:xfrm>
              <a:off x="10085"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p>
          </p:txBody>
        </p:sp>
        <p:sp>
          <p:nvSpPr>
            <p:cNvPr id="50" name="AutoShape 10"/>
            <p:cNvSpPr>
              <a:spLocks noChangeArrowheads="1"/>
            </p:cNvSpPr>
            <p:nvPr>
              <p:custDataLst>
                <p:tags r:id="rId4"/>
              </p:custDataLst>
            </p:nvPr>
          </p:nvSpPr>
          <p:spPr bwMode="auto">
            <a:xfrm>
              <a:off x="5244" y="2507"/>
              <a:ext cx="5894" cy="986"/>
            </a:xfrm>
            <a:prstGeom prst="hexagon">
              <a:avLst>
                <a:gd name="adj" fmla="val 91667"/>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应用系统</a:t>
              </a:r>
            </a:p>
          </p:txBody>
        </p:sp>
        <p:cxnSp>
          <p:nvCxnSpPr>
            <p:cNvPr id="11" name="直接箭头连接符 10"/>
            <p:cNvCxnSpPr>
              <a:stCxn id="47" idx="2"/>
              <a:endCxn id="50" idx="4"/>
            </p:cNvCxnSpPr>
            <p:nvPr/>
          </p:nvCxnSpPr>
          <p:spPr>
            <a:xfrm>
              <a:off x="5282" y="1931"/>
              <a:ext cx="866" cy="57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8" idx="2"/>
            </p:cNvCxnSpPr>
            <p:nvPr>
              <p:custDataLst>
                <p:tags r:id="rId5"/>
              </p:custDataLst>
            </p:nvPr>
          </p:nvCxnSpPr>
          <p:spPr>
            <a:xfrm>
              <a:off x="8140" y="1931"/>
              <a:ext cx="20" cy="567"/>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49" idx="2"/>
              <a:endCxn id="50" idx="5"/>
            </p:cNvCxnSpPr>
            <p:nvPr>
              <p:custDataLst>
                <p:tags r:id="rId6"/>
              </p:custDataLst>
            </p:nvPr>
          </p:nvCxnSpPr>
          <p:spPr>
            <a:xfrm flipH="1">
              <a:off x="10234" y="1931"/>
              <a:ext cx="787" cy="57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9" name="直接连接符 18"/>
            <p:cNvCxnSpPr/>
            <p:nvPr>
              <p:custDataLst>
                <p:tags r:id="rId7"/>
              </p:custDataLst>
            </p:nvPr>
          </p:nvCxnSpPr>
          <p:spPr>
            <a:xfrm>
              <a:off x="8172" y="3512"/>
              <a:ext cx="53" cy="177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51" name="AutoShape 12"/>
            <p:cNvSpPr>
              <a:spLocks noChangeArrowheads="1"/>
            </p:cNvSpPr>
            <p:nvPr>
              <p:custDataLst>
                <p:tags r:id="rId8"/>
              </p:custDataLst>
            </p:nvPr>
          </p:nvSpPr>
          <p:spPr bwMode="auto">
            <a:xfrm>
              <a:off x="5243" y="3915"/>
              <a:ext cx="5894" cy="986"/>
            </a:xfrm>
            <a:prstGeom prst="hexagon">
              <a:avLst>
                <a:gd name="adj" fmla="val 120833"/>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应用开发工具</a:t>
              </a:r>
            </a:p>
          </p:txBody>
        </p:sp>
      </p:gr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linds(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数据库在计算机系统中的位置</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25</a:t>
            </a:fld>
            <a:endParaRPr lang="zh-CN" altLang="en-US"/>
          </a:p>
        </p:txBody>
      </p:sp>
      <p:grpSp>
        <p:nvGrpSpPr>
          <p:cNvPr id="25" name="组合 24"/>
          <p:cNvGrpSpPr/>
          <p:nvPr/>
        </p:nvGrpSpPr>
        <p:grpSpPr>
          <a:xfrm>
            <a:off x="2088000" y="1647190"/>
            <a:ext cx="4788628" cy="3263900"/>
            <a:chOff x="3288" y="1890"/>
            <a:chExt cx="7541" cy="5140"/>
          </a:xfrm>
        </p:grpSpPr>
        <p:grpSp>
          <p:nvGrpSpPr>
            <p:cNvPr id="5" name="组合 4"/>
            <p:cNvGrpSpPr/>
            <p:nvPr/>
          </p:nvGrpSpPr>
          <p:grpSpPr>
            <a:xfrm>
              <a:off x="3288" y="6045"/>
              <a:ext cx="7541" cy="985"/>
              <a:chOff x="3215" y="5853"/>
              <a:chExt cx="7627" cy="985"/>
            </a:xfrm>
          </p:grpSpPr>
          <p:sp>
            <p:nvSpPr>
              <p:cNvPr id="9" name="Rectangle 2"/>
              <p:cNvSpPr>
                <a:spLocks noChangeArrowheads="1"/>
              </p:cNvSpPr>
              <p:nvPr>
                <p:custDataLst>
                  <p:tags r:id="rId12"/>
                </p:custDataLst>
              </p:nvPr>
            </p:nvSpPr>
            <p:spPr bwMode="auto">
              <a:xfrm>
                <a:off x="3215" y="5853"/>
                <a:ext cx="7627" cy="985"/>
              </a:xfrm>
              <a:prstGeom prst="rect">
                <a:avLst/>
              </a:prstGeom>
              <a:gradFill rotWithShape="0">
                <a:gsLst>
                  <a:gs pos="0">
                    <a:srgbClr val="CCFFCC">
                      <a:alpha val="100000"/>
                    </a:srgbClr>
                  </a:gs>
                  <a:gs pos="100000">
                    <a:srgbClr val="5E765E"/>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4" name="Text Box 7"/>
              <p:cNvSpPr txBox="1">
                <a:spLocks noChangeArrowheads="1"/>
              </p:cNvSpPr>
              <p:nvPr>
                <p:custDataLst>
                  <p:tags r:id="rId13"/>
                </p:custDataLst>
              </p:nvPr>
            </p:nvSpPr>
            <p:spPr bwMode="auto">
              <a:xfrm>
                <a:off x="4132" y="6026"/>
                <a:ext cx="5527"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硬</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件</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平</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台</a:t>
                </a:r>
              </a:p>
            </p:txBody>
          </p:sp>
        </p:grpSp>
        <p:grpSp>
          <p:nvGrpSpPr>
            <p:cNvPr id="6" name="组合 5"/>
            <p:cNvGrpSpPr/>
            <p:nvPr/>
          </p:nvGrpSpPr>
          <p:grpSpPr>
            <a:xfrm>
              <a:off x="3742" y="4991"/>
              <a:ext cx="6520" cy="964"/>
              <a:chOff x="3714" y="5087"/>
              <a:chExt cx="6490" cy="964"/>
            </a:xfrm>
          </p:grpSpPr>
          <p:sp>
            <p:nvSpPr>
              <p:cNvPr id="10" name="Rectangle 3"/>
              <p:cNvSpPr>
                <a:spLocks noChangeArrowheads="1"/>
              </p:cNvSpPr>
              <p:nvPr>
                <p:custDataLst>
                  <p:tags r:id="rId10"/>
                </p:custDataLst>
              </p:nvPr>
            </p:nvSpPr>
            <p:spPr bwMode="auto">
              <a:xfrm>
                <a:off x="3714" y="5087"/>
                <a:ext cx="6490" cy="964"/>
              </a:xfrm>
              <a:prstGeom prst="rect">
                <a:avLst/>
              </a:prstGeom>
              <a:gradFill rotWithShape="0">
                <a:gsLst>
                  <a:gs pos="0">
                    <a:srgbClr val="66FF99"/>
                  </a:gs>
                  <a:gs pos="100000">
                    <a:srgbClr val="2F76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66FF99"/>
                </a:extrusionClr>
                <a:contourClr>
                  <a:srgbClr val="66FF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Char char="•"/>
                </a:pPr>
                <a:endParaRPr kumimoji="1" lang="zh-CN" altLang="zh-CN" sz="2800" b="1">
                  <a:solidFill>
                    <a:srgbClr val="FFFFFF"/>
                  </a:solidFill>
                  <a:latin typeface="华文细黑" panose="02010600040101010101" pitchFamily="2" charset="-122"/>
                  <a:ea typeface="华文细黑" panose="02010600040101010101" pitchFamily="2" charset="-122"/>
                </a:endParaRPr>
              </a:p>
            </p:txBody>
          </p:sp>
          <p:sp>
            <p:nvSpPr>
              <p:cNvPr id="15" name="Text Box 8"/>
              <p:cNvSpPr txBox="1">
                <a:spLocks noChangeArrowheads="1"/>
              </p:cNvSpPr>
              <p:nvPr>
                <p:custDataLst>
                  <p:tags r:id="rId11"/>
                </p:custDataLst>
              </p:nvPr>
            </p:nvSpPr>
            <p:spPr bwMode="auto">
              <a:xfrm>
                <a:off x="4165" y="5183"/>
                <a:ext cx="5441"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基础软件平台</a:t>
                </a:r>
              </a:p>
            </p:txBody>
          </p:sp>
        </p:grpSp>
        <p:grpSp>
          <p:nvGrpSpPr>
            <p:cNvPr id="7" name="组合 6"/>
            <p:cNvGrpSpPr/>
            <p:nvPr/>
          </p:nvGrpSpPr>
          <p:grpSpPr>
            <a:xfrm>
              <a:off x="4194" y="3953"/>
              <a:ext cx="5467" cy="964"/>
              <a:chOff x="4194" y="4321"/>
              <a:chExt cx="5445" cy="964"/>
            </a:xfrm>
          </p:grpSpPr>
          <p:sp>
            <p:nvSpPr>
              <p:cNvPr id="11" name="Rectangle 4"/>
              <p:cNvSpPr>
                <a:spLocks noChangeArrowheads="1"/>
              </p:cNvSpPr>
              <p:nvPr>
                <p:custDataLst>
                  <p:tags r:id="rId8"/>
                </p:custDataLst>
              </p:nvPr>
            </p:nvSpPr>
            <p:spPr bwMode="auto">
              <a:xfrm>
                <a:off x="4195" y="4321"/>
                <a:ext cx="5443" cy="964"/>
              </a:xfrm>
              <a:prstGeom prst="rect">
                <a:avLst/>
              </a:prstGeom>
              <a:gradFill rotWithShape="0">
                <a:gsLst>
                  <a:gs pos="0">
                    <a:srgbClr val="33CC33"/>
                  </a:gs>
                  <a:gs pos="100000">
                    <a:srgbClr val="185E18"/>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33CC33"/>
                </a:extrusionClr>
                <a:contourClr>
                  <a:srgbClr val="33CC33"/>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6" name="Text Box 9"/>
              <p:cNvSpPr txBox="1">
                <a:spLocks noChangeArrowheads="1"/>
              </p:cNvSpPr>
              <p:nvPr>
                <p:custDataLst>
                  <p:tags r:id="rId9"/>
                </p:custDataLst>
              </p:nvPr>
            </p:nvSpPr>
            <p:spPr bwMode="auto">
              <a:xfrm>
                <a:off x="4194" y="4417"/>
                <a:ext cx="5445" cy="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软件基础构架平台</a:t>
                </a:r>
              </a:p>
            </p:txBody>
          </p:sp>
        </p:grpSp>
        <p:grpSp>
          <p:nvGrpSpPr>
            <p:cNvPr id="24" name="组合 23"/>
            <p:cNvGrpSpPr/>
            <p:nvPr/>
          </p:nvGrpSpPr>
          <p:grpSpPr>
            <a:xfrm>
              <a:off x="4195" y="2912"/>
              <a:ext cx="5467" cy="964"/>
              <a:chOff x="4202" y="3376"/>
              <a:chExt cx="5656" cy="964"/>
            </a:xfrm>
          </p:grpSpPr>
          <p:sp>
            <p:nvSpPr>
              <p:cNvPr id="13" name="Rectangle 6"/>
              <p:cNvSpPr>
                <a:spLocks noChangeArrowheads="1"/>
              </p:cNvSpPr>
              <p:nvPr>
                <p:custDataLst>
                  <p:tags r:id="rId6"/>
                </p:custDataLst>
              </p:nvPr>
            </p:nvSpPr>
            <p:spPr bwMode="auto">
              <a:xfrm>
                <a:off x="4672" y="3376"/>
                <a:ext cx="4575" cy="964"/>
              </a:xfrm>
              <a:prstGeom prst="rect">
                <a:avLst/>
              </a:prstGeom>
              <a:gradFill rotWithShape="0">
                <a:gsLst>
                  <a:gs pos="0">
                    <a:srgbClr val="00CC99">
                      <a:alpha val="80000"/>
                    </a:srgbClr>
                  </a:gs>
                  <a:gs pos="100000">
                    <a:srgbClr val="005E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00CC99"/>
                </a:extrusionClr>
                <a:contourClr>
                  <a:srgbClr val="00CC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7" name="Text Box 10"/>
              <p:cNvSpPr txBox="1">
                <a:spLocks noChangeArrowheads="1"/>
              </p:cNvSpPr>
              <p:nvPr>
                <p:custDataLst>
                  <p:tags r:id="rId7"/>
                </p:custDataLst>
              </p:nvPr>
            </p:nvSpPr>
            <p:spPr bwMode="auto">
              <a:xfrm>
                <a:off x="4202" y="3424"/>
                <a:ext cx="565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应用软件平台</a:t>
                </a:r>
              </a:p>
            </p:txBody>
          </p:sp>
        </p:grpSp>
        <p:grpSp>
          <p:nvGrpSpPr>
            <p:cNvPr id="23" name="组合 22"/>
            <p:cNvGrpSpPr/>
            <p:nvPr/>
          </p:nvGrpSpPr>
          <p:grpSpPr>
            <a:xfrm>
              <a:off x="4195" y="1890"/>
              <a:ext cx="5466" cy="964"/>
              <a:chOff x="4286" y="1842"/>
              <a:chExt cx="5466" cy="964"/>
            </a:xfrm>
          </p:grpSpPr>
          <p:sp>
            <p:nvSpPr>
              <p:cNvPr id="18" name="Rectangle 11"/>
              <p:cNvSpPr>
                <a:spLocks noChangeArrowheads="1"/>
              </p:cNvSpPr>
              <p:nvPr>
                <p:custDataLst>
                  <p:tags r:id="rId4"/>
                </p:custDataLst>
              </p:nvPr>
            </p:nvSpPr>
            <p:spPr bwMode="auto">
              <a:xfrm>
                <a:off x="5193" y="1842"/>
                <a:ext cx="3405" cy="964"/>
              </a:xfrm>
              <a:prstGeom prst="rect">
                <a:avLst/>
              </a:prstGeom>
              <a:gradFill rotWithShape="0">
                <a:gsLst>
                  <a:gs pos="0">
                    <a:srgbClr val="00CC99"/>
                  </a:gs>
                  <a:gs pos="100000">
                    <a:srgbClr val="005E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00CC99"/>
                </a:extrusionClr>
                <a:contourClr>
                  <a:srgbClr val="00CC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kumimoji="1" lang="zh-CN" altLang="zh-CN" sz="2800" b="1">
                  <a:latin typeface="华文细黑" panose="02010600040101010101" pitchFamily="2" charset="-122"/>
                  <a:ea typeface="华文细黑" panose="02010600040101010101" pitchFamily="2" charset="-122"/>
                </a:endParaRPr>
              </a:p>
            </p:txBody>
          </p:sp>
          <p:sp>
            <p:nvSpPr>
              <p:cNvPr id="19" name="Text Box 12"/>
              <p:cNvSpPr txBox="1">
                <a:spLocks noChangeArrowheads="1"/>
              </p:cNvSpPr>
              <p:nvPr>
                <p:custDataLst>
                  <p:tags r:id="rId5"/>
                </p:custDataLst>
              </p:nvPr>
            </p:nvSpPr>
            <p:spPr bwMode="auto">
              <a:xfrm>
                <a:off x="4286" y="1865"/>
                <a:ext cx="546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软</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件</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产</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品</a:t>
                </a:r>
              </a:p>
            </p:txBody>
          </p:sp>
        </p:grpSp>
      </p:grpSp>
      <p:grpSp>
        <p:nvGrpSpPr>
          <p:cNvPr id="26" name="组合 25"/>
          <p:cNvGrpSpPr/>
          <p:nvPr/>
        </p:nvGrpSpPr>
        <p:grpSpPr>
          <a:xfrm>
            <a:off x="7339965" y="951230"/>
            <a:ext cx="3547745" cy="4687570"/>
            <a:chOff x="11559" y="1498"/>
            <a:chExt cx="5587" cy="7382"/>
          </a:xfrm>
        </p:grpSpPr>
        <p:sp>
          <p:nvSpPr>
            <p:cNvPr id="20" name="AutoShape 13"/>
            <p:cNvSpPr>
              <a:spLocks noChangeArrowheads="1"/>
            </p:cNvSpPr>
            <p:nvPr>
              <p:custDataLst>
                <p:tags r:id="rId1"/>
              </p:custDataLst>
            </p:nvPr>
          </p:nvSpPr>
          <p:spPr bwMode="auto">
            <a:xfrm>
              <a:off x="11559" y="1498"/>
              <a:ext cx="5587" cy="2303"/>
            </a:xfrm>
            <a:prstGeom prst="cloudCallout">
              <a:avLst>
                <a:gd name="adj1" fmla="val -104591"/>
                <a:gd name="adj2" fmla="val 63349"/>
              </a:avLst>
            </a:prstGeom>
            <a:solidFill>
              <a:srgbClr val="746AFC"/>
            </a:solidFill>
            <a:ln>
              <a:noFill/>
            </a:ln>
            <a:extLst>
              <a:ext uri="{91240B29-F687-4F45-9708-019B960494DF}">
                <a14:hiddenLine xmlns:a14="http://schemas.microsoft.com/office/drawing/2010/main" w="9525">
                  <a:solidFill>
                    <a:srgbClr val="000000"/>
                  </a:solidFill>
                  <a:rou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fontAlgn="t" hangingPunct="1">
                <a:lnSpc>
                  <a:spcPts val="3360"/>
                </a:lnSpc>
                <a:spcBef>
                  <a:spcPts val="0"/>
                </a:spcBef>
              </a:pPr>
              <a:r>
                <a:rPr kumimoji="1" lang="zh-CN" altLang="en-US" sz="2800" b="1" dirty="0">
                  <a:solidFill>
                    <a:srgbClr val="FFFFFF"/>
                  </a:solidFill>
                  <a:latin typeface="华文细黑" panose="02010600040101010101" pitchFamily="2" charset="-122"/>
                  <a:ea typeface="华文细黑" panose="02010600040101010101" pitchFamily="2" charset="-122"/>
                </a:rPr>
                <a:t>协同软件</a:t>
              </a:r>
            </a:p>
            <a:p>
              <a:pPr indent="0" algn="ctr" eaLnBrk="1" fontAlgn="t" hangingPunct="1">
                <a:lnSpc>
                  <a:spcPts val="3360"/>
                </a:lnSpc>
                <a:spcBef>
                  <a:spcPts val="0"/>
                </a:spcBef>
              </a:pPr>
              <a:r>
                <a:rPr kumimoji="1" lang="zh-CN" altLang="en-US" sz="2800" b="1" dirty="0">
                  <a:solidFill>
                    <a:srgbClr val="FFFFFF"/>
                  </a:solidFill>
                  <a:latin typeface="华文细黑" panose="02010600040101010101" pitchFamily="2" charset="-122"/>
                  <a:ea typeface="华文细黑" panose="02010600040101010101" pitchFamily="2" charset="-122"/>
                </a:rPr>
                <a:t>办公软件</a:t>
              </a:r>
            </a:p>
          </p:txBody>
        </p:sp>
        <p:sp>
          <p:nvSpPr>
            <p:cNvPr id="21" name="AutoShape 14"/>
            <p:cNvSpPr>
              <a:spLocks noChangeArrowheads="1"/>
            </p:cNvSpPr>
            <p:nvPr>
              <p:custDataLst>
                <p:tags r:id="rId2"/>
              </p:custDataLst>
            </p:nvPr>
          </p:nvSpPr>
          <p:spPr bwMode="auto">
            <a:xfrm>
              <a:off x="11561" y="6578"/>
              <a:ext cx="5583" cy="2303"/>
            </a:xfrm>
            <a:prstGeom prst="cloudCallout">
              <a:avLst>
                <a:gd name="adj1" fmla="val -104902"/>
                <a:gd name="adj2" fmla="val -59088"/>
              </a:avLst>
            </a:prstGeom>
            <a:solidFill>
              <a:schemeClr val="folHlink"/>
            </a:solidFill>
            <a:ln w="9525">
              <a:noFill/>
              <a:round/>
            </a:ln>
            <a:effectLst/>
          </p:spPr>
          <p:txBody>
            <a:bodyPr>
              <a:spAutoFit/>
            </a:bodyPr>
            <a:lstStyle/>
            <a:p>
              <a:pPr indent="0" algn="ctr" fontAlgn="t">
                <a:lnSpc>
                  <a:spcPts val="3360"/>
                </a:lnSpc>
                <a:spcBef>
                  <a:spcPts val="0"/>
                </a:spcBef>
                <a:defRPr/>
              </a:pPr>
              <a:r>
                <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rPr>
                <a:t>数据库系统</a:t>
              </a:r>
            </a:p>
            <a:p>
              <a:pPr indent="0" algn="ctr" fontAlgn="t">
                <a:lnSpc>
                  <a:spcPts val="3360"/>
                </a:lnSpc>
                <a:spcBef>
                  <a:spcPts val="0"/>
                </a:spcBef>
                <a:defRPr/>
              </a:pPr>
              <a:r>
                <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rPr>
                <a:t>操作系统</a:t>
              </a:r>
            </a:p>
          </p:txBody>
        </p:sp>
        <p:sp>
          <p:nvSpPr>
            <p:cNvPr id="22" name="AutoShape 15"/>
            <p:cNvSpPr>
              <a:spLocks noChangeArrowheads="1"/>
            </p:cNvSpPr>
            <p:nvPr>
              <p:custDataLst>
                <p:tags r:id="rId3"/>
              </p:custDataLst>
            </p:nvPr>
          </p:nvSpPr>
          <p:spPr bwMode="auto">
            <a:xfrm>
              <a:off x="11560" y="3992"/>
              <a:ext cx="5586" cy="2303"/>
            </a:xfrm>
            <a:prstGeom prst="cloudCallout">
              <a:avLst>
                <a:gd name="adj1" fmla="val -104996"/>
                <a:gd name="adj2" fmla="val -3214"/>
              </a:avLst>
            </a:pr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fontAlgn="t" hangingPunct="1">
                <a:lnSpc>
                  <a:spcPts val="3360"/>
                </a:lnSpc>
                <a:spcBef>
                  <a:spcPts val="0"/>
                </a:spcBef>
              </a:pPr>
              <a:r>
                <a:rPr kumimoji="1" lang="zh-CN" altLang="en-US" sz="2800" b="1">
                  <a:latin typeface="华文细黑" panose="02010600040101010101" pitchFamily="2" charset="-122"/>
                  <a:ea typeface="华文细黑" panose="02010600040101010101" pitchFamily="2" charset="-122"/>
                </a:rPr>
                <a:t>中间件</a:t>
              </a:r>
            </a:p>
            <a:p>
              <a:pPr indent="0" algn="ctr" eaLnBrk="1" fontAlgn="t" hangingPunct="1">
                <a:lnSpc>
                  <a:spcPts val="3360"/>
                </a:lnSpc>
                <a:spcBef>
                  <a:spcPts val="0"/>
                </a:spcBef>
              </a:pPr>
              <a:r>
                <a:rPr kumimoji="1" lang="zh-CN" altLang="en-US" sz="2800" b="1">
                  <a:latin typeface="华文细黑" panose="02010600040101010101" pitchFamily="2" charset="-122"/>
                  <a:ea typeface="华文细黑" panose="02010600040101010101" pitchFamily="2" charset="-122"/>
                </a:rPr>
                <a:t>应用服务器</a:t>
              </a:r>
            </a:p>
          </p:txBody>
        </p:sp>
      </p:gr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p:cNvSpPr>
          <p:nvPr>
            <p:ph type="title"/>
          </p:nvPr>
        </p:nvSpPr>
        <p:spPr/>
        <p:txBody>
          <a:bodyPr wrap="square" tIns="0" bIns="0" anchor="ctr"/>
          <a:lstStyle/>
          <a:p>
            <a:pPr eaLnBrk="1" hangingPunct="1"/>
            <a:r>
              <a:rPr lang="en-US" altLang="zh-CN"/>
              <a:t>1.1.1  数据库的四个基本概念</a:t>
            </a:r>
            <a:endParaRPr lang="zh-CN" altLang="en-US"/>
          </a:p>
        </p:txBody>
      </p:sp>
      <p:sp>
        <p:nvSpPr>
          <p:cNvPr id="21509" name="Rectangle 3"/>
          <p:cNvSpPr>
            <a:spLocks noGrp="1"/>
          </p:cNvSpPr>
          <p:nvPr>
            <p:ph idx="1"/>
          </p:nvPr>
        </p:nvSpPr>
        <p:spPr/>
        <p:txBody>
          <a:bodyPr wrap="square" anchor="t"/>
          <a:lstStyle/>
          <a:p>
            <a:pPr marL="514350" indent="-514350" eaLnBrk="1" hangingPunct="1">
              <a:buFont typeface="+mj-lt"/>
              <a:buAutoNum type="arabicPeriod" startAt="5"/>
            </a:pPr>
            <a:r>
              <a:rPr lang="zh-CN" altLang="en-US" sz="2800" dirty="0">
                <a:latin typeface="楷体" panose="02010609060101010101" charset="-122"/>
                <a:ea typeface="楷体" panose="02010609060101010101" charset="-122"/>
                <a:cs typeface="楷体" panose="02010609060101010101" charset="-122"/>
              </a:rPr>
              <a:t>数据库用户 (</a:t>
            </a:r>
            <a:r>
              <a:rPr lang="en-US" altLang="zh-CN" sz="2800" dirty="0">
                <a:latin typeface="楷体" panose="02010609060101010101" charset="-122"/>
                <a:ea typeface="楷体" panose="02010609060101010101" charset="-122"/>
                <a:cs typeface="楷体" panose="02010609060101010101" charset="-122"/>
              </a:rPr>
              <a:t>Database Users)</a:t>
            </a:r>
          </a:p>
          <a:p>
            <a:pPr lvl="1" eaLnBrk="1" hangingPunct="1">
              <a:lnSpc>
                <a:spcPct val="110000"/>
              </a:lnSpc>
              <a:spcBef>
                <a:spcPts val="2000"/>
              </a:spcBef>
            </a:pPr>
            <a:r>
              <a:rPr lang="zh-CN" altLang="en-US" dirty="0">
                <a:latin typeface="楷体" panose="02010609060101010101" charset="-122"/>
                <a:ea typeface="楷体" panose="02010609060101010101" charset="-122"/>
                <a:cs typeface="楷体" panose="02010609060101010101" charset="-122"/>
              </a:rPr>
              <a:t>是指规划、设计、建立、访问、管理、维护数据库的人员。</a:t>
            </a:r>
          </a:p>
          <a:p>
            <a:pPr lvl="1" eaLnBrk="1" hangingPunct="1"/>
            <a:endParaRPr lang="zh-CN" altLang="en-US" dirty="0">
              <a:latin typeface="楷体" panose="02010609060101010101" charset="-122"/>
              <a:ea typeface="楷体" panose="02010609060101010101" charset="-122"/>
              <a:cs typeface="楷体" panose="02010609060101010101" charset="-122"/>
            </a:endParaRPr>
          </a:p>
          <a:p>
            <a:pPr lvl="1" eaLnBrk="1" hangingPunct="1"/>
            <a:r>
              <a:rPr lang="zh-CN" altLang="en-US" dirty="0">
                <a:latin typeface="楷体" panose="02010609060101010101" charset="-122"/>
                <a:ea typeface="楷体" panose="02010609060101010101" charset="-122"/>
                <a:cs typeface="楷体" panose="02010609060101010101" charset="-122"/>
              </a:rPr>
              <a:t>通常存在以下三类数据库用户</a:t>
            </a:r>
            <a:endParaRPr lang="en-US" altLang="zh-CN" dirty="0">
              <a:latin typeface="楷体" panose="02010609060101010101" charset="-122"/>
              <a:ea typeface="楷体" panose="02010609060101010101" charset="-122"/>
              <a:cs typeface="楷体" panose="02010609060101010101" charset="-122"/>
            </a:endParaRPr>
          </a:p>
          <a:p>
            <a:pPr marL="914400" lvl="1" indent="-457200" eaLnBrk="1" hangingPunct="1">
              <a:lnSpc>
                <a:spcPct val="110000"/>
              </a:lnSpc>
              <a:spcBef>
                <a:spcPts val="1000"/>
              </a:spcBef>
              <a:buAutoNum type="circleNumDbPlain"/>
            </a:pPr>
            <a:r>
              <a:rPr lang="zh-CN" altLang="en-US" sz="2800" dirty="0">
                <a:solidFill>
                  <a:srgbClr val="FF0000"/>
                </a:solidFill>
                <a:latin typeface="楷体" panose="02010609060101010101" charset="-122"/>
                <a:ea typeface="楷体" panose="02010609060101010101" charset="-122"/>
                <a:cs typeface="楷体" panose="02010609060101010101" charset="-122"/>
              </a:rPr>
              <a:t>数据库管理员</a:t>
            </a:r>
            <a:r>
              <a:rPr lang="zh-CN" altLang="en-US" dirty="0">
                <a:cs typeface="楷体" panose="02010609060101010101" charset="-122"/>
                <a:sym typeface="+mn-ea"/>
              </a:rPr>
              <a:t> (</a:t>
            </a:r>
            <a:r>
              <a:rPr lang="en-US" altLang="zh-CN" dirty="0">
                <a:cs typeface="楷体" panose="02010609060101010101" charset="-122"/>
                <a:sym typeface="+mn-ea"/>
              </a:rPr>
              <a:t>DataBase Administrator, </a:t>
            </a:r>
            <a:r>
              <a:rPr lang="zh-CN" altLang="en-US" dirty="0">
                <a:solidFill>
                  <a:srgbClr val="FF0000"/>
                </a:solidFill>
                <a:cs typeface="楷体" panose="02010609060101010101" charset="-122"/>
                <a:sym typeface="+mn-ea"/>
              </a:rPr>
              <a:t>DBA</a:t>
            </a:r>
            <a:r>
              <a:rPr lang="zh-CN" altLang="en-US" dirty="0">
                <a:cs typeface="楷体" panose="02010609060101010101" charset="-122"/>
                <a:sym typeface="+mn-ea"/>
              </a:rPr>
              <a:t>)</a:t>
            </a:r>
          </a:p>
          <a:p>
            <a:pPr lvl="2" eaLnBrk="1" hangingPunct="1">
              <a:lnSpc>
                <a:spcPct val="110000"/>
              </a:lnSpc>
              <a:spcBef>
                <a:spcPts val="1000"/>
              </a:spcBef>
            </a:pPr>
            <a:r>
              <a:rPr lang="zh-CN" altLang="en-US" dirty="0">
                <a:cs typeface="楷体" panose="02010609060101010101" charset="-122"/>
                <a:sym typeface="+mn-ea"/>
              </a:rPr>
              <a:t>负责数据库的规划、设计、建立、管理、维护、监视的专职人员。</a:t>
            </a:r>
            <a:endParaRPr lang="zh-CN" altLang="en-US" sz="2800" dirty="0">
              <a:latin typeface="楷体" panose="02010609060101010101" charset="-122"/>
              <a:ea typeface="楷体" panose="02010609060101010101" charset="-122"/>
              <a:cs typeface="楷体" panose="02010609060101010101" charset="-122"/>
            </a:endParaRPr>
          </a:p>
          <a:p>
            <a:pPr marL="914400" lvl="1" indent="-457200" eaLnBrk="1" hangingPunct="1">
              <a:lnSpc>
                <a:spcPct val="110000"/>
              </a:lnSpc>
              <a:spcBef>
                <a:spcPts val="2000"/>
              </a:spcBef>
              <a:buAutoNum type="circleNumDbPlain"/>
            </a:pPr>
            <a:r>
              <a:rPr lang="zh-CN" altLang="en-US" sz="2800" dirty="0">
                <a:solidFill>
                  <a:srgbClr val="FF0000"/>
                </a:solidFill>
                <a:latin typeface="楷体" panose="02010609060101010101" charset="-122"/>
                <a:ea typeface="楷体" panose="02010609060101010101" charset="-122"/>
                <a:cs typeface="楷体" panose="02010609060101010101" charset="-122"/>
              </a:rPr>
              <a:t>应用开发人员</a:t>
            </a:r>
            <a:r>
              <a:rPr lang="zh-CN" altLang="en-US" sz="2800" dirty="0">
                <a:latin typeface="楷体" panose="02010609060101010101" charset="-122"/>
                <a:ea typeface="楷体" panose="02010609060101010101" charset="-122"/>
                <a:cs typeface="楷体" panose="02010609060101010101" charset="-122"/>
              </a:rPr>
              <a:t> (包括系统分析员、数据库设计人员、应用程序员</a:t>
            </a:r>
            <a:r>
              <a:rPr lang="en-US" altLang="zh-CN" sz="2800" dirty="0">
                <a:latin typeface="楷体" panose="02010609060101010101" charset="-122"/>
                <a:ea typeface="楷体" panose="02010609060101010101" charset="-122"/>
                <a:cs typeface="楷体" panose="02010609060101010101" charset="-122"/>
              </a:rPr>
              <a:t>)</a:t>
            </a:r>
          </a:p>
          <a:p>
            <a:pPr marL="914400" lvl="1" indent="-457200" eaLnBrk="1" hangingPunct="1">
              <a:lnSpc>
                <a:spcPct val="110000"/>
              </a:lnSpc>
              <a:spcBef>
                <a:spcPts val="2000"/>
              </a:spcBef>
              <a:buAutoNum type="circleNumDbPlain"/>
            </a:pPr>
            <a:r>
              <a:rPr lang="zh-CN" altLang="en-US" dirty="0">
                <a:solidFill>
                  <a:srgbClr val="FF0000"/>
                </a:solidFill>
                <a:cs typeface="楷体" panose="02010609060101010101" charset="-122"/>
                <a:sym typeface="+mn-ea"/>
              </a:rPr>
              <a:t>最终用户</a:t>
            </a:r>
            <a:r>
              <a:rPr lang="zh-CN" altLang="en-US" dirty="0">
                <a:cs typeface="楷体" panose="02010609060101010101" charset="-122"/>
                <a:sym typeface="+mn-ea"/>
              </a:rPr>
              <a:t> (</a:t>
            </a:r>
            <a:r>
              <a:rPr lang="en-US" altLang="zh-CN" dirty="0">
                <a:cs typeface="楷体" panose="02010609060101010101" charset="-122"/>
                <a:sym typeface="+mn-ea"/>
              </a:rPr>
              <a:t>End users)</a:t>
            </a:r>
            <a:r>
              <a:rPr lang="zh-CN" altLang="en-US" dirty="0">
                <a:cs typeface="楷体" panose="02010609060101010101" charset="-122"/>
                <a:sym typeface="+mn-ea"/>
              </a:rPr>
              <a:t>：通过应用系统访问使用数据库的人员。</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26</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9">
                                            <p:txEl>
                                              <p:pRg st="3" end="3"/>
                                            </p:txEl>
                                          </p:spTgt>
                                        </p:tgtEl>
                                        <p:attrNameLst>
                                          <p:attrName>style.visibility</p:attrName>
                                        </p:attrNameLst>
                                      </p:cBhvr>
                                      <p:to>
                                        <p:strVal val="visible"/>
                                      </p:to>
                                    </p:set>
                                    <p:animEffect transition="in" filter="blinds(horizontal)">
                                      <p:cBhvr>
                                        <p:cTn id="7" dur="500"/>
                                        <p:tgtEl>
                                          <p:spTgt spid="2150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9">
                                            <p:txEl>
                                              <p:pRg st="4" end="4"/>
                                            </p:txEl>
                                          </p:spTgt>
                                        </p:tgtEl>
                                        <p:attrNameLst>
                                          <p:attrName>style.visibility</p:attrName>
                                        </p:attrNameLst>
                                      </p:cBhvr>
                                      <p:to>
                                        <p:strVal val="visible"/>
                                      </p:to>
                                    </p:set>
                                    <p:animEffect transition="in" filter="blinds(horizontal)">
                                      <p:cBhvr>
                                        <p:cTn id="12" dur="500"/>
                                        <p:tgtEl>
                                          <p:spTgt spid="21509">
                                            <p:txEl>
                                              <p:pRg st="4" end="4"/>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1509">
                                            <p:txEl>
                                              <p:pRg st="5" end="5"/>
                                            </p:txEl>
                                          </p:spTgt>
                                        </p:tgtEl>
                                        <p:attrNameLst>
                                          <p:attrName>style.visibility</p:attrName>
                                        </p:attrNameLst>
                                      </p:cBhvr>
                                      <p:to>
                                        <p:strVal val="visible"/>
                                      </p:to>
                                    </p:set>
                                    <p:animEffect transition="in" filter="blinds(horizontal)">
                                      <p:cBhvr>
                                        <p:cTn id="16" dur="500"/>
                                        <p:tgtEl>
                                          <p:spTgt spid="21509">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1509">
                                            <p:txEl>
                                              <p:pRg st="6" end="6"/>
                                            </p:txEl>
                                          </p:spTgt>
                                        </p:tgtEl>
                                        <p:attrNameLst>
                                          <p:attrName>style.visibility</p:attrName>
                                        </p:attrNameLst>
                                      </p:cBhvr>
                                      <p:to>
                                        <p:strVal val="visible"/>
                                      </p:to>
                                    </p:set>
                                    <p:animEffect transition="in" filter="blinds(horizontal)">
                                      <p:cBhvr>
                                        <p:cTn id="21" dur="500"/>
                                        <p:tgtEl>
                                          <p:spTgt spid="21509">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1509">
                                            <p:txEl>
                                              <p:pRg st="7" end="7"/>
                                            </p:txEl>
                                          </p:spTgt>
                                        </p:tgtEl>
                                        <p:attrNameLst>
                                          <p:attrName>style.visibility</p:attrName>
                                        </p:attrNameLst>
                                      </p:cBhvr>
                                      <p:to>
                                        <p:strVal val="visible"/>
                                      </p:to>
                                    </p:set>
                                    <p:animEffect transition="in" filter="blinds(horizontal)">
                                      <p:cBhvr>
                                        <p:cTn id="26" dur="500"/>
                                        <p:tgtEl>
                                          <p:spTgt spid="2150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1.1  数据库系统概述</a:t>
            </a:r>
            <a:endParaRPr lang="zh-CN" altLang="en-US"/>
          </a:p>
        </p:txBody>
      </p:sp>
      <p:sp>
        <p:nvSpPr>
          <p:cNvPr id="3" name="内容占位符 2"/>
          <p:cNvSpPr>
            <a:spLocks noGrp="1"/>
          </p:cNvSpPr>
          <p:nvPr>
            <p:ph idx="1"/>
          </p:nvPr>
        </p:nvSpPr>
        <p:spPr/>
        <p:txBody>
          <a:bodyPr/>
          <a:lstStyle/>
          <a:p>
            <a:pPr marL="0" indent="0">
              <a:lnSpc>
                <a:spcPct val="150000"/>
              </a:lnSpc>
              <a:buNone/>
            </a:pPr>
            <a:r>
              <a:rPr lang="en-US" altLang="zh-CN"/>
              <a:t>1.1.1 </a:t>
            </a:r>
            <a:r>
              <a:rPr lang="zh-CN" altLang="en-US"/>
              <a:t>数据库的四个基本概念</a:t>
            </a:r>
          </a:p>
          <a:p>
            <a:pPr marL="0" indent="0">
              <a:lnSpc>
                <a:spcPct val="150000"/>
              </a:lnSpc>
              <a:buNone/>
            </a:pPr>
            <a:r>
              <a:rPr lang="en-US" altLang="zh-CN">
                <a:solidFill>
                  <a:srgbClr val="FF0000"/>
                </a:solidFill>
              </a:rPr>
              <a:t>1.1.2 </a:t>
            </a:r>
            <a:r>
              <a:rPr lang="zh-CN" altLang="en-US">
                <a:solidFill>
                  <a:srgbClr val="FF0000"/>
                </a:solidFill>
              </a:rPr>
              <a:t>数据管理技术的产生和发展</a:t>
            </a:r>
            <a:endParaRPr lang="zh-CN" altLang="en-US"/>
          </a:p>
          <a:p>
            <a:pPr marL="0" indent="0">
              <a:lnSpc>
                <a:spcPct val="150000"/>
              </a:lnSpc>
              <a:buNone/>
            </a:pPr>
            <a:r>
              <a:rPr lang="en-US" altLang="zh-CN"/>
              <a:t>1.1.3 </a:t>
            </a:r>
            <a:r>
              <a:rPr lang="zh-CN" altLang="en-US"/>
              <a:t>数据库系统的特点</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27</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sym typeface="+mn-ea"/>
              </a:rPr>
              <a:t>1.1.2 </a:t>
            </a:r>
            <a:r>
              <a:rPr lang="zh-CN" altLang="en-US">
                <a:solidFill>
                  <a:schemeClr val="tx1"/>
                </a:solidFill>
                <a:sym typeface="+mn-ea"/>
              </a:rPr>
              <a:t>数据管理技术的产生和发展</a:t>
            </a:r>
          </a:p>
        </p:txBody>
      </p:sp>
      <p:sp>
        <p:nvSpPr>
          <p:cNvPr id="3" name="内容占位符 2"/>
          <p:cNvSpPr>
            <a:spLocks noGrp="1"/>
          </p:cNvSpPr>
          <p:nvPr>
            <p:ph idx="1"/>
          </p:nvPr>
        </p:nvSpPr>
        <p:spPr/>
        <p:txBody>
          <a:bodyPr/>
          <a:lstStyle/>
          <a:p>
            <a:r>
              <a:rPr lang="zh-CN" altLang="en-US" sz="3000">
                <a:solidFill>
                  <a:srgbClr val="FF0000"/>
                </a:solidFill>
              </a:rPr>
              <a:t>数据库技术</a:t>
            </a:r>
            <a:r>
              <a:rPr lang="zh-CN" altLang="en-US" sz="3000"/>
              <a:t>是应数据管理任务的需要而产生。</a:t>
            </a:r>
          </a:p>
          <a:p>
            <a:pPr lvl="1"/>
            <a:endParaRPr lang="zh-CN" altLang="en-US" sz="3000">
              <a:solidFill>
                <a:srgbClr val="FF0000"/>
              </a:solidFill>
            </a:endParaRPr>
          </a:p>
          <a:p>
            <a:r>
              <a:rPr lang="zh-CN" altLang="en-US" sz="3000"/>
              <a:t>什么是数据管理？</a:t>
            </a:r>
          </a:p>
          <a:p>
            <a:pPr lvl="1"/>
            <a:r>
              <a:rPr lang="zh-CN" altLang="en-US" sz="3000">
                <a:solidFill>
                  <a:srgbClr val="FF0000"/>
                </a:solidFill>
              </a:rPr>
              <a:t>数据管理</a:t>
            </a:r>
            <a:r>
              <a:rPr lang="zh-CN" altLang="en-US" sz="3000"/>
              <a:t>是指对数据进行分类、组织、编码、存储、检索和维护，是数据处理的中心问题。</a:t>
            </a:r>
          </a:p>
          <a:p>
            <a:pPr lvl="1"/>
            <a:endParaRPr lang="zh-CN" altLang="en-US" sz="3000"/>
          </a:p>
          <a:p>
            <a:r>
              <a:rPr lang="zh-CN" altLang="en-US" sz="3000"/>
              <a:t>什么是数据处理？</a:t>
            </a:r>
          </a:p>
          <a:p>
            <a:pPr lvl="1"/>
            <a:r>
              <a:rPr lang="zh-CN" altLang="en-US" sz="3000">
                <a:solidFill>
                  <a:srgbClr val="FF0000"/>
                </a:solidFill>
              </a:rPr>
              <a:t>数据处理</a:t>
            </a:r>
            <a:r>
              <a:rPr lang="zh-CN" altLang="en-US" sz="3000"/>
              <a:t>则是指对各种数据进行收集、存储、加工和传播的一些列活动的总和。</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28</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sym typeface="+mn-ea"/>
              </a:rPr>
              <a:t>1.1.2 </a:t>
            </a:r>
            <a:r>
              <a:rPr lang="zh-CN" altLang="en-US">
                <a:solidFill>
                  <a:schemeClr val="tx1"/>
                </a:solidFill>
                <a:sym typeface="+mn-ea"/>
              </a:rPr>
              <a:t>数据管理技术的产生和发展</a:t>
            </a:r>
          </a:p>
        </p:txBody>
      </p:sp>
      <p:sp>
        <p:nvSpPr>
          <p:cNvPr id="3" name="内容占位符 2"/>
          <p:cNvSpPr>
            <a:spLocks noGrp="1"/>
          </p:cNvSpPr>
          <p:nvPr>
            <p:ph idx="1"/>
          </p:nvPr>
        </p:nvSpPr>
        <p:spPr/>
        <p:txBody>
          <a:bodyPr/>
          <a:lstStyle/>
          <a:p>
            <a:pPr>
              <a:lnSpc>
                <a:spcPct val="100000"/>
              </a:lnSpc>
              <a:spcBef>
                <a:spcPts val="2000"/>
              </a:spcBef>
            </a:pPr>
            <a:r>
              <a:rPr lang="zh-CN" altLang="en-US"/>
              <a:t>在数据处理中，通常计算比较简单，而且数据处理的需求因业务的不同而不同，需要根据业务的需求编写相应的应用程序来解决。</a:t>
            </a:r>
          </a:p>
          <a:p>
            <a:pPr>
              <a:lnSpc>
                <a:spcPct val="100000"/>
              </a:lnSpc>
              <a:spcBef>
                <a:spcPts val="2000"/>
              </a:spcBef>
            </a:pPr>
            <a:r>
              <a:rPr lang="zh-CN" altLang="en-US"/>
              <a:t>由于可利用的数据呈爆炸性增长、且数据的种类繁杂，</a:t>
            </a:r>
            <a:r>
              <a:rPr lang="zh-CN" altLang="en-US">
                <a:sym typeface="+mn-ea"/>
              </a:rPr>
              <a:t>数据管理任务则越来越复杂</a:t>
            </a:r>
            <a:r>
              <a:rPr lang="zh-CN" altLang="en-US"/>
              <a:t>。</a:t>
            </a:r>
          </a:p>
          <a:p>
            <a:pPr>
              <a:lnSpc>
                <a:spcPct val="100000"/>
              </a:lnSpc>
              <a:spcBef>
                <a:spcPts val="2000"/>
              </a:spcBef>
            </a:pPr>
            <a:r>
              <a:rPr lang="zh-CN" altLang="en-US">
                <a:sym typeface="+mn-ea"/>
              </a:rPr>
              <a:t>数据管理技术的优劣将对数据处理的效率产生直接影响。</a:t>
            </a:r>
            <a:endParaRPr lang="zh-CN" altLang="en-US"/>
          </a:p>
          <a:p>
            <a:pPr>
              <a:lnSpc>
                <a:spcPct val="100000"/>
              </a:lnSpc>
              <a:spcBef>
                <a:spcPts val="2000"/>
              </a:spcBef>
            </a:pPr>
            <a:r>
              <a:rPr lang="zh-CN" altLang="en-US"/>
              <a:t>数据管理技术的发展动力：</a:t>
            </a:r>
          </a:p>
          <a:p>
            <a:pPr lvl="1">
              <a:lnSpc>
                <a:spcPct val="100000"/>
              </a:lnSpc>
              <a:spcBef>
                <a:spcPts val="1000"/>
              </a:spcBef>
            </a:pPr>
            <a:r>
              <a:rPr lang="zh-CN" altLang="en-US" sz="2800"/>
              <a:t>应用需求的推动</a:t>
            </a:r>
          </a:p>
          <a:p>
            <a:pPr lvl="1">
              <a:lnSpc>
                <a:spcPct val="100000"/>
              </a:lnSpc>
              <a:spcBef>
                <a:spcPts val="1000"/>
              </a:spcBef>
            </a:pPr>
            <a:r>
              <a:rPr lang="zh-CN" altLang="en-US" sz="2800"/>
              <a:t>计算机硬件的发展</a:t>
            </a:r>
          </a:p>
          <a:p>
            <a:pPr lvl="1">
              <a:lnSpc>
                <a:spcPct val="100000"/>
              </a:lnSpc>
              <a:spcBef>
                <a:spcPts val="1000"/>
              </a:spcBef>
            </a:pPr>
            <a:r>
              <a:rPr lang="zh-CN" altLang="en-US" sz="2800"/>
              <a:t>计算机软件的发展</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29</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sym typeface="+mn-ea"/>
              </a:rPr>
              <a:t>1.1.2 </a:t>
            </a:r>
            <a:r>
              <a:rPr lang="zh-CN" altLang="en-US">
                <a:solidFill>
                  <a:schemeClr val="tx1"/>
                </a:solidFill>
                <a:sym typeface="+mn-ea"/>
              </a:rPr>
              <a:t>数据管理技术的产生和发展</a:t>
            </a:r>
          </a:p>
        </p:txBody>
      </p:sp>
      <p:sp>
        <p:nvSpPr>
          <p:cNvPr id="3" name="内容占位符 2"/>
          <p:cNvSpPr>
            <a:spLocks noGrp="1"/>
          </p:cNvSpPr>
          <p:nvPr>
            <p:ph idx="1"/>
          </p:nvPr>
        </p:nvSpPr>
        <p:spPr/>
        <p:txBody>
          <a:bodyPr/>
          <a:lstStyle/>
          <a:p>
            <a:pPr>
              <a:lnSpc>
                <a:spcPct val="100000"/>
              </a:lnSpc>
              <a:spcBef>
                <a:spcPts val="2000"/>
              </a:spcBef>
            </a:pPr>
            <a:r>
              <a:rPr lang="zh-CN" altLang="en-US"/>
              <a:t>数据管理技术的发展过程</a:t>
            </a:r>
          </a:p>
          <a:p>
            <a:pPr lvl="1">
              <a:lnSpc>
                <a:spcPct val="100000"/>
              </a:lnSpc>
              <a:spcBef>
                <a:spcPts val="1000"/>
              </a:spcBef>
            </a:pPr>
            <a:r>
              <a:rPr lang="zh-CN" altLang="en-US" sz="2800"/>
              <a:t>人工管理阶段（</a:t>
            </a:r>
            <a:r>
              <a:rPr lang="en-US" altLang="zh-CN" sz="2800"/>
              <a:t>20</a:t>
            </a:r>
            <a:r>
              <a:rPr lang="zh-CN" altLang="en-US" sz="2800"/>
              <a:t>世纪</a:t>
            </a:r>
            <a:r>
              <a:rPr lang="en-US" altLang="zh-CN" sz="2800"/>
              <a:t>50</a:t>
            </a:r>
            <a:r>
              <a:rPr lang="zh-CN" altLang="en-US" sz="2800"/>
              <a:t>年代中之前）</a:t>
            </a:r>
          </a:p>
          <a:p>
            <a:pPr lvl="1">
              <a:lnSpc>
                <a:spcPct val="100000"/>
              </a:lnSpc>
              <a:spcBef>
                <a:spcPts val="1000"/>
              </a:spcBef>
            </a:pPr>
            <a:r>
              <a:rPr lang="zh-CN" altLang="en-US" sz="2800"/>
              <a:t>文件系统阶段</a:t>
            </a:r>
            <a:r>
              <a:rPr lang="zh-CN" altLang="en-US">
                <a:sym typeface="+mn-ea"/>
              </a:rPr>
              <a:t>（</a:t>
            </a:r>
            <a:r>
              <a:rPr lang="en-US" altLang="zh-CN">
                <a:sym typeface="+mn-ea"/>
              </a:rPr>
              <a:t>20</a:t>
            </a:r>
            <a:r>
              <a:rPr lang="zh-CN" altLang="en-US">
                <a:sym typeface="+mn-ea"/>
              </a:rPr>
              <a:t>世纪</a:t>
            </a:r>
            <a:r>
              <a:rPr lang="en-US" altLang="zh-CN">
                <a:sym typeface="+mn-ea"/>
              </a:rPr>
              <a:t>50</a:t>
            </a:r>
            <a:r>
              <a:rPr lang="zh-CN" altLang="en-US">
                <a:sym typeface="+mn-ea"/>
              </a:rPr>
              <a:t>年代末</a:t>
            </a:r>
            <a:r>
              <a:rPr lang="en-US" altLang="zh-CN">
                <a:sym typeface="+mn-ea"/>
              </a:rPr>
              <a:t>--60</a:t>
            </a:r>
            <a:r>
              <a:rPr lang="zh-CN" altLang="en-US">
                <a:sym typeface="+mn-ea"/>
              </a:rPr>
              <a:t>年代中）</a:t>
            </a:r>
            <a:endParaRPr lang="zh-CN" altLang="en-US" sz="2800"/>
          </a:p>
          <a:p>
            <a:pPr lvl="1">
              <a:lnSpc>
                <a:spcPct val="100000"/>
              </a:lnSpc>
              <a:spcBef>
                <a:spcPts val="1000"/>
              </a:spcBef>
            </a:pPr>
            <a:r>
              <a:rPr lang="zh-CN" altLang="en-US" sz="2800"/>
              <a:t>数据库系统阶段</a:t>
            </a:r>
            <a:r>
              <a:rPr lang="zh-CN" altLang="en-US">
                <a:sym typeface="+mn-ea"/>
              </a:rPr>
              <a:t>（</a:t>
            </a:r>
            <a:r>
              <a:rPr lang="en-US" altLang="zh-CN">
                <a:sym typeface="+mn-ea"/>
              </a:rPr>
              <a:t>20</a:t>
            </a:r>
            <a:r>
              <a:rPr lang="zh-CN" altLang="en-US">
                <a:sym typeface="+mn-ea"/>
              </a:rPr>
              <a:t>世纪</a:t>
            </a:r>
            <a:r>
              <a:rPr lang="en-US" altLang="zh-CN">
                <a:sym typeface="+mn-ea"/>
              </a:rPr>
              <a:t>60</a:t>
            </a:r>
            <a:r>
              <a:rPr lang="zh-CN" altLang="en-US">
                <a:sym typeface="+mn-ea"/>
              </a:rPr>
              <a:t>年代末</a:t>
            </a:r>
            <a:r>
              <a:rPr lang="en-US" altLang="zh-CN">
                <a:sym typeface="+mn-ea"/>
              </a:rPr>
              <a:t>--</a:t>
            </a:r>
            <a:r>
              <a:rPr lang="zh-CN" altLang="en-US">
                <a:sym typeface="+mn-ea"/>
              </a:rPr>
              <a:t>现在）</a:t>
            </a:r>
            <a:endParaRPr lang="zh-CN" altLang="en-US"/>
          </a:p>
          <a:p>
            <a:pPr>
              <a:lnSpc>
                <a:spcPct val="110000"/>
              </a:lnSpc>
              <a:spcBef>
                <a:spcPts val="2000"/>
              </a:spcBef>
            </a:pP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30</a:t>
            </a:fld>
            <a:endParaRPr lang="zh-CN" altLang="en-US"/>
          </a:p>
        </p:txBody>
      </p:sp>
      <p:pic>
        <p:nvPicPr>
          <p:cNvPr id="167939" name="图片 167938"/>
          <p:cNvPicPr>
            <a:picLocks noChangeAspect="1"/>
          </p:cNvPicPr>
          <p:nvPr>
            <p:custDataLst>
              <p:tags r:id="rId1"/>
            </p:custDataLst>
          </p:nvPr>
        </p:nvPicPr>
        <p:blipFill>
          <a:blip r:embed="rId3"/>
          <a:stretch>
            <a:fillRect/>
          </a:stretch>
        </p:blipFill>
        <p:spPr>
          <a:xfrm>
            <a:off x="2253615" y="2877820"/>
            <a:ext cx="7505700" cy="3707130"/>
          </a:xfrm>
          <a:prstGeom prst="rect">
            <a:avLst/>
          </a:prstGeom>
          <a:noFill/>
          <a:ln w="9525">
            <a:noFill/>
          </a:ln>
        </p:spPr>
      </p:pic>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表</a:t>
            </a:r>
            <a:r>
              <a:rPr lang="en-US" altLang="zh-CN"/>
              <a:t>1.1  </a:t>
            </a:r>
            <a:r>
              <a:rPr lang="zh-CN" altLang="en-US"/>
              <a:t>数据管理三个阶段的比较</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31</a:t>
            </a:fld>
            <a:endParaRPr lang="zh-CN" altLang="en-US"/>
          </a:p>
        </p:txBody>
      </p:sp>
      <p:graphicFrame>
        <p:nvGraphicFramePr>
          <p:cNvPr id="7" name="表格 6"/>
          <p:cNvGraphicFramePr/>
          <p:nvPr>
            <p:custDataLst>
              <p:tags r:id="rId1"/>
            </p:custDataLst>
          </p:nvPr>
        </p:nvGraphicFramePr>
        <p:xfrm>
          <a:off x="135890" y="690880"/>
          <a:ext cx="11920855" cy="5720715"/>
        </p:xfrm>
        <a:graphic>
          <a:graphicData uri="http://schemas.openxmlformats.org/drawingml/2006/table">
            <a:tbl>
              <a:tblPr/>
              <a:tblGrid>
                <a:gridCol w="285750">
                  <a:extLst>
                    <a:ext uri="{9D8B030D-6E8A-4147-A177-3AD203B41FA5}">
                      <a16:colId xmlns:a16="http://schemas.microsoft.com/office/drawing/2014/main" val="20000"/>
                    </a:ext>
                  </a:extLst>
                </a:gridCol>
                <a:gridCol w="169291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gridCol w="4474845">
                  <a:extLst>
                    <a:ext uri="{9D8B030D-6E8A-4147-A177-3AD203B41FA5}">
                      <a16:colId xmlns:a16="http://schemas.microsoft.com/office/drawing/2014/main" val="20004"/>
                    </a:ext>
                  </a:extLst>
                </a:gridCol>
              </a:tblGrid>
              <a:tr h="520065">
                <a:tc>
                  <a:txBody>
                    <a:bodyPr/>
                    <a:lstStyle/>
                    <a:p>
                      <a:pPr indent="0" algn="ctr">
                        <a:buNone/>
                      </a:pPr>
                      <a:endParaRPr lang="en-US"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800" b="1">
                          <a:solidFill>
                            <a:srgbClr val="C00000"/>
                          </a:solidFill>
                          <a:latin typeface="楷体" panose="02010609060101010101" charset="-122"/>
                          <a:ea typeface="楷体" panose="02010609060101010101" charset="-122"/>
                        </a:rPr>
                        <a:t>人工管理阶段</a:t>
                      </a:r>
                      <a:endParaRPr lang="zh-CN" altLang="en-US" sz="1800" b="1">
                        <a:solidFill>
                          <a:srgbClr val="C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800" b="1">
                          <a:solidFill>
                            <a:srgbClr val="C00000"/>
                          </a:solidFill>
                          <a:latin typeface="楷体" panose="02010609060101010101" charset="-122"/>
                          <a:ea typeface="楷体" panose="02010609060101010101" charset="-122"/>
                        </a:rPr>
                        <a:t>文件系统阶段</a:t>
                      </a:r>
                      <a:endParaRPr lang="zh-CN" altLang="en-US" sz="1800" b="1">
                        <a:solidFill>
                          <a:srgbClr val="C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800" b="1">
                          <a:solidFill>
                            <a:srgbClr val="C00000"/>
                          </a:solidFill>
                          <a:latin typeface="楷体" panose="02010609060101010101" charset="-122"/>
                          <a:ea typeface="楷体" panose="02010609060101010101" charset="-122"/>
                        </a:rPr>
                        <a:t>数据库系统阶段</a:t>
                      </a:r>
                      <a:endParaRPr lang="zh-CN" altLang="en-US" sz="1800" b="1">
                        <a:solidFill>
                          <a:srgbClr val="C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065">
                <a:tc rowSpan="4">
                  <a:txBody>
                    <a:bodyPr/>
                    <a:lstStyle/>
                    <a:p>
                      <a:pPr indent="0" algn="ctr">
                        <a:buNone/>
                      </a:pPr>
                      <a:r>
                        <a:rPr lang="zh-CN" sz="1800" b="1">
                          <a:solidFill>
                            <a:srgbClr val="000000"/>
                          </a:solidFill>
                          <a:latin typeface="楷体" panose="02010609060101010101" charset="-122"/>
                          <a:ea typeface="楷体" panose="02010609060101010101" charset="-122"/>
                          <a:cs typeface="楷体" panose="02010609060101010101" charset="-122"/>
                        </a:rPr>
                        <a:t>背</a:t>
                      </a:r>
                    </a:p>
                    <a:p>
                      <a:pPr indent="0" algn="ctr">
                        <a:buNone/>
                      </a:pPr>
                      <a:r>
                        <a:rPr lang="en-US" sz="1800" b="1">
                          <a:solidFill>
                            <a:srgbClr val="000000"/>
                          </a:solidFill>
                          <a:latin typeface="楷体" panose="02010609060101010101" charset="-122"/>
                          <a:ea typeface="楷体" panose="02010609060101010101" charset="-122"/>
                          <a:cs typeface="楷体" panose="02010609060101010101" charset="-122"/>
                        </a:rPr>
                        <a:t> </a:t>
                      </a:r>
                      <a:r>
                        <a:rPr lang="zh-CN" sz="1800" b="1">
                          <a:solidFill>
                            <a:srgbClr val="000000"/>
                          </a:solidFill>
                          <a:latin typeface="楷体" panose="02010609060101010101" charset="-122"/>
                          <a:ea typeface="楷体" panose="02010609060101010101" charset="-122"/>
                          <a:cs typeface="楷体" panose="02010609060101010101" charset="-122"/>
                        </a:rPr>
                        <a:t>景</a:t>
                      </a:r>
                      <a:endParaRPr lang="en-US" altLang="en-US" sz="1800" b="1">
                        <a:solidFill>
                          <a:srgbClr val="000000"/>
                        </a:solidFill>
                        <a:latin typeface="楷体" panose="02010609060101010101" charset="-122"/>
                        <a:ea typeface="楷体" panose="02010609060101010101" charset="-122"/>
                        <a:cs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lgn="ctr">
                        <a:buNone/>
                      </a:pPr>
                      <a:r>
                        <a:rPr lang="zh-CN" sz="1800" b="1">
                          <a:solidFill>
                            <a:srgbClr val="000000"/>
                          </a:solidFill>
                          <a:latin typeface="楷体" panose="02010609060101010101" charset="-122"/>
                          <a:ea typeface="楷体" panose="02010609060101010101" charset="-122"/>
                        </a:rPr>
                        <a:t>应用背景</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科学计算</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科学计算，数据管理</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大规模数据管理</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extLst>
                  <a:ext uri="{0D108BD9-81ED-4DB2-BD59-A6C34878D82A}">
                    <a16:rowId xmlns:a16="http://schemas.microsoft.com/office/drawing/2014/main" val="10001"/>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硬件背景</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无直接存取存储设备</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磁盘，磁鼓</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大容量磁盘，磁盘阵列</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extLst>
                  <a:ext uri="{0D108BD9-81ED-4DB2-BD59-A6C34878D82A}">
                    <a16:rowId xmlns:a16="http://schemas.microsoft.com/office/drawing/2014/main" val="10002"/>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软件背景</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没有操作系统</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有文件系统</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有数据库管理系统</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extLst>
                  <a:ext uri="{0D108BD9-81ED-4DB2-BD59-A6C34878D82A}">
                    <a16:rowId xmlns:a16="http://schemas.microsoft.com/office/drawing/2014/main" val="10003"/>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r>
                        <a:rPr lang="zh-CN" sz="1800" b="1">
                          <a:solidFill>
                            <a:srgbClr val="000000"/>
                          </a:solidFill>
                          <a:latin typeface="楷体" panose="02010609060101010101" charset="-122"/>
                          <a:ea typeface="楷体" panose="02010609060101010101" charset="-122"/>
                        </a:rPr>
                        <a:t>处理方式</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批处理</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联机实时处理、批处理</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p>
                      <a:pPr indent="0">
                        <a:buNone/>
                      </a:pPr>
                      <a:r>
                        <a:rPr lang="zh-CN" sz="1800" b="1">
                          <a:solidFill>
                            <a:srgbClr val="1F2DA8"/>
                          </a:solidFill>
                          <a:latin typeface="楷体" panose="02010609060101010101" charset="-122"/>
                          <a:ea typeface="楷体" panose="02010609060101010101" charset="-122"/>
                        </a:rPr>
                        <a:t>联机实时处理、分布处理、批处理</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extLst>
                  <a:ext uri="{0D108BD9-81ED-4DB2-BD59-A6C34878D82A}">
                    <a16:rowId xmlns:a16="http://schemas.microsoft.com/office/drawing/2014/main" val="10004"/>
                  </a:ext>
                </a:extLst>
              </a:tr>
              <a:tr h="520065">
                <a:tc rowSpan="6">
                  <a:txBody>
                    <a:bodyPr/>
                    <a:lstStyle/>
                    <a:p>
                      <a:pPr indent="0" algn="ctr">
                        <a:buNone/>
                      </a:pPr>
                      <a:r>
                        <a:rPr lang="zh-CN" sz="1800" b="1">
                          <a:solidFill>
                            <a:srgbClr val="000000"/>
                          </a:solidFill>
                          <a:latin typeface="楷体" panose="02010609060101010101" charset="-122"/>
                          <a:ea typeface="楷体" panose="02010609060101010101" charset="-122"/>
                          <a:cs typeface="楷体" panose="02010609060101010101" charset="-122"/>
                        </a:rPr>
                        <a:t>特</a:t>
                      </a:r>
                    </a:p>
                    <a:p>
                      <a:pPr indent="0" algn="ctr">
                        <a:buNone/>
                      </a:pPr>
                      <a:r>
                        <a:rPr lang="en-US" sz="1800" b="1">
                          <a:solidFill>
                            <a:srgbClr val="000000"/>
                          </a:solidFill>
                          <a:latin typeface="楷体" panose="02010609060101010101" charset="-122"/>
                          <a:ea typeface="楷体" panose="02010609060101010101" charset="-122"/>
                          <a:cs typeface="楷体" panose="02010609060101010101" charset="-122"/>
                        </a:rPr>
                        <a:t> </a:t>
                      </a:r>
                      <a:r>
                        <a:rPr lang="zh-CN" sz="1800" b="1">
                          <a:solidFill>
                            <a:srgbClr val="000000"/>
                          </a:solidFill>
                          <a:latin typeface="楷体" panose="02010609060101010101" charset="-122"/>
                          <a:ea typeface="楷体" panose="02010609060101010101" charset="-122"/>
                          <a:cs typeface="楷体" panose="02010609060101010101" charset="-122"/>
                        </a:rPr>
                        <a:t>点</a:t>
                      </a:r>
                      <a:endParaRPr lang="en-US" altLang="en-US" sz="1800" b="1">
                        <a:solidFill>
                          <a:srgbClr val="000000"/>
                        </a:solidFill>
                        <a:latin typeface="楷体" panose="02010609060101010101" charset="-122"/>
                        <a:ea typeface="楷体" panose="02010609060101010101" charset="-122"/>
                        <a:cs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800" b="1">
                          <a:solidFill>
                            <a:srgbClr val="000000"/>
                          </a:solidFill>
                          <a:latin typeface="楷体" panose="02010609060101010101" charset="-122"/>
                          <a:ea typeface="楷体" panose="02010609060101010101" charset="-122"/>
                        </a:rPr>
                        <a:t>数据的管理者</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用户（程序员）</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文件系统</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数据库管理系统</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数据面向的对象</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某一应用程序</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某一应用</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现实世界（一个部门、企业、跨国组织等）</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数据的共享程度</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无共享，冗余度极大</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共享性差，冗余度大</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共享性高，冗余度小</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数据独立性</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不独立，完全依赖于程序</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独立性差</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具有较高的物理独立性和一定的逻辑独立性</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indent="0" algn="ctr">
                        <a:buNone/>
                      </a:pPr>
                      <a:r>
                        <a:rPr lang="zh-CN" sz="1800" b="1">
                          <a:solidFill>
                            <a:srgbClr val="000000"/>
                          </a:solidFill>
                          <a:latin typeface="楷体" panose="02010609060101010101" charset="-122"/>
                          <a:ea typeface="楷体" panose="02010609060101010101" charset="-122"/>
                        </a:rPr>
                        <a:t>数据的结构化</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无结构</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记录内有结构，整体无结构</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整体结构化，用数据模型描述</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2006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r>
                        <a:rPr lang="zh-CN" sz="1800" b="1">
                          <a:solidFill>
                            <a:srgbClr val="000000"/>
                          </a:solidFill>
                          <a:latin typeface="楷体" panose="02010609060101010101" charset="-122"/>
                          <a:ea typeface="楷体" panose="02010609060101010101" charset="-122"/>
                        </a:rPr>
                        <a:t>数据控制能力</a:t>
                      </a:r>
                      <a:endParaRPr lang="zh-CN" altLang="en-US" sz="1800" b="1">
                        <a:solidFill>
                          <a:srgbClr val="000000"/>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应用程序自己控制</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rPr>
                        <a:t>应用程序自己控制</a:t>
                      </a:r>
                      <a:endParaRPr lang="zh-CN" altLang="en-US" sz="1800" b="1">
                        <a:solidFill>
                          <a:srgbClr val="1F2DA8"/>
                        </a:solidFill>
                        <a:latin typeface="楷体" panose="02010609060101010101" charset="-122"/>
                        <a:ea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800" b="1">
                          <a:solidFill>
                            <a:srgbClr val="1F2DA8"/>
                          </a:solidFill>
                          <a:latin typeface="楷体" panose="02010609060101010101" charset="-122"/>
                          <a:ea typeface="楷体" panose="02010609060101010101" charset="-122"/>
                          <a:cs typeface="楷体" panose="02010609060101010101" charset="-122"/>
                        </a:rPr>
                        <a:t>由DBMS提供统一控制</a:t>
                      </a:r>
                      <a:endParaRPr lang="zh-CN" altLang="en-US" sz="1800" b="1">
                        <a:solidFill>
                          <a:srgbClr val="1F2DA8"/>
                        </a:solidFill>
                        <a:latin typeface="楷体" panose="02010609060101010101" charset="-122"/>
                        <a:ea typeface="楷体" panose="02010609060101010101" charset="-122"/>
                        <a:cs typeface="楷体" panose="02010609060101010101"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数据管理</a:t>
            </a:r>
            <a:r>
              <a:rPr lang="en-US" altLang="zh-CN"/>
              <a:t> - </a:t>
            </a:r>
            <a:r>
              <a:rPr lang="zh-CN" altLang="en-US"/>
              <a:t>人工管理（</a:t>
            </a:r>
            <a:r>
              <a:rPr lang="en-US" altLang="zh-CN"/>
              <a:t>1</a:t>
            </a:r>
            <a:r>
              <a:rPr lang="zh-CN" altLang="en-US"/>
              <a:t>）</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32</a:t>
            </a:fld>
            <a:endParaRPr lang="zh-CN" altLang="en-US"/>
          </a:p>
        </p:txBody>
      </p:sp>
      <p:sp>
        <p:nvSpPr>
          <p:cNvPr id="7" name="文本框 6"/>
          <p:cNvSpPr txBox="1"/>
          <p:nvPr/>
        </p:nvSpPr>
        <p:spPr>
          <a:xfrm>
            <a:off x="566420" y="5262880"/>
            <a:ext cx="10894695" cy="553085"/>
          </a:xfrm>
          <a:prstGeom prst="rect">
            <a:avLst/>
          </a:prstGeom>
          <a:noFill/>
        </p:spPr>
        <p:txBody>
          <a:bodyPr wrap="square" rtlCol="0">
            <a:spAutoFit/>
          </a:bodyPr>
          <a:lstStyle/>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1.3  </a:t>
            </a:r>
            <a:r>
              <a:rPr lang="zh-CN" altLang="en-US" sz="3000" b="1">
                <a:solidFill>
                  <a:srgbClr val="1F2DA8"/>
                </a:solidFill>
                <a:latin typeface="楷体" panose="02010609060101010101" charset="-122"/>
                <a:ea typeface="楷体" panose="02010609060101010101" charset="-122"/>
                <a:cs typeface="楷体" panose="02010609060101010101" charset="-122"/>
              </a:rPr>
              <a:t>人工管理阶段应用程序与数据之间的一一对应关系</a:t>
            </a:r>
          </a:p>
        </p:txBody>
      </p:sp>
      <p:grpSp>
        <p:nvGrpSpPr>
          <p:cNvPr id="20" name="Group 4"/>
          <p:cNvGrpSpPr/>
          <p:nvPr/>
        </p:nvGrpSpPr>
        <p:grpSpPr bwMode="auto">
          <a:xfrm>
            <a:off x="2558330" y="1294765"/>
            <a:ext cx="6235615" cy="3048000"/>
            <a:chOff x="1253" y="1248"/>
            <a:chExt cx="3928" cy="1920"/>
          </a:xfrm>
        </p:grpSpPr>
        <p:grpSp>
          <p:nvGrpSpPr>
            <p:cNvPr id="21" name="Group 5"/>
            <p:cNvGrpSpPr/>
            <p:nvPr/>
          </p:nvGrpSpPr>
          <p:grpSpPr bwMode="auto">
            <a:xfrm>
              <a:off x="1258" y="1248"/>
              <a:ext cx="3922" cy="816"/>
              <a:chOff x="2433" y="10353"/>
              <a:chExt cx="4420" cy="1256"/>
            </a:xfrm>
          </p:grpSpPr>
          <p:sp>
            <p:nvSpPr>
              <p:cNvPr id="28" name="Text Box 6"/>
              <p:cNvSpPr txBox="1">
                <a:spLocks noChangeArrowheads="1"/>
              </p:cNvSpPr>
              <p:nvPr>
                <p:custDataLst>
                  <p:tags r:id="rId7"/>
                </p:custDataLst>
              </p:nvPr>
            </p:nvSpPr>
            <p:spPr bwMode="auto">
              <a:xfrm>
                <a:off x="2433" y="10353"/>
                <a:ext cx="1681"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dirty="0">
                    <a:latin typeface="楷体" panose="02010609060101010101" charset="-122"/>
                    <a:ea typeface="楷体" panose="02010609060101010101" charset="-122"/>
                    <a:cs typeface="楷体" panose="02010609060101010101" charset="-122"/>
                  </a:rPr>
                  <a:t>应用程序</a:t>
                </a:r>
                <a:r>
                  <a:rPr kumimoji="1" lang="en-US" altLang="zh-CN" sz="3000" b="1" dirty="0">
                    <a:latin typeface="楷体" panose="02010609060101010101" charset="-122"/>
                    <a:ea typeface="楷体" panose="02010609060101010101" charset="-122"/>
                    <a:cs typeface="楷体" panose="02010609060101010101" charset="-122"/>
                  </a:rPr>
                  <a:t> 1</a:t>
                </a:r>
              </a:p>
            </p:txBody>
          </p:sp>
          <p:sp>
            <p:nvSpPr>
              <p:cNvPr id="29" name="Text Box 7"/>
              <p:cNvSpPr txBox="1">
                <a:spLocks noChangeArrowheads="1"/>
              </p:cNvSpPr>
              <p:nvPr>
                <p:custDataLst>
                  <p:tags r:id="rId8"/>
                </p:custDataLst>
              </p:nvPr>
            </p:nvSpPr>
            <p:spPr bwMode="auto">
              <a:xfrm>
                <a:off x="5269" y="10353"/>
                <a:ext cx="1584"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1</a:t>
                </a:r>
              </a:p>
            </p:txBody>
          </p:sp>
          <p:sp>
            <p:nvSpPr>
              <p:cNvPr id="31" name="Text Box 9"/>
              <p:cNvSpPr txBox="1">
                <a:spLocks noChangeArrowheads="1"/>
              </p:cNvSpPr>
              <p:nvPr>
                <p:custDataLst>
                  <p:tags r:id="rId9"/>
                </p:custDataLst>
              </p:nvPr>
            </p:nvSpPr>
            <p:spPr bwMode="auto">
              <a:xfrm>
                <a:off x="2433" y="11138"/>
                <a:ext cx="1681"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应用程序</a:t>
                </a:r>
                <a:r>
                  <a:rPr kumimoji="1" lang="en-US" altLang="zh-CN" sz="3000" b="1">
                    <a:latin typeface="楷体" panose="02010609060101010101" charset="-122"/>
                    <a:ea typeface="楷体" panose="02010609060101010101" charset="-122"/>
                    <a:cs typeface="楷体" panose="02010609060101010101" charset="-122"/>
                  </a:rPr>
                  <a:t> 2</a:t>
                </a:r>
              </a:p>
            </p:txBody>
          </p:sp>
          <p:sp>
            <p:nvSpPr>
              <p:cNvPr id="32" name="Text Box 10"/>
              <p:cNvSpPr txBox="1">
                <a:spLocks noChangeArrowheads="1"/>
              </p:cNvSpPr>
              <p:nvPr>
                <p:custDataLst>
                  <p:tags r:id="rId10"/>
                </p:custDataLst>
              </p:nvPr>
            </p:nvSpPr>
            <p:spPr bwMode="auto">
              <a:xfrm>
                <a:off x="5269" y="11138"/>
                <a:ext cx="1584"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2</a:t>
                </a:r>
              </a:p>
            </p:txBody>
          </p:sp>
        </p:grpSp>
        <p:grpSp>
          <p:nvGrpSpPr>
            <p:cNvPr id="22" name="Group 12"/>
            <p:cNvGrpSpPr/>
            <p:nvPr/>
          </p:nvGrpSpPr>
          <p:grpSpPr bwMode="auto">
            <a:xfrm>
              <a:off x="1253" y="2832"/>
              <a:ext cx="3928" cy="336"/>
              <a:chOff x="2433" y="13022"/>
              <a:chExt cx="4360" cy="471"/>
            </a:xfrm>
          </p:grpSpPr>
          <p:sp>
            <p:nvSpPr>
              <p:cNvPr id="25" name="Text Box 13"/>
              <p:cNvSpPr txBox="1">
                <a:spLocks noChangeArrowheads="1"/>
              </p:cNvSpPr>
              <p:nvPr>
                <p:custDataLst>
                  <p:tags r:id="rId5"/>
                </p:custDataLst>
              </p:nvPr>
            </p:nvSpPr>
            <p:spPr bwMode="auto">
              <a:xfrm>
                <a:off x="2433" y="13022"/>
                <a:ext cx="1660"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应用程序</a:t>
                </a:r>
                <a:r>
                  <a:rPr kumimoji="1" lang="en-US" altLang="zh-CN" sz="3000" b="1">
                    <a:latin typeface="楷体" panose="02010609060101010101" charset="-122"/>
                    <a:ea typeface="楷体" panose="02010609060101010101" charset="-122"/>
                    <a:cs typeface="楷体" panose="02010609060101010101" charset="-122"/>
                  </a:rPr>
                  <a:t> n</a:t>
                </a:r>
                <a:endParaRPr kumimoji="1" lang="zh-CN" altLang="en-US" sz="3000" b="1">
                  <a:latin typeface="楷体" panose="02010609060101010101" charset="-122"/>
                  <a:ea typeface="楷体" panose="02010609060101010101" charset="-122"/>
                  <a:cs typeface="楷体" panose="02010609060101010101" charset="-122"/>
                </a:endParaRPr>
              </a:p>
            </p:txBody>
          </p:sp>
          <p:sp>
            <p:nvSpPr>
              <p:cNvPr id="26" name="Text Box 14"/>
              <p:cNvSpPr txBox="1">
                <a:spLocks noChangeArrowheads="1"/>
              </p:cNvSpPr>
              <p:nvPr>
                <p:custDataLst>
                  <p:tags r:id="rId6"/>
                </p:custDataLst>
              </p:nvPr>
            </p:nvSpPr>
            <p:spPr bwMode="auto">
              <a:xfrm>
                <a:off x="5233" y="13022"/>
                <a:ext cx="1560"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n</a:t>
                </a:r>
              </a:p>
            </p:txBody>
          </p:sp>
        </p:grpSp>
        <p:sp>
          <p:nvSpPr>
            <p:cNvPr id="23" name="Text Box 16"/>
            <p:cNvSpPr txBox="1">
              <a:spLocks noChangeArrowheads="1"/>
            </p:cNvSpPr>
            <p:nvPr>
              <p:custDataLst>
                <p:tags r:id="rId3"/>
              </p:custDataLst>
            </p:nvPr>
          </p:nvSpPr>
          <p:spPr bwMode="auto">
            <a:xfrm>
              <a:off x="1801" y="2304"/>
              <a:ext cx="40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000" b="1">
                  <a:latin typeface="楷体" panose="02010609060101010101" charset="-122"/>
                  <a:ea typeface="楷体" panose="02010609060101010101" charset="-122"/>
                </a:rPr>
                <a:t>...</a:t>
              </a:r>
            </a:p>
          </p:txBody>
        </p:sp>
        <p:sp>
          <p:nvSpPr>
            <p:cNvPr id="24" name="Text Box 17"/>
            <p:cNvSpPr txBox="1">
              <a:spLocks noChangeArrowheads="1"/>
            </p:cNvSpPr>
            <p:nvPr>
              <p:custDataLst>
                <p:tags r:id="rId4"/>
              </p:custDataLst>
            </p:nvPr>
          </p:nvSpPr>
          <p:spPr bwMode="auto">
            <a:xfrm>
              <a:off x="4275" y="2291"/>
              <a:ext cx="40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000" b="1">
                  <a:latin typeface="楷体" panose="02010609060101010101" charset="-122"/>
                  <a:ea typeface="楷体" panose="02010609060101010101" charset="-122"/>
                </a:rPr>
                <a:t>...</a:t>
              </a:r>
            </a:p>
          </p:txBody>
        </p:sp>
      </p:grpSp>
      <p:cxnSp>
        <p:nvCxnSpPr>
          <p:cNvPr id="8" name="直接连接符 7"/>
          <p:cNvCxnSpPr/>
          <p:nvPr/>
        </p:nvCxnSpPr>
        <p:spPr>
          <a:xfrm>
            <a:off x="4935220" y="1537970"/>
            <a:ext cx="162750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custDataLst>
              <p:tags r:id="rId1"/>
            </p:custDataLst>
          </p:nvPr>
        </p:nvCxnSpPr>
        <p:spPr>
          <a:xfrm>
            <a:off x="4935220" y="2347595"/>
            <a:ext cx="162750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custDataLst>
              <p:tags r:id="rId2"/>
            </p:custDataLst>
          </p:nvPr>
        </p:nvCxnSpPr>
        <p:spPr>
          <a:xfrm>
            <a:off x="4932045" y="4076065"/>
            <a:ext cx="1630680"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数据管理</a:t>
            </a:r>
            <a:r>
              <a:rPr lang="en-US" altLang="zh-CN">
                <a:sym typeface="+mn-ea"/>
              </a:rPr>
              <a:t> - </a:t>
            </a:r>
            <a:r>
              <a:rPr lang="zh-CN" altLang="en-US"/>
              <a:t>人工管理（</a:t>
            </a:r>
            <a:r>
              <a:rPr lang="en-US" altLang="zh-CN"/>
              <a:t>2</a:t>
            </a:r>
            <a:r>
              <a:rPr lang="zh-CN" altLang="en-US"/>
              <a:t>）</a:t>
            </a:r>
          </a:p>
        </p:txBody>
      </p:sp>
      <p:sp>
        <p:nvSpPr>
          <p:cNvPr id="3" name="内容占位符 2"/>
          <p:cNvSpPr>
            <a:spLocks noGrp="1"/>
          </p:cNvSpPr>
          <p:nvPr>
            <p:ph idx="1"/>
          </p:nvPr>
        </p:nvSpPr>
        <p:spPr/>
        <p:txBody>
          <a:bodyPr/>
          <a:lstStyle/>
          <a:p>
            <a:pPr marL="361950" lvl="0" algn="just" eaLnBrk="1" hangingPunct="1">
              <a:lnSpc>
                <a:spcPct val="150000"/>
              </a:lnSpc>
              <a:spcBef>
                <a:spcPts val="0"/>
              </a:spcBef>
            </a:pPr>
            <a:r>
              <a:rPr lang="zh-CN" altLang="en-US" sz="3000" dirty="0">
                <a:sym typeface="+mn-ea"/>
              </a:rPr>
              <a:t>特点</a:t>
            </a:r>
            <a:endParaRPr lang="zh-CN" altLang="en-US" sz="3000" u="sng" dirty="0">
              <a:sym typeface="+mn-ea"/>
            </a:endParaRPr>
          </a:p>
          <a:p>
            <a:pPr marL="819150" lvl="1" algn="just" eaLnBrk="1" hangingPunct="1">
              <a:lnSpc>
                <a:spcPct val="150000"/>
              </a:lnSpc>
              <a:spcBef>
                <a:spcPts val="0"/>
              </a:spcBef>
            </a:pPr>
            <a:r>
              <a:rPr lang="zh-CN" altLang="en-US" sz="3000" dirty="0">
                <a:highlight>
                  <a:srgbClr val="FFFF00"/>
                </a:highlight>
                <a:sym typeface="+mn-ea"/>
              </a:rPr>
              <a:t>数据的管理者</a:t>
            </a:r>
            <a:r>
              <a:rPr lang="zh-CN" altLang="en-US" sz="3000" dirty="0">
                <a:sym typeface="+mn-ea"/>
              </a:rPr>
              <a:t>：用户</a:t>
            </a:r>
            <a:r>
              <a:rPr lang="en-US" altLang="zh-CN" sz="3000" dirty="0">
                <a:sym typeface="+mn-ea"/>
              </a:rPr>
              <a:t>(</a:t>
            </a:r>
            <a:r>
              <a:rPr lang="zh-CN" altLang="en-US" sz="3000" dirty="0">
                <a:sym typeface="+mn-ea"/>
              </a:rPr>
              <a:t>程序员</a:t>
            </a:r>
            <a:r>
              <a:rPr lang="en-US" altLang="zh-CN" sz="3000" dirty="0">
                <a:sym typeface="+mn-ea"/>
              </a:rPr>
              <a:t>)</a:t>
            </a:r>
            <a:r>
              <a:rPr lang="zh-CN" altLang="en-US" sz="3000" dirty="0">
                <a:sym typeface="+mn-ea"/>
              </a:rPr>
              <a:t>，数据不保存</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数据面向的对象</a:t>
            </a:r>
            <a:r>
              <a:rPr lang="zh-CN" altLang="en-US" sz="3000" dirty="0">
                <a:sym typeface="+mn-ea"/>
              </a:rPr>
              <a:t>：某一应用程序   </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数据的共享程度</a:t>
            </a:r>
            <a:r>
              <a:rPr lang="zh-CN" altLang="en-US" sz="3000" dirty="0">
                <a:sym typeface="+mn-ea"/>
              </a:rPr>
              <a:t>：无共享、冗余度极大</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数据独立性</a:t>
            </a:r>
            <a:r>
              <a:rPr lang="zh-CN" altLang="en-US" sz="3000" dirty="0">
                <a:sym typeface="+mn-ea"/>
              </a:rPr>
              <a:t>：不独立，完全依赖于程序</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数据结构化</a:t>
            </a:r>
            <a:r>
              <a:rPr lang="zh-CN" altLang="en-US" sz="3000" dirty="0">
                <a:sym typeface="+mn-ea"/>
              </a:rPr>
              <a:t>：无结构</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数据控制能力</a:t>
            </a:r>
            <a:r>
              <a:rPr lang="zh-CN" altLang="en-US" sz="3000" dirty="0">
                <a:sym typeface="+mn-ea"/>
              </a:rPr>
              <a:t>：应用程序自己控制</a:t>
            </a:r>
            <a:endParaRPr lang="zh-CN" altLang="en-US" sz="3000"/>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33</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1</a:t>
            </a:r>
            <a:r>
              <a:rPr lang="zh-CN" altLang="en-US" dirty="0">
                <a:latin typeface="Tahoma" panose="020B0604030504040204" pitchFamily="34" charset="0"/>
                <a:sym typeface="+mn-ea"/>
              </a:rPr>
              <a:t>）</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34</a:t>
            </a:fld>
            <a:endParaRPr lang="zh-CN" altLang="en-US"/>
          </a:p>
        </p:txBody>
      </p:sp>
      <p:grpSp>
        <p:nvGrpSpPr>
          <p:cNvPr id="25" name="Group 26"/>
          <p:cNvGrpSpPr/>
          <p:nvPr/>
        </p:nvGrpSpPr>
        <p:grpSpPr bwMode="auto">
          <a:xfrm>
            <a:off x="2721199" y="942231"/>
            <a:ext cx="5981228" cy="3529137"/>
            <a:chOff x="960" y="1389"/>
            <a:chExt cx="3599" cy="2087"/>
          </a:xfrm>
        </p:grpSpPr>
        <p:sp>
          <p:nvSpPr>
            <p:cNvPr id="26" name="Text Box 5"/>
            <p:cNvSpPr txBox="1">
              <a:spLocks noChangeArrowheads="1"/>
            </p:cNvSpPr>
            <p:nvPr>
              <p:custDataLst>
                <p:tags r:id="rId2"/>
              </p:custDataLst>
            </p:nvPr>
          </p:nvSpPr>
          <p:spPr bwMode="auto">
            <a:xfrm>
              <a:off x="960" y="1389"/>
              <a:ext cx="1300"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1</a:t>
              </a:r>
            </a:p>
          </p:txBody>
        </p:sp>
        <p:sp>
          <p:nvSpPr>
            <p:cNvPr id="27" name="Text Box 6"/>
            <p:cNvSpPr txBox="1">
              <a:spLocks noChangeArrowheads="1"/>
            </p:cNvSpPr>
            <p:nvPr>
              <p:custDataLst>
                <p:tags r:id="rId3"/>
              </p:custDataLst>
            </p:nvPr>
          </p:nvSpPr>
          <p:spPr bwMode="auto">
            <a:xfrm>
              <a:off x="3307" y="1396"/>
              <a:ext cx="1252"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文件</a:t>
              </a:r>
              <a:r>
                <a:rPr kumimoji="1" lang="en-US" altLang="zh-CN" sz="2800" b="1">
                  <a:ea typeface="楷体" panose="02010609060101010101" charset="-122"/>
                </a:rPr>
                <a:t> 1</a:t>
              </a:r>
            </a:p>
          </p:txBody>
        </p:sp>
        <p:sp>
          <p:nvSpPr>
            <p:cNvPr id="28" name="Line 7"/>
            <p:cNvSpPr>
              <a:spLocks noChangeShapeType="1"/>
            </p:cNvSpPr>
            <p:nvPr>
              <p:custDataLst>
                <p:tags r:id="rId4"/>
              </p:custDataLst>
            </p:nvPr>
          </p:nvSpPr>
          <p:spPr bwMode="auto">
            <a:xfrm>
              <a:off x="2260" y="1593"/>
              <a:ext cx="1047"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 name="Text Box 8"/>
            <p:cNvSpPr txBox="1">
              <a:spLocks noChangeArrowheads="1"/>
            </p:cNvSpPr>
            <p:nvPr>
              <p:custDataLst>
                <p:tags r:id="rId5"/>
              </p:custDataLst>
            </p:nvPr>
          </p:nvSpPr>
          <p:spPr bwMode="auto">
            <a:xfrm>
              <a:off x="960" y="1889"/>
              <a:ext cx="1300" cy="297"/>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2</a:t>
              </a:r>
            </a:p>
          </p:txBody>
        </p:sp>
        <p:sp>
          <p:nvSpPr>
            <p:cNvPr id="30" name="Text Box 9"/>
            <p:cNvSpPr txBox="1">
              <a:spLocks noChangeArrowheads="1"/>
            </p:cNvSpPr>
            <p:nvPr>
              <p:custDataLst>
                <p:tags r:id="rId6"/>
              </p:custDataLst>
            </p:nvPr>
          </p:nvSpPr>
          <p:spPr bwMode="auto">
            <a:xfrm>
              <a:off x="3307" y="1889"/>
              <a:ext cx="1252" cy="297"/>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cs typeface="Arial" panose="020B0604020202020204" pitchFamily="34" charset="0"/>
                </a:rPr>
                <a:t>文件</a:t>
              </a:r>
              <a:r>
                <a:rPr kumimoji="1" lang="en-US" altLang="zh-CN" sz="2800" b="1">
                  <a:ea typeface="楷体" panose="02010609060101010101" charset="-122"/>
                  <a:cs typeface="Arial" panose="020B0604020202020204" pitchFamily="34" charset="0"/>
                </a:rPr>
                <a:t> 2</a:t>
              </a:r>
            </a:p>
          </p:txBody>
        </p:sp>
        <p:sp>
          <p:nvSpPr>
            <p:cNvPr id="31" name="Line 10"/>
            <p:cNvSpPr>
              <a:spLocks noChangeShapeType="1"/>
            </p:cNvSpPr>
            <p:nvPr>
              <p:custDataLst>
                <p:tags r:id="rId7"/>
              </p:custDataLst>
            </p:nvPr>
          </p:nvSpPr>
          <p:spPr bwMode="auto">
            <a:xfrm>
              <a:off x="2260" y="2087"/>
              <a:ext cx="1047"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 name="Text Box 11"/>
            <p:cNvSpPr txBox="1">
              <a:spLocks noChangeArrowheads="1"/>
            </p:cNvSpPr>
            <p:nvPr>
              <p:custDataLst>
                <p:tags r:id="rId8"/>
              </p:custDataLst>
            </p:nvPr>
          </p:nvSpPr>
          <p:spPr bwMode="auto">
            <a:xfrm>
              <a:off x="960" y="3180"/>
              <a:ext cx="1300"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n</a:t>
              </a:r>
            </a:p>
          </p:txBody>
        </p:sp>
        <p:sp>
          <p:nvSpPr>
            <p:cNvPr id="33" name="Text Box 12"/>
            <p:cNvSpPr txBox="1">
              <a:spLocks noChangeArrowheads="1"/>
            </p:cNvSpPr>
            <p:nvPr>
              <p:custDataLst>
                <p:tags r:id="rId9"/>
              </p:custDataLst>
            </p:nvPr>
          </p:nvSpPr>
          <p:spPr bwMode="auto">
            <a:xfrm>
              <a:off x="3307" y="3177"/>
              <a:ext cx="1252"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cs typeface="Arial" panose="020B0604020202020204" pitchFamily="34" charset="0"/>
                </a:rPr>
                <a:t>文件</a:t>
              </a:r>
              <a:r>
                <a:rPr kumimoji="1" lang="en-US" altLang="zh-CN" sz="2800" b="1">
                  <a:ea typeface="楷体" panose="02010609060101010101" charset="-122"/>
                  <a:cs typeface="Arial" panose="020B0604020202020204" pitchFamily="34" charset="0"/>
                </a:rPr>
                <a:t> n</a:t>
              </a:r>
            </a:p>
          </p:txBody>
        </p:sp>
        <p:sp>
          <p:nvSpPr>
            <p:cNvPr id="34" name="Line 13"/>
            <p:cNvSpPr>
              <a:spLocks noChangeShapeType="1"/>
            </p:cNvSpPr>
            <p:nvPr>
              <p:custDataLst>
                <p:tags r:id="rId10"/>
              </p:custDataLst>
            </p:nvPr>
          </p:nvSpPr>
          <p:spPr bwMode="auto">
            <a:xfrm flipV="1">
              <a:off x="2260" y="3374"/>
              <a:ext cx="1047" cy="4"/>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5" name="Oval 14"/>
            <p:cNvSpPr>
              <a:spLocks noChangeArrowheads="1"/>
            </p:cNvSpPr>
            <p:nvPr>
              <p:custDataLst>
                <p:tags r:id="rId11"/>
              </p:custDataLst>
            </p:nvPr>
          </p:nvSpPr>
          <p:spPr bwMode="auto">
            <a:xfrm>
              <a:off x="2422" y="2382"/>
              <a:ext cx="781" cy="611"/>
            </a:xfrm>
            <a:prstGeom prst="ellipse">
              <a:avLst/>
            </a:prstGeom>
            <a:solidFill>
              <a:srgbClr val="FFFFFF"/>
            </a:solidFill>
            <a:ln w="9525">
              <a:solidFill>
                <a:srgbClr val="000000"/>
              </a:solidFill>
              <a:round/>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存取方法</a:t>
              </a:r>
            </a:p>
          </p:txBody>
        </p:sp>
        <p:sp>
          <p:nvSpPr>
            <p:cNvPr id="36" name="Line 15"/>
            <p:cNvSpPr>
              <a:spLocks noChangeShapeType="1"/>
            </p:cNvSpPr>
            <p:nvPr>
              <p:custDataLst>
                <p:tags r:id="rId12"/>
              </p:custDataLst>
            </p:nvPr>
          </p:nvSpPr>
          <p:spPr bwMode="auto">
            <a:xfrm>
              <a:off x="2260" y="1691"/>
              <a:ext cx="403" cy="6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16"/>
            <p:cNvSpPr>
              <a:spLocks noChangeShapeType="1"/>
            </p:cNvSpPr>
            <p:nvPr>
              <p:custDataLst>
                <p:tags r:id="rId13"/>
              </p:custDataLst>
            </p:nvPr>
          </p:nvSpPr>
          <p:spPr bwMode="auto">
            <a:xfrm flipH="1">
              <a:off x="2905" y="1691"/>
              <a:ext cx="402" cy="6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17"/>
            <p:cNvSpPr>
              <a:spLocks noChangeShapeType="1"/>
            </p:cNvSpPr>
            <p:nvPr>
              <p:custDataLst>
                <p:tags r:id="rId14"/>
              </p:custDataLst>
            </p:nvPr>
          </p:nvSpPr>
          <p:spPr bwMode="auto">
            <a:xfrm>
              <a:off x="2260" y="2185"/>
              <a:ext cx="242" cy="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18"/>
            <p:cNvSpPr>
              <a:spLocks noChangeShapeType="1"/>
            </p:cNvSpPr>
            <p:nvPr>
              <p:custDataLst>
                <p:tags r:id="rId15"/>
              </p:custDataLst>
            </p:nvPr>
          </p:nvSpPr>
          <p:spPr bwMode="auto">
            <a:xfrm flipH="1">
              <a:off x="3065" y="2185"/>
              <a:ext cx="242" cy="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Freeform 19"/>
            <p:cNvSpPr/>
            <p:nvPr>
              <p:custDataLst>
                <p:tags r:id="rId16"/>
              </p:custDataLst>
            </p:nvPr>
          </p:nvSpPr>
          <p:spPr bwMode="auto">
            <a:xfrm>
              <a:off x="2260" y="2941"/>
              <a:ext cx="317" cy="236"/>
            </a:xfrm>
            <a:custGeom>
              <a:avLst/>
              <a:gdLst>
                <a:gd name="T0" fmla="*/ 0 w 413"/>
                <a:gd name="T1" fmla="*/ 1 h 374"/>
                <a:gd name="T2" fmla="*/ 2 w 413"/>
                <a:gd name="T3" fmla="*/ 0 h 374"/>
                <a:gd name="T4" fmla="*/ 0 60000 65536"/>
                <a:gd name="T5" fmla="*/ 0 60000 65536"/>
                <a:gd name="T6" fmla="*/ 0 w 413"/>
                <a:gd name="T7" fmla="*/ 0 h 374"/>
                <a:gd name="T8" fmla="*/ 413 w 413"/>
                <a:gd name="T9" fmla="*/ 374 h 374"/>
              </a:gdLst>
              <a:ahLst/>
              <a:cxnLst>
                <a:cxn ang="T4">
                  <a:pos x="T0" y="T1"/>
                </a:cxn>
                <a:cxn ang="T5">
                  <a:pos x="T2" y="T3"/>
                </a:cxn>
              </a:cxnLst>
              <a:rect l="T6" t="T7" r="T8" b="T9"/>
              <a:pathLst>
                <a:path w="413" h="374">
                  <a:moveTo>
                    <a:pt x="0" y="374"/>
                  </a:moveTo>
                  <a:lnTo>
                    <a:pt x="413"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ea typeface="楷体" panose="02010609060101010101" charset="-122"/>
                <a:cs typeface="Arial" panose="020B0604020202020204" pitchFamily="34" charset="0"/>
              </a:endParaRPr>
            </a:p>
          </p:txBody>
        </p:sp>
        <p:sp>
          <p:nvSpPr>
            <p:cNvPr id="41" name="Freeform 20"/>
            <p:cNvSpPr/>
            <p:nvPr>
              <p:custDataLst>
                <p:tags r:id="rId17"/>
              </p:custDataLst>
            </p:nvPr>
          </p:nvSpPr>
          <p:spPr bwMode="auto">
            <a:xfrm>
              <a:off x="3067" y="2932"/>
              <a:ext cx="241" cy="242"/>
            </a:xfrm>
            <a:custGeom>
              <a:avLst/>
              <a:gdLst>
                <a:gd name="T0" fmla="*/ 2 w 314"/>
                <a:gd name="T1" fmla="*/ 1 h 384"/>
                <a:gd name="T2" fmla="*/ 0 w 314"/>
                <a:gd name="T3" fmla="*/ 0 h 384"/>
                <a:gd name="T4" fmla="*/ 0 60000 65536"/>
                <a:gd name="T5" fmla="*/ 0 60000 65536"/>
                <a:gd name="T6" fmla="*/ 0 w 314"/>
                <a:gd name="T7" fmla="*/ 0 h 384"/>
                <a:gd name="T8" fmla="*/ 314 w 314"/>
                <a:gd name="T9" fmla="*/ 384 h 384"/>
              </a:gdLst>
              <a:ahLst/>
              <a:cxnLst>
                <a:cxn ang="T4">
                  <a:pos x="T0" y="T1"/>
                </a:cxn>
                <a:cxn ang="T5">
                  <a:pos x="T2" y="T3"/>
                </a:cxn>
              </a:cxnLst>
              <a:rect l="T6" t="T7" r="T8" b="T9"/>
              <a:pathLst>
                <a:path w="314" h="384">
                  <a:moveTo>
                    <a:pt x="314" y="384"/>
                  </a:moveTo>
                  <a:lnTo>
                    <a:pt x="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ea typeface="楷体" panose="02010609060101010101" charset="-122"/>
                <a:cs typeface="Arial" panose="020B0604020202020204" pitchFamily="34" charset="0"/>
              </a:endParaRPr>
            </a:p>
          </p:txBody>
        </p:sp>
        <p:sp>
          <p:nvSpPr>
            <p:cNvPr id="42" name="Text Box 21"/>
            <p:cNvSpPr txBox="1">
              <a:spLocks noChangeArrowheads="1"/>
            </p:cNvSpPr>
            <p:nvPr>
              <p:custDataLst>
                <p:tags r:id="rId18"/>
              </p:custDataLst>
            </p:nvPr>
          </p:nvSpPr>
          <p:spPr bwMode="auto">
            <a:xfrm>
              <a:off x="1534" y="2452"/>
              <a:ext cx="369"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ea typeface="楷体" panose="02010609060101010101" charset="-122"/>
                  <a:cs typeface="Arial" panose="020B0604020202020204" pitchFamily="34" charset="0"/>
                </a:rPr>
                <a:t>...</a:t>
              </a:r>
              <a:r>
                <a:rPr kumimoji="1" lang="en-US" altLang="zh-CN" sz="2800" b="1">
                  <a:ea typeface="楷体" panose="02010609060101010101" charset="-122"/>
                  <a:cs typeface="Arial" panose="020B0604020202020204" pitchFamily="34" charset="0"/>
                  <a:sym typeface="+mn-ea"/>
                </a:rPr>
                <a:t>...</a:t>
              </a:r>
              <a:endParaRPr kumimoji="1" lang="en-US" altLang="zh-CN" sz="2800" b="1">
                <a:ea typeface="楷体" panose="02010609060101010101" charset="-122"/>
                <a:cs typeface="Arial" panose="020B0604020202020204" pitchFamily="34" charset="0"/>
              </a:endParaRPr>
            </a:p>
          </p:txBody>
        </p:sp>
        <p:sp>
          <p:nvSpPr>
            <p:cNvPr id="43" name="Text Box 22"/>
            <p:cNvSpPr txBox="1">
              <a:spLocks noChangeArrowheads="1"/>
            </p:cNvSpPr>
            <p:nvPr>
              <p:custDataLst>
                <p:tags r:id="rId19"/>
              </p:custDataLst>
            </p:nvPr>
          </p:nvSpPr>
          <p:spPr bwMode="auto">
            <a:xfrm>
              <a:off x="3751" y="2452"/>
              <a:ext cx="369"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ea typeface="楷体" panose="02010609060101010101" charset="-122"/>
                  <a:cs typeface="Arial" panose="020B0604020202020204" pitchFamily="34" charset="0"/>
                </a:rPr>
                <a:t>...</a:t>
              </a:r>
              <a:r>
                <a:rPr kumimoji="1" lang="en-US" altLang="zh-CN" sz="2800" b="1">
                  <a:ea typeface="楷体" panose="02010609060101010101" charset="-122"/>
                  <a:cs typeface="Arial" panose="020B0604020202020204" pitchFamily="34" charset="0"/>
                  <a:sym typeface="+mn-ea"/>
                </a:rPr>
                <a:t>...</a:t>
              </a:r>
              <a:endParaRPr kumimoji="1" lang="en-US" altLang="zh-CN" sz="2800" b="1">
                <a:ea typeface="楷体" panose="02010609060101010101" charset="-122"/>
                <a:cs typeface="Arial" panose="020B0604020202020204" pitchFamily="34" charset="0"/>
              </a:endParaRPr>
            </a:p>
          </p:txBody>
        </p:sp>
      </p:grpSp>
      <p:sp>
        <p:nvSpPr>
          <p:cNvPr id="7" name="文本框 6"/>
          <p:cNvSpPr txBox="1"/>
          <p:nvPr>
            <p:custDataLst>
              <p:tags r:id="rId1"/>
            </p:custDataLst>
          </p:nvPr>
        </p:nvSpPr>
        <p:spPr>
          <a:xfrm>
            <a:off x="566420" y="5262880"/>
            <a:ext cx="10894695" cy="553085"/>
          </a:xfrm>
          <a:prstGeom prst="rect">
            <a:avLst/>
          </a:prstGeom>
          <a:noFill/>
        </p:spPr>
        <p:txBody>
          <a:bodyPr wrap="square" rtlCol="0">
            <a:spAutoFit/>
          </a:bodyPr>
          <a:lstStyle/>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1.4  </a:t>
            </a:r>
            <a:r>
              <a:rPr lang="zh-CN" altLang="en-US" sz="3000" b="1">
                <a:solidFill>
                  <a:srgbClr val="1F2DA8"/>
                </a:solidFill>
                <a:latin typeface="楷体" panose="02010609060101010101" charset="-122"/>
                <a:ea typeface="楷体" panose="02010609060101010101" charset="-122"/>
                <a:cs typeface="楷体" panose="02010609060101010101" charset="-122"/>
              </a:rPr>
              <a:t>文件系统阶段应用程序与数据之间的对应关系</a:t>
            </a:r>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2</a:t>
            </a:r>
            <a:r>
              <a:rPr lang="zh-CN" altLang="en-US" dirty="0">
                <a:latin typeface="Tahoma" panose="020B0604030504040204" pitchFamily="34" charset="0"/>
                <a:sym typeface="+mn-ea"/>
              </a:rPr>
              <a:t>）</a:t>
            </a:r>
            <a:endParaRPr lang="zh-CN" altLang="en-US"/>
          </a:p>
        </p:txBody>
      </p:sp>
      <p:sp>
        <p:nvSpPr>
          <p:cNvPr id="5" name="内容占位符 4"/>
          <p:cNvSpPr>
            <a:spLocks noGrp="1"/>
          </p:cNvSpPr>
          <p:nvPr>
            <p:ph idx="1"/>
          </p:nvPr>
        </p:nvSpPr>
        <p:spPr/>
        <p:txBody>
          <a:bodyPr/>
          <a:lstStyle/>
          <a:p>
            <a:pPr>
              <a:lnSpc>
                <a:spcPct val="150000"/>
              </a:lnSpc>
            </a:pPr>
            <a:r>
              <a:rPr lang="zh-CN" altLang="en-US" sz="3000" dirty="0">
                <a:sym typeface="+mn-ea"/>
              </a:rPr>
              <a:t>特点</a:t>
            </a:r>
            <a:endParaRPr lang="zh-CN" altLang="en-US" sz="3000" dirty="0"/>
          </a:p>
          <a:p>
            <a:pPr lvl="1">
              <a:lnSpc>
                <a:spcPct val="150000"/>
              </a:lnSpc>
            </a:pPr>
            <a:r>
              <a:rPr lang="zh-CN" altLang="en-US" sz="3000" dirty="0">
                <a:highlight>
                  <a:srgbClr val="FFFF00"/>
                </a:highlight>
                <a:sym typeface="+mn-ea"/>
              </a:rPr>
              <a:t>数据的管理者</a:t>
            </a:r>
            <a:r>
              <a:rPr lang="zh-CN" altLang="en-US" sz="3000" dirty="0">
                <a:sym typeface="+mn-ea"/>
              </a:rPr>
              <a:t>：文件系统，数据可长期保存</a:t>
            </a:r>
            <a:endParaRPr lang="zh-CN" altLang="en-US" sz="3000" dirty="0"/>
          </a:p>
          <a:p>
            <a:pPr lvl="1">
              <a:lnSpc>
                <a:spcPct val="150000"/>
              </a:lnSpc>
            </a:pPr>
            <a:r>
              <a:rPr lang="zh-CN" altLang="en-US" sz="3000" dirty="0">
                <a:highlight>
                  <a:srgbClr val="FFFF00"/>
                </a:highlight>
                <a:sym typeface="+mn-ea"/>
              </a:rPr>
              <a:t>数据面向的对象</a:t>
            </a:r>
            <a:r>
              <a:rPr lang="zh-CN" altLang="en-US" sz="3000" dirty="0">
                <a:sym typeface="+mn-ea"/>
              </a:rPr>
              <a:t>：某一应用   </a:t>
            </a:r>
            <a:endParaRPr lang="zh-CN" altLang="en-US" sz="3000" dirty="0"/>
          </a:p>
          <a:p>
            <a:pPr lvl="1">
              <a:lnSpc>
                <a:spcPct val="150000"/>
              </a:lnSpc>
            </a:pPr>
            <a:r>
              <a:rPr lang="zh-CN" altLang="en-US" sz="3000" dirty="0">
                <a:highlight>
                  <a:srgbClr val="FFFF00"/>
                </a:highlight>
                <a:sym typeface="+mn-ea"/>
              </a:rPr>
              <a:t>数据的共享程度</a:t>
            </a:r>
            <a:r>
              <a:rPr lang="zh-CN" altLang="en-US" sz="3000" dirty="0">
                <a:sym typeface="+mn-ea"/>
              </a:rPr>
              <a:t>：共享性差、冗余度大</a:t>
            </a:r>
            <a:endParaRPr lang="zh-CN" altLang="en-US" sz="3000" dirty="0"/>
          </a:p>
          <a:p>
            <a:pPr lvl="1">
              <a:lnSpc>
                <a:spcPct val="150000"/>
              </a:lnSpc>
            </a:pPr>
            <a:r>
              <a:rPr lang="zh-CN" altLang="en-US" sz="3000" dirty="0">
                <a:highlight>
                  <a:srgbClr val="FFFF00"/>
                </a:highlight>
                <a:sym typeface="+mn-ea"/>
              </a:rPr>
              <a:t>数据的结构化</a:t>
            </a:r>
            <a:r>
              <a:rPr lang="zh-CN" altLang="en-US" sz="3000" dirty="0">
                <a:sym typeface="+mn-ea"/>
              </a:rPr>
              <a:t>：记录内有结构，整体无结构</a:t>
            </a:r>
            <a:endParaRPr lang="zh-CN" altLang="en-US" sz="3000" dirty="0"/>
          </a:p>
          <a:p>
            <a:pPr lvl="1">
              <a:lnSpc>
                <a:spcPct val="150000"/>
              </a:lnSpc>
            </a:pPr>
            <a:r>
              <a:rPr lang="zh-CN" altLang="en-US" sz="3000" dirty="0">
                <a:highlight>
                  <a:srgbClr val="FFFF00"/>
                </a:highlight>
                <a:sym typeface="+mn-ea"/>
              </a:rPr>
              <a:t>数据的独立性</a:t>
            </a:r>
            <a:r>
              <a:rPr lang="zh-CN" altLang="en-US" sz="3000" dirty="0">
                <a:sym typeface="+mn-ea"/>
              </a:rPr>
              <a:t>：独立性差</a:t>
            </a:r>
            <a:endParaRPr lang="zh-CN" altLang="en-US" sz="3000" dirty="0"/>
          </a:p>
          <a:p>
            <a:pPr lvl="1">
              <a:lnSpc>
                <a:spcPct val="150000"/>
              </a:lnSpc>
            </a:pPr>
            <a:r>
              <a:rPr lang="zh-CN" altLang="en-US" sz="3000" dirty="0">
                <a:highlight>
                  <a:srgbClr val="FFFF00"/>
                </a:highlight>
                <a:sym typeface="+mn-ea"/>
              </a:rPr>
              <a:t>数据控制能力</a:t>
            </a:r>
            <a:r>
              <a:rPr lang="zh-CN" altLang="en-US" sz="3000" dirty="0">
                <a:sym typeface="+mn-ea"/>
              </a:rPr>
              <a:t>：应用程序自己控制</a:t>
            </a:r>
            <a:endParaRPr lang="zh-CN" altLang="en-US"/>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35</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3</a:t>
            </a:r>
            <a:r>
              <a:rPr lang="zh-CN" altLang="en-US" dirty="0">
                <a:latin typeface="Tahoma" panose="020B0604030504040204" pitchFamily="34" charset="0"/>
                <a:sym typeface="+mn-ea"/>
              </a:rPr>
              <a:t>）</a:t>
            </a:r>
            <a:endParaRPr lang="zh-CN" altLang="en-US"/>
          </a:p>
        </p:txBody>
      </p:sp>
      <p:sp>
        <p:nvSpPr>
          <p:cNvPr id="3" name="内容占位符 2"/>
          <p:cNvSpPr>
            <a:spLocks noGrp="1"/>
          </p:cNvSpPr>
          <p:nvPr>
            <p:ph idx="1"/>
          </p:nvPr>
        </p:nvSpPr>
        <p:spPr/>
        <p:txBody>
          <a:bodyPr/>
          <a:lstStyle/>
          <a:p>
            <a:pPr>
              <a:lnSpc>
                <a:spcPct val="100000"/>
              </a:lnSpc>
            </a:pPr>
            <a:r>
              <a:rPr lang="zh-CN" altLang="en-US" dirty="0">
                <a:cs typeface="楷体" panose="02010609060101010101" charset="-122"/>
                <a:sym typeface="+mn-ea"/>
              </a:rPr>
              <a:t>利用文件系统可以实现简单的数据管理和数据共享，但无法提供完整统一的数据管理功能和并发控制等多用户数据共享功能。</a:t>
            </a:r>
          </a:p>
          <a:p>
            <a:pPr>
              <a:lnSpc>
                <a:spcPct val="100000"/>
              </a:lnSpc>
              <a:spcBef>
                <a:spcPts val="2000"/>
              </a:spcBef>
            </a:pPr>
            <a:r>
              <a:rPr lang="zh-CN" altLang="en-US"/>
              <a:t>例如：</a:t>
            </a:r>
          </a:p>
          <a:p>
            <a:pPr lvl="1">
              <a:lnSpc>
                <a:spcPct val="100000"/>
              </a:lnSpc>
              <a:spcBef>
                <a:spcPts val="1000"/>
              </a:spcBef>
            </a:pPr>
            <a:r>
              <a:rPr lang="zh-CN" altLang="en-US">
                <a:solidFill>
                  <a:srgbClr val="FF0000"/>
                </a:solidFill>
              </a:rPr>
              <a:t>对象持久化</a:t>
            </a:r>
            <a:endParaRPr lang="zh-CN" altLang="en-US"/>
          </a:p>
          <a:p>
            <a:pPr lvl="2">
              <a:lnSpc>
                <a:spcPct val="100000"/>
              </a:lnSpc>
              <a:spcBef>
                <a:spcPts val="1000"/>
              </a:spcBef>
            </a:pPr>
            <a:r>
              <a:rPr lang="en-US" altLang="zh-CN"/>
              <a:t>C++</a:t>
            </a:r>
            <a:r>
              <a:rPr lang="zh-CN" altLang="en-US"/>
              <a:t>的持久对象存储</a:t>
            </a:r>
          </a:p>
          <a:p>
            <a:pPr lvl="2">
              <a:lnSpc>
                <a:spcPct val="100000"/>
              </a:lnSpc>
              <a:spcBef>
                <a:spcPts val="1000"/>
              </a:spcBef>
            </a:pPr>
            <a:r>
              <a:rPr lang="en-US" altLang="zh-CN" dirty="0">
                <a:sym typeface="+mn-ea"/>
              </a:rPr>
              <a:t>Java</a:t>
            </a:r>
            <a:r>
              <a:rPr lang="zh-CN" altLang="en-US" dirty="0">
                <a:sym typeface="+mn-ea"/>
              </a:rPr>
              <a:t>对象的序列化</a:t>
            </a:r>
            <a:r>
              <a:rPr lang="en-US" altLang="zh-CN" dirty="0">
                <a:sym typeface="+mn-ea"/>
              </a:rPr>
              <a:t>/</a:t>
            </a:r>
            <a:r>
              <a:rPr lang="zh-CN" altLang="en-US" dirty="0">
                <a:sym typeface="+mn-ea"/>
              </a:rPr>
              <a:t>反序列化</a:t>
            </a:r>
          </a:p>
          <a:p>
            <a:pPr lvl="1">
              <a:lnSpc>
                <a:spcPct val="100000"/>
              </a:lnSpc>
              <a:spcBef>
                <a:spcPts val="2000"/>
              </a:spcBef>
            </a:pPr>
            <a:r>
              <a:rPr lang="en-US" altLang="zh-CN" dirty="0">
                <a:solidFill>
                  <a:srgbClr val="FF0000"/>
                </a:solidFill>
                <a:sym typeface="+mn-ea"/>
              </a:rPr>
              <a:t>基于文本的数据共享</a:t>
            </a:r>
            <a:endParaRPr lang="zh-CN" altLang="en-US" dirty="0">
              <a:sym typeface="+mn-ea"/>
            </a:endParaRPr>
          </a:p>
          <a:p>
            <a:pPr lvl="2">
              <a:lnSpc>
                <a:spcPct val="100000"/>
              </a:lnSpc>
              <a:spcBef>
                <a:spcPts val="1000"/>
              </a:spcBef>
            </a:pPr>
            <a:r>
              <a:rPr lang="en-US" altLang="zh-CN" dirty="0">
                <a:solidFill>
                  <a:srgbClr val="1F2DA8"/>
                </a:solidFill>
                <a:sym typeface="+mn-ea"/>
              </a:rPr>
              <a:t>XML</a:t>
            </a:r>
          </a:p>
          <a:p>
            <a:pPr lvl="2">
              <a:lnSpc>
                <a:spcPct val="100000"/>
              </a:lnSpc>
              <a:spcBef>
                <a:spcPts val="1000"/>
              </a:spcBef>
            </a:pPr>
            <a:r>
              <a:rPr lang="en-US" altLang="zh-CN" dirty="0">
                <a:solidFill>
                  <a:srgbClr val="1F2DA8"/>
                </a:solidFill>
                <a:sym typeface="+mn-ea"/>
              </a:rPr>
              <a:t>JSON</a:t>
            </a:r>
            <a:endParaRPr lang="zh-CN" altLang="en-US" dirty="0">
              <a:solidFill>
                <a:srgbClr val="1F2DA8"/>
              </a:solidFill>
              <a:sym typeface="+mn-ea"/>
            </a:endParaRPr>
          </a:p>
          <a:p>
            <a:pPr lvl="2">
              <a:lnSpc>
                <a:spcPct val="100000"/>
              </a:lnSpc>
              <a:spcBef>
                <a:spcPts val="1000"/>
              </a:spcBef>
            </a:pPr>
            <a:r>
              <a:rPr lang="en-US" altLang="zh-CN" dirty="0">
                <a:solidFill>
                  <a:srgbClr val="1F2DA8"/>
                </a:solidFill>
                <a:sym typeface="+mn-ea"/>
              </a:rPr>
              <a:t>K/V</a:t>
            </a:r>
            <a:endParaRPr lang="zh-CN" altLang="en-US" dirty="0">
              <a:solidFill>
                <a:srgbClr val="1F2DA8"/>
              </a:solidFill>
              <a:sym typeface="+mn-ea"/>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36</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linds(horizontal)">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linds(horizontal)">
                                      <p:cBhvr>
                                        <p:cTn id="25" dur="500"/>
                                        <p:tgtEl>
                                          <p:spTgt spid="3">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blinds(horizontal)">
                                      <p:cBhvr>
                                        <p:cTn id="28" dur="500"/>
                                        <p:tgtEl>
                                          <p:spTgt spid="3">
                                            <p:txEl>
                                              <p:pRg st="6" end="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blinds(horizontal)">
                                      <p:cBhvr>
                                        <p:cTn id="31" dur="500"/>
                                        <p:tgtEl>
                                          <p:spTgt spid="3">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blinds(horizontal)">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4</a:t>
            </a:r>
            <a:r>
              <a:rPr lang="zh-CN" altLang="en-US" dirty="0">
                <a:latin typeface="Tahoma" panose="020B0604030504040204" pitchFamily="34" charset="0"/>
                <a:sym typeface="+mn-ea"/>
              </a:rPr>
              <a:t>）</a:t>
            </a:r>
            <a:endParaRPr lang="zh-CN" altLang="en-US"/>
          </a:p>
        </p:txBody>
      </p:sp>
      <p:sp>
        <p:nvSpPr>
          <p:cNvPr id="3" name="内容占位符 2"/>
          <p:cNvSpPr>
            <a:spLocks noGrp="1"/>
          </p:cNvSpPr>
          <p:nvPr>
            <p:ph idx="1"/>
          </p:nvPr>
        </p:nvSpPr>
        <p:spPr/>
        <p:txBody>
          <a:bodyPr/>
          <a:lstStyle/>
          <a:p>
            <a:pPr lvl="0">
              <a:lnSpc>
                <a:spcPct val="100000"/>
              </a:lnSpc>
              <a:spcBef>
                <a:spcPts val="2000"/>
              </a:spcBef>
            </a:pPr>
            <a:r>
              <a:rPr lang="zh-CN" altLang="en-US" dirty="0">
                <a:sym typeface="+mn-ea"/>
              </a:rPr>
              <a:t>在前述多个应用共享数据的前提下：</a:t>
            </a:r>
            <a:endParaRPr lang="en-US" altLang="zh-CN" dirty="0"/>
          </a:p>
          <a:p>
            <a:pPr lvl="1">
              <a:lnSpc>
                <a:spcPct val="100000"/>
              </a:lnSpc>
              <a:spcBef>
                <a:spcPts val="1500"/>
              </a:spcBef>
            </a:pPr>
            <a:r>
              <a:rPr lang="zh-CN" altLang="en-US" dirty="0">
                <a:sym typeface="+mn-ea"/>
              </a:rPr>
              <a:t>谁来负责定义和管理这些数据？</a:t>
            </a:r>
          </a:p>
          <a:p>
            <a:pPr lvl="1">
              <a:lnSpc>
                <a:spcPct val="100000"/>
              </a:lnSpc>
              <a:spcBef>
                <a:spcPts val="1500"/>
              </a:spcBef>
            </a:pPr>
            <a:r>
              <a:rPr lang="zh-CN" altLang="en-US" dirty="0">
                <a:sym typeface="+mn-ea"/>
              </a:rPr>
              <a:t>如何确保数据结构和存储机制对于所有应用来说都是可以接受的？</a:t>
            </a:r>
            <a:endParaRPr lang="en-US" altLang="zh-CN" dirty="0"/>
          </a:p>
          <a:p>
            <a:pPr lvl="1">
              <a:lnSpc>
                <a:spcPct val="100000"/>
              </a:lnSpc>
              <a:spcBef>
                <a:spcPts val="1500"/>
              </a:spcBef>
            </a:pPr>
            <a:r>
              <a:rPr lang="zh-CN" altLang="en-US" dirty="0">
                <a:sym typeface="+mn-ea"/>
              </a:rPr>
              <a:t>如何确保数据安全性、完整性？</a:t>
            </a:r>
            <a:endParaRPr lang="en-US" altLang="zh-CN" dirty="0"/>
          </a:p>
          <a:p>
            <a:pPr lvl="1">
              <a:lnSpc>
                <a:spcPct val="100000"/>
              </a:lnSpc>
              <a:spcBef>
                <a:spcPts val="1500"/>
              </a:spcBef>
            </a:pPr>
            <a:r>
              <a:rPr lang="zh-CN" altLang="en-US" dirty="0">
                <a:sym typeface="+mn-ea"/>
              </a:rPr>
              <a:t>如何实现并发访问下的数据一致性？</a:t>
            </a:r>
            <a:endParaRPr lang="en-US" altLang="zh-CN" dirty="0"/>
          </a:p>
          <a:p>
            <a:pPr lvl="1">
              <a:lnSpc>
                <a:spcPct val="100000"/>
              </a:lnSpc>
              <a:spcBef>
                <a:spcPts val="1500"/>
              </a:spcBef>
            </a:pPr>
            <a:r>
              <a:rPr lang="zh-CN" altLang="en-US" dirty="0">
                <a:sym typeface="+mn-ea"/>
              </a:rPr>
              <a:t>如何实现数据持久性（故障恢复）？</a:t>
            </a:r>
          </a:p>
          <a:p>
            <a:pPr lvl="1">
              <a:lnSpc>
                <a:spcPct val="100000"/>
              </a:lnSpc>
              <a:spcBef>
                <a:spcPts val="1500"/>
              </a:spcBef>
            </a:pPr>
            <a:r>
              <a:rPr lang="zh-CN" altLang="en-US" dirty="0">
                <a:sym typeface="+mn-ea"/>
              </a:rPr>
              <a:t>如何提高访问效率？</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37</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数据管理</a:t>
            </a:r>
            <a:r>
              <a:rPr lang="en-US" altLang="zh-CN"/>
              <a:t> - </a:t>
            </a:r>
            <a:r>
              <a:rPr lang="zh-CN" altLang="en-US"/>
              <a:t>数据库系统</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38</a:t>
            </a:fld>
            <a:endParaRPr lang="zh-CN" altLang="en-US"/>
          </a:p>
        </p:txBody>
      </p:sp>
      <p:grpSp>
        <p:nvGrpSpPr>
          <p:cNvPr id="3" name="组合 2"/>
          <p:cNvGrpSpPr/>
          <p:nvPr/>
        </p:nvGrpSpPr>
        <p:grpSpPr>
          <a:xfrm>
            <a:off x="2297430" y="1250315"/>
            <a:ext cx="7311390" cy="4086860"/>
            <a:chOff x="3618" y="1969"/>
            <a:chExt cx="11514" cy="6436"/>
          </a:xfrm>
        </p:grpSpPr>
        <p:sp>
          <p:nvSpPr>
            <p:cNvPr id="37" name="AutoShape 21"/>
            <p:cNvSpPr>
              <a:spLocks noChangeArrowheads="1"/>
            </p:cNvSpPr>
            <p:nvPr>
              <p:custDataLst>
                <p:tags r:id="rId2"/>
              </p:custDataLst>
            </p:nvPr>
          </p:nvSpPr>
          <p:spPr bwMode="auto">
            <a:xfrm>
              <a:off x="7668" y="3213"/>
              <a:ext cx="3390" cy="2292"/>
            </a:xfrm>
            <a:prstGeom prst="hexagon">
              <a:avLst>
                <a:gd name="adj" fmla="val 31266"/>
                <a:gd name="vf" fmla="val 115470"/>
              </a:avLst>
            </a:prstGeom>
            <a:solidFill>
              <a:srgbClr val="FFFFFF"/>
            </a:solidFill>
            <a:ln w="9525">
              <a:solidFill>
                <a:srgbClr val="000000"/>
              </a:solidFill>
              <a:miter lim="800000"/>
            </a:ln>
          </p:spPr>
          <p:txBody>
            <a:bodyPr lIns="0" tIns="190800" rIns="0"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800" b="1">
                  <a:latin typeface="楷体" panose="02010609060101010101" charset="-122"/>
                  <a:ea typeface="楷体" panose="02010609060101010101" charset="-122"/>
                </a:rPr>
                <a:t>数据库</a:t>
              </a:r>
            </a:p>
            <a:p>
              <a:pPr algn="ctr" eaLnBrk="1" hangingPunct="1">
                <a:lnSpc>
                  <a:spcPct val="100000"/>
                </a:lnSpc>
                <a:spcBef>
                  <a:spcPts val="0"/>
                </a:spcBef>
                <a:spcAft>
                  <a:spcPts val="0"/>
                </a:spcAft>
              </a:pPr>
              <a:r>
                <a:rPr kumimoji="1" lang="zh-CN" altLang="en-US" sz="2800" b="1">
                  <a:latin typeface="楷体" panose="02010609060101010101" charset="-122"/>
                  <a:ea typeface="楷体" panose="02010609060101010101" charset="-122"/>
                </a:rPr>
                <a:t>管理系统</a:t>
              </a:r>
            </a:p>
          </p:txBody>
        </p:sp>
        <p:sp>
          <p:nvSpPr>
            <p:cNvPr id="50" name="Text Box 35"/>
            <p:cNvSpPr txBox="1">
              <a:spLocks noChangeArrowheads="1"/>
            </p:cNvSpPr>
            <p:nvPr>
              <p:custDataLst>
                <p:tags r:id="rId3"/>
              </p:custDataLst>
            </p:nvPr>
          </p:nvSpPr>
          <p:spPr bwMode="auto">
            <a:xfrm>
              <a:off x="3618" y="1969"/>
              <a:ext cx="3162" cy="947"/>
            </a:xfrm>
            <a:prstGeom prst="rect">
              <a:avLst/>
            </a:prstGeom>
            <a:solidFill>
              <a:srgbClr val="FFFFFF"/>
            </a:solidFill>
            <a:ln w="9525">
              <a:solidFill>
                <a:srgbClr val="000000"/>
              </a:solidFill>
              <a:miter lim="800000"/>
            </a:ln>
          </p:spPr>
          <p:txBody>
            <a:bodyPr tIns="118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cs typeface="楷体" panose="02010609060101010101" charset="-122"/>
                </a:rPr>
                <a:t>应用程序</a:t>
              </a:r>
              <a:r>
                <a:rPr kumimoji="1" lang="en-US" altLang="zh-CN" sz="2800" b="1">
                  <a:latin typeface="楷体" panose="02010609060101010101" charset="-122"/>
                  <a:ea typeface="楷体" panose="02010609060101010101" charset="-122"/>
                  <a:cs typeface="楷体" panose="02010609060101010101" charset="-122"/>
                </a:rPr>
                <a:t>1</a:t>
              </a:r>
            </a:p>
          </p:txBody>
        </p:sp>
        <p:sp>
          <p:nvSpPr>
            <p:cNvPr id="51" name="Text Box 36"/>
            <p:cNvSpPr txBox="1">
              <a:spLocks noChangeArrowheads="1"/>
            </p:cNvSpPr>
            <p:nvPr>
              <p:custDataLst>
                <p:tags r:id="rId4"/>
              </p:custDataLst>
            </p:nvPr>
          </p:nvSpPr>
          <p:spPr bwMode="auto">
            <a:xfrm>
              <a:off x="3733" y="3896"/>
              <a:ext cx="3162" cy="945"/>
            </a:xfrm>
            <a:prstGeom prst="rect">
              <a:avLst/>
            </a:prstGeom>
            <a:solidFill>
              <a:srgbClr val="FFFFFF"/>
            </a:solidFill>
            <a:ln w="9525">
              <a:solidFill>
                <a:srgbClr val="000000"/>
              </a:solidFill>
              <a:miter lim="800000"/>
            </a:ln>
          </p:spPr>
          <p:txBody>
            <a:bodyPr tIns="118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cs typeface="楷体" panose="02010609060101010101" charset="-122"/>
                </a:rPr>
                <a:t>应用程序</a:t>
              </a:r>
              <a:r>
                <a:rPr kumimoji="1" lang="en-US" altLang="zh-CN" sz="2800" b="1">
                  <a:latin typeface="楷体" panose="02010609060101010101" charset="-122"/>
                  <a:ea typeface="楷体" panose="02010609060101010101" charset="-122"/>
                  <a:cs typeface="楷体" panose="02010609060101010101" charset="-122"/>
                </a:rPr>
                <a:t>2</a:t>
              </a:r>
            </a:p>
          </p:txBody>
        </p:sp>
        <p:grpSp>
          <p:nvGrpSpPr>
            <p:cNvPr id="6" name="组合 5"/>
            <p:cNvGrpSpPr/>
            <p:nvPr/>
          </p:nvGrpSpPr>
          <p:grpSpPr>
            <a:xfrm>
              <a:off x="12118" y="2152"/>
              <a:ext cx="3014" cy="4444"/>
              <a:chOff x="12118" y="2680"/>
              <a:chExt cx="3014" cy="4444"/>
            </a:xfrm>
          </p:grpSpPr>
          <p:sp>
            <p:nvSpPr>
              <p:cNvPr id="38" name="AutoShape 22"/>
              <p:cNvSpPr>
                <a:spLocks noChangeArrowheads="1"/>
              </p:cNvSpPr>
              <p:nvPr>
                <p:custDataLst>
                  <p:tags r:id="rId20"/>
                </p:custDataLst>
              </p:nvPr>
            </p:nvSpPr>
            <p:spPr bwMode="auto">
              <a:xfrm>
                <a:off x="12118" y="2680"/>
                <a:ext cx="3015" cy="4445"/>
              </a:xfrm>
              <a:prstGeom prst="can">
                <a:avLst>
                  <a:gd name="adj" fmla="val 46642"/>
                </a:avLst>
              </a:prstGeom>
              <a:solidFill>
                <a:srgbClr val="FFFFFF"/>
              </a:soli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39" name="Rectangle 24"/>
              <p:cNvSpPr>
                <a:spLocks noChangeArrowheads="1"/>
              </p:cNvSpPr>
              <p:nvPr>
                <p:custDataLst>
                  <p:tags r:id="rId21"/>
                </p:custDataLst>
              </p:nvPr>
            </p:nvSpPr>
            <p:spPr bwMode="auto">
              <a:xfrm>
                <a:off x="12882" y="4380"/>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0" name="Rectangle 25"/>
              <p:cNvSpPr>
                <a:spLocks noChangeArrowheads="1"/>
              </p:cNvSpPr>
              <p:nvPr>
                <p:custDataLst>
                  <p:tags r:id="rId22"/>
                </p:custDataLst>
              </p:nvPr>
            </p:nvSpPr>
            <p:spPr bwMode="auto">
              <a:xfrm>
                <a:off x="12882" y="5332"/>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1" name="Rectangle 26"/>
              <p:cNvSpPr>
                <a:spLocks noChangeArrowheads="1"/>
              </p:cNvSpPr>
              <p:nvPr>
                <p:custDataLst>
                  <p:tags r:id="rId23"/>
                </p:custDataLst>
              </p:nvPr>
            </p:nvSpPr>
            <p:spPr bwMode="auto">
              <a:xfrm>
                <a:off x="13834" y="5332"/>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2" name="Rectangle 27"/>
              <p:cNvSpPr>
                <a:spLocks noChangeArrowheads="1"/>
              </p:cNvSpPr>
              <p:nvPr>
                <p:custDataLst>
                  <p:tags r:id="rId24"/>
                </p:custDataLst>
              </p:nvPr>
            </p:nvSpPr>
            <p:spPr bwMode="auto">
              <a:xfrm>
                <a:off x="13359" y="6285"/>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3" name="Line 28"/>
              <p:cNvSpPr>
                <a:spLocks noChangeShapeType="1"/>
              </p:cNvSpPr>
              <p:nvPr>
                <p:custDataLst>
                  <p:tags r:id="rId25"/>
                </p:custDataLst>
              </p:nvPr>
            </p:nvSpPr>
            <p:spPr bwMode="auto">
              <a:xfrm>
                <a:off x="13199" y="4697"/>
                <a:ext cx="0"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29"/>
              <p:cNvSpPr>
                <a:spLocks noChangeShapeType="1"/>
              </p:cNvSpPr>
              <p:nvPr>
                <p:custDataLst>
                  <p:tags r:id="rId26"/>
                </p:custDataLst>
              </p:nvPr>
            </p:nvSpPr>
            <p:spPr bwMode="auto">
              <a:xfrm>
                <a:off x="13359" y="5650"/>
                <a:ext cx="157"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30"/>
              <p:cNvSpPr>
                <a:spLocks noChangeShapeType="1"/>
              </p:cNvSpPr>
              <p:nvPr>
                <p:custDataLst>
                  <p:tags r:id="rId27"/>
                </p:custDataLst>
              </p:nvPr>
            </p:nvSpPr>
            <p:spPr bwMode="auto">
              <a:xfrm flipH="1">
                <a:off x="13834" y="5650"/>
                <a:ext cx="160"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Text Box 38"/>
              <p:cNvSpPr txBox="1">
                <a:spLocks noChangeArrowheads="1"/>
              </p:cNvSpPr>
              <p:nvPr>
                <p:custDataLst>
                  <p:tags r:id="rId28"/>
                </p:custDataLst>
              </p:nvPr>
            </p:nvSpPr>
            <p:spPr bwMode="auto">
              <a:xfrm>
                <a:off x="12573" y="3012"/>
                <a:ext cx="2125" cy="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rPr>
                  <a:t>数据库</a:t>
                </a:r>
              </a:p>
            </p:txBody>
          </p:sp>
        </p:grpSp>
        <p:sp>
          <p:nvSpPr>
            <p:cNvPr id="53" name="Text Box 39"/>
            <p:cNvSpPr txBox="1">
              <a:spLocks noChangeArrowheads="1"/>
            </p:cNvSpPr>
            <p:nvPr>
              <p:custDataLst>
                <p:tags r:id="rId5"/>
              </p:custDataLst>
            </p:nvPr>
          </p:nvSpPr>
          <p:spPr bwMode="auto">
            <a:xfrm>
              <a:off x="5028" y="4916"/>
              <a:ext cx="966" cy="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latin typeface="楷体" panose="02010609060101010101" charset="-122"/>
                  <a:ea typeface="楷体" panose="02010609060101010101" charset="-122"/>
                </a:rPr>
                <a:t>…</a:t>
              </a:r>
            </a:p>
          </p:txBody>
        </p:sp>
        <p:grpSp>
          <p:nvGrpSpPr>
            <p:cNvPr id="10" name="组合 9"/>
            <p:cNvGrpSpPr/>
            <p:nvPr/>
          </p:nvGrpSpPr>
          <p:grpSpPr>
            <a:xfrm>
              <a:off x="3733" y="6051"/>
              <a:ext cx="3812" cy="2355"/>
              <a:chOff x="3733" y="6307"/>
              <a:chExt cx="3812" cy="2355"/>
            </a:xfrm>
          </p:grpSpPr>
          <p:grpSp>
            <p:nvGrpSpPr>
              <p:cNvPr id="7" name="组合 6"/>
              <p:cNvGrpSpPr/>
              <p:nvPr/>
            </p:nvGrpSpPr>
            <p:grpSpPr>
              <a:xfrm>
                <a:off x="3852" y="6307"/>
                <a:ext cx="2610" cy="1575"/>
                <a:chOff x="3852" y="6307"/>
                <a:chExt cx="2610" cy="1575"/>
              </a:xfrm>
            </p:grpSpPr>
            <p:sp>
              <p:nvSpPr>
                <p:cNvPr id="33" name="Line 6"/>
                <p:cNvSpPr>
                  <a:spLocks noChangeShapeType="1"/>
                </p:cNvSpPr>
                <p:nvPr>
                  <p:custDataLst>
                    <p:tags r:id="rId9"/>
                  </p:custDataLst>
                </p:nvPr>
              </p:nvSpPr>
              <p:spPr bwMode="auto">
                <a:xfrm>
                  <a:off x="3852" y="7882"/>
                  <a:ext cx="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7"/>
                <p:cNvSpPr>
                  <a:spLocks noChangeShapeType="1"/>
                </p:cNvSpPr>
                <p:nvPr>
                  <p:custDataLst>
                    <p:tags r:id="rId10"/>
                  </p:custDataLst>
                </p:nvPr>
              </p:nvSpPr>
              <p:spPr bwMode="auto">
                <a:xfrm>
                  <a:off x="4553" y="6941"/>
                  <a:ext cx="160" cy="31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 name="Group 9"/>
                <p:cNvGrpSpPr/>
                <p:nvPr/>
              </p:nvGrpSpPr>
              <p:grpSpPr bwMode="auto">
                <a:xfrm>
                  <a:off x="4717" y="6307"/>
                  <a:ext cx="1745" cy="930"/>
                  <a:chOff x="2119" y="7370"/>
                  <a:chExt cx="1155" cy="471"/>
                </a:xfrm>
              </p:grpSpPr>
              <p:sp>
                <p:nvSpPr>
                  <p:cNvPr id="60" name="Rectangle 10"/>
                  <p:cNvSpPr>
                    <a:spLocks noChangeArrowheads="1"/>
                  </p:cNvSpPr>
                  <p:nvPr>
                    <p:custDataLst>
                      <p:tags r:id="rId16"/>
                    </p:custDataLst>
                  </p:nvPr>
                </p:nvSpPr>
                <p:spPr bwMode="auto">
                  <a:xfrm>
                    <a:off x="2224" y="7370"/>
                    <a:ext cx="1050" cy="314"/>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61" name="Line 11"/>
                  <p:cNvSpPr>
                    <a:spLocks noChangeShapeType="1"/>
                  </p:cNvSpPr>
                  <p:nvPr>
                    <p:custDataLst>
                      <p:tags r:id="rId17"/>
                    </p:custDataLst>
                  </p:nvPr>
                </p:nvSpPr>
                <p:spPr bwMode="auto">
                  <a:xfrm flipH="1">
                    <a:off x="2119" y="7684"/>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12"/>
                  <p:cNvSpPr>
                    <a:spLocks noChangeShapeType="1"/>
                  </p:cNvSpPr>
                  <p:nvPr>
                    <p:custDataLst>
                      <p:tags r:id="rId18"/>
                    </p:custDataLst>
                  </p:nvPr>
                </p:nvSpPr>
                <p:spPr bwMode="auto">
                  <a:xfrm flipH="1">
                    <a:off x="3169" y="7684"/>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13"/>
                  <p:cNvSpPr>
                    <a:spLocks noChangeShapeType="1"/>
                  </p:cNvSpPr>
                  <p:nvPr>
                    <p:custDataLst>
                      <p:tags r:id="rId19"/>
                    </p:custDataLst>
                  </p:nvPr>
                </p:nvSpPr>
                <p:spPr bwMode="auto">
                  <a:xfrm>
                    <a:off x="2119" y="7841"/>
                    <a:ext cx="10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Group 14"/>
                <p:cNvGrpSpPr/>
                <p:nvPr/>
              </p:nvGrpSpPr>
              <p:grpSpPr bwMode="auto">
                <a:xfrm>
                  <a:off x="4239" y="6617"/>
                  <a:ext cx="635" cy="1240"/>
                  <a:chOff x="1909" y="7527"/>
                  <a:chExt cx="420" cy="628"/>
                </a:xfrm>
              </p:grpSpPr>
              <p:grpSp>
                <p:nvGrpSpPr>
                  <p:cNvPr id="54" name="Group 15"/>
                  <p:cNvGrpSpPr/>
                  <p:nvPr/>
                </p:nvGrpSpPr>
                <p:grpSpPr bwMode="auto">
                  <a:xfrm>
                    <a:off x="1909" y="7527"/>
                    <a:ext cx="261" cy="628"/>
                    <a:chOff x="1909" y="7527"/>
                    <a:chExt cx="261" cy="628"/>
                  </a:xfrm>
                </p:grpSpPr>
                <p:sp>
                  <p:nvSpPr>
                    <p:cNvPr id="56" name="AutoShape 16"/>
                    <p:cNvSpPr>
                      <a:spLocks noChangeArrowheads="1"/>
                    </p:cNvSpPr>
                    <p:nvPr>
                      <p:custDataLst>
                        <p:tags r:id="rId12"/>
                      </p:custDataLst>
                    </p:nvPr>
                  </p:nvSpPr>
                  <p:spPr bwMode="auto">
                    <a:xfrm>
                      <a:off x="2065" y="7527"/>
                      <a:ext cx="105" cy="142"/>
                    </a:xfrm>
                    <a:prstGeom prst="flowChartConnector">
                      <a:avLst/>
                    </a:prstGeom>
                    <a:solidFill>
                      <a:srgbClr val="FFFFFF"/>
                    </a:soli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57" name="Arc 17"/>
                    <p:cNvSpPr/>
                    <p:nvPr>
                      <p:custDataLst>
                        <p:tags r:id="rId13"/>
                      </p:custDataLst>
                    </p:nvPr>
                  </p:nvSpPr>
                  <p:spPr bwMode="auto">
                    <a:xfrm flipH="1">
                      <a:off x="2008" y="7684"/>
                      <a:ext cx="105" cy="3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latin typeface="楷体" panose="02010609060101010101" charset="-122"/>
                        <a:ea typeface="楷体" panose="02010609060101010101" charset="-122"/>
                      </a:endParaRPr>
                    </a:p>
                  </p:txBody>
                </p:sp>
                <p:sp>
                  <p:nvSpPr>
                    <p:cNvPr id="58" name="Line 18"/>
                    <p:cNvSpPr>
                      <a:spLocks noChangeShapeType="1"/>
                    </p:cNvSpPr>
                    <p:nvPr>
                      <p:custDataLst>
                        <p:tags r:id="rId14"/>
                      </p:custDataLst>
                    </p:nvPr>
                  </p:nvSpPr>
                  <p:spPr bwMode="auto">
                    <a:xfrm>
                      <a:off x="2014" y="7998"/>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19"/>
                    <p:cNvSpPr>
                      <a:spLocks noChangeShapeType="1"/>
                    </p:cNvSpPr>
                    <p:nvPr>
                      <p:custDataLst>
                        <p:tags r:id="rId15"/>
                      </p:custDataLst>
                    </p:nvPr>
                  </p:nvSpPr>
                  <p:spPr bwMode="auto">
                    <a:xfrm flipH="1">
                      <a:off x="1909" y="7998"/>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5" name="Line 20"/>
                  <p:cNvSpPr>
                    <a:spLocks noChangeShapeType="1"/>
                  </p:cNvSpPr>
                  <p:nvPr>
                    <p:custDataLst>
                      <p:tags r:id="rId11"/>
                    </p:custDataLst>
                  </p:nvPr>
                </p:nvSpPr>
                <p:spPr bwMode="auto">
                  <a:xfrm>
                    <a:off x="2119" y="7684"/>
                    <a:ext cx="210"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 name="文本框 7"/>
              <p:cNvSpPr txBox="1"/>
              <p:nvPr/>
            </p:nvSpPr>
            <p:spPr>
              <a:xfrm>
                <a:off x="3733" y="7840"/>
                <a:ext cx="3812" cy="822"/>
              </a:xfrm>
              <a:prstGeom prst="rect">
                <a:avLst/>
              </a:prstGeom>
              <a:noFill/>
            </p:spPr>
            <p:txBody>
              <a:bodyPr wrap="square" rtlCol="0">
                <a:spAutoFit/>
              </a:bodyPr>
              <a:lstStyle/>
              <a:p>
                <a:r>
                  <a:rPr lang="zh-CN" altLang="en-US" sz="2800" b="1">
                    <a:latin typeface="楷体" panose="02010609060101010101" charset="-122"/>
                    <a:ea typeface="楷体" panose="02010609060101010101" charset="-122"/>
                  </a:rPr>
                  <a:t>数据库管理员</a:t>
                </a:r>
              </a:p>
            </p:txBody>
          </p:sp>
        </p:grpSp>
        <p:cxnSp>
          <p:nvCxnSpPr>
            <p:cNvPr id="11" name="直接连接符 10"/>
            <p:cNvCxnSpPr>
              <a:stCxn id="50" idx="3"/>
              <a:endCxn id="37" idx="4"/>
            </p:cNvCxnSpPr>
            <p:nvPr/>
          </p:nvCxnSpPr>
          <p:spPr>
            <a:xfrm>
              <a:off x="6780" y="2443"/>
              <a:ext cx="1605" cy="77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a:stCxn id="51" idx="3"/>
              <a:endCxn id="37" idx="3"/>
            </p:cNvCxnSpPr>
            <p:nvPr>
              <p:custDataLst>
                <p:tags r:id="rId6"/>
              </p:custDataLst>
            </p:nvPr>
          </p:nvCxnSpPr>
          <p:spPr>
            <a:xfrm flipV="1">
              <a:off x="6895" y="4359"/>
              <a:ext cx="773" cy="1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a:stCxn id="60" idx="3"/>
              <a:endCxn id="37" idx="2"/>
            </p:cNvCxnSpPr>
            <p:nvPr>
              <p:custDataLst>
                <p:tags r:id="rId7"/>
              </p:custDataLst>
            </p:nvPr>
          </p:nvCxnSpPr>
          <p:spPr>
            <a:xfrm flipV="1">
              <a:off x="6462" y="5505"/>
              <a:ext cx="1923" cy="856"/>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a:stCxn id="37" idx="0"/>
              <a:endCxn id="38" idx="2"/>
            </p:cNvCxnSpPr>
            <p:nvPr>
              <p:custDataLst>
                <p:tags r:id="rId8"/>
              </p:custDataLst>
            </p:nvPr>
          </p:nvCxnSpPr>
          <p:spPr>
            <a:xfrm>
              <a:off x="11058" y="4359"/>
              <a:ext cx="1060" cy="16"/>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15" name="文本框 14"/>
          <p:cNvSpPr txBox="1"/>
          <p:nvPr>
            <p:custDataLst>
              <p:tags r:id="rId1"/>
            </p:custDataLst>
          </p:nvPr>
        </p:nvSpPr>
        <p:spPr>
          <a:xfrm>
            <a:off x="566420" y="5618480"/>
            <a:ext cx="10894695" cy="553085"/>
          </a:xfrm>
          <a:prstGeom prst="rect">
            <a:avLst/>
          </a:prstGeom>
          <a:noFill/>
        </p:spPr>
        <p:txBody>
          <a:bodyPr wrap="square" rtlCol="0">
            <a:spAutoFit/>
          </a:bodyPr>
          <a:lstStyle/>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1.6  </a:t>
            </a:r>
            <a:r>
              <a:rPr lang="zh-CN" altLang="en-US" sz="3000" b="1">
                <a:solidFill>
                  <a:srgbClr val="1F2DA8"/>
                </a:solidFill>
                <a:latin typeface="楷体" panose="02010609060101010101" charset="-122"/>
                <a:ea typeface="楷体" panose="02010609060101010101" charset="-122"/>
                <a:cs typeface="楷体" panose="02010609060101010101" charset="-122"/>
              </a:rPr>
              <a:t>数据库系统阶段应用程序与数据之间的对应关系</a:t>
            </a:r>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数据库系统的发展历史（</a:t>
            </a:r>
            <a:r>
              <a:rPr lang="en-US" altLang="zh-CN">
                <a:sym typeface="+mn-ea"/>
              </a:rPr>
              <a:t>1</a:t>
            </a:r>
            <a:r>
              <a:rPr lang="zh-CN" altLang="en-US">
                <a:sym typeface="+mn-ea"/>
              </a:rPr>
              <a:t>）</a:t>
            </a:r>
          </a:p>
        </p:txBody>
      </p:sp>
      <p:sp>
        <p:nvSpPr>
          <p:cNvPr id="3" name="内容占位符 2"/>
          <p:cNvSpPr>
            <a:spLocks noGrp="1"/>
          </p:cNvSpPr>
          <p:nvPr>
            <p:ph idx="1"/>
          </p:nvPr>
        </p:nvSpPr>
        <p:spPr>
          <a:xfrm>
            <a:off x="424180" y="687070"/>
            <a:ext cx="11343005" cy="5958205"/>
          </a:xfrm>
        </p:spPr>
        <p:txBody>
          <a:bodyPr vert="horz">
            <a:spAutoFit/>
          </a:bodyPr>
          <a:lstStyle/>
          <a:p>
            <a:r>
              <a:rPr lang="zh-CN" altLang="en-US">
                <a:latin typeface="Times New Roman" panose="02020603050405020304" pitchFamily="2" charset="0"/>
                <a:ea typeface="楷体" panose="02010609060101010101" charset="-122"/>
                <a:cs typeface="Times New Roman" panose="02020603050405020304" pitchFamily="2" charset="0"/>
              </a:rPr>
              <a:t>第一阶段：层次</a:t>
            </a:r>
            <a:r>
              <a:rPr lang="en-US" altLang="zh-CN">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rPr>
              <a:t>网状数据库（</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60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70</a:t>
            </a:r>
            <a:r>
              <a:rPr lang="zh-CN" altLang="en-US">
                <a:latin typeface="Times New Roman" panose="02020603050405020304" pitchFamily="2" charset="0"/>
                <a:ea typeface="楷体" panose="02010609060101010101" charset="-122"/>
                <a:cs typeface="Times New Roman" panose="02020603050405020304" pitchFamily="2" charset="0"/>
              </a:rPr>
              <a:t>年代）</a:t>
            </a: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数据库从无到有，提供简单的共享数据的 </a:t>
            </a:r>
            <a:r>
              <a:rPr lang="en-US" altLang="zh-CN">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rPr>
              <a:t>读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写</a:t>
            </a:r>
            <a:r>
              <a:rPr lang="en-US" altLang="zh-CN">
                <a:latin typeface="Times New Roman" panose="02020603050405020304" pitchFamily="2" charset="0"/>
                <a:ea typeface="楷体" panose="02010609060101010101" charset="-122"/>
                <a:cs typeface="Times New Roman" panose="02020603050405020304" pitchFamily="2" charset="0"/>
              </a:rPr>
              <a:t>’</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第二阶段：关系数据库（</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70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数据库 从有到 </a:t>
            </a:r>
            <a:r>
              <a:rPr lang="zh-CN" altLang="en-US">
                <a:solidFill>
                  <a:srgbClr val="FF0000"/>
                </a:solidFill>
                <a:latin typeface="Times New Roman" panose="02020603050405020304" pitchFamily="2" charset="0"/>
                <a:ea typeface="楷体" panose="02010609060101010101" charset="-122"/>
                <a:cs typeface="Times New Roman" panose="02020603050405020304" pitchFamily="2" charset="0"/>
              </a:rPr>
              <a:t>大规模商业化应用</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面向事务处理型应用：</a:t>
            </a:r>
            <a:r>
              <a:rPr lang="en-US" altLang="zh-CN">
                <a:solidFill>
                  <a:srgbClr val="FF0000"/>
                </a:solidFill>
                <a:latin typeface="Times New Roman" panose="02020603050405020304" pitchFamily="2" charset="0"/>
                <a:ea typeface="楷体" panose="02010609060101010101" charset="-122"/>
                <a:cs typeface="Times New Roman" panose="02020603050405020304" pitchFamily="2" charset="0"/>
              </a:rPr>
              <a:t>OLTP</a:t>
            </a:r>
            <a:r>
              <a:rPr lang="zh-CN" altLang="en-US">
                <a:latin typeface="Times New Roman" panose="02020603050405020304" pitchFamily="2" charset="0"/>
                <a:ea typeface="楷体" panose="02010609060101010101" charset="-122"/>
                <a:cs typeface="Times New Roman" panose="02020603050405020304" pitchFamily="2" charset="0"/>
              </a:rPr>
              <a:t>（联机事务处理）</a:t>
            </a: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第三阶段：关系数据库系统扩展（</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90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数据仓库</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Data Warehouse)</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面向数据分析型应用：</a:t>
            </a:r>
            <a:r>
              <a:rPr lang="en-US" altLang="zh-CN">
                <a:solidFill>
                  <a:srgbClr val="FF0000"/>
                </a:solidFill>
                <a:latin typeface="Times New Roman" panose="02020603050405020304" pitchFamily="2" charset="0"/>
                <a:ea typeface="楷体" panose="02010609060101010101" charset="-122"/>
                <a:cs typeface="Times New Roman" panose="02020603050405020304" pitchFamily="2" charset="0"/>
              </a:rPr>
              <a:t>OLAP</a:t>
            </a:r>
            <a:r>
              <a:rPr lang="zh-CN" altLang="en-US">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sym typeface="+mn-ea"/>
              </a:rPr>
              <a:t>联机</a:t>
            </a:r>
            <a:r>
              <a:rPr lang="zh-CN" altLang="en-US">
                <a:latin typeface="Times New Roman" panose="02020603050405020304" pitchFamily="2" charset="0"/>
                <a:ea typeface="楷体" panose="02010609060101010101" charset="-122"/>
                <a:cs typeface="Times New Roman" panose="02020603050405020304" pitchFamily="2" charset="0"/>
              </a:rPr>
              <a:t>分析处理）</a:t>
            </a: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第四阶段：新型数据管理系统（</a:t>
            </a:r>
            <a:r>
              <a:rPr lang="en-US" altLang="zh-CN">
                <a:latin typeface="Times New Roman" panose="02020603050405020304" pitchFamily="2" charset="0"/>
                <a:ea typeface="楷体" panose="02010609060101010101" charset="-122"/>
                <a:cs typeface="Times New Roman" panose="02020603050405020304" pitchFamily="2" charset="0"/>
              </a:rPr>
              <a:t>21</a:t>
            </a:r>
            <a:r>
              <a:rPr lang="zh-CN" altLang="en-US">
                <a:latin typeface="Times New Roman" panose="02020603050405020304" pitchFamily="2" charset="0"/>
                <a:ea typeface="楷体" panose="02010609060101010101" charset="-122"/>
                <a:cs typeface="Times New Roman" panose="02020603050405020304" pitchFamily="2" charset="0"/>
              </a:rPr>
              <a:t>世纪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p>
          <a:p>
            <a:pPr lvl="1">
              <a:buFont typeface="Wingdings" panose="05000000000000000000" charset="0"/>
              <a:buChar char="Ø"/>
            </a:pPr>
            <a:r>
              <a:rPr lang="en-US" altLang="zh-CN">
                <a:latin typeface="Times New Roman" panose="02020603050405020304" pitchFamily="2" charset="0"/>
                <a:ea typeface="楷体" panose="02010609060101010101" charset="-122"/>
                <a:cs typeface="Times New Roman" panose="02020603050405020304" pitchFamily="2" charset="0"/>
              </a:rPr>
              <a:t>NoSQL</a:t>
            </a:r>
            <a:r>
              <a:rPr lang="zh-CN" altLang="en-US">
                <a:latin typeface="Times New Roman" panose="02020603050405020304" pitchFamily="2" charset="0"/>
                <a:ea typeface="楷体" panose="02010609060101010101" charset="-122"/>
                <a:cs typeface="Times New Roman" panose="02020603050405020304" pitchFamily="2" charset="0"/>
              </a:rPr>
              <a:t> </a:t>
            </a:r>
            <a:r>
              <a:rPr lang="en-US" altLang="zh-CN">
                <a:latin typeface="Times New Roman" panose="02020603050405020304" pitchFamily="2" charset="0"/>
                <a:ea typeface="楷体" panose="02010609060101010101" charset="-122"/>
                <a:cs typeface="Times New Roman" panose="02020603050405020304" pitchFamily="2" charset="0"/>
              </a:rPr>
              <a:t>/ </a:t>
            </a:r>
            <a:r>
              <a:rPr lang="en-US" altLang="zh-CN">
                <a:latin typeface="Times New Roman" panose="02020603050405020304" pitchFamily="2" charset="0"/>
                <a:ea typeface="楷体" panose="02010609060101010101" charset="-122"/>
                <a:cs typeface="Times New Roman" panose="02020603050405020304" pitchFamily="2" charset="0"/>
                <a:sym typeface="+mn-ea"/>
              </a:rPr>
              <a:t>NewSQL</a:t>
            </a:r>
            <a:r>
              <a:rPr lang="zh-CN" altLang="en-US">
                <a:latin typeface="Times New Roman" panose="02020603050405020304" pitchFamily="2" charset="0"/>
                <a:ea typeface="楷体" panose="02010609060101010101" charset="-122"/>
                <a:cs typeface="Times New Roman" panose="02020603050405020304" pitchFamily="2" charset="0"/>
                <a:sym typeface="+mn-ea"/>
              </a:rPr>
              <a:t> </a:t>
            </a:r>
            <a:r>
              <a:rPr lang="en-US" altLang="zh-CN">
                <a:latin typeface="Times New Roman" panose="02020603050405020304" pitchFamily="2" charset="0"/>
                <a:ea typeface="楷体" panose="02010609060101010101" charset="-122"/>
                <a:cs typeface="Times New Roman" panose="02020603050405020304" pitchFamily="2" charset="0"/>
                <a:sym typeface="+mn-ea"/>
              </a:rPr>
              <a:t>/ </a:t>
            </a:r>
            <a:r>
              <a:rPr lang="zh-CN" altLang="en-US">
                <a:latin typeface="Times New Roman" panose="02020603050405020304" pitchFamily="2" charset="0"/>
                <a:ea typeface="楷体" panose="02010609060101010101" charset="-122"/>
                <a:cs typeface="Times New Roman" panose="02020603050405020304" pitchFamily="2" charset="0"/>
              </a:rPr>
              <a:t>云原生</a:t>
            </a:r>
            <a:r>
              <a:rPr lang="en-US" altLang="zh-CN">
                <a:latin typeface="Times New Roman" panose="02020603050405020304" pitchFamily="2" charset="0"/>
                <a:ea typeface="楷体" panose="02010609060101010101" charset="-122"/>
                <a:cs typeface="Times New Roman" panose="02020603050405020304" pitchFamily="2" charset="0"/>
              </a:rPr>
              <a:t> / AI+DB / </a:t>
            </a:r>
            <a:r>
              <a:rPr lang="zh-CN" altLang="en-US">
                <a:latin typeface="Times New Roman" panose="02020603050405020304" pitchFamily="2" charset="0"/>
                <a:ea typeface="楷体" panose="02010609060101010101" charset="-122"/>
                <a:cs typeface="Times New Roman" panose="02020603050405020304" pitchFamily="2" charset="0"/>
              </a:rPr>
              <a:t>新型数据库系统</a:t>
            </a:r>
          </a:p>
        </p:txBody>
      </p:sp>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39</a:t>
            </a:fld>
            <a:endParaRPr lang="zh-CN" altLang="en-US" strike="noStrike" noProof="1"/>
          </a:p>
        </p:txBody>
      </p:sp>
      <p:grpSp>
        <p:nvGrpSpPr>
          <p:cNvPr id="201" name="组合 39"/>
          <p:cNvGrpSpPr/>
          <p:nvPr/>
        </p:nvGrpSpPr>
        <p:grpSpPr bwMode="auto">
          <a:xfrm>
            <a:off x="10094321" y="687053"/>
            <a:ext cx="1978640" cy="5317873"/>
            <a:chOff x="10931556" y="-129226"/>
            <a:chExt cx="2225769" cy="6046546"/>
          </a:xfrm>
        </p:grpSpPr>
        <p:pic>
          <p:nvPicPr>
            <p:cNvPr id="202" name="Picture 2" descr="“jim gray turing award”的图片搜索结果"/>
            <p:cNvPicPr>
              <a:picLocks noChangeAspect="1" noChangeArrowheads="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10963218" y="3393880"/>
              <a:ext cx="2157888" cy="98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 name="Picture 4" descr="“Edgar F.Codd  turing award”的图片搜索结果"/>
            <p:cNvPicPr>
              <a:picLocks noChangeAspect="1" noChangeArrowheads="1"/>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10963756" y="1845168"/>
              <a:ext cx="2157888" cy="98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 name="Picture 12" descr="“michael stonebraker turing award”的图片搜索结果"/>
            <p:cNvPicPr>
              <a:picLocks noChangeAspect="1" noChangeArrowheads="1"/>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10932595" y="4943047"/>
              <a:ext cx="2188092" cy="974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矩形 205"/>
            <p:cNvSpPr/>
            <p:nvPr>
              <p:custDataLst>
                <p:tags r:id="rId4"/>
              </p:custDataLst>
            </p:nvPr>
          </p:nvSpPr>
          <p:spPr>
            <a:xfrm>
              <a:off x="10963336" y="2864948"/>
              <a:ext cx="2156977" cy="495311"/>
            </a:xfrm>
            <a:prstGeom prst="rect">
              <a:avLst/>
            </a:prstGeom>
            <a:solidFill>
              <a:srgbClr val="FFFFFF">
                <a:lumMod val="95000"/>
              </a:srgbClr>
            </a:solidFill>
            <a:ln w="12700" cap="flat" cmpd="sng" algn="ctr">
              <a:noFill/>
              <a:prstDash val="solid"/>
              <a:miter lim="800000"/>
            </a:ln>
            <a:effectLst/>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事务处理</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80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Jim Gray</a:t>
              </a:r>
            </a:p>
          </p:txBody>
        </p:sp>
        <p:sp>
          <p:nvSpPr>
            <p:cNvPr id="207" name="矩形 206"/>
            <p:cNvSpPr/>
            <p:nvPr>
              <p:custDataLst>
                <p:tags r:id="rId5"/>
              </p:custDataLst>
            </p:nvPr>
          </p:nvSpPr>
          <p:spPr>
            <a:xfrm>
              <a:off x="10962938" y="1316236"/>
              <a:ext cx="2159118" cy="495311"/>
            </a:xfrm>
            <a:prstGeom prst="rect">
              <a:avLst/>
            </a:prstGeom>
            <a:solidFill>
              <a:srgbClr val="FFFFFF">
                <a:lumMod val="95000"/>
              </a:srgbClr>
            </a:solidFill>
            <a:ln w="12700" cap="flat" cmpd="sng" algn="ctr">
              <a:noFill/>
              <a:prstDash val="solid"/>
              <a:miter lim="800000"/>
            </a:ln>
            <a:effectLst/>
          </p:spPr>
          <p:txBody>
            <a:bodyPr anchor="ctr"/>
            <a:lstStyle/>
            <a:p>
              <a:pPr marL="0" marR="0" lvl="0" indent="0" algn="ctr" defTabSz="685165"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关系代数</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165"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 Edgar Codd</a:t>
              </a:r>
            </a:p>
          </p:txBody>
        </p:sp>
        <p:sp>
          <p:nvSpPr>
            <p:cNvPr id="209" name="矩形 208"/>
            <p:cNvSpPr/>
            <p:nvPr>
              <p:custDataLst>
                <p:tags r:id="rId6"/>
              </p:custDataLst>
            </p:nvPr>
          </p:nvSpPr>
          <p:spPr>
            <a:xfrm>
              <a:off x="10931556" y="4410952"/>
              <a:ext cx="2225519" cy="495311"/>
            </a:xfrm>
            <a:prstGeom prst="rect">
              <a:avLst/>
            </a:prstGeom>
            <a:solidFill>
              <a:srgbClr val="FFFFFF">
                <a:lumMod val="95000"/>
              </a:srgbClr>
            </a:solidFill>
            <a:ln w="12700" cap="flat" cmpd="sng" algn="ctr">
              <a:noFill/>
              <a:prstDash val="solid"/>
              <a:miter lim="800000"/>
            </a:ln>
            <a:effectLst/>
          </p:spPr>
          <p:txBody>
            <a:bodyPr anchor="ctr"/>
            <a:lstStyle/>
            <a:p>
              <a:pPr marL="0" marR="0" lvl="0" indent="0" algn="ctr" defTabSz="685165"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数据库系统</a:t>
              </a:r>
              <a:b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br>
              <a:r>
                <a:rPr kumimoji="0" lang="en-US" altLang="zh-CN" sz="1000" b="1" i="0" u="none" strike="noStrike" kern="0" cap="none" spc="0" normalizeH="0" baseline="0" noProof="0" dirty="0" err="1">
                  <a:ln>
                    <a:noFill/>
                  </a:ln>
                  <a:solidFill>
                    <a:srgbClr val="990000"/>
                  </a:solidFill>
                  <a:effectLst/>
                  <a:uLnTx/>
                  <a:uFillTx/>
                  <a:latin typeface="微软雅黑" panose="020B0503020204020204" pitchFamily="82" charset="2"/>
                  <a:ea typeface="微软雅黑" panose="020B0503020204020204" pitchFamily="82" charset="2"/>
                </a:rPr>
                <a:t>Mike.Stonebraker</a:t>
              </a:r>
              <a:endPar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p:txBody>
        </p:sp>
        <p:sp>
          <p:nvSpPr>
            <p:cNvPr id="210" name="矩形 209"/>
            <p:cNvSpPr/>
            <p:nvPr>
              <p:custDataLst>
                <p:tags r:id="rId7"/>
              </p:custDataLst>
            </p:nvPr>
          </p:nvSpPr>
          <p:spPr>
            <a:xfrm>
              <a:off x="10963935" y="-129226"/>
              <a:ext cx="2193390" cy="495311"/>
            </a:xfrm>
            <a:prstGeom prst="rect">
              <a:avLst/>
            </a:prstGeom>
            <a:solidFill>
              <a:srgbClr val="FFFFFF">
                <a:lumMod val="95000"/>
              </a:srgbClr>
            </a:solidFill>
            <a:ln w="12700" cap="flat" cmpd="sng" algn="ctr">
              <a:noFill/>
              <a:prstDash val="solid"/>
              <a:miter lim="800000"/>
            </a:ln>
            <a:effectLst/>
          </p:spPr>
          <p:txBody>
            <a:bodyPr anchor="ctr"/>
            <a:lstStyle/>
            <a:p>
              <a:pPr marL="0" marR="0" lvl="0" indent="0" algn="ctr" defTabSz="685165"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图灵奖：</a:t>
              </a: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数据库概念</a:t>
              </a:r>
              <a:endPar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165"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Charles</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 </a:t>
              </a: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Bachman</a:t>
              </a:r>
            </a:p>
          </p:txBody>
        </p:sp>
        <p:pic>
          <p:nvPicPr>
            <p:cNvPr id="211" name="图片 6"/>
            <p:cNvPicPr>
              <a:picLocks noChangeAspect="1" noChangeArrowheads="1"/>
            </p:cNvPicPr>
            <p:nvPr>
              <p:custDataLst>
                <p:tags r:id="rId8"/>
              </p:custDataLst>
            </p:nvPr>
          </p:nvPicPr>
          <p:blipFill>
            <a:blip r:embed="rId13">
              <a:extLst>
                <a:ext uri="{28A0092B-C50C-407E-A947-70E740481C1C}">
                  <a14:useLocalDpi xmlns:a14="http://schemas.microsoft.com/office/drawing/2010/main" val="0"/>
                </a:ext>
              </a:extLst>
            </a:blip>
            <a:srcRect/>
            <a:stretch>
              <a:fillRect/>
            </a:stretch>
          </p:blipFill>
          <p:spPr bwMode="auto">
            <a:xfrm>
              <a:off x="11417533" y="412988"/>
              <a:ext cx="1220260" cy="851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p:cNvSpPr>
          <p:nvPr>
            <p:ph type="title"/>
          </p:nvPr>
        </p:nvSpPr>
        <p:spPr/>
        <p:txBody>
          <a:bodyPr wrap="square" tIns="0" bIns="0" anchor="ctr"/>
          <a:lstStyle/>
          <a:p>
            <a:pPr eaLnBrk="1" hangingPunct="1"/>
            <a:r>
              <a:rPr lang="zh-CN" altLang="en-US">
                <a:sym typeface="+mn-ea"/>
              </a:rPr>
              <a:t>数据库系统的发展历史（</a:t>
            </a:r>
            <a:r>
              <a:rPr lang="en-US" altLang="zh-CN">
                <a:sym typeface="+mn-ea"/>
              </a:rPr>
              <a:t>2</a:t>
            </a:r>
            <a:r>
              <a:rPr lang="zh-CN" altLang="en-US">
                <a:sym typeface="+mn-ea"/>
              </a:rPr>
              <a:t>）</a:t>
            </a:r>
            <a:endParaRPr lang="zh-CN" altLang="en-US"/>
          </a:p>
        </p:txBody>
      </p:sp>
      <p:sp>
        <p:nvSpPr>
          <p:cNvPr id="30724" name="Rectangle 3"/>
          <p:cNvSpPr>
            <a:spLocks noGrp="1"/>
          </p:cNvSpPr>
          <p:nvPr>
            <p:ph idx="1"/>
          </p:nvPr>
        </p:nvSpPr>
        <p:spPr/>
        <p:txBody>
          <a:bodyPr wrap="square" anchor="t"/>
          <a:lstStyle/>
          <a:p>
            <a:pPr eaLnBrk="1" hangingPunct="1">
              <a:lnSpc>
                <a:spcPct val="100000"/>
              </a:lnSpc>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第一阶段：层次数据库 与 网状数据库</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层次数据库与网状数据库于20世纪60年代末开始发展。它们为统一管理与共享数据提供了有力支撑，</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是真正的数据库系统</a:t>
            </a:r>
            <a:r>
              <a:rPr lang="zh-CN" altLang="en-US" dirty="0">
                <a:latin typeface="Times New Roman" panose="02020603050405020304" pitchFamily="2" charset="0"/>
                <a:ea typeface="楷体" panose="02010609060101010101" charset="-122"/>
                <a:cs typeface="Times New Roman" panose="02020603050405020304" pitchFamily="2" charset="0"/>
              </a:rPr>
              <a:t>。</a:t>
            </a:r>
          </a:p>
          <a:p>
            <a:pPr lvl="2" eaLnBrk="1" hangingPunct="1">
              <a:lnSpc>
                <a:spcPct val="100000"/>
              </a:lnSpc>
            </a:pPr>
            <a:r>
              <a:rPr lang="en-US" altLang="zh-CN" dirty="0">
                <a:latin typeface="Times New Roman" panose="02020603050405020304" pitchFamily="2" charset="0"/>
                <a:ea typeface="楷体" panose="02010609060101010101" charset="-122"/>
                <a:cs typeface="Times New Roman" panose="02020603050405020304" pitchFamily="2" charset="0"/>
              </a:rPr>
              <a:t>1960s</a:t>
            </a:r>
            <a:r>
              <a:rPr lang="zh-CN" altLang="en-US" dirty="0">
                <a:latin typeface="Times New Roman" panose="02020603050405020304" pitchFamily="2" charset="0"/>
                <a:ea typeface="楷体" panose="02010609060101010101" charset="-122"/>
                <a:cs typeface="Times New Roman" panose="02020603050405020304" pitchFamily="2" charset="0"/>
              </a:rPr>
              <a:t>早期：网状数据库管理系统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IDS (Integrated Data Storage)</a:t>
            </a:r>
            <a:r>
              <a:rPr lang="zh-CN" altLang="en-US" dirty="0">
                <a:latin typeface="Times New Roman" panose="02020603050405020304" pitchFamily="2" charset="0"/>
                <a:ea typeface="楷体" panose="02010609060101010101" charset="-122"/>
                <a:cs typeface="Times New Roman" panose="02020603050405020304" pitchFamily="2" charset="0"/>
              </a:rPr>
              <a:t>，通用电气</a:t>
            </a:r>
          </a:p>
          <a:p>
            <a:pPr lvl="2" eaLnBrk="1" hangingPunct="1">
              <a:lnSpc>
                <a:spcPct val="100000"/>
              </a:lnSpc>
            </a:pPr>
            <a:r>
              <a:rPr lang="en-US" altLang="zh-CN" dirty="0">
                <a:latin typeface="Times New Roman" panose="02020603050405020304" pitchFamily="2" charset="0"/>
                <a:ea typeface="楷体" panose="02010609060101010101" charset="-122"/>
                <a:cs typeface="Times New Roman" panose="02020603050405020304" pitchFamily="2" charset="0"/>
              </a:rPr>
              <a:t>1960s</a:t>
            </a:r>
            <a:r>
              <a:rPr lang="zh-CN" altLang="en-US" dirty="0">
                <a:latin typeface="Times New Roman" panose="02020603050405020304" pitchFamily="2" charset="0"/>
                <a:ea typeface="楷体" panose="02010609060101010101" charset="-122"/>
                <a:cs typeface="Times New Roman" panose="02020603050405020304" pitchFamily="2" charset="0"/>
              </a:rPr>
              <a:t>晚期：层次数据库管理系统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IMS (Information Management System)</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latin typeface="Times New Roman" panose="02020603050405020304" pitchFamily="2" charset="0"/>
                <a:ea typeface="楷体" panose="02010609060101010101" charset="-122"/>
                <a:cs typeface="Times New Roman" panose="02020603050405020304" pitchFamily="2" charset="0"/>
              </a:rPr>
              <a:t>IBM</a:t>
            </a:r>
            <a:r>
              <a:rPr lang="zh-CN" altLang="en-US" dirty="0">
                <a:latin typeface="Times New Roman" panose="02020603050405020304" pitchFamily="2" charset="0"/>
                <a:ea typeface="楷体" panose="02010609060101010101" charset="-122"/>
                <a:cs typeface="Times New Roman" panose="02020603050405020304" pitchFamily="2" charset="0"/>
              </a:rPr>
              <a:t>公司</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spcBef>
                <a:spcPts val="1000"/>
              </a:spcBef>
            </a:pPr>
            <a:r>
              <a:rPr lang="zh-CN" altLang="en-US" dirty="0">
                <a:highlight>
                  <a:srgbClr val="FFFF00"/>
                </a:highlight>
                <a:latin typeface="Times New Roman" panose="02020603050405020304" pitchFamily="2" charset="0"/>
                <a:ea typeface="楷体" panose="02010609060101010101" charset="-122"/>
                <a:cs typeface="Times New Roman" panose="02020603050405020304" pitchFamily="2" charset="0"/>
              </a:rPr>
              <a:t>优点</a:t>
            </a:r>
            <a:r>
              <a:rPr lang="zh-CN" altLang="en-US" dirty="0">
                <a:latin typeface="Times New Roman" panose="02020603050405020304" pitchFamily="2" charset="0"/>
                <a:ea typeface="楷体" panose="02010609060101010101" charset="-122"/>
                <a:cs typeface="Times New Roman" panose="02020603050405020304" pitchFamily="2" charset="0"/>
              </a:rPr>
              <a:t>：数据库系统为用户提供了统一的数据管理工具，向用户提供了数据共享能力。</a:t>
            </a:r>
          </a:p>
          <a:p>
            <a:pPr lvl="1" eaLnBrk="1" hangingPunct="1">
              <a:lnSpc>
                <a:spcPct val="100000"/>
              </a:lnSpc>
              <a:spcBef>
                <a:spcPts val="1000"/>
              </a:spcBef>
            </a:pPr>
            <a:r>
              <a:rPr lang="zh-CN" altLang="en-US" dirty="0">
                <a:highlight>
                  <a:srgbClr val="FFFF00"/>
                </a:highlight>
                <a:latin typeface="Times New Roman" panose="02020603050405020304" pitchFamily="2" charset="0"/>
                <a:ea typeface="楷体" panose="02010609060101010101" charset="-122"/>
                <a:cs typeface="Times New Roman" panose="02020603050405020304" pitchFamily="2" charset="0"/>
              </a:rPr>
              <a:t>缺点</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它们脱胎于文件系统，</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受文件的物理影响较大</a:t>
            </a:r>
            <a:r>
              <a:rPr lang="zh-CN" altLang="en-US" dirty="0">
                <a:latin typeface="Times New Roman" panose="02020603050405020304" pitchFamily="2" charset="0"/>
                <a:ea typeface="楷体" panose="02010609060101010101" charset="-122"/>
                <a:cs typeface="Times New Roman" panose="02020603050405020304" pitchFamily="2" charset="0"/>
              </a:rPr>
              <a:t>，对数据库的使用带来不便；</a:t>
            </a:r>
          </a:p>
          <a:p>
            <a:pPr lvl="2" eaLnBrk="1" hangingPunct="1">
              <a:lnSpc>
                <a:spcPct val="100000"/>
              </a:lnSpc>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数据模式构造烦琐</a:t>
            </a:r>
            <a:r>
              <a:rPr lang="zh-CN" altLang="en-US" dirty="0">
                <a:latin typeface="Times New Roman" panose="02020603050405020304" pitchFamily="2" charset="0"/>
                <a:ea typeface="楷体" panose="02010609060101010101" charset="-122"/>
                <a:cs typeface="Times New Roman" panose="02020603050405020304" pitchFamily="2" charset="0"/>
              </a:rPr>
              <a:t>，不利于推广使用。</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40</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p:cNvSpPr>
          <p:nvPr>
            <p:ph type="title"/>
          </p:nvPr>
        </p:nvSpPr>
        <p:spPr/>
        <p:txBody>
          <a:bodyPr wrap="square" tIns="0" bIns="0" anchor="ctr"/>
          <a:lstStyle/>
          <a:p>
            <a:pPr eaLnBrk="1" hangingPunct="1"/>
            <a:r>
              <a:rPr lang="zh-CN" altLang="en-US">
                <a:sym typeface="+mn-ea"/>
              </a:rPr>
              <a:t>数据库系统的发展历史（</a:t>
            </a:r>
            <a:r>
              <a:rPr lang="en-US" altLang="zh-CN">
                <a:sym typeface="+mn-ea"/>
              </a:rPr>
              <a:t>3</a:t>
            </a:r>
            <a:r>
              <a:rPr lang="zh-CN" altLang="en-US">
                <a:sym typeface="+mn-ea"/>
              </a:rPr>
              <a:t>）</a:t>
            </a:r>
            <a:endParaRPr lang="zh-CN" altLang="en-US"/>
          </a:p>
        </p:txBody>
      </p:sp>
      <p:sp>
        <p:nvSpPr>
          <p:cNvPr id="31748" name="Rectangle 3"/>
          <p:cNvSpPr>
            <a:spLocks noGrp="1"/>
          </p:cNvSpPr>
          <p:nvPr>
            <p:ph idx="1"/>
          </p:nvPr>
        </p:nvSpPr>
        <p:spPr/>
        <p:txBody>
          <a:bodyPr wrap="square" anchor="t"/>
          <a:lstStyle/>
          <a:p>
            <a:pPr eaLnBrk="1" hangingPunct="1">
              <a:lnSpc>
                <a:spcPct val="100000"/>
              </a:lnSpc>
              <a:spcBef>
                <a:spcPct val="0"/>
              </a:spcBef>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第二阶段：关系数据库</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spcBef>
                <a:spcPct val="0"/>
              </a:spcBef>
            </a:pPr>
            <a:r>
              <a:rPr lang="zh-CN" altLang="en-US" dirty="0">
                <a:latin typeface="Times New Roman" panose="02020603050405020304" pitchFamily="2" charset="0"/>
                <a:ea typeface="楷体" panose="02010609060101010101" charset="-122"/>
                <a:cs typeface="Times New Roman" panose="02020603050405020304" pitchFamily="2" charset="0"/>
              </a:rPr>
              <a:t>关系数据库于20世纪70年代开始问世，80年代初进入潮流。</a:t>
            </a: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1970</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E. F. Codd </a:t>
            </a: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提</a:t>
            </a:r>
            <a:r>
              <a:rPr lang="zh-CN" altLang="en-US" dirty="0">
                <a:latin typeface="Times New Roman" panose="02020603050405020304" pitchFamily="2" charset="0"/>
                <a:ea typeface="楷体" panose="02010609060101010101" charset="-122"/>
                <a:cs typeface="Times New Roman" panose="02020603050405020304" pitchFamily="2" charset="0"/>
              </a:rPr>
              <a:t>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关系数据模型</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1974</a:t>
            </a:r>
            <a:r>
              <a:rPr lang="zh-CN" altLang="en-US" dirty="0">
                <a:latin typeface="Times New Roman" panose="02020603050405020304" pitchFamily="2" charset="0"/>
                <a:ea typeface="楷体" panose="02010609060101010101" charset="-122"/>
                <a:cs typeface="Times New Roman" panose="02020603050405020304" pitchFamily="2" charset="0"/>
              </a:rPr>
              <a:t>：第一个关系数据库管理系统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IBM</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公司的</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system R</a:t>
            </a:r>
            <a:r>
              <a:rPr lang="zh-CN" altLang="en-US" dirty="0">
                <a:latin typeface="Times New Roman" panose="02020603050405020304" pitchFamily="2" charset="0"/>
                <a:ea typeface="楷体" panose="02010609060101010101" charset="-122"/>
                <a:cs typeface="Times New Roman" panose="02020603050405020304" pitchFamily="2" charset="0"/>
              </a:rPr>
              <a:t>，Ray Boyce和Don Chamberlin</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rPr>
              <a:t>提出数据操纵语言</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SQL</a:t>
            </a:r>
            <a:r>
              <a:rPr lang="en-US" altLang="zh-CN" dirty="0">
                <a:latin typeface="Times New Roman" panose="02020603050405020304" pitchFamily="2" charset="0"/>
                <a:ea typeface="楷体" panose="02010609060101010101" charset="-122"/>
                <a:cs typeface="Times New Roman" panose="02020603050405020304" pitchFamily="2" charset="0"/>
              </a:rPr>
              <a:t>(Structured Query Language)</a:t>
            </a: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1976</a:t>
            </a:r>
            <a:r>
              <a:rPr lang="zh-CN" altLang="en-US" dirty="0">
                <a:latin typeface="Times New Roman" panose="02020603050405020304" pitchFamily="2" charset="0"/>
                <a:ea typeface="楷体" panose="02010609060101010101" charset="-122"/>
                <a:cs typeface="Times New Roman" panose="02020603050405020304" pitchFamily="2" charset="0"/>
              </a:rPr>
              <a:t>：</a:t>
            </a:r>
          </a:p>
          <a:p>
            <a:pPr lvl="3" eaLnBrk="1" hangingPunct="1">
              <a:lnSpc>
                <a:spcPct val="100000"/>
              </a:lnSpc>
              <a:spcBef>
                <a:spcPct val="0"/>
              </a:spcBef>
            </a:pP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Peter Chen </a:t>
            </a: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提出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实体联系模型</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(Entity-Relationship Model)</a:t>
            </a:r>
            <a:endPar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eaLnBrk="1" hangingPunct="1">
              <a:lnSpc>
                <a:spcPct val="100000"/>
              </a:lnSpc>
              <a:spcBef>
                <a:spcPct val="0"/>
              </a:spcBef>
            </a:pP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James Gray</a:t>
            </a: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rPr>
              <a:t>提出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事务处理</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(Transaction Processing)</a:t>
            </a:r>
            <a:r>
              <a:rPr lang="zh-CN" altLang="en-US" dirty="0">
                <a:latin typeface="Times New Roman" panose="02020603050405020304" pitchFamily="2" charset="0"/>
                <a:ea typeface="楷体" panose="02010609060101010101" charset="-122"/>
                <a:cs typeface="Times New Roman" panose="02020603050405020304" pitchFamily="2" charset="0"/>
              </a:rPr>
              <a:t>技术</a:t>
            </a: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1979</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oracle</a:t>
            </a:r>
            <a:r>
              <a:rPr lang="en-US" altLang="zh-CN" dirty="0">
                <a:latin typeface="Times New Roman" panose="02020603050405020304" pitchFamily="2" charset="0"/>
                <a:ea typeface="楷体" panose="02010609060101010101" charset="-122"/>
                <a:cs typeface="Times New Roman" panose="02020603050405020304" pitchFamily="2" charset="0"/>
              </a:rPr>
              <a:t> release 1</a:t>
            </a: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1983</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latin typeface="Times New Roman" panose="02020603050405020304" pitchFamily="2" charset="0"/>
                <a:ea typeface="楷体" panose="02010609060101010101" charset="-122"/>
                <a:cs typeface="Times New Roman" panose="02020603050405020304" pitchFamily="2" charset="0"/>
              </a:rPr>
              <a:t>IBM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DB2</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1988</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sybase</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1989</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：微软</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SQL Server</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，Berkeley</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的</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Postgre SQL</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41</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p:cNvSpPr>
          <p:nvPr>
            <p:ph type="title"/>
          </p:nvPr>
        </p:nvSpPr>
        <p:spPr/>
        <p:txBody>
          <a:bodyPr wrap="square" tIns="0" bIns="0" anchor="ctr"/>
          <a:lstStyle/>
          <a:p>
            <a:pPr eaLnBrk="1" hangingPunct="1"/>
            <a:r>
              <a:rPr lang="zh-CN" altLang="en-US">
                <a:sym typeface="+mn-ea"/>
              </a:rPr>
              <a:t>数据库系统的发展历史（</a:t>
            </a:r>
            <a:r>
              <a:rPr lang="en-US" altLang="zh-CN">
                <a:sym typeface="+mn-ea"/>
              </a:rPr>
              <a:t>4</a:t>
            </a:r>
            <a:r>
              <a:rPr lang="zh-CN" altLang="en-US">
                <a:sym typeface="+mn-ea"/>
              </a:rPr>
              <a:t>）</a:t>
            </a:r>
            <a:endParaRPr lang="zh-CN" altLang="en-US"/>
          </a:p>
        </p:txBody>
      </p:sp>
      <p:sp>
        <p:nvSpPr>
          <p:cNvPr id="33796" name="Rectangle 3"/>
          <p:cNvSpPr>
            <a:spLocks noGrp="1"/>
          </p:cNvSpPr>
          <p:nvPr>
            <p:ph idx="1"/>
          </p:nvPr>
        </p:nvSpPr>
        <p:spPr/>
        <p:txBody>
          <a:bodyPr wrap="square" anchor="t"/>
          <a:lstStyle/>
          <a:p>
            <a:pPr eaLnBrk="1" hangingPunct="1"/>
            <a:r>
              <a:rPr lang="zh-CN" altLang="en-US" sz="3000" dirty="0">
                <a:solidFill>
                  <a:srgbClr val="FF0000"/>
                </a:solidFill>
                <a:latin typeface="Times New Roman" panose="02020603050405020304" pitchFamily="2" charset="0"/>
                <a:ea typeface="楷体" panose="02010609060101010101" charset="-122"/>
                <a:cs typeface="Times New Roman" panose="02020603050405020304" pitchFamily="2" charset="0"/>
              </a:rPr>
              <a:t>第三阶段：关系数据库系统扩展</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1" eaLnBrk="1" hangingPunct="1"/>
            <a:r>
              <a:rPr lang="zh-CN" altLang="en-US" sz="3000" dirty="0">
                <a:latin typeface="Times New Roman" panose="02020603050405020304" pitchFamily="2" charset="0"/>
                <a:ea typeface="楷体" panose="02010609060101010101" charset="-122"/>
                <a:cs typeface="Times New Roman" panose="02020603050405020304" pitchFamily="2" charset="0"/>
              </a:rPr>
              <a:t>自上个世纪九十年代以来，数据库技术的发展集中于对传统</a:t>
            </a:r>
            <a:r>
              <a:rPr lang="zh-CN" altLang="en-US" sz="3000" dirty="0">
                <a:solidFill>
                  <a:srgbClr val="C00000"/>
                </a:solidFill>
                <a:latin typeface="Times New Roman" panose="02020603050405020304" pitchFamily="2" charset="0"/>
                <a:ea typeface="楷体" panose="02010609060101010101" charset="-122"/>
                <a:cs typeface="Times New Roman" panose="02020603050405020304" pitchFamily="2" charset="0"/>
              </a:rPr>
              <a:t>关系数据库系统</a:t>
            </a:r>
            <a:r>
              <a:rPr lang="zh-CN" altLang="en-US" sz="3000" dirty="0">
                <a:latin typeface="Times New Roman" panose="02020603050405020304" pitchFamily="2" charset="0"/>
                <a:ea typeface="楷体" panose="02010609060101010101" charset="-122"/>
                <a:cs typeface="Times New Roman" panose="02020603050405020304" pitchFamily="2" charset="0"/>
              </a:rPr>
              <a:t>的进一步扩充与改造上。</a:t>
            </a:r>
          </a:p>
          <a:p>
            <a:pPr lvl="1" eaLnBrk="1" hangingPunct="1"/>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对象关系数据库系统</a:t>
            </a: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数据仓库 与 联机分析处理</a:t>
            </a:r>
          </a:p>
          <a:p>
            <a:pPr lvl="2" eaLnBrk="1" hangingPunct="1">
              <a:buClr>
                <a:srgbClr val="C00000"/>
              </a:buClr>
            </a:pPr>
            <a:r>
              <a:rPr lang="en-US" altLang="zh-CN" sz="3000" dirty="0">
                <a:latin typeface="Times New Roman" panose="02020603050405020304" pitchFamily="2" charset="0"/>
                <a:ea typeface="楷体" panose="02010609060101010101" charset="-122"/>
                <a:cs typeface="Times New Roman" panose="02020603050405020304" pitchFamily="2" charset="0"/>
              </a:rPr>
              <a:t>Web</a:t>
            </a:r>
            <a:r>
              <a:rPr lang="zh-CN" altLang="en-US" sz="3000" dirty="0">
                <a:latin typeface="Times New Roman" panose="02020603050405020304" pitchFamily="2" charset="0"/>
                <a:ea typeface="楷体" panose="02010609060101010101" charset="-122"/>
                <a:cs typeface="Times New Roman" panose="02020603050405020304" pitchFamily="2" charset="0"/>
              </a:rPr>
              <a:t>数据库</a:t>
            </a: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安全数据库</a:t>
            </a: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嵌入式数据库，移动数据库，实时数据库，网格数据库，传感器网络数据库，</a:t>
            </a:r>
            <a:r>
              <a:rPr lang="en-US" altLang="zh-CN" sz="3000" dirty="0">
                <a:latin typeface="Times New Roman" panose="02020603050405020304" pitchFamily="2" charset="0"/>
                <a:ea typeface="楷体" panose="02010609060101010101" charset="-122"/>
                <a:cs typeface="Times New Roman" panose="02020603050405020304" pitchFamily="2" charset="0"/>
              </a:rPr>
              <a:t>……</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42</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31745"/>
          <p:cNvSpPr>
            <a:spLocks noGrp="1"/>
          </p:cNvSpPr>
          <p:nvPr>
            <p:ph idx="1"/>
          </p:nvPr>
        </p:nvSpPr>
        <p:spPr/>
        <p:txBody>
          <a:bodyPr anchor="t"/>
          <a:lstStyle/>
          <a:p>
            <a:pPr>
              <a:lnSpc>
                <a:spcPct val="100000"/>
              </a:lnSpc>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第四阶段：新型数据管理系统</a:t>
            </a:r>
            <a:endParaRPr lang="zh-CN" altLang="en-US" dirty="0">
              <a:latin typeface="Times New Roman" panose="02020603050405020304" pitchFamily="2" charset="0"/>
              <a:ea typeface="楷体" panose="02010609060101010101" charset="-122"/>
              <a:cs typeface="Times New Roman" panose="02020603050405020304" pitchFamily="2" charset="0"/>
              <a:hlinkClick r:id="rId2" action="ppaction://hlinkpres?slideindex=1&amp;slidetitle="/>
            </a:endParaRPr>
          </a:p>
          <a:p>
            <a:pPr lvl="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新型的应用模式</a:t>
            </a:r>
          </a:p>
          <a:p>
            <a:pPr lvl="2">
              <a:lnSpc>
                <a:spcPct val="100000"/>
              </a:lnSpc>
              <a:buFont typeface="Arial" panose="020B0604020202020204" pitchFamily="34" charset="0"/>
              <a:buChar char="•"/>
            </a:pPr>
            <a:r>
              <a:rPr lang="zh-CN" altLang="en-US" dirty="0">
                <a:latin typeface="Times New Roman" panose="02020603050405020304" pitchFamily="2" charset="0"/>
                <a:ea typeface="楷体" panose="02010609060101010101" charset="-122"/>
                <a:cs typeface="Times New Roman" panose="02020603050405020304" pitchFamily="2" charset="0"/>
              </a:rPr>
              <a:t>OLAP </a:t>
            </a:r>
            <a:r>
              <a:rPr lang="en-US" altLang="zh-CN" dirty="0">
                <a:latin typeface="Times New Roman" panose="02020603050405020304" pitchFamily="2" charset="0"/>
                <a:ea typeface="楷体" panose="02010609060101010101" charset="-122"/>
                <a:cs typeface="Times New Roman" panose="02020603050405020304" pitchFamily="2" charset="0"/>
              </a:rPr>
              <a:t>(</a:t>
            </a:r>
            <a:r>
              <a:rPr lang="zh-CN" altLang="en-US" dirty="0">
                <a:latin typeface="Times New Roman" panose="02020603050405020304" pitchFamily="2" charset="0"/>
                <a:ea typeface="楷体" panose="02010609060101010101" charset="-122"/>
                <a:cs typeface="Times New Roman" panose="02020603050405020304" pitchFamily="2" charset="0"/>
              </a:rPr>
              <a:t>On-Line Analytical Processing</a:t>
            </a:r>
            <a:r>
              <a:rPr lang="en-US" altLang="zh-CN" dirty="0">
                <a:latin typeface="Times New Roman" panose="02020603050405020304" pitchFamily="2" charset="0"/>
                <a:ea typeface="楷体" panose="02010609060101010101" charset="-122"/>
                <a:cs typeface="Times New Roman" panose="02020603050405020304" pitchFamily="2" charset="0"/>
              </a:rPr>
              <a:t>)</a:t>
            </a:r>
          </a:p>
          <a:p>
            <a:pPr lvl="2">
              <a:lnSpc>
                <a:spcPct val="100000"/>
              </a:lnSpc>
              <a:buFont typeface="Arial" panose="020B0604020202020204" pitchFamily="34" charset="0"/>
              <a:buChar char="•"/>
            </a:pPr>
            <a:r>
              <a:rPr lang="zh-CN" altLang="en-US" dirty="0">
                <a:latin typeface="Times New Roman" panose="02020603050405020304" pitchFamily="2" charset="0"/>
                <a:ea typeface="楷体" panose="02010609060101010101" charset="-122"/>
                <a:cs typeface="Times New Roman" panose="02020603050405020304" pitchFamily="2" charset="0"/>
              </a:rPr>
              <a:t>Web应用</a:t>
            </a:r>
          </a:p>
          <a:p>
            <a:pPr lvl="2">
              <a:lnSpc>
                <a:spcPct val="100000"/>
              </a:lnSpc>
            </a:pPr>
            <a:endParaRPr lang="zh-CN" altLang="en-US" sz="1200" dirty="0">
              <a:latin typeface="Times New Roman" panose="02020603050405020304" pitchFamily="2" charset="0"/>
              <a:ea typeface="楷体" panose="02010609060101010101" charset="-122"/>
              <a:cs typeface="Times New Roman" panose="02020603050405020304" pitchFamily="2" charset="0"/>
            </a:endParaRPr>
          </a:p>
          <a:p>
            <a:pPr lvl="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新型应用的特点</a:t>
            </a:r>
          </a:p>
          <a:p>
            <a:pPr lvl="2">
              <a:lnSpc>
                <a:spcPct val="100000"/>
              </a:lnSpc>
              <a:buFont typeface="Arial" panose="020B0604020202020204" pitchFamily="34" charset="0"/>
              <a:buChar char="•"/>
            </a:pPr>
            <a:r>
              <a:rPr lang="zh-CN" altLang="en-US" dirty="0">
                <a:latin typeface="Times New Roman" panose="02020603050405020304" pitchFamily="2" charset="0"/>
                <a:ea typeface="楷体" panose="02010609060101010101" charset="-122"/>
                <a:cs typeface="Times New Roman" panose="02020603050405020304" pitchFamily="2" charset="0"/>
              </a:rPr>
              <a:t>大规模、海量数据</a:t>
            </a:r>
          </a:p>
          <a:p>
            <a:pPr lvl="2">
              <a:lnSpc>
                <a:spcPct val="100000"/>
              </a:lnSpc>
              <a:buFont typeface="Arial" panose="020B0604020202020204" pitchFamily="34" charset="0"/>
              <a:buChar char="•"/>
            </a:pPr>
            <a:r>
              <a:rPr lang="zh-CN" altLang="en-US" dirty="0">
                <a:latin typeface="Times New Roman" panose="02020603050405020304" pitchFamily="2" charset="0"/>
                <a:ea typeface="楷体" panose="02010609060101010101" charset="-122"/>
                <a:cs typeface="Times New Roman" panose="02020603050405020304" pitchFamily="2" charset="0"/>
              </a:rPr>
              <a:t>高度实时&amp;并发</a:t>
            </a:r>
          </a:p>
          <a:p>
            <a:pPr lvl="2">
              <a:lnSpc>
                <a:spcPct val="100000"/>
              </a:lnSpc>
              <a:buFont typeface="Arial" panose="020B0604020202020204" pitchFamily="34" charset="0"/>
              <a:buChar char="•"/>
            </a:pPr>
            <a:r>
              <a:rPr lang="zh-CN" altLang="en-US" dirty="0">
                <a:latin typeface="Times New Roman" panose="02020603050405020304" pitchFamily="2" charset="0"/>
                <a:ea typeface="楷体" panose="02010609060101010101" charset="-122"/>
                <a:cs typeface="Times New Roman" panose="02020603050405020304" pitchFamily="2" charset="0"/>
              </a:rPr>
              <a:t>大数据分析应用</a:t>
            </a:r>
          </a:p>
          <a:p>
            <a:pPr lvl="2">
              <a:lnSpc>
                <a:spcPct val="100000"/>
              </a:lnSpc>
            </a:pPr>
            <a:endParaRPr lang="zh-CN" altLang="en-US" sz="1200" dirty="0">
              <a:latin typeface="Times New Roman" panose="02020603050405020304" pitchFamily="2" charset="0"/>
              <a:ea typeface="楷体" panose="02010609060101010101" charset="-122"/>
              <a:cs typeface="Times New Roman" panose="02020603050405020304" pitchFamily="2" charset="0"/>
            </a:endParaRPr>
          </a:p>
          <a:p>
            <a:pPr lvl="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解决方案：</a:t>
            </a:r>
          </a:p>
          <a:p>
            <a:pPr lvl="2">
              <a:lnSpc>
                <a:spcPct val="100000"/>
              </a:lnSpc>
              <a:buFont typeface="Arial" panose="020B0604020202020204" pitchFamily="34" charset="0"/>
              <a:buChar char="•"/>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NoSQL，</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NewSQL</a:t>
            </a:r>
            <a:endPar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云数据库</a:t>
            </a:r>
          </a:p>
          <a:p>
            <a:pPr lvl="2">
              <a:lnSpc>
                <a:spcPct val="100000"/>
              </a:lnSpc>
              <a:buFont typeface="Arial" panose="020B0604020202020204" pitchFamily="34" charset="0"/>
              <a:buChar char="•"/>
            </a:pP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AI + DB</a:t>
            </a:r>
            <a:endPar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新型数据库系统</a:t>
            </a:r>
          </a:p>
        </p:txBody>
      </p:sp>
      <p:sp>
        <p:nvSpPr>
          <p:cNvPr id="34818" name="Rectangle 2"/>
          <p:cNvSpPr>
            <a:spLocks noGrp="1"/>
          </p:cNvSpPr>
          <p:nvPr>
            <p:ph type="title"/>
          </p:nvPr>
        </p:nvSpPr>
        <p:spPr/>
        <p:txBody>
          <a:bodyPr wrap="square" tIns="0" bIns="0" anchor="ctr"/>
          <a:lstStyle/>
          <a:p>
            <a:pPr eaLnBrk="1" hangingPunct="1"/>
            <a:r>
              <a:rPr lang="zh-CN" altLang="en-US">
                <a:sym typeface="+mn-ea"/>
              </a:rPr>
              <a:t>数据库系统的发展历史（</a:t>
            </a:r>
            <a:r>
              <a:rPr lang="en-US" altLang="zh-CN">
                <a:sym typeface="+mn-ea"/>
              </a:rPr>
              <a:t>5</a:t>
            </a:r>
            <a:r>
              <a:rPr lang="zh-CN" altLang="en-US">
                <a:sym typeface="+mn-ea"/>
              </a:rPr>
              <a:t>）</a:t>
            </a:r>
            <a:endParaRPr lang="zh-CN" altLang="en-US"/>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43</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数据库系统分类</a:t>
            </a:r>
          </a:p>
        </p:txBody>
      </p:sp>
      <p:graphicFrame>
        <p:nvGraphicFramePr>
          <p:cNvPr id="5" name="内容占位符 4"/>
          <p:cNvGraphicFramePr>
            <a:graphicFrameLocks noGrp="1"/>
          </p:cNvGraphicFramePr>
          <p:nvPr>
            <p:ph idx="4294967295"/>
            <p:custDataLst>
              <p:tags r:id="rId1"/>
            </p:custDataLst>
          </p:nvPr>
        </p:nvGraphicFramePr>
        <p:xfrm>
          <a:off x="360000" y="687070"/>
          <a:ext cx="11082020" cy="5431790"/>
        </p:xfrm>
        <a:graphic>
          <a:graphicData uri="http://schemas.openxmlformats.org/drawingml/2006/table">
            <a:tbl>
              <a:tblPr firstRow="1" bandRow="1">
                <a:tableStyleId>{5C22544A-7EE6-4342-B048-85BDC9FD1C3A}</a:tableStyleId>
              </a:tblPr>
              <a:tblGrid>
                <a:gridCol w="3502025">
                  <a:extLst>
                    <a:ext uri="{9D8B030D-6E8A-4147-A177-3AD203B41FA5}">
                      <a16:colId xmlns:a16="http://schemas.microsoft.com/office/drawing/2014/main" val="20000"/>
                    </a:ext>
                  </a:extLst>
                </a:gridCol>
                <a:gridCol w="7579995">
                  <a:extLst>
                    <a:ext uri="{9D8B030D-6E8A-4147-A177-3AD203B41FA5}">
                      <a16:colId xmlns:a16="http://schemas.microsoft.com/office/drawing/2014/main" val="20001"/>
                    </a:ext>
                  </a:extLst>
                </a:gridCol>
              </a:tblGrid>
              <a:tr h="835025">
                <a:tc>
                  <a:txBody>
                    <a:bodyPr/>
                    <a:lstStyle/>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关系数据库</a:t>
                      </a: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RDBMS</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Oracle,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sym typeface="+mn-ea"/>
                        </a:rPr>
                        <a:t>DB2,</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Microsoft SQL Server,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sym typeface="+mn-ea"/>
                        </a:rPr>
                        <a:t>MySQL, PostgreSQL, </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812800">
                <a:tc>
                  <a:txBody>
                    <a:bodyPr/>
                    <a:lstStyle/>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键值数据库</a:t>
                      </a: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Key-value stores</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Redis</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Memcached, </a:t>
                      </a:r>
                      <a:r>
                        <a:rPr lang="en-US" altLang="zh-CN" sz="2000" b="0">
                          <a:solidFill>
                            <a:schemeClr val="accent6">
                              <a:lumMod val="75000"/>
                            </a:schemeClr>
                          </a:solidFill>
                          <a:latin typeface="Arial" panose="020B0604020202020204" pitchFamily="34" charset="0"/>
                          <a:ea typeface="华文细黑" panose="02010600040101010101" pitchFamily="2" charset="-122"/>
                          <a:cs typeface="Arial" panose="020B0604020202020204" pitchFamily="34" charset="0"/>
                          <a:sym typeface="+mn-ea"/>
                        </a:rPr>
                        <a:t>Amazon Dynamo DB, </a:t>
                      </a:r>
                      <a:r>
                        <a:rPr lang="en-US" altLang="zh-CN" sz="2000" b="0">
                          <a:solidFill>
                            <a:schemeClr val="accent6">
                              <a:lumMod val="75000"/>
                            </a:schemeClr>
                          </a:solidFill>
                          <a:latin typeface="Arial" panose="020B0604020202020204" pitchFamily="34" charset="0"/>
                          <a:ea typeface="华文细黑" panose="02010600040101010101" pitchFamily="2" charset="-122"/>
                          <a:cs typeface="Arial" panose="020B0604020202020204" pitchFamily="34" charset="0"/>
                        </a:rPr>
                        <a:t>Microsoft Azure Cosmos DB</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1102995">
                <a:tc>
                  <a:txBody>
                    <a:bodyPr/>
                    <a:lstStyle/>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文档数据库</a:t>
                      </a: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Document-oriented stores</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MongoDB</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Couchbase, CouchDB</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 Amazon Dynamo DB, Microsoft Azure Cosmos DB,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893445">
                <a:tc>
                  <a:txBody>
                    <a:bodyPr/>
                    <a:lstStyle/>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图数据库</a:t>
                      </a: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Graph-oriented DBMS</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Neo4j</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OrientDB, </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Microsoft Azure Cosmos DB,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894080">
                <a:tc>
                  <a:txBody>
                    <a:bodyPr/>
                    <a:lstStyle/>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列数据库</a:t>
                      </a: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Wide column store</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Cassandra,   HBase,</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893445">
                <a:tc>
                  <a:txBody>
                    <a:bodyPr/>
                    <a:lstStyle/>
                    <a:p>
                      <a:pPr algn="ctr">
                        <a:buNone/>
                      </a:pPr>
                      <a:r>
                        <a:rPr lang="zh-CN" altLang="en-US" sz="2000">
                          <a:solidFill>
                            <a:schemeClr val="tx1"/>
                          </a:solidFill>
                        </a:rPr>
                        <a:t>其他</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面向对象数据库（</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object-oriented DBMS</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XML</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数据库，</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RDF</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三元组数据库，</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p>
                  </a:txBody>
                  <a:tcPr marL="68580" marR="68580" marT="34290" marB="3429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bl>
          </a:graphicData>
        </a:graphic>
      </p:graphicFrame>
      <p:grpSp>
        <p:nvGrpSpPr>
          <p:cNvPr id="8" name="组合 7"/>
          <p:cNvGrpSpPr/>
          <p:nvPr/>
        </p:nvGrpSpPr>
        <p:grpSpPr>
          <a:xfrm>
            <a:off x="11539538" y="1552258"/>
            <a:ext cx="764858" cy="3632835"/>
            <a:chOff x="16406" y="2982"/>
            <a:chExt cx="1606" cy="7628"/>
          </a:xfrm>
        </p:grpSpPr>
        <p:sp>
          <p:nvSpPr>
            <p:cNvPr id="6" name="右大括号 5"/>
            <p:cNvSpPr/>
            <p:nvPr/>
          </p:nvSpPr>
          <p:spPr>
            <a:xfrm>
              <a:off x="16406" y="2982"/>
              <a:ext cx="283" cy="7628"/>
            </a:xfrm>
            <a:prstGeom prst="rightBrace">
              <a:avLst>
                <a:gd name="adj1" fmla="val 84570"/>
                <a:gd name="adj2" fmla="val 50000"/>
              </a:avLst>
            </a:prstGeom>
            <a:ln w="158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800"/>
            </a:p>
          </p:txBody>
        </p:sp>
        <p:sp>
          <p:nvSpPr>
            <p:cNvPr id="7" name="文本框 6"/>
            <p:cNvSpPr txBox="1"/>
            <p:nvPr/>
          </p:nvSpPr>
          <p:spPr>
            <a:xfrm>
              <a:off x="16659" y="4088"/>
              <a:ext cx="1353" cy="5419"/>
            </a:xfrm>
            <a:prstGeom prst="rect">
              <a:avLst/>
            </a:prstGeom>
            <a:noFill/>
          </p:spPr>
          <p:txBody>
            <a:bodyPr vert="eaVert" wrap="square" rtlCol="0">
              <a:spAutoFit/>
            </a:bodyPr>
            <a:lstStyle/>
            <a:p>
              <a:pPr algn="ctr">
                <a:lnSpc>
                  <a:spcPct val="150000"/>
                </a:lnSpc>
              </a:pPr>
              <a:r>
                <a:rPr lang="en-US" altLang="zh-CN" sz="2000" b="1" spc="100">
                  <a:solidFill>
                    <a:srgbClr val="FF0000"/>
                  </a:solidFill>
                  <a:uFillTx/>
                </a:rPr>
                <a:t>NoSQL </a:t>
              </a:r>
              <a:r>
                <a:rPr lang="zh-CN" altLang="en-US" sz="2000" b="1" spc="100">
                  <a:solidFill>
                    <a:srgbClr val="FF0000"/>
                  </a:solidFill>
                  <a:uFillTx/>
                </a:rPr>
                <a:t>数据库</a:t>
              </a:r>
            </a:p>
          </p:txBody>
        </p:sp>
      </p:grpSp>
      <p:sp>
        <p:nvSpPr>
          <p:cNvPr id="9" name="灯片编号占位符 8"/>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44</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DB-Engines：20</a:t>
            </a:r>
            <a:r>
              <a:rPr lang="en-US" altLang="zh-CN">
                <a:sym typeface="+mn-ea"/>
              </a:rPr>
              <a:t>24</a:t>
            </a:r>
            <a:r>
              <a:rPr lang="zh-CN" altLang="en-US">
                <a:sym typeface="+mn-ea"/>
              </a:rPr>
              <a:t>年</a:t>
            </a:r>
            <a:r>
              <a:rPr lang="en-US" altLang="zh-CN">
                <a:sym typeface="+mn-ea"/>
              </a:rPr>
              <a:t>2</a:t>
            </a:r>
            <a:r>
              <a:rPr lang="zh-CN" altLang="en-US">
                <a:sym typeface="+mn-ea"/>
              </a:rPr>
              <a:t>月全球数据库人气排行榜</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45</a:t>
            </a:fld>
            <a:endParaRPr lang="zh-CN" altLang="en-US"/>
          </a:p>
        </p:txBody>
      </p:sp>
      <p:pic>
        <p:nvPicPr>
          <p:cNvPr id="5" name="图片 4"/>
          <p:cNvPicPr>
            <a:picLocks noChangeAspect="1"/>
          </p:cNvPicPr>
          <p:nvPr/>
        </p:nvPicPr>
        <p:blipFill>
          <a:blip r:embed="rId3"/>
          <a:stretch>
            <a:fillRect/>
          </a:stretch>
        </p:blipFill>
        <p:spPr>
          <a:xfrm>
            <a:off x="647700" y="595630"/>
            <a:ext cx="10800080" cy="5938520"/>
          </a:xfrm>
          <a:prstGeom prst="rect">
            <a:avLst/>
          </a:prstGeom>
        </p:spPr>
      </p:pic>
      <p:sp>
        <p:nvSpPr>
          <p:cNvPr id="6" name="文本框 5"/>
          <p:cNvSpPr txBox="1"/>
          <p:nvPr>
            <p:custDataLst>
              <p:tags r:id="rId1"/>
            </p:custDataLst>
          </p:nvPr>
        </p:nvSpPr>
        <p:spPr>
          <a:xfrm>
            <a:off x="647700" y="606425"/>
            <a:ext cx="4961255" cy="368300"/>
          </a:xfrm>
          <a:prstGeom prst="rect">
            <a:avLst/>
          </a:prstGeom>
          <a:noFill/>
        </p:spPr>
        <p:txBody>
          <a:bodyPr wrap="square" rtlCol="0">
            <a:spAutoFit/>
          </a:bodyPr>
          <a:lstStyle/>
          <a:p>
            <a:r>
              <a:rPr lang="zh-CN" altLang="en-US">
                <a:hlinkClick r:id="rId4" action="ppaction://hlinkfile"/>
              </a:rPr>
              <a:t>https://db-engines.com/en/ranking</a:t>
            </a:r>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sz="2800">
                <a:sym typeface="+mn-ea"/>
              </a:rPr>
              <a:t>Popularity changes per category</a:t>
            </a:r>
            <a:r>
              <a:rPr lang="zh-CN" altLang="en-US" sz="1800" u="none">
                <a:sym typeface="+mn-ea"/>
              </a:rPr>
              <a:t>（</a:t>
            </a:r>
            <a:r>
              <a:rPr lang="en-US" altLang="zh-CN" sz="1800" u="none">
                <a:sym typeface="+mn-ea"/>
              </a:rPr>
              <a:t>2013~2024</a:t>
            </a:r>
            <a:r>
              <a:rPr lang="zh-CN" altLang="en-US" sz="1800" u="none">
                <a:ea typeface="宋体" panose="02010600030101010101" pitchFamily="2" charset="-122"/>
                <a:sym typeface="+mn-ea"/>
              </a:rPr>
              <a:t>）</a:t>
            </a:r>
          </a:p>
        </p:txBody>
      </p:sp>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46</a:t>
            </a:fld>
            <a:endParaRPr lang="zh-CN" altLang="en-US" strike="noStrike" noProof="1"/>
          </a:p>
        </p:txBody>
      </p:sp>
      <p:pic>
        <p:nvPicPr>
          <p:cNvPr id="3" name="图片 2"/>
          <p:cNvPicPr>
            <a:picLocks noChangeAspect="1"/>
          </p:cNvPicPr>
          <p:nvPr/>
        </p:nvPicPr>
        <p:blipFill>
          <a:blip r:embed="rId2"/>
          <a:stretch>
            <a:fillRect/>
          </a:stretch>
        </p:blipFill>
        <p:spPr>
          <a:xfrm>
            <a:off x="424180" y="598170"/>
            <a:ext cx="11336655" cy="5991225"/>
          </a:xfrm>
          <a:prstGeom prst="rect">
            <a:avLst/>
          </a:prstGeom>
        </p:spPr>
      </p:pic>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a:sym typeface="+mn-ea"/>
              </a:rPr>
              <a:t>DB-Engines：20</a:t>
            </a:r>
            <a:r>
              <a:rPr lang="en-US" altLang="zh-CN">
                <a:sym typeface="+mn-ea"/>
              </a:rPr>
              <a:t>24</a:t>
            </a:r>
            <a:r>
              <a:rPr lang="zh-CN" altLang="en-US">
                <a:sym typeface="+mn-ea"/>
              </a:rPr>
              <a:t>年</a:t>
            </a:r>
            <a:r>
              <a:rPr lang="en-US" altLang="zh-CN">
                <a:sym typeface="+mn-ea"/>
              </a:rPr>
              <a:t>2</a:t>
            </a:r>
            <a:r>
              <a:rPr lang="zh-CN" altLang="en-US">
                <a:sym typeface="+mn-ea"/>
              </a:rPr>
              <a:t>月全球数据库产品分布</a:t>
            </a:r>
            <a:endParaRPr lang="zh-CN" altLang="en-US"/>
          </a:p>
        </p:txBody>
      </p:sp>
      <p:sp>
        <p:nvSpPr>
          <p:cNvPr id="4" name="文本框 3"/>
          <p:cNvSpPr txBox="1"/>
          <p:nvPr/>
        </p:nvSpPr>
        <p:spPr>
          <a:xfrm>
            <a:off x="2063750" y="5805170"/>
            <a:ext cx="8136255" cy="922020"/>
          </a:xfrm>
          <a:prstGeom prst="rect">
            <a:avLst/>
          </a:prstGeom>
          <a:noFill/>
        </p:spPr>
        <p:txBody>
          <a:bodyPr wrap="square" rtlCol="0">
            <a:spAutoFit/>
          </a:bodyPr>
          <a:lstStyle/>
          <a:p>
            <a:pPr algn="ctr"/>
            <a:r>
              <a:rPr lang="zh-CN" altLang="en-US" sz="1800"/>
              <a:t>DB-Engines lists </a:t>
            </a:r>
            <a:r>
              <a:rPr lang="en-US" altLang="zh-CN" sz="1800"/>
              <a:t>417</a:t>
            </a:r>
            <a:r>
              <a:rPr lang="zh-CN" altLang="en-US" sz="1800"/>
              <a:t> different database management systems, which are classified according to their database model</a:t>
            </a:r>
          </a:p>
          <a:p>
            <a:pPr algn="ctr"/>
            <a:r>
              <a:rPr lang="en-US" altLang="zh-CN" sz="1800"/>
              <a:t>(</a:t>
            </a:r>
            <a:r>
              <a:rPr lang="zh-CN" altLang="en-US" sz="1800"/>
              <a:t>https://db-engines.com/en/ranking</a:t>
            </a:r>
            <a:r>
              <a:rPr lang="en-US" altLang="zh-CN" sz="1800"/>
              <a:t>)</a:t>
            </a:r>
          </a:p>
        </p:txBody>
      </p:sp>
      <p:sp>
        <p:nvSpPr>
          <p:cNvPr id="6" name="灯片编号占位符 5"/>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47</a:t>
            </a:fld>
            <a:endParaRPr lang="zh-CN" altLang="en-US" strike="noStrike" noProof="1"/>
          </a:p>
        </p:txBody>
      </p:sp>
      <p:pic>
        <p:nvPicPr>
          <p:cNvPr id="3" name="图片 2"/>
          <p:cNvPicPr>
            <a:picLocks noChangeAspect="1"/>
          </p:cNvPicPr>
          <p:nvPr/>
        </p:nvPicPr>
        <p:blipFill>
          <a:blip r:embed="rId2"/>
          <a:stretch>
            <a:fillRect/>
          </a:stretch>
        </p:blipFill>
        <p:spPr>
          <a:xfrm>
            <a:off x="1951355" y="686435"/>
            <a:ext cx="8103870" cy="5027295"/>
          </a:xfrm>
          <a:prstGeom prst="rect">
            <a:avLst/>
          </a:prstGeom>
        </p:spPr>
      </p:pic>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国产数据库的发展历史</a:t>
            </a:r>
          </a:p>
        </p:txBody>
      </p:sp>
      <p:sp>
        <p:nvSpPr>
          <p:cNvPr id="3" name="内容占位符 2"/>
          <p:cNvSpPr>
            <a:spLocks noGrp="1"/>
          </p:cNvSpPr>
          <p:nvPr>
            <p:ph idx="1"/>
          </p:nvPr>
        </p:nvSpPr>
        <p:spPr>
          <a:xfrm>
            <a:off x="424180" y="687070"/>
            <a:ext cx="11343005" cy="4964430"/>
          </a:xfrm>
        </p:spPr>
        <p:txBody>
          <a:bodyPr>
            <a:spAutoFit/>
          </a:bodyPr>
          <a:lstStyle/>
          <a:p>
            <a:pPr marL="342900" indent="-342900">
              <a:buClr>
                <a:srgbClr val="C00000"/>
              </a:buClr>
              <a:buFont typeface="Wingdings" panose="05000000000000000000" charset="0"/>
              <a:buChar char="q"/>
            </a:pPr>
            <a:r>
              <a:rPr lang="en-US" altLang="zh-CN" sz="3000">
                <a:solidFill>
                  <a:srgbClr val="FF0000"/>
                </a:solidFill>
                <a:cs typeface="楷体" panose="02010609060101010101" charset="-122"/>
                <a:sym typeface="+mn-ea"/>
              </a:rPr>
              <a:t>“</a:t>
            </a:r>
            <a:r>
              <a:rPr lang="zh-CN" altLang="en-US" sz="3000">
                <a:solidFill>
                  <a:srgbClr val="FF0000"/>
                </a:solidFill>
                <a:cs typeface="楷体" panose="02010609060101010101" charset="-122"/>
                <a:sym typeface="+mn-ea"/>
              </a:rPr>
              <a:t>核高基</a:t>
            </a:r>
            <a:r>
              <a:rPr lang="en-US" altLang="zh-CN" sz="3000">
                <a:solidFill>
                  <a:srgbClr val="FF0000"/>
                </a:solidFill>
                <a:cs typeface="楷体" panose="02010609060101010101" charset="-122"/>
                <a:sym typeface="+mn-ea"/>
              </a:rPr>
              <a:t>”</a:t>
            </a:r>
            <a:endParaRPr lang="zh-CN" altLang="en-US" sz="3000">
              <a:latin typeface="楷体" panose="02010609060101010101" charset="-122"/>
              <a:ea typeface="楷体" panose="02010609060101010101" charset="-122"/>
              <a:cs typeface="楷体" panose="02010609060101010101" charset="-122"/>
            </a:endParaRPr>
          </a:p>
          <a:p>
            <a:pPr marL="800100" lvl="1" indent="-342900">
              <a:lnSpc>
                <a:spcPct val="100000"/>
              </a:lnSpc>
              <a:spcBef>
                <a:spcPts val="1000"/>
              </a:spcBef>
              <a:spcAft>
                <a:spcPts val="0"/>
              </a:spcAft>
              <a:buClr>
                <a:srgbClr val="C00000"/>
              </a:buClr>
              <a:buFont typeface="Wingdings" panose="05000000000000000000" charset="0"/>
              <a:buChar char="Ø"/>
            </a:pPr>
            <a:r>
              <a:rPr lang="zh-CN" altLang="en-US" sz="3000">
                <a:cs typeface="楷体" panose="02010609060101010101" charset="-122"/>
                <a:sym typeface="+mn-ea"/>
              </a:rPr>
              <a:t>“核心电子器件、高端通用芯片、基础软件产品”</a:t>
            </a:r>
            <a:endParaRPr lang="zh-CN" altLang="en-US" sz="3000" b="1">
              <a:latin typeface="楷体" panose="02010609060101010101" charset="-122"/>
              <a:ea typeface="楷体" panose="02010609060101010101" charset="-122"/>
              <a:cs typeface="楷体" panose="02010609060101010101" charset="-122"/>
            </a:endParaRPr>
          </a:p>
          <a:p>
            <a:pPr marL="800100" lvl="1" indent="-342900">
              <a:lnSpc>
                <a:spcPct val="100000"/>
              </a:lnSpc>
              <a:spcBef>
                <a:spcPts val="1000"/>
              </a:spcBef>
              <a:spcAft>
                <a:spcPts val="0"/>
              </a:spcAft>
              <a:buClr>
                <a:srgbClr val="C00000"/>
              </a:buClr>
              <a:buFont typeface="Wingdings" panose="05000000000000000000" charset="0"/>
              <a:buChar char="Ø"/>
            </a:pPr>
            <a:r>
              <a:rPr lang="zh-CN" altLang="en-US" sz="3000">
                <a:cs typeface="楷体" panose="02010609060101010101" charset="-122"/>
                <a:sym typeface="+mn-ea"/>
              </a:rPr>
              <a:t>是2006年国务院发布的《国家中长期科学和技术发展规划纲要(2006-2020年)》中的16个重大科技专项之一</a:t>
            </a:r>
          </a:p>
          <a:p>
            <a:pPr marL="800100" lvl="1" indent="-342900">
              <a:lnSpc>
                <a:spcPct val="100000"/>
              </a:lnSpc>
              <a:spcBef>
                <a:spcPts val="1000"/>
              </a:spcBef>
              <a:spcAft>
                <a:spcPts val="0"/>
              </a:spcAft>
              <a:buClr>
                <a:srgbClr val="00CC99"/>
              </a:buClr>
              <a:buFont typeface="Wingdings" panose="05000000000000000000" charset="0"/>
              <a:buChar char="Ø"/>
            </a:pPr>
            <a:endParaRPr lang="zh-CN" altLang="en-US">
              <a:latin typeface="楷体" panose="02010609060101010101" charset="-122"/>
              <a:ea typeface="楷体" panose="02010609060101010101" charset="-122"/>
            </a:endParaRPr>
          </a:p>
          <a:p>
            <a:pPr lvl="0">
              <a:lnSpc>
                <a:spcPct val="125000"/>
              </a:lnSpc>
              <a:spcBef>
                <a:spcPts val="20"/>
              </a:spcBef>
              <a:spcAft>
                <a:spcPts val="0"/>
              </a:spcAft>
            </a:pPr>
            <a:r>
              <a:rPr lang="zh-CN" altLang="en-US" sz="2800">
                <a:solidFill>
                  <a:srgbClr val="FF0000"/>
                </a:solidFill>
                <a:cs typeface="楷体" panose="02010609060101010101" charset="-122"/>
                <a:sym typeface="+mn-ea"/>
              </a:rPr>
              <a:t>国产数据库的研究历史</a:t>
            </a:r>
            <a:endParaRPr lang="zh-CN" altLang="en-US" sz="2800">
              <a:solidFill>
                <a:srgbClr val="FF0000"/>
              </a:solidFill>
              <a:latin typeface="楷体" panose="02010609060101010101" charset="-122"/>
              <a:ea typeface="楷体" panose="02010609060101010101" charset="-122"/>
              <a:cs typeface="楷体" panose="02010609060101010101" charset="-122"/>
            </a:endParaRPr>
          </a:p>
          <a:p>
            <a:pPr lvl="1">
              <a:lnSpc>
                <a:spcPct val="125000"/>
              </a:lnSpc>
              <a:spcBef>
                <a:spcPts val="20"/>
              </a:spcBef>
              <a:spcAft>
                <a:spcPts val="0"/>
              </a:spcAft>
            </a:pPr>
            <a:r>
              <a:rPr lang="en-US" altLang="zh-CN" sz="2800">
                <a:cs typeface="楷体" panose="02010609060101010101" charset="-122"/>
                <a:sym typeface="+mn-ea"/>
              </a:rPr>
              <a:t>2000</a:t>
            </a:r>
            <a:r>
              <a:rPr lang="zh-CN" altLang="en-US" sz="2800">
                <a:cs typeface="楷体" panose="02010609060101010101" charset="-122"/>
                <a:sym typeface="+mn-ea"/>
              </a:rPr>
              <a:t>年以前：高校、科研院所，研究型</a:t>
            </a:r>
            <a:endParaRPr lang="en-US" altLang="zh-CN" sz="2800">
              <a:latin typeface="楷体" panose="02010609060101010101" charset="-122"/>
              <a:ea typeface="楷体" panose="02010609060101010101" charset="-122"/>
              <a:cs typeface="楷体" panose="02010609060101010101" charset="-122"/>
            </a:endParaRPr>
          </a:p>
          <a:p>
            <a:pPr lvl="1">
              <a:lnSpc>
                <a:spcPct val="125000"/>
              </a:lnSpc>
              <a:spcBef>
                <a:spcPts val="20"/>
              </a:spcBef>
              <a:spcAft>
                <a:spcPts val="0"/>
              </a:spcAft>
            </a:pPr>
            <a:r>
              <a:rPr lang="en-US" altLang="zh-CN" sz="2800">
                <a:cs typeface="楷体" panose="02010609060101010101" charset="-122"/>
                <a:sym typeface="+mn-ea"/>
              </a:rPr>
              <a:t>2000</a:t>
            </a:r>
            <a:r>
              <a:rPr lang="zh-CN" altLang="en-US" sz="2800">
                <a:cs typeface="楷体" panose="02010609060101010101" charset="-122"/>
                <a:sym typeface="+mn-ea"/>
              </a:rPr>
              <a:t>年后：高校、科研院所  尝试产业化</a:t>
            </a:r>
            <a:endParaRPr lang="zh-CN" altLang="en-US" sz="2800">
              <a:latin typeface="楷体" panose="02010609060101010101" charset="-122"/>
              <a:ea typeface="楷体" panose="02010609060101010101" charset="-122"/>
              <a:cs typeface="楷体" panose="02010609060101010101" charset="-122"/>
            </a:endParaRPr>
          </a:p>
          <a:p>
            <a:pPr lvl="1">
              <a:lnSpc>
                <a:spcPct val="125000"/>
              </a:lnSpc>
              <a:spcBef>
                <a:spcPts val="20"/>
              </a:spcBef>
              <a:spcAft>
                <a:spcPts val="0"/>
              </a:spcAft>
            </a:pPr>
            <a:r>
              <a:rPr lang="en-US" altLang="zh-CN" sz="2800">
                <a:cs typeface="楷体" panose="02010609060101010101" charset="-122"/>
                <a:sym typeface="+mn-ea"/>
              </a:rPr>
              <a:t>2010</a:t>
            </a:r>
            <a:r>
              <a:rPr lang="zh-CN" altLang="en-US" sz="2800">
                <a:cs typeface="楷体" panose="02010609060101010101" charset="-122"/>
                <a:sym typeface="+mn-ea"/>
              </a:rPr>
              <a:t>年以后：以  企业</a:t>
            </a:r>
            <a:r>
              <a:rPr lang="en-US" altLang="zh-CN" sz="2800">
                <a:cs typeface="楷体" panose="02010609060101010101" charset="-122"/>
                <a:sym typeface="+mn-ea"/>
              </a:rPr>
              <a:t>/</a:t>
            </a:r>
            <a:r>
              <a:rPr lang="zh-CN" altLang="en-US" sz="2800">
                <a:cs typeface="楷体" panose="02010609060101010101" charset="-122"/>
                <a:sym typeface="+mn-ea"/>
              </a:rPr>
              <a:t>公司  为研究主体</a:t>
            </a:r>
            <a:endParaRPr lang="zh-CN" altLang="en-US">
              <a:latin typeface="楷体" panose="02010609060101010101" charset="-122"/>
              <a:ea typeface="楷体" panose="02010609060101010101" charset="-122"/>
            </a:endParaRPr>
          </a:p>
        </p:txBody>
      </p:sp>
      <p:sp>
        <p:nvSpPr>
          <p:cNvPr id="8" name="灯片编号占位符 7"/>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48</a:t>
            </a:fld>
            <a:endParaRPr lang="zh-CN" altLang="en-US" strike="noStrike" noProof="1"/>
          </a:p>
        </p:txBody>
      </p:sp>
      <p:grpSp>
        <p:nvGrpSpPr>
          <p:cNvPr id="11" name="组合 10"/>
          <p:cNvGrpSpPr/>
          <p:nvPr/>
        </p:nvGrpSpPr>
        <p:grpSpPr>
          <a:xfrm>
            <a:off x="8063865" y="3429000"/>
            <a:ext cx="3815715" cy="2472690"/>
            <a:chOff x="8221" y="4153"/>
            <a:chExt cx="6009" cy="3894"/>
          </a:xfrm>
        </p:grpSpPr>
        <p:pic>
          <p:nvPicPr>
            <p:cNvPr id="100" name="图片 99"/>
            <p:cNvPicPr/>
            <p:nvPr>
              <p:custDataLst>
                <p:tags r:id="rId1"/>
              </p:custDataLst>
            </p:nvPr>
          </p:nvPicPr>
          <p:blipFill>
            <a:blip r:embed="rId4"/>
            <a:stretch>
              <a:fillRect/>
            </a:stretch>
          </p:blipFill>
          <p:spPr>
            <a:xfrm>
              <a:off x="8221" y="4153"/>
              <a:ext cx="6006" cy="3225"/>
            </a:xfrm>
            <a:prstGeom prst="rect">
              <a:avLst/>
            </a:prstGeom>
            <a:noFill/>
            <a:ln w="9525">
              <a:noFill/>
            </a:ln>
          </p:spPr>
        </p:pic>
        <p:sp>
          <p:nvSpPr>
            <p:cNvPr id="10" name="文本框 9"/>
            <p:cNvSpPr txBox="1"/>
            <p:nvPr/>
          </p:nvSpPr>
          <p:spPr>
            <a:xfrm>
              <a:off x="10585" y="7419"/>
              <a:ext cx="3645" cy="628"/>
            </a:xfrm>
            <a:prstGeom prst="rect">
              <a:avLst/>
            </a:prstGeom>
            <a:noFill/>
          </p:spPr>
          <p:txBody>
            <a:bodyPr wrap="square" rtlCol="0">
              <a:spAutoFit/>
            </a:bodyPr>
            <a:lstStyle/>
            <a:p>
              <a:r>
                <a:rPr lang="en-US" altLang="zh-CN" sz="2000" b="1">
                  <a:solidFill>
                    <a:srgbClr val="FF0000"/>
                  </a:solidFill>
                  <a:latin typeface="楷体" panose="02010609060101010101" charset="-122"/>
                  <a:ea typeface="楷体" panose="02010609060101010101" charset="-122"/>
                  <a:cs typeface="楷体" panose="02010609060101010101" charset="-122"/>
                </a:rPr>
                <a:t>“</a:t>
              </a:r>
              <a:r>
                <a:rPr lang="zh-CN" altLang="en-US" sz="2000" b="1">
                  <a:solidFill>
                    <a:srgbClr val="FF0000"/>
                  </a:solidFill>
                  <a:latin typeface="楷体" panose="02010609060101010101" charset="-122"/>
                  <a:ea typeface="楷体" panose="02010609060101010101" charset="-122"/>
                  <a:cs typeface="楷体" panose="02010609060101010101" charset="-122"/>
                </a:rPr>
                <a:t>两弹一星</a:t>
              </a:r>
              <a:r>
                <a:rPr lang="en-US" altLang="zh-CN" sz="2000" b="1">
                  <a:solidFill>
                    <a:srgbClr val="FF0000"/>
                  </a:solidFill>
                  <a:latin typeface="楷体" panose="02010609060101010101" charset="-122"/>
                  <a:ea typeface="楷体" panose="02010609060101010101" charset="-122"/>
                  <a:cs typeface="楷体" panose="02010609060101010101" charset="-122"/>
                </a:rPr>
                <a:t>”</a:t>
              </a:r>
              <a:r>
                <a:rPr lang="zh-CN" altLang="en-US" sz="2000" b="1">
                  <a:solidFill>
                    <a:srgbClr val="FF0000"/>
                  </a:solidFill>
                  <a:latin typeface="楷体" panose="02010609060101010101" charset="-122"/>
                  <a:ea typeface="楷体" panose="02010609060101010101" charset="-122"/>
                  <a:cs typeface="楷体" panose="02010609060101010101" charset="-122"/>
                </a:rPr>
                <a:t>精神</a:t>
              </a:r>
            </a:p>
          </p:txBody>
        </p:sp>
      </p:gr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b="1">
                <a:solidFill>
                  <a:schemeClr val="accent6"/>
                </a:solidFill>
                <a:latin typeface="楷体" panose="02010609060101010101" charset="-122"/>
                <a:ea typeface="楷体" panose="02010609060101010101" charset="-122"/>
                <a:cs typeface="楷体" panose="02010609060101010101" charset="-122"/>
                <a:sym typeface="+mn-ea"/>
              </a:rPr>
              <a:t>2024</a:t>
            </a:r>
            <a:r>
              <a:rPr lang="zh-CN" altLang="en-US" b="1">
                <a:solidFill>
                  <a:schemeClr val="accent6"/>
                </a:solidFill>
                <a:latin typeface="楷体" panose="02010609060101010101" charset="-122"/>
                <a:ea typeface="楷体" panose="02010609060101010101" charset="-122"/>
                <a:cs typeface="楷体" panose="02010609060101010101" charset="-122"/>
                <a:sym typeface="+mn-ea"/>
              </a:rPr>
              <a:t>年</a:t>
            </a:r>
            <a:r>
              <a:rPr lang="en-US" altLang="zh-CN" b="1">
                <a:solidFill>
                  <a:schemeClr val="accent6"/>
                </a:solidFill>
                <a:latin typeface="楷体" panose="02010609060101010101" charset="-122"/>
                <a:ea typeface="楷体" panose="02010609060101010101" charset="-122"/>
                <a:cs typeface="楷体" panose="02010609060101010101" charset="-122"/>
                <a:sym typeface="+mn-ea"/>
              </a:rPr>
              <a:t>2</a:t>
            </a:r>
            <a:r>
              <a:rPr lang="zh-CN" altLang="en-US" b="1">
                <a:solidFill>
                  <a:schemeClr val="accent6"/>
                </a:solidFill>
                <a:latin typeface="楷体" panose="02010609060101010101" charset="-122"/>
                <a:ea typeface="楷体" panose="02010609060101010101" charset="-122"/>
                <a:cs typeface="楷体" panose="02010609060101010101" charset="-122"/>
                <a:sym typeface="+mn-ea"/>
              </a:rPr>
              <a:t>月中国数据库流行度排行榜（</a:t>
            </a:r>
            <a:r>
              <a:rPr lang="en-US" altLang="zh-CN" b="1">
                <a:solidFill>
                  <a:schemeClr val="accent6"/>
                </a:solidFill>
                <a:latin typeface="楷体" panose="02010609060101010101" charset="-122"/>
                <a:ea typeface="楷体" panose="02010609060101010101" charset="-122"/>
                <a:cs typeface="楷体" panose="02010609060101010101" charset="-122"/>
                <a:sym typeface="+mn-ea"/>
              </a:rPr>
              <a:t>top10)</a:t>
            </a:r>
            <a:endParaRPr lang="zh-CN" altLang="en-US"/>
          </a:p>
        </p:txBody>
      </p:sp>
      <p:sp>
        <p:nvSpPr>
          <p:cNvPr id="12" name="文本框 11"/>
          <p:cNvSpPr txBox="1"/>
          <p:nvPr/>
        </p:nvSpPr>
        <p:spPr>
          <a:xfrm>
            <a:off x="4114800" y="606425"/>
            <a:ext cx="3871595" cy="368300"/>
          </a:xfrm>
          <a:prstGeom prst="rect">
            <a:avLst/>
          </a:prstGeom>
          <a:noFill/>
        </p:spPr>
        <p:txBody>
          <a:bodyPr wrap="square" rtlCol="0">
            <a:spAutoFit/>
          </a:bodyPr>
          <a:lstStyle/>
          <a:p>
            <a:pPr algn="ctr"/>
            <a:r>
              <a:rPr lang="zh-CN" altLang="en-US">
                <a:latin typeface="楷体" panose="02010609060101010101" charset="-122"/>
                <a:ea typeface="楷体" panose="02010609060101010101" charset="-122"/>
                <a:cs typeface="楷体" panose="02010609060101010101" charset="-122"/>
                <a:sym typeface="+mn-ea"/>
                <a:hlinkClick r:id="rId2" action="ppaction://hlinkfile"/>
              </a:rPr>
              <a:t>https://www.modb.pro</a:t>
            </a:r>
            <a:r>
              <a:rPr lang="en-US" altLang="zh-CN">
                <a:latin typeface="楷体" panose="02010609060101010101" charset="-122"/>
                <a:ea typeface="楷体" panose="02010609060101010101" charset="-122"/>
                <a:cs typeface="楷体" panose="02010609060101010101" charset="-122"/>
                <a:sym typeface="+mn-ea"/>
                <a:hlinkClick r:id="rId2" action="ppaction://hlinkfile"/>
              </a:rPr>
              <a:t>/dbrank</a:t>
            </a:r>
            <a:endParaRPr lang="en-US" altLang="zh-CN">
              <a:latin typeface="楷体" panose="02010609060101010101" charset="-122"/>
              <a:ea typeface="楷体" panose="02010609060101010101" charset="-122"/>
              <a:cs typeface="楷体" panose="02010609060101010101"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49</a:t>
            </a:fld>
            <a:endParaRPr lang="zh-CN" altLang="en-US" strike="noStrike" noProof="1"/>
          </a:p>
        </p:txBody>
      </p:sp>
      <p:pic>
        <p:nvPicPr>
          <p:cNvPr id="100" name="图片 99"/>
          <p:cNvPicPr/>
          <p:nvPr/>
        </p:nvPicPr>
        <p:blipFill>
          <a:blip r:embed="rId3"/>
          <a:stretch>
            <a:fillRect/>
          </a:stretch>
        </p:blipFill>
        <p:spPr>
          <a:xfrm>
            <a:off x="340360" y="995680"/>
            <a:ext cx="11420475" cy="5481955"/>
          </a:xfrm>
          <a:prstGeom prst="rect">
            <a:avLst/>
          </a:prstGeom>
          <a:noFill/>
          <a:ln w="9525">
            <a:noFill/>
          </a:ln>
        </p:spPr>
      </p:pic>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1.1  数据库系统概述</a:t>
            </a:r>
            <a:endParaRPr lang="zh-CN" altLang="en-US"/>
          </a:p>
        </p:txBody>
      </p:sp>
      <p:sp>
        <p:nvSpPr>
          <p:cNvPr id="3" name="内容占位符 2"/>
          <p:cNvSpPr>
            <a:spLocks noGrp="1"/>
          </p:cNvSpPr>
          <p:nvPr>
            <p:ph idx="1"/>
          </p:nvPr>
        </p:nvSpPr>
        <p:spPr/>
        <p:txBody>
          <a:bodyPr/>
          <a:lstStyle/>
          <a:p>
            <a:pPr marL="0" indent="0">
              <a:lnSpc>
                <a:spcPct val="150000"/>
              </a:lnSpc>
              <a:buNone/>
            </a:pPr>
            <a:r>
              <a:rPr lang="en-US" altLang="zh-CN"/>
              <a:t>1.1.1 </a:t>
            </a:r>
            <a:r>
              <a:rPr lang="zh-CN" altLang="en-US"/>
              <a:t>数据库的四个基本概念</a:t>
            </a:r>
          </a:p>
          <a:p>
            <a:pPr marL="0" indent="0">
              <a:lnSpc>
                <a:spcPct val="150000"/>
              </a:lnSpc>
              <a:buNone/>
            </a:pPr>
            <a:r>
              <a:rPr lang="en-US" altLang="zh-CN"/>
              <a:t>1.1.2 </a:t>
            </a:r>
            <a:r>
              <a:rPr lang="zh-CN" altLang="en-US"/>
              <a:t>数据管理技术的产生和发展</a:t>
            </a:r>
          </a:p>
          <a:p>
            <a:pPr marL="0" indent="0">
              <a:lnSpc>
                <a:spcPct val="150000"/>
              </a:lnSpc>
              <a:buNone/>
            </a:pPr>
            <a:r>
              <a:rPr lang="en-US" altLang="zh-CN">
                <a:solidFill>
                  <a:srgbClr val="FF0000"/>
                </a:solidFill>
              </a:rPr>
              <a:t>1.1.3 </a:t>
            </a:r>
            <a:r>
              <a:rPr lang="zh-CN" altLang="en-US">
                <a:solidFill>
                  <a:srgbClr val="FF0000"/>
                </a:solidFill>
              </a:rPr>
              <a:t>数据库系统的特点</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50</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一个例子：学生学籍管理系统（</a:t>
            </a:r>
            <a:r>
              <a:rPr lang="en-US" altLang="zh-CN"/>
              <a:t>1</a:t>
            </a:r>
            <a:r>
              <a:rPr lang="zh-CN" altLang="en-US"/>
              <a:t>）</a:t>
            </a:r>
          </a:p>
        </p:txBody>
      </p:sp>
      <p:sp>
        <p:nvSpPr>
          <p:cNvPr id="3" name="内容占位符 2"/>
          <p:cNvSpPr>
            <a:spLocks noGrp="1"/>
          </p:cNvSpPr>
          <p:nvPr>
            <p:ph idx="1"/>
          </p:nvPr>
        </p:nvSpPr>
        <p:spPr/>
        <p:txBody>
          <a:bodyPr/>
          <a:lstStyle/>
          <a:p>
            <a:pPr>
              <a:lnSpc>
                <a:spcPct val="100000"/>
              </a:lnSpc>
            </a:pPr>
            <a:r>
              <a:rPr lang="zh-CN" altLang="en-US">
                <a:highlight>
                  <a:srgbClr val="FFFF00"/>
                </a:highlight>
              </a:rPr>
              <a:t>学生的信息包括：学号、姓名、性别、年龄、专业和奖励</a:t>
            </a:r>
            <a:endParaRPr lang="zh-CN" altLang="en-US"/>
          </a:p>
          <a:p>
            <a:pPr lvl="0">
              <a:lnSpc>
                <a:spcPct val="100000"/>
              </a:lnSpc>
              <a:spcBef>
                <a:spcPts val="3000"/>
              </a:spcBef>
            </a:pPr>
            <a:r>
              <a:rPr lang="zh-CN" altLang="en-US"/>
              <a:t>用文件系统实现学籍管理</a:t>
            </a:r>
          </a:p>
          <a:p>
            <a:pPr lvl="1">
              <a:lnSpc>
                <a:spcPct val="100000"/>
              </a:lnSpc>
              <a:spcBef>
                <a:spcPts val="1000"/>
              </a:spcBef>
            </a:pPr>
            <a:r>
              <a:rPr lang="zh-CN" altLang="en-US">
                <a:solidFill>
                  <a:srgbClr val="FF0000"/>
                </a:solidFill>
              </a:rPr>
              <a:t>数据存储</a:t>
            </a:r>
            <a:endParaRPr lang="zh-CN" altLang="en-US"/>
          </a:p>
          <a:p>
            <a:pPr lvl="2">
              <a:lnSpc>
                <a:spcPct val="100000"/>
              </a:lnSpc>
            </a:pPr>
            <a:r>
              <a:rPr lang="zh-CN" altLang="en-US">
                <a:solidFill>
                  <a:srgbClr val="C00000"/>
                </a:solidFill>
              </a:rPr>
              <a:t>学生的基本信息</a:t>
            </a:r>
            <a:r>
              <a:rPr lang="zh-CN" altLang="en-US"/>
              <a:t>：定长记录，存储在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t>文件中</a:t>
            </a:r>
          </a:p>
          <a:p>
            <a:pPr lvl="2">
              <a:lnSpc>
                <a:spcPct val="100000"/>
              </a:lnSpc>
            </a:pPr>
            <a:r>
              <a:rPr lang="zh-CN" altLang="en-US">
                <a:solidFill>
                  <a:srgbClr val="C00000"/>
                </a:solidFill>
                <a:latin typeface="Times New Roman" panose="02020603050405020304" pitchFamily="2" charset="0"/>
                <a:cs typeface="Times New Roman" panose="02020603050405020304" pitchFamily="2" charset="0"/>
              </a:rPr>
              <a:t>学生获得的奖励信息</a:t>
            </a:r>
            <a:r>
              <a:rPr lang="zh-CN" altLang="en-US"/>
              <a:t>：</a:t>
            </a:r>
            <a:r>
              <a:rPr lang="zh-CN" altLang="en-US">
                <a:latin typeface="Times New Roman" panose="02020603050405020304" pitchFamily="2" charset="0"/>
                <a:cs typeface="Times New Roman" panose="02020603050405020304" pitchFamily="2" charset="0"/>
              </a:rPr>
              <a:t>变长记录，存放在另一个</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文件中</a:t>
            </a:r>
          </a:p>
          <a:p>
            <a:pPr lvl="2">
              <a:lnSpc>
                <a:spcPct val="100000"/>
              </a:lnSpc>
            </a:pPr>
            <a:r>
              <a:rPr lang="zh-CN" altLang="en-US">
                <a:latin typeface="Times New Roman" panose="02020603050405020304" pitchFamily="2" charset="0"/>
                <a:cs typeface="Times New Roman" panose="02020603050405020304" pitchFamily="2" charset="0"/>
              </a:rPr>
              <a:t>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记录中，添加</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位置</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和</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长度</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字段来描述该学生的奖励记录在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文件中的开始位置和</a:t>
            </a:r>
            <a:r>
              <a:rPr lang="zh-CN" altLang="en-US"/>
              <a:t>长度</a:t>
            </a:r>
          </a:p>
          <a:p>
            <a:pPr lvl="1">
              <a:lnSpc>
                <a:spcPct val="100000"/>
              </a:lnSpc>
              <a:spcBef>
                <a:spcPts val="2000"/>
              </a:spcBef>
            </a:pPr>
            <a:r>
              <a:rPr lang="zh-CN" altLang="en-US">
                <a:solidFill>
                  <a:srgbClr val="FF0000"/>
                </a:solidFill>
              </a:rPr>
              <a:t>数据存取</a:t>
            </a:r>
            <a:endParaRPr lang="zh-CN" altLang="en-US"/>
          </a:p>
          <a:p>
            <a:pPr lvl="2">
              <a:lnSpc>
                <a:spcPct val="100000"/>
              </a:lnSpc>
            </a:pPr>
            <a:r>
              <a:rPr lang="zh-CN" altLang="en-US"/>
              <a:t>编写应用程序，实现数据的录入和查找</a:t>
            </a:r>
          </a:p>
          <a:p>
            <a:pPr lvl="1">
              <a:lnSpc>
                <a:spcPct val="100000"/>
              </a:lnSpc>
              <a:spcBef>
                <a:spcPts val="2000"/>
              </a:spcBef>
            </a:pPr>
            <a:r>
              <a:rPr lang="zh-CN" altLang="en-US">
                <a:solidFill>
                  <a:srgbClr val="FF0000"/>
                </a:solidFill>
              </a:rPr>
              <a:t>缺点</a:t>
            </a:r>
            <a:r>
              <a:rPr lang="zh-CN" altLang="en-US"/>
              <a:t>：程序员必须关注记录结构和不同文件中记录之间的联系，工作量大，编程复杂，开发速度慢</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51</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linds(horizontal)">
                                      <p:cBhvr>
                                        <p:cTn id="25" dur="500"/>
                                        <p:tgtEl>
                                          <p:spTgt spid="3">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blinds(horizontal)">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一个例子：学生学籍管理系统（</a:t>
            </a:r>
            <a:r>
              <a:rPr lang="en-US" altLang="zh-CN">
                <a:sym typeface="+mn-ea"/>
              </a:rPr>
              <a:t>2</a:t>
            </a:r>
            <a:r>
              <a:rPr lang="zh-CN" altLang="en-US">
                <a:sym typeface="+mn-ea"/>
              </a:rPr>
              <a:t>）</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52</a:t>
            </a:fld>
            <a:endParaRPr lang="zh-CN" altLang="en-US"/>
          </a:p>
        </p:txBody>
      </p:sp>
      <p:pic>
        <p:nvPicPr>
          <p:cNvPr id="7" name="图片 6"/>
          <p:cNvPicPr>
            <a:picLocks noChangeAspect="1"/>
          </p:cNvPicPr>
          <p:nvPr>
            <p:custDataLst>
              <p:tags r:id="rId1"/>
            </p:custDataLst>
          </p:nvPr>
        </p:nvPicPr>
        <p:blipFill>
          <a:blip r:embed="rId6"/>
          <a:stretch>
            <a:fillRect/>
          </a:stretch>
        </p:blipFill>
        <p:spPr>
          <a:xfrm>
            <a:off x="2423160" y="1364615"/>
            <a:ext cx="7183755" cy="1947545"/>
          </a:xfrm>
          <a:prstGeom prst="rect">
            <a:avLst/>
          </a:prstGeom>
        </p:spPr>
      </p:pic>
      <p:pic>
        <p:nvPicPr>
          <p:cNvPr id="8" name="图片 7"/>
          <p:cNvPicPr>
            <a:picLocks noChangeAspect="1"/>
          </p:cNvPicPr>
          <p:nvPr>
            <p:custDataLst>
              <p:tags r:id="rId2"/>
            </p:custDataLst>
          </p:nvPr>
        </p:nvPicPr>
        <p:blipFill>
          <a:blip r:embed="rId7"/>
          <a:stretch>
            <a:fillRect/>
          </a:stretch>
        </p:blipFill>
        <p:spPr>
          <a:xfrm>
            <a:off x="3685540" y="4472940"/>
            <a:ext cx="4655820" cy="1340485"/>
          </a:xfrm>
          <a:prstGeom prst="rect">
            <a:avLst/>
          </a:prstGeom>
        </p:spPr>
      </p:pic>
      <p:sp>
        <p:nvSpPr>
          <p:cNvPr id="9" name="文本框 8"/>
          <p:cNvSpPr txBox="1"/>
          <p:nvPr>
            <p:custDataLst>
              <p:tags r:id="rId3"/>
            </p:custDataLst>
          </p:nvPr>
        </p:nvSpPr>
        <p:spPr>
          <a:xfrm>
            <a:off x="566420" y="791885"/>
            <a:ext cx="10894695" cy="553085"/>
          </a:xfrm>
          <a:prstGeom prst="rect">
            <a:avLst/>
          </a:prstGeom>
          <a:noFill/>
        </p:spPr>
        <p:txBody>
          <a:bodyPr wrap="square" rtlCol="0">
            <a:spAutoFit/>
          </a:bodyPr>
          <a:lstStyle/>
          <a:p>
            <a:pPr algn="ctr"/>
            <a:r>
              <a:rPr lang="zh-CN" altLang="en-US" sz="3000" b="1">
                <a:solidFill>
                  <a:srgbClr val="1F2DA8"/>
                </a:solidFill>
                <a:latin typeface="楷体" panose="02010609060101010101" charset="-122"/>
                <a:ea typeface="楷体" panose="02010609060101010101" charset="-122"/>
                <a:cs typeface="楷体" panose="02010609060101010101" charset="-122"/>
              </a:rPr>
              <a:t>表</a:t>
            </a:r>
            <a:r>
              <a:rPr lang="en-US" altLang="zh-CN" sz="3000" b="1">
                <a:solidFill>
                  <a:srgbClr val="1F2DA8"/>
                </a:solidFill>
                <a:latin typeface="楷体" panose="02010609060101010101" charset="-122"/>
                <a:ea typeface="楷体" panose="02010609060101010101" charset="-122"/>
                <a:cs typeface="楷体" panose="02010609060101010101" charset="-122"/>
              </a:rPr>
              <a:t>1.3  “</a:t>
            </a:r>
            <a:r>
              <a:rPr lang="zh-CN" altLang="en-US" sz="3000" b="1">
                <a:solidFill>
                  <a:srgbClr val="1F2DA8"/>
                </a:solidFill>
                <a:latin typeface="楷体" panose="02010609060101010101" charset="-122"/>
                <a:ea typeface="楷体" panose="02010609060101010101" charset="-122"/>
                <a:cs typeface="楷体" panose="02010609060101010101" charset="-122"/>
              </a:rPr>
              <a:t>学生基本信息</a:t>
            </a:r>
            <a:r>
              <a:rPr lang="en-US" altLang="zh-CN" sz="3000" b="1">
                <a:solidFill>
                  <a:srgbClr val="1F2DA8"/>
                </a:solidFill>
                <a:latin typeface="楷体" panose="02010609060101010101" charset="-122"/>
                <a:ea typeface="楷体" panose="02010609060101010101" charset="-122"/>
                <a:cs typeface="楷体" panose="02010609060101010101" charset="-122"/>
              </a:rPr>
              <a:t>”</a:t>
            </a:r>
            <a:r>
              <a:rPr lang="zh-CN" altLang="en-US" sz="3000" b="1">
                <a:solidFill>
                  <a:srgbClr val="1F2DA8"/>
                </a:solidFill>
                <a:latin typeface="楷体" panose="02010609060101010101" charset="-122"/>
                <a:ea typeface="楷体" panose="02010609060101010101" charset="-122"/>
                <a:cs typeface="楷体" panose="02010609060101010101" charset="-122"/>
              </a:rPr>
              <a:t>文件的结构和内容</a:t>
            </a:r>
          </a:p>
        </p:txBody>
      </p:sp>
      <p:sp>
        <p:nvSpPr>
          <p:cNvPr id="10" name="文本框 9"/>
          <p:cNvSpPr txBox="1"/>
          <p:nvPr>
            <p:custDataLst>
              <p:tags r:id="rId4"/>
            </p:custDataLst>
          </p:nvPr>
        </p:nvSpPr>
        <p:spPr>
          <a:xfrm>
            <a:off x="566420" y="3921800"/>
            <a:ext cx="10894695" cy="553085"/>
          </a:xfrm>
          <a:prstGeom prst="rect">
            <a:avLst/>
          </a:prstGeom>
          <a:noFill/>
        </p:spPr>
        <p:txBody>
          <a:bodyPr wrap="square" rtlCol="0">
            <a:spAutoFit/>
          </a:bodyPr>
          <a:lstStyle/>
          <a:p>
            <a:pPr algn="ctr"/>
            <a:r>
              <a:rPr lang="zh-CN" altLang="en-US" sz="3000" b="1">
                <a:solidFill>
                  <a:srgbClr val="1F2DA8"/>
                </a:solidFill>
                <a:latin typeface="楷体" panose="02010609060101010101" charset="-122"/>
                <a:ea typeface="楷体" panose="02010609060101010101" charset="-122"/>
                <a:cs typeface="楷体" panose="02010609060101010101" charset="-122"/>
              </a:rPr>
              <a:t>表</a:t>
            </a:r>
            <a:r>
              <a:rPr lang="en-US" altLang="zh-CN" sz="3000" b="1">
                <a:solidFill>
                  <a:srgbClr val="1F2DA8"/>
                </a:solidFill>
                <a:latin typeface="楷体" panose="02010609060101010101" charset="-122"/>
                <a:ea typeface="楷体" panose="02010609060101010101" charset="-122"/>
                <a:cs typeface="楷体" panose="02010609060101010101" charset="-122"/>
              </a:rPr>
              <a:t>1.4  “</a:t>
            </a:r>
            <a:r>
              <a:rPr lang="zh-CN" altLang="en-US" sz="3000" b="1">
                <a:solidFill>
                  <a:srgbClr val="1F2DA8"/>
                </a:solidFill>
                <a:latin typeface="楷体" panose="02010609060101010101" charset="-122"/>
                <a:ea typeface="楷体" panose="02010609060101010101" charset="-122"/>
                <a:cs typeface="楷体" panose="02010609060101010101" charset="-122"/>
              </a:rPr>
              <a:t>奖励</a:t>
            </a:r>
            <a:r>
              <a:rPr lang="en-US" altLang="zh-CN" sz="3000" b="1">
                <a:solidFill>
                  <a:srgbClr val="1F2DA8"/>
                </a:solidFill>
                <a:latin typeface="楷体" panose="02010609060101010101" charset="-122"/>
                <a:ea typeface="楷体" panose="02010609060101010101" charset="-122"/>
                <a:cs typeface="楷体" panose="02010609060101010101" charset="-122"/>
              </a:rPr>
              <a:t>”</a:t>
            </a:r>
            <a:r>
              <a:rPr lang="zh-CN" altLang="en-US" sz="3000" b="1">
                <a:solidFill>
                  <a:srgbClr val="1F2DA8"/>
                </a:solidFill>
                <a:latin typeface="楷体" panose="02010609060101010101" charset="-122"/>
                <a:ea typeface="楷体" panose="02010609060101010101" charset="-122"/>
                <a:cs typeface="楷体" panose="02010609060101010101" charset="-122"/>
              </a:rPr>
              <a:t>文件的结构和内容</a:t>
            </a:r>
          </a:p>
        </p:txBody>
      </p:sp>
      <p:sp>
        <p:nvSpPr>
          <p:cNvPr id="2" name="页脚占位符 1"/>
          <p:cNvSpPr>
            <a:spLocks noGrp="1"/>
          </p:cNvSpPr>
          <p:nvPr>
            <p:ph type="ftr" sz="quarter" idx="11"/>
          </p:nvPr>
        </p:nvSpPr>
        <p:spPr/>
        <p:txBody>
          <a:bodyPr/>
          <a:lstStyle/>
          <a:p>
            <a:r>
              <a:rPr lang="zh-CN" altLang="en-US"/>
              <a:t>ch01_绪论</a:t>
            </a:r>
          </a:p>
        </p:txBody>
      </p:sp>
      <p:sp>
        <p:nvSpPr>
          <p:cNvPr id="3" name="文本框 2"/>
          <p:cNvSpPr txBox="1"/>
          <p:nvPr/>
        </p:nvSpPr>
        <p:spPr>
          <a:xfrm>
            <a:off x="9606915" y="1941830"/>
            <a:ext cx="1858645" cy="460375"/>
          </a:xfrm>
          <a:prstGeom prst="rect">
            <a:avLst/>
          </a:prstGeom>
          <a:solidFill>
            <a:schemeClr val="accent4">
              <a:lumMod val="20000"/>
              <a:lumOff val="80000"/>
            </a:schemeClr>
          </a:solidFill>
        </p:spPr>
        <p:txBody>
          <a:bodyPr wrap="square" rtlCol="0">
            <a:spAutoFit/>
          </a:bodyPr>
          <a:lstStyle/>
          <a:p>
            <a:pPr algn="ctr"/>
            <a:r>
              <a:rPr lang="zh-CN" altLang="en-US" sz="2400">
                <a:solidFill>
                  <a:srgbClr val="C00000"/>
                </a:solidFill>
              </a:rPr>
              <a:t>（定长记录）</a:t>
            </a:r>
          </a:p>
        </p:txBody>
      </p:sp>
      <p:sp>
        <p:nvSpPr>
          <p:cNvPr id="4" name="文本框 3"/>
          <p:cNvSpPr txBox="1"/>
          <p:nvPr/>
        </p:nvSpPr>
        <p:spPr>
          <a:xfrm>
            <a:off x="9606915" y="4912995"/>
            <a:ext cx="1858645" cy="460375"/>
          </a:xfrm>
          <a:prstGeom prst="rect">
            <a:avLst/>
          </a:prstGeom>
          <a:solidFill>
            <a:schemeClr val="accent4">
              <a:lumMod val="20000"/>
              <a:lumOff val="80000"/>
            </a:schemeClr>
          </a:solidFill>
        </p:spPr>
        <p:txBody>
          <a:bodyPr wrap="square" rtlCol="0">
            <a:spAutoFit/>
          </a:bodyPr>
          <a:lstStyle/>
          <a:p>
            <a:pPr algn="ctr"/>
            <a:r>
              <a:rPr lang="zh-CN" altLang="en-US" sz="2400">
                <a:solidFill>
                  <a:srgbClr val="C00000"/>
                </a:solidFill>
              </a:rPr>
              <a:t>（变长记录）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一个例子：学生学籍管理系统（</a:t>
            </a:r>
            <a:r>
              <a:rPr lang="en-US" altLang="zh-CN"/>
              <a:t>3</a:t>
            </a:r>
            <a:r>
              <a:rPr lang="zh-CN" altLang="en-US"/>
              <a:t>）</a:t>
            </a:r>
          </a:p>
        </p:txBody>
      </p:sp>
      <p:sp>
        <p:nvSpPr>
          <p:cNvPr id="3" name="内容占位符 2"/>
          <p:cNvSpPr>
            <a:spLocks noGrp="1"/>
          </p:cNvSpPr>
          <p:nvPr>
            <p:ph idx="1"/>
          </p:nvPr>
        </p:nvSpPr>
        <p:spPr/>
        <p:txBody>
          <a:bodyPr/>
          <a:lstStyle/>
          <a:p>
            <a:r>
              <a:rPr lang="zh-CN" altLang="en-US">
                <a:highlight>
                  <a:srgbClr val="FFFF00"/>
                </a:highlight>
              </a:rPr>
              <a:t>学生的信息包括：学号、姓名、性别、年龄、专业和奖励</a:t>
            </a:r>
            <a:endParaRPr lang="zh-CN" altLang="en-US"/>
          </a:p>
          <a:p>
            <a:pPr lvl="0">
              <a:lnSpc>
                <a:spcPct val="110000"/>
              </a:lnSpc>
              <a:spcBef>
                <a:spcPts val="3000"/>
              </a:spcBef>
            </a:pPr>
            <a:r>
              <a:rPr lang="zh-CN" altLang="en-US"/>
              <a:t>用数据库系统实现学籍管理</a:t>
            </a:r>
          </a:p>
          <a:p>
            <a:pPr lvl="1"/>
            <a:r>
              <a:rPr lang="zh-CN" altLang="en-US">
                <a:solidFill>
                  <a:srgbClr val="FF0000"/>
                </a:solidFill>
              </a:rPr>
              <a:t>数据存储</a:t>
            </a:r>
            <a:endParaRPr lang="zh-CN" altLang="en-US"/>
          </a:p>
          <a:p>
            <a:pPr lvl="2"/>
            <a:r>
              <a:rPr lang="zh-CN" altLang="en-US"/>
              <a:t>建立两张表</a:t>
            </a:r>
          </a:p>
          <a:p>
            <a:pPr lvl="3"/>
            <a:r>
              <a:rPr lang="en-US" altLang="zh-CN"/>
              <a:t>students</a:t>
            </a:r>
            <a:r>
              <a:rPr lang="zh-CN" altLang="en-US"/>
              <a:t>表：存放学生的基本信息</a:t>
            </a:r>
          </a:p>
          <a:p>
            <a:pPr lvl="3"/>
            <a:r>
              <a:rPr lang="en-US" altLang="zh-CN">
                <a:sym typeface="+mn-ea"/>
              </a:rPr>
              <a:t>awards</a:t>
            </a:r>
            <a:r>
              <a:rPr lang="zh-CN" altLang="en-US">
                <a:sym typeface="+mn-ea"/>
              </a:rPr>
              <a:t>表：存放学生获得的</a:t>
            </a:r>
            <a:r>
              <a:rPr lang="zh-CN" altLang="en-US"/>
              <a:t>奖励情况</a:t>
            </a:r>
            <a:endParaRPr lang="zh-CN" altLang="en-US">
              <a:latin typeface="Times New Roman" panose="02020603050405020304" pitchFamily="2" charset="0"/>
              <a:cs typeface="Times New Roman" panose="02020603050405020304" pitchFamily="2" charset="0"/>
            </a:endParaRPr>
          </a:p>
          <a:p>
            <a:pPr lvl="2"/>
            <a:r>
              <a:rPr lang="zh-CN" altLang="en-US">
                <a:latin typeface="Times New Roman" panose="02020603050405020304" pitchFamily="2" charset="0"/>
                <a:cs typeface="Times New Roman" panose="02020603050405020304" pitchFamily="2" charset="0"/>
              </a:rPr>
              <a:t>通过外码实现</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与</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的关联</a:t>
            </a:r>
            <a:endParaRPr lang="zh-CN" altLang="en-US"/>
          </a:p>
          <a:p>
            <a:pPr lvl="1">
              <a:lnSpc>
                <a:spcPct val="110000"/>
              </a:lnSpc>
              <a:spcBef>
                <a:spcPts val="2000"/>
              </a:spcBef>
            </a:pPr>
            <a:r>
              <a:rPr lang="zh-CN" altLang="en-US">
                <a:solidFill>
                  <a:srgbClr val="FF0000"/>
                </a:solidFill>
              </a:rPr>
              <a:t>数据存取</a:t>
            </a:r>
            <a:endParaRPr lang="zh-CN" altLang="en-US"/>
          </a:p>
          <a:p>
            <a:pPr lvl="2"/>
            <a:r>
              <a:rPr lang="zh-CN" altLang="en-US"/>
              <a:t>使用</a:t>
            </a:r>
            <a:r>
              <a:rPr lang="en-US" altLang="zh-CN"/>
              <a:t>DBMS</a:t>
            </a:r>
            <a:r>
              <a:rPr lang="zh-CN" altLang="en-US"/>
              <a:t>提供的数据操纵语言，实现数据的录入和查找</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53</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一个例子：学生学籍管理系统（</a:t>
            </a:r>
            <a:r>
              <a:rPr lang="en-US" altLang="zh-CN">
                <a:sym typeface="+mn-ea"/>
              </a:rPr>
              <a:t>4</a:t>
            </a:r>
            <a:r>
              <a:rPr lang="zh-CN" altLang="en-US">
                <a:sym typeface="+mn-ea"/>
              </a:rPr>
              <a:t>）</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54</a:t>
            </a:fld>
            <a:endParaRPr lang="zh-CN" altLang="en-US"/>
          </a:p>
        </p:txBody>
      </p:sp>
      <p:sp>
        <p:nvSpPr>
          <p:cNvPr id="9" name="文本框 8"/>
          <p:cNvSpPr txBox="1"/>
          <p:nvPr>
            <p:custDataLst>
              <p:tags r:id="rId1"/>
            </p:custDataLst>
          </p:nvPr>
        </p:nvSpPr>
        <p:spPr>
          <a:xfrm>
            <a:off x="566420" y="619165"/>
            <a:ext cx="10894695" cy="553085"/>
          </a:xfrm>
          <a:prstGeom prst="rect">
            <a:avLst/>
          </a:prstGeom>
          <a:noFill/>
        </p:spPr>
        <p:txBody>
          <a:bodyPr wrap="square" rtlCol="0">
            <a:spAutoFit/>
          </a:bodyPr>
          <a:lstStyle/>
          <a:p>
            <a:pPr algn="ctr"/>
            <a:r>
              <a:rPr lang="en-US" sz="3000" b="1">
                <a:solidFill>
                  <a:srgbClr val="1F2DA8"/>
                </a:solidFill>
                <a:latin typeface="楷体" panose="02010609060101010101" charset="-122"/>
                <a:ea typeface="楷体" panose="02010609060101010101" charset="-122"/>
                <a:cs typeface="楷体" panose="02010609060101010101" charset="-122"/>
              </a:rPr>
              <a:t>students </a:t>
            </a:r>
            <a:r>
              <a:rPr lang="zh-CN" altLang="en-US" sz="3000" b="1">
                <a:solidFill>
                  <a:srgbClr val="1F2DA8"/>
                </a:solidFill>
                <a:latin typeface="楷体" panose="02010609060101010101" charset="-122"/>
                <a:ea typeface="楷体" panose="02010609060101010101" charset="-122"/>
                <a:cs typeface="楷体" panose="02010609060101010101" charset="-122"/>
              </a:rPr>
              <a:t>学生基本信息表</a:t>
            </a:r>
          </a:p>
        </p:txBody>
      </p:sp>
      <p:sp>
        <p:nvSpPr>
          <p:cNvPr id="10" name="文本框 9"/>
          <p:cNvSpPr txBox="1"/>
          <p:nvPr>
            <p:custDataLst>
              <p:tags r:id="rId2"/>
            </p:custDataLst>
          </p:nvPr>
        </p:nvSpPr>
        <p:spPr>
          <a:xfrm>
            <a:off x="566420" y="3921800"/>
            <a:ext cx="10894695" cy="553085"/>
          </a:xfrm>
          <a:prstGeom prst="rect">
            <a:avLst/>
          </a:prstGeom>
          <a:noFill/>
        </p:spPr>
        <p:txBody>
          <a:bodyPr wrap="square" rtlCol="0">
            <a:spAutoFit/>
          </a:bodyPr>
          <a:lstStyle/>
          <a:p>
            <a:pPr algn="ctr"/>
            <a:r>
              <a:rPr lang="en-US" sz="3000" b="1">
                <a:solidFill>
                  <a:srgbClr val="1F2DA8"/>
                </a:solidFill>
                <a:latin typeface="楷体" panose="02010609060101010101" charset="-122"/>
                <a:ea typeface="楷体" panose="02010609060101010101" charset="-122"/>
                <a:cs typeface="楷体" panose="02010609060101010101" charset="-122"/>
              </a:rPr>
              <a:t>awards </a:t>
            </a:r>
            <a:r>
              <a:rPr lang="zh-CN" altLang="en-US" sz="3000" b="1">
                <a:solidFill>
                  <a:srgbClr val="1F2DA8"/>
                </a:solidFill>
                <a:latin typeface="楷体" panose="02010609060101010101" charset="-122"/>
                <a:ea typeface="楷体" panose="02010609060101010101" charset="-122"/>
                <a:cs typeface="楷体" panose="02010609060101010101" charset="-122"/>
              </a:rPr>
              <a:t>学生奖励信息表</a:t>
            </a:r>
          </a:p>
        </p:txBody>
      </p:sp>
      <p:graphicFrame>
        <p:nvGraphicFramePr>
          <p:cNvPr id="12" name="表格 11"/>
          <p:cNvGraphicFramePr/>
          <p:nvPr>
            <p:custDataLst>
              <p:tags r:id="rId3"/>
            </p:custDataLst>
          </p:nvPr>
        </p:nvGraphicFramePr>
        <p:xfrm>
          <a:off x="563880" y="1118235"/>
          <a:ext cx="10899775" cy="2590800"/>
        </p:xfrm>
        <a:graphic>
          <a:graphicData uri="http://schemas.openxmlformats.org/drawingml/2006/table">
            <a:tbl>
              <a:tblPr firstRow="1" bandRow="1">
                <a:tableStyleId>{5C22544A-7EE6-4342-B048-85BDC9FD1C3A}</a:tableStyleId>
              </a:tblPr>
              <a:tblGrid>
                <a:gridCol w="2179955">
                  <a:extLst>
                    <a:ext uri="{9D8B030D-6E8A-4147-A177-3AD203B41FA5}">
                      <a16:colId xmlns:a16="http://schemas.microsoft.com/office/drawing/2014/main" val="20000"/>
                    </a:ext>
                  </a:extLst>
                </a:gridCol>
                <a:gridCol w="2179955">
                  <a:extLst>
                    <a:ext uri="{9D8B030D-6E8A-4147-A177-3AD203B41FA5}">
                      <a16:colId xmlns:a16="http://schemas.microsoft.com/office/drawing/2014/main" val="20001"/>
                    </a:ext>
                  </a:extLst>
                </a:gridCol>
                <a:gridCol w="2179955">
                  <a:extLst>
                    <a:ext uri="{9D8B030D-6E8A-4147-A177-3AD203B41FA5}">
                      <a16:colId xmlns:a16="http://schemas.microsoft.com/office/drawing/2014/main" val="20002"/>
                    </a:ext>
                  </a:extLst>
                </a:gridCol>
                <a:gridCol w="2179955">
                  <a:extLst>
                    <a:ext uri="{9D8B030D-6E8A-4147-A177-3AD203B41FA5}">
                      <a16:colId xmlns:a16="http://schemas.microsoft.com/office/drawing/2014/main" val="20003"/>
                    </a:ext>
                  </a:extLst>
                </a:gridCol>
                <a:gridCol w="2179955">
                  <a:extLst>
                    <a:ext uri="{9D8B030D-6E8A-4147-A177-3AD203B41FA5}">
                      <a16:colId xmlns:a16="http://schemas.microsoft.com/office/drawing/2014/main" val="20004"/>
                    </a:ext>
                  </a:extLst>
                </a:gridCol>
              </a:tblGrid>
              <a:tr h="518160">
                <a:tc>
                  <a:txBody>
                    <a:bodyPr/>
                    <a:lstStyle/>
                    <a:p>
                      <a:pPr algn="ctr">
                        <a:buNone/>
                      </a:pPr>
                      <a:r>
                        <a:rPr lang="zh-CN" altLang="en-US" sz="2800" b="1">
                          <a:latin typeface="楷体" panose="02010609060101010101" charset="-122"/>
                          <a:ea typeface="楷体" panose="02010609060101010101" charset="-122"/>
                        </a:rPr>
                        <a:t>学号</a:t>
                      </a:r>
                    </a:p>
                  </a:txBody>
                  <a:tcPr anchor="ctr"/>
                </a:tc>
                <a:tc>
                  <a:txBody>
                    <a:bodyPr/>
                    <a:lstStyle/>
                    <a:p>
                      <a:pPr algn="ctr">
                        <a:buNone/>
                      </a:pPr>
                      <a:r>
                        <a:rPr lang="zh-CN" altLang="en-US" sz="2800" b="1">
                          <a:latin typeface="楷体" panose="02010609060101010101" charset="-122"/>
                          <a:ea typeface="楷体" panose="02010609060101010101" charset="-122"/>
                        </a:rPr>
                        <a:t>姓名</a:t>
                      </a:r>
                    </a:p>
                  </a:txBody>
                  <a:tcPr anchor="ctr"/>
                </a:tc>
                <a:tc>
                  <a:txBody>
                    <a:bodyPr/>
                    <a:lstStyle/>
                    <a:p>
                      <a:pPr algn="ctr">
                        <a:buNone/>
                      </a:pPr>
                      <a:r>
                        <a:rPr lang="zh-CN" altLang="en-US" sz="2800" b="1">
                          <a:latin typeface="楷体" panose="02010609060101010101" charset="-122"/>
                          <a:ea typeface="楷体" panose="02010609060101010101" charset="-122"/>
                        </a:rPr>
                        <a:t>性别</a:t>
                      </a:r>
                    </a:p>
                  </a:txBody>
                  <a:tcPr anchor="ctr"/>
                </a:tc>
                <a:tc>
                  <a:txBody>
                    <a:bodyPr/>
                    <a:lstStyle/>
                    <a:p>
                      <a:pPr algn="ctr">
                        <a:buNone/>
                      </a:pPr>
                      <a:r>
                        <a:rPr lang="zh-CN" altLang="en-US" sz="2800" b="1">
                          <a:latin typeface="楷体" panose="02010609060101010101" charset="-122"/>
                          <a:ea typeface="楷体" panose="02010609060101010101" charset="-122"/>
                        </a:rPr>
                        <a:t>年龄</a:t>
                      </a:r>
                    </a:p>
                  </a:txBody>
                  <a:tcPr anchor="ctr"/>
                </a:tc>
                <a:tc>
                  <a:txBody>
                    <a:bodyPr/>
                    <a:lstStyle/>
                    <a:p>
                      <a:pPr algn="ctr">
                        <a:buNone/>
                      </a:pPr>
                      <a:r>
                        <a:rPr lang="zh-CN" altLang="en-US" sz="2800" b="1">
                          <a:latin typeface="楷体" panose="02010609060101010101" charset="-122"/>
                          <a:ea typeface="楷体" panose="02010609060101010101" charset="-122"/>
                        </a:rPr>
                        <a:t>专业</a:t>
                      </a:r>
                    </a:p>
                  </a:txBody>
                  <a:tcPr anchor="ctr"/>
                </a:tc>
                <a:extLst>
                  <a:ext uri="{0D108BD9-81ED-4DB2-BD59-A6C34878D82A}">
                    <a16:rowId xmlns:a16="http://schemas.microsoft.com/office/drawing/2014/main" val="10000"/>
                  </a:ext>
                </a:extLst>
              </a:tr>
              <a:tr h="518160">
                <a:tc>
                  <a:txBody>
                    <a:bodyPr/>
                    <a:lstStyle/>
                    <a:p>
                      <a:pPr algn="ctr">
                        <a:buNone/>
                      </a:pPr>
                      <a:r>
                        <a:rPr lang="en-US" altLang="zh-CN" sz="2800" b="1">
                          <a:latin typeface="楷体" panose="02010609060101010101" charset="-122"/>
                          <a:ea typeface="楷体" panose="02010609060101010101" charset="-122"/>
                        </a:rPr>
                        <a:t>20100001</a:t>
                      </a:r>
                    </a:p>
                  </a:txBody>
                  <a:tcPr anchor="ctr"/>
                </a:tc>
                <a:tc>
                  <a:txBody>
                    <a:bodyPr/>
                    <a:lstStyle/>
                    <a:p>
                      <a:pPr algn="ctr">
                        <a:buNone/>
                      </a:pPr>
                      <a:r>
                        <a:rPr lang="zh-CN" altLang="en-US" sz="2800" b="1">
                          <a:latin typeface="楷体" panose="02010609060101010101" charset="-122"/>
                          <a:ea typeface="楷体" panose="02010609060101010101" charset="-122"/>
                          <a:sym typeface="+mn-ea"/>
                        </a:rPr>
                        <a:t>史玉明</a:t>
                      </a:r>
                    </a:p>
                  </a:txBody>
                  <a:tcPr anchor="ctr"/>
                </a:tc>
                <a:tc>
                  <a:txBody>
                    <a:bodyPr/>
                    <a:lstStyle/>
                    <a:p>
                      <a:pPr algn="ctr">
                        <a:buNone/>
                      </a:pPr>
                      <a:r>
                        <a:rPr lang="zh-CN" altLang="en-US" sz="2800" b="1">
                          <a:latin typeface="楷体" panose="02010609060101010101" charset="-122"/>
                          <a:ea typeface="楷体" panose="02010609060101010101" charset="-122"/>
                        </a:rPr>
                        <a:t>女</a:t>
                      </a:r>
                    </a:p>
                  </a:txBody>
                  <a:tcPr anchor="ctr"/>
                </a:tc>
                <a:tc>
                  <a:txBody>
                    <a:bodyPr/>
                    <a:lstStyle/>
                    <a:p>
                      <a:pPr algn="ctr">
                        <a:buNone/>
                      </a:pPr>
                      <a:r>
                        <a:rPr lang="en-US" altLang="zh-CN" sz="2800" b="1">
                          <a:latin typeface="楷体" panose="02010609060101010101" charset="-122"/>
                          <a:ea typeface="楷体" panose="02010609060101010101" charset="-122"/>
                        </a:rPr>
                        <a:t>20</a:t>
                      </a:r>
                    </a:p>
                  </a:txBody>
                  <a:tcPr anchor="ctr"/>
                </a:tc>
                <a:tc>
                  <a:txBody>
                    <a:bodyPr/>
                    <a:lstStyle/>
                    <a:p>
                      <a:pPr algn="ctr">
                        <a:buNone/>
                      </a:pPr>
                      <a:r>
                        <a:rPr lang="zh-CN" altLang="en-US" sz="2800" b="1">
                          <a:latin typeface="楷体" panose="02010609060101010101" charset="-122"/>
                          <a:ea typeface="楷体" panose="02010609060101010101" charset="-122"/>
                        </a:rPr>
                        <a:t>计算机</a:t>
                      </a:r>
                    </a:p>
                  </a:txBody>
                  <a:tcPr anchor="ctr"/>
                </a:tc>
                <a:extLst>
                  <a:ext uri="{0D108BD9-81ED-4DB2-BD59-A6C34878D82A}">
                    <a16:rowId xmlns:a16="http://schemas.microsoft.com/office/drawing/2014/main" val="10001"/>
                  </a:ext>
                </a:extLst>
              </a:tr>
              <a:tr h="518160">
                <a:tc>
                  <a:txBody>
                    <a:bodyPr/>
                    <a:lstStyle/>
                    <a:p>
                      <a:pPr algn="ctr">
                        <a:buNone/>
                      </a:pPr>
                      <a:r>
                        <a:rPr lang="en-US" altLang="zh-CN" sz="2800" b="1">
                          <a:latin typeface="楷体" panose="02010609060101010101" charset="-122"/>
                          <a:ea typeface="楷体" panose="02010609060101010101" charset="-122"/>
                          <a:sym typeface="+mn-ea"/>
                        </a:rPr>
                        <a:t>20100100</a:t>
                      </a:r>
                    </a:p>
                  </a:txBody>
                  <a:tcPr anchor="ctr"/>
                </a:tc>
                <a:tc>
                  <a:txBody>
                    <a:bodyPr/>
                    <a:lstStyle/>
                    <a:p>
                      <a:pPr algn="ctr">
                        <a:buNone/>
                      </a:pPr>
                      <a:r>
                        <a:rPr lang="zh-CN" altLang="en-US" sz="2800" b="1">
                          <a:latin typeface="楷体" panose="02010609060101010101" charset="-122"/>
                          <a:ea typeface="楷体" panose="02010609060101010101" charset="-122"/>
                        </a:rPr>
                        <a:t>李明虎</a:t>
                      </a:r>
                    </a:p>
                  </a:txBody>
                  <a:tcPr anchor="ctr"/>
                </a:tc>
                <a:tc>
                  <a:txBody>
                    <a:bodyPr/>
                    <a:lstStyle/>
                    <a:p>
                      <a:pPr algn="ctr">
                        <a:buNone/>
                      </a:pPr>
                      <a:r>
                        <a:rPr lang="zh-CN" altLang="en-US" sz="2800" b="1">
                          <a:latin typeface="楷体" panose="02010609060101010101" charset="-122"/>
                          <a:ea typeface="楷体" panose="02010609060101010101" charset="-122"/>
                        </a:rPr>
                        <a:t>男</a:t>
                      </a:r>
                    </a:p>
                  </a:txBody>
                  <a:tcPr anchor="ctr"/>
                </a:tc>
                <a:tc>
                  <a:txBody>
                    <a:bodyPr/>
                    <a:lstStyle/>
                    <a:p>
                      <a:pPr algn="ctr">
                        <a:buNone/>
                      </a:pPr>
                      <a:r>
                        <a:rPr lang="en-US" altLang="zh-CN" sz="2800" b="1">
                          <a:latin typeface="楷体" panose="02010609060101010101" charset="-122"/>
                          <a:ea typeface="楷体" panose="02010609060101010101" charset="-122"/>
                        </a:rPr>
                        <a:t>21</a:t>
                      </a:r>
                    </a:p>
                  </a:txBody>
                  <a:tcPr anchor="ctr"/>
                </a:tc>
                <a:tc>
                  <a:txBody>
                    <a:bodyPr/>
                    <a:lstStyle/>
                    <a:p>
                      <a:pPr algn="ctr">
                        <a:buNone/>
                      </a:pPr>
                      <a:r>
                        <a:rPr lang="zh-CN" altLang="en-US" sz="2800" b="1">
                          <a:latin typeface="楷体" panose="02010609060101010101" charset="-122"/>
                          <a:ea typeface="楷体" panose="02010609060101010101" charset="-122"/>
                        </a:rPr>
                        <a:t>机械</a:t>
                      </a:r>
                    </a:p>
                  </a:txBody>
                  <a:tcPr anchor="ctr"/>
                </a:tc>
                <a:extLst>
                  <a:ext uri="{0D108BD9-81ED-4DB2-BD59-A6C34878D82A}">
                    <a16:rowId xmlns:a16="http://schemas.microsoft.com/office/drawing/2014/main" val="10002"/>
                  </a:ext>
                </a:extLst>
              </a:tr>
              <a:tr h="518160">
                <a:tc>
                  <a:txBody>
                    <a:bodyPr/>
                    <a:lstStyle/>
                    <a:p>
                      <a:pPr algn="ctr">
                        <a:buNone/>
                      </a:pPr>
                      <a:r>
                        <a:rPr lang="en-US" altLang="zh-CN" sz="2800" b="1">
                          <a:latin typeface="楷体" panose="02010609060101010101" charset="-122"/>
                          <a:ea typeface="楷体" panose="02010609060101010101" charset="-122"/>
                        </a:rPr>
                        <a:t>20100234</a:t>
                      </a:r>
                    </a:p>
                  </a:txBody>
                  <a:tcPr anchor="ctr"/>
                </a:tc>
                <a:tc>
                  <a:txBody>
                    <a:bodyPr/>
                    <a:lstStyle/>
                    <a:p>
                      <a:pPr algn="ctr">
                        <a:buNone/>
                      </a:pPr>
                      <a:r>
                        <a:rPr lang="zh-CN" altLang="en-US" sz="2800" b="1">
                          <a:latin typeface="楷体" panose="02010609060101010101" charset="-122"/>
                          <a:ea typeface="楷体" panose="02010609060101010101" charset="-122"/>
                        </a:rPr>
                        <a:t>张翔</a:t>
                      </a:r>
                    </a:p>
                  </a:txBody>
                  <a:tcPr anchor="ctr"/>
                </a:tc>
                <a:tc>
                  <a:txBody>
                    <a:bodyPr/>
                    <a:lstStyle/>
                    <a:p>
                      <a:pPr algn="ctr">
                        <a:buNone/>
                      </a:pPr>
                      <a:r>
                        <a:rPr lang="zh-CN" altLang="en-US" sz="2800" b="1">
                          <a:latin typeface="楷体" panose="02010609060101010101" charset="-122"/>
                          <a:ea typeface="楷体" panose="02010609060101010101" charset="-122"/>
                        </a:rPr>
                        <a:t>男</a:t>
                      </a:r>
                    </a:p>
                  </a:txBody>
                  <a:tcPr anchor="ctr"/>
                </a:tc>
                <a:tc>
                  <a:txBody>
                    <a:bodyPr/>
                    <a:lstStyle/>
                    <a:p>
                      <a:pPr algn="ctr">
                        <a:buNone/>
                      </a:pPr>
                      <a:r>
                        <a:rPr lang="en-US" altLang="zh-CN" sz="2800" b="1">
                          <a:latin typeface="楷体" panose="02010609060101010101" charset="-122"/>
                          <a:ea typeface="楷体" panose="02010609060101010101" charset="-122"/>
                        </a:rPr>
                        <a:t>21</a:t>
                      </a:r>
                    </a:p>
                  </a:txBody>
                  <a:tcPr anchor="ctr"/>
                </a:tc>
                <a:tc>
                  <a:txBody>
                    <a:bodyPr/>
                    <a:lstStyle/>
                    <a:p>
                      <a:pPr algn="ctr">
                        <a:buNone/>
                      </a:pPr>
                      <a:r>
                        <a:rPr lang="zh-CN" altLang="en-US" sz="2800" b="1">
                          <a:latin typeface="楷体" panose="02010609060101010101" charset="-122"/>
                          <a:ea typeface="楷体" panose="02010609060101010101" charset="-122"/>
                        </a:rPr>
                        <a:t>化工</a:t>
                      </a:r>
                    </a:p>
                  </a:txBody>
                  <a:tcPr anchor="ctr"/>
                </a:tc>
                <a:extLst>
                  <a:ext uri="{0D108BD9-81ED-4DB2-BD59-A6C34878D82A}">
                    <a16:rowId xmlns:a16="http://schemas.microsoft.com/office/drawing/2014/main" val="10003"/>
                  </a:ext>
                </a:extLst>
              </a:tr>
              <a:tr h="518160">
                <a:tc>
                  <a:txBody>
                    <a:bodyPr/>
                    <a:lstStyle/>
                    <a:p>
                      <a:pPr algn="ctr">
                        <a:buNone/>
                      </a:pPr>
                      <a:r>
                        <a:rPr lang="en-US" altLang="zh-CN" sz="2800" b="1">
                          <a:latin typeface="楷体" panose="02010609060101010101" charset="-122"/>
                          <a:ea typeface="楷体" panose="02010609060101010101" charset="-122"/>
                        </a:rPr>
                        <a:t>......</a:t>
                      </a:r>
                    </a:p>
                  </a:txBody>
                  <a:tcPr anchor="ctr"/>
                </a:tc>
                <a:tc>
                  <a:txBody>
                    <a:bodyPr/>
                    <a:lstStyle/>
                    <a:p>
                      <a:pPr algn="ctr">
                        <a:buNone/>
                      </a:pPr>
                      <a:r>
                        <a:rPr lang="en-US" altLang="zh-CN" sz="2800" b="1">
                          <a:latin typeface="楷体" panose="02010609060101010101" charset="-122"/>
                          <a:ea typeface="楷体" panose="02010609060101010101" charset="-122"/>
                        </a:rPr>
                        <a:t>......</a:t>
                      </a:r>
                    </a:p>
                  </a:txBody>
                  <a:tcPr anchor="ctr"/>
                </a:tc>
                <a:tc>
                  <a:txBody>
                    <a:bodyPr/>
                    <a:lstStyle/>
                    <a:p>
                      <a:pPr algn="ctr">
                        <a:buNone/>
                      </a:pPr>
                      <a:r>
                        <a:rPr lang="en-US" altLang="zh-CN" sz="2800" b="1">
                          <a:latin typeface="楷体" panose="02010609060101010101" charset="-122"/>
                          <a:ea typeface="楷体" panose="02010609060101010101" charset="-122"/>
                          <a:sym typeface="+mn-ea"/>
                        </a:rPr>
                        <a:t>......</a:t>
                      </a:r>
                    </a:p>
                  </a:txBody>
                  <a:tcPr anchor="ctr"/>
                </a:tc>
                <a:tc>
                  <a:txBody>
                    <a:bodyPr/>
                    <a:lstStyle/>
                    <a:p>
                      <a:pPr algn="ctr">
                        <a:buNone/>
                      </a:pPr>
                      <a:r>
                        <a:rPr lang="en-US" altLang="zh-CN" sz="2800" b="1">
                          <a:latin typeface="楷体" panose="02010609060101010101" charset="-122"/>
                          <a:ea typeface="楷体" panose="02010609060101010101" charset="-122"/>
                          <a:sym typeface="+mn-ea"/>
                        </a:rPr>
                        <a:t>......</a:t>
                      </a:r>
                    </a:p>
                  </a:txBody>
                  <a:tcPr anchor="ctr"/>
                </a:tc>
                <a:tc>
                  <a:txBody>
                    <a:bodyPr/>
                    <a:lstStyle/>
                    <a:p>
                      <a:pPr algn="ctr">
                        <a:buNone/>
                      </a:pPr>
                      <a:r>
                        <a:rPr lang="en-US" altLang="zh-CN" sz="2800" b="1">
                          <a:latin typeface="楷体" panose="02010609060101010101" charset="-122"/>
                          <a:ea typeface="楷体" panose="02010609060101010101" charset="-122"/>
                          <a:sym typeface="+mn-ea"/>
                        </a:rPr>
                        <a:t>......</a:t>
                      </a:r>
                    </a:p>
                  </a:txBody>
                  <a:tcPr anchor="ctr"/>
                </a:tc>
                <a:extLst>
                  <a:ext uri="{0D108BD9-81ED-4DB2-BD59-A6C34878D82A}">
                    <a16:rowId xmlns:a16="http://schemas.microsoft.com/office/drawing/2014/main" val="10004"/>
                  </a:ext>
                </a:extLst>
              </a:tr>
            </a:tbl>
          </a:graphicData>
        </a:graphic>
      </p:graphicFrame>
      <p:graphicFrame>
        <p:nvGraphicFramePr>
          <p:cNvPr id="13" name="表格 12"/>
          <p:cNvGraphicFramePr/>
          <p:nvPr>
            <p:custDataLst>
              <p:tags r:id="rId4"/>
            </p:custDataLst>
          </p:nvPr>
        </p:nvGraphicFramePr>
        <p:xfrm>
          <a:off x="566420" y="4385945"/>
          <a:ext cx="10895330" cy="2072640"/>
        </p:xfrm>
        <a:graphic>
          <a:graphicData uri="http://schemas.openxmlformats.org/drawingml/2006/table">
            <a:tbl>
              <a:tblPr firstRow="1" bandRow="1">
                <a:tableStyleId>{5C22544A-7EE6-4342-B048-85BDC9FD1C3A}</a:tableStyleId>
              </a:tblPr>
              <a:tblGrid>
                <a:gridCol w="2193290">
                  <a:extLst>
                    <a:ext uri="{9D8B030D-6E8A-4147-A177-3AD203B41FA5}">
                      <a16:colId xmlns:a16="http://schemas.microsoft.com/office/drawing/2014/main" val="20000"/>
                    </a:ext>
                  </a:extLst>
                </a:gridCol>
                <a:gridCol w="8702040">
                  <a:extLst>
                    <a:ext uri="{9D8B030D-6E8A-4147-A177-3AD203B41FA5}">
                      <a16:colId xmlns:a16="http://schemas.microsoft.com/office/drawing/2014/main" val="20001"/>
                    </a:ext>
                  </a:extLst>
                </a:gridCol>
              </a:tblGrid>
              <a:tr h="403225">
                <a:tc>
                  <a:txBody>
                    <a:bodyPr/>
                    <a:lstStyle/>
                    <a:p>
                      <a:pPr algn="ctr">
                        <a:buNone/>
                      </a:pPr>
                      <a:r>
                        <a:rPr lang="zh-CN" altLang="en-US" sz="2800">
                          <a:latin typeface="楷体" panose="02010609060101010101" charset="-122"/>
                          <a:ea typeface="楷体" panose="02010609060101010101" charset="-122"/>
                        </a:rPr>
                        <a:t>学号</a:t>
                      </a:r>
                    </a:p>
                  </a:txBody>
                  <a:tcPr anchor="ctr"/>
                </a:tc>
                <a:tc>
                  <a:txBody>
                    <a:bodyPr/>
                    <a:lstStyle/>
                    <a:p>
                      <a:pPr algn="ctr">
                        <a:buNone/>
                      </a:pPr>
                      <a:r>
                        <a:rPr lang="zh-CN" altLang="en-US" sz="2800">
                          <a:latin typeface="楷体" panose="02010609060101010101" charset="-122"/>
                          <a:ea typeface="楷体" panose="02010609060101010101" charset="-122"/>
                        </a:rPr>
                        <a:t>奖励</a:t>
                      </a:r>
                    </a:p>
                  </a:txBody>
                  <a:tcPr anchor="ctr"/>
                </a:tc>
                <a:extLst>
                  <a:ext uri="{0D108BD9-81ED-4DB2-BD59-A6C34878D82A}">
                    <a16:rowId xmlns:a16="http://schemas.microsoft.com/office/drawing/2014/main" val="10000"/>
                  </a:ext>
                </a:extLst>
              </a:tr>
              <a:tr h="403225">
                <a:tc>
                  <a:txBody>
                    <a:bodyPr/>
                    <a:lstStyle/>
                    <a:p>
                      <a:pPr algn="ctr">
                        <a:buNone/>
                      </a:pPr>
                      <a:r>
                        <a:rPr lang="en-US" altLang="zh-CN" sz="2800" b="1">
                          <a:latin typeface="楷体" panose="02010609060101010101" charset="-122"/>
                          <a:ea typeface="楷体" panose="02010609060101010101" charset="-122"/>
                        </a:rPr>
                        <a:t>20100001</a:t>
                      </a:r>
                    </a:p>
                  </a:txBody>
                  <a:tcPr anchor="ctr"/>
                </a:tc>
                <a:tc>
                  <a:txBody>
                    <a:bodyPr/>
                    <a:lstStyle/>
                    <a:p>
                      <a:pPr algn="l">
                        <a:buNone/>
                      </a:pPr>
                      <a:r>
                        <a:rPr lang="en-US" altLang="zh-CN" sz="2800">
                          <a:latin typeface="楷体" panose="02010609060101010101" charset="-122"/>
                          <a:ea typeface="楷体" panose="02010609060101010101" charset="-122"/>
                        </a:rPr>
                        <a:t>2011</a:t>
                      </a:r>
                      <a:r>
                        <a:rPr lang="zh-CN" altLang="en-US" sz="2800">
                          <a:latin typeface="楷体" panose="02010609060101010101" charset="-122"/>
                          <a:ea typeface="楷体" panose="02010609060101010101" charset="-122"/>
                        </a:rPr>
                        <a:t>校奖学金，</a:t>
                      </a:r>
                      <a:r>
                        <a:rPr lang="en-US" altLang="zh-CN" sz="2800">
                          <a:latin typeface="楷体" panose="02010609060101010101" charset="-122"/>
                          <a:ea typeface="楷体" panose="02010609060101010101" charset="-122"/>
                        </a:rPr>
                        <a:t>2012</a:t>
                      </a:r>
                      <a:r>
                        <a:rPr lang="zh-CN" altLang="en-US" sz="2800">
                          <a:latin typeface="楷体" panose="02010609060101010101" charset="-122"/>
                          <a:ea typeface="楷体" panose="02010609060101010101" charset="-122"/>
                        </a:rPr>
                        <a:t>国家奖学金</a:t>
                      </a:r>
                    </a:p>
                  </a:txBody>
                  <a:tcPr anchor="ctr"/>
                </a:tc>
                <a:extLst>
                  <a:ext uri="{0D108BD9-81ED-4DB2-BD59-A6C34878D82A}">
                    <a16:rowId xmlns:a16="http://schemas.microsoft.com/office/drawing/2014/main" val="10001"/>
                  </a:ext>
                </a:extLst>
              </a:tr>
              <a:tr h="403225">
                <a:tc>
                  <a:txBody>
                    <a:bodyPr/>
                    <a:lstStyle/>
                    <a:p>
                      <a:pPr algn="ctr">
                        <a:buNone/>
                      </a:pPr>
                      <a:r>
                        <a:rPr lang="en-US" altLang="zh-CN" sz="2800" b="1">
                          <a:latin typeface="楷体" panose="02010609060101010101" charset="-122"/>
                          <a:ea typeface="楷体" panose="02010609060101010101" charset="-122"/>
                          <a:sym typeface="+mn-ea"/>
                        </a:rPr>
                        <a:t>20100100</a:t>
                      </a:r>
                    </a:p>
                  </a:txBody>
                  <a:tcPr anchor="ctr"/>
                </a:tc>
                <a:tc>
                  <a:txBody>
                    <a:bodyPr/>
                    <a:lstStyle/>
                    <a:p>
                      <a:pPr algn="l">
                        <a:buNone/>
                      </a:pPr>
                      <a:r>
                        <a:rPr lang="en-US" altLang="zh-CN" sz="2800">
                          <a:latin typeface="楷体" panose="02010609060101010101" charset="-122"/>
                          <a:ea typeface="楷体" panose="02010609060101010101" charset="-122"/>
                        </a:rPr>
                        <a:t>2012</a:t>
                      </a:r>
                      <a:r>
                        <a:rPr lang="zh-CN" altLang="en-US" sz="2800">
                          <a:latin typeface="楷体" panose="02010609060101010101" charset="-122"/>
                          <a:ea typeface="楷体" panose="02010609060101010101" charset="-122"/>
                        </a:rPr>
                        <a:t>校优秀学生</a:t>
                      </a:r>
                    </a:p>
                  </a:txBody>
                  <a:tcPr anchor="ctr"/>
                </a:tc>
                <a:extLst>
                  <a:ext uri="{0D108BD9-81ED-4DB2-BD59-A6C34878D82A}">
                    <a16:rowId xmlns:a16="http://schemas.microsoft.com/office/drawing/2014/main" val="10002"/>
                  </a:ext>
                </a:extLst>
              </a:tr>
              <a:tr h="403225">
                <a:tc>
                  <a:txBody>
                    <a:bodyPr/>
                    <a:lstStyle/>
                    <a:p>
                      <a:pPr algn="ctr">
                        <a:buNone/>
                      </a:pPr>
                      <a:r>
                        <a:rPr lang="en-US" altLang="zh-CN" sz="2800">
                          <a:latin typeface="楷体" panose="02010609060101010101" charset="-122"/>
                          <a:ea typeface="楷体" panose="02010609060101010101" charset="-122"/>
                        </a:rPr>
                        <a:t>......</a:t>
                      </a:r>
                    </a:p>
                  </a:txBody>
                  <a:tcPr anchor="ctr"/>
                </a:tc>
                <a:tc>
                  <a:txBody>
                    <a:bodyPr/>
                    <a:lstStyle/>
                    <a:p>
                      <a:pPr algn="ctr">
                        <a:buNone/>
                      </a:pPr>
                      <a:r>
                        <a:rPr lang="en-US" altLang="zh-CN" sz="2800">
                          <a:latin typeface="楷体" panose="02010609060101010101" charset="-122"/>
                          <a:ea typeface="楷体" panose="02010609060101010101" charset="-122"/>
                          <a:sym typeface="+mn-ea"/>
                        </a:rPr>
                        <a:t>......</a:t>
                      </a:r>
                      <a:endParaRPr lang="zh-CN" altLang="en-US" sz="2800">
                        <a:latin typeface="楷体" panose="02010609060101010101" charset="-122"/>
                        <a:ea typeface="楷体" panose="02010609060101010101" charset="-122"/>
                      </a:endParaRPr>
                    </a:p>
                  </a:txBody>
                  <a:tcPr anchor="ctr"/>
                </a:tc>
                <a:extLst>
                  <a:ext uri="{0D108BD9-81ED-4DB2-BD59-A6C34878D82A}">
                    <a16:rowId xmlns:a16="http://schemas.microsoft.com/office/drawing/2014/main" val="10003"/>
                  </a:ext>
                </a:extLst>
              </a:tr>
            </a:tbl>
          </a:graphicData>
        </a:graphic>
      </p:graphicFrame>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p:cNvSpPr>
          <p:nvPr>
            <p:ph type="title"/>
          </p:nvPr>
        </p:nvSpPr>
        <p:spPr/>
        <p:txBody>
          <a:bodyPr wrap="square" tIns="0" bIns="0" anchor="ctr"/>
          <a:lstStyle/>
          <a:p>
            <a:pPr eaLnBrk="1" hangingPunct="1"/>
            <a:r>
              <a:rPr lang="zh-CN" altLang="en-US">
                <a:sym typeface="+mn-ea"/>
              </a:rPr>
              <a:t>文件管理存在的问题</a:t>
            </a:r>
          </a:p>
        </p:txBody>
      </p:sp>
      <p:sp>
        <p:nvSpPr>
          <p:cNvPr id="37892" name="Rectangle 3"/>
          <p:cNvSpPr>
            <a:spLocks noGrp="1"/>
          </p:cNvSpPr>
          <p:nvPr>
            <p:ph idx="1"/>
          </p:nvPr>
        </p:nvSpPr>
        <p:spPr/>
        <p:txBody>
          <a:bodyPr wrap="square" anchor="t"/>
          <a:lstStyle/>
          <a:p>
            <a:pPr marL="0" indent="615950" eaLnBrk="1" hangingPunct="1">
              <a:lnSpc>
                <a:spcPct val="100000"/>
              </a:lnSpc>
              <a:spcBef>
                <a:spcPts val="0"/>
              </a:spcBef>
              <a:spcAft>
                <a:spcPts val="0"/>
              </a:spcAft>
              <a:buNone/>
            </a:pPr>
            <a:r>
              <a:rPr lang="zh-CN" altLang="en-US" sz="2800">
                <a:latin typeface="楷体" panose="02010609060101010101" charset="-122"/>
                <a:ea typeface="楷体" panose="02010609060101010101" charset="-122"/>
                <a:cs typeface="楷体" panose="02010609060101010101" charset="-122"/>
              </a:rPr>
              <a:t>在数据库技术出现之前，应用程序对于（文件中）数据的管理存在以下方面的问题：</a:t>
            </a:r>
          </a:p>
          <a:p>
            <a:pPr eaLnBrk="1" hangingPunct="1">
              <a:lnSpc>
                <a:spcPct val="100000"/>
              </a:lnSpc>
              <a:spcBef>
                <a:spcPts val="1000"/>
              </a:spcBef>
              <a:spcAft>
                <a:spcPts val="0"/>
              </a:spcAft>
            </a:pPr>
            <a:r>
              <a:rPr lang="zh-CN" altLang="en-US" sz="2800">
                <a:solidFill>
                  <a:srgbClr val="FF0000"/>
                </a:solidFill>
                <a:latin typeface="楷体" panose="02010609060101010101" charset="-122"/>
                <a:ea typeface="楷体" panose="02010609060101010101" charset="-122"/>
                <a:cs typeface="楷体" panose="02010609060101010101" charset="-122"/>
              </a:rPr>
              <a:t>数据存储</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冗余存储</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sym typeface="+mn-ea"/>
              </a:rPr>
              <a:t>redundancy</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数据的不一致性</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rPr>
              <a:t>data in</a:t>
            </a:r>
            <a:r>
              <a:rPr lang="en-US" altLang="en-US" sz="2800" dirty="0">
                <a:latin typeface="楷体" panose="02010609060101010101" charset="-122"/>
                <a:ea typeface="楷体" panose="02010609060101010101" charset="-122"/>
                <a:cs typeface="楷体" panose="02010609060101010101" charset="-122"/>
                <a:sym typeface="+mn-ea"/>
              </a:rPr>
              <a:t>consistency</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完整性约束</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sym typeface="+mn-ea"/>
              </a:rPr>
              <a:t>integrity constraints</a:t>
            </a:r>
            <a:endParaRPr lang="en-US" altLang="zh-CN" sz="2800">
              <a:latin typeface="楷体" panose="02010609060101010101" charset="-122"/>
              <a:ea typeface="楷体" panose="02010609060101010101" charset="-122"/>
              <a:cs typeface="楷体" panose="02010609060101010101" charset="-122"/>
            </a:endParaRPr>
          </a:p>
          <a:p>
            <a:pPr algn="l" eaLnBrk="1" hangingPunct="1">
              <a:lnSpc>
                <a:spcPct val="100000"/>
              </a:lnSpc>
              <a:spcBef>
                <a:spcPts val="1000"/>
              </a:spcBef>
              <a:spcAft>
                <a:spcPts val="0"/>
              </a:spcAft>
              <a:buSzTx/>
            </a:pPr>
            <a:r>
              <a:rPr lang="zh-CN" altLang="en-US" sz="2800">
                <a:solidFill>
                  <a:srgbClr val="FF0000"/>
                </a:solidFill>
                <a:latin typeface="楷体" panose="02010609060101010101" charset="-122"/>
                <a:ea typeface="楷体" panose="02010609060101010101" charset="-122"/>
                <a:cs typeface="楷体" panose="02010609060101010101" charset="-122"/>
              </a:rPr>
              <a:t>数据访问</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缺少标准的数据访问接口</a:t>
            </a: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数据更新操作的原子性</a:t>
            </a:r>
            <a:r>
              <a:rPr lang="en-US" altLang="zh-CN" sz="2800">
                <a:latin typeface="楷体" panose="02010609060101010101" charset="-122"/>
                <a:ea typeface="楷体" panose="02010609060101010101" charset="-122"/>
                <a:cs typeface="楷体" panose="02010609060101010101" charset="-122"/>
              </a:rPr>
              <a:t> </a:t>
            </a:r>
            <a:r>
              <a:rPr lang="en-US" altLang="zh-CN" sz="2800" dirty="0">
                <a:latin typeface="楷体" panose="02010609060101010101" charset="-122"/>
                <a:ea typeface="楷体" panose="02010609060101010101" charset="-122"/>
                <a:cs typeface="楷体" panose="02010609060101010101" charset="-122"/>
                <a:sym typeface="+mn-ea"/>
              </a:rPr>
              <a:t>a</a:t>
            </a:r>
            <a:r>
              <a:rPr lang="en-US" altLang="en-US" sz="2800" dirty="0">
                <a:latin typeface="楷体" panose="02010609060101010101" charset="-122"/>
                <a:ea typeface="楷体" panose="02010609060101010101" charset="-122"/>
                <a:cs typeface="楷体" panose="02010609060101010101" charset="-122"/>
                <a:sym typeface="+mn-ea"/>
              </a:rPr>
              <a:t>tomicity of updates</a:t>
            </a:r>
            <a:endParaRPr lang="zh-CN" altLang="en-US" sz="2800">
              <a:latin typeface="楷体" panose="02010609060101010101" charset="-122"/>
              <a:ea typeface="楷体" panose="02010609060101010101" charset="-122"/>
              <a:cs typeface="楷体" panose="02010609060101010101" charset="-122"/>
            </a:endParaRPr>
          </a:p>
          <a:p>
            <a:pPr algn="l" eaLnBrk="1" hangingPunct="1">
              <a:lnSpc>
                <a:spcPct val="100000"/>
              </a:lnSpc>
              <a:spcBef>
                <a:spcPts val="1000"/>
              </a:spcBef>
              <a:spcAft>
                <a:spcPts val="0"/>
              </a:spcAft>
              <a:buSzTx/>
            </a:pPr>
            <a:r>
              <a:rPr lang="zh-CN" altLang="en-US" sz="2800">
                <a:solidFill>
                  <a:srgbClr val="FF0000"/>
                </a:solidFill>
                <a:latin typeface="楷体" panose="02010609060101010101" charset="-122"/>
                <a:ea typeface="楷体" panose="02010609060101010101" charset="-122"/>
                <a:cs typeface="楷体" panose="02010609060101010101" charset="-122"/>
              </a:rPr>
              <a:t>多用户并发</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多用户访问的隔离、并发控制、故障恢复</a:t>
            </a:r>
          </a:p>
          <a:p>
            <a:pPr eaLnBrk="1" hangingPunct="1">
              <a:lnSpc>
                <a:spcPct val="100000"/>
              </a:lnSpc>
              <a:spcBef>
                <a:spcPts val="1000"/>
              </a:spcBef>
              <a:spcAft>
                <a:spcPts val="0"/>
              </a:spcAft>
            </a:pPr>
            <a:r>
              <a:rPr lang="zh-CN" altLang="en-US" sz="2800">
                <a:solidFill>
                  <a:srgbClr val="FF0000"/>
                </a:solidFill>
                <a:latin typeface="楷体" panose="02010609060101010101" charset="-122"/>
                <a:ea typeface="楷体" panose="02010609060101010101" charset="-122"/>
                <a:cs typeface="楷体" panose="02010609060101010101" charset="-122"/>
              </a:rPr>
              <a:t>数据安全</a:t>
            </a:r>
            <a:r>
              <a:rPr lang="zh-CN" altLang="en-US" sz="2800">
                <a:latin typeface="楷体" panose="02010609060101010101" charset="-122"/>
                <a:ea typeface="楷体" panose="02010609060101010101" charset="-122"/>
                <a:cs typeface="楷体" panose="02010609060101010101" charset="-122"/>
              </a:rPr>
              <a:t>：</a:t>
            </a:r>
            <a:r>
              <a:rPr lang="zh-CN" altLang="en-US" sz="2800">
                <a:solidFill>
                  <a:srgbClr val="1F2DA8"/>
                </a:solidFill>
                <a:latin typeface="楷体" panose="02010609060101010101" charset="-122"/>
                <a:ea typeface="楷体" panose="02010609060101010101" charset="-122"/>
                <a:cs typeface="楷体" panose="02010609060101010101" charset="-122"/>
              </a:rPr>
              <a:t>用户身份识别，访问控制</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55</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1.1.3  </a:t>
            </a:r>
            <a:r>
              <a:rPr lang="zh-CN" altLang="en-US"/>
              <a:t>数据库系统的特点</a:t>
            </a:r>
          </a:p>
        </p:txBody>
      </p:sp>
      <p:sp>
        <p:nvSpPr>
          <p:cNvPr id="6" name="内容占位符 5"/>
          <p:cNvSpPr>
            <a:spLocks noGrp="1"/>
          </p:cNvSpPr>
          <p:nvPr>
            <p:ph idx="1"/>
          </p:nvPr>
        </p:nvSpPr>
        <p:spPr/>
        <p:txBody>
          <a:bodyPr/>
          <a:lstStyle/>
          <a:p>
            <a:r>
              <a:rPr lang="zh-CN" altLang="en-US">
                <a:solidFill>
                  <a:srgbClr val="1F2DA8"/>
                </a:solidFill>
              </a:rPr>
              <a:t>与人工管理和文件系统相比，采用数据库系统来实现数据管理具有以下特点：</a:t>
            </a:r>
          </a:p>
          <a:p>
            <a:pPr lvl="1">
              <a:lnSpc>
                <a:spcPct val="110000"/>
              </a:lnSpc>
              <a:spcBef>
                <a:spcPts val="2000"/>
              </a:spcBef>
            </a:pPr>
            <a:r>
              <a:rPr lang="zh-CN" altLang="en-US">
                <a:solidFill>
                  <a:srgbClr val="1F2DA8"/>
                </a:solidFill>
              </a:rPr>
              <a:t>数据</a:t>
            </a:r>
            <a:r>
              <a:rPr lang="zh-CN" altLang="en-US">
                <a:solidFill>
                  <a:srgbClr val="FF0000"/>
                </a:solidFill>
              </a:rPr>
              <a:t>结构化</a:t>
            </a:r>
            <a:endParaRPr lang="zh-CN" altLang="en-US"/>
          </a:p>
          <a:p>
            <a:pPr lvl="1">
              <a:lnSpc>
                <a:spcPct val="110000"/>
              </a:lnSpc>
              <a:spcBef>
                <a:spcPts val="2000"/>
              </a:spcBef>
            </a:pPr>
            <a:r>
              <a:rPr lang="zh-CN" altLang="en-US"/>
              <a:t>数据的</a:t>
            </a:r>
            <a:r>
              <a:rPr lang="zh-CN" altLang="en-US">
                <a:solidFill>
                  <a:srgbClr val="FF0000"/>
                </a:solidFill>
              </a:rPr>
              <a:t>共享性高</a:t>
            </a:r>
            <a:r>
              <a:rPr lang="zh-CN" altLang="en-US"/>
              <a:t>，</a:t>
            </a:r>
            <a:r>
              <a:rPr lang="zh-CN" altLang="en-US">
                <a:solidFill>
                  <a:srgbClr val="FF0000"/>
                </a:solidFill>
              </a:rPr>
              <a:t>冗余度低</a:t>
            </a:r>
            <a:r>
              <a:rPr lang="zh-CN" altLang="en-US">
                <a:solidFill>
                  <a:srgbClr val="1F2DA8"/>
                </a:solidFill>
              </a:rPr>
              <a:t>，</a:t>
            </a:r>
            <a:r>
              <a:rPr lang="zh-CN" altLang="en-US"/>
              <a:t>且</a:t>
            </a:r>
            <a:r>
              <a:rPr lang="zh-CN" altLang="en-US">
                <a:solidFill>
                  <a:srgbClr val="FF0000"/>
                </a:solidFill>
              </a:rPr>
              <a:t>易扩充</a:t>
            </a:r>
            <a:endParaRPr lang="zh-CN" altLang="en-US"/>
          </a:p>
          <a:p>
            <a:pPr lvl="1">
              <a:lnSpc>
                <a:spcPct val="110000"/>
              </a:lnSpc>
              <a:spcBef>
                <a:spcPts val="2000"/>
              </a:spcBef>
            </a:pPr>
            <a:r>
              <a:rPr lang="zh-CN" altLang="en-US">
                <a:solidFill>
                  <a:srgbClr val="FF0000"/>
                </a:solidFill>
              </a:rPr>
              <a:t>数据独立性高</a:t>
            </a:r>
            <a:endParaRPr lang="zh-CN" altLang="en-US"/>
          </a:p>
          <a:p>
            <a:pPr lvl="1">
              <a:lnSpc>
                <a:spcPct val="110000"/>
              </a:lnSpc>
              <a:spcBef>
                <a:spcPts val="2000"/>
              </a:spcBef>
            </a:pPr>
            <a:r>
              <a:rPr lang="zh-CN" altLang="en-US"/>
              <a:t>数据由数据库管理系统</a:t>
            </a:r>
            <a:r>
              <a:rPr lang="zh-CN" altLang="en-US">
                <a:solidFill>
                  <a:srgbClr val="FF0000"/>
                </a:solidFill>
              </a:rPr>
              <a:t>统一管理和控制</a:t>
            </a:r>
          </a:p>
          <a:p>
            <a:pPr marL="782955" lvl="2" indent="0">
              <a:lnSpc>
                <a:spcPct val="110000"/>
              </a:lnSpc>
              <a:buNone/>
            </a:pPr>
            <a:r>
              <a:rPr lang="zh-CN" altLang="en-US">
                <a:solidFill>
                  <a:srgbClr val="1F2DA8"/>
                </a:solidFill>
              </a:rPr>
              <a:t>（安全性保护，完整性保护，并发控制，数据库恢复）</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56</a:t>
            </a:fld>
            <a:endParaRPr lang="zh-CN" altLang="en-US"/>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dirty="0"/>
              <a:t>数据库的特点（</a:t>
            </a:r>
            <a:r>
              <a:rPr lang="en-US" altLang="zh-CN" dirty="0"/>
              <a:t>1</a:t>
            </a:r>
            <a:r>
              <a:rPr lang="zh-CN" altLang="en-US" dirty="0"/>
              <a:t>）</a:t>
            </a:r>
            <a:r>
              <a:rPr lang="en-US" altLang="zh-CN" dirty="0"/>
              <a:t>-  </a:t>
            </a:r>
            <a:r>
              <a:rPr lang="zh-CN" altLang="en-US" dirty="0"/>
              <a:t>数据结构化</a:t>
            </a:r>
          </a:p>
        </p:txBody>
      </p:sp>
      <p:sp>
        <p:nvSpPr>
          <p:cNvPr id="47107" name="Rectangle 3"/>
          <p:cNvSpPr>
            <a:spLocks noGrp="1" noChangeArrowheads="1"/>
          </p:cNvSpPr>
          <p:nvPr>
            <p:ph idx="1"/>
          </p:nvPr>
        </p:nvSpPr>
        <p:spPr/>
        <p:txBody>
          <a:bodyPr>
            <a:normAutofit/>
          </a:bodyPr>
          <a:lstStyle/>
          <a:p>
            <a:r>
              <a:rPr lang="zh-CN" altLang="en-US" dirty="0"/>
              <a:t>数据的整体结构化是数据库的主要特征之一，也是数据库系统与文件系统的本质区别。</a:t>
            </a:r>
          </a:p>
          <a:p>
            <a:pPr>
              <a:lnSpc>
                <a:spcPct val="110000"/>
              </a:lnSpc>
              <a:spcBef>
                <a:spcPts val="2000"/>
              </a:spcBef>
            </a:pPr>
            <a:r>
              <a:rPr lang="zh-CN" altLang="en-US" dirty="0">
                <a:solidFill>
                  <a:srgbClr val="FF0000"/>
                </a:solidFill>
              </a:rPr>
              <a:t>整体结构化</a:t>
            </a:r>
            <a:endParaRPr lang="zh-CN" altLang="en-US" dirty="0"/>
          </a:p>
          <a:p>
            <a:pPr lvl="1"/>
            <a:r>
              <a:rPr lang="zh-CN" altLang="en-US" dirty="0"/>
              <a:t>不再仅仅针对某一个应用，而是面向全组织（</a:t>
            </a:r>
            <a:r>
              <a:rPr lang="zh-CN" altLang="en-US" dirty="0">
                <a:solidFill>
                  <a:srgbClr val="FF0000"/>
                </a:solidFill>
                <a:sym typeface="+mn-ea"/>
              </a:rPr>
              <a:t>集成性</a:t>
            </a:r>
            <a:r>
              <a:rPr lang="zh-CN" altLang="en-US" dirty="0">
                <a:sym typeface="+mn-ea"/>
              </a:rPr>
              <a:t>：</a:t>
            </a:r>
            <a:r>
              <a:rPr lang="zh-CN" altLang="en-US" dirty="0">
                <a:cs typeface="楷体" panose="02010609060101010101" charset="-122"/>
                <a:sym typeface="+mn-ea"/>
              </a:rPr>
              <a:t>采用统一的数据结构，建立一个全局统一的数据模式，根据每个应用的数据需要构作局部模式</a:t>
            </a:r>
            <a:r>
              <a:rPr lang="zh-CN" altLang="en-US" dirty="0"/>
              <a:t>）</a:t>
            </a:r>
          </a:p>
          <a:p>
            <a:pPr lvl="1"/>
            <a:r>
              <a:rPr lang="zh-CN" altLang="en-US" dirty="0"/>
              <a:t>不仅数据内部结构化，整体是结构化的，数据之间具有联系</a:t>
            </a:r>
          </a:p>
          <a:p>
            <a:pPr lvl="1"/>
            <a:r>
              <a:rPr lang="zh-CN" altLang="en-US" dirty="0"/>
              <a:t>数据记录可以变长</a:t>
            </a:r>
          </a:p>
          <a:p>
            <a:pPr lvl="1"/>
            <a:r>
              <a:rPr lang="zh-CN" altLang="en-US" dirty="0"/>
              <a:t>数据的最小存取单位是数据项</a:t>
            </a:r>
          </a:p>
          <a:p>
            <a:pPr>
              <a:lnSpc>
                <a:spcPct val="110000"/>
              </a:lnSpc>
              <a:spcBef>
                <a:spcPts val="2000"/>
              </a:spcBef>
            </a:pPr>
            <a:r>
              <a:rPr lang="zh-CN" altLang="en-US" dirty="0"/>
              <a:t>数据的组织结构、联系方式、存取方法用</a:t>
            </a:r>
            <a:r>
              <a:rPr lang="en-US" altLang="zh-CN" dirty="0"/>
              <a:t>‘</a:t>
            </a:r>
            <a:r>
              <a:rPr lang="zh-CN" altLang="en-US" dirty="0">
                <a:solidFill>
                  <a:srgbClr val="FF0000"/>
                </a:solidFill>
              </a:rPr>
              <a:t>数据模型</a:t>
            </a:r>
            <a:r>
              <a:rPr lang="en-US" altLang="zh-CN" dirty="0"/>
              <a:t>’</a:t>
            </a:r>
            <a:r>
              <a:rPr lang="zh-CN" altLang="en-US" dirty="0"/>
              <a:t>描述，无需应用程序定义</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57</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fontScale="90000"/>
          </a:bodyPr>
          <a:lstStyle/>
          <a:p>
            <a:r>
              <a:rPr lang="zh-CN" altLang="en-US" sz="3110" dirty="0"/>
              <a:t>数据库的特点（</a:t>
            </a:r>
            <a:r>
              <a:rPr lang="en-US" altLang="zh-CN" sz="3110" dirty="0"/>
              <a:t>2</a:t>
            </a:r>
            <a:r>
              <a:rPr lang="zh-CN" altLang="en-US" sz="3110" dirty="0"/>
              <a:t>）</a:t>
            </a:r>
            <a:r>
              <a:rPr lang="en-US" altLang="zh-CN" sz="3110" dirty="0"/>
              <a:t>-  </a:t>
            </a:r>
            <a:r>
              <a:rPr lang="zh-CN" altLang="en-US" sz="3110" dirty="0"/>
              <a:t>数据的共享性高，冗余度低且易扩充</a:t>
            </a:r>
          </a:p>
        </p:txBody>
      </p:sp>
      <p:sp>
        <p:nvSpPr>
          <p:cNvPr id="48131" name="Rectangle 3"/>
          <p:cNvSpPr>
            <a:spLocks noGrp="1" noChangeArrowheads="1"/>
          </p:cNvSpPr>
          <p:nvPr>
            <p:ph idx="1"/>
          </p:nvPr>
        </p:nvSpPr>
        <p:spPr/>
        <p:txBody>
          <a:bodyPr/>
          <a:lstStyle/>
          <a:p>
            <a:pPr>
              <a:lnSpc>
                <a:spcPct val="100000"/>
              </a:lnSpc>
              <a:spcBef>
                <a:spcPct val="0"/>
              </a:spcBef>
            </a:pPr>
            <a:r>
              <a:rPr lang="zh-CN" altLang="en-US" dirty="0"/>
              <a:t>数据面向整个系统，可以被多个用户、多个应用共享使用。</a:t>
            </a:r>
          </a:p>
          <a:p>
            <a:pPr lvl="1" eaLnBrk="1" hangingPunct="1">
              <a:lnSpc>
                <a:spcPct val="100000"/>
              </a:lnSpc>
              <a:spcBef>
                <a:spcPct val="0"/>
              </a:spcBef>
            </a:pPr>
            <a:r>
              <a:rPr lang="zh-CN" altLang="en-US" dirty="0">
                <a:solidFill>
                  <a:srgbClr val="FF0000"/>
                </a:solidFill>
                <a:cs typeface="楷体" panose="02010609060101010101" charset="-122"/>
                <a:sym typeface="+mn-ea"/>
              </a:rPr>
              <a:t>数据共享</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可供多个应用程序使用，并可用于不同的目的 </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可以在已有的数据库系统上开发新的应用程序 </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可向外界提供信息服务功能 </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ct val="0"/>
              </a:spcBef>
            </a:pPr>
            <a:r>
              <a:rPr lang="zh-CN" altLang="en-US" dirty="0">
                <a:solidFill>
                  <a:srgbClr val="FF0000"/>
                </a:solidFill>
                <a:cs typeface="楷体" panose="02010609060101010101" charset="-122"/>
                <a:sym typeface="+mn-ea"/>
              </a:rPr>
              <a:t>数据冗余</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同一个数据在系统中的不同地方出现了重复存储</a:t>
            </a:r>
          </a:p>
          <a:p>
            <a:pPr lvl="1" eaLnBrk="1" hangingPunct="1">
              <a:lnSpc>
                <a:spcPct val="100000"/>
              </a:lnSpc>
              <a:spcBef>
                <a:spcPct val="0"/>
              </a:spcBef>
            </a:pPr>
            <a:r>
              <a:rPr lang="zh-CN" altLang="en-US" dirty="0">
                <a:solidFill>
                  <a:srgbClr val="FF0000"/>
                </a:solidFill>
                <a:cs typeface="楷体" panose="02010609060101010101" charset="-122"/>
                <a:sym typeface="+mn-ea"/>
              </a:rPr>
              <a:t>数据一致性</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在系统中，同一数据的不同出现应保持相同的值</a:t>
            </a:r>
            <a:endParaRPr lang="zh-CN" altLang="en-US" dirty="0"/>
          </a:p>
          <a:p>
            <a:pPr>
              <a:lnSpc>
                <a:spcPct val="100000"/>
              </a:lnSpc>
              <a:spcBef>
                <a:spcPts val="2000"/>
              </a:spcBef>
            </a:pPr>
            <a:r>
              <a:rPr lang="zh-CN" altLang="en-US" dirty="0"/>
              <a:t>数据共享的好处</a:t>
            </a:r>
          </a:p>
          <a:p>
            <a:pPr lvl="1">
              <a:lnSpc>
                <a:spcPct val="100000"/>
              </a:lnSpc>
              <a:spcBef>
                <a:spcPct val="0"/>
              </a:spcBef>
            </a:pPr>
            <a:r>
              <a:rPr lang="zh-CN" altLang="en-US" dirty="0"/>
              <a:t>减少数据冗余，节约存储空间</a:t>
            </a:r>
          </a:p>
          <a:p>
            <a:pPr lvl="1">
              <a:lnSpc>
                <a:spcPct val="100000"/>
              </a:lnSpc>
              <a:spcBef>
                <a:spcPct val="0"/>
              </a:spcBef>
            </a:pPr>
            <a:r>
              <a:rPr lang="zh-CN" altLang="en-US" dirty="0"/>
              <a:t>避免数据之间的不相容性与不一致性 </a:t>
            </a:r>
          </a:p>
          <a:p>
            <a:pPr lvl="1">
              <a:lnSpc>
                <a:spcPct val="100000"/>
              </a:lnSpc>
              <a:spcBef>
                <a:spcPct val="0"/>
              </a:spcBef>
            </a:pPr>
            <a:r>
              <a:rPr lang="zh-CN" altLang="en-US" dirty="0"/>
              <a:t>使系统易于扩充</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58</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1">
                                            <p:txEl>
                                              <p:pRg st="9" end="9"/>
                                            </p:txEl>
                                          </p:spTgt>
                                        </p:tgtEl>
                                        <p:attrNameLst>
                                          <p:attrName>style.visibility</p:attrName>
                                        </p:attrNameLst>
                                      </p:cBhvr>
                                      <p:to>
                                        <p:strVal val="visible"/>
                                      </p:to>
                                    </p:set>
                                    <p:anim calcmode="lin" valueType="num">
                                      <p:cBhvr additive="base">
                                        <p:cTn id="7" dur="500" fill="hold"/>
                                        <p:tgtEl>
                                          <p:spTgt spid="48131">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131">
                                            <p:txEl>
                                              <p:pRg st="10" end="10"/>
                                            </p:txEl>
                                          </p:spTgt>
                                        </p:tgtEl>
                                        <p:attrNameLst>
                                          <p:attrName>style.visibility</p:attrName>
                                        </p:attrNameLst>
                                      </p:cBhvr>
                                      <p:to>
                                        <p:strVal val="visible"/>
                                      </p:to>
                                    </p:set>
                                    <p:anim calcmode="lin" valueType="num">
                                      <p:cBhvr additive="base">
                                        <p:cTn id="11" dur="500" fill="hold"/>
                                        <p:tgtEl>
                                          <p:spTgt spid="48131">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131">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131">
                                            <p:txEl>
                                              <p:pRg st="11" end="11"/>
                                            </p:txEl>
                                          </p:spTgt>
                                        </p:tgtEl>
                                        <p:attrNameLst>
                                          <p:attrName>style.visibility</p:attrName>
                                        </p:attrNameLst>
                                      </p:cBhvr>
                                      <p:to>
                                        <p:strVal val="visible"/>
                                      </p:to>
                                    </p:set>
                                    <p:anim calcmode="lin" valueType="num">
                                      <p:cBhvr additive="base">
                                        <p:cTn id="15" dur="500" fill="hold"/>
                                        <p:tgtEl>
                                          <p:spTgt spid="48131">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8131">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8131">
                                            <p:txEl>
                                              <p:pRg st="12" end="12"/>
                                            </p:txEl>
                                          </p:spTgt>
                                        </p:tgtEl>
                                        <p:attrNameLst>
                                          <p:attrName>style.visibility</p:attrName>
                                        </p:attrNameLst>
                                      </p:cBhvr>
                                      <p:to>
                                        <p:strVal val="visible"/>
                                      </p:to>
                                    </p:set>
                                    <p:anim calcmode="lin" valueType="num">
                                      <p:cBhvr additive="base">
                                        <p:cTn id="19" dur="500" fill="hold"/>
                                        <p:tgtEl>
                                          <p:spTgt spid="48131">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dirty="0"/>
              <a:t>数据库的特点（</a:t>
            </a:r>
            <a:r>
              <a:rPr lang="en-US" altLang="zh-CN" dirty="0"/>
              <a:t>3</a:t>
            </a:r>
            <a:r>
              <a:rPr lang="zh-CN" altLang="en-US" dirty="0"/>
              <a:t>）</a:t>
            </a:r>
            <a:r>
              <a:rPr lang="en-US" altLang="zh-CN" dirty="0"/>
              <a:t>-  </a:t>
            </a:r>
            <a:r>
              <a:rPr lang="zh-CN" altLang="en-US" dirty="0"/>
              <a:t>数据独立性高</a:t>
            </a:r>
          </a:p>
        </p:txBody>
      </p:sp>
      <p:sp>
        <p:nvSpPr>
          <p:cNvPr id="49155"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数据独立性</a:t>
            </a:r>
            <a:r>
              <a:rPr lang="zh-CN" altLang="en-US" dirty="0">
                <a:solidFill>
                  <a:srgbClr val="1F2DA8"/>
                </a:solidFill>
              </a:rPr>
              <a:t>是</a:t>
            </a:r>
            <a:r>
              <a:rPr lang="zh-CN" altLang="en-US" dirty="0">
                <a:sym typeface="+mn-ea"/>
              </a:rPr>
              <a:t>指数据库中的数据与使用这些数据的应用程序之间的互不依赖性，即数据或数据结构的改变不会导致对使用这些数据的应用程序的修改，反之亦然。</a:t>
            </a:r>
            <a:endParaRPr lang="zh-CN" altLang="en-US" dirty="0">
              <a:solidFill>
                <a:srgbClr val="FF0000"/>
              </a:solidFill>
            </a:endParaRPr>
          </a:p>
          <a:p>
            <a:pPr>
              <a:lnSpc>
                <a:spcPct val="100000"/>
              </a:lnSpc>
            </a:pPr>
            <a:r>
              <a:rPr lang="zh-CN" altLang="en-US" dirty="0">
                <a:solidFill>
                  <a:srgbClr val="1F2DA8"/>
                </a:solidFill>
              </a:rPr>
              <a:t>数据独立性包括</a:t>
            </a:r>
          </a:p>
          <a:p>
            <a:pPr lvl="1">
              <a:lnSpc>
                <a:spcPct val="100000"/>
              </a:lnSpc>
              <a:spcBef>
                <a:spcPct val="0"/>
              </a:spcBef>
            </a:pPr>
            <a:r>
              <a:rPr lang="zh-CN" altLang="en-US" dirty="0">
                <a:solidFill>
                  <a:srgbClr val="FF0000"/>
                </a:solidFill>
              </a:rPr>
              <a:t>物理独立性</a:t>
            </a:r>
            <a:endParaRPr lang="zh-CN" altLang="en-US" dirty="0"/>
          </a:p>
          <a:p>
            <a:pPr lvl="2">
              <a:lnSpc>
                <a:spcPct val="100000"/>
              </a:lnSpc>
              <a:spcBef>
                <a:spcPct val="0"/>
              </a:spcBef>
            </a:pPr>
            <a:r>
              <a:rPr lang="zh-CN" altLang="en-US" dirty="0"/>
              <a:t>指用户的应用程序与数据库中数据的物理存储是相互独立的。</a:t>
            </a:r>
          </a:p>
          <a:p>
            <a:pPr lvl="2">
              <a:lnSpc>
                <a:spcPct val="100000"/>
              </a:lnSpc>
              <a:spcBef>
                <a:spcPct val="0"/>
              </a:spcBef>
            </a:pPr>
            <a:r>
              <a:rPr lang="zh-CN" altLang="en-US" dirty="0"/>
              <a:t>当数据的物理存储改变了，应用程序不用改变。</a:t>
            </a:r>
          </a:p>
          <a:p>
            <a:pPr lvl="1">
              <a:lnSpc>
                <a:spcPct val="100000"/>
              </a:lnSpc>
              <a:spcBef>
                <a:spcPct val="0"/>
              </a:spcBef>
            </a:pPr>
            <a:r>
              <a:rPr lang="zh-CN" altLang="en-US" dirty="0">
                <a:solidFill>
                  <a:srgbClr val="FF0000"/>
                </a:solidFill>
              </a:rPr>
              <a:t>逻辑独立性</a:t>
            </a:r>
            <a:endParaRPr lang="zh-CN" altLang="en-US" dirty="0"/>
          </a:p>
          <a:p>
            <a:pPr lvl="2">
              <a:lnSpc>
                <a:spcPct val="100000"/>
              </a:lnSpc>
              <a:spcBef>
                <a:spcPct val="0"/>
              </a:spcBef>
            </a:pPr>
            <a:r>
              <a:rPr lang="zh-CN" altLang="en-US" dirty="0"/>
              <a:t>指用户的应用程序与数据库的逻辑结构是相互独立的。</a:t>
            </a:r>
          </a:p>
          <a:p>
            <a:pPr lvl="2">
              <a:lnSpc>
                <a:spcPct val="100000"/>
              </a:lnSpc>
              <a:spcBef>
                <a:spcPct val="0"/>
              </a:spcBef>
            </a:pPr>
            <a:r>
              <a:rPr lang="zh-CN" altLang="en-US" dirty="0"/>
              <a:t>数据的逻辑结构改变了，应用程序不用改变。 </a:t>
            </a:r>
          </a:p>
          <a:p>
            <a:pPr lvl="1">
              <a:lnSpc>
                <a:spcPct val="100000"/>
              </a:lnSpc>
              <a:spcBef>
                <a:spcPct val="0"/>
              </a:spcBef>
            </a:pPr>
            <a:endParaRPr lang="zh-CN" altLang="en-US" dirty="0">
              <a:solidFill>
                <a:srgbClr val="FF0000"/>
              </a:solidFill>
            </a:endParaRPr>
          </a:p>
          <a:p>
            <a:pPr>
              <a:lnSpc>
                <a:spcPct val="100000"/>
              </a:lnSpc>
            </a:pPr>
            <a:r>
              <a:rPr lang="zh-CN" altLang="en-US" dirty="0"/>
              <a:t>在数据库管理系统中，数据独立性是由</a:t>
            </a:r>
            <a:r>
              <a:rPr lang="zh-CN" altLang="en-US" dirty="0">
                <a:solidFill>
                  <a:srgbClr val="FF0000"/>
                </a:solidFill>
              </a:rPr>
              <a:t>三级模式</a:t>
            </a:r>
            <a:r>
              <a:rPr lang="zh-CN" altLang="en-US" dirty="0"/>
              <a:t>及它们之间的</a:t>
            </a:r>
            <a:r>
              <a:rPr lang="zh-CN" altLang="en-US" dirty="0">
                <a:solidFill>
                  <a:srgbClr val="FF0000"/>
                </a:solidFill>
              </a:rPr>
              <a:t>二级映像</a:t>
            </a:r>
            <a:r>
              <a:rPr lang="zh-CN" altLang="en-US" dirty="0"/>
              <a:t>功能来保证。</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59</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blinds(horizontal)">
                                      <p:cBhvr>
                                        <p:cTn id="7" dur="500"/>
                                        <p:tgtEl>
                                          <p:spTgt spid="491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0" dur="500"/>
                                        <p:tgtEl>
                                          <p:spTgt spid="4915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13" dur="500"/>
                                        <p:tgtEl>
                                          <p:spTgt spid="4915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16" dur="500"/>
                                        <p:tgtEl>
                                          <p:spTgt spid="4915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9155">
                                            <p:txEl>
                                              <p:pRg st="5" end="5"/>
                                            </p:txEl>
                                          </p:spTgt>
                                        </p:tgtEl>
                                        <p:attrNameLst>
                                          <p:attrName>style.visibility</p:attrName>
                                        </p:attrNameLst>
                                      </p:cBhvr>
                                      <p:to>
                                        <p:strVal val="visible"/>
                                      </p:to>
                                    </p:set>
                                    <p:animEffect transition="in" filter="blinds(horizontal)">
                                      <p:cBhvr>
                                        <p:cTn id="19" dur="500"/>
                                        <p:tgtEl>
                                          <p:spTgt spid="4915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22" dur="500"/>
                                        <p:tgtEl>
                                          <p:spTgt spid="49155">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9155">
                                            <p:txEl>
                                              <p:pRg st="7" end="7"/>
                                            </p:txEl>
                                          </p:spTgt>
                                        </p:tgtEl>
                                        <p:attrNameLst>
                                          <p:attrName>style.visibility</p:attrName>
                                        </p:attrNameLst>
                                      </p:cBhvr>
                                      <p:to>
                                        <p:strVal val="visible"/>
                                      </p:to>
                                    </p:set>
                                    <p:animEffect transition="in" filter="blinds(horizontal)">
                                      <p:cBhvr>
                                        <p:cTn id="25" dur="500"/>
                                        <p:tgtEl>
                                          <p:spTgt spid="49155">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9155">
                                            <p:txEl>
                                              <p:pRg st="9" end="9"/>
                                            </p:txEl>
                                          </p:spTgt>
                                        </p:tgtEl>
                                        <p:attrNameLst>
                                          <p:attrName>style.visibility</p:attrName>
                                        </p:attrNameLst>
                                      </p:cBhvr>
                                      <p:to>
                                        <p:strVal val="visible"/>
                                      </p:to>
                                    </p:set>
                                    <p:anim calcmode="lin" valueType="num">
                                      <p:cBhvr additive="base">
                                        <p:cTn id="30" dur="500" fill="hold"/>
                                        <p:tgtEl>
                                          <p:spTgt spid="49155">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91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zh-CN" altLang="en-US" sz="3110" dirty="0"/>
              <a:t>数据库的特点（</a:t>
            </a:r>
            <a:r>
              <a:rPr lang="en-US" altLang="zh-CN" sz="3110" dirty="0"/>
              <a:t>4</a:t>
            </a:r>
            <a:r>
              <a:rPr lang="zh-CN" altLang="en-US" sz="3110" dirty="0"/>
              <a:t>）</a:t>
            </a:r>
            <a:r>
              <a:rPr lang="en-US" altLang="zh-CN" sz="3110" dirty="0"/>
              <a:t>-  </a:t>
            </a:r>
            <a:r>
              <a:rPr lang="zh-CN" altLang="en-US" sz="3110" dirty="0"/>
              <a:t>数据由数据库管理系统统一管理和控制</a:t>
            </a:r>
          </a:p>
        </p:txBody>
      </p:sp>
      <p:sp>
        <p:nvSpPr>
          <p:cNvPr id="50179" name="Rectangle 3"/>
          <p:cNvSpPr>
            <a:spLocks noGrp="1" noChangeArrowheads="1"/>
          </p:cNvSpPr>
          <p:nvPr>
            <p:ph idx="1"/>
          </p:nvPr>
        </p:nvSpPr>
        <p:spPr/>
        <p:txBody>
          <a:bodyPr>
            <a:normAutofit/>
          </a:bodyPr>
          <a:lstStyle/>
          <a:p>
            <a:r>
              <a:rPr lang="zh-CN" altLang="en-US" dirty="0"/>
              <a:t>数据库管理系统提供的数据控制功能包括</a:t>
            </a:r>
          </a:p>
          <a:p>
            <a:pPr lvl="1"/>
            <a:r>
              <a:rPr lang="zh-CN" altLang="en-US" dirty="0">
                <a:solidFill>
                  <a:srgbClr val="FF0000"/>
                </a:solidFill>
              </a:rPr>
              <a:t>数据的安全性（</a:t>
            </a:r>
            <a:r>
              <a:rPr lang="en-US" altLang="zh-CN" dirty="0">
                <a:solidFill>
                  <a:srgbClr val="FF0000"/>
                </a:solidFill>
              </a:rPr>
              <a:t>Security</a:t>
            </a:r>
            <a:r>
              <a:rPr lang="zh-CN" altLang="en-US" dirty="0">
                <a:solidFill>
                  <a:srgbClr val="FF0000"/>
                </a:solidFill>
              </a:rPr>
              <a:t>）保护</a:t>
            </a:r>
            <a:endParaRPr lang="zh-CN" altLang="en-US" dirty="0"/>
          </a:p>
          <a:p>
            <a:pPr lvl="2"/>
            <a:r>
              <a:rPr lang="zh-CN" altLang="en-US" dirty="0"/>
              <a:t>保护数据以防止不合法的使用造成的数据的泄密和破坏。</a:t>
            </a:r>
          </a:p>
          <a:p>
            <a:pPr lvl="1">
              <a:lnSpc>
                <a:spcPct val="110000"/>
              </a:lnSpc>
              <a:spcBef>
                <a:spcPts val="1000"/>
              </a:spcBef>
            </a:pPr>
            <a:r>
              <a:rPr lang="zh-CN" altLang="en-US" dirty="0">
                <a:solidFill>
                  <a:srgbClr val="FF0000"/>
                </a:solidFill>
              </a:rPr>
              <a:t>数据的完整性（</a:t>
            </a:r>
            <a:r>
              <a:rPr lang="en-US" altLang="zh-CN" dirty="0">
                <a:solidFill>
                  <a:srgbClr val="FF0000"/>
                </a:solidFill>
              </a:rPr>
              <a:t>Integrity</a:t>
            </a:r>
            <a:r>
              <a:rPr lang="zh-CN" altLang="en-US" dirty="0">
                <a:solidFill>
                  <a:srgbClr val="FF0000"/>
                </a:solidFill>
              </a:rPr>
              <a:t>）检查</a:t>
            </a:r>
            <a:endParaRPr lang="zh-CN" altLang="en-US" dirty="0"/>
          </a:p>
          <a:p>
            <a:pPr lvl="2"/>
            <a:r>
              <a:rPr lang="zh-CN" altLang="en-US" dirty="0"/>
              <a:t>保证数据的正确性、有效性和相容性。</a:t>
            </a:r>
          </a:p>
          <a:p>
            <a:pPr lvl="1">
              <a:lnSpc>
                <a:spcPct val="110000"/>
              </a:lnSpc>
              <a:spcBef>
                <a:spcPts val="1000"/>
              </a:spcBef>
            </a:pPr>
            <a:r>
              <a:rPr lang="zh-CN" altLang="en-US" dirty="0">
                <a:solidFill>
                  <a:srgbClr val="FF0000"/>
                </a:solidFill>
              </a:rPr>
              <a:t>并发（</a:t>
            </a:r>
            <a:r>
              <a:rPr lang="en-US" altLang="zh-CN" dirty="0">
                <a:solidFill>
                  <a:srgbClr val="FF0000"/>
                </a:solidFill>
              </a:rPr>
              <a:t>Concurrency</a:t>
            </a:r>
            <a:r>
              <a:rPr lang="zh-CN" altLang="en-US" dirty="0">
                <a:solidFill>
                  <a:srgbClr val="FF0000"/>
                </a:solidFill>
              </a:rPr>
              <a:t>）控制</a:t>
            </a:r>
            <a:endParaRPr lang="zh-CN" altLang="en-US" dirty="0"/>
          </a:p>
          <a:p>
            <a:pPr lvl="2"/>
            <a:r>
              <a:rPr lang="zh-CN" altLang="en-US" dirty="0"/>
              <a:t>对多用户的并发操作加以控制和协调，防止相互干扰而得到错误的结果。</a:t>
            </a:r>
          </a:p>
          <a:p>
            <a:pPr lvl="1">
              <a:lnSpc>
                <a:spcPct val="110000"/>
              </a:lnSpc>
              <a:spcBef>
                <a:spcPts val="1000"/>
              </a:spcBef>
            </a:pPr>
            <a:r>
              <a:rPr lang="zh-CN" altLang="en-US" dirty="0">
                <a:solidFill>
                  <a:srgbClr val="FF0000"/>
                </a:solidFill>
              </a:rPr>
              <a:t>数据库恢复（</a:t>
            </a:r>
            <a:r>
              <a:rPr lang="en-US" altLang="zh-CN" dirty="0">
                <a:solidFill>
                  <a:srgbClr val="FF0000"/>
                </a:solidFill>
              </a:rPr>
              <a:t>Recovery</a:t>
            </a:r>
            <a:r>
              <a:rPr lang="zh-CN" altLang="en-US" dirty="0">
                <a:solidFill>
                  <a:srgbClr val="FF0000"/>
                </a:solidFill>
              </a:rPr>
              <a:t>）</a:t>
            </a:r>
            <a:endParaRPr lang="zh-CN" altLang="en-US" dirty="0"/>
          </a:p>
          <a:p>
            <a:pPr lvl="2"/>
            <a:r>
              <a:rPr lang="zh-CN" altLang="en-US" dirty="0"/>
              <a:t>将数据库从错误状态恢复到某一已知的正确状态。</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60</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1.1.3  </a:t>
            </a:r>
            <a:r>
              <a:rPr lang="zh-CN" altLang="en-US">
                <a:sym typeface="+mn-ea"/>
              </a:rPr>
              <a:t>数据库系统的特点</a:t>
            </a:r>
            <a:endParaRPr lang="zh-CN" altLang="en-US"/>
          </a:p>
        </p:txBody>
      </p:sp>
      <p:sp>
        <p:nvSpPr>
          <p:cNvPr id="3" name="内容占位符 2"/>
          <p:cNvSpPr>
            <a:spLocks noGrp="1"/>
          </p:cNvSpPr>
          <p:nvPr>
            <p:ph idx="4294967295"/>
          </p:nvPr>
        </p:nvSpPr>
        <p:spPr>
          <a:xfrm>
            <a:off x="416560" y="1402715"/>
            <a:ext cx="4833620" cy="3061335"/>
          </a:xfrm>
        </p:spPr>
        <p:txBody>
          <a:bodyPr wrap="none">
            <a:noAutofit/>
          </a:bodyPr>
          <a:lstStyle/>
          <a:p>
            <a:pPr algn="l" eaLnBrk="1" hangingPunct="1">
              <a:lnSpc>
                <a:spcPct val="150000"/>
              </a:lnSpc>
            </a:pPr>
            <a:r>
              <a:rPr lang="zh-CN" altLang="en-US" sz="2800">
                <a:sym typeface="+mn-ea"/>
              </a:rPr>
              <a:t>数据结构化</a:t>
            </a:r>
            <a:endParaRPr lang="zh-CN" altLang="en-US" sz="2800"/>
          </a:p>
          <a:p>
            <a:pPr algn="l" eaLnBrk="1" hangingPunct="1">
              <a:lnSpc>
                <a:spcPct val="150000"/>
              </a:lnSpc>
            </a:pPr>
            <a:r>
              <a:rPr lang="zh-CN" altLang="en-US" sz="2800">
                <a:sym typeface="+mn-ea"/>
              </a:rPr>
              <a:t>高共享性、低冗余、易扩充</a:t>
            </a:r>
            <a:endParaRPr lang="zh-CN" altLang="en-US" sz="2800"/>
          </a:p>
          <a:p>
            <a:pPr algn="l" eaLnBrk="1" hangingPunct="1">
              <a:lnSpc>
                <a:spcPct val="150000"/>
              </a:lnSpc>
            </a:pPr>
            <a:r>
              <a:rPr lang="zh-CN" altLang="en-US" sz="2800">
                <a:sym typeface="+mn-ea"/>
              </a:rPr>
              <a:t>数据独立性高</a:t>
            </a:r>
            <a:endParaRPr lang="zh-CN" altLang="en-US" sz="2800"/>
          </a:p>
          <a:p>
            <a:pPr algn="l" eaLnBrk="1" hangingPunct="1">
              <a:lnSpc>
                <a:spcPct val="150000"/>
              </a:lnSpc>
            </a:pPr>
            <a:r>
              <a:rPr lang="zh-CN" altLang="en-US" sz="2800">
                <a:sym typeface="+mn-ea"/>
              </a:rPr>
              <a:t>统一管理与控制</a:t>
            </a:r>
            <a:endParaRPr lang="en-US" altLang="zh-CN" sz="2800"/>
          </a:p>
        </p:txBody>
      </p:sp>
      <p:grpSp>
        <p:nvGrpSpPr>
          <p:cNvPr id="5" name="组合 4"/>
          <p:cNvGrpSpPr/>
          <p:nvPr/>
        </p:nvGrpSpPr>
        <p:grpSpPr>
          <a:xfrm>
            <a:off x="5229225" y="1551940"/>
            <a:ext cx="3844385" cy="2744470"/>
            <a:chOff x="7508" y="2411"/>
            <a:chExt cx="6515" cy="5763"/>
          </a:xfrm>
        </p:grpSpPr>
        <p:sp>
          <p:nvSpPr>
            <p:cNvPr id="6" name="右大括号 5"/>
            <p:cNvSpPr/>
            <p:nvPr/>
          </p:nvSpPr>
          <p:spPr>
            <a:xfrm>
              <a:off x="7508" y="2411"/>
              <a:ext cx="266" cy="5763"/>
            </a:xfrm>
            <a:prstGeom prst="rightBrace">
              <a:avLst>
                <a:gd name="adj1" fmla="val 110444"/>
                <a:gd name="adj2" fmla="val 47424"/>
              </a:avLst>
            </a:prstGeom>
            <a:ln w="25400">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b="1">
                <a:latin typeface="楷体" panose="02010609060101010101" charset="-122"/>
                <a:ea typeface="楷体" panose="02010609060101010101" charset="-122"/>
              </a:endParaRPr>
            </a:p>
          </p:txBody>
        </p:sp>
        <p:sp>
          <p:nvSpPr>
            <p:cNvPr id="7" name="文本框 6"/>
            <p:cNvSpPr txBox="1"/>
            <p:nvPr/>
          </p:nvSpPr>
          <p:spPr>
            <a:xfrm>
              <a:off x="7777" y="3812"/>
              <a:ext cx="6246" cy="3811"/>
            </a:xfrm>
            <a:prstGeom prst="rect">
              <a:avLst/>
            </a:prstGeom>
            <a:noFill/>
          </p:spPr>
          <p:txBody>
            <a:bodyPr wrap="square" rtlCol="0">
              <a:spAutoFit/>
            </a:bodyPr>
            <a:lstStyle/>
            <a:p>
              <a:pPr marL="200660" indent="-200660" algn="l">
                <a:lnSpc>
                  <a:spcPct val="100000"/>
                </a:lnSpc>
                <a:spcBef>
                  <a:spcPts val="0"/>
                </a:spcBef>
                <a:spcAft>
                  <a:spcPts val="0"/>
                </a:spcAft>
                <a:buFont typeface="Arial" panose="020B0604020202020204" pitchFamily="34" charset="0"/>
                <a:buChar char="•"/>
              </a:pPr>
              <a:r>
                <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rPr>
                <a:t>统一的数据模型</a:t>
              </a:r>
            </a:p>
            <a:p>
              <a:pPr marL="200660" indent="-200660" algn="l">
                <a:lnSpc>
                  <a:spcPct val="100000"/>
                </a:lnSpc>
                <a:spcBef>
                  <a:spcPts val="0"/>
                </a:spcBef>
                <a:spcAft>
                  <a:spcPts val="0"/>
                </a:spcAft>
                <a:buFont typeface="Arial" panose="020B0604020202020204" pitchFamily="34" charset="0"/>
                <a:buChar char="•"/>
              </a:pPr>
              <a:endPar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endParaRPr>
            </a:p>
            <a:p>
              <a:pPr marL="200660" indent="-200660" algn="l">
                <a:lnSpc>
                  <a:spcPct val="100000"/>
                </a:lnSpc>
                <a:spcBef>
                  <a:spcPts val="0"/>
                </a:spcBef>
                <a:spcAft>
                  <a:spcPts val="0"/>
                </a:spcAft>
                <a:buFont typeface="Arial" panose="020B0604020202020204" pitchFamily="34" charset="0"/>
                <a:buChar char="•"/>
              </a:pPr>
              <a:r>
                <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rPr>
                <a:t>标准化数据访问接口</a:t>
              </a:r>
              <a:r>
                <a:rPr lang="en-US" altLang="zh-CN" sz="2800" b="1">
                  <a:solidFill>
                    <a:schemeClr val="accent1">
                      <a:lumMod val="50000"/>
                    </a:schemeClr>
                  </a:solidFill>
                  <a:latin typeface="楷体" panose="02010609060101010101" charset="-122"/>
                  <a:ea typeface="楷体" panose="02010609060101010101" charset="-122"/>
                  <a:cs typeface="楷体" panose="02010609060101010101" charset="-122"/>
                </a:rPr>
                <a:t>(SQL, ODBC, ...)</a:t>
              </a:r>
            </a:p>
          </p:txBody>
        </p:sp>
      </p:grpSp>
      <p:grpSp>
        <p:nvGrpSpPr>
          <p:cNvPr id="9" name="组合 8"/>
          <p:cNvGrpSpPr/>
          <p:nvPr/>
        </p:nvGrpSpPr>
        <p:grpSpPr>
          <a:xfrm>
            <a:off x="8916670" y="1552099"/>
            <a:ext cx="2798445" cy="2744629"/>
            <a:chOff x="7811" y="2411"/>
            <a:chExt cx="5876" cy="5763"/>
          </a:xfrm>
        </p:grpSpPr>
        <p:sp>
          <p:nvSpPr>
            <p:cNvPr id="10" name="右大括号 9"/>
            <p:cNvSpPr/>
            <p:nvPr/>
          </p:nvSpPr>
          <p:spPr>
            <a:xfrm>
              <a:off x="7811" y="2411"/>
              <a:ext cx="266" cy="5763"/>
            </a:xfrm>
            <a:prstGeom prst="rightBrace">
              <a:avLst>
                <a:gd name="adj1" fmla="val 146616"/>
                <a:gd name="adj2" fmla="val 47424"/>
              </a:avLst>
            </a:prstGeom>
            <a:ln w="25400">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b="1">
                <a:latin typeface="楷体" panose="02010609060101010101" charset="-122"/>
                <a:ea typeface="楷体" panose="02010609060101010101" charset="-122"/>
              </a:endParaRPr>
            </a:p>
          </p:txBody>
        </p:sp>
        <p:sp>
          <p:nvSpPr>
            <p:cNvPr id="11" name="文本框 10"/>
            <p:cNvSpPr txBox="1"/>
            <p:nvPr/>
          </p:nvSpPr>
          <p:spPr>
            <a:xfrm>
              <a:off x="8022" y="3154"/>
              <a:ext cx="5665" cy="3811"/>
            </a:xfrm>
            <a:prstGeom prst="rect">
              <a:avLst/>
            </a:prstGeom>
            <a:noFill/>
          </p:spPr>
          <p:txBody>
            <a:bodyPr wrap="square" rtlCol="0">
              <a:spAutoFit/>
            </a:bodyPr>
            <a:lstStyle/>
            <a:p>
              <a:pPr indent="0" algn="ctr">
                <a:lnSpc>
                  <a:spcPct val="200000"/>
                </a:lnSpc>
                <a:buNone/>
              </a:pPr>
              <a:r>
                <a:rPr lang="zh-CN" altLang="en-US" sz="2800" b="1">
                  <a:solidFill>
                    <a:srgbClr val="FF0000"/>
                  </a:solidFill>
                  <a:latin typeface="楷体" panose="02010609060101010101" charset="-122"/>
                  <a:ea typeface="楷体" panose="02010609060101010101" charset="-122"/>
                  <a:cs typeface="楷体" panose="02010609060101010101" charset="-122"/>
                </a:rPr>
                <a:t>数据库管理系统</a:t>
              </a:r>
            </a:p>
            <a:p>
              <a:pPr indent="0" algn="ctr">
                <a:lnSpc>
                  <a:spcPct val="200000"/>
                </a:lnSpc>
                <a:buNone/>
              </a:pPr>
              <a:r>
                <a:rPr lang="en-US" altLang="zh-CN" sz="2800" b="1">
                  <a:solidFill>
                    <a:srgbClr val="FF0000"/>
                  </a:solidFill>
                  <a:latin typeface="楷体" panose="02010609060101010101" charset="-122"/>
                  <a:ea typeface="楷体" panose="02010609060101010101" charset="-122"/>
                  <a:cs typeface="楷体" panose="02010609060101010101" charset="-122"/>
                </a:rPr>
                <a:t>DBMS</a:t>
              </a:r>
              <a:endParaRPr lang="en-US" altLang="zh-CN" sz="2800" b="1">
                <a:solidFill>
                  <a:schemeClr val="accent5"/>
                </a:solidFill>
                <a:latin typeface="楷体" panose="02010609060101010101" charset="-122"/>
                <a:ea typeface="楷体" panose="02010609060101010101" charset="-122"/>
                <a:cs typeface="楷体" panose="02010609060101010101" charset="-122"/>
              </a:endParaRPr>
            </a:p>
          </p:txBody>
        </p:sp>
      </p:grpSp>
      <p:sp>
        <p:nvSpPr>
          <p:cNvPr id="12" name="灯片编号占位符 11"/>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61</a:t>
            </a:fld>
            <a:endParaRPr lang="zh-CN" altLang="en-US" strike="noStrike" noProof="1"/>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数据库概念小结</a:t>
            </a:r>
            <a:endParaRPr lang="zh-CN" altLang="en-US"/>
          </a:p>
        </p:txBody>
      </p:sp>
      <p:sp>
        <p:nvSpPr>
          <p:cNvPr id="3" name="内容占位符 2"/>
          <p:cNvSpPr>
            <a:spLocks noGrp="1"/>
          </p:cNvSpPr>
          <p:nvPr>
            <p:ph idx="1"/>
          </p:nvPr>
        </p:nvSpPr>
        <p:spPr/>
        <p:txBody>
          <a:bodyPr/>
          <a:lstStyle/>
          <a:p>
            <a:pPr>
              <a:lnSpc>
                <a:spcPct val="100000"/>
              </a:lnSpc>
            </a:pPr>
            <a:r>
              <a:rPr lang="zh-CN" altLang="en-US"/>
              <a:t>数据库是长期存储在计算机内、有组织的、大量的、共享的数据集合。</a:t>
            </a:r>
          </a:p>
          <a:p>
            <a:pPr>
              <a:lnSpc>
                <a:spcPct val="100000"/>
              </a:lnSpc>
            </a:pPr>
            <a:r>
              <a:rPr lang="zh-CN" altLang="en-US"/>
              <a:t>可以供各种用户共享，具有最小数据冗余度和较高的数据独立性。</a:t>
            </a:r>
          </a:p>
          <a:p>
            <a:pPr>
              <a:lnSpc>
                <a:spcPct val="100000"/>
              </a:lnSpc>
            </a:pPr>
            <a:r>
              <a:rPr lang="zh-CN" altLang="en-US"/>
              <a:t>数据库管理系统在数据库建立、运用和维护时对数据库进行统一控制，以保证数据的完整性、安全性，并在多用户同时使用数据库时进行并发控制，在发生故障后对数据库进行恢复。</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62</a:t>
            </a:fld>
            <a:endParaRPr lang="zh-CN" altLang="en-US"/>
          </a:p>
        </p:txBody>
      </p:sp>
      <p:pic>
        <p:nvPicPr>
          <p:cNvPr id="19" name="内容占位符 18"/>
          <p:cNvPicPr>
            <a:picLocks noChangeAspect="1"/>
          </p:cNvPicPr>
          <p:nvPr>
            <p:custDataLst>
              <p:tags r:id="rId1"/>
            </p:custDataLst>
          </p:nvPr>
        </p:nvPicPr>
        <p:blipFill>
          <a:blip r:embed="rId3"/>
          <a:stretch>
            <a:fillRect/>
          </a:stretch>
        </p:blipFill>
        <p:spPr>
          <a:xfrm>
            <a:off x="2639060" y="3244215"/>
            <a:ext cx="6396990" cy="3451225"/>
          </a:xfrm>
          <a:prstGeom prst="rect">
            <a:avLst/>
          </a:prstGeom>
        </p:spPr>
      </p:pic>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wrap="square" tIns="0" bIns="0" anchor="ctr"/>
          <a:lstStyle/>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p>
        </p:txBody>
      </p:sp>
      <p:sp>
        <p:nvSpPr>
          <p:cNvPr id="5124" name="Rectangle 3"/>
          <p:cNvSpPr>
            <a:spLocks noGrp="1"/>
          </p:cNvSpPr>
          <p:nvPr>
            <p:ph idx="1"/>
          </p:nvPr>
        </p:nvSpPr>
        <p:spPr/>
        <p:txBody>
          <a:bodyPr wrap="square" anchor="t"/>
          <a:lstStyle/>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2" action="ppaction://hlinksldjump"/>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63</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a:t>1.2  </a:t>
            </a:r>
            <a:r>
              <a:rPr lang="zh-CN" altLang="en-US"/>
              <a:t>数据模型</a:t>
            </a:r>
            <a:endParaRPr lang="zh-CN" altLang="en-US" dirty="0"/>
          </a:p>
        </p:txBody>
      </p:sp>
      <p:sp>
        <p:nvSpPr>
          <p:cNvPr id="54275" name="Rectangle 3"/>
          <p:cNvSpPr>
            <a:spLocks noGrp="1" noChangeArrowheads="1"/>
          </p:cNvSpPr>
          <p:nvPr>
            <p:ph idx="1"/>
          </p:nvPr>
        </p:nvSpPr>
        <p:spPr/>
        <p:txBody>
          <a:bodyPr>
            <a:normAutofit lnSpcReduction="10000"/>
          </a:bodyPr>
          <a:lstStyle/>
          <a:p>
            <a:pPr>
              <a:lnSpc>
                <a:spcPct val="150000"/>
              </a:lnSpc>
            </a:pPr>
            <a:r>
              <a:rPr lang="zh-CN" altLang="en-US" dirty="0"/>
              <a:t>数据模型是对现实世界数据特征的抽象，用以</a:t>
            </a:r>
            <a:r>
              <a:rPr lang="en-US" altLang="zh-CN" dirty="0"/>
              <a:t> </a:t>
            </a:r>
            <a:r>
              <a:rPr lang="zh-CN" altLang="en-US" b="1" u="sng" kern="0" dirty="0">
                <a:latin typeface="+mn-lt"/>
                <a:ea typeface="+mn-ea"/>
              </a:rPr>
              <a:t>抽象、表示和处理</a:t>
            </a:r>
            <a:r>
              <a:rPr lang="zh-CN" altLang="en-US" kern="0" dirty="0">
                <a:latin typeface="+mn-lt"/>
                <a:ea typeface="+mn-ea"/>
              </a:rPr>
              <a:t>现实世界中的数据和信息</a:t>
            </a:r>
            <a:r>
              <a:rPr lang="zh-CN" altLang="en-US" b="0" kern="0" dirty="0">
                <a:latin typeface="+mn-lt"/>
                <a:ea typeface="+mn-ea"/>
              </a:rPr>
              <a:t>（</a:t>
            </a:r>
            <a:r>
              <a:rPr lang="zh-CN" altLang="en-US" i="1" kern="0" dirty="0">
                <a:cs typeface="楷体" panose="02010609060101010101" charset="-122"/>
              </a:rPr>
              <a:t>描述数据、组织数据、操作</a:t>
            </a:r>
            <a:r>
              <a:rPr lang="en-US" altLang="zh-CN" i="1" kern="0" dirty="0">
                <a:cs typeface="楷体" panose="02010609060101010101" charset="-122"/>
              </a:rPr>
              <a:t>/</a:t>
            </a:r>
            <a:r>
              <a:rPr lang="zh-CN" altLang="en-US" i="1" kern="0" dirty="0">
                <a:cs typeface="楷体" panose="02010609060101010101" charset="-122"/>
              </a:rPr>
              <a:t>访问数据</a:t>
            </a:r>
            <a:r>
              <a:rPr lang="zh-CN" altLang="en-US" b="0" kern="0" dirty="0">
                <a:latin typeface="+mn-lt"/>
                <a:ea typeface="+mn-ea"/>
              </a:rPr>
              <a:t>）</a:t>
            </a:r>
          </a:p>
          <a:p>
            <a:pPr lvl="1">
              <a:lnSpc>
                <a:spcPct val="130000"/>
              </a:lnSpc>
              <a:spcBef>
                <a:spcPts val="1000"/>
              </a:spcBef>
            </a:pPr>
            <a:r>
              <a:rPr lang="zh-CN" altLang="en-US">
                <a:solidFill>
                  <a:srgbClr val="C00000"/>
                </a:solidFill>
                <a:sym typeface="+mn-ea"/>
              </a:rPr>
              <a:t>用</a:t>
            </a:r>
            <a:r>
              <a:rPr lang="en-US" altLang="zh-CN" b="0">
                <a:solidFill>
                  <a:srgbClr val="C00000"/>
                </a:solidFill>
                <a:latin typeface="Times New Roman" panose="02020603050405020304" pitchFamily="2" charset="0"/>
                <a:cs typeface="Times New Roman" panose="02020603050405020304" pitchFamily="2" charset="0"/>
                <a:sym typeface="+mn-ea"/>
              </a:rPr>
              <a:t>‘</a:t>
            </a:r>
            <a:r>
              <a:rPr lang="zh-CN" altLang="en-US">
                <a:solidFill>
                  <a:srgbClr val="C00000"/>
                </a:solidFill>
                <a:effectLst/>
                <a:latin typeface="Times New Roman" panose="02020603050405020304" pitchFamily="2" charset="0"/>
                <a:cs typeface="Times New Roman" panose="02020603050405020304" pitchFamily="2" charset="0"/>
                <a:sym typeface="+mn-ea"/>
              </a:rPr>
              <a:t>数据模型</a:t>
            </a:r>
            <a:r>
              <a:rPr lang="en-US" altLang="zh-CN" b="0">
                <a:solidFill>
                  <a:srgbClr val="C00000"/>
                </a:solidFill>
                <a:effectLst>
                  <a:outerShdw blurRad="38100" dist="38100" dir="2700000">
                    <a:srgbClr val="000000"/>
                  </a:outerShdw>
                </a:effectLst>
                <a:latin typeface="Times New Roman" panose="02020603050405020304" pitchFamily="2" charset="0"/>
                <a:cs typeface="Times New Roman" panose="02020603050405020304" pitchFamily="2" charset="0"/>
                <a:sym typeface="+mn-ea"/>
              </a:rPr>
              <a:t>’</a:t>
            </a:r>
            <a:r>
              <a:rPr lang="zh-CN" altLang="en-US">
                <a:solidFill>
                  <a:srgbClr val="C00000"/>
                </a:solidFill>
                <a:sym typeface="+mn-ea"/>
              </a:rPr>
              <a:t>来描述现实世界中的数据及其相互关系，并定义在这些数据上可以执行的操作。</a:t>
            </a:r>
            <a:endParaRPr lang="en-US" altLang="zh-CN" dirty="0"/>
          </a:p>
          <a:p>
            <a:pPr>
              <a:lnSpc>
                <a:spcPct val="150000"/>
              </a:lnSpc>
            </a:pPr>
            <a:r>
              <a:rPr lang="zh-CN" altLang="en-US" dirty="0"/>
              <a:t>数据模型应满足三方面要求</a:t>
            </a:r>
          </a:p>
          <a:p>
            <a:pPr lvl="1">
              <a:lnSpc>
                <a:spcPct val="150000"/>
              </a:lnSpc>
            </a:pPr>
            <a:r>
              <a:rPr lang="zh-CN" altLang="en-US" dirty="0"/>
              <a:t>能比较真实地</a:t>
            </a:r>
            <a:r>
              <a:rPr lang="zh-CN" altLang="en-US" dirty="0">
                <a:solidFill>
                  <a:srgbClr val="C00000"/>
                </a:solidFill>
              </a:rPr>
              <a:t>模拟</a:t>
            </a:r>
            <a:r>
              <a:rPr lang="zh-CN" altLang="en-US" dirty="0"/>
              <a:t>现实世界</a:t>
            </a:r>
          </a:p>
          <a:p>
            <a:pPr lvl="1">
              <a:lnSpc>
                <a:spcPct val="150000"/>
              </a:lnSpc>
            </a:pPr>
            <a:r>
              <a:rPr lang="zh-CN" altLang="en-US" dirty="0">
                <a:solidFill>
                  <a:srgbClr val="C00000"/>
                </a:solidFill>
              </a:rPr>
              <a:t>容易</a:t>
            </a:r>
            <a:r>
              <a:rPr lang="zh-CN" altLang="en-US" dirty="0"/>
              <a:t>为人所</a:t>
            </a:r>
            <a:r>
              <a:rPr lang="zh-CN" altLang="en-US" dirty="0">
                <a:solidFill>
                  <a:srgbClr val="C00000"/>
                </a:solidFill>
              </a:rPr>
              <a:t>理解</a:t>
            </a:r>
            <a:endParaRPr lang="zh-CN" altLang="en-US" dirty="0"/>
          </a:p>
          <a:p>
            <a:pPr lvl="1">
              <a:lnSpc>
                <a:spcPct val="150000"/>
              </a:lnSpc>
            </a:pPr>
            <a:r>
              <a:rPr lang="zh-CN" altLang="en-US" dirty="0">
                <a:solidFill>
                  <a:srgbClr val="C00000"/>
                </a:solidFill>
              </a:rPr>
              <a:t>便于</a:t>
            </a:r>
            <a:r>
              <a:rPr lang="zh-CN" altLang="en-US" dirty="0"/>
              <a:t>在计算机上</a:t>
            </a:r>
            <a:r>
              <a:rPr lang="zh-CN" altLang="en-US" dirty="0">
                <a:solidFill>
                  <a:srgbClr val="C00000"/>
                </a:solidFill>
              </a:rPr>
              <a:t>实现</a:t>
            </a:r>
            <a:endParaRPr lang="en-US" altLang="zh-CN" dirty="0"/>
          </a:p>
          <a:p>
            <a:pPr>
              <a:lnSpc>
                <a:spcPct val="150000"/>
              </a:lnSpc>
            </a:pPr>
            <a:r>
              <a:rPr lang="zh-CN" altLang="en-US" dirty="0"/>
              <a:t>数据模型是数据库系统的</a:t>
            </a:r>
            <a:r>
              <a:rPr lang="zh-CN" altLang="en-US" dirty="0">
                <a:solidFill>
                  <a:srgbClr val="C00000"/>
                </a:solidFill>
              </a:rPr>
              <a:t>核心和基础</a:t>
            </a:r>
          </a:p>
        </p:txBody>
      </p:sp>
      <p:pic>
        <p:nvPicPr>
          <p:cNvPr id="6" name="图片 5"/>
          <p:cNvPicPr>
            <a:picLocks noChangeAspect="1"/>
          </p:cNvPicPr>
          <p:nvPr>
            <p:custDataLst>
              <p:tags r:id="rId1"/>
            </p:custDataLst>
          </p:nvPr>
        </p:nvPicPr>
        <p:blipFill>
          <a:blip r:embed="rId4"/>
          <a:stretch>
            <a:fillRect/>
          </a:stretch>
        </p:blipFill>
        <p:spPr>
          <a:xfrm>
            <a:off x="7884795" y="2599690"/>
            <a:ext cx="3399790" cy="396684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mtClean="0"/>
              <a:t>64</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7" dur="500"/>
                                        <p:tgtEl>
                                          <p:spTgt spid="542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12" dur="500"/>
                                        <p:tgtEl>
                                          <p:spTgt spid="54275">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4275">
                                            <p:txEl>
                                              <p:pRg st="3" end="3"/>
                                            </p:txEl>
                                          </p:spTgt>
                                        </p:tgtEl>
                                        <p:attrNameLst>
                                          <p:attrName>style.visibility</p:attrName>
                                        </p:attrNameLst>
                                      </p:cBhvr>
                                      <p:to>
                                        <p:strVal val="visible"/>
                                      </p:to>
                                    </p:set>
                                    <p:animEffect transition="in" filter="blinds(horizontal)">
                                      <p:cBhvr>
                                        <p:cTn id="15" dur="500"/>
                                        <p:tgtEl>
                                          <p:spTgt spid="5427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4275">
                                            <p:txEl>
                                              <p:pRg st="4" end="4"/>
                                            </p:txEl>
                                          </p:spTgt>
                                        </p:tgtEl>
                                        <p:attrNameLst>
                                          <p:attrName>style.visibility</p:attrName>
                                        </p:attrNameLst>
                                      </p:cBhvr>
                                      <p:to>
                                        <p:strVal val="visible"/>
                                      </p:to>
                                    </p:set>
                                    <p:animEffect transition="in" filter="blinds(horizontal)">
                                      <p:cBhvr>
                                        <p:cTn id="18" dur="500"/>
                                        <p:tgtEl>
                                          <p:spTgt spid="5427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4275">
                                            <p:txEl>
                                              <p:pRg st="5" end="5"/>
                                            </p:txEl>
                                          </p:spTgt>
                                        </p:tgtEl>
                                        <p:attrNameLst>
                                          <p:attrName>style.visibility</p:attrName>
                                        </p:attrNameLst>
                                      </p:cBhvr>
                                      <p:to>
                                        <p:strVal val="visible"/>
                                      </p:to>
                                    </p:set>
                                    <p:animEffect transition="in" filter="blinds(horizontal)">
                                      <p:cBhvr>
                                        <p:cTn id="21" dur="500"/>
                                        <p:tgtEl>
                                          <p:spTgt spid="5427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4275">
                                            <p:txEl>
                                              <p:pRg st="6" end="6"/>
                                            </p:txEl>
                                          </p:spTgt>
                                        </p:tgtEl>
                                        <p:attrNameLst>
                                          <p:attrName>style.visibility</p:attrName>
                                        </p:attrNameLst>
                                      </p:cBhvr>
                                      <p:to>
                                        <p:strVal val="visible"/>
                                      </p:to>
                                    </p:set>
                                    <p:anim calcmode="lin" valueType="num">
                                      <p:cBhvr additive="base">
                                        <p:cTn id="26" dur="500" fill="hold"/>
                                        <p:tgtEl>
                                          <p:spTgt spid="54275">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427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p:txBody>
          <a:bodyPr wrap="square" tIns="0" bIns="0" anchor="ctr"/>
          <a:lstStyle/>
          <a:p>
            <a:pPr eaLnBrk="1" hangingPunct="1"/>
            <a:r>
              <a:rPr lang="en-US" altLang="zh-CN">
                <a:sym typeface="+mn-ea"/>
              </a:rPr>
              <a:t>1.2.1  </a:t>
            </a:r>
            <a:r>
              <a:rPr lang="zh-CN" altLang="en-US">
                <a:sym typeface="+mn-ea"/>
              </a:rPr>
              <a:t>两类数据模型</a:t>
            </a:r>
            <a:endParaRPr lang="zh-CN" altLang="en-US"/>
          </a:p>
        </p:txBody>
      </p:sp>
      <p:sp>
        <p:nvSpPr>
          <p:cNvPr id="11267" name="Rectangle 3"/>
          <p:cNvSpPr>
            <a:spLocks noGrp="1"/>
          </p:cNvSpPr>
          <p:nvPr>
            <p:ph idx="1"/>
          </p:nvPr>
        </p:nvSpPr>
        <p:spPr>
          <a:xfrm>
            <a:off x="424180" y="687070"/>
            <a:ext cx="11343005" cy="1614805"/>
          </a:xfrm>
        </p:spPr>
        <p:txBody>
          <a:bodyPr vert="horz" wrap="square" anchor="t">
            <a:spAutoFit/>
          </a:bodyPr>
          <a:lstStyle/>
          <a:p>
            <a:pPr lvl="0" eaLnBrk="1" fontAlgn="base" hangingPunct="1"/>
            <a:r>
              <a:rPr lang="zh-CN" altLang="en-US" strike="noStrike" noProof="1"/>
              <a:t>数据模型是数据库系统的核心和基础，如何将现实世界中我们需要的数据及其复杂关系最终反映到数据库中去，这需要有一个逐步转化的过程。</a:t>
            </a:r>
          </a:p>
        </p:txBody>
      </p:sp>
      <p:sp>
        <p:nvSpPr>
          <p:cNvPr id="3" name="Rectangle 3"/>
          <p:cNvSpPr>
            <a:spLocks noGrp="1"/>
          </p:cNvSpPr>
          <p:nvPr/>
        </p:nvSpPr>
        <p:spPr>
          <a:xfrm>
            <a:off x="424180" y="2480310"/>
            <a:ext cx="11343005" cy="4052570"/>
          </a:xfrm>
          <a:prstGeom prst="rect">
            <a:avLst/>
          </a:prstGeom>
          <a:noFill/>
          <a:ln w="9525">
            <a:noFill/>
          </a:ln>
        </p:spPr>
        <p:txBody>
          <a:bodyPr vert="horz"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lvl="0" eaLnBrk="1" fontAlgn="base" hangingPunct="1">
              <a:lnSpc>
                <a:spcPct val="100000"/>
              </a:lnSpc>
              <a:buClr>
                <a:srgbClr val="C00000"/>
              </a:buClr>
              <a:buSzPct val="85000"/>
            </a:pP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我们用建立在不同抽象层次上的</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a:solidFill>
                  <a:srgbClr val="FF0000"/>
                </a:solidFill>
                <a:effectLst>
                  <a:outerShdw blurRad="38100" dist="38100" dir="2700000">
                    <a:srgbClr val="000000"/>
                  </a:outerShdw>
                </a:effectLst>
                <a:latin typeface="Times New Roman" panose="02020603050405020304" pitchFamily="2" charset="0"/>
                <a:ea typeface="楷体" panose="02010609060101010101" charset="-122"/>
                <a:cs typeface="Times New Roman" panose="02020603050405020304" pitchFamily="2" charset="0"/>
              </a:rPr>
              <a:t>数据模型</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来表示每一步转化的结果（两大类、共三种类型的数据模型）</a:t>
            </a:r>
          </a:p>
          <a:p>
            <a:pPr lvl="2" indent="-354330" eaLnBrk="1" fontAlgn="base" hangingPunct="1">
              <a:lnSpc>
                <a:spcPct val="100000"/>
              </a:lnSpc>
              <a:buClr>
                <a:srgbClr val="C00000"/>
              </a:buClr>
              <a:buSzPct val="85000"/>
              <a:buFont typeface="Wingdings" panose="05000000000000000000" charset="0"/>
              <a:buChar char="Ø"/>
            </a:pP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概念数据模型</a:t>
            </a: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conceptual data model)</a:t>
            </a:r>
          </a:p>
          <a:p>
            <a:pPr lvl="3" eaLnBrk="1" fontAlgn="base" hangingPunct="1">
              <a:lnSpc>
                <a:spcPct val="100000"/>
              </a:lnSpc>
              <a:spcBef>
                <a:spcPts val="0"/>
              </a:spcBef>
              <a:spcAft>
                <a:spcPts val="1000"/>
              </a:spcAft>
            </a:pP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概念模型</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2" indent="-335280" eaLnBrk="1" fontAlgn="base" hangingPunct="1">
              <a:lnSpc>
                <a:spcPct val="100000"/>
              </a:lnSpc>
              <a:buClr>
                <a:srgbClr val="C00000"/>
              </a:buClr>
              <a:buSzPct val="85000"/>
              <a:buFont typeface="Wingdings" panose="05000000000000000000" charset="0"/>
              <a:buChar char="Ø"/>
            </a:pP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逻辑数据模型</a:t>
            </a: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logic data model)</a:t>
            </a:r>
          </a:p>
          <a:p>
            <a:pPr lvl="3" eaLnBrk="1" fontAlgn="base" hangingPunct="1">
              <a:lnSpc>
                <a:spcPct val="100000"/>
              </a:lnSpc>
              <a:spcBef>
                <a:spcPts val="0"/>
              </a:spcBef>
              <a:spcAft>
                <a:spcPts val="1000"/>
              </a:spcAft>
            </a:pP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逻辑模型</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strike="noStrike" noProof="1">
              <a:latin typeface="Times New Roman" panose="02020603050405020304" pitchFamily="2" charset="0"/>
              <a:ea typeface="楷体" panose="02010609060101010101" charset="-122"/>
              <a:cs typeface="Times New Roman" panose="02020603050405020304" pitchFamily="2" charset="0"/>
            </a:endParaRPr>
          </a:p>
          <a:p>
            <a:pPr lvl="2" indent="-306705" eaLnBrk="1" fontAlgn="base" hangingPunct="1">
              <a:lnSpc>
                <a:spcPct val="100000"/>
              </a:lnSpc>
              <a:buClr>
                <a:srgbClr val="C00000"/>
              </a:buClr>
              <a:buSzPct val="85000"/>
              <a:buFont typeface="Wingdings" panose="05000000000000000000" charset="0"/>
              <a:buChar char="Ø"/>
            </a:pP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物理数据模型</a:t>
            </a: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physical data model)</a:t>
            </a:r>
          </a:p>
          <a:p>
            <a:pPr lvl="3" eaLnBrk="1" fontAlgn="base" hangingPunct="1">
              <a:lnSpc>
                <a:spcPct val="100000"/>
              </a:lnSpc>
              <a:spcBef>
                <a:spcPts val="0"/>
              </a:spcBef>
              <a:spcAft>
                <a:spcPts val="0"/>
              </a:spcAft>
            </a:pPr>
            <a:r>
              <a:rPr lang="zh-CN" altLang="en-US"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a:solidFill>
                  <a:srgbClr val="FF0000"/>
                </a:solidFill>
                <a:latin typeface="Times New Roman" panose="02020603050405020304" pitchFamily="2" charset="0"/>
                <a:ea typeface="楷体" panose="02010609060101010101" charset="-122"/>
                <a:cs typeface="Times New Roman" panose="02020603050405020304" pitchFamily="2" charset="0"/>
              </a:rPr>
              <a:t>物理模型</a:t>
            </a:r>
            <a:r>
              <a:rPr lang="en-US" altLang="zh-CN" sz="2800" strike="noStrike" noProof="1">
                <a:solidFill>
                  <a:srgbClr val="1F2DA8"/>
                </a:solidFill>
                <a:latin typeface="Times New Roman" panose="02020603050405020304" pitchFamily="2" charset="0"/>
                <a:ea typeface="楷体" panose="02010609060101010101" charset="-122"/>
                <a:cs typeface="Times New Roman" panose="02020603050405020304" pitchFamily="2" charset="0"/>
              </a:rPr>
              <a:t>’</a:t>
            </a:r>
          </a:p>
        </p:txBody>
      </p:sp>
      <p:sp>
        <p:nvSpPr>
          <p:cNvPr id="2" name="灯片编号占位符 1"/>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65</a:t>
            </a:fld>
            <a:endParaRPr lang="zh-CN" altLang="en-US" strike="noStrike" noProof="1"/>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CN" dirty="0"/>
              <a:t> </a:t>
            </a:r>
            <a:r>
              <a:rPr lang="zh-CN" altLang="en-US" dirty="0"/>
              <a:t>概念模型</a:t>
            </a:r>
            <a:r>
              <a:rPr lang="en-US" altLang="zh-CN" dirty="0"/>
              <a:t> / </a:t>
            </a:r>
            <a:r>
              <a:rPr lang="zh-CN" altLang="en-US" dirty="0"/>
              <a:t>逻辑模型</a:t>
            </a:r>
            <a:r>
              <a:rPr lang="en-US" altLang="zh-CN" dirty="0"/>
              <a:t> / </a:t>
            </a:r>
            <a:r>
              <a:rPr lang="zh-CN" altLang="en-US" dirty="0"/>
              <a:t>物理模型</a:t>
            </a:r>
          </a:p>
        </p:txBody>
      </p:sp>
      <p:sp>
        <p:nvSpPr>
          <p:cNvPr id="56323" name="Rectangle 3"/>
          <p:cNvSpPr>
            <a:spLocks noGrp="1" noChangeArrowheads="1"/>
          </p:cNvSpPr>
          <p:nvPr>
            <p:ph idx="1"/>
          </p:nvPr>
        </p:nvSpPr>
        <p:spPr/>
        <p:txBody>
          <a:bodyPr>
            <a:normAutofit/>
          </a:bodyPr>
          <a:lstStyle/>
          <a:p>
            <a:pPr>
              <a:lnSpc>
                <a:spcPct val="150000"/>
              </a:lnSpc>
            </a:pPr>
            <a:r>
              <a:rPr lang="zh-CN" altLang="en-US" dirty="0">
                <a:solidFill>
                  <a:srgbClr val="FF0000"/>
                </a:solidFill>
              </a:rPr>
              <a:t>概念模型</a:t>
            </a:r>
            <a:r>
              <a:rPr lang="zh-CN" altLang="en-US" dirty="0"/>
              <a:t>，也称信息模型</a:t>
            </a:r>
            <a:endParaRPr lang="en-US" altLang="zh-CN" dirty="0"/>
          </a:p>
          <a:p>
            <a:pPr lvl="1"/>
            <a:r>
              <a:rPr lang="zh-CN" altLang="en-US" dirty="0"/>
              <a:t>按用户的观点来对数据和信息建模，用于数据库设计</a:t>
            </a:r>
          </a:p>
          <a:p>
            <a:pPr>
              <a:lnSpc>
                <a:spcPct val="150000"/>
              </a:lnSpc>
            </a:pPr>
            <a:r>
              <a:rPr lang="zh-CN" altLang="en-US" dirty="0">
                <a:solidFill>
                  <a:srgbClr val="FF0000"/>
                </a:solidFill>
              </a:rPr>
              <a:t>逻辑模型</a:t>
            </a:r>
            <a:endParaRPr lang="en-US" altLang="zh-CN" dirty="0"/>
          </a:p>
          <a:p>
            <a:pPr lvl="1"/>
            <a:r>
              <a:rPr lang="zh-CN" altLang="en-US" dirty="0"/>
              <a:t>按计算机系统的观点对数据建模，用于</a:t>
            </a:r>
            <a:r>
              <a:rPr lang="en-US" altLang="zh-CN" dirty="0"/>
              <a:t>DBMS</a:t>
            </a:r>
            <a:r>
              <a:rPr lang="zh-CN" altLang="en-US" dirty="0"/>
              <a:t>实现</a:t>
            </a:r>
            <a:endParaRPr lang="en-US" altLang="zh-CN" dirty="0"/>
          </a:p>
          <a:p>
            <a:pPr lvl="1"/>
            <a:r>
              <a:rPr lang="zh-CN" altLang="en-US" dirty="0"/>
              <a:t>主要包括网状模型、层次模型、关系模型、面向对象数据模型、对象关系数据模型、半结构化数据模型等。</a:t>
            </a:r>
          </a:p>
          <a:p>
            <a:pPr>
              <a:lnSpc>
                <a:spcPct val="150000"/>
              </a:lnSpc>
            </a:pPr>
            <a:r>
              <a:rPr lang="zh-CN" altLang="en-US" dirty="0">
                <a:solidFill>
                  <a:srgbClr val="FF0000"/>
                </a:solidFill>
              </a:rPr>
              <a:t>物理模型</a:t>
            </a:r>
            <a:endParaRPr lang="en-US" altLang="zh-CN" dirty="0"/>
          </a:p>
          <a:p>
            <a:pPr lvl="1"/>
            <a:r>
              <a:rPr lang="zh-CN" altLang="en-US" dirty="0"/>
              <a:t>是对数据最底层的抽象，描述数据在系统内部的表示方式和存取方法。</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66</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dirty="0"/>
              <a:t>图</a:t>
            </a:r>
            <a:r>
              <a:rPr lang="en-US" altLang="zh-CN" dirty="0"/>
              <a:t>1.7  </a:t>
            </a:r>
            <a:r>
              <a:rPr lang="zh-CN" altLang="en-US" dirty="0"/>
              <a:t>客观对象的抽象过程</a:t>
            </a:r>
            <a:r>
              <a:rPr lang="en-US" altLang="zh-CN" dirty="0"/>
              <a:t>---</a:t>
            </a:r>
            <a:r>
              <a:rPr lang="zh-CN" altLang="en-US" dirty="0"/>
              <a:t>两步抽象</a:t>
            </a:r>
          </a:p>
        </p:txBody>
      </p:sp>
      <p:sp>
        <p:nvSpPr>
          <p:cNvPr id="57347" name="Rectangle 3"/>
          <p:cNvSpPr>
            <a:spLocks noGrp="1" noChangeArrowheads="1"/>
          </p:cNvSpPr>
          <p:nvPr>
            <p:ph idx="1"/>
          </p:nvPr>
        </p:nvSpPr>
        <p:spPr/>
        <p:txBody>
          <a:bodyPr>
            <a:normAutofit/>
          </a:bodyPr>
          <a:lstStyle/>
          <a:p>
            <a:pPr>
              <a:lnSpc>
                <a:spcPct val="100000"/>
              </a:lnSpc>
            </a:pPr>
            <a:r>
              <a:rPr lang="zh-CN" altLang="en-US" dirty="0"/>
              <a:t>将现实世界中的</a:t>
            </a:r>
            <a:r>
              <a:rPr lang="zh-CN" altLang="en-US" dirty="0">
                <a:solidFill>
                  <a:srgbClr val="C00000"/>
                </a:solidFill>
              </a:rPr>
              <a:t>客观对象</a:t>
            </a:r>
            <a:r>
              <a:rPr lang="zh-CN" altLang="en-US" dirty="0"/>
              <a:t>抽象为</a:t>
            </a:r>
            <a:r>
              <a:rPr lang="zh-CN" altLang="en-US" dirty="0">
                <a:solidFill>
                  <a:srgbClr val="C00000"/>
                </a:solidFill>
              </a:rPr>
              <a:t>概念模型</a:t>
            </a:r>
            <a:endParaRPr lang="en-US" altLang="zh-CN" dirty="0"/>
          </a:p>
          <a:p>
            <a:pPr lvl="1">
              <a:lnSpc>
                <a:spcPct val="100000"/>
              </a:lnSpc>
            </a:pPr>
            <a:r>
              <a:rPr lang="zh-CN" altLang="en-US" dirty="0"/>
              <a:t>将</a:t>
            </a:r>
            <a:r>
              <a:rPr lang="zh-CN" altLang="en-US" dirty="0">
                <a:solidFill>
                  <a:srgbClr val="C00000"/>
                </a:solidFill>
              </a:rPr>
              <a:t>现实世界</a:t>
            </a:r>
            <a:r>
              <a:rPr lang="zh-CN" altLang="en-US" dirty="0"/>
              <a:t>抽象为</a:t>
            </a:r>
            <a:r>
              <a:rPr lang="zh-CN" altLang="en-US" dirty="0">
                <a:solidFill>
                  <a:srgbClr val="C00000"/>
                </a:solidFill>
              </a:rPr>
              <a:t>信息世界</a:t>
            </a:r>
            <a:endParaRPr lang="zh-CN" altLang="en-US" dirty="0"/>
          </a:p>
          <a:p>
            <a:pPr>
              <a:lnSpc>
                <a:spcPct val="100000"/>
              </a:lnSpc>
            </a:pPr>
            <a:r>
              <a:rPr lang="zh-CN" altLang="en-US" dirty="0"/>
              <a:t>把</a:t>
            </a:r>
            <a:r>
              <a:rPr lang="zh-CN" altLang="en-US" dirty="0">
                <a:solidFill>
                  <a:srgbClr val="C00000"/>
                </a:solidFill>
              </a:rPr>
              <a:t>概念模型</a:t>
            </a:r>
            <a:r>
              <a:rPr lang="zh-CN" altLang="en-US" dirty="0"/>
              <a:t>转换为特定</a:t>
            </a:r>
            <a:r>
              <a:rPr lang="en-US" altLang="zh-CN" dirty="0"/>
              <a:t>DBMS</a:t>
            </a:r>
            <a:r>
              <a:rPr lang="zh-CN" altLang="en-US" dirty="0"/>
              <a:t>支持的</a:t>
            </a:r>
            <a:r>
              <a:rPr lang="zh-CN" altLang="en-US" dirty="0">
                <a:solidFill>
                  <a:srgbClr val="C00000"/>
                </a:solidFill>
              </a:rPr>
              <a:t>数据模型</a:t>
            </a:r>
            <a:r>
              <a:rPr lang="en-US" altLang="zh-CN" dirty="0">
                <a:solidFill>
                  <a:srgbClr val="C00000"/>
                </a:solidFill>
              </a:rPr>
              <a:t>(</a:t>
            </a:r>
            <a:r>
              <a:rPr lang="zh-CN" altLang="en-US" dirty="0">
                <a:solidFill>
                  <a:srgbClr val="C00000"/>
                </a:solidFill>
              </a:rPr>
              <a:t>逻辑模型</a:t>
            </a:r>
            <a:r>
              <a:rPr lang="en-US" altLang="zh-CN" dirty="0">
                <a:solidFill>
                  <a:srgbClr val="C00000"/>
                </a:solidFill>
              </a:rPr>
              <a:t>&amp;</a:t>
            </a:r>
            <a:r>
              <a:rPr lang="zh-CN" altLang="en-US" dirty="0">
                <a:solidFill>
                  <a:srgbClr val="C00000"/>
                </a:solidFill>
              </a:rPr>
              <a:t>物理模型</a:t>
            </a:r>
            <a:r>
              <a:rPr lang="en-US" altLang="zh-CN" dirty="0">
                <a:solidFill>
                  <a:srgbClr val="C00000"/>
                </a:solidFill>
              </a:rPr>
              <a:t>)</a:t>
            </a:r>
            <a:endParaRPr lang="en-US" altLang="zh-CN" dirty="0"/>
          </a:p>
          <a:p>
            <a:pPr lvl="1">
              <a:lnSpc>
                <a:spcPct val="100000"/>
              </a:lnSpc>
            </a:pPr>
            <a:r>
              <a:rPr lang="zh-CN" altLang="zh-CN" dirty="0"/>
              <a:t>将</a:t>
            </a:r>
            <a:r>
              <a:rPr lang="zh-CN" altLang="zh-CN" dirty="0">
                <a:solidFill>
                  <a:srgbClr val="C00000"/>
                </a:solidFill>
              </a:rPr>
              <a:t>信息世界</a:t>
            </a:r>
            <a:r>
              <a:rPr lang="zh-CN" altLang="zh-CN" dirty="0"/>
              <a:t>转换为</a:t>
            </a:r>
            <a:r>
              <a:rPr lang="zh-CN" altLang="zh-CN" dirty="0">
                <a:solidFill>
                  <a:srgbClr val="C00000"/>
                </a:solidFill>
              </a:rPr>
              <a:t>机器世界</a:t>
            </a:r>
          </a:p>
        </p:txBody>
      </p:sp>
      <p:grpSp>
        <p:nvGrpSpPr>
          <p:cNvPr id="2" name="组合 1"/>
          <p:cNvGrpSpPr/>
          <p:nvPr/>
        </p:nvGrpSpPr>
        <p:grpSpPr>
          <a:xfrm>
            <a:off x="1653540" y="2853055"/>
            <a:ext cx="9436735" cy="3547110"/>
            <a:chOff x="4610" y="4493"/>
            <a:chExt cx="14861" cy="5586"/>
          </a:xfrm>
        </p:grpSpPr>
        <p:sp>
          <p:nvSpPr>
            <p:cNvPr id="7" name="Rectangle 4"/>
            <p:cNvSpPr>
              <a:spLocks noChangeArrowheads="1"/>
            </p:cNvSpPr>
            <p:nvPr/>
          </p:nvSpPr>
          <p:spPr bwMode="auto">
            <a:xfrm>
              <a:off x="6552" y="9081"/>
              <a:ext cx="4733" cy="998"/>
            </a:xfrm>
            <a:prstGeom prst="rect">
              <a:avLst/>
            </a:prstGeom>
            <a:gradFill rotWithShape="0">
              <a:gsLst>
                <a:gs pos="0">
                  <a:srgbClr val="FFFFFF"/>
                </a:gs>
                <a:gs pos="100000">
                  <a:srgbClr val="BBBBBB"/>
                </a:gs>
              </a:gsLst>
              <a:lin ang="5400000" scaled="1"/>
            </a:gradFill>
            <a:ln w="25400" algn="ctr">
              <a:solidFill>
                <a:schemeClr val="tx1"/>
              </a:solidFill>
              <a:miter lim="800000"/>
            </a:ln>
          </p:spPr>
          <p:txBody>
            <a:bodyPr wrap="none"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t>数据库管理系统支持的数据模型</a:t>
              </a:r>
            </a:p>
          </p:txBody>
        </p:sp>
        <p:sp>
          <p:nvSpPr>
            <p:cNvPr id="8" name="Rectangle 5"/>
            <p:cNvSpPr>
              <a:spLocks noChangeArrowheads="1"/>
            </p:cNvSpPr>
            <p:nvPr/>
          </p:nvSpPr>
          <p:spPr bwMode="auto">
            <a:xfrm>
              <a:off x="7590" y="7685"/>
              <a:ext cx="2660" cy="798"/>
            </a:xfrm>
            <a:prstGeom prst="rect">
              <a:avLst/>
            </a:prstGeom>
            <a:gradFill rotWithShape="0">
              <a:gsLst>
                <a:gs pos="0">
                  <a:srgbClr val="FFFFFF"/>
                </a:gs>
                <a:gs pos="100000">
                  <a:srgbClr val="BBBBBB"/>
                </a:gs>
              </a:gsLst>
              <a:lin ang="5400000" scaled="1"/>
            </a:gradFill>
            <a:ln w="25400" algn="ctr">
              <a:solidFill>
                <a:schemeClr val="tx1"/>
              </a:solidFill>
              <a:miter lim="800000"/>
            </a:ln>
          </p:spPr>
          <p:txBody>
            <a:bodyPr wrap="none"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t>概念模型</a:t>
              </a:r>
            </a:p>
          </p:txBody>
        </p:sp>
        <p:sp>
          <p:nvSpPr>
            <p:cNvPr id="9" name="AutoShape 6"/>
            <p:cNvSpPr>
              <a:spLocks noChangeArrowheads="1"/>
            </p:cNvSpPr>
            <p:nvPr/>
          </p:nvSpPr>
          <p:spPr bwMode="auto">
            <a:xfrm>
              <a:off x="8189" y="6188"/>
              <a:ext cx="1252" cy="1097"/>
            </a:xfrm>
            <a:prstGeom prst="smileyFace">
              <a:avLst>
                <a:gd name="adj" fmla="val 4653"/>
              </a:avLst>
            </a:prstGeom>
            <a:gradFill rotWithShape="0">
              <a:gsLst>
                <a:gs pos="0">
                  <a:srgbClr val="FFFFFF"/>
                </a:gs>
                <a:gs pos="100000">
                  <a:srgbClr val="BBBBBB"/>
                </a:gs>
              </a:gsLst>
              <a:lin ang="5400000" scaled="1"/>
            </a:gradFill>
            <a:ln w="25400">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p>
          </p:txBody>
        </p:sp>
        <p:sp>
          <p:nvSpPr>
            <p:cNvPr id="10" name="AutoShape 9"/>
            <p:cNvSpPr>
              <a:spLocks noChangeArrowheads="1"/>
            </p:cNvSpPr>
            <p:nvPr/>
          </p:nvSpPr>
          <p:spPr bwMode="auto">
            <a:xfrm flipH="1">
              <a:off x="10427" y="5590"/>
              <a:ext cx="1480" cy="1396"/>
            </a:xfrm>
            <a:prstGeom prst="wedgeEllipseCallout">
              <a:avLst>
                <a:gd name="adj1" fmla="val 117250"/>
                <a:gd name="adj2" fmla="val 16611"/>
              </a:avLst>
            </a:prstGeom>
            <a:gradFill rotWithShape="0">
              <a:gsLst>
                <a:gs pos="0">
                  <a:srgbClr val="FFFFFF"/>
                </a:gs>
                <a:gs pos="100000">
                  <a:srgbClr val="BBBBBB"/>
                </a:gs>
              </a:gsLst>
              <a:lin ang="5400000" scaled="1"/>
            </a:gradFill>
            <a:ln w="25400" algn="ctr">
              <a:solidFill>
                <a:schemeClr val="tx1"/>
              </a:solidFill>
              <a:miter lim="800000"/>
            </a:ln>
          </p:spPr>
          <p:txBody>
            <a:bodyPr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t>认识</a:t>
              </a:r>
            </a:p>
            <a:p>
              <a:pPr algn="ctr" eaLnBrk="1" hangingPunct="1"/>
              <a:r>
                <a:rPr lang="zh-CN" altLang="en-US" sz="1600" b="1"/>
                <a:t>抽象</a:t>
              </a:r>
            </a:p>
          </p:txBody>
        </p:sp>
        <p:sp>
          <p:nvSpPr>
            <p:cNvPr id="11" name="Text Box 10"/>
            <p:cNvSpPr txBox="1">
              <a:spLocks noChangeArrowheads="1"/>
            </p:cNvSpPr>
            <p:nvPr/>
          </p:nvSpPr>
          <p:spPr bwMode="auto">
            <a:xfrm>
              <a:off x="4610" y="7874"/>
              <a:ext cx="1576"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信息世界</a:t>
              </a:r>
            </a:p>
          </p:txBody>
        </p:sp>
        <p:sp>
          <p:nvSpPr>
            <p:cNvPr id="12" name="Text Box 11"/>
            <p:cNvSpPr txBox="1">
              <a:spLocks noChangeArrowheads="1"/>
            </p:cNvSpPr>
            <p:nvPr/>
          </p:nvSpPr>
          <p:spPr bwMode="auto">
            <a:xfrm>
              <a:off x="4610" y="9378"/>
              <a:ext cx="1576"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机器世界</a:t>
              </a:r>
            </a:p>
          </p:txBody>
        </p:sp>
        <p:sp>
          <p:nvSpPr>
            <p:cNvPr id="13" name="Cloud"/>
            <p:cNvSpPr>
              <a:spLocks noChangeAspect="1" noEditPoints="1" noChangeArrowheads="1"/>
            </p:cNvSpPr>
            <p:nvPr/>
          </p:nvSpPr>
          <p:spPr bwMode="auto">
            <a:xfrm>
              <a:off x="7568" y="4493"/>
              <a:ext cx="2464" cy="1271"/>
            </a:xfrm>
            <a:custGeom>
              <a:avLst/>
              <a:gdLst>
                <a:gd name="T0" fmla="*/ 5584 w 21600"/>
                <a:gd name="T1" fmla="*/ 458788 h 21600"/>
                <a:gd name="T2" fmla="*/ 900113 w 21600"/>
                <a:gd name="T3" fmla="*/ 916598 h 21600"/>
                <a:gd name="T4" fmla="*/ 1798725 w 21600"/>
                <a:gd name="T5" fmla="*/ 458788 h 21600"/>
                <a:gd name="T6" fmla="*/ 900113 w 21600"/>
                <a:gd name="T7" fmla="*/ 52463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ln>
            <a:effectLst>
              <a:outerShdw dist="107763" dir="2700000" algn="ctr" rotWithShape="0">
                <a:srgbClr val="808080"/>
              </a:outerShdw>
            </a:effectLst>
          </p:spPr>
          <p:txBody>
            <a:bodyPr anchor="ctr" anchorCtr="0"/>
            <a:lstStyle/>
            <a:p>
              <a:pPr marL="342900" indent="-342900" algn="ctr">
                <a:defRPr/>
              </a:pPr>
              <a:r>
                <a:rPr lang="zh-CN" altLang="en-US" sz="1600" b="1" dirty="0"/>
                <a:t>现实世界</a:t>
              </a:r>
            </a:p>
          </p:txBody>
        </p:sp>
        <p:sp>
          <p:nvSpPr>
            <p:cNvPr id="14" name="Line 16"/>
            <p:cNvSpPr>
              <a:spLocks noChangeShapeType="1"/>
            </p:cNvSpPr>
            <p:nvPr/>
          </p:nvSpPr>
          <p:spPr bwMode="auto">
            <a:xfrm>
              <a:off x="8752" y="5790"/>
              <a:ext cx="0" cy="3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5" name="Line 17"/>
            <p:cNvSpPr>
              <a:spLocks noChangeShapeType="1"/>
            </p:cNvSpPr>
            <p:nvPr/>
          </p:nvSpPr>
          <p:spPr bwMode="auto">
            <a:xfrm>
              <a:off x="8752" y="7285"/>
              <a:ext cx="0" cy="3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6" name="Line 18"/>
            <p:cNvSpPr>
              <a:spLocks noChangeShapeType="1"/>
            </p:cNvSpPr>
            <p:nvPr/>
          </p:nvSpPr>
          <p:spPr bwMode="auto">
            <a:xfrm>
              <a:off x="8850" y="8483"/>
              <a:ext cx="0" cy="5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mc:AlternateContent xmlns:mc="http://schemas.openxmlformats.org/markup-compatibility/2006" xmlns:a14="http://schemas.microsoft.com/office/drawing/2010/main">
          <mc:Choice Requires="a14">
            <p:sp>
              <p:nvSpPr>
                <p:cNvPr id="24" name="Text Box 22"/>
                <p:cNvSpPr txBox="1">
                  <a:spLocks noChangeArrowheads="1"/>
                </p:cNvSpPr>
                <p:nvPr/>
              </p:nvSpPr>
              <p:spPr bwMode="auto">
                <a:xfrm>
                  <a:off x="12302" y="5511"/>
                  <a:ext cx="7162" cy="1113"/>
                </a:xfrm>
                <a:prstGeom prst="rect">
                  <a:avLst/>
                </a:prstGeom>
                <a:noFill/>
                <a:ln w="12700" algn="ctr">
                  <a:solidFill>
                    <a:schemeClr val="folHlink"/>
                  </a:solidFill>
                  <a:miter lim="800000"/>
                </a:ln>
                <a:extLst>
                  <a:ext uri="{909E8E84-426E-40DD-AFC4-6F175D3DCCD1}">
                    <a14:hiddenFill>
                      <a:solidFill>
                        <a:srgbClr val="FFFFFF"/>
                      </a:solidFill>
                    </a14:hiddenFill>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现实世界</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概念模型</a:t>
                  </a:r>
                  <a:endParaRPr lang="zh-CN" altLang="en-US" sz="2000" b="1"/>
                </a:p>
                <a:p>
                  <a:pPr algn="ctr" eaLnBrk="1" hangingPunct="1"/>
                  <a:r>
                    <a:rPr lang="zh-CN" altLang="en-US" sz="2000" b="1"/>
                    <a:t>数据库设计人员完成</a:t>
                  </a:r>
                </a:p>
              </p:txBody>
            </p:sp>
          </mc:Choice>
          <mc:Fallback xmlns="">
            <p:sp>
              <p:nvSpPr>
                <p:cNvPr id="24" name="Text Box 22"/>
                <p:cNvSpPr txBox="1">
                  <a:spLocks noRot="1" noChangeAspect="1" noMove="1" noResize="1" noEditPoints="1" noAdjustHandles="1" noChangeArrowheads="1" noChangeShapeType="1" noTextEdit="1"/>
                </p:cNvSpPr>
                <p:nvPr/>
              </p:nvSpPr>
              <p:spPr bwMode="auto">
                <a:xfrm>
                  <a:off x="12302" y="5511"/>
                  <a:ext cx="7162" cy="1113"/>
                </a:xfrm>
                <a:prstGeom prst="rect">
                  <a:avLst/>
                </a:prstGeom>
                <a:blipFill rotWithShape="1">
                  <a:blip r:embed="rId2"/>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Text Box 20"/>
                <p:cNvSpPr txBox="1">
                  <a:spLocks noChangeArrowheads="1"/>
                </p:cNvSpPr>
                <p:nvPr/>
              </p:nvSpPr>
              <p:spPr bwMode="auto">
                <a:xfrm>
                  <a:off x="12303" y="8966"/>
                  <a:ext cx="7168" cy="1113"/>
                </a:xfrm>
                <a:prstGeom prst="rect">
                  <a:avLst/>
                </a:prstGeom>
                <a:noFill/>
                <a:ln w="12700" algn="ctr">
                  <a:solidFill>
                    <a:schemeClr val="folHlink"/>
                  </a:solidFill>
                  <a:miter lim="800000"/>
                </a:ln>
                <a:extLst>
                  <a:ext uri="{909E8E84-426E-40DD-AFC4-6F175D3DCCD1}">
                    <a14:hiddenFill>
                      <a:solidFill>
                        <a:srgbClr val="FFFFFF"/>
                      </a:solidFill>
                    </a14:hiddenFill>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逻辑模型</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物理模型</a:t>
                  </a:r>
                  <a:endParaRPr lang="zh-CN" altLang="en-US" sz="2000" b="1"/>
                </a:p>
                <a:p>
                  <a:pPr algn="ctr" eaLnBrk="1" hangingPunct="1"/>
                  <a:r>
                    <a:rPr lang="zh-CN" altLang="en-US" sz="2000" b="1"/>
                    <a:t>由</a:t>
                  </a:r>
                  <a:r>
                    <a:rPr lang="en-US" altLang="zh-CN" sz="2000" b="1"/>
                    <a:t>DBMS</a:t>
                  </a:r>
                  <a:r>
                    <a:rPr lang="zh-CN" altLang="en-US" sz="2000" b="1"/>
                    <a:t>完成</a:t>
                  </a:r>
                </a:p>
              </p:txBody>
            </p:sp>
          </mc:Choice>
          <mc:Fallback xmlns="">
            <p:sp>
              <p:nvSpPr>
                <p:cNvPr id="22" name="Text Box 20"/>
                <p:cNvSpPr txBox="1">
                  <a:spLocks noRot="1" noChangeAspect="1" noMove="1" noResize="1" noEditPoints="1" noAdjustHandles="1" noChangeArrowheads="1" noChangeShapeType="1" noTextEdit="1"/>
                </p:cNvSpPr>
                <p:nvPr/>
              </p:nvSpPr>
              <p:spPr bwMode="auto">
                <a:xfrm>
                  <a:off x="12303" y="8966"/>
                  <a:ext cx="7168" cy="1113"/>
                </a:xfrm>
                <a:prstGeom prst="rect">
                  <a:avLst/>
                </a:prstGeom>
                <a:blipFill rotWithShape="1">
                  <a:blip r:embed="rId3"/>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 Box 33"/>
                <p:cNvSpPr txBox="1">
                  <a:spLocks noChangeArrowheads="1"/>
                </p:cNvSpPr>
                <p:nvPr/>
              </p:nvSpPr>
              <p:spPr bwMode="auto">
                <a:xfrm>
                  <a:off x="12303" y="6986"/>
                  <a:ext cx="7164" cy="1598"/>
                </a:xfrm>
                <a:prstGeom prst="rect">
                  <a:avLst/>
                </a:prstGeom>
                <a:noFill/>
                <a:ln w="12700" algn="ctr">
                  <a:solidFill>
                    <a:schemeClr val="folHlink"/>
                  </a:solidFill>
                  <a:miter lim="800000"/>
                </a:ln>
                <a:extLst>
                  <a:ext uri="{909E8E84-426E-40DD-AFC4-6F175D3DCCD1}">
                    <a14:hiddenFill>
                      <a:solidFill>
                        <a:srgbClr val="FFFFFF"/>
                      </a:solidFill>
                    </a14:hiddenFill>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概念模型</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逻辑模型</a:t>
                  </a:r>
                  <a:endParaRPr lang="zh-CN" altLang="en-US" sz="2000" b="1"/>
                </a:p>
                <a:p>
                  <a:pPr algn="ctr" eaLnBrk="1" hangingPunct="1"/>
                  <a:r>
                    <a:rPr lang="zh-CN" altLang="en-US" sz="2000" b="1"/>
                    <a:t>数据库设计人员完成</a:t>
                  </a:r>
                  <a:endParaRPr lang="en-US" altLang="zh-CN" sz="2000" b="1"/>
                </a:p>
                <a:p>
                  <a:pPr algn="ctr" eaLnBrk="1" hangingPunct="1"/>
                  <a:r>
                    <a:rPr lang="zh-CN" altLang="en-US" sz="2000" b="1"/>
                    <a:t>数据库设计工具协助完成</a:t>
                  </a:r>
                </a:p>
              </p:txBody>
            </p:sp>
          </mc:Choice>
          <mc:Fallback xmlns="">
            <p:sp>
              <p:nvSpPr>
                <p:cNvPr id="20" name="Text Box 33"/>
                <p:cNvSpPr txBox="1">
                  <a:spLocks noRot="1" noChangeAspect="1" noMove="1" noResize="1" noEditPoints="1" noAdjustHandles="1" noChangeArrowheads="1" noChangeShapeType="1" noTextEdit="1"/>
                </p:cNvSpPr>
                <p:nvPr/>
              </p:nvSpPr>
              <p:spPr bwMode="auto">
                <a:xfrm>
                  <a:off x="12303" y="6986"/>
                  <a:ext cx="7164" cy="1598"/>
                </a:xfrm>
                <a:prstGeom prst="rect">
                  <a:avLst/>
                </a:prstGeom>
                <a:blipFill rotWithShape="1">
                  <a:blip r:embed="rId4"/>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p:sp>
        <p:nvSpPr>
          <p:cNvPr id="3" name="灯片编号占位符 2"/>
          <p:cNvSpPr>
            <a:spLocks noGrp="1"/>
          </p:cNvSpPr>
          <p:nvPr>
            <p:ph type="sldNum" sz="quarter" idx="12"/>
          </p:nvPr>
        </p:nvSpPr>
        <p:spPr/>
        <p:txBody>
          <a:bodyPr/>
          <a:lstStyle/>
          <a:p>
            <a:fld id="{565CE74E-AB26-4998-AD42-012C4C1AD076}" type="slidenum">
              <a:rPr lang="zh-CN" altLang="en-US" smtClean="0"/>
              <a:t>67</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2289"/>
          <p:cNvSpPr>
            <a:spLocks noGrp="1"/>
          </p:cNvSpPr>
          <p:nvPr>
            <p:ph type="title"/>
          </p:nvPr>
        </p:nvSpPr>
        <p:spPr/>
        <p:txBody>
          <a:bodyPr tIns="0" bIns="0" anchor="ctr"/>
          <a:lstStyle/>
          <a:p>
            <a:r>
              <a:rPr lang="zh-CN" altLang="en-US"/>
              <a:t>三种数据模型之间的关系</a:t>
            </a:r>
          </a:p>
        </p:txBody>
      </p:sp>
      <p:grpSp>
        <p:nvGrpSpPr>
          <p:cNvPr id="12291" name="组合 12290"/>
          <p:cNvGrpSpPr/>
          <p:nvPr/>
        </p:nvGrpSpPr>
        <p:grpSpPr>
          <a:xfrm>
            <a:off x="1296482" y="674386"/>
            <a:ext cx="2206178" cy="4037659"/>
            <a:chOff x="-905" y="318"/>
            <a:chExt cx="3477" cy="6358"/>
          </a:xfrm>
        </p:grpSpPr>
        <p:sp>
          <p:nvSpPr>
            <p:cNvPr id="2" name="文本框 12291"/>
            <p:cNvSpPr txBox="1"/>
            <p:nvPr/>
          </p:nvSpPr>
          <p:spPr>
            <a:xfrm>
              <a:off x="-68" y="704"/>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lstStyle/>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1</a:t>
              </a:r>
            </a:p>
          </p:txBody>
        </p:sp>
        <p:sp>
          <p:nvSpPr>
            <p:cNvPr id="12292" name="文本框 12292"/>
            <p:cNvSpPr txBox="1"/>
            <p:nvPr/>
          </p:nvSpPr>
          <p:spPr>
            <a:xfrm>
              <a:off x="-905" y="318"/>
              <a:ext cx="870" cy="1661"/>
            </a:xfrm>
            <a:prstGeom prst="rect">
              <a:avLst/>
            </a:prstGeom>
            <a:noFill/>
            <a:ln w="9525">
              <a:noFill/>
            </a:ln>
          </p:spPr>
          <p:txBody>
            <a:bodyPr vert="eaVert" wrap="square" anchor="t">
              <a:spAutoFit/>
            </a:bodyPr>
            <a:lstStyle/>
            <a:p>
              <a:pPr algn="ctr"/>
              <a:r>
                <a:rPr lang="zh-CN" altLang="en-US" sz="2400" b="1" dirty="0">
                  <a:ea typeface="楷体" panose="02010609060101010101" charset="-122"/>
                  <a:cs typeface="Times New Roman" panose="02020603050405020304" pitchFamily="2" charset="0"/>
                </a:rPr>
                <a:t>应用 1</a:t>
              </a:r>
            </a:p>
          </p:txBody>
        </p:sp>
        <p:sp>
          <p:nvSpPr>
            <p:cNvPr id="12293" name="文本框 12293"/>
            <p:cNvSpPr txBox="1"/>
            <p:nvPr/>
          </p:nvSpPr>
          <p:spPr>
            <a:xfrm>
              <a:off x="-94" y="2486"/>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lstStyle/>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2</a:t>
              </a:r>
            </a:p>
          </p:txBody>
        </p:sp>
        <p:sp>
          <p:nvSpPr>
            <p:cNvPr id="12294" name="文本框 12294"/>
            <p:cNvSpPr txBox="1"/>
            <p:nvPr/>
          </p:nvSpPr>
          <p:spPr>
            <a:xfrm>
              <a:off x="-905" y="2135"/>
              <a:ext cx="870" cy="1629"/>
            </a:xfrm>
            <a:prstGeom prst="rect">
              <a:avLst/>
            </a:prstGeom>
            <a:noFill/>
            <a:ln w="9525">
              <a:noFill/>
            </a:ln>
          </p:spPr>
          <p:txBody>
            <a:bodyPr vert="eaVert" wrap="square" anchor="t">
              <a:spAutoFit/>
            </a:bodyPr>
            <a:lstStyle/>
            <a:p>
              <a:pPr algn="ctr"/>
              <a:r>
                <a:rPr lang="zh-CN" altLang="en-US" sz="2400" b="1" dirty="0">
                  <a:ea typeface="楷体" panose="02010609060101010101" charset="-122"/>
                  <a:cs typeface="Times New Roman" panose="02020603050405020304" pitchFamily="2" charset="0"/>
                </a:rPr>
                <a:t>应用 2</a:t>
              </a:r>
            </a:p>
          </p:txBody>
        </p:sp>
        <p:sp>
          <p:nvSpPr>
            <p:cNvPr id="12295" name="文本框 12295"/>
            <p:cNvSpPr txBox="1"/>
            <p:nvPr/>
          </p:nvSpPr>
          <p:spPr>
            <a:xfrm>
              <a:off x="-120" y="5398"/>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lstStyle/>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n</a:t>
              </a:r>
            </a:p>
          </p:txBody>
        </p:sp>
        <p:sp>
          <p:nvSpPr>
            <p:cNvPr id="12296" name="文本框 12296"/>
            <p:cNvSpPr txBox="1"/>
            <p:nvPr/>
          </p:nvSpPr>
          <p:spPr>
            <a:xfrm>
              <a:off x="-905" y="5012"/>
              <a:ext cx="870" cy="1664"/>
            </a:xfrm>
            <a:prstGeom prst="rect">
              <a:avLst/>
            </a:prstGeom>
            <a:noFill/>
            <a:ln w="9525">
              <a:noFill/>
            </a:ln>
          </p:spPr>
          <p:txBody>
            <a:bodyPr vert="eaVert" wrap="square" anchor="t">
              <a:spAutoFit/>
            </a:bodyPr>
            <a:lstStyle/>
            <a:p>
              <a:pPr algn="ctr"/>
              <a:r>
                <a:rPr lang="zh-CN" altLang="en-US" sz="2400" b="1" dirty="0">
                  <a:ea typeface="楷体" panose="02010609060101010101" charset="-122"/>
                  <a:cs typeface="Times New Roman" panose="02020603050405020304" pitchFamily="2" charset="0"/>
                </a:rPr>
                <a:t>应用 n</a:t>
              </a:r>
            </a:p>
          </p:txBody>
        </p:sp>
        <p:sp>
          <p:nvSpPr>
            <p:cNvPr id="12297" name="直接连接符 12297"/>
            <p:cNvSpPr/>
            <p:nvPr/>
          </p:nvSpPr>
          <p:spPr>
            <a:xfrm>
              <a:off x="1212" y="3726"/>
              <a:ext cx="1" cy="1361"/>
            </a:xfrm>
            <a:prstGeom prst="line">
              <a:avLst/>
            </a:prstGeom>
            <a:ln w="38100" cap="flat" cmpd="sng">
              <a:solidFill>
                <a:schemeClr val="tx1"/>
              </a:solidFill>
              <a:prstDash val="sysDot"/>
              <a:round/>
              <a:headEnd type="none" w="med" len="med"/>
              <a:tailEnd type="none" w="med" len="med"/>
            </a:ln>
          </p:spPr>
        </p:sp>
      </p:grpSp>
      <p:sp>
        <p:nvSpPr>
          <p:cNvPr id="12299" name="文本框 12298"/>
          <p:cNvSpPr txBox="1"/>
          <p:nvPr/>
        </p:nvSpPr>
        <p:spPr>
          <a:xfrm>
            <a:off x="4740910" y="1772285"/>
            <a:ext cx="852488" cy="1570990"/>
          </a:xfrm>
          <a:prstGeom prst="rect">
            <a:avLst/>
          </a:prstGeom>
          <a:solidFill>
            <a:schemeClr val="bg1"/>
          </a:solidFill>
          <a:ln w="19050" cap="flat" cmpd="sng">
            <a:solidFill>
              <a:schemeClr val="tx1"/>
            </a:solidFill>
            <a:prstDash val="solid"/>
            <a:miter/>
            <a:headEnd type="none" w="med" len="med"/>
            <a:tailEnd type="none" w="med" len="med"/>
          </a:ln>
        </p:spPr>
        <p:txBody>
          <a:bodyPr wrap="square" lIns="90170" tIns="46990" rIns="90170" bIns="46990" anchor="t">
            <a:spAutoFit/>
          </a:bodyPr>
          <a:lstStyle/>
          <a:p>
            <a:pPr algn="ctr"/>
            <a:endParaRPr lang="zh-CN" altLang="en-US" sz="2400" b="1" dirty="0">
              <a:solidFill>
                <a:srgbClr val="FF0000"/>
              </a:solidFill>
              <a:ea typeface="楷体" panose="02010609060101010101" charset="-122"/>
            </a:endParaRPr>
          </a:p>
          <a:p>
            <a:pPr algn="ctr"/>
            <a:r>
              <a:rPr lang="zh-CN" altLang="en-US" sz="2400" b="1" dirty="0">
                <a:solidFill>
                  <a:srgbClr val="FF0000"/>
                </a:solidFill>
                <a:ea typeface="楷体" panose="02010609060101010101" charset="-122"/>
              </a:rPr>
              <a:t>概念模型</a:t>
            </a:r>
          </a:p>
          <a:p>
            <a:pPr algn="ctr"/>
            <a:endParaRPr lang="zh-CN" altLang="en-US" sz="2400" b="1" dirty="0">
              <a:solidFill>
                <a:srgbClr val="FF0000"/>
              </a:solidFill>
              <a:ea typeface="楷体" panose="02010609060101010101" charset="-122"/>
            </a:endParaRPr>
          </a:p>
        </p:txBody>
      </p:sp>
      <p:grpSp>
        <p:nvGrpSpPr>
          <p:cNvPr id="12300" name="组合 12299"/>
          <p:cNvGrpSpPr/>
          <p:nvPr/>
        </p:nvGrpSpPr>
        <p:grpSpPr>
          <a:xfrm>
            <a:off x="3503631" y="896303"/>
            <a:ext cx="1224579" cy="3917950"/>
            <a:chOff x="114" y="0"/>
            <a:chExt cx="1928" cy="6170"/>
          </a:xfrm>
        </p:grpSpPr>
        <p:sp>
          <p:nvSpPr>
            <p:cNvPr id="3" name="直接连接符 12300"/>
            <p:cNvSpPr/>
            <p:nvPr/>
          </p:nvSpPr>
          <p:spPr>
            <a:xfrm>
              <a:off x="795" y="0"/>
              <a:ext cx="1" cy="5557"/>
            </a:xfrm>
            <a:prstGeom prst="line">
              <a:avLst/>
            </a:prstGeom>
            <a:ln w="25400" cap="flat" cmpd="sng">
              <a:solidFill>
                <a:srgbClr val="0000FF"/>
              </a:solidFill>
              <a:prstDash val="solid"/>
              <a:round/>
              <a:headEnd type="none" w="med" len="med"/>
              <a:tailEnd type="none" w="med" len="med"/>
            </a:ln>
          </p:spPr>
        </p:sp>
        <p:sp>
          <p:nvSpPr>
            <p:cNvPr id="12301" name="文本框 12301"/>
            <p:cNvSpPr txBox="1"/>
            <p:nvPr/>
          </p:nvSpPr>
          <p:spPr>
            <a:xfrm>
              <a:off x="115" y="5445"/>
              <a:ext cx="1361" cy="725"/>
            </a:xfrm>
            <a:prstGeom prst="rect">
              <a:avLst/>
            </a:prstGeom>
            <a:noFill/>
            <a:ln w="9525">
              <a:noFill/>
            </a:ln>
          </p:spPr>
          <p:txBody>
            <a:bodyPr wrap="square" anchor="t">
              <a:spAutoFit/>
            </a:bodyPr>
            <a:lstStyle/>
            <a:p>
              <a:pPr algn="ctr"/>
              <a:r>
                <a:rPr lang="zh-CN" altLang="en-US" sz="2400" b="1" dirty="0">
                  <a:solidFill>
                    <a:srgbClr val="FF0000"/>
                  </a:solidFill>
                  <a:ea typeface="楷体" panose="02010609060101010101" charset="-122"/>
                </a:rPr>
                <a:t>集成</a:t>
              </a:r>
            </a:p>
          </p:txBody>
        </p:sp>
        <p:sp>
          <p:nvSpPr>
            <p:cNvPr id="12302" name="箭头 2275"/>
            <p:cNvSpPr/>
            <p:nvPr/>
          </p:nvSpPr>
          <p:spPr>
            <a:xfrm>
              <a:off x="114" y="339"/>
              <a:ext cx="1928" cy="1040"/>
            </a:xfrm>
            <a:prstGeom prst="line">
              <a:avLst/>
            </a:prstGeom>
            <a:ln w="19050" cap="flat" cmpd="sng">
              <a:solidFill>
                <a:schemeClr val="tx1"/>
              </a:solidFill>
              <a:prstDash val="solid"/>
              <a:round/>
              <a:headEnd type="none" w="med" len="med"/>
              <a:tailEnd type="arrow" w="lg" len="lg"/>
            </a:ln>
          </p:spPr>
        </p:sp>
        <p:sp>
          <p:nvSpPr>
            <p:cNvPr id="12303" name="箭头 2275"/>
            <p:cNvSpPr/>
            <p:nvPr/>
          </p:nvSpPr>
          <p:spPr>
            <a:xfrm flipV="1">
              <a:off x="114" y="2153"/>
              <a:ext cx="1928" cy="1"/>
            </a:xfrm>
            <a:prstGeom prst="line">
              <a:avLst/>
            </a:prstGeom>
            <a:ln w="19050" cap="flat" cmpd="sng">
              <a:solidFill>
                <a:schemeClr val="tx1"/>
              </a:solidFill>
              <a:prstDash val="solid"/>
              <a:round/>
              <a:headEnd type="none" w="med" len="med"/>
              <a:tailEnd type="arrow" w="lg" len="lg"/>
            </a:ln>
          </p:spPr>
        </p:sp>
        <p:sp>
          <p:nvSpPr>
            <p:cNvPr id="12304" name="箭头 2275"/>
            <p:cNvSpPr/>
            <p:nvPr/>
          </p:nvSpPr>
          <p:spPr>
            <a:xfrm flipV="1">
              <a:off x="114" y="3855"/>
              <a:ext cx="1928" cy="1246"/>
            </a:xfrm>
            <a:prstGeom prst="line">
              <a:avLst/>
            </a:prstGeom>
            <a:ln w="19050" cap="flat" cmpd="sng">
              <a:solidFill>
                <a:schemeClr val="tx1"/>
              </a:solidFill>
              <a:prstDash val="solid"/>
              <a:round/>
              <a:headEnd type="none" w="med" len="med"/>
              <a:tailEnd type="arrow" w="lg" len="lg"/>
            </a:ln>
          </p:spPr>
        </p:sp>
      </p:grpSp>
      <p:sp>
        <p:nvSpPr>
          <p:cNvPr id="12307" name="文本框 12306"/>
          <p:cNvSpPr txBox="1"/>
          <p:nvPr/>
        </p:nvSpPr>
        <p:spPr>
          <a:xfrm>
            <a:off x="6804660" y="1770698"/>
            <a:ext cx="876300" cy="1570990"/>
          </a:xfrm>
          <a:prstGeom prst="rect">
            <a:avLst/>
          </a:prstGeom>
          <a:solidFill>
            <a:schemeClr val="bg1"/>
          </a:solidFill>
          <a:ln w="19050" cap="flat" cmpd="sng">
            <a:solidFill>
              <a:schemeClr val="tx1"/>
            </a:solidFill>
            <a:prstDash val="solid"/>
            <a:miter/>
            <a:headEnd type="none" w="med" len="med"/>
            <a:tailEnd type="none" w="med" len="med"/>
          </a:ln>
        </p:spPr>
        <p:txBody>
          <a:bodyPr wrap="square" lIns="90170" tIns="46990" rIns="90170" bIns="46990" anchor="t">
            <a:spAutoFit/>
          </a:bodyPr>
          <a:lstStyle/>
          <a:p>
            <a:pPr algn="ctr"/>
            <a:endParaRPr lang="zh-CN" altLang="en-US" sz="2400" b="1" dirty="0">
              <a:solidFill>
                <a:srgbClr val="FF0000"/>
              </a:solidFill>
              <a:ea typeface="楷体" panose="02010609060101010101" charset="-122"/>
            </a:endParaRPr>
          </a:p>
          <a:p>
            <a:pPr algn="ctr"/>
            <a:r>
              <a:rPr lang="zh-CN" altLang="en-US" sz="2400" b="1" dirty="0">
                <a:solidFill>
                  <a:srgbClr val="FF0000"/>
                </a:solidFill>
                <a:ea typeface="楷体" panose="02010609060101010101" charset="-122"/>
              </a:rPr>
              <a:t>逻辑模型</a:t>
            </a:r>
          </a:p>
          <a:p>
            <a:pPr algn="ctr"/>
            <a:endParaRPr lang="zh-CN" altLang="en-US" sz="2400" b="1" dirty="0">
              <a:solidFill>
                <a:srgbClr val="FF0000"/>
              </a:solidFill>
              <a:ea typeface="楷体" panose="02010609060101010101" charset="-122"/>
            </a:endParaRPr>
          </a:p>
        </p:txBody>
      </p:sp>
      <p:grpSp>
        <p:nvGrpSpPr>
          <p:cNvPr id="12308" name="组合 12307"/>
          <p:cNvGrpSpPr/>
          <p:nvPr/>
        </p:nvGrpSpPr>
        <p:grpSpPr>
          <a:xfrm>
            <a:off x="8976360" y="1617028"/>
            <a:ext cx="1511300" cy="1656397"/>
            <a:chOff x="0" y="0"/>
            <a:chExt cx="2380" cy="2609"/>
          </a:xfrm>
        </p:grpSpPr>
        <p:grpSp>
          <p:nvGrpSpPr>
            <p:cNvPr id="4" name="组合 12308"/>
            <p:cNvGrpSpPr/>
            <p:nvPr/>
          </p:nvGrpSpPr>
          <p:grpSpPr>
            <a:xfrm>
              <a:off x="0" y="0"/>
              <a:ext cx="2380" cy="2609"/>
              <a:chOff x="0" y="0"/>
              <a:chExt cx="1585" cy="1929"/>
            </a:xfrm>
          </p:grpSpPr>
          <p:sp>
            <p:nvSpPr>
              <p:cNvPr id="12309" name="圆柱形 12309"/>
              <p:cNvSpPr/>
              <p:nvPr/>
            </p:nvSpPr>
            <p:spPr>
              <a:xfrm>
                <a:off x="679" y="0"/>
                <a:ext cx="907" cy="1587"/>
              </a:xfrm>
              <a:prstGeom prst="can">
                <a:avLst>
                  <a:gd name="adj" fmla="val 43741"/>
                </a:avLst>
              </a:prstGeom>
              <a:solidFill>
                <a:schemeClr val="bg1"/>
              </a:solidFill>
              <a:ln w="19050" cap="flat" cmpd="sng">
                <a:solidFill>
                  <a:schemeClr val="tx1"/>
                </a:solidFill>
                <a:prstDash val="solid"/>
                <a:round/>
                <a:headEnd type="none" w="med" len="med"/>
                <a:tailEnd type="none" w="med" len="med"/>
              </a:ln>
            </p:spPr>
            <p:txBody>
              <a:bodyPr wrap="none" lIns="90170" tIns="46990" rIns="90170" bIns="46990" anchor="ctr"/>
              <a:lstStyle/>
              <a:p>
                <a:pPr algn="ctr"/>
                <a:endParaRPr lang="en-US" altLang="en-US" sz="2400">
                  <a:solidFill>
                    <a:srgbClr val="FF0000"/>
                  </a:solidFill>
                  <a:ea typeface="楷体" panose="02010609060101010101" charset="-122"/>
                  <a:cs typeface="Times New Roman" panose="02020603050405020304" pitchFamily="2" charset="0"/>
                </a:endParaRPr>
              </a:p>
            </p:txBody>
          </p:sp>
          <p:sp>
            <p:nvSpPr>
              <p:cNvPr id="12310" name="圆柱形 12310"/>
              <p:cNvSpPr/>
              <p:nvPr/>
            </p:nvSpPr>
            <p:spPr>
              <a:xfrm>
                <a:off x="0" y="343"/>
                <a:ext cx="907" cy="1587"/>
              </a:xfrm>
              <a:prstGeom prst="can">
                <a:avLst>
                  <a:gd name="adj" fmla="val 43741"/>
                </a:avLst>
              </a:prstGeom>
              <a:solidFill>
                <a:schemeClr val="bg1"/>
              </a:solidFill>
              <a:ln w="19050" cap="flat" cmpd="sng">
                <a:solidFill>
                  <a:schemeClr val="tx1"/>
                </a:solidFill>
                <a:prstDash val="solid"/>
                <a:round/>
                <a:headEnd type="none" w="med" len="med"/>
                <a:tailEnd type="none" w="med" len="med"/>
              </a:ln>
            </p:spPr>
            <p:txBody>
              <a:bodyPr wrap="none" lIns="90170" tIns="46990" rIns="90170" bIns="46990" anchor="ctr"/>
              <a:lstStyle/>
              <a:p>
                <a:pPr algn="ctr"/>
                <a:endParaRPr lang="en-US" altLang="en-US" sz="2400">
                  <a:solidFill>
                    <a:srgbClr val="FF0000"/>
                  </a:solidFill>
                  <a:ea typeface="楷体" panose="02010609060101010101" charset="-122"/>
                  <a:cs typeface="Times New Roman" panose="02020603050405020304" pitchFamily="2" charset="0"/>
                </a:endParaRPr>
              </a:p>
            </p:txBody>
          </p:sp>
        </p:grpSp>
        <p:sp>
          <p:nvSpPr>
            <p:cNvPr id="12311" name="文本框 12311"/>
            <p:cNvSpPr txBox="1"/>
            <p:nvPr/>
          </p:nvSpPr>
          <p:spPr>
            <a:xfrm>
              <a:off x="227" y="1133"/>
              <a:ext cx="1702" cy="1163"/>
            </a:xfrm>
            <a:prstGeom prst="rect">
              <a:avLst/>
            </a:prstGeom>
            <a:solidFill>
              <a:schemeClr val="bg1"/>
            </a:solidFill>
            <a:ln w="9525">
              <a:noFill/>
            </a:ln>
          </p:spPr>
          <p:txBody>
            <a:bodyPr wrap="square" lIns="90170" tIns="0" rIns="90170" bIns="0" anchor="t">
              <a:spAutoFit/>
            </a:bodyPr>
            <a:lstStyle/>
            <a:p>
              <a:pPr algn="dist">
                <a:lnSpc>
                  <a:spcPct val="100000"/>
                </a:lnSpc>
                <a:spcBef>
                  <a:spcPts val="0"/>
                </a:spcBef>
                <a:spcAft>
                  <a:spcPts val="0"/>
                </a:spcAft>
              </a:pPr>
              <a:r>
                <a:rPr lang="zh-CN" altLang="en-US" sz="2400" b="1" dirty="0">
                  <a:solidFill>
                    <a:srgbClr val="FF0000"/>
                  </a:solidFill>
                  <a:ea typeface="楷体" panose="02010609060101010101" charset="-122"/>
                </a:rPr>
                <a:t>物理模型</a:t>
              </a:r>
            </a:p>
          </p:txBody>
        </p:sp>
      </p:grpSp>
      <p:grpSp>
        <p:nvGrpSpPr>
          <p:cNvPr id="12313" name="组合 12312"/>
          <p:cNvGrpSpPr/>
          <p:nvPr/>
        </p:nvGrpSpPr>
        <p:grpSpPr>
          <a:xfrm>
            <a:off x="7726998" y="1256665"/>
            <a:ext cx="1223962" cy="3551285"/>
            <a:chOff x="0" y="0"/>
            <a:chExt cx="1928" cy="5592"/>
          </a:xfrm>
        </p:grpSpPr>
        <p:sp>
          <p:nvSpPr>
            <p:cNvPr id="5" name="箭头 2275"/>
            <p:cNvSpPr/>
            <p:nvPr/>
          </p:nvSpPr>
          <p:spPr>
            <a:xfrm>
              <a:off x="0" y="2012"/>
              <a:ext cx="1928" cy="1"/>
            </a:xfrm>
            <a:prstGeom prst="line">
              <a:avLst/>
            </a:prstGeom>
            <a:ln w="19050" cap="flat" cmpd="sng">
              <a:solidFill>
                <a:schemeClr val="tx1"/>
              </a:solidFill>
              <a:prstDash val="solid"/>
              <a:round/>
              <a:headEnd type="none" w="med" len="med"/>
              <a:tailEnd type="arrow" w="lg" len="lg"/>
            </a:ln>
          </p:spPr>
        </p:sp>
        <p:sp>
          <p:nvSpPr>
            <p:cNvPr id="12314" name="直接连接符 12314"/>
            <p:cNvSpPr/>
            <p:nvPr/>
          </p:nvSpPr>
          <p:spPr>
            <a:xfrm flipH="1">
              <a:off x="947" y="0"/>
              <a:ext cx="1" cy="4081"/>
            </a:xfrm>
            <a:prstGeom prst="line">
              <a:avLst/>
            </a:prstGeom>
            <a:ln w="25400" cap="flat" cmpd="sng">
              <a:solidFill>
                <a:srgbClr val="0000FF"/>
              </a:solidFill>
              <a:prstDash val="solid"/>
              <a:round/>
              <a:headEnd type="none" w="med" len="med"/>
              <a:tailEnd type="none" w="med" len="med"/>
            </a:ln>
          </p:spPr>
        </p:sp>
        <p:sp>
          <p:nvSpPr>
            <p:cNvPr id="12315" name="文本框 12315"/>
            <p:cNvSpPr txBox="1"/>
            <p:nvPr/>
          </p:nvSpPr>
          <p:spPr>
            <a:xfrm>
              <a:off x="284" y="4867"/>
              <a:ext cx="1361" cy="725"/>
            </a:xfrm>
            <a:prstGeom prst="rect">
              <a:avLst/>
            </a:prstGeom>
            <a:noFill/>
            <a:ln w="9525">
              <a:noFill/>
            </a:ln>
          </p:spPr>
          <p:txBody>
            <a:bodyPr wrap="square" anchor="t">
              <a:spAutoFit/>
            </a:bodyPr>
            <a:lstStyle/>
            <a:p>
              <a:pPr algn="ctr"/>
              <a:r>
                <a:rPr lang="zh-CN" altLang="en-US" sz="2400" b="1" dirty="0">
                  <a:solidFill>
                    <a:srgbClr val="FF0000"/>
                  </a:solidFill>
                  <a:ea typeface="楷体" panose="02010609060101010101" charset="-122"/>
                </a:rPr>
                <a:t>映射</a:t>
              </a:r>
            </a:p>
          </p:txBody>
        </p:sp>
      </p:grpSp>
      <p:grpSp>
        <p:nvGrpSpPr>
          <p:cNvPr id="12317" name="组合 12316"/>
          <p:cNvGrpSpPr/>
          <p:nvPr/>
        </p:nvGrpSpPr>
        <p:grpSpPr>
          <a:xfrm>
            <a:off x="5591810" y="1240790"/>
            <a:ext cx="1223963" cy="3566885"/>
            <a:chOff x="0" y="0"/>
            <a:chExt cx="1928" cy="5616"/>
          </a:xfrm>
        </p:grpSpPr>
        <p:sp>
          <p:nvSpPr>
            <p:cNvPr id="6" name="箭头 2275"/>
            <p:cNvSpPr/>
            <p:nvPr/>
          </p:nvSpPr>
          <p:spPr>
            <a:xfrm>
              <a:off x="0" y="2064"/>
              <a:ext cx="1928" cy="1"/>
            </a:xfrm>
            <a:prstGeom prst="line">
              <a:avLst/>
            </a:prstGeom>
            <a:ln w="19050" cap="flat" cmpd="sng">
              <a:solidFill>
                <a:schemeClr val="tx1"/>
              </a:solidFill>
              <a:prstDash val="solid"/>
              <a:round/>
              <a:headEnd type="none" w="med" len="med"/>
              <a:tailEnd type="arrow" w="lg" len="lg"/>
            </a:ln>
          </p:spPr>
        </p:sp>
        <p:sp>
          <p:nvSpPr>
            <p:cNvPr id="12318" name="文本框 12318"/>
            <p:cNvSpPr txBox="1"/>
            <p:nvPr/>
          </p:nvSpPr>
          <p:spPr>
            <a:xfrm>
              <a:off x="328" y="4891"/>
              <a:ext cx="1361" cy="725"/>
            </a:xfrm>
            <a:prstGeom prst="rect">
              <a:avLst/>
            </a:prstGeom>
            <a:noFill/>
            <a:ln w="9525">
              <a:noFill/>
            </a:ln>
          </p:spPr>
          <p:txBody>
            <a:bodyPr wrap="square" anchor="t">
              <a:spAutoFit/>
            </a:bodyPr>
            <a:lstStyle/>
            <a:p>
              <a:pPr algn="ctr"/>
              <a:r>
                <a:rPr lang="zh-CN" altLang="en-US" sz="2400" b="1" dirty="0">
                  <a:solidFill>
                    <a:srgbClr val="FF0000"/>
                  </a:solidFill>
                  <a:ea typeface="楷体" panose="02010609060101010101" charset="-122"/>
                </a:rPr>
                <a:t>转换</a:t>
              </a:r>
            </a:p>
          </p:txBody>
        </p:sp>
        <p:sp>
          <p:nvSpPr>
            <p:cNvPr id="12319" name="直接连接符 12319"/>
            <p:cNvSpPr/>
            <p:nvPr/>
          </p:nvSpPr>
          <p:spPr>
            <a:xfrm flipH="1">
              <a:off x="1008" y="0"/>
              <a:ext cx="1" cy="4081"/>
            </a:xfrm>
            <a:prstGeom prst="line">
              <a:avLst/>
            </a:prstGeom>
            <a:ln w="25400" cap="flat" cmpd="sng">
              <a:solidFill>
                <a:srgbClr val="0000FF"/>
              </a:solidFill>
              <a:prstDash val="solid"/>
              <a:round/>
              <a:headEnd type="none" w="med" len="med"/>
              <a:tailEnd type="none" w="med" len="med"/>
            </a:ln>
          </p:spPr>
        </p:sp>
      </p:grpSp>
      <p:grpSp>
        <p:nvGrpSpPr>
          <p:cNvPr id="10" name="组合 9"/>
          <p:cNvGrpSpPr/>
          <p:nvPr/>
        </p:nvGrpSpPr>
        <p:grpSpPr>
          <a:xfrm>
            <a:off x="4296410" y="4047490"/>
            <a:ext cx="6264910" cy="2055497"/>
            <a:chOff x="4366" y="6850"/>
            <a:chExt cx="9866" cy="3237"/>
          </a:xfrm>
        </p:grpSpPr>
        <p:grpSp>
          <p:nvGrpSpPr>
            <p:cNvPr id="12321" name="组合 12320"/>
            <p:cNvGrpSpPr/>
            <p:nvPr/>
          </p:nvGrpSpPr>
          <p:grpSpPr>
            <a:xfrm>
              <a:off x="4366" y="6875"/>
              <a:ext cx="2606" cy="2961"/>
              <a:chOff x="0" y="0"/>
              <a:chExt cx="2607" cy="2960"/>
            </a:xfrm>
          </p:grpSpPr>
          <p:sp>
            <p:nvSpPr>
              <p:cNvPr id="7" name="上箭头 12321"/>
              <p:cNvSpPr/>
              <p:nvPr/>
            </p:nvSpPr>
            <p:spPr>
              <a:xfrm>
                <a:off x="1019"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lstStyle/>
              <a:p>
                <a:pPr algn="ctr"/>
                <a:endParaRPr lang="zh-CN" altLang="en-US" sz="2400">
                  <a:cs typeface="Times New Roman" panose="02020603050405020304" pitchFamily="2" charset="0"/>
                </a:endParaRPr>
              </a:p>
            </p:txBody>
          </p:sp>
          <p:sp>
            <p:nvSpPr>
              <p:cNvPr id="12322" name="文本框 12322"/>
              <p:cNvSpPr txBox="1"/>
              <p:nvPr/>
            </p:nvSpPr>
            <p:spPr>
              <a:xfrm>
                <a:off x="0" y="1927"/>
                <a:ext cx="2607" cy="1033"/>
              </a:xfrm>
              <a:prstGeom prst="rect">
                <a:avLst/>
              </a:prstGeom>
              <a:noFill/>
              <a:ln w="9525">
                <a:noFill/>
              </a:ln>
            </p:spPr>
            <p:txBody>
              <a:bodyPr wrap="square" lIns="0" tIns="46990" rIns="0" bIns="46990" anchor="t">
                <a:spAutoFit/>
              </a:bodyPr>
              <a:lstStyle/>
              <a:p>
                <a:pPr algn="ctr"/>
                <a:r>
                  <a:rPr lang="zh-CN" altLang="en-US" sz="2400" b="1" dirty="0">
                    <a:ea typeface="楷体" panose="02010609060101010101" charset="-122"/>
                  </a:rPr>
                  <a:t>面向客观世界和用户</a:t>
                </a:r>
              </a:p>
            </p:txBody>
          </p:sp>
        </p:grpSp>
        <p:grpSp>
          <p:nvGrpSpPr>
            <p:cNvPr id="12324" name="组合 12323"/>
            <p:cNvGrpSpPr/>
            <p:nvPr/>
          </p:nvGrpSpPr>
          <p:grpSpPr>
            <a:xfrm>
              <a:off x="7731" y="6850"/>
              <a:ext cx="2606" cy="2779"/>
              <a:chOff x="0" y="0"/>
              <a:chExt cx="2607" cy="2781"/>
            </a:xfrm>
          </p:grpSpPr>
          <p:sp>
            <p:nvSpPr>
              <p:cNvPr id="8" name="上箭头 12324"/>
              <p:cNvSpPr/>
              <p:nvPr/>
            </p:nvSpPr>
            <p:spPr>
              <a:xfrm>
                <a:off x="1019"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lstStyle/>
              <a:p>
                <a:pPr algn="ctr"/>
                <a:endParaRPr lang="zh-CN" altLang="en-US" sz="2400">
                  <a:cs typeface="Times New Roman" panose="02020603050405020304" pitchFamily="2" charset="0"/>
                </a:endParaRPr>
              </a:p>
            </p:txBody>
          </p:sp>
          <p:sp>
            <p:nvSpPr>
              <p:cNvPr id="12325" name="文本框 12325"/>
              <p:cNvSpPr txBox="1"/>
              <p:nvPr/>
            </p:nvSpPr>
            <p:spPr>
              <a:xfrm>
                <a:off x="0" y="1927"/>
                <a:ext cx="2607" cy="854"/>
              </a:xfrm>
              <a:prstGeom prst="rect">
                <a:avLst/>
              </a:prstGeom>
              <a:noFill/>
              <a:ln w="9525">
                <a:noFill/>
              </a:ln>
            </p:spPr>
            <p:txBody>
              <a:bodyPr wrap="square" lIns="0" tIns="46990" rIns="0" bIns="46990" anchor="t">
                <a:spAutoFit/>
              </a:bodyPr>
              <a:lstStyle/>
              <a:p>
                <a:pPr algn="ctr"/>
                <a:r>
                  <a:rPr lang="zh-CN" altLang="en-US" sz="2400" b="1" dirty="0">
                    <a:ea typeface="楷体" panose="02010609060101010101" charset="-122"/>
                    <a:cs typeface="Times New Roman" panose="02020603050405020304" pitchFamily="2" charset="0"/>
                  </a:rPr>
                  <a:t>面向数据库系统和DBA</a:t>
                </a:r>
              </a:p>
            </p:txBody>
          </p:sp>
        </p:grpSp>
        <p:grpSp>
          <p:nvGrpSpPr>
            <p:cNvPr id="12327" name="组合 12326"/>
            <p:cNvGrpSpPr/>
            <p:nvPr/>
          </p:nvGrpSpPr>
          <p:grpSpPr>
            <a:xfrm>
              <a:off x="10905" y="6850"/>
              <a:ext cx="3327" cy="3237"/>
              <a:chOff x="-441" y="0"/>
              <a:chExt cx="3326" cy="3239"/>
            </a:xfrm>
          </p:grpSpPr>
          <p:sp>
            <p:nvSpPr>
              <p:cNvPr id="9" name="上箭头 12327"/>
              <p:cNvSpPr/>
              <p:nvPr/>
            </p:nvSpPr>
            <p:spPr>
              <a:xfrm>
                <a:off x="1244"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lstStyle/>
              <a:p>
                <a:pPr algn="ctr"/>
                <a:endParaRPr lang="zh-CN" altLang="en-US" sz="2400">
                  <a:cs typeface="Times New Roman" panose="02020603050405020304" pitchFamily="2" charset="0"/>
                </a:endParaRPr>
              </a:p>
            </p:txBody>
          </p:sp>
          <p:sp>
            <p:nvSpPr>
              <p:cNvPr id="12328" name="文本框 12328"/>
              <p:cNvSpPr txBox="1"/>
              <p:nvPr/>
            </p:nvSpPr>
            <p:spPr>
              <a:xfrm>
                <a:off x="-441" y="1927"/>
                <a:ext cx="3326" cy="1312"/>
              </a:xfrm>
              <a:prstGeom prst="rect">
                <a:avLst/>
              </a:prstGeom>
              <a:noFill/>
              <a:ln w="9525">
                <a:noFill/>
              </a:ln>
            </p:spPr>
            <p:txBody>
              <a:bodyPr wrap="square" lIns="0" tIns="46990" rIns="0" bIns="46990" anchor="t">
                <a:spAutoFit/>
              </a:bodyPr>
              <a:lstStyle/>
              <a:p>
                <a:pPr algn="ctr"/>
                <a:r>
                  <a:rPr lang="zh-CN" altLang="en-US" sz="2400" b="1" dirty="0">
                    <a:ea typeface="楷体" panose="02010609060101010101" charset="-122"/>
                  </a:rPr>
                  <a:t>面向计算机系统和物理实现</a:t>
                </a:r>
              </a:p>
            </p:txBody>
          </p:sp>
        </p:grpSp>
      </p:grpSp>
      <p:sp>
        <p:nvSpPr>
          <p:cNvPr id="11" name="灯片编号占位符 10"/>
          <p:cNvSpPr>
            <a:spLocks noGrp="1"/>
          </p:cNvSpPr>
          <p:nvPr>
            <p:ph type="sldNum" sz="quarter" idx="11"/>
          </p:nvPr>
        </p:nvSpPr>
        <p:spPr>
          <a:xfrm>
            <a:off x="0" y="6695365"/>
            <a:ext cx="4114800"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68</a:t>
            </a:fld>
            <a:endParaRPr lang="zh-CN" altLang="en-US" strike="noStrike" noProof="1"/>
          </a:p>
        </p:txBody>
      </p:sp>
      <p:sp>
        <p:nvSpPr>
          <p:cNvPr id="12" name="页脚占位符 1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blinds(horizontal)">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300"/>
                                        </p:tgtEl>
                                        <p:attrNameLst>
                                          <p:attrName>style.visibility</p:attrName>
                                        </p:attrNameLst>
                                      </p:cBhvr>
                                      <p:to>
                                        <p:strVal val="visible"/>
                                      </p:to>
                                    </p:set>
                                    <p:animEffect transition="in" filter="blinds(horizontal)">
                                      <p:cBhvr>
                                        <p:cTn id="12" dur="500"/>
                                        <p:tgtEl>
                                          <p:spTgt spid="12300"/>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1229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317"/>
                                        </p:tgtEl>
                                        <p:attrNameLst>
                                          <p:attrName>style.visibility</p:attrName>
                                        </p:attrNameLst>
                                      </p:cBhvr>
                                      <p:to>
                                        <p:strVal val="visible"/>
                                      </p:to>
                                    </p:set>
                                    <p:animEffect transition="in" filter="blinds(horizontal)">
                                      <p:cBhvr>
                                        <p:cTn id="20" dur="500"/>
                                        <p:tgtEl>
                                          <p:spTgt spid="12317"/>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230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2313"/>
                                        </p:tgtEl>
                                        <p:attrNameLst>
                                          <p:attrName>style.visibility</p:attrName>
                                        </p:attrNameLst>
                                      </p:cBhvr>
                                      <p:to>
                                        <p:strVal val="visible"/>
                                      </p:to>
                                    </p:set>
                                    <p:animEffect transition="in" filter="blinds(horizontal)">
                                      <p:cBhvr>
                                        <p:cTn id="28" dur="500"/>
                                        <p:tgtEl>
                                          <p:spTgt spid="12313"/>
                                        </p:tgtEl>
                                      </p:cBhvr>
                                    </p:animEffec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1230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linds(horizontal)">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bldLvl="0" animBg="1"/>
      <p:bldP spid="12307"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dirty="0"/>
              <a:t>1.2.2  </a:t>
            </a:r>
            <a:r>
              <a:rPr lang="zh-CN" altLang="en-US" dirty="0"/>
              <a:t>概念模型</a:t>
            </a:r>
          </a:p>
        </p:txBody>
      </p:sp>
      <p:sp>
        <p:nvSpPr>
          <p:cNvPr id="60419"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概念模型的用途</a:t>
            </a:r>
            <a:endParaRPr lang="zh-CN" altLang="en-US" dirty="0">
              <a:solidFill>
                <a:srgbClr val="1F2DA8"/>
              </a:solidFill>
            </a:endParaRPr>
          </a:p>
          <a:p>
            <a:pPr lvl="1">
              <a:lnSpc>
                <a:spcPct val="100000"/>
              </a:lnSpc>
              <a:spcBef>
                <a:spcPct val="0"/>
              </a:spcBef>
            </a:pPr>
            <a:r>
              <a:rPr lang="zh-CN" altLang="en-US" dirty="0">
                <a:solidFill>
                  <a:srgbClr val="1F2DA8"/>
                </a:solidFill>
              </a:rPr>
              <a:t>概念模型用于信息世界的建模</a:t>
            </a:r>
          </a:p>
          <a:p>
            <a:pPr lvl="1">
              <a:lnSpc>
                <a:spcPct val="100000"/>
              </a:lnSpc>
              <a:spcBef>
                <a:spcPct val="0"/>
              </a:spcBef>
            </a:pPr>
            <a:r>
              <a:rPr lang="zh-CN" altLang="en-US" dirty="0">
                <a:solidFill>
                  <a:srgbClr val="1F2DA8"/>
                </a:solidFill>
              </a:rPr>
              <a:t>是现实世界到机器世界的一个中间层次</a:t>
            </a:r>
          </a:p>
          <a:p>
            <a:pPr lvl="1">
              <a:lnSpc>
                <a:spcPct val="100000"/>
              </a:lnSpc>
              <a:spcBef>
                <a:spcPct val="0"/>
              </a:spcBef>
            </a:pPr>
            <a:r>
              <a:rPr lang="zh-CN" altLang="en-US" dirty="0">
                <a:solidFill>
                  <a:srgbClr val="1F2DA8"/>
                </a:solidFill>
              </a:rPr>
              <a:t>是数据库设计的有力工具</a:t>
            </a:r>
          </a:p>
          <a:p>
            <a:pPr lvl="1">
              <a:lnSpc>
                <a:spcPct val="100000"/>
              </a:lnSpc>
              <a:spcBef>
                <a:spcPct val="0"/>
              </a:spcBef>
            </a:pPr>
            <a:r>
              <a:rPr lang="zh-CN" altLang="en-US" dirty="0">
                <a:solidFill>
                  <a:srgbClr val="1F2DA8"/>
                </a:solidFill>
              </a:rPr>
              <a:t>是数据库设计人员和用户之间进行交流的语言</a:t>
            </a:r>
          </a:p>
          <a:p>
            <a:pPr>
              <a:lnSpc>
                <a:spcPct val="100000"/>
              </a:lnSpc>
              <a:spcBef>
                <a:spcPts val="2000"/>
              </a:spcBef>
            </a:pPr>
            <a:r>
              <a:rPr lang="zh-CN" altLang="en-US" dirty="0">
                <a:solidFill>
                  <a:srgbClr val="FF0000"/>
                </a:solidFill>
              </a:rPr>
              <a:t>对概念模型的基本要求</a:t>
            </a:r>
            <a:endParaRPr lang="zh-CN" altLang="en-US" dirty="0">
              <a:solidFill>
                <a:srgbClr val="1F2DA8"/>
              </a:solidFill>
            </a:endParaRPr>
          </a:p>
          <a:p>
            <a:pPr lvl="1">
              <a:lnSpc>
                <a:spcPct val="100000"/>
              </a:lnSpc>
              <a:spcBef>
                <a:spcPct val="0"/>
              </a:spcBef>
            </a:pPr>
            <a:r>
              <a:rPr lang="zh-CN" altLang="en-US" dirty="0">
                <a:solidFill>
                  <a:srgbClr val="1F2DA8"/>
                </a:solidFill>
              </a:rPr>
              <a:t>较强的语义表达能力</a:t>
            </a:r>
          </a:p>
          <a:p>
            <a:pPr lvl="1">
              <a:lnSpc>
                <a:spcPct val="100000"/>
              </a:lnSpc>
              <a:spcBef>
                <a:spcPct val="0"/>
              </a:spcBef>
            </a:pPr>
            <a:r>
              <a:rPr lang="zh-CN" altLang="en-US" dirty="0">
                <a:solidFill>
                  <a:srgbClr val="1F2DA8"/>
                </a:solidFill>
              </a:rPr>
              <a:t>简单、清晰、易于用户理解</a:t>
            </a:r>
          </a:p>
          <a:p>
            <a:pPr lvl="0">
              <a:lnSpc>
                <a:spcPct val="100000"/>
              </a:lnSpc>
              <a:spcBef>
                <a:spcPts val="2000"/>
              </a:spcBef>
            </a:pPr>
            <a:r>
              <a:rPr lang="zh-CN" altLang="en-US" sz="2800" dirty="0">
                <a:solidFill>
                  <a:srgbClr val="FF0000"/>
                </a:solidFill>
                <a:sym typeface="+mn-ea"/>
              </a:rPr>
              <a:t>概念模型的特点</a:t>
            </a:r>
            <a:endParaRPr lang="zh-CN" altLang="en-US" sz="2800" dirty="0">
              <a:solidFill>
                <a:srgbClr val="1F2DA8"/>
              </a:solidFill>
            </a:endParaRPr>
          </a:p>
          <a:p>
            <a:pPr lvl="1" eaLnBrk="1" hangingPunct="1">
              <a:lnSpc>
                <a:spcPct val="100000"/>
              </a:lnSpc>
              <a:spcBef>
                <a:spcPct val="0"/>
              </a:spcBef>
            </a:pPr>
            <a:r>
              <a:rPr lang="zh-CN" altLang="en-US" sz="2800" dirty="0">
                <a:solidFill>
                  <a:srgbClr val="1F2DA8"/>
                </a:solidFill>
                <a:sym typeface="+mn-ea"/>
              </a:rPr>
              <a:t>侧重于对客观世界中复杂事物的结构描述及它们之间的内在联系的刻划，不涉及具体的描述细节和物理实现因素。</a:t>
            </a:r>
            <a:endParaRPr lang="zh-CN" altLang="en-US" sz="2800" dirty="0">
              <a:solidFill>
                <a:srgbClr val="1F2DA8"/>
              </a:solidFill>
            </a:endParaRPr>
          </a:p>
          <a:p>
            <a:pPr lvl="1" eaLnBrk="1" hangingPunct="1">
              <a:lnSpc>
                <a:spcPct val="100000"/>
              </a:lnSpc>
              <a:spcBef>
                <a:spcPct val="0"/>
              </a:spcBef>
            </a:pPr>
            <a:r>
              <a:rPr lang="zh-CN" altLang="en-US" sz="2800" dirty="0">
                <a:solidFill>
                  <a:srgbClr val="1F2DA8"/>
                </a:solidFill>
                <a:sym typeface="+mn-ea"/>
              </a:rPr>
              <a:t>是一种面向客观世界和用户的模型，与</a:t>
            </a:r>
            <a:r>
              <a:rPr lang="en-US" altLang="x-none" sz="2800" dirty="0">
                <a:solidFill>
                  <a:srgbClr val="1F2DA8"/>
                </a:solidFill>
                <a:sym typeface="+mn-ea"/>
              </a:rPr>
              <a:t>DBMS</a:t>
            </a:r>
            <a:r>
              <a:rPr lang="zh-CN" altLang="en-US" sz="2800" dirty="0">
                <a:solidFill>
                  <a:srgbClr val="1F2DA8"/>
                </a:solidFill>
                <a:sym typeface="+mn-ea"/>
              </a:rPr>
              <a:t>及计算机实现无关。</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69</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7" dur="500"/>
                                        <p:tgtEl>
                                          <p:spTgt spid="60419">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10" dur="500"/>
                                        <p:tgtEl>
                                          <p:spTgt spid="60419">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13" dur="500"/>
                                        <p:tgtEl>
                                          <p:spTgt spid="60419">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0419">
                                            <p:txEl>
                                              <p:pRg st="8" end="8"/>
                                            </p:txEl>
                                          </p:spTgt>
                                        </p:tgtEl>
                                        <p:attrNameLst>
                                          <p:attrName>style.visibility</p:attrName>
                                        </p:attrNameLst>
                                      </p:cBhvr>
                                      <p:to>
                                        <p:strVal val="visible"/>
                                      </p:to>
                                    </p:set>
                                    <p:anim calcmode="lin" valueType="num">
                                      <p:cBhvr additive="base">
                                        <p:cTn id="18" dur="500" fill="hold"/>
                                        <p:tgtEl>
                                          <p:spTgt spid="60419">
                                            <p:txEl>
                                              <p:pRg st="8" end="8"/>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0419">
                                            <p:txEl>
                                              <p:pRg st="8" end="8"/>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60419">
                                            <p:txEl>
                                              <p:pRg st="9" end="9"/>
                                            </p:txEl>
                                          </p:spTgt>
                                        </p:tgtEl>
                                        <p:attrNameLst>
                                          <p:attrName>style.visibility</p:attrName>
                                        </p:attrNameLst>
                                      </p:cBhvr>
                                      <p:to>
                                        <p:strVal val="visible"/>
                                      </p:to>
                                    </p:set>
                                    <p:anim calcmode="lin" valueType="num">
                                      <p:cBhvr additive="base">
                                        <p:cTn id="22" dur="500" fill="hold"/>
                                        <p:tgtEl>
                                          <p:spTgt spid="60419">
                                            <p:txEl>
                                              <p:pRg st="9" end="9"/>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0419">
                                            <p:txEl>
                                              <p:pRg st="9" end="9"/>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60419">
                                            <p:txEl>
                                              <p:pRg st="10" end="10"/>
                                            </p:txEl>
                                          </p:spTgt>
                                        </p:tgtEl>
                                        <p:attrNameLst>
                                          <p:attrName>style.visibility</p:attrName>
                                        </p:attrNameLst>
                                      </p:cBhvr>
                                      <p:to>
                                        <p:strVal val="visible"/>
                                      </p:to>
                                    </p:set>
                                    <p:anim calcmode="lin" valueType="num">
                                      <p:cBhvr additive="base">
                                        <p:cTn id="26" dur="500" fill="hold"/>
                                        <p:tgtEl>
                                          <p:spTgt spid="60419">
                                            <p:txEl>
                                              <p:pRg st="10" end="1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041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dirty="0"/>
              <a:t>信息世界中的基本概念（</a:t>
            </a:r>
            <a:r>
              <a:rPr lang="en-US" altLang="zh-CN" dirty="0"/>
              <a:t>1</a:t>
            </a:r>
            <a:r>
              <a:rPr lang="zh-CN" altLang="en-US" dirty="0"/>
              <a:t>）</a:t>
            </a:r>
          </a:p>
        </p:txBody>
      </p:sp>
      <p:sp>
        <p:nvSpPr>
          <p:cNvPr id="62467" name="Rectangle 3"/>
          <p:cNvSpPr>
            <a:spLocks noGrp="1" noChangeArrowheads="1"/>
          </p:cNvSpPr>
          <p:nvPr>
            <p:ph idx="1"/>
          </p:nvPr>
        </p:nvSpPr>
        <p:spPr/>
        <p:txBody>
          <a:bodyPr>
            <a:noAutofit/>
          </a:bodyPr>
          <a:lstStyle/>
          <a:p>
            <a:pPr>
              <a:lnSpc>
                <a:spcPct val="100000"/>
              </a:lnSpc>
            </a:pPr>
            <a:r>
              <a:rPr lang="zh-CN" altLang="en-US" dirty="0">
                <a:solidFill>
                  <a:srgbClr val="FF0000"/>
                </a:solidFill>
              </a:rPr>
              <a:t>实体</a:t>
            </a:r>
            <a:r>
              <a:rPr lang="zh-CN" altLang="en-US" dirty="0"/>
              <a:t>（</a:t>
            </a:r>
            <a:r>
              <a:rPr lang="en-US" altLang="zh-CN" dirty="0"/>
              <a:t>Entity</a:t>
            </a:r>
            <a:r>
              <a:rPr lang="zh-CN" altLang="en-US" dirty="0"/>
              <a:t>） </a:t>
            </a:r>
          </a:p>
          <a:p>
            <a:pPr lvl="1">
              <a:lnSpc>
                <a:spcPct val="100000"/>
              </a:lnSpc>
            </a:pPr>
            <a:r>
              <a:rPr lang="zh-CN" altLang="en-US" dirty="0"/>
              <a:t>客观存在并可相互区别的事物称为实体。可以是具体的人、事、物或抽象的概念。</a:t>
            </a:r>
          </a:p>
          <a:p>
            <a:pPr lvl="1">
              <a:lnSpc>
                <a:spcPct val="100000"/>
              </a:lnSpc>
            </a:pPr>
            <a:r>
              <a:rPr lang="zh-CN" altLang="en-US" dirty="0">
                <a:sym typeface="+mn-ea"/>
              </a:rPr>
              <a:t>每一个实体有</a:t>
            </a:r>
            <a:r>
              <a:rPr lang="zh-CN" altLang="en-US" dirty="0">
                <a:latin typeface="Times New Roman" panose="02020603050405020304" pitchFamily="2" charset="0"/>
                <a:cs typeface="Times New Roman" panose="02020603050405020304" pitchFamily="2" charset="0"/>
                <a:sym typeface="+mn-ea"/>
              </a:rPr>
              <a:t>一个</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实体名</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，同类实体具有相同的实体名。</a:t>
            </a:r>
            <a:endParaRPr lang="zh-CN" altLang="en-US" dirty="0"/>
          </a:p>
          <a:p>
            <a:pPr>
              <a:lnSpc>
                <a:spcPct val="100000"/>
              </a:lnSpc>
              <a:spcBef>
                <a:spcPts val="2000"/>
              </a:spcBef>
            </a:pPr>
            <a:r>
              <a:rPr lang="zh-CN" altLang="en-US" dirty="0">
                <a:solidFill>
                  <a:srgbClr val="FF0000"/>
                </a:solidFill>
              </a:rPr>
              <a:t>属性</a:t>
            </a:r>
            <a:r>
              <a:rPr lang="zh-CN" altLang="en-US" dirty="0"/>
              <a:t>（</a:t>
            </a:r>
            <a:r>
              <a:rPr lang="en-US" altLang="zh-CN" dirty="0"/>
              <a:t>Attribute</a:t>
            </a:r>
            <a:r>
              <a:rPr lang="zh-CN" altLang="en-US" dirty="0"/>
              <a:t>） </a:t>
            </a:r>
          </a:p>
          <a:p>
            <a:pPr lvl="1">
              <a:lnSpc>
                <a:spcPct val="100000"/>
              </a:lnSpc>
            </a:pPr>
            <a:r>
              <a:rPr lang="zh-CN" altLang="en-US" dirty="0"/>
              <a:t>实体具有的某一特性称为属性。一个实体可以由若干个属性来刻画。  </a:t>
            </a:r>
          </a:p>
          <a:p>
            <a:pPr lvl="1">
              <a:lnSpc>
                <a:spcPct val="100000"/>
              </a:lnSpc>
            </a:pPr>
            <a:r>
              <a:rPr lang="zh-CN" altLang="en-US" dirty="0">
                <a:latin typeface="Times New Roman" panose="02020603050405020304" pitchFamily="2" charset="0"/>
                <a:cs typeface="Times New Roman" panose="02020603050405020304" pitchFamily="2" charset="0"/>
                <a:sym typeface="+mn-ea"/>
              </a:rPr>
              <a:t>每一个属性有一个</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属性名</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，在同一个实体内属性名互不相同。</a:t>
            </a:r>
          </a:p>
          <a:p>
            <a:pPr lvl="1">
              <a:lnSpc>
                <a:spcPct val="100000"/>
              </a:lnSpc>
            </a:pPr>
            <a:r>
              <a:rPr lang="zh-CN" altLang="en-US" dirty="0">
                <a:latin typeface="Times New Roman" panose="02020603050405020304" pitchFamily="2" charset="0"/>
                <a:cs typeface="Times New Roman" panose="02020603050405020304" pitchFamily="2" charset="0"/>
                <a:sym typeface="+mn-ea"/>
              </a:rPr>
              <a:t>同类实体有相同的属性组成，但在同名属性上的取值可能互不相同</a:t>
            </a:r>
            <a:endParaRPr lang="zh-CN" altLang="en-US" dirty="0"/>
          </a:p>
          <a:p>
            <a:pPr>
              <a:lnSpc>
                <a:spcPct val="100000"/>
              </a:lnSpc>
              <a:spcBef>
                <a:spcPts val="2000"/>
              </a:spcBef>
            </a:pPr>
            <a:r>
              <a:rPr lang="zh-CN" altLang="en-US" sz="3000" dirty="0">
                <a:solidFill>
                  <a:srgbClr val="FF0000"/>
                </a:solidFill>
                <a:sym typeface="+mn-ea"/>
              </a:rPr>
              <a:t>联系</a:t>
            </a:r>
            <a:r>
              <a:rPr lang="zh-CN" altLang="en-US" sz="3000" dirty="0">
                <a:sym typeface="+mn-ea"/>
              </a:rPr>
              <a:t>（</a:t>
            </a:r>
            <a:r>
              <a:rPr lang="en-US" altLang="zh-CN" sz="3000" dirty="0">
                <a:sym typeface="+mn-ea"/>
              </a:rPr>
              <a:t>Relationship</a:t>
            </a:r>
            <a:r>
              <a:rPr lang="zh-CN" altLang="en-US" sz="3000" dirty="0">
                <a:sym typeface="+mn-ea"/>
              </a:rPr>
              <a:t>）  </a:t>
            </a:r>
            <a:endParaRPr lang="zh-CN" altLang="en-US" sz="3000" dirty="0"/>
          </a:p>
          <a:p>
            <a:pPr lvl="1">
              <a:lnSpc>
                <a:spcPct val="100000"/>
              </a:lnSpc>
            </a:pPr>
            <a:r>
              <a:rPr lang="zh-CN" altLang="en-US" sz="3000" dirty="0">
                <a:sym typeface="+mn-ea"/>
              </a:rPr>
              <a:t>现实世界中事物内部以及事物之间的联系，在信息世界中反映为</a:t>
            </a:r>
            <a:r>
              <a:rPr lang="zh-CN" altLang="en-US" sz="3000" dirty="0">
                <a:solidFill>
                  <a:srgbClr val="C00000"/>
                </a:solidFill>
                <a:sym typeface="+mn-ea"/>
              </a:rPr>
              <a:t>实体（型）内部的联系</a:t>
            </a:r>
            <a:r>
              <a:rPr lang="zh-CN" altLang="en-US" sz="3000" dirty="0">
                <a:sym typeface="+mn-ea"/>
              </a:rPr>
              <a:t>和</a:t>
            </a:r>
            <a:r>
              <a:rPr lang="zh-CN" altLang="en-US" sz="3000" dirty="0">
                <a:solidFill>
                  <a:srgbClr val="C00000"/>
                </a:solidFill>
                <a:sym typeface="+mn-ea"/>
              </a:rPr>
              <a:t>实体（型）之间的联系</a:t>
            </a:r>
            <a:r>
              <a:rPr lang="zh-CN" altLang="en-US" sz="3000" dirty="0">
                <a:sym typeface="+mn-ea"/>
              </a:rPr>
              <a:t>。</a:t>
            </a:r>
            <a:endParaRPr lang="zh-CN" altLang="en-US" sz="3000" dirty="0"/>
          </a:p>
          <a:p>
            <a:pPr lvl="1">
              <a:lnSpc>
                <a:spcPct val="100000"/>
              </a:lnSpc>
            </a:pPr>
            <a:r>
              <a:rPr lang="zh-CN" altLang="en-US" sz="3000" dirty="0">
                <a:sym typeface="+mn-ea"/>
              </a:rPr>
              <a:t>每一个联系有一个</a:t>
            </a:r>
            <a:r>
              <a:rPr lang="en-US" altLang="zh-CN" sz="3000" dirty="0">
                <a:latin typeface="Times New Roman" panose="02020603050405020304" pitchFamily="2" charset="0"/>
                <a:cs typeface="Times New Roman" panose="02020603050405020304" pitchFamily="2" charset="0"/>
                <a:sym typeface="+mn-ea"/>
              </a:rPr>
              <a:t>‘</a:t>
            </a:r>
            <a:r>
              <a:rPr lang="zh-CN" altLang="en-US" sz="3000" dirty="0">
                <a:solidFill>
                  <a:srgbClr val="FF0000"/>
                </a:solidFill>
                <a:latin typeface="Times New Roman" panose="02020603050405020304" pitchFamily="2" charset="0"/>
                <a:cs typeface="Times New Roman" panose="02020603050405020304" pitchFamily="2" charset="0"/>
                <a:sym typeface="+mn-ea"/>
              </a:rPr>
              <a:t>联系名</a:t>
            </a:r>
            <a:r>
              <a:rPr lang="en-US" altLang="zh-CN" sz="3000" dirty="0">
                <a:latin typeface="Times New Roman" panose="02020603050405020304" pitchFamily="2" charset="0"/>
                <a:cs typeface="Times New Roman" panose="02020603050405020304" pitchFamily="2" charset="0"/>
                <a:sym typeface="+mn-ea"/>
              </a:rPr>
              <a:t>’</a:t>
            </a:r>
            <a:endParaRPr lang="en-US" altLang="zh-CN"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70</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Effect transition="in" filter="blinds(horizontal)">
                                      <p:cBhvr>
                                        <p:cTn id="7" dur="500"/>
                                        <p:tgtEl>
                                          <p:spTgt spid="624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0" dur="500"/>
                                        <p:tgtEl>
                                          <p:spTgt spid="6246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15" dur="500"/>
                                        <p:tgtEl>
                                          <p:spTgt spid="62467">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2467">
                                            <p:txEl>
                                              <p:pRg st="5" end="5"/>
                                            </p:txEl>
                                          </p:spTgt>
                                        </p:tgtEl>
                                        <p:attrNameLst>
                                          <p:attrName>style.visibility</p:attrName>
                                        </p:attrNameLst>
                                      </p:cBhvr>
                                      <p:to>
                                        <p:strVal val="visible"/>
                                      </p:to>
                                    </p:set>
                                    <p:animEffect transition="in" filter="blinds(horizontal)">
                                      <p:cBhvr>
                                        <p:cTn id="18" dur="500"/>
                                        <p:tgtEl>
                                          <p:spTgt spid="62467">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2467">
                                            <p:txEl>
                                              <p:pRg st="6" end="6"/>
                                            </p:txEl>
                                          </p:spTgt>
                                        </p:tgtEl>
                                        <p:attrNameLst>
                                          <p:attrName>style.visibility</p:attrName>
                                        </p:attrNameLst>
                                      </p:cBhvr>
                                      <p:to>
                                        <p:strVal val="visible"/>
                                      </p:to>
                                    </p:set>
                                    <p:animEffect transition="in" filter="blinds(horizontal)">
                                      <p:cBhvr>
                                        <p:cTn id="21" dur="500"/>
                                        <p:tgtEl>
                                          <p:spTgt spid="62467">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2467">
                                            <p:txEl>
                                              <p:pRg st="8" end="8"/>
                                            </p:txEl>
                                          </p:spTgt>
                                        </p:tgtEl>
                                        <p:attrNameLst>
                                          <p:attrName>style.visibility</p:attrName>
                                        </p:attrNameLst>
                                      </p:cBhvr>
                                      <p:to>
                                        <p:strVal val="visible"/>
                                      </p:to>
                                    </p:set>
                                    <p:anim calcmode="lin" valueType="num">
                                      <p:cBhvr additive="base">
                                        <p:cTn id="26" dur="500" fill="hold"/>
                                        <p:tgtEl>
                                          <p:spTgt spid="62467">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2467">
                                            <p:txEl>
                                              <p:pRg st="8" end="8"/>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62467">
                                            <p:txEl>
                                              <p:pRg st="9" end="9"/>
                                            </p:txEl>
                                          </p:spTgt>
                                        </p:tgtEl>
                                        <p:attrNameLst>
                                          <p:attrName>style.visibility</p:attrName>
                                        </p:attrNameLst>
                                      </p:cBhvr>
                                      <p:to>
                                        <p:strVal val="visible"/>
                                      </p:to>
                                    </p:set>
                                    <p:anim calcmode="lin" valueType="num">
                                      <p:cBhvr additive="base">
                                        <p:cTn id="30" dur="500" fill="hold"/>
                                        <p:tgtEl>
                                          <p:spTgt spid="62467">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24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信息世界中的基本概念（</a:t>
            </a:r>
            <a:r>
              <a:rPr lang="en-US" altLang="zh-CN" dirty="0"/>
              <a:t>2</a:t>
            </a:r>
            <a:r>
              <a:rPr lang="zh-CN" altLang="en-US" dirty="0"/>
              <a:t>）</a:t>
            </a:r>
          </a:p>
        </p:txBody>
      </p:sp>
      <p:sp>
        <p:nvSpPr>
          <p:cNvPr id="63491"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实体型</a:t>
            </a:r>
            <a:r>
              <a:rPr lang="zh-CN" altLang="en-US" dirty="0"/>
              <a:t>（</a:t>
            </a:r>
            <a:r>
              <a:rPr lang="en-US" altLang="zh-CN" dirty="0"/>
              <a:t>Entity Type</a:t>
            </a:r>
            <a:r>
              <a:rPr lang="zh-CN" altLang="en-US" dirty="0"/>
              <a:t>） </a:t>
            </a:r>
          </a:p>
          <a:p>
            <a:pPr lvl="1">
              <a:lnSpc>
                <a:spcPct val="100000"/>
              </a:lnSpc>
              <a:spcBef>
                <a:spcPct val="0"/>
              </a:spcBef>
            </a:pPr>
            <a:r>
              <a:rPr lang="zh-CN" altLang="en-US" dirty="0"/>
              <a:t>用实体名及其所有</a:t>
            </a:r>
            <a:r>
              <a:rPr lang="zh-CN" altLang="en-US" dirty="0">
                <a:latin typeface="Times New Roman" panose="02020603050405020304" pitchFamily="2" charset="0"/>
                <a:cs typeface="Times New Roman" panose="02020603050405020304" pitchFamily="2" charset="0"/>
              </a:rPr>
              <a:t>属性名的集合来抽象和刻画同类实体</a:t>
            </a: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实体的实体名及其所有属性名的集合，称为该实体的</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实体型</a:t>
            </a:r>
            <a:r>
              <a:rPr lang="en-US" altLang="zh-CN" dirty="0">
                <a:latin typeface="Times New Roman" panose="02020603050405020304" pitchFamily="2" charset="0"/>
                <a:cs typeface="Times New Roman" panose="02020603050405020304" pitchFamily="2" charset="0"/>
              </a:rPr>
              <a:t>’</a:t>
            </a:r>
          </a:p>
          <a:p>
            <a:pPr lvl="0">
              <a:lnSpc>
                <a:spcPct val="100000"/>
              </a:lnSpc>
              <a:spcBef>
                <a:spcPct val="0"/>
              </a:spcBef>
            </a:pPr>
            <a:r>
              <a:rPr lang="zh-CN" altLang="en-US" sz="3000" dirty="0">
                <a:solidFill>
                  <a:srgbClr val="FF0000"/>
                </a:solidFill>
                <a:latin typeface="Times New Roman" panose="02020603050405020304" pitchFamily="2" charset="0"/>
                <a:cs typeface="Times New Roman" panose="02020603050405020304" pitchFamily="2" charset="0"/>
              </a:rPr>
              <a:t>实体值</a:t>
            </a:r>
            <a:r>
              <a:rPr lang="zh-CN" altLang="en-US" sz="3000" dirty="0">
                <a:latin typeface="Times New Roman" panose="02020603050405020304" pitchFamily="2" charset="0"/>
                <a:cs typeface="Times New Roman" panose="02020603050405020304" pitchFamily="2" charset="0"/>
              </a:rPr>
              <a:t>（</a:t>
            </a:r>
            <a:r>
              <a:rPr lang="en-US" altLang="zh-CN" sz="3000" dirty="0">
                <a:latin typeface="Times New Roman" panose="02020603050405020304" pitchFamily="2" charset="0"/>
                <a:cs typeface="Times New Roman" panose="02020603050405020304" pitchFamily="2" charset="0"/>
              </a:rPr>
              <a:t>Entity Value</a:t>
            </a:r>
            <a:r>
              <a:rPr lang="zh-CN" altLang="en-US" sz="3000"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实体中的属性可以有值，一个实体的所有属性值的集合被称为该实体的</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实体值</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。（也被称为</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实体实例</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a:t>
            </a:r>
            <a:r>
              <a:rPr lang="en-US" altLang="zh-CN" dirty="0">
                <a:solidFill>
                  <a:srgbClr val="FF0000"/>
                </a:solidFill>
                <a:latin typeface="Times New Roman" panose="02020603050405020304" pitchFamily="2" charset="0"/>
                <a:cs typeface="Times New Roman" panose="02020603050405020304" pitchFamily="2" charset="0"/>
              </a:rPr>
              <a:t>Entity Instance</a:t>
            </a:r>
            <a:r>
              <a:rPr lang="zh-CN" altLang="en-US"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a:lnSpc>
                <a:spcPct val="100000"/>
              </a:lnSpc>
            </a:pPr>
            <a:r>
              <a:rPr lang="zh-CN" altLang="en-US" dirty="0">
                <a:solidFill>
                  <a:srgbClr val="FF0000"/>
                </a:solidFill>
                <a:latin typeface="Times New Roman" panose="02020603050405020304" pitchFamily="2" charset="0"/>
                <a:cs typeface="Times New Roman" panose="02020603050405020304" pitchFamily="2" charset="0"/>
              </a:rPr>
              <a:t>实体集</a:t>
            </a:r>
            <a:r>
              <a:rPr lang="zh-CN" altLang="en-US" dirty="0">
                <a:latin typeface="Times New Roman" panose="02020603050405020304" pitchFamily="2" charset="0"/>
                <a:cs typeface="Times New Roman" panose="02020603050405020304" pitchFamily="2" charset="0"/>
              </a:rPr>
              <a:t>（</a:t>
            </a:r>
            <a:r>
              <a:rPr lang="en-US" altLang="zh-CN" dirty="0">
                <a:latin typeface="Times New Roman" panose="02020603050405020304" pitchFamily="2" charset="0"/>
                <a:cs typeface="Times New Roman" panose="02020603050405020304" pitchFamily="2" charset="0"/>
              </a:rPr>
              <a:t>Entity Set</a:t>
            </a:r>
            <a:r>
              <a:rPr lang="zh-CN" altLang="en-US" dirty="0">
                <a:latin typeface="Times New Roman" panose="02020603050405020304" pitchFamily="2" charset="0"/>
                <a:cs typeface="Times New Roman" panose="02020603050405020304" pitchFamily="2" charset="0"/>
              </a:rPr>
              <a:t>） </a:t>
            </a: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同一类型实体的集合，称为</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实体集</a:t>
            </a:r>
            <a:r>
              <a:rPr lang="en-US" altLang="zh-CN" dirty="0">
                <a:latin typeface="Times New Roman" panose="02020603050405020304" pitchFamily="2" charset="0"/>
                <a:cs typeface="Times New Roman" panose="02020603050405020304" pitchFamily="2" charset="0"/>
              </a:rPr>
              <a:t>’</a:t>
            </a: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同一个实体集中的所有实体，具有相同</a:t>
            </a:r>
            <a:r>
              <a:rPr lang="zh-CN" altLang="en-US" dirty="0"/>
              <a:t>的实体型但实体值互不相同。</a:t>
            </a:r>
          </a:p>
          <a:p>
            <a:pPr lvl="0">
              <a:lnSpc>
                <a:spcPct val="100000"/>
              </a:lnSpc>
              <a:spcBef>
                <a:spcPct val="0"/>
              </a:spcBef>
            </a:pPr>
            <a:r>
              <a:rPr lang="zh-CN" altLang="en-US" dirty="0">
                <a:solidFill>
                  <a:srgbClr val="FF0000"/>
                </a:solidFill>
                <a:sym typeface="+mn-ea"/>
              </a:rPr>
              <a:t>码</a:t>
            </a:r>
            <a:r>
              <a:rPr lang="zh-CN" altLang="en-US" dirty="0">
                <a:sym typeface="+mn-ea"/>
              </a:rPr>
              <a:t>（</a:t>
            </a:r>
            <a:r>
              <a:rPr lang="en-US" altLang="zh-CN" dirty="0">
                <a:sym typeface="+mn-ea"/>
              </a:rPr>
              <a:t>Key</a:t>
            </a:r>
            <a:r>
              <a:rPr lang="zh-CN" altLang="en-US" dirty="0">
                <a:sym typeface="+mn-ea"/>
              </a:rPr>
              <a:t>） </a:t>
            </a:r>
            <a:endParaRPr lang="zh-CN" altLang="en-US" dirty="0"/>
          </a:p>
          <a:p>
            <a:pPr lvl="1">
              <a:lnSpc>
                <a:spcPct val="100000"/>
              </a:lnSpc>
              <a:spcBef>
                <a:spcPct val="0"/>
              </a:spcBef>
            </a:pPr>
            <a:r>
              <a:rPr lang="zh-CN" altLang="en-US" dirty="0">
                <a:sym typeface="+mn-ea"/>
              </a:rPr>
              <a:t>唯一标识实体的属性集称为码。</a:t>
            </a:r>
            <a:endParaRPr lang="zh-CN" altLang="en-US" dirty="0"/>
          </a:p>
          <a:p>
            <a:pPr lvl="1">
              <a:lnSpc>
                <a:spcPct val="100000"/>
              </a:lnSpc>
              <a:spcBef>
                <a:spcPct val="0"/>
              </a:spcBef>
            </a:pP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码</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也</a:t>
            </a:r>
            <a:r>
              <a:rPr lang="zh-CN" altLang="en-US" dirty="0">
                <a:sym typeface="+mn-ea"/>
              </a:rPr>
              <a:t>被称为</a:t>
            </a:r>
            <a:r>
              <a:rPr lang="zh-CN" altLang="en-US" dirty="0">
                <a:solidFill>
                  <a:srgbClr val="FF0000"/>
                </a:solidFill>
                <a:sym typeface="+mn-ea"/>
              </a:rPr>
              <a:t>关键字</a:t>
            </a:r>
            <a:r>
              <a:rPr lang="zh-CN" altLang="en-US" dirty="0">
                <a:sym typeface="+mn-ea"/>
              </a:rPr>
              <a:t>、</a:t>
            </a:r>
            <a:r>
              <a:rPr lang="zh-CN" altLang="en-US" dirty="0">
                <a:solidFill>
                  <a:srgbClr val="FF0000"/>
                </a:solidFill>
                <a:sym typeface="+mn-ea"/>
              </a:rPr>
              <a:t>键</a:t>
            </a:r>
            <a:r>
              <a:rPr lang="zh-CN" altLang="en-US" dirty="0">
                <a:sym typeface="+mn-ea"/>
              </a:rPr>
              <a:t>、</a:t>
            </a:r>
            <a:r>
              <a:rPr lang="zh-CN" altLang="en-US" dirty="0">
                <a:solidFill>
                  <a:srgbClr val="FF0000"/>
                </a:solidFill>
                <a:sym typeface="+mn-ea"/>
              </a:rPr>
              <a:t>标识符</a:t>
            </a:r>
            <a:r>
              <a:rPr lang="en-US" altLang="zh-CN" dirty="0">
                <a:sym typeface="+mn-ea"/>
              </a:rPr>
              <a:t>(Identifier)</a:t>
            </a: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在一个实体集中，可以通过</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码</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的取值来区分不同的实体。</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71</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xEl>
                                              <p:pRg st="5" end="5"/>
                                            </p:txEl>
                                          </p:spTgt>
                                        </p:tgtEl>
                                        <p:attrNameLst>
                                          <p:attrName>style.visibility</p:attrName>
                                        </p:attrNameLst>
                                      </p:cBhvr>
                                      <p:to>
                                        <p:strVal val="visible"/>
                                      </p:to>
                                    </p:set>
                                    <p:anim calcmode="lin" valueType="num">
                                      <p:cBhvr additive="base">
                                        <p:cTn id="7" dur="500" fill="hold"/>
                                        <p:tgtEl>
                                          <p:spTgt spid="6349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1">
                                            <p:txEl>
                                              <p:pRg st="6" end="6"/>
                                            </p:txEl>
                                          </p:spTgt>
                                        </p:tgtEl>
                                        <p:attrNameLst>
                                          <p:attrName>style.visibility</p:attrName>
                                        </p:attrNameLst>
                                      </p:cBhvr>
                                      <p:to>
                                        <p:strVal val="visible"/>
                                      </p:to>
                                    </p:set>
                                    <p:anim calcmode="lin" valueType="num">
                                      <p:cBhvr additive="base">
                                        <p:cTn id="11" dur="500" fill="hold"/>
                                        <p:tgtEl>
                                          <p:spTgt spid="6349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491">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491">
                                            <p:txEl>
                                              <p:pRg st="7" end="7"/>
                                            </p:txEl>
                                          </p:spTgt>
                                        </p:tgtEl>
                                        <p:attrNameLst>
                                          <p:attrName>style.visibility</p:attrName>
                                        </p:attrNameLst>
                                      </p:cBhvr>
                                      <p:to>
                                        <p:strVal val="visible"/>
                                      </p:to>
                                    </p:set>
                                    <p:anim calcmode="lin" valueType="num">
                                      <p:cBhvr additive="base">
                                        <p:cTn id="15" dur="500" fill="hold"/>
                                        <p:tgtEl>
                                          <p:spTgt spid="63491">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4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3491">
                                            <p:txEl>
                                              <p:pRg st="8" end="8"/>
                                            </p:txEl>
                                          </p:spTgt>
                                        </p:tgtEl>
                                        <p:attrNameLst>
                                          <p:attrName>style.visibility</p:attrName>
                                        </p:attrNameLst>
                                      </p:cBhvr>
                                      <p:to>
                                        <p:strVal val="visible"/>
                                      </p:to>
                                    </p:set>
                                    <p:anim calcmode="lin" valueType="num">
                                      <p:cBhvr additive="base">
                                        <p:cTn id="21" dur="500" fill="hold"/>
                                        <p:tgtEl>
                                          <p:spTgt spid="63491">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491">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3491">
                                            <p:txEl>
                                              <p:pRg st="9" end="9"/>
                                            </p:txEl>
                                          </p:spTgt>
                                        </p:tgtEl>
                                        <p:attrNameLst>
                                          <p:attrName>style.visibility</p:attrName>
                                        </p:attrNameLst>
                                      </p:cBhvr>
                                      <p:to>
                                        <p:strVal val="visible"/>
                                      </p:to>
                                    </p:set>
                                    <p:anim calcmode="lin" valueType="num">
                                      <p:cBhvr additive="base">
                                        <p:cTn id="25" dur="500" fill="hold"/>
                                        <p:tgtEl>
                                          <p:spTgt spid="63491">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91">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3491">
                                            <p:txEl>
                                              <p:pRg st="10" end="10"/>
                                            </p:txEl>
                                          </p:spTgt>
                                        </p:tgtEl>
                                        <p:attrNameLst>
                                          <p:attrName>style.visibility</p:attrName>
                                        </p:attrNameLst>
                                      </p:cBhvr>
                                      <p:to>
                                        <p:strVal val="visible"/>
                                      </p:to>
                                    </p:set>
                                    <p:anim calcmode="lin" valueType="num">
                                      <p:cBhvr additive="base">
                                        <p:cTn id="29" dur="500" fill="hold"/>
                                        <p:tgtEl>
                                          <p:spTgt spid="63491">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3491">
                                            <p:txEl>
                                              <p:pRg st="10" end="1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3491">
                                            <p:txEl>
                                              <p:pRg st="11" end="11"/>
                                            </p:txEl>
                                          </p:spTgt>
                                        </p:tgtEl>
                                        <p:attrNameLst>
                                          <p:attrName>style.visibility</p:attrName>
                                        </p:attrNameLst>
                                      </p:cBhvr>
                                      <p:to>
                                        <p:strVal val="visible"/>
                                      </p:to>
                                    </p:set>
                                    <p:anim calcmode="lin" valueType="num">
                                      <p:cBhvr additive="base">
                                        <p:cTn id="33" dur="500" fill="hold"/>
                                        <p:tgtEl>
                                          <p:spTgt spid="63491">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349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lgn="ctr"/>
            <a:r>
              <a:rPr lang="zh-CN" altLang="en-US" sz="2800" b="1" dirty="0">
                <a:latin typeface="宋体" panose="02010600030101010101" pitchFamily="2" charset="-122"/>
                <a:ea typeface="宋体" panose="02010600030101010101" pitchFamily="2" charset="-122"/>
                <a:cs typeface="宋体" panose="02010600030101010101" pitchFamily="2" charset="-122"/>
              </a:rPr>
              <a:t>实体之间的联系</a:t>
            </a:r>
          </a:p>
        </p:txBody>
      </p:sp>
      <p:sp>
        <p:nvSpPr>
          <p:cNvPr id="3" name="内容占位符 2"/>
          <p:cNvSpPr>
            <a:spLocks noGrp="1"/>
          </p:cNvSpPr>
          <p:nvPr>
            <p:ph idx="1"/>
          </p:nvPr>
        </p:nvSpPr>
        <p:spPr/>
        <p:txBody>
          <a:bodyPr>
            <a:normAutofit/>
          </a:bodyPr>
          <a:lstStyle/>
          <a:p>
            <a:pPr>
              <a:lnSpc>
                <a:spcPct val="100000"/>
              </a:lnSpc>
            </a:pPr>
            <a:r>
              <a:rPr lang="zh-CN" altLang="en-US" dirty="0"/>
              <a:t>实体之间的联系通常是指不同实体集之间的联系</a:t>
            </a:r>
            <a:endParaRPr lang="en-US" altLang="zh-CN" dirty="0"/>
          </a:p>
          <a:p>
            <a:pPr>
              <a:lnSpc>
                <a:spcPct val="100000"/>
              </a:lnSpc>
            </a:pPr>
            <a:r>
              <a:rPr lang="zh-CN" altLang="en-US" dirty="0"/>
              <a:t>实体之间的联系有</a:t>
            </a:r>
            <a:r>
              <a:rPr lang="en-US" altLang="zh-CN" dirty="0"/>
              <a:t>‘</a:t>
            </a:r>
            <a:r>
              <a:rPr lang="zh-CN" altLang="en-US" dirty="0"/>
              <a:t>一对一、一对多、多对多</a:t>
            </a:r>
            <a:r>
              <a:rPr lang="en-US" altLang="zh-CN" dirty="0"/>
              <a:t>’</a:t>
            </a:r>
            <a:r>
              <a:rPr lang="zh-CN" altLang="en-US" dirty="0"/>
              <a:t>等多种类型，在</a:t>
            </a:r>
            <a:r>
              <a:rPr lang="en-US" altLang="zh-CN" dirty="0"/>
              <a:t>ER</a:t>
            </a:r>
            <a:r>
              <a:rPr lang="zh-CN" altLang="en-US" dirty="0"/>
              <a:t>模型中被称为</a:t>
            </a:r>
            <a:r>
              <a:rPr lang="en-US" altLang="zh-CN" dirty="0"/>
              <a:t>‘</a:t>
            </a:r>
            <a:r>
              <a:rPr lang="zh-CN" altLang="en-US" dirty="0">
                <a:solidFill>
                  <a:srgbClr val="FF0000"/>
                </a:solidFill>
              </a:rPr>
              <a:t>联系的函数关系</a:t>
            </a:r>
            <a:r>
              <a:rPr lang="en-US" altLang="zh-CN" dirty="0"/>
              <a:t>’</a:t>
            </a:r>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t>72</a:t>
            </a:fld>
            <a:endParaRPr lang="en-US" altLang="zh-CN" dirty="0"/>
          </a:p>
        </p:txBody>
      </p:sp>
      <p:grpSp>
        <p:nvGrpSpPr>
          <p:cNvPr id="7" name="组合 6"/>
          <p:cNvGrpSpPr/>
          <p:nvPr/>
        </p:nvGrpSpPr>
        <p:grpSpPr>
          <a:xfrm>
            <a:off x="1805305" y="2355215"/>
            <a:ext cx="2142490" cy="3842385"/>
            <a:chOff x="2843" y="3352"/>
            <a:chExt cx="3374" cy="6051"/>
          </a:xfrm>
        </p:grpSpPr>
        <p:sp>
          <p:nvSpPr>
            <p:cNvPr id="33" name="Text Box 5"/>
            <p:cNvSpPr txBox="1">
              <a:spLocks noChangeArrowheads="1"/>
            </p:cNvSpPr>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p>
          </p:txBody>
        </p:sp>
        <p:sp>
          <p:nvSpPr>
            <p:cNvPr id="34" name="AutoShape 6"/>
            <p:cNvSpPr>
              <a:spLocks noChangeArrowheads="1"/>
            </p:cNvSpPr>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p>
          </p:txBody>
        </p:sp>
        <p:sp>
          <p:nvSpPr>
            <p:cNvPr id="35" name="Text Box 7"/>
            <p:cNvSpPr txBox="1">
              <a:spLocks noChangeArrowheads="1"/>
            </p:cNvSpPr>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p>
          </p:txBody>
        </p:sp>
        <p:sp>
          <p:nvSpPr>
            <p:cNvPr id="38" name="Text Box 10"/>
            <p:cNvSpPr txBox="1">
              <a:spLocks noChangeArrowheads="1"/>
            </p:cNvSpPr>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p>
          </p:txBody>
        </p:sp>
        <p:sp>
          <p:nvSpPr>
            <p:cNvPr id="39" name="Text Box 11"/>
            <p:cNvSpPr txBox="1">
              <a:spLocks noChangeArrowheads="1"/>
            </p:cNvSpPr>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p>
          </p:txBody>
        </p:sp>
        <p:sp>
          <p:nvSpPr>
            <p:cNvPr id="40" name="Text Box 12"/>
            <p:cNvSpPr txBox="1">
              <a:spLocks noChangeArrowheads="1"/>
            </p:cNvSpPr>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1:1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p>
          </p:txBody>
        </p:sp>
        <p:cxnSp>
          <p:nvCxnSpPr>
            <p:cNvPr id="5" name="直接连接符 4"/>
            <p:cNvCxnSpPr>
              <a:stCxn id="33" idx="2"/>
              <a:endCxn id="34" idx="0"/>
            </p:cNvCxnSpPr>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34" idx="2"/>
              <a:endCxn id="35" idx="0"/>
            </p:cNvCxnSpPr>
            <p:nvPr>
              <p:custDataLst>
                <p:tags r:id="rId17"/>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8" name="组合 7"/>
          <p:cNvGrpSpPr/>
          <p:nvPr/>
        </p:nvGrpSpPr>
        <p:grpSpPr>
          <a:xfrm>
            <a:off x="4741545" y="2355215"/>
            <a:ext cx="2143125" cy="3842385"/>
            <a:chOff x="2843" y="3352"/>
            <a:chExt cx="3375" cy="6051"/>
          </a:xfrm>
        </p:grpSpPr>
        <p:sp>
          <p:nvSpPr>
            <p:cNvPr id="9" name="Text Box 5"/>
            <p:cNvSpPr txBox="1">
              <a:spLocks noChangeArrowheads="1"/>
            </p:cNvSpPr>
            <p:nvPr>
              <p:custDataLst>
                <p:tags r:id="rId9"/>
              </p:custDataLst>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p>
          </p:txBody>
        </p:sp>
        <p:sp>
          <p:nvSpPr>
            <p:cNvPr id="10" name="AutoShape 6"/>
            <p:cNvSpPr>
              <a:spLocks noChangeArrowheads="1"/>
            </p:cNvSpPr>
            <p:nvPr>
              <p:custDataLst>
                <p:tags r:id="rId10"/>
              </p:custDataLst>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p>
          </p:txBody>
        </p:sp>
        <p:sp>
          <p:nvSpPr>
            <p:cNvPr id="11" name="Text Box 7"/>
            <p:cNvSpPr txBox="1">
              <a:spLocks noChangeArrowheads="1"/>
            </p:cNvSpPr>
            <p:nvPr>
              <p:custDataLst>
                <p:tags r:id="rId11"/>
              </p:custDataLst>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p>
          </p:txBody>
        </p:sp>
        <p:sp>
          <p:nvSpPr>
            <p:cNvPr id="12" name="Text Box 10"/>
            <p:cNvSpPr txBox="1">
              <a:spLocks noChangeArrowheads="1"/>
            </p:cNvSpPr>
            <p:nvPr>
              <p:custDataLst>
                <p:tags r:id="rId12"/>
              </p:custDataLst>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p>
          </p:txBody>
        </p:sp>
        <p:sp>
          <p:nvSpPr>
            <p:cNvPr id="13" name="Text Box 11"/>
            <p:cNvSpPr txBox="1">
              <a:spLocks noChangeArrowheads="1"/>
            </p:cNvSpPr>
            <p:nvPr>
              <p:custDataLst>
                <p:tags r:id="rId13"/>
              </p:custDataLst>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p>
          </p:txBody>
        </p:sp>
        <p:sp>
          <p:nvSpPr>
            <p:cNvPr id="14" name="Text Box 12"/>
            <p:cNvSpPr txBox="1">
              <a:spLocks noChangeArrowheads="1"/>
            </p:cNvSpPr>
            <p:nvPr>
              <p:custDataLst>
                <p:tags r:id="rId14"/>
              </p:custDataLst>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1:n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p>
          </p:txBody>
        </p:sp>
        <p:cxnSp>
          <p:nvCxnSpPr>
            <p:cNvPr id="15" name="直接连接符 14"/>
            <p:cNvCxnSpPr>
              <a:stCxn id="9" idx="2"/>
              <a:endCxn id="10" idx="0"/>
            </p:cNvCxnSpPr>
            <p:nvPr>
              <p:custDataLst>
                <p:tags r:id="rId15"/>
              </p:custDataLst>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a:stCxn id="10" idx="2"/>
              <a:endCxn id="11" idx="0"/>
            </p:cNvCxnSpPr>
            <p:nvPr>
              <p:custDataLst>
                <p:tags r:id="rId16"/>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17" name="组合 16"/>
          <p:cNvGrpSpPr/>
          <p:nvPr/>
        </p:nvGrpSpPr>
        <p:grpSpPr>
          <a:xfrm>
            <a:off x="7900670" y="2355215"/>
            <a:ext cx="2143125" cy="3842385"/>
            <a:chOff x="2843" y="3352"/>
            <a:chExt cx="3375" cy="6051"/>
          </a:xfrm>
        </p:grpSpPr>
        <p:sp>
          <p:nvSpPr>
            <p:cNvPr id="18" name="Text Box 5"/>
            <p:cNvSpPr txBox="1">
              <a:spLocks noChangeArrowheads="1"/>
            </p:cNvSpPr>
            <p:nvPr>
              <p:custDataLst>
                <p:tags r:id="rId1"/>
              </p:custDataLst>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p>
          </p:txBody>
        </p:sp>
        <p:sp>
          <p:nvSpPr>
            <p:cNvPr id="19" name="AutoShape 6"/>
            <p:cNvSpPr>
              <a:spLocks noChangeArrowheads="1"/>
            </p:cNvSpPr>
            <p:nvPr>
              <p:custDataLst>
                <p:tags r:id="rId2"/>
              </p:custDataLst>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p>
          </p:txBody>
        </p:sp>
        <p:sp>
          <p:nvSpPr>
            <p:cNvPr id="20" name="Text Box 7"/>
            <p:cNvSpPr txBox="1">
              <a:spLocks noChangeArrowheads="1"/>
            </p:cNvSpPr>
            <p:nvPr>
              <p:custDataLst>
                <p:tags r:id="rId3"/>
              </p:custDataLst>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p>
          </p:txBody>
        </p:sp>
        <p:sp>
          <p:nvSpPr>
            <p:cNvPr id="21" name="Text Box 10"/>
            <p:cNvSpPr txBox="1">
              <a:spLocks noChangeArrowheads="1"/>
            </p:cNvSpPr>
            <p:nvPr>
              <p:custDataLst>
                <p:tags r:id="rId4"/>
              </p:custDataLst>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m</a:t>
              </a:r>
            </a:p>
          </p:txBody>
        </p:sp>
        <p:sp>
          <p:nvSpPr>
            <p:cNvPr id="22" name="Text Box 11"/>
            <p:cNvSpPr txBox="1">
              <a:spLocks noChangeArrowheads="1"/>
            </p:cNvSpPr>
            <p:nvPr>
              <p:custDataLst>
                <p:tags r:id="rId5"/>
              </p:custDataLst>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p>
          </p:txBody>
        </p:sp>
        <p:sp>
          <p:nvSpPr>
            <p:cNvPr id="23" name="Text Box 12"/>
            <p:cNvSpPr txBox="1">
              <a:spLocks noChangeArrowheads="1"/>
            </p:cNvSpPr>
            <p:nvPr>
              <p:custDataLst>
                <p:tags r:id="rId6"/>
              </p:custDataLst>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m:n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p>
          </p:txBody>
        </p:sp>
        <p:cxnSp>
          <p:nvCxnSpPr>
            <p:cNvPr id="24" name="直接连接符 23"/>
            <p:cNvCxnSpPr>
              <a:stCxn id="18" idx="2"/>
              <a:endCxn id="19" idx="0"/>
            </p:cNvCxnSpPr>
            <p:nvPr>
              <p:custDataLst>
                <p:tags r:id="rId7"/>
              </p:custDataLst>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a:stCxn id="19" idx="2"/>
              <a:endCxn id="20" idx="0"/>
            </p:cNvCxnSpPr>
            <p:nvPr>
              <p:custDataLst>
                <p:tags r:id="rId8"/>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26" name="文本框 25"/>
          <p:cNvSpPr txBox="1"/>
          <p:nvPr/>
        </p:nvSpPr>
        <p:spPr>
          <a:xfrm>
            <a:off x="1207770" y="6187440"/>
            <a:ext cx="9927590" cy="460375"/>
          </a:xfrm>
          <a:prstGeom prst="rect">
            <a:avLst/>
          </a:prstGeom>
          <a:solidFill>
            <a:schemeClr val="accent1">
              <a:lumMod val="20000"/>
              <a:lumOff val="80000"/>
              <a:alpha val="60000"/>
            </a:schemeClr>
          </a:solidFill>
        </p:spPr>
        <p:txBody>
          <a:bodyPr wrap="square" rtlCol="0">
            <a:spAutoFit/>
          </a:bodyPr>
          <a:lstStyle/>
          <a:p>
            <a:pPr algn="ct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（说明：用数字</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1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表示</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一</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，用字母表示</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多</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p>
        </p:txBody>
      </p:sp>
      <p:sp>
        <p:nvSpPr>
          <p:cNvPr id="27" name="页脚占位符 26"/>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46081"/>
          <p:cNvSpPr>
            <a:spLocks noGrp="1"/>
          </p:cNvSpPr>
          <p:nvPr>
            <p:ph type="title"/>
          </p:nvPr>
        </p:nvSpPr>
        <p:spPr/>
        <p:txBody>
          <a:bodyPr tIns="0" bIns="0" anchor="ctr"/>
          <a:lstStyle/>
          <a:p>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800"/>
          </a:p>
        </p:txBody>
      </p:sp>
      <p:sp>
        <p:nvSpPr>
          <p:cNvPr id="46082" name="文本占位符 46082"/>
          <p:cNvSpPr>
            <a:spLocks noGrp="1"/>
          </p:cNvSpPr>
          <p:nvPr>
            <p:ph idx="1"/>
          </p:nvPr>
        </p:nvSpPr>
        <p:spPr>
          <a:xfrm>
            <a:off x="424180" y="687070"/>
            <a:ext cx="11343005" cy="2738120"/>
          </a:xfrm>
        </p:spPr>
        <p:txBody>
          <a:bodyPr anchor="t">
            <a:spAutoFit/>
          </a:bodyPr>
          <a:lstStyle/>
          <a:p>
            <a:pPr>
              <a:lnSpc>
                <a:spcPct val="100000"/>
              </a:lnSpc>
            </a:pPr>
            <a:r>
              <a:rPr lang="zh-CN" altLang="en-US" dirty="0"/>
              <a:t>为了描</a:t>
            </a:r>
            <a:r>
              <a:rPr lang="zh-CN" altLang="en-US" dirty="0">
                <a:latin typeface="Times New Roman" panose="02020603050405020304" pitchFamily="2" charset="0"/>
                <a:cs typeface="Times New Roman" panose="02020603050405020304" pitchFamily="2" charset="0"/>
              </a:rPr>
              <a:t>述清楚函数关系，我们用示意图来解释三种不同的函数关系。如下图所示，其中：</a:t>
            </a:r>
          </a:p>
          <a:p>
            <a:pPr lvl="1">
              <a:lnSpc>
                <a:spcPct val="100000"/>
              </a:lnSpc>
              <a:buClr>
                <a:srgbClr val="C00000"/>
              </a:buClr>
            </a:pPr>
            <a:r>
              <a:rPr lang="zh-CN" altLang="en-US" dirty="0">
                <a:latin typeface="Times New Roman" panose="02020603050405020304" pitchFamily="2" charset="0"/>
                <a:cs typeface="Times New Roman" panose="02020603050405020304" pitchFamily="2" charset="0"/>
              </a:rPr>
              <a:t>椭圆形代表 </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实体集</a:t>
            </a:r>
            <a:r>
              <a:rPr lang="en-US" altLang="zh-CN"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lnSpc>
                <a:spcPct val="100000"/>
              </a:lnSpc>
              <a:buClr>
                <a:srgbClr val="C00000"/>
              </a:buClr>
            </a:pPr>
            <a:r>
              <a:rPr lang="zh-CN" altLang="en-US" dirty="0">
                <a:solidFill>
                  <a:srgbClr val="FF0000"/>
                </a:solidFill>
                <a:latin typeface="Times New Roman" panose="02020603050405020304" pitchFamily="2" charset="0"/>
                <a:cs typeface="Times New Roman" panose="02020603050405020304" pitchFamily="2" charset="0"/>
              </a:rPr>
              <a:t>点</a:t>
            </a:r>
            <a:r>
              <a:rPr lang="zh-CN" altLang="en-US" dirty="0">
                <a:latin typeface="Times New Roman" panose="02020603050405020304" pitchFamily="2" charset="0"/>
                <a:cs typeface="Times New Roman" panose="02020603050405020304" pitchFamily="2" charset="0"/>
              </a:rPr>
              <a:t> </a:t>
            </a:r>
            <a:r>
              <a:rPr lang="en-US" altLang="x-none" dirty="0">
                <a:latin typeface="Times New Roman" panose="02020603050405020304" pitchFamily="2" charset="0"/>
                <a:cs typeface="Times New Roman" panose="02020603050405020304" pitchFamily="2" charset="0"/>
              </a:rPr>
              <a:t>(dot) </a:t>
            </a:r>
            <a:r>
              <a:rPr lang="zh-CN" altLang="en-US" dirty="0">
                <a:latin typeface="Times New Roman" panose="02020603050405020304" pitchFamily="2" charset="0"/>
                <a:cs typeface="Times New Roman" panose="02020603050405020304" pitchFamily="2" charset="0"/>
              </a:rPr>
              <a:t>代表 </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（是现实世界中的某个客观对象在</a:t>
            </a:r>
            <a:r>
              <a:rPr lang="en-US" altLang="zh-CN" dirty="0">
                <a:latin typeface="Times New Roman" panose="02020603050405020304" pitchFamily="2" charset="0"/>
                <a:cs typeface="Times New Roman" panose="02020603050405020304" pitchFamily="2" charset="0"/>
              </a:rPr>
              <a:t>ER</a:t>
            </a:r>
            <a:r>
              <a:rPr lang="zh-CN" altLang="en-US" dirty="0">
                <a:latin typeface="Times New Roman" panose="02020603050405020304" pitchFamily="2" charset="0"/>
                <a:cs typeface="Times New Roman" panose="02020603050405020304" pitchFamily="2" charset="0"/>
              </a:rPr>
              <a:t>模型中的抽象表示）</a:t>
            </a:r>
          </a:p>
          <a:p>
            <a:pPr lvl="1">
              <a:lnSpc>
                <a:spcPct val="100000"/>
              </a:lnSpc>
              <a:buClr>
                <a:srgbClr val="C00000"/>
              </a:buClr>
            </a:pPr>
            <a:r>
              <a:rPr lang="zh-CN" altLang="en-US" dirty="0">
                <a:solidFill>
                  <a:srgbClr val="1F2DA8"/>
                </a:solidFill>
                <a:latin typeface="Times New Roman" panose="02020603050405020304" pitchFamily="2" charset="0"/>
                <a:cs typeface="Times New Roman" panose="02020603050405020304" pitchFamily="2" charset="0"/>
              </a:rPr>
              <a:t>点与点之间的</a:t>
            </a:r>
            <a:r>
              <a:rPr lang="zh-CN" altLang="en-US" dirty="0">
                <a:solidFill>
                  <a:srgbClr val="FF0000"/>
                </a:solidFill>
                <a:latin typeface="Times New Roman" panose="02020603050405020304" pitchFamily="2" charset="0"/>
                <a:cs typeface="Times New Roman" panose="02020603050405020304" pitchFamily="2" charset="0"/>
              </a:rPr>
              <a:t>线</a:t>
            </a:r>
            <a:r>
              <a:rPr lang="en-US" altLang="x-none" dirty="0">
                <a:latin typeface="Times New Roman" panose="02020603050405020304" pitchFamily="2" charset="0"/>
                <a:cs typeface="Times New Roman" panose="02020603050405020304" pitchFamily="2" charset="0"/>
              </a:rPr>
              <a:t>(line)</a:t>
            </a:r>
            <a:r>
              <a:rPr lang="zh-CN" altLang="en-US" dirty="0">
                <a:latin typeface="Times New Roman" panose="02020603050405020304" pitchFamily="2" charset="0"/>
                <a:cs typeface="Times New Roman" panose="02020603050405020304" pitchFamily="2" charset="0"/>
              </a:rPr>
              <a:t>代表在现实世界中的</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rPr>
              <a:t>实体之间的联系</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情况</a:t>
            </a:r>
          </a:p>
        </p:txBody>
      </p:sp>
      <p:grpSp>
        <p:nvGrpSpPr>
          <p:cNvPr id="6" name="组合 5"/>
          <p:cNvGrpSpPr/>
          <p:nvPr/>
        </p:nvGrpSpPr>
        <p:grpSpPr>
          <a:xfrm>
            <a:off x="2741295" y="3538220"/>
            <a:ext cx="6117590" cy="2038350"/>
            <a:chOff x="1917" y="1402"/>
            <a:chExt cx="9634" cy="3210"/>
          </a:xfrm>
        </p:grpSpPr>
        <p:pic>
          <p:nvPicPr>
            <p:cNvPr id="3" name="图片 2"/>
            <p:cNvPicPr>
              <a:picLocks noChangeAspect="1"/>
            </p:cNvPicPr>
            <p:nvPr/>
          </p:nvPicPr>
          <p:blipFill>
            <a:blip r:embed="rId3"/>
            <a:stretch>
              <a:fillRect/>
            </a:stretch>
          </p:blipFill>
          <p:spPr>
            <a:xfrm>
              <a:off x="4152" y="1402"/>
              <a:ext cx="5164" cy="3210"/>
            </a:xfrm>
            <a:prstGeom prst="rect">
              <a:avLst/>
            </a:prstGeom>
          </p:spPr>
        </p:pic>
        <p:sp>
          <p:nvSpPr>
            <p:cNvPr id="4" name="文本框 3"/>
            <p:cNvSpPr txBox="1"/>
            <p:nvPr/>
          </p:nvSpPr>
          <p:spPr>
            <a:xfrm>
              <a:off x="1917" y="2777"/>
              <a:ext cx="2235" cy="1501"/>
            </a:xfrm>
            <a:prstGeom prst="rect">
              <a:avLst/>
            </a:prstGeom>
            <a:noFill/>
          </p:spPr>
          <p:txBody>
            <a:bodyPr wrap="square" rtlCol="0">
              <a:spAutoFit/>
            </a:bodyPr>
            <a:lstStyle/>
            <a:p>
              <a:pPr algn="ctr"/>
              <a:r>
                <a:rPr lang="zh-CN" altLang="en-US" sz="2800" b="1">
                  <a:latin typeface="楷体" panose="02010609060101010101" charset="-122"/>
                  <a:ea typeface="楷体" panose="02010609060101010101" charset="-122"/>
                  <a:cs typeface="楷体" panose="02010609060101010101" charset="-122"/>
                </a:rPr>
                <a:t>实体集</a:t>
              </a:r>
              <a:r>
                <a:rPr lang="en-US" altLang="zh-CN" sz="2800" b="1">
                  <a:latin typeface="楷体" panose="02010609060101010101" charset="-122"/>
                  <a:ea typeface="楷体" panose="02010609060101010101" charset="-122"/>
                  <a:cs typeface="楷体" panose="02010609060101010101" charset="-122"/>
                </a:rPr>
                <a:t>A</a:t>
              </a:r>
            </a:p>
          </p:txBody>
        </p:sp>
        <p:sp>
          <p:nvSpPr>
            <p:cNvPr id="5" name="文本框 4"/>
            <p:cNvSpPr txBox="1"/>
            <p:nvPr/>
          </p:nvSpPr>
          <p:spPr>
            <a:xfrm>
              <a:off x="9316" y="2645"/>
              <a:ext cx="2235" cy="1501"/>
            </a:xfrm>
            <a:prstGeom prst="rect">
              <a:avLst/>
            </a:prstGeom>
            <a:noFill/>
          </p:spPr>
          <p:txBody>
            <a:bodyPr wrap="square" rtlCol="0">
              <a:spAutoFit/>
            </a:bodyPr>
            <a:lstStyle/>
            <a:p>
              <a:pPr algn="ctr"/>
              <a:r>
                <a:rPr lang="zh-CN" altLang="en-US" sz="2800" b="1">
                  <a:latin typeface="楷体" panose="02010609060101010101" charset="-122"/>
                  <a:ea typeface="楷体" panose="02010609060101010101" charset="-122"/>
                  <a:cs typeface="楷体" panose="02010609060101010101" charset="-122"/>
                </a:rPr>
                <a:t>实体集</a:t>
              </a:r>
              <a:r>
                <a:rPr lang="en-US" altLang="zh-CN" sz="2800" b="1">
                  <a:latin typeface="楷体" panose="02010609060101010101" charset="-122"/>
                  <a:ea typeface="楷体" panose="02010609060101010101" charset="-122"/>
                  <a:cs typeface="楷体" panose="02010609060101010101" charset="-122"/>
                </a:rPr>
                <a:t>B</a:t>
              </a:r>
            </a:p>
          </p:txBody>
        </p:sp>
      </p:grpSp>
      <p:sp>
        <p:nvSpPr>
          <p:cNvPr id="2" name="文本框 1"/>
          <p:cNvSpPr txBox="1"/>
          <p:nvPr/>
        </p:nvSpPr>
        <p:spPr>
          <a:xfrm>
            <a:off x="424180" y="5953760"/>
            <a:ext cx="11343005" cy="460375"/>
          </a:xfrm>
          <a:prstGeom prst="rect">
            <a:avLst/>
          </a:prstGeom>
          <a:solidFill>
            <a:schemeClr val="accent1">
              <a:lumMod val="20000"/>
              <a:lumOff val="80000"/>
              <a:alpha val="60000"/>
            </a:schemeClr>
          </a:solidFill>
        </p:spPr>
        <p:txBody>
          <a:bodyPr wrap="square" rtlCol="0">
            <a:spAutoFit/>
          </a:bodyPr>
          <a:lstStyle/>
          <a:p>
            <a:r>
              <a:rPr lang="zh-CN" altLang="en-US" sz="2400" b="1">
                <a:latin typeface="Times New Roman" panose="02020603050405020304" pitchFamily="2" charset="0"/>
                <a:ea typeface="楷体" panose="02010609060101010101" charset="-122"/>
                <a:cs typeface="Times New Roman" panose="02020603050405020304" pitchFamily="2" charset="0"/>
              </a:rPr>
              <a:t>注：这里是解释</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函数关系</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的示意图，不是</a:t>
            </a:r>
            <a:r>
              <a:rPr lang="en-US" altLang="zh-CN" sz="2400" b="1">
                <a:latin typeface="Times New Roman" panose="02020603050405020304" pitchFamily="2" charset="0"/>
                <a:ea typeface="楷体" panose="02010609060101010101" charset="-122"/>
                <a:cs typeface="Times New Roman" panose="02020603050405020304" pitchFamily="2" charset="0"/>
              </a:rPr>
              <a:t>ER</a:t>
            </a:r>
            <a:r>
              <a:rPr lang="zh-CN" altLang="en-US" sz="2400" b="1">
                <a:latin typeface="Times New Roman" panose="02020603050405020304" pitchFamily="2" charset="0"/>
                <a:ea typeface="楷体" panose="02010609060101010101" charset="-122"/>
                <a:cs typeface="Times New Roman" panose="02020603050405020304" pitchFamily="2" charset="0"/>
              </a:rPr>
              <a:t>图中用来表示属性的</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椭圆</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符号！</a:t>
            </a:r>
          </a:p>
        </p:txBody>
      </p:sp>
      <p:sp>
        <p:nvSpPr>
          <p:cNvPr id="7" name="灯片编号占位符 6"/>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73</a:t>
            </a:fld>
            <a:endParaRPr lang="zh-CN" altLang="en-US" strike="noStrike" noProof="1"/>
          </a:p>
        </p:txBody>
      </p:sp>
      <p:sp>
        <p:nvSpPr>
          <p:cNvPr id="8" name="页脚占位符 7"/>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p:sp>
        <p:nvSpPr>
          <p:cNvPr id="10" name="内容占位符 9"/>
          <p:cNvSpPr>
            <a:spLocks noGrp="1"/>
          </p:cNvSpPr>
          <p:nvPr>
            <p:ph idx="1"/>
          </p:nvPr>
        </p:nvSpPr>
        <p:spPr/>
        <p:txBody>
          <a:bodyPr/>
          <a:lstStyle/>
          <a:p>
            <a:pPr lvl="0" eaLnBrk="1" hangingPunct="1">
              <a:lnSpc>
                <a:spcPct val="100000"/>
              </a:lnSpc>
              <a:spcBef>
                <a:spcPct val="0"/>
              </a:spcBef>
            </a:pPr>
            <a:r>
              <a:rPr lang="zh-CN" altLang="en-US" dirty="0">
                <a:solidFill>
                  <a:srgbClr val="FF0000"/>
                </a:solidFill>
                <a:sym typeface="+mn-ea"/>
              </a:rPr>
              <a:t>一对一</a:t>
            </a:r>
            <a:endParaRPr lang="en-US" altLang="x-none" dirty="0"/>
          </a:p>
          <a:p>
            <a:pPr marL="457200" lvl="1" indent="0" eaLnBrk="1" hangingPunct="1">
              <a:lnSpc>
                <a:spcPct val="100000"/>
              </a:lnSpc>
              <a:spcBef>
                <a:spcPct val="0"/>
              </a:spcBef>
              <a:buNone/>
            </a:pPr>
            <a:r>
              <a:rPr lang="zh-CN" altLang="en-US" sz="2400" dirty="0">
                <a:latin typeface="+mn-ea"/>
                <a:cs typeface="+mn-ea"/>
                <a:sym typeface="+mn-ea"/>
              </a:rPr>
              <a:t>一对一的联系应该具备以下两个性质（</a:t>
            </a:r>
            <a:r>
              <a:rPr lang="en-US" altLang="zh-CN" sz="2400" dirty="0">
                <a:latin typeface="+mn-ea"/>
                <a:cs typeface="+mn-ea"/>
                <a:sym typeface="+mn-ea"/>
              </a:rPr>
              <a:t>a</a:t>
            </a:r>
            <a:r>
              <a:rPr lang="zh-CN" altLang="en-US" sz="2400" dirty="0">
                <a:latin typeface="+mn-ea"/>
                <a:cs typeface="+mn-ea"/>
                <a:sym typeface="+mn-ea"/>
              </a:rPr>
              <a:t>和</a:t>
            </a:r>
            <a:r>
              <a:rPr lang="en-US" altLang="zh-CN" sz="2400" dirty="0">
                <a:latin typeface="+mn-ea"/>
                <a:cs typeface="+mn-ea"/>
                <a:sym typeface="+mn-ea"/>
              </a:rPr>
              <a:t>b</a:t>
            </a:r>
            <a:r>
              <a:rPr lang="zh-CN" altLang="en-US" sz="2400" dirty="0">
                <a:latin typeface="+mn-ea"/>
                <a:cs typeface="+mn-ea"/>
                <a:sym typeface="+mn-ea"/>
              </a:rPr>
              <a:t>分别是实体集</a:t>
            </a:r>
            <a:r>
              <a:rPr lang="en-US" altLang="zh-CN" sz="2400" dirty="0">
                <a:latin typeface="+mn-ea"/>
                <a:cs typeface="+mn-ea"/>
                <a:sym typeface="+mn-ea"/>
              </a:rPr>
              <a:t>A</a:t>
            </a:r>
            <a:r>
              <a:rPr lang="zh-CN" altLang="en-US" sz="2400" dirty="0">
                <a:latin typeface="+mn-ea"/>
                <a:cs typeface="+mn-ea"/>
                <a:sym typeface="+mn-ea"/>
              </a:rPr>
              <a:t>和实体集</a:t>
            </a:r>
            <a:r>
              <a:rPr lang="en-US" altLang="zh-CN" sz="2400" dirty="0">
                <a:latin typeface="+mn-ea"/>
                <a:cs typeface="+mn-ea"/>
                <a:sym typeface="+mn-ea"/>
              </a:rPr>
              <a:t>B</a:t>
            </a:r>
            <a:r>
              <a:rPr lang="zh-CN" altLang="en-US" sz="2400" dirty="0">
                <a:latin typeface="+mn-ea"/>
                <a:cs typeface="+mn-ea"/>
                <a:sym typeface="+mn-ea"/>
              </a:rPr>
              <a:t>中的一个实体）：</a:t>
            </a:r>
            <a:endParaRPr lang="en-US" altLang="x-none" sz="2400" dirty="0">
              <a:latin typeface="+mn-ea"/>
              <a:cs typeface="+mn-ea"/>
            </a:endParaRPr>
          </a:p>
          <a:p>
            <a:pPr marL="971550" lvl="1" indent="-514350" eaLnBrk="1" hangingPunct="1">
              <a:lnSpc>
                <a:spcPct val="100000"/>
              </a:lnSpc>
              <a:spcBef>
                <a:spcPct val="0"/>
              </a:spcBef>
              <a:buFont typeface="+mj-ea"/>
              <a:buAutoNum type="circleNumDbPlain"/>
            </a:pPr>
            <a:r>
              <a:rPr lang="zh-CN" altLang="en-US" sz="2400" dirty="0">
                <a:solidFill>
                  <a:srgbClr val="FF0000"/>
                </a:solidFill>
                <a:latin typeface="+mn-ea"/>
                <a:cs typeface="+mn-ea"/>
                <a:sym typeface="+mn-ea"/>
              </a:rPr>
              <a:t>一个实体</a:t>
            </a:r>
            <a:r>
              <a:rPr lang="en-US" altLang="zh-CN" sz="2400" dirty="0">
                <a:solidFill>
                  <a:srgbClr val="FF0000"/>
                </a:solidFill>
                <a:latin typeface="+mn-ea"/>
                <a:cs typeface="+mn-ea"/>
                <a:sym typeface="+mn-ea"/>
              </a:rPr>
              <a:t>a</a:t>
            </a:r>
            <a:r>
              <a:rPr lang="zh-CN" altLang="en-US" sz="2400" dirty="0">
                <a:solidFill>
                  <a:srgbClr val="FF0000"/>
                </a:solidFill>
                <a:latin typeface="+mn-ea"/>
                <a:cs typeface="+mn-ea"/>
                <a:sym typeface="+mn-ea"/>
              </a:rPr>
              <a:t>最多只能对应唯一的一个实体</a:t>
            </a:r>
            <a:r>
              <a:rPr lang="en-US" altLang="zh-CN" sz="2400" dirty="0">
                <a:solidFill>
                  <a:srgbClr val="FF0000"/>
                </a:solidFill>
                <a:latin typeface="+mn-ea"/>
                <a:cs typeface="+mn-ea"/>
                <a:sym typeface="+mn-ea"/>
              </a:rPr>
              <a:t>b</a:t>
            </a:r>
            <a:endParaRPr lang="en-US" altLang="zh-CN" sz="2400" dirty="0">
              <a:solidFill>
                <a:srgbClr val="FF0000"/>
              </a:solidFill>
              <a:latin typeface="+mn-ea"/>
              <a:cs typeface="+mn-ea"/>
            </a:endParaRPr>
          </a:p>
          <a:p>
            <a:pPr marL="971550" lvl="1" indent="-514350" eaLnBrk="1" hangingPunct="1">
              <a:lnSpc>
                <a:spcPct val="100000"/>
              </a:lnSpc>
              <a:spcBef>
                <a:spcPct val="0"/>
              </a:spcBef>
              <a:buFont typeface="+mj-ea"/>
              <a:buAutoNum type="circleNumDbPlain"/>
            </a:pPr>
            <a:r>
              <a:rPr lang="zh-CN" altLang="en-US" sz="2400" dirty="0">
                <a:solidFill>
                  <a:srgbClr val="FF0000"/>
                </a:solidFill>
                <a:latin typeface="+mn-ea"/>
                <a:cs typeface="+mn-ea"/>
                <a:sym typeface="+mn-ea"/>
              </a:rPr>
              <a:t>一个实体</a:t>
            </a:r>
            <a:r>
              <a:rPr lang="en-US" altLang="zh-CN" sz="2400" dirty="0">
                <a:solidFill>
                  <a:srgbClr val="FF0000"/>
                </a:solidFill>
                <a:latin typeface="+mn-ea"/>
                <a:cs typeface="+mn-ea"/>
                <a:sym typeface="+mn-ea"/>
              </a:rPr>
              <a:t>b</a:t>
            </a:r>
            <a:r>
              <a:rPr lang="zh-CN" altLang="en-US" sz="2400" dirty="0">
                <a:solidFill>
                  <a:srgbClr val="FF0000"/>
                </a:solidFill>
                <a:latin typeface="+mn-ea"/>
                <a:cs typeface="+mn-ea"/>
                <a:sym typeface="+mn-ea"/>
              </a:rPr>
              <a:t>最多只能对应唯一的一个实体</a:t>
            </a:r>
            <a:r>
              <a:rPr lang="en-US" altLang="zh-CN" sz="2400" dirty="0">
                <a:solidFill>
                  <a:srgbClr val="FF0000"/>
                </a:solidFill>
                <a:latin typeface="+mn-ea"/>
                <a:cs typeface="+mn-ea"/>
                <a:sym typeface="+mn-ea"/>
              </a:rPr>
              <a:t>a</a:t>
            </a:r>
          </a:p>
          <a:p>
            <a:endParaRPr lang="en-US" altLang="zh-CN" sz="2400" dirty="0">
              <a:solidFill>
                <a:srgbClr val="FF0000"/>
              </a:solidFill>
              <a:latin typeface="+mn-ea"/>
              <a:cs typeface="+mn-ea"/>
              <a:sym typeface="+mn-ea"/>
            </a:endParaRPr>
          </a:p>
        </p:txBody>
      </p:sp>
      <p:sp>
        <p:nvSpPr>
          <p:cNvPr id="47110" name="Rectangle 4"/>
          <p:cNvSpPr/>
          <p:nvPr/>
        </p:nvSpPr>
        <p:spPr>
          <a:xfrm>
            <a:off x="5847715" y="2905125"/>
            <a:ext cx="4672330" cy="1676400"/>
          </a:xfrm>
          <a:prstGeom prst="rect">
            <a:avLst/>
          </a:prstGeom>
          <a:noFill/>
          <a:ln w="9525">
            <a:noFill/>
          </a:ln>
        </p:spPr>
        <p:txBody>
          <a:bodyPr wrap="square" anchor="t">
            <a:spAutoFit/>
          </a:bodyPr>
          <a:lstStyle/>
          <a:p>
            <a:pPr marL="457200" indent="-457200">
              <a:lnSpc>
                <a:spcPct val="100000"/>
              </a:lnSpc>
              <a:spcBef>
                <a:spcPts val="0"/>
              </a:spcBef>
              <a:spcAft>
                <a:spcPts val="1000"/>
              </a:spcAft>
              <a:buClr>
                <a:srgbClr val="C00000"/>
              </a:buClr>
              <a:buSzPct val="85000"/>
              <a:buFont typeface="Wingdings" panose="05000000000000000000" charset="0"/>
              <a:buChar char="Ø"/>
            </a:pP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一对一</a:t>
            </a:r>
            <a:r>
              <a:rPr lang="en-US" altLang="zh-CN" sz="2600" b="1" dirty="0">
                <a:solidFill>
                  <a:srgbClr val="1F2DA8"/>
                </a:solidFill>
                <a:ea typeface="楷体" panose="02010609060101010101" charset="-122"/>
                <a:cs typeface="Times New Roman" panose="02020603050405020304" pitchFamily="2" charset="0"/>
              </a:rPr>
              <a:t>’ </a:t>
            </a:r>
            <a:r>
              <a:rPr lang="zh-CN" altLang="en-US" sz="2600" b="1" dirty="0">
                <a:solidFill>
                  <a:srgbClr val="1F2DA8"/>
                </a:solidFill>
                <a:ea typeface="楷体" panose="02010609060101010101" charset="-122"/>
                <a:cs typeface="Times New Roman" panose="02020603050405020304" pitchFamily="2" charset="0"/>
              </a:rPr>
              <a:t>联系的例子</a:t>
            </a:r>
          </a:p>
          <a:p>
            <a:pPr marL="914400" lvl="1" indent="-457200">
              <a:lnSpc>
                <a:spcPct val="100000"/>
              </a:lnSpc>
              <a:spcBef>
                <a:spcPts val="0"/>
              </a:spcBef>
              <a:spcAft>
                <a:spcPts val="1000"/>
              </a:spcAft>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居民</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身份证</a:t>
            </a:r>
            <a:r>
              <a:rPr lang="en-US" altLang="zh-CN" sz="2600" b="1" dirty="0">
                <a:solidFill>
                  <a:srgbClr val="1F2DA8"/>
                </a:solidFill>
                <a:ea typeface="楷体" panose="02010609060101010101" charset="-122"/>
                <a:cs typeface="Times New Roman" panose="02020603050405020304" pitchFamily="2" charset="0"/>
                <a:sym typeface="+mn-ea"/>
              </a:rPr>
              <a:t>’</a:t>
            </a:r>
            <a:endParaRPr lang="zh-CN" altLang="en-US" sz="2600" b="1" dirty="0">
              <a:solidFill>
                <a:srgbClr val="1F2DA8"/>
              </a:solidFill>
              <a:ea typeface="楷体" panose="02010609060101010101" charset="-122"/>
              <a:cs typeface="Times New Roman" panose="02020603050405020304" pitchFamily="2" charset="0"/>
            </a:endParaRPr>
          </a:p>
          <a:p>
            <a:pPr marL="914400" lvl="1" indent="-457200">
              <a:lnSpc>
                <a:spcPct val="100000"/>
              </a:lnSpc>
              <a:spcBef>
                <a:spcPts val="1000"/>
              </a:spcBef>
              <a:spcAft>
                <a:spcPts val="1000"/>
              </a:spcAft>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学生</a:t>
            </a:r>
            <a:r>
              <a:rPr lang="en-US" altLang="zh-CN"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学生证</a:t>
            </a:r>
            <a:r>
              <a:rPr lang="en-US" altLang="zh-CN" sz="2600" b="1" dirty="0">
                <a:solidFill>
                  <a:srgbClr val="1F2DA8"/>
                </a:solidFill>
                <a:ea typeface="楷体" panose="02010609060101010101" charset="-122"/>
                <a:cs typeface="Times New Roman" panose="02020603050405020304" pitchFamily="2" charset="0"/>
              </a:rPr>
              <a:t>’</a:t>
            </a:r>
          </a:p>
        </p:txBody>
      </p:sp>
      <p:grpSp>
        <p:nvGrpSpPr>
          <p:cNvPr id="8" name="组合 7"/>
          <p:cNvGrpSpPr/>
          <p:nvPr/>
        </p:nvGrpSpPr>
        <p:grpSpPr>
          <a:xfrm>
            <a:off x="1946910" y="2776855"/>
            <a:ext cx="3353435" cy="2517775"/>
            <a:chOff x="666" y="1548"/>
            <a:chExt cx="5281" cy="3965"/>
          </a:xfrm>
        </p:grpSpPr>
        <p:grpSp>
          <p:nvGrpSpPr>
            <p:cNvPr id="6" name="组合 5"/>
            <p:cNvGrpSpPr/>
            <p:nvPr/>
          </p:nvGrpSpPr>
          <p:grpSpPr>
            <a:xfrm>
              <a:off x="666" y="4788"/>
              <a:ext cx="5281" cy="725"/>
              <a:chOff x="441" y="4760"/>
              <a:chExt cx="5281" cy="725"/>
            </a:xfrm>
          </p:grpSpPr>
          <p:sp>
            <p:nvSpPr>
              <p:cNvPr id="4" name="文本框 3"/>
              <p:cNvSpPr txBox="1"/>
              <p:nvPr/>
            </p:nvSpPr>
            <p:spPr>
              <a:xfrm>
                <a:off x="441" y="4760"/>
                <a:ext cx="2235" cy="725"/>
              </a:xfrm>
              <a:prstGeom prst="rect">
                <a:avLst/>
              </a:prstGeom>
              <a:noFill/>
            </p:spPr>
            <p:txBody>
              <a:bodyPr wrap="square" rtlCol="0">
                <a:spAutoFit/>
              </a:bodyPr>
              <a:lstStyle/>
              <a:p>
                <a:pPr algn="ctr"/>
                <a:r>
                  <a:rPr lang="zh-CN" altLang="en-US" sz="2400" b="1">
                    <a:latin typeface="楷体" panose="02010609060101010101" charset="-122"/>
                    <a:ea typeface="楷体" panose="02010609060101010101" charset="-122"/>
                    <a:cs typeface="楷体" panose="02010609060101010101" charset="-122"/>
                  </a:rPr>
                  <a:t>实体集</a:t>
                </a:r>
                <a:r>
                  <a:rPr lang="en-US" altLang="zh-CN" sz="2400" b="1">
                    <a:latin typeface="楷体" panose="02010609060101010101" charset="-122"/>
                    <a:ea typeface="楷体" panose="02010609060101010101" charset="-122"/>
                    <a:cs typeface="楷体" panose="02010609060101010101" charset="-122"/>
                  </a:rPr>
                  <a:t>A</a:t>
                </a:r>
              </a:p>
            </p:txBody>
          </p:sp>
          <p:sp>
            <p:nvSpPr>
              <p:cNvPr id="5" name="文本框 4"/>
              <p:cNvSpPr txBox="1"/>
              <p:nvPr/>
            </p:nvSpPr>
            <p:spPr>
              <a:xfrm>
                <a:off x="3487" y="4760"/>
                <a:ext cx="2235" cy="725"/>
              </a:xfrm>
              <a:prstGeom prst="rect">
                <a:avLst/>
              </a:prstGeom>
              <a:noFill/>
            </p:spPr>
            <p:txBody>
              <a:bodyPr wrap="square" rtlCol="0">
                <a:spAutoFit/>
              </a:bodyPr>
              <a:lstStyle/>
              <a:p>
                <a:pPr algn="ctr"/>
                <a:r>
                  <a:rPr lang="zh-CN" altLang="en-US" sz="2400" b="1">
                    <a:latin typeface="楷体" panose="02010609060101010101" charset="-122"/>
                    <a:ea typeface="楷体" panose="02010609060101010101" charset="-122"/>
                    <a:cs typeface="楷体" panose="02010609060101010101" charset="-122"/>
                  </a:rPr>
                  <a:t>实体集</a:t>
                </a:r>
                <a:r>
                  <a:rPr lang="en-US" altLang="zh-CN" sz="2400" b="1">
                    <a:latin typeface="楷体" panose="02010609060101010101" charset="-122"/>
                    <a:ea typeface="楷体" panose="02010609060101010101" charset="-122"/>
                    <a:cs typeface="楷体" panose="02010609060101010101" charset="-122"/>
                  </a:rPr>
                  <a:t>B</a:t>
                </a:r>
              </a:p>
            </p:txBody>
          </p:sp>
        </p:grpSp>
        <p:pic>
          <p:nvPicPr>
            <p:cNvPr id="7" name="图片 6"/>
            <p:cNvPicPr>
              <a:picLocks noChangeAspect="1"/>
            </p:cNvPicPr>
            <p:nvPr/>
          </p:nvPicPr>
          <p:blipFill>
            <a:blip r:embed="rId2"/>
            <a:stretch>
              <a:fillRect/>
            </a:stretch>
          </p:blipFill>
          <p:spPr>
            <a:xfrm>
              <a:off x="666" y="1548"/>
              <a:ext cx="5281" cy="3240"/>
            </a:xfrm>
            <a:prstGeom prst="rect">
              <a:avLst/>
            </a:prstGeom>
          </p:spPr>
        </p:pic>
      </p:grpSp>
      <p:sp>
        <p:nvSpPr>
          <p:cNvPr id="2" name="Rectangle 4"/>
          <p:cNvSpPr/>
          <p:nvPr/>
        </p:nvSpPr>
        <p:spPr>
          <a:xfrm>
            <a:off x="5847715" y="4497705"/>
            <a:ext cx="4672330" cy="691515"/>
          </a:xfrm>
          <a:prstGeom prst="rect">
            <a:avLst/>
          </a:prstGeom>
          <a:noFill/>
          <a:ln w="9525">
            <a:noFill/>
          </a:ln>
        </p:spPr>
        <p:txBody>
          <a:bodyPr wrap="square" anchor="t">
            <a:spAutoFit/>
          </a:bodyPr>
          <a:lstStyle/>
          <a:p>
            <a:pPr marL="914400" lvl="1" indent="-457200">
              <a:lnSpc>
                <a:spcPct val="150000"/>
              </a:lnSpc>
              <a:spcBef>
                <a:spcPct val="20000"/>
              </a:spcBef>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居民</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驾驶证</a:t>
            </a:r>
            <a:r>
              <a:rPr lang="en-US" altLang="zh-CN" sz="2600" b="1" dirty="0">
                <a:solidFill>
                  <a:srgbClr val="1F2DA8"/>
                </a:solidFill>
                <a:ea typeface="楷体" panose="02010609060101010101" charset="-122"/>
                <a:cs typeface="Times New Roman" panose="02020603050405020304" pitchFamily="2" charset="0"/>
                <a:sym typeface="+mn-ea"/>
              </a:rPr>
              <a:t>’</a:t>
            </a:r>
          </a:p>
        </p:txBody>
      </p:sp>
      <p:sp>
        <p:nvSpPr>
          <p:cNvPr id="3" name="Rectangle 4"/>
          <p:cNvSpPr/>
          <p:nvPr/>
        </p:nvSpPr>
        <p:spPr>
          <a:xfrm>
            <a:off x="423545" y="5445760"/>
            <a:ext cx="11344275" cy="1198880"/>
          </a:xfrm>
          <a:prstGeom prst="rect">
            <a:avLst/>
          </a:prstGeom>
          <a:noFill/>
          <a:ln w="9525">
            <a:noFill/>
          </a:ln>
        </p:spPr>
        <p:txBody>
          <a:bodyPr wrap="square" anchor="t">
            <a:spAutoFit/>
          </a:bodyPr>
          <a:lstStyle/>
          <a:p>
            <a:pPr lvl="0">
              <a:lnSpc>
                <a:spcPct val="100000"/>
              </a:lnSpc>
              <a:spcBef>
                <a:spcPct val="20000"/>
              </a:spcBef>
            </a:pPr>
            <a:r>
              <a:rPr lang="zh-CN" altLang="en-US" sz="2400" b="1" dirty="0">
                <a:solidFill>
                  <a:srgbClr val="1F2DA8"/>
                </a:solidFill>
                <a:ea typeface="楷体" panose="02010609060101010101" charset="-122"/>
                <a:cs typeface="Times New Roman" panose="02020603050405020304" pitchFamily="2" charset="0"/>
                <a:sym typeface="+mn-ea"/>
              </a:rPr>
              <a:t>【思考】在</a:t>
            </a:r>
            <a:r>
              <a:rPr lang="en-US" altLang="zh-CN" sz="2400" b="1" dirty="0">
                <a:solidFill>
                  <a:srgbClr val="1F2DA8"/>
                </a:solidFill>
                <a:ea typeface="楷体" panose="02010609060101010101" charset="-122"/>
                <a:cs typeface="Times New Roman" panose="02020603050405020304" pitchFamily="2" charset="0"/>
                <a:sym typeface="+mn-ea"/>
              </a:rPr>
              <a:t>‘</a:t>
            </a:r>
            <a:r>
              <a:rPr lang="zh-CN" altLang="en-US" sz="2400" b="1" dirty="0">
                <a:solidFill>
                  <a:srgbClr val="1F2DA8"/>
                </a:solidFill>
                <a:ea typeface="楷体" panose="02010609060101010101" charset="-122"/>
                <a:cs typeface="Times New Roman" panose="02020603050405020304" pitchFamily="2" charset="0"/>
                <a:sym typeface="+mn-ea"/>
              </a:rPr>
              <a:t>一对一</a:t>
            </a:r>
            <a:r>
              <a:rPr lang="en-US" altLang="zh-CN" sz="2400" b="1" dirty="0">
                <a:solidFill>
                  <a:srgbClr val="1F2DA8"/>
                </a:solidFill>
                <a:ea typeface="楷体" panose="02010609060101010101" charset="-122"/>
                <a:cs typeface="Times New Roman" panose="02020603050405020304" pitchFamily="2" charset="0"/>
                <a:sym typeface="+mn-ea"/>
              </a:rPr>
              <a:t>’</a:t>
            </a:r>
            <a:r>
              <a:rPr lang="zh-CN" altLang="en-US" sz="2400" b="1" dirty="0">
                <a:solidFill>
                  <a:srgbClr val="1F2DA8"/>
                </a:solidFill>
                <a:ea typeface="楷体" panose="02010609060101010101" charset="-122"/>
                <a:cs typeface="Times New Roman" panose="02020603050405020304" pitchFamily="2" charset="0"/>
                <a:sym typeface="+mn-ea"/>
              </a:rPr>
              <a:t>联系中，允许一个实体集中的某些实体，在另一个实体集中不存在与之对应的任何实体。请列举一个这样的二元联系例子，在两个实体集中，都存在着某些实体，与另一个实体集中的任何实体没有联系。</a:t>
            </a:r>
          </a:p>
        </p:txBody>
      </p:sp>
      <p:sp>
        <p:nvSpPr>
          <p:cNvPr id="11" name="灯片编号占位符 10"/>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74</a:t>
            </a:fld>
            <a:endParaRPr lang="zh-CN" altLang="en-US" strike="noStrike" noProof="1"/>
          </a:p>
        </p:txBody>
      </p:sp>
      <p:sp>
        <p:nvSpPr>
          <p:cNvPr id="12" name="页脚占位符 1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10"/>
                                        </p:tgtEl>
                                        <p:attrNameLst>
                                          <p:attrName>style.visibility</p:attrName>
                                        </p:attrNameLst>
                                      </p:cBhvr>
                                      <p:to>
                                        <p:strVal val="visible"/>
                                      </p:to>
                                    </p:set>
                                    <p:animEffect transition="in" filter="blinds(horizontal)">
                                      <p:cBhvr>
                                        <p:cTn id="7" dur="500"/>
                                        <p:tgtEl>
                                          <p:spTgt spid="471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p:bldP spid="2" grpId="0"/>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wrap="square" tIns="0" bIns="0" anchor="ctr"/>
          <a:lstStyle/>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pPr lvl="0" eaLnBrk="1" hangingPunct="1">
                  <a:lnSpc>
                    <a:spcPct val="100000"/>
                  </a:lnSpc>
                </a:pPr>
                <a:r>
                  <a:rPr lang="zh-CN" altLang="en-US" dirty="0">
                    <a:solidFill>
                      <a:srgbClr val="FF0000"/>
                    </a:solidFill>
                    <a:sym typeface="+mn-ea"/>
                  </a:rPr>
                  <a:t>一对多</a:t>
                </a:r>
                <a:endParaRPr lang="en-US" altLang="x-none" dirty="0"/>
              </a:p>
              <a:p>
                <a:pPr marL="457200" lvl="1" indent="0" eaLnBrk="1" hangingPunct="1">
                  <a:lnSpc>
                    <a:spcPct val="100000"/>
                  </a:lnSpc>
                  <a:spcBef>
                    <a:spcPts val="600"/>
                  </a:spcBef>
                  <a:buNone/>
                </a:pPr>
                <a:r>
                  <a:rPr lang="zh-CN" altLang="en-US" dirty="0">
                    <a:sym typeface="+mn-ea"/>
                  </a:rPr>
                  <a:t>假设在实体集</a:t>
                </a:r>
                <a:r>
                  <a:rPr lang="en-US" altLang="zh-CN" dirty="0">
                    <a:sym typeface="+mn-ea"/>
                  </a:rPr>
                  <a:t>A</a:t>
                </a:r>
                <a:r>
                  <a:rPr lang="zh-CN" altLang="en-US" dirty="0">
                    <a:sym typeface="+mn-ea"/>
                  </a:rPr>
                  <a:t>与实体集</a:t>
                </a:r>
                <a:r>
                  <a:rPr lang="en-US" altLang="zh-CN" dirty="0">
                    <a:sym typeface="+mn-ea"/>
                  </a:rPr>
                  <a:t>B</a:t>
                </a:r>
                <a:r>
                  <a:rPr lang="zh-CN" altLang="en-US" dirty="0">
                    <a:sym typeface="+mn-ea"/>
                  </a:rPr>
                  <a:t>之间存在一个</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一对多</a:t>
                </a:r>
                <a:r>
                  <a:rPr lang="en-US" altLang="zh-CN" dirty="0">
                    <a:latin typeface="Times New Roman" panose="02020603050405020304" pitchFamily="2" charset="0"/>
                    <a:cs typeface="Times New Roman" panose="02020603050405020304" pitchFamily="2" charset="0"/>
                    <a:sym typeface="+mn-ea"/>
                  </a:rPr>
                  <a:t>’</a:t>
                </a:r>
                <a:r>
                  <a:rPr lang="zh-CN" altLang="en-US" dirty="0">
                    <a:sym typeface="+mn-ea"/>
                  </a:rPr>
                  <a:t>的联系，则该联系具备以下性质</a:t>
                </a:r>
                <a:r>
                  <a:rPr lang="en-US" altLang="zh-CN" dirty="0">
                    <a:latin typeface="+mn-ea"/>
                    <a:cs typeface="+mn-ea"/>
                    <a:sym typeface="+mn-ea"/>
                  </a:rPr>
                  <a:t>(</a:t>
                </a:r>
                <a:r>
                  <a:rPr lang="zh-CN" altLang="en-US" dirty="0">
                    <a:latin typeface="+mn-ea"/>
                    <a:cs typeface="+mn-ea"/>
                    <a:sym typeface="+mn-ea"/>
                  </a:rPr>
                  <a:t>实体</a:t>
                </a:r>
                <a:r>
                  <a:rPr lang="en-US" altLang="zh-CN" dirty="0">
                    <a:latin typeface="+mn-ea"/>
                    <a:cs typeface="+mn-ea"/>
                    <a:sym typeface="+mn-ea"/>
                  </a:rPr>
                  <a:t>a</a:t>
                </a:r>
                <a14:m>
                  <m:oMath xmlns:m="http://schemas.openxmlformats.org/officeDocument/2006/math">
                    <m:r>
                      <a:rPr lang="en-US" altLang="zh-CN" dirty="0">
                        <a:latin typeface="Cambria Math" panose="02040503050406030204" charset="0"/>
                        <a:ea typeface="微软雅黑" panose="020B0503020204020204" charset="-122"/>
                        <a:cs typeface="Cambria Math" panose="02040503050406030204" charset="0"/>
                        <a:sym typeface="+mn-ea"/>
                      </a:rPr>
                      <m:t> ∈ </m:t>
                    </m:r>
                  </m:oMath>
                </a14:m>
                <a:r>
                  <a:rPr lang="zh-CN" altLang="en-US" dirty="0">
                    <a:latin typeface="+mn-ea"/>
                    <a:cs typeface="+mn-ea"/>
                    <a:sym typeface="+mn-ea"/>
                  </a:rPr>
                  <a:t>实体集</a:t>
                </a:r>
                <a:r>
                  <a:rPr lang="en-US" altLang="zh-CN" dirty="0">
                    <a:latin typeface="+mn-ea"/>
                    <a:cs typeface="+mn-ea"/>
                    <a:sym typeface="+mn-ea"/>
                  </a:rPr>
                  <a:t>A,  </a:t>
                </a:r>
                <a:r>
                  <a:rPr lang="zh-CN" altLang="en-US" dirty="0">
                    <a:latin typeface="+mn-ea"/>
                    <a:cs typeface="+mn-ea"/>
                    <a:sym typeface="+mn-ea"/>
                  </a:rPr>
                  <a:t>实体</a:t>
                </a:r>
                <a:r>
                  <a:rPr lang="en-US" altLang="zh-CN" dirty="0">
                    <a:latin typeface="+mn-ea"/>
                    <a:cs typeface="+mn-ea"/>
                    <a:sym typeface="+mn-ea"/>
                  </a:rPr>
                  <a:t>b</a:t>
                </a:r>
                <a14:m>
                  <m:oMath xmlns:m="http://schemas.openxmlformats.org/officeDocument/2006/math">
                    <m:r>
                      <a:rPr lang="en-US" altLang="zh-CN" dirty="0">
                        <a:latin typeface="Cambria Math" panose="02040503050406030204" charset="0"/>
                        <a:ea typeface="微软雅黑" panose="020B0503020204020204" charset="-122"/>
                        <a:cs typeface="Cambria Math" panose="02040503050406030204" charset="0"/>
                        <a:sym typeface="+mn-ea"/>
                      </a:rPr>
                      <m:t> ∈ </m:t>
                    </m:r>
                  </m:oMath>
                </a14:m>
                <a:r>
                  <a:rPr lang="zh-CN" altLang="en-US" dirty="0">
                    <a:latin typeface="+mn-ea"/>
                    <a:cs typeface="+mn-ea"/>
                    <a:sym typeface="+mn-ea"/>
                  </a:rPr>
                  <a:t>实体集</a:t>
                </a:r>
                <a:r>
                  <a:rPr lang="en-US" altLang="zh-CN" dirty="0">
                    <a:latin typeface="+mn-ea"/>
                    <a:cs typeface="+mn-ea"/>
                    <a:sym typeface="+mn-ea"/>
                  </a:rPr>
                  <a:t>B)</a:t>
                </a:r>
                <a:endParaRPr lang="en-US" altLang="x-none" dirty="0"/>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允许一个实体</a:t>
                </a:r>
                <a:r>
                  <a:rPr lang="en-US" altLang="zh-CN" dirty="0">
                    <a:solidFill>
                      <a:srgbClr val="FF0000"/>
                    </a:solidFill>
                    <a:sym typeface="+mn-ea"/>
                  </a:rPr>
                  <a:t>a</a:t>
                </a:r>
                <a:r>
                  <a:rPr lang="zh-CN" altLang="en-US" dirty="0">
                    <a:solidFill>
                      <a:srgbClr val="FF0000"/>
                    </a:solidFill>
                    <a:sym typeface="+mn-ea"/>
                  </a:rPr>
                  <a:t>对应多个实体</a:t>
                </a:r>
                <a:r>
                  <a:rPr lang="en-US" altLang="zh-CN" dirty="0">
                    <a:solidFill>
                      <a:srgbClr val="FF0000"/>
                    </a:solidFill>
                    <a:sym typeface="+mn-ea"/>
                  </a:rPr>
                  <a:t>b</a:t>
                </a:r>
                <a:r>
                  <a:rPr lang="zh-CN" altLang="en-US" dirty="0">
                    <a:solidFill>
                      <a:srgbClr val="FF0000"/>
                    </a:solidFill>
                    <a:sym typeface="+mn-ea"/>
                  </a:rPr>
                  <a:t>，但是</a:t>
                </a:r>
                <a:endParaRPr lang="en-US" altLang="zh-CN" dirty="0">
                  <a:solidFill>
                    <a:srgbClr val="FF0000"/>
                  </a:solidFill>
                </a:endParaRPr>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b</a:t>
                </a:r>
                <a:r>
                  <a:rPr lang="zh-CN" altLang="en-US" dirty="0">
                    <a:solidFill>
                      <a:srgbClr val="FF0000"/>
                    </a:solidFill>
                    <a:sym typeface="+mn-ea"/>
                  </a:rPr>
                  <a:t>最多只能对应唯一的一个实体</a:t>
                </a:r>
                <a:r>
                  <a:rPr lang="en-US" altLang="zh-CN" dirty="0">
                    <a:solidFill>
                      <a:srgbClr val="FF0000"/>
                    </a:solidFill>
                    <a:sym typeface="+mn-ea"/>
                  </a:rPr>
                  <a:t>a</a:t>
                </a:r>
              </a:p>
              <a:p>
                <a:endParaRPr lang="en-US" altLang="zh-CN" dirty="0">
                  <a:solidFill>
                    <a:srgbClr val="FF0000"/>
                  </a:solidFill>
                  <a:sym typeface="+mn-ea"/>
                </a:endParaRPr>
              </a:p>
            </p:txBody>
          </p:sp>
        </mc:Choice>
        <mc:Fallback xmlns="">
          <p:sp>
            <p:nvSpPr>
              <p:cNvPr id="2" name="内容占位符 1"/>
              <p:cNvSpPr>
                <a:spLocks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zh-CN" altLang="en-US">
                    <a:noFill/>
                  </a:rPr>
                  <a:t> </a:t>
                </a:r>
              </a:p>
            </p:txBody>
          </p:sp>
        </mc:Fallback>
      </mc:AlternateContent>
      <p:sp>
        <p:nvSpPr>
          <p:cNvPr id="48134" name="Rectangle 5"/>
          <p:cNvSpPr/>
          <p:nvPr/>
        </p:nvSpPr>
        <p:spPr>
          <a:xfrm>
            <a:off x="5166995" y="3404870"/>
            <a:ext cx="5121910" cy="2202180"/>
          </a:xfrm>
          <a:prstGeom prst="rect">
            <a:avLst/>
          </a:prstGeom>
          <a:noFill/>
          <a:ln w="9525">
            <a:noFill/>
          </a:ln>
        </p:spPr>
        <p:txBody>
          <a:bodyPr anchor="t">
            <a:spAutoFit/>
          </a:bodyPr>
          <a:lstStyle/>
          <a:p>
            <a:pPr marL="457200" indent="-457200">
              <a:lnSpc>
                <a:spcPct val="150000"/>
              </a:lnSpc>
              <a:spcBef>
                <a:spcPct val="20000"/>
              </a:spcBef>
              <a:buClr>
                <a:srgbClr val="C00000"/>
              </a:buClr>
              <a:buSzPct val="85000"/>
              <a:buFont typeface="Wingdings" panose="05000000000000000000" charset="0"/>
              <a:buChar char="Ø"/>
            </a:pPr>
            <a:r>
              <a:rPr lang="zh-CN" altLang="en-US" sz="2800" b="1" dirty="0">
                <a:solidFill>
                  <a:srgbClr val="1F2DA8"/>
                </a:solidFill>
                <a:ea typeface="楷体" panose="02010609060101010101" charset="-122"/>
                <a:cs typeface="Times New Roman" panose="02020603050405020304" pitchFamily="2" charset="0"/>
              </a:rPr>
              <a:t>例如（从左到右的</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一</a:t>
            </a:r>
            <a:r>
              <a:rPr lang="zh-CN" altLang="en-US" sz="2800" b="1" dirty="0">
                <a:solidFill>
                  <a:srgbClr val="1F2DA8"/>
                </a:solidFill>
                <a:ea typeface="楷体" panose="02010609060101010101" charset="-122"/>
                <a:cs typeface="Times New Roman" panose="02020603050405020304" pitchFamily="2" charset="0"/>
                <a:sym typeface="+mn-ea"/>
              </a:rPr>
              <a:t>对</a:t>
            </a:r>
            <a:r>
              <a:rPr lang="zh-CN" altLang="en-US" sz="2800" b="1" dirty="0">
                <a:solidFill>
                  <a:srgbClr val="1F2DA8"/>
                </a:solidFill>
                <a:ea typeface="楷体" panose="02010609060101010101" charset="-122"/>
                <a:cs typeface="Times New Roman" panose="02020603050405020304" pitchFamily="2" charset="0"/>
              </a:rPr>
              <a:t>多</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a:t>
            </a:r>
          </a:p>
          <a:p>
            <a:pPr marL="914400" lvl="1" indent="-457200">
              <a:lnSpc>
                <a:spcPct val="150000"/>
              </a:lnSpc>
              <a:spcBef>
                <a:spcPct val="20000"/>
              </a:spcBef>
              <a:buClr>
                <a:srgbClr val="C00000"/>
              </a:buClr>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住宿</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宿舍</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学生</a:t>
            </a:r>
            <a:r>
              <a:rPr lang="en-US" altLang="zh-CN" sz="2800" b="1" dirty="0">
                <a:solidFill>
                  <a:srgbClr val="1F2DA8"/>
                </a:solidFill>
                <a:ea typeface="楷体" panose="02010609060101010101" charset="-122"/>
                <a:cs typeface="Times New Roman" panose="02020603050405020304" pitchFamily="2" charset="0"/>
              </a:rPr>
              <a:t>’</a:t>
            </a:r>
          </a:p>
          <a:p>
            <a:pPr marL="914400" lvl="1" indent="-457200">
              <a:lnSpc>
                <a:spcPct val="150000"/>
              </a:lnSpc>
              <a:spcBef>
                <a:spcPct val="20000"/>
              </a:spcBef>
              <a:buClr>
                <a:srgbClr val="C00000"/>
              </a:buClr>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拥有</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人</a:t>
            </a:r>
            <a:r>
              <a:rPr lang="en-US" altLang="zh-CN"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银行卡</a:t>
            </a:r>
            <a:r>
              <a:rPr lang="en-US" altLang="zh-CN" sz="2800" b="1" dirty="0">
                <a:solidFill>
                  <a:srgbClr val="1F2DA8"/>
                </a:solidFill>
                <a:ea typeface="楷体" panose="02010609060101010101" charset="-122"/>
                <a:cs typeface="Times New Roman" panose="02020603050405020304" pitchFamily="2" charset="0"/>
              </a:rPr>
              <a:t>’</a:t>
            </a:r>
          </a:p>
        </p:txBody>
      </p:sp>
      <p:grpSp>
        <p:nvGrpSpPr>
          <p:cNvPr id="7" name="组合 6"/>
          <p:cNvGrpSpPr/>
          <p:nvPr/>
        </p:nvGrpSpPr>
        <p:grpSpPr>
          <a:xfrm>
            <a:off x="1594485" y="3142615"/>
            <a:ext cx="2997200" cy="3117850"/>
            <a:chOff x="927" y="5559"/>
            <a:chExt cx="4720" cy="4910"/>
          </a:xfrm>
        </p:grpSpPr>
        <p:pic>
          <p:nvPicPr>
            <p:cNvPr id="4" name="图片 3"/>
            <p:cNvPicPr>
              <a:picLocks noChangeAspect="1"/>
            </p:cNvPicPr>
            <p:nvPr/>
          </p:nvPicPr>
          <p:blipFill>
            <a:blip r:embed="rId4"/>
            <a:stretch>
              <a:fillRect/>
            </a:stretch>
          </p:blipFill>
          <p:spPr>
            <a:xfrm>
              <a:off x="1080" y="5559"/>
              <a:ext cx="4295" cy="3270"/>
            </a:xfrm>
            <a:prstGeom prst="rect">
              <a:avLst/>
            </a:prstGeom>
          </p:spPr>
        </p:pic>
        <p:sp>
          <p:nvSpPr>
            <p:cNvPr id="5" name="文本框 4"/>
            <p:cNvSpPr txBox="1"/>
            <p:nvPr/>
          </p:nvSpPr>
          <p:spPr>
            <a:xfrm>
              <a:off x="927" y="9065"/>
              <a:ext cx="2235" cy="1404"/>
            </a:xfrm>
            <a:prstGeom prst="rect">
              <a:avLst/>
            </a:prstGeom>
            <a:noFill/>
          </p:spPr>
          <p:txBody>
            <a:bodyPr wrap="square" rtlCol="0">
              <a:spAutoFit/>
            </a:bodyPr>
            <a:lstStyle/>
            <a:p>
              <a:pPr algn="ctr"/>
              <a:r>
                <a:rPr lang="zh-CN" altLang="en-US" sz="2600" b="1">
                  <a:ea typeface="楷体" panose="02010609060101010101" charset="-122"/>
                  <a:cs typeface="Times New Roman" panose="02020603050405020304" pitchFamily="2" charset="0"/>
                </a:rPr>
                <a:t>实体集</a:t>
              </a:r>
            </a:p>
            <a:p>
              <a:pPr algn="ctr"/>
              <a:r>
                <a:rPr lang="en-US" altLang="zh-CN" sz="2600" b="1">
                  <a:ea typeface="楷体" panose="02010609060101010101" charset="-122"/>
                  <a:cs typeface="Times New Roman" panose="02020603050405020304" pitchFamily="2" charset="0"/>
                </a:rPr>
                <a:t>A</a:t>
              </a:r>
            </a:p>
          </p:txBody>
        </p:sp>
        <p:sp>
          <p:nvSpPr>
            <p:cNvPr id="6" name="文本框 5"/>
            <p:cNvSpPr txBox="1"/>
            <p:nvPr/>
          </p:nvSpPr>
          <p:spPr>
            <a:xfrm>
              <a:off x="3412" y="9065"/>
              <a:ext cx="2235" cy="1404"/>
            </a:xfrm>
            <a:prstGeom prst="rect">
              <a:avLst/>
            </a:prstGeom>
            <a:noFill/>
          </p:spPr>
          <p:txBody>
            <a:bodyPr wrap="square" rtlCol="0">
              <a:spAutoFit/>
            </a:bodyPr>
            <a:lstStyle/>
            <a:p>
              <a:pPr algn="ctr"/>
              <a:r>
                <a:rPr lang="zh-CN" altLang="en-US" sz="2600" b="1">
                  <a:ea typeface="楷体" panose="02010609060101010101" charset="-122"/>
                  <a:cs typeface="Times New Roman" panose="02020603050405020304" pitchFamily="2" charset="0"/>
                </a:rPr>
                <a:t>实体集</a:t>
              </a:r>
            </a:p>
            <a:p>
              <a:pPr algn="ctr"/>
              <a:r>
                <a:rPr lang="en-US" altLang="zh-CN" sz="2600" b="1">
                  <a:ea typeface="楷体" panose="02010609060101010101" charset="-122"/>
                  <a:cs typeface="Times New Roman" panose="02020603050405020304" pitchFamily="2" charset="0"/>
                </a:rPr>
                <a:t>B</a:t>
              </a:r>
            </a:p>
          </p:txBody>
        </p:sp>
      </p:gr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75</a:t>
            </a:fld>
            <a:endParaRPr lang="zh-CN" altLang="en-US" strike="noStrike" noProof="1"/>
          </a:p>
        </p:txBody>
      </p:sp>
      <p:sp>
        <p:nvSpPr>
          <p:cNvPr id="8" name="页脚占位符 7"/>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Effect transition="in" filter="blinds(horizontal)">
                                      <p:cBhvr>
                                        <p:cTn id="7"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type="title"/>
          </p:nvPr>
        </p:nvSpPr>
        <p:spPr/>
        <p:txBody>
          <a:bodyPr wrap="square" tIns="0" bIns="0" anchor="ctr"/>
          <a:lstStyle/>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4</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pPr lvl="0" eaLnBrk="1" hangingPunct="1">
                  <a:lnSpc>
                    <a:spcPct val="100000"/>
                  </a:lnSpc>
                </a:pPr>
                <a:r>
                  <a:rPr lang="zh-CN" altLang="en-US" dirty="0">
                    <a:solidFill>
                      <a:srgbClr val="FF0000"/>
                    </a:solidFill>
                    <a:sym typeface="+mn-ea"/>
                  </a:rPr>
                  <a:t>多对多</a:t>
                </a:r>
                <a:endParaRPr lang="en-US" altLang="x-none" dirty="0"/>
              </a:p>
              <a:p>
                <a:pPr marL="457200" lvl="1" indent="0" eaLnBrk="1" hangingPunct="1">
                  <a:lnSpc>
                    <a:spcPct val="100000"/>
                  </a:lnSpc>
                  <a:spcBef>
                    <a:spcPts val="600"/>
                  </a:spcBef>
                  <a:buNone/>
                </a:pP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多对多</a:t>
                </a:r>
                <a:r>
                  <a:rPr lang="en-US" altLang="zh-CN" dirty="0">
                    <a:latin typeface="Times New Roman" panose="02020603050405020304" pitchFamily="2" charset="0"/>
                    <a:cs typeface="Times New Roman" panose="02020603050405020304" pitchFamily="2" charset="0"/>
                    <a:sym typeface="+mn-ea"/>
                  </a:rPr>
                  <a:t>’</a:t>
                </a:r>
                <a:r>
                  <a:rPr lang="zh-CN" altLang="en-US" dirty="0">
                    <a:sym typeface="+mn-ea"/>
                  </a:rPr>
                  <a:t>的联系具备以下性质</a:t>
                </a:r>
                <a:r>
                  <a:rPr lang="en-US" altLang="zh-CN" dirty="0">
                    <a:latin typeface="+mn-ea"/>
                    <a:cs typeface="+mn-ea"/>
                    <a:sym typeface="+mn-ea"/>
                  </a:rPr>
                  <a:t>(a</a:t>
                </a:r>
                <a14:m>
                  <m:oMath xmlns:m="http://schemas.openxmlformats.org/officeDocument/2006/math">
                    <m:r>
                      <a:rPr lang="en-US" altLang="zh-CN" dirty="0">
                        <a:latin typeface="Cambria Math" panose="02040503050406030204" charset="0"/>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A,  b</a:t>
                </a:r>
                <a14:m>
                  <m:oMath xmlns:m="http://schemas.openxmlformats.org/officeDocument/2006/math">
                    <m:r>
                      <a:rPr lang="en-US" altLang="zh-CN" dirty="0">
                        <a:latin typeface="Cambria Math" panose="02040503050406030204" charset="0"/>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B)</a:t>
                </a:r>
                <a:endParaRPr lang="en-US" altLang="x-none" dirty="0"/>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a</a:t>
                </a:r>
                <a:r>
                  <a:rPr lang="zh-CN" altLang="en-US" dirty="0">
                    <a:solidFill>
                      <a:srgbClr val="FF0000"/>
                    </a:solidFill>
                    <a:sym typeface="+mn-ea"/>
                  </a:rPr>
                  <a:t>可以对应多个实体</a:t>
                </a:r>
                <a:r>
                  <a:rPr lang="en-US" altLang="zh-CN" dirty="0">
                    <a:solidFill>
                      <a:srgbClr val="FF0000"/>
                    </a:solidFill>
                    <a:sym typeface="+mn-ea"/>
                  </a:rPr>
                  <a:t>b</a:t>
                </a:r>
                <a:endParaRPr lang="en-US" altLang="zh-CN" dirty="0">
                  <a:solidFill>
                    <a:srgbClr val="FF0000"/>
                  </a:solidFill>
                </a:endParaRPr>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b</a:t>
                </a:r>
                <a:r>
                  <a:rPr lang="zh-CN" altLang="en-US" dirty="0">
                    <a:solidFill>
                      <a:srgbClr val="FF0000"/>
                    </a:solidFill>
                    <a:sym typeface="+mn-ea"/>
                  </a:rPr>
                  <a:t>可以对应多个实体</a:t>
                </a:r>
                <a:r>
                  <a:rPr lang="en-US" altLang="zh-CN" dirty="0">
                    <a:solidFill>
                      <a:srgbClr val="FF0000"/>
                    </a:solidFill>
                    <a:sym typeface="+mn-ea"/>
                  </a:rPr>
                  <a:t>a</a:t>
                </a:r>
              </a:p>
              <a:p>
                <a:endParaRPr lang="en-US" altLang="zh-CN" dirty="0">
                  <a:solidFill>
                    <a:srgbClr val="FF0000"/>
                  </a:solidFill>
                  <a:sym typeface="+mn-ea"/>
                </a:endParaRPr>
              </a:p>
            </p:txBody>
          </p:sp>
        </mc:Choice>
        <mc:Fallback xmlns="">
          <p:sp>
            <p:nvSpPr>
              <p:cNvPr id="2" name="内容占位符 1"/>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49158" name="Rectangle 6"/>
          <p:cNvSpPr/>
          <p:nvPr/>
        </p:nvSpPr>
        <p:spPr>
          <a:xfrm>
            <a:off x="5027930" y="2985135"/>
            <a:ext cx="5570855" cy="2202180"/>
          </a:xfrm>
          <a:prstGeom prst="rect">
            <a:avLst/>
          </a:prstGeom>
          <a:noFill/>
          <a:ln w="9525">
            <a:noFill/>
          </a:ln>
        </p:spPr>
        <p:txBody>
          <a:bodyPr anchor="t">
            <a:spAutoFit/>
          </a:bodyPr>
          <a:lstStyle/>
          <a:p>
            <a:pPr marL="457200" indent="-457200">
              <a:lnSpc>
                <a:spcPct val="150000"/>
              </a:lnSpc>
              <a:spcBef>
                <a:spcPct val="20000"/>
              </a:spcBef>
              <a:buClr>
                <a:srgbClr val="C00000"/>
              </a:buClr>
              <a:buSzPct val="85000"/>
              <a:buFont typeface="Wingdings" panose="05000000000000000000" charset="0"/>
              <a:buChar char="Ø"/>
            </a:pPr>
            <a:r>
              <a:rPr lang="en-US" altLang="zh-CN" sz="2800" b="1" dirty="0">
                <a:solidFill>
                  <a:srgbClr val="1F2DA8"/>
                </a:solidFill>
                <a:ea typeface="楷体" panose="02010609060101010101" charset="-122"/>
                <a:cs typeface="Times New Roman" panose="02020603050405020304" pitchFamily="2" charset="0"/>
                <a:sym typeface="+mn-ea"/>
              </a:rPr>
              <a:t>‘</a:t>
            </a:r>
            <a:r>
              <a:rPr lang="zh-CN" altLang="en-US" sz="2800" b="1" dirty="0">
                <a:solidFill>
                  <a:srgbClr val="1F2DA8"/>
                </a:solidFill>
                <a:ea typeface="楷体" panose="02010609060101010101" charset="-122"/>
                <a:cs typeface="Times New Roman" panose="02020603050405020304" pitchFamily="2" charset="0"/>
                <a:sym typeface="+mn-ea"/>
              </a:rPr>
              <a:t>多对多</a:t>
            </a:r>
            <a:r>
              <a:rPr lang="en-US" altLang="zh-CN" sz="2800" b="1" dirty="0">
                <a:solidFill>
                  <a:srgbClr val="1F2DA8"/>
                </a:solidFill>
                <a:ea typeface="楷体" panose="02010609060101010101" charset="-122"/>
                <a:cs typeface="Times New Roman" panose="02020603050405020304" pitchFamily="2" charset="0"/>
                <a:sym typeface="+mn-ea"/>
              </a:rPr>
              <a:t>’ </a:t>
            </a:r>
            <a:r>
              <a:rPr lang="zh-CN" altLang="en-US" sz="2800" b="1" dirty="0">
                <a:solidFill>
                  <a:srgbClr val="1F2DA8"/>
                </a:solidFill>
                <a:ea typeface="楷体" panose="02010609060101010101" charset="-122"/>
                <a:cs typeface="Times New Roman" panose="02020603050405020304" pitchFamily="2" charset="0"/>
                <a:sym typeface="+mn-ea"/>
              </a:rPr>
              <a:t>联系的例子</a:t>
            </a:r>
            <a:endParaRPr lang="zh-CN" altLang="en-US" sz="2800" b="1" dirty="0">
              <a:solidFill>
                <a:srgbClr val="1F2DA8"/>
              </a:solidFill>
              <a:ea typeface="楷体" panose="02010609060101010101" charset="-122"/>
              <a:cs typeface="Times New Roman" panose="02020603050405020304" pitchFamily="2" charset="0"/>
            </a:endParaRPr>
          </a:p>
          <a:p>
            <a:pPr marL="914400" lvl="1" indent="-457200">
              <a:lnSpc>
                <a:spcPct val="150000"/>
              </a:lnSpc>
              <a:spcBef>
                <a:spcPct val="20000"/>
              </a:spcBef>
              <a:buClr>
                <a:srgbClr val="C00000"/>
              </a:buClr>
              <a:buSzPct val="85000"/>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选修</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学生</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课程</a:t>
            </a:r>
            <a:r>
              <a:rPr lang="en-US" altLang="zh-CN" sz="2800" b="1" dirty="0">
                <a:solidFill>
                  <a:srgbClr val="1F2DA8"/>
                </a:solidFill>
                <a:ea typeface="楷体" panose="02010609060101010101" charset="-122"/>
                <a:cs typeface="Times New Roman" panose="02020603050405020304" pitchFamily="2" charset="0"/>
              </a:rPr>
              <a:t>’</a:t>
            </a:r>
          </a:p>
          <a:p>
            <a:pPr marL="914400" lvl="1" indent="-457200">
              <a:lnSpc>
                <a:spcPct val="150000"/>
              </a:lnSpc>
              <a:spcBef>
                <a:spcPct val="20000"/>
              </a:spcBef>
              <a:buClr>
                <a:srgbClr val="C00000"/>
              </a:buClr>
              <a:buSzPct val="85000"/>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乘坐</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旅客</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航班</a:t>
            </a:r>
            <a:r>
              <a:rPr lang="en-US" altLang="zh-CN" sz="2800" b="1" dirty="0">
                <a:solidFill>
                  <a:srgbClr val="1F2DA8"/>
                </a:solidFill>
                <a:ea typeface="楷体" panose="02010609060101010101" charset="-122"/>
                <a:cs typeface="Times New Roman" panose="02020603050405020304" pitchFamily="2" charset="0"/>
              </a:rPr>
              <a:t>’</a:t>
            </a:r>
          </a:p>
        </p:txBody>
      </p:sp>
      <p:grpSp>
        <p:nvGrpSpPr>
          <p:cNvPr id="7" name="组合 6"/>
          <p:cNvGrpSpPr/>
          <p:nvPr/>
        </p:nvGrpSpPr>
        <p:grpSpPr>
          <a:xfrm>
            <a:off x="1361440" y="2985135"/>
            <a:ext cx="3094355" cy="2972435"/>
            <a:chOff x="842" y="5336"/>
            <a:chExt cx="4873" cy="4681"/>
          </a:xfrm>
        </p:grpSpPr>
        <p:pic>
          <p:nvPicPr>
            <p:cNvPr id="3" name="图片 2"/>
            <p:cNvPicPr>
              <a:picLocks noChangeAspect="1"/>
            </p:cNvPicPr>
            <p:nvPr/>
          </p:nvPicPr>
          <p:blipFill>
            <a:blip r:embed="rId3"/>
            <a:stretch>
              <a:fillRect/>
            </a:stretch>
          </p:blipFill>
          <p:spPr>
            <a:xfrm>
              <a:off x="1079" y="5336"/>
              <a:ext cx="4296" cy="3225"/>
            </a:xfrm>
            <a:prstGeom prst="rect">
              <a:avLst/>
            </a:prstGeom>
          </p:spPr>
        </p:pic>
        <p:sp>
          <p:nvSpPr>
            <p:cNvPr id="5" name="文本框 4"/>
            <p:cNvSpPr txBox="1"/>
            <p:nvPr/>
          </p:nvSpPr>
          <p:spPr>
            <a:xfrm>
              <a:off x="842" y="8613"/>
              <a:ext cx="2235" cy="1404"/>
            </a:xfrm>
            <a:prstGeom prst="rect">
              <a:avLst/>
            </a:prstGeom>
            <a:noFill/>
          </p:spPr>
          <p:txBody>
            <a:bodyPr wrap="square" rtlCol="0">
              <a:spAutoFit/>
            </a:bodyPr>
            <a:lstStyle/>
            <a:p>
              <a:pPr algn="ctr"/>
              <a:r>
                <a:rPr lang="zh-CN" altLang="en-US" sz="2600" b="1">
                  <a:ea typeface="楷体" panose="02010609060101010101" charset="-122"/>
                  <a:cs typeface="Times New Roman" panose="02020603050405020304" pitchFamily="2" charset="0"/>
                </a:rPr>
                <a:t>实体集</a:t>
              </a:r>
            </a:p>
            <a:p>
              <a:pPr algn="ctr"/>
              <a:r>
                <a:rPr lang="en-US" altLang="zh-CN" sz="2600" b="1">
                  <a:ea typeface="楷体" panose="02010609060101010101" charset="-122"/>
                  <a:cs typeface="Times New Roman" panose="02020603050405020304" pitchFamily="2" charset="0"/>
                </a:rPr>
                <a:t>A</a:t>
              </a:r>
            </a:p>
          </p:txBody>
        </p:sp>
        <p:sp>
          <p:nvSpPr>
            <p:cNvPr id="6" name="文本框 5"/>
            <p:cNvSpPr txBox="1"/>
            <p:nvPr/>
          </p:nvSpPr>
          <p:spPr>
            <a:xfrm>
              <a:off x="3480" y="8613"/>
              <a:ext cx="2235" cy="1404"/>
            </a:xfrm>
            <a:prstGeom prst="rect">
              <a:avLst/>
            </a:prstGeom>
            <a:noFill/>
          </p:spPr>
          <p:txBody>
            <a:bodyPr wrap="square" rtlCol="0">
              <a:spAutoFit/>
            </a:bodyPr>
            <a:lstStyle/>
            <a:p>
              <a:pPr algn="ctr"/>
              <a:r>
                <a:rPr lang="zh-CN" altLang="en-US" sz="2600" b="1">
                  <a:ea typeface="楷体" panose="02010609060101010101" charset="-122"/>
                  <a:cs typeface="Times New Roman" panose="02020603050405020304" pitchFamily="2" charset="0"/>
                </a:rPr>
                <a:t>实体集</a:t>
              </a:r>
            </a:p>
            <a:p>
              <a:pPr algn="ctr"/>
              <a:r>
                <a:rPr lang="en-US" altLang="zh-CN" sz="2600" b="1">
                  <a:ea typeface="楷体" panose="02010609060101010101" charset="-122"/>
                  <a:cs typeface="Times New Roman" panose="02020603050405020304" pitchFamily="2" charset="0"/>
                </a:rPr>
                <a:t>B</a:t>
              </a:r>
            </a:p>
          </p:txBody>
        </p:sp>
      </p:grpSp>
      <p:sp>
        <p:nvSpPr>
          <p:cNvPr id="4" name="灯片编号占位符 3"/>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76</a:t>
            </a:fld>
            <a:endParaRPr lang="zh-CN" altLang="en-US" strike="noStrike" noProof="1"/>
          </a:p>
        </p:txBody>
      </p:sp>
      <p:sp>
        <p:nvSpPr>
          <p:cNvPr id="8" name="页脚占位符 7"/>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8"/>
                                        </p:tgtEl>
                                        <p:attrNameLst>
                                          <p:attrName>style.visibility</p:attrName>
                                        </p:attrNameLst>
                                      </p:cBhvr>
                                      <p:to>
                                        <p:strVal val="visible"/>
                                      </p:to>
                                    </p:set>
                                    <p:anim calcmode="lin" valueType="num">
                                      <p:cBhvr additive="base">
                                        <p:cTn id="7" dur="500" fill="hold"/>
                                        <p:tgtEl>
                                          <p:spTgt spid="49158"/>
                                        </p:tgtEl>
                                        <p:attrNameLst>
                                          <p:attrName>ppt_x</p:attrName>
                                        </p:attrNameLst>
                                      </p:cBhvr>
                                      <p:tavLst>
                                        <p:tav tm="0">
                                          <p:val>
                                            <p:strVal val="#ppt_x"/>
                                          </p:val>
                                        </p:tav>
                                        <p:tav tm="100000">
                                          <p:val>
                                            <p:strVal val="#ppt_x"/>
                                          </p:val>
                                        </p:tav>
                                      </p:tavLst>
                                    </p:anim>
                                    <p:anim calcmode="lin" valueType="num">
                                      <p:cBhvr additive="base">
                                        <p:cTn id="8"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p:txBody>
          <a:bodyPr wrap="square" tIns="0" bIns="0" anchor="ctr"/>
          <a:lstStyle/>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5</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p>
        </p:txBody>
      </p:sp>
      <p:sp>
        <p:nvSpPr>
          <p:cNvPr id="50184" name="Text Box 9"/>
          <p:cNvSpPr txBox="1"/>
          <p:nvPr/>
        </p:nvSpPr>
        <p:spPr>
          <a:xfrm>
            <a:off x="1723390" y="2675890"/>
            <a:ext cx="2057400" cy="953135"/>
          </a:xfrm>
          <a:prstGeom prst="rect">
            <a:avLst/>
          </a:prstGeom>
          <a:noFill/>
          <a:ln w="9525">
            <a:noFill/>
          </a:ln>
        </p:spPr>
        <p:txBody>
          <a:bodyPr anchor="t">
            <a:spAutoFit/>
          </a:bodyPr>
          <a:lstStyle/>
          <a:p>
            <a:pPr algn="ctr"/>
            <a:r>
              <a:rPr lang="zh-CN" altLang="en-US" sz="2800" b="1" dirty="0">
                <a:solidFill>
                  <a:srgbClr val="1F2DA8"/>
                </a:solidFill>
                <a:ea typeface="楷体" panose="02010609060101010101" charset="-122"/>
                <a:cs typeface="Times New Roman" panose="02020603050405020304" pitchFamily="2" charset="0"/>
              </a:rPr>
              <a:t>1:1</a:t>
            </a:r>
          </a:p>
          <a:p>
            <a:pPr algn="ctr"/>
            <a:r>
              <a:rPr lang="zh-CN" altLang="en-US" sz="2800" b="1" dirty="0">
                <a:solidFill>
                  <a:srgbClr val="1F2DA8"/>
                </a:solidFill>
                <a:ea typeface="楷体" panose="02010609060101010101" charset="-122"/>
                <a:cs typeface="Times New Roman" panose="02020603050405020304" pitchFamily="2" charset="0"/>
              </a:rPr>
              <a:t>函数关系</a:t>
            </a:r>
          </a:p>
        </p:txBody>
      </p:sp>
      <p:sp>
        <p:nvSpPr>
          <p:cNvPr id="50185" name="Text Box 10"/>
          <p:cNvSpPr txBox="1"/>
          <p:nvPr/>
        </p:nvSpPr>
        <p:spPr>
          <a:xfrm>
            <a:off x="4947285" y="2675890"/>
            <a:ext cx="2057400" cy="953135"/>
          </a:xfrm>
          <a:prstGeom prst="rect">
            <a:avLst/>
          </a:prstGeom>
          <a:noFill/>
          <a:ln w="9525">
            <a:noFill/>
          </a:ln>
        </p:spPr>
        <p:txBody>
          <a:bodyPr anchor="t">
            <a:spAutoFit/>
          </a:bodyPr>
          <a:lstStyle/>
          <a:p>
            <a:pPr algn="ctr"/>
            <a:r>
              <a:rPr lang="zh-CN" altLang="en-US" sz="2800" b="1" dirty="0">
                <a:solidFill>
                  <a:srgbClr val="1F2DA8"/>
                </a:solidFill>
                <a:ea typeface="楷体" panose="02010609060101010101" charset="-122"/>
                <a:cs typeface="Times New Roman" panose="02020603050405020304" pitchFamily="2" charset="0"/>
              </a:rPr>
              <a:t>1:</a:t>
            </a:r>
            <a:r>
              <a:rPr lang="en-US" altLang="x-none" sz="2800" b="1" dirty="0">
                <a:solidFill>
                  <a:srgbClr val="1F2DA8"/>
                </a:solidFill>
                <a:ea typeface="楷体" panose="02010609060101010101" charset="-122"/>
                <a:cs typeface="Times New Roman" panose="02020603050405020304" pitchFamily="2" charset="0"/>
              </a:rPr>
              <a:t>m</a:t>
            </a:r>
          </a:p>
          <a:p>
            <a:pPr algn="ctr"/>
            <a:r>
              <a:rPr lang="zh-CN" altLang="en-US" sz="2800" b="1" dirty="0">
                <a:solidFill>
                  <a:srgbClr val="1F2DA8"/>
                </a:solidFill>
                <a:ea typeface="楷体" panose="02010609060101010101" charset="-122"/>
                <a:cs typeface="Times New Roman" panose="02020603050405020304" pitchFamily="2" charset="0"/>
              </a:rPr>
              <a:t>函数关系</a:t>
            </a:r>
          </a:p>
        </p:txBody>
      </p:sp>
      <p:sp>
        <p:nvSpPr>
          <p:cNvPr id="50186" name="Text Box 11"/>
          <p:cNvSpPr txBox="1"/>
          <p:nvPr/>
        </p:nvSpPr>
        <p:spPr>
          <a:xfrm>
            <a:off x="8420735" y="2675890"/>
            <a:ext cx="2057400" cy="953135"/>
          </a:xfrm>
          <a:prstGeom prst="rect">
            <a:avLst/>
          </a:prstGeom>
          <a:noFill/>
          <a:ln w="9525">
            <a:noFill/>
          </a:ln>
        </p:spPr>
        <p:txBody>
          <a:bodyPr anchor="t">
            <a:spAutoFit/>
          </a:bodyPr>
          <a:lstStyle/>
          <a:p>
            <a:pPr algn="ctr"/>
            <a:r>
              <a:rPr lang="en-US" altLang="x-none" sz="2800" b="1" dirty="0">
                <a:solidFill>
                  <a:srgbClr val="1F2DA8"/>
                </a:solidFill>
                <a:ea typeface="楷体" panose="02010609060101010101" charset="-122"/>
                <a:cs typeface="Times New Roman" panose="02020603050405020304" pitchFamily="2" charset="0"/>
              </a:rPr>
              <a:t>m:n</a:t>
            </a:r>
          </a:p>
          <a:p>
            <a:pPr algn="ctr"/>
            <a:r>
              <a:rPr lang="zh-CN" altLang="en-US" sz="2800" b="1" dirty="0">
                <a:solidFill>
                  <a:srgbClr val="1F2DA8"/>
                </a:solidFill>
                <a:ea typeface="楷体" panose="02010609060101010101" charset="-122"/>
                <a:cs typeface="Times New Roman" panose="02020603050405020304" pitchFamily="2" charset="0"/>
              </a:rPr>
              <a:t>函数关系</a:t>
            </a:r>
          </a:p>
        </p:txBody>
      </p:sp>
      <p:sp>
        <p:nvSpPr>
          <p:cNvPr id="50187" name="Line 12"/>
          <p:cNvSpPr/>
          <p:nvPr/>
        </p:nvSpPr>
        <p:spPr>
          <a:xfrm>
            <a:off x="4334510" y="681355"/>
            <a:ext cx="0" cy="3060000"/>
          </a:xfrm>
          <a:prstGeom prst="line">
            <a:avLst/>
          </a:prstGeom>
          <a:ln w="25400" cap="rnd" cmpd="sng">
            <a:solidFill>
              <a:schemeClr val="folHlink"/>
            </a:solidFill>
            <a:prstDash val="sysDot"/>
            <a:round/>
            <a:headEnd type="none" w="med" len="med"/>
            <a:tailEnd type="none" w="med" len="med"/>
          </a:ln>
        </p:spPr>
      </p:sp>
      <p:sp>
        <p:nvSpPr>
          <p:cNvPr id="50188" name="Line 13"/>
          <p:cNvSpPr/>
          <p:nvPr/>
        </p:nvSpPr>
        <p:spPr>
          <a:xfrm>
            <a:off x="7639685" y="681355"/>
            <a:ext cx="0" cy="3060000"/>
          </a:xfrm>
          <a:prstGeom prst="line">
            <a:avLst/>
          </a:prstGeom>
          <a:ln w="25400" cap="rnd" cmpd="sng">
            <a:solidFill>
              <a:schemeClr val="folHlink"/>
            </a:solidFill>
            <a:prstDash val="sysDot"/>
            <a:round/>
            <a:headEnd type="none" w="med" len="med"/>
            <a:tailEnd type="none" w="med" len="med"/>
          </a:ln>
        </p:spPr>
      </p:sp>
      <p:pic>
        <p:nvPicPr>
          <p:cNvPr id="7" name="图片 6"/>
          <p:cNvPicPr>
            <a:picLocks noChangeAspect="1"/>
          </p:cNvPicPr>
          <p:nvPr/>
        </p:nvPicPr>
        <p:blipFill>
          <a:blip r:embed="rId2"/>
          <a:stretch>
            <a:fillRect/>
          </a:stretch>
        </p:blipFill>
        <p:spPr>
          <a:xfrm>
            <a:off x="1419860" y="770255"/>
            <a:ext cx="2520019" cy="2056640"/>
          </a:xfrm>
          <a:prstGeom prst="rect">
            <a:avLst/>
          </a:prstGeom>
        </p:spPr>
      </p:pic>
      <p:pic>
        <p:nvPicPr>
          <p:cNvPr id="4" name="图片 3"/>
          <p:cNvPicPr>
            <a:picLocks noChangeAspect="1"/>
          </p:cNvPicPr>
          <p:nvPr/>
        </p:nvPicPr>
        <p:blipFill>
          <a:blip r:embed="rId3"/>
          <a:stretch>
            <a:fillRect/>
          </a:stretch>
        </p:blipFill>
        <p:spPr>
          <a:xfrm>
            <a:off x="4715510" y="770255"/>
            <a:ext cx="2520019" cy="1918617"/>
          </a:xfrm>
          <a:prstGeom prst="rect">
            <a:avLst/>
          </a:prstGeom>
        </p:spPr>
      </p:pic>
      <p:pic>
        <p:nvPicPr>
          <p:cNvPr id="3" name="图片 2"/>
          <p:cNvPicPr>
            <a:picLocks noChangeAspect="1"/>
          </p:cNvPicPr>
          <p:nvPr/>
        </p:nvPicPr>
        <p:blipFill>
          <a:blip r:embed="rId4"/>
          <a:stretch>
            <a:fillRect/>
          </a:stretch>
        </p:blipFill>
        <p:spPr>
          <a:xfrm>
            <a:off x="8121015" y="796925"/>
            <a:ext cx="2520019" cy="1891774"/>
          </a:xfrm>
          <a:prstGeom prst="rect">
            <a:avLst/>
          </a:prstGeom>
        </p:spPr>
      </p:pic>
      <p:sp>
        <p:nvSpPr>
          <p:cNvPr id="2" name="文本框 1"/>
          <p:cNvSpPr txBox="1"/>
          <p:nvPr/>
        </p:nvSpPr>
        <p:spPr>
          <a:xfrm>
            <a:off x="469265" y="3830320"/>
            <a:ext cx="11105515" cy="2804795"/>
          </a:xfrm>
          <a:prstGeom prst="rect">
            <a:avLst/>
          </a:prstGeom>
          <a:noFill/>
        </p:spPr>
        <p:txBody>
          <a:bodyPr wrap="square" rtlCol="0">
            <a:spAutoFit/>
          </a:bodyPr>
          <a:lstStyle/>
          <a:p>
            <a:pPr marL="342900" indent="-342900">
              <a:buClr>
                <a:srgbClr val="C00000"/>
              </a:buClr>
              <a:buSzPct val="85000"/>
              <a:buFont typeface="Wingdings" panose="05000000000000000000" charset="0"/>
              <a:buChar char="Ø"/>
            </a:pPr>
            <a:r>
              <a:rPr lang="zh-CN" altLang="en-US" sz="2800" b="1">
                <a:solidFill>
                  <a:srgbClr val="1F2DA8"/>
                </a:solidFill>
                <a:ea typeface="楷体" panose="02010609060101010101" charset="-122"/>
                <a:cs typeface="Times New Roman" panose="02020603050405020304" pitchFamily="2" charset="0"/>
              </a:rPr>
              <a:t>不论是哪一种函数关系，也允许一个实体集中的某些实体没有参与到该联系中去（即没有与之相关的连线，或者说在另一个实体集中不存在与之有联系的实体）</a:t>
            </a:r>
          </a:p>
          <a:p>
            <a:pPr marL="342900" indent="-342900">
              <a:lnSpc>
                <a:spcPct val="100000"/>
              </a:lnSpc>
              <a:spcBef>
                <a:spcPts val="1000"/>
              </a:spcBef>
              <a:spcAft>
                <a:spcPts val="0"/>
              </a:spcAft>
              <a:buClr>
                <a:srgbClr val="C00000"/>
              </a:buClr>
              <a:buSzPct val="85000"/>
              <a:buFont typeface="Wingdings" panose="05000000000000000000" charset="0"/>
              <a:buChar char="Ø"/>
            </a:pPr>
            <a:r>
              <a:rPr lang="zh-CN" altLang="en-US" sz="2800" b="1">
                <a:solidFill>
                  <a:srgbClr val="1F2DA8"/>
                </a:solidFill>
                <a:ea typeface="楷体" panose="02010609060101010101" charset="-122"/>
                <a:cs typeface="Times New Roman" panose="02020603050405020304" pitchFamily="2" charset="0"/>
              </a:rPr>
              <a:t>在</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一多对应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的联系中，也允许某些</a:t>
            </a:r>
            <a:r>
              <a:rPr lang="zh-CN" altLang="en-US" sz="2800" b="1">
                <a:solidFill>
                  <a:srgbClr val="1F2DA8"/>
                </a:solidFill>
                <a:ea typeface="楷体" panose="02010609060101010101" charset="-122"/>
                <a:cs typeface="Times New Roman" panose="02020603050405020304" pitchFamily="2" charset="0"/>
                <a:sym typeface="+mn-ea"/>
              </a:rPr>
              <a:t>实体</a:t>
            </a:r>
            <a:r>
              <a:rPr lang="zh-CN" altLang="en-US" sz="2800" b="1">
                <a:solidFill>
                  <a:srgbClr val="1F2DA8"/>
                </a:solidFill>
                <a:ea typeface="楷体" panose="02010609060101010101" charset="-122"/>
                <a:cs typeface="Times New Roman" panose="02020603050405020304" pitchFamily="2" charset="0"/>
              </a:rPr>
              <a:t>之间是</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一一对应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的关系；同理，在</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多多对应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中，</a:t>
            </a:r>
            <a:r>
              <a:rPr lang="zh-CN" altLang="en-US" sz="2800" b="1">
                <a:solidFill>
                  <a:srgbClr val="1F2DA8"/>
                </a:solidFill>
                <a:ea typeface="楷体" panose="02010609060101010101" charset="-122"/>
                <a:cs typeface="Times New Roman" panose="02020603050405020304" pitchFamily="2" charset="0"/>
                <a:sym typeface="+mn-ea"/>
              </a:rPr>
              <a:t>也允许某些实体之间是</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一多对应</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或</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一一对应</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的关系。</a:t>
            </a:r>
          </a:p>
        </p:txBody>
      </p:sp>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77</a:t>
            </a:fld>
            <a:endParaRPr lang="zh-CN" altLang="en-US" strike="noStrike" noProof="1"/>
          </a:p>
        </p:txBody>
      </p:sp>
      <p:sp>
        <p:nvSpPr>
          <p:cNvPr id="6" name="页脚占位符 5"/>
          <p:cNvSpPr>
            <a:spLocks noGrp="1"/>
          </p:cNvSpPr>
          <p:nvPr>
            <p:ph type="ftr" sz="quarter" idx="11"/>
          </p:nvPr>
        </p:nvSpPr>
        <p:spPr/>
        <p:txBody>
          <a:bodyPr/>
          <a:lstStyle/>
          <a:p>
            <a:r>
              <a:rPr lang="zh-CN" altLang="en-US"/>
              <a:t>ch01_绪论</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实体内部的联系</a:t>
            </a:r>
          </a:p>
        </p:txBody>
      </p:sp>
      <p:sp>
        <p:nvSpPr>
          <p:cNvPr id="3" name="内容占位符 2"/>
          <p:cNvSpPr>
            <a:spLocks noGrp="1"/>
          </p:cNvSpPr>
          <p:nvPr>
            <p:ph idx="1"/>
          </p:nvPr>
        </p:nvSpPr>
        <p:spPr/>
        <p:txBody>
          <a:bodyPr/>
          <a:lstStyle/>
          <a:p>
            <a:r>
              <a:rPr lang="zh-CN" altLang="en-US" dirty="0"/>
              <a:t>实体内部的联系通常是指：同一个实体集中不同实体之间的联系</a:t>
            </a:r>
          </a:p>
          <a:p>
            <a:r>
              <a:rPr lang="zh-CN" altLang="en-US" dirty="0">
                <a:sym typeface="+mn-ea"/>
              </a:rPr>
              <a:t>实体内部的联系也有</a:t>
            </a:r>
            <a:r>
              <a:rPr lang="en-US" altLang="zh-CN" dirty="0">
                <a:sym typeface="+mn-ea"/>
              </a:rPr>
              <a:t>‘</a:t>
            </a:r>
            <a:r>
              <a:rPr lang="zh-CN" altLang="en-US" dirty="0">
                <a:sym typeface="+mn-ea"/>
              </a:rPr>
              <a:t>一对一、一对多、多对多</a:t>
            </a:r>
            <a:r>
              <a:rPr lang="en-US" altLang="zh-CN" dirty="0">
                <a:sym typeface="+mn-ea"/>
              </a:rPr>
              <a:t>’</a:t>
            </a:r>
            <a:r>
              <a:rPr lang="zh-CN" altLang="en-US" dirty="0">
                <a:sym typeface="+mn-ea"/>
              </a:rPr>
              <a:t>等多种类型</a:t>
            </a:r>
            <a:endParaRPr lang="zh-CN" altLang="en-US" dirty="0"/>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t>78</a:t>
            </a:fld>
            <a:endParaRPr lang="en-US" altLang="zh-CN" dirty="0"/>
          </a:p>
        </p:txBody>
      </p:sp>
      <p:sp>
        <p:nvSpPr>
          <p:cNvPr id="11" name="矩形 10"/>
          <p:cNvSpPr/>
          <p:nvPr/>
        </p:nvSpPr>
        <p:spPr>
          <a:xfrm>
            <a:off x="4677410" y="2609215"/>
            <a:ext cx="1838960" cy="533400"/>
          </a:xfrm>
          <a:prstGeom prst="rect">
            <a:avLst/>
          </a:prstGeom>
          <a:solidFill>
            <a:srgbClr val="BBE0E3"/>
          </a:solidFill>
          <a:ln w="25400" cap="flat" cmpd="sng" algn="ctr">
            <a:solidFill>
              <a:srgbClr val="BBE0E3">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实体型</a:t>
            </a:r>
          </a:p>
        </p:txBody>
      </p:sp>
      <p:cxnSp>
        <p:nvCxnSpPr>
          <p:cNvPr id="13" name="直接连接符 12"/>
          <p:cNvCxnSpPr/>
          <p:nvPr/>
        </p:nvCxnSpPr>
        <p:spPr>
          <a:xfrm>
            <a:off x="5128713" y="3144203"/>
            <a:ext cx="0" cy="1224000"/>
          </a:xfrm>
          <a:prstGeom prst="line">
            <a:avLst/>
          </a:prstGeom>
          <a:noFill/>
          <a:ln w="9525" cap="flat" cmpd="sng" algn="ctr">
            <a:solidFill>
              <a:srgbClr val="000000"/>
            </a:solidFill>
            <a:prstDash val="solid"/>
          </a:ln>
          <a:effectLst/>
        </p:spPr>
      </p:cxnSp>
      <p:cxnSp>
        <p:nvCxnSpPr>
          <p:cNvPr id="14" name="直接连接符 13"/>
          <p:cNvCxnSpPr/>
          <p:nvPr/>
        </p:nvCxnSpPr>
        <p:spPr>
          <a:xfrm flipH="1">
            <a:off x="6101533" y="3144203"/>
            <a:ext cx="10160" cy="1224000"/>
          </a:xfrm>
          <a:prstGeom prst="line">
            <a:avLst/>
          </a:prstGeom>
          <a:noFill/>
          <a:ln w="9525" cap="flat" cmpd="sng" algn="ctr">
            <a:solidFill>
              <a:srgbClr val="000000"/>
            </a:solidFill>
            <a:prstDash val="solid"/>
          </a:ln>
          <a:effectLst/>
        </p:spPr>
      </p:cxnSp>
      <p:sp>
        <p:nvSpPr>
          <p:cNvPr id="5" name="文本框 4"/>
          <p:cNvSpPr txBox="1"/>
          <p:nvPr/>
        </p:nvSpPr>
        <p:spPr>
          <a:xfrm>
            <a:off x="4705985" y="3340100"/>
            <a:ext cx="422910" cy="521970"/>
          </a:xfrm>
          <a:prstGeom prst="rect">
            <a:avLst/>
          </a:prstGeom>
          <a:noFill/>
        </p:spPr>
        <p:txBody>
          <a:bodyPr wrap="square" rtlCol="0">
            <a:spAutoFit/>
          </a:bodyPr>
          <a:lstStyle/>
          <a:p>
            <a:r>
              <a:rPr lang="en-US" altLang="zh-CN" sz="2800"/>
              <a:t>1</a:t>
            </a:r>
          </a:p>
        </p:txBody>
      </p:sp>
      <p:sp>
        <p:nvSpPr>
          <p:cNvPr id="6" name="文本框 5"/>
          <p:cNvSpPr txBox="1"/>
          <p:nvPr/>
        </p:nvSpPr>
        <p:spPr>
          <a:xfrm>
            <a:off x="6278245" y="3340100"/>
            <a:ext cx="422910" cy="521970"/>
          </a:xfrm>
          <a:prstGeom prst="rect">
            <a:avLst/>
          </a:prstGeom>
          <a:noFill/>
        </p:spPr>
        <p:txBody>
          <a:bodyPr wrap="square" rtlCol="0">
            <a:spAutoFit/>
          </a:bodyPr>
          <a:lstStyle/>
          <a:p>
            <a:r>
              <a:rPr lang="en-US" altLang="zh-CN" sz="2800"/>
              <a:t>m</a:t>
            </a:r>
          </a:p>
        </p:txBody>
      </p:sp>
      <p:sp>
        <p:nvSpPr>
          <p:cNvPr id="12" name="菱形 11"/>
          <p:cNvSpPr/>
          <p:nvPr/>
        </p:nvSpPr>
        <p:spPr>
          <a:xfrm>
            <a:off x="4677410" y="4110990"/>
            <a:ext cx="1838960" cy="838200"/>
          </a:xfrm>
          <a:prstGeom prst="diamond">
            <a:avLst/>
          </a:prstGeom>
          <a:solidFill>
            <a:srgbClr val="BBE0E3"/>
          </a:solidFill>
          <a:ln w="25400" cap="flat" cmpd="sng" algn="ctr">
            <a:solidFill>
              <a:srgbClr val="BBE0E3">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2800" b="1" kern="0" dirty="0">
                <a:solidFill>
                  <a:srgbClr val="000000"/>
                </a:solidFill>
                <a:latin typeface="楷体" panose="02010609060101010101" charset="-122"/>
                <a:ea typeface="楷体" panose="02010609060101010101" charset="-122"/>
              </a:rPr>
              <a:t>联系</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mn-cs"/>
            </a:endParaRPr>
          </a:p>
        </p:txBody>
      </p:sp>
      <p:sp>
        <p:nvSpPr>
          <p:cNvPr id="7" name="页脚占位符 6"/>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zh-CN"/>
              <a:t>实体</a:t>
            </a:r>
            <a:r>
              <a:rPr lang="en-US" altLang="zh-CN"/>
              <a:t>-</a:t>
            </a:r>
            <a:r>
              <a:rPr lang="zh-CN" altLang="zh-CN"/>
              <a:t>联系方法</a:t>
            </a:r>
            <a:endParaRPr lang="zh-CN" altLang="en-US"/>
          </a:p>
        </p:txBody>
      </p:sp>
      <p:sp>
        <p:nvSpPr>
          <p:cNvPr id="65539" name="内容占位符 2"/>
          <p:cNvSpPr>
            <a:spLocks noGrp="1"/>
          </p:cNvSpPr>
          <p:nvPr>
            <p:ph idx="1"/>
          </p:nvPr>
        </p:nvSpPr>
        <p:spPr/>
        <p:txBody>
          <a:bodyPr/>
          <a:lstStyle/>
          <a:p>
            <a:r>
              <a:rPr lang="zh-CN" altLang="zh-CN" dirty="0"/>
              <a:t>实体</a:t>
            </a:r>
            <a:r>
              <a:rPr lang="en-US" altLang="zh-CN" dirty="0"/>
              <a:t>-</a:t>
            </a:r>
            <a:r>
              <a:rPr lang="zh-CN" altLang="zh-CN" dirty="0"/>
              <a:t>联系方法（</a:t>
            </a:r>
            <a:r>
              <a:rPr lang="en-US" altLang="zh-CN" dirty="0"/>
              <a:t>Entity-Relationship Approach</a:t>
            </a:r>
            <a:r>
              <a:rPr lang="zh-CN" altLang="en-US" dirty="0"/>
              <a:t>）</a:t>
            </a:r>
            <a:endParaRPr lang="en-US" altLang="zh-CN" dirty="0"/>
          </a:p>
          <a:p>
            <a:pPr lvl="1"/>
            <a:r>
              <a:rPr lang="zh-CN" altLang="zh-CN" dirty="0"/>
              <a:t>用</a:t>
            </a:r>
            <a:r>
              <a:rPr lang="en-US" altLang="zh-CN" dirty="0"/>
              <a:t>E-R</a:t>
            </a:r>
            <a:r>
              <a:rPr lang="zh-CN" altLang="zh-CN" dirty="0"/>
              <a:t>图来描述现实世界的概念模型</a:t>
            </a:r>
            <a:endParaRPr lang="en-US" altLang="zh-CN" dirty="0"/>
          </a:p>
          <a:p>
            <a:pPr lvl="1"/>
            <a:r>
              <a:rPr lang="en-US" altLang="zh-CN" dirty="0"/>
              <a:t>E-R</a:t>
            </a:r>
            <a:r>
              <a:rPr lang="zh-CN" altLang="zh-CN" dirty="0"/>
              <a:t>方法也称为</a:t>
            </a:r>
            <a:r>
              <a:rPr lang="en-US" altLang="zh-CN" dirty="0"/>
              <a:t>E-R</a:t>
            </a:r>
            <a:r>
              <a:rPr lang="zh-CN" altLang="zh-CN" dirty="0"/>
              <a:t>模型</a:t>
            </a:r>
          </a:p>
          <a:p>
            <a:pPr lvl="1"/>
            <a:endParaRPr lang="zh-CN" altLang="zh-CN" dirty="0"/>
          </a:p>
          <a:p>
            <a:pPr lvl="1"/>
            <a:r>
              <a:rPr lang="en-US" altLang="zh-CN" dirty="0"/>
              <a:t>E-R</a:t>
            </a:r>
            <a:r>
              <a:rPr lang="zh-CN" altLang="en-US" dirty="0"/>
              <a:t>模型中的三个基本概念及其图形化表示</a:t>
            </a:r>
            <a:endParaRPr lang="en-US" altLang="zh-CN" dirty="0"/>
          </a:p>
          <a:p>
            <a:pPr lvl="2">
              <a:lnSpc>
                <a:spcPct val="200000"/>
              </a:lnSpc>
            </a:pPr>
            <a:r>
              <a:rPr lang="zh-CN" altLang="en-US" dirty="0"/>
              <a:t>实体</a:t>
            </a:r>
            <a:endParaRPr lang="en-US" altLang="zh-CN" dirty="0"/>
          </a:p>
          <a:p>
            <a:pPr lvl="2">
              <a:lnSpc>
                <a:spcPct val="200000"/>
              </a:lnSpc>
            </a:pPr>
            <a:r>
              <a:rPr lang="zh-CN" altLang="en-US" dirty="0"/>
              <a:t>属性</a:t>
            </a:r>
            <a:endParaRPr lang="en-US" altLang="zh-CN" dirty="0"/>
          </a:p>
          <a:p>
            <a:pPr lvl="2">
              <a:lnSpc>
                <a:spcPct val="200000"/>
              </a:lnSpc>
            </a:pPr>
            <a:r>
              <a:rPr lang="zh-CN" altLang="en-US" dirty="0"/>
              <a:t>联系</a:t>
            </a:r>
          </a:p>
        </p:txBody>
      </p:sp>
      <p:sp>
        <p:nvSpPr>
          <p:cNvPr id="10" name="Text Box 5"/>
          <p:cNvSpPr txBox="1">
            <a:spLocks noChangeArrowheads="1"/>
          </p:cNvSpPr>
          <p:nvPr/>
        </p:nvSpPr>
        <p:spPr bwMode="auto">
          <a:xfrm>
            <a:off x="4214495" y="3375025"/>
            <a:ext cx="2590165"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实体名</a:t>
            </a:r>
          </a:p>
        </p:txBody>
      </p:sp>
      <p:sp>
        <p:nvSpPr>
          <p:cNvPr id="12" name="Oval 9"/>
          <p:cNvSpPr>
            <a:spLocks noChangeArrowheads="1"/>
          </p:cNvSpPr>
          <p:nvPr/>
        </p:nvSpPr>
        <p:spPr bwMode="auto">
          <a:xfrm>
            <a:off x="4213860" y="4164965"/>
            <a:ext cx="2590800" cy="53086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属性名</a:t>
            </a:r>
          </a:p>
        </p:txBody>
      </p:sp>
      <p:sp>
        <p:nvSpPr>
          <p:cNvPr id="14" name="AutoShape 24"/>
          <p:cNvSpPr>
            <a:spLocks noChangeArrowheads="1"/>
          </p:cNvSpPr>
          <p:nvPr/>
        </p:nvSpPr>
        <p:spPr bwMode="auto">
          <a:xfrm>
            <a:off x="4213860" y="4897755"/>
            <a:ext cx="259080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联系名</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79</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1</a:t>
            </a:r>
            <a:r>
              <a:rPr lang="zh-CN" altLang="en-US" dirty="0"/>
              <a:t>）</a:t>
            </a:r>
          </a:p>
        </p:txBody>
      </p:sp>
      <p:sp>
        <p:nvSpPr>
          <p:cNvPr id="9" name="内容占位符 8"/>
          <p:cNvSpPr>
            <a:spLocks noGrp="1"/>
          </p:cNvSpPr>
          <p:nvPr>
            <p:ph idx="1"/>
          </p:nvPr>
        </p:nvSpPr>
        <p:spPr/>
        <p:txBody>
          <a:bodyPr/>
          <a:lstStyle/>
          <a:p>
            <a:r>
              <a:rPr lang="zh-CN" altLang="en-US"/>
              <a:t>实体型的表示</a:t>
            </a:r>
          </a:p>
        </p:txBody>
      </p:sp>
      <p:sp>
        <p:nvSpPr>
          <p:cNvPr id="4" name="灯片编号占位符 3"/>
          <p:cNvSpPr>
            <a:spLocks noGrp="1"/>
          </p:cNvSpPr>
          <p:nvPr>
            <p:ph type="sldNum" sz="quarter" idx="12"/>
          </p:nvPr>
        </p:nvSpPr>
        <p:spPr>
          <a:xfrm>
            <a:off x="0" y="6695365"/>
            <a:ext cx="4114800" cy="153670"/>
          </a:xfrm>
        </p:spPr>
        <p:txBody>
          <a:bodyPr/>
          <a:lstStyle/>
          <a:p>
            <a:pPr>
              <a:defRPr/>
            </a:pPr>
            <a:fld id="{759762E9-AABD-478B-B116-8B8B54DC7F1E}" type="slidenum">
              <a:rPr lang="en-US" altLang="zh-CN" smtClean="0"/>
              <a:t>80</a:t>
            </a:fld>
            <a:endParaRPr lang="en-US" altLang="zh-CN" dirty="0"/>
          </a:p>
        </p:txBody>
      </p:sp>
      <p:grpSp>
        <p:nvGrpSpPr>
          <p:cNvPr id="8" name="组合 7"/>
          <p:cNvGrpSpPr/>
          <p:nvPr/>
        </p:nvGrpSpPr>
        <p:grpSpPr>
          <a:xfrm>
            <a:off x="2952115" y="2296160"/>
            <a:ext cx="6091555" cy="1779270"/>
            <a:chOff x="4649" y="3616"/>
            <a:chExt cx="9593" cy="2802"/>
          </a:xfrm>
        </p:grpSpPr>
        <p:sp>
          <p:nvSpPr>
            <p:cNvPr id="17" name="Text Box 5"/>
            <p:cNvSpPr txBox="1">
              <a:spLocks noChangeArrowheads="1"/>
            </p:cNvSpPr>
            <p:nvPr/>
          </p:nvSpPr>
          <p:spPr bwMode="auto">
            <a:xfrm>
              <a:off x="8700" y="3616"/>
              <a:ext cx="1440" cy="823"/>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学生</a:t>
              </a:r>
            </a:p>
          </p:txBody>
        </p:sp>
        <p:sp>
          <p:nvSpPr>
            <p:cNvPr id="19" name="Oval 7"/>
            <p:cNvSpPr>
              <a:spLocks noChangeArrowheads="1"/>
            </p:cNvSpPr>
            <p:nvPr/>
          </p:nvSpPr>
          <p:spPr bwMode="auto">
            <a:xfrm>
              <a:off x="4649"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学号</a:t>
              </a:r>
            </a:p>
          </p:txBody>
        </p:sp>
        <p:sp>
          <p:nvSpPr>
            <p:cNvPr id="20" name="Oval 8"/>
            <p:cNvSpPr>
              <a:spLocks noChangeArrowheads="1"/>
            </p:cNvSpPr>
            <p:nvPr/>
          </p:nvSpPr>
          <p:spPr bwMode="auto">
            <a:xfrm>
              <a:off x="12302"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年龄</a:t>
              </a:r>
            </a:p>
          </p:txBody>
        </p:sp>
        <p:sp>
          <p:nvSpPr>
            <p:cNvPr id="21" name="Oval 9"/>
            <p:cNvSpPr>
              <a:spLocks noChangeArrowheads="1"/>
            </p:cNvSpPr>
            <p:nvPr/>
          </p:nvSpPr>
          <p:spPr bwMode="auto">
            <a:xfrm>
              <a:off x="9751"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性别</a:t>
              </a:r>
            </a:p>
          </p:txBody>
        </p:sp>
        <p:sp>
          <p:nvSpPr>
            <p:cNvPr id="22" name="Oval 10"/>
            <p:cNvSpPr>
              <a:spLocks noChangeArrowheads="1"/>
            </p:cNvSpPr>
            <p:nvPr/>
          </p:nvSpPr>
          <p:spPr bwMode="auto">
            <a:xfrm>
              <a:off x="7200"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姓名</a:t>
              </a:r>
            </a:p>
          </p:txBody>
        </p:sp>
        <p:cxnSp>
          <p:nvCxnSpPr>
            <p:cNvPr id="3" name="直接连接符 2"/>
            <p:cNvCxnSpPr>
              <a:stCxn id="17" idx="2"/>
              <a:endCxn id="19" idx="7"/>
            </p:cNvCxnSpPr>
            <p:nvPr/>
          </p:nvCxnSpPr>
          <p:spPr>
            <a:xfrm flipH="1">
              <a:off x="6305" y="4439"/>
              <a:ext cx="3115"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a:stCxn id="17" idx="2"/>
              <a:endCxn id="22" idx="7"/>
            </p:cNvCxnSpPr>
            <p:nvPr>
              <p:custDataLst>
                <p:tags r:id="rId1"/>
              </p:custDataLst>
            </p:nvPr>
          </p:nvCxnSpPr>
          <p:spPr>
            <a:xfrm flipH="1">
              <a:off x="8856" y="4439"/>
              <a:ext cx="564"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17" idx="2"/>
              <a:endCxn id="21" idx="1"/>
            </p:cNvCxnSpPr>
            <p:nvPr>
              <p:custDataLst>
                <p:tags r:id="rId2"/>
              </p:custDataLst>
            </p:nvPr>
          </p:nvCxnSpPr>
          <p:spPr>
            <a:xfrm>
              <a:off x="9420" y="4439"/>
              <a:ext cx="615"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a:stCxn id="17" idx="2"/>
              <a:endCxn id="20" idx="1"/>
            </p:cNvCxnSpPr>
            <p:nvPr>
              <p:custDataLst>
                <p:tags r:id="rId3"/>
              </p:custDataLst>
            </p:nvPr>
          </p:nvCxnSpPr>
          <p:spPr>
            <a:xfrm>
              <a:off x="9420" y="4439"/>
              <a:ext cx="3166"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
        <p:nvSpPr>
          <p:cNvPr id="10" name="页脚占位符 9"/>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2</a:t>
            </a:r>
            <a:r>
              <a:rPr lang="zh-CN" altLang="en-US" dirty="0"/>
              <a:t>）</a:t>
            </a:r>
          </a:p>
        </p:txBody>
      </p:sp>
      <p:sp>
        <p:nvSpPr>
          <p:cNvPr id="3" name="内容占位符 2"/>
          <p:cNvSpPr>
            <a:spLocks noGrp="1"/>
          </p:cNvSpPr>
          <p:nvPr>
            <p:ph idx="1"/>
          </p:nvPr>
        </p:nvSpPr>
        <p:spPr/>
        <p:txBody>
          <a:bodyPr/>
          <a:lstStyle/>
          <a:p>
            <a:r>
              <a:rPr lang="zh-CN" altLang="en-US"/>
              <a:t>二元联系及联系上的属性</a:t>
            </a:r>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t>81</a:t>
            </a:fld>
            <a:endParaRPr lang="en-US" altLang="zh-CN" dirty="0"/>
          </a:p>
        </p:txBody>
      </p:sp>
      <p:grpSp>
        <p:nvGrpSpPr>
          <p:cNvPr id="35" name="组合 34"/>
          <p:cNvGrpSpPr/>
          <p:nvPr/>
        </p:nvGrpSpPr>
        <p:grpSpPr>
          <a:xfrm>
            <a:off x="1080000" y="1692000"/>
            <a:ext cx="2504440" cy="4255770"/>
            <a:chOff x="3243" y="2760"/>
            <a:chExt cx="3944" cy="6702"/>
          </a:xfrm>
        </p:grpSpPr>
        <p:sp>
          <p:nvSpPr>
            <p:cNvPr id="25" name="Text Box 5"/>
            <p:cNvSpPr txBox="1">
              <a:spLocks noChangeArrowheads="1"/>
            </p:cNvSpPr>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p>
          </p:txBody>
        </p:sp>
        <p:sp>
          <p:nvSpPr>
            <p:cNvPr id="26" name="AutoShape 6"/>
            <p:cNvSpPr>
              <a:spLocks noChangeArrowheads="1"/>
            </p:cNvSpPr>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班级</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a:t>
              </a: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班长</a:t>
              </a:r>
            </a:p>
          </p:txBody>
        </p:sp>
        <p:sp>
          <p:nvSpPr>
            <p:cNvPr id="27" name="Text Box 7"/>
            <p:cNvSpPr txBox="1">
              <a:spLocks noChangeArrowheads="1"/>
            </p:cNvSpPr>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班长</a:t>
              </a:r>
            </a:p>
          </p:txBody>
        </p:sp>
        <p:sp>
          <p:nvSpPr>
            <p:cNvPr id="30" name="Text Box 10"/>
            <p:cNvSpPr txBox="1">
              <a:spLocks noChangeArrowheads="1"/>
            </p:cNvSpPr>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sp>
          <p:nvSpPr>
            <p:cNvPr id="31" name="Text Box 11"/>
            <p:cNvSpPr txBox="1">
              <a:spLocks noChangeArrowheads="1"/>
            </p:cNvSpPr>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sp>
          <p:nvSpPr>
            <p:cNvPr id="32" name="Text Box 12"/>
            <p:cNvSpPr txBox="1">
              <a:spLocks noChangeArrowheads="1"/>
            </p:cNvSpPr>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1:1</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p>
          </p:txBody>
        </p:sp>
        <p:cxnSp>
          <p:nvCxnSpPr>
            <p:cNvPr id="33" name="直接连接符 32"/>
            <p:cNvCxnSpPr>
              <a:stCxn id="25" idx="2"/>
              <a:endCxn id="26" idx="0"/>
            </p:cNvCxnSpPr>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26" idx="2"/>
              <a:endCxn id="27" idx="0"/>
            </p:cNvCxnSpPr>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36" name="组合 35"/>
          <p:cNvGrpSpPr/>
          <p:nvPr/>
        </p:nvGrpSpPr>
        <p:grpSpPr>
          <a:xfrm>
            <a:off x="4320000" y="1692000"/>
            <a:ext cx="2504440" cy="4255770"/>
            <a:chOff x="3243" y="2760"/>
            <a:chExt cx="3944" cy="6702"/>
          </a:xfrm>
        </p:grpSpPr>
        <p:sp>
          <p:nvSpPr>
            <p:cNvPr id="37" name="Text Box 5"/>
            <p:cNvSpPr txBox="1">
              <a:spLocks noChangeArrowheads="1"/>
            </p:cNvSpPr>
            <p:nvPr>
              <p:custDataLst>
                <p:tags r:id="rId10"/>
              </p:custDataLst>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p>
          </p:txBody>
        </p:sp>
        <p:sp>
          <p:nvSpPr>
            <p:cNvPr id="38" name="AutoShape 6"/>
            <p:cNvSpPr>
              <a:spLocks noChangeArrowheads="1"/>
            </p:cNvSpPr>
            <p:nvPr>
              <p:custDataLst>
                <p:tags r:id="rId11"/>
              </p:custDataLst>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组成</a:t>
              </a:r>
            </a:p>
          </p:txBody>
        </p:sp>
        <p:sp>
          <p:nvSpPr>
            <p:cNvPr id="39" name="Text Box 7"/>
            <p:cNvSpPr txBox="1">
              <a:spLocks noChangeArrowheads="1"/>
            </p:cNvSpPr>
            <p:nvPr>
              <p:custDataLst>
                <p:tags r:id="rId12"/>
              </p:custDataLst>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p>
          </p:txBody>
        </p:sp>
        <p:sp>
          <p:nvSpPr>
            <p:cNvPr id="40" name="Text Box 10"/>
            <p:cNvSpPr txBox="1">
              <a:spLocks noChangeArrowheads="1"/>
            </p:cNvSpPr>
            <p:nvPr>
              <p:custDataLst>
                <p:tags r:id="rId13"/>
              </p:custDataLst>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sp>
          <p:nvSpPr>
            <p:cNvPr id="41" name="Text Box 11"/>
            <p:cNvSpPr txBox="1">
              <a:spLocks noChangeArrowheads="1"/>
            </p:cNvSpPr>
            <p:nvPr>
              <p:custDataLst>
                <p:tags r:id="rId14"/>
              </p:custDataLst>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p>
          </p:txBody>
        </p:sp>
        <p:sp>
          <p:nvSpPr>
            <p:cNvPr id="42" name="Text Box 12"/>
            <p:cNvSpPr txBox="1">
              <a:spLocks noChangeArrowheads="1"/>
            </p:cNvSpPr>
            <p:nvPr>
              <p:custDataLst>
                <p:tags r:id="rId15"/>
              </p:custDataLst>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1:n</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p>
          </p:txBody>
        </p:sp>
        <p:cxnSp>
          <p:nvCxnSpPr>
            <p:cNvPr id="43" name="直接连接符 42"/>
            <p:cNvCxnSpPr>
              <a:stCxn id="37" idx="2"/>
              <a:endCxn id="38" idx="0"/>
            </p:cNvCxnSpPr>
            <p:nvPr>
              <p:custDataLst>
                <p:tags r:id="rId16"/>
              </p:custDataLst>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a:stCxn id="38" idx="2"/>
              <a:endCxn id="39" idx="0"/>
            </p:cNvCxnSpPr>
            <p:nvPr>
              <p:custDataLst>
                <p:tags r:id="rId17"/>
              </p:custDataLst>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5" name="组合 4"/>
          <p:cNvGrpSpPr/>
          <p:nvPr/>
        </p:nvGrpSpPr>
        <p:grpSpPr>
          <a:xfrm>
            <a:off x="7560310" y="1692275"/>
            <a:ext cx="4051300" cy="4255770"/>
            <a:chOff x="11906" y="2665"/>
            <a:chExt cx="6380" cy="6702"/>
          </a:xfrm>
        </p:grpSpPr>
        <p:grpSp>
          <p:nvGrpSpPr>
            <p:cNvPr id="56" name="组合 55"/>
            <p:cNvGrpSpPr/>
            <p:nvPr/>
          </p:nvGrpSpPr>
          <p:grpSpPr>
            <a:xfrm>
              <a:off x="11906" y="2665"/>
              <a:ext cx="6381" cy="6702"/>
              <a:chOff x="11906" y="2665"/>
              <a:chExt cx="6381" cy="6702"/>
            </a:xfrm>
          </p:grpSpPr>
          <p:grpSp>
            <p:nvGrpSpPr>
              <p:cNvPr id="45" name="组合 44"/>
              <p:cNvGrpSpPr/>
              <p:nvPr/>
            </p:nvGrpSpPr>
            <p:grpSpPr>
              <a:xfrm>
                <a:off x="11906" y="2665"/>
                <a:ext cx="3944" cy="6702"/>
                <a:chOff x="3243" y="2760"/>
                <a:chExt cx="3944" cy="6702"/>
              </a:xfrm>
            </p:grpSpPr>
            <p:sp>
              <p:nvSpPr>
                <p:cNvPr id="46" name="Text Box 5"/>
                <p:cNvSpPr txBox="1">
                  <a:spLocks noChangeArrowheads="1"/>
                </p:cNvSpPr>
                <p:nvPr>
                  <p:custDataLst>
                    <p:tags r:id="rId2"/>
                  </p:custDataLst>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课程</a:t>
                  </a:r>
                </a:p>
              </p:txBody>
            </p:sp>
            <p:sp>
              <p:nvSpPr>
                <p:cNvPr id="47" name="AutoShape 6"/>
                <p:cNvSpPr>
                  <a:spLocks noChangeArrowheads="1"/>
                </p:cNvSpPr>
                <p:nvPr>
                  <p:custDataLst>
                    <p:tags r:id="rId3"/>
                  </p:custDataLst>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选修</a:t>
                  </a:r>
                </a:p>
              </p:txBody>
            </p:sp>
            <p:sp>
              <p:nvSpPr>
                <p:cNvPr id="48" name="Text Box 7"/>
                <p:cNvSpPr txBox="1">
                  <a:spLocks noChangeArrowheads="1"/>
                </p:cNvSpPr>
                <p:nvPr>
                  <p:custDataLst>
                    <p:tags r:id="rId4"/>
                  </p:custDataLst>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p>
              </p:txBody>
            </p:sp>
            <p:sp>
              <p:nvSpPr>
                <p:cNvPr id="49" name="Text Box 10"/>
                <p:cNvSpPr txBox="1">
                  <a:spLocks noChangeArrowheads="1"/>
                </p:cNvSpPr>
                <p:nvPr>
                  <p:custDataLst>
                    <p:tags r:id="rId5"/>
                  </p:custDataLst>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m</a:t>
                  </a:r>
                </a:p>
              </p:txBody>
            </p:sp>
            <p:sp>
              <p:nvSpPr>
                <p:cNvPr id="50" name="Text Box 11"/>
                <p:cNvSpPr txBox="1">
                  <a:spLocks noChangeArrowheads="1"/>
                </p:cNvSpPr>
                <p:nvPr>
                  <p:custDataLst>
                    <p:tags r:id="rId6"/>
                  </p:custDataLst>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p>
              </p:txBody>
            </p:sp>
            <p:sp>
              <p:nvSpPr>
                <p:cNvPr id="51" name="Text Box 12"/>
                <p:cNvSpPr txBox="1">
                  <a:spLocks noChangeArrowheads="1"/>
                </p:cNvSpPr>
                <p:nvPr>
                  <p:custDataLst>
                    <p:tags r:id="rId7"/>
                  </p:custDataLst>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m:n</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p>
              </p:txBody>
            </p:sp>
            <p:cxnSp>
              <p:nvCxnSpPr>
                <p:cNvPr id="52" name="直接连接符 51"/>
                <p:cNvCxnSpPr>
                  <a:stCxn id="46" idx="2"/>
                  <a:endCxn id="47" idx="0"/>
                </p:cNvCxnSpPr>
                <p:nvPr>
                  <p:custDataLst>
                    <p:tags r:id="rId8"/>
                  </p:custDataLst>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3" name="直接连接符 52"/>
                <p:cNvCxnSpPr>
                  <a:stCxn id="47" idx="2"/>
                  <a:endCxn id="48" idx="0"/>
                </p:cNvCxnSpPr>
                <p:nvPr>
                  <p:custDataLst>
                    <p:tags r:id="rId9"/>
                  </p:custDataLst>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
            <p:nvSpPr>
              <p:cNvPr id="54" name="Oval 13"/>
              <p:cNvSpPr>
                <a:spLocks noChangeArrowheads="1"/>
              </p:cNvSpPr>
              <p:nvPr>
                <p:custDataLst>
                  <p:tags r:id="rId1"/>
                </p:custDataLst>
              </p:nvPr>
            </p:nvSpPr>
            <p:spPr bwMode="auto">
              <a:xfrm>
                <a:off x="16367" y="4765"/>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成绩</a:t>
                </a:r>
              </a:p>
            </p:txBody>
          </p:sp>
        </p:grpSp>
        <p:cxnSp>
          <p:nvCxnSpPr>
            <p:cNvPr id="55" name="直接连接符 54"/>
            <p:cNvCxnSpPr>
              <a:stCxn id="47" idx="3"/>
              <a:endCxn id="54" idx="2"/>
            </p:cNvCxnSpPr>
            <p:nvPr/>
          </p:nvCxnSpPr>
          <p:spPr>
            <a:xfrm>
              <a:off x="15850" y="5185"/>
              <a:ext cx="517"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6" name="页脚占位符 5"/>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3</a:t>
            </a:r>
            <a:r>
              <a:rPr lang="zh-CN" altLang="en-US" dirty="0"/>
              <a:t>）</a:t>
            </a:r>
          </a:p>
        </p:txBody>
      </p:sp>
      <p:sp>
        <p:nvSpPr>
          <p:cNvPr id="3" name="内容占位符 2"/>
          <p:cNvSpPr>
            <a:spLocks noGrp="1"/>
          </p:cNvSpPr>
          <p:nvPr>
            <p:ph idx="1"/>
          </p:nvPr>
        </p:nvSpPr>
        <p:spPr/>
        <p:txBody>
          <a:bodyPr/>
          <a:lstStyle/>
          <a:p>
            <a:r>
              <a:rPr lang="zh-CN" altLang="en-US"/>
              <a:t>允许在同一组实体型之间建立多个不同的联系</a:t>
            </a:r>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t>82</a:t>
            </a:fld>
            <a:endParaRPr lang="en-US" altLang="zh-CN" dirty="0"/>
          </a:p>
        </p:txBody>
      </p:sp>
      <p:sp>
        <p:nvSpPr>
          <p:cNvPr id="26" name="AutoShape 6"/>
          <p:cNvSpPr>
            <a:spLocks noChangeArrowheads="1"/>
          </p:cNvSpPr>
          <p:nvPr>
            <p:custDataLst>
              <p:tags r:id="rId1"/>
            </p:custDataLst>
          </p:nvPr>
        </p:nvSpPr>
        <p:spPr bwMode="auto">
          <a:xfrm>
            <a:off x="2498725" y="2911475"/>
            <a:ext cx="248793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班级</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a:t>
            </a: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班长</a:t>
            </a:r>
          </a:p>
        </p:txBody>
      </p:sp>
      <p:sp>
        <p:nvSpPr>
          <p:cNvPr id="30" name="Text Box 10"/>
          <p:cNvSpPr txBox="1">
            <a:spLocks noChangeArrowheads="1"/>
          </p:cNvSpPr>
          <p:nvPr>
            <p:custDataLst>
              <p:tags r:id="rId2"/>
            </p:custDataLst>
          </p:nvPr>
        </p:nvSpPr>
        <p:spPr bwMode="auto">
          <a:xfrm>
            <a:off x="3592830" y="234759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sp>
        <p:nvSpPr>
          <p:cNvPr id="31" name="Text Box 11"/>
          <p:cNvSpPr txBox="1">
            <a:spLocks noChangeArrowheads="1"/>
          </p:cNvSpPr>
          <p:nvPr>
            <p:custDataLst>
              <p:tags r:id="rId3"/>
            </p:custDataLst>
          </p:nvPr>
        </p:nvSpPr>
        <p:spPr bwMode="auto">
          <a:xfrm>
            <a:off x="3638550" y="390207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cxnSp>
        <p:nvCxnSpPr>
          <p:cNvPr id="33" name="直接连接符 32"/>
          <p:cNvCxnSpPr>
            <a:stCxn id="37" idx="1"/>
            <a:endCxn id="26" idx="0"/>
          </p:cNvCxnSpPr>
          <p:nvPr>
            <p:custDataLst>
              <p:tags r:id="rId4"/>
            </p:custDataLst>
          </p:nvPr>
        </p:nvCxnSpPr>
        <p:spPr>
          <a:xfrm flipH="1">
            <a:off x="3742690" y="1953260"/>
            <a:ext cx="954405" cy="9582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26" idx="2"/>
            <a:endCxn id="39" idx="1"/>
          </p:cNvCxnSpPr>
          <p:nvPr>
            <p:custDataLst>
              <p:tags r:id="rId5"/>
            </p:custDataLst>
          </p:nvPr>
        </p:nvCxnSpPr>
        <p:spPr>
          <a:xfrm>
            <a:off x="3742690" y="3673475"/>
            <a:ext cx="955675" cy="11753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7" name="Text Box 5"/>
          <p:cNvSpPr txBox="1">
            <a:spLocks noChangeArrowheads="1"/>
          </p:cNvSpPr>
          <p:nvPr>
            <p:custDataLst>
              <p:tags r:id="rId6"/>
            </p:custDataLst>
          </p:nvPr>
        </p:nvSpPr>
        <p:spPr bwMode="auto">
          <a:xfrm>
            <a:off x="4697095" y="1692275"/>
            <a:ext cx="2486660"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p>
        </p:txBody>
      </p:sp>
      <p:sp>
        <p:nvSpPr>
          <p:cNvPr id="38" name="AutoShape 6"/>
          <p:cNvSpPr>
            <a:spLocks noChangeArrowheads="1"/>
          </p:cNvSpPr>
          <p:nvPr>
            <p:custDataLst>
              <p:tags r:id="rId7"/>
            </p:custDataLst>
          </p:nvPr>
        </p:nvSpPr>
        <p:spPr bwMode="auto">
          <a:xfrm>
            <a:off x="6748780" y="2911475"/>
            <a:ext cx="248793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组成</a:t>
            </a:r>
          </a:p>
        </p:txBody>
      </p:sp>
      <p:sp>
        <p:nvSpPr>
          <p:cNvPr id="39" name="Text Box 7"/>
          <p:cNvSpPr txBox="1">
            <a:spLocks noChangeArrowheads="1"/>
          </p:cNvSpPr>
          <p:nvPr>
            <p:custDataLst>
              <p:tags r:id="rId8"/>
            </p:custDataLst>
          </p:nvPr>
        </p:nvSpPr>
        <p:spPr bwMode="auto">
          <a:xfrm>
            <a:off x="4698365" y="4587875"/>
            <a:ext cx="2486025"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p>
        </p:txBody>
      </p:sp>
      <p:sp>
        <p:nvSpPr>
          <p:cNvPr id="40" name="Text Box 10"/>
          <p:cNvSpPr txBox="1">
            <a:spLocks noChangeArrowheads="1"/>
          </p:cNvSpPr>
          <p:nvPr>
            <p:custDataLst>
              <p:tags r:id="rId9"/>
            </p:custDataLst>
          </p:nvPr>
        </p:nvSpPr>
        <p:spPr bwMode="auto">
          <a:xfrm>
            <a:off x="7720965" y="226631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p>
        </p:txBody>
      </p:sp>
      <p:sp>
        <p:nvSpPr>
          <p:cNvPr id="41" name="Text Box 11"/>
          <p:cNvSpPr txBox="1">
            <a:spLocks noChangeArrowheads="1"/>
          </p:cNvSpPr>
          <p:nvPr>
            <p:custDataLst>
              <p:tags r:id="rId10"/>
            </p:custDataLst>
          </p:nvPr>
        </p:nvSpPr>
        <p:spPr bwMode="auto">
          <a:xfrm>
            <a:off x="7766685" y="382079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p>
        </p:txBody>
      </p:sp>
      <p:cxnSp>
        <p:nvCxnSpPr>
          <p:cNvPr id="43" name="直接连接符 42"/>
          <p:cNvCxnSpPr>
            <a:stCxn id="37" idx="3"/>
            <a:endCxn id="38" idx="0"/>
          </p:cNvCxnSpPr>
          <p:nvPr>
            <p:custDataLst>
              <p:tags r:id="rId11"/>
            </p:custDataLst>
          </p:nvPr>
        </p:nvCxnSpPr>
        <p:spPr>
          <a:xfrm>
            <a:off x="7183755" y="1953260"/>
            <a:ext cx="808990" cy="9582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a:stCxn id="38" idx="2"/>
            <a:endCxn id="39" idx="3"/>
          </p:cNvCxnSpPr>
          <p:nvPr>
            <p:custDataLst>
              <p:tags r:id="rId12"/>
            </p:custDataLst>
          </p:nvPr>
        </p:nvCxnSpPr>
        <p:spPr>
          <a:xfrm flipH="1">
            <a:off x="7184390" y="3673475"/>
            <a:ext cx="808355" cy="11753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 name="页脚占位符 4"/>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4</a:t>
            </a:r>
            <a:r>
              <a:rPr lang="zh-CN" altLang="en-US" dirty="0"/>
              <a:t>）</a:t>
            </a:r>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t>83</a:t>
            </a:fld>
            <a:endParaRPr lang="en-US" altLang="zh-CN" dirty="0"/>
          </a:p>
        </p:txBody>
      </p:sp>
      <p:grpSp>
        <p:nvGrpSpPr>
          <p:cNvPr id="8" name="组合 7"/>
          <p:cNvGrpSpPr/>
          <p:nvPr/>
        </p:nvGrpSpPr>
        <p:grpSpPr>
          <a:xfrm>
            <a:off x="7772400" y="1640205"/>
            <a:ext cx="2286000" cy="3650615"/>
            <a:chOff x="10920" y="2784"/>
            <a:chExt cx="3600" cy="5749"/>
          </a:xfrm>
        </p:grpSpPr>
        <p:sp>
          <p:nvSpPr>
            <p:cNvPr id="43" name="Line 8"/>
            <p:cNvSpPr>
              <a:spLocks noChangeShapeType="1"/>
            </p:cNvSpPr>
            <p:nvPr/>
          </p:nvSpPr>
          <p:spPr bwMode="auto">
            <a:xfrm>
              <a:off x="13080" y="3600"/>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0" name="Text Box 5"/>
            <p:cNvSpPr txBox="1">
              <a:spLocks noChangeArrowheads="1"/>
            </p:cNvSpPr>
            <p:nvPr/>
          </p:nvSpPr>
          <p:spPr bwMode="auto">
            <a:xfrm>
              <a:off x="11640" y="2784"/>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职工</a:t>
              </a:r>
            </a:p>
          </p:txBody>
        </p:sp>
        <p:sp>
          <p:nvSpPr>
            <p:cNvPr id="41" name="AutoShape 6"/>
            <p:cNvSpPr>
              <a:spLocks noChangeArrowheads="1"/>
            </p:cNvSpPr>
            <p:nvPr/>
          </p:nvSpPr>
          <p:spPr bwMode="auto">
            <a:xfrm>
              <a:off x="11520" y="480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领导</a:t>
              </a:r>
            </a:p>
          </p:txBody>
        </p:sp>
        <p:sp>
          <p:nvSpPr>
            <p:cNvPr id="42" name="Line 7"/>
            <p:cNvSpPr>
              <a:spLocks noChangeShapeType="1"/>
            </p:cNvSpPr>
            <p:nvPr/>
          </p:nvSpPr>
          <p:spPr bwMode="auto">
            <a:xfrm flipV="1">
              <a:off x="12240" y="3600"/>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Text Box 9"/>
            <p:cNvSpPr txBox="1">
              <a:spLocks noChangeArrowheads="1"/>
            </p:cNvSpPr>
            <p:nvPr/>
          </p:nvSpPr>
          <p:spPr bwMode="auto">
            <a:xfrm>
              <a:off x="11520" y="396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p>
          </p:txBody>
        </p:sp>
        <p:sp>
          <p:nvSpPr>
            <p:cNvPr id="45" name="Text Box 10"/>
            <p:cNvSpPr txBox="1">
              <a:spLocks noChangeArrowheads="1"/>
            </p:cNvSpPr>
            <p:nvPr/>
          </p:nvSpPr>
          <p:spPr bwMode="auto">
            <a:xfrm>
              <a:off x="13200" y="396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p>
          </p:txBody>
        </p:sp>
        <p:sp>
          <p:nvSpPr>
            <p:cNvPr id="46" name="Text Box 11"/>
            <p:cNvSpPr txBox="1">
              <a:spLocks noChangeArrowheads="1"/>
            </p:cNvSpPr>
            <p:nvPr/>
          </p:nvSpPr>
          <p:spPr bwMode="auto">
            <a:xfrm>
              <a:off x="10920" y="7032"/>
              <a:ext cx="3600" cy="1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同一实体型内部的联系</a:t>
              </a:r>
            </a:p>
          </p:txBody>
        </p:sp>
      </p:grpSp>
      <p:grpSp>
        <p:nvGrpSpPr>
          <p:cNvPr id="7" name="组合 6"/>
          <p:cNvGrpSpPr/>
          <p:nvPr/>
        </p:nvGrpSpPr>
        <p:grpSpPr>
          <a:xfrm>
            <a:off x="916305" y="1290320"/>
            <a:ext cx="4975860" cy="4550410"/>
            <a:chOff x="3032" y="2416"/>
            <a:chExt cx="7836" cy="7166"/>
          </a:xfrm>
        </p:grpSpPr>
        <p:sp>
          <p:nvSpPr>
            <p:cNvPr id="29" name="Text Box 13"/>
            <p:cNvSpPr txBox="1">
              <a:spLocks noChangeArrowheads="1"/>
            </p:cNvSpPr>
            <p:nvPr/>
          </p:nvSpPr>
          <p:spPr bwMode="auto">
            <a:xfrm>
              <a:off x="6168" y="2416"/>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课程</a:t>
              </a:r>
            </a:p>
          </p:txBody>
        </p:sp>
        <p:sp>
          <p:nvSpPr>
            <p:cNvPr id="30" name="AutoShape 14"/>
            <p:cNvSpPr>
              <a:spLocks noChangeArrowheads="1"/>
            </p:cNvSpPr>
            <p:nvPr/>
          </p:nvSpPr>
          <p:spPr bwMode="auto">
            <a:xfrm>
              <a:off x="6000" y="480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讲授</a:t>
              </a:r>
            </a:p>
          </p:txBody>
        </p:sp>
        <p:sp>
          <p:nvSpPr>
            <p:cNvPr id="31" name="Text Box 15"/>
            <p:cNvSpPr txBox="1">
              <a:spLocks noChangeArrowheads="1"/>
            </p:cNvSpPr>
            <p:nvPr/>
          </p:nvSpPr>
          <p:spPr bwMode="auto">
            <a:xfrm>
              <a:off x="3856" y="7560"/>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教师</a:t>
              </a:r>
            </a:p>
          </p:txBody>
        </p:sp>
        <p:sp>
          <p:nvSpPr>
            <p:cNvPr id="34" name="Text Box 18"/>
            <p:cNvSpPr txBox="1">
              <a:spLocks noChangeArrowheads="1"/>
            </p:cNvSpPr>
            <p:nvPr/>
          </p:nvSpPr>
          <p:spPr bwMode="auto">
            <a:xfrm>
              <a:off x="6600" y="371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1</a:t>
              </a:r>
            </a:p>
          </p:txBody>
        </p:sp>
        <p:sp>
          <p:nvSpPr>
            <p:cNvPr id="35" name="Text Box 19"/>
            <p:cNvSpPr txBox="1">
              <a:spLocks noChangeArrowheads="1"/>
            </p:cNvSpPr>
            <p:nvPr/>
          </p:nvSpPr>
          <p:spPr bwMode="auto">
            <a:xfrm>
              <a:off x="4576"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m</a:t>
              </a:r>
            </a:p>
          </p:txBody>
        </p:sp>
        <p:sp>
          <p:nvSpPr>
            <p:cNvPr id="36" name="Text Box 20"/>
            <p:cNvSpPr txBox="1">
              <a:spLocks noChangeArrowheads="1"/>
            </p:cNvSpPr>
            <p:nvPr/>
          </p:nvSpPr>
          <p:spPr bwMode="auto">
            <a:xfrm>
              <a:off x="3032" y="8760"/>
              <a:ext cx="783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多个实体型间的联系</a:t>
              </a:r>
            </a:p>
          </p:txBody>
        </p:sp>
        <p:sp>
          <p:nvSpPr>
            <p:cNvPr id="37" name="Text Box 21"/>
            <p:cNvSpPr txBox="1">
              <a:spLocks noChangeArrowheads="1"/>
            </p:cNvSpPr>
            <p:nvPr/>
          </p:nvSpPr>
          <p:spPr bwMode="auto">
            <a:xfrm>
              <a:off x="8448" y="7560"/>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参考书</a:t>
              </a:r>
            </a:p>
          </p:txBody>
        </p:sp>
        <p:sp>
          <p:nvSpPr>
            <p:cNvPr id="39" name="Text Box 23"/>
            <p:cNvSpPr txBox="1">
              <a:spLocks noChangeArrowheads="1"/>
            </p:cNvSpPr>
            <p:nvPr/>
          </p:nvSpPr>
          <p:spPr bwMode="auto">
            <a:xfrm>
              <a:off x="9168"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n</a:t>
              </a:r>
            </a:p>
          </p:txBody>
        </p:sp>
        <p:cxnSp>
          <p:nvCxnSpPr>
            <p:cNvPr id="3" name="直接连接符 2"/>
            <p:cNvCxnSpPr>
              <a:stCxn id="29" idx="2"/>
              <a:endCxn id="30" idx="0"/>
            </p:cNvCxnSpPr>
            <p:nvPr/>
          </p:nvCxnSpPr>
          <p:spPr>
            <a:xfrm>
              <a:off x="7188" y="3238"/>
              <a:ext cx="12" cy="1562"/>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a:stCxn id="30" idx="1"/>
              <a:endCxn id="31" idx="0"/>
            </p:cNvCxnSpPr>
            <p:nvPr>
              <p:custDataLst>
                <p:tags r:id="rId1"/>
              </p:custDataLst>
            </p:nvPr>
          </p:nvCxnSpPr>
          <p:spPr>
            <a:xfrm flipH="1">
              <a:off x="4876" y="5400"/>
              <a:ext cx="1124" cy="216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30" idx="3"/>
              <a:endCxn id="37" idx="0"/>
            </p:cNvCxnSpPr>
            <p:nvPr>
              <p:custDataLst>
                <p:tags r:id="rId2"/>
              </p:custDataLst>
            </p:nvPr>
          </p:nvCxnSpPr>
          <p:spPr>
            <a:xfrm>
              <a:off x="8400" y="5400"/>
              <a:ext cx="1068" cy="216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9" name="页脚占位符 8"/>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5</a:t>
            </a:r>
            <a:r>
              <a:rPr lang="zh-CN" altLang="en-US" dirty="0"/>
              <a:t>）</a:t>
            </a:r>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t>84</a:t>
            </a:fld>
            <a:endParaRPr lang="en-US" altLang="zh-CN" dirty="0"/>
          </a:p>
        </p:txBody>
      </p:sp>
      <p:grpSp>
        <p:nvGrpSpPr>
          <p:cNvPr id="3" name="组合 2"/>
          <p:cNvGrpSpPr/>
          <p:nvPr/>
        </p:nvGrpSpPr>
        <p:grpSpPr>
          <a:xfrm>
            <a:off x="1589287" y="827065"/>
            <a:ext cx="8970589" cy="5538175"/>
            <a:chOff x="2503" y="1766"/>
            <a:chExt cx="14127" cy="8722"/>
          </a:xfrm>
        </p:grpSpPr>
        <p:sp>
          <p:nvSpPr>
            <p:cNvPr id="36" name="Line 8"/>
            <p:cNvSpPr>
              <a:spLocks noChangeShapeType="1"/>
            </p:cNvSpPr>
            <p:nvPr/>
          </p:nvSpPr>
          <p:spPr bwMode="auto">
            <a:xfrm flipH="1" flipV="1">
              <a:off x="13239" y="7688"/>
              <a:ext cx="3005" cy="15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 name="Oval 13"/>
            <p:cNvSpPr>
              <a:spLocks noChangeArrowheads="1"/>
            </p:cNvSpPr>
            <p:nvPr/>
          </p:nvSpPr>
          <p:spPr bwMode="auto">
            <a:xfrm>
              <a:off x="5858" y="17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商店编号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 name="Oval 13"/>
            <p:cNvSpPr>
              <a:spLocks noChangeArrowheads="1"/>
            </p:cNvSpPr>
            <p:nvPr/>
          </p:nvSpPr>
          <p:spPr bwMode="auto">
            <a:xfrm>
              <a:off x="10109" y="17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地址</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Text Box 5"/>
            <p:cNvSpPr txBox="1">
              <a:spLocks noChangeArrowheads="1"/>
            </p:cNvSpPr>
            <p:nvPr/>
          </p:nvSpPr>
          <p:spPr bwMode="auto">
            <a:xfrm>
              <a:off x="4766" y="7538"/>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商品</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3" name="Oval 13"/>
            <p:cNvSpPr>
              <a:spLocks noChangeArrowheads="1"/>
            </p:cNvSpPr>
            <p:nvPr/>
          </p:nvSpPr>
          <p:spPr bwMode="auto">
            <a:xfrm>
              <a:off x="2567" y="8769"/>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商品号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6" name="Oval 13"/>
            <p:cNvSpPr>
              <a:spLocks noChangeArrowheads="1"/>
            </p:cNvSpPr>
            <p:nvPr/>
          </p:nvSpPr>
          <p:spPr bwMode="auto">
            <a:xfrm>
              <a:off x="7296" y="9563"/>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单价</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Line 8"/>
            <p:cNvSpPr>
              <a:spLocks noChangeShapeType="1"/>
            </p:cNvSpPr>
            <p:nvPr/>
          </p:nvSpPr>
          <p:spPr bwMode="auto">
            <a:xfrm flipH="1" flipV="1">
              <a:off x="6806" y="2635"/>
              <a:ext cx="2106" cy="4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Line 8"/>
            <p:cNvSpPr>
              <a:spLocks noChangeShapeType="1"/>
            </p:cNvSpPr>
            <p:nvPr/>
          </p:nvSpPr>
          <p:spPr bwMode="auto">
            <a:xfrm flipH="1">
              <a:off x="8880" y="2635"/>
              <a:ext cx="2194" cy="4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Line 8"/>
            <p:cNvSpPr>
              <a:spLocks noChangeShapeType="1"/>
            </p:cNvSpPr>
            <p:nvPr/>
          </p:nvSpPr>
          <p:spPr bwMode="auto">
            <a:xfrm flipH="1" flipV="1">
              <a:off x="8912" y="2602"/>
              <a:ext cx="0" cy="49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Line 8"/>
            <p:cNvSpPr>
              <a:spLocks noChangeShapeType="1"/>
            </p:cNvSpPr>
            <p:nvPr/>
          </p:nvSpPr>
          <p:spPr bwMode="auto">
            <a:xfrm flipV="1">
              <a:off x="3555" y="8118"/>
              <a:ext cx="2303" cy="6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Line 8"/>
            <p:cNvSpPr>
              <a:spLocks noChangeShapeType="1"/>
            </p:cNvSpPr>
            <p:nvPr/>
          </p:nvSpPr>
          <p:spPr bwMode="auto">
            <a:xfrm flipV="1">
              <a:off x="4560" y="8119"/>
              <a:ext cx="1298" cy="172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Line 8"/>
            <p:cNvSpPr>
              <a:spLocks noChangeShapeType="1"/>
            </p:cNvSpPr>
            <p:nvPr/>
          </p:nvSpPr>
          <p:spPr bwMode="auto">
            <a:xfrm flipH="1" flipV="1">
              <a:off x="5834" y="8119"/>
              <a:ext cx="477" cy="6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Line 8"/>
            <p:cNvSpPr>
              <a:spLocks noChangeShapeType="1"/>
            </p:cNvSpPr>
            <p:nvPr/>
          </p:nvSpPr>
          <p:spPr bwMode="auto">
            <a:xfrm flipH="1" flipV="1">
              <a:off x="5835" y="8119"/>
              <a:ext cx="2904" cy="14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5" name="Oval 13"/>
            <p:cNvSpPr>
              <a:spLocks noChangeArrowheads="1"/>
            </p:cNvSpPr>
            <p:nvPr/>
          </p:nvSpPr>
          <p:spPr bwMode="auto">
            <a:xfrm>
              <a:off x="5404" y="8797"/>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规格</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9" name="Text Box 5"/>
            <p:cNvSpPr txBox="1">
              <a:spLocks noChangeArrowheads="1"/>
            </p:cNvSpPr>
            <p:nvPr/>
          </p:nvSpPr>
          <p:spPr bwMode="auto">
            <a:xfrm>
              <a:off x="12170" y="7108"/>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职工</a:t>
              </a:r>
            </a:p>
          </p:txBody>
        </p:sp>
        <p:sp>
          <p:nvSpPr>
            <p:cNvPr id="30" name="Oval 13"/>
            <p:cNvSpPr>
              <a:spLocks noChangeArrowheads="1"/>
            </p:cNvSpPr>
            <p:nvPr/>
          </p:nvSpPr>
          <p:spPr bwMode="auto">
            <a:xfrm>
              <a:off x="9970" y="829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职工编号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Oval 13"/>
            <p:cNvSpPr>
              <a:spLocks noChangeArrowheads="1"/>
            </p:cNvSpPr>
            <p:nvPr/>
          </p:nvSpPr>
          <p:spPr bwMode="auto">
            <a:xfrm>
              <a:off x="10958" y="9367"/>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姓名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Oval 13"/>
            <p:cNvSpPr>
              <a:spLocks noChangeArrowheads="1"/>
            </p:cNvSpPr>
            <p:nvPr/>
          </p:nvSpPr>
          <p:spPr bwMode="auto">
            <a:xfrm>
              <a:off x="14620" y="910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业</a:t>
              </a: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绩</a:t>
              </a:r>
            </a:p>
          </p:txBody>
        </p:sp>
        <p:sp>
          <p:nvSpPr>
            <p:cNvPr id="33" name="Line 8"/>
            <p:cNvSpPr>
              <a:spLocks noChangeShapeType="1"/>
            </p:cNvSpPr>
            <p:nvPr/>
          </p:nvSpPr>
          <p:spPr bwMode="auto">
            <a:xfrm flipV="1">
              <a:off x="10958" y="7703"/>
              <a:ext cx="2303" cy="5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Line 8"/>
            <p:cNvSpPr>
              <a:spLocks noChangeShapeType="1"/>
            </p:cNvSpPr>
            <p:nvPr/>
          </p:nvSpPr>
          <p:spPr bwMode="auto">
            <a:xfrm flipV="1">
              <a:off x="11964" y="7703"/>
              <a:ext cx="1298" cy="16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5" name="Line 8"/>
            <p:cNvSpPr>
              <a:spLocks noChangeShapeType="1"/>
            </p:cNvSpPr>
            <p:nvPr/>
          </p:nvSpPr>
          <p:spPr bwMode="auto">
            <a:xfrm flipH="1" flipV="1">
              <a:off x="13238" y="7703"/>
              <a:ext cx="477" cy="8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7" name="Oval 13"/>
            <p:cNvSpPr>
              <a:spLocks noChangeArrowheads="1"/>
            </p:cNvSpPr>
            <p:nvPr/>
          </p:nvSpPr>
          <p:spPr bwMode="auto">
            <a:xfrm>
              <a:off x="12712" y="851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性别</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8" name="AutoShape 6"/>
            <p:cNvSpPr>
              <a:spLocks noChangeArrowheads="1"/>
            </p:cNvSpPr>
            <p:nvPr/>
          </p:nvSpPr>
          <p:spPr bwMode="auto">
            <a:xfrm>
              <a:off x="4320" y="468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销售</a:t>
              </a:r>
            </a:p>
          </p:txBody>
        </p:sp>
        <p:sp>
          <p:nvSpPr>
            <p:cNvPr id="39" name="AutoShape 6"/>
            <p:cNvSpPr>
              <a:spLocks noChangeArrowheads="1"/>
            </p:cNvSpPr>
            <p:nvPr/>
          </p:nvSpPr>
          <p:spPr bwMode="auto">
            <a:xfrm>
              <a:off x="11810" y="4518"/>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聘用</a:t>
              </a:r>
            </a:p>
          </p:txBody>
        </p:sp>
        <p:sp>
          <p:nvSpPr>
            <p:cNvPr id="40" name="Oval 13"/>
            <p:cNvSpPr>
              <a:spLocks noChangeArrowheads="1"/>
            </p:cNvSpPr>
            <p:nvPr/>
          </p:nvSpPr>
          <p:spPr bwMode="auto">
            <a:xfrm>
              <a:off x="14590" y="365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月薪</a:t>
              </a:r>
            </a:p>
          </p:txBody>
        </p:sp>
        <p:sp>
          <p:nvSpPr>
            <p:cNvPr id="41" name="Oval 13"/>
            <p:cNvSpPr>
              <a:spLocks noChangeArrowheads="1"/>
            </p:cNvSpPr>
            <p:nvPr/>
          </p:nvSpPr>
          <p:spPr bwMode="auto">
            <a:xfrm>
              <a:off x="14710" y="54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聘期</a:t>
              </a:r>
            </a:p>
          </p:txBody>
        </p:sp>
        <p:sp>
          <p:nvSpPr>
            <p:cNvPr id="42" name="Oval 13"/>
            <p:cNvSpPr>
              <a:spLocks noChangeArrowheads="1"/>
            </p:cNvSpPr>
            <p:nvPr/>
          </p:nvSpPr>
          <p:spPr bwMode="auto">
            <a:xfrm>
              <a:off x="2503" y="5694"/>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月销量</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Line 8"/>
            <p:cNvSpPr>
              <a:spLocks noChangeShapeType="1"/>
            </p:cNvSpPr>
            <p:nvPr/>
          </p:nvSpPr>
          <p:spPr bwMode="auto">
            <a:xfrm flipH="1">
              <a:off x="5475" y="3657"/>
              <a:ext cx="3405" cy="102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Line 8"/>
            <p:cNvSpPr>
              <a:spLocks noChangeShapeType="1"/>
            </p:cNvSpPr>
            <p:nvPr/>
          </p:nvSpPr>
          <p:spPr bwMode="auto">
            <a:xfrm>
              <a:off x="8912" y="3677"/>
              <a:ext cx="4090" cy="84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Line 8"/>
            <p:cNvSpPr>
              <a:spLocks noChangeShapeType="1"/>
            </p:cNvSpPr>
            <p:nvPr/>
          </p:nvSpPr>
          <p:spPr bwMode="auto">
            <a:xfrm flipH="1" flipV="1">
              <a:off x="13002" y="5694"/>
              <a:ext cx="113" cy="141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Line 8"/>
            <p:cNvSpPr>
              <a:spLocks noChangeShapeType="1"/>
            </p:cNvSpPr>
            <p:nvPr/>
          </p:nvSpPr>
          <p:spPr bwMode="auto">
            <a:xfrm>
              <a:off x="5518" y="5880"/>
              <a:ext cx="294" cy="16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8"/>
            <p:cNvSpPr>
              <a:spLocks noChangeShapeType="1"/>
            </p:cNvSpPr>
            <p:nvPr/>
          </p:nvSpPr>
          <p:spPr bwMode="auto">
            <a:xfrm flipV="1">
              <a:off x="3476" y="5287"/>
              <a:ext cx="844" cy="3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Line 8"/>
            <p:cNvSpPr>
              <a:spLocks noChangeShapeType="1"/>
            </p:cNvSpPr>
            <p:nvPr/>
          </p:nvSpPr>
          <p:spPr bwMode="auto">
            <a:xfrm flipV="1">
              <a:off x="14168" y="4104"/>
              <a:ext cx="422" cy="101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Line 8"/>
            <p:cNvSpPr>
              <a:spLocks noChangeShapeType="1"/>
            </p:cNvSpPr>
            <p:nvPr/>
          </p:nvSpPr>
          <p:spPr bwMode="auto">
            <a:xfrm>
              <a:off x="14168" y="5114"/>
              <a:ext cx="560" cy="6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Text Box 18"/>
            <p:cNvSpPr txBox="1">
              <a:spLocks noChangeArrowheads="1"/>
            </p:cNvSpPr>
            <p:nvPr/>
          </p:nvSpPr>
          <p:spPr bwMode="auto">
            <a:xfrm>
              <a:off x="11099" y="4222"/>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a:t>
              </a:r>
            </a:p>
          </p:txBody>
        </p:sp>
        <p:sp>
          <p:nvSpPr>
            <p:cNvPr id="52" name="Text Box 23"/>
            <p:cNvSpPr txBox="1">
              <a:spLocks noChangeArrowheads="1"/>
            </p:cNvSpPr>
            <p:nvPr/>
          </p:nvSpPr>
          <p:spPr bwMode="auto">
            <a:xfrm>
              <a:off x="12313" y="6033"/>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n</a:t>
              </a:r>
            </a:p>
          </p:txBody>
        </p:sp>
        <p:sp>
          <p:nvSpPr>
            <p:cNvPr id="53" name="Text Box 23"/>
            <p:cNvSpPr txBox="1">
              <a:spLocks noChangeArrowheads="1"/>
            </p:cNvSpPr>
            <p:nvPr/>
          </p:nvSpPr>
          <p:spPr bwMode="auto">
            <a:xfrm>
              <a:off x="5800" y="6301"/>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n</a:t>
              </a:r>
            </a:p>
          </p:txBody>
        </p:sp>
        <p:sp>
          <p:nvSpPr>
            <p:cNvPr id="54" name="Text Box 19"/>
            <p:cNvSpPr txBox="1">
              <a:spLocks noChangeArrowheads="1"/>
            </p:cNvSpPr>
            <p:nvPr/>
          </p:nvSpPr>
          <p:spPr bwMode="auto">
            <a:xfrm>
              <a:off x="6518" y="3749"/>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m</a:t>
              </a:r>
            </a:p>
          </p:txBody>
        </p:sp>
        <p:sp>
          <p:nvSpPr>
            <p:cNvPr id="14" name="Oval 13"/>
            <p:cNvSpPr>
              <a:spLocks noChangeArrowheads="1"/>
            </p:cNvSpPr>
            <p:nvPr/>
          </p:nvSpPr>
          <p:spPr bwMode="auto">
            <a:xfrm>
              <a:off x="3715" y="9648"/>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商品名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7" name="Oval 13"/>
            <p:cNvSpPr>
              <a:spLocks noChangeArrowheads="1"/>
            </p:cNvSpPr>
            <p:nvPr/>
          </p:nvSpPr>
          <p:spPr bwMode="auto">
            <a:xfrm>
              <a:off x="8012" y="1795"/>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商店名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 name="Text Box 5"/>
            <p:cNvSpPr txBox="1">
              <a:spLocks noChangeArrowheads="1"/>
            </p:cNvSpPr>
            <p:nvPr/>
          </p:nvSpPr>
          <p:spPr bwMode="auto">
            <a:xfrm>
              <a:off x="7892" y="3097"/>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商店</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0" name="页脚占位符 9"/>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p:txBody>
          <a:bodyPr wrap="square" tIns="0" bIns="0" anchor="ctr"/>
          <a:lstStyle/>
          <a:p>
            <a:pPr eaLnBrk="1" hangingPunct="1"/>
            <a:r>
              <a:rPr lang="en-US" altLang="zh-CN">
                <a:sym typeface="+mn-ea"/>
              </a:rPr>
              <a:t>1.2.3  </a:t>
            </a:r>
            <a:r>
              <a:rPr lang="zh-CN" altLang="en-US">
                <a:sym typeface="+mn-ea"/>
              </a:rPr>
              <a:t>数据模型的组成要素</a:t>
            </a:r>
          </a:p>
        </p:txBody>
      </p:sp>
      <p:sp>
        <p:nvSpPr>
          <p:cNvPr id="8195" name="Rectangle 3"/>
          <p:cNvSpPr>
            <a:spLocks noGrp="1"/>
          </p:cNvSpPr>
          <p:nvPr>
            <p:ph idx="1"/>
          </p:nvPr>
        </p:nvSpPr>
        <p:spPr>
          <a:xfrm>
            <a:off x="424180" y="687070"/>
            <a:ext cx="11343005" cy="1640840"/>
          </a:xfrm>
        </p:spPr>
        <p:txBody>
          <a:bodyPr wrap="square" anchor="t">
            <a:spAutoFit/>
          </a:bodyPr>
          <a:lstStyle/>
          <a:p>
            <a:pPr eaLnBrk="1" hangingPunct="1">
              <a:lnSpc>
                <a:spcPct val="110000"/>
              </a:lnSpc>
              <a:spcBef>
                <a:spcPts val="1000"/>
              </a:spcBef>
            </a:pPr>
            <a:r>
              <a:rPr lang="zh-CN" altLang="en-US" sz="2800" dirty="0">
                <a:solidFill>
                  <a:srgbClr val="FF0000"/>
                </a:solidFill>
              </a:rPr>
              <a:t>数据模型</a:t>
            </a:r>
            <a:r>
              <a:rPr lang="zh-CN" altLang="en-US" sz="2800" dirty="0"/>
              <a:t>（</a:t>
            </a:r>
            <a:r>
              <a:rPr lang="en-US" altLang="x-none" sz="2800" dirty="0"/>
              <a:t>data model）</a:t>
            </a:r>
          </a:p>
          <a:p>
            <a:pPr lvl="1" eaLnBrk="1" hangingPunct="1">
              <a:lnSpc>
                <a:spcPct val="110000"/>
              </a:lnSpc>
              <a:spcBef>
                <a:spcPts val="1000"/>
              </a:spcBef>
            </a:pPr>
            <a:r>
              <a:rPr lang="zh-CN" altLang="en-US" sz="2800" dirty="0"/>
              <a:t>用于描述数据的组织结构，定义在该数据结构上可以执行的操作，以及数据之间必须满足的约束条件。</a:t>
            </a:r>
          </a:p>
        </p:txBody>
      </p:sp>
      <p:grpSp>
        <p:nvGrpSpPr>
          <p:cNvPr id="8198" name="组合 8197"/>
          <p:cNvGrpSpPr/>
          <p:nvPr/>
        </p:nvGrpSpPr>
        <p:grpSpPr>
          <a:xfrm>
            <a:off x="6781800" y="3746500"/>
            <a:ext cx="1905000" cy="1752600"/>
            <a:chOff x="0" y="0"/>
            <a:chExt cx="1200" cy="1104"/>
          </a:xfrm>
        </p:grpSpPr>
        <p:sp>
          <p:nvSpPr>
            <p:cNvPr id="3" name="Rectangle 38"/>
            <p:cNvSpPr/>
            <p:nvPr/>
          </p:nvSpPr>
          <p:spPr>
            <a:xfrm>
              <a:off x="0" y="0"/>
              <a:ext cx="1200" cy="1104"/>
            </a:xfrm>
            <a:prstGeom prst="rect">
              <a:avLst/>
            </a:prstGeom>
            <a:solidFill>
              <a:srgbClr val="EAEAEA"/>
            </a:solidFill>
            <a:ln w="9525">
              <a:noFill/>
            </a:ln>
          </p:spPr>
          <p:txBody>
            <a:bodyPr wrap="none" anchor="ctr"/>
            <a:lstStyle/>
            <a:p>
              <a:pPr algn="ctr"/>
              <a:endParaRPr lang="zh-CN" altLang="en-US" sz="2800" dirty="0">
                <a:latin typeface="楷体" panose="02010609060101010101" charset="-122"/>
                <a:ea typeface="楷体" panose="02010609060101010101" charset="-122"/>
              </a:endParaRPr>
            </a:p>
          </p:txBody>
        </p:sp>
        <p:grpSp>
          <p:nvGrpSpPr>
            <p:cNvPr id="8199" name="组合 8199"/>
            <p:cNvGrpSpPr/>
            <p:nvPr/>
          </p:nvGrpSpPr>
          <p:grpSpPr>
            <a:xfrm>
              <a:off x="96" y="96"/>
              <a:ext cx="1008" cy="912"/>
              <a:chOff x="0" y="0"/>
              <a:chExt cx="2468" cy="2012"/>
            </a:xfrm>
          </p:grpSpPr>
          <p:sp>
            <p:nvSpPr>
              <p:cNvPr id="8200" name="Rectangle 6"/>
              <p:cNvSpPr/>
              <p:nvPr/>
            </p:nvSpPr>
            <p:spPr>
              <a:xfrm>
                <a:off x="0" y="591"/>
                <a:ext cx="1644" cy="1421"/>
              </a:xfrm>
              <a:prstGeom prst="rect">
                <a:avLst/>
              </a:prstGeom>
              <a:solidFill>
                <a:srgbClr val="EAEAEA"/>
              </a:solidFill>
              <a:ln w="3175" cap="flat" cmpd="sng">
                <a:solidFill>
                  <a:schemeClr val="tx1"/>
                </a:solidFill>
                <a:prstDash val="solid"/>
                <a:miter/>
                <a:headEnd type="none" w="med" len="med"/>
                <a:tailEnd type="none" w="med" len="med"/>
              </a:ln>
            </p:spPr>
            <p:txBody>
              <a:bodyPr anchor="t"/>
              <a:lstStyle/>
              <a:p>
                <a:pPr algn="ctr"/>
                <a:endParaRPr lang="zh-CN" altLang="en-US" sz="2800" dirty="0">
                  <a:latin typeface="楷体" panose="02010609060101010101" charset="-122"/>
                  <a:ea typeface="楷体" panose="02010609060101010101" charset="-122"/>
                </a:endParaRPr>
              </a:p>
            </p:txBody>
          </p:sp>
          <p:sp>
            <p:nvSpPr>
              <p:cNvPr id="8201" name="Line 7"/>
              <p:cNvSpPr/>
              <p:nvPr/>
            </p:nvSpPr>
            <p:spPr>
              <a:xfrm flipH="1">
                <a:off x="0" y="828"/>
                <a:ext cx="1644" cy="1"/>
              </a:xfrm>
              <a:prstGeom prst="line">
                <a:avLst/>
              </a:prstGeom>
              <a:ln w="3175" cap="flat" cmpd="sng">
                <a:solidFill>
                  <a:schemeClr val="tx1"/>
                </a:solidFill>
                <a:prstDash val="solid"/>
                <a:round/>
                <a:headEnd type="none" w="med" len="med"/>
                <a:tailEnd type="none" w="med" len="med"/>
              </a:ln>
            </p:spPr>
          </p:sp>
          <p:sp>
            <p:nvSpPr>
              <p:cNvPr id="8202" name="Line 8"/>
              <p:cNvSpPr/>
              <p:nvPr/>
            </p:nvSpPr>
            <p:spPr>
              <a:xfrm flipH="1">
                <a:off x="0" y="1065"/>
                <a:ext cx="1644" cy="1"/>
              </a:xfrm>
              <a:prstGeom prst="line">
                <a:avLst/>
              </a:prstGeom>
              <a:ln w="3175" cap="flat" cmpd="sng">
                <a:solidFill>
                  <a:schemeClr val="tx1"/>
                </a:solidFill>
                <a:prstDash val="solid"/>
                <a:round/>
                <a:headEnd type="none" w="med" len="med"/>
                <a:tailEnd type="none" w="med" len="med"/>
              </a:ln>
            </p:spPr>
          </p:sp>
          <p:sp>
            <p:nvSpPr>
              <p:cNvPr id="8203" name="Line 9"/>
              <p:cNvSpPr/>
              <p:nvPr/>
            </p:nvSpPr>
            <p:spPr>
              <a:xfrm flipH="1">
                <a:off x="0" y="1302"/>
                <a:ext cx="1644" cy="1"/>
              </a:xfrm>
              <a:prstGeom prst="line">
                <a:avLst/>
              </a:prstGeom>
              <a:ln w="3175" cap="flat" cmpd="sng">
                <a:solidFill>
                  <a:schemeClr val="tx1"/>
                </a:solidFill>
                <a:prstDash val="solid"/>
                <a:round/>
                <a:headEnd type="none" w="med" len="med"/>
                <a:tailEnd type="none" w="med" len="med"/>
              </a:ln>
            </p:spPr>
          </p:sp>
          <p:sp>
            <p:nvSpPr>
              <p:cNvPr id="8204" name="Line 10"/>
              <p:cNvSpPr/>
              <p:nvPr/>
            </p:nvSpPr>
            <p:spPr>
              <a:xfrm flipH="1">
                <a:off x="0" y="1539"/>
                <a:ext cx="1644" cy="1"/>
              </a:xfrm>
              <a:prstGeom prst="line">
                <a:avLst/>
              </a:prstGeom>
              <a:ln w="3175" cap="flat" cmpd="sng">
                <a:solidFill>
                  <a:schemeClr val="tx1"/>
                </a:solidFill>
                <a:prstDash val="solid"/>
                <a:round/>
                <a:headEnd type="none" w="med" len="med"/>
                <a:tailEnd type="none" w="med" len="med"/>
              </a:ln>
            </p:spPr>
          </p:sp>
          <p:sp>
            <p:nvSpPr>
              <p:cNvPr id="8205" name="Line 11"/>
              <p:cNvSpPr/>
              <p:nvPr/>
            </p:nvSpPr>
            <p:spPr>
              <a:xfrm flipH="1">
                <a:off x="0" y="1775"/>
                <a:ext cx="1644" cy="1"/>
              </a:xfrm>
              <a:prstGeom prst="line">
                <a:avLst/>
              </a:prstGeom>
              <a:ln w="3175" cap="flat" cmpd="sng">
                <a:solidFill>
                  <a:schemeClr val="tx1"/>
                </a:solidFill>
                <a:prstDash val="solid"/>
                <a:round/>
                <a:headEnd type="none" w="med" len="med"/>
                <a:tailEnd type="none" w="med" len="med"/>
              </a:ln>
            </p:spPr>
          </p:sp>
          <p:sp>
            <p:nvSpPr>
              <p:cNvPr id="8206" name="Line 12"/>
              <p:cNvSpPr/>
              <p:nvPr/>
            </p:nvSpPr>
            <p:spPr>
              <a:xfrm>
                <a:off x="274" y="591"/>
                <a:ext cx="1" cy="1421"/>
              </a:xfrm>
              <a:prstGeom prst="line">
                <a:avLst/>
              </a:prstGeom>
              <a:ln w="3175" cap="flat" cmpd="sng">
                <a:solidFill>
                  <a:schemeClr val="tx1"/>
                </a:solidFill>
                <a:prstDash val="solid"/>
                <a:round/>
                <a:headEnd type="none" w="med" len="med"/>
                <a:tailEnd type="none" w="med" len="med"/>
              </a:ln>
            </p:spPr>
          </p:sp>
          <p:sp>
            <p:nvSpPr>
              <p:cNvPr id="8207" name="Line 13"/>
              <p:cNvSpPr/>
              <p:nvPr/>
            </p:nvSpPr>
            <p:spPr>
              <a:xfrm>
                <a:off x="548" y="591"/>
                <a:ext cx="1" cy="1421"/>
              </a:xfrm>
              <a:prstGeom prst="line">
                <a:avLst/>
              </a:prstGeom>
              <a:ln w="3175" cap="flat" cmpd="sng">
                <a:solidFill>
                  <a:schemeClr val="tx1"/>
                </a:solidFill>
                <a:prstDash val="solid"/>
                <a:round/>
                <a:headEnd type="none" w="med" len="med"/>
                <a:tailEnd type="none" w="med" len="med"/>
              </a:ln>
            </p:spPr>
          </p:sp>
          <p:sp>
            <p:nvSpPr>
              <p:cNvPr id="8208" name="Line 14"/>
              <p:cNvSpPr/>
              <p:nvPr/>
            </p:nvSpPr>
            <p:spPr>
              <a:xfrm>
                <a:off x="822" y="591"/>
                <a:ext cx="1" cy="1421"/>
              </a:xfrm>
              <a:prstGeom prst="line">
                <a:avLst/>
              </a:prstGeom>
              <a:ln w="3175" cap="flat" cmpd="sng">
                <a:solidFill>
                  <a:schemeClr val="tx1"/>
                </a:solidFill>
                <a:prstDash val="solid"/>
                <a:round/>
                <a:headEnd type="none" w="med" len="med"/>
                <a:tailEnd type="none" w="med" len="med"/>
              </a:ln>
            </p:spPr>
          </p:sp>
          <p:sp>
            <p:nvSpPr>
              <p:cNvPr id="8209" name="Line 15"/>
              <p:cNvSpPr/>
              <p:nvPr/>
            </p:nvSpPr>
            <p:spPr>
              <a:xfrm>
                <a:off x="1096" y="591"/>
                <a:ext cx="1" cy="1421"/>
              </a:xfrm>
              <a:prstGeom prst="line">
                <a:avLst/>
              </a:prstGeom>
              <a:ln w="3175" cap="flat" cmpd="sng">
                <a:solidFill>
                  <a:schemeClr val="tx1"/>
                </a:solidFill>
                <a:prstDash val="solid"/>
                <a:round/>
                <a:headEnd type="none" w="med" len="med"/>
                <a:tailEnd type="none" w="med" len="med"/>
              </a:ln>
            </p:spPr>
          </p:sp>
          <p:sp>
            <p:nvSpPr>
              <p:cNvPr id="8210" name="Line 16"/>
              <p:cNvSpPr/>
              <p:nvPr/>
            </p:nvSpPr>
            <p:spPr>
              <a:xfrm>
                <a:off x="1370" y="591"/>
                <a:ext cx="1" cy="1421"/>
              </a:xfrm>
              <a:prstGeom prst="line">
                <a:avLst/>
              </a:prstGeom>
              <a:ln w="3175" cap="flat" cmpd="sng">
                <a:solidFill>
                  <a:schemeClr val="tx1"/>
                </a:solidFill>
                <a:prstDash val="solid"/>
                <a:round/>
                <a:headEnd type="none" w="med" len="med"/>
                <a:tailEnd type="none" w="med" len="med"/>
              </a:ln>
            </p:spPr>
          </p:sp>
          <p:sp>
            <p:nvSpPr>
              <p:cNvPr id="8211" name="Line 17"/>
              <p:cNvSpPr/>
              <p:nvPr/>
            </p:nvSpPr>
            <p:spPr>
              <a:xfrm flipH="1">
                <a:off x="0" y="0"/>
                <a:ext cx="822" cy="591"/>
              </a:xfrm>
              <a:prstGeom prst="line">
                <a:avLst/>
              </a:prstGeom>
              <a:ln w="3175" cap="flat" cmpd="sng">
                <a:solidFill>
                  <a:schemeClr val="tx1"/>
                </a:solidFill>
                <a:prstDash val="solid"/>
                <a:round/>
                <a:headEnd type="none" w="med" len="med"/>
                <a:tailEnd type="none" w="med" len="med"/>
              </a:ln>
            </p:spPr>
          </p:sp>
          <p:sp>
            <p:nvSpPr>
              <p:cNvPr id="8212" name="Line 18"/>
              <p:cNvSpPr/>
              <p:nvPr/>
            </p:nvSpPr>
            <p:spPr>
              <a:xfrm flipH="1">
                <a:off x="1644" y="0"/>
                <a:ext cx="823" cy="591"/>
              </a:xfrm>
              <a:prstGeom prst="line">
                <a:avLst/>
              </a:prstGeom>
              <a:ln w="3175" cap="flat" cmpd="sng">
                <a:solidFill>
                  <a:schemeClr val="tx1"/>
                </a:solidFill>
                <a:prstDash val="solid"/>
                <a:round/>
                <a:headEnd type="none" w="med" len="med"/>
                <a:tailEnd type="none" w="med" len="med"/>
              </a:ln>
            </p:spPr>
          </p:sp>
          <p:sp>
            <p:nvSpPr>
              <p:cNvPr id="8213" name="Line 19"/>
              <p:cNvSpPr/>
              <p:nvPr/>
            </p:nvSpPr>
            <p:spPr>
              <a:xfrm flipH="1">
                <a:off x="1644" y="1420"/>
                <a:ext cx="823" cy="592"/>
              </a:xfrm>
              <a:prstGeom prst="line">
                <a:avLst/>
              </a:prstGeom>
              <a:ln w="3175" cap="flat" cmpd="sng">
                <a:solidFill>
                  <a:schemeClr val="tx1"/>
                </a:solidFill>
                <a:prstDash val="solid"/>
                <a:round/>
                <a:headEnd type="none" w="med" len="med"/>
                <a:tailEnd type="none" w="med" len="med"/>
              </a:ln>
            </p:spPr>
          </p:sp>
          <p:sp>
            <p:nvSpPr>
              <p:cNvPr id="8214" name="Line 20"/>
              <p:cNvSpPr/>
              <p:nvPr/>
            </p:nvSpPr>
            <p:spPr>
              <a:xfrm flipH="1">
                <a:off x="822" y="0"/>
                <a:ext cx="1645" cy="1"/>
              </a:xfrm>
              <a:prstGeom prst="line">
                <a:avLst/>
              </a:prstGeom>
              <a:ln w="3175" cap="flat" cmpd="sng">
                <a:solidFill>
                  <a:schemeClr val="tx1"/>
                </a:solidFill>
                <a:prstDash val="solid"/>
                <a:round/>
                <a:headEnd type="none" w="med" len="med"/>
                <a:tailEnd type="none" w="med" len="med"/>
              </a:ln>
            </p:spPr>
          </p:sp>
          <p:sp>
            <p:nvSpPr>
              <p:cNvPr id="8215" name="Line 21"/>
              <p:cNvSpPr/>
              <p:nvPr/>
            </p:nvSpPr>
            <p:spPr>
              <a:xfrm flipH="1">
                <a:off x="685" y="118"/>
                <a:ext cx="1645" cy="1"/>
              </a:xfrm>
              <a:prstGeom prst="line">
                <a:avLst/>
              </a:prstGeom>
              <a:ln w="3175" cap="flat" cmpd="sng">
                <a:solidFill>
                  <a:schemeClr val="tx1"/>
                </a:solidFill>
                <a:prstDash val="solid"/>
                <a:round/>
                <a:headEnd type="none" w="med" len="med"/>
                <a:tailEnd type="none" w="med" len="med"/>
              </a:ln>
            </p:spPr>
          </p:sp>
          <p:sp>
            <p:nvSpPr>
              <p:cNvPr id="8216" name="Line 22"/>
              <p:cNvSpPr/>
              <p:nvPr/>
            </p:nvSpPr>
            <p:spPr>
              <a:xfrm flipH="1">
                <a:off x="411" y="295"/>
                <a:ext cx="1644" cy="1"/>
              </a:xfrm>
              <a:prstGeom prst="line">
                <a:avLst/>
              </a:prstGeom>
              <a:ln w="3175" cap="flat" cmpd="sng">
                <a:solidFill>
                  <a:schemeClr val="tx1"/>
                </a:solidFill>
                <a:prstDash val="solid"/>
                <a:round/>
                <a:headEnd type="none" w="med" len="med"/>
                <a:tailEnd type="none" w="med" len="med"/>
              </a:ln>
            </p:spPr>
          </p:sp>
          <p:sp>
            <p:nvSpPr>
              <p:cNvPr id="8217" name="Line 23"/>
              <p:cNvSpPr/>
              <p:nvPr/>
            </p:nvSpPr>
            <p:spPr>
              <a:xfrm flipH="1">
                <a:off x="205" y="473"/>
                <a:ext cx="1644" cy="1"/>
              </a:xfrm>
              <a:prstGeom prst="line">
                <a:avLst/>
              </a:prstGeom>
              <a:ln w="3175" cap="flat" cmpd="sng">
                <a:solidFill>
                  <a:schemeClr val="tx1"/>
                </a:solidFill>
                <a:prstDash val="solid"/>
                <a:round/>
                <a:headEnd type="none" w="med" len="med"/>
                <a:tailEnd type="none" w="med" len="med"/>
              </a:ln>
            </p:spPr>
          </p:sp>
          <p:sp>
            <p:nvSpPr>
              <p:cNvPr id="8218" name="Line 24"/>
              <p:cNvSpPr/>
              <p:nvPr/>
            </p:nvSpPr>
            <p:spPr>
              <a:xfrm>
                <a:off x="2467" y="0"/>
                <a:ext cx="1" cy="1420"/>
              </a:xfrm>
              <a:prstGeom prst="line">
                <a:avLst/>
              </a:prstGeom>
              <a:ln w="3175" cap="flat" cmpd="sng">
                <a:solidFill>
                  <a:schemeClr val="tx1"/>
                </a:solidFill>
                <a:prstDash val="solid"/>
                <a:round/>
                <a:headEnd type="none" w="med" len="med"/>
                <a:tailEnd type="none" w="med" len="med"/>
              </a:ln>
            </p:spPr>
          </p:sp>
          <p:sp>
            <p:nvSpPr>
              <p:cNvPr id="8219" name="Line 25"/>
              <p:cNvSpPr/>
              <p:nvPr/>
            </p:nvSpPr>
            <p:spPr>
              <a:xfrm>
                <a:off x="1849" y="473"/>
                <a:ext cx="1" cy="1421"/>
              </a:xfrm>
              <a:prstGeom prst="line">
                <a:avLst/>
              </a:prstGeom>
              <a:ln w="3175" cap="flat" cmpd="sng">
                <a:solidFill>
                  <a:schemeClr val="tx1"/>
                </a:solidFill>
                <a:prstDash val="solid"/>
                <a:round/>
                <a:headEnd type="none" w="med" len="med"/>
                <a:tailEnd type="none" w="med" len="med"/>
              </a:ln>
            </p:spPr>
          </p:sp>
          <p:sp>
            <p:nvSpPr>
              <p:cNvPr id="8220" name="Line 26"/>
              <p:cNvSpPr/>
              <p:nvPr/>
            </p:nvSpPr>
            <p:spPr>
              <a:xfrm>
                <a:off x="2330" y="118"/>
                <a:ext cx="1" cy="1421"/>
              </a:xfrm>
              <a:prstGeom prst="line">
                <a:avLst/>
              </a:prstGeom>
              <a:ln w="3175" cap="flat" cmpd="sng">
                <a:solidFill>
                  <a:schemeClr val="tx1"/>
                </a:solidFill>
                <a:prstDash val="solid"/>
                <a:round/>
                <a:headEnd type="none" w="med" len="med"/>
                <a:tailEnd type="none" w="med" len="med"/>
              </a:ln>
            </p:spPr>
          </p:sp>
          <p:sp>
            <p:nvSpPr>
              <p:cNvPr id="8221" name="Line 27"/>
              <p:cNvSpPr/>
              <p:nvPr/>
            </p:nvSpPr>
            <p:spPr>
              <a:xfrm>
                <a:off x="2055" y="295"/>
                <a:ext cx="1" cy="1420"/>
              </a:xfrm>
              <a:prstGeom prst="line">
                <a:avLst/>
              </a:prstGeom>
              <a:ln w="3175" cap="flat" cmpd="sng">
                <a:solidFill>
                  <a:schemeClr val="tx1"/>
                </a:solidFill>
                <a:prstDash val="solid"/>
                <a:round/>
                <a:headEnd type="none" w="med" len="med"/>
                <a:tailEnd type="none" w="med" len="med"/>
              </a:ln>
            </p:spPr>
          </p:sp>
          <p:sp>
            <p:nvSpPr>
              <p:cNvPr id="8222" name="Line 28"/>
              <p:cNvSpPr/>
              <p:nvPr/>
            </p:nvSpPr>
            <p:spPr>
              <a:xfrm flipH="1">
                <a:off x="274" y="0"/>
                <a:ext cx="822" cy="591"/>
              </a:xfrm>
              <a:prstGeom prst="line">
                <a:avLst/>
              </a:prstGeom>
              <a:ln w="3175" cap="flat" cmpd="sng">
                <a:solidFill>
                  <a:schemeClr val="tx1"/>
                </a:solidFill>
                <a:prstDash val="solid"/>
                <a:round/>
                <a:headEnd type="none" w="med" len="med"/>
                <a:tailEnd type="none" w="med" len="med"/>
              </a:ln>
            </p:spPr>
          </p:sp>
          <p:sp>
            <p:nvSpPr>
              <p:cNvPr id="8223" name="Line 29"/>
              <p:cNvSpPr/>
              <p:nvPr/>
            </p:nvSpPr>
            <p:spPr>
              <a:xfrm flipH="1">
                <a:off x="548" y="0"/>
                <a:ext cx="822" cy="591"/>
              </a:xfrm>
              <a:prstGeom prst="line">
                <a:avLst/>
              </a:prstGeom>
              <a:ln w="3175" cap="flat" cmpd="sng">
                <a:solidFill>
                  <a:schemeClr val="tx1"/>
                </a:solidFill>
                <a:prstDash val="solid"/>
                <a:round/>
                <a:headEnd type="none" w="med" len="med"/>
                <a:tailEnd type="none" w="med" len="med"/>
              </a:ln>
            </p:spPr>
          </p:sp>
          <p:sp>
            <p:nvSpPr>
              <p:cNvPr id="8224" name="Line 30"/>
              <p:cNvSpPr/>
              <p:nvPr/>
            </p:nvSpPr>
            <p:spPr>
              <a:xfrm flipH="1">
                <a:off x="822" y="0"/>
                <a:ext cx="822" cy="591"/>
              </a:xfrm>
              <a:prstGeom prst="line">
                <a:avLst/>
              </a:prstGeom>
              <a:ln w="3175" cap="flat" cmpd="sng">
                <a:solidFill>
                  <a:schemeClr val="tx1"/>
                </a:solidFill>
                <a:prstDash val="solid"/>
                <a:round/>
                <a:headEnd type="none" w="med" len="med"/>
                <a:tailEnd type="none" w="med" len="med"/>
              </a:ln>
            </p:spPr>
          </p:sp>
          <p:sp>
            <p:nvSpPr>
              <p:cNvPr id="8225" name="Line 31"/>
              <p:cNvSpPr/>
              <p:nvPr/>
            </p:nvSpPr>
            <p:spPr>
              <a:xfrm flipH="1">
                <a:off x="1096" y="0"/>
                <a:ext cx="822" cy="591"/>
              </a:xfrm>
              <a:prstGeom prst="line">
                <a:avLst/>
              </a:prstGeom>
              <a:ln w="3175" cap="flat" cmpd="sng">
                <a:solidFill>
                  <a:schemeClr val="tx1"/>
                </a:solidFill>
                <a:prstDash val="solid"/>
                <a:round/>
                <a:headEnd type="none" w="med" len="med"/>
                <a:tailEnd type="none" w="med" len="med"/>
              </a:ln>
            </p:spPr>
          </p:sp>
          <p:sp>
            <p:nvSpPr>
              <p:cNvPr id="8226" name="Line 32"/>
              <p:cNvSpPr/>
              <p:nvPr/>
            </p:nvSpPr>
            <p:spPr>
              <a:xfrm flipH="1">
                <a:off x="1370" y="0"/>
                <a:ext cx="822" cy="591"/>
              </a:xfrm>
              <a:prstGeom prst="line">
                <a:avLst/>
              </a:prstGeom>
              <a:ln w="3175" cap="flat" cmpd="sng">
                <a:solidFill>
                  <a:schemeClr val="tx1"/>
                </a:solidFill>
                <a:prstDash val="solid"/>
                <a:round/>
                <a:headEnd type="none" w="med" len="med"/>
                <a:tailEnd type="none" w="med" len="med"/>
              </a:ln>
            </p:spPr>
          </p:sp>
          <p:sp>
            <p:nvSpPr>
              <p:cNvPr id="8227" name="Line 33"/>
              <p:cNvSpPr/>
              <p:nvPr/>
            </p:nvSpPr>
            <p:spPr>
              <a:xfrm flipH="1">
                <a:off x="1644" y="236"/>
                <a:ext cx="823" cy="592"/>
              </a:xfrm>
              <a:prstGeom prst="line">
                <a:avLst/>
              </a:prstGeom>
              <a:ln w="3175" cap="flat" cmpd="sng">
                <a:solidFill>
                  <a:schemeClr val="tx1"/>
                </a:solidFill>
                <a:prstDash val="solid"/>
                <a:round/>
                <a:headEnd type="none" w="med" len="med"/>
                <a:tailEnd type="none" w="med" len="med"/>
              </a:ln>
            </p:spPr>
          </p:sp>
          <p:sp>
            <p:nvSpPr>
              <p:cNvPr id="8228" name="Line 34"/>
              <p:cNvSpPr/>
              <p:nvPr/>
            </p:nvSpPr>
            <p:spPr>
              <a:xfrm flipH="1">
                <a:off x="1644" y="473"/>
                <a:ext cx="823" cy="592"/>
              </a:xfrm>
              <a:prstGeom prst="line">
                <a:avLst/>
              </a:prstGeom>
              <a:ln w="3175" cap="flat" cmpd="sng">
                <a:solidFill>
                  <a:schemeClr val="tx1"/>
                </a:solidFill>
                <a:prstDash val="solid"/>
                <a:round/>
                <a:headEnd type="none" w="med" len="med"/>
                <a:tailEnd type="none" w="med" len="med"/>
              </a:ln>
            </p:spPr>
          </p:sp>
          <p:sp>
            <p:nvSpPr>
              <p:cNvPr id="8229" name="Line 35"/>
              <p:cNvSpPr/>
              <p:nvPr/>
            </p:nvSpPr>
            <p:spPr>
              <a:xfrm flipH="1">
                <a:off x="1644" y="710"/>
                <a:ext cx="823" cy="592"/>
              </a:xfrm>
              <a:prstGeom prst="line">
                <a:avLst/>
              </a:prstGeom>
              <a:ln w="3175" cap="flat" cmpd="sng">
                <a:solidFill>
                  <a:schemeClr val="tx1"/>
                </a:solidFill>
                <a:prstDash val="solid"/>
                <a:round/>
                <a:headEnd type="none" w="med" len="med"/>
                <a:tailEnd type="none" w="med" len="med"/>
              </a:ln>
            </p:spPr>
          </p:sp>
          <p:sp>
            <p:nvSpPr>
              <p:cNvPr id="8230" name="Line 36"/>
              <p:cNvSpPr/>
              <p:nvPr/>
            </p:nvSpPr>
            <p:spPr>
              <a:xfrm flipH="1">
                <a:off x="1644" y="947"/>
                <a:ext cx="823" cy="592"/>
              </a:xfrm>
              <a:prstGeom prst="line">
                <a:avLst/>
              </a:prstGeom>
              <a:ln w="3175" cap="flat" cmpd="sng">
                <a:solidFill>
                  <a:schemeClr val="tx1"/>
                </a:solidFill>
                <a:prstDash val="solid"/>
                <a:round/>
                <a:headEnd type="none" w="med" len="med"/>
                <a:tailEnd type="none" w="med" len="med"/>
              </a:ln>
            </p:spPr>
          </p:sp>
          <p:sp>
            <p:nvSpPr>
              <p:cNvPr id="8231" name="Line 37"/>
              <p:cNvSpPr/>
              <p:nvPr/>
            </p:nvSpPr>
            <p:spPr>
              <a:xfrm flipH="1">
                <a:off x="1644" y="1183"/>
                <a:ext cx="823" cy="592"/>
              </a:xfrm>
              <a:prstGeom prst="line">
                <a:avLst/>
              </a:prstGeom>
              <a:ln w="3175" cap="flat" cmpd="sng">
                <a:solidFill>
                  <a:schemeClr val="tx1"/>
                </a:solidFill>
                <a:prstDash val="solid"/>
                <a:round/>
                <a:headEnd type="none" w="med" len="med"/>
                <a:tailEnd type="none" w="med" len="med"/>
              </a:ln>
            </p:spPr>
          </p:sp>
        </p:grpSp>
        <p:sp>
          <p:nvSpPr>
            <p:cNvPr id="8232" name="Text Box 4"/>
            <p:cNvSpPr txBox="1"/>
            <p:nvPr/>
          </p:nvSpPr>
          <p:spPr>
            <a:xfrm>
              <a:off x="0" y="525"/>
              <a:ext cx="1048" cy="329"/>
            </a:xfrm>
            <a:prstGeom prst="rect">
              <a:avLst/>
            </a:prstGeom>
            <a:solidFill>
              <a:schemeClr val="bg1">
                <a:alpha val="50000"/>
              </a:schemeClr>
            </a:solidFill>
            <a:ln w="9525">
              <a:noFill/>
            </a:ln>
          </p:spPr>
          <p:txBody>
            <a:bodyPr wrap="square" anchor="t">
              <a:spAutoFit/>
            </a:bodyPr>
            <a:lstStyle/>
            <a:p>
              <a:pPr algn="ctr">
                <a:spcBef>
                  <a:spcPct val="50000"/>
                </a:spcBef>
              </a:pPr>
              <a:r>
                <a:rPr lang="zh-CN" altLang="en-US" sz="2800" b="1" dirty="0">
                  <a:solidFill>
                    <a:srgbClr val="FF0000"/>
                  </a:solidFill>
                  <a:effectLst>
                    <a:outerShdw blurRad="38100" dist="38100" dir="2700000" algn="tl">
                      <a:srgbClr val="000000">
                        <a:alpha val="43137"/>
                      </a:srgbClr>
                    </a:outerShdw>
                  </a:effectLst>
                  <a:latin typeface="楷体" panose="02010609060101010101" charset="-122"/>
                  <a:ea typeface="楷体" panose="02010609060101010101" charset="-122"/>
                </a:rPr>
                <a:t>数据结构</a:t>
              </a:r>
            </a:p>
          </p:txBody>
        </p:sp>
      </p:grpSp>
      <p:grpSp>
        <p:nvGrpSpPr>
          <p:cNvPr id="8234" name="组合 8233"/>
          <p:cNvGrpSpPr/>
          <p:nvPr/>
        </p:nvGrpSpPr>
        <p:grpSpPr>
          <a:xfrm>
            <a:off x="8763000" y="3870325"/>
            <a:ext cx="1047750" cy="1814513"/>
            <a:chOff x="0" y="0"/>
            <a:chExt cx="660" cy="1143"/>
          </a:xfrm>
        </p:grpSpPr>
        <p:sp>
          <p:nvSpPr>
            <p:cNvPr id="4" name="Text Box 41"/>
            <p:cNvSpPr txBox="1"/>
            <p:nvPr/>
          </p:nvSpPr>
          <p:spPr>
            <a:xfrm>
              <a:off x="372" y="0"/>
              <a:ext cx="288" cy="1143"/>
            </a:xfrm>
            <a:prstGeom prst="rect">
              <a:avLst/>
            </a:prstGeom>
            <a:noFill/>
            <a:ln w="9525">
              <a:noFill/>
            </a:ln>
          </p:spPr>
          <p:txBody>
            <a:bodyPr anchor="t">
              <a:spAutoFit/>
            </a:bodyPr>
            <a:lstStyle/>
            <a:p>
              <a:pPr algn="ctr">
                <a:spcBef>
                  <a:spcPct val="50000"/>
                </a:spcBef>
              </a:pPr>
              <a:r>
                <a:rPr lang="zh-CN" altLang="en-US" sz="2800" b="1" dirty="0">
                  <a:solidFill>
                    <a:srgbClr val="FF0000"/>
                  </a:solidFill>
                  <a:latin typeface="楷体" panose="02010609060101010101" charset="-122"/>
                  <a:ea typeface="楷体" panose="02010609060101010101" charset="-122"/>
                </a:rPr>
                <a:t>数据约束</a:t>
              </a:r>
            </a:p>
          </p:txBody>
        </p:sp>
        <p:sp>
          <p:nvSpPr>
            <p:cNvPr id="8235" name="AutoShape 44"/>
            <p:cNvSpPr/>
            <p:nvPr/>
          </p:nvSpPr>
          <p:spPr>
            <a:xfrm>
              <a:off x="0" y="450"/>
              <a:ext cx="336" cy="96"/>
            </a:xfrm>
            <a:prstGeom prst="leftArrow">
              <a:avLst>
                <a:gd name="adj1" fmla="val 50000"/>
                <a:gd name="adj2" fmla="val 87500"/>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endParaRPr lang="zh-CN" altLang="en-US" sz="2800" dirty="0">
                <a:latin typeface="楷体" panose="02010609060101010101" charset="-122"/>
                <a:ea typeface="楷体" panose="02010609060101010101" charset="-122"/>
              </a:endParaRPr>
            </a:p>
          </p:txBody>
        </p:sp>
      </p:grpSp>
      <p:grpSp>
        <p:nvGrpSpPr>
          <p:cNvPr id="8237" name="组合 8236"/>
          <p:cNvGrpSpPr/>
          <p:nvPr/>
        </p:nvGrpSpPr>
        <p:grpSpPr>
          <a:xfrm>
            <a:off x="6781800" y="2689225"/>
            <a:ext cx="1905000" cy="981075"/>
            <a:chOff x="0" y="-42"/>
            <a:chExt cx="1200" cy="618"/>
          </a:xfrm>
        </p:grpSpPr>
        <p:sp>
          <p:nvSpPr>
            <p:cNvPr id="5" name="AutoShape 46"/>
            <p:cNvSpPr/>
            <p:nvPr/>
          </p:nvSpPr>
          <p:spPr>
            <a:xfrm>
              <a:off x="528" y="288"/>
              <a:ext cx="96" cy="288"/>
            </a:xfrm>
            <a:prstGeom prst="downArrow">
              <a:avLst>
                <a:gd name="adj1" fmla="val 50000"/>
                <a:gd name="adj2" fmla="val 7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endParaRPr lang="zh-CN" altLang="en-US" sz="2800" dirty="0">
                <a:latin typeface="楷体" panose="02010609060101010101" charset="-122"/>
                <a:ea typeface="楷体" panose="02010609060101010101" charset="-122"/>
              </a:endParaRPr>
            </a:p>
          </p:txBody>
        </p:sp>
        <p:sp>
          <p:nvSpPr>
            <p:cNvPr id="8238" name="Text Box 47"/>
            <p:cNvSpPr txBox="1"/>
            <p:nvPr/>
          </p:nvSpPr>
          <p:spPr>
            <a:xfrm>
              <a:off x="0" y="-42"/>
              <a:ext cx="1200" cy="329"/>
            </a:xfrm>
            <a:prstGeom prst="rect">
              <a:avLst/>
            </a:prstGeom>
            <a:noFill/>
            <a:ln w="9525">
              <a:noFill/>
            </a:ln>
          </p:spPr>
          <p:txBody>
            <a:bodyPr anchor="t">
              <a:spAutoFit/>
            </a:bodyPr>
            <a:lstStyle/>
            <a:p>
              <a:pPr algn="ctr">
                <a:spcBef>
                  <a:spcPct val="50000"/>
                </a:spcBef>
              </a:pPr>
              <a:r>
                <a:rPr lang="zh-CN" altLang="en-US" sz="2800" b="1" dirty="0">
                  <a:solidFill>
                    <a:srgbClr val="FF0000"/>
                  </a:solidFill>
                  <a:latin typeface="楷体" panose="02010609060101010101" charset="-122"/>
                  <a:ea typeface="楷体" panose="02010609060101010101" charset="-122"/>
                </a:rPr>
                <a:t>数据操作</a:t>
              </a:r>
            </a:p>
          </p:txBody>
        </p:sp>
      </p:grpSp>
      <p:sp>
        <p:nvSpPr>
          <p:cNvPr id="6" name="Rectangle 3"/>
          <p:cNvSpPr>
            <a:spLocks noGrp="1"/>
          </p:cNvSpPr>
          <p:nvPr/>
        </p:nvSpPr>
        <p:spPr>
          <a:xfrm>
            <a:off x="424180" y="2806700"/>
            <a:ext cx="5215890" cy="2416175"/>
          </a:xfrm>
          <a:prstGeom prst="rect">
            <a:avLst/>
          </a:prstGeom>
          <a:noFill/>
          <a:ln w="9525">
            <a:noFill/>
          </a:ln>
        </p:spPr>
        <p:txBody>
          <a:bodyPr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lvl="1" eaLnBrk="1" hangingPunct="1">
              <a:buClr>
                <a:srgbClr val="C00000"/>
              </a:buClr>
              <a:buSzPct val="85000"/>
            </a:pPr>
            <a:r>
              <a:rPr lang="zh-CN" altLang="en-US" sz="2800" dirty="0">
                <a:solidFill>
                  <a:srgbClr val="1F2DA8"/>
                </a:solidFill>
                <a:latin typeface="楷体" panose="02010609060101010101" charset="-122"/>
                <a:ea typeface="楷体" panose="02010609060101010101" charset="-122"/>
              </a:rPr>
              <a:t>数据模型的组成要素</a:t>
            </a:r>
            <a:endParaRPr lang="zh-CN" altLang="en-US" sz="2800" dirty="0">
              <a:latin typeface="楷体" panose="02010609060101010101" charset="-122"/>
              <a:ea typeface="楷体" panose="02010609060101010101" charset="-122"/>
            </a:endParaRP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数据结构</a:t>
            </a: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数据操作</a:t>
            </a: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数据约束</a:t>
            </a:r>
          </a:p>
        </p:txBody>
      </p:sp>
      <p:sp>
        <p:nvSpPr>
          <p:cNvPr id="2" name="灯片编号占位符 1"/>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85</a:t>
            </a:fld>
            <a:endParaRPr lang="zh-CN" altLang="en-US" strike="noStrike" noProof="1"/>
          </a:p>
        </p:txBody>
      </p:sp>
      <p:sp>
        <p:nvSpPr>
          <p:cNvPr id="7" name="页脚占位符 6"/>
          <p:cNvSpPr>
            <a:spLocks noGrp="1"/>
          </p:cNvSpPr>
          <p:nvPr>
            <p:ph type="ftr" sz="quarter" idx="11"/>
          </p:nvPr>
        </p:nvSpPr>
        <p:spPr/>
        <p:txBody>
          <a:bodyPr/>
          <a:lstStyle/>
          <a:p>
            <a:r>
              <a:rPr lang="zh-CN" altLang="en-US"/>
              <a:t>ch01_绪论</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dirty="0"/>
              <a:t>数据模型的组成要素（</a:t>
            </a:r>
            <a:r>
              <a:rPr lang="en-US" altLang="zh-CN" dirty="0"/>
              <a:t>1</a:t>
            </a:r>
            <a:r>
              <a:rPr lang="zh-CN" altLang="en-US" dirty="0"/>
              <a:t>）</a:t>
            </a:r>
            <a:r>
              <a:rPr lang="en-US" altLang="zh-CN" dirty="0"/>
              <a:t> -  </a:t>
            </a:r>
            <a:r>
              <a:rPr lang="zh-CN" altLang="en-US" dirty="0"/>
              <a:t>数据结构</a:t>
            </a:r>
          </a:p>
        </p:txBody>
      </p:sp>
      <p:sp>
        <p:nvSpPr>
          <p:cNvPr id="68611" name="Rectangle 3"/>
          <p:cNvSpPr>
            <a:spLocks noGrp="1" noChangeArrowheads="1"/>
          </p:cNvSpPr>
          <p:nvPr>
            <p:ph idx="1"/>
          </p:nvPr>
        </p:nvSpPr>
        <p:spPr/>
        <p:txBody>
          <a:bodyPr/>
          <a:lstStyle/>
          <a:p>
            <a:pPr>
              <a:lnSpc>
                <a:spcPct val="100000"/>
              </a:lnSpc>
              <a:spcBef>
                <a:spcPct val="0"/>
              </a:spcBef>
            </a:pPr>
            <a:r>
              <a:rPr lang="zh-CN" altLang="en-US" dirty="0"/>
              <a:t>数据模型的数据结构</a:t>
            </a:r>
          </a:p>
          <a:p>
            <a:pPr lvl="1">
              <a:lnSpc>
                <a:spcPct val="100000"/>
              </a:lnSpc>
              <a:spcBef>
                <a:spcPct val="0"/>
              </a:spcBef>
            </a:pPr>
            <a:r>
              <a:rPr lang="zh-CN" altLang="en-US" dirty="0"/>
              <a:t>描述数据库的组成对象，以及对象之间的联系</a:t>
            </a:r>
          </a:p>
          <a:p>
            <a:pPr>
              <a:lnSpc>
                <a:spcPct val="100000"/>
              </a:lnSpc>
            </a:pPr>
            <a:r>
              <a:rPr lang="zh-CN" altLang="en-US" dirty="0"/>
              <a:t>描述的内容</a:t>
            </a:r>
          </a:p>
          <a:p>
            <a:pPr lvl="1">
              <a:lnSpc>
                <a:spcPct val="100000"/>
              </a:lnSpc>
              <a:spcBef>
                <a:spcPct val="0"/>
              </a:spcBef>
            </a:pPr>
            <a:r>
              <a:rPr lang="zh-CN" altLang="en-US" dirty="0"/>
              <a:t>与对象的类型、内容、性质有关</a:t>
            </a:r>
          </a:p>
          <a:p>
            <a:pPr lvl="1">
              <a:lnSpc>
                <a:spcPct val="100000"/>
              </a:lnSpc>
              <a:spcBef>
                <a:spcPct val="0"/>
              </a:spcBef>
            </a:pPr>
            <a:r>
              <a:rPr lang="zh-CN" altLang="en-US" dirty="0"/>
              <a:t>与数据之间联系有关</a:t>
            </a:r>
          </a:p>
          <a:p>
            <a:pPr>
              <a:lnSpc>
                <a:spcPct val="100000"/>
              </a:lnSpc>
            </a:pPr>
            <a:r>
              <a:rPr lang="zh-CN" altLang="en-US" dirty="0"/>
              <a:t>数据结构是对系统静态特性的描述</a:t>
            </a:r>
          </a:p>
        </p:txBody>
      </p:sp>
      <p:sp>
        <p:nvSpPr>
          <p:cNvPr id="2" name="Rectangle 3"/>
          <p:cNvSpPr>
            <a:spLocks noGrp="1"/>
          </p:cNvSpPr>
          <p:nvPr>
            <p:custDataLst>
              <p:tags r:id="rId1"/>
            </p:custDataLst>
          </p:nvPr>
        </p:nvSpPr>
        <p:spPr>
          <a:xfrm>
            <a:off x="424180" y="4044950"/>
            <a:ext cx="11343005" cy="2417445"/>
          </a:xfrm>
          <a:prstGeom prst="rect">
            <a:avLst/>
          </a:prstGeom>
          <a:noFill/>
          <a:ln w="9525">
            <a:noFill/>
          </a:ln>
        </p:spPr>
        <p:txBody>
          <a:bodyPr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marL="461010" lvl="2" indent="-457200" eaLnBrk="1" hangingPunct="1">
              <a:lnSpc>
                <a:spcPct val="100000"/>
              </a:lnSpc>
              <a:buClr>
                <a:srgbClr val="C00000"/>
              </a:buClr>
              <a:buSzPct val="85000"/>
              <a:buFont typeface="Wingdings" panose="05000000000000000000" charset="0"/>
              <a:buChar char="q"/>
            </a:pPr>
            <a:r>
              <a:rPr lang="zh-CN" altLang="en-US" sz="2800" dirty="0">
                <a:solidFill>
                  <a:srgbClr val="1F2DA8"/>
                </a:solidFill>
                <a:latin typeface="楷体" panose="02010609060101010101" charset="-122"/>
                <a:ea typeface="楷体" panose="02010609060101010101" charset="-122"/>
                <a:cs typeface="楷体" panose="02010609060101010101" charset="-122"/>
              </a:rPr>
              <a:t>数据结构是一个数据模型的基础，数据操作与数据约束均是建立在相应的数据结构上的。</a:t>
            </a:r>
          </a:p>
          <a:p>
            <a:pPr marL="918210" lvl="3" indent="-457200" eaLnBrk="1" hangingPunct="1">
              <a:lnSpc>
                <a:spcPct val="100000"/>
              </a:lnSpc>
              <a:buClr>
                <a:srgbClr val="C00000"/>
              </a:buClr>
              <a:buSzPct val="85000"/>
              <a:buFont typeface="Wingdings" panose="05000000000000000000" charset="0"/>
              <a:buChar char="q"/>
            </a:pPr>
            <a:r>
              <a:rPr lang="zh-CN" altLang="en-US" sz="2800" dirty="0">
                <a:solidFill>
                  <a:srgbClr val="1F2DA8"/>
                </a:solidFill>
                <a:latin typeface="楷体" panose="02010609060101010101" charset="-122"/>
                <a:ea typeface="楷体" panose="02010609060101010101" charset="-122"/>
                <a:cs typeface="楷体" panose="02010609060101010101" charset="-122"/>
              </a:rPr>
              <a:t>为了便于区别，数据模型中的数据</a:t>
            </a:r>
            <a:r>
              <a:rPr lang="zh-CN" altLang="en-US" sz="2800" dirty="0">
                <a:solidFill>
                  <a:srgbClr val="1F2DA8"/>
                </a:solidFill>
                <a:latin typeface="Times New Roman" panose="02020603050405020304" pitchFamily="2" charset="0"/>
                <a:ea typeface="楷体" panose="02010609060101010101" charset="-122"/>
                <a:cs typeface="Times New Roman" panose="02020603050405020304" pitchFamily="2" charset="0"/>
              </a:rPr>
              <a:t>结构被称为</a:t>
            </a:r>
            <a:r>
              <a:rPr lang="en-US" altLang="zh-CN" sz="2800"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dirty="0">
                <a:solidFill>
                  <a:srgbClr val="FF0000"/>
                </a:solidFill>
                <a:latin typeface="Times New Roman" panose="02020603050405020304" pitchFamily="2" charset="0"/>
                <a:ea typeface="楷体" panose="02010609060101010101" charset="-122"/>
                <a:cs typeface="Times New Roman" panose="02020603050405020304" pitchFamily="2" charset="0"/>
              </a:rPr>
              <a:t>数据模式</a:t>
            </a:r>
            <a:r>
              <a:rPr lang="en-US" altLang="zh-CN" sz="2800" dirty="0">
                <a:solidFill>
                  <a:srgbClr val="1F2DA8"/>
                </a:solidFill>
                <a:latin typeface="Times New Roman" panose="02020603050405020304" pitchFamily="2" charset="0"/>
                <a:ea typeface="楷体" panose="02010609060101010101" charset="-122"/>
                <a:cs typeface="Times New Roman" panose="02020603050405020304" pitchFamily="2" charset="0"/>
              </a:rPr>
              <a:t>’ (data schema)</a:t>
            </a:r>
          </a:p>
          <a:p>
            <a:pPr marL="918210" lvl="3" indent="-457200" eaLnBrk="1" hangingPunct="1">
              <a:lnSpc>
                <a:spcPct val="100000"/>
              </a:lnSpc>
              <a:buClr>
                <a:srgbClr val="C00000"/>
              </a:buClr>
              <a:buSzPct val="85000"/>
              <a:buFont typeface="Wingdings" panose="05000000000000000000" charset="0"/>
              <a:buChar char="q"/>
            </a:pPr>
            <a:r>
              <a:rPr lang="en-US" altLang="zh-CN"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数据模式</a:t>
            </a:r>
            <a:r>
              <a:rPr lang="en-US" altLang="zh-CN"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8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是划分不同类型数据模型的</a:t>
            </a:r>
            <a:r>
              <a:rPr lang="zh-CN" altLang="en-US" sz="2800" dirty="0">
                <a:solidFill>
                  <a:srgbClr val="1F2DA8"/>
                </a:solidFill>
                <a:latin typeface="楷体" panose="02010609060101010101" charset="-122"/>
                <a:ea typeface="楷体" panose="02010609060101010101" charset="-122"/>
                <a:cs typeface="楷体" panose="02010609060101010101" charset="-122"/>
                <a:sym typeface="+mn-ea"/>
              </a:rPr>
              <a:t>依据。</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86</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dirty="0"/>
              <a:t>数据模型的组成要素（</a:t>
            </a:r>
            <a:r>
              <a:rPr lang="en-US" altLang="zh-CN" dirty="0"/>
              <a:t>2</a:t>
            </a:r>
            <a:r>
              <a:rPr lang="zh-CN" altLang="en-US" dirty="0"/>
              <a:t>）</a:t>
            </a:r>
            <a:r>
              <a:rPr lang="en-US" altLang="zh-CN" dirty="0"/>
              <a:t>-  </a:t>
            </a:r>
            <a:r>
              <a:rPr lang="zh-CN" altLang="en-US" dirty="0"/>
              <a:t>数据操作 </a:t>
            </a:r>
          </a:p>
        </p:txBody>
      </p:sp>
      <p:sp>
        <p:nvSpPr>
          <p:cNvPr id="69635" name="Rectangle 3"/>
          <p:cNvSpPr>
            <a:spLocks noGrp="1" noChangeArrowheads="1"/>
          </p:cNvSpPr>
          <p:nvPr>
            <p:ph idx="1"/>
          </p:nvPr>
        </p:nvSpPr>
        <p:spPr/>
        <p:txBody>
          <a:bodyPr>
            <a:normAutofit/>
          </a:bodyPr>
          <a:lstStyle/>
          <a:p>
            <a:r>
              <a:rPr lang="zh-CN" altLang="en-US" dirty="0"/>
              <a:t>数据操作</a:t>
            </a:r>
          </a:p>
          <a:p>
            <a:pPr lvl="1"/>
            <a:r>
              <a:rPr lang="zh-CN" altLang="en-US" dirty="0"/>
              <a:t>对数据库中各种对象（型）的实例（值）允许执行的操作的集合，包括操作及有关的操作规则</a:t>
            </a:r>
          </a:p>
          <a:p>
            <a:r>
              <a:rPr lang="zh-CN" altLang="en-US" dirty="0"/>
              <a:t>数据操作的类型</a:t>
            </a:r>
          </a:p>
          <a:p>
            <a:pPr lvl="1"/>
            <a:r>
              <a:rPr lang="zh-CN" altLang="en-US" dirty="0"/>
              <a:t>查询</a:t>
            </a:r>
          </a:p>
          <a:p>
            <a:pPr lvl="1"/>
            <a:r>
              <a:rPr lang="zh-CN" altLang="en-US" dirty="0"/>
              <a:t>更新（包括插入、删除、修改）</a:t>
            </a:r>
            <a:endParaRPr lang="en-US" altLang="zh-CN" dirty="0"/>
          </a:p>
          <a:p>
            <a:pPr algn="just" eaLnBrk="1" hangingPunct="1"/>
            <a:r>
              <a:rPr lang="zh-CN" altLang="en-US" dirty="0"/>
              <a:t>数据模型对操作的定义</a:t>
            </a:r>
          </a:p>
          <a:p>
            <a:pPr lvl="1" algn="just" eaLnBrk="1" hangingPunct="1">
              <a:lnSpc>
                <a:spcPct val="130000"/>
              </a:lnSpc>
            </a:pPr>
            <a:r>
              <a:rPr lang="zh-CN" altLang="en-US" dirty="0"/>
              <a:t>操作的确切含义、操作符号、操作规则（如优先级）</a:t>
            </a:r>
          </a:p>
          <a:p>
            <a:pPr lvl="1" algn="just" eaLnBrk="1" hangingPunct="1">
              <a:lnSpc>
                <a:spcPct val="130000"/>
              </a:lnSpc>
            </a:pPr>
            <a:r>
              <a:rPr lang="zh-CN" altLang="en-US" dirty="0"/>
              <a:t>实现操作的语言</a:t>
            </a:r>
          </a:p>
          <a:p>
            <a:pPr algn="just" eaLnBrk="1" hangingPunct="1"/>
            <a:r>
              <a:rPr lang="zh-CN" altLang="en-US" dirty="0"/>
              <a:t>数据操作是对系统动态特性的描述</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87</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2" end="2"/>
                                            </p:txEl>
                                          </p:spTgt>
                                        </p:tgtEl>
                                        <p:attrNameLst>
                                          <p:attrName>style.visibility</p:attrName>
                                        </p:attrNameLst>
                                      </p:cBhvr>
                                      <p:to>
                                        <p:strVal val="visible"/>
                                      </p:to>
                                    </p:set>
                                    <p:anim calcmode="lin" valueType="num">
                                      <p:cBhvr additive="base">
                                        <p:cTn id="7"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635">
                                            <p:txEl>
                                              <p:pRg st="3" end="3"/>
                                            </p:txEl>
                                          </p:spTgt>
                                        </p:tgtEl>
                                        <p:attrNameLst>
                                          <p:attrName>style.visibility</p:attrName>
                                        </p:attrNameLst>
                                      </p:cBhvr>
                                      <p:to>
                                        <p:strVal val="visible"/>
                                      </p:to>
                                    </p:set>
                                    <p:anim calcmode="lin" valueType="num">
                                      <p:cBhvr additive="base">
                                        <p:cTn id="11"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6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9635">
                                            <p:txEl>
                                              <p:pRg st="4" end="4"/>
                                            </p:txEl>
                                          </p:spTgt>
                                        </p:tgtEl>
                                        <p:attrNameLst>
                                          <p:attrName>style.visibility</p:attrName>
                                        </p:attrNameLst>
                                      </p:cBhvr>
                                      <p:to>
                                        <p:strVal val="visible"/>
                                      </p:to>
                                    </p:set>
                                    <p:anim calcmode="lin" valueType="num">
                                      <p:cBhvr additive="base">
                                        <p:cTn id="15" dur="500" fill="hold"/>
                                        <p:tgtEl>
                                          <p:spTgt spid="6963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96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9635">
                                            <p:txEl>
                                              <p:pRg st="5" end="5"/>
                                            </p:txEl>
                                          </p:spTgt>
                                        </p:tgtEl>
                                        <p:attrNameLst>
                                          <p:attrName>style.visibility</p:attrName>
                                        </p:attrNameLst>
                                      </p:cBhvr>
                                      <p:to>
                                        <p:strVal val="visible"/>
                                      </p:to>
                                    </p:set>
                                    <p:anim calcmode="lin" valueType="num">
                                      <p:cBhvr additive="base">
                                        <p:cTn id="21" dur="500" fill="hold"/>
                                        <p:tgtEl>
                                          <p:spTgt spid="6963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9635">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9635">
                                            <p:txEl>
                                              <p:pRg st="6" end="6"/>
                                            </p:txEl>
                                          </p:spTgt>
                                        </p:tgtEl>
                                        <p:attrNameLst>
                                          <p:attrName>style.visibility</p:attrName>
                                        </p:attrNameLst>
                                      </p:cBhvr>
                                      <p:to>
                                        <p:strVal val="visible"/>
                                      </p:to>
                                    </p:set>
                                    <p:anim calcmode="lin" valueType="num">
                                      <p:cBhvr additive="base">
                                        <p:cTn id="25" dur="500" fill="hold"/>
                                        <p:tgtEl>
                                          <p:spTgt spid="696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635">
                                            <p:txEl>
                                              <p:pRg st="7" end="7"/>
                                            </p:txEl>
                                          </p:spTgt>
                                        </p:tgtEl>
                                        <p:attrNameLst>
                                          <p:attrName>style.visibility</p:attrName>
                                        </p:attrNameLst>
                                      </p:cBhvr>
                                      <p:to>
                                        <p:strVal val="visible"/>
                                      </p:to>
                                    </p:set>
                                    <p:anim calcmode="lin" valueType="num">
                                      <p:cBhvr additive="base">
                                        <p:cTn id="29" dur="500" fill="hold"/>
                                        <p:tgtEl>
                                          <p:spTgt spid="6963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96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9635">
                                            <p:txEl>
                                              <p:pRg st="8" end="8"/>
                                            </p:txEl>
                                          </p:spTgt>
                                        </p:tgtEl>
                                        <p:attrNameLst>
                                          <p:attrName>style.visibility</p:attrName>
                                        </p:attrNameLst>
                                      </p:cBhvr>
                                      <p:to>
                                        <p:strVal val="visible"/>
                                      </p:to>
                                    </p:set>
                                    <p:anim calcmode="lin" valueType="num">
                                      <p:cBhvr additive="base">
                                        <p:cTn id="35" dur="500" fill="hold"/>
                                        <p:tgtEl>
                                          <p:spTgt spid="6963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96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dirty="0"/>
              <a:t>数据模型的组成要素（</a:t>
            </a:r>
            <a:r>
              <a:rPr lang="en-US" altLang="zh-CN" dirty="0"/>
              <a:t>3</a:t>
            </a:r>
            <a:r>
              <a:rPr lang="zh-CN" altLang="en-US" dirty="0"/>
              <a:t>）</a:t>
            </a:r>
            <a:r>
              <a:rPr lang="en-US" altLang="zh-CN" dirty="0"/>
              <a:t>-  </a:t>
            </a:r>
            <a:r>
              <a:rPr lang="zh-CN" altLang="en-US" dirty="0"/>
              <a:t>数据的完整性约束条件 </a:t>
            </a:r>
          </a:p>
        </p:txBody>
      </p:sp>
      <p:sp>
        <p:nvSpPr>
          <p:cNvPr id="71683" name="Rectangle 3"/>
          <p:cNvSpPr>
            <a:spLocks noGrp="1" noChangeArrowheads="1"/>
          </p:cNvSpPr>
          <p:nvPr>
            <p:ph idx="1"/>
          </p:nvPr>
        </p:nvSpPr>
        <p:spPr/>
        <p:txBody>
          <a:bodyPr>
            <a:normAutofit/>
          </a:bodyPr>
          <a:lstStyle/>
          <a:p>
            <a:pPr>
              <a:lnSpc>
                <a:spcPct val="110000"/>
              </a:lnSpc>
              <a:spcBef>
                <a:spcPts val="0"/>
              </a:spcBef>
            </a:pPr>
            <a:r>
              <a:rPr lang="zh-CN" altLang="en-US" dirty="0"/>
              <a:t>数据的</a:t>
            </a:r>
            <a:r>
              <a:rPr lang="zh-CN" altLang="en-US"/>
              <a:t>完整性约束条件</a:t>
            </a:r>
          </a:p>
          <a:p>
            <a:pPr lvl="1">
              <a:lnSpc>
                <a:spcPct val="110000"/>
              </a:lnSpc>
              <a:spcBef>
                <a:spcPts val="0"/>
              </a:spcBef>
            </a:pPr>
            <a:r>
              <a:rPr lang="zh-CN" altLang="en-US"/>
              <a:t>一</a:t>
            </a:r>
            <a:r>
              <a:rPr lang="zh-CN" altLang="en-US" dirty="0"/>
              <a:t>组</a:t>
            </a:r>
            <a:r>
              <a:rPr lang="zh-CN" altLang="en-US" dirty="0">
                <a:solidFill>
                  <a:srgbClr val="FF0000"/>
                </a:solidFill>
              </a:rPr>
              <a:t>完整性规则</a:t>
            </a:r>
            <a:r>
              <a:rPr lang="zh-CN" altLang="en-US" dirty="0"/>
              <a:t>的集合</a:t>
            </a:r>
          </a:p>
          <a:p>
            <a:pPr lvl="1">
              <a:lnSpc>
                <a:spcPct val="110000"/>
              </a:lnSpc>
              <a:spcBef>
                <a:spcPts val="0"/>
              </a:spcBef>
            </a:pPr>
            <a:r>
              <a:rPr lang="zh-CN" altLang="en-US" dirty="0">
                <a:solidFill>
                  <a:srgbClr val="FF0000"/>
                </a:solidFill>
              </a:rPr>
              <a:t>完整性规则</a:t>
            </a:r>
            <a:r>
              <a:rPr lang="zh-CN" altLang="en-US" dirty="0"/>
              <a:t>：给定的数据模型中数据及其联系所具有的制约和依存规则</a:t>
            </a:r>
          </a:p>
          <a:p>
            <a:pPr lvl="1">
              <a:lnSpc>
                <a:spcPct val="110000"/>
              </a:lnSpc>
              <a:spcBef>
                <a:spcPts val="0"/>
              </a:spcBef>
            </a:pPr>
            <a:r>
              <a:rPr lang="zh-CN" altLang="en-US" dirty="0"/>
              <a:t>用以限定符合数据模型的数据库状态以及状态的变化，以保证数据的正确、有效和相容</a:t>
            </a:r>
          </a:p>
          <a:p>
            <a:pPr lvl="1">
              <a:lnSpc>
                <a:spcPct val="110000"/>
              </a:lnSpc>
              <a:spcBef>
                <a:spcPts val="0"/>
              </a:spcBef>
            </a:pPr>
            <a:endParaRPr lang="en-US" altLang="zh-CN" dirty="0"/>
          </a:p>
          <a:p>
            <a:pPr>
              <a:lnSpc>
                <a:spcPct val="110000"/>
              </a:lnSpc>
              <a:spcBef>
                <a:spcPts val="0"/>
              </a:spcBef>
            </a:pPr>
            <a:r>
              <a:rPr lang="zh-CN" altLang="en-US" dirty="0"/>
              <a:t>数据模型对完整性约束条件的定义</a:t>
            </a:r>
          </a:p>
          <a:p>
            <a:pPr lvl="1">
              <a:lnSpc>
                <a:spcPct val="110000"/>
              </a:lnSpc>
              <a:spcBef>
                <a:spcPts val="0"/>
              </a:spcBef>
            </a:pPr>
            <a:r>
              <a:rPr lang="zh-CN" altLang="en-US" dirty="0"/>
              <a:t>反映和规定</a:t>
            </a:r>
            <a:r>
              <a:rPr lang="zh-CN" altLang="en-US" dirty="0">
                <a:solidFill>
                  <a:srgbClr val="C00000"/>
                </a:solidFill>
              </a:rPr>
              <a:t>必须遵守的基本的通用的</a:t>
            </a:r>
            <a:r>
              <a:rPr lang="zh-CN" altLang="en-US" dirty="0"/>
              <a:t>完整性约束条件。</a:t>
            </a:r>
          </a:p>
          <a:p>
            <a:pPr lvl="1">
              <a:lnSpc>
                <a:spcPct val="110000"/>
              </a:lnSpc>
              <a:spcBef>
                <a:spcPts val="0"/>
              </a:spcBef>
            </a:pPr>
            <a:r>
              <a:rPr lang="zh-CN" altLang="en-US" dirty="0"/>
              <a:t>提供定义完整性约束条件的机制，以反映</a:t>
            </a:r>
            <a:r>
              <a:rPr lang="zh-CN" altLang="en-US" dirty="0">
                <a:solidFill>
                  <a:srgbClr val="C00000"/>
                </a:solidFill>
              </a:rPr>
              <a:t>具体应用所涉及</a:t>
            </a:r>
            <a:r>
              <a:rPr lang="zh-CN" altLang="en-US" dirty="0"/>
              <a:t>的数据必须遵守的特定的语义约束条件。</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88</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xEl>
                                              <p:pRg st="5" end="5"/>
                                            </p:txEl>
                                          </p:spTgt>
                                        </p:tgtEl>
                                        <p:attrNameLst>
                                          <p:attrName>style.visibility</p:attrName>
                                        </p:attrNameLst>
                                      </p:cBhvr>
                                      <p:to>
                                        <p:strVal val="visible"/>
                                      </p:to>
                                    </p:set>
                                    <p:animEffect transition="in" filter="blinds(horizontal)">
                                      <p:cBhvr>
                                        <p:cTn id="7" dur="500"/>
                                        <p:tgtEl>
                                          <p:spTgt spid="7168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683">
                                            <p:txEl>
                                              <p:pRg st="6" end="6"/>
                                            </p:txEl>
                                          </p:spTgt>
                                        </p:tgtEl>
                                        <p:attrNameLst>
                                          <p:attrName>style.visibility</p:attrName>
                                        </p:attrNameLst>
                                      </p:cBhvr>
                                      <p:to>
                                        <p:strVal val="visible"/>
                                      </p:to>
                                    </p:set>
                                    <p:animEffect transition="in" filter="blinds(horizontal)">
                                      <p:cBhvr>
                                        <p:cTn id="10" dur="500"/>
                                        <p:tgtEl>
                                          <p:spTgt spid="7168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683">
                                            <p:txEl>
                                              <p:pRg st="7" end="7"/>
                                            </p:txEl>
                                          </p:spTgt>
                                        </p:tgtEl>
                                        <p:attrNameLst>
                                          <p:attrName>style.visibility</p:attrName>
                                        </p:attrNameLst>
                                      </p:cBhvr>
                                      <p:to>
                                        <p:strVal val="visible"/>
                                      </p:to>
                                    </p:set>
                                    <p:animEffect transition="in" filter="blinds(horizontal)">
                                      <p:cBhvr>
                                        <p:cTn id="13" dur="500"/>
                                        <p:tgtEl>
                                          <p:spTgt spid="716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dirty="0"/>
              <a:t>逻辑模型</a:t>
            </a:r>
          </a:p>
        </p:txBody>
      </p:sp>
      <p:sp>
        <p:nvSpPr>
          <p:cNvPr id="60419" name="Rectangle 3"/>
          <p:cNvSpPr>
            <a:spLocks noGrp="1" noChangeArrowheads="1"/>
          </p:cNvSpPr>
          <p:nvPr>
            <p:ph idx="1"/>
          </p:nvPr>
        </p:nvSpPr>
        <p:spPr/>
        <p:txBody>
          <a:bodyPr>
            <a:normAutofit/>
          </a:bodyPr>
          <a:lstStyle/>
          <a:p>
            <a:pPr>
              <a:lnSpc>
                <a:spcPct val="110000"/>
              </a:lnSpc>
              <a:spcBef>
                <a:spcPts val="1000"/>
              </a:spcBef>
            </a:pPr>
            <a:r>
              <a:rPr lang="zh-CN" altLang="en-US" dirty="0"/>
              <a:t>如何“多快好省”地将信息世界转换为机器世界？</a:t>
            </a:r>
            <a:endParaRPr lang="en-US" altLang="zh-CN" dirty="0"/>
          </a:p>
          <a:p>
            <a:pPr lvl="1">
              <a:lnSpc>
                <a:spcPct val="110000"/>
              </a:lnSpc>
              <a:spcBef>
                <a:spcPts val="1000"/>
              </a:spcBef>
            </a:pPr>
            <a:r>
              <a:rPr lang="zh-CN" altLang="en-US" dirty="0"/>
              <a:t>基本问题，如何在机器世界中表达“低层”数据结构和“高层”数据结构？</a:t>
            </a:r>
          </a:p>
          <a:p>
            <a:pPr lvl="1">
              <a:lnSpc>
                <a:spcPct val="110000"/>
              </a:lnSpc>
              <a:spcBef>
                <a:spcPts val="1000"/>
              </a:spcBef>
            </a:pPr>
            <a:endParaRPr lang="en-US" altLang="zh-CN" dirty="0"/>
          </a:p>
          <a:p>
            <a:pPr lvl="1">
              <a:lnSpc>
                <a:spcPct val="110000"/>
              </a:lnSpc>
              <a:spcBef>
                <a:spcPts val="1000"/>
              </a:spcBef>
            </a:pPr>
            <a:r>
              <a:rPr lang="zh-CN" altLang="en-US" dirty="0"/>
              <a:t>方案</a:t>
            </a:r>
            <a:r>
              <a:rPr lang="en-US" altLang="zh-CN" dirty="0"/>
              <a:t>1</a:t>
            </a:r>
            <a:r>
              <a:rPr lang="zh-CN" altLang="en-US" dirty="0"/>
              <a:t>：尽量独立于应用层，采用“中立”的方式表达概念模型</a:t>
            </a:r>
            <a:endParaRPr lang="en-US" altLang="zh-CN" dirty="0"/>
          </a:p>
          <a:p>
            <a:pPr lvl="1">
              <a:lnSpc>
                <a:spcPct val="110000"/>
              </a:lnSpc>
              <a:spcBef>
                <a:spcPts val="1000"/>
              </a:spcBef>
            </a:pPr>
            <a:r>
              <a:rPr lang="zh-CN" altLang="en-US" dirty="0"/>
              <a:t>方案</a:t>
            </a:r>
            <a:r>
              <a:rPr lang="en-US" altLang="zh-CN" dirty="0"/>
              <a:t>2</a:t>
            </a:r>
            <a:r>
              <a:rPr lang="zh-CN" altLang="en-US" dirty="0"/>
              <a:t>：在应用层中，使用特定数据结构，并在逻辑模型中高效支持这一数据结构</a:t>
            </a:r>
          </a:p>
          <a:p>
            <a:pPr>
              <a:lnSpc>
                <a:spcPct val="110000"/>
              </a:lnSpc>
              <a:spcBef>
                <a:spcPts val="1000"/>
              </a:spcBef>
            </a:pPr>
            <a:endParaRPr lang="en-US" altLang="zh-CN" dirty="0"/>
          </a:p>
          <a:p>
            <a:pPr>
              <a:lnSpc>
                <a:spcPct val="110000"/>
              </a:lnSpc>
              <a:spcBef>
                <a:spcPts val="1000"/>
              </a:spcBef>
            </a:pPr>
            <a:r>
              <a:rPr lang="zh-CN" altLang="en-US" dirty="0"/>
              <a:t>方案</a:t>
            </a:r>
            <a:r>
              <a:rPr lang="en-US" altLang="zh-CN" dirty="0"/>
              <a:t>*</a:t>
            </a:r>
            <a:r>
              <a:rPr lang="zh-CN" altLang="en-US" dirty="0"/>
              <a:t>：通用数据结构采用方案</a:t>
            </a:r>
            <a:r>
              <a:rPr lang="en-US" altLang="zh-CN" dirty="0"/>
              <a:t>1</a:t>
            </a:r>
            <a:r>
              <a:rPr lang="zh-CN" altLang="en-US" dirty="0"/>
              <a:t>，关键性数据结构采用方案</a:t>
            </a:r>
            <a:r>
              <a:rPr lang="en-US" altLang="zh-CN" dirty="0"/>
              <a:t>2</a:t>
            </a:r>
            <a:endParaRPr lang="zh-CN" altLang="en-US"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89</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19">
                                            <p:txEl>
                                              <p:pRg st="6" end="6"/>
                                            </p:txEl>
                                          </p:spTgt>
                                        </p:tgtEl>
                                        <p:attrNameLst>
                                          <p:attrName>style.visibility</p:attrName>
                                        </p:attrNameLst>
                                      </p:cBhvr>
                                      <p:to>
                                        <p:strVal val="visible"/>
                                      </p:to>
                                    </p:set>
                                    <p:anim calcmode="lin" valueType="num">
                                      <p:cBhvr additive="base">
                                        <p:cTn id="7" dur="500" fill="hold"/>
                                        <p:tgtEl>
                                          <p:spTgt spid="6041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1.2.4  </a:t>
            </a:r>
            <a:r>
              <a:rPr lang="zh-CN" altLang="en-US" dirty="0"/>
              <a:t>常用数据模型</a:t>
            </a:r>
          </a:p>
        </p:txBody>
      </p:sp>
      <p:sp>
        <p:nvSpPr>
          <p:cNvPr id="3" name="内容占位符 2"/>
          <p:cNvSpPr>
            <a:spLocks noGrp="1"/>
          </p:cNvSpPr>
          <p:nvPr>
            <p:ph idx="1"/>
          </p:nvPr>
        </p:nvSpPr>
        <p:spPr/>
        <p:txBody>
          <a:bodyPr>
            <a:normAutofit/>
          </a:bodyPr>
          <a:lstStyle/>
          <a:p>
            <a:pPr eaLnBrk="1" hangingPunct="1">
              <a:lnSpc>
                <a:spcPct val="150000"/>
              </a:lnSpc>
            </a:pPr>
            <a:r>
              <a:rPr lang="zh-CN" altLang="en-US" sz="3200" dirty="0"/>
              <a:t>格式化模型</a:t>
            </a:r>
            <a:endParaRPr lang="en-US" altLang="zh-CN" sz="3200" dirty="0"/>
          </a:p>
          <a:p>
            <a:pPr lvl="1"/>
            <a:r>
              <a:rPr lang="zh-CN" altLang="en-US" dirty="0">
                <a:solidFill>
                  <a:srgbClr val="FF0000"/>
                </a:solidFill>
              </a:rPr>
              <a:t>层次模型</a:t>
            </a:r>
            <a:r>
              <a:rPr lang="zh-CN" altLang="en-US" dirty="0"/>
              <a:t>（</a:t>
            </a:r>
            <a:r>
              <a:rPr lang="en-US" altLang="zh-CN" dirty="0"/>
              <a:t>Hierarchical Model</a:t>
            </a:r>
            <a:r>
              <a:rPr lang="zh-CN" altLang="en-US" dirty="0"/>
              <a:t>）</a:t>
            </a:r>
            <a:endParaRPr lang="en-US" altLang="zh-CN" dirty="0"/>
          </a:p>
          <a:p>
            <a:pPr lvl="1" algn="just"/>
            <a:r>
              <a:rPr lang="zh-CN" altLang="en-US" dirty="0">
                <a:solidFill>
                  <a:srgbClr val="FF0000"/>
                </a:solidFill>
              </a:rPr>
              <a:t>网状模型</a:t>
            </a:r>
            <a:r>
              <a:rPr lang="zh-CN" altLang="en-US" dirty="0"/>
              <a:t>（</a:t>
            </a:r>
            <a:r>
              <a:rPr lang="en-US" altLang="zh-CN" dirty="0"/>
              <a:t>Network Model</a:t>
            </a:r>
            <a:r>
              <a:rPr lang="zh-CN" altLang="en-US" dirty="0"/>
              <a:t>）</a:t>
            </a:r>
            <a:endParaRPr lang="en-US" altLang="zh-CN" dirty="0"/>
          </a:p>
          <a:p>
            <a:pPr algn="just" eaLnBrk="1" hangingPunct="1">
              <a:lnSpc>
                <a:spcPct val="150000"/>
              </a:lnSpc>
            </a:pPr>
            <a:r>
              <a:rPr lang="zh-CN" altLang="en-US" sz="3200" dirty="0">
                <a:solidFill>
                  <a:srgbClr val="FF0000"/>
                </a:solidFill>
              </a:rPr>
              <a:t>关系模型</a:t>
            </a:r>
            <a:r>
              <a:rPr lang="zh-CN" altLang="en-US" sz="3200" dirty="0"/>
              <a:t>（</a:t>
            </a:r>
            <a:r>
              <a:rPr lang="en-US" altLang="zh-CN" sz="3200" dirty="0"/>
              <a:t>Relational Model)</a:t>
            </a:r>
            <a:r>
              <a:rPr lang="zh-CN" altLang="en-US" sz="3200" dirty="0"/>
              <a:t>）</a:t>
            </a:r>
            <a:endParaRPr lang="en-US" altLang="zh-CN" sz="3200" dirty="0"/>
          </a:p>
          <a:p>
            <a:pPr algn="just" eaLnBrk="1" hangingPunct="1">
              <a:lnSpc>
                <a:spcPct val="150000"/>
              </a:lnSpc>
            </a:pPr>
            <a:r>
              <a:rPr lang="zh-CN" altLang="en-US" sz="3200" dirty="0">
                <a:solidFill>
                  <a:srgbClr val="FF0000"/>
                </a:solidFill>
              </a:rPr>
              <a:t>对象模型</a:t>
            </a:r>
            <a:endParaRPr lang="en-US" altLang="zh-CN" sz="3200" dirty="0"/>
          </a:p>
          <a:p>
            <a:pPr lvl="1" algn="just"/>
            <a:r>
              <a:rPr lang="zh-CN" altLang="en-US" dirty="0"/>
              <a:t>面向对象数据模型（</a:t>
            </a:r>
            <a:r>
              <a:rPr lang="en-US" altLang="zh-CN" dirty="0"/>
              <a:t>Object Oriented Data Model</a:t>
            </a:r>
            <a:r>
              <a:rPr lang="zh-CN" altLang="en-US" dirty="0"/>
              <a:t>）</a:t>
            </a:r>
          </a:p>
          <a:p>
            <a:pPr lvl="1" algn="just"/>
            <a:r>
              <a:rPr lang="zh-CN" altLang="en-US" dirty="0"/>
              <a:t>对象关系数据模型（</a:t>
            </a:r>
            <a:r>
              <a:rPr lang="en-US" altLang="zh-CN" dirty="0"/>
              <a:t>Object Relational Data Model</a:t>
            </a:r>
            <a:r>
              <a:rPr lang="zh-CN" altLang="en-US" dirty="0"/>
              <a:t>）</a:t>
            </a:r>
            <a:endParaRPr lang="en-US" altLang="zh-CN" dirty="0"/>
          </a:p>
          <a:p>
            <a:pPr lvl="0" algn="just">
              <a:lnSpc>
                <a:spcPct val="150000"/>
              </a:lnSpc>
            </a:pPr>
            <a:r>
              <a:rPr lang="zh-CN" altLang="en-US" sz="3200" dirty="0">
                <a:solidFill>
                  <a:srgbClr val="FF0000"/>
                </a:solidFill>
              </a:rPr>
              <a:t>半结构化、非结构化</a:t>
            </a:r>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t>90</a:t>
            </a:fld>
            <a:endParaRPr lang="en-US" altLang="zh-CN" dirty="0"/>
          </a:p>
        </p:txBody>
      </p:sp>
      <p:sp>
        <p:nvSpPr>
          <p:cNvPr id="5" name="页脚占位符 4"/>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p:txBody>
          <a:bodyPr wrap="square" tIns="0" bIns="0" anchor="ctr"/>
          <a:lstStyle/>
          <a:p>
            <a:pPr eaLnBrk="1" hangingPunct="1"/>
            <a:r>
              <a:rPr lang="en-US"/>
              <a:t>1.2.5 &amp; 1.2.6  </a:t>
            </a:r>
            <a:r>
              <a:rPr lang="zh-CN" altLang="en-US"/>
              <a:t>层次模型</a:t>
            </a:r>
            <a:r>
              <a:rPr lang="en-US" altLang="zh-CN"/>
              <a:t> &amp; </a:t>
            </a:r>
            <a:r>
              <a:rPr lang="zh-CN" altLang="en-US"/>
              <a:t>网状模型</a:t>
            </a:r>
          </a:p>
        </p:txBody>
      </p:sp>
      <p:sp>
        <p:nvSpPr>
          <p:cNvPr id="135171" name="Rectangle 3"/>
          <p:cNvSpPr>
            <a:spLocks noGrp="1"/>
          </p:cNvSpPr>
          <p:nvPr>
            <p:ph idx="1"/>
          </p:nvPr>
        </p:nvSpPr>
        <p:spPr/>
        <p:txBody>
          <a:bodyPr vert="horz" wrap="square" anchor="t"/>
          <a:lstStyle/>
          <a:p>
            <a:pPr lvl="0" eaLnBrk="1" fontAlgn="base" hangingPunct="1">
              <a:lnSpc>
                <a:spcPct val="100000"/>
              </a:lnSpc>
            </a:pPr>
            <a:r>
              <a:rPr lang="en-US" altLang="x-none" sz="2800" u="sng" strike="noStrike" noProof="1">
                <a:solidFill>
                  <a:srgbClr val="FF0000"/>
                </a:solidFill>
                <a:latin typeface="+mn-lt"/>
                <a:cs typeface="+mn-lt"/>
              </a:rPr>
              <a:t>The ’60s：</a:t>
            </a:r>
            <a:r>
              <a:rPr lang="zh-CN" altLang="en-US" sz="2800" u="sng" strike="noStrike" noProof="1">
                <a:solidFill>
                  <a:srgbClr val="FF0000"/>
                </a:solidFill>
                <a:latin typeface="+mn-lt"/>
                <a:cs typeface="+mn-lt"/>
              </a:rPr>
              <a:t>数据库技术的萌芽阶段</a:t>
            </a:r>
          </a:p>
          <a:p>
            <a:pPr marL="457200" lvl="1" indent="0" eaLnBrk="1" fontAlgn="base" hangingPunct="1">
              <a:lnSpc>
                <a:spcPct val="100000"/>
              </a:lnSpc>
              <a:buNone/>
            </a:pPr>
            <a:r>
              <a:rPr lang="zh-CN" altLang="en-US" strike="noStrike" noProof="1">
                <a:latin typeface="+mn-lt"/>
                <a:cs typeface="+mn-lt"/>
              </a:rPr>
              <a:t>1961：</a:t>
            </a:r>
            <a:r>
              <a:rPr lang="en-US" altLang="x-none" strike="noStrike" noProof="1">
                <a:latin typeface="+mn-lt"/>
                <a:cs typeface="+mn-lt"/>
              </a:rPr>
              <a:t>IDS (Integrated Data Store)</a:t>
            </a:r>
          </a:p>
          <a:p>
            <a:pPr marL="457200" lvl="1" indent="0" eaLnBrk="1" fontAlgn="base" hangingPunct="1">
              <a:lnSpc>
                <a:spcPct val="100000"/>
              </a:lnSpc>
              <a:buNone/>
            </a:pPr>
            <a:endParaRPr lang="en-US" altLang="x-none" strike="noStrike" noProof="1">
              <a:latin typeface="+mn-lt"/>
              <a:cs typeface="+mn-lt"/>
            </a:endParaRPr>
          </a:p>
          <a:p>
            <a:pPr marL="800100" lvl="3" indent="-342900" eaLnBrk="1" fontAlgn="base" hangingPunct="1">
              <a:lnSpc>
                <a:spcPct val="100000"/>
              </a:lnSpc>
              <a:buSzPct val="85000"/>
              <a:buFont typeface="Wingdings" panose="05000000000000000000" charset="0"/>
              <a:buChar char="Ø"/>
            </a:pPr>
            <a:r>
              <a:rPr lang="en-US" altLang="x-none" strike="noStrike" noProof="1">
                <a:latin typeface="+mn-lt"/>
                <a:cs typeface="+mn-lt"/>
              </a:rPr>
              <a:t>Designed by Bachman</a:t>
            </a:r>
            <a:r>
              <a:rPr lang="zh-CN" altLang="en-US" strike="noStrike" noProof="1">
                <a:latin typeface="+mn-lt"/>
                <a:cs typeface="+mn-lt"/>
              </a:rPr>
              <a:t>（73年图灵奖）</a:t>
            </a:r>
            <a:endParaRPr lang="en-US" altLang="x-none" strike="noStrike" noProof="1">
              <a:latin typeface="+mn-lt"/>
              <a:cs typeface="+mn-lt"/>
            </a:endParaRPr>
          </a:p>
          <a:p>
            <a:pPr marL="800100" lvl="3" indent="-342900" eaLnBrk="1" fontAlgn="base" hangingPunct="1">
              <a:lnSpc>
                <a:spcPct val="100000"/>
              </a:lnSpc>
              <a:buSzPct val="85000"/>
              <a:buFont typeface="Wingdings" panose="05000000000000000000" charset="0"/>
              <a:buChar char="Ø"/>
            </a:pPr>
            <a:r>
              <a:rPr lang="zh-CN" altLang="en-US" strike="noStrike" noProof="1">
                <a:latin typeface="+mn-lt"/>
                <a:cs typeface="+mn-lt"/>
              </a:rPr>
              <a:t>奠定了网络数据模型(</a:t>
            </a:r>
            <a:r>
              <a:rPr lang="en-US" altLang="x-none" strike="noStrike" noProof="1">
                <a:latin typeface="+mn-lt"/>
                <a:cs typeface="+mn-lt"/>
              </a:rPr>
              <a:t>Network Data Model)</a:t>
            </a:r>
            <a:r>
              <a:rPr lang="zh-CN" altLang="en-US" strike="noStrike" noProof="1">
                <a:latin typeface="+mn-lt"/>
                <a:cs typeface="+mn-lt"/>
              </a:rPr>
              <a:t>的基础</a:t>
            </a:r>
          </a:p>
          <a:p>
            <a:pPr lvl="2" eaLnBrk="1" fontAlgn="base" hangingPunct="1">
              <a:lnSpc>
                <a:spcPct val="100000"/>
              </a:lnSpc>
              <a:buSzPct val="85000"/>
            </a:pPr>
            <a:r>
              <a:rPr lang="en-US" altLang="x-none" strike="noStrike" noProof="1">
                <a:latin typeface="+mn-lt"/>
                <a:cs typeface="+mn-lt"/>
              </a:rPr>
              <a:t>Conference on Data Systems Languages Database Task Group (CODASYL  </a:t>
            </a:r>
            <a:r>
              <a:rPr lang="en-US" altLang="x-none" strike="noStrike" noProof="1">
                <a:solidFill>
                  <a:schemeClr val="accent2"/>
                </a:solidFill>
                <a:latin typeface="+mn-lt"/>
                <a:cs typeface="+mn-lt"/>
              </a:rPr>
              <a:t>DBTG</a:t>
            </a:r>
            <a:r>
              <a:rPr lang="en-US" altLang="x-none" strike="noStrike" noProof="1">
                <a:latin typeface="+mn-lt"/>
                <a:cs typeface="+mn-lt"/>
              </a:rPr>
              <a:t>)</a:t>
            </a:r>
          </a:p>
          <a:p>
            <a:pPr lvl="1" eaLnBrk="1" fontAlgn="base" hangingPunct="1">
              <a:lnSpc>
                <a:spcPct val="100000"/>
              </a:lnSpc>
            </a:pPr>
            <a:endParaRPr lang="en-US" altLang="x-none" strike="noStrike" noProof="1">
              <a:latin typeface="+mn-lt"/>
              <a:cs typeface="+mn-lt"/>
            </a:endParaRPr>
          </a:p>
          <a:p>
            <a:pPr lvl="0" eaLnBrk="1" fontAlgn="base" hangingPunct="1">
              <a:lnSpc>
                <a:spcPct val="100000"/>
              </a:lnSpc>
            </a:pPr>
            <a:r>
              <a:rPr lang="zh-CN" altLang="zh-CN" strike="noStrike" noProof="1">
                <a:latin typeface="+mn-lt"/>
                <a:cs typeface="+mn-lt"/>
              </a:rPr>
              <a:t>主要贡献：</a:t>
            </a:r>
          </a:p>
          <a:p>
            <a:pPr lvl="1" eaLnBrk="1" fontAlgn="base" hangingPunct="1">
              <a:lnSpc>
                <a:spcPct val="100000"/>
              </a:lnSpc>
            </a:pPr>
            <a:r>
              <a:rPr lang="zh-CN" altLang="zh-CN" strike="noStrike" noProof="1">
                <a:latin typeface="+mn-lt"/>
                <a:cs typeface="+mn-lt"/>
              </a:rPr>
              <a:t>在通用电气公司任职期间，主持设计与开发了最早的网状数据库系统 </a:t>
            </a:r>
            <a:r>
              <a:rPr lang="en-US" altLang="zh-CN" strike="noStrike" noProof="1">
                <a:latin typeface="+mn-lt"/>
                <a:cs typeface="+mn-lt"/>
              </a:rPr>
              <a:t>IDS</a:t>
            </a:r>
          </a:p>
          <a:p>
            <a:pPr lvl="1" eaLnBrk="1" fontAlgn="base" hangingPunct="1">
              <a:lnSpc>
                <a:spcPct val="100000"/>
              </a:lnSpc>
            </a:pPr>
            <a:r>
              <a:rPr lang="zh-CN" altLang="en-US" strike="noStrike" noProof="1">
                <a:latin typeface="+mn-lt"/>
                <a:cs typeface="+mn-lt"/>
              </a:rPr>
              <a:t>积极推动与促成数据库标准的制定（</a:t>
            </a:r>
            <a:r>
              <a:rPr lang="en-US" altLang="zh-CN" strike="noStrike" noProof="1">
                <a:latin typeface="+mn-lt"/>
                <a:cs typeface="+mn-lt"/>
              </a:rPr>
              <a:t>DBTG</a:t>
            </a:r>
            <a:r>
              <a:rPr lang="zh-CN" altLang="en-US" strike="noStrike" noProof="1">
                <a:latin typeface="+mn-lt"/>
                <a:cs typeface="+mn-lt"/>
              </a:rPr>
              <a:t>）</a:t>
            </a:r>
          </a:p>
        </p:txBody>
      </p:sp>
      <p:pic>
        <p:nvPicPr>
          <p:cNvPr id="3" name="图片 135173" descr="t1973"/>
          <p:cNvPicPr>
            <a:picLocks noChangeAspect="1"/>
          </p:cNvPicPr>
          <p:nvPr/>
        </p:nvPicPr>
        <p:blipFill>
          <a:blip r:embed="rId2"/>
          <a:stretch>
            <a:fillRect/>
          </a:stretch>
        </p:blipFill>
        <p:spPr>
          <a:xfrm>
            <a:off x="9929495" y="595630"/>
            <a:ext cx="1531620" cy="2136775"/>
          </a:xfrm>
          <a:prstGeom prst="rect">
            <a:avLst/>
          </a:prstGeom>
          <a:noFill/>
          <a:ln w="9525">
            <a:noFill/>
          </a:ln>
        </p:spPr>
      </p:pic>
      <p:sp>
        <p:nvSpPr>
          <p:cNvPr id="2" name="灯片编号占位符 1"/>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91</a:t>
            </a:fld>
            <a:endParaRPr lang="zh-CN" altLang="en-US" strike="noStrike" noProof="1"/>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p:cNvSpPr>
          <p:nvPr>
            <p:ph type="title"/>
          </p:nvPr>
        </p:nvSpPr>
        <p:spPr/>
        <p:txBody>
          <a:bodyPr wrap="square" tIns="0" bIns="0" anchor="ctr"/>
          <a:lstStyle/>
          <a:p>
            <a:pPr eaLnBrk="1" hangingPunct="1"/>
            <a:r>
              <a:rPr lang="en-US" altLang="zh-CN"/>
              <a:t>2.4 </a:t>
            </a:r>
            <a:r>
              <a:rPr lang="zh-CN" altLang="en-US"/>
              <a:t>信息世界与逻辑模型</a:t>
            </a:r>
          </a:p>
        </p:txBody>
      </p:sp>
      <p:sp>
        <p:nvSpPr>
          <p:cNvPr id="137218" name="Rectangle 3"/>
          <p:cNvSpPr>
            <a:spLocks noGrp="1"/>
          </p:cNvSpPr>
          <p:nvPr>
            <p:ph idx="1"/>
          </p:nvPr>
        </p:nvSpPr>
        <p:spPr/>
        <p:txBody>
          <a:bodyPr wrap="square" anchor="t"/>
          <a:lstStyle/>
          <a:p>
            <a:pPr lvl="0" eaLnBrk="1" hangingPunct="1">
              <a:lnSpc>
                <a:spcPct val="100000"/>
              </a:lnSpc>
            </a:pPr>
            <a:r>
              <a:rPr lang="en-US" altLang="x-none" dirty="0">
                <a:latin typeface="+mn-lt"/>
                <a:cs typeface="+mn-lt"/>
              </a:rPr>
              <a:t>1965-1970：</a:t>
            </a:r>
            <a:r>
              <a:rPr lang="en-US" altLang="x-none" dirty="0">
                <a:solidFill>
                  <a:srgbClr val="FF0000"/>
                </a:solidFill>
                <a:latin typeface="+mn-lt"/>
                <a:cs typeface="+mn-lt"/>
              </a:rPr>
              <a:t>IMS</a:t>
            </a:r>
            <a:r>
              <a:rPr lang="en-US" altLang="x-none" dirty="0">
                <a:latin typeface="+mn-lt"/>
                <a:cs typeface="+mn-lt"/>
              </a:rPr>
              <a:t> (Information Management System)</a:t>
            </a:r>
          </a:p>
          <a:p>
            <a:pPr marL="758825" lvl="3" indent="-299085" eaLnBrk="1" hangingPunct="1">
              <a:lnSpc>
                <a:spcPct val="100000"/>
              </a:lnSpc>
              <a:buSzPct val="85000"/>
              <a:buFont typeface="Wingdings" panose="05000000000000000000" charset="0"/>
              <a:buChar char="Ø"/>
            </a:pPr>
            <a:r>
              <a:rPr lang="en-US" altLang="x-none" dirty="0">
                <a:solidFill>
                  <a:srgbClr val="FF0000"/>
                </a:solidFill>
                <a:latin typeface="+mn-lt"/>
                <a:cs typeface="+mn-lt"/>
              </a:rPr>
              <a:t>Developed by IBM</a:t>
            </a:r>
            <a:r>
              <a:rPr lang="zh-CN" altLang="en-US" dirty="0">
                <a:solidFill>
                  <a:srgbClr val="FF0000"/>
                </a:solidFill>
                <a:latin typeface="+mn-lt"/>
                <a:cs typeface="+mn-lt"/>
              </a:rPr>
              <a:t>，奠定了层次数据模型</a:t>
            </a:r>
            <a:r>
              <a:rPr lang="zh-CN" altLang="en-US" dirty="0">
                <a:solidFill>
                  <a:srgbClr val="FF0000"/>
                </a:solidFill>
                <a:latin typeface="+mn-lt"/>
                <a:cs typeface="+mn-lt"/>
                <a:sym typeface="+mn-ea"/>
              </a:rPr>
              <a:t>(</a:t>
            </a:r>
            <a:r>
              <a:rPr lang="en-US" altLang="x-none" dirty="0">
                <a:solidFill>
                  <a:srgbClr val="FF0000"/>
                </a:solidFill>
                <a:latin typeface="+mn-lt"/>
                <a:cs typeface="+mn-lt"/>
                <a:sym typeface="+mn-ea"/>
              </a:rPr>
              <a:t>Hierarchical Data Model)</a:t>
            </a:r>
            <a:r>
              <a:rPr lang="zh-CN" altLang="en-US" dirty="0">
                <a:solidFill>
                  <a:srgbClr val="FF0000"/>
                </a:solidFill>
                <a:latin typeface="+mn-lt"/>
                <a:cs typeface="+mn-lt"/>
              </a:rPr>
              <a:t>的基础，允许对数据的多用户存取</a:t>
            </a:r>
          </a:p>
          <a:p>
            <a:pPr marL="345440" lvl="2" indent="-342900" eaLnBrk="1" hangingPunct="1">
              <a:lnSpc>
                <a:spcPct val="100000"/>
              </a:lnSpc>
              <a:spcBef>
                <a:spcPts val="1000"/>
              </a:spcBef>
              <a:buSzPct val="85000"/>
              <a:buFont typeface="Wingdings" panose="05000000000000000000" charset="0"/>
              <a:buChar char="q"/>
            </a:pPr>
            <a:r>
              <a:rPr lang="en-US" altLang="x-none" dirty="0">
                <a:latin typeface="+mn-lt"/>
                <a:cs typeface="+mn-lt"/>
                <a:sym typeface="+mn-ea"/>
              </a:rPr>
              <a:t>Example of hierarchical data model</a:t>
            </a:r>
            <a:endParaRPr lang="zh-CN" altLang="en-US" dirty="0">
              <a:solidFill>
                <a:schemeClr val="accent6"/>
              </a:solidFill>
              <a:latin typeface="+mn-lt"/>
              <a:cs typeface="+mn-lt"/>
            </a:endParaRPr>
          </a:p>
        </p:txBody>
      </p:sp>
      <p:grpSp>
        <p:nvGrpSpPr>
          <p:cNvPr id="5" name="组合 4"/>
          <p:cNvGrpSpPr/>
          <p:nvPr/>
        </p:nvGrpSpPr>
        <p:grpSpPr>
          <a:xfrm>
            <a:off x="2855595" y="2715895"/>
            <a:ext cx="6192520" cy="4211955"/>
            <a:chOff x="2097" y="3586"/>
            <a:chExt cx="9752" cy="6633"/>
          </a:xfrm>
        </p:grpSpPr>
        <p:pic>
          <p:nvPicPr>
            <p:cNvPr id="3" name="图片 2"/>
            <p:cNvPicPr>
              <a:picLocks noChangeAspect="1"/>
            </p:cNvPicPr>
            <p:nvPr>
              <p:custDataLst>
                <p:tags r:id="rId1"/>
              </p:custDataLst>
            </p:nvPr>
          </p:nvPicPr>
          <p:blipFill>
            <a:blip r:embed="rId3"/>
            <a:stretch>
              <a:fillRect/>
            </a:stretch>
          </p:blipFill>
          <p:spPr>
            <a:xfrm>
              <a:off x="2097" y="3586"/>
              <a:ext cx="9708" cy="5916"/>
            </a:xfrm>
            <a:prstGeom prst="rect">
              <a:avLst/>
            </a:prstGeom>
          </p:spPr>
        </p:pic>
        <p:sp>
          <p:nvSpPr>
            <p:cNvPr id="4" name="文本框 3"/>
            <p:cNvSpPr txBox="1"/>
            <p:nvPr/>
          </p:nvSpPr>
          <p:spPr>
            <a:xfrm>
              <a:off x="2119" y="9397"/>
              <a:ext cx="9730" cy="822"/>
            </a:xfrm>
            <a:prstGeom prst="rect">
              <a:avLst/>
            </a:prstGeom>
            <a:noFill/>
          </p:spPr>
          <p:txBody>
            <a:bodyPr wrap="square" rtlCol="0">
              <a:spAutoFit/>
            </a:bodyPr>
            <a:lstStyle/>
            <a:p>
              <a:pPr algn="ctr"/>
              <a:r>
                <a:rPr lang="en-US" altLang="zh-CN" sz="2800" b="1">
                  <a:solidFill>
                    <a:srgbClr val="FF0000"/>
                  </a:solidFill>
                </a:rPr>
                <a:t>(</a:t>
              </a:r>
              <a:r>
                <a:rPr lang="en-US" altLang="x-none" sz="2800" b="1" dirty="0">
                  <a:solidFill>
                    <a:srgbClr val="FF0000"/>
                  </a:solidFill>
                  <a:sym typeface="+mn-ea"/>
                </a:rPr>
                <a:t>A directed tree)</a:t>
              </a:r>
            </a:p>
          </p:txBody>
        </p:sp>
      </p:grpSp>
      <p:sp>
        <p:nvSpPr>
          <p:cNvPr id="6" name="灯片编号占位符 5"/>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92</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xEl>
                                              <p:pRg st="2" end="2"/>
                                            </p:txEl>
                                          </p:spTgt>
                                        </p:tgtEl>
                                        <p:attrNameLst>
                                          <p:attrName>style.visibility</p:attrName>
                                        </p:attrNameLst>
                                      </p:cBhvr>
                                      <p:to>
                                        <p:strVal val="visible"/>
                                      </p:to>
                                    </p:set>
                                    <p:anim calcmode="lin" valueType="num">
                                      <p:cBhvr additive="base">
                                        <p:cTn id="7" dur="500" fill="hold"/>
                                        <p:tgtEl>
                                          <p:spTgt spid="13721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8">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ea typeface="宋体" panose="02010600030101010101" pitchFamily="2" charset="-122"/>
                <a:sym typeface="+mn-ea"/>
              </a:rPr>
              <a:t>Example of network data model</a:t>
            </a:r>
            <a:endParaRPr lang="zh-CN" altLang="en-US"/>
          </a:p>
        </p:txBody>
      </p:sp>
      <p:pic>
        <p:nvPicPr>
          <p:cNvPr id="5" name="图片 4"/>
          <p:cNvPicPr>
            <a:picLocks noChangeAspect="1"/>
          </p:cNvPicPr>
          <p:nvPr>
            <p:custDataLst>
              <p:tags r:id="rId1"/>
            </p:custDataLst>
          </p:nvPr>
        </p:nvPicPr>
        <p:blipFill>
          <a:blip r:embed="rId3"/>
          <a:stretch>
            <a:fillRect/>
          </a:stretch>
        </p:blipFill>
        <p:spPr>
          <a:xfrm>
            <a:off x="2567305" y="764540"/>
            <a:ext cx="6990080" cy="4793615"/>
          </a:xfrm>
          <a:prstGeom prst="rect">
            <a:avLst/>
          </a:prstGeom>
        </p:spPr>
      </p:pic>
      <p:sp>
        <p:nvSpPr>
          <p:cNvPr id="6" name="文本框 5"/>
          <p:cNvSpPr txBox="1"/>
          <p:nvPr/>
        </p:nvSpPr>
        <p:spPr>
          <a:xfrm>
            <a:off x="2927350" y="5622925"/>
            <a:ext cx="6114415" cy="521970"/>
          </a:xfrm>
          <a:prstGeom prst="rect">
            <a:avLst/>
          </a:prstGeom>
          <a:noFill/>
        </p:spPr>
        <p:txBody>
          <a:bodyPr wrap="square" rtlCol="0">
            <a:spAutoFit/>
          </a:bodyPr>
          <a:lstStyle/>
          <a:p>
            <a:pPr algn="ctr"/>
            <a:r>
              <a:rPr lang="en-US" altLang="x-none" sz="2800" b="1" dirty="0">
                <a:solidFill>
                  <a:srgbClr val="FF0000"/>
                </a:solidFill>
                <a:sym typeface="+mn-ea"/>
              </a:rPr>
              <a:t>(A directed graph without circuits)</a:t>
            </a:r>
          </a:p>
        </p:txBody>
      </p:sp>
      <p:sp>
        <p:nvSpPr>
          <p:cNvPr id="8" name="灯片编号占位符 7"/>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93</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olidFill>
                  <a:srgbClr val="FF0000"/>
                </a:solidFill>
                <a:latin typeface="Arial" panose="020B0604020202020204" pitchFamily="34" charset="0"/>
                <a:ea typeface="宋体" panose="02010600030101010101" pitchFamily="2" charset="-122"/>
                <a:sym typeface="+mn-ea"/>
              </a:rPr>
              <a:t>Hierarchical Data Model vs. Network Data Model</a:t>
            </a:r>
          </a:p>
        </p:txBody>
      </p:sp>
      <p:graphicFrame>
        <p:nvGraphicFramePr>
          <p:cNvPr id="22530" name="Object 4"/>
          <p:cNvGraphicFramePr>
            <a:graphicFrameLocks noChangeAspect="1"/>
          </p:cNvGraphicFramePr>
          <p:nvPr>
            <p:custDataLst>
              <p:tags r:id="rId1"/>
            </p:custDataLst>
          </p:nvPr>
        </p:nvGraphicFramePr>
        <p:xfrm>
          <a:off x="6402705" y="1048703"/>
          <a:ext cx="4597400" cy="3546475"/>
        </p:xfrm>
        <a:graphic>
          <a:graphicData uri="http://schemas.openxmlformats.org/presentationml/2006/ole">
            <mc:AlternateContent xmlns:mc="http://schemas.openxmlformats.org/markup-compatibility/2006">
              <mc:Choice xmlns:v="urn:schemas-microsoft-com:vml" Requires="v">
                <p:oleObj r:id="rId6" imgW="3801110" imgH="2272030" progId="Word.Picture.8">
                  <p:embed/>
                </p:oleObj>
              </mc:Choice>
              <mc:Fallback>
                <p:oleObj r:id="rId6" imgW="3801110" imgH="2272030" progId="Word.Picture.8">
                  <p:embed/>
                  <p:pic>
                    <p:nvPicPr>
                      <p:cNvPr id="0" name="图片 3075"/>
                      <p:cNvPicPr/>
                      <p:nvPr/>
                    </p:nvPicPr>
                    <p:blipFill>
                      <a:blip r:embed="rId7"/>
                      <a:stretch>
                        <a:fillRect/>
                      </a:stretch>
                    </p:blipFill>
                    <p:spPr>
                      <a:xfrm>
                        <a:off x="6402705" y="1048703"/>
                        <a:ext cx="4597400" cy="3546475"/>
                      </a:xfrm>
                      <a:prstGeom prst="rect">
                        <a:avLst/>
                      </a:prstGeom>
                      <a:solidFill>
                        <a:srgbClr val="D6D6F5">
                          <a:alpha val="50000"/>
                        </a:srgbClr>
                      </a:solidFill>
                      <a:ln w="38100">
                        <a:noFill/>
                        <a:miter/>
                      </a:ln>
                    </p:spPr>
                  </p:pic>
                </p:oleObj>
              </mc:Fallback>
            </mc:AlternateContent>
          </a:graphicData>
        </a:graphic>
      </p:graphicFrame>
      <p:pic>
        <p:nvPicPr>
          <p:cNvPr id="22532" name="图片 23"/>
          <p:cNvPicPr>
            <a:picLocks noChangeAspect="1"/>
          </p:cNvPicPr>
          <p:nvPr>
            <p:custDataLst>
              <p:tags r:id="rId2"/>
            </p:custDataLst>
          </p:nvPr>
        </p:nvPicPr>
        <p:blipFill>
          <a:blip r:embed="rId8"/>
          <a:stretch>
            <a:fillRect/>
          </a:stretch>
        </p:blipFill>
        <p:spPr>
          <a:xfrm>
            <a:off x="1132205" y="1056323"/>
            <a:ext cx="4337050" cy="3546475"/>
          </a:xfrm>
          <a:prstGeom prst="rect">
            <a:avLst/>
          </a:prstGeom>
          <a:noFill/>
          <a:ln w="9525">
            <a:noFill/>
          </a:ln>
        </p:spPr>
      </p:pic>
      <p:sp>
        <p:nvSpPr>
          <p:cNvPr id="6" name="文本框 5"/>
          <p:cNvSpPr txBox="1"/>
          <p:nvPr>
            <p:custDataLst>
              <p:tags r:id="rId3"/>
            </p:custDataLst>
          </p:nvPr>
        </p:nvSpPr>
        <p:spPr>
          <a:xfrm>
            <a:off x="760095" y="4652645"/>
            <a:ext cx="4953000" cy="460375"/>
          </a:xfrm>
          <a:prstGeom prst="rect">
            <a:avLst/>
          </a:prstGeom>
          <a:noFill/>
        </p:spPr>
        <p:txBody>
          <a:bodyPr wrap="square" rtlCol="0">
            <a:spAutoFit/>
          </a:bodyPr>
          <a:lstStyle/>
          <a:p>
            <a:pPr algn="ctr"/>
            <a:r>
              <a:rPr lang="en-US" altLang="x-none" sz="2400" b="1" dirty="0">
                <a:solidFill>
                  <a:srgbClr val="FF0000"/>
                </a:solidFill>
                <a:sym typeface="+mn-ea"/>
              </a:rPr>
              <a:t>(A directed graph without circuits)</a:t>
            </a:r>
          </a:p>
        </p:txBody>
      </p:sp>
      <p:sp>
        <p:nvSpPr>
          <p:cNvPr id="4" name="文本框 3"/>
          <p:cNvSpPr txBox="1"/>
          <p:nvPr>
            <p:custDataLst>
              <p:tags r:id="rId4"/>
            </p:custDataLst>
          </p:nvPr>
        </p:nvSpPr>
        <p:spPr>
          <a:xfrm>
            <a:off x="6402705" y="4652645"/>
            <a:ext cx="4597400" cy="460375"/>
          </a:xfrm>
          <a:prstGeom prst="rect">
            <a:avLst/>
          </a:prstGeom>
          <a:noFill/>
        </p:spPr>
        <p:txBody>
          <a:bodyPr wrap="square" rtlCol="0">
            <a:spAutoFit/>
          </a:bodyPr>
          <a:lstStyle/>
          <a:p>
            <a:pPr algn="ctr"/>
            <a:r>
              <a:rPr lang="en-US" altLang="zh-CN" sz="2400" b="1">
                <a:solidFill>
                  <a:srgbClr val="FF0000"/>
                </a:solidFill>
              </a:rPr>
              <a:t>(</a:t>
            </a:r>
            <a:r>
              <a:rPr lang="en-US" altLang="x-none" sz="2400" b="1" dirty="0">
                <a:solidFill>
                  <a:srgbClr val="FF0000"/>
                </a:solidFill>
                <a:sym typeface="+mn-ea"/>
              </a:rPr>
              <a:t>A directed tree)</a:t>
            </a:r>
          </a:p>
        </p:txBody>
      </p:sp>
      <p:sp>
        <p:nvSpPr>
          <p:cNvPr id="5" name="文本框 4"/>
          <p:cNvSpPr txBox="1"/>
          <p:nvPr/>
        </p:nvSpPr>
        <p:spPr>
          <a:xfrm>
            <a:off x="3209290" y="5647690"/>
            <a:ext cx="5767070" cy="521970"/>
          </a:xfrm>
          <a:prstGeom prst="rect">
            <a:avLst/>
          </a:prstGeom>
          <a:noFill/>
        </p:spPr>
        <p:txBody>
          <a:bodyPr wrap="square" rtlCol="0">
            <a:spAutoFit/>
          </a:bodyPr>
          <a:lstStyle/>
          <a:p>
            <a:pPr algn="ctr"/>
            <a:r>
              <a:rPr lang="zh-CN" altLang="en-US" sz="2800" b="1">
                <a:solidFill>
                  <a:srgbClr val="1F2DA8"/>
                </a:solidFill>
                <a:latin typeface="楷体" panose="02010609060101010101" charset="-122"/>
                <a:ea typeface="楷体" panose="02010609060101010101" charset="-122"/>
              </a:rPr>
              <a:t>第一代数据库系统</a:t>
            </a:r>
          </a:p>
        </p:txBody>
      </p:sp>
      <p:sp>
        <p:nvSpPr>
          <p:cNvPr id="7" name="灯片编号占位符 6"/>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94</a:t>
            </a:fld>
            <a:endParaRPr lang="zh-CN" altLang="en-US" strike="noStrike" noProof="1"/>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26"/>
          <p:cNvSpPr>
            <a:spLocks noGrp="1" noChangeArrowheads="1"/>
          </p:cNvSpPr>
          <p:nvPr>
            <p:ph type="title"/>
          </p:nvPr>
        </p:nvSpPr>
        <p:spPr/>
        <p:txBody>
          <a:bodyPr/>
          <a:lstStyle/>
          <a:p>
            <a:r>
              <a:rPr lang="en-US" altLang="zh-CN"/>
              <a:t>1.2.7  </a:t>
            </a:r>
            <a:r>
              <a:rPr lang="zh-CN" altLang="en-US"/>
              <a:t>关系模型</a:t>
            </a:r>
            <a:r>
              <a:rPr lang="en-US" altLang="zh-CN"/>
              <a:t> - </a:t>
            </a:r>
            <a:r>
              <a:rPr lang="zh-CN" altLang="en-US"/>
              <a:t>数据结构</a:t>
            </a:r>
          </a:p>
        </p:txBody>
      </p:sp>
      <p:sp>
        <p:nvSpPr>
          <p:cNvPr id="98307" name="Rectangle 1027"/>
          <p:cNvSpPr>
            <a:spLocks noGrp="1" noChangeArrowheads="1"/>
          </p:cNvSpPr>
          <p:nvPr>
            <p:ph idx="1"/>
          </p:nvPr>
        </p:nvSpPr>
        <p:spPr>
          <a:xfrm>
            <a:off x="424180" y="687070"/>
            <a:ext cx="11343005" cy="1106805"/>
          </a:xfrm>
        </p:spPr>
        <p:txBody>
          <a:bodyPr>
            <a:noAutofit/>
          </a:bodyPr>
          <a:lstStyle/>
          <a:p>
            <a:r>
              <a:rPr lang="zh-CN" altLang="en-US" dirty="0"/>
              <a:t>在用户观点下，关系模型中数据的逻辑结构是一张二维表，它由行和列组成。</a:t>
            </a:r>
          </a:p>
        </p:txBody>
      </p:sp>
      <p:graphicFrame>
        <p:nvGraphicFramePr>
          <p:cNvPr id="18" name="Group 1284"/>
          <p:cNvGraphicFramePr/>
          <p:nvPr>
            <p:custDataLst>
              <p:tags r:id="rId1"/>
            </p:custDataLst>
          </p:nvPr>
        </p:nvGraphicFramePr>
        <p:xfrm>
          <a:off x="964565" y="2627630"/>
          <a:ext cx="10410190" cy="2999105"/>
        </p:xfrm>
        <a:graphic>
          <a:graphicData uri="http://schemas.openxmlformats.org/drawingml/2006/table">
            <a:tbl>
              <a:tblPr/>
              <a:tblGrid>
                <a:gridCol w="173609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736725">
                  <a:extLst>
                    <a:ext uri="{9D8B030D-6E8A-4147-A177-3AD203B41FA5}">
                      <a16:colId xmlns:a16="http://schemas.microsoft.com/office/drawing/2014/main" val="20002"/>
                    </a:ext>
                  </a:extLst>
                </a:gridCol>
                <a:gridCol w="1734185">
                  <a:extLst>
                    <a:ext uri="{9D8B030D-6E8A-4147-A177-3AD203B41FA5}">
                      <a16:colId xmlns:a16="http://schemas.microsoft.com/office/drawing/2014/main" val="20003"/>
                    </a:ext>
                  </a:extLst>
                </a:gridCol>
                <a:gridCol w="1736090">
                  <a:extLst>
                    <a:ext uri="{9D8B030D-6E8A-4147-A177-3AD203B41FA5}">
                      <a16:colId xmlns:a16="http://schemas.microsoft.com/office/drawing/2014/main" val="20004"/>
                    </a:ext>
                  </a:extLst>
                </a:gridCol>
                <a:gridCol w="1733550">
                  <a:extLst>
                    <a:ext uri="{9D8B030D-6E8A-4147-A177-3AD203B41FA5}">
                      <a16:colId xmlns:a16="http://schemas.microsoft.com/office/drawing/2014/main" val="20005"/>
                    </a:ext>
                  </a:extLst>
                </a:gridCol>
              </a:tblGrid>
              <a:tr h="51816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学  号</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姓  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年  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性  别</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系  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年  级</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4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2013004</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王小明</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19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社会学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extLst>
                  <a:ext uri="{0D108BD9-81ED-4DB2-BD59-A6C34878D82A}">
                    <a16:rowId xmlns:a16="http://schemas.microsoft.com/office/drawing/2014/main" val="10001"/>
                  </a:ext>
                </a:extLst>
              </a:tr>
              <a:tr h="6546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2013006</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黄大鹏</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20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商品学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4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2013008</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张文斌</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18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法律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6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 name="AutoShape 1285"/>
          <p:cNvSpPr>
            <a:spLocks noChangeArrowheads="1"/>
          </p:cNvSpPr>
          <p:nvPr/>
        </p:nvSpPr>
        <p:spPr bwMode="auto">
          <a:xfrm>
            <a:off x="3299763" y="1512312"/>
            <a:ext cx="914400" cy="609600"/>
          </a:xfrm>
          <a:prstGeom prst="wedgeRectCallout">
            <a:avLst>
              <a:gd name="adj1" fmla="val -148611"/>
              <a:gd name="adj2" fmla="val 126301"/>
            </a:avLst>
          </a:prstGeom>
          <a:gradFill rotWithShape="0">
            <a:gsLst>
              <a:gs pos="0">
                <a:srgbClr val="FFFFFF"/>
              </a:gs>
              <a:gs pos="100000">
                <a:srgbClr val="BBBBBB"/>
              </a:gs>
            </a:gsLst>
            <a:lin ang="5400000" scaled="1"/>
          </a:gradFill>
          <a:ln w="25400" algn="ctr">
            <a:solidFill>
              <a:schemeClr val="tx1"/>
            </a:solidFill>
            <a:miter lim="800000"/>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属性</a:t>
            </a:r>
          </a:p>
        </p:txBody>
      </p:sp>
      <p:sp>
        <p:nvSpPr>
          <p:cNvPr id="20" name="AutoShape 1286"/>
          <p:cNvSpPr>
            <a:spLocks noChangeArrowheads="1"/>
          </p:cNvSpPr>
          <p:nvPr/>
        </p:nvSpPr>
        <p:spPr bwMode="auto">
          <a:xfrm>
            <a:off x="10460340" y="1622802"/>
            <a:ext cx="914400" cy="609600"/>
          </a:xfrm>
          <a:prstGeom prst="wedgeRectCallout">
            <a:avLst>
              <a:gd name="adj1" fmla="val -70315"/>
              <a:gd name="adj2" fmla="val 204426"/>
            </a:avLst>
          </a:prstGeom>
          <a:gradFill rotWithShape="0">
            <a:gsLst>
              <a:gs pos="0">
                <a:srgbClr val="FFFFFF"/>
              </a:gs>
              <a:gs pos="100000">
                <a:srgbClr val="BBBBBB"/>
              </a:gs>
            </a:gsLst>
            <a:lin ang="5400000" scaled="1"/>
          </a:gradFill>
          <a:ln w="25400" algn="ctr">
            <a:solidFill>
              <a:schemeClr val="tx1"/>
            </a:solidFill>
            <a:miter lim="800000"/>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元组</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95</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
        <p:nvSpPr>
          <p:cNvPr id="4" name="Rectangle 1027"/>
          <p:cNvSpPr>
            <a:spLocks noGrp="1" noChangeArrowheads="1"/>
          </p:cNvSpPr>
          <p:nvPr/>
        </p:nvSpPr>
        <p:spPr>
          <a:xfrm>
            <a:off x="424180" y="5626735"/>
            <a:ext cx="11343005" cy="11068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Calibri" panose="020F0502020204030204" charset="0"/>
                <a:cs typeface="Calibri" panose="020F0502020204030204" charset="0"/>
              </a:rPr>
              <a:t>在关系模型中，符合特定约束条件的二维表被称为</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关系</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，表中的行和列被称为</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元组</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和</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属性</a:t>
            </a:r>
            <a:r>
              <a:rPr lang="en-US" altLang="zh-CN" dirty="0">
                <a:latin typeface="Calibri" panose="020F0502020204030204" charset="0"/>
                <a:cs typeface="Calibri" panose="020F0502020204030204" charset="0"/>
              </a:rPr>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26"/>
          <p:cNvSpPr>
            <a:spLocks noGrp="1" noChangeArrowheads="1"/>
          </p:cNvSpPr>
          <p:nvPr>
            <p:ph type="title"/>
          </p:nvPr>
        </p:nvSpPr>
        <p:spPr/>
        <p:txBody>
          <a:bodyPr/>
          <a:lstStyle/>
          <a:p>
            <a:r>
              <a:rPr lang="en-US" altLang="zh-CN">
                <a:sym typeface="+mn-ea"/>
              </a:rPr>
              <a:t>1.2.7  </a:t>
            </a:r>
            <a:r>
              <a:rPr lang="zh-CN" altLang="en-US">
                <a:sym typeface="+mn-ea"/>
              </a:rPr>
              <a:t>关系模型</a:t>
            </a:r>
            <a:r>
              <a:rPr lang="en-US" altLang="zh-CN">
                <a:sym typeface="+mn-ea"/>
              </a:rPr>
              <a:t> - </a:t>
            </a:r>
            <a:r>
              <a:rPr lang="zh-CN" altLang="en-US">
                <a:sym typeface="+mn-ea"/>
              </a:rPr>
              <a:t>基本概念</a:t>
            </a:r>
          </a:p>
        </p:txBody>
      </p:sp>
      <p:sp>
        <p:nvSpPr>
          <p:cNvPr id="99331" name="Rectangle 1027"/>
          <p:cNvSpPr>
            <a:spLocks noGrp="1" noChangeArrowheads="1"/>
          </p:cNvSpPr>
          <p:nvPr>
            <p:ph idx="1"/>
          </p:nvPr>
        </p:nvSpPr>
        <p:spPr/>
        <p:txBody>
          <a:bodyPr>
            <a:noAutofit/>
          </a:bodyPr>
          <a:lstStyle/>
          <a:p>
            <a:pPr lvl="0">
              <a:lnSpc>
                <a:spcPct val="100000"/>
              </a:lnSpc>
              <a:spcBef>
                <a:spcPts val="0"/>
              </a:spcBef>
            </a:pPr>
            <a:r>
              <a:rPr lang="zh-CN" altLang="en-US" sz="2800" dirty="0">
                <a:solidFill>
                  <a:srgbClr val="FF0000"/>
                </a:solidFill>
                <a:latin typeface="Calibri" panose="020F0502020204030204" charset="0"/>
                <a:cs typeface="Calibri" panose="020F0502020204030204" charset="0"/>
              </a:rPr>
              <a:t>关系</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Relation)</a:t>
            </a:r>
            <a:r>
              <a:rPr lang="zh-CN" altLang="en-US" sz="2800" dirty="0">
                <a:latin typeface="Calibri" panose="020F0502020204030204" charset="0"/>
                <a:cs typeface="Calibri" panose="020F0502020204030204" charset="0"/>
              </a:rPr>
              <a:t>：一个关系对应通常说的一张</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表</a:t>
            </a:r>
            <a:r>
              <a:rPr lang="en-US" altLang="zh-CN" sz="2800" dirty="0">
                <a:latin typeface="Calibri" panose="020F0502020204030204" charset="0"/>
                <a:cs typeface="Calibri" panose="020F0502020204030204" charset="0"/>
              </a:rPr>
              <a:t>’(table)</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元组</a:t>
            </a:r>
            <a:r>
              <a:rPr lang="en-US" altLang="zh-CN" sz="2800" dirty="0">
                <a:latin typeface="Calibri" panose="020F0502020204030204" charset="0"/>
                <a:cs typeface="Calibri" panose="020F0502020204030204" charset="0"/>
              </a:rPr>
              <a:t>(Tuple</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：表中的一行即为一个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元组</a:t>
            </a:r>
            <a:r>
              <a:rPr lang="en-US" altLang="zh-CN"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属性</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Attribute</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：表中的一列即为一个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，给每一个属性起一个名称即</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属性名</a:t>
            </a:r>
            <a:r>
              <a:rPr lang="en-US" altLang="zh-CN" sz="2800" dirty="0">
                <a:latin typeface="Calibri" panose="020F0502020204030204" charset="0"/>
                <a:cs typeface="Calibri" panose="020F0502020204030204" charset="0"/>
              </a:rPr>
              <a:t>’</a:t>
            </a: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主码</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Key</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：也称</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键</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。表中的某个属性组，它可以唯一确定表中的一个元组</a:t>
            </a:r>
            <a:endParaRPr lang="en-US" altLang="zh-CN"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域</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Domain</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：是一组具有相同数据类型的值的集合。属性的取值范围来自某个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域</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a:t>
            </a: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分量</a:t>
            </a:r>
            <a:r>
              <a:rPr lang="zh-CN" altLang="en-US" sz="2800" dirty="0">
                <a:latin typeface="Calibri" panose="020F0502020204030204" charset="0"/>
                <a:cs typeface="Calibri" panose="020F0502020204030204" charset="0"/>
              </a:rPr>
              <a:t>：元组中的一个属性值。</a:t>
            </a: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关系模式</a:t>
            </a:r>
            <a:r>
              <a:rPr lang="zh-CN" altLang="en-US" sz="2800" dirty="0">
                <a:solidFill>
                  <a:srgbClr val="1F2DA8"/>
                </a:solidFill>
                <a:latin typeface="Calibri" panose="020F0502020204030204" charset="0"/>
                <a:cs typeface="Calibri" panose="020F0502020204030204" charset="0"/>
              </a:rPr>
              <a:t>：由关系的</a:t>
            </a:r>
            <a:r>
              <a:rPr lang="zh-CN" altLang="en-US" sz="2800" dirty="0">
                <a:solidFill>
                  <a:srgbClr val="C00000"/>
                </a:solidFill>
                <a:latin typeface="Calibri" panose="020F0502020204030204" charset="0"/>
                <a:cs typeface="Calibri" panose="020F0502020204030204" charset="0"/>
              </a:rPr>
              <a:t>关系名</a:t>
            </a:r>
            <a:r>
              <a:rPr lang="zh-CN" altLang="en-US" sz="2800" dirty="0">
                <a:solidFill>
                  <a:srgbClr val="1F2DA8"/>
                </a:solidFill>
                <a:latin typeface="Calibri" panose="020F0502020204030204" charset="0"/>
                <a:cs typeface="Calibri" panose="020F0502020204030204" charset="0"/>
              </a:rPr>
              <a:t>及其</a:t>
            </a:r>
            <a:r>
              <a:rPr lang="zh-CN" altLang="en-US" sz="2800" dirty="0">
                <a:solidFill>
                  <a:srgbClr val="C00000"/>
                </a:solidFill>
                <a:latin typeface="Calibri" panose="020F0502020204030204" charset="0"/>
                <a:cs typeface="Calibri" panose="020F0502020204030204" charset="0"/>
              </a:rPr>
              <a:t>所有属性的属性名</a:t>
            </a:r>
            <a:r>
              <a:rPr lang="zh-CN" altLang="en-US" sz="2800" dirty="0">
                <a:solidFill>
                  <a:srgbClr val="1F2DA8"/>
                </a:solidFill>
                <a:latin typeface="Calibri" panose="020F0502020204030204" charset="0"/>
                <a:cs typeface="Calibri" panose="020F0502020204030204" charset="0"/>
              </a:rPr>
              <a:t>构成</a:t>
            </a:r>
            <a:r>
              <a:rPr lang="en-US" altLang="zh-CN" sz="2800" dirty="0">
                <a:solidFill>
                  <a:srgbClr val="1F2DA8"/>
                </a:solidFill>
                <a:latin typeface="Calibri" panose="020F0502020204030204" charset="0"/>
                <a:cs typeface="Calibri" panose="020F0502020204030204" charset="0"/>
              </a:rPr>
              <a:t>‘</a:t>
            </a:r>
            <a:r>
              <a:rPr lang="zh-CN" altLang="en-US" sz="2800" dirty="0">
                <a:solidFill>
                  <a:srgbClr val="1F2DA8"/>
                </a:solidFill>
                <a:latin typeface="Calibri" panose="020F0502020204030204" charset="0"/>
                <a:cs typeface="Calibri" panose="020F0502020204030204" charset="0"/>
              </a:rPr>
              <a:t>关系模式</a:t>
            </a:r>
            <a:r>
              <a:rPr lang="en-US" altLang="zh-CN" sz="2800" dirty="0">
                <a:solidFill>
                  <a:srgbClr val="1F2DA8"/>
                </a:solidFill>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lvl="1">
              <a:lnSpc>
                <a:spcPct val="100000"/>
              </a:lnSpc>
              <a:spcBef>
                <a:spcPts val="0"/>
              </a:spcBef>
            </a:pPr>
            <a:r>
              <a:rPr lang="zh-CN" altLang="en-US" sz="2800" dirty="0">
                <a:latin typeface="Calibri" panose="020F0502020204030204" charset="0"/>
                <a:cs typeface="Calibri" panose="020F0502020204030204" charset="0"/>
              </a:rPr>
              <a:t>关系模式是对关系的描述：关系名</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1, </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2, …, </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n)</a:t>
            </a:r>
            <a:endParaRPr lang="zh-CN" altLang="en-US" sz="2800" dirty="0">
              <a:latin typeface="Calibri" panose="020F0502020204030204" charset="0"/>
              <a:cs typeface="Calibri" panose="020F0502020204030204" charset="0"/>
            </a:endParaRPr>
          </a:p>
          <a:p>
            <a:pPr lvl="1">
              <a:lnSpc>
                <a:spcPct val="100000"/>
              </a:lnSpc>
              <a:spcBef>
                <a:spcPts val="0"/>
              </a:spcBef>
            </a:pPr>
            <a:r>
              <a:rPr lang="zh-CN" altLang="en-US" sz="2800" dirty="0">
                <a:latin typeface="Calibri" panose="020F0502020204030204" charset="0"/>
                <a:cs typeface="Calibri" panose="020F0502020204030204" charset="0"/>
              </a:rPr>
              <a:t>例：学生</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学号</a:t>
            </a: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姓名</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年龄</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性别</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系名</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年级</a:t>
            </a:r>
            <a:r>
              <a:rPr lang="en-US" altLang="zh-CN" sz="2800" dirty="0">
                <a:latin typeface="Calibri" panose="020F0502020204030204" charset="0"/>
                <a:cs typeface="Calibri" panose="020F0502020204030204" charset="0"/>
              </a:rPr>
              <a:t>)</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96</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Rectangle 2"/>
          <p:cNvSpPr>
            <a:spLocks noGrp="1" noChangeArrowheads="1"/>
          </p:cNvSpPr>
          <p:nvPr>
            <p:ph type="title"/>
          </p:nvPr>
        </p:nvSpPr>
        <p:spPr/>
        <p:txBody>
          <a:bodyPr/>
          <a:lstStyle/>
          <a:p>
            <a:r>
              <a:rPr lang="en-US" altLang="zh-CN">
                <a:sym typeface="+mn-ea"/>
              </a:rPr>
              <a:t>1.2.7  </a:t>
            </a:r>
            <a:r>
              <a:rPr lang="zh-CN" altLang="en-US">
                <a:sym typeface="+mn-ea"/>
              </a:rPr>
              <a:t>关系模型</a:t>
            </a:r>
            <a:r>
              <a:rPr lang="en-US" altLang="zh-CN">
                <a:sym typeface="+mn-ea"/>
              </a:rPr>
              <a:t> - </a:t>
            </a:r>
            <a:r>
              <a:rPr lang="zh-CN" altLang="en-US">
                <a:sym typeface="+mn-ea"/>
              </a:rPr>
              <a:t>模型的规范化</a:t>
            </a:r>
          </a:p>
        </p:txBody>
      </p:sp>
      <p:sp>
        <p:nvSpPr>
          <p:cNvPr id="2060" name="Rectangle 3"/>
          <p:cNvSpPr>
            <a:spLocks noGrp="1" noChangeArrowheads="1"/>
          </p:cNvSpPr>
          <p:nvPr>
            <p:ph idx="1"/>
          </p:nvPr>
        </p:nvSpPr>
        <p:spPr/>
        <p:txBody>
          <a:bodyPr>
            <a:normAutofit/>
          </a:bodyPr>
          <a:lstStyle/>
          <a:p>
            <a:r>
              <a:rPr lang="zh-CN" altLang="en-US" dirty="0"/>
              <a:t>关系必须是规范化的，满足一定的规范条件</a:t>
            </a:r>
            <a:endParaRPr lang="en-US" altLang="zh-CN" dirty="0"/>
          </a:p>
          <a:p>
            <a:pPr lvl="1"/>
            <a:r>
              <a:rPr lang="zh-CN" altLang="en-US" dirty="0"/>
              <a:t>最基本的规范条件：关系的每一个分量必须是一个不可分的数据项</a:t>
            </a:r>
            <a:r>
              <a:rPr lang="en-US" altLang="zh-CN" dirty="0"/>
              <a:t>, </a:t>
            </a:r>
            <a:r>
              <a:rPr lang="zh-CN" altLang="en-US" dirty="0"/>
              <a:t>不允许表中还有表</a:t>
            </a:r>
          </a:p>
          <a:p>
            <a:pPr lvl="1"/>
            <a:endParaRPr lang="zh-CN" altLang="en-US" dirty="0"/>
          </a:p>
          <a:p>
            <a:pPr lvl="0"/>
            <a:r>
              <a:rPr lang="zh-CN" altLang="en-US" dirty="0"/>
              <a:t>不符合规范化要求的例子</a:t>
            </a:r>
          </a:p>
        </p:txBody>
      </p:sp>
      <p:pic>
        <p:nvPicPr>
          <p:cNvPr id="2" name="图片 1"/>
          <p:cNvPicPr>
            <a:picLocks noChangeAspect="1"/>
          </p:cNvPicPr>
          <p:nvPr>
            <p:custDataLst>
              <p:tags r:id="rId1"/>
            </p:custDataLst>
          </p:nvPr>
        </p:nvPicPr>
        <p:blipFill>
          <a:blip r:embed="rId3"/>
          <a:stretch>
            <a:fillRect/>
          </a:stretch>
        </p:blipFill>
        <p:spPr>
          <a:xfrm>
            <a:off x="1114425" y="3328035"/>
            <a:ext cx="10119995" cy="2564130"/>
          </a:xfrm>
          <a:prstGeom prst="rect">
            <a:avLst/>
          </a:prstGeom>
        </p:spPr>
      </p:pic>
      <p:sp>
        <p:nvSpPr>
          <p:cNvPr id="3" name="灯片编号占位符 2"/>
          <p:cNvSpPr>
            <a:spLocks noGrp="1"/>
          </p:cNvSpPr>
          <p:nvPr>
            <p:ph type="sldNum" sz="quarter" idx="12"/>
          </p:nvPr>
        </p:nvSpPr>
        <p:spPr/>
        <p:txBody>
          <a:bodyPr/>
          <a:lstStyle/>
          <a:p>
            <a:fld id="{565CE74E-AB26-4998-AD42-012C4C1AD076}" type="slidenum">
              <a:rPr lang="zh-CN" altLang="en-US" smtClean="0"/>
              <a:t>97</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zh-CN" altLang="en-US" dirty="0"/>
              <a:t>关系模型的操作与完整性约束</a:t>
            </a:r>
          </a:p>
        </p:txBody>
      </p:sp>
      <p:sp>
        <p:nvSpPr>
          <p:cNvPr id="102403" name="Rectangle 3"/>
          <p:cNvSpPr>
            <a:spLocks noGrp="1" noChangeArrowheads="1"/>
          </p:cNvSpPr>
          <p:nvPr>
            <p:ph idx="1"/>
          </p:nvPr>
        </p:nvSpPr>
        <p:spPr/>
        <p:txBody>
          <a:bodyPr>
            <a:normAutofit/>
          </a:bodyPr>
          <a:lstStyle/>
          <a:p>
            <a:r>
              <a:rPr lang="zh-CN" altLang="en-US" dirty="0"/>
              <a:t>数据操作（查询、插入、删除、更新）是集合操作，操作对象和操作结果都是关系</a:t>
            </a:r>
          </a:p>
          <a:p>
            <a:pPr>
              <a:lnSpc>
                <a:spcPct val="110000"/>
              </a:lnSpc>
              <a:spcBef>
                <a:spcPts val="3000"/>
              </a:spcBef>
            </a:pPr>
            <a:r>
              <a:rPr lang="zh-CN" altLang="en-US" dirty="0"/>
              <a:t>存取路径对用户隐蔽，用户只要指出“干什么”，不必详细说明“怎么干”</a:t>
            </a:r>
            <a:endParaRPr lang="en-US" altLang="zh-CN" dirty="0"/>
          </a:p>
          <a:p>
            <a:pPr algn="just" eaLnBrk="1" hangingPunct="1">
              <a:lnSpc>
                <a:spcPct val="190000"/>
              </a:lnSpc>
            </a:pPr>
            <a:r>
              <a:rPr lang="zh-CN" altLang="en-US" dirty="0"/>
              <a:t>关系的完整性约束条件 </a:t>
            </a:r>
          </a:p>
          <a:p>
            <a:pPr lvl="1" algn="just" eaLnBrk="1" hangingPunct="1">
              <a:lnSpc>
                <a:spcPct val="120000"/>
              </a:lnSpc>
            </a:pPr>
            <a:r>
              <a:rPr lang="zh-CN" altLang="en-US" dirty="0"/>
              <a:t>实体完整性</a:t>
            </a:r>
          </a:p>
          <a:p>
            <a:pPr lvl="1" algn="just" eaLnBrk="1" hangingPunct="1">
              <a:lnSpc>
                <a:spcPct val="120000"/>
              </a:lnSpc>
            </a:pPr>
            <a:r>
              <a:rPr lang="zh-CN" altLang="en-US" dirty="0"/>
              <a:t>参照完整性</a:t>
            </a:r>
          </a:p>
          <a:p>
            <a:pPr lvl="1" algn="just" eaLnBrk="1" hangingPunct="1">
              <a:lnSpc>
                <a:spcPct val="120000"/>
              </a:lnSpc>
            </a:pPr>
            <a:r>
              <a:rPr lang="zh-CN" altLang="en-US" dirty="0"/>
              <a:t>用户定义的完整性</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98</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kern="0">
                <a:sym typeface="+mn-ea"/>
              </a:rPr>
              <a:t>关系模型的优缺点</a:t>
            </a:r>
            <a:endParaRPr lang="zh-CN" altLang="en-US"/>
          </a:p>
        </p:txBody>
      </p:sp>
      <p:sp>
        <p:nvSpPr>
          <p:cNvPr id="2" name="文本占位符 1"/>
          <p:cNvSpPr>
            <a:spLocks noGrp="1"/>
          </p:cNvSpPr>
          <p:nvPr>
            <p:ph type="body" idx="1"/>
          </p:nvPr>
        </p:nvSpPr>
        <p:spPr>
          <a:solidFill>
            <a:schemeClr val="accent3">
              <a:lumMod val="20000"/>
              <a:lumOff val="80000"/>
              <a:alpha val="50000"/>
            </a:schemeClr>
          </a:solidFill>
        </p:spPr>
        <p:txBody>
          <a:bodyPr/>
          <a:lstStyle/>
          <a:p>
            <a:r>
              <a:rPr lang="zh-CN" altLang="en-US" dirty="0"/>
              <a:t>优点</a:t>
            </a:r>
          </a:p>
        </p:txBody>
      </p:sp>
      <p:sp>
        <p:nvSpPr>
          <p:cNvPr id="3" name="内容占位符 2"/>
          <p:cNvSpPr>
            <a:spLocks noGrp="1"/>
          </p:cNvSpPr>
          <p:nvPr>
            <p:ph sz="half" idx="2"/>
          </p:nvPr>
        </p:nvSpPr>
        <p:spPr>
          <a:ln>
            <a:solidFill>
              <a:schemeClr val="accent1"/>
            </a:solidFill>
          </a:ln>
        </p:spPr>
        <p:txBody>
          <a:bodyPr>
            <a:normAutofit/>
          </a:bodyPr>
          <a:lstStyle/>
          <a:p>
            <a:r>
              <a:rPr lang="zh-CN" altLang="en-US" dirty="0"/>
              <a:t>建立在严格的数学概念的基础上</a:t>
            </a:r>
          </a:p>
          <a:p>
            <a:r>
              <a:rPr lang="zh-CN" altLang="en-US" dirty="0"/>
              <a:t>概念单一</a:t>
            </a:r>
          </a:p>
          <a:p>
            <a:pPr lvl="1"/>
            <a:r>
              <a:rPr lang="zh-CN" altLang="en-US" dirty="0"/>
              <a:t>实体和各类联系都用关系来表示</a:t>
            </a:r>
          </a:p>
          <a:p>
            <a:pPr lvl="1"/>
            <a:r>
              <a:rPr lang="zh-CN" altLang="en-US" dirty="0"/>
              <a:t>对数据的检索结果也是关系</a:t>
            </a:r>
          </a:p>
          <a:p>
            <a:r>
              <a:rPr lang="zh-CN" altLang="en-US" dirty="0"/>
              <a:t>关系模型的存取路径对用户透明</a:t>
            </a:r>
          </a:p>
          <a:p>
            <a:pPr lvl="1"/>
            <a:r>
              <a:rPr lang="zh-CN" altLang="en-US" dirty="0"/>
              <a:t>具有更高的数据独立性，更好的安全保密性</a:t>
            </a:r>
          </a:p>
          <a:p>
            <a:pPr lvl="1"/>
            <a:r>
              <a:rPr lang="zh-CN" altLang="en-US" dirty="0"/>
              <a:t>简化了程序员的工作和数据库开发建立的工作</a:t>
            </a:r>
          </a:p>
        </p:txBody>
      </p:sp>
      <p:sp>
        <p:nvSpPr>
          <p:cNvPr id="4" name="文本占位符 3"/>
          <p:cNvSpPr>
            <a:spLocks noGrp="1"/>
          </p:cNvSpPr>
          <p:nvPr>
            <p:ph type="body" sz="quarter" idx="3"/>
          </p:nvPr>
        </p:nvSpPr>
        <p:spPr>
          <a:solidFill>
            <a:schemeClr val="accent3">
              <a:lumMod val="20000"/>
              <a:lumOff val="80000"/>
              <a:alpha val="50000"/>
            </a:schemeClr>
          </a:solidFill>
        </p:spPr>
        <p:txBody>
          <a:bodyPr/>
          <a:lstStyle/>
          <a:p>
            <a:r>
              <a:rPr lang="zh-CN" altLang="en-US" dirty="0"/>
              <a:t>缺点</a:t>
            </a:r>
          </a:p>
        </p:txBody>
      </p:sp>
      <p:sp>
        <p:nvSpPr>
          <p:cNvPr id="5" name="内容占位符 4"/>
          <p:cNvSpPr>
            <a:spLocks noGrp="1"/>
          </p:cNvSpPr>
          <p:nvPr>
            <p:ph sz="quarter" idx="4"/>
          </p:nvPr>
        </p:nvSpPr>
        <p:spPr>
          <a:ln>
            <a:solidFill>
              <a:schemeClr val="accent1"/>
            </a:solidFill>
          </a:ln>
        </p:spPr>
        <p:txBody>
          <a:bodyPr/>
          <a:lstStyle/>
          <a:p>
            <a:pPr>
              <a:lnSpc>
                <a:spcPct val="110000"/>
              </a:lnSpc>
            </a:pPr>
            <a:r>
              <a:rPr lang="zh-CN" altLang="en-US" sz="2800" dirty="0"/>
              <a:t>存取路径对用户透明，查询效率往往不如格式化数据模型</a:t>
            </a:r>
          </a:p>
          <a:p>
            <a:pPr>
              <a:lnSpc>
                <a:spcPct val="110000"/>
              </a:lnSpc>
            </a:pPr>
            <a:r>
              <a:rPr lang="zh-CN" altLang="en-US" sz="2800" dirty="0"/>
              <a:t>为提高性能，必须对用户的查询请求进行优化，增加了开发</a:t>
            </a:r>
            <a:r>
              <a:rPr lang="en-US" altLang="zh-CN" sz="2800" dirty="0"/>
              <a:t>DBMS</a:t>
            </a:r>
            <a:r>
              <a:rPr lang="zh-CN" altLang="en-US" sz="2800" dirty="0"/>
              <a:t>的难度</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99</a:t>
            </a:fld>
            <a:endParaRPr lang="zh-CN" altLang="en-US"/>
          </a:p>
        </p:txBody>
      </p:sp>
      <p:sp>
        <p:nvSpPr>
          <p:cNvPr id="8" name="页脚占位符 7"/>
          <p:cNvSpPr>
            <a:spLocks noGrp="1"/>
          </p:cNvSpPr>
          <p:nvPr>
            <p:ph type="ftr" sz="quarter" idx="11"/>
          </p:nvPr>
        </p:nvSpPr>
        <p:spPr/>
        <p:txBody>
          <a:bodyPr/>
          <a:lstStyle/>
          <a:p>
            <a:r>
              <a:rPr lang="zh-CN" altLang="en-US"/>
              <a:t>ch01_绪论</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wrap="square" tIns="0" bIns="0" anchor="ctr"/>
          <a:lstStyle/>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p>
        </p:txBody>
      </p:sp>
      <p:sp>
        <p:nvSpPr>
          <p:cNvPr id="5124" name="Rectangle 3"/>
          <p:cNvSpPr>
            <a:spLocks noGrp="1"/>
          </p:cNvSpPr>
          <p:nvPr>
            <p:ph idx="1"/>
          </p:nvPr>
        </p:nvSpPr>
        <p:spPr/>
        <p:txBody>
          <a:bodyPr wrap="square" anchor="t"/>
          <a:lstStyle/>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2" action="ppaction://hlinksldjump"/>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100</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lstStyle/>
          <a:p>
            <a:r>
              <a:rPr lang="en-US" altLang="zh-CN" dirty="0"/>
              <a:t>1.3  </a:t>
            </a:r>
            <a:r>
              <a:rPr lang="zh-CN" altLang="zh-CN" dirty="0"/>
              <a:t>数据库系统</a:t>
            </a:r>
            <a:r>
              <a:rPr lang="zh-CN" altLang="en-US" dirty="0"/>
              <a:t>的</a:t>
            </a:r>
            <a:r>
              <a:rPr lang="zh-CN" altLang="zh-CN" dirty="0"/>
              <a:t>结构</a:t>
            </a:r>
            <a:endParaRPr lang="zh-CN" altLang="en-US" dirty="0"/>
          </a:p>
        </p:txBody>
      </p:sp>
      <p:sp>
        <p:nvSpPr>
          <p:cNvPr id="107523" name="Rectangle 1027"/>
          <p:cNvSpPr>
            <a:spLocks noGrp="1" noChangeArrowheads="1"/>
          </p:cNvSpPr>
          <p:nvPr>
            <p:ph idx="1"/>
          </p:nvPr>
        </p:nvSpPr>
        <p:spPr/>
        <p:txBody>
          <a:bodyPr>
            <a:normAutofit/>
          </a:bodyPr>
          <a:lstStyle/>
          <a:p>
            <a:r>
              <a:rPr lang="zh-CN" altLang="en-US" dirty="0"/>
              <a:t>从数据库应用开发人员角度看</a:t>
            </a:r>
            <a:endParaRPr lang="en-US" altLang="zh-CN" dirty="0"/>
          </a:p>
          <a:p>
            <a:pPr lvl="1"/>
            <a:r>
              <a:rPr lang="zh-CN" altLang="en-US" dirty="0"/>
              <a:t>数据库系统通常采用三级模式结构，是数据库系统内部的系统结构</a:t>
            </a:r>
          </a:p>
          <a:p>
            <a:pPr lvl="1"/>
            <a:endParaRPr lang="zh-CN" altLang="en-US" dirty="0"/>
          </a:p>
          <a:p>
            <a:r>
              <a:rPr lang="zh-CN" altLang="en-US" dirty="0"/>
              <a:t> 从数据库最终用户角度看，数据库系统的结构分为</a:t>
            </a:r>
            <a:r>
              <a:rPr lang="en-US" altLang="zh-CN" dirty="0"/>
              <a:t>:</a:t>
            </a:r>
          </a:p>
          <a:p>
            <a:pPr lvl="1">
              <a:lnSpc>
                <a:spcPct val="110000"/>
              </a:lnSpc>
              <a:spcBef>
                <a:spcPts val="1000"/>
              </a:spcBef>
            </a:pPr>
            <a:r>
              <a:rPr lang="zh-CN" altLang="en-US" dirty="0"/>
              <a:t>单用户结构</a:t>
            </a:r>
          </a:p>
          <a:p>
            <a:pPr lvl="1">
              <a:lnSpc>
                <a:spcPct val="110000"/>
              </a:lnSpc>
              <a:spcBef>
                <a:spcPts val="1000"/>
              </a:spcBef>
            </a:pPr>
            <a:r>
              <a:rPr lang="zh-CN" altLang="en-US" dirty="0"/>
              <a:t>主从式结构</a:t>
            </a:r>
          </a:p>
          <a:p>
            <a:pPr lvl="1">
              <a:lnSpc>
                <a:spcPct val="110000"/>
              </a:lnSpc>
              <a:spcBef>
                <a:spcPts val="1000"/>
              </a:spcBef>
            </a:pPr>
            <a:r>
              <a:rPr lang="zh-CN" altLang="en-US" dirty="0">
                <a:solidFill>
                  <a:srgbClr val="FF0000"/>
                </a:solidFill>
              </a:rPr>
              <a:t>分布式结构</a:t>
            </a:r>
          </a:p>
          <a:p>
            <a:pPr lvl="1">
              <a:lnSpc>
                <a:spcPct val="110000"/>
              </a:lnSpc>
              <a:spcBef>
                <a:spcPts val="1000"/>
              </a:spcBef>
            </a:pP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p>
          <a:p>
            <a:pPr lvl="1">
              <a:lnSpc>
                <a:spcPct val="110000"/>
              </a:lnSpc>
              <a:spcBef>
                <a:spcPts val="1000"/>
              </a:spcBef>
            </a:pPr>
            <a:r>
              <a:rPr lang="zh-CN" altLang="en-US" dirty="0">
                <a:solidFill>
                  <a:srgbClr val="FF0000"/>
                </a:solidFill>
              </a:rPr>
              <a:t>浏览器</a:t>
            </a:r>
            <a:r>
              <a:rPr lang="en-US" altLang="zh-CN" dirty="0">
                <a:solidFill>
                  <a:srgbClr val="FF0000"/>
                </a:solidFill>
              </a:rPr>
              <a:t>-</a:t>
            </a:r>
            <a:r>
              <a:rPr lang="zh-CN" altLang="en-US" dirty="0">
                <a:solidFill>
                  <a:srgbClr val="FF0000"/>
                </a:solidFill>
              </a:rPr>
              <a:t>应用服务器／数据库服务器多层结构等</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101</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a:t>模式和实例（</a:t>
            </a:r>
            <a:r>
              <a:rPr lang="en-US" altLang="zh-CN" dirty="0"/>
              <a:t>1</a:t>
            </a:r>
            <a:r>
              <a:rPr lang="zh-CN" altLang="en-US" dirty="0"/>
              <a:t>）</a:t>
            </a:r>
          </a:p>
        </p:txBody>
      </p:sp>
      <p:sp>
        <p:nvSpPr>
          <p:cNvPr id="110595" name="Rectangle 3"/>
          <p:cNvSpPr>
            <a:spLocks noGrp="1" noChangeArrowheads="1"/>
          </p:cNvSpPr>
          <p:nvPr>
            <p:ph idx="1"/>
          </p:nvPr>
        </p:nvSpPr>
        <p:spPr/>
        <p:txBody>
          <a:bodyPr>
            <a:normAutofit lnSpcReduction="10000"/>
          </a:bodyPr>
          <a:lstStyle/>
          <a:p>
            <a:r>
              <a:rPr lang="zh-CN" altLang="en-US" dirty="0">
                <a:solidFill>
                  <a:srgbClr val="FF0000"/>
                </a:solidFill>
              </a:rPr>
              <a:t>模式</a:t>
            </a:r>
            <a:r>
              <a:rPr lang="zh-CN" altLang="en-US" dirty="0"/>
              <a:t>（</a:t>
            </a:r>
            <a:r>
              <a:rPr lang="en-US" altLang="zh-CN" dirty="0"/>
              <a:t>Schema</a:t>
            </a:r>
            <a:r>
              <a:rPr lang="zh-CN" altLang="en-US" dirty="0"/>
              <a:t>）</a:t>
            </a:r>
          </a:p>
          <a:p>
            <a:pPr lvl="1"/>
            <a:r>
              <a:rPr lang="zh-CN" altLang="en-US" dirty="0"/>
              <a:t>数据库逻辑结构和特征的描述</a:t>
            </a:r>
          </a:p>
          <a:p>
            <a:pPr lvl="1"/>
            <a:r>
              <a:rPr lang="zh-CN" altLang="en-US" dirty="0"/>
              <a:t>是</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型</a:t>
            </a:r>
            <a:r>
              <a:rPr lang="en-US" altLang="zh-CN" dirty="0">
                <a:solidFill>
                  <a:srgbClr val="1F2DA8"/>
                </a:solidFill>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的描述，不涉及具体</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值</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，反映的</a:t>
            </a:r>
            <a:r>
              <a:rPr lang="zh-CN" altLang="en-US" dirty="0"/>
              <a:t>是数据的结构及其联系</a:t>
            </a:r>
          </a:p>
          <a:p>
            <a:pPr lvl="1"/>
            <a:r>
              <a:rPr lang="zh-CN" altLang="en-US" dirty="0"/>
              <a:t>模式是相对稳定的</a:t>
            </a:r>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r>
              <a:rPr lang="zh-CN" altLang="en-US" dirty="0">
                <a:solidFill>
                  <a:srgbClr val="FF0000"/>
                </a:solidFill>
              </a:rPr>
              <a:t>实例</a:t>
            </a:r>
            <a:r>
              <a:rPr lang="zh-CN" altLang="en-US" dirty="0"/>
              <a:t>（</a:t>
            </a:r>
            <a:r>
              <a:rPr lang="en-US" altLang="zh-CN" dirty="0"/>
              <a:t>Instance</a:t>
            </a:r>
            <a:r>
              <a:rPr lang="zh-CN" altLang="en-US" dirty="0"/>
              <a:t>）</a:t>
            </a:r>
          </a:p>
          <a:p>
            <a:pPr lvl="1"/>
            <a:r>
              <a:rPr lang="zh-CN" altLang="en-US" dirty="0"/>
              <a:t>反映数据库某一时刻的状态，是模式的一个具体值</a:t>
            </a:r>
          </a:p>
          <a:p>
            <a:pPr lvl="1"/>
            <a:r>
              <a:rPr lang="zh-CN" altLang="en-US" dirty="0"/>
              <a:t>同一个模式可以有很多实例</a:t>
            </a:r>
          </a:p>
          <a:p>
            <a:pPr lvl="1"/>
            <a:r>
              <a:rPr lang="zh-CN" altLang="en-US" dirty="0"/>
              <a:t>实例随数据库中的数据的更新而变动</a:t>
            </a:r>
          </a:p>
        </p:txBody>
      </p:sp>
      <p:sp>
        <p:nvSpPr>
          <p:cNvPr id="3" name="文本框 2"/>
          <p:cNvSpPr txBox="1"/>
          <p:nvPr/>
        </p:nvSpPr>
        <p:spPr>
          <a:xfrm>
            <a:off x="423545" y="2720975"/>
            <a:ext cx="11343640" cy="1814830"/>
          </a:xfrm>
          <a:prstGeom prst="rect">
            <a:avLst/>
          </a:prstGeom>
          <a:noFill/>
        </p:spPr>
        <p:txBody>
          <a:bodyPr wrap="square" rtlCol="0">
            <a:spAutoFit/>
          </a:bodyPr>
          <a:lstStyle/>
          <a:p>
            <a:pPr marL="457200" indent="-457200">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cs typeface="楷体" panose="02010609060101010101" charset="-122"/>
              </a:rPr>
              <a:t>例如：</a:t>
            </a:r>
          </a:p>
          <a:p>
            <a:pPr marL="914400" lvl="1" indent="-457200">
              <a:buClr>
                <a:srgbClr val="C00000"/>
              </a:buClr>
              <a:buSzPct val="85000"/>
              <a:buFont typeface="Wingdings" panose="05000000000000000000" charset="0"/>
              <a:buChar char="Ø"/>
            </a:pPr>
            <a:r>
              <a:rPr lang="zh-CN" altLang="en-US" sz="2800" b="1">
                <a:solidFill>
                  <a:srgbClr val="C00000"/>
                </a:solidFill>
                <a:latin typeface="楷体" panose="02010609060101010101" charset="-122"/>
                <a:ea typeface="楷体" panose="02010609060101010101" charset="-122"/>
                <a:cs typeface="楷体" panose="02010609060101010101" charset="-122"/>
              </a:rPr>
              <a:t>学生记</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型</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：（学号，姓名，性别，系别，年龄，籍贯）</a:t>
            </a:r>
          </a:p>
          <a:p>
            <a:pPr marL="914400" lvl="1" indent="-457200">
              <a:buClr>
                <a:srgbClr val="C00000"/>
              </a:buClr>
              <a:buSzPct val="85000"/>
              <a:buFont typeface="Wingdings" panose="05000000000000000000" charset="0"/>
              <a:buChar char="Ø"/>
            </a:pP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一个学生记录的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值</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p>
          <a:p>
            <a:pPr lvl="3" indent="0">
              <a:buClr>
                <a:srgbClr val="C00000"/>
              </a:buClr>
              <a:buSzPct val="85000"/>
              <a:buNone/>
            </a:pP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(201315130,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李明</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男</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计算机系</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19,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江苏省南京市</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102</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0595">
                                            <p:txEl>
                                              <p:pRg st="9" end="9"/>
                                            </p:txEl>
                                          </p:spTgt>
                                        </p:tgtEl>
                                        <p:attrNameLst>
                                          <p:attrName>style.visibility</p:attrName>
                                        </p:attrNameLst>
                                      </p:cBhvr>
                                      <p:to>
                                        <p:strVal val="visible"/>
                                      </p:to>
                                    </p:set>
                                    <p:anim calcmode="lin" valueType="num">
                                      <p:cBhvr additive="base">
                                        <p:cTn id="12" dur="500" fill="hold"/>
                                        <p:tgtEl>
                                          <p:spTgt spid="110595">
                                            <p:txEl>
                                              <p:pRg st="9" end="9"/>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0595">
                                            <p:txEl>
                                              <p:pRg st="9" end="9"/>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0595">
                                            <p:txEl>
                                              <p:pRg st="10" end="10"/>
                                            </p:txEl>
                                          </p:spTgt>
                                        </p:tgtEl>
                                        <p:attrNameLst>
                                          <p:attrName>style.visibility</p:attrName>
                                        </p:attrNameLst>
                                      </p:cBhvr>
                                      <p:to>
                                        <p:strVal val="visible"/>
                                      </p:to>
                                    </p:set>
                                    <p:anim calcmode="lin" valueType="num">
                                      <p:cBhvr additive="base">
                                        <p:cTn id="16" dur="500" fill="hold"/>
                                        <p:tgtEl>
                                          <p:spTgt spid="110595">
                                            <p:txEl>
                                              <p:pRg st="10" end="1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10595">
                                            <p:txEl>
                                              <p:pRg st="10" end="10"/>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10595">
                                            <p:txEl>
                                              <p:pRg st="11" end="11"/>
                                            </p:txEl>
                                          </p:spTgt>
                                        </p:tgtEl>
                                        <p:attrNameLst>
                                          <p:attrName>style.visibility</p:attrName>
                                        </p:attrNameLst>
                                      </p:cBhvr>
                                      <p:to>
                                        <p:strVal val="visible"/>
                                      </p:to>
                                    </p:set>
                                    <p:anim calcmode="lin" valueType="num">
                                      <p:cBhvr additive="base">
                                        <p:cTn id="20" dur="500" fill="hold"/>
                                        <p:tgtEl>
                                          <p:spTgt spid="110595">
                                            <p:txEl>
                                              <p:pRg st="11" end="1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0595">
                                            <p:txEl>
                                              <p:pRg st="11" end="1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0595">
                                            <p:txEl>
                                              <p:pRg st="12" end="12"/>
                                            </p:txEl>
                                          </p:spTgt>
                                        </p:tgtEl>
                                        <p:attrNameLst>
                                          <p:attrName>style.visibility</p:attrName>
                                        </p:attrNameLst>
                                      </p:cBhvr>
                                      <p:to>
                                        <p:strVal val="visible"/>
                                      </p:to>
                                    </p:set>
                                    <p:anim calcmode="lin" valueType="num">
                                      <p:cBhvr additive="base">
                                        <p:cTn id="24" dur="500" fill="hold"/>
                                        <p:tgtEl>
                                          <p:spTgt spid="110595">
                                            <p:txEl>
                                              <p:pRg st="12" end="1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059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zh-CN" altLang="en-US" dirty="0"/>
              <a:t>模式和实例（</a:t>
            </a:r>
            <a:r>
              <a:rPr lang="en-US" altLang="zh-CN" dirty="0"/>
              <a:t>2</a:t>
            </a:r>
            <a:r>
              <a:rPr lang="zh-CN" altLang="en-US" dirty="0"/>
              <a:t>）</a:t>
            </a:r>
          </a:p>
        </p:txBody>
      </p:sp>
      <p:sp>
        <p:nvSpPr>
          <p:cNvPr id="111619" name="Rectangle 3"/>
          <p:cNvSpPr>
            <a:spLocks noGrp="1" noChangeArrowheads="1"/>
          </p:cNvSpPr>
          <p:nvPr>
            <p:ph idx="1"/>
          </p:nvPr>
        </p:nvSpPr>
        <p:spPr/>
        <p:txBody>
          <a:bodyPr>
            <a:normAutofit/>
          </a:bodyPr>
          <a:lstStyle/>
          <a:p>
            <a:pPr>
              <a:lnSpc>
                <a:spcPct val="100000"/>
              </a:lnSpc>
            </a:pPr>
            <a:r>
              <a:rPr lang="zh-CN" altLang="en-US" dirty="0"/>
              <a:t>例如：在学生选课数据库模式中，包含学生、课程和选课记录</a:t>
            </a:r>
          </a:p>
          <a:p>
            <a:pPr lvl="1">
              <a:lnSpc>
                <a:spcPct val="100000"/>
              </a:lnSpc>
              <a:spcBef>
                <a:spcPts val="1000"/>
              </a:spcBef>
            </a:pPr>
            <a:r>
              <a:rPr lang="zh-CN" altLang="en-US" dirty="0"/>
              <a:t> </a:t>
            </a:r>
            <a:r>
              <a:rPr lang="en-US" altLang="zh-CN" dirty="0"/>
              <a:t>2012</a:t>
            </a:r>
            <a:r>
              <a:rPr lang="zh-CN" altLang="en-US" dirty="0"/>
              <a:t>年的一个学生数据库实例，包含：</a:t>
            </a:r>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endParaRPr lang="en-US" altLang="zh-CN" dirty="0"/>
          </a:p>
          <a:p>
            <a:pPr lvl="1">
              <a:lnSpc>
                <a:spcPct val="100000"/>
              </a:lnSpc>
              <a:spcBef>
                <a:spcPts val="3000"/>
              </a:spcBef>
            </a:pPr>
            <a:r>
              <a:rPr lang="zh-CN" altLang="en-US" dirty="0"/>
              <a:t> </a:t>
            </a:r>
            <a:r>
              <a:rPr lang="en-US" altLang="zh-CN" dirty="0"/>
              <a:t>2013</a:t>
            </a:r>
            <a:r>
              <a:rPr lang="zh-CN" altLang="en-US" dirty="0"/>
              <a:t>年的一个学生数据库实例，包含：</a:t>
            </a:r>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p>
          <a:p>
            <a:pPr lvl="1">
              <a:lnSpc>
                <a:spcPct val="100000"/>
              </a:lnSpc>
              <a:spcBef>
                <a:spcPts val="4000"/>
              </a:spcBef>
            </a:pPr>
            <a:r>
              <a:rPr lang="en-US" altLang="zh-CN" dirty="0"/>
              <a:t>2012</a:t>
            </a:r>
            <a:r>
              <a:rPr lang="zh-CN" altLang="en-US" dirty="0"/>
              <a:t>年度学生数据库模式对应的实例与</a:t>
            </a:r>
            <a:r>
              <a:rPr lang="en-US" altLang="zh-CN" dirty="0"/>
              <a:t>2013</a:t>
            </a:r>
            <a:r>
              <a:rPr lang="zh-CN" altLang="en-US" dirty="0"/>
              <a:t>年度学生数据库模式对应的实例是不同的 </a:t>
            </a:r>
          </a:p>
        </p:txBody>
      </p:sp>
      <p:sp>
        <p:nvSpPr>
          <p:cNvPr id="2" name="矩形 1"/>
          <p:cNvSpPr/>
          <p:nvPr/>
        </p:nvSpPr>
        <p:spPr>
          <a:xfrm>
            <a:off x="1332865" y="3834765"/>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103</a:t>
            </a:fld>
            <a:endParaRPr lang="zh-CN" altLang="en-US"/>
          </a:p>
        </p:txBody>
      </p:sp>
      <p:sp>
        <p:nvSpPr>
          <p:cNvPr id="5" name="页脚占位符 4"/>
          <p:cNvSpPr>
            <a:spLocks noGrp="1"/>
          </p:cNvSpPr>
          <p:nvPr>
            <p:ph type="ftr" sz="quarter" idx="11"/>
          </p:nvPr>
        </p:nvSpPr>
        <p:spPr/>
        <p:txBody>
          <a:bodyPr/>
          <a:lstStyle/>
          <a:p>
            <a:r>
              <a:rPr lang="zh-CN" altLang="en-US"/>
              <a:t>ch01_绪论</a:t>
            </a:r>
          </a:p>
        </p:txBody>
      </p:sp>
      <p:sp>
        <p:nvSpPr>
          <p:cNvPr id="6" name="矩形 5"/>
          <p:cNvSpPr/>
          <p:nvPr/>
        </p:nvSpPr>
        <p:spPr>
          <a:xfrm>
            <a:off x="1332865" y="1789430"/>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55" descr="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560" y="814705"/>
            <a:ext cx="907288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6" name="Rectangle 2"/>
          <p:cNvSpPr>
            <a:spLocks noGrp="1" noChangeArrowheads="1"/>
          </p:cNvSpPr>
          <p:nvPr>
            <p:ph type="title"/>
          </p:nvPr>
        </p:nvSpPr>
        <p:spPr/>
        <p:txBody>
          <a:bodyPr/>
          <a:lstStyle/>
          <a:p>
            <a:r>
              <a:rPr lang="zh-CN" altLang="en-US" dirty="0"/>
              <a:t>图</a:t>
            </a:r>
            <a:r>
              <a:rPr lang="en-US" altLang="zh-CN" dirty="0"/>
              <a:t>1.16  </a:t>
            </a:r>
            <a:r>
              <a:rPr lang="zh-CN" altLang="en-US" dirty="0"/>
              <a:t>数据库系统的三级模式结构</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104</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zh-CN" altLang="en-US" dirty="0"/>
              <a:t>模式（</a:t>
            </a:r>
            <a:r>
              <a:rPr lang="en-US" altLang="zh-CN" dirty="0"/>
              <a:t>Schema</a:t>
            </a:r>
            <a:r>
              <a:rPr lang="zh-CN" altLang="en-US" dirty="0"/>
              <a:t>）</a:t>
            </a:r>
          </a:p>
        </p:txBody>
      </p:sp>
      <p:sp>
        <p:nvSpPr>
          <p:cNvPr id="115715"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逻辑模式</a:t>
            </a:r>
            <a:r>
              <a:rPr lang="en-US" altLang="zh-CN" dirty="0">
                <a:latin typeface="Times New Roman" panose="02020603050405020304" pitchFamily="2" charset="0"/>
                <a:cs typeface="Times New Roman" panose="02020603050405020304" pitchFamily="2" charset="0"/>
              </a:rPr>
              <a:t>’</a:t>
            </a:r>
            <a:r>
              <a:rPr lang="zh-CN" altLang="en-US" dirty="0"/>
              <a:t>）</a:t>
            </a:r>
          </a:p>
          <a:p>
            <a:pPr lvl="1"/>
            <a:r>
              <a:rPr lang="zh-CN" altLang="en-US" dirty="0"/>
              <a:t>数据库中全体数据的逻辑结构和特征的描述</a:t>
            </a:r>
          </a:p>
          <a:p>
            <a:pPr lvl="1"/>
            <a:r>
              <a:rPr lang="zh-CN" altLang="en-US" dirty="0"/>
              <a:t>是所有用户的公共数据视图</a:t>
            </a:r>
          </a:p>
          <a:p>
            <a:pPr lvl="1"/>
            <a:r>
              <a:rPr lang="zh-CN" altLang="en-US" dirty="0"/>
              <a:t>一个数据库只有一个模式</a:t>
            </a:r>
          </a:p>
          <a:p>
            <a:r>
              <a:rPr lang="zh-CN" altLang="en-US" dirty="0">
                <a:solidFill>
                  <a:srgbClr val="FF0000"/>
                </a:solidFill>
              </a:rPr>
              <a:t>模式的地位</a:t>
            </a:r>
            <a:r>
              <a:rPr lang="zh-CN" altLang="en-US" dirty="0"/>
              <a:t>：是数据库系统模式结构的中间层</a:t>
            </a:r>
          </a:p>
          <a:p>
            <a:pPr lvl="1"/>
            <a:r>
              <a:rPr lang="zh-CN" altLang="en-US" dirty="0"/>
              <a:t>与数据的物理存储细节和硬件环境无关</a:t>
            </a:r>
          </a:p>
          <a:p>
            <a:pPr lvl="1"/>
            <a:r>
              <a:rPr lang="zh-CN" altLang="en-US" dirty="0"/>
              <a:t>与具体的应用程序、开发工具及高级程序设计语言无关</a:t>
            </a:r>
            <a:endParaRPr lang="en-US" altLang="zh-CN" dirty="0"/>
          </a:p>
          <a:p>
            <a:r>
              <a:rPr lang="zh-CN" altLang="en-US" dirty="0">
                <a:solidFill>
                  <a:srgbClr val="FF0000"/>
                </a:solidFill>
              </a:rPr>
              <a:t>模式的定义</a:t>
            </a:r>
            <a:endParaRPr lang="zh-CN" altLang="en-US" dirty="0"/>
          </a:p>
          <a:p>
            <a:pPr lvl="1"/>
            <a:r>
              <a:rPr lang="zh-CN" altLang="en-US" dirty="0"/>
              <a:t>数据的逻辑结构（数据项的名字、类型、取值范围等）</a:t>
            </a:r>
          </a:p>
          <a:p>
            <a:pPr lvl="1"/>
            <a:r>
              <a:rPr lang="zh-CN" altLang="en-US" dirty="0"/>
              <a:t>数据之间的联系</a:t>
            </a:r>
          </a:p>
          <a:p>
            <a:pPr lvl="1"/>
            <a:r>
              <a:rPr lang="zh-CN" altLang="en-US" dirty="0"/>
              <a:t>数据有关的安全性、完整性要求</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105</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26"/>
          <p:cNvSpPr>
            <a:spLocks noGrp="1" noChangeArrowheads="1"/>
          </p:cNvSpPr>
          <p:nvPr>
            <p:ph type="title"/>
          </p:nvPr>
        </p:nvSpPr>
        <p:spPr/>
        <p:txBody>
          <a:bodyPr/>
          <a:lstStyle/>
          <a:p>
            <a:r>
              <a:rPr lang="zh-CN" altLang="en-US" dirty="0"/>
              <a:t>外模式（</a:t>
            </a:r>
            <a:r>
              <a:rPr lang="en-US" altLang="zh-CN" dirty="0"/>
              <a:t>1</a:t>
            </a:r>
            <a:r>
              <a:rPr lang="zh-CN" altLang="en-US" dirty="0"/>
              <a:t>）</a:t>
            </a:r>
          </a:p>
        </p:txBody>
      </p:sp>
      <p:sp>
        <p:nvSpPr>
          <p:cNvPr id="117763" name="Rectangle 1027"/>
          <p:cNvSpPr>
            <a:spLocks noGrp="1" noChangeArrowheads="1"/>
          </p:cNvSpPr>
          <p:nvPr>
            <p:ph idx="1"/>
          </p:nvPr>
        </p:nvSpPr>
        <p:spPr/>
        <p:txBody>
          <a:bodyPr/>
          <a:lstStyle/>
          <a:p>
            <a:r>
              <a:rPr lang="zh-CN" altLang="en-US" dirty="0">
                <a:solidFill>
                  <a:srgbClr val="FF0000"/>
                </a:solidFill>
              </a:rPr>
              <a:t>外模式</a:t>
            </a:r>
            <a:r>
              <a:rPr lang="zh-CN" altLang="en-US" dirty="0"/>
              <a:t>（</a:t>
            </a:r>
            <a:r>
              <a:rPr lang="en-US" altLang="zh-CN" dirty="0"/>
              <a:t>External Schema</a:t>
            </a:r>
            <a:r>
              <a:rPr lang="zh-CN" altLang="en-US" dirty="0"/>
              <a:t>） </a:t>
            </a:r>
            <a:endParaRPr lang="en-US" altLang="zh-CN" dirty="0"/>
          </a:p>
          <a:p>
            <a:pPr lvl="1">
              <a:lnSpc>
                <a:spcPct val="110000"/>
              </a:lnSpc>
              <a:spcBef>
                <a:spcPts val="2000"/>
              </a:spcBef>
            </a:pP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子模式</a:t>
            </a:r>
            <a:r>
              <a:rPr lang="en-US" altLang="zh-CN" dirty="0">
                <a:latin typeface="Times New Roman" panose="02020603050405020304" pitchFamily="2" charset="0"/>
                <a:cs typeface="Times New Roman" panose="02020603050405020304" pitchFamily="2" charset="0"/>
              </a:rPr>
              <a:t>’ </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用户模式</a:t>
            </a:r>
            <a:r>
              <a:rPr lang="en-US" altLang="zh-CN"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lnSpc>
                <a:spcPct val="110000"/>
              </a:lnSpc>
              <a:spcBef>
                <a:spcPts val="2000"/>
              </a:spcBef>
            </a:pPr>
            <a:r>
              <a:rPr lang="zh-CN" altLang="en-US" dirty="0"/>
              <a:t>是对数据库用户（包括应用程序员和最终用户）使用的局部数据的逻辑结构和特征的描述</a:t>
            </a:r>
          </a:p>
          <a:p>
            <a:pPr lvl="1">
              <a:lnSpc>
                <a:spcPct val="110000"/>
              </a:lnSpc>
              <a:spcBef>
                <a:spcPts val="2000"/>
              </a:spcBef>
            </a:pPr>
            <a:r>
              <a:rPr lang="zh-CN" altLang="en-US" dirty="0"/>
              <a:t>属于数据库用户的数据视图，</a:t>
            </a:r>
            <a:r>
              <a:rPr lang="zh-CN" altLang="en-US" dirty="0">
                <a:sym typeface="+mn-ea"/>
              </a:rPr>
              <a:t>是</a:t>
            </a:r>
            <a:r>
              <a:rPr lang="zh-CN" altLang="en-US" dirty="0"/>
              <a:t>与某一应用有关的数据的逻辑表示</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106</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外模式（</a:t>
            </a:r>
            <a:r>
              <a:rPr lang="en-US" altLang="zh-CN" dirty="0">
                <a:sym typeface="+mn-ea"/>
              </a:rPr>
              <a:t>2</a:t>
            </a:r>
            <a:r>
              <a:rPr lang="zh-CN" altLang="en-US" dirty="0">
                <a:sym typeface="+mn-ea"/>
              </a:rPr>
              <a:t>）</a:t>
            </a:r>
            <a:endParaRPr lang="zh-CN" altLang="en-US"/>
          </a:p>
        </p:txBody>
      </p:sp>
      <p:sp>
        <p:nvSpPr>
          <p:cNvPr id="3" name="内容占位符 2"/>
          <p:cNvSpPr>
            <a:spLocks noGrp="1"/>
          </p:cNvSpPr>
          <p:nvPr>
            <p:ph idx="1"/>
          </p:nvPr>
        </p:nvSpPr>
        <p:spPr/>
        <p:txBody>
          <a:bodyPr/>
          <a:lstStyle/>
          <a:p>
            <a:r>
              <a:rPr lang="zh-CN" altLang="en-US" sz="3000" dirty="0">
                <a:solidFill>
                  <a:srgbClr val="FF0000"/>
                </a:solidFill>
                <a:sym typeface="+mn-ea"/>
              </a:rPr>
              <a:t>外模式的地位</a:t>
            </a:r>
            <a:r>
              <a:rPr lang="zh-CN" altLang="en-US" sz="3000" dirty="0">
                <a:sym typeface="+mn-ea"/>
              </a:rPr>
              <a:t>：介于模式与应用之间</a:t>
            </a:r>
            <a:endParaRPr lang="zh-CN" altLang="en-US" sz="3000" dirty="0"/>
          </a:p>
          <a:p>
            <a:pPr lvl="1"/>
            <a:r>
              <a:rPr lang="zh-CN" altLang="en-US" dirty="0">
                <a:sym typeface="+mn-ea"/>
              </a:rPr>
              <a:t>模式与外模式的关系：一对多</a:t>
            </a:r>
            <a:endParaRPr lang="zh-CN" altLang="en-US" dirty="0"/>
          </a:p>
          <a:p>
            <a:pPr lvl="2"/>
            <a:r>
              <a:rPr lang="zh-CN" altLang="en-US" sz="2400" dirty="0">
                <a:sym typeface="+mn-ea"/>
              </a:rPr>
              <a:t>外模式通常是模式的子集</a:t>
            </a:r>
            <a:endParaRPr lang="zh-CN" altLang="en-US" sz="2400" dirty="0"/>
          </a:p>
          <a:p>
            <a:pPr lvl="2"/>
            <a:r>
              <a:rPr lang="zh-CN" altLang="en-US" sz="2400" dirty="0">
                <a:sym typeface="+mn-ea"/>
              </a:rPr>
              <a:t>一个数据库可以有多个外模式。反映了不同的用户的应用需求、看待数据的方式、对数据保密的要求</a:t>
            </a:r>
            <a:endParaRPr lang="zh-CN" altLang="en-US" sz="2400" dirty="0"/>
          </a:p>
          <a:p>
            <a:pPr lvl="2"/>
            <a:r>
              <a:rPr lang="zh-CN" altLang="en-US" sz="2400" dirty="0">
                <a:sym typeface="+mn-ea"/>
              </a:rPr>
              <a:t>对模式中同一数据，在外模式中的结构、类型、长度、保密级别等都可以不同</a:t>
            </a:r>
            <a:endParaRPr lang="zh-CN" altLang="en-US" sz="2400" dirty="0"/>
          </a:p>
          <a:p>
            <a:pPr lvl="1"/>
            <a:r>
              <a:rPr lang="zh-CN" altLang="en-US" dirty="0">
                <a:sym typeface="+mn-ea"/>
              </a:rPr>
              <a:t>外模式与应用的关系：一对多</a:t>
            </a:r>
            <a:endParaRPr lang="zh-CN" altLang="en-US" dirty="0"/>
          </a:p>
          <a:p>
            <a:pPr lvl="2"/>
            <a:r>
              <a:rPr lang="zh-CN" altLang="en-US" sz="2400" dirty="0">
                <a:sym typeface="+mn-ea"/>
              </a:rPr>
              <a:t>同一外模式也可以为某一用户的多个应用系统所使用</a:t>
            </a:r>
            <a:endParaRPr lang="zh-CN" altLang="en-US" sz="2400" dirty="0"/>
          </a:p>
          <a:p>
            <a:pPr lvl="2"/>
            <a:r>
              <a:rPr lang="zh-CN" altLang="en-US" sz="2400" dirty="0">
                <a:sym typeface="+mn-ea"/>
              </a:rPr>
              <a:t>但一个应用程序只能使用一个外模式</a:t>
            </a:r>
            <a:endParaRPr lang="en-US" altLang="zh-CN" sz="2400" dirty="0"/>
          </a:p>
          <a:p>
            <a:r>
              <a:rPr lang="zh-CN" altLang="en-US" sz="3000" dirty="0">
                <a:solidFill>
                  <a:srgbClr val="FF0000"/>
                </a:solidFill>
                <a:sym typeface="+mn-ea"/>
              </a:rPr>
              <a:t>外模式的用途</a:t>
            </a:r>
            <a:endParaRPr lang="zh-CN" altLang="en-US" sz="3000" dirty="0"/>
          </a:p>
          <a:p>
            <a:pPr lvl="1"/>
            <a:r>
              <a:rPr lang="zh-CN" altLang="en-US" dirty="0">
                <a:sym typeface="+mn-ea"/>
              </a:rPr>
              <a:t>保证数据库安全性的一个有力措施</a:t>
            </a:r>
            <a:endParaRPr lang="zh-CN" altLang="en-US" dirty="0"/>
          </a:p>
          <a:p>
            <a:pPr lvl="1"/>
            <a:r>
              <a:rPr lang="zh-CN" altLang="en-US" dirty="0">
                <a:sym typeface="+mn-ea"/>
              </a:rPr>
              <a:t>每个用户只能看见和访问所对应的外模式中的数据</a:t>
            </a:r>
            <a:endParaRPr lang="zh-CN" altLang="en-US" dirty="0"/>
          </a:p>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107</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dirty="0"/>
              <a:t>内模式（</a:t>
            </a:r>
            <a:r>
              <a:rPr lang="en-US" altLang="zh-CN" dirty="0"/>
              <a:t>Internal Schema</a:t>
            </a:r>
            <a:r>
              <a:rPr lang="zh-CN" altLang="en-US" dirty="0"/>
              <a:t>）</a:t>
            </a:r>
          </a:p>
        </p:txBody>
      </p:sp>
      <p:sp>
        <p:nvSpPr>
          <p:cNvPr id="120835" name="Rectangle 3"/>
          <p:cNvSpPr>
            <a:spLocks noGrp="1" noChangeArrowheads="1"/>
          </p:cNvSpPr>
          <p:nvPr>
            <p:ph idx="1"/>
          </p:nvPr>
        </p:nvSpPr>
        <p:spPr/>
        <p:txBody>
          <a:bodyPr>
            <a:normAutofit/>
          </a:bodyPr>
          <a:lstStyle/>
          <a:p>
            <a:r>
              <a:rPr lang="zh-CN" altLang="en-US" dirty="0">
                <a:solidFill>
                  <a:srgbClr val="FF0000"/>
                </a:solidFill>
              </a:rPr>
              <a:t>内模式</a:t>
            </a:r>
            <a:r>
              <a:rPr lang="zh-CN" altLang="en-US" dirty="0">
                <a:latin typeface="Times New Roman" panose="02020603050405020304" pitchFamily="2" charset="0"/>
                <a:cs typeface="Times New Roman" panose="02020603050405020304" pitchFamily="2" charset="0"/>
              </a:rPr>
              <a:t>（也称</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存储模式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物理模式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a:t>
            </a:r>
          </a:p>
          <a:p>
            <a:pPr lvl="1"/>
            <a:r>
              <a:rPr lang="zh-CN" altLang="en-US" dirty="0"/>
              <a:t>是数据物理结构和存储方式的描述</a:t>
            </a:r>
          </a:p>
          <a:p>
            <a:pPr lvl="1">
              <a:lnSpc>
                <a:spcPct val="110000"/>
              </a:lnSpc>
              <a:spcBef>
                <a:spcPts val="2000"/>
              </a:spcBef>
            </a:pPr>
            <a:r>
              <a:rPr lang="zh-CN" altLang="en-US" dirty="0"/>
              <a:t>是数据在数据库内部的表示方式</a:t>
            </a:r>
          </a:p>
          <a:p>
            <a:pPr lvl="2"/>
            <a:r>
              <a:rPr lang="zh-CN" altLang="en-US" dirty="0"/>
              <a:t>记录的存储方式（例如，顺序存储、堆存储、</a:t>
            </a:r>
            <a:r>
              <a:rPr lang="en-US" altLang="zh-CN" dirty="0"/>
              <a:t>hash</a:t>
            </a:r>
            <a:r>
              <a:rPr lang="zh-CN" altLang="en-US" dirty="0"/>
              <a:t>存储等）</a:t>
            </a:r>
          </a:p>
          <a:p>
            <a:pPr lvl="2"/>
            <a:r>
              <a:rPr lang="zh-CN" altLang="en-US" dirty="0"/>
              <a:t>索引的组织方式</a:t>
            </a:r>
          </a:p>
          <a:p>
            <a:pPr lvl="2"/>
            <a:r>
              <a:rPr lang="zh-CN" altLang="en-US" dirty="0"/>
              <a:t>数据是否压缩存储</a:t>
            </a:r>
          </a:p>
          <a:p>
            <a:pPr lvl="2"/>
            <a:r>
              <a:rPr lang="zh-CN" altLang="en-US" dirty="0"/>
              <a:t>数据是否加密</a:t>
            </a:r>
          </a:p>
          <a:p>
            <a:pPr lvl="2"/>
            <a:r>
              <a:rPr lang="zh-CN" altLang="en-US" dirty="0"/>
              <a:t>数据存储记录结构的规定</a:t>
            </a:r>
          </a:p>
          <a:p>
            <a:pPr lvl="2"/>
            <a:endParaRPr lang="zh-CN" altLang="en-US" dirty="0"/>
          </a:p>
          <a:p>
            <a:r>
              <a:rPr lang="zh-CN" altLang="en-US" dirty="0"/>
              <a:t>一个数据库只有一个内模式</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108</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zh-CN" altLang="en-US" dirty="0"/>
              <a:t>数据库的二级映像与数据独立性</a:t>
            </a:r>
          </a:p>
        </p:txBody>
      </p:sp>
      <p:sp>
        <p:nvSpPr>
          <p:cNvPr id="122883" name="Rectangle 3"/>
          <p:cNvSpPr>
            <a:spLocks noGrp="1" noChangeArrowheads="1"/>
          </p:cNvSpPr>
          <p:nvPr>
            <p:ph idx="1"/>
          </p:nvPr>
        </p:nvSpPr>
        <p:spPr/>
        <p:txBody>
          <a:bodyPr/>
          <a:lstStyle/>
          <a:p>
            <a:r>
              <a:rPr lang="zh-CN" altLang="en-US" dirty="0"/>
              <a:t>三级模式是对数据的三个抽象级别</a:t>
            </a:r>
          </a:p>
          <a:p>
            <a:endParaRPr lang="zh-CN" altLang="en-US" dirty="0"/>
          </a:p>
          <a:p>
            <a:r>
              <a:rPr lang="zh-CN" altLang="en-US" dirty="0"/>
              <a:t>二级映象在数据库管理系统内部实现这三个抽象层次的联系和转换</a:t>
            </a:r>
          </a:p>
          <a:p>
            <a:pPr lvl="1"/>
            <a:r>
              <a:rPr lang="zh-CN" altLang="en-US" dirty="0"/>
              <a:t>外模式／模式映像</a:t>
            </a:r>
          </a:p>
          <a:p>
            <a:pPr lvl="1"/>
            <a:r>
              <a:rPr lang="zh-CN" altLang="en-US" dirty="0"/>
              <a:t>模式／内模式映像 </a:t>
            </a:r>
          </a:p>
          <a:p>
            <a:endParaRPr lang="en-US" altLang="zh-CN" dirty="0"/>
          </a:p>
        </p:txBody>
      </p:sp>
      <p:sp>
        <p:nvSpPr>
          <p:cNvPr id="2" name="灯片编号占位符 1"/>
          <p:cNvSpPr>
            <a:spLocks noGrp="1"/>
          </p:cNvSpPr>
          <p:nvPr>
            <p:ph type="sldNum" sz="quarter" idx="12"/>
          </p:nvPr>
        </p:nvSpPr>
        <p:spPr/>
        <p:txBody>
          <a:bodyPr/>
          <a:lstStyle/>
          <a:p>
            <a:fld id="{565CE74E-AB26-4998-AD42-012C4C1AD076}" type="slidenum">
              <a:rPr lang="zh-CN" altLang="en-US" smtClean="0"/>
              <a:t>109</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en-US" dirty="0"/>
              <a:t>外模式／模式映像</a:t>
            </a:r>
          </a:p>
        </p:txBody>
      </p:sp>
      <p:sp>
        <p:nvSpPr>
          <p:cNvPr id="123907"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：描述的是数据的全局逻辑结构</a:t>
            </a:r>
          </a:p>
          <a:p>
            <a:r>
              <a:rPr lang="zh-CN" altLang="en-US" dirty="0">
                <a:solidFill>
                  <a:srgbClr val="FF0000"/>
                </a:solidFill>
              </a:rPr>
              <a:t>外模式</a:t>
            </a:r>
            <a:r>
              <a:rPr lang="zh-CN" altLang="en-US" dirty="0"/>
              <a:t>：描述的是数据的局部逻辑结构 </a:t>
            </a:r>
          </a:p>
          <a:p>
            <a:pPr lvl="1"/>
            <a:r>
              <a:rPr lang="zh-CN" altLang="en-US" dirty="0"/>
              <a:t>同一个模式可以有任意多个外模式 </a:t>
            </a:r>
          </a:p>
          <a:p>
            <a:pPr lvl="1"/>
            <a:r>
              <a:rPr lang="zh-CN" altLang="en-US" dirty="0"/>
              <a:t>每一个外模式，数据库系统都有一个外模式／模式映象，定义外模式与模式之间的对应关系</a:t>
            </a:r>
          </a:p>
          <a:p>
            <a:pPr lvl="1"/>
            <a:r>
              <a:rPr lang="zh-CN" altLang="en-US" dirty="0"/>
              <a:t>映象定义通常包含在各自外模式的描述中</a:t>
            </a:r>
            <a:endParaRPr lang="en-US" altLang="zh-CN" dirty="0"/>
          </a:p>
          <a:p>
            <a:pPr>
              <a:lnSpc>
                <a:spcPct val="110000"/>
              </a:lnSpc>
              <a:spcBef>
                <a:spcPts val="2000"/>
              </a:spcBef>
            </a:pPr>
            <a:r>
              <a:rPr lang="zh-CN" altLang="en-US" dirty="0">
                <a:solidFill>
                  <a:srgbClr val="FF0000"/>
                </a:solidFill>
              </a:rPr>
              <a:t>保证数据的逻辑独立性</a:t>
            </a:r>
            <a:endParaRPr lang="zh-CN" altLang="en-US" dirty="0"/>
          </a:p>
          <a:p>
            <a:pPr lvl="1"/>
            <a:r>
              <a:rPr lang="zh-CN" altLang="en-US" dirty="0"/>
              <a:t>当模式改变时，数据库管理员对外模式／模式映象作相应改变，使外模式保持不变</a:t>
            </a:r>
          </a:p>
          <a:p>
            <a:pPr lvl="1">
              <a:lnSpc>
                <a:spcPct val="110000"/>
              </a:lnSpc>
              <a:spcBef>
                <a:spcPts val="1000"/>
              </a:spcBef>
            </a:pPr>
            <a:r>
              <a:rPr lang="zh-CN" altLang="en-US" dirty="0"/>
              <a:t>应用程序是依据数据的外模式编写的，应用程序不必修改，保证了数据与程序的逻辑独立性，简称数据的逻辑独立性</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110</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zh-CN" altLang="en-US" dirty="0"/>
              <a:t>模式／内模式映像</a:t>
            </a:r>
          </a:p>
        </p:txBody>
      </p:sp>
      <p:sp>
        <p:nvSpPr>
          <p:cNvPr id="125955" name="Rectangle 3"/>
          <p:cNvSpPr>
            <a:spLocks noGrp="1" noChangeArrowheads="1"/>
          </p:cNvSpPr>
          <p:nvPr>
            <p:ph idx="1"/>
          </p:nvPr>
        </p:nvSpPr>
        <p:spPr/>
        <p:txBody>
          <a:bodyPr>
            <a:normAutofit/>
          </a:bodyPr>
          <a:lstStyle/>
          <a:p>
            <a:r>
              <a:rPr lang="zh-CN" altLang="en-US" dirty="0"/>
              <a:t>模式／内模式映象定义了数据全局逻辑结构与存储结构之间的对应关系。</a:t>
            </a:r>
          </a:p>
          <a:p>
            <a:pPr lvl="1"/>
            <a:r>
              <a:rPr lang="zh-CN" altLang="en-US" dirty="0"/>
              <a:t>例如，说明逻辑记录和字段在计算机内部是如何表示的</a:t>
            </a:r>
          </a:p>
          <a:p>
            <a:r>
              <a:rPr lang="zh-CN" altLang="en-US" dirty="0"/>
              <a:t>数据库中模式／内模式映象是唯一的</a:t>
            </a:r>
          </a:p>
          <a:p>
            <a:r>
              <a:rPr lang="zh-CN" altLang="en-US" dirty="0"/>
              <a:t>该映象定义通常包含在模式描述中</a:t>
            </a:r>
            <a:endParaRPr lang="en-US" altLang="zh-CN" dirty="0"/>
          </a:p>
          <a:p>
            <a:pPr>
              <a:lnSpc>
                <a:spcPct val="110000"/>
              </a:lnSpc>
              <a:spcBef>
                <a:spcPts val="2000"/>
              </a:spcBef>
            </a:pPr>
            <a:r>
              <a:rPr lang="zh-CN" altLang="en-US" dirty="0">
                <a:solidFill>
                  <a:srgbClr val="FF0000"/>
                </a:solidFill>
              </a:rPr>
              <a:t>保证数据的物理独立性</a:t>
            </a:r>
            <a:endParaRPr lang="zh-CN" altLang="en-US" dirty="0"/>
          </a:p>
          <a:p>
            <a:pPr lvl="1"/>
            <a:r>
              <a:rPr lang="zh-CN" altLang="en-US" dirty="0"/>
              <a:t>当数据库的存储结构改变了（例如选用了另一种存储结构），数据库管理员修改模式／内模式映象，使模式保持不变。</a:t>
            </a:r>
          </a:p>
          <a:p>
            <a:pPr lvl="1">
              <a:lnSpc>
                <a:spcPct val="110000"/>
              </a:lnSpc>
              <a:spcBef>
                <a:spcPts val="1000"/>
              </a:spcBef>
            </a:pPr>
            <a:r>
              <a:rPr lang="zh-CN" altLang="en-US" dirty="0"/>
              <a:t>应用程序不受影响。保证了数据与程序的物理独立性，简称数据的物理独立性。</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111</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26"/>
          <p:cNvSpPr>
            <a:spLocks noGrp="1" noChangeArrowheads="1"/>
          </p:cNvSpPr>
          <p:nvPr>
            <p:ph type="title"/>
          </p:nvPr>
        </p:nvSpPr>
        <p:spPr/>
        <p:txBody>
          <a:bodyPr/>
          <a:lstStyle/>
          <a:p>
            <a:r>
              <a:rPr lang="zh-CN" altLang="en-US" dirty="0"/>
              <a:t>数据库的二级映像（</a:t>
            </a:r>
            <a:r>
              <a:rPr lang="en-US" altLang="zh-CN" dirty="0"/>
              <a:t>1</a:t>
            </a:r>
            <a:r>
              <a:rPr lang="zh-CN" altLang="en-US" dirty="0"/>
              <a:t>）</a:t>
            </a:r>
          </a:p>
        </p:txBody>
      </p:sp>
      <p:sp>
        <p:nvSpPr>
          <p:cNvPr id="128003" name="Rectangle 1027"/>
          <p:cNvSpPr>
            <a:spLocks noGrp="1" noChangeArrowheads="1"/>
          </p:cNvSpPr>
          <p:nvPr>
            <p:ph idx="1"/>
          </p:nvPr>
        </p:nvSpPr>
        <p:spPr/>
        <p:txBody>
          <a:bodyPr>
            <a:normAutofit/>
          </a:bodyPr>
          <a:lstStyle/>
          <a:p>
            <a:r>
              <a:rPr lang="zh-CN" altLang="en-US" dirty="0">
                <a:solidFill>
                  <a:srgbClr val="FF0000"/>
                </a:solidFill>
              </a:rPr>
              <a:t>数据库模式</a:t>
            </a:r>
            <a:endParaRPr lang="zh-CN" altLang="en-US" dirty="0"/>
          </a:p>
          <a:p>
            <a:pPr lvl="1"/>
            <a:r>
              <a:rPr lang="zh-CN" altLang="en-US" dirty="0"/>
              <a:t>即全局逻辑结构是数据库的中心与关键 </a:t>
            </a:r>
          </a:p>
          <a:p>
            <a:pPr lvl="1"/>
            <a:r>
              <a:rPr lang="zh-CN" altLang="en-US" dirty="0"/>
              <a:t>独立于数据库的其他层次 </a:t>
            </a:r>
          </a:p>
          <a:p>
            <a:pPr lvl="1"/>
            <a:r>
              <a:rPr lang="zh-CN" altLang="en-US" dirty="0"/>
              <a:t>设计数据库模式结构时应首先确定数据库的逻辑模式</a:t>
            </a:r>
          </a:p>
          <a:p>
            <a:pPr lvl="1"/>
            <a:endParaRPr lang="en-US" altLang="zh-CN" dirty="0"/>
          </a:p>
          <a:p>
            <a:r>
              <a:rPr lang="zh-CN" altLang="en-US" dirty="0">
                <a:solidFill>
                  <a:srgbClr val="FF0000"/>
                </a:solidFill>
              </a:rPr>
              <a:t>数据库的内模式</a:t>
            </a:r>
            <a:endParaRPr lang="zh-CN" altLang="en-US" dirty="0"/>
          </a:p>
          <a:p>
            <a:pPr lvl="1"/>
            <a:r>
              <a:rPr lang="zh-CN" altLang="en-US" dirty="0"/>
              <a:t>依赖于它的全局逻辑结构</a:t>
            </a:r>
          </a:p>
          <a:p>
            <a:pPr lvl="1"/>
            <a:r>
              <a:rPr lang="zh-CN" altLang="en-US" dirty="0"/>
              <a:t>独立于数据库的用户视图，即外模式</a:t>
            </a:r>
          </a:p>
          <a:p>
            <a:pPr lvl="1"/>
            <a:r>
              <a:rPr lang="zh-CN" altLang="en-US" dirty="0"/>
              <a:t>独立于具体的存储设备  </a:t>
            </a:r>
          </a:p>
          <a:p>
            <a:pPr lvl="1"/>
            <a:r>
              <a:rPr lang="zh-CN" altLang="en-US" dirty="0"/>
              <a:t>将全局逻辑结构中所定义的数据结构及其联系按照一定的物理存储策略进行组织，以达到较好的时间与空间效率 </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112</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zh-CN" altLang="en-US" dirty="0"/>
              <a:t>数据库的二级映像（</a:t>
            </a:r>
            <a:r>
              <a:rPr lang="en-US" altLang="zh-CN" dirty="0"/>
              <a:t>2</a:t>
            </a:r>
            <a:r>
              <a:rPr lang="zh-CN" altLang="en-US" dirty="0"/>
              <a:t>）</a:t>
            </a:r>
          </a:p>
        </p:txBody>
      </p:sp>
      <p:sp>
        <p:nvSpPr>
          <p:cNvPr id="129027" name="Rectangle 3"/>
          <p:cNvSpPr>
            <a:spLocks noGrp="1" noChangeArrowheads="1"/>
          </p:cNvSpPr>
          <p:nvPr>
            <p:ph idx="1"/>
          </p:nvPr>
        </p:nvSpPr>
        <p:spPr/>
        <p:txBody>
          <a:bodyPr>
            <a:noAutofit/>
          </a:bodyPr>
          <a:lstStyle/>
          <a:p>
            <a:pPr>
              <a:lnSpc>
                <a:spcPct val="100000"/>
              </a:lnSpc>
            </a:pPr>
            <a:r>
              <a:rPr lang="zh-CN" altLang="en-US" dirty="0">
                <a:solidFill>
                  <a:srgbClr val="FF0000"/>
                </a:solidFill>
              </a:rPr>
              <a:t>数据库的外模式</a:t>
            </a:r>
            <a:endParaRPr lang="zh-CN" altLang="en-US" dirty="0"/>
          </a:p>
          <a:p>
            <a:pPr lvl="1">
              <a:lnSpc>
                <a:spcPct val="100000"/>
              </a:lnSpc>
            </a:pPr>
            <a:r>
              <a:rPr lang="zh-CN" altLang="en-US" dirty="0"/>
              <a:t>面向具体的应用程序</a:t>
            </a:r>
          </a:p>
          <a:p>
            <a:pPr lvl="1">
              <a:lnSpc>
                <a:spcPct val="100000"/>
              </a:lnSpc>
            </a:pPr>
            <a:r>
              <a:rPr lang="zh-CN" altLang="en-US" dirty="0"/>
              <a:t>定义在逻辑模式之上</a:t>
            </a:r>
          </a:p>
          <a:p>
            <a:pPr lvl="1">
              <a:lnSpc>
                <a:spcPct val="100000"/>
              </a:lnSpc>
            </a:pPr>
            <a:r>
              <a:rPr lang="zh-CN" altLang="en-US" dirty="0"/>
              <a:t>独立于存储模式和存储设备</a:t>
            </a:r>
          </a:p>
          <a:p>
            <a:pPr lvl="1">
              <a:lnSpc>
                <a:spcPct val="100000"/>
              </a:lnSpc>
            </a:pPr>
            <a:r>
              <a:rPr lang="zh-CN" altLang="en-US" dirty="0"/>
              <a:t>当应用需求发生较大变化，相应外模式不能满足其视图要求时，该外模式就得做相应改动 </a:t>
            </a:r>
          </a:p>
          <a:p>
            <a:pPr lvl="1">
              <a:lnSpc>
                <a:spcPct val="100000"/>
              </a:lnSpc>
            </a:pPr>
            <a:r>
              <a:rPr lang="zh-CN" altLang="en-US" dirty="0"/>
              <a:t>设计外模式时应充分考虑到应用的扩充性 </a:t>
            </a:r>
            <a:endParaRPr lang="en-US" altLang="zh-CN" dirty="0"/>
          </a:p>
          <a:p>
            <a:pPr>
              <a:lnSpc>
                <a:spcPct val="100000"/>
              </a:lnSpc>
              <a:spcBef>
                <a:spcPts val="3000"/>
              </a:spcBef>
            </a:pPr>
            <a:r>
              <a:rPr lang="zh-CN" altLang="en-US" dirty="0">
                <a:solidFill>
                  <a:srgbClr val="FF0000"/>
                </a:solidFill>
              </a:rPr>
              <a:t>特定的应用程序</a:t>
            </a:r>
            <a:endParaRPr lang="zh-CN" altLang="en-US" dirty="0"/>
          </a:p>
          <a:p>
            <a:pPr lvl="1">
              <a:lnSpc>
                <a:spcPct val="100000"/>
              </a:lnSpc>
            </a:pPr>
            <a:r>
              <a:rPr lang="zh-CN" altLang="en-US" dirty="0"/>
              <a:t>在外模式描述的数据结构上编制的</a:t>
            </a:r>
          </a:p>
          <a:p>
            <a:pPr lvl="1">
              <a:lnSpc>
                <a:spcPct val="100000"/>
              </a:lnSpc>
            </a:pPr>
            <a:r>
              <a:rPr lang="zh-CN" altLang="en-US" dirty="0"/>
              <a:t>依赖于特定的外模式</a:t>
            </a:r>
          </a:p>
          <a:p>
            <a:pPr lvl="1">
              <a:lnSpc>
                <a:spcPct val="100000"/>
              </a:lnSpc>
            </a:pPr>
            <a:r>
              <a:rPr lang="zh-CN" altLang="en-US" dirty="0"/>
              <a:t>与数据库的模式和存储结构独立</a:t>
            </a:r>
          </a:p>
          <a:p>
            <a:pPr lvl="1">
              <a:lnSpc>
                <a:spcPct val="100000"/>
              </a:lnSpc>
            </a:pPr>
            <a:r>
              <a:rPr lang="zh-CN" altLang="en-US" dirty="0"/>
              <a:t>不同的应用程序有时可以共用同一个外模式</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113</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26"/>
          <p:cNvSpPr>
            <a:spLocks noGrp="1" noChangeArrowheads="1"/>
          </p:cNvSpPr>
          <p:nvPr>
            <p:ph type="title"/>
          </p:nvPr>
        </p:nvSpPr>
        <p:spPr/>
        <p:txBody>
          <a:bodyPr/>
          <a:lstStyle/>
          <a:p>
            <a:r>
              <a:rPr lang="zh-CN" altLang="en-US" dirty="0"/>
              <a:t>数据库的二级映像（</a:t>
            </a:r>
            <a:r>
              <a:rPr lang="en-US" altLang="zh-CN" dirty="0"/>
              <a:t>3</a:t>
            </a:r>
            <a:r>
              <a:rPr lang="zh-CN" altLang="en-US" dirty="0"/>
              <a:t>）</a:t>
            </a:r>
          </a:p>
        </p:txBody>
      </p:sp>
      <p:sp>
        <p:nvSpPr>
          <p:cNvPr id="130051" name="Rectangle 1027"/>
          <p:cNvSpPr>
            <a:spLocks noGrp="1" noChangeArrowheads="1"/>
          </p:cNvSpPr>
          <p:nvPr>
            <p:ph idx="1"/>
          </p:nvPr>
        </p:nvSpPr>
        <p:spPr/>
        <p:txBody>
          <a:bodyPr>
            <a:noAutofit/>
          </a:bodyPr>
          <a:lstStyle/>
          <a:p>
            <a:pPr eaLnBrk="1" hangingPunct="1">
              <a:lnSpc>
                <a:spcPct val="110000"/>
              </a:lnSpc>
              <a:spcBef>
                <a:spcPct val="0"/>
              </a:spcBef>
            </a:pPr>
            <a:r>
              <a:rPr lang="zh-CN" altLang="en-US" dirty="0">
                <a:solidFill>
                  <a:srgbClr val="FF0000"/>
                </a:solidFill>
              </a:rPr>
              <a:t>数据库的二级映像</a:t>
            </a:r>
            <a:endParaRPr lang="zh-CN" altLang="en-US" dirty="0"/>
          </a:p>
          <a:p>
            <a:pPr lvl="1" eaLnBrk="1" hangingPunct="1">
              <a:lnSpc>
                <a:spcPct val="110000"/>
              </a:lnSpc>
              <a:spcBef>
                <a:spcPct val="0"/>
              </a:spcBef>
            </a:pPr>
            <a:r>
              <a:rPr lang="zh-CN" altLang="en-US" dirty="0"/>
              <a:t>保证了数据库外模式的稳定性</a:t>
            </a:r>
          </a:p>
          <a:p>
            <a:pPr lvl="1" eaLnBrk="1" hangingPunct="1">
              <a:lnSpc>
                <a:spcPct val="110000"/>
              </a:lnSpc>
              <a:spcBef>
                <a:spcPct val="0"/>
              </a:spcBef>
            </a:pPr>
            <a:r>
              <a:rPr lang="zh-CN" altLang="en-US" dirty="0"/>
              <a:t>从底层保证了应用程序的稳定性，除非应用需求本身发生变化，否则应用程序一般不需要修改 </a:t>
            </a:r>
            <a:endParaRPr lang="en-US" altLang="zh-CN" dirty="0"/>
          </a:p>
          <a:p>
            <a:pPr eaLnBrk="1" hangingPunct="1">
              <a:lnSpc>
                <a:spcPct val="110000"/>
              </a:lnSpc>
              <a:spcBef>
                <a:spcPts val="2000"/>
              </a:spcBef>
            </a:pPr>
            <a:r>
              <a:rPr lang="zh-CN" altLang="en-US" dirty="0"/>
              <a:t>数据与程序之间的独立性，使得数据的定义和描述可以从应用程序中分离出去 </a:t>
            </a:r>
            <a:endParaRPr lang="zh-CN" altLang="en-US" sz="2400" dirty="0"/>
          </a:p>
          <a:p>
            <a:pPr eaLnBrk="1" hangingPunct="1">
              <a:lnSpc>
                <a:spcPct val="110000"/>
              </a:lnSpc>
              <a:spcBef>
                <a:spcPts val="2000"/>
              </a:spcBef>
            </a:pPr>
            <a:r>
              <a:rPr lang="zh-CN" altLang="en-US" dirty="0"/>
              <a:t>数据的存取由数据库管理系统管理</a:t>
            </a:r>
          </a:p>
          <a:p>
            <a:pPr lvl="1" eaLnBrk="1" hangingPunct="1">
              <a:lnSpc>
                <a:spcPct val="110000"/>
              </a:lnSpc>
              <a:spcBef>
                <a:spcPct val="0"/>
              </a:spcBef>
            </a:pPr>
            <a:r>
              <a:rPr lang="zh-CN" altLang="en-US" dirty="0"/>
              <a:t>简化了应用程序的编制</a:t>
            </a:r>
          </a:p>
          <a:p>
            <a:pPr lvl="1" eaLnBrk="1" hangingPunct="1">
              <a:lnSpc>
                <a:spcPct val="110000"/>
              </a:lnSpc>
              <a:spcBef>
                <a:spcPct val="0"/>
              </a:spcBef>
            </a:pPr>
            <a:r>
              <a:rPr lang="zh-CN" altLang="en-US" dirty="0"/>
              <a:t>大大减少了应用程序的维护和修改 </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114</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a:solidFill>
                  <a:schemeClr val="tx1"/>
                </a:solidFill>
                <a:latin typeface="楷体" panose="02010609060101010101" charset="-122"/>
                <a:ea typeface="楷体" panose="02010609060101010101" charset="-122"/>
                <a:cs typeface="楷体" panose="02010609060101010101" charset="-122"/>
                <a:sym typeface="+mn-ea"/>
              </a:rPr>
              <a:t>三级模式与</a:t>
            </a:r>
            <a:r>
              <a:rPr lang="en-US" altLang="zh-CN" b="1">
                <a:solidFill>
                  <a:schemeClr val="tx1"/>
                </a:solidFill>
                <a:latin typeface="楷体" panose="02010609060101010101" charset="-122"/>
                <a:ea typeface="楷体" panose="02010609060101010101" charset="-122"/>
                <a:cs typeface="楷体" panose="02010609060101010101" charset="-122"/>
                <a:sym typeface="+mn-ea"/>
              </a:rPr>
              <a:t> DBMS</a:t>
            </a:r>
            <a:r>
              <a:rPr lang="zh-CN" altLang="en-US" b="1">
                <a:solidFill>
                  <a:schemeClr val="tx1"/>
                </a:solidFill>
                <a:latin typeface="楷体" panose="02010609060101010101" charset="-122"/>
                <a:ea typeface="楷体" panose="02010609060101010101" charset="-122"/>
                <a:cs typeface="楷体" panose="02010609060101010101" charset="-122"/>
                <a:sym typeface="+mn-ea"/>
              </a:rPr>
              <a:t>、应用程序之间的关系</a:t>
            </a:r>
          </a:p>
        </p:txBody>
      </p:sp>
      <p:pic>
        <p:nvPicPr>
          <p:cNvPr id="51201" name="图片 47105"/>
          <p:cNvPicPr>
            <a:picLocks noChangeAspect="1"/>
          </p:cNvPicPr>
          <p:nvPr/>
        </p:nvPicPr>
        <p:blipFill>
          <a:blip r:embed="rId2"/>
          <a:stretch>
            <a:fillRect/>
          </a:stretch>
        </p:blipFill>
        <p:spPr>
          <a:xfrm>
            <a:off x="2138045" y="639445"/>
            <a:ext cx="8349615" cy="6242685"/>
          </a:xfrm>
          <a:prstGeom prst="rect">
            <a:avLst/>
          </a:prstGeom>
          <a:noFill/>
          <a:ln w="9525">
            <a:noFill/>
          </a:ln>
        </p:spPr>
      </p:pic>
      <p:sp>
        <p:nvSpPr>
          <p:cNvPr id="4" name="灯片编号占位符 3"/>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115</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p:cNvSpPr>
          <p:nvPr>
            <p:ph type="title"/>
          </p:nvPr>
        </p:nvSpPr>
        <p:spPr/>
        <p:txBody>
          <a:bodyPr wrap="square" tIns="0" bIns="0" anchor="ctr"/>
          <a:lstStyle/>
          <a:p>
            <a:pPr eaLnBrk="1" hangingPunct="1"/>
            <a:r>
              <a:rPr lang="en-US" altLang="zh-CN"/>
              <a:t>1.3  数据库</a:t>
            </a:r>
            <a:r>
              <a:rPr lang="zh-CN" altLang="en-US"/>
              <a:t>系统</a:t>
            </a:r>
            <a:r>
              <a:rPr lang="en-US" altLang="zh-CN"/>
              <a:t>的</a:t>
            </a:r>
            <a:r>
              <a:rPr lang="zh-CN" altLang="en-US"/>
              <a:t>结构</a:t>
            </a:r>
          </a:p>
        </p:txBody>
      </p:sp>
      <p:sp>
        <p:nvSpPr>
          <p:cNvPr id="18437" name="Rectangle 3"/>
          <p:cNvSpPr>
            <a:spLocks noGrp="1"/>
          </p:cNvSpPr>
          <p:nvPr>
            <p:ph idx="1"/>
          </p:nvPr>
        </p:nvSpPr>
        <p:spPr/>
        <p:txBody>
          <a:bodyPr wrap="square" anchor="t"/>
          <a:lstStyle/>
          <a:p>
            <a:pPr eaLnBrk="1" hangingPunct="1"/>
            <a:r>
              <a:rPr lang="zh-CN" altLang="en-US" sz="3000" dirty="0">
                <a:sym typeface="+mn-ea"/>
              </a:rPr>
              <a:t>从数据库最终用户角度看，数据库系统的结构分为</a:t>
            </a:r>
            <a:r>
              <a:rPr lang="en-US" altLang="zh-CN" sz="3000" dirty="0">
                <a:sym typeface="+mn-ea"/>
              </a:rPr>
              <a:t>:</a:t>
            </a:r>
            <a:endParaRPr lang="en-US" altLang="zh-CN" sz="3000" dirty="0"/>
          </a:p>
          <a:p>
            <a:pPr lvl="1">
              <a:lnSpc>
                <a:spcPct val="110000"/>
              </a:lnSpc>
              <a:spcBef>
                <a:spcPts val="1000"/>
              </a:spcBef>
            </a:pPr>
            <a:r>
              <a:rPr lang="zh-CN" altLang="en-US" sz="3000" dirty="0">
                <a:sym typeface="+mn-ea"/>
              </a:rPr>
              <a:t>单用户结构</a:t>
            </a:r>
            <a:endParaRPr lang="zh-CN" altLang="en-US" sz="3000" dirty="0"/>
          </a:p>
          <a:p>
            <a:pPr lvl="1">
              <a:lnSpc>
                <a:spcPct val="110000"/>
              </a:lnSpc>
              <a:spcBef>
                <a:spcPts val="1000"/>
              </a:spcBef>
            </a:pPr>
            <a:r>
              <a:rPr lang="zh-CN" altLang="en-US" sz="3000" dirty="0">
                <a:sym typeface="+mn-ea"/>
              </a:rPr>
              <a:t>主从式结构</a:t>
            </a:r>
            <a:endParaRPr lang="zh-CN" altLang="en-US" sz="3000" dirty="0"/>
          </a:p>
          <a:p>
            <a:pPr lvl="1">
              <a:lnSpc>
                <a:spcPct val="110000"/>
              </a:lnSpc>
              <a:spcBef>
                <a:spcPts val="1000"/>
              </a:spcBef>
            </a:pPr>
            <a:r>
              <a:rPr lang="zh-CN" altLang="en-US" sz="3000" dirty="0">
                <a:solidFill>
                  <a:srgbClr val="FF0000"/>
                </a:solidFill>
                <a:sym typeface="+mn-ea"/>
              </a:rPr>
              <a:t>分布式结构</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客户</a:t>
            </a:r>
            <a:r>
              <a:rPr lang="en-US" altLang="zh-CN" sz="3000" dirty="0">
                <a:solidFill>
                  <a:srgbClr val="FF0000"/>
                </a:solidFill>
                <a:sym typeface="+mn-ea"/>
              </a:rPr>
              <a:t>-</a:t>
            </a:r>
            <a:r>
              <a:rPr lang="zh-CN" altLang="en-US" sz="3000" dirty="0">
                <a:solidFill>
                  <a:srgbClr val="FF0000"/>
                </a:solidFill>
                <a:sym typeface="+mn-ea"/>
              </a:rPr>
              <a:t>服务器</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浏览器</a:t>
            </a:r>
            <a:r>
              <a:rPr lang="en-US" altLang="zh-CN" sz="3000" dirty="0">
                <a:solidFill>
                  <a:srgbClr val="FF0000"/>
                </a:solidFill>
                <a:sym typeface="+mn-ea"/>
              </a:rPr>
              <a:t>-</a:t>
            </a:r>
            <a:r>
              <a:rPr lang="zh-CN" altLang="en-US" sz="3000" dirty="0">
                <a:solidFill>
                  <a:srgbClr val="FF0000"/>
                </a:solidFill>
                <a:sym typeface="+mn-ea"/>
              </a:rPr>
              <a:t>应用服务器／数据库服务器多层结构等</a:t>
            </a:r>
            <a:endParaRPr lang="zh-CN" altLang="en-US" dirty="0">
              <a:solidFill>
                <a:schemeClr val="tx1"/>
              </a:solidFill>
              <a:latin typeface="Arial" panose="020B0604020202020204" pitchFamily="34" charset="0"/>
              <a:ea typeface="宋体" panose="02010600030101010101" pitchFamily="2"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116</a:t>
            </a:fld>
            <a:endParaRPr lang="zh-CN" altLang="en-US" strike="noStrike" noProof="1"/>
          </a:p>
        </p:txBody>
      </p:sp>
      <p:sp>
        <p:nvSpPr>
          <p:cNvPr id="2" name="页脚占位符 1"/>
          <p:cNvSpPr>
            <a:spLocks noGrp="1"/>
          </p:cNvSpPr>
          <p:nvPr>
            <p:ph type="ftr" sz="quarter" idx="11"/>
          </p:nvPr>
        </p:nvSpPr>
        <p:spPr>
          <a:xfrm>
            <a:off x="0" y="6695365"/>
            <a:ext cx="4114800" cy="153670"/>
          </a:xfrm>
        </p:spPr>
        <p:txBody>
          <a:bodyPr/>
          <a:lstStyle/>
          <a:p>
            <a:r>
              <a:rPr lang="zh-CN" altLang="en-US"/>
              <a:t>ch01_绪论</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p:cNvSpPr>
          <p:nvPr>
            <p:ph type="title"/>
          </p:nvPr>
        </p:nvSpPr>
        <p:spPr/>
        <p:txBody>
          <a:bodyPr wrap="square" anchor="ctr"/>
          <a:lstStyle/>
          <a:p>
            <a:pPr eaLnBrk="1" hangingPunct="1"/>
            <a:r>
              <a:rPr lang="en-US" altLang="x-none" dirty="0">
                <a:ea typeface="宋体" panose="02010600030101010101" pitchFamily="2" charset="-122"/>
              </a:rPr>
              <a:t>Architecture of Database System</a:t>
            </a:r>
          </a:p>
        </p:txBody>
      </p:sp>
      <p:graphicFrame>
        <p:nvGraphicFramePr>
          <p:cNvPr id="8200" name="Object 5"/>
          <p:cNvGraphicFramePr>
            <a:graphicFrameLocks noChangeAspect="1"/>
          </p:cNvGraphicFramePr>
          <p:nvPr/>
        </p:nvGraphicFramePr>
        <p:xfrm>
          <a:off x="4224338" y="4076700"/>
          <a:ext cx="4176712" cy="2089150"/>
        </p:xfrm>
        <a:graphic>
          <a:graphicData uri="http://schemas.openxmlformats.org/presentationml/2006/ole">
            <mc:AlternateContent xmlns:mc="http://schemas.openxmlformats.org/markup-compatibility/2006">
              <mc:Choice xmlns:v="urn:schemas-microsoft-com:vml" Requires="v">
                <p:oleObj r:id="rId2" imgW="1905000" imgH="1619250" progId="Word.Picture.8">
                  <p:embed/>
                </p:oleObj>
              </mc:Choice>
              <mc:Fallback>
                <p:oleObj r:id="rId2" imgW="1905000" imgH="1619250" progId="Word.Picture.8">
                  <p:embed/>
                  <p:pic>
                    <p:nvPicPr>
                      <p:cNvPr id="0" name="图片 3075"/>
                      <p:cNvPicPr/>
                      <p:nvPr/>
                    </p:nvPicPr>
                    <p:blipFill>
                      <a:blip r:embed="rId3"/>
                      <a:stretch>
                        <a:fillRect/>
                      </a:stretch>
                    </p:blipFill>
                    <p:spPr>
                      <a:xfrm>
                        <a:off x="4224338" y="4076700"/>
                        <a:ext cx="4176712" cy="2089150"/>
                      </a:xfrm>
                      <a:prstGeom prst="rect">
                        <a:avLst/>
                      </a:prstGeom>
                      <a:noFill/>
                      <a:ln w="38100">
                        <a:noFill/>
                        <a:miter/>
                      </a:ln>
                    </p:spPr>
                  </p:pic>
                </p:oleObj>
              </mc:Fallback>
            </mc:AlternateContent>
          </a:graphicData>
        </a:graphic>
      </p:graphicFrame>
      <p:grpSp>
        <p:nvGrpSpPr>
          <p:cNvPr id="8201" name="组合 8200"/>
          <p:cNvGrpSpPr/>
          <p:nvPr/>
        </p:nvGrpSpPr>
        <p:grpSpPr>
          <a:xfrm>
            <a:off x="1774825" y="2636838"/>
            <a:ext cx="8281988" cy="647700"/>
            <a:chOff x="0" y="0"/>
            <a:chExt cx="5217" cy="408"/>
          </a:xfrm>
        </p:grpSpPr>
        <p:sp>
          <p:nvSpPr>
            <p:cNvPr id="2" name="Line 13"/>
            <p:cNvSpPr/>
            <p:nvPr/>
          </p:nvSpPr>
          <p:spPr>
            <a:xfrm>
              <a:off x="46" y="45"/>
              <a:ext cx="5171" cy="0"/>
            </a:xfrm>
            <a:prstGeom prst="line">
              <a:avLst/>
            </a:prstGeom>
            <a:ln w="38100" cap="flat" cmpd="sng">
              <a:solidFill>
                <a:srgbClr val="0000FF"/>
              </a:solidFill>
              <a:prstDash val="solid"/>
              <a:round/>
              <a:headEnd type="none" w="med" len="med"/>
              <a:tailEnd type="none" w="med" len="med"/>
            </a:ln>
          </p:spPr>
        </p:sp>
        <p:sp>
          <p:nvSpPr>
            <p:cNvPr id="3" name="Line 23"/>
            <p:cNvSpPr/>
            <p:nvPr/>
          </p:nvSpPr>
          <p:spPr>
            <a:xfrm>
              <a:off x="2858" y="45"/>
              <a:ext cx="0" cy="363"/>
            </a:xfrm>
            <a:prstGeom prst="line">
              <a:avLst/>
            </a:prstGeom>
            <a:ln w="25400" cap="flat" cmpd="sng">
              <a:solidFill>
                <a:schemeClr val="tx1"/>
              </a:solidFill>
              <a:prstDash val="solid"/>
              <a:round/>
              <a:headEnd type="none" w="med" len="med"/>
              <a:tailEnd type="none" w="med" len="med"/>
            </a:ln>
          </p:spPr>
        </p:sp>
        <p:sp>
          <p:nvSpPr>
            <p:cNvPr id="8202" name="Text Box 24"/>
            <p:cNvSpPr txBox="1"/>
            <p:nvPr/>
          </p:nvSpPr>
          <p:spPr>
            <a:xfrm>
              <a:off x="0" y="0"/>
              <a:ext cx="1714" cy="329"/>
            </a:xfrm>
            <a:prstGeom prst="rect">
              <a:avLst/>
            </a:prstGeom>
            <a:noFill/>
            <a:ln w="9525">
              <a:noFill/>
            </a:ln>
          </p:spPr>
          <p:txBody>
            <a:bodyPr anchor="t">
              <a:spAutoFit/>
            </a:bodyPr>
            <a:lstStyle/>
            <a:p>
              <a:pPr algn="ctr">
                <a:spcBef>
                  <a:spcPct val="50000"/>
                </a:spcBef>
              </a:pPr>
              <a:r>
                <a:rPr lang="en-US" altLang="x-none" sz="2800" dirty="0">
                  <a:latin typeface="Arial" panose="020B0604020202020204" pitchFamily="34" charset="0"/>
                  <a:ea typeface="宋体" panose="02010600030101010101" pitchFamily="2" charset="-122"/>
                </a:rPr>
                <a:t>Internet/Intranet</a:t>
              </a:r>
            </a:p>
          </p:txBody>
        </p:sp>
      </p:grpSp>
      <p:grpSp>
        <p:nvGrpSpPr>
          <p:cNvPr id="8216" name="组合 8215"/>
          <p:cNvGrpSpPr/>
          <p:nvPr/>
        </p:nvGrpSpPr>
        <p:grpSpPr>
          <a:xfrm>
            <a:off x="3287713" y="3284538"/>
            <a:ext cx="6048375" cy="1008062"/>
            <a:chOff x="0" y="0"/>
            <a:chExt cx="3810" cy="635"/>
          </a:xfrm>
        </p:grpSpPr>
        <p:sp>
          <p:nvSpPr>
            <p:cNvPr id="8204" name="Text Box 6"/>
            <p:cNvSpPr txBox="1"/>
            <p:nvPr/>
          </p:nvSpPr>
          <p:spPr>
            <a:xfrm>
              <a:off x="0" y="0"/>
              <a:ext cx="3810" cy="329"/>
            </a:xfrm>
            <a:prstGeom prst="rect">
              <a:avLst/>
            </a:prstGeom>
            <a:solidFill>
              <a:srgbClr val="FFFFFF"/>
            </a:solidFill>
            <a:ln w="19050" cap="flat" cmpd="sng">
              <a:solidFill>
                <a:schemeClr val="tx1"/>
              </a:solidFill>
              <a:prstDash val="solid"/>
              <a:miter/>
              <a:headEnd type="none" w="med" len="med"/>
              <a:tailEnd type="none" w="med" len="med"/>
            </a:ln>
          </p:spPr>
          <p:txBody>
            <a:bodyPr anchor="t">
              <a:spAutoFit/>
            </a:bodyPr>
            <a:lstStyle/>
            <a:p>
              <a:pPr algn="ctr">
                <a:spcBef>
                  <a:spcPct val="50000"/>
                </a:spcBef>
              </a:pPr>
              <a:r>
                <a:rPr lang="en-US" altLang="x-none" sz="2800" b="1" dirty="0">
                  <a:latin typeface="Arial" panose="020B0604020202020204" pitchFamily="34" charset="0"/>
                  <a:ea typeface="宋体" panose="02010600030101010101" pitchFamily="2" charset="-122"/>
                </a:rPr>
                <a:t>Database Management System</a:t>
              </a:r>
            </a:p>
          </p:txBody>
        </p:sp>
        <p:sp>
          <p:nvSpPr>
            <p:cNvPr id="8205" name="Line 28"/>
            <p:cNvSpPr/>
            <p:nvPr/>
          </p:nvSpPr>
          <p:spPr>
            <a:xfrm>
              <a:off x="1905" y="347"/>
              <a:ext cx="0" cy="288"/>
            </a:xfrm>
            <a:prstGeom prst="line">
              <a:avLst/>
            </a:prstGeom>
            <a:ln w="25400" cap="flat" cmpd="sng">
              <a:solidFill>
                <a:schemeClr val="tx1"/>
              </a:solidFill>
              <a:prstDash val="solid"/>
              <a:round/>
              <a:headEnd type="none" w="med" len="med"/>
              <a:tailEnd type="none" w="med" len="med"/>
            </a:ln>
          </p:spPr>
        </p:sp>
      </p:grpSp>
      <p:grpSp>
        <p:nvGrpSpPr>
          <p:cNvPr id="7" name="组合 6"/>
          <p:cNvGrpSpPr/>
          <p:nvPr/>
        </p:nvGrpSpPr>
        <p:grpSpPr>
          <a:xfrm>
            <a:off x="2263775" y="765175"/>
            <a:ext cx="5067300" cy="1947863"/>
            <a:chOff x="600" y="1205"/>
            <a:chExt cx="7980" cy="3067"/>
          </a:xfrm>
        </p:grpSpPr>
        <p:grpSp>
          <p:nvGrpSpPr>
            <p:cNvPr id="8208" name="组合 8204"/>
            <p:cNvGrpSpPr/>
            <p:nvPr/>
          </p:nvGrpSpPr>
          <p:grpSpPr>
            <a:xfrm>
              <a:off x="1250" y="1205"/>
              <a:ext cx="7329" cy="3067"/>
              <a:chOff x="-21" y="0"/>
              <a:chExt cx="2932" cy="1227"/>
            </a:xfrm>
          </p:grpSpPr>
          <p:sp>
            <p:nvSpPr>
              <p:cNvPr id="8209" name="Line 18"/>
              <p:cNvSpPr/>
              <p:nvPr/>
            </p:nvSpPr>
            <p:spPr>
              <a:xfrm>
                <a:off x="-21" y="840"/>
                <a:ext cx="0" cy="384"/>
              </a:xfrm>
              <a:prstGeom prst="line">
                <a:avLst/>
              </a:prstGeom>
              <a:ln w="25400" cap="flat" cmpd="sng">
                <a:solidFill>
                  <a:schemeClr val="tx1"/>
                </a:solidFill>
                <a:prstDash val="solid"/>
                <a:round/>
                <a:headEnd type="none" w="med" len="med"/>
                <a:tailEnd type="none" w="med" len="med"/>
              </a:ln>
            </p:spPr>
          </p:sp>
          <p:sp>
            <p:nvSpPr>
              <p:cNvPr id="8210" name="Line 22"/>
              <p:cNvSpPr/>
              <p:nvPr/>
            </p:nvSpPr>
            <p:spPr>
              <a:xfrm>
                <a:off x="1381" y="843"/>
                <a:ext cx="0" cy="384"/>
              </a:xfrm>
              <a:prstGeom prst="line">
                <a:avLst/>
              </a:prstGeom>
              <a:ln w="25400" cap="flat" cmpd="sng">
                <a:solidFill>
                  <a:schemeClr val="tx1"/>
                </a:solidFill>
                <a:prstDash val="solid"/>
                <a:round/>
                <a:headEnd type="none" w="med" len="med"/>
                <a:tailEnd type="none" w="med" len="med"/>
              </a:ln>
            </p:spPr>
          </p:sp>
          <p:sp>
            <p:nvSpPr>
              <p:cNvPr id="8211" name="Line 25"/>
              <p:cNvSpPr/>
              <p:nvPr/>
            </p:nvSpPr>
            <p:spPr>
              <a:xfrm>
                <a:off x="2039" y="576"/>
                <a:ext cx="872" cy="14"/>
              </a:xfrm>
              <a:prstGeom prst="line">
                <a:avLst/>
              </a:prstGeom>
              <a:ln w="38100" cap="rnd" cmpd="sng">
                <a:solidFill>
                  <a:schemeClr val="tx1"/>
                </a:solidFill>
                <a:prstDash val="sysDot"/>
                <a:round/>
                <a:headEnd type="none" w="med" len="med"/>
                <a:tailEnd type="none" w="med" len="med"/>
              </a:ln>
            </p:spPr>
          </p:sp>
          <p:sp>
            <p:nvSpPr>
              <p:cNvPr id="8212" name="Text Box 26"/>
              <p:cNvSpPr txBox="1"/>
              <p:nvPr/>
            </p:nvSpPr>
            <p:spPr>
              <a:xfrm>
                <a:off x="355" y="0"/>
                <a:ext cx="1324" cy="329"/>
              </a:xfrm>
              <a:prstGeom prst="rect">
                <a:avLst/>
              </a:prstGeom>
              <a:noFill/>
              <a:ln w="9525">
                <a:noFill/>
              </a:ln>
            </p:spPr>
            <p:txBody>
              <a:bodyPr anchor="t">
                <a:spAutoFit/>
              </a:bodyPr>
              <a:lstStyle/>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End Users</a:t>
                </a:r>
              </a:p>
            </p:txBody>
          </p:sp>
        </p:grpSp>
        <p:pic>
          <p:nvPicPr>
            <p:cNvPr id="8213" name="图片 2" descr="A000220150320H68PPIC"/>
            <p:cNvPicPr>
              <a:picLocks noChangeAspect="1"/>
            </p:cNvPicPr>
            <p:nvPr/>
          </p:nvPicPr>
          <p:blipFill>
            <a:blip r:embed="rId4"/>
            <a:stretch>
              <a:fillRect/>
            </a:stretch>
          </p:blipFill>
          <p:spPr>
            <a:xfrm>
              <a:off x="2416" y="1963"/>
              <a:ext cx="1024" cy="1417"/>
            </a:xfrm>
            <a:prstGeom prst="rect">
              <a:avLst/>
            </a:prstGeom>
            <a:noFill/>
            <a:ln w="9525">
              <a:noFill/>
            </a:ln>
          </p:spPr>
        </p:pic>
        <p:pic>
          <p:nvPicPr>
            <p:cNvPr id="8214" name="图片 3" descr="A000220150318D09PPIC"/>
            <p:cNvPicPr>
              <a:picLocks noChangeAspect="1"/>
            </p:cNvPicPr>
            <p:nvPr/>
          </p:nvPicPr>
          <p:blipFill>
            <a:blip r:embed="rId5"/>
            <a:stretch>
              <a:fillRect/>
            </a:stretch>
          </p:blipFill>
          <p:spPr>
            <a:xfrm>
              <a:off x="600" y="1963"/>
              <a:ext cx="1206" cy="1417"/>
            </a:xfrm>
            <a:prstGeom prst="rect">
              <a:avLst/>
            </a:prstGeom>
            <a:noFill/>
            <a:ln w="9525">
              <a:noFill/>
            </a:ln>
          </p:spPr>
        </p:pic>
        <p:pic>
          <p:nvPicPr>
            <p:cNvPr id="8215" name="图片 4"/>
            <p:cNvPicPr>
              <a:picLocks noChangeAspect="1"/>
            </p:cNvPicPr>
            <p:nvPr/>
          </p:nvPicPr>
          <p:blipFill>
            <a:blip r:embed="rId6"/>
            <a:stretch>
              <a:fillRect/>
            </a:stretch>
          </p:blipFill>
          <p:spPr>
            <a:xfrm>
              <a:off x="4052" y="1963"/>
              <a:ext cx="1475" cy="1417"/>
            </a:xfrm>
            <a:prstGeom prst="rect">
              <a:avLst/>
            </a:prstGeom>
            <a:noFill/>
            <a:ln w="9525">
              <a:noFill/>
            </a:ln>
          </p:spPr>
        </p:pic>
      </p:grpSp>
      <p:grpSp>
        <p:nvGrpSpPr>
          <p:cNvPr id="8" name="组合 7"/>
          <p:cNvGrpSpPr/>
          <p:nvPr/>
        </p:nvGrpSpPr>
        <p:grpSpPr>
          <a:xfrm>
            <a:off x="7966075" y="822325"/>
            <a:ext cx="1524000" cy="1914525"/>
            <a:chOff x="9240" y="1295"/>
            <a:chExt cx="2400" cy="3014"/>
          </a:xfrm>
        </p:grpSpPr>
        <p:grpSp>
          <p:nvGrpSpPr>
            <p:cNvPr id="8217" name="组合 8211"/>
            <p:cNvGrpSpPr/>
            <p:nvPr/>
          </p:nvGrpSpPr>
          <p:grpSpPr>
            <a:xfrm>
              <a:off x="9240" y="1295"/>
              <a:ext cx="2400" cy="3015"/>
              <a:chOff x="0" y="0"/>
              <a:chExt cx="960" cy="1206"/>
            </a:xfrm>
          </p:grpSpPr>
          <p:sp>
            <p:nvSpPr>
              <p:cNvPr id="8218" name="Line 20"/>
              <p:cNvSpPr/>
              <p:nvPr/>
            </p:nvSpPr>
            <p:spPr>
              <a:xfrm>
                <a:off x="480" y="822"/>
                <a:ext cx="0" cy="384"/>
              </a:xfrm>
              <a:prstGeom prst="line">
                <a:avLst/>
              </a:prstGeom>
              <a:ln w="25400" cap="flat" cmpd="sng">
                <a:solidFill>
                  <a:schemeClr val="tx1"/>
                </a:solidFill>
                <a:prstDash val="solid"/>
                <a:round/>
                <a:headEnd type="none" w="med" len="med"/>
                <a:tailEnd type="none" w="med" len="med"/>
              </a:ln>
            </p:spPr>
          </p:sp>
          <p:sp>
            <p:nvSpPr>
              <p:cNvPr id="8219" name="Text Box 27"/>
              <p:cNvSpPr txBox="1"/>
              <p:nvPr/>
            </p:nvSpPr>
            <p:spPr>
              <a:xfrm>
                <a:off x="0" y="0"/>
                <a:ext cx="960" cy="329"/>
              </a:xfrm>
              <a:prstGeom prst="rect">
                <a:avLst/>
              </a:prstGeom>
              <a:noFill/>
              <a:ln w="9525">
                <a:noFill/>
              </a:ln>
            </p:spPr>
            <p:txBody>
              <a:bodyPr anchor="t">
                <a:spAutoFit/>
              </a:bodyPr>
              <a:lstStyle/>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DBAs</a:t>
                </a:r>
              </a:p>
            </p:txBody>
          </p:sp>
        </p:grpSp>
        <p:pic>
          <p:nvPicPr>
            <p:cNvPr id="8220" name="图片 5"/>
            <p:cNvPicPr>
              <a:picLocks noChangeAspect="1"/>
            </p:cNvPicPr>
            <p:nvPr/>
          </p:nvPicPr>
          <p:blipFill>
            <a:blip r:embed="rId7"/>
            <a:stretch>
              <a:fillRect/>
            </a:stretch>
          </p:blipFill>
          <p:spPr>
            <a:xfrm>
              <a:off x="9560" y="2023"/>
              <a:ext cx="1760" cy="1417"/>
            </a:xfrm>
            <a:prstGeom prst="rect">
              <a:avLst/>
            </a:prstGeom>
            <a:noFill/>
            <a:ln w="9525">
              <a:noFill/>
            </a:ln>
          </p:spPr>
        </p:pic>
      </p:grpSp>
      <p:grpSp>
        <p:nvGrpSpPr>
          <p:cNvPr id="11" name="组合 10"/>
          <p:cNvGrpSpPr/>
          <p:nvPr/>
        </p:nvGrpSpPr>
        <p:grpSpPr>
          <a:xfrm>
            <a:off x="9607550" y="3068638"/>
            <a:ext cx="973455" cy="2951797"/>
            <a:chOff x="12529" y="4833"/>
            <a:chExt cx="1533" cy="4649"/>
          </a:xfrm>
        </p:grpSpPr>
        <p:sp>
          <p:nvSpPr>
            <p:cNvPr id="9" name="右大括号 8"/>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lstStyle/>
            <a:p>
              <a:pPr algn="ctr" fontAlgn="base"/>
              <a:endParaRPr lang="zh-CN" altLang="en-US" strike="noStrike" noProof="1"/>
            </a:p>
          </p:txBody>
        </p:sp>
        <p:sp>
          <p:nvSpPr>
            <p:cNvPr id="8223" name="文本框 9"/>
            <p:cNvSpPr txBox="1"/>
            <p:nvPr/>
          </p:nvSpPr>
          <p:spPr>
            <a:xfrm>
              <a:off x="13237" y="5151"/>
              <a:ext cx="825" cy="4215"/>
            </a:xfrm>
            <a:prstGeom prst="rect">
              <a:avLst/>
            </a:prstGeom>
            <a:noFill/>
            <a:ln w="9525">
              <a:noFill/>
            </a:ln>
          </p:spPr>
          <p:txBody>
            <a:bodyPr wrap="square" anchor="t">
              <a:spAutoFit/>
            </a:bodyPr>
            <a:lstStyle/>
            <a:p>
              <a:r>
                <a:rPr lang="zh-CN" altLang="en-US" sz="2800" b="1">
                  <a:solidFill>
                    <a:srgbClr val="FF0000"/>
                  </a:solidFill>
                  <a:latin typeface="Times New Roman" panose="02020603050405020304" pitchFamily="2" charset="0"/>
                  <a:ea typeface="宋体" panose="02010600030101010101" pitchFamily="2" charset="-122"/>
                </a:rPr>
                <a:t>数据库服务器</a:t>
              </a:r>
            </a:p>
          </p:txBody>
        </p:sp>
      </p:grpSp>
      <p:grpSp>
        <p:nvGrpSpPr>
          <p:cNvPr id="4" name="组合 3"/>
          <p:cNvGrpSpPr/>
          <p:nvPr/>
        </p:nvGrpSpPr>
        <p:grpSpPr>
          <a:xfrm>
            <a:off x="9607550" y="595217"/>
            <a:ext cx="1041269" cy="2245357"/>
            <a:chOff x="12529" y="4389"/>
            <a:chExt cx="1641" cy="6214"/>
          </a:xfrm>
        </p:grpSpPr>
        <p:sp>
          <p:nvSpPr>
            <p:cNvPr id="5" name="右大括号 4"/>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lstStyle/>
            <a:p>
              <a:pPr algn="ctr" fontAlgn="base"/>
              <a:endParaRPr lang="zh-CN" altLang="en-US" strike="noStrike" noProof="1"/>
            </a:p>
          </p:txBody>
        </p:sp>
        <p:sp>
          <p:nvSpPr>
            <p:cNvPr id="8226" name="文本框 9"/>
            <p:cNvSpPr txBox="1"/>
            <p:nvPr/>
          </p:nvSpPr>
          <p:spPr>
            <a:xfrm>
              <a:off x="13345" y="4389"/>
              <a:ext cx="825" cy="6214"/>
            </a:xfrm>
            <a:prstGeom prst="rect">
              <a:avLst/>
            </a:prstGeom>
            <a:noFill/>
            <a:ln w="9525">
              <a:noFill/>
            </a:ln>
          </p:spPr>
          <p:txBody>
            <a:bodyPr wrap="square" anchor="t">
              <a:spAutoFit/>
            </a:bodyPr>
            <a:lstStyle/>
            <a:p>
              <a:r>
                <a:rPr lang="zh-CN" altLang="en-US" sz="2800" b="1">
                  <a:solidFill>
                    <a:srgbClr val="FF0000"/>
                  </a:solidFill>
                  <a:latin typeface="Times New Roman" panose="02020603050405020304" pitchFamily="2" charset="0"/>
                  <a:ea typeface="宋体" panose="02010600030101010101" pitchFamily="2" charset="-122"/>
                </a:rPr>
                <a:t>数据库应用</a:t>
              </a:r>
            </a:p>
          </p:txBody>
        </p:sp>
      </p:grpSp>
      <p:sp>
        <p:nvSpPr>
          <p:cNvPr id="10" name="灯片编号占位符 9"/>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117</a:t>
            </a:fld>
            <a:endParaRPr lang="zh-CN" altLang="en-US" strike="noStrike" noProof="1"/>
          </a:p>
        </p:txBody>
      </p:sp>
      <p:sp>
        <p:nvSpPr>
          <p:cNvPr id="6" name="页脚占位符 5"/>
          <p:cNvSpPr>
            <a:spLocks noGrp="1"/>
          </p:cNvSpPr>
          <p:nvPr>
            <p:ph type="ftr" sz="quarter" idx="11"/>
          </p:nvPr>
        </p:nvSpPr>
        <p:spPr/>
        <p:txBody>
          <a:bodyPr/>
          <a:lstStyle/>
          <a:p>
            <a:r>
              <a:rPr lang="zh-CN" altLang="en-US"/>
              <a:t>ch01_绪论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blinds(horizontal)">
                                      <p:cBhvr>
                                        <p:cTn id="7" dur="500"/>
                                        <p:tgtEl>
                                          <p:spTgt spid="820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8216"/>
                                        </p:tgtEl>
                                        <p:attrNameLst>
                                          <p:attrName>style.visibility</p:attrName>
                                        </p:attrNameLst>
                                      </p:cBhvr>
                                      <p:to>
                                        <p:strVal val="visible"/>
                                      </p:to>
                                    </p:set>
                                    <p:anim calcmode="lin" valueType="num">
                                      <p:cBhvr>
                                        <p:cTn id="12" dur="500" fill="hold"/>
                                        <p:tgtEl>
                                          <p:spTgt spid="8216"/>
                                        </p:tgtEl>
                                        <p:attrNameLst>
                                          <p:attrName>ppt_x</p:attrName>
                                        </p:attrNameLst>
                                      </p:cBhvr>
                                      <p:tavLst>
                                        <p:tav tm="0">
                                          <p:val>
                                            <p:strVal val="#ppt_x"/>
                                          </p:val>
                                        </p:tav>
                                        <p:tav tm="100000">
                                          <p:val>
                                            <p:strVal val="#ppt_x"/>
                                          </p:val>
                                        </p:tav>
                                      </p:tavLst>
                                    </p:anim>
                                    <p:anim calcmode="lin" valueType="num">
                                      <p:cBhvr>
                                        <p:cTn id="13" dur="500" fill="hold"/>
                                        <p:tgtEl>
                                          <p:spTgt spid="8216"/>
                                        </p:tgtEl>
                                        <p:attrNameLst>
                                          <p:attrName>ppt_y</p:attrName>
                                        </p:attrNameLst>
                                      </p:cBhvr>
                                      <p:tavLst>
                                        <p:tav tm="0">
                                          <p:val>
                                            <p:strVal val="#ppt_y-#ppt_h/2"/>
                                          </p:val>
                                        </p:tav>
                                        <p:tav tm="100000">
                                          <p:val>
                                            <p:strVal val="#ppt_y"/>
                                          </p:val>
                                        </p:tav>
                                      </p:tavLst>
                                    </p:anim>
                                    <p:anim calcmode="lin" valueType="num">
                                      <p:cBhvr>
                                        <p:cTn id="14" dur="500" fill="hold"/>
                                        <p:tgtEl>
                                          <p:spTgt spid="8216"/>
                                        </p:tgtEl>
                                        <p:attrNameLst>
                                          <p:attrName>ppt_w</p:attrName>
                                        </p:attrNameLst>
                                      </p:cBhvr>
                                      <p:tavLst>
                                        <p:tav tm="0">
                                          <p:val>
                                            <p:strVal val="#ppt_w"/>
                                          </p:val>
                                        </p:tav>
                                        <p:tav tm="100000">
                                          <p:val>
                                            <p:strVal val="#ppt_w"/>
                                          </p:val>
                                        </p:tav>
                                      </p:tavLst>
                                    </p:anim>
                                    <p:anim calcmode="lin" valueType="num">
                                      <p:cBhvr>
                                        <p:cTn id="15" dur="500" fill="hold"/>
                                        <p:tgtEl>
                                          <p:spTgt spid="821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nodeType="clickEffect">
                                  <p:stCondLst>
                                    <p:cond delay="0"/>
                                  </p:stCondLst>
                                  <p:childTnLst>
                                    <p:set>
                                      <p:cBhvr>
                                        <p:cTn id="19" dur="1" fill="hold">
                                          <p:stCondLst>
                                            <p:cond delay="0"/>
                                          </p:stCondLst>
                                        </p:cTn>
                                        <p:tgtEl>
                                          <p:spTgt spid="8201"/>
                                        </p:tgtEl>
                                        <p:attrNameLst>
                                          <p:attrName>style.visibility</p:attrName>
                                        </p:attrNameLst>
                                      </p:cBhvr>
                                      <p:to>
                                        <p:strVal val="visible"/>
                                      </p:to>
                                    </p:set>
                                    <p:anim calcmode="lin" valueType="num">
                                      <p:cBhvr>
                                        <p:cTn id="20" dur="500" fill="hold"/>
                                        <p:tgtEl>
                                          <p:spTgt spid="8201"/>
                                        </p:tgtEl>
                                        <p:attrNameLst>
                                          <p:attrName>ppt_w</p:attrName>
                                        </p:attrNameLst>
                                      </p:cBhvr>
                                      <p:tavLst>
                                        <p:tav tm="0">
                                          <p:val>
                                            <p:fltVal val="0"/>
                                          </p:val>
                                        </p:tav>
                                        <p:tav tm="100000">
                                          <p:val>
                                            <p:strVal val="#ppt_w"/>
                                          </p:val>
                                        </p:tav>
                                      </p:tavLst>
                                    </p:anim>
                                    <p:anim calcmode="lin" valueType="num">
                                      <p:cBhvr>
                                        <p:cTn id="21" dur="500" fill="hold"/>
                                        <p:tgtEl>
                                          <p:spTgt spid="8201"/>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1+#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ppt_x</p:attrName>
                                        </p:attrNameLst>
                                      </p:cBhvr>
                                      <p:tavLst>
                                        <p:tav tm="0">
                                          <p:val>
                                            <p:strVal val="1+#ppt_w/2"/>
                                          </p:val>
                                        </p:tav>
                                        <p:tav tm="100000">
                                          <p:val>
                                            <p:strVal val="#ppt_x"/>
                                          </p:val>
                                        </p:tav>
                                      </p:tavLst>
                                    </p:anim>
                                    <p:anim calcmode="lin" valueType="num">
                                      <p:cBhvr>
                                        <p:cTn id="4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p:cNvSpPr>
          <p:nvPr>
            <p:ph type="title"/>
          </p:nvPr>
        </p:nvSpPr>
        <p:spPr/>
        <p:txBody>
          <a:bodyPr wrap="square" anchor="ctr"/>
          <a:lstStyle/>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lstStyle/>
          <a:p>
            <a:pPr marL="342900" indent="-342900">
              <a:lnSpc>
                <a:spcPct val="100000"/>
              </a:lnSpc>
              <a:spcBef>
                <a:spcPts val="1000"/>
              </a:spcBef>
              <a:spcAft>
                <a:spcPts val="0"/>
              </a:spcAft>
              <a:buSzPct val="80000"/>
              <a:buFont typeface="Wingdings" panose="05000000000000000000" charset="0"/>
              <a:buChar char="l"/>
            </a:pPr>
            <a:r>
              <a:rPr lang="zh-CN" altLang="zh-CN" sz="2800">
                <a:cs typeface="楷体" panose="02010609060101010101" charset="-122"/>
                <a:sym typeface="+mn-ea"/>
              </a:rPr>
              <a:t>在两层</a:t>
            </a:r>
            <a:r>
              <a:rPr lang="en-US" altLang="zh-CN" sz="2800">
                <a:cs typeface="楷体" panose="02010609060101010101" charset="-122"/>
                <a:sym typeface="+mn-ea"/>
              </a:rPr>
              <a:t>C/S</a:t>
            </a:r>
            <a:r>
              <a:rPr lang="zh-CN" altLang="en-US" sz="2800">
                <a:cs typeface="楷体" panose="02010609060101010101" charset="-122"/>
                <a:sym typeface="+mn-ea"/>
              </a:rPr>
              <a:t>架构中，数据库和</a:t>
            </a:r>
            <a:r>
              <a:rPr lang="en-US" altLang="zh-CN" sz="2800">
                <a:cs typeface="楷体" panose="02010609060101010101" charset="-122"/>
                <a:sym typeface="+mn-ea"/>
              </a:rPr>
              <a:t>DBMS</a:t>
            </a:r>
            <a:r>
              <a:rPr lang="zh-CN" altLang="en-US" sz="2800">
                <a:cs typeface="楷体" panose="02010609060101010101" charset="-122"/>
                <a:sym typeface="+mn-ea"/>
              </a:rPr>
              <a:t>运行在数据库服务器中，数据库应用程序运行在客户机中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cs typeface="楷体" panose="02010609060101010101" charset="-122"/>
                <a:sym typeface="+mn-ea"/>
              </a:rPr>
              <a:t>两者之间通过局域网实现数据访问</a:t>
            </a:r>
            <a:endParaRPr lang="zh-CN" altLang="en-US" sz="2800"/>
          </a:p>
        </p:txBody>
      </p:sp>
      <p:sp>
        <p:nvSpPr>
          <p:cNvPr id="9222" name="文本框 15"/>
          <p:cNvSpPr txBox="1"/>
          <p:nvPr/>
        </p:nvSpPr>
        <p:spPr>
          <a:xfrm>
            <a:off x="2419350" y="6109335"/>
            <a:ext cx="7350125" cy="521970"/>
          </a:xfrm>
          <a:prstGeom prst="rect">
            <a:avLst/>
          </a:prstGeom>
          <a:noFill/>
          <a:ln w="9525">
            <a:noFill/>
          </a:ln>
        </p:spPr>
        <p:txBody>
          <a:bodyPr wrap="square" anchor="t">
            <a:spAutoFit/>
          </a:bodyPr>
          <a:lstStyle/>
          <a:p>
            <a:pPr algn="ctr"/>
            <a:r>
              <a:rPr lang="zh-CN" altLang="en-US" sz="2800" b="1">
                <a:solidFill>
                  <a:schemeClr val="accent2"/>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两层客户</a:t>
            </a:r>
            <a:r>
              <a:rPr lang="en-US" altLang="zh-CN" sz="2800" b="1">
                <a:solidFill>
                  <a:srgbClr val="FF0000"/>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服务器架构</a:t>
            </a:r>
            <a:r>
              <a:rPr lang="zh-CN" altLang="en-US" sz="2800" b="1">
                <a:solidFill>
                  <a:schemeClr val="accent2"/>
                </a:solidFill>
                <a:latin typeface="楷体" panose="02010609060101010101" charset="-122"/>
                <a:ea typeface="楷体" panose="02010609060101010101" charset="-122"/>
                <a:cs typeface="楷体" panose="02010609060101010101" charset="-122"/>
              </a:rPr>
              <a:t>）</a:t>
            </a:r>
          </a:p>
        </p:txBody>
      </p:sp>
      <p:pic>
        <p:nvPicPr>
          <p:cNvPr id="14" name="图片 13"/>
          <p:cNvPicPr>
            <a:picLocks noChangeAspect="1"/>
          </p:cNvPicPr>
          <p:nvPr/>
        </p:nvPicPr>
        <p:blipFill>
          <a:blip r:embed="rId2"/>
          <a:stretch>
            <a:fillRect/>
          </a:stretch>
        </p:blipFill>
        <p:spPr>
          <a:xfrm>
            <a:off x="2567940" y="2264410"/>
            <a:ext cx="6978650" cy="3743960"/>
          </a:xfrm>
          <a:prstGeom prst="rect">
            <a:avLst/>
          </a:prstGeom>
        </p:spPr>
      </p:pic>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118</a:t>
            </a:fld>
            <a:endParaRPr lang="zh-CN" altLang="en-US" strike="noStrike" noProof="1"/>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p:cNvSpPr>
          <p:nvPr>
            <p:ph type="title"/>
          </p:nvPr>
        </p:nvSpPr>
        <p:spPr/>
        <p:txBody>
          <a:bodyPr wrap="square" anchor="ctr"/>
          <a:lstStyle/>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lstStyle/>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但更多的时候，数据库服务器及其应用程序可能分布在距离遥远的不同地方（如下图所以）</a:t>
            </a:r>
            <a:endParaRPr lang="zh-CN" altLang="en-US" sz="2800" b="1">
              <a:solidFill>
                <a:srgbClr val="1F2DA8"/>
              </a:solidFill>
              <a:latin typeface="楷体" panose="02010609060101010101" charset="-122"/>
              <a:ea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它们相互之间无法通过企业内部的局域网相连，只能通过更广阔的互联网来实现数据访问和数据传输。</a:t>
            </a:r>
            <a:endParaRPr lang="zh-CN" altLang="en-US" sz="2800" b="1">
              <a:solidFill>
                <a:srgbClr val="1F2DA8"/>
              </a:solidFill>
              <a:latin typeface="楷体" panose="02010609060101010101" charset="-122"/>
              <a:ea typeface="楷体" panose="02010609060101010101" charset="-122"/>
            </a:endParaRPr>
          </a:p>
          <a:p>
            <a:endParaRPr lang="zh-CN" altLang="en-US" sz="2800" b="1">
              <a:solidFill>
                <a:srgbClr val="1F2DA8"/>
              </a:solidFill>
              <a:latin typeface="楷体" panose="02010609060101010101" charset="-122"/>
              <a:ea typeface="楷体" panose="02010609060101010101" charset="-122"/>
            </a:endParaRPr>
          </a:p>
        </p:txBody>
      </p:sp>
      <p:pic>
        <p:nvPicPr>
          <p:cNvPr id="10247" name="图片 2"/>
          <p:cNvPicPr>
            <a:picLocks noChangeAspect="1"/>
          </p:cNvPicPr>
          <p:nvPr/>
        </p:nvPicPr>
        <p:blipFill>
          <a:blip r:embed="rId2"/>
          <a:stretch>
            <a:fillRect/>
          </a:stretch>
        </p:blipFill>
        <p:spPr>
          <a:xfrm>
            <a:off x="2641600" y="2577465"/>
            <a:ext cx="6840538" cy="4032250"/>
          </a:xfrm>
          <a:prstGeom prst="rect">
            <a:avLst/>
          </a:prstGeom>
          <a:noFill/>
          <a:ln w="9525">
            <a:noFill/>
          </a:ln>
        </p:spPr>
      </p:pic>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119</a:t>
            </a:fld>
            <a:endParaRPr lang="zh-CN" altLang="en-US" strike="noStrike" noProof="1"/>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p:cNvSpPr>
          <p:nvPr>
            <p:ph type="title"/>
          </p:nvPr>
        </p:nvSpPr>
        <p:spPr/>
        <p:txBody>
          <a:bodyPr wrap="square" anchor="ctr"/>
          <a:lstStyle/>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5" name="内容占位符 4"/>
          <p:cNvSpPr>
            <a:spLocks noGrp="1"/>
          </p:cNvSpPr>
          <p:nvPr>
            <p:ph idx="1"/>
          </p:nvPr>
        </p:nvSpPr>
        <p:spPr/>
        <p:txBody>
          <a:bodyPr/>
          <a:lstStyle/>
          <a:p>
            <a:pPr marL="342900" indent="-342900">
              <a:lnSpc>
                <a:spcPct val="100000"/>
              </a:lnSpc>
              <a:spcBef>
                <a:spcPts val="1000"/>
              </a:spcBef>
              <a:spcAft>
                <a:spcPts val="0"/>
              </a:spcAft>
              <a:buSzPct val="80000"/>
              <a:buFont typeface="Wingdings" panose="05000000000000000000" charset="0"/>
              <a:buChar char="l"/>
            </a:pPr>
            <a:r>
              <a:rPr lang="zh-CN" altLang="zh-CN" sz="2800">
                <a:solidFill>
                  <a:srgbClr val="1F2DA8"/>
                </a:solidFill>
                <a:cs typeface="楷体" panose="02010609060101010101" charset="-122"/>
                <a:sym typeface="+mn-ea"/>
              </a:rPr>
              <a:t>在三层</a:t>
            </a:r>
            <a:r>
              <a:rPr lang="en-US" altLang="zh-CN" sz="2800">
                <a:solidFill>
                  <a:srgbClr val="1F2DA8"/>
                </a:solidFill>
                <a:cs typeface="楷体" panose="02010609060101010101" charset="-122"/>
                <a:sym typeface="+mn-ea"/>
              </a:rPr>
              <a:t>B/S</a:t>
            </a:r>
            <a:r>
              <a:rPr lang="zh-CN" altLang="en-US" sz="2800">
                <a:solidFill>
                  <a:srgbClr val="1F2DA8"/>
                </a:solidFill>
                <a:cs typeface="楷体" panose="02010609060101010101" charset="-122"/>
                <a:sym typeface="+mn-ea"/>
              </a:rPr>
              <a:t>架构中，数据库和</a:t>
            </a:r>
            <a:r>
              <a:rPr lang="en-US" altLang="zh-CN" sz="2800">
                <a:solidFill>
                  <a:srgbClr val="1F2DA8"/>
                </a:solidFill>
                <a:cs typeface="楷体" panose="02010609060101010101" charset="-122"/>
                <a:sym typeface="+mn-ea"/>
              </a:rPr>
              <a:t>DBMS</a:t>
            </a:r>
            <a:r>
              <a:rPr lang="zh-CN" altLang="en-US" sz="2800">
                <a:solidFill>
                  <a:srgbClr val="1F2DA8"/>
                </a:solidFill>
                <a:cs typeface="楷体" panose="02010609060101010101" charset="-122"/>
                <a:sym typeface="+mn-ea"/>
              </a:rPr>
              <a:t>运行在数据库服务器中，数据库应用程序运行在应用服务器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也称</a:t>
            </a:r>
            <a:r>
              <a:rPr lang="en-US" altLang="zh-CN" sz="2800">
                <a:solidFill>
                  <a:srgbClr val="1F2DA8"/>
                </a:solidFill>
                <a:cs typeface="楷体" panose="02010609060101010101" charset="-122"/>
                <a:sym typeface="+mn-ea"/>
              </a:rPr>
              <a:t>“Web</a:t>
            </a:r>
            <a:r>
              <a:rPr lang="zh-CN" altLang="en-US" sz="2800">
                <a:solidFill>
                  <a:srgbClr val="1F2DA8"/>
                </a:solidFill>
                <a:cs typeface="楷体" panose="02010609060101010101" charset="-122"/>
                <a:sym typeface="+mn-ea"/>
              </a:rPr>
              <a:t>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cs typeface="楷体" panose="02010609060101010101" charset="-122"/>
                <a:sym typeface="+mn-ea"/>
              </a:rPr>
              <a:t>用户客户端只需要安装常用的浏览器，负责接收用户输入和结果展示</a:t>
            </a:r>
          </a:p>
        </p:txBody>
      </p:sp>
      <p:sp>
        <p:nvSpPr>
          <p:cNvPr id="11270" name="文本框 15"/>
          <p:cNvSpPr txBox="1"/>
          <p:nvPr/>
        </p:nvSpPr>
        <p:spPr>
          <a:xfrm>
            <a:off x="2419350" y="5749608"/>
            <a:ext cx="7350125" cy="521970"/>
          </a:xfrm>
          <a:prstGeom prst="rect">
            <a:avLst/>
          </a:prstGeom>
          <a:noFill/>
          <a:ln w="9525">
            <a:noFill/>
          </a:ln>
        </p:spPr>
        <p:txBody>
          <a:bodyPr wrap="square" anchor="t">
            <a:spAutoFit/>
          </a:bodyPr>
          <a:lstStyle/>
          <a:p>
            <a:pPr algn="ctr"/>
            <a:r>
              <a:rPr lang="zh-CN" altLang="en-US" sz="2800" b="1">
                <a:solidFill>
                  <a:schemeClr val="accent2"/>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三层浏览器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应用服务器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数据库服务器架构</a:t>
            </a:r>
            <a:r>
              <a:rPr lang="zh-CN" altLang="en-US" sz="2800" b="1">
                <a:solidFill>
                  <a:schemeClr val="accent2"/>
                </a:solidFill>
                <a:latin typeface="Times New Roman" panose="02020603050405020304" pitchFamily="2" charset="0"/>
                <a:ea typeface="宋体" panose="02010600030101010101" pitchFamily="2" charset="-122"/>
              </a:rPr>
              <a:t>）</a:t>
            </a:r>
          </a:p>
        </p:txBody>
      </p:sp>
      <p:pic>
        <p:nvPicPr>
          <p:cNvPr id="6" name="图片 5"/>
          <p:cNvPicPr>
            <a:picLocks noChangeAspect="1"/>
          </p:cNvPicPr>
          <p:nvPr/>
        </p:nvPicPr>
        <p:blipFill>
          <a:blip r:embed="rId2"/>
          <a:stretch>
            <a:fillRect/>
          </a:stretch>
        </p:blipFill>
        <p:spPr>
          <a:xfrm>
            <a:off x="1944370" y="2376170"/>
            <a:ext cx="8064500" cy="3418840"/>
          </a:xfrm>
          <a:prstGeom prst="rect">
            <a:avLst/>
          </a:prstGeom>
        </p:spPr>
      </p:pic>
      <p:sp>
        <p:nvSpPr>
          <p:cNvPr id="7" name="灯片编号占位符 6"/>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120</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wrap="square" tIns="0" bIns="0" anchor="ctr"/>
          <a:lstStyle/>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p>
        </p:txBody>
      </p:sp>
      <p:sp>
        <p:nvSpPr>
          <p:cNvPr id="5124" name="Rectangle 3"/>
          <p:cNvSpPr>
            <a:spLocks noGrp="1"/>
          </p:cNvSpPr>
          <p:nvPr>
            <p:ph idx="1"/>
          </p:nvPr>
        </p:nvSpPr>
        <p:spPr/>
        <p:txBody>
          <a:bodyPr wrap="square" anchor="t"/>
          <a:lstStyle/>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2" action="ppaction://hlinksldjump"/>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121</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1"/>
          </p:nvPr>
        </p:nvSpPr>
        <p:spPr>
          <a:solidFill>
            <a:schemeClr val="accent1">
              <a:lumMod val="20000"/>
              <a:lumOff val="80000"/>
              <a:alpha val="50000"/>
            </a:schemeClr>
          </a:solidFill>
        </p:spPr>
        <p:txBody>
          <a:bodyPr/>
          <a:lstStyle/>
          <a:p>
            <a:r>
              <a:rPr lang="zh-CN" altLang="en-US" dirty="0"/>
              <a:t>硬件平台</a:t>
            </a:r>
          </a:p>
        </p:txBody>
      </p:sp>
      <p:sp>
        <p:nvSpPr>
          <p:cNvPr id="7" name="内容占位符 6"/>
          <p:cNvSpPr>
            <a:spLocks noGrp="1"/>
          </p:cNvSpPr>
          <p:nvPr>
            <p:ph sz="half" idx="2"/>
          </p:nvPr>
        </p:nvSpPr>
        <p:spPr>
          <a:ln>
            <a:solidFill>
              <a:schemeClr val="accent1"/>
            </a:solidFill>
          </a:ln>
        </p:spPr>
        <p:txBody>
          <a:bodyPr>
            <a:noAutofit/>
          </a:bodyPr>
          <a:lstStyle/>
          <a:p>
            <a:pPr>
              <a:lnSpc>
                <a:spcPct val="110000"/>
              </a:lnSpc>
              <a:spcBef>
                <a:spcPts val="1000"/>
              </a:spcBef>
            </a:pPr>
            <a:r>
              <a:rPr lang="zh-CN" altLang="en-US" sz="2800" dirty="0"/>
              <a:t>数据库系统对硬件资源的要求</a:t>
            </a:r>
          </a:p>
          <a:p>
            <a:pPr lvl="1">
              <a:lnSpc>
                <a:spcPct val="110000"/>
              </a:lnSpc>
              <a:spcBef>
                <a:spcPts val="1000"/>
              </a:spcBef>
            </a:pPr>
            <a:r>
              <a:rPr lang="zh-CN" altLang="en-US" sz="2800" dirty="0"/>
              <a:t>足够大的内存</a:t>
            </a:r>
            <a:endParaRPr lang="en-US" altLang="zh-CN" sz="2800" dirty="0"/>
          </a:p>
          <a:p>
            <a:pPr lvl="1">
              <a:lnSpc>
                <a:spcPct val="110000"/>
              </a:lnSpc>
              <a:spcBef>
                <a:spcPts val="1000"/>
              </a:spcBef>
            </a:pPr>
            <a:r>
              <a:rPr lang="zh-CN" altLang="zh-CN" sz="2800" dirty="0"/>
              <a:t>足够的大的磁盘或磁盘阵列等设备</a:t>
            </a:r>
            <a:endParaRPr lang="en-US" altLang="zh-CN" sz="2800" dirty="0"/>
          </a:p>
          <a:p>
            <a:pPr lvl="1">
              <a:lnSpc>
                <a:spcPct val="110000"/>
              </a:lnSpc>
              <a:spcBef>
                <a:spcPts val="1000"/>
              </a:spcBef>
            </a:pPr>
            <a:r>
              <a:rPr lang="zh-CN" altLang="en-US" sz="2800" dirty="0"/>
              <a:t>较高的通道能力，提高数据传送率</a:t>
            </a:r>
          </a:p>
        </p:txBody>
      </p:sp>
      <p:sp>
        <p:nvSpPr>
          <p:cNvPr id="14" name="文本占位符 13"/>
          <p:cNvSpPr>
            <a:spLocks noGrp="1"/>
          </p:cNvSpPr>
          <p:nvPr>
            <p:ph type="body" sz="quarter" idx="3"/>
          </p:nvPr>
        </p:nvSpPr>
        <p:spPr>
          <a:solidFill>
            <a:schemeClr val="accent1">
              <a:lumMod val="20000"/>
              <a:lumOff val="80000"/>
              <a:alpha val="50000"/>
            </a:schemeClr>
          </a:solidFill>
        </p:spPr>
        <p:txBody>
          <a:bodyPr/>
          <a:lstStyle/>
          <a:p>
            <a:r>
              <a:rPr lang="zh-CN" altLang="en-US" dirty="0"/>
              <a:t>软件平台</a:t>
            </a:r>
          </a:p>
        </p:txBody>
      </p:sp>
      <p:sp>
        <p:nvSpPr>
          <p:cNvPr id="15" name="内容占位符 14"/>
          <p:cNvSpPr>
            <a:spLocks noGrp="1"/>
          </p:cNvSpPr>
          <p:nvPr>
            <p:ph sz="quarter" idx="4"/>
          </p:nvPr>
        </p:nvSpPr>
        <p:spPr>
          <a:ln>
            <a:solidFill>
              <a:schemeClr val="accent1"/>
            </a:solidFill>
          </a:ln>
        </p:spPr>
        <p:txBody>
          <a:bodyPr>
            <a:noAutofit/>
          </a:bodyPr>
          <a:lstStyle/>
          <a:p>
            <a:pPr>
              <a:lnSpc>
                <a:spcPct val="110000"/>
              </a:lnSpc>
            </a:pPr>
            <a:r>
              <a:rPr lang="zh-CN" altLang="en-US" sz="2800" dirty="0"/>
              <a:t>数据库管理系统</a:t>
            </a:r>
            <a:endParaRPr lang="en-US" altLang="zh-CN" sz="2800" dirty="0"/>
          </a:p>
          <a:p>
            <a:pPr>
              <a:lnSpc>
                <a:spcPct val="110000"/>
              </a:lnSpc>
            </a:pPr>
            <a:r>
              <a:rPr lang="zh-CN" altLang="en-US" sz="2800" dirty="0"/>
              <a:t>支持数据库管理系统运行的操作系统</a:t>
            </a:r>
          </a:p>
          <a:p>
            <a:pPr>
              <a:lnSpc>
                <a:spcPct val="110000"/>
              </a:lnSpc>
            </a:pPr>
            <a:r>
              <a:rPr lang="zh-CN" altLang="en-US" sz="2800" dirty="0"/>
              <a:t>与数据库接口的高级语言及其编译系统</a:t>
            </a:r>
          </a:p>
          <a:p>
            <a:pPr>
              <a:lnSpc>
                <a:spcPct val="110000"/>
              </a:lnSpc>
            </a:pPr>
            <a:r>
              <a:rPr lang="zh-CN" altLang="en-US" sz="2800" dirty="0"/>
              <a:t>以数据库管理系统为核心的应用开发工具</a:t>
            </a:r>
          </a:p>
          <a:p>
            <a:pPr>
              <a:lnSpc>
                <a:spcPct val="110000"/>
              </a:lnSpc>
            </a:pPr>
            <a:r>
              <a:rPr lang="zh-CN" altLang="en-US" sz="2800" dirty="0"/>
              <a:t>为特定应用环境开发的数据库应用系统</a:t>
            </a:r>
          </a:p>
        </p:txBody>
      </p:sp>
      <p:sp>
        <p:nvSpPr>
          <p:cNvPr id="4" name="灯片编号占位符 3"/>
          <p:cNvSpPr>
            <a:spLocks noGrp="1"/>
          </p:cNvSpPr>
          <p:nvPr>
            <p:ph type="sldNum" sz="quarter" idx="12"/>
          </p:nvPr>
        </p:nvSpPr>
        <p:spPr>
          <a:xfrm>
            <a:off x="11461115" y="6696000"/>
            <a:ext cx="730885" cy="153670"/>
          </a:xfrm>
        </p:spPr>
        <p:txBody>
          <a:bodyPr/>
          <a:lstStyle/>
          <a:p>
            <a:fld id="{759762E9-AABD-478B-B116-8B8B54DC7F1E}" type="slidenum">
              <a:rPr lang="en-US" altLang="zh-CN" smtClean="0"/>
              <a:t>122</a:t>
            </a:fld>
            <a:endParaRPr lang="en-US" altLang="zh-CN" dirty="0"/>
          </a:p>
        </p:txBody>
      </p:sp>
      <p:sp>
        <p:nvSpPr>
          <p:cNvPr id="5" name="标题 4"/>
          <p:cNvSpPr>
            <a:spLocks noGrp="1"/>
          </p:cNvSpPr>
          <p:nvPr>
            <p:ph type="title"/>
          </p:nvPr>
        </p:nvSpPr>
        <p:spPr/>
        <p:txBody>
          <a:bodyPr/>
          <a:lstStyle/>
          <a:p>
            <a:r>
              <a:rPr lang="zh-CN" altLang="en-US" dirty="0"/>
              <a:t>数据库系统的组成</a:t>
            </a:r>
            <a:r>
              <a:rPr lang="en-US" altLang="zh-CN" dirty="0"/>
              <a:t>-</a:t>
            </a:r>
            <a:r>
              <a:rPr lang="zh-CN" altLang="en-US" dirty="0"/>
              <a:t>软硬件平台</a:t>
            </a:r>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dirty="0"/>
              <a:t>数据库系统的组成</a:t>
            </a:r>
            <a:r>
              <a:rPr lang="en-US" altLang="zh-CN" dirty="0"/>
              <a:t>-</a:t>
            </a:r>
            <a:r>
              <a:rPr lang="zh-CN" altLang="en-US" dirty="0"/>
              <a:t>人员</a:t>
            </a:r>
          </a:p>
        </p:txBody>
      </p:sp>
      <p:grpSp>
        <p:nvGrpSpPr>
          <p:cNvPr id="31" name="组合 30"/>
          <p:cNvGrpSpPr/>
          <p:nvPr/>
        </p:nvGrpSpPr>
        <p:grpSpPr>
          <a:xfrm>
            <a:off x="2134637" y="983258"/>
            <a:ext cx="7120255" cy="4651375"/>
            <a:chOff x="-48895" y="2057400"/>
            <a:chExt cx="7120255" cy="4651375"/>
          </a:xfrm>
        </p:grpSpPr>
        <p:sp>
          <p:nvSpPr>
            <p:cNvPr id="34" name="Text Box 241"/>
            <p:cNvSpPr txBox="1">
              <a:spLocks noChangeArrowheads="1"/>
            </p:cNvSpPr>
            <p:nvPr/>
          </p:nvSpPr>
          <p:spPr bwMode="auto">
            <a:xfrm>
              <a:off x="346075" y="2260600"/>
              <a:ext cx="186499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最终用户</a:t>
              </a: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应用程序员</a:t>
              </a:r>
            </a:p>
          </p:txBody>
        </p:sp>
        <p:sp>
          <p:nvSpPr>
            <p:cNvPr id="35" name="Text Box 243"/>
            <p:cNvSpPr txBox="1">
              <a:spLocks noChangeArrowheads="1"/>
            </p:cNvSpPr>
            <p:nvPr/>
          </p:nvSpPr>
          <p:spPr bwMode="auto">
            <a:xfrm>
              <a:off x="-48895" y="4038600"/>
              <a:ext cx="251333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DBA</a:t>
              </a: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系统分析员</a:t>
              </a: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数据库设计人员</a:t>
              </a:r>
            </a:p>
          </p:txBody>
        </p:sp>
        <p:sp>
          <p:nvSpPr>
            <p:cNvPr id="36" name="Rectangle 248"/>
            <p:cNvSpPr>
              <a:spLocks noChangeArrowheads="1"/>
            </p:cNvSpPr>
            <p:nvPr/>
          </p:nvSpPr>
          <p:spPr bwMode="auto">
            <a:xfrm>
              <a:off x="2849880" y="4343400"/>
              <a:ext cx="126492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内模式</a:t>
              </a:r>
            </a:p>
          </p:txBody>
        </p:sp>
        <p:sp>
          <p:nvSpPr>
            <p:cNvPr id="37" name="Rectangle 251"/>
            <p:cNvSpPr>
              <a:spLocks noChangeArrowheads="1"/>
            </p:cNvSpPr>
            <p:nvPr/>
          </p:nvSpPr>
          <p:spPr bwMode="auto">
            <a:xfrm>
              <a:off x="5562600" y="2057400"/>
              <a:ext cx="145732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应用系统</a:t>
              </a:r>
            </a:p>
          </p:txBody>
        </p:sp>
        <p:sp>
          <p:nvSpPr>
            <p:cNvPr id="38" name="Rectangle 252"/>
            <p:cNvSpPr>
              <a:spLocks noChangeArrowheads="1"/>
            </p:cNvSpPr>
            <p:nvPr/>
          </p:nvSpPr>
          <p:spPr bwMode="auto">
            <a:xfrm>
              <a:off x="2850515" y="2971800"/>
              <a:ext cx="126428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外模式</a:t>
              </a:r>
            </a:p>
          </p:txBody>
        </p:sp>
        <p:sp>
          <p:nvSpPr>
            <p:cNvPr id="39" name="Rectangle 253"/>
            <p:cNvSpPr>
              <a:spLocks noChangeArrowheads="1"/>
            </p:cNvSpPr>
            <p:nvPr/>
          </p:nvSpPr>
          <p:spPr bwMode="auto">
            <a:xfrm>
              <a:off x="2664460" y="2057400"/>
              <a:ext cx="137414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数据表示</a:t>
              </a:r>
            </a:p>
          </p:txBody>
        </p:sp>
        <p:sp>
          <p:nvSpPr>
            <p:cNvPr id="40" name="Rectangle 254"/>
            <p:cNvSpPr>
              <a:spLocks noChangeArrowheads="1"/>
            </p:cNvSpPr>
            <p:nvPr/>
          </p:nvSpPr>
          <p:spPr bwMode="auto">
            <a:xfrm>
              <a:off x="2851785" y="3657600"/>
              <a:ext cx="126301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模式</a:t>
              </a:r>
            </a:p>
          </p:txBody>
        </p:sp>
        <p:sp>
          <p:nvSpPr>
            <p:cNvPr id="41" name="AutoShape 255"/>
            <p:cNvSpPr>
              <a:spLocks noChangeArrowheads="1"/>
            </p:cNvSpPr>
            <p:nvPr/>
          </p:nvSpPr>
          <p:spPr bwMode="auto">
            <a:xfrm>
              <a:off x="3048000" y="5181600"/>
              <a:ext cx="1066800" cy="914400"/>
            </a:xfrm>
            <a:prstGeom prst="can">
              <a:avLst>
                <a:gd name="adj" fmla="val 25000"/>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a:t>
              </a:r>
            </a:p>
          </p:txBody>
        </p:sp>
        <p:sp>
          <p:nvSpPr>
            <p:cNvPr id="42" name="AutoShape 256"/>
            <p:cNvSpPr>
              <a:spLocks noChangeArrowheads="1"/>
            </p:cNvSpPr>
            <p:nvPr/>
          </p:nvSpPr>
          <p:spPr bwMode="auto">
            <a:xfrm>
              <a:off x="5562600" y="3505200"/>
              <a:ext cx="1295400" cy="914400"/>
            </a:xfrm>
            <a:prstGeom prst="hexagon">
              <a:avLst>
                <a:gd name="adj" fmla="val 35417"/>
                <a:gd name="vf" fmla="val 115470"/>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DBMS</a:t>
              </a:r>
            </a:p>
          </p:txBody>
        </p:sp>
        <p:sp>
          <p:nvSpPr>
            <p:cNvPr id="43" name="Oval 257"/>
            <p:cNvSpPr>
              <a:spLocks noChangeArrowheads="1"/>
            </p:cNvSpPr>
            <p:nvPr/>
          </p:nvSpPr>
          <p:spPr bwMode="auto">
            <a:xfrm>
              <a:off x="5867400" y="4876800"/>
              <a:ext cx="1066800" cy="68580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OS</a:t>
              </a:r>
            </a:p>
          </p:txBody>
        </p:sp>
        <p:sp>
          <p:nvSpPr>
            <p:cNvPr id="44" name="Line 258"/>
            <p:cNvSpPr>
              <a:spLocks noChangeShapeType="1"/>
            </p:cNvSpPr>
            <p:nvPr/>
          </p:nvSpPr>
          <p:spPr bwMode="auto">
            <a:xfrm flipV="1">
              <a:off x="4114800" y="5410200"/>
              <a:ext cx="1905000" cy="304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Line 259"/>
            <p:cNvSpPr>
              <a:spLocks noChangeShapeType="1"/>
            </p:cNvSpPr>
            <p:nvPr/>
          </p:nvSpPr>
          <p:spPr bwMode="auto">
            <a:xfrm flipV="1">
              <a:off x="4114800" y="4038600"/>
              <a:ext cx="1524000" cy="533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Line 260"/>
            <p:cNvSpPr>
              <a:spLocks noChangeShapeType="1"/>
            </p:cNvSpPr>
            <p:nvPr/>
          </p:nvSpPr>
          <p:spPr bwMode="auto">
            <a:xfrm flipV="1">
              <a:off x="4114800" y="4343400"/>
              <a:ext cx="167640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Line 261"/>
            <p:cNvSpPr>
              <a:spLocks noChangeShapeType="1"/>
            </p:cNvSpPr>
            <p:nvPr/>
          </p:nvSpPr>
          <p:spPr bwMode="auto">
            <a:xfrm flipV="1">
              <a:off x="4114800" y="3733800"/>
              <a:ext cx="1600200" cy="152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262"/>
            <p:cNvSpPr>
              <a:spLocks noChangeShapeType="1"/>
            </p:cNvSpPr>
            <p:nvPr/>
          </p:nvSpPr>
          <p:spPr bwMode="auto">
            <a:xfrm>
              <a:off x="4114800" y="3200400"/>
              <a:ext cx="1752600" cy="381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Line 263"/>
            <p:cNvSpPr>
              <a:spLocks noChangeShapeType="1"/>
            </p:cNvSpPr>
            <p:nvPr/>
          </p:nvSpPr>
          <p:spPr bwMode="auto">
            <a:xfrm>
              <a:off x="6172200" y="2438400"/>
              <a:ext cx="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Line 264"/>
            <p:cNvSpPr>
              <a:spLocks noChangeShapeType="1"/>
            </p:cNvSpPr>
            <p:nvPr/>
          </p:nvSpPr>
          <p:spPr bwMode="auto">
            <a:xfrm>
              <a:off x="6324600" y="4419600"/>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Line 265"/>
            <p:cNvSpPr>
              <a:spLocks noChangeShapeType="1"/>
            </p:cNvSpPr>
            <p:nvPr/>
          </p:nvSpPr>
          <p:spPr bwMode="auto">
            <a:xfrm>
              <a:off x="4038600" y="2209800"/>
              <a:ext cx="15240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2" name="Rectangle 268"/>
            <p:cNvSpPr>
              <a:spLocks noChangeArrowheads="1"/>
            </p:cNvSpPr>
            <p:nvPr/>
          </p:nvSpPr>
          <p:spPr bwMode="auto">
            <a:xfrm>
              <a:off x="228600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数据抽象级别</a:t>
              </a:r>
            </a:p>
          </p:txBody>
        </p:sp>
        <p:sp>
          <p:nvSpPr>
            <p:cNvPr id="53" name="Rectangle 269"/>
            <p:cNvSpPr>
              <a:spLocks noChangeArrowheads="1"/>
            </p:cNvSpPr>
            <p:nvPr/>
          </p:nvSpPr>
          <p:spPr bwMode="auto">
            <a:xfrm>
              <a:off x="505206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软件系统层次</a:t>
              </a:r>
            </a:p>
          </p:txBody>
        </p:sp>
        <p:graphicFrame>
          <p:nvGraphicFramePr>
            <p:cNvPr id="54" name="Object 2"/>
            <p:cNvGraphicFramePr>
              <a:graphicFrameLocks noChangeAspect="1"/>
            </p:cNvGraphicFramePr>
            <p:nvPr/>
          </p:nvGraphicFramePr>
          <p:xfrm>
            <a:off x="2352040" y="2593975"/>
            <a:ext cx="295275" cy="3654425"/>
          </p:xfrm>
          <a:graphic>
            <a:graphicData uri="http://schemas.openxmlformats.org/presentationml/2006/ole">
              <mc:AlternateContent xmlns:mc="http://schemas.openxmlformats.org/markup-compatibility/2006">
                <mc:Choice xmlns:v="urn:schemas-microsoft-com:vml" Requires="v">
                  <p:oleObj name="位图图像" r:id="rId2" imgW="180975" imgH="638175" progId="Paint.Picture">
                    <p:embed/>
                  </p:oleObj>
                </mc:Choice>
                <mc:Fallback>
                  <p:oleObj name="位图图像" r:id="rId2" imgW="180975" imgH="638175"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040" y="2593975"/>
                          <a:ext cx="295275" cy="3654425"/>
                        </a:xfrm>
                        <a:prstGeom prst="rect">
                          <a:avLst/>
                        </a:prstGeom>
                        <a:noFill/>
                        <a:ln>
                          <a:noFill/>
                        </a:ln>
                        <a:effectLst/>
                      </p:spPr>
                    </p:pic>
                  </p:oleObj>
                </mc:Fallback>
              </mc:AlternateContent>
            </a:graphicData>
          </a:graphic>
        </p:graphicFrame>
        <p:graphicFrame>
          <p:nvGraphicFramePr>
            <p:cNvPr id="55" name="Object 3"/>
            <p:cNvGraphicFramePr>
              <a:graphicFrameLocks noChangeAspect="1"/>
            </p:cNvGraphicFramePr>
            <p:nvPr/>
          </p:nvGraphicFramePr>
          <p:xfrm>
            <a:off x="2032000" y="2057400"/>
            <a:ext cx="295275" cy="1295400"/>
          </p:xfrm>
          <a:graphic>
            <a:graphicData uri="http://schemas.openxmlformats.org/presentationml/2006/ole">
              <mc:AlternateContent xmlns:mc="http://schemas.openxmlformats.org/markup-compatibility/2006">
                <mc:Choice xmlns:v="urn:schemas-microsoft-com:vml" Requires="v">
                  <p:oleObj name="位图图像" r:id="rId2" imgW="180975" imgH="638175" progId="Paint.Picture">
                    <p:embed/>
                  </p:oleObj>
                </mc:Choice>
                <mc:Fallback>
                  <p:oleObj name="位图图像" r:id="rId2" imgW="180975" imgH="638175"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2057400"/>
                          <a:ext cx="295275" cy="1295400"/>
                        </a:xfrm>
                        <a:prstGeom prst="rect">
                          <a:avLst/>
                        </a:prstGeom>
                        <a:noFill/>
                        <a:ln>
                          <a:noFill/>
                        </a:ln>
                        <a:effectLst/>
                      </p:spPr>
                    </p:pic>
                  </p:oleObj>
                </mc:Fallback>
              </mc:AlternateContent>
            </a:graphicData>
          </a:graphic>
        </p:graphicFrame>
      </p:grpSp>
      <p:sp>
        <p:nvSpPr>
          <p:cNvPr id="3" name="文本框 2"/>
          <p:cNvSpPr txBox="1"/>
          <p:nvPr/>
        </p:nvSpPr>
        <p:spPr>
          <a:xfrm>
            <a:off x="1410970" y="5864225"/>
            <a:ext cx="9568815" cy="521970"/>
          </a:xfrm>
          <a:prstGeom prst="rect">
            <a:avLst/>
          </a:prstGeom>
          <a:noFill/>
        </p:spPr>
        <p:txBody>
          <a:bodyPr wrap="square" rtlCol="0">
            <a:spAutoFit/>
          </a:bodyPr>
          <a:lstStyle/>
          <a:p>
            <a:pPr algn="ctr"/>
            <a:r>
              <a:rPr lang="zh-CN" altLang="en-US" sz="2800" b="1">
                <a:solidFill>
                  <a:srgbClr val="1F2DA8"/>
                </a:solidFill>
                <a:latin typeface="楷体" panose="02010609060101010101" charset="-122"/>
                <a:ea typeface="楷体" panose="02010609060101010101" charset="-122"/>
                <a:cs typeface="楷体" panose="02010609060101010101" charset="-122"/>
              </a:rPr>
              <a:t>图</a:t>
            </a:r>
            <a:r>
              <a:rPr lang="en-US" altLang="zh-CN" sz="2800" b="1">
                <a:solidFill>
                  <a:srgbClr val="1F2DA8"/>
                </a:solidFill>
                <a:latin typeface="楷体" panose="02010609060101010101" charset="-122"/>
                <a:ea typeface="楷体" panose="02010609060101010101" charset="-122"/>
                <a:cs typeface="楷体" panose="02010609060101010101" charset="-122"/>
              </a:rPr>
              <a:t>1.17  </a:t>
            </a:r>
            <a:r>
              <a:rPr lang="zh-CN" altLang="en-US" sz="2800" b="1">
                <a:solidFill>
                  <a:srgbClr val="1F2DA8"/>
                </a:solidFill>
                <a:latin typeface="楷体" panose="02010609060101010101" charset="-122"/>
                <a:ea typeface="楷体" panose="02010609060101010101" charset="-122"/>
                <a:cs typeface="楷体" panose="02010609060101010101" charset="-122"/>
              </a:rPr>
              <a:t>各种人员的数据视图</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123</a:t>
            </a:fld>
            <a:endParaRPr lang="zh-CN" altLang="en-US"/>
          </a:p>
        </p:txBody>
      </p:sp>
      <p:sp>
        <p:nvSpPr>
          <p:cNvPr id="4" name="页脚占位符 3"/>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dirty="0"/>
              <a:t>数据库管理员（</a:t>
            </a:r>
            <a:r>
              <a:rPr lang="en-US" altLang="zh-CN" dirty="0"/>
              <a:t>DBA</a:t>
            </a:r>
            <a:r>
              <a:rPr lang="zh-CN" altLang="en-US" dirty="0"/>
              <a:t>）</a:t>
            </a:r>
            <a:endParaRPr lang="en-US" altLang="zh-CN" dirty="0"/>
          </a:p>
        </p:txBody>
      </p:sp>
      <p:sp>
        <p:nvSpPr>
          <p:cNvPr id="141315" name="Rectangle 3"/>
          <p:cNvSpPr>
            <a:spLocks noGrp="1" noChangeArrowheads="1"/>
          </p:cNvSpPr>
          <p:nvPr>
            <p:ph idx="1"/>
          </p:nvPr>
        </p:nvSpPr>
        <p:spPr/>
        <p:txBody>
          <a:bodyPr numCol="2">
            <a:normAutofit/>
          </a:bodyPr>
          <a:lstStyle/>
          <a:p>
            <a:pPr>
              <a:lnSpc>
                <a:spcPct val="100000"/>
              </a:lnSpc>
              <a:spcBef>
                <a:spcPct val="0"/>
              </a:spcBef>
            </a:pPr>
            <a:r>
              <a:rPr lang="zh-CN" altLang="en-US" dirty="0"/>
              <a:t>决定数据库中的信息内容和结构</a:t>
            </a:r>
          </a:p>
          <a:p>
            <a:pPr>
              <a:lnSpc>
                <a:spcPct val="100000"/>
              </a:lnSpc>
            </a:pPr>
            <a:r>
              <a:rPr lang="zh-CN" altLang="en-US" dirty="0"/>
              <a:t>决定数据库的存储结构和存取策略</a:t>
            </a:r>
          </a:p>
          <a:p>
            <a:pPr>
              <a:lnSpc>
                <a:spcPct val="100000"/>
              </a:lnSpc>
            </a:pPr>
            <a:r>
              <a:rPr lang="zh-CN" altLang="en-US" dirty="0"/>
              <a:t>定义数据的安全性要求和完整性约束条件</a:t>
            </a:r>
            <a:endParaRPr lang="en-US" altLang="zh-CN" dirty="0"/>
          </a:p>
          <a:p>
            <a:pPr>
              <a:lnSpc>
                <a:spcPct val="100000"/>
              </a:lnSpc>
            </a:pPr>
            <a:r>
              <a:rPr lang="zh-CN" altLang="en-US" dirty="0"/>
              <a:t>监控数据库的使用和运行</a:t>
            </a:r>
          </a:p>
          <a:p>
            <a:pPr lvl="1">
              <a:lnSpc>
                <a:spcPct val="100000"/>
              </a:lnSpc>
              <a:spcBef>
                <a:spcPct val="0"/>
              </a:spcBef>
            </a:pPr>
            <a:r>
              <a:rPr lang="zh-CN" altLang="en-US" dirty="0"/>
              <a:t>周期性转储数据库：数据文件</a:t>
            </a:r>
            <a:r>
              <a:rPr lang="en-US" altLang="zh-CN" dirty="0"/>
              <a:t> &amp; </a:t>
            </a:r>
            <a:r>
              <a:rPr lang="zh-CN" altLang="en-US" dirty="0"/>
              <a:t>日志文件</a:t>
            </a:r>
          </a:p>
          <a:p>
            <a:pPr lvl="1">
              <a:lnSpc>
                <a:spcPct val="100000"/>
              </a:lnSpc>
              <a:spcBef>
                <a:spcPct val="0"/>
              </a:spcBef>
            </a:pPr>
            <a:r>
              <a:rPr lang="zh-CN" altLang="en-US" dirty="0"/>
              <a:t>系统故障恢复</a:t>
            </a:r>
          </a:p>
          <a:p>
            <a:pPr lvl="1">
              <a:lnSpc>
                <a:spcPct val="100000"/>
              </a:lnSpc>
              <a:spcBef>
                <a:spcPct val="0"/>
              </a:spcBef>
            </a:pPr>
            <a:r>
              <a:rPr lang="zh-CN" altLang="en-US" dirty="0"/>
              <a:t>介质故障恢复</a:t>
            </a:r>
          </a:p>
          <a:p>
            <a:pPr lvl="1">
              <a:lnSpc>
                <a:spcPct val="100000"/>
              </a:lnSpc>
              <a:spcBef>
                <a:spcPct val="0"/>
              </a:spcBef>
            </a:pPr>
            <a:r>
              <a:rPr lang="zh-CN" altLang="en-US" dirty="0"/>
              <a:t>监视审计文件</a:t>
            </a:r>
          </a:p>
          <a:p>
            <a:pPr>
              <a:lnSpc>
                <a:spcPct val="100000"/>
              </a:lnSpc>
            </a:pPr>
            <a:r>
              <a:rPr lang="zh-CN" altLang="en-US" dirty="0"/>
              <a:t>数据库的改进和重组</a:t>
            </a:r>
          </a:p>
          <a:p>
            <a:pPr lvl="1">
              <a:lnSpc>
                <a:spcPct val="100000"/>
              </a:lnSpc>
              <a:spcBef>
                <a:spcPct val="0"/>
              </a:spcBef>
            </a:pPr>
            <a:r>
              <a:rPr lang="zh-CN" altLang="en-US" dirty="0"/>
              <a:t>性能监控和调优</a:t>
            </a:r>
          </a:p>
          <a:p>
            <a:pPr lvl="1">
              <a:lnSpc>
                <a:spcPct val="100000"/>
              </a:lnSpc>
              <a:spcBef>
                <a:spcPct val="0"/>
              </a:spcBef>
            </a:pPr>
            <a:r>
              <a:rPr lang="zh-CN" altLang="en-US" dirty="0"/>
              <a:t>定期对数据库进行重组织，以提高系统的性能 </a:t>
            </a:r>
          </a:p>
          <a:p>
            <a:pPr lvl="1">
              <a:lnSpc>
                <a:spcPct val="100000"/>
              </a:lnSpc>
              <a:spcBef>
                <a:spcPct val="0"/>
              </a:spcBef>
            </a:pPr>
            <a:r>
              <a:rPr lang="zh-CN" altLang="en-US" dirty="0"/>
              <a:t>需求增加和改变时，数据库须需要重构造</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124</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zh-CN" altLang="en-US" dirty="0"/>
              <a:t>系统分析员</a:t>
            </a:r>
            <a:r>
              <a:rPr lang="en-US" altLang="zh-CN" dirty="0"/>
              <a:t>/</a:t>
            </a:r>
            <a:r>
              <a:rPr lang="zh-CN" altLang="en-US" dirty="0"/>
              <a:t>数据库设计人员 </a:t>
            </a:r>
          </a:p>
        </p:txBody>
      </p:sp>
      <p:sp>
        <p:nvSpPr>
          <p:cNvPr id="144387" name="Rectangle 3"/>
          <p:cNvSpPr>
            <a:spLocks noGrp="1" noChangeArrowheads="1"/>
          </p:cNvSpPr>
          <p:nvPr>
            <p:ph idx="1"/>
          </p:nvPr>
        </p:nvSpPr>
        <p:spPr/>
        <p:txBody>
          <a:bodyPr>
            <a:normAutofit/>
          </a:bodyPr>
          <a:lstStyle/>
          <a:p>
            <a:r>
              <a:rPr lang="zh-CN" altLang="en-US" dirty="0">
                <a:solidFill>
                  <a:srgbClr val="FF0000"/>
                </a:solidFill>
              </a:rPr>
              <a:t>系统分析员</a:t>
            </a:r>
            <a:r>
              <a:rPr lang="zh-CN" altLang="en-US" dirty="0"/>
              <a:t> </a:t>
            </a:r>
          </a:p>
          <a:p>
            <a:pPr lvl="1"/>
            <a:r>
              <a:rPr lang="zh-CN" altLang="en-US" dirty="0"/>
              <a:t>负责应用系统的需求分析和规范说明</a:t>
            </a:r>
          </a:p>
          <a:p>
            <a:pPr lvl="1"/>
            <a:r>
              <a:rPr lang="zh-CN" altLang="en-US" dirty="0"/>
              <a:t>与用户及数据库管理员结合，确定系统的硬软件配置</a:t>
            </a:r>
          </a:p>
          <a:p>
            <a:pPr lvl="1"/>
            <a:r>
              <a:rPr lang="zh-CN" altLang="en-US" dirty="0"/>
              <a:t>参与数据库系统的概要设计</a:t>
            </a:r>
          </a:p>
          <a:p>
            <a:pPr lvl="1"/>
            <a:endParaRPr lang="en-US" altLang="zh-CN" dirty="0"/>
          </a:p>
          <a:p>
            <a:r>
              <a:rPr lang="zh-CN" altLang="en-US" dirty="0">
                <a:solidFill>
                  <a:srgbClr val="FF0000"/>
                </a:solidFill>
              </a:rPr>
              <a:t>数据库设计人员</a:t>
            </a:r>
            <a:endParaRPr lang="zh-CN" altLang="en-US" dirty="0"/>
          </a:p>
          <a:p>
            <a:pPr lvl="1"/>
            <a:r>
              <a:rPr lang="zh-CN" altLang="en-US" dirty="0"/>
              <a:t>参加用户需求调查和系统分析</a:t>
            </a:r>
          </a:p>
          <a:p>
            <a:pPr lvl="1"/>
            <a:r>
              <a:rPr lang="zh-CN" altLang="en-US" dirty="0"/>
              <a:t>确定数据库中的数据</a:t>
            </a:r>
          </a:p>
          <a:p>
            <a:pPr lvl="1"/>
            <a:r>
              <a:rPr lang="zh-CN" altLang="en-US" dirty="0"/>
              <a:t>设计数据库各级模式</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125</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026"/>
          <p:cNvSpPr>
            <a:spLocks noGrp="1" noChangeArrowheads="1"/>
          </p:cNvSpPr>
          <p:nvPr>
            <p:ph type="title"/>
          </p:nvPr>
        </p:nvSpPr>
        <p:spPr/>
        <p:txBody>
          <a:bodyPr/>
          <a:lstStyle/>
          <a:p>
            <a:r>
              <a:rPr lang="zh-CN" altLang="en-US" dirty="0"/>
              <a:t>应用程序员</a:t>
            </a:r>
            <a:r>
              <a:rPr lang="en-US" altLang="zh-CN" dirty="0"/>
              <a:t>/</a:t>
            </a:r>
            <a:r>
              <a:rPr lang="zh-CN" altLang="en-US" dirty="0"/>
              <a:t>最终用户</a:t>
            </a:r>
          </a:p>
        </p:txBody>
      </p:sp>
      <p:sp>
        <p:nvSpPr>
          <p:cNvPr id="146435" name="Rectangle 1027"/>
          <p:cNvSpPr>
            <a:spLocks noGrp="1" noChangeArrowheads="1"/>
          </p:cNvSpPr>
          <p:nvPr>
            <p:ph idx="1"/>
          </p:nvPr>
        </p:nvSpPr>
        <p:spPr/>
        <p:txBody>
          <a:bodyPr>
            <a:noAutofit/>
          </a:bodyPr>
          <a:lstStyle/>
          <a:p>
            <a:pPr>
              <a:lnSpc>
                <a:spcPct val="100000"/>
              </a:lnSpc>
              <a:spcBef>
                <a:spcPts val="0"/>
              </a:spcBef>
            </a:pPr>
            <a:r>
              <a:rPr lang="zh-CN" altLang="en-US" sz="2800" dirty="0">
                <a:solidFill>
                  <a:srgbClr val="FF0000"/>
                </a:solidFill>
                <a:latin typeface="Times New Roman" panose="02020603050405020304" pitchFamily="2" charset="0"/>
                <a:cs typeface="Times New Roman" panose="02020603050405020304" pitchFamily="2" charset="0"/>
              </a:rPr>
              <a:t>应用程序员</a:t>
            </a:r>
            <a:endParaRPr lang="en-US" altLang="zh-CN"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设计和编写应用系统的程序模块</a:t>
            </a: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进行调试和安装</a:t>
            </a:r>
            <a:endParaRPr lang="en-US" altLang="zh-CN" sz="2800" dirty="0">
              <a:latin typeface="Times New Roman" panose="02020603050405020304" pitchFamily="2" charset="0"/>
              <a:cs typeface="Times New Roman" panose="02020603050405020304" pitchFamily="2" charset="0"/>
            </a:endParaRPr>
          </a:p>
          <a:p>
            <a:pPr>
              <a:lnSpc>
                <a:spcPct val="100000"/>
              </a:lnSpc>
            </a:pPr>
            <a:r>
              <a:rPr lang="zh-CN" altLang="en-US" sz="2800" dirty="0">
                <a:solidFill>
                  <a:srgbClr val="FF0000"/>
                </a:solidFill>
                <a:latin typeface="Times New Roman" panose="02020603050405020304" pitchFamily="2" charset="0"/>
                <a:cs typeface="Times New Roman" panose="02020603050405020304" pitchFamily="2" charset="0"/>
              </a:rPr>
              <a:t>最终用户</a:t>
            </a:r>
            <a:r>
              <a:rPr lang="en-US" altLang="zh-CN" sz="2800" dirty="0">
                <a:latin typeface="Times New Roman" panose="02020603050405020304" pitchFamily="2" charset="0"/>
                <a:cs typeface="Times New Roman" panose="02020603050405020304" pitchFamily="2" charset="0"/>
              </a:rPr>
              <a:t>(End User): </a:t>
            </a:r>
            <a:r>
              <a:rPr lang="zh-CN" altLang="en-US" sz="2800" dirty="0">
                <a:latin typeface="Times New Roman" panose="02020603050405020304" pitchFamily="2" charset="0"/>
                <a:cs typeface="Times New Roman" panose="02020603050405020304" pitchFamily="2" charset="0"/>
              </a:rPr>
              <a:t>最终用户通过应用系统的用户接口使用数据库 </a:t>
            </a: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偶然用户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不经常访问数据库，但每次访问时往往需要不同的数据库信息 </a:t>
            </a: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企业或组织机构的高中级管理人员（一般通过软件工具来访问数据库）</a:t>
            </a:r>
            <a:endParaRPr lang="en-US" altLang="zh-CN" sz="24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简单用户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通过操作业务系统来使用（查询和更新）数据库中的数据 </a:t>
            </a: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银行的职员、机票预定人员、旅馆总台服务员（不需要直接访问数据库）</a:t>
            </a: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复杂用户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工程师、科学家、经济学家、科技工作者等</a:t>
            </a: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直接使用数据库语言访问数据库，甚至能够基于数据库管理系统的应用程序接口编制自己的应用程序</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126</a:t>
            </a:fld>
            <a:endParaRPr lang="zh-CN" altLang="en-US"/>
          </a:p>
        </p:txBody>
      </p:sp>
      <p:sp>
        <p:nvSpPr>
          <p:cNvPr id="3" name="页脚占位符 2"/>
          <p:cNvSpPr>
            <a:spLocks noGrp="1"/>
          </p:cNvSpPr>
          <p:nvPr>
            <p:ph type="ftr" sz="quarter" idx="11"/>
          </p:nvPr>
        </p:nvSpPr>
        <p:spPr/>
        <p:txBody>
          <a:bodyPr/>
          <a:lstStyle/>
          <a:p>
            <a:r>
              <a:rPr lang="zh-CN" altLang="en-US"/>
              <a:t>ch01_绪论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wrap="square" tIns="0" bIns="0" anchor="ctr"/>
          <a:lstStyle/>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p>
        </p:txBody>
      </p:sp>
      <p:sp>
        <p:nvSpPr>
          <p:cNvPr id="5124" name="Rectangle 3"/>
          <p:cNvSpPr>
            <a:spLocks noGrp="1"/>
          </p:cNvSpPr>
          <p:nvPr>
            <p:ph idx="1"/>
          </p:nvPr>
        </p:nvSpPr>
        <p:spPr/>
        <p:txBody>
          <a:bodyPr wrap="square" anchor="t"/>
          <a:lstStyle/>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p>
          <a:p>
            <a:pPr lvl="1" eaLnBrk="1" hangingPunct="1">
              <a:lnSpc>
                <a:spcPct val="140000"/>
              </a:lnSpc>
              <a:buNone/>
            </a:pPr>
            <a:r>
              <a:rPr lang="en-US" altLang="zh-CN" sz="3200" dirty="0">
                <a:solidFill>
                  <a:srgbClr val="FF0000"/>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hlinkClick r:id="rId2" action="ppaction://hlinksldjump"/>
            </a:endParaRP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127</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p:cNvSpPr>
          <p:nvPr>
            <p:ph type="title"/>
          </p:nvPr>
        </p:nvSpPr>
        <p:spPr/>
        <p:txBody>
          <a:bodyPr wrap="square" tIns="0" bIns="0" anchor="ctr"/>
          <a:lstStyle/>
          <a:p>
            <a:pPr eaLnBrk="1" hangingPunct="1"/>
            <a:r>
              <a:rPr lang="en-US" altLang="zh-CN"/>
              <a:t>1.5 </a:t>
            </a:r>
            <a:r>
              <a:rPr lang="zh-CN" altLang="en-US"/>
              <a:t>  小  结</a:t>
            </a:r>
          </a:p>
        </p:txBody>
      </p:sp>
      <p:sp>
        <p:nvSpPr>
          <p:cNvPr id="59396" name="Rectangle 3"/>
          <p:cNvSpPr>
            <a:spLocks noGrp="1"/>
          </p:cNvSpPr>
          <p:nvPr>
            <p:ph idx="1"/>
          </p:nvPr>
        </p:nvSpPr>
        <p:spPr>
          <a:xfrm>
            <a:off x="424180" y="687070"/>
            <a:ext cx="11343005" cy="6015990"/>
          </a:xfrm>
        </p:spPr>
        <p:txBody>
          <a:bodyPr wrap="square" anchor="t">
            <a:spAutoFit/>
          </a:bodyPr>
          <a:lstStyle/>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数据库系统概述</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数据库的基本概念</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数据管理的发展过程</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数据库系统的特点</a:t>
            </a: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数据模型的基本概念</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数据模型的三要素</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三种主要的数据模型</a:t>
            </a: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数据库系统内部的系统结构</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三级模式及其相互关系</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二级映像</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三级模式、二级映像、数据独立性的关系</a:t>
            </a:r>
          </a:p>
          <a:p>
            <a:pPr lvl="0"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数据库系统的组成</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数据库系统的组成成分</a:t>
            </a: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数据库用户</a:t>
            </a:r>
          </a:p>
        </p:txBody>
      </p:sp>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128</a:t>
            </a:fld>
            <a:endParaRPr lang="zh-CN" altLang="en-US" strike="noStrike" noProof="1"/>
          </a:p>
        </p:txBody>
      </p:sp>
      <p:sp>
        <p:nvSpPr>
          <p:cNvPr id="2" name="页脚占位符 1"/>
          <p:cNvSpPr>
            <a:spLocks noGrp="1"/>
          </p:cNvSpPr>
          <p:nvPr>
            <p:ph type="ftr" sz="quarter" idx="11"/>
          </p:nvPr>
        </p:nvSpPr>
        <p:spPr/>
        <p:txBody>
          <a:bodyPr/>
          <a:lstStyle/>
          <a:p>
            <a:r>
              <a:rPr lang="zh-CN" altLang="en-US"/>
              <a:t>ch01_绪论</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I5YzE2YjhjOTAyMGY4ZmQ1YzBlZjA5NzU0NTU1NmQifQ=="/>
  <p:tag name="RESOURCE_RECORD_KEY" val="{&quot;70&quot;:[331450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7.9765354330708,&quot;left&quot;:76.53716535433068,&quot;top&quot;:204.02503937007873,&quot;width&quot;:801.612913385826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7.9765354330708,&quot;left&quot;:76.53716535433068,&quot;top&quot;:204.02503937007873,&quot;width&quot;:801.6129133858269}"/>
</p:tagLst>
</file>

<file path=ppt/tags/tag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ID" val="diagram20231099_1*l_h_f*1_2_1"/>
  <p:tag name="KSO_WM_TEMPLATE_CATEGORY" val="diagram"/>
  <p:tag name="KSO_WM_TEMPLATE_INDEX" val="20231099"/>
  <p:tag name="KSO_WM_UNIT_LAYERLEVEL" val="1_1_1"/>
  <p:tag name="KSO_WM_TAG_VERSION" val="3.0"/>
  <p:tag name="KSO_WM_UNIT_PRESET_TEXT" val="单击此处输入你的智能图形项正文，文字是您思想的提炼"/>
  <p:tag name="KSO_WM_UNIT_FILL_FORE_SCHEMECOLOR_INDEX" val="5"/>
  <p:tag name="KSO_WM_UNIT_LINE_FORE_SCHEMECOLOR_INDEX" val="5"/>
  <p:tag name="KSO_WM_DIAGRAM_MAX_ITEMCNT" val="6"/>
  <p:tag name="KSO_WM_DIAGRAM_MIN_ITEMCNT" val="2"/>
  <p:tag name="KSO_WM_DIAGRAM_VIRTUALLY_FRAME" val="{&quot;height&quot;:187.97652322657208,&quot;left&quot;:76.47503937007873,&quot;top&quot;:206.42503937007876,&quot;width&quot;:802.1}"/>
  <p:tag name="KSO_WM_DIAGRAM_COLOR_MATCH_VALUE" val="{&quot;shape&quot;:{&quot;fill&quot;:{&quot;solid&quot;:{&quot;brightness&quot;:0.800000011920929,&quot;colorType&quot;:1,&quot;foreColorIndex&quot;:5,&quot;transparency&quot;:0.699999988079071},&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099_1*l_h_i*1_2_1"/>
  <p:tag name="KSO_WM_TEMPLATE_CATEGORY" val="diagram"/>
  <p:tag name="KSO_WM_TEMPLATE_INDEX" val="20231099"/>
  <p:tag name="KSO_WM_UNIT_LAYERLEVEL" val="1_1_1"/>
  <p:tag name="KSO_WM_TAG_VERSION" val="3.0"/>
  <p:tag name="KSO_WM_BEAUTIFY_FLAG" val="#wm#"/>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099_1*l_h_i*1_2_2"/>
  <p:tag name="KSO_WM_TEMPLATE_CATEGORY" val="diagram"/>
  <p:tag name="KSO_WM_TEMPLATE_INDEX" val="20231099"/>
  <p:tag name="KSO_WM_UNIT_LAYERLEVEL" val="1_1_1"/>
  <p:tag name="KSO_WM_TAG_VERSION" val="3.0"/>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ID" val="diagram20231099_1*l_h_f*1_1_1"/>
  <p:tag name="KSO_WM_TEMPLATE_CATEGORY" val="diagram"/>
  <p:tag name="KSO_WM_TEMPLATE_INDEX" val="20231099"/>
  <p:tag name="KSO_WM_UNIT_LAYERLEVEL" val="1_1_1"/>
  <p:tag name="KSO_WM_TAG_VERSION" val="3.0"/>
  <p:tag name="KSO_WM_UNIT_PRESET_TEXT" val="单击此处输入你的智能图形项正文，文字是您思想的提炼"/>
  <p:tag name="KSO_WM_UNIT_FILL_FORE_SCHEMECOLOR_INDEX" val="5"/>
  <p:tag name="KSO_WM_UNIT_LINE_FORE_SCHEMECOLOR_INDEX" val="5"/>
  <p:tag name="KSO_WM_DIAGRAM_MAX_ITEMCNT" val="6"/>
  <p:tag name="KSO_WM_DIAGRAM_MIN_ITEMCNT" val="2"/>
  <p:tag name="KSO_WM_DIAGRAM_VIRTUALLY_FRAME" val="{&quot;height&quot;:187.97652322657208,&quot;left&quot;:76.47503937007873,&quot;top&quot;:206.42503937007876,&quot;width&quot;:802.1}"/>
  <p:tag name="KSO_WM_DIAGRAM_COLOR_MATCH_VALUE" val="{&quot;shape&quot;:{&quot;fill&quot;:{&quot;solid&quot;:{&quot;brightness&quot;:0.800000011920929,&quot;colorType&quot;:1,&quot;foreColorIndex&quot;:5,&quot;transparency&quot;:0.699999988079071},&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099_1*l_h_i*1_1_1"/>
  <p:tag name="KSO_WM_TEMPLATE_CATEGORY" val="diagram"/>
  <p:tag name="KSO_WM_TEMPLATE_INDEX" val="20231099"/>
  <p:tag name="KSO_WM_UNIT_LAYERLEVEL" val="1_1_1"/>
  <p:tag name="KSO_WM_TAG_VERSION" val="3.0"/>
  <p:tag name="KSO_WM_BEAUTIFY_FLAG" val="#wm#"/>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099_1*l_h_i*1_1_2"/>
  <p:tag name="KSO_WM_TEMPLATE_CATEGORY" val="diagram"/>
  <p:tag name="KSO_WM_TEMPLATE_INDEX" val="20231099"/>
  <p:tag name="KSO_WM_UNIT_LAYERLEVEL" val="1_1_1"/>
  <p:tag name="KSO_WM_TAG_VERSION" val="3.0"/>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02.50070589112767,&quot;left&quot;:142.58900135976967,&quot;top&quot;:73.9,&quot;width&quot;:714.3109986402303}"/>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TABLE_ENDDRAG_ORIGIN_RECT" val="938*450"/>
  <p:tag name="TABLE_ENDDRAG_RECT" val="10*54*938*450"/>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UNIT_TABLE_BEAUTIFY" val="smartTable{8054e3f4-5361-49a1-bdaa-b2846588b879}"/>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TABLE_ENDDRAG_ORIGIN_RECT" val="858*142"/>
  <p:tag name="TABLE_ENDDRAG_RECT" val="44*105*858*142"/>
</p:tagLst>
</file>

<file path=ppt/tags/tag142.xml><?xml version="1.0" encoding="utf-8"?>
<p:tagLst xmlns:a="http://schemas.openxmlformats.org/drawingml/2006/main" xmlns:r="http://schemas.openxmlformats.org/officeDocument/2006/relationships" xmlns:p="http://schemas.openxmlformats.org/presentationml/2006/main">
  <p:tag name="TABLE_ENDDRAG_ORIGIN_RECT" val="857*126"/>
  <p:tag name="TABLE_ENDDRAG_RECT" val="44*345*857*126"/>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35.1216535433071,&quot;left&quot;:85.03937007874016,&quot;top&quot;:133.22834645669292,&quot;width&quot;:764.1291338582677}"/>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35.1216535433071,&quot;left&quot;:85.03937007874016,&quot;top&quot;:133.22834645669292,&quot;width&quot;:764.1291338582677}"/>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35.1216535433071,&quot;left&quot;:85.03937007874016,&quot;top&quot;:133.22834645669292,&quot;width&quot;:764.1291338582677}"/>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35.1216535433071,&quot;left&quot;:85.03937007874016,&quot;top&quot;:133.22834645669292,&quot;width&quot;:764.1291338582677}"/>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35.1216535433071,&quot;left&quot;:85.03937007874016,&quot;top&quot;:133.22834645669292,&quot;width&quot;:764.1291338582677}"/>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TABLE_ENDDRAG_ORIGIN_RECT" val="819*210"/>
  <p:tag name="TABLE_ENDDRAG_RECT" val="75*206*819*210"/>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10934</Words>
  <Application>Microsoft Macintosh PowerPoint</Application>
  <PresentationFormat>宽屏</PresentationFormat>
  <Paragraphs>1644</Paragraphs>
  <Slides>128</Slides>
  <Notes>12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128</vt:i4>
      </vt:variant>
    </vt:vector>
  </HeadingPairs>
  <TitlesOfParts>
    <vt:vector size="144" baseType="lpstr">
      <vt:lpstr>标准粗黑</vt:lpstr>
      <vt:lpstr>华文细黑</vt:lpstr>
      <vt:lpstr>华文新魏</vt:lpstr>
      <vt:lpstr>楷体</vt:lpstr>
      <vt:lpstr>宋体</vt:lpstr>
      <vt:lpstr>微软雅黑</vt:lpstr>
      <vt:lpstr>Arial</vt:lpstr>
      <vt:lpstr>Calibri</vt:lpstr>
      <vt:lpstr>Cambria Math</vt:lpstr>
      <vt:lpstr>Tahoma</vt:lpstr>
      <vt:lpstr>Times New Roman</vt:lpstr>
      <vt:lpstr>Wingdings</vt:lpstr>
      <vt:lpstr>Wingdings 2</vt:lpstr>
      <vt:lpstr>WPS</vt:lpstr>
      <vt:lpstr>Word.Picture.8</vt:lpstr>
      <vt:lpstr>位图图像</vt:lpstr>
      <vt:lpstr>PowerPoint 演示文稿</vt:lpstr>
      <vt:lpstr>第 1 章   绪  论</vt:lpstr>
      <vt:lpstr>第 1 章   绪  论</vt:lpstr>
      <vt:lpstr>第 1 章   绪  论</vt:lpstr>
      <vt:lpstr>1.1  数据库系统概述</vt:lpstr>
      <vt:lpstr>1.1.1  数据库的四个基本概念</vt:lpstr>
      <vt:lpstr>1.1.1  数据库的四个基本概念</vt:lpstr>
      <vt:lpstr>数据 &amp; 信息（1）</vt:lpstr>
      <vt:lpstr>数据 &amp; 信息（2）</vt:lpstr>
      <vt:lpstr>数据 &amp; 信息（3）</vt:lpstr>
      <vt:lpstr>数据 &amp; 信息（4）</vt:lpstr>
      <vt:lpstr>1.1.1  数据库的四个基本概念</vt:lpstr>
      <vt:lpstr>1.1.1  数据库的四个基本概念</vt:lpstr>
      <vt:lpstr>1.1.1  数据库的四个基本概念</vt:lpstr>
      <vt:lpstr>1.1.1  数据库的四个基本概念</vt:lpstr>
      <vt:lpstr>数据库的示例</vt:lpstr>
      <vt:lpstr>一个关系数据库的例子</vt:lpstr>
      <vt:lpstr>1.1.1  数据库的四个基本概念</vt:lpstr>
      <vt:lpstr>数据库管理系统的功能（1）</vt:lpstr>
      <vt:lpstr>数据库管理系统的功能（2）</vt:lpstr>
      <vt:lpstr>数据库子语言（1）</vt:lpstr>
      <vt:lpstr>数据库子语言（2）</vt:lpstr>
      <vt:lpstr>1.1.1  数据库的四个基本概念</vt:lpstr>
      <vt:lpstr>图1.1  数据库系统的构成</vt:lpstr>
      <vt:lpstr>数据库在计算机系统中的位置</vt:lpstr>
      <vt:lpstr>1.1.1  数据库的四个基本概念</vt:lpstr>
      <vt:lpstr>1.1  数据库系统概述</vt:lpstr>
      <vt:lpstr>1.1.2 数据管理技术的产生和发展</vt:lpstr>
      <vt:lpstr>1.1.2 数据管理技术的产生和发展</vt:lpstr>
      <vt:lpstr>1.1.2 数据管理技术的产生和发展</vt:lpstr>
      <vt:lpstr>表1.1  数据管理三个阶段的比较</vt:lpstr>
      <vt:lpstr>数据管理 - 人工管理（1）</vt:lpstr>
      <vt:lpstr>数据管理 - 人工管理（2）</vt:lpstr>
      <vt:lpstr>数据管理 - 文件系统（1）</vt:lpstr>
      <vt:lpstr>数据管理 - 文件系统（2）</vt:lpstr>
      <vt:lpstr>数据管理 - 文件系统（3）</vt:lpstr>
      <vt:lpstr>数据管理 - 文件系统（4）</vt:lpstr>
      <vt:lpstr>数据管理 - 数据库系统</vt:lpstr>
      <vt:lpstr>数据库系统的发展历史（1）</vt:lpstr>
      <vt:lpstr>数据库系统的发展历史（2）</vt:lpstr>
      <vt:lpstr>数据库系统的发展历史（3）</vt:lpstr>
      <vt:lpstr>数据库系统的发展历史（4）</vt:lpstr>
      <vt:lpstr>数据库系统的发展历史（5）</vt:lpstr>
      <vt:lpstr>数据库系统分类</vt:lpstr>
      <vt:lpstr>DB-Engines：2024年2月全球数据库人气排行榜</vt:lpstr>
      <vt:lpstr>Popularity changes per category（2013~2024）</vt:lpstr>
      <vt:lpstr>DB-Engines：2024年2月全球数据库产品分布</vt:lpstr>
      <vt:lpstr>国产数据库的发展历史</vt:lpstr>
      <vt:lpstr>2024年2月中国数据库流行度排行榜（top10)</vt:lpstr>
      <vt:lpstr>1.1  数据库系统概述</vt:lpstr>
      <vt:lpstr>一个例子：学生学籍管理系统（1）</vt:lpstr>
      <vt:lpstr>一个例子：学生学籍管理系统（2）</vt:lpstr>
      <vt:lpstr>一个例子：学生学籍管理系统（3）</vt:lpstr>
      <vt:lpstr>一个例子：学生学籍管理系统（4）</vt:lpstr>
      <vt:lpstr>文件管理存在的问题</vt:lpstr>
      <vt:lpstr>1.1.3  数据库系统的特点</vt:lpstr>
      <vt:lpstr>数据库的特点（1）-  数据结构化</vt:lpstr>
      <vt:lpstr>数据库的特点（2）-  数据的共享性高，冗余度低且易扩充</vt:lpstr>
      <vt:lpstr>数据库的特点（3）-  数据独立性高</vt:lpstr>
      <vt:lpstr>数据库的特点（4）-  数据由数据库管理系统统一管理和控制</vt:lpstr>
      <vt:lpstr>1.1.3  数据库系统的特点</vt:lpstr>
      <vt:lpstr>数据库概念小结</vt:lpstr>
      <vt:lpstr>第 1 章   绪  论</vt:lpstr>
      <vt:lpstr>1.2  数据模型</vt:lpstr>
      <vt:lpstr>1.2.1  两类数据模型</vt:lpstr>
      <vt:lpstr> 概念模型 / 逻辑模型 / 物理模型</vt:lpstr>
      <vt:lpstr>图1.7  客观对象的抽象过程---两步抽象</vt:lpstr>
      <vt:lpstr>三种数据模型之间的关系</vt:lpstr>
      <vt:lpstr>1.2.2  概念模型</vt:lpstr>
      <vt:lpstr>信息世界中的基本概念（1）</vt:lpstr>
      <vt:lpstr>信息世界中的基本概念（2）</vt:lpstr>
      <vt:lpstr>实体之间的联系</vt:lpstr>
      <vt:lpstr>联系的函数关系（1）</vt:lpstr>
      <vt:lpstr>联系的函数关系（2）</vt:lpstr>
      <vt:lpstr>联系的函数关系（3）</vt:lpstr>
      <vt:lpstr>联系的函数关系（4）</vt:lpstr>
      <vt:lpstr>联系的函数关系（5）</vt:lpstr>
      <vt:lpstr>实体内部的联系</vt:lpstr>
      <vt:lpstr>实体-联系方法</vt:lpstr>
      <vt:lpstr>一些例子（1）</vt:lpstr>
      <vt:lpstr>一些例子（2）</vt:lpstr>
      <vt:lpstr>一些例子（3）</vt:lpstr>
      <vt:lpstr>一些例子（4）</vt:lpstr>
      <vt:lpstr>一些例子（5）</vt:lpstr>
      <vt:lpstr>1.2.3  数据模型的组成要素</vt:lpstr>
      <vt:lpstr>数据模型的组成要素（1） -  数据结构</vt:lpstr>
      <vt:lpstr>数据模型的组成要素（2）-  数据操作 </vt:lpstr>
      <vt:lpstr>数据模型的组成要素（3）-  数据的完整性约束条件 </vt:lpstr>
      <vt:lpstr>逻辑模型</vt:lpstr>
      <vt:lpstr>1.2.4  常用数据模型</vt:lpstr>
      <vt:lpstr>1.2.5 &amp; 1.2.6  层次模型 &amp; 网状模型</vt:lpstr>
      <vt:lpstr>2.4 信息世界与逻辑模型</vt:lpstr>
      <vt:lpstr>Example of network data model</vt:lpstr>
      <vt:lpstr>Hierarchical Data Model vs. Network Data Model</vt:lpstr>
      <vt:lpstr>1.2.7  关系模型 - 数据结构</vt:lpstr>
      <vt:lpstr>1.2.7  关系模型 - 基本概念</vt:lpstr>
      <vt:lpstr>1.2.7  关系模型 - 模型的规范化</vt:lpstr>
      <vt:lpstr>关系模型的操作与完整性约束</vt:lpstr>
      <vt:lpstr>关系模型的优缺点</vt:lpstr>
      <vt:lpstr>第 1 章   绪  论</vt:lpstr>
      <vt:lpstr>1.3  数据库系统的结构</vt:lpstr>
      <vt:lpstr>模式和实例（1）</vt:lpstr>
      <vt:lpstr>模式和实例（2）</vt:lpstr>
      <vt:lpstr>图1.16  数据库系统的三级模式结构</vt:lpstr>
      <vt:lpstr>模式（Schema）</vt:lpstr>
      <vt:lpstr>外模式（1）</vt:lpstr>
      <vt:lpstr>外模式（2）</vt:lpstr>
      <vt:lpstr>内模式（Internal Schema）</vt:lpstr>
      <vt:lpstr>数据库的二级映像与数据独立性</vt:lpstr>
      <vt:lpstr>外模式／模式映像</vt:lpstr>
      <vt:lpstr>模式／内模式映像</vt:lpstr>
      <vt:lpstr>数据库的二级映像（1）</vt:lpstr>
      <vt:lpstr>数据库的二级映像（2）</vt:lpstr>
      <vt:lpstr>数据库的二级映像（3）</vt:lpstr>
      <vt:lpstr>三级模式与 DBMS、应用程序之间的关系</vt:lpstr>
      <vt:lpstr>1.3  数据库系统的结构</vt:lpstr>
      <vt:lpstr>Architecture of Database System</vt:lpstr>
      <vt:lpstr>Two-tier Architechture   vs.  Three-tier Architechture</vt:lpstr>
      <vt:lpstr>Two-tier Architechture   vs.  Three-tier Architechture</vt:lpstr>
      <vt:lpstr>Two-tier Architechture   vs.  Three-tier Architechture</vt:lpstr>
      <vt:lpstr>第 1 章   绪  论</vt:lpstr>
      <vt:lpstr>数据库系统的组成-软硬件平台</vt:lpstr>
      <vt:lpstr>数据库系统的组成-人员</vt:lpstr>
      <vt:lpstr>数据库管理员（DBA）</vt:lpstr>
      <vt:lpstr>系统分析员/数据库设计人员 </vt:lpstr>
      <vt:lpstr>应用程序员/最终用户</vt:lpstr>
      <vt:lpstr>第 1 章   绪  论</vt:lpstr>
      <vt:lpstr>1.5   小  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Wei Hu</cp:lastModifiedBy>
  <cp:revision>128</cp:revision>
  <dcterms:created xsi:type="dcterms:W3CDTF">2023-08-09T12:44:00Z</dcterms:created>
  <dcterms:modified xsi:type="dcterms:W3CDTF">2026-03-30T05:04:14Z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465C2AA7BFA24E8583691C0772DDD2C2_13</vt:lpwstr>
  </property>
  <property fmtid="{D5CDD505-2E9C-101B-9397-08002B2CF9AE}" pid="3" name="KSOProductBuildVer">
    <vt:lpwstr>2052-12.1.0.20305</vt:lpwstr>
  </property>
</Properties>
</file>