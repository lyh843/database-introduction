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2"/>
  </p:sldMasterIdLst>
  <p:notesMasterIdLst>
    <p:notesMasterId r:id="rId63"/>
  </p:notesMasterIdLst>
  <p:handoutMasterIdLst>
    <p:handoutMasterId r:id="rId64"/>
  </p:handoutMasterIdLst>
  <p:sldIdLst>
    <p:sldId id="900" r:id="rId3"/>
    <p:sldId id="722" r:id="rId4"/>
    <p:sldId id="726" r:id="rId5"/>
    <p:sldId id="1163" r:id="rId6"/>
    <p:sldId id="721" r:id="rId7"/>
    <p:sldId id="901" r:id="rId8"/>
    <p:sldId id="1164" r:id="rId9"/>
    <p:sldId id="1165" r:id="rId10"/>
    <p:sldId id="1166" r:id="rId11"/>
    <p:sldId id="1167" r:id="rId12"/>
    <p:sldId id="1168" r:id="rId13"/>
    <p:sldId id="1169" r:id="rId14"/>
    <p:sldId id="1170" r:id="rId15"/>
    <p:sldId id="1171" r:id="rId16"/>
    <p:sldId id="1172" r:id="rId17"/>
    <p:sldId id="1173" r:id="rId18"/>
    <p:sldId id="1174" r:id="rId19"/>
    <p:sldId id="1175" r:id="rId20"/>
    <p:sldId id="1176" r:id="rId21"/>
    <p:sldId id="1177" r:id="rId22"/>
    <p:sldId id="1178" r:id="rId23"/>
    <p:sldId id="1179" r:id="rId24"/>
    <p:sldId id="1180" r:id="rId25"/>
    <p:sldId id="1181" r:id="rId26"/>
    <p:sldId id="1182" r:id="rId27"/>
    <p:sldId id="1183" r:id="rId28"/>
    <p:sldId id="1184" r:id="rId29"/>
    <p:sldId id="1185" r:id="rId30"/>
    <p:sldId id="1186" r:id="rId31"/>
    <p:sldId id="1187" r:id="rId32"/>
    <p:sldId id="1188" r:id="rId33"/>
    <p:sldId id="1189" r:id="rId34"/>
    <p:sldId id="1190" r:id="rId35"/>
    <p:sldId id="1191" r:id="rId36"/>
    <p:sldId id="1192" r:id="rId37"/>
    <p:sldId id="1193" r:id="rId38"/>
    <p:sldId id="1194" r:id="rId39"/>
    <p:sldId id="1195" r:id="rId40"/>
    <p:sldId id="1196" r:id="rId41"/>
    <p:sldId id="1197" r:id="rId42"/>
    <p:sldId id="1198" r:id="rId43"/>
    <p:sldId id="1199" r:id="rId44"/>
    <p:sldId id="853" r:id="rId45"/>
    <p:sldId id="706" r:id="rId46"/>
    <p:sldId id="873" r:id="rId47"/>
    <p:sldId id="707" r:id="rId48"/>
    <p:sldId id="708" r:id="rId49"/>
    <p:sldId id="709" r:id="rId50"/>
    <p:sldId id="710" r:id="rId51"/>
    <p:sldId id="711" r:id="rId52"/>
    <p:sldId id="712" r:id="rId53"/>
    <p:sldId id="713" r:id="rId54"/>
    <p:sldId id="714" r:id="rId55"/>
    <p:sldId id="715" r:id="rId56"/>
    <p:sldId id="716" r:id="rId57"/>
    <p:sldId id="887" r:id="rId58"/>
    <p:sldId id="718" r:id="rId59"/>
    <p:sldId id="888" r:id="rId60"/>
    <p:sldId id="719" r:id="rId61"/>
    <p:sldId id="889" r:id="rId62"/>
  </p:sldIdLst>
  <p:sldSz cx="12192000" cy="6858000"/>
  <p:notesSz cx="6858000" cy="9144000"/>
  <p:embeddedFontLst>
    <p:embeddedFont>
      <p:font typeface="黑体" panose="02010609060101010101" pitchFamily="49" charset="-122"/>
      <p:regular r:id="rId65"/>
    </p:embeddedFont>
    <p:embeddedFont>
      <p:font typeface="楷体" panose="02010609060101010101" pitchFamily="49" charset="-122"/>
      <p:regular r:id="rId66"/>
    </p:embeddedFont>
    <p:embeddedFont>
      <p:font typeface="微软雅黑" panose="020B0503020204020204" pitchFamily="34" charset="-122"/>
      <p:regular r:id="rId67"/>
      <p:bold r:id="rId68"/>
    </p:embeddedFont>
    <p:embeddedFont>
      <p:font typeface="Cambria Math" panose="02040503050406030204" pitchFamily="18" charset="0"/>
      <p:regular r:id="rId69"/>
    </p:embeddedFont>
  </p:embeddedFontLst>
  <p:custDataLst>
    <p:tags r:id="rId7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380509090" name="百老汇" initials="百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2D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2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notesMaster" Target="notesMasters/notesMaster1.xml"/><Relationship Id="rId68" Type="http://schemas.openxmlformats.org/officeDocument/2006/relationships/font" Target="fonts/font4.fntdata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font" Target="fonts/font2.fntdata"/><Relationship Id="rId74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handoutMaster" Target="handoutMasters/handoutMaster1.xml"/><Relationship Id="rId69" Type="http://schemas.openxmlformats.org/officeDocument/2006/relationships/font" Target="fonts/font5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font" Target="fonts/font3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ags" Target="tags/tag1.xml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font" Target="fonts/font1.fntdata"/><Relationship Id="rId73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仅仅是这些概念按照它们所处的抽象层次建立的对应，并不代表它们之间是等价的。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54EB02F-1DD9-40DC-AABC-3EE163028267}" type="slidenum">
              <a:rPr lang="en-US" altLang="zh-CN"/>
              <a:t>19</a:t>
            </a:fld>
            <a:endParaRPr lang="en-US" altLang="zh-CN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2338" y="747713"/>
            <a:ext cx="4987925" cy="3741737"/>
          </a:xfrm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54EB02F-1DD9-40DC-AABC-3EE163028267}" type="slidenum">
              <a:rPr lang="en-US" altLang="zh-CN"/>
              <a:t>20</a:t>
            </a:fld>
            <a:endParaRPr lang="en-US" altLang="zh-CN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2338" y="747713"/>
            <a:ext cx="4987925" cy="3741737"/>
          </a:xfrm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54EB02F-1DD9-40DC-AABC-3EE163028267}" type="slidenum">
              <a:rPr lang="en-US" altLang="zh-CN"/>
              <a:t>21</a:t>
            </a:fld>
            <a:endParaRPr lang="en-US" altLang="zh-CN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2338" y="747713"/>
            <a:ext cx="4987925" cy="3741737"/>
          </a:xfrm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54EB02F-1DD9-40DC-AABC-3EE163028267}" type="slidenum">
              <a:rPr lang="en-US" altLang="zh-CN"/>
              <a:t>25</a:t>
            </a:fld>
            <a:endParaRPr lang="en-US" altLang="zh-CN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7713"/>
            <a:ext cx="6651625" cy="3741737"/>
          </a:xfrm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en-US" altLang="zh-CN"/>
              <a:t>relation </a:t>
            </a:r>
            <a:r>
              <a:rPr lang="zh-CN" altLang="en-US"/>
              <a:t>关系</a:t>
            </a:r>
          </a:p>
          <a:p>
            <a:r>
              <a:rPr lang="en-US" altLang="zh-CN"/>
              <a:t>tuple </a:t>
            </a:r>
            <a:r>
              <a:rPr lang="zh-CN" altLang="en-US"/>
              <a:t>元组，</a:t>
            </a:r>
            <a:r>
              <a:rPr lang="en-US" altLang="zh-CN"/>
              <a:t>n-tuple n</a:t>
            </a:r>
            <a:r>
              <a:rPr lang="zh-CN" altLang="en-US"/>
              <a:t>元</a:t>
            </a:r>
            <a:r>
              <a:rPr lang="en-US" altLang="zh-CN"/>
              <a:t>-</a:t>
            </a:r>
            <a:r>
              <a:rPr lang="zh-CN" altLang="en-US"/>
              <a:t>元组</a:t>
            </a:r>
          </a:p>
          <a:p>
            <a:r>
              <a:rPr lang="en-US" altLang="zh-CN"/>
              <a:t>domain </a:t>
            </a:r>
            <a:r>
              <a:rPr lang="zh-CN" altLang="en-US"/>
              <a:t>域</a:t>
            </a:r>
          </a:p>
          <a:p>
            <a:r>
              <a:rPr lang="en-US" altLang="zh-CN"/>
              <a:t>degree n ... n</a:t>
            </a:r>
            <a:r>
              <a:rPr lang="zh-CN" altLang="en-US"/>
              <a:t>元</a:t>
            </a:r>
          </a:p>
          <a:p>
            <a:r>
              <a:rPr lang="en-US" altLang="zh-CN"/>
              <a:t>unary </a:t>
            </a:r>
            <a:r>
              <a:rPr lang="zh-CN" altLang="en-US"/>
              <a:t>一元关系，</a:t>
            </a:r>
            <a:r>
              <a:rPr lang="en-US" altLang="zh-CN"/>
              <a:t>binary </a:t>
            </a:r>
            <a:r>
              <a:rPr lang="zh-CN" altLang="en-US"/>
              <a:t>二元关系，</a:t>
            </a:r>
            <a:r>
              <a:rPr lang="en-US" altLang="zh-CN"/>
              <a:t>ternary </a:t>
            </a:r>
            <a:r>
              <a:rPr lang="zh-CN" altLang="en-US"/>
              <a:t>三元关系，</a:t>
            </a:r>
            <a:r>
              <a:rPr lang="en-US" altLang="zh-CN"/>
              <a:t>n-ary n</a:t>
            </a:r>
            <a:r>
              <a:rPr lang="zh-CN" altLang="en-US"/>
              <a:t>元关系（或称为</a:t>
            </a:r>
            <a:r>
              <a:rPr lang="en-US" altLang="zh-CN"/>
              <a:t>‘</a:t>
            </a:r>
            <a:r>
              <a:rPr lang="zh-CN" altLang="en-US"/>
              <a:t>多元关系</a:t>
            </a:r>
            <a:r>
              <a:rPr lang="en-US" altLang="zh-CN"/>
              <a:t>’</a:t>
            </a:r>
            <a:r>
              <a:rPr lang="zh-CN" altLang="en-US"/>
              <a:t>）</a:t>
            </a:r>
          </a:p>
          <a:p>
            <a:r>
              <a:rPr lang="en-US" altLang="zh-CN"/>
              <a:t>cartesian product </a:t>
            </a:r>
            <a:r>
              <a:rPr lang="zh-CN" altLang="en-US"/>
              <a:t>笛卡尔积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24815" y="615950"/>
            <a:ext cx="5579745" cy="59817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615950"/>
            <a:ext cx="5588635" cy="59817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21970"/>
          </a:xfrm>
        </p:spPr>
        <p:txBody>
          <a:bodyPr wrap="square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24800" y="604203"/>
            <a:ext cx="5580000" cy="8239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24815" y="1428115"/>
            <a:ext cx="5579745" cy="51866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604520"/>
            <a:ext cx="5589270" cy="823595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1428115"/>
            <a:ext cx="5589270" cy="51866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horz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-635" y="0"/>
            <a:ext cx="12192635" cy="59563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vert="horz" wrap="square" lIns="91440" tIns="82550" rIns="91440" bIns="82550" rtlCol="0" anchor="ctr">
            <a:no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24180" y="687070"/>
            <a:ext cx="11343005" cy="5897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6696000"/>
            <a:ext cx="4114800" cy="152400"/>
          </a:xfrm>
          <a:prstGeom prst="rect">
            <a:avLst/>
          </a:prstGeom>
        </p:spPr>
        <p:txBody>
          <a:bodyPr vert="horz" lIns="91440" tIns="0" rIns="91440" bIns="0" rtlCol="0" anchor="ctr">
            <a:spAutoFit/>
          </a:bodyPr>
          <a:lstStyle>
            <a:lvl1pPr algn="l">
              <a:defRPr sz="1000" b="1" i="1">
                <a:solidFill>
                  <a:schemeClr val="tx1">
                    <a:tint val="75000"/>
                  </a:schemeClr>
                </a:solidFill>
                <a:latin typeface="楷体" panose="02010609060101010101" charset="-122"/>
                <a:ea typeface="楷体" panose="02010609060101010101" charset="-122"/>
              </a:defRPr>
            </a:lvl1pPr>
          </a:lstStyle>
          <a:p>
            <a:r>
              <a:rPr lang="zh-CN" altLang="en-US"/>
              <a:t>ch02_1_关系数据模型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61115" y="6680760"/>
            <a:ext cx="730885" cy="184150"/>
          </a:xfrm>
          <a:prstGeom prst="rect">
            <a:avLst/>
          </a:prstGeom>
        </p:spPr>
        <p:txBody>
          <a:bodyPr vert="horz" wrap="square" lIns="91440" tIns="0" rIns="91440" bIns="0" rtlCol="0" anchor="ctr">
            <a:spAutoFit/>
          </a:bodyPr>
          <a:lstStyle>
            <a:lvl1pPr algn="r">
              <a:defRPr sz="1200" b="1" i="1">
                <a:solidFill>
                  <a:schemeClr val="tx1">
                    <a:tint val="75000"/>
                  </a:schemeClr>
                </a:solidFill>
                <a:latin typeface="楷体" panose="02010609060101010101" charset="-122"/>
                <a:ea typeface="楷体" panose="02010609060101010101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ct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0"/>
        </a:spcAft>
        <a:buClr>
          <a:srgbClr val="C00000"/>
        </a:buClr>
        <a:buSzPct val="85000"/>
        <a:buFont typeface="Wingdings" panose="05000000000000000000" charset="0"/>
        <a:buChar char="q"/>
        <a:defRPr sz="30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Wingdings" panose="05000000000000000000" charset="0"/>
        <a:buChar char="Ø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Arial" panose="020B0604020202020204" pitchFamily="34" charset="0"/>
        <a:buChar char="●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Arial" panose="020B0604020202020204" pitchFamily="34" charset="0"/>
        <a:buChar char="‒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Wingdings" panose="05000000000000000000" charset="0"/>
        <a:buChar char="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1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fac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221210" cy="6857365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4021200" y="5412105"/>
            <a:ext cx="41516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（202</a:t>
            </a:r>
            <a:r>
              <a:rPr kumimoji="1" lang="en-US" altLang="zh-CN"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kumimoji="1" lang="zh-CN" altLang="en-US"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kumimoji="1"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春季）</a:t>
            </a: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2484000" y="1924685"/>
            <a:ext cx="72288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第2章  关系数据库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Rectangle 2"/>
          <p:cNvSpPr>
            <a:spLocks noGrp="1"/>
          </p:cNvSpPr>
          <p:nvPr>
            <p:ph type="title"/>
          </p:nvPr>
        </p:nvSpPr>
        <p:spPr/>
        <p:txBody>
          <a:bodyPr wrap="square" tIns="0" bIns="0" anchor="ctr"/>
          <a:lstStyle/>
          <a:p>
            <a:pPr eaLnBrk="1" hangingPunct="1"/>
            <a:r>
              <a:rPr lang="zh-CN" altLang="en-US">
                <a:sym typeface="+mn-ea"/>
              </a:rPr>
              <a:t>关系数据库</a:t>
            </a:r>
            <a:endParaRPr lang="zh-CN" altLang="en-US"/>
          </a:p>
        </p:txBody>
      </p:sp>
      <p:sp>
        <p:nvSpPr>
          <p:cNvPr id="138242" name="Rectangle 3"/>
          <p:cNvSpPr>
            <a:spLocks noGrp="1"/>
          </p:cNvSpPr>
          <p:nvPr>
            <p:ph idx="1"/>
          </p:nvPr>
        </p:nvSpPr>
        <p:spPr>
          <a:xfrm>
            <a:off x="424180" y="687070"/>
            <a:ext cx="11343005" cy="1112520"/>
          </a:xfrm>
        </p:spPr>
        <p:txBody>
          <a:bodyPr wrap="square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30000"/>
              </a:spcBef>
            </a:pPr>
            <a:r>
              <a:rPr lang="en-US" altLang="x-none" dirty="0">
                <a:solidFill>
                  <a:srgbClr val="1F2DA8"/>
                </a:solidFill>
                <a:latin typeface="+mn-lt"/>
                <a:cs typeface="+mn-lt"/>
              </a:rPr>
              <a:t>1970</a:t>
            </a:r>
            <a:r>
              <a:rPr lang="zh-CN" dirty="0">
                <a:solidFill>
                  <a:srgbClr val="1F2DA8"/>
                </a:solidFill>
                <a:latin typeface="+mn-lt"/>
                <a:cs typeface="+mn-lt"/>
              </a:rPr>
              <a:t>，</a:t>
            </a:r>
            <a:r>
              <a:rPr lang="en-US" altLang="zh-CN" dirty="0">
                <a:solidFill>
                  <a:srgbClr val="1F2DA8"/>
                </a:solidFill>
                <a:latin typeface="+mn-lt"/>
                <a:cs typeface="+mn-lt"/>
              </a:rPr>
              <a:t>IBM</a:t>
            </a:r>
            <a:r>
              <a:rPr lang="zh-CN" altLang="en-US" dirty="0">
                <a:solidFill>
                  <a:srgbClr val="1F2DA8"/>
                </a:solidFill>
                <a:latin typeface="+mn-lt"/>
                <a:cs typeface="+mn-lt"/>
              </a:rPr>
              <a:t>公司的</a:t>
            </a:r>
            <a:r>
              <a:rPr lang="en-US" altLang="zh-CN" dirty="0">
                <a:solidFill>
                  <a:srgbClr val="1F2DA8"/>
                </a:solidFill>
                <a:latin typeface="+mn-lt"/>
                <a:cs typeface="+mn-lt"/>
              </a:rPr>
              <a:t> E. F. Codd</a:t>
            </a:r>
            <a:r>
              <a:rPr lang="zh-CN" altLang="en-US" dirty="0">
                <a:latin typeface="+mn-lt"/>
                <a:cs typeface="+mn-lt"/>
                <a:sym typeface="+mn-ea"/>
              </a:rPr>
              <a:t>（81年图灵奖）</a:t>
            </a:r>
            <a:r>
              <a:rPr lang="en-US" altLang="zh-CN" dirty="0">
                <a:solidFill>
                  <a:srgbClr val="1F2DA8"/>
                </a:solidFill>
                <a:latin typeface="+mn-lt"/>
                <a:cs typeface="+mn-lt"/>
              </a:rPr>
              <a:t> </a:t>
            </a:r>
            <a:r>
              <a:rPr lang="zh-CN" altLang="en-US" dirty="0">
                <a:solidFill>
                  <a:srgbClr val="1F2DA8"/>
                </a:solidFill>
                <a:latin typeface="+mn-lt"/>
                <a:cs typeface="+mn-lt"/>
              </a:rPr>
              <a:t>提出关系数据模型</a:t>
            </a:r>
            <a:endParaRPr lang="zh-CN" altLang="en-US" dirty="0">
              <a:latin typeface="+mn-lt"/>
              <a:cs typeface="+mn-lt"/>
            </a:endParaRPr>
          </a:p>
          <a:p>
            <a:pPr marL="457200" lvl="3" indent="0" eaLnBrk="1" hangingPunct="1">
              <a:lnSpc>
                <a:spcPct val="100000"/>
              </a:lnSpc>
              <a:spcBef>
                <a:spcPct val="30000"/>
              </a:spcBef>
              <a:buSzPct val="85000"/>
              <a:buNone/>
            </a:pPr>
            <a:r>
              <a:rPr lang="en-US" altLang="x-none" dirty="0">
                <a:solidFill>
                  <a:srgbClr val="1F2DA8"/>
                </a:solidFill>
                <a:latin typeface="+mn-lt"/>
                <a:cs typeface="+mn-lt"/>
              </a:rPr>
              <a:t>The Relational Model of Data for Large Shared Data Banks.</a:t>
            </a:r>
            <a:endParaRPr lang="zh-CN" altLang="en-US" dirty="0">
              <a:solidFill>
                <a:srgbClr val="1F2DA8"/>
              </a:solidFill>
              <a:latin typeface="+mn-lt"/>
              <a:cs typeface="+mn-lt"/>
            </a:endParaRPr>
          </a:p>
        </p:txBody>
      </p:sp>
      <p:sp>
        <p:nvSpPr>
          <p:cNvPr id="31748" name="Rectangle 3"/>
          <p:cNvSpPr>
            <a:spLocks noGrp="1"/>
          </p:cNvSpPr>
          <p:nvPr/>
        </p:nvSpPr>
        <p:spPr>
          <a:xfrm>
            <a:off x="424180" y="2012950"/>
            <a:ext cx="11343005" cy="39998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>
            <a:lvl1pPr marL="342900" lvl="0" indent="-3429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q"/>
              <a:defRPr sz="2400" b="1" i="0" u="none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24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–"/>
              <a:defRPr sz="2400" b="1" i="0" u="none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³"/>
              <a:defRPr sz="2000" b="1" i="0" u="none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³"/>
              <a:defRPr sz="2000" b="1" i="0" u="none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³"/>
              <a:defRPr sz="2000" b="1" i="0" u="none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³"/>
              <a:defRPr sz="2000" b="1" i="0" u="none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³"/>
              <a:defRPr sz="2000" b="1" i="0" u="none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q"/>
            </a:pPr>
            <a:r>
              <a:rPr lang="zh-CN" altLang="en-US" sz="2800" dirty="0">
                <a:solidFill>
                  <a:srgbClr val="1F2DA8"/>
                </a:solidFill>
                <a:ea typeface="楷体" panose="02010609060101010101" charset="-122"/>
                <a:cs typeface="+mn-lt"/>
              </a:rPr>
              <a:t>课程内容</a:t>
            </a:r>
            <a:endParaRPr lang="en-US" altLang="zh-CN" sz="2800" dirty="0">
              <a:solidFill>
                <a:srgbClr val="1F2DA8"/>
              </a:solidFill>
              <a:ea typeface="楷体" panose="02010609060101010101" charset="-122"/>
              <a:cs typeface="+mn-lt"/>
            </a:endParaRP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Ø"/>
            </a:pPr>
            <a:r>
              <a:rPr lang="zh-CN" altLang="en-US" sz="2800" dirty="0">
                <a:solidFill>
                  <a:srgbClr val="1F2DA8"/>
                </a:solidFill>
                <a:ea typeface="楷体" panose="02010609060101010101" charset="-122"/>
                <a:cs typeface="+mn-lt"/>
              </a:rPr>
              <a:t>第</a:t>
            </a:r>
            <a:r>
              <a:rPr lang="en-US" altLang="zh-CN" sz="2800" dirty="0">
                <a:solidFill>
                  <a:srgbClr val="1F2DA8"/>
                </a:solidFill>
                <a:ea typeface="楷体" panose="02010609060101010101" charset="-122"/>
                <a:cs typeface="+mn-lt"/>
              </a:rPr>
              <a:t>2</a:t>
            </a:r>
            <a:r>
              <a:rPr lang="zh-CN" altLang="en-US" sz="2800" dirty="0">
                <a:solidFill>
                  <a:srgbClr val="1F2DA8"/>
                </a:solidFill>
                <a:ea typeface="楷体" panose="02010609060101010101" charset="-122"/>
                <a:cs typeface="+mn-lt"/>
              </a:rPr>
              <a:t>章：关系数据模型（关系模型的数据结构、关系操作和数据完整性；关系代数及其应用）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Ø"/>
            </a:pPr>
            <a:r>
              <a:rPr lang="zh-CN" altLang="en-US" sz="2800" dirty="0">
                <a:solidFill>
                  <a:srgbClr val="1F2DA8"/>
                </a:solidFill>
                <a:ea typeface="楷体" panose="02010609060101010101" charset="-122"/>
                <a:cs typeface="+mn-lt"/>
              </a:rPr>
              <a:t>第</a:t>
            </a:r>
            <a:r>
              <a:rPr lang="en-US" altLang="zh-CN" sz="2800" dirty="0">
                <a:solidFill>
                  <a:srgbClr val="1F2DA8"/>
                </a:solidFill>
                <a:ea typeface="楷体" panose="02010609060101010101" charset="-122"/>
                <a:cs typeface="+mn-lt"/>
              </a:rPr>
              <a:t>3</a:t>
            </a:r>
            <a:r>
              <a:rPr lang="zh-CN" altLang="en-US" sz="2800" dirty="0">
                <a:solidFill>
                  <a:srgbClr val="1F2DA8"/>
                </a:solidFill>
                <a:ea typeface="楷体" panose="02010609060101010101" charset="-122"/>
                <a:cs typeface="+mn-lt"/>
              </a:rPr>
              <a:t>章：关系数据库子语言</a:t>
            </a:r>
            <a:r>
              <a:rPr lang="en-US" altLang="zh-CN" sz="2800" dirty="0">
                <a:solidFill>
                  <a:srgbClr val="1F2DA8"/>
                </a:solidFill>
                <a:ea typeface="楷体" panose="02010609060101010101" charset="-122"/>
                <a:cs typeface="+mn-lt"/>
              </a:rPr>
              <a:t>SQL</a:t>
            </a:r>
            <a:r>
              <a:rPr lang="zh-CN" altLang="en-US" sz="2800" dirty="0">
                <a:solidFill>
                  <a:srgbClr val="1F2DA8"/>
                </a:solidFill>
                <a:ea typeface="楷体" panose="02010609060101010101" charset="-122"/>
                <a:cs typeface="+mn-lt"/>
              </a:rPr>
              <a:t>（补充</a:t>
            </a:r>
            <a:r>
              <a:rPr lang="zh-CN" altLang="en-US" sz="2800" dirty="0">
                <a:solidFill>
                  <a:srgbClr val="1F2DA8"/>
                </a:solidFill>
                <a:ea typeface="楷体" panose="02010609060101010101" charset="-122"/>
                <a:cs typeface="+mn-lt"/>
                <a:sym typeface="+mn-ea"/>
              </a:rPr>
              <a:t>事务处理概念）</a:t>
            </a:r>
            <a:endParaRPr lang="en-US" altLang="zh-CN" sz="2800" dirty="0">
              <a:solidFill>
                <a:srgbClr val="1F2DA8"/>
              </a:solidFill>
              <a:ea typeface="楷体" panose="02010609060101010101" charset="-122"/>
              <a:cs typeface="+mn-lt"/>
            </a:endParaRP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Ø"/>
            </a:pPr>
            <a:r>
              <a:rPr lang="zh-CN" altLang="en-US" sz="2800" dirty="0">
                <a:solidFill>
                  <a:srgbClr val="1F2DA8"/>
                </a:solidFill>
                <a:ea typeface="楷体" panose="02010609060101010101" charset="-122"/>
                <a:cs typeface="+mn-lt"/>
              </a:rPr>
              <a:t>第</a:t>
            </a:r>
            <a:r>
              <a:rPr lang="en-US" altLang="zh-CN" sz="2800" dirty="0">
                <a:solidFill>
                  <a:srgbClr val="1F2DA8"/>
                </a:solidFill>
                <a:ea typeface="楷体" panose="02010609060101010101" charset="-122"/>
                <a:cs typeface="+mn-lt"/>
              </a:rPr>
              <a:t>4</a:t>
            </a:r>
            <a:r>
              <a:rPr lang="zh-CN" altLang="en-US" sz="2800" dirty="0">
                <a:solidFill>
                  <a:srgbClr val="1F2DA8"/>
                </a:solidFill>
                <a:ea typeface="楷体" panose="02010609060101010101" charset="-122"/>
                <a:cs typeface="+mn-lt"/>
              </a:rPr>
              <a:t>和</a:t>
            </a:r>
            <a:r>
              <a:rPr lang="en-US" altLang="zh-CN" sz="2800" dirty="0">
                <a:solidFill>
                  <a:srgbClr val="1F2DA8"/>
                </a:solidFill>
                <a:ea typeface="楷体" panose="02010609060101010101" charset="-122"/>
                <a:cs typeface="+mn-lt"/>
              </a:rPr>
              <a:t>5</a:t>
            </a:r>
            <a:r>
              <a:rPr lang="zh-CN" altLang="en-US" sz="2800" dirty="0">
                <a:solidFill>
                  <a:srgbClr val="1F2DA8"/>
                </a:solidFill>
                <a:ea typeface="楷体" panose="02010609060101010101" charset="-122"/>
                <a:cs typeface="+mn-lt"/>
              </a:rPr>
              <a:t>章：数据库安全性与数据库完整性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Ø"/>
            </a:pPr>
            <a:r>
              <a:rPr lang="zh-CN" altLang="en-US" sz="2800" dirty="0">
                <a:solidFill>
                  <a:srgbClr val="1F2DA8"/>
                </a:solidFill>
                <a:ea typeface="楷体" panose="02010609060101010101" charset="-122"/>
                <a:cs typeface="+mn-lt"/>
              </a:rPr>
              <a:t>第</a:t>
            </a:r>
            <a:r>
              <a:rPr lang="en-US" altLang="zh-CN" sz="2800" dirty="0">
                <a:solidFill>
                  <a:srgbClr val="1F2DA8"/>
                </a:solidFill>
                <a:ea typeface="楷体" panose="02010609060101010101" charset="-122"/>
                <a:cs typeface="+mn-lt"/>
              </a:rPr>
              <a:t>6</a:t>
            </a:r>
            <a:r>
              <a:rPr lang="zh-CN" altLang="en-US" sz="2800" dirty="0">
                <a:solidFill>
                  <a:srgbClr val="1F2DA8"/>
                </a:solidFill>
                <a:ea typeface="楷体" panose="02010609060101010101" charset="-122"/>
                <a:cs typeface="+mn-lt"/>
              </a:rPr>
              <a:t>章：关系数据库规范化理论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Ø"/>
            </a:pPr>
            <a:r>
              <a:rPr lang="zh-CN" altLang="en-US" sz="2800" dirty="0">
                <a:solidFill>
                  <a:srgbClr val="1F2DA8"/>
                </a:solidFill>
                <a:ea typeface="楷体" panose="02010609060101010101" charset="-122"/>
                <a:cs typeface="+mn-lt"/>
              </a:rPr>
              <a:t>第</a:t>
            </a:r>
            <a:r>
              <a:rPr lang="en-US" altLang="zh-CN" sz="2800" dirty="0">
                <a:solidFill>
                  <a:srgbClr val="1F2DA8"/>
                </a:solidFill>
                <a:ea typeface="楷体" panose="02010609060101010101" charset="-122"/>
                <a:cs typeface="+mn-lt"/>
              </a:rPr>
              <a:t>7</a:t>
            </a:r>
            <a:r>
              <a:rPr lang="zh-CN" altLang="en-US" sz="2800" dirty="0">
                <a:solidFill>
                  <a:srgbClr val="1F2DA8"/>
                </a:solidFill>
                <a:ea typeface="楷体" panose="02010609060101010101" charset="-122"/>
                <a:cs typeface="+mn-lt"/>
              </a:rPr>
              <a:t>章：数据库设计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Ø"/>
            </a:pPr>
            <a:r>
              <a:rPr lang="zh-CN" altLang="en-US" sz="2800" dirty="0">
                <a:solidFill>
                  <a:srgbClr val="1F2DA8"/>
                </a:solidFill>
                <a:ea typeface="楷体" panose="02010609060101010101" charset="-122"/>
                <a:cs typeface="+mn-lt"/>
              </a:rPr>
              <a:t>第</a:t>
            </a:r>
            <a:r>
              <a:rPr lang="en-US" altLang="zh-CN" sz="2800" dirty="0">
                <a:solidFill>
                  <a:srgbClr val="1F2DA8"/>
                </a:solidFill>
                <a:ea typeface="楷体" panose="02010609060101010101" charset="-122"/>
                <a:cs typeface="+mn-lt"/>
              </a:rPr>
              <a:t>8</a:t>
            </a:r>
            <a:r>
              <a:rPr lang="zh-CN" altLang="en-US" sz="2800" dirty="0">
                <a:solidFill>
                  <a:srgbClr val="1F2DA8"/>
                </a:solidFill>
                <a:ea typeface="楷体" panose="02010609060101010101" charset="-122"/>
                <a:cs typeface="+mn-lt"/>
              </a:rPr>
              <a:t>章：数据库编程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关系数据库中名词术语之间的对应关系</a:t>
            </a:r>
            <a:endParaRPr lang="zh-CN" altLang="en-US" b="1"/>
          </a:p>
        </p:txBody>
      </p:sp>
      <p:graphicFrame>
        <p:nvGraphicFramePr>
          <p:cNvPr id="27651" name="内容占位符 27650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424180" y="687070"/>
          <a:ext cx="11343005" cy="5702300"/>
        </p:xfrm>
        <a:graphic>
          <a:graphicData uri="http://schemas.openxmlformats.org/drawingml/2006/table">
            <a:tbl>
              <a:tblPr/>
              <a:tblGrid>
                <a:gridCol w="3780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1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0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53490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q"/>
                        <a:defRPr sz="2000" b="0" i="0" u="none" kern="1200" baseline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华文细黑" panose="02010600040101010101" charset="-122"/>
                        </a:defRPr>
                      </a:lvl1pPr>
                      <a:lvl2pPr marL="742950" lvl="1" indent="-285750" algn="l"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 algn="l">
                        <a:defRPr sz="2000" b="0" kern="1200">
                          <a:solidFill>
                            <a:schemeClr val="accent2"/>
                          </a:solidFill>
                        </a:defRPr>
                      </a:lvl3pPr>
                      <a:lvl4pPr marL="1600200" lvl="3" indent="-228600" algn="l">
                        <a:buFont typeface="Wingdings" panose="05000000000000000000" pitchFamily="2" charset="2"/>
                        <a:defRPr sz="2000" b="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 algn="l">
                        <a:defRPr sz="2000" b="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>
                          <a:solidFill>
                            <a:srgbClr val="C00000"/>
                          </a:solidFill>
                          <a:latin typeface="+mn-lt"/>
                          <a:ea typeface="楷体" panose="02010609060101010101" charset="-122"/>
                        </a:rPr>
                        <a:t>关系模型理论</a:t>
                      </a:r>
                    </a:p>
                  </a:txBody>
                  <a:tcPr marL="0" marR="0" marT="36195" marB="361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q"/>
                        <a:defRPr sz="2000" b="0" i="0" u="none" kern="1200" baseline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华文细黑" panose="02010600040101010101" charset="-122"/>
                        </a:defRPr>
                      </a:lvl1pPr>
                      <a:lvl2pPr marL="742950" lvl="1" indent="-285750" algn="l"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 algn="l">
                        <a:defRPr sz="2000" b="0" kern="1200">
                          <a:solidFill>
                            <a:schemeClr val="accent2"/>
                          </a:solidFill>
                        </a:defRPr>
                      </a:lvl3pPr>
                      <a:lvl4pPr marL="1600200" lvl="3" indent="-228600" algn="l">
                        <a:buFont typeface="Wingdings" panose="05000000000000000000" pitchFamily="2" charset="2"/>
                        <a:defRPr sz="2000" b="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 algn="l">
                        <a:defRPr sz="2000" b="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>
                          <a:solidFill>
                            <a:srgbClr val="C00000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关系数据库管理系统</a:t>
                      </a: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800" b="1">
                          <a:solidFill>
                            <a:srgbClr val="C00000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（</a:t>
                      </a:r>
                      <a:r>
                        <a:rPr lang="en-US" altLang="zh-CN" sz="2800" b="1">
                          <a:solidFill>
                            <a:srgbClr val="C00000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SQL)</a:t>
                      </a:r>
                    </a:p>
                  </a:txBody>
                  <a:tcPr marL="0" marR="0" marT="36195" marB="361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q"/>
                        <a:defRPr sz="2000" b="0" i="0" u="none" kern="1200" baseline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华文细黑" panose="02010600040101010101" charset="-122"/>
                        </a:defRPr>
                      </a:lvl1pPr>
                      <a:lvl2pPr marL="742950" lvl="1" indent="-285750" algn="l"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 algn="l">
                        <a:defRPr sz="2000" b="0" kern="1200">
                          <a:solidFill>
                            <a:schemeClr val="accent2"/>
                          </a:solidFill>
                        </a:defRPr>
                      </a:lvl3pPr>
                      <a:lvl4pPr marL="1600200" lvl="3" indent="-228600" algn="l">
                        <a:buFont typeface="Wingdings" panose="05000000000000000000" pitchFamily="2" charset="2"/>
                        <a:defRPr sz="2000" b="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 algn="l">
                        <a:defRPr sz="2000" b="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>
                          <a:solidFill>
                            <a:srgbClr val="C00000"/>
                          </a:solidFill>
                          <a:latin typeface="+mn-lt"/>
                          <a:ea typeface="楷体" panose="02010609060101010101" charset="-122"/>
                        </a:rPr>
                        <a:t>文件系统</a:t>
                      </a:r>
                    </a:p>
                  </a:txBody>
                  <a:tcPr marL="0" marR="0" marT="36195" marB="361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820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q"/>
                        <a:defRPr sz="2000" b="0" i="0" u="none" kern="1200" baseline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华文细黑" panose="02010600040101010101" charset="-122"/>
                        </a:defRPr>
                      </a:lvl1pPr>
                      <a:lvl2pPr marL="742950" lvl="1" indent="-285750" algn="l"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 algn="l">
                        <a:defRPr sz="2000" b="0" kern="1200">
                          <a:solidFill>
                            <a:schemeClr val="accent2"/>
                          </a:solidFill>
                        </a:defRPr>
                      </a:lvl3pPr>
                      <a:lvl4pPr marL="1600200" lvl="3" indent="-228600" algn="l">
                        <a:buFont typeface="Wingdings" panose="05000000000000000000" pitchFamily="2" charset="2"/>
                        <a:defRPr sz="2000" b="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 algn="l">
                        <a:defRPr sz="2000" b="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lang="zh-CN" altLang="en-US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  <a:sym typeface="+mn-ea"/>
                        </a:rPr>
                        <a:t>关系</a:t>
                      </a:r>
                      <a:r>
                        <a:rPr lang="en-US" altLang="zh-CN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  <a:sym typeface="+mn-ea"/>
                        </a:rPr>
                        <a:t>  </a:t>
                      </a:r>
                      <a:r>
                        <a:rPr lang="en-US" altLang="x-none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relation</a:t>
                      </a:r>
                      <a:endParaRPr lang="zh-CN" altLang="en-US" sz="2800" b="1" dirty="0">
                        <a:solidFill>
                          <a:srgbClr val="1F2DA8"/>
                        </a:solidFill>
                        <a:latin typeface="+mn-lt"/>
                        <a:ea typeface="楷体" panose="02010609060101010101" charset="-122"/>
                        <a:cs typeface="+mn-lt"/>
                      </a:endParaRPr>
                    </a:p>
                  </a:txBody>
                  <a:tcPr marL="179705" marR="0" marT="36195" marB="361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q"/>
                        <a:defRPr sz="2000" b="0" i="0" u="none" kern="1200" baseline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华文细黑" panose="02010600040101010101" charset="-122"/>
                        </a:defRPr>
                      </a:lvl1pPr>
                      <a:lvl2pPr marL="742950" lvl="1" indent="-285750" algn="l"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 algn="l">
                        <a:defRPr sz="2000" b="0" kern="1200">
                          <a:solidFill>
                            <a:schemeClr val="accent2"/>
                          </a:solidFill>
                        </a:defRPr>
                      </a:lvl3pPr>
                      <a:lvl4pPr marL="1600200" lvl="3" indent="-228600" algn="l">
                        <a:buFont typeface="Wingdings" panose="05000000000000000000" pitchFamily="2" charset="2"/>
                        <a:defRPr sz="2000" b="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 algn="l">
                        <a:defRPr sz="2000" b="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lang="zh-CN" altLang="en-US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  <a:sym typeface="+mn-ea"/>
                        </a:rPr>
                        <a:t>表</a:t>
                      </a:r>
                      <a:r>
                        <a:rPr lang="en-US" altLang="zh-CN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  <a:sym typeface="+mn-ea"/>
                        </a:rPr>
                        <a:t> </a:t>
                      </a:r>
                      <a:r>
                        <a:rPr lang="en-US" altLang="x-none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 table</a:t>
                      </a:r>
                      <a:endParaRPr lang="zh-CN" altLang="en-US" sz="2800" b="1" dirty="0">
                        <a:solidFill>
                          <a:srgbClr val="1F2DA8"/>
                        </a:solidFill>
                        <a:latin typeface="+mn-lt"/>
                        <a:ea typeface="楷体" panose="02010609060101010101" charset="-122"/>
                        <a:cs typeface="+mn-lt"/>
                      </a:endParaRPr>
                    </a:p>
                  </a:txBody>
                  <a:tcPr marL="179705" marR="0" marT="36195" marB="361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q"/>
                        <a:defRPr sz="2000" b="0" i="0" u="none" kern="1200" baseline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华文细黑" panose="02010600040101010101" charset="-122"/>
                        </a:defRPr>
                      </a:lvl1pPr>
                      <a:lvl2pPr marL="742950" lvl="1" indent="-285750" algn="l"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 algn="l">
                        <a:defRPr sz="2000" b="0" kern="1200">
                          <a:solidFill>
                            <a:schemeClr val="accent2"/>
                          </a:solidFill>
                        </a:defRPr>
                      </a:lvl3pPr>
                      <a:lvl4pPr marL="1600200" lvl="3" indent="-228600" algn="l">
                        <a:buFont typeface="Wingdings" panose="05000000000000000000" pitchFamily="2" charset="2"/>
                        <a:defRPr sz="2000" b="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 algn="l">
                        <a:defRPr sz="2000" b="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lang="zh-CN" altLang="en-US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文件</a:t>
                      </a:r>
                      <a:r>
                        <a:rPr lang="en-US" altLang="zh-CN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  </a:t>
                      </a:r>
                      <a:r>
                        <a:rPr lang="en-US" altLang="x-none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set of records</a:t>
                      </a:r>
                    </a:p>
                  </a:txBody>
                  <a:tcPr marL="179705" marR="0" marT="36195" marB="361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185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q"/>
                        <a:defRPr sz="2000" b="0" i="0" u="none" kern="1200" baseline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华文细黑" panose="02010600040101010101" charset="-122"/>
                        </a:defRPr>
                      </a:lvl1pPr>
                      <a:lvl2pPr marL="742950" lvl="1" indent="-285750" algn="l"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 algn="l">
                        <a:defRPr sz="2000" b="0" kern="1200">
                          <a:solidFill>
                            <a:schemeClr val="accent2"/>
                          </a:solidFill>
                        </a:defRPr>
                      </a:lvl3pPr>
                      <a:lvl4pPr marL="1600200" lvl="3" indent="-228600" algn="l">
                        <a:buFont typeface="Wingdings" panose="05000000000000000000" pitchFamily="2" charset="2"/>
                        <a:defRPr sz="2000" b="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 algn="l">
                        <a:defRPr sz="2000" b="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lang="zh-CN" altLang="en-US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  <a:sym typeface="+mn-ea"/>
                        </a:rPr>
                        <a:t>属性</a:t>
                      </a:r>
                      <a:r>
                        <a:rPr lang="en-US" altLang="zh-CN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  <a:sym typeface="+mn-ea"/>
                        </a:rPr>
                        <a:t>  </a:t>
                      </a:r>
                      <a:r>
                        <a:rPr lang="en-US" altLang="x-none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attribute</a:t>
                      </a:r>
                      <a:endParaRPr lang="zh-CN" altLang="en-US" sz="2800" b="1" dirty="0">
                        <a:solidFill>
                          <a:srgbClr val="1F2DA8"/>
                        </a:solidFill>
                        <a:latin typeface="+mn-lt"/>
                        <a:ea typeface="楷体" panose="02010609060101010101" charset="-122"/>
                        <a:cs typeface="+mn-lt"/>
                      </a:endParaRPr>
                    </a:p>
                  </a:txBody>
                  <a:tcPr marL="179705" marR="0" marT="36195" marB="361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q"/>
                        <a:defRPr sz="2000" b="0" i="0" u="none" kern="1200" baseline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华文细黑" panose="02010600040101010101" charset="-122"/>
                        </a:defRPr>
                      </a:lvl1pPr>
                      <a:lvl2pPr marL="742950" lvl="1" indent="-285750" algn="l"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 algn="l">
                        <a:defRPr sz="2000" b="0" kern="1200">
                          <a:solidFill>
                            <a:schemeClr val="accent2"/>
                          </a:solidFill>
                        </a:defRPr>
                      </a:lvl3pPr>
                      <a:lvl4pPr marL="1600200" lvl="3" indent="-228600" algn="l">
                        <a:buFont typeface="Wingdings" panose="05000000000000000000" pitchFamily="2" charset="2"/>
                        <a:defRPr sz="2000" b="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 algn="l">
                        <a:defRPr sz="2000" b="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lang="zh-CN" altLang="en-US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  <a:sym typeface="+mn-ea"/>
                        </a:rPr>
                        <a:t>列</a:t>
                      </a:r>
                      <a:r>
                        <a:rPr lang="en-US" altLang="zh-CN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  <a:sym typeface="+mn-ea"/>
                        </a:rPr>
                        <a:t> </a:t>
                      </a:r>
                      <a:r>
                        <a:rPr lang="en-US" altLang="x-none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 column</a:t>
                      </a:r>
                      <a:endParaRPr lang="zh-CN" altLang="en-US" sz="2800" b="1" dirty="0">
                        <a:solidFill>
                          <a:srgbClr val="1F2DA8"/>
                        </a:solidFill>
                        <a:latin typeface="+mn-lt"/>
                        <a:ea typeface="楷体" panose="02010609060101010101" charset="-122"/>
                        <a:cs typeface="+mn-lt"/>
                      </a:endParaRPr>
                    </a:p>
                  </a:txBody>
                  <a:tcPr marL="179705" marR="0" marT="36195" marB="361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q"/>
                        <a:defRPr sz="2000" b="0" i="0" u="none" kern="1200" baseline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华文细黑" panose="02010600040101010101" charset="-122"/>
                        </a:defRPr>
                      </a:lvl1pPr>
                      <a:lvl2pPr marL="742950" lvl="1" indent="-285750" algn="l"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 algn="l">
                        <a:defRPr sz="2000" b="0" kern="1200">
                          <a:solidFill>
                            <a:schemeClr val="accent2"/>
                          </a:solidFill>
                        </a:defRPr>
                      </a:lvl3pPr>
                      <a:lvl4pPr marL="1600200" lvl="3" indent="-228600" algn="l">
                        <a:buFont typeface="Wingdings" panose="05000000000000000000" pitchFamily="2" charset="2"/>
                        <a:defRPr sz="2000" b="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 algn="l">
                        <a:defRPr sz="2000" b="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lang="zh-CN" altLang="en-US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字段</a:t>
                      </a:r>
                      <a:r>
                        <a:rPr lang="en-US" altLang="zh-CN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  f</a:t>
                      </a:r>
                      <a:r>
                        <a:rPr lang="en-US" altLang="x-none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ield</a:t>
                      </a:r>
                    </a:p>
                  </a:txBody>
                  <a:tcPr marL="179705" marR="0" marT="36195" marB="361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6455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q"/>
                        <a:defRPr sz="2000" b="0" i="0" u="none" kern="1200" baseline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华文细黑" panose="02010600040101010101" charset="-122"/>
                        </a:defRPr>
                      </a:lvl1pPr>
                      <a:lvl2pPr marL="742950" lvl="1" indent="-285750" algn="l"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 algn="l">
                        <a:defRPr sz="2000" b="0" kern="1200">
                          <a:solidFill>
                            <a:schemeClr val="accent2"/>
                          </a:solidFill>
                        </a:defRPr>
                      </a:lvl3pPr>
                      <a:lvl4pPr marL="1600200" lvl="3" indent="-228600" algn="l">
                        <a:buFont typeface="Wingdings" panose="05000000000000000000" pitchFamily="2" charset="2"/>
                        <a:defRPr sz="2000" b="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 algn="l">
                        <a:defRPr sz="2000" b="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lang="zh-CN" altLang="en-US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  <a:sym typeface="+mn-ea"/>
                        </a:rPr>
                        <a:t>元组</a:t>
                      </a:r>
                      <a:r>
                        <a:rPr lang="en-US" altLang="zh-CN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  <a:sym typeface="+mn-ea"/>
                        </a:rPr>
                        <a:t> </a:t>
                      </a:r>
                      <a:r>
                        <a:rPr lang="en-US" altLang="x-none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 tuple</a:t>
                      </a:r>
                      <a:endParaRPr lang="zh-CN" altLang="en-US" sz="2800" b="1" dirty="0">
                        <a:solidFill>
                          <a:srgbClr val="1F2DA8"/>
                        </a:solidFill>
                        <a:latin typeface="+mn-lt"/>
                        <a:ea typeface="楷体" panose="02010609060101010101" charset="-122"/>
                        <a:cs typeface="+mn-lt"/>
                      </a:endParaRPr>
                    </a:p>
                  </a:txBody>
                  <a:tcPr marL="179705" marR="0" marT="36195" marB="361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q"/>
                        <a:defRPr sz="2000" b="0" i="0" u="none" kern="1200" baseline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华文细黑" panose="02010600040101010101" charset="-122"/>
                        </a:defRPr>
                      </a:lvl1pPr>
                      <a:lvl2pPr marL="742950" lvl="1" indent="-285750" algn="l"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 algn="l">
                        <a:defRPr sz="2000" b="0" kern="1200">
                          <a:solidFill>
                            <a:schemeClr val="accent2"/>
                          </a:solidFill>
                        </a:defRPr>
                      </a:lvl3pPr>
                      <a:lvl4pPr marL="1600200" lvl="3" indent="-228600" algn="l">
                        <a:buFont typeface="Wingdings" panose="05000000000000000000" pitchFamily="2" charset="2"/>
                        <a:defRPr sz="2000" b="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 algn="l">
                        <a:defRPr sz="2000" b="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lang="zh-CN" altLang="en-US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  <a:sym typeface="+mn-ea"/>
                        </a:rPr>
                        <a:t>行</a:t>
                      </a:r>
                      <a:r>
                        <a:rPr lang="en-US" altLang="x-none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  row</a:t>
                      </a:r>
                      <a:endParaRPr lang="zh-CN" altLang="en-US" sz="2800" b="1" dirty="0">
                        <a:solidFill>
                          <a:srgbClr val="1F2DA8"/>
                        </a:solidFill>
                        <a:latin typeface="+mn-lt"/>
                        <a:ea typeface="楷体" panose="02010609060101010101" charset="-122"/>
                        <a:cs typeface="+mn-lt"/>
                      </a:endParaRPr>
                    </a:p>
                  </a:txBody>
                  <a:tcPr marL="179705" marR="0" marT="36195" marB="361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q"/>
                        <a:defRPr sz="2000" b="0" i="0" u="none" kern="1200" baseline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华文细黑" panose="02010600040101010101" charset="-122"/>
                        </a:defRPr>
                      </a:lvl1pPr>
                      <a:lvl2pPr marL="742950" lvl="1" indent="-285750" algn="l"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 algn="l">
                        <a:defRPr sz="2000" b="0" kern="1200">
                          <a:solidFill>
                            <a:schemeClr val="accent2"/>
                          </a:solidFill>
                        </a:defRPr>
                      </a:lvl3pPr>
                      <a:lvl4pPr marL="1600200" lvl="3" indent="-228600" algn="l">
                        <a:buFont typeface="Wingdings" panose="05000000000000000000" pitchFamily="2" charset="2"/>
                        <a:defRPr sz="2000" b="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 algn="l">
                        <a:defRPr sz="2000" b="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lang="zh-CN" altLang="en-US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记录</a:t>
                      </a:r>
                      <a:r>
                        <a:rPr lang="en-US" altLang="zh-CN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  </a:t>
                      </a:r>
                      <a:r>
                        <a:rPr lang="en-US" altLang="x-none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record</a:t>
                      </a:r>
                    </a:p>
                  </a:txBody>
                  <a:tcPr marL="179705" marR="0" marT="36195" marB="361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5820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q"/>
                        <a:defRPr sz="2000" b="0" i="0" u="none" kern="1200" baseline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华文细黑" panose="02010600040101010101" charset="-122"/>
                        </a:defRPr>
                      </a:lvl1pPr>
                      <a:lvl2pPr marL="742950" lvl="1" indent="-285750" algn="l"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 algn="l">
                        <a:defRPr sz="2000" b="0" kern="1200">
                          <a:solidFill>
                            <a:schemeClr val="accent2"/>
                          </a:solidFill>
                        </a:defRPr>
                      </a:lvl3pPr>
                      <a:lvl4pPr marL="1600200" lvl="3" indent="-228600" algn="l">
                        <a:buFont typeface="Wingdings" panose="05000000000000000000" pitchFamily="2" charset="2"/>
                        <a:defRPr sz="2000" b="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 algn="l">
                        <a:defRPr sz="2000" b="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lang="zh-CN" altLang="en-US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  <a:sym typeface="+mn-ea"/>
                        </a:rPr>
                        <a:t>关系模式</a:t>
                      </a:r>
                      <a:r>
                        <a:rPr lang="en-US" altLang="zh-CN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  <a:sym typeface="+mn-ea"/>
                        </a:rPr>
                        <a:t> </a:t>
                      </a:r>
                      <a:r>
                        <a:rPr lang="en-US" altLang="x-none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 schema</a:t>
                      </a:r>
                      <a:endParaRPr lang="zh-CN" altLang="en-US" sz="2800" b="1" dirty="0">
                        <a:solidFill>
                          <a:srgbClr val="1F2DA8"/>
                        </a:solidFill>
                        <a:latin typeface="+mn-lt"/>
                        <a:ea typeface="楷体" panose="02010609060101010101" charset="-122"/>
                        <a:cs typeface="+mn-lt"/>
                      </a:endParaRPr>
                    </a:p>
                  </a:txBody>
                  <a:tcPr marL="179705" marR="0" marT="36195" marB="361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q"/>
                        <a:defRPr sz="2000" b="0" i="0" u="none" kern="1200" baseline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华文细黑" panose="02010600040101010101" charset="-122"/>
                        </a:defRPr>
                      </a:lvl1pPr>
                      <a:lvl2pPr marL="742950" lvl="1" indent="-285750" algn="l"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 algn="l">
                        <a:defRPr sz="2000" b="0" kern="1200">
                          <a:solidFill>
                            <a:schemeClr val="accent2"/>
                          </a:solidFill>
                        </a:defRPr>
                      </a:lvl3pPr>
                      <a:lvl4pPr marL="1600200" lvl="3" indent="-228600" algn="l">
                        <a:buFont typeface="Wingdings" panose="05000000000000000000" pitchFamily="2" charset="2"/>
                        <a:defRPr sz="2000" b="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 algn="l">
                        <a:defRPr sz="2000" b="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lang="zh-CN" altLang="en-US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  <a:sym typeface="+mn-ea"/>
                        </a:rPr>
                        <a:t>表头</a:t>
                      </a:r>
                      <a:r>
                        <a:rPr lang="en-US" altLang="x-none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  table heading</a:t>
                      </a:r>
                      <a:endParaRPr lang="zh-CN" altLang="en-US" sz="2800" b="1" dirty="0">
                        <a:solidFill>
                          <a:srgbClr val="1F2DA8"/>
                        </a:solidFill>
                        <a:latin typeface="+mn-lt"/>
                        <a:ea typeface="楷体" panose="02010609060101010101" charset="-122"/>
                        <a:cs typeface="+mn-lt"/>
                      </a:endParaRPr>
                    </a:p>
                  </a:txBody>
                  <a:tcPr marL="179705" marR="0" marT="36195" marB="361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q"/>
                        <a:defRPr sz="2000" b="0" i="0" u="none" kern="1200" baseline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华文细黑" panose="02010600040101010101" charset="-122"/>
                        </a:defRPr>
                      </a:lvl1pPr>
                      <a:lvl2pPr marL="742950" lvl="1" indent="-285750" algn="l"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 algn="l">
                        <a:defRPr sz="2000" b="0" kern="1200">
                          <a:solidFill>
                            <a:schemeClr val="accent2"/>
                          </a:solidFill>
                        </a:defRPr>
                      </a:lvl3pPr>
                      <a:lvl4pPr marL="1600200" lvl="3" indent="-228600" algn="l">
                        <a:buFont typeface="Wingdings" panose="05000000000000000000" pitchFamily="2" charset="2"/>
                        <a:defRPr sz="2000" b="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 algn="l">
                        <a:defRPr sz="2000" b="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lang="zh-CN" altLang="en-US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记录型</a:t>
                      </a:r>
                      <a:r>
                        <a:rPr lang="en-US" altLang="zh-CN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  </a:t>
                      </a:r>
                      <a:r>
                        <a:rPr lang="en-US" altLang="x-none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type of record</a:t>
                      </a:r>
                    </a:p>
                  </a:txBody>
                  <a:tcPr marL="179705" marR="0" marT="36195" marB="361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6553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zh-CN" altLang="en-US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码</a:t>
                      </a:r>
                      <a:r>
                        <a:rPr lang="en-US" altLang="zh-CN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  key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lang="zh-CN" altLang="en-US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候选码</a:t>
                      </a:r>
                      <a:r>
                        <a:rPr lang="en-US" altLang="zh-CN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  </a:t>
                      </a:r>
                      <a:r>
                        <a:rPr lang="en-US" altLang="zh-CN" sz="2800" b="1" dirty="0">
                          <a:solidFill>
                            <a:srgbClr val="1F2DA8"/>
                          </a:solidFill>
                          <a:ea typeface="楷体" panose="02010609060101010101" charset="-122"/>
                          <a:cs typeface="+mn-lt"/>
                          <a:sym typeface="+mn-ea"/>
                        </a:rPr>
                        <a:t>candidate key</a:t>
                      </a:r>
                      <a:endParaRPr lang="en-US" altLang="zh-CN" sz="2800" b="1" dirty="0">
                        <a:solidFill>
                          <a:srgbClr val="1F2DA8"/>
                        </a:solidFill>
                        <a:latin typeface="+mn-lt"/>
                        <a:ea typeface="楷体" panose="02010609060101010101" charset="-122"/>
                        <a:cs typeface="+mn-lt"/>
                      </a:endParaRPr>
                    </a:p>
                  </a:txBody>
                  <a:tcPr marL="179705" marR="0" marT="36195" marB="361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zh-CN" altLang="en-US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主码</a:t>
                      </a:r>
                      <a:r>
                        <a:rPr lang="en-US" altLang="zh-CN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  primary key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lang="zh-CN" altLang="en-US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唯一码</a:t>
                      </a:r>
                      <a:r>
                        <a:rPr lang="en-US" altLang="zh-CN" sz="2800" b="1" dirty="0">
                          <a:solidFill>
                            <a:srgbClr val="1F2DA8"/>
                          </a:solidFill>
                          <a:latin typeface="+mn-lt"/>
                          <a:ea typeface="楷体" panose="02010609060101010101" charset="-122"/>
                          <a:cs typeface="+mn-lt"/>
                        </a:rPr>
                        <a:t>  unique</a:t>
                      </a:r>
                    </a:p>
                  </a:txBody>
                  <a:tcPr marL="179705" marR="0" marT="36195" marB="361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altLang="x-none" sz="2800" b="1" dirty="0">
                        <a:solidFill>
                          <a:srgbClr val="1F2DA8"/>
                        </a:solidFill>
                        <a:latin typeface="+mn-lt"/>
                        <a:ea typeface="楷体" panose="02010609060101010101" charset="-122"/>
                        <a:cs typeface="+mn-lt"/>
                      </a:endParaRPr>
                    </a:p>
                  </a:txBody>
                  <a:tcPr marL="179705" marR="0" marT="36195" marB="361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</a:t>
            </a:r>
            <a:r>
              <a:rPr lang="en-US" altLang="zh-CN"/>
              <a:t>  </a:t>
            </a:r>
            <a:r>
              <a:rPr lang="zh-CN" altLang="en-US"/>
              <a:t>关系数据库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本章知识框架</a:t>
            </a:r>
          </a:p>
        </p:txBody>
      </p:sp>
      <p:pic>
        <p:nvPicPr>
          <p:cNvPr id="5" name="1BCC2C28-871D-48CB-8BE0-2867F7803ADB-1" descr="C:/Users/DELL/AppData/Local/Temp/导图1.png导图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220" y="1482090"/>
            <a:ext cx="10335260" cy="4076700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24180" y="5779770"/>
            <a:ext cx="11343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SzPct val="85000"/>
              <a:buFont typeface="Wingdings" panose="05000000000000000000" charset="0"/>
              <a:buChar char="q"/>
            </a:pPr>
            <a:r>
              <a:rPr lang="zh-CN" altLang="en-US" sz="2400" b="1">
                <a:solidFill>
                  <a:srgbClr val="1F2DA8"/>
                </a:solidFill>
                <a:latin typeface="Calibri" panose="020F0502020204030204" charset="0"/>
                <a:ea typeface="楷体" panose="02010609060101010101" charset="-122"/>
                <a:cs typeface="Calibri" panose="020F0502020204030204" charset="0"/>
              </a:rPr>
              <a:t>说明：关系模型理论只讲</a:t>
            </a:r>
            <a:r>
              <a:rPr lang="en-US" altLang="zh-CN" sz="2400" b="1">
                <a:solidFill>
                  <a:srgbClr val="1F2DA8"/>
                </a:solidFill>
                <a:latin typeface="Calibri" panose="020F0502020204030204" charset="0"/>
                <a:ea typeface="楷体" panose="02010609060101010101" charset="-122"/>
                <a:cs typeface="Calibri" panose="020F0502020204030204" charset="0"/>
              </a:rPr>
              <a:t> ‘</a:t>
            </a:r>
            <a:r>
              <a:rPr lang="zh-CN" altLang="en-US" sz="2400" b="1">
                <a:solidFill>
                  <a:srgbClr val="1F2DA8"/>
                </a:solidFill>
                <a:latin typeface="Calibri" panose="020F0502020204030204" charset="0"/>
                <a:ea typeface="楷体" panose="02010609060101010101" charset="-122"/>
                <a:cs typeface="Calibri" panose="020F0502020204030204" charset="0"/>
              </a:rPr>
              <a:t>关系代数</a:t>
            </a:r>
            <a:r>
              <a:rPr lang="en-US" altLang="zh-CN" sz="2400" b="1">
                <a:solidFill>
                  <a:srgbClr val="1F2DA8"/>
                </a:solidFill>
                <a:latin typeface="Calibri" panose="020F0502020204030204" charset="0"/>
                <a:ea typeface="楷体" panose="02010609060101010101" charset="-122"/>
                <a:cs typeface="Calibri" panose="020F0502020204030204" charset="0"/>
              </a:rPr>
              <a:t>’</a:t>
            </a:r>
            <a:r>
              <a:rPr lang="zh-CN" altLang="en-US" sz="2400" b="1">
                <a:solidFill>
                  <a:srgbClr val="1F2DA8"/>
                </a:solidFill>
                <a:latin typeface="Calibri" panose="020F0502020204030204" charset="0"/>
                <a:ea typeface="楷体" panose="02010609060101010101" charset="-122"/>
                <a:cs typeface="Calibri" panose="020F0502020204030204" charset="0"/>
              </a:rPr>
              <a:t>，对</a:t>
            </a:r>
            <a:r>
              <a:rPr lang="en-US" altLang="zh-CN" sz="2400" b="1">
                <a:solidFill>
                  <a:srgbClr val="1F2DA8"/>
                </a:solidFill>
                <a:latin typeface="Calibri" panose="020F0502020204030204" charset="0"/>
                <a:ea typeface="楷体" panose="02010609060101010101" charset="-122"/>
                <a:cs typeface="Calibri" panose="020F0502020204030204" charset="0"/>
              </a:rPr>
              <a:t> ‘</a:t>
            </a:r>
            <a:r>
              <a:rPr lang="zh-CN" altLang="en-US" sz="2400" b="1">
                <a:solidFill>
                  <a:srgbClr val="1F2DA8"/>
                </a:solidFill>
                <a:latin typeface="Calibri" panose="020F0502020204030204" charset="0"/>
                <a:ea typeface="楷体" panose="02010609060101010101" charset="-122"/>
                <a:cs typeface="Calibri" panose="020F0502020204030204" charset="0"/>
              </a:rPr>
              <a:t>关系演算</a:t>
            </a:r>
            <a:r>
              <a:rPr lang="en-US" altLang="zh-CN" sz="2400" b="1">
                <a:solidFill>
                  <a:srgbClr val="1F2DA8"/>
                </a:solidFill>
                <a:latin typeface="Calibri" panose="020F0502020204030204" charset="0"/>
                <a:ea typeface="楷体" panose="02010609060101010101" charset="-122"/>
                <a:cs typeface="Calibri" panose="020F0502020204030204" charset="0"/>
              </a:rPr>
              <a:t>’ </a:t>
            </a:r>
            <a:r>
              <a:rPr lang="zh-CN" altLang="en-US" sz="2400" b="1">
                <a:solidFill>
                  <a:srgbClr val="1F2DA8"/>
                </a:solidFill>
                <a:latin typeface="Calibri" panose="020F0502020204030204" charset="0"/>
                <a:ea typeface="楷体" panose="02010609060101010101" charset="-122"/>
                <a:cs typeface="Calibri" panose="020F0502020204030204" charset="0"/>
              </a:rPr>
              <a:t>不作要求。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</a:t>
            </a:r>
            <a:r>
              <a:rPr lang="en-US" altLang="zh-CN"/>
              <a:t>  </a:t>
            </a:r>
            <a:r>
              <a:rPr lang="zh-CN" altLang="en-US"/>
              <a:t>关系数据库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2.1  </a:t>
            </a:r>
            <a:r>
              <a:rPr lang="zh-CN" altLang="en-US"/>
              <a:t>关系数据结构及形式化定义</a:t>
            </a:r>
          </a:p>
          <a:p>
            <a:pPr marL="0" indent="0">
              <a:buNone/>
            </a:pPr>
            <a:r>
              <a:rPr lang="en-US" altLang="zh-CN"/>
              <a:t>2.2  </a:t>
            </a:r>
            <a:r>
              <a:rPr lang="zh-CN" altLang="en-US"/>
              <a:t>关系操作</a:t>
            </a:r>
          </a:p>
          <a:p>
            <a:pPr marL="0" indent="0">
              <a:buNone/>
            </a:pPr>
            <a:r>
              <a:rPr lang="en-US" altLang="zh-CN"/>
              <a:t>2.3  </a:t>
            </a:r>
            <a:r>
              <a:rPr lang="zh-CN" altLang="en-US"/>
              <a:t>关系的完整性</a:t>
            </a:r>
          </a:p>
          <a:p>
            <a:pPr marL="0" indent="0">
              <a:buNone/>
            </a:pPr>
            <a:r>
              <a:rPr lang="en-US" altLang="zh-CN"/>
              <a:t>2.4  </a:t>
            </a:r>
            <a:r>
              <a:rPr lang="zh-CN" altLang="en-US"/>
              <a:t>关系代数</a:t>
            </a:r>
          </a:p>
          <a:p>
            <a:pPr marL="0" indent="0">
              <a:buNone/>
            </a:pPr>
            <a:r>
              <a:rPr lang="en-US" altLang="zh-CN">
                <a:solidFill>
                  <a:schemeClr val="accent2">
                    <a:lumMod val="50000"/>
                  </a:schemeClr>
                </a:solidFill>
              </a:rPr>
              <a:t>2.5  </a:t>
            </a:r>
            <a:r>
              <a:rPr lang="zh-CN" altLang="en-US">
                <a:solidFill>
                  <a:schemeClr val="accent2">
                    <a:lumMod val="50000"/>
                  </a:schemeClr>
                </a:solidFill>
              </a:rPr>
              <a:t>关系演算（不讲）</a:t>
            </a:r>
          </a:p>
          <a:p>
            <a:pPr marL="0" indent="0">
              <a:buNone/>
            </a:pPr>
            <a:r>
              <a:rPr lang="en-US" altLang="zh-CN"/>
              <a:t>2.6  </a:t>
            </a:r>
            <a:r>
              <a:rPr lang="zh-CN" altLang="en-US"/>
              <a:t>小结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fac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221210" cy="6857365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4021200" y="5412105"/>
            <a:ext cx="41516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（202</a:t>
            </a:r>
            <a:r>
              <a:rPr kumimoji="1" lang="en-US" altLang="zh-C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kumimoji="1"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 春季）</a:t>
            </a: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2484000" y="1924685"/>
            <a:ext cx="72288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第2章  关系数据库</a:t>
            </a: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2511425" y="3335655"/>
            <a:ext cx="7144385" cy="1353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8332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4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微软雅黑" panose="020B0503020204020204" charset="-122"/>
                <a:cs typeface="+mj-lt"/>
              </a:rPr>
              <a:t>2.1 </a:t>
            </a:r>
            <a:r>
              <a:rPr lang="zh-CN" altLang="en-US" sz="24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微软雅黑" panose="020B0503020204020204" charset="-122"/>
                <a:cs typeface="+mj-lt"/>
              </a:rPr>
              <a:t>关系数据结构</a:t>
            </a:r>
          </a:p>
          <a:p>
            <a:pPr indent="18332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4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微软雅黑" panose="020B0503020204020204" charset="-122"/>
                <a:cs typeface="+mj-lt"/>
              </a:rPr>
              <a:t>2.2 </a:t>
            </a:r>
            <a:r>
              <a:rPr lang="zh-CN" altLang="en-US" sz="24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微软雅黑" panose="020B0503020204020204" charset="-122"/>
                <a:cs typeface="+mj-lt"/>
              </a:rPr>
              <a:t>关系操作</a:t>
            </a:r>
          </a:p>
          <a:p>
            <a:pPr indent="18332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4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微软雅黑" panose="020B0503020204020204" charset="-122"/>
                <a:cs typeface="+mj-lt"/>
              </a:rPr>
              <a:t>2.3 </a:t>
            </a:r>
            <a:r>
              <a:rPr lang="zh-CN" altLang="en-US" sz="24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微软雅黑" panose="020B0503020204020204" charset="-122"/>
                <a:cs typeface="+mj-lt"/>
              </a:rPr>
              <a:t>关系的完整性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2.1  </a:t>
            </a:r>
            <a:r>
              <a:rPr lang="zh-CN" altLang="en-US">
                <a:sym typeface="+mn-ea"/>
              </a:rPr>
              <a:t>关系数据结构及形式化定义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2.1.1 </a:t>
            </a:r>
            <a:r>
              <a:rPr lang="zh-CN" altLang="en-US"/>
              <a:t>关系</a:t>
            </a:r>
          </a:p>
          <a:p>
            <a:pPr marL="0" indent="0">
              <a:buNone/>
            </a:pPr>
            <a:r>
              <a:rPr lang="en-US" altLang="zh-CN"/>
              <a:t>2.1.2 </a:t>
            </a:r>
            <a:r>
              <a:rPr lang="zh-CN" altLang="en-US"/>
              <a:t>关系模式</a:t>
            </a:r>
          </a:p>
          <a:p>
            <a:pPr marL="0" indent="0">
              <a:buNone/>
            </a:pPr>
            <a:r>
              <a:rPr lang="en-US" altLang="zh-CN"/>
              <a:t>2.1.3 </a:t>
            </a:r>
            <a:r>
              <a:rPr lang="zh-CN" altLang="en-US"/>
              <a:t>关系数据库</a:t>
            </a:r>
          </a:p>
          <a:p>
            <a:pPr marL="0" indent="0">
              <a:buNone/>
            </a:pPr>
            <a:r>
              <a:rPr lang="en-US" altLang="zh-CN"/>
              <a:t>2.1.4 </a:t>
            </a:r>
            <a:r>
              <a:rPr lang="zh-CN" altLang="en-US"/>
              <a:t>关系模型的存储结构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2.1  </a:t>
            </a:r>
            <a:r>
              <a:rPr lang="zh-CN" altLang="en-US"/>
              <a:t>关系数据结构及形式化定义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关系模型</a:t>
            </a:r>
            <a:r>
              <a:rPr lang="en-US" altLang="zh-CN"/>
              <a:t> </a:t>
            </a:r>
            <a:r>
              <a:rPr lang="zh-CN" altLang="en-US"/>
              <a:t>仅有单一的数据结构</a:t>
            </a:r>
            <a:r>
              <a:rPr lang="en-US" altLang="zh-CN"/>
              <a:t> -- </a:t>
            </a:r>
            <a:r>
              <a:rPr lang="zh-CN" altLang="en-US">
                <a:solidFill>
                  <a:srgbClr val="FF0000"/>
                </a:solidFill>
              </a:rPr>
              <a:t>关系</a:t>
            </a:r>
            <a:endParaRPr lang="zh-CN" altLang="en-US"/>
          </a:p>
          <a:p>
            <a:pPr lvl="1"/>
            <a:r>
              <a:rPr lang="zh-CN" altLang="en-US"/>
              <a:t>现实世界中的实体以及实体间的各种联系均用关系来表示</a:t>
            </a:r>
          </a:p>
          <a:p>
            <a:r>
              <a:rPr lang="zh-CN" altLang="en-US">
                <a:sym typeface="+mn-ea"/>
              </a:rPr>
              <a:t>关系模型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的</a:t>
            </a:r>
            <a:r>
              <a:rPr lang="zh-CN" altLang="en-US"/>
              <a:t>逻辑结构</a:t>
            </a:r>
            <a:r>
              <a:rPr lang="en-US" altLang="zh-CN"/>
              <a:t> -- </a:t>
            </a:r>
            <a:r>
              <a:rPr lang="zh-CN" altLang="en-US">
                <a:solidFill>
                  <a:srgbClr val="FF0000"/>
                </a:solidFill>
              </a:rPr>
              <a:t>二维表</a:t>
            </a:r>
            <a:endParaRPr lang="zh-CN" altLang="en-US"/>
          </a:p>
          <a:p>
            <a:pPr lvl="1"/>
            <a:r>
              <a:rPr lang="zh-CN" altLang="en-US" sz="2800"/>
              <a:t>从用户角度，关系模型中数据的逻辑结构是一张二维表</a:t>
            </a:r>
            <a:endParaRPr lang="zh-CN" altLang="en-US"/>
          </a:p>
          <a:p>
            <a:r>
              <a:rPr lang="zh-CN" altLang="en-US"/>
              <a:t>关系模型</a:t>
            </a:r>
            <a:r>
              <a:rPr lang="en-US" altLang="zh-CN"/>
              <a:t> </a:t>
            </a:r>
            <a:r>
              <a:rPr lang="zh-CN" altLang="en-US"/>
              <a:t>是建立在</a:t>
            </a:r>
            <a:r>
              <a:rPr lang="zh-CN" altLang="en-US">
                <a:solidFill>
                  <a:srgbClr val="FF0000"/>
                </a:solidFill>
              </a:rPr>
              <a:t>集合代数</a:t>
            </a:r>
            <a:r>
              <a:rPr lang="zh-CN" altLang="en-US"/>
              <a:t>的基础上</a:t>
            </a:r>
          </a:p>
          <a:p>
            <a:endParaRPr lang="zh-CN" altLang="en-US"/>
          </a:p>
          <a:p>
            <a:r>
              <a:rPr lang="zh-CN" altLang="en-US"/>
              <a:t>要理解关系数据模型，首先需要理解下述三个概念</a:t>
            </a:r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域</a:t>
            </a:r>
            <a:r>
              <a:rPr lang="en-US" altLang="zh-CN"/>
              <a:t> (Domain)</a:t>
            </a:r>
            <a:endParaRPr lang="zh-CN" altLang="en-US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笛卡尔积</a:t>
            </a:r>
            <a:r>
              <a:rPr lang="en-US" altLang="zh-CN"/>
              <a:t> (Cartesian Product)</a:t>
            </a:r>
            <a:endParaRPr lang="zh-CN" altLang="en-US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关系</a:t>
            </a:r>
            <a:r>
              <a:rPr lang="en-US" altLang="zh-CN"/>
              <a:t> (Relation)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域（</a:t>
            </a:r>
            <a:r>
              <a:rPr lang="en-US" altLang="zh-CN" dirty="0"/>
              <a:t>Domain</a:t>
            </a:r>
            <a:r>
              <a:rPr lang="zh-CN" altLang="en-US" dirty="0"/>
              <a:t>）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[</a:t>
            </a:r>
            <a:r>
              <a:rPr lang="zh-CN" altLang="en-US" dirty="0">
                <a:solidFill>
                  <a:srgbClr val="FF0000"/>
                </a:solidFill>
              </a:rPr>
              <a:t>定义</a:t>
            </a:r>
            <a:r>
              <a:rPr lang="en-US" altLang="zh-CN" dirty="0">
                <a:solidFill>
                  <a:srgbClr val="FF0000"/>
                </a:solidFill>
              </a:rPr>
              <a:t>2.1] </a:t>
            </a:r>
            <a:r>
              <a:rPr lang="en-US" altLang="zh-CN" dirty="0">
                <a:solidFill>
                  <a:srgbClr val="1F2DA8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‘</a:t>
            </a:r>
            <a:r>
              <a:rPr lang="zh-CN" altLang="en-US" dirty="0">
                <a:solidFill>
                  <a:srgbClr val="1F2DA8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域</a:t>
            </a:r>
            <a:r>
              <a:rPr lang="en-US" altLang="zh-CN" dirty="0">
                <a:solidFill>
                  <a:srgbClr val="1F2DA8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’</a:t>
            </a:r>
            <a:r>
              <a:rPr lang="zh-CN" altLang="en-US" dirty="0">
                <a:solidFill>
                  <a:srgbClr val="1F2DA8"/>
                </a:solidFill>
              </a:rPr>
              <a:t>是一组具有相同数据类型的值的集合</a:t>
            </a:r>
            <a:r>
              <a:rPr lang="zh-CN" altLang="en-US" dirty="0"/>
              <a:t>。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例</a:t>
            </a:r>
            <a:r>
              <a:rPr lang="en-US" altLang="zh-CN" dirty="0"/>
              <a:t>:</a:t>
            </a:r>
          </a:p>
          <a:p>
            <a:pPr lvl="2" fontAlgn="auto">
              <a:lnSpc>
                <a:spcPct val="100000"/>
              </a:lnSpc>
              <a:spcBef>
                <a:spcPts val="500"/>
              </a:spcBef>
            </a:pPr>
            <a:r>
              <a:rPr lang="zh-CN" altLang="en-US" dirty="0">
                <a:solidFill>
                  <a:srgbClr val="FF0000"/>
                </a:solidFill>
              </a:rPr>
              <a:t>整数，实数</a:t>
            </a:r>
            <a:endParaRPr lang="zh-CN" altLang="en-US" dirty="0"/>
          </a:p>
          <a:p>
            <a:pPr lvl="2" fontAlgn="auto">
              <a:lnSpc>
                <a:spcPct val="100000"/>
              </a:lnSpc>
              <a:spcBef>
                <a:spcPts val="500"/>
              </a:spcBef>
            </a:pPr>
            <a:r>
              <a:rPr lang="zh-CN" altLang="en-US" dirty="0"/>
              <a:t>介于某个取值范围的整数：</a:t>
            </a:r>
            <a:r>
              <a:rPr lang="en-US" altLang="zh-CN" dirty="0">
                <a:solidFill>
                  <a:srgbClr val="FF0000"/>
                </a:solidFill>
              </a:rPr>
              <a:t>[18,60]</a:t>
            </a:r>
            <a:endParaRPr lang="zh-CN" altLang="en-US" dirty="0"/>
          </a:p>
          <a:p>
            <a:pPr lvl="2" fontAlgn="auto">
              <a:lnSpc>
                <a:spcPct val="100000"/>
              </a:lnSpc>
              <a:spcBef>
                <a:spcPts val="500"/>
              </a:spcBef>
            </a:pPr>
            <a:r>
              <a:rPr lang="zh-CN" altLang="en-US" dirty="0"/>
              <a:t>指定长度的字符串集合：</a:t>
            </a:r>
            <a:r>
              <a:rPr lang="en-US" altLang="zh-CN" dirty="0">
                <a:solidFill>
                  <a:srgbClr val="FF0000"/>
                </a:solidFill>
              </a:rPr>
              <a:t>char(25)</a:t>
            </a:r>
            <a:endParaRPr lang="zh-CN" altLang="en-US" dirty="0"/>
          </a:p>
          <a:p>
            <a:pPr lvl="2" fontAlgn="auto">
              <a:lnSpc>
                <a:spcPct val="100000"/>
              </a:lnSpc>
              <a:spcBef>
                <a:spcPts val="500"/>
              </a:spcBef>
            </a:pPr>
            <a:r>
              <a:rPr lang="zh-CN" altLang="en-US" dirty="0"/>
              <a:t>枚举数据类型：</a:t>
            </a:r>
            <a:r>
              <a:rPr lang="en-US" altLang="zh-CN" dirty="0">
                <a:solidFill>
                  <a:srgbClr val="FF0000"/>
                </a:solidFill>
              </a:rPr>
              <a:t>{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‘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男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’,  ‘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女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’ </a:t>
            </a:r>
            <a:r>
              <a:rPr lang="en-US" altLang="zh-CN" dirty="0">
                <a:solidFill>
                  <a:srgbClr val="FF0000"/>
                </a:solidFill>
              </a:rPr>
              <a:t>}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>
                <a:sym typeface="+mn-ea"/>
              </a:rPr>
              <a:t>每一个域有一个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‘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域名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’</a:t>
            </a:r>
            <a:r>
              <a:rPr lang="zh-CN" altLang="en-US" dirty="0">
                <a:sym typeface="+mn-ea"/>
              </a:rPr>
              <a:t>，用来区分不同的域。</a:t>
            </a:r>
            <a:r>
              <a:rPr lang="zh-CN" altLang="en-US" dirty="0"/>
              <a:t>例如：</a:t>
            </a:r>
            <a:endParaRPr lang="en-US" altLang="zh-CN" dirty="0"/>
          </a:p>
          <a:p>
            <a:pPr lvl="1" fontAlgn="auto">
              <a:lnSpc>
                <a:spcPct val="100000"/>
              </a:lnSpc>
              <a:spcBef>
                <a:spcPts val="500"/>
              </a:spcBef>
            </a:pPr>
            <a:r>
              <a:rPr lang="en-US" altLang="zh-CN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 = SUPERVISOR = { </a:t>
            </a:r>
            <a:r>
              <a:rPr lang="zh-CN" altLang="en-US" dirty="0"/>
              <a:t>张清玫，刘逸 </a:t>
            </a:r>
            <a:r>
              <a:rPr lang="en-US" altLang="zh-CN" dirty="0"/>
              <a:t>}</a:t>
            </a:r>
          </a:p>
          <a:p>
            <a:pPr lvl="1" fontAlgn="auto">
              <a:lnSpc>
                <a:spcPct val="100000"/>
              </a:lnSpc>
              <a:spcBef>
                <a:spcPts val="500"/>
              </a:spcBef>
            </a:pPr>
            <a:r>
              <a:rPr lang="en-US" altLang="zh-CN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 = SPECIALITY = {</a:t>
            </a:r>
            <a:r>
              <a:rPr lang="zh-CN" altLang="en-US" dirty="0"/>
              <a:t>计算机专业，信息专业</a:t>
            </a:r>
            <a:r>
              <a:rPr lang="en-US" altLang="zh-CN" dirty="0"/>
              <a:t>}</a:t>
            </a:r>
          </a:p>
          <a:p>
            <a:pPr lvl="1" fontAlgn="auto">
              <a:lnSpc>
                <a:spcPct val="100000"/>
              </a:lnSpc>
              <a:spcBef>
                <a:spcPts val="500"/>
              </a:spcBef>
            </a:pPr>
            <a:r>
              <a:rPr lang="en-US" altLang="zh-CN" dirty="0"/>
              <a:t>D</a:t>
            </a:r>
            <a:r>
              <a:rPr lang="en-US" altLang="zh-CN" baseline="-25000" dirty="0"/>
              <a:t>3</a:t>
            </a:r>
            <a:r>
              <a:rPr lang="en-US" altLang="zh-CN" dirty="0"/>
              <a:t> = POSTGRADUATE = {</a:t>
            </a:r>
            <a:r>
              <a:rPr lang="zh-CN" altLang="en-US" dirty="0"/>
              <a:t>李勇，刘晨，王敏</a:t>
            </a:r>
            <a:r>
              <a:rPr lang="en-US" altLang="zh-CN" dirty="0"/>
              <a:t>}</a:t>
            </a:r>
          </a:p>
          <a:p>
            <a:pPr lvl="0" fontAlgn="auto">
              <a:lnSpc>
                <a:spcPct val="100000"/>
              </a:lnSpc>
              <a:spcBef>
                <a:spcPts val="2000"/>
              </a:spcBef>
            </a:pPr>
            <a:r>
              <a:rPr lang="zh-CN" altLang="en-US" dirty="0"/>
              <a:t>同一个域中的元素互不相同！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4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4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笛卡尔积 </a:t>
            </a:r>
            <a:r>
              <a:rPr lang="en-US" altLang="zh-CN" dirty="0"/>
              <a:t>1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59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lnSpc>
                    <a:spcPct val="110000"/>
                  </a:lnSpc>
                  <a:spcBef>
                    <a:spcPts val="1000"/>
                  </a:spcBef>
                  <a:buNone/>
                </a:pPr>
                <a:r>
                  <a:rPr lang="en-US" altLang="zh-CN" dirty="0">
                    <a:solidFill>
                      <a:srgbClr val="FF0000"/>
                    </a:solidFill>
                    <a:sym typeface="+mn-ea"/>
                  </a:rPr>
                  <a:t>[</a:t>
                </a:r>
                <a:r>
                  <a:rPr lang="zh-CN" altLang="en-US" dirty="0">
                    <a:solidFill>
                      <a:srgbClr val="FF0000"/>
                    </a:solidFill>
                    <a:sym typeface="+mn-ea"/>
                  </a:rPr>
                  <a:t>定义</a:t>
                </a:r>
                <a:r>
                  <a:rPr lang="en-US" altLang="zh-CN" dirty="0">
                    <a:solidFill>
                      <a:srgbClr val="FF0000"/>
                    </a:solidFill>
                    <a:sym typeface="+mn-ea"/>
                  </a:rPr>
                  <a:t>2.2] </a:t>
                </a:r>
                <a:r>
                  <a:rPr lang="zh-CN" altLang="en-US" dirty="0"/>
                  <a:t>笛卡尔积（</a:t>
                </a:r>
                <a:r>
                  <a:rPr lang="en-US" altLang="zh-CN" dirty="0"/>
                  <a:t>Cartesian Product</a:t>
                </a:r>
                <a:r>
                  <a:rPr lang="zh-CN" altLang="en-US" dirty="0"/>
                  <a:t>）</a:t>
                </a:r>
              </a:p>
              <a:p>
                <a:pPr lvl="1">
                  <a:lnSpc>
                    <a:spcPct val="110000"/>
                  </a:lnSpc>
                  <a:spcBef>
                    <a:spcPts val="1000"/>
                  </a:spcBef>
                </a:pPr>
                <a:r>
                  <a:rPr lang="zh-CN" altLang="en-US" dirty="0"/>
                  <a:t>给定一组域</a:t>
                </a:r>
                <a14:m>
                  <m:oMath xmlns:m="http://schemas.openxmlformats.org/officeDocument/2006/math">
                    <m:r>
                      <a:rPr lang="en-US" altLang="zh-CN" sz="2800" b="1" i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2800" b="1" i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𝑫</m:t>
                    </m:r>
                    <m:r>
                      <a:rPr lang="en-US" altLang="zh-CN" sz="2800" b="1" kern="0" baseline="-2500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𝟏</m:t>
                    </m:r>
                    <m:r>
                      <a:rPr lang="en-US" altLang="zh-CN" sz="2800" b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, </m:t>
                    </m:r>
                    <m:r>
                      <a:rPr lang="en-US" altLang="zh-CN" sz="2800" b="1" i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𝑫</m:t>
                    </m:r>
                    <m:r>
                      <a:rPr lang="en-US" altLang="zh-CN" sz="2800" b="1" kern="0" baseline="-2500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𝟐</m:t>
                    </m:r>
                    <m:r>
                      <a:rPr lang="en-US" altLang="zh-CN" sz="2800" b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, ⋯, </m:t>
                    </m:r>
                    <m:r>
                      <a:rPr lang="en-US" altLang="zh-CN" sz="2800" b="1" i="1" kern="0" dirty="0" err="1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𝑫</m:t>
                    </m:r>
                    <m:r>
                      <a:rPr lang="en-US" altLang="zh-CN" sz="2800" b="1" i="1" kern="0" baseline="-25000" dirty="0" err="1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𝒏</m:t>
                    </m:r>
                  </m:oMath>
                </a14:m>
                <a:r>
                  <a:rPr lang="en-US" altLang="zh-CN" sz="2800" b="1" i="1" kern="0" baseline="-25000" dirty="0">
                    <a:latin typeface="+mn-lt"/>
                    <a:ea typeface="+mn-ea"/>
                  </a:rPr>
                  <a:t> </a:t>
                </a:r>
                <a:r>
                  <a:rPr lang="zh-CN" altLang="en-US" dirty="0"/>
                  <a:t>，允许其中某些域是相同的。</a:t>
                </a:r>
                <a:endParaRPr lang="en-US" altLang="zh-CN" dirty="0"/>
              </a:p>
              <a:p>
                <a:pPr lvl="1">
                  <a:lnSpc>
                    <a:spcPct val="110000"/>
                  </a:lnSpc>
                  <a:spcBef>
                    <a:spcPts val="1000"/>
                  </a:spcBef>
                </a:pPr>
                <a14:m>
                  <m:oMath xmlns:m="http://schemas.openxmlformats.org/officeDocument/2006/math">
                    <m:r>
                      <a:rPr lang="en-US" altLang="zh-CN" sz="2800" b="1" i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𝑫</m:t>
                    </m:r>
                    <m:r>
                      <a:rPr lang="en-US" altLang="zh-CN" sz="2800" b="1" kern="0" baseline="-2500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𝟏</m:t>
                    </m:r>
                    <m:r>
                      <a:rPr lang="en-US" altLang="zh-CN" sz="2800" b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, </m:t>
                    </m:r>
                    <m:r>
                      <a:rPr lang="en-US" altLang="zh-CN" sz="2800" b="1" i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𝑫</m:t>
                    </m:r>
                    <m:r>
                      <a:rPr lang="en-US" altLang="zh-CN" sz="2800" b="1" kern="0" baseline="-2500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𝟐</m:t>
                    </m:r>
                    <m:r>
                      <a:rPr lang="en-US" altLang="zh-CN" sz="2800" b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, ⋯, </m:t>
                    </m:r>
                    <m:r>
                      <a:rPr lang="en-US" altLang="zh-CN" sz="2800" b="1" i="1" kern="0" dirty="0" err="1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𝑫</m:t>
                    </m:r>
                    <m:r>
                      <a:rPr lang="en-US" altLang="zh-CN" sz="2800" b="1" i="1" kern="0" baseline="-25000" dirty="0" err="1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𝒏</m:t>
                    </m:r>
                  </m:oMath>
                </a14:m>
                <a:r>
                  <a:rPr lang="zh-CN" altLang="en-US" dirty="0"/>
                  <a:t>的笛卡尔积可表示为：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+mn-ea"/>
                        <a:cs typeface="Cambria Math" panose="02040503050406030204" charset="0"/>
                        <a:sym typeface="+mn-ea"/>
                      </a:rPr>
                      <m:t>𝐷</m:t>
                    </m:r>
                    <m:r>
                      <a:rPr lang="en-US" altLang="zh-CN" kern="0" baseline="-25000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+mn-ea"/>
                        <a:cs typeface="Cambria Math" panose="02040503050406030204" charset="0"/>
                        <a:sym typeface="+mn-ea"/>
                      </a:rPr>
                      <m:t>1</m:t>
                    </m:r>
                    <m:r>
                      <a:rPr lang="en-US" altLang="zh-CN" kern="0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+mn-ea"/>
                        <a:cs typeface="Cambria Math" panose="02040503050406030204" charset="0"/>
                        <a:sym typeface="+mn-ea"/>
                      </a:rPr>
                      <m:t>×</m:t>
                    </m:r>
                    <m:r>
                      <a:rPr lang="en-US" altLang="zh-CN" i="1" kern="0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+mn-ea"/>
                        <a:cs typeface="Cambria Math" panose="02040503050406030204" charset="0"/>
                        <a:sym typeface="+mn-ea"/>
                      </a:rPr>
                      <m:t>𝐷</m:t>
                    </m:r>
                    <m:r>
                      <a:rPr lang="en-US" altLang="zh-CN" kern="0" baseline="-25000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+mn-ea"/>
                        <a:cs typeface="Cambria Math" panose="02040503050406030204" charset="0"/>
                        <a:sym typeface="+mn-ea"/>
                      </a:rPr>
                      <m:t>2</m:t>
                    </m:r>
                    <m:r>
                      <a:rPr lang="en-US" altLang="zh-CN" kern="0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+mn-ea"/>
                        <a:cs typeface="Cambria Math" panose="02040503050406030204" charset="0"/>
                        <a:sym typeface="+mn-ea"/>
                      </a:rPr>
                      <m:t>×</m:t>
                    </m:r>
                    <m:r>
                      <a:rPr lang="en-US" altLang="zh-CN" b="1" kern="0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+mn-ea"/>
                        <a:cs typeface="Cambria Math" panose="02040503050406030204" charset="0"/>
                        <a:sym typeface="+mn-ea"/>
                      </a:rPr>
                      <m:t>⋯</m:t>
                    </m:r>
                    <m:r>
                      <a:rPr lang="en-US" altLang="zh-CN" kern="0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+mn-ea"/>
                        <a:cs typeface="Cambria Math" panose="02040503050406030204" charset="0"/>
                        <a:sym typeface="+mn-ea"/>
                      </a:rPr>
                      <m:t>×</m:t>
                    </m:r>
                    <m:r>
                      <a:rPr lang="en-US" altLang="zh-CN" i="1" kern="0" dirty="0" err="1">
                        <a:solidFill>
                          <a:srgbClr val="FF0000"/>
                        </a:solidFill>
                        <a:latin typeface="Cambria Math" panose="02040503050406030204" charset="0"/>
                        <a:ea typeface="+mn-ea"/>
                        <a:cs typeface="Cambria Math" panose="02040503050406030204" charset="0"/>
                        <a:sym typeface="+mn-ea"/>
                      </a:rPr>
                      <m:t>𝐷</m:t>
                    </m:r>
                    <m:r>
                      <a:rPr lang="en-US" altLang="zh-CN" i="1" kern="0" baseline="-25000" dirty="0" err="1">
                        <a:solidFill>
                          <a:srgbClr val="FF0000"/>
                        </a:solidFill>
                        <a:latin typeface="Cambria Math" panose="02040503050406030204" charset="0"/>
                        <a:ea typeface="+mn-ea"/>
                        <a:cs typeface="Cambria Math" panose="02040503050406030204" charset="0"/>
                        <a:sym typeface="+mn-ea"/>
                      </a:rPr>
                      <m:t>𝑛</m:t>
                    </m:r>
                  </m:oMath>
                </a14:m>
                <a:endParaRPr lang="en-US" altLang="zh-CN" i="1" kern="0" baseline="-25000" dirty="0" err="1">
                  <a:latin typeface="+mn-lt"/>
                  <a:ea typeface="+mn-ea"/>
                  <a:sym typeface="+mn-ea"/>
                </a:endParaRPr>
              </a:p>
              <a:p>
                <a:pPr lvl="1">
                  <a:lnSpc>
                    <a:spcPct val="110000"/>
                  </a:lnSpc>
                  <a:spcBef>
                    <a:spcPts val="1000"/>
                  </a:spcBef>
                </a:pP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  <a:sym typeface="+mn-ea"/>
                  </a:rPr>
                  <a:t>笛卡尔积的运算结果也是一个集合，其中的每个元素都是一个具有如下形式的</a:t>
                </a: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  <a:sym typeface="+mn-ea"/>
                  </a:rPr>
                  <a:t>‘</a:t>
                </a:r>
                <a:r>
                  <a:rPr lang="en-US" altLang="x-none" dirty="0">
                    <a:solidFill>
                      <a:srgbClr val="FF0000"/>
                    </a:solidFill>
                    <a:latin typeface="Times New Roman" panose="02020603050405020304" pitchFamily="2" charset="0"/>
                    <a:cs typeface="Times New Roman" panose="02020603050405020304" pitchFamily="2" charset="0"/>
                    <a:sym typeface="+mn-ea"/>
                  </a:rPr>
                  <a:t>n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2" charset="0"/>
                    <a:cs typeface="Times New Roman" panose="02020603050405020304" pitchFamily="2" charset="0"/>
                    <a:sym typeface="+mn-ea"/>
                  </a:rPr>
                  <a:t>元组</a:t>
                </a: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  <a:sym typeface="+mn-ea"/>
                  </a:rPr>
                  <a:t>’</a:t>
                </a: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  <a:sym typeface="+mn-ea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x-none" dirty="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(</m:t>
                    </m:r>
                    <m:r>
                      <a:rPr lang="en-US" altLang="x-none" i="1" dirty="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𝑑</m:t>
                    </m:r>
                    <m:r>
                      <a:rPr lang="en-US" altLang="x-none" i="1" baseline="-30000" dirty="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1</m:t>
                    </m:r>
                    <m:r>
                      <a:rPr lang="en-US" altLang="x-none" dirty="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 </m:t>
                    </m:r>
                    <m:r>
                      <a:rPr lang="en-US" altLang="x-none" i="1" dirty="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𝑑</m:t>
                    </m:r>
                    <m:r>
                      <a:rPr lang="en-US" altLang="x-none" i="1" baseline="-30000" dirty="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2</m:t>
                    </m:r>
                    <m:r>
                      <a:rPr lang="en-US" altLang="x-none" dirty="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 </m:t>
                    </m:r>
                    <m:r>
                      <a:rPr lang="en-US" altLang="x-none" b="1" dirty="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⋯</m:t>
                    </m:r>
                    <m:r>
                      <a:rPr lang="en-US" altLang="x-none" dirty="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 </m:t>
                    </m:r>
                    <m:r>
                      <a:rPr lang="en-US" altLang="x-none" i="1" dirty="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𝑑</m:t>
                    </m:r>
                    <m:r>
                      <a:rPr lang="en-US" altLang="x-none" i="1" baseline="-30000" dirty="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𝑛</m:t>
                    </m:r>
                    <m:r>
                      <a:rPr lang="en-US" altLang="x-none" dirty="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rgbClr val="1F2DA8"/>
                    </a:solidFill>
                    <a:latin typeface="Times New Roman" panose="02020603050405020304" pitchFamily="2" charset="0"/>
                    <a:cs typeface="Times New Roman" panose="02020603050405020304" pitchFamily="2" charset="0"/>
                    <a:sym typeface="+mn-ea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altLang="x-none" i="1" dirty="0">
                        <a:solidFill>
                          <a:srgbClr val="1F2DA8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𝑑</m:t>
                    </m:r>
                    <m:r>
                      <a:rPr lang="en-US" altLang="x-none" i="1" baseline="-30000" dirty="0">
                        <a:solidFill>
                          <a:srgbClr val="1F2DA8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𝑖</m:t>
                    </m:r>
                    <m:r>
                      <a:rPr lang="en-US" altLang="x-none" dirty="0">
                        <a:solidFill>
                          <a:srgbClr val="1F2DA8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∈</m:t>
                    </m:r>
                    <m:r>
                      <a:rPr lang="en-US" altLang="x-none" i="1" dirty="0">
                        <a:solidFill>
                          <a:srgbClr val="1F2DA8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𝐷</m:t>
                    </m:r>
                    <m:r>
                      <a:rPr lang="en-US" altLang="x-none" i="1" baseline="-30000" dirty="0">
                        <a:solidFill>
                          <a:srgbClr val="1F2DA8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𝑖</m:t>
                    </m:r>
                    <m:r>
                      <a:rPr lang="en-US" altLang="x-none" baseline="-30000" dirty="0">
                        <a:solidFill>
                          <a:srgbClr val="1F2DA8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 </m:t>
                    </m:r>
                    <m:r>
                      <a:rPr lang="en-US" altLang="x-none" dirty="0">
                        <a:solidFill>
                          <a:srgbClr val="1F2DA8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(</m:t>
                    </m:r>
                    <m:r>
                      <a:rPr lang="en-US" altLang="x-none" i="1" dirty="0">
                        <a:solidFill>
                          <a:srgbClr val="1F2DA8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𝑖</m:t>
                    </m:r>
                    <m:r>
                      <a:rPr lang="en-US" altLang="x-none" dirty="0">
                        <a:solidFill>
                          <a:srgbClr val="1F2DA8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=</m:t>
                    </m:r>
                    <m:r>
                      <a:rPr lang="en-US" altLang="x-none" i="1" dirty="0">
                        <a:solidFill>
                          <a:srgbClr val="1F2DA8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1</m:t>
                    </m:r>
                    <m:r>
                      <a:rPr lang="en-US" altLang="x-none" dirty="0">
                        <a:solidFill>
                          <a:srgbClr val="1F2DA8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 </m:t>
                    </m:r>
                    <m:r>
                      <a:rPr lang="en-US" altLang="x-none" i="1" dirty="0">
                        <a:solidFill>
                          <a:srgbClr val="1F2DA8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2</m:t>
                    </m:r>
                    <m:r>
                      <a:rPr lang="en-US" altLang="x-none" dirty="0">
                        <a:solidFill>
                          <a:srgbClr val="1F2DA8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 …, </m:t>
                    </m:r>
                    <m:r>
                      <a:rPr lang="en-US" altLang="x-none" i="1" dirty="0">
                        <a:solidFill>
                          <a:srgbClr val="1F2DA8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𝑛</m:t>
                    </m:r>
                    <m:r>
                      <a:rPr lang="en-US" altLang="x-none" dirty="0">
                        <a:solidFill>
                          <a:srgbClr val="1F2DA8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)</m:t>
                    </m:r>
                  </m:oMath>
                </a14:m>
                <a:endParaRPr lang="en-US" altLang="x-none" dirty="0">
                  <a:solidFill>
                    <a:srgbClr val="1F2DA8"/>
                  </a:solidFill>
                  <a:latin typeface="Times New Roman" panose="02020603050405020304" pitchFamily="2" charset="0"/>
                  <a:ea typeface="楷体" panose="02010609060101010101" charset="-122"/>
                  <a:cs typeface="Times New Roman" panose="02020603050405020304" pitchFamily="2" charset="0"/>
                </a:endParaRPr>
              </a:p>
              <a:p>
                <a:pPr lvl="1" fontAlgn="auto">
                  <a:lnSpc>
                    <a:spcPct val="110000"/>
                  </a:lnSpc>
                  <a:spcBef>
                    <a:spcPts val="1000"/>
                  </a:spcBef>
                  <a:spcAft>
                    <a:spcPts val="1000"/>
                  </a:spcAft>
                </a:pP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  <a:sym typeface="+mn-ea"/>
                  </a:rPr>
                  <a:t>由所有符合上述要求的</a:t>
                </a: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  <a:sym typeface="+mn-ea"/>
                  </a:rPr>
                  <a:t>‘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2" charset="0"/>
                    <a:cs typeface="Times New Roman" panose="02020603050405020304" pitchFamily="2" charset="0"/>
                    <a:sym typeface="+mn-ea"/>
                  </a:rPr>
                  <a:t>n元组</a:t>
                </a: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  <a:sym typeface="+mn-ea"/>
                  </a:rPr>
                  <a:t>’</a:t>
                </a: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  <a:sym typeface="+mn-ea"/>
                  </a:rPr>
                  <a:t>组成该笛卡儿积的运算结果，即：</a:t>
                </a:r>
                <a:endParaRPr lang="en-US" altLang="zh-CN" dirty="0"/>
              </a:p>
              <a:p>
                <a:pPr marL="1200150" lvl="2" indent="-285750" algn="just">
                  <a:lnSpc>
                    <a:spcPct val="110000"/>
                  </a:lnSpc>
                  <a:spcBef>
                    <a:spcPts val="1000"/>
                  </a:spcBef>
                  <a:buFont typeface="Wingdings" panose="05000000000000000000" pitchFamily="2" charset="2"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1" kern="0" dirty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𝑫</m:t>
                      </m:r>
                      <m:r>
                        <a:rPr lang="en-US" altLang="zh-CN" b="1" kern="0" baseline="-25000" dirty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𝟏</m:t>
                      </m:r>
                      <m:r>
                        <a:rPr lang="en-US" altLang="zh-CN" b="1" kern="0" dirty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×</m:t>
                      </m:r>
                      <m:r>
                        <a:rPr lang="en-US" altLang="zh-CN" b="1" i="1" kern="0" dirty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𝑫</m:t>
                      </m:r>
                      <m:r>
                        <a:rPr lang="en-US" altLang="zh-CN" b="1" kern="0" baseline="-25000" dirty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𝟐</m:t>
                      </m:r>
                      <m:r>
                        <a:rPr lang="en-US" altLang="zh-CN" b="1" kern="0" dirty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×…×</m:t>
                      </m:r>
                      <m:r>
                        <a:rPr lang="en-US" altLang="zh-CN" b="1" i="1" kern="0" dirty="0" err="1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𝑫</m:t>
                      </m:r>
                      <m:r>
                        <a:rPr lang="en-US" altLang="zh-CN" b="1" i="1" kern="0" baseline="-25000" dirty="0" err="1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𝒏</m:t>
                      </m:r>
                      <m:r>
                        <a:rPr lang="en-US" altLang="zh-CN" b="1" kern="0" dirty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＝｛ (</m:t>
                      </m:r>
                      <m:r>
                        <a:rPr lang="en-US" altLang="zh-CN" b="1" i="1" kern="0" dirty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𝒅</m:t>
                      </m:r>
                      <m:r>
                        <a:rPr lang="en-US" altLang="zh-CN" b="1" kern="0" baseline="-25000" dirty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𝟏</m:t>
                      </m:r>
                      <m:r>
                        <a:rPr lang="en-US" altLang="zh-CN" b="1" kern="0" dirty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, </m:t>
                      </m:r>
                      <m:r>
                        <a:rPr lang="en-US" altLang="zh-CN" b="1" i="1" kern="0" dirty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𝒅</m:t>
                      </m:r>
                      <m:r>
                        <a:rPr lang="en-US" altLang="zh-CN" b="1" kern="0" baseline="-25000" dirty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𝟐</m:t>
                      </m:r>
                      <m:r>
                        <a:rPr lang="en-US" altLang="zh-CN" b="1" kern="0" dirty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, …, </m:t>
                      </m:r>
                      <m:r>
                        <a:rPr lang="en-US" altLang="zh-CN" b="1" i="1" kern="0" dirty="0" err="1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𝒅</m:t>
                      </m:r>
                      <m:r>
                        <a:rPr lang="en-US" altLang="zh-CN" b="1" i="1" kern="0" baseline="-25000" dirty="0" err="1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𝒏</m:t>
                      </m:r>
                      <m:r>
                        <a:rPr lang="en-US" altLang="zh-CN" b="1" kern="0" dirty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)｜</m:t>
                      </m:r>
                      <m:r>
                        <a:rPr lang="en-US" altLang="zh-CN" b="1" i="1" kern="0" dirty="0" err="1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𝒅</m:t>
                      </m:r>
                      <m:r>
                        <a:rPr lang="en-US" altLang="zh-CN" b="1" i="1" kern="0" baseline="-25000" dirty="0" err="1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𝒊</m:t>
                      </m:r>
                      <m:r>
                        <a:rPr lang="en-US" altLang="zh-CN" b="1" kern="0" dirty="0" err="1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  <a:sym typeface="Symbol" panose="05050102010706020507" pitchFamily="18" charset="2"/>
                        </a:rPr>
                        <m:t></m:t>
                      </m:r>
                      <m:r>
                        <a:rPr lang="en-US" altLang="zh-CN" b="1" i="1" kern="0" dirty="0" err="1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𝑫</m:t>
                      </m:r>
                      <m:r>
                        <a:rPr lang="en-US" altLang="zh-CN" b="1" i="1" kern="0" baseline="-25000" dirty="0" err="1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𝒊</m:t>
                      </m:r>
                      <m:r>
                        <a:rPr lang="en-US" altLang="zh-CN" b="1" i="1" kern="0" baseline="-25000" dirty="0" err="1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 </m:t>
                      </m:r>
                      <m:r>
                        <a:rPr lang="en-US" altLang="zh-CN" b="1" kern="0" dirty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, </m:t>
                      </m:r>
                      <m:r>
                        <a:rPr lang="en-US" altLang="zh-CN" b="1" i="1" kern="0" dirty="0" err="1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𝒊</m:t>
                      </m:r>
                      <m:r>
                        <a:rPr lang="en-US" altLang="zh-CN" b="1" kern="0" dirty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＝</m:t>
                      </m:r>
                      <m:r>
                        <a:rPr lang="en-US" altLang="zh-CN" b="1" kern="0" dirty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𝟏</m:t>
                      </m:r>
                      <m:r>
                        <a:rPr lang="en-US" altLang="zh-CN" b="1" kern="0" dirty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，</m:t>
                      </m:r>
                      <m:r>
                        <a:rPr lang="en-US" altLang="zh-CN" b="1" kern="0" dirty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𝟐</m:t>
                      </m:r>
                      <m:r>
                        <a:rPr lang="en-US" altLang="zh-CN" b="1" kern="0" dirty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，…，</m:t>
                      </m:r>
                      <m:r>
                        <a:rPr lang="en-US" altLang="zh-CN" b="1" i="1" kern="0" dirty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𝒏</m:t>
                      </m:r>
                      <m:r>
                        <a:rPr lang="en-US" altLang="zh-CN" b="1" i="1" kern="0" dirty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 </m:t>
                      </m:r>
                      <m:r>
                        <a:rPr lang="en-US" altLang="zh-CN" b="1" kern="0" dirty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+mn-ea"/>
                          <a:cs typeface="Cambria Math" panose="02040503050406030204" charset="0"/>
                        </a:rPr>
                        <m:t>｝</m:t>
                      </m:r>
                    </m:oMath>
                  </m:oMathPara>
                </a14:m>
                <a:endParaRPr lang="zh-CN" altLang="en-US" sz="2000" b="1" kern="0" dirty="0">
                  <a:latin typeface="+mn-lt"/>
                  <a:ea typeface="+mn-ea"/>
                </a:endParaRPr>
              </a:p>
              <a:p>
                <a:pPr lvl="1" fontAlgn="auto">
                  <a:lnSpc>
                    <a:spcPct val="110000"/>
                  </a:lnSpc>
                  <a:spcBef>
                    <a:spcPts val="2000"/>
                  </a:spcBef>
                </a:pPr>
                <a:r>
                  <a:rPr lang="zh-CN" altLang="en-US" dirty="0"/>
                  <a:t>笛卡尔积的运算结果</a:t>
                </a:r>
              </a:p>
              <a:p>
                <a:pPr lvl="2" fontAlgn="auto">
                  <a:lnSpc>
                    <a:spcPct val="110000"/>
                  </a:lnSpc>
                </a:pPr>
                <a:r>
                  <a:rPr lang="zh-CN" altLang="en-US" dirty="0"/>
                  <a:t>所有域的所有取值的一个组合</a:t>
                </a:r>
              </a:p>
              <a:p>
                <a:pPr lvl="2" fontAlgn="auto">
                  <a:lnSpc>
                    <a:spcPct val="110000"/>
                  </a:lnSpc>
                  <a:spcBef>
                    <a:spcPts val="500"/>
                  </a:spcBef>
                </a:pPr>
                <a:r>
                  <a:rPr lang="zh-CN" altLang="en-US" dirty="0"/>
                  <a:t>不存在重复的</a:t>
                </a:r>
                <a:r>
                  <a:rPr lang="en-US" altLang="zh-CN" dirty="0"/>
                  <a:t> n </a:t>
                </a:r>
                <a:r>
                  <a:rPr lang="zh-CN" altLang="en-US" dirty="0"/>
                  <a:t>元组</a:t>
                </a:r>
              </a:p>
            </p:txBody>
          </p:sp>
        </mc:Choice>
        <mc:Fallback xmlns="">
          <p:sp>
            <p:nvSpPr>
              <p:cNvPr id="19459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笛卡尔积 </a:t>
            </a:r>
            <a:r>
              <a:rPr lang="en-US" altLang="zh-CN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3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CN" dirty="0"/>
                  <a:t> 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元组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Tuple</a:t>
                </a:r>
                <a:r>
                  <a:rPr lang="zh-CN" altLang="en-US" dirty="0"/>
                  <a:t>）</a:t>
                </a:r>
              </a:p>
              <a:p>
                <a:pPr lvl="1" fontAlgn="auto">
                  <a:spcBef>
                    <a:spcPts val="600"/>
                  </a:spcBef>
                </a:pPr>
                <a:r>
                  <a:rPr lang="zh-CN" altLang="en-US" dirty="0"/>
                  <a:t>笛卡尔积中每一个元素</a:t>
                </a:r>
                <a:r>
                  <a:rPr lang="zh-CN" altLang="en-US" sz="2800" b="1" kern="0" dirty="0">
                    <a:latin typeface="+mn-lt"/>
                    <a:ea typeface="+mn-ea"/>
                  </a:rPr>
                  <a:t>（</a:t>
                </a:r>
                <a:r>
                  <a:rPr lang="en-US" altLang="zh-CN" sz="2800" b="1" i="1" kern="0" dirty="0">
                    <a:latin typeface="+mn-lt"/>
                    <a:ea typeface="+mn-ea"/>
                  </a:rPr>
                  <a:t>d</a:t>
                </a:r>
                <a:r>
                  <a:rPr lang="en-US" altLang="zh-CN" sz="2800" b="1" kern="0" baseline="-25000" dirty="0">
                    <a:latin typeface="+mn-lt"/>
                    <a:ea typeface="+mn-ea"/>
                  </a:rPr>
                  <a:t>1</a:t>
                </a:r>
                <a:r>
                  <a:rPr lang="en-US" altLang="zh-CN" sz="2800" b="1" kern="0" dirty="0">
                    <a:latin typeface="+mn-lt"/>
                    <a:ea typeface="+mn-ea"/>
                  </a:rPr>
                  <a:t>, </a:t>
                </a:r>
                <a:r>
                  <a:rPr lang="en-US" altLang="zh-CN" sz="2800" b="1" i="1" kern="0" dirty="0">
                    <a:latin typeface="+mn-lt"/>
                    <a:ea typeface="+mn-ea"/>
                  </a:rPr>
                  <a:t>d</a:t>
                </a:r>
                <a:r>
                  <a:rPr lang="en-US" altLang="zh-CN" sz="2800" b="1" kern="0" baseline="-25000" dirty="0">
                    <a:latin typeface="+mn-lt"/>
                    <a:ea typeface="+mn-ea"/>
                  </a:rPr>
                  <a:t>2</a:t>
                </a:r>
                <a:r>
                  <a:rPr lang="en-US" altLang="zh-CN" sz="2800" b="1" kern="0" dirty="0">
                    <a:latin typeface="+mn-lt"/>
                    <a:ea typeface="+mn-ea"/>
                  </a:rPr>
                  <a:t>, </a:t>
                </a:r>
                <a:r>
                  <a:rPr lang="en-US" altLang="zh-CN" sz="2800" b="1" kern="0" dirty="0">
                    <a:latin typeface="Times New Roman" panose="02020603050405020304" pitchFamily="2" charset="0"/>
                    <a:ea typeface="+mn-ea"/>
                  </a:rPr>
                  <a:t>…</a:t>
                </a:r>
                <a:r>
                  <a:rPr lang="en-US" altLang="zh-CN" sz="2800" b="1" kern="0" dirty="0">
                    <a:latin typeface="+mn-lt"/>
                    <a:ea typeface="+mn-ea"/>
                  </a:rPr>
                  <a:t>, </a:t>
                </a:r>
                <a:r>
                  <a:rPr lang="en-US" altLang="zh-CN" sz="2800" b="1" i="1" kern="0" dirty="0" err="1">
                    <a:latin typeface="+mn-lt"/>
                    <a:ea typeface="+mn-ea"/>
                  </a:rPr>
                  <a:t>d</a:t>
                </a:r>
                <a:r>
                  <a:rPr lang="en-US" altLang="zh-CN" sz="2800" b="1" i="1" kern="0" baseline="-25000" dirty="0" err="1">
                    <a:latin typeface="+mn-lt"/>
                    <a:ea typeface="+mn-ea"/>
                  </a:rPr>
                  <a:t>n</a:t>
                </a:r>
                <a:r>
                  <a:rPr lang="zh-CN" altLang="en-US" sz="2800" b="1" kern="0" dirty="0">
                    <a:latin typeface="+mn-lt"/>
                    <a:ea typeface="+mn-ea"/>
                  </a:rPr>
                  <a:t>）</a:t>
                </a:r>
                <a:r>
                  <a:rPr lang="zh-CN" altLang="en-US" dirty="0"/>
                  <a:t>叫作一个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‘</a:t>
                </a: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n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元组</a:t>
                </a: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’ </a:t>
                </a:r>
                <a:r>
                  <a:rPr lang="en-US" altLang="zh-CN" dirty="0"/>
                  <a:t>(n-tuple)</a:t>
                </a:r>
                <a:r>
                  <a:rPr lang="zh-CN" altLang="en-US" dirty="0"/>
                  <a:t>或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  <a:sym typeface="+mn-ea"/>
                  </a:rPr>
                  <a:t>‘</a:t>
                </a: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2" charset="0"/>
                    <a:cs typeface="Times New Roman" panose="02020603050405020304" pitchFamily="2" charset="0"/>
                    <a:sym typeface="+mn-ea"/>
                  </a:rPr>
                  <a:t>n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2" charset="0"/>
                    <a:cs typeface="Times New Roman" panose="02020603050405020304" pitchFamily="2" charset="0"/>
                    <a:sym typeface="+mn-ea"/>
                  </a:rPr>
                  <a:t>元有序组</a:t>
                </a: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  <a:sym typeface="+mn-ea"/>
                  </a:rPr>
                  <a:t>’ </a:t>
                </a: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  <a:sym typeface="+mn-ea"/>
                  </a:rPr>
                  <a:t>，</a:t>
                </a:r>
                <a:r>
                  <a:rPr lang="zh-CN" altLang="en-US" dirty="0"/>
                  <a:t>简称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‘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元组</a:t>
                </a: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’</a:t>
                </a:r>
                <a:endParaRPr lang="en-US" altLang="zh-CN" dirty="0"/>
              </a:p>
              <a:p>
                <a:pPr lvl="1" fontAlgn="auto">
                  <a:spcBef>
                    <a:spcPts val="600"/>
                  </a:spcBef>
                </a:pPr>
                <a:r>
                  <a:rPr lang="zh-CN" altLang="en-US" dirty="0"/>
                  <a:t>例如：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(</a:t>
                </a:r>
                <a:r>
                  <a:rPr lang="zh-CN" altLang="en-US" dirty="0"/>
                  <a:t>张清玫，计算机专业，李勇</a:t>
                </a:r>
                <a:r>
                  <a:rPr lang="en-US" altLang="zh-CN" dirty="0"/>
                  <a:t>)</a:t>
                </a:r>
              </a:p>
              <a:p>
                <a:pPr lvl="2"/>
                <a:r>
                  <a:rPr lang="en-US" altLang="zh-CN" dirty="0"/>
                  <a:t>(</a:t>
                </a:r>
                <a:r>
                  <a:rPr lang="zh-CN" altLang="en-US" dirty="0"/>
                  <a:t>张清玫，计算机专业，刘晨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 </a:t>
                </a:r>
              </a:p>
              <a:p>
                <a:pPr lvl="2"/>
                <a:endParaRPr lang="zh-CN" altLang="en-US" dirty="0"/>
              </a:p>
              <a:p>
                <a:r>
                  <a:rPr lang="zh-CN" altLang="en-US" dirty="0">
                    <a:solidFill>
                      <a:srgbClr val="FF0000"/>
                    </a:solidFill>
                  </a:rPr>
                  <a:t>分量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Component</a:t>
                </a:r>
                <a:r>
                  <a:rPr lang="zh-CN" altLang="en-US" dirty="0"/>
                  <a:t>）</a:t>
                </a:r>
              </a:p>
              <a:p>
                <a:pPr lvl="1" fontAlgn="auto">
                  <a:spcBef>
                    <a:spcPts val="600"/>
                  </a:spcBef>
                </a:pP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笛卡尔积元素</a:t>
                </a:r>
                <a:r>
                  <a:rPr lang="zh-CN" altLang="en-US" kern="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  <a:sym typeface="+mn-ea"/>
                  </a:rPr>
                  <a:t>（</a:t>
                </a:r>
                <a:r>
                  <a:rPr lang="en-US" altLang="zh-CN" i="1" kern="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  <a:sym typeface="+mn-ea"/>
                  </a:rPr>
                  <a:t>d</a:t>
                </a:r>
                <a:r>
                  <a:rPr lang="en-US" altLang="zh-CN" kern="0" baseline="-2500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  <a:sym typeface="+mn-ea"/>
                  </a:rPr>
                  <a:t>1</a:t>
                </a:r>
                <a:r>
                  <a:rPr lang="en-US" altLang="zh-CN" kern="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  <a:sym typeface="+mn-ea"/>
                  </a:rPr>
                  <a:t>, </a:t>
                </a:r>
                <a:r>
                  <a:rPr lang="en-US" altLang="zh-CN" i="1" kern="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  <a:sym typeface="+mn-ea"/>
                  </a:rPr>
                  <a:t>d</a:t>
                </a:r>
                <a:r>
                  <a:rPr lang="en-US" altLang="zh-CN" kern="0" baseline="-2500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  <a:sym typeface="+mn-ea"/>
                  </a:rPr>
                  <a:t>2</a:t>
                </a:r>
                <a:r>
                  <a:rPr lang="en-US" altLang="zh-CN" kern="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  <a:sym typeface="+mn-ea"/>
                  </a:rPr>
                  <a:t>, …, </a:t>
                </a:r>
                <a:r>
                  <a:rPr lang="en-US" altLang="zh-CN" i="1" kern="0" dirty="0" err="1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  <a:sym typeface="+mn-ea"/>
                  </a:rPr>
                  <a:t>d</a:t>
                </a:r>
                <a:r>
                  <a:rPr lang="en-US" altLang="zh-CN" i="1" kern="0" baseline="-25000" dirty="0" err="1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  <a:sym typeface="+mn-ea"/>
                  </a:rPr>
                  <a:t>n</a:t>
                </a:r>
                <a:r>
                  <a:rPr lang="zh-CN" altLang="en-US" kern="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  <a:sym typeface="+mn-ea"/>
                  </a:rPr>
                  <a:t>）</a:t>
                </a: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中的每一个值</a:t>
                </a: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 </a:t>
                </a:r>
                <a:r>
                  <a:rPr lang="en-US" altLang="zh-CN" sz="2800" b="1" i="1" kern="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</a:rPr>
                  <a:t>d</a:t>
                </a:r>
                <a:r>
                  <a:rPr lang="en-US" altLang="zh-CN" sz="2800" b="1" i="1" kern="0" baseline="-2500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</a:rPr>
                  <a:t>i</a:t>
                </a:r>
                <a:r>
                  <a:rPr lang="en-US" altLang="zh-CN" sz="2800" b="1" i="1" kern="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</a:rPr>
                  <a:t> </a:t>
                </a: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叫作一个</a:t>
                </a: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 ‘</a:t>
                </a: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分量</a:t>
                </a: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’</a:t>
                </a:r>
              </a:p>
              <a:p>
                <a:pPr lvl="1" fontAlgn="auto">
                  <a:spcBef>
                    <a:spcPts val="600"/>
                  </a:spcBef>
                </a:pP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例如：张清玫、计算机专业、李勇、刘晨等</a:t>
                </a:r>
              </a:p>
              <a:p>
                <a:pPr lvl="1" fontAlgn="auto">
                  <a:spcBef>
                    <a:spcPts val="600"/>
                  </a:spcBef>
                </a:pP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一个</a:t>
                </a: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 ‘n</a:t>
                </a: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元组</a:t>
                </a: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’ </a:t>
                </a: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含有</a:t>
                </a: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 n </a:t>
                </a: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个</a:t>
                </a: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 ‘</a:t>
                </a: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分量</a:t>
                </a: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’</a:t>
                </a: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，按照书写顺序建立</a:t>
                </a: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 ‘</a:t>
                </a: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分量</a:t>
                </a: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’ </a:t>
                </a: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与</a:t>
                </a: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 ‘</a:t>
                </a: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域</a:t>
                </a: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’ </a:t>
                </a: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的对应关系，即：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𝒅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cs typeface="Cambria Math" panose="02040503050406030204" charset="0"/>
                      </a:rPr>
                      <m:t>𝒊</m:t>
                    </m:r>
                    <m:r>
                      <a:rPr lang="en-US" altLang="zh-CN" b="1" i="1" dirty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b="1" i="1" dirty="0">
                        <a:latin typeface="Cambria Math" panose="02040503050406030204" charset="0"/>
                        <a:cs typeface="Cambria Math" panose="02040503050406030204" charset="0"/>
                      </a:rPr>
                      <m:t>𝑫</m:t>
                    </m:r>
                    <m:r>
                      <a:rPr lang="en-US" altLang="zh-CN" b="1" i="1" baseline="-25000" dirty="0">
                        <a:latin typeface="Cambria Math" panose="02040503050406030204" charset="0"/>
                        <a:cs typeface="Cambria Math" panose="02040503050406030204" charset="0"/>
                      </a:rPr>
                      <m:t>𝒊</m:t>
                    </m:r>
                    <m:r>
                      <a:rPr lang="en-US" altLang="zh-CN" b="1" i="1" dirty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 (</m:t>
                    </m:r>
                    <m:r>
                      <a:rPr lang="en-US" altLang="zh-CN" b="1" i="1" dirty="0">
                        <a:latin typeface="Cambria Math" panose="02040503050406030204" charset="0"/>
                        <a:cs typeface="Cambria Math" panose="02040503050406030204" charset="0"/>
                      </a:rPr>
                      <m:t>𝒊</m:t>
                    </m:r>
                    <m:r>
                      <a:rPr lang="en-US" altLang="zh-CN" b="1" i="1" dirty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b="1" i="1" dirty="0">
                        <a:latin typeface="Cambria Math" panose="02040503050406030204" charset="0"/>
                        <a:cs typeface="Cambria Math" panose="02040503050406030204" charset="0"/>
                      </a:rPr>
                      <m:t>𝟏</m:t>
                    </m:r>
                    <m:r>
                      <a:rPr lang="en-US" altLang="zh-CN" b="1" i="1" dirty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b="1" i="1" dirty="0">
                        <a:latin typeface="Cambria Math" panose="02040503050406030204" charset="0"/>
                        <a:cs typeface="Cambria Math" panose="02040503050406030204" charset="0"/>
                      </a:rPr>
                      <m:t>𝟐</m:t>
                    </m:r>
                    <m:r>
                      <a:rPr lang="en-US" altLang="zh-CN" b="1" i="1" dirty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,⋯,</m:t>
                    </m:r>
                    <m:r>
                      <a:rPr lang="en-US" altLang="zh-CN" b="1" i="1" dirty="0">
                        <a:latin typeface="Cambria Math" panose="02040503050406030204" charset="0"/>
                        <a:cs typeface="Cambria Math" panose="02040503050406030204" charset="0"/>
                      </a:rPr>
                      <m:t>𝒏</m:t>
                    </m:r>
                    <m:r>
                      <a:rPr lang="en-US" altLang="zh-CN" b="1" i="1" dirty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zh-CN" altLang="en-US" dirty="0">
                  <a:latin typeface="Times New Roman" panose="02020603050405020304" pitchFamily="2" charset="0"/>
                  <a:cs typeface="Times New Roman" panose="02020603050405020304" pitchFamily="2" charset="0"/>
                </a:endParaRPr>
              </a:p>
            </p:txBody>
          </p:sp>
        </mc:Choice>
        <mc:Fallback xmlns="">
          <p:sp>
            <p:nvSpPr>
              <p:cNvPr id="20483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笛卡尔积 </a:t>
            </a:r>
            <a:r>
              <a:rPr lang="en-US" altLang="zh-CN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8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fontAlgn="auto">
                  <a:lnSpc>
                    <a:spcPct val="100000"/>
                  </a:lnSpc>
                  <a:spcBef>
                    <a:spcPts val="1000"/>
                  </a:spcBef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基数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Cardinal number</a:t>
                </a:r>
                <a:r>
                  <a:rPr lang="zh-CN" altLang="en-US" dirty="0"/>
                  <a:t>）</a:t>
                </a:r>
              </a:p>
              <a:p>
                <a:pPr lvl="1" fontAlgn="auto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一个域允许的不同取值个数称为这个域的</a:t>
                </a: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‘</a:t>
                </a: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基数</a:t>
                </a: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’</a:t>
                </a:r>
                <a:endParaRPr lang="zh-CN" altLang="en-US" dirty="0">
                  <a:latin typeface="Times New Roman" panose="02020603050405020304" pitchFamily="2" charset="0"/>
                  <a:cs typeface="Times New Roman" panose="02020603050405020304" pitchFamily="2" charset="0"/>
                </a:endParaRPr>
              </a:p>
              <a:p>
                <a:pPr lvl="1" fontAlgn="auto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若</a:t>
                </a:r>
                <a:r>
                  <a:rPr lang="en-US" altLang="zh-CN" sz="2800" b="1" i="1" kern="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</a:rPr>
                  <a:t>D</a:t>
                </a:r>
                <a:r>
                  <a:rPr lang="en-US" altLang="zh-CN" sz="2800" b="1" i="1" kern="0" baseline="-2500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</a:rPr>
                  <a:t>i</a:t>
                </a:r>
                <a:r>
                  <a:rPr lang="en-US" altLang="zh-CN" sz="2800" b="1" kern="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</a:rPr>
                  <a:t> (</a:t>
                </a:r>
                <a:r>
                  <a:rPr lang="en-US" altLang="zh-CN" sz="2800" b="1" i="1" kern="0" dirty="0" err="1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</a:rPr>
                  <a:t>i</a:t>
                </a:r>
                <a:r>
                  <a:rPr lang="zh-CN" altLang="en-US" sz="2800" b="1" kern="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</a:rPr>
                  <a:t>＝</a:t>
                </a:r>
                <a:r>
                  <a:rPr lang="en-US" altLang="zh-CN" sz="2800" b="1" kern="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</a:rPr>
                  <a:t>1, 2, …, </a:t>
                </a:r>
                <a:r>
                  <a:rPr lang="en-US" altLang="zh-CN" sz="2800" b="1" i="1" kern="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</a:rPr>
                  <a:t>n</a:t>
                </a:r>
                <a:r>
                  <a:rPr lang="en-US" altLang="zh-CN" sz="2800" b="1" kern="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</a:rPr>
                  <a:t>) </a:t>
                </a:r>
                <a:r>
                  <a:rPr lang="zh-CN" altLang="en-US" sz="2800" b="1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都</a:t>
                </a: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为有限集，基数分别为</a:t>
                </a:r>
                <a:r>
                  <a:rPr lang="en-US" altLang="zh-CN" sz="2800" b="1" i="1" kern="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</a:rPr>
                  <a:t>m</a:t>
                </a:r>
                <a:r>
                  <a:rPr lang="en-US" altLang="zh-CN" sz="2800" b="1" i="1" kern="0" baseline="-2500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</a:rPr>
                  <a:t>i </a:t>
                </a:r>
                <a:r>
                  <a:rPr lang="en-US" altLang="zh-CN" sz="2800" b="1" kern="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</a:rPr>
                  <a:t> (</a:t>
                </a:r>
                <a:r>
                  <a:rPr lang="en-US" altLang="zh-CN" sz="2800" b="1" i="1" kern="0" dirty="0" err="1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</a:rPr>
                  <a:t>i</a:t>
                </a:r>
                <a:r>
                  <a:rPr lang="zh-CN" altLang="en-US" sz="2800" b="1" kern="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</a:rPr>
                  <a:t>＝</a:t>
                </a:r>
                <a:r>
                  <a:rPr lang="en-US" altLang="zh-CN" sz="2800" b="1" kern="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</a:rPr>
                  <a:t>1, 2, … , </a:t>
                </a:r>
                <a:r>
                  <a:rPr lang="en-US" altLang="zh-CN" sz="2800" b="1" i="1" kern="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</a:rPr>
                  <a:t>n</a:t>
                </a:r>
                <a:r>
                  <a:rPr lang="en-US" altLang="zh-CN" sz="2800" b="1" kern="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</a:rPr>
                  <a:t>)</a:t>
                </a: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，则</a:t>
                </a:r>
                <a:r>
                  <a:rPr lang="en-US" altLang="zh-CN" sz="2800" b="1" i="1" kern="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</a:rPr>
                  <a:t>D</a:t>
                </a:r>
                <a:r>
                  <a:rPr lang="en-US" altLang="zh-CN" sz="2800" b="1" kern="0" baseline="-2500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</a:rPr>
                  <a:t>1</a:t>
                </a:r>
                <a:r>
                  <a:rPr lang="en-US" altLang="zh-CN" sz="2800" b="1" kern="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</a:rPr>
                  <a:t>×</a:t>
                </a:r>
                <a:r>
                  <a:rPr lang="en-US" altLang="zh-CN" sz="2800" b="1" i="1" kern="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</a:rPr>
                  <a:t>D</a:t>
                </a:r>
                <a:r>
                  <a:rPr lang="en-US" altLang="zh-CN" sz="2800" b="1" kern="0" baseline="-2500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</a:rPr>
                  <a:t>2</a:t>
                </a:r>
                <a:r>
                  <a:rPr lang="en-US" altLang="zh-CN" sz="2800" b="1" kern="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</a:rPr>
                  <a:t>×…×</a:t>
                </a:r>
                <a:r>
                  <a:rPr lang="en-US" altLang="zh-CN" sz="2800" b="1" i="1" kern="0" dirty="0" err="1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</a:rPr>
                  <a:t>D</a:t>
                </a:r>
                <a:r>
                  <a:rPr lang="en-US" altLang="zh-CN" sz="2800" b="1" i="1" kern="0" baseline="-25000" dirty="0" err="1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</a:rPr>
                  <a:t>n</a:t>
                </a: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的基数</a:t>
                </a:r>
                <a:r>
                  <a:rPr lang="en-US" altLang="zh-CN" sz="2800" b="1" i="1" kern="0" dirty="0">
                    <a:latin typeface="Times New Roman" panose="02020603050405020304" pitchFamily="2" charset="0"/>
                    <a:ea typeface="+mn-ea"/>
                    <a:cs typeface="Times New Roman" panose="02020603050405020304" pitchFamily="2" charset="0"/>
                  </a:rPr>
                  <a:t>M</a:t>
                </a: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为：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zh-CN" altLang="en-US" i="1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grow m:val="on"/>
                        <m:ctrlPr>
                          <a:rPr lang="zh-CN" altLang="en-US" i="1" smtClean="0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zh-CN" altLang="en-US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  <m:r>
                          <a:rPr lang="zh-CN" altLang="en-US" i="1" smtClean="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=1</m:t>
                        </m:r>
                      </m:sub>
                      <m:sup>
                        <m:r>
                          <a:rPr lang="zh-CN" altLang="en-US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zh-CN" altLang="en-US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zh-CN" altLang="en-US" i="1" smtClean="0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zh-CN" altLang="en-US" dirty="0"/>
              </a:p>
              <a:p>
                <a:pPr fontAlgn="auto">
                  <a:lnSpc>
                    <a:spcPct val="100000"/>
                  </a:lnSpc>
                  <a:spcBef>
                    <a:spcPts val="3000"/>
                  </a:spcBef>
                </a:pPr>
                <a:r>
                  <a:rPr lang="zh-CN" altLang="en-US" dirty="0"/>
                  <a:t>笛卡尔积的结果表示方法</a:t>
                </a:r>
              </a:p>
              <a:p>
                <a:pPr lvl="1" fontAlgn="auto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集合表示</a:t>
                </a:r>
                <a:r>
                  <a:rPr lang="zh-CN" altLang="en-US" dirty="0"/>
                  <a:t>：列举出结果集中的所有</a:t>
                </a: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元组</a:t>
                </a:r>
                <a:endParaRPr lang="zh-CN" altLang="en-US" dirty="0"/>
              </a:p>
              <a:p>
                <a:pPr lvl="1" fontAlgn="auto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二维表表示</a:t>
                </a:r>
                <a:r>
                  <a:rPr lang="zh-CN" altLang="en-US" dirty="0"/>
                  <a:t>：</a:t>
                </a:r>
              </a:p>
              <a:p>
                <a:pPr lvl="2" fontAlgn="auto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zh-CN" altLang="en-US" dirty="0"/>
                  <a:t>将笛卡尔积的运算结果表示为一张二维表</a:t>
                </a:r>
              </a:p>
              <a:p>
                <a:pPr lvl="2" fontAlgn="auto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zh-CN" altLang="en-US" dirty="0">
                    <a:latin typeface="Times New Roman" panose="02020603050405020304" pitchFamily="2" charset="0"/>
                  </a:rPr>
                  <a:t>表中的每一行对应一个元组，每一列对应一个域</a:t>
                </a:r>
              </a:p>
              <a:p>
                <a:pPr lvl="2" fontAlgn="auto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zh-CN" altLang="en-US" dirty="0">
                    <a:latin typeface="Times New Roman" panose="02020603050405020304" pitchFamily="2" charset="0"/>
                  </a:rPr>
                  <a:t>为了区分每一列所对应的域，需要在二维表中添加一个</a:t>
                </a:r>
                <a:r>
                  <a:rPr lang="en-US" altLang="zh-CN" dirty="0">
                    <a:latin typeface="Times New Roman" panose="02020603050405020304" pitchFamily="2" charset="0"/>
                  </a:rPr>
                  <a:t> ‘</a:t>
                </a:r>
                <a:r>
                  <a:rPr lang="zh-CN" altLang="en-US" dirty="0">
                    <a:latin typeface="Times New Roman" panose="02020603050405020304" pitchFamily="2" charset="0"/>
                  </a:rPr>
                  <a:t>表头</a:t>
                </a:r>
                <a:r>
                  <a:rPr lang="en-US" altLang="zh-CN" dirty="0">
                    <a:latin typeface="Times New Roman" panose="02020603050405020304" pitchFamily="2" charset="0"/>
                  </a:rPr>
                  <a:t>’ (</a:t>
                </a:r>
                <a:r>
                  <a:rPr lang="en-US" altLang="zh-CN" dirty="0">
                    <a:solidFill>
                      <a:srgbClr val="C00000"/>
                    </a:solidFill>
                    <a:latin typeface="Times New Roman" panose="02020603050405020304" pitchFamily="2" charset="0"/>
                  </a:rPr>
                  <a:t>table heading -- </a:t>
                </a:r>
                <a:r>
                  <a:rPr lang="zh-CN" altLang="en-US" dirty="0">
                    <a:solidFill>
                      <a:srgbClr val="C00000"/>
                    </a:solidFill>
                    <a:latin typeface="Times New Roman" panose="02020603050405020304" pitchFamily="2" charset="0"/>
                  </a:rPr>
                  <a:t>二维表第一行</a:t>
                </a:r>
                <a:r>
                  <a:rPr lang="en-US" altLang="zh-CN" dirty="0">
                    <a:latin typeface="Times New Roman" panose="02020603050405020304" pitchFamily="2" charset="0"/>
                  </a:rPr>
                  <a:t>)</a:t>
                </a:r>
                <a:r>
                  <a:rPr lang="zh-CN" altLang="en-US" dirty="0">
                    <a:latin typeface="Times New Roman" panose="02020603050405020304" pitchFamily="2" charset="0"/>
                  </a:rPr>
                  <a:t>，用于显示每一列对应域的域名</a:t>
                </a:r>
              </a:p>
            </p:txBody>
          </p:sp>
        </mc:Choice>
        <mc:Fallback xmlns="">
          <p:sp>
            <p:nvSpPr>
              <p:cNvPr id="1028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笛卡尔积 </a:t>
            </a:r>
            <a:r>
              <a:rPr lang="en-US" altLang="zh-CN" dirty="0"/>
              <a:t>4 - </a:t>
            </a:r>
            <a:r>
              <a:rPr lang="zh-CN" altLang="en-US" dirty="0"/>
              <a:t>集合表示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dirty="0"/>
              <a:t>例如，给出</a:t>
            </a:r>
            <a:r>
              <a:rPr lang="en-US" altLang="zh-CN" dirty="0"/>
              <a:t>3</a:t>
            </a:r>
            <a:r>
              <a:rPr lang="zh-CN" altLang="en-US" dirty="0"/>
              <a:t>个域：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 = </a:t>
            </a:r>
            <a:r>
              <a:rPr lang="zh-CN" altLang="en-US" dirty="0"/>
              <a:t>导师集合</a:t>
            </a:r>
            <a:r>
              <a:rPr lang="en-US" altLang="zh-CN" dirty="0"/>
              <a:t>SUPERVISOR =</a:t>
            </a:r>
            <a:r>
              <a:rPr lang="zh-CN" altLang="en-US" dirty="0"/>
              <a:t>｛张清玫，刘逸｝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 = </a:t>
            </a:r>
            <a:r>
              <a:rPr lang="zh-CN" altLang="en-US" dirty="0"/>
              <a:t>专业集合</a:t>
            </a:r>
            <a:r>
              <a:rPr lang="en-US" altLang="zh-CN" dirty="0"/>
              <a:t>SPECIALITY =</a:t>
            </a:r>
            <a:r>
              <a:rPr lang="zh-CN" altLang="en-US" dirty="0"/>
              <a:t>｛计算机专业，信息专业｝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dirty="0"/>
              <a:t>D</a:t>
            </a:r>
            <a:r>
              <a:rPr lang="en-US" altLang="zh-CN" baseline="-25000" dirty="0"/>
              <a:t>3</a:t>
            </a:r>
            <a:r>
              <a:rPr lang="en-US" altLang="zh-CN" dirty="0"/>
              <a:t> = </a:t>
            </a:r>
            <a:r>
              <a:rPr lang="zh-CN" altLang="en-US" dirty="0"/>
              <a:t>研究生集合</a:t>
            </a:r>
            <a:r>
              <a:rPr lang="en-US" altLang="zh-CN" dirty="0"/>
              <a:t>POSTGRADUATE =</a:t>
            </a:r>
            <a:r>
              <a:rPr lang="zh-CN" altLang="en-US" dirty="0"/>
              <a:t>｛李勇，刘晨，王敏｝</a:t>
            </a:r>
          </a:p>
          <a:p>
            <a:pPr>
              <a:lnSpc>
                <a:spcPct val="100000"/>
              </a:lnSpc>
              <a:spcBef>
                <a:spcPts val="3000"/>
              </a:spcBef>
            </a:pP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D</a:t>
            </a:r>
            <a:r>
              <a:rPr lang="en-US" altLang="zh-CN" baseline="-25000" dirty="0">
                <a:latin typeface="Times New Roman" panose="02020603050405020304" pitchFamily="2" charset="0"/>
                <a:cs typeface="Times New Roman" panose="02020603050405020304" pitchFamily="2" charset="0"/>
              </a:rPr>
              <a:t>1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, D</a:t>
            </a:r>
            <a:r>
              <a:rPr lang="en-US" altLang="zh-CN" baseline="-25000" dirty="0">
                <a:latin typeface="Times New Roman" panose="02020603050405020304" pitchFamily="2" charset="0"/>
                <a:cs typeface="Times New Roman" panose="02020603050405020304" pitchFamily="2" charset="0"/>
              </a:rPr>
              <a:t>2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, D</a:t>
            </a:r>
            <a:r>
              <a:rPr lang="en-US" altLang="zh-CN" baseline="-25000" dirty="0">
                <a:latin typeface="Times New Roman" panose="02020603050405020304" pitchFamily="2" charset="0"/>
                <a:cs typeface="Times New Roman" panose="02020603050405020304" pitchFamily="2" charset="0"/>
              </a:rPr>
              <a:t>3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的笛卡尔积（其基数为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2×2×3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＝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12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）的集合表示法为</a:t>
            </a:r>
            <a:endParaRPr lang="en-US" altLang="zh-CN" dirty="0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marL="457200" lvl="1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D</a:t>
            </a:r>
            <a:r>
              <a:rPr lang="en-US" altLang="zh-CN" baseline="-25000" dirty="0">
                <a:latin typeface="Times New Roman" panose="02020603050405020304" pitchFamily="2" charset="0"/>
                <a:cs typeface="Times New Roman" panose="02020603050405020304" pitchFamily="2" charset="0"/>
              </a:rPr>
              <a:t>1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×D</a:t>
            </a:r>
            <a:r>
              <a:rPr lang="en-US" altLang="zh-CN" baseline="-25000" dirty="0">
                <a:latin typeface="Times New Roman" panose="02020603050405020304" pitchFamily="2" charset="0"/>
                <a:cs typeface="Times New Roman" panose="02020603050405020304" pitchFamily="2" charset="0"/>
              </a:rPr>
              <a:t>2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×D</a:t>
            </a:r>
            <a:r>
              <a:rPr lang="en-US" altLang="zh-CN" baseline="-25000" dirty="0">
                <a:latin typeface="Times New Roman" panose="02020603050405020304" pitchFamily="2" charset="0"/>
                <a:cs typeface="Times New Roman" panose="02020603050405020304" pitchFamily="2" charset="0"/>
              </a:rPr>
              <a:t>3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 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＝</a:t>
            </a:r>
          </a:p>
          <a:p>
            <a:pPr marL="457200" lvl="1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｛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(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张清玫, 计算机专业, 李勇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)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,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	(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张清玫, 计算机专业, 刘晨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)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, </a:t>
            </a:r>
          </a:p>
          <a:p>
            <a:pPr marL="457200" lvl="1" indent="447675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(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张清玫, 计算机专业, 王敏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)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,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	(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张清玫, 信息专业, 李勇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)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, </a:t>
            </a:r>
          </a:p>
          <a:p>
            <a:pPr marL="457200" lvl="1" indent="447675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(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张清玫, 信息专业, 刘晨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)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,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	(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张清玫, 信息专业, 王敏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)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, </a:t>
            </a:r>
          </a:p>
          <a:p>
            <a:pPr marL="457200" lvl="1" indent="447675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(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刘逸, 计算机专业, 李勇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)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,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	(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刘逸, 计算机专业, 刘晨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)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,  </a:t>
            </a:r>
          </a:p>
          <a:p>
            <a:pPr marL="457200" lvl="1" indent="447675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(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刘逸, 计算机专业, 王敏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)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,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	(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刘逸, 信息专业, 李勇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)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, </a:t>
            </a:r>
          </a:p>
          <a:p>
            <a:pPr marL="457200" lvl="1" indent="447675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(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刘逸, 信息专业, 刘晨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)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,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	(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刘逸, 信息专业, 王敏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) 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｝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笛卡尔积 </a:t>
            </a:r>
            <a:r>
              <a:rPr lang="en-US" altLang="zh-CN"/>
              <a:t>5 - </a:t>
            </a:r>
            <a:r>
              <a:rPr lang="zh-CN" altLang="en-US"/>
              <a:t>二维表表示</a:t>
            </a:r>
          </a:p>
        </p:txBody>
      </p:sp>
      <p:graphicFrame>
        <p:nvGraphicFramePr>
          <p:cNvPr id="5" name="表格 5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424180" y="687070"/>
          <a:ext cx="11343005" cy="5737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8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132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SUPERVISOR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2400" b="1">
                          <a:solidFill>
                            <a:srgbClr val="C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SPECIALITY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POSTGRADUATE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张清玫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计算机专业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李勇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张清玫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计算机专业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刘晨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张清玫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计算机专业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王敏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张清玫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信息专业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李勇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张清玫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信息专业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刘晨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张清玫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信息专业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王敏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刘逸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计算机专业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李勇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刘逸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计算机专业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刘晨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刘逸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计算机专业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王敏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刘逸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信息专业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李勇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刘逸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信息专业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刘晨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刘逸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信息专业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王敏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笛卡尔积 </a:t>
            </a:r>
            <a:r>
              <a:rPr lang="en-US" altLang="zh-CN" dirty="0"/>
              <a:t>6 - </a:t>
            </a:r>
            <a:r>
              <a:rPr lang="zh-CN" altLang="en-US" dirty="0"/>
              <a:t>思考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4180" y="687070"/>
            <a:ext cx="11343005" cy="2656840"/>
          </a:xfrm>
        </p:spPr>
        <p:txBody>
          <a:bodyPr>
            <a:noAutofit/>
          </a:bodyPr>
          <a:lstStyle/>
          <a:p>
            <a:r>
              <a:rPr lang="zh-CN" altLang="en-US" dirty="0"/>
              <a:t>例如，给出</a:t>
            </a:r>
            <a:r>
              <a:rPr lang="en-US" altLang="zh-CN" dirty="0"/>
              <a:t>3</a:t>
            </a:r>
            <a:r>
              <a:rPr lang="zh-CN" altLang="en-US" dirty="0"/>
              <a:t>个域：</a:t>
            </a:r>
          </a:p>
          <a:p>
            <a:pPr lvl="1"/>
            <a:r>
              <a:rPr lang="en-US" altLang="zh-CN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 = </a:t>
            </a:r>
            <a:r>
              <a:rPr lang="zh-CN" altLang="en-US" dirty="0"/>
              <a:t>导师集合</a:t>
            </a:r>
            <a:r>
              <a:rPr lang="en-US" altLang="zh-CN" dirty="0"/>
              <a:t>SUPERVISOR =</a:t>
            </a:r>
            <a:r>
              <a:rPr lang="zh-CN" altLang="en-US" dirty="0"/>
              <a:t>｛张清玫，刘逸｝</a:t>
            </a:r>
          </a:p>
          <a:p>
            <a:pPr lvl="1"/>
            <a:r>
              <a:rPr lang="en-US" altLang="zh-CN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 = </a:t>
            </a:r>
            <a:r>
              <a:rPr lang="zh-CN" altLang="en-US" dirty="0"/>
              <a:t>专业集合</a:t>
            </a:r>
            <a:r>
              <a:rPr lang="en-US" altLang="zh-CN" dirty="0"/>
              <a:t>SPECIALITY =</a:t>
            </a:r>
            <a:r>
              <a:rPr lang="zh-CN" altLang="en-US" dirty="0"/>
              <a:t>｛计算机专业，信息专业｝</a:t>
            </a:r>
          </a:p>
          <a:p>
            <a:pPr lvl="1"/>
            <a:r>
              <a:rPr lang="en-US" altLang="zh-CN" dirty="0"/>
              <a:t>D</a:t>
            </a:r>
            <a:r>
              <a:rPr lang="en-US" altLang="zh-CN" baseline="-25000" dirty="0"/>
              <a:t>3</a:t>
            </a:r>
            <a:r>
              <a:rPr lang="en-US" altLang="zh-CN" dirty="0"/>
              <a:t> = </a:t>
            </a:r>
            <a:r>
              <a:rPr lang="zh-CN" altLang="en-US" dirty="0"/>
              <a:t>研究生集合</a:t>
            </a:r>
            <a:r>
              <a:rPr lang="en-US" altLang="zh-CN" dirty="0"/>
              <a:t>POSTGRADUATE =</a:t>
            </a:r>
            <a:r>
              <a:rPr lang="zh-CN" altLang="en-US" dirty="0"/>
              <a:t>｛李勇，刘晨，王敏｝</a:t>
            </a:r>
          </a:p>
          <a:p>
            <a:pPr marL="0" indent="492760">
              <a:buNone/>
            </a:pP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D</a:t>
            </a:r>
            <a:r>
              <a:rPr lang="en-US" altLang="zh-CN" baseline="-25000" dirty="0">
                <a:latin typeface="Times New Roman" panose="02020603050405020304" pitchFamily="2" charset="0"/>
                <a:cs typeface="Times New Roman" panose="02020603050405020304" pitchFamily="2" charset="0"/>
              </a:rPr>
              <a:t>1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, D</a:t>
            </a:r>
            <a:r>
              <a:rPr lang="en-US" altLang="zh-CN" baseline="-25000" dirty="0">
                <a:latin typeface="Times New Roman" panose="02020603050405020304" pitchFamily="2" charset="0"/>
                <a:cs typeface="Times New Roman" panose="02020603050405020304" pitchFamily="2" charset="0"/>
              </a:rPr>
              <a:t>2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, D</a:t>
            </a:r>
            <a:r>
              <a:rPr lang="en-US" altLang="zh-CN" baseline="-25000" dirty="0">
                <a:latin typeface="Times New Roman" panose="02020603050405020304" pitchFamily="2" charset="0"/>
                <a:cs typeface="Times New Roman" panose="02020603050405020304" pitchFamily="2" charset="0"/>
              </a:rPr>
              <a:t>3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的笛卡尔积可表示为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  D</a:t>
            </a:r>
            <a:r>
              <a:rPr lang="en-US" altLang="zh-CN" baseline="-25000" dirty="0">
                <a:latin typeface="Times New Roman" panose="02020603050405020304" pitchFamily="2" charset="0"/>
                <a:cs typeface="Times New Roman" panose="02020603050405020304" pitchFamily="2" charset="0"/>
              </a:rPr>
              <a:t>1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×D</a:t>
            </a:r>
            <a:r>
              <a:rPr lang="en-US" altLang="zh-CN" baseline="-25000" dirty="0">
                <a:latin typeface="Times New Roman" panose="02020603050405020304" pitchFamily="2" charset="0"/>
                <a:cs typeface="Times New Roman" panose="02020603050405020304" pitchFamily="2" charset="0"/>
              </a:rPr>
              <a:t>2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×D</a:t>
            </a:r>
            <a:r>
              <a:rPr lang="en-US" altLang="zh-CN" baseline="-25000" dirty="0">
                <a:latin typeface="Times New Roman" panose="02020603050405020304" pitchFamily="2" charset="0"/>
                <a:cs typeface="Times New Roman" panose="02020603050405020304" pitchFamily="2" charset="0"/>
              </a:rPr>
              <a:t>3</a:t>
            </a:r>
            <a:endParaRPr lang="zh-CN" altLang="en-US" dirty="0">
              <a:latin typeface="Times New Roman" panose="02020603050405020304" pitchFamily="2" charset="0"/>
              <a:cs typeface="Times New Roman" panose="020206030504050203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424180" y="3890645"/>
            <a:ext cx="11343005" cy="205994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q"/>
              <a:defRPr sz="30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Ø"/>
              <a:defRPr sz="28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Arial" panose="020B0604020202020204" pitchFamily="34" charset="0"/>
              <a:buChar char="●"/>
              <a:defRPr sz="28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Arial" panose="020B0604020202020204" pitchFamily="34" charset="0"/>
              <a:buChar char="‒"/>
              <a:defRPr sz="28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"/>
              <a:defRPr sz="28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思考：</a:t>
            </a:r>
          </a:p>
          <a:p>
            <a:pPr marL="971550" lvl="1" indent="-514350">
              <a:lnSpc>
                <a:spcPct val="110000"/>
              </a:lnSpc>
              <a:spcBef>
                <a:spcPts val="2000"/>
              </a:spcBef>
              <a:buFont typeface="+mj-lt"/>
              <a:buAutoNum type="arabicPeriod"/>
            </a:pP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在上述笛卡尔积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 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D</a:t>
            </a:r>
            <a:r>
              <a:rPr lang="en-US" altLang="zh-CN" baseline="-25000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1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×D</a:t>
            </a:r>
            <a:r>
              <a:rPr lang="en-US" altLang="zh-CN" baseline="-25000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2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×D</a:t>
            </a:r>
            <a:r>
              <a:rPr lang="en-US" altLang="zh-CN" baseline="-25000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3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 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中，是否存在相同的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 ‘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域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’ 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？</a:t>
            </a:r>
          </a:p>
          <a:p>
            <a:pPr marL="971550" lvl="1" indent="-514350">
              <a:lnSpc>
                <a:spcPct val="110000"/>
              </a:lnSpc>
              <a:spcBef>
                <a:spcPts val="2000"/>
              </a:spcBef>
              <a:buFont typeface="+mj-lt"/>
              <a:buAutoNum type="arabicPeriod"/>
            </a:pP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请给出一个笛卡尔积的例子，其中使用到了相同的域。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关系 </a:t>
            </a:r>
            <a:r>
              <a:rPr lang="en-US" altLang="zh-CN"/>
              <a:t>1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55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 fontAlgn="auto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altLang="zh-CN" sz="2800" dirty="0">
                    <a:solidFill>
                      <a:srgbClr val="FF0000"/>
                    </a:solidFill>
                    <a:sym typeface="+mn-ea"/>
                  </a:rPr>
                  <a:t>[</a:t>
                </a:r>
                <a:r>
                  <a:rPr lang="zh-CN" altLang="en-US" sz="2800" dirty="0">
                    <a:solidFill>
                      <a:srgbClr val="FF0000"/>
                    </a:solidFill>
                    <a:sym typeface="+mn-ea"/>
                  </a:rPr>
                  <a:t>定义</a:t>
                </a:r>
                <a:r>
                  <a:rPr lang="en-US" altLang="zh-CN" sz="2800" dirty="0">
                    <a:solidFill>
                      <a:srgbClr val="FF0000"/>
                    </a:solidFill>
                    <a:sym typeface="+mn-ea"/>
                  </a:rPr>
                  <a:t>2.3] </a:t>
                </a:r>
                <a:r>
                  <a:rPr lang="zh-CN" altLang="en-US" sz="2800" kern="0" dirty="0">
                    <a:solidFill>
                      <a:srgbClr val="FF0000"/>
                    </a:solidFill>
                    <a:latin typeface="+mn-lt"/>
                    <a:ea typeface="+mn-ea"/>
                  </a:rPr>
                  <a:t>关系</a:t>
                </a:r>
                <a:r>
                  <a:rPr lang="zh-CN" altLang="en-US" sz="2800" dirty="0"/>
                  <a:t>（</a:t>
                </a:r>
                <a:r>
                  <a:rPr lang="en-US" altLang="zh-CN" sz="2800" dirty="0"/>
                  <a:t>Relation</a:t>
                </a:r>
                <a:r>
                  <a:rPr lang="zh-CN" altLang="en-US" sz="2800" dirty="0"/>
                  <a:t>）</a:t>
                </a:r>
                <a:endParaRPr lang="en-US" altLang="zh-CN" sz="2800" dirty="0"/>
              </a:p>
              <a:p>
                <a:pPr lvl="1" fontAlgn="auto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zh-CN" altLang="en-US" sz="2800" dirty="0"/>
                  <a:t>给定一个域的序列</a:t>
                </a:r>
                <a14:m>
                  <m:oMath xmlns:m="http://schemas.openxmlformats.org/officeDocument/2006/math">
                    <m:r>
                      <a:rPr lang="en-US" altLang="zh-CN" dirty="0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b="1" i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𝑫</m:t>
                    </m:r>
                    <m:r>
                      <a:rPr lang="en-US" altLang="zh-CN" b="1" kern="0" baseline="-2500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𝟏</m:t>
                    </m:r>
                    <m:r>
                      <a:rPr lang="en-US" altLang="zh-CN" b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, </m:t>
                    </m:r>
                    <m:r>
                      <a:rPr lang="en-US" altLang="zh-CN" b="1" i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𝑫</m:t>
                    </m:r>
                    <m:r>
                      <a:rPr lang="en-US" altLang="zh-CN" b="1" kern="0" baseline="-2500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𝟐</m:t>
                    </m:r>
                    <m:r>
                      <a:rPr lang="en-US" altLang="zh-CN" b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, …, </m:t>
                    </m:r>
                    <m:r>
                      <a:rPr lang="en-US" altLang="zh-CN" b="1" i="1" kern="0" dirty="0" err="1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𝑫</m:t>
                    </m:r>
                    <m:r>
                      <a:rPr lang="en-US" altLang="zh-CN" b="1" i="1" kern="0" baseline="-25000" dirty="0" err="1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𝒏</m:t>
                    </m:r>
                    <m:r>
                      <a:rPr lang="en-US" altLang="zh-CN" b="1" i="1" kern="0" dirty="0" err="1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en-US" altLang="zh-CN" sz="2800" dirty="0"/>
                  <a:t>(</a:t>
                </a:r>
                <a:r>
                  <a:rPr lang="zh-CN" altLang="en-US" sz="2800" dirty="0"/>
                  <a:t>其中可能存在相同的域</a:t>
                </a:r>
                <a:r>
                  <a:rPr lang="en-US" altLang="zh-CN" sz="2800" dirty="0"/>
                  <a:t>)</a:t>
                </a:r>
                <a:r>
                  <a:rPr lang="zh-CN" altLang="en-US" sz="2800" dirty="0"/>
                  <a:t>，笛卡尔积</a:t>
                </a:r>
                <a14:m>
                  <m:oMath xmlns:m="http://schemas.openxmlformats.org/officeDocument/2006/math">
                    <m:r>
                      <a:rPr lang="en-US" altLang="zh-CN" sz="2800" b="1" dirty="0">
                        <a:latin typeface="Cambria Math" panose="02040503050406030204" charset="0"/>
                      </a:rPr>
                      <m:t> </m:t>
                    </m:r>
                    <m:r>
                      <a:rPr lang="zh-CN" altLang="en-US" sz="2800" b="1" dirty="0">
                        <a:latin typeface="Cambria Math" panose="02040503050406030204" charset="0"/>
                      </a:rPr>
                      <m:t>𝑫</m:t>
                    </m:r>
                    <m:r>
                      <a:rPr lang="en-US" altLang="zh-CN" sz="2800" b="1" kern="0" baseline="-2500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𝟏</m:t>
                    </m:r>
                    <m:r>
                      <a:rPr lang="en-US" altLang="zh-CN" sz="2800" b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×</m:t>
                    </m:r>
                    <m:r>
                      <a:rPr lang="en-US" altLang="zh-CN" sz="2800" b="1" i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𝑫</m:t>
                    </m:r>
                    <m:r>
                      <a:rPr lang="en-US" altLang="zh-CN" sz="2800" b="1" kern="0" baseline="-2500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𝟐</m:t>
                    </m:r>
                    <m:r>
                      <a:rPr lang="en-US" altLang="zh-CN" sz="2800" b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×…×</m:t>
                    </m:r>
                    <m:r>
                      <a:rPr lang="en-US" altLang="zh-CN" sz="2800" b="1" i="1" kern="0" dirty="0" err="1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𝑫</m:t>
                    </m:r>
                    <m:r>
                      <a:rPr lang="en-US" altLang="zh-CN" sz="2800" b="1" i="1" kern="0" baseline="-25000" dirty="0" err="1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𝒏</m:t>
                    </m:r>
                    <m:r>
                      <a:rPr lang="en-US" altLang="zh-CN" sz="2800" b="1" i="1" kern="0" dirty="0" err="1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2800" dirty="0"/>
                  <a:t>的子集叫做在域</a:t>
                </a:r>
                <a14:m>
                  <m:oMath xmlns:m="http://schemas.openxmlformats.org/officeDocument/2006/math">
                    <m:r>
                      <a:rPr lang="en-US" altLang="zh-CN" sz="2800" dirty="0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2800" b="1" i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𝑫</m:t>
                    </m:r>
                    <m:r>
                      <a:rPr lang="en-US" altLang="zh-CN" sz="2800" b="1" kern="0" baseline="-2500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𝟏</m:t>
                    </m:r>
                    <m:r>
                      <a:rPr lang="en-US" altLang="zh-CN" sz="2800" b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, </m:t>
                    </m:r>
                    <m:r>
                      <a:rPr lang="en-US" altLang="zh-CN" sz="2800" b="1" i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𝑫</m:t>
                    </m:r>
                    <m:r>
                      <a:rPr lang="en-US" altLang="zh-CN" sz="2800" b="1" kern="0" baseline="-2500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𝟐</m:t>
                    </m:r>
                    <m:r>
                      <a:rPr lang="en-US" altLang="zh-CN" b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, </m:t>
                    </m:r>
                    <m:r>
                      <a:rPr lang="en-US" altLang="zh-CN" sz="2800" b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…</m:t>
                    </m:r>
                    <m:r>
                      <a:rPr lang="en-US" altLang="zh-CN" b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, </m:t>
                    </m:r>
                    <m:r>
                      <a:rPr lang="en-US" altLang="zh-CN" sz="2800" b="1" i="1" kern="0" dirty="0" err="1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𝑫</m:t>
                    </m:r>
                    <m:r>
                      <a:rPr lang="en-US" altLang="zh-CN" sz="2800" b="1" i="1" kern="0" baseline="-25000" dirty="0" err="1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𝒏</m:t>
                    </m:r>
                    <m:r>
                      <a:rPr lang="en-US" altLang="zh-CN" sz="2800" b="1" i="1" kern="0" dirty="0" err="1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2800" dirty="0"/>
                  <a:t>上的关系，表示为</a:t>
                </a:r>
                <a14:m>
                  <m:oMath xmlns:m="http://schemas.openxmlformats.org/officeDocument/2006/math">
                    <m:r>
                      <a:rPr lang="en-US" altLang="zh-CN" sz="2800" dirty="0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2800" b="1" i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𝑹</m:t>
                    </m:r>
                    <m:r>
                      <a:rPr lang="en-US" altLang="zh-CN" sz="2800" b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800" b="1" i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𝑫</m:t>
                    </m:r>
                    <m:r>
                      <a:rPr lang="en-US" altLang="zh-CN" sz="2800" b="1" kern="0" baseline="-2500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𝟏</m:t>
                    </m:r>
                    <m:r>
                      <a:rPr lang="en-US" altLang="zh-CN" sz="2800" b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, </m:t>
                    </m:r>
                    <m:r>
                      <a:rPr lang="en-US" altLang="zh-CN" sz="2800" b="1" i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𝑫</m:t>
                    </m:r>
                    <m:r>
                      <a:rPr lang="en-US" altLang="zh-CN" sz="2800" b="1" kern="0" baseline="-2500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𝟐</m:t>
                    </m:r>
                    <m:r>
                      <a:rPr lang="en-US" altLang="zh-CN" b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, </m:t>
                    </m:r>
                    <m:r>
                      <a:rPr lang="en-US" altLang="zh-CN" sz="2800" b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…</m:t>
                    </m:r>
                    <m:r>
                      <a:rPr lang="en-US" altLang="zh-CN" b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, </m:t>
                    </m:r>
                    <m:r>
                      <a:rPr lang="en-US" altLang="zh-CN" sz="2800" b="1" i="1" kern="0" dirty="0" err="1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𝑫</m:t>
                    </m:r>
                    <m:r>
                      <a:rPr lang="en-US" altLang="zh-CN" sz="2800" b="1" i="1" kern="0" baseline="-25000" dirty="0" err="1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𝒏</m:t>
                    </m:r>
                    <m:r>
                      <a:rPr lang="en-US" altLang="zh-CN" sz="2800" b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) </m:t>
                    </m:r>
                  </m:oMath>
                </a14:m>
                <a:r>
                  <a:rPr lang="en-US" altLang="zh-CN" sz="2800" b="1" kern="0" dirty="0">
                    <a:latin typeface="Cambria Math" panose="02040503050406030204" charset="0"/>
                    <a:ea typeface="+mn-ea"/>
                    <a:cs typeface="Cambria Math" panose="02040503050406030204" charset="0"/>
                  </a:rPr>
                  <a:t>  </a:t>
                </a:r>
                <a:r>
                  <a:rPr lang="zh-CN" altLang="en-US" sz="2800" b="1" dirty="0">
                    <a:solidFill>
                      <a:schemeClr val="tx1"/>
                    </a:solidFill>
                  </a:rPr>
                  <a:t>（</a:t>
                </a:r>
                <a:r>
                  <a:rPr lang="zh-CN" altLang="en-US" sz="2800" b="1" i="1" dirty="0">
                    <a:solidFill>
                      <a:schemeClr val="tx1"/>
                    </a:solidFill>
                  </a:rPr>
                  <a:t>或简写为关系R</a:t>
                </a:r>
                <a:r>
                  <a:rPr lang="zh-CN" altLang="en-US" sz="2800" b="1" dirty="0">
                    <a:solidFill>
                      <a:schemeClr val="tx1"/>
                    </a:solidFill>
                  </a:rPr>
                  <a:t>）</a:t>
                </a:r>
                <a:endParaRPr lang="zh-CN" altLang="en-US" sz="2800" b="1" kern="0" dirty="0">
                  <a:latin typeface="Cambria Math" panose="02040503050406030204" charset="0"/>
                  <a:ea typeface="+mn-ea"/>
                  <a:cs typeface="Cambria Math" panose="02040503050406030204" charset="0"/>
                </a:endParaRPr>
              </a:p>
              <a:p>
                <a:pPr lvl="1" fontAlgn="auto">
                  <a:lnSpc>
                    <a:spcPct val="100000"/>
                  </a:lnSpc>
                  <a:spcBef>
                    <a:spcPts val="1600"/>
                  </a:spcBef>
                </a:pPr>
                <a:r>
                  <a:rPr lang="zh-CN" altLang="en-US" sz="2800" dirty="0"/>
                  <a:t>其中：</a:t>
                </a:r>
                <a:endParaRPr lang="en-US" altLang="zh-CN" sz="2800" dirty="0"/>
              </a:p>
              <a:p>
                <a:pPr lvl="2" fontAlgn="auto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altLang="zh-CN" sz="2800" b="1" i="1" kern="0" dirty="0">
                    <a:latin typeface="+mn-lt"/>
                    <a:ea typeface="+mn-ea"/>
                  </a:rPr>
                  <a:t>R </a:t>
                </a:r>
                <a:r>
                  <a:rPr lang="zh-CN" altLang="en-US" sz="2800" dirty="0"/>
                  <a:t>是关系名，用于区分不同的关系</a:t>
                </a:r>
                <a:endParaRPr lang="en-US" altLang="zh-CN" sz="2800" dirty="0"/>
              </a:p>
              <a:p>
                <a:pPr lvl="2" fontAlgn="auto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altLang="zh-CN" sz="2800" b="1" i="1" kern="0" dirty="0">
                    <a:latin typeface="+mn-lt"/>
                    <a:ea typeface="+mn-ea"/>
                  </a:rPr>
                  <a:t>n </a:t>
                </a:r>
                <a:r>
                  <a:rPr lang="zh-CN" altLang="en-US" sz="2800" dirty="0"/>
                  <a:t>是关系的</a:t>
                </a:r>
                <a:r>
                  <a:rPr lang="en-US" altLang="zh-CN" sz="2800" dirty="0"/>
                  <a:t> </a:t>
                </a:r>
                <a:r>
                  <a:rPr lang="en-US" altLang="zh-CN" sz="2800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‘</a:t>
                </a:r>
                <a:r>
                  <a:rPr lang="zh-CN" altLang="en-US" sz="2800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目</a:t>
                </a:r>
                <a:r>
                  <a:rPr lang="en-US" altLang="zh-CN" sz="2800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’ </a:t>
                </a:r>
                <a:r>
                  <a:rPr lang="zh-CN" altLang="en-US" sz="2800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或</a:t>
                </a:r>
                <a:r>
                  <a:rPr lang="en-US" altLang="zh-CN" sz="2800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 ‘</a:t>
                </a:r>
                <a:r>
                  <a:rPr lang="zh-CN" altLang="en-US" sz="2800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度</a:t>
                </a:r>
                <a:r>
                  <a:rPr lang="en-US" altLang="zh-CN" sz="2800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’</a:t>
                </a:r>
                <a:r>
                  <a:rPr lang="zh-CN" altLang="en-US" sz="2800" dirty="0"/>
                  <a:t>（</a:t>
                </a:r>
                <a:r>
                  <a:rPr lang="en-US" altLang="zh-CN" sz="2800" dirty="0"/>
                  <a:t>Degree</a:t>
                </a:r>
                <a:r>
                  <a:rPr lang="zh-CN" altLang="en-US" sz="2800" dirty="0"/>
                  <a:t>）</a:t>
                </a:r>
                <a:endParaRPr lang="en-US" altLang="zh-CN" sz="2800" dirty="0"/>
              </a:p>
              <a:p>
                <a:pPr lvl="3" fontAlgn="auto">
                  <a:lnSpc>
                    <a:spcPct val="100000"/>
                  </a:lnSpc>
                </a:pPr>
                <a:r>
                  <a:rPr lang="zh-CN" altLang="en-US" sz="2800" dirty="0"/>
                  <a:t>当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sz="2800" dirty="0">
                        <a:latin typeface="Cambria Math" panose="02040503050406030204" charset="0"/>
                        <a:cs typeface="Cambria Math" panose="02040503050406030204" charset="0"/>
                      </a:rPr>
                      <m:t>=1</m:t>
                    </m:r>
                  </m:oMath>
                </a14:m>
                <a:r>
                  <a:rPr lang="zh-CN" altLang="en-US" sz="2800" dirty="0"/>
                  <a:t>时，称该关系为</a:t>
                </a:r>
                <a:r>
                  <a:rPr lang="zh-CN" altLang="en-US" sz="2800" dirty="0">
                    <a:solidFill>
                      <a:srgbClr val="FF0000"/>
                    </a:solidFill>
                    <a:ea typeface="黑体" panose="02010609060101010101" pitchFamily="49" charset="-122"/>
                  </a:rPr>
                  <a:t>单元</a:t>
                </a:r>
                <a:r>
                  <a:rPr lang="zh-CN" altLang="en-US" sz="2800" dirty="0"/>
                  <a:t>关系</a:t>
                </a:r>
                <a:r>
                  <a:rPr lang="en-US" altLang="zh-CN" sz="2800" dirty="0"/>
                  <a:t>(</a:t>
                </a:r>
                <a:r>
                  <a:rPr lang="en-US" altLang="zh-CN" sz="2800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Unary relation</a:t>
                </a:r>
                <a:r>
                  <a:rPr lang="en-US" altLang="zh-CN" sz="2800" dirty="0"/>
                  <a:t>)</a:t>
                </a:r>
                <a:r>
                  <a:rPr lang="zh-CN" altLang="en-US" sz="2800" dirty="0"/>
                  <a:t>或</a:t>
                </a:r>
                <a:r>
                  <a:rPr lang="zh-CN" altLang="en-US" sz="2800" dirty="0">
                    <a:solidFill>
                      <a:srgbClr val="FF0000"/>
                    </a:solidFill>
                    <a:ea typeface="黑体" panose="02010609060101010101" pitchFamily="49" charset="-122"/>
                  </a:rPr>
                  <a:t>一元</a:t>
                </a:r>
                <a:r>
                  <a:rPr lang="zh-CN" altLang="en-US" sz="2800" dirty="0"/>
                  <a:t>关系</a:t>
                </a:r>
              </a:p>
              <a:p>
                <a:pPr lvl="3" fontAlgn="auto">
                  <a:lnSpc>
                    <a:spcPct val="100000"/>
                  </a:lnSpc>
                </a:pPr>
                <a:r>
                  <a:rPr lang="zh-CN" altLang="en-US" sz="2800" dirty="0"/>
                  <a:t>当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sz="2800" dirty="0">
                        <a:latin typeface="Cambria Math" panose="02040503050406030204" charset="0"/>
                        <a:cs typeface="Cambria Math" panose="02040503050406030204" charset="0"/>
                      </a:rPr>
                      <m:t>=2</m:t>
                    </m:r>
                  </m:oMath>
                </a14:m>
                <a:r>
                  <a:rPr lang="zh-CN" altLang="en-US" sz="2800" dirty="0"/>
                  <a:t>时，称该关系为</a:t>
                </a:r>
                <a:r>
                  <a:rPr lang="zh-CN" altLang="en-US" sz="2800" dirty="0">
                    <a:solidFill>
                      <a:srgbClr val="FF0000"/>
                    </a:solidFill>
                    <a:ea typeface="黑体" panose="02010609060101010101" pitchFamily="49" charset="-122"/>
                  </a:rPr>
                  <a:t>二元</a:t>
                </a:r>
                <a:r>
                  <a:rPr lang="zh-CN" altLang="en-US" sz="2800" dirty="0"/>
                  <a:t>关系</a:t>
                </a:r>
                <a:r>
                  <a:rPr lang="en-US" altLang="zh-CN" sz="2800" dirty="0"/>
                  <a:t>(</a:t>
                </a:r>
                <a:r>
                  <a:rPr lang="en-US" altLang="zh-CN" sz="2800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Binary relation</a:t>
                </a:r>
                <a:r>
                  <a:rPr lang="en-US" altLang="zh-CN" sz="2800" dirty="0"/>
                  <a:t>)</a:t>
                </a:r>
              </a:p>
              <a:p>
                <a:pPr lvl="3" fontAlgn="auto">
                  <a:lnSpc>
                    <a:spcPct val="100000"/>
                  </a:lnSpc>
                </a:pPr>
                <a:r>
                  <a:rPr lang="zh-CN" altLang="en-US" sz="2800" dirty="0"/>
                  <a:t>当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sz="2800" i="1" dirty="0">
                        <a:latin typeface="Cambria Math" panose="02040503050406030204" charset="0"/>
                        <a:cs typeface="Cambria Math" panose="02040503050406030204" charset="0"/>
                      </a:rPr>
                      <m:t>&gt;2</m:t>
                    </m:r>
                  </m:oMath>
                </a14:m>
                <a:r>
                  <a:rPr lang="zh-CN" altLang="en-US" sz="2800" dirty="0"/>
                  <a:t>时，称该关系为</a:t>
                </a:r>
                <a:r>
                  <a:rPr lang="zh-CN" altLang="en-US" sz="2800" dirty="0">
                    <a:solidFill>
                      <a:srgbClr val="FF0000"/>
                    </a:solidFill>
                    <a:ea typeface="黑体" panose="02010609060101010101" pitchFamily="49" charset="-122"/>
                  </a:rPr>
                  <a:t>n元</a:t>
                </a:r>
                <a:r>
                  <a:rPr lang="zh-CN" altLang="en-US" sz="2800" dirty="0"/>
                  <a:t>关系</a:t>
                </a:r>
                <a:r>
                  <a:rPr lang="en-US" altLang="zh-CN" sz="2800" dirty="0"/>
                  <a:t> </a:t>
                </a:r>
                <a:r>
                  <a:rPr lang="zh-CN" altLang="en-US" sz="2800" dirty="0"/>
                  <a:t>或</a:t>
                </a:r>
                <a:r>
                  <a:rPr lang="en-US" altLang="zh-CN" sz="2800" dirty="0"/>
                  <a:t> </a:t>
                </a:r>
                <a:r>
                  <a:rPr lang="zh-CN" altLang="en-US" sz="2800" dirty="0">
                    <a:solidFill>
                      <a:srgbClr val="FF0000"/>
                    </a:solidFill>
                    <a:ea typeface="黑体" panose="02010609060101010101" pitchFamily="49" charset="-122"/>
                  </a:rPr>
                  <a:t>多元</a:t>
                </a:r>
                <a:r>
                  <a:rPr lang="zh-CN" altLang="en-US" sz="2800" dirty="0"/>
                  <a:t>关系</a:t>
                </a:r>
              </a:p>
              <a:p>
                <a:pPr lvl="1" fontAlgn="auto">
                  <a:lnSpc>
                    <a:spcPct val="100000"/>
                  </a:lnSpc>
                  <a:spcBef>
                    <a:spcPts val="1600"/>
                  </a:spcBef>
                </a:pPr>
                <a:r>
                  <a:rPr lang="zh-CN" altLang="en-US" sz="2800" dirty="0"/>
                  <a:t>因此，</a:t>
                </a:r>
                <a:r>
                  <a:rPr lang="zh-CN" altLang="en-US" dirty="0">
                    <a:sym typeface="+mn-ea"/>
                  </a:rPr>
                  <a:t>在域</a:t>
                </a:r>
                <a14:m>
                  <m:oMath xmlns:m="http://schemas.openxmlformats.org/officeDocument/2006/math">
                    <m:r>
                      <a:rPr lang="en-US" altLang="zh-CN" dirty="0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b="1" i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𝑫</m:t>
                    </m:r>
                    <m:r>
                      <a:rPr lang="en-US" altLang="zh-CN" b="1" kern="0" baseline="-2500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𝟏</m:t>
                    </m:r>
                    <m:r>
                      <a:rPr lang="en-US" altLang="zh-CN" b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, </m:t>
                    </m:r>
                    <m:r>
                      <a:rPr lang="en-US" altLang="zh-CN" b="1" i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𝑫</m:t>
                    </m:r>
                    <m:r>
                      <a:rPr lang="en-US" altLang="zh-CN" b="1" kern="0" baseline="-2500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𝟐</m:t>
                    </m:r>
                    <m:r>
                      <a:rPr lang="en-US" altLang="zh-CN" b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, …, </m:t>
                    </m:r>
                    <m:r>
                      <a:rPr lang="en-US" altLang="zh-CN" b="1" i="1" kern="0" dirty="0" err="1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𝑫</m:t>
                    </m:r>
                    <m:r>
                      <a:rPr lang="en-US" altLang="zh-CN" b="1" i="1" kern="0" baseline="-25000" dirty="0" err="1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𝒏</m:t>
                    </m:r>
                    <m:r>
                      <a:rPr lang="en-US" altLang="zh-CN" b="1" i="1" kern="0" dirty="0" err="1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dirty="0">
                    <a:sym typeface="+mn-ea"/>
                  </a:rPr>
                  <a:t>上的关系</a:t>
                </a:r>
                <a:r>
                  <a:rPr lang="en-US" altLang="zh-CN" dirty="0">
                    <a:sym typeface="+mn-ea"/>
                  </a:rPr>
                  <a:t>R</a:t>
                </a:r>
                <a:r>
                  <a:rPr lang="zh-CN" altLang="en-US" sz="2800" dirty="0"/>
                  <a:t>也是一个</a:t>
                </a:r>
                <a:r>
                  <a:rPr lang="en-US" altLang="zh-CN" sz="2800" dirty="0"/>
                  <a:t>n</a:t>
                </a:r>
                <a:r>
                  <a:rPr lang="zh-CN" altLang="en-US" sz="2800" dirty="0"/>
                  <a:t>元有序组的集合，并且是其笛卡尔积的一个子集：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C0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𝑹</m:t>
                    </m:r>
                    <m:r>
                      <a:rPr lang="en-US" altLang="zh-CN" sz="2800" i="1" dirty="0">
                        <a:solidFill>
                          <a:srgbClr val="C0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2800" b="1" i="1" dirty="0">
                        <a:solidFill>
                          <a:srgbClr val="C0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⊆ </m:t>
                    </m:r>
                    <m:sSub>
                      <m:sSubPr>
                        <m:ctrlPr>
                          <a:rPr lang="en-US" altLang="zh-CN" sz="28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800" b="1" i="1" dirty="0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𝑫</m:t>
                        </m:r>
                      </m:e>
                      <m:sub>
                        <m:r>
                          <a:rPr lang="en-US" altLang="zh-CN" sz="2800" b="1" i="1" dirty="0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 dirty="0">
                        <a:solidFill>
                          <a:srgbClr val="C0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sSub>
                      <m:sSubPr>
                        <m:ctrlPr>
                          <a:rPr lang="en-US" altLang="zh-CN" sz="28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800" b="1" i="1" dirty="0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𝑫</m:t>
                        </m:r>
                      </m:e>
                      <m:sub>
                        <m:r>
                          <a:rPr lang="en-US" altLang="zh-CN" sz="2800" b="1" i="1" dirty="0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 dirty="0">
                        <a:solidFill>
                          <a:srgbClr val="C0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×⋯×</m:t>
                    </m:r>
                    <m:sSub>
                      <m:sSubPr>
                        <m:ctrlPr>
                          <a:rPr lang="en-US" altLang="zh-CN" sz="28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800" b="1" i="1" dirty="0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𝑫</m:t>
                        </m:r>
                      </m:e>
                      <m:sub>
                        <m:r>
                          <a:rPr lang="en-US" altLang="zh-CN" sz="2800" b="1" i="1" dirty="0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altLang="zh-CN" sz="2800" b="1" i="1" dirty="0">
                  <a:solidFill>
                    <a:srgbClr val="C0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3555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 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fontAlgn="auto">
              <a:lnSpc>
                <a:spcPct val="100000"/>
              </a:lnSpc>
              <a:spcBef>
                <a:spcPts val="1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属性</a:t>
            </a:r>
            <a:r>
              <a:rPr lang="zh-CN" altLang="en-US" sz="3000" dirty="0">
                <a:sym typeface="+mn-ea"/>
              </a:rPr>
              <a:t>（</a:t>
            </a:r>
            <a:r>
              <a:rPr lang="en-US" altLang="zh-CN" sz="3000" dirty="0">
                <a:sym typeface="+mn-ea"/>
              </a:rPr>
              <a:t>Attribute</a:t>
            </a:r>
            <a:r>
              <a:rPr lang="zh-CN" altLang="en-US" sz="3000" dirty="0">
                <a:sym typeface="+mn-ea"/>
              </a:rPr>
              <a:t>）</a:t>
            </a:r>
            <a:endParaRPr lang="zh-CN" altLang="en-US" dirty="0"/>
          </a:p>
          <a:p>
            <a:pPr lvl="1" fontAlgn="auto">
              <a:lnSpc>
                <a:spcPct val="100000"/>
              </a:lnSpc>
              <a:spcBef>
                <a:spcPts val="1000"/>
              </a:spcBef>
            </a:pP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关系也可以被表示为一张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‘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二维表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’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，表中的每一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‘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行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’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（不包括第一行）对应关系中的一个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‘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元组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’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，表中的每一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‘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列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’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对应一个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‘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域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’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。</a:t>
            </a:r>
          </a:p>
          <a:p>
            <a:pPr lvl="1" fontAlgn="auto">
              <a:lnSpc>
                <a:spcPct val="100000"/>
              </a:lnSpc>
              <a:spcBef>
                <a:spcPts val="1500"/>
              </a:spcBef>
            </a:pP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在一个关系中，不同列可以对应相同的域。为了加以区分，关系所对应的二维表中的每一列，被称为是该关系中的一个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‘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属性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’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。</a:t>
            </a:r>
          </a:p>
          <a:p>
            <a:pPr lvl="1" fontAlgn="auto">
              <a:lnSpc>
                <a:spcPct val="100000"/>
              </a:lnSpc>
              <a:spcBef>
                <a:spcPts val="1500"/>
              </a:spcBef>
            </a:pP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关系中的每一个属性都有一个名字，称为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‘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属性名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’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。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在同一个关系中，属性名互不相同。</a:t>
            </a:r>
            <a:endParaRPr lang="zh-CN" altLang="en-US" dirty="0">
              <a:latin typeface="Times New Roman" panose="02020603050405020304" pitchFamily="2" charset="0"/>
              <a:cs typeface="Times New Roman" panose="02020603050405020304" pitchFamily="2" charset="0"/>
              <a:sym typeface="+mn-ea"/>
            </a:endParaRPr>
          </a:p>
          <a:p>
            <a:pPr lvl="1" fontAlgn="auto">
              <a:lnSpc>
                <a:spcPct val="100000"/>
              </a:lnSpc>
              <a:spcBef>
                <a:spcPts val="1500"/>
              </a:spcBef>
            </a:pP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在关系对应的二维表中，表中的第一行被称为是二维表的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‘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表头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’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，里面填写的是各个属性的属性名。除第一行表头外，其他的每一行都是关系中的一个元组。</a:t>
            </a:r>
          </a:p>
          <a:p>
            <a:pPr lvl="1" fontAlgn="auto">
              <a:lnSpc>
                <a:spcPct val="100000"/>
              </a:lnSpc>
              <a:spcBef>
                <a:spcPts val="1500"/>
              </a:spcBef>
            </a:pPr>
            <a:r>
              <a:rPr lang="en-US" altLang="zh-CN" i="1" dirty="0">
                <a:sym typeface="+mn-ea"/>
              </a:rPr>
              <a:t>n</a:t>
            </a:r>
            <a:r>
              <a:rPr lang="zh-CN" altLang="en-US" dirty="0">
                <a:sym typeface="+mn-ea"/>
              </a:rPr>
              <a:t>目关系必有</a:t>
            </a:r>
            <a:r>
              <a:rPr lang="en-US" altLang="zh-CN" i="1" dirty="0">
                <a:sym typeface="+mn-ea"/>
              </a:rPr>
              <a:t>n</a:t>
            </a:r>
            <a:r>
              <a:rPr lang="zh-CN" altLang="en-US" dirty="0">
                <a:sym typeface="+mn-ea"/>
              </a:rPr>
              <a:t>个属性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 </a:t>
            </a:r>
            <a:r>
              <a:rPr lang="en-US" altLang="zh-CN" dirty="0"/>
              <a:t>3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3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lvl="0" fontAlgn="auto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en-US" dirty="0">
                    <a:solidFill>
                      <a:srgbClr val="FF0000"/>
                    </a:solidFill>
                    <a:sym typeface="+mn-ea"/>
                  </a:rPr>
                  <a:t>关系的表示</a:t>
                </a:r>
                <a:endParaRPr lang="zh-CN" altLang="en-US" dirty="0">
                  <a:solidFill>
                    <a:srgbClr val="1F2DA8"/>
                  </a:solidFill>
                </a:endParaRPr>
              </a:p>
              <a:p>
                <a:pPr marL="457200" lvl="1" indent="0" fontAlgn="auto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zh-CN" altLang="en-US" dirty="0"/>
                  <a:t>在域</a:t>
                </a:r>
                <a14:m>
                  <m:oMath xmlns:m="http://schemas.openxmlformats.org/officeDocument/2006/math">
                    <m:r>
                      <a:rPr lang="en-US" altLang="zh-CN" b="1" i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𝑫</m:t>
                    </m:r>
                    <m:r>
                      <a:rPr lang="en-US" altLang="zh-CN" b="1" kern="0" baseline="-2500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𝟏</m:t>
                    </m:r>
                    <m:r>
                      <a:rPr lang="en-US" altLang="zh-CN" b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, </m:t>
                    </m:r>
                    <m:r>
                      <a:rPr lang="en-US" altLang="zh-CN" b="1" i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𝑫</m:t>
                    </m:r>
                    <m:r>
                      <a:rPr lang="en-US" altLang="zh-CN" b="1" kern="0" baseline="-2500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𝟐</m:t>
                    </m:r>
                    <m:r>
                      <a:rPr lang="en-US" altLang="zh-CN" b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, …, </m:t>
                    </m:r>
                    <m:r>
                      <a:rPr lang="en-US" altLang="zh-CN" b="1" i="1" kern="0" dirty="0" err="1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𝑫</m:t>
                    </m:r>
                    <m:r>
                      <a:rPr lang="en-US" altLang="zh-CN" b="1" i="1" kern="0" baseline="-25000" dirty="0" err="1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𝒏</m:t>
                    </m:r>
                  </m:oMath>
                </a14:m>
                <a:r>
                  <a:rPr lang="zh-CN" altLang="en-US" dirty="0"/>
                  <a:t>上的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目关系</a:t>
                </a:r>
                <a:r>
                  <a:rPr lang="en-US" altLang="zh-CN" dirty="0"/>
                  <a:t>R</a:t>
                </a:r>
                <a:r>
                  <a:rPr lang="zh-CN" altLang="en-US" dirty="0"/>
                  <a:t>可以被表示为</a:t>
                </a:r>
                <a14:m>
                  <m:oMath xmlns:m="http://schemas.openxmlformats.org/officeDocument/2006/math">
                    <m:r>
                      <a:rPr lang="en-US" altLang="zh-CN" b="1" i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b="1" i="1" kern="0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𝑹</m:t>
                    </m:r>
                    <m:r>
                      <a:rPr lang="en-US" altLang="zh-CN" b="1" kern="0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1" i="1" kern="0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𝑨</m:t>
                    </m:r>
                    <m:r>
                      <a:rPr lang="en-US" altLang="zh-CN" b="1" kern="0" baseline="-25000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𝟏</m:t>
                    </m:r>
                    <m:r>
                      <a:rPr lang="en-US" altLang="zh-CN" b="1" kern="0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, </m:t>
                    </m:r>
                    <m:r>
                      <a:rPr lang="en-US" altLang="zh-CN" b="1" i="1" kern="0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𝑨</m:t>
                    </m:r>
                    <m:r>
                      <a:rPr lang="en-US" altLang="zh-CN" b="1" kern="0" baseline="-25000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𝟐</m:t>
                    </m:r>
                    <m:r>
                      <a:rPr lang="en-US" altLang="zh-CN" b="1" kern="0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, …, </m:t>
                    </m:r>
                    <m:r>
                      <a:rPr lang="en-US" altLang="zh-CN" b="1" i="1" kern="0" dirty="0" err="1">
                        <a:solidFill>
                          <a:srgbClr val="FF0000"/>
                        </a:solidFill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𝑨</m:t>
                    </m:r>
                    <m:r>
                      <a:rPr lang="en-US" altLang="zh-CN" b="1" i="1" kern="0" baseline="-25000" dirty="0" err="1">
                        <a:solidFill>
                          <a:srgbClr val="FF0000"/>
                        </a:solidFill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𝒏</m:t>
                    </m:r>
                    <m:r>
                      <a:rPr lang="en-US" altLang="zh-CN" b="1" kern="0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 b="1" kern="0" dirty="0">
                    <a:latin typeface="Cambria Math" panose="02040503050406030204" charset="0"/>
                    <a:ea typeface="+mn-ea"/>
                    <a:cs typeface="Cambria Math" panose="02040503050406030204" charset="0"/>
                  </a:rPr>
                  <a:t>, </a:t>
                </a:r>
                <a:r>
                  <a:rPr lang="zh-CN" altLang="en-US" dirty="0"/>
                  <a:t>其中：</a:t>
                </a:r>
              </a:p>
              <a:p>
                <a:pPr lvl="1" fontAlgn="auto">
                  <a:lnSpc>
                    <a:spcPct val="100000"/>
                  </a:lnSpc>
                  <a:spcBef>
                    <a:spcPts val="1000"/>
                  </a:spcBef>
                </a:pPr>
                <a:r>
                  <a:rPr lang="en-US" altLang="zh-CN" dirty="0"/>
                  <a:t>R</a:t>
                </a:r>
                <a:r>
                  <a:rPr lang="zh-CN" altLang="en-US" dirty="0"/>
                  <a:t>是关系名</a:t>
                </a:r>
              </a:p>
              <a:p>
                <a:pPr lvl="1" fontAlgn="auto">
                  <a:lnSpc>
                    <a:spcPct val="100000"/>
                  </a:lnSpc>
                  <a:spcBef>
                    <a:spcPts val="1000"/>
                  </a:spcBef>
                </a:pPr>
                <a14:m>
                  <m:oMath xmlns:m="http://schemas.openxmlformats.org/officeDocument/2006/math">
                    <m:r>
                      <a:rPr lang="en-US" altLang="zh-CN" b="1" i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𝑨</m:t>
                    </m:r>
                    <m:r>
                      <a:rPr lang="en-US" altLang="zh-CN" b="1" kern="0" baseline="-2500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𝟏</m:t>
                    </m:r>
                    <m:r>
                      <a:rPr lang="en-US" altLang="zh-CN" b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, </m:t>
                    </m:r>
                    <m:r>
                      <a:rPr lang="en-US" altLang="zh-CN" b="1" i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𝑨</m:t>
                    </m:r>
                    <m:r>
                      <a:rPr lang="en-US" altLang="zh-CN" b="1" kern="0" baseline="-2500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𝟐</m:t>
                    </m:r>
                    <m:r>
                      <a:rPr lang="en-US" altLang="zh-CN" b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, …, </m:t>
                    </m:r>
                    <m:r>
                      <a:rPr lang="en-US" altLang="zh-CN" b="1" i="1" kern="0" dirty="0" err="1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𝑨</m:t>
                    </m:r>
                    <m:r>
                      <a:rPr lang="en-US" altLang="zh-CN" b="1" i="1" kern="0" baseline="-25000" dirty="0" err="1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𝒏</m:t>
                    </m:r>
                  </m:oMath>
                </a14:m>
                <a:r>
                  <a:rPr lang="zh-CN" altLang="en-US" dirty="0"/>
                  <a:t>是属性名</a:t>
                </a:r>
              </a:p>
              <a:p>
                <a:pPr lvl="1" fontAlgn="auto">
                  <a:lnSpc>
                    <a:spcPct val="100000"/>
                  </a:lnSpc>
                  <a:spcBef>
                    <a:spcPts val="0"/>
                  </a:spcBef>
                </a:pPr>
                <a:endParaRPr lang="zh-CN" altLang="en-US" dirty="0"/>
              </a:p>
              <a:p>
                <a:pPr lvl="1" fontAlgn="auto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en-US" dirty="0"/>
                  <a:t>例如：表</a:t>
                </a:r>
                <a:r>
                  <a:rPr lang="en-US" altLang="zh-CN" dirty="0"/>
                  <a:t>2.2</a:t>
                </a:r>
                <a:endParaRPr lang="zh-CN" altLang="en-US" dirty="0"/>
              </a:p>
              <a:p>
                <a:pPr lvl="1" fontAlgn="auto">
                  <a:lnSpc>
                    <a:spcPct val="100000"/>
                  </a:lnSpc>
                  <a:spcBef>
                    <a:spcPts val="0"/>
                  </a:spcBef>
                </a:pPr>
                <a:endParaRPr lang="zh-CN" altLang="en-US" dirty="0"/>
              </a:p>
              <a:p>
                <a:pPr lvl="1" fontAlgn="auto">
                  <a:lnSpc>
                    <a:spcPct val="100000"/>
                  </a:lnSpc>
                  <a:spcBef>
                    <a:spcPts val="0"/>
                  </a:spcBef>
                </a:pPr>
                <a:endParaRPr lang="zh-CN" altLang="en-US" dirty="0"/>
              </a:p>
              <a:p>
                <a:pPr lvl="0" fontAlgn="auto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元组分量的表示</a:t>
                </a:r>
                <a:endParaRPr lang="zh-CN" altLang="en-US" dirty="0"/>
              </a:p>
              <a:p>
                <a:pPr lvl="1" fontAlgn="auto">
                  <a:lnSpc>
                    <a:spcPct val="100000"/>
                  </a:lnSpc>
                  <a:spcBef>
                    <a:spcPts val="1000"/>
                  </a:spcBef>
                </a:pPr>
                <a:r>
                  <a:rPr lang="zh-CN" altLang="en-US" dirty="0"/>
                  <a:t>若</a:t>
                </a: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 </a:t>
                </a:r>
                <a:r>
                  <a:rPr lang="en-US" altLang="zh-CN" i="1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t </a:t>
                </a:r>
                <a:r>
                  <a:rPr lang="zh-CN" altLang="en-US" dirty="0"/>
                  <a:t>是关系</a:t>
                </a:r>
                <a:r>
                  <a:rPr lang="en-US" altLang="zh-CN" dirty="0"/>
                  <a:t>R</a:t>
                </a:r>
                <a:r>
                  <a:rPr lang="zh-CN" altLang="en-US" dirty="0"/>
                  <a:t>中的一个元组，那么用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[</m:t>
                    </m:r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𝐴𝑖</m:t>
                    </m:r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]</m:t>
                    </m:r>
                  </m:oMath>
                </a14:m>
                <a:r>
                  <a:rPr lang="zh-CN" altLang="en-US" dirty="0"/>
                  <a:t>表示元组</a:t>
                </a:r>
                <a:r>
                  <a:rPr lang="en-US" altLang="zh-CN" i="1" dirty="0"/>
                  <a:t>t</a:t>
                </a:r>
                <a:r>
                  <a:rPr lang="zh-CN" altLang="en-US" dirty="0"/>
                  <a:t>在属性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cs typeface="Cambria Math" panose="02040503050406030204" charset="0"/>
                      </a:rPr>
                      <m:t>𝑖</m:t>
                    </m:r>
                  </m:oMath>
                </a14:m>
                <a:r>
                  <a:rPr lang="zh-CN" altLang="en-US" dirty="0"/>
                  <a:t>上的取值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且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𝒕</m:t>
                    </m:r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[</m:t>
                    </m:r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𝑨𝒊</m:t>
                    </m:r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]</m:t>
                    </m:r>
                    <m:r>
                      <a:rPr lang="en-US" altLang="zh-CN" b="1" i="1" dirty="0">
                        <a:latin typeface="Cambria Math" panose="02040503050406030204" charset="0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b="1" i="1" dirty="0">
                        <a:latin typeface="Cambria Math" panose="02040503050406030204" charset="0"/>
                        <a:cs typeface="Cambria Math" panose="02040503050406030204" charset="0"/>
                      </a:rPr>
                      <m:t>𝑫𝒊</m:t>
                    </m:r>
                    <m:r>
                      <a:rPr lang="en-US" altLang="zh-CN" b="1" i="1" dirty="0">
                        <a:latin typeface="Cambria Math" panose="02040503050406030204" charset="0"/>
                        <a:cs typeface="Cambria Math" panose="02040503050406030204" charset="0"/>
                      </a:rPr>
                      <m:t> (</m:t>
                    </m:r>
                    <m:r>
                      <a:rPr lang="en-US" altLang="zh-CN" b="1" i="1" dirty="0">
                        <a:latin typeface="Cambria Math" panose="02040503050406030204" charset="0"/>
                        <a:cs typeface="Cambria Math" panose="02040503050406030204" charset="0"/>
                      </a:rPr>
                      <m:t>𝒊</m:t>
                    </m:r>
                    <m:r>
                      <a:rPr lang="en-US" altLang="zh-CN" b="1" i="1" dirty="0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b="1" i="1" dirty="0">
                        <a:latin typeface="Cambria Math" panose="02040503050406030204" charset="0"/>
                        <a:cs typeface="Cambria Math" panose="02040503050406030204" charset="0"/>
                      </a:rPr>
                      <m:t>𝟏</m:t>
                    </m:r>
                    <m:r>
                      <a:rPr lang="en-US" altLang="zh-CN" b="1" i="1" dirty="0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b="1" i="1" dirty="0">
                        <a:latin typeface="Cambria Math" panose="02040503050406030204" charset="0"/>
                        <a:cs typeface="Cambria Math" panose="02040503050406030204" charset="0"/>
                      </a:rPr>
                      <m:t>𝟐</m:t>
                    </m:r>
                    <m:r>
                      <a:rPr lang="en-US" altLang="zh-CN" b="1" i="1" dirty="0">
                        <a:latin typeface="Cambria Math" panose="02040503050406030204" charset="0"/>
                        <a:cs typeface="Cambria Math" panose="02040503050406030204" charset="0"/>
                      </a:rPr>
                      <m:t>,...,</m:t>
                    </m:r>
                    <m:r>
                      <a:rPr lang="en-US" altLang="zh-CN" b="1" i="1" dirty="0">
                        <a:latin typeface="Cambria Math" panose="02040503050406030204" charset="0"/>
                        <a:cs typeface="Cambria Math" panose="02040503050406030204" charset="0"/>
                      </a:rPr>
                      <m:t>𝒏</m:t>
                    </m:r>
                    <m:r>
                      <a:rPr lang="en-US" altLang="zh-CN" b="1" i="1" dirty="0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dirty="0">
                    <a:sym typeface="+mn-ea"/>
                  </a:rPr>
                  <a:t>（元组分量也被称为</a:t>
                </a:r>
                <a:r>
                  <a:rPr lang="zh-CN" altLang="en-US" dirty="0">
                    <a:solidFill>
                      <a:srgbClr val="FF0000"/>
                    </a:solidFill>
                    <a:sym typeface="+mn-ea"/>
                  </a:rPr>
                  <a:t>属性值</a:t>
                </a:r>
                <a:r>
                  <a:rPr lang="zh-CN" altLang="en-US" dirty="0">
                    <a:sym typeface="+mn-ea"/>
                  </a:rPr>
                  <a:t>）</a:t>
                </a:r>
                <a:endParaRPr lang="en-US" altLang="zh-CN" b="1" i="1" dirty="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lvl="1" fontAlgn="auto">
                  <a:lnSpc>
                    <a:spcPct val="100000"/>
                  </a:lnSpc>
                  <a:spcBef>
                    <a:spcPts val="1000"/>
                  </a:spcBef>
                </a:pPr>
                <a:r>
                  <a:rPr lang="zh-CN" altLang="en-US" dirty="0"/>
                  <a:t>或者，用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𝒕</m:t>
                    </m:r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[</m:t>
                    </m:r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𝒊</m:t>
                    </m:r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] </m:t>
                    </m:r>
                  </m:oMath>
                </a14:m>
                <a:r>
                  <a:rPr lang="zh-CN" altLang="en-US" dirty="0">
                    <a:sym typeface="+mn-ea"/>
                  </a:rPr>
                  <a:t>表示元组</a:t>
                </a:r>
                <a:r>
                  <a:rPr lang="en-US" altLang="zh-CN" i="1" dirty="0">
                    <a:sym typeface="+mn-ea"/>
                  </a:rPr>
                  <a:t>t</a:t>
                </a:r>
                <a:r>
                  <a:rPr lang="zh-CN" altLang="en-US" dirty="0">
                    <a:sym typeface="+mn-ea"/>
                  </a:rPr>
                  <a:t>在第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𝒊</m:t>
                    </m:r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dirty="0">
                    <a:latin typeface="Cambria Math" panose="02040503050406030204" charset="0"/>
                    <a:cs typeface="Cambria Math" panose="02040503050406030204" charset="0"/>
                  </a:rPr>
                  <a:t>列上</a:t>
                </a:r>
                <a:r>
                  <a:rPr lang="zh-CN" altLang="en-US" dirty="0">
                    <a:sym typeface="+mn-ea"/>
                  </a:rPr>
                  <a:t>的取值</a:t>
                </a:r>
                <a:r>
                  <a:rPr lang="en-US" altLang="zh-CN" dirty="0">
                    <a:sym typeface="+mn-ea"/>
                  </a:rPr>
                  <a:t>,</a:t>
                </a:r>
                <a:r>
                  <a:rPr lang="zh-CN" altLang="en-US" dirty="0">
                    <a:sym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𝒕</m:t>
                    </m:r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[</m:t>
                    </m:r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𝒊</m:t>
                    </m:r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]</m:t>
                    </m:r>
                    <m:r>
                      <a:rPr lang="en-US" altLang="zh-CN" b="1" i="1" dirty="0">
                        <a:latin typeface="Cambria Math" panose="02040503050406030204" charset="0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b="1" i="1" dirty="0">
                        <a:latin typeface="Cambria Math" panose="02040503050406030204" charset="0"/>
                        <a:cs typeface="Cambria Math" panose="02040503050406030204" charset="0"/>
                      </a:rPr>
                      <m:t>𝑫𝒊</m:t>
                    </m:r>
                    <m:r>
                      <a:rPr lang="en-US" altLang="zh-CN" b="1" i="1" dirty="0">
                        <a:latin typeface="Cambria Math" panose="02040503050406030204" charset="0"/>
                        <a:cs typeface="Cambria Math" panose="02040503050406030204" charset="0"/>
                      </a:rPr>
                      <m:t> (</m:t>
                    </m:r>
                    <m:r>
                      <a:rPr lang="en-US" altLang="zh-CN" b="1" i="1" dirty="0">
                        <a:latin typeface="Cambria Math" panose="02040503050406030204" charset="0"/>
                        <a:cs typeface="Cambria Math" panose="02040503050406030204" charset="0"/>
                      </a:rPr>
                      <m:t>𝒊</m:t>
                    </m:r>
                    <m:r>
                      <a:rPr lang="en-US" altLang="zh-CN" b="1" i="1" dirty="0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b="1" i="1" dirty="0">
                        <a:latin typeface="Cambria Math" panose="02040503050406030204" charset="0"/>
                        <a:cs typeface="Cambria Math" panose="02040503050406030204" charset="0"/>
                      </a:rPr>
                      <m:t>𝟏</m:t>
                    </m:r>
                    <m:r>
                      <a:rPr lang="en-US" altLang="zh-CN" b="1" i="1" dirty="0">
                        <a:latin typeface="Cambria Math" panose="02040503050406030204" charset="0"/>
                        <a:cs typeface="Cambria Math" panose="02040503050406030204" charset="0"/>
                      </a:rPr>
                      <m:t>,⋯,</m:t>
                    </m:r>
                    <m:r>
                      <a:rPr lang="en-US" altLang="zh-CN" b="1" i="1" dirty="0">
                        <a:latin typeface="Cambria Math" panose="02040503050406030204" charset="0"/>
                        <a:cs typeface="Cambria Math" panose="02040503050406030204" charset="0"/>
                      </a:rPr>
                      <m:t>𝒏</m:t>
                    </m:r>
                    <m:r>
                      <a:rPr lang="en-US" altLang="zh-CN" b="1" i="1" dirty="0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603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408930" y="2378075"/>
          <a:ext cx="6076315" cy="1744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4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5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24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SUPERVISOR</a:t>
                      </a:r>
                    </a:p>
                  </a:txBody>
                  <a:tcPr marL="68580" marR="68580" marT="0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2400" b="1">
                          <a:solidFill>
                            <a:srgbClr val="C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SPECIALITY</a:t>
                      </a:r>
                    </a:p>
                  </a:txBody>
                  <a:tcPr marL="68580" marR="68580" marT="0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POSTGRADUATE</a:t>
                      </a:r>
                    </a:p>
                  </a:txBody>
                  <a:tcPr marL="68580" marR="68580" marT="0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张清玫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计算机专业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李勇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张清玫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计算机专业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刘晨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刘逸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信息专业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王敏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7129780" y="1917700"/>
            <a:ext cx="2454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表</a:t>
            </a:r>
            <a:r>
              <a:rPr lang="en-US" altLang="zh-CN" sz="24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2.2 SAP</a:t>
            </a:r>
            <a:r>
              <a:rPr lang="zh-CN" altLang="en-US" sz="24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关系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 </a:t>
            </a:r>
            <a:r>
              <a:rPr lang="en-US" altLang="zh-CN" dirty="0"/>
              <a:t>4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lnSpc>
                <a:spcPct val="11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码</a:t>
            </a:r>
            <a:r>
              <a:rPr lang="en-US" altLang="zh-CN" dirty="0">
                <a:solidFill>
                  <a:srgbClr val="1F2DA8"/>
                </a:solidFill>
              </a:rPr>
              <a:t>(Key)</a:t>
            </a:r>
            <a:r>
              <a:rPr lang="zh-CN" altLang="en-US" dirty="0">
                <a:solidFill>
                  <a:srgbClr val="1F2DA8"/>
                </a:solidFill>
              </a:rPr>
              <a:t>、</a:t>
            </a:r>
            <a:r>
              <a:rPr lang="zh-CN" altLang="en-US" dirty="0">
                <a:solidFill>
                  <a:srgbClr val="FF0000"/>
                </a:solidFill>
              </a:rPr>
              <a:t>候选码</a:t>
            </a:r>
            <a:r>
              <a:rPr lang="en-US" altLang="zh-CN" dirty="0"/>
              <a:t> (Candidate key)</a:t>
            </a:r>
            <a:endParaRPr lang="zh-CN" altLang="en-US" dirty="0"/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zh-CN" altLang="en-US" dirty="0"/>
              <a:t>若关系中的某一</a:t>
            </a:r>
            <a:r>
              <a:rPr lang="zh-CN" altLang="en-US" dirty="0">
                <a:solidFill>
                  <a:srgbClr val="C00000"/>
                </a:solidFill>
              </a:rPr>
              <a:t>属性组</a:t>
            </a:r>
            <a:r>
              <a:rPr lang="zh-CN" altLang="en-US" dirty="0"/>
              <a:t>的值能唯一地标识一个元组，而其所有的真子集都不能，则称该属性组为关系的</a:t>
            </a:r>
            <a:r>
              <a:rPr lang="en-US" altLang="zh-CN" dirty="0"/>
              <a:t> 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‘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候选码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’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，简称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 ‘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码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’</a:t>
            </a:r>
            <a:r>
              <a:rPr lang="zh-CN" altLang="en-US" dirty="0"/>
              <a:t>。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endParaRPr lang="zh-CN" altLang="en-US" dirty="0"/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zh-CN" altLang="en-US" dirty="0"/>
              <a:t>简单的情况：一个候选码只包含一个属性；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zh-CN" altLang="en-US" dirty="0"/>
              <a:t>最极端的情况：由关系中的所有属性构成的属性组是这个关系的候选码，称为</a:t>
            </a:r>
            <a:r>
              <a:rPr lang="en-US" altLang="zh-CN" dirty="0"/>
              <a:t> 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‘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全码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’</a:t>
            </a:r>
            <a:r>
              <a:rPr lang="zh-CN" altLang="en-US" dirty="0"/>
              <a:t>（</a:t>
            </a:r>
            <a:r>
              <a:rPr lang="en-US" altLang="zh-CN" dirty="0"/>
              <a:t>All-key</a:t>
            </a:r>
            <a:r>
              <a:rPr lang="zh-CN" altLang="en-US" dirty="0"/>
              <a:t>）。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endParaRPr lang="zh-CN" altLang="en-US" dirty="0"/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zh-CN" altLang="en-US" dirty="0"/>
              <a:t>每一个关系中都存在</a:t>
            </a:r>
            <a:r>
              <a:rPr lang="en-US" altLang="zh-CN" dirty="0"/>
              <a:t>‘</a:t>
            </a:r>
            <a:r>
              <a:rPr lang="zh-CN" altLang="en-US" dirty="0"/>
              <a:t>候选码</a:t>
            </a:r>
            <a:r>
              <a:rPr lang="en-US" altLang="zh-CN" dirty="0"/>
              <a:t>’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endParaRPr lang="zh-CN" altLang="en-US" dirty="0"/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zh-CN" altLang="en-US" dirty="0">
                <a:sym typeface="+mn-ea"/>
              </a:rPr>
              <a:t>候选码是语义范畴的概念，是现实世界中普遍存在的客观规律，不能仅根据当前关系中的元组集合来确定其候选码的组成。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 </a:t>
            </a:r>
            <a:r>
              <a:rPr lang="en-US" altLang="zh-CN" dirty="0"/>
              <a:t>5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zh-CN" altLang="en-US" dirty="0"/>
              <a:t>思考：</a:t>
            </a:r>
          </a:p>
          <a:p>
            <a:pPr marL="832485" lvl="1" indent="-37465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dirty="0"/>
              <a:t>如表</a:t>
            </a:r>
            <a:r>
              <a:rPr lang="en-US" altLang="zh-CN" dirty="0"/>
              <a:t>2.2</a:t>
            </a:r>
            <a:r>
              <a:rPr lang="zh-CN" altLang="en-US" dirty="0"/>
              <a:t>所示的关系，其候选码是什么？</a:t>
            </a:r>
          </a:p>
          <a:p>
            <a:pPr marL="832485" lvl="1" indent="-374650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</a:pPr>
            <a:endParaRPr lang="zh-CN" altLang="en-US" dirty="0"/>
          </a:p>
          <a:p>
            <a:pPr marL="832485" lvl="1" indent="-374650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</a:pPr>
            <a:endParaRPr lang="zh-CN" altLang="en-US" dirty="0"/>
          </a:p>
          <a:p>
            <a:pPr marL="832485" lvl="1" indent="-374650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</a:pPr>
            <a:endParaRPr lang="zh-CN" altLang="en-US" dirty="0"/>
          </a:p>
          <a:p>
            <a:pPr marL="832485" lvl="1" indent="-374650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</a:pPr>
            <a:endParaRPr lang="zh-CN" altLang="en-US" dirty="0"/>
          </a:p>
          <a:p>
            <a:pPr marL="832485" lvl="1" indent="-374650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</a:pPr>
            <a:endParaRPr lang="zh-CN" altLang="en-US" dirty="0"/>
          </a:p>
          <a:p>
            <a:pPr marL="832485" lvl="1" indent="-374650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</a:pPr>
            <a:endParaRPr lang="zh-CN" altLang="en-US" dirty="0"/>
          </a:p>
          <a:p>
            <a:pPr marL="832485" lvl="1" indent="-374650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</a:pPr>
            <a:endParaRPr lang="zh-CN" altLang="en-US" dirty="0"/>
          </a:p>
          <a:p>
            <a:pPr marL="832485" lvl="1" indent="-374650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dirty="0"/>
              <a:t>请设计一个候选码只包含单个属性的关系。</a:t>
            </a:r>
          </a:p>
          <a:p>
            <a:pPr marL="832485" lvl="1" indent="-374650">
              <a:lnSpc>
                <a:spcPct val="100000"/>
              </a:lnSpc>
              <a:spcBef>
                <a:spcPts val="2000"/>
              </a:spcBef>
              <a:buFont typeface="+mj-lt"/>
              <a:buAutoNum type="arabicPeriod"/>
            </a:pPr>
            <a:r>
              <a:rPr lang="zh-CN" altLang="en-US" dirty="0"/>
              <a:t>请设计一个有多个候选码的关系。</a:t>
            </a:r>
          </a:p>
          <a:p>
            <a:pPr marL="832485" lvl="1" indent="-374650">
              <a:lnSpc>
                <a:spcPct val="100000"/>
              </a:lnSpc>
              <a:spcBef>
                <a:spcPts val="2000"/>
              </a:spcBef>
              <a:buFont typeface="+mj-lt"/>
              <a:buAutoNum type="arabicPeriod"/>
            </a:pPr>
            <a:r>
              <a:rPr lang="zh-CN" altLang="en-US" dirty="0"/>
              <a:t>请设计一个候选码是全码的关系。</a:t>
            </a:r>
          </a:p>
        </p:txBody>
      </p:sp>
      <p:graphicFrame>
        <p:nvGraphicFramePr>
          <p:cNvPr id="5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962150" y="2273300"/>
          <a:ext cx="7753985" cy="1744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6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2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4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24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SUPERVISOR</a:t>
                      </a:r>
                    </a:p>
                  </a:txBody>
                  <a:tcPr marL="68580" marR="68580" marT="0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2400" b="1">
                          <a:solidFill>
                            <a:srgbClr val="C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SPECIALITY</a:t>
                      </a:r>
                    </a:p>
                  </a:txBody>
                  <a:tcPr marL="68580" marR="68580" marT="0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POSTGRADUATE</a:t>
                      </a:r>
                    </a:p>
                  </a:txBody>
                  <a:tcPr marL="68580" marR="68580" marT="0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张清玫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计算机专业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李勇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张清玫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计算机专业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刘晨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刘逸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信息专业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王敏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4559935" y="1812925"/>
            <a:ext cx="2454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表</a:t>
            </a:r>
            <a:r>
              <a:rPr lang="en-US" altLang="zh-CN" sz="24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2.2 SAP</a:t>
            </a:r>
            <a:r>
              <a:rPr lang="zh-CN" altLang="en-US" sz="24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关系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 </a:t>
            </a:r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1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主码</a:t>
            </a:r>
            <a:r>
              <a:rPr lang="zh-CN" altLang="en-US" sz="2800" dirty="0">
                <a:sym typeface="+mn-ea"/>
              </a:rPr>
              <a:t>（</a:t>
            </a:r>
            <a:r>
              <a:rPr lang="en-US" altLang="zh-CN" sz="2800" dirty="0">
                <a:sym typeface="+mn-ea"/>
              </a:rPr>
              <a:t>Primary key</a:t>
            </a:r>
            <a:r>
              <a:rPr lang="zh-CN" altLang="en-US" sz="2800" dirty="0">
                <a:sym typeface="+mn-ea"/>
              </a:rPr>
              <a:t>）</a:t>
            </a:r>
            <a:endParaRPr lang="en-US" altLang="zh-CN" dirty="0"/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在一个关系中，可以选择一个候选码作为该关系的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 ‘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主码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’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。</a:t>
            </a:r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‘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主码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’ 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是关系数据库管理系统（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SQL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）中才有的概念。当我们在创建关系对应的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 ‘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基表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’ 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时，</a:t>
            </a:r>
            <a:r>
              <a:rPr lang="zh-CN" altLang="en-US" b="0" spc="100" dirty="0">
                <a:solidFill>
                  <a:srgbClr val="C00000"/>
                </a:solidFill>
                <a:uFillTx/>
                <a:latin typeface="+mn-ea"/>
                <a:ea typeface="+mn-ea"/>
                <a:cs typeface="+mn-ea"/>
              </a:rPr>
              <a:t>可以为基表</a:t>
            </a:r>
            <a:r>
              <a:rPr lang="zh-CN" altLang="en-US" b="0" spc="100" dirty="0">
                <a:solidFill>
                  <a:srgbClr val="C00000"/>
                </a:solidFill>
                <a:uFillTx/>
                <a:latin typeface="Times New Roman" panose="02020603050405020304" pitchFamily="2" charset="0"/>
                <a:ea typeface="+mn-ea"/>
                <a:cs typeface="Times New Roman" panose="02020603050405020304" pitchFamily="2" charset="0"/>
              </a:rPr>
              <a:t>定义</a:t>
            </a:r>
            <a:r>
              <a:rPr lang="en-US" altLang="zh-CN" b="0" spc="100" dirty="0">
                <a:solidFill>
                  <a:srgbClr val="C00000"/>
                </a:solidFill>
                <a:uFillTx/>
                <a:latin typeface="Times New Roman" panose="02020603050405020304" pitchFamily="2" charset="0"/>
                <a:ea typeface="+mn-ea"/>
                <a:cs typeface="Times New Roman" panose="02020603050405020304" pitchFamily="2" charset="0"/>
              </a:rPr>
              <a:t>‘</a:t>
            </a:r>
            <a:r>
              <a:rPr lang="zh-CN" altLang="en-US" b="0" spc="100" dirty="0">
                <a:solidFill>
                  <a:srgbClr val="C00000"/>
                </a:solidFill>
                <a:uFillTx/>
                <a:latin typeface="Times New Roman" panose="02020603050405020304" pitchFamily="2" charset="0"/>
                <a:ea typeface="+mn-ea"/>
                <a:cs typeface="Times New Roman" panose="02020603050405020304" pitchFamily="2" charset="0"/>
              </a:rPr>
              <a:t>主码</a:t>
            </a:r>
            <a:r>
              <a:rPr lang="en-US" altLang="zh-CN" b="0" spc="100" dirty="0">
                <a:solidFill>
                  <a:srgbClr val="C00000"/>
                </a:solidFill>
                <a:uFillTx/>
                <a:latin typeface="Times New Roman" panose="02020603050405020304" pitchFamily="2" charset="0"/>
                <a:ea typeface="+mn-ea"/>
                <a:cs typeface="Times New Roman" panose="02020603050405020304" pitchFamily="2" charset="0"/>
              </a:rPr>
              <a:t>’</a:t>
            </a:r>
            <a:r>
              <a:rPr lang="zh-CN" altLang="en-US" b="0" spc="100" dirty="0">
                <a:solidFill>
                  <a:srgbClr val="C00000"/>
                </a:solidFill>
                <a:uFillTx/>
                <a:latin typeface="Times New Roman" panose="02020603050405020304" pitchFamily="2" charset="0"/>
                <a:ea typeface="+mn-ea"/>
                <a:cs typeface="Times New Roman" panose="02020603050405020304" pitchFamily="2" charset="0"/>
              </a:rPr>
              <a:t>也可以不定义</a:t>
            </a:r>
            <a:r>
              <a:rPr lang="en-US" altLang="zh-CN" b="0" spc="100" dirty="0">
                <a:solidFill>
                  <a:srgbClr val="C00000"/>
                </a:solidFill>
                <a:uFillTx/>
                <a:latin typeface="Times New Roman" panose="02020603050405020304" pitchFamily="2" charset="0"/>
                <a:ea typeface="+mn-ea"/>
                <a:cs typeface="Times New Roman" panose="02020603050405020304" pitchFamily="2" charset="0"/>
              </a:rPr>
              <a:t>‘</a:t>
            </a:r>
            <a:r>
              <a:rPr lang="zh-CN" altLang="en-US" b="0" spc="100" dirty="0">
                <a:solidFill>
                  <a:srgbClr val="C00000"/>
                </a:solidFill>
                <a:uFillTx/>
                <a:latin typeface="Times New Roman" panose="02020603050405020304" pitchFamily="2" charset="0"/>
                <a:ea typeface="+mn-ea"/>
                <a:cs typeface="Times New Roman" panose="02020603050405020304" pitchFamily="2" charset="0"/>
              </a:rPr>
              <a:t>主码</a:t>
            </a:r>
            <a:r>
              <a:rPr lang="en-US" altLang="zh-CN" b="0" spc="100" dirty="0">
                <a:solidFill>
                  <a:srgbClr val="C00000"/>
                </a:solidFill>
                <a:uFillTx/>
                <a:latin typeface="Times New Roman" panose="02020603050405020304" pitchFamily="2" charset="0"/>
                <a:ea typeface="+mn-ea"/>
                <a:cs typeface="Times New Roman" panose="02020603050405020304" pitchFamily="2" charset="0"/>
              </a:rPr>
              <a:t>’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。在一张基表中，最多只能定义一个主码。</a:t>
            </a:r>
            <a:endParaRPr lang="en-US" altLang="zh-CN" dirty="0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在关系模型理论中，只有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 ‘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候选码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’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，不需要为关系定义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 ‘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主码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’</a:t>
            </a:r>
            <a:r>
              <a:rPr lang="zh-CN" altLang="en-US" dirty="0"/>
              <a:t>。</a:t>
            </a:r>
          </a:p>
          <a:p>
            <a:pPr lvl="0">
              <a:lnSpc>
                <a:spcPct val="100000"/>
              </a:lnSpc>
              <a:spcBef>
                <a:spcPts val="2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主属性</a:t>
            </a:r>
            <a:r>
              <a:rPr lang="en-US" altLang="zh-CN" dirty="0"/>
              <a:t> </a:t>
            </a:r>
            <a:r>
              <a:rPr lang="zh-CN" altLang="en-US" dirty="0"/>
              <a:t>与</a:t>
            </a:r>
            <a:r>
              <a:rPr lang="en-US" altLang="zh-CN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非主属性</a:t>
            </a:r>
            <a:r>
              <a:rPr lang="en-US" altLang="zh-CN" dirty="0"/>
              <a:t>/</a:t>
            </a:r>
            <a:r>
              <a:rPr lang="zh-CN" altLang="en-US" dirty="0">
                <a:solidFill>
                  <a:srgbClr val="FF0000"/>
                </a:solidFill>
              </a:rPr>
              <a:t>非码属性</a:t>
            </a:r>
            <a:endParaRPr lang="zh-CN" altLang="en-US" dirty="0"/>
          </a:p>
          <a:p>
            <a:pPr marL="457200" lvl="1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zh-CN" altLang="en-US" dirty="0"/>
              <a:t>在一个关系中</a:t>
            </a:r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候选码中的诸属性称为该关系的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 ‘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主属性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’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（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Prime attribute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）</a:t>
            </a:r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不包含在任何侯选码中的属性称为该关系的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 ‘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非主属性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’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（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Non-Prime attribute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）或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 ‘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非码属性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’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（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Non-key attribute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）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</a:t>
            </a:r>
            <a:r>
              <a:rPr lang="en-US" altLang="zh-CN" dirty="0"/>
              <a:t> 7  -  </a:t>
            </a:r>
            <a:r>
              <a:rPr lang="zh-CN" altLang="en-US" dirty="0"/>
              <a:t>关系的类别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/>
              <a:t>关系可以有三种类型</a:t>
            </a:r>
          </a:p>
          <a:p>
            <a:pPr lvl="1">
              <a:lnSpc>
                <a:spcPct val="10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基本关系</a:t>
            </a:r>
            <a:r>
              <a:rPr lang="zh-CN" altLang="en-US" sz="2400" dirty="0"/>
              <a:t>（</a:t>
            </a:r>
            <a:r>
              <a:rPr lang="zh-CN" altLang="en-US" sz="2400" dirty="0">
                <a:solidFill>
                  <a:srgbClr val="FF0000"/>
                </a:solidFill>
              </a:rPr>
              <a:t>基本表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zh-CN" altLang="en-US" sz="2400" dirty="0"/>
              <a:t>或</a:t>
            </a:r>
            <a:r>
              <a:rPr lang="en-US" altLang="zh-CN" sz="2400" dirty="0"/>
              <a:t> </a:t>
            </a:r>
            <a:r>
              <a:rPr lang="zh-CN" altLang="en-US" sz="2400" dirty="0">
                <a:solidFill>
                  <a:srgbClr val="FF0000"/>
                </a:solidFill>
              </a:rPr>
              <a:t>基表</a:t>
            </a:r>
            <a:r>
              <a:rPr lang="zh-CN" altLang="en-US" sz="2400" dirty="0"/>
              <a:t>）：实际存在的表，是实际存储数据的逻辑表示。</a:t>
            </a:r>
          </a:p>
          <a:p>
            <a:pPr lvl="1">
              <a:lnSpc>
                <a:spcPct val="10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查询表</a:t>
            </a:r>
            <a:r>
              <a:rPr lang="zh-CN" altLang="en-US" sz="2400" dirty="0">
                <a:solidFill>
                  <a:srgbClr val="1F2DA8"/>
                </a:solidFill>
              </a:rPr>
              <a:t>：</a:t>
            </a:r>
            <a:r>
              <a:rPr lang="zh-CN" altLang="en-US" sz="2400" dirty="0"/>
              <a:t>查询结果对应的表，结果数据不需要持久存储。</a:t>
            </a:r>
          </a:p>
          <a:p>
            <a:pPr lvl="1">
              <a:lnSpc>
                <a:spcPct val="10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视图表</a:t>
            </a:r>
            <a:r>
              <a:rPr lang="zh-CN" altLang="en-US" sz="2400" dirty="0"/>
              <a:t>：由基本表或其他视图表导出的表</a:t>
            </a:r>
            <a:r>
              <a:rPr lang="en-US" altLang="zh-CN" sz="2400" dirty="0"/>
              <a:t>,</a:t>
            </a:r>
            <a:r>
              <a:rPr lang="zh-CN" altLang="en-US" sz="2400" dirty="0"/>
              <a:t>是虚表</a:t>
            </a:r>
            <a:r>
              <a:rPr lang="en-US" altLang="zh-CN" sz="2400" dirty="0"/>
              <a:t>,</a:t>
            </a:r>
            <a:r>
              <a:rPr lang="zh-CN" altLang="en-US" sz="2400" dirty="0">
                <a:sym typeface="+mn-ea"/>
              </a:rPr>
              <a:t>结果数据也不需要持久存储</a:t>
            </a:r>
            <a:r>
              <a:rPr lang="zh-CN" altLang="en-US" sz="2400" dirty="0"/>
              <a:t>。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2400" dirty="0"/>
              <a:t>查询表与视图表的区别：两者都有对应的数据库查询操作，但查询表对应的查询请求不需要保存在数据库中，而视图表对应的查询请求需要持久保存在数据库中。</a:t>
            </a:r>
          </a:p>
          <a:p>
            <a:pPr lvl="0">
              <a:lnSpc>
                <a:spcPct val="100000"/>
              </a:lnSpc>
              <a:spcBef>
                <a:spcPct val="0"/>
              </a:spcBef>
            </a:pPr>
            <a:endParaRPr lang="zh-CN" altLang="en-US" sz="2400" dirty="0"/>
          </a:p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/>
              <a:t>说明：</a:t>
            </a:r>
          </a:p>
          <a:p>
            <a:pPr marL="971550" lvl="1" indent="-514350">
              <a:lnSpc>
                <a:spcPct val="100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en-US" altLang="zh-CN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‘</a:t>
            </a:r>
            <a:r>
              <a:rPr lang="zh-CN" altLang="en-US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表</a:t>
            </a:r>
            <a:r>
              <a:rPr lang="en-US" altLang="zh-CN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’</a:t>
            </a:r>
            <a:r>
              <a:rPr lang="zh-CN" altLang="en-US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（包括基本表、基表、查询表、视图表）的概念，一般只在关系数据库管理系统（即</a:t>
            </a:r>
            <a:r>
              <a:rPr lang="en-US" altLang="zh-CN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SQL</a:t>
            </a:r>
            <a:r>
              <a:rPr lang="zh-CN" altLang="en-US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语言</a:t>
            </a:r>
            <a:r>
              <a:rPr lang="zh-CN" altLang="en-US" sz="2400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）</a:t>
            </a:r>
            <a:r>
              <a:rPr lang="zh-CN" altLang="en-US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中使用；</a:t>
            </a:r>
          </a:p>
          <a:p>
            <a:pPr marL="971550" lvl="1" indent="-514350">
              <a:lnSpc>
                <a:spcPct val="100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en-US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关系模型是一种逻辑数据模型，不涉及数据的物理存储，在关系模型理论中，其数据结构只有</a:t>
            </a:r>
            <a:r>
              <a:rPr lang="en-US" altLang="zh-CN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 ‘</a:t>
            </a:r>
            <a:r>
              <a:rPr lang="zh-CN" altLang="en-US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关系</a:t>
            </a:r>
            <a:r>
              <a:rPr lang="en-US" altLang="zh-CN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’</a:t>
            </a:r>
            <a:r>
              <a:rPr lang="zh-CN" altLang="en-US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；</a:t>
            </a:r>
          </a:p>
          <a:p>
            <a:pPr marL="971550" lvl="1" indent="-514350">
              <a:lnSpc>
                <a:spcPct val="100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en-US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在关系模型上进行数据操纵，其操作结果也构成一个</a:t>
            </a:r>
            <a:r>
              <a:rPr lang="en-US" altLang="zh-CN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‘</a:t>
            </a:r>
            <a:r>
              <a:rPr lang="zh-CN" altLang="en-US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关系</a:t>
            </a:r>
            <a:r>
              <a:rPr lang="en-US" altLang="zh-CN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’</a:t>
            </a:r>
            <a:r>
              <a:rPr lang="zh-CN" altLang="en-US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（也可以通俗地称为</a:t>
            </a:r>
            <a:r>
              <a:rPr lang="en-US" altLang="zh-CN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 ‘</a:t>
            </a:r>
            <a:r>
              <a:rPr lang="zh-CN" altLang="en-US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结果关系</a:t>
            </a:r>
            <a:r>
              <a:rPr lang="en-US" altLang="zh-CN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’</a:t>
            </a:r>
            <a:r>
              <a:rPr lang="zh-CN" altLang="en-US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、</a:t>
            </a:r>
            <a:r>
              <a:rPr lang="en-US" altLang="zh-CN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‘</a:t>
            </a:r>
            <a:r>
              <a:rPr lang="zh-CN" altLang="en-US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临时关系</a:t>
            </a:r>
            <a:r>
              <a:rPr lang="en-US" altLang="zh-CN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’ </a:t>
            </a:r>
            <a:r>
              <a:rPr lang="zh-CN" altLang="en-US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或</a:t>
            </a:r>
            <a:r>
              <a:rPr lang="en-US" altLang="zh-CN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 ‘</a:t>
            </a:r>
            <a:r>
              <a:rPr lang="zh-CN" altLang="en-US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中间关系</a:t>
            </a:r>
            <a:r>
              <a:rPr lang="en-US" altLang="zh-CN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’</a:t>
            </a:r>
            <a:r>
              <a:rPr lang="zh-CN" altLang="en-US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</a:t>
            </a:r>
            <a:r>
              <a:rPr lang="en-US" altLang="zh-CN" dirty="0"/>
              <a:t> 8 - </a:t>
            </a:r>
            <a:r>
              <a:rPr lang="zh-CN" altLang="en-US" dirty="0"/>
              <a:t>关系的性质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23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1000"/>
                  </a:spcBef>
                </a:pPr>
                <a:r>
                  <a:rPr lang="zh-CN" altLang="en-US" dirty="0"/>
                  <a:t>按照定义</a:t>
                </a:r>
                <a:r>
                  <a:rPr lang="en-US" altLang="zh-CN" dirty="0"/>
                  <a:t>2.2</a:t>
                </a:r>
                <a:r>
                  <a:rPr lang="zh-CN" altLang="en-US" dirty="0"/>
                  <a:t>和定义</a:t>
                </a:r>
                <a:r>
                  <a:rPr lang="en-US" altLang="zh-CN" dirty="0"/>
                  <a:t>2.3</a:t>
                </a:r>
                <a:r>
                  <a:rPr lang="zh-CN" altLang="en-US" dirty="0"/>
                  <a:t>，关系可以是一个无限集合，且定义关系的笛卡尔积不满足交换律。</a:t>
                </a:r>
              </a:p>
              <a:p>
                <a:pPr>
                  <a:lnSpc>
                    <a:spcPct val="100000"/>
                  </a:lnSpc>
                  <a:spcBef>
                    <a:spcPts val="1000"/>
                  </a:spcBef>
                </a:pPr>
                <a:r>
                  <a:rPr lang="zh-CN" altLang="en-US" dirty="0"/>
                  <a:t>当使用</a:t>
                </a: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‘</a:t>
                </a: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关系</a:t>
                </a: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’</a:t>
                </a: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来</a:t>
                </a:r>
                <a:r>
                  <a:rPr lang="zh-CN" altLang="en-US" dirty="0"/>
                  <a:t>作为关系数据模型的数据结构时，需要添加以下的约束：</a:t>
                </a:r>
              </a:p>
              <a:p>
                <a:pPr lvl="1">
                  <a:lnSpc>
                    <a:spcPct val="100000"/>
                  </a:lnSpc>
                  <a:spcBef>
                    <a:spcPts val="1000"/>
                  </a:spcBef>
                </a:pPr>
                <a:r>
                  <a:rPr lang="zh-CN" altLang="en-US" sz="2800" dirty="0"/>
                  <a:t>必须是一个有限子集</a:t>
                </a:r>
              </a:p>
              <a:p>
                <a:pPr lvl="1">
                  <a:lnSpc>
                    <a:spcPct val="100000"/>
                  </a:lnSpc>
                  <a:spcBef>
                    <a:spcPts val="1000"/>
                  </a:spcBef>
                </a:pPr>
                <a:r>
                  <a:rPr lang="zh-CN" altLang="en-US" sz="2800" dirty="0"/>
                  <a:t>笛卡尔积满足交换律（或者说：关系中的列</a:t>
                </a:r>
                <a:r>
                  <a:rPr lang="en-US" altLang="zh-CN" sz="2800" dirty="0"/>
                  <a:t>/</a:t>
                </a:r>
                <a:r>
                  <a:rPr lang="zh-CN" altLang="en-US" sz="2800" dirty="0"/>
                  <a:t>属性满足</a:t>
                </a:r>
                <a:r>
                  <a:rPr lang="en-US" altLang="zh-CN" sz="2800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‘</a:t>
                </a:r>
                <a:r>
                  <a:rPr lang="zh-CN" altLang="en-US" sz="2800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无序性</a:t>
                </a:r>
                <a:r>
                  <a:rPr lang="en-US" altLang="zh-CN" sz="2800" dirty="0">
                    <a:latin typeface="Times New Roman" panose="02020603050405020304" pitchFamily="2" charset="0"/>
                    <a:cs typeface="Times New Roman" panose="02020603050405020304" pitchFamily="2" charset="0"/>
                  </a:rPr>
                  <a:t>’</a:t>
                </a:r>
                <a:r>
                  <a:rPr lang="zh-CN" altLang="en-US" sz="2800" dirty="0"/>
                  <a:t>）</a:t>
                </a:r>
              </a:p>
              <a:p>
                <a:pPr lvl="2">
                  <a:lnSpc>
                    <a:spcPct val="100000"/>
                  </a:lnSpc>
                  <a:spcBef>
                    <a:spcPts val="1000"/>
                  </a:spcBef>
                </a:pPr>
                <a:r>
                  <a:rPr lang="zh-CN" altLang="en-US" dirty="0"/>
                  <a:t>给定一组域</a:t>
                </a:r>
                <a14:m>
                  <m:oMath xmlns:m="http://schemas.openxmlformats.org/officeDocument/2006/math">
                    <m:r>
                      <a:rPr lang="en-US" altLang="zh-CN" dirty="0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b="1" i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𝑫</m:t>
                    </m:r>
                    <m:r>
                      <a:rPr lang="en-US" altLang="zh-CN" b="1" kern="0" baseline="-2500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𝟏</m:t>
                    </m:r>
                    <m:r>
                      <a:rPr lang="en-US" altLang="zh-CN" b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, </m:t>
                    </m:r>
                    <m:r>
                      <a:rPr lang="en-US" altLang="zh-CN" b="1" i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𝑫</m:t>
                    </m:r>
                    <m:r>
                      <a:rPr lang="en-US" altLang="zh-CN" b="1" kern="0" baseline="-2500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𝟐</m:t>
                    </m:r>
                    <m:r>
                      <a:rPr lang="en-US" altLang="zh-CN" b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, ⋯, </m:t>
                    </m:r>
                    <m:r>
                      <a:rPr lang="en-US" altLang="zh-CN" b="1" i="1" kern="0" dirty="0" err="1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𝑫</m:t>
                    </m:r>
                    <m:r>
                      <a:rPr lang="en-US" altLang="zh-CN" b="1" i="1" kern="0" baseline="-25000" dirty="0" err="1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𝒏</m:t>
                    </m:r>
                  </m:oMath>
                </a14:m>
                <a:r>
                  <a:rPr lang="zh-CN" altLang="en-US" dirty="0"/>
                  <a:t>，不论以何种顺序来计算它们的笛卡尔积，其结果是等价的</a:t>
                </a:r>
              </a:p>
              <a:p>
                <a:pPr lvl="2">
                  <a:lnSpc>
                    <a:spcPct val="100000"/>
                  </a:lnSpc>
                  <a:spcBef>
                    <a:spcPts val="1000"/>
                  </a:spcBef>
                </a:pPr>
                <a:r>
                  <a:rPr lang="zh-CN" altLang="en-US" dirty="0"/>
                  <a:t>即：</a:t>
                </a:r>
                <a:r>
                  <a:rPr lang="en-US" altLang="zh-CN" i="1" dirty="0">
                    <a:latin typeface="Times New Roman" panose="02020603050405020304" pitchFamily="2" charset="0"/>
                    <a:cs typeface="Times New Roman" panose="02020603050405020304" pitchFamily="2" charset="0"/>
                    <a:sym typeface="+mn-ea"/>
                  </a:rPr>
                  <a:t>D</a:t>
                </a:r>
                <a:r>
                  <a:rPr lang="en-US" altLang="zh-CN" baseline="-25000" dirty="0">
                    <a:latin typeface="Times New Roman" panose="02020603050405020304" pitchFamily="2" charset="0"/>
                    <a:cs typeface="Times New Roman" panose="02020603050405020304" pitchFamily="2" charset="0"/>
                    <a:sym typeface="+mn-ea"/>
                  </a:rPr>
                  <a:t>1</a:t>
                </a:r>
                <a:r>
                  <a:rPr lang="en-US" altLang="zh-CN" b="0" dirty="0">
                    <a:latin typeface="Times New Roman" panose="02020603050405020304" pitchFamily="2" charset="0"/>
                    <a:ea typeface="微软雅黑" panose="020B0503020204020204" charset="-122"/>
                    <a:cs typeface="Times New Roman" panose="02020603050405020304" pitchFamily="2" charset="0"/>
                    <a:sym typeface="+mn-ea"/>
                  </a:rPr>
                  <a:t>×...×</a:t>
                </a:r>
                <a:r>
                  <a:rPr lang="en-US" altLang="zh-CN" i="1" dirty="0">
                    <a:solidFill>
                      <a:srgbClr val="FF0000"/>
                    </a:solidFill>
                    <a:latin typeface="Times New Roman" panose="02020603050405020304" pitchFamily="2" charset="0"/>
                    <a:ea typeface="微软雅黑" panose="020B0503020204020204" charset="-122"/>
                    <a:cs typeface="Times New Roman" panose="02020603050405020304" pitchFamily="2" charset="0"/>
                    <a:sym typeface="+mn-ea"/>
                  </a:rPr>
                  <a:t>D</a:t>
                </a:r>
                <a:r>
                  <a:rPr lang="en-US" altLang="zh-CN" i="1" baseline="-25000" dirty="0">
                    <a:solidFill>
                      <a:srgbClr val="FF0000"/>
                    </a:solidFill>
                    <a:latin typeface="Times New Roman" panose="02020603050405020304" pitchFamily="2" charset="0"/>
                    <a:ea typeface="微软雅黑" panose="020B0503020204020204" charset="-122"/>
                    <a:cs typeface="Times New Roman" panose="02020603050405020304" pitchFamily="2" charset="0"/>
                    <a:sym typeface="+mn-ea"/>
                  </a:rPr>
                  <a:t>i</a:t>
                </a:r>
                <a:r>
                  <a:rPr lang="en-US" altLang="zh-CN" b="0" dirty="0">
                    <a:solidFill>
                      <a:srgbClr val="FF0000"/>
                    </a:solidFill>
                    <a:latin typeface="Times New Roman" panose="02020603050405020304" pitchFamily="2" charset="0"/>
                    <a:ea typeface="微软雅黑" panose="020B0503020204020204" charset="-122"/>
                    <a:cs typeface="Times New Roman" panose="02020603050405020304" pitchFamily="2" charset="0"/>
                    <a:sym typeface="+mn-ea"/>
                  </a:rPr>
                  <a:t>×</a:t>
                </a:r>
                <a:r>
                  <a:rPr lang="en-US" altLang="zh-CN" i="1" dirty="0">
                    <a:solidFill>
                      <a:srgbClr val="FF0000"/>
                    </a:solidFill>
                    <a:latin typeface="Times New Roman" panose="02020603050405020304" pitchFamily="2" charset="0"/>
                    <a:ea typeface="微软雅黑" panose="020B0503020204020204" charset="-122"/>
                    <a:cs typeface="Times New Roman" panose="02020603050405020304" pitchFamily="2" charset="0"/>
                    <a:sym typeface="+mn-ea"/>
                  </a:rPr>
                  <a:t>D</a:t>
                </a:r>
                <a:r>
                  <a:rPr lang="en-US" altLang="zh-CN" i="1" baseline="-25000" dirty="0">
                    <a:solidFill>
                      <a:srgbClr val="FF0000"/>
                    </a:solidFill>
                    <a:latin typeface="Times New Roman" panose="02020603050405020304" pitchFamily="2" charset="0"/>
                    <a:ea typeface="微软雅黑" panose="020B0503020204020204" charset="-122"/>
                    <a:cs typeface="Times New Roman" panose="02020603050405020304" pitchFamily="2" charset="0"/>
                    <a:sym typeface="+mn-ea"/>
                  </a:rPr>
                  <a:t>i</a:t>
                </a:r>
                <a:r>
                  <a:rPr lang="en-US" altLang="zh-CN" baseline="-25000" dirty="0">
                    <a:solidFill>
                      <a:srgbClr val="FF0000"/>
                    </a:solidFill>
                    <a:latin typeface="Times New Roman" panose="02020603050405020304" pitchFamily="2" charset="0"/>
                    <a:ea typeface="微软雅黑" panose="020B0503020204020204" charset="-122"/>
                    <a:cs typeface="Times New Roman" panose="02020603050405020304" pitchFamily="2" charset="0"/>
                    <a:sym typeface="+mn-ea"/>
                  </a:rPr>
                  <a:t>+1</a:t>
                </a:r>
                <a:r>
                  <a:rPr lang="en-US" altLang="zh-CN" b="0" dirty="0">
                    <a:latin typeface="Times New Roman" panose="02020603050405020304" pitchFamily="2" charset="0"/>
                    <a:ea typeface="微软雅黑" panose="020B0503020204020204" charset="-122"/>
                    <a:cs typeface="Times New Roman" panose="02020603050405020304" pitchFamily="2" charset="0"/>
                    <a:sym typeface="+mn-ea"/>
                  </a:rPr>
                  <a:t>×...×</a:t>
                </a:r>
                <a:r>
                  <a:rPr lang="en-US" altLang="zh-CN" i="1" dirty="0">
                    <a:latin typeface="Times New Roman" panose="02020603050405020304" pitchFamily="2" charset="0"/>
                    <a:ea typeface="微软雅黑" panose="020B0503020204020204" charset="-122"/>
                    <a:cs typeface="Times New Roman" panose="02020603050405020304" pitchFamily="2" charset="0"/>
                    <a:sym typeface="+mn-ea"/>
                  </a:rPr>
                  <a:t>D</a:t>
                </a:r>
                <a:r>
                  <a:rPr lang="en-US" altLang="zh-CN" i="1" baseline="-25000" dirty="0">
                    <a:latin typeface="Times New Roman" panose="02020603050405020304" pitchFamily="2" charset="0"/>
                    <a:ea typeface="微软雅黑" panose="020B0503020204020204" charset="-122"/>
                    <a:cs typeface="Times New Roman" panose="02020603050405020304" pitchFamily="2" charset="0"/>
                    <a:sym typeface="+mn-ea"/>
                  </a:rPr>
                  <a:t>n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 </a:t>
                </a:r>
                <a:r>
                  <a:rPr lang="en-US" altLang="zh-CN" i="1" dirty="0">
                    <a:latin typeface="Times New Roman" panose="02020603050405020304" pitchFamily="2" charset="0"/>
                    <a:cs typeface="Times New Roman" panose="02020603050405020304" pitchFamily="2" charset="0"/>
                    <a:sym typeface="+mn-ea"/>
                  </a:rPr>
                  <a:t>D</a:t>
                </a:r>
                <a:r>
                  <a:rPr lang="en-US" altLang="zh-CN" baseline="-25000" dirty="0">
                    <a:latin typeface="Times New Roman" panose="02020603050405020304" pitchFamily="2" charset="0"/>
                    <a:cs typeface="Times New Roman" panose="02020603050405020304" pitchFamily="2" charset="0"/>
                    <a:sym typeface="+mn-ea"/>
                  </a:rPr>
                  <a:t>1</a:t>
                </a:r>
                <a:r>
                  <a:rPr lang="en-US" altLang="zh-CN" b="0" dirty="0">
                    <a:latin typeface="Times New Roman" panose="02020603050405020304" pitchFamily="2" charset="0"/>
                    <a:ea typeface="微软雅黑" panose="020B0503020204020204" charset="-122"/>
                    <a:cs typeface="Times New Roman" panose="02020603050405020304" pitchFamily="2" charset="0"/>
                    <a:sym typeface="+mn-ea"/>
                  </a:rPr>
                  <a:t>×...×</a:t>
                </a:r>
                <a:r>
                  <a:rPr lang="en-US" altLang="zh-CN" i="1" dirty="0">
                    <a:solidFill>
                      <a:srgbClr val="FF0000"/>
                    </a:solidFill>
                    <a:latin typeface="Times New Roman" panose="02020603050405020304" pitchFamily="2" charset="0"/>
                    <a:ea typeface="微软雅黑" panose="020B0503020204020204" charset="-122"/>
                    <a:cs typeface="Times New Roman" panose="02020603050405020304" pitchFamily="2" charset="0"/>
                    <a:sym typeface="+mn-ea"/>
                  </a:rPr>
                  <a:t>D</a:t>
                </a:r>
                <a:r>
                  <a:rPr lang="en-US" altLang="zh-CN" i="1" baseline="-25000" dirty="0">
                    <a:solidFill>
                      <a:srgbClr val="FF0000"/>
                    </a:solidFill>
                    <a:latin typeface="Times New Roman" panose="02020603050405020304" pitchFamily="2" charset="0"/>
                    <a:ea typeface="微软雅黑" panose="020B0503020204020204" charset="-122"/>
                    <a:cs typeface="Times New Roman" panose="02020603050405020304" pitchFamily="2" charset="0"/>
                    <a:sym typeface="+mn-ea"/>
                  </a:rPr>
                  <a:t>i+</a:t>
                </a:r>
                <a:r>
                  <a:rPr lang="en-US" altLang="zh-CN" baseline="-25000" dirty="0">
                    <a:solidFill>
                      <a:srgbClr val="FF0000"/>
                    </a:solidFill>
                    <a:latin typeface="Times New Roman" panose="02020603050405020304" pitchFamily="2" charset="0"/>
                    <a:ea typeface="微软雅黑" panose="020B0503020204020204" charset="-122"/>
                    <a:cs typeface="Times New Roman" panose="02020603050405020304" pitchFamily="2" charset="0"/>
                    <a:sym typeface="+mn-ea"/>
                  </a:rPr>
                  <a:t>1</a:t>
                </a:r>
                <a:r>
                  <a:rPr lang="en-US" altLang="zh-CN" b="0" dirty="0">
                    <a:solidFill>
                      <a:srgbClr val="FF0000"/>
                    </a:solidFill>
                    <a:latin typeface="Times New Roman" panose="02020603050405020304" pitchFamily="2" charset="0"/>
                    <a:ea typeface="微软雅黑" panose="020B0503020204020204" charset="-122"/>
                    <a:cs typeface="Times New Roman" panose="02020603050405020304" pitchFamily="2" charset="0"/>
                    <a:sym typeface="+mn-ea"/>
                  </a:rPr>
                  <a:t>×</a:t>
                </a:r>
                <a:r>
                  <a:rPr lang="en-US" altLang="zh-CN" i="1" dirty="0">
                    <a:solidFill>
                      <a:srgbClr val="FF0000"/>
                    </a:solidFill>
                    <a:latin typeface="Times New Roman" panose="02020603050405020304" pitchFamily="2" charset="0"/>
                    <a:ea typeface="微软雅黑" panose="020B0503020204020204" charset="-122"/>
                    <a:cs typeface="Times New Roman" panose="02020603050405020304" pitchFamily="2" charset="0"/>
                    <a:sym typeface="+mn-ea"/>
                  </a:rPr>
                  <a:t>D</a:t>
                </a:r>
                <a:r>
                  <a:rPr lang="en-US" altLang="zh-CN" i="1" baseline="-25000" dirty="0">
                    <a:solidFill>
                      <a:srgbClr val="FF0000"/>
                    </a:solidFill>
                    <a:latin typeface="Times New Roman" panose="02020603050405020304" pitchFamily="2" charset="0"/>
                    <a:ea typeface="微软雅黑" panose="020B0503020204020204" charset="-122"/>
                    <a:cs typeface="Times New Roman" panose="02020603050405020304" pitchFamily="2" charset="0"/>
                    <a:sym typeface="+mn-ea"/>
                  </a:rPr>
                  <a:t>i</a:t>
                </a:r>
                <a:r>
                  <a:rPr lang="en-US" altLang="zh-CN" b="0" dirty="0">
                    <a:latin typeface="Times New Roman" panose="02020603050405020304" pitchFamily="2" charset="0"/>
                    <a:ea typeface="微软雅黑" panose="020B0503020204020204" charset="-122"/>
                    <a:cs typeface="Times New Roman" panose="02020603050405020304" pitchFamily="2" charset="0"/>
                    <a:sym typeface="+mn-ea"/>
                  </a:rPr>
                  <a:t>×...×</a:t>
                </a:r>
                <a:r>
                  <a:rPr lang="en-US" altLang="zh-CN" i="1" dirty="0">
                    <a:latin typeface="Times New Roman" panose="02020603050405020304" pitchFamily="2" charset="0"/>
                    <a:ea typeface="微软雅黑" panose="020B0503020204020204" charset="-122"/>
                    <a:cs typeface="Times New Roman" panose="02020603050405020304" pitchFamily="2" charset="0"/>
                    <a:sym typeface="+mn-ea"/>
                  </a:rPr>
                  <a:t>D</a:t>
                </a:r>
                <a:r>
                  <a:rPr lang="en-US" altLang="zh-CN" i="1" baseline="-25000" dirty="0">
                    <a:latin typeface="Times New Roman" panose="02020603050405020304" pitchFamily="2" charset="0"/>
                    <a:ea typeface="微软雅黑" panose="020B0503020204020204" charset="-122"/>
                    <a:cs typeface="Times New Roman" panose="02020603050405020304" pitchFamily="2" charset="0"/>
                    <a:sym typeface="+mn-ea"/>
                  </a:rPr>
                  <a:t>n</a:t>
                </a:r>
                <a:r>
                  <a:rPr lang="en-US" altLang="zh-CN" dirty="0"/>
                  <a:t> </a:t>
                </a:r>
                <a:r>
                  <a:rPr lang="zh-CN" altLang="en-US" dirty="0">
                    <a:sym typeface="+mn-ea"/>
                  </a:rPr>
                  <a:t>等价，且等价具有传递性</a:t>
                </a:r>
                <a:endParaRPr lang="en-US" altLang="zh-CN" kern="0" baseline="-25000" dirty="0">
                  <a:latin typeface="Times New Roman" panose="02020603050405020304" pitchFamily="2" charset="0"/>
                  <a:ea typeface="微软雅黑" panose="020B0503020204020204" charset="-122"/>
                  <a:cs typeface="Times New Roman" panose="02020603050405020304" pitchFamily="2" charset="0"/>
                  <a:sym typeface="+mn-ea"/>
                </a:endParaRPr>
              </a:p>
              <a:p>
                <a:pPr lvl="0" fontAlgn="auto">
                  <a:lnSpc>
                    <a:spcPct val="100000"/>
                  </a:lnSpc>
                  <a:spcBef>
                    <a:spcPts val="2000"/>
                  </a:spcBef>
                </a:pP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  <a:sym typeface="+mn-ea"/>
                  </a:rPr>
                  <a:t>经过以上约定和扩充后，关系模型数据结构</a:t>
                </a: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  <a:sym typeface="+mn-ea"/>
                  </a:rPr>
                  <a:t>‘</a:t>
                </a: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  <a:sym typeface="+mn-ea"/>
                  </a:rPr>
                  <a:t>关系</a:t>
                </a: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  <a:sym typeface="+mn-ea"/>
                  </a:rPr>
                  <a:t>’</a:t>
                </a: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  <a:sym typeface="+mn-ea"/>
                  </a:rPr>
                  <a:t>具有以下性质</a:t>
                </a:r>
              </a:p>
            </p:txBody>
          </p:sp>
        </mc:Choice>
        <mc:Fallback xmlns="">
          <p:sp>
            <p:nvSpPr>
              <p:cNvPr id="30723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5661025" y="1193165"/>
            <a:ext cx="6329045" cy="521970"/>
          </a:xfrm>
          <a:prstGeom prst="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关系：笛卡尔积</a:t>
            </a:r>
            <a:r>
              <a:rPr lang="en-US" altLang="zh-CN" sz="2800" b="1">
                <a:solidFill>
                  <a:srgbClr val="FF0000"/>
                </a:solidFill>
              </a:rPr>
              <a:t> 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D</a:t>
            </a:r>
            <a:r>
              <a:rPr lang="en-US" altLang="zh-CN" sz="2800" b="1" baseline="-25000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1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×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D</a:t>
            </a:r>
            <a:r>
              <a:rPr lang="en-US" altLang="zh-CN" sz="2800" b="1" i="1" baseline="-25000" dirty="0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2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×...×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D</a:t>
            </a:r>
            <a:r>
              <a:rPr lang="en-US" altLang="zh-CN" sz="2800" b="1" i="1" baseline="-25000" dirty="0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n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 </a:t>
            </a:r>
            <a:r>
              <a:rPr lang="zh-CN" altLang="en-US" sz="28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的子集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</a:t>
            </a:r>
            <a:r>
              <a:rPr lang="en-US" altLang="zh-CN" dirty="0"/>
              <a:t> 9 - </a:t>
            </a:r>
            <a:r>
              <a:rPr lang="zh-CN" altLang="en-US" dirty="0"/>
              <a:t>关系的性质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lnSpc>
                <a:spcPct val="10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列是同质的</a:t>
            </a:r>
            <a:r>
              <a:rPr lang="zh-CN" altLang="en-US" sz="2800" dirty="0">
                <a:latin typeface="Times New Roman" panose="02020603050405020304" pitchFamily="2" charset="0"/>
                <a:cs typeface="Times New Roman" panose="02020603050405020304" pitchFamily="2" charset="0"/>
              </a:rPr>
              <a:t>（</a:t>
            </a:r>
            <a:r>
              <a:rPr lang="en-US" altLang="zh-CN" sz="2800" dirty="0">
                <a:latin typeface="Times New Roman" panose="02020603050405020304" pitchFamily="2" charset="0"/>
                <a:cs typeface="Times New Roman" panose="02020603050405020304" pitchFamily="2" charset="0"/>
              </a:rPr>
              <a:t>Homogeneous</a:t>
            </a:r>
            <a:r>
              <a:rPr lang="zh-CN" altLang="en-US" sz="2800" dirty="0">
                <a:latin typeface="Times New Roman" panose="02020603050405020304" pitchFamily="2" charset="0"/>
                <a:cs typeface="Times New Roman" panose="02020603050405020304" pitchFamily="2" charset="0"/>
              </a:rPr>
              <a:t>）</a:t>
            </a:r>
            <a:endParaRPr lang="en-US" altLang="zh-CN" sz="2800" dirty="0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每一列中的分量是同一类型的数据，来自同一个域</a:t>
            </a:r>
          </a:p>
          <a:p>
            <a:pPr marL="514350" indent="-514350">
              <a:lnSpc>
                <a:spcPct val="10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不同的列可出自同一个域</a:t>
            </a:r>
            <a:endParaRPr lang="zh-CN" altLang="en-US" sz="2800" dirty="0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其中的每一列称为一个属性；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不同的属性要给予不同的属性名。（属性名的唯一性）</a:t>
            </a:r>
          </a:p>
          <a:p>
            <a:pPr marL="514350" indent="-514350">
              <a:lnSpc>
                <a:spcPct val="10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列的无序性（属性的无序性）</a:t>
            </a:r>
            <a:endParaRPr lang="en-US" altLang="zh-CN" sz="2800" dirty="0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列的排列顺序无所谓，列与列之间的次序可以任意交换；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可通过属性名指定需要访问的列。</a:t>
            </a:r>
          </a:p>
          <a:p>
            <a:pPr marL="514350" indent="-514350">
              <a:lnSpc>
                <a:spcPct val="10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行的唯一性（元组的唯一性）</a:t>
            </a:r>
            <a:endParaRPr lang="zh-CN" altLang="en-US" sz="2800" dirty="0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任意两个元组在</a:t>
            </a:r>
            <a:r>
              <a:rPr lang="en-US" altLang="zh-CN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‘</a:t>
            </a:r>
            <a:r>
              <a:rPr lang="zh-CN" altLang="en-US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候选码</a:t>
            </a:r>
            <a:r>
              <a:rPr lang="en-US" altLang="zh-CN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’</a:t>
            </a:r>
            <a:r>
              <a:rPr lang="zh-CN" altLang="en-US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属性上的取值不能相同。</a:t>
            </a:r>
          </a:p>
          <a:p>
            <a:pPr marL="514350" indent="-514350">
              <a:lnSpc>
                <a:spcPct val="10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行的无序性（元组的无序性）</a:t>
            </a:r>
            <a:endParaRPr lang="en-US" altLang="zh-CN" sz="2800" dirty="0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行的排列顺序无所谓，</a:t>
            </a:r>
            <a:r>
              <a:rPr lang="zh-CN" altLang="en-US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行与行之间的次序可以任意交换；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可通过指定行在列上的取值来确定需要访问的行。</a:t>
            </a:r>
            <a:endParaRPr lang="en-US" altLang="zh-CN" sz="2400" dirty="0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marL="514350" indent="-514350">
              <a:lnSpc>
                <a:spcPct val="10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分量必须取原子值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2" charset="0"/>
                <a:cs typeface="Times New Roman" panose="02020603050405020304" pitchFamily="2" charset="0"/>
              </a:rPr>
              <a:t>每一个分量都必须是不可分的数据项。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  <p:graphicFrame>
        <p:nvGraphicFramePr>
          <p:cNvPr id="2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581390" y="925830"/>
          <a:ext cx="348869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老师</a:t>
                      </a:r>
                    </a:p>
                  </a:txBody>
                  <a:tcPr marL="68580" marR="68580" marT="0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000" b="1">
                          <a:solidFill>
                            <a:srgbClr val="C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专业</a:t>
                      </a:r>
                    </a:p>
                  </a:txBody>
                  <a:tcPr marL="68580" marR="68580" marT="0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学生</a:t>
                      </a:r>
                    </a:p>
                  </a:txBody>
                  <a:tcPr marL="68580" marR="68580" marT="0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张清玫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计算机专业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李勇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张清玫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计算机专业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刘晨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刘逸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信息专业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王敏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0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0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07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07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07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 </a:t>
            </a:r>
            <a:r>
              <a:rPr lang="en-US" altLang="zh-CN" dirty="0"/>
              <a:t>10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zh-CN" altLang="en-US" dirty="0"/>
              <a:t>在关系模型理论中，每一个关系都必须满足前述的</a:t>
            </a:r>
            <a:r>
              <a:rPr lang="en-US" altLang="zh-CN" dirty="0"/>
              <a:t>6</a:t>
            </a:r>
            <a:r>
              <a:rPr lang="zh-CN" altLang="en-US" dirty="0"/>
              <a:t>个条件。或者说，只有同时满足这</a:t>
            </a:r>
            <a:r>
              <a:rPr lang="en-US" altLang="zh-CN" dirty="0"/>
              <a:t>6</a:t>
            </a:r>
            <a:r>
              <a:rPr lang="zh-CN" altLang="en-US" dirty="0"/>
              <a:t>个条件的二维表才能被称为</a:t>
            </a:r>
            <a:r>
              <a:rPr lang="en-US" altLang="zh-CN" dirty="0"/>
              <a:t> 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‘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关系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’</a:t>
            </a:r>
            <a:r>
              <a:rPr lang="zh-CN" altLang="en-US" dirty="0"/>
              <a:t>。</a:t>
            </a:r>
          </a:p>
          <a:p>
            <a:pPr lvl="0" fontAlgn="auto">
              <a:lnSpc>
                <a:spcPct val="100000"/>
              </a:lnSpc>
            </a:pPr>
            <a:r>
              <a:rPr lang="zh-CN" altLang="en-US" dirty="0"/>
              <a:t>但是，在许多实际关系数据库产品中，基本表并不完全具有这</a:t>
            </a:r>
            <a:r>
              <a:rPr lang="en-US" altLang="zh-CN" dirty="0"/>
              <a:t>6</a:t>
            </a:r>
            <a:r>
              <a:rPr lang="zh-CN" altLang="en-US" dirty="0"/>
              <a:t>条性质。例如：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800" dirty="0"/>
              <a:t>有些数据库产品仍然区分属性顺序和元组顺序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800" dirty="0"/>
              <a:t>有些数据库产品可以根据行号</a:t>
            </a:r>
            <a:r>
              <a:rPr lang="en-US" altLang="zh-CN" sz="2800" dirty="0"/>
              <a:t>(rowid)</a:t>
            </a:r>
            <a:r>
              <a:rPr lang="zh-CN" altLang="en-US" sz="2800" dirty="0"/>
              <a:t>来访问元组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800" dirty="0"/>
              <a:t>有些数据库产品支持非规范化关系（如对象关系数据库等）</a:t>
            </a:r>
            <a:endParaRPr lang="zh-CN" altLang="en-US" dirty="0"/>
          </a:p>
          <a:p>
            <a:pPr marL="832485" lvl="1" indent="-374650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</a:pPr>
            <a:endParaRPr lang="zh-CN" altLang="en-US" dirty="0"/>
          </a:p>
        </p:txBody>
      </p:sp>
      <p:graphicFrame>
        <p:nvGraphicFramePr>
          <p:cNvPr id="5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27100" y="4589780"/>
          <a:ext cx="7049133" cy="1744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5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97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7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97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6245">
                <a:tc rowSpan="2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SUPERVISOR</a:t>
                      </a:r>
                    </a:p>
                  </a:txBody>
                  <a:tcPr marL="68580" marR="68580" marT="0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2400" b="1">
                          <a:solidFill>
                            <a:srgbClr val="C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SPECIALITY</a:t>
                      </a:r>
                    </a:p>
                  </a:txBody>
                  <a:tcPr marL="68580" marR="68580" marT="0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POSTGRADUATE</a:t>
                      </a:r>
                    </a:p>
                  </a:txBody>
                  <a:tcPr marL="68580" marR="68580" marT="0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24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alpha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altLang="en-US" sz="24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PG1</a:t>
                      </a:r>
                    </a:p>
                  </a:txBody>
                  <a:tcPr marL="68580" marR="68580" marT="0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altLang="en-US" sz="24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PG2</a:t>
                      </a:r>
                    </a:p>
                  </a:txBody>
                  <a:tcPr marL="68580" marR="68580" marT="0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altLang="en-US" sz="24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PG3...</a:t>
                      </a:r>
                      <a:endParaRPr lang="zh-CN" altLang="en-US" sz="2400" b="1" dirty="0">
                        <a:solidFill>
                          <a:srgbClr val="C00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0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张清玫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计算机专业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李勇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2400" b="1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刘晨</a:t>
                      </a:r>
                      <a:endParaRPr lang="zh-CN" altLang="en-US" sz="24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zh-CN" altLang="en-US" sz="24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0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刘逸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信息专业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王敏</a:t>
                      </a: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zh-CN" alt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zh-CN" alt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4763" marR="4763" marT="4763" marB="0" anchor="ctr">
                    <a:lnL w="9525" cmpd="sng">
                      <a:solidFill>
                        <a:schemeClr val="tx1"/>
                      </a:solidFill>
                      <a:prstDash val="solid"/>
                    </a:lnL>
                    <a:lnR w="9525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0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927100" y="4129405"/>
            <a:ext cx="625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表</a:t>
            </a:r>
            <a:r>
              <a:rPr lang="en-US" altLang="zh-CN" sz="24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 </a:t>
            </a:r>
            <a:r>
              <a:rPr lang="zh-CN" altLang="en-US" sz="24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非规范化关系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7975600" y="4723130"/>
            <a:ext cx="3638550" cy="881380"/>
            <a:chOff x="12800" y="7214"/>
            <a:chExt cx="5730" cy="1388"/>
          </a:xfrm>
        </p:grpSpPr>
        <p:sp>
          <p:nvSpPr>
            <p:cNvPr id="2" name="线形标注 1 1"/>
            <p:cNvSpPr/>
            <p:nvPr/>
          </p:nvSpPr>
          <p:spPr>
            <a:xfrm>
              <a:off x="13647" y="7214"/>
              <a:ext cx="4883" cy="1388"/>
            </a:xfrm>
            <a:prstGeom prst="borderCallout1">
              <a:avLst>
                <a:gd name="adj1" fmla="val 17507"/>
                <a:gd name="adj2" fmla="val -1822"/>
                <a:gd name="adj3" fmla="val 53458"/>
                <a:gd name="adj4" fmla="val -2052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rgbClr val="1F2DA8"/>
                  </a:solidFill>
                </a:rPr>
                <a:t>POSTGRADUATE</a:t>
              </a:r>
              <a:r>
                <a:rPr lang="zh-CN" altLang="en-US" sz="2400">
                  <a:solidFill>
                    <a:srgbClr val="1F2DA8"/>
                  </a:solidFill>
                </a:rPr>
                <a:t>是一个多值属性（集合属性）</a:t>
              </a:r>
            </a:p>
          </p:txBody>
        </p:sp>
        <p:cxnSp>
          <p:nvCxnSpPr>
            <p:cNvPr id="4" name="直接箭头连接符 3"/>
            <p:cNvCxnSpPr>
              <a:stCxn id="2" idx="2"/>
            </p:cNvCxnSpPr>
            <p:nvPr/>
          </p:nvCxnSpPr>
          <p:spPr>
            <a:xfrm flipH="1">
              <a:off x="12800" y="7908"/>
              <a:ext cx="847" cy="186"/>
            </a:xfrm>
            <a:prstGeom prst="straightConnector1">
              <a:avLst/>
            </a:prstGeom>
            <a:ln w="19050">
              <a:tailEnd type="arrow" w="lg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关系 </a:t>
            </a:r>
            <a:r>
              <a:rPr lang="en-US" altLang="zh-CN" dirty="0">
                <a:sym typeface="+mn-ea"/>
              </a:rPr>
              <a:t>11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1000"/>
              </a:spcBef>
            </a:pPr>
            <a:r>
              <a:rPr lang="zh-CN" altLang="en-US" sz="2800">
                <a:solidFill>
                  <a:srgbClr val="1F2DA8"/>
                </a:solidFill>
              </a:rPr>
              <a:t>尽管在关系、二维表、数据文件三者之间有类似之处，但它们又有区别。严格</a:t>
            </a:r>
            <a:r>
              <a:rPr lang="zh-CN" altLang="en-US" sz="2800"/>
              <a:t>地说，</a:t>
            </a:r>
            <a:r>
              <a:rPr lang="zh-CN" altLang="en-US" sz="2800">
                <a:solidFill>
                  <a:srgbClr val="FF0000"/>
                </a:solidFill>
              </a:rPr>
              <a:t>关系是一种规范化了的二维表</a:t>
            </a:r>
            <a:r>
              <a:rPr lang="zh-CN" altLang="en-US" sz="2800"/>
              <a:t>。</a:t>
            </a:r>
          </a:p>
          <a:p>
            <a:pPr lvl="0">
              <a:lnSpc>
                <a:spcPct val="100000"/>
              </a:lnSpc>
              <a:spcBef>
                <a:spcPts val="1000"/>
              </a:spcBef>
            </a:pPr>
            <a:endParaRPr lang="zh-CN" altLang="en-US" sz="2800"/>
          </a:p>
          <a:p>
            <a:pPr lvl="0">
              <a:lnSpc>
                <a:spcPct val="100000"/>
              </a:lnSpc>
              <a:spcBef>
                <a:spcPts val="1000"/>
              </a:spcBef>
            </a:pPr>
            <a:r>
              <a:rPr lang="zh-CN" altLang="en-US" sz="2800"/>
              <a:t>在关系数据模型中，对关系作了下列规范性限制：</a:t>
            </a:r>
          </a:p>
          <a:p>
            <a:pPr marL="914400" lvl="1" indent="-457200">
              <a:lnSpc>
                <a:spcPct val="100000"/>
              </a:lnSpc>
              <a:spcBef>
                <a:spcPts val="1000"/>
              </a:spcBef>
              <a:buFont typeface="+mj-ea"/>
              <a:buAutoNum type="circleNumDbPlain"/>
            </a:pPr>
            <a:r>
              <a:rPr lang="zh-CN" altLang="en-US"/>
              <a:t>关系中每一个属性值都是不可分解的（</a:t>
            </a:r>
            <a:r>
              <a:rPr lang="zh-CN" altLang="en-US">
                <a:solidFill>
                  <a:srgbClr val="C00000"/>
                </a:solidFill>
              </a:rPr>
              <a:t>属性的原子性</a:t>
            </a:r>
            <a:r>
              <a:rPr lang="zh-CN" altLang="en-US"/>
              <a:t>），也不允许出现重复组（多值属性）；</a:t>
            </a:r>
          </a:p>
          <a:p>
            <a:pPr marL="914400" lvl="1" indent="-457200">
              <a:lnSpc>
                <a:spcPct val="100000"/>
              </a:lnSpc>
              <a:spcBef>
                <a:spcPts val="1000"/>
              </a:spcBef>
              <a:buFont typeface="+mj-ea"/>
              <a:buAutoNum type="circleNumDbPlain"/>
            </a:pPr>
            <a:r>
              <a:rPr lang="zh-CN" altLang="en-US"/>
              <a:t>关系中不允许出现相同的元组（</a:t>
            </a:r>
            <a:r>
              <a:rPr lang="zh-CN" altLang="en-US">
                <a:solidFill>
                  <a:srgbClr val="C00000"/>
                </a:solidFill>
              </a:rPr>
              <a:t>元组的唯一性</a:t>
            </a:r>
            <a:r>
              <a:rPr lang="zh-CN" altLang="en-US"/>
              <a:t>）；</a:t>
            </a:r>
          </a:p>
          <a:p>
            <a:pPr marL="914400" lvl="1" indent="-457200">
              <a:lnSpc>
                <a:spcPct val="100000"/>
              </a:lnSpc>
              <a:spcBef>
                <a:spcPts val="1000"/>
              </a:spcBef>
              <a:buFont typeface="+mj-ea"/>
              <a:buAutoNum type="circleNumDbPlain"/>
            </a:pPr>
            <a:r>
              <a:rPr lang="zh-CN" altLang="en-US"/>
              <a:t>关系是一个集合，因此不考虑元组间的顺序（</a:t>
            </a:r>
            <a:r>
              <a:rPr lang="zh-CN" altLang="en-US">
                <a:solidFill>
                  <a:srgbClr val="C00000"/>
                </a:solidFill>
              </a:rPr>
              <a:t>元组的无序性</a:t>
            </a:r>
            <a:r>
              <a:rPr lang="zh-CN" altLang="en-US"/>
              <a:t>）；</a:t>
            </a:r>
          </a:p>
          <a:p>
            <a:pPr marL="914400" lvl="1" indent="-457200">
              <a:lnSpc>
                <a:spcPct val="100000"/>
              </a:lnSpc>
              <a:spcBef>
                <a:spcPts val="1000"/>
              </a:spcBef>
              <a:buFont typeface="+mj-ea"/>
              <a:buAutoNum type="circleNumDbPlain"/>
            </a:pPr>
            <a:r>
              <a:rPr lang="zh-CN" altLang="en-US"/>
              <a:t>元组中的属性理论上也是无序的（</a:t>
            </a:r>
            <a:r>
              <a:rPr lang="zh-CN" altLang="en-US">
                <a:solidFill>
                  <a:srgbClr val="C00000"/>
                </a:solidFill>
              </a:rPr>
              <a:t>属性的无序性</a:t>
            </a:r>
            <a:r>
              <a:rPr lang="zh-CN" altLang="en-US"/>
              <a:t>），但使用时按习惯考虑列的顺序。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扩展阅读：</a:t>
            </a:r>
            <a:r>
              <a:rPr lang="en-US" altLang="zh-CN"/>
              <a:t>Relational Model (1)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4180" y="687070"/>
            <a:ext cx="11343005" cy="1857375"/>
          </a:xfrm>
        </p:spPr>
        <p:txBody>
          <a:bodyPr wrap="square">
            <a:spAutoFit/>
          </a:bodyPr>
          <a:lstStyle/>
          <a:p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relation</a:t>
            </a:r>
            <a:endParaRPr lang="en-US" altLang="zh-CN" sz="2800">
              <a:cs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b="0">
                <a:latin typeface="Arial" panose="020B0604020202020204" pitchFamily="34" charset="0"/>
                <a:cs typeface="Arial" panose="020B0604020202020204" pitchFamily="34" charset="0"/>
              </a:rPr>
              <a:t>Give a list of sets S</a:t>
            </a:r>
            <a:r>
              <a:rPr lang="en-US" altLang="zh-CN" sz="2800" b="0" baseline="-250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2800" b="0">
                <a:latin typeface="Arial" panose="020B0604020202020204" pitchFamily="34" charset="0"/>
                <a:cs typeface="Arial" panose="020B0604020202020204" pitchFamily="34" charset="0"/>
              </a:rPr>
              <a:t>, S</a:t>
            </a:r>
            <a:r>
              <a:rPr lang="en-US" altLang="zh-CN" sz="2800" b="0" baseline="-25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2800" b="0">
                <a:latin typeface="Arial" panose="020B0604020202020204" pitchFamily="34" charset="0"/>
                <a:cs typeface="Arial" panose="020B0604020202020204" pitchFamily="34" charset="0"/>
              </a:rPr>
              <a:t>, ..., S</a:t>
            </a:r>
            <a:r>
              <a:rPr lang="en-US" altLang="zh-CN" sz="2800" b="0" baseline="-2500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zh-CN" sz="2800" b="0">
                <a:latin typeface="Arial" panose="020B0604020202020204" pitchFamily="34" charset="0"/>
                <a:cs typeface="Arial" panose="020B0604020202020204" pitchFamily="34" charset="0"/>
              </a:rPr>
              <a:t> (not necessarily distinct), R is a </a:t>
            </a:r>
            <a:r>
              <a:rPr lang="en-US" altLang="zh-CN" sz="2800" b="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 </a:t>
            </a:r>
            <a:r>
              <a:rPr lang="en-US" altLang="zh-CN" sz="2800" b="0">
                <a:latin typeface="Arial" panose="020B0604020202020204" pitchFamily="34" charset="0"/>
                <a:cs typeface="Arial" panose="020B0604020202020204" pitchFamily="34" charset="0"/>
              </a:rPr>
              <a:t>on these </a:t>
            </a:r>
            <a:r>
              <a:rPr lang="en-US" altLang="zh-CN" sz="2800" b="0" i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zh-CN" sz="2800" b="0">
                <a:latin typeface="Arial" panose="020B0604020202020204" pitchFamily="34" charset="0"/>
                <a:cs typeface="Arial" panose="020B0604020202020204" pitchFamily="34" charset="0"/>
              </a:rPr>
              <a:t> sets if it is a set of </a:t>
            </a:r>
            <a:r>
              <a:rPr lang="en-US" altLang="zh-CN" sz="2800" b="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n-tuples</a:t>
            </a:r>
            <a:r>
              <a:rPr lang="en-US" altLang="zh-CN" sz="2800" b="0">
                <a:latin typeface="Arial" panose="020B0604020202020204" pitchFamily="34" charset="0"/>
                <a:cs typeface="Arial" panose="020B0604020202020204" pitchFamily="34" charset="0"/>
              </a:rPr>
              <a:t> each of which has its first element from S</a:t>
            </a:r>
            <a:r>
              <a:rPr lang="en-US" altLang="zh-CN" sz="2800" b="0" baseline="-250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2800" b="0">
                <a:latin typeface="Arial" panose="020B0604020202020204" pitchFamily="34" charset="0"/>
                <a:cs typeface="Arial" panose="020B0604020202020204" pitchFamily="34" charset="0"/>
              </a:rPr>
              <a:t>, its second element from S</a:t>
            </a:r>
            <a:r>
              <a:rPr lang="en-US" altLang="zh-CN" sz="2800" b="0" baseline="-25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2800" b="0">
                <a:latin typeface="Arial" panose="020B0604020202020204" pitchFamily="34" charset="0"/>
                <a:cs typeface="Arial" panose="020B0604020202020204" pitchFamily="34" charset="0"/>
              </a:rPr>
              <a:t>, and so on.</a:t>
            </a:r>
            <a:endParaRPr lang="en-US" altLang="zh-CN" sz="2800" b="0" i="1" baseline="-250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65930" y="676910"/>
            <a:ext cx="7926070" cy="460375"/>
          </a:xfrm>
          <a:prstGeom prst="rect">
            <a:avLst/>
          </a:prstGeom>
          <a:solidFill>
            <a:schemeClr val="accent4">
              <a:lumMod val="40000"/>
              <a:lumOff val="60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i="1" u="sng">
                <a:solidFill>
                  <a:schemeClr val="tx1"/>
                </a:solidFill>
              </a:rPr>
              <a:t>Codd: A Relational Model of Data for Large Shared Data Banks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/>
              <p:cNvSpPr>
                <a:spLocks noGrp="1"/>
              </p:cNvSpPr>
              <p:nvPr/>
            </p:nvSpPr>
            <p:spPr>
              <a:xfrm>
                <a:off x="424180" y="3265805"/>
                <a:ext cx="11601450" cy="5219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>
                <a:lvl1pPr marL="342900" lvl="0" indent="-342900" algn="l" defTabSz="914400" eaLnBrk="0" fontAlgn="base" latinLnBrk="0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q"/>
                  <a:defRPr sz="2400" b="1" i="0" u="non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l" defTabSz="914400" eaLnBrk="0" fontAlgn="base" latinLnBrk="0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sz="2400" b="1" i="0" u="non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l" defTabSz="914400" eaLnBrk="0" fontAlgn="base" latinLnBrk="0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–"/>
                  <a:defRPr sz="2400" b="1" i="0" u="non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l" defTabSz="914400" eaLnBrk="0" fontAlgn="base" latinLnBrk="0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  <a:defRPr sz="2400" b="1" i="0" u="non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l" defTabSz="914400" eaLnBrk="0" fontAlgn="base" latinLnBrk="0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400" b="1" i="0" u="non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lvl="5" indent="-228600" algn="l" defTabSz="914400" eaLnBrk="0" fontAlgn="base" latinLnBrk="0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400" b="1" i="0" u="non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lvl="6" indent="-228600" algn="l" defTabSz="914400" eaLnBrk="0" fontAlgn="base" latinLnBrk="0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400" b="1" i="0" u="non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lvl="7" indent="-228600" algn="l" defTabSz="914400" eaLnBrk="0" fontAlgn="base" latinLnBrk="0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400" b="1" i="0" u="non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lvl="8" indent="-228600" algn="l" defTabSz="914400" eaLnBrk="0" fontAlgn="base" latinLnBrk="0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400" b="1" i="0" u="non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spcBef>
                    <a:spcPts val="0"/>
                  </a:spcBef>
                  <a:buClr>
                    <a:srgbClr val="C00000"/>
                  </a:buClr>
                  <a:buSzPct val="85000"/>
                  <a:buFont typeface="Arial" panose="020B0604020202020204" pitchFamily="34" charset="0"/>
                  <a:buChar char="•"/>
                </a:pPr>
                <a:r>
                  <a:rPr lang="en-US" altLang="zh-CN" sz="2800" b="0">
                    <a:solidFill>
                      <a:srgbClr val="1F2DA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We shall refer to </a:t>
                </a:r>
                <a14:m>
                  <m:oMath xmlns:m="http://schemas.openxmlformats.org/officeDocument/2006/math">
                    <m:r>
                      <a:rPr lang="en-US" altLang="zh-CN" sz="2800" b="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800" b="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𝑣</m:t>
                    </m:r>
                    <m:r>
                      <a:rPr lang="en-US" altLang="zh-CN" sz="2800" b="0" i="1" baseline="-2500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  <m:r>
                      <a:rPr lang="en-US" altLang="zh-CN" sz="2800" b="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, </m:t>
                    </m:r>
                    <m:r>
                      <a:rPr lang="en-US" altLang="zh-CN" sz="2800" b="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𝑣</m:t>
                    </m:r>
                    <m:r>
                      <a:rPr lang="en-US" altLang="zh-CN" sz="2800" b="0" i="1" baseline="-2500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sz="2800" b="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, ..., </m:t>
                    </m:r>
                    <m:r>
                      <a:rPr lang="en-US" altLang="zh-CN" sz="2800" b="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𝑣𝑛</m:t>
                    </m:r>
                    <m:r>
                      <a:rPr lang="en-US" altLang="zh-CN" sz="2800" b="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 sz="2800" b="0">
                    <a:solidFill>
                      <a:srgbClr val="1F2DA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as a </a:t>
                </a:r>
                <a:r>
                  <a:rPr lang="en-US" altLang="zh-CN" sz="2800" b="0" i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n-tuple</a:t>
                </a:r>
                <a:r>
                  <a:rPr lang="en-US" altLang="zh-CN" sz="2800" b="0">
                    <a:solidFill>
                      <a:srgbClr val="1F2DA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altLang="zh-CN" sz="2800" b="0" i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en-US" altLang="zh-CN" sz="2800" b="0" i="1" baseline="-2500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</a:t>
                </a:r>
                <a:r>
                  <a:rPr lang="en-US" altLang="zh-CN" sz="2800" b="0">
                    <a:solidFill>
                      <a:srgbClr val="1F2DA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as the </a:t>
                </a:r>
                <a:r>
                  <a:rPr lang="en-US" altLang="zh-CN" sz="2800" b="0" i="1">
                    <a:solidFill>
                      <a:srgbClr val="1F2DA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j-th domain </a:t>
                </a:r>
                <a:r>
                  <a:rPr lang="en-US" altLang="zh-CN" sz="2800" b="0">
                    <a:solidFill>
                      <a:srgbClr val="1F2DA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of R.</a:t>
                </a:r>
                <a:endParaRPr lang="en-US" altLang="zh-CN" sz="2800" b="0" i="1" baseline="-25000">
                  <a:solidFill>
                    <a:srgbClr val="1F2DA8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180" y="3265805"/>
                <a:ext cx="11601450" cy="521970"/>
              </a:xfrm>
              <a:prstGeom prst="rect">
                <a:avLst/>
              </a:prstGeom>
              <a:blipFill rotWithShape="1">
                <a:blip r:embed="rId3"/>
                <a:stretch>
                  <a:fillRect b="-4136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283335" y="2599690"/>
                <a:ext cx="8889365" cy="5219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𝑅</m:t>
                      </m:r>
                      <m:r>
                        <a:rPr lang="en-US" altLang="zh-CN" sz="2800" i="1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𝑣</m:t>
                              </m:r>
                              <m:r>
                                <a:rPr lang="en-US" altLang="zh-CN" sz="2800" i="1" baseline="-25000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  <m: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𝑣</m:t>
                              </m:r>
                              <m:r>
                                <a:rPr lang="en-US" altLang="zh-CN" sz="2800" i="1" baseline="-25000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  <m: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,...,</m:t>
                              </m:r>
                              <m: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𝑣</m:t>
                              </m:r>
                              <m:r>
                                <a:rPr lang="en-US" altLang="zh-CN" sz="2800" i="1" baseline="-25000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 | </m:t>
                          </m:r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</m:t>
                          </m:r>
                          <m:r>
                            <a:rPr lang="en-US" altLang="zh-CN" sz="2800" i="1" baseline="-25000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𝑗</m:t>
                          </m:r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∈</m:t>
                          </m:r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𝑆</m:t>
                          </m:r>
                          <m:r>
                            <a:rPr lang="en-US" altLang="zh-CN" sz="2800" i="1" baseline="-25000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𝑗</m:t>
                          </m:r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  </m:t>
                          </m:r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𝑓𝑜𝑟</m:t>
                          </m:r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  </m:t>
                          </m:r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𝑗</m:t>
                          </m:r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,...,</m:t>
                          </m:r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altLang="zh-CN" sz="2800" i="1">
                  <a:solidFill>
                    <a:srgbClr val="FF0000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335" y="2599690"/>
                <a:ext cx="8889365" cy="521970"/>
              </a:xfrm>
              <a:prstGeom prst="rect">
                <a:avLst/>
              </a:prstGeom>
              <a:blipFill rotWithShape="1">
                <a:blip r:embed="rId4"/>
                <a:stretch>
                  <a:fillRect b="-41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内容占位符 2"/>
          <p:cNvSpPr>
            <a:spLocks noGrp="1"/>
          </p:cNvSpPr>
          <p:nvPr/>
        </p:nvSpPr>
        <p:spPr>
          <a:xfrm>
            <a:off x="424180" y="5067935"/>
            <a:ext cx="11343005" cy="14700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>
            <a:lvl1pPr marL="342900" lvl="0" indent="-342900" algn="l" defTabSz="91440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2400" b="1" i="0" u="none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400" b="1" i="0" u="none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b="1" i="0" u="none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b="1" i="0" u="none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b="1" i="0" u="none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b="1" i="0" u="none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b="1" i="0" u="none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Clr>
                <a:srgbClr val="C00000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zh-CN" sz="2800" b="0">
                <a:solidFill>
                  <a:srgbClr val="1F2D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defined above, R is said to have </a:t>
            </a:r>
            <a:r>
              <a:rPr lang="en-US" altLang="zh-CN" sz="2800" b="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degree n</a:t>
            </a:r>
            <a:r>
              <a:rPr lang="en-US" altLang="zh-CN" sz="2800" b="0">
                <a:solidFill>
                  <a:srgbClr val="1F2D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0000"/>
              </a:lnSpc>
              <a:buClr>
                <a:srgbClr val="C00000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zh-CN" sz="2800" b="0">
                <a:solidFill>
                  <a:srgbClr val="1F2D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 of degree 1 are often called </a:t>
            </a:r>
            <a:r>
              <a:rPr lang="en-US" altLang="zh-CN" sz="2800" b="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unary</a:t>
            </a:r>
            <a:r>
              <a:rPr lang="en-US" altLang="zh-CN" sz="2800" b="0">
                <a:solidFill>
                  <a:srgbClr val="1F2D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degree 2 </a:t>
            </a:r>
            <a:r>
              <a:rPr lang="en-US" altLang="zh-CN" sz="2800" b="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binary</a:t>
            </a:r>
            <a:r>
              <a:rPr lang="en-US" altLang="zh-CN" sz="2800" b="0">
                <a:solidFill>
                  <a:srgbClr val="1F2D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degree 3 </a:t>
            </a:r>
            <a:r>
              <a:rPr lang="en-US" altLang="zh-CN" sz="2800" b="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ternary</a:t>
            </a:r>
            <a:r>
              <a:rPr lang="en-US" altLang="zh-CN" sz="2800" b="0">
                <a:solidFill>
                  <a:srgbClr val="1F2D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degree n </a:t>
            </a:r>
            <a:r>
              <a:rPr lang="en-US" altLang="zh-CN" sz="2800" b="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n-ary</a:t>
            </a:r>
            <a:r>
              <a:rPr lang="en-US" altLang="zh-CN" sz="2800" b="0">
                <a:solidFill>
                  <a:srgbClr val="1F2D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zh-CN" sz="2800" b="0" i="1" baseline="-25000">
              <a:solidFill>
                <a:srgbClr val="1F2DA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24815" y="4008755"/>
            <a:ext cx="11343005" cy="1047750"/>
            <a:chOff x="-1731" y="6652"/>
            <a:chExt cx="17863" cy="1650"/>
          </a:xfrm>
        </p:grpSpPr>
        <p:sp>
          <p:nvSpPr>
            <p:cNvPr id="7" name="内容占位符 2"/>
            <p:cNvSpPr>
              <a:spLocks noGrp="1"/>
            </p:cNvSpPr>
            <p:nvPr/>
          </p:nvSpPr>
          <p:spPr>
            <a:xfrm>
              <a:off x="-1731" y="6652"/>
              <a:ext cx="17863" cy="8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>
              <a:lvl1pPr marL="342900" lvl="0" indent="-342900" algn="l" defTabSz="91440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q"/>
                <a:defRPr sz="2400" b="1" i="0" u="none" kern="120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defTabSz="91440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sz="2400" b="1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defTabSz="91440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–"/>
                <a:defRPr sz="2400" b="1" i="0" u="none" kern="120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defTabSz="91440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400" b="1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defTabSz="91440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400" b="1" i="0" u="none" kern="120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5pPr>
              <a:lvl6pPr marL="2514600" lvl="5" indent="-228600" algn="l" defTabSz="91440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400" b="1" i="0" u="none" kern="120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6pPr>
              <a:lvl7pPr marL="2971800" lvl="6" indent="-228600" algn="l" defTabSz="91440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400" b="1" i="0" u="none" kern="120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7pPr>
              <a:lvl8pPr marL="3429000" lvl="7" indent="-228600" algn="l" defTabSz="91440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400" b="1" i="0" u="none" kern="120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8pPr>
              <a:lvl9pPr marL="3886200" lvl="8" indent="-228600" algn="l" defTabSz="91440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400" b="1" i="0" u="none" kern="120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buClr>
                  <a:srgbClr val="C00000"/>
                </a:buClr>
                <a:buSzPct val="85000"/>
                <a:buFont typeface="Arial" panose="020B0604020202020204" pitchFamily="34" charset="0"/>
                <a:buChar char="•"/>
              </a:pPr>
              <a:r>
                <a:rPr lang="en-US" altLang="zh-CN" sz="2800" b="0">
                  <a:solidFill>
                    <a:srgbClr val="1F2DA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More concisely, R is a subset of the Cartesian product</a:t>
              </a:r>
              <a:endParaRPr lang="en-US" altLang="zh-CN" sz="2800" b="0" baseline="-25000">
                <a:solidFill>
                  <a:srgbClr val="1F2DA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/>
                <p:cNvSpPr txBox="1"/>
                <p:nvPr/>
              </p:nvSpPr>
              <p:spPr>
                <a:xfrm>
                  <a:off x="4139" y="7480"/>
                  <a:ext cx="5345" cy="822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>
                            <a:solidFill>
                              <a:srgbClr val="1F2DA8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  <m:r>
                          <a:rPr lang="en-US" altLang="zh-CN" sz="2800" b="0">
                            <a:solidFill>
                              <a:srgbClr val="1F2DA8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⊆</m:t>
                        </m:r>
                        <m:r>
                          <a:rPr lang="en-US" altLang="zh-CN" sz="2800" b="0" i="1">
                            <a:solidFill>
                              <a:srgbClr val="1F2DA8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𝑆</m:t>
                        </m:r>
                        <m:r>
                          <a:rPr lang="en-US" altLang="zh-CN" sz="2800" b="0" baseline="-25000">
                            <a:solidFill>
                              <a:srgbClr val="1F2DA8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 sz="2800" b="0">
                            <a:solidFill>
                              <a:srgbClr val="1F2DA8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×</m:t>
                        </m:r>
                        <m:r>
                          <a:rPr lang="en-US" altLang="zh-CN" sz="2800" b="0" i="1">
                            <a:solidFill>
                              <a:srgbClr val="1F2DA8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𝑆</m:t>
                        </m:r>
                        <m:r>
                          <a:rPr lang="en-US" altLang="zh-CN" sz="2800" b="0" baseline="-25000">
                            <a:solidFill>
                              <a:srgbClr val="1F2DA8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zh-CN" sz="2800" b="0">
                            <a:solidFill>
                              <a:srgbClr val="1F2DA8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×...×</m:t>
                        </m:r>
                        <m:r>
                          <a:rPr lang="en-US" altLang="zh-CN" sz="2800" b="0" i="1">
                            <a:solidFill>
                              <a:srgbClr val="1F2DA8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𝑆</m:t>
                        </m:r>
                        <m:r>
                          <m:rPr>
                            <m:sty m:val="p"/>
                          </m:rPr>
                          <a:rPr lang="en-US" altLang="zh-CN" sz="2800" b="0" baseline="-25000">
                            <a:solidFill>
                              <a:srgbClr val="1F2DA8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n</m:t>
                        </m:r>
                      </m:oMath>
                    </m:oMathPara>
                  </a14:m>
                  <a:endParaRPr lang="en-US" altLang="zh-CN" sz="2800" b="0" baseline="-25000">
                    <a:solidFill>
                      <a:srgbClr val="1F2DA8"/>
                    </a:solidFill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9" name="文本框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9" y="7480"/>
                  <a:ext cx="5345" cy="822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扩展阅读：</a:t>
            </a:r>
            <a:r>
              <a:rPr lang="en-US" altLang="zh-CN">
                <a:sym typeface="+mn-ea"/>
              </a:rPr>
              <a:t>Relational Model (2)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lnSpc>
                <a:spcPct val="100000"/>
              </a:lnSpc>
              <a:spcBef>
                <a:spcPts val="20"/>
              </a:spcBef>
              <a:spcAft>
                <a:spcPts val="1500"/>
              </a:spcAft>
              <a:buNone/>
            </a:pPr>
            <a:endParaRPr lang="en-US" altLang="zh-CN" b="0">
              <a:solidFill>
                <a:srgbClr val="1F2DA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00000"/>
              </a:lnSpc>
              <a:spcBef>
                <a:spcPts val="20"/>
              </a:spcBef>
              <a:spcAft>
                <a:spcPts val="1500"/>
              </a:spcAft>
              <a:buNone/>
            </a:pPr>
            <a:r>
              <a:rPr lang="en-US" altLang="zh-CN" b="0">
                <a:solidFill>
                  <a:srgbClr val="1F2D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US" altLang="zh-CN" b="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n-ary</a:t>
            </a:r>
            <a:r>
              <a:rPr lang="en-US" altLang="zh-CN" b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relation </a:t>
            </a:r>
            <a:r>
              <a:rPr lang="en-US" altLang="zh-CN" b="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b="0">
                <a:solidFill>
                  <a:srgbClr val="1F2D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has the following properties:</a:t>
            </a:r>
          </a:p>
          <a:p>
            <a:pPr marL="514350" indent="-514350">
              <a:lnSpc>
                <a:spcPct val="100000"/>
              </a:lnSpc>
              <a:spcBef>
                <a:spcPts val="20"/>
              </a:spcBef>
              <a:spcAft>
                <a:spcPts val="1500"/>
              </a:spcAft>
              <a:buSzPct val="75000"/>
              <a:buFont typeface="+mj-ea"/>
              <a:buAutoNum type="circleNumDbPlain"/>
            </a:pPr>
            <a:r>
              <a:rPr lang="en-US" altLang="zh-CN" b="0">
                <a:solidFill>
                  <a:srgbClr val="1F2D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row represents an </a:t>
            </a:r>
            <a:r>
              <a:rPr lang="en-US" altLang="zh-CN" b="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n-tuple</a:t>
            </a:r>
            <a:r>
              <a:rPr lang="en-US" altLang="zh-CN" b="0">
                <a:solidFill>
                  <a:srgbClr val="1F2D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R.</a:t>
            </a:r>
          </a:p>
          <a:p>
            <a:pPr marL="514350" indent="-514350">
              <a:lnSpc>
                <a:spcPct val="100000"/>
              </a:lnSpc>
              <a:spcBef>
                <a:spcPts val="20"/>
              </a:spcBef>
              <a:spcAft>
                <a:spcPts val="1500"/>
              </a:spcAft>
              <a:buSzPct val="75000"/>
              <a:buFont typeface="+mj-ea"/>
              <a:buAutoNum type="circleNumDbPlain"/>
            </a:pPr>
            <a:r>
              <a:rPr lang="en-US" altLang="zh-CN" b="0">
                <a:solidFill>
                  <a:srgbClr val="1F2D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ordering of rows is </a:t>
            </a:r>
            <a:r>
              <a:rPr lang="en-US" altLang="zh-CN" b="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immaterial</a:t>
            </a:r>
            <a:r>
              <a:rPr lang="en-US" altLang="zh-CN" b="0">
                <a:solidFill>
                  <a:srgbClr val="1F2D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lnSpc>
                <a:spcPct val="100000"/>
              </a:lnSpc>
              <a:spcBef>
                <a:spcPts val="20"/>
              </a:spcBef>
              <a:spcAft>
                <a:spcPts val="1500"/>
              </a:spcAft>
              <a:buSzPct val="75000"/>
              <a:buFont typeface="+mj-ea"/>
              <a:buAutoNum type="circleNumDbPlain"/>
            </a:pPr>
            <a:r>
              <a:rPr lang="en-US" altLang="zh-CN" b="0">
                <a:solidFill>
                  <a:srgbClr val="1F2D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rows are </a:t>
            </a:r>
            <a:r>
              <a:rPr lang="en-US" altLang="zh-CN" b="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distinct</a:t>
            </a:r>
            <a:r>
              <a:rPr lang="en-US" altLang="zh-CN" b="0">
                <a:solidFill>
                  <a:srgbClr val="1F2D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lnSpc>
                <a:spcPct val="100000"/>
              </a:lnSpc>
              <a:spcBef>
                <a:spcPts val="20"/>
              </a:spcBef>
              <a:spcAft>
                <a:spcPts val="1500"/>
              </a:spcAft>
              <a:buSzPct val="75000"/>
              <a:buFont typeface="+mj-ea"/>
              <a:buAutoNum type="circleNumDbPlain"/>
            </a:pPr>
            <a:r>
              <a:rPr lang="en-US" altLang="zh-CN" b="0">
                <a:solidFill>
                  <a:srgbClr val="1F2D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ordering of columns is </a:t>
            </a:r>
            <a:r>
              <a:rPr lang="en-US" altLang="zh-CN" b="0" i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significant</a:t>
            </a:r>
            <a:r>
              <a:rPr lang="en-US" altLang="zh-CN" b="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0">
                <a:solidFill>
                  <a:srgbClr val="1F2D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 it corresponds to the ordering </a:t>
            </a:r>
            <a:r>
              <a:rPr lang="en-US" altLang="zh-CN" b="0" i="1">
                <a:solidFill>
                  <a:srgbClr val="1F2D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zh-CN" b="0" baseline="-25000">
                <a:solidFill>
                  <a:srgbClr val="1F2D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b="0">
                <a:solidFill>
                  <a:srgbClr val="1F2D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b="0" i="1">
                <a:solidFill>
                  <a:srgbClr val="1F2D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zh-CN" b="0" baseline="-25000">
                <a:solidFill>
                  <a:srgbClr val="1F2D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b="0">
                <a:solidFill>
                  <a:srgbClr val="1F2D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..., </a:t>
            </a:r>
            <a:r>
              <a:rPr lang="en-US" altLang="zh-CN" b="0" i="1">
                <a:solidFill>
                  <a:srgbClr val="1F2D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zh-CN" b="0" baseline="-25000">
                <a:solidFill>
                  <a:srgbClr val="1F2D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zh-CN" b="0">
                <a:solidFill>
                  <a:srgbClr val="1F2D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the domains on which R is defined.</a:t>
            </a:r>
          </a:p>
          <a:p>
            <a:pPr marL="514350" indent="-514350">
              <a:lnSpc>
                <a:spcPct val="100000"/>
              </a:lnSpc>
              <a:spcBef>
                <a:spcPts val="20"/>
              </a:spcBef>
              <a:spcAft>
                <a:spcPts val="1500"/>
              </a:spcAft>
              <a:buSzPct val="75000"/>
              <a:buFont typeface="+mj-ea"/>
              <a:buAutoNum type="circleNumDbPlain"/>
            </a:pPr>
            <a:r>
              <a:rPr lang="en-US" altLang="zh-CN" b="0">
                <a:solidFill>
                  <a:srgbClr val="1F2D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significance of each column is partially conveyed by </a:t>
            </a:r>
            <a:r>
              <a:rPr lang="en-US" altLang="zh-CN" b="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labeling it with the name of the corresponding domain</a:t>
            </a:r>
            <a:r>
              <a:rPr lang="en-US" altLang="zh-CN" b="0">
                <a:solidFill>
                  <a:srgbClr val="1F2D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265930" y="676910"/>
            <a:ext cx="7926070" cy="460375"/>
          </a:xfrm>
          <a:prstGeom prst="rect">
            <a:avLst/>
          </a:prstGeom>
          <a:solidFill>
            <a:schemeClr val="accent4">
              <a:lumMod val="40000"/>
              <a:lumOff val="60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i="1" u="sng">
                <a:solidFill>
                  <a:schemeClr val="tx1"/>
                </a:solidFill>
              </a:rPr>
              <a:t>Codd: A Relational Model of Data for Large Shared Data Banks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扩展阅读：</a:t>
            </a:r>
            <a:r>
              <a:rPr lang="en-US" altLang="zh-CN">
                <a:sym typeface="+mn-ea"/>
              </a:rPr>
              <a:t>Relational Rules (3)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buSzPct val="85000"/>
            </a:pPr>
            <a:endParaRPr lang="en-US" altLang="x-none" sz="3000" b="0" dirty="0">
              <a:latin typeface="Arial" panose="020B0604020202020204" pitchFamily="34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ct val="85000"/>
            </a:pPr>
            <a:r>
              <a:rPr lang="en-US" altLang="x-none" sz="3000" b="0" dirty="0">
                <a:latin typeface="Arial" panose="020B0604020202020204" pitchFamily="34" charset="0"/>
                <a:sym typeface="+mn-ea"/>
              </a:rPr>
              <a:t>Relational Rules</a:t>
            </a:r>
            <a:endParaRPr lang="en-US" altLang="x-none" sz="3000" b="0" dirty="0">
              <a:latin typeface="Arial" panose="020B0604020202020204" pitchFamily="34" charset="0"/>
            </a:endParaRPr>
          </a:p>
          <a:p>
            <a:pPr marL="692785" lvl="2" inden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US" altLang="x-none" sz="3000" b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Rule 1. </a:t>
            </a:r>
            <a:r>
              <a:rPr lang="en-US" altLang="x-none" b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First Normal Form Rule</a:t>
            </a:r>
            <a:endParaRPr lang="en-US" altLang="x-none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299845" lvl="3" indent="-328930">
              <a:lnSpc>
                <a:spcPct val="100000"/>
              </a:lnSpc>
              <a:buSzPct val="85000"/>
              <a:buFont typeface="Wingdings" panose="05000000000000000000" charset="0"/>
              <a:buChar char="Ø"/>
            </a:pPr>
            <a:r>
              <a:rPr lang="en-US" altLang="x-none" b="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Can't have composite fields and multi-valued fields.</a:t>
            </a:r>
            <a:endParaRPr lang="en-US" altLang="x-none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3">
              <a:lnSpc>
                <a:spcPct val="100000"/>
              </a:lnSpc>
            </a:pPr>
            <a:endParaRPr lang="en-US" altLang="x-none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02945" lvl="2" indent="0">
              <a:lnSpc>
                <a:spcPct val="100000"/>
              </a:lnSpc>
              <a:buNone/>
            </a:pPr>
            <a:r>
              <a:rPr lang="en-US" altLang="x-none" b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Rule 2. </a:t>
            </a:r>
            <a:r>
              <a:rPr lang="en-US" altLang="x-none" b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Access Rows by Content Only Rule</a:t>
            </a:r>
            <a:endParaRPr lang="en-US" altLang="x-none" b="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309370" lvl="3" indent="-307975">
              <a:lnSpc>
                <a:spcPct val="100000"/>
              </a:lnSpc>
              <a:buSzPct val="85000"/>
              <a:buFont typeface="Wingdings" panose="05000000000000000000" charset="0"/>
              <a:buChar char="Ø"/>
            </a:pPr>
            <a:r>
              <a:rPr lang="en-US" altLang="x-none" b="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No order to the rows</a:t>
            </a:r>
            <a:endParaRPr lang="en-US" altLang="x-none" b="0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309370" lvl="3" indent="-307975">
              <a:lnSpc>
                <a:spcPct val="100000"/>
              </a:lnSpc>
              <a:buSzPct val="85000"/>
              <a:buFont typeface="Wingdings" panose="05000000000000000000" charset="0"/>
              <a:buChar char="Ø"/>
            </a:pPr>
            <a:r>
              <a:rPr lang="en-US" altLang="x-none" b="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No order to the columns</a:t>
            </a:r>
            <a:endParaRPr lang="en-US" altLang="x-none" b="0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3">
              <a:lnSpc>
                <a:spcPct val="100000"/>
              </a:lnSpc>
            </a:pPr>
            <a:endParaRPr lang="en-US" altLang="x-none" b="0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13105" lvl="2" indent="0">
              <a:lnSpc>
                <a:spcPct val="100000"/>
              </a:lnSpc>
              <a:spcBef>
                <a:spcPct val="10000"/>
              </a:spcBef>
              <a:buNone/>
            </a:pPr>
            <a:r>
              <a:rPr lang="en-US" altLang="x-none" b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Rule 3. </a:t>
            </a:r>
            <a:r>
              <a:rPr lang="en-US" altLang="x-none" b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The Unique Row Rule</a:t>
            </a:r>
            <a:endParaRPr lang="en-US" altLang="x-none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318895" lvl="3" indent="-276860">
              <a:lnSpc>
                <a:spcPct val="100000"/>
              </a:lnSpc>
              <a:spcBef>
                <a:spcPct val="10000"/>
              </a:spcBef>
              <a:buSzPct val="85000"/>
              <a:buFont typeface="Wingdings" panose="05000000000000000000" charset="0"/>
              <a:buChar char="Ø"/>
            </a:pPr>
            <a:r>
              <a:rPr lang="en-US" altLang="x-none" b="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Two rows can't be same in all attributes at once. So that a relation is </a:t>
            </a:r>
            <a:r>
              <a:rPr lang="en-US" altLang="x-none" b="0" u="sng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an unordered SET of tuples</a:t>
            </a:r>
            <a:r>
              <a:rPr lang="en-US" altLang="x-none" b="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. 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835660" y="676910"/>
            <a:ext cx="11356340" cy="460375"/>
          </a:xfrm>
          <a:prstGeom prst="rect">
            <a:avLst/>
          </a:prstGeom>
          <a:solidFill>
            <a:schemeClr val="accent4">
              <a:lumMod val="40000"/>
              <a:lumOff val="60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i="1" u="sng">
                <a:solidFill>
                  <a:schemeClr val="tx1"/>
                </a:solidFill>
              </a:rPr>
              <a:t>Patrick O’Neil and Elizabeth O’Neil. Database: Principles, Programming and Performance.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扩展阅读：</a:t>
            </a:r>
            <a:r>
              <a:rPr lang="en-US" altLang="zh-CN">
                <a:sym typeface="+mn-ea"/>
              </a:rPr>
              <a:t>Relational Model (4)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n-</a:t>
            </a:r>
            <a:r>
              <a:rPr lang="zh-CN" altLang="en-US"/>
              <a:t>元关系</a:t>
            </a:r>
          </a:p>
          <a:p>
            <a:pPr lvl="1"/>
            <a:r>
              <a:rPr lang="zh-CN" altLang="en-US"/>
              <a:t>是一个元数为</a:t>
            </a:r>
            <a:r>
              <a:rPr lang="en-US" altLang="zh-CN"/>
              <a:t>n</a:t>
            </a:r>
            <a:r>
              <a:rPr lang="zh-CN" altLang="en-US"/>
              <a:t>的元组集合，每个元组有</a:t>
            </a:r>
            <a:r>
              <a:rPr lang="en-US" altLang="zh-CN"/>
              <a:t>n</a:t>
            </a:r>
            <a:r>
              <a:rPr lang="zh-CN" altLang="en-US"/>
              <a:t>个属性值。</a:t>
            </a:r>
          </a:p>
          <a:p>
            <a:pPr lvl="1">
              <a:lnSpc>
                <a:spcPct val="110000"/>
              </a:lnSpc>
              <a:spcBef>
                <a:spcPts val="1000"/>
              </a:spcBef>
            </a:pPr>
            <a:r>
              <a:rPr lang="zh-CN" altLang="en-US"/>
              <a:t>如果一个关系的元组个数是无限的，那么称为无限关系；一个关系的元组个数是有限的，则称为有限关系。由于计算机存储系统的限制，如不特别声明仅研究有限关系。</a:t>
            </a:r>
          </a:p>
          <a:p>
            <a:pPr lvl="0">
              <a:lnSpc>
                <a:spcPct val="110000"/>
              </a:lnSpc>
              <a:spcBef>
                <a:spcPts val="1000"/>
              </a:spcBef>
            </a:pPr>
            <a:r>
              <a:rPr lang="zh-CN" altLang="en-US" sz="2800">
                <a:solidFill>
                  <a:srgbClr val="C00000"/>
                </a:solidFill>
              </a:rPr>
              <a:t>尽管在关系、二维表、数据文件三者之间有类似之处，但它们又有区别</a:t>
            </a:r>
            <a:r>
              <a:rPr lang="zh-CN" altLang="en-US" sz="2800"/>
              <a:t>。严格地说，关系是一种规范化了的二维表。</a:t>
            </a:r>
          </a:p>
          <a:p>
            <a:pPr lvl="0">
              <a:lnSpc>
                <a:spcPct val="110000"/>
              </a:lnSpc>
              <a:spcBef>
                <a:spcPts val="1000"/>
              </a:spcBef>
            </a:pPr>
            <a:r>
              <a:rPr lang="zh-CN" altLang="en-US" sz="2800"/>
              <a:t>在关系数据模型中，对关系作了下列规范性限制：</a:t>
            </a:r>
          </a:p>
          <a:p>
            <a:pPr marL="914400" lvl="1" indent="-457200">
              <a:buFont typeface="+mj-ea"/>
              <a:buAutoNum type="circleNumDbPlain"/>
            </a:pPr>
            <a:r>
              <a:rPr lang="zh-CN" altLang="en-US" sz="2400"/>
              <a:t>关系中每一个属性值都是不可分解的，也不允许出现重复组（多值）；</a:t>
            </a:r>
          </a:p>
          <a:p>
            <a:pPr marL="914400" lvl="1" indent="-457200">
              <a:buFont typeface="+mj-ea"/>
              <a:buAutoNum type="circleNumDbPlain"/>
            </a:pPr>
            <a:r>
              <a:rPr lang="zh-CN" altLang="en-US" sz="2400"/>
              <a:t>关系中不允许出现相同的元组；</a:t>
            </a:r>
          </a:p>
          <a:p>
            <a:pPr marL="914400" lvl="1" indent="-457200">
              <a:buFont typeface="+mj-ea"/>
              <a:buAutoNum type="circleNumDbPlain"/>
            </a:pPr>
            <a:r>
              <a:rPr lang="zh-CN" altLang="en-US" sz="2400"/>
              <a:t>由于关系是一个集合，因此不考虑元组间的顺序；</a:t>
            </a:r>
          </a:p>
          <a:p>
            <a:pPr marL="914400" lvl="1" indent="-457200">
              <a:buFont typeface="+mj-ea"/>
              <a:buAutoNum type="circleNumDbPlain"/>
            </a:pPr>
            <a:r>
              <a:rPr lang="zh-CN" altLang="en-US" sz="2400"/>
              <a:t>元组中的属性理论上也是无序的，但使用时按习惯考虑列的顺序。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226425" y="676910"/>
            <a:ext cx="3965575" cy="460375"/>
          </a:xfrm>
          <a:prstGeom prst="rect">
            <a:avLst/>
          </a:prstGeom>
          <a:solidFill>
            <a:schemeClr val="accent4">
              <a:lumMod val="40000"/>
              <a:lumOff val="60000"/>
              <a:alpha val="40000"/>
            </a:schemeClr>
          </a:solidFill>
        </p:spPr>
        <p:txBody>
          <a:bodyPr wrap="square" rIns="269875" rtlCol="0">
            <a:spAutoFit/>
          </a:bodyPr>
          <a:lstStyle/>
          <a:p>
            <a:pPr algn="r"/>
            <a:r>
              <a:rPr lang="zh-CN" altLang="en-US" sz="2400" i="1" u="sng">
                <a:solidFill>
                  <a:schemeClr val="tx1"/>
                </a:solidFill>
              </a:rPr>
              <a:t>师伯乐等</a:t>
            </a:r>
            <a:r>
              <a:rPr lang="en-US" altLang="zh-CN" sz="2400" i="1" u="sng">
                <a:solidFill>
                  <a:schemeClr val="tx1"/>
                </a:solidFill>
              </a:rPr>
              <a:t>: </a:t>
            </a:r>
            <a:r>
              <a:rPr lang="zh-CN" altLang="en-US" sz="2400" i="1" u="sng">
                <a:solidFill>
                  <a:schemeClr val="tx1"/>
                </a:solidFill>
              </a:rPr>
              <a:t>数据库系统教程</a:t>
            </a:r>
            <a:r>
              <a:rPr lang="en-US" altLang="zh-CN" sz="2400" i="1" u="sng">
                <a:solidFill>
                  <a:schemeClr val="tx1"/>
                </a:solidFill>
              </a:rPr>
              <a:t>  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2.1  </a:t>
            </a:r>
            <a:r>
              <a:rPr lang="zh-CN" altLang="en-US">
                <a:sym typeface="+mn-ea"/>
              </a:rPr>
              <a:t>关系数据结构及形式化定义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2.1.1 </a:t>
            </a:r>
            <a:r>
              <a:rPr lang="zh-CN" altLang="en-US"/>
              <a:t>关系</a:t>
            </a:r>
          </a:p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</a:rPr>
              <a:t>2.1.2 </a:t>
            </a:r>
            <a:r>
              <a:rPr lang="zh-CN" altLang="en-US">
                <a:solidFill>
                  <a:srgbClr val="FF0000"/>
                </a:solidFill>
              </a:rPr>
              <a:t>关系模式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2.1.3 </a:t>
            </a:r>
            <a:r>
              <a:rPr lang="zh-CN" altLang="en-US"/>
              <a:t>关系数据库</a:t>
            </a:r>
          </a:p>
          <a:p>
            <a:pPr marL="0" indent="0">
              <a:buNone/>
            </a:pPr>
            <a:r>
              <a:rPr lang="en-US" altLang="zh-CN"/>
              <a:t>2.1.4 </a:t>
            </a:r>
            <a:r>
              <a:rPr lang="zh-CN" altLang="en-US"/>
              <a:t>关系模型的存储结构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关系模式</a:t>
            </a:r>
            <a:r>
              <a:rPr lang="en-US" altLang="zh-CN" dirty="0"/>
              <a:t> 1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zh-CN" altLang="en-US" dirty="0"/>
              <a:t>关系的型与值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zh-CN" altLang="en-US" dirty="0"/>
              <a:t>关系是元组的集合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zh-CN" altLang="en-US" dirty="0"/>
              <a:t>关系模式是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关系的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 ‘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型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’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，元组集合是关系的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 ‘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值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’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endParaRPr lang="zh-CN" altLang="en-US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zh-CN" altLang="en-US" dirty="0"/>
              <a:t>关系模式</a:t>
            </a:r>
            <a:r>
              <a:rPr lang="zh-CN" altLang="en-US" sz="2610" dirty="0">
                <a:sym typeface="+mn-ea"/>
              </a:rPr>
              <a:t>（</a:t>
            </a:r>
            <a:r>
              <a:rPr lang="en-US" altLang="zh-CN" sz="2610" dirty="0">
                <a:sym typeface="+mn-ea"/>
              </a:rPr>
              <a:t>Relation Schema</a:t>
            </a:r>
            <a:r>
              <a:rPr lang="zh-CN" altLang="en-US" sz="2610" dirty="0">
                <a:sym typeface="+mn-ea"/>
              </a:rPr>
              <a:t>）</a:t>
            </a:r>
            <a:endParaRPr lang="zh-CN" altLang="en-US" dirty="0"/>
          </a:p>
          <a:p>
            <a:pPr lvl="1">
              <a:lnSpc>
                <a:spcPct val="110000"/>
              </a:lnSpc>
              <a:spcBef>
                <a:spcPts val="1000"/>
              </a:spcBef>
            </a:pPr>
            <a:r>
              <a:rPr lang="zh-CN" altLang="en-US" dirty="0"/>
              <a:t>关系模式是对关系的描述</a:t>
            </a:r>
          </a:p>
          <a:p>
            <a:pPr lvl="1">
              <a:lnSpc>
                <a:spcPct val="110000"/>
              </a:lnSpc>
              <a:spcBef>
                <a:spcPts val="1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元组集合的结构</a:t>
            </a:r>
            <a:endParaRPr lang="zh-CN" altLang="en-US" dirty="0"/>
          </a:p>
          <a:p>
            <a:pPr lvl="2">
              <a:lnSpc>
                <a:spcPct val="110000"/>
              </a:lnSpc>
              <a:spcBef>
                <a:spcPts val="0"/>
              </a:spcBef>
            </a:pPr>
            <a:r>
              <a:rPr lang="zh-CN" altLang="en-US" dirty="0"/>
              <a:t>属性构成</a:t>
            </a:r>
          </a:p>
          <a:p>
            <a:pPr lvl="2">
              <a:lnSpc>
                <a:spcPct val="110000"/>
              </a:lnSpc>
              <a:spcBef>
                <a:spcPts val="0"/>
              </a:spcBef>
            </a:pPr>
            <a:r>
              <a:rPr lang="zh-CN" altLang="en-US" dirty="0"/>
              <a:t>属性来自的域           </a:t>
            </a:r>
          </a:p>
          <a:p>
            <a:pPr lvl="2">
              <a:lnSpc>
                <a:spcPct val="110000"/>
              </a:lnSpc>
              <a:spcBef>
                <a:spcPts val="0"/>
              </a:spcBef>
            </a:pPr>
            <a:r>
              <a:rPr lang="zh-CN" altLang="en-US" dirty="0"/>
              <a:t>属性与域之间的映象关系</a:t>
            </a:r>
          </a:p>
          <a:p>
            <a:pPr lvl="1">
              <a:lnSpc>
                <a:spcPct val="110000"/>
              </a:lnSpc>
              <a:spcBef>
                <a:spcPts val="1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完整性约束条件</a:t>
            </a:r>
            <a:r>
              <a:rPr lang="zh-CN" altLang="en-US" dirty="0"/>
              <a:t>：关系中的元组分量和元组需要满足的约束条件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961005" y="4346575"/>
            <a:ext cx="33134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i="1" dirty="0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（关系模式的核心）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4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48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关系模式</a:t>
            </a:r>
            <a:r>
              <a:rPr lang="en-US" altLang="zh-CN" dirty="0"/>
              <a:t> 2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zh-CN" altLang="en-US" dirty="0"/>
              <a:t>关系的关系模式一般是稳定不变的，但关系的值通常会随着时间的变化而变化。</a:t>
            </a:r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zh-CN" altLang="en-US" dirty="0"/>
              <a:t>关系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中一个确定的元组集合被称为是该关系的一个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‘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值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’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，也被称为是一个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‘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关系实例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’(relation instance)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，</a:t>
            </a:r>
            <a:r>
              <a:rPr lang="zh-CN" altLang="en-US" dirty="0"/>
              <a:t>它描述了关系在某个确定时刻的取值。</a:t>
            </a:r>
          </a:p>
          <a:p>
            <a:pPr lvl="1">
              <a:lnSpc>
                <a:spcPct val="100000"/>
              </a:lnSpc>
              <a:spcBef>
                <a:spcPts val="2000"/>
              </a:spcBef>
            </a:pPr>
            <a:r>
              <a:rPr lang="zh-CN" altLang="en-US" dirty="0"/>
              <a:t>例如：南京大学</a:t>
            </a:r>
            <a:r>
              <a:rPr lang="zh-CN" altLang="en-US" dirty="0">
                <a:sym typeface="+mn-ea"/>
              </a:rPr>
              <a:t>所有在读本科生构成学生关系</a:t>
            </a:r>
            <a:r>
              <a:rPr lang="en-US" altLang="zh-CN" dirty="0">
                <a:sym typeface="+mn-ea"/>
              </a:rPr>
              <a:t>students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ym typeface="+mn-ea"/>
              </a:rPr>
              <a:t>students </a:t>
            </a:r>
            <a:r>
              <a:rPr lang="zh-CN" altLang="en-US" dirty="0">
                <a:sym typeface="+mn-ea"/>
              </a:rPr>
              <a:t>是关系名，其属性构成在创建之后一般不会再变化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ym typeface="+mn-ea"/>
              </a:rPr>
              <a:t>所有在校就读本科生对应的元组集合，构成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当前</a:t>
            </a:r>
            <a:r>
              <a:rPr lang="en-US" altLang="zh-CN" dirty="0">
                <a:solidFill>
                  <a:srgbClr val="C00000"/>
                </a:solidFill>
                <a:sym typeface="+mn-ea"/>
              </a:rPr>
              <a:t>students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实例</a:t>
            </a:r>
            <a:endParaRPr lang="zh-CN" altLang="en-US" dirty="0">
              <a:sym typeface="+mn-ea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ym typeface="+mn-ea"/>
              </a:rPr>
              <a:t>每年的毕业季结束后，会从</a:t>
            </a:r>
            <a:r>
              <a:rPr lang="en-US" altLang="zh-CN" dirty="0">
                <a:sym typeface="+mn-ea"/>
              </a:rPr>
              <a:t>students</a:t>
            </a:r>
            <a:r>
              <a:rPr lang="zh-CN" altLang="en-US" dirty="0">
                <a:sym typeface="+mn-ea"/>
              </a:rPr>
              <a:t>关系中删除所有已毕业学生所对应的元组，得到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新的</a:t>
            </a:r>
            <a:r>
              <a:rPr lang="en-US" altLang="zh-CN" dirty="0">
                <a:solidFill>
                  <a:srgbClr val="C00000"/>
                </a:solidFill>
                <a:sym typeface="+mn-ea"/>
              </a:rPr>
              <a:t>students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实例</a:t>
            </a:r>
            <a:endParaRPr lang="zh-CN" altLang="en-US" dirty="0">
              <a:sym typeface="+mn-ea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ym typeface="+mn-ea"/>
              </a:rPr>
              <a:t>每年秋季新生报道结束后，所有新生元组被加入到</a:t>
            </a:r>
            <a:r>
              <a:rPr lang="en-US" altLang="zh-CN" dirty="0">
                <a:sym typeface="+mn-ea"/>
              </a:rPr>
              <a:t>students</a:t>
            </a:r>
            <a:r>
              <a:rPr lang="zh-CN" altLang="en-US" dirty="0">
                <a:sym typeface="+mn-ea"/>
              </a:rPr>
              <a:t>关系中，得到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另一个新的</a:t>
            </a:r>
            <a:r>
              <a:rPr lang="en-US" altLang="zh-CN" dirty="0">
                <a:solidFill>
                  <a:srgbClr val="C00000"/>
                </a:solidFill>
                <a:sym typeface="+mn-ea"/>
              </a:rPr>
              <a:t>students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实例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关系模式 </a:t>
            </a:r>
            <a:r>
              <a:rPr lang="en-US" altLang="zh-CN" dirty="0"/>
              <a:t>3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43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关系模式的形式化表示：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𝑅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 ( 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𝑈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, 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𝐷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zh-CN" dirty="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DOM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, 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𝐹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 )</m:t>
                    </m:r>
                  </m:oMath>
                </a14:m>
                <a:endParaRPr lang="zh-CN" altLang="en-US" i="1" dirty="0"/>
              </a:p>
              <a:p>
                <a:pPr lvl="2"/>
                <a:r>
                  <a:rPr lang="en-US" altLang="zh-CN" i="1" dirty="0"/>
                  <a:t>R </a:t>
                </a:r>
                <a:r>
                  <a:rPr lang="zh-CN" altLang="en-US" dirty="0"/>
                  <a:t>：关系名</a:t>
                </a:r>
                <a:r>
                  <a:rPr lang="en-US" altLang="zh-CN" dirty="0"/>
                  <a:t>	</a:t>
                </a:r>
                <a:endParaRPr lang="zh-CN" altLang="en-US" dirty="0"/>
              </a:p>
              <a:p>
                <a:pPr lvl="2"/>
                <a:r>
                  <a:rPr lang="en-US" altLang="zh-CN" i="1" dirty="0"/>
                  <a:t>U </a:t>
                </a:r>
                <a:r>
                  <a:rPr lang="zh-CN" altLang="en-US" dirty="0"/>
                  <a:t>：组成该关系的属性名集合</a:t>
                </a:r>
              </a:p>
              <a:p>
                <a:pPr lvl="2"/>
                <a:r>
                  <a:rPr lang="en-US" altLang="zh-CN" i="1" dirty="0"/>
                  <a:t>D </a:t>
                </a:r>
                <a:r>
                  <a:rPr lang="zh-CN" altLang="en-US" dirty="0"/>
                  <a:t>：</a:t>
                </a:r>
                <a:r>
                  <a:rPr lang="en-US" altLang="zh-CN" i="1" dirty="0"/>
                  <a:t>U </a:t>
                </a:r>
                <a:r>
                  <a:rPr lang="zh-CN" altLang="en-US" dirty="0"/>
                  <a:t>中属性所来自的域</a:t>
                </a:r>
              </a:p>
              <a:p>
                <a:pPr lvl="2"/>
                <a:r>
                  <a:rPr lang="en-US" altLang="zh-CN" dirty="0"/>
                  <a:t>DOM </a:t>
                </a:r>
                <a:r>
                  <a:rPr lang="zh-CN" altLang="en-US" dirty="0"/>
                  <a:t>：属性向域的映象集合（描述各个属性对应的域）</a:t>
                </a:r>
              </a:p>
              <a:p>
                <a:pPr lvl="2"/>
                <a:r>
                  <a:rPr lang="en-US" altLang="zh-CN" i="1" dirty="0"/>
                  <a:t>F</a:t>
                </a:r>
                <a:r>
                  <a:rPr lang="zh-CN" altLang="en-US" dirty="0"/>
                  <a:t> ：属性间数据的依赖关系的集合（关系上的完整性约束条件）</a:t>
                </a:r>
              </a:p>
              <a:p>
                <a:pPr lvl="2"/>
                <a:endParaRPr lang="en-US" altLang="zh-CN" dirty="0"/>
              </a:p>
              <a:p>
                <a:r>
                  <a:rPr lang="zh-CN" altLang="en-US" dirty="0"/>
                  <a:t>关系模式通常可以简记为 </a:t>
                </a:r>
                <a:r>
                  <a:rPr lang="en-US" altLang="zh-CN" b="1" i="1" kern="0" dirty="0">
                    <a:solidFill>
                      <a:srgbClr val="FF0000"/>
                    </a:solidFill>
                    <a:latin typeface="+mn-lt"/>
                    <a:ea typeface="+mn-ea"/>
                  </a:rPr>
                  <a:t>R </a:t>
                </a:r>
                <a:r>
                  <a:rPr lang="en-US" altLang="zh-CN" b="1" kern="0" dirty="0">
                    <a:solidFill>
                      <a:srgbClr val="FF0000"/>
                    </a:solidFill>
                    <a:latin typeface="+mn-lt"/>
                    <a:ea typeface="+mn-ea"/>
                  </a:rPr>
                  <a:t>(</a:t>
                </a:r>
                <a:r>
                  <a:rPr lang="en-US" altLang="zh-CN" b="1" i="1" kern="0" dirty="0">
                    <a:solidFill>
                      <a:srgbClr val="FF0000"/>
                    </a:solidFill>
                    <a:latin typeface="+mn-lt"/>
                    <a:ea typeface="+mn-ea"/>
                  </a:rPr>
                  <a:t>U</a:t>
                </a:r>
                <a:r>
                  <a:rPr lang="en-US" altLang="zh-CN" b="1" kern="0" dirty="0">
                    <a:solidFill>
                      <a:srgbClr val="FF0000"/>
                    </a:solidFill>
                    <a:latin typeface="+mn-lt"/>
                    <a:ea typeface="+mn-ea"/>
                  </a:rPr>
                  <a:t>)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或 </a:t>
                </a:r>
                <a:r>
                  <a:rPr lang="en-US" altLang="zh-CN" b="1" i="1" kern="0" dirty="0">
                    <a:solidFill>
                      <a:srgbClr val="FF0000"/>
                    </a:solidFill>
                    <a:latin typeface="+mn-lt"/>
                    <a:ea typeface="+mn-ea"/>
                  </a:rPr>
                  <a:t>R </a:t>
                </a:r>
                <a:r>
                  <a:rPr lang="en-US" altLang="zh-CN" b="1" kern="0" dirty="0">
                    <a:solidFill>
                      <a:srgbClr val="FF0000"/>
                    </a:solidFill>
                    <a:latin typeface="+mn-lt"/>
                    <a:ea typeface="+mn-ea"/>
                  </a:rPr>
                  <a:t>(</a:t>
                </a:r>
                <a:r>
                  <a:rPr lang="en-US" altLang="zh-CN" b="1" i="1" kern="0" dirty="0">
                    <a:solidFill>
                      <a:srgbClr val="FF0000"/>
                    </a:solidFill>
                    <a:latin typeface="+mn-lt"/>
                    <a:ea typeface="+mn-ea"/>
                  </a:rPr>
                  <a:t>A</a:t>
                </a:r>
                <a:r>
                  <a:rPr lang="en-US" altLang="zh-CN" b="1" kern="0" baseline="-25000" dirty="0">
                    <a:solidFill>
                      <a:srgbClr val="FF0000"/>
                    </a:solidFill>
                    <a:latin typeface="+mn-lt"/>
                    <a:ea typeface="+mn-ea"/>
                  </a:rPr>
                  <a:t>1</a:t>
                </a:r>
                <a:r>
                  <a:rPr lang="zh-CN" altLang="en-US" b="1" kern="0" dirty="0">
                    <a:solidFill>
                      <a:srgbClr val="FF0000"/>
                    </a:solidFill>
                    <a:latin typeface="+mn-lt"/>
                    <a:ea typeface="+mn-ea"/>
                  </a:rPr>
                  <a:t>，</a:t>
                </a:r>
                <a:r>
                  <a:rPr lang="en-US" altLang="zh-CN" b="1" i="1" kern="0" dirty="0">
                    <a:solidFill>
                      <a:srgbClr val="FF0000"/>
                    </a:solidFill>
                    <a:latin typeface="+mn-lt"/>
                    <a:ea typeface="+mn-ea"/>
                  </a:rPr>
                  <a:t>A</a:t>
                </a:r>
                <a:r>
                  <a:rPr lang="en-US" altLang="zh-CN" b="1" kern="0" baseline="-25000" dirty="0">
                    <a:solidFill>
                      <a:srgbClr val="FF0000"/>
                    </a:solidFill>
                    <a:latin typeface="+mn-lt"/>
                    <a:ea typeface="+mn-ea"/>
                  </a:rPr>
                  <a:t>2</a:t>
                </a:r>
                <a:r>
                  <a:rPr lang="zh-CN" altLang="en-US" b="1" kern="0" dirty="0">
                    <a:solidFill>
                      <a:srgbClr val="FF0000"/>
                    </a:solidFill>
                    <a:latin typeface="+mn-lt"/>
                    <a:ea typeface="+mn-ea"/>
                  </a:rPr>
                  <a:t>，</a:t>
                </a:r>
                <a:r>
                  <a:rPr lang="en-US" altLang="zh-CN" b="1" kern="0" dirty="0">
                    <a:solidFill>
                      <a:srgbClr val="FF0000"/>
                    </a:solidFill>
                    <a:latin typeface="Times New Roman" panose="02020603050405020304" pitchFamily="2" charset="0"/>
                    <a:ea typeface="+mn-ea"/>
                  </a:rPr>
                  <a:t>…</a:t>
                </a:r>
                <a:r>
                  <a:rPr lang="zh-CN" altLang="en-US" b="1" kern="0" dirty="0">
                    <a:solidFill>
                      <a:srgbClr val="FF0000"/>
                    </a:solidFill>
                    <a:latin typeface="+mn-lt"/>
                    <a:ea typeface="+mn-ea"/>
                  </a:rPr>
                  <a:t>，</a:t>
                </a:r>
                <a:r>
                  <a:rPr lang="en-US" altLang="zh-CN" b="1" i="1" kern="0" dirty="0">
                    <a:solidFill>
                      <a:srgbClr val="FF0000"/>
                    </a:solidFill>
                    <a:latin typeface="+mn-lt"/>
                    <a:ea typeface="+mn-ea"/>
                  </a:rPr>
                  <a:t>A</a:t>
                </a:r>
                <a:r>
                  <a:rPr lang="en-US" altLang="zh-CN" b="1" i="1" kern="0" baseline="-25000" dirty="0">
                    <a:solidFill>
                      <a:srgbClr val="FF0000"/>
                    </a:solidFill>
                    <a:latin typeface="+mn-lt"/>
                    <a:ea typeface="+mn-ea"/>
                  </a:rPr>
                  <a:t>n</a:t>
                </a:r>
                <a:r>
                  <a:rPr lang="en-US" altLang="zh-CN" b="1" kern="0" dirty="0">
                    <a:solidFill>
                      <a:srgbClr val="FF0000"/>
                    </a:solidFill>
                    <a:latin typeface="+mn-lt"/>
                    <a:ea typeface="+mn-ea"/>
                  </a:rPr>
                  <a:t>)</a:t>
                </a:r>
                <a:endParaRPr lang="en-US" altLang="zh-CN" b="1" kern="0" dirty="0">
                  <a:latin typeface="+mn-lt"/>
                  <a:ea typeface="+mn-ea"/>
                </a:endParaRPr>
              </a:p>
              <a:p>
                <a:pPr lvl="1"/>
                <a:r>
                  <a:rPr lang="en-US" altLang="zh-CN" b="1" kern="0" dirty="0">
                    <a:latin typeface="+mn-lt"/>
                    <a:ea typeface="+mn-ea"/>
                  </a:rPr>
                  <a:t> </a:t>
                </a:r>
                <a:r>
                  <a:rPr lang="en-US" altLang="zh-CN" b="1" i="1" kern="0" dirty="0">
                    <a:latin typeface="+mn-lt"/>
                    <a:ea typeface="+mn-ea"/>
                  </a:rPr>
                  <a:t>R </a:t>
                </a:r>
                <a:r>
                  <a:rPr lang="zh-CN" altLang="en-US" dirty="0"/>
                  <a:t>是关系名，</a:t>
                </a:r>
                <a:r>
                  <a:rPr lang="en-US" altLang="zh-CN" i="1" dirty="0"/>
                  <a:t>U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是属性名的集合</a:t>
                </a:r>
              </a:p>
              <a:p>
                <a:pPr lvl="1"/>
                <a:r>
                  <a:rPr lang="en-US" altLang="zh-CN" b="1" i="1" kern="0" dirty="0">
                    <a:latin typeface="+mn-lt"/>
                    <a:ea typeface="+mn-ea"/>
                  </a:rPr>
                  <a:t>A</a:t>
                </a:r>
                <a:r>
                  <a:rPr lang="en-US" altLang="zh-CN" b="1" kern="0" baseline="-25000" dirty="0">
                    <a:latin typeface="+mn-lt"/>
                    <a:ea typeface="+mn-ea"/>
                  </a:rPr>
                  <a:t>1</a:t>
                </a:r>
                <a:r>
                  <a:rPr lang="zh-CN" altLang="en-US" b="1" kern="0" dirty="0">
                    <a:latin typeface="+mn-lt"/>
                    <a:ea typeface="+mn-ea"/>
                  </a:rPr>
                  <a:t>，</a:t>
                </a:r>
                <a:r>
                  <a:rPr lang="en-US" altLang="zh-CN" b="1" i="1" kern="0" dirty="0">
                    <a:latin typeface="+mn-lt"/>
                    <a:ea typeface="+mn-ea"/>
                  </a:rPr>
                  <a:t>A</a:t>
                </a:r>
                <a:r>
                  <a:rPr lang="en-US" altLang="zh-CN" b="1" kern="0" baseline="-25000" dirty="0">
                    <a:latin typeface="+mn-lt"/>
                    <a:ea typeface="+mn-ea"/>
                  </a:rPr>
                  <a:t>2</a:t>
                </a:r>
                <a:r>
                  <a:rPr lang="zh-CN" altLang="en-US" b="1" kern="0" dirty="0">
                    <a:latin typeface="+mn-lt"/>
                    <a:ea typeface="+mn-ea"/>
                  </a:rPr>
                  <a:t>，</a:t>
                </a:r>
                <a:r>
                  <a:rPr lang="en-US" altLang="zh-CN" b="1" kern="0" dirty="0">
                    <a:latin typeface="Times New Roman" panose="02020603050405020304" pitchFamily="2" charset="0"/>
                    <a:ea typeface="+mn-ea"/>
                  </a:rPr>
                  <a:t>…</a:t>
                </a:r>
                <a:r>
                  <a:rPr lang="zh-CN" altLang="en-US" b="1" kern="0" dirty="0">
                    <a:latin typeface="+mn-lt"/>
                    <a:ea typeface="+mn-ea"/>
                  </a:rPr>
                  <a:t>，</a:t>
                </a:r>
                <a:r>
                  <a:rPr lang="en-US" altLang="zh-CN" b="1" i="1" kern="0" dirty="0">
                    <a:latin typeface="+mn-lt"/>
                    <a:ea typeface="+mn-ea"/>
                  </a:rPr>
                  <a:t>A</a:t>
                </a:r>
                <a:r>
                  <a:rPr lang="en-US" altLang="zh-CN" b="1" i="1" kern="0" baseline="-25000" dirty="0">
                    <a:latin typeface="+mn-lt"/>
                    <a:ea typeface="+mn-ea"/>
                  </a:rPr>
                  <a:t>n </a:t>
                </a:r>
                <a:r>
                  <a:rPr lang="zh-CN" altLang="en-US" dirty="0"/>
                  <a:t>是关系中所有属性的属性名</a:t>
                </a:r>
              </a:p>
              <a:p>
                <a:pPr lvl="1">
                  <a:lnSpc>
                    <a:spcPct val="110000"/>
                  </a:lnSpc>
                  <a:spcBef>
                    <a:spcPts val="2000"/>
                  </a:spcBef>
                </a:pPr>
                <a:r>
                  <a:rPr lang="zh-CN" altLang="en-US" dirty="0"/>
                  <a:t>注：域名及属性向域的映象常常直接说明为属性的类型、长度等</a:t>
                </a:r>
              </a:p>
            </p:txBody>
          </p:sp>
        </mc:Choice>
        <mc:Fallback xmlns="">
          <p:sp>
            <p:nvSpPr>
              <p:cNvPr id="35843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关系模式与关系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关系模式</a:t>
            </a:r>
            <a:endParaRPr lang="zh-CN" altLang="en-US" dirty="0"/>
          </a:p>
          <a:p>
            <a:pPr lvl="1"/>
            <a:r>
              <a:rPr lang="zh-CN" altLang="en-US" dirty="0"/>
              <a:t>对关系的描述</a:t>
            </a:r>
          </a:p>
          <a:p>
            <a:pPr lvl="1"/>
            <a:r>
              <a:rPr lang="zh-CN" altLang="en-US" dirty="0"/>
              <a:t>静态的、稳定的</a:t>
            </a:r>
          </a:p>
          <a:p>
            <a:pPr lvl="1"/>
            <a:endParaRPr lang="zh-CN" altLang="en-US" dirty="0"/>
          </a:p>
          <a:p>
            <a:r>
              <a:rPr lang="zh-CN" altLang="en-US" dirty="0">
                <a:solidFill>
                  <a:srgbClr val="FF0000"/>
                </a:solidFill>
              </a:rPr>
              <a:t>关系</a:t>
            </a:r>
            <a:endParaRPr lang="zh-CN" altLang="en-US" dirty="0"/>
          </a:p>
          <a:p>
            <a:pPr lvl="1"/>
            <a:r>
              <a:rPr lang="zh-CN" altLang="en-US" dirty="0"/>
              <a:t>关系模式在某一时刻的状态或内容</a:t>
            </a:r>
          </a:p>
          <a:p>
            <a:pPr lvl="1"/>
            <a:r>
              <a:rPr lang="zh-CN" altLang="en-US" dirty="0"/>
              <a:t>动态的、随时间不断变化的</a:t>
            </a:r>
          </a:p>
          <a:p>
            <a:pPr lvl="1"/>
            <a:endParaRPr lang="zh-CN" altLang="en-US" dirty="0"/>
          </a:p>
          <a:p>
            <a:r>
              <a:rPr lang="zh-CN" altLang="en-US" dirty="0"/>
              <a:t>关系模式和关系往往笼统称为关系</a:t>
            </a:r>
            <a:endParaRPr lang="en-US" altLang="zh-CN" dirty="0"/>
          </a:p>
          <a:p>
            <a:pPr lvl="1"/>
            <a:r>
              <a:rPr lang="zh-CN" altLang="en-US" dirty="0"/>
              <a:t>通过上下文加以区别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2.1.3  </a:t>
            </a:r>
            <a:r>
              <a:rPr lang="zh-CN" altLang="en-US" dirty="0"/>
              <a:t>关系数据库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关系数据库</a:t>
            </a:r>
            <a:endParaRPr lang="zh-CN" altLang="en-US" dirty="0"/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zh-CN" altLang="en-US" dirty="0"/>
              <a:t>在一个给定的应用领域中，所有关系的集合构成一个关系数据库</a:t>
            </a:r>
          </a:p>
          <a:p>
            <a:pPr lvl="1">
              <a:lnSpc>
                <a:spcPct val="100000"/>
              </a:lnSpc>
              <a:spcBef>
                <a:spcPts val="1000"/>
              </a:spcBef>
            </a:pPr>
            <a:endParaRPr lang="zh-CN" altLang="en-US" dirty="0"/>
          </a:p>
          <a:p>
            <a:pPr>
              <a:lnSpc>
                <a:spcPct val="100000"/>
              </a:lnSpc>
              <a:spcBef>
                <a:spcPts val="1000"/>
              </a:spcBef>
            </a:pPr>
            <a:r>
              <a:rPr lang="zh-CN" altLang="en-US" dirty="0">
                <a:solidFill>
                  <a:srgbClr val="1F2DA8"/>
                </a:solidFill>
              </a:rPr>
              <a:t>关系数据库的型与值</a:t>
            </a:r>
            <a:endParaRPr lang="en-US" altLang="zh-CN" dirty="0"/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关系数据库的型</a:t>
            </a:r>
            <a:endParaRPr lang="en-US" altLang="zh-CN" dirty="0"/>
          </a:p>
          <a:p>
            <a:pPr lvl="2">
              <a:lnSpc>
                <a:spcPct val="100000"/>
              </a:lnSpc>
              <a:spcBef>
                <a:spcPts val="1000"/>
              </a:spcBef>
            </a:pPr>
            <a:r>
              <a:rPr lang="zh-CN" altLang="en-US" dirty="0"/>
              <a:t>关系数据库模式，是对关系数据库的描述</a:t>
            </a:r>
          </a:p>
          <a:p>
            <a:pPr lvl="2">
              <a:lnSpc>
                <a:spcPct val="100000"/>
              </a:lnSpc>
              <a:spcBef>
                <a:spcPts val="1000"/>
              </a:spcBef>
            </a:pPr>
            <a:r>
              <a:rPr lang="zh-CN" altLang="en-US" dirty="0"/>
              <a:t>包括所有关系的关系模式，以及</a:t>
            </a:r>
            <a:r>
              <a:rPr lang="zh-CN" altLang="en-US" dirty="0">
                <a:sym typeface="+mn-ea"/>
              </a:rPr>
              <a:t>所有</a:t>
            </a:r>
            <a:r>
              <a:rPr lang="zh-CN" altLang="en-US" dirty="0"/>
              <a:t>其他数据库对象的定义信息</a:t>
            </a:r>
            <a:endParaRPr lang="en-US" altLang="zh-CN" dirty="0"/>
          </a:p>
          <a:p>
            <a:pPr lvl="1">
              <a:lnSpc>
                <a:spcPct val="100000"/>
              </a:lnSpc>
              <a:spcBef>
                <a:spcPts val="3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关系数据库的值</a:t>
            </a:r>
            <a:endParaRPr lang="en-US" altLang="zh-CN" dirty="0">
              <a:solidFill>
                <a:srgbClr val="FF0000"/>
              </a:solidFill>
            </a:endParaRPr>
          </a:p>
          <a:p>
            <a:pPr lvl="2">
              <a:lnSpc>
                <a:spcPct val="100000"/>
              </a:lnSpc>
              <a:spcBef>
                <a:spcPts val="1000"/>
              </a:spcBef>
            </a:pPr>
            <a:r>
              <a:rPr lang="zh-CN" altLang="en-US" dirty="0"/>
              <a:t>关系模式在某一时刻对应的关系的集合，通常称为关系数据库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2.1.4  </a:t>
            </a:r>
            <a:r>
              <a:rPr lang="zh-CN" altLang="en-US"/>
              <a:t>关系模型的存储结构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关系模型的物理组织</a:t>
            </a:r>
          </a:p>
          <a:p>
            <a:pPr lvl="1">
              <a:lnSpc>
                <a:spcPct val="110000"/>
              </a:lnSpc>
              <a:spcBef>
                <a:spcPts val="1000"/>
              </a:spcBef>
            </a:pPr>
            <a:r>
              <a:rPr lang="zh-CN" altLang="en-US"/>
              <a:t>有的关系数据库管理系统中一张表对应一个操作系统文件，将物理数据组织交给操作系统完成</a:t>
            </a:r>
          </a:p>
          <a:p>
            <a:pPr lvl="1">
              <a:lnSpc>
                <a:spcPct val="110000"/>
              </a:lnSpc>
              <a:spcBef>
                <a:spcPts val="1000"/>
              </a:spcBef>
            </a:pPr>
            <a:r>
              <a:rPr lang="zh-CN" altLang="en-US">
                <a:sym typeface="+mn-ea"/>
              </a:rPr>
              <a:t>有的关系数据库管理系统从操作系统那里申请若干个大的文件，自己划分文件空间，组织表、索引等存储结构，并进行存储管理</a:t>
            </a:r>
          </a:p>
          <a:p>
            <a:pPr lvl="1"/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关系模型是一种逻辑数据模型，不涉及数据的物理存储组织。因此，在本门课程以及大学初级数据库课程中，一般不会过多介绍数据库物理存储实现。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</a:t>
            </a:r>
            <a:r>
              <a:rPr lang="en-US" altLang="zh-CN"/>
              <a:t>  </a:t>
            </a:r>
            <a:r>
              <a:rPr lang="zh-CN" altLang="en-US"/>
              <a:t>关系数据库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2.1  </a:t>
            </a:r>
            <a:r>
              <a:rPr lang="zh-CN" altLang="en-US"/>
              <a:t>关系数据结构及形式化定义</a:t>
            </a:r>
          </a:p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</a:rPr>
              <a:t>2.2  </a:t>
            </a:r>
            <a:r>
              <a:rPr lang="zh-CN" altLang="en-US">
                <a:solidFill>
                  <a:srgbClr val="FF0000"/>
                </a:solidFill>
              </a:rPr>
              <a:t>关系操作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2.3  </a:t>
            </a:r>
            <a:r>
              <a:rPr lang="zh-CN" altLang="en-US"/>
              <a:t>关系的完整性</a:t>
            </a:r>
          </a:p>
          <a:p>
            <a:pPr marL="0" indent="0">
              <a:buNone/>
            </a:pPr>
            <a:r>
              <a:rPr lang="en-US" altLang="zh-CN"/>
              <a:t>2.4  </a:t>
            </a:r>
            <a:r>
              <a:rPr lang="zh-CN" altLang="en-US"/>
              <a:t>关系代数</a:t>
            </a:r>
          </a:p>
          <a:p>
            <a:pPr marL="0" indent="0">
              <a:buNone/>
            </a:pPr>
            <a:r>
              <a:rPr lang="en-US" altLang="zh-CN"/>
              <a:t>2.5  </a:t>
            </a:r>
            <a:r>
              <a:rPr lang="zh-CN" altLang="en-US"/>
              <a:t>关系演算</a:t>
            </a:r>
          </a:p>
          <a:p>
            <a:pPr marL="0" indent="0">
              <a:buNone/>
            </a:pPr>
            <a:r>
              <a:rPr lang="en-US" altLang="zh-CN"/>
              <a:t>2.6  </a:t>
            </a:r>
            <a:r>
              <a:rPr lang="zh-CN" altLang="en-US"/>
              <a:t>小结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1BCC2C28-871D-48CB-8BE0-2867F7803ADB-2" descr="C:/Users/DELL/AppData/Local/Temp/导图1(2).png导图1(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30" y="433705"/>
            <a:ext cx="11111230" cy="4970145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关系操作</a:t>
            </a:r>
            <a:endParaRPr lang="zh-CN" altLang="en-US"/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424180" y="4883150"/>
            <a:ext cx="11343005" cy="1568450"/>
          </a:xfrm>
        </p:spPr>
        <p:txBody>
          <a:bodyPr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/>
              <a:t>左边是向用户提供的两大类、共四种类型的数据操纵功能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/>
              <a:t>右边是用来实现或表示用户的数据操纵请求的关系操作（符）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/>
              <a:t>选择、投影、并、差、笛卡尔积是</a:t>
            </a:r>
            <a:r>
              <a:rPr lang="en-US" altLang="zh-CN" sz="2400" dirty="0"/>
              <a:t>5</a:t>
            </a:r>
            <a:r>
              <a:rPr lang="zh-CN" altLang="en-US" sz="2400" dirty="0"/>
              <a:t>种基本操作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/>
              <a:t>关系操作的特点：操作的对象和结果都是关系（集合）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/>
            <a:r>
              <a:rPr lang="zh-CN" altLang="en-US" dirty="0"/>
              <a:t>对关系操作的总结</a:t>
            </a:r>
          </a:p>
        </p:txBody>
      </p:sp>
      <p:sp>
        <p:nvSpPr>
          <p:cNvPr id="51204" name="Rectangle 3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lvl="0" eaLnBrk="1" hangingPunct="1"/>
            <a:r>
              <a:rPr lang="zh-CN" altLang="en-US" sz="3000" dirty="0">
                <a:latin typeface="楷体" panose="02010609060101010101" charset="-122"/>
                <a:ea typeface="楷体" panose="02010609060101010101" charset="-122"/>
              </a:rPr>
              <a:t>操作对象是关系</a:t>
            </a:r>
          </a:p>
          <a:p>
            <a:pPr lvl="0" eaLnBrk="1" hangingPunct="1"/>
            <a:r>
              <a:rPr lang="zh-CN" altLang="en-US" dirty="0">
                <a:sym typeface="+mn-ea"/>
              </a:rPr>
              <a:t>操作</a:t>
            </a:r>
            <a:r>
              <a:rPr lang="zh-CN" altLang="en-US" sz="3000" dirty="0">
                <a:latin typeface="楷体" panose="02010609060101010101" charset="-122"/>
                <a:ea typeface="楷体" panose="02010609060101010101" charset="-122"/>
              </a:rPr>
              <a:t>结果也构成一个关系</a:t>
            </a:r>
          </a:p>
          <a:p>
            <a:pPr lvl="0" eaLnBrk="1" hangingPunct="1"/>
            <a:endParaRPr lang="zh-CN" altLang="en-US" sz="1500" dirty="0">
              <a:latin typeface="楷体" panose="02010609060101010101" charset="-122"/>
              <a:ea typeface="楷体" panose="02010609060101010101" charset="-122"/>
            </a:endParaRPr>
          </a:p>
          <a:p>
            <a:pPr lvl="0" eaLnBrk="1" hangingPunct="1"/>
            <a:r>
              <a:rPr lang="zh-CN" altLang="en-US" sz="3000" dirty="0">
                <a:latin typeface="楷体" panose="02010609060101010101" charset="-122"/>
                <a:ea typeface="楷体" panose="02010609060101010101" charset="-122"/>
              </a:rPr>
              <a:t>关系模型上的五种基本关系操作</a:t>
            </a:r>
          </a:p>
          <a:p>
            <a:pPr lvl="1" eaLnBrk="1" hangingPunct="1"/>
            <a:r>
              <a:rPr lang="zh-CN" altLang="en-US" sz="2800" dirty="0">
                <a:latin typeface="楷体" panose="02010609060101010101" charset="-122"/>
                <a:ea typeface="楷体" panose="02010609060101010101" charset="-122"/>
              </a:rPr>
              <a:t>（元组）选择</a:t>
            </a:r>
          </a:p>
          <a:p>
            <a:pPr lvl="1" eaLnBrk="1" hangingPunct="1"/>
            <a:r>
              <a:rPr lang="zh-CN" altLang="en-US" sz="2800" dirty="0">
                <a:latin typeface="楷体" panose="02010609060101010101" charset="-122"/>
                <a:ea typeface="楷体" panose="02010609060101010101" charset="-122"/>
              </a:rPr>
              <a:t>（属性）投影</a:t>
            </a:r>
          </a:p>
          <a:p>
            <a:pPr lvl="1" eaLnBrk="1" hangingPunct="1"/>
            <a:r>
              <a:rPr lang="zh-CN" altLang="en-US" sz="2800" dirty="0">
                <a:latin typeface="楷体" panose="02010609060101010101" charset="-122"/>
                <a:ea typeface="楷体" panose="02010609060101010101" charset="-122"/>
              </a:rPr>
              <a:t>（两个关系的）笛卡尔积</a:t>
            </a:r>
          </a:p>
          <a:p>
            <a:pPr lvl="1" eaLnBrk="1" hangingPunct="1"/>
            <a:r>
              <a:rPr lang="zh-CN" altLang="en-US" sz="2800" dirty="0">
                <a:latin typeface="楷体" panose="02010609060101010101" charset="-122"/>
                <a:ea typeface="楷体" panose="02010609060101010101" charset="-122"/>
              </a:rPr>
              <a:t>（</a:t>
            </a:r>
            <a:r>
              <a:rPr lang="zh-CN" altLang="en-US" dirty="0">
                <a:sym typeface="+mn-ea"/>
              </a:rPr>
              <a:t>两个关系的</a:t>
            </a:r>
            <a:r>
              <a:rPr lang="zh-CN" altLang="en-US" sz="2800" dirty="0">
                <a:latin typeface="楷体" panose="02010609060101010101" charset="-122"/>
                <a:ea typeface="楷体" panose="02010609060101010101" charset="-122"/>
              </a:rPr>
              <a:t>）并</a:t>
            </a:r>
          </a:p>
          <a:p>
            <a:pPr lvl="1" eaLnBrk="1" hangingPunct="1"/>
            <a:r>
              <a:rPr lang="zh-CN" altLang="en-US" sz="2800" dirty="0">
                <a:latin typeface="楷体" panose="02010609060101010101" charset="-122"/>
                <a:ea typeface="楷体" panose="02010609060101010101" charset="-122"/>
              </a:rPr>
              <a:t>（</a:t>
            </a:r>
            <a:r>
              <a:rPr lang="zh-CN" altLang="en-US" dirty="0">
                <a:sym typeface="+mn-ea"/>
              </a:rPr>
              <a:t>两个关系的</a:t>
            </a:r>
            <a:r>
              <a:rPr lang="zh-CN" altLang="en-US" sz="2800" dirty="0">
                <a:latin typeface="楷体" panose="02010609060101010101" charset="-122"/>
                <a:ea typeface="楷体" panose="02010609060101010101" charset="-122"/>
              </a:rPr>
              <a:t>）差</a:t>
            </a:r>
          </a:p>
        </p:txBody>
      </p:sp>
      <p:grpSp>
        <p:nvGrpSpPr>
          <p:cNvPr id="51205" name="组合 50181"/>
          <p:cNvGrpSpPr/>
          <p:nvPr/>
        </p:nvGrpSpPr>
        <p:grpSpPr>
          <a:xfrm>
            <a:off x="7772400" y="828675"/>
            <a:ext cx="2590800" cy="2905125"/>
            <a:chOff x="0" y="-54"/>
            <a:chExt cx="1632" cy="1830"/>
          </a:xfrm>
        </p:grpSpPr>
        <p:sp>
          <p:nvSpPr>
            <p:cNvPr id="51206" name="Oval 8"/>
            <p:cNvSpPr/>
            <p:nvPr/>
          </p:nvSpPr>
          <p:spPr>
            <a:xfrm>
              <a:off x="0" y="240"/>
              <a:ext cx="1632" cy="1536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07" name="Rectangle 99"/>
            <p:cNvSpPr/>
            <p:nvPr/>
          </p:nvSpPr>
          <p:spPr>
            <a:xfrm>
              <a:off x="576" y="730"/>
              <a:ext cx="168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08" name="Rectangle 97"/>
            <p:cNvSpPr/>
            <p:nvPr/>
          </p:nvSpPr>
          <p:spPr>
            <a:xfrm>
              <a:off x="576" y="624"/>
              <a:ext cx="168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09" name="Rectangle 60"/>
            <p:cNvSpPr/>
            <p:nvPr/>
          </p:nvSpPr>
          <p:spPr>
            <a:xfrm>
              <a:off x="744" y="730"/>
              <a:ext cx="168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10" name="Rectangle 61"/>
            <p:cNvSpPr/>
            <p:nvPr/>
          </p:nvSpPr>
          <p:spPr>
            <a:xfrm>
              <a:off x="408" y="730"/>
              <a:ext cx="168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11" name="Rectangle 62"/>
            <p:cNvSpPr/>
            <p:nvPr/>
          </p:nvSpPr>
          <p:spPr>
            <a:xfrm>
              <a:off x="240" y="730"/>
              <a:ext cx="168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12" name="Rectangle 65"/>
            <p:cNvSpPr/>
            <p:nvPr/>
          </p:nvSpPr>
          <p:spPr>
            <a:xfrm>
              <a:off x="744" y="624"/>
              <a:ext cx="168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13" name="Rectangle 66"/>
            <p:cNvSpPr/>
            <p:nvPr/>
          </p:nvSpPr>
          <p:spPr>
            <a:xfrm>
              <a:off x="408" y="624"/>
              <a:ext cx="168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14" name="Rectangle 67"/>
            <p:cNvSpPr/>
            <p:nvPr/>
          </p:nvSpPr>
          <p:spPr>
            <a:xfrm>
              <a:off x="240" y="624"/>
              <a:ext cx="168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15" name="Line 68"/>
            <p:cNvSpPr/>
            <p:nvPr/>
          </p:nvSpPr>
          <p:spPr>
            <a:xfrm>
              <a:off x="240" y="624"/>
              <a:ext cx="67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16" name="Line 69"/>
            <p:cNvSpPr/>
            <p:nvPr/>
          </p:nvSpPr>
          <p:spPr>
            <a:xfrm>
              <a:off x="240" y="730"/>
              <a:ext cx="67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17" name="Line 72"/>
            <p:cNvSpPr/>
            <p:nvPr/>
          </p:nvSpPr>
          <p:spPr>
            <a:xfrm>
              <a:off x="240" y="836"/>
              <a:ext cx="67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18" name="Line 73"/>
            <p:cNvSpPr/>
            <p:nvPr/>
          </p:nvSpPr>
          <p:spPr>
            <a:xfrm>
              <a:off x="240" y="624"/>
              <a:ext cx="0" cy="212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19" name="Line 74"/>
            <p:cNvSpPr/>
            <p:nvPr/>
          </p:nvSpPr>
          <p:spPr>
            <a:xfrm>
              <a:off x="408" y="624"/>
              <a:ext cx="0" cy="21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20" name="Line 75"/>
            <p:cNvSpPr/>
            <p:nvPr/>
          </p:nvSpPr>
          <p:spPr>
            <a:xfrm>
              <a:off x="576" y="624"/>
              <a:ext cx="0" cy="21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21" name="Line 78"/>
            <p:cNvSpPr/>
            <p:nvPr/>
          </p:nvSpPr>
          <p:spPr>
            <a:xfrm>
              <a:off x="912" y="624"/>
              <a:ext cx="0" cy="212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22" name="Line 98"/>
            <p:cNvSpPr/>
            <p:nvPr/>
          </p:nvSpPr>
          <p:spPr>
            <a:xfrm>
              <a:off x="744" y="624"/>
              <a:ext cx="0" cy="21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23" name="Rectangle 120"/>
            <p:cNvSpPr/>
            <p:nvPr/>
          </p:nvSpPr>
          <p:spPr>
            <a:xfrm>
              <a:off x="413" y="1334"/>
              <a:ext cx="115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24" name="Rectangle 118"/>
            <p:cNvSpPr/>
            <p:nvPr/>
          </p:nvSpPr>
          <p:spPr>
            <a:xfrm>
              <a:off x="336" y="1334"/>
              <a:ext cx="77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25" name="Rectangle 84"/>
            <p:cNvSpPr/>
            <p:nvPr/>
          </p:nvSpPr>
          <p:spPr>
            <a:xfrm>
              <a:off x="413" y="1228"/>
              <a:ext cx="115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26" name="Rectangle 85"/>
            <p:cNvSpPr/>
            <p:nvPr/>
          </p:nvSpPr>
          <p:spPr>
            <a:xfrm>
              <a:off x="336" y="1228"/>
              <a:ext cx="77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27" name="Rectangle 87"/>
            <p:cNvSpPr/>
            <p:nvPr/>
          </p:nvSpPr>
          <p:spPr>
            <a:xfrm>
              <a:off x="413" y="1122"/>
              <a:ext cx="115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28" name="Rectangle 88"/>
            <p:cNvSpPr/>
            <p:nvPr/>
          </p:nvSpPr>
          <p:spPr>
            <a:xfrm>
              <a:off x="336" y="1122"/>
              <a:ext cx="77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29" name="Line 89"/>
            <p:cNvSpPr/>
            <p:nvPr/>
          </p:nvSpPr>
          <p:spPr>
            <a:xfrm>
              <a:off x="336" y="1122"/>
              <a:ext cx="19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30" name="Line 90"/>
            <p:cNvSpPr/>
            <p:nvPr/>
          </p:nvSpPr>
          <p:spPr>
            <a:xfrm>
              <a:off x="336" y="1228"/>
              <a:ext cx="19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31" name="Line 91"/>
            <p:cNvSpPr/>
            <p:nvPr/>
          </p:nvSpPr>
          <p:spPr>
            <a:xfrm>
              <a:off x="336" y="1440"/>
              <a:ext cx="19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32" name="Line 92"/>
            <p:cNvSpPr/>
            <p:nvPr/>
          </p:nvSpPr>
          <p:spPr>
            <a:xfrm>
              <a:off x="336" y="1122"/>
              <a:ext cx="0" cy="318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33" name="Line 93"/>
            <p:cNvSpPr/>
            <p:nvPr/>
          </p:nvSpPr>
          <p:spPr>
            <a:xfrm>
              <a:off x="413" y="1122"/>
              <a:ext cx="0" cy="31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34" name="Line 95"/>
            <p:cNvSpPr/>
            <p:nvPr/>
          </p:nvSpPr>
          <p:spPr>
            <a:xfrm>
              <a:off x="528" y="1122"/>
              <a:ext cx="0" cy="318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35" name="Line 119"/>
            <p:cNvSpPr/>
            <p:nvPr/>
          </p:nvSpPr>
          <p:spPr>
            <a:xfrm>
              <a:off x="336" y="1334"/>
              <a:ext cx="19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36" name="Rectangle 105"/>
            <p:cNvSpPr/>
            <p:nvPr/>
          </p:nvSpPr>
          <p:spPr>
            <a:xfrm>
              <a:off x="768" y="1142"/>
              <a:ext cx="96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37" name="Rectangle 106"/>
            <p:cNvSpPr/>
            <p:nvPr/>
          </p:nvSpPr>
          <p:spPr>
            <a:xfrm>
              <a:off x="672" y="1142"/>
              <a:ext cx="96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38" name="Rectangle 107"/>
            <p:cNvSpPr/>
            <p:nvPr/>
          </p:nvSpPr>
          <p:spPr>
            <a:xfrm>
              <a:off x="768" y="1036"/>
              <a:ext cx="96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39" name="Rectangle 108"/>
            <p:cNvSpPr/>
            <p:nvPr/>
          </p:nvSpPr>
          <p:spPr>
            <a:xfrm>
              <a:off x="672" y="1036"/>
              <a:ext cx="96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40" name="Line 109"/>
            <p:cNvSpPr/>
            <p:nvPr/>
          </p:nvSpPr>
          <p:spPr>
            <a:xfrm>
              <a:off x="672" y="1036"/>
              <a:ext cx="19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41" name="Line 110"/>
            <p:cNvSpPr/>
            <p:nvPr/>
          </p:nvSpPr>
          <p:spPr>
            <a:xfrm>
              <a:off x="672" y="1142"/>
              <a:ext cx="19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42" name="Line 111"/>
            <p:cNvSpPr/>
            <p:nvPr/>
          </p:nvSpPr>
          <p:spPr>
            <a:xfrm>
              <a:off x="672" y="1248"/>
              <a:ext cx="19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43" name="Line 112"/>
            <p:cNvSpPr/>
            <p:nvPr/>
          </p:nvSpPr>
          <p:spPr>
            <a:xfrm>
              <a:off x="672" y="1036"/>
              <a:ext cx="0" cy="212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44" name="Line 113"/>
            <p:cNvSpPr/>
            <p:nvPr/>
          </p:nvSpPr>
          <p:spPr>
            <a:xfrm>
              <a:off x="768" y="1036"/>
              <a:ext cx="0" cy="21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45" name="Line 114"/>
            <p:cNvSpPr/>
            <p:nvPr/>
          </p:nvSpPr>
          <p:spPr>
            <a:xfrm>
              <a:off x="864" y="1036"/>
              <a:ext cx="0" cy="212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46" name="Rectangle 165"/>
            <p:cNvSpPr/>
            <p:nvPr/>
          </p:nvSpPr>
          <p:spPr>
            <a:xfrm>
              <a:off x="1296" y="1154"/>
              <a:ext cx="96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47" name="Rectangle 163"/>
            <p:cNvSpPr/>
            <p:nvPr/>
          </p:nvSpPr>
          <p:spPr>
            <a:xfrm>
              <a:off x="1200" y="1154"/>
              <a:ext cx="96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48" name="Rectangle 161"/>
            <p:cNvSpPr/>
            <p:nvPr/>
          </p:nvSpPr>
          <p:spPr>
            <a:xfrm>
              <a:off x="1104" y="1154"/>
              <a:ext cx="96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49" name="Rectangle 158"/>
            <p:cNvSpPr/>
            <p:nvPr/>
          </p:nvSpPr>
          <p:spPr>
            <a:xfrm>
              <a:off x="1296" y="1048"/>
              <a:ext cx="96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50" name="Rectangle 156"/>
            <p:cNvSpPr/>
            <p:nvPr/>
          </p:nvSpPr>
          <p:spPr>
            <a:xfrm>
              <a:off x="1200" y="1048"/>
              <a:ext cx="96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51" name="Rectangle 154"/>
            <p:cNvSpPr/>
            <p:nvPr/>
          </p:nvSpPr>
          <p:spPr>
            <a:xfrm>
              <a:off x="1104" y="1048"/>
              <a:ext cx="96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52" name="Rectangle 151"/>
            <p:cNvSpPr/>
            <p:nvPr/>
          </p:nvSpPr>
          <p:spPr>
            <a:xfrm>
              <a:off x="1296" y="942"/>
              <a:ext cx="96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53" name="Rectangle 149"/>
            <p:cNvSpPr/>
            <p:nvPr/>
          </p:nvSpPr>
          <p:spPr>
            <a:xfrm>
              <a:off x="1200" y="942"/>
              <a:ext cx="96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54" name="Rectangle 147"/>
            <p:cNvSpPr/>
            <p:nvPr/>
          </p:nvSpPr>
          <p:spPr>
            <a:xfrm>
              <a:off x="1104" y="942"/>
              <a:ext cx="96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55" name="Rectangle 144"/>
            <p:cNvSpPr/>
            <p:nvPr/>
          </p:nvSpPr>
          <p:spPr>
            <a:xfrm>
              <a:off x="1296" y="836"/>
              <a:ext cx="96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56" name="Rectangle 142"/>
            <p:cNvSpPr/>
            <p:nvPr/>
          </p:nvSpPr>
          <p:spPr>
            <a:xfrm>
              <a:off x="1200" y="836"/>
              <a:ext cx="96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57" name="Rectangle 140"/>
            <p:cNvSpPr/>
            <p:nvPr/>
          </p:nvSpPr>
          <p:spPr>
            <a:xfrm>
              <a:off x="1104" y="836"/>
              <a:ext cx="96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58" name="Rectangle 137"/>
            <p:cNvSpPr/>
            <p:nvPr/>
          </p:nvSpPr>
          <p:spPr>
            <a:xfrm>
              <a:off x="1200" y="730"/>
              <a:ext cx="96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59" name="Rectangle 135"/>
            <p:cNvSpPr/>
            <p:nvPr/>
          </p:nvSpPr>
          <p:spPr>
            <a:xfrm>
              <a:off x="1200" y="624"/>
              <a:ext cx="96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60" name="Rectangle 125"/>
            <p:cNvSpPr/>
            <p:nvPr/>
          </p:nvSpPr>
          <p:spPr>
            <a:xfrm>
              <a:off x="1296" y="730"/>
              <a:ext cx="96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61" name="Rectangle 126"/>
            <p:cNvSpPr/>
            <p:nvPr/>
          </p:nvSpPr>
          <p:spPr>
            <a:xfrm>
              <a:off x="1104" y="730"/>
              <a:ext cx="96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62" name="Rectangle 127"/>
            <p:cNvSpPr/>
            <p:nvPr/>
          </p:nvSpPr>
          <p:spPr>
            <a:xfrm>
              <a:off x="1296" y="624"/>
              <a:ext cx="96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63" name="Rectangle 128"/>
            <p:cNvSpPr/>
            <p:nvPr/>
          </p:nvSpPr>
          <p:spPr>
            <a:xfrm>
              <a:off x="1104" y="624"/>
              <a:ext cx="96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64" name="Line 129"/>
            <p:cNvSpPr/>
            <p:nvPr/>
          </p:nvSpPr>
          <p:spPr>
            <a:xfrm>
              <a:off x="1104" y="624"/>
              <a:ext cx="288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65" name="Line 130"/>
            <p:cNvSpPr/>
            <p:nvPr/>
          </p:nvSpPr>
          <p:spPr>
            <a:xfrm>
              <a:off x="1104" y="730"/>
              <a:ext cx="28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66" name="Line 131"/>
            <p:cNvSpPr/>
            <p:nvPr/>
          </p:nvSpPr>
          <p:spPr>
            <a:xfrm>
              <a:off x="1104" y="1260"/>
              <a:ext cx="288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67" name="Line 132"/>
            <p:cNvSpPr/>
            <p:nvPr/>
          </p:nvSpPr>
          <p:spPr>
            <a:xfrm>
              <a:off x="1104" y="624"/>
              <a:ext cx="0" cy="63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68" name="Line 133"/>
            <p:cNvSpPr/>
            <p:nvPr/>
          </p:nvSpPr>
          <p:spPr>
            <a:xfrm>
              <a:off x="1200" y="624"/>
              <a:ext cx="0" cy="63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69" name="Line 134"/>
            <p:cNvSpPr/>
            <p:nvPr/>
          </p:nvSpPr>
          <p:spPr>
            <a:xfrm>
              <a:off x="1392" y="624"/>
              <a:ext cx="0" cy="63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70" name="Line 136"/>
            <p:cNvSpPr/>
            <p:nvPr/>
          </p:nvSpPr>
          <p:spPr>
            <a:xfrm>
              <a:off x="1296" y="624"/>
              <a:ext cx="0" cy="63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71" name="Line 141"/>
            <p:cNvSpPr/>
            <p:nvPr/>
          </p:nvSpPr>
          <p:spPr>
            <a:xfrm>
              <a:off x="1104" y="836"/>
              <a:ext cx="28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72" name="Line 148"/>
            <p:cNvSpPr/>
            <p:nvPr/>
          </p:nvSpPr>
          <p:spPr>
            <a:xfrm>
              <a:off x="1104" y="942"/>
              <a:ext cx="28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73" name="Line 155"/>
            <p:cNvSpPr/>
            <p:nvPr/>
          </p:nvSpPr>
          <p:spPr>
            <a:xfrm>
              <a:off x="1104" y="1048"/>
              <a:ext cx="28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74" name="Line 162"/>
            <p:cNvSpPr/>
            <p:nvPr/>
          </p:nvSpPr>
          <p:spPr>
            <a:xfrm>
              <a:off x="1104" y="1154"/>
              <a:ext cx="28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75" name="Text Box 174"/>
            <p:cNvSpPr txBox="1"/>
            <p:nvPr/>
          </p:nvSpPr>
          <p:spPr>
            <a:xfrm>
              <a:off x="288" y="-54"/>
              <a:ext cx="1056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3000" dirty="0">
                  <a:solidFill>
                    <a:srgbClr val="FF0000"/>
                  </a:solidFill>
                  <a:latin typeface="楷体" panose="02010609060101010101" charset="-122"/>
                  <a:ea typeface="楷体" panose="02010609060101010101" charset="-122"/>
                </a:rPr>
                <a:t>操作对象</a:t>
              </a:r>
            </a:p>
          </p:txBody>
        </p:sp>
      </p:grpSp>
      <p:grpSp>
        <p:nvGrpSpPr>
          <p:cNvPr id="51276" name="组合 50252"/>
          <p:cNvGrpSpPr/>
          <p:nvPr/>
        </p:nvGrpSpPr>
        <p:grpSpPr>
          <a:xfrm>
            <a:off x="8153400" y="4724400"/>
            <a:ext cx="1752600" cy="1468438"/>
            <a:chOff x="0" y="0"/>
            <a:chExt cx="1104" cy="925"/>
          </a:xfrm>
        </p:grpSpPr>
        <p:sp>
          <p:nvSpPr>
            <p:cNvPr id="51277" name="Rectangle 29"/>
            <p:cNvSpPr/>
            <p:nvPr/>
          </p:nvSpPr>
          <p:spPr>
            <a:xfrm>
              <a:off x="883" y="468"/>
              <a:ext cx="221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78" name="Rectangle 28"/>
            <p:cNvSpPr/>
            <p:nvPr/>
          </p:nvSpPr>
          <p:spPr>
            <a:xfrm>
              <a:off x="662" y="468"/>
              <a:ext cx="221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79" name="Rectangle 27"/>
            <p:cNvSpPr/>
            <p:nvPr/>
          </p:nvSpPr>
          <p:spPr>
            <a:xfrm>
              <a:off x="442" y="468"/>
              <a:ext cx="220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80" name="Rectangle 26"/>
            <p:cNvSpPr/>
            <p:nvPr/>
          </p:nvSpPr>
          <p:spPr>
            <a:xfrm>
              <a:off x="221" y="468"/>
              <a:ext cx="221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81" name="Rectangle 25"/>
            <p:cNvSpPr/>
            <p:nvPr/>
          </p:nvSpPr>
          <p:spPr>
            <a:xfrm>
              <a:off x="0" y="468"/>
              <a:ext cx="221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82" name="Rectangle 24"/>
            <p:cNvSpPr/>
            <p:nvPr/>
          </p:nvSpPr>
          <p:spPr>
            <a:xfrm>
              <a:off x="883" y="312"/>
              <a:ext cx="221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83" name="Rectangle 23"/>
            <p:cNvSpPr/>
            <p:nvPr/>
          </p:nvSpPr>
          <p:spPr>
            <a:xfrm>
              <a:off x="662" y="312"/>
              <a:ext cx="221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84" name="Rectangle 22"/>
            <p:cNvSpPr/>
            <p:nvPr/>
          </p:nvSpPr>
          <p:spPr>
            <a:xfrm>
              <a:off x="442" y="312"/>
              <a:ext cx="220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85" name="Rectangle 21"/>
            <p:cNvSpPr/>
            <p:nvPr/>
          </p:nvSpPr>
          <p:spPr>
            <a:xfrm>
              <a:off x="221" y="312"/>
              <a:ext cx="221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86" name="Rectangle 20"/>
            <p:cNvSpPr/>
            <p:nvPr/>
          </p:nvSpPr>
          <p:spPr>
            <a:xfrm>
              <a:off x="0" y="312"/>
              <a:ext cx="221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87" name="Rectangle 19"/>
            <p:cNvSpPr/>
            <p:nvPr/>
          </p:nvSpPr>
          <p:spPr>
            <a:xfrm>
              <a:off x="883" y="156"/>
              <a:ext cx="221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88" name="Rectangle 18"/>
            <p:cNvSpPr/>
            <p:nvPr/>
          </p:nvSpPr>
          <p:spPr>
            <a:xfrm>
              <a:off x="662" y="156"/>
              <a:ext cx="221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89" name="Rectangle 17"/>
            <p:cNvSpPr/>
            <p:nvPr/>
          </p:nvSpPr>
          <p:spPr>
            <a:xfrm>
              <a:off x="442" y="156"/>
              <a:ext cx="220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90" name="Rectangle 16"/>
            <p:cNvSpPr/>
            <p:nvPr/>
          </p:nvSpPr>
          <p:spPr>
            <a:xfrm>
              <a:off x="221" y="156"/>
              <a:ext cx="221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91" name="Rectangle 15"/>
            <p:cNvSpPr/>
            <p:nvPr/>
          </p:nvSpPr>
          <p:spPr>
            <a:xfrm>
              <a:off x="0" y="156"/>
              <a:ext cx="221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92" name="Rectangle 14"/>
            <p:cNvSpPr/>
            <p:nvPr/>
          </p:nvSpPr>
          <p:spPr>
            <a:xfrm>
              <a:off x="883" y="0"/>
              <a:ext cx="221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93" name="Rectangle 13"/>
            <p:cNvSpPr/>
            <p:nvPr/>
          </p:nvSpPr>
          <p:spPr>
            <a:xfrm>
              <a:off x="662" y="0"/>
              <a:ext cx="221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94" name="Rectangle 12"/>
            <p:cNvSpPr/>
            <p:nvPr/>
          </p:nvSpPr>
          <p:spPr>
            <a:xfrm>
              <a:off x="442" y="0"/>
              <a:ext cx="220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95" name="Rectangle 11"/>
            <p:cNvSpPr/>
            <p:nvPr/>
          </p:nvSpPr>
          <p:spPr>
            <a:xfrm>
              <a:off x="221" y="0"/>
              <a:ext cx="221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96" name="Rectangle 10"/>
            <p:cNvSpPr/>
            <p:nvPr/>
          </p:nvSpPr>
          <p:spPr>
            <a:xfrm>
              <a:off x="0" y="0"/>
              <a:ext cx="221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1297" name="Line 30"/>
            <p:cNvSpPr/>
            <p:nvPr/>
          </p:nvSpPr>
          <p:spPr>
            <a:xfrm>
              <a:off x="0" y="0"/>
              <a:ext cx="1104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98" name="Line 31"/>
            <p:cNvSpPr/>
            <p:nvPr/>
          </p:nvSpPr>
          <p:spPr>
            <a:xfrm>
              <a:off x="0" y="156"/>
              <a:ext cx="110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99" name="Line 32"/>
            <p:cNvSpPr/>
            <p:nvPr/>
          </p:nvSpPr>
          <p:spPr>
            <a:xfrm>
              <a:off x="0" y="312"/>
              <a:ext cx="110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300" name="Line 33"/>
            <p:cNvSpPr/>
            <p:nvPr/>
          </p:nvSpPr>
          <p:spPr>
            <a:xfrm>
              <a:off x="0" y="468"/>
              <a:ext cx="110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301" name="Line 34"/>
            <p:cNvSpPr/>
            <p:nvPr/>
          </p:nvSpPr>
          <p:spPr>
            <a:xfrm>
              <a:off x="0" y="624"/>
              <a:ext cx="1104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302" name="Line 35"/>
            <p:cNvSpPr/>
            <p:nvPr/>
          </p:nvSpPr>
          <p:spPr>
            <a:xfrm>
              <a:off x="0" y="0"/>
              <a:ext cx="0" cy="624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303" name="Line 36"/>
            <p:cNvSpPr/>
            <p:nvPr/>
          </p:nvSpPr>
          <p:spPr>
            <a:xfrm>
              <a:off x="221" y="0"/>
              <a:ext cx="0" cy="62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304" name="Line 37"/>
            <p:cNvSpPr/>
            <p:nvPr/>
          </p:nvSpPr>
          <p:spPr>
            <a:xfrm>
              <a:off x="442" y="0"/>
              <a:ext cx="0" cy="62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305" name="Line 38"/>
            <p:cNvSpPr/>
            <p:nvPr/>
          </p:nvSpPr>
          <p:spPr>
            <a:xfrm>
              <a:off x="662" y="0"/>
              <a:ext cx="0" cy="62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306" name="Line 39"/>
            <p:cNvSpPr/>
            <p:nvPr/>
          </p:nvSpPr>
          <p:spPr>
            <a:xfrm>
              <a:off x="883" y="0"/>
              <a:ext cx="0" cy="62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307" name="Line 40"/>
            <p:cNvSpPr/>
            <p:nvPr/>
          </p:nvSpPr>
          <p:spPr>
            <a:xfrm>
              <a:off x="1104" y="0"/>
              <a:ext cx="0" cy="624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308" name="Text Box 176"/>
            <p:cNvSpPr txBox="1"/>
            <p:nvPr/>
          </p:nvSpPr>
          <p:spPr>
            <a:xfrm>
              <a:off x="48" y="634"/>
              <a:ext cx="1056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3000" dirty="0">
                  <a:solidFill>
                    <a:srgbClr val="FF0000"/>
                  </a:solidFill>
                  <a:latin typeface="楷体" panose="02010609060101010101" charset="-122"/>
                  <a:ea typeface="楷体" panose="02010609060101010101" charset="-122"/>
                </a:rPr>
                <a:t>操作结果</a:t>
              </a:r>
            </a:p>
          </p:txBody>
        </p:sp>
      </p:grpSp>
      <p:grpSp>
        <p:nvGrpSpPr>
          <p:cNvPr id="51309" name="组合 50285"/>
          <p:cNvGrpSpPr/>
          <p:nvPr/>
        </p:nvGrpSpPr>
        <p:grpSpPr>
          <a:xfrm>
            <a:off x="7773988" y="3733800"/>
            <a:ext cx="2590800" cy="990600"/>
            <a:chOff x="-239" y="0"/>
            <a:chExt cx="1632" cy="624"/>
          </a:xfrm>
        </p:grpSpPr>
        <p:sp>
          <p:nvSpPr>
            <p:cNvPr id="51310" name="Text Box 178"/>
            <p:cNvSpPr txBox="1"/>
            <p:nvPr/>
          </p:nvSpPr>
          <p:spPr>
            <a:xfrm>
              <a:off x="-239" y="202"/>
              <a:ext cx="1632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3000" dirty="0">
                  <a:solidFill>
                    <a:srgbClr val="FF0000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关系  操作</a:t>
              </a:r>
            </a:p>
          </p:txBody>
        </p:sp>
        <p:sp>
          <p:nvSpPr>
            <p:cNvPr id="51311" name="AutoShape 179"/>
            <p:cNvSpPr/>
            <p:nvPr/>
          </p:nvSpPr>
          <p:spPr>
            <a:xfrm>
              <a:off x="480" y="0"/>
              <a:ext cx="144" cy="624"/>
            </a:xfrm>
            <a:prstGeom prst="downArrow">
              <a:avLst>
                <a:gd name="adj1" fmla="val 50000"/>
                <a:gd name="adj2" fmla="val 108192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/>
            <a:lstStyle/>
            <a:p>
              <a:pPr algn="ctr"/>
              <a:endParaRPr lang="zh-CN" altLang="en-US" sz="30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/>
            <a:r>
              <a:rPr lang="zh-CN" altLang="en-US" dirty="0"/>
              <a:t>关系模型上的数据操纵功能</a:t>
            </a:r>
          </a:p>
        </p:txBody>
      </p:sp>
      <p:pic>
        <p:nvPicPr>
          <p:cNvPr id="11" name="1BCC2C28-871D-48CB-8BE0-2867F7803ADB-4" descr="C:/Users/DELL/AppData/Local/Temp/导图1(7).png导图1(7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15" y="595630"/>
            <a:ext cx="11174095" cy="620649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关系数据语言的分类</a:t>
            </a:r>
          </a:p>
        </p:txBody>
      </p:sp>
      <p:pic>
        <p:nvPicPr>
          <p:cNvPr id="2" name="1BCC2C28-871D-48CB-8BE0-2867F7803ADB-3" descr="C:/Users/DELL/AppData/Local/Temp/导图1(3).png导图1(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80" y="992505"/>
            <a:ext cx="11264900" cy="4176395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</a:t>
            </a:r>
            <a:r>
              <a:rPr lang="en-US" altLang="zh-CN"/>
              <a:t>  </a:t>
            </a:r>
            <a:r>
              <a:rPr lang="zh-CN" altLang="en-US"/>
              <a:t>关系数据库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2.1  </a:t>
            </a:r>
            <a:r>
              <a:rPr lang="zh-CN" altLang="en-US"/>
              <a:t>关系数据结构及形式化定义</a:t>
            </a:r>
          </a:p>
          <a:p>
            <a:pPr marL="0" indent="0">
              <a:buNone/>
            </a:pPr>
            <a:r>
              <a:rPr lang="en-US" altLang="zh-CN">
                <a:solidFill>
                  <a:srgbClr val="1F2DA8"/>
                </a:solidFill>
              </a:rPr>
              <a:t>2.2  </a:t>
            </a:r>
            <a:r>
              <a:rPr lang="zh-CN" altLang="en-US">
                <a:solidFill>
                  <a:srgbClr val="1F2DA8"/>
                </a:solidFill>
              </a:rPr>
              <a:t>关系操作</a:t>
            </a:r>
            <a:endParaRPr lang="zh-CN" altLang="en-US"/>
          </a:p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</a:rPr>
              <a:t>2.3  </a:t>
            </a:r>
            <a:r>
              <a:rPr lang="zh-CN" altLang="en-US">
                <a:solidFill>
                  <a:srgbClr val="FF0000"/>
                </a:solidFill>
              </a:rPr>
              <a:t>关系的完整性</a:t>
            </a:r>
          </a:p>
          <a:p>
            <a:pPr marL="0" indent="0">
              <a:buNone/>
            </a:pPr>
            <a:r>
              <a:rPr lang="en-US" altLang="zh-CN"/>
              <a:t>2.4  </a:t>
            </a:r>
            <a:r>
              <a:rPr lang="zh-CN" altLang="en-US"/>
              <a:t>关系代数</a:t>
            </a:r>
          </a:p>
          <a:p>
            <a:pPr marL="0" indent="0">
              <a:buNone/>
            </a:pPr>
            <a:r>
              <a:rPr lang="en-US" altLang="zh-CN"/>
              <a:t>2.5  </a:t>
            </a:r>
            <a:r>
              <a:rPr lang="zh-CN" altLang="en-US"/>
              <a:t>关系演算</a:t>
            </a:r>
          </a:p>
          <a:p>
            <a:pPr marL="0" indent="0">
              <a:buNone/>
            </a:pPr>
            <a:r>
              <a:rPr lang="en-US" altLang="zh-CN"/>
              <a:t>2.6  </a:t>
            </a:r>
            <a:r>
              <a:rPr lang="zh-CN" altLang="en-US"/>
              <a:t>小结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关系的三类完整性约束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关系的完整性是对关系的某种约束条件，是关系的</a:t>
            </a:r>
            <a:r>
              <a:rPr lang="zh-CN" altLang="en-US" dirty="0">
                <a:solidFill>
                  <a:srgbClr val="FF0000"/>
                </a:solidFill>
              </a:rPr>
              <a:t>值</a:t>
            </a:r>
            <a:r>
              <a:rPr lang="zh-CN" altLang="en-US" dirty="0"/>
              <a:t>及其随时间变化时应该满足的一些约束条件。关系在任何时刻都要满足这些约束要求。</a:t>
            </a:r>
          </a:p>
          <a:p>
            <a:pPr>
              <a:lnSpc>
                <a:spcPct val="110000"/>
              </a:lnSpc>
              <a:spcBef>
                <a:spcPts val="3000"/>
              </a:spcBef>
            </a:pPr>
            <a:r>
              <a:rPr lang="zh-CN" altLang="en-US" dirty="0"/>
              <a:t>在关系模型中，可以定义三类完整性约束</a:t>
            </a:r>
          </a:p>
          <a:p>
            <a:pPr marL="971550" lvl="1" indent="-514350">
              <a:buFont typeface="+mj-ea"/>
              <a:buAutoNum type="circleNumDbPlain"/>
            </a:pPr>
            <a:r>
              <a:rPr lang="zh-CN" altLang="en-US" dirty="0">
                <a:solidFill>
                  <a:srgbClr val="FF0000"/>
                </a:solidFill>
              </a:rPr>
              <a:t>实体完整性</a:t>
            </a:r>
          </a:p>
          <a:p>
            <a:pPr marL="971550" lvl="1" indent="-514350">
              <a:buFont typeface="+mj-ea"/>
              <a:buAutoNum type="circleNumDbPlain"/>
            </a:pPr>
            <a:r>
              <a:rPr lang="zh-CN" altLang="en-US" dirty="0">
                <a:solidFill>
                  <a:srgbClr val="FF0000"/>
                </a:solidFill>
              </a:rPr>
              <a:t>参照完整性</a:t>
            </a:r>
            <a:endParaRPr lang="zh-CN" altLang="en-US" dirty="0"/>
          </a:p>
          <a:p>
            <a:pPr lvl="2"/>
            <a:r>
              <a:rPr lang="zh-CN" altLang="en-US" dirty="0"/>
              <a:t>实体完整性和参照完整性是关系模型必须满足的完整性约束条件，被称作是</a:t>
            </a:r>
            <a:r>
              <a:rPr lang="en-US" altLang="zh-CN" dirty="0"/>
              <a:t>“</a:t>
            </a:r>
            <a:r>
              <a:rPr lang="zh-CN" altLang="en-US" dirty="0"/>
              <a:t>关系的两个不变性</a:t>
            </a:r>
            <a:r>
              <a:rPr lang="en-US" altLang="zh-CN" dirty="0"/>
              <a:t>”</a:t>
            </a:r>
            <a:r>
              <a:rPr lang="zh-CN" altLang="en-US" dirty="0"/>
              <a:t>，由关系系统自动支持。</a:t>
            </a:r>
          </a:p>
          <a:p>
            <a:pPr marL="971550" lvl="1" indent="-514350">
              <a:buFont typeface="+mj-ea"/>
              <a:buAutoNum type="circleNumDbPlain"/>
            </a:pPr>
            <a:r>
              <a:rPr lang="zh-CN" altLang="en-US" dirty="0">
                <a:solidFill>
                  <a:srgbClr val="FF0000"/>
                </a:solidFill>
              </a:rPr>
              <a:t>用户定义的完整性</a:t>
            </a:r>
            <a:endParaRPr lang="zh-CN" altLang="en-US" dirty="0"/>
          </a:p>
          <a:p>
            <a:pPr lvl="2"/>
            <a:r>
              <a:rPr lang="zh-CN" altLang="en-US" dirty="0"/>
              <a:t>用户定义的完整性是特定应用领域需要遵循的约束条件，体现了具体领域中的语义约束。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2.3.1  </a:t>
            </a:r>
            <a:r>
              <a:rPr lang="zh-CN" altLang="en-US" dirty="0"/>
              <a:t>实体完整性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424180" y="687070"/>
            <a:ext cx="11343005" cy="1414780"/>
          </a:xfrm>
          <a:solidFill>
            <a:schemeClr val="accent3">
              <a:lumMod val="20000"/>
              <a:lumOff val="80000"/>
              <a:alpha val="50000"/>
            </a:schemeClr>
          </a:solidFill>
          <a:ln>
            <a:solidFill>
              <a:srgbClr val="C00000"/>
            </a:solidFill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dirty="0"/>
              <a:t>规则</a:t>
            </a:r>
            <a:r>
              <a:rPr lang="en-US" altLang="zh-CN" dirty="0"/>
              <a:t>2.1 </a:t>
            </a:r>
            <a:r>
              <a:rPr lang="zh-CN" altLang="en-US" dirty="0">
                <a:solidFill>
                  <a:srgbClr val="FF0000"/>
                </a:solidFill>
              </a:rPr>
              <a:t>实体完整性规则</a:t>
            </a:r>
            <a:endParaRPr lang="en-US" altLang="zh-CN" dirty="0"/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dirty="0">
                <a:sym typeface="+mn-ea"/>
              </a:rPr>
              <a:t>实体完整性（</a:t>
            </a:r>
            <a:r>
              <a:rPr lang="en-US" altLang="zh-CN" dirty="0">
                <a:sym typeface="+mn-ea"/>
              </a:rPr>
              <a:t>Entity Integrity</a:t>
            </a:r>
            <a:r>
              <a:rPr lang="zh-CN" altLang="en-US" dirty="0">
                <a:sym typeface="+mn-ea"/>
              </a:rPr>
              <a:t>）是指关系中元组（二维表中的行）的唯一性。</a:t>
            </a:r>
            <a:endParaRPr lang="zh-CN" altLang="en-US" dirty="0">
              <a:latin typeface="Times New Roman" panose="02020603050405020304" pitchFamily="2" charset="0"/>
              <a:cs typeface="Times New Roman" panose="02020603050405020304" pitchFamily="2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  <p:sp>
        <p:nvSpPr>
          <p:cNvPr id="4" name="Rectangle 3"/>
          <p:cNvSpPr>
            <a:spLocks noGrp="1" noChangeArrowheads="1"/>
          </p:cNvSpPr>
          <p:nvPr/>
        </p:nvSpPr>
        <p:spPr>
          <a:xfrm>
            <a:off x="424180" y="2215515"/>
            <a:ext cx="11343005" cy="4076700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q"/>
              <a:defRPr sz="30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Ø"/>
              <a:defRPr sz="28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Arial" panose="020B0604020202020204" pitchFamily="34" charset="0"/>
              <a:buChar char="●"/>
              <a:defRPr sz="28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Arial" panose="020B0604020202020204" pitchFamily="34" charset="0"/>
              <a:buChar char="‒"/>
              <a:defRPr sz="28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"/>
              <a:defRPr sz="28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zh-CN" altLang="en-US" sz="2800" dirty="0"/>
              <a:t>在关系数据库管理系统中，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实体完整性规则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’ </a:t>
            </a:r>
            <a:r>
              <a:rPr lang="zh-CN" altLang="en-US" sz="2800" dirty="0"/>
              <a:t>隐含要求：</a:t>
            </a:r>
            <a:r>
              <a:rPr lang="zh-CN" altLang="en-US" sz="2800" dirty="0">
                <a:solidFill>
                  <a:srgbClr val="FF0000"/>
                </a:solidFill>
              </a:rPr>
              <a:t>若属性</a:t>
            </a:r>
            <a:r>
              <a:rPr lang="en-US" altLang="zh-CN" sz="2800" dirty="0">
                <a:solidFill>
                  <a:srgbClr val="FF0000"/>
                </a:solidFill>
              </a:rPr>
              <a:t>A</a:t>
            </a:r>
            <a:r>
              <a:rPr lang="zh-CN" altLang="en-US" sz="2800" dirty="0">
                <a:solidFill>
                  <a:srgbClr val="FF0000"/>
                </a:solidFill>
              </a:rPr>
              <a:t>是基本关系</a:t>
            </a:r>
            <a:r>
              <a:rPr lang="en-US" altLang="zh-CN" sz="2800" dirty="0">
                <a:solidFill>
                  <a:srgbClr val="FF0000"/>
                </a:solidFill>
              </a:rPr>
              <a:t>(</a:t>
            </a:r>
            <a:r>
              <a:rPr lang="zh-CN" altLang="en-US" sz="2800" dirty="0">
                <a:solidFill>
                  <a:srgbClr val="FF0000"/>
                </a:solidFill>
              </a:rPr>
              <a:t>基表</a:t>
            </a:r>
            <a:r>
              <a:rPr lang="en-US" altLang="zh-CN" sz="2800" dirty="0">
                <a:solidFill>
                  <a:srgbClr val="FF0000"/>
                </a:solidFill>
              </a:rPr>
              <a:t>)</a:t>
            </a:r>
            <a:r>
              <a:rPr lang="zh-CN" altLang="en-US" sz="2800" dirty="0">
                <a:solidFill>
                  <a:srgbClr val="FF0000"/>
                </a:solidFill>
              </a:rPr>
              <a:t>的</a:t>
            </a:r>
            <a:r>
              <a:rPr lang="zh-CN" altLang="en-US" sz="2800" u="sng" dirty="0">
                <a:solidFill>
                  <a:srgbClr val="FF0000"/>
                </a:solidFill>
              </a:rPr>
              <a:t>主码中的属性</a:t>
            </a:r>
            <a:r>
              <a:rPr lang="zh-CN" altLang="en-US" sz="2800" dirty="0">
                <a:solidFill>
                  <a:srgbClr val="FF0000"/>
                </a:solidFill>
              </a:rPr>
              <a:t>，则属性</a:t>
            </a:r>
            <a:r>
              <a:rPr lang="en-US" altLang="zh-CN" sz="2800" dirty="0">
                <a:solidFill>
                  <a:srgbClr val="FF0000"/>
                </a:solidFill>
              </a:rPr>
              <a:t>A</a:t>
            </a:r>
            <a:r>
              <a:rPr lang="zh-CN" altLang="en-US" sz="2800" dirty="0">
                <a:solidFill>
                  <a:srgbClr val="FF0000"/>
                </a:solidFill>
              </a:rPr>
              <a:t>不能取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‘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空值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’</a:t>
            </a:r>
            <a:r>
              <a:rPr lang="en-US" altLang="zh-CN" sz="2800" dirty="0"/>
              <a:t>(null)</a:t>
            </a:r>
            <a:endParaRPr lang="zh-CN" altLang="en-US" sz="2800" dirty="0"/>
          </a:p>
          <a:p>
            <a:pPr lvl="0">
              <a:lnSpc>
                <a:spcPct val="100000"/>
              </a:lnSpc>
              <a:spcBef>
                <a:spcPts val="2000"/>
              </a:spcBef>
            </a:pPr>
            <a:r>
              <a:rPr lang="zh-CN" altLang="en-US" sz="2800" dirty="0"/>
              <a:t>在关系模型理论中，关系的性质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④</a:t>
            </a:r>
            <a:r>
              <a:rPr lang="zh-CN" altLang="en-US" sz="2800" dirty="0"/>
              <a:t>表明，关系满足实体完整性约束</a:t>
            </a:r>
          </a:p>
          <a:p>
            <a:pPr lvl="0">
              <a:lnSpc>
                <a:spcPct val="100000"/>
              </a:lnSpc>
            </a:pPr>
            <a:r>
              <a:rPr lang="zh-CN" altLang="en-US" sz="2800" dirty="0"/>
              <a:t>在关系数据库管理系统中，创建基表时可以定义、也可以不定义主码。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2800" dirty="0"/>
              <a:t>如果没有为基表定义主码，那么就允许在基表中出现重复的行（元组），这样的基表就不满足实体完整性约束；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2800" dirty="0"/>
              <a:t>如果为基表定义主码，</a:t>
            </a:r>
            <a:r>
              <a:rPr lang="en-US" altLang="zh-CN" sz="2800" dirty="0"/>
              <a:t>DBMS</a:t>
            </a:r>
            <a:r>
              <a:rPr lang="zh-CN" altLang="en-US" sz="2800" dirty="0"/>
              <a:t>将自动保证</a:t>
            </a:r>
            <a:r>
              <a:rPr lang="en-US" altLang="zh-CN" sz="2800" dirty="0"/>
              <a:t>“</a:t>
            </a:r>
            <a:r>
              <a:rPr lang="zh-CN" altLang="en-US" sz="2800" dirty="0"/>
              <a:t>主码中的所有属性都不能取空值</a:t>
            </a:r>
            <a:r>
              <a:rPr lang="en-US" altLang="zh-CN" sz="2800" dirty="0"/>
              <a:t>”</a:t>
            </a:r>
            <a:r>
              <a:rPr lang="zh-CN" altLang="en-US" sz="2800" dirty="0"/>
              <a:t>以及</a:t>
            </a:r>
            <a:r>
              <a:rPr lang="en-US" altLang="zh-CN" sz="2800" dirty="0"/>
              <a:t>“</a:t>
            </a:r>
            <a:r>
              <a:rPr lang="zh-CN" altLang="en-US" sz="2800" dirty="0"/>
              <a:t>主码值的唯一性</a:t>
            </a:r>
            <a:r>
              <a:rPr lang="en-US" altLang="zh-CN" sz="2800" dirty="0"/>
              <a:t>”</a:t>
            </a:r>
            <a:r>
              <a:rPr lang="zh-CN" altLang="en-US" sz="2800" dirty="0"/>
              <a:t>。</a:t>
            </a:r>
            <a:endParaRPr lang="zh-CN" altLang="en-US" sz="2800" dirty="0">
              <a:latin typeface="Times New Roman" panose="02020603050405020304" pitchFamily="2" charset="0"/>
              <a:cs typeface="Times New Roman" panose="02020603050405020304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2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2.3.1  </a:t>
            </a:r>
            <a:r>
              <a:rPr lang="zh-CN" altLang="en-US" dirty="0">
                <a:sym typeface="+mn-ea"/>
              </a:rPr>
              <a:t>实体完整性</a:t>
            </a:r>
            <a:endParaRPr lang="zh-CN" altLang="en-US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424180" y="687070"/>
            <a:ext cx="11343005" cy="598805"/>
          </a:xfrm>
          <a:solidFill>
            <a:schemeClr val="accent3">
              <a:lumMod val="20000"/>
              <a:lumOff val="80000"/>
              <a:alpha val="50000"/>
            </a:schemeClr>
          </a:solidFill>
          <a:ln>
            <a:solidFill>
              <a:srgbClr val="C00000"/>
            </a:solidFill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zh-CN" altLang="zh-CN" dirty="0">
                <a:solidFill>
                  <a:srgbClr val="FF0000"/>
                </a:solidFill>
                <a:sym typeface="+mn-ea"/>
              </a:rPr>
              <a:t>空值</a:t>
            </a:r>
            <a:r>
              <a:rPr lang="en-US" altLang="zh-CN" dirty="0">
                <a:sym typeface="+mn-ea"/>
              </a:rPr>
              <a:t> </a:t>
            </a:r>
            <a:r>
              <a:rPr lang="zh-CN" altLang="zh-CN" dirty="0">
                <a:sym typeface="+mn-ea"/>
              </a:rPr>
              <a:t>就是“不知道”或“不存在”或“无意义”的值。</a:t>
            </a:r>
            <a:endParaRPr lang="zh-CN" altLang="en-US" dirty="0">
              <a:latin typeface="Times New Roman" panose="02020603050405020304" pitchFamily="2" charset="0"/>
              <a:cs typeface="Times New Roman" panose="02020603050405020304" pitchFamily="2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  <p:sp>
        <p:nvSpPr>
          <p:cNvPr id="4" name="Rectangle 3"/>
          <p:cNvSpPr>
            <a:spLocks noGrp="1" noChangeArrowheads="1"/>
          </p:cNvSpPr>
          <p:nvPr/>
        </p:nvSpPr>
        <p:spPr>
          <a:xfrm>
            <a:off x="424180" y="1583690"/>
            <a:ext cx="11343005" cy="2405380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q"/>
              <a:defRPr sz="30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Ø"/>
              <a:defRPr sz="28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Arial" panose="020B0604020202020204" pitchFamily="34" charset="0"/>
              <a:buChar char="●"/>
              <a:defRPr sz="28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Arial" panose="020B0604020202020204" pitchFamily="34" charset="0"/>
              <a:buChar char="‒"/>
              <a:defRPr sz="28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"/>
              <a:defRPr sz="28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2000"/>
              </a:spcBef>
            </a:pPr>
            <a:r>
              <a:rPr lang="zh-CN" altLang="en-US" dirty="0"/>
              <a:t>实体完整性约束的例子</a:t>
            </a:r>
          </a:p>
          <a:p>
            <a:pPr lvl="1">
              <a:lnSpc>
                <a:spcPct val="110000"/>
              </a:lnSpc>
              <a:spcBef>
                <a:spcPts val="1000"/>
              </a:spcBef>
            </a:pPr>
            <a:r>
              <a:rPr lang="zh-CN" altLang="zh-CN" dirty="0">
                <a:highlight>
                  <a:srgbClr val="FFFF00"/>
                </a:highlight>
                <a:latin typeface="Times New Roman" panose="02020603050405020304" pitchFamily="2" charset="0"/>
                <a:cs typeface="Times New Roman" panose="02020603050405020304" pitchFamily="2" charset="0"/>
              </a:rPr>
              <a:t>学生（</a:t>
            </a:r>
            <a:r>
              <a:rPr lang="zh-CN" altLang="zh-CN" u="sng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2" charset="0"/>
                <a:cs typeface="Times New Roman" panose="02020603050405020304" pitchFamily="2" charset="0"/>
              </a:rPr>
              <a:t>学号</a:t>
            </a:r>
            <a:r>
              <a:rPr lang="zh-CN" altLang="zh-CN" dirty="0">
                <a:highlight>
                  <a:srgbClr val="FFFF00"/>
                </a:highlight>
                <a:latin typeface="Times New Roman" panose="02020603050405020304" pitchFamily="2" charset="0"/>
                <a:cs typeface="Times New Roman" panose="02020603050405020304" pitchFamily="2" charset="0"/>
              </a:rPr>
              <a:t>，姓名，性别，专业号，年龄）</a:t>
            </a:r>
            <a:endParaRPr lang="zh-CN" altLang="zh-CN" dirty="0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lvl="2">
              <a:lnSpc>
                <a:spcPct val="110000"/>
              </a:lnSpc>
              <a:spcBef>
                <a:spcPts val="1000"/>
              </a:spcBef>
            </a:pP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“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学号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”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是学生关系的主码</a:t>
            </a:r>
          </a:p>
          <a:p>
            <a:pPr lvl="2">
              <a:lnSpc>
                <a:spcPct val="110000"/>
              </a:lnSpc>
              <a:spcBef>
                <a:spcPts val="1000"/>
              </a:spcBef>
            </a:pP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在学生关系中，学号属性上不允许出现空值</a:t>
            </a:r>
          </a:p>
        </p:txBody>
      </p:sp>
      <p:sp>
        <p:nvSpPr>
          <p:cNvPr id="5" name="Rectangle 3"/>
          <p:cNvSpPr>
            <a:spLocks noGrp="1" noChangeArrowheads="1"/>
          </p:cNvSpPr>
          <p:nvPr/>
        </p:nvSpPr>
        <p:spPr>
          <a:xfrm>
            <a:off x="424180" y="4287520"/>
            <a:ext cx="11343005" cy="1769110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q"/>
              <a:defRPr sz="30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Ø"/>
              <a:defRPr sz="28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Arial" panose="020B0604020202020204" pitchFamily="34" charset="0"/>
              <a:buChar char="●"/>
              <a:defRPr sz="28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Arial" panose="020B0604020202020204" pitchFamily="34" charset="0"/>
              <a:buChar char="‒"/>
              <a:defRPr sz="28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"/>
              <a:defRPr sz="28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10000"/>
              </a:lnSpc>
              <a:spcBef>
                <a:spcPts val="1000"/>
              </a:spcBef>
            </a:pPr>
            <a:r>
              <a:rPr lang="zh-CN" altLang="zh-CN" dirty="0">
                <a:highlight>
                  <a:srgbClr val="FFFF00"/>
                </a:highlight>
                <a:latin typeface="Times New Roman" panose="02020603050405020304" pitchFamily="2" charset="0"/>
                <a:cs typeface="Times New Roman" panose="02020603050405020304" pitchFamily="2" charset="0"/>
              </a:rPr>
              <a:t>选修（</a:t>
            </a:r>
            <a:r>
              <a:rPr lang="zh-CN" altLang="zh-CN" u="sng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2" charset="0"/>
                <a:cs typeface="Times New Roman" panose="02020603050405020304" pitchFamily="2" charset="0"/>
              </a:rPr>
              <a:t>学号，课程号</a:t>
            </a:r>
            <a:r>
              <a:rPr lang="zh-CN" altLang="zh-CN" dirty="0">
                <a:highlight>
                  <a:srgbClr val="FFFF00"/>
                </a:highlight>
                <a:latin typeface="Times New Roman" panose="02020603050405020304" pitchFamily="2" charset="0"/>
                <a:cs typeface="Times New Roman" panose="02020603050405020304" pitchFamily="2" charset="0"/>
              </a:rPr>
              <a:t>，成绩）</a:t>
            </a:r>
            <a:endParaRPr lang="en-US" altLang="zh-CN" dirty="0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lvl="2">
              <a:lnSpc>
                <a:spcPct val="110000"/>
              </a:lnSpc>
              <a:spcBef>
                <a:spcPts val="1000"/>
              </a:spcBef>
            </a:pPr>
            <a:r>
              <a:rPr lang="zh-CN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“学号、课程号”是选修关系的主码</a:t>
            </a:r>
            <a:endParaRPr lang="en-US" altLang="zh-CN" dirty="0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lvl="2">
              <a:lnSpc>
                <a:spcPct val="110000"/>
              </a:lnSpc>
              <a:spcBef>
                <a:spcPts val="1000"/>
              </a:spcBef>
            </a:pPr>
            <a:r>
              <a:rPr lang="zh-CN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在选修关系中，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“</a:t>
            </a:r>
            <a:r>
              <a:rPr lang="zh-CN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学号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”</a:t>
            </a:r>
            <a:r>
              <a:rPr lang="zh-CN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和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“</a:t>
            </a:r>
            <a:r>
              <a:rPr lang="zh-CN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课程号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”</a:t>
            </a:r>
            <a:r>
              <a:rPr lang="zh-CN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两个属性都不能取空值</a:t>
            </a:r>
            <a:endParaRPr lang="zh-CN" altLang="en-US" dirty="0">
              <a:latin typeface="Times New Roman" panose="02020603050405020304" pitchFamily="2" charset="0"/>
              <a:cs typeface="Times New Roman" panose="02020603050405020304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2.3.1  </a:t>
            </a:r>
            <a:r>
              <a:rPr lang="zh-CN" altLang="en-US" dirty="0">
                <a:sym typeface="+mn-ea"/>
              </a:rPr>
              <a:t>实体完整性</a:t>
            </a:r>
            <a:endParaRPr lang="en-US" altLang="zh-CN" dirty="0"/>
          </a:p>
        </p:txBody>
      </p:sp>
      <p:sp>
        <p:nvSpPr>
          <p:cNvPr id="4710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实体完整性规则的说明</a:t>
            </a:r>
            <a:endParaRPr lang="en-US" altLang="zh-CN" dirty="0"/>
          </a:p>
          <a:p>
            <a:pPr marL="866775" lvl="1" indent="-514350">
              <a:lnSpc>
                <a:spcPct val="11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实体完整性规则是针对基本关系（表）而言的。一个基本表通常对应现实世界中的一个实体集。</a:t>
            </a:r>
          </a:p>
          <a:p>
            <a:pPr marL="866775" lvl="1" indent="-514350">
              <a:lnSpc>
                <a:spcPct val="110000"/>
              </a:lnSpc>
              <a:spcBef>
                <a:spcPts val="2000"/>
              </a:spcBef>
              <a:buFont typeface="+mj-lt"/>
              <a:buAutoNum type="arabicPeriod"/>
            </a:pP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现实世界中的实体是可区分的，即它们具有某种唯一性标识。</a:t>
            </a:r>
          </a:p>
          <a:p>
            <a:pPr marL="866775" lvl="1" indent="-514350">
              <a:lnSpc>
                <a:spcPct val="110000"/>
              </a:lnSpc>
              <a:spcBef>
                <a:spcPts val="2000"/>
              </a:spcBef>
              <a:buFont typeface="+mj-lt"/>
              <a:buAutoNum type="arabicPeriod"/>
            </a:pP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在关系数据库管理系统中，以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‘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主码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’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作为基本表中元组（实体）的唯一性标识。</a:t>
            </a:r>
          </a:p>
          <a:p>
            <a:pPr marL="866775" lvl="1" indent="-514350">
              <a:lnSpc>
                <a:spcPct val="110000"/>
              </a:lnSpc>
              <a:spcBef>
                <a:spcPts val="2000"/>
              </a:spcBef>
              <a:buFont typeface="+mj-lt"/>
              <a:buAutoNum type="arabicPeriod"/>
            </a:pP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主码中的属性不能取空值。</a:t>
            </a:r>
            <a:endParaRPr lang="en-US" altLang="zh-CN" dirty="0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lvl="2"/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主码中的属性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取空值，就说明存在某个不可标识的实体，即存在不可区分的实体，这与第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2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点相矛盾，因此这个规则称为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‘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实体完整性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’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7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7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7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71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2.3.2  </a:t>
            </a:r>
            <a:r>
              <a:rPr lang="zh-CN" altLang="en-US" dirty="0">
                <a:sym typeface="+mn-ea"/>
              </a:rPr>
              <a:t>参照完整性</a:t>
            </a:r>
            <a:r>
              <a:rPr lang="en-US" altLang="zh-CN" dirty="0">
                <a:sym typeface="+mn-ea"/>
              </a:rPr>
              <a:t> - </a:t>
            </a:r>
            <a:r>
              <a:rPr lang="zh-CN" altLang="en-US" dirty="0">
                <a:sym typeface="+mn-ea"/>
              </a:rPr>
              <a:t>关系间的引用</a:t>
            </a:r>
            <a:r>
              <a:rPr lang="en-US" altLang="zh-CN" dirty="0">
                <a:sym typeface="+mn-ea"/>
              </a:rPr>
              <a:t> 1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zh-CN" altLang="en-US" dirty="0">
                <a:solidFill>
                  <a:srgbClr val="FF0000"/>
                </a:solidFill>
                <a:sym typeface="+mn-ea"/>
              </a:rPr>
              <a:t>关系间的引用</a:t>
            </a:r>
            <a:endParaRPr lang="zh-CN" altLang="en-US" dirty="0">
              <a:sym typeface="+mn-ea"/>
            </a:endParaRPr>
          </a:p>
          <a:p>
            <a:pPr lvl="1">
              <a:lnSpc>
                <a:spcPct val="110000"/>
              </a:lnSpc>
              <a:spcBef>
                <a:spcPts val="1000"/>
              </a:spcBef>
            </a:pPr>
            <a:r>
              <a:rPr lang="zh-CN" altLang="en-US" dirty="0"/>
              <a:t>在关系模型中，实体及实体间的联系都是用关系来描述的，自然存在着关系与关系间的引用。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endParaRPr lang="zh-CN" altLang="en-US" dirty="0"/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zh-CN" altLang="en-US" dirty="0">
                <a:highlight>
                  <a:srgbClr val="FFFF00"/>
                </a:highlight>
              </a:rPr>
              <a:t>例</a:t>
            </a:r>
            <a:r>
              <a:rPr lang="en-US" altLang="zh-CN" dirty="0">
                <a:highlight>
                  <a:srgbClr val="FFFF00"/>
                </a:highlight>
              </a:rPr>
              <a:t>1 </a:t>
            </a:r>
            <a:r>
              <a:rPr lang="zh-CN" altLang="en-US" dirty="0">
                <a:highlight>
                  <a:srgbClr val="FFFF00"/>
                </a:highlight>
              </a:rPr>
              <a:t>：（实体之间的关系引用）</a:t>
            </a:r>
            <a:endParaRPr lang="zh-CN" altLang="en-US" dirty="0"/>
          </a:p>
          <a:p>
            <a:pPr marL="0" indent="768985">
              <a:lnSpc>
                <a:spcPct val="110000"/>
              </a:lnSpc>
              <a:spcBef>
                <a:spcPts val="1000"/>
              </a:spcBef>
              <a:buNone/>
            </a:pPr>
            <a:r>
              <a:rPr lang="zh-CN" altLang="en-US" dirty="0"/>
              <a:t>学生实体、专业实体以及专业与学生间的一对多联系，学生关系引用了专业关系的主码“专业号”。</a:t>
            </a:r>
          </a:p>
          <a:p>
            <a:pPr lvl="1">
              <a:lnSpc>
                <a:spcPct val="110000"/>
              </a:lnSpc>
              <a:spcBef>
                <a:spcPts val="1000"/>
              </a:spcBef>
            </a:pPr>
            <a:r>
              <a:rPr lang="zh-CN" altLang="en-US" dirty="0"/>
              <a:t>学生（</a:t>
            </a:r>
            <a:r>
              <a:rPr lang="zh-CN" altLang="en-US" u="sng" dirty="0"/>
              <a:t>学号</a:t>
            </a:r>
            <a:r>
              <a:rPr lang="zh-CN" altLang="en-US" dirty="0"/>
              <a:t>，姓名，性别，</a:t>
            </a:r>
            <a:r>
              <a:rPr lang="zh-CN" altLang="en-US" u="sng" dirty="0">
                <a:solidFill>
                  <a:srgbClr val="FF0000"/>
                </a:solidFill>
              </a:rPr>
              <a:t>专业号</a:t>
            </a:r>
            <a:r>
              <a:rPr lang="zh-CN" altLang="en-US" dirty="0"/>
              <a:t>，年龄）</a:t>
            </a:r>
          </a:p>
          <a:p>
            <a:pPr lvl="1">
              <a:lnSpc>
                <a:spcPct val="110000"/>
              </a:lnSpc>
              <a:spcBef>
                <a:spcPts val="1000"/>
              </a:spcBef>
            </a:pPr>
            <a:r>
              <a:rPr lang="zh-CN" altLang="en-US" dirty="0"/>
              <a:t>专业（</a:t>
            </a:r>
            <a:r>
              <a:rPr lang="zh-CN" altLang="en-US" u="sng" dirty="0">
                <a:solidFill>
                  <a:srgbClr val="FF0000"/>
                </a:solidFill>
              </a:rPr>
              <a:t>专业号</a:t>
            </a:r>
            <a:r>
              <a:rPr lang="zh-CN" altLang="en-US" dirty="0"/>
              <a:t>，专业名）</a:t>
            </a: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2.3.2  </a:t>
            </a:r>
            <a:r>
              <a:rPr lang="zh-CN" altLang="en-US" dirty="0">
                <a:sym typeface="+mn-ea"/>
              </a:rPr>
              <a:t>参照完整性</a:t>
            </a:r>
            <a:r>
              <a:rPr lang="en-US" altLang="zh-CN" dirty="0">
                <a:sym typeface="+mn-ea"/>
              </a:rPr>
              <a:t> - </a:t>
            </a:r>
            <a:r>
              <a:rPr lang="zh-CN" altLang="en-US" dirty="0">
                <a:sym typeface="+mn-ea"/>
              </a:rPr>
              <a:t>关系间的引用</a:t>
            </a:r>
            <a:r>
              <a:rPr lang="en-US" altLang="zh-CN" dirty="0">
                <a:sym typeface="+mn-ea"/>
              </a:rPr>
              <a:t> 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000"/>
              </a:spcBef>
            </a:pPr>
            <a:r>
              <a:rPr lang="zh-CN" altLang="en-US" dirty="0">
                <a:highlight>
                  <a:srgbClr val="FFFF00"/>
                </a:highlight>
              </a:rPr>
              <a:t>例</a:t>
            </a:r>
            <a:r>
              <a:rPr lang="en-US" altLang="zh-CN" dirty="0">
                <a:highlight>
                  <a:srgbClr val="FFFF00"/>
                </a:highlight>
              </a:rPr>
              <a:t>2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（联系与相关实体之间的关系引用）</a:t>
            </a:r>
            <a:endParaRPr lang="zh-CN" altLang="en-US" dirty="0"/>
          </a:p>
          <a:p>
            <a:pPr marL="0" indent="800735">
              <a:lnSpc>
                <a:spcPct val="100000"/>
              </a:lnSpc>
              <a:spcBef>
                <a:spcPts val="1000"/>
              </a:spcBef>
              <a:buNone/>
            </a:pPr>
            <a:r>
              <a:rPr lang="zh-CN" altLang="en-US" dirty="0"/>
              <a:t>学生、课程、学生与课程之间的多对多联系，选修关系引用了学生关系的主码“学号”和课程关系的主码“课程号”。</a:t>
            </a:r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zh-CN" altLang="en-US" dirty="0"/>
              <a:t>  学生（</a:t>
            </a:r>
            <a:r>
              <a:rPr lang="zh-CN" altLang="en-US" u="sng" dirty="0">
                <a:solidFill>
                  <a:srgbClr val="FF0000"/>
                </a:solidFill>
              </a:rPr>
              <a:t>学号</a:t>
            </a:r>
            <a:r>
              <a:rPr lang="zh-CN" altLang="en-US" dirty="0"/>
              <a:t>，姓名，性别，专业号，年龄）</a:t>
            </a:r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zh-CN" altLang="en-US" dirty="0"/>
              <a:t>  课程（</a:t>
            </a:r>
            <a:r>
              <a:rPr lang="zh-CN" altLang="en-US" u="sng" dirty="0">
                <a:solidFill>
                  <a:srgbClr val="FF0000"/>
                </a:solidFill>
              </a:rPr>
              <a:t>课程号</a:t>
            </a:r>
            <a:r>
              <a:rPr lang="zh-CN" altLang="en-US" dirty="0"/>
              <a:t>，课程名，学分）</a:t>
            </a:r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zh-CN" altLang="en-US" dirty="0"/>
              <a:t>  选修（</a:t>
            </a:r>
            <a:r>
              <a:rPr lang="zh-CN" altLang="en-US" u="sng" dirty="0">
                <a:solidFill>
                  <a:srgbClr val="FF0000"/>
                </a:solidFill>
              </a:rPr>
              <a:t>学号</a:t>
            </a:r>
            <a:r>
              <a:rPr lang="zh-CN" altLang="en-US" dirty="0">
                <a:solidFill>
                  <a:srgbClr val="1F2DA8"/>
                </a:solidFill>
              </a:rPr>
              <a:t>，</a:t>
            </a:r>
            <a:r>
              <a:rPr lang="zh-CN" altLang="en-US" u="sng" dirty="0">
                <a:solidFill>
                  <a:srgbClr val="FF0000"/>
                </a:solidFill>
              </a:rPr>
              <a:t>课程号</a:t>
            </a:r>
            <a:r>
              <a:rPr lang="zh-CN" altLang="en-US" dirty="0"/>
              <a:t>，成绩）</a:t>
            </a:r>
            <a:endParaRPr lang="en-US" altLang="zh-CN" dirty="0"/>
          </a:p>
          <a:p>
            <a:pPr>
              <a:lnSpc>
                <a:spcPct val="100000"/>
              </a:lnSpc>
              <a:spcBef>
                <a:spcPts val="3000"/>
              </a:spcBef>
            </a:pPr>
            <a:r>
              <a:rPr lang="zh-CN" altLang="en-US" dirty="0">
                <a:highlight>
                  <a:srgbClr val="FFFF00"/>
                </a:highlight>
              </a:rPr>
              <a:t>例</a:t>
            </a:r>
            <a:r>
              <a:rPr lang="en-US" altLang="zh-CN" dirty="0">
                <a:highlight>
                  <a:srgbClr val="FFFF00"/>
                </a:highlight>
              </a:rPr>
              <a:t>3</a:t>
            </a:r>
            <a:r>
              <a:rPr lang="zh-CN" altLang="en-US" dirty="0">
                <a:highlight>
                  <a:srgbClr val="FFFF00"/>
                </a:highlight>
              </a:rPr>
              <a:t>：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（实体集内部的关系引用）</a:t>
            </a:r>
            <a:endParaRPr lang="zh-CN" altLang="en-US" dirty="0">
              <a:highlight>
                <a:srgbClr val="FFFF00"/>
              </a:highlight>
            </a:endParaRPr>
          </a:p>
          <a:p>
            <a:pPr marL="0" indent="800735">
              <a:lnSpc>
                <a:spcPct val="100000"/>
              </a:lnSpc>
              <a:spcBef>
                <a:spcPts val="1000"/>
              </a:spcBef>
              <a:buNone/>
            </a:pPr>
            <a:r>
              <a:rPr lang="zh-CN" altLang="en-US" dirty="0"/>
              <a:t>学生实体及其内部的领导联系</a:t>
            </a:r>
            <a:r>
              <a:rPr lang="en-US" altLang="zh-CN" dirty="0"/>
              <a:t>(</a:t>
            </a:r>
            <a:r>
              <a:rPr lang="zh-CN" altLang="en-US" dirty="0"/>
              <a:t>一对多</a:t>
            </a:r>
            <a:r>
              <a:rPr lang="en-US" altLang="zh-CN" dirty="0"/>
              <a:t>)</a:t>
            </a:r>
            <a:r>
              <a:rPr lang="zh-CN" altLang="en-US" dirty="0"/>
              <a:t>，学生关系引用了自身的主码“学号”</a:t>
            </a:r>
            <a:r>
              <a:rPr lang="en-US" altLang="zh-CN" dirty="0"/>
              <a:t> </a:t>
            </a:r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zh-CN" altLang="en-US" dirty="0"/>
              <a:t>学生（</a:t>
            </a:r>
            <a:r>
              <a:rPr lang="zh-CN" altLang="en-US" u="sng" dirty="0">
                <a:solidFill>
                  <a:srgbClr val="FF0000"/>
                </a:solidFill>
              </a:rPr>
              <a:t>学号</a:t>
            </a:r>
            <a:r>
              <a:rPr lang="zh-CN" altLang="en-US" dirty="0"/>
              <a:t>，姓名，性别，专业号，年龄，</a:t>
            </a:r>
            <a:r>
              <a:rPr lang="zh-CN" altLang="en-US" dirty="0">
                <a:solidFill>
                  <a:srgbClr val="FF0000"/>
                </a:solidFill>
              </a:rPr>
              <a:t>班长学号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2.3.2  </a:t>
            </a:r>
            <a:r>
              <a:rPr lang="zh-CN" altLang="en-US" dirty="0">
                <a:sym typeface="+mn-ea"/>
              </a:rPr>
              <a:t>参照完整性</a:t>
            </a:r>
            <a:r>
              <a:rPr lang="en-US" altLang="zh-CN" dirty="0">
                <a:sym typeface="+mn-ea"/>
              </a:rPr>
              <a:t> - </a:t>
            </a:r>
            <a:r>
              <a:rPr lang="zh-CN" altLang="en-US" dirty="0">
                <a:sym typeface="+mn-ea"/>
              </a:rPr>
              <a:t>外码</a:t>
            </a:r>
            <a:r>
              <a:rPr lang="en-US" altLang="zh-CN" dirty="0">
                <a:sym typeface="+mn-ea"/>
              </a:rPr>
              <a:t> 1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32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24180" y="687070"/>
                <a:ext cx="11343005" cy="2804795"/>
              </a:xfrm>
              <a:solidFill>
                <a:schemeClr val="accent3">
                  <a:lumMod val="20000"/>
                  <a:lumOff val="80000"/>
                  <a:alpha val="50000"/>
                </a:schemeClr>
              </a:solidFill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2800" dirty="0"/>
                  <a:t>定</a:t>
                </a:r>
                <a:r>
                  <a:rPr lang="en-US" altLang="zh-CN" sz="2800" dirty="0"/>
                  <a:t>2.5  </a:t>
                </a:r>
                <a:r>
                  <a:rPr lang="zh-CN" altLang="en-US" sz="2800" dirty="0">
                    <a:solidFill>
                      <a:srgbClr val="FF0000"/>
                    </a:solidFill>
                  </a:rPr>
                  <a:t>外码</a:t>
                </a:r>
                <a:r>
                  <a:rPr lang="zh-CN" altLang="en-US" sz="2800" dirty="0">
                    <a:sym typeface="+mn-ea"/>
                  </a:rPr>
                  <a:t>（</a:t>
                </a:r>
                <a:r>
                  <a:rPr lang="en-US" altLang="zh-CN" sz="2800" dirty="0">
                    <a:sym typeface="+mn-ea"/>
                  </a:rPr>
                  <a:t>Foreign Key</a:t>
                </a:r>
                <a:r>
                  <a:rPr lang="zh-CN" altLang="en-US" sz="2800" dirty="0">
                    <a:sym typeface="+mn-ea"/>
                  </a:rPr>
                  <a:t>）</a:t>
                </a:r>
                <a:endParaRPr lang="zh-CN" altLang="en-US" sz="2800" dirty="0"/>
              </a:p>
              <a:p>
                <a:pPr marL="0" indent="609600">
                  <a:lnSpc>
                    <a:spcPct val="100000"/>
                  </a:lnSpc>
                  <a:buNone/>
                </a:pPr>
                <a:r>
                  <a:rPr lang="zh-CN" altLang="en-US" sz="2800" dirty="0"/>
                  <a:t>设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cs typeface="Cambria Math" panose="02040503050406030204" charset="0"/>
                      </a:rPr>
                      <m:t>𝐹</m:t>
                    </m:r>
                  </m:oMath>
                </a14:m>
                <a:r>
                  <a:rPr lang="zh-CN" altLang="en-US" sz="2800" dirty="0"/>
                  <a:t>是基本关系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cs typeface="Cambria Math" panose="02040503050406030204" charset="0"/>
                      </a:rPr>
                      <m:t>𝑅</m:t>
                    </m:r>
                  </m:oMath>
                </a14:m>
                <a:r>
                  <a:rPr lang="zh-CN" altLang="en-US" sz="2800" dirty="0"/>
                  <a:t>的一个或一组属性，但不是关系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cs typeface="Cambria Math" panose="02040503050406030204" charset="0"/>
                      </a:rPr>
                      <m:t>𝑅</m:t>
                    </m:r>
                  </m:oMath>
                </a14:m>
                <a:r>
                  <a:rPr lang="zh-CN" altLang="en-US" sz="2800" dirty="0"/>
                  <a:t>的码。如果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cs typeface="Cambria Math" panose="02040503050406030204" charset="0"/>
                      </a:rPr>
                      <m:t>𝐹</m:t>
                    </m:r>
                  </m:oMath>
                </a14:m>
                <a:r>
                  <a:rPr lang="zh-CN" altLang="en-US" sz="2800" dirty="0"/>
                  <a:t>与基本关系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cs typeface="Cambria Math" panose="02040503050406030204" charset="0"/>
                      </a:rPr>
                      <m:t>𝑆</m:t>
                    </m:r>
                  </m:oMath>
                </a14:m>
                <a:r>
                  <a:rPr lang="zh-CN" altLang="en-US" sz="2800" dirty="0"/>
                  <a:t>的主码</a:t>
                </a:r>
                <a14:m>
                  <m:oMath xmlns:m="http://schemas.openxmlformats.org/officeDocument/2006/math">
                    <m:r>
                      <a:rPr lang="en-US" altLang="zh-CN" sz="2800" i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𝐾</m:t>
                    </m:r>
                    <m:r>
                      <a:rPr lang="en-US" altLang="zh-CN" sz="2800" i="1" kern="0" baseline="-2500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𝑠</m:t>
                    </m:r>
                  </m:oMath>
                </a14:m>
                <a:r>
                  <a:rPr lang="zh-CN" altLang="en-US" sz="2800" dirty="0"/>
                  <a:t>相对应，则称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cs typeface="Cambria Math" panose="02040503050406030204" charset="0"/>
                      </a:rPr>
                      <m:t>𝐹</m:t>
                    </m:r>
                  </m:oMath>
                </a14:m>
                <a:r>
                  <a:rPr lang="zh-CN" altLang="en-US" sz="2800" dirty="0"/>
                  <a:t>是关系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cs typeface="Cambria Math" panose="02040503050406030204" charset="0"/>
                      </a:rPr>
                      <m:t>𝑅</m:t>
                    </m:r>
                  </m:oMath>
                </a14:m>
                <a:r>
                  <a:rPr lang="zh-CN" altLang="en-US" sz="2800" dirty="0"/>
                  <a:t>的</a:t>
                </a:r>
                <a:r>
                  <a:rPr lang="zh-CN" altLang="en-US" sz="2800" dirty="0">
                    <a:solidFill>
                      <a:srgbClr val="FF0000"/>
                    </a:solidFill>
                  </a:rPr>
                  <a:t>外码</a:t>
                </a:r>
                <a:r>
                  <a:rPr lang="zh-CN" altLang="en-US" sz="2800" dirty="0"/>
                  <a:t>。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zh-CN" altLang="en-US" sz="2800" dirty="0"/>
                  <a:t>基本关系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cs typeface="Cambria Math" panose="02040503050406030204" charset="0"/>
                      </a:rPr>
                      <m:t>𝑅</m:t>
                    </m:r>
                  </m:oMath>
                </a14:m>
                <a:r>
                  <a:rPr lang="zh-CN" altLang="en-US" sz="2800" dirty="0"/>
                  <a:t>称为</a:t>
                </a:r>
                <a:r>
                  <a:rPr lang="zh-CN" altLang="en-US" sz="2800" dirty="0">
                    <a:solidFill>
                      <a:srgbClr val="C00000"/>
                    </a:solidFill>
                  </a:rPr>
                  <a:t>参照关系</a:t>
                </a:r>
                <a:r>
                  <a:rPr lang="zh-CN" altLang="en-US" sz="2800" dirty="0"/>
                  <a:t>（</a:t>
                </a:r>
                <a:r>
                  <a:rPr lang="en-US" altLang="zh-CN" sz="2800" dirty="0"/>
                  <a:t>Referencing  Relation</a:t>
                </a:r>
                <a:r>
                  <a:rPr lang="zh-CN" altLang="en-US" sz="2800" dirty="0"/>
                  <a:t>）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zh-CN" altLang="en-US" sz="2800" dirty="0"/>
                  <a:t>基本关系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cs typeface="Cambria Math" panose="02040503050406030204" charset="0"/>
                      </a:rPr>
                      <m:t>𝑆</m:t>
                    </m:r>
                  </m:oMath>
                </a14:m>
                <a:r>
                  <a:rPr lang="zh-CN" altLang="en-US" sz="2800" dirty="0"/>
                  <a:t>称为</a:t>
                </a:r>
                <a:r>
                  <a:rPr lang="zh-CN" altLang="en-US" sz="2800" dirty="0">
                    <a:solidFill>
                      <a:srgbClr val="C00000"/>
                    </a:solidFill>
                  </a:rPr>
                  <a:t>被参照关系</a:t>
                </a:r>
                <a:r>
                  <a:rPr lang="zh-CN" altLang="en-US" sz="2800" dirty="0"/>
                  <a:t>（</a:t>
                </a:r>
                <a:r>
                  <a:rPr lang="en-US" altLang="zh-CN" sz="2800" dirty="0"/>
                  <a:t>Referenced Relation</a:t>
                </a:r>
                <a:r>
                  <a:rPr lang="zh-CN" altLang="en-US" sz="2800" dirty="0"/>
                  <a:t>）或</a:t>
                </a:r>
                <a:r>
                  <a:rPr lang="zh-CN" altLang="en-US" sz="2800" dirty="0">
                    <a:solidFill>
                      <a:srgbClr val="C00000"/>
                    </a:solidFill>
                  </a:rPr>
                  <a:t>目标关系</a:t>
                </a:r>
                <a:r>
                  <a:rPr lang="zh-CN" altLang="en-US" sz="2800" dirty="0"/>
                  <a:t>（</a:t>
                </a:r>
                <a:r>
                  <a:rPr lang="en-US" altLang="zh-CN" sz="2800" dirty="0"/>
                  <a:t>Target Relation</a:t>
                </a:r>
                <a:r>
                  <a:rPr lang="zh-CN" altLang="en-US" sz="2800" dirty="0"/>
                  <a:t>）</a:t>
                </a:r>
              </a:p>
            </p:txBody>
          </p:sp>
        </mc:Choice>
        <mc:Fallback xmlns="">
          <p:sp>
            <p:nvSpPr>
              <p:cNvPr id="56323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4180" y="687070"/>
                <a:ext cx="11343005" cy="2804795"/>
              </a:xfrm>
              <a:blipFill rotWithShape="1">
                <a:blip r:embed="rId2"/>
                <a:stretch>
                  <a:fillRect l="-45" t="-181" r="-39" b="-158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>
                <a:spLocks noGrp="1" noChangeArrowheads="1"/>
              </p:cNvSpPr>
              <p:nvPr/>
            </p:nvSpPr>
            <p:spPr>
              <a:xfrm>
                <a:off x="424180" y="3701415"/>
                <a:ext cx="11343005" cy="293433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C00000"/>
                  </a:buClr>
                  <a:buSzPct val="85000"/>
                  <a:buFont typeface="Wingdings" panose="05000000000000000000" charset="0"/>
                  <a:buChar char="q"/>
                  <a:defRPr sz="3000" b="1" kern="1200">
                    <a:solidFill>
                      <a:srgbClr val="1F2DA8"/>
                    </a:solidFill>
                    <a:latin typeface="楷体" panose="02010609060101010101" charset="-122"/>
                    <a:ea typeface="楷体" panose="02010609060101010101" charset="-122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ct val="85000"/>
                  <a:buFont typeface="Wingdings" panose="05000000000000000000" charset="0"/>
                  <a:buChar char="Ø"/>
                  <a:defRPr sz="2800" b="1" kern="1200">
                    <a:solidFill>
                      <a:srgbClr val="1F2DA8"/>
                    </a:solidFill>
                    <a:latin typeface="楷体" panose="02010609060101010101" charset="-122"/>
                    <a:ea typeface="楷体" panose="02010609060101010101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ct val="85000"/>
                  <a:buFont typeface="Arial" panose="020B0604020202020204" pitchFamily="34" charset="0"/>
                  <a:buChar char="●"/>
                  <a:defRPr sz="2800" b="1" kern="1200">
                    <a:solidFill>
                      <a:srgbClr val="1F2DA8"/>
                    </a:solidFill>
                    <a:latin typeface="楷体" panose="02010609060101010101" charset="-122"/>
                    <a:ea typeface="楷体" panose="02010609060101010101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ct val="85000"/>
                  <a:buFont typeface="Arial" panose="020B0604020202020204" pitchFamily="34" charset="0"/>
                  <a:buChar char="‒"/>
                  <a:defRPr sz="2800" b="1" kern="1200">
                    <a:solidFill>
                      <a:srgbClr val="1F2DA8"/>
                    </a:solidFill>
                    <a:latin typeface="楷体" panose="02010609060101010101" charset="-122"/>
                    <a:ea typeface="楷体" panose="02010609060101010101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ct val="85000"/>
                  <a:buFont typeface="Wingdings" panose="05000000000000000000" charset="0"/>
                  <a:buChar char=""/>
                  <a:defRPr sz="2800" b="1" kern="1200">
                    <a:solidFill>
                      <a:srgbClr val="1F2DA8"/>
                    </a:solidFill>
                    <a:latin typeface="楷体" panose="02010609060101010101" charset="-122"/>
                    <a:ea typeface="楷体" panose="02010609060101010101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800" dirty="0"/>
                  <a:t>其中</a:t>
                </a:r>
              </a:p>
              <a:p>
                <a:pPr lvl="1"/>
                <a:r>
                  <a:rPr lang="zh-CN" altLang="en-US" sz="2800" dirty="0"/>
                  <a:t>关系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cs typeface="Cambria Math" panose="02040503050406030204" charset="0"/>
                      </a:rPr>
                      <m:t>𝑅</m:t>
                    </m:r>
                  </m:oMath>
                </a14:m>
                <a:r>
                  <a:rPr lang="zh-CN" altLang="en-US" sz="28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cs typeface="Cambria Math" panose="02040503050406030204" charset="0"/>
                      </a:rPr>
                      <m:t>𝑆</m:t>
                    </m:r>
                  </m:oMath>
                </a14:m>
                <a:r>
                  <a:rPr lang="zh-CN" altLang="en-US" sz="2800" dirty="0">
                    <a:solidFill>
                      <a:srgbClr val="C00000"/>
                    </a:solidFill>
                  </a:rPr>
                  <a:t>不一定是不同的关系</a:t>
                </a:r>
                <a:endParaRPr lang="zh-CN" altLang="en-US" sz="2800" dirty="0"/>
              </a:p>
              <a:p>
                <a:pPr lvl="1"/>
                <a:r>
                  <a:rPr lang="zh-CN" altLang="en-US" sz="2800" dirty="0"/>
                  <a:t>目标关系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cs typeface="Cambria Math" panose="02040503050406030204" charset="0"/>
                      </a:rPr>
                      <m:t>𝑆</m:t>
                    </m:r>
                  </m:oMath>
                </a14:m>
                <a:r>
                  <a:rPr lang="zh-CN" altLang="en-US" sz="2800" dirty="0"/>
                  <a:t>的主码</a:t>
                </a:r>
                <a14:m>
                  <m:oMath xmlns:m="http://schemas.openxmlformats.org/officeDocument/2006/math">
                    <m:r>
                      <a:rPr lang="en-US" altLang="zh-CN" sz="2800" i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𝐾</m:t>
                    </m:r>
                    <m:r>
                      <a:rPr lang="en-US" altLang="zh-CN" sz="2800" i="1" kern="0" baseline="-2500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𝑠</m:t>
                    </m:r>
                  </m:oMath>
                </a14:m>
                <a:r>
                  <a:rPr lang="zh-CN" altLang="en-US" sz="2800" dirty="0"/>
                  <a:t>和参照关系的外码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cs typeface="Cambria Math" panose="02040503050406030204" charset="0"/>
                      </a:rPr>
                      <m:t>𝐹</m:t>
                    </m:r>
                  </m:oMath>
                </a14:m>
                <a:r>
                  <a:rPr lang="zh-CN" altLang="en-US" sz="2800" dirty="0"/>
                  <a:t>必须定义在同一个域上</a:t>
                </a:r>
              </a:p>
              <a:p>
                <a:pPr lvl="1"/>
                <a:r>
                  <a:rPr lang="zh-CN" altLang="en-US" sz="2800" dirty="0"/>
                  <a:t>外码并不一定要与相对应的主码同名</a:t>
                </a:r>
              </a:p>
              <a:p>
                <a:pPr lvl="2"/>
                <a:r>
                  <a:rPr lang="zh-CN" altLang="en-US" sz="2800" dirty="0"/>
                  <a:t>当外码与相对应的主码属于不同关系时，往往取相同的名字，以便于识别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180" y="3701415"/>
                <a:ext cx="11343005" cy="29343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2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2.3.2  </a:t>
            </a:r>
            <a:r>
              <a:rPr lang="zh-CN" altLang="en-US" dirty="0">
                <a:sym typeface="+mn-ea"/>
              </a:rPr>
              <a:t>参照完整性</a:t>
            </a:r>
            <a:r>
              <a:rPr lang="en-US" altLang="zh-CN" dirty="0">
                <a:sym typeface="+mn-ea"/>
              </a:rPr>
              <a:t> - </a:t>
            </a:r>
            <a:r>
              <a:rPr lang="zh-CN" altLang="en-US" dirty="0"/>
              <a:t>外码 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zh-CN" altLang="en-US" sz="2800" dirty="0"/>
              <a:t>在例</a:t>
            </a:r>
            <a:r>
              <a:rPr lang="en-US" altLang="zh-CN" sz="2800" dirty="0"/>
              <a:t>1</a:t>
            </a:r>
            <a:r>
              <a:rPr lang="zh-CN" altLang="en-US" sz="2800" dirty="0"/>
              <a:t>中</a:t>
            </a:r>
            <a:r>
              <a:rPr lang="en-US" altLang="zh-CN" sz="2800" dirty="0"/>
              <a:t>,</a:t>
            </a:r>
            <a:r>
              <a:rPr lang="zh-CN" altLang="en-US" sz="2800" dirty="0"/>
              <a:t>学生关系的“专业号”与专业关系的主码“专业号”相对应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endParaRPr lang="zh-CN" altLang="en-US" sz="2800" dirty="0"/>
          </a:p>
          <a:p>
            <a:pPr>
              <a:lnSpc>
                <a:spcPct val="110000"/>
              </a:lnSpc>
              <a:spcBef>
                <a:spcPts val="1000"/>
              </a:spcBef>
            </a:pPr>
            <a:endParaRPr lang="zh-CN" altLang="en-US" sz="2800" dirty="0"/>
          </a:p>
          <a:p>
            <a:pPr>
              <a:lnSpc>
                <a:spcPct val="110000"/>
              </a:lnSpc>
              <a:spcBef>
                <a:spcPts val="1000"/>
              </a:spcBef>
            </a:pPr>
            <a:endParaRPr lang="zh-CN" altLang="en-US" sz="2800" dirty="0"/>
          </a:p>
          <a:p>
            <a:pPr lvl="1">
              <a:lnSpc>
                <a:spcPct val="110000"/>
              </a:lnSpc>
              <a:spcBef>
                <a:spcPts val="1000"/>
              </a:spcBef>
            </a:pPr>
            <a:r>
              <a:rPr lang="zh-CN" altLang="en-US" sz="2800" dirty="0"/>
              <a:t>“专业号”属性是学生关系的外码</a:t>
            </a:r>
          </a:p>
          <a:p>
            <a:pPr lvl="1">
              <a:lnSpc>
                <a:spcPct val="110000"/>
              </a:lnSpc>
              <a:spcBef>
                <a:spcPts val="1000"/>
              </a:spcBef>
            </a:pPr>
            <a:r>
              <a:rPr lang="zh-CN" altLang="en-US" sz="2800" dirty="0"/>
              <a:t>专业关系是被参照关系，学生关系为参照关系 </a:t>
            </a:r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3521710" y="4702175"/>
          <a:ext cx="4843780" cy="1480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1188700" imgH="3416300" progId="Photoshop.Image.7">
                  <p:embed/>
                </p:oleObj>
              </mc:Choice>
              <mc:Fallback>
                <p:oleObj name="Image" r:id="rId2" imgW="11188700" imgH="3416300" progId="Photoshop.Image.7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1710" y="4702175"/>
                        <a:ext cx="4843780" cy="14801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FFFFFF"/>
                                </a:gs>
                                <a:gs pos="100000">
                                  <a:srgbClr val="BBBBBB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1320" y="1429385"/>
            <a:ext cx="7995920" cy="1294765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2.3.2  </a:t>
            </a:r>
            <a:r>
              <a:rPr lang="zh-CN" altLang="en-US" dirty="0">
                <a:sym typeface="+mn-ea"/>
              </a:rPr>
              <a:t>参照完整性</a:t>
            </a:r>
            <a:r>
              <a:rPr lang="en-US" altLang="zh-CN" dirty="0">
                <a:sym typeface="+mn-ea"/>
              </a:rPr>
              <a:t> - </a:t>
            </a:r>
            <a:r>
              <a:rPr lang="zh-CN" altLang="en-US" dirty="0"/>
              <a:t>外码 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000"/>
              </a:spcBef>
            </a:pPr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中，选修关系的“学号”与学生关系的主码“学号”相对应，选修关系的“课程号”与课程关系的主码“课程号”相对应</a:t>
            </a: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lang="zh-CN" altLang="en-US" dirty="0"/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lang="zh-CN" altLang="en-US" dirty="0"/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lang="zh-CN" altLang="en-US" dirty="0"/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zh-CN" altLang="en-US" dirty="0"/>
              <a:t>“学号”和“课程号”是选修关系的外码</a:t>
            </a:r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zh-CN" altLang="en-US" dirty="0"/>
              <a:t>学生关系和课程关系均为被参照关系</a:t>
            </a:r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zh-CN" altLang="en-US" dirty="0"/>
              <a:t>选修关系为参照关系 </a:t>
            </a:r>
          </a:p>
        </p:txBody>
      </p:sp>
      <p:graphicFrame>
        <p:nvGraphicFramePr>
          <p:cNvPr id="11" name="Object 4"/>
          <p:cNvGraphicFramePr>
            <a:graphicFrameLocks noChangeAspect="1"/>
          </p:cNvGraphicFramePr>
          <p:nvPr/>
        </p:nvGraphicFramePr>
        <p:xfrm>
          <a:off x="1955800" y="5201920"/>
          <a:ext cx="8604250" cy="1234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8046700" imgH="2590800" progId="Photoshop.Image.7">
                  <p:embed/>
                </p:oleObj>
              </mc:Choice>
              <mc:Fallback>
                <p:oleObj name="Image" r:id="rId2" imgW="18046700" imgH="2590800" progId="Photoshop.Image.7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5201920"/>
                        <a:ext cx="8604250" cy="12344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FFFFFF"/>
                                </a:gs>
                                <a:gs pos="100000">
                                  <a:srgbClr val="BBBBBB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440" y="1701800"/>
            <a:ext cx="7179310" cy="173926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2.3.2  </a:t>
            </a:r>
            <a:r>
              <a:rPr lang="zh-CN" altLang="en-US" dirty="0">
                <a:sym typeface="+mn-ea"/>
              </a:rPr>
              <a:t>参照完整性</a:t>
            </a:r>
            <a:r>
              <a:rPr lang="en-US" altLang="zh-CN" dirty="0">
                <a:sym typeface="+mn-ea"/>
              </a:rPr>
              <a:t> - </a:t>
            </a:r>
            <a:r>
              <a:rPr lang="zh-CN" altLang="en-US" dirty="0"/>
              <a:t>外码 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zh-CN" altLang="en-US" dirty="0"/>
              <a:t>例</a:t>
            </a:r>
            <a:r>
              <a:rPr lang="en-US" altLang="zh-CN" dirty="0"/>
              <a:t>3</a:t>
            </a:r>
            <a:r>
              <a:rPr lang="zh-CN" altLang="en-US" dirty="0"/>
              <a:t>中，“班长学号”与本身的主码“学号”相对应</a:t>
            </a:r>
          </a:p>
          <a:p>
            <a:pPr marL="914400" lvl="2" indent="0">
              <a:lnSpc>
                <a:spcPct val="110000"/>
              </a:lnSpc>
              <a:spcBef>
                <a:spcPts val="1000"/>
              </a:spcBef>
              <a:buNone/>
            </a:pPr>
            <a:r>
              <a:rPr lang="zh-CN" altLang="en-US" dirty="0">
                <a:sym typeface="+mn-ea"/>
              </a:rPr>
              <a:t>学生（</a:t>
            </a:r>
            <a:r>
              <a:rPr lang="zh-CN" altLang="en-US" u="sng" dirty="0">
                <a:solidFill>
                  <a:srgbClr val="FF0000"/>
                </a:solidFill>
                <a:sym typeface="+mn-ea"/>
              </a:rPr>
              <a:t>学号</a:t>
            </a:r>
            <a:r>
              <a:rPr lang="zh-CN" altLang="en-US" dirty="0">
                <a:sym typeface="+mn-ea"/>
              </a:rPr>
              <a:t>，姓名，性别，专业号，年龄，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班长学号</a:t>
            </a:r>
            <a:r>
              <a:rPr lang="zh-CN" altLang="en-US" dirty="0">
                <a:sym typeface="+mn-ea"/>
              </a:rPr>
              <a:t>）</a:t>
            </a:r>
          </a:p>
          <a:p>
            <a:pPr marL="914400" lvl="2" indent="0">
              <a:lnSpc>
                <a:spcPct val="110000"/>
              </a:lnSpc>
              <a:spcBef>
                <a:spcPts val="1000"/>
              </a:spcBef>
              <a:buNone/>
            </a:pPr>
            <a:endParaRPr lang="zh-CN" altLang="en-US" dirty="0"/>
          </a:p>
          <a:p>
            <a:pPr lvl="1">
              <a:lnSpc>
                <a:spcPct val="110000"/>
              </a:lnSpc>
              <a:spcBef>
                <a:spcPts val="1000"/>
              </a:spcBef>
            </a:pPr>
            <a:r>
              <a:rPr lang="zh-CN" altLang="en-US" dirty="0"/>
              <a:t>“班长学号”是外码</a:t>
            </a:r>
          </a:p>
          <a:p>
            <a:pPr lvl="1">
              <a:lnSpc>
                <a:spcPct val="110000"/>
              </a:lnSpc>
              <a:spcBef>
                <a:spcPts val="1000"/>
              </a:spcBef>
            </a:pPr>
            <a:r>
              <a:rPr lang="zh-CN" altLang="en-US" dirty="0"/>
              <a:t>学生关系既是参照关系也是被参照关系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719195" y="3909060"/>
          <a:ext cx="4271010" cy="250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058400" imgH="5905500" progId="Photoshop.Image.7">
                  <p:embed/>
                </p:oleObj>
              </mc:Choice>
              <mc:Fallback>
                <p:oleObj name="Image" r:id="rId2" imgW="10058400" imgH="5905500" progId="Photoshop.Image.7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195" y="3909060"/>
                        <a:ext cx="4271010" cy="250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FFFFFF"/>
                                </a:gs>
                                <a:gs pos="100000">
                                  <a:srgbClr val="BBBBBB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825615" y="4662170"/>
            <a:ext cx="1668145" cy="5219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班长学号</a:t>
            </a:r>
          </a:p>
        </p:txBody>
      </p:sp>
      <p:sp>
        <p:nvSpPr>
          <p:cNvPr id="8" name="线形标注 1(带边框和强调线) 7"/>
          <p:cNvSpPr/>
          <p:nvPr/>
        </p:nvSpPr>
        <p:spPr>
          <a:xfrm>
            <a:off x="8547735" y="3608070"/>
            <a:ext cx="3036570" cy="1383665"/>
          </a:xfrm>
          <a:prstGeom prst="accentBorderCallout1">
            <a:avLst>
              <a:gd name="adj1" fmla="val 18012"/>
              <a:gd name="adj2" fmla="val -2024"/>
              <a:gd name="adj3" fmla="val 78728"/>
              <a:gd name="adj4" fmla="val -35969"/>
            </a:avLst>
          </a:prstGeom>
          <a:noFill/>
          <a:ln w="19050">
            <a:tailEnd type="arrow" w="lg" len="me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标注在箭头上的是参照关系中的</a:t>
            </a:r>
            <a:r>
              <a:rPr lang="en-US" altLang="zh-CN" sz="2800" b="1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‘</a:t>
            </a:r>
            <a:r>
              <a:rPr lang="zh-CN" altLang="en-US" sz="2800" b="1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外码</a:t>
            </a:r>
            <a:r>
              <a:rPr lang="en-US" altLang="zh-CN" sz="2800" b="1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2.3.2  </a:t>
            </a:r>
            <a:r>
              <a:rPr lang="zh-CN" altLang="en-US" dirty="0">
                <a:sym typeface="+mn-ea"/>
              </a:rPr>
              <a:t>参照完整性</a:t>
            </a:r>
            <a:r>
              <a:rPr lang="en-US" altLang="zh-CN" dirty="0">
                <a:sym typeface="+mn-ea"/>
              </a:rPr>
              <a:t> - </a:t>
            </a:r>
            <a:r>
              <a:rPr lang="zh-CN" altLang="en-US" dirty="0"/>
              <a:t>参照完整性规则 </a:t>
            </a:r>
            <a:r>
              <a:rPr lang="en-US" altLang="zh-CN" dirty="0"/>
              <a:t>1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7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24180" y="687070"/>
                <a:ext cx="11343005" cy="3352800"/>
              </a:xfrm>
              <a:solidFill>
                <a:schemeClr val="accent3">
                  <a:lumMod val="20000"/>
                  <a:lumOff val="80000"/>
                  <a:alpha val="50000"/>
                </a:schemeClr>
              </a:solidFill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fontAlgn="auto">
                  <a:spcBef>
                    <a:spcPts val="1000"/>
                  </a:spcBef>
                </a:pPr>
                <a:r>
                  <a:rPr lang="zh-CN" altLang="en-US" dirty="0"/>
                  <a:t>规则</a:t>
                </a:r>
                <a:r>
                  <a:rPr lang="en-US" altLang="zh-CN" dirty="0"/>
                  <a:t>2.2 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参照完整性规则</a:t>
                </a:r>
                <a:endParaRPr lang="en-US" altLang="zh-CN" dirty="0"/>
              </a:p>
              <a:p>
                <a:pPr marL="0" lvl="1" indent="457200" fontAlgn="auto">
                  <a:spcBef>
                    <a:spcPts val="1000"/>
                  </a:spcBef>
                  <a:buNone/>
                </a:pPr>
                <a:r>
                  <a:rPr lang="zh-CN" altLang="en-US" dirty="0"/>
                  <a:t>若属性（或属性组）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𝐹</m:t>
                    </m:r>
                  </m:oMath>
                </a14:m>
                <a:r>
                  <a:rPr lang="zh-CN" altLang="en-US" dirty="0"/>
                  <a:t>是基本关系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𝑅</m:t>
                    </m:r>
                  </m:oMath>
                </a14:m>
                <a:r>
                  <a:rPr lang="zh-CN" altLang="en-US" dirty="0"/>
                  <a:t>的外码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它与基本关系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𝑆</m:t>
                    </m:r>
                  </m:oMath>
                </a14:m>
                <a:r>
                  <a:rPr lang="zh-CN" altLang="en-US" dirty="0"/>
                  <a:t>的主码</a:t>
                </a:r>
                <a14:m>
                  <m:oMath xmlns:m="http://schemas.openxmlformats.org/officeDocument/2006/math">
                    <m:r>
                      <a:rPr lang="en-US" altLang="zh-CN" sz="2800" i="1" kern="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𝐾</m:t>
                    </m:r>
                    <m:r>
                      <a:rPr lang="en-US" altLang="zh-CN" sz="2800" i="1" kern="0" baseline="-25000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𝑠</m:t>
                    </m:r>
                  </m:oMath>
                </a14:m>
                <a:r>
                  <a:rPr lang="zh-CN" altLang="en-US" dirty="0"/>
                  <a:t>相对应（即：</a:t>
                </a:r>
                <a:r>
                  <a:rPr lang="en-US" altLang="zh-CN" dirty="0"/>
                  <a:t>R</a:t>
                </a:r>
                <a:r>
                  <a:rPr lang="zh-CN" altLang="en-US" dirty="0"/>
                  <a:t>是参照关系，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是被参照关系，参照关系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𝑅</m:t>
                    </m:r>
                  </m:oMath>
                </a14:m>
                <a:r>
                  <a:rPr lang="zh-CN" altLang="en-US" dirty="0"/>
                  <a:t>和被参照关系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𝑆</m:t>
                    </m:r>
                  </m:oMath>
                </a14:m>
                <a:r>
                  <a:rPr lang="zh-CN" altLang="en-US" dirty="0"/>
                  <a:t>不一定是不同的关系），则对于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𝑅</m:t>
                    </m:r>
                  </m:oMath>
                </a14:m>
                <a:r>
                  <a:rPr lang="zh-CN" altLang="en-US" dirty="0"/>
                  <a:t>中每个元组在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𝐹</m:t>
                    </m:r>
                  </m:oMath>
                </a14:m>
                <a:r>
                  <a:rPr lang="zh-CN" altLang="en-US" dirty="0"/>
                  <a:t>上的值必须为：</a:t>
                </a:r>
              </a:p>
              <a:p>
                <a:pPr lvl="2" fontAlgn="auto">
                  <a:spcBef>
                    <a:spcPts val="1000"/>
                  </a:spcBef>
                </a:pPr>
                <a:r>
                  <a:rPr lang="zh-CN" altLang="en-US" dirty="0"/>
                  <a:t>或者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取空值（一个元组在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𝐹</m:t>
                    </m:r>
                  </m:oMath>
                </a14:m>
                <a:r>
                  <a:rPr lang="zh-CN" altLang="en-US" b="0" dirty="0">
                    <a:latin typeface="Cambria Math" panose="02040503050406030204" charset="0"/>
                    <a:cs typeface="Cambria Math" panose="02040503050406030204" charset="0"/>
                  </a:rPr>
                  <a:t>中</a:t>
                </a:r>
                <a:r>
                  <a:rPr lang="zh-CN" altLang="en-US" dirty="0"/>
                  <a:t>每个属性上的取值均为空值）</a:t>
                </a:r>
              </a:p>
              <a:p>
                <a:pPr lvl="2" fontAlgn="auto">
                  <a:spcBef>
                    <a:spcPts val="1000"/>
                  </a:spcBef>
                </a:pPr>
                <a:r>
                  <a:rPr lang="zh-CN" altLang="en-US" dirty="0"/>
                  <a:t>或者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等于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</a:rPr>
                      <m:t>𝑆</m:t>
                    </m:r>
                  </m:oMath>
                </a14:m>
                <a:r>
                  <a:rPr lang="zh-CN" altLang="en-US" dirty="0"/>
                  <a:t>中某个元组的主码值</a:t>
                </a:r>
              </a:p>
            </p:txBody>
          </p:sp>
        </mc:Choice>
        <mc:Fallback xmlns="">
          <p:sp>
            <p:nvSpPr>
              <p:cNvPr id="58371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4180" y="687070"/>
                <a:ext cx="11343005" cy="3352800"/>
              </a:xfrm>
              <a:blipFill rotWithShape="1">
                <a:blip r:embed="rId2"/>
                <a:stretch>
                  <a:fillRect l="-45" t="-152" r="-39" b="-133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2.3.2  </a:t>
            </a:r>
            <a:r>
              <a:rPr lang="zh-CN" altLang="en-US" dirty="0">
                <a:sym typeface="+mn-ea"/>
              </a:rPr>
              <a:t>参照完整性</a:t>
            </a:r>
            <a:r>
              <a:rPr lang="en-US" altLang="zh-CN" dirty="0">
                <a:sym typeface="+mn-ea"/>
              </a:rPr>
              <a:t> - </a:t>
            </a:r>
            <a:r>
              <a:rPr lang="zh-CN" altLang="en-US" dirty="0"/>
              <a:t>参照完整性规则 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中，学生关系中每个元组的“专业号”属性只取两类值：</a:t>
            </a:r>
          </a:p>
          <a:p>
            <a:pPr lvl="1">
              <a:lnSpc>
                <a:spcPct val="110000"/>
              </a:lnSpc>
              <a:spcBef>
                <a:spcPts val="1000"/>
              </a:spcBef>
            </a:pPr>
            <a:r>
              <a:rPr lang="zh-CN" altLang="en-US" dirty="0"/>
              <a:t>空值，表示尚未给该学生分配专业</a:t>
            </a:r>
          </a:p>
          <a:p>
            <a:pPr lvl="1">
              <a:lnSpc>
                <a:spcPct val="110000"/>
              </a:lnSpc>
              <a:spcBef>
                <a:spcPts val="1000"/>
              </a:spcBef>
            </a:pPr>
            <a:r>
              <a:rPr lang="zh-CN" altLang="en-US" dirty="0"/>
              <a:t>非空值，这时该值必须是专业关系中某个元组的“专业号”值，表示该学生不可能分配一个不存在的专业</a:t>
            </a: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688340" y="3607200"/>
          <a:ext cx="6350000" cy="2647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13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C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学号</a:t>
                      </a:r>
                    </a:p>
                  </a:txBody>
                  <a:tcPr marT="0" marB="0">
                    <a:lnL>
                      <a:noFill/>
                    </a:lnL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C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姓名</a:t>
                      </a:r>
                    </a:p>
                  </a:txBody>
                  <a:tcPr marT="0" marB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C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性别</a:t>
                      </a:r>
                    </a:p>
                  </a:txBody>
                  <a:tcPr marT="0" marB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C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专业号</a:t>
                      </a:r>
                    </a:p>
                  </a:txBody>
                  <a:tcPr marT="0" marB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C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年龄</a:t>
                      </a:r>
                    </a:p>
                  </a:txBody>
                  <a:tcPr marT="0" marB="0"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801</a:t>
                      </a:r>
                    </a:p>
                  </a:txBody>
                  <a:tcPr marT="0" marB="0">
                    <a:lnL>
                      <a:noFill/>
                    </a:lnL>
                    <a:lnT w="12700" cmpd="sng">
                      <a:solidFill>
                        <a:schemeClr val="tx1"/>
                      </a:solidFill>
                      <a:prstDash val="soli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张君</a:t>
                      </a:r>
                    </a:p>
                  </a:txBody>
                  <a:tcPr marT="0" marB="0">
                    <a:lnT w="12700" cmpd="sng">
                      <a:solidFill>
                        <a:schemeClr val="tx1"/>
                      </a:solidFill>
                      <a:prstDash val="soli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女</a:t>
                      </a:r>
                    </a:p>
                  </a:txBody>
                  <a:tcPr marT="0" marB="0">
                    <a:lnT w="12700" cmpd="sng">
                      <a:solidFill>
                        <a:schemeClr val="tx1"/>
                      </a:solidFill>
                      <a:prstDash val="soli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01</a:t>
                      </a:r>
                    </a:p>
                  </a:txBody>
                  <a:tcPr marT="0" marB="0">
                    <a:lnT w="12700" cmpd="sng">
                      <a:solidFill>
                        <a:schemeClr val="tx1"/>
                      </a:solidFill>
                      <a:prstDash val="soli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19</a:t>
                      </a:r>
                    </a:p>
                  </a:txBody>
                  <a:tcPr marT="0" marB="0"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802</a:t>
                      </a:r>
                    </a:p>
                  </a:txBody>
                  <a:tcPr marT="0" marB="0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李明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男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01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20</a:t>
                      </a:r>
                    </a:p>
                  </a:txBody>
                  <a:tcPr marT="0" marB="0">
                    <a:lnR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803</a:t>
                      </a:r>
                    </a:p>
                  </a:txBody>
                  <a:tcPr marT="0" marB="0"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王强</a:t>
                      </a:r>
                    </a:p>
                  </a:txBody>
                  <a:tcPr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男</a:t>
                      </a:r>
                    </a:p>
                  </a:txBody>
                  <a:tcPr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01</a:t>
                      </a:r>
                    </a:p>
                  </a:txBody>
                  <a:tcPr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20</a:t>
                      </a:r>
                    </a:p>
                  </a:txBody>
                  <a:tcPr marT="0" marB="0">
                    <a:lnR>
                      <a:noFill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804</a:t>
                      </a:r>
                    </a:p>
                  </a:txBody>
                  <a:tcPr marT="0" marB="0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赵蕾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女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02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20</a:t>
                      </a:r>
                    </a:p>
                  </a:txBody>
                  <a:tcPr marT="0" marB="0">
                    <a:lnR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805</a:t>
                      </a:r>
                    </a:p>
                  </a:txBody>
                  <a:tcPr marT="0" marB="0">
                    <a:lnL>
                      <a:noFill/>
                    </a:lnL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钱虎</a:t>
                      </a:r>
                    </a:p>
                  </a:txBody>
                  <a:tcPr marT="0" marB="0"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男</a:t>
                      </a:r>
                    </a:p>
                  </a:txBody>
                  <a:tcPr marT="0" marB="0"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02</a:t>
                      </a:r>
                    </a:p>
                  </a:txBody>
                  <a:tcPr marT="0" marB="0"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19</a:t>
                      </a:r>
                    </a:p>
                  </a:txBody>
                  <a:tcPr marT="0" marB="0">
                    <a:lnR>
                      <a:noFill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/>
          <p:nvPr>
            <p:custDataLst>
              <p:tags r:id="rId2"/>
            </p:custDataLst>
          </p:nvPr>
        </p:nvGraphicFramePr>
        <p:xfrm>
          <a:off x="7831455" y="3607200"/>
          <a:ext cx="3643630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1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1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C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专业号</a:t>
                      </a:r>
                    </a:p>
                  </a:txBody>
                  <a:tcPr>
                    <a:lnL>
                      <a:noFill/>
                    </a:lnL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C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专业名</a:t>
                      </a:r>
                    </a:p>
                  </a:txBody>
                  <a:tcPr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01</a:t>
                      </a:r>
                    </a:p>
                  </a:txBody>
                  <a:tcPr>
                    <a:lnL>
                      <a:noFill/>
                    </a:lnL>
                    <a:lnT w="12700" cmpd="sng">
                      <a:solidFill>
                        <a:schemeClr val="tx1"/>
                      </a:solidFill>
                      <a:prstDash val="soli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信息</a:t>
                      </a:r>
                    </a:p>
                  </a:txBody>
                  <a:tcPr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02</a:t>
                      </a:r>
                    </a:p>
                  </a:txBody>
                  <a:tcPr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数学</a:t>
                      </a:r>
                    </a:p>
                  </a:txBody>
                  <a:tcPr>
                    <a:lnR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03</a:t>
                      </a:r>
                    </a:p>
                  </a:txBody>
                  <a:tcPr>
                    <a:lnL>
                      <a:noFill/>
                    </a:lnL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计算机</a:t>
                      </a:r>
                    </a:p>
                  </a:txBody>
                  <a:tcPr>
                    <a:lnR>
                      <a:noFill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688340" y="3147060"/>
            <a:ext cx="6361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rgbClr val="1F2DA8"/>
                </a:solidFill>
              </a:rPr>
              <a:t>(a)  </a:t>
            </a:r>
            <a:r>
              <a:rPr lang="zh-CN" altLang="en-US" sz="2400">
                <a:solidFill>
                  <a:srgbClr val="1F2DA8"/>
                </a:solidFill>
              </a:rPr>
              <a:t>学生关系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830820" y="3147060"/>
            <a:ext cx="36302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rgbClr val="1F2DA8"/>
                </a:solidFill>
              </a:rPr>
              <a:t>(b)  </a:t>
            </a:r>
            <a:r>
              <a:rPr lang="zh-CN" altLang="en-US" sz="2400">
                <a:solidFill>
                  <a:srgbClr val="1F2DA8"/>
                </a:solidFill>
              </a:rPr>
              <a:t>专业关系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2.3.2  </a:t>
            </a:r>
            <a:r>
              <a:rPr lang="zh-CN" altLang="en-US" dirty="0">
                <a:sym typeface="+mn-ea"/>
              </a:rPr>
              <a:t>参照完整性</a:t>
            </a:r>
            <a:r>
              <a:rPr lang="en-US" altLang="zh-CN" dirty="0">
                <a:sym typeface="+mn-ea"/>
              </a:rPr>
              <a:t> - </a:t>
            </a:r>
            <a:r>
              <a:rPr lang="zh-CN" altLang="en-US" dirty="0"/>
              <a:t>参照完整性规则 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例</a:t>
            </a:r>
            <a:r>
              <a:rPr lang="en-US" altLang="zh-CN" sz="2800" dirty="0"/>
              <a:t>2</a:t>
            </a:r>
            <a:r>
              <a:rPr lang="zh-CN" altLang="en-US" sz="2800" dirty="0"/>
              <a:t>中，选修（</a:t>
            </a:r>
            <a:r>
              <a:rPr lang="zh-CN" altLang="en-US" sz="2800" u="sng" dirty="0"/>
              <a:t>学号</a:t>
            </a:r>
            <a:r>
              <a:rPr lang="zh-CN" altLang="en-US" sz="2800" dirty="0"/>
              <a:t>，</a:t>
            </a:r>
            <a:r>
              <a:rPr lang="zh-CN" altLang="en-US" sz="2800" u="sng" dirty="0"/>
              <a:t>课程号</a:t>
            </a:r>
            <a:r>
              <a:rPr lang="zh-CN" altLang="en-US" sz="2800" dirty="0"/>
              <a:t>，成绩）</a:t>
            </a:r>
          </a:p>
          <a:p>
            <a:pPr lvl="1"/>
            <a:r>
              <a:rPr lang="zh-CN" altLang="en-US" dirty="0"/>
              <a:t>“学号”和“课程号”可能的取值 ：</a:t>
            </a:r>
          </a:p>
          <a:p>
            <a:pPr lvl="2"/>
            <a:r>
              <a:rPr lang="zh-CN" altLang="en-US" dirty="0"/>
              <a:t>选修关系中的主属性，不能取空值</a:t>
            </a:r>
          </a:p>
          <a:p>
            <a:pPr lvl="2"/>
            <a:r>
              <a:rPr lang="zh-CN" altLang="en-US" dirty="0"/>
              <a:t>只能取相应被参照关系（学生或课程关系）中已经存在的主码值</a:t>
            </a:r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353060" y="3231515"/>
          <a:ext cx="4532630" cy="2647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5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5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17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13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rgbClr val="C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学号</a:t>
                      </a:r>
                    </a:p>
                  </a:txBody>
                  <a:tcPr marL="36195" marR="36195" marT="0" marB="0" anchor="ctr">
                    <a:lnL>
                      <a:noFill/>
                    </a:lnL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rgbClr val="C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姓名</a:t>
                      </a:r>
                    </a:p>
                  </a:txBody>
                  <a:tcPr marL="36195" marR="36195" marT="0" marB="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rgbClr val="C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性别</a:t>
                      </a:r>
                    </a:p>
                  </a:txBody>
                  <a:tcPr marL="36195" marR="36195" marT="0" marB="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rgbClr val="C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专业号</a:t>
                      </a:r>
                    </a:p>
                  </a:txBody>
                  <a:tcPr marL="36195" marR="36195" marT="0" marB="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rgbClr val="C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年龄</a:t>
                      </a:r>
                    </a:p>
                  </a:txBody>
                  <a:tcPr marL="36195" marR="36195" marT="0" marB="0" anchor="ctr"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801</a:t>
                      </a:r>
                    </a:p>
                  </a:txBody>
                  <a:tcPr marL="36195" marR="36195" marT="0" marB="0" anchor="ctr">
                    <a:lnL>
                      <a:noFill/>
                    </a:lnL>
                    <a:lnT w="12700" cmpd="sng">
                      <a:solidFill>
                        <a:schemeClr val="tx1"/>
                      </a:solidFill>
                      <a:prstDash val="soli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张君</a:t>
                      </a:r>
                    </a:p>
                  </a:txBody>
                  <a:tcPr marL="36195" marR="36195" marT="0" marB="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女</a:t>
                      </a:r>
                    </a:p>
                  </a:txBody>
                  <a:tcPr marL="36195" marR="36195" marT="0" marB="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01</a:t>
                      </a:r>
                    </a:p>
                  </a:txBody>
                  <a:tcPr marL="36195" marR="36195" marT="0" marB="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19</a:t>
                      </a:r>
                    </a:p>
                  </a:txBody>
                  <a:tcPr marL="36195" marR="36195" marT="0" marB="0" anchor="ctr"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802</a:t>
                      </a:r>
                    </a:p>
                  </a:txBody>
                  <a:tcPr marL="36195" marR="36195" marT="0" marB="0" anchor="ctr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李明</a:t>
                      </a: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男</a:t>
                      </a: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01</a:t>
                      </a: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20</a:t>
                      </a:r>
                    </a:p>
                  </a:txBody>
                  <a:tcPr marL="36195" marR="36195" marT="0" marB="0" anchor="ctr">
                    <a:lnR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803</a:t>
                      </a:r>
                    </a:p>
                  </a:txBody>
                  <a:tcPr marL="36195" marR="36195" marT="0" marB="0" anchor="ctr"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王强</a:t>
                      </a:r>
                    </a:p>
                  </a:txBody>
                  <a:tcPr marL="36195" marR="36195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男</a:t>
                      </a:r>
                    </a:p>
                  </a:txBody>
                  <a:tcPr marL="36195" marR="36195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01</a:t>
                      </a:r>
                    </a:p>
                  </a:txBody>
                  <a:tcPr marL="36195" marR="36195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20</a:t>
                      </a:r>
                    </a:p>
                  </a:txBody>
                  <a:tcPr marL="36195" marR="36195" marT="0" marB="0" anchor="ctr">
                    <a:lnR>
                      <a:noFill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804</a:t>
                      </a:r>
                    </a:p>
                  </a:txBody>
                  <a:tcPr marL="36195" marR="36195" marT="0" marB="0" anchor="ctr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赵蕾</a:t>
                      </a: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女</a:t>
                      </a: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02</a:t>
                      </a: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20</a:t>
                      </a:r>
                    </a:p>
                  </a:txBody>
                  <a:tcPr marL="36195" marR="36195" marT="0" marB="0" anchor="ctr">
                    <a:lnR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805</a:t>
                      </a:r>
                    </a:p>
                  </a:txBody>
                  <a:tcPr marL="36195" marR="36195" marT="0" marB="0" anchor="ctr">
                    <a:lnL>
                      <a:noFill/>
                    </a:lnL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钱虎</a:t>
                      </a:r>
                    </a:p>
                  </a:txBody>
                  <a:tcPr marL="36195" marR="36195" marT="0" marB="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男</a:t>
                      </a:r>
                    </a:p>
                  </a:txBody>
                  <a:tcPr marL="36195" marR="36195" marT="0" marB="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02</a:t>
                      </a:r>
                    </a:p>
                  </a:txBody>
                  <a:tcPr marL="36195" marR="36195" marT="0" marB="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19</a:t>
                      </a:r>
                    </a:p>
                  </a:txBody>
                  <a:tcPr marL="36195" marR="36195" marT="0" marB="0" anchor="ctr">
                    <a:lnR>
                      <a:noFill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53060" y="2771140"/>
            <a:ext cx="45332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rgbClr val="1F2DA8"/>
                </a:solidFill>
              </a:rPr>
              <a:t>(a)  </a:t>
            </a:r>
            <a:r>
              <a:rPr lang="zh-CN" altLang="en-US" sz="2400" b="1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</a:rPr>
              <a:t>学生关系</a:t>
            </a:r>
          </a:p>
        </p:txBody>
      </p:sp>
      <p:graphicFrame>
        <p:nvGraphicFramePr>
          <p:cNvPr id="10" name="表格 9"/>
          <p:cNvGraphicFramePr/>
          <p:nvPr>
            <p:custDataLst>
              <p:tags r:id="rId2"/>
            </p:custDataLst>
          </p:nvPr>
        </p:nvGraphicFramePr>
        <p:xfrm>
          <a:off x="5189855" y="3231515"/>
          <a:ext cx="316674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rgbClr val="C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课程号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solidFill>
                            <a:srgbClr val="C00000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课程</a:t>
                      </a:r>
                      <a:r>
                        <a:rPr lang="zh-CN" altLang="en-US" sz="2400" b="1">
                          <a:solidFill>
                            <a:srgbClr val="C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名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rgbClr val="C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学分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01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数据库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4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02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数据结构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4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03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编译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4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04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Python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2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5189220" y="2771140"/>
            <a:ext cx="31673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rgbClr val="1F2DA8"/>
                </a:solidFill>
              </a:rPr>
              <a:t>(c)  </a:t>
            </a:r>
            <a:r>
              <a:rPr lang="zh-CN" altLang="en-US" sz="2400" b="1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</a:rPr>
              <a:t>课程关系</a:t>
            </a:r>
            <a:endParaRPr lang="zh-CN" altLang="en-US" sz="2400">
              <a:solidFill>
                <a:srgbClr val="1F2DA8"/>
              </a:solidFill>
            </a:endParaRPr>
          </a:p>
        </p:txBody>
      </p:sp>
      <p:graphicFrame>
        <p:nvGraphicFramePr>
          <p:cNvPr id="12" name="表格 11"/>
          <p:cNvGraphicFramePr/>
          <p:nvPr>
            <p:custDataLst>
              <p:tags r:id="rId3"/>
            </p:custDataLst>
          </p:nvPr>
        </p:nvGraphicFramePr>
        <p:xfrm>
          <a:off x="8647430" y="3231515"/>
          <a:ext cx="311975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6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rgbClr val="C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学号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solidFill>
                            <a:srgbClr val="C00000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课程</a:t>
                      </a:r>
                      <a:r>
                        <a:rPr lang="zh-CN" altLang="en-US" sz="2400" b="1">
                          <a:solidFill>
                            <a:srgbClr val="C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号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rgbClr val="C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成绩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801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04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92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801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03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78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801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02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85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802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03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82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802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04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90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803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04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88</a:t>
                      </a:r>
                    </a:p>
                  </a:txBody>
                  <a:tcPr marL="36195" marR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8646795" y="2771140"/>
            <a:ext cx="31197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rgbClr val="1F2DA8"/>
                </a:solidFill>
              </a:rPr>
              <a:t>(d)  </a:t>
            </a:r>
            <a:r>
              <a:rPr lang="zh-CN" altLang="en-US" sz="2400" b="1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</a:rPr>
              <a:t>选修关系</a:t>
            </a:r>
            <a:endParaRPr lang="zh-CN" altLang="en-US" sz="2400">
              <a:solidFill>
                <a:srgbClr val="1F2DA8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2.3.2  </a:t>
            </a:r>
            <a:r>
              <a:rPr lang="zh-CN" altLang="en-US" dirty="0">
                <a:sym typeface="+mn-ea"/>
              </a:rPr>
              <a:t>参照完整性</a:t>
            </a:r>
            <a:r>
              <a:rPr lang="en-US" altLang="zh-CN" dirty="0">
                <a:sym typeface="+mn-ea"/>
              </a:rPr>
              <a:t> - </a:t>
            </a:r>
            <a:r>
              <a:rPr lang="zh-CN" altLang="en-US" dirty="0"/>
              <a:t>参照完整性规则 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3</a:t>
            </a:r>
            <a:r>
              <a:rPr lang="zh-CN" altLang="en-US" dirty="0"/>
              <a:t>中，学生（学号，姓名，性别，专业号，年龄，班长学号）</a:t>
            </a:r>
          </a:p>
          <a:p>
            <a:pPr lvl="1" fontAlgn="auto">
              <a:lnSpc>
                <a:spcPct val="110000"/>
              </a:lnSpc>
              <a:spcBef>
                <a:spcPts val="600"/>
              </a:spcBef>
            </a:pPr>
            <a:r>
              <a:rPr lang="zh-CN" altLang="en-US" dirty="0"/>
              <a:t>这是学生</a:t>
            </a:r>
            <a:r>
              <a:rPr lang="zh-CN" altLang="en-US" dirty="0">
                <a:solidFill>
                  <a:srgbClr val="C00000"/>
                </a:solidFill>
              </a:rPr>
              <a:t>关系内部的引用</a:t>
            </a:r>
            <a:r>
              <a:rPr lang="zh-CN" altLang="en-US" dirty="0"/>
              <a:t>，外码“班长学号”属性值可以取两类值：</a:t>
            </a:r>
          </a:p>
          <a:p>
            <a:pPr lvl="2" fontAlgn="auto">
              <a:lnSpc>
                <a:spcPct val="110000"/>
              </a:lnSpc>
              <a:spcBef>
                <a:spcPts val="600"/>
              </a:spcBef>
            </a:pPr>
            <a:r>
              <a:rPr lang="zh-CN" altLang="en-US" dirty="0"/>
              <a:t>空值，表示该学生所在班级尚未选出班长（或者还没有分班）</a:t>
            </a:r>
          </a:p>
          <a:p>
            <a:pPr lvl="2" fontAlgn="auto">
              <a:lnSpc>
                <a:spcPct val="110000"/>
              </a:lnSpc>
              <a:spcBef>
                <a:spcPts val="600"/>
              </a:spcBef>
            </a:pPr>
            <a:r>
              <a:rPr lang="zh-CN" altLang="en-US" dirty="0"/>
              <a:t>非空值，该值必须是</a:t>
            </a:r>
            <a:r>
              <a:rPr lang="zh-CN" altLang="en-US" dirty="0">
                <a:solidFill>
                  <a:srgbClr val="C00000"/>
                </a:solidFill>
              </a:rPr>
              <a:t>本关系中</a:t>
            </a:r>
            <a:r>
              <a:rPr lang="zh-CN" altLang="en-US" dirty="0"/>
              <a:t>某个元组的学号值</a:t>
            </a: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1767840" y="3576955"/>
          <a:ext cx="9151620" cy="281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2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2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2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2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2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0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C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学号</a:t>
                      </a:r>
                    </a:p>
                  </a:txBody>
                  <a:tcPr marT="0" marB="0" anchor="ctr">
                    <a:lnL>
                      <a:noFill/>
                    </a:lnL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C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姓名</a:t>
                      </a:r>
                    </a:p>
                  </a:txBody>
                  <a:tcPr marT="0" marB="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C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性别</a:t>
                      </a:r>
                    </a:p>
                  </a:txBody>
                  <a:tcPr marT="0" marB="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C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专业号</a:t>
                      </a:r>
                    </a:p>
                  </a:txBody>
                  <a:tcPr marT="0" marB="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C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年龄</a:t>
                      </a:r>
                    </a:p>
                  </a:txBody>
                  <a:tcPr marT="0" marB="0" anchor="ctr"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C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班长学号</a:t>
                      </a: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801</a:t>
                      </a:r>
                    </a:p>
                  </a:txBody>
                  <a:tcPr marT="0" marB="0" anchor="ctr">
                    <a:lnL>
                      <a:noFill/>
                    </a:lnL>
                    <a:lnT w="12700" cmpd="sng">
                      <a:solidFill>
                        <a:schemeClr val="tx1"/>
                      </a:solidFill>
                      <a:prstDash val="soli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张君</a:t>
                      </a:r>
                    </a:p>
                  </a:txBody>
                  <a:tcPr marT="0" marB="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女</a:t>
                      </a:r>
                    </a:p>
                  </a:txBody>
                  <a:tcPr marT="0" marB="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01</a:t>
                      </a:r>
                    </a:p>
                  </a:txBody>
                  <a:tcPr marT="0" marB="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19</a:t>
                      </a:r>
                    </a:p>
                  </a:txBody>
                  <a:tcPr marT="0" marB="0" anchor="ctr"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802</a:t>
                      </a: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802</a:t>
                      </a:r>
                    </a:p>
                  </a:txBody>
                  <a:tcPr marT="0" marB="0" anchor="ctr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李明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男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01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20</a:t>
                      </a:r>
                    </a:p>
                  </a:txBody>
                  <a:tcPr marT="0" marB="0" anchor="ctr"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800" b="1">
                        <a:solidFill>
                          <a:srgbClr val="1F2DA8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803</a:t>
                      </a:r>
                    </a:p>
                  </a:txBody>
                  <a:tcPr marT="0" marB="0" anchor="ctr"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王强</a:t>
                      </a:r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男</a:t>
                      </a:r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01</a:t>
                      </a:r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20</a:t>
                      </a:r>
                    </a:p>
                  </a:txBody>
                  <a:tcPr marT="0" marB="0" anchor="ctr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802</a:t>
                      </a: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804</a:t>
                      </a:r>
                    </a:p>
                  </a:txBody>
                  <a:tcPr marT="0" marB="0" anchor="ctr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赵蕾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女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02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20</a:t>
                      </a:r>
                    </a:p>
                  </a:txBody>
                  <a:tcPr marT="0" marB="0" anchor="ctr"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805</a:t>
                      </a: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805</a:t>
                      </a:r>
                    </a:p>
                  </a:txBody>
                  <a:tcPr marT="0" marB="0" anchor="ctr">
                    <a:lnL>
                      <a:noFill/>
                    </a:lnL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钱虎</a:t>
                      </a:r>
                    </a:p>
                  </a:txBody>
                  <a:tcPr marT="0" marB="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男</a:t>
                      </a:r>
                    </a:p>
                  </a:txBody>
                  <a:tcPr marT="0" marB="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02</a:t>
                      </a:r>
                    </a:p>
                  </a:txBody>
                  <a:tcPr marT="0" marB="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rgbClr val="1F2DA8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19</a:t>
                      </a:r>
                    </a:p>
                  </a:txBody>
                  <a:tcPr marT="0" marB="0" anchor="ctr">
                    <a:lnR>
                      <a:noFill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800" b="1">
                        <a:solidFill>
                          <a:srgbClr val="1F2DA8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767840" y="3116580"/>
            <a:ext cx="86556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rgbClr val="1F2DA8"/>
                </a:solidFill>
              </a:rPr>
              <a:t>(e)  </a:t>
            </a:r>
            <a:r>
              <a:rPr lang="zh-CN" altLang="en-US" sz="2400" b="1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</a:rPr>
              <a:t>加入班长外码后的学生关系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9610725" y="4549140"/>
            <a:ext cx="805180" cy="1833245"/>
            <a:chOff x="14706" y="7164"/>
            <a:chExt cx="1268" cy="2887"/>
          </a:xfrm>
        </p:grpSpPr>
        <p:sp>
          <p:nvSpPr>
            <p:cNvPr id="6" name="文本框 5"/>
            <p:cNvSpPr txBox="1"/>
            <p:nvPr/>
          </p:nvSpPr>
          <p:spPr>
            <a:xfrm>
              <a:off x="14706" y="7164"/>
              <a:ext cx="1268" cy="678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r>
                <a:rPr lang="en-US" altLang="zh-CN" sz="2800" b="1">
                  <a:solidFill>
                    <a:srgbClr val="C00000"/>
                  </a:solidFill>
                  <a:latin typeface="楷体" panose="02010609060101010101" charset="-122"/>
                  <a:ea typeface="楷体" panose="02010609060101010101" charset="-122"/>
                </a:rPr>
                <a:t>802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4706" y="9373"/>
              <a:ext cx="1268" cy="678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r>
                <a:rPr lang="en-US" altLang="zh-CN" sz="2800" b="1">
                  <a:solidFill>
                    <a:srgbClr val="C00000"/>
                  </a:solidFill>
                  <a:latin typeface="楷体" panose="02010609060101010101" charset="-122"/>
                  <a:ea typeface="楷体" panose="02010609060101010101" charset="-122"/>
                </a:rPr>
                <a:t>805</a:t>
              </a:r>
            </a:p>
          </p:txBody>
        </p: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2.3.3  </a:t>
            </a:r>
            <a:r>
              <a:rPr lang="zh-CN" altLang="en-US" dirty="0"/>
              <a:t>用户定义的完整性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针对某一具体关系数据库的约束条件，反映某一具体应用所涉及的数据必须满足的语义要求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关系模型应</a:t>
            </a:r>
            <a:r>
              <a:rPr lang="zh-CN" altLang="en-US" dirty="0">
                <a:solidFill>
                  <a:srgbClr val="C00000"/>
                </a:solidFill>
              </a:rPr>
              <a:t>提供定义和检验这类完整性约束的机制</a:t>
            </a:r>
            <a:r>
              <a:rPr lang="zh-CN" altLang="en-US" dirty="0"/>
              <a:t>，以便用统一的系统的方法处理它们，而不是由应用程序来承担这一功能。</a:t>
            </a:r>
            <a:endParaRPr lang="en-US" altLang="zh-CN" dirty="0"/>
          </a:p>
          <a:p>
            <a:pPr>
              <a:lnSpc>
                <a:spcPct val="100000"/>
              </a:lnSpc>
              <a:spcBef>
                <a:spcPts val="3000"/>
              </a:spcBef>
            </a:pPr>
            <a:r>
              <a:rPr lang="zh-CN" altLang="en-US" dirty="0"/>
              <a:t>例：</a:t>
            </a:r>
            <a:r>
              <a:rPr lang="zh-CN" altLang="en-US" dirty="0">
                <a:highlight>
                  <a:srgbClr val="FFFF00"/>
                </a:highlight>
              </a:rPr>
              <a:t>课程（课程号，课程名，学分）</a:t>
            </a:r>
            <a:endParaRPr lang="en-US" altLang="zh-CN" dirty="0"/>
          </a:p>
          <a:p>
            <a:pPr marL="457200" lvl="1" indent="0" algn="just" eaLnBrk="1" hangingPunct="1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dirty="0"/>
              <a:t>在课程关系中，可以定义以下的用户定义的完整性约束：</a:t>
            </a:r>
            <a:endParaRPr lang="en-US" altLang="zh-CN" dirty="0"/>
          </a:p>
          <a:p>
            <a:pPr lvl="1" algn="just" eaLnBrk="1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1F2DA8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“</a:t>
            </a:r>
            <a:r>
              <a:rPr lang="zh-CN" altLang="en-US">
                <a:solidFill>
                  <a:srgbClr val="1F2DA8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课程号</a:t>
            </a:r>
            <a:r>
              <a:rPr lang="en-US" altLang="zh-CN">
                <a:solidFill>
                  <a:srgbClr val="1F2DA8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”</a:t>
            </a:r>
            <a:r>
              <a:rPr lang="zh-CN" altLang="en-US" dirty="0">
                <a:solidFill>
                  <a:srgbClr val="1F2DA8"/>
                </a:solidFill>
              </a:rPr>
              <a:t>属性值的</a:t>
            </a:r>
            <a:r>
              <a:rPr lang="zh-CN" altLang="en-US" dirty="0">
                <a:solidFill>
                  <a:srgbClr val="C00000"/>
                </a:solidFill>
              </a:rPr>
              <a:t>唯一性约束</a:t>
            </a:r>
            <a:r>
              <a:rPr lang="zh-CN" altLang="en-US" dirty="0">
                <a:solidFill>
                  <a:srgbClr val="1F2DA8"/>
                </a:solidFill>
              </a:rPr>
              <a:t>（除了主码</a:t>
            </a:r>
            <a:r>
              <a:rPr lang="en-US" altLang="zh-CN" dirty="0">
                <a:solidFill>
                  <a:srgbClr val="1F2DA8"/>
                </a:solidFill>
              </a:rPr>
              <a:t>,</a:t>
            </a:r>
            <a:r>
              <a:rPr lang="zh-CN" altLang="en-US" dirty="0">
                <a:solidFill>
                  <a:srgbClr val="1F2DA8"/>
                </a:solidFill>
              </a:rPr>
              <a:t>其他候选码的定义方式）</a:t>
            </a:r>
            <a:endParaRPr lang="zh-CN" altLang="en-US" dirty="0"/>
          </a:p>
          <a:p>
            <a:pPr lvl="2" algn="just" eaLnBrk="1" hangingPunct="1">
              <a:lnSpc>
                <a:spcPct val="10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如果已经将</a:t>
            </a:r>
            <a:r>
              <a:rPr lang="en-US" altLang="zh-CN" dirty="0">
                <a:solidFill>
                  <a:schemeClr val="tx1"/>
                </a:solidFill>
              </a:rPr>
              <a:t>‘</a:t>
            </a:r>
            <a:r>
              <a:rPr lang="zh-CN" altLang="en-US" dirty="0">
                <a:solidFill>
                  <a:schemeClr val="tx1"/>
                </a:solidFill>
              </a:rPr>
              <a:t>课程号</a:t>
            </a:r>
            <a:r>
              <a:rPr lang="en-US" altLang="zh-CN" dirty="0">
                <a:solidFill>
                  <a:schemeClr val="tx1"/>
                </a:solidFill>
              </a:rPr>
              <a:t>’</a:t>
            </a:r>
            <a:r>
              <a:rPr lang="zh-CN" altLang="en-US" dirty="0">
                <a:solidFill>
                  <a:schemeClr val="tx1"/>
                </a:solidFill>
              </a:rPr>
              <a:t>定义为课程关系的主码，就不需要再定义该属性上的唯一性约束</a:t>
            </a:r>
          </a:p>
          <a:p>
            <a:pPr lvl="1" algn="just" eaLnBrk="1" hangingPunct="1">
              <a:lnSpc>
                <a:spcPct val="100000"/>
              </a:lnSpc>
              <a:spcBef>
                <a:spcPts val="1000"/>
              </a:spcBef>
            </a:pPr>
            <a:r>
              <a:rPr lang="zh-CN" altLang="en-US" dirty="0"/>
              <a:t>非主属性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“</a:t>
            </a:r>
            <a:r>
              <a:rPr lang="zh-CN" altLang="en-US" dirty="0">
                <a:latin typeface="Times New Roman" panose="02020603050405020304" pitchFamily="2" charset="0"/>
                <a:cs typeface="Times New Roman" panose="02020603050405020304" pitchFamily="2" charset="0"/>
              </a:rPr>
              <a:t>课程名</a:t>
            </a:r>
            <a:r>
              <a:rPr lang="en-US" altLang="zh-CN" dirty="0">
                <a:latin typeface="Times New Roman" panose="02020603050405020304" pitchFamily="2" charset="0"/>
                <a:cs typeface="Times New Roman" panose="02020603050405020304" pitchFamily="2" charset="0"/>
              </a:rPr>
              <a:t>”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非空约束</a:t>
            </a:r>
            <a:r>
              <a:rPr lang="zh-CN" altLang="en-US" dirty="0">
                <a:solidFill>
                  <a:schemeClr val="tx1"/>
                </a:solidFill>
              </a:rPr>
              <a:t>（不能取空值）</a:t>
            </a:r>
            <a:endParaRPr lang="zh-CN" altLang="en-US" dirty="0"/>
          </a:p>
          <a:p>
            <a:pPr lvl="1" algn="just" eaLnBrk="1" hangingPunct="1">
              <a:lnSpc>
                <a:spcPct val="100000"/>
              </a:lnSpc>
              <a:spcBef>
                <a:spcPts val="1000"/>
              </a:spcBef>
            </a:pPr>
            <a:r>
              <a:rPr lang="en-US" altLang="zh-CN" dirty="0">
                <a:solidFill>
                  <a:srgbClr val="C00000"/>
                </a:solidFill>
              </a:rPr>
              <a:t>取值范围约束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chemeClr val="tx1"/>
                </a:solidFill>
              </a:rPr>
              <a:t>“学分”属性只能取值</a:t>
            </a:r>
            <a:r>
              <a:rPr lang="en-US" altLang="zh-CN" dirty="0">
                <a:solidFill>
                  <a:schemeClr val="tx1"/>
                </a:solidFill>
              </a:rPr>
              <a:t>{1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4}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数据完整性约束（示例）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491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zh-CN" altLang="en-US" sz="2800" dirty="0"/>
                  <a:t>学生</a:t>
                </a:r>
                <a:r>
                  <a:rPr lang="en-US" altLang="zh-CN" sz="2800" dirty="0"/>
                  <a:t>(</a:t>
                </a:r>
                <a:r>
                  <a:rPr lang="zh-CN" altLang="en-US" sz="2800" dirty="0"/>
                  <a:t>学号</a:t>
                </a:r>
                <a:r>
                  <a:rPr lang="en-US" altLang="zh-CN" sz="2800" dirty="0"/>
                  <a:t>,</a:t>
                </a:r>
                <a:r>
                  <a:rPr lang="zh-CN" altLang="en-US" sz="2800" dirty="0"/>
                  <a:t>姓名</a:t>
                </a:r>
                <a:r>
                  <a:rPr lang="en-US" altLang="zh-CN" sz="2800" dirty="0"/>
                  <a:t>,</a:t>
                </a:r>
                <a:r>
                  <a:rPr lang="zh-CN" altLang="en-US" sz="2800" dirty="0"/>
                  <a:t>性别</a:t>
                </a:r>
                <a:r>
                  <a:rPr lang="en-US" altLang="zh-CN" sz="2800" dirty="0"/>
                  <a:t>,</a:t>
                </a:r>
                <a:r>
                  <a:rPr lang="zh-CN" altLang="en-US" sz="2800" dirty="0"/>
                  <a:t>身份证号</a:t>
                </a:r>
                <a:r>
                  <a:rPr lang="en-US" altLang="zh-CN" sz="2800" dirty="0"/>
                  <a:t>,</a:t>
                </a:r>
                <a:r>
                  <a:rPr lang="zh-CN" altLang="en-US" sz="2800" dirty="0"/>
                  <a:t>院系代码</a:t>
                </a:r>
                <a:r>
                  <a:rPr lang="en-US" altLang="zh-CN" sz="2800" dirty="0"/>
                  <a:t>,</a:t>
                </a:r>
                <a:r>
                  <a:rPr lang="zh-CN" altLang="en-US" sz="2800" dirty="0"/>
                  <a:t>专业代码</a:t>
                </a:r>
                <a:r>
                  <a:rPr lang="en-US" altLang="zh-CN" sz="2800" dirty="0"/>
                  <a:t>,</a:t>
                </a:r>
                <a:r>
                  <a:rPr lang="zh-CN" altLang="en-US" sz="2800" dirty="0"/>
                  <a:t>录取大类代码</a:t>
                </a:r>
                <a:r>
                  <a:rPr lang="en-US" altLang="zh-CN" sz="2800" dirty="0"/>
                  <a:t>)</a:t>
                </a:r>
                <a:endParaRPr lang="zh-CN" altLang="en-US" sz="280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2800" dirty="0">
                    <a:solidFill>
                      <a:srgbClr val="1F2DA8"/>
                    </a:solidFill>
                    <a:highlight>
                      <a:srgbClr val="FFFF00"/>
                    </a:highlight>
                  </a:rPr>
                  <a:t>（实体完整性）</a:t>
                </a:r>
                <a:r>
                  <a:rPr lang="zh-CN" altLang="en-US" sz="2800" dirty="0">
                    <a:solidFill>
                      <a:srgbClr val="FF0000"/>
                    </a:solidFill>
                  </a:rPr>
                  <a:t>主码</a:t>
                </a:r>
                <a:r>
                  <a:rPr lang="zh-CN" altLang="en-US" sz="2800" dirty="0">
                    <a:solidFill>
                      <a:srgbClr val="1F2DA8"/>
                    </a:solidFill>
                  </a:rPr>
                  <a:t>：</a:t>
                </a:r>
                <a:r>
                  <a:rPr lang="zh-CN" altLang="en-US" sz="2800" dirty="0"/>
                  <a:t>学号</a:t>
                </a:r>
              </a:p>
              <a:p>
                <a:pPr>
                  <a:lnSpc>
                    <a:spcPct val="100000"/>
                  </a:lnSpc>
                </a:pPr>
                <a:r>
                  <a:rPr lang="zh-CN" altLang="en-US" sz="2800" dirty="0">
                    <a:highlight>
                      <a:srgbClr val="FFFF00"/>
                    </a:highlight>
                  </a:rPr>
                  <a:t>（参照完整性）</a:t>
                </a:r>
                <a:r>
                  <a:rPr lang="en-US" altLang="zh-CN" sz="2800" dirty="0">
                    <a:solidFill>
                      <a:srgbClr val="1F2DA8"/>
                    </a:solidFill>
                  </a:rPr>
                  <a:t>3</a:t>
                </a:r>
                <a:r>
                  <a:rPr lang="zh-CN" altLang="en-US" sz="2800" dirty="0">
                    <a:solidFill>
                      <a:srgbClr val="1F2DA8"/>
                    </a:solidFill>
                  </a:rPr>
                  <a:t>个</a:t>
                </a:r>
                <a:r>
                  <a:rPr lang="zh-CN" altLang="en-US" sz="2800" dirty="0">
                    <a:solidFill>
                      <a:srgbClr val="FF0000"/>
                    </a:solidFill>
                  </a:rPr>
                  <a:t>外码</a:t>
                </a:r>
                <a:r>
                  <a:rPr lang="zh-CN" altLang="en-US" sz="2800" dirty="0"/>
                  <a:t>：院系代码，专业代码，录取大类代码</a:t>
                </a:r>
                <a:endParaRPr lang="en-US" altLang="zh-CN" sz="280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2800" dirty="0">
                    <a:highlight>
                      <a:srgbClr val="FFFF00"/>
                    </a:highlight>
                  </a:rPr>
                  <a:t>（用户定义的完整性）</a:t>
                </a:r>
                <a:endParaRPr lang="en-US" altLang="zh-CN" sz="2800" dirty="0"/>
              </a:p>
              <a:p>
                <a:pPr lvl="1" algn="just" fontAlgn="auto">
                  <a:lnSpc>
                    <a:spcPct val="100000"/>
                  </a:lnSpc>
                  <a:spcBef>
                    <a:spcPts val="1000"/>
                  </a:spcBef>
                </a:pPr>
                <a:r>
                  <a:rPr lang="zh-CN" altLang="en-US" sz="2800" dirty="0">
                    <a:solidFill>
                      <a:srgbClr val="FF0000"/>
                    </a:solidFill>
                  </a:rPr>
                  <a:t>唯一性约束</a:t>
                </a:r>
                <a:r>
                  <a:rPr lang="zh-CN" altLang="en-US" sz="2800" dirty="0"/>
                  <a:t>：身份证号</a:t>
                </a:r>
              </a:p>
              <a:p>
                <a:pPr lvl="1" algn="just" fontAlgn="auto">
                  <a:lnSpc>
                    <a:spcPct val="100000"/>
                  </a:lnSpc>
                  <a:spcBef>
                    <a:spcPts val="1000"/>
                  </a:spcBef>
                </a:pPr>
                <a:r>
                  <a:rPr lang="zh-CN" altLang="en-US" sz="2800" dirty="0">
                    <a:solidFill>
                      <a:srgbClr val="FF0000"/>
                    </a:solidFill>
                  </a:rPr>
                  <a:t>非空约束</a:t>
                </a:r>
                <a:endParaRPr lang="zh-CN" altLang="en-US" sz="2800" dirty="0"/>
              </a:p>
              <a:p>
                <a:pPr lvl="2" algn="just" eaLnBrk="1" hangingPunct="1">
                  <a:lnSpc>
                    <a:spcPct val="100000"/>
                  </a:lnSpc>
                </a:pPr>
                <a:r>
                  <a:rPr lang="zh-CN" altLang="en-US" sz="2800" dirty="0"/>
                  <a:t>主属性：身份证号</a:t>
                </a:r>
                <a:endParaRPr lang="en-US" altLang="zh-CN" sz="2800" dirty="0"/>
              </a:p>
              <a:p>
                <a:pPr lvl="2" algn="just" eaLnBrk="1" hangingPunct="1">
                  <a:lnSpc>
                    <a:spcPct val="100000"/>
                  </a:lnSpc>
                </a:pPr>
                <a:r>
                  <a:rPr lang="zh-CN" altLang="en-US" sz="2800" dirty="0"/>
                  <a:t>非主属性：姓名，性别，录取大类代码</a:t>
                </a:r>
              </a:p>
              <a:p>
                <a:pPr lvl="2" algn="just" eaLnBrk="1" hangingPunct="1">
                  <a:lnSpc>
                    <a:spcPct val="100000"/>
                  </a:lnSpc>
                </a:pPr>
                <a:r>
                  <a:rPr lang="zh-CN" altLang="en-US" dirty="0">
                    <a:sym typeface="+mn-ea"/>
                  </a:rPr>
                  <a:t>主码属性自带非空约束，其他属性（没有定义非空约束的院系代码和专业代码）允许取空值</a:t>
                </a:r>
              </a:p>
              <a:p>
                <a:pPr lvl="1" algn="just" fontAlgn="auto">
                  <a:lnSpc>
                    <a:spcPct val="100000"/>
                  </a:lnSpc>
                  <a:spcBef>
                    <a:spcPts val="1000"/>
                  </a:spcBef>
                </a:pP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2" charset="0"/>
                    <a:cs typeface="Times New Roman" panose="02020603050405020304" pitchFamily="2" charset="0"/>
                    <a:sym typeface="+mn-ea"/>
                  </a:rPr>
                  <a:t>取值范围约束</a:t>
                </a:r>
                <a:endParaRPr lang="zh-CN" altLang="en-US" dirty="0">
                  <a:sym typeface="+mn-ea"/>
                </a:endParaRPr>
              </a:p>
              <a:p>
                <a:pPr lvl="2" algn="just" eaLnBrk="1" hangingPunct="1">
                  <a:lnSpc>
                    <a:spcPct val="100000"/>
                  </a:lnSpc>
                </a:pP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  <a:sym typeface="+mn-ea"/>
                  </a:rPr>
                  <a:t>‘</a:t>
                </a:r>
                <a:r>
                  <a:rPr lang="zh-CN" altLang="en-US" dirty="0">
                    <a:latin typeface="Times New Roman" panose="02020603050405020304" pitchFamily="2" charset="0"/>
                    <a:cs typeface="Times New Roman" panose="02020603050405020304" pitchFamily="2" charset="0"/>
                    <a:sym typeface="+mn-ea"/>
                  </a:rPr>
                  <a:t>性别</a:t>
                </a:r>
                <a:r>
                  <a:rPr lang="en-US" altLang="zh-CN" dirty="0">
                    <a:latin typeface="Times New Roman" panose="02020603050405020304" pitchFamily="2" charset="0"/>
                    <a:cs typeface="Times New Roman" panose="02020603050405020304" pitchFamily="2" charset="0"/>
                    <a:sym typeface="+mn-ea"/>
                  </a:rPr>
                  <a:t>’</a:t>
                </a:r>
                <a:r>
                  <a:rPr lang="zh-CN" altLang="en-US" dirty="0">
                    <a:sym typeface="+mn-ea"/>
                  </a:rPr>
                  <a:t>属性的取值范围是</a:t>
                </a:r>
                <a:r>
                  <a:rPr lang="en-US" altLang="zh-CN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charset="0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 </m:t>
                        </m:r>
                        <m:r>
                          <a:rPr lang="zh-CN" altLang="en-US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男</m:t>
                        </m:r>
                        <m:r>
                          <a:rPr lang="en-US" altLang="zh-CN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，</m:t>
                        </m:r>
                        <m:r>
                          <a:rPr lang="zh-CN" altLang="en-US" i="1" dirty="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  <a:sym typeface="+mn-ea"/>
                          </a:rPr>
                          <m:t>女</m:t>
                        </m:r>
                        <m:r>
                          <a:rPr lang="en-US" altLang="zh-CN" i="1" dirty="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  <a:sym typeface="+mn-ea"/>
                          </a:rPr>
                          <m:t> </m:t>
                        </m:r>
                      </m:e>
                    </m:d>
                  </m:oMath>
                </a14:m>
                <a:endParaRPr lang="zh-CN" altLang="en-US" dirty="0">
                  <a:sym typeface="+mn-ea"/>
                </a:endParaRPr>
              </a:p>
            </p:txBody>
          </p:sp>
        </mc:Choice>
        <mc:Fallback xmlns="">
          <p:sp>
            <p:nvSpPr>
              <p:cNvPr id="63491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3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3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关</a:t>
            </a:r>
            <a:r>
              <a:rPr lang="zh-CN" altLang="en-US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系数据库系统是目前使用最广泛的数据库系统，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关系模型、基于关系模型的关系数据库系统</a:t>
            </a:r>
            <a:r>
              <a:rPr lang="zh-CN" altLang="en-US">
                <a:latin typeface="Times New Roman" panose="02020603050405020304" pitchFamily="2" charset="0"/>
                <a:cs typeface="Times New Roman" panose="02020603050405020304" pitchFamily="2" charset="0"/>
              </a:rPr>
              <a:t>是本门课程的重点。</a:t>
            </a:r>
          </a:p>
          <a:p>
            <a:r>
              <a:rPr lang="zh-CN" altLang="en-US">
                <a:latin typeface="Times New Roman" panose="02020603050405020304" pitchFamily="2" charset="0"/>
                <a:cs typeface="Times New Roman" panose="02020603050405020304" pitchFamily="2" charset="0"/>
              </a:rPr>
              <a:t>关系数据库系统与其他非关系数据库系统的区别，就是关系数据库系统只有</a:t>
            </a:r>
            <a:r>
              <a:rPr lang="en-US" altLang="zh-CN">
                <a:latin typeface="Times New Roman" panose="02020603050405020304" pitchFamily="2" charset="0"/>
                <a:cs typeface="Times New Roman" panose="02020603050405020304" pitchFamily="2" charset="0"/>
              </a:rPr>
              <a:t>‘</a:t>
            </a:r>
            <a:r>
              <a:rPr lang="zh-CN" altLang="en-US">
                <a:latin typeface="Times New Roman" panose="02020603050405020304" pitchFamily="2" charset="0"/>
                <a:cs typeface="Times New Roman" panose="02020603050405020304" pitchFamily="2" charset="0"/>
              </a:rPr>
              <a:t>关系</a:t>
            </a:r>
            <a:r>
              <a:rPr lang="en-US" altLang="zh-CN">
                <a:latin typeface="Times New Roman" panose="02020603050405020304" pitchFamily="2" charset="0"/>
                <a:cs typeface="Times New Roman" panose="02020603050405020304" pitchFamily="2" charset="0"/>
              </a:rPr>
              <a:t>’</a:t>
            </a:r>
            <a:r>
              <a:rPr lang="zh-CN" altLang="en-US">
                <a:latin typeface="Times New Roman" panose="02020603050405020304" pitchFamily="2" charset="0"/>
                <a:cs typeface="Times New Roman" panose="02020603050405020304" pitchFamily="2" charset="0"/>
              </a:rPr>
              <a:t>（或</a:t>
            </a:r>
            <a:r>
              <a:rPr lang="en-US" altLang="zh-CN">
                <a:latin typeface="Times New Roman" panose="02020603050405020304" pitchFamily="2" charset="0"/>
                <a:cs typeface="Times New Roman" panose="02020603050405020304" pitchFamily="2" charset="0"/>
              </a:rPr>
              <a:t>‘</a:t>
            </a:r>
            <a:r>
              <a:rPr lang="zh-CN" altLang="en-US">
                <a:latin typeface="Times New Roman" panose="02020603050405020304" pitchFamily="2" charset="0"/>
                <a:cs typeface="Times New Roman" panose="02020603050405020304" pitchFamily="2" charset="0"/>
              </a:rPr>
              <a:t>表</a:t>
            </a:r>
            <a:r>
              <a:rPr lang="en-US" altLang="zh-CN">
                <a:latin typeface="Times New Roman" panose="02020603050405020304" pitchFamily="2" charset="0"/>
                <a:cs typeface="Times New Roman" panose="02020603050405020304" pitchFamily="2" charset="0"/>
              </a:rPr>
              <a:t>’</a:t>
            </a:r>
            <a:r>
              <a:rPr lang="zh-CN" altLang="en-US">
                <a:latin typeface="Times New Roman" panose="02020603050405020304" pitchFamily="2" charset="0"/>
                <a:cs typeface="Times New Roman" panose="02020603050405020304" pitchFamily="2" charset="0"/>
              </a:rPr>
              <a:t>、</a:t>
            </a:r>
            <a:r>
              <a:rPr lang="en-US" altLang="zh-CN">
                <a:latin typeface="Times New Roman" panose="02020603050405020304" pitchFamily="2" charset="0"/>
                <a:cs typeface="Times New Roman" panose="02020603050405020304" pitchFamily="2" charset="0"/>
              </a:rPr>
              <a:t>‘</a:t>
            </a:r>
            <a:r>
              <a:rPr lang="zh-CN" altLang="en-US">
                <a:latin typeface="Times New Roman" panose="02020603050405020304" pitchFamily="2" charset="0"/>
                <a:cs typeface="Times New Roman" panose="02020603050405020304" pitchFamily="2" charset="0"/>
              </a:rPr>
              <a:t>二维表</a:t>
            </a:r>
            <a:r>
              <a:rPr lang="en-US" altLang="zh-CN">
                <a:latin typeface="Times New Roman" panose="02020603050405020304" pitchFamily="2" charset="0"/>
                <a:cs typeface="Times New Roman" panose="02020603050405020304" pitchFamily="2" charset="0"/>
              </a:rPr>
              <a:t>’</a:t>
            </a:r>
            <a:r>
              <a:rPr lang="zh-CN" altLang="en-US">
                <a:latin typeface="Times New Roman" panose="02020603050405020304" pitchFamily="2" charset="0"/>
                <a:cs typeface="Times New Roman" panose="02020603050405020304" pitchFamily="2" charset="0"/>
              </a:rPr>
              <a:t>）这一种数据结构。</a:t>
            </a:r>
          </a:p>
          <a:p>
            <a:r>
              <a:rPr lang="zh-CN" altLang="en-US">
                <a:latin typeface="Times New Roman" panose="02020603050405020304" pitchFamily="2" charset="0"/>
                <a:cs typeface="Times New Roman" panose="02020603050405020304" pitchFamily="2" charset="0"/>
              </a:rPr>
              <a:t>数据模型是区分不同类型数据库管理系统的依据。要学习关系数据库，首先要学懂弄通什么是关系数据模型。</a:t>
            </a:r>
          </a:p>
          <a:p>
            <a:r>
              <a:rPr lang="zh-CN" altLang="en-US">
                <a:latin typeface="Times New Roman" panose="02020603050405020304" pitchFamily="2" charset="0"/>
                <a:cs typeface="Times New Roman" panose="02020603050405020304" pitchFamily="2" charset="0"/>
              </a:rPr>
              <a:t>本课件重点讲解关系模型的基本概念，核心知识点包括：</a:t>
            </a:r>
          </a:p>
          <a:p>
            <a:pPr lvl="1"/>
            <a:r>
              <a:rPr lang="zh-CN" altLang="en-US">
                <a:latin typeface="Times New Roman" panose="02020603050405020304" pitchFamily="2" charset="0"/>
                <a:cs typeface="Times New Roman" panose="02020603050405020304" pitchFamily="2" charset="0"/>
              </a:rPr>
              <a:t>关系模型的数据结构、关系操作、关系的完整性</a:t>
            </a:r>
          </a:p>
          <a:p>
            <a:pPr lvl="1"/>
            <a:r>
              <a:rPr lang="zh-CN" altLang="en-US">
                <a:latin typeface="Times New Roman" panose="02020603050405020304" pitchFamily="2" charset="0"/>
                <a:cs typeface="Times New Roman" panose="02020603050405020304" pitchFamily="2" charset="0"/>
              </a:rPr>
              <a:t>关系、关系模式、关系数据库</a:t>
            </a:r>
            <a:r>
              <a:rPr lang="en-US" altLang="zh-CN">
                <a:latin typeface="Times New Roman" panose="02020603050405020304" pitchFamily="2" charset="0"/>
                <a:cs typeface="Times New Roman" panose="02020603050405020304" pitchFamily="2" charset="0"/>
              </a:rPr>
              <a:t> </a:t>
            </a:r>
            <a:r>
              <a:rPr lang="zh-CN" altLang="en-US">
                <a:latin typeface="Times New Roman" panose="02020603050405020304" pitchFamily="2" charset="0"/>
                <a:cs typeface="Times New Roman" panose="02020603050405020304" pitchFamily="2" charset="0"/>
              </a:rPr>
              <a:t>以及三者之间的联系和区别</a:t>
            </a:r>
          </a:p>
          <a:p>
            <a:pPr lvl="1"/>
            <a:r>
              <a:rPr lang="en-US" altLang="zh-CN">
                <a:latin typeface="Times New Roman" panose="02020603050405020304" pitchFamily="2" charset="0"/>
                <a:cs typeface="Times New Roman" panose="02020603050405020304" pitchFamily="2" charset="0"/>
              </a:rPr>
              <a:t>‘</a:t>
            </a:r>
            <a:r>
              <a:rPr lang="zh-CN" altLang="en-US">
                <a:latin typeface="Times New Roman" panose="02020603050405020304" pitchFamily="2" charset="0"/>
                <a:cs typeface="Times New Roman" panose="02020603050405020304" pitchFamily="2" charset="0"/>
              </a:rPr>
              <a:t>关系</a:t>
            </a:r>
            <a:r>
              <a:rPr lang="en-US" altLang="zh-CN">
                <a:latin typeface="Times New Roman" panose="02020603050405020304" pitchFamily="2" charset="0"/>
                <a:cs typeface="Times New Roman" panose="02020603050405020304" pitchFamily="2" charset="0"/>
              </a:rPr>
              <a:t>’</a:t>
            </a:r>
            <a:r>
              <a:rPr lang="zh-CN" altLang="en-US">
                <a:latin typeface="Times New Roman" panose="02020603050405020304" pitchFamily="2" charset="0"/>
                <a:cs typeface="Times New Roman" panose="02020603050405020304" pitchFamily="2" charset="0"/>
              </a:rPr>
              <a:t>和</a:t>
            </a:r>
            <a:r>
              <a:rPr lang="en-US" altLang="zh-CN">
                <a:latin typeface="Times New Roman" panose="02020603050405020304" pitchFamily="2" charset="0"/>
                <a:cs typeface="Times New Roman" panose="02020603050405020304" pitchFamily="2" charset="0"/>
              </a:rPr>
              <a:t>‘</a:t>
            </a:r>
            <a:r>
              <a:rPr lang="zh-CN" altLang="en-US">
                <a:latin typeface="Times New Roman" panose="02020603050405020304" pitchFamily="2" charset="0"/>
                <a:cs typeface="Times New Roman" panose="02020603050405020304" pitchFamily="2" charset="0"/>
              </a:rPr>
              <a:t>二维表</a:t>
            </a:r>
            <a:r>
              <a:rPr lang="en-US" altLang="zh-CN">
                <a:latin typeface="Times New Roman" panose="02020603050405020304" pitchFamily="2" charset="0"/>
                <a:cs typeface="Times New Roman" panose="02020603050405020304" pitchFamily="2" charset="0"/>
              </a:rPr>
              <a:t>’</a:t>
            </a:r>
            <a:r>
              <a:rPr lang="zh-CN" altLang="en-US">
                <a:latin typeface="Times New Roman" panose="02020603050405020304" pitchFamily="2" charset="0"/>
                <a:cs typeface="Times New Roman" panose="02020603050405020304" pitchFamily="2" charset="0"/>
              </a:rPr>
              <a:t>（表）的联系和区别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ch02_1_关系数据模型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WRkNGY5NWUwYjYwZDI4YzQxYTk2ZjNkOGZiZGU1MDEifQ=="/>
  <p:tag name="RESOURCE_RECORD_KEY" val="{&quot;70&quot;:[3314500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ad3605a-7fa6-48da-89e8-6cb4c305379c}"/>
  <p:tag name="TABLE_ENDDRAG_ORIGIN_RECT" val="893*448"/>
  <p:tag name="TABLE_ENDDRAG_RECT" val="33*54*893*44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93*451"/>
  <p:tag name="TABLE_ENDDRAG_RECT" val="33*54*893*45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93*451"/>
  <p:tag name="TABLE_ENDDRAG_RECT" val="33*54*893*451"/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10*137"/>
  <p:tag name="TABLE_ENDDRAG_RECT" val="178*172*610*137"/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74*145"/>
  <p:tag name="TABLE_ENDDRAG_RECT" val="657*69*274*14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55*137"/>
  <p:tag name="TABLE_ENDDRAG_RECT" val="73*361*555*13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00*208"/>
  <p:tag name="TABLE_ENDDRAG_RECT" val="54*255*500*20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00*278"/>
  <p:tag name="TABLE_ENDDRAG_RECT" val="71*270*500*27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56*208"/>
  <p:tag name="TABLE_ENDDRAG_RECT" val="27*280*356*20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9*180"/>
  <p:tag name="TABLE_ENDDRAG_RECT" val="442*280*249*18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5*180"/>
  <p:tag name="TABLE_ENDDRAG_RECT" val="680*280*245*18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81*222"/>
  <p:tag name="TABLE_ENDDRAG_RECT" val="78*281*681*222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Q1YzWVZqaTIyNEhzd0VBQURjRUFBQU1BQUFBWkc5amRXMWxiblF1ZUcxc2ZaUnZiNkpBRU1iZlg5THZRSGlQTHNxL1dyeW1LVmZ2RXR1YWFLK3ZWeGhrS3V5U2RXbHJMdmZkdTJ6MUtxc2VKQVRtOTh3OHk4eENmUDFlbGRZcmlBMXlOcmJkSHJFdFlDblBrSzNHOXRQaXpvbnM2KzhYMytLRXAwMEZURnEvLzJsSkwrcTV0cVhJWVl6b3lLVEJiR3oveWFsUFFwOFE1eExvMHZIOGNPa3NReTl6OHNDRGtHUTU4WmJ3MTFiMUxYWEVNOEZyRUJKaHM0dm82RTBqK1pSdWVhTzhsWVBkUDRRTHJLQkVCcytZeVVKelFraFhja3ZMVWlXZkxURXYrTnRFOEtaK29CV2M0RW1OT3RvYitGMXdrMHA4aFY4c2cvZFdZTmpPVXdIQXZ0YmxENE5UZ3ArQXEwSXZLd3E4cm1CV1VwbHpVYlh3RFZrWDNxc1I1ZHYvU200RlVBblpiamlmemRFak8xWngwZUxreDNSNndnWGhETjBaSk9yU0NnWms0RGxrNkJEWGNyMlJkemthQkNlcm5Vbnd3NUZyOUhCR1Y3QnBsYlc2TVdyUldwVXo1aFgzajdaUVBLRk15c2RhcWhZYzVqOXpzVTdvVnVkZjdVOXlSVXlYRnk0V21LNWIzZEJneUw2WU9YeEpoZHkvcHNIdWtPR21PQU4xWXJ1cGRYK2l5TnpNbjhsN2dSOEdwdUNKb1R6OEdJeUpGWlN0UUsrOGF4NzNqL3VrM2w2czV3V0FiRlZ4Zi84TFVBOGZVRXNEQkJRQUFBQUlBR1dLVVZqYnJub0o2QThBQURRU0FBQUlBQUFBYlcwdVltdHBkMmsxbDRWMjhnelhiWEdYQWkzdUVZSVRBaUdCUUFqdUpUZ1VxVUlMTFZLaCtyeTk5Yi9mT09QY3doeDdyelhYbFFuMmUrek1lZGF4K2JoZm41UWo3MUVONG5lV3NubkNCMEZ0cGxDdCtHQlZ3QjluRzh6MzJzWGxFWWVqcEFaSDF0SDd1L0lxSFpHcnhORi9PQlowcy80Umd4T3IrRDQ5SDJTT2pVRlphVHNXSms5TzRrekN3WEYvZm5DYVRsZWZhaE1KSlFRc3o1WCtXcVBoZVdWamt6aFgyZDRSU0laRDE4bXZxSG00MEhvYm05RzRtVUtIMGxlNGNJVXBqYjVTNUQxWEZ6akJxUlZVWERYcFRpd2JGQVJQelNMSXVOL2QwRENRNWJwVSs0ZDYyRjd3eXdJSnpXT1hLSnRUaHBFWjQycWEwOXRZU3UrWW5scEdGU0k1Z25pMmhDaHJPb21MOUl2eHdSOTlreFN3R1NkOXdHc3B1T2xxZGRkdHlwQmhLK3k1aEdJRlFINUdmRm9rWmFXblQ5U1l2cE1uZ1ZGSXkvb2F1bU9WalpnL0RzMG5tOWhORGViK1ZWOXZyMy91RzdwUFpwTzFKdFlQUjVnNjJ1VUFYS3dVMUpoN2Z4MWJUUVIrZWcxMnJpN2lOYjVnOEFmMGNkQzFVd2F5MnNnMXBVSHFWQ1ErYkRlUGlxMkg5WWVoWXFHQStGUE1nTWlHb0pROHlBK2xtRTR4cjJSOSttTnFmOURCczZYTWM3OHVYeEdVRkVIMnIxZ2txOWc1UnIzTy9BUkZKeGV6MkxIV2lRbjFXdmRrVjY3d1ZlcEoyMStJZlh2eEVDODhmbXdmdkhveDJWOHhieklmTmRMeEh5ckxtMnFJMG9LaEFvQjlSMUY5cUNjQXh0VjYrMWxFdFh3aXNkNGdRTWkzWE1QdURrWGVYei9uZ1ZJbmhqVzRmaXN2d3hiMmQ3eWhNalRkc2wrdmdORVBUc0pobjkraWRCT0ZPcGZQZk01Mjc1bWdma3hwMFluUUVxbWpKR1ltOUNqYXNyQ1QzZk8vaUwyMUhOdHlhSW5UT2lacWNiaEJPUTFHd0tOdTlabzk1QlI5dDBPQk1QSDdlWlUzdWdhTjh6NzdhRmViSXo1OTdNbGxzaEFRZXJVL0lVVHhWSm9valAzWGd6ZVZXMjhWdUQ3UE4xbmVYS21ndkp2bzRaYW13RkJJWTdmLzhiL3VLSHg0SUFmZkJNWnBtRDhObkkwY2c5cTZLNE9RWURBVENDUnpoODJSbzA1aVdVcy9OMmFiQXN6cGNub05ROHlKcEhQTXh1MGgyUnp6Y2VGWG1XcjcxMzJsT2hiL2ovL3kvOTMvQVkraFlUWjhjZEhObmFKNEo5R0hqQWl2WjFYcTRySEhiTzJvc0JZbVU4bis0M3pVc2dHQW92MVRmOWFBSkJjalhZMlovMWN6QXZsT1p6QXVzcXNqLzdDUDRrSVRid2ZaOW5rMndCS0dnazhjTVVSZXpzbHY1UTVMaG1abnIxOG8yUG5qZnk0QU5NWllCdC9mM0tUVTRFS2VVTzJmem05REl5SWRwQ3hTeDArcGVuOHpkVkFwT3hMai91cmViN0JiU3hwclBJMHh5bWJEdzF0MllUVXhTbVByWXVaODdxSGJxbU1BUlBQT2ZzbVc1b0VhWDB3YUlTMzkyQzdqR2RGZkg3cXBQZHliaVlUc1kzL2k5RHVrZU1PdEVvemI2Q1dHMi9sMDdFdzY2TGZ1ZWg5Y0lpVWtaWi9WVFo0elVDbmVscHNFbitlemNXdWxaUTg1NDE4NkNwelNlTzNuY21wNER5YTZhZnhwczJqdlJHWWFoa0lXZWR4dldWMGZ0aGFKYytvWkIweHNvMVJDUXlESVpjT24xV3l1YmdNRGdiLzgyWjhIUmJ6Mi9udWZMZmQ1QVk2eC9GanJXUFdpZ2VhWlJlRjZReHRMZmtXdUY2bkIxR0YzUS9IMWx3T1liTXAxdTRMZmpUc1pYQTZpUWJtWlVNVkY5ZmxMeFU1cXJRcUUvckJyZTlUdXF1RWtPWC84ZjdFWGRzd0pOemE5Y1pPSXRlT2FuNEF5WmpqMnkwbEtjMytXZ2dxWVJiOEEyUTVHZW9SYWc4QU5PRTNhRzJLZGI5dkVXb2ZESXZGMVlVVnhkTnpTOVROUWZQSnRuMnlQTFVBK1R2N3h2elBJZ2RtME9CaDhzUElmZm95eUhQRHg4V0pZVVJTNEUzSHlFR20xc1Jya0I5TkVRQUd6QmJZb2k1V2trRHpOMmpRNmJGOUIreUVNNTZYODFWNzlVVGdPQzRWMEpxLzZ1S2tiNlpnQVRhVDh0eGtOTjZBVk5COC9hN0tBOUVMMDhQTjBYelJLVDN1TldsR2ZpWG52MGt0VWhvVkVKVXBFeklpR2Q0SzRYZ1JnV3Y3M0wrZE9HRjJYV25tdXpNb1ZuNVNqNzFFd1JLTm5TTXFYejdHcEtCbUJQUG5MZXRtZDhZYmtSTzc2WldKQUhYQTJ0Mm5lcjRWU0tDbWdPRm5Uc0ZBc1JxRmVFOGRYa1VWcU9oVWNLNTJFOU16aGpEMFdhaThDVHFkZGpNY09sU2trRHdSQlZCelFXZXZUYllHbjhFY1hLWDArTEZLZVZ5YlBBSmhOZERqOWhZVkJONE9Va3c0TUtMS0ZDMzJ5NDFjSlBmWDJKTTQ2dnY5bm5xdkdtVG5UMnVlZTNaZzNUc3A1YzdWZ1lDVXRndnZtRmRpT1BwVEc3eFo2R2dYdnQrUjNWT2J3b1NmNC9QMk9FVmcxNFN5SkQvcjJ1S01rUnNhM2g1alB4SGFKUjd4enRMaHRuZVNRUVNoblZPMnQvTGJhWWRDbGorUWVPL25KUkIyUkRxMXc0eS8vTzA2ZUl1Q2tuWmt4SU9PTnV5bVZTUXZ2MlBZaE9ab1hESVBsZmRWa0RCaG95SkhMSmk3bEpwNWtucEFSdmJkYVVaMU00NUxzVW5TWEp4ejVqS2d4VnRRZWM0aXI1NDRpNjg1bnplY0NVZ0NFNXk0M24zS0JFS2xuZWtsbVVEd1BJbFJDRXM4eXRXcGVyNE04QVhleW1QL0hldm1hR2FtWDFKRElHdUVvNDRHUWEvZHZGeEdYV05qOURSUXZjdWdsR2tGblEwSUh3UEdiejJlRExPU0hkS0p0REwxd2xreGNDdDAyeC9lWXpTZEpoWVBiMG43bHhFYThURCt5dXozUFVTSThNSFBNUkF6ZXpGSk9rZEtIQmNqdXY1eGZCTisrdlpRWDVpakJkcXBsM3Bsa0MzYmdNVlkrTWdwQmdvN3FwWnJlZWt1dUtaVk5ZT0hGczdYcjRsU2tCTWV1ak5UQXlpYjk5M3JFOE83bVM0OG1TeHFha3BIQndPQVM1WGswdFh0RFdkUG9pbFhtcURjWktDZ2tveDUvcjdVQU01U3QxYTBRR1R6WkYwYzlJL0xyUTFKU2d1ekF4L1EzUTlTWGdQRE1TTC81SFhkR0hJUGF4b0drKzNZQ1gzQkNuUHYzcnplRlJ1bVYrUGdkcGUxdDkzQnhJdlAyV3JYc2FkUkxjaHRMN0s1Z3NWOWduSFpzQnRxdlhIamJNZWc4VUdhM3h4Uk1ScGx5YnNuVGlvVWtVZ3RGNmt3WGpNYWRBWCtVL2NpMnVKRW9mT2J4aGYvNDd3ZVFXa2Q4UHgrQWVtWFR1TjlpMWlTMSs5eWhvdTRVeEQ2UlhobFBydUlkZkZCdi9Hc09TelpMQXNqWXk4eCtJK3VXS3RoTVFxRXdwOVo1R0o1Z0tvN1B5dkU0N3NvVHdDRjRDMHA1eVdEb2RWQW5velhlc0dCQ0Jod2U2Z3Y5OFg4dmVaVEJtSWxqSi84cmtTb1VuRHN0OHNzLy84RXVFaUtQVERnNHk3NUFpcDdZTXpUM1BvNmlrQXlKTVE4RnlxS2tlNlh5L1YzVDZyWWNTK05WQitmenNlVnVTckd6WW9ZOTlON0xLaUlqRnFMdGZmQnRLTGhBSjJhYnFlTUg4dDZCSnk2a2pZYTB0RGxxZmxOOVBxbEwxSUhQTGZidEgvYmRJTzJBUjl4eEpSb1pRVzRqblVHdlhuV0lkWEN4SDVXek9SbjQrbFQvNE5BeWUxS0YyaExMaDZOTlZkYnkzTTVpbnJrR1F4cEQxdDNYQUpPbjhGRElKbGlTZDBRODdRM2Jma1FWTkpMMnd3S21tcnUwTzdpT2h5ejVPMFlWaEJmUXhwMUJrQ1daZ2pPcGQ1ODZPVmdNakZ1bmhadGoxTVFGb2NwUUhESS9sdTZZdEV3bW01Nzh2dUpsdWtsZERidnkzajR4N3pkZWk4NkpJOEgzVFI3S2RSMlA5NUV0TWVoSExlUGt3V2FoKzYzNWRhQWoramdtelV5Q3g1ZFJLcWdBb01uYnNGVncxRVZYQ3pWSS9QVmpLdVJzc3IvaFBCZVdtS08rOWdsQzNIYnl0eHI5NmJRWnUraE0zYTcvK1krYmVWdGQxNFh4Z3p4dE0xcXBWU1ZlRVFZU09oL2Q4elcycTZRRDQ1dFZjVDNPdmwrWEJZYUFwRmRIMit5L05QZEprRTd2OXVqQ05McXVTVWFlZ3BvNkhTZUhPWDhubk9UamNLVFZhWTVERG5MaUdDckhxTStvdS9BRkYwU3pBbW1oZEhWUlg4V0t2aFNQeTdwdXZnU0FYQVI2eDU0b3dxZEZGcG9VMEZJdmhlWCtTNnpVVm9lUmllb3l4Rm5HdUN4UDN2U3M4RUx1TnRsbm1UOXpJeWJyV0JJZkNJaVkxeVYzbWRLVzZoZFRqWWpVUnB1UnhLN2VuYmtxQUxxUkdLV0xTd2kybVRVQkNiVVJobTJCcUpJb0xSMTF6TzRnYTcxTjdmNHBwQmZnWGgxLy9wcUlsRU4xM3VKenNlQ2gwUTVhRGZJZ2Jsc3RPNTVkM0N0c3RGclFIU3dZWE9HaXFnKzFrYzByREgwZDZrTXpwcEhUVkVGZ1JtOTNsOTRRWXNMcHlCSTdscnJLT0RGa3B5bVFucWMxTXlXY3Z6bSt1ZXQyWDQvbjVMM3VYejR5bWJ5N3g0aWp1ZC9qSEFvQk90M1VLUCszN1g1OXF0SVM1ei9WUTI3OFl5UVB2TVp1RlpWRlZTSkVkbktlMGk1alZ6ZCttdW4zTEJFNS9ZeHNwajZ6N2hyVlhIUVB3V0lQMjJXTkJUTUJOa2cvdUc1WDNqMXVLUURxeWE1OW1Cc2hPbGw0WWdzUzVIbWJFRVVsc0w5K3g1S0lXT2ZLWEJ1NFNtVFhiOS9FQi9YQ2lmdDFWOTlhQTFaOTJxR1I1MisyYngvaW5rUkNPcmtBdHV4TmxuSkd2dExRdURvOHZBa25taDU0U09QalRiZjlUSndBRmdSMk9xS3QrdXJaS3RXbDRKbTlpREtqNGpRYUQ2SHhrd0hzQ2xUcitSOENka00rakJnQUtoM3grZnhJMXJvTzBKeHlLNEtvNVdzWmZTajJZV3lZK1dtM2l5c0NhekRUOE4vbnJiaDJPemE1Sy9mdFJuNnZQZGIxRmNGUmRydU9TZHhhOXltM1B0NWVhbVZrN0p6RzBQTWRFM0RpUmlKVHdONjVVZlQxZW1LS0pBS0F2UWU5b29XU1M4NjN1ZGM4OEFDNDZva0RheG01SnVsQ1dTSUludEZhdHJUUHltcXdmeWczblowcXo1ZE5YWUNUOFBIQzREQk9FN3Fyeis1dTdvL29pMERzZEtxMVN1Z3JraGg4eUZGTlZoZzMyK3c1bjNPeEpTN3gvOHJ5b0gzc08wVUxjRnBrbDFRT3JTK1NCRTJaa1JTTWpOQ3ZQcGZSUTV0MkNJMjVOYVBXYUtuTmZNQXlFV1Y4dS9tOXVyRmdpRUNXcjVjNWcvZjdXeDNmeE9GU2lFODlGaWcwVCtzNGMrYjFLRUxrc2oxaDlBeW5vOGhNcnNLWHdxRy9UNHU2MVZGOGxFS05tVVFBRE9SeTZ6Y0FPT1BnWm9FMVFmNUUzZ09SUkZBSFVqTElTNVNhdjF5UldFUzdKZkUwOHgveElpYzNNWjNBdit6cDZydkhYemtVbEgyeDBXWi9nZmhtN2tMOEI1MjF5M0IzQWg3VkhaV1RJM0lqajl4YXc2UXV6cS9ESFVQbHROck5FSExxcE81N2ZrdXBBMmQvK1grcU1NNmgzZnFjUzVrQUVTc2RQY2Z4R002cUlmUThOL29tTlNWQWxyajlmUkZXN2NqbDZxTCt5ckhwLzVmL3IvOS8vNXIrOXUrdnlWWG5FbnFuVmI4cXhKUXV2ZGVncGdldXh0UHFFSlk2REtHSWpCMCtMNzhrVm5ub29qa0hUMDdUWjh5bVBZYUU0NyttL2YxNXdIcS8xckJ4SENCaS9uYkxyRTZFYkVHbzJXc204SW1kNzAvM0hSRUErNmtjWjE2UGtCK0pCelRxWmMvUGRlaGMwSjNjcGtCZ2JmdHR2R0x5Wnp5ckVuYVEwcnVmU2hJWGRWU0tsRUxVUGp3MlJBRlNJNFZDUE1GTUc3c3RTZm5UVTFrak9LeHRvclpraWNqUU5xN2VGNEk4MVExajhaOFNKckhWN3lTUGtWTVVDQ0J4aS9QUCtkT01HVFg3WUI2ZEw3RTJ3dGQyaVhuRSs3TTMyY3FxeURRdnBLbk5kMDVIVjlETmFVTlRZaFNuVVlycHVJZDFnUTZNejZ5ZnYyV1JOUTdZVGNDdzNFQW04a3F2aXBGeFR1ekVxRFdFWE51SGZTb1lhNWkxS0xPajBpQitCaWh6Wi9QVXNmaFdJdVVBQmZnQ1Q1bjBKbkZkdURPY2VQb1diMU5uOTFVZFhNVS9zTkRCc1lBRFRmSEF0RVlBeVVjQ2FDcnJmZS9sWGhWZHp2aFF2NWx5WDVhSzkvekZDV0xscVlMNmlaaFBZL2U3TkRHYnpJbDR5c25KcHlEdTdnT2wrYTMrVU53eFpLMXVWOTR3clBtalhreElCUlVVZ2JpYm9kNWNHQXZnOTJjeStzLy9XVFlRb2xOSi84a290MHlOM0R6dDMvMmZmQ3diQWhxZ2lOWnNyakdZTmZYdnZVc2hVNWdBYVZ1a2ZIdmNqTFJxaUhBUm9HU29PTWhuV2xaaW4zeUYwN0lHMWRldDNWVmc2c0RTYWNwR3VxcWRxZ1ZKZW1UQUtWZnhOMHBYa1FqaVZvWWhVQkVJUTdNd1dhM2tJZ0l3RkFEOWlKSlJ3a2Q2TC9vL1VFc0RCQlFBQUFBSUFDVjNZVmc1aGVOSEdBSUFBRmNFQUFBUEFBQUFiVzF3WVdkbEwzQmhaMlV1WW1sdWpkSFBhOU5nR01EeDUzbWJkQW1OY2REaHdYVlFvUWM5REhGNEhDZ3VnL21ER2JXSTRnNFYxOVNtM2RTMFhic090ZzVyYmRHcFVJY2liclVxNnFrTU5pK3RnM254TVB3UHZMYUp1d3ovZ3VHYkd0RFlpTTNwaFM5OGVKNG4yUHhTZUl6a1FKLzd4RTcxNDg3SzY4RmpjS29FVzE5SFNnQ1NWS1N2MFNKOWpRMmZIajZEWitWeDkzbFpsaS9JRjBjbnRldHBDT0psdklKWDhWb0I0TzNFZllBajAxNk1rQURqVW9BTEMraGxwZUplY0pjUzhuSEFtRk5ZdXdTWU1FTUVPSVVHajFUYTJ4aWk0VlUvWU1veEJBRFRqbUVRY05ZS3FpMU1BTTQ1QmI4S3VHQ0Y3Szh3ZEROSVF5Z091SWlPSlFVWUp2ME1pYnBVWUFuKzJOOHp4Y1g1R0xnUnA4ZzBneVRPdE82dEcrc05mWGxOWDZxMTZtV2duK0FSaWFKNjJUNzNvWUF2NFB0OVdVQ0YrQmh5eTNXYmFqMEpUdVB2bUZTaVRXazJTdjlRYmEwK01EVXV6RWNFRkYxYWNzYnJvYVJmOUl0U2FidDYwRHFQMmdYWnhvd25oZSsxdWtYR0tFa3kyUTR4ZEFOUUl3T21tRFJYN3FWbTZrOHpaUnZUYUpUMTFYemJWUGlFd0xZOWtSRVplc0xEWTlRNzZRRk1kdVdWbDVxYkx5MHBaWk9lUHhveHBRSEFtVzRrNDBXK1ZYdW9MMi9vdWZkRy9aMitVckhVdEUzZC9uek9WSThDWnJwUm00MDNkT1cycFBLekR2UGx4Z0d6WFczNjZhbFJlMlpKY3dLN2ovNkorUngyZ2xIQWVRcGlMeVV6L3lUdkdvMThCNXpsRjJ3alRuNkxtbUlJTUlmL0pTc1ZCMjhSLzlvNVlvSWF3RTlRU3dNRUZBQUFBQWdBSlhkaFdNT3Zmc2o3Q0FBQXJGNEFBQTBBQUFCd1lXZGxMM0JoWjJVdWVHMXM3VnhiYjl6R0ZYN1ByeUNZWjNGbmhzTWJMTW53cnF6RWdCVW9rZUxZZmFOWGxFUjRkN25ZcFd3clR3SGk1Q1VKa01JMUNyU05EYmRBMnljMVFKb1hLK212aWFUNFgzUXVYRjZITnkxWGw0UVNKSkJ6T1hQbXpQbk9ON2ZkNVp0UGh3UHBzVE9adXQ1b1JZWUtrQ1ZuMVBkMjNOSGVpdnp4OXZxU0tkOWNYZDYwOXh6cHp0cUtyQUw2QXdFcHRuMDRkbFprbWlOTEg5aEQ4dnoyOVk5dnYvdjdFcFNsUDNqZWtFaVRwUThQM1A2akRYdjZhRVVHTXBlek9mSEcwOVhsVDl3ZGYxKzZSMHFaV0pVN3E4dnZPKzdldnM5U2tLWFRsTjU5K21ZaHFHaXkxR1h5TnFrY212V0FadW5ZWkJrb3l0anFUN3pCZ0ZVRWlvNU1VNFZSOGdPZXJOR1VUa3lYdS9haGQrQVRGYmJHZHAvMG5CWlRtYmg3bVJSZWxyWE9CRHQ5MzV2Y0dyaDdJNlk2RXoyVHQrNE9CdXZlWkdqN0pIVno0bzc4TGNjL0dFdnJydTk3Vy91TzQ3Tk92Ujg5M29zZXUzYi8wZDdFT3hqdHNGZG1MOUpWU0V6UFRVVmVMRU9XUGg2NTVIRTRsS1c3enE2L1lVLzJYRHFTZElTOGNmejFJMW9wbnREMWlCckRXQXJSY252ZkdmS2h4clNLN1k0ZWVrK29iYVhidTd1a3IreVJEL2Z0blluOVJBNnE5THlCTjJGV0NxWHdDalFOUjZLM25hZnBwSzE5ZSt4RWFSMldTQ3pMa3FrbUVLZ3pkOXZZNkhtakViTTViWGxpajZhN3hNQXhkd0pKWHdJeFJ6Sk5SZGR4aml0Qm5iaUxsbmFuVHF3SnBoQWZ6clJmSndiNnJqc0tpdkhuVDBKbG1HMCtva002Y3lrNUtOK3p4L1NkNWMzU3FOQ2cyMXZld04waDdYQXJSd1pudW00VHY2TGVTQVc4dTd1TE5mcEx4czdaSmU4RXJkd2xBNEd6eDBDL1RxeFRwRlhuc1ROWXMzMmJkUFpnN0xEeGhDRHc2U2p2UGNjYk92N0VkYWJoODZIVUczaFRaNGViWThONzdHeDdxOHZNN0V0WVFZWnBHR203TTdORHFFRGR5bGg5SnFCM01JbEowZzFTT0ROK1RNNlNDaFhWeUF6ZkxacG5LTmpDMkVyWDY3SjZ4Q1dBa1ZHZ3h3WkhWWkFPVWJyZVdrRjduVkRoenN3dzBTT3pGN1AzbG44NGNNSncwWFVJL2paOTZYNFk2eDd3MEVieWJvOTJlQTRFbXFhWUtzdlRURTFCTElqRjRDQ3RENXluSHBOTVNoQ3YyQ2NlT25LbTA1bHFyT1Vrckl6Rnc4cXdoSFpxWWJWUVdDMDFoYXR6d3VxY3FMcE1VQmtRS0VZRG9JSmFFNkNDQ09sTU14R29OREpnaTZZcWVDMHhoZWJFRlBFVVhjeFRtWWxtaUNXcVl5U0JlRkZsQ2JPYVNUVG02ckNVRmNHQXFDbTZrY0ZUTjZkR0w3ZkdXazZOZWVFSEVTQjBsV2F1Q0lNSW13b09zckZWUW13UVZnTmhJOHhXREVMZWxSYUVqWU13RjBLZ0lwL2xJaWdqb0FRL21mSWw2TWtxZUlIWUtaMFVWc1dPdFhEczZFQnRzWE94MkJFRjlwcm9xVTAvdGRublVzbEhKeDF2QkVBSUxoNUFWanNERkFOSVg5Z01VRld5QnE4N0J4VEpxRDBMRkFncG5RY0s2cFRPQkVYS05nakhhTUVsaHFPcGxxekhxc0t4a2MzRFFqZ2FDTGR3WEFnY0MvaXNDSTlWR2EwK2xNNkJwRXNHa3FFYURRR3BtVVdWcXBQaHlBV1NxU3g2dC9CYUFna3RiR2NqZjVPd0lxbGxCZFJsdEl5RU1qb1Q3eXdXY0ZsV3gzbnhwMktnZ0RUQUl2eXBoTDFDZUZvTjRhK1poVmtoL3JEZTRtOGgrTXNuc3FxNzlOVVJYQUtmdXVpNVZQQm9XalBnQWRHaXpIWkhkM1ljT3djNUVDTkYxL1FrZmpReTk0c2dWTzlHUW0zMGxMbzdQYnZuYmc2QXZhdGgxa3BVdi9Tb3JES3VoQTFWQWhFOTVoZmIxMHFabGt5ZFk2WTFJTDIwSWJZdE1oU3pNRGJSUnJzRHIvOUlvazljRlc1Z0JGUVU5cEQzaVA4dzZmdjJ4Tzc3Qk9sMzdyTTl2SFY3NkE0T1YrU1QveDM5K3ZOLzN2NzFpN2ZIZjVTbExmZFQ2bTZZUEFXZUowdUJuZDZOaEcwU1dYc1RlN3cvRThhdWhxekl0TnFZMm90YWxXbk9UVFFlUzV1OFlPOCtkd1IvUEhzOCtlS0hzeCtPVDE5OGYvck4wY21iNThzZGYwdzZQS2IvZU9WTzJPTXdLUkc5SHJLM1lHZnBSdDNaT0V3SE1USTU0NmVFR3JjL3YwaFRzaldibUVWQVNCZEtQSXpwRllTSVp4SXppRVplQWtNWm9ZNG9MdjRXRCtLV1ltR1lhQndoMWRUQ3lDamU3ODFwanMvdGtXSkFiQ1NzRXNxTTRtUksvMElyc0ZnVDZRRWovY1Y2TU0weFZvQ3BjVlkzMG5yMFNudS9sdGR3MUlYRU9CWjRnbENLZUJ5QmtNNEtSN0RBMnQyODFudkN0dFpLelpZM2ZIVmdjRXZZZHJlME03M1NFZzBkT0RBTHplNnIzUm5TTzNIZU5DVHRpR2laY2FPeWpPc1lMYlBiWTlQazNUTXplZmNNcCsrZTBTRkszajBMcUNYUVE4VGZLTTdmUkxyYnp5VndTOEZKanNFd3pqRVFxbVRNRm51c0o2VFdOUEZVNUd5VW5qRGp5NXNjNS9NNkRXb3BzNmVvUFdmS2hJQ2lucFBXUVhHSDFWbUhWVUIvVXgxdWdQWUR1UVcwRCtlay9kTi92ejU1K1ZWOTVrL2VNdHIyWWlsc0NwaVlHMEI4QTBLZC9Kbnp6US9FOGJ6cTFJREJWa1RwK2RPQ2lnSVkvUE1vS1NGRDNJTjU2K2Qzb01iNnFXS01qZ2YwNGlDdEo0SzBrWTdSZWpwR0c2VWhXcitZRUIzc2Q3WWh1ZzNSbHh5aVdYQSsrL2JMWDQvZU5CcWlqVXlJUnVCRzNUMm9OankzNFRseHJ3ZlB3alB4ck1Mb3pCWTR5VEJoOFVYT2JBdVpyRXp5dHBBMUZRdU91eTR6T01OckU0c2pFK3RZeVd6R2N2dVNldkI4b1pqNHpFWEc0b3ViSko4ZFB6OTkrV3lPQ0l6U0VSaHFOVU90OUlFWGRLRFpxQnZ1Tlp3MzZ1WUtZSkNlSTJyT1c3OVMxQlVjckJCTFU5aFZ0clJRejVyR0x1eHJOWktJN1owMFJ4SkdnaU5RaWlPTU5FV2dVb3JRSzFLRVJjK2lpaGdDV1pnZDRRZ1p3Z0F0UTVRemhHRmtiQndqQ0t3cE9jY2tMVUhFQ2VMNU43LzgvTGRHcWNHNEd0UmdKWStEYXpORGJ2MldHSm94MVcrSkY4eXFTd2RkVTFEeDBrR0Y3T2hmZUhnTzlKWVlLaXdkTkpneGNvd1pUSlM5SjlJeVE0WVp6djd5N09UbzY5TVgvejM5N0Y5bmIvNTUrdDJyUmxuQ3Vob3N3UUU1endJaVYwRExFdzNaNmpkRUZBaGN4QUpDRjN5eXZXV0pkdm5RUEVuOGN2eVAweGZmejBFTWVwb1lVTDJ2ZldpWEQ5ZWZGbjczeXdlRUxvSVZqQ0NqWllXV0ZSYThxZlRUbjg2Ty90d29LMlF2NVNEOUJrUjFMK1MwWk5HU1JRbFpzRGNLelNoR1hYWDZxSG9xVVg1d2piSEJQaFlwNUE5d25yMG5GdDZ1Q0lIY0N6NnFBZG96Nml2Q0ZwK2ZIVDlyaGpOUVpvc0pYWkdEaVBhTXVqMmp2a2cycUh3V3diL1FOcDhMVkROL0xZRUw0OWZ2a0F1eUg5dUxUS25sWEJ0dGFZRFR3S3RYQytPQXEzTE1BTUZjREpCVHZZMy9qVmpxdWtkLzlsWHRxKy84SDFCTEF3UVVBQUFBQ0FBbGQyRll3aG81cDg4QkFBQW5CZ0FBRlFBQUFISmxiSE12Y0dGblpWOW1iM0p0WVhSekxuaHRiS1dVM1VyRE1CVEg3d1hmSWNScmJicDJib05VMFVsaElDanIvTGd0bW0zQnRCMnpFK2U5RCtDMTc2QVBJUG8yZ25zTFQ5clVObldScWVsTmM5cmZQK2NqNTlEZDIwaWdHemE5NWtuc1lYdUxZTVRpaStTU3h5TVBud3o4elRiZTNWbGZvMzR5amNJVTNoQXMyazFFTXIxV3U5S0NldWVnUVZvWW5YcDRZNmdXdGd3LzJtMk1CbU1Xc2N6bTRVYkJrV3laT2VjYk4rQng2bUduRUhDSWZERHFzeUhzZjlLQ1Q4dTF0Z3N0dHltZmxiUmNYY3NtWlVEaHNPbCtnZFRTRWtoOUxvUWZwVnBDcFUzSjJpQTduekFQQjRuZ2x4aGxjTzhnOTk0eVFFMHo1Sm9nKzRlVFdrYW9ZNFNnd0dYSXRTRHBJWTlaUFdocFU2cVEvelBHUjJNb0JYZ2w0ZHdQVy9lakpCcGtPUUgrR1FpN1VSTHcyazltY1g3djNaVU9KQlVYblNyUk5CS081bUo1SU5qbFg5MXc0dUhNdXBvRERjMkJYOHRScTFZRDJoMkgwM3BOcEUzbEN6SWM4RHVvTkpUY0R5TXU1bEIwSGdXenVOWVRKZElxRU5zdG1mZTNwNC9YNThYai9lTGxRZDBYYUJQVnRDWWx0Nm9VcEhQQjhqci9RNU8wLzZKWm0yclF6SHJXNkw1SUxxN3FhY3lNS2hUb3pXQWljNjhHMEo3Z0l6bDlkVDhyQk9rc0o2b2pwWDRxUFE1SDdHaVN3bUN2cWtvcmtqZkJ5WVpzZFlSUVMwT2daWXVoL3dsUVN3TUVGQUFBQUFnQUpYZGhXQ1R3Mi9nNkFBQUFPZ0FBQUJJQUFBQnlaV3h6TDNCaFoyVmZjbVZzY3k1NGJXeXpzYS9JelZFb1N5MHF6c3pQczFVeTFETlFVa2pOUzg1UHljeEx0MVVxTFVuVHRWQ3l0K1Bsc2dsS3pVa3NBYW9wenNnc0tOWUhpZ0FBVUVzREJCUUFBQUFJQUNWM1lWZ3lQN21uTHdRQUFOZzdBQUFKQUFBQWRHaGxiV1V1ZUcxczdWdmRidE13Rkw1SDRoMmljQU1YSTBtVC9reEttYmF5U2tnYkd1c0UxMDdpdE5iU3VFcFN0bkhQQTNETkxSSjM4QUFJM21ZU2V3dHNKKzV2bkdWcy9WbnIzalE1UHVmNC9IeTJqNVBZM3J2c0I4cEhHTVVJaDAzVmVLbXJDZ3hkN0tHdzIxU0hpYi9UVVBkZVBYMWluL1ZnSDhia1NpRy85RTQ1OUgzb0prMlZ5THg1M1ZRdDhuOEtVT2pnQzBaN0MvcXdxUjU2RWJoUU04R3hjQXNIT0dKaUp1ZmNEN3N3bU9SazNJeXg0N0lPOTEwWGhvblJWSjlWWWNQeWZUV2oxQWpGYndCb0FFN1pwUlN6VWQzVk9hVktLRFduYmpsMVRta1FpcTREdjJweGlxRVRrdVc1ZGNmbEpJdFFvRityVlUxT01RbkZkZXZRR2FtdVV5a0hlTjZJVXFFbXVyc2VNVkdiZEYwYit6NFhrVFNhbzBnS29zZjRqOEVnNVo1cFlJMmRIaGpBTm83NklGSGVEWkY3Zmd6aTg2YTZZOHlxR1VtMFVSQmtBbWRYQTlKckJ3ZklFN0dQczZLTXZTSFFJVGEvcDFIUGZsT09UOGxxNC81RUxFY29oSVVjSTY0UEVIVjdDZTNaRlBZNFZrazZMdXZpZmQxTVhlVzlDbU5SNkttdFRTUnp4YmxlYVc0cnhXRSt4Y09RemxpVTFWb2NERkJJSnJzYW1lU2dQd3FHT29XT2lnVEg4c0ZoeUl4bjdUTGpZNVV5NDV1ODJLL0hnaURyZ3BrZ3JEY3FaS3FaaEV4MWVTKzNOdFZzSFd6b2ZDSFVIY1B5MU56WW1DYXMreFc0dTI0UW1Gd0RHcmVqNVFRa0NZeEN0dit1eUwzazNkQWxUTDBjMmxuell3bCtDZVMzd0lCeXN2RlZmZ2d1Y0VodFVjMytvTGt1c1kyU3VaYTVudWVXdVY3clhKZFlRQmVXNjhreVNsd1NNdmJEME51UElueWhkTkFuU1BmcFRLaTZYYXUvcllsZTV0Z3RGTGtCTFBlaTUwM1lneEZLUk9OOHhidEVXRjNQWGVJeTN4dFVqSzJZeUI3eEl3WDVWSm0zU3dBSVZXNDhBR3l0WU4yeEQ0YU9zeGxyMGlZK3VYdzhLR1B0V3dvQU9jM3dkZ2tBb2NxTkI0Q3RGYXdsZG9mUWNDUS9jbHZlUjI1aXhNd09GNFVFM3lQYTZ6VTVlNnhmL2JDY1BhMUVTMEZ3MWdrdGkxdHJKQVFLZ2lNaHNIWVFJRzNpb3NJK2c1Y0pzejNPVXp0cUZabjFmMW0zdFNMRnBYdGxSWjk1MzZKUEdyTmdZMVlDanJRYm5mMlc1TnlqeXkvVGVBRGM4NUtmTm91Tm4yaVpuVWRZQjkySVZtZkt3WG0zalpKalRHZEVzcVBnRnpsSGhlWW1xL1NzRU8xbDVxVFE5WjhmZjMvL3ZQbjYrZWJYRitYNTliZnZMK2FPRGJWeG1LUW5xWTdpM05senpLRFF5M25GS3FPbjcrdU1CcmtMUUZmNGZPOXUycXdIMWFaemJRTFFyMUpiWldzOExkQkdpaDBCR2pQa1U0alA0WjZ0N3FXT3lMVnd5TlhuK1VHYldUVkFKZ3RTQ0lZd2p0bFE3Q1JYQVJTOWhMNU55aEFrOU81aXRpYTJQeTFqeGE2ZDRRRnlsVGFLZXpSS3htUTNaTUxzRjlpWlNuTDJFWGNKWmtHOHl2Q2N3Z0FrQ0lkeER3MlVFNUQwYU9LbndxTUxMRGlnY3ltSXJqaGpSY1RZR2ZiN2szelYvQ0xVYm9FZ3dNT0U4NWw2L21lamRqdkF4R1N5eGM0SjhtMHh6bXlaRG5VZUFQS3puQTBPMXBpUk14SzV5NjdveXZNUFVFc0RCQlFBQUFBSUFDVjNZVmlkSnhhaU1oOEFBRklmQUFBTkFBQUFkR2gxYldKdVlXbHNMbkJ1WjExWlpWQWNUYlFkM0YyREJYY05FdHdKc2tod2wwQndkd3R1UVlJR3lLTEJGbmRZM0VJSTdnN0JMUVIzaDdmNTNvOVg5VzdWOVBSTVQ4M2M2bnZQNlhON290K3J5bU9oazZFREFJQ2xxQ0NyQVFCdzJMQytOU284ckEwMEZabUJuZEJjRlBUZEFRRGY0OThCdDJyMTJnY0FYaU1xeWtwcCtXUWRaZnU3RU8wOHZhd040c0haT2hrRk1VTDhlVEJRa0ZvZUVURUNQWTJiV3UwR2xkc256ejJGcTFhY0QyeUQ3RFo5UkxKREhOdUVzeTFLQlZ5WC9OQ042d05GcHVNRUYwWmsyVkFDaDYzMlJDRDQ5SWlOTG1hdVhOTEJ6QmxzK0p5S25VRlpLWjlwMEpoUVc0NFBjcmNQeGNkMzZ6TXZWdmQ4eGNmMzdrUnRWMVpXVHMvT1duRDM2UnlERThZWHV0TmpFdFNVYmpYT3poVFJURm5GeFZrMlFIMzlUQXlmU205dkM4TzVpRjduZmowdGVyTnhxang2Q1FBUUNIalFJbWNQck1pbmtwYUNKRHArd1RkNitCU2RZMGZsRjV0cGxWOVRhanRZUGxTMytGQ3NqQk04NzI2bjdONm5RTDdPMis2VGcvR25ESm5LYndZaUE5bXJSWlFDcUR5TTl4Z2lHQlJkRUpPWWoxcVJnVkVBWlRuU0ZwNGVyUjlLT1kxTW1JU0VUL1pCcURkUFVDTmwvaWY3ejYyYUNtWUN2eXh2Q2hScUZqSGllbk1lQUZlYUtGckpJcEV2Q0Jvb3ZXbGIxOE5pcm9HWHd4SlZRRXlIV3VNNDBVNWZGMDJRWTEyMndTeU5aNElqb29Ga2JWUEZYQWVCSkZGb2hXM21IYXpibW5GZWNnRFVMQlNpdXRvMGl2UlN1QXBmK1l6aVE0ZnJLbGlHMzMrdFpTWHEwZ2JyK1dSVUxBRm0rbWtjeXdEKzFIdmFDUzNLOXNMRVNBZWZDZ1VneDVaMFBRSlhnU1FaNkhXSHd6K2xFSUdFaFdDaHBDRmxRRndqTlgxazZPUjhJQWVoZXh1dG5KTE5yVmdMaVQ0eW5vQmJoUjI5NHZwODEvT1Z3dkk2NzZlUFhMdUM4VnMySjcwdnVhb1M1YUsrWFAwY2pQVmltanBYak4rOURvNnZRNHRBN2dKZE9pcnVzUnV6emdtZGszd0ZsdDZVSFplZHUwY2JyVm01cTIzTlJVV2REQzZ2MDZlbnBOV0ZPRGlFUU9rYW9JWGRJZFBPRC81SEhCeWVucU8ydHFPam81NmV4eFRWTGZZc25tdDBvTGo1MzBXZ1BHZW52SDArdDdQTnc2UkFaSkpvaVlwY0h4OUloWFRaZTJadFZleFR0R1RrVVRZbGhlOUMrSzJxSUZvNFhQWitERXlIQ1h4UU1EdzdRSTJLN29JRllNdks0ZWtMUnZhN0plR3FJUWlNeHVZeng5Q3EwYWtSQ2dIVWd0RjBpcXJKQTNpdGE2QndDUjJ3M3JlTWlyQVhQMjd6b2JMNnhINEhEWG9zSVlvQ2dsNm5jYjZlT202Q2dEZllWWGtIWHd0cnF0am5PV1NQNUhGdGNzSXMzaE1pQ2NiM3VsSkk0b1lYRHlMM2FRSVVLeHVFZUJDME5BWkEwNURnU3dnZWJVZHZRVzNVLythamlObS9OUFh2L3NXQmdrMXgrM2d4UHA0ajVyODdBcjYrdm1iUmhNUTF5QVd3TVA4elVsczJqYjZUNEM4eUJvYUczc2UvZlk4YTU4ZXloSGh4VVpVeitQWmoyQjY5TjV2NjBvZDhDb3FLTEdGdllOT3ArTVpuTzZXdy9LYnF0SjkxNjh2UzBsSXFtKzY5Y012MmJlVlE4K1pXZ3NUWTJGam5ib2I5dTZWRTE4OXJFVWpCYVdscFg4amZVZ2w3MkJSaXRRQjNkM2V4eEJ5dFcvRWk5MklQZlNTbVdhSytiajJoU0dHbVAzbjUwd2tKNmluSlpKT1ExbjFOYUVtUmdyZitDREN3c01OMXovQnBiQnVOdWdEZEVNRUlCa0J0MmlqSm5TLzlBSndMUnIzVmdBdE9OL0hiYjluTHlSUndYRklnZC9zd05EemM1TGc4VjIxd2ZiVGM5T251SEdQbXRmVEhXbXU3U2IyNFBPWWwyS1M1T1BRamdicDVIWlF1NDJ6WWlXUGw0SUxSNUw2ZVZiOHlaUVVTd1dBaFJnLzQ5U1I1cXJ1bms2Q2dUaTN4cDh2cC9lbGlVOStkVkpJU05WeDJtcnFLNHNGSXJiekxkOFRsMFFQbXhxbWVHZW40bW44UjJTSXBFdW0xRmdDNXhab1BmdXd6YjA2LzJrWFJobTdGV0FoQUFnZitlVG01ZGlXY0hsalp5QjVyeWZYWVNLbjBrVWQwT3JyUHcvQzc3NUlYUlRERXNWZ3FqQWh4bkJWZFZNVmJtUUJRclB2WjdLejFxVFFPdzJoK2RIZ1laSGtlamt1RUZGdzgrR0ZDUTAwMnpYcW9ETHM3cGd6MVRMUm9LS1B3TTZLQ0VpNXpERHhnMkdTYmczSXVLL0J4ZUxCOGtsQXh1UnR4QXUyVDlkbHRkeDE3NUFjTmpteTdqNjdTOFBURHlTNE93M1dBR3kzVzFzTm1FMnRZMHEwR0MvdUdiWjJTSWpySUp3ZnNRVWl6d1ZaSEVJc3NOdTJSZDRBOXJrbWZWYU9xemV5UTN5YWoyRjd3MTZzT25ZTWxuMjA0dnRDbHFrSTZPYXRHU1k1d1N1RTZGc2hJWjU2YTFaWlg0a0dmaHg2ZEJONjBoVWhTcC80WUhEQ1hvd2VrMVJVMDB4b2pSSzNjMGEwSDdNMDlTa0xOaUNMNFZCTE1QdGdKZDl1VENhcmpyOGNVbHR0eU11WDRpNW1iTnpBSGM2WDJuQ3JQaHhCcDhsUHJXUEgwVlNuaXM2OEwreldNbU1mSTRNdFBmbS8rR1RzM2VmVXpVM2Q5WDY4ZDNaNDk0QzZncExJT0FEeGtOd0VaampyalFRLzJZUUUrSU5oK0FUQktJUEt0Y1BXaGdXaWl6L0FqaitxeFpOcnF6MlY3cjRMTlArZzgvZ28xRG4zeWc2c3UwZnJjRWJYWUdTR1hCRkRIQU4rWm96VTJGNzZVZEtFeXRtcTF0cllLQ3dzalowVVYzYjRmaUU3N0dUNkZteXE2TFR0Y2hvdXBrNXFxbFlxRUFhSXpyNk92cUJNTXhjVHF3T3hMcFJFNS9OMlVaWWR1d0plZ3h3Y3BxMlhGaUlpQVI1TkhBUllzaWRFL0lPaUFUVENlbXJSZHRmcmdCblJ3NGJQTG5uSS9uUTgyenB0a3BxVjVuU1YwTS9FenBtbkI4T2UrM2gyU0lIN1BUSlh3V3NUcmNLSFd3alRnaWloWXY5NHFXM2VPRjh1NEtVbnZnV1RhRXhuQTB0aW1MZklTak5uY3hKWGYzeWl4cTBQSGFNYm1JRVIyekNqK2pySUYzZEREbE91V0VqVWhsdU9tYWdKK2ZnamhJYk5obzBwQTZLR21tL0RZdks4WEVpWmxpNWZGMVdHUkM0VzhHNlpXUUZpUms1ZnZUK013QkxJRVhmT3JxbzdUREoyRWZFN1gxOSt1VGs3eU9DVDFXYkNaQ0hveWhtdkZ2NWJvZEZ5R0dyZDU5VzJkU1ZKekJ6MC9tbkg3YkgxNWEyVnBhV2xsQldzN0xxZEFlOXEwZXFxMFF0Mm9KRFFtMy81SWhWQXJPNm9RWW9icDZmUHBESEJqNXRjTnN0SWY2b0g3Q0EwbThSbTE5Q2s0V0dWY2kvYUVVWW5USW5Gblh5SHJVSmdoQmg3RDlYTmlvbXVFdjhFVSs1Y0swanh5K0xpa3h0cHc1UTRxellsd21zd3VDRjVPRUdXdzI3eXhOMFBnK1BnNEZ6UHpOL0dBK3gwL0wzR3hPT3RTRDAvUG82WEdBMWpFRjJzdCtrT1JNSnc2NzNiZk04dXF6OXpSclY5ZVBvdUdJQnB4R0duOCtxb1RlZW1pSjZld2lab0lzQnZFVEtRcEtYbzBNRE4rVlFLa3pxVW5XTXRqVUdKbENzdjdRNzRmU1cvL0tUa1NKRWI0SlYzeVpyUGtBMU8xOVBiT3R5MzRta29mM0JvcFRXQlFNWHBTT1ZVRmhKOStMdllHODE4WU01MWE5L056azlWaTR0UktQYnk5ZFhWMTA5UFRjd1ZkcFhIRFljUm9Jb3VZVnh4UkFIMXZ3RktIdUlES3gwK0cvQXBPT3VrekFYWS9kVGhxcmZsYnl3eGcvUy9QTytZdjRldkNkb1JGcWFueGR0MHpGc0ZBeU41UldVbFZXUm9TamErci9KZGZ1R1VWWm5tREh3TElUblhZZVJKeGZxQkhXVWpHWUV5NnU3bkJoM1NmYmZWYnc1SnFodnp5RmRuS1ZueUgvNDM0MlU4Q0hORlRTVzN0MlZMTllvM1M4NThFYWtaTzVadzBBUldPVGs1VnBhV3ZXQ3dZc2JmczBNL0xxenNOdWdLZnB0VWtPbHcycEZXbWRTb05QRGUrbGRTcTZlak1iUSttU0R3YzFoTU80OUJZbjgzTGpTbnEvM1lIdXlmNDVOamExVldBSWZ0Z1UydG1WUWpYdFdpV2U4MmU5MFVtT0s2RFBxUGk2akZqRXd1TFlLc1k0WHFRS1ZmMDVmRml1bGh0cmRuVndzbnBPUEh2N3Q2ZUtXTTVKOHFlNFREM1NOVHJRRUgvNjBNTVhTcWxNWE8xbEFJZVZLaWlraW83bnZ4SXVQVG5kMG1ZV0ltV2xEWHM0YlR0V3d2L3RBWEZNdFJYUlllR2hkWnNINEt5QXVBMDU2UXJCRysvcDlqM3RYSm10R0RVeXFzeGNjTUt0akFVK0MzTFBmb25ZNTBDcDFMSjIvdEc1S1JkVTBQalI5M2gvZFZCVkJrQlVGbFp5YVNhMVV3Qk5YYURMU2NrSEFZemUyYnYzdjNTMWpXZVhWancyYmhIN0tuTHozZUp4eTZWeHROUG84WlA2dHRndGpIUXRWeDBHY3paWGhXUUprS1hGeWtMVVpDRDJXYzRQUWI4KzE4TkNiZ2Flb0pRTEFCYXFTbUt0UUx4VGVKdUxPbnJWdmZNb1BOSDk4K3c2MVdIeGVFdUppYkhIcDVhUVg2ZXNyK1dRdys2SmRoNm5GaWd3RVNLOHArVHY3NlFOem10M0plYlB2MzlSZTdjM2h3cmVqV2pXZDE1Ly9kUEFoZlZSOXQ1ejNuakp2djVLaGhGWEoyTUhueFFTT29MSmtxMS9BVnYya05leDhMNjNSYS80N2pWUGMrR0xGaGxXcFNDa3MveFlDa1RneVdrbGtVVkhuaXJINDlMWkFLaXZ4UGdYeVFrRXZCVkFmakdYZW1STWlHQzhZVm1Sak4wclovaUhQOGhxZU44aUEzR1JqNzdSZW1kS2hiWnFhbFhsOU5xcHRLOWtibURLVXpqbVcrZDU2dU1oOU00eUFzWEptaGplOElKSTJiNFNDb0c3Q0h5Y0tlaTg1NlV4aWk1Q3VIam1vQWVOWEU5TUt4MGU4YU9Tck1qTmZlb2dBSTM1V0hjRDVWU0IrRG95T3BKRGNOb1k5cXQvRHFTZUJINzRWeXU5Rkw3VHJOazNSRFUyTDlnV2pRanpNM09Ycld0UFRuQnZzWFY5WGhlOG5jbW5wRFhhdVNic09mZmpkNG9ydmVjT3dQbTFFSlFPRURnbGJZeUxqc0lucSsvamxERm5YMzRCN2VvRGlhYWRHRSs3YzlnUEVRcFZGZFQrMkF6LzFoODZtWUYraDhYaE8wL0djU0ttWklKcS9MSUVzT2xwVUx6eUk0Wi9GalQ0M2l5MEY2cWc1NE94ckpGUUNEUTNnaVlkd29hUjJ3MW50TmgwWThkU28zOE54S2M4WmdCQXFrUjR3R0Rya0tydzF5NnI5V3FKZXEzQnhuYWRuSzdrdHlqUE1pSFhZWDhSNGlUUjY0eEVVRHB5VlhMN1lMRkJzOTNzZVFHNklGK3pxQ2l4d3ovWEZwOFNZTW53dzJTdHc3UDM5ZHpRdjFXYWgzbkx6SXlwMkFBRHJacTZtU3c1dkVpVjIzVk5UVTJYWE5ZcnRxYm5XLzZsRHFYQlZiaE5HaGdYdWJkeVgxeEMwdnZ2Ty8wSDNUNFpzRFF6QlJMM0RoRHpubjEyY2RaZFFtbSt4U1NLVmIzM3BMS2pDMU16YTQ4OWUxRHg0NnJoaisrNXdwcHVIeWxhMVdJZzR0NmU5eDI4cTVnVXVKeEE0Y3YyODFtNDJmM09JSVhXRUdSMWJwTlpNM3g5OU92alF6SDNDQ2ZSeTFERXM0MlZmeEN1b0RkN1RnUnE1WFRYbnVkVlRIclFTTGJ3ZUN2UVM4UGErUGlENGV0bmdlZE54MG5XQWtNRmhnU2Jkczc2ejgwN3F3dFZpejhad29vVmF4YlJhTHllSVJ5SlEzdUN4dTZaelhkbnBzVldxM0hwalNMVmNYdS94UTByZm9kcUFXZXAyeTh0Y0xrdVhjbkxoNnorYXhEcGN4cTNTcjgrdUg5MDRuTUxHVzJkZVEwSk9RYnhiZExGL0UyRzNudmxUR2M1OGM5Q2JWd3NFL3VaRyt3aHREMHJLLzFsN3FDL2ZYQnNlbGVoMmxxWmNVdXQ2V2srS09teDkzSUE2NUUwckgrdmFrMzMrdHZhM0ZlaEpjODRMOFhIRnhHdDdNRUNWK3NLcEJ2OG03OE1XVjljYWg0T0pIWnRabFdESTBmbTY1Ky9lWmxVZS90Vk9TdE12dDkwdERpOGRoTDAxNTF3Y2RQVTF6Rnd1T2lVSG14NVJXaGY2UFVzTkcyTDIwSm5udzRYU3d5bXpieTAybS83cE9nUDZ6aEp4UGFucjcwOGxzakIzeW9IdkgzNGhCWW1WNnZ5bm81WEpwVHVlRnJadU4xMWsrY2RCZm03V0xleW5qQ3lseVZmWWF2WUI1NjFMVThvUG1ZUnRpWTluczZrZmswOXdXVHlpK1BKc2pSWkh6b0oxVGw1dEJkMXlvWm9NSk1HN0ZuRHNqRENqYWNGdjZPVlF5TGw2QlIvZCtYeHpXYXRkcUVjYm5KQkMxb3dQT0cyUVVUdUlsOUFER2w3UjZudTh5M1plNzVNYmV4aFR3WUNjeVdBMDYzUDFwN2xPN051L09OV25WdzRRbnlWSC9IbVZLYmo3cVFtK250N1ZTYXF2dmc0amdhdW43ZXhwdEdoMlBERnBBSE4yRDRaUEpPL0Z5bmkrUm5tMk9MTWlkN2hRbkc5eU5Ucm9abnRWRkF4OFBUMi9IcDB6aURMNks0ZU9sRUU4TGM0b3JubzlZeUVtdmpzMzNBNDJtWlpZdnp5VzhqOEtlelBRbGU1MWRMTGpmdFRLdHRUOCsrbFZGMlFFUG80Q2hDeldzMnBkT0V6QzM1Q1IxTmhKdXRTRG9VZFVNMDdwYnllVTdERnovT1ZVY1J4SFZxTjNCY08vdzJ6NnNXWlppeklTRWV5ZXUzcFZET29OY011UnY1enVWVGJydmxVbHM2QTdrN2xjeERRQ0tHbWZacWpDK3dkSHJXbVJIbGJYTGhoMXYwOExacnNYWHphdjF2THY4ak5qaHFUVHhacFBySTlLRm0wK3dYUDQ3VnJrRWxKL0F4bjNwcjFYcmlmV0lTeG5lZ1pVQ3ZwWTVJc083dTZQZERiYjJYTmk3T1NZVlUvbW0zUjE3NXpxR3VVTXF2WDFZNDRoYlpuUnFER1I3YXdsTW9PckZ0ZVIrbSs0RnpwVldaMWJab0tzTGZHZTB2RGFFMVN6VjJxMC9sOFJTMVM2Y2o1L2xYZWliSnJ0c3JjUTh2VTlDNzNhZWJycmM0UmN0d2lSakJZZkltK2drUHNVdngxSFE0Z3VkZU1saHZRTUQzbzRIMjloMmtWM3JrN1ZaQnZaQU1aRy9jNmVta0hNOCs3YlY3dE52YlF0azFiRDFxam4vUURJeGx0TzBMYlUrKzJhWDA5WGhnRytEUXowekhBUndCdDV2K3R4MHJYaDhESHJsVE1oKzhaSjc2c1JwUmFnK1BNYjhLVUJna0pxR1ltU0NqTlpPVFlTUGNYZkRHQXkyZkpTNU84U3FHZm9iR2lXNnZkckhTcFE4T0lKeC9pL3V0N2N1bWkyMTNQektJOEl2eTRkYkk3ZDZWZUkzbklGSnlLYmorbG0wdlhUUkYvZUhQOVpxanpWT3V2NWZUYXE3cnk0SHY5cEJveFpwK2pDVkR1UXRwWlpBMTY5c1RCT0p0anFiNGRyZUxzZEdITjdvU1licE9xeWF4eXNDdHZvc1FRSEdueTNEK3JYM1dQZ1cwNFYwMUR5THRDRis4Uy9CT2VOejYwQkZlK3ZSQWJaRjYyWEFwWW4xbGJINjg1WDczaHdtNTR1OENTcm05NmZFZnNnN05SQUJTcU9ibmZxZlpXYjlndmZDbitLclpmeXk1dkhnYjh4OHEvN0lJZVkvcWkwN3B4Q2xHZmtYQmhGajVLZER2S1ZGZGlvNVA4OVhmN01ubXZTNDFTaUsrM2FLMWRUTzdyTXJMaFBGTXY1ekdpUkpYTHMxRUNzb0lINytRSFFKa0Q0NGFrSnozVEdRZmRtMmZxUmRLTDk3L004Z2ptL2hPMnFMS0hvaTNhdVoyV09aUm1hYXdIRHppeEhsS1VEd0cxMTl1ZlBLeU0rUGpSQVVuQis3MDNoMkt1YWZGTjlCWXBPUnR3NFdWcHNGTjhQRmI5ZjJvczF0dS9RQVBVOFVqRU1FU0hnTjh4ZjZlOEFHNE4rdkNVeEtycDZZb1N3bHhVTUhIbjM2cFRIdkZPYXlyZStTWUREamZpb1dZRWVVK1YveVFBaDIzSFlFejRFeFFRenhvMExoRlNhamxqd01qaytERWpGT21FQXgxaHlUR3Vqd3ZMMzh5b2pDS1BScGZwMU8rNEQxTjUwWmxpUFV5d2RHd3h1UXo0NDhHNXpISXFSUEtmVVFiLzZxOWdteXVydTNPa3FOaE9ZcUFxcjd0WDZZT1hSVmhyUzFRWDU3VXBsdzNpL0tNZzRZYnAwZjNuQWVyS09FOFdwNFZPSE1FWmJUYVhYKzlWTnhIOEUva1l0dTMzZGVjWWxMWEhRMjB2NXVlN0pONHFKWVBQTjh2em5WYTZ3eVFqWHVGZzhtQ280ZWZGdVVFRDdGS3BPRGlycEVDc2NPeDFwWXVobFBQeG5FWWtoMzhZN0dyQzdIZTNOcWRNZjNZUUovUm9iWmQ5bVBLZmwxdDdhY2o1NkRZZHdYUFR0b3lEQzI5THVPUXBSeVc4akZwcW5yRkpMNXRsemhzN2MvczYyQkd2VFJBV1NpSmowamhZMkhEZnIrdncyUVBpTUpJWnA1RjhRTUJPV1BDQzZWVy8wZXFtdU5qSi8wMHRSelJ1ODFZTGtneldtUENlTlBIQVkxWERBMU5UUytiSkYxbStqckp5TDlOWnZyMzhOL29GTUd2ci9lRU1UQXdKRWc4TjFPamtuQ0s5UWk2Ym9ZN0xxdW9xRmlQNXh3ZEhvckNMcnQ2VDVzK1lvS1F1bUdLZ1VqT2R6T2E2WDVGL3NNUGMvMjV5UUw1VjVHRFEwUG9pUEM2UnE0UmF5cFAxekJoQlpSVVZnWTgzKzJCbEpSOGNycGM5dEc2WVFzMlJEVmIyUHY0ZDVMQXgzYWUzU0o0cy81NFNxNzIweDg0UWJlOVVWUit6RWY1UDg3WC9BNHF3MUJ3QlBqNGpOeVdPVG51N3U1Z3VsVk43RXBMUjBlbkMwbjhianVscW9xVHNlVWxhNXpCc3ZuR3RrUDBjSzNySlMrS3lxRE55OUhRY0ZsT0sraXNqNFNyUlRFOSt2cjYrdXBnL3NiL0w2ek85UFQwN0hVWS8va0IwMW5PZzlOOWJ3eVdJczhlOTVmNy9WVCtEaWVySFRLVjR2ZkxLU1lRbGN5NWszZWZpdFZ5Vjd1Q1hwSVpRSkZyaFdnL2JoZEIxR3hzQjAxZFQwZHJMODgzMXJrQjE3RDY4VzVmTFVnNGo1SDU0T0NBaEowVXhUZExiTnBqL0VtNWpoMXVmTVpJaDE2TXR4YURSeUdaQVY5ZU1Za0IwSnhPUkZWSFdQZWxTbDRtNm5YMXlFd21uRHBpMlFkblNNV0lQZHpiMXZVb1VxQ1NadlM0L2w0M0pFdEkwV0dRb3NhOVBVc0lhbmZkK3BYQ3BDWitQa0NYS2VBbzdIdStyVURPVDBFaC91bTJyTHlLaktRYU9mU1JFUkdZZG1IVzRNWHFwZEZQczFUc2QwRXhVQWtPSkNIRVpVZlJUYk1jOVpCU3I0SVZMVllaR1ZKbjNKamRmSkxxSkw4MW5FVXhEeDZLcXFxY2VpT3g1Qk9vbnA1dnVycnNabGxaV3dqOFhnaEpTTkpUVTdPRFJQRTRpbXJDaXdkWkdWallONjQ2RnhOOXJCZjVjbEVKZUN3WGt3akhVclVWa2dsMFNqOUxrdzF5bXdUdk1zUjRlTTRtMGJPMlNMVlZCUVdvMG1NdHJoTW1CUmRYb2kxTGY2eVJUQktmOC9MeStnZVBUODNERDFBV2dIdHdzbWtCNERqejBrTkI2SVkzemJ0c29ERTQ3d2tJUUJPaWFDU1ZDbmFrdXh2bjRYK1Y5ZU1IcjdITWZNOEZ4U0Erb3JLSzEwVGJmaWFXMHI0dCtONEM4d1JKU0ZEWE5PQUtKL0Ewak55cGVXTXJRU0x3YWxaWDRuWTlEQlowU2VyRTdPeUFaL0ZvUTZoRHk4TngyNFBKRDk2YlF5OW9aMjFiUU5wWitwb2U3eTVSNFY1aTdMcHYyOVVmWnloMHBPM01pN080S0dJM2h0Z1NJVWUvdzdhYzBzYloxc25PTG1mVlBHamlxNDdrbWc3ZnlrTGlMNjV5ejdST1NlZm5uZU9HVjQxNjkwOVpvMGtsN2x0eGtFcWh4em9ENjMyNzlnMzJnSFVvMzFiZjZQN3dsQ2xHRjA4WVdMMXQwUEM2ZS9NUXpxa3lvZkhxNmdxV2Vka0NqcUwwdmtPcUlOQ3cwMm9IT1NqTjdNTHFkNkFJT0x2akZPby9MWGJpZFFhMXFuNjZac3B0VHk5WTd0anRFNW85SDNaK0ZWbmJObGQySmY0NHdZM1pDeW9tU1ZsY3BHOXkwSGs0Rmo2ZFNtbHFxMzRsOUh2VHdZMG5leTY1bzk5bmNYRFExazJ5MkhFdHU1ZGo3UHJ2RjZ2THFodEhhZXltYnhRTDBETmVIYUhjaG9hR2crcXU1L3VEYXB3STZXV280OE42R0k1SjBKTW5NRy9zdmZKNGQyRTk4aTBwOVQ4RGd4ZG4rU1VWeVB1aXBGVWI2Qm0vUnZvWk1EQVo2RVNZMVpSVkZKYXg2K21SNGFWRUVhaUVHMXZsNFFxWXBlNDNUZ1FaRXNsclV3UTdJTkZNU05MR2tGQ3ppRkI5b2NXV2hjdnJtZkZBYmFEaXJBMGZRazg2YmVDWHMzK3Y3N3BCK3JOQVBnRVpQbVN4M2pxb1RaN2ZqaG9WdnNwUmh0QmZIQzZuZFBtN1NrS2R4UVkvRDJBbW5iOXdVclZKYW1QaE9zL3RFdGoxQTNxNDJpSHJPRXhWc2NYVFdUUUY4dks2RHNNUmh3VWZCMFl4YzNVVkNlTDNOakJRbjNTOUJGcFliRVVUTUFFakdmd0g3VW81dHZTdENzVEIzNnA0QVp0RVdoS1d4bDUxUXBJb1FTVWNlZTBVbFV1a0NoOVJiTVN3T01ucGFJUC92NFAwdXloaWVOTzF4STltODB3d1dEQlVta3F4SjRZV253VTdTanRGbXUvWFYreUtsUGo0ZUE1REtHQURLL2IvL01FbE1DMC9DeTNlWHlmcVZnNU0vdElpcWliamJUUVJIVjlhYk91MCtkR05QNFJ0bUd5TmdFTWxrYzlHQ2M5WGhVNnhoSldEQlZFWmdSQVU2a1Z4eWtjeFFTaXE2VzREeDdOTWJFUG1OV0tPYU1BN21QUHQ0T0pWazBVcTRmN2Z2N0NhY01aOVhPeG1pSzM2VW16UGx3cWdNOUlpNW1Lditpb0lJRzdZMmVjTDlIYVgxYjBmNEI2TTV5MjFMYU1zS0VLMUpQV3JHREdQUWNyWWxDV3RjMEpJMDBZaWZBTWdLdUxsVmFMUjRXOFl6VThVOEFnVDVpc2tSOVF5eGlrZ2J1U1RhbElrQzdyaE9vKzBXS1NLK1YvRHBvL3RMWmlhbGVIZW5lSnFpOTk4M0pNbkFLTi9NcEdiZnpFdjJkUlBNOFdUZkoyQndUYWs3TWJKVmUwQ0l5OW94cHNmcnZwellXbkxIaGN6TldVdmtSQ1QwT3JocTlCa3AzeHNqTzVwdnpSZjdBSFpkS1ZRdU1pcm5OSUkwTkMzS1NVVEhIbWFjUHA0aHUrVmFQM2hzcHA0ZVFWeVBIbDh5UlJ6MWE2M3FEc2xrMjh3cE43aCtxalNiOEFGNXhFdmVramJVNXRWc0xER29tQ0FaTm92c0VvSlUvTnFjSWtwUzNIekJ1VUV1Z3ozWDB6bit3Mk01NTA3cnVhMG1sYXYvYUtnRXdVQ2xFcnhMbUxqN3RyYWV3d1JFZGFoZjU2UU04cXFwa1Z6LzJRS3RzcWN1VWoydUFyR3Y4RjhEMFdJdHVCSzFYckgyNmtWREZlWWZDb1hVWmd6WDBiMlpUSUpGVE45Szh0RkVKbEdpNmFPV3lYbG8zK2hORzh0cVRSZVJBUmoxRkVFL0dyTWxUNzlBR3JDaFJhVll1dXZ0NnRKK0hzbHlPazJydmdkWjFKWlpnRVZqcmEyaTIzZUp6RkViSkZ1L1dzZUZGZDcvUENjWDdaS2NDZ3BLYi84WjBkSFI4Yi9HYXhmckphUS80alZ3VzdjZXZtYnhkaVV0YnQ3YkhOeThHNk9TdFFIVjVJMTcyUVBrcWNRR2NOUXVBR081aU0wYmF1RTY3NFEvY0gvTVNyZmtWTFVVU1NMRnArRUs1V3I4M2F6T3dSQlNFaklmWGNFTE9CbzRPZm5SNDNiM0Z6VHNXRXRqWG5RTDRhRWhBU0R5VE9zL0srdlJ6bm5acUs1OTZTNE91R25EUWF0Qy83ZE9kM29oUzBRbE9ZSGIyTklkZXV2U0ZRQ0E1OFZNcmtSN3h1dklabE9kWTRQdzF4ZDdTNVBNOVB2djJFemh4YmFYTzRKd2dNaVZqd05CY2FDMXF2cHBvR0xFeE0xRG90MWViLy9NRnZJaHZITFl4ek1WZG83TzcrMlpkUFliSnczV1laVjFKTFc5dmIyQ2E4bHhCV3UvcDU3SGd5VnIrUWtPRjIxZXU1a2xnMlhyemcxZlZwSkNOUXl5UlkxT3ZMeTltN2IyWmxkY2JwcjlZeEcvL2ZNckZPK3FtZGRvTys0Yzlqa3hNUjdVOVBjSDZOZjdCNXIwUUVZeFRuOGJxNWQrN3lpTGdkek9sOHVGam5oZys5Sng4M3VXUGJ5bXZMa3dNVE1qTWYvN21MYUZtTGRRVzgxWGtYQlNPVmhwbFNUVU03U3lnclpqeFFQSkN3czdIVzQwRk5YNmorZ3JISUE3dWJoSDgxampyZDh3S0dsT202aE5tWGRTb0ZBSUdvU1R3MHRMUzMxOWU3ZnB0OTdlSGpRUDgrUm1INkNXNGRKRWpJbFI4MXBXRllCQzdXa2lDRVF3WGdQK1I2alJDNmkzR0VGVWFwY1lVKzdJUzZYOFprZms2UjA0VDdvMUJ1a2hRTndZbzN5RHB6TVBjMWYySzlmWVkxa0NVMjdabDFlWHA1ODJoTmhJUnhuSkJtM2MrN0t0bHRWMmVVangwN1VPY0VtbFAxRTduL2lpL2NUNEZURWRlMjZ2V0FWVDA5bkFLWE56TXdvWnd2ejgvTHk3aWhCeThKMjkvVUlrOUJ4RHorUEltWEhTbFJ2dWkvcXQ3anR3SVFNMUhtdEU0UG9VbG1seWJFWFRnVmh3aEUxcTl5VzZwMFZad2tYM1VINU5WaVFRdGlqQkFvVm1KMkNUYnJkUElmcFRjSDVYend3aHZEcklMMFQzazl4KzZUY3Bxeml2VVBNY2V6SEJGS2l1SjFhbno1cC9IZzk5L0IvLzQ4M3QxTHcvN3U5R1FUWEdjTFdPNDBKRFFSZ3BpaW5LbHNsYlJiNlAxQkxBUUlVQXhRQUFBQUlBQ1YzWVZqaTIyNEhzd0VBQURjRUFBQU1BQWtBQUFBQUFBQUFBQUMyZ1FBQUFBQmtiMk4xYldWdWRDNTRiV3hWVkFVQUIwWjg0V1ZRU3dFQ0ZBTVVBQUFBQ0FCbGlsRlkyNjU2Q2VnUEFBQTBFZ0FBQ0FBSkFBQUFBQUFBQUFBQXRvSGRBUUFBYlcwdVltdHBkMmxWVkFVQUJ3NTYwR1ZRU3dFQ0ZBTVVBQUFBQ0FBbGQyRllPWVhqUnhnQ0FBQlhCQUFBRHdBSkFBQUFBQUFBQUFBQXRvSHJFUUFBYlcxd1lXZGxMM0JoWjJVdVltbHVWVlFGQUFkR2ZPRmxVRXNCQWhRREZBQUFBQWdBSlhkaFdNT3Zmc2o3Q0FBQXJGNEFBQTBBQ1FBQUFBQUFBQUFBQUxhQk1CUUFBSEJoWjJVdmNHRm5aUzU0Yld4VlZBVUFCMFo4NFdWUVN3RUNGQU1VQUFBQUNBQWxkMkZZd2hvNXA4OEJBQUFuQmdBQUZRQUpBQUFBQUFBQUFBQUF0b0ZXSFFBQWNtVnNjeTl3WVdkbFgyWnZjbTFoZEhNdWVHMXNWVlFGQUFkR2ZPRmxVRXNCQWhRREZBQUFBQWdBSlhkaFdDVHcyL2c2QUFBQU9nQUFBQklBQ1FBQUFBQUFBQUFBQUxhQldCOEFBSEpsYkhNdmNHRm5aVjl5Wld4ekxuaHRiRlZVQlFBSFJuemhaVkJMQVFJVUF4UUFBQUFJQUNWM1lWZ3lQN21uTHdRQUFOZzdBQUFKQUFrQUFBQUFBQUFBQUFDMmdjSWZBQUIwYUdWdFpTNTRiV3hWVkFVQUIwWjg0V1ZRU3dFQ0ZBTVVBQUFBQ0FBbGQyRlluU2NXb2pJZkFBQlNId0FBRFFBSkFBQUFBQUFBQUFBQXRvRVlKQUFBZEdoMWJXSnVZV2xzTG5CdVoxVlVCUUFIUm56aFpWQkxCUVlBQUFBQUNBQUlBQ1VDQUFCMVF3QUFBQUE9IiwKCSJGaWxlTmFtZSIgOiAi5a+85Zu+MS5lbW14Igp9Cg=="/>
    </extobj>
    <extobj name="1BCC2C28-871D-48CB-8BE0-2867F7803ADB-2">
      <extobjdata type="1BCC2C28-871D-48CB-8BE0-2867F7803ADB" data="ewoJIkZpbGVDb250ZW50IiA6ICJVRXNEQkJRQUFBQUlBRFNNWTFoejlHdkRzUUVBQURjRUFBQU1BQUFBWkc5amRXMWxiblF1ZUcxc2ZWUmRiNXN3RkgyZnRQK0FlQ2R4K0txVmtsVlZXYk5KMlJZcDZmcnM0cHR3RjdDUlk5cEcwLzc3akp1c3dVa0dDTUU5NTk1enZ5QzdlYTByN3huVUZxV1krS01COFQwUWhlUW8xaFAvWVhrZlVQL20wOGNQV1M2THRnYWh2Wi8vdUdSQUJ5UGZNOGl4alZqTHRFVSs4WDl6OWdSeFF1S0FrckFJNGllV0JuU1Zzb0J6VGtsRTB5Z2w1STl2NG52bXlPWktOcUEwd25adnNkYmJWc3NaMjhuV2FCc0ZmM2dNTHJHR0NnVThJdGVseFFraGZjb2RxeXJqZkRIRW9wUXZVeVhiNWp1cjRReWVOMml0Z3pEcEE3ZUZ4bWY0S2ppOGRnUkhkbEVvQVBHZVZ4S2w1d2hmQU5lbFRZdW1jWjh3cjVoZVNWVjM0QXVLUHZqTmpHaTEreS9sVGdIVHdQZkRlV3VPSGRrcFM2b096ai9QWm1kVUVDNmdlNEhjM0RwQ1NNSTRJSkc1dk5IVk9FekdvK2hzdEFzT1VUU09uUjdPMlJxMkhiTXhEMDRzMXBod3pyeXk0Y2tLWlZNbXRQN1JhTk9DWS85SHFUWTUyMW4vNjhOSnJvbXI4a3VxSlJhYmp1ZFdnK0lkYzRldm1kS0hNaDNzSGdWdXl3dWdkZXlXMnZhSFVuZVozNXdQaE9RcWRRa1BBdlh4eCtCTXJHUmlEVGJ6dm5nMlBPMlRxVjV0RmlXQTdsalo4UEFMTUM5L0FWQkxBd1FVQUFBQUNBQmxpbEZZMjY1NkNlZ1BBQUEwRWdBQUNBQUFBRzF0TG1KcmFYZHBOWmVGZHZJTTEyMXhsd0l0N2hHQ0V3SWhnVUFJN2lVNEZLbENDeTFTb2ZxOHZmVy8zempqM01JY2U2ODExNVVKOW52c3pIbldzZm00WDUrVUkrOVJEZUozbHJKNXdnZEJiYVpRcmZoZ1ZjQWZaeHZNOTlyRjVSR0hvNlFHUjliUis3dnlLaDJScThUUmZ6Z1dkTFArRVlNVHEvZytQUjlram8xQldXazdGaVpQVHVKTXdzRnhmMzV3bWs1WG4yb1RDU1VFTE0rVi9scWo0WGxsWTVNNFY5bmVFVWlHUTlmSnI2aDV1TkI2RzV2UnVKbENoOUpYdUhDRktZMitVdVE5VnhjNHdha1ZWRncxNlU0c0d4UUVUODBpeUxqZjNkQXdrT1c2VlB1SGV0aGU4TXNDQ2Mxamx5aWJVNGFSR2VOcW10UGJXRXJ2bUo1YVJoVWlPWUo0dG9Rb2F6cUppL1NMOGNFZmZaTVVzQmtuZmNCcktianBhblhYYmNxUVlTdnN1WVJpQlVCK1JueGFKR1dscDAvVW1MNlRKNEZSU012NkdycGpsWTJZUHc3Tko1dllUUTNtL2xWZmI2OS83aHU2VDJhVHRTYldEMGVZT3RybEFGeXNGTlNZZTM4ZFcwMEVmbm9OZHE0dTRqVytZUEFIOUhIUXRWTUdzdHJJTmFWQjZsUWtQbXczajRxdGgvV0hvV0toZ1BoVHpJRElocUNVUE1nUHBaaE9NYTlrZmZwamFuL1F3Yk9sekhPL0xsOFJsQlJCOXE5WUpLdllPVWE5enZ3RVJTY1hzOWl4MW9rSjlWcjNaRmV1OEZYcVNkdGZpSDE3OFJBdlBINXNIN3g2TWRsZk1XOHlIelhTOFI4cXk1dHFpTktDb1FLQWZVZFJmYWduQU1iVmV2dFpSTFY4SXJIZUlFREl0MXpEN2c1RjNsOC81NEZTSjRZMXVINHJMOE1XOW5lOG9USTAzYkpmcjREUkQwN0NZWi9mb25RVGhUcVh6M3pPZHUrWm9INU1hZEdKMEJLcG95Um1KdlFvMnJLd2s5M3p2NGk5dFJ6YmNtaUowem9tYW5HNFFUa05Sc0NqYnZXYVBlUVVmYmREZ1REeCszbVZON29HamZNKysyaFhteU0rZmV6SlpiSVFFSHExUHlGRThWU2FLSXo5MTRNM2xWdHZGYmcrenpkWjNseXBvTHliNk9HV3BzQlFTR08zLy9HLzdpaDhlQ0FIM3dUR2FaZy9EWnlOSElQYXVpdURrR0F3RXdna2M0Zk5rYU5PWWxsTFB6ZG1td0xNNlhKNkRVUE1pYVJ6ek1idElka2M4M0hoVjVscSs5ZDlwVG9XLzQvLzh2L2Qvd0dQb1dFMmZISFJ6WjJpZUNmUmg0d0lyMmRWNnVLeHgyenRxTEFXSmxQSi91TjgxTElCZ0tMOVUzL1dnQ1FYSTEyTm1mOVhNd0w1VG1jd0xyS3JJLyt3aitKQ0UyOEgyZlo1TnNBU2hvSlBIREZFWHM3SmIrVU9TNFptWjY5ZktOajU0Mzh1QURUR1dBYmYzOXlrMU9CQ25sRHRuODV2UXlNaUhhUXNVc2RQcVhwL00zVlFLVHNTNC83cTNtK3dXMHNhYXp5Tk1jcG13OE5iZG1FMU1VcGo2MkxtZk82aDI2cGpBRVR6em43Smx1YUJHbDlNR2lFdC9kZ3U0eG5SWHgrNnFUM2NtNG1FN0dOLzR2UTdwSGpEclJLTTIrZ2xodHY1ZE94TU91aTM3bm9mWENJbEpHV2YxVTJlTTFBcDNwYWJCSi9uczNGcnBXVVBPZU5mT2dxYzBuanQ1M0pxZUE4bXVtbjhhYk5vNzBSbUdvWkNGbm5jYjFsZEg3WVdpWFBxR1FkTWJLTlVRa01neUdYRHA5VnNybTREQTRHLy9ObWZCMFc4OXY1N255MzNlUUdPc2Z4WTYxajFvb0htbVVYaGVrTWJTMzVGcmhlcHdkUmhkMFB4OVpjRG1HektkYnVDMzQwN0dWd09va0c1bVZERlJmWDVTOFZPYXEwS2hQNndhM3ZVN3FyaEpEbC8vSCt4RjNiTUNUYzJ2WEdUaUxYam1wK0FNbVk0OXN0SlNuTi9sb0lLbUVXL0FOa09SbnFFV29QQURUaE4yaHRpblcvYnhGcUh3eUx4ZFdGRmNYVGMwdlV6VUh6eWJaOXNqeTFBUGs3KzhiOHp5SUhadERnWWZMRHlIMzZNc2h6dzhmRmlXRkVVdUJOeDhoQnB0YkVhNUFmVFJFQUJzd1cyS0l1VnBKQTh6ZG8wT214ZlFmc2hET2VsL05WZS9WRTREZ3VGZENhdityaXBHK21ZQUUyay9MY1pEVGVnRlRRZlAydXlnUFJDOVBEemRGODBTazk3alZwUm40bDU3OUpMVklhRlJDVktSTXlJaG5lQ3VGNEVZRnIrOXkvblRoaGRsMXA1cnN6S0ZaK1VvKzlSTUVTalowaktsOCt4cVNnWmdUejV5M3JabmZHRzVFVHUrbVZpUUIxd05yZHAzcStGVWlncG9EaFowN0JRTEVhaFhoUEhWNUZGYWpvVkhDdWRoUFRNNFl3OUZtb3ZBazZuWFl6SERwVXBKQThFUVZRYzBGbnIwMjJCcC9CSEZ5bDlQaXhTbmxjbXp3Q1lUWFE0L1lXRlFUZURsSk1PRENpeWhRdDlzdU5YQ1QzMTlpVE9PcjcvWjU2cnhwazUwOXJubnQyWU4wN0tlWE8xWUdBbExZTDc1aFhZamo2VXh1OFdlaG9GNzdma2QxVG04S0VuK1B6OWpoRllOZUVzaVEvNjlyaWpKRWJHdDRlWXo4UjJpVWU4YzdTNGJaM2trRUVvWjFUdHJmeTIybUhRcFkva0hqdjV5VVFka1E2dGNPTXYvenRPbmlMZ3BKMlpNU0RqamJzcGxVa0w3OWoySVRtYUZ3eUQ1WDNWWkF3WWFNaVJ5eVl1NVNhZVpKNlFFYjIzV2xHZFRPT1M3RkowbHljYytZeW9NVmJVSG5PSXErZU9JdXZPWjgzbkFsSUFoT2N1TjU5eWdSQ3BaM3BKWmxBOER5SlVRaExQTXJWcVhxK0RQQUYzc3BqL3gzcjVtaG1wbDlTUXlCcmhLT09Ca0d2M2J4Y1JsMWpZL1EwVUwzTG9KUnBCWjBOQ0I4RHhtODluZ3l6a2gzU2liUXk5Y0paTVhBcmROc2YzbU0wblNZV0QyOUorNWNSR3ZFdy9zcnM5ejFFaVBEQnp6RVFNM3N4U1RwSFNod1hJN3IrY1h3VGZ2cjJVRitZb3dYYXFaZDZaWkF0MjRERldQaklLUVlLTzZxV2EzbnBMcmltVlRXRGh4Yk8xNitKVXBBVEhyb3pVd01vbS9mZDZ4UER1NWt1UEprc2FtcEtSd2NEZ0V1VjVOTFY3UTFuVDZJcFY1cWczR1Nnb0pLTWVmNisxQURPVXJkV3RFQms4MlJkSFBTUHk2ME5TVW9Mc3dNZjBOMFBVbDREd3pFaS8rUjEzUmh5RDJzYUJwUHQyQWw5d1Fwejc5NjgzaFVicGxmajRIYVh0YmZkd2NTTHo5bHExN0duVVMzSWJTK3l1WUxGZllKeDJiQWJhcjF4NDJ6SG9QRkJtdDhjVVRFYVpjbTdKMDRxRkpGSUxSZXBNRjR6R25RRi9sUDNJdHJpUktIem04WVgvK084SGtGcEhmRDhmZ0hwbDA3amZZdFlrdGZ2Y29hTHVGTVEra1Y0WlQ2N2lIWHhRYi94ckRrczJTd0xJMk12TWZpUHJsaXJZVEVLaE1LZldlUmllWUNxT3o4cnhPTzdLRThBaGVBdEtlY2xnNkhWUUo2TTEzckJnUWdZY0h1b0wvZkYvTDNtVXdaaUpZeWYvSzVFcUZKdzdMZkxMUC8vQkxoSWlqMHc0T011K1FJcWUyRE0wOXo2T29wQU1pVEVQQmNxaXBIdWw4djFkMCtxMkhFdmpWUWZuODdIbGJrcXhzMktHUGZUZXl5b2lJeGFpN1gzd2JTaTRRQ2RtbTZuakIvTGVnU2N1cEkyR3RMUTVhbjVUZlQ2cFM5U0J6eTMyN1IvMjNTRHRnRWZjY1NVYUdVRnVJNTFCcjE1MWlIVndzUitWc3prWitQcFUvK0RRTW50U2hkb1N5NGVqVFZYVzh0ek9ZcDY1QmtNYVE5YmQxd0NUcC9CUXlDWllrbmRFUE8wTjIzNUVGVFNTOXNNQ3BwcTd0RHU0am9jcytUdEdGWVFYME1hZFFaQWxtWUl6cVhlZk9qbFlESXhicDRXYlk5VEVCYUhLVUJ3eVA1YnVtTFJNSnB1ZS9MN2laYnBKWFEyNzh0NCtNZTgzWG92T2lTUEI5MDBleW5VZGovZVJMVEhvUnkzajVNRm1vZnV0K1hXZ0kvbzRKczFNZ3NlWFVTcW9BS0RKMjdCVmNOUkZWd3MxU1B6MVl5cmtiTEsvNFR3WGxwaWp2dllKUXR4MjhyY2EvZW0wR2J2b1ROMnUvL21QbTNsYlhkZUY4WU04YlROYXFWVWxYaEVHRWpvZjNmTTF0cXVrQStPYlZYRTl6cjVmbHdXR2dLUlhSOXZzdnpUM1NaQk83L2Jvd2pTNnJrbEdub0thT2gwbmh6bC9KNXprNDNDazFXbU9RdzV5NGhncXg2alBxTHZ3QlJkRXN3SnBvWFIxVVYvRmlyNFVqOHU2YnI0RWdGd0Vlc2VlS01LblJSYWFGTkJTTDRYbC9rdXMxRmFIa1lucU1zUlp4cmdzVDk3MHJQQkM3amJaWjVrL2N5TW02MWdTSHdpSW1OY2xkNW5TbHVvWFU0MkkxRWFia2NTdTNwMjVLZ0M2a1JpbGkwc0l0cGsxQVFtMUVZWnRnYWlTS0MwZGRjenVJR3U5VGUzK0thUVg0RjRkZi82YWlKUkRkZDdpYzdIZ29kRU9XZzN5SUc1YkxUdWVYZHdyYkxSYTBCMHNHRnpob3FvUHRaSE5Ld3g5SGVwRE02YVIwMVJCWUVadmQ1ZmVFR0xDNmNnU081YTZ5amd4WktjcGtKNm5OVE1sbkw4NXZybnJkbCtQNStTOTdsOCtNcG04dThlSW83bmY0eHdLQVRyZDFDai90KzErZmFyU0V1Yy8xVU51L0dNa0Q3ekdiaFdWUlZVaVJIWnludEl1WTFjM2ZwcnA5eXdST2YyTWJLWStzKzRhMVZ4MEQ4RmlEOXRsalFVekFUWklQN2h1Vjk0OWJpa0E2c211ZlpnYklUcFplR0lMRXVSNW14QkZKYkMvZnNlU2lGam55bHdidUVwazEyL2Z4QWYxd29uN2RWZmZXZ05XZmRxaGtlZHZ0bThmNHA1RVFqcTVBTGJzVFpaeVJyN1MwTGc2UEx3Sko1b2VlRWpqNDAyMy9VeWNBQllFZGpxaXJmcnEyU3JWcGVDWnZZZ3lvK0kwR2craDhaTUI3QXBVNi9rZkFuWkRQb3dZQUNvZDhmbjhTTmE2RHRDY2NpdUNxT1ZyR1gwbzltRnNtUGxwdDRzckFtc3cwL0RmNTYyNGRqczJ1U3YzN1VaK3J6M1c5UlhCVVhhN2prbmNXdmNwdHo3ZVhtcGxaT3ljeHREekhSTnc0a1lpVThEZXVWSDA5WHBpaWlRQ2dMMEh2YUtGa2t2T3Q3blhQUEFBdU9xSkEyc1p1U2JwUWxraUNKN1JXcmEwejhwcXNIOG9ONTJkS3MrWFRWMkFrL0R4d3VBd1RoTzZxOC91YnU2UDZJdEE3SFNxdFVyb0s1SVlmTWhSVFZZWU45dnNPWjl6c1NVdThmL0s4cUI5N0R0RkMzQmFaSmRVRHEwdmtnUk5tWkVVakl6UXJ6NlgwVU9iZGdpTnVUV2oxbWlwelh6QU1oRmxmTHY1dmJxeFlJaEFscStYT1lQMysxc2QzOFRoVW9oUFBSWW9ORS9yT0hQbTlTaEM1TEk5WWZRTXA2UElUSzdDbDhLaHYwK0x1dFZSZkpSQ2pabEVBQXprY3VzM0FEamo0R2FCTlVIK1JONERrVVJRQjFJeXlFdVVtcjlja1ZoRXV5WHhOUE1mOFNJbk56R2R3TC9zNmVxN3gxODVGSlI5c2RGbWY0SDRadTVDL0FlZHRjdHdkd0llMVIyVmt5TnlJNC9jV3NPa0xzNnZ3eDFENWJUYXpSQnk2cVR1ZTM1THFRTm5mL2wvcWpET29kMzZuRXVaQUJFckhUM0g4UmpPcWlIMFBEZjZKalVsUUphNC9YMFJWdTNJNWVxaS9zcXg2ZitYLzYvL2YvK2EvdmJ2cjhsVjV4SjZwMVcvS3NTVUxyM1hvS1lIcnNiVDZoQ1dPZ3loaUl3ZFBpKy9KRlo1NktJNUIwOU8wMmZNcGoyR2hPTy9wdjM5ZWNCNnY5YXdjUndnWXY1Mnk2eE9oR3hCcU5sckp2Q0puZTlQOXgwUkFQdXBIR2RlajVBZmlRYzA2bVhQejNYb1hOQ2QzS1pBWUczN2JieGk4bWM4cXhKMmtOSzduMG9TRjNWVWlwUkMxRDQ4TmtRQlVpT0ZRanpCVEJ1N0xVbjUwMU5aSXppc2JhSzJaSW5JMERhdTNoZUNQTlVOWS9HZkVpYXgxZThrajVGVEZBZ2djWXZ6ei9uVGpCazErMkFlblMreE5zTFhkb2w1eFB1ek45bktxc2cwTDZTcHpYZE9SMWZReldsRFUySVVwMUdLNmJpSGRZRU9qTStzbjc5bGtUVU8yRTNBc054QUp2SktyNHFSY1U3c3hLZzFoRnpiaDMwcUdHdVl0U2l6bzlJZ2ZnWW9jMmZ6MUxINFZpTGxBQVg0QWsrWjlDWnhYYmd6bkhqNkZtOVRaL2RWSFZ6RlA3RFF3YkdBQTAzeHdMUkdBTWxIQW1ncTYzM3Y1VjRWWGM3NFVMK1pjbCtXaXZmOHhRbGk1YW1DK29tWVQyUDN1elF4bTh5SmVNckp5YWNnN3U0RHBmbXQvbERjTVdTdGJsZmVNS3o1bzE1TVNBVVZGSUc0bTZIZVhCZ0w0UGRuTXZyUC8xazJFS0pUU2YvSktMZE1qZHc4N2QvOW4zd3NHd0lhb0lqV2JLNHhtRFgxNzcxTElWT1lBR2xicEh4NzNJeTBhb2h3RWFCa3FEaklaMXBXWXA5OGhkT3lCdFhYcmQxVllPckEwbW5LUnJxcW5hb0ZTWHBrd0NsWDhUZEtWNUVJNGxhR0lWQVJDRU96TUZtdDVDSUNNQlFBL1lpU1VjSkhlaS82UDFCTEF3UVVBQUFBQ0FBMGpHTlkwemZwcG1rREFBRHRDQUFBRHdBQUFHMXRjR0ZuWlM5d1lXZGxMbUpwYm8zV1Mwd1RRUmpBOGUvYkxxV2JOdFdFaHdjaGFvSWFGVTNVSGpRaGtVZ2JuOUg2aU5Hb1VhS3RyNldVdG9vSFFBUktkOFVDMmhha0JRVUR2Z1A0amhvREowNTdNWnc0ZUtOYmV2RG14WU9KcyswUzJqcnAwdE1tLytTWG1aMzVOc1g1bWM0ZVpFcUxqWHVTSXgrVFEwKzNib2U5SWt4TE5TS0ExU3FRSjV0QW52WlhIYWc2aUlmc1IvUkg3WGI3TWZ0eDIyVlBiU09jeEZONEdzL2cyVTZBMFhNQmdFMnVMVmpIVkxBNkp4Z2NKaXdxc0FxLy8vNGl4T1FXd0hwYXNKOERiTWdPcHJiWE5zRlphZ0gwVWtJMGVRS3dXUWxYd09BaHdXZ1ZXamJ2c3drU2Z4YndEaVZZWmk4QjNrVktpZTdtQWRzWGl6dWpPR2RXQS9wcFJhcXNBQXpRaWlWVUNTZ3VGajVWeE9uTm14Uk5EOWhGSzFMbENzQWdyVmhDcXdCN2FDWDZadzNnZzhYaXlpZ3dmQUV3UkN0Ty9WWEFDSzFZWm04RDl0TTFFWEJnc1lReG5ib2JxNVhrQTR4UmsxUGZERGhFVFJMdkIzUXdxMW5tbXU0NkZEQzRzckRPd0hNM1FJL2sxcmhZWkhnMjduK2ZlUDlORGdYbnZ3OEMrWm1NWnBaM3VUMUZCY1hHRXVPNmlyS0tzcVZyQ2NnelpTemoxalVRcmRCbjhISWV4ZktsTEMrYmpIWEdlNFVseStEZzZreG9aZ1c4aC9leG15eXNXTDl1clhtdDJTcHVlRnRDeEl0RmdLNThZdTdxaUZpdmlMMzRFTVBZOTcrb3ZDYzNYYnlaRXVYSXBCd2NsNStNTFV3OFZjVUdJdXJhc0FNN0ZhK3dGTktpOEs3Y3BWNC96ekxFMkFlNWIxSVZ2WXJZMU5KSzhWTEQwY1NVSzk2dDlKbjRESTJadTI0a3UyNVBmT3VRZXg3Ry9XTXAwY00xbXdwVXk4eWFXV0w5M0VoMlczMFlzR1U1Vmx3WVRnNk1xdFlkbWlXWnpnTzI0bkt3K2FseE9meEZ4ZTRpVFl2TzFRRzJhV25CeU1MSWk0eWpjSFB0ZEczQUJPUjROTFRSYUs3bXAycE9aem1RbzliU2d2SlFXNVlXb0dxV25kc0FCUzN0eTZjVXduTmlHdEduQ1hIRGp4MjJnQ1RKUUNZa1B6SC9kVlFsdXY0bnlDcFlJQ09tc1lyUDR5b1JwQkFBSlVCbU5EK1JlQk9MQjBmaWsrSEU4d25WNnNtMWRwSExKSzBIN05Xd2txMmkzUFV5cGJpNEI3bUtSYmxFTlVEbVBMOGkzNHZFdjc5VmxSQkZjVDQ3Q2VSYmtWOVptSG9zZDQrcFNvUW9adDBqak9JZzVtcFFmUXZJZDBkalorcW91YmgreW91T3p2VURQdElnZkZjZHZ0cXRHY3NLSXplUWl4MGpCKzkxQUZtb3h1NENyeElkbjdLeFdEYjJ1OXl1Ym01UWN6TDZzcVdoWE9tSThqVWhmMDcrQVZCTEF3UVVBQUFBQ0FBMGpHTlk3U1hTOXM0TUFBQTh6d0FBRFFBQUFIQmhaMlV2Y0dGblpTNTRiV3p0WGUxdjNMWVovNzYvNG5EOWJGcDhFeVhFVGhHZjR6VkFYSGkxbXliN2RyVmwrNUR6NlhBK3A4aytEVnV6ZFJ1eTE2YkFsblZiaWhaN3daQms2TmFoQzdMK003RVQveGVseUx2VG5VVHBwQk1sWDJMR2NDQlI0a1B5SVgvUDd5RWZpbDU2OC9aQnUzYkw2eDIyL001eUhRS3JYdk02Mi81T3E3TzNYSDkzYTIzQnFiOTVjV21qdWVmVnJxd3UxN0VWL0lNV2YyM3JUdGRicmdkUDZyVzNtd2Y4K3ZUaGYwNC8vV3dCMW12ZjkvMERMcTFlKzk1UmEvdm1ldlB3NW5MZHFrczVHejIvZTNoeDZiM1dUbisvZG8yLzVSQmNYN3k0OUpiWDJ0dnZpeFRrMmtGSzQzcHc1eUlJYUwyMkl1UnRCSEtDUnplQ1J6Wnh4QU1VUHRqYzd2bnR0c2hvQVlwY2hHaVlmR09RYkNHSzNTQjVjYXhDVjV0My9LTStyOGRtdDduTm14KzhpNFhNYTdFVSthNm9LeFRpdmUyKzM3dlVidTExUktLUVBSUzQxbXEzMS96ZVFiUFBVemQ2clU1LzArc2ZkV3Ryclg3ZjM5ejN2TDVvMmx2aDViWHdjcVc1ZlhPdjV4OTFkc1N0MEJwdk1PUWRJQlhHYjF4V3I3M2JhZkhMZzRONjdhcTMyMTl2OXZaYVFYOEcvZVIzeDIvZkNUS05KNno0dkJvSFl5bThsbHY3M29Ic2NCSmthYlk2Ny9zZkJCcXVYZDdkNVcwVmw3TFRMKy8wbWgvVUIxa2FmdHZ2Q1RXTnBNZ01RUm9KUlc5NXQ2TkptL3ZOcmhlbUxZcEVybG1SSE5RRVd1NXcwSzJ2Ti94T1IrZzhLTG5YN0J6dWNnV1BEU3ByY2tSWlk4UEpZY0IxaUhwQVVkY0ZtTkhvb0ZvY0swSlVTSFpuZEhSUGRQVFZWbWZ3bXJ4K2IxUVpvWnQzZ2k0ZGpxbjY0UDFHc3h2Y2kyZkR0RURvb05tYmZydTF3OHVSV2c0Vkx1cTZ4Y2NWUjBROUVQREc3aTZod1Evdk8yK1gzM1BNeWlFNUVEaThITlJ2Y2F4UnZGVHZsdGRlYmZhYnZMRkhYVS8wSjdRR1l6cDg5bDNQUC9ENnZaWjNPTHErVTJ1MC9VTnZSNnBqM2IvbGJma1hsNFRhRjZBTk1JRW9xbmVoZG1RQkNJa2RVL3RRUXVPb055Ykt0Z0dKZDZBUXRFQWNZS05ZLzEwU3p6QWdMb2F4akN1eWVoQkFnbVBtcENHcVp3TkttUlBOdUpwUzR1S295b3REM1lTWFFtVkM1WnY5TzIxdlpERldQQTdCalg3dCtzam8zWkEyamorNzNObVJUNkJGQ1NCTVBLUFVBa3pZdHpGRTFOYmEzbTFmU09adjhJR3h6d2RweHpzOEhGWk5sRHlCTEc3RXlrYVc3ZHBLUFJsa2xZcXNCVzNRbWhWWnN3THJMSEhGQ0FWSUI2NndEbHc1bEFJTDJnbTQ0cjBQRFdPVmdDc0NIR296ckFRRHRJQnIyVzVHVkMya01SYUd3RW5DRlFNV3haQ3BHY3NOSHJxeE9qU2tWQVFZY2FHYXN0UkZsZ2N0NWppQVlpUXB5eUVBNjRBV0xSOWF6RlhxeVVDclRHZ3Q2TVBXck5DYUdWbG5DU3pHaWRiV0FDeWtCVmcySjFPTVl6N0owQmNNQmtDNXVJS3ZJcTY0QzFVSVYzeWd4R3laNUNzYnhEeXdFYUNDU281RWNQVGxFREhNR3NGa1lqMFdWRklrSUNtd1dXeThyQ1JtYWlSbldrM01WQlNKTnFQQWplRnRCRWM3c0EyRHh6Wnp1QlZKZzZPWWRHWEFJeXNkajRPbUdEenF4bU1pbUt5czdKYU1hQUN4N1RCdkFlSzhlRXJKT2cxVktWa3J4TlowcXN1S0xTMHJpdW5ZUWc0Z0Jsc1ZZa3R0K1hQamF3YWltb1duenBpbXBxOTBaSVFTMXJLRW1Bb2xQbVVBMUVCSkFTVmszTVpYeFcwTTF6K1VlSnkrb3A4VmoxcVdIdFB4S0p0aThLZ2JqeW5VbHVKLzVXVzRtQTg2RFZDeEROUEFGUGR5S3dUUzFIWEdyRUNxWUQzRTR2MXFnRlFwa0l5UG1CbEtObVRBMVFJbExVc1pFRG9PVjFVQ0p5RnFmRVRsa3IxVERFckpLT0FhUjltY3hJVkVQQ3BscUwzRVpDZFJKVVRBTWNWSFZPVnBKT1paVGN4VEZJNFE4c21ORmQzVkVRYW5FVmNkR2p5MkxFM01wbVgxSXgyT0JCa1hzUlE0SmtMSkFTUWpzU1VqU1NGakdwQVVXYWJoU0ZYVENtR0VzUjVXSTFwV1B0SmhSRjNqSUZZTEkrWG96SW1qL0RES2o2SXpCcEZja3RNQUlpM0xGZWtnQ2p4ZUE2SktRWlRxRzJaRTBReHUzUXhlM1JrN2RZTWxBQTFBMHJKY2tRb2tabUZROXJhb1Z4SkkwQ3ByamtVS3o3QVVFdkxPcitJaXBqbUY4UnpUZkVKRk5UV0NNSXgycVVGb1F6M0JNRkwrUWdkRFZyQy94SUJRT3dqekxWTGtuVnE5TG9zVTA2QWt0L2hwZ0ZMNWl4U01ZclA5cVZvb21kbFZGaEF4RytuWlEwakxYNkpnRGpOT1ljVWdTdkVLTTJJb3QwdVgyNk03VTRmT1FhNGVoNDdxV1o1QURnUk9Fb0JrVXd5QW9nQWlwVVd1c205dlNnWmhqdjFOTTJ4dm1tVjNVOFdibXlDeUZZUVZ3aEZiZVBSWnBkd0xxd0dPZWhZNVV1RW9tMkxncUIyT2hUZkY1OXpSbEhkRFU0WDdtZkpnUjVzdnFHZHRJaFU3ekRIZmQxV0xuVHdibXZMdlo1cGhPMU8xdTVueUFNbWxlajRlc2NKSlZiUFZ1YkxqTlJOUUJMRUxYR3hQWW9uWDF3bmhsTytNbzl4SW1qcjBnM09BNUpDM3JPWXVsWjltaFBtbmZzQ2NHV1BLZ2pJQktqZ3lTSzFmMXdKa1VybmN6eGhUTHVORHc0NGRNaUcxeXljSTZaWXFLSGFsN1cvZnJBVlhzakpTeGRCV3QzRFlRUGxQRkxYZjdEVzMrOXdJWExrdVdHU3RlZEJxMzFtdUgvLy8wY3RuajA4ZjNEMTkrcHQ2YmJQMUEwK0lyUTBIWXIwMkVQcEdLR3lEeTlyck5idjdRMkhpMUNrKzBlTFp1b0g2QWlXTFpraU5kYnUxRGZsaTQ3b2NGLzN1OFBMNDdwY3Z2bng2OHJ0N3o1LzljV214MytWTjd3Yi95WnlMbzdhUGtpYXMydnZpVG94d3k3bkFKN3I4RjEzSSsyRVBqQm81YkEwV1hhanNFVUF6ZUFpUmp4RmNRTEcwY1hZR0lXcDNmUWpiY056QWtZeFJIZEc0K0V1U0dXMkEwV1RoQ0dHNUdKcmlkaVFVSjAwbUJyYXdOMk5hR2NrTWJXZWsvcWxhRVBZbnJBY002Nit1aDV6OU13Q2R3WWZ4TEZxUHh0VFdyeVlWSERaaG9oOVRSb0pTaXJvZkxTWFhwZlZnbXJaWGtrcHZLTXRhbmFxMnBPN0xBNE5MeXJKWHBqYW1NZlVOVFg2djBORHdQTHdyQjhHaGUvN2hpTWhEOGhXZVEvaHVOTys2ZCtCejB6RktsWWZXSFU0ZWVlZE1IbmxIb2tmZUJUMDNlZVRkd0dBTnFxZWllbWVjNnJuMDFuWVMxME1FSWt4UDREZ1pRVzRuQVV2YzV5VTJDWlJDOTFGU3lranZLT3BuazdQenFaTmRBTWFpV2tka1hPdlVqcnU4amVIUmMra2JWSk1kQUN1OXhYallZdTU4OHA5SWkvUDVCRVRsRXd6a3B2Z0VjQWFmNFBUQlQ0NS8vZEdzUHNIa0NURmIvbGlLT0hCendtdkE5Z1dJdWVkQXVPZEE4bjNxRWZNYTFGWStxOE1nVUtzaSttUm5JYU1BZ2Y0a29wcVFvVzVCMGZ6SkRjZ3gwOHBvdWNkTnRhREpSQnR0VDlob0ZqWFJkdFJFczJrV0dsclZXR2hOcS9UR1Foc0xQYk9GTGpaclM3YlFnNk9NeHkwMElkd3ljeXROdUpXbStRS1p4a0liQ3oxaG9aRTJDODB3QXFqa3I5S05oVFlXZW1ZTGZYTC95Y205UnlkLy91TGw0OCswV21nYzk2RzU3NHdSL3kyNDZtYXM4L3haWnhiZXJyWjYzbmEvNVhka25hcXoycVFhcTYzcENEcGp0WTNWTG1xMUgvejc1Sk1uV3EwMmpWbHR4UDFxeFAxcWxDOGdiS3kyc2RwWnJEWWFXVzArNnRLTXRvTWl0b01CT0dZN1hDZ1BBVkhHcFcwQzVzdGd3M20wejdZVDBUQUVZMy9iaUVDMWNqbXc0Z2RnRjRsS2wyS2JVZmtySFQ5KzhmVERrMS85OXZqdUY3TmJaQm5mR2JmSWNrOXdEck5iZTlzZlZGMnJCWFpRRWZPYmtGdGd1SUR0TEpvL2srMVY3SFhpT2c1d2xsbkh5bnJtVVhOcVE3UHh4Rmlzc255ZVlCTTBnU0kwd2FJc2dhYXloRjBCUzdqT2hKSU5TeGlXS0ljbGpqLzZ5K252UDlmS0VzeXdoR0dKYzg4U1R2a3N3VEIvYUZqQ3NFVHBMUEg4bTBjbkgzK3RsU1Zjd3hLR0pjNDdTMkNyZkphZ21Dbk90REFzWVZoQ0kwdmN1Ly95NGQrS1JtN2x1ZFhqTElIei9jVTh3eEtHSlY1SGxrQVZzQVN6Rk44WEdwWXdMS0dSSlQ3L1F6a3NnUTFMR0pZNDl5eFJSZlRhSW9xanZReExHSmJReVJMM1RqNzlVUWtzWWFMWGhpVU1TMlNOWHVQbzRSQVRMQUVSdjBjSlgzc1JSM1ZXaVdHSmlJYVJsY1lTTUVHNWhpVWtTM3o5VllITnBrNk1IT1lrYUkxSkVYSkl5RzNJUVllaXlpZUh4TS9LdEpOQTF1QjBBUktneURKVEJVTUNwWkxBOC84VjJMbWtJSUU1aVVrYkVqQWtVRDRKa0t5eDV5SWtRQTBGR0Fvb2RSN3czMGM2S1lETVNjRFpVSUNoZ0Fvb1FFOWdHU0lLa3luQVlZT3ZIUTBKbUpCQk9TVHc0cDhQanU4OVBIN3k4WXUvUHRiS0JpYXdmSjdZWUQ1REJ0V3hRZFlBTW8wNnJCRTJ3RFNSRFd6Q3pDY0wwOWtnZXV6NUpCdWdoRFBQRFJ1SXk5TWYvdXprRjM4dkVEcTJZand3SjZGamFoWGhnWVRjaGdkMEtPcDE0b0dzSWVJaVBPQkFnQTBQR0I0bzgyQ2luOTgvZnZZdnJUd3dKMUZpd3dPR0J5cmdnYXhSNGdJOHdJaGpqa015UEZBcUQ3ejg1azhudnl4eUVGS2NCK0tIOGxOMEFWTENmMjFERVlZaXpndEYwQXBpeUE2a1pzbklSSkhMWFRJcWRBUlNqQitvaVNLZkp4STQ1MUZrbWpXS0hQd0owVlFhd0NseFpBWkp1cWt5TkNEWk1xYmp5VWd5QXdsLzA5TlFnYmpzNzN2OTVrTFJPUU9KeFpMcG5NU1NCUWdMc0VKaWZzTUxlbFQxT2pHRG5rK1NJU1pFL0IxcXM0Sms5aGVkeVFyU1QvL3g0c092U3VDRU9Za3JtLzFGWm45UkJXeVFOYTVzVDVrbFlEdVpEUnhrRHM2ZXpnWTB5cmNUYklDeFlZUFVBeW8rS1lFSzVpUzBiQmVhSENUa05sU2dRMUd2T2hVc2J2REtYUHpPdDFCTEF3UVVBQUFBQ0FBMGpHTlk0YzErQk1vQkFBQUVCZ0FBRlFBQUFISmxiSE12Y0dGblpWOW1iM0p0WVhSekxuaHRiSldVM1VyRE1CVEg3d1hmSWNScmJicTIrNEJVMGNsQUVKUnRmdHlXTGR1Q2FUdG1GZWU5RCtDMTc2QVBJUG8yZ25zTFQ3cDBiY0lDTmIxcER2Mzk4Kzg1SjRjZVBjVUNQYkxGUFUrVEVMc0hCQ09Xak5JeFQ2WWh2aHIyOXR2NDZIQjNoL2JTUlJ4bDhJWmcwVzRxMHNXOTJwVVJkSFlMR3E2TDBYV0k5eVpxWWNmeUlXbGhOSnl4bU9VeENOVGtYRi9uR3JEbFNSWmlyeER3aUh3dzZyTUo3QWtoZGcvRW90VXN0UHhBUHJXMERGOHVLVFFJaVNhQnZ3R3BveVdROXJnUXZUalRFaXBqU2hieU1sek9XWWdIcWVCampITDQ3SFR0M3JGQWdSM3liWkRic0VKUTFOSzk0WmVlODRTWi9tVk1xYll4dW1GOE9zdnlFa3Q0N2NQVmZWUUlyeVRBVWo5OVNOWU42ZGZDU2JQRXZTb1JXQWxQczFnZUNISDVWVGVhaHppUDFqUFEwQXo4VzQ0NlJrWnBkeFl0ekF6TG1Nb1hOTnFBUDBQZE9pQVl4Vndzb1lROEhqd2tSck9XU0tkQVpORUw1dWY3L2ZmclkvWDJzdnA4VmRXSC9sVzN5YWJVMmloQmVRYlpVckIxbmJkcDJqU0NmMmpVOUVYYUc4MW1mVTFqOU1CTjFUTlBUMFE2dWpOTGtRZlZyOGpENXJKK2Fyb2NDejZWbzFYM1dTRklaenRSblJmbXFmUXltcktMZVFaVHU2b3FvMGgyazBma3FzNEg2bWdJWE9KaW92OEJVRXNEQkJRQUFBQUlBRFNNWTFnazhOdjRPZ0FBQURvQUFBQVNBQUFBY21Wc2N5OXdZV2RsWDNKbGJITXVlRzFzczdHdnlNMVJLRXN0S3M3TXo3TlZNdFF6VUZKSXpVdk9UOG5NUzdkVktpMUowN1ZRc3JmajViSUpTczFKTEFHcUtjN0lMQ2pXQjRvQUFGQkxBd1FVQUFBQUNBQTBqR05ZMmJIRVV5MEVBQURZT3dBQUNRQUFBSFJvWlcxbExuaHRiTzFieTI3VFFCVGRJL0VQbHRuQW90aUo4NVFjcXJZMFVxVVdsU1NDOWRnZUo2TTZuc2gyYU11ZUQyRE5Gb2tkZkFDQ3Y2bEUvNEtaOFNzUGorc0dtcmpKZUJQblB1ZmVlM3hueGc5OS8ycnNTQitnNXlQc2R1VEtTMVdXb0d0aUM3bkRqandON0wyV3ZQL3E2Uk45TUlKajZKTXppUnpoUDZrSGtHdmd5NDVNbEU1ZWQrUWErWDBEeHJBakgxc2V1SlNsWTl1R1prRDVrV0txZklRZDdERXRMVlk2Y0lmUW1aVmswa3l3YnpLSEI2WUozYURha1ovVnpiWmwyM0pFcVJFS3RCdU51aFpUbW9SU000QmxxVEdsUlNpcUN1eDZMYVpvaEdLYVRXZ2tNaFZxR2JacXFlVTJvZGhhcTk1T1pPcUUwakNhTmFNWlV4cFVwZ1ZnQlNSMlZPcmVNcHVHS1N1em9TdHA3RXNaQ1pPVm1jakZuSnlCU1NpOXdHRE0vZ2hNWUJkN1l4QkliNmZJdkRnRC9rVkgzcXNzbWtrMHVzaHhJb1hCOVlSNDdXTUhXVHp4dENwU0dnMkJEaG56TzVxSjZKZ0xmRTVYU2YzeFJFNlJDM01sRXFuM0VBMUhBZldzY1QybUpvbmpvaUgrYTVoaHFMRlhiaTV5STlXVm1XSnV1TlliclcwMVA4MDlQSFZweDZLaXRiWEFvQ3BMUFdnbktaR2xBWEpKbzJzSWNLd2ZIQlZSOFlndktwNmFGQlhmNXNtK2RCUEN6cTRMNXBKUWJsU0lVak1OVWVyaVVZcFNoMGtJSjBMVnFOU3NlQjVzUmJuUk5OaTBxN0JkTmdqTXpnR3R1OUZ5RG9JQWVpN2JmMWZGWHZKKzZPS1dYbHphRWZ1eEpMOEE4by9BaEVxeTY2djRKYmllUzJyYjErei90ZFlGdGxHaTFxTFd5OUtpMXFXdWRZRUo5TUZxUGJ1TTRpOEptZml4YXgxNEhyNlUrdWdqcFB0MHBsVGZyZGxmVjNnUGMvUWo1SmtPTFBhZzU4UWRRUThGdk90OHc3dEVXQy9uTHJFMHp3MnFSYmZUekd5Wkc5a2p2cVVnN2lySGZBRUFyc210QjRDdTVNdzcrdUhVTUxaalR0cnlPNWNsUnhuajd5Z0FSSnVKK1FJQVhKTmJEd0JkeVpsTDlENmhZVSs4NUxhaGw5d1dvVVBTYlJGN3piS0FoL0YzdEh1VWJrOHIwSktmbkIyWWF3UUU4cE1qSUxCNUNCQWVmMUdoRCtCVndDTHhzOHdtWE42d1ZxdTZydVFaWHNVclo5R25pY0dVYWpEckEwZm9SbVhIK2pMOXVPckxMQjRDODZMZ3E4Mzh3Yzl3RnZzSWN6RDA2T3BNT3J3WWRsRndobWwvSkR1SytDVGpVNkdsWmhWK0swUzlMSHdwZFBQNys1OWZQMjYvZkxyOStWbDZmdlAxMjR1bHo0YTYyQTNDTDZsTy9jenVtUXBJWFFjTUdVNHBiZGxEU0E4ZjNGV3kzNjVhMVZyMm9uWFptbHJJR2dmMEQyeXRXS1RaSy9uSEZlbXExc2hpaDRQR0NQa1U0a3U0WjdON29VL2tqckFibTgrS2c3TFphb0QwRUxJUWRLSHZzMWo2d2JVRGVRK2g3OUtxY0c1MDMxOU5WL2pqRDVleC9OQUdlSUpNMHYzR29la1pMMUlYK1NPYU9zNDQ1elJUeFR6aC9Id1ZrZWxCQndRSXUvNElUUktYWklUU09RaEdGQVNMblRIUlBLUzlGSGpYc1ZhVkYxZC9PaDdQeXRVYm5Eb0J4OEhUSUpiVFZGNWpjekFaTXRsaUx5ZjV6aHhIWTVuTFRDWUFzcXNjWFJ5TUdaRWpFdmtYbmRHWjV5OVFTd01FRkFBQUFBZ0FOSXhqV0xBTTE2SXNJQUFBYUNBQUFBMEFBQUIwYUhWdFltNWhhV3d1Y0c1bk5Wb0ZXRlB2OXg4ZEVpSXBEZExTM2QzUzNZeVVVTHJEMFkxSWg0U2cxR2hKUWJwYkdDVmRFZzRZM2ZHN2ZwLy8vMzJlYlhkNzczYnV6bnZPSis2OXNWb2FTcmpZNU5nZ0VBaFhSVmxlQndSQ3dnTzJmVEdSZ2VmZ1dCRk40QVhMVGRuWUV3UjY0Zlh2Z2JScVQrTUhBdEdDVk9SbDlQeHlEL09DdmZSbWJ4Q2RLcGgwYXF1dlZKUXgzeUxrME1OQ2FMR3hWMFh6OC8va2RDaER5cXJTVi9YRmZFZ0VGMDVUTFEzMUEycnN2UldXTEltcU51Wk5FMzNVSldZdDZyU0lYWDh1bU0zdmJ6ajBZeE5yRWFUaytsMktiQ2NldnpnVnhNTEM4bnpLZW02VGtoM0I3ZHA5ZHVQTUc3Z3JQbW43Sjd2OTZrejh6bjh6U0pLR25aMmRpVjV5RWR2SVNBMmZYYmV1Tm9zb294ell4aDdWQXlZaTdkaElTRko3ZUltZnhhdFlaY2NwYlBQb3EraW82Nll3OEMxQzFhaUJYWW9pa1g0NXdOMnd4bUtha0Vrc0JkVDBkV3pOTWJ5cXlFR29tZUh4VFJxcGRCTnhjNmJ5bExvcE9Kbnh5aWtiSGlKRlZXTzJkWUpna3VRQlBkenVQeUJwMXRocXBzeUlSdWkva1BCS2F3S0xJTW0xamQ3b1lFbExROFA1U3VQNnNERjJGcFlzSVZlTFBxSTJ2VXI5ZnZxRTg0c0xLakdmZHhzOWtiSC9qU21EM2UrMWF2MzBadWRYVi9OemM1eW1UZXlMY1JIb2NDTlhBazRUVTlQNit2cXZWUXBELyszUjBOUzBzN09qYUJyL3lZb0t6dEVqYTJwcXFxaW9LQ3ZiczBDbnE0OHJuV0duVFlTMG1VVk5vT3lzWDRlSno2eVJPelE4L05JM3h2TTVkOHZvTXBnVzFxY0JCcElndklkQTBKQ1JLYjk1UStFN280Y3JhNVdGL2hWMXAwRWxxd0dJY1o0cjRza2tJU0h4aTJYWHpRMzExQ0Q3eGNldGtuR290VWg4alcxclc1c2w1T0dpcWFucE9IWm9aS1IxNjZPWWpvNk9Zb2YvK2Q1VVQwL1B6TXlNTzZSZmp6RzhoWkpTVFZmL3ZxWUVKVlFkZUorRWt6eHZGK05DR3VwRUJrN1FWcFhCRExVaVU4dnd0aUJpcGV2VHdwRzFTeG83RTkvelVpRnVQL1UvK3JGcnhtbm80ZUZ4TFg5K2VhbWEwdUFJSzlud1JVZEhsM3k4M29KWHQzRUd5WDZWQmVObmRYdmxSMWVlaWR2MmUra09rSG1aWTRDZUl3K1FFU3RnRDVDOXdFSWxpMXZUWU1IcDRrM1A2ckt2ajV6VkFERXdNeSs5YTBwR05EUTIydG5aM1ZqNit2Z0lDZ2xkblovajRPQUFZVFRnZlJuRFl2R3NrV1pWb2FSSTZCb3RmcXpSWVNtTnVZWGtFY2dndnBKWjc3elh1YlV1N2NncWpzN09uOFY4T1VNNk9qb0ltVFhHOHNTRUdCa1pKU1VsT1RrNWtVY2lrcVFIQTNUdDFxTXR6c1FUbUxpTlNVZEhGY3lqMWpkQjB2WUpQRXo0NnRibzRXUFNLbG5FVFMxcU05TzR4U2w2cllWNk92cjZWQjdTMmROUnpqVWMrdW9nSjhkeTdFYXY4QUtkV1NtMmNxZHlpTGd3S2FmWjN0Ky9xcHFhaUw5L29lWGx4aTF1VmdFQkFjQ0NlelVUb2xyb0MwZVAvZ0dwd1g3dWZYVWprdWFsVFVzbmdQR3JoOFFSSFZ2ZThNdkVkSWtJUjVlcllxTWEydW8xdDNpcE9mWm1zRlVHU3M4NzhYTlRwd21Eb2NXbXpWMC8ycEJONTEzOVBNMDdkUVJTU2ZOOHhFQWh6Q0YvZjd2czBwUlZRcUZURGQ0K1lseXRLRFNLUzR1THZIeDhrN2tpc01YRjFxQ2JVK1hnYW1YdWJ2UjMzN2lTUEs4TkNkMld5d2pBZTE0OUltYlZuNkJ2Q1V5RURZZGJEOU10QTBiNXlSQm1wWERxbDVmZUd2bFhSUXZveHRIb0N3SlZpL1hQVElpMUtzVmVVMHZiQ1hUcHZ0aG1NREUwek16TzlyODgrRjFSMHlINml4S21oeHZKbzlwTlJvdzZ5SDlDbW1URGxwaVlxSzZ1VHVjZllHbTVCblNWL1VSdWRtcHFha0VCVGNwYkU5U045ZTd3eHNiR3FxcXFVczBDRjJkbkNpNUVudVZiREwvS0xYL1FHRGNWNnF3cFZNc001MHZKMy9yUGZsVHdhaVNRUThqS3hDN21acXVUTWJzblFmbmlrVmRiSkk4a1JjMzgzVVkwRFRMUUhVL0h2Zml1cmZzbEFzNXpxTm9wS0R3c3NKZnlxc1BuSjZCRUc3YXpuZkZuaGE5NmRzOXc4ZkNBS3ZyWHNTWU5MSHBKaldURGJ3dUNMNU1nOXpackhjR0dsc0VYSSttdldZc056YjMxRFF6bTNuQzE4enVWWUIyWHJYYTBvL2YzOTllS3ZVRUZHUmxxSHpHQmNDWU5tdDdsNWIrSytkVjRLS0RmZjRrZDZ0WWJiZUF3UzUwMDBUWnFabm43MVBUN25kQ3lXL2pUUlZlWHRJV0ZSWEJ3c0xhMk51MTdkYktFN2s2SUVJN25HRHFqSWxaZ3E2MloyWExDUzc2ZHlZSzE2ZWtpdU9qa0dlSFR4LzV2NVRVMWtKTitVajQrUHNOcXMzMlBIeWtwS1dHVFFsbDRkZmVmOWxnVnNpbFNvcEZRZmRRdkFWQmZYRzV5T2J5RjhFbXYvTUdYSmxqbUJpRS8vVUR6Q1ZReE5qNytUdkNNbFBQOEpzalIwVkVwaVJxM0JVTVhXQnByTW5RNm1OMVZKS1lTUElsS3pFQkw2em1Md05CbXl0N0JRUnBEZVdQanhXb2dBdmVjMkVKYnU4NXVOTVBObVZkbjVJZm5ycE96Y3lhWDVlcnNiREU4SUNTMTNSRWF0UUVSQ2E1a0hJSmE1NlFVYVFGcmZtK0puRWxSeGNYR2RudFFQMmxRYWNUek4xaEJXdzMyenRVVmYyV1hYRjFSRVgzUVBZdzJRbE9lUWNUdmVEMWZJaEJWcG1XLzVITlIxV2htbG9DemdheXNyS2FtcHBPVGs3dTd1N201dVl2TFVWWUw5cUE2NlIyWmpMUXVqejRLa2FqTkl5UllWNTlUeXFRZ0t5c3JPL3YzOVBRbXZuWXczU2kvK1ladm5rb0trUXRCOGthaTBHcFpSVVhnZHJJU1UyNTJjaklCVXJDaXl2RElpS2puenRqQjcvclVsSlRUMDlNTzdLbUFFdTdqVnJ3OWlpd2pEVG5DS2k1Mjl2dTlyMG1LMmFwRzg2bVliN0NFbHBwZEo4ZkhnNjgzb3BuNXNyZUVWVkxvYTgyU2dwakZ4SllLT0xGb09UZ080MzY3WXZBVGY5UlN4VVFCbVJ4NVNLZmJtck56UlEvMkx0dFJxcUh3Mm9oL0NXOE5MWFNRb01VT0laQzNDQXI2K2ZSNTRKUktNelRUOG9QLzQvMU44OXFITzRaZEpidmU3TFMwdEt5c2haVVZDYllWdjFaQ1B4Ujc3Z0hhRnM1Yk5DcE8zNWlpQzZCa2x6b2hFRGRkSHNiaHI0WW9QaGJ5QXA2SUwvbTRhbDUvMDJmSlFWMFdPaE9qMUZTLytIRjkycWpXVjF6OGlMb1RxMHk5MzhZcWw4TDgzVlBFejhiNG5PZXJxWHhHQjNoLy8vNzlkaUwzQnBvMW9tVS9tcm1HcGRJQWdGLzFseTlmeXN2THYzeWg3U0tDL2Fxb2dEckZ4Ui8rNGwrQWZGaUtEOUNWQkhVYU81QjNZYmxvWHczSldhaFpFQW5qdWZnMUdTemxhWEFQbkRzWmU2VUZxL1E3QnZQdDN1d1dXSFlFM1RUVUVvTDgvZjFwSVBmdU1qTGRDUyszSHNMTFUxQlZIeVNMQ2wzNWRkT0p0TEEzM2R4S0dGalRicTlPWXNHUVZMclRUMGdXR0J6eEZvbGJ4NHJ3eVR3eDBqMkdadGUxRHVMWEJtUDVFaFFoODNBcWdaRjFmQnBuRTl4Y1JyaFhVQXIyS3Q2eE9QVGZ2OU96Y3k2R1JJYVd5TURTSWl0dlN3TlVJdHQxMFBuemZEK21PK1RzU0Z3dHArYm41MmRrTkxsdHlMYXRkTmdPcDlCbVhsaEhDNjBGcGU3ZTFFQWU0Rk1HdHQvNyt2di9iRzgzTkRSY2E3Si81WTZsSll1U0tRZUZiSUZ6bUhDQU5VWDZvaHEzN3ZFeVJkNHNyRkFRS1dTQ3R0VWNUME4vRnZORHpGU0VoSWtVWjE1ZUhwQzNYam9vdnVRMWVBWVZlK1pMQzlsbHlrclFuMXZvRE54N1RIMktQNGIrUUpReFlpdW0vbnZyb2tzenlpLytjZFpLN3ludllsQ1hyZ1Zza0ZBVjAzOHpsbGxVVEV4TVZEUW5Kd2VQVXZoNE01NEx3S085S0FxWDY4WDVEcEtKcEVCalNoR1A3VlJOU2YvekthV3ZWVVBGeVptWlYxTktOSW5PYkxsV3loSFMyakVnT2U5cnFzRW82NjV1ZDlEdUM0YmhieUdGYkc0dG1IY1VmdGc3eVdRMTRhSkZoc0pTb3YySjVCUVV1NU1GTkg2NXI0cmFqV0JPWFlSeUdPYy9pV1VOWDRQVU0vTEV1UUtKZEppMFNsZU9oTERhVnZZdHF5clkvbGlEV3ZOMkN4T3Zscjk5K3lZQ2RFNDJYMmxaMmRDR0c4amgvZnVWUnVmNWlUd3hSQ3U4ZW9FL2E1QTY4SUFMY3ZPbW9iSEZkbk5yQzlBOG1ubWlBa0NwMVgwbEFqMThyMGg3VVphQ0tnUEc5djVCR3lxTXFyQ0lGbE8wVG9zdUxaM280Sk9sZkQxYjg0SFlLcG1LaXNxaXhuZTc3ckhnNlg0WDZGOWhqNG5Cd1BRRFU1cmJQNzViYWZPYmdwSTNvM0ppdnRVbUhSdHpwdlcvbjJDVEE4NURacFN1UHoyUEQ0N1A2eXRmNVU4bWpENGNRY1NQU0RiSFNSK0xCak5iRUl5V2VHd0o2Y2kwakl4MkYzOW41eTBoN1VVc1hKMzMzOGZ0ejF4UnJDTXNuMjduS1lSY2Nrc2lkOThKbWdZSFA1UjFnVUI5MllHSmwycGYydk5DSzJsZmdrUTNON3M0T3UzUWhvZU02dWcxMHZIc3NKdWZ1L1RITVRMd2NVN3NoZGlJWk1vbzV6b3FNdW54VThzY3piMHB6bytuZUdseGoyN24vYjM2VEJ5UnBKenpOdzB4UnlQaUVmR2NkMXJpeGMxOXZMdUkvK24ydjdpd1VrM1h4UWJIWlVRUDV0bmpIWUpHM004TjZIT2dLUC9taXZscXdCcUtpb3BlOHRtclhaMnV5dVQyci9zbjY0QVN1dXN5dm53a0hUSExoYXBDVlFsTEE1bzcydHNsZUhqYzB5aDQyR1QrMUcxdmJ5OURuaDRPRHcrVEpHLzMycTlXMnp6K2pHQTZFRWNBWk5iWTBNRGZLbXJHVkc4L2JsSUxEcTJHQXl4RUtKaVlKYTRkQzhkNEp2UDNPODR4cUF3TWpjTTVMaTRXblpRcmxYMHBrd2RaTFphSFk2Q2pmNlNSNnZEYW41NzZYa1NnaDhkNzV0dDV0MEtvS1Q2MXNIQ2Rod2hpRG1KRDIwVkFudTYrMjQxYVc3bTNxZGxQNXJjRHplYmdUSUFjRmtucm40OVIvT21sV2E3Y2VqWmRUTm9MYmxWaE1OdFVnRG9Nays3azVDdlgrU0NZWktzWFgrcCs1SFdOK04xQi9kVWFCS0pIdEZCbk13alRsS0lpbmlMWmVuRnNWRUF3N3k3TXFVc2JZZDlQdGVoOCtldGl2Z0VoR2VIczZyNzhZdDdLNTRzRTUydUFHL2xTSitVVktZZUhoc3crakhMSTJnOWFvTTFYTTI4ZGVwbVltQVJKV2dLc2F5U2xpV25jOU01WVUzUFMxTFc5TWVEaUwyYjhhdjFiVFIrZlN5OHM0UThLbUhmQjZSdW1uOXJiMjJFbkpOdXI3WUZyZ1loMnpHZ0JRTkhtUzkxdjRCT3V3cjdITUd4bHhYazNmeUFLdkR3UUNiNDlCekNHNzM1Q3JGVHk1cTNwaXRURVRHMytuRitmMEdYK2p5RFdNL3UzekxRZkhCZnZseFhYRmp2dTJ4QWRkNmNGamdTeVBXM1E2NkNPMTE5QVJDR0EydkRabnk0R0FLbCtGUlp3RlJvWGxROWp2dTM1RXhGREkrODBmVUJxK0hoK2VhL3NlczhlQms2L3ltZkhsemovVlluZ3VEdU1kVUtBTFZIN0dKa1pIcS84aFo0MkZsTXdoNzVuNFJqQVlvWjU3MWJoRU5neGhONkdHUlNBTWZsbVp6VXhtbzA1MzRtQWdGMDNtd2lSTDlKYTlUamVQZlRZaU01OTNVbXhGdnpWSHlKZmJJTGF0UmlpSGljU3VGeDZKL2FWWGpSNDRPQnk2WkVJeVA2cnVzVVNqYkVDaXRWRDZqMWMvdGFtOVVLbDJqTlQ5WUhGZm55SjZSOW5KOVU5eGIxVWZ0UFk4NlVURmU4WGIyak1uYStJaElJcVN0dzBUN1JFRmQrUHB3NWlVOHZDSnZyN25YMFBJWGFXNFAxZHp0d24yRW03VkE3a3paQmtVbjlhclpxZDlhTXJ2TnVUZENKSkt1T3lzZGl4ZG5mdEFzZHRxU2lvcXNsdEg0MzIvWGg0L0duajRqeTFxNU9SMmEvYUNxeXJLb3VIOFJuL0srTDF6K1YrYmMrVXpSdFpMcHpqU2F4OGQ4MU5UdzFYbUtyUlE2b2ZwTWduN1c4NWN5RnRGNytJN2RpZ0RBVFlLRE9RQ3ROMEJxMmhoTGhQMmR4UUw3c0RjSjQrMHc3czQxWjNsSmpVZ2dITWJ3bDYzNHozczZtTlVIb2pQTjZnOE5tYTJUa0NBWG1ZVU1qRHZRUC8xS3J2N0lDamdGeDlDNXNxQ013eGRHN2FPbjlIWHZSWHJMcElhczFjTENiaDZkMlhNYTB2bmpxKzFVSXJvV0JDN1FhbjRUd0FOanR0L3JWZFh0TEdqdmdjbEpjbnZPVTVPR0xac05ZK21DMGtDTlJNWEdtTStxWGlhQjRENzM3U1dtK21vNm5DYzd3Z0R0RmFzei84Q3UwczduUzN5bldpdVpRRVZGdnFZVHdzc2hjTThSM0g0QUludXM1MlByRTJxamhYWHh1VThsUm5QV3NwbWtpbHhKbWw0eDcrTWdQSzBmdGhzbHN1cmNCczNTcVJaTWRHU0NnYzVmVHpWOE1aWmtnWUIrTHIrbUYxM09EbmtOeEdDRnZVWE9RU3lZcS9xV2Y5WENTR1ljM2FYTHJsMmsrSUwrbmMxOS81T1RYZTJRNlNXVGxKcjlRUmhXRGMxbFVnUHlIVlhkalgxUkhjUjVoa3VpL0xubFhPOU1vMzc2SGFZSi9OMnhERnZsWjhkbWhFVVJ0cm5DSTRnWFpDSjFyWEFCNjlpOCtCbkY0OXlUNW1LR0ZqYjZCOXNqU3RQNnVxM25rdmtIaDVmOStjZzlmNXE0SEdRWGo2ZDh5TXZrSTUydVhNd0lxNjl5czFtNHZiTUFFNFNub05VclZHL0VwT2ZPWkh4eGN5b0M0RzlQekI0UWVjb3RFL0hqOVdYSnBmUjRrZG9Wdm9BMlkvNjRtUjJBeFBUaDhMYUNpY1BqUTVSbkFjRGdBejBlSGhyQ29EZXdIS2h1aHJROFluOW1laFp4M2RkWExPcEs3KzNONVBtbytQSTgveS9EWkErYXdkbm9QNkFwMlNXblYrc3hsTHRVOUd1Njh2VjNDdmlNZUNTL3dFV3NrN0RFTUcvenlGR1YxZmgwWWhpTTB1K25WYkxlN21IcStRVlRRVFBydkRjNTE3VG40VW9lNXlDZkxzV0RMT0JTcWhKbFJrUVoyQ1RuVHBVNTlLenVoclJ0Y0xlODBWY2ROQmNleHlSTkZPSXVVNmpqaDNYSnpoc0dEejBYUkwvb0o0K1dmVGRVUmpJNHVJNjhuNzdjb3laWHdzd0FhdC9EY3l2Wjd4enFtU1liQm03NFpBdzdqNzNYNVEwbGJpRWFYRlJZU1FxMFBaK2ZLamFlT3d5ZmdvOGZEWXdqK3pzVlgvalB3RC9UWlRjTExtdDcxUVFSb1VPbkcxUWMvSmVZUVIrZlQrZGpGMmNsZk1hMDhMc0IxT1RuKzlOSE54UFF4NGlBVzlsRmIxWnBsQ2RVSkMzU2lSc0NtTGxGbkIzQ0dnRU5aMDN1NStFVlFETnZYbEtKL2JrOUhJNXFYMzJpMXBHWHg4aDhPTVVnay9sN1dzY2tvNnYwNzhzN0NySWRsUXArc2tXdWczYmdoQkJ0ZWxiU3p6NzV0WlpDS1VEM2NFUTZSaTR3VHFzVFVzb3VnQkRyUEJiN2ZvMHdEUkhHai9sMjVqdUdlN2dpbWZQUFU2TTYzTThBeVQyQUJ2d2RaL044K1hYL2ZKOHR6STNIY1VmTzFyM1JUeERiSnlLdS91Qk80MEd2TUVyS1Z1cVFhSFdRdjNZbHhFVkswdm1RWXcxTlRHSmljbmg0ZXhodm0reWdZSHQwT2hTVktQMXc5ZFQ4SzNJeE03d1lQdGJ5ZnUwSHZvWHUvTDNqZitWcmlqVEJwRWk5MVR3d0FFMTZCcnRUV1VqVktMQWZUY1RFdHdxTlVjeGZJbzZrV3Z4b3p5Y2hVTkdabkR1M2U1UERZRExjVHZiQW9lSHo4MEx6MmNqbkxoZCtvdXJad3Jub1g2VGxKS1RQc0hYU1o4RzhoL2JrYkdtWnNuSVdZMXAyNGNIMkQzdnI1bEk4ZTVwRDM4R21Bd2M0QnBPOFB1TXJuMVowRW83Z1J5T3VEdyszSzhFTklWWkJ4aGE0SHZMMzdnR2dFMDdPSGhzYTVJd0tQcTZYa0dxTHdmM3ZDNW1Oa2NSd2VIaFk3Z08xMU5DZUtYN2xiV2JtN0hnRWV1TUtnaTU3T0dwaWlWMEUrU1JVNDRaSU5Va05Cc3NtcTVIZlZpelJvNnlzcjIrbUlKVVZDc2ZqZEV4UHF1QlY4QklzcnZkci8wbFhGcWVXMXRiVm1aQTJLMW5TQ1ZEQS81cUtOTEJGV2JBWTgwRWtmYkxRUUZMZFVia3hNcGpyenRFUlpERFY5YVhKeklGZGxDbkhPbkhCMGQvZE5NVlJ3SlBCMlZsWlZpUnkxYktiZks3YWNqcndHUm9RMlU1a1dBa092cS9hRFVJODlwa1Z5a1k4NWpVN21OMHIxNWRKUWdHSjBFMlJ1SGsxUjdkbUVsbU03Qkh3R081VUFXcHo3K2lYTk1SSlEyek52SE82TDYwaHZEWEE2d25nUHV5MlVQY005SmlWM0EzcWFteXAxbEQzeHRialpNK2FiK1dWRGQ0eEVRRzNWK0o1c3NKTmJCRjdPR2dIZGpXcnZrbVJQMjJNYWNQTnVpMUN2aDZCNEpoRzNna1ExSXFtUkV2ekFGVWJtRW5vcEwrd2RNWmRIeUdveVVLV2ZyWUJleWYybmMzdGtSRkJUODZFRzcrSzZwZGhFclpIdmI5dk80WUhZMmo4N3EzVkViNG5FREgzSjk2QW9KQkhTdXRwNk5rMW1MbXhVWTNPWEtMQ0Voa1ZESG1uYlZ3ZnZDZEVDREZHbEFycm95b2w0ZTh6dlUxczVPZ0ovLy9PSWlrVDJQYks1cWZyc1lSeWlSaFlNak1iSjFzZk82bit2eGZsZnE2WHBRNm1NVGZXYkNQUHpDOUJvdzBKSlA5MmV2ZnpwR1NOWDFLNFJzOUpHZzRQUjFkM09EY1FRc2tOR1FjTGl6UTB2MXZCWi9SMXd0N0V6a0xjM005SjBGZlJJaDlDYnI2STJkcjFBUzNQa3VKaFIvN3BxZXpzSktrTTBPejRsS09lMktYMkxSeUJmL0FYZzh3RU1nUGx5MWZXUzUxTHJqSGMza1Fod2VKcXFkWmYrYVhsbDVYLy83OXU0dWlWb2lvRjhlanBJZFZ3Nk5XdmNBUmJDbHlLS1JEaUt4NGNqcEl6RXd2U2pzNGlaQ1Z5VkdsM20rakNjdFFQVFhSNFE3bFBBVk0vUHU5Y25XMmU0a1RlY0RPM2NzWHE4STU1UkZsYU8wT201Y1BGTGJIcHMwYTY3R1VJTE0xb3JZQ05OYnhrZDBYd0RGZkZlODV6VWh0ekNWQnczVUh5Y0RGT3F3b0llTGVVVEwxa2NIdUFlV1gvdHFRa0xDd01DQUk3a0tSYWIwVStXeWdtVmZUTW55Y3VZREllV3VCK2g2ODgxQzk0OTdGRUxWOGNsSlZ4Y1h2R2s4ang2OFhwQlR5R2JodmtDSUk3ZkQ3SklWQkdTUzJPVGQ2eE00Zk1SVG9XcHB1ZWEyTk5NYmpRK283YjQxd1l1M1VuZS9JMFNWNHY5cDA2V205M2Z6blkvZXdCRW9tV1lPYjE0RTdFN2tqWkk5Ni9ERjVDbjVNY21OclNneU5WRENBRTFCM2Z2K3NYRE9XTzBrc01MNytDY1pReTNoMS9FVzVnTnVISnNGRGM1TnhFRHB2blFkekJGanFHenlIZG5BUUNKRjlHZjNHcFBHa1Q4ZTZ2SDJ5NEFMWE44Wi93eDRMQ21PbEhCQWRrSWdFQ1VsSlZ1S2lDem9XL2puSHhVMVZqaDZiZ0FNMkdvSnBUZVBXUCtnaUtQdlJlUUswR0hLaDdMb2hBaFQ1bzU0aFdCTXlzMnp1cU9SUFA4TUJKNnlXdmpEbWR4czRHUzB5Kzc3RElTaEVMVmlVU2tENDI5VFJoSTBZUmwwSnlZbXRub3cyOWdxTDgxZmJISGZlc1BWVHZSZWdXa0FmZ0dVK056Y25OMW9ob0lXdTVMZkxybXFvVmdNL1V1MlZHL1EySE8vMHIxMVllTDFpL0E3L1JCaGNGbnVteEFuTXBDYWZqVzZwU3dTVXh3OUZoT3RxQytjMldrQU43emJXS2VqTFplTjE3SWpVQWp2czRZRk82dTdMTXpiSEFXc2F2cDZnNTIxL1BuR2laODROUlpuODFDdjhSRm5uWmdDQnJmb0dKWWEvRFdoaW9wS2NYRnhrdmlwY2dOeE5sbk5QUHpzQm1oc2xBS0ZYbVNsays3azFNZDVWSEZOQlcxYXlzaktIRFlZNjZmc0xUZWN3MzVPNmxMMUNUcFIvMUFReUlaaDcwOHlDOE9HcjVjWDRNNkpTQ0Yxb1hISmVMMTFrN0dFekIrZTd0YWtMaGRzcGd3WXlGcXJtNXViU1VsSUJzSjZnM0ZLSEpHalBIaGFYZXJwbUtONTBXWGN1akJ6T0xsbmVZbjZQdUhRY3lmSittT0hTcDhNUGZjZlNvdWo3WVlSa3BPVFcwT0Y3dm5wdWJnUWwwdXVhNENCNFpzVTU4dFcwTkVtZ3ZHLytwWGtZeXMwQ1NEZzZ1cnF3Y0hCTVZZN3pnQkhHTTkyem1aWUZGWUpXWlhRU3hncklVdU5ZVmlHSnlWenpKaHUrZGtmNUlRdjFMVkdMZ01TSEVZL1BPdytmSGlNd3FWb2VyOGtXUGg2amw4OWM1VFlKWjFCaGZ6RDRkbU5Sb0drdVpZV2Q1T0lDK2IrM2g1QU5nZHdPQVVsNWNIK1BwWitFaUk1WVp3NHkvb2xOamMyTjhwNlhob0k2dlM4MjF3RFY4R0svM2dsMTNFcVFleHllSFEwRUlCQ3lOM1NXa2xwYWR2S0VTMWY3eTB6bFdIY1BQd1FnY0NIcDNqY1g3dlh6TGVCdThNaS9odTFpOXZLd0RIdmxuVVRxdUlNZEJHRmEzSExJUkVZZVRPT21DTVZDQ2ZtdUE5S1NqM2RUSzRCSkV4enY0NGhkVE9zYWMzY1M3dGNNcjJ3SUN3czNBTEFMN2VFRktadS9CeGg2dlBROEVMcDU1U1VHREFpWVd2bHFGb2JETDNaN1FHeENtQ2RHQmdaMFZwNndUekVMdTBYQnRwRUJaREgvODV4dGNLcjIyNTJQbnQ2ZWpMZmN6UjZoYk1mc2J5YVJzZGYwZDdobnRWSk9xQ1o0c2YxdVRPTDZTVCtnNXRPRGxwNDQ1TW1vdVlZTHZ2RzYrVVJsbTVrenVmUG5oNGVQZHZ2emdQYUFkcXg4V1ZNM3VBdHVnRDUxa211L2pLT1JWRlVSQ0NwUGRrdjgyZ0VCZDJYcUg4R3NQQm1OUkR4c0NQVXFhS3VidDRlNEIwUWNKc3I0am5nTFoydDQyaW5yNjQrRzhVMkErb3ZGbWNsbEtkT24zWExpQkZ2MER6TzFpbFdLZkxjMHlIUUJNM1dyMHhJYVJucjYzOTFoQi80V09CNFRCWlZWN3NjTGpZU3Nrak0rdDNzRmtDbzMwbndxTTlxa1gxTkMyUGdMZjZvb3dwQ2UzNVBlbE5LNjg1Z3hTWEhzNXl3OUQzMU9EazExUk1RTmF0QVVpOHVMcFErVW9vRW5PK1ZBeW9tVDFSZ1FqSS9qcEdZUHZWMXhZbDByREpTeUt1MDVxV0tDanZoalhzaElmVXBNbHNxY3ZCOGc5TWtwNE8rZE4xUnBSOG9mUmFrcVZRcUErQW00SmFmZDYydnIwOTlWWEw5ZVRLd3ZxakJZZkZoc3kvMi9Qd2N2RC84bUN1UHZmNWwxeldibm92dk9LQjRJaFBURmtwd214d2haQUxwNTkvSzV5UWkvamR3bjhoWXhHVG1uWnpBMGNwSUFEaXhXSmxXUk0xMTFobFBkbHdoZ1VMUUZ3NkRQdEpXVjJUMDg1SW1RdzgxbWszSnRqWWEvdjhzZHFWeC9lYldGaHdPVjRMeVlMdW9ucHhHUlVYOXU3U3pWMXA2Ymswa2E0YisrODBLdUVIZVZqZGRPTzQ0QUo5ZExGWkFHQ1BVclB6M2E3WURrMktjelhYaEhwU0oweGRpdVl3YVl6OVBPTHMxMEpJeG9FNVFFSUFHTHpYOFo2QVMxRWt2MkQyWDdldUx2MzJ6dGJjSEdJdS9qRDZUaEF1Z2dZbng4YnlmOWZCdGxSaGthVlRab2Y2WVFUMzY4MWQxdHhWQmpkeU1TZXdaQ0RlM2tQQ3lZdXJZRmxZT3JyZW16VTZYS2J6ekgvdW1FelhQM3VCcStkNmdhS0VLNFlTWWpiMzR2dlJtWkNUc2JsRkhSK2VuQmVLbi81bjlSTzdOeVNBTmwyVkhVQ1UyRTUwOFZWd21uODgwdW1vaDk5K2t6Q1FFb2RPN2Q1UTExNk9aZE9Bb0pCQ1kyVE1DNGM2dGpnZWl1MU16Kzk1WFp6VExXR05MWDhERHordGNYbE16eVQrK3ZMeWNscFoyZlgzTjZzb0RrRExBQlROYytLWVZJK2xxMnpEYWQ0Skx4K25Za1A2TW5aMmQvUHo4ME5CUUFHTGVZRmZjdWJvQmkwZ3BHZVFIbEZxb21ib01aNEFaVzdmcm1XbUpCeVBoRFgvTVN6Nzd2c0ZCL0hrTjVUZHYydTZWVFZ4Y2pvQWpMNkpPcmhjRWs5QXB3aG9BbUtxcy9IUVJzWDkwSktqdU9aekNXQml3UGxNYklHTVNrWlVjV1B2cFUwcEt5cWRQdjZhbUNIcmVhaUE1bzlnVFdMOFROQVc2MHFIQTJNaG9pT3p6bms4em00cThXM2VMMGRzbjN0NnpyN1VHeFBIUEFiMEZ5QWVxeGJjQXAyVHp2YzJYQ0JRY290UzFtMEdURStoS00yZEdDdzBoVlVqR1M4ZVpSd3JaUlFwV2ErcG1xRlBycCs5allHQVl5eFU1Vy83aFdSajhEakFlTmpZMjY2ZkhKVWdqcWhJNHFIcEd3YWRWRDdsdmFPWGtvR2E0Nk5qck9qMUF0SDlYTHlQdVc1QnBKU1h6ZDIrQXRJRzJjbnRsdXVJZmx5MWM5cWR6Ui9FbWszcE9RNHdqOGpNeU1oNGZIOTJXaTUzZnZST0hQTjZUWG5rcWdmSDBwNFhVNjdGWXNoYlJibW1OU3F3SkFscmIyaWpJeVh1OGtFWWh6MUoweU1XYWFUbllTNVJWVlZWZFhSRTNaN3U5MnRPQmovYzNWRlJVLzNEcXoxcFY1emZydXptb05RSEpYemljajVlM3V0V3AxZWNGVGJ4M1pUUG1zLzM5L2J5OHZLazUrclIvUDAweVBUMWRSRzJKejVGUmJoUVIrZTNidDVhV2xvNk9Eb2ZYTDNqWmRlc3dTUjBkSGJlT3V2WEtHL1IwQ2xXTGRYQ0VpS2pEN2RoSU51alhxUk5rKzl4MmZ6bmEvUGZWK0xHeE1kQXdtQjVFN1dGWGpPY2U5OUk0ZVpDWE9ONHQrZE9uVHhrWlBxZmJ3MU1vYXZhZzRpTFloT2FDQ0w5UDdTWWJpVlhmN2htVnVKOWJkeGdhd0xLOUQzUHFzRzNRckphMEdWNVdGbFBqTnc0Z3ZoaWd2d0NCNCt6cWlrOXRrTlNvZVBFdnR6M1dPa1p2Lys4NmVtVC90MytmZkVxOS9uZURBTjYvZXdHQTJSSnJLeDdXUjZtaGorVUttQjZIMXNBTVNFVkJRNzVhRmh6MlAxQkxBUUlVQXhRQUFBQUlBRFNNWTFoejlHdkRzUUVBQURjRUFBQU1BQWtBQUFBQUFBQUFBQUMyZ1FBQUFBQmtiMk4xYldWdWRDNTRiV3hWVkFVQUIvUkQ1R1ZRU3dFQ0ZBTVVBQUFBQ0FCbGlsRlkyNjU2Q2VnUEFBQTBFZ0FBQ0FBSkFBQUFBQUFBQUFBQXRvSGJBUUFBYlcwdVltdHBkMmxWVkFVQUJ3NTYwR1ZRU3dFQ0ZBTVVBQUFBQ0FBMGpHTlkwemZwcG1rREFBRHRDQUFBRHdBSkFBQUFBQUFBQUFBQXRvSHBFUUFBYlcxd1lXZGxMM0JoWjJVdVltbHVWVlFGQUFmMFErUmxVRXNCQWhRREZBQUFBQWdBTkl4aldPMGwwdmJPREFBQVBNOEFBQTBBQ1FBQUFBQUFBQUFBQUxhQmZ4VUFBSEJoWjJVdmNHRm5aUzU0Yld4VlZBVUFCL1JENUdWUVN3RUNGQU1VQUFBQUNBQTBqR05ZNGMxK0JNb0JBQUFFQmdBQUZRQUpBQUFBQUFBQUFBQUF0b0Y0SWdBQWNtVnNjeTl3WVdkbFgyWnZjbTFoZEhNdWVHMXNWVlFGQUFmMFErUmxVRXNCQWhRREZBQUFBQWdBTkl4aldDVHcyL2c2QUFBQU9nQUFBQklBQ1FBQUFBQUFBQUFBQUxhQmRTUUFBSEpsYkhNdmNHRm5aVjl5Wld4ekxuaHRiRlZVQlFBSDlFUGtaVkJMQVFJVUF4UUFBQUFJQURTTVkxalpzY1JUTFFRQUFOZzdBQUFKQUFrQUFBQUFBQUFBQUFDMmdkOGtBQUIwYUdWdFpTNTRiV3hWVkFVQUIvUkQ1R1ZRU3dFQ0ZBTVVBQUFBQ0FBMGpHTllzQXpYb2l3Z0FBQm9JQUFBRFFBSkFBQUFBQUFBQUFBQXRvRXpLUUFBZEdoMWJXSnVZV2xzTG5CdVoxVlVCUUFIOUVQa1pWQkxCUVlBQUFBQUNBQUlBQ1VDQUFDS1NRQUFBQUE9IiwKCSJGaWxlTmFtZSIgOiAi5a+85Zu+MSgxKS5lbW14Igp9Cg=="/>
    </extobj>
    <extobj name="1BCC2C28-871D-48CB-8BE0-2867F7803ADB-3">
      <extobjdata type="1BCC2C28-871D-48CB-8BE0-2867F7803ADB" data="ewoJIkZpbGVDb250ZW50IiA6ICJVRXNEQkJRQUFBQUlBQVdRWTFoUHBIRGx0QUVBQURjRUFBQU1BQUFBWkc5amRXMWxiblF1ZUcxc2ZWUmhiNXN3RVAwK2FmOEI4WjNFT0pDUWxLeXF5cHBOeXJaSVNkZlBEbHpDTFdBang3U05wdjMzR1RkWmcwTUdDTUc5OSs3Tzl3eng3V3RaT004Zzl5ajQxUFY3eEhXQXB5SkR2cDI2ajZzSEwzSnZQMzM4RUNjaXJVdmd5dm41ajB0NlVjOTNIWTJjeDRpSnpHck1wdTd2Y0UzcDJBZnFzV2l3OFlKZ25YcmowVGp5Uml4WXJ6T1dFUkprZjF5ZDM5Rkh2SkNpQXFrUTlzZUlpZDdWU3N6WlFkUzZ0cTdnOXMvQkZaWlFJSWNuekZSdWNFSkltM0xQaWtLTHI2Wlk1dUpsSmtWZGZXY2xOTGlsVHlvMHFoNE4yOEJkcXZBWnZ2SU1YanRreTFRQzhQZSt3c0d3aS9BRmNKdWJ0cUpoMENZc0NxWTJRcFlOK0lLOERYN1RGbTBPLzZYY1MyQUtzcU01YjhNeGxsMnloR3pnNVBOODNsRUY0UXA2TEpEb1cwT2doQVllR2VqTDhVZVRrRTRvN2N6V0tZZ21oRXg4cTdjRjI4SytZVmI2d2NyRktwME8ybjdHL1lzdEZNOFlWK3BIcGZRSXp2VlBRdTRTZGpENm05Tkpib2hkNVplUUsweDNEVzlnWWNqZk1kdDh4YVE2TGRQQ0hwRGpQcjhDR21HenFjMThvc2plekcvaUV5RWNEVzNDSTBkMS9qRllqdVdNYjhGMDNpNGU5eS9ucEZjdmQ4c2NRRFdzdUgvNkJlaVh2MUJMQXdRVUFBQUFDQUJsaWxGWTI2NTZDZWdQQUFBMEVnQUFDQUFBQUcxdExtSnJhWGRwTlplRmR2SU0xMjF4bHdJdDdoR0NFd0loZ1VBSTdpVTRGS2xDQ3kxU29mcTh2ZlcvM3pqajNNSWNlNjgxMTVVSjludnN6SG5Xc2ZtNFg1K1VJKzlSRGVKM2xySjV3Z2RCYmFaUXJmaGdWY0FmWnh2TTk5ckY1UkdIbzZRR1I5YlIrN3Z5S2gyUnE4VFJmemdXZExQK0VZTVRxL2crUFI5a2pvMUJXV2s3RmlaUFR1Sk13c0Z4ZjM1d21rNVhuMm9UQ1NVRUxNK1YvbHFqNFhsbFk1TTRWOW5lRVVpR1E5ZkpyNmg1dU5CNkc1dlJ1SmxDaDlKWHVIQ0ZLWTIrVXVROVZ4YzR3YWtWVkZ3MTZVNHNHeFFFVDgwaXlMamYzZEF3a09XNlZQdUhldGhlOE1zQ0NjMWpseWliVTRhUkdlTnFtdFBiV0Vydm1KNWFSaFVpT1lKNHRvUW9henFKaS9TTDhjRWZmWk1Vc0JrbmZjQnJLYmpwYW5YWGJjcVFZU3ZzdVlSaUJVQitSbnhhSkdXbHAwL1VtTDZUSjRGUlNNdjZHcnBqbFkyWVB3N05KNXZZVFEzbS9sVmZiNjkvN2h1NlQyYVR0U2JXRDBlWU90cmxBRnlzRk5TWWUzOGRXMDBFZm5vTmRxNHU0alcrWVBBSDlISFF0Vk1Hc3RySU5hVkI2bFFrUG13M2o0cXRoL1dIb1dLaGdQaFR6SURJaHFDVVBNZ1BwWmhPTWE5a2ZmcGphbi9Rd2JPbHpITy9MbDhSbEJSQjlxOVlKS3ZZT1VhOXp2d0VSU2NYczlpeDFva0o5VnIzWkZldThGWHFTZHRmaUgxNzhSQXZQSDVzSDd4Nk1kbGZNVzh5SHpYUzhSOHF5NXRxaU5LQ29RS0FmVWRSZmFnbkFNYlZldnRaUkxWOElySGVJRURJdDF6RDdnNUYzbDgvNTRGU0o0WTF1SDRyTDhNVzluZThvVEkwM2JKZnI0RFJEMDdDWVovZm9uUVRoVHFYejN6T2R1K1pvSDVNYWRHSjBCS3BveVJtSnZRbzJyS3drOTN6djRpOXRSemJjbWlKMHpvbWFuRzRRVGtOUnNDamJ2V2FQZVFVZmJkRGdURHgrM21WTjdvR2pmTSsrMmhYbXlNK2ZlekpaYklRRUhxMVB5RkU4VlNhS0l6OTE0TTNsVnR2RmJnK3p6ZFozbHlwb0x5YjZPR1dwc0JRU0dPMy8vRy83aWg4ZUNBSDN3VEdhWmcvRFp5TkhJUGF1aXVEa0dBd0V3Z2tjNGZOa2FOT1lsbExQemRtbXdMTTZYSjZEVVBNaWFSenpNYnRJZGtjODNIaFY1bHErOWQ5cFRvVy80Ly84di9kL3dHUG9XRTJmSEhSeloyaWVDZlJoNHdJcjJkVjZ1S3h4Mnp0cUxBV0psUEovdU44MUxJQmdLTDlVMy9XZ0NRWEkxMk5tZjlYTXdMNVRtY3dMcktySS8rd2orSkNFMjhIMmZaNU5zQVNob0pQSERGRVhzN0piK1VPUzRabVo2OWZLTmo1NDM4dUFEVEdXQWJmMzl5azFPQkNubER0bjg1dlF5TWlIYVFzVXNkUHFYcC9NM1ZRS1RzUzQvN3EzbSt3VzBzYWF6eU5NY3BtdzhOYmRtRTFNVXBqNjJMbWZPNmgyNnBqQUVUenpuN0psdWFCR2w5TUdpRXQvZGd1NHhuUlh4KzZxVDNjbTRtRTdHTi80dlE3cEhqRHJSS00yK2dsaHR2NWRPeE1PdWkzN25vZlhDSWxKR1dmMVUyZU0xQXAzcGFiQkovbnMzRnJwV1VQT2VOZk9ncWMwbmp0NTNKcWVBOG11bW44YWJObzcwUm1Hb1pDRm5uY2IxbGRIN1lXaVhQcUdRZE1iS05VUWtNZ3lHWERwOVZzcm00REE0Ry8vTm1mQjBXODl2NTdueTMzZVFHT3NmeFk2MWoxb29IbW1VWGhla01iUzM1RnJoZXB3ZFJoZDBQeDlaY0RtR3pLZGJ1QzM0MDdHVndPb2tHNW1WREZSZlg1UzhWT2FxMEtoUDZ3YTN2VTdxcmhKRGwvL0greEYzYk1DVGMydlhHVGlMWGptcCtBTW1ZNDlzdEpTbk4vbG9JS21FVy9BTmtPUm5xRVdvUEFEVGhOMmh0aW5XL2J4RnFId3lMeGRXRkZjWFRjMHZVelVIenliWjlzankxQVBrNys4Yjh6eUlIWnREZ1lmTER5SDM2TXNoenc4ZkZpV0ZFVXVCTng4aEJwdGJFYTVBZlRSRUFCc3dXMktJdVZwSkE4emRvME9teGZRZnNoRE9lbC9OVmUvVkU0RGd1RmRDYXYrcmlwRyttWUFFMmsvTGNaRFRlZ0ZUUWZQMnV5Z1BSQzlQRHpkRjgwU2s5N2pWcFJuNGw1NzlKTFZJYUZSQ1ZLUk15SWhuZUN1RjRFWUZyKzl5L25UaGhkbDFwNXJzektGWitVbys5Uk1FU2paMGpLbDgreHFTZ1pnVHo1eTNyWm5mR0c1RVR1K21WaVFCMXdOcmRwM3ErRlVpZ3BvRGhaMDdCUUxFYWhYaFBIVjVGRmFqb1ZIQ3VkaFBUTTRZdzlGbW92QWs2blhZekhEcFVwSkE4RVFWUWMwRm5yMDIyQnAvQkhGeWw5UGl4U25sY216d0NZVFhRNC9ZV0ZRVGVEbEpNT0RDaXloUXQ5c3VOWENUMzE5aVRPT3I3L1o1NnJ4cGs1MDlybm50MllOMDdLZVhPMVlHQWxMWUw3NWhYWWpqNlV4dThXZWhvRjc3ZmtkMVRtOEtFbitQejlqaEZZTmVFc2lRLzY5cmlqSkViR3Q0ZVl6OFIyaVVlOGM3UzRiWjNra0VFb1oxVHRyZnkyMm1IUXBZL2tIanY1eVVRZGtRNnRjT012L3p0T25pTGdwSjJaTVNEampic3BsVWtMNzlqMklUbWFGd3lENVgzVlpBd1lhTWlSeXlZdTVTYWVaSjZRRWIyM1dsR2RUT09TN0ZKMGx5Y2MrWXlvTVZiVUhuT0lxK2VPSXV2T1o4M25BbElBaE9jdU41OXlnUkNwWjNwSlpsQThEeUpVUWhMUE1yVnFYcStEUEFGM3Nwai94M3I1bWhtcGw5U1F5QnJoS09PQmtHdjNieGNSbDFqWS9RMFVMM0xvSlJwQlowTkNCOER4bTg5bmd5emtoM1NpYlF5OWNKWk1YQXJkTnNmM21NMG5TWVdEMjlKKzVjUkd2RXcvc3JzOXoxRWlQREJ6ekVRTTNzeFNUcEhTaHdYSTdyK2NYd1RmdnIyVUYrWW93WGFxWmQ2WlpBdDI0REZXUGpJS1FZS082cVdhM25wTHJpbVZUV0RoeGJPMTYrSlVwQVRIcm96VXdNb20vZmQ2eFBEdTVrdVBKa3NhbXBLUndjRGdFdVY1TkxWN1ExblQ2SXBWNXFnM0dTZ29KS01lZjYrMUFET1VyZFd0RUJrODJSZEhQU1B5NjBOU1VvTHN3TWYwTjBQVWw0RHd6RWkvK1IxM1JoeUQyc2FCcFB0MkFsOXdRcHo3OTY4M2hVYnBsZmo0SGFYdGJmZHdjU0x6OWxxMTdHblVTM0liUyt5dVlMRmZZSngyYkFiYXIxeDQyekhvUEZCbXQ4Y1VURWFaY203SjA0cUZKRklMUmVwTUY0ekduUUYvbFAzSXRyaVJLSHptOFlYLytPOEhrRnBIZkQ4ZmdIcGwwN2pmWXRZa3RmdmNvYUx1Rk1RK2tWNFpUNjdpSFh4UWIveHJEa3MyU3dMSTJNdk1maVBybGlyWVRFS2hNS2ZXZVJpZVlDcU96OHJ4T083S0U4QWhlQXRLZWNsZzZIVlFKNk0xM3JCZ1FnWWNIdW9ML2ZGL0wzbVV3WmlKWXlmL0s1RXFGSnc3TGZMTFAvL0JMaElpajB3NE9NdStRSXFlMkRNMDl6Nk9vcEFNaVRFUEJjcWlwSHVsOHYxZDArcTJIRXZqVlFmbjg3SGxia3F4czJLR1BmVGV5eW9pSXhhaTdYM3diU2k0UUNkbW02bmpCL0xlZ1NjdXBJMkd0TFE1YW41VGZUNnBTOVNCenkzMjdSLzIzU0R0Z0VmY2NTVWFHVUZ1STUxQnIxNTFpSFZ3c1IrVnN6a1orUHBVLytEUU1udFNoZG9TeTRlalRWWFc4dHpPWXA2NUJrTWFROWJkMXdDVHAvQlF5Q1pZa25kRVBPME4yMzVFRlRTUzlzTUNwcHE3dER1NGpvY3MrVHRHRllRWDBNYWRRWkFsbVlJenFYZWZPamxZREl4YnA0V2JZOVRFQmFIS1VCd3lQNWJ1bUxSTUpwdWUvTDdpWmJwSlhRMjc4dDQrTWU4M1hvdk9pU1BCOTAwZXluVWRqL2VSTFRIb1J5M2o1TUZtb2Z1dCtYV2dJL280SnMxTWdzZVhVU3FvQUtESjI3QlZjTlJGVndzMVNQejFZeXJrYkxLLzRUd1hscGlqdnZZSlF0eDI4cmNhL2VtMEdidm9UTjJ1Ly9tUG0zbGJYZGVGOFlNOGJUTmFxVlVsWGhFR0Vqb2YzZk0xdHF1a0ErT2JWWEU5enI1Zmx3V0dnS1JYUjl2c3Z6VDNTWkJPNy9ib3dqUzZya2xHbm9LYU9oMG5oemwvSjV6azQzQ2sxV21PUXc1eTRoZ3F4NmpQcUx2d0JSZEVzd0pwb1hSMVVWL0ZpcjRVajh1NmJyNEVnRndFZXNlZUtNS25SUmFhRk5CU0w0WGwva3VzMUZhSGtZbnFNc1JaeHJnc1Q5NzByUEJDN2piWlo1ay9jeU1tNjFnU0h3aUltTmNsZDVuU2x1b1hVNDJJMUVhYmtjU3UzcDI1S2dDNmtSaWxpMHNJdHBrMUFRbTFFWVp0Z2FpU0tDMGRkY3p1SUd1OVRlMytLYVFYNEY0ZGYvNmFpSlJEZGQ3aWM3SGdvZEVPV2czeUlHNWJMVHVlWGR3cmJMUmEwQjBzR0Z6aG9xb1B0WkhOS3d4OUhlcERNNmFSMDFSQllFWnZkNWZlRUdMQzZjZ1NPNWE2eWpneFpLY3BrSjZuTlRNbG5MODV2cm5yZGwrUDUrUzk3bDgrTXBtOHU4ZUlvN25mNHh3S0FUcmQxQ2ovdCsxK2ZhclNFdWMvMVVOdS9HTWtEN3pHYmhXVlJWVWlSSFp5bnRJdVkxYzNmcHJwOXl3Uk9mMk1iS1krcys0YTFWeDBEOEZpRDl0bGpRVXpBVFpJUDdodVY5NDliaWtBNnNtdWZaZ2JJVHBaZUdJTEV1UjVteEJGSmJDL2ZzZVNpRmpueWx3YnVFcGsxMi9meEFmMXdvbjdkVmZmV2dOV2ZkcWhrZWR2dG04ZjRwNUVRanE1QUxic1RaWnlScjdTMExnNlBMd0pKNW9lZUVqajQwMjMvVXljQUJZRWRqcWlyZnJxMlNyVnBlQ1p2WWd5bytJMEdnK2g4Wk1CN0FwVTYva2ZBblpEUG93WUFDb2Q4Zm44U05hNkR0Q2NjaXVDcU9WckdYMG85bUZzbVBscHQ0c3JBbXN3MC9EZjU2MjRkanMydVN2MzdVWityejNXOVJYQlVYYTdqa25jV3ZjcHR6N2VYbXBsWk95Y3h0RHpIUk53NGtZaVU4RGV1VkgwOVhwaWlpUUNnTDBIdmFLRmtrdk90N25YUFBBQXVPcUpBMnNadVNicFFsa2lDSjdSV3JhMHo4cHFzSDhvTjUyZEtzK1hUVjJBay9EeHd1QXdUaE82cTgvdWJ1NlA2SXRBN0hTcXRVcm9LNUlZZk1oUlRWWVlOOXZzT1o5enNTVXU4Zi9LOHFCOTdEdEZDM0JhWkpkVURxMHZrZ1JObVpFVWpJelFyejZYMFVPYmRnaU51VFdqMW1pcHpYekFNaEZsZkx2NXZicXhZSWhBbHErWE9ZUDMrMXNkMzhUaFVvaFBQUllvTkUvck9IUG05U2hDNUxJOVlmUU1wNlBJVEs3Q2w4S2h2MCtMdXRWUmZKUkNqWmxFQUF6a2N1czNBRGpqNEdhQk5VSCtSTjREa1VSUUIxSXl5RXVVbXI5Y2tWaEV1eVh4TlBNZjhTSW5Oekdkd0wvczZlcTd4MTg1RkpSOXNkRm1mNEg0WnU1Qy9BZWR0Y3R3ZHdJZTFSMlZreU55STQvY1dzT2tMczZ2d3gxRDViVGF6UkJ5NnFUdWUzNUxxUU5uZi9sL3FqRE9vZDM2bkV1WkFCRXJIVDNIOFJqT3FpSDBQRGY2SmpVbFFKYTQvWDBSVnUzSTVlcWkvc3F4NmYrWC82Ly9mLythL3ZidnI4bFY1eEo2cDFXL0tzU1VMcjNYb0tZSHJzYlQ2aENXT2d5aGlJd2RQaSsvSkZaNTZLSTVCMDlPMDJmTXBqMkdoT08vcHYzOWVjQjZ2OWF3Y1J3Z1l2NTJ5NnhPaEd4QnFObHJKdkNKbmU5UDl4MFJBUHVwSEdkZWo1QWZpUWMwNm1YUHozWG9YTkNkM0taQVlHMzdiYnhpOG1jOHF4SjJrTks3bjBvU0YzVlVpcFJDMUQ0OE5rUUJVaU9GUWp6QlRCdTdMVW41MDFOWkl6aXNiYUsyWkluSTBEYXUzaGVDUE5VTlkvR2ZFaWF4MWU4a2o1RlRGQWdnY1l2enovblRqQmsxKzJBZW5TK3hOc0xYZG9sNXhQdXpOOW5LcXNnMEw2U3B6WGRPUjFmUXpXbERVMklVcDFHSzZiaUhkWUVPak0rc243OWxrVFVPMkUzQXNOeEFKdkpLcjRxUmNVN3N4S2cxaEZ6YmgzMHFHR3VZdFNpem85SWdmZ1lvYzJmejFMSDRWaUxsQUFYNEFrK1o5Q1p4WGJnem5IajZGbTlUWi9kVkhWekZQN0RRd2JHQUEwM3h3TFJHQU1sSEFtZ3E2MzN2NVY0VlhjNzRVTCtaY2wrV2l2Zjh4UWxpNWFtQytvbVlUMlAzdXpReG04eUplTXJKeWFjZzd1NERwZm10L2xEY01XU3RibGZlTUt6NW8xNU1TQVVWRklHNG02SGVYQmdMNFBkbk12clAvMWsyRUtKVFNmL0pLTGRNamR3ODdkLzluM3dzR3dJYW9JaldiSzR4bURYMTc3MUxJVk9ZQUdsYnBIeDczSXkwYW9od0VhQmtxRGpJWjFwV1lwOThoZE95QnRYWHJkMVZZT3JBMG1uS1JycXFuYW9GU1hwa3dDbFg4VGRLVjVFSTRsYUdJVkFSQ0VPek1GbXQ1Q0lDTUJRQS9ZaVNVY0pIZWkvNlAxQkxBd1FVQUFBQUNBQUZrR05ZZGNJUDFFSUNBQUJaQkFBQUR3QUFBRzF0Y0dGblpTOXdZV2RsTG1KcGJxV1NUV2pUY0JqRzN6ZE5hME5EMk5nUWh4VXk2TVdEU25FWFlURFFkRzQ2dEZVUmh6SVYxdTgyMVg1ZXg2eHJveXNGUDdDV3VUSVZsS0hyeGhDcDNjR0RlT3JOdTZjbGJTL3U0TVdqLzdRWlM3Vld3WndDRC94K3ovdnd4KzNQQzNtazlnK2F4NW9yNzVyUG5oK3h3OGw3Y01OK1NnSVFoQ3g4ckRteTVHOWlkSEwwREo1MW5qT2RkenFkTHVjRngyejBaZ291NFdXOGd0TjRkUUhnNWJVTXdHR3hINzJValRaNHdPeG1jY0FvWklYNzN4elpHbnNVME44bEtBNk5Bd2E3QkNQZnB3SERhdUFGczQ4RUZrRmFkUjFydFFHTWRBazhuaW5BbUJhRTJrRnllWWJJYTJPQUNTMFEyNEVRdkU3a1Q1MkFLUzBJN0tKSTRGRWlnRzdxSUUzNURRRXdVdGkzTDJ3T01VRXdJZWtrMGtpRmFQbnVabjJ6cWp4ZVYzSnJqZkxieHVzNUlCOXI0UXdlWDJEQU9HeXoycXg3QXdKNktDdE4zVExjYnVQaTVoZ1RWWEZ4S2tGd01RMjNYWDFCaUhzNHM1dnhxcjBHVGNNOHgzT2t0MlZJSGUwQW9POWZlTXJXby9yYWt3NmVuMFdPQ29tL01rZU9Ud0FHL3NaOHJ5eEorcWJ5ZzBXOVNNNHZOak81dWxTcHoxZnF4WFNITjBpOG1PelEycldsUTlRaFZadmMxYWIwMmhUUjNxbFgwMzg0eU1lRVdTT0gwUmFZb3psYWtQcCtqQk93NlFTZzJCdk04M0twOUR1WDV6VnlSQ1hIZGVUa3pHbXkxSmRKd0dodmNtUDlZYU9jay9NRnRYc3hMWmMrS0V0djVIS2xzYkdpRk1yYVFmbENNNU52cVVKTWpEWHFQRitGZWUyQytIOTVTcVdkcmF5OHNhek12ZHJaa25SQ2tVbDBDRmY3SmUyd1pHL2hSZGVVYnZ3QWsrcnMvVWtrcjUzM0Evd0VVRXNEQkJRQUFBQUlBQVdRWTFnYTBCT1hGUWtBQUl0VkFBQU5BQUFBY0dGblpTOXdZV2RsTG5odGJPMWNXMi9jeGhWKzc2OGdtR2ZOY29iREd5d3BzRlpXWThBS2xLemkySDFqVnBSRWVIZTUyS1VjcTA5QjR5QXhFTVBJRFRYU3RFS2FoL1NodFJJRVJlSGE3YS9wNnZLVXY5QzVrTXZya0Z3dDExWWNXb0JCRG5uT25Ea3ozL2ZOY0VaYWZ2MWV2eWZkZFVaajF4dXN5QkFvc3VRTXV0Nk9POWhia2QvWjNsZ3k1ZGRYbDdmc1BVZTZ2cjRpcXdyOUJ4WHkydmJoMEZtUjZSTlpldFB1ayt2emIvOTUvdWUvTGtGWitwM245WWszV1hycndPM2UyYlRIZDFaa1JlWit0a2JlY0x5Ni9LNjc0KzlMTjFka2hMRXF0MWFYMzNEY3ZYMmZsa0JrNmJTa2ZZdmVXUWdDVFpiV21MOHQ2b2MrdWswZjZkaGtEMUQwb05NZGViMGVNMVNBaGpTc3c2ajRkbEJNUzFxeFdHN1loOTZCVDBMb0RPMHVhVGw5VFdYdWJtWksrTHYwM21TT25hN3ZqYTcyM0wwQkM1MjVEdjF0dUwzZWhqZnEyejRwM1JxNUE3L2orQWREYWNQMWZhK3o3emcrYTlRYjBlWE42SExON3Q3Wkcza0hneDEyeS9KRm1ncEo2bm1xeUkxbHlOSTdBNWRjOXZ1eWRNUFo5VGZ0MFo1TGU1TDJrRGVNMzc1TmplSUZheDRKb3g4cklWRnU3enQ5M3RXWW10anU0RDN2ZlpwYjZkcnVMbWtydStUZGZXMW5aTDh2QnladHIrZU5XSmFtWHJnQkxjT1I2MjNuWHJxb3MyOFBuYWlzeFFwSlpsa3hqUVFxYWpqY05qZmIzbURBY2s1ckh0bUQ4UzVKY0d3NEtjbXhwTVFHa21rQnhUUUZRMG5CQUtZSFV5dFdBUXVIZDJaNlZDZTYrWVk3Q0Y3ajErOU9RMkdaZVp0MmFEaWc1T0Q5dGoyazkreFpXRWFkQm8zdWVEMTNoOVREY3h5bG04VzZUVVlWQ1YrbURsN2IzY1VhL1NFOTUreVNlNEpWUGlBRGgrRmxFRjhyMWloU3EzUFg2YTNidmswYWV6QjBXRzlDSlJqUjBiUGZPbDdmOFVldU01NWVIMHJ0bmpkMmRuZzZOcjI3enJhM3VzeVN2Z1JWWUJrRTRhbXNzNlJERTZpbWxjRndLL1RRUGhqRlhPa0cwTExkeHh3dFlWSkwyczFWWGo5UUxZM2lKR20yeGg1YXdEUjBDNmN0MjR5WFRJQ2dpdE9HNjhMNld0TndXMkZlb2t1V0xwYnVqbi9ZYzZaY3NlWVE4RzM1MHEwcDBkM212RWFlWFJ2czhDZFEwWFNnbSt5WnBpc0EwYWN4S0VnYlBlZWV4eHlURjhpWTJDZmpjK0NNeDJGa3JPSWtwTFRGUTBwREpOSUdVblZEQ2dOVk1Td3JId2dLVUNIVXpNeVFuaDFUT050NURGSFFBQ3JTOGdFRmdXV3FVTTNGazJvQnpZS1p1dFlGZGIwWU5PbmtFdGVBSm1QeGFMSmdEdVUwYUZxb1FDM1ZwbEFYRTZpTDZ0UExreWREMVlCWkE2Q3NPZ0FGU1lJQUVnRXF1M2lvRjA3d0Z3a25QQ2VjeUNqUmN4RmdBckVvMFNCamlGUm1jQkdhSnBFb2pHSXB4d2ZEb1FaMEErWFBFbk5NMmtLVGRaSEp2UGlEa0NoQVdyWWlEQ0lWQXpONFNxUldMOElnaEpWQXlGNWJNQWgxRW5VRHcvcGhLTVJRN3RETWw3TlpvRnlDb2RraDlISVJaS2pGaTZ5cUNLcGxsUVd4Z2dBV0lZaUJ2VUZRQmtIbW9vUk1tVmZHc2c1bUZMR01neEwwWmQ0dndWNDJ3SG1ScDVwS1JwMGk1R0dFeWNLblh1MnFaVVZHa0tjeHhzaEZIaU9KQm5scDVFR2xRZDVsUWw2RXJWRFY0c2d6Mk55c1RzMnJaK2xHa1NlYU5mSkZab084ak9icHJ5N3lJSUNxYmhyT1V2YnpZZ2tHQ3l4TDBGaGdXUU11MWN3M2t6Z3U5VkF2Uzcrb1ZNU2xFcTNtYkhkd2ZjZXhCYUNFR0FOVlEwbG9haXE0OEo3c3pNZ3NoUkxkdmVRUVVoUjdWK09McGNpKzlDTm5aY3ptVmxRSm9IU2pVNUJmSlVWN2JNeFBjMnVRdWI2UndRQlBMaGtWU0N0S0w2MTFyZWQxNzBqMGlzZkNNd3oxL0FhRzdlUC9XRlg3OXNqdStvUlRydDlpd04ydysyN3ZjRVdlL1BmSjJYK096Ly8wMGZtenoyU3A0LzZlRGo0U1NEZ09aU2x3K2xya2JJdjQyaHZady8zUUdkc3FYNUhKNHE0enBObWI1b01uYkRpVXR2aUw3VnQ4V1BqRDhITHkwVStuUHowNytlcUhrNGRQem83L2NmYTNENVpiL3BBa1lFai80L2F0YVFhbVJRbXFmSS9kOFc1QVY4ZzYrOHFzckFuVHJFbWh5dnBFNDMzQ3p4Zk1RcHRrdGdvMGpYT1FYc0ZKUG5XR3VJMUdEcHo2bU1hSTR1NzVmbzZLaUJsT1ZJNlFhbW9sa3hoQmRadzRJYkNzWUJOS1MvdU1xRE1WZjJFV0dBRkZjY0FvL3Z3NFdPU1lJRXVCM001SXg5RXViZjI2cU9Lb0NZbCtMQmdKdVY3eSsxSEoxYitpSGl6SzlwcW85blp1WGV1bGFSTjEzeXd3dUpwYjkxcHBZOXFsYjlRMGkyWVpDby94WE8vVG8wTGVlS3Jqa2ZxeTVFYnZzZzlYVEt2Wm9acHg4a2lPbVR5U2c5Tkhjc3pNa1p4QWI0STQ4a1FkeFVXZGVIZTdJbFZYdGFUcXFHWmNkU0FrYS9EczdpeVhIWDdtWUNHcW5oYWZpaXFPMHROei9QS200aGRXZXQwQWdvUkRFeGoxNnZ5MHhXcllZbFdoUDZrVzE2RDlnZDhDN1ljWDF2Ny9QZnVPeVA5RnRUKzVaYnp0eFVyVSthWUErWlJkVmYxVkxTMWVKYnBmeVp6aFc2UTRDUS81MGM5ckx3NS9oaFZUUlFxTzh6VkRscENEOVFRSEcya0sxdE1VYkpReU1INFJETXkzS3hvR2JoajRKVFB3eWZNdlQ1LzhjUUVNekxDUlhKK1pWMmI5bHR3UWMwUE1VMkxXcXhLemlveENZa1pJRVJKelBaK2lmMzNFakt6VUI4WWtNVU5kYlppNU9qUC82K1NiQi9FWjh1VHpUK04wUFhuMDZmbkhEMDhmUEQzOXc5UFRyKzh2Z0wyTkRIdkQyZmJmNjJWdWl1ZzVtRnRrM2pEM2kyRnVNMlJ1TXFJS1o5UllUNUdJQVdDTVJGVEZBTUx6MUVnSFNpR1B2SERtaHBlUnFLRmFTTlJHNXVCMHdOS28rTFQ2cFNIcFJWUHpoNmZQN3RjNmRjWVo4cld5NUR2YjhVSFNzamU5b0dYMXpxQ3hQdGNNV21ET1lENEhqODVyWDRtSGM3YmJTWllwRWl0bk9UZk9tUkpkMk5KcW9oSDd2RjJmYUJnSnpVQXB6VERTa29IS0pBTXFsU1hEQW1sQ1M0dUdKVDVzcVZsQWIwU2pnbWhvbVN3blpRTm5qM2swd2hFVERrbWFIQjFsZFVPUzZsUU9EdGVrY3N5NkdiNHc1YkJBL2xaMlplMFFPV2pVbzZaY3ZVcjZnU3ZxQjhMRjZrRzRsQjIzYkpZY2Mzd2JRbWJodHlFRUcra29rSTZ6SDc0NE8zNDRlZlNZTGo2K3ZqODUrdmZKTjMrZkhEODkrL0hiazhmSHdZcmswZVB6angvTm9TVm1Sa3UweXlFY0ZLQnp5SWJJdkJHTldqTDFLa21HWGxVeXJQUWVaRW95RENUKy9jaG13VkZOTW96MGw4Q2taR0RCYWVWR01xcEl4dEhSejg4L21mejRsNU1QdnYvNStZTjV0U1A0UTFOeDdUQXVpWFpZeWx6YUlUQnZ0S09XVEwxSzJsRjFoOE5VK0c4cEM4VUQ2NFp3dldFZ1ZQTHJBbzE0c0c3WE0wbE9xQWRXRXF2alJqN1M4dEY1NjhiYzJ4cDZSaFNzeXlFS0RJSnpxSUxRdnBHRmVsTDFTOWNGOXBkSVYzL3pmMUJMQXdRVUFBQUFDQUFGa0dOWU9tcWZOc1FCQUFENUJRQUFGUUFBQUhKbGJITXZjR0ZuWlY5bWIzSnRZWFJ6TG5odGJLV1UzMHJETUJURzd3WGZJY1JyYmJxMnVrSHEwTWxnSUNqci9ITmJacllGMDNiTUtzNTdIOEJyMzBFZlFQUnRCUGNXbm5TcGJjSUNVOU9iNWFPL3I5OU9UZzV0M3ljQzNiSFpEYy9TRUxzN0JDT1dEck1ybm81RGZEYm9iamR4ZTM5emczYXpXUkxuOEF2Qm9wMU1aTE1idGFzVTFMc0VEOWZGNkR6RVd5TzFzR041a2V4aE5KaXdoQlVhQ0d0eXJxOXpEZGp5TkEreFZ4cDRSRDRZOWRrSTlvUVFld1ppOGRvdHZmeEFQbXQ1R2JsY1Vub1FFbzhDL3dla2psWkEydVZDZEpOY0s2alVsQzNVWlRDZnNoQkhtZUJYR0JWdzcyaVozckZBZ1IzeWJaRGJzRUp3cUZWNkl5ODk1aWt6ODB0TnVUWXh1bUI4UE1tTEk1YndNb2VyNTZnUlhrVkFwSDUybXk0YjBsOExKN3NWN3RXSndFcDRXc1RxZzZETHR6cnhOTVNGdWw2QWhoYmcxM2JVTVNwS081TjRabFpZYXFwZWNKRWkvZ0RuMWdMRE9PRmlEa2ZJaytnMk5acTFRc2dLNVBQajVldjlkZkg4dUhoN3NvS3RFcFRkc3BKRXF2KzMxRFcwT1FWMXB5aWZDN1pza0g5NGt1WmZQSTE1QTlkVEx6YzlGTm53MnF4L0lhcS9BaDBYVGVXaHFaRnlJUGhZemxNOVo0MGdyZFZFZlVpWVg2V244WmlkVEhNWTFYVlhxU0xaUWg2UnF6NFVxS01oY0hQTE1mNE5VRXNEQkJRQUFBQUlBQVdRWTFnazhOdjRPZ0FBQURvQUFBQVNBQUFBY21Wc2N5OXdZV2RsWDNKbGJITXVlRzFzczdHdnlNMVJLRXN0S3M3TXo3TlZNdFF6VUZKSXpVdk9UOG5NUzdkVktpMUowN1ZRc3JmajViSUpTczFKTEFHcUtjN0lMQ2pXQjRvQUFGQkxBd1FVQUFBQUNBQUZrR05ZVjlzV2hpY0VBQURZT3dBQUNRQUFBSFJvWlcxbExuaHRiTzFiM1c3VE1CUytSK0lkb25BREY1Q2tTZm9qcFV6YldDV2tEVUZid2JXVE9LMjFOSzZTbEczYzh3QmNjNHZFSFR3QWdyZEJncmZBZHZQVEpuVVh1blh0V3VjcU9UNC9QdWQ4OXJHVDJEcTRIUG5TZXhoR0NBZHRXWHVteWhJTUhPeWlZTkNXSjdIM3RDa2ZQSC80d09vUDRRaEc1RTRpMS9SSmV2bWlMUnRFb0F0UVlPT0x0a3p1WDRFUmJNc25iZ2d1Wk9uRTg2QVRVM29pbUFzZll4K0hUSU9lQ2gwR0EralBjakp1eHRoem1NRkR4NEZCWEd2TGoweW41WHFlbkZBMGxaQU0xMm5ZVGtwcUVvcXFBczgwVWtxRDh0akFkZFZNakNxQ1RTTlhWQ2NVcndtZ0JsSktpMUwwcHRuS3BFeENxZHNOdzI2a0ZKMVFIS2NCN1l6SElCVG8xZXVtTGl1enJpdTU3NldJVElPVkJYVTJrTVdZbklIeGxMdlF3QnA3UXpDR0hSeU9RQ3k5bVNEbi9BeEU1MjM1cVZaVWswbDBrTzhuQXYyck1iSGF3ejV5ZWV4NVZxVGNHd0lkMHVlM05GakpOZWY0bkt5UzIrT3huS0lBTHVYSXVONUJOQmpHMUxMT3RaaXJKSWFydW5oVE42ZXVwbGE1c1ZqcXFhWE1KSFBEdWQ1b2Jtdkx3OXpGazRET1dKVFZXQjhNVUVEbXNybzhoNGRhQVE1U0Yzclpzd0RIZklmWEF3NU5aRHhwRnhuUFZZcU03M0t4MzQ2Q0lOWUZoU0JzTnlwRXFwbUVTSFYxTC9jMjFhd09ObFY1WVRoMEhUYThHbXlsbFZDMU5jUGROZ2pNMW9EbTlXaDVEZUlZaGdIYmY5ZkVYdkwvME1WTnZSamFTZk45Q1g0RjVCK0RNZVZrNDZ2NkVGemprTnFqTmZ1dDVyckNOa3JrV3VTNnpDMXl2ZFc1cmxCQTE1YnIyV1ZVYXpuN1NlQWVoaUcrWUx5bUxQWFFCN2gzMjNWTDRYM01zWTVSNlBpdzJvZWVsOEVRaGlqbWpmTU43eEtodVoyN3hMdjhibERUOW1JaXU4ZXZGTVJiNWJSZEFJQ3JjdWNCWUNsTDZvNTFOTEh0M2FoSnUvam04djZnakxYdktRREVOSk8yQ3dCd1ZlNDhBQ3hsU1MyeGVvU0dRL0dUMjRaK2Npc2lob1RiSmZvYTlTMEJEMnZmMDlsak8vYTBBaTJyQldlSGFvMkF3R3JCRVJEWTBJSmp5YUxDNnNQTG1Ia1NMVktidGZLNnRWcldMV1daNHNwVzJhSlB2K21pVDNSbXpaM1pDRGltWmxSMjNaRnp4UUJ2Zlg2WnhpUGduRmY4dFpuZitabVc0anpDREF4Q3VqcVR6akNkR2NsZTR1aDgwRUZ4K3JqZ3FGQnBzcHFlRmFKV0NpZUZmdi82OXVmbjk3K2ZQLzc5OFVsNi9QdkwxeWVsWTBNZEhNVFRrMVNuMGNMWk0yZVEyQzM3SUtjMVpmWlVOa1BvUGhodzMrOHQxbWJjcWpiMU9tMGMwTitGdHRyZWVMcUNOckxZNGFBeFFUNkZlQW4zckxwWE9pSjNqSU5VL1NJL2FETmJEVWk5K01xSDdQdHpmMGlXaEFHTUlxNzNKU2xOVzQrWXBmRDdQMTNHOGwzcjR6Rnk1aXloVVhMWFFkR1FobzREdkhuSlRMQUNzN2s2VHhmNklFWTRpSVpvbk5rbVBaUmVnM2hJUWNBTjZ4R2RTMEY0bFVyVmVINzFKcVBSTEo5WjUrUUorRDZleENtZnJpNytiZFRxK0poMG1XeXhTNkc2UHNaSlg0cEpLZ05nY1phVHdjRWFFM0pDSWsvSkhhMDgvd0JRU3dNRUZBQUFBQWdBQlpCaldCZS9PR05yRmdBQVpoWUFBQTBBQUFCMGFIVnRZbTVoYVd3dWNHNW5BV1lXbWVtSlVFNUhEUW9hQ2dBQUFBMUpTRVJTQUFBQkRnQUFBRXNJQWdBQUFBNHgvcGtBQUFBSmNFaFpjd0FBRW5RQUFCSjBBZDVtSDNnQUFCWVlTVVJCVkhpYzdaMS9jQlhsdmNhZkEwYWlFTWhKTE5hVDRPNzdscFZBMEVMNG9hWTZ5N3JLUVFkR1RLdVZlL1d5emhrdjBWNjl0WGRzK2NQSmROTGUyOHgwS21McmtPcWNjdFJiMFRySmNJdU9IblJkOXRvR2lVQ1VTa0cyZWQ5M2hTUWE1SnlUbklRRThKcjd4MGxDQWlHRUVISU91SjgvbU0zeTdyN2Y5NTN6N1B2dWZ2ZDkxdGZUMHdNUEQ0K3pNU0hkQVhoNFhCeDRVdkh3R0JHZVZEdzhSb1FuRlErUEVYRlp1Z01ZUytMeCtKWXRXeEtKeEhoV21wdWJ1MkxGQ3IvZlA1NlZlb3cvbDVSVVhuMzExVWNlZVdUODY5MndZVU5hNnZVWVR5NnBDZGlKRXllK1VmVjZqQ2VYbEZROFBDNGNsOVFFYkNqc3lDb1RWVHBieTY4T1J2OFNCUlJGQVVCRGxacFZFU1loYWxvQVEwaEh1Sm81Q2cwaXltaDVhRElQZDRKR28xRW8xK1RFOE8yOEtjNFdSMW1oZ09vaFE1WFMzU3FQOGVjU0gxVmNGNlNjc3JVbUxTZHpKMThEQUk3amdPcUdaSWZYTytEaDZKWm8xSEdZeUFLd0JXQlJKMGlaV2QvSktDRUFvS0FsbVRmRGNSd1V3WEVjRU5uVHlUZVRpM2hVNmVycTJyVnJGK2U4dGJVMUhvL0g0L0dzckt6QlJWd3JYQjExOXUvZkQxUTdOQWVBVXF3QXp2cnF5SFhsS0ZKMG8xSm5GYWlzVkYwN0Fxd0k2anBnUmtHck5JVERIQXJnT0VCTy9EaHdlVHJhNkpFNVhIeFM2ZW5wZWVlZGQrcnI2NFVRQ3hZc21EdDNibkZ4c2QvdjkvdjlMNzMwMHVDeWtsRlpSU3JXbW9yaWdENTJQZDd1SkRScUlyZ0NwRUFsaWdsQTFWRVJpWEJjQndlT1krcFYxRm5QZElBN0RsTVVKUmlrTEZyWGNya1NERklBakhGQVRVZXpQZExOUlNhVm1wcWF6WnMzTDErK3ZLeXNiTTZjT1djdDc5b1dRcHNxSmNDMTE5Vm5oY2lCY0ZBUEdhcm11Z0NsQUtDR2RCNkdSa0NxcW1RSXk2cmFyQXRJV25tVkJzc0NJUWpHL2ZDVDFIek00NXRMejBYQ20yKyt1V3JWcXBxYW1tSEtyRisvZnR6aXlZUjZQY2FUaTJCVTZlam8rTld2Zm5YTExiZTg4c29ydzVmTXpjMGRuNUF5cEY2UDhTVFRwZkxYdi83MTVaZGZYcnQyclN6TFp5M2MxZFhWM2QyZG5aMTk0ZU02U1hkM2QxZFgxM2pXNkpFV2ZEMFp2TFJyMzc1OU5UVTFUejMxMUFqTGQzUjAxTmJXanY4N1lHVmxaVk9tVEJuUFNqM0duOHlWeXBZdFd6bzZPbGF0V3BYdVFEdzhnSXhOUVc3ZHVqVVdpM2s2OGNnY01sRXEyN1p0YzExMzllclY2UTdFdytNa0dTZVZ1cnE2dlh2M1B2end3K2tPeE1OakVKa2xsVjI3ZG4zd3dRYy8rdEdQMGgySWg4ZXBaSkJVR0dQYnQyLy95VTkra3U1QVBEeUdJSU9rc21IRGhyS3lzblJINGVFeE5Ka2lsVC8vK2M4TEZ5NE1CQUxwRHNURFkyZ3lRaXF4V0d6cjFxMC8vT0VQMHgySWg4Y1p5UWlwVkZkWGV6WU9IaGxPK3FYeS92dnY1K1hsRlJjWHB6c1FENC9oT1B2cmtuV3hUMnViZDJ3N3ZQZm8xOGVhdXVOaldIZEJ0di9LQ1pNNjYwWDQ0Y294UEcybTQ5b1JpNmMyaVdhb3dyWmx3QUlJT0dSRFJTUmlhUnF4TEdpR0NqdGltWXhSWFNjY3NxR0tTQVZubElHQityR25IbE9VMUltb3ZvendBeUF3VGVnNmtXVVpRZ2h3emdraGtHVlZHczB5WjllT0NBNFRESXlDa2hCTVN3c1JJWUJXMC93YnBXQU1vSlNDYUJxc0FZMlNSVVhZMUVNNkQzT2lhN0lNa1ZyNUE5UGtvWkFCdUlBUVFwYXo2bXNQZFBwQk5FT1ZiTnRXVmRtT2hFMVFNS2FIS2xYcGxMN0NnRDhuRXl6dTc3Y3N3Zzl3c01IeGdCQ0FjMmhqWTRad0ZxbVVmL1Q4bTU4M0hPcitjZ3lxT28zMkUwY0JZQmJ1Ly9DWk82K2U5L3Q1YXk1RUxabUdLM0J5bVppb2k1Z21venBsSmdDR0VGUm9taWFFMERRNVZZUUJZQ1luSVUxeWJZdUVOR0xCQkZBeWVVcDlMYUFBY0NnSkZVQXVrR0ZSU3NDNVVGVlpXSndENEp3RDhxaCtLeTZneWNSQzc0K3pGU1NrUVFnQVdFeXYvaHNCaFE1d1FvZ0tZUTlvbEN1Z1Y0WlFFU2FoU2xYWXRxVEtZR3ROcGpnT3lpVUpnT1RhWWRQVUt5c1hsNXdBSU9DNkxnQzRGa2NvQk12U1E3QnMxNUNCVkc5eFByanJXczMvL2g5MDN0M2Zid1k1QUQ0b0hxUUtFa0M0R05XVjRoUW0vdnpuUHovVC84MTg1ekh6eTAvYXZ1bzgvMnFHcC8ycm83dmIrTXNILy9meDc5eDFvZXRLTzdteTdIUGRYSmszSkZhdVZHZjRYYmVOK0FtbDgrZlRQRitudTIxWGczanZ0ZGUydWhNbnRuM1VSdWI3R3hvNHBUcEoxRFMwM2JOeXZxOU5OSWlFM3c4a0VnY2JKMTJlRHdBeFB3MHR3Y2NmNXlZU0lwRklBSDcvdk56RVI2TDNEV3N5ZjRrOG1nVTF1Ym51eHgvTGZwK2dKU1VKbi8rV0pSQWY1NEkzSUpGSVREN0JXdy9GbVM4ZVo1VGU1dnZ1ZDc4N29GRzU3clkvYkh1UCswTlViUGI1L1FtZkx5SGE4a3RLU3ZMYmVJTFNlYmx0a2MySmtoS0tiZHR5Vi9yRGY4QnRKUTBXL1A2RW5PdHZFdzAxakpYY2xzZDlJRzVEdzI2VzRIdzM5L3Q5b28yc1ZITjdhL25uc3B5V0FmMlc2NE5vMk0xT3hwT2IrS2dCaVFUM0o0QlJOdjlVem5pdk12T2R4eG83UC8rNjUrc3hxR1FFOVBUME5IWitQdk9keDhhbnVyVGlXaHlwcTV4cjIwMGFJUUNITEVreVVLQWFoZ1phWGxWT1U3TVNRTmREQkJ5RUVobXVFQUpnakRIRzR0TnZEbEpLZFoxQ0FWd1g0SUlUb21rYUlRQUVCOUUwVGRNSXVCaDlyRnh3eGt6VFpJejMvZ2tDUXVUcGMzVWpSTUZBUTZvcVNhYzBxcFhvbXE0VHFJWUJ6bHVGeFFHWXBnbEtJY1RydHRBSU9PY2dtbmpPOUZNdVlCaTkxMzBPVUFwdWNVQ1dWQTFVMTNRS25SQk5VNlVCdFRSTjdweDhzdDhncWNiQWVGeGhNbVl5eGt6R1RPR092djBER1BvbC9QS1Bubi9CTmNkTkp5ZWo4ZmtlbHZSTGVpYm0ycmFRVlZWSzNiS2s1T0RhdGtqOXI1d0Y2NFNjbWx1N3RpM2szbm0rWnFoUzd4d0ZBbEFsdUhaOVBSYmZtem9hcWlxNXRvdmU2UkVncTdLSWlOUWNoRU1lN1dUZHRWM0lBSVJsY1dJWXN1MUthc3FuSUd4QzE4dFVGYTV0V2JpTzRNVEFSbWtRa0FISXdySzRabWl3K3dKRC80MlQ2N3FTSkxtOWt5UFhqbGd3Tk5rV0FDd096VkRoMWdsUm9NcDlCOHRaRUlOcU1XVFIxMjlacmZ6QWRLTDF4YU5wc2ppOXh2TmtDS25VeFQ2OS84Tm5Eblpka1B1VHMxS1lmZFZyaTM5Y21qZHJGTWZhdHMwNWIyOXZIL09vaG1IcTFLbUVFRlgxZkZ3dWNZYTRyYTl0M2pHVVRtNWRwOStNRDdmUFdqUmpzL2tLWmovelpBQklOanNBa24vYWpQdWV6QWs0eVhvRUNqL2QvNmZYVVhvdk1LdW9FRW5NejhsN3RYblA4c0JpSkp1ZDVQdWJjZXZLSENpQmdOUGNqT1QyWCs1N3YyNXdOWWU2djZ4dDNqRTZxWERPRGNNWXhZSG55Y2FORzRlVVNpd1dpOGZqbloyZHg0OGY3K25wNmVycW1qUnAwdmlIMTgreFk4ZjZBOGpLeWpxVDFmTEFZcGNTaFlXRkJRVUZvejU4Q0tsc083ejM5SjJsVTdGdi82R1ZpMjcrZFA5MlRKV2ZiMjkrTWhCQVRrQkoxdjk2bi9oa05oQUFtaGNyemZVb21JRmtZZXFYcnVSSUhmamJ2bllzRDhCQlFFSEw4KzJIbmd3c1JoSktUc0JwT2xoM2VrMkFkZmlUMFRWbW5NZVRmcExKNU9rN0d4c2JKMDZjT0czYU5GbVdmWDJNZjJ3ZVk4VVFVdW5xT1g3YVB2bmVvdTh2enltWW1ZTTdpd0wvU05ZZmJ3TFE3Q1NCbkh1ZW5NMS9EYUM1Zm5NVFZoWXNScExmR3dnb0FOQU1uUGdjc3grYzJ1UUFTZzZBR2FVaitERjNmdFY5Zm8xS1AzdjI3QWtFQWxkZGRWVzZBL0VZTTRhUXloVyswejFIeFJQMXoreGIvT09WeVdZRmgxYnZmd1U1LytRMEgvdzBjRE9hUDBSN3l5ZFRBOGdKck1Rem4rYmNNNnVwNVluMitsa0ZoVXBPNEkzOTlXVkY2dkVjSkpQMWJ5UUxsK2VnRG9WSTFyK1JCRkE0YXlyUU5FUk1SMW9PUC9yb285ZGVlKzIxMTE0N1k4YU0xTVpvTDhsbnRQZldFYTZPT3IybGxNVmxxSzkxb0Nod0hDakI4dXRoanRyZWUrZk9uZlBuejU4NGNlS29BdmJJVUlhUXlwSnZGZTlxWTZmc0xDMG94ZjRmMzlVT1RMMTFYWTc4ZXJMdWx5aDlDdHQvdWU5OVRKWG5vbVoxMDBIa2xONzc0Wk9iYzY3NTE2blkzUFFuVEMyZERkUWVlZnQxOXVXOUJkalhEdUFna2pQZVNCN2NOK3pZOGk4bHl5cnVYbm53NE1IUFB2dHM3OTY5YjczMTFtZWZmVlpZV0ZoY1hEeHg0c1RzN093cnI3enlpcUU0L1ZRcGUyOXpyVW5MZGRKNnpWL1FBc2R4bEdDNUFWVFE4bkphWFIwRm9OQ3l4YWl2ZFJRQUNod0hXWlJSb2dPQWdoWW5iM0hTcVUvWmV5dDZhQmlkTkRjM056VTFMVml3WU1LRUVid3haTnUyREFodzAyUlVyelRrek1uVG4rekFDNUd3WDdaTUt5Z1FRcVFNcTRSbGNZdzRZUzlPNlRRMUZhVXRWQldSQ2c0S0FHQWdsUnBzeUJBQ2tGVlZnbTNic3FyMlBXMGJSV3AvQ0ttVUJXNTg3ZEQyVXpMMGRVMnY5TjVYdEwvL1JPcUgzaTd1YXVyZHFHc1h2UnNBMmdXYXRnTkFrd0I2eDQyNjFDRk5BTVFUdytxazhJcjg3d2R1bWpadDJyUnAwK2JPbmR1Ly85Q2hRNHl4am82T3JxNnV3NGNQZDNkM0h6MTZ0R3N3cHprTURXUHZyVzBLYWJhMU5sVnVDeE1obXNwOHAvNHQwT2piSTdmMzd1enMzTEZqQjRCRUlqRm56cHdSNlFTdWJab20xWFVpUTlkRHNneGtUcDcrWkpBWEpHRmZXZHFmclZjQkVDS1BOR0UvUktjQnNDMHVHeXBzUWdsZ21nd0F2YzYyRG5CbVF0Y0poT3RLa2lyemlLMGFLaUNwQktOSTdROGhsZEs4V1hkOWU5NExyam4rdmtjK24rL082Zk9IZlB4VldGaFlXRmc0L09IUFB2dnM0QjNEMkh2RHRjSm1YN2tpdEZwTWdlTTRBUFlESzZ3bWVnNzIzcE1uVDc3eHhodFQyODNOelFjUEhwd3hZOGJaMmlxcHVnNXd6amtEQTBMRXNqaFlOT29vd1NBRjBUUUNNRXAxd3NNV0tnME5yckJTUHN1OHRRTksvMFZCa21EYkFGSy9KVElvM1hiZVg3aVFKTmkyVENnblJPY2NpeVVJdS9jdEV6RVo0SXd4QUl3UXpaVWtGYllObVZ2Q01GVFlrWERFQkEzcFZzUWxCSzRyUUlNNklSUW1kK3U0QlYzWEVZbTRoaUdwcUtoQUtOUjdaUWNoc01LTTZScmhnR3hibkRFd3hrQXB0WVNtNi9ySlRxdnNUVndTMHRkT0Rrb3BBRktneWlkQUNPZW15VUIxMlpBa1FrU3FrSHRLNUFBc2NIQUNRRHRqanczOUR0anY1NjB4RDMvUzJQbjUrWFgwT1VPdm5QNzgvTEhNUHc1ajd5Mmc2NXpTY3MyUVJjU0NwbEdJU2tOMTdZaVFEVlZ5U2NHbzdMMERnVUJMUzBzaWtUaWJPNnRyYzlNRTFRbFlOVkF1Wk1PUUl4RlNwZlBlaktPdDZ5Rnc2NVE4UFFELzlUY0hKM2VDRUpnWW1LZVhVM20zVko1ZUJvUmxDWnovbTRKY2NNWlMweFVOSkpXd0p3UXlvS3ZMZVVXWTBWRHZ4TWJpTU9SVTIreFdvbXNFQXFwcXVKRklLM2duQU5NMEthWHNqWVpsYytjZTRKd1FUZGcyd0NtRmdHRklxVlRzeVlROTBTUlZCaWNhNFF5RXlMSXNyUENBVHJQZFZQczRkMVVWNE9BQUdHTVVxUnlvckJxcW5NclFBaTduU0QzU2wxVERrQ1A5a2J0Mm1ERWdOWXdUOTB4VDF1RXM4MmErOHhnNytzWDRqQzArbjQ5ZU9mMGZkL3p1ZkU3eTdMUFBQdjc0NDJNVjB2blUyOWpZT0czYXRCRTlBWE50RytBV05NSkY1dVRwQjRSM2dSTDJxV3c5Z0hOSjJQZmRldlYxbXRGL3I0TGUyWmdrU1VoZDdtVFk2TzhYV1phRndNbDdGWng3YXY4czdwSnJQdnI5VzE5OGRLRXo5NFhaK1hkZVBmLzh4NU9OR3pjKzlOQkRZeExTT1JHSlJFNVBmYWJ5S2xPbVRQSDcvVjVlNVJMZzdFYXNkYkZQYTVwM2JEdjh5ZEd2anplUDZYcVZRTGEvcC91cmIzODU4YjlXUERxNjlQd3BwT1hGbHB5Y0hFcnBrTm42STBlT0pCS0p6TW5XNHh1ZnNEOG5Uc251cDkremVOMjZkYmZlZXV2Q2hRdlRHNGFIeC9Da2Y4SHdJNDg4c21IRGhuUkg0ZUZ4RnRJdmxlenM3UHZ2dno4U2lhUTdFQStQNFVpL1ZBRGNjY2NkalkyTnFTZWhIaDZaU1VaSUJkNDB6Q1BqU2Y5dGZUL3Z2dnR1WjJmbjNYZmZuZTVBUER5R0lGTkdGUUMzMzM1N1lXSGgwMDgvbmU1QVBEeUdJSU9rQW1EQmdnVTMzWFRUYzg4OWwrNUFQRHhPSmJPa0FxQzB0TFM0dVBpRkYxNUlkeUFlSG9QSU9La0FXTEpraVNSSkw3NzRZcm9EOGZBNFNTWktCY0RTcFV2ejh2STJiZHFVN2tBOFBIckpvQ2RncC9QM3YvKzl0clkydzc5YmZ4R1JtNXRiVmxaMjJnSzRZYkVqRlJ5VWFJWXNJbUVPSU81SHlST0cydmVDYm1yMTVlU3MxdWtucG8vVjBzdk01T3oyM21sa3pwdzU4WGg4elpvMVAvdlp6MUlyZG9ibmozLzg0K3JWcTdPenM4Y2h0b3VSN3U3dUYxOThjYzJhYzNpRDIrWk0xeXBWQ1hiRTBpb05DZTY2Zi90MUs0elVBa210Zi9WbEUrR2RZN1gwTWtQSjBBbFlQOS83M3ZkKzg1dmZiTnk0OGMwMzN6enJBSGpGRlZkNE9obUc3T3pzSVIwSWhrRTFLbVZSVVdIM0w2NlUrbGFpU2hLRWdFRHZvc2pXL2tQT2UrbGxocExwVWdFd1pjcVVYL3ppRjVkZGR0bUREejVZVTFNelRFbHY2blZXenJXTFhEc2lRTUdoRW9RanRoMnAySjZYMTJuYktlMmNkRWx1UFRRbUZzbVpURVpQd0FZU0RBYUR3V0J0YmUwRER6eXdmUG55RzI2NFljNmNPV2Mveks2WVgrMFVBY0QrWkw1V2NzUnlzRUpSQUtxSERGaDl2a2Y2SmdPUlZkVURySThxTmFzaVRFTFV0SUM2blIzSnZCYUZCaEZsdEh6WlpQTzMvK1hnM3hVbDZqaFF5amRWSW5MbTh3eXdVRHFlVENZbjVlUVg5L29ubFYzUGFtc2RSVkVjeHdHVThpcWRoODJvNHlqQklDVkVBOEtjVTdCbzFJRVNyS28wRUZtMU5ncEFLWDlNTjM5cjBpb2RhMDJVNnhwNG1QZjZNQ2tLWGFiamJaTmg1RlpNd3lPcGhvVFVPbHVqVWdVZ0l5SjZuVThBRFVRSUlRUXd2UkRvWFV0STVQT29MNE1aN3FNUkdjanMyYlB2dWVlZWxwWVcwelFqa2NpaFE0ZU9IajE2NU1pUjd1NXVBSHYyN09tM2crakZ0ZXkyUmNGRk0yZE9hRHNZbUJOck9xWUVGMUYvM0U5dUk3NkViNlp2ZDlWdVdsN2k5L2xVbjF1ek00WllMSmEvNkw0bmxyaFBQN1FWczl6Nmwrb2JKM1IwNGYvcWprK2YzdWdzV2pSaGQvZjEyUGQySGFaUHlGOVVkZCtFQmxDS001K0hvTFp0NFgwemQrNXNCQ2JLZ2N1NnVvcnk4L1B6WXpGbjV1MXFQSjZmanpqeTcvdnBvcmEyK1NYKzl4cDRmaXptVEpnd2dmdXU5dTErSzFvL1lVSitMQlpEZnV1N3YzdmxYUUVBVUJiOVFOcmRzRkNQVjFYSGd6OHQyVjMxWG1KQ1lFNEpkdTVzVlBKampyL3NQMGpiODF2cmNSVmlzVmorSFQrNFovQUhFM2JzMkhGcUY1MGJ1Zks4dmpQbXlybTVjaS9GeGZONnQrYU55UmNhTXBDTFpsVHB4K2Z6TFYyNmRPblNwY2VPSGR1MWF4Zm4vSXN2dm9qSDQvRjQvTExMaG1qT2ZpY0tCOEQrSXppZXYvOXlCMUVIK3hGY0J2T2s3MUdSRXN6UzBUc1dPT3VySTllVm8walJqVXFkVlNDazgzQzFRblVkTUtPZ1ZUSnFnVDRuSkxSYTRkb3puMmVRaFpKMTVGalJBUDhrTlVTcjE2SzhuRld2akFZM0c3QUFTaFVIbElLaFFOT1ZxQU1LQllyamZENEZ3UWZLQ2NDcnF3RWRXNnFyb1Nncm1NV2hsSlJSODZRUEU0UTdyRjFHdncvVE1Fc2dNWGFySU0vVEpqaWp1UGlrMHMra1NaTktTMHRMUzB2Nzk1eG1idVRhSEVXQW9zRFpVblRUQ3FVRHVDRkl3UkJGd1VEZm82cVFBUkZSZ3YzV1J3VXFVVXdBcW80S2EzZnNnK05ISEZPdm9zNTZwamNKS0N0V1VKMUdxOE1PVUY0NTNIa0dXaWdkLzFieW1vSCtTWFdJQWdybkFNQUVOQUtZeklFRHBrQ0hKT3ZCSU1CNFNNZDZrOTZRZXJhRVlCQUFpb0pCTUZJWmtpTmhCbUNBRHhPREJJWXpXekVOOUdIeU9DY3VZcW1NQUVrbXRMd3FwRXFTRzdJdGtRVmFZR2dpd3BSeVRYTHRTTC92VVVTNG1xeUZZUFZiSDZVY3R3QTFwUFAvL09UaHA1Y3ZockNzcXMyNmdLcUdPSWVxYWJJQnVJUDhrMDQvenlBTHBWb3pYbEw1Uko5L0VteHQweWJZRVZIVkVCSjJuV1VDZmZjNE1DMjNVaU1FcW9aSUdOL1JpU1pEUUpaVG4xQkVFQVNRWFN2TXFHNUlNcXI2ZlpnZ1E2WkJPbElySm8rUms5RXB5SE1sWGVaR0Z4RmVGNDJhaStCaHNZZEhKbkJKU1NVbkp5ZmRJV1E2VTZkT1RYY0lGeXVYMUwwS3BUUVNpYVRyZzBTWlQ4cXlMTjFSWEt4Y1V2Y3FIaDRYamt0cUF1YmhjZUh3cE9MaE1TSThxWGg0akFoUEtoNGVJK0wvQVk2enM2cUtSeUduQUFBQUFFbEZUa1N1UW1DQ1VFc0JBaFFERkFBQUFBZ0FCWkJqV0Ura2NPVzBBUUFBTndRQUFBd0FDUUFBQUFBQUFBQUFBTGFCQUFBQUFHUnZZM1Z0Wlc1MExuaHRiRlZVQlFBSEswcmtaVkJMQVFJVUF4UUFBQUFJQUdXS1VWamJybm9KNkE4QUFEUVNBQUFJQUFrQUFBQUFBQUFBQUFDMmdkNEJBQUJ0YlM1aWEybDNhVlZVQlFBSERuclFaVkJMQVFJVUF4UUFBQUFJQUFXUVkxaDF3Zy9VUWdJQUFGa0VBQUFQQUFrQUFBQUFBQUFBQUFDMmdld1JBQUJ0YlhCaFoyVXZjR0ZuWlM1aWFXNVZWQVVBQnl0SzVHVlFTd0VDRkFNVUFBQUFDQUFGa0dOWUd0QVRseFVKQUFDTFZRQUFEUUFKQUFBQUFBQUFBQUFBdG9GYkZBQUFjR0ZuWlM5d1lXZGxMbmh0YkZWVUJRQUhLMHJrWlZCTEFRSVVBeFFBQUFBSUFBV1FZMWc2YXA4MnhBRUFBUGtGQUFBVkFBa0FBQUFBQUFBQUFBQzJnWnNkQUFCeVpXeHpMM0JoWjJWZlptOXliV0YwY3k1NGJXeFZWQVVBQnl0SzVHVlFTd0VDRkFNVUFBQUFDQUFGa0dOWUpQRGIrRG9BQUFBNkFBQUFFZ0FKQUFBQUFBQUFBQUFBdG9HU0h3QUFjbVZzY3k5d1lXZGxYM0psYkhNdWVHMXNWVlFGQUFjclN1UmxVRXNCQWhRREZBQUFBQWdBQlpCaldGZmJGb1luQkFBQTJEc0FBQWtBQ1FBQUFBQUFBQUFBQUxhQi9COEFBSFJvWlcxbExuaHRiRlZVQlFBSEswcmtaVkJMQVFJVUF4UUFBQUFJQUFXUVkxZ1h2emhqYXhZQUFHWVdBQUFOQUFrQUFBQUFBQUFBQUFDMmdVb2tBQUIwYUhWdFltNWhhV3d1Y0c1blZWUUZBQWNyU3VSbFVFc0ZCZ0FBQUFBSUFBZ0FKUUlBQU9BNkFBQUFBQT09IiwKCSJGaWxlTmFtZSIgOiAi5a+85Zu+MSgyKS5lbW14Igp9Cg=="/>
    </extobj>
    <extobj name="1BCC2C28-871D-48CB-8BE0-2867F7803ADB-4">
      <extobjdata type="1BCC2C28-871D-48CB-8BE0-2867F7803ADB" data="ewoJIkZpbGVDb250ZW50IiA6ICJVRXNEQkJRQUFBQUlBSlM1WTFnTzRPR0ZzZ0VBQURjRUFBQU1BQUFBWkc5amRXMWxiblF1ZUcxc2ZWUmhiNXN3RVAwK3FmOEI4WjNFUUVKcFNsWlZaYzBtcFcya3BPdG5CMS9ETldBang3U05wdjMzR2pkWmcwTUdDTUc5OSs3WmR3ZkoxWHRaT0s4Z055ajQyUFY3eEhXQVo0SWhYNDNkeDhXdEY3dFgzOCsrSmFuSTZoSzRjbjcvNDVKZTNQTmRSeU9ITVdJaWt4cloyUDFEZlFaeHNJeTg1VEpnM29BRzRNV3daRjZZd2NXNUh4TjJrY0ZmVitkMzlKSE1wS2hBS29UTkxtS2kxN1VTVTdvVnRmYldEbTcvRUZ4Z0NRVnllRUttY29NVFF0cVVHMW9VV253eXhUd1hieE1wNnVxZWx0Q0JweFdhYUM4WXRvSHJUT0VyL09JTTNodUNaVHZQSkFEL1d0Y3dqTG9JUHdGWHVWbFdIQTNhaEZsQjFiT1FaUU8rSVcrRGQ3cEZ6OXYvVW00a1VBVnMxNXpQNHBpV0hiT0ViT0QweDNUYTRZSndBdDBacFByV0VBSVNERHdTNnNzSmd0RWdIQTJqem15ZGduRGthNDFWd3hsZHdhWmhWdnJCeWtVcm5jN3FWOUkvR3FGa1FybFNENVhTSlRqVVB3bTVUdW5XNkMvM0o3a2t0c3VMa0F2TTFnMHZ0RERrWDVqZGZFV2wybS9Ud202UjR5WS9BUnBoTTlTbVBuRnNEL09uZUU4WW5rYzI0WkdqT3Z3WXJJN2xsSy9Bckx4dG52U1A2NlIzTDlmekhFQTFyS1MvL3dYb2x3OVFTd01FRkFBQUFBZ0FaWXBSV051dWVnbm9Ed0FBTkJJQUFBZ0FBQUJ0YlM1aWEybDNhVFdYaFhieUROZHRjWmNDTGU0UmdoTUNJWUZBQ080bE9CU3BRZ3N0VXFINnZMMzF2OTg0NDl6Q0hIdXZOZGVWQ2ZaNzdNeDUxckg1dUYrZmxDUHZVUTNpZDVheWVjSUhRVzJtVUszNFlGWEFIMmNielBmYXhlVVJoNk9rQmtmVzBmdTc4aW9ka2F2RTBYODRGblN6L2hHREU2djRQajBmWkk2TlFWbHBPeFltVDA3aVRNTEJjWDkrY0pwT1Y1OXFFd2tsQkN6UGxmNWFvK0Y1WldPVE9GZlozaEZJaGtQWHlhK29lYmpRZWh1YjBiaVpRb2ZTVjdod2hTbU52bExrUFZjWE9NR3BGVlJjTmVsT0xCc1VCRS9OSXNpNDM5M1FNSkRsdWxUN2gzcllYdkRMQWduTlk1Y29tMU9Ha1JuamFwclQyMWhLNzVpZVdrWVZJam1DZUxhRUtHczZpWXYwaS9IQkgzMlRGTEFaSjMzQWF5bTQ2V3AxMTIzS2tHRXI3TG1FWWdWQWZrWjhXaVJscGFkUDFKaStreWVCVVVqTCtocTZZNVdObUQ4T3pTZWIyRTBONXY1VlgyK3ZmKzRidWs5bWs3VW0xZzlIbURyYTVRQmNyQlRVbUh0L0hWdE5CSDU2RFhhdUx1STF2bUR3Qi9SeDBMVlRCckxheURXbFFlcFVKRDVzTjQrS3JZZjFoNkZpb1lENFU4eUF5SWFnbER6SUQ2V1lUakd2WkgzNlkycC8wTUd6cGN4enZ5NWZFWlFVUWZhdldDU3IyRGxHdmM3OEJFVW5GN1BZc2RhSkNmVmE5MlJYcnZCVjZrbmJYNGg5ZS9FUUx6eCtiQis4ZWpIWlh6RnZNaDgxMHZFZktzdWJhb2pTZ3FFQ2dIMUhVWDJvSndERzFYcjdXVVMxZkNLeDNpQkF5TGRjdys0T1JkNWZQK2VCVWllR05iaCtLeS9ERnZaM3ZLRXlOTjJ5WDYrQTBROU93bUdmMzZKMEU0VTZsODk4em5idm1hQitUR25SaWRBU3FhTWtaaWIwS05xeXNKUGQ4NytJdmJVYzIzSm9pZE02Sm1weHVFRTVEVWJBbzI3MW1qM2tGSDIzUTRFdzhmdDVsVGU2Qm8zelB2dG9WNXNqUG4zc3lXV3lFQkI2dFQ4aFJQRlVtaWlNL2RlRE41VmJieFc0UHM4M1dkNWNxYUM4bStqaGxxYkFVRWhqdC8veHYrNG9mSGdnQjk4RXhtbVlQdzJjalJ5RDJyb3JnNUJnTUJNSUpIT0h6WkdqVG1KWlN6ODNacHNDek9seWVnMUR6SW1rYzh6RzdTSFpIUE54NFZlWmF2dlhmYVU2RnYrUC8vTC8zZjhCajZGaE5ueHgwYzJkb25nbjBZZU1DSzluVmVyaXNjZHM3YWl3RmlaVHlmN2pmTlN5QVlDaS9WTi8xb0FrRnlOZGpabi9Wek1DK1U1bk1DNnlxeVAvc0kvaVFoTnZCOW4yZVRiQUVvYUNUeHd4UkY3T3lXL2xEa3VHWm1ldlh5alkrZU4vTGdBMHhsZ0czOS9jcE5UZ1FwNVE3Wi9PYjBNakloMmtMRkxIVDZsNmZ6TjFVQ2s3RXVQKzZ0NXZzRnRMR21zOGpUSEtac1BEVzNaaE5URktZK3RpNW56dW9kdXFZd0JFODg1K3laYm1nUnBmVEJvaExmM1lMdU1aMFY4ZnVxazkzSnVKaE94amYrTDBPNlI0dzYwU2pOdm9KWWJiK1hUc1REcm90KzU2SDF3aUpTUmxuOVZObmpOUUtkNldtd1NmNTdOeGE2VmxEem5qWHpvS25OSjQ3ZWR5YW5nUEpycHAvR216YU85RVpocUdRaFo1M0c5WlhSKzJGb2x6NmhrSFRHeWpWRUpESU1obHc2ZlZiSzV1QXdPQnYvelpud2RGdlBiK2U1OHQ5M2tCanJIOFdPdFk5YUtCNXBsRjRYcERHMHQrUmE0WHFjSFVZWGREOGZXWEE1aHN5blc3Z3QrTk94bGNEcUpCdVpsUXhVWDErVXZGVG1xdENvVCtzR3Q3MU82cTRTUTVmL3gvc1JkMnpBazNOcjF4azRpMTQ1cWZnREptT1BiTFNVcHpmNWFDQ3BoRnZ3RFpEa1o2aEZxRHdBMDRUZG9iWXAxdjI4UmFoOE1pOFhWaFJYRjAzTkwxTTFCODhtMmZiSTh0UUQ1Ty92Ry9NOGlCMmJRNEdIeXc4aDkrakxJYzhQSHhZbGhSRkxnVGNmSVFhYld4R3VRSDAwUkFBYk1GdGlpTGxhU1FQTTNhTkRwc1gwSDdJUXpucGZ6Vlh2MVJPQTRMaFhRbXIvcTRxUnZwbUFCTnBQeTNHUTAzb0JVMEh6OXJzb0QwUXZUdzgzUmZORXBQZTQxYVVaK0plZS9TUzFTR2hVUWxTa1RNaUlaM2dyaGVCR0JhL3ZjdjUwNFlYWmRhZWE3TXloV2ZsS1B2VVRCRW8yZEl5cGZQc2Frb0dZRTgrY3Q2MlozeGh1UkU3dnBsWWtBZGNEYTNhZDZ2aFZJb0thQTRXZE93VUN4R29WNFR4MWVSUldvNkZSd3JuWVQwek9HTVBSWnFMd0pPcDEyTXh3NlZLU1FQQkVGVUhOQlo2OU50Z2Fmd1J4Y3BmVDRzVXA1WEpzOEFtRTEwT1AyRmhVRTNnNVNURGd3b3NvVUxmYkxqVndrOTlmWWt6anErLzJlZXE4YVpPZFBhNTU3ZG1EZE95bmx6dFdCZ0pTMkMrK1lWMkk0K2xNYnZGbm9hQmUrMzVIZFU1dkNoSi9qOC9ZNFJXRFhoTElrUCt2YTRveVJHeHJlSG1NL0Vkb2xIdkhPMHVHMmQ1SkJCS0dkVTdhMzh0dHBoMEtXUDVCNDcrY2xFSFpFT3JYRGpMLzg3VHA0aTRLU2RtVEVnNDQyN0taVkpDKy9ZOWlFNW1oY01nK1Y5MVdRTUdHaklrY3NtTHVVbW5tU2VrQkc5dDFwUm5VemprdXhTZEpjbkhQbU1xREZXMUI1emlLdm5qaUxyem1mTjV3SlNBSVRuTGplZmNvRVFxV2Q2U1daUVBBOGlWRUlTenpLMWFsNnZnendCZDdLWS84ZDYrWm9acVpmVWtNZ2E0U2pqZ1pCcjkyOFhFWmRZMlAwTkZDOXk2Q1VhUVdkRFFnZkE4WnZQWjRNczVJZDBvbTBNdlhDV1RGd0szVGJIOTVqTkowbUZnOXZTZnVYRVJyeE1QN0s3UGM5Uklqd3djOHhFRE43TVVrNlIwb2NGeU82L25GOEUzNzY5bEJmbUtNRjJxbVhlbVdRTGR1QXhWajR5Q2tHQ2p1cWxtdDU2UzY0cGxVMWc0Y1d6dGV2aVZLUUV4NjZNMU1ES0p2MzNlc1R3N3VaTGp5WkxHcHFTa2NIQTRCTGxlVFMxZTBOWjAraUtWZWFvTnhrb0tDU2pIbit2dFFBemxLM1ZyUkFaUE5rWFJ6MGo4dXREVWxLQzdNREg5RGREMUplQThNeEl2L2tkZDBZY2c5ckdnYVQ3ZGdKZmNFS2MrL2V2TjRWRzZaWDQrQjJsN1czM2NIRWk4L1phdGV4cDFFdHlHMHZzcm1DeFgyQ2NkbXdHMnE5Y2VOc3g2RHhRWnJmSEZFeEdtWEp1eWRPS2hTUlNDMFhxVEJlTXhwMEJmNVQ5eUxhNGtTaDg1dkdGLy9qdkI1QmFSM3cvSDRCNlpkTzQzMkxXSkxYNzNLR2k3aFRFUHBGZUdVK3U0aDE4VUcvOGF3NUxOa3NDeU5qTHpINGo2NVlxMkV4Q29UQ24xbmtZbm1BcWpzL0s4VGp1eWhQQUlYZ0xTbm5KWU9oMVVDZWpOZDZ3WUVJR0hCN3FDLzN4Znk5NWxNR1lpV01uL3l1UktoU2NPeTN5eXovL3dTNFNJbzlNT0RqTHZrQ0tudGd6TlBjK2pxS1FESWt4RHdYS29xUjdwZkw5WGRQcXRoeEw0MVVINS9PeDVXNUtzYk5paGozMDNzc3FJaU1Xb3UxOThHMG91RUFuWnB1cDR3Znkzb0VuTHFTTmhyUzBPV3ArVTMwK3FVdlVnYzh0OXUwZjl0MGc3WUJIM0hFbEdobEJiaU9kUWE5ZWRZaDFjTEVmbGJNNUdmajZWUC9nMERKN1VvWGFFc3VIbzAxVjF2TGN6bUtldVFaREdrUFczZGNBazZmd1VNZ21XSkozUkR6dERkdCtSQlUwa3ZiREFxYWF1N1E3dUk2SExQazdSaFdFRjlER25VR1FKWm1DTTZsM256bzVXQXlNVzZlRm0yUFV4QVdoeWxBY01qK1c3cGkwVENhYm52eSs0bVc2U1YwTnUvTGVQakh2TjE2THpva2p3ZmROSHNwMUhZLzNrUzB4NkVjdDQrVEJacUg3cmZsMW9DUDZPQ2JOVElMSGwxRXFxQUNneWR1d1ZYRFVSVmNMTlVqODlXTXE1R3l5ditFOEY1YVlvNzcyQ1VMY2R2SzNHdjNwdEJtNzZFemRydi81ajV0NVcxM1hoZkdEUEcweldxbFZKVjRSQmhJNkg5M3pOYmFycEFQam0xVnhQYzYrWDVjRmhvQ2tWMGZiN0w4MDkwbVFUdS8yNk1JMHVxNUpScDZDbWpvZEo0YzVmeWVjNU9Od3BOVnBqa01PY3VJWUtzZW96Nmk3OEFVWFJMTUNhYUYwZFZGZnhZcStGSS9MdW02K0JJQmNCSHJIbmlqQ3AwVVdtaFRRVWkrRjVmNUxyTlJXaDVHSjZqTEVXY2E0TEUvZTlLendRdTQyMldlWlAzTWpKdXRZRWg4SWlKalhKWGVaMHBicUYxT05pTlJHbTVIRXJ0NmR1U29BdXBFWXBZdExDTGFaTlFFSnRSR0diWUdva2lndEhYWE03aUJydlUzdC9pbWtGK0JlSFgvK21vaVVRM1hlNG5PeDRLSFJEbG9OOGlCdVd5MDdubDNjSzJ5MFd0QWRMQmhjNGFLcUQ3V1J6U3NNZlIzcVF6T21rZE5VUVdCR2IzZVgzaEJpd3VuSUVqdVd1c280TVdTbktaQ2VwelV6Slp5L09iNjU2M1pmaitma3ZlNWZQaktadkx2SGlLTzUzK01jQ2dFNjNkUW8vN2Z0Zm4ycTBoTG5QOVZEYnZ4akpBKzh4bTRWbFVWVklrUjJjcDdTTG1OWE4zNmE2ZmNzRVRuOWpHeW1QclB1R3RWY2RBL0JZZy9iWlkwRk13RTJTRCs0YmxmZVBXNHBBT3JKcm4yWUd5RTZXWGhpQ3hMa2Vac1FSU1d3djM3SGtvaFk1OHBjRzdoS1pOZHYzOFFIOWNLSiszVlgzMW9EVm4zYW9aSG5iN1p2SCtLZVJFSTZ1UUMyN0UyV2NrYSswdEM0T2p5OENTZWFIbmhJNCtOTnQvMU1uQUFXQkhZNm9xMzY2dGtxMWFYZ21iMklNcVBpTkJvUG9mR1RBZXdLVk92NUh3SjJRejZNR0FBcUhmSDUvRWpXdWc3UW5ISXJncWpsYXhsOUtQWmhiSmo1YWJlTEt3SnJNTlB3MytldHVIWTdOcmtyOSsxR2ZxODkxdlVWd1ZGMnU0NUozRnIzS2JjKzNsNXFaV1Rzbk1iUTh4MFRjT0pHSWxQQTNybFI5UFY2WW9va0FvQzlCNzJpaFpKTHpyZTUxenp3QUxqcWlRTnJHYmttNlVKWklnaWUwVnEydE0vS2FyQi9LRGVkblNyUGwwMWRnSlB3OGNMZ01FNFR1cXZQN203dWoraUxRT3gwcXJWSzZDdVNHSHpJVVUxV0dEZmI3RG1mYzdFbEx2SC95dktnZmV3N1JRdHdXbVNYVkE2dEw1SUVUWm1SRkl5TTBLOCtsOUZEbTNZSWpiazFvOVpvcWMxOHdESVJaWHk3K2IyNnNXQ0lRSmF2bHptRDkvdGJIZC9FNFZLSVR6MFdLRFJQNnpoejV2VW9RdVN5UFdIMERLZWp5RXl1d3BmQ29iOVBpN3JWVVh5VVFvMlpSQUFNNUhMck53QTQ0K0JtZ1RWQi9rVGVBNUZFVUFkU01zaExsSnEvWEpGWVJMc2w4VFR6SC9FaUp6Y3huY0MvN09ucXU4ZGZPUlNVZmJIUlpuK0IrR2J1UXZ3SG5iWExjSGNDSHRVZGxaTWpjaU9QM0ZyRHBDN09yOE1kUStXMDJzMFFjdXFrN250K1M2a0RaMy81ZjZvd3pxSGQrcHhMbVFBUkt4MDl4L0VZenFvaDlEdzMraVkxSlVDV3VQMTlFVmJ0eU9YcW92N0tzZW4vbC8rdi8zLy9tdjcyNzYvSlZlY1NlcWRWdnlyRWxDNjkxNkNtQjY3RzArb1Fsam9Nb1lpTUhUNHZ2eVJXZWVpaU9RZFBUdE5uektZOWhvVGp2NmI5L1huQWVyL1dzSEVjSUdMK2RzdXNUb1JzUWFqWmF5YndpWjN2VC9jZEVRRDdxUnhuWG8rUUg0a0hOT3Bsejg5MTZGelFuZHltUUdCdCsyMjhZdkpuUEtzU2RwRFN1NTlLRWhkMVZJcVVRdFErUERaRUFWSWpoVUk4d1V3YnV5MUorZE5UV1NNNHJHMml0bVNKeU5BMnJ0NFhnanpWRFdQeG54SW1zZFh2SkkrUlV4UUlJSEdMODgvNTA0d1pOZnRnSHAwdnNUYkMxM2FKZWNUN3N6Zlp5cXJJTkMra3FjMTNUa2RYME0xcFExTmlGS2RSaXVtNGgzV0JEb3pQckorL1paRTFEdGhOd0xEY1FDYnlTcStLa1hGTzdNU29OWVJjMjRkOUtoaHJtTFVvczZQU0lINEdLSE5uODlTeCtGWWk1UUFGK0FKUG1mUW1jVjI0TTV4NCtoWnZVMmYzVlIxY3hUK3cwTUd4Z0FOTjhjQzBSZ0RKUndKb0t1dDk3K1ZlRlYzTytGQy9tWEpmbG9yMy9NVUpZdVdwZ3ZxSm1FOWo5N3MwTVp2TWlYakt5Y21uSU83dUE2WDVyZjVRM0RGa3JXNVgzakNzK2FOZVRFZ0ZGUlNCdUp1aDNsd1lDK0QzWnpMNnovOVpOaENpVTBuL3lTaTNUSTNjUE8zZi9aOThMQnNDR3FDSTFteXVNWmcxOWUrOVN5RlRtQUJwVzZSOGU5eU10R3FJY0JHZ1pLZzR5R2RhVm1LZmZJWFRzZ2JWMTYzZFZXRHF3TkpweWthNnFwMnFCVWw2Wk1BcFYvRTNTbGVSQ09KV2hpRlFFUWhEc3pCWnJlUWlBakFVQVAySWtsSENSM292K2o5UVN3TUVGQUFBQUFnQWxMbGpXSkZtRU1nK0JBQUFDUW9BQUE4QUFBQnRiWEJoWjJVdmNHRm5aUzVpYVc2VmxWMXNXbVVZeDU4WER0aGpDVEdoTVZtc3laWlVqWW5HYlBiT0puNE1vdFBFb1RIRytoRmQ0bWhMYVcxWFNqL0d0dE9Wd3FFRnltd3JHYTFzN1lxZHk4YW9jMTFaVzd2RVpOa0ZWMTU3WVRMZWMrRENZTFliTDMzZmN3NXdnTlBLN3NqN0o3Ly84MytlOTMwT3l0MzN6eUxkc3kzR053dkx0d3MvcnJ4NkdONlpobThPSHcwQ1dLMDgzTXZhZVBMcnZZNWpIZStqRCt3ZkdvL2I3ZmFQN0IvYnZqMTFZZ1ErUVoraXoxQW4rc0lQc1BwbEFPRGwva09vUzlmRzZCM1FkTktFTEFhQ2dMOXRmTGFqQlZDUGx2RG5HNEI2TllUMnljOEI5V2tKdnc4QkdxUkNGelIxRTZIWkduVGNmOEhHeHpPdkF4cFdCS2RLY0JnSEFZMG9na3N0K0s4QUdsTUVSMFVJWkVNcmdFNXJDTzJQSHdBNm95SEVPNHVBemluQ3FDeTBXNzZ5QlJ3dmVnRk5JRVVaTHlrbkZOWmtTZkZXRkI3K2VocFF1S1FNcUJRcDQyeEpjYXNVS2VTRmt1SXBLWDFLeXBPNjV4aGRqOTRKQmgxNjVxbStKaGZiQzNwZm92aXVFYUYrM1hjTTBya1lQSFZMdkxVbFhGM0dpUmxoSVMyRVU4SmNXTHg3R3dCWUJLWm1NK1BvZHJvc2hoYmpvYmJXdHRiSzdRRGswTFV5dWtIOUtSbmYzK1JtaDZCTWRqTUs3Vkl5ZjNPRjBNaEEyUzRUTXV0SHg3Mldab0k3YUQ1b3RnYUJzeWhkNmQ0Zmg2Y214UzJmTVBzOW5rb3F1QjZDUXdNMU1MbGR6a1pnbUw5Y3VMaXF3SG9wekYwTGt6cnNVc0grT2I0WExiZWJFdVl6Q3EyUDBqeDFORHFWQWQzemxEWmNLczJqaG5rWUhGN0liVjZUeDVMYm5CYmpQdUdIZEYzNGJuYlFaRENqRUpJc3pJeVpzUWF6cnFQa3BUeCtCWkQ3aVMxaWEzVXRjYkxEMUNKU1p3RnZPUUY1TkN6MFpDTTgyTlBuQnZGUlROWVRBcmVHdVcxeVV1NGF1VzNrZ281UXkyaTE1VEZpZVc4SjBHampxYkIvaXFhcXZZRU9kb3p5ejFiaDN5WVArV0kvb1BIOThibk4xVXFZekV3aDlxdTJ3Mm5xd05VMkxlQndiQUh5L2srQzFYaERGbWVveGZtNnVjUVBNSURPcWl5a3UxcnJJVTJnd0FXRm1aOGZjaFB5S0lUcEJieXpMdEZIMlhNbWc0b2N6M2lVL25CSUM2MG5INEFqVlh5K3dNWHp1d0h4K2lJT0wrUDB2TGgya3hqbGR4TkNKQ25lQ0NvTFp5NmMyMWtxYm9kdzJxL3VMSTd5T0xNaDhOSGM1bDMxUUl2Ymk5Z2ZGdWV2N2o5bENrd2x4RWlhL0ZQZzcxQlZPaGNYVThMbHdFUHV2SExSeHRrSlZCMXpMRUsrQU5ra2tMNXF4M3owaDJiTS9Fd1NaMzRScmk5THQ3c1NBZStza0JUVkVVTDFFWlRucDRvZ2Q2YWhGRjUyc2pyRnYzTVJPcXhIUUJaRFE4T1NYSXJiY1hGK1hRaHl3bEt3c21zU1Bta0tIQ21WdkYxeUY4c3BSTjhHamtab0VPbUVCczlzNUhlallpb21BOHNRV25scFo5R0NCOWh3ZmR2NWJPZ2xJR3ZtaVFvbS9aZDdnbitMWVQ1ZFdPTHlQMDNJeTB1OXpraTFwU0FhRVpSeGxGUGNTYWxUMUN4RVdyK2JuZFdvdjMzb2F5QTdhNi82WDVQcUg2bXJQN2NWd1pGTDVlMG9HOGxCNUtWWUU0UlVTeCtMSk5IKzEzMFlTQi9VUUtWbUQzdWhwdVlEY2JJck9tTUEvd0ZRU3dNRUZBQUFBQWdBbExsaldOVmFqZ3MyRFFBQVI2VUFBQTBBQUFCd1lXZGxMM0JoWjJVdWVHMXM3WjN0Yzl0RUhzZmYzMS9oTWEramFMV3JwMmxTcG5IbzBabVd5WkVBNWQ2WlJFbDhkU3lQNHdDOVYrR3VoWmJTWHU4bzE3bVdLNVNoQjNjRG9SeFBMVzNwSDBOc0o2LzZMN0FQc3ZXMGtxVjRsU2J1dGdNalM5clY3bS8zKy92czdrK3JUajMvOWxxOTlLYlRXcSs1amVreVVOUnl5V2tzdWt1MXhzcDArWldGNHhOVytmbWpVM1BWRmFkMFluYTZERlh5QjZqNHRvV3pUV2U2VEs2VVN5OVYxL0R4N3UwZmR2LzkyUVFvbC83b3VtczR0M0xwRHh1MXhUT25xdXRucHN0cW1lVXoxM0tiNjBlblhxc3R0VmRMcjA2WE5ZUmdlZkxvMUl0T2JXVzFUYzRBelRiSW1jcHA4c3ZXZ0tLWFN6TTB2em1TRDduME9ybGtJSXRlMFB3TDg0c3R0MTZuQ1ZWRlIxREh0d3hPdis2ZEptY21BMlU1V1QzcmJyUnhFZWFiMVVWY2MzSWJwTm05R2p2RDdxVlBweGs3aTIyM2RheGVXMm5Rb3RPcysva2RyOVhyeDkzV1dyV056ODYxYW8zMnZOUGVhSmFPMTlwdGQzN1ZjZHEwVWkvNmg2LzZoelBWeFRNckxYZWpzVVIvVW52aHFnSnNlbVlxL01NMnk2VlhHalY4dUxaV0xwMTBsdHVucXEyVkdtbEowa0p1TS9qelpaSW9lR0xHeGNWWUM1ekJwVnhZZGRaWVV5T1NwRnBydk9HK1JXeGJlbUY1R2RlVkhyTG1mbUdwVlgycjdDV3B1SFczUmEwMHlJVWxJT2VRbi9XQzgzYjAxUHhxdGVuNDV5YnBTV3haZXBxVUJLaXczOTFPbmFxNGpRYTFPWGx5cTlwWVg4WUdEblFuTmR5WDFFQkhzZ3grTjlKMVRVR21IdTFLazRIc2FXRllVMGI3ZEtpUlQ5WWEzbTNzK0xWQlFhaGRYaWJOMmU5T1plLytTclZKZnROci9YTWtVNi9LODI2OXRvU2Z3eXpzRzV1V2RRSDNLZElUU1FiUExTOGpuZnpGN2VZczQ5OVlxYXc3ZWhuMkQ3M3lUUVlxaFovcXZPblVaNnZ0S3E3c1J0T2hiUWxVcnovNzEzN3Z1R3RPdTFWejFnZkhaMHVWdXJ2dUxERnpuSExmZEJiY28xUFU1Qk9hcWFqSXRLSjJwMlpIU0xFTTA0eVp2WjlEWmFNVnlNcEFjUzlBczVtd2RVWFhZcTEzakY0RFVERjFJOWJ1TSt5aWlSTWlMWnF5UXF0dUs0YUI3R2pDMlpRblRnNEtQTm0zakg5SURVWU5QdDgrVzNjR3ZtTEd3ZUtiYTVkT0R4emQ2OHl2NFdzdk5KYllGYURxcW5jSjZZWmlVd2NXa0VMcGVOMTUyNlVaNDk2TWU4VXE3cUVOWjMyOVh6TDY0TENrOUVJbFpVQ2dtQndUU1VtTkxDa1ZLd3JZaHNGWGc2YVl0bWJFc0poYlZNQlF0TGhMUE1id3JFRExqS1ZqbWpJVUF5SXRKbXFxS2FpVFBHTUpaMU1ldUMrYU1vQ3VJQkdhTW92VmxBMFZWV3FxQ0UwQlZURXRDUGxTc0JRYjZIYmM3amtsaFhSZTYxRkZRUVZCYU1jb1NSVkZJQVVOdnA1VUJkZ3FuMUg4cCsyTG5FeG9LYW9JT2RtRnlzbEVrRXR4S2FkQ1IzMFRnb1o5ZXgzMTdYWFE5eFRIZkJhMGhRZ0tDSmxHQVdEcUNraEFGQ05wb1pJQ2gxSlNhRlJKQVNYV243MlJtZ0tnWVpuT0JJQ0ptaUtsRGRGdUQzbjE4d2pyTTdGY0tsZWF1bUtZR2xlWHNmc3JpZmZQY3U4ZlZZb0E2REEySVBUbGlJZmNpcGx4dUFoQU5qMEtHUyttNmRGRHNkUmpUSStHMU9QaDBhTS9vdVRwY2ZoNE02c2VoUXc0MC9Ub2tWenFNYVpIcXlnOXh2dGxUaEhHTThpcHZCUVJEOUZnU3NvaGFreHpIT0owNlE5TWVib2NQbXpOcUVzTkZLMUxCQ3hGbDdyazZGSXJTcGZZYWFOUnBjbk5JNmM2SjNpWkRORWxOODBRUlhMVENOU2lIeGpnYVJGYXFnS0VhTEh3T2FSWEVhbEY0VnJNZ1RqK1lzeFlEaTdUaFRNODNwWlZPRUlDYnFuQ3NYVUZTdUhzcDNENFRqMm5lUFlBb0QzdzU2bmlSNGRrUlZhRWlzUXNtVUJjc2xpMHArSzFCaVdsVkZGVVJabzZ2bE8wdzhjdmFLTFkwTTVYSGdLbVlnc2UrSWxaSEVIazdRRTU4TXVudk1JbVlVOWZlVmd6Rm9MSW1RQjVHWmlTY29nYVUxS09ya3RialkwY0E3ckVITFRGaml1aG1NV1JGRjE2OEphNmpPbXlzS0RlMDlmbElTVGlRSG4rYUpPblBHRmpVVlM0OG1RNFBVRjVZSXlKbUJiMEc3WXV1ZmVBUVdxb1VadzBlWkYxWDVyQ0l1dEl6Q3BsaWpSbFpEMUptb1ZGMXFVMEM1VW1MOGp1UzFOWWtCMkpXUWRGaHBva1RSbGtUNUxtR0FmWngxQ2FDRXN1R2trUFNOTUNualNGeGRsVmYwQmJyVFZPTERuVkJGMENxSVdWaWJ1V2dueDE1dHV5bVZ1WlE2VkVOamN5Q2FscWRWbG4welEvL2RBWHRqTnJsdnVnVEFLbCt5QmZxN2FhM3I1T3BDcTJyWG5iUEk4dC9XbGp2ZTNRalovOEZpQzNXMndXNDdlQ1pRUWJ3VWhjNHRZdHhVajFqNlJ3TTNWMzhVeUpITEVpczRiQWRPZmFvVzhHOW9jK2FyWGFxaTYyc2VzNWNacnErM2gxclZZL08xM3UvTEsxOCtpYjNadm5keC84dlZ5YXIvMlpkRkJja0g1ZkxaZThUSi96TTV2RGVhMjBxczNWZm1aMHd5MDJBMDdXSkVZbVRVR3JRUXA4ZEtyWkxNMnhHeXVuV2U5cE4vdUhuZlBmOWI1NzBQM3lkdWZXcGU1SGQ3dVh0N29mWHU3OS9NUFVaTHVKemRBay8yTzVUQTdzTURnVjhxdHYwRiswLzZ2YUVhQWkvSjl4Sk8rN1RDRHFablZiWWQ1R1o2M0Q5aXZuOGJPbXBqQ1ZHUmx5NER0YUluRy84d0IvdmE1Zk9DMllOZHNYcHVMUnUyMkVIcXhwME5LSExCSndIa1dkcTJZb3VncXRrQ2tHK2ZuZU5WenVsS296SitXWEFQZ2xqNWVBbHRjR2ltVWI3Sm9aTFVGbGFKMW5FNS9xbHo3VWJpa3R6OCtHMzNZcWY2VTF1ZVZTTFQyVCtQZ0s5Mkd6UXkyWDFIWjVPdjR4N3JObmh0YW1NdlFPUWN0VDFFTDlEd0djV0NNZkczRFhCNXozNlV3cjd0OUxQVGRsT2QyV3Z4N2UxRytGTi9XajZLWitVcVh3cG40UFNWNDVlTkRYZ3RESHVkY1drNml2UnI3VGdNY25nZTgwQUpwVmdZRWRMbzJqMk1tSWVTMDZma2RQYjZ6T3lNS3p1R0dGRFU1SHZ3T0Q2MENKYmJGaUJzZGlUVit3enczNFFZVmh2OEpRSlg4akZSWUFmUy9mRk9pRFBVRGZBLzBuZDNhKytTdy82TU1iNHhiY3dCa3FpZEJRUUZPUEFBMFBCM0pHQjJMREFMNFh6emdDb0ovTTRPQTdHZitaa2xQRkowRW9sQU8vOUtPbVR5NStqamxXUnFjYzlPRHBYdGtJZVdVejZwU05xRk0yaC9wa1ZMaFBGaFJha0Q1Wit1UzkrdVRPK2IvMkhwenIvdTBmbmZOM2hQcGtQZWFUYzhhTHBDK1d2bmpnaTQzQ2ZiR2dXSkwweGRJWGorYUxPeGMrM2YzWDUwSjlzUm4zeGZrQ2hOSVhTMTg4OE1WVzRiNVlVUEJRK3VMOThNV3FoaWZaNCt1T3R4OXZkYS9kRitxTzdiZzdIakZhSWQzeE0rdU93V0RwR1Blb1ZHOXNvNGh6TUJVUThNYWFEUlV6WVoxQ3BXSHVBK1NPd1VIMHZzQlMwOXl2bldCZG9LVWI5OENNZ3d0MnQ1Yy8ycjczUHhZWTNyNzNmdS9HdWU0Lzd3cGFua0JSSHd6aVM4YmVoNCt6KytEU1M2NVhSYkh1MkVZanVlT0U1RlR0STdqVFVkTm5jc2VjMTUrd2xZa2tNMXVaVzg1Y2hrNnRhVFoyQkdLSjR0aGhodENoUmRCaFJzbWhEU1dIVVR3NVRLMy82VUJKRGttTy9TUEg5UzhFTGFZWU1YTEVGMU5RM29WdFNRNUpqa05ORGlzak9UUVVlVWMxUWc0SXpDUnlXSm91eVpIMG9xcW1XWm5mVWlYM3ByQ0ZmdGhMd2lValhMN0djUEhJOHUydDd1WVhuYzJIK016SWEwUldqREx4TlNLVTkxV1dnaWpULzI3ekhpbVRsRnhTUm9pbHhvZ3ltcHAxZm1KR1BWeGtmbUxwU1pTQmhoRmFaWHptS1pOZ1lTTTZBd3d4eElwOXJWMGlKQUVoblhmUGsvbUptRGNodFNnMk5CRERocFkzMGx2VTVDVDBUeEhrbjV3a0pKZllFR0twY2NMR1BnUkVFSUtjRDdsSmJNaGxMWUhZMkw3M3VUL3p1SDlwOS9yM1JaS0Q4dzU5M3FDMFhOWTY1T1I0eHBlMU5GUThPWFJORGU4QWxPU1E1QkErNGZqOHhqNlNJLzZtUDVTaGRFbU9aNG9jbVVQcFJucEFCTm1Xa3JDWUlwZXFzcEVEcFlZN0xQSFJqbjEvQVhZL1hudmQzYnpZdmZUZlh6ZmZZWEdPN3ZzZmRSNTl1M2Rzc085V2g3QmhIaEJHR0NPRk01S1NTMFlJc2RRNE1TSnIwQnhxa2JHdlNiNnk1ak5DdDJFU0k1RFdmOFZmTWlJV05JZGtGMkhHb0Rsa0wvNzRiV0FneFFxMGdSRlRnd2ZwSWErN1BVc1l1YkM3ZVdQbjhYdTlyMjUyTHQvdTNMM1crK0liekpPZHg3ZTZWKzcwdnI3b2ZRTHF3OHZiano1Kzh2Q0R6dDEzZ3d0ZW5hc1hPdmQvN0Y2NHVuM3Y1MkQ4NU1uRG01MTNML2V1ZlprZVZDRVpidDNxWGJtTDcreGUrSWxjcGVkN043ZTZuNzczNitaZlJrQlpmQVprSHd5VUVjY3hBc3FTa3B2OWp6enVFVVdqcHQ4dmxISExtY3ZRcVRVZEk1VEJySkY1YkNqRjBpS0xaVEdjSVFVbWpNckpkRWpPZVpKNVJvMmJnMm1LQlNKYk1tTmNVNUFhKzdpblpGc0MyM1l1M2VuYy8zLzNxOXYwdFRDZlc1MUhuMkYwaGJuMVFaeGIzc3ZLQVc0eEhCYUdydGcrR0FnT0RMcFlYeDRKWDRsWlNJUUpzOVlZWVF6bHdGallheUx5VWVCTU16TGRCcUhwclNTWXFCa1pnb3FXWVVhbTlVTnhrbHFVS2s4ZTN1aGQrN1o3Y2JQNzhVVi9nK1d0YzNTcXRZblJ0SDN2NjkzcjN3K28xVHYzWStmcUZRSXVlb2FBN3Y2UE80K3Y5cmF1c3d3SG1SQlNqYmhSRThUbVZ1amdBS3FJdVJWMUpDT0FaZFQwK3dVbWJqbHpHVHExcHVNRXBheXZyNDJ3VEdpcVE2SWRFa3B5bVhDZm9ZVG5WR3llMC9ubGV1ZkMzZDJQTjNmKzh3N2J2aG5jMEltSjFJY1ZCMVBlRkd0QXFwKzJncVFTc3lVVXhMYUVJampXakpLVEp5R1dHaWRHWlgxUkRyTGQwb2tUSndPcEN1SzdTQXVnOUlIN3M4MG9tSU5Sa1NXL3lNUkp0NUwrbVJnNWRlSlJhdnZCbGM2VlR3WWJRaGxPR0s3WVB0QUlyakNUU0d5TFhpSXpxZGgzYlREdGdobU9RS2JZTmxMMjcvZ2RBRElCY3lReUpTU1hzeWNobGpyc1pKcWN3NFU1K3J2ZkFGQkxBd1FVQUFBQUNBQ1V1V05ZNVowSkk4VUJBQUQ1QlFBQUZRQUFBSEpsYkhNdmNHRm5aVjltYjNKdFlYUnpMbmh0YktXVTMwckRNQlRHN3dYZkljUnJiV3JidVVHcTZHUXdFSlIxL3JrdE05dUNhVHRtSjg1N0g4QnIzMEVmUVBSdEJQY1dublNwYmNJQ1U5T2I1dERmbDYvbjVCeDZjSjhJZE1lbXR6eExRK3p1RUl4WU9zaXVlVG9LOFhtL3M5M0VCL3ViRzdTVFRaTTRoemNFaTdZemtVMXYxYTZLb080VmFMaTdHRjJFZUd1b0ZuWXNINUk5alBwamxyQWlCb0UxT1RmUU9UaXZ6OU04eEY0cDRCSDVZTlJqUTlnVFF1d2VpRVdyVVdyNWdYelcwdktOL3lHbEJpSHhNUEIvUU9wb0NhUWRMa1FueWJXRXlwaVNoYnowNXhNVzRpZ1QvQnFqQXU0ZUw5MDdGaWl3UTc0TmNqMHJCRVd0M0J0KzZRbFBtZWxmeHBRcWxQbVM4ZEU0TDBvczRhVVBWL2RSSS95S2dJTDBzbG02dkpEK1dqaHBWTGhYSndJcjRXa1dxd01oTHI5cXg1TVFGOUgxRE94cUJuNHRSeDBqbzdROWpxZG1obVZNNVFzOFIvd0I2dFlDd1RqaFlnNGw1RWswUzQzTFdpR3RGY2pueDh2WCsrdmkrWEh4OW1RRm15VW8rM3dsaWRUOTMxSnRhRk5xMUpXaWZDN1k4b0w4UTVNMC82SnB6QnRvVHozZDlFaGtneHN6LzBWUS9RcDBlalNSUlZNajVWRHdrWnludXM4YVFWcXJpZnFRTUUrbFovR0luVTV5R05WMVZSbEY4Z3A1Uks3NlVLQ09oa0RubG1QOEcxQkxBd1FVQUFBQUNBQ1V1V05ZSlBEYitEb0FBQUE2QUFBQUVnQUFBSEpsYkhNdmNHRm5aVjl5Wld4ekxuaHRiTE94cjhqTlVTaExMU3JPek0relZUTFVNMUJTU00xTHprL0p6RXUzVlNvdFNkTzFVTEszNCtXeUNVck5TU3dCcWluT3lDd28xZ2VLQUFCUVN3TUVGQUFBQUFnQWxMbGpXRmNBbG8wckJBQUEyRHNBQUFrQUFBQjBhR1Z0WlM1NGJXenRXOTF1MHpBVXZrZmlIYUp3QXhjalNaUDBSMHFadHJGS1NCc2Fhd1hYVHVLMDF0SzRTbEsyY2M4RGNNMHRFbmZ3QUFqZVpoSjdDMnpucno5eGw0MnQ3VnJuS2prK1B6N25mTEdQNDlqYXZSajYwa2NZUmdnSGJWbDdxY29TREJ6c29xRGZsc2V4dDlPVWQxODlmV0wxQm5BSUkzSW5rU3Q1a2c0OUR6cHhXeVl5YjhFUXR1VkROd1Ruc3ZUbWRWczJDUEVVb01ERzU1UWhGU3lFRDdDUHcxUnNMK2hEUHhIVEp6a1pOMlBzT3N6Z251UEFJRzYwNVdlR0RWeVhtRWdvVFVKUlZlQ1pSa2FwRVlycHRGelB5eWdhcGNDbVVWQk1RcW5iRGNOdVpKUTZvWGhOQURXUVVWcVVvamZOVm01TFU2bDUxMm5ZVGtiU0NjVnhHdERPbVF4Q2dWNjlidXF5TXVtNlV2ZytGNUVrbXFXUm5JM0pNUmdsM0RNTnJMRTdBQ1BZd2VFUXhOSzdNWExPamtGMDFwWjN0RmsxdVVRSCtYNHEwTHNjRWV0ZDdDT1h4MTVrUlNxOElkQWh6cituMFVxdktjZW5aSlhDSG8vbENBVndJVWZPOVFHaS9pQ21sbld1eFVJbE1WelZ4ZjkxTTNFMXM4cU54VUpQTFdVaW1Tdk85VXB6VzFzYzVsTThEdWlJUlZtTnBjQ2dKa3M5RkpDeHJ6NERCK2tVZXZtekFNZDBoeDhHSEpySWVOb3VNbDZvRkJuZjVNbCs3U2FFcmEwTHBvS3czcWdRcVdZU0l0WFZ2UlNwVG9LUVRJVE5OQnk2RGh0ZURiYXltVkMxTmNOZE53aE16Z0hObTlGeUF1SVloZ0ZiY3RmRVd2SjI2T0ttWHJ6YWFmTmpDWDRGNUIrQUVlVms3MWYxVjNBNXI5U20xK3ozbXVzS3l5aVJhNUhyZVc2UjY3WE9kWVVKOU1GeVBWbEd0UmF6SHdidVhoamljOFpyeWxJWGZZSmJ0MXkzRk41bWpuV0FRc2VIMVRaNjNnUURHS0tZOTU2dmVKVUl6ZlZjSmE1dzM2QTJ1NERla0lIc0VYOVNFRitWczNZQkFLN0tqUWVBcFN5WWQ2ejlzVzF2eHB5MDRWOHUxeHhsckgxTEFTQ0dtYXhkQUlDcmN1TUJZQ2tMNWhLclMyZzRGRCs1cmVnbnQxbkVrSEM3UkYranZpYmdZZTFiT25xczNacFdvT1VXd2RuTXVVWkE0QmJCRVJCWVVjR3hvS2l3ZXZBaVpwNUVaV3J6Vmw2MzdwWjFTMW1rK0M1Vzg2SlB2M1hSSnpxenZNNHNEeHlKR1pWZHk0djA0MEkrMDdnUG5MT0t2emJ6T3ovUk1qdU9NQVA5a0ZabjB2NVp2NFBpWTB6SFI3S2l5RzVLamdyTkRWYkpXU0ZxSlQwcGRQWG54OS9mUDYrL2ZyNys5VVY2ZnZYdCt3dnVzYUVPRHVMa0pOVlJWRHA2Rmd3U3UyVWJjbHBUWmsvejVnamRCMzN1OTcxeWJjYTlhbE52MHNZQi9USzAxYmJHMHp0b0k4VU9CNDBwOGluRTUzRFBadmRLUitRT2NKQ3BML09ETnJOcVFPckdsejVrKzgrOUFTa0pBeGhGWE8vbnBEVHRZY1FzaGQvL3BJemx1OWJESStSSUhSUU5hR0NJcFVtamFKamNsZll6a2N6WWMrNEt6T2JkZVU2aEQyS0VnMmlBUnJsdDJ1MFRFQThvQ0xoaDNhZGpLUWd2TTZtYXl0dG9HQStIazN4bW5aTW40UHQ0SEdkOHVscisyNmpWOFRIcE1sbGlsd1Q1cGhpbmZaa085VHh2V3NqT1pUbDlPVmhqU2s1SjVDbTlvelBQUDFCTEF3UVVBQUFBQ0FDVXVXTlk3aWpMaDNjbUFBQ1hKZ0FBRFFBQUFIUm9kVzFpYm1GcGJDNXdibWRGbWdWVUZGLzArR2VYRUphR0JWZEVPcGVRVWtBUWxwSVFZWW1sWXdGcENXa0VaSkZTUXBBdTZRYnA3a1pDdXBFV1VGSWF5ZjkrZi8vZi8vemZPVFB6M3B4NU0vZk91L2U5ejczbmZVS3FLcEJBYUNFQUFKQW9LY3BwQUFDSUZGdVBJd0Jqeit4NEFiM1lDNkdUb3A0TEFGQzYvbmVBbGl3WlBBR0FFVkNTazlieVROMzc2dTFFTi9YMW9NM2M0UDIyUUMvWkc2WE4xQW5QY0tZTC8zNjNPZVcvbVhVeGxGR0lEQWNuZWxTVVA2R3h2YnZqVTZXTkpVOFhxb1RCdUNiT2g3YVAzZXJXQk1rNmtDa3IzYTJaQkRuMUJaMDVOb29xVHZEZVdlTnkzdDh1ejg2c081N0taWCs1am83WVoxZ1VtaEJLZm5BYS9pTDV5MjgxYWs5aDM4dlU1ZXJMZkxFYjhiYmpHN3pna0pEVjlYVWgyb2tpZTB6a3lLOTJEMm9HQnJXTDByWDFkY0psbEkrUHhHcFRhR1FraDQvTzRlRmg0QUY4UGNJQ2RleDYwS1ZibXVCMXI0YXUwaUR5ZDJiN1hFdzZwcTFVQXg1UHNSZWFCRUI1S1RmNWlRa3h6cXJBNE93ME5RNWcvZVdSRnUyemRsenJSR1ZaR1FKKy9BR3g4QUkrbURrWVhTQzcyNU9ZeHlsQVZheTkrdGVVRXdMa0JZdFZoRnZQbE83VEI4NkxNNXQrNTJ3SENFYjVPWElOOW42MkI1SzNDMlpwQUVVUUxqRTBnZ0NVVjRxNXpVTFRCcEFqWGZBcndndElld0ZRRWNUb25ncENFNldLZnJORG1kekx5U2dtcndVbWg0MTE1Rmk5cUNGSmpMVk9abTdIMUpzU3EwTUk0U1E0cVFHMnlleTRzR3gzMllYbmpDQlNBaVFDREVVVEF6ZzloVGN5NmxBQTI3OW5KUU1kRHNMZ0lSQi9mbzh5NHFKQktnU21ZUDJpQTQxeVlxUDdRSHVpc2lnSWx1ajdLNVlKSDA5bElwRFFuVWlUa1JFek9VWW54NFBQcTNHdkkwUGpsVElHeUlDWXlTQ0FFbElCSVh6TzBNN1VBTTE3Zm1CdGVEeVVYR0FpblBBajA5VWdMbU9xQzVoY2hxa2RVQ1lBY2h5OUtZU3NSVldZZGlWaENLNHRRN1BEZC9nQW5Bb2NpS1QrT0dkUGdJQ3BtRjdkQXdVQ2liMndYSXVmL29GQ3ZaM2hBcXFyS3BGMG1qU2F2YkFKNXVROC9tcGtYQ0Vhd0NuWjlZb1BKQVRoa1YrU3cyQk0wUEpYVENvVG5jVHNNTWNBOEFuMkw4SnlVL1FtTHFqS0s4dDVCdE1HWHJlcHRsUWZDSUIxR1FOMTQvRzI3SEVDeFVNSTBZcElPQWpPeG9tM0ZzV2JBYVJ1bnYwa0JUanpNY1VoZ3J0dTczQTNBb0UvdzF5NW1GakIwL0dLbVZ2RXNJMmlGd2tUZjlaNEVuSStXRjAxZFl2cmFqM3ZOcUh4bWVhOS8ydEhVc1hoblgvL09xbXBqZlNFM1kvcC8xV2lWMVZrcjBwem44K3cvRld5cE8vbHhtQkNXRjBoODhzRVBxTkdWeHMzZTVoNEs3YkhGeFlGZlFPRHJlR3ZCcWNQaC9NYnNSS2JFVEFsSnllWDFxK0YyajVjMC9TOUp0Q1Z4c2ZINXpOcGxYQzc2VzdSU0t6YVRYeHZiOUhUTVdCb09PU2RYQlg3cDBmaUlDeTVGSVVjTERyUkw1QUNjU3VhbUpqSXlzcldmSU14aEZ0ckFlRUN5ZzJ4K0VHL1E1a3FXWWk3Um9QNFgwM29HVSs1clpZOENSYnpuMnh5NVZRaGtWMm1DY2hxeHcwTEZNdFMvMW9JRDhMMVZGMFo1Q2Rtd2pVbmRqdTdaR2RrMU9aM3AwTnJBUERWbkpYeGI1UFphQjUyTXdqMmFYOVRXSGxUdHJBZDYrQnNIaEVKRUVBYTk2azBzWkFUa2toYmFzZzQ3QkgzZ1pYeUUxWnRuWVhRdzNiQlFFS3FQRUxPZkZYVHd3eHlKUFIzTUFqWm15R0lyd29ROGIraXdvQ25Lb2tKT2NNRklFUThXZExnOFBrZktwaTV3ODFVQ3dWWklGeWFBQmtuS0U5Z21veU05WHcwRzBVT0RsY2FaTTRaSGVjRlFKblNWTFZ6QWt6TWNETWpNTzBQU0JKVnFZRFZYdXhid2t3YldnQ2g3ZlJvTWgyenNYWDk3OWdmZ1E2VkhLQ2luMDZrR1JPbTBaNnA0L2N1bkJRR0RRQ3FoZEEvZWNsNW5NbjRHUExoRG9EcE5Yd0Q0NnlJVTU1S0RGYm1ZaE9Mb1I4QXRubHVxSXFLNEpwUS90TjlHb2pwRmJuOGwxeURBUmlPMmFJQWN2YTJYZERqL1ZtNE9rYTlseE5BSko2dE1CK0x3VEYzdXVucDUwdmVCOW1Sa3JZT0RxVzFUT3YrRnJDVm44YWp1UGQ0WmloenF1Z0lCOFFxZUhBeUVMYVdjWHBmaHZRRDNDNlZ5bENOT2d5ODNQa3V5RFQ5akNIOTdhRTYxNllSbWJCamMxdVNHZVZIUTBMa1RJcStHVnBXY1lZRXAwWnNVbjJmSDluWjIzOFZjVFN1SVRrc3BMNG0xS1hIV29qUG4vSGN5SXAwS09FakM3eThuNDRKRCtpNHQwcTJYZmVscHJlWWtsU0drNFR5NTdYRHViWGZIUUFRdWZSZExnMnRCT0lQUlVXVHA0azJZRXpXWWljL3JqZzAxMWtWL1NDWXRFRDFjNkpkQ1Bqd0dmS3p4Um1WVkRaVVF3T2hnWEFlSHB5OVJYWVFKaDdBdldBd1dFRlpXVmt0OVhxSUJVeXd4U09qMU9ta1AzcDgyRG80WEJNZkQ0S0RXeVU3bUJ5dE9zbVJXbG1BbXhBc0xTUU9WWVp4UHR4NkErSndtM3hWdU1BQS95Z0ZHcFFWVEVxdDVJWWozZzFpYnJLK2pmYUNNQUFQSFduSWcxSEwvRU9YWGhpSHJFb1lQejlJbE9zbW1EU09pa2gwWXo2VGtYY0VwNEhqNVRqcFB6QzVZTm9HcjRXOVh3RmpsK1NjWWF2UHZ3aVJwUUtzUUpHeEdwdTMzQmJiQ2xzdENTYnhHZ1BZVTFlU2RsY2hEYmI2VmNkOUljRkNleVNYT0ZhczY3M0pRRUl1blNyWmlmTmxQZDJZYXpkancxY2RBaWx3L0V2bUw2SXVtME5UT2laRzlySSt0a1IrNFBqQjMyVHczRnlZeFlabVJFVFJqbmlzRGVMUG5DN2V3djJFVHBnTys3SzVML01Yejgwa0s2eHJheFdTN3V6c0VETFoyOXVmUmVMZzRIejc5azErM2tEREl4Zm1GZHFGZU9GbW1weEhkWCtBWjYvL0pyOTdCVTJ2Qk9HbHpCT2NwMzVacUZFd0toUU5UVzNuenpKSDVwYUhWL084ZU5SOTZKTU1reWZoTFBqMHBRRVlWbmhDM0xXVXdwTzdIVmk1ZXllWGdBRW5vc1U3aFEwU1pKdDFyUm03UnJsUVRHNHN3MmFQZTZzVkE3T3lCc043RW4xS3h4Y1hmWmQ5ejFHMUk0dE5IZ3VsZ2hJU0VxS2l1ajd5OHVCQ2FQWk5jTVhzUzdyZ3YwNkpCaSswOG9RU2N2aEFWM3pmSHl0Skk5cWhiTG5LRkI1S0d1aWhJcWdnUzFoRkd6RU9KRkxWVTQ2S2N1amZCT2dsQVFnL2JwN0w3RUVnSVdkcCtzUlRUN3FDSURnbTZoMTJYUkFVbU9lUGNRVEhLN0xDbDdiYTJ4R1g4dWJtNjV6ZmhMaGVoRFhVaVlaYnlOWEpkN2k4eitVNXZmT0poZ0kvaTZEMmV0RlFXRFpjUHA3bmhSaityL0I5L1FUY3hJODlnUTZpQjBsb3RORXp6aDhRS3dGZVN0S1FydFZIcG1tK0ZLRmtzUTJXZ1RZUW5BbGhoRDdHQXJiK25DSEZKL0kwOHZuWkxBNlpSTlJOV2d3UVc1d1VGV2NWYXlONnRLUjhQcmV3SUc0L1g4MzJNaDRxd01qMkoycDdMb0FZVHpDTDB0MGhqZ1ZDRWFlVis1MWJDY1NSL1FrTUVPUzhqTzdVZmwrQWdRZFpZSkM2YkE4UlZVOEVmdHBTQitOdU5HalFZRUNqc2QxQmNxbFp2Tndoa3RtREhUYUgvcW15WjJYaWNXVEJsV1Z5aENvZ25ZcHdld09QNXd5UWI3dC9PaTdWUXM3dVdqa21sMG9UMlIzVWgrNDNwZnZSMXkwdjBjOVJxSEtOQm1IU3pvWVhUYVBMUnRiN0lrVkVSTlQrbkNxa0N5YlJqY0RqTFZyK2JhWWNla280enNveVFoc2ZJVGh6cW8wZDkrK2V2eHZhcDYvMjZINUZ0WGQzRWNuL1NoTWM5WUVyTStvbU1ibHJaV1hGSCtjZTF1eXEvZTV1VDQ1OVNXc3l0cENCL2N4SzZrU3hIR0hxTy84TitmWEZlaVFaS1dtcGJzWGFjZnFkajZ4czExS0xkMVVLZVY2N01QV3JQMHRCaW5JUGlETWZFb0IweTFiS0YrVXlnVXlWU0xmekU0RHAxN3ZCWnEvajZXOEc5OUQ3UHh1NHRVc1N4VncyTC93RTA1VmV2R29hMkNscnU1M1VWSk5uL3ZMUXNibENVV2lBbVFLbFBEZW5CT3BuTHBHOUQyUmpIaFdZL2ZrbUwrNGV3dHNWVmIyU1U5dmEraDZOUm0vdjU1OXpwYys3eFhHa2Vack5WOXVJZSt6VDFiQlZCS2lkN2FrUkFPSWxhOWRSTmdvQXVmSHVhbGxycTJTU3luc0p3NTdQeERuR0J2dDRvVU5NZ3grNGpUVytWRFEzbTNEZWFwd2hxRE5lR09WV1ZjVzR0TDVkNy8wU2dsMDI0WktHbDJLdG1abXJOK2ZMWlo1M1QwSjBIb1FXME9OQU1ZWHdlOFJjOWh0VFF4QjIwWHlXd0JzUW9QOWE0Wm5VOG5DSXdtM3NlKzljUWR0N0h3cXBRRlZDMTF5dWFsdzNZamdSa1dXVFdjWFh2emlrR3E3Mm00Z3NUR3ZxNnFUKy9ZcWhOdmxXWnpLUy9HUndhZWFKK1F0ZTR5U0llaWd4bmdvZWhEeEVnSFVQRDltMWRQMHlpYTl3WUM4M2RnaHN0cy9NTTc1VGpxZDVpWFdhQ2VPZzZIamV1dlRoditlcDQ1R0hpczBlbWk0aTNXcCtseE1HamkwMWlyVm1tcHFhUFRvN2k3TXU1ZitPdHlLWHlhZUMvNWJqQndncXF2NlI1SW9NRUtBSTh5OGtYb21sYmN5aEsyZk1zS2FJVStZeUlPRG9CcmZiUnpBcE16RzUvdVhYSVBvWUNBdnVJSHppMnFGclMwR1Q1S1lybnB2ZXhSLyt0RE1FSmhwaTZ0aGZCNXZZZFl3dGlGVUpteTI4c1BWcCt5dzlJUXlTOSs5cGFJbFFlUlpqWFR5S0tFOHdnUHRPMmRvWmJYemlTS3UvdmR5WktUTXhrWCtvbWk3cGUzdjl6Mkl3SGpVVy9MYTNtQmhQbzk5V2tGZjJDKzhYeDd1WUdrd2l4U2NuYlJPaG5mSW9mTTZnNnBTR0hOWlVsREtoZ2JiVVZLNUtBc2wzWXpsM3NpaS9qTGNVYTJWTU9wOTZ6UHBmSHcyTEg1U1VQc0NDRDVXTW9jZWkyOVNUcnZ6cGdqaTY4dGJXMXVYYnN6clVPUldBbllJZjBOTENxME8zMXMzb0JnM2ZEUzJrZisrTXFUa3FpWDVjVld3N1c4eTlUbUZiVEFGUmVvNzhLQ2pQU3R5MWt0cmxyTkNsWWJWUjZLcjNXcTJENjJPUHpTRktNZUVJbmlQZWxTNmROMzdWbFdvUXJNN1lsYTZ6blRVVldQeTc4ZjBVU21kcXVGZjJxdjg5cEVtWm9qRGtTSjUxbDROVVI1aTQvTFcvY29MOEdYU0l5dVp3eXJQMkNPNWhkV0V3Wm4xNzhqNTg2RzhaOFZRNmhpMm0vNzZ4NStwTGswdU5HcEorY21MOENadC9tdEZnRFRLTE1FVkE4UnU2Y2Z3UElZR2J4YW4zVDgxeVNaYlcrZWh2emNreHErbEtCM1VSR1gvY3hSN2NVbWRkUnA0YUdSazlmUHJtb3B0RFV0MUl5RGx4Zmp0YTI5WUVhQWZsT0srN2RCcVc1czFSNUZOY0VRazJISDdQT2NtUE16eldhdVJwem05M2tCNlBGaWhWdWZwSmZPZjZUc3FEdUQ5OTFZU3JhQmZ1OTIvUTVQMVpWYnJ2M2RWeVdSYUpWOUo0Y28va0JuS0RjTGJNNzJibnNjOHEwVlFOMCtNT2REbDI0VjVacFFRL2pwRUp6cUt4WUxDTnNKV2NUc256d3JxNWZzcTd1YUcwNTk2ZW5xSUgrR1NESDdmQmhSZWhUd2d0T0V1VW1LNlFkbG9UcURUdi9RYngvZnJzVUh4b2ZtRmhZVm5ad1FCM0dkM2J3STd3cE5DOE1WLzZEWVRkcTJBemplK1NrN1NvRkV6TDhiQjR3bU1UNHdabml4cGlXQnlhUDFHRi9aamVMRGtQQWRqSG9JSTdxZlBoc21lbXl4ZDJrcE9NS08rUzVRYVhyVmNpaTlXMlUwVkY0ZnRmbXFtRDl6YUNWYmc2Kzdsa0JXam1RZ2hIZlFxa2k5Ymh2cjYrWC8rblVFbTVGdEpKK3N5V0dSd0UyRFlNdUl3OEZ6SHZEVjl3YUxKZkMrR0xXMTFkVFV0TEM3di9tRDJtWC8rTXhpUzRVenhHS1hndFRzZDRydFhYR3hYTUY0ZGdMRGZyQ2JVMVdOWDBMZnFyNjdmUzdvL2svR1ZuLzArRnIyZ0ZYdFo4Qk5tS1V4aytQRXdDMk9kUmt0ZC91eDRJV1U0Nmg4LzJjVHltMm9PSGtEN1NyM2RheFNYYlhoZHl4ejVBeWlEWi9PNTBtNUIrc3M5cVY2V2crRDhrMmF0YlBxdjdkcVh5Z24wU2RWMEdUZThQTzRCTFNxWWxJblhFWEg5SFllc3hzWjljcUxrMlB1QVJYY2YxemVlVUt5UDl6N2tyeGdhTE1lcEtSdkYyUXdVcWhtWmhVbGRGRHlwM0FLdGlYSXU2c0cyQmljQXNhM2lBS2xlT0ZoY2JRdXNBUEVFSDBwNzFYb1JwYWo1Yzl0ZnlsV2FCNDJVVVJWMVJpUE1JOTBDQldWNWlXUzZTQTRwY1FzTlE1WGltM0phN3Z2MW5MV3lxTkJNVTZidEhTMWd0R3JHd3l2RkdOTDJUUEJJdXJZSGhnclF6c3NKaXlHVit5eFJ3bzVORGV4bHhPZS94RE1BWUE2TXkzaFl5L0c5c21GaTFnUmRXQ0FibENTZ3pyZXZSTHNWYjVQU1ZpZ2RsbmhZdU91ZGpUdEZBVUd3dDVLM2x5NTlhY2VmN096c3YyV00wOVFrOEJWY0xjS1ZCS0M0Vi90NUdWemt0SW0xdGRkcGVVYngySmhKZ3N1RkE2ZUhVNTVjNVo3N1N5a3htbUY1T3RzQnlKcWYyRldFMm45aHhXaGJiUUNVakFxYkVBVUhhcFhJRXdjZ3QrM2RyejN6anBrZ2h3SnBKYTdxMXVVN1VlenQzSXNUdnJtUE00OTZ5dUV1bTMzVDFnd01USjhockU3SGlQNTBLQ1RURHRvYVNqbi95NzVkY0QyV2hYUGVaZ2JMV3krMVBWQnl0bDFObDJyTSs2YzZjZVpTeGkzelBqeU54N0hFTEcrWGNnN0pPSGlSOWZkT3RQbDFMakRPOEwyTDF6Q0lzeE9xczJNTE9NNUtmbjZVOHRzV0Z6KzZsSWUrZzk1MWdxMlArM00zK2lyY1ZINm5oeFcrenc5NnF2Q25lMUNtbjA1OXNmbjZudkZacHZ0bG41eEtYRjlDT0hWd1ZxV09HWlRHNk9DdTFjeEtTZHhJYm5RcXloeTRNdlNPK25nWEx5ZXArcTNkOExRMHFENnVVV0NsSEpJNVZlbDVTVU1ONUpDemhXczcyZE54MWNjS0lMNVplWkdMNjdsNXFBK3BiM0JGdjJ4Z2JQQysxLzIydGoreFN0ajEvdXorayswTC9xVlhIY3NXWm4vN2JHZDFub0hLcmtiUWZLU0tSRlRGMDdnZExOM0ZsUGozbTVvTWZHNFhMVitWL2ZveXBCcDYrc0NWNmRFNHBTUm53WWM0Zm5qZnZUUE5pY3NVQ0hxSHZ2dkVzQXFRVlZCcFFHQXZHRENuNnVnd1QrZEJSTnhwMHBRd1VGT3MvQ2pCNjNaUDA2RUdqdzQ1MU9UVVBkZVVBcEFsa092d05MQ0Q4dWhRelZKcmpzUjBMb3l2NWlYZlkrWHNaYmtBcWVUUjQwWHFiV1dWTzk2ZTdnZXlaZDFyTmNOcFNqZnVnN2lWV1ZmUHExNnk1Y0dpK2NQazZmVThFbldBTllwRjZWU0lvRXBQSUJmMngrSUNSdU5pYVluWXQzVitBS2NOWnNaZnp4M0xlU3Q5Yk84OHUxTGRTaHphWXZ0cWU3WXRBY2htQUNvbE9saUc1VDloRVhVOGc3SUwzWm55ZFR4SjFTQ1JJbTgwajdTQjI4VDBtM25oSWpkYm0zZHI0NXJ1dkNWaGhqS1lQbnBGSzZpZEg1SnJxNlJIWjJyaDFoNTRlakxmVFp5MTFSNlJxVHNTUUpOU09Sa0daTGN2b29wNE93NGlFZWlzN0ZRQmdRTGpuNWpOMUhFRklJWSthaGVLSFFpZ1NCU2NoQkJIS3JQeXNMclhFazFTVlVPaEtjZXJWVFJUcTlWeDRoODhWUkM2amVDWDlFQUlMeU9MZjVlWVo1aVV5REt6Zmdmd3lyRHVsYm1FMFRqUitIWGtseGVDM1NmRnZ2R0h3SDhQeVFxbnZoWWVkUTBPTmhlenJzekdwa2ZtanB0UDBJaUpoWDdQcDFmM3JjVDFTQnRPTHIvN253ZjRwTklZR2FUMzNTT20rODVvN1B1aE5pYmZRMDhibzMxMldPZjYrUEtEOEpFSjZwaXQxT3haSnB2ZDR6OHY4OHNUbWVHYWNFUzFmOTF6Y3hPamh5YWlWOUFmWHZmbWEwS3lTSml4NzJwQWptTWtSL0RCY1lGQVoxN0hWaTRTRXRVUU9iUGVoQStIMEkvbkpKMXhLUW00WU1UdmxKemwrR0RFKzJKOVJrZG4wQkUrTWJEaTk3WFBGRTJuV0Q1L2swRCtTR1VsMDhUOWcrekRtK2dkT3pjemNHNVdtZlVPc2lKYmNaRkcwWWE1dy8wSExxR2pUS2VQVXZmVWdBc0dJSUNjR0NFanhBNG9EZkJWeFIrL0w4ZGNIUnlFWU1hM29LUHdBUE1saEJYODB2NzBVU1djbDJHNGFsNElBOTRNMExyaWpGWUhHc2dpQkJxMEtMdVd1WmFzbHRtRTNlbUZwOGpmNGFyL1I2ejBqeVBuWTZCakgvOGxPSWw0SkliNE40NTE4dmMyUDVCTnFBaVNscTFFZG1wKzhBR3VRcm1PUTU4Vy9yVzdYN2Z4dTY2aTJKRG1kbUJlZDl6YkZVMUprZisvOThkMVRPTFNRdW5qOHJlK2QvNjNmUDNlZkUvV0VIOFlYQnlLM0lxM1dzVyt1WHd2K216Wnc3RmsvdklWK2tqTzdQUGt6VjZRWVQ3SFlXUHdRa05sN1ZEeGtGS0Q4UFJBOE5ESFVKY0NKRUJuRmtqODdwbUtQdTJtMHdsdGhQL0JzTllSaHFkcUdpcjNxNTZleTJiV3ZFTzVhbnkybjZ2SjBJQ3F5MTZTcGRyVXQyT2xvN3FMWSttSzdJcHRqN0tNZExkZWE4NlM2V3FyVThWY1d0UnU5bTdkTDJRZXRWL3RmV0JRKzA0bU56OHg0ZEpHSThPaFhGelEwTkZUOFR5a3MvSE8vN1VMZTNhVno2Z3lXYUFZcDEwVHZmVXhDQWk0Q0tHZ2lPM25sZ2w1dmJlSjRRNHFiTDV1eVIwaVZaZlh4NWcrRE9vZkZBc3NybjlUK0EzaGIrRUdNbGRwOXFhcHZJTzl6djUyRkRBTjl6dWlySlFjYjJlcy9MWG91aTJZZnF3NE85bnozOWpjajlrV1dmWTUvTEY5dmluU2drZXF4V0RyWUtpb3VQUnFQdzNOVFNOVEZ6MmtadHBEYXFXaThRVDdCeDRqSnRBbFhCbENoRlRodVlBTWZMOFBqcmtzckozYnAzVzVlbTF5akFJeVBNQ2x3ZFpsN2s5M25mL2RNK0VMenVLZTZXSkhMNy9ZNDNlUnREN1hKMWZ5TXZvSEJjM2N6Y3luZUdOZGRGbTR0QnZ3VlZsQzBUNSt2VC9PWFBsVDNuT1lCYWF2SVpXRkU5VGNHYTF6R2MvOWFpK1llN3VjNGR6WmZuNy9hNUF2dFczL2NjakxlY3I2MHc2YjBSa0paV1BWUFphUmtIRk5rY2JQcjVkK2tzT3hTb1ZGZTdqWTNEbkpib1B6Tzc3VFd3YUc5NHFMZmpsYnQ1OWxaTVgzZjdkKzE5cGY1WkVZdVp2R2xPMUlYSFdSZ2YweENWVHlQSGhabmpJd3ltUTJ4TUxBN1YxRksrMC9GNjZoK2dFSFMwM3Z5bXM4N2k5b1dpRzRCb0trK1QrZmUyVjhTemovY2txSjl0MzE2bjc2Ky9DeEU2anJ6dk9vcE5rYkZUdEc2UE5vRHlCNXJXOXVpaTZPMmtVa1dyR0JDRjYwaFZGemxkeUlLQmxKdGxRMzU1MCtvSG1LRHhwRGtzWW1tc3B6VnF5MmpWcXZqNTJ4ZndlMXRWYjdzYVJLbHpwc3liU0ZVRzE4dUJGZTZsNlMrSW5BQWlaUm5oU1IvOS9udVczbzdiSzlyb3JDaTdkcTRHUS8vdk84MzlmYlRlNkN5MmpFR1dnV2VLaW5mV2wvL0tpR0d4b3AzNU01bmIrZTZoUm1yZlRFL3JUdi85MzR3ZC96TGczV2gwbC8vc2x1ZHROY3IvSmZHVkhNTXB2MTIya1RPejFoVFpFVnRXWFdPZ3BlV1Q5S2E4ekwzRks3U3oyNUpxcXd0UDdWdXJHdXlIZmtVQjI1NktVYzIwTFE4YjBGVTF1V2Z0OXdBb3o2dmp0K3hxc1VLTi9kVitQZ1VxZExyL0p2OEVGZjF3cy93aXlNSDZMK2ZSZGZad2RKLzgxeUp3Mm4zaHR2aXJMcFJqYmM1RDlmYzE2ZElJWTF3MW9ybW16NS9jZWI1ejVDZUVZbnh0aTFGbjdsVGtxdldlRnhhMWV1Q3UrN0ZDSVFmNFRKY1o2aGtodWF5YWMrWC9aNlhZZEN3VWJYUGZyUzZrWVdKSWRnNS9SSExmZ0p3NXFYWTVrRlZaS0s4eVFmZm8yTkloMy94dS85cjJjVDNaYmxEV3NpRWplM1dPdWNWZ3dKbFNjbzUyUUF2VzlvdklXTlBLalBleXErdTNaYWFXeHlEeWdleU5TVS9HWnBkRFlXZ1ArZHJWTzhZSEZubGxtU0JYWUxacjcveHlKVmJ6MktDSXhUVG1tc1oyaWVNYTkxQnVqUGR0eVczTC8vZ1g0Vi9CY3VVSUQ2VGMvOXZrclp3c3NuZDdaeHhjb21DVVBhRi9jWXpFTzJtSUMzZXJ1OUJyRXpDTUVWQjZrQUJIem9aQ1MybmhuL2VxWDBUQ0psak00TkFEV1RCTDdUVWJNZ25wZW5VN0F4VHdUUTRzUnBjYkZzUzJTcnh4Y2pWcHd1Q3RXNjUxQ1lzcTZGN05ZL3J3UmR0WldUTExpdDMwTVhGcVREV3owOVNjZU5yMk1jdzJzSnJ0SStKYmhBN3UzaGtaWTF0cjgxOTRRRUtUTnFENU93cWlld1pHYVRJWjgrRUNWWS9ha0pNd2JUWkFKNHJmdno0RnlnR3pnZ0RrSXlXWVA3TWdpaWpQRUo1OWNCdzJaUEU1MEFHL3hTOUNrWlFVWmxKL3NYNkdoUmdZbVhFRlZYUXYyTkxsNUhmbkdpZ051SDJuSUlNSVAvS3o5dzhzbk1zU1RGWXFaZUl4c1dNaUN4VDI0cUNVcHZ6UURQQ3dpRzBqclJ1M3k5dHFxYjk2bGZ5Z3Q1dlRCYVpVbXNGT28wRUVwRFpxWVJaMHhJVlZ3ZDFRR3Y5eUJFRUdKdHdkV1dnYzdlTUFtUnFWNGJrSHdBd0dHbDFxTHg2WXVqVElzNVFmRVN1ZlhoUWJGUVdwLzYyZzRpOVZJemdTenN6QWFDWE0vZE1oNVFyQzdsYW1WcEFnYzhVV0JxZzdXUTF6dmtNL2VnZXcxN2xldzhiejEvRzlvMjVGbk5mZmhFSzg4Z2VkYmUrejVuNUUzYWduMFNSU00vazU3S2VEaFpaOHN4dVU2aFQ5b1NhMVJEanBGTE5nazhFYjNKbHhXcllVTHhkMnVvMWI5NXE0NnpVU3J4cXJKc01WSnJ2N0l2V0lJVjkxSnhqTHN6SmNIb0g5bWVodDlTTFgvU1hlMUdQWHlqckVEY1QzczJ0eHVBaWFUS2ZCdGxmZTJna2VPQklKbmtVRnVQM3U4M1ZZVGZneWRTUEcrZkIvRGVQeWo5Ly9telU1QjdSb3NhUS9zbjBSRU11c3VSbTRSdjNQaGI1U3FpckRiWjRMdktwUFhKUGoycmZ6QjE5WjRrTXIxQkxyMWlCU0h0RklyemU2QmtyY28vb0JZazdnMjJDeUhSRVN6WlJTd3VpTjlNZW55WFlobHZ2ZEVhU2UyeVNMWWVTWW1CTEU3ZFNMbWxxOUg3WGh6VjJNKytQWXRKNWFtVFRCY3pVakhhVkViRURyZzBNa0tUU1Uxa3hCUXFqdVpLbG84RkdTdS9QcklIbEFkYmZDNW8xdWh1UDdsTU9hSGg5eTRhTkI2R0hQaVBhK1hrVU5xaS9LellYbVNia1puZWY5R0ptNkR4YmZ6ZEtGVXN0TFZ6TnF5MzdWbGo5bFpKcUZ1VzNCUjloSnljaXkrbkhaU2FYV0k4TGNiOXBvMDVQU3A5WTJURzV1enpiV3locnU3MmNxN3F4NTZZS0s2YU1pczM0NHl3MWlkcTVKeCtvcTRCRVRxTm1qWEpEUzNJNHRSVTVINEhFYTB5a2ZPb2ZFaVN4Q3c4dzRSVWNEM1UzdkZ5ai9tbjNOcmNDT2UvK3BTbEZaR214ZWV5Wjl5VTJhcmo5MjFIaGdiOHM3bHZoWjRsdWJHb2Q2RmtkRExOOEdyekplelBaYVZjZFZKeDZlakYxMkJWQ1p1SzFFU2YyeUdHNXRhV3E2bmpRNUZhUWx6VmxSNGhVVVllTlVWbFVLZTZxZ2dkSE1RRUdmcHR3VmZFNlUxK3F0cVE0eDBaUFIxbVVHQ2NRQVZGb1JSRThzTXJna21mUUtJOUNLbS9Fa1hmeFQ4cysyRVdUSTFHcUFEOVhMamtZeVAzY3pkMmVhblVIN29sREZ0NjdjbGFtaU91b01POHo5bHdOY3ZTN1d2Q0svTy9iMmRubS9kRnNWT2hQYXNxV1AxR0VuS2lXRHFNZGpxRlBPL2F6dWNGSDA1Y1ZPTlkwUUxjL2pUY2x4d1JGdVlvVDhkbERTdFZmM0k1TVRFU0tDdTI3WmxFSTlnRzhwTXNrWmZJMDBsQXZubEpoR3ZidktNRG5PR1haNTNkbWlPVndhdEw1Nytsdi94RUJMUjFEalI1RGVvWFEyNTU2blRKajM5K2ptVElLNHVMaWRZN0w3N0hnUlZobGxWV2dSV2RwRnAzSGJtSTdIU2p3ZGhuKzN4QVpPTGE0TGZ1ZVU5c2Nyd1NRTGIzYitXWTNVOG83bnJlTmFvSWJoSEtLLy9oRXd5blA2cS9ybjhPbHJ5My81YnBmSzQ3ZVFsbmdMWnk4V0tlTVBuUG82K0I1NjNtTEFvUHZTYVRmOWZyTitiS0pkZEgwNHFMUnorVUI5UG4rSWh0MWZUR2FpOWtqbVVxZXZZK3JDVHJHcFM1cVUwUU1ZZFZFZWNaeTlYYS9hdDhjU3BvWUgvOHZ5d1N0c3B5dnhyb015Y09uUHVkTnk3Nm5VOWZ3dUtuU2VkU3FodHkrTUlkR09YUnN6VXhKTTFlVE1hbW9NMXRGZ04wQmpKL1IxSFMxTzFmbHNiaFJTUGRyUWszcVVXUmYyMFhQNDhwZDVLMTU1UE96ZGh3eXFPUklKZmNMS3htUmJqN0dWeHFGMGw2UUo1SFRWbW5TRUZRWUgwelFlWGdvOFluZ0R5NDN6OWRzTzQzUHFvbXBGWlBoSFc4Uy92MkxMb1JMREVETlpZeHk2K3JPRC9zWWxtdnRVL3JPc0REbjRPRlJSNzRXL05CQnQ4WVc1ZXQ3Yy8zdkdLdG9pcmRCL3Z1cEREcWpCVncwSE5JdXZCdnFGa0l1UXhZNy9LaW8xWjZiWEJERTZXNmFSY3pXRkRyU0YwbUlLckZ6Y0doMVd1Mjh4K0JUanU0QVA5NzdMNzUxOUZsL2lJT0RndzBRUkQzL29oMGREN0IrTkVQeGpVZDJPYTVvUGdqMTI5K01teU9kY25Nc0xWc2hrdDZvNGVnc2xxWStxeU9jaTRVbTlkNjllMlIwb3BoK3c2T0Jzdm1OcnhDZFBWcU8zYWlLb3FJbHRjS3lzcnJpa1RtSnMxbnp1VDRpMUI0NGRtSEJVV2QrYjl3SUFDYWc0MjBGR2dDQS8veS92UUJJTk9UVHJ1ZG5rNXBCS3kzMmVkVFRON1BrWVQzS3puSHFYTWlhc09teEhsbmk4dlJFVUo1YmtkWjJZMUh3VFZLZFdyOUtkVEc1ek9YVlZTVDk4MFpuaXg1M2FaclNlZmxVWEVhd2FFMlRvcWhob2FtdnBMR0tZYm5vajd4WEtjUmRuRmNuaHdYbEtCTVRrME5KM3p3WWlqekxCR3UzKzR0TjkvRHhCNXFrRnhZVzBuMk8ra1BMcG5XS1JOSUxCd0x4d3lZazdxNlBKL0xWMnZacUY5amZXek9rSHhWMDRoSzNZOTltalBYdUl1SzlkVTM2cWJkeGVYbnNNdCt4akYwazJCaXA5a0NyRCtzZy95WFhEbnZ1RnovQjNpblUrb0dLZjJ4aXJLTnpmb2JWZlJCZ1NJOHVTQzRHNnRjL2kvK1hKSVBUcm1CNXlyWVJZdjVtcWRucmxpcHNKQ2NqdVJSOEY5WmpkWVMwMEduWXhtSnk4NUV5dHAxL1ZsaFpETXcyZXgxcnFqMUgyWFA3K0x6SXZDd2RIeDM5MnpEaTZ6QnBmeTVaZzZsYk04NDlTZGlxZWZtRXZXNUc1a2s3KzRkdDF0cndYNWtoOUkzL20yS3psL1VaajlYOEdTWkx1eEwxK1ZtRWhad2I4UG1wc3c2VDJNTkJ3ZkhHL3RJUHh0eUpvdnZSNGY3cUdmZ3dqbTd0dWs5SjdMSGZTYW5qcStNaXEyd3g2c081cGhrWXllRUNMU1lqd2Nka0VuL2JBOGdrWitmbTlQN2ZlNHRrRkFjQ3k4ZTltZCtNMGVxcGdPWnlVNXFYYzJtcndIUFJBc0orSlB4T1puT2haUkNBL1h5N1Fwb3pIR1FOQ2g1ZkUxVWs0VDdlV1ErWE9lVkFQMzMxNnRYZTNsN2I1VlJaa2YxSE5memlrelhqdC8xYXZ6OEkyQUNZYnk0OGdlVHlHMjlFdHdMQnNVN3ZQV3B0d3cwRTg1QWsvR0R5QVFDQzM0dTRMeFFrUUMwQVNtUDdIQk05eUZVU3FSbXJuNFNaazhzZWkrUFdjWmd0ejV3UHZzaG9Yak5PdXRUajJxQUQ5QzY3V1RiZVZFNDY4QXdpaWpKMDZLemZ2dXlGRm9EaStjalljODBKNkc0T0ozRUgxUkhzMzcwcSs4ZjZ1RlR0R3lDWXIrSWU3eThuMG8xYjNyblZrQndlOW1kdEd1TFIweCtlNzg1cFNxOUtlTytMMEtkd2cyWWJYN1B1eUhOdDVhV0xmNU80dFBpM1ZFeWJKbVg4WUNZelZ2TzVtOG53NDF3YUl6eUVsUlhIbHM5NmJ3UUwyZDVjbFJVMnNJcDd0Ti9Qa1g3Q3Q2OGZiQ2tnejk3WlJmZ3p1VWY0dVNhOWV0aWlzZzArRVJMMSt4a2FuRnprTElPR3FSTUlXY0xuZVllb2Z4VUd3SlR2ZmVqRWpZOEx4WXRqZWZhR3VvRGtvTFNuUnl6Y3ZuRVU0Q2NvVVBrT3hoOVZrUzZybjZ3Q2E3cS9JUW92TFB4bjNFb2tFMUhBbC9nbzJOdzJrWXJGOWkrL1dnb0VId0Z3TTM1bU1abmxMWmJRSFg1c2NSS215VTFSVGxmcnNIalpUYVZHOS95ZDY2OUhFdlF5SmJrT1VueW9LdEZpUVpwTWh4OXI5WmtNSXl3TXFTKzZ6VWFaM2NpSjRWTTUxVmIvZ3NrQjRWY0J2bkFOaTFKY21ueXdOTTNIeWFaQUtpTDR3WUZuNXZ6ZkpIMUR1a0E3bGRueng5bG5MVHJ0d0NiOGQxd0RHR1BVK1ZDR2dKQTJJWWlQQUtTaXlhbXZiRDhKRGx6OVhDMU5UYzVqZ2I0dGZ3aTUxbUJYdzMzRGVyN3NkK2MyWXpRek5uYVlMM1ZUR0h2TXcxMmxzZGs4L0Z5Q2ZXQ014MTNlVXpTS090NkcyekRNcURNUUF5YndKU0FPbi9VRkdDZDVWVlArMkIrKzAySDhDRGoxZlJoZ01WZmJIRkJhZUF3UTJIUlU0c0lzd3BrNUtPUE1NWUVZWEthR25qK0VqTG5rQWxjSDRsek8wcHdUc2RVb2JTMW11cnp4OHFoR1ptaTRJS014NjY3MnJ3UkIyaWZQUUM0VFUxTlR5OHR0UHYrT3NBVDBWRmpZODc1WkJPTTAza2tpZ2ZSQ1JZQTRWWDVhV2hyUzI2cVdjcWZlanFZSmpGQVZTckI4NjYrL3Ewcm9DV2FCMnlRcWJ3bDkwRkFkbnlvQjlCWEdvbk14dTdnZk1DVzZ5S1R0WGh0dlRtZkp0M244UHRnaGFNYmZkYmwva29VUjU5OW9ST1BpUFNid3QxQXFYTUM3Mk9aMGZLa1hNSmtUQWVDdlFYbUJGOEdMemdNQkc5Y2FMeXdvNnlHWUdBNDFlZ25QdjcvNlk5eTlxbmJqbEFjL09yd2lySEF2RWZRZ2dUTlJRZmpWQk1odytMM2Z2Wk41OUZXOG9OWGV6b09NSEZMRC9jV3AxbmFwaTB6cURaR3VxaGUxcGtuWkZBdExqNzdkaVI1YnlQUi9SZnVxeG9wcHVxY29iM2F3Z21uTFRoeHFPeE83YjVRWGYyWFZmZC9zOUVGYy95cThoNHUxbXpaZks2ZzZnQTJZVkdRbDF0MTJRT25IRll2dkhMODFoZGNybXpKcFk2S2NWSVV5ZHN0YlIvcVM1aU13L3k0bW9URWpxRjV6UGQvZThNSy9lOXRDcFNxZkNYUkpZK0FWUFZhaC9GeEdQWDFXYTBrK1ZQd002VVVyLzM4dlZ2ZmR2ZlB0cWFZUkd2OElBRnVVNUZYbFNtWFFILzRQVUVzQkFoUURGQUFBQUFnQWxMbGpXQTdnNFlXeUFRQUFOd1FBQUF3QUNRQUFBQUFBQUFBQUFMYUJBQUFBQUdSdlkzVnRaVzUwTG5odGJGVlVCUUFIYUpQa1pWQkxBUUlVQXhRQUFBQUlBR1dLVVZqYnJub0o2QThBQURRU0FBQUlBQWtBQUFBQUFBQUFBQUMyZ2R3QkFBQnRiUzVpYTJsM2FWVlVCUUFIRG5yUVpWQkxBUUlVQXhRQUFBQUlBSlM1WTFpUlpoRElQZ1FBQUFrS0FBQVBBQWtBQUFBQUFBQUFBQUMyZ2VvUkFBQnRiWEJoWjJVdmNHRm5aUzVpYVc1VlZBVUFCMmlUNUdWUVN3RUNGQU1VQUFBQUNBQ1V1V05ZMVZxT0N6WU5BQUJIcFFBQURRQUpBQUFBQUFBQUFBQUF0b0ZWRmdBQWNHRm5aUzl3WVdkbExuaHRiRlZVQlFBSGFKUGtaVkJMQVFJVUF4UUFBQUFJQUpTNVkxamxuUWtqeFFFQUFQa0ZBQUFWQUFrQUFBQUFBQUFBQUFDMmdiWWpBQUJ5Wld4ekwzQmhaMlZmWm05eWJXRjBjeTU0Yld4VlZBVUFCMmlUNUdWUVN3RUNGQU1VQUFBQUNBQ1V1V05ZSlBEYitEb0FBQUE2QUFBQUVnQUpBQUFBQUFBQUFBQUF0b0d1SlFBQWNtVnNjeTl3WVdkbFgzSmxiSE11ZUcxc1ZWUUZBQWRvaytSbFVFc0JBaFFERkFBQUFBZ0FsTGxqV0ZjQWxvMHJCQUFBMkRzQUFBa0FDUUFBQUFBQUFBQUFBTGFCR0NZQUFIUm9aVzFsTG5odGJGVlVCUUFIYUpQa1pWQkxBUUlVQXhRQUFBQUlBSlM1WTFqdUtNdUhkeVlBQUpjbUFBQU5BQWtBQUFBQUFBQUFBQUMyZ1dvcUFBQjBhSFZ0WW01aGFXd3VjRzVuVlZRRkFBZG9rK1JsVUVzRkJnQUFBQUFJQUFnQUpRSUFBQXhSQUFBQUFBPT0iLAoJIkZpbGVOYW1lIiA6ICLlr7zlm74xKDMpLmVtbXgiCn0K"/>
    </extobj>
  </extobjs>
</s:customData>
</file>

<file path=customXml/itemProps1.xml><?xml version="1.0" encoding="utf-8"?>
<ds:datastoreItem xmlns:ds="http://schemas.openxmlformats.org/officeDocument/2006/customXml" ds:itemID="{379C1876-089E-D345-9916-10234F52AA4A}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7442</Words>
  <Application>Microsoft Macintosh PowerPoint</Application>
  <PresentationFormat>宽屏</PresentationFormat>
  <Paragraphs>878</Paragraphs>
  <Slides>60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70" baseType="lpstr">
      <vt:lpstr>楷体</vt:lpstr>
      <vt:lpstr>Cambria Math</vt:lpstr>
      <vt:lpstr>Calibri</vt:lpstr>
      <vt:lpstr>Times New Roman</vt:lpstr>
      <vt:lpstr>微软雅黑</vt:lpstr>
      <vt:lpstr>黑体</vt:lpstr>
      <vt:lpstr>Wingdings</vt:lpstr>
      <vt:lpstr>Arial</vt:lpstr>
      <vt:lpstr>WPS</vt:lpstr>
      <vt:lpstr>Image</vt:lpstr>
      <vt:lpstr>PowerPoint 演示文稿</vt:lpstr>
      <vt:lpstr>关系数据库</vt:lpstr>
      <vt:lpstr>关系数据库中名词术语之间的对应关系</vt:lpstr>
      <vt:lpstr>第2章  关系数据库</vt:lpstr>
      <vt:lpstr>第2章  关系数据库</vt:lpstr>
      <vt:lpstr>PowerPoint 演示文稿</vt:lpstr>
      <vt:lpstr>2.1  关系数据结构及形式化定义</vt:lpstr>
      <vt:lpstr>2.1  关系数据结构及形式化定义</vt:lpstr>
      <vt:lpstr>域（Domain）</vt:lpstr>
      <vt:lpstr>笛卡尔积 1</vt:lpstr>
      <vt:lpstr>笛卡尔积 2</vt:lpstr>
      <vt:lpstr>笛卡尔积 3</vt:lpstr>
      <vt:lpstr>笛卡尔积 4 - 集合表示</vt:lpstr>
      <vt:lpstr>笛卡尔积 5 - 二维表表示</vt:lpstr>
      <vt:lpstr>笛卡尔积 6 - 思考</vt:lpstr>
      <vt:lpstr>关系 1</vt:lpstr>
      <vt:lpstr>关系 2</vt:lpstr>
      <vt:lpstr>关系 3</vt:lpstr>
      <vt:lpstr>关系 4</vt:lpstr>
      <vt:lpstr>关系 5</vt:lpstr>
      <vt:lpstr>关系 6</vt:lpstr>
      <vt:lpstr>关系 7  -  关系的类别</vt:lpstr>
      <vt:lpstr>关系 8 - 关系的性质</vt:lpstr>
      <vt:lpstr>关系 9 - 关系的性质</vt:lpstr>
      <vt:lpstr>关系 10</vt:lpstr>
      <vt:lpstr>关系 11</vt:lpstr>
      <vt:lpstr>扩展阅读：Relational Model (1)</vt:lpstr>
      <vt:lpstr>扩展阅读：Relational Model (2)</vt:lpstr>
      <vt:lpstr>扩展阅读：Relational Rules (3)</vt:lpstr>
      <vt:lpstr>扩展阅读：Relational Model (4)</vt:lpstr>
      <vt:lpstr>2.1  关系数据结构及形式化定义</vt:lpstr>
      <vt:lpstr>关系模式 1</vt:lpstr>
      <vt:lpstr>关系模式 2</vt:lpstr>
      <vt:lpstr>关系模式 3</vt:lpstr>
      <vt:lpstr>关系模式与关系</vt:lpstr>
      <vt:lpstr>2.1.3  关系数据库</vt:lpstr>
      <vt:lpstr>2.1.4  关系模型的存储结构</vt:lpstr>
      <vt:lpstr>第2章  关系数据库</vt:lpstr>
      <vt:lpstr>关系操作</vt:lpstr>
      <vt:lpstr>对关系操作的总结</vt:lpstr>
      <vt:lpstr>关系模型上的数据操纵功能</vt:lpstr>
      <vt:lpstr>关系数据语言的分类</vt:lpstr>
      <vt:lpstr>第2章  关系数据库</vt:lpstr>
      <vt:lpstr>关系的三类完整性约束</vt:lpstr>
      <vt:lpstr>2.3.1  实体完整性</vt:lpstr>
      <vt:lpstr>2.3.1  实体完整性</vt:lpstr>
      <vt:lpstr>2.3.1  实体完整性</vt:lpstr>
      <vt:lpstr>2.3.2  参照完整性 - 关系间的引用 1</vt:lpstr>
      <vt:lpstr>2.3.2  参照完整性 - 关系间的引用 2</vt:lpstr>
      <vt:lpstr>2.3.2  参照完整性 - 外码 1</vt:lpstr>
      <vt:lpstr>2.3.2  参照完整性 - 外码 2</vt:lpstr>
      <vt:lpstr>2.3.2  参照完整性 - 外码 3</vt:lpstr>
      <vt:lpstr>2.3.2  参照完整性 - 外码 4</vt:lpstr>
      <vt:lpstr>2.3.2  参照完整性 - 参照完整性规则 1</vt:lpstr>
      <vt:lpstr>2.3.2  参照完整性 - 参照完整性规则 2</vt:lpstr>
      <vt:lpstr>2.3.2  参照完整性 - 参照完整性规则 3</vt:lpstr>
      <vt:lpstr>2.3.2  参照完整性 - 参照完整性规则 4</vt:lpstr>
      <vt:lpstr>2.3.3  用户定义的完整性</vt:lpstr>
      <vt:lpstr>数据完整性约束（示例）</vt:lpstr>
      <vt:lpstr>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pc403</dc:creator>
  <cp:lastModifiedBy>Wei Hu</cp:lastModifiedBy>
  <cp:revision>241</cp:revision>
  <dcterms:created xsi:type="dcterms:W3CDTF">2023-08-09T12:44:00Z</dcterms:created>
  <dcterms:modified xsi:type="dcterms:W3CDTF">2026-04-13T05:01:05Z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6B091C04CD6A4BBD90E2DF1E80F6B484_13</vt:lpwstr>
  </property>
  <property fmtid="{D5CDD505-2E9C-101B-9397-08002B2CF9AE}" pid="3" name="KSOProductBuildVer">
    <vt:lpwstr>2052-12.1.0.20305</vt:lpwstr>
  </property>
</Properties>
</file>