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3.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2.xml" ContentType="application/vnd.openxmlformats-officedocument.presentationml.tags+xml"/>
  <Override PartName="/ppt/tags/tag54.xml" ContentType="application/vnd.openxmlformats-officedocument.presentationml.tags+xml"/>
  <Override PartName="/ppt/tags/tag56.xml" ContentType="application/vnd.openxmlformats-officedocument.presentationml.tags+xml"/>
  <Override PartName="/ppt/tags/tag58.xml" ContentType="application/vnd.openxmlformats-officedocument.presentationml.tags+xml"/>
  <Override PartName="/ppt/tags/tag60.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7.xml" ContentType="application/vnd.openxmlformats-officedocument.presentationml.tags+xml"/>
  <Override PartName="/ppt/notesSlides/notesSlide10.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1.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100.xml" ContentType="application/vnd.openxmlformats-officedocument.presentationml.tags+xml"/>
  <Override PartName="/ppt/tags/tag12.xml" ContentType="application/vnd.openxmlformats-officedocument.presentationml.tags+xml"/>
  <Override PartName="/ppt/tags/tag14.xml" ContentType="application/vnd.openxmlformats-officedocument.presentationml.tags+xml"/>
  <Override PartName="/ppt/tags/tag240.xml" ContentType="application/vnd.openxmlformats-officedocument.presentationml.tags+xml"/>
  <Override PartName="/ppt/tags/tag27.xml" ContentType="application/vnd.openxmlformats-officedocument.presentationml.tags+xml"/>
  <Override PartName="/ppt/tags/tag38.xml" ContentType="application/vnd.openxmlformats-officedocument.presentationml.tags+xml"/>
  <Override PartName="/ppt/tags/tag51.xml" ContentType="application/vnd.openxmlformats-officedocument.presentationml.tags+xml"/>
  <Override PartName="/ppt/tags/tag53.xml" ContentType="application/vnd.openxmlformats-officedocument.presentationml.tags+xml"/>
  <Override PartName="/ppt/tags/tag55.xml" ContentType="application/vnd.openxmlformats-officedocument.presentationml.tags+xml"/>
  <Override PartName="/ppt/tags/tag57.xml" ContentType="application/vnd.openxmlformats-officedocument.presentationml.tags+xml"/>
  <Override PartName="/ppt/tags/tag59.xml" ContentType="application/vnd.openxmlformats-officedocument.presentationml.tags+xml"/>
  <Override PartName="/ppt/tags/tag61.xml" ContentType="application/vnd.openxmlformats-officedocument.presentationml.tags+xml"/>
  <Override PartName="/ppt/tags/tag8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4"/>
  </p:notesMasterIdLst>
  <p:handoutMasterIdLst>
    <p:handoutMasterId r:id="rId95"/>
  </p:handoutMasterIdLst>
  <p:sldIdLst>
    <p:sldId id="687" r:id="rId2"/>
    <p:sldId id="930" r:id="rId3"/>
    <p:sldId id="931" r:id="rId4"/>
    <p:sldId id="756" r:id="rId5"/>
    <p:sldId id="755" r:id="rId6"/>
    <p:sldId id="757" r:id="rId7"/>
    <p:sldId id="919" r:id="rId8"/>
    <p:sldId id="921" r:id="rId9"/>
    <p:sldId id="871" r:id="rId10"/>
    <p:sldId id="758" r:id="rId11"/>
    <p:sldId id="759" r:id="rId12"/>
    <p:sldId id="872" r:id="rId13"/>
    <p:sldId id="760" r:id="rId14"/>
    <p:sldId id="979" r:id="rId15"/>
    <p:sldId id="974" r:id="rId16"/>
    <p:sldId id="975" r:id="rId17"/>
    <p:sldId id="976" r:id="rId18"/>
    <p:sldId id="977" r:id="rId19"/>
    <p:sldId id="978" r:id="rId20"/>
    <p:sldId id="980" r:id="rId21"/>
    <p:sldId id="873" r:id="rId22"/>
    <p:sldId id="761" r:id="rId23"/>
    <p:sldId id="922" r:id="rId24"/>
    <p:sldId id="763" r:id="rId25"/>
    <p:sldId id="923" r:id="rId26"/>
    <p:sldId id="762" r:id="rId27"/>
    <p:sldId id="767" r:id="rId28"/>
    <p:sldId id="924" r:id="rId29"/>
    <p:sldId id="926" r:id="rId30"/>
    <p:sldId id="768" r:id="rId31"/>
    <p:sldId id="797" r:id="rId32"/>
    <p:sldId id="770" r:id="rId33"/>
    <p:sldId id="771" r:id="rId34"/>
    <p:sldId id="772" r:id="rId35"/>
    <p:sldId id="773" r:id="rId36"/>
    <p:sldId id="925" r:id="rId37"/>
    <p:sldId id="798" r:id="rId38"/>
    <p:sldId id="775" r:id="rId39"/>
    <p:sldId id="776" r:id="rId40"/>
    <p:sldId id="927" r:id="rId41"/>
    <p:sldId id="928" r:id="rId42"/>
    <p:sldId id="777" r:id="rId43"/>
    <p:sldId id="824" r:id="rId44"/>
    <p:sldId id="929" r:id="rId45"/>
    <p:sldId id="800" r:id="rId46"/>
    <p:sldId id="932" r:id="rId47"/>
    <p:sldId id="936" r:id="rId48"/>
    <p:sldId id="933" r:id="rId49"/>
    <p:sldId id="934" r:id="rId50"/>
    <p:sldId id="861" r:id="rId51"/>
    <p:sldId id="938" r:id="rId52"/>
    <p:sldId id="939" r:id="rId53"/>
    <p:sldId id="940" r:id="rId54"/>
    <p:sldId id="941" r:id="rId55"/>
    <p:sldId id="942" r:id="rId56"/>
    <p:sldId id="943" r:id="rId57"/>
    <p:sldId id="944" r:id="rId58"/>
    <p:sldId id="945" r:id="rId59"/>
    <p:sldId id="946" r:id="rId60"/>
    <p:sldId id="948" r:id="rId61"/>
    <p:sldId id="949" r:id="rId62"/>
    <p:sldId id="950" r:id="rId63"/>
    <p:sldId id="951" r:id="rId64"/>
    <p:sldId id="952" r:id="rId65"/>
    <p:sldId id="953" r:id="rId66"/>
    <p:sldId id="954" r:id="rId67"/>
    <p:sldId id="955" r:id="rId68"/>
    <p:sldId id="956" r:id="rId69"/>
    <p:sldId id="957" r:id="rId70"/>
    <p:sldId id="981" r:id="rId71"/>
    <p:sldId id="982" r:id="rId72"/>
    <p:sldId id="983" r:id="rId73"/>
    <p:sldId id="958" r:id="rId74"/>
    <p:sldId id="959" r:id="rId75"/>
    <p:sldId id="960" r:id="rId76"/>
    <p:sldId id="961" r:id="rId77"/>
    <p:sldId id="962" r:id="rId78"/>
    <p:sldId id="963" r:id="rId79"/>
    <p:sldId id="964" r:id="rId80"/>
    <p:sldId id="965" r:id="rId81"/>
    <p:sldId id="966" r:id="rId82"/>
    <p:sldId id="967" r:id="rId83"/>
    <p:sldId id="968" r:id="rId84"/>
    <p:sldId id="969" r:id="rId85"/>
    <p:sldId id="970" r:id="rId86"/>
    <p:sldId id="971" r:id="rId87"/>
    <p:sldId id="972" r:id="rId88"/>
    <p:sldId id="973" r:id="rId89"/>
    <p:sldId id="986" r:id="rId90"/>
    <p:sldId id="988" r:id="rId91"/>
    <p:sldId id="985" r:id="rId92"/>
    <p:sldId id="984" r:id="rId93"/>
  </p:sldIdLst>
  <p:sldSz cx="12192000" cy="6858000"/>
  <p:notesSz cx="6858000" cy="9144000"/>
  <p:custDataLst>
    <p:tags r:id="rId9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380509090" name="百老汇" initials="百"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918"/>
  </p:normalViewPr>
  <p:slideViewPr>
    <p:cSldViewPr snapToGrid="0">
      <p:cViewPr varScale="1">
        <p:scale>
          <a:sx n="123" d="100"/>
          <a:sy n="123" d="100"/>
        </p:scale>
        <p:origin x="6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2024.03.19  12:56</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sigma</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923706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不能</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查询条件带有</a:t>
            </a:r>
            <a:r>
              <a:rPr lang="en-US" altLang="zh-CN"/>
              <a:t>‘</a:t>
            </a:r>
            <a:r>
              <a:rPr lang="zh-CN" altLang="en-US"/>
              <a:t>否定</a:t>
            </a:r>
            <a:r>
              <a:rPr lang="en-US" altLang="zh-CN"/>
              <a:t>’</a:t>
            </a:r>
            <a:r>
              <a:rPr lang="zh-CN" altLang="en-US"/>
              <a:t>语义的，一般需要用到</a:t>
            </a:r>
            <a:r>
              <a:rPr lang="en-US" altLang="zh-CN"/>
              <a:t>‘</a:t>
            </a:r>
            <a:r>
              <a:rPr lang="zh-CN" altLang="en-US"/>
              <a:t>差</a:t>
            </a:r>
            <a:r>
              <a:rPr lang="en-US" altLang="zh-CN"/>
              <a:t>’</a:t>
            </a:r>
            <a:r>
              <a:rPr lang="zh-CN" altLang="en-US"/>
              <a:t>运算，不能简单地使用</a:t>
            </a:r>
            <a:r>
              <a:rPr lang="en-US" altLang="zh-CN"/>
              <a:t>‘</a:t>
            </a:r>
            <a:r>
              <a:rPr lang="zh-CN" altLang="en-US"/>
              <a:t>不等</a:t>
            </a:r>
            <a:r>
              <a:rPr lang="en-US" altLang="zh-CN"/>
              <a:t>’</a:t>
            </a:r>
            <a:r>
              <a:rPr lang="zh-CN" altLang="en-US"/>
              <a:t>比较！</a:t>
            </a:r>
          </a:p>
          <a:p>
            <a:r>
              <a:rPr lang="en-US" altLang="zh-CN">
                <a:sym typeface="+mn-ea"/>
              </a:rPr>
              <a:t>1</a:t>
            </a:r>
            <a:r>
              <a:rPr lang="zh-CN" altLang="en-US">
                <a:sym typeface="+mn-ea"/>
              </a:rPr>
              <a:t>）</a:t>
            </a:r>
            <a:r>
              <a:rPr lang="en-US" altLang="zh-CN">
                <a:sym typeface="+mn-ea"/>
              </a:rPr>
              <a:t>‘</a:t>
            </a:r>
            <a:r>
              <a:rPr lang="zh-CN" altLang="en-US">
                <a:sym typeface="+mn-ea"/>
              </a:rPr>
              <a:t>只销售过</a:t>
            </a:r>
            <a:r>
              <a:rPr lang="en-US" altLang="zh-CN">
                <a:sym typeface="+mn-ea"/>
              </a:rPr>
              <a:t>p02’</a:t>
            </a:r>
            <a:r>
              <a:rPr lang="zh-CN" altLang="en-US">
                <a:sym typeface="+mn-ea"/>
              </a:rPr>
              <a:t>隐含着</a:t>
            </a:r>
            <a:r>
              <a:rPr lang="en-US" altLang="zh-CN">
                <a:sym typeface="+mn-ea"/>
              </a:rPr>
              <a:t>‘</a:t>
            </a:r>
            <a:r>
              <a:rPr lang="zh-CN" altLang="en-US">
                <a:sym typeface="+mn-ea"/>
              </a:rPr>
              <a:t>没有销售过</a:t>
            </a:r>
            <a:r>
              <a:rPr lang="en-US" altLang="zh-CN">
                <a:sym typeface="+mn-ea"/>
              </a:rPr>
              <a:t>p02</a:t>
            </a:r>
            <a:r>
              <a:rPr lang="zh-CN" altLang="en-US">
                <a:sym typeface="+mn-ea"/>
              </a:rPr>
              <a:t>之外的其他商品</a:t>
            </a:r>
            <a:r>
              <a:rPr lang="en-US" altLang="zh-CN">
                <a:sym typeface="+mn-ea"/>
              </a:rPr>
              <a:t>’</a:t>
            </a:r>
            <a:endParaRPr lang="en-US" altLang="zh-CN"/>
          </a:p>
          <a:p>
            <a:r>
              <a:rPr lang="en-US" altLang="zh-CN">
                <a:sym typeface="+mn-ea"/>
              </a:rPr>
              <a:t>2</a:t>
            </a:r>
            <a:r>
              <a:rPr lang="zh-CN" altLang="en-US">
                <a:sym typeface="+mn-ea"/>
              </a:rPr>
              <a:t>） 需要选择合适的</a:t>
            </a:r>
            <a:r>
              <a:rPr lang="en-US" altLang="zh-CN">
                <a:sym typeface="+mn-ea"/>
              </a:rPr>
              <a:t>‘</a:t>
            </a:r>
            <a:r>
              <a:rPr lang="zh-CN" altLang="en-US">
                <a:sym typeface="+mn-ea"/>
              </a:rPr>
              <a:t>被减数</a:t>
            </a:r>
            <a:r>
              <a:rPr lang="en-US" altLang="zh-CN">
                <a:sym typeface="+mn-ea"/>
              </a:rPr>
              <a:t>’</a:t>
            </a:r>
            <a:r>
              <a:rPr lang="zh-CN" altLang="en-US">
                <a:sym typeface="+mn-ea"/>
              </a:rPr>
              <a:t>关系</a:t>
            </a:r>
            <a:endParaRPr lang="en-US" altLang="zh-CN"/>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查询条件带有</a:t>
            </a:r>
            <a:r>
              <a:rPr lang="en-US" altLang="zh-CN"/>
              <a:t>‘</a:t>
            </a:r>
            <a:r>
              <a:rPr lang="zh-CN" altLang="en-US"/>
              <a:t>否定</a:t>
            </a:r>
            <a:r>
              <a:rPr lang="en-US" altLang="zh-CN"/>
              <a:t>’</a:t>
            </a:r>
            <a:r>
              <a:rPr lang="zh-CN" altLang="en-US"/>
              <a:t>语义的，一般需要用到</a:t>
            </a:r>
            <a:r>
              <a:rPr lang="en-US" altLang="zh-CN"/>
              <a:t>‘</a:t>
            </a:r>
            <a:r>
              <a:rPr lang="zh-CN" altLang="en-US"/>
              <a:t>差</a:t>
            </a:r>
            <a:r>
              <a:rPr lang="en-US" altLang="zh-CN"/>
              <a:t>’</a:t>
            </a:r>
            <a:r>
              <a:rPr lang="zh-CN" altLang="en-US"/>
              <a:t>运算，不能简单地使用</a:t>
            </a:r>
            <a:r>
              <a:rPr lang="en-US" altLang="zh-CN"/>
              <a:t>‘</a:t>
            </a:r>
            <a:r>
              <a:rPr lang="zh-CN" altLang="en-US"/>
              <a:t>不等</a:t>
            </a:r>
            <a:r>
              <a:rPr lang="en-US" altLang="zh-CN"/>
              <a:t>’</a:t>
            </a:r>
            <a:r>
              <a:rPr lang="zh-CN" altLang="en-US"/>
              <a:t>比较！</a:t>
            </a:r>
          </a:p>
          <a:p>
            <a:r>
              <a:rPr lang="en-US" altLang="zh-CN">
                <a:sym typeface="+mn-ea"/>
              </a:rPr>
              <a:t>1</a:t>
            </a:r>
            <a:r>
              <a:rPr lang="zh-CN" altLang="en-US">
                <a:sym typeface="+mn-ea"/>
              </a:rPr>
              <a:t>）</a:t>
            </a:r>
            <a:r>
              <a:rPr lang="en-US" altLang="zh-CN">
                <a:sym typeface="+mn-ea"/>
              </a:rPr>
              <a:t>‘</a:t>
            </a:r>
            <a:r>
              <a:rPr lang="zh-CN" altLang="en-US">
                <a:sym typeface="+mn-ea"/>
              </a:rPr>
              <a:t>只销售过</a:t>
            </a:r>
            <a:r>
              <a:rPr lang="en-US" altLang="zh-CN">
                <a:sym typeface="+mn-ea"/>
              </a:rPr>
              <a:t>p02’</a:t>
            </a:r>
            <a:r>
              <a:rPr lang="zh-CN" altLang="en-US">
                <a:sym typeface="+mn-ea"/>
              </a:rPr>
              <a:t>隐含着</a:t>
            </a:r>
            <a:r>
              <a:rPr lang="en-US" altLang="zh-CN">
                <a:sym typeface="+mn-ea"/>
              </a:rPr>
              <a:t>‘</a:t>
            </a:r>
            <a:r>
              <a:rPr lang="zh-CN" altLang="en-US">
                <a:sym typeface="+mn-ea"/>
              </a:rPr>
              <a:t>没有销售过</a:t>
            </a:r>
            <a:r>
              <a:rPr lang="en-US" altLang="zh-CN">
                <a:sym typeface="+mn-ea"/>
              </a:rPr>
              <a:t>p02</a:t>
            </a:r>
            <a:r>
              <a:rPr lang="zh-CN" altLang="en-US">
                <a:sym typeface="+mn-ea"/>
              </a:rPr>
              <a:t>之外的其他商品</a:t>
            </a:r>
            <a:r>
              <a:rPr lang="en-US" altLang="zh-CN">
                <a:sym typeface="+mn-ea"/>
              </a:rPr>
              <a:t>’</a:t>
            </a:r>
            <a:endParaRPr lang="en-US" altLang="zh-CN"/>
          </a:p>
          <a:p>
            <a:r>
              <a:rPr lang="en-US" altLang="zh-CN">
                <a:sym typeface="+mn-ea"/>
              </a:rPr>
              <a:t>2</a:t>
            </a:r>
            <a:r>
              <a:rPr lang="zh-CN" altLang="en-US">
                <a:sym typeface="+mn-ea"/>
              </a:rPr>
              <a:t>） 需要选择合适的</a:t>
            </a:r>
            <a:r>
              <a:rPr lang="en-US" altLang="zh-CN">
                <a:sym typeface="+mn-ea"/>
              </a:rPr>
              <a:t>‘</a:t>
            </a:r>
            <a:r>
              <a:rPr lang="zh-CN" altLang="en-US">
                <a:sym typeface="+mn-ea"/>
              </a:rPr>
              <a:t>被减数</a:t>
            </a:r>
            <a:r>
              <a:rPr lang="en-US" altLang="zh-CN">
                <a:sym typeface="+mn-ea"/>
              </a:rPr>
              <a:t>’</a:t>
            </a:r>
            <a:r>
              <a:rPr lang="zh-CN" altLang="en-US">
                <a:sym typeface="+mn-ea"/>
              </a:rPr>
              <a:t>关系</a:t>
            </a:r>
            <a:endParaRPr lang="en-US" altLang="zh-CN"/>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查询条件带有</a:t>
            </a:r>
            <a:r>
              <a:rPr lang="en-US" altLang="zh-CN"/>
              <a:t>‘</a:t>
            </a:r>
            <a:r>
              <a:rPr lang="zh-CN" altLang="en-US"/>
              <a:t>否定</a:t>
            </a:r>
            <a:r>
              <a:rPr lang="en-US" altLang="zh-CN"/>
              <a:t>’</a:t>
            </a:r>
            <a:r>
              <a:rPr lang="zh-CN" altLang="en-US"/>
              <a:t>语义的，一般需要用到</a:t>
            </a:r>
            <a:r>
              <a:rPr lang="en-US" altLang="zh-CN"/>
              <a:t>‘</a:t>
            </a:r>
            <a:r>
              <a:rPr lang="zh-CN" altLang="en-US"/>
              <a:t>差</a:t>
            </a:r>
            <a:r>
              <a:rPr lang="en-US" altLang="zh-CN"/>
              <a:t>’</a:t>
            </a:r>
            <a:r>
              <a:rPr lang="zh-CN" altLang="en-US"/>
              <a:t>运算，不能简单地使用</a:t>
            </a:r>
            <a:r>
              <a:rPr lang="en-US" altLang="zh-CN"/>
              <a:t>‘</a:t>
            </a:r>
            <a:r>
              <a:rPr lang="zh-CN" altLang="en-US"/>
              <a:t>不等</a:t>
            </a:r>
            <a:r>
              <a:rPr lang="en-US" altLang="zh-CN"/>
              <a:t>’</a:t>
            </a:r>
            <a:r>
              <a:rPr lang="zh-CN" altLang="en-US"/>
              <a:t>比较！</a:t>
            </a:r>
          </a:p>
          <a:p>
            <a:r>
              <a:rPr lang="en-US" altLang="zh-CN">
                <a:sym typeface="+mn-ea"/>
              </a:rPr>
              <a:t>1</a:t>
            </a:r>
            <a:r>
              <a:rPr lang="zh-CN" altLang="en-US">
                <a:sym typeface="+mn-ea"/>
              </a:rPr>
              <a:t>）</a:t>
            </a:r>
            <a:r>
              <a:rPr lang="en-US" altLang="zh-CN">
                <a:sym typeface="+mn-ea"/>
              </a:rPr>
              <a:t>‘</a:t>
            </a:r>
            <a:r>
              <a:rPr lang="zh-CN" altLang="en-US">
                <a:sym typeface="+mn-ea"/>
              </a:rPr>
              <a:t>只销售过</a:t>
            </a:r>
            <a:r>
              <a:rPr lang="en-US" altLang="zh-CN">
                <a:sym typeface="+mn-ea"/>
              </a:rPr>
              <a:t>p02’</a:t>
            </a:r>
            <a:r>
              <a:rPr lang="zh-CN" altLang="en-US">
                <a:sym typeface="+mn-ea"/>
              </a:rPr>
              <a:t>隐含着</a:t>
            </a:r>
            <a:r>
              <a:rPr lang="en-US" altLang="zh-CN">
                <a:sym typeface="+mn-ea"/>
              </a:rPr>
              <a:t>‘</a:t>
            </a:r>
            <a:r>
              <a:rPr lang="zh-CN" altLang="en-US">
                <a:sym typeface="+mn-ea"/>
              </a:rPr>
              <a:t>没有销售过</a:t>
            </a:r>
            <a:r>
              <a:rPr lang="en-US" altLang="zh-CN">
                <a:sym typeface="+mn-ea"/>
              </a:rPr>
              <a:t>p02</a:t>
            </a:r>
            <a:r>
              <a:rPr lang="zh-CN" altLang="en-US">
                <a:sym typeface="+mn-ea"/>
              </a:rPr>
              <a:t>之外的其他商品</a:t>
            </a:r>
            <a:r>
              <a:rPr lang="en-US" altLang="zh-CN">
                <a:sym typeface="+mn-ea"/>
              </a:rPr>
              <a:t>’</a:t>
            </a:r>
            <a:endParaRPr lang="en-US" altLang="zh-CN"/>
          </a:p>
          <a:p>
            <a:r>
              <a:rPr lang="en-US" altLang="zh-CN">
                <a:sym typeface="+mn-ea"/>
              </a:rPr>
              <a:t>2</a:t>
            </a:r>
            <a:r>
              <a:rPr lang="zh-CN" altLang="en-US">
                <a:sym typeface="+mn-ea"/>
              </a:rPr>
              <a:t>） 需要选择合适的</a:t>
            </a:r>
            <a:r>
              <a:rPr lang="en-US" altLang="zh-CN">
                <a:sym typeface="+mn-ea"/>
              </a:rPr>
              <a:t>‘</a:t>
            </a:r>
            <a:r>
              <a:rPr lang="zh-CN" altLang="en-US">
                <a:sym typeface="+mn-ea"/>
              </a:rPr>
              <a:t>被减数</a:t>
            </a:r>
            <a:r>
              <a:rPr lang="en-US" altLang="zh-CN">
                <a:sym typeface="+mn-ea"/>
              </a:rPr>
              <a:t>’</a:t>
            </a:r>
            <a:r>
              <a:rPr lang="zh-CN" altLang="en-US">
                <a:sym typeface="+mn-ea"/>
              </a:rPr>
              <a:t>关系</a:t>
            </a:r>
            <a:endParaRPr lang="en-US" altLang="zh-CN"/>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在关系</a:t>
            </a:r>
            <a:r>
              <a:rPr lang="en-US" altLang="zh-CN"/>
              <a:t>C</a:t>
            </a:r>
            <a:r>
              <a:rPr lang="zh-CN" altLang="en-US"/>
              <a:t>中查找折扣不是最高的顾客</a:t>
            </a:r>
            <a:r>
              <a:rPr lang="en-US" altLang="zh-CN"/>
              <a:t>c</a:t>
            </a:r>
            <a:r>
              <a:rPr lang="zh-CN" altLang="en-US"/>
              <a:t>，而关系</a:t>
            </a:r>
            <a:r>
              <a:rPr lang="en-US" altLang="zh-CN"/>
              <a:t>S</a:t>
            </a:r>
            <a:r>
              <a:rPr lang="zh-CN" altLang="en-US"/>
              <a:t>中顾客元组则是用来判断顾客</a:t>
            </a:r>
            <a:r>
              <a:rPr lang="en-US" altLang="zh-CN"/>
              <a:t>c</a:t>
            </a:r>
            <a:r>
              <a:rPr lang="zh-CN" altLang="en-US"/>
              <a:t>是不是</a:t>
            </a:r>
            <a:r>
              <a:rPr lang="en-US" altLang="zh-CN"/>
              <a:t>‘</a:t>
            </a:r>
            <a:r>
              <a:rPr lang="zh-CN" altLang="en-US"/>
              <a:t>折扣不是最高</a:t>
            </a:r>
            <a:r>
              <a:rPr lang="en-US" altLang="zh-CN"/>
              <a:t>’</a:t>
            </a:r>
            <a:r>
              <a:rPr lang="zh-CN" altLang="en-US"/>
              <a:t>。也就是说，对于一个给定的顾客</a:t>
            </a:r>
            <a:r>
              <a:rPr lang="en-US" altLang="zh-CN"/>
              <a:t>c</a:t>
            </a:r>
            <a:r>
              <a:rPr lang="zh-CN" altLang="en-US"/>
              <a:t>，我们在关系</a:t>
            </a:r>
            <a:r>
              <a:rPr lang="en-US" altLang="zh-CN"/>
              <a:t>S</a:t>
            </a:r>
            <a:r>
              <a:rPr lang="zh-CN" altLang="en-US"/>
              <a:t>中查找折扣比</a:t>
            </a:r>
            <a:r>
              <a:rPr lang="en-US" altLang="zh-CN"/>
              <a:t>c</a:t>
            </a:r>
            <a:r>
              <a:rPr lang="zh-CN" altLang="en-US"/>
              <a:t>高的顾客元组</a:t>
            </a:r>
            <a:r>
              <a:rPr lang="en-US" altLang="zh-CN"/>
              <a:t>s</a:t>
            </a:r>
            <a:r>
              <a:rPr lang="zh-CN" altLang="en-US"/>
              <a:t>，如果能够找到这样的元组，那么顾客</a:t>
            </a:r>
            <a:r>
              <a:rPr lang="en-US" altLang="zh-CN"/>
              <a:t>c</a:t>
            </a:r>
            <a:r>
              <a:rPr lang="zh-CN" altLang="en-US"/>
              <a:t>就是满足条件的（折扣不是最高）。</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因为要用到来自于两个关系中的元组并对他们的折扣进行比较，所以首先做这两个顾客关系</a:t>
            </a:r>
            <a:r>
              <a:rPr lang="en-US" altLang="zh-CN"/>
              <a:t>C</a:t>
            </a:r>
            <a:r>
              <a:rPr lang="zh-CN" altLang="en-US"/>
              <a:t>和</a:t>
            </a:r>
            <a:r>
              <a:rPr lang="en-US" altLang="zh-CN"/>
              <a:t>S</a:t>
            </a:r>
            <a:r>
              <a:rPr lang="zh-CN" altLang="en-US"/>
              <a:t>的合并（笛卡尔积），然后从中找出满足条件</a:t>
            </a:r>
            <a:r>
              <a:rPr lang="en-US" altLang="zh-CN"/>
              <a:t>‘c.discnt&lt;s.dincnt’</a:t>
            </a:r>
            <a:r>
              <a:rPr lang="zh-CN" altLang="en-US"/>
              <a:t>的中间结果元组。在这些中间结果元组上，</a:t>
            </a:r>
            <a:r>
              <a:rPr lang="en-US" altLang="zh-CN"/>
              <a:t>c</a:t>
            </a:r>
            <a:r>
              <a:rPr lang="zh-CN" altLang="en-US"/>
              <a:t>肯定是</a:t>
            </a:r>
            <a:r>
              <a:rPr lang="en-US" altLang="zh-CN"/>
              <a:t>‘</a:t>
            </a:r>
            <a:r>
              <a:rPr lang="zh-CN" altLang="en-US"/>
              <a:t>折扣不是最高</a:t>
            </a:r>
            <a:r>
              <a:rPr lang="en-US" altLang="zh-CN"/>
              <a:t>’</a:t>
            </a:r>
            <a:r>
              <a:rPr lang="zh-CN" altLang="en-US"/>
              <a:t>的顾客，但</a:t>
            </a:r>
            <a:r>
              <a:rPr lang="en-US" altLang="zh-CN"/>
              <a:t>S</a:t>
            </a:r>
            <a:r>
              <a:rPr lang="zh-CN" altLang="en-US"/>
              <a:t>是不是</a:t>
            </a:r>
            <a:r>
              <a:rPr lang="en-US" altLang="zh-CN"/>
              <a:t>‘</a:t>
            </a:r>
            <a:r>
              <a:rPr lang="zh-CN" altLang="en-US"/>
              <a:t>折扣最高</a:t>
            </a:r>
            <a:r>
              <a:rPr lang="en-US" altLang="zh-CN"/>
              <a:t>’</a:t>
            </a:r>
            <a:r>
              <a:rPr lang="zh-CN" altLang="en-US"/>
              <a:t>的顾客则无法确定（可能是折扣最高，但也可能不是最高。但是，</a:t>
            </a:r>
            <a:r>
              <a:rPr lang="en-US" altLang="zh-CN"/>
              <a:t>s</a:t>
            </a:r>
            <a:r>
              <a:rPr lang="zh-CN" altLang="en-US"/>
              <a:t>肯定也不是</a:t>
            </a:r>
            <a:r>
              <a:rPr lang="en-US" altLang="zh-CN"/>
              <a:t>‘</a:t>
            </a:r>
            <a:r>
              <a:rPr lang="zh-CN" altLang="en-US"/>
              <a:t>折扣最低</a:t>
            </a:r>
            <a:r>
              <a:rPr lang="en-US" altLang="zh-CN"/>
              <a:t>’</a:t>
            </a:r>
            <a:r>
              <a:rPr lang="zh-CN" altLang="en-US"/>
              <a:t>的顾客！）</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被划掉的是不满足选择条件的中间元组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被划掉的是不满足选择条件的中间元组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要点：</a:t>
            </a:r>
            <a:r>
              <a:rPr lang="en-US" altLang="zh-CN"/>
              <a:t>1</a:t>
            </a:r>
            <a:r>
              <a:rPr lang="zh-CN" altLang="en-US"/>
              <a:t>）使用减法运算；</a:t>
            </a:r>
            <a:r>
              <a:rPr lang="en-US" altLang="zh-CN"/>
              <a:t>2</a:t>
            </a:r>
            <a:r>
              <a:rPr lang="zh-CN" altLang="en-US"/>
              <a:t>）在步骤</a:t>
            </a:r>
            <a:r>
              <a:rPr lang="en-US" altLang="zh-CN"/>
              <a:t>2</a:t>
            </a:r>
            <a:r>
              <a:rPr lang="zh-CN" altLang="en-US"/>
              <a:t>中不能使用</a:t>
            </a:r>
            <a:r>
              <a:rPr lang="en-US" altLang="zh-CN"/>
              <a:t>‘</a:t>
            </a:r>
            <a:r>
              <a:rPr lang="en-US" altLang="zh-CN">
                <a:latin typeface="Arial" panose="020B0604020202020204" pitchFamily="34" charset="0"/>
              </a:rPr>
              <a:t>≤</a:t>
            </a:r>
            <a:r>
              <a:rPr lang="en-US" altLang="zh-CN"/>
              <a:t>’</a:t>
            </a:r>
            <a:r>
              <a:rPr lang="zh-CN" altLang="en-US"/>
              <a:t>比较。</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思考题</a:t>
            </a:r>
            <a:r>
              <a:rPr lang="zh-CN" altLang="en-US">
                <a:latin typeface="宋体" panose="02010600030101010101" pitchFamily="2" charset="-122"/>
              </a:rPr>
              <a:t>④在关系代数中无法表示</a:t>
            </a:r>
          </a:p>
          <a:p>
            <a:r>
              <a:rPr lang="zh-CN" altLang="en-US">
                <a:latin typeface="宋体" panose="02010600030101010101" pitchFamily="2" charset="-122"/>
              </a:rPr>
              <a:t>思考题</a:t>
            </a:r>
            <a:r>
              <a:rPr lang="zh-CN" altLang="en-US">
                <a:latin typeface="微软雅黑" panose="020B0503020204020204" charset="-122"/>
                <a:ea typeface="微软雅黑" panose="020B0503020204020204" charset="-122"/>
              </a:rPr>
              <a:t>⑤需要注意</a:t>
            </a:r>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减法</a:t>
            </a:r>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表达式的正确表示方法：相减的两个关系是否含目标对象的码属性？</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思考题</a:t>
            </a:r>
            <a:r>
              <a:rPr lang="zh-CN" altLang="en-US">
                <a:latin typeface="宋体" panose="02010600030101010101" pitchFamily="2" charset="-122"/>
              </a:rPr>
              <a:t>④在关系代数中无法表示</a:t>
            </a:r>
          </a:p>
          <a:p>
            <a:r>
              <a:rPr lang="zh-CN" altLang="en-US">
                <a:latin typeface="宋体" panose="02010600030101010101" pitchFamily="2" charset="-122"/>
              </a:rPr>
              <a:t>思考题</a:t>
            </a:r>
            <a:r>
              <a:rPr lang="zh-CN" altLang="en-US">
                <a:latin typeface="微软雅黑" panose="020B0503020204020204" charset="-122"/>
                <a:ea typeface="微软雅黑" panose="020B0503020204020204" charset="-122"/>
              </a:rPr>
              <a:t>⑤需要注意</a:t>
            </a:r>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减法</a:t>
            </a:r>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表达式的正确表示方法：相减的两个关系是否含目标对象的码属性？</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思考题</a:t>
            </a:r>
            <a:r>
              <a:rPr lang="zh-CN" altLang="en-US">
                <a:latin typeface="宋体" panose="02010600030101010101" pitchFamily="2" charset="-122"/>
              </a:rPr>
              <a:t>④在关系代数中无法表示</a:t>
            </a:r>
          </a:p>
          <a:p>
            <a:r>
              <a:rPr lang="zh-CN" altLang="en-US">
                <a:latin typeface="宋体" panose="02010600030101010101" pitchFamily="2" charset="-122"/>
              </a:rPr>
              <a:t>思考题</a:t>
            </a:r>
            <a:r>
              <a:rPr lang="zh-CN" altLang="en-US">
                <a:latin typeface="微软雅黑" panose="020B0503020204020204" charset="-122"/>
                <a:ea typeface="微软雅黑" panose="020B0503020204020204" charset="-122"/>
              </a:rPr>
              <a:t>⑤需要注意</a:t>
            </a:r>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减法</a:t>
            </a:r>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表达式的正确表示方法：相减的两个关系是否含目标对象的码属性？</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5" name="页脚占位符 4"/>
          <p:cNvSpPr>
            <a:spLocks noGrp="1"/>
          </p:cNvSpPr>
          <p:nvPr>
            <p:ph type="ftr" sz="quarter" idx="11"/>
          </p:nvPr>
        </p:nvSpPr>
        <p:spPr/>
        <p:txBody>
          <a:bodyPr/>
          <a:lstStyle/>
          <a:p>
            <a:r>
              <a:rPr lang="zh-CN" altLang="en-US"/>
              <a:t>ch02_2_关系代数基本运算</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a:t>单击此处编辑母版标题样式</a:t>
            </a:r>
          </a:p>
        </p:txBody>
      </p:sp>
      <p:sp>
        <p:nvSpPr>
          <p:cNvPr id="3" name="内容占位符 2"/>
          <p:cNvSpPr>
            <a:spLocks noGrp="1"/>
          </p:cNvSpPr>
          <p:nvPr>
            <p:ph idx="1"/>
          </p:nvPr>
        </p:nvSpPr>
        <p:spPr/>
        <p:txBody>
          <a:bodyPr/>
          <a:lstStyle>
            <a:lvl1pPr marL="341630" indent="-341630">
              <a:defRPr/>
            </a:lvl1pPr>
            <a:lvl2pPr marL="774065" indent="-316230">
              <a:defRPr/>
            </a:lvl2pPr>
            <a:lvl3pPr marL="1183005" indent="-267970">
              <a:defRPr/>
            </a:lvl3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p>
            <a:r>
              <a:rPr lang="zh-CN" altLang="en-US"/>
              <a:t>ch02_2_关系代数基本运算</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4815" y="615950"/>
            <a:ext cx="557974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615950"/>
            <a:ext cx="558863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1"/>
          </p:nvPr>
        </p:nvSpPr>
        <p:spPr/>
        <p:txBody>
          <a:bodyPr/>
          <a:lstStyle/>
          <a:p>
            <a:r>
              <a:rPr lang="zh-CN" altLang="en-US"/>
              <a:t>ch02_2_关系代数基本运算</a:t>
            </a:r>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a:t>单击此处编辑母版标题样式</a:t>
            </a:r>
          </a:p>
        </p:txBody>
      </p:sp>
      <p:sp>
        <p:nvSpPr>
          <p:cNvPr id="3" name="文本占位符 2"/>
          <p:cNvSpPr>
            <a:spLocks noGrp="1"/>
          </p:cNvSpPr>
          <p:nvPr>
            <p:ph type="body" idx="1"/>
          </p:nvPr>
        </p:nvSpPr>
        <p:spPr>
          <a:xfrm>
            <a:off x="424800" y="604203"/>
            <a:ext cx="5580000" cy="823912"/>
          </a:xfrm>
        </p:spPr>
        <p:txBody>
          <a:bodyPr anchor="b"/>
          <a:lstStyle>
            <a:lvl1pPr marL="0" indent="0">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24815" y="1428115"/>
            <a:ext cx="5579745" cy="518668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604520"/>
            <a:ext cx="5589270" cy="823595"/>
          </a:xfrm>
        </p:spPr>
        <p:txBody>
          <a:bodyPr anchor="b"/>
          <a:lstStyle>
            <a:lvl1pPr marL="0" indent="0">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428115"/>
            <a:ext cx="5589270" cy="518668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页脚占位符 7"/>
          <p:cNvSpPr>
            <a:spLocks noGrp="1"/>
          </p:cNvSpPr>
          <p:nvPr>
            <p:ph type="ftr" sz="quarter" idx="11"/>
          </p:nvPr>
        </p:nvSpPr>
        <p:spPr/>
        <p:txBody>
          <a:bodyPr/>
          <a:lstStyle/>
          <a:p>
            <a:r>
              <a:rPr lang="zh-CN" altLang="en-US"/>
              <a:t>ch02_2_关系代数基本运算</a:t>
            </a:r>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r>
              <a:rPr lang="zh-CN" altLang="en-US"/>
              <a:t>ch02_2_关系代数基本运算</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ch02_2_关系代数基本运算</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horz"/>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1"/>
            <p:custDataLst>
              <p:tags r:id="rId1"/>
            </p:custDataLst>
          </p:nvPr>
        </p:nvSpPr>
        <p:spPr/>
        <p:txBody>
          <a:bodyPr/>
          <a:lstStyle/>
          <a:p>
            <a:r>
              <a:rPr lang="zh-CN" altLang="en-US"/>
              <a:t>ch02_2_关系代数基本运算</a:t>
            </a:r>
          </a:p>
        </p:txBody>
      </p:sp>
      <p:sp>
        <p:nvSpPr>
          <p:cNvPr id="7" name="灯片编号占位符 6"/>
          <p:cNvSpPr>
            <a:spLocks noGrp="1"/>
          </p:cNvSpPr>
          <p:nvPr>
            <p:ph type="sldNum" sz="quarter" idx="12"/>
            <p:custDataLst>
              <p:tags r:id="rId2"/>
            </p:custDataLst>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11277600" cy="563563"/>
          </a:xfrm>
        </p:spPr>
        <p:txBody>
          <a:bodyPr/>
          <a:lstStyle/>
          <a:p>
            <a:r>
              <a:rPr lang="zh-CN" altLang="en-US"/>
              <a:t>单击此处编辑母版标题样式</a:t>
            </a:r>
          </a:p>
        </p:txBody>
      </p:sp>
      <p:sp>
        <p:nvSpPr>
          <p:cNvPr id="3" name="表格占位符 2"/>
          <p:cNvSpPr>
            <a:spLocks noGrp="1"/>
          </p:cNvSpPr>
          <p:nvPr>
            <p:ph type="tbl" idx="1" hasCustomPrompt="1"/>
          </p:nvPr>
        </p:nvSpPr>
        <p:spPr>
          <a:xfrm>
            <a:off x="609600" y="1152525"/>
            <a:ext cx="109728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4673600" y="6461125"/>
            <a:ext cx="2844800" cy="320675"/>
          </a:xfrm>
        </p:spPr>
        <p:txBody>
          <a:bodyPr/>
          <a:lstStyle>
            <a:lvl1pPr>
              <a:defRPr/>
            </a:lvl1pPr>
          </a:lstStyle>
          <a:p>
            <a:pPr>
              <a:defRPr/>
            </a:pPr>
            <a:fld id="{C03818A1-DA71-4308-9270-5CFC5CF6C754}" type="slidenum">
              <a:rPr lang="en-US" altLang="zh-CN" smtClean="0"/>
              <a:t>‹#›</a:t>
            </a:fld>
            <a:endParaRPr lang="en-US" altLang="zh-CN"/>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0"/>
            <a:ext cx="9855200" cy="563563"/>
          </a:xfrm>
        </p:spPr>
        <p:txBody>
          <a:bodyPr/>
          <a:lstStyle/>
          <a:p>
            <a:r>
              <a:rPr lang="zh-CN" altLang="en-US"/>
              <a:t>单击此处编辑母版标题样式</a:t>
            </a:r>
          </a:p>
        </p:txBody>
      </p:sp>
      <p:sp>
        <p:nvSpPr>
          <p:cNvPr id="3" name="内容占位符 2"/>
          <p:cNvSpPr>
            <a:spLocks noGrp="1"/>
          </p:cNvSpPr>
          <p:nvPr>
            <p:ph sz="half" idx="1"/>
          </p:nvPr>
        </p:nvSpPr>
        <p:spPr>
          <a:xfrm>
            <a:off x="609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828800"/>
            <a:ext cx="538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152900"/>
            <a:ext cx="538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p:cNvSpPr>
            <a:spLocks noGrp="1" noChangeArrowheads="1"/>
          </p:cNvSpPr>
          <p:nvPr>
            <p:ph type="dt" sz="half" idx="10"/>
          </p:nvPr>
        </p:nvSpPr>
        <p:spPr>
          <a:xfrm>
            <a:off x="609600" y="6400800"/>
            <a:ext cx="2844800" cy="320675"/>
          </a:xfrm>
          <a:prstGeom prst="rect">
            <a:avLst/>
          </a:prstGeom>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xfrm>
            <a:off x="6959600" y="6381750"/>
            <a:ext cx="4800600" cy="320675"/>
          </a:xfrm>
          <a:prstGeom prst="rect">
            <a:avLst/>
          </a:prstGeom>
        </p:spPr>
        <p:txBody>
          <a:bodyPr/>
          <a:lstStyle>
            <a:lvl1pPr>
              <a:defRPr/>
            </a:lvl1pPr>
          </a:lstStyle>
          <a:p>
            <a:pPr>
              <a:defRPr/>
            </a:pPr>
            <a:r>
              <a:rPr lang="en-US" altLang="zh-CN"/>
              <a:t>ch02_2_关系代数基本运算</a:t>
            </a:r>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0"/>
            <a:ext cx="98552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dt" sz="half" idx="10"/>
          </p:nvPr>
        </p:nvSpPr>
        <p:spPr>
          <a:xfrm>
            <a:off x="609600" y="6400800"/>
            <a:ext cx="2844800" cy="320675"/>
          </a:xfrm>
          <a:prstGeom prst="rect">
            <a:avLst/>
          </a:prstGeom>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xfrm>
            <a:off x="6959600" y="6381750"/>
            <a:ext cx="4800600" cy="320675"/>
          </a:xfrm>
          <a:prstGeom prst="rect">
            <a:avLst/>
          </a:prstGeom>
        </p:spPr>
        <p:txBody>
          <a:bodyPr/>
          <a:lstStyle>
            <a:lvl1pPr>
              <a:defRPr/>
            </a:lvl1pPr>
          </a:lstStyle>
          <a:p>
            <a:pPr>
              <a:defRPr/>
            </a:pPr>
            <a:r>
              <a:rPr lang="en-US" altLang="zh-CN"/>
              <a:t>ch02_2_关系代数基本运算</a:t>
            </a:r>
            <a:endParaRPr lang="en-US" altLang="zh-CN" dirty="0"/>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a:t>单击此处编辑母版标题样式</a:t>
            </a:r>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0" y="6696000"/>
            <a:ext cx="4114800" cy="152400"/>
          </a:xfrm>
          <a:prstGeom prst="rect">
            <a:avLst/>
          </a:prstGeom>
        </p:spPr>
        <p:txBody>
          <a:bodyPr vert="horz" lIns="91440" tIns="0" rIns="91440" bIns="0" rtlCol="0" anchor="ctr">
            <a:spAutoFit/>
          </a:bodyPr>
          <a:lstStyle>
            <a:lvl1pPr algn="l">
              <a:defRPr sz="1000" b="1" i="1">
                <a:solidFill>
                  <a:schemeClr val="tx1">
                    <a:tint val="75000"/>
                  </a:schemeClr>
                </a:solidFill>
                <a:latin typeface="楷体" panose="02010609060101010101" charset="-122"/>
                <a:ea typeface="楷体" panose="02010609060101010101" charset="-122"/>
              </a:defRPr>
            </a:lvl1pPr>
          </a:lstStyle>
          <a:p>
            <a:r>
              <a:rPr lang="zh-CN" altLang="en-US"/>
              <a:t>ch02_2_关系代数基本运算</a:t>
            </a:r>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1.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slideLayout" Target="../slideLayouts/slideLayout5.xml"/><Relationship Id="rId1" Type="http://schemas.openxmlformats.org/officeDocument/2006/relationships/tags" Target="../tags/tag11.xml"/><Relationship Id="rId6" Type="http://schemas.openxmlformats.org/officeDocument/2006/relationships/image" Target="../media/image9.wmf"/><Relationship Id="rId5" Type="http://schemas.openxmlformats.org/officeDocument/2006/relationships/oleObject" Target="../embeddings/oleObject1.bin"/><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7.png"/><Relationship Id="rId4" Type="http://schemas.openxmlformats.org/officeDocument/2006/relationships/tags" Target="../tags/tag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18.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2.xml"/><Relationship Id="rId5" Type="http://schemas.openxmlformats.org/officeDocument/2006/relationships/tags" Target="../tags/tag19.xml"/><Relationship Id="rId4" Type="http://schemas.openxmlformats.org/officeDocument/2006/relationships/tags" Target="../tags/tag18.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5.png"/><Relationship Id="rId5" Type="http://schemas.openxmlformats.org/officeDocument/2006/relationships/tags" Target="../tags/tag240.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34.png"/><Relationship Id="rId2" Type="http://schemas.openxmlformats.org/officeDocument/2006/relationships/tags" Target="../tags/tag28.xml"/><Relationship Id="rId1" Type="http://schemas.openxmlformats.org/officeDocument/2006/relationships/tags" Target="../tags/tag26.xml"/><Relationship Id="rId6" Type="http://schemas.openxmlformats.org/officeDocument/2006/relationships/image" Target="../media/image33.png"/><Relationship Id="rId5" Type="http://schemas.openxmlformats.org/officeDocument/2006/relationships/image" Target="../media/image45.png"/><Relationship Id="rId4"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tags" Target="../tags/tag35.xml"/><Relationship Id="rId7" Type="http://schemas.openxmlformats.org/officeDocument/2006/relationships/image" Target="../media/image77.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7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9.xml.rels><?xml version="1.0" encoding="UTF-8" standalone="yes"?>
<Relationships xmlns="http://schemas.openxmlformats.org/package/2006/relationships"><Relationship Id="rId8" Type="http://schemas.openxmlformats.org/officeDocument/2006/relationships/tags" Target="../tags/tag46.xml"/><Relationship Id="rId3" Type="http://schemas.openxmlformats.org/officeDocument/2006/relationships/tags" Target="../tags/tag41.xml"/><Relationship Id="rId7" Type="http://schemas.openxmlformats.org/officeDocument/2006/relationships/tags" Target="../tags/tag45.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9"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s>
</file>

<file path=ppt/slides/_rels/slide51.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slideLayout" Target="../slideLayouts/slideLayout5.xml"/><Relationship Id="rId1" Type="http://schemas.openxmlformats.org/officeDocument/2006/relationships/tags" Target="../tags/tag49.xml"/><Relationship Id="rId4" Type="http://schemas.openxmlformats.org/officeDocument/2006/relationships/image" Target="../media/image80.png"/></Relationships>
</file>

<file path=ppt/slides/_rels/slide52.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slideLayout" Target="../slideLayouts/slideLayout5.xml"/><Relationship Id="rId1" Type="http://schemas.openxmlformats.org/officeDocument/2006/relationships/tags" Target="../tags/tag50.xml"/><Relationship Id="rId4" Type="http://schemas.openxmlformats.org/officeDocument/2006/relationships/image" Target="../media/image81.png"/></Relationships>
</file>

<file path=ppt/slides/_rels/slide53.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4.png"/><Relationship Id="rId2" Type="http://schemas.openxmlformats.org/officeDocument/2006/relationships/slideLayout" Target="../slideLayouts/slideLayout5.xml"/><Relationship Id="rId1" Type="http://schemas.openxmlformats.org/officeDocument/2006/relationships/tags" Target="../tags/tag52.xml"/><Relationship Id="rId6" Type="http://schemas.openxmlformats.org/officeDocument/2006/relationships/image" Target="../media/image78.png"/><Relationship Id="rId5" Type="http://schemas.openxmlformats.org/officeDocument/2006/relationships/image" Target="../media/image83.png"/><Relationship Id="rId4" Type="http://schemas.openxmlformats.org/officeDocument/2006/relationships/tags" Target="../tags/tag55.xml"/></Relationships>
</file>

<file path=ppt/slides/_rels/slide54.xml.rels><?xml version="1.0" encoding="UTF-8" standalone="yes"?>
<Relationships xmlns="http://schemas.openxmlformats.org/package/2006/relationships"><Relationship Id="rId3" Type="http://schemas.openxmlformats.org/officeDocument/2006/relationships/tags" Target="../tags/tag57.xml"/><Relationship Id="rId7" Type="http://schemas.openxmlformats.org/officeDocument/2006/relationships/image" Target="../media/image89.png"/><Relationship Id="rId2" Type="http://schemas.openxmlformats.org/officeDocument/2006/relationships/slideLayout" Target="../slideLayouts/slideLayout5.xml"/><Relationship Id="rId1" Type="http://schemas.openxmlformats.org/officeDocument/2006/relationships/tags" Target="../tags/tag54.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5.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90.png"/><Relationship Id="rId7" Type="http://schemas.openxmlformats.org/officeDocument/2006/relationships/image" Target="../media/image85.png"/><Relationship Id="rId2" Type="http://schemas.openxmlformats.org/officeDocument/2006/relationships/slideLayout" Target="../slideLayouts/slideLayout5.xml"/><Relationship Id="rId1" Type="http://schemas.openxmlformats.org/officeDocument/2006/relationships/tags" Target="../tags/tag56.xml"/><Relationship Id="rId6" Type="http://schemas.openxmlformats.org/officeDocument/2006/relationships/image" Target="../media/image92.png"/><Relationship Id="rId5" Type="http://schemas.openxmlformats.org/officeDocument/2006/relationships/tags" Target="../tags/tag59.xml"/><Relationship Id="rId4" Type="http://schemas.openxmlformats.org/officeDocument/2006/relationships/image" Target="../media/image91.png"/></Relationships>
</file>

<file path=ppt/slides/_rels/slide56.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slideLayout" Target="../slideLayouts/slideLayout5.xml"/><Relationship Id="rId1" Type="http://schemas.openxmlformats.org/officeDocument/2006/relationships/tags" Target="../tags/tag58.xml"/><Relationship Id="rId4" Type="http://schemas.openxmlformats.org/officeDocument/2006/relationships/image" Target="../media/image95.png"/></Relationships>
</file>

<file path=ppt/slides/_rels/slide5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image" Target="../media/image97.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4" Type="http://schemas.openxmlformats.org/officeDocument/2006/relationships/image" Target="../media/image9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6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6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94.png"/><Relationship Id="rId7" Type="http://schemas.openxmlformats.org/officeDocument/2006/relationships/image" Target="../media/image113.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11.png"/><Relationship Id="rId4" Type="http://schemas.openxmlformats.org/officeDocument/2006/relationships/image" Target="../media/image110.png"/></Relationships>
</file>

<file path=ppt/slides/_rels/slide6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0.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15.png"/><Relationship Id="rId9" Type="http://schemas.openxmlformats.org/officeDocument/2006/relationships/image" Target="../media/image114.png"/></Relationships>
</file>

<file path=ppt/slides/_rels/slide6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71.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22.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7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28.png"/></Relationships>
</file>

<file path=ppt/slides/_rels/slide7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30.png"/><Relationship Id="rId4" Type="http://schemas.openxmlformats.org/officeDocument/2006/relationships/image" Target="../media/image132.png"/></Relationships>
</file>

<file path=ppt/slides/_rels/slide7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36.png"/><Relationship Id="rId2" Type="http://schemas.openxmlformats.org/officeDocument/2006/relationships/slideLayout" Target="../slideLayouts/slideLayout2.xml"/><Relationship Id="rId1" Type="http://schemas.openxmlformats.org/officeDocument/2006/relationships/tags" Target="../tags/tag67.xml"/><Relationship Id="rId6" Type="http://schemas.openxmlformats.org/officeDocument/2006/relationships/image" Target="../media/image130.png"/><Relationship Id="rId5" Type="http://schemas.openxmlformats.org/officeDocument/2006/relationships/image" Target="../media/image135.png"/><Relationship Id="rId4" Type="http://schemas.openxmlformats.org/officeDocument/2006/relationships/image" Target="../media/image134.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80.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slideLayout" Target="../slideLayouts/slideLayout5.xml"/><Relationship Id="rId1" Type="http://schemas.openxmlformats.org/officeDocument/2006/relationships/tags" Target="../tags/tag69.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70.xml"/><Relationship Id="rId4" Type="http://schemas.openxmlformats.org/officeDocument/2006/relationships/image" Target="../media/image138.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2.xml"/><Relationship Id="rId1" Type="http://schemas.openxmlformats.org/officeDocument/2006/relationships/tags" Target="../tags/tag71.xml"/><Relationship Id="rId4" Type="http://schemas.openxmlformats.org/officeDocument/2006/relationships/image" Target="../media/image139.png"/></Relationships>
</file>

<file path=ppt/slides/_rels/slide83.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41.png"/><Relationship Id="rId5" Type="http://schemas.openxmlformats.org/officeDocument/2006/relationships/image" Target="../media/image139.png"/><Relationship Id="rId4"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slideLayout" Target="../slideLayouts/slideLayout5.xml"/><Relationship Id="rId1" Type="http://schemas.openxmlformats.org/officeDocument/2006/relationships/tags" Target="../tags/tag79.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142.png"/></Relationships>
</file>

<file path=ppt/slides/_rels/slide8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8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9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slideLayout" Target="../slideLayouts/slideLayout5.xml"/><Relationship Id="rId1" Type="http://schemas.openxmlformats.org/officeDocument/2006/relationships/tags" Target="../tags/tag81.xml"/><Relationship Id="rId4"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7"/>
          <a:stretch>
            <a:fillRect/>
          </a:stretch>
        </a:blipFill>
        <a:effectLst/>
      </p:bgPr>
    </p:bg>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lstStyle/>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a:t>
            </a:r>
            <a:r>
              <a:rPr kumimoji="1" lang="en-US" altLang="zh-CN" sz="20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6</a:t>
            </a:r>
            <a:r>
              <a:rPr kumimoji="1" lang="zh-CN" altLang="en-US" sz="20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 </a:t>
            </a: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春季）</a:t>
            </a:r>
          </a:p>
        </p:txBody>
      </p:sp>
      <p:sp>
        <p:nvSpPr>
          <p:cNvPr id="8" name="文本框 7"/>
          <p:cNvSpPr txBox="1"/>
          <p:nvPr>
            <p:custDataLst>
              <p:tags r:id="rId3"/>
            </p:custDataLst>
          </p:nvPr>
        </p:nvSpPr>
        <p:spPr>
          <a:xfrm>
            <a:off x="2484000" y="1924685"/>
            <a:ext cx="7228840" cy="1014730"/>
          </a:xfrm>
          <a:prstGeom prst="rect">
            <a:avLst/>
          </a:prstGeom>
          <a:noFill/>
        </p:spPr>
        <p:txBody>
          <a:bodyPr wrap="square" rtlCol="0">
            <a:spAutoFit/>
          </a:bodyPr>
          <a:lstStyle/>
          <a:p>
            <a:pPr algn="dist"/>
            <a:r>
              <a:rPr lang="zh-CN" altLang="en-US"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第2章  关系数据库</a:t>
            </a:r>
          </a:p>
        </p:txBody>
      </p:sp>
      <p:sp>
        <p:nvSpPr>
          <p:cNvPr id="12" name="矩形 11"/>
          <p:cNvSpPr/>
          <p:nvPr>
            <p:custDataLst>
              <p:tags r:id="rId4"/>
            </p:custDataLst>
          </p:nvPr>
        </p:nvSpPr>
        <p:spPr>
          <a:xfrm>
            <a:off x="2511425" y="3335655"/>
            <a:ext cx="7144385" cy="1271270"/>
          </a:xfrm>
          <a:prstGeom prst="rect">
            <a:avLst/>
          </a:prstGeom>
        </p:spPr>
        <p:txBody>
          <a:bodyPr wrap="square">
            <a:spAutoFit/>
          </a:bodyPr>
          <a:lstStyle/>
          <a:p>
            <a:pPr algn="ctr"/>
            <a:r>
              <a:rPr lang="en-US" altLang="zh-CN" sz="32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2.4  </a:t>
            </a:r>
            <a:r>
              <a:rPr lang="zh-CN" altLang="en-US" sz="32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关系代数</a:t>
            </a:r>
            <a:endParaRPr lang="en-US" altLang="zh-CN" sz="32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endParaRPr>
          </a:p>
          <a:p>
            <a:pPr algn="ctr">
              <a:lnSpc>
                <a:spcPct val="100000"/>
              </a:lnSpc>
              <a:spcBef>
                <a:spcPts val="2000"/>
              </a:spcBef>
              <a:spcAft>
                <a:spcPts val="0"/>
              </a:spcAft>
            </a:pPr>
            <a:r>
              <a:rPr lang="zh-CN" altLang="en-US" sz="28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rPr>
              <a:t>（基本运算）</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课件内容</a:t>
            </a:r>
          </a:p>
        </p:txBody>
      </p:sp>
      <p:sp>
        <p:nvSpPr>
          <p:cNvPr id="3" name="内容占位符 2"/>
          <p:cNvSpPr>
            <a:spLocks noGrp="1"/>
          </p:cNvSpPr>
          <p:nvPr>
            <p:ph idx="1"/>
          </p:nvPr>
        </p:nvSpPr>
        <p:spPr/>
        <p:txBody>
          <a:bodyPr/>
          <a:lstStyle/>
          <a:p>
            <a:pPr marL="571500" indent="-571500">
              <a:lnSpc>
                <a:spcPct val="150000"/>
              </a:lnSpc>
              <a:buFont typeface="+mj-ea"/>
              <a:buAutoNum type="ea1JpnChsDbPeriod"/>
            </a:pPr>
            <a:r>
              <a:rPr lang="zh-CN" altLang="en-US"/>
              <a:t>导入：关系代数概述</a:t>
            </a:r>
          </a:p>
          <a:p>
            <a:pPr marL="571500" indent="-571500">
              <a:lnSpc>
                <a:spcPct val="150000"/>
              </a:lnSpc>
              <a:buFont typeface="+mj-ea"/>
              <a:buAutoNum type="ea1JpnChsDbPeriod"/>
            </a:pPr>
            <a:r>
              <a:rPr lang="zh-CN" altLang="en-US"/>
              <a:t>关系代数的基本运算</a:t>
            </a:r>
          </a:p>
          <a:p>
            <a:pPr marL="571500" indent="-571500">
              <a:lnSpc>
                <a:spcPct val="150000"/>
              </a:lnSpc>
              <a:buFont typeface="+mj-ea"/>
              <a:buAutoNum type="ea1JpnChsDbPeriod"/>
            </a:pPr>
            <a:r>
              <a:rPr lang="zh-CN" altLang="en-US">
                <a:sym typeface="+mn-ea"/>
              </a:rPr>
              <a:t>关系代数</a:t>
            </a:r>
            <a:r>
              <a:rPr lang="zh-CN" altLang="en-US"/>
              <a:t>基本运算的应用</a:t>
            </a:r>
          </a:p>
          <a:p>
            <a:pPr marL="571500" indent="-571500">
              <a:lnSpc>
                <a:spcPct val="150000"/>
              </a:lnSpc>
              <a:buFont typeface="+mj-ea"/>
              <a:buAutoNum type="ea1JpnChsDbPeriod"/>
            </a:pPr>
            <a:r>
              <a:rPr lang="zh-CN" altLang="en-US"/>
              <a:t>基本运算小结</a:t>
            </a:r>
          </a:p>
        </p:txBody>
      </p:sp>
      <p:sp>
        <p:nvSpPr>
          <p:cNvPr id="4" name="页脚占位符 3"/>
          <p:cNvSpPr>
            <a:spLocks noGrp="1"/>
          </p:cNvSpPr>
          <p:nvPr>
            <p:ph type="ftr" sz="quarter" idx="11"/>
          </p:nvPr>
        </p:nvSpPr>
        <p:spPr/>
        <p:txBody>
          <a:bodyPr/>
          <a:lstStyle/>
          <a:p>
            <a:r>
              <a:rPr lang="zh-CN" altLang="en-US"/>
              <a:t>ch02_2_关系代数基本运算</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2</a:t>
            </a:fld>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mj-ea"/>
              <a:buAutoNum type="ea1JpnChsDbPeriod"/>
            </a:pPr>
            <a:r>
              <a:rPr lang="zh-CN" altLang="en-US"/>
              <a:t>关系代数概述</a:t>
            </a:r>
          </a:p>
        </p:txBody>
      </p:sp>
      <p:sp>
        <p:nvSpPr>
          <p:cNvPr id="3" name="内容占位符 2"/>
          <p:cNvSpPr>
            <a:spLocks noGrp="1"/>
          </p:cNvSpPr>
          <p:nvPr>
            <p:ph idx="1"/>
          </p:nvPr>
        </p:nvSpPr>
        <p:spPr/>
        <p:txBody>
          <a:bodyPr/>
          <a:lstStyle/>
          <a:p>
            <a:pPr>
              <a:lnSpc>
                <a:spcPct val="150000"/>
              </a:lnSpc>
            </a:pPr>
            <a:r>
              <a:rPr lang="zh-CN" altLang="en-US"/>
              <a:t>关系代数</a:t>
            </a:r>
          </a:p>
          <a:p>
            <a:pPr>
              <a:lnSpc>
                <a:spcPct val="150000"/>
              </a:lnSpc>
            </a:pPr>
            <a:r>
              <a:rPr lang="zh-CN" altLang="en-US"/>
              <a:t>关系操作</a:t>
            </a:r>
            <a:r>
              <a:rPr lang="en-US" altLang="zh-CN"/>
              <a:t> </a:t>
            </a:r>
            <a:r>
              <a:rPr lang="zh-CN" altLang="en-US"/>
              <a:t>与</a:t>
            </a:r>
            <a:r>
              <a:rPr lang="en-US" altLang="zh-CN"/>
              <a:t> </a:t>
            </a:r>
            <a:r>
              <a:rPr lang="zh-CN" altLang="en-US"/>
              <a:t>关系运算</a:t>
            </a:r>
          </a:p>
          <a:p>
            <a:pPr lvl="1">
              <a:lnSpc>
                <a:spcPct val="150000"/>
              </a:lnSpc>
            </a:pPr>
            <a:r>
              <a:rPr lang="zh-CN" altLang="en-US"/>
              <a:t>集合运算</a:t>
            </a:r>
            <a:r>
              <a:rPr lang="en-US" altLang="zh-CN"/>
              <a:t> </a:t>
            </a:r>
            <a:r>
              <a:rPr lang="zh-CN" altLang="en-US"/>
              <a:t>与</a:t>
            </a:r>
            <a:r>
              <a:rPr lang="en-US" altLang="zh-CN"/>
              <a:t> </a:t>
            </a:r>
            <a:r>
              <a:rPr lang="zh-CN" altLang="en-US"/>
              <a:t>专门的关系运算</a:t>
            </a:r>
          </a:p>
          <a:p>
            <a:pPr lvl="1">
              <a:lnSpc>
                <a:spcPct val="150000"/>
              </a:lnSpc>
            </a:pPr>
            <a:r>
              <a:rPr lang="zh-CN" altLang="en-US"/>
              <a:t>基本运算</a:t>
            </a:r>
            <a:r>
              <a:rPr lang="en-US" altLang="zh-CN"/>
              <a:t> </a:t>
            </a:r>
            <a:r>
              <a:rPr lang="zh-CN" altLang="en-US"/>
              <a:t>与</a:t>
            </a:r>
            <a:r>
              <a:rPr lang="en-US" altLang="zh-CN"/>
              <a:t> </a:t>
            </a:r>
            <a:r>
              <a:rPr lang="zh-CN" altLang="en-US"/>
              <a:t>扩充运算</a:t>
            </a:r>
          </a:p>
          <a:p>
            <a:pPr>
              <a:lnSpc>
                <a:spcPct val="150000"/>
              </a:lnSpc>
            </a:pPr>
            <a:r>
              <a:rPr lang="zh-CN" altLang="en-US"/>
              <a:t>使用的记号</a:t>
            </a:r>
          </a:p>
          <a:p>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3</a:t>
            </a:fld>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dirty="0"/>
              <a:t>关系代数</a:t>
            </a:r>
            <a:r>
              <a:rPr lang="en-US" altLang="zh-CN" dirty="0"/>
              <a:t>  1</a:t>
            </a:r>
          </a:p>
        </p:txBody>
      </p:sp>
      <p:sp>
        <p:nvSpPr>
          <p:cNvPr id="66563" name="内容占位符 2"/>
          <p:cNvSpPr>
            <a:spLocks noGrp="1"/>
          </p:cNvSpPr>
          <p:nvPr>
            <p:ph idx="1"/>
          </p:nvPr>
        </p:nvSpPr>
        <p:spPr/>
        <p:txBody>
          <a:bodyPr>
            <a:noAutofit/>
          </a:bodyPr>
          <a:lstStyle/>
          <a:p>
            <a:pPr>
              <a:lnSpc>
                <a:spcPct val="100000"/>
              </a:lnSpc>
              <a:spcBef>
                <a:spcPts val="0"/>
              </a:spcBef>
              <a:spcAft>
                <a:spcPts val="0"/>
              </a:spcAft>
            </a:pPr>
            <a:r>
              <a:rPr lang="zh-CN" altLang="zh-CN" sz="2800" dirty="0">
                <a:solidFill>
                  <a:srgbClr val="C00000"/>
                </a:solidFill>
                <a:latin typeface="Calibri" panose="020F0502020204030204" charset="0"/>
                <a:cs typeface="Calibri" panose="020F0502020204030204" charset="0"/>
              </a:rPr>
              <a:t>关系代数</a:t>
            </a:r>
          </a:p>
          <a:p>
            <a:pPr lvl="1">
              <a:lnSpc>
                <a:spcPct val="100000"/>
              </a:lnSpc>
              <a:spcBef>
                <a:spcPts val="600"/>
              </a:spcBef>
              <a:spcAft>
                <a:spcPts val="0"/>
              </a:spcAft>
            </a:pPr>
            <a:r>
              <a:rPr lang="zh-CN" altLang="zh-CN" sz="2800" dirty="0">
                <a:latin typeface="Calibri" panose="020F0502020204030204" charset="0"/>
                <a:cs typeface="Calibri" panose="020F0502020204030204" charset="0"/>
              </a:rPr>
              <a:t>是一种抽象的查询语言，它用关系运算来表达对关系的操作。</a:t>
            </a:r>
          </a:p>
          <a:p>
            <a:pPr lvl="1">
              <a:lnSpc>
                <a:spcPct val="100000"/>
              </a:lnSpc>
              <a:spcBef>
                <a:spcPts val="600"/>
              </a:spcBef>
              <a:spcAft>
                <a:spcPts val="0"/>
              </a:spcAft>
            </a:pPr>
            <a:r>
              <a:rPr lang="zh-CN" altLang="zh-CN" sz="2800" dirty="0">
                <a:latin typeface="Calibri" panose="020F0502020204030204" charset="0"/>
                <a:cs typeface="Calibri" panose="020F0502020204030204" charset="0"/>
              </a:rPr>
              <a:t>在关系代数中，运算对象是</a:t>
            </a:r>
            <a:r>
              <a:rPr lang="en-US" altLang="zh-CN" sz="2800" dirty="0">
                <a:latin typeface="Calibri" panose="020F0502020204030204" charset="0"/>
                <a:cs typeface="Calibri" panose="020F0502020204030204" charset="0"/>
              </a:rPr>
              <a:t>‘</a:t>
            </a:r>
            <a:r>
              <a:rPr lang="zh-CN" altLang="zh-CN" sz="2800" dirty="0">
                <a:latin typeface="Calibri" panose="020F0502020204030204" charset="0"/>
                <a:cs typeface="Calibri" panose="020F0502020204030204" charset="0"/>
              </a:rPr>
              <a:t>关系</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a:t>
            </a:r>
            <a:r>
              <a:rPr lang="zh-CN" altLang="zh-CN" sz="2800" dirty="0">
                <a:latin typeface="Calibri" panose="020F0502020204030204" charset="0"/>
                <a:cs typeface="Calibri" panose="020F0502020204030204" charset="0"/>
              </a:rPr>
              <a:t>运算结果亦为</a:t>
            </a:r>
            <a:r>
              <a:rPr lang="en-US" altLang="zh-CN" sz="2800" dirty="0">
                <a:latin typeface="Calibri" panose="020F0502020204030204" charset="0"/>
                <a:cs typeface="Calibri" panose="020F0502020204030204" charset="0"/>
              </a:rPr>
              <a:t>‘</a:t>
            </a:r>
            <a:r>
              <a:rPr lang="zh-CN" altLang="zh-CN" sz="2800" dirty="0">
                <a:latin typeface="Calibri" panose="020F0502020204030204" charset="0"/>
                <a:cs typeface="Calibri" panose="020F0502020204030204" charset="0"/>
              </a:rPr>
              <a:t>关系</a:t>
            </a:r>
            <a:r>
              <a:rPr lang="en-US" altLang="zh-CN" sz="2800" dirty="0">
                <a:latin typeface="Calibri" panose="020F0502020204030204" charset="0"/>
                <a:cs typeface="Calibri" panose="020F0502020204030204" charset="0"/>
              </a:rPr>
              <a:t>’</a:t>
            </a:r>
            <a:endParaRPr lang="zh-CN" altLang="zh-CN" sz="2800" dirty="0">
              <a:latin typeface="Calibri" panose="020F0502020204030204" charset="0"/>
              <a:cs typeface="Calibri" panose="020F0502020204030204" charset="0"/>
            </a:endParaRPr>
          </a:p>
          <a:p>
            <a:pPr lvl="0">
              <a:lnSpc>
                <a:spcPct val="100000"/>
              </a:lnSpc>
              <a:spcBef>
                <a:spcPts val="2000"/>
              </a:spcBef>
              <a:spcAft>
                <a:spcPts val="0"/>
              </a:spcAft>
            </a:pPr>
            <a:r>
              <a:rPr lang="zh-CN" altLang="zh-CN" sz="2800" dirty="0">
                <a:latin typeface="Calibri" panose="020F0502020204030204" charset="0"/>
                <a:cs typeface="Calibri" panose="020F0502020204030204" charset="0"/>
              </a:rPr>
              <a:t>关系代数的运算符</a:t>
            </a:r>
            <a:r>
              <a:rPr lang="zh-CN" altLang="en-US" sz="2800" dirty="0">
                <a:latin typeface="Calibri" panose="020F0502020204030204" charset="0"/>
                <a:cs typeface="Calibri" panose="020F0502020204030204" charset="0"/>
              </a:rPr>
              <a:t>有</a:t>
            </a:r>
            <a:r>
              <a:rPr lang="zh-CN" altLang="zh-CN" sz="2800" dirty="0">
                <a:latin typeface="Calibri" panose="020F0502020204030204" charset="0"/>
                <a:cs typeface="Calibri" panose="020F0502020204030204" charset="0"/>
              </a:rPr>
              <a:t>两类：</a:t>
            </a:r>
            <a:r>
              <a:rPr lang="zh-CN" altLang="zh-CN" sz="2800" dirty="0">
                <a:solidFill>
                  <a:srgbClr val="FF0000"/>
                </a:solidFill>
                <a:latin typeface="Calibri" panose="020F0502020204030204" charset="0"/>
                <a:cs typeface="Calibri" panose="020F0502020204030204" charset="0"/>
              </a:rPr>
              <a:t>集合运算符</a:t>
            </a:r>
            <a:r>
              <a:rPr lang="en-US" altLang="zh-CN" sz="2800" dirty="0">
                <a:solidFill>
                  <a:srgbClr val="FF0000"/>
                </a:solidFill>
                <a:latin typeface="Calibri" panose="020F0502020204030204" charset="0"/>
                <a:cs typeface="Calibri" panose="020F0502020204030204" charset="0"/>
              </a:rPr>
              <a:t> </a:t>
            </a:r>
            <a:r>
              <a:rPr lang="zh-CN" altLang="zh-CN" sz="2800" dirty="0">
                <a:latin typeface="Calibri" panose="020F0502020204030204" charset="0"/>
                <a:cs typeface="Calibri" panose="020F0502020204030204" charset="0"/>
              </a:rPr>
              <a:t>和</a:t>
            </a:r>
            <a:r>
              <a:rPr lang="en-US" altLang="zh-CN" sz="2800" dirty="0">
                <a:latin typeface="Calibri" panose="020F0502020204030204" charset="0"/>
                <a:cs typeface="Calibri" panose="020F0502020204030204" charset="0"/>
              </a:rPr>
              <a:t> </a:t>
            </a:r>
            <a:r>
              <a:rPr lang="zh-CN" altLang="zh-CN" sz="2800" dirty="0">
                <a:solidFill>
                  <a:srgbClr val="FF0000"/>
                </a:solidFill>
                <a:latin typeface="Calibri" panose="020F0502020204030204" charset="0"/>
                <a:cs typeface="Calibri" panose="020F0502020204030204" charset="0"/>
              </a:rPr>
              <a:t>专门的关系运算符</a:t>
            </a:r>
            <a:endParaRPr lang="en-US" altLang="zh-CN" sz="2800" dirty="0">
              <a:latin typeface="Calibri" panose="020F0502020204030204" charset="0"/>
              <a:cs typeface="Calibri" panose="020F0502020204030204" charset="0"/>
            </a:endParaRPr>
          </a:p>
          <a:p>
            <a:pPr lvl="1">
              <a:lnSpc>
                <a:spcPct val="100000"/>
              </a:lnSpc>
              <a:spcBef>
                <a:spcPts val="600"/>
              </a:spcBef>
              <a:spcAft>
                <a:spcPts val="0"/>
              </a:spcAft>
            </a:pPr>
            <a:r>
              <a:rPr lang="zh-CN" altLang="en-US" sz="2800" dirty="0">
                <a:latin typeface="Calibri" panose="020F0502020204030204" charset="0"/>
                <a:cs typeface="Calibri" panose="020F0502020204030204" charset="0"/>
              </a:rPr>
              <a:t>传统的</a:t>
            </a:r>
            <a:r>
              <a:rPr lang="zh-CN" altLang="zh-CN" sz="2800" dirty="0">
                <a:latin typeface="Calibri" panose="020F0502020204030204" charset="0"/>
                <a:cs typeface="Calibri" panose="020F0502020204030204" charset="0"/>
              </a:rPr>
              <a:t>集合运算是从关系的“水平”方向</a:t>
            </a:r>
            <a:r>
              <a:rPr lang="zh-CN" altLang="en-US" sz="2800" dirty="0">
                <a:latin typeface="Calibri" panose="020F0502020204030204" charset="0"/>
                <a:cs typeface="Calibri" panose="020F0502020204030204" charset="0"/>
              </a:rPr>
              <a:t>，</a:t>
            </a:r>
            <a:r>
              <a:rPr lang="zh-CN" altLang="zh-CN" sz="2800" dirty="0">
                <a:latin typeface="Calibri" panose="020F0502020204030204" charset="0"/>
                <a:cs typeface="Calibri" panose="020F0502020204030204" charset="0"/>
              </a:rPr>
              <a:t>即行的角度进行</a:t>
            </a:r>
            <a:endParaRPr lang="en-US" altLang="zh-CN" sz="2800" dirty="0">
              <a:latin typeface="Calibri" panose="020F0502020204030204" charset="0"/>
              <a:cs typeface="Calibri" panose="020F0502020204030204" charset="0"/>
            </a:endParaRPr>
          </a:p>
          <a:p>
            <a:pPr lvl="1">
              <a:lnSpc>
                <a:spcPct val="100000"/>
              </a:lnSpc>
              <a:spcBef>
                <a:spcPts val="600"/>
              </a:spcBef>
              <a:spcAft>
                <a:spcPts val="0"/>
              </a:spcAft>
            </a:pPr>
            <a:r>
              <a:rPr lang="zh-CN" altLang="zh-CN" sz="2800" dirty="0">
                <a:latin typeface="Calibri" panose="020F0502020204030204" charset="0"/>
                <a:cs typeface="Calibri" panose="020F0502020204030204" charset="0"/>
              </a:rPr>
              <a:t>专门的关系运算不仅涉及行而且涉及列</a:t>
            </a:r>
          </a:p>
          <a:p>
            <a:pPr lvl="0">
              <a:lnSpc>
                <a:spcPct val="100000"/>
              </a:lnSpc>
              <a:spcBef>
                <a:spcPts val="2000"/>
              </a:spcBef>
              <a:spcAft>
                <a:spcPts val="0"/>
              </a:spcAft>
            </a:pPr>
            <a:r>
              <a:rPr lang="zh-CN" altLang="en-US" sz="2800" dirty="0">
                <a:solidFill>
                  <a:srgbClr val="C00000"/>
                </a:solidFill>
                <a:latin typeface="Calibri" panose="020F0502020204030204" charset="0"/>
                <a:cs typeface="Calibri" panose="020F0502020204030204" charset="0"/>
              </a:rPr>
              <a:t>关系代数表达式</a:t>
            </a:r>
            <a:endParaRPr lang="zh-CN" altLang="en-US" sz="2800" dirty="0">
              <a:latin typeface="Calibri" panose="020F0502020204030204" charset="0"/>
              <a:cs typeface="Calibri" panose="020F0502020204030204" charset="0"/>
            </a:endParaRPr>
          </a:p>
          <a:p>
            <a:pPr lvl="1">
              <a:lnSpc>
                <a:spcPct val="100000"/>
              </a:lnSpc>
              <a:spcBef>
                <a:spcPts val="600"/>
              </a:spcBef>
              <a:spcAft>
                <a:spcPts val="0"/>
              </a:spcAft>
            </a:pPr>
            <a:r>
              <a:rPr lang="zh-CN" altLang="en-US" sz="2800" dirty="0">
                <a:latin typeface="Calibri" panose="020F0502020204030204" charset="0"/>
                <a:cs typeface="Calibri" panose="020F0502020204030204" charset="0"/>
              </a:rPr>
              <a:t>以关系为运算对象，使用关系运算经有限次复合后形成的表达式称为</a:t>
            </a:r>
            <a:r>
              <a:rPr lang="en-US" altLang="zh-CN" sz="2800" dirty="0">
                <a:latin typeface="Calibri" panose="020F0502020204030204" charset="0"/>
                <a:cs typeface="Calibri" panose="020F0502020204030204" charset="0"/>
              </a:rPr>
              <a:t> ‘</a:t>
            </a:r>
            <a:r>
              <a:rPr lang="zh-CN" altLang="en-US" sz="2800" dirty="0">
                <a:latin typeface="Calibri" panose="020F0502020204030204" charset="0"/>
                <a:cs typeface="Calibri" panose="020F0502020204030204" charset="0"/>
              </a:rPr>
              <a:t>关系代数表达式</a:t>
            </a:r>
            <a:r>
              <a:rPr lang="en-US" altLang="zh-CN" sz="2800" dirty="0">
                <a:latin typeface="Calibri" panose="020F0502020204030204" charset="0"/>
                <a:cs typeface="Calibri" panose="020F0502020204030204" charset="0"/>
              </a:rPr>
              <a:t>’</a:t>
            </a:r>
          </a:p>
          <a:p>
            <a:pPr lvl="1">
              <a:lnSpc>
                <a:spcPct val="100000"/>
              </a:lnSpc>
              <a:spcBef>
                <a:spcPts val="600"/>
              </a:spcBef>
              <a:spcAft>
                <a:spcPts val="0"/>
              </a:spcAft>
            </a:pPr>
            <a:r>
              <a:rPr lang="zh-CN" altLang="en-US" sz="2800" dirty="0">
                <a:latin typeface="Calibri" panose="020F0502020204030204" charset="0"/>
                <a:cs typeface="Calibri" panose="020F0502020204030204" charset="0"/>
              </a:rPr>
              <a:t>可以用关系代数表达式来表示关系模型上的数据操纵（包括数据查询、数据插入、删除和修改操作）</a:t>
            </a:r>
          </a:p>
        </p:txBody>
      </p:sp>
      <p:sp>
        <p:nvSpPr>
          <p:cNvPr id="2" name="灯片编号占位符 1"/>
          <p:cNvSpPr>
            <a:spLocks noGrp="1"/>
          </p:cNvSpPr>
          <p:nvPr>
            <p:ph type="sldNum" sz="quarter" idx="12"/>
          </p:nvPr>
        </p:nvSpPr>
        <p:spPr>
          <a:xfrm>
            <a:off x="11461115" y="6696000"/>
            <a:ext cx="730885" cy="153670"/>
          </a:xfrm>
        </p:spPr>
        <p:txBody>
          <a:bodyPr/>
          <a:lstStyle/>
          <a:p>
            <a:fld id="{565CE74E-AB26-4998-AD42-012C4C1AD076}" type="slidenum">
              <a:rPr lang="zh-CN" altLang="en-US" smtClean="0"/>
              <a:t>4</a:t>
            </a:fld>
            <a:endParaRPr lang="zh-CN" altLang="en-US"/>
          </a:p>
        </p:txBody>
      </p:sp>
      <p:sp>
        <p:nvSpPr>
          <p:cNvPr id="3" name="页脚占位符 2"/>
          <p:cNvSpPr>
            <a:spLocks noGrp="1"/>
          </p:cNvSpPr>
          <p:nvPr>
            <p:ph type="ftr" sz="quarter" idx="11"/>
          </p:nvPr>
        </p:nvSpPr>
        <p:spPr>
          <a:xfrm>
            <a:off x="0" y="6695365"/>
            <a:ext cx="4114800" cy="153670"/>
          </a:xfrm>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563">
                                            <p:txEl>
                                              <p:pRg st="3" end="3"/>
                                            </p:txEl>
                                          </p:spTgt>
                                        </p:tgtEl>
                                        <p:attrNameLst>
                                          <p:attrName>style.visibility</p:attrName>
                                        </p:attrNameLst>
                                      </p:cBhvr>
                                      <p:to>
                                        <p:strVal val="visible"/>
                                      </p:to>
                                    </p:set>
                                    <p:animEffect transition="in" filter="blinds(horizontal)">
                                      <p:cBhvr>
                                        <p:cTn id="7" dur="500"/>
                                        <p:tgtEl>
                                          <p:spTgt spid="6656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6563">
                                            <p:txEl>
                                              <p:pRg st="4" end="4"/>
                                            </p:txEl>
                                          </p:spTgt>
                                        </p:tgtEl>
                                        <p:attrNameLst>
                                          <p:attrName>style.visibility</p:attrName>
                                        </p:attrNameLst>
                                      </p:cBhvr>
                                      <p:to>
                                        <p:strVal val="visible"/>
                                      </p:to>
                                    </p:set>
                                    <p:animEffect transition="in" filter="blinds(horizontal)">
                                      <p:cBhvr>
                                        <p:cTn id="10" dur="500"/>
                                        <p:tgtEl>
                                          <p:spTgt spid="6656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6563">
                                            <p:txEl>
                                              <p:pRg st="5" end="5"/>
                                            </p:txEl>
                                          </p:spTgt>
                                        </p:tgtEl>
                                        <p:attrNameLst>
                                          <p:attrName>style.visibility</p:attrName>
                                        </p:attrNameLst>
                                      </p:cBhvr>
                                      <p:to>
                                        <p:strVal val="visible"/>
                                      </p:to>
                                    </p:set>
                                    <p:animEffect transition="in" filter="blinds(horizontal)">
                                      <p:cBhvr>
                                        <p:cTn id="13" dur="500"/>
                                        <p:tgtEl>
                                          <p:spTgt spid="6656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6563">
                                            <p:txEl>
                                              <p:pRg st="6" end="6"/>
                                            </p:txEl>
                                          </p:spTgt>
                                        </p:tgtEl>
                                        <p:attrNameLst>
                                          <p:attrName>style.visibility</p:attrName>
                                        </p:attrNameLst>
                                      </p:cBhvr>
                                      <p:to>
                                        <p:strVal val="visible"/>
                                      </p:to>
                                    </p:set>
                                    <p:animEffect transition="in" filter="blinds(horizontal)">
                                      <p:cBhvr>
                                        <p:cTn id="18" dur="500"/>
                                        <p:tgtEl>
                                          <p:spTgt spid="66563">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6563">
                                            <p:txEl>
                                              <p:pRg st="7" end="7"/>
                                            </p:txEl>
                                          </p:spTgt>
                                        </p:tgtEl>
                                        <p:attrNameLst>
                                          <p:attrName>style.visibility</p:attrName>
                                        </p:attrNameLst>
                                      </p:cBhvr>
                                      <p:to>
                                        <p:strVal val="visible"/>
                                      </p:to>
                                    </p:set>
                                    <p:animEffect transition="in" filter="blinds(horizontal)">
                                      <p:cBhvr>
                                        <p:cTn id="21" dur="500"/>
                                        <p:tgtEl>
                                          <p:spTgt spid="66563">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6563">
                                            <p:txEl>
                                              <p:pRg st="8" end="8"/>
                                            </p:txEl>
                                          </p:spTgt>
                                        </p:tgtEl>
                                        <p:attrNameLst>
                                          <p:attrName>style.visibility</p:attrName>
                                        </p:attrNameLst>
                                      </p:cBhvr>
                                      <p:to>
                                        <p:strVal val="visible"/>
                                      </p:to>
                                    </p:set>
                                    <p:animEffect transition="in" filter="blinds(horizontal)">
                                      <p:cBhvr>
                                        <p:cTn id="24" dur="500"/>
                                        <p:tgtEl>
                                          <p:spTgt spid="665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dirty="0"/>
              <a:t>关系代数</a:t>
            </a:r>
            <a:r>
              <a:rPr lang="en-US" altLang="zh-CN" dirty="0"/>
              <a:t>  2</a:t>
            </a:r>
          </a:p>
        </p:txBody>
      </p:sp>
      <p:sp>
        <p:nvSpPr>
          <p:cNvPr id="45059" name="Rectangle 3"/>
          <p:cNvSpPr>
            <a:spLocks noGrp="1" noChangeArrowheads="1"/>
          </p:cNvSpPr>
          <p:nvPr>
            <p:ph idx="1"/>
          </p:nvPr>
        </p:nvSpPr>
        <p:spPr/>
        <p:txBody>
          <a:bodyPr>
            <a:normAutofit/>
          </a:bodyPr>
          <a:lstStyle/>
          <a:p>
            <a:pPr>
              <a:lnSpc>
                <a:spcPct val="110000"/>
              </a:lnSpc>
              <a:spcBef>
                <a:spcPts val="1000"/>
              </a:spcBef>
            </a:pPr>
            <a:r>
              <a:rPr lang="en-US" altLang="zh-CN" dirty="0"/>
              <a:t> </a:t>
            </a:r>
            <a:r>
              <a:rPr lang="zh-CN" altLang="en-US" dirty="0"/>
              <a:t>常用的关系操作</a:t>
            </a:r>
          </a:p>
          <a:p>
            <a:pPr lvl="1">
              <a:lnSpc>
                <a:spcPct val="110000"/>
              </a:lnSpc>
              <a:spcBef>
                <a:spcPts val="1000"/>
              </a:spcBef>
            </a:pPr>
            <a:r>
              <a:rPr lang="zh-CN" altLang="en-US" dirty="0"/>
              <a:t>集合操作：</a:t>
            </a:r>
            <a:r>
              <a:rPr lang="zh-CN" altLang="en-US" dirty="0">
                <a:solidFill>
                  <a:srgbClr val="FF0000"/>
                </a:solidFill>
              </a:rPr>
              <a:t>并、</a:t>
            </a:r>
            <a:r>
              <a:rPr lang="zh-CN" altLang="en-US" dirty="0">
                <a:solidFill>
                  <a:srgbClr val="FF0000"/>
                </a:solidFill>
                <a:sym typeface="+mn-ea"/>
              </a:rPr>
              <a:t>交、</a:t>
            </a:r>
            <a:r>
              <a:rPr lang="zh-CN" altLang="en-US" dirty="0">
                <a:solidFill>
                  <a:srgbClr val="FF0000"/>
                </a:solidFill>
              </a:rPr>
              <a:t>差、笛卡尔积</a:t>
            </a:r>
            <a:endParaRPr lang="zh-CN" altLang="en-US" dirty="0"/>
          </a:p>
          <a:p>
            <a:pPr lvl="1">
              <a:lnSpc>
                <a:spcPct val="110000"/>
              </a:lnSpc>
              <a:spcBef>
                <a:spcPts val="1000"/>
              </a:spcBef>
            </a:pPr>
            <a:r>
              <a:rPr lang="zh-CN" altLang="en-US" dirty="0"/>
              <a:t>专门的关系操作</a:t>
            </a:r>
          </a:p>
          <a:p>
            <a:pPr lvl="2">
              <a:lnSpc>
                <a:spcPct val="110000"/>
              </a:lnSpc>
              <a:spcBef>
                <a:spcPts val="1000"/>
              </a:spcBef>
            </a:pPr>
            <a:r>
              <a:rPr lang="zh-CN" altLang="en-US" dirty="0">
                <a:solidFill>
                  <a:srgbClr val="FF0000"/>
                </a:solidFill>
                <a:sym typeface="+mn-ea"/>
              </a:rPr>
              <a:t>选择、投影</a:t>
            </a:r>
            <a:endParaRPr lang="zh-CN" altLang="en-US" dirty="0">
              <a:sym typeface="+mn-ea"/>
            </a:endParaRPr>
          </a:p>
          <a:p>
            <a:pPr lvl="2">
              <a:lnSpc>
                <a:spcPct val="110000"/>
              </a:lnSpc>
              <a:spcBef>
                <a:spcPts val="1000"/>
              </a:spcBef>
            </a:pPr>
            <a:r>
              <a:rPr lang="zh-CN" altLang="en-US" dirty="0">
                <a:solidFill>
                  <a:srgbClr val="FF0000"/>
                </a:solidFill>
                <a:latin typeface="Arial" panose="020B0604020202020204" pitchFamily="34" charset="0"/>
                <a:cs typeface="Arial" panose="020B0604020202020204" pitchFamily="34" charset="0"/>
                <a:sym typeface="+mn-ea"/>
              </a:rPr>
              <a:t>连接</a:t>
            </a:r>
            <a:r>
              <a:rPr lang="zh-CN" altLang="en-US" dirty="0">
                <a:solidFill>
                  <a:srgbClr val="1F2DA8"/>
                </a:solidFill>
                <a:latin typeface="Arial" panose="020B0604020202020204" pitchFamily="34" charset="0"/>
                <a:cs typeface="Arial" panose="020B0604020202020204" pitchFamily="34" charset="0"/>
                <a:sym typeface="+mn-ea"/>
              </a:rPr>
              <a:t>（包括</a:t>
            </a:r>
            <a:r>
              <a:rPr lang="en-US" altLang="zh-CN" dirty="0">
                <a:solidFill>
                  <a:srgbClr val="1F2DA8"/>
                </a:solidFill>
                <a:latin typeface="Arial" panose="020B0604020202020204" pitchFamily="34" charset="0"/>
                <a:cs typeface="Arial" panose="020B0604020202020204" pitchFamily="34" charset="0"/>
                <a:sym typeface="+mn-ea"/>
              </a:rPr>
              <a:t> </a:t>
            </a:r>
            <a:r>
              <a:rPr lang="zh-CN" altLang="en-US" dirty="0">
                <a:solidFill>
                  <a:srgbClr val="1F2DA8"/>
                </a:solidFill>
                <a:latin typeface="Arial" panose="020B0604020202020204" pitchFamily="34" charset="0"/>
                <a:cs typeface="Arial" panose="020B0604020202020204" pitchFamily="34" charset="0"/>
                <a:sym typeface="+mn-ea"/>
              </a:rPr>
              <a:t>θ</a:t>
            </a:r>
            <a:r>
              <a:rPr lang="en-US" altLang="zh-CN" dirty="0">
                <a:solidFill>
                  <a:srgbClr val="1F2DA8"/>
                </a:solidFill>
                <a:latin typeface="Arial" panose="020B0604020202020204" pitchFamily="34" charset="0"/>
                <a:cs typeface="Arial" panose="020B0604020202020204" pitchFamily="34" charset="0"/>
                <a:sym typeface="+mn-ea"/>
              </a:rPr>
              <a:t>-</a:t>
            </a:r>
            <a:r>
              <a:rPr lang="zh-CN" altLang="en-US" dirty="0">
                <a:solidFill>
                  <a:srgbClr val="1F2DA8"/>
                </a:solidFill>
                <a:latin typeface="Arial" panose="020B0604020202020204" pitchFamily="34" charset="0"/>
                <a:cs typeface="Arial" panose="020B0604020202020204" pitchFamily="34" charset="0"/>
                <a:sym typeface="+mn-ea"/>
              </a:rPr>
              <a:t>连接，自然连接，外连接等）</a:t>
            </a:r>
            <a:endParaRPr lang="zh-CN" altLang="en-US" dirty="0">
              <a:sym typeface="+mn-ea"/>
            </a:endParaRPr>
          </a:p>
          <a:p>
            <a:pPr lvl="2">
              <a:lnSpc>
                <a:spcPct val="110000"/>
              </a:lnSpc>
              <a:spcBef>
                <a:spcPts val="1000"/>
              </a:spcBef>
            </a:pPr>
            <a:r>
              <a:rPr lang="zh-CN" altLang="en-US" dirty="0">
                <a:solidFill>
                  <a:srgbClr val="FF0000"/>
                </a:solidFill>
                <a:sym typeface="+mn-ea"/>
              </a:rPr>
              <a:t>除</a:t>
            </a:r>
            <a:endParaRPr lang="zh-CN" altLang="en-US" dirty="0"/>
          </a:p>
          <a:p>
            <a:pPr lvl="0">
              <a:lnSpc>
                <a:spcPct val="100000"/>
              </a:lnSpc>
              <a:spcBef>
                <a:spcPts val="3000"/>
              </a:spcBef>
            </a:pPr>
            <a:r>
              <a:rPr lang="zh-CN" altLang="en-US" dirty="0">
                <a:solidFill>
                  <a:srgbClr val="FF0000"/>
                </a:solidFill>
                <a:sym typeface="+mn-ea"/>
              </a:rPr>
              <a:t>选择、投影、并、差、笛卡尔积</a:t>
            </a:r>
            <a:r>
              <a:rPr lang="zh-CN" altLang="en-US" dirty="0">
                <a:sym typeface="+mn-ea"/>
              </a:rPr>
              <a:t>是</a:t>
            </a:r>
            <a:r>
              <a:rPr lang="en-US" altLang="zh-CN" dirty="0">
                <a:sym typeface="+mn-ea"/>
              </a:rPr>
              <a:t>5</a:t>
            </a:r>
            <a:r>
              <a:rPr lang="zh-CN" altLang="en-US" dirty="0">
                <a:sym typeface="+mn-ea"/>
              </a:rPr>
              <a:t>种基本操作</a:t>
            </a:r>
            <a:endParaRPr lang="zh-CN" altLang="en-US" dirty="0"/>
          </a:p>
          <a:p>
            <a:pPr>
              <a:lnSpc>
                <a:spcPct val="100000"/>
              </a:lnSpc>
              <a:spcBef>
                <a:spcPts val="3000"/>
              </a:spcBef>
            </a:pPr>
            <a:r>
              <a:rPr lang="zh-CN" altLang="en-US" dirty="0">
                <a:solidFill>
                  <a:srgbClr val="1F2DA8"/>
                </a:solidFill>
              </a:rPr>
              <a:t>关系操作的特点：</a:t>
            </a:r>
            <a:r>
              <a:rPr lang="zh-CN" altLang="en-US" dirty="0">
                <a:solidFill>
                  <a:srgbClr val="C00000"/>
                </a:solidFill>
              </a:rPr>
              <a:t>集合操作</a:t>
            </a:r>
            <a:endParaRPr lang="zh-CN" altLang="en-US" dirty="0"/>
          </a:p>
          <a:p>
            <a:pPr lvl="1">
              <a:lnSpc>
                <a:spcPct val="110000"/>
              </a:lnSpc>
              <a:spcBef>
                <a:spcPts val="1000"/>
              </a:spcBef>
            </a:pPr>
            <a:r>
              <a:rPr lang="zh-CN" altLang="en-US" dirty="0">
                <a:solidFill>
                  <a:srgbClr val="1F2DA8"/>
                </a:solidFill>
              </a:rPr>
              <a:t>操作对象和操作结果都是关系（关系</a:t>
            </a:r>
            <a:r>
              <a:rPr lang="zh-CN" altLang="en-US" dirty="0"/>
              <a:t>是元组的集合）</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6" end="6"/>
                                            </p:txEl>
                                          </p:spTgt>
                                        </p:tgtEl>
                                        <p:attrNameLst>
                                          <p:attrName>style.visibility</p:attrName>
                                        </p:attrNameLst>
                                      </p:cBhvr>
                                      <p:to>
                                        <p:strVal val="visible"/>
                                      </p:to>
                                    </p:set>
                                    <p:anim calcmode="lin" valueType="num">
                                      <p:cBhvr additive="base">
                                        <p:cTn id="7" dur="500" fill="hold"/>
                                        <p:tgtEl>
                                          <p:spTgt spid="4505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59">
                                            <p:txEl>
                                              <p:pRg st="7" end="7"/>
                                            </p:txEl>
                                          </p:spTgt>
                                        </p:tgtEl>
                                        <p:attrNameLst>
                                          <p:attrName>style.visibility</p:attrName>
                                        </p:attrNameLst>
                                      </p:cBhvr>
                                      <p:to>
                                        <p:strVal val="visible"/>
                                      </p:to>
                                    </p:set>
                                    <p:anim calcmode="lin" valueType="num">
                                      <p:cBhvr additive="base">
                                        <p:cTn id="13" dur="500" fill="hold"/>
                                        <p:tgtEl>
                                          <p:spTgt spid="45059">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7" end="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5059">
                                            <p:txEl>
                                              <p:pRg st="8" end="8"/>
                                            </p:txEl>
                                          </p:spTgt>
                                        </p:tgtEl>
                                        <p:attrNameLst>
                                          <p:attrName>style.visibility</p:attrName>
                                        </p:attrNameLst>
                                      </p:cBhvr>
                                      <p:to>
                                        <p:strVal val="visible"/>
                                      </p:to>
                                    </p:set>
                                    <p:anim calcmode="lin" valueType="num">
                                      <p:cBhvr additive="base">
                                        <p:cTn id="17" dur="500" fill="hold"/>
                                        <p:tgtEl>
                                          <p:spTgt spid="45059">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50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396875" y="760730"/>
            <a:ext cx="7125970" cy="5868035"/>
          </a:xfrm>
          <a:prstGeom prst="rect">
            <a:avLst/>
          </a:prstGeom>
        </p:spPr>
      </p:pic>
      <p:sp>
        <p:nvSpPr>
          <p:cNvPr id="67587" name="Rectangle 52"/>
          <p:cNvSpPr>
            <a:spLocks noGrp="1" noChangeArrowheads="1"/>
          </p:cNvSpPr>
          <p:nvPr>
            <p:ph type="title"/>
          </p:nvPr>
        </p:nvSpPr>
        <p:spPr/>
        <p:txBody>
          <a:bodyPr/>
          <a:lstStyle/>
          <a:p>
            <a:r>
              <a:rPr lang="zh-CN" altLang="en-US" dirty="0"/>
              <a:t>关系代数</a:t>
            </a:r>
            <a:r>
              <a:rPr lang="en-US" altLang="zh-CN" dirty="0"/>
              <a:t> 3</a:t>
            </a:r>
            <a:r>
              <a:rPr lang="zh-CN" altLang="en-US" dirty="0"/>
              <a:t>：关系运算</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6</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pic>
        <p:nvPicPr>
          <p:cNvPr id="31" name="图片 30"/>
          <p:cNvPicPr>
            <a:picLocks noChangeAspect="1"/>
          </p:cNvPicPr>
          <p:nvPr/>
        </p:nvPicPr>
        <p:blipFill>
          <a:blip r:embed="rId4"/>
          <a:stretch>
            <a:fillRect/>
          </a:stretch>
        </p:blipFill>
        <p:spPr>
          <a:xfrm>
            <a:off x="6085205" y="5382895"/>
            <a:ext cx="335280" cy="228600"/>
          </a:xfrm>
          <a:prstGeom prst="rect">
            <a:avLst/>
          </a:prstGeom>
        </p:spPr>
      </p:pic>
      <p:pic>
        <p:nvPicPr>
          <p:cNvPr id="32" name="图片 31"/>
          <p:cNvPicPr>
            <a:picLocks noChangeAspect="1"/>
          </p:cNvPicPr>
          <p:nvPr/>
        </p:nvPicPr>
        <p:blipFill>
          <a:blip r:embed="rId5"/>
          <a:stretch>
            <a:fillRect/>
          </a:stretch>
        </p:blipFill>
        <p:spPr>
          <a:xfrm>
            <a:off x="6092190" y="4946015"/>
            <a:ext cx="335280" cy="228600"/>
          </a:xfrm>
          <a:prstGeom prst="rect">
            <a:avLst/>
          </a:prstGeom>
        </p:spPr>
      </p:pic>
      <p:pic>
        <p:nvPicPr>
          <p:cNvPr id="33" name="图片 32"/>
          <p:cNvPicPr>
            <a:picLocks noChangeAspect="1"/>
          </p:cNvPicPr>
          <p:nvPr/>
        </p:nvPicPr>
        <p:blipFill>
          <a:blip r:embed="rId6"/>
          <a:stretch>
            <a:fillRect/>
          </a:stretch>
        </p:blipFill>
        <p:spPr>
          <a:xfrm>
            <a:off x="6085205" y="5840730"/>
            <a:ext cx="335280" cy="228600"/>
          </a:xfrm>
          <a:prstGeom prst="rect">
            <a:avLst/>
          </a:prstGeom>
        </p:spPr>
      </p:pic>
      <p:pic>
        <p:nvPicPr>
          <p:cNvPr id="7" name="图片 6"/>
          <p:cNvPicPr>
            <a:picLocks noChangeAspect="1"/>
          </p:cNvPicPr>
          <p:nvPr/>
        </p:nvPicPr>
        <p:blipFill>
          <a:blip r:embed="rId7"/>
          <a:stretch>
            <a:fillRect/>
          </a:stretch>
        </p:blipFill>
        <p:spPr>
          <a:xfrm>
            <a:off x="7459345" y="760730"/>
            <a:ext cx="4334510" cy="58680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52"/>
          <p:cNvSpPr>
            <a:spLocks noGrp="1" noChangeArrowheads="1"/>
          </p:cNvSpPr>
          <p:nvPr>
            <p:ph type="title"/>
          </p:nvPr>
        </p:nvSpPr>
        <p:spPr/>
        <p:txBody>
          <a:bodyPr/>
          <a:lstStyle/>
          <a:p>
            <a:r>
              <a:rPr lang="zh-CN" altLang="en-US" dirty="0"/>
              <a:t>关系代数</a:t>
            </a:r>
            <a:r>
              <a:rPr lang="en-US" altLang="zh-CN" dirty="0"/>
              <a:t> 4</a:t>
            </a:r>
            <a:r>
              <a:rPr lang="zh-CN" altLang="en-US" dirty="0"/>
              <a:t>：基本运算</a:t>
            </a:r>
            <a:r>
              <a:rPr lang="en-US" altLang="zh-CN" dirty="0"/>
              <a:t> &amp; </a:t>
            </a:r>
            <a:r>
              <a:rPr lang="zh-CN" altLang="en-US" dirty="0"/>
              <a:t>扩充运算</a:t>
            </a:r>
          </a:p>
        </p:txBody>
      </p:sp>
      <mc:AlternateContent xmlns:mc="http://schemas.openxmlformats.org/markup-compatibility/2006" xmlns:a14="http://schemas.microsoft.com/office/drawing/2010/main">
        <mc:Choice Requires="a14">
          <p:graphicFrame>
            <p:nvGraphicFramePr>
              <p:cNvPr id="11" name="表格 10"/>
              <p:cNvGraphicFramePr>
                <a:graphicFrameLocks noGrp="1"/>
              </p:cNvGraphicFramePr>
              <p:nvPr>
                <p:custDataLst>
                  <p:tags r:id="rId1"/>
                </p:custDataLst>
              </p:nvPr>
            </p:nvGraphicFramePr>
            <p:xfrm>
              <a:off x="396875" y="760730"/>
              <a:ext cx="11407140" cy="2526030"/>
            </p:xfrm>
            <a:graphic>
              <a:graphicData uri="http://schemas.openxmlformats.org/drawingml/2006/table">
                <a:tbl>
                  <a:tblPr/>
                  <a:tblGrid>
                    <a:gridCol w="113538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3242310">
                      <a:extLst>
                        <a:ext uri="{9D8B030D-6E8A-4147-A177-3AD203B41FA5}">
                          <a16:colId xmlns:a16="http://schemas.microsoft.com/office/drawing/2014/main" val="20002"/>
                        </a:ext>
                      </a:extLst>
                    </a:gridCol>
                    <a:gridCol w="4316730">
                      <a:extLst>
                        <a:ext uri="{9D8B030D-6E8A-4147-A177-3AD203B41FA5}">
                          <a16:colId xmlns:a16="http://schemas.microsoft.com/office/drawing/2014/main" val="20003"/>
                        </a:ext>
                      </a:extLst>
                    </a:gridCol>
                  </a:tblGrid>
                  <a:tr h="365760">
                    <a:tc gridSpan="2">
                      <a:txBody>
                        <a:bodyPr/>
                        <a:lstStyle/>
                        <a:p>
                          <a:pPr indent="0" algn="ctr" fontAlgn="auto">
                            <a:spcAft>
                              <a:spcPts val="0"/>
                            </a:spcAft>
                          </a:pPr>
                          <a:r>
                            <a:rPr lang="zh-CN" sz="2400" b="1" kern="100" dirty="0">
                              <a:ea typeface="楷体" panose="02010609060101010101" charset="-122"/>
                              <a:cs typeface="Times New Roman" panose="02020603050405020304"/>
                            </a:rPr>
                            <a:t>关系运算</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buNone/>
                          </a:pPr>
                          <a:r>
                            <a:rPr lang="zh-CN" altLang="en-US" sz="2400" b="1" kern="100" dirty="0">
                              <a:ea typeface="楷体" panose="02010609060101010101" charset="-122"/>
                              <a:cs typeface="+mn-lt"/>
                            </a:rPr>
                            <a:t>运算符</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400" b="1" kern="100">
                              <a:ea typeface="楷体" panose="02010609060101010101" charset="-122"/>
                              <a:cs typeface="Times New Roman" panose="02020603050405020304"/>
                            </a:rPr>
                            <a:t>操作符</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1800">
                    <a:tc rowSpan="5">
                      <a:txBody>
                        <a:bodyPr/>
                        <a:lstStyle/>
                        <a:p>
                          <a:pPr indent="0" algn="ctr" fontAlgn="auto">
                            <a:spcAft>
                              <a:spcPts val="0"/>
                            </a:spcAft>
                          </a:pPr>
                          <a:r>
                            <a:rPr lang="zh-CN" sz="2400" b="1" kern="100" dirty="0">
                              <a:ea typeface="楷体" panose="02010609060101010101" charset="-122"/>
                              <a:cs typeface="Times New Roman" panose="02020603050405020304"/>
                            </a:rPr>
                            <a:t>基本</a:t>
                          </a:r>
                        </a:p>
                        <a:p>
                          <a:pPr indent="0" algn="ctr" fontAlgn="auto">
                            <a:spcAft>
                              <a:spcPts val="0"/>
                            </a:spcAft>
                          </a:pPr>
                          <a:r>
                            <a:rPr lang="zh-CN" sz="2400" b="1" kern="100" dirty="0">
                              <a:ea typeface="楷体" panose="02010609060101010101" charset="-122"/>
                              <a:cs typeface="Times New Roman" panose="02020603050405020304"/>
                            </a:rPr>
                            <a:t>运算</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r>
                            <a:rPr lang="zh-CN" sz="2400" b="1" kern="100" dirty="0">
                              <a:ea typeface="楷体" panose="02010609060101010101" charset="-122"/>
                              <a:cs typeface="Times New Roman" panose="02020603050405020304"/>
                            </a:rPr>
                            <a:t>并</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400" b="0" i="1" kern="100" dirty="0">
                                    <a:solidFill>
                                      <a:srgbClr val="1F2DA8"/>
                                    </a:solidFill>
                                    <a:latin typeface="Cambria Math" panose="02040503050406030204" charset="0"/>
                                    <a:ea typeface="楷体" panose="02010609060101010101" charset="-122"/>
                                    <a:cs typeface="Cambria Math" panose="02040503050406030204" charset="0"/>
                                  </a:rPr>
                                  <m:t>𝑅</m:t>
                                </m:r>
                                <m:r>
                                  <a:rPr lang="en-US" altLang="zh-CN" sz="2400" b="0" i="1" kern="100" dirty="0">
                                    <a:solidFill>
                                      <a:srgbClr val="FF0000"/>
                                    </a:solidFill>
                                    <a:latin typeface="Cambria Math" panose="02040503050406030204" charset="0"/>
                                    <a:ea typeface="MS Mincho" charset="0"/>
                                    <a:cs typeface="Cambria Math" panose="02040503050406030204" charset="0"/>
                                  </a:rPr>
                                  <m:t>∪</m:t>
                                </m:r>
                                <m:r>
                                  <a:rPr lang="en-US" altLang="zh-CN" sz="2400" b="0" i="1" kern="100" dirty="0">
                                    <a:solidFill>
                                      <a:srgbClr val="1F2DA8"/>
                                    </a:solidFill>
                                    <a:latin typeface="Cambria Math" panose="02040503050406030204" charset="0"/>
                                    <a:ea typeface="楷体" panose="02010609060101010101" charset="-122"/>
                                    <a:cs typeface="Cambria Math" panose="02040503050406030204" charset="0"/>
                                  </a:rPr>
                                  <m:t>𝑆</m:t>
                                </m:r>
                              </m:oMath>
                            </m:oMathPara>
                          </a14:m>
                          <a:endParaRPr lang="en-US" altLang="zh-CN" sz="2400" b="0"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400" b="0" i="1" kern="100" dirty="0">
                                    <a:latin typeface="Cambria Math" panose="02040503050406030204" charset="0"/>
                                    <a:ea typeface="楷体" panose="02010609060101010101" charset="-122"/>
                                    <a:cs typeface="Cambria Math" panose="02040503050406030204" charset="0"/>
                                  </a:rPr>
                                  <m:t>𝑅</m:t>
                                </m:r>
                                <m:r>
                                  <a:rPr lang="en-US" altLang="zh-CN" sz="2400" b="0" i="1" kern="100" dirty="0">
                                    <a:latin typeface="Cambria Math" panose="02040503050406030204" charset="0"/>
                                    <a:ea typeface="楷体" panose="02010609060101010101" charset="-122"/>
                                    <a:cs typeface="Cambria Math" panose="02040503050406030204" charset="0"/>
                                  </a:rPr>
                                  <m:t>  </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𝑢𝑛𝑖𝑜𝑛</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  </m:t>
                                </m:r>
                                <m:r>
                                  <a:rPr lang="en-US" altLang="zh-CN" sz="2400" b="0" i="1" kern="100" dirty="0">
                                    <a:latin typeface="Cambria Math" panose="02040503050406030204" charset="0"/>
                                    <a:ea typeface="楷体" panose="02010609060101010101" charset="-122"/>
                                    <a:cs typeface="Cambria Math" panose="02040503050406030204" charset="0"/>
                                  </a:rPr>
                                  <m:t>𝑆</m:t>
                                </m:r>
                              </m:oMath>
                            </m:oMathPara>
                          </a14:m>
                          <a:endParaRPr lang="en-US" altLang="zh-CN" sz="2400" b="0" i="1" kern="100" dirty="0">
                            <a:ea typeface="楷体" panose="02010609060101010101" charset="-122"/>
                            <a:cs typeface="+mn-lt"/>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32435">
                    <a:tc vMerge="1">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400" b="1" kern="100" dirty="0">
                              <a:ea typeface="楷体" panose="02010609060101010101" charset="-122"/>
                              <a:cs typeface="Times New Roman" panose="02020603050405020304"/>
                            </a:rPr>
                            <a:t>差</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sz="2400" b="0" i="1" kern="100" dirty="0">
                                    <a:solidFill>
                                      <a:srgbClr val="1F2DA8"/>
                                    </a:solidFill>
                                    <a:latin typeface="Cambria Math" panose="02040503050406030204" charset="0"/>
                                    <a:ea typeface="楷体" panose="02010609060101010101" charset="-122"/>
                                    <a:cs typeface="Cambria Math" panose="02040503050406030204" charset="0"/>
                                  </a:rPr>
                                  <m:t>𝑅</m:t>
                                </m:r>
                                <m:r>
                                  <a:rPr lang="en-US" sz="2400" b="0" i="1" kern="100" dirty="0">
                                    <a:solidFill>
                                      <a:srgbClr val="FF0000"/>
                                    </a:solidFill>
                                    <a:latin typeface="Cambria Math" panose="02040503050406030204" charset="0"/>
                                    <a:ea typeface="楷体" panose="02010609060101010101" charset="-122"/>
                                    <a:cs typeface="Cambria Math" panose="02040503050406030204" charset="0"/>
                                  </a:rPr>
                                  <m:t>−</m:t>
                                </m:r>
                                <m:r>
                                  <a:rPr lang="en-US" sz="2400" b="0" i="1" kern="100" dirty="0">
                                    <a:solidFill>
                                      <a:srgbClr val="1F2DA8"/>
                                    </a:solidFill>
                                    <a:latin typeface="Cambria Math" panose="02040503050406030204" charset="0"/>
                                    <a:ea typeface="楷体" panose="02010609060101010101" charset="-122"/>
                                    <a:cs typeface="Cambria Math" panose="02040503050406030204" charset="0"/>
                                  </a:rPr>
                                  <m:t>𝑆</m:t>
                                </m:r>
                              </m:oMath>
                            </m:oMathPara>
                          </a14:m>
                          <a:endParaRPr lang="en-US" sz="2400" b="0"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400" b="0" i="1" kern="100" dirty="0">
                                    <a:latin typeface="Cambria Math" panose="02040503050406030204" charset="0"/>
                                    <a:ea typeface="楷体" panose="02010609060101010101" charset="-122"/>
                                    <a:cs typeface="Cambria Math" panose="02040503050406030204" charset="0"/>
                                  </a:rPr>
                                  <m:t>𝑅</m:t>
                                </m:r>
                                <m:r>
                                  <a:rPr lang="en-US" altLang="zh-CN" sz="2400" b="0" i="1" kern="100" dirty="0">
                                    <a:latin typeface="Cambria Math" panose="02040503050406030204" charset="0"/>
                                    <a:ea typeface="楷体" panose="02010609060101010101" charset="-122"/>
                                    <a:cs typeface="Cambria Math" panose="02040503050406030204" charset="0"/>
                                  </a:rPr>
                                  <m:t>  </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𝑒𝑥𝑐𝑒𝑝𝑡</m:t>
                                </m:r>
                                <m:r>
                                  <a:rPr lang="en-US" altLang="zh-CN" sz="2400" b="0" i="1" kern="100" dirty="0">
                                    <a:latin typeface="Cambria Math" panose="02040503050406030204" charset="0"/>
                                    <a:ea typeface="楷体" panose="02010609060101010101" charset="-122"/>
                                    <a:cs typeface="Cambria Math" panose="02040503050406030204" charset="0"/>
                                  </a:rPr>
                                  <m:t>  </m:t>
                                </m:r>
                                <m:r>
                                  <a:rPr lang="en-US" altLang="zh-CN" sz="2400" b="0" i="1" kern="100" dirty="0">
                                    <a:latin typeface="Cambria Math" panose="02040503050406030204" charset="0"/>
                                    <a:ea typeface="楷体" panose="02010609060101010101" charset="-122"/>
                                    <a:cs typeface="Cambria Math" panose="02040503050406030204" charset="0"/>
                                  </a:rPr>
                                  <m:t>𝑆</m:t>
                                </m:r>
                              </m:oMath>
                            </m:oMathPara>
                          </a14:m>
                          <a:endParaRPr lang="en-US" altLang="zh-CN" sz="2400" b="0" i="1" kern="100" dirty="0">
                            <a:ea typeface="楷体" panose="02010609060101010101" charset="-122"/>
                            <a:cs typeface="+mn-lt"/>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2"/>
                      </a:ext>
                    </a:extLst>
                  </a:tr>
                  <a:tr h="431800">
                    <a:tc vMerge="1">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400" b="1" kern="100" dirty="0">
                              <a:ea typeface="楷体" panose="02010609060101010101" charset="-122"/>
                              <a:cs typeface="Times New Roman" panose="02020603050405020304"/>
                            </a:rPr>
                            <a:t>笛卡尔积</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400" b="0" i="1" kern="100">
                                    <a:solidFill>
                                      <a:srgbClr val="1F2DA8"/>
                                    </a:solidFill>
                                    <a:latin typeface="Cambria Math" panose="02040503050406030204" charset="0"/>
                                    <a:ea typeface="楷体" panose="02010609060101010101" charset="-122"/>
                                    <a:cs typeface="Cambria Math" panose="02040503050406030204" charset="0"/>
                                  </a:rPr>
                                  <m:t>𝑅</m:t>
                                </m:r>
                                <m:r>
                                  <a:rPr lang="en-US" altLang="zh-CN" sz="2400" b="0" i="1" kern="100">
                                    <a:solidFill>
                                      <a:srgbClr val="FF0000"/>
                                    </a:solidFill>
                                    <a:latin typeface="Cambria Math" panose="02040503050406030204" charset="0"/>
                                    <a:ea typeface="MS Mincho" charset="0"/>
                                    <a:cs typeface="Cambria Math" panose="02040503050406030204" charset="0"/>
                                  </a:rPr>
                                  <m:t>×</m:t>
                                </m:r>
                                <m:r>
                                  <a:rPr lang="en-US" altLang="zh-CN" sz="2400" b="0" i="1" kern="100">
                                    <a:solidFill>
                                      <a:srgbClr val="1F2DA8"/>
                                    </a:solidFill>
                                    <a:latin typeface="Cambria Math" panose="02040503050406030204" charset="0"/>
                                    <a:ea typeface="楷体" panose="02010609060101010101" charset="-122"/>
                                    <a:cs typeface="Cambria Math" panose="02040503050406030204" charset="0"/>
                                  </a:rPr>
                                  <m:t>𝑆</m:t>
                                </m:r>
                              </m:oMath>
                            </m:oMathPara>
                          </a14:m>
                          <a:endParaRPr lang="en-US" altLang="zh-CN" sz="2400" b="0" i="1" kern="10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400" b="0" i="1" kern="100" dirty="0">
                                    <a:latin typeface="Cambria Math" panose="02040503050406030204" charset="0"/>
                                    <a:ea typeface="楷体" panose="02010609060101010101" charset="-122"/>
                                    <a:cs typeface="Cambria Math" panose="02040503050406030204" charset="0"/>
                                  </a:rPr>
                                  <m:t>𝑅</m:t>
                                </m:r>
                                <m:r>
                                  <a:rPr lang="en-US" altLang="zh-CN" sz="2400" b="0" i="1" kern="100" dirty="0">
                                    <a:latin typeface="Cambria Math" panose="02040503050406030204" charset="0"/>
                                    <a:ea typeface="楷体" panose="02010609060101010101" charset="-122"/>
                                    <a:cs typeface="Cambria Math" panose="02040503050406030204" charset="0"/>
                                  </a:rPr>
                                  <m:t>  </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𝑝𝑟𝑜𝑑𝑢𝑐𝑡</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  </m:t>
                                </m:r>
                                <m:r>
                                  <a:rPr lang="en-US" altLang="zh-CN" sz="2400" b="0" i="1" kern="100" dirty="0">
                                    <a:latin typeface="Cambria Math" panose="02040503050406030204" charset="0"/>
                                    <a:ea typeface="楷体" panose="02010609060101010101" charset="-122"/>
                                    <a:cs typeface="Cambria Math" panose="02040503050406030204" charset="0"/>
                                  </a:rPr>
                                  <m:t>𝑆</m:t>
                                </m:r>
                              </m:oMath>
                            </m:oMathPara>
                          </a14:m>
                          <a:endParaRPr lang="en-US" altLang="zh-CN" sz="2400" b="0" i="1" kern="100" dirty="0">
                            <a:ea typeface="楷体" panose="02010609060101010101" charset="-122"/>
                            <a:cs typeface="+mn-lt"/>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3"/>
                      </a:ext>
                    </a:extLst>
                  </a:tr>
                  <a:tr h="432435">
                    <a:tc vMerge="1">
                      <a:txBody>
                        <a:bodyPr/>
                        <a:lstStyle/>
                        <a:p>
                          <a:endParaRPr lang="zh-CN"/>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400" b="1" kern="100" dirty="0">
                              <a:ea typeface="楷体" panose="02010609060101010101" charset="-122"/>
                              <a:cs typeface="Times New Roman" panose="02020603050405020304"/>
                            </a:rPr>
                            <a:t>选择</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sSub>
                                  <m:sSubPr>
                                    <m:ctrlPr>
                                      <a:rPr lang="en-US" altLang="zh-CN" sz="2400" b="0" i="1" kern="100"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0" i="1" kern="100" dirty="0">
                                        <a:solidFill>
                                          <a:srgbClr val="FF0000"/>
                                        </a:solidFill>
                                        <a:latin typeface="Cambria Math" panose="02040503050406030204" charset="0"/>
                                        <a:ea typeface="MS Mincho" charset="0"/>
                                        <a:cs typeface="Cambria Math" panose="02040503050406030204" charset="0"/>
                                      </a:rPr>
                                      <m:t>𝜎</m:t>
                                    </m:r>
                                  </m:e>
                                  <m:sub>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𝐹</m:t>
                                    </m:r>
                                  </m:sub>
                                </m:sSub>
                                <m:r>
                                  <a:rPr lang="en-US" altLang="zh-CN" sz="2400" b="0" i="1" kern="100" dirty="0">
                                    <a:solidFill>
                                      <a:srgbClr val="1F2DA8"/>
                                    </a:solidFill>
                                    <a:latin typeface="Cambria Math" panose="02040503050406030204" charset="0"/>
                                    <a:ea typeface="MS Mincho" charset="0"/>
                                    <a:cs typeface="Cambria Math" panose="02040503050406030204" charset="0"/>
                                  </a:rPr>
                                  <m:t>(</m:t>
                                </m:r>
                                <m:r>
                                  <a:rPr lang="en-US" altLang="zh-CN" sz="2400" b="0" i="1" kern="100" dirty="0">
                                    <a:solidFill>
                                      <a:srgbClr val="1F2DA8"/>
                                    </a:solidFill>
                                    <a:latin typeface="Cambria Math" panose="02040503050406030204" charset="0"/>
                                    <a:ea typeface="楷体" panose="02010609060101010101" charset="-122"/>
                                    <a:cs typeface="Cambria Math" panose="02040503050406030204" charset="0"/>
                                  </a:rPr>
                                  <m:t>𝑅</m:t>
                                </m:r>
                                <m:r>
                                  <a:rPr lang="en-US" altLang="zh-CN" sz="2400" b="0" i="1" kern="100" dirty="0">
                                    <a:solidFill>
                                      <a:srgbClr val="1F2DA8"/>
                                    </a:solidFill>
                                    <a:latin typeface="Cambria Math" panose="02040503050406030204" charset="0"/>
                                    <a:ea typeface="MS Mincho" charset="0"/>
                                    <a:cs typeface="Cambria Math" panose="02040503050406030204" charset="0"/>
                                  </a:rPr>
                                  <m:t>)</m:t>
                                </m:r>
                              </m:oMath>
                            </m:oMathPara>
                          </a14:m>
                          <a:endParaRPr lang="en-US" altLang="zh-CN" sz="2400" b="0"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400" b="0" i="1" kern="100" dirty="0">
                                    <a:latin typeface="Cambria Math" panose="02040503050406030204" charset="0"/>
                                    <a:ea typeface="楷体" panose="02010609060101010101" charset="-122"/>
                                    <a:cs typeface="Cambria Math" panose="02040503050406030204" charset="0"/>
                                  </a:rPr>
                                  <m:t>𝑅</m:t>
                                </m:r>
                                <m:r>
                                  <a:rPr lang="en-US" altLang="zh-CN" sz="2400" b="0" i="1" kern="100" dirty="0">
                                    <a:latin typeface="Cambria Math" panose="02040503050406030204" charset="0"/>
                                    <a:ea typeface="楷体" panose="02010609060101010101" charset="-122"/>
                                    <a:cs typeface="Cambria Math" panose="02040503050406030204" charset="0"/>
                                  </a:rPr>
                                  <m:t>  </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𝑤h𝑒𝑟𝑒</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  </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𝐹</m:t>
                                </m:r>
                              </m:oMath>
                            </m:oMathPara>
                          </a14:m>
                          <a:endParaRPr lang="en-US" altLang="zh-CN" sz="2400" b="0" i="1" kern="100" dirty="0">
                            <a:solidFill>
                              <a:srgbClr val="FF0000"/>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4"/>
                      </a:ext>
                    </a:extLst>
                  </a:tr>
                  <a:tr h="431800">
                    <a:tc vMerge="1">
                      <a:txBody>
                        <a:bodyPr/>
                        <a:lstStyle/>
                        <a:p>
                          <a:endParaRPr lang="zh-CN"/>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400" b="1" kern="100" dirty="0">
                              <a:ea typeface="楷体" panose="02010609060101010101" charset="-122"/>
                              <a:cs typeface="Times New Roman" panose="02020603050405020304"/>
                            </a:rPr>
                            <a:t>投影</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sSub>
                                  <m:sSubPr>
                                    <m:ctrlPr>
                                      <a:rPr lang="en-US" altLang="zh-CN" sz="2400" b="0" i="1" kern="100"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0" i="1" kern="100" dirty="0">
                                        <a:solidFill>
                                          <a:srgbClr val="FF0000"/>
                                        </a:solidFill>
                                        <a:latin typeface="Cambria Math" panose="02040503050406030204" charset="0"/>
                                        <a:ea typeface="MS Mincho" charset="0"/>
                                        <a:cs typeface="Cambria Math" panose="02040503050406030204" charset="0"/>
                                      </a:rPr>
                                      <m:t>𝜋</m:t>
                                    </m:r>
                                  </m:e>
                                  <m:sub>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𝐴</m:t>
                                    </m:r>
                                    <m:r>
                                      <a:rPr lang="en-US" altLang="zh-CN" sz="2400" b="0" i="1" kern="100" baseline="-25000" dirty="0">
                                        <a:solidFill>
                                          <a:srgbClr val="FF0000"/>
                                        </a:solidFill>
                                        <a:latin typeface="Cambria Math" panose="02040503050406030204" charset="0"/>
                                        <a:ea typeface="楷体" panose="02010609060101010101" charset="-122"/>
                                        <a:cs typeface="Cambria Math" panose="02040503050406030204" charset="0"/>
                                      </a:rPr>
                                      <m:t>1</m:t>
                                    </m:r>
                                    <m:r>
                                      <a:rPr lang="en-US" altLang="zh-CN" sz="2400" b="0" i="1" kern="100" dirty="0">
                                        <a:solidFill>
                                          <a:srgbClr val="FF0000"/>
                                        </a:solidFill>
                                        <a:latin typeface="Cambria Math" panose="02040503050406030204" charset="0"/>
                                        <a:ea typeface="MS Mincho" charset="0"/>
                                        <a:cs typeface="Cambria Math" panose="02040503050406030204" charset="0"/>
                                      </a:rPr>
                                      <m:t>,</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𝐴</m:t>
                                    </m:r>
                                    <m:r>
                                      <a:rPr lang="en-US" altLang="zh-CN" sz="2400" b="0" i="1" kern="100" baseline="-25000" dirty="0">
                                        <a:solidFill>
                                          <a:srgbClr val="FF0000"/>
                                        </a:solidFill>
                                        <a:latin typeface="Cambria Math" panose="02040503050406030204" charset="0"/>
                                        <a:ea typeface="楷体" panose="02010609060101010101" charset="-122"/>
                                        <a:cs typeface="Cambria Math" panose="02040503050406030204" charset="0"/>
                                      </a:rPr>
                                      <m:t>2</m:t>
                                    </m:r>
                                    <m:r>
                                      <a:rPr lang="en-US" altLang="zh-CN" sz="2400" b="0" i="1" kern="100" dirty="0">
                                        <a:solidFill>
                                          <a:srgbClr val="FF0000"/>
                                        </a:solidFill>
                                        <a:latin typeface="Cambria Math" panose="02040503050406030204" charset="0"/>
                                        <a:ea typeface="MS Mincho" charset="0"/>
                                        <a:cs typeface="Cambria Math" panose="02040503050406030204" charset="0"/>
                                      </a:rPr>
                                      <m:t>,...,</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𝐴</m:t>
                                    </m:r>
                                    <m:r>
                                      <a:rPr lang="en-US" altLang="zh-CN" sz="2400" b="0" i="1" kern="100" baseline="-25000" dirty="0">
                                        <a:solidFill>
                                          <a:srgbClr val="FF0000"/>
                                        </a:solidFill>
                                        <a:latin typeface="Cambria Math" panose="02040503050406030204" charset="0"/>
                                        <a:ea typeface="楷体" panose="02010609060101010101" charset="-122"/>
                                        <a:cs typeface="Cambria Math" panose="02040503050406030204" charset="0"/>
                                      </a:rPr>
                                      <m:t>𝑛</m:t>
                                    </m:r>
                                  </m:sub>
                                </m:sSub>
                                <m:r>
                                  <a:rPr lang="en-US" altLang="zh-CN" sz="2400" b="0" i="1" kern="100" dirty="0">
                                    <a:solidFill>
                                      <a:srgbClr val="1F2DA8"/>
                                    </a:solidFill>
                                    <a:latin typeface="Cambria Math" panose="02040503050406030204" charset="0"/>
                                    <a:ea typeface="MS Mincho" charset="0"/>
                                    <a:cs typeface="Cambria Math" panose="02040503050406030204" charset="0"/>
                                  </a:rPr>
                                  <m:t>(</m:t>
                                </m:r>
                                <m:r>
                                  <a:rPr lang="en-US" altLang="zh-CN" sz="2400" b="0" i="1" kern="100" dirty="0">
                                    <a:solidFill>
                                      <a:srgbClr val="1F2DA8"/>
                                    </a:solidFill>
                                    <a:latin typeface="Cambria Math" panose="02040503050406030204" charset="0"/>
                                    <a:ea typeface="楷体" panose="02010609060101010101" charset="-122"/>
                                    <a:cs typeface="Cambria Math" panose="02040503050406030204" charset="0"/>
                                  </a:rPr>
                                  <m:t>𝑅</m:t>
                                </m:r>
                                <m:r>
                                  <a:rPr lang="en-US" altLang="zh-CN" sz="2400" b="0" i="1" kern="100" dirty="0">
                                    <a:solidFill>
                                      <a:srgbClr val="1F2DA8"/>
                                    </a:solidFill>
                                    <a:latin typeface="Cambria Math" panose="02040503050406030204" charset="0"/>
                                    <a:ea typeface="MS Mincho" charset="0"/>
                                    <a:cs typeface="Cambria Math" panose="02040503050406030204" charset="0"/>
                                  </a:rPr>
                                  <m:t>)</m:t>
                                </m:r>
                              </m:oMath>
                            </m:oMathPara>
                          </a14:m>
                          <a:endParaRPr lang="en-US" altLang="zh-CN" sz="2400" b="0"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400" b="0" i="1" kern="100" dirty="0">
                                    <a:latin typeface="Cambria Math" panose="02040503050406030204" charset="0"/>
                                    <a:ea typeface="楷体" panose="02010609060101010101" charset="-122"/>
                                    <a:cs typeface="Cambria Math" panose="02040503050406030204" charset="0"/>
                                  </a:rPr>
                                  <m:t>𝑅</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𝐴</m:t>
                                </m:r>
                                <m:r>
                                  <a:rPr lang="en-US" altLang="zh-CN" sz="2400" b="0" i="1" kern="100" baseline="-25000" dirty="0">
                                    <a:solidFill>
                                      <a:srgbClr val="FF0000"/>
                                    </a:solidFill>
                                    <a:latin typeface="Cambria Math" panose="02040503050406030204" charset="0"/>
                                    <a:ea typeface="楷体" panose="02010609060101010101" charset="-122"/>
                                    <a:cs typeface="Cambria Math" panose="02040503050406030204" charset="0"/>
                                  </a:rPr>
                                  <m:t>1</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 </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𝐴</m:t>
                                </m:r>
                                <m:r>
                                  <a:rPr lang="en-US" altLang="zh-CN" sz="2400" b="0" i="1" kern="100" baseline="-25000" dirty="0">
                                    <a:solidFill>
                                      <a:srgbClr val="FF0000"/>
                                    </a:solidFill>
                                    <a:latin typeface="Cambria Math" panose="02040503050406030204" charset="0"/>
                                    <a:ea typeface="楷体" panose="02010609060101010101" charset="-122"/>
                                    <a:cs typeface="Cambria Math" panose="02040503050406030204" charset="0"/>
                                  </a:rPr>
                                  <m:t>2</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 ..., </m:t>
                                </m:r>
                                <m:r>
                                  <a:rPr lang="en-US" altLang="zh-CN" sz="2400" b="0" i="1" kern="100" dirty="0">
                                    <a:solidFill>
                                      <a:srgbClr val="FF0000"/>
                                    </a:solidFill>
                                    <a:latin typeface="Cambria Math" panose="02040503050406030204" charset="0"/>
                                    <a:ea typeface="楷体" panose="02010609060101010101" charset="-122"/>
                                    <a:cs typeface="Cambria Math" panose="02040503050406030204" charset="0"/>
                                  </a:rPr>
                                  <m:t>𝐴𝑛</m:t>
                                </m:r>
                                <m:r>
                                  <a:rPr lang="en-US" altLang="zh-CN" sz="2400" b="0" i="1" kern="100" dirty="0">
                                    <a:solidFill>
                                      <a:srgbClr val="FF0000"/>
                                    </a:solidFill>
                                    <a:latin typeface="Cambria Math" panose="02040503050406030204" charset="0"/>
                                    <a:ea typeface="MS Mincho" charset="0"/>
                                    <a:cs typeface="Cambria Math" panose="02040503050406030204" charset="0"/>
                                  </a:rPr>
                                  <m:t>]</m:t>
                                </m:r>
                              </m:oMath>
                            </m:oMathPara>
                          </a14:m>
                          <a:endParaRPr lang="en-US" altLang="zh-CN" sz="2400" b="0" i="1" kern="100" dirty="0">
                            <a:solidFill>
                              <a:srgbClr val="FF0000"/>
                            </a:solidFill>
                            <a:latin typeface="Cambria Math" panose="02040503050406030204" charset="0"/>
                            <a:ea typeface="MS Mincho" charset="0"/>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5"/>
                      </a:ext>
                    </a:extLst>
                  </a:tr>
                </a:tbl>
              </a:graphicData>
            </a:graphic>
          </p:graphicFrame>
        </mc:Choice>
        <mc:Fallback xmlns="">
          <p:graphicFrame>
            <p:nvGraphicFramePr>
              <p:cNvPr id="11" name="表格 10"/>
              <p:cNvGraphicFramePr>
                <a:graphicFrameLocks noGrp="1"/>
              </p:cNvGraphicFramePr>
              <p:nvPr>
                <p:custDataLst>
                  <p:tags r:id="rId3"/>
                </p:custDataLst>
              </p:nvPr>
            </p:nvGraphicFramePr>
            <p:xfrm>
              <a:off x="396875" y="760730"/>
              <a:ext cx="11407140" cy="6299835"/>
            </p:xfrm>
            <a:graphic>
              <a:graphicData uri="http://schemas.openxmlformats.org/drawingml/2006/table">
                <a:tbl>
                  <a:tblPr/>
                  <a:tblGrid>
                    <a:gridCol w="1135380"/>
                    <a:gridCol w="2712720"/>
                    <a:gridCol w="3242310"/>
                    <a:gridCol w="4316730"/>
                  </a:tblGrid>
                  <a:tr h="365760">
                    <a:tc gridSpan="2">
                      <a:txBody>
                        <a:bodyPr/>
                        <a:lstStyle/>
                        <a:p>
                          <a:pPr indent="0" algn="ctr" fontAlgn="auto">
                            <a:spcAft>
                              <a:spcPts val="0"/>
                            </a:spcAft>
                          </a:pPr>
                          <a:r>
                            <a:rPr lang="zh-CN" sz="2400" b="1" kern="100" dirty="0">
                              <a:ea typeface="楷体" panose="02010609060101010101" charset="-122"/>
                              <a:cs typeface="Times New Roman" panose="02020603050405020304"/>
                            </a:rPr>
                            <a:t>关系运算</a:t>
                          </a:r>
                          <a:endParaRPr lang="zh-CN" sz="24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buNone/>
                          </a:pPr>
                          <a:r>
                            <a:rPr lang="zh-CN" altLang="en-US" sz="2400" b="1" kern="100" dirty="0">
                              <a:ea typeface="楷体" panose="02010609060101010101" charset="-122"/>
                              <a:cs typeface="+mn-lt"/>
                            </a:rPr>
                            <a:t>运算符</a:t>
                          </a:r>
                          <a:endParaRPr lang="zh-CN" altLang="en-US" sz="2400" b="1" kern="100" dirty="0">
                            <a:ea typeface="楷体" panose="02010609060101010101" charset="-122"/>
                            <a:cs typeface="+mn-lt"/>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400" b="1" kern="100">
                              <a:ea typeface="楷体" panose="02010609060101010101" charset="-122"/>
                              <a:cs typeface="Times New Roman" panose="02020603050405020304"/>
                            </a:rPr>
                            <a:t>操作符</a:t>
                          </a:r>
                          <a:endParaRPr lang="zh-CN" sz="2400" b="1" kern="10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800">
                    <a:tc rowSpan="5">
                      <a:txBody>
                        <a:bodyPr/>
                        <a:lstStyle/>
                        <a:p>
                          <a:pPr indent="0" algn="ctr" fontAlgn="auto">
                            <a:spcAft>
                              <a:spcPts val="0"/>
                            </a:spcAft>
                          </a:pPr>
                          <a:r>
                            <a:rPr lang="zh-CN" sz="2400" b="1" kern="100" dirty="0">
                              <a:ea typeface="楷体" panose="02010609060101010101" charset="-122"/>
                              <a:cs typeface="Times New Roman" panose="02020603050405020304"/>
                            </a:rPr>
                            <a:t>基本</a:t>
                          </a:r>
                          <a:endParaRPr lang="zh-CN" sz="2400" b="1" kern="100" dirty="0">
                            <a:ea typeface="楷体" panose="02010609060101010101" charset="-122"/>
                            <a:cs typeface="Times New Roman" panose="02020603050405020304"/>
                          </a:endParaRPr>
                        </a:p>
                        <a:p>
                          <a:pPr indent="0" algn="ctr" fontAlgn="auto">
                            <a:spcAft>
                              <a:spcPts val="0"/>
                            </a:spcAft>
                          </a:pPr>
                          <a:r>
                            <a:rPr lang="zh-CN" sz="2400" b="1" kern="100" dirty="0">
                              <a:ea typeface="楷体" panose="02010609060101010101" charset="-122"/>
                              <a:cs typeface="Times New Roman" panose="02020603050405020304"/>
                            </a:rPr>
                            <a:t>运算</a:t>
                          </a:r>
                          <a:endParaRPr lang="zh-CN" sz="24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p>
                          <a:pPr indent="0" algn="ctr" fontAlgn="auto">
                            <a:spcAft>
                              <a:spcPts val="0"/>
                            </a:spcAft>
                          </a:pPr>
                          <a:r>
                            <a:rPr lang="zh-CN" sz="2400" b="1" kern="100" dirty="0">
                              <a:ea typeface="楷体" panose="02010609060101010101" charset="-122"/>
                              <a:cs typeface="Times New Roman" panose="02020603050405020304"/>
                            </a:rPr>
                            <a:t>并</a:t>
                          </a:r>
                          <a:endParaRPr lang="zh-CN" sz="24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432435">
                    <a:tc vMerge="1">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400" b="1" kern="100" dirty="0">
                              <a:ea typeface="楷体" panose="02010609060101010101" charset="-122"/>
                              <a:cs typeface="Times New Roman" panose="02020603050405020304"/>
                            </a:rPr>
                            <a:t>差</a:t>
                          </a:r>
                          <a:endParaRPr lang="zh-CN" sz="24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431800">
                    <a:tc vMerge="1">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400" b="1" kern="100" dirty="0">
                              <a:ea typeface="楷体" panose="02010609060101010101" charset="-122"/>
                              <a:cs typeface="Times New Roman" panose="02020603050405020304"/>
                            </a:rPr>
                            <a:t>笛卡尔积</a:t>
                          </a:r>
                          <a:endParaRPr lang="zh-CN" sz="24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432435">
                    <a:tc vMerge="1">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400" b="1" kern="100" dirty="0">
                              <a:ea typeface="楷体" panose="02010609060101010101" charset="-122"/>
                              <a:cs typeface="Times New Roman" panose="02020603050405020304"/>
                            </a:rPr>
                            <a:t>选择</a:t>
                          </a:r>
                          <a:endParaRPr lang="zh-CN" sz="24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431800">
                    <a:tc vMerge="1">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400" b="1" kern="100" dirty="0">
                              <a:ea typeface="楷体" panose="02010609060101010101" charset="-122"/>
                              <a:cs typeface="Times New Roman" panose="02020603050405020304"/>
                            </a:rPr>
                            <a:t>投影</a:t>
                          </a:r>
                          <a:endParaRPr lang="zh-CN" sz="24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bl>
              </a:graphicData>
            </a:graphic>
          </p:graphicFrame>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7</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pic>
        <p:nvPicPr>
          <p:cNvPr id="4" name="图片 3"/>
          <p:cNvPicPr>
            <a:picLocks noChangeAspect="1"/>
          </p:cNvPicPr>
          <p:nvPr/>
        </p:nvPicPr>
        <p:blipFill>
          <a:blip r:embed="rId5"/>
          <a:stretch>
            <a:fillRect/>
          </a:stretch>
        </p:blipFill>
        <p:spPr>
          <a:xfrm>
            <a:off x="366395" y="3296920"/>
            <a:ext cx="11474450" cy="33343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65537"/>
          <p:cNvSpPr>
            <a:spLocks noGrp="1"/>
          </p:cNvSpPr>
          <p:nvPr>
            <p:ph type="title"/>
          </p:nvPr>
        </p:nvSpPr>
        <p:spPr/>
        <p:txBody>
          <a:bodyPr anchor="ctr"/>
          <a:lstStyle/>
          <a:p>
            <a:r>
              <a:rPr lang="en-US" altLang="x-none" sz="2800" dirty="0"/>
              <a:t> </a:t>
            </a:r>
            <a:r>
              <a:rPr lang="zh-CN" altLang="en-US" dirty="0">
                <a:sym typeface="+mn-ea"/>
              </a:rPr>
              <a:t>关系代数</a:t>
            </a:r>
            <a:r>
              <a:rPr lang="en-US" altLang="zh-CN" dirty="0">
                <a:sym typeface="+mn-ea"/>
              </a:rPr>
              <a:t> 5</a:t>
            </a:r>
            <a:r>
              <a:rPr lang="zh-CN" altLang="en-US" dirty="0">
                <a:sym typeface="+mn-ea"/>
              </a:rPr>
              <a:t>：</a:t>
            </a:r>
            <a:r>
              <a:rPr lang="zh-CN" altLang="en-US" sz="2800" dirty="0">
                <a:latin typeface="宋体" panose="02010600030101010101" pitchFamily="2" charset="-122"/>
              </a:rPr>
              <a:t>关系操纵的表示</a:t>
            </a:r>
          </a:p>
        </p:txBody>
      </p:sp>
      <p:sp>
        <p:nvSpPr>
          <p:cNvPr id="66562" name="文本占位符 65538"/>
          <p:cNvSpPr>
            <a:spLocks noGrp="1"/>
          </p:cNvSpPr>
          <p:nvPr>
            <p:ph idx="1"/>
          </p:nvPr>
        </p:nvSpPr>
        <p:spPr>
          <a:xfrm>
            <a:off x="424180" y="687070"/>
            <a:ext cx="11343005" cy="4307840"/>
          </a:xfrm>
        </p:spPr>
        <p:txBody>
          <a:bodyPr anchor="t">
            <a:spAutoFit/>
          </a:bodyPr>
          <a:lstStyle/>
          <a:p>
            <a:pPr marL="457200" indent="-457200">
              <a:lnSpc>
                <a:spcPct val="100000"/>
              </a:lnSpc>
            </a:pPr>
            <a:r>
              <a:rPr lang="zh-CN" altLang="en-US" sz="2800" dirty="0">
                <a:solidFill>
                  <a:srgbClr val="0000C8"/>
                </a:solidFill>
                <a:latin typeface="楷体" panose="02010609060101010101" charset="-122"/>
                <a:ea typeface="楷体" panose="02010609060101010101" charset="-122"/>
              </a:rPr>
              <a:t>对于关系代数中的每一种运算符，都需要从以下两个方面去掌握：</a:t>
            </a:r>
          </a:p>
          <a:p>
            <a:pPr marL="914400" lvl="1" indent="-457200">
              <a:lnSpc>
                <a:spcPct val="100000"/>
              </a:lnSpc>
              <a:spcBef>
                <a:spcPts val="1000"/>
              </a:spcBef>
              <a:buAutoNum type="circleNumDbPlain"/>
            </a:pPr>
            <a:r>
              <a:rPr lang="zh-CN" altLang="en-US" sz="2800" dirty="0">
                <a:solidFill>
                  <a:srgbClr val="FF0000"/>
                </a:solidFill>
                <a:latin typeface="楷体" panose="02010609060101010101" charset="-122"/>
                <a:ea typeface="楷体" panose="02010609060101010101" charset="-122"/>
              </a:rPr>
              <a:t>运算的执行条件</a:t>
            </a:r>
          </a:p>
          <a:p>
            <a:pPr lvl="2">
              <a:lnSpc>
                <a:spcPct val="100000"/>
              </a:lnSpc>
              <a:spcBef>
                <a:spcPts val="1000"/>
              </a:spcBef>
              <a:buFont typeface="Arial" panose="020B0604020202020204" pitchFamily="34" charset="0"/>
              <a:buChar char="•"/>
            </a:pPr>
            <a:r>
              <a:rPr lang="zh-CN" altLang="en-US" sz="2800" dirty="0">
                <a:solidFill>
                  <a:srgbClr val="0000C8"/>
                </a:solidFill>
                <a:latin typeface="楷体" panose="02010609060101010101" charset="-122"/>
                <a:ea typeface="楷体" panose="02010609060101010101" charset="-122"/>
              </a:rPr>
              <a:t>对关系运算的正确使用，确保关系代数表达式可以合法计算</a:t>
            </a:r>
          </a:p>
          <a:p>
            <a:pPr marL="914400" lvl="1" indent="-457200">
              <a:lnSpc>
                <a:spcPct val="100000"/>
              </a:lnSpc>
              <a:spcBef>
                <a:spcPts val="1000"/>
              </a:spcBef>
              <a:buAutoNum type="circleNumDbPlain"/>
            </a:pPr>
            <a:r>
              <a:rPr lang="zh-CN" altLang="en-US" sz="2800" dirty="0">
                <a:solidFill>
                  <a:srgbClr val="FF0000"/>
                </a:solidFill>
                <a:latin typeface="楷体" panose="02010609060101010101" charset="-122"/>
                <a:ea typeface="楷体" panose="02010609060101010101" charset="-122"/>
              </a:rPr>
              <a:t>运算的执行结果</a:t>
            </a:r>
          </a:p>
          <a:p>
            <a:pPr lvl="2">
              <a:lnSpc>
                <a:spcPct val="100000"/>
              </a:lnSpc>
              <a:spcBef>
                <a:spcPts val="1000"/>
              </a:spcBef>
              <a:buFont typeface="Arial" panose="020B0604020202020204" pitchFamily="34" charset="0"/>
              <a:buChar char="•"/>
            </a:pPr>
            <a:r>
              <a:rPr lang="zh-CN" altLang="en-US" sz="2800" dirty="0">
                <a:solidFill>
                  <a:srgbClr val="0000C8"/>
                </a:solidFill>
                <a:latin typeface="楷体" panose="02010609060101010101" charset="-122"/>
                <a:ea typeface="楷体" panose="02010609060101010101" charset="-122"/>
              </a:rPr>
              <a:t>结果关系的关系模式是什么？</a:t>
            </a:r>
          </a:p>
          <a:p>
            <a:pPr lvl="2">
              <a:lnSpc>
                <a:spcPct val="100000"/>
              </a:lnSpc>
              <a:spcBef>
                <a:spcPts val="1000"/>
              </a:spcBef>
              <a:buFont typeface="Arial" panose="020B0604020202020204" pitchFamily="34" charset="0"/>
              <a:buChar char="•"/>
            </a:pPr>
            <a:r>
              <a:rPr lang="zh-CN" altLang="en-US" sz="2800" dirty="0">
                <a:solidFill>
                  <a:srgbClr val="0000C8"/>
                </a:solidFill>
                <a:latin typeface="楷体" panose="02010609060101010101" charset="-122"/>
                <a:ea typeface="楷体" panose="02010609060101010101" charset="-122"/>
              </a:rPr>
              <a:t>结果关系中的元组是什么？</a:t>
            </a:r>
          </a:p>
          <a:p>
            <a:pPr lvl="2">
              <a:lnSpc>
                <a:spcPct val="100000"/>
              </a:lnSpc>
              <a:spcBef>
                <a:spcPts val="1000"/>
              </a:spcBef>
              <a:buFont typeface="Arial" panose="020B0604020202020204" pitchFamily="34" charset="0"/>
              <a:buChar char="•"/>
            </a:pPr>
            <a:r>
              <a:rPr lang="zh-CN" altLang="en-US" dirty="0">
                <a:solidFill>
                  <a:srgbClr val="0000C8"/>
                </a:solidFill>
                <a:sym typeface="+mn-ea"/>
              </a:rPr>
              <a:t>结果关系的关系模式和结果元组的语义是否准确反映了用户的访问要求？</a:t>
            </a:r>
            <a:endParaRPr lang="zh-CN" altLang="en-US" sz="2800" dirty="0">
              <a:solidFill>
                <a:srgbClr val="0000C8"/>
              </a:solidFill>
              <a:latin typeface="楷体" panose="02010609060101010101" charset="-122"/>
              <a:ea typeface="楷体" panose="02010609060101010101" charset="-122"/>
            </a:endParaRPr>
          </a:p>
        </p:txBody>
      </p:sp>
      <p:sp>
        <p:nvSpPr>
          <p:cNvPr id="3" name="文本占位符 65538"/>
          <p:cNvSpPr>
            <a:spLocks noGrp="1"/>
          </p:cNvSpPr>
          <p:nvPr/>
        </p:nvSpPr>
        <p:spPr>
          <a:xfrm>
            <a:off x="424180" y="5107940"/>
            <a:ext cx="11343640" cy="1383665"/>
          </a:xfrm>
          <a:prstGeom prst="rect">
            <a:avLst/>
          </a:prstGeom>
          <a:noFill/>
          <a:ln w="9525">
            <a:noFill/>
          </a:ln>
        </p:spPr>
        <p:txBody>
          <a:bodyPr wrap="square" anchor="t">
            <a:sp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marL="457200" lvl="0" indent="-457200">
              <a:lnSpc>
                <a:spcPct val="100000"/>
              </a:lnSpc>
              <a:buClr>
                <a:srgbClr val="C00000"/>
              </a:buClr>
              <a:buSzPct val="85000"/>
            </a:pPr>
            <a:r>
              <a:rPr lang="zh-CN" sz="2800" dirty="0">
                <a:solidFill>
                  <a:srgbClr val="0000C8"/>
                </a:solidFill>
                <a:latin typeface="Times New Roman" panose="02020603050405020304" charset="0"/>
                <a:ea typeface="楷体" panose="02010609060101010101" charset="-122"/>
                <a:cs typeface="Times New Roman" panose="02020603050405020304" charset="0"/>
                <a:sym typeface="+mn-ea"/>
              </a:rPr>
              <a:t>不论是哪一个关系（被访问的访问对象、访问结果，或者是访问过程中所生成的中间关系），都需要明确其</a:t>
            </a:r>
            <a:r>
              <a:rPr lang="en-US" altLang="zh-CN" sz="2800" dirty="0">
                <a:solidFill>
                  <a:srgbClr val="0000C8"/>
                </a:solidFill>
                <a:latin typeface="Times New Roman" panose="02020603050405020304" charset="0"/>
                <a:ea typeface="楷体" panose="02010609060101010101" charset="-122"/>
                <a:cs typeface="Times New Roman" panose="02020603050405020304" charset="0"/>
                <a:sym typeface="+mn-ea"/>
              </a:rPr>
              <a:t>‘</a:t>
            </a:r>
            <a:r>
              <a:rPr lang="zh-CN" sz="2800" dirty="0">
                <a:solidFill>
                  <a:srgbClr val="FF0000"/>
                </a:solidFill>
                <a:latin typeface="Times New Roman" panose="02020603050405020304" charset="0"/>
                <a:ea typeface="楷体" panose="02010609060101010101" charset="-122"/>
                <a:cs typeface="Times New Roman" panose="02020603050405020304" charset="0"/>
                <a:sym typeface="+mn-ea"/>
              </a:rPr>
              <a:t>关系模式</a:t>
            </a:r>
            <a:r>
              <a:rPr lang="en-US" altLang="zh-CN" sz="2800" dirty="0">
                <a:solidFill>
                  <a:srgbClr val="0000C8"/>
                </a:solidFill>
                <a:latin typeface="Times New Roman" panose="02020603050405020304" charset="0"/>
                <a:ea typeface="楷体" panose="02010609060101010101" charset="-122"/>
                <a:cs typeface="Times New Roman" panose="02020603050405020304" charset="0"/>
                <a:sym typeface="+mn-ea"/>
              </a:rPr>
              <a:t>’</a:t>
            </a:r>
            <a:r>
              <a:rPr lang="zh-CN" sz="2800" dirty="0">
                <a:solidFill>
                  <a:srgbClr val="0000C8"/>
                </a:solidFill>
                <a:latin typeface="Times New Roman" panose="02020603050405020304" charset="0"/>
                <a:ea typeface="楷体" panose="02010609060101010101" charset="-122"/>
                <a:cs typeface="Times New Roman" panose="02020603050405020304" charset="0"/>
                <a:sym typeface="+mn-ea"/>
              </a:rPr>
              <a:t>和</a:t>
            </a:r>
            <a:r>
              <a:rPr lang="en-US" altLang="zh-CN" sz="2800" dirty="0">
                <a:solidFill>
                  <a:srgbClr val="0000C8"/>
                </a:solidFill>
                <a:latin typeface="Times New Roman" panose="02020603050405020304" charset="0"/>
                <a:ea typeface="楷体" panose="02010609060101010101" charset="-122"/>
                <a:cs typeface="Times New Roman" panose="02020603050405020304" charset="0"/>
                <a:sym typeface="+mn-ea"/>
              </a:rPr>
              <a:t>‘</a:t>
            </a:r>
            <a:r>
              <a:rPr lang="zh-CN" sz="2800" dirty="0">
                <a:solidFill>
                  <a:srgbClr val="FF0000"/>
                </a:solidFill>
                <a:latin typeface="Times New Roman" panose="02020603050405020304" charset="0"/>
                <a:ea typeface="楷体" panose="02010609060101010101" charset="-122"/>
                <a:cs typeface="Times New Roman" panose="02020603050405020304" charset="0"/>
                <a:sym typeface="+mn-ea"/>
              </a:rPr>
              <a:t>元组集合</a:t>
            </a:r>
            <a:r>
              <a:rPr lang="en-US" altLang="zh-CN" sz="2800" dirty="0">
                <a:solidFill>
                  <a:srgbClr val="0000C8"/>
                </a:solidFill>
                <a:latin typeface="Times New Roman" panose="02020603050405020304" charset="0"/>
                <a:ea typeface="楷体" panose="02010609060101010101" charset="-122"/>
                <a:cs typeface="Times New Roman" panose="02020603050405020304" charset="0"/>
                <a:sym typeface="+mn-ea"/>
              </a:rPr>
              <a:t>’</a:t>
            </a:r>
            <a:r>
              <a:rPr lang="zh-CN" sz="2800" dirty="0">
                <a:solidFill>
                  <a:srgbClr val="0000C8"/>
                </a:solidFill>
                <a:latin typeface="Times New Roman" panose="02020603050405020304" charset="0"/>
                <a:ea typeface="楷体" panose="02010609060101010101" charset="-122"/>
                <a:cs typeface="Times New Roman" panose="02020603050405020304" charset="0"/>
                <a:sym typeface="+mn-ea"/>
              </a:rPr>
              <a:t>是什么。</a:t>
            </a:r>
            <a:endParaRPr lang="zh-CN" altLang="en-US" sz="2800" dirty="0">
              <a:solidFill>
                <a:srgbClr val="0000C8"/>
              </a:solidFill>
              <a:latin typeface="Times New Roman" panose="02020603050405020304" charset="0"/>
              <a:ea typeface="楷体" panose="02010609060101010101" charset="-122"/>
              <a:cs typeface="Times New Roman" panose="02020603050405020304" charset="0"/>
              <a:sym typeface="+mn-ea"/>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8</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关系代数中使用的记号</a:t>
            </a:r>
            <a:r>
              <a:rPr lang="en-US" altLang="zh-CN">
                <a:sym typeface="+mn-ea"/>
              </a:rPr>
              <a:t> 1</a:t>
            </a:r>
          </a:p>
        </p:txBody>
      </p:sp>
      <mc:AlternateContent xmlns:mc="http://schemas.openxmlformats.org/markup-compatibility/2006" xmlns:a14="http://schemas.microsoft.com/office/drawing/2010/main">
        <mc:Choice Requires="a14">
          <p:graphicFrame>
            <p:nvGraphicFramePr>
              <p:cNvPr id="4" name="表格 3"/>
              <p:cNvGraphicFramePr/>
              <p:nvPr>
                <p:custDataLst>
                  <p:tags r:id="rId1"/>
                </p:custDataLst>
              </p:nvPr>
            </p:nvGraphicFramePr>
            <p:xfrm>
              <a:off x="424180" y="687070"/>
              <a:ext cx="11343005" cy="6000115"/>
            </p:xfrm>
            <a:graphic>
              <a:graphicData uri="http://schemas.openxmlformats.org/drawingml/2006/table">
                <a:tbl>
                  <a:tblPr firstRow="1" bandRow="1">
                    <a:tableStyleId>{5C22544A-7EE6-4342-B048-85BDC9FD1C3A}</a:tableStyleId>
                  </a:tblPr>
                  <a:tblGrid>
                    <a:gridCol w="2233930">
                      <a:extLst>
                        <a:ext uri="{9D8B030D-6E8A-4147-A177-3AD203B41FA5}">
                          <a16:colId xmlns:a16="http://schemas.microsoft.com/office/drawing/2014/main" val="20000"/>
                        </a:ext>
                      </a:extLst>
                    </a:gridCol>
                    <a:gridCol w="9109075">
                      <a:extLst>
                        <a:ext uri="{9D8B030D-6E8A-4147-A177-3AD203B41FA5}">
                          <a16:colId xmlns:a16="http://schemas.microsoft.com/office/drawing/2014/main" val="20001"/>
                        </a:ext>
                      </a:extLst>
                    </a:gridCol>
                  </a:tblGrid>
                  <a:tr h="711200">
                    <a:tc>
                      <a:txBody>
                        <a:bodyPr/>
                        <a:lstStyle/>
                        <a:p>
                          <a:pPr algn="ctr">
                            <a:buNone/>
                          </a:pPr>
                          <a:r>
                            <a:rPr lang="zh-CN" altLang="en-US" sz="2800" b="1" dirty="0">
                              <a:solidFill>
                                <a:srgbClr val="1F2DA8"/>
                              </a:solidFill>
                              <a:latin typeface="Calibri" panose="020F0502020204030204" charset="0"/>
                              <a:ea typeface="楷体" panose="02010609060101010101" charset="-122"/>
                              <a:cs typeface="Times New Roman" panose="02020603050405020304" charset="0"/>
                              <a:sym typeface="+mn-ea"/>
                            </a:rPr>
                            <a:t>符号</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lumMod val="85000"/>
                            <a:alpha val="50000"/>
                          </a:schemeClr>
                        </a:solidFill>
                      </a:tcPr>
                    </a:tc>
                    <a:tc>
                      <a:txBody>
                        <a:bodyPr/>
                        <a:lstStyle/>
                        <a:p>
                          <a:pPr algn="ctr">
                            <a:buNone/>
                          </a:pPr>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含义</a:t>
                          </a:r>
                        </a:p>
                      </a:txBody>
                      <a:tcPr marL="14414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lumMod val="85000"/>
                            <a:alpha val="50000"/>
                          </a:schemeClr>
                        </a:solidFill>
                      </a:tcPr>
                    </a:tc>
                    <a:extLst>
                      <a:ext uri="{0D108BD9-81ED-4DB2-BD59-A6C34878D82A}">
                        <a16:rowId xmlns:a16="http://schemas.microsoft.com/office/drawing/2014/main" val="10000"/>
                      </a:ext>
                    </a:extLst>
                  </a:tr>
                  <a:tr h="1205230">
                    <a:tc>
                      <a:txBody>
                        <a:bodyPr/>
                        <a:lstStyle/>
                        <a:p>
                          <a:pPr algn="ctr">
                            <a:buNone/>
                          </a:pP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B</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C</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t>
                          </a:r>
                        </a:p>
                        <a:p>
                          <a:pPr algn="ctr">
                            <a:buNone/>
                          </a:pP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x-none" sz="2800" b="1" baseline="-25000" dirty="0">
                              <a:solidFill>
                                <a:srgbClr val="1F2DA8"/>
                              </a:solidFill>
                              <a:latin typeface="Calibri" panose="020F0502020204030204" charset="0"/>
                              <a:ea typeface="楷体" panose="02010609060101010101" charset="-122"/>
                              <a:cs typeface="Calibri" panose="020F0502020204030204" charset="0"/>
                              <a:sym typeface="+mn-ea"/>
                            </a:rPr>
                            <a:t>1 </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x-none" sz="2800" b="1" baseline="-25000" dirty="0">
                              <a:solidFill>
                                <a:srgbClr val="1F2DA8"/>
                              </a:solidFill>
                              <a:latin typeface="Calibri" panose="020F0502020204030204" charset="0"/>
                              <a:ea typeface="楷体" panose="02010609060101010101" charset="-122"/>
                              <a:cs typeface="Calibri" panose="020F0502020204030204" charset="0"/>
                              <a:sym typeface="+mn-ea"/>
                            </a:rPr>
                            <a:t>2 </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l">
                            <a:buNone/>
                          </a:pPr>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前面的大写字母表示属性名、小写字母表示属性值。</a:t>
                          </a:r>
                        </a:p>
                        <a:p>
                          <a:pPr algn="l">
                            <a:buNone/>
                          </a:pPr>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例如：用</a:t>
                          </a:r>
                          <a14:m>
                            <m:oMath xmlns:m="http://schemas.openxmlformats.org/officeDocument/2006/math">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𝑨</m:t>
                              </m:r>
                            </m:oMath>
                          </a14:m>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表示属性名，用</a:t>
                          </a:r>
                          <a14:m>
                            <m:oMath xmlns:m="http://schemas.openxmlformats.org/officeDocument/2006/math">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 </m:t>
                              </m:r>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𝒂</m:t>
                              </m:r>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 </m:t>
                              </m:r>
                            </m:oMath>
                          </a14:m>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或</a:t>
                          </a:r>
                          <a14:m>
                            <m:oMath xmlns:m="http://schemas.openxmlformats.org/officeDocument/2006/math">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 </m:t>
                              </m:r>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𝒂</m:t>
                              </m:r>
                              <m:r>
                                <a:rPr lang="en-US" altLang="zh-CN" sz="2800" b="1" i="1" baseline="-25000" dirty="0">
                                  <a:solidFill>
                                    <a:srgbClr val="1F2DA8"/>
                                  </a:solidFill>
                                  <a:latin typeface="Cambria Math" panose="02040503050406030204" charset="0"/>
                                  <a:ea typeface="楷体" panose="02010609060101010101" charset="-122"/>
                                  <a:cs typeface="Cambria Math" panose="02040503050406030204" charset="0"/>
                                  <a:sym typeface="+mn-ea"/>
                                </a:rPr>
                                <m:t>𝟏</m:t>
                              </m:r>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m:t>
                              </m:r>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𝒂</m:t>
                              </m:r>
                              <m:r>
                                <a:rPr lang="en-US" altLang="zh-CN" sz="2800" b="1" i="1" baseline="-25000" dirty="0">
                                  <a:solidFill>
                                    <a:srgbClr val="1F2DA8"/>
                                  </a:solidFill>
                                  <a:latin typeface="Cambria Math" panose="02040503050406030204" charset="0"/>
                                  <a:ea typeface="楷体" panose="02010609060101010101" charset="-122"/>
                                  <a:cs typeface="Cambria Math" panose="02040503050406030204" charset="0"/>
                                  <a:sym typeface="+mn-ea"/>
                                </a:rPr>
                                <m:t>𝟐</m:t>
                              </m:r>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 </m:t>
                              </m:r>
                            </m:oMath>
                          </a14:m>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表示属性</a:t>
                          </a:r>
                          <a:r>
                            <a:rPr lang="en-US" altLang="zh-CN" sz="2800" b="1" dirty="0">
                              <a:solidFill>
                                <a:srgbClr val="1F2DA8"/>
                              </a:solidFill>
                              <a:latin typeface="Calibri" panose="020F0502020204030204" charset="0"/>
                              <a:ea typeface="楷体" panose="02010609060101010101" charset="-122"/>
                              <a:cs typeface="Arial" panose="020B0604020202020204" pitchFamily="34" charset="0"/>
                              <a:sym typeface="+mn-ea"/>
                            </a:rPr>
                            <a:t>A</a:t>
                          </a:r>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的值</a:t>
                          </a:r>
                        </a:p>
                      </a:txBody>
                      <a:tcPr marL="14414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660400">
                    <a:tc>
                      <a:txBody>
                        <a:bodyPr/>
                        <a:lstStyle/>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X , Y , Z , ...</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后面的大写字母</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表示关系中的一个属性组</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属性集</a:t>
                          </a:r>
                          <a:endParaRPr lang="en-US" altLang="zh-CN" sz="2800" b="1" dirty="0">
                            <a:solidFill>
                              <a:srgbClr val="1F2DA8"/>
                            </a:solidFill>
                            <a:latin typeface="Calibri" panose="020F0502020204030204" charset="0"/>
                            <a:ea typeface="楷体" panose="02010609060101010101" charset="-122"/>
                            <a:cs typeface="Calibri" panose="020F0502020204030204" charset="0"/>
                            <a:sym typeface="+mn-ea"/>
                          </a:endParaRPr>
                        </a:p>
                      </a:txBody>
                      <a:tcPr marL="14414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661670">
                    <a:tc>
                      <a:txBody>
                        <a:bodyPr/>
                        <a:lstStyle/>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 S, T , ...</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中间的大写字母表示关系名，代表一个关系，或该关系的一个实例</a:t>
                          </a:r>
                        </a:p>
                      </a:txBody>
                      <a:tcPr marL="14414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65976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𝑹</m:t>
                                </m:r>
                                <m:r>
                                  <a:rPr lang="en-US" altLang="zh-CN" sz="2800" b="1" dirty="0">
                                    <a:solidFill>
                                      <a:srgbClr val="1F2DA8"/>
                                    </a:solidFill>
                                    <a:latin typeface="Cambria Math" panose="02040503050406030204" charset="0"/>
                                    <a:ea typeface="MS Mincho" charset="0"/>
                                    <a:cs typeface="Cambria Math" panose="02040503050406030204" charset="0"/>
                                    <a:sym typeface="+mn-ea"/>
                                  </a:rPr>
                                  <m:t>(</m:t>
                                </m:r>
                                <m:r>
                                  <a:rPr lang="en-US" altLang="zh-CN" sz="2800" b="1" i="1" dirty="0">
                                    <a:solidFill>
                                      <a:srgbClr val="1F2DA8"/>
                                    </a:solidFill>
                                    <a:latin typeface="Cambria Math" panose="02040503050406030204" charset="0"/>
                                    <a:ea typeface="楷体" panose="02010609060101010101" charset="-122"/>
                                    <a:cs typeface="Cambria Math" panose="02040503050406030204" charset="0"/>
                                    <a:sym typeface="+mn-ea"/>
                                  </a:rPr>
                                  <m:t>𝑼</m:t>
                                </m:r>
                                <m:r>
                                  <a:rPr lang="en-US" altLang="zh-CN" sz="2800" b="1" dirty="0">
                                    <a:solidFill>
                                      <a:srgbClr val="1F2DA8"/>
                                    </a:solidFill>
                                    <a:latin typeface="Cambria Math" panose="02040503050406030204" charset="0"/>
                                    <a:ea typeface="MS Mincho" charset="0"/>
                                    <a:cs typeface="Cambria Math" panose="02040503050406030204" charset="0"/>
                                    <a:sym typeface="+mn-ea"/>
                                  </a:rPr>
                                  <m:t>)</m:t>
                                </m:r>
                              </m:oMath>
                            </m:oMathPara>
                          </a14:m>
                          <a:endParaRPr lang="en-US" altLang="zh-CN" sz="2800" b="1" dirty="0">
                            <a:solidFill>
                              <a:srgbClr val="1F2DA8"/>
                            </a:solidFill>
                            <a:latin typeface="Cambria Math" panose="02040503050406030204" charset="0"/>
                            <a:ea typeface="MS Mincho" charset="0"/>
                            <a:cs typeface="Cambria Math" panose="02040503050406030204" charset="0"/>
                            <a:sym typeface="+mn-ea"/>
                          </a:endParaRP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关系模式：关系名</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，关系中的属性集合</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U</a:t>
                          </a:r>
                        </a:p>
                      </a:txBody>
                      <a:tcPr marL="14414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1157605">
                    <a:tc>
                      <a:txBody>
                        <a:bodyPr/>
                        <a:lstStyle/>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 s, t, ...  </a:t>
                          </a:r>
                        </a:p>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1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 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2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 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3</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l">
                            <a:buNone/>
                          </a:pPr>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关系中的元组</a:t>
                          </a:r>
                        </a:p>
                      </a:txBody>
                      <a:tcPr marL="14414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r h="661035">
                    <a:tc>
                      <a:txBody>
                        <a:bodyPr/>
                        <a:lstStyle/>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1</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元组</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en-US" altLang="zh-CN" sz="2800" b="1" baseline="-25000" dirty="0">
                              <a:solidFill>
                                <a:srgbClr val="1F2DA8"/>
                              </a:solidFill>
                              <a:latin typeface="Calibri" panose="020F0502020204030204" charset="0"/>
                              <a:ea typeface="楷体" panose="02010609060101010101" charset="-122"/>
                              <a:cs typeface="Calibri" panose="020F0502020204030204" charset="0"/>
                              <a:sym typeface="+mn-ea"/>
                            </a:rPr>
                            <a:t>1</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在属性</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集</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上的取值</a:t>
                          </a:r>
                        </a:p>
                      </a:txBody>
                      <a:tcPr marL="144145"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6"/>
                      </a:ext>
                    </a:extLst>
                  </a:tr>
                </a:tbl>
              </a:graphicData>
            </a:graphic>
          </p:graphicFrame>
        </mc:Choice>
        <mc:Fallback xmlns="">
          <p:graphicFrame>
            <p:nvGraphicFramePr>
              <p:cNvPr id="4" name="表格 3"/>
              <p:cNvGraphicFramePr/>
              <p:nvPr>
                <p:custDataLst>
                  <p:tags r:id="rId3"/>
                </p:custDataLst>
              </p:nvPr>
            </p:nvGraphicFramePr>
            <p:xfrm>
              <a:off x="424180" y="687070"/>
              <a:ext cx="11343005" cy="5716905"/>
            </p:xfrm>
            <a:graphic>
              <a:graphicData uri="http://schemas.openxmlformats.org/drawingml/2006/table">
                <a:tbl>
                  <a:tblPr firstRow="1" bandRow="1">
                    <a:tableStyleId>{5C22544A-7EE6-4342-B048-85BDC9FD1C3A}</a:tableStyleId>
                  </a:tblPr>
                  <a:tblGrid>
                    <a:gridCol w="2233930"/>
                    <a:gridCol w="9109075"/>
                  </a:tblGrid>
                  <a:tr h="711200">
                    <a:tc>
                      <a:txBody>
                        <a:bodyPr/>
                        <a:p>
                          <a:pPr algn="ctr">
                            <a:buNone/>
                          </a:pPr>
                          <a:r>
                            <a:rPr lang="zh-CN" altLang="en-US" sz="2800" b="1" dirty="0">
                              <a:solidFill>
                                <a:srgbClr val="1F2DA8"/>
                              </a:solidFill>
                              <a:latin typeface="Calibri" panose="020F0502020204030204" charset="0"/>
                              <a:ea typeface="楷体" panose="02010609060101010101" charset="-122"/>
                              <a:cs typeface="Times New Roman" panose="02020603050405020304" charset="0"/>
                              <a:sym typeface="+mn-ea"/>
                            </a:rPr>
                            <a:t>符号</a:t>
                          </a:r>
                          <a:endParaRPr lang="zh-CN" altLang="en-US" sz="2800" b="1" dirty="0">
                            <a:solidFill>
                              <a:srgbClr val="1F2DA8"/>
                            </a:solidFill>
                            <a:latin typeface="Calibri" panose="020F0502020204030204" charset="0"/>
                            <a:ea typeface="楷体" panose="02010609060101010101" charset="-122"/>
                            <a:cs typeface="Times New Roman" panose="02020603050405020304" charset="0"/>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lumMod val="85000"/>
                            <a:alpha val="50000"/>
                          </a:schemeClr>
                        </a:solidFill>
                      </a:tcPr>
                    </a:tc>
                    <a:tc>
                      <a:txBody>
                        <a:bodyPr/>
                        <a:p>
                          <a:pPr algn="ctr">
                            <a:buNone/>
                          </a:pPr>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含义</a:t>
                          </a:r>
                          <a:endPar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endParaRPr>
                        </a:p>
                      </a:txBody>
                      <a:tcPr marL="144145"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lumMod val="85000"/>
                            <a:alpha val="50000"/>
                          </a:schemeClr>
                        </a:solidFill>
                      </a:tcPr>
                    </a:tc>
                  </a:tr>
                  <a:tr h="1205230">
                    <a:tc>
                      <a:txBody>
                        <a:bodyPr/>
                        <a:p>
                          <a:pPr algn="ctr">
                            <a:buNone/>
                          </a:pP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B</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C</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t>
                          </a:r>
                          <a:endParaRPr lang="en-US" altLang="x-none" sz="2800" b="1" i="1" dirty="0">
                            <a:solidFill>
                              <a:srgbClr val="1F2DA8"/>
                            </a:solidFill>
                            <a:latin typeface="Calibri" panose="020F0502020204030204" charset="0"/>
                            <a:ea typeface="楷体" panose="02010609060101010101" charset="-122"/>
                            <a:cs typeface="Calibri" panose="020F0502020204030204" charset="0"/>
                            <a:sym typeface="+mn-ea"/>
                          </a:endParaRPr>
                        </a:p>
                        <a:p>
                          <a:pPr algn="ctr">
                            <a:buNone/>
                          </a:pP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x-none" sz="2800" b="1" baseline="-25000" dirty="0">
                              <a:solidFill>
                                <a:srgbClr val="1F2DA8"/>
                              </a:solidFill>
                              <a:latin typeface="Calibri" panose="020F0502020204030204" charset="0"/>
                              <a:ea typeface="楷体" panose="02010609060101010101" charset="-122"/>
                              <a:cs typeface="Calibri" panose="020F0502020204030204" charset="0"/>
                              <a:sym typeface="+mn-ea"/>
                            </a:rPr>
                            <a:t>1 </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x-none" sz="2800" b="1" baseline="-25000" dirty="0">
                              <a:solidFill>
                                <a:srgbClr val="1F2DA8"/>
                              </a:solidFill>
                              <a:latin typeface="Calibri" panose="020F0502020204030204" charset="0"/>
                              <a:ea typeface="楷体" panose="02010609060101010101" charset="-122"/>
                              <a:cs typeface="Calibri" panose="020F0502020204030204" charset="0"/>
                              <a:sym typeface="+mn-ea"/>
                            </a:rPr>
                            <a:t>2 </a:t>
                          </a:r>
                          <a:r>
                            <a:rPr lang="en-US" altLang="x-none"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x-none" sz="2800" b="1" i="1" dirty="0">
                              <a:solidFill>
                                <a:srgbClr val="1F2DA8"/>
                              </a:solidFill>
                              <a:latin typeface="Calibri" panose="020F0502020204030204" charset="0"/>
                              <a:ea typeface="楷体" panose="02010609060101010101" charset="-122"/>
                              <a:cs typeface="Calibri" panose="020F0502020204030204" charset="0"/>
                              <a:sym typeface="+mn-ea"/>
                            </a:rPr>
                            <a:t>...</a:t>
                          </a:r>
                          <a:endParaRPr lang="en-US" altLang="x-none" sz="2800" b="1" i="1" dirty="0">
                            <a:solidFill>
                              <a:srgbClr val="1F2DA8"/>
                            </a:solidFill>
                            <a:latin typeface="Calibri" panose="020F0502020204030204" charset="0"/>
                            <a:ea typeface="楷体" panose="02010609060101010101" charset="-122"/>
                            <a:cs typeface="Calibri" panose="020F0502020204030204" charset="0"/>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endParaRPr lang="zh-CN"/>
                        </a:p>
                      </a:txBody>
                      <a:tcPr marL="144145"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blipFill>
                          <a:blip r:embed="rId4"/>
                        </a:blipFill>
                      </a:tcPr>
                    </a:tc>
                  </a:tr>
                  <a:tr h="660400">
                    <a:tc>
                      <a:txBody>
                        <a:bodyPr/>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X , Y , Z , ...</a:t>
                          </a:r>
                          <a:endParaRPr lang="en-US" altLang="zh-CN" sz="2800" b="1" i="1" dirty="0">
                            <a:solidFill>
                              <a:srgbClr val="1F2DA8"/>
                            </a:solidFill>
                            <a:latin typeface="Calibri" panose="020F0502020204030204" charset="0"/>
                            <a:ea typeface="楷体" panose="02010609060101010101" charset="-122"/>
                            <a:cs typeface="Calibri" panose="020F0502020204030204" charset="0"/>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后面的大写字母</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表示关系中的</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一个属性组</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属性集</a:t>
                          </a:r>
                          <a:endParaRPr lang="en-US" altLang="zh-CN" sz="2800" b="1" dirty="0">
                            <a:solidFill>
                              <a:srgbClr val="1F2DA8"/>
                            </a:solidFill>
                            <a:latin typeface="Calibri" panose="020F0502020204030204" charset="0"/>
                            <a:ea typeface="楷体" panose="02010609060101010101" charset="-122"/>
                            <a:cs typeface="Calibri" panose="020F0502020204030204" charset="0"/>
                            <a:sym typeface="+mn-ea"/>
                          </a:endParaRPr>
                        </a:p>
                      </a:txBody>
                      <a:tcPr marL="144145"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61670">
                    <a:tc>
                      <a:txBody>
                        <a:bodyPr/>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 S, T</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 , ...</a:t>
                          </a:r>
                          <a:endParaRPr lang="en-US" altLang="zh-CN" sz="2800" b="1" i="1" dirty="0">
                            <a:solidFill>
                              <a:srgbClr val="1F2DA8"/>
                            </a:solidFill>
                            <a:latin typeface="Calibri" panose="020F0502020204030204" charset="0"/>
                            <a:ea typeface="楷体" panose="02010609060101010101" charset="-122"/>
                            <a:cs typeface="Calibri" panose="020F0502020204030204" charset="0"/>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中间的大写字母表示关系名，</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代表一个</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关系，或该关系的一个实例</a:t>
                          </a:r>
                          <a:endParaRPr lang="zh-CN" altLang="en-US" sz="2800" b="1" dirty="0">
                            <a:solidFill>
                              <a:srgbClr val="1F2DA8"/>
                            </a:solidFill>
                            <a:latin typeface="Calibri" panose="020F0502020204030204" charset="0"/>
                            <a:ea typeface="楷体" panose="02010609060101010101" charset="-122"/>
                            <a:cs typeface="Calibri" panose="020F0502020204030204" charset="0"/>
                            <a:sym typeface="+mn-ea"/>
                          </a:endParaRPr>
                        </a:p>
                      </a:txBody>
                      <a:tcPr marL="144145"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59765">
                    <a:tc>
                      <a:txBody>
                        <a:bodyPr/>
                        <a:lstStyle/>
                        <a:p>
                          <a:endParaRPr lang="zh-CN"/>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blipFill>
                          <a:blip r:embed="rId4"/>
                        </a:blipFill>
                      </a:tcPr>
                    </a:tc>
                    <a:tc>
                      <a:txBody>
                        <a:bodyPr/>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关系模式：关系名</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，关系中的属性集合</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U</a:t>
                          </a:r>
                          <a:endParaRPr lang="en-US" altLang="zh-CN" sz="2800" b="1" i="1" dirty="0">
                            <a:solidFill>
                              <a:srgbClr val="1F2DA8"/>
                            </a:solidFill>
                            <a:latin typeface="Calibri" panose="020F0502020204030204" charset="0"/>
                            <a:ea typeface="楷体" panose="02010609060101010101" charset="-122"/>
                            <a:cs typeface="Calibri" panose="020F0502020204030204" charset="0"/>
                            <a:sym typeface="+mn-ea"/>
                          </a:endParaRPr>
                        </a:p>
                      </a:txBody>
                      <a:tcPr marL="144145"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1157605">
                    <a:tc>
                      <a:txBody>
                        <a:bodyPr/>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 s, t, ...  </a:t>
                          </a:r>
                          <a:endParaRPr lang="en-US" altLang="zh-CN" sz="2800" b="1" i="1" dirty="0">
                            <a:solidFill>
                              <a:srgbClr val="1F2DA8"/>
                            </a:solidFill>
                            <a:latin typeface="Calibri" panose="020F0502020204030204" charset="0"/>
                            <a:ea typeface="楷体" panose="02010609060101010101" charset="-122"/>
                            <a:cs typeface="Calibri" panose="020F0502020204030204" charset="0"/>
                            <a:sym typeface="+mn-ea"/>
                          </a:endParaRPr>
                        </a:p>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1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 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2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 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3</a:t>
                          </a:r>
                          <a:endPar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l">
                            <a:buNone/>
                          </a:pPr>
                          <a:r>
                            <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rPr>
                            <a:t>关系中的元组</a:t>
                          </a:r>
                          <a:endParaRPr lang="zh-CN" altLang="en-US" sz="2800" b="1" dirty="0">
                            <a:solidFill>
                              <a:srgbClr val="1F2DA8"/>
                            </a:solidFill>
                            <a:latin typeface="Calibri" panose="020F0502020204030204" charset="0"/>
                            <a:ea typeface="楷体" panose="02010609060101010101" charset="-122"/>
                            <a:cs typeface="Arial" panose="020B0604020202020204" pitchFamily="34" charset="0"/>
                            <a:sym typeface="+mn-ea"/>
                          </a:endParaRPr>
                        </a:p>
                      </a:txBody>
                      <a:tcPr marL="144145"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61035">
                    <a:tc>
                      <a:txBody>
                        <a:bodyPr/>
                        <a:p>
                          <a:pPr algn="ctr">
                            <a:buNone/>
                          </a:pP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en-US" altLang="zh-CN" sz="2800" b="1" i="1" baseline="-25000" dirty="0">
                              <a:solidFill>
                                <a:srgbClr val="1F2DA8"/>
                              </a:solidFill>
                              <a:latin typeface="Calibri" panose="020F0502020204030204" charset="0"/>
                              <a:ea typeface="楷体" panose="02010609060101010101" charset="-122"/>
                              <a:cs typeface="Calibri" panose="020F0502020204030204" charset="0"/>
                              <a:sym typeface="+mn-ea"/>
                            </a:rPr>
                            <a:t>1</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endParaRPr lang="en-US" altLang="zh-CN" sz="2800" b="1" dirty="0">
                            <a:solidFill>
                              <a:srgbClr val="1F2DA8"/>
                            </a:solidFill>
                            <a:latin typeface="Calibri" panose="020F0502020204030204" charset="0"/>
                            <a:ea typeface="楷体" panose="02010609060101010101" charset="-122"/>
                            <a:cs typeface="Calibri" panose="020F0502020204030204" charset="0"/>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l">
                            <a:buNone/>
                          </a:pP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元组</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r</a:t>
                          </a:r>
                          <a:r>
                            <a:rPr lang="en-US" altLang="zh-CN" sz="2800" b="1" baseline="-25000" dirty="0">
                              <a:solidFill>
                                <a:srgbClr val="1F2DA8"/>
                              </a:solidFill>
                              <a:latin typeface="Calibri" panose="020F0502020204030204" charset="0"/>
                              <a:ea typeface="楷体" panose="02010609060101010101" charset="-122"/>
                              <a:cs typeface="Calibri" panose="020F0502020204030204" charset="0"/>
                              <a:sym typeface="+mn-ea"/>
                            </a:rPr>
                            <a:t>1</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在属性</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集</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en-US" altLang="zh-CN" sz="2800" b="1" i="1" dirty="0">
                              <a:solidFill>
                                <a:srgbClr val="1F2DA8"/>
                              </a:solidFill>
                              <a:latin typeface="Calibri" panose="020F0502020204030204" charset="0"/>
                              <a:ea typeface="楷体" panose="02010609060101010101" charset="-122"/>
                              <a:cs typeface="Calibri" panose="020F0502020204030204" charset="0"/>
                              <a:sym typeface="+mn-ea"/>
                            </a:rPr>
                            <a:t>A</a:t>
                          </a:r>
                          <a:r>
                            <a:rPr lang="en-US" altLang="zh-CN" sz="2800" b="1" dirty="0">
                              <a:solidFill>
                                <a:srgbClr val="1F2DA8"/>
                              </a:solidFill>
                              <a:latin typeface="Calibri" panose="020F0502020204030204" charset="0"/>
                              <a:ea typeface="楷体" panose="02010609060101010101" charset="-122"/>
                              <a:cs typeface="Calibri" panose="020F0502020204030204" charset="0"/>
                              <a:sym typeface="+mn-ea"/>
                            </a:rPr>
                            <a:t> </a:t>
                          </a:r>
                          <a:r>
                            <a:rPr lang="zh-CN" altLang="en-US" sz="2800" b="1" dirty="0">
                              <a:solidFill>
                                <a:srgbClr val="1F2DA8"/>
                              </a:solidFill>
                              <a:latin typeface="Calibri" panose="020F0502020204030204" charset="0"/>
                              <a:ea typeface="楷体" panose="02010609060101010101" charset="-122"/>
                              <a:cs typeface="Calibri" panose="020F0502020204030204" charset="0"/>
                              <a:sym typeface="+mn-ea"/>
                            </a:rPr>
                            <a:t>上的取值</a:t>
                          </a:r>
                          <a:endParaRPr lang="zh-CN" altLang="en-US" sz="2800" b="1" dirty="0">
                            <a:solidFill>
                              <a:srgbClr val="1F2DA8"/>
                            </a:solidFill>
                            <a:latin typeface="Calibri" panose="020F0502020204030204" charset="0"/>
                            <a:ea typeface="楷体" panose="02010609060101010101" charset="-122"/>
                            <a:cs typeface="Calibri" panose="020F0502020204030204" charset="0"/>
                            <a:sym typeface="+mn-ea"/>
                          </a:endParaRPr>
                        </a:p>
                      </a:txBody>
                      <a:tcPr marL="144145"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mc:Fallback>
      </mc:AlternateContent>
      <p:graphicFrame>
        <p:nvGraphicFramePr>
          <p:cNvPr id="5" name="对象 4">
            <a:hlinkClick r:id="" action="ppaction://ole?verb=0"/>
          </p:cNvPr>
          <p:cNvGraphicFramePr>
            <a:graphicFrameLocks noChangeAspect="1"/>
          </p:cNvGraphicFramePr>
          <p:nvPr/>
        </p:nvGraphicFramePr>
        <p:xfrm>
          <a:off x="6037580" y="3318510"/>
          <a:ext cx="116840" cy="220980"/>
        </p:xfrm>
        <a:graphic>
          <a:graphicData uri="http://schemas.openxmlformats.org/presentationml/2006/ole">
            <mc:AlternateContent xmlns:mc="http://schemas.openxmlformats.org/markup-compatibility/2006">
              <mc:Choice xmlns:v="urn:schemas-microsoft-com:vml" Requires="v">
                <p:oleObj r:id="rId5" imgW="116840" imgH="220980" progId="Equation.KSEE3">
                  <p:embed/>
                </p:oleObj>
              </mc:Choice>
              <mc:Fallback>
                <p:oleObj r:id="rId5" imgW="116840" imgH="220980" progId="Equation.KSEE3">
                  <p:embed/>
                  <p:pic>
                    <p:nvPicPr>
                      <p:cNvPr id="0" name="图片 1024"/>
                      <p:cNvPicPr/>
                      <p:nvPr/>
                    </p:nvPicPr>
                    <p:blipFill>
                      <a:blip r:embed="rId6"/>
                      <a:stretch>
                        <a:fillRect/>
                      </a:stretch>
                    </p:blipFill>
                    <p:spPr>
                      <a:xfrm>
                        <a:off x="6037580" y="3318510"/>
                        <a:ext cx="116840" cy="220980"/>
                      </a:xfrm>
                      <a:prstGeom prst="rect">
                        <a:avLst/>
                      </a:prstGeom>
                    </p:spPr>
                  </p:pic>
                </p:oleObj>
              </mc:Fallback>
            </mc:AlternateContent>
          </a:graphicData>
        </a:graphic>
      </p:graphicFrame>
      <p:sp>
        <p:nvSpPr>
          <p:cNvPr id="3" name="灯片编号占位符 2"/>
          <p:cNvSpPr>
            <a:spLocks noGrp="1"/>
          </p:cNvSpPr>
          <p:nvPr>
            <p:ph type="sldNum" sz="quarter" idx="12"/>
          </p:nvPr>
        </p:nvSpPr>
        <p:spPr>
          <a:xfrm>
            <a:off x="11461115" y="6696000"/>
            <a:ext cx="730885" cy="153670"/>
          </a:xfrm>
        </p:spPr>
        <p:txBody>
          <a:bodyPr/>
          <a:lstStyle/>
          <a:p>
            <a:pPr lvl="0" eaLnBrk="1" hangingPunct="1">
              <a:spcBef>
                <a:spcPct val="0"/>
              </a:spcBef>
              <a:buNone/>
            </a:pPr>
            <a:fld id="{9A0DB2DC-4C9A-4742-B13C-FB6460FD3503}" type="slidenum">
              <a:rPr lang="zh-CN" altLang="en-US" dirty="0"/>
              <a:t>9</a:t>
            </a:fld>
            <a:endParaRPr lang="zh-CN" altLang="en-US" dirty="0"/>
          </a:p>
        </p:txBody>
      </p:sp>
      <p:sp>
        <p:nvSpPr>
          <p:cNvPr id="6" name="页脚占位符 5"/>
          <p:cNvSpPr>
            <a:spLocks noGrp="1"/>
          </p:cNvSpPr>
          <p:nvPr>
            <p:ph type="ftr" sz="quarter" idx="11"/>
          </p:nvPr>
        </p:nvSpPr>
        <p:spPr>
          <a:xfrm>
            <a:off x="0" y="6695365"/>
            <a:ext cx="4114800" cy="153670"/>
          </a:xfrm>
        </p:spPr>
        <p:txBody>
          <a:bodyPr/>
          <a:lstStyle/>
          <a:p>
            <a:pPr lvl="0" eaLnBrk="1" hangingPunct="1">
              <a:spcBef>
                <a:spcPct val="0"/>
              </a:spcBef>
              <a:buNone/>
            </a:pPr>
            <a:r>
              <a:rPr lang="en-US" altLang="x-none" dirty="0"/>
              <a:t>ch02_2_关系代数基本运算</a:t>
            </a:r>
            <a:endParaRPr lang="en-US" altLang="x-none" sz="1000" i="1" dirty="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使用的记号 </a:t>
            </a:r>
            <a:r>
              <a:rPr lang="en-US" altLang="zh-CN" dirty="0"/>
              <a:t>2</a:t>
            </a:r>
            <a:endParaRPr lang="zh-CN" altLang="en-US" dirty="0"/>
          </a:p>
        </p:txBody>
      </p:sp>
      <mc:AlternateContent xmlns:mc="http://schemas.openxmlformats.org/markup-compatibility/2006">
        <mc:Choice xmlns:a14="http://schemas.microsoft.com/office/drawing/2010/main" Requires="a14">
          <p:sp>
            <p:nvSpPr>
              <p:cNvPr id="7" name="内容占位符 6"/>
              <p:cNvSpPr>
                <a:spLocks noGrp="1"/>
              </p:cNvSpPr>
              <p:nvPr>
                <p:ph idx="1"/>
              </p:nvPr>
            </p:nvSpPr>
            <p:spPr/>
            <p:txBody>
              <a:bodyPr>
                <a:normAutofit fontScale="92500"/>
              </a:bodyPr>
              <a:lstStyle/>
              <a:p>
                <a:pPr fontAlgn="auto">
                  <a:lnSpc>
                    <a:spcPct val="120000"/>
                  </a:lnSpc>
                  <a:spcBef>
                    <a:spcPts val="1000"/>
                  </a:spcBef>
                </a:pPr>
                <a:r>
                  <a:rPr lang="zh-CN" altLang="en-US" sz="2800" dirty="0"/>
                  <a:t>设</a:t>
                </a:r>
                <a:r>
                  <a:rPr lang="zh-CN" altLang="en-US" sz="2800" dirty="0">
                    <a:solidFill>
                      <a:srgbClr val="1F2DA8"/>
                    </a:solidFill>
                  </a:rPr>
                  <a:t>关</a:t>
                </a:r>
                <a:r>
                  <a:rPr lang="zh-CN" altLang="en-US" sz="2800" dirty="0"/>
                  <a:t>系模式为</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𝑅</m:t>
                    </m:r>
                    <m:r>
                      <a:rPr lang="en-US" altLang="zh-CN" sz="2800" i="1" dirty="0">
                        <a:latin typeface="Cambria Math" panose="02040503050406030204" charset="0"/>
                        <a:cs typeface="Cambria Math" panose="02040503050406030204" charset="0"/>
                      </a:rPr>
                      <m:t>(</m:t>
                    </m:r>
                    <m:r>
                      <a:rPr lang="en-US" altLang="zh-CN" sz="2800" i="1" dirty="0">
                        <a:latin typeface="Cambria Math" panose="02040503050406030204" charset="0"/>
                        <a:cs typeface="Cambria Math" panose="02040503050406030204" charset="0"/>
                      </a:rPr>
                      <m:t>𝐴</m:t>
                    </m:r>
                    <m:r>
                      <a:rPr lang="en-US" altLang="zh-CN" sz="2800" i="1" baseline="-30000" dirty="0">
                        <a:latin typeface="Cambria Math" panose="02040503050406030204" charset="0"/>
                        <a:cs typeface="Cambria Math" panose="02040503050406030204" charset="0"/>
                      </a:rPr>
                      <m:t>1</m:t>
                    </m:r>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𝐴</m:t>
                    </m:r>
                    <m:r>
                      <a:rPr lang="en-US" altLang="zh-CN" sz="2800" i="1" baseline="-30000" dirty="0">
                        <a:latin typeface="Cambria Math" panose="02040503050406030204" charset="0"/>
                        <a:cs typeface="Cambria Math" panose="02040503050406030204" charset="0"/>
                      </a:rPr>
                      <m:t>2</m:t>
                    </m:r>
                    <m:r>
                      <a:rPr lang="en-US" altLang="zh-CN" sz="2800" i="1" dirty="0">
                        <a:latin typeface="Cambria Math" panose="02040503050406030204" charset="0"/>
                        <a:cs typeface="Cambria Math" panose="02040503050406030204" charset="0"/>
                      </a:rPr>
                      <m:t>, …, </m:t>
                    </m:r>
                    <m:r>
                      <a:rPr lang="en-US" altLang="zh-CN" sz="2800" i="1" dirty="0">
                        <a:latin typeface="Cambria Math" panose="02040503050406030204" charset="0"/>
                        <a:cs typeface="Cambria Math" panose="02040503050406030204" charset="0"/>
                      </a:rPr>
                      <m:t>𝐴𝑛</m:t>
                    </m:r>
                    <m:r>
                      <a:rPr lang="en-US" altLang="zh-CN" sz="2800" i="1" dirty="0">
                        <a:latin typeface="Cambria Math" panose="02040503050406030204" charset="0"/>
                        <a:cs typeface="Cambria Math" panose="02040503050406030204" charset="0"/>
                      </a:rPr>
                      <m:t>) </m:t>
                    </m:r>
                  </m:oMath>
                </a14:m>
                <a:endParaRPr lang="en-US" altLang="zh-CN" sz="2800" i="1" dirty="0"/>
              </a:p>
              <a:p>
                <a:pPr lvl="1" fontAlgn="auto">
                  <a:lnSpc>
                    <a:spcPct val="120000"/>
                  </a:lnSpc>
                  <a:spcBef>
                    <a:spcPts val="1000"/>
                  </a:spcBef>
                </a:pPr>
                <a:r>
                  <a:rPr lang="zh-CN" altLang="en-US" sz="2800" dirty="0"/>
                  <a:t>它的一个关系（实例）设为</a:t>
                </a: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 </m:t>
                    </m:r>
                    <m:r>
                      <a:rPr lang="en-US" altLang="zh-CN" sz="2800" i="1" dirty="0">
                        <a:solidFill>
                          <a:srgbClr val="FF0000"/>
                        </a:solidFill>
                        <a:latin typeface="Cambria Math" panose="02040503050406030204" charset="0"/>
                        <a:cs typeface="Cambria Math" panose="02040503050406030204" charset="0"/>
                      </a:rPr>
                      <m:t>𝑅</m:t>
                    </m:r>
                  </m:oMath>
                </a14:m>
                <a:endParaRPr lang="en-US" altLang="zh-CN" sz="2800" dirty="0"/>
              </a:p>
              <a:p>
                <a:pPr lvl="1" fontAlgn="auto">
                  <a:lnSpc>
                    <a:spcPct val="120000"/>
                  </a:lnSpc>
                  <a:spcBef>
                    <a:spcPts val="1000"/>
                  </a:spcBef>
                </a:pPr>
                <a14:m>
                  <m:oMath xmlns:m="http://schemas.openxmlformats.org/officeDocument/2006/math">
                    <m:r>
                      <a:rPr lang="en-US" altLang="zh-CN" sz="2800" i="1" dirty="0" err="1">
                        <a:solidFill>
                          <a:srgbClr val="FF0000"/>
                        </a:solidFill>
                        <a:latin typeface="Cambria Math" panose="02040503050406030204" charset="0"/>
                        <a:cs typeface="Cambria Math" panose="02040503050406030204" charset="0"/>
                      </a:rPr>
                      <m:t> </m:t>
                    </m:r>
                    <m:r>
                      <a:rPr lang="en-US" altLang="zh-CN" sz="2800" i="1" dirty="0" err="1">
                        <a:solidFill>
                          <a:srgbClr val="FF0000"/>
                        </a:solidFill>
                        <a:latin typeface="Cambria Math" panose="02040503050406030204" charset="0"/>
                        <a:cs typeface="Cambria Math" panose="02040503050406030204" charset="0"/>
                      </a:rPr>
                      <m:t>𝑡</m:t>
                    </m:r>
                    <m:r>
                      <a:rPr lang="en-US" altLang="zh-CN" sz="2800" dirty="0" err="1">
                        <a:solidFill>
                          <a:srgbClr val="FF0000"/>
                        </a:solidFill>
                        <a:latin typeface="Cambria Math" panose="02040503050406030204" charset="0"/>
                        <a:cs typeface="Cambria Math" panose="02040503050406030204" charset="0"/>
                        <a:sym typeface="Symbol" panose="05050102010706020507" pitchFamily="2" charset="2"/>
                      </a:rPr>
                      <m:t></m:t>
                    </m:r>
                    <m:r>
                      <a:rPr lang="en-US" altLang="zh-CN" sz="2800" i="1" dirty="0" err="1">
                        <a:solidFill>
                          <a:srgbClr val="FF0000"/>
                        </a:solidFill>
                        <a:latin typeface="Cambria Math" panose="02040503050406030204" charset="0"/>
                        <a:cs typeface="Cambria Math" panose="02040503050406030204" charset="0"/>
                      </a:rPr>
                      <m:t>𝑅</m:t>
                    </m:r>
                    <m:r>
                      <a:rPr lang="en-US" altLang="zh-CN" sz="2800" i="1" dirty="0" err="1">
                        <a:solidFill>
                          <a:srgbClr val="FF0000"/>
                        </a:solidFill>
                        <a:latin typeface="Cambria Math" panose="02040503050406030204" charset="0"/>
                        <a:cs typeface="Cambria Math" panose="02040503050406030204" charset="0"/>
                      </a:rPr>
                      <m:t> </m:t>
                    </m:r>
                  </m:oMath>
                </a14:m>
                <a:r>
                  <a:rPr lang="zh-CN" altLang="en-US" sz="2800" dirty="0"/>
                  <a:t>表示</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𝑡</m:t>
                    </m:r>
                    <m:r>
                      <a:rPr lang="en-US" altLang="zh-CN" sz="2800" i="1" dirty="0">
                        <a:latin typeface="Cambria Math" panose="02040503050406030204" charset="0"/>
                        <a:cs typeface="Cambria Math" panose="02040503050406030204" charset="0"/>
                      </a:rPr>
                      <m:t> </m:t>
                    </m:r>
                  </m:oMath>
                </a14:m>
                <a:r>
                  <a:rPr lang="zh-CN" altLang="en-US" sz="2800" dirty="0"/>
                  <a:t>是</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𝑅</m:t>
                    </m:r>
                    <m:r>
                      <a:rPr lang="en-US" altLang="zh-CN" sz="2800" i="1" dirty="0">
                        <a:latin typeface="Cambria Math" panose="02040503050406030204" charset="0"/>
                        <a:cs typeface="Cambria Math" panose="02040503050406030204" charset="0"/>
                      </a:rPr>
                      <m:t> </m:t>
                    </m:r>
                  </m:oMath>
                </a14:m>
                <a:r>
                  <a:rPr lang="zh-CN" altLang="en-US" sz="2800" dirty="0"/>
                  <a:t>中的一个元组</a:t>
                </a:r>
                <a:endParaRPr lang="en-US" altLang="zh-CN" sz="2800" dirty="0"/>
              </a:p>
              <a:p>
                <a:pPr lvl="1" fontAlgn="auto">
                  <a:lnSpc>
                    <a:spcPct val="120000"/>
                  </a:lnSpc>
                  <a:spcBef>
                    <a:spcPts val="1000"/>
                  </a:spcBef>
                </a:pP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 </m:t>
                    </m:r>
                    <m:r>
                      <a:rPr lang="en-US" altLang="zh-CN" sz="2800" i="1" dirty="0">
                        <a:solidFill>
                          <a:srgbClr val="FF0000"/>
                        </a:solidFill>
                        <a:latin typeface="Cambria Math" panose="02040503050406030204" charset="0"/>
                        <a:cs typeface="Cambria Math" panose="02040503050406030204" charset="0"/>
                      </a:rPr>
                      <m:t>𝑡</m:t>
                    </m:r>
                    <m:r>
                      <a:rPr lang="en-US" altLang="zh-CN" sz="2800"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𝐴</m:t>
                    </m:r>
                    <m:r>
                      <a:rPr lang="en-US" altLang="zh-CN" sz="2800" i="1" baseline="-30000" dirty="0">
                        <a:solidFill>
                          <a:srgbClr val="FF0000"/>
                        </a:solidFill>
                        <a:latin typeface="Cambria Math" panose="02040503050406030204" charset="0"/>
                        <a:cs typeface="Cambria Math" panose="02040503050406030204" charset="0"/>
                      </a:rPr>
                      <m:t>𝑖</m:t>
                    </m:r>
                    <m:r>
                      <a:rPr lang="en-US" altLang="zh-CN" sz="2800" dirty="0">
                        <a:solidFill>
                          <a:srgbClr val="FF0000"/>
                        </a:solidFill>
                        <a:latin typeface="Cambria Math" panose="02040503050406030204" charset="0"/>
                        <a:cs typeface="Cambria Math" panose="02040503050406030204" charset="0"/>
                      </a:rPr>
                      <m:t>] </m:t>
                    </m:r>
                  </m:oMath>
                </a14:m>
                <a:r>
                  <a:rPr lang="zh-CN" altLang="en-US" sz="2800" dirty="0"/>
                  <a:t>则表示元组</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𝑡</m:t>
                    </m:r>
                    <m:r>
                      <a:rPr lang="en-US" altLang="zh-CN" sz="2800" i="1" dirty="0">
                        <a:latin typeface="Cambria Math" panose="02040503050406030204" charset="0"/>
                        <a:cs typeface="Cambria Math" panose="02040503050406030204" charset="0"/>
                      </a:rPr>
                      <m:t> </m:t>
                    </m:r>
                  </m:oMath>
                </a14:m>
                <a:r>
                  <a:rPr lang="zh-CN" altLang="en-US" sz="2800" dirty="0"/>
                  <a:t>中相应于属性</a:t>
                </a:r>
                <a14:m>
                  <m:oMath xmlns:m="http://schemas.openxmlformats.org/officeDocument/2006/math">
                    <m:r>
                      <a:rPr lang="en-US" altLang="zh-CN" sz="2800" i="1" dirty="0">
                        <a:solidFill>
                          <a:srgbClr val="1F2DA8"/>
                        </a:solidFill>
                        <a:latin typeface="Cambria Math" panose="02040503050406030204" charset="0"/>
                        <a:cs typeface="Cambria Math" panose="02040503050406030204" charset="0"/>
                      </a:rPr>
                      <m:t> </m:t>
                    </m:r>
                    <m:r>
                      <a:rPr lang="en-US" altLang="zh-CN" sz="2800" i="1" dirty="0">
                        <a:solidFill>
                          <a:srgbClr val="1F2DA8"/>
                        </a:solidFill>
                        <a:latin typeface="Cambria Math" panose="02040503050406030204" charset="0"/>
                        <a:cs typeface="Cambria Math" panose="02040503050406030204" charset="0"/>
                      </a:rPr>
                      <m:t>𝐴𝑖</m:t>
                    </m:r>
                    <m:r>
                      <a:rPr lang="en-US" altLang="zh-CN" sz="2800" i="1" dirty="0">
                        <a:solidFill>
                          <a:srgbClr val="1F2DA8"/>
                        </a:solidFill>
                        <a:latin typeface="Cambria Math" panose="02040503050406030204" charset="0"/>
                        <a:cs typeface="Cambria Math" panose="02040503050406030204" charset="0"/>
                      </a:rPr>
                      <m:t> </m:t>
                    </m:r>
                  </m:oMath>
                </a14:m>
                <a:r>
                  <a:rPr lang="zh-CN" altLang="en-US" sz="2800" dirty="0"/>
                  <a:t>的一个分量（</a:t>
                </a:r>
                <a:r>
                  <a:rPr lang="zh-CN" altLang="en-US" dirty="0">
                    <a:sym typeface="+mn-ea"/>
                  </a:rPr>
                  <a:t>元组</a:t>
                </a:r>
                <a14:m>
                  <m:oMath xmlns:m="http://schemas.openxmlformats.org/officeDocument/2006/math">
                    <m:r>
                      <a:rPr lang="en-US" altLang="zh-CN" i="1" dirty="0">
                        <a:latin typeface="Cambria Math" panose="02040503050406030204" charset="0"/>
                        <a:cs typeface="Cambria Math" panose="02040503050406030204" charset="0"/>
                      </a:rPr>
                      <m:t> </m:t>
                    </m:r>
                    <m:r>
                      <a:rPr lang="en-US" altLang="zh-CN" i="1" dirty="0">
                        <a:latin typeface="Cambria Math" panose="02040503050406030204" charset="0"/>
                        <a:cs typeface="Cambria Math" panose="02040503050406030204" charset="0"/>
                      </a:rPr>
                      <m:t>𝑡</m:t>
                    </m:r>
                    <m:r>
                      <a:rPr lang="en-US" altLang="zh-CN" i="1" dirty="0">
                        <a:latin typeface="Cambria Math" panose="02040503050406030204" charset="0"/>
                        <a:cs typeface="Cambria Math" panose="02040503050406030204" charset="0"/>
                      </a:rPr>
                      <m:t> </m:t>
                    </m:r>
                  </m:oMath>
                </a14:m>
                <a:r>
                  <a:rPr lang="zh-CN" altLang="en-US" dirty="0">
                    <a:sym typeface="+mn-ea"/>
                  </a:rPr>
                  <a:t>在属性</a:t>
                </a:r>
                <a14:m>
                  <m:oMath xmlns:m="http://schemas.openxmlformats.org/officeDocument/2006/math">
                    <m:r>
                      <a:rPr lang="en-US" altLang="zh-CN" i="1" dirty="0">
                        <a:solidFill>
                          <a:srgbClr val="1F2DA8"/>
                        </a:solidFill>
                        <a:latin typeface="Cambria Math" panose="02040503050406030204" charset="0"/>
                        <a:cs typeface="Cambria Math" panose="02040503050406030204" charset="0"/>
                      </a:rPr>
                      <m:t> </m:t>
                    </m:r>
                    <m:r>
                      <a:rPr lang="en-US" altLang="zh-CN" i="1" dirty="0">
                        <a:solidFill>
                          <a:srgbClr val="1F2DA8"/>
                        </a:solidFill>
                        <a:latin typeface="Cambria Math" panose="02040503050406030204" charset="0"/>
                        <a:cs typeface="Cambria Math" panose="02040503050406030204" charset="0"/>
                      </a:rPr>
                      <m:t>𝐴𝑖</m:t>
                    </m:r>
                    <m:r>
                      <a:rPr lang="en-US" altLang="zh-CN" i="1" dirty="0">
                        <a:solidFill>
                          <a:srgbClr val="1F2DA8"/>
                        </a:solidFill>
                        <a:latin typeface="Cambria Math" panose="02040503050406030204" charset="0"/>
                        <a:cs typeface="Cambria Math" panose="02040503050406030204" charset="0"/>
                      </a:rPr>
                      <m:t> </m:t>
                    </m:r>
                  </m:oMath>
                </a14:m>
                <a:r>
                  <a:rPr lang="zh-CN" altLang="en-US" dirty="0">
                    <a:sym typeface="+mn-ea"/>
                  </a:rPr>
                  <a:t>上的</a:t>
                </a:r>
                <a:r>
                  <a:rPr lang="zh-CN" altLang="en-US" sz="2800" dirty="0"/>
                  <a:t>值）</a:t>
                </a:r>
                <a:endParaRPr lang="en-US" altLang="zh-CN" sz="2800" dirty="0"/>
              </a:p>
              <a:p>
                <a:pPr lvl="1" fontAlgn="auto">
                  <a:lnSpc>
                    <a:spcPct val="120000"/>
                  </a:lnSpc>
                  <a:spcBef>
                    <a:spcPts val="1000"/>
                  </a:spcBef>
                </a:pPr>
                <a:r>
                  <a:rPr lang="zh-CN" altLang="en-US" sz="2800" dirty="0"/>
                  <a:t>若</a:t>
                </a: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𝐴</m:t>
                    </m:r>
                    <m:r>
                      <a:rPr lang="en-US" altLang="zh-CN" sz="2800" dirty="0">
                        <a:latin typeface="Cambria Math" panose="02040503050406030204" charset="0"/>
                        <a:cs typeface="Cambria Math" panose="02040503050406030204" charset="0"/>
                      </a:rPr>
                      <m:t>={</m:t>
                    </m:r>
                    <m:sSub>
                      <m:sSubPr>
                        <m:ctrlPr>
                          <a:rPr lang="en-US" altLang="zh-CN" sz="2800" b="0" i="1" dirty="0">
                            <a:latin typeface="Cambria Math" panose="02040503050406030204" pitchFamily="18" charset="0"/>
                            <a:cs typeface="Cambria Math" panose="02040503050406030204" charset="0"/>
                          </a:rPr>
                        </m:ctrlPr>
                      </m:sSubPr>
                      <m:e>
                        <m:r>
                          <a:rPr lang="en-US" altLang="zh-CN" sz="2800" b="0" i="1" dirty="0">
                            <a:latin typeface="Cambria Math" panose="02040503050406030204" charset="0"/>
                            <a:cs typeface="Cambria Math" panose="02040503050406030204" charset="0"/>
                          </a:rPr>
                          <m:t>𝐴</m:t>
                        </m:r>
                      </m:e>
                      <m:sub>
                        <m:r>
                          <a:rPr lang="en-US" altLang="zh-CN" sz="2800" b="0" i="1" dirty="0">
                            <a:latin typeface="Cambria Math" panose="02040503050406030204" charset="0"/>
                            <a:cs typeface="Cambria Math" panose="02040503050406030204" charset="0"/>
                          </a:rPr>
                          <m:t>𝑖</m:t>
                        </m:r>
                        <m:r>
                          <a:rPr lang="en-US" altLang="zh-CN" sz="2800" b="0" i="1" baseline="-25000" dirty="0">
                            <a:latin typeface="Cambria Math" panose="02040503050406030204" charset="0"/>
                            <a:cs typeface="Cambria Math" panose="02040503050406030204" charset="0"/>
                          </a:rPr>
                          <m:t>1</m:t>
                        </m:r>
                      </m:sub>
                    </m:sSub>
                    <m:r>
                      <a:rPr lang="en-US" altLang="zh-CN" sz="2800" b="0" dirty="0">
                        <a:latin typeface="Cambria Math" panose="02040503050406030204" charset="0"/>
                        <a:cs typeface="Cambria Math" panose="02040503050406030204" charset="0"/>
                      </a:rPr>
                      <m:t>, </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2</m:t>
                        </m:r>
                      </m:sub>
                    </m:sSub>
                    <m:r>
                      <a:rPr lang="en-US" altLang="zh-CN" sz="2800" b="0" dirty="0">
                        <a:latin typeface="Cambria Math" panose="02040503050406030204" charset="0"/>
                        <a:cs typeface="Cambria Math" panose="02040503050406030204" charset="0"/>
                      </a:rPr>
                      <m:t>, …, </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𝑘</m:t>
                        </m:r>
                      </m:sub>
                    </m:sSub>
                    <m:r>
                      <a:rPr lang="en-US" altLang="zh-CN" sz="2800" dirty="0">
                        <a:latin typeface="Cambria Math" panose="02040503050406030204" charset="0"/>
                        <a:cs typeface="Cambria Math" panose="02040503050406030204" charset="0"/>
                      </a:rPr>
                      <m:t>}</m:t>
                    </m:r>
                  </m:oMath>
                </a14:m>
                <a:r>
                  <a:rPr lang="zh-CN" altLang="en-US" sz="2800" dirty="0"/>
                  <a:t>，其中</a:t>
                </a:r>
                <a14:m>
                  <m:oMath xmlns:m="http://schemas.openxmlformats.org/officeDocument/2006/math">
                    <m:r>
                      <a:rPr lang="en-US" altLang="zh-CN" i="1" dirty="0">
                        <a:latin typeface="Cambria Math" panose="02040503050406030204" charset="0"/>
                        <a:cs typeface="Cambria Math" panose="02040503050406030204" charset="0"/>
                      </a:rPr>
                      <m:t> </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1</m:t>
                        </m:r>
                      </m:sub>
                    </m:sSub>
                    <m:r>
                      <a:rPr lang="en-US" altLang="zh-CN" b="0" dirty="0">
                        <a:latin typeface="Cambria Math" panose="02040503050406030204" charset="0"/>
                        <a:cs typeface="Cambria Math" panose="02040503050406030204" charset="0"/>
                      </a:rPr>
                      <m:t>, </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2</m:t>
                        </m:r>
                      </m:sub>
                    </m:sSub>
                    <m:r>
                      <a:rPr lang="en-US" altLang="zh-CN" b="0" dirty="0">
                        <a:latin typeface="Cambria Math" panose="02040503050406030204" charset="0"/>
                        <a:cs typeface="Cambria Math" panose="02040503050406030204" charset="0"/>
                      </a:rPr>
                      <m:t>, …, </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𝑘</m:t>
                        </m:r>
                      </m:sub>
                    </m:sSub>
                    <m:r>
                      <a:rPr lang="en-US" altLang="zh-CN" i="1" baseline="-30000" dirty="0" err="1">
                        <a:latin typeface="Cambria Math" panose="02040503050406030204" charset="0"/>
                        <a:cs typeface="Cambria Math" panose="02040503050406030204" charset="0"/>
                      </a:rPr>
                      <m:t> </m:t>
                    </m:r>
                  </m:oMath>
                </a14:m>
                <a:r>
                  <a:rPr lang="zh-CN" altLang="en-US" sz="2800" dirty="0"/>
                  <a:t>是来自于</a:t>
                </a:r>
                <a14:m>
                  <m:oMath xmlns:m="http://schemas.openxmlformats.org/officeDocument/2006/math">
                    <m:r>
                      <a:rPr lang="en-US" altLang="zh-CN" i="1" dirty="0">
                        <a:latin typeface="Cambria Math" panose="02040503050406030204" charset="0"/>
                        <a:cs typeface="Cambria Math" panose="02040503050406030204" charset="0"/>
                      </a:rPr>
                      <m:t> </m:t>
                    </m:r>
                    <m:r>
                      <a:rPr lang="en-US" altLang="zh-CN" i="1" dirty="0">
                        <a:latin typeface="Cambria Math" panose="02040503050406030204" charset="0"/>
                        <a:cs typeface="Cambria Math" panose="02040503050406030204" charset="0"/>
                      </a:rPr>
                      <m:t>𝐴</m:t>
                    </m:r>
                    <m:r>
                      <a:rPr lang="en-US" altLang="zh-CN" i="1" baseline="-30000" dirty="0">
                        <a:latin typeface="Cambria Math" panose="02040503050406030204" charset="0"/>
                        <a:cs typeface="Cambria Math" panose="02040503050406030204" charset="0"/>
                      </a:rPr>
                      <m:t>1</m:t>
                    </m:r>
                    <m:r>
                      <a:rPr lang="en-US" altLang="zh-CN" i="1" dirty="0">
                        <a:latin typeface="Cambria Math" panose="02040503050406030204" charset="0"/>
                        <a:cs typeface="Cambria Math" panose="02040503050406030204" charset="0"/>
                      </a:rPr>
                      <m:t>, </m:t>
                    </m:r>
                    <m:r>
                      <a:rPr lang="en-US" altLang="zh-CN" i="1" dirty="0">
                        <a:latin typeface="Cambria Math" panose="02040503050406030204" charset="0"/>
                        <a:cs typeface="Cambria Math" panose="02040503050406030204" charset="0"/>
                      </a:rPr>
                      <m:t>𝐴</m:t>
                    </m:r>
                    <m:r>
                      <a:rPr lang="en-US" altLang="zh-CN" i="1" baseline="-30000" dirty="0">
                        <a:latin typeface="Cambria Math" panose="02040503050406030204" charset="0"/>
                        <a:cs typeface="Cambria Math" panose="02040503050406030204" charset="0"/>
                      </a:rPr>
                      <m:t>2</m:t>
                    </m:r>
                    <m:r>
                      <a:rPr lang="en-US" altLang="zh-CN" i="1" dirty="0">
                        <a:latin typeface="Cambria Math" panose="02040503050406030204" charset="0"/>
                        <a:cs typeface="Cambria Math" panose="02040503050406030204" charset="0"/>
                      </a:rPr>
                      <m:t>, …, </m:t>
                    </m:r>
                    <m:r>
                      <a:rPr lang="en-US" altLang="zh-CN" i="1" dirty="0">
                        <a:latin typeface="Cambria Math" panose="02040503050406030204" charset="0"/>
                        <a:cs typeface="Cambria Math" panose="02040503050406030204" charset="0"/>
                      </a:rPr>
                      <m:t>𝐴𝑛</m:t>
                    </m:r>
                    <m:r>
                      <a:rPr lang="en-US" altLang="zh-CN" i="1" dirty="0">
                        <a:latin typeface="Cambria Math" panose="02040503050406030204" charset="0"/>
                        <a:cs typeface="Cambria Math" panose="02040503050406030204" charset="0"/>
                      </a:rPr>
                      <m:t> </m:t>
                    </m:r>
                  </m:oMath>
                </a14:m>
                <a:r>
                  <a:rPr lang="zh-CN" altLang="en-US" sz="2800" dirty="0"/>
                  <a:t>中的属性，则</a:t>
                </a: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𝐴</m:t>
                    </m:r>
                  </m:oMath>
                </a14:m>
                <a:r>
                  <a:rPr lang="zh-CN" altLang="en-US" sz="2800" dirty="0"/>
                  <a:t>称为</a:t>
                </a:r>
                <a:r>
                  <a:rPr lang="en-US" altLang="zh-CN" sz="2800" dirty="0">
                    <a:latin typeface="Times New Roman" panose="02020603050405020304" charset="0"/>
                    <a:cs typeface="Times New Roman" panose="02020603050405020304" charset="0"/>
                  </a:rPr>
                  <a:t>‘</a:t>
                </a:r>
                <a:r>
                  <a:rPr lang="zh-CN" altLang="en-US" sz="2800" dirty="0">
                    <a:solidFill>
                      <a:srgbClr val="FF0000"/>
                    </a:solidFill>
                    <a:latin typeface="Times New Roman" panose="02020603050405020304" charset="0"/>
                    <a:cs typeface="Times New Roman" panose="02020603050405020304" charset="0"/>
                  </a:rPr>
                  <a:t>属性列</a:t>
                </a:r>
                <a:r>
                  <a:rPr lang="en-US" altLang="zh-CN" sz="2800" dirty="0">
                    <a:latin typeface="Times New Roman" panose="02020603050405020304" charset="0"/>
                    <a:cs typeface="Times New Roman" panose="02020603050405020304" charset="0"/>
                  </a:rPr>
                  <a:t>’ </a:t>
                </a:r>
                <a:r>
                  <a:rPr lang="zh-CN" altLang="en-US" sz="2800" dirty="0">
                    <a:latin typeface="Times New Roman" panose="02020603050405020304" charset="0"/>
                    <a:cs typeface="Times New Roman" panose="02020603050405020304" charset="0"/>
                  </a:rPr>
                  <a:t>或</a:t>
                </a:r>
                <a:r>
                  <a:rPr lang="en-US" altLang="zh-CN" sz="2800" dirty="0">
                    <a:latin typeface="Times New Roman" panose="02020603050405020304" charset="0"/>
                    <a:cs typeface="Times New Roman" panose="02020603050405020304" charset="0"/>
                  </a:rPr>
                  <a:t> ‘</a:t>
                </a:r>
                <a:r>
                  <a:rPr lang="zh-CN" altLang="en-US" sz="2800" dirty="0">
                    <a:solidFill>
                      <a:srgbClr val="FF0000"/>
                    </a:solidFill>
                    <a:latin typeface="Times New Roman" panose="02020603050405020304" charset="0"/>
                    <a:cs typeface="Times New Roman" panose="02020603050405020304" charset="0"/>
                  </a:rPr>
                  <a:t>属性组</a:t>
                </a:r>
                <a:r>
                  <a:rPr lang="en-US" altLang="zh-CN" sz="2800" dirty="0">
                    <a:latin typeface="Times New Roman" panose="02020603050405020304" charset="0"/>
                    <a:cs typeface="Times New Roman" panose="02020603050405020304" charset="0"/>
                  </a:rPr>
                  <a:t>’ </a:t>
                </a:r>
                <a:r>
                  <a:rPr lang="zh-CN" altLang="en-US" dirty="0">
                    <a:latin typeface="Times New Roman" panose="02020603050405020304" charset="0"/>
                    <a:cs typeface="Times New Roman" panose="02020603050405020304" charset="0"/>
                    <a:sym typeface="+mn-ea"/>
                  </a:rPr>
                  <a:t>或</a:t>
                </a:r>
                <a:r>
                  <a:rPr lang="en-US" altLang="zh-CN" dirty="0">
                    <a:latin typeface="Times New Roman" panose="02020603050405020304" charset="0"/>
                    <a:cs typeface="Times New Roman" panose="02020603050405020304" charset="0"/>
                    <a:sym typeface="+mn-ea"/>
                  </a:rPr>
                  <a:t> ‘</a:t>
                </a:r>
                <a:r>
                  <a:rPr lang="zh-CN" altLang="en-US" dirty="0">
                    <a:solidFill>
                      <a:srgbClr val="FF0000"/>
                    </a:solidFill>
                    <a:latin typeface="Times New Roman" panose="02020603050405020304" charset="0"/>
                    <a:cs typeface="Times New Roman" panose="02020603050405020304" charset="0"/>
                    <a:sym typeface="+mn-ea"/>
                  </a:rPr>
                  <a:t>属性集</a:t>
                </a:r>
                <a:r>
                  <a:rPr lang="en-US" altLang="zh-CN" dirty="0">
                    <a:latin typeface="Times New Roman" panose="02020603050405020304" charset="0"/>
                    <a:cs typeface="Times New Roman" panose="02020603050405020304" charset="0"/>
                    <a:sym typeface="+mn-ea"/>
                  </a:rPr>
                  <a:t>’</a:t>
                </a:r>
                <a:r>
                  <a:rPr lang="zh-CN" altLang="en-US" sz="2800" dirty="0"/>
                  <a:t>。</a:t>
                </a:r>
                <a:endParaRPr lang="en-US" altLang="zh-CN" sz="2800" dirty="0"/>
              </a:p>
              <a:p>
                <a:pPr lvl="1" fontAlgn="auto">
                  <a:lnSpc>
                    <a:spcPct val="120000"/>
                  </a:lnSpc>
                  <a:spcBef>
                    <a:spcPts val="1000"/>
                  </a:spcBef>
                </a:pP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𝑡</m:t>
                    </m:r>
                    <m:r>
                      <a:rPr lang="en-US" altLang="zh-CN" sz="2800" i="1"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𝐴</m:t>
                    </m:r>
                    <m:r>
                      <a:rPr lang="en-US" altLang="zh-CN" sz="2800" i="1" dirty="0">
                        <a:solidFill>
                          <a:srgbClr val="FF0000"/>
                        </a:solidFill>
                        <a:latin typeface="Cambria Math" panose="02040503050406030204" charset="0"/>
                        <a:cs typeface="Cambria Math" panose="02040503050406030204" charset="0"/>
                      </a:rPr>
                      <m:t>]</m:t>
                    </m:r>
                    <m:r>
                      <a:rPr lang="en-US" altLang="zh-CN" sz="2800"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𝑡</m:t>
                    </m:r>
                    <m:r>
                      <a:rPr lang="en-US" altLang="zh-CN" sz="2800" dirty="0">
                        <a:solidFill>
                          <a:srgbClr val="FF0000"/>
                        </a:solidFill>
                        <a:latin typeface="Cambria Math" panose="02040503050406030204" charset="0"/>
                        <a:cs typeface="Cambria Math" panose="02040503050406030204" charset="0"/>
                      </a:rPr>
                      <m:t>[</m:t>
                    </m:r>
                    <m:sSub>
                      <m:sSubPr>
                        <m:ctrlPr>
                          <a:rPr lang="en-US" altLang="zh-CN" i="1" dirty="0">
                            <a:solidFill>
                              <a:srgbClr val="FF0000"/>
                            </a:solidFill>
                            <a:latin typeface="Cambria Math" panose="02040503050406030204" pitchFamily="18" charset="0"/>
                            <a:cs typeface="Cambria Math" panose="02040503050406030204" charset="0"/>
                          </a:rPr>
                        </m:ctrlPr>
                      </m:sSubPr>
                      <m:e>
                        <m:r>
                          <a:rPr lang="en-US" altLang="zh-CN" i="1" dirty="0">
                            <a:solidFill>
                              <a:srgbClr val="FF0000"/>
                            </a:solidFill>
                            <a:latin typeface="Cambria Math" panose="02040503050406030204" charset="0"/>
                            <a:cs typeface="Cambria Math" panose="02040503050406030204" charset="0"/>
                          </a:rPr>
                          <m:t>𝐴</m:t>
                        </m:r>
                      </m:e>
                      <m:sub>
                        <m:r>
                          <a:rPr lang="en-US" altLang="zh-CN" i="1" dirty="0">
                            <a:solidFill>
                              <a:srgbClr val="FF0000"/>
                            </a:solidFill>
                            <a:latin typeface="Cambria Math" panose="02040503050406030204" charset="0"/>
                            <a:cs typeface="Cambria Math" panose="02040503050406030204" charset="0"/>
                          </a:rPr>
                          <m:t>𝑖</m:t>
                        </m:r>
                        <m:r>
                          <a:rPr lang="en-US" altLang="zh-CN" i="1" baseline="-25000" dirty="0">
                            <a:solidFill>
                              <a:srgbClr val="FF0000"/>
                            </a:solidFill>
                            <a:latin typeface="Cambria Math" panose="02040503050406030204" charset="0"/>
                            <a:cs typeface="Cambria Math" panose="02040503050406030204" charset="0"/>
                          </a:rPr>
                          <m:t>1</m:t>
                        </m:r>
                      </m:sub>
                    </m:sSub>
                    <m:r>
                      <a:rPr lang="en-US" altLang="zh-CN" sz="2800" dirty="0">
                        <a:solidFill>
                          <a:srgbClr val="FF0000"/>
                        </a:solidFill>
                        <a:latin typeface="Cambria Math" panose="02040503050406030204" charset="0"/>
                        <a:cs typeface="Cambria Math" panose="02040503050406030204" charset="0"/>
                      </a:rPr>
                      <m:t>], </m:t>
                    </m:r>
                    <m:r>
                      <a:rPr lang="en-US" altLang="zh-CN" sz="2800" i="1" dirty="0">
                        <a:solidFill>
                          <a:srgbClr val="FF0000"/>
                        </a:solidFill>
                        <a:latin typeface="Cambria Math" panose="02040503050406030204" charset="0"/>
                        <a:cs typeface="Cambria Math" panose="02040503050406030204" charset="0"/>
                      </a:rPr>
                      <m:t>𝑡</m:t>
                    </m:r>
                    <m:r>
                      <a:rPr lang="en-US" altLang="zh-CN" sz="2800" dirty="0">
                        <a:solidFill>
                          <a:srgbClr val="FF0000"/>
                        </a:solidFill>
                        <a:latin typeface="Cambria Math" panose="02040503050406030204" charset="0"/>
                        <a:cs typeface="Cambria Math" panose="02040503050406030204" charset="0"/>
                      </a:rPr>
                      <m:t>[</m:t>
                    </m:r>
                    <m:sSub>
                      <m:sSubPr>
                        <m:ctrlPr>
                          <a:rPr lang="en-US" altLang="zh-CN" i="1" dirty="0">
                            <a:solidFill>
                              <a:srgbClr val="FF0000"/>
                            </a:solidFill>
                            <a:latin typeface="Cambria Math" panose="02040503050406030204" pitchFamily="18" charset="0"/>
                            <a:cs typeface="Cambria Math" panose="02040503050406030204" charset="0"/>
                          </a:rPr>
                        </m:ctrlPr>
                      </m:sSubPr>
                      <m:e>
                        <m:r>
                          <a:rPr lang="en-US" altLang="zh-CN" i="1" dirty="0">
                            <a:solidFill>
                              <a:srgbClr val="FF0000"/>
                            </a:solidFill>
                            <a:latin typeface="Cambria Math" panose="02040503050406030204" charset="0"/>
                            <a:cs typeface="Cambria Math" panose="02040503050406030204" charset="0"/>
                          </a:rPr>
                          <m:t>𝐴</m:t>
                        </m:r>
                      </m:e>
                      <m:sub>
                        <m:r>
                          <a:rPr lang="en-US" altLang="zh-CN" i="1" dirty="0">
                            <a:solidFill>
                              <a:srgbClr val="FF0000"/>
                            </a:solidFill>
                            <a:latin typeface="Cambria Math" panose="02040503050406030204" charset="0"/>
                            <a:cs typeface="Cambria Math" panose="02040503050406030204" charset="0"/>
                          </a:rPr>
                          <m:t>𝑖</m:t>
                        </m:r>
                        <m:r>
                          <a:rPr lang="en-US" altLang="zh-CN" i="1" baseline="-25000" dirty="0">
                            <a:solidFill>
                              <a:srgbClr val="FF0000"/>
                            </a:solidFill>
                            <a:latin typeface="Cambria Math" panose="02040503050406030204" charset="0"/>
                            <a:cs typeface="Cambria Math" panose="02040503050406030204" charset="0"/>
                          </a:rPr>
                          <m:t>𝟐</m:t>
                        </m:r>
                      </m:sub>
                    </m:sSub>
                    <m:r>
                      <a:rPr lang="en-US" altLang="zh-CN" sz="2800" dirty="0">
                        <a:solidFill>
                          <a:srgbClr val="FF0000"/>
                        </a:solidFill>
                        <a:latin typeface="Cambria Math" panose="02040503050406030204" charset="0"/>
                        <a:cs typeface="Cambria Math" panose="02040503050406030204" charset="0"/>
                      </a:rPr>
                      <m:t>], …, </m:t>
                    </m:r>
                    <m:r>
                      <a:rPr lang="en-US" altLang="zh-CN" sz="2800" i="1" dirty="0">
                        <a:solidFill>
                          <a:srgbClr val="FF0000"/>
                        </a:solidFill>
                        <a:latin typeface="Cambria Math" panose="02040503050406030204" charset="0"/>
                        <a:cs typeface="Cambria Math" panose="02040503050406030204" charset="0"/>
                      </a:rPr>
                      <m:t>𝑡</m:t>
                    </m:r>
                    <m:r>
                      <a:rPr lang="en-US" altLang="zh-CN" sz="2800" dirty="0">
                        <a:solidFill>
                          <a:srgbClr val="FF0000"/>
                        </a:solidFill>
                        <a:latin typeface="Cambria Math" panose="02040503050406030204" charset="0"/>
                        <a:cs typeface="Cambria Math" panose="02040503050406030204" charset="0"/>
                      </a:rPr>
                      <m:t>[</m:t>
                    </m:r>
                    <m:sSub>
                      <m:sSubPr>
                        <m:ctrlPr>
                          <a:rPr lang="en-US" altLang="zh-CN" i="1" dirty="0">
                            <a:solidFill>
                              <a:srgbClr val="FF0000"/>
                            </a:solidFill>
                            <a:latin typeface="Cambria Math" panose="02040503050406030204" pitchFamily="18" charset="0"/>
                            <a:cs typeface="Cambria Math" panose="02040503050406030204" charset="0"/>
                          </a:rPr>
                        </m:ctrlPr>
                      </m:sSubPr>
                      <m:e>
                        <m:r>
                          <a:rPr lang="en-US" altLang="zh-CN" i="1" dirty="0">
                            <a:solidFill>
                              <a:srgbClr val="FF0000"/>
                            </a:solidFill>
                            <a:latin typeface="Cambria Math" panose="02040503050406030204" charset="0"/>
                            <a:cs typeface="Cambria Math" panose="02040503050406030204" charset="0"/>
                          </a:rPr>
                          <m:t>𝐴</m:t>
                        </m:r>
                      </m:e>
                      <m:sub>
                        <m:r>
                          <a:rPr lang="en-US" altLang="zh-CN" i="1" dirty="0">
                            <a:solidFill>
                              <a:srgbClr val="FF0000"/>
                            </a:solidFill>
                            <a:latin typeface="Cambria Math" panose="02040503050406030204" charset="0"/>
                            <a:cs typeface="Cambria Math" panose="02040503050406030204" charset="0"/>
                          </a:rPr>
                          <m:t>𝑖</m:t>
                        </m:r>
                        <m:r>
                          <a:rPr lang="en-US" altLang="zh-CN" i="1" baseline="-25000" dirty="0">
                            <a:solidFill>
                              <a:srgbClr val="FF0000"/>
                            </a:solidFill>
                            <a:latin typeface="Cambria Math" panose="02040503050406030204" charset="0"/>
                            <a:cs typeface="Cambria Math" panose="02040503050406030204" charset="0"/>
                          </a:rPr>
                          <m:t>𝒌</m:t>
                        </m:r>
                      </m:sub>
                    </m:sSub>
                    <m:r>
                      <a:rPr lang="en-US" altLang="zh-CN" sz="2800" dirty="0">
                        <a:solidFill>
                          <a:srgbClr val="FF0000"/>
                        </a:solidFill>
                        <a:latin typeface="Cambria Math" panose="02040503050406030204" charset="0"/>
                        <a:cs typeface="Cambria Math" panose="02040503050406030204" charset="0"/>
                      </a:rPr>
                      <m:t>])</m:t>
                    </m:r>
                  </m:oMath>
                </a14:m>
                <a:r>
                  <a:rPr lang="zh-CN" altLang="en-US" sz="2800" dirty="0"/>
                  <a:t>表示元组</a:t>
                </a:r>
                <a14:m>
                  <m:oMath xmlns:m="http://schemas.openxmlformats.org/officeDocument/2006/math">
                    <m:r>
                      <a:rPr lang="en-US" altLang="zh-CN" sz="2800" i="1" dirty="0">
                        <a:latin typeface="Cambria Math" panose="02040503050406030204" charset="0"/>
                        <a:cs typeface="Cambria Math" panose="02040503050406030204" charset="0"/>
                      </a:rPr>
                      <m:t>𝑡</m:t>
                    </m:r>
                  </m:oMath>
                </a14:m>
                <a:r>
                  <a:rPr lang="zh-CN" altLang="en-US" sz="2800" dirty="0"/>
                  <a:t>在</a:t>
                </a:r>
                <a:r>
                  <a:rPr lang="zh-CN" altLang="en-US" sz="2800" dirty="0">
                    <a:solidFill>
                      <a:srgbClr val="FF0000"/>
                    </a:solidFill>
                  </a:rPr>
                  <a:t>属性组</a:t>
                </a: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𝐴</m:t>
                    </m:r>
                  </m:oMath>
                </a14:m>
                <a:r>
                  <a:rPr lang="zh-CN" altLang="en-US" sz="2800" dirty="0"/>
                  <a:t>上诸分量的集合。</a:t>
                </a:r>
                <a:endParaRPr lang="en-US" altLang="zh-CN" sz="2800" dirty="0"/>
              </a:p>
              <a:p>
                <a:pPr lvl="1" fontAlgn="auto">
                  <a:lnSpc>
                    <a:spcPct val="120000"/>
                  </a:lnSpc>
                  <a:spcBef>
                    <a:spcPts val="1000"/>
                  </a:spcBef>
                </a:pPr>
                <a14:m>
                  <m:oMath xmlns:m="http://schemas.openxmlformats.org/officeDocument/2006/math">
                    <m:r>
                      <a:rPr lang="en-US" altLang="zh-CN" sz="2800" i="1" dirty="0">
                        <a:solidFill>
                          <a:srgbClr val="FF0000"/>
                        </a:solidFill>
                        <a:latin typeface="Cambria Math" panose="02040503050406030204" charset="0"/>
                        <a:ea typeface="MS Mincho" charset="0"/>
                        <a:cs typeface="Cambria Math" panose="02040503050406030204" charset="0"/>
                      </a:rPr>
                      <m:t> </m:t>
                    </m:r>
                    <m:acc>
                      <m:accPr>
                        <m:chr m:val="̅"/>
                        <m:ctrlPr>
                          <a:rPr lang="en-US" altLang="zh-CN" sz="2800" i="1" dirty="0">
                            <a:solidFill>
                              <a:srgbClr val="FF0000"/>
                            </a:solidFill>
                            <a:latin typeface="Cambria Math" panose="02040503050406030204" pitchFamily="18" charset="0"/>
                          </a:rPr>
                        </m:ctrlPr>
                      </m:accPr>
                      <m:e>
                        <m:r>
                          <a:rPr lang="en-US" altLang="zh-CN" sz="2800" i="1" dirty="0">
                            <a:solidFill>
                              <a:srgbClr val="FF0000"/>
                            </a:solidFill>
                            <a:latin typeface="Cambria Math" panose="02040503050406030204" charset="0"/>
                          </a:rPr>
                          <m:t>𝐴</m:t>
                        </m:r>
                      </m:e>
                    </m:acc>
                    <m:r>
                      <a:rPr lang="en-US" altLang="zh-CN" sz="2800" i="1" dirty="0">
                        <a:solidFill>
                          <a:srgbClr val="FF0000"/>
                        </a:solidFill>
                        <a:latin typeface="Cambria Math" panose="02040503050406030204" charset="0"/>
                      </a:rPr>
                      <m:t> </m:t>
                    </m:r>
                  </m:oMath>
                </a14:m>
                <a:r>
                  <a:rPr lang="zh-CN" altLang="en-US" sz="2800" dirty="0"/>
                  <a:t>则表示从</a:t>
                </a:r>
                <a14:m>
                  <m:oMath xmlns:m="http://schemas.openxmlformats.org/officeDocument/2006/math">
                    <m:r>
                      <a:rPr lang="en-US" altLang="zh-CN" sz="2800" dirty="0">
                        <a:latin typeface="Cambria Math" panose="02040503050406030204" charset="0"/>
                        <a:cs typeface="Cambria Math" panose="02040503050406030204" charset="0"/>
                      </a:rPr>
                      <m:t>{</m:t>
                    </m:r>
                    <m:r>
                      <a:rPr lang="en-US" altLang="zh-CN" sz="2800" i="1" dirty="0">
                        <a:latin typeface="Cambria Math" panose="02040503050406030204" charset="0"/>
                        <a:cs typeface="Cambria Math" panose="02040503050406030204" charset="0"/>
                      </a:rPr>
                      <m:t>𝐴</m:t>
                    </m:r>
                    <m:r>
                      <a:rPr lang="en-US" altLang="zh-CN" sz="2800" baseline="-30000" dirty="0">
                        <a:latin typeface="Cambria Math" panose="02040503050406030204" charset="0"/>
                        <a:cs typeface="Cambria Math" panose="02040503050406030204" charset="0"/>
                      </a:rPr>
                      <m:t>1</m:t>
                    </m:r>
                    <m:r>
                      <a:rPr lang="en-US" altLang="zh-CN" sz="2800"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𝐴</m:t>
                    </m:r>
                    <m:r>
                      <a:rPr lang="en-US" altLang="zh-CN" sz="2800" baseline="-30000" dirty="0">
                        <a:latin typeface="Cambria Math" panose="02040503050406030204" charset="0"/>
                        <a:cs typeface="Cambria Math" panose="02040503050406030204" charset="0"/>
                      </a:rPr>
                      <m:t>2</m:t>
                    </m:r>
                    <m:r>
                      <a:rPr lang="en-US" altLang="zh-CN" sz="2800" dirty="0">
                        <a:latin typeface="Cambria Math" panose="02040503050406030204" charset="0"/>
                        <a:cs typeface="Cambria Math" panose="02040503050406030204" charset="0"/>
                      </a:rPr>
                      <m:t>, …, </m:t>
                    </m:r>
                    <m:r>
                      <a:rPr lang="en-US" altLang="zh-CN" sz="2800" i="1" dirty="0">
                        <a:latin typeface="Cambria Math" panose="02040503050406030204" charset="0"/>
                        <a:cs typeface="Cambria Math" panose="02040503050406030204" charset="0"/>
                      </a:rPr>
                      <m:t>𝐴</m:t>
                    </m:r>
                    <m:r>
                      <a:rPr lang="en-US" altLang="zh-CN" sz="2800" i="1" baseline="-30000" dirty="0">
                        <a:latin typeface="Cambria Math" panose="02040503050406030204" charset="0"/>
                        <a:cs typeface="Cambria Math" panose="02040503050406030204" charset="0"/>
                      </a:rPr>
                      <m:t>𝑛</m:t>
                    </m:r>
                    <m:r>
                      <a:rPr lang="en-US" altLang="zh-CN" sz="2800" dirty="0">
                        <a:latin typeface="Cambria Math" panose="02040503050406030204" charset="0"/>
                        <a:cs typeface="Cambria Math" panose="02040503050406030204" charset="0"/>
                      </a:rPr>
                      <m:t>}</m:t>
                    </m:r>
                  </m:oMath>
                </a14:m>
                <a:r>
                  <a:rPr lang="zh-CN" altLang="en-US" sz="2800" dirty="0"/>
                  <a:t>中去掉</a:t>
                </a:r>
                <a14:m>
                  <m:oMath xmlns:m="http://schemas.openxmlformats.org/officeDocument/2006/math">
                    <m:r>
                      <a:rPr lang="en-US" altLang="zh-CN" sz="2800" dirty="0">
                        <a:latin typeface="Cambria Math" panose="02040503050406030204" charset="0"/>
                        <a:cs typeface="Cambria Math" panose="02040503050406030204" charset="0"/>
                      </a:rPr>
                      <m:t>{</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1</m:t>
                        </m:r>
                      </m:sub>
                    </m:sSub>
                    <m:r>
                      <a:rPr lang="en-US" altLang="zh-CN" b="0" dirty="0">
                        <a:latin typeface="Cambria Math" panose="02040503050406030204" charset="0"/>
                        <a:cs typeface="Cambria Math" panose="02040503050406030204" charset="0"/>
                      </a:rPr>
                      <m:t>, </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2</m:t>
                        </m:r>
                      </m:sub>
                    </m:sSub>
                    <m:r>
                      <a:rPr lang="en-US" altLang="zh-CN" b="0" dirty="0">
                        <a:latin typeface="Cambria Math" panose="02040503050406030204" charset="0"/>
                        <a:cs typeface="Cambria Math" panose="02040503050406030204" charset="0"/>
                      </a:rPr>
                      <m:t>, …, </m:t>
                    </m:r>
                    <m:sSub>
                      <m:sSubPr>
                        <m:ctrlPr>
                          <a:rPr lang="en-US" altLang="zh-CN" b="0" i="1" dirty="0">
                            <a:latin typeface="Cambria Math" panose="02040503050406030204" pitchFamily="18" charset="0"/>
                            <a:cs typeface="Cambria Math" panose="02040503050406030204" charset="0"/>
                          </a:rPr>
                        </m:ctrlPr>
                      </m:sSubPr>
                      <m:e>
                        <m:r>
                          <a:rPr lang="en-US" altLang="zh-CN" b="0" i="1" dirty="0">
                            <a:latin typeface="Cambria Math" panose="02040503050406030204" charset="0"/>
                            <a:cs typeface="Cambria Math" panose="02040503050406030204" charset="0"/>
                          </a:rPr>
                          <m:t>𝐴</m:t>
                        </m:r>
                      </m:e>
                      <m:sub>
                        <m:r>
                          <a:rPr lang="en-US" altLang="zh-CN" b="0" i="1" dirty="0">
                            <a:latin typeface="Cambria Math" panose="02040503050406030204" charset="0"/>
                            <a:cs typeface="Cambria Math" panose="02040503050406030204" charset="0"/>
                          </a:rPr>
                          <m:t>𝑖</m:t>
                        </m:r>
                        <m:r>
                          <a:rPr lang="en-US" altLang="zh-CN" b="0" i="1" baseline="-25000" dirty="0">
                            <a:latin typeface="Cambria Math" panose="02040503050406030204" charset="0"/>
                            <a:cs typeface="Cambria Math" panose="02040503050406030204" charset="0"/>
                          </a:rPr>
                          <m:t>𝑘</m:t>
                        </m:r>
                      </m:sub>
                    </m:sSub>
                    <m:r>
                      <a:rPr lang="en-US" altLang="zh-CN" sz="2800" dirty="0">
                        <a:latin typeface="Cambria Math" panose="02040503050406030204" charset="0"/>
                        <a:cs typeface="Cambria Math" panose="02040503050406030204" charset="0"/>
                      </a:rPr>
                      <m:t>}</m:t>
                    </m:r>
                  </m:oMath>
                </a14:m>
                <a:r>
                  <a:rPr lang="zh-CN" altLang="en-US" sz="2800" dirty="0"/>
                  <a:t>后剩余的属性组。</a:t>
                </a:r>
              </a:p>
            </p:txBody>
          </p:sp>
        </mc:Choice>
        <mc:Fallback>
          <p:sp>
            <p:nvSpPr>
              <p:cNvPr id="7" name="内容占位符 6"/>
              <p:cNvSpPr>
                <a:spLocks noGrp="1" noRot="1" noChangeAspect="1" noMove="1" noResize="1" noEditPoints="1" noAdjustHandles="1" noChangeArrowheads="1" noChangeShapeType="1" noTextEdit="1"/>
              </p:cNvSpPr>
              <p:nvPr>
                <p:ph idx="1"/>
              </p:nvPr>
            </p:nvSpPr>
            <p:spPr>
              <a:blipFill>
                <a:blip r:embed="rId2"/>
                <a:stretch>
                  <a:fillRect l="-671" t="-860" r="-447"/>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10</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 calcmode="lin" valueType="num">
                                      <p:cBhvr additive="base">
                                        <p:cTn id="2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 calcmode="lin" valueType="num">
                                      <p:cBhvr additive="base">
                                        <p:cTn id="3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使用的记号 </a:t>
            </a:r>
            <a:r>
              <a:rPr lang="en-US" altLang="zh-CN" dirty="0"/>
              <a:t>3</a:t>
            </a:r>
            <a:r>
              <a:rPr lang="zh-CN" altLang="en-US" dirty="0"/>
              <a:t>：元组的连接</a:t>
            </a:r>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424180" y="687070"/>
                <a:ext cx="11343005" cy="737235"/>
              </a:xfrm>
              <a:scene3d>
                <a:camera prst="orthographicFront">
                  <a:rot lat="0" lon="0" rev="0"/>
                </a:camera>
                <a:lightRig rig="threePt" dir="t"/>
              </a:scene3d>
            </p:spPr>
            <p:txBody>
              <a:bodyPr>
                <a:noAutofit/>
              </a:bodyPr>
              <a:lstStyle/>
              <a:p>
                <a:pPr fontAlgn="auto">
                  <a:lnSpc>
                    <a:spcPct val="150000"/>
                  </a:lnSpc>
                  <a:spcBef>
                    <a:spcPts val="2000"/>
                  </a:spcBef>
                </a:pP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𝑅</m:t>
                    </m:r>
                    <m:r>
                      <a:rPr lang="en-US" altLang="zh-CN" sz="2800" i="1" dirty="0">
                        <a:latin typeface="Cambria Math" panose="02040503050406030204" charset="0"/>
                        <a:cs typeface="Cambria Math" panose="02040503050406030204" charset="0"/>
                      </a:rPr>
                      <m:t> </m:t>
                    </m:r>
                  </m:oMath>
                </a14:m>
                <a:r>
                  <a:rPr lang="zh-CN" altLang="en-US" sz="2800" dirty="0"/>
                  <a:t>为</a:t>
                </a:r>
                <a14:m>
                  <m:oMath xmlns:m="http://schemas.openxmlformats.org/officeDocument/2006/math">
                    <m:r>
                      <a:rPr lang="en-US" altLang="zh-CN" sz="2800" i="1" dirty="0">
                        <a:latin typeface="Cambria Math" panose="02040503050406030204" charset="0"/>
                        <a:cs typeface="Cambria Math" panose="02040503050406030204" charset="0"/>
                      </a:rPr>
                      <m:t>𝑛</m:t>
                    </m:r>
                  </m:oMath>
                </a14:m>
                <a:r>
                  <a:rPr lang="zh-CN" altLang="en-US" sz="2800" dirty="0"/>
                  <a:t>目关系，</a:t>
                </a:r>
                <a14:m>
                  <m:oMath xmlns:m="http://schemas.openxmlformats.org/officeDocument/2006/math">
                    <m:r>
                      <a:rPr lang="en-US" altLang="zh-CN" sz="2800" i="1" dirty="0">
                        <a:latin typeface="Cambria Math" panose="02040503050406030204" charset="0"/>
                        <a:cs typeface="Cambria Math" panose="02040503050406030204" charset="0"/>
                      </a:rPr>
                      <m:t>𝑆</m:t>
                    </m:r>
                    <m:r>
                      <a:rPr lang="en-US" altLang="zh-CN" sz="2800" i="1" dirty="0">
                        <a:latin typeface="Cambria Math" panose="02040503050406030204" charset="0"/>
                        <a:cs typeface="Cambria Math" panose="02040503050406030204" charset="0"/>
                      </a:rPr>
                      <m:t> </m:t>
                    </m:r>
                  </m:oMath>
                </a14:m>
                <a:r>
                  <a:rPr lang="zh-CN" altLang="en-US" sz="2800" dirty="0"/>
                  <a:t>为</a:t>
                </a:r>
                <a14:m>
                  <m:oMath xmlns:m="http://schemas.openxmlformats.org/officeDocument/2006/math">
                    <m:r>
                      <a:rPr lang="en-US" altLang="zh-CN" sz="2800" i="1" dirty="0">
                        <a:latin typeface="Cambria Math" panose="02040503050406030204" charset="0"/>
                        <a:cs typeface="Cambria Math" panose="02040503050406030204" charset="0"/>
                      </a:rPr>
                      <m:t>𝑚</m:t>
                    </m:r>
                  </m:oMath>
                </a14:m>
                <a:r>
                  <a:rPr lang="zh-CN" altLang="en-US" sz="2800" dirty="0"/>
                  <a:t>目关系</a:t>
                </a:r>
              </a:p>
            </p:txBody>
          </p:sp>
        </mc:Choice>
        <mc:Fallback xmlns="">
          <p:sp>
            <p:nvSpPr>
              <p:cNvPr id="7" name="内容占位符 6"/>
              <p:cNvSpPr>
                <a:spLocks noRot="1" noChangeAspect="1" noMove="1" noResize="1" noEditPoints="1" noAdjustHandles="1" noChangeArrowheads="1" noChangeShapeType="1" noTextEdit="1"/>
              </p:cNvSpPr>
              <p:nvPr>
                <p:ph idx="1"/>
              </p:nvPr>
            </p:nvSpPr>
            <p:spPr>
              <a:xfrm>
                <a:off x="424180" y="687070"/>
                <a:ext cx="11343005" cy="737235"/>
              </a:xfrm>
              <a:blipFill rotWithShape="1">
                <a:blip r:embed="rId2"/>
                <a:stretch>
                  <a:fillRect/>
                </a:stretch>
              </a:blipFill>
              <a:scene3d>
                <a:camera prst="orthographicFront">
                  <a:rot lat="0" lon="0" rev="0"/>
                </a:camera>
                <a:lightRig rig="threePt" dir="t"/>
              </a:scene3d>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11</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pic>
        <p:nvPicPr>
          <p:cNvPr id="11" name="图片 10"/>
          <p:cNvPicPr>
            <a:picLocks noChangeAspect="1"/>
          </p:cNvPicPr>
          <p:nvPr/>
        </p:nvPicPr>
        <p:blipFill>
          <a:blip r:embed="rId3"/>
          <a:stretch>
            <a:fillRect/>
          </a:stretch>
        </p:blipFill>
        <p:spPr>
          <a:xfrm>
            <a:off x="423545" y="1840865"/>
            <a:ext cx="11343640" cy="2821940"/>
          </a:xfrm>
          <a:prstGeom prst="rect">
            <a:avLst/>
          </a:prstGeom>
        </p:spPr>
      </p:pic>
      <mc:AlternateContent xmlns:mc="http://schemas.openxmlformats.org/markup-compatibility/2006" xmlns:a14="http://schemas.microsoft.com/office/drawing/2010/main">
        <mc:Choice Requires="a14">
          <p:sp>
            <p:nvSpPr>
              <p:cNvPr id="12" name="内容占位符 6"/>
              <p:cNvSpPr>
                <a:spLocks noGrp="1"/>
              </p:cNvSpPr>
              <p:nvPr/>
            </p:nvSpPr>
            <p:spPr>
              <a:xfrm>
                <a:off x="425450" y="5079365"/>
                <a:ext cx="11343005" cy="737235"/>
              </a:xfrm>
              <a:prstGeom prst="rect">
                <a:avLst/>
              </a:prstGeom>
              <a:scene3d>
                <a:camera prst="orthographicFront">
                  <a:rot lat="0" lon="0" rev="0"/>
                </a:camera>
                <a:lightRig rig="threePt" dir="t"/>
              </a:scene3d>
            </p:spPr>
            <p:txBody>
              <a:bodyPr vert="horz" lIns="91440" tIns="45720" rIns="91440" bIns="45720" rtlCol="0">
                <a:spAutoFit/>
              </a:bodyPr>
              <a:lstStyle>
                <a:lvl1pPr marL="341630" indent="-34163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774065" indent="-31623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83005" indent="-26797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fontAlgn="auto">
                  <a:lnSpc>
                    <a:spcPct val="150000"/>
                  </a:lnSpc>
                  <a:spcBef>
                    <a:spcPts val="2000"/>
                  </a:spcBef>
                </a:pPr>
                <a:r>
                  <a:rPr lang="zh-CN" altLang="en-US" dirty="0">
                    <a:solidFill>
                      <a:srgbClr val="FF0000"/>
                    </a:solidFill>
                    <a:sym typeface="+mn-ea"/>
                  </a:rPr>
                  <a:t>为方便表示，以后用</a:t>
                </a:r>
                <a14:m>
                  <m:oMath xmlns:m="http://schemas.openxmlformats.org/officeDocument/2006/math">
                    <m:r>
                      <a:rPr lang="en-US" altLang="zh-CN" i="1" dirty="0">
                        <a:solidFill>
                          <a:srgbClr val="FF0000"/>
                        </a:solidFill>
                        <a:latin typeface="Cambria Math" panose="02040503050406030204" charset="0"/>
                        <a:cs typeface="Cambria Math" panose="02040503050406030204" charset="0"/>
                      </a:rPr>
                      <m:t> (</m:t>
                    </m:r>
                    <m:sSub>
                      <m:sSubPr>
                        <m:ctrlPr>
                          <a:rPr lang="en-US" altLang="zh-CN" b="0" i="1" dirty="0">
                            <a:solidFill>
                              <a:srgbClr val="FF0000"/>
                            </a:solidFill>
                            <a:latin typeface="Cambria Math" panose="02040503050406030204" pitchFamily="18" charset="0"/>
                            <a:cs typeface="Cambria Math" panose="02040503050406030204" charset="0"/>
                          </a:rPr>
                        </m:ctrlPr>
                      </m:sSubPr>
                      <m:e>
                        <m:r>
                          <a:rPr lang="en-US" altLang="zh-CN" b="0" i="1" dirty="0">
                            <a:solidFill>
                              <a:srgbClr val="FF0000"/>
                            </a:solidFill>
                            <a:latin typeface="Cambria Math" panose="02040503050406030204" charset="0"/>
                            <a:cs typeface="Cambria Math" panose="02040503050406030204" charset="0"/>
                          </a:rPr>
                          <m:t>𝑡</m:t>
                        </m:r>
                      </m:e>
                      <m:sub>
                        <m:r>
                          <a:rPr lang="en-US" altLang="zh-CN" b="0" i="1" dirty="0">
                            <a:solidFill>
                              <a:srgbClr val="FF0000"/>
                            </a:solidFill>
                            <a:latin typeface="Cambria Math" panose="02040503050406030204" charset="0"/>
                            <a:cs typeface="Cambria Math" panose="02040503050406030204" charset="0"/>
                          </a:rPr>
                          <m:t>𝑟</m:t>
                        </m:r>
                      </m:sub>
                    </m:sSub>
                    <m:r>
                      <a:rPr lang="en-US" altLang="zh-CN" b="0" dirty="0">
                        <a:solidFill>
                          <a:srgbClr val="FF0000"/>
                        </a:solidFill>
                        <a:latin typeface="Cambria Math" panose="02040503050406030204" charset="0"/>
                        <a:cs typeface="Cambria Math" panose="02040503050406030204" charset="0"/>
                      </a:rPr>
                      <m:t>,</m:t>
                    </m:r>
                    <m:r>
                      <a:rPr lang="en-US" altLang="zh-CN" b="0" i="1" dirty="0">
                        <a:solidFill>
                          <a:srgbClr val="FF0000"/>
                        </a:solidFill>
                        <a:latin typeface="Cambria Math" panose="02040503050406030204" charset="0"/>
                        <a:cs typeface="Cambria Math" panose="02040503050406030204" charset="0"/>
                      </a:rPr>
                      <m:t> </m:t>
                    </m:r>
                    <m:sSub>
                      <m:sSubPr>
                        <m:ctrlPr>
                          <a:rPr lang="en-US" altLang="zh-CN" b="0" i="1" dirty="0">
                            <a:solidFill>
                              <a:srgbClr val="FF0000"/>
                            </a:solidFill>
                            <a:latin typeface="Cambria Math" panose="02040503050406030204" pitchFamily="18" charset="0"/>
                            <a:cs typeface="Cambria Math" panose="02040503050406030204" charset="0"/>
                          </a:rPr>
                        </m:ctrlPr>
                      </m:sSubPr>
                      <m:e>
                        <m:r>
                          <a:rPr lang="en-US" altLang="zh-CN" b="0" i="1" dirty="0">
                            <a:solidFill>
                              <a:srgbClr val="FF0000"/>
                            </a:solidFill>
                            <a:latin typeface="Cambria Math" panose="02040503050406030204" charset="0"/>
                            <a:cs typeface="Cambria Math" panose="02040503050406030204" charset="0"/>
                          </a:rPr>
                          <m:t>𝑡</m:t>
                        </m:r>
                      </m:e>
                      <m:sub>
                        <m:r>
                          <a:rPr lang="en-US" altLang="zh-CN" b="0" i="1" dirty="0">
                            <a:solidFill>
                              <a:srgbClr val="FF0000"/>
                            </a:solidFill>
                            <a:latin typeface="Cambria Math" panose="02040503050406030204" charset="0"/>
                            <a:cs typeface="Cambria Math" panose="02040503050406030204" charset="0"/>
                          </a:rPr>
                          <m:t>𝑠</m:t>
                        </m:r>
                      </m:sub>
                    </m:sSub>
                    <m:r>
                      <a:rPr lang="en-US" altLang="zh-CN" i="1" dirty="0">
                        <a:solidFill>
                          <a:srgbClr val="FF0000"/>
                        </a:solidFill>
                        <a:latin typeface="Cambria Math" panose="02040503050406030204" charset="0"/>
                        <a:cs typeface="Cambria Math" panose="02040503050406030204" charset="0"/>
                      </a:rPr>
                      <m:t>) </m:t>
                    </m:r>
                  </m:oMath>
                </a14:m>
                <a:r>
                  <a:rPr lang="zh-CN" altLang="en-US" dirty="0">
                    <a:solidFill>
                      <a:srgbClr val="FF0000"/>
                    </a:solidFill>
                    <a:sym typeface="+mn-ea"/>
                  </a:rPr>
                  <a:t>来表示元组的连接。</a:t>
                </a:r>
                <a:endParaRPr lang="zh-CN" altLang="en-US" sz="2800" dirty="0"/>
              </a:p>
            </p:txBody>
          </p:sp>
        </mc:Choice>
        <mc:Fallback xmlns="">
          <p:sp>
            <p:nvSpPr>
              <p:cNvPr id="12" name="内容占位符 6"/>
              <p:cNvSpPr>
                <a:spLocks noRot="1" noChangeAspect="1" noMove="1" noResize="1" noEditPoints="1" noAdjustHandles="1" noChangeArrowheads="1" noChangeShapeType="1" noTextEdit="1"/>
              </p:cNvSpPr>
              <p:nvPr/>
            </p:nvSpPr>
            <p:spPr>
              <a:xfrm>
                <a:off x="425450" y="5079365"/>
                <a:ext cx="11343005" cy="737235"/>
              </a:xfrm>
              <a:prstGeom prst="rect">
                <a:avLst/>
              </a:prstGeom>
              <a:blipFill rotWithShape="1">
                <a:blip r:embed="rId4"/>
                <a:stretch>
                  <a:fillRect/>
                </a:stretch>
              </a:blipFill>
              <a:scene3d>
                <a:camera prst="orthographicFront">
                  <a:rot lat="0" lon="0" rev="0"/>
                </a:camera>
                <a:lightRig rig="threePt" dir="t"/>
              </a:scene3d>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使用的记号 </a:t>
            </a:r>
            <a:r>
              <a:rPr lang="en-US" altLang="zh-CN" dirty="0"/>
              <a:t>4</a:t>
            </a:r>
            <a:r>
              <a:rPr lang="zh-CN" altLang="en-US" dirty="0"/>
              <a:t>：象集（</a:t>
            </a:r>
            <a:r>
              <a:rPr lang="en-US" altLang="zh-CN" dirty="0"/>
              <a:t>Images Set</a:t>
            </a:r>
            <a:r>
              <a:rPr lang="zh-CN" altLang="en-US" dirty="0"/>
              <a:t>）</a:t>
            </a:r>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scene3d>
                <a:camera prst="orthographicFront">
                  <a:rot lat="0" lon="0" rev="0"/>
                </a:camera>
                <a:lightRig rig="threePt" dir="t"/>
              </a:scene3d>
            </p:spPr>
            <p:txBody>
              <a:bodyPr>
                <a:noAutofit/>
              </a:bodyPr>
              <a:lstStyle/>
              <a:p>
                <a:pPr algn="just" fontAlgn="auto">
                  <a:lnSpc>
                    <a:spcPct val="120000"/>
                  </a:lnSpc>
                  <a:spcBef>
                    <a:spcPts val="3000"/>
                  </a:spcBef>
                </a:pPr>
                <a:r>
                  <a:rPr lang="zh-CN" altLang="en-US" sz="2800" dirty="0"/>
                  <a:t>给定一个关系</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𝑅</m:t>
                    </m:r>
                    <m:r>
                      <a:rPr lang="en-US" altLang="zh-CN" sz="2800" dirty="0">
                        <a:latin typeface="Cambria Math" panose="02040503050406030204" charset="0"/>
                        <a:cs typeface="Cambria Math" panose="02040503050406030204" charset="0"/>
                      </a:rPr>
                      <m:t>(</m:t>
                    </m:r>
                    <m:r>
                      <a:rPr lang="en-US" altLang="zh-CN" sz="2800" i="1" dirty="0">
                        <a:latin typeface="Cambria Math" panose="02040503050406030204" charset="0"/>
                        <a:cs typeface="Cambria Math" panose="02040503050406030204" charset="0"/>
                      </a:rPr>
                      <m:t>𝑋</m:t>
                    </m:r>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𝑍</m:t>
                    </m:r>
                    <m:r>
                      <a:rPr lang="en-US" altLang="zh-CN" sz="2800" i="1" dirty="0">
                        <a:latin typeface="Cambria Math" panose="02040503050406030204" charset="0"/>
                        <a:cs typeface="Cambria Math" panose="02040503050406030204" charset="0"/>
                      </a:rPr>
                      <m:t>)</m:t>
                    </m:r>
                  </m:oMath>
                </a14:m>
                <a:endParaRPr lang="zh-CN" altLang="en-US" sz="2800" i="1" dirty="0">
                  <a:latin typeface="Cambria Math" panose="02040503050406030204" charset="0"/>
                  <a:cs typeface="Cambria Math" panose="02040503050406030204" charset="0"/>
                </a:endParaRPr>
              </a:p>
              <a:p>
                <a:pPr lvl="1" algn="just" fontAlgn="auto">
                  <a:lnSpc>
                    <a:spcPct val="120000"/>
                  </a:lnSpc>
                  <a:spcBef>
                    <a:spcPts val="1500"/>
                  </a:spcBef>
                </a:pPr>
                <a14:m>
                  <m:oMath xmlns:m="http://schemas.openxmlformats.org/officeDocument/2006/math">
                    <m:r>
                      <a:rPr lang="en-US" altLang="zh-CN" sz="2610" i="1" dirty="0">
                        <a:latin typeface="Cambria Math" panose="02040503050406030204" charset="0"/>
                        <a:cs typeface="Cambria Math" panose="02040503050406030204" charset="0"/>
                      </a:rPr>
                      <m:t> </m:t>
                    </m:r>
                    <m:r>
                      <a:rPr lang="en-US" altLang="zh-CN" sz="2610" i="1" dirty="0">
                        <a:latin typeface="Cambria Math" panose="02040503050406030204" charset="0"/>
                        <a:cs typeface="Cambria Math" panose="02040503050406030204" charset="0"/>
                      </a:rPr>
                      <m:t>𝑋</m:t>
                    </m:r>
                    <m:r>
                      <a:rPr lang="en-US" altLang="zh-CN" sz="2610" i="1" dirty="0">
                        <a:latin typeface="Cambria Math" panose="02040503050406030204" charset="0"/>
                        <a:cs typeface="Cambria Math" panose="02040503050406030204" charset="0"/>
                      </a:rPr>
                      <m:t> </m:t>
                    </m:r>
                  </m:oMath>
                </a14:m>
                <a:r>
                  <a:rPr lang="zh-CN" altLang="en-US" sz="2610" dirty="0"/>
                  <a:t>和</a:t>
                </a:r>
                <a14:m>
                  <m:oMath xmlns:m="http://schemas.openxmlformats.org/officeDocument/2006/math">
                    <m:r>
                      <a:rPr lang="en-US" altLang="zh-CN" sz="2610" i="1" dirty="0">
                        <a:latin typeface="Cambria Math" panose="02040503050406030204" charset="0"/>
                        <a:cs typeface="Cambria Math" panose="02040503050406030204" charset="0"/>
                      </a:rPr>
                      <m:t> </m:t>
                    </m:r>
                    <m:r>
                      <a:rPr lang="en-US" altLang="zh-CN" sz="2610" i="1" dirty="0">
                        <a:latin typeface="Cambria Math" panose="02040503050406030204" charset="0"/>
                        <a:cs typeface="Cambria Math" panose="02040503050406030204" charset="0"/>
                      </a:rPr>
                      <m:t>𝑍</m:t>
                    </m:r>
                    <m:r>
                      <a:rPr lang="en-US" altLang="zh-CN" sz="2610" i="1" dirty="0">
                        <a:latin typeface="Cambria Math" panose="02040503050406030204" charset="0"/>
                        <a:cs typeface="Cambria Math" panose="02040503050406030204" charset="0"/>
                      </a:rPr>
                      <m:t> </m:t>
                    </m:r>
                  </m:oMath>
                </a14:m>
                <a:r>
                  <a:rPr lang="zh-CN" altLang="en-US" sz="2610" dirty="0"/>
                  <a:t>为属性组</a:t>
                </a:r>
              </a:p>
              <a:p>
                <a:pPr lvl="1" algn="just" fontAlgn="auto">
                  <a:lnSpc>
                    <a:spcPct val="120000"/>
                  </a:lnSpc>
                  <a:spcBef>
                    <a:spcPts val="1500"/>
                  </a:spcBef>
                </a:pPr>
                <a14:m>
                  <m:oMath xmlns:m="http://schemas.openxmlformats.org/officeDocument/2006/math">
                    <m:r>
                      <a:rPr lang="en-US" altLang="zh-CN" sz="2610" i="1" dirty="0">
                        <a:latin typeface="Cambria Math" panose="02040503050406030204" charset="0"/>
                        <a:cs typeface="Cambria Math" panose="02040503050406030204" charset="0"/>
                      </a:rPr>
                      <m:t> </m:t>
                    </m:r>
                    <m:r>
                      <a:rPr lang="en-US" altLang="zh-CN" sz="2610" i="1" dirty="0">
                        <a:latin typeface="Cambria Math" panose="02040503050406030204" charset="0"/>
                        <a:cs typeface="Cambria Math" panose="02040503050406030204" charset="0"/>
                      </a:rPr>
                      <m:t>𝑥</m:t>
                    </m:r>
                    <m:r>
                      <a:rPr lang="en-US" altLang="zh-CN" sz="2610" i="1" dirty="0">
                        <a:latin typeface="Cambria Math" panose="02040503050406030204" charset="0"/>
                        <a:cs typeface="Cambria Math" panose="02040503050406030204" charset="0"/>
                      </a:rPr>
                      <m:t> </m:t>
                    </m:r>
                  </m:oMath>
                </a14:m>
                <a:r>
                  <a:rPr lang="zh-CN" altLang="en-US" sz="2610" dirty="0"/>
                  <a:t>为属性组</a:t>
                </a:r>
                <a14:m>
                  <m:oMath xmlns:m="http://schemas.openxmlformats.org/officeDocument/2006/math">
                    <m:r>
                      <a:rPr lang="en-US" altLang="zh-CN" sz="2610" i="1" dirty="0">
                        <a:latin typeface="Cambria Math" panose="02040503050406030204" charset="0"/>
                        <a:cs typeface="Cambria Math" panose="02040503050406030204" charset="0"/>
                      </a:rPr>
                      <m:t> </m:t>
                    </m:r>
                    <m:r>
                      <a:rPr lang="en-US" altLang="zh-CN" sz="2610" i="1" dirty="0">
                        <a:latin typeface="Cambria Math" panose="02040503050406030204" charset="0"/>
                        <a:cs typeface="Cambria Math" panose="02040503050406030204" charset="0"/>
                      </a:rPr>
                      <m:t>𝑋</m:t>
                    </m:r>
                    <m:r>
                      <a:rPr lang="en-US" altLang="zh-CN" sz="2610" i="1" dirty="0">
                        <a:latin typeface="Cambria Math" panose="02040503050406030204" charset="0"/>
                        <a:cs typeface="Cambria Math" panose="02040503050406030204" charset="0"/>
                      </a:rPr>
                      <m:t> </m:t>
                    </m:r>
                  </m:oMath>
                </a14:m>
                <a:r>
                  <a:rPr lang="zh-CN" altLang="en-US" sz="2610" dirty="0"/>
                  <a:t>定义域上的一个值</a:t>
                </a:r>
                <a:endParaRPr lang="en-US" altLang="zh-CN" sz="2610" dirty="0"/>
              </a:p>
              <a:p>
                <a:pPr lvl="1" algn="just" fontAlgn="auto">
                  <a:lnSpc>
                    <a:spcPct val="120000"/>
                  </a:lnSpc>
                  <a:spcBef>
                    <a:spcPts val="1500"/>
                  </a:spcBef>
                </a:pP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𝑥</m:t>
                    </m:r>
                    <m:r>
                      <a:rPr lang="en-US" altLang="zh-CN" sz="2800" i="1" dirty="0">
                        <a:latin typeface="Cambria Math" panose="02040503050406030204" charset="0"/>
                        <a:cs typeface="Cambria Math" panose="02040503050406030204" charset="0"/>
                      </a:rPr>
                      <m:t> </m:t>
                    </m:r>
                  </m:oMath>
                </a14:m>
                <a:r>
                  <a:rPr lang="zh-CN" altLang="en-US" sz="2800" dirty="0"/>
                  <a:t>在</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𝑅</m:t>
                    </m:r>
                    <m:r>
                      <a:rPr lang="en-US" altLang="zh-CN" sz="2800" i="1" dirty="0">
                        <a:latin typeface="Cambria Math" panose="02040503050406030204" charset="0"/>
                        <a:cs typeface="Cambria Math" panose="02040503050406030204" charset="0"/>
                      </a:rPr>
                      <m:t> </m:t>
                    </m:r>
                  </m:oMath>
                </a14:m>
                <a:r>
                  <a:rPr lang="zh-CN" altLang="en-US" sz="2800" dirty="0"/>
                  <a:t>中的</a:t>
                </a:r>
                <a:r>
                  <a:rPr lang="zh-CN" altLang="en-US" sz="2800" dirty="0">
                    <a:solidFill>
                      <a:srgbClr val="FF0000"/>
                    </a:solidFill>
                  </a:rPr>
                  <a:t>象集</a:t>
                </a:r>
                <a:r>
                  <a:rPr lang="zh-CN" altLang="en-US" sz="2800" dirty="0"/>
                  <a:t>定义如下：</a:t>
                </a:r>
                <a:endParaRPr lang="en-US" altLang="zh-CN" sz="2800" dirty="0"/>
              </a:p>
              <a:p>
                <a:pPr marL="363855" lvl="1" indent="694690" algn="ctr" fontAlgn="auto">
                  <a:lnSpc>
                    <a:spcPct val="120000"/>
                  </a:lnSpc>
                  <a:spcBef>
                    <a:spcPts val="1500"/>
                  </a:spcBef>
                  <a:buNone/>
                </a:pPr>
                <a14:m>
                  <m:oMathPara xmlns:m="http://schemas.openxmlformats.org/officeDocument/2006/math">
                    <m:oMathParaPr>
                      <m:jc m:val="left"/>
                    </m:oMathParaPr>
                    <m:oMath xmlns:m="http://schemas.openxmlformats.org/officeDocument/2006/math">
                      <m:sSub>
                        <m:sSubPr>
                          <m:ctrlPr>
                            <a:rPr lang="en-US" altLang="zh-CN" sz="2800" i="1" dirty="0" err="1">
                              <a:solidFill>
                                <a:srgbClr val="C00000"/>
                              </a:solidFill>
                              <a:latin typeface="Cambria Math" panose="02040503050406030204" pitchFamily="18" charset="0"/>
                              <a:cs typeface="Cambria Math" panose="02040503050406030204" charset="0"/>
                            </a:rPr>
                          </m:ctrlPr>
                        </m:sSubPr>
                        <m:e>
                          <m:r>
                            <a:rPr lang="en-US" altLang="zh-CN" sz="2800" i="1" dirty="0" err="1">
                              <a:solidFill>
                                <a:srgbClr val="C00000"/>
                              </a:solidFill>
                              <a:latin typeface="Cambria Math" panose="02040503050406030204" charset="0"/>
                              <a:cs typeface="Cambria Math" panose="02040503050406030204" charset="0"/>
                            </a:rPr>
                            <m:t>𝑍</m:t>
                          </m:r>
                        </m:e>
                        <m:sub>
                          <m:r>
                            <a:rPr lang="en-US" altLang="zh-CN" sz="2800" i="1" dirty="0" err="1">
                              <a:solidFill>
                                <a:srgbClr val="C00000"/>
                              </a:solidFill>
                              <a:latin typeface="Cambria Math" panose="02040503050406030204" charset="0"/>
                              <a:cs typeface="Cambria Math" panose="02040503050406030204" charset="0"/>
                            </a:rPr>
                            <m:t>𝑥</m:t>
                          </m:r>
                        </m:sub>
                      </m:sSub>
                      <m:r>
                        <a:rPr lang="en-US" altLang="zh-CN" sz="2800" i="1" dirty="0">
                          <a:solidFill>
                            <a:srgbClr val="C00000"/>
                          </a:solidFill>
                          <a:latin typeface="Cambria Math" panose="02040503050406030204" charset="0"/>
                          <a:cs typeface="Cambria Math" panose="02040503050406030204" charset="0"/>
                        </a:rPr>
                        <m:t> = { </m:t>
                      </m:r>
                      <m:r>
                        <a:rPr lang="en-US" altLang="zh-CN" sz="2800" i="1" dirty="0">
                          <a:solidFill>
                            <a:srgbClr val="C00000"/>
                          </a:solidFill>
                          <a:latin typeface="Cambria Math" panose="02040503050406030204" charset="0"/>
                          <a:cs typeface="Cambria Math" panose="02040503050406030204" charset="0"/>
                        </a:rPr>
                        <m:t>𝑡</m:t>
                      </m:r>
                      <m:r>
                        <a:rPr lang="en-US" altLang="zh-CN" sz="2800" i="1" dirty="0">
                          <a:solidFill>
                            <a:srgbClr val="C00000"/>
                          </a:solidFill>
                          <a:latin typeface="Cambria Math" panose="02040503050406030204" charset="0"/>
                          <a:cs typeface="Cambria Math" panose="02040503050406030204" charset="0"/>
                        </a:rPr>
                        <m:t>[</m:t>
                      </m:r>
                      <m:r>
                        <a:rPr lang="en-US" altLang="zh-CN" sz="2800" i="1" dirty="0">
                          <a:solidFill>
                            <a:srgbClr val="C00000"/>
                          </a:solidFill>
                          <a:latin typeface="Cambria Math" panose="02040503050406030204" charset="0"/>
                          <a:cs typeface="Cambria Math" panose="02040503050406030204" charset="0"/>
                        </a:rPr>
                        <m:t>𝑍</m:t>
                      </m:r>
                      <m:r>
                        <a:rPr lang="en-US" altLang="zh-CN" sz="2800" i="1" dirty="0">
                          <a:solidFill>
                            <a:srgbClr val="C00000"/>
                          </a:solidFill>
                          <a:latin typeface="Cambria Math" panose="02040503050406030204" charset="0"/>
                          <a:cs typeface="Cambria Math" panose="02040503050406030204" charset="0"/>
                        </a:rPr>
                        <m:t>] | </m:t>
                      </m:r>
                      <m:r>
                        <a:rPr lang="en-US" altLang="zh-CN" sz="2800" i="1" dirty="0">
                          <a:solidFill>
                            <a:srgbClr val="C00000"/>
                          </a:solidFill>
                          <a:latin typeface="Cambria Math" panose="02040503050406030204" charset="0"/>
                          <a:cs typeface="Cambria Math" panose="02040503050406030204" charset="0"/>
                        </a:rPr>
                        <m:t>𝑡</m:t>
                      </m:r>
                      <m:r>
                        <a:rPr lang="en-US" altLang="zh-CN" sz="2800" i="1" dirty="0">
                          <a:solidFill>
                            <a:srgbClr val="C00000"/>
                          </a:solidFill>
                          <a:latin typeface="Cambria Math" panose="02040503050406030204" charset="0"/>
                          <a:cs typeface="Cambria Math" panose="02040503050406030204" charset="0"/>
                          <a:sym typeface="Symbol" panose="05050102010706020507" pitchFamily="2" charset="2"/>
                        </a:rPr>
                        <m:t></m:t>
                      </m:r>
                      <m:r>
                        <a:rPr lang="en-US" altLang="zh-CN" sz="2800" i="1" dirty="0">
                          <a:solidFill>
                            <a:srgbClr val="C00000"/>
                          </a:solidFill>
                          <a:latin typeface="Cambria Math" panose="02040503050406030204" charset="0"/>
                          <a:cs typeface="Cambria Math" panose="02040503050406030204" charset="0"/>
                        </a:rPr>
                        <m:t>𝑅</m:t>
                      </m:r>
                      <m:r>
                        <a:rPr lang="en-US" altLang="zh-CN" sz="2800" i="1" dirty="0">
                          <a:solidFill>
                            <a:srgbClr val="C00000"/>
                          </a:solidFill>
                          <a:latin typeface="Cambria Math" panose="02040503050406030204" charset="0"/>
                          <a:cs typeface="Cambria Math" panose="02040503050406030204" charset="0"/>
                        </a:rPr>
                        <m:t> </m:t>
                      </m:r>
                      <m:r>
                        <a:rPr lang="zh-CN" altLang="en-US" sz="2610" dirty="0">
                          <a:solidFill>
                            <a:srgbClr val="C00000"/>
                          </a:solidFill>
                          <a:latin typeface="Cambria Math" panose="02040503050406030204" charset="0"/>
                        </a:rPr>
                        <m:t>且</m:t>
                      </m:r>
                      <m:r>
                        <a:rPr lang="en-US" altLang="zh-CN" sz="2800" i="1" dirty="0">
                          <a:solidFill>
                            <a:srgbClr val="C00000"/>
                          </a:solidFill>
                          <a:latin typeface="Cambria Math" panose="02040503050406030204" charset="0"/>
                          <a:ea typeface="MS Mincho" charset="0"/>
                          <a:cs typeface="Cambria Math" panose="02040503050406030204" charset="0"/>
                        </a:rPr>
                        <m:t> </m:t>
                      </m:r>
                      <m:r>
                        <a:rPr lang="en-US" altLang="zh-CN" sz="2800" i="1" dirty="0">
                          <a:solidFill>
                            <a:srgbClr val="C00000"/>
                          </a:solidFill>
                          <a:latin typeface="Cambria Math" panose="02040503050406030204" charset="0"/>
                          <a:cs typeface="Cambria Math" panose="02040503050406030204" charset="0"/>
                        </a:rPr>
                        <m:t>𝑡</m:t>
                      </m:r>
                      <m:r>
                        <a:rPr lang="en-US" altLang="zh-CN" sz="2800" i="1" dirty="0">
                          <a:solidFill>
                            <a:srgbClr val="C00000"/>
                          </a:solidFill>
                          <a:latin typeface="Cambria Math" panose="02040503050406030204" charset="0"/>
                          <a:cs typeface="Cambria Math" panose="02040503050406030204" charset="0"/>
                        </a:rPr>
                        <m:t>[</m:t>
                      </m:r>
                      <m:r>
                        <a:rPr lang="en-US" altLang="zh-CN" sz="2800" i="1" dirty="0">
                          <a:solidFill>
                            <a:srgbClr val="C00000"/>
                          </a:solidFill>
                          <a:latin typeface="Cambria Math" panose="02040503050406030204" charset="0"/>
                          <a:cs typeface="Cambria Math" panose="02040503050406030204" charset="0"/>
                        </a:rPr>
                        <m:t>𝑋</m:t>
                      </m:r>
                      <m:r>
                        <a:rPr lang="en-US" altLang="zh-CN" sz="2800" i="1" dirty="0">
                          <a:solidFill>
                            <a:srgbClr val="C00000"/>
                          </a:solidFill>
                          <a:latin typeface="Cambria Math" panose="02040503050406030204" charset="0"/>
                          <a:cs typeface="Cambria Math" panose="02040503050406030204" charset="0"/>
                        </a:rPr>
                        <m:t>]=</m:t>
                      </m:r>
                      <m:r>
                        <a:rPr lang="en-US" altLang="zh-CN" sz="2800" i="1" dirty="0">
                          <a:solidFill>
                            <a:srgbClr val="C00000"/>
                          </a:solidFill>
                          <a:latin typeface="Cambria Math" panose="02040503050406030204" charset="0"/>
                          <a:cs typeface="Cambria Math" panose="02040503050406030204" charset="0"/>
                        </a:rPr>
                        <m:t>𝑥</m:t>
                      </m:r>
                      <m:r>
                        <a:rPr lang="en-US" altLang="zh-CN" sz="2800" i="1" dirty="0">
                          <a:solidFill>
                            <a:srgbClr val="C00000"/>
                          </a:solidFill>
                          <a:latin typeface="Cambria Math" panose="02040503050406030204" charset="0"/>
                          <a:cs typeface="Cambria Math" panose="02040503050406030204" charset="0"/>
                        </a:rPr>
                        <m:t> }</m:t>
                      </m:r>
                    </m:oMath>
                  </m:oMathPara>
                </a14:m>
                <a:endParaRPr lang="en-US" altLang="zh-CN" sz="2800" dirty="0"/>
              </a:p>
              <a:p>
                <a:pPr lvl="1" algn="just" fontAlgn="auto">
                  <a:lnSpc>
                    <a:spcPct val="120000"/>
                  </a:lnSpc>
                  <a:spcBef>
                    <a:spcPts val="1500"/>
                  </a:spcBef>
                </a:pPr>
                <a:r>
                  <a:rPr lang="zh-CN" altLang="en-US" sz="2800" dirty="0"/>
                  <a:t>它表示</a:t>
                </a:r>
                <a14:m>
                  <m:oMath xmlns:m="http://schemas.openxmlformats.org/officeDocument/2006/math">
                    <m:r>
                      <a:rPr lang="en-US" altLang="zh-CN" sz="2800" i="1" dirty="0">
                        <a:latin typeface="Cambria Math" panose="02040503050406030204" charset="0"/>
                        <a:cs typeface="Cambria Math" panose="02040503050406030204" charset="0"/>
                      </a:rPr>
                      <m:t>𝑅</m:t>
                    </m:r>
                  </m:oMath>
                </a14:m>
                <a:r>
                  <a:rPr lang="zh-CN" altLang="en-US" sz="2800" dirty="0"/>
                  <a:t>中属性组</a:t>
                </a:r>
                <a14:m>
                  <m:oMath xmlns:m="http://schemas.openxmlformats.org/officeDocument/2006/math">
                    <m:r>
                      <a:rPr lang="en-US" altLang="zh-CN" sz="2800" i="1" dirty="0">
                        <a:latin typeface="Cambria Math" panose="02040503050406030204" charset="0"/>
                        <a:cs typeface="Cambria Math" panose="02040503050406030204" charset="0"/>
                      </a:rPr>
                      <m:t>𝑋</m:t>
                    </m:r>
                  </m:oMath>
                </a14:m>
                <a:r>
                  <a:rPr lang="zh-CN" altLang="en-US" sz="2800" dirty="0"/>
                  <a:t>上值为</a:t>
                </a:r>
                <a14:m>
                  <m:oMath xmlns:m="http://schemas.openxmlformats.org/officeDocument/2006/math">
                    <m:r>
                      <a:rPr lang="en-US" altLang="zh-CN" sz="2800" i="1" dirty="0">
                        <a:latin typeface="Cambria Math" panose="02040503050406030204" charset="0"/>
                        <a:cs typeface="Cambria Math" panose="02040503050406030204" charset="0"/>
                      </a:rPr>
                      <m:t>𝑥</m:t>
                    </m:r>
                  </m:oMath>
                </a14:m>
                <a:r>
                  <a:rPr lang="zh-CN" altLang="en-US" sz="2800" dirty="0"/>
                  <a:t>的诸元组在</a:t>
                </a:r>
                <a14:m>
                  <m:oMath xmlns:m="http://schemas.openxmlformats.org/officeDocument/2006/math">
                    <m:r>
                      <a:rPr lang="en-US" altLang="zh-CN" sz="2800" i="1" dirty="0">
                        <a:latin typeface="Cambria Math" panose="02040503050406030204" charset="0"/>
                        <a:cs typeface="Cambria Math" panose="02040503050406030204" charset="0"/>
                      </a:rPr>
                      <m:t>𝑍</m:t>
                    </m:r>
                  </m:oMath>
                </a14:m>
                <a:r>
                  <a:rPr lang="zh-CN" altLang="en-US" sz="2800" dirty="0"/>
                  <a:t>上分量的集合 </a:t>
                </a:r>
              </a:p>
            </p:txBody>
          </p:sp>
        </mc:Choice>
        <mc:Fallback xmlns="">
          <p:sp>
            <p:nvSpPr>
              <p:cNvPr id="7" name="内容占位符 6"/>
              <p:cNvSpPr>
                <a:spLocks noRot="1" noChangeAspect="1" noMove="1" noResize="1" noEditPoints="1" noAdjustHandles="1" noChangeArrowheads="1" noChangeShapeType="1" noTextEdit="1"/>
              </p:cNvSpPr>
              <p:nvPr>
                <p:ph idx="1"/>
              </p:nvPr>
            </p:nvSpPr>
            <p:spPr>
              <a:blipFill rotWithShape="1">
                <a:blip r:embed="rId2"/>
                <a:stretch>
                  <a:fillRect/>
                </a:stretch>
              </a:blipFill>
              <a:scene3d>
                <a:camera prst="orthographicFront">
                  <a:rot lat="0" lon="0" rev="0"/>
                </a:camera>
                <a:lightRig rig="threePt" dir="t"/>
              </a:scene3d>
            </p:spPr>
            <p:txBody>
              <a:bodyPr/>
              <a:lstStyle/>
              <a:p>
                <a:r>
                  <a:rPr lang="zh-CN" altLang="en-US">
                    <a:noFill/>
                  </a:rPr>
                  <a:t> </a:t>
                </a:r>
              </a:p>
            </p:txBody>
          </p:sp>
        </mc:Fallback>
      </mc:AlternateContent>
      <p:sp>
        <p:nvSpPr>
          <p:cNvPr id="2" name="灯片编号占位符 1"/>
          <p:cNvSpPr>
            <a:spLocks noGrp="1"/>
          </p:cNvSpPr>
          <p:nvPr>
            <p:ph type="sldNum" sz="quarter" idx="12"/>
          </p:nvPr>
        </p:nvSpPr>
        <p:spPr>
          <a:xfrm>
            <a:off x="11461115" y="6696000"/>
            <a:ext cx="730885" cy="153670"/>
          </a:xfrm>
        </p:spPr>
        <p:txBody>
          <a:bodyPr/>
          <a:lstStyle/>
          <a:p>
            <a:fld id="{565CE74E-AB26-4998-AD42-012C4C1AD076}" type="slidenum">
              <a:rPr lang="zh-CN" altLang="en-US" smtClean="0"/>
              <a:t>12</a:t>
            </a:fld>
            <a:endParaRPr lang="zh-CN" altLang="en-US"/>
          </a:p>
        </p:txBody>
      </p:sp>
      <p:sp>
        <p:nvSpPr>
          <p:cNvPr id="3" name="页脚占位符 2"/>
          <p:cNvSpPr>
            <a:spLocks noGrp="1"/>
          </p:cNvSpPr>
          <p:nvPr>
            <p:ph type="ftr" sz="quarter" idx="11"/>
          </p:nvPr>
        </p:nvSpPr>
        <p:spPr>
          <a:xfrm>
            <a:off x="0" y="6695365"/>
            <a:ext cx="4114800" cy="153670"/>
          </a:xfrm>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kumimoji="0" lang="zh-CN" altLang="en-US" sz="2800" i="0" u="none" strike="noStrike" cap="none" spc="0" normalizeH="0" baseline="0" dirty="0">
                <a:solidFill>
                  <a:schemeClr val="tx1"/>
                </a:solidFill>
                <a:ea typeface="+mj-ea"/>
                <a:cs typeface="+mj-cs"/>
              </a:rPr>
              <a:t>象集的例子（图</a:t>
            </a:r>
            <a:r>
              <a:rPr kumimoji="0" lang="en-US" altLang="zh-CN" sz="2800" i="0" u="none" strike="noStrike" cap="none" spc="0" normalizeH="0" baseline="0" dirty="0">
                <a:solidFill>
                  <a:schemeClr val="tx1"/>
                </a:solidFill>
                <a:ea typeface="+mj-ea"/>
                <a:cs typeface="+mj-cs"/>
              </a:rPr>
              <a:t>2.3</a:t>
            </a:r>
            <a:r>
              <a:rPr kumimoji="0" lang="zh-CN" altLang="en-US" sz="2800" i="0" u="none" strike="noStrike" cap="none" spc="0" normalizeH="0" baseline="0" dirty="0">
                <a:solidFill>
                  <a:schemeClr val="tx1"/>
                </a:solidFill>
                <a:ea typeface="+mj-ea"/>
                <a:cs typeface="+mj-cs"/>
              </a:rPr>
              <a:t>）</a:t>
            </a:r>
          </a:p>
        </p:txBody>
      </p:sp>
      <mc:AlternateContent xmlns:mc="http://schemas.openxmlformats.org/markup-compatibility/2006" xmlns:a14="http://schemas.microsoft.com/office/drawing/2010/main">
        <mc:Choice Requires="a14">
          <p:sp>
            <p:nvSpPr>
              <p:cNvPr id="82947" name="Rectangle 3"/>
              <p:cNvSpPr>
                <a:spLocks noGrp="1" noChangeArrowheads="1"/>
              </p:cNvSpPr>
              <p:nvPr>
                <p:ph idx="1"/>
              </p:nvPr>
            </p:nvSpPr>
            <p:spPr/>
            <p:txBody>
              <a:bodyPr/>
              <a:lstStyle/>
              <a:p>
                <a:pPr eaLnBrk="1" hangingPunct="1">
                  <a:lnSpc>
                    <a:spcPct val="150000"/>
                  </a:lnSpc>
                </a:pPr>
                <a14:m>
                  <m:oMath xmlns:m="http://schemas.openxmlformats.org/officeDocument/2006/math">
                    <m:r>
                      <a:rPr lang="en-US" altLang="zh-CN" sz="2800" i="1">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𝑥</m:t>
                    </m:r>
                    <m:r>
                      <a:rPr lang="en-US" altLang="zh-CN" sz="2800" baseline="-30000">
                        <a:latin typeface="Cambria Math" panose="02040503050406030204" charset="0"/>
                        <a:cs typeface="Cambria Math" panose="02040503050406030204" charset="0"/>
                      </a:rPr>
                      <m:t>1 </m:t>
                    </m:r>
                  </m:oMath>
                </a14:m>
                <a:r>
                  <a:rPr lang="zh-CN" altLang="en-US" sz="2800"/>
                  <a:t>在</a:t>
                </a:r>
                <a14:m>
                  <m:oMath xmlns:m="http://schemas.openxmlformats.org/officeDocument/2006/math">
                    <m:r>
                      <a:rPr lang="en-US" altLang="zh-CN" sz="2800" i="1">
                        <a:latin typeface="Cambria Math" panose="02040503050406030204" charset="0"/>
                        <a:cs typeface="Cambria Math" panose="02040503050406030204" charset="0"/>
                      </a:rPr>
                      <m:t>𝑅</m:t>
                    </m:r>
                  </m:oMath>
                </a14:m>
                <a:r>
                  <a:rPr lang="zh-CN" altLang="en-US" sz="2800"/>
                  <a:t>中的象集</a:t>
                </a:r>
              </a:p>
              <a:p>
                <a:pPr eaLnBrk="1" hangingPunct="1">
                  <a:lnSpc>
                    <a:spcPct val="150000"/>
                  </a:lnSpc>
                  <a:buFont typeface="Wingdings" panose="05000000000000000000" pitchFamily="2" charset="2"/>
                  <a:buNone/>
                </a:pPr>
                <a:r>
                  <a:rPr lang="zh-CN" altLang="en-US" sz="2800" i="1"/>
                  <a:t>    </a:t>
                </a:r>
                <a14:m>
                  <m:oMath xmlns:m="http://schemas.openxmlformats.org/officeDocument/2006/math">
                    <m:sSub>
                      <m:sSubPr>
                        <m:ctrlPr>
                          <a:rPr lang="zh-CN" altLang="en-US" sz="2800" b="0" i="1">
                            <a:solidFill>
                              <a:srgbClr val="FF0000"/>
                            </a:solidFill>
                            <a:latin typeface="Cambria Math" panose="02040503050406030204" pitchFamily="18" charset="0"/>
                            <a:cs typeface="Cambria Math" panose="02040503050406030204" charset="0"/>
                          </a:rPr>
                        </m:ctrlPr>
                      </m:sSubPr>
                      <m:e>
                        <m:r>
                          <a:rPr lang="en-US" altLang="zh-CN" sz="2800" b="0" i="1">
                            <a:solidFill>
                              <a:srgbClr val="FF0000"/>
                            </a:solidFill>
                            <a:latin typeface="Cambria Math" panose="02040503050406030204" charset="0"/>
                            <a:cs typeface="Cambria Math" panose="02040503050406030204" charset="0"/>
                          </a:rPr>
                          <m:t>𝑍</m:t>
                        </m:r>
                      </m:e>
                      <m:sub>
                        <m:sSub>
                          <m:sSubPr>
                            <m:ctrlPr>
                              <a:rPr lang="zh-CN" altLang="en-US" sz="2800" b="0" i="1">
                                <a:solidFill>
                                  <a:srgbClr val="FF0000"/>
                                </a:solidFill>
                                <a:latin typeface="Cambria Math" panose="02040503050406030204" pitchFamily="18" charset="0"/>
                                <a:cs typeface="Cambria Math" panose="02040503050406030204" charset="0"/>
                              </a:rPr>
                            </m:ctrlPr>
                          </m:sSubPr>
                          <m:e>
                            <m:r>
                              <a:rPr lang="en-US" altLang="zh-CN" sz="2800" b="0" i="1">
                                <a:solidFill>
                                  <a:srgbClr val="FF0000"/>
                                </a:solidFill>
                                <a:latin typeface="Cambria Math" panose="02040503050406030204" charset="0"/>
                                <a:cs typeface="Cambria Math" panose="02040503050406030204" charset="0"/>
                              </a:rPr>
                              <m:t>𝑥</m:t>
                            </m:r>
                          </m:e>
                          <m:sub>
                            <m:r>
                              <a:rPr lang="en-US" altLang="zh-CN" sz="2800" b="0" i="1">
                                <a:solidFill>
                                  <a:srgbClr val="FF0000"/>
                                </a:solidFill>
                                <a:latin typeface="Cambria Math" panose="02040503050406030204" charset="0"/>
                                <a:cs typeface="Cambria Math" panose="02040503050406030204" charset="0"/>
                              </a:rPr>
                              <m:t>1</m:t>
                            </m:r>
                          </m:sub>
                        </m:sSub>
                      </m:sub>
                    </m:sSub>
                    <m:r>
                      <a:rPr lang="en-US" altLang="zh-CN" sz="2800">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𝒛</m:t>
                    </m:r>
                    <m:r>
                      <a:rPr lang="en-US" altLang="zh-CN" sz="2800" baseline="-25000">
                        <a:latin typeface="Cambria Math" panose="02040503050406030204" charset="0"/>
                        <a:cs typeface="Cambria Math" panose="02040503050406030204" charset="0"/>
                      </a:rPr>
                      <m:t>1</m:t>
                    </m:r>
                    <m:r>
                      <a:rPr lang="en-US" altLang="zh-CN" sz="2800">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𝒛</m:t>
                    </m:r>
                    <m:r>
                      <a:rPr lang="en-US" altLang="zh-CN" sz="2800" baseline="-25000">
                        <a:latin typeface="Cambria Math" panose="02040503050406030204" charset="0"/>
                        <a:cs typeface="Cambria Math" panose="02040503050406030204" charset="0"/>
                      </a:rPr>
                      <m:t>2</m:t>
                    </m:r>
                    <m:r>
                      <a:rPr lang="en-US" altLang="zh-CN" sz="2800">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𝒛</m:t>
                    </m:r>
                    <m:r>
                      <a:rPr lang="en-US" altLang="zh-CN" sz="2800" baseline="-25000">
                        <a:latin typeface="Cambria Math" panose="02040503050406030204" charset="0"/>
                        <a:cs typeface="Cambria Math" panose="02040503050406030204" charset="0"/>
                      </a:rPr>
                      <m:t>3</m:t>
                    </m:r>
                    <m:r>
                      <a:rPr lang="en-US" altLang="zh-CN" sz="2800">
                        <a:latin typeface="Cambria Math" panose="02040503050406030204" charset="0"/>
                        <a:cs typeface="Cambria Math" panose="02040503050406030204" charset="0"/>
                      </a:rPr>
                      <m:t> }</m:t>
                    </m:r>
                  </m:oMath>
                </a14:m>
                <a:endParaRPr lang="zh-CN" altLang="en-US" sz="2800" i="1"/>
              </a:p>
              <a:p>
                <a:pPr eaLnBrk="1" hangingPunct="1">
                  <a:lnSpc>
                    <a:spcPct val="150000"/>
                  </a:lnSpc>
                  <a:spcBef>
                    <a:spcPts val="3000"/>
                  </a:spcBef>
                </a:pPr>
                <a14:m>
                  <m:oMath xmlns:m="http://schemas.openxmlformats.org/officeDocument/2006/math">
                    <m:r>
                      <a:rPr lang="en-US" altLang="zh-CN" sz="2800" i="1">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𝑥</m:t>
                    </m:r>
                    <m:r>
                      <a:rPr lang="en-US" altLang="zh-CN" sz="2800" baseline="-30000">
                        <a:latin typeface="Cambria Math" panose="02040503050406030204" charset="0"/>
                        <a:cs typeface="Cambria Math" panose="02040503050406030204" charset="0"/>
                      </a:rPr>
                      <m:t>2 </m:t>
                    </m:r>
                  </m:oMath>
                </a14:m>
                <a:r>
                  <a:rPr lang="zh-CN" altLang="en-US" sz="2800"/>
                  <a:t>在</a:t>
                </a:r>
                <a14:m>
                  <m:oMath xmlns:m="http://schemas.openxmlformats.org/officeDocument/2006/math">
                    <m:r>
                      <a:rPr lang="en-US" altLang="zh-CN" sz="2800" i="1">
                        <a:latin typeface="Cambria Math" panose="02040503050406030204" charset="0"/>
                        <a:cs typeface="Cambria Math" panose="02040503050406030204" charset="0"/>
                      </a:rPr>
                      <m:t>𝑅</m:t>
                    </m:r>
                  </m:oMath>
                </a14:m>
                <a:r>
                  <a:rPr lang="zh-CN" altLang="en-US" sz="2800"/>
                  <a:t>中的象集</a:t>
                </a:r>
              </a:p>
              <a:p>
                <a:pPr eaLnBrk="1" hangingPunct="1">
                  <a:lnSpc>
                    <a:spcPct val="150000"/>
                  </a:lnSpc>
                  <a:buFont typeface="Wingdings" panose="05000000000000000000" pitchFamily="2" charset="2"/>
                  <a:buNone/>
                </a:pPr>
                <a:r>
                  <a:rPr lang="zh-CN" altLang="en-US" sz="2800" i="1"/>
                  <a:t>    </a:t>
                </a:r>
                <a14:m>
                  <m:oMath xmlns:m="http://schemas.openxmlformats.org/officeDocument/2006/math">
                    <m:sSub>
                      <m:sSubPr>
                        <m:ctrlPr>
                          <a:rPr lang="zh-CN" altLang="en-US" sz="2800" b="0" i="1">
                            <a:solidFill>
                              <a:srgbClr val="FF0000"/>
                            </a:solidFill>
                            <a:latin typeface="Cambria Math" panose="02040503050406030204" pitchFamily="18" charset="0"/>
                            <a:cs typeface="Cambria Math" panose="02040503050406030204" charset="0"/>
                          </a:rPr>
                        </m:ctrlPr>
                      </m:sSubPr>
                      <m:e>
                        <m:r>
                          <a:rPr lang="en-US" altLang="zh-CN" sz="2800" b="0" i="1">
                            <a:solidFill>
                              <a:srgbClr val="FF0000"/>
                            </a:solidFill>
                            <a:latin typeface="Cambria Math" panose="02040503050406030204" charset="0"/>
                            <a:cs typeface="Cambria Math" panose="02040503050406030204" charset="0"/>
                          </a:rPr>
                          <m:t>𝑍</m:t>
                        </m:r>
                      </m:e>
                      <m:sub>
                        <m:sSub>
                          <m:sSubPr>
                            <m:ctrlPr>
                              <a:rPr lang="zh-CN" altLang="en-US" sz="2800" b="0" i="1">
                                <a:solidFill>
                                  <a:srgbClr val="FF0000"/>
                                </a:solidFill>
                                <a:latin typeface="Cambria Math" panose="02040503050406030204" pitchFamily="18" charset="0"/>
                                <a:cs typeface="Cambria Math" panose="02040503050406030204" charset="0"/>
                              </a:rPr>
                            </m:ctrlPr>
                          </m:sSubPr>
                          <m:e>
                            <m:r>
                              <a:rPr lang="en-US" altLang="zh-CN" sz="2800" b="0" i="1">
                                <a:solidFill>
                                  <a:srgbClr val="FF0000"/>
                                </a:solidFill>
                                <a:latin typeface="Cambria Math" panose="02040503050406030204" charset="0"/>
                                <a:cs typeface="Cambria Math" panose="02040503050406030204" charset="0"/>
                              </a:rPr>
                              <m:t>𝑥</m:t>
                            </m:r>
                          </m:e>
                          <m:sub>
                            <m:r>
                              <a:rPr lang="en-US" altLang="zh-CN" sz="2800" b="0" i="1">
                                <a:solidFill>
                                  <a:srgbClr val="FF0000"/>
                                </a:solidFill>
                                <a:latin typeface="Cambria Math" panose="02040503050406030204" charset="0"/>
                                <a:cs typeface="Cambria Math" panose="02040503050406030204" charset="0"/>
                              </a:rPr>
                              <m:t>2</m:t>
                            </m:r>
                          </m:sub>
                        </m:sSub>
                      </m:sub>
                    </m:sSub>
                    <m:r>
                      <a:rPr lang="en-US" altLang="zh-CN" sz="2800">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𝒛</m:t>
                    </m:r>
                    <m:r>
                      <a:rPr lang="en-US" altLang="zh-CN" sz="2800" baseline="-25000">
                        <a:latin typeface="Cambria Math" panose="02040503050406030204" charset="0"/>
                        <a:cs typeface="Cambria Math" panose="02040503050406030204" charset="0"/>
                      </a:rPr>
                      <m:t>2</m:t>
                    </m:r>
                    <m:r>
                      <a:rPr lang="en-US" altLang="zh-CN" sz="2800">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𝒛</m:t>
                    </m:r>
                    <m:r>
                      <a:rPr lang="en-US" altLang="zh-CN" sz="2800" baseline="-25000">
                        <a:latin typeface="Cambria Math" panose="02040503050406030204" charset="0"/>
                        <a:cs typeface="Cambria Math" panose="02040503050406030204" charset="0"/>
                      </a:rPr>
                      <m:t>3</m:t>
                    </m:r>
                    <m:r>
                      <a:rPr lang="en-US" altLang="zh-CN" sz="2800">
                        <a:latin typeface="Cambria Math" panose="02040503050406030204" charset="0"/>
                        <a:cs typeface="Cambria Math" panose="02040503050406030204" charset="0"/>
                      </a:rPr>
                      <m:t> }</m:t>
                    </m:r>
                  </m:oMath>
                </a14:m>
                <a:endParaRPr lang="zh-CN" altLang="en-US" sz="2800" i="1"/>
              </a:p>
              <a:p>
                <a:pPr eaLnBrk="1" hangingPunct="1">
                  <a:lnSpc>
                    <a:spcPct val="150000"/>
                  </a:lnSpc>
                  <a:spcBef>
                    <a:spcPts val="3000"/>
                  </a:spcBef>
                </a:pPr>
                <a14:m>
                  <m:oMath xmlns:m="http://schemas.openxmlformats.org/officeDocument/2006/math">
                    <m:r>
                      <a:rPr lang="en-US" altLang="zh-CN" sz="2800" i="1">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𝑥</m:t>
                    </m:r>
                    <m:r>
                      <a:rPr lang="en-US" altLang="zh-CN" sz="2800" baseline="-30000">
                        <a:latin typeface="Cambria Math" panose="02040503050406030204" charset="0"/>
                        <a:cs typeface="Cambria Math" panose="02040503050406030204" charset="0"/>
                      </a:rPr>
                      <m:t>3 </m:t>
                    </m:r>
                  </m:oMath>
                </a14:m>
                <a:r>
                  <a:rPr lang="zh-CN" altLang="en-US" sz="2800"/>
                  <a:t>在</a:t>
                </a:r>
                <a14:m>
                  <m:oMath xmlns:m="http://schemas.openxmlformats.org/officeDocument/2006/math">
                    <m:r>
                      <a:rPr lang="en-US" altLang="zh-CN" sz="2800" i="1">
                        <a:latin typeface="Cambria Math" panose="02040503050406030204" charset="0"/>
                        <a:cs typeface="Cambria Math" panose="02040503050406030204" charset="0"/>
                      </a:rPr>
                      <m:t>𝑅</m:t>
                    </m:r>
                  </m:oMath>
                </a14:m>
                <a:r>
                  <a:rPr lang="zh-CN" altLang="en-US" sz="2800"/>
                  <a:t>中的象集</a:t>
                </a:r>
              </a:p>
              <a:p>
                <a:pPr eaLnBrk="1" hangingPunct="1">
                  <a:lnSpc>
                    <a:spcPct val="150000"/>
                  </a:lnSpc>
                  <a:buFont typeface="Wingdings" panose="05000000000000000000" pitchFamily="2" charset="2"/>
                  <a:buNone/>
                </a:pPr>
                <a:r>
                  <a:rPr lang="zh-CN" altLang="en-US" sz="2800" i="1"/>
                  <a:t>    </a:t>
                </a:r>
                <a14:m>
                  <m:oMath xmlns:m="http://schemas.openxmlformats.org/officeDocument/2006/math">
                    <m:sSub>
                      <m:sSubPr>
                        <m:ctrlPr>
                          <a:rPr lang="zh-CN" altLang="en-US" sz="2800" b="0" i="1">
                            <a:solidFill>
                              <a:srgbClr val="FF0000"/>
                            </a:solidFill>
                            <a:latin typeface="Cambria Math" panose="02040503050406030204" pitchFamily="18" charset="0"/>
                            <a:cs typeface="Cambria Math" panose="02040503050406030204" charset="0"/>
                          </a:rPr>
                        </m:ctrlPr>
                      </m:sSubPr>
                      <m:e>
                        <m:r>
                          <a:rPr lang="en-US" altLang="zh-CN" sz="2800" b="0" i="1">
                            <a:solidFill>
                              <a:srgbClr val="FF0000"/>
                            </a:solidFill>
                            <a:latin typeface="Cambria Math" panose="02040503050406030204" charset="0"/>
                            <a:cs typeface="Cambria Math" panose="02040503050406030204" charset="0"/>
                          </a:rPr>
                          <m:t>𝑍</m:t>
                        </m:r>
                      </m:e>
                      <m:sub>
                        <m:sSub>
                          <m:sSubPr>
                            <m:ctrlPr>
                              <a:rPr lang="zh-CN" altLang="en-US" sz="2800" b="0" i="1">
                                <a:solidFill>
                                  <a:srgbClr val="FF0000"/>
                                </a:solidFill>
                                <a:latin typeface="Cambria Math" panose="02040503050406030204" pitchFamily="18" charset="0"/>
                                <a:cs typeface="Cambria Math" panose="02040503050406030204" charset="0"/>
                              </a:rPr>
                            </m:ctrlPr>
                          </m:sSubPr>
                          <m:e>
                            <m:r>
                              <a:rPr lang="en-US" altLang="zh-CN" sz="2800" b="0" i="1">
                                <a:solidFill>
                                  <a:srgbClr val="FF0000"/>
                                </a:solidFill>
                                <a:latin typeface="Cambria Math" panose="02040503050406030204" charset="0"/>
                                <a:cs typeface="Cambria Math" panose="02040503050406030204" charset="0"/>
                              </a:rPr>
                              <m:t>𝑥</m:t>
                            </m:r>
                          </m:e>
                          <m:sub>
                            <m:r>
                              <a:rPr lang="en-US" altLang="zh-CN" sz="2800" b="0" i="1">
                                <a:solidFill>
                                  <a:srgbClr val="FF0000"/>
                                </a:solidFill>
                                <a:latin typeface="Cambria Math" panose="02040503050406030204" charset="0"/>
                                <a:cs typeface="Cambria Math" panose="02040503050406030204" charset="0"/>
                              </a:rPr>
                              <m:t>3</m:t>
                            </m:r>
                          </m:sub>
                        </m:sSub>
                      </m:sub>
                    </m:sSub>
                    <m:r>
                      <a:rPr lang="en-US" altLang="zh-CN" sz="2800">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𝒛</m:t>
                    </m:r>
                    <m:r>
                      <a:rPr lang="en-US" altLang="zh-CN" sz="2800" baseline="-25000">
                        <a:latin typeface="Cambria Math" panose="02040503050406030204" charset="0"/>
                        <a:cs typeface="Cambria Math" panose="02040503050406030204" charset="0"/>
                      </a:rPr>
                      <m:t>1</m:t>
                    </m:r>
                    <m:r>
                      <a:rPr lang="en-US" altLang="zh-CN" sz="2800">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𝒛</m:t>
                    </m:r>
                    <m:r>
                      <a:rPr lang="en-US" altLang="zh-CN" sz="2800" baseline="-25000">
                        <a:latin typeface="Cambria Math" panose="02040503050406030204" charset="0"/>
                        <a:cs typeface="Cambria Math" panose="02040503050406030204" charset="0"/>
                      </a:rPr>
                      <m:t>3</m:t>
                    </m:r>
                    <m:r>
                      <a:rPr lang="en-US" altLang="zh-CN" sz="2800">
                        <a:latin typeface="Cambria Math" panose="02040503050406030204" charset="0"/>
                        <a:cs typeface="Cambria Math" panose="02040503050406030204" charset="0"/>
                      </a:rPr>
                      <m:t> }</m:t>
                    </m:r>
                  </m:oMath>
                </a14:m>
                <a:endParaRPr lang="en-US" altLang="zh-CN" sz="2800" dirty="0"/>
              </a:p>
            </p:txBody>
          </p:sp>
        </mc:Choice>
        <mc:Fallback xmlns="">
          <p:sp>
            <p:nvSpPr>
              <p:cNvPr id="82947" name="Rectangle 3"/>
              <p:cNvSpPr>
                <a:spLocks noRot="1" noChangeAspect="1" noMove="1" noResize="1" noEditPoints="1" noAdjustHandles="1" noChangeArrowheads="1" noChangeShapeType="1" noTextEdit="1"/>
              </p:cNvSpPr>
              <p:nvPr>
                <p:ph idx="1"/>
              </p:nvPr>
            </p:nvSpPr>
            <p:spPr>
              <a:blipFill rotWithShape="1">
                <a:blip r:embed="rId3"/>
                <a:stretch>
                  <a:fillRect/>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13</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graphicFrame>
            <p:nvGraphicFramePr>
              <p:cNvPr id="4" name="表格 3"/>
              <p:cNvGraphicFramePr/>
              <p:nvPr>
                <p:custDataLst>
                  <p:tags r:id="rId1"/>
                </p:custDataLst>
              </p:nvPr>
            </p:nvGraphicFramePr>
            <p:xfrm>
              <a:off x="5999480" y="687070"/>
              <a:ext cx="4552950" cy="5617845"/>
            </p:xfrm>
            <a:graphic>
              <a:graphicData uri="http://schemas.openxmlformats.org/drawingml/2006/table">
                <a:tbl>
                  <a:tblPr firstRow="1" bandRow="1">
                    <a:tableStyleId>{5C22544A-7EE6-4342-B048-85BDC9FD1C3A}</a:tableStyleId>
                  </a:tblPr>
                  <a:tblGrid>
                    <a:gridCol w="2276475">
                      <a:extLst>
                        <a:ext uri="{9D8B030D-6E8A-4147-A177-3AD203B41FA5}">
                          <a16:colId xmlns:a16="http://schemas.microsoft.com/office/drawing/2014/main" val="20000"/>
                        </a:ext>
                      </a:extLst>
                    </a:gridCol>
                    <a:gridCol w="2276475">
                      <a:extLst>
                        <a:ext uri="{9D8B030D-6E8A-4147-A177-3AD203B41FA5}">
                          <a16:colId xmlns:a16="http://schemas.microsoft.com/office/drawing/2014/main" val="20001"/>
                        </a:ext>
                      </a:extLst>
                    </a:gridCol>
                  </a:tblGrid>
                  <a:tr h="624205">
                    <a:tc gridSpan="2">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𝑹</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a:noFill/>
                        </a:lnL>
                        <a:lnR>
                          <a:noFill/>
                        </a:lnR>
                        <a:lnT>
                          <a:noFill/>
                        </a:lnT>
                        <a:lnB w="12700" cmpd="sng">
                          <a:solidFill>
                            <a:schemeClr val="tx1"/>
                          </a:solidFill>
                          <a:prstDash val="solid"/>
                        </a:lnB>
                        <a:noFill/>
                      </a:tcPr>
                    </a:tc>
                    <a:tc hMerge="1">
                      <a:txBody>
                        <a:bodyPr/>
                        <a:lstStyle/>
                        <a:p>
                          <a:endParaRPr lang="zh-CN"/>
                        </a:p>
                      </a:txBody>
                      <a:tcPr anchor="ctr">
                        <a:lnL w="12700" cmpd="sng">
                          <a:solidFill>
                            <a:schemeClr val="tx1"/>
                          </a:solidFill>
                          <a:prstDash val="solid"/>
                        </a:lnL>
                        <a:lnR>
                          <a:noFill/>
                        </a:lnR>
                        <a:lnT>
                          <a:noFill/>
                        </a:lnT>
                        <a:lnB w="12700" cmpd="sng">
                          <a:solidFill>
                            <a:schemeClr val="tx1"/>
                          </a:solidFill>
                          <a:prstDash val="solid"/>
                        </a:lnB>
                        <a:noFill/>
                      </a:tcPr>
                    </a:tc>
                    <a:extLst>
                      <a:ext uri="{0D108BD9-81ED-4DB2-BD59-A6C34878D82A}">
                        <a16:rowId xmlns:a16="http://schemas.microsoft.com/office/drawing/2014/main" val="10000"/>
                      </a:ext>
                    </a:extLst>
                  </a:tr>
                  <a:tr h="624205">
                    <a:tc>
                      <a:txBody>
                        <a:bodyPr/>
                        <a:lstStyle/>
                        <a:p>
                          <a:pPr algn="ctr">
                            <a:buNone/>
                          </a:pPr>
                          <a:r>
                            <a:rPr lang="en-US" altLang="zh-CN" sz="2800" b="1" i="1">
                              <a:solidFill>
                                <a:srgbClr val="C00000"/>
                              </a:solidFill>
                              <a:latin typeface="Times New Roman" panose="02020603050405020304" charset="0"/>
                              <a:cs typeface="Times New Roman" panose="02020603050405020304" charset="0"/>
                            </a:rPr>
                            <a:t>X</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lstStyle/>
                        <a:p>
                          <a:pPr algn="ctr">
                            <a:buNone/>
                          </a:pPr>
                          <a:r>
                            <a:rPr lang="en-US" altLang="zh-CN" sz="2800" b="1" i="1">
                              <a:solidFill>
                                <a:srgbClr val="C00000"/>
                              </a:solidFill>
                              <a:latin typeface="Times New Roman" panose="02020603050405020304" charset="0"/>
                              <a:cs typeface="Times New Roman" panose="02020603050405020304" charset="0"/>
                            </a:rPr>
                            <a:t>Z</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extLst>
                      <a:ext uri="{0D108BD9-81ED-4DB2-BD59-A6C34878D82A}">
                        <a16:rowId xmlns:a16="http://schemas.microsoft.com/office/drawing/2014/main" val="10001"/>
                      </a:ext>
                    </a:extLst>
                  </a:tr>
                  <a:tr h="62420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𝒙</m:t>
                                </m:r>
                                <m:r>
                                  <a:rPr lang="en-US" altLang="zh-CN" sz="2800" b="1" baseline="-25000">
                                    <a:solidFill>
                                      <a:srgbClr val="1F2DA8"/>
                                    </a:solidFill>
                                    <a:latin typeface="Cambria Math" panose="02040503050406030204" charset="0"/>
                                    <a:cs typeface="Cambria Math" panose="02040503050406030204" charset="0"/>
                                  </a:rPr>
                                  <m:t>𝟏</m:t>
                                </m:r>
                              </m:oMath>
                            </m:oMathPara>
                          </a14:m>
                          <a:endParaRPr lang="en-US" altLang="zh-CN" sz="2800" b="1" baseline="-25000">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𝒛</m:t>
                                </m:r>
                                <m:r>
                                  <a:rPr lang="en-US" altLang="zh-CN" sz="2800" b="1" baseline="-25000">
                                    <a:solidFill>
                                      <a:srgbClr val="1F2DA8"/>
                                    </a:solidFill>
                                    <a:latin typeface="Cambria Math" panose="02040503050406030204" charset="0"/>
                                    <a:cs typeface="Cambria Math" panose="02040503050406030204" charset="0"/>
                                  </a:rPr>
                                  <m:t>𝟏</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62420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𝒙</m:t>
                                </m:r>
                                <m:r>
                                  <a:rPr lang="en-US" altLang="zh-CN" sz="2800" b="1" baseline="-25000">
                                    <a:solidFill>
                                      <a:srgbClr val="1F2DA8"/>
                                    </a:solidFill>
                                    <a:latin typeface="Cambria Math" panose="02040503050406030204" charset="0"/>
                                    <a:cs typeface="Cambria Math" panose="02040503050406030204" charset="0"/>
                                  </a:rPr>
                                  <m:t>𝟏</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𝒛</m:t>
                                </m:r>
                                <m:r>
                                  <a:rPr lang="en-US" altLang="zh-CN" sz="2800" b="1" baseline="-25000">
                                    <a:solidFill>
                                      <a:srgbClr val="1F2DA8"/>
                                    </a:solidFill>
                                    <a:latin typeface="Cambria Math" panose="02040503050406030204" charset="0"/>
                                    <a:cs typeface="Cambria Math" panose="02040503050406030204" charset="0"/>
                                  </a:rPr>
                                  <m:t>𝟐</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r h="62420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𝒙</m:t>
                                </m:r>
                                <m:r>
                                  <a:rPr lang="en-US" altLang="zh-CN" sz="2800" b="1" baseline="-25000">
                                    <a:solidFill>
                                      <a:srgbClr val="1F2DA8"/>
                                    </a:solidFill>
                                    <a:latin typeface="Cambria Math" panose="02040503050406030204" charset="0"/>
                                    <a:cs typeface="Cambria Math" panose="02040503050406030204" charset="0"/>
                                  </a:rPr>
                                  <m:t>𝟏</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𝒛</m:t>
                                </m:r>
                                <m:r>
                                  <a:rPr lang="en-US" altLang="zh-CN" sz="2800" b="1" baseline="-25000">
                                    <a:solidFill>
                                      <a:srgbClr val="1F2DA8"/>
                                    </a:solidFill>
                                    <a:latin typeface="Cambria Math" panose="02040503050406030204" charset="0"/>
                                    <a:cs typeface="Cambria Math" panose="02040503050406030204" charset="0"/>
                                  </a:rPr>
                                  <m:t>𝟑</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4"/>
                      </a:ext>
                    </a:extLst>
                  </a:tr>
                  <a:tr h="62420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𝒙</m:t>
                                </m:r>
                                <m:r>
                                  <a:rPr lang="en-US" altLang="zh-CN" sz="2800" b="1" baseline="-25000">
                                    <a:solidFill>
                                      <a:srgbClr val="1F2DA8"/>
                                    </a:solidFill>
                                    <a:latin typeface="Cambria Math" panose="02040503050406030204" charset="0"/>
                                    <a:cs typeface="Cambria Math" panose="02040503050406030204" charset="0"/>
                                  </a:rPr>
                                  <m:t>𝟐</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𝒛</m:t>
                                </m:r>
                                <m:r>
                                  <a:rPr lang="en-US" altLang="zh-CN" sz="2800" b="1" baseline="-25000">
                                    <a:solidFill>
                                      <a:srgbClr val="1F2DA8"/>
                                    </a:solidFill>
                                    <a:latin typeface="Cambria Math" panose="02040503050406030204" charset="0"/>
                                    <a:cs typeface="Cambria Math" panose="02040503050406030204" charset="0"/>
                                  </a:rPr>
                                  <m:t>𝟐</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5"/>
                      </a:ext>
                    </a:extLst>
                  </a:tr>
                  <a:tr h="62420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𝒙</m:t>
                                </m:r>
                                <m:r>
                                  <a:rPr lang="en-US" altLang="zh-CN" sz="2800" b="1" baseline="-25000">
                                    <a:solidFill>
                                      <a:srgbClr val="1F2DA8"/>
                                    </a:solidFill>
                                    <a:latin typeface="Cambria Math" panose="02040503050406030204" charset="0"/>
                                    <a:cs typeface="Cambria Math" panose="02040503050406030204" charset="0"/>
                                  </a:rPr>
                                  <m:t>𝟐</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𝒛</m:t>
                                </m:r>
                                <m:r>
                                  <a:rPr lang="en-US" altLang="zh-CN" sz="2800" b="1" baseline="-25000">
                                    <a:solidFill>
                                      <a:srgbClr val="1F2DA8"/>
                                    </a:solidFill>
                                    <a:latin typeface="Cambria Math" panose="02040503050406030204" charset="0"/>
                                    <a:cs typeface="Cambria Math" panose="02040503050406030204" charset="0"/>
                                  </a:rPr>
                                  <m:t>𝟑</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6"/>
                      </a:ext>
                    </a:extLst>
                  </a:tr>
                  <a:tr h="62420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𝒙</m:t>
                                </m:r>
                                <m:r>
                                  <a:rPr lang="en-US" altLang="zh-CN" sz="2800" b="1" i="1" baseline="-25000">
                                    <a:solidFill>
                                      <a:srgbClr val="1F2DA8"/>
                                    </a:solidFill>
                                    <a:latin typeface="Cambria Math" panose="02040503050406030204" charset="0"/>
                                    <a:cs typeface="Cambria Math" panose="02040503050406030204" charset="0"/>
                                  </a:rPr>
                                  <m:t>𝟑</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𝒛</m:t>
                                </m:r>
                                <m:r>
                                  <a:rPr lang="en-US" altLang="zh-CN" sz="2800" b="1" baseline="-25000">
                                    <a:solidFill>
                                      <a:srgbClr val="1F2DA8"/>
                                    </a:solidFill>
                                    <a:latin typeface="Cambria Math" panose="02040503050406030204" charset="0"/>
                                    <a:cs typeface="Cambria Math" panose="02040503050406030204" charset="0"/>
                                  </a:rPr>
                                  <m:t>𝟏</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7"/>
                      </a:ext>
                    </a:extLst>
                  </a:tr>
                  <a:tr h="624205">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𝒙</m:t>
                                </m:r>
                                <m:r>
                                  <a:rPr lang="en-US" altLang="zh-CN" sz="2800" b="1" baseline="-25000">
                                    <a:solidFill>
                                      <a:srgbClr val="1F2DA8"/>
                                    </a:solidFill>
                                    <a:latin typeface="Cambria Math" panose="02040503050406030204" charset="0"/>
                                    <a:cs typeface="Cambria Math" panose="02040503050406030204" charset="0"/>
                                  </a:rPr>
                                  <m:t>𝟑</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1F2DA8"/>
                                    </a:solidFill>
                                    <a:latin typeface="Cambria Math" panose="02040503050406030204" charset="0"/>
                                    <a:cs typeface="Cambria Math" panose="02040503050406030204" charset="0"/>
                                  </a:rPr>
                                  <m:t>𝒛</m:t>
                                </m:r>
                                <m:r>
                                  <a:rPr lang="en-US" altLang="zh-CN" sz="2800" b="1" baseline="-25000">
                                    <a:solidFill>
                                      <a:srgbClr val="1F2DA8"/>
                                    </a:solidFill>
                                    <a:latin typeface="Cambria Math" panose="02040503050406030204" charset="0"/>
                                    <a:cs typeface="Cambria Math" panose="02040503050406030204" charset="0"/>
                                  </a:rPr>
                                  <m:t>𝟑</m:t>
                                </m:r>
                              </m:oMath>
                            </m:oMathPara>
                          </a14:m>
                          <a:endParaRPr lang="en-US" altLang="zh-CN" sz="2800" b="1" i="1">
                            <a:solidFill>
                              <a:srgbClr val="1F2DA8"/>
                            </a:solidFill>
                            <a:latin typeface="Cambria Math" panose="02040503050406030204"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8"/>
                      </a:ext>
                    </a:extLst>
                  </a:tr>
                </a:tbl>
              </a:graphicData>
            </a:graphic>
          </p:graphicFrame>
        </mc:Choice>
        <mc:Fallback xmlns="">
          <p:graphicFrame>
            <p:nvGraphicFramePr>
              <p:cNvPr id="4" name="表格 3"/>
              <p:cNvGraphicFramePr/>
              <p:nvPr>
                <p:custDataLst>
                  <p:tags r:id="rId4"/>
                </p:custDataLst>
              </p:nvPr>
            </p:nvGraphicFramePr>
            <p:xfrm>
              <a:off x="5999480" y="687070"/>
              <a:ext cx="4552950" cy="5617845"/>
            </p:xfrm>
            <a:graphic>
              <a:graphicData uri="http://schemas.openxmlformats.org/drawingml/2006/table">
                <a:tbl>
                  <a:tblPr firstRow="1" bandRow="1">
                    <a:tableStyleId>{5C22544A-7EE6-4342-B048-85BDC9FD1C3A}</a:tableStyleId>
                  </a:tblPr>
                  <a:tblGrid>
                    <a:gridCol w="2276475"/>
                    <a:gridCol w="2276475"/>
                  </a:tblGrid>
                  <a:tr h="624205">
                    <a:tc gridSpan="2">
                      <a:txBody>
                        <a:bodyPr/>
                        <a:lstStyle/>
                        <a:p>
                          <a:endParaRPr lang="zh-CN"/>
                        </a:p>
                      </a:txBody>
                      <a:tcPr anchor="ctr" anchorCtr="0">
                        <a:lnL>
                          <a:noFill/>
                        </a:lnL>
                        <a:lnR>
                          <a:noFill/>
                        </a:lnR>
                        <a:lnT>
                          <a:noFill/>
                        </a:lnT>
                        <a:lnB w="12700" cmpd="sng">
                          <a:solidFill>
                            <a:schemeClr val="tx1"/>
                          </a:solidFill>
                          <a:prstDash val="solid"/>
                        </a:lnB>
                        <a:blipFill>
                          <a:blip r:embed="rId5"/>
                        </a:blipFill>
                      </a:tcPr>
                    </a:tc>
                    <a:tc hMerge="1">
                      <a:tcPr anchor="ctr" anchorCtr="0">
                        <a:lnL w="12700" cmpd="sng">
                          <a:solidFill>
                            <a:schemeClr val="tx1"/>
                          </a:solidFill>
                          <a:prstDash val="solid"/>
                        </a:lnL>
                        <a:lnR>
                          <a:noFill/>
                        </a:lnR>
                        <a:lnT>
                          <a:noFill/>
                        </a:lnT>
                        <a:lnB w="12700" cmpd="sng">
                          <a:solidFill>
                            <a:schemeClr val="tx1"/>
                          </a:solidFill>
                          <a:prstDash val="solid"/>
                        </a:lnB>
                        <a:noFill/>
                      </a:tcPr>
                    </a:tc>
                  </a:tr>
                  <a:tr h="624205">
                    <a:tc>
                      <a:txBody>
                        <a:bodyPr/>
                        <a:p>
                          <a:pPr algn="ctr">
                            <a:buNone/>
                          </a:pPr>
                          <a:r>
                            <a:rPr lang="en-US" altLang="zh-CN" sz="2800" b="1" i="1">
                              <a:solidFill>
                                <a:srgbClr val="C00000"/>
                              </a:solidFill>
                              <a:latin typeface="Times New Roman" panose="02020603050405020304" charset="0"/>
                              <a:cs typeface="Times New Roman" panose="02020603050405020304" charset="0"/>
                            </a:rPr>
                            <a:t>X</a:t>
                          </a:r>
                          <a:endParaRPr lang="en-US" altLang="zh-CN" sz="2800" b="1" i="1">
                            <a:solidFill>
                              <a:srgbClr val="C00000"/>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p>
                          <a:pPr algn="ctr">
                            <a:buNone/>
                          </a:pPr>
                          <a:r>
                            <a:rPr lang="en-US" altLang="zh-CN" sz="2800" b="1" i="1">
                              <a:solidFill>
                                <a:srgbClr val="C00000"/>
                              </a:solidFill>
                              <a:latin typeface="Times New Roman" panose="02020603050405020304" charset="0"/>
                              <a:cs typeface="Times New Roman" panose="02020603050405020304" charset="0"/>
                            </a:rPr>
                            <a:t>Z</a:t>
                          </a:r>
                          <a:endParaRPr lang="en-US" altLang="zh-CN" sz="2800" b="1" i="1">
                            <a:solidFill>
                              <a:srgbClr val="C00000"/>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r>
                  <a:tr h="62420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62420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62420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62420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62420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62420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62420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bl>
              </a:graphicData>
            </a:graphic>
          </p:graphicFrame>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7">
                                            <p:txEl>
                                              <p:pRg st="2" end="2"/>
                                            </p:txEl>
                                          </p:spTgt>
                                        </p:tgtEl>
                                        <p:attrNameLst>
                                          <p:attrName>style.visibility</p:attrName>
                                        </p:attrNameLst>
                                      </p:cBhvr>
                                      <p:to>
                                        <p:strVal val="visible"/>
                                      </p:to>
                                    </p:set>
                                    <p:animEffect transition="in" filter="blinds(horizontal)">
                                      <p:cBhvr>
                                        <p:cTn id="7" dur="500"/>
                                        <p:tgtEl>
                                          <p:spTgt spid="82947">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2947">
                                            <p:txEl>
                                              <p:pRg st="3" end="3"/>
                                            </p:txEl>
                                          </p:spTgt>
                                        </p:tgtEl>
                                        <p:attrNameLst>
                                          <p:attrName>style.visibility</p:attrName>
                                        </p:attrNameLst>
                                      </p:cBhvr>
                                      <p:to>
                                        <p:strVal val="visible"/>
                                      </p:to>
                                    </p:set>
                                    <p:animEffect transition="in" filter="blinds(horizontal)">
                                      <p:cBhvr>
                                        <p:cTn id="10" dur="500"/>
                                        <p:tgtEl>
                                          <p:spTgt spid="8294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2947">
                                            <p:txEl>
                                              <p:pRg st="4" end="4"/>
                                            </p:txEl>
                                          </p:spTgt>
                                        </p:tgtEl>
                                        <p:attrNameLst>
                                          <p:attrName>style.visibility</p:attrName>
                                        </p:attrNameLst>
                                      </p:cBhvr>
                                      <p:to>
                                        <p:strVal val="visible"/>
                                      </p:to>
                                    </p:set>
                                    <p:animEffect transition="in" filter="blinds(horizontal)">
                                      <p:cBhvr>
                                        <p:cTn id="15" dur="500"/>
                                        <p:tgtEl>
                                          <p:spTgt spid="82947">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2947">
                                            <p:txEl>
                                              <p:pRg st="5" end="5"/>
                                            </p:txEl>
                                          </p:spTgt>
                                        </p:tgtEl>
                                        <p:attrNameLst>
                                          <p:attrName>style.visibility</p:attrName>
                                        </p:attrNameLst>
                                      </p:cBhvr>
                                      <p:to>
                                        <p:strVal val="visible"/>
                                      </p:to>
                                    </p:set>
                                    <p:animEffect transition="in" filter="blinds(horizontal)">
                                      <p:cBhvr>
                                        <p:cTn id="18" dur="500"/>
                                        <p:tgtEl>
                                          <p:spTgt spid="829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mj-ea"/>
              <a:buAutoNum type="ea1JpnChsDbPeriod" startAt="2"/>
            </a:pPr>
            <a:r>
              <a:rPr lang="zh-CN" altLang="en-US"/>
              <a:t>关系代数的基本运算</a:t>
            </a:r>
          </a:p>
        </p:txBody>
      </p:sp>
      <p:sp>
        <p:nvSpPr>
          <p:cNvPr id="3" name="内容占位符 2"/>
          <p:cNvSpPr>
            <a:spLocks noGrp="1"/>
          </p:cNvSpPr>
          <p:nvPr>
            <p:ph idx="1"/>
          </p:nvPr>
        </p:nvSpPr>
        <p:spPr/>
        <p:txBody>
          <a:bodyPr/>
          <a:lstStyle/>
          <a:p>
            <a:r>
              <a:rPr lang="zh-CN" altLang="en-US"/>
              <a:t>关系模式的语义</a:t>
            </a:r>
          </a:p>
          <a:p>
            <a:r>
              <a:rPr lang="zh-CN" altLang="en-US"/>
              <a:t>赋值运算</a:t>
            </a:r>
          </a:p>
          <a:p>
            <a:r>
              <a:rPr lang="zh-CN" altLang="en-US"/>
              <a:t>算术比较运算</a:t>
            </a:r>
          </a:p>
          <a:p>
            <a:r>
              <a:rPr lang="zh-CN" altLang="en-US"/>
              <a:t>逻辑运算</a:t>
            </a:r>
          </a:p>
          <a:p>
            <a:r>
              <a:rPr lang="zh-CN" altLang="en-US"/>
              <a:t>关系代数基本运算</a:t>
            </a:r>
          </a:p>
          <a:p>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pPr>
              <a:lnSpc>
                <a:spcPct val="100000"/>
              </a:lnSpc>
              <a:spcBef>
                <a:spcPct val="0"/>
              </a:spcBef>
              <a:spcAft>
                <a:spcPts val="0"/>
              </a:spcAft>
              <a:buFont typeface="Wingdings" panose="05000000000000000000" charset="0"/>
              <a:buChar char="q"/>
            </a:pPr>
            <a:r>
              <a:rPr lang="en-US" altLang="x-none" sz="3000" dirty="0">
                <a:latin typeface="Times New Roman" panose="02020603050405020304" charset="0"/>
                <a:cs typeface="Times New Roman" panose="02020603050405020304" charset="0"/>
                <a:sym typeface="+mn-ea"/>
              </a:rPr>
              <a:t> </a:t>
            </a:r>
            <a:r>
              <a:rPr lang="zh-CN" altLang="en-US" sz="3000" dirty="0">
                <a:latin typeface="Times New Roman" panose="02020603050405020304" charset="0"/>
                <a:cs typeface="Times New Roman" panose="02020603050405020304" charset="0"/>
                <a:sym typeface="+mn-ea"/>
              </a:rPr>
              <a:t>在关系模型理论中</a:t>
            </a:r>
            <a:endParaRPr lang="zh-CN" altLang="en-US" sz="3000" dirty="0">
              <a:solidFill>
                <a:srgbClr val="1F2DA8"/>
              </a:solidFill>
              <a:latin typeface="Times New Roman" panose="02020603050405020304" charset="0"/>
              <a:cs typeface="Times New Roman" panose="02020603050405020304" charset="0"/>
            </a:endParaRPr>
          </a:p>
          <a:p>
            <a:pPr lvl="1">
              <a:lnSpc>
                <a:spcPct val="100000"/>
              </a:lnSpc>
              <a:spcBef>
                <a:spcPts val="1000"/>
              </a:spcBef>
              <a:spcAft>
                <a:spcPts val="0"/>
              </a:spcAft>
              <a:buSzPct val="85000"/>
            </a:pPr>
            <a:r>
              <a:rPr lang="zh-CN" altLang="en-US" dirty="0">
                <a:latin typeface="Times New Roman" panose="02020603050405020304" charset="0"/>
                <a:cs typeface="Times New Roman" panose="02020603050405020304" charset="0"/>
                <a:sym typeface="+mn-ea"/>
              </a:rPr>
              <a:t>一般通过属性名来确定一个属性的语义</a:t>
            </a:r>
            <a:endParaRPr lang="zh-CN" altLang="en-US" dirty="0">
              <a:solidFill>
                <a:srgbClr val="1F2DA8"/>
              </a:solidFill>
              <a:latin typeface="Times New Roman" panose="02020603050405020304" charset="0"/>
              <a:cs typeface="Times New Roman" panose="02020603050405020304" charset="0"/>
            </a:endParaRPr>
          </a:p>
          <a:p>
            <a:pPr lvl="2">
              <a:lnSpc>
                <a:spcPct val="100000"/>
              </a:lnSpc>
              <a:spcBef>
                <a:spcPts val="1000"/>
              </a:spcBef>
              <a:spcAft>
                <a:spcPts val="0"/>
              </a:spcAft>
              <a:buSzPct val="85000"/>
            </a:pPr>
            <a:r>
              <a:rPr lang="zh-CN" altLang="en-US" dirty="0">
                <a:solidFill>
                  <a:srgbClr val="FF0000"/>
                </a:solidFill>
                <a:latin typeface="Times New Roman" panose="02020603050405020304" charset="0"/>
                <a:cs typeface="Times New Roman" panose="02020603050405020304" charset="0"/>
                <a:sym typeface="+mn-ea"/>
              </a:rPr>
              <a:t>同名同义</a:t>
            </a:r>
            <a:r>
              <a:rPr lang="zh-CN" altLang="en-US" dirty="0">
                <a:latin typeface="Times New Roman" panose="02020603050405020304" charset="0"/>
                <a:cs typeface="Times New Roman" panose="02020603050405020304" charset="0"/>
                <a:sym typeface="+mn-ea"/>
              </a:rPr>
              <a:t>：</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属性名相同</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表示具有</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相同的属性域和相同的语义</a:t>
            </a:r>
            <a:r>
              <a:rPr lang="en-US" altLang="zh-CN" dirty="0">
                <a:latin typeface="Times New Roman" panose="02020603050405020304" charset="0"/>
                <a:cs typeface="Times New Roman" panose="02020603050405020304" charset="0"/>
                <a:sym typeface="+mn-ea"/>
              </a:rPr>
              <a:t>’</a:t>
            </a:r>
            <a:endParaRPr lang="zh-CN" altLang="en-US" dirty="0">
              <a:solidFill>
                <a:srgbClr val="1F2DA8"/>
              </a:solidFill>
              <a:latin typeface="Times New Roman" panose="02020603050405020304" charset="0"/>
              <a:cs typeface="Times New Roman" panose="02020603050405020304" charset="0"/>
            </a:endParaRPr>
          </a:p>
          <a:p>
            <a:pPr lvl="2">
              <a:lnSpc>
                <a:spcPct val="100000"/>
              </a:lnSpc>
              <a:spcBef>
                <a:spcPts val="1000"/>
              </a:spcBef>
              <a:spcAft>
                <a:spcPts val="0"/>
              </a:spcAft>
              <a:buSzPct val="85000"/>
            </a:pPr>
            <a:r>
              <a:rPr lang="zh-CN" altLang="en-US" dirty="0">
                <a:solidFill>
                  <a:srgbClr val="FF0000"/>
                </a:solidFill>
                <a:latin typeface="Times New Roman" panose="02020603050405020304" charset="0"/>
                <a:cs typeface="Times New Roman" panose="02020603050405020304" charset="0"/>
                <a:sym typeface="+mn-ea"/>
              </a:rPr>
              <a:t>异名异义</a:t>
            </a:r>
            <a:r>
              <a:rPr lang="zh-CN" altLang="en-US" dirty="0">
                <a:latin typeface="Times New Roman" panose="02020603050405020304" charset="0"/>
                <a:cs typeface="Times New Roman" panose="02020603050405020304" charset="0"/>
                <a:sym typeface="+mn-ea"/>
              </a:rPr>
              <a:t>：</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属性名不同</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表示具有</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不同的属性域或不同的语义</a:t>
            </a:r>
            <a:r>
              <a:rPr lang="en-US" altLang="zh-CN" dirty="0">
                <a:latin typeface="Times New Roman" panose="02020603050405020304" charset="0"/>
                <a:cs typeface="Times New Roman" panose="02020603050405020304" charset="0"/>
                <a:sym typeface="+mn-ea"/>
              </a:rPr>
              <a:t>’</a:t>
            </a:r>
          </a:p>
          <a:p>
            <a:pPr lvl="2">
              <a:lnSpc>
                <a:spcPct val="100000"/>
              </a:lnSpc>
              <a:spcBef>
                <a:spcPts val="1000"/>
              </a:spcBef>
              <a:spcAft>
                <a:spcPts val="0"/>
              </a:spcAft>
              <a:buSzPct val="85000"/>
            </a:pPr>
            <a:endParaRPr lang="en-US" altLang="zh-CN" dirty="0">
              <a:solidFill>
                <a:srgbClr val="1F2DA8"/>
              </a:solidFill>
              <a:latin typeface="Times New Roman" panose="02020603050405020304" charset="0"/>
              <a:cs typeface="Times New Roman" panose="02020603050405020304" charset="0"/>
              <a:sym typeface="+mn-ea"/>
            </a:endParaRPr>
          </a:p>
          <a:p>
            <a:pPr lvl="1">
              <a:lnSpc>
                <a:spcPct val="100000"/>
              </a:lnSpc>
              <a:spcBef>
                <a:spcPts val="1000"/>
              </a:spcBef>
              <a:spcAft>
                <a:spcPts val="0"/>
              </a:spcAft>
              <a:buSzPct val="85000"/>
            </a:pPr>
            <a:r>
              <a:rPr lang="zh-CN" altLang="en-US" dirty="0">
                <a:latin typeface="Times New Roman" panose="02020603050405020304" charset="0"/>
                <a:cs typeface="Times New Roman" panose="02020603050405020304" charset="0"/>
                <a:sym typeface="+mn-ea"/>
              </a:rPr>
              <a:t>在后续的关系代数表示中，均采用</a:t>
            </a:r>
            <a:r>
              <a:rPr lang="en-US" altLang="zh-CN" dirty="0">
                <a:latin typeface="Times New Roman" panose="02020603050405020304" charset="0"/>
                <a:cs typeface="Times New Roman" panose="02020603050405020304" charset="0"/>
                <a:sym typeface="+mn-ea"/>
              </a:rPr>
              <a:t>“</a:t>
            </a:r>
            <a:r>
              <a:rPr lang="zh-CN" altLang="en-US" dirty="0">
                <a:solidFill>
                  <a:srgbClr val="FF0000"/>
                </a:solidFill>
                <a:latin typeface="Times New Roman" panose="02020603050405020304" charset="0"/>
                <a:cs typeface="Times New Roman" panose="02020603050405020304" charset="0"/>
                <a:sym typeface="+mn-ea"/>
              </a:rPr>
              <a:t>同名同义、异名异义</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的约定</a:t>
            </a:r>
          </a:p>
          <a:p>
            <a:pPr lvl="1">
              <a:lnSpc>
                <a:spcPct val="100000"/>
              </a:lnSpc>
              <a:spcBef>
                <a:spcPts val="1000"/>
              </a:spcBef>
              <a:spcAft>
                <a:spcPts val="0"/>
              </a:spcAft>
              <a:buSzPct val="85000"/>
            </a:pPr>
            <a:endParaRPr lang="zh-CN" altLang="en-US" dirty="0">
              <a:solidFill>
                <a:srgbClr val="1F2DA8"/>
              </a:solidFill>
              <a:latin typeface="Times New Roman" panose="02020603050405020304" charset="0"/>
              <a:cs typeface="Times New Roman" panose="02020603050405020304" charset="0"/>
            </a:endParaRPr>
          </a:p>
          <a:p>
            <a:pPr lvl="1">
              <a:lnSpc>
                <a:spcPct val="100000"/>
              </a:lnSpc>
              <a:spcBef>
                <a:spcPts val="1000"/>
              </a:spcBef>
              <a:spcAft>
                <a:spcPts val="0"/>
              </a:spcAft>
              <a:buSzPct val="85000"/>
            </a:pPr>
            <a:r>
              <a:rPr lang="zh-CN" altLang="en-US" dirty="0">
                <a:latin typeface="Times New Roman" panose="02020603050405020304" charset="0"/>
                <a:cs typeface="Times New Roman" panose="02020603050405020304" charset="0"/>
                <a:sym typeface="+mn-ea"/>
              </a:rPr>
              <a:t>但是，属性名也仅仅是用于标识关系中某一列的标识符。在不同关系之间，也有可能存在属性的</a:t>
            </a:r>
            <a:r>
              <a:rPr lang="en-US" altLang="zh-CN"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同名异义</a:t>
            </a:r>
            <a:r>
              <a:rPr lang="en-US" altLang="zh-CN" dirty="0">
                <a:solidFill>
                  <a:srgbClr val="C00000"/>
                </a:solidFill>
                <a:latin typeface="Times New Roman" panose="02020603050405020304" charset="0"/>
                <a:cs typeface="Times New Roman" panose="02020603050405020304" charset="0"/>
                <a:sym typeface="+mn-ea"/>
              </a:rPr>
              <a:t>’</a:t>
            </a:r>
            <a:r>
              <a:rPr lang="zh-CN" altLang="en-US" dirty="0">
                <a:solidFill>
                  <a:srgbClr val="1F2DA8"/>
                </a:solidFill>
                <a:latin typeface="Times New Roman" panose="02020603050405020304" charset="0"/>
                <a:cs typeface="Times New Roman" panose="02020603050405020304" charset="0"/>
                <a:sym typeface="+mn-ea"/>
              </a:rPr>
              <a:t>和</a:t>
            </a:r>
            <a:r>
              <a:rPr lang="en-US" altLang="zh-CN"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同义异名</a:t>
            </a:r>
            <a:r>
              <a:rPr lang="en-US" altLang="zh-CN" dirty="0">
                <a:solidFill>
                  <a:srgbClr val="C00000"/>
                </a:solidFill>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现象，这个时候可以通过赋值运算对关系中的属性进行重命名，使其符合</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同名同义、异名异义</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的要求。</a:t>
            </a:r>
            <a:endParaRPr lang="zh-CN" altLang="en-US" dirty="0">
              <a:solidFill>
                <a:srgbClr val="1F2DA8"/>
              </a:solidFill>
              <a:latin typeface="Times New Roman" panose="02020603050405020304" charset="0"/>
              <a:cs typeface="Times New Roman" panose="02020603050405020304" charset="0"/>
            </a:endParaRPr>
          </a:p>
          <a:p>
            <a:endParaRPr lang="zh-CN" altLang="en-US"/>
          </a:p>
        </p:txBody>
      </p:sp>
      <p:sp>
        <p:nvSpPr>
          <p:cNvPr id="67585" name="标题 66561"/>
          <p:cNvSpPr>
            <a:spLocks noGrp="1"/>
          </p:cNvSpPr>
          <p:nvPr>
            <p:ph type="title"/>
          </p:nvPr>
        </p:nvSpPr>
        <p:spPr/>
        <p:txBody>
          <a:bodyPr anchor="ctr"/>
          <a:lstStyle/>
          <a:p>
            <a:r>
              <a:rPr lang="zh-CN" altLang="en-US" b="1" dirty="0">
                <a:latin typeface="Arial" panose="020B0604020202020204" pitchFamily="34" charset="0"/>
                <a:ea typeface="宋体" panose="02010600030101010101" pitchFamily="2" charset="-122"/>
                <a:sym typeface="+mn-ea"/>
              </a:rPr>
              <a:t>关系模式的语义</a:t>
            </a:r>
            <a:r>
              <a:rPr lang="en-US" altLang="zh-CN" b="1" dirty="0">
                <a:latin typeface="Arial" panose="020B0604020202020204" pitchFamily="34" charset="0"/>
                <a:ea typeface="宋体" panose="02010600030101010101" pitchFamily="2" charset="-122"/>
                <a:sym typeface="+mn-ea"/>
              </a:rPr>
              <a:t> 1</a:t>
            </a:r>
          </a:p>
        </p:txBody>
      </p:sp>
      <p:sp>
        <p:nvSpPr>
          <p:cNvPr id="2" name="灯片编号占位符 1"/>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en-US" altLang="x-none" strike="noStrike" noProof="1" dirty="0">
                <a:latin typeface="Times New Roman" panose="02020603050405020304" charset="0"/>
                <a:ea typeface="宋体" panose="02010600030101010101" pitchFamily="2" charset="-122"/>
                <a:cs typeface="+mn-ea"/>
              </a:rPr>
              <a:t>15</a:t>
            </a:fld>
            <a:endParaRPr lang="en-US" altLang="x-none" strike="noStrike" noProof="1"/>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b="1" dirty="0">
                <a:latin typeface="Arial" panose="020B0604020202020204" pitchFamily="34" charset="0"/>
                <a:ea typeface="宋体" panose="02010600030101010101" pitchFamily="2" charset="-122"/>
                <a:sym typeface="+mn-ea"/>
              </a:rPr>
              <a:t>关系模式的语义</a:t>
            </a:r>
            <a:r>
              <a:rPr lang="en-US" altLang="zh-CN" b="1" dirty="0">
                <a:latin typeface="Arial" panose="020B0604020202020204" pitchFamily="34" charset="0"/>
                <a:ea typeface="宋体" panose="02010600030101010101" pitchFamily="2" charset="-122"/>
                <a:sym typeface="+mn-ea"/>
              </a:rPr>
              <a:t> 2</a:t>
            </a:r>
          </a:p>
        </p:txBody>
      </p:sp>
      <mc:AlternateContent xmlns:mc="http://schemas.openxmlformats.org/markup-compatibility/2006" xmlns:a14="http://schemas.microsoft.com/office/drawing/2010/main">
        <mc:Choice Requires="a14">
          <p:sp>
            <p:nvSpPr>
              <p:cNvPr id="28" name="内容占位符 27"/>
              <p:cNvSpPr>
                <a:spLocks noGrp="1"/>
              </p:cNvSpPr>
              <p:nvPr>
                <p:ph idx="1"/>
              </p:nvPr>
            </p:nvSpPr>
            <p:spPr/>
            <p:txBody>
              <a:bodyPr/>
              <a:lstStyle/>
              <a:p>
                <a:r>
                  <a:rPr lang="zh-CN" altLang="en-US"/>
                  <a:t>有如下所示的五个关系，其中：</a:t>
                </a:r>
              </a:p>
              <a:p>
                <a:pPr lvl="1"/>
                <a14:m>
                  <m:oMath xmlns:m="http://schemas.openxmlformats.org/officeDocument/2006/math">
                    <m:r>
                      <a:rPr lang="en-US" altLang="zh-CN" i="1">
                        <a:latin typeface="Cambria Math" panose="02040503050406030204" charset="0"/>
                        <a:cs typeface="Cambria Math" panose="02040503050406030204" charset="0"/>
                      </a:rPr>
                      <m:t>𝑅</m:t>
                    </m:r>
                  </m:oMath>
                </a14:m>
                <a:r>
                  <a:rPr lang="zh-CN" altLang="en-US"/>
                  <a:t>与</a:t>
                </a:r>
                <a14:m>
                  <m:oMath xmlns:m="http://schemas.openxmlformats.org/officeDocument/2006/math">
                    <m:r>
                      <a:rPr lang="en-US" altLang="zh-CN" i="1">
                        <a:latin typeface="Cambria Math" panose="02040503050406030204" charset="0"/>
                        <a:cs typeface="Cambria Math" panose="02040503050406030204" charset="0"/>
                      </a:rPr>
                      <m:t>𝑆</m:t>
                    </m:r>
                    <m:r>
                      <a:rPr lang="en-US" altLang="zh-CN" i="1" baseline="-25000">
                        <a:latin typeface="Cambria Math" panose="02040503050406030204" charset="0"/>
                        <a:cs typeface="Cambria Math" panose="02040503050406030204" charset="0"/>
                      </a:rPr>
                      <m:t>1</m:t>
                    </m:r>
                  </m:oMath>
                </a14:m>
                <a:r>
                  <a:rPr lang="zh-CN" altLang="en-US" dirty="0">
                    <a:latin typeface="Cambria Math" panose="02040503050406030204" charset="0"/>
                    <a:cs typeface="Cambria Math" panose="02040503050406030204" charset="0"/>
                    <a:sym typeface="+mn-ea"/>
                  </a:rPr>
                  <a:t>具有相同的关系模式</a:t>
                </a:r>
                <a:r>
                  <a:rPr lang="zh-CN" altLang="en-US" b="0"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相同的目</a:t>
                </a:r>
                <a14:m>
                  <m:oMath xmlns:m="http://schemas.openxmlformats.org/officeDocument/2006/math">
                    <m:r>
                      <a:rPr lang="en-US" altLang="zh-CN" i="1" dirty="0">
                        <a:solidFill>
                          <a:srgbClr val="C00000"/>
                        </a:solidFill>
                        <a:latin typeface="Cambria Math" panose="02040503050406030204" charset="0"/>
                        <a:cs typeface="Cambria Math" panose="02040503050406030204" charset="0"/>
                      </a:rPr>
                      <m:t>𝑛</m:t>
                    </m:r>
                  </m:oMath>
                </a14:m>
                <a:r>
                  <a:rPr lang="en-US" altLang="zh-CN" dirty="0">
                    <a:solidFill>
                      <a:srgbClr val="C00000"/>
                    </a:solidFill>
                    <a:latin typeface="Times New Roman" panose="02020603050405020304" charset="0"/>
                    <a:cs typeface="Times New Roman" panose="02020603050405020304" charset="0"/>
                    <a:sym typeface="+mn-ea"/>
                  </a:rPr>
                  <a:t>、相应的属性 ‘同名同义’）</a:t>
                </a:r>
                <a:endParaRPr lang="zh-CN" altLang="en-US" dirty="0">
                  <a:latin typeface="Times New Roman" panose="02020603050405020304" charset="0"/>
                  <a:cs typeface="Times New Roman" panose="02020603050405020304" charset="0"/>
                  <a:sym typeface="+mn-ea"/>
                </a:endParaRPr>
              </a:p>
              <a:p>
                <a:pPr lvl="1"/>
                <a14:m>
                  <m:oMath xmlns:m="http://schemas.openxmlformats.org/officeDocument/2006/math">
                    <m:r>
                      <a:rPr lang="en-US" altLang="zh-CN" i="1">
                        <a:latin typeface="Cambria Math" panose="02040503050406030204" charset="0"/>
                        <a:cs typeface="Cambria Math" panose="02040503050406030204" charset="0"/>
                      </a:rPr>
                      <m:t>𝑅</m:t>
                    </m:r>
                  </m:oMath>
                </a14:m>
                <a:r>
                  <a:rPr lang="zh-CN" altLang="en-US">
                    <a:latin typeface="Times New Roman" panose="02020603050405020304" charset="0"/>
                    <a:cs typeface="Times New Roman" panose="02020603050405020304" charset="0"/>
                    <a:sym typeface="+mn-ea"/>
                  </a:rPr>
                  <a:t>与</a:t>
                </a:r>
                <a14:m>
                  <m:oMath xmlns:m="http://schemas.openxmlformats.org/officeDocument/2006/math">
                    <m:r>
                      <a:rPr lang="en-US" altLang="zh-CN" i="1">
                        <a:latin typeface="Cambria Math" panose="02040503050406030204" charset="0"/>
                        <a:cs typeface="Cambria Math" panose="02040503050406030204" charset="0"/>
                      </a:rPr>
                      <m:t>𝑆</m:t>
                    </m:r>
                    <m:r>
                      <a:rPr lang="en-US" altLang="zh-CN" i="1" baseline="-25000">
                        <a:latin typeface="Cambria Math" panose="02040503050406030204" charset="0"/>
                        <a:cs typeface="Cambria Math" panose="02040503050406030204" charset="0"/>
                      </a:rPr>
                      <m:t>𝟐</m:t>
                    </m:r>
                  </m:oMath>
                </a14:m>
                <a:r>
                  <a:rPr lang="zh-CN" altLang="en-US" dirty="0">
                    <a:latin typeface="Times New Roman" panose="02020603050405020304" charset="0"/>
                    <a:cs typeface="Times New Roman" panose="02020603050405020304" charset="0"/>
                    <a:sym typeface="+mn-ea"/>
                  </a:rPr>
                  <a:t>具有不同的关系模式</a:t>
                </a:r>
                <a:r>
                  <a:rPr lang="zh-CN" altLang="en-US" b="0"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属性</a:t>
                </a:r>
                <a:r>
                  <a:rPr lang="en-US" altLang="zh-CN" dirty="0">
                    <a:solidFill>
                      <a:srgbClr val="C00000"/>
                    </a:solidFill>
                    <a:latin typeface="Times New Roman" panose="02020603050405020304" charset="0"/>
                    <a:cs typeface="Times New Roman" panose="02020603050405020304" charset="0"/>
                    <a:sym typeface="+mn-ea"/>
                  </a:rPr>
                  <a:t>A</a:t>
                </a:r>
                <a:r>
                  <a:rPr lang="zh-CN" altLang="en-US" dirty="0">
                    <a:solidFill>
                      <a:srgbClr val="C00000"/>
                    </a:solidFill>
                    <a:latin typeface="Times New Roman" panose="02020603050405020304" charset="0"/>
                    <a:cs typeface="Times New Roman" panose="02020603050405020304" charset="0"/>
                    <a:sym typeface="+mn-ea"/>
                  </a:rPr>
                  <a:t>的</a:t>
                </a:r>
                <a:r>
                  <a:rPr lang="en-US" altLang="zh-CN" dirty="0">
                    <a:solidFill>
                      <a:srgbClr val="C00000"/>
                    </a:solidFill>
                    <a:latin typeface="Times New Roman" panose="02020603050405020304" charset="0"/>
                    <a:cs typeface="Times New Roman" panose="02020603050405020304" charset="0"/>
                    <a:sym typeface="+mn-ea"/>
                  </a:rPr>
                  <a:t> ‘</a:t>
                </a:r>
                <a:r>
                  <a:rPr lang="zh-CN" altLang="en-US" dirty="0">
                    <a:solidFill>
                      <a:srgbClr val="C00000"/>
                    </a:solidFill>
                    <a:latin typeface="Times New Roman" panose="02020603050405020304" charset="0"/>
                    <a:cs typeface="Times New Roman" panose="02020603050405020304" charset="0"/>
                    <a:sym typeface="+mn-ea"/>
                  </a:rPr>
                  <a:t>同名异义</a:t>
                </a:r>
                <a:r>
                  <a:rPr lang="en-US" altLang="zh-CN"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a:t>
                </a:r>
                <a:endParaRPr lang="zh-CN" altLang="en-US" dirty="0">
                  <a:latin typeface="Times New Roman" panose="02020603050405020304" charset="0"/>
                  <a:cs typeface="Times New Roman" panose="02020603050405020304" charset="0"/>
                  <a:sym typeface="+mn-ea"/>
                </a:endParaRPr>
              </a:p>
              <a:p>
                <a:pPr lvl="1" algn="l"/>
                <a14:m>
                  <m:oMath xmlns:m="http://schemas.openxmlformats.org/officeDocument/2006/math">
                    <m:r>
                      <a:rPr lang="en-US" altLang="zh-CN" i="1">
                        <a:latin typeface="Cambria Math" panose="02040503050406030204" charset="0"/>
                        <a:cs typeface="Cambria Math" panose="02040503050406030204" charset="0"/>
                      </a:rPr>
                      <m:t>𝑅</m:t>
                    </m:r>
                  </m:oMath>
                </a14:m>
                <a:r>
                  <a:rPr lang="zh-CN" altLang="en-US">
                    <a:latin typeface="Times New Roman" panose="02020603050405020304" charset="0"/>
                    <a:cs typeface="Times New Roman" panose="02020603050405020304" charset="0"/>
                    <a:sym typeface="+mn-ea"/>
                  </a:rPr>
                  <a:t>与</a:t>
                </a:r>
                <a14:m>
                  <m:oMath xmlns:m="http://schemas.openxmlformats.org/officeDocument/2006/math">
                    <m:r>
                      <a:rPr lang="en-US" altLang="zh-CN" i="1">
                        <a:latin typeface="Cambria Math" panose="02040503050406030204" charset="0"/>
                        <a:cs typeface="Cambria Math" panose="02040503050406030204" charset="0"/>
                      </a:rPr>
                      <m:t>𝑆</m:t>
                    </m:r>
                    <m:r>
                      <a:rPr lang="en-US" altLang="zh-CN" i="1" baseline="-25000">
                        <a:latin typeface="Cambria Math" panose="02040503050406030204" charset="0"/>
                        <a:cs typeface="Cambria Math" panose="02040503050406030204" charset="0"/>
                      </a:rPr>
                      <m:t>𝟑</m:t>
                    </m:r>
                  </m:oMath>
                </a14:m>
                <a:r>
                  <a:rPr lang="zh-CN" altLang="en-US" dirty="0">
                    <a:latin typeface="Times New Roman" panose="02020603050405020304" charset="0"/>
                    <a:cs typeface="Times New Roman" panose="02020603050405020304" charset="0"/>
                    <a:sym typeface="+mn-ea"/>
                  </a:rPr>
                  <a:t>具有相同的关系模式</a:t>
                </a:r>
                <a:r>
                  <a:rPr lang="zh-CN" altLang="en-US" b="0"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列的无序性）</a:t>
                </a:r>
              </a:p>
              <a:p>
                <a:pPr lvl="1"/>
                <a14:m>
                  <m:oMath xmlns:m="http://schemas.openxmlformats.org/officeDocument/2006/math">
                    <m:r>
                      <a:rPr lang="en-US" altLang="zh-CN" i="1">
                        <a:latin typeface="Cambria Math" panose="02040503050406030204" charset="0"/>
                        <a:cs typeface="Cambria Math" panose="02040503050406030204" charset="0"/>
                      </a:rPr>
                      <m:t>𝑅</m:t>
                    </m:r>
                  </m:oMath>
                </a14:m>
                <a:r>
                  <a:rPr lang="zh-CN" altLang="en-US">
                    <a:latin typeface="Times New Roman" panose="02020603050405020304" charset="0"/>
                    <a:cs typeface="Times New Roman" panose="02020603050405020304" charset="0"/>
                    <a:sym typeface="+mn-ea"/>
                  </a:rPr>
                  <a:t>与</a:t>
                </a:r>
                <a14:m>
                  <m:oMath xmlns:m="http://schemas.openxmlformats.org/officeDocument/2006/math">
                    <m:r>
                      <a:rPr lang="en-US" altLang="zh-CN" i="1">
                        <a:latin typeface="Cambria Math" panose="02040503050406030204" charset="0"/>
                        <a:cs typeface="Cambria Math" panose="02040503050406030204" charset="0"/>
                      </a:rPr>
                      <m:t>𝑆</m:t>
                    </m:r>
                    <m:r>
                      <a:rPr lang="en-US" altLang="zh-CN" i="1" baseline="-25000">
                        <a:latin typeface="Cambria Math" panose="02040503050406030204" charset="0"/>
                        <a:cs typeface="Cambria Math" panose="02040503050406030204" charset="0"/>
                      </a:rPr>
                      <m:t>𝟒</m:t>
                    </m:r>
                  </m:oMath>
                </a14:m>
                <a:r>
                  <a:rPr lang="zh-CN" altLang="en-US" dirty="0">
                    <a:latin typeface="Times New Roman" panose="02020603050405020304" charset="0"/>
                    <a:cs typeface="Times New Roman" panose="02020603050405020304" charset="0"/>
                    <a:sym typeface="+mn-ea"/>
                  </a:rPr>
                  <a:t>可以被认为是不同的关系模式</a:t>
                </a:r>
                <a:r>
                  <a:rPr lang="zh-CN" altLang="en-US" b="0"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属性的</a:t>
                </a:r>
                <a:r>
                  <a:rPr lang="en-US" altLang="zh-CN" dirty="0">
                    <a:solidFill>
                      <a:srgbClr val="C00000"/>
                    </a:solidFill>
                    <a:latin typeface="Times New Roman" panose="02020603050405020304" charset="0"/>
                    <a:cs typeface="Times New Roman" panose="02020603050405020304" charset="0"/>
                    <a:sym typeface="+mn-ea"/>
                  </a:rPr>
                  <a:t> ‘</a:t>
                </a:r>
                <a:r>
                  <a:rPr lang="zh-CN" altLang="en-US" dirty="0">
                    <a:solidFill>
                      <a:srgbClr val="C00000"/>
                    </a:solidFill>
                    <a:latin typeface="Times New Roman" panose="02020603050405020304" charset="0"/>
                    <a:cs typeface="Times New Roman" panose="02020603050405020304" charset="0"/>
                    <a:sym typeface="+mn-ea"/>
                  </a:rPr>
                  <a:t>异名异义</a:t>
                </a:r>
                <a:r>
                  <a:rPr lang="en-US" altLang="zh-CN" dirty="0">
                    <a:solidFill>
                      <a:srgbClr val="C00000"/>
                    </a:solidFill>
                    <a:latin typeface="Times New Roman" panose="02020603050405020304" charset="0"/>
                    <a:cs typeface="Times New Roman" panose="02020603050405020304" charset="0"/>
                    <a:sym typeface="+mn-ea"/>
                  </a:rPr>
                  <a:t>’</a:t>
                </a:r>
                <a:r>
                  <a:rPr lang="zh-CN" altLang="en-US" dirty="0">
                    <a:solidFill>
                      <a:srgbClr val="C00000"/>
                    </a:solidFill>
                    <a:latin typeface="Times New Roman" panose="02020603050405020304" charset="0"/>
                    <a:cs typeface="Times New Roman" panose="02020603050405020304" charset="0"/>
                    <a:sym typeface="+mn-ea"/>
                  </a:rPr>
                  <a:t>）</a:t>
                </a:r>
                <a:r>
                  <a:rPr lang="zh-CN" altLang="en-US" dirty="0">
                    <a:solidFill>
                      <a:srgbClr val="1F2DA8"/>
                    </a:solidFill>
                    <a:latin typeface="Times New Roman" panose="02020603050405020304" charset="0"/>
                    <a:cs typeface="Times New Roman" panose="02020603050405020304" charset="0"/>
                    <a:sym typeface="+mn-ea"/>
                  </a:rPr>
                  <a:t>，也可以被作为相同的关系模式</a:t>
                </a:r>
                <a:r>
                  <a:rPr lang="zh-CN" altLang="en-US" dirty="0">
                    <a:solidFill>
                      <a:srgbClr val="C00000"/>
                    </a:solidFill>
                    <a:latin typeface="Times New Roman" panose="02020603050405020304" charset="0"/>
                    <a:cs typeface="Times New Roman" panose="02020603050405020304" charset="0"/>
                    <a:sym typeface="+mn-ea"/>
                  </a:rPr>
                  <a:t>（相同的目、相应列对应相同的域）</a:t>
                </a:r>
              </a:p>
            </p:txBody>
          </p:sp>
        </mc:Choice>
        <mc:Fallback xmlns="">
          <p:sp>
            <p:nvSpPr>
              <p:cNvPr id="28" name="内容占位符 27"/>
              <p:cNvSpPr>
                <a:spLocks noRot="1" noChangeAspect="1" noMove="1" noResize="1" noEditPoints="1" noAdjustHandles="1" noChangeArrowheads="1" noChangeShapeType="1" noTextEdit="1"/>
              </p:cNvSpPr>
              <p:nvPr>
                <p:ph idx="1"/>
              </p:nvPr>
            </p:nvSpPr>
            <p:spPr>
              <a:blipFill rotWithShape="1">
                <a:blip r:embed="rId7"/>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16</a:t>
            </a:fld>
            <a:endParaRPr lang="zh-CN" altLang="en-US"/>
          </a:p>
        </p:txBody>
      </p:sp>
      <p:sp>
        <p:nvSpPr>
          <p:cNvPr id="62492" name="Text Box 26"/>
          <p:cNvSpPr txBox="1"/>
          <p:nvPr/>
        </p:nvSpPr>
        <p:spPr>
          <a:xfrm>
            <a:off x="516255" y="5717540"/>
            <a:ext cx="1695450" cy="368935"/>
          </a:xfrm>
          <a:prstGeom prst="rect">
            <a:avLst/>
          </a:prstGeom>
          <a:noFill/>
          <a:ln w="9525">
            <a:noFill/>
          </a:ln>
        </p:spPr>
        <p:txBody>
          <a:bodyPr wrap="square" tIns="0" bIns="0" anchor="t">
            <a:spAutoFit/>
          </a:bodyPr>
          <a:lstStyle/>
          <a:p>
            <a:pPr algn="ctr">
              <a:spcBef>
                <a:spcPct val="50000"/>
              </a:spcBef>
            </a:pPr>
            <a:r>
              <a:rPr lang="zh-CN" altLang="en-US" sz="2400" b="1" dirty="0">
                <a:solidFill>
                  <a:srgbClr val="C00000"/>
                </a:solidFill>
                <a:latin typeface="楷体" panose="02010609060101010101" charset="-122"/>
                <a:ea typeface="楷体" panose="02010609060101010101" charset="-122"/>
                <a:cs typeface="楷体" panose="02010609060101010101" charset="-122"/>
              </a:rPr>
              <a:t>关系</a:t>
            </a:r>
            <a:r>
              <a:rPr lang="en-US" altLang="zh-CN" sz="2400" b="1" dirty="0">
                <a:solidFill>
                  <a:srgbClr val="C00000"/>
                </a:solidFill>
                <a:latin typeface="楷体" panose="02010609060101010101" charset="-122"/>
                <a:ea typeface="楷体" panose="02010609060101010101" charset="-122"/>
                <a:cs typeface="楷体" panose="02010609060101010101" charset="-122"/>
              </a:rPr>
              <a:t> </a:t>
            </a:r>
            <a:r>
              <a:rPr lang="en-US" altLang="x-none" sz="2400" b="1" dirty="0">
                <a:solidFill>
                  <a:srgbClr val="C00000"/>
                </a:solidFill>
                <a:latin typeface="楷体" panose="02010609060101010101" charset="-122"/>
                <a:ea typeface="楷体" panose="02010609060101010101" charset="-122"/>
                <a:cs typeface="楷体" panose="02010609060101010101" charset="-122"/>
              </a:rPr>
              <a:t>R</a:t>
            </a:r>
            <a:endParaRPr lang="en-US" altLang="x-none" sz="2400" b="1" baseline="-25000" dirty="0">
              <a:solidFill>
                <a:srgbClr val="C00000"/>
              </a:solidFill>
              <a:latin typeface="楷体" panose="02010609060101010101" charset="-122"/>
              <a:ea typeface="楷体" panose="02010609060101010101" charset="-122"/>
              <a:cs typeface="楷体" panose="02010609060101010101" charset="-122"/>
            </a:endParaRPr>
          </a:p>
        </p:txBody>
      </p:sp>
      <p:sp>
        <p:nvSpPr>
          <p:cNvPr id="62519" name="Text Box 53"/>
          <p:cNvSpPr txBox="1"/>
          <p:nvPr/>
        </p:nvSpPr>
        <p:spPr>
          <a:xfrm>
            <a:off x="2874010" y="6152515"/>
            <a:ext cx="1685290" cy="368935"/>
          </a:xfrm>
          <a:prstGeom prst="rect">
            <a:avLst/>
          </a:prstGeom>
          <a:noFill/>
          <a:ln w="9525">
            <a:noFill/>
          </a:ln>
        </p:spPr>
        <p:txBody>
          <a:bodyPr wrap="square" tIns="0" bIns="0" anchor="t">
            <a:spAutoFit/>
          </a:bodyPr>
          <a:lstStyle/>
          <a:p>
            <a:pPr algn="ctr">
              <a:spcBef>
                <a:spcPct val="50000"/>
              </a:spcBef>
            </a:pPr>
            <a:r>
              <a:rPr lang="zh-CN" altLang="en-US" sz="2400" b="1" dirty="0">
                <a:solidFill>
                  <a:srgbClr val="C00000"/>
                </a:solidFill>
                <a:latin typeface="楷体" panose="02010609060101010101" charset="-122"/>
                <a:ea typeface="楷体" panose="02010609060101010101" charset="-122"/>
                <a:cs typeface="楷体" panose="02010609060101010101" charset="-122"/>
              </a:rPr>
              <a:t>关系</a:t>
            </a:r>
            <a:r>
              <a:rPr lang="en-US" altLang="zh-CN" sz="2400" b="1" dirty="0">
                <a:solidFill>
                  <a:srgbClr val="C00000"/>
                </a:solidFill>
                <a:latin typeface="楷体" panose="02010609060101010101" charset="-122"/>
                <a:ea typeface="楷体" panose="02010609060101010101" charset="-122"/>
                <a:cs typeface="楷体" panose="02010609060101010101" charset="-122"/>
              </a:rPr>
              <a:t> </a:t>
            </a:r>
            <a:r>
              <a:rPr lang="en-US" altLang="x-none" sz="2400" b="1" dirty="0">
                <a:solidFill>
                  <a:srgbClr val="C00000"/>
                </a:solidFill>
                <a:latin typeface="楷体" panose="02010609060101010101" charset="-122"/>
                <a:ea typeface="楷体" panose="02010609060101010101" charset="-122"/>
                <a:cs typeface="楷体" panose="02010609060101010101" charset="-122"/>
              </a:rPr>
              <a:t>S</a:t>
            </a:r>
            <a:r>
              <a:rPr lang="en-US" altLang="x-none" sz="2400" b="1" baseline="-25000" dirty="0">
                <a:solidFill>
                  <a:srgbClr val="C00000"/>
                </a:solidFill>
                <a:latin typeface="楷体" panose="02010609060101010101" charset="-122"/>
                <a:ea typeface="楷体" panose="02010609060101010101" charset="-122"/>
                <a:cs typeface="楷体" panose="02010609060101010101" charset="-122"/>
              </a:rPr>
              <a:t>1</a:t>
            </a:r>
          </a:p>
        </p:txBody>
      </p:sp>
      <p:graphicFrame>
        <p:nvGraphicFramePr>
          <p:cNvPr id="6" name="表格 5"/>
          <p:cNvGraphicFramePr/>
          <p:nvPr>
            <p:custDataLst>
              <p:tags r:id="rId1"/>
            </p:custDataLst>
          </p:nvPr>
        </p:nvGraphicFramePr>
        <p:xfrm>
          <a:off x="421005" y="3780155"/>
          <a:ext cx="1916430" cy="1906905"/>
        </p:xfrm>
        <a:graphic>
          <a:graphicData uri="http://schemas.openxmlformats.org/drawingml/2006/table">
            <a:tbl>
              <a:tblPr firstRow="1" bandRow="1">
                <a:tableStyleId>{5C22544A-7EE6-4342-B048-85BDC9FD1C3A}</a:tableStyleId>
              </a:tblPr>
              <a:tblGrid>
                <a:gridCol w="638810">
                  <a:extLst>
                    <a:ext uri="{9D8B030D-6E8A-4147-A177-3AD203B41FA5}">
                      <a16:colId xmlns:a16="http://schemas.microsoft.com/office/drawing/2014/main" val="20000"/>
                    </a:ext>
                  </a:extLst>
                </a:gridCol>
                <a:gridCol w="638810">
                  <a:extLst>
                    <a:ext uri="{9D8B030D-6E8A-4147-A177-3AD203B41FA5}">
                      <a16:colId xmlns:a16="http://schemas.microsoft.com/office/drawing/2014/main" val="20001"/>
                    </a:ext>
                  </a:extLst>
                </a:gridCol>
                <a:gridCol w="638810">
                  <a:extLst>
                    <a:ext uri="{9D8B030D-6E8A-4147-A177-3AD203B41FA5}">
                      <a16:colId xmlns:a16="http://schemas.microsoft.com/office/drawing/2014/main" val="20002"/>
                    </a:ext>
                  </a:extLst>
                </a:gridCol>
              </a:tblGrid>
              <a:tr h="518160">
                <a:tc>
                  <a:txBody>
                    <a:bodyPr/>
                    <a:lstStyle/>
                    <a:p>
                      <a:pPr algn="ctr">
                        <a:buNone/>
                      </a:pPr>
                      <a:r>
                        <a:rPr lang="en-US" altLang="zh-CN" sz="2800">
                          <a:solidFill>
                            <a:schemeClr val="tx1"/>
                          </a:solidFill>
                        </a:rPr>
                        <a:t>A</a:t>
                      </a:r>
                    </a:p>
                  </a:txBody>
                  <a:tcPr anchor="ctr">
                    <a:solidFill>
                      <a:schemeClr val="accent3">
                        <a:lumMod val="40000"/>
                        <a:lumOff val="60000"/>
                      </a:schemeClr>
                    </a:solidFill>
                  </a:tcPr>
                </a:tc>
                <a:tc>
                  <a:txBody>
                    <a:bodyPr/>
                    <a:lstStyle/>
                    <a:p>
                      <a:pPr algn="ctr">
                        <a:buNone/>
                      </a:pPr>
                      <a:r>
                        <a:rPr lang="en-US" altLang="zh-CN" sz="2800">
                          <a:solidFill>
                            <a:schemeClr val="tx1"/>
                          </a:solidFill>
                        </a:rPr>
                        <a:t>B</a:t>
                      </a:r>
                    </a:p>
                  </a:txBody>
                  <a:tcPr anchor="ctr">
                    <a:solidFill>
                      <a:schemeClr val="accent3">
                        <a:lumMod val="40000"/>
                        <a:lumOff val="60000"/>
                      </a:schemeClr>
                    </a:solidFill>
                  </a:tcPr>
                </a:tc>
                <a:tc>
                  <a:txBody>
                    <a:bodyPr/>
                    <a:lstStyle/>
                    <a:p>
                      <a:pPr algn="ctr">
                        <a:buNone/>
                      </a:pPr>
                      <a:r>
                        <a:rPr lang="en-US" altLang="zh-CN" sz="2800">
                          <a:solidFill>
                            <a:schemeClr val="tx1"/>
                          </a:solidFill>
                        </a:rPr>
                        <a:t>C</a:t>
                      </a:r>
                    </a:p>
                  </a:txBody>
                  <a:tcPr anchor="ctr">
                    <a:solidFill>
                      <a:schemeClr val="accent3">
                        <a:lumMod val="40000"/>
                        <a:lumOff val="60000"/>
                      </a:schemeClr>
                    </a:solidFill>
                  </a:tcPr>
                </a:tc>
                <a:extLst>
                  <a:ext uri="{0D108BD9-81ED-4DB2-BD59-A6C34878D82A}">
                    <a16:rowId xmlns:a16="http://schemas.microsoft.com/office/drawing/2014/main" val="10000"/>
                  </a:ext>
                </a:extLst>
              </a:tr>
              <a:tr h="381000">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p>
                  </a:txBody>
                  <a:tcPr marT="0" marB="36195" anchor="ctr"/>
                </a:tc>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p>
                  </a:txBody>
                  <a:tcPr marT="0" marB="36195" anchor="ctr"/>
                </a:tc>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1"/>
                  </a:ext>
                </a:extLst>
              </a:tr>
              <a:tr h="381000">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2"/>
                  </a:ext>
                </a:extLst>
              </a:tr>
              <a:tr h="381000">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indent="0" algn="ctr" eaLnBrk="1" hangingPunct="1">
                        <a:spcBef>
                          <a:spcPct val="20000"/>
                        </a:spcBef>
                        <a:buClr>
                          <a:srgbClr val="CC9900"/>
                        </a:buClr>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3"/>
                  </a:ext>
                </a:extLst>
              </a:tr>
            </a:tbl>
          </a:graphicData>
        </a:graphic>
      </p:graphicFrame>
      <p:graphicFrame>
        <p:nvGraphicFramePr>
          <p:cNvPr id="8" name="表格 7"/>
          <p:cNvGraphicFramePr/>
          <p:nvPr>
            <p:custDataLst>
              <p:tags r:id="rId2"/>
            </p:custDataLst>
          </p:nvPr>
        </p:nvGraphicFramePr>
        <p:xfrm>
          <a:off x="2767330" y="3780000"/>
          <a:ext cx="1916430" cy="2369820"/>
        </p:xfrm>
        <a:graphic>
          <a:graphicData uri="http://schemas.openxmlformats.org/drawingml/2006/table">
            <a:tbl>
              <a:tblPr firstRow="1" bandRow="1">
                <a:tableStyleId>{5C22544A-7EE6-4342-B048-85BDC9FD1C3A}</a:tableStyleId>
              </a:tblPr>
              <a:tblGrid>
                <a:gridCol w="638810">
                  <a:extLst>
                    <a:ext uri="{9D8B030D-6E8A-4147-A177-3AD203B41FA5}">
                      <a16:colId xmlns:a16="http://schemas.microsoft.com/office/drawing/2014/main" val="20000"/>
                    </a:ext>
                  </a:extLst>
                </a:gridCol>
                <a:gridCol w="638810">
                  <a:extLst>
                    <a:ext uri="{9D8B030D-6E8A-4147-A177-3AD203B41FA5}">
                      <a16:colId xmlns:a16="http://schemas.microsoft.com/office/drawing/2014/main" val="20001"/>
                    </a:ext>
                  </a:extLst>
                </a:gridCol>
                <a:gridCol w="638810">
                  <a:extLst>
                    <a:ext uri="{9D8B030D-6E8A-4147-A177-3AD203B41FA5}">
                      <a16:colId xmlns:a16="http://schemas.microsoft.com/office/drawing/2014/main" val="20002"/>
                    </a:ext>
                  </a:extLst>
                </a:gridCol>
              </a:tblGrid>
              <a:tr h="518160">
                <a:tc>
                  <a:txBody>
                    <a:bodyPr/>
                    <a:lstStyle/>
                    <a:p>
                      <a:pPr algn="ctr">
                        <a:buNone/>
                      </a:pPr>
                      <a:r>
                        <a:rPr lang="en-US" altLang="zh-CN" sz="2800">
                          <a:solidFill>
                            <a:schemeClr val="tx1"/>
                          </a:solidFill>
                        </a:rPr>
                        <a:t>A</a:t>
                      </a:r>
                    </a:p>
                  </a:txBody>
                  <a:tcPr anchor="ctr">
                    <a:solidFill>
                      <a:schemeClr val="accent3">
                        <a:lumMod val="40000"/>
                        <a:lumOff val="60000"/>
                      </a:schemeClr>
                    </a:solidFill>
                  </a:tcPr>
                </a:tc>
                <a:tc>
                  <a:txBody>
                    <a:bodyPr/>
                    <a:lstStyle/>
                    <a:p>
                      <a:pPr algn="ctr">
                        <a:buNone/>
                      </a:pPr>
                      <a:r>
                        <a:rPr lang="en-US" altLang="zh-CN" sz="2800">
                          <a:solidFill>
                            <a:schemeClr val="tx1"/>
                          </a:solidFill>
                        </a:rPr>
                        <a:t>B</a:t>
                      </a:r>
                    </a:p>
                  </a:txBody>
                  <a:tcPr anchor="ctr">
                    <a:solidFill>
                      <a:schemeClr val="accent3">
                        <a:lumMod val="40000"/>
                        <a:lumOff val="60000"/>
                      </a:schemeClr>
                    </a:solidFill>
                  </a:tcPr>
                </a:tc>
                <a:tc>
                  <a:txBody>
                    <a:bodyPr/>
                    <a:lstStyle/>
                    <a:p>
                      <a:pPr algn="ctr">
                        <a:buNone/>
                      </a:pPr>
                      <a:r>
                        <a:rPr lang="en-US" altLang="zh-CN" sz="2800">
                          <a:solidFill>
                            <a:schemeClr val="tx1"/>
                          </a:solidFill>
                        </a:rPr>
                        <a:t>C</a:t>
                      </a:r>
                    </a:p>
                  </a:txBody>
                  <a:tcPr anchor="ctr">
                    <a:solidFill>
                      <a:schemeClr val="accent3">
                        <a:lumMod val="40000"/>
                        <a:lumOff val="60000"/>
                      </a:schemeClr>
                    </a:solidFill>
                  </a:tcPr>
                </a:tc>
                <a:extLst>
                  <a:ext uri="{0D108BD9-81ED-4DB2-BD59-A6C34878D82A}">
                    <a16:rowId xmlns:a16="http://schemas.microsoft.com/office/drawing/2014/main" val="10000"/>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1"/>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2"/>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3"/>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4"/>
                  </a:ext>
                </a:extLst>
              </a:tr>
            </a:tbl>
          </a:graphicData>
        </a:graphic>
      </p:graphicFrame>
      <p:graphicFrame>
        <p:nvGraphicFramePr>
          <p:cNvPr id="13" name="表格 12"/>
          <p:cNvGraphicFramePr/>
          <p:nvPr>
            <p:custDataLst>
              <p:tags r:id="rId3"/>
            </p:custDataLst>
          </p:nvPr>
        </p:nvGraphicFramePr>
        <p:xfrm>
          <a:off x="5113655" y="3780000"/>
          <a:ext cx="1916430" cy="2369820"/>
        </p:xfrm>
        <a:graphic>
          <a:graphicData uri="http://schemas.openxmlformats.org/drawingml/2006/table">
            <a:tbl>
              <a:tblPr firstRow="1" bandRow="1">
                <a:tableStyleId>{5C22544A-7EE6-4342-B048-85BDC9FD1C3A}</a:tableStyleId>
              </a:tblPr>
              <a:tblGrid>
                <a:gridCol w="638810">
                  <a:extLst>
                    <a:ext uri="{9D8B030D-6E8A-4147-A177-3AD203B41FA5}">
                      <a16:colId xmlns:a16="http://schemas.microsoft.com/office/drawing/2014/main" val="20000"/>
                    </a:ext>
                  </a:extLst>
                </a:gridCol>
                <a:gridCol w="638810">
                  <a:extLst>
                    <a:ext uri="{9D8B030D-6E8A-4147-A177-3AD203B41FA5}">
                      <a16:colId xmlns:a16="http://schemas.microsoft.com/office/drawing/2014/main" val="20001"/>
                    </a:ext>
                  </a:extLst>
                </a:gridCol>
                <a:gridCol w="638810">
                  <a:extLst>
                    <a:ext uri="{9D8B030D-6E8A-4147-A177-3AD203B41FA5}">
                      <a16:colId xmlns:a16="http://schemas.microsoft.com/office/drawing/2014/main" val="20002"/>
                    </a:ext>
                  </a:extLst>
                </a:gridCol>
              </a:tblGrid>
              <a:tr h="518160">
                <a:tc>
                  <a:txBody>
                    <a:bodyPr/>
                    <a:lstStyle/>
                    <a:p>
                      <a:pPr algn="ctr">
                        <a:buNone/>
                      </a:pPr>
                      <a:r>
                        <a:rPr lang="en-US" altLang="zh-CN" sz="2800">
                          <a:solidFill>
                            <a:schemeClr val="tx1"/>
                          </a:solidFill>
                        </a:rPr>
                        <a:t>A</a:t>
                      </a:r>
                    </a:p>
                  </a:txBody>
                  <a:tcPr anchor="ctr">
                    <a:solidFill>
                      <a:schemeClr val="accent3">
                        <a:lumMod val="40000"/>
                        <a:lumOff val="60000"/>
                      </a:schemeClr>
                    </a:solidFill>
                  </a:tcPr>
                </a:tc>
                <a:tc>
                  <a:txBody>
                    <a:bodyPr/>
                    <a:lstStyle/>
                    <a:p>
                      <a:pPr algn="ctr">
                        <a:buNone/>
                      </a:pPr>
                      <a:r>
                        <a:rPr lang="en-US" altLang="zh-CN" sz="2800">
                          <a:solidFill>
                            <a:schemeClr val="tx1"/>
                          </a:solidFill>
                        </a:rPr>
                        <a:t>B</a:t>
                      </a:r>
                    </a:p>
                  </a:txBody>
                  <a:tcPr anchor="ctr">
                    <a:solidFill>
                      <a:schemeClr val="accent3">
                        <a:lumMod val="40000"/>
                        <a:lumOff val="60000"/>
                      </a:schemeClr>
                    </a:solidFill>
                  </a:tcPr>
                </a:tc>
                <a:tc>
                  <a:txBody>
                    <a:bodyPr/>
                    <a:lstStyle/>
                    <a:p>
                      <a:pPr algn="ctr">
                        <a:buNone/>
                      </a:pPr>
                      <a:r>
                        <a:rPr lang="en-US" altLang="zh-CN" sz="2800">
                          <a:solidFill>
                            <a:schemeClr val="tx1"/>
                          </a:solidFill>
                        </a:rPr>
                        <a:t>C</a:t>
                      </a:r>
                    </a:p>
                  </a:txBody>
                  <a:tcPr anchor="ctr">
                    <a:solidFill>
                      <a:schemeClr val="accent3">
                        <a:lumMod val="40000"/>
                        <a:lumOff val="60000"/>
                      </a:schemeClr>
                    </a:solidFill>
                  </a:tcPr>
                </a:tc>
                <a:extLst>
                  <a:ext uri="{0D108BD9-81ED-4DB2-BD59-A6C34878D82A}">
                    <a16:rowId xmlns:a16="http://schemas.microsoft.com/office/drawing/2014/main" val="10000"/>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1</a:t>
                      </a: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extLst>
                  <a:ext uri="{0D108BD9-81ED-4DB2-BD59-A6C34878D82A}">
                    <a16:rowId xmlns:a16="http://schemas.microsoft.com/office/drawing/2014/main" val="10001"/>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1</a:t>
                      </a: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extLst>
                  <a:ext uri="{0D108BD9-81ED-4DB2-BD59-A6C34878D82A}">
                    <a16:rowId xmlns:a16="http://schemas.microsoft.com/office/drawing/2014/main" val="10002"/>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1</a:t>
                      </a: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extLst>
                  <a:ext uri="{0D108BD9-81ED-4DB2-BD59-A6C34878D82A}">
                    <a16:rowId xmlns:a16="http://schemas.microsoft.com/office/drawing/2014/main" val="10003"/>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3</a:t>
                      </a: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0" anchor="ctr"/>
                </a:tc>
                <a:extLst>
                  <a:ext uri="{0D108BD9-81ED-4DB2-BD59-A6C34878D82A}">
                    <a16:rowId xmlns:a16="http://schemas.microsoft.com/office/drawing/2014/main" val="10004"/>
                  </a:ext>
                </a:extLst>
              </a:tr>
            </a:tbl>
          </a:graphicData>
        </a:graphic>
      </p:graphicFrame>
      <p:graphicFrame>
        <p:nvGraphicFramePr>
          <p:cNvPr id="17" name="表格 16"/>
          <p:cNvGraphicFramePr/>
          <p:nvPr>
            <p:custDataLst>
              <p:tags r:id="rId4"/>
            </p:custDataLst>
          </p:nvPr>
        </p:nvGraphicFramePr>
        <p:xfrm>
          <a:off x="7505700" y="3780000"/>
          <a:ext cx="1916430" cy="2369820"/>
        </p:xfrm>
        <a:graphic>
          <a:graphicData uri="http://schemas.openxmlformats.org/drawingml/2006/table">
            <a:tbl>
              <a:tblPr firstRow="1" bandRow="1">
                <a:tableStyleId>{5C22544A-7EE6-4342-B048-85BDC9FD1C3A}</a:tableStyleId>
              </a:tblPr>
              <a:tblGrid>
                <a:gridCol w="638810">
                  <a:extLst>
                    <a:ext uri="{9D8B030D-6E8A-4147-A177-3AD203B41FA5}">
                      <a16:colId xmlns:a16="http://schemas.microsoft.com/office/drawing/2014/main" val="20000"/>
                    </a:ext>
                  </a:extLst>
                </a:gridCol>
                <a:gridCol w="638810">
                  <a:extLst>
                    <a:ext uri="{9D8B030D-6E8A-4147-A177-3AD203B41FA5}">
                      <a16:colId xmlns:a16="http://schemas.microsoft.com/office/drawing/2014/main" val="20001"/>
                    </a:ext>
                  </a:extLst>
                </a:gridCol>
                <a:gridCol w="638810">
                  <a:extLst>
                    <a:ext uri="{9D8B030D-6E8A-4147-A177-3AD203B41FA5}">
                      <a16:colId xmlns:a16="http://schemas.microsoft.com/office/drawing/2014/main" val="20002"/>
                    </a:ext>
                  </a:extLst>
                </a:gridCol>
              </a:tblGrid>
              <a:tr h="518160">
                <a:tc>
                  <a:txBody>
                    <a:bodyPr/>
                    <a:lstStyle/>
                    <a:p>
                      <a:pPr algn="ctr">
                        <a:buNone/>
                      </a:pPr>
                      <a:r>
                        <a:rPr lang="en-US" altLang="zh-CN" sz="2800">
                          <a:solidFill>
                            <a:schemeClr val="tx1"/>
                          </a:solidFill>
                        </a:rPr>
                        <a:t>A</a:t>
                      </a:r>
                    </a:p>
                  </a:txBody>
                  <a:tcPr anchor="ctr">
                    <a:solidFill>
                      <a:schemeClr val="accent3">
                        <a:lumMod val="40000"/>
                        <a:lumOff val="60000"/>
                      </a:schemeClr>
                    </a:solidFill>
                  </a:tcPr>
                </a:tc>
                <a:tc>
                  <a:txBody>
                    <a:bodyPr/>
                    <a:lstStyle/>
                    <a:p>
                      <a:pPr algn="ctr">
                        <a:buNone/>
                      </a:pPr>
                      <a:r>
                        <a:rPr lang="en-US" altLang="zh-CN" sz="2800">
                          <a:solidFill>
                            <a:schemeClr val="tx1"/>
                          </a:solidFill>
                        </a:rPr>
                        <a:t>C</a:t>
                      </a:r>
                    </a:p>
                  </a:txBody>
                  <a:tcPr anchor="ctr">
                    <a:solidFill>
                      <a:schemeClr val="accent3">
                        <a:lumMod val="40000"/>
                        <a:lumOff val="60000"/>
                      </a:schemeClr>
                    </a:solidFill>
                  </a:tcPr>
                </a:tc>
                <a:tc>
                  <a:txBody>
                    <a:bodyPr/>
                    <a:lstStyle/>
                    <a:p>
                      <a:pPr algn="ctr">
                        <a:buNone/>
                      </a:pPr>
                      <a:r>
                        <a:rPr lang="en-US" altLang="zh-CN" sz="2800">
                          <a:solidFill>
                            <a:schemeClr val="tx1"/>
                          </a:solidFill>
                        </a:rPr>
                        <a:t>B</a:t>
                      </a:r>
                    </a:p>
                  </a:txBody>
                  <a:tcPr anchor="ctr">
                    <a:solidFill>
                      <a:schemeClr val="accent3">
                        <a:lumMod val="40000"/>
                        <a:lumOff val="60000"/>
                      </a:schemeClr>
                    </a:solidFill>
                  </a:tcPr>
                </a:tc>
                <a:extLst>
                  <a:ext uri="{0D108BD9-81ED-4DB2-BD59-A6C34878D82A}">
                    <a16:rowId xmlns:a16="http://schemas.microsoft.com/office/drawing/2014/main" val="10000"/>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1"/>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2"/>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3"/>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4"/>
                  </a:ext>
                </a:extLst>
              </a:tr>
            </a:tbl>
          </a:graphicData>
        </a:graphic>
      </p:graphicFrame>
      <p:graphicFrame>
        <p:nvGraphicFramePr>
          <p:cNvPr id="21" name="表格 20"/>
          <p:cNvGraphicFramePr/>
          <p:nvPr>
            <p:custDataLst>
              <p:tags r:id="rId5"/>
            </p:custDataLst>
          </p:nvPr>
        </p:nvGraphicFramePr>
        <p:xfrm>
          <a:off x="9897745" y="3780000"/>
          <a:ext cx="1916430" cy="2369820"/>
        </p:xfrm>
        <a:graphic>
          <a:graphicData uri="http://schemas.openxmlformats.org/drawingml/2006/table">
            <a:tbl>
              <a:tblPr firstRow="1" bandRow="1">
                <a:tableStyleId>{5C22544A-7EE6-4342-B048-85BDC9FD1C3A}</a:tableStyleId>
              </a:tblPr>
              <a:tblGrid>
                <a:gridCol w="638810">
                  <a:extLst>
                    <a:ext uri="{9D8B030D-6E8A-4147-A177-3AD203B41FA5}">
                      <a16:colId xmlns:a16="http://schemas.microsoft.com/office/drawing/2014/main" val="20000"/>
                    </a:ext>
                  </a:extLst>
                </a:gridCol>
                <a:gridCol w="638810">
                  <a:extLst>
                    <a:ext uri="{9D8B030D-6E8A-4147-A177-3AD203B41FA5}">
                      <a16:colId xmlns:a16="http://schemas.microsoft.com/office/drawing/2014/main" val="20001"/>
                    </a:ext>
                  </a:extLst>
                </a:gridCol>
                <a:gridCol w="638810">
                  <a:extLst>
                    <a:ext uri="{9D8B030D-6E8A-4147-A177-3AD203B41FA5}">
                      <a16:colId xmlns:a16="http://schemas.microsoft.com/office/drawing/2014/main" val="20002"/>
                    </a:ext>
                  </a:extLst>
                </a:gridCol>
              </a:tblGrid>
              <a:tr h="518160">
                <a:tc>
                  <a:txBody>
                    <a:bodyPr/>
                    <a:lstStyle/>
                    <a:p>
                      <a:pPr algn="ctr">
                        <a:buNone/>
                      </a:pPr>
                      <a:r>
                        <a:rPr lang="en-US" altLang="zh-CN" sz="2800">
                          <a:solidFill>
                            <a:schemeClr val="tx1"/>
                          </a:solidFill>
                        </a:rPr>
                        <a:t>A</a:t>
                      </a:r>
                    </a:p>
                  </a:txBody>
                  <a:tcPr anchor="ctr">
                    <a:solidFill>
                      <a:schemeClr val="accent3">
                        <a:lumMod val="40000"/>
                        <a:lumOff val="60000"/>
                      </a:schemeClr>
                    </a:solidFill>
                  </a:tcPr>
                </a:tc>
                <a:tc>
                  <a:txBody>
                    <a:bodyPr/>
                    <a:lstStyle/>
                    <a:p>
                      <a:pPr algn="ctr">
                        <a:buNone/>
                      </a:pPr>
                      <a:r>
                        <a:rPr lang="en-US" altLang="zh-CN" sz="2800">
                          <a:solidFill>
                            <a:schemeClr val="tx1"/>
                          </a:solidFill>
                        </a:rPr>
                        <a:t>B</a:t>
                      </a:r>
                    </a:p>
                  </a:txBody>
                  <a:tcPr anchor="ctr">
                    <a:solidFill>
                      <a:schemeClr val="accent3">
                        <a:lumMod val="40000"/>
                        <a:lumOff val="60000"/>
                      </a:schemeClr>
                    </a:solidFill>
                  </a:tcPr>
                </a:tc>
                <a:tc>
                  <a:txBody>
                    <a:bodyPr/>
                    <a:lstStyle/>
                    <a:p>
                      <a:pPr algn="ctr">
                        <a:buNone/>
                      </a:pPr>
                      <a:r>
                        <a:rPr lang="en-US" altLang="zh-CN" sz="2800">
                          <a:solidFill>
                            <a:schemeClr val="tx1"/>
                          </a:solidFill>
                        </a:rPr>
                        <a:t>D</a:t>
                      </a:r>
                    </a:p>
                  </a:txBody>
                  <a:tcPr anchor="ctr">
                    <a:solidFill>
                      <a:schemeClr val="accent3">
                        <a:lumMod val="40000"/>
                        <a:lumOff val="60000"/>
                      </a:schemeClr>
                    </a:solidFill>
                  </a:tcPr>
                </a:tc>
                <a:extLst>
                  <a:ext uri="{0D108BD9-81ED-4DB2-BD59-A6C34878D82A}">
                    <a16:rowId xmlns:a16="http://schemas.microsoft.com/office/drawing/2014/main" val="10000"/>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1"/>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2"/>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1</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3"/>
                  </a:ext>
                </a:extLst>
              </a:tr>
              <a:tr h="462915">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a</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b</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2</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tc>
                  <a:txBody>
                    <a:bodyPr/>
                    <a:lstStyle/>
                    <a:p>
                      <a:pPr marL="0" lvl="0" algn="ctr" eaLnBrk="1" hangingPunct="1">
                        <a:spcBef>
                          <a:spcPct val="20000"/>
                        </a:spcBef>
                        <a:buClr>
                          <a:srgbClr val="CC9900"/>
                        </a:buClr>
                        <a:buSzTx/>
                        <a:buFont typeface="Wingdings" panose="05000000000000000000" pitchFamily="2" charset="2"/>
                        <a:buNone/>
                      </a:pPr>
                      <a:r>
                        <a:rPr lang="en-US" altLang="x-none" sz="2800" b="1" i="1" dirty="0">
                          <a:solidFill>
                            <a:srgbClr val="1F2DA8"/>
                          </a:solidFill>
                          <a:latin typeface="Times New Roman" panose="02020603050405020304" charset="0"/>
                          <a:ea typeface="宋体" panose="02010600030101010101" pitchFamily="2" charset="-122"/>
                          <a:cs typeface="Times New Roman" panose="02020603050405020304" charset="0"/>
                        </a:rPr>
                        <a:t>c</a:t>
                      </a:r>
                      <a:r>
                        <a:rPr lang="en-US" altLang="x-none" sz="2800" b="1" baseline="-25000" dirty="0">
                          <a:solidFill>
                            <a:srgbClr val="1F2DA8"/>
                          </a:solidFill>
                          <a:latin typeface="Times New Roman" panose="02020603050405020304" charset="0"/>
                          <a:ea typeface="宋体" panose="02010600030101010101" pitchFamily="2" charset="-122"/>
                          <a:cs typeface="Times New Roman" panose="02020603050405020304" charset="0"/>
                        </a:rPr>
                        <a:t>3</a:t>
                      </a:r>
                      <a:endParaRPr lang="en-US" altLang="x-none" sz="2800" b="1" i="1" baseline="-25000" dirty="0">
                        <a:solidFill>
                          <a:srgbClr val="1F2DA8"/>
                        </a:solidFill>
                        <a:latin typeface="Times New Roman" panose="02020603050405020304" charset="0"/>
                        <a:ea typeface="宋体" panose="02010600030101010101" pitchFamily="2" charset="-122"/>
                        <a:cs typeface="Times New Roman" panose="02020603050405020304" charset="0"/>
                      </a:endParaRPr>
                    </a:p>
                  </a:txBody>
                  <a:tcPr marT="0" marB="36195" anchor="ctr"/>
                </a:tc>
                <a:extLst>
                  <a:ext uri="{0D108BD9-81ED-4DB2-BD59-A6C34878D82A}">
                    <a16:rowId xmlns:a16="http://schemas.microsoft.com/office/drawing/2014/main" val="10004"/>
                  </a:ext>
                </a:extLst>
              </a:tr>
            </a:tbl>
          </a:graphicData>
        </a:graphic>
      </p:graphicFrame>
      <p:sp>
        <p:nvSpPr>
          <p:cNvPr id="33" name="Text Box 53"/>
          <p:cNvSpPr txBox="1"/>
          <p:nvPr/>
        </p:nvSpPr>
        <p:spPr>
          <a:xfrm>
            <a:off x="5229225" y="6142990"/>
            <a:ext cx="1685290" cy="368935"/>
          </a:xfrm>
          <a:prstGeom prst="rect">
            <a:avLst/>
          </a:prstGeom>
          <a:noFill/>
          <a:ln w="9525">
            <a:noFill/>
          </a:ln>
        </p:spPr>
        <p:txBody>
          <a:bodyPr wrap="square" tIns="0" bIns="0" anchor="t">
            <a:spAutoFit/>
          </a:bodyPr>
          <a:lstStyle/>
          <a:p>
            <a:pPr algn="ctr">
              <a:spcBef>
                <a:spcPct val="50000"/>
              </a:spcBef>
            </a:pPr>
            <a:r>
              <a:rPr lang="zh-CN" altLang="en-US" sz="2400" b="1" dirty="0">
                <a:solidFill>
                  <a:srgbClr val="C00000"/>
                </a:solidFill>
                <a:latin typeface="楷体" panose="02010609060101010101" charset="-122"/>
                <a:ea typeface="楷体" panose="02010609060101010101" charset="-122"/>
                <a:cs typeface="楷体" panose="02010609060101010101" charset="-122"/>
              </a:rPr>
              <a:t>关系</a:t>
            </a:r>
            <a:r>
              <a:rPr lang="en-US" altLang="zh-CN" sz="2400" b="1" dirty="0">
                <a:solidFill>
                  <a:srgbClr val="C00000"/>
                </a:solidFill>
                <a:latin typeface="楷体" panose="02010609060101010101" charset="-122"/>
                <a:ea typeface="楷体" panose="02010609060101010101" charset="-122"/>
                <a:cs typeface="楷体" panose="02010609060101010101" charset="-122"/>
              </a:rPr>
              <a:t> </a:t>
            </a:r>
            <a:r>
              <a:rPr lang="en-US" altLang="x-none" sz="2400" b="1" dirty="0">
                <a:solidFill>
                  <a:srgbClr val="C00000"/>
                </a:solidFill>
                <a:latin typeface="楷体" panose="02010609060101010101" charset="-122"/>
                <a:ea typeface="楷体" panose="02010609060101010101" charset="-122"/>
                <a:cs typeface="楷体" panose="02010609060101010101" charset="-122"/>
              </a:rPr>
              <a:t>S</a:t>
            </a:r>
            <a:r>
              <a:rPr lang="en-US" altLang="x-none" sz="2400" b="1" baseline="-25000" dirty="0">
                <a:solidFill>
                  <a:srgbClr val="C00000"/>
                </a:solidFill>
                <a:latin typeface="楷体" panose="02010609060101010101" charset="-122"/>
                <a:ea typeface="楷体" panose="02010609060101010101" charset="-122"/>
                <a:cs typeface="楷体" panose="02010609060101010101" charset="-122"/>
              </a:rPr>
              <a:t>2</a:t>
            </a:r>
          </a:p>
        </p:txBody>
      </p:sp>
      <p:sp>
        <p:nvSpPr>
          <p:cNvPr id="34" name="Text Box 53"/>
          <p:cNvSpPr txBox="1"/>
          <p:nvPr/>
        </p:nvSpPr>
        <p:spPr>
          <a:xfrm>
            <a:off x="7620635" y="6153150"/>
            <a:ext cx="1685290" cy="368935"/>
          </a:xfrm>
          <a:prstGeom prst="rect">
            <a:avLst/>
          </a:prstGeom>
          <a:noFill/>
          <a:ln w="9525">
            <a:noFill/>
          </a:ln>
        </p:spPr>
        <p:txBody>
          <a:bodyPr wrap="square" tIns="0" bIns="0" anchor="t">
            <a:spAutoFit/>
          </a:bodyPr>
          <a:lstStyle/>
          <a:p>
            <a:pPr algn="ctr">
              <a:spcBef>
                <a:spcPct val="50000"/>
              </a:spcBef>
            </a:pPr>
            <a:r>
              <a:rPr lang="zh-CN" altLang="en-US" sz="2400" b="1" dirty="0">
                <a:solidFill>
                  <a:srgbClr val="C00000"/>
                </a:solidFill>
                <a:latin typeface="楷体" panose="02010609060101010101" charset="-122"/>
                <a:ea typeface="楷体" panose="02010609060101010101" charset="-122"/>
                <a:cs typeface="楷体" panose="02010609060101010101" charset="-122"/>
              </a:rPr>
              <a:t>关系</a:t>
            </a:r>
            <a:r>
              <a:rPr lang="en-US" altLang="zh-CN" sz="2400" b="1" dirty="0">
                <a:solidFill>
                  <a:srgbClr val="C00000"/>
                </a:solidFill>
                <a:latin typeface="楷体" panose="02010609060101010101" charset="-122"/>
                <a:ea typeface="楷体" panose="02010609060101010101" charset="-122"/>
                <a:cs typeface="楷体" panose="02010609060101010101" charset="-122"/>
              </a:rPr>
              <a:t> </a:t>
            </a:r>
            <a:r>
              <a:rPr lang="en-US" altLang="x-none" sz="2400" b="1" dirty="0">
                <a:solidFill>
                  <a:srgbClr val="C00000"/>
                </a:solidFill>
                <a:latin typeface="楷体" panose="02010609060101010101" charset="-122"/>
                <a:ea typeface="楷体" panose="02010609060101010101" charset="-122"/>
                <a:cs typeface="楷体" panose="02010609060101010101" charset="-122"/>
              </a:rPr>
              <a:t>S</a:t>
            </a:r>
            <a:r>
              <a:rPr lang="en-US" altLang="x-none" sz="2400" b="1" baseline="-25000" dirty="0">
                <a:solidFill>
                  <a:srgbClr val="C00000"/>
                </a:solidFill>
                <a:latin typeface="楷体" panose="02010609060101010101" charset="-122"/>
                <a:ea typeface="楷体" panose="02010609060101010101" charset="-122"/>
                <a:cs typeface="楷体" panose="02010609060101010101" charset="-122"/>
              </a:rPr>
              <a:t>3</a:t>
            </a:r>
          </a:p>
        </p:txBody>
      </p:sp>
      <p:sp>
        <p:nvSpPr>
          <p:cNvPr id="35" name="Text Box 53"/>
          <p:cNvSpPr txBox="1"/>
          <p:nvPr/>
        </p:nvSpPr>
        <p:spPr>
          <a:xfrm>
            <a:off x="10053320" y="6152515"/>
            <a:ext cx="1685290" cy="368935"/>
          </a:xfrm>
          <a:prstGeom prst="rect">
            <a:avLst/>
          </a:prstGeom>
          <a:noFill/>
          <a:ln w="9525">
            <a:noFill/>
          </a:ln>
        </p:spPr>
        <p:txBody>
          <a:bodyPr wrap="square" tIns="0" bIns="0" anchor="t">
            <a:spAutoFit/>
          </a:bodyPr>
          <a:lstStyle/>
          <a:p>
            <a:pPr algn="ctr">
              <a:spcBef>
                <a:spcPct val="50000"/>
              </a:spcBef>
            </a:pPr>
            <a:r>
              <a:rPr lang="zh-CN" altLang="en-US" sz="2400" b="1" dirty="0">
                <a:solidFill>
                  <a:srgbClr val="C00000"/>
                </a:solidFill>
                <a:latin typeface="楷体" panose="02010609060101010101" charset="-122"/>
                <a:ea typeface="楷体" panose="02010609060101010101" charset="-122"/>
                <a:cs typeface="楷体" panose="02010609060101010101" charset="-122"/>
              </a:rPr>
              <a:t>关系</a:t>
            </a:r>
            <a:r>
              <a:rPr lang="en-US" altLang="zh-CN" sz="2400" b="1" dirty="0">
                <a:solidFill>
                  <a:srgbClr val="C00000"/>
                </a:solidFill>
                <a:latin typeface="楷体" panose="02010609060101010101" charset="-122"/>
                <a:ea typeface="楷体" panose="02010609060101010101" charset="-122"/>
                <a:cs typeface="楷体" panose="02010609060101010101" charset="-122"/>
              </a:rPr>
              <a:t> </a:t>
            </a:r>
            <a:r>
              <a:rPr lang="en-US" altLang="x-none" sz="2400" b="1" dirty="0">
                <a:solidFill>
                  <a:srgbClr val="C00000"/>
                </a:solidFill>
                <a:latin typeface="楷体" panose="02010609060101010101" charset="-122"/>
                <a:ea typeface="楷体" panose="02010609060101010101" charset="-122"/>
                <a:cs typeface="楷体" panose="02010609060101010101" charset="-122"/>
              </a:rPr>
              <a:t>S</a:t>
            </a:r>
            <a:r>
              <a:rPr lang="en-US" altLang="x-none" sz="2400" b="1" baseline="-25000" dirty="0">
                <a:solidFill>
                  <a:srgbClr val="C00000"/>
                </a:solidFill>
                <a:latin typeface="楷体" panose="02010609060101010101" charset="-122"/>
                <a:ea typeface="楷体" panose="02010609060101010101" charset="-122"/>
                <a:cs typeface="楷体" panose="02010609060101010101" charset="-122"/>
              </a:rPr>
              <a:t>4</a:t>
            </a:r>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blinds(horizontal)">
                                      <p:cBhvr>
                                        <p:cTn id="7" dur="500"/>
                                        <p:tgtEl>
                                          <p:spTgt spid="2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
                                            <p:txEl>
                                              <p:pRg st="2" end="2"/>
                                            </p:txEl>
                                          </p:spTgt>
                                        </p:tgtEl>
                                        <p:attrNameLst>
                                          <p:attrName>style.visibility</p:attrName>
                                        </p:attrNameLst>
                                      </p:cBhvr>
                                      <p:to>
                                        <p:strVal val="visible"/>
                                      </p:to>
                                    </p:set>
                                    <p:animEffect transition="in" filter="blinds(horizontal)">
                                      <p:cBhvr>
                                        <p:cTn id="12" dur="500"/>
                                        <p:tgtEl>
                                          <p:spTgt spid="2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
                                            <p:txEl>
                                              <p:pRg st="3" end="3"/>
                                            </p:txEl>
                                          </p:spTgt>
                                        </p:tgtEl>
                                        <p:attrNameLst>
                                          <p:attrName>style.visibility</p:attrName>
                                        </p:attrNameLst>
                                      </p:cBhvr>
                                      <p:to>
                                        <p:strVal val="visible"/>
                                      </p:to>
                                    </p:set>
                                    <p:animEffect transition="in" filter="blinds(horizontal)">
                                      <p:cBhvr>
                                        <p:cTn id="17" dur="500"/>
                                        <p:tgtEl>
                                          <p:spTgt spid="2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8">
                                            <p:txEl>
                                              <p:pRg st="4" end="4"/>
                                            </p:txEl>
                                          </p:spTgt>
                                        </p:tgtEl>
                                        <p:attrNameLst>
                                          <p:attrName>style.visibility</p:attrName>
                                        </p:attrNameLst>
                                      </p:cBhvr>
                                      <p:to>
                                        <p:strVal val="visible"/>
                                      </p:to>
                                    </p:set>
                                    <p:animEffect transition="in" filter="blinds(horizontal)">
                                      <p:cBhvr>
                                        <p:cTn id="22"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marL="0" indent="0" algn="ctr">
              <a:buClr>
                <a:srgbClr val="C00000"/>
              </a:buClr>
              <a:buSzPct val="100000"/>
            </a:pPr>
            <a:r>
              <a:rPr b="1"/>
              <a:t>关系代数中的</a:t>
            </a:r>
            <a:r>
              <a:rPr lang="en-US" b="1"/>
              <a:t> ‘</a:t>
            </a:r>
            <a:r>
              <a:rPr b="1"/>
              <a:t>赋值</a:t>
            </a:r>
            <a:r>
              <a:rPr lang="en-US" b="1"/>
              <a:t>’ </a:t>
            </a:r>
            <a:r>
              <a:rPr b="1"/>
              <a:t>运算</a:t>
            </a:r>
            <a:endParaRPr lang="zh-CN" altLang="en-US" b="1"/>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424180" y="687070"/>
                <a:ext cx="11343005" cy="3162300"/>
              </a:xfrm>
            </p:spPr>
            <p:txBody>
              <a:bodyPr wrap="square">
                <a:spAutoFit/>
              </a:bodyPr>
              <a:lstStyle/>
              <a:p>
                <a:pPr marL="346075" indent="-346075" fontAlgn="auto">
                  <a:spcBef>
                    <a:spcPts val="800"/>
                  </a:spcBef>
                  <a:buFont typeface="Wingdings" panose="05000000000000000000" charset="0"/>
                  <a:buChar char="q"/>
                </a:pPr>
                <a:r>
                  <a:rPr>
                    <a:solidFill>
                      <a:srgbClr val="1F2DA8"/>
                    </a:solidFill>
                    <a:latin typeface="Arial" panose="020B0604020202020204" pitchFamily="34" charset="0"/>
                    <a:ea typeface="华文楷体" panose="02010600040101010101" charset="-122"/>
                    <a:cs typeface="Arial" panose="020B0604020202020204" pitchFamily="34" charset="0"/>
                    <a:sym typeface="+mn-ea"/>
                  </a:rPr>
                  <a:t>赋值运算的一般表示方法：</a:t>
                </a:r>
                <a14:m>
                  <m:oMath xmlns:m="http://schemas.openxmlformats.org/officeDocument/2006/math">
                    <m:r>
                      <a:rPr lang="en-US" i="1">
                        <a:solidFill>
                          <a:srgbClr val="FF0000"/>
                        </a:solidFill>
                        <a:latin typeface="Cambria Math" panose="02040503050406030204" charset="0"/>
                        <a:ea typeface="华文楷体" panose="02010600040101010101" charset="-122"/>
                        <a:cs typeface="Cambria Math" panose="02040503050406030204" charset="0"/>
                        <a:sym typeface="+mn-ea"/>
                      </a:rPr>
                      <m:t>𝑅</m:t>
                    </m:r>
                    <m:r>
                      <a:rPr lang="en-US">
                        <a:solidFill>
                          <a:srgbClr val="FF0000"/>
                        </a:solidFill>
                        <a:latin typeface="Cambria Math" panose="02040503050406030204" charset="0"/>
                        <a:ea typeface="华文楷体" panose="02010600040101010101" charset="-122"/>
                        <a:cs typeface="Cambria Math" panose="02040503050406030204" charset="0"/>
                        <a:sym typeface="+mn-ea"/>
                      </a:rPr>
                      <m:t>(</m:t>
                    </m:r>
                    <m:r>
                      <a:rPr lang="en-US" altLang="x-none" i="1">
                        <a:solidFill>
                          <a:srgbClr val="FF0000"/>
                        </a:solidFill>
                        <a:latin typeface="Cambria Math" panose="02040503050406030204" charset="0"/>
                        <a:ea typeface="华文楷体" panose="02010600040101010101" charset="-122"/>
                        <a:cs typeface="Cambria Math" panose="02040503050406030204" charset="0"/>
                        <a:sym typeface="+mn-ea"/>
                      </a:rPr>
                      <m:t>𝐴</m:t>
                    </m:r>
                    <m:r>
                      <a:rPr lang="en-US" altLang="x-none" baseline="-25000">
                        <a:solidFill>
                          <a:srgbClr val="FF0000"/>
                        </a:solidFill>
                        <a:latin typeface="Cambria Math" panose="02040503050406030204" charset="0"/>
                        <a:ea typeface="华文楷体" panose="02010600040101010101" charset="-122"/>
                        <a:cs typeface="Cambria Math" panose="02040503050406030204" charset="0"/>
                        <a:sym typeface="+mn-ea"/>
                      </a:rPr>
                      <m:t>1</m:t>
                    </m:r>
                    <m:r>
                      <a:rPr lang="en-US" altLang="x-none">
                        <a:solidFill>
                          <a:srgbClr val="FF0000"/>
                        </a:solidFill>
                        <a:latin typeface="Cambria Math" panose="02040503050406030204" charset="0"/>
                        <a:ea typeface="华文楷体" panose="02010600040101010101" charset="-122"/>
                        <a:cs typeface="Cambria Math" panose="02040503050406030204" charset="0"/>
                        <a:sym typeface="+mn-ea"/>
                      </a:rPr>
                      <m:t>,</m:t>
                    </m:r>
                    <m:r>
                      <a:rPr lang="en-US" altLang="x-none" i="1">
                        <a:solidFill>
                          <a:srgbClr val="FF0000"/>
                        </a:solidFill>
                        <a:latin typeface="Cambria Math" panose="02040503050406030204" charset="0"/>
                        <a:ea typeface="华文楷体" panose="02010600040101010101" charset="-122"/>
                        <a:cs typeface="Cambria Math" panose="02040503050406030204" charset="0"/>
                        <a:sym typeface="+mn-ea"/>
                      </a:rPr>
                      <m:t>𝐴</m:t>
                    </m:r>
                    <m:r>
                      <a:rPr lang="en-US" altLang="x-none" baseline="-25000">
                        <a:solidFill>
                          <a:srgbClr val="FF0000"/>
                        </a:solidFill>
                        <a:latin typeface="Cambria Math" panose="02040503050406030204" charset="0"/>
                        <a:ea typeface="华文楷体" panose="02010600040101010101" charset="-122"/>
                        <a:cs typeface="Cambria Math" panose="02040503050406030204" charset="0"/>
                        <a:sym typeface="+mn-ea"/>
                      </a:rPr>
                      <m:t>2</m:t>
                    </m:r>
                    <m:r>
                      <a:rPr lang="en-US" altLang="x-none">
                        <a:solidFill>
                          <a:srgbClr val="FF0000"/>
                        </a:solidFill>
                        <a:latin typeface="Cambria Math" panose="02040503050406030204" charset="0"/>
                        <a:ea typeface="华文楷体" panose="02010600040101010101" charset="-122"/>
                        <a:cs typeface="Cambria Math" panose="02040503050406030204" charset="0"/>
                        <a:sym typeface="+mn-ea"/>
                      </a:rPr>
                      <m:t>,…,</m:t>
                    </m:r>
                    <m:r>
                      <a:rPr lang="en-US" altLang="x-none" i="1">
                        <a:solidFill>
                          <a:srgbClr val="FF0000"/>
                        </a:solidFill>
                        <a:latin typeface="Cambria Math" panose="02040503050406030204" charset="0"/>
                        <a:ea typeface="华文楷体" panose="02010600040101010101" charset="-122"/>
                        <a:cs typeface="Cambria Math" panose="02040503050406030204" charset="0"/>
                        <a:sym typeface="+mn-ea"/>
                      </a:rPr>
                      <m:t>𝐴</m:t>
                    </m:r>
                    <m:r>
                      <m:rPr>
                        <m:sty m:val="p"/>
                      </m:rPr>
                      <a:rPr lang="en-US" altLang="x-none" baseline="-25000">
                        <a:solidFill>
                          <a:srgbClr val="FF0000"/>
                        </a:solidFill>
                        <a:latin typeface="Cambria Math" panose="02040503050406030204" charset="0"/>
                        <a:ea typeface="华文楷体" panose="02010600040101010101" charset="-122"/>
                        <a:cs typeface="Cambria Math" panose="02040503050406030204" charset="0"/>
                        <a:sym typeface="+mn-ea"/>
                      </a:rPr>
                      <m:t>n</m:t>
                    </m:r>
                    <m:r>
                      <a:rPr lang="en-US">
                        <a:solidFill>
                          <a:srgbClr val="FF0000"/>
                        </a:solidFill>
                        <a:latin typeface="Cambria Math" panose="02040503050406030204" charset="0"/>
                        <a:ea typeface="华文楷体" panose="02010600040101010101" charset="-122"/>
                        <a:cs typeface="Cambria Math" panose="02040503050406030204" charset="0"/>
                        <a:sym typeface="+mn-ea"/>
                      </a:rPr>
                      <m:t>) </m:t>
                    </m:r>
                    <m:box>
                      <m:boxPr>
                        <m:noBreak m:val="on"/>
                        <m:ctrlPr>
                          <a:rPr lang="en-US" i="1">
                            <a:solidFill>
                              <a:srgbClr val="FF0000"/>
                            </a:solidFill>
                            <a:latin typeface="Cambria Math" panose="02040503050406030204" pitchFamily="18" charset="0"/>
                            <a:ea typeface="华文楷体" panose="02010600040101010101" charset="-122"/>
                            <a:cs typeface="Cambria Math" panose="02040503050406030204" charset="0"/>
                            <a:sym typeface="+mn-ea"/>
                          </a:rPr>
                        </m:ctrlPr>
                      </m:boxPr>
                      <m:e>
                        <m:r>
                          <a:rPr lang="en-US" i="1">
                            <a:solidFill>
                              <a:srgbClr val="FF0000"/>
                            </a:solidFill>
                            <a:latin typeface="Cambria Math" panose="02040503050406030204" charset="0"/>
                            <a:ea typeface="华文楷体" panose="02010600040101010101" charset="-122"/>
                            <a:cs typeface="Cambria Math" panose="02040503050406030204" charset="0"/>
                            <a:sym typeface="+mn-ea"/>
                          </a:rPr>
                          <m:t>∶=</m:t>
                        </m:r>
                      </m:e>
                    </m:box>
                    <m:r>
                      <a:rPr lang="en-US" altLang="zh-CN">
                        <a:solidFill>
                          <a:srgbClr val="FF0000"/>
                        </a:solidFill>
                        <a:latin typeface="Cambria Math" panose="02040503050406030204" charset="0"/>
                        <a:ea typeface="华文楷体" panose="02010600040101010101" charset="-122"/>
                        <a:cs typeface="Cambria Math" panose="02040503050406030204" charset="0"/>
                        <a:sym typeface="+mn-ea"/>
                      </a:rPr>
                      <m:t> </m:t>
                    </m:r>
                    <m:d>
                      <m:dPr>
                        <m:begChr m:val="〈"/>
                        <m:endChr m:val="〉"/>
                        <m:ctrlPr>
                          <a:rPr lang="en-US" altLang="zh-CN" i="1">
                            <a:solidFill>
                              <a:srgbClr val="FF0000"/>
                            </a:solidFill>
                            <a:latin typeface="Cambria Math" panose="02040503050406030204" pitchFamily="18" charset="0"/>
                            <a:ea typeface="华文楷体" panose="02010600040101010101" charset="-122"/>
                            <a:cs typeface="Cambria Math" panose="02040503050406030204" charset="0"/>
                            <a:sym typeface="+mn-ea"/>
                          </a:rPr>
                        </m:ctrlPr>
                      </m:dPr>
                      <m:e>
                        <m:r>
                          <a:rPr lang="en-US" altLang="zh-CN" i="1">
                            <a:solidFill>
                              <a:srgbClr val="FF0000"/>
                            </a:solidFill>
                            <a:latin typeface="Cambria Math" panose="02040503050406030204" charset="0"/>
                            <a:ea typeface="华文楷体" panose="02010600040101010101" charset="-122"/>
                            <a:cs typeface="Cambria Math" panose="02040503050406030204" charset="0"/>
                            <a:sym typeface="+mn-ea"/>
                          </a:rPr>
                          <m:t>𝑒𝑥𝑝𝑟𝑒𝑠𝑠𝑖𝑜𝑛</m:t>
                        </m:r>
                      </m:e>
                    </m:d>
                  </m:oMath>
                </a14:m>
                <a:endParaRPr lang="en-US" altLang="x-none" dirty="0">
                  <a:solidFill>
                    <a:srgbClr val="1F2DA8"/>
                  </a:solidFill>
                  <a:latin typeface="Arial" panose="020B0604020202020204" pitchFamily="34" charset="0"/>
                  <a:ea typeface="华文楷体" panose="02010600040101010101" charset="-122"/>
                  <a:cs typeface="Arial" panose="020B0604020202020204" pitchFamily="34" charset="0"/>
                </a:endParaRPr>
              </a:p>
              <a:p>
                <a:pPr lvl="1" indent="-339090" fontAlgn="auto">
                  <a:lnSpc>
                    <a:spcPct val="100000"/>
                  </a:lnSpc>
                  <a:spcBef>
                    <a:spcPts val="800"/>
                  </a:spcBef>
                  <a:buClr>
                    <a:srgbClr val="C00000"/>
                  </a:buClr>
                  <a:buFont typeface="Wingdings" panose="05000000000000000000" charset="0"/>
                  <a:buChar char="Ø"/>
                </a:pPr>
                <a14:m>
                  <m:oMath xmlns:m="http://schemas.openxmlformats.org/officeDocument/2006/math">
                    <m:box>
                      <m:boxPr>
                        <m:noBreak m:val="on"/>
                        <m:ctrlPr>
                          <a:rPr lang="en-US" altLang="zh-CN" i="1">
                            <a:solidFill>
                              <a:srgbClr val="1F2DA8"/>
                            </a:solidFill>
                            <a:latin typeface="Cambria Math" panose="02040503050406030204" pitchFamily="18" charset="0"/>
                            <a:ea typeface="华文楷体" panose="02010600040101010101" charset="-122"/>
                            <a:cs typeface="Cambria Math" panose="02040503050406030204" charset="0"/>
                            <a:sym typeface="+mn-ea"/>
                          </a:rPr>
                        </m:ctrlPr>
                      </m:boxPr>
                      <m:e>
                        <m:r>
                          <a:rPr lang="en-US" altLang="zh-CN" i="1">
                            <a:solidFill>
                              <a:srgbClr val="FF0000"/>
                            </a:solidFill>
                            <a:latin typeface="Cambria Math" panose="02040503050406030204" charset="0"/>
                            <a:ea typeface="华文楷体" panose="02010600040101010101" charset="-122"/>
                            <a:cs typeface="Cambria Math" panose="02040503050406030204" charset="0"/>
                            <a:sym typeface="+mn-ea"/>
                          </a:rPr>
                          <m:t>∶=</m:t>
                        </m:r>
                      </m:e>
                    </m:box>
                  </m:oMath>
                </a14:m>
                <a:r>
                  <a:rPr lang="en-US" altLang="zh-CN">
                    <a:solidFill>
                      <a:srgbClr val="1F2DA8"/>
                    </a:solidFill>
                    <a:latin typeface="Arial" panose="020B0604020202020204" pitchFamily="34" charset="0"/>
                    <a:ea typeface="华文楷体" panose="02010600040101010101" charset="-122"/>
                    <a:cs typeface="Arial" panose="020B0604020202020204" pitchFamily="34" charset="0"/>
                    <a:sym typeface="+mn-ea"/>
                  </a:rPr>
                  <a:t> </a:t>
                </a:r>
                <a:r>
                  <a:rPr>
                    <a:solidFill>
                      <a:srgbClr val="1F2DA8"/>
                    </a:solidFill>
                    <a:latin typeface="Arial" panose="020B0604020202020204" pitchFamily="34" charset="0"/>
                    <a:ea typeface="华文楷体" panose="02010600040101010101" charset="-122"/>
                    <a:cs typeface="Arial" panose="020B0604020202020204" pitchFamily="34" charset="0"/>
                    <a:sym typeface="+mn-ea"/>
                  </a:rPr>
                  <a:t>是赋值运算符</a:t>
                </a:r>
              </a:p>
              <a:p>
                <a:pPr lvl="1" indent="-339090" fontAlgn="auto">
                  <a:lnSpc>
                    <a:spcPct val="100000"/>
                  </a:lnSpc>
                  <a:spcBef>
                    <a:spcPts val="800"/>
                  </a:spcBef>
                  <a:buFont typeface="Wingdings" panose="05000000000000000000" charset="0"/>
                  <a:buChar char="Ø"/>
                </a:pPr>
                <a:r>
                  <a:rPr>
                    <a:solidFill>
                      <a:srgbClr val="1F2DA8"/>
                    </a:solidFill>
                    <a:latin typeface="Arial" panose="020B0604020202020204" pitchFamily="34" charset="0"/>
                    <a:ea typeface="华文楷体" panose="02010600040101010101" charset="-122"/>
                    <a:cs typeface="Arial" panose="020B0604020202020204" pitchFamily="34" charset="0"/>
                    <a:sym typeface="+mn-ea"/>
                  </a:rPr>
                  <a:t>右边的</a:t>
                </a:r>
                <a14:m>
                  <m:oMath xmlns:m="http://schemas.openxmlformats.org/officeDocument/2006/math">
                    <m:r>
                      <a:rPr lang="en-US">
                        <a:solidFill>
                          <a:srgbClr val="1F2DA8"/>
                        </a:solidFill>
                        <a:latin typeface="Cambria Math" panose="02040503050406030204" pitchFamily="18" charset="0"/>
                        <a:ea typeface="华文楷体" panose="02010600040101010101" charset="-122"/>
                        <a:cs typeface="Arial" panose="020B0604020202020204" pitchFamily="34" charset="0"/>
                        <a:sym typeface="+mn-ea"/>
                      </a:rPr>
                      <m:t> </m:t>
                    </m:r>
                    <m:d>
                      <m:dPr>
                        <m:begChr m:val="〈"/>
                        <m:endChr m:val="〉"/>
                        <m:ctrlPr>
                          <a:rPr i="1">
                            <a:solidFill>
                              <a:srgbClr val="1F2DA8"/>
                            </a:solidFill>
                            <a:latin typeface="Cambria Math" panose="02040503050406030204" pitchFamily="18" charset="0"/>
                            <a:ea typeface="华文楷体" panose="02010600040101010101" charset="-122"/>
                            <a:cs typeface="Cambria Math" panose="02040503050406030204" charset="0"/>
                            <a:sym typeface="+mn-ea"/>
                          </a:rPr>
                        </m:ctrlPr>
                      </m:dPr>
                      <m:e>
                        <m:r>
                          <a:rPr lang="en-US" altLang="zh-CN" i="1">
                            <a:solidFill>
                              <a:srgbClr val="1F2DA8"/>
                            </a:solidFill>
                            <a:latin typeface="Cambria Math" panose="02040503050406030204" charset="0"/>
                            <a:ea typeface="华文楷体" panose="02010600040101010101" charset="-122"/>
                            <a:cs typeface="Cambria Math" panose="02040503050406030204" charset="0"/>
                            <a:sym typeface="+mn-ea"/>
                          </a:rPr>
                          <m:t>𝑒𝑥𝑝𝑟𝑒𝑠𝑠𝑖𝑜𝑛</m:t>
                        </m:r>
                      </m:e>
                    </m:d>
                    <m:r>
                      <a:rPr lang="en-US" i="1">
                        <a:solidFill>
                          <a:srgbClr val="1F2DA8"/>
                        </a:solidFill>
                        <a:latin typeface="Cambria Math" panose="02040503050406030204" charset="0"/>
                        <a:ea typeface="华文楷体" panose="02010600040101010101" charset="-122"/>
                        <a:cs typeface="Cambria Math" panose="02040503050406030204" charset="0"/>
                        <a:sym typeface="+mn-ea"/>
                      </a:rPr>
                      <m:t> </m:t>
                    </m:r>
                  </m:oMath>
                </a14:m>
                <a:r>
                  <a:rPr>
                    <a:solidFill>
                      <a:srgbClr val="1F2DA8"/>
                    </a:solidFill>
                    <a:latin typeface="Arial" panose="020B0604020202020204" pitchFamily="34" charset="0"/>
                    <a:ea typeface="华文楷体" panose="02010600040101010101" charset="-122"/>
                    <a:cs typeface="Arial" panose="020B0604020202020204" pitchFamily="34" charset="0"/>
                    <a:sym typeface="+mn-ea"/>
                  </a:rPr>
                  <a:t>是一个关系代数表达式（用于表示在关系数据库上的数据操纵请求）</a:t>
                </a:r>
                <a:r>
                  <a:rPr lang="zh-CN">
                    <a:solidFill>
                      <a:srgbClr val="1F2DA8"/>
                    </a:solidFill>
                    <a:latin typeface="Arial" panose="020B0604020202020204" pitchFamily="34" charset="0"/>
                    <a:ea typeface="华文楷体" panose="02010600040101010101" charset="-122"/>
                    <a:cs typeface="Arial" panose="020B0604020202020204" pitchFamily="34" charset="0"/>
                    <a:sym typeface="+mn-ea"/>
                  </a:rPr>
                  <a:t>，或者是一个当前存在的关系；</a:t>
                </a:r>
                <a:endParaRPr>
                  <a:solidFill>
                    <a:srgbClr val="1F2DA8"/>
                  </a:solidFill>
                  <a:latin typeface="Arial" panose="020B0604020202020204" pitchFamily="34" charset="0"/>
                  <a:ea typeface="华文楷体" panose="02010600040101010101" charset="-122"/>
                  <a:cs typeface="Arial" panose="020B0604020202020204" pitchFamily="34" charset="0"/>
                  <a:sym typeface="+mn-ea"/>
                </a:endParaRPr>
              </a:p>
              <a:p>
                <a:pPr lvl="1" indent="-339090" fontAlgn="auto">
                  <a:lnSpc>
                    <a:spcPct val="100000"/>
                  </a:lnSpc>
                  <a:spcBef>
                    <a:spcPts val="800"/>
                  </a:spcBef>
                  <a:buFont typeface="Wingdings" panose="05000000000000000000" charset="0"/>
                  <a:buChar char="Ø"/>
                </a:pPr>
                <a:r>
                  <a:rPr>
                    <a:solidFill>
                      <a:srgbClr val="1F2DA8"/>
                    </a:solidFill>
                    <a:latin typeface="Arial" panose="020B0604020202020204" pitchFamily="34" charset="0"/>
                    <a:ea typeface="华文楷体" panose="02010600040101010101" charset="-122"/>
                    <a:cs typeface="Arial" panose="020B0604020202020204" pitchFamily="34" charset="0"/>
                    <a:sym typeface="+mn-ea"/>
                  </a:rPr>
                  <a:t>左边的</a:t>
                </a:r>
                <a14:m>
                  <m:oMath xmlns:m="http://schemas.openxmlformats.org/officeDocument/2006/math">
                    <m:r>
                      <a:rPr lang="en-US">
                        <a:solidFill>
                          <a:srgbClr val="1F2DA8"/>
                        </a:solidFill>
                        <a:latin typeface="Cambria Math" panose="02040503050406030204" charset="0"/>
                        <a:ea typeface="华文楷体" panose="02010600040101010101" charset="-122"/>
                        <a:cs typeface="Cambria Math" panose="02040503050406030204" charset="0"/>
                        <a:sym typeface="+mn-ea"/>
                      </a:rPr>
                      <m:t> </m:t>
                    </m:r>
                    <m:r>
                      <a:rPr lang="en-US" i="1">
                        <a:solidFill>
                          <a:srgbClr val="1F2DA8"/>
                        </a:solidFill>
                        <a:latin typeface="Cambria Math" panose="02040503050406030204" charset="0"/>
                        <a:ea typeface="华文楷体" panose="02010600040101010101" charset="-122"/>
                        <a:cs typeface="Cambria Math" panose="02040503050406030204" charset="0"/>
                        <a:sym typeface="+mn-ea"/>
                      </a:rPr>
                      <m:t>𝑅</m:t>
                    </m:r>
                    <m:r>
                      <a:rPr lang="en-US">
                        <a:solidFill>
                          <a:srgbClr val="1F2DA8"/>
                        </a:solidFill>
                        <a:latin typeface="Cambria Math" panose="02040503050406030204" charset="0"/>
                        <a:ea typeface="华文楷体" panose="02010600040101010101" charset="-122"/>
                        <a:cs typeface="Cambria Math" panose="02040503050406030204" charset="0"/>
                        <a:sym typeface="+mn-ea"/>
                      </a:rPr>
                      <m:t>(</m:t>
                    </m:r>
                    <m:r>
                      <a:rPr lang="en-US" altLang="x-none" i="1">
                        <a:solidFill>
                          <a:srgbClr val="1F2DA8"/>
                        </a:solidFill>
                        <a:latin typeface="Cambria Math" panose="02040503050406030204" charset="0"/>
                        <a:ea typeface="华文楷体" panose="02010600040101010101" charset="-122"/>
                        <a:cs typeface="Cambria Math" panose="02040503050406030204" charset="0"/>
                        <a:sym typeface="+mn-ea"/>
                      </a:rPr>
                      <m:t>𝐴</m:t>
                    </m:r>
                    <m:r>
                      <a:rPr lang="en-US" altLang="x-none" i="1" baseline="-25000">
                        <a:solidFill>
                          <a:srgbClr val="1F2DA8"/>
                        </a:solidFill>
                        <a:latin typeface="Cambria Math" panose="02040503050406030204" charset="0"/>
                        <a:ea typeface="华文楷体" panose="02010600040101010101" charset="-122"/>
                        <a:cs typeface="Cambria Math" panose="02040503050406030204" charset="0"/>
                        <a:sym typeface="+mn-ea"/>
                      </a:rPr>
                      <m:t>1</m:t>
                    </m:r>
                    <m:r>
                      <a:rPr lang="en-US" altLang="x-none">
                        <a:solidFill>
                          <a:srgbClr val="1F2DA8"/>
                        </a:solidFill>
                        <a:latin typeface="Cambria Math" panose="02040503050406030204" charset="0"/>
                        <a:ea typeface="华文楷体" panose="02010600040101010101" charset="-122"/>
                        <a:cs typeface="Cambria Math" panose="02040503050406030204" charset="0"/>
                        <a:sym typeface="+mn-ea"/>
                      </a:rPr>
                      <m:t>,</m:t>
                    </m:r>
                    <m:r>
                      <a:rPr lang="en-US" altLang="x-none" i="1">
                        <a:solidFill>
                          <a:srgbClr val="1F2DA8"/>
                        </a:solidFill>
                        <a:latin typeface="Cambria Math" panose="02040503050406030204" charset="0"/>
                        <a:ea typeface="华文楷体" panose="02010600040101010101" charset="-122"/>
                        <a:cs typeface="Cambria Math" panose="02040503050406030204" charset="0"/>
                        <a:sym typeface="+mn-ea"/>
                      </a:rPr>
                      <m:t>𝐴</m:t>
                    </m:r>
                    <m:r>
                      <a:rPr lang="en-US" altLang="x-none" i="1" baseline="-25000">
                        <a:solidFill>
                          <a:srgbClr val="1F2DA8"/>
                        </a:solidFill>
                        <a:latin typeface="Cambria Math" panose="02040503050406030204" charset="0"/>
                        <a:ea typeface="华文楷体" panose="02010600040101010101" charset="-122"/>
                        <a:cs typeface="Cambria Math" panose="02040503050406030204" charset="0"/>
                        <a:sym typeface="+mn-ea"/>
                      </a:rPr>
                      <m:t>2</m:t>
                    </m:r>
                    <m:r>
                      <a:rPr lang="en-US" altLang="x-none">
                        <a:solidFill>
                          <a:srgbClr val="1F2DA8"/>
                        </a:solidFill>
                        <a:latin typeface="Cambria Math" panose="02040503050406030204" charset="0"/>
                        <a:ea typeface="华文楷体" panose="02010600040101010101" charset="-122"/>
                        <a:cs typeface="Cambria Math" panose="02040503050406030204" charset="0"/>
                        <a:sym typeface="+mn-ea"/>
                      </a:rPr>
                      <m:t>,…,</m:t>
                    </m:r>
                    <m:r>
                      <a:rPr lang="en-US" altLang="x-none" i="1">
                        <a:solidFill>
                          <a:srgbClr val="1F2DA8"/>
                        </a:solidFill>
                        <a:latin typeface="Cambria Math" panose="02040503050406030204" charset="0"/>
                        <a:ea typeface="华文楷体" panose="02010600040101010101" charset="-122"/>
                        <a:cs typeface="Cambria Math" panose="02040503050406030204" charset="0"/>
                        <a:sym typeface="+mn-ea"/>
                      </a:rPr>
                      <m:t>𝐴</m:t>
                    </m:r>
                    <m:r>
                      <a:rPr lang="en-US" altLang="x-none" i="1" baseline="-25000">
                        <a:solidFill>
                          <a:srgbClr val="1F2DA8"/>
                        </a:solidFill>
                        <a:latin typeface="Cambria Math" panose="02040503050406030204" charset="0"/>
                        <a:ea typeface="华文楷体" panose="02010600040101010101" charset="-122"/>
                        <a:cs typeface="Cambria Math" panose="02040503050406030204" charset="0"/>
                        <a:sym typeface="+mn-ea"/>
                      </a:rPr>
                      <m:t>𝑛</m:t>
                    </m:r>
                    <m:r>
                      <a:rPr lang="en-US">
                        <a:solidFill>
                          <a:srgbClr val="1F2DA8"/>
                        </a:solidFill>
                        <a:latin typeface="Cambria Math" panose="02040503050406030204" charset="0"/>
                        <a:ea typeface="华文楷体" panose="02010600040101010101" charset="-122"/>
                        <a:cs typeface="Cambria Math" panose="02040503050406030204" charset="0"/>
                        <a:sym typeface="+mn-ea"/>
                      </a:rPr>
                      <m:t>) </m:t>
                    </m:r>
                  </m:oMath>
                </a14:m>
                <a:r>
                  <a:rPr>
                    <a:solidFill>
                      <a:srgbClr val="1F2DA8"/>
                    </a:solidFill>
                    <a:latin typeface="Arial" panose="020B0604020202020204" pitchFamily="34" charset="0"/>
                    <a:ea typeface="华文楷体" panose="02010600040101010101" charset="-122"/>
                    <a:cs typeface="Arial" panose="020B0604020202020204" pitchFamily="34" charset="0"/>
                    <a:sym typeface="+mn-ea"/>
                  </a:rPr>
                  <a:t>是</a:t>
                </a:r>
                <a14:m>
                  <m:oMath xmlns:m="http://schemas.openxmlformats.org/officeDocument/2006/math">
                    <m:r>
                      <a:rPr lang="en-US">
                        <a:solidFill>
                          <a:srgbClr val="1F2DA8"/>
                        </a:solidFill>
                        <a:latin typeface="Cambria Math" panose="02040503050406030204" pitchFamily="18" charset="0"/>
                        <a:ea typeface="华文楷体" panose="02010600040101010101" charset="-122"/>
                        <a:cs typeface="Arial" panose="020B0604020202020204" pitchFamily="34" charset="0"/>
                        <a:sym typeface="+mn-ea"/>
                      </a:rPr>
                      <m:t> </m:t>
                    </m:r>
                    <m:d>
                      <m:dPr>
                        <m:begChr m:val="〈"/>
                        <m:endChr m:val="〉"/>
                        <m:ctrlPr>
                          <a:rPr i="1">
                            <a:solidFill>
                              <a:srgbClr val="1F2DA8"/>
                            </a:solidFill>
                            <a:latin typeface="Cambria Math" panose="02040503050406030204" pitchFamily="18" charset="0"/>
                            <a:ea typeface="华文楷体" panose="02010600040101010101" charset="-122"/>
                            <a:cs typeface="Cambria Math" panose="02040503050406030204" charset="0"/>
                            <a:sym typeface="+mn-ea"/>
                          </a:rPr>
                        </m:ctrlPr>
                      </m:dPr>
                      <m:e>
                        <m:r>
                          <a:rPr lang="en-US" altLang="zh-CN" i="1">
                            <a:solidFill>
                              <a:srgbClr val="1F2DA8"/>
                            </a:solidFill>
                            <a:latin typeface="Cambria Math" panose="02040503050406030204" charset="0"/>
                            <a:ea typeface="华文楷体" panose="02010600040101010101" charset="-122"/>
                            <a:cs typeface="Cambria Math" panose="02040503050406030204" charset="0"/>
                            <a:sym typeface="+mn-ea"/>
                          </a:rPr>
                          <m:t>𝑒𝑥𝑝𝑟𝑒𝑠𝑠𝑖𝑜𝑛</m:t>
                        </m:r>
                      </m:e>
                    </m:d>
                    <m:r>
                      <a:rPr lang="en-US" i="1">
                        <a:solidFill>
                          <a:srgbClr val="1F2DA8"/>
                        </a:solidFill>
                        <a:latin typeface="Cambria Math" panose="02040503050406030204" charset="0"/>
                        <a:ea typeface="华文楷体" panose="02010600040101010101" charset="-122"/>
                        <a:cs typeface="Cambria Math" panose="02040503050406030204" charset="0"/>
                        <a:sym typeface="+mn-ea"/>
                      </a:rPr>
                      <m:t> </m:t>
                    </m:r>
                  </m:oMath>
                </a14:m>
                <a:r>
                  <a:rPr>
                    <a:solidFill>
                      <a:srgbClr val="1F2DA8"/>
                    </a:solidFill>
                    <a:latin typeface="Arial" panose="020B0604020202020204" pitchFamily="34" charset="0"/>
                    <a:ea typeface="华文楷体" panose="02010600040101010101" charset="-122"/>
                    <a:cs typeface="Arial" panose="020B0604020202020204" pitchFamily="34" charset="0"/>
                    <a:sym typeface="+mn-ea"/>
                  </a:rPr>
                  <a:t>的计算结果（即数据操纵返回的结果关系）</a:t>
                </a:r>
              </a:p>
            </p:txBody>
          </p:sp>
        </mc:Choice>
        <mc:Fallback xmlns="">
          <p:sp>
            <p:nvSpPr>
              <p:cNvPr id="5" name="内容占位符 4"/>
              <p:cNvSpPr>
                <a:spLocks noRot="1" noChangeAspect="1" noMove="1" noResize="1" noEditPoints="1" noAdjustHandles="1" noChangeArrowheads="1" noChangeShapeType="1" noTextEdit="1"/>
              </p:cNvSpPr>
              <p:nvPr>
                <p:ph idx="1"/>
              </p:nvPr>
            </p:nvSpPr>
            <p:spPr>
              <a:xfrm>
                <a:off x="424180" y="687070"/>
                <a:ext cx="11343005" cy="3162300"/>
              </a:xfr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内容占位符 4"/>
              <p:cNvSpPr>
                <a:spLocks noGrp="1"/>
              </p:cNvSpPr>
              <p:nvPr/>
            </p:nvSpPr>
            <p:spPr>
              <a:xfrm>
                <a:off x="424815" y="4075430"/>
                <a:ext cx="11342370" cy="2122805"/>
              </a:xfrm>
              <a:prstGeom prst="rect">
                <a:avLst/>
              </a:prstGeom>
              <a:noFill/>
              <a:ln w="9525">
                <a:noFill/>
              </a:ln>
            </p:spPr>
            <p:txBody>
              <a:bodyPr wrap="square" anchor="t">
                <a:sp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marL="0" indent="356870">
                  <a:lnSpc>
                    <a:spcPct val="100000"/>
                  </a:lnSpc>
                  <a:spcBef>
                    <a:spcPts val="800"/>
                  </a:spcBef>
                  <a:spcAft>
                    <a:spcPts val="0"/>
                  </a:spcAft>
                  <a:buNone/>
                </a:pPr>
                <a:r>
                  <a:rPr lang="zh-CN" altLang="en-US" sz="2800">
                    <a:solidFill>
                      <a:srgbClr val="1F2DA8"/>
                    </a:solidFill>
                    <a:latin typeface="Arial" panose="020B0604020202020204" pitchFamily="34" charset="0"/>
                    <a:ea typeface="华文楷体" panose="02010600040101010101" charset="-122"/>
                    <a:cs typeface="Arial" panose="020B0604020202020204" pitchFamily="34" charset="0"/>
                  </a:rPr>
                  <a:t>上述的赋值表达式可以理解为：</a:t>
                </a:r>
              </a:p>
              <a:p>
                <a:pPr marL="385445" indent="-385445">
                  <a:lnSpc>
                    <a:spcPct val="100000"/>
                  </a:lnSpc>
                  <a:spcBef>
                    <a:spcPts val="800"/>
                  </a:spcBef>
                  <a:spcAft>
                    <a:spcPts val="0"/>
                  </a:spcAft>
                  <a:buClr>
                    <a:srgbClr val="C00000"/>
                  </a:buClr>
                  <a:buSzPct val="85000"/>
                  <a:buFont typeface="+mj-ea"/>
                  <a:buAutoNum type="circleNumDbPlain"/>
                </a:pPr>
                <a:r>
                  <a:rPr lang="zh-CN" altLang="en-US" sz="2800">
                    <a:solidFill>
                      <a:srgbClr val="1F2DA8"/>
                    </a:solidFill>
                    <a:latin typeface="Arial" panose="020B0604020202020204" pitchFamily="34" charset="0"/>
                    <a:ea typeface="华文楷体" panose="02010600040101010101" charset="-122"/>
                    <a:cs typeface="Arial" panose="020B0604020202020204" pitchFamily="34" charset="0"/>
                  </a:rPr>
                  <a:t>为右边的数据操纵请求定义了一个查询关系</a:t>
                </a:r>
                <a:r>
                  <a:rPr sz="2800">
                    <a:solidFill>
                      <a:srgbClr val="1F2DA8"/>
                    </a:solidFill>
                    <a:latin typeface="Arial" panose="020B0604020202020204" pitchFamily="34" charset="0"/>
                    <a:ea typeface="华文楷体" panose="02010600040101010101" charset="-122"/>
                    <a:cs typeface="Arial" panose="020B0604020202020204" pitchFamily="34" charset="0"/>
                  </a:rPr>
                  <a:t>，用以保存其操纵结果</a:t>
                </a:r>
                <a:r>
                  <a:rPr lang="zh-CN" sz="2800">
                    <a:solidFill>
                      <a:srgbClr val="1F2DA8"/>
                    </a:solidFill>
                    <a:latin typeface="Arial" panose="020B0604020202020204" pitchFamily="34" charset="0"/>
                    <a:ea typeface="华文楷体" panose="02010600040101010101" charset="-122"/>
                    <a:cs typeface="Arial" panose="020B0604020202020204" pitchFamily="34" charset="0"/>
                  </a:rPr>
                  <a:t>；</a:t>
                </a:r>
                <a:endParaRPr sz="2800">
                  <a:solidFill>
                    <a:srgbClr val="1F2DA8"/>
                  </a:solidFill>
                  <a:latin typeface="Arial" panose="020B0604020202020204" pitchFamily="34" charset="0"/>
                  <a:ea typeface="华文楷体" panose="02010600040101010101" charset="-122"/>
                  <a:cs typeface="Arial" panose="020B0604020202020204" pitchFamily="34" charset="0"/>
                </a:endParaRPr>
              </a:p>
              <a:p>
                <a:pPr marL="385445" indent="-385445">
                  <a:lnSpc>
                    <a:spcPct val="100000"/>
                  </a:lnSpc>
                  <a:spcBef>
                    <a:spcPts val="800"/>
                  </a:spcBef>
                  <a:spcAft>
                    <a:spcPts val="0"/>
                  </a:spcAft>
                  <a:buClr>
                    <a:srgbClr val="C00000"/>
                  </a:buClr>
                  <a:buSzPct val="85000"/>
                  <a:buFont typeface="+mj-ea"/>
                  <a:buAutoNum type="circleNumDbPlain"/>
                </a:pPr>
                <a:r>
                  <a:rPr lang="en-US" altLang="zh-CN" sz="2800">
                    <a:solidFill>
                      <a:srgbClr val="1F2DA8"/>
                    </a:solidFill>
                    <a:latin typeface="Cambria Math" panose="02040503050406030204" charset="0"/>
                    <a:ea typeface="华文楷体" panose="02010600040101010101" charset="-122"/>
                    <a:cs typeface="Cambria Math" panose="02040503050406030204" charset="0"/>
                  </a:rPr>
                  <a:t> </a:t>
                </a:r>
                <a14:m>
                  <m:oMath xmlns:m="http://schemas.openxmlformats.org/officeDocument/2006/math">
                    <m:r>
                      <a:rPr lang="en-US" altLang="zh-CN" sz="2800" i="1">
                        <a:solidFill>
                          <a:srgbClr val="1F2DA8"/>
                        </a:solidFill>
                        <a:latin typeface="Cambria Math" panose="02040503050406030204" charset="0"/>
                        <a:ea typeface="华文楷体" panose="02010600040101010101" charset="-122"/>
                        <a:cs typeface="Cambria Math" panose="02040503050406030204" charset="0"/>
                      </a:rPr>
                      <m:t>𝑅</m:t>
                    </m:r>
                  </m:oMath>
                </a14:m>
                <a:r>
                  <a:rPr sz="2800">
                    <a:solidFill>
                      <a:srgbClr val="1F2DA8"/>
                    </a:solidFill>
                    <a:latin typeface="Arial" panose="020B0604020202020204" pitchFamily="34" charset="0"/>
                    <a:ea typeface="华文楷体" panose="02010600040101010101" charset="-122"/>
                    <a:cs typeface="Arial" panose="020B0604020202020204" pitchFamily="34" charset="0"/>
                  </a:rPr>
                  <a:t>是该</a:t>
                </a:r>
                <a:r>
                  <a:rPr lang="zh-CN" altLang="en-US" sz="2800">
                    <a:solidFill>
                      <a:srgbClr val="1F2DA8"/>
                    </a:solidFill>
                    <a:latin typeface="Arial" panose="020B0604020202020204" pitchFamily="34" charset="0"/>
                    <a:ea typeface="华文楷体" panose="02010600040101010101" charset="-122"/>
                    <a:cs typeface="Arial" panose="020B0604020202020204" pitchFamily="34" charset="0"/>
                    <a:sym typeface="+mn-ea"/>
                  </a:rPr>
                  <a:t>查询</a:t>
                </a:r>
                <a:r>
                  <a:rPr sz="2800">
                    <a:solidFill>
                      <a:srgbClr val="1F2DA8"/>
                    </a:solidFill>
                    <a:latin typeface="Arial" panose="020B0604020202020204" pitchFamily="34" charset="0"/>
                    <a:ea typeface="华文楷体" panose="02010600040101010101" charset="-122"/>
                    <a:cs typeface="Arial" panose="020B0604020202020204" pitchFamily="34" charset="0"/>
                  </a:rPr>
                  <a:t>关系的关系名，</a:t>
                </a:r>
                <a14:m>
                  <m:oMath xmlns:m="http://schemas.openxmlformats.org/officeDocument/2006/math">
                    <m:r>
                      <a:rPr lang="en-US" altLang="x-none" sz="2800" i="1">
                        <a:solidFill>
                          <a:srgbClr val="1F2DA8"/>
                        </a:solidFill>
                        <a:latin typeface="Cambria Math" panose="02040503050406030204" charset="0"/>
                        <a:ea typeface="华文楷体" panose="02010600040101010101" charset="-122"/>
                        <a:cs typeface="Cambria Math" panose="02040503050406030204" charset="0"/>
                        <a:sym typeface="+mn-ea"/>
                      </a:rPr>
                      <m:t>𝐴</m:t>
                    </m:r>
                    <m:r>
                      <a:rPr lang="en-US" altLang="x-none" sz="2800" i="1" baseline="-25000">
                        <a:solidFill>
                          <a:srgbClr val="1F2DA8"/>
                        </a:solidFill>
                        <a:latin typeface="Cambria Math" panose="02040503050406030204" charset="0"/>
                        <a:ea typeface="华文楷体" panose="02010600040101010101" charset="-122"/>
                        <a:cs typeface="Cambria Math" panose="02040503050406030204" charset="0"/>
                        <a:sym typeface="+mn-ea"/>
                      </a:rPr>
                      <m:t>1</m:t>
                    </m:r>
                    <m:r>
                      <a:rPr lang="en-US" altLang="x-none" sz="2800">
                        <a:solidFill>
                          <a:srgbClr val="1F2DA8"/>
                        </a:solidFill>
                        <a:latin typeface="Cambria Math" panose="02040503050406030204" charset="0"/>
                        <a:ea typeface="华文楷体" panose="02010600040101010101" charset="-122"/>
                        <a:cs typeface="Cambria Math" panose="02040503050406030204" charset="0"/>
                        <a:sym typeface="+mn-ea"/>
                      </a:rPr>
                      <m:t>,</m:t>
                    </m:r>
                    <m:r>
                      <a:rPr lang="en-US" altLang="x-none" sz="2800" i="1">
                        <a:solidFill>
                          <a:srgbClr val="1F2DA8"/>
                        </a:solidFill>
                        <a:latin typeface="Cambria Math" panose="02040503050406030204" charset="0"/>
                        <a:ea typeface="华文楷体" panose="02010600040101010101" charset="-122"/>
                        <a:cs typeface="Cambria Math" panose="02040503050406030204" charset="0"/>
                        <a:sym typeface="+mn-ea"/>
                      </a:rPr>
                      <m:t>𝐴</m:t>
                    </m:r>
                    <m:r>
                      <a:rPr lang="en-US" altLang="x-none" sz="2800" i="1" baseline="-25000">
                        <a:solidFill>
                          <a:srgbClr val="1F2DA8"/>
                        </a:solidFill>
                        <a:latin typeface="Cambria Math" panose="02040503050406030204" charset="0"/>
                        <a:ea typeface="华文楷体" panose="02010600040101010101" charset="-122"/>
                        <a:cs typeface="Cambria Math" panose="02040503050406030204" charset="0"/>
                        <a:sym typeface="+mn-ea"/>
                      </a:rPr>
                      <m:t>2</m:t>
                    </m:r>
                    <m:r>
                      <a:rPr lang="en-US" altLang="x-none" sz="2800">
                        <a:solidFill>
                          <a:srgbClr val="1F2DA8"/>
                        </a:solidFill>
                        <a:latin typeface="Cambria Math" panose="02040503050406030204" charset="0"/>
                        <a:ea typeface="华文楷体" panose="02010600040101010101" charset="-122"/>
                        <a:cs typeface="Cambria Math" panose="02040503050406030204" charset="0"/>
                        <a:sym typeface="+mn-ea"/>
                      </a:rPr>
                      <m:t>,…,</m:t>
                    </m:r>
                    <m:r>
                      <a:rPr lang="en-US" altLang="x-none" sz="2800" i="1">
                        <a:solidFill>
                          <a:srgbClr val="1F2DA8"/>
                        </a:solidFill>
                        <a:latin typeface="Cambria Math" panose="02040503050406030204" charset="0"/>
                        <a:ea typeface="华文楷体" panose="02010600040101010101" charset="-122"/>
                        <a:cs typeface="Cambria Math" panose="02040503050406030204" charset="0"/>
                        <a:sym typeface="+mn-ea"/>
                      </a:rPr>
                      <m:t>𝐴</m:t>
                    </m:r>
                    <m:r>
                      <a:rPr lang="en-US" altLang="x-none" sz="2800" i="1" baseline="-25000">
                        <a:solidFill>
                          <a:srgbClr val="1F2DA8"/>
                        </a:solidFill>
                        <a:latin typeface="Cambria Math" panose="02040503050406030204" charset="0"/>
                        <a:ea typeface="华文楷体" panose="02010600040101010101" charset="-122"/>
                        <a:cs typeface="Cambria Math" panose="02040503050406030204" charset="0"/>
                        <a:sym typeface="+mn-ea"/>
                      </a:rPr>
                      <m:t>𝑛</m:t>
                    </m:r>
                  </m:oMath>
                </a14:m>
                <a:r>
                  <a:rPr sz="2800">
                    <a:solidFill>
                      <a:srgbClr val="1F2DA8"/>
                    </a:solidFill>
                    <a:latin typeface="Arial" panose="020B0604020202020204" pitchFamily="34" charset="0"/>
                    <a:ea typeface="华文楷体" panose="02010600040101010101" charset="-122"/>
                    <a:cs typeface="Arial" panose="020B0604020202020204" pitchFamily="34" charset="0"/>
                  </a:rPr>
                  <a:t>是</a:t>
                </a:r>
                <a:r>
                  <a:rPr lang="zh-CN" altLang="en-US" sz="2800">
                    <a:solidFill>
                      <a:srgbClr val="1F2DA8"/>
                    </a:solidFill>
                    <a:latin typeface="Arial" panose="020B0604020202020204" pitchFamily="34" charset="0"/>
                    <a:ea typeface="华文楷体" panose="02010600040101010101" charset="-122"/>
                    <a:cs typeface="Arial" panose="020B0604020202020204" pitchFamily="34" charset="0"/>
                    <a:sym typeface="+mn-ea"/>
                  </a:rPr>
                  <a:t>查询</a:t>
                </a:r>
                <a:r>
                  <a:rPr sz="2800">
                    <a:solidFill>
                      <a:srgbClr val="1F2DA8"/>
                    </a:solidFill>
                    <a:latin typeface="Arial" panose="020B0604020202020204" pitchFamily="34" charset="0"/>
                    <a:ea typeface="华文楷体" panose="02010600040101010101" charset="-122"/>
                    <a:cs typeface="Arial" panose="020B0604020202020204" pitchFamily="34" charset="0"/>
                  </a:rPr>
                  <a:t>关系的属性名</a:t>
                </a:r>
                <a:r>
                  <a:rPr lang="zh-CN" sz="2800">
                    <a:solidFill>
                      <a:srgbClr val="1F2DA8"/>
                    </a:solidFill>
                    <a:latin typeface="Arial" panose="020B0604020202020204" pitchFamily="34" charset="0"/>
                    <a:ea typeface="华文楷体" panose="02010600040101010101" charset="-122"/>
                    <a:cs typeface="Arial" panose="020B0604020202020204" pitchFamily="34" charset="0"/>
                  </a:rPr>
                  <a:t>；</a:t>
                </a:r>
                <a:endParaRPr sz="2800">
                  <a:solidFill>
                    <a:srgbClr val="1F2DA8"/>
                  </a:solidFill>
                  <a:latin typeface="Arial" panose="020B0604020202020204" pitchFamily="34" charset="0"/>
                  <a:ea typeface="华文楷体" panose="02010600040101010101" charset="-122"/>
                  <a:cs typeface="Arial" panose="020B0604020202020204" pitchFamily="34" charset="0"/>
                </a:endParaRPr>
              </a:p>
              <a:p>
                <a:pPr marL="385445" indent="-385445">
                  <a:lnSpc>
                    <a:spcPct val="100000"/>
                  </a:lnSpc>
                  <a:spcBef>
                    <a:spcPts val="800"/>
                  </a:spcBef>
                  <a:spcAft>
                    <a:spcPts val="0"/>
                  </a:spcAft>
                  <a:buClr>
                    <a:srgbClr val="C00000"/>
                  </a:buClr>
                  <a:buSzPct val="85000"/>
                  <a:buFont typeface="+mj-ea"/>
                  <a:buAutoNum type="circleNumDbPlain"/>
                </a:pPr>
                <a:r>
                  <a:rPr lang="zh-CN" altLang="en-US" sz="2800">
                    <a:solidFill>
                      <a:srgbClr val="1F2DA8"/>
                    </a:solidFill>
                    <a:latin typeface="Arial" panose="020B0604020202020204" pitchFamily="34" charset="0"/>
                    <a:ea typeface="华文楷体" panose="02010600040101010101" charset="-122"/>
                    <a:cs typeface="Arial" panose="020B0604020202020204" pitchFamily="34" charset="0"/>
                    <a:sym typeface="+mn-ea"/>
                  </a:rPr>
                  <a:t>查询</a:t>
                </a:r>
                <a:r>
                  <a:rPr sz="2800">
                    <a:solidFill>
                      <a:srgbClr val="1F2DA8"/>
                    </a:solidFill>
                    <a:latin typeface="Arial" panose="020B0604020202020204" pitchFamily="34" charset="0"/>
                    <a:ea typeface="华文楷体" panose="02010600040101010101" charset="-122"/>
                    <a:cs typeface="Arial" panose="020B0604020202020204" pitchFamily="34" charset="0"/>
                  </a:rPr>
                  <a:t>关系也可以被</a:t>
                </a:r>
                <a:r>
                  <a:rPr lang="zh-CN" sz="2800">
                    <a:solidFill>
                      <a:srgbClr val="1F2DA8"/>
                    </a:solidFill>
                    <a:latin typeface="Arial" panose="020B0604020202020204" pitchFamily="34" charset="0"/>
                    <a:ea typeface="华文楷体" panose="02010600040101010101" charset="-122"/>
                    <a:cs typeface="Arial" panose="020B0604020202020204" pitchFamily="34" charset="0"/>
                  </a:rPr>
                  <a:t>作为访问对象，参与</a:t>
                </a:r>
                <a:r>
                  <a:rPr sz="2800">
                    <a:solidFill>
                      <a:srgbClr val="1F2DA8"/>
                    </a:solidFill>
                    <a:latin typeface="Arial" panose="020B0604020202020204" pitchFamily="34" charset="0"/>
                    <a:ea typeface="华文楷体" panose="02010600040101010101" charset="-122"/>
                    <a:cs typeface="Arial" panose="020B0604020202020204" pitchFamily="34" charset="0"/>
                  </a:rPr>
                  <a:t>后续关系代数表达式的表示。</a:t>
                </a:r>
              </a:p>
            </p:txBody>
          </p:sp>
        </mc:Choice>
        <mc:Fallback xmlns="">
          <p:sp>
            <p:nvSpPr>
              <p:cNvPr id="2" name="内容占位符 4"/>
              <p:cNvSpPr>
                <a:spLocks noRot="1" noChangeAspect="1" noMove="1" noResize="1" noEditPoints="1" noAdjustHandles="1" noChangeArrowheads="1" noChangeShapeType="1" noTextEdit="1"/>
              </p:cNvSpPr>
              <p:nvPr/>
            </p:nvSpPr>
            <p:spPr>
              <a:xfrm>
                <a:off x="424815" y="4075430"/>
                <a:ext cx="11342370" cy="2122805"/>
              </a:xfrm>
              <a:prstGeom prst="rect">
                <a:avLst/>
              </a:prstGeom>
              <a:blipFill rotWithShape="1">
                <a:blip r:embed="rId4"/>
                <a:stretch>
                  <a:fillRect/>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en-US" altLang="x-none" strike="noStrike" noProof="1" dirty="0">
                <a:latin typeface="Times New Roman" panose="02020603050405020304" charset="0"/>
                <a:ea typeface="宋体" panose="02010600030101010101" pitchFamily="2" charset="-122"/>
                <a:cs typeface="+mn-ea"/>
              </a:rPr>
              <a:t>17</a:t>
            </a:fld>
            <a:endParaRPr lang="en-US" altLang="x-none" strike="noStrike" noProof="1"/>
          </a:p>
        </p:txBody>
      </p:sp>
      <p:sp>
        <p:nvSpPr>
          <p:cNvPr id="6" name="页脚占位符 5"/>
          <p:cNvSpPr>
            <a:spLocks noGrp="1"/>
          </p:cNvSpPr>
          <p:nvPr>
            <p:ph type="ftr" sz="quarter" idx="11"/>
          </p:nvPr>
        </p:nvSpPr>
        <p:spPr/>
        <p:txBody>
          <a:bodyPr/>
          <a:lstStyle/>
          <a:p>
            <a:r>
              <a:rPr lang="zh-CN" altLang="en-US"/>
              <a:t>ch02_2_关系代数基本运算</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sz="2800" b="1"/>
              <a:t>赋值运算的使用方式</a:t>
            </a:r>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424180" y="687070"/>
                <a:ext cx="11343005" cy="2976245"/>
              </a:xfrm>
            </p:spPr>
            <p:txBody>
              <a:bodyPr wrap="square">
                <a:spAutoFit/>
              </a:bodyPr>
              <a:lstStyle/>
              <a:p>
                <a:pPr marL="346075" indent="-346075">
                  <a:lnSpc>
                    <a:spcPct val="110000"/>
                  </a:lnSpc>
                  <a:spcBef>
                    <a:spcPts val="20"/>
                  </a:spcBef>
                  <a:spcAft>
                    <a:spcPts val="0"/>
                  </a:spcAft>
                  <a:buFont typeface="Wingdings" panose="05000000000000000000" charset="0"/>
                  <a:buChar char="q"/>
                </a:pPr>
                <a:r>
                  <a:rPr sz="2800">
                    <a:solidFill>
                      <a:srgbClr val="1F2DA8"/>
                    </a:solidFill>
                    <a:latin typeface="Arial" panose="020B0604020202020204" pitchFamily="34" charset="0"/>
                    <a:ea typeface="华文楷体" panose="02010600040101010101" charset="-122"/>
                    <a:cs typeface="Arial" panose="020B0604020202020204" pitchFamily="34" charset="0"/>
                    <a:sym typeface="+mn-ea"/>
                  </a:rPr>
                  <a:t>方式一：</a:t>
                </a:r>
                <a14:m>
                  <m:oMath xmlns:m="http://schemas.openxmlformats.org/officeDocument/2006/math">
                    <m:r>
                      <a:rPr lang="en-US" sz="2800" i="1">
                        <a:solidFill>
                          <a:srgbClr val="FF0000"/>
                        </a:solidFill>
                        <a:latin typeface="Cambria Math" panose="02040503050406030204" charset="0"/>
                        <a:ea typeface="华文楷体" panose="02010600040101010101" charset="-122"/>
                        <a:cs typeface="Cambria Math" panose="02040503050406030204" charset="0"/>
                        <a:sym typeface="+mn-ea"/>
                      </a:rPr>
                      <m:t>𝑅</m:t>
                    </m:r>
                    <m:r>
                      <a:rPr lang="en-US" sz="2800">
                        <a:solidFill>
                          <a:srgbClr val="FF0000"/>
                        </a:solidFill>
                        <a:latin typeface="Cambria Math" panose="02040503050406030204" charset="0"/>
                        <a:ea typeface="华文楷体" panose="02010600040101010101" charset="-122"/>
                        <a:cs typeface="Cambria Math" panose="02040503050406030204" charset="0"/>
                        <a:sym typeface="+mn-ea"/>
                      </a:rPr>
                      <m:t>(</m:t>
                    </m:r>
                    <m:r>
                      <a:rPr lang="en-US" altLang="x-none" sz="2800" i="1">
                        <a:solidFill>
                          <a:srgbClr val="FF0000"/>
                        </a:solidFill>
                        <a:latin typeface="Cambria Math" panose="02040503050406030204" charset="0"/>
                        <a:ea typeface="华文楷体" panose="02010600040101010101" charset="-122"/>
                        <a:cs typeface="Cambria Math" panose="02040503050406030204" charset="0"/>
                        <a:sym typeface="+mn-ea"/>
                      </a:rPr>
                      <m:t>𝐴</m:t>
                    </m:r>
                    <m:r>
                      <a:rPr lang="en-US" altLang="x-none" sz="2800" baseline="-25000">
                        <a:solidFill>
                          <a:srgbClr val="FF0000"/>
                        </a:solidFill>
                        <a:latin typeface="Cambria Math" panose="02040503050406030204" charset="0"/>
                        <a:ea typeface="华文楷体" panose="02010600040101010101" charset="-122"/>
                        <a:cs typeface="Cambria Math" panose="02040503050406030204" charset="0"/>
                        <a:sym typeface="+mn-ea"/>
                      </a:rPr>
                      <m:t>1</m:t>
                    </m:r>
                    <m:r>
                      <a:rPr lang="en-US" altLang="x-none" sz="2800">
                        <a:solidFill>
                          <a:srgbClr val="FF0000"/>
                        </a:solidFill>
                        <a:latin typeface="Cambria Math" panose="02040503050406030204" charset="0"/>
                        <a:ea typeface="华文楷体" panose="02010600040101010101" charset="-122"/>
                        <a:cs typeface="Cambria Math" panose="02040503050406030204" charset="0"/>
                        <a:sym typeface="+mn-ea"/>
                      </a:rPr>
                      <m:t>,</m:t>
                    </m:r>
                    <m:r>
                      <a:rPr lang="en-US" altLang="x-none" sz="2800" i="1">
                        <a:solidFill>
                          <a:srgbClr val="FF0000"/>
                        </a:solidFill>
                        <a:latin typeface="Cambria Math" panose="02040503050406030204" charset="0"/>
                        <a:ea typeface="华文楷体" panose="02010600040101010101" charset="-122"/>
                        <a:cs typeface="Cambria Math" panose="02040503050406030204" charset="0"/>
                        <a:sym typeface="+mn-ea"/>
                      </a:rPr>
                      <m:t>𝐴</m:t>
                    </m:r>
                    <m:r>
                      <a:rPr lang="en-US" altLang="x-none" sz="2800" baseline="-25000">
                        <a:solidFill>
                          <a:srgbClr val="FF0000"/>
                        </a:solidFill>
                        <a:latin typeface="Cambria Math" panose="02040503050406030204" charset="0"/>
                        <a:ea typeface="华文楷体" panose="02010600040101010101" charset="-122"/>
                        <a:cs typeface="Cambria Math" panose="02040503050406030204" charset="0"/>
                        <a:sym typeface="+mn-ea"/>
                      </a:rPr>
                      <m:t>2</m:t>
                    </m:r>
                    <m:r>
                      <a:rPr lang="en-US" altLang="x-none" sz="2800">
                        <a:solidFill>
                          <a:srgbClr val="FF0000"/>
                        </a:solidFill>
                        <a:latin typeface="Cambria Math" panose="02040503050406030204" charset="0"/>
                        <a:ea typeface="华文楷体" panose="02010600040101010101" charset="-122"/>
                        <a:cs typeface="Cambria Math" panose="02040503050406030204" charset="0"/>
                        <a:sym typeface="+mn-ea"/>
                      </a:rPr>
                      <m:t>,…,</m:t>
                    </m:r>
                    <m:r>
                      <a:rPr lang="en-US" altLang="x-none" sz="2800" i="1">
                        <a:solidFill>
                          <a:srgbClr val="FF0000"/>
                        </a:solidFill>
                        <a:latin typeface="Cambria Math" panose="02040503050406030204" charset="0"/>
                        <a:ea typeface="华文楷体" panose="02010600040101010101" charset="-122"/>
                        <a:cs typeface="Cambria Math" panose="02040503050406030204" charset="0"/>
                        <a:sym typeface="+mn-ea"/>
                      </a:rPr>
                      <m:t>𝐴</m:t>
                    </m:r>
                    <m:r>
                      <m:rPr>
                        <m:sty m:val="p"/>
                      </m:rPr>
                      <a:rPr lang="en-US" altLang="x-none" sz="2800" baseline="-25000">
                        <a:solidFill>
                          <a:srgbClr val="FF0000"/>
                        </a:solidFill>
                        <a:latin typeface="Cambria Math" panose="02040503050406030204" charset="0"/>
                        <a:ea typeface="华文楷体" panose="02010600040101010101" charset="-122"/>
                        <a:cs typeface="Cambria Math" panose="02040503050406030204" charset="0"/>
                        <a:sym typeface="+mn-ea"/>
                      </a:rPr>
                      <m:t>n</m:t>
                    </m:r>
                    <m:r>
                      <a:rPr lang="en-US" sz="2800">
                        <a:solidFill>
                          <a:srgbClr val="FF0000"/>
                        </a:solidFill>
                        <a:latin typeface="Cambria Math" panose="02040503050406030204" charset="0"/>
                        <a:ea typeface="华文楷体" panose="02010600040101010101" charset="-122"/>
                        <a:cs typeface="Cambria Math" panose="02040503050406030204" charset="0"/>
                        <a:sym typeface="+mn-ea"/>
                      </a:rPr>
                      <m:t>) </m:t>
                    </m:r>
                    <m:box>
                      <m:boxPr>
                        <m:noBreak m:val="on"/>
                        <m:ctrlPr>
                          <a:rPr lang="en-US" sz="2800" i="1">
                            <a:solidFill>
                              <a:srgbClr val="FF0000"/>
                            </a:solidFill>
                            <a:latin typeface="Cambria Math" panose="02040503050406030204" pitchFamily="18" charset="0"/>
                            <a:ea typeface="华文楷体" panose="02010600040101010101" charset="-122"/>
                            <a:cs typeface="Cambria Math" panose="02040503050406030204" charset="0"/>
                            <a:sym typeface="+mn-ea"/>
                          </a:rPr>
                        </m:ctrlPr>
                      </m:boxPr>
                      <m:e>
                        <m:r>
                          <a:rPr lang="en-US" sz="2800" i="1">
                            <a:solidFill>
                              <a:srgbClr val="FF0000"/>
                            </a:solidFill>
                            <a:latin typeface="Cambria Math" panose="02040503050406030204" charset="0"/>
                            <a:ea typeface="华文楷体" panose="02010600040101010101" charset="-122"/>
                            <a:cs typeface="Cambria Math" panose="02040503050406030204" charset="0"/>
                            <a:sym typeface="+mn-ea"/>
                          </a:rPr>
                          <m:t>∶=</m:t>
                        </m:r>
                      </m:e>
                    </m:box>
                    <m:r>
                      <a:rPr lang="en-US" altLang="zh-CN" sz="2800">
                        <a:solidFill>
                          <a:srgbClr val="FF0000"/>
                        </a:solidFill>
                        <a:latin typeface="Cambria Math" panose="02040503050406030204" charset="0"/>
                        <a:ea typeface="华文楷体" panose="02010600040101010101" charset="-122"/>
                        <a:cs typeface="Cambria Math" panose="02040503050406030204" charset="0"/>
                        <a:sym typeface="+mn-ea"/>
                      </a:rPr>
                      <m:t> </m:t>
                    </m:r>
                    <m:d>
                      <m:dPr>
                        <m:begChr m:val="〈"/>
                        <m:endChr m:val="〉"/>
                        <m:ctrlPr>
                          <a:rPr lang="en-US" altLang="zh-CN" sz="2800" i="1">
                            <a:solidFill>
                              <a:srgbClr val="FF0000"/>
                            </a:solidFill>
                            <a:latin typeface="Cambria Math" panose="02040503050406030204" pitchFamily="18" charset="0"/>
                            <a:ea typeface="华文楷体" panose="02010600040101010101" charset="-122"/>
                            <a:cs typeface="Cambria Math" panose="02040503050406030204" charset="0"/>
                            <a:sym typeface="+mn-ea"/>
                          </a:rPr>
                        </m:ctrlPr>
                      </m:dPr>
                      <m:e>
                        <m:r>
                          <a:rPr lang="en-US" altLang="zh-CN" sz="2800" i="1">
                            <a:solidFill>
                              <a:srgbClr val="FF0000"/>
                            </a:solidFill>
                            <a:latin typeface="Cambria Math" panose="02040503050406030204" charset="0"/>
                            <a:ea typeface="华文楷体" panose="02010600040101010101" charset="-122"/>
                            <a:cs typeface="Cambria Math" panose="02040503050406030204" charset="0"/>
                            <a:sym typeface="+mn-ea"/>
                          </a:rPr>
                          <m:t>𝑒𝑥𝑝𝑟𝑒𝑠𝑠𝑖𝑜𝑛</m:t>
                        </m:r>
                      </m:e>
                    </m:d>
                  </m:oMath>
                </a14:m>
                <a:endParaRPr lang="en-US" altLang="x-none" sz="2800" dirty="0">
                  <a:solidFill>
                    <a:srgbClr val="1F2DA8"/>
                  </a:solidFill>
                  <a:latin typeface="Arial" panose="020B0604020202020204" pitchFamily="34" charset="0"/>
                  <a:ea typeface="华文楷体" panose="02010600040101010101" charset="-122"/>
                  <a:cs typeface="Arial" panose="020B0604020202020204" pitchFamily="34" charset="0"/>
                </a:endParaRPr>
              </a:p>
              <a:p>
                <a:pPr lvl="1" indent="-339090">
                  <a:lnSpc>
                    <a:spcPct val="100000"/>
                  </a:lnSpc>
                  <a:spcBef>
                    <a:spcPts val="1000"/>
                  </a:spcBef>
                  <a:spcAft>
                    <a:spcPts val="0"/>
                  </a:spcAft>
                  <a:buSzPct val="85000"/>
                  <a:buFont typeface="Wingdings" panose="05000000000000000000" charset="0"/>
                  <a:buChar char="Ø"/>
                </a:pPr>
                <a:r>
                  <a:rPr sz="2800">
                    <a:solidFill>
                      <a:srgbClr val="1F2DA8"/>
                    </a:solidFill>
                    <a:latin typeface="Arial" panose="020B0604020202020204" pitchFamily="34" charset="0"/>
                    <a:ea typeface="华文楷体" panose="02010600040101010101" charset="-122"/>
                    <a:cs typeface="Arial" panose="020B0604020202020204" pitchFamily="34" charset="0"/>
                    <a:sym typeface="+mn-ea"/>
                  </a:rPr>
                  <a:t>计算右边的关系代数表达式</a:t>
                </a:r>
                <a14:m>
                  <m:oMath xmlns:m="http://schemas.openxmlformats.org/officeDocument/2006/math">
                    <m:d>
                      <m:dPr>
                        <m:begChr m:val="〈"/>
                        <m:endChr m:val="〉"/>
                        <m:ctrlPr>
                          <a:rPr lang="en-US" altLang="zh-CN" i="1">
                            <a:solidFill>
                              <a:srgbClr val="1F2DA8"/>
                            </a:solidFill>
                            <a:latin typeface="Cambria Math" panose="02040503050406030204" pitchFamily="18" charset="0"/>
                            <a:ea typeface="华文楷体" panose="02010600040101010101" charset="-122"/>
                            <a:cs typeface="Cambria Math" panose="02040503050406030204" charset="0"/>
                            <a:sym typeface="+mn-ea"/>
                          </a:rPr>
                        </m:ctrlPr>
                      </m:dPr>
                      <m:e>
                        <m:r>
                          <a:rPr lang="en-US" altLang="zh-CN" i="1">
                            <a:solidFill>
                              <a:srgbClr val="1F2DA8"/>
                            </a:solidFill>
                            <a:latin typeface="Cambria Math" panose="02040503050406030204" charset="0"/>
                            <a:ea typeface="华文楷体" panose="02010600040101010101" charset="-122"/>
                            <a:cs typeface="Cambria Math" panose="02040503050406030204" charset="0"/>
                            <a:sym typeface="+mn-ea"/>
                          </a:rPr>
                          <m:t>𝑒𝑥𝑝𝑟𝑒𝑠𝑠𝑖𝑜𝑛</m:t>
                        </m:r>
                      </m:e>
                    </m:d>
                  </m:oMath>
                </a14:m>
                <a:r>
                  <a:rPr sz="2800">
                    <a:solidFill>
                      <a:srgbClr val="1F2DA8"/>
                    </a:solidFill>
                    <a:latin typeface="Arial" panose="020B0604020202020204" pitchFamily="34" charset="0"/>
                    <a:ea typeface="华文楷体" panose="02010600040101010101" charset="-122"/>
                    <a:cs typeface="Arial" panose="020B0604020202020204" pitchFamily="34" charset="0"/>
                    <a:sym typeface="+mn-ea"/>
                  </a:rPr>
                  <a:t>，并将其结果关系保存下来形成临时的</a:t>
                </a:r>
                <a:r>
                  <a:rPr lang="zh-CN" sz="2800">
                    <a:solidFill>
                      <a:srgbClr val="1F2DA8"/>
                    </a:solidFill>
                    <a:latin typeface="Arial" panose="020B0604020202020204" pitchFamily="34" charset="0"/>
                    <a:ea typeface="华文楷体" panose="02010600040101010101" charset="-122"/>
                    <a:cs typeface="Arial" panose="020B0604020202020204" pitchFamily="34" charset="0"/>
                    <a:sym typeface="+mn-ea"/>
                  </a:rPr>
                  <a:t>查询</a:t>
                </a:r>
                <a:r>
                  <a:rPr sz="2800">
                    <a:solidFill>
                      <a:srgbClr val="1F2DA8"/>
                    </a:solidFill>
                    <a:latin typeface="Arial" panose="020B0604020202020204" pitchFamily="34" charset="0"/>
                    <a:ea typeface="华文楷体" panose="02010600040101010101" charset="-122"/>
                    <a:cs typeface="Arial" panose="020B0604020202020204" pitchFamily="34" charset="0"/>
                    <a:sym typeface="+mn-ea"/>
                  </a:rPr>
                  <a:t>关系</a:t>
                </a:r>
                <a14:m>
                  <m:oMath xmlns:m="http://schemas.openxmlformats.org/officeDocument/2006/math">
                    <m:r>
                      <a:rPr lang="en-US" i="1">
                        <a:solidFill>
                          <a:srgbClr val="1F2DA8"/>
                        </a:solidFill>
                        <a:latin typeface="Cambria Math" panose="02040503050406030204" charset="0"/>
                        <a:ea typeface="华文楷体" panose="02010600040101010101" charset="-122"/>
                        <a:cs typeface="Cambria Math" panose="02040503050406030204" charset="0"/>
                        <a:sym typeface="+mn-ea"/>
                      </a:rPr>
                      <m:t>𝑅</m:t>
                    </m:r>
                  </m:oMath>
                </a14:m>
                <a:endParaRPr sz="2800">
                  <a:solidFill>
                    <a:srgbClr val="1F2DA8"/>
                  </a:solidFill>
                  <a:latin typeface="Arial" panose="020B0604020202020204" pitchFamily="34" charset="0"/>
                  <a:ea typeface="华文楷体" panose="02010600040101010101" charset="-122"/>
                  <a:cs typeface="Arial" panose="020B0604020202020204" pitchFamily="34" charset="0"/>
                  <a:sym typeface="+mn-ea"/>
                </a:endParaRPr>
              </a:p>
              <a:p>
                <a:pPr lvl="1" indent="-339090">
                  <a:lnSpc>
                    <a:spcPct val="100000"/>
                  </a:lnSpc>
                  <a:spcBef>
                    <a:spcPts val="1000"/>
                  </a:spcBef>
                  <a:spcAft>
                    <a:spcPts val="0"/>
                  </a:spcAft>
                  <a:buSzPct val="85000"/>
                  <a:buFont typeface="Wingdings" panose="05000000000000000000" charset="0"/>
                  <a:buChar char="Ø"/>
                </a:pPr>
                <a:r>
                  <a:rPr lang="zh-CN">
                    <a:solidFill>
                      <a:srgbClr val="1F2DA8"/>
                    </a:solidFill>
                    <a:latin typeface="Arial" panose="020B0604020202020204" pitchFamily="34" charset="0"/>
                    <a:ea typeface="华文楷体" panose="02010600040101010101" charset="-122"/>
                    <a:cs typeface="Arial" panose="020B0604020202020204" pitchFamily="34" charset="0"/>
                    <a:sym typeface="+mn-ea"/>
                  </a:rPr>
                  <a:t>查询</a:t>
                </a:r>
                <a:r>
                  <a:rPr sz="2800">
                    <a:solidFill>
                      <a:srgbClr val="1F2DA8"/>
                    </a:solidFill>
                    <a:latin typeface="Arial" panose="020B0604020202020204" pitchFamily="34" charset="0"/>
                    <a:ea typeface="华文楷体" panose="02010600040101010101" charset="-122"/>
                    <a:cs typeface="Arial" panose="020B0604020202020204" pitchFamily="34" charset="0"/>
                  </a:rPr>
                  <a:t>关系中的属性名，可以采用它们在右边表达式中的原</a:t>
                </a:r>
                <a:r>
                  <a:rPr lang="zh-CN" sz="2800">
                    <a:solidFill>
                      <a:srgbClr val="1F2DA8"/>
                    </a:solidFill>
                    <a:latin typeface="Arial" panose="020B0604020202020204" pitchFamily="34" charset="0"/>
                    <a:ea typeface="华文楷体" panose="02010600040101010101" charset="-122"/>
                    <a:cs typeface="Arial" panose="020B0604020202020204" pitchFamily="34" charset="0"/>
                  </a:rPr>
                  <a:t>属性</a:t>
                </a:r>
                <a:r>
                  <a:rPr sz="2800">
                    <a:solidFill>
                      <a:srgbClr val="1F2DA8"/>
                    </a:solidFill>
                    <a:latin typeface="Arial" panose="020B0604020202020204" pitchFamily="34" charset="0"/>
                    <a:ea typeface="华文楷体" panose="02010600040101010101" charset="-122"/>
                    <a:cs typeface="Arial" panose="020B0604020202020204" pitchFamily="34" charset="0"/>
                  </a:rPr>
                  <a:t>名，也可以</a:t>
                </a:r>
                <a:r>
                  <a:rPr lang="zh-CN" sz="2800">
                    <a:solidFill>
                      <a:srgbClr val="1F2DA8"/>
                    </a:solidFill>
                    <a:latin typeface="Arial" panose="020B0604020202020204" pitchFamily="34" charset="0"/>
                    <a:ea typeface="华文楷体" panose="02010600040101010101" charset="-122"/>
                    <a:cs typeface="Arial" panose="020B0604020202020204" pitchFamily="34" charset="0"/>
                  </a:rPr>
                  <a:t>对</a:t>
                </a:r>
                <a:r>
                  <a:rPr lang="zh-CN">
                    <a:latin typeface="Arial" panose="020B0604020202020204" pitchFamily="34" charset="0"/>
                    <a:ea typeface="华文楷体" panose="02010600040101010101" charset="-122"/>
                    <a:cs typeface="Arial" panose="020B0604020202020204" pitchFamily="34" charset="0"/>
                    <a:sym typeface="+mn-ea"/>
                  </a:rPr>
                  <a:t>查询</a:t>
                </a:r>
                <a:r>
                  <a:rPr sz="2800">
                    <a:solidFill>
                      <a:srgbClr val="1F2DA8"/>
                    </a:solidFill>
                    <a:latin typeface="Arial" panose="020B0604020202020204" pitchFamily="34" charset="0"/>
                    <a:ea typeface="华文楷体" panose="02010600040101010101" charset="-122"/>
                    <a:cs typeface="Arial" panose="020B0604020202020204" pitchFamily="34" charset="0"/>
                  </a:rPr>
                  <a:t>关系中</a:t>
                </a:r>
                <a:r>
                  <a:rPr lang="zh-CN" sz="2800">
                    <a:solidFill>
                      <a:srgbClr val="1F2DA8"/>
                    </a:solidFill>
                    <a:latin typeface="Arial" panose="020B0604020202020204" pitchFamily="34" charset="0"/>
                    <a:ea typeface="华文楷体" panose="02010600040101010101" charset="-122"/>
                    <a:cs typeface="Arial" panose="020B0604020202020204" pitchFamily="34" charset="0"/>
                  </a:rPr>
                  <a:t>的部分属性</a:t>
                </a:r>
                <a:r>
                  <a:rPr sz="2800">
                    <a:solidFill>
                      <a:srgbClr val="1F2DA8"/>
                    </a:solidFill>
                    <a:latin typeface="Arial" panose="020B0604020202020204" pitchFamily="34" charset="0"/>
                    <a:ea typeface="华文楷体" panose="02010600040101010101" charset="-122"/>
                    <a:cs typeface="Arial" panose="020B0604020202020204" pitchFamily="34" charset="0"/>
                  </a:rPr>
                  <a:t>进行重命名，但必须保证在</a:t>
                </a:r>
                <a:r>
                  <a:rPr lang="zh-CN">
                    <a:latin typeface="Arial" panose="020B0604020202020204" pitchFamily="34" charset="0"/>
                    <a:ea typeface="华文楷体" panose="02010600040101010101" charset="-122"/>
                    <a:cs typeface="Arial" panose="020B0604020202020204" pitchFamily="34" charset="0"/>
                    <a:sym typeface="+mn-ea"/>
                  </a:rPr>
                  <a:t>查询</a:t>
                </a:r>
                <a:r>
                  <a:rPr sz="2800">
                    <a:solidFill>
                      <a:srgbClr val="1F2DA8"/>
                    </a:solidFill>
                    <a:latin typeface="Arial" panose="020B0604020202020204" pitchFamily="34" charset="0"/>
                    <a:ea typeface="华文楷体" panose="02010600040101010101" charset="-122"/>
                    <a:cs typeface="Arial" panose="020B0604020202020204" pitchFamily="34" charset="0"/>
                  </a:rPr>
                  <a:t>关系</a:t>
                </a:r>
                <a14:m>
                  <m:oMath xmlns:m="http://schemas.openxmlformats.org/officeDocument/2006/math">
                    <m:r>
                      <a:rPr lang="en-US" i="1">
                        <a:solidFill>
                          <a:srgbClr val="1F2DA8"/>
                        </a:solidFill>
                        <a:latin typeface="Cambria Math" panose="02040503050406030204" charset="0"/>
                        <a:ea typeface="华文楷体" panose="02010600040101010101" charset="-122"/>
                        <a:cs typeface="Cambria Math" panose="02040503050406030204" charset="0"/>
                        <a:sym typeface="+mn-ea"/>
                      </a:rPr>
                      <m:t>𝑅</m:t>
                    </m:r>
                  </m:oMath>
                </a14:m>
                <a:r>
                  <a:rPr sz="2800">
                    <a:solidFill>
                      <a:srgbClr val="1F2DA8"/>
                    </a:solidFill>
                    <a:latin typeface="Arial" panose="020B0604020202020204" pitchFamily="34" charset="0"/>
                    <a:ea typeface="华文楷体" panose="02010600040101010101" charset="-122"/>
                    <a:cs typeface="Arial" panose="020B0604020202020204" pitchFamily="34" charset="0"/>
                  </a:rPr>
                  <a:t>中</a:t>
                </a:r>
                <a:r>
                  <a:rPr sz="2800">
                    <a:solidFill>
                      <a:srgbClr val="1F2DA8"/>
                    </a:solidFill>
                    <a:ea typeface="华文楷体" panose="02010600040101010101" charset="-122"/>
                    <a:cs typeface="Arial" panose="020B0604020202020204" pitchFamily="34" charset="0"/>
                    <a:sym typeface="+mn-ea"/>
                  </a:rPr>
                  <a:t>不会出现属性同名现象</a:t>
                </a:r>
                <a:r>
                  <a:rPr sz="2800">
                    <a:solidFill>
                      <a:srgbClr val="1F2DA8"/>
                    </a:solidFill>
                    <a:latin typeface="Arial" panose="020B0604020202020204" pitchFamily="34" charset="0"/>
                    <a:ea typeface="华文楷体" panose="02010600040101010101" charset="-122"/>
                    <a:cs typeface="Arial" panose="020B0604020202020204" pitchFamily="34" charset="0"/>
                  </a:rPr>
                  <a:t>。</a:t>
                </a:r>
              </a:p>
            </p:txBody>
          </p:sp>
        </mc:Choice>
        <mc:Fallback xmlns="">
          <p:sp>
            <p:nvSpPr>
              <p:cNvPr id="5" name="内容占位符 4"/>
              <p:cNvSpPr>
                <a:spLocks noRot="1" noChangeAspect="1" noMove="1" noResize="1" noEditPoints="1" noAdjustHandles="1" noChangeArrowheads="1" noChangeShapeType="1" noTextEdit="1"/>
              </p:cNvSpPr>
              <p:nvPr>
                <p:ph idx="1"/>
              </p:nvPr>
            </p:nvSpPr>
            <p:spPr>
              <a:xfrm>
                <a:off x="424180" y="687070"/>
                <a:ext cx="11343005" cy="2976245"/>
              </a:xfr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内容占位符 4"/>
              <p:cNvSpPr>
                <a:spLocks noGrp="1"/>
              </p:cNvSpPr>
              <p:nvPr/>
            </p:nvSpPr>
            <p:spPr>
              <a:xfrm>
                <a:off x="424815" y="3766820"/>
                <a:ext cx="11341735" cy="2523490"/>
              </a:xfrm>
              <a:prstGeom prst="rect">
                <a:avLst/>
              </a:prstGeom>
            </p:spPr>
            <p:txBody>
              <a:bodyPr vert="horz" wrap="square" lIns="67500" tIns="35100" rIns="67500" bIns="35100" rtlCol="0">
                <a:sp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6075" indent="-346075">
                  <a:lnSpc>
                    <a:spcPct val="110000"/>
                  </a:lnSpc>
                  <a:spcAft>
                    <a:spcPts val="0"/>
                  </a:spcAft>
                  <a:buClr>
                    <a:srgbClr val="C00000"/>
                  </a:buClr>
                  <a:buSzPct val="85000"/>
                  <a:buFont typeface="Wingdings" panose="05000000000000000000" charset="0"/>
                  <a:buChar char="q"/>
                </a:pPr>
                <a:r>
                  <a:rPr sz="2800" b="1">
                    <a:solidFill>
                      <a:srgbClr val="1F2DA8"/>
                    </a:solidFill>
                    <a:ea typeface="华文楷体" panose="02010600040101010101" charset="-122"/>
                    <a:cs typeface="Arial" panose="020B0604020202020204" pitchFamily="34" charset="0"/>
                    <a:sym typeface="+mn-ea"/>
                  </a:rPr>
                  <a:t>方式二：</a:t>
                </a:r>
                <a14:m>
                  <m:oMath xmlns:m="http://schemas.openxmlformats.org/officeDocument/2006/math">
                    <m:r>
                      <a:rPr lang="en-US" sz="2800" i="1">
                        <a:solidFill>
                          <a:srgbClr val="FF0000"/>
                        </a:solidFill>
                        <a:latin typeface="Cambria Math" panose="02040503050406030204" charset="0"/>
                        <a:ea typeface="华文楷体" panose="02010600040101010101" charset="-122"/>
                        <a:cs typeface="Cambria Math" panose="02040503050406030204" charset="0"/>
                        <a:sym typeface="+mn-ea"/>
                      </a:rPr>
                      <m:t>𝑅</m:t>
                    </m:r>
                    <m:r>
                      <a:rPr lang="en-US" sz="2800">
                        <a:solidFill>
                          <a:srgbClr val="FF0000"/>
                        </a:solidFill>
                        <a:latin typeface="Cambria Math" panose="02040503050406030204" charset="0"/>
                        <a:ea typeface="华文楷体" panose="02010600040101010101" charset="-122"/>
                        <a:cs typeface="Cambria Math" panose="02040503050406030204" charset="0"/>
                        <a:sym typeface="+mn-ea"/>
                      </a:rPr>
                      <m:t> </m:t>
                    </m:r>
                    <m:box>
                      <m:boxPr>
                        <m:noBreak m:val="on"/>
                        <m:ctrlPr>
                          <a:rPr lang="en-US" sz="2800" i="1">
                            <a:solidFill>
                              <a:srgbClr val="FF0000"/>
                            </a:solidFill>
                            <a:latin typeface="Cambria Math" panose="02040503050406030204" pitchFamily="18" charset="0"/>
                            <a:ea typeface="华文楷体" panose="02010600040101010101" charset="-122"/>
                            <a:cs typeface="Cambria Math" panose="02040503050406030204" charset="0"/>
                            <a:sym typeface="+mn-ea"/>
                          </a:rPr>
                        </m:ctrlPr>
                      </m:boxPr>
                      <m:e>
                        <m:r>
                          <a:rPr lang="en-US" sz="2800" i="1">
                            <a:solidFill>
                              <a:srgbClr val="FF0000"/>
                            </a:solidFill>
                            <a:latin typeface="Cambria Math" panose="02040503050406030204" charset="0"/>
                            <a:ea typeface="华文楷体" panose="02010600040101010101" charset="-122"/>
                            <a:cs typeface="Cambria Math" panose="02040503050406030204" charset="0"/>
                            <a:sym typeface="+mn-ea"/>
                          </a:rPr>
                          <m:t>∶=</m:t>
                        </m:r>
                      </m:e>
                    </m:box>
                    <m:r>
                      <a:rPr lang="en-US" altLang="zh-CN" sz="2800">
                        <a:solidFill>
                          <a:srgbClr val="FF0000"/>
                        </a:solidFill>
                        <a:latin typeface="Cambria Math" panose="02040503050406030204" charset="0"/>
                        <a:ea typeface="华文楷体" panose="02010600040101010101" charset="-122"/>
                        <a:cs typeface="Cambria Math" panose="02040503050406030204" charset="0"/>
                        <a:sym typeface="+mn-ea"/>
                      </a:rPr>
                      <m:t> </m:t>
                    </m:r>
                    <m:d>
                      <m:dPr>
                        <m:begChr m:val="〈"/>
                        <m:endChr m:val="〉"/>
                        <m:ctrlPr>
                          <a:rPr lang="en-US" altLang="zh-CN" sz="2800" i="1">
                            <a:solidFill>
                              <a:srgbClr val="FF0000"/>
                            </a:solidFill>
                            <a:latin typeface="Cambria Math" panose="02040503050406030204" pitchFamily="18" charset="0"/>
                            <a:ea typeface="华文楷体" panose="02010600040101010101" charset="-122"/>
                            <a:cs typeface="Cambria Math" panose="02040503050406030204" charset="0"/>
                            <a:sym typeface="+mn-ea"/>
                          </a:rPr>
                        </m:ctrlPr>
                      </m:dPr>
                      <m:e>
                        <m:r>
                          <a:rPr lang="en-US" altLang="zh-CN" sz="2800" i="1">
                            <a:solidFill>
                              <a:srgbClr val="FF0000"/>
                            </a:solidFill>
                            <a:latin typeface="Cambria Math" panose="02040503050406030204" charset="0"/>
                            <a:ea typeface="华文楷体" panose="02010600040101010101" charset="-122"/>
                            <a:cs typeface="Cambria Math" panose="02040503050406030204" charset="0"/>
                            <a:sym typeface="+mn-ea"/>
                          </a:rPr>
                          <m:t>𝑒𝑥𝑝𝑟𝑒𝑠𝑠𝑖𝑜𝑛</m:t>
                        </m:r>
                      </m:e>
                    </m:d>
                  </m:oMath>
                </a14:m>
                <a:endParaRPr lang="en-US" altLang="x-none" sz="2800" b="1" dirty="0">
                  <a:solidFill>
                    <a:srgbClr val="1F2DA8"/>
                  </a:solidFill>
                  <a:ea typeface="华文楷体" panose="02010600040101010101" charset="-122"/>
                  <a:cs typeface="Arial" panose="020B0604020202020204" pitchFamily="34" charset="0"/>
                </a:endParaRPr>
              </a:p>
              <a:p>
                <a:pPr lvl="1" indent="-339090">
                  <a:lnSpc>
                    <a:spcPct val="100000"/>
                  </a:lnSpc>
                  <a:spcBef>
                    <a:spcPts val="1000"/>
                  </a:spcBef>
                  <a:spcAft>
                    <a:spcPts val="0"/>
                  </a:spcAft>
                  <a:buClr>
                    <a:srgbClr val="C00000"/>
                  </a:buClr>
                  <a:buSzPct val="85000"/>
                  <a:buFont typeface="Wingdings" panose="05000000000000000000" charset="0"/>
                  <a:buChar char="Ø"/>
                </a:pPr>
                <a:r>
                  <a:rPr sz="2800" b="1">
                    <a:solidFill>
                      <a:srgbClr val="1F2DA8"/>
                    </a:solidFill>
                    <a:ea typeface="华文楷体" panose="02010600040101010101" charset="-122"/>
                    <a:cs typeface="Arial" panose="020B0604020202020204" pitchFamily="34" charset="0"/>
                    <a:sym typeface="+mn-ea"/>
                  </a:rPr>
                  <a:t>将右边的关系代数表达式</a:t>
                </a:r>
                <a14:m>
                  <m:oMath xmlns:m="http://schemas.openxmlformats.org/officeDocument/2006/math">
                    <m:d>
                      <m:dPr>
                        <m:begChr m:val="〈"/>
                        <m:endChr m:val="〉"/>
                        <m:ctrlPr>
                          <a:rPr lang="en-US" altLang="zh-CN" sz="2800" i="1">
                            <a:solidFill>
                              <a:srgbClr val="1F2DA8"/>
                            </a:solidFill>
                            <a:latin typeface="Cambria Math" panose="02040503050406030204" pitchFamily="18" charset="0"/>
                            <a:ea typeface="华文楷体" panose="02010600040101010101" charset="-122"/>
                            <a:cs typeface="Cambria Math" panose="02040503050406030204" charset="0"/>
                            <a:sym typeface="+mn-ea"/>
                          </a:rPr>
                        </m:ctrlPr>
                      </m:dPr>
                      <m:e>
                        <m:r>
                          <a:rPr lang="en-US" altLang="zh-CN" sz="2800" i="1">
                            <a:solidFill>
                              <a:srgbClr val="1F2DA8"/>
                            </a:solidFill>
                            <a:latin typeface="Cambria Math" panose="02040503050406030204" charset="0"/>
                            <a:ea typeface="华文楷体" panose="02010600040101010101" charset="-122"/>
                            <a:cs typeface="Cambria Math" panose="02040503050406030204" charset="0"/>
                            <a:sym typeface="+mn-ea"/>
                          </a:rPr>
                          <m:t>𝑒𝑥𝑝𝑟𝑒𝑠𝑠𝑖𝑜𝑛</m:t>
                        </m:r>
                      </m:e>
                    </m:d>
                  </m:oMath>
                </a14:m>
                <a:r>
                  <a:rPr sz="2800" b="1">
                    <a:solidFill>
                      <a:srgbClr val="1F2DA8"/>
                    </a:solidFill>
                    <a:ea typeface="华文楷体" panose="02010600040101010101" charset="-122"/>
                    <a:cs typeface="Arial" panose="020B0604020202020204" pitchFamily="34" charset="0"/>
                    <a:sym typeface="+mn-ea"/>
                  </a:rPr>
                  <a:t>的计算结果保存下来形成临时的</a:t>
                </a:r>
                <a:r>
                  <a:rPr sz="2800">
                    <a:solidFill>
                      <a:srgbClr val="1F2DA8"/>
                    </a:solidFill>
                    <a:ea typeface="华文楷体" panose="02010600040101010101" charset="-122"/>
                    <a:cs typeface="Arial" panose="020B0604020202020204" pitchFamily="34" charset="0"/>
                    <a:sym typeface="+mn-ea"/>
                  </a:rPr>
                  <a:t>查询</a:t>
                </a:r>
                <a:r>
                  <a:rPr sz="2800" b="1">
                    <a:solidFill>
                      <a:srgbClr val="1F2DA8"/>
                    </a:solidFill>
                    <a:ea typeface="华文楷体" panose="02010600040101010101" charset="-122"/>
                    <a:cs typeface="Arial" panose="020B0604020202020204" pitchFamily="34" charset="0"/>
                    <a:sym typeface="+mn-ea"/>
                  </a:rPr>
                  <a:t>关系</a:t>
                </a:r>
                <a14:m>
                  <m:oMath xmlns:m="http://schemas.openxmlformats.org/officeDocument/2006/math">
                    <m:r>
                      <a:rPr lang="en-US" sz="2800" i="1">
                        <a:solidFill>
                          <a:srgbClr val="1F2DA8"/>
                        </a:solidFill>
                        <a:latin typeface="Cambria Math" panose="02040503050406030204" charset="0"/>
                        <a:ea typeface="华文楷体" panose="02010600040101010101" charset="-122"/>
                        <a:cs typeface="Cambria Math" panose="02040503050406030204" charset="0"/>
                        <a:sym typeface="+mn-ea"/>
                      </a:rPr>
                      <m:t>𝑅</m:t>
                    </m:r>
                  </m:oMath>
                </a14:m>
                <a:endParaRPr sz="2800" b="1">
                  <a:solidFill>
                    <a:srgbClr val="1F2DA8"/>
                  </a:solidFill>
                  <a:ea typeface="华文楷体" panose="02010600040101010101" charset="-122"/>
                  <a:cs typeface="Arial" panose="020B0604020202020204" pitchFamily="34" charset="0"/>
                  <a:sym typeface="+mn-ea"/>
                </a:endParaRPr>
              </a:p>
              <a:p>
                <a:pPr lvl="1" indent="-339090">
                  <a:lnSpc>
                    <a:spcPct val="100000"/>
                  </a:lnSpc>
                  <a:spcBef>
                    <a:spcPts val="1000"/>
                  </a:spcBef>
                  <a:spcAft>
                    <a:spcPts val="0"/>
                  </a:spcAft>
                  <a:buClr>
                    <a:srgbClr val="C00000"/>
                  </a:buClr>
                  <a:buSzPct val="85000"/>
                  <a:buFont typeface="Wingdings" panose="05000000000000000000" charset="0"/>
                  <a:buChar char="Ø"/>
                </a:pPr>
                <a14:m>
                  <m:oMath xmlns:m="http://schemas.openxmlformats.org/officeDocument/2006/math">
                    <m:r>
                      <a:rPr lang="en-US" sz="2800" i="1">
                        <a:solidFill>
                          <a:srgbClr val="1F2DA8"/>
                        </a:solidFill>
                        <a:latin typeface="Cambria Math" panose="02040503050406030204" charset="0"/>
                        <a:ea typeface="华文楷体" panose="02010600040101010101" charset="-122"/>
                        <a:cs typeface="Cambria Math" panose="02040503050406030204" charset="0"/>
                        <a:sym typeface="+mn-ea"/>
                      </a:rPr>
                      <m:t>𝑅</m:t>
                    </m:r>
                  </m:oMath>
                </a14:m>
                <a:r>
                  <a:rPr sz="2800" b="1">
                    <a:solidFill>
                      <a:srgbClr val="1F2DA8"/>
                    </a:solidFill>
                    <a:ea typeface="华文楷体" panose="02010600040101010101" charset="-122"/>
                    <a:cs typeface="Arial" panose="020B0604020202020204" pitchFamily="34" charset="0"/>
                  </a:rPr>
                  <a:t>是</a:t>
                </a:r>
                <a:r>
                  <a:rPr sz="2800">
                    <a:solidFill>
                      <a:srgbClr val="1F2DA8"/>
                    </a:solidFill>
                    <a:ea typeface="华文楷体" panose="02010600040101010101" charset="-122"/>
                    <a:cs typeface="Arial" panose="020B0604020202020204" pitchFamily="34" charset="0"/>
                    <a:sym typeface="+mn-ea"/>
                  </a:rPr>
                  <a:t>查询</a:t>
                </a:r>
                <a:r>
                  <a:rPr sz="2800" b="1">
                    <a:solidFill>
                      <a:srgbClr val="1F2DA8"/>
                    </a:solidFill>
                    <a:ea typeface="华文楷体" panose="02010600040101010101" charset="-122"/>
                    <a:cs typeface="Arial" panose="020B0604020202020204" pitchFamily="34" charset="0"/>
                  </a:rPr>
                  <a:t>关系的关系名，</a:t>
                </a:r>
                <a:r>
                  <a:rPr sz="2800" b="1">
                    <a:solidFill>
                      <a:srgbClr val="1F2DA8"/>
                    </a:solidFill>
                    <a:ea typeface="华文楷体" panose="02010600040101010101" charset="-122"/>
                    <a:cs typeface="Arial" panose="020B0604020202020204" pitchFamily="34" charset="0"/>
                    <a:sym typeface="+mn-ea"/>
                  </a:rPr>
                  <a:t>其</a:t>
                </a:r>
                <a:r>
                  <a:rPr sz="2800" b="1">
                    <a:solidFill>
                      <a:srgbClr val="1F2DA8"/>
                    </a:solidFill>
                    <a:ea typeface="华文楷体" panose="02010600040101010101" charset="-122"/>
                    <a:cs typeface="Arial" panose="020B0604020202020204" pitchFamily="34" charset="0"/>
                  </a:rPr>
                  <a:t>属性名直接沿用它们在右边表达式中的原属性名，但必须保证在</a:t>
                </a:r>
                <a:r>
                  <a:rPr sz="2800">
                    <a:solidFill>
                      <a:srgbClr val="1F2DA8"/>
                    </a:solidFill>
                    <a:ea typeface="华文楷体" panose="02010600040101010101" charset="-122"/>
                    <a:cs typeface="Arial" panose="020B0604020202020204" pitchFamily="34" charset="0"/>
                    <a:sym typeface="+mn-ea"/>
                  </a:rPr>
                  <a:t>查询</a:t>
                </a:r>
                <a:r>
                  <a:rPr sz="2800" b="1">
                    <a:solidFill>
                      <a:srgbClr val="1F2DA8"/>
                    </a:solidFill>
                    <a:ea typeface="华文楷体" panose="02010600040101010101" charset="-122"/>
                    <a:cs typeface="Arial" panose="020B0604020202020204" pitchFamily="34" charset="0"/>
                  </a:rPr>
                  <a:t>关系</a:t>
                </a:r>
                <a14:m>
                  <m:oMath xmlns:m="http://schemas.openxmlformats.org/officeDocument/2006/math">
                    <m:r>
                      <a:rPr lang="en-US" sz="2800" i="1">
                        <a:solidFill>
                          <a:srgbClr val="1F2DA8"/>
                        </a:solidFill>
                        <a:latin typeface="Cambria Math" panose="02040503050406030204" charset="0"/>
                        <a:ea typeface="华文楷体" panose="02010600040101010101" charset="-122"/>
                        <a:cs typeface="Cambria Math" panose="02040503050406030204" charset="0"/>
                        <a:sym typeface="+mn-ea"/>
                      </a:rPr>
                      <m:t>𝑅</m:t>
                    </m:r>
                  </m:oMath>
                </a14:m>
                <a:r>
                  <a:rPr sz="2800" b="1">
                    <a:solidFill>
                      <a:srgbClr val="1F2DA8"/>
                    </a:solidFill>
                    <a:ea typeface="华文楷体" panose="02010600040101010101" charset="-122"/>
                    <a:cs typeface="Arial" panose="020B0604020202020204" pitchFamily="34" charset="0"/>
                  </a:rPr>
                  <a:t>中不会出现属性同名现象。</a:t>
                </a:r>
              </a:p>
            </p:txBody>
          </p:sp>
        </mc:Choice>
        <mc:Fallback xmlns="">
          <p:sp>
            <p:nvSpPr>
              <p:cNvPr id="2" name="内容占位符 4"/>
              <p:cNvSpPr>
                <a:spLocks noRot="1" noChangeAspect="1" noMove="1" noResize="1" noEditPoints="1" noAdjustHandles="1" noChangeArrowheads="1" noChangeShapeType="1" noTextEdit="1"/>
              </p:cNvSpPr>
              <p:nvPr/>
            </p:nvSpPr>
            <p:spPr>
              <a:xfrm>
                <a:off x="424815" y="3766820"/>
                <a:ext cx="11341735" cy="2523490"/>
              </a:xfrm>
              <a:prstGeom prst="rect">
                <a:avLst/>
              </a:prstGeom>
              <a:blipFill rotWithShape="1">
                <a:blip r:embed="rId4"/>
                <a:stretch>
                  <a:fillRect r="-1444"/>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en-US" altLang="x-none" strike="noStrike" noProof="1" dirty="0">
                <a:latin typeface="Times New Roman" panose="02020603050405020304" charset="0"/>
                <a:ea typeface="宋体" panose="02010600030101010101" pitchFamily="2" charset="-122"/>
                <a:cs typeface="+mn-ea"/>
              </a:rPr>
              <a:t>18</a:t>
            </a:fld>
            <a:endParaRPr lang="en-US" altLang="x-none" strike="noStrike" noProof="1"/>
          </a:p>
        </p:txBody>
      </p:sp>
      <p:sp>
        <p:nvSpPr>
          <p:cNvPr id="6" name="页脚占位符 5"/>
          <p:cNvSpPr>
            <a:spLocks noGrp="1"/>
          </p:cNvSpPr>
          <p:nvPr>
            <p:ph type="ftr" sz="quarter" idx="11"/>
          </p:nvPr>
        </p:nvSpPr>
        <p:spPr/>
        <p:txBody>
          <a:bodyPr/>
          <a:lstStyle/>
          <a:p>
            <a:r>
              <a:rPr lang="zh-CN" altLang="en-US"/>
              <a:t>ch02_2_关系代数基本运算</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b="1">
                <a:sym typeface="+mn-ea"/>
              </a:rPr>
              <a:t>赋值运算的用途</a:t>
            </a:r>
            <a:endParaRPr lang="zh-CN" altLang="en-US" b="1"/>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lnSpc>
                    <a:spcPct val="100000"/>
                  </a:lnSpc>
                </a:pPr>
                <a:r>
                  <a:rPr>
                    <a:latin typeface="Arial" panose="020B0604020202020204" pitchFamily="34" charset="0"/>
                    <a:ea typeface="华文楷体" panose="02010600040101010101" charset="-122"/>
                    <a:cs typeface="Arial" panose="020B0604020202020204" pitchFamily="34" charset="0"/>
                    <a:sym typeface="+mn-ea"/>
                  </a:rPr>
                  <a:t>对一个关系及关系中的属性进行重命名 </a:t>
                </a:r>
                <a:r>
                  <a:rPr lang="en-US" altLang="zh-CN">
                    <a:latin typeface="Arial" panose="020B0604020202020204" pitchFamily="34" charset="0"/>
                    <a:ea typeface="华文楷体" panose="02010600040101010101" charset="-122"/>
                    <a:cs typeface="Arial" panose="020B0604020202020204" pitchFamily="34" charset="0"/>
                    <a:sym typeface="+mn-ea"/>
                  </a:rPr>
                  <a:t>(alias)</a:t>
                </a:r>
                <a:r>
                  <a:rPr>
                    <a:latin typeface="Arial" panose="020B0604020202020204" pitchFamily="34" charset="0"/>
                    <a:ea typeface="华文楷体" panose="02010600040101010101" charset="-122"/>
                    <a:cs typeface="Arial" panose="020B0604020202020204" pitchFamily="34" charset="0"/>
                    <a:sym typeface="+mn-ea"/>
                  </a:rPr>
                  <a:t>，以</a:t>
                </a:r>
                <a:r>
                  <a:rPr lang="zh-CN">
                    <a:latin typeface="Arial" panose="020B0604020202020204" pitchFamily="34" charset="0"/>
                    <a:ea typeface="华文楷体" panose="02010600040101010101" charset="-122"/>
                    <a:cs typeface="Arial" panose="020B0604020202020204" pitchFamily="34" charset="0"/>
                    <a:sym typeface="+mn-ea"/>
                  </a:rPr>
                  <a:t>方便</a:t>
                </a:r>
                <a:r>
                  <a:rPr lang="en-US" altLang="zh-CN">
                    <a:latin typeface="Arial" panose="020B0604020202020204" pitchFamily="34" charset="0"/>
                    <a:ea typeface="华文楷体" panose="02010600040101010101" charset="-122"/>
                    <a:cs typeface="Arial" panose="020B0604020202020204" pitchFamily="34" charset="0"/>
                    <a:sym typeface="+mn-ea"/>
                  </a:rPr>
                  <a:t>‘</a:t>
                </a:r>
                <a:r>
                  <a:rPr>
                    <a:latin typeface="Arial" panose="020B0604020202020204" pitchFamily="34" charset="0"/>
                    <a:ea typeface="华文楷体" panose="02010600040101010101" charset="-122"/>
                    <a:cs typeface="Arial" panose="020B0604020202020204" pitchFamily="34" charset="0"/>
                    <a:sym typeface="+mn-ea"/>
                  </a:rPr>
                  <a:t>关系的自联接</a:t>
                </a:r>
                <a:r>
                  <a:rPr lang="en-US" altLang="zh-CN">
                    <a:latin typeface="Arial" panose="020B0604020202020204" pitchFamily="34" charset="0"/>
                    <a:ea typeface="华文楷体" panose="02010600040101010101" charset="-122"/>
                    <a:cs typeface="Arial" panose="020B0604020202020204" pitchFamily="34" charset="0"/>
                    <a:sym typeface="+mn-ea"/>
                  </a:rPr>
                  <a:t>’</a:t>
                </a:r>
                <a:r>
                  <a:rPr>
                    <a:latin typeface="Arial" panose="020B0604020202020204" pitchFamily="34" charset="0"/>
                    <a:ea typeface="华文楷体" panose="02010600040101010101" charset="-122"/>
                    <a:cs typeface="Arial" panose="020B0604020202020204" pitchFamily="34" charset="0"/>
                    <a:sym typeface="+mn-ea"/>
                  </a:rPr>
                  <a:t>或者复杂查询的表示</a:t>
                </a:r>
                <a:r>
                  <a:rPr lang="zh-CN">
                    <a:latin typeface="Arial" panose="020B0604020202020204" pitchFamily="34" charset="0"/>
                    <a:ea typeface="华文楷体" panose="02010600040101010101" charset="-122"/>
                    <a:cs typeface="Arial" panose="020B0604020202020204" pitchFamily="34" charset="0"/>
                    <a:sym typeface="+mn-ea"/>
                  </a:rPr>
                  <a:t>。</a:t>
                </a:r>
              </a:p>
              <a:p>
                <a:pPr>
                  <a:lnSpc>
                    <a:spcPct val="100000"/>
                  </a:lnSpc>
                  <a:spcBef>
                    <a:spcPct val="40000"/>
                  </a:spcBef>
                  <a:buFont typeface="Wingdings" panose="05000000000000000000" charset="0"/>
                  <a:buChar char="q"/>
                </a:pPr>
                <a:r>
                  <a:rPr lang="zh-CN" altLang="en-US" sz="3000" dirty="0">
                    <a:solidFill>
                      <a:srgbClr val="1F2DA8"/>
                    </a:solidFill>
                    <a:cs typeface="+mn-lt"/>
                    <a:sym typeface="+mn-ea"/>
                  </a:rPr>
                  <a:t>表的赋值：</a:t>
                </a:r>
                <a14:m>
                  <m:oMath xmlns:m="http://schemas.openxmlformats.org/officeDocument/2006/math">
                    <m:r>
                      <a:rPr lang="en-US" altLang="x-none" sz="3000" i="1" dirty="0">
                        <a:solidFill>
                          <a:srgbClr val="FF0000"/>
                        </a:solidFill>
                        <a:latin typeface="Cambria Math" panose="02040503050406030204" charset="0"/>
                        <a:cs typeface="Cambria Math" panose="02040503050406030204" charset="0"/>
                        <a:sym typeface="+mn-ea"/>
                      </a:rPr>
                      <m:t>𝑆</m:t>
                    </m:r>
                    <m:r>
                      <a:rPr lang="en-US" altLang="x-none" sz="3000" dirty="0">
                        <a:solidFill>
                          <a:srgbClr val="FF0000"/>
                        </a:solidFill>
                        <a:latin typeface="Cambria Math" panose="02040503050406030204" charset="0"/>
                        <a:cs typeface="Cambria Math" panose="02040503050406030204" charset="0"/>
                        <a:sym typeface="+mn-ea"/>
                      </a:rPr>
                      <m:t> </m:t>
                    </m:r>
                    <m:box>
                      <m:boxPr>
                        <m:noBreak m:val="on"/>
                        <m:ctrlPr>
                          <a:rPr lang="en-US" altLang="x-none" sz="3000" i="1" dirty="0">
                            <a:solidFill>
                              <a:srgbClr val="FF0000"/>
                            </a:solidFill>
                            <a:latin typeface="Cambria Math" panose="02040503050406030204" pitchFamily="18" charset="0"/>
                            <a:cs typeface="Cambria Math" panose="02040503050406030204" charset="0"/>
                            <a:sym typeface="+mn-ea"/>
                          </a:rPr>
                        </m:ctrlPr>
                      </m:boxPr>
                      <m:e>
                        <m:r>
                          <a:rPr lang="en-US" altLang="x-none" sz="3000" i="1" dirty="0">
                            <a:solidFill>
                              <a:srgbClr val="FF0000"/>
                            </a:solidFill>
                            <a:latin typeface="Cambria Math" panose="02040503050406030204" charset="0"/>
                            <a:cs typeface="Cambria Math" panose="02040503050406030204" charset="0"/>
                            <a:sym typeface="+mn-ea"/>
                          </a:rPr>
                          <m:t>∶=</m:t>
                        </m:r>
                      </m:e>
                    </m:box>
                    <m:r>
                      <a:rPr lang="en-US" altLang="x-none" sz="3000" i="1" dirty="0">
                        <a:solidFill>
                          <a:srgbClr val="FF0000"/>
                        </a:solidFill>
                        <a:latin typeface="Cambria Math" panose="02040503050406030204" charset="0"/>
                        <a:cs typeface="Cambria Math" panose="02040503050406030204" charset="0"/>
                        <a:sym typeface="+mn-ea"/>
                      </a:rPr>
                      <m:t> </m:t>
                    </m:r>
                    <m:r>
                      <a:rPr lang="en-US" altLang="x-none" sz="3000" i="1" dirty="0">
                        <a:solidFill>
                          <a:srgbClr val="FF0000"/>
                        </a:solidFill>
                        <a:latin typeface="Cambria Math" panose="02040503050406030204" charset="0"/>
                        <a:cs typeface="Cambria Math" panose="02040503050406030204" charset="0"/>
                        <a:sym typeface="+mn-ea"/>
                      </a:rPr>
                      <m:t>𝑅</m:t>
                    </m:r>
                  </m:oMath>
                </a14:m>
                <a:endParaRPr lang="en-US" altLang="x-none" sz="3000" dirty="0">
                  <a:solidFill>
                    <a:srgbClr val="1F2DA8"/>
                  </a:solidFill>
                  <a:ea typeface="楷体" panose="02010609060101010101" charset="-122"/>
                  <a:cs typeface="+mn-lt"/>
                </a:endParaRPr>
              </a:p>
              <a:p>
                <a:pPr marL="802005" lvl="2" indent="-342900">
                  <a:lnSpc>
                    <a:spcPct val="100000"/>
                  </a:lnSpc>
                  <a:spcBef>
                    <a:spcPts val="40"/>
                  </a:spcBef>
                  <a:spcAft>
                    <a:spcPts val="1000"/>
                  </a:spcAft>
                  <a:buFont typeface="Wingdings" panose="05000000000000000000" charset="0"/>
                  <a:buChar char="Ø"/>
                </a:pPr>
                <a:r>
                  <a:rPr lang="zh-CN" altLang="en-US" sz="2800" dirty="0">
                    <a:solidFill>
                      <a:srgbClr val="1F2DA8"/>
                    </a:solidFill>
                    <a:cs typeface="+mn-lt"/>
                    <a:sym typeface="+mn-ea"/>
                  </a:rPr>
                  <a:t>简</a:t>
                </a:r>
                <a:r>
                  <a:rPr lang="zh-CN" altLang="en-US" sz="2800" dirty="0">
                    <a:solidFill>
                      <a:srgbClr val="1F2DA8"/>
                    </a:solidFill>
                    <a:latin typeface="Times New Roman" panose="02020603050405020304" charset="0"/>
                    <a:cs typeface="Times New Roman" panose="02020603050405020304" charset="0"/>
                    <a:sym typeface="+mn-ea"/>
                  </a:rPr>
                  <a:t>单的</a:t>
                </a:r>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dirty="0">
                    <a:solidFill>
                      <a:srgbClr val="1F2DA8"/>
                    </a:solidFill>
                    <a:latin typeface="Times New Roman" panose="02020603050405020304" charset="0"/>
                    <a:cs typeface="Times New Roman" panose="02020603050405020304" charset="0"/>
                    <a:sym typeface="+mn-ea"/>
                  </a:rPr>
                  <a:t>表的赋值</a:t>
                </a:r>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dirty="0">
                    <a:solidFill>
                      <a:srgbClr val="1F2DA8"/>
                    </a:solidFill>
                    <a:latin typeface="Times New Roman" panose="02020603050405020304" charset="0"/>
                    <a:cs typeface="Times New Roman" panose="02020603050405020304" charset="0"/>
                    <a:sym typeface="+mn-ea"/>
                  </a:rPr>
                  <a:t>操作，可用于为关系</a:t>
                </a:r>
                <a14:m>
                  <m:oMath xmlns:m="http://schemas.openxmlformats.org/officeDocument/2006/math">
                    <m:r>
                      <a:rPr lang="en-US" altLang="zh-CN" sz="2800" i="1" dirty="0">
                        <a:solidFill>
                          <a:srgbClr val="1F2DA8"/>
                        </a:solidFill>
                        <a:latin typeface="Cambria Math" panose="02040503050406030204" charset="0"/>
                        <a:cs typeface="Cambria Math" panose="02040503050406030204" charset="0"/>
                        <a:sym typeface="+mn-ea"/>
                      </a:rPr>
                      <m:t>𝑅</m:t>
                    </m:r>
                  </m:oMath>
                </a14:m>
                <a:r>
                  <a:rPr lang="zh-CN" altLang="en-US" sz="2800" dirty="0">
                    <a:solidFill>
                      <a:srgbClr val="1F2DA8"/>
                    </a:solidFill>
                    <a:latin typeface="Times New Roman" panose="02020603050405020304" charset="0"/>
                    <a:cs typeface="Times New Roman" panose="02020603050405020304" charset="0"/>
                    <a:sym typeface="+mn-ea"/>
                  </a:rPr>
                  <a:t>另起一个别名 </a:t>
                </a:r>
                <a:r>
                  <a:rPr lang="en-US" altLang="zh-CN" sz="2800" dirty="0">
                    <a:solidFill>
                      <a:srgbClr val="1F2DA8"/>
                    </a:solidFill>
                    <a:latin typeface="Times New Roman" panose="02020603050405020304" charset="0"/>
                    <a:cs typeface="Times New Roman" panose="02020603050405020304" charset="0"/>
                    <a:sym typeface="+mn-ea"/>
                  </a:rPr>
                  <a:t>(alias)</a:t>
                </a:r>
                <a:r>
                  <a:rPr lang="zh-CN" altLang="en-US" sz="2800" dirty="0">
                    <a:solidFill>
                      <a:srgbClr val="1F2DA8"/>
                    </a:solidFill>
                    <a:latin typeface="Times New Roman" panose="02020603050405020304" charset="0"/>
                    <a:cs typeface="Times New Roman" panose="02020603050405020304" charset="0"/>
                    <a:sym typeface="+mn-ea"/>
                  </a:rPr>
                  <a:t>，或者理解为：定义了一个与关系</a:t>
                </a:r>
                <a14:m>
                  <m:oMath xmlns:m="http://schemas.openxmlformats.org/officeDocument/2006/math">
                    <m:r>
                      <a:rPr lang="en-US" altLang="zh-CN" i="1" dirty="0">
                        <a:solidFill>
                          <a:srgbClr val="1F2DA8"/>
                        </a:solidFill>
                        <a:latin typeface="Cambria Math" panose="02040503050406030204" charset="0"/>
                        <a:cs typeface="Cambria Math" panose="02040503050406030204" charset="0"/>
                        <a:sym typeface="+mn-ea"/>
                      </a:rPr>
                      <m:t>𝑅</m:t>
                    </m:r>
                    <m:r>
                      <a:rPr lang="en-US" altLang="zh-CN" i="1" dirty="0">
                        <a:solidFill>
                          <a:srgbClr val="1F2DA8"/>
                        </a:solidFill>
                        <a:latin typeface="Cambria Math" panose="02040503050406030204" charset="0"/>
                        <a:cs typeface="Cambria Math" panose="02040503050406030204" charset="0"/>
                        <a:sym typeface="+mn-ea"/>
                      </a:rPr>
                      <m:t> </m:t>
                    </m:r>
                  </m:oMath>
                </a14:m>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dirty="0">
                    <a:solidFill>
                      <a:srgbClr val="1F2DA8"/>
                    </a:solidFill>
                    <a:latin typeface="Times New Roman" panose="02020603050405020304" charset="0"/>
                    <a:cs typeface="Times New Roman" panose="02020603050405020304" charset="0"/>
                    <a:sym typeface="+mn-ea"/>
                  </a:rPr>
                  <a:t>完全相同</a:t>
                </a:r>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dirty="0">
                    <a:solidFill>
                      <a:srgbClr val="1F2DA8"/>
                    </a:solidFill>
                    <a:latin typeface="Times New Roman" panose="02020603050405020304" charset="0"/>
                    <a:cs typeface="Times New Roman" panose="02020603050405020304" charset="0"/>
                    <a:sym typeface="+mn-ea"/>
                  </a:rPr>
                  <a:t>的中间关系</a:t>
                </a:r>
                <a14:m>
                  <m:oMath xmlns:m="http://schemas.openxmlformats.org/officeDocument/2006/math">
                    <m:r>
                      <a:rPr lang="en-US" altLang="zh-CN" sz="2800" i="1" dirty="0">
                        <a:solidFill>
                          <a:srgbClr val="1F2DA8"/>
                        </a:solidFill>
                        <a:latin typeface="Cambria Math" panose="02040503050406030204" charset="0"/>
                        <a:cs typeface="Cambria Math" panose="02040503050406030204" charset="0"/>
                        <a:sym typeface="+mn-ea"/>
                      </a:rPr>
                      <m:t>𝑆</m:t>
                    </m:r>
                  </m:oMath>
                </a14:m>
                <a:r>
                  <a:rPr lang="zh-CN" altLang="en-US" sz="2800" dirty="0">
                    <a:solidFill>
                      <a:srgbClr val="1F2DA8"/>
                    </a:solidFill>
                    <a:latin typeface="Times New Roman" panose="02020603050405020304" charset="0"/>
                    <a:cs typeface="Times New Roman" panose="02020603050405020304" charset="0"/>
                    <a:sym typeface="+mn-ea"/>
                  </a:rPr>
                  <a:t>（</a:t>
                </a:r>
                <a:r>
                  <a:rPr lang="zh-CN" altLang="en-US" sz="2800" u="sng" dirty="0">
                    <a:solidFill>
                      <a:srgbClr val="C00000"/>
                    </a:solidFill>
                    <a:latin typeface="Times New Roman" panose="02020603050405020304" charset="0"/>
                    <a:cs typeface="Times New Roman" panose="02020603050405020304" charset="0"/>
                    <a:sym typeface="+mn-ea"/>
                  </a:rPr>
                  <a:t>关系名不同，但具有相同的关系模式和元组集合</a:t>
                </a:r>
                <a:r>
                  <a:rPr lang="zh-CN" altLang="en-US" sz="2800" dirty="0">
                    <a:solidFill>
                      <a:srgbClr val="1F2DA8"/>
                    </a:solidFill>
                    <a:latin typeface="Times New Roman" panose="02020603050405020304" charset="0"/>
                    <a:cs typeface="Times New Roman" panose="02020603050405020304" charset="0"/>
                    <a:sym typeface="+mn-ea"/>
                  </a:rPr>
                  <a:t>）</a:t>
                </a:r>
                <a:endParaRPr lang="zh-CN" altLang="en-US" sz="2800" dirty="0">
                  <a:solidFill>
                    <a:srgbClr val="1F2DA8"/>
                  </a:solidFill>
                  <a:latin typeface="Times New Roman" panose="02020603050405020304" charset="0"/>
                  <a:ea typeface="楷体" panose="02010609060101010101" charset="-122"/>
                  <a:cs typeface="Times New Roman" panose="02020603050405020304" charset="0"/>
                </a:endParaRPr>
              </a:p>
              <a:p>
                <a:pPr marL="802005" lvl="2" indent="-342900">
                  <a:lnSpc>
                    <a:spcPct val="100000"/>
                  </a:lnSpc>
                  <a:spcBef>
                    <a:spcPts val="40"/>
                  </a:spcBef>
                  <a:spcAft>
                    <a:spcPts val="1000"/>
                  </a:spcAft>
                  <a:buFont typeface="Wingdings" panose="05000000000000000000" charset="0"/>
                  <a:buChar char="Ø"/>
                </a:pPr>
                <a:r>
                  <a:rPr lang="zh-CN" altLang="en-US" sz="2800" dirty="0">
                    <a:solidFill>
                      <a:srgbClr val="1F2DA8"/>
                    </a:solidFill>
                    <a:latin typeface="Times New Roman" panose="02020603050405020304" charset="0"/>
                    <a:cs typeface="Times New Roman" panose="02020603050405020304" charset="0"/>
                    <a:sym typeface="+mn-ea"/>
                  </a:rPr>
                  <a:t>也可以在赋值表达式中，对生成的中间关系</a:t>
                </a:r>
                <a14:m>
                  <m:oMath xmlns:m="http://schemas.openxmlformats.org/officeDocument/2006/math">
                    <m:r>
                      <a:rPr lang="en-US" altLang="zh-CN" i="1" dirty="0">
                        <a:solidFill>
                          <a:srgbClr val="1F2DA8"/>
                        </a:solidFill>
                        <a:latin typeface="Cambria Math" panose="02040503050406030204" charset="0"/>
                        <a:cs typeface="Cambria Math" panose="02040503050406030204" charset="0"/>
                        <a:sym typeface="+mn-ea"/>
                      </a:rPr>
                      <m:t>𝑆</m:t>
                    </m:r>
                  </m:oMath>
                </a14:m>
                <a:r>
                  <a:rPr lang="zh-CN" altLang="en-US" sz="2800" dirty="0">
                    <a:solidFill>
                      <a:srgbClr val="1F2DA8"/>
                    </a:solidFill>
                    <a:latin typeface="Times New Roman" panose="02020603050405020304" charset="0"/>
                    <a:cs typeface="Times New Roman" panose="02020603050405020304" charset="0"/>
                    <a:sym typeface="+mn-ea"/>
                  </a:rPr>
                  <a:t>中的属性进行重命名（类似于前一页的</a:t>
                </a:r>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dirty="0">
                    <a:solidFill>
                      <a:srgbClr val="1F2DA8"/>
                    </a:solidFill>
                    <a:latin typeface="Times New Roman" panose="02020603050405020304" charset="0"/>
                    <a:cs typeface="Times New Roman" panose="02020603050405020304" charset="0"/>
                    <a:sym typeface="+mn-ea"/>
                  </a:rPr>
                  <a:t>方式一</a:t>
                </a:r>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dirty="0">
                    <a:solidFill>
                      <a:srgbClr val="1F2DA8"/>
                    </a:solidFill>
                    <a:latin typeface="Times New Roman" panose="02020603050405020304" charset="0"/>
                    <a:cs typeface="Times New Roman" panose="02020603050405020304" charset="0"/>
                    <a:sym typeface="+mn-ea"/>
                  </a:rPr>
                  <a:t>）</a:t>
                </a:r>
                <a:endParaRPr lang="zh-CN" altLang="en-US" sz="2800" dirty="0">
                  <a:solidFill>
                    <a:srgbClr val="1F2DA8"/>
                  </a:solidFill>
                  <a:latin typeface="Times New Roman" panose="02020603050405020304" charset="0"/>
                  <a:ea typeface="楷体" panose="02010609060101010101" charset="-122"/>
                  <a:cs typeface="Times New Roman" panose="02020603050405020304" charset="0"/>
                </a:endParaRPr>
              </a:p>
              <a:p>
                <a:pPr marL="802005" lvl="2" indent="-342900">
                  <a:lnSpc>
                    <a:spcPct val="100000"/>
                  </a:lnSpc>
                  <a:spcBef>
                    <a:spcPts val="40"/>
                  </a:spcBef>
                  <a:spcAft>
                    <a:spcPts val="1000"/>
                  </a:spcAft>
                  <a:buFont typeface="Wingdings" panose="05000000000000000000" charset="0"/>
                  <a:buChar char="Ø"/>
                </a:pPr>
                <a:r>
                  <a:rPr lang="zh-CN" altLang="en-US" sz="2800" dirty="0">
                    <a:solidFill>
                      <a:srgbClr val="1F2DA8"/>
                    </a:solidFill>
                    <a:latin typeface="Times New Roman" panose="02020603050405020304" charset="0"/>
                    <a:cs typeface="Times New Roman" panose="02020603050405020304" charset="0"/>
                    <a:sym typeface="+mn-ea"/>
                  </a:rPr>
                  <a:t>通常用于</a:t>
                </a:r>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u="sng" dirty="0">
                    <a:solidFill>
                      <a:srgbClr val="C00000"/>
                    </a:solidFill>
                    <a:latin typeface="Times New Roman" panose="02020603050405020304" charset="0"/>
                    <a:cs typeface="Times New Roman" panose="02020603050405020304" charset="0"/>
                    <a:sym typeface="+mn-ea"/>
                  </a:rPr>
                  <a:t>关系自联接</a:t>
                </a:r>
                <a:r>
                  <a:rPr lang="en-US" altLang="zh-CN" sz="2800" dirty="0">
                    <a:solidFill>
                      <a:srgbClr val="1F2DA8"/>
                    </a:solidFill>
                    <a:latin typeface="Times New Roman" panose="02020603050405020304" charset="0"/>
                    <a:cs typeface="Times New Roman" panose="02020603050405020304" charset="0"/>
                    <a:sym typeface="+mn-ea"/>
                  </a:rPr>
                  <a:t>’</a:t>
                </a:r>
                <a:r>
                  <a:rPr lang="zh-CN" altLang="en-US" sz="2800" dirty="0">
                    <a:solidFill>
                      <a:srgbClr val="1F2DA8"/>
                    </a:solidFill>
                    <a:latin typeface="Times New Roman" panose="02020603050405020304" charset="0"/>
                    <a:cs typeface="Times New Roman" panose="02020603050405020304" charset="0"/>
                    <a:sym typeface="+mn-ea"/>
                  </a:rPr>
                  <a:t>的表示，或者有目的地对关系中的某些属性进行重命名！</a:t>
                </a:r>
              </a:p>
              <a:p>
                <a:pPr marL="322580" lvl="0" indent="-322580" defTabSz="914400">
                  <a:lnSpc>
                    <a:spcPct val="100000"/>
                  </a:lnSpc>
                  <a:spcBef>
                    <a:spcPts val="40"/>
                  </a:spcBef>
                  <a:spcAft>
                    <a:spcPts val="1000"/>
                  </a:spcAft>
                  <a:tabLst>
                    <a:tab pos="447675" algn="l"/>
                  </a:tabLst>
                </a:pPr>
                <a:r>
                  <a:rPr lang="zh-CN" altLang="en-US" dirty="0">
                    <a:solidFill>
                      <a:srgbClr val="1F2DA8"/>
                    </a:solidFill>
                    <a:latin typeface="+mn-lt"/>
                    <a:cs typeface="+mn-lt"/>
                    <a:sym typeface="+mn-ea"/>
                  </a:rPr>
                  <a:t>赋值运算也可以用来保存计算的</a:t>
                </a:r>
                <a:r>
                  <a:rPr lang="en-US" altLang="zh-CN" dirty="0">
                    <a:solidFill>
                      <a:srgbClr val="1F2DA8"/>
                    </a:solidFill>
                    <a:latin typeface="+mn-lt"/>
                    <a:cs typeface="+mn-lt"/>
                    <a:sym typeface="+mn-ea"/>
                  </a:rPr>
                  <a:t>‘</a:t>
                </a:r>
                <a:r>
                  <a:rPr lang="zh-CN" altLang="en-US" u="sng" dirty="0">
                    <a:solidFill>
                      <a:srgbClr val="1F2DA8"/>
                    </a:solidFill>
                    <a:latin typeface="+mn-lt"/>
                    <a:cs typeface="+mn-lt"/>
                    <a:sym typeface="+mn-ea"/>
                  </a:rPr>
                  <a:t>中间结果</a:t>
                </a:r>
                <a:r>
                  <a:rPr lang="en-US" altLang="zh-CN" dirty="0">
                    <a:solidFill>
                      <a:srgbClr val="1F2DA8"/>
                    </a:solidFill>
                    <a:latin typeface="+mn-lt"/>
                    <a:cs typeface="+mn-lt"/>
                    <a:sym typeface="+mn-ea"/>
                  </a:rPr>
                  <a:t>’</a:t>
                </a:r>
                <a:r>
                  <a:rPr lang="zh-CN" altLang="en-US" dirty="0">
                    <a:solidFill>
                      <a:srgbClr val="1F2DA8"/>
                    </a:solidFill>
                    <a:latin typeface="+mn-lt"/>
                    <a:cs typeface="+mn-lt"/>
                    <a:sym typeface="+mn-ea"/>
                  </a:rPr>
                  <a:t>，方便某些复杂查询的表示。</a:t>
                </a:r>
                <a:endParaRPr lang="zh-CN" altLang="en-US" sz="3000" dirty="0">
                  <a:solidFill>
                    <a:srgbClr val="1F2DA8"/>
                  </a:solidFill>
                  <a:latin typeface="+mn-lt"/>
                  <a:cs typeface="+mn-lt"/>
                  <a:sym typeface="+mn-ea"/>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3"/>
                <a:stretch>
                  <a:fillRect b="-86"/>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a:xfrm>
            <a:off x="11461115" y="6696000"/>
            <a:ext cx="730885" cy="153670"/>
          </a:xfrm>
        </p:spPr>
        <p:txBody>
          <a:bodyPr/>
          <a:lstStyle/>
          <a:p>
            <a:pPr lvl="0" eaLnBrk="1" fontAlgn="base" hangingPunct="1"/>
            <a:fld id="{9A0DB2DC-4C9A-4742-B13C-FB6460FD3503}" type="slidenum">
              <a:rPr lang="en-US" altLang="x-none" strike="noStrike" noProof="1" dirty="0">
                <a:latin typeface="Times New Roman" panose="02020603050405020304" charset="0"/>
                <a:ea typeface="宋体" panose="02010600030101010101" pitchFamily="2" charset="-122"/>
                <a:cs typeface="+mn-ea"/>
              </a:rPr>
              <a:t>19</a:t>
            </a:fld>
            <a:endParaRPr lang="en-US" altLang="x-none" strike="noStrike" noProof="1"/>
          </a:p>
        </p:txBody>
      </p:sp>
      <p:sp>
        <p:nvSpPr>
          <p:cNvPr id="4" name="页脚占位符 3"/>
          <p:cNvSpPr>
            <a:spLocks noGrp="1"/>
          </p:cNvSpPr>
          <p:nvPr>
            <p:ph type="ftr" sz="quarter" idx="11"/>
          </p:nvPr>
        </p:nvSpPr>
        <p:spPr/>
        <p:txBody>
          <a:bodyPr/>
          <a:lstStyle/>
          <a:p>
            <a:r>
              <a:rPr lang="zh-CN" altLang="en-US"/>
              <a:t>ch02_2_关系代数基本运算</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算术比较运算</a:t>
            </a:r>
            <a:r>
              <a:rPr lang="en-US" altLang="zh-CN"/>
              <a:t> </a:t>
            </a:r>
            <a:r>
              <a:rPr lang="zh-CN" altLang="en-US"/>
              <a:t>与</a:t>
            </a:r>
            <a:r>
              <a:rPr lang="en-US" altLang="zh-CN"/>
              <a:t> </a:t>
            </a:r>
            <a:r>
              <a:rPr lang="zh-CN" altLang="en-US"/>
              <a:t>逻辑运算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fontAlgn="auto">
                  <a:lnSpc>
                    <a:spcPct val="100000"/>
                  </a:lnSpc>
                  <a:spcBef>
                    <a:spcPts val="1000"/>
                  </a:spcBef>
                </a:pPr>
                <a:r>
                  <a:rPr lang="zh-CN" altLang="en-US" sz="2800">
                    <a:solidFill>
                      <a:srgbClr val="C00000"/>
                    </a:solidFill>
                  </a:rPr>
                  <a:t>算术比较运算</a:t>
                </a:r>
                <a:endParaRPr lang="zh-CN" altLang="en-US" sz="2800"/>
              </a:p>
              <a:p>
                <a:pPr lvl="1" algn="l" fontAlgn="auto">
                  <a:lnSpc>
                    <a:spcPct val="100000"/>
                  </a:lnSpc>
                  <a:spcBef>
                    <a:spcPts val="1000"/>
                  </a:spcBef>
                </a:pPr>
                <a:r>
                  <a:rPr lang="zh-CN" altLang="zh-CN" sz="2800" dirty="0">
                    <a:sym typeface="+mn-ea"/>
                  </a:rPr>
                  <a:t>大于＞</a:t>
                </a:r>
                <a:r>
                  <a:rPr lang="en-US" altLang="zh-CN" sz="2800" dirty="0">
                    <a:sym typeface="+mn-ea"/>
                  </a:rPr>
                  <a:t>,</a:t>
                </a:r>
                <a:r>
                  <a:rPr lang="zh-CN" altLang="en-US" sz="2800" dirty="0">
                    <a:sym typeface="+mn-ea"/>
                  </a:rPr>
                  <a:t>大于等于</a:t>
                </a:r>
                <a:r>
                  <a:rPr lang="zh-CN" altLang="zh-CN" sz="2800" dirty="0">
                    <a:sym typeface="+mn-ea"/>
                  </a:rPr>
                  <a:t>≥</a:t>
                </a:r>
                <a:r>
                  <a:rPr lang="en-US" altLang="zh-CN" sz="2800" dirty="0">
                    <a:sym typeface="+mn-ea"/>
                  </a:rPr>
                  <a:t>,</a:t>
                </a:r>
                <a:r>
                  <a:rPr lang="zh-CN" altLang="en-US" sz="2800" dirty="0">
                    <a:sym typeface="+mn-ea"/>
                  </a:rPr>
                  <a:t>小于</a:t>
                </a:r>
                <a:r>
                  <a:rPr lang="zh-CN" altLang="zh-CN" sz="2800" dirty="0">
                    <a:sym typeface="+mn-ea"/>
                  </a:rPr>
                  <a:t>＜</a:t>
                </a:r>
                <a:r>
                  <a:rPr lang="en-US" altLang="zh-CN" sz="2800" dirty="0">
                    <a:sym typeface="+mn-ea"/>
                  </a:rPr>
                  <a:t>,</a:t>
                </a:r>
                <a:r>
                  <a:rPr lang="zh-CN" altLang="en-US" sz="2800" dirty="0">
                    <a:sym typeface="+mn-ea"/>
                  </a:rPr>
                  <a:t>小于等于</a:t>
                </a:r>
                <a:r>
                  <a:rPr lang="zh-CN" altLang="zh-CN" sz="2800" dirty="0">
                    <a:sym typeface="+mn-ea"/>
                  </a:rPr>
                  <a:t>≤</a:t>
                </a:r>
                <a:r>
                  <a:rPr lang="en-US" altLang="zh-CN" sz="2800" dirty="0">
                    <a:sym typeface="+mn-ea"/>
                  </a:rPr>
                  <a:t>,</a:t>
                </a:r>
                <a:r>
                  <a:rPr lang="zh-CN" altLang="en-US" sz="2800" dirty="0">
                    <a:sym typeface="+mn-ea"/>
                  </a:rPr>
                  <a:t>等于</a:t>
                </a:r>
                <a:r>
                  <a:rPr lang="zh-CN" altLang="zh-CN" sz="2800" dirty="0">
                    <a:sym typeface="+mn-ea"/>
                  </a:rPr>
                  <a:t>＝</a:t>
                </a:r>
                <a:r>
                  <a:rPr lang="en-US" sz="2800" dirty="0">
                    <a:sym typeface="+mn-ea"/>
                  </a:rPr>
                  <a:t>,</a:t>
                </a:r>
                <a:r>
                  <a:rPr lang="zh-CN" altLang="en-US" sz="2800" dirty="0">
                    <a:sym typeface="+mn-ea"/>
                  </a:rPr>
                  <a:t>不等于</a:t>
                </a:r>
                <a14:m>
                  <m:oMath xmlns:m="http://schemas.openxmlformats.org/officeDocument/2006/math">
                    <m:r>
                      <a:rPr lang="en-US" altLang="zh-CN" sz="2800" dirty="0">
                        <a:latin typeface="Cambria Math" panose="02040503050406030204" charset="0"/>
                        <a:cs typeface="Cambria Math" panose="02040503050406030204" charset="0"/>
                        <a:sym typeface="+mn-ea"/>
                      </a:rPr>
                      <m:t>&lt;&gt;</m:t>
                    </m:r>
                  </m:oMath>
                </a14:m>
                <a:endParaRPr lang="en-US" altLang="zh-CN" sz="2800" dirty="0">
                  <a:sym typeface="+mn-ea"/>
                </a:endParaRPr>
              </a:p>
              <a:p>
                <a:pPr lvl="1" algn="l" fontAlgn="auto">
                  <a:lnSpc>
                    <a:spcPct val="100000"/>
                  </a:lnSpc>
                  <a:spcBef>
                    <a:spcPts val="1000"/>
                  </a:spcBef>
                </a:pPr>
                <a:r>
                  <a:rPr lang="zh-CN" altLang="en-US" sz="2800" dirty="0">
                    <a:latin typeface="Times New Roman" panose="02020603050405020304" charset="0"/>
                    <a:cs typeface="Times New Roman" panose="02020603050405020304" charset="0"/>
                    <a:sym typeface="+mn-ea"/>
                  </a:rPr>
                  <a:t>也可以用</a:t>
                </a:r>
                <a14:m>
                  <m:oMath xmlns:m="http://schemas.openxmlformats.org/officeDocument/2006/math">
                    <m:r>
                      <a:rPr lang="en-US" altLang="zh-CN" sz="2800" b="1" i="1" dirty="0">
                        <a:latin typeface="Cambria Math" panose="02040503050406030204" charset="0"/>
                        <a:ea typeface="MS Mincho" charset="0"/>
                        <a:cs typeface="Cambria Math" panose="02040503050406030204" charset="0"/>
                      </a:rPr>
                      <m:t>≠</m:t>
                    </m:r>
                  </m:oMath>
                </a14:m>
                <a:r>
                  <a:rPr lang="zh-CN" altLang="en-US" sz="2800" dirty="0">
                    <a:latin typeface="Times New Roman" panose="02020603050405020304" charset="0"/>
                    <a:cs typeface="Times New Roman" panose="02020603050405020304" charset="0"/>
                    <a:sym typeface="+mn-ea"/>
                  </a:rPr>
                  <a:t>来表示不等比较</a:t>
                </a:r>
                <a:r>
                  <a:rPr lang="en-US" altLang="zh-CN" sz="2800" dirty="0">
                    <a:latin typeface="Times New Roman" panose="02020603050405020304" charset="0"/>
                    <a:cs typeface="Times New Roman" panose="02020603050405020304" charset="0"/>
                    <a:sym typeface="+mn-ea"/>
                  </a:rPr>
                  <a:t> </a:t>
                </a:r>
                <a14:m>
                  <m:oMath xmlns:m="http://schemas.openxmlformats.org/officeDocument/2006/math">
                    <m:r>
                      <a:rPr lang="en-US" altLang="zh-CN" sz="2800" dirty="0">
                        <a:latin typeface="Cambria Math" panose="02040503050406030204" charset="0"/>
                        <a:cs typeface="Cambria Math" panose="02040503050406030204" charset="0"/>
                        <a:sym typeface="+mn-ea"/>
                      </a:rPr>
                      <m:t>&lt;&gt;</m:t>
                    </m:r>
                  </m:oMath>
                </a14:m>
                <a:endParaRPr lang="zh-CN" altLang="en-US" sz="2800"/>
              </a:p>
              <a:p>
                <a:pPr fontAlgn="auto">
                  <a:lnSpc>
                    <a:spcPct val="100000"/>
                  </a:lnSpc>
                  <a:spcBef>
                    <a:spcPts val="1000"/>
                  </a:spcBef>
                </a:pPr>
                <a:endParaRPr lang="zh-CN" altLang="en-US" sz="2800"/>
              </a:p>
              <a:p>
                <a:pPr fontAlgn="auto">
                  <a:lnSpc>
                    <a:spcPct val="100000"/>
                  </a:lnSpc>
                  <a:spcBef>
                    <a:spcPts val="1000"/>
                  </a:spcBef>
                </a:pPr>
                <a:r>
                  <a:rPr lang="zh-CN" altLang="en-US" sz="2800">
                    <a:solidFill>
                      <a:srgbClr val="C00000"/>
                    </a:solidFill>
                  </a:rPr>
                  <a:t>逻辑运算</a:t>
                </a:r>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4"/>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t>ch02_2_关系代数基本运算</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20</a:t>
            </a:fld>
            <a:endParaRPr lang="zh-CN" altLang="en-US"/>
          </a:p>
        </p:txBody>
      </p:sp>
      <mc:AlternateContent xmlns:mc="http://schemas.openxmlformats.org/markup-compatibility/2006" xmlns:a14="http://schemas.microsoft.com/office/drawing/2010/main">
        <mc:Choice Requires="a14">
          <p:graphicFrame>
            <p:nvGraphicFramePr>
              <p:cNvPr id="6" name="表格 5"/>
              <p:cNvGraphicFramePr/>
              <p:nvPr>
                <p:custDataLst>
                  <p:tags r:id="rId2"/>
                </p:custDataLst>
              </p:nvPr>
            </p:nvGraphicFramePr>
            <p:xfrm>
              <a:off x="424180" y="3603625"/>
              <a:ext cx="11407139" cy="2354580"/>
            </p:xfrm>
            <a:graphic>
              <a:graphicData uri="http://schemas.openxmlformats.org/drawingml/2006/table">
                <a:tbl>
                  <a:tblPr firstRow="1" bandRow="1">
                    <a:tableStyleId>{5C22544A-7EE6-4342-B048-85BDC9FD1C3A}</a:tableStyleId>
                  </a:tblPr>
                  <a:tblGrid>
                    <a:gridCol w="2170218">
                      <a:extLst>
                        <a:ext uri="{9D8B030D-6E8A-4147-A177-3AD203B41FA5}">
                          <a16:colId xmlns:a16="http://schemas.microsoft.com/office/drawing/2014/main" val="20000"/>
                        </a:ext>
                      </a:extLst>
                    </a:gridCol>
                    <a:gridCol w="2170218">
                      <a:extLst>
                        <a:ext uri="{9D8B030D-6E8A-4147-A177-3AD203B41FA5}">
                          <a16:colId xmlns:a16="http://schemas.microsoft.com/office/drawing/2014/main" val="20001"/>
                        </a:ext>
                      </a:extLst>
                    </a:gridCol>
                    <a:gridCol w="2170218">
                      <a:extLst>
                        <a:ext uri="{9D8B030D-6E8A-4147-A177-3AD203B41FA5}">
                          <a16:colId xmlns:a16="http://schemas.microsoft.com/office/drawing/2014/main" val="20002"/>
                        </a:ext>
                      </a:extLst>
                    </a:gridCol>
                    <a:gridCol w="4896485">
                      <a:extLst>
                        <a:ext uri="{9D8B030D-6E8A-4147-A177-3AD203B41FA5}">
                          <a16:colId xmlns:a16="http://schemas.microsoft.com/office/drawing/2014/main" val="20003"/>
                        </a:ext>
                      </a:extLst>
                    </a:gridCol>
                  </a:tblGrid>
                  <a:tr h="588645">
                    <a:tc>
                      <a:txBody>
                        <a:bodyPr/>
                        <a:lstStyle/>
                        <a:p>
                          <a:pPr algn="ctr">
                            <a:buNone/>
                          </a:pPr>
                          <a:r>
                            <a:rPr lang="zh-CN" altLang="en-US" sz="2800" b="1">
                              <a:solidFill>
                                <a:schemeClr val="tx1"/>
                              </a:solidFill>
                              <a:latin typeface="楷体" panose="02010609060101010101" charset="-122"/>
                              <a:ea typeface="楷体" panose="02010609060101010101" charset="-122"/>
                            </a:rPr>
                            <a:t>逻辑运算</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lstStyle/>
                        <a:p>
                          <a:pPr algn="ctr">
                            <a:buNone/>
                          </a:pPr>
                          <a:r>
                            <a:rPr lang="zh-CN" altLang="en-US" sz="2800" b="1">
                              <a:solidFill>
                                <a:schemeClr val="tx1"/>
                              </a:solidFill>
                              <a:latin typeface="楷体" panose="02010609060101010101" charset="-122"/>
                              <a:ea typeface="楷体" panose="02010609060101010101" charset="-122"/>
                            </a:rPr>
                            <a:t>运算符</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lstStyle/>
                        <a:p>
                          <a:pPr algn="ctr">
                            <a:buNone/>
                          </a:pPr>
                          <a:r>
                            <a:rPr lang="zh-CN" altLang="en-US" sz="2800" b="1">
                              <a:solidFill>
                                <a:schemeClr val="tx1"/>
                              </a:solidFill>
                              <a:latin typeface="楷体" panose="02010609060101010101" charset="-122"/>
                              <a:ea typeface="楷体" panose="02010609060101010101" charset="-122"/>
                            </a:rPr>
                            <a:t>操作符</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lstStyle/>
                        <a:p>
                          <a:pPr algn="ctr">
                            <a:buNone/>
                          </a:pPr>
                          <a:r>
                            <a:rPr lang="zh-CN" altLang="en-US" sz="2800" b="1">
                              <a:solidFill>
                                <a:schemeClr val="tx1"/>
                              </a:solidFill>
                              <a:latin typeface="楷体" panose="02010609060101010101" charset="-122"/>
                              <a:ea typeface="楷体" panose="02010609060101010101" charset="-122"/>
                            </a:rPr>
                            <a:t>示例</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extLst>
                      <a:ext uri="{0D108BD9-81ED-4DB2-BD59-A6C34878D82A}">
                        <a16:rowId xmlns:a16="http://schemas.microsoft.com/office/drawing/2014/main" val="10000"/>
                      </a:ext>
                    </a:extLst>
                  </a:tr>
                  <a:tr h="588645">
                    <a:tc>
                      <a:txBody>
                        <a:bodyPr/>
                        <a:lstStyle/>
                        <a:p>
                          <a:pPr algn="ctr">
                            <a:buNone/>
                          </a:pPr>
                          <a:r>
                            <a:rPr lang="zh-CN" altLang="en-US" sz="2800" b="1">
                              <a:solidFill>
                                <a:schemeClr val="tx1"/>
                              </a:solidFill>
                              <a:latin typeface="楷体" panose="02010609060101010101" charset="-122"/>
                              <a:ea typeface="楷体" panose="02010609060101010101" charset="-122"/>
                            </a:rPr>
                            <a:t>与</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a:solidFill>
                                      <a:srgbClr val="FF0000"/>
                                    </a:solidFill>
                                    <a:latin typeface="Cambria Math" panose="02040503050406030204" charset="0"/>
                                    <a:ea typeface="MS Mincho" charset="0"/>
                                    <a:cs typeface="Cambria Math" panose="02040503050406030204" charset="0"/>
                                  </a:rPr>
                                  <m:t>⋀</m:t>
                                </m:r>
                              </m:oMath>
                            </m:oMathPara>
                          </a14:m>
                          <a:endParaRPr lang="en-US" altLang="zh-CN" sz="2800" b="1">
                            <a:solidFill>
                              <a:srgbClr val="FF0000"/>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ea typeface="楷体" panose="02010609060101010101" charset="-122"/>
                                    <a:cs typeface="Cambria Math" panose="02040503050406030204" charset="0"/>
                                  </a:rPr>
                                  <m:t>𝒂𝒏𝒅</m:t>
                                </m:r>
                              </m:oMath>
                            </m:oMathPara>
                          </a14:m>
                          <a:endParaRPr lang="en-US" altLang="zh-CN" sz="2800" b="1" i="1">
                            <a:solidFill>
                              <a:srgbClr val="FF0000"/>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 xmlns:m="http://schemas.openxmlformats.org/officeDocument/2006/math">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𝟏</m:t>
                                  </m:r>
                                </m:sub>
                              </m:sSub>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r>
                                <a:rPr lang="en-US" altLang="zh-CN" sz="2800" b="1" i="1">
                                  <a:solidFill>
                                    <a:srgbClr val="FF0000"/>
                                  </a:solidFill>
                                  <a:latin typeface="Cambria Math" panose="02040503050406030204" charset="0"/>
                                  <a:ea typeface="楷体" panose="02010609060101010101" charset="-122"/>
                                  <a:cs typeface="Cambria Math" panose="02040503050406030204" charset="0"/>
                                </a:rPr>
                                <m:t>⋀</m:t>
                              </m:r>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𝟐</m:t>
                                  </m:r>
                                </m:sub>
                              </m:sSub>
                            </m:oMath>
                          </a14:m>
                          <a:r>
                            <a:rPr lang="en-US" altLang="zh-CN" sz="2800" b="1">
                              <a:solidFill>
                                <a:schemeClr val="tx1"/>
                              </a:solidFill>
                              <a:latin typeface="楷体" panose="02010609060101010101" charset="-122"/>
                              <a:ea typeface="楷体" panose="02010609060101010101" charset="-122"/>
                            </a:rPr>
                            <a:t> ,  </a:t>
                          </a:r>
                          <a14:m>
                            <m:oMath xmlns:m="http://schemas.openxmlformats.org/officeDocument/2006/math">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𝟏</m:t>
                                  </m:r>
                                </m:sub>
                              </m:sSub>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r>
                                <a:rPr lang="en-US" altLang="zh-CN" sz="2800" b="1" i="1">
                                  <a:solidFill>
                                    <a:srgbClr val="FF0000"/>
                                  </a:solidFill>
                                  <a:latin typeface="Cambria Math" panose="02040503050406030204" charset="0"/>
                                  <a:ea typeface="楷体" panose="02010609060101010101" charset="-122"/>
                                  <a:cs typeface="Cambria Math" panose="02040503050406030204" charset="0"/>
                                </a:rPr>
                                <m:t>𝒂𝒏𝒅</m:t>
                              </m:r>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𝟐</m:t>
                                  </m:r>
                                </m:sub>
                              </m:sSub>
                            </m:oMath>
                          </a14:m>
                          <a:endParaRPr lang="en-US" altLang="zh-CN" sz="2800" b="1">
                            <a:solidFill>
                              <a:schemeClr val="tx1"/>
                            </a:solidFill>
                            <a:latin typeface="楷体" panose="02010609060101010101" charset="-122"/>
                            <a:ea typeface="楷体" panose="02010609060101010101" charset="-122"/>
                          </a:endParaRPr>
                        </a:p>
                      </a:txBody>
                      <a:tcPr marL="2520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588645">
                    <a:tc>
                      <a:txBody>
                        <a:bodyPr/>
                        <a:lstStyle/>
                        <a:p>
                          <a:pPr algn="ctr">
                            <a:buNone/>
                          </a:pPr>
                          <a:r>
                            <a:rPr lang="zh-CN" altLang="en-US" sz="2800" b="1">
                              <a:solidFill>
                                <a:schemeClr val="tx1"/>
                              </a:solidFill>
                              <a:latin typeface="楷体" panose="02010609060101010101" charset="-122"/>
                              <a:ea typeface="楷体" panose="02010609060101010101" charset="-122"/>
                            </a:rPr>
                            <a:t>或</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a:solidFill>
                                      <a:srgbClr val="FF0000"/>
                                    </a:solidFill>
                                    <a:latin typeface="Cambria Math" panose="02040503050406030204" charset="0"/>
                                    <a:ea typeface="MS Mincho" charset="0"/>
                                    <a:cs typeface="Cambria Math" panose="02040503050406030204" charset="0"/>
                                  </a:rPr>
                                  <m:t>⋁</m:t>
                                </m:r>
                              </m:oMath>
                            </m:oMathPara>
                          </a14:m>
                          <a:endParaRPr lang="en-US" altLang="zh-CN" sz="2800" b="1">
                            <a:solidFill>
                              <a:srgbClr val="FF0000"/>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ea typeface="楷体" panose="02010609060101010101" charset="-122"/>
                                    <a:cs typeface="Cambria Math" panose="02040503050406030204" charset="0"/>
                                  </a:rPr>
                                  <m:t>𝒐𝒓</m:t>
                                </m:r>
                              </m:oMath>
                            </m:oMathPara>
                          </a14:m>
                          <a:endParaRPr lang="en-US" altLang="zh-CN" sz="2800" b="1" i="1">
                            <a:solidFill>
                              <a:srgbClr val="FF0000"/>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 xmlns:m="http://schemas.openxmlformats.org/officeDocument/2006/math">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𝟏</m:t>
                                  </m:r>
                                </m:sub>
                              </m:sSub>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r>
                                <a:rPr lang="en-US" altLang="zh-CN" sz="2800" b="1" i="1">
                                  <a:solidFill>
                                    <a:srgbClr val="FF0000"/>
                                  </a:solidFill>
                                  <a:latin typeface="Cambria Math" panose="02040503050406030204" charset="0"/>
                                  <a:ea typeface="楷体" panose="02010609060101010101" charset="-122"/>
                                  <a:cs typeface="Cambria Math" panose="02040503050406030204" charset="0"/>
                                </a:rPr>
                                <m:t>⋁</m:t>
                              </m:r>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𝟐</m:t>
                                  </m:r>
                                </m:sub>
                              </m:sSub>
                            </m:oMath>
                          </a14:m>
                          <a:r>
                            <a:rPr lang="en-US" altLang="zh-CN" sz="2800" b="1">
                              <a:solidFill>
                                <a:schemeClr val="tx1"/>
                              </a:solidFill>
                              <a:latin typeface="楷体" panose="02010609060101010101" charset="-122"/>
                              <a:ea typeface="楷体" panose="02010609060101010101" charset="-122"/>
                              <a:sym typeface="+mn-ea"/>
                            </a:rPr>
                            <a:t> ,  </a:t>
                          </a:r>
                          <a14:m>
                            <m:oMath xmlns:m="http://schemas.openxmlformats.org/officeDocument/2006/math">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𝟏</m:t>
                                  </m:r>
                                </m:sub>
                              </m:sSub>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r>
                                <a:rPr lang="en-US" altLang="zh-CN" sz="2800" b="1" i="1">
                                  <a:solidFill>
                                    <a:srgbClr val="FF0000"/>
                                  </a:solidFill>
                                  <a:latin typeface="Cambria Math" panose="02040503050406030204" charset="0"/>
                                  <a:ea typeface="楷体" panose="02010609060101010101" charset="-122"/>
                                  <a:cs typeface="Cambria Math" panose="02040503050406030204" charset="0"/>
                                </a:rPr>
                                <m:t>𝒐𝒓</m:t>
                              </m:r>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sSub>
                                <m:sSubPr>
                                  <m:ctrlPr>
                                    <a:rPr lang="en-US" altLang="zh-CN" sz="2800" b="1" i="1">
                                      <a:solidFill>
                                        <a:schemeClr val="tx1"/>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e>
                                <m:sub>
                                  <m:r>
                                    <a:rPr lang="en-US" altLang="zh-CN" sz="2800" b="1" i="1">
                                      <a:solidFill>
                                        <a:schemeClr val="tx1"/>
                                      </a:solidFill>
                                      <a:latin typeface="Cambria Math" panose="02040503050406030204" charset="0"/>
                                      <a:ea typeface="楷体" panose="02010609060101010101" charset="-122"/>
                                      <a:cs typeface="Cambria Math" panose="02040503050406030204" charset="0"/>
                                    </a:rPr>
                                    <m:t>𝟐</m:t>
                                  </m:r>
                                </m:sub>
                              </m:sSub>
                            </m:oMath>
                          </a14:m>
                          <a:endParaRPr lang="en-US" altLang="zh-CN" sz="2800" b="1">
                            <a:solidFill>
                              <a:schemeClr val="tx1"/>
                            </a:solidFill>
                            <a:latin typeface="楷体" panose="02010609060101010101" charset="-122"/>
                            <a:ea typeface="楷体" panose="02010609060101010101" charset="-122"/>
                          </a:endParaRPr>
                        </a:p>
                      </a:txBody>
                      <a:tcPr marL="2520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588645">
                    <a:tc>
                      <a:txBody>
                        <a:bodyPr/>
                        <a:lstStyle/>
                        <a:p>
                          <a:pPr algn="ctr">
                            <a:buNone/>
                          </a:pPr>
                          <a:r>
                            <a:rPr lang="zh-CN" altLang="en-US" sz="2800" b="1">
                              <a:solidFill>
                                <a:schemeClr val="tx1"/>
                              </a:solidFill>
                              <a:latin typeface="楷体" panose="02010609060101010101" charset="-122"/>
                              <a:ea typeface="楷体" panose="02010609060101010101" charset="-122"/>
                            </a:rPr>
                            <a:t>非</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ea typeface="MS Mincho" charset="0"/>
                                    <a:cs typeface="Cambria Math" panose="02040503050406030204" charset="0"/>
                                  </a:rPr>
                                  <m:t>¬</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ea typeface="楷体" panose="02010609060101010101" charset="-122"/>
                                    <a:cs typeface="Cambria Math" panose="02040503050406030204" charset="0"/>
                                  </a:rPr>
                                  <m:t>𝒏𝒐𝒕</m:t>
                                </m:r>
                              </m:oMath>
                            </m:oMathPara>
                          </a14:m>
                          <a:endParaRPr lang="en-US" altLang="zh-CN" sz="2800" b="1" i="1">
                            <a:solidFill>
                              <a:srgbClr val="FF0000"/>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 xmlns:m="http://schemas.openxmlformats.org/officeDocument/2006/math">
                              <m:r>
                                <a:rPr lang="en-US" altLang="zh-CN" sz="2800" b="1" i="1">
                                  <a:solidFill>
                                    <a:srgbClr val="FF0000"/>
                                  </a:solidFill>
                                  <a:latin typeface="Cambria Math" panose="02040503050406030204" charset="0"/>
                                  <a:ea typeface="微软雅黑" panose="020B0503020204020204" charset="-122"/>
                                  <a:cs typeface="Cambria Math" panose="02040503050406030204" charset="0"/>
                                  <a:sym typeface="+mn-ea"/>
                                </a:rPr>
                                <m:t>¬</m:t>
                              </m:r>
                              <m:r>
                                <a:rPr lang="en-US" altLang="zh-CN" sz="2800" b="1" i="1">
                                  <a:solidFill>
                                    <a:schemeClr val="tx1"/>
                                  </a:solidFill>
                                  <a:latin typeface="Cambria Math" panose="02040503050406030204" charset="0"/>
                                  <a:ea typeface="微软雅黑" panose="020B0503020204020204" charset="-122"/>
                                  <a:cs typeface="Cambria Math" panose="02040503050406030204" charset="0"/>
                                  <a:sym typeface="+mn-ea"/>
                                </a:rPr>
                                <m:t> </m:t>
                              </m:r>
                              <m:r>
                                <a:rPr lang="en-US" altLang="zh-CN" sz="2800" b="1" i="1">
                                  <a:solidFill>
                                    <a:schemeClr val="tx1"/>
                                  </a:solidFill>
                                  <a:latin typeface="Cambria Math" panose="02040503050406030204" charset="0"/>
                                  <a:ea typeface="楷体" panose="02010609060101010101" charset="-122"/>
                                  <a:cs typeface="Cambria Math" panose="02040503050406030204" charset="0"/>
                                  <a:sym typeface="+mn-ea"/>
                                </a:rPr>
                                <m:t>𝑭</m:t>
                              </m:r>
                            </m:oMath>
                          </a14:m>
                          <a:r>
                            <a:rPr lang="en-US" altLang="zh-CN" sz="2800" b="1">
                              <a:solidFill>
                                <a:schemeClr val="tx1"/>
                              </a:solidFill>
                              <a:latin typeface="楷体" panose="02010609060101010101" charset="-122"/>
                              <a:ea typeface="楷体" panose="02010609060101010101" charset="-122"/>
                              <a:sym typeface="+mn-ea"/>
                            </a:rPr>
                            <a:t> ,  </a:t>
                          </a:r>
                          <a14:m>
                            <m:oMath xmlns:m="http://schemas.openxmlformats.org/officeDocument/2006/math">
                              <m:r>
                                <a:rPr lang="en-US" altLang="zh-CN" sz="2800" b="1" i="1">
                                  <a:solidFill>
                                    <a:srgbClr val="FF0000"/>
                                  </a:solidFill>
                                  <a:latin typeface="Cambria Math" panose="02040503050406030204" charset="0"/>
                                  <a:ea typeface="楷体" panose="02010609060101010101" charset="-122"/>
                                  <a:cs typeface="Cambria Math" panose="02040503050406030204" charset="0"/>
                                </a:rPr>
                                <m:t>𝒏𝒐𝒕</m:t>
                              </m:r>
                              <m:r>
                                <a:rPr lang="en-US" altLang="zh-CN" sz="2800" b="1" i="1">
                                  <a:solidFill>
                                    <a:schemeClr val="tx1"/>
                                  </a:solidFill>
                                  <a:latin typeface="Cambria Math" panose="02040503050406030204" charset="0"/>
                                  <a:ea typeface="楷体" panose="02010609060101010101" charset="-122"/>
                                  <a:cs typeface="Cambria Math" panose="02040503050406030204" charset="0"/>
                                </a:rPr>
                                <m:t>  </m:t>
                              </m:r>
                              <m:r>
                                <a:rPr lang="en-US" altLang="zh-CN" sz="2800" b="1" i="1">
                                  <a:solidFill>
                                    <a:schemeClr val="tx1"/>
                                  </a:solidFill>
                                  <a:latin typeface="Cambria Math" panose="02040503050406030204" charset="0"/>
                                  <a:ea typeface="楷体" panose="02010609060101010101" charset="-122"/>
                                  <a:cs typeface="Cambria Math" panose="02040503050406030204" charset="0"/>
                                </a:rPr>
                                <m:t>𝑭</m:t>
                              </m:r>
                            </m:oMath>
                          </a14:m>
                          <a:endParaRPr lang="en-US" altLang="zh-CN" sz="2800" b="1">
                            <a:solidFill>
                              <a:schemeClr val="tx1"/>
                            </a:solidFill>
                            <a:latin typeface="楷体" panose="02010609060101010101" charset="-122"/>
                            <a:ea typeface="楷体" panose="02010609060101010101" charset="-122"/>
                          </a:endParaRPr>
                        </a:p>
                      </a:txBody>
                      <a:tcPr marL="2520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bl>
              </a:graphicData>
            </a:graphic>
          </p:graphicFrame>
        </mc:Choice>
        <mc:Fallback xmlns="">
          <p:graphicFrame>
            <p:nvGraphicFramePr>
              <p:cNvPr id="6" name="表格 5"/>
              <p:cNvGraphicFramePr/>
              <p:nvPr>
                <p:custDataLst>
                  <p:tags r:id="rId5"/>
                </p:custDataLst>
              </p:nvPr>
            </p:nvGraphicFramePr>
            <p:xfrm>
              <a:off x="424180" y="3603625"/>
              <a:ext cx="11407140" cy="2354580"/>
            </p:xfrm>
            <a:graphic>
              <a:graphicData uri="http://schemas.openxmlformats.org/drawingml/2006/table">
                <a:tbl>
                  <a:tblPr firstRow="1" bandRow="1">
                    <a:tableStyleId>{5C22544A-7EE6-4342-B048-85BDC9FD1C3A}</a:tableStyleId>
                  </a:tblPr>
                  <a:tblGrid>
                    <a:gridCol w="2170218"/>
                    <a:gridCol w="2170218"/>
                    <a:gridCol w="2170218"/>
                    <a:gridCol w="4896485"/>
                  </a:tblGrid>
                  <a:tr h="588645">
                    <a:tc>
                      <a:txBody>
                        <a:bodyPr/>
                        <a:p>
                          <a:pPr algn="ctr">
                            <a:buNone/>
                          </a:pPr>
                          <a:r>
                            <a:rPr lang="zh-CN" altLang="en-US" sz="2800" b="1">
                              <a:solidFill>
                                <a:schemeClr val="tx1"/>
                              </a:solidFill>
                              <a:latin typeface="楷体" panose="02010609060101010101" charset="-122"/>
                              <a:ea typeface="楷体" panose="02010609060101010101" charset="-122"/>
                            </a:rPr>
                            <a:t>逻辑运算</a:t>
                          </a:r>
                          <a:endParaRPr lang="zh-CN" altLang="en-US" sz="28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p>
                          <a:pPr algn="ctr">
                            <a:buNone/>
                          </a:pPr>
                          <a:r>
                            <a:rPr lang="zh-CN" altLang="en-US" sz="2800" b="1">
                              <a:solidFill>
                                <a:schemeClr val="tx1"/>
                              </a:solidFill>
                              <a:latin typeface="楷体" panose="02010609060101010101" charset="-122"/>
                              <a:ea typeface="楷体" panose="02010609060101010101" charset="-122"/>
                            </a:rPr>
                            <a:t>运算符</a:t>
                          </a:r>
                          <a:endParaRPr lang="zh-CN" altLang="en-US" sz="28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p>
                          <a:pPr algn="ctr">
                            <a:buNone/>
                          </a:pPr>
                          <a:r>
                            <a:rPr lang="zh-CN" altLang="en-US" sz="2800" b="1">
                              <a:solidFill>
                                <a:schemeClr val="tx1"/>
                              </a:solidFill>
                              <a:latin typeface="楷体" panose="02010609060101010101" charset="-122"/>
                              <a:ea typeface="楷体" panose="02010609060101010101" charset="-122"/>
                            </a:rPr>
                            <a:t>操作符</a:t>
                          </a:r>
                          <a:endParaRPr lang="zh-CN" altLang="en-US" sz="28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p>
                          <a:pPr algn="ctr">
                            <a:buNone/>
                          </a:pPr>
                          <a:r>
                            <a:rPr lang="zh-CN" altLang="en-US" sz="2800" b="1">
                              <a:solidFill>
                                <a:schemeClr val="tx1"/>
                              </a:solidFill>
                              <a:latin typeface="楷体" panose="02010609060101010101" charset="-122"/>
                              <a:ea typeface="楷体" panose="02010609060101010101" charset="-122"/>
                            </a:rPr>
                            <a:t>示例</a:t>
                          </a:r>
                          <a:endParaRPr lang="zh-CN" altLang="en-US" sz="28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r>
                  <a:tr h="588645">
                    <a:tc>
                      <a:txBody>
                        <a:bodyPr/>
                        <a:p>
                          <a:pPr algn="ctr">
                            <a:buNone/>
                          </a:pPr>
                          <a:r>
                            <a:rPr lang="zh-CN" altLang="en-US" sz="2800" b="1">
                              <a:solidFill>
                                <a:schemeClr val="tx1"/>
                              </a:solidFill>
                              <a:latin typeface="楷体" panose="02010609060101010101" charset="-122"/>
                              <a:ea typeface="楷体" panose="02010609060101010101" charset="-122"/>
                            </a:rPr>
                            <a:t>与</a:t>
                          </a:r>
                          <a:endParaRPr lang="zh-CN" altLang="en-US" sz="28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c>
                      <a:txBody>
                        <a:bodyPr/>
                        <a:lstStyle/>
                        <a:p>
                          <a:endParaRPr lang="zh-CN"/>
                        </a:p>
                      </a:txBody>
                      <a:tcPr marL="25209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r>
                  <a:tr h="588645">
                    <a:tc>
                      <a:txBody>
                        <a:bodyPr/>
                        <a:p>
                          <a:pPr algn="ctr">
                            <a:buNone/>
                          </a:pPr>
                          <a:r>
                            <a:rPr lang="zh-CN" altLang="en-US" sz="2800" b="1">
                              <a:solidFill>
                                <a:schemeClr val="tx1"/>
                              </a:solidFill>
                              <a:latin typeface="楷体" panose="02010609060101010101" charset="-122"/>
                              <a:ea typeface="楷体" panose="02010609060101010101" charset="-122"/>
                            </a:rPr>
                            <a:t>或</a:t>
                          </a:r>
                          <a:endParaRPr lang="zh-CN" altLang="en-US" sz="28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c>
                      <a:txBody>
                        <a:bodyPr/>
                        <a:lstStyle/>
                        <a:p>
                          <a:endParaRPr lang="zh-CN"/>
                        </a:p>
                      </a:txBody>
                      <a:tcPr marL="25209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r>
                  <a:tr h="588645">
                    <a:tc>
                      <a:txBody>
                        <a:bodyPr/>
                        <a:p>
                          <a:pPr algn="ctr">
                            <a:buNone/>
                          </a:pPr>
                          <a:r>
                            <a:rPr lang="zh-CN" altLang="en-US" sz="2800" b="1">
                              <a:solidFill>
                                <a:schemeClr val="tx1"/>
                              </a:solidFill>
                              <a:latin typeface="楷体" panose="02010609060101010101" charset="-122"/>
                              <a:ea typeface="楷体" panose="02010609060101010101" charset="-122"/>
                            </a:rPr>
                            <a:t>非</a:t>
                          </a:r>
                          <a:endParaRPr lang="zh-CN" altLang="en-US" sz="28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c>
                      <a:txBody>
                        <a:bodyPr/>
                        <a:lstStyle/>
                        <a:p>
                          <a:endParaRPr lang="zh-CN"/>
                        </a:p>
                      </a:txBody>
                      <a:tcPr marL="25209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r>
                </a:tbl>
              </a:graphicData>
            </a:graphic>
          </p:graphicFrame>
        </mc:Fallback>
      </mc:AlternateContent>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52"/>
          <p:cNvSpPr>
            <a:spLocks noGrp="1" noChangeArrowheads="1"/>
          </p:cNvSpPr>
          <p:nvPr>
            <p:ph type="title"/>
          </p:nvPr>
        </p:nvSpPr>
        <p:spPr/>
        <p:txBody>
          <a:bodyPr/>
          <a:lstStyle/>
          <a:p>
            <a:pPr marL="571500" indent="-571500">
              <a:buFont typeface="+mj-ea"/>
              <a:buAutoNum type="ea1JpnChsDbPeriod" startAt="2"/>
            </a:pPr>
            <a:r>
              <a:rPr lang="zh-CN" altLang="en-US" dirty="0"/>
              <a:t>关系代数的基本运算</a:t>
            </a:r>
          </a:p>
        </p:txBody>
      </p:sp>
      <mc:AlternateContent xmlns:mc="http://schemas.openxmlformats.org/markup-compatibility/2006" xmlns:a14="http://schemas.microsoft.com/office/drawing/2010/main">
        <mc:Choice Requires="a14">
          <p:graphicFrame>
            <p:nvGraphicFramePr>
              <p:cNvPr id="11" name="表格 10"/>
              <p:cNvGraphicFramePr>
                <a:graphicFrameLocks noGrp="1"/>
              </p:cNvGraphicFramePr>
              <p:nvPr>
                <p:custDataLst>
                  <p:tags r:id="rId1"/>
                </p:custDataLst>
              </p:nvPr>
            </p:nvGraphicFramePr>
            <p:xfrm>
              <a:off x="396875" y="760730"/>
              <a:ext cx="11407140" cy="4916805"/>
            </p:xfrm>
            <a:graphic>
              <a:graphicData uri="http://schemas.openxmlformats.org/drawingml/2006/table">
                <a:tbl>
                  <a:tblPr/>
                  <a:tblGrid>
                    <a:gridCol w="113538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3242310">
                      <a:extLst>
                        <a:ext uri="{9D8B030D-6E8A-4147-A177-3AD203B41FA5}">
                          <a16:colId xmlns:a16="http://schemas.microsoft.com/office/drawing/2014/main" val="20002"/>
                        </a:ext>
                      </a:extLst>
                    </a:gridCol>
                    <a:gridCol w="4316730">
                      <a:extLst>
                        <a:ext uri="{9D8B030D-6E8A-4147-A177-3AD203B41FA5}">
                          <a16:colId xmlns:a16="http://schemas.microsoft.com/office/drawing/2014/main" val="20003"/>
                        </a:ext>
                      </a:extLst>
                    </a:gridCol>
                  </a:tblGrid>
                  <a:tr h="712470">
                    <a:tc gridSpan="2">
                      <a:txBody>
                        <a:bodyPr/>
                        <a:lstStyle/>
                        <a:p>
                          <a:pPr indent="0" algn="ctr" fontAlgn="auto">
                            <a:spcAft>
                              <a:spcPts val="0"/>
                            </a:spcAft>
                          </a:pPr>
                          <a:r>
                            <a:rPr lang="zh-CN" sz="2800" b="1" kern="100" dirty="0">
                              <a:ea typeface="楷体" panose="02010609060101010101" charset="-122"/>
                              <a:cs typeface="Times New Roman" panose="02020603050405020304"/>
                            </a:rPr>
                            <a:t>关系运算</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hMerge="1">
                      <a:txBody>
                        <a:bodyPr/>
                        <a:lstStyle/>
                        <a:p>
                          <a:endParaRPr lang="zh-CN"/>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buNone/>
                          </a:pPr>
                          <a:r>
                            <a:rPr lang="zh-CN" altLang="en-US" sz="2800" b="1" kern="100" dirty="0">
                              <a:ea typeface="楷体" panose="02010609060101010101" charset="-122"/>
                              <a:cs typeface="+mn-lt"/>
                            </a:rPr>
                            <a:t>运算符</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indent="0" algn="ctr" fontAlgn="auto">
                            <a:spcAft>
                              <a:spcPts val="0"/>
                            </a:spcAft>
                          </a:pPr>
                          <a:r>
                            <a:rPr lang="zh-CN" sz="2800" b="1" kern="100">
                              <a:ea typeface="楷体" panose="02010609060101010101" charset="-122"/>
                              <a:cs typeface="Times New Roman" panose="02020603050405020304"/>
                            </a:rPr>
                            <a:t>操作符</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840105">
                    <a:tc rowSpan="5">
                      <a:txBody>
                        <a:bodyPr/>
                        <a:lstStyle/>
                        <a:p>
                          <a:pPr indent="0" algn="ctr" fontAlgn="auto">
                            <a:spcAft>
                              <a:spcPts val="0"/>
                            </a:spcAft>
                          </a:pPr>
                          <a:r>
                            <a:rPr lang="zh-CN" sz="2800" b="1" kern="100" dirty="0">
                              <a:ea typeface="楷体" panose="02010609060101010101" charset="-122"/>
                              <a:cs typeface="Times New Roman" panose="02020603050405020304"/>
                            </a:rPr>
                            <a:t>基本</a:t>
                          </a:r>
                        </a:p>
                        <a:p>
                          <a:pPr indent="0" algn="ctr" fontAlgn="auto">
                            <a:spcAft>
                              <a:spcPts val="0"/>
                            </a:spcAft>
                          </a:pPr>
                          <a:r>
                            <a:rPr lang="zh-CN" sz="2800" b="1" kern="100" dirty="0">
                              <a:ea typeface="楷体" panose="02010609060101010101" charset="-122"/>
                              <a:cs typeface="Times New Roman" panose="02020603050405020304"/>
                            </a:rPr>
                            <a:t>运算</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r>
                            <a:rPr lang="zh-CN" sz="2800" b="1" kern="100" dirty="0">
                              <a:ea typeface="楷体" panose="02010609060101010101" charset="-122"/>
                              <a:cs typeface="Times New Roman" panose="02020603050405020304"/>
                            </a:rPr>
                            <a:t>并</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800" b="1" i="1" kern="100" dirty="0">
                                    <a:solidFill>
                                      <a:srgbClr val="1F2DA8"/>
                                    </a:solidFill>
                                    <a:latin typeface="Cambria Math" panose="02040503050406030204" charset="0"/>
                                    <a:ea typeface="楷体" panose="02010609060101010101" charset="-122"/>
                                    <a:cs typeface="Cambria Math" panose="02040503050406030204" charset="0"/>
                                  </a:rPr>
                                  <m:t>𝑹</m:t>
                                </m:r>
                                <m:r>
                                  <a:rPr lang="en-US" altLang="zh-CN" sz="2800" b="1" i="1" kern="100" dirty="0">
                                    <a:solidFill>
                                      <a:srgbClr val="FF0000"/>
                                    </a:solidFill>
                                    <a:latin typeface="Cambria Math" panose="02040503050406030204" charset="0"/>
                                    <a:ea typeface="MS Mincho" charset="0"/>
                                    <a:cs typeface="Cambria Math" panose="02040503050406030204" charset="0"/>
                                  </a:rPr>
                                  <m:t>∪</m:t>
                                </m:r>
                                <m:r>
                                  <a:rPr lang="en-US" altLang="zh-CN" sz="2800" b="1" i="1" kern="100" dirty="0">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800" b="1"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800" b="1" i="1" kern="100" dirty="0">
                                    <a:latin typeface="Cambria Math" panose="02040503050406030204" charset="0"/>
                                    <a:ea typeface="楷体" panose="02010609060101010101" charset="-122"/>
                                    <a:cs typeface="Cambria Math" panose="02040503050406030204" charset="0"/>
                                  </a:rPr>
                                  <m:t>𝑹</m:t>
                                </m:r>
                                <m:r>
                                  <a:rPr lang="en-US" altLang="zh-CN" sz="2800" b="1" i="1" kern="100" dirty="0">
                                    <a:latin typeface="Cambria Math" panose="02040503050406030204" charset="0"/>
                                    <a:ea typeface="MS Mincho" charset="0"/>
                                    <a:cs typeface="Cambria Math" panose="02040503050406030204" charset="0"/>
                                  </a:rPr>
                                  <m:t>  </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𝒖𝒏𝒊𝒐𝒏</m:t>
                                </m:r>
                                <m:r>
                                  <a:rPr lang="en-US" altLang="zh-CN" sz="2800" b="1" i="1" kern="100" dirty="0">
                                    <a:solidFill>
                                      <a:srgbClr val="FF0000"/>
                                    </a:solidFill>
                                    <a:latin typeface="Cambria Math" panose="02040503050406030204" charset="0"/>
                                    <a:ea typeface="MS Mincho" charset="0"/>
                                    <a:cs typeface="Cambria Math" panose="02040503050406030204" charset="0"/>
                                  </a:rPr>
                                  <m:t> </m:t>
                                </m:r>
                                <m:r>
                                  <a:rPr lang="en-US" altLang="zh-CN" sz="2800" b="1" i="1" kern="100" dirty="0">
                                    <a:latin typeface="Cambria Math" panose="02040503050406030204" charset="0"/>
                                    <a:ea typeface="MS Mincho" charset="0"/>
                                    <a:cs typeface="Cambria Math" panose="02040503050406030204" charset="0"/>
                                  </a:rPr>
                                  <m:t> </m:t>
                                </m:r>
                                <m:r>
                                  <a:rPr lang="en-US" altLang="zh-CN" sz="2800" b="1" i="1" kern="100" dirty="0">
                                    <a:latin typeface="Cambria Math" panose="02040503050406030204" charset="0"/>
                                    <a:ea typeface="楷体" panose="02010609060101010101" charset="-122"/>
                                    <a:cs typeface="Cambria Math" panose="02040503050406030204" charset="0"/>
                                  </a:rPr>
                                  <m:t>𝑺</m:t>
                                </m:r>
                              </m:oMath>
                            </m:oMathPara>
                          </a14:m>
                          <a:endParaRPr lang="en-US" altLang="zh-CN" sz="2800" b="1" i="1" kern="100" dirty="0">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841375">
                    <a:tc vMerge="1">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800" b="1" kern="100" dirty="0">
                              <a:ea typeface="楷体" panose="02010609060101010101" charset="-122"/>
                              <a:cs typeface="Times New Roman" panose="02020603050405020304"/>
                            </a:rPr>
                            <a:t>差</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sz="2800" b="1" i="1" kern="100" dirty="0">
                                    <a:solidFill>
                                      <a:srgbClr val="1F2DA8"/>
                                    </a:solidFill>
                                    <a:latin typeface="Cambria Math" panose="02040503050406030204" charset="0"/>
                                    <a:ea typeface="楷体" panose="02010609060101010101" charset="-122"/>
                                    <a:cs typeface="Cambria Math" panose="02040503050406030204" charset="0"/>
                                  </a:rPr>
                                  <m:t>𝑹</m:t>
                                </m:r>
                                <m:r>
                                  <a:rPr lang="en-US" sz="2800" b="1" i="1" kern="100" dirty="0">
                                    <a:solidFill>
                                      <a:srgbClr val="FF0000"/>
                                    </a:solidFill>
                                    <a:latin typeface="Cambria Math" panose="02040503050406030204" charset="0"/>
                                    <a:ea typeface="楷体" panose="02010609060101010101" charset="-122"/>
                                    <a:cs typeface="Cambria Math" panose="02040503050406030204" charset="0"/>
                                  </a:rPr>
                                  <m:t>−</m:t>
                                </m:r>
                                <m:r>
                                  <a:rPr lang="en-US" sz="2800" b="1" i="1" kern="100" dirty="0">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sz="2800" b="1"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800" b="1" i="1" kern="100" dirty="0">
                                    <a:latin typeface="Cambria Math" panose="02040503050406030204" charset="0"/>
                                    <a:ea typeface="楷体" panose="02010609060101010101" charset="-122"/>
                                    <a:cs typeface="Cambria Math" panose="02040503050406030204" charset="0"/>
                                  </a:rPr>
                                  <m:t>𝑹</m:t>
                                </m:r>
                                <m:r>
                                  <a:rPr lang="en-US" altLang="zh-CN" sz="2800" b="1" i="1" kern="100" dirty="0">
                                    <a:latin typeface="Cambria Math" panose="02040503050406030204" charset="0"/>
                                    <a:ea typeface="MS Mincho" charset="0"/>
                                    <a:cs typeface="Cambria Math" panose="02040503050406030204" charset="0"/>
                                  </a:rPr>
                                  <m:t>  </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𝒆𝒙𝒄𝒆𝒑𝒕</m:t>
                                </m:r>
                                <m:r>
                                  <a:rPr lang="en-US" altLang="zh-CN" sz="2800" b="1" i="1" kern="100" dirty="0">
                                    <a:latin typeface="Cambria Math" panose="02040503050406030204" charset="0"/>
                                    <a:ea typeface="MS Mincho" charset="0"/>
                                    <a:cs typeface="Cambria Math" panose="02040503050406030204" charset="0"/>
                                  </a:rPr>
                                  <m:t>  </m:t>
                                </m:r>
                                <m:r>
                                  <a:rPr lang="en-US" altLang="zh-CN" sz="2800" b="1" i="1" kern="100" dirty="0">
                                    <a:latin typeface="Cambria Math" panose="02040503050406030204" charset="0"/>
                                    <a:ea typeface="楷体" panose="02010609060101010101" charset="-122"/>
                                    <a:cs typeface="Cambria Math" panose="02040503050406030204" charset="0"/>
                                  </a:rPr>
                                  <m:t>𝑺</m:t>
                                </m:r>
                              </m:oMath>
                            </m:oMathPara>
                          </a14:m>
                          <a:endParaRPr lang="en-US" altLang="zh-CN" sz="2800" b="1" i="1" kern="100" dirty="0">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840105">
                    <a:tc vMerge="1">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800" b="1" kern="100" dirty="0">
                              <a:ea typeface="楷体" panose="02010609060101010101" charset="-122"/>
                              <a:cs typeface="Times New Roman" panose="02020603050405020304"/>
                            </a:rPr>
                            <a:t>笛卡尔积</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800" b="1" i="1" kern="100">
                                    <a:solidFill>
                                      <a:srgbClr val="1F2DA8"/>
                                    </a:solidFill>
                                    <a:latin typeface="Cambria Math" panose="02040503050406030204" charset="0"/>
                                    <a:ea typeface="楷体" panose="02010609060101010101" charset="-122"/>
                                    <a:cs typeface="Cambria Math" panose="02040503050406030204" charset="0"/>
                                  </a:rPr>
                                  <m:t>𝑹</m:t>
                                </m:r>
                                <m:r>
                                  <a:rPr lang="en-US" altLang="zh-CN" sz="2800" b="1" i="1" kern="100">
                                    <a:solidFill>
                                      <a:srgbClr val="FF0000"/>
                                    </a:solidFill>
                                    <a:latin typeface="Cambria Math" panose="02040503050406030204" charset="0"/>
                                    <a:ea typeface="MS Mincho" charset="0"/>
                                    <a:cs typeface="Cambria Math" panose="02040503050406030204" charset="0"/>
                                  </a:rPr>
                                  <m:t>×</m:t>
                                </m:r>
                                <m:r>
                                  <a:rPr lang="en-US" altLang="zh-CN" sz="2800" b="1" i="1" kern="100">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800" b="1" i="1" kern="10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800" b="1" i="1" kern="100" dirty="0">
                                    <a:latin typeface="Cambria Math" panose="02040503050406030204" charset="0"/>
                                    <a:ea typeface="楷体" panose="02010609060101010101" charset="-122"/>
                                    <a:cs typeface="Cambria Math" panose="02040503050406030204" charset="0"/>
                                  </a:rPr>
                                  <m:t>𝑹</m:t>
                                </m:r>
                                <m:r>
                                  <a:rPr lang="en-US" altLang="zh-CN" sz="2800" b="1" i="1" kern="100" dirty="0">
                                    <a:latin typeface="Cambria Math" panose="02040503050406030204" charset="0"/>
                                    <a:ea typeface="MS Mincho" charset="0"/>
                                    <a:cs typeface="Cambria Math" panose="02040503050406030204" charset="0"/>
                                  </a:rPr>
                                  <m:t>  </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𝒑𝒓𝒐𝒅𝒖𝒄𝒕</m:t>
                                </m:r>
                                <m:r>
                                  <a:rPr lang="en-US" altLang="zh-CN" sz="2800" b="1" i="1" kern="100" dirty="0">
                                    <a:solidFill>
                                      <a:srgbClr val="FF0000"/>
                                    </a:solidFill>
                                    <a:latin typeface="Cambria Math" panose="02040503050406030204" charset="0"/>
                                    <a:ea typeface="MS Mincho" charset="0"/>
                                    <a:cs typeface="Cambria Math" panose="02040503050406030204" charset="0"/>
                                  </a:rPr>
                                  <m:t> </m:t>
                                </m:r>
                                <m:r>
                                  <a:rPr lang="en-US" altLang="zh-CN" sz="2800" b="1" i="1" kern="100" dirty="0">
                                    <a:latin typeface="Cambria Math" panose="02040503050406030204" charset="0"/>
                                    <a:ea typeface="MS Mincho" charset="0"/>
                                    <a:cs typeface="Cambria Math" panose="02040503050406030204" charset="0"/>
                                  </a:rPr>
                                  <m:t> </m:t>
                                </m:r>
                                <m:r>
                                  <a:rPr lang="en-US" altLang="zh-CN" sz="2800" b="1" i="1" kern="100" dirty="0">
                                    <a:latin typeface="Cambria Math" panose="02040503050406030204" charset="0"/>
                                    <a:ea typeface="楷体" panose="02010609060101010101" charset="-122"/>
                                    <a:cs typeface="Cambria Math" panose="02040503050406030204" charset="0"/>
                                  </a:rPr>
                                  <m:t>𝑺</m:t>
                                </m:r>
                              </m:oMath>
                            </m:oMathPara>
                          </a14:m>
                          <a:endParaRPr lang="en-US" altLang="zh-CN" sz="2800" b="1" i="1" kern="100" dirty="0">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842010">
                    <a:tc vMerge="1">
                      <a:txBody>
                        <a:bodyPr/>
                        <a:lstStyle/>
                        <a:p>
                          <a:endParaRPr lang="zh-CN"/>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800" b="1" kern="100" dirty="0">
                              <a:ea typeface="楷体" panose="02010609060101010101" charset="-122"/>
                              <a:cs typeface="Times New Roman" panose="02020603050405020304"/>
                            </a:rPr>
                            <a:t>选择</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sSub>
                                  <m:sSubPr>
                                    <m:ctrlPr>
                                      <a:rPr lang="en-US" altLang="zh-CN" sz="2800" b="1" i="1" kern="100"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800" b="1" i="1" kern="100" dirty="0">
                                        <a:solidFill>
                                          <a:srgbClr val="FF0000"/>
                                        </a:solidFill>
                                        <a:latin typeface="Cambria Math" panose="02040503050406030204" charset="0"/>
                                        <a:ea typeface="MS Mincho" charset="0"/>
                                        <a:cs typeface="Cambria Math" panose="02040503050406030204" charset="0"/>
                                      </a:rPr>
                                      <m:t>𝝈</m:t>
                                    </m:r>
                                  </m:e>
                                  <m:sub>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𝑭</m:t>
                                    </m:r>
                                  </m:sub>
                                </m:sSub>
                                <m:r>
                                  <a:rPr lang="en-US" altLang="zh-CN" sz="2800" b="1" i="1" kern="100" dirty="0">
                                    <a:solidFill>
                                      <a:srgbClr val="1F2DA8"/>
                                    </a:solidFill>
                                    <a:latin typeface="Cambria Math" panose="02040503050406030204" charset="0"/>
                                    <a:ea typeface="MS Mincho" charset="0"/>
                                    <a:cs typeface="Cambria Math" panose="02040503050406030204" charset="0"/>
                                  </a:rPr>
                                  <m:t>(</m:t>
                                </m:r>
                                <m:r>
                                  <a:rPr lang="en-US" altLang="zh-CN" sz="2800" b="1" i="1" kern="100" dirty="0">
                                    <a:solidFill>
                                      <a:srgbClr val="1F2DA8"/>
                                    </a:solidFill>
                                    <a:latin typeface="Cambria Math" panose="02040503050406030204" charset="0"/>
                                    <a:ea typeface="楷体" panose="02010609060101010101" charset="-122"/>
                                    <a:cs typeface="Cambria Math" panose="02040503050406030204" charset="0"/>
                                  </a:rPr>
                                  <m:t>𝑹</m:t>
                                </m:r>
                                <m:r>
                                  <a:rPr lang="en-US" altLang="zh-CN" sz="2800" b="1" i="1" kern="100" dirty="0">
                                    <a:solidFill>
                                      <a:srgbClr val="1F2DA8"/>
                                    </a:solidFill>
                                    <a:latin typeface="Cambria Math" panose="02040503050406030204" charset="0"/>
                                    <a:ea typeface="MS Mincho" charset="0"/>
                                    <a:cs typeface="Cambria Math" panose="02040503050406030204" charset="0"/>
                                  </a:rPr>
                                  <m:t>)</m:t>
                                </m:r>
                              </m:oMath>
                            </m:oMathPara>
                          </a14:m>
                          <a:endParaRPr lang="en-US" altLang="zh-CN" sz="2800" b="1"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800" b="1" i="1" kern="100" dirty="0">
                                    <a:latin typeface="Cambria Math" panose="02040503050406030204" charset="0"/>
                                    <a:ea typeface="楷体" panose="02010609060101010101" charset="-122"/>
                                    <a:cs typeface="Cambria Math" panose="02040503050406030204" charset="0"/>
                                  </a:rPr>
                                  <m:t>𝑹</m:t>
                                </m:r>
                                <m:r>
                                  <a:rPr lang="en-US" altLang="zh-CN" sz="2800" b="1" i="1" kern="100" dirty="0">
                                    <a:latin typeface="Cambria Math" panose="02040503050406030204" charset="0"/>
                                    <a:ea typeface="楷体" panose="02010609060101010101" charset="-122"/>
                                    <a:cs typeface="Cambria Math" panose="02040503050406030204" charset="0"/>
                                  </a:rPr>
                                  <m:t>  </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𝒘𝒉𝒆𝒓𝒆</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  </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𝑭</m:t>
                                </m:r>
                              </m:oMath>
                            </m:oMathPara>
                          </a14:m>
                          <a:endParaRPr lang="en-US" altLang="zh-CN" sz="2800" b="1" i="1" kern="100" dirty="0">
                            <a:solidFill>
                              <a:srgbClr val="FF0000"/>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840740">
                    <a:tc vMerge="1">
                      <a:txBody>
                        <a:bodyPr/>
                        <a:lstStyle/>
                        <a:p>
                          <a:endParaRPr lang="zh-CN"/>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fontAlgn="auto">
                            <a:spcAft>
                              <a:spcPts val="0"/>
                            </a:spcAft>
                          </a:pPr>
                          <a:r>
                            <a:rPr lang="zh-CN" sz="2800" b="1" kern="100" dirty="0">
                              <a:ea typeface="楷体" panose="02010609060101010101" charset="-122"/>
                              <a:cs typeface="Times New Roman" panose="02020603050405020304"/>
                            </a:rPr>
                            <a:t>投影</a:t>
                          </a: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sSub>
                                  <m:sSubPr>
                                    <m:ctrlPr>
                                      <a:rPr lang="en-US" altLang="zh-CN" sz="2800" b="1" i="1" kern="100"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800" b="1" i="1" kern="100" dirty="0">
                                        <a:solidFill>
                                          <a:srgbClr val="FF0000"/>
                                        </a:solidFill>
                                        <a:latin typeface="Cambria Math" panose="02040503050406030204" charset="0"/>
                                        <a:ea typeface="MS Mincho" charset="0"/>
                                        <a:cs typeface="Cambria Math" panose="02040503050406030204" charset="0"/>
                                      </a:rPr>
                                      <m:t>𝝅</m:t>
                                    </m:r>
                                  </m:e>
                                  <m:sub>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𝑨</m:t>
                                    </m:r>
                                    <m:r>
                                      <a:rPr lang="en-US" altLang="zh-CN" sz="2800" b="1" i="1" kern="100" baseline="-25000" dirty="0">
                                        <a:solidFill>
                                          <a:srgbClr val="FF0000"/>
                                        </a:solidFill>
                                        <a:latin typeface="Cambria Math" panose="02040503050406030204" charset="0"/>
                                        <a:ea typeface="楷体" panose="02010609060101010101" charset="-122"/>
                                        <a:cs typeface="Cambria Math" panose="02040503050406030204" charset="0"/>
                                      </a:rPr>
                                      <m:t>𝟏</m:t>
                                    </m:r>
                                    <m:r>
                                      <a:rPr lang="en-US" altLang="zh-CN" sz="2800" b="1" i="1" kern="100" dirty="0">
                                        <a:solidFill>
                                          <a:srgbClr val="FF0000"/>
                                        </a:solidFill>
                                        <a:latin typeface="Cambria Math" panose="02040503050406030204" charset="0"/>
                                        <a:ea typeface="MS Mincho" charset="0"/>
                                        <a:cs typeface="Cambria Math" panose="02040503050406030204" charset="0"/>
                                      </a:rPr>
                                      <m:t>,</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𝑨</m:t>
                                    </m:r>
                                    <m:r>
                                      <a:rPr lang="en-US" altLang="zh-CN" sz="2800" b="1" i="1" kern="100" baseline="-25000" dirty="0">
                                        <a:solidFill>
                                          <a:srgbClr val="FF0000"/>
                                        </a:solidFill>
                                        <a:latin typeface="Cambria Math" panose="02040503050406030204" charset="0"/>
                                        <a:ea typeface="楷体" panose="02010609060101010101" charset="-122"/>
                                        <a:cs typeface="Cambria Math" panose="02040503050406030204" charset="0"/>
                                      </a:rPr>
                                      <m:t>𝟐</m:t>
                                    </m:r>
                                    <m:r>
                                      <a:rPr lang="en-US" altLang="zh-CN" sz="2800" b="1" i="1" kern="100" dirty="0">
                                        <a:solidFill>
                                          <a:srgbClr val="FF0000"/>
                                        </a:solidFill>
                                        <a:latin typeface="Cambria Math" panose="02040503050406030204" charset="0"/>
                                        <a:ea typeface="MS Mincho" charset="0"/>
                                        <a:cs typeface="Cambria Math" panose="02040503050406030204" charset="0"/>
                                      </a:rPr>
                                      <m:t>,...,</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𝑨</m:t>
                                    </m:r>
                                    <m:r>
                                      <a:rPr lang="en-US" altLang="zh-CN" sz="2800" b="1" i="1" kern="100" baseline="-25000" dirty="0">
                                        <a:solidFill>
                                          <a:srgbClr val="FF0000"/>
                                        </a:solidFill>
                                        <a:latin typeface="Cambria Math" panose="02040503050406030204" charset="0"/>
                                        <a:ea typeface="楷体" panose="02010609060101010101" charset="-122"/>
                                        <a:cs typeface="Cambria Math" panose="02040503050406030204" charset="0"/>
                                      </a:rPr>
                                      <m:t>𝒏</m:t>
                                    </m:r>
                                  </m:sub>
                                </m:sSub>
                                <m:r>
                                  <a:rPr lang="en-US" altLang="zh-CN" sz="2800" b="1" i="1" kern="100" dirty="0">
                                    <a:solidFill>
                                      <a:srgbClr val="1F2DA8"/>
                                    </a:solidFill>
                                    <a:latin typeface="Cambria Math" panose="02040503050406030204" charset="0"/>
                                    <a:ea typeface="MS Mincho" charset="0"/>
                                    <a:cs typeface="Cambria Math" panose="02040503050406030204" charset="0"/>
                                  </a:rPr>
                                  <m:t>(</m:t>
                                </m:r>
                                <m:r>
                                  <a:rPr lang="en-US" altLang="zh-CN" sz="2800" b="1" i="1" kern="100" dirty="0">
                                    <a:solidFill>
                                      <a:srgbClr val="1F2DA8"/>
                                    </a:solidFill>
                                    <a:latin typeface="Cambria Math" panose="02040503050406030204" charset="0"/>
                                    <a:ea typeface="楷体" panose="02010609060101010101" charset="-122"/>
                                    <a:cs typeface="Cambria Math" panose="02040503050406030204" charset="0"/>
                                  </a:rPr>
                                  <m:t>𝑹</m:t>
                                </m:r>
                                <m:r>
                                  <a:rPr lang="en-US" altLang="zh-CN" sz="2800" b="1" i="1" kern="100" dirty="0">
                                    <a:solidFill>
                                      <a:srgbClr val="1F2DA8"/>
                                    </a:solidFill>
                                    <a:latin typeface="Cambria Math" panose="02040503050406030204" charset="0"/>
                                    <a:ea typeface="MS Mincho" charset="0"/>
                                    <a:cs typeface="Cambria Math" panose="02040503050406030204" charset="0"/>
                                  </a:rPr>
                                  <m:t>)</m:t>
                                </m:r>
                              </m:oMath>
                            </m:oMathPara>
                          </a14:m>
                          <a:endParaRPr lang="en-US" altLang="zh-CN" sz="2800" b="1" i="1" kern="100" dirty="0">
                            <a:solidFill>
                              <a:srgbClr val="1F2DA8"/>
                            </a:solidFill>
                            <a:latin typeface="Cambria Math" panose="02040503050406030204" charset="0"/>
                            <a:ea typeface="楷体" panose="02010609060101010101" charset="-122"/>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a:spcAft>
                              <a:spcPts val="0"/>
                            </a:spcAft>
                          </a:pPr>
                          <a14:m>
                            <m:oMathPara xmlns:m="http://schemas.openxmlformats.org/officeDocument/2006/math">
                              <m:oMathParaPr>
                                <m:jc m:val="centerGroup"/>
                              </m:oMathParaPr>
                              <m:oMath xmlns:m="http://schemas.openxmlformats.org/officeDocument/2006/math">
                                <m:r>
                                  <a:rPr lang="en-US" altLang="zh-CN" sz="2800" b="1" i="1" kern="100" dirty="0">
                                    <a:latin typeface="Cambria Math" panose="02040503050406030204" charset="0"/>
                                    <a:ea typeface="楷体" panose="02010609060101010101" charset="-122"/>
                                    <a:cs typeface="Cambria Math" panose="02040503050406030204" charset="0"/>
                                  </a:rPr>
                                  <m:t>𝑹</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𝑨</m:t>
                                </m:r>
                                <m:r>
                                  <a:rPr lang="en-US" altLang="zh-CN" sz="2800" b="1" i="1" kern="100" baseline="-25000" dirty="0">
                                    <a:solidFill>
                                      <a:srgbClr val="FF0000"/>
                                    </a:solidFill>
                                    <a:latin typeface="Cambria Math" panose="02040503050406030204" charset="0"/>
                                    <a:ea typeface="楷体" panose="02010609060101010101" charset="-122"/>
                                    <a:cs typeface="Cambria Math" panose="02040503050406030204" charset="0"/>
                                  </a:rPr>
                                  <m:t>𝟏</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 </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𝑨</m:t>
                                </m:r>
                                <m:r>
                                  <a:rPr lang="en-US" altLang="zh-CN" sz="2800" b="1" i="1" kern="100" baseline="-25000" dirty="0">
                                    <a:solidFill>
                                      <a:srgbClr val="FF0000"/>
                                    </a:solidFill>
                                    <a:latin typeface="Cambria Math" panose="02040503050406030204" charset="0"/>
                                    <a:ea typeface="楷体" panose="02010609060101010101" charset="-122"/>
                                    <a:cs typeface="Cambria Math" panose="02040503050406030204" charset="0"/>
                                  </a:rPr>
                                  <m:t>𝟐</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 ..., </m:t>
                                </m:r>
                                <m:r>
                                  <a:rPr lang="en-US" altLang="zh-CN" sz="2800" b="1" i="1" kern="100" dirty="0">
                                    <a:solidFill>
                                      <a:srgbClr val="FF0000"/>
                                    </a:solidFill>
                                    <a:latin typeface="Cambria Math" panose="02040503050406030204" charset="0"/>
                                    <a:ea typeface="楷体" panose="02010609060101010101" charset="-122"/>
                                    <a:cs typeface="Cambria Math" panose="02040503050406030204" charset="0"/>
                                  </a:rPr>
                                  <m:t>𝑨𝒏</m:t>
                                </m:r>
                                <m:r>
                                  <a:rPr lang="en-US" altLang="zh-CN" sz="2800" b="1" i="1" kern="100" dirty="0">
                                    <a:solidFill>
                                      <a:srgbClr val="FF0000"/>
                                    </a:solidFill>
                                    <a:latin typeface="Cambria Math" panose="02040503050406030204" charset="0"/>
                                    <a:ea typeface="MS Mincho" charset="0"/>
                                    <a:cs typeface="Cambria Math" panose="02040503050406030204" charset="0"/>
                                  </a:rPr>
                                  <m:t>]</m:t>
                                </m:r>
                              </m:oMath>
                            </m:oMathPara>
                          </a14:m>
                          <a:endParaRPr lang="en-US" altLang="zh-CN" sz="2800" b="1" i="1" kern="100" dirty="0">
                            <a:solidFill>
                              <a:srgbClr val="FF0000"/>
                            </a:solidFill>
                            <a:latin typeface="Cambria Math" panose="02040503050406030204" charset="0"/>
                            <a:ea typeface="MS Mincho" charset="0"/>
                            <a:cs typeface="Cambria Math" panose="02040503050406030204" charset="0"/>
                          </a:endParaRPr>
                        </a:p>
                      </a:txBody>
                      <a:tcPr marL="68572" marR="68572"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mc:Choice>
        <mc:Fallback xmlns="">
          <p:graphicFrame>
            <p:nvGraphicFramePr>
              <p:cNvPr id="11" name="表格 10"/>
              <p:cNvGraphicFramePr>
                <a:graphicFrameLocks noGrp="1"/>
              </p:cNvGraphicFramePr>
              <p:nvPr>
                <p:custDataLst>
                  <p:tags r:id="rId3"/>
                </p:custDataLst>
              </p:nvPr>
            </p:nvGraphicFramePr>
            <p:xfrm>
              <a:off x="396875" y="760730"/>
              <a:ext cx="11407140" cy="4916805"/>
            </p:xfrm>
            <a:graphic>
              <a:graphicData uri="http://schemas.openxmlformats.org/drawingml/2006/table">
                <a:tbl>
                  <a:tblPr/>
                  <a:tblGrid>
                    <a:gridCol w="1135380"/>
                    <a:gridCol w="2712720"/>
                    <a:gridCol w="3242310"/>
                    <a:gridCol w="4316730"/>
                  </a:tblGrid>
                  <a:tr h="712470">
                    <a:tc gridSpan="2">
                      <a:txBody>
                        <a:bodyPr/>
                        <a:lstStyle/>
                        <a:p>
                          <a:pPr indent="0" algn="ctr" fontAlgn="auto">
                            <a:spcAft>
                              <a:spcPts val="0"/>
                            </a:spcAft>
                          </a:pPr>
                          <a:r>
                            <a:rPr lang="zh-CN" sz="2800" b="1" kern="100" dirty="0">
                              <a:ea typeface="楷体" panose="02010609060101010101" charset="-122"/>
                              <a:cs typeface="Times New Roman" panose="02020603050405020304"/>
                            </a:rPr>
                            <a:t>关系运算</a:t>
                          </a:r>
                          <a:endParaRPr lang="zh-CN" sz="28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hMerge="1">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buNone/>
                          </a:pPr>
                          <a:r>
                            <a:rPr lang="zh-CN" altLang="en-US" sz="2800" b="1" kern="100" dirty="0">
                              <a:ea typeface="楷体" panose="02010609060101010101" charset="-122"/>
                              <a:cs typeface="+mn-lt"/>
                            </a:rPr>
                            <a:t>运算符</a:t>
                          </a:r>
                          <a:endParaRPr lang="zh-CN" altLang="en-US" sz="2800" b="1" kern="100" dirty="0">
                            <a:ea typeface="楷体" panose="02010609060101010101" charset="-122"/>
                            <a:cs typeface="+mn-lt"/>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indent="0" algn="ctr" fontAlgn="auto">
                            <a:spcAft>
                              <a:spcPts val="0"/>
                            </a:spcAft>
                          </a:pPr>
                          <a:r>
                            <a:rPr lang="zh-CN" sz="2800" b="1" kern="100">
                              <a:ea typeface="楷体" panose="02010609060101010101" charset="-122"/>
                              <a:cs typeface="Times New Roman" panose="02020603050405020304"/>
                            </a:rPr>
                            <a:t>操作符</a:t>
                          </a:r>
                          <a:endParaRPr lang="zh-CN" sz="2800" b="1" kern="10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r>
                  <a:tr h="840105">
                    <a:tc rowSpan="5">
                      <a:txBody>
                        <a:bodyPr/>
                        <a:lstStyle/>
                        <a:p>
                          <a:pPr indent="0" algn="ctr" fontAlgn="auto">
                            <a:spcAft>
                              <a:spcPts val="0"/>
                            </a:spcAft>
                          </a:pPr>
                          <a:r>
                            <a:rPr lang="zh-CN" sz="2800" b="1" kern="100" dirty="0">
                              <a:ea typeface="楷体" panose="02010609060101010101" charset="-122"/>
                              <a:cs typeface="Times New Roman" panose="02020603050405020304"/>
                            </a:rPr>
                            <a:t>基本</a:t>
                          </a:r>
                          <a:endParaRPr lang="zh-CN" sz="2800" b="1" kern="100" dirty="0">
                            <a:ea typeface="楷体" panose="02010609060101010101" charset="-122"/>
                            <a:cs typeface="Times New Roman" panose="02020603050405020304"/>
                          </a:endParaRPr>
                        </a:p>
                        <a:p>
                          <a:pPr indent="0" algn="ctr" fontAlgn="auto">
                            <a:spcAft>
                              <a:spcPts val="0"/>
                            </a:spcAft>
                          </a:pPr>
                          <a:r>
                            <a:rPr lang="zh-CN" sz="2800" b="1" kern="100" dirty="0">
                              <a:ea typeface="楷体" panose="02010609060101010101" charset="-122"/>
                              <a:cs typeface="Times New Roman" panose="02020603050405020304"/>
                            </a:rPr>
                            <a:t>运算</a:t>
                          </a:r>
                          <a:endParaRPr lang="zh-CN" sz="28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p>
                          <a:pPr indent="0" algn="ctr" fontAlgn="auto">
                            <a:spcAft>
                              <a:spcPts val="0"/>
                            </a:spcAft>
                          </a:pPr>
                          <a:r>
                            <a:rPr lang="zh-CN" sz="2800" b="1" kern="100" dirty="0">
                              <a:ea typeface="楷体" panose="02010609060101010101" charset="-122"/>
                              <a:cs typeface="Times New Roman" panose="02020603050405020304"/>
                            </a:rPr>
                            <a:t>并</a:t>
                          </a:r>
                          <a:endParaRPr lang="zh-CN" sz="28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841375">
                    <a:tc vMerge="1">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800" b="1" kern="100" dirty="0">
                              <a:ea typeface="楷体" panose="02010609060101010101" charset="-122"/>
                              <a:cs typeface="Times New Roman" panose="02020603050405020304"/>
                            </a:rPr>
                            <a:t>差</a:t>
                          </a:r>
                          <a:endParaRPr lang="zh-CN" sz="28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840105">
                    <a:tc vMerge="1">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800" b="1" kern="100" dirty="0">
                              <a:ea typeface="楷体" panose="02010609060101010101" charset="-122"/>
                              <a:cs typeface="Times New Roman" panose="02020603050405020304"/>
                            </a:rPr>
                            <a:t>笛卡尔积</a:t>
                          </a:r>
                          <a:endParaRPr lang="zh-CN" sz="28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842010">
                    <a:tc vMerge="1">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800" b="1" kern="100" dirty="0">
                              <a:ea typeface="楷体" panose="02010609060101010101" charset="-122"/>
                              <a:cs typeface="Times New Roman" panose="02020603050405020304"/>
                            </a:rPr>
                            <a:t>选择</a:t>
                          </a:r>
                          <a:endParaRPr lang="zh-CN" sz="28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840740">
                    <a:tc vMerge="1">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indent="0" algn="ctr" fontAlgn="auto">
                            <a:spcAft>
                              <a:spcPts val="0"/>
                            </a:spcAft>
                          </a:pPr>
                          <a:r>
                            <a:rPr lang="zh-CN" sz="2800" b="1" kern="100" dirty="0">
                              <a:ea typeface="楷体" panose="02010609060101010101" charset="-122"/>
                              <a:cs typeface="Times New Roman" panose="02020603050405020304"/>
                            </a:rPr>
                            <a:t>投影</a:t>
                          </a:r>
                          <a:endParaRPr lang="zh-CN" sz="2800" b="1" kern="100" dirty="0">
                            <a:ea typeface="楷体" panose="02010609060101010101" charset="-122"/>
                            <a:cs typeface="Times New Roman" panose="02020603050405020304"/>
                          </a:endParaRPr>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72" marR="68572" marT="0" marB="0" anchor="ctr" anchorCtr="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bl>
              </a:graphicData>
            </a:graphic>
          </p:graphicFrame>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21</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sz="3200" dirty="0"/>
              <a:t>‘</a:t>
            </a:r>
            <a:r>
              <a:rPr lang="zh-CN" altLang="en-US" sz="3200" dirty="0"/>
              <a:t>并</a:t>
            </a:r>
            <a:r>
              <a:rPr lang="en-US" altLang="zh-CN" sz="3200" dirty="0"/>
              <a:t>’ </a:t>
            </a:r>
            <a:r>
              <a:rPr lang="zh-CN" altLang="en-US" sz="3200" dirty="0"/>
              <a:t>运算</a:t>
            </a:r>
            <a:r>
              <a:rPr lang="en-US" altLang="zh-CN" sz="3200" dirty="0"/>
              <a:t> </a:t>
            </a:r>
            <a:r>
              <a:rPr lang="zh-CN" altLang="en-US" sz="3200" dirty="0"/>
              <a:t> </a:t>
            </a:r>
            <a:r>
              <a:rPr lang="en-US" altLang="zh-CN" sz="3200" dirty="0"/>
              <a:t>1</a:t>
            </a:r>
            <a:endParaRPr lang="zh-CN" altLang="en-US" dirty="0"/>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p:txBody>
              <a:bodyPr/>
              <a:lstStyle/>
              <a:p>
                <a:pPr algn="just" fontAlgn="auto">
                  <a:lnSpc>
                    <a:spcPct val="100000"/>
                  </a:lnSpc>
                  <a:spcBef>
                    <a:spcPts val="600"/>
                  </a:spcBef>
                  <a:spcAft>
                    <a:spcPts val="0"/>
                  </a:spcAft>
                </a:pPr>
                <a:r>
                  <a:rPr lang="zh-CN" altLang="en-US" sz="3200" dirty="0">
                    <a:solidFill>
                      <a:srgbClr val="FF0000"/>
                    </a:solidFill>
                  </a:rPr>
                  <a:t>并</a:t>
                </a:r>
                <a:r>
                  <a:rPr lang="zh-CN" altLang="en-US" sz="3200" dirty="0"/>
                  <a:t>（</a:t>
                </a:r>
                <a:r>
                  <a:rPr lang="en-US" altLang="zh-CN" sz="3200" dirty="0"/>
                  <a:t>Union</a:t>
                </a:r>
                <a:r>
                  <a:rPr lang="zh-CN" altLang="en-US" sz="3200" dirty="0"/>
                  <a:t>）</a:t>
                </a:r>
                <a:endParaRPr lang="en-US" altLang="zh-CN" i="1" dirty="0"/>
              </a:p>
              <a:p>
                <a:pPr lvl="1" algn="just" fontAlgn="auto">
                  <a:lnSpc>
                    <a:spcPct val="100000"/>
                  </a:lnSpc>
                  <a:spcBef>
                    <a:spcPts val="600"/>
                  </a:spcBef>
                  <a:spcAft>
                    <a:spcPts val="0"/>
                  </a:spcAft>
                </a:pPr>
                <a14:m>
                  <m:oMath xmlns:m="http://schemas.openxmlformats.org/officeDocument/2006/math">
                    <m:r>
                      <a:rPr lang="en-US" altLang="zh-CN" i="1" dirty="0">
                        <a:latin typeface="Cambria Math" panose="02040503050406030204" charset="0"/>
                        <a:cs typeface="Cambria Math" panose="02040503050406030204" charset="0"/>
                      </a:rPr>
                      <m:t>𝑅</m:t>
                    </m:r>
                  </m:oMath>
                </a14:m>
                <a:r>
                  <a:rPr lang="zh-CN" altLang="en-US" dirty="0"/>
                  <a:t>和</a:t>
                </a:r>
                <a14:m>
                  <m:oMath xmlns:m="http://schemas.openxmlformats.org/officeDocument/2006/math">
                    <m:r>
                      <a:rPr lang="en-US" altLang="zh-CN" i="1" dirty="0">
                        <a:latin typeface="Cambria Math" panose="02040503050406030204" charset="0"/>
                        <a:cs typeface="Cambria Math" panose="02040503050406030204" charset="0"/>
                      </a:rPr>
                      <m:t>𝑆</m:t>
                    </m:r>
                  </m:oMath>
                </a14:m>
                <a:endParaRPr lang="en-US" altLang="zh-CN" i="1" dirty="0"/>
              </a:p>
              <a:p>
                <a:pPr lvl="2" algn="just" fontAlgn="auto">
                  <a:lnSpc>
                    <a:spcPct val="100000"/>
                  </a:lnSpc>
                  <a:spcBef>
                    <a:spcPts val="600"/>
                  </a:spcBef>
                  <a:spcAft>
                    <a:spcPts val="0"/>
                  </a:spcAft>
                </a:pPr>
                <a:r>
                  <a:rPr lang="zh-CN" altLang="en-US" dirty="0"/>
                  <a:t>具有相同的目</a:t>
                </a:r>
                <a14:m>
                  <m:oMath xmlns:m="http://schemas.openxmlformats.org/officeDocument/2006/math">
                    <m:r>
                      <a:rPr lang="en-US" altLang="zh-CN" i="1" dirty="0">
                        <a:latin typeface="Cambria Math" panose="02040503050406030204" charset="0"/>
                        <a:cs typeface="Cambria Math" panose="02040503050406030204" charset="0"/>
                      </a:rPr>
                      <m:t>𝑛</m:t>
                    </m:r>
                  </m:oMath>
                </a14:m>
                <a:r>
                  <a:rPr lang="zh-CN" altLang="en-US" dirty="0"/>
                  <a:t>（即两个关系都有</a:t>
                </a:r>
                <a14:m>
                  <m:oMath xmlns:m="http://schemas.openxmlformats.org/officeDocument/2006/math">
                    <m:r>
                      <a:rPr lang="en-US" altLang="zh-CN" i="1" dirty="0">
                        <a:latin typeface="Cambria Math" panose="02040503050406030204" charset="0"/>
                        <a:cs typeface="Cambria Math" panose="02040503050406030204" charset="0"/>
                      </a:rPr>
                      <m:t>𝑛</m:t>
                    </m:r>
                  </m:oMath>
                </a14:m>
                <a:r>
                  <a:rPr lang="zh-CN" altLang="en-US" dirty="0"/>
                  <a:t>个属性）</a:t>
                </a:r>
              </a:p>
              <a:p>
                <a:pPr lvl="2" algn="just" fontAlgn="auto">
                  <a:lnSpc>
                    <a:spcPct val="100000"/>
                  </a:lnSpc>
                  <a:spcBef>
                    <a:spcPts val="600"/>
                  </a:spcBef>
                  <a:spcAft>
                    <a:spcPts val="0"/>
                  </a:spcAft>
                </a:pPr>
                <a:r>
                  <a:rPr lang="zh-CN" altLang="en-US" dirty="0"/>
                  <a:t>相应的属性取自同一个域</a:t>
                </a:r>
              </a:p>
              <a:p>
                <a:pPr lvl="1" algn="just" fontAlgn="auto">
                  <a:lnSpc>
                    <a:spcPct val="100000"/>
                  </a:lnSpc>
                  <a:spcBef>
                    <a:spcPts val="2600"/>
                  </a:spcBef>
                  <a:spcAft>
                    <a:spcPts val="0"/>
                  </a:spcAft>
                </a:pPr>
                <a14:m>
                  <m:oMath xmlns:m="http://schemas.openxmlformats.org/officeDocument/2006/math">
                    <m:r>
                      <a:rPr lang="en-US" altLang="zh-CN" i="1" dirty="0">
                        <a:latin typeface="Cambria Math" panose="02040503050406030204" charset="0"/>
                        <a:cs typeface="Cambria Math" panose="02040503050406030204" charset="0"/>
                      </a:rPr>
                      <m:t>𝑅</m:t>
                    </m:r>
                    <m:r>
                      <a:rPr lang="en-US" altLang="zh-CN" dirty="0">
                        <a:latin typeface="Cambria Math" panose="02040503050406030204" charset="0"/>
                        <a:cs typeface="Cambria Math" panose="02040503050406030204" charset="0"/>
                      </a:rPr>
                      <m:t>∪</m:t>
                    </m:r>
                    <m:r>
                      <a:rPr lang="en-US" altLang="zh-CN" i="1" dirty="0">
                        <a:latin typeface="Cambria Math" panose="02040503050406030204" charset="0"/>
                        <a:cs typeface="Cambria Math" panose="02040503050406030204" charset="0"/>
                      </a:rPr>
                      <m:t>𝑆</m:t>
                    </m:r>
                    <m:r>
                      <a:rPr lang="en-US" altLang="zh-CN" dirty="0">
                        <a:latin typeface="Cambria Math" panose="02040503050406030204" charset="0"/>
                        <a:cs typeface="Cambria Math" panose="02040503050406030204" charset="0"/>
                      </a:rPr>
                      <m:t> </m:t>
                    </m:r>
                  </m:oMath>
                </a14:m>
                <a:r>
                  <a:rPr lang="zh-CN" altLang="en-US" dirty="0"/>
                  <a:t>的运算结果</a:t>
                </a:r>
                <a:endParaRPr lang="en-US" altLang="zh-CN" dirty="0"/>
              </a:p>
              <a:p>
                <a:pPr lvl="2" algn="just" fontAlgn="auto">
                  <a:lnSpc>
                    <a:spcPct val="100000"/>
                  </a:lnSpc>
                  <a:spcBef>
                    <a:spcPts val="600"/>
                  </a:spcBef>
                  <a:spcAft>
                    <a:spcPts val="600"/>
                  </a:spcAft>
                </a:pPr>
                <a:r>
                  <a:rPr lang="zh-CN" altLang="en-US" dirty="0"/>
                  <a:t>仍为</a:t>
                </a:r>
                <a14:m>
                  <m:oMath xmlns:m="http://schemas.openxmlformats.org/officeDocument/2006/math">
                    <m:r>
                      <a:rPr lang="en-US" altLang="zh-CN" i="1" dirty="0">
                        <a:latin typeface="Cambria Math" panose="02040503050406030204" charset="0"/>
                        <a:cs typeface="Cambria Math" panose="02040503050406030204" charset="0"/>
                      </a:rPr>
                      <m:t>𝑛</m:t>
                    </m:r>
                  </m:oMath>
                </a14:m>
                <a:r>
                  <a:rPr lang="zh-CN" altLang="en-US" dirty="0"/>
                  <a:t>目关系，由属于</a:t>
                </a:r>
                <a14:m>
                  <m:oMath xmlns:m="http://schemas.openxmlformats.org/officeDocument/2006/math">
                    <m:r>
                      <a:rPr lang="en-US" altLang="zh-CN" i="1" dirty="0">
                        <a:latin typeface="Cambria Math" panose="02040503050406030204" charset="0"/>
                        <a:cs typeface="Cambria Math" panose="02040503050406030204" charset="0"/>
                      </a:rPr>
                      <m:t>𝑅</m:t>
                    </m:r>
                  </m:oMath>
                </a14:m>
                <a:r>
                  <a:rPr lang="zh-CN" altLang="en-US" dirty="0"/>
                  <a:t>或属于</a:t>
                </a:r>
                <a14:m>
                  <m:oMath xmlns:m="http://schemas.openxmlformats.org/officeDocument/2006/math">
                    <m:r>
                      <a:rPr lang="en-US" altLang="zh-CN" i="1" dirty="0">
                        <a:latin typeface="Cambria Math" panose="02040503050406030204" charset="0"/>
                        <a:cs typeface="Cambria Math" panose="02040503050406030204" charset="0"/>
                      </a:rPr>
                      <m:t>𝑆</m:t>
                    </m:r>
                  </m:oMath>
                </a14:m>
                <a:r>
                  <a:rPr lang="zh-CN" altLang="en-US" dirty="0"/>
                  <a:t>的元组组成</a:t>
                </a:r>
                <a:endParaRPr lang="en-US" altLang="zh-CN" dirty="0"/>
              </a:p>
              <a:p>
                <a:pPr marL="715645" lvl="2" indent="935355" algn="ctr" fontAlgn="auto">
                  <a:lnSpc>
                    <a:spcPct val="100000"/>
                  </a:lnSpc>
                  <a:spcBef>
                    <a:spcPts val="600"/>
                  </a:spcBef>
                  <a:spcAft>
                    <a:spcPts val="0"/>
                  </a:spcAft>
                  <a:buNone/>
                </a:pPr>
                <a14:m>
                  <m:oMathPara xmlns:m="http://schemas.openxmlformats.org/officeDocument/2006/math">
                    <m:oMathParaPr>
                      <m:jc m:val="left"/>
                    </m:oMathParaPr>
                    <m:oMath xmlns:m="http://schemas.openxmlformats.org/officeDocument/2006/math">
                      <m:r>
                        <a:rPr lang="en-US" altLang="zh-CN" i="1" dirty="0">
                          <a:solidFill>
                            <a:srgbClr val="FF0000"/>
                          </a:solidFill>
                          <a:latin typeface="Cambria Math" panose="02040503050406030204" charset="0"/>
                          <a:cs typeface="Cambria Math" panose="02040503050406030204" charset="0"/>
                        </a:rPr>
                        <m:t>𝑅</m:t>
                      </m:r>
                      <m:r>
                        <a:rPr lang="en-US" altLang="zh-CN" dirty="0">
                          <a:solidFill>
                            <a:srgbClr val="FF0000"/>
                          </a:solidFill>
                          <a:latin typeface="Cambria Math" panose="02040503050406030204" charset="0"/>
                          <a:cs typeface="Cambria Math" panose="02040503050406030204" charset="0"/>
                        </a:rPr>
                        <m:t>∪</m:t>
                      </m:r>
                      <m:r>
                        <a:rPr lang="en-US" altLang="zh-CN" i="1" dirty="0">
                          <a:solidFill>
                            <a:srgbClr val="FF0000"/>
                          </a:solidFill>
                          <a:latin typeface="Cambria Math" panose="02040503050406030204" charset="0"/>
                          <a:cs typeface="Cambria Math" panose="02040503050406030204" charset="0"/>
                        </a:rPr>
                        <m:t>𝑆</m:t>
                      </m:r>
                      <m:r>
                        <a:rPr lang="en-US" altLang="zh-CN" dirty="0">
                          <a:solidFill>
                            <a:srgbClr val="FF0000"/>
                          </a:solidFill>
                          <a:latin typeface="Cambria Math" panose="02040503050406030204" charset="0"/>
                          <a:cs typeface="Cambria Math" panose="02040503050406030204" charset="0"/>
                        </a:rPr>
                        <m:t> = { </m:t>
                      </m:r>
                      <m:r>
                        <a:rPr lang="en-US" altLang="zh-CN" i="1" dirty="0" err="1">
                          <a:solidFill>
                            <a:srgbClr val="FF0000"/>
                          </a:solidFill>
                          <a:latin typeface="Cambria Math" panose="02040503050406030204" charset="0"/>
                          <a:cs typeface="Cambria Math" panose="02040503050406030204" charset="0"/>
                        </a:rPr>
                        <m:t>𝑡</m:t>
                      </m:r>
                      <m:r>
                        <a:rPr lang="en-US" altLang="zh-CN" i="1" dirty="0" err="1">
                          <a:solidFill>
                            <a:srgbClr val="FF0000"/>
                          </a:solidFill>
                          <a:latin typeface="Cambria Math" panose="02040503050406030204" charset="0"/>
                          <a:cs typeface="Cambria Math" panose="02040503050406030204" charset="0"/>
                        </a:rPr>
                        <m:t> </m:t>
                      </m:r>
                      <m:r>
                        <a:rPr lang="en-US" altLang="zh-CN" dirty="0" err="1">
                          <a:solidFill>
                            <a:srgbClr val="FF0000"/>
                          </a:solidFill>
                          <a:latin typeface="Cambria Math" panose="02040503050406030204" charset="0"/>
                          <a:cs typeface="Cambria Math" panose="02040503050406030204" charset="0"/>
                        </a:rPr>
                        <m:t>| </m:t>
                      </m:r>
                      <m:r>
                        <a:rPr lang="en-US" altLang="zh-CN" i="1" dirty="0" err="1">
                          <a:solidFill>
                            <a:srgbClr val="FF0000"/>
                          </a:solidFill>
                          <a:latin typeface="Cambria Math" panose="02040503050406030204" charset="0"/>
                          <a:cs typeface="Cambria Math" panose="02040503050406030204" charset="0"/>
                        </a:rPr>
                        <m:t>𝑡</m:t>
                      </m:r>
                      <m:r>
                        <a:rPr lang="en-US" altLang="zh-CN" dirty="0">
                          <a:solidFill>
                            <a:srgbClr val="FF0000"/>
                          </a:solidFill>
                          <a:latin typeface="Cambria Math" panose="02040503050406030204" charset="0"/>
                          <a:cs typeface="Cambria Math" panose="02040503050406030204" charset="0"/>
                          <a:sym typeface="Symbol" panose="05050102010706020507" pitchFamily="2" charset="2"/>
                        </a:rPr>
                        <m:t></m:t>
                      </m:r>
                      <m:r>
                        <a:rPr lang="en-US" altLang="zh-CN" i="1" dirty="0" err="1">
                          <a:solidFill>
                            <a:srgbClr val="FF0000"/>
                          </a:solidFill>
                          <a:latin typeface="Cambria Math" panose="02040503050406030204" charset="0"/>
                          <a:cs typeface="Cambria Math" panose="02040503050406030204" charset="0"/>
                        </a:rPr>
                        <m:t>𝑅</m:t>
                      </m:r>
                      <m:r>
                        <a:rPr lang="en-US" altLang="zh-CN" i="1" dirty="0" err="1">
                          <a:solidFill>
                            <a:srgbClr val="FF0000"/>
                          </a:solidFill>
                          <a:latin typeface="Cambria Math" panose="02040503050406030204" charset="0"/>
                          <a:cs typeface="Cambria Math" panose="02040503050406030204" charset="0"/>
                        </a:rPr>
                        <m:t> </m:t>
                      </m:r>
                      <m:r>
                        <a:rPr lang="en-US" altLang="zh-CN" dirty="0" err="1">
                          <a:solidFill>
                            <a:srgbClr val="FF0000"/>
                          </a:solidFill>
                          <a:latin typeface="Cambria Math" panose="02040503050406030204" charset="0"/>
                          <a:cs typeface="Cambria Math" panose="02040503050406030204" charset="0"/>
                        </a:rPr>
                        <m:t>∨ </m:t>
                      </m:r>
                      <m:r>
                        <a:rPr lang="en-US" altLang="zh-CN" i="1" dirty="0" err="1">
                          <a:solidFill>
                            <a:srgbClr val="FF0000"/>
                          </a:solidFill>
                          <a:latin typeface="Cambria Math" panose="02040503050406030204" charset="0"/>
                          <a:cs typeface="Cambria Math" panose="02040503050406030204" charset="0"/>
                        </a:rPr>
                        <m:t>𝑡</m:t>
                      </m:r>
                      <m:r>
                        <a:rPr lang="en-US" altLang="zh-CN" dirty="0">
                          <a:solidFill>
                            <a:srgbClr val="FF0000"/>
                          </a:solidFill>
                          <a:latin typeface="Cambria Math" panose="02040503050406030204" charset="0"/>
                          <a:cs typeface="Cambria Math" panose="02040503050406030204" charset="0"/>
                          <a:sym typeface="Symbol" panose="05050102010706020507" pitchFamily="2" charset="2"/>
                        </a:rPr>
                        <m:t></m:t>
                      </m:r>
                      <m:r>
                        <a:rPr lang="en-US" altLang="zh-CN" i="1" dirty="0">
                          <a:solidFill>
                            <a:srgbClr val="FF0000"/>
                          </a:solidFill>
                          <a:latin typeface="Cambria Math" panose="02040503050406030204" charset="0"/>
                          <a:cs typeface="Cambria Math" panose="02040503050406030204" charset="0"/>
                        </a:rPr>
                        <m:t>𝑆</m:t>
                      </m:r>
                      <m:r>
                        <a:rPr lang="en-US" altLang="zh-CN" i="1" dirty="0">
                          <a:solidFill>
                            <a:srgbClr val="FF0000"/>
                          </a:solidFill>
                          <a:latin typeface="Cambria Math" panose="02040503050406030204" charset="0"/>
                          <a:cs typeface="Cambria Math" panose="02040503050406030204" charset="0"/>
                        </a:rPr>
                        <m:t> </m:t>
                      </m:r>
                      <m:r>
                        <a:rPr lang="en-US" altLang="zh-CN" dirty="0">
                          <a:solidFill>
                            <a:srgbClr val="FF0000"/>
                          </a:solidFill>
                          <a:latin typeface="Cambria Math" panose="02040503050406030204" charset="0"/>
                          <a:ea typeface="MS Mincho" charset="0"/>
                          <a:cs typeface="Cambria Math" panose="02040503050406030204" charset="0"/>
                        </a:rPr>
                        <m:t>}</m:t>
                      </m:r>
                    </m:oMath>
                  </m:oMathPara>
                </a14:m>
                <a:endParaRPr lang="en-US" altLang="zh-CN" dirty="0">
                  <a:solidFill>
                    <a:srgbClr val="FF0000"/>
                  </a:solidFill>
                  <a:latin typeface="Cambria Math" panose="02040503050406030204" charset="0"/>
                  <a:ea typeface="MS Mincho" charset="0"/>
                  <a:cs typeface="Cambria Math" panose="02040503050406030204" charset="0"/>
                </a:endParaRPr>
              </a:p>
              <a:p>
                <a:pPr lvl="1" algn="just" fontAlgn="auto">
                  <a:lnSpc>
                    <a:spcPct val="100000"/>
                  </a:lnSpc>
                  <a:spcBef>
                    <a:spcPts val="2600"/>
                  </a:spcBef>
                  <a:spcAft>
                    <a:spcPts val="0"/>
                  </a:spcAft>
                </a:pPr>
                <a:r>
                  <a:rPr lang="zh-CN" altLang="en-US" dirty="0"/>
                  <a:t>并运算</a:t>
                </a:r>
                <a:r>
                  <a:rPr lang="en-US" altLang="zh-CN" dirty="0"/>
                  <a:t> </a:t>
                </a:r>
                <a:r>
                  <a:rPr lang="zh-CN" altLang="en-US" dirty="0"/>
                  <a:t>满足</a:t>
                </a:r>
                <a:r>
                  <a:rPr lang="en-US" altLang="zh-CN" dirty="0"/>
                  <a:t> </a:t>
                </a:r>
                <a:r>
                  <a:rPr lang="zh-CN" altLang="en-US" dirty="0"/>
                  <a:t>交换律</a:t>
                </a:r>
                <a:r>
                  <a:rPr lang="en-US" altLang="zh-CN" dirty="0"/>
                  <a:t> </a:t>
                </a:r>
                <a:r>
                  <a:rPr lang="zh-CN" altLang="en-US" dirty="0"/>
                  <a:t>和</a:t>
                </a:r>
                <a:r>
                  <a:rPr lang="en-US" altLang="zh-CN" dirty="0"/>
                  <a:t> </a:t>
                </a:r>
                <a:r>
                  <a:rPr lang="zh-CN" altLang="en-US" dirty="0"/>
                  <a:t>结合律</a:t>
                </a:r>
                <a:endParaRPr lang="en-US" altLang="zh-CN" dirty="0"/>
              </a:p>
              <a:p>
                <a:pPr lvl="2" algn="just" fontAlgn="auto">
                  <a:lnSpc>
                    <a:spcPct val="100000"/>
                  </a:lnSpc>
                  <a:spcBef>
                    <a:spcPts val="600"/>
                  </a:spcBef>
                  <a:spcAft>
                    <a:spcPts val="0"/>
                  </a:spcAft>
                </a:pPr>
                <a:r>
                  <a:rPr lang="zh-CN" altLang="en-US" dirty="0">
                    <a:sym typeface="+mn-ea"/>
                  </a:rPr>
                  <a:t>交换律：</a:t>
                </a:r>
                <a14:m>
                  <m:oMath xmlns:m="http://schemas.openxmlformats.org/officeDocument/2006/math">
                    <m:r>
                      <a:rPr lang="en-US" altLang="zh-CN" i="1" dirty="0">
                        <a:latin typeface="Cambria Math" panose="02040503050406030204" charset="0"/>
                        <a:cs typeface="Cambria Math" panose="02040503050406030204" charset="0"/>
                        <a:sym typeface="+mn-ea"/>
                      </a:rPr>
                      <m:t>𝑹</m:t>
                    </m:r>
                    <m:r>
                      <a:rPr lang="en-US" altLang="zh-CN" b="1" i="1" dirty="0">
                        <a:latin typeface="Cambria Math" panose="02040503050406030204" charset="0"/>
                        <a:cs typeface="Cambria Math" panose="02040503050406030204" charset="0"/>
                        <a:sym typeface="+mn-ea"/>
                      </a:rPr>
                      <m:t>∪</m:t>
                    </m:r>
                    <m:r>
                      <a:rPr lang="en-US" altLang="zh-CN" i="1" dirty="0">
                        <a:latin typeface="Cambria Math" panose="02040503050406030204" charset="0"/>
                        <a:cs typeface="Cambria Math" panose="02040503050406030204" charset="0"/>
                        <a:sym typeface="+mn-ea"/>
                      </a:rPr>
                      <m:t>𝑺</m:t>
                    </m:r>
                    <m:r>
                      <a:rPr lang="en-US" altLang="zh-CN" i="1" dirty="0">
                        <a:latin typeface="Cambria Math" panose="02040503050406030204" charset="0"/>
                        <a:cs typeface="Cambria Math" panose="02040503050406030204" charset="0"/>
                        <a:sym typeface="+mn-ea"/>
                      </a:rPr>
                      <m:t> = </m:t>
                    </m:r>
                    <m:r>
                      <a:rPr lang="en-US" altLang="zh-CN" i="1" dirty="0">
                        <a:latin typeface="Cambria Math" panose="02040503050406030204" charset="0"/>
                        <a:cs typeface="Cambria Math" panose="02040503050406030204" charset="0"/>
                        <a:sym typeface="+mn-ea"/>
                      </a:rPr>
                      <m:t>𝑺</m:t>
                    </m:r>
                    <m:r>
                      <a:rPr lang="en-US" altLang="zh-CN" b="1" i="1" dirty="0">
                        <a:latin typeface="Cambria Math" panose="02040503050406030204" charset="0"/>
                        <a:cs typeface="Cambria Math" panose="02040503050406030204" charset="0"/>
                        <a:sym typeface="+mn-ea"/>
                      </a:rPr>
                      <m:t>∪</m:t>
                    </m:r>
                    <m:r>
                      <a:rPr lang="en-US" altLang="zh-CN" i="1" dirty="0">
                        <a:latin typeface="Cambria Math" panose="02040503050406030204" charset="0"/>
                        <a:cs typeface="Cambria Math" panose="02040503050406030204" charset="0"/>
                        <a:sym typeface="+mn-ea"/>
                      </a:rPr>
                      <m:t>𝑹</m:t>
                    </m:r>
                  </m:oMath>
                </a14:m>
                <a:endParaRPr lang="zh-CN" altLang="en-US" dirty="0">
                  <a:sym typeface="+mn-ea"/>
                </a:endParaRPr>
              </a:p>
              <a:p>
                <a:pPr lvl="2" algn="just" fontAlgn="auto">
                  <a:lnSpc>
                    <a:spcPct val="100000"/>
                  </a:lnSpc>
                  <a:spcBef>
                    <a:spcPts val="600"/>
                  </a:spcBef>
                  <a:spcAft>
                    <a:spcPts val="0"/>
                  </a:spcAft>
                </a:pPr>
                <a:r>
                  <a:rPr lang="zh-CN" altLang="en-US" dirty="0">
                    <a:sym typeface="+mn-ea"/>
                  </a:rPr>
                  <a:t>结合律：</a:t>
                </a:r>
                <a14:m>
                  <m:oMath xmlns:m="http://schemas.openxmlformats.org/officeDocument/2006/math">
                    <m:r>
                      <a:rPr lang="en-US" altLang="zh-CN" i="1" dirty="0">
                        <a:latin typeface="Cambria Math" panose="02040503050406030204" charset="0"/>
                        <a:cs typeface="Cambria Math" panose="02040503050406030204" charset="0"/>
                        <a:sym typeface="+mn-ea"/>
                      </a:rPr>
                      <m:t>(</m:t>
                    </m:r>
                    <m:r>
                      <a:rPr lang="en-US" altLang="zh-CN" i="1" dirty="0">
                        <a:latin typeface="Cambria Math" panose="02040503050406030204" charset="0"/>
                        <a:cs typeface="Cambria Math" panose="02040503050406030204" charset="0"/>
                        <a:sym typeface="+mn-ea"/>
                      </a:rPr>
                      <m:t>𝑹</m:t>
                    </m:r>
                    <m:r>
                      <a:rPr lang="en-US" altLang="zh-CN" b="1" i="1" dirty="0">
                        <a:latin typeface="Cambria Math" panose="02040503050406030204" charset="0"/>
                        <a:cs typeface="Cambria Math" panose="02040503050406030204" charset="0"/>
                        <a:sym typeface="+mn-ea"/>
                      </a:rPr>
                      <m:t>∪</m:t>
                    </m:r>
                    <m:r>
                      <a:rPr lang="en-US" altLang="zh-CN" i="1" dirty="0">
                        <a:latin typeface="Cambria Math" panose="02040503050406030204" charset="0"/>
                        <a:cs typeface="Cambria Math" panose="02040503050406030204" charset="0"/>
                        <a:sym typeface="+mn-ea"/>
                      </a:rPr>
                      <m:t>𝑺</m:t>
                    </m:r>
                    <m:r>
                      <a:rPr lang="en-US" altLang="zh-CN" i="1" dirty="0">
                        <a:latin typeface="Cambria Math" panose="02040503050406030204" charset="0"/>
                        <a:cs typeface="Cambria Math" panose="02040503050406030204" charset="0"/>
                        <a:sym typeface="+mn-ea"/>
                      </a:rPr>
                      <m:t>)</m:t>
                    </m:r>
                    <m:r>
                      <a:rPr lang="en-US" altLang="zh-CN" b="1" i="1" dirty="0">
                        <a:latin typeface="Cambria Math" panose="02040503050406030204" charset="0"/>
                        <a:cs typeface="Cambria Math" panose="02040503050406030204" charset="0"/>
                        <a:sym typeface="+mn-ea"/>
                      </a:rPr>
                      <m:t>∪</m:t>
                    </m:r>
                    <m:r>
                      <a:rPr lang="en-US" altLang="zh-CN" b="1" i="1" dirty="0">
                        <a:latin typeface="Cambria Math" panose="02040503050406030204" charset="0"/>
                        <a:cs typeface="Cambria Math" panose="02040503050406030204" charset="0"/>
                        <a:sym typeface="+mn-ea"/>
                      </a:rPr>
                      <m:t>𝑻</m:t>
                    </m:r>
                    <m:r>
                      <a:rPr lang="en-US" altLang="zh-CN" i="1" dirty="0">
                        <a:latin typeface="Cambria Math" panose="02040503050406030204" charset="0"/>
                        <a:cs typeface="Cambria Math" panose="02040503050406030204" charset="0"/>
                        <a:sym typeface="+mn-ea"/>
                      </a:rPr>
                      <m:t> = </m:t>
                    </m:r>
                    <m:r>
                      <a:rPr lang="en-US" altLang="zh-CN" i="1" dirty="0">
                        <a:latin typeface="Cambria Math" panose="02040503050406030204" charset="0"/>
                        <a:cs typeface="Cambria Math" panose="02040503050406030204" charset="0"/>
                        <a:sym typeface="+mn-ea"/>
                      </a:rPr>
                      <m:t>𝑹</m:t>
                    </m:r>
                    <m:r>
                      <a:rPr lang="en-US" altLang="zh-CN" b="1" i="1" dirty="0">
                        <a:latin typeface="Cambria Math" panose="02040503050406030204" charset="0"/>
                        <a:cs typeface="Cambria Math" panose="02040503050406030204" charset="0"/>
                        <a:sym typeface="+mn-ea"/>
                      </a:rPr>
                      <m:t>∪(</m:t>
                    </m:r>
                    <m:r>
                      <a:rPr lang="en-US" altLang="zh-CN" b="1" i="1" dirty="0">
                        <a:latin typeface="Cambria Math" panose="02040503050406030204" charset="0"/>
                        <a:cs typeface="Cambria Math" panose="02040503050406030204" charset="0"/>
                        <a:sym typeface="+mn-ea"/>
                      </a:rPr>
                      <m:t>𝑺</m:t>
                    </m:r>
                    <m:r>
                      <a:rPr lang="en-US" altLang="zh-CN" b="1" i="1" dirty="0">
                        <a:latin typeface="Cambria Math" panose="02040503050406030204" charset="0"/>
                        <a:cs typeface="Cambria Math" panose="02040503050406030204" charset="0"/>
                        <a:sym typeface="+mn-ea"/>
                      </a:rPr>
                      <m:t>∪</m:t>
                    </m:r>
                    <m:r>
                      <a:rPr lang="en-US" altLang="zh-CN" b="1" i="1" dirty="0">
                        <a:latin typeface="Cambria Math" panose="02040503050406030204" charset="0"/>
                        <a:cs typeface="Cambria Math" panose="02040503050406030204" charset="0"/>
                        <a:sym typeface="+mn-ea"/>
                      </a:rPr>
                      <m:t>𝑻</m:t>
                    </m:r>
                    <m:r>
                      <a:rPr lang="en-US" altLang="zh-CN" b="1" i="1" dirty="0">
                        <a:latin typeface="Cambria Math" panose="02040503050406030204" charset="0"/>
                        <a:cs typeface="Cambria Math" panose="02040503050406030204" charset="0"/>
                        <a:sym typeface="+mn-ea"/>
                      </a:rPr>
                      <m:t>)</m:t>
                    </m:r>
                  </m:oMath>
                </a14:m>
                <a:endParaRPr lang="zh-CN" altLang="en-US" dirty="0">
                  <a:sym typeface="+mn-ea"/>
                </a:endParaRPr>
              </a:p>
            </p:txBody>
          </p:sp>
        </mc:Choice>
        <mc:Fallback xmlns="">
          <p:sp>
            <p:nvSpPr>
              <p:cNvPr id="7" name="内容占位符 6"/>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22</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 calcmode="lin" valueType="num">
                                      <p:cBhvr additive="base">
                                        <p:cTn id="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 calcmode="lin" valueType="num">
                                      <p:cBhvr additive="base">
                                        <p:cTn id="1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 calcmode="lin" valueType="num">
                                      <p:cBhvr additive="base">
                                        <p:cTn id="1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anim calcmode="lin" valueType="num">
                                      <p:cBhvr additive="base">
                                        <p:cTn id="2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 calcmode="lin" valueType="num">
                                      <p:cBhvr additive="base">
                                        <p:cTn id="2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 calcmode="lin" valueType="num">
                                      <p:cBhvr additive="base">
                                        <p:cTn id="3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a:t>
            </a:r>
            <a:r>
              <a:rPr lang="zh-CN" altLang="en-US" dirty="0">
                <a:sym typeface="+mn-ea"/>
              </a:rPr>
              <a:t>并</a:t>
            </a:r>
            <a:r>
              <a:rPr lang="en-US" altLang="zh-CN" dirty="0">
                <a:sym typeface="+mn-ea"/>
              </a:rPr>
              <a:t>’ </a:t>
            </a:r>
            <a:r>
              <a:rPr lang="zh-CN" altLang="en-US" dirty="0">
                <a:sym typeface="+mn-ea"/>
              </a:rPr>
              <a:t>运算</a:t>
            </a:r>
            <a:r>
              <a:rPr lang="en-US" altLang="zh-CN" dirty="0">
                <a:sym typeface="+mn-ea"/>
              </a:rPr>
              <a:t> </a:t>
            </a:r>
            <a:r>
              <a:rPr lang="zh-CN" altLang="en-US" dirty="0">
                <a:sym typeface="+mn-ea"/>
              </a:rPr>
              <a:t> </a:t>
            </a:r>
            <a:r>
              <a:rPr lang="en-US" altLang="zh-CN" dirty="0">
                <a:sym typeface="+mn-ea"/>
              </a:rPr>
              <a:t>2</a:t>
            </a:r>
            <a:endParaRPr lang="zh-CN" altLang="en-US"/>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424180" y="687070"/>
                <a:ext cx="11343005" cy="565785"/>
              </a:xfrm>
            </p:spPr>
            <p:txBody>
              <a:bodyPr>
                <a:spAutoFit/>
              </a:bodyPr>
              <a:lstStyle/>
              <a:p>
                <a:pPr fontAlgn="auto">
                  <a:lnSpc>
                    <a:spcPct val="110000"/>
                  </a:lnSpc>
                </a:pPr>
                <a:r>
                  <a:rPr lang="en-US" altLang="zh-CN" sz="2800">
                    <a:latin typeface="Times New Roman" panose="02020603050405020304" charset="0"/>
                    <a:cs typeface="Times New Roman" panose="02020603050405020304" charset="0"/>
                  </a:rPr>
                  <a:t>the set of tuples in the relation </a:t>
                </a:r>
                <a14:m>
                  <m:oMath xmlns:m="http://schemas.openxmlformats.org/officeDocument/2006/math">
                    <m:r>
                      <a:rPr lang="en-US" altLang="zh-CN" sz="2800" b="0" i="1">
                        <a:solidFill>
                          <a:srgbClr val="1F2DA8"/>
                        </a:solidFill>
                        <a:latin typeface="Cambria Math" panose="02040503050406030204" charset="0"/>
                        <a:cs typeface="Cambria Math" panose="02040503050406030204" charset="0"/>
                      </a:rPr>
                      <m:t>𝑇</m:t>
                    </m:r>
                    <m:r>
                      <a:rPr lang="en-US" altLang="zh-CN" sz="2800" b="0" i="1">
                        <a:solidFill>
                          <a:srgbClr val="1F2DA8"/>
                        </a:solidFill>
                        <a:latin typeface="Cambria Math" panose="02040503050406030204" charset="0"/>
                        <a:ea typeface="MS Mincho" charset="0"/>
                        <a:cs typeface="Cambria Math" panose="02040503050406030204" charset="0"/>
                      </a:rPr>
                      <m:t>=</m:t>
                    </m:r>
                    <m:r>
                      <a:rPr lang="en-US" altLang="zh-CN" sz="2800" i="1" dirty="0">
                        <a:solidFill>
                          <a:srgbClr val="1F2DA8"/>
                        </a:solidFill>
                        <a:latin typeface="Cambria Math" panose="02040503050406030204" charset="0"/>
                        <a:cs typeface="Cambria Math" panose="02040503050406030204" charset="0"/>
                      </a:rPr>
                      <m:t>𝑅</m:t>
                    </m:r>
                    <m:r>
                      <a:rPr lang="en-US" altLang="zh-CN" sz="2800" dirty="0">
                        <a:solidFill>
                          <a:srgbClr val="1F2DA8"/>
                        </a:solidFill>
                        <a:latin typeface="Cambria Math" panose="02040503050406030204" charset="0"/>
                        <a:cs typeface="Cambria Math" panose="02040503050406030204" charset="0"/>
                      </a:rPr>
                      <m:t>∪</m:t>
                    </m:r>
                    <m:r>
                      <a:rPr lang="en-US" altLang="zh-CN" sz="2800" i="1" dirty="0">
                        <a:solidFill>
                          <a:srgbClr val="1F2DA8"/>
                        </a:solidFill>
                        <a:latin typeface="Cambria Math" panose="02040503050406030204" charset="0"/>
                        <a:cs typeface="Cambria Math" panose="02040503050406030204" charset="0"/>
                      </a:rPr>
                      <m:t>𝑆</m:t>
                    </m:r>
                    <m:r>
                      <a:rPr lang="en-US" altLang="zh-CN" sz="2800" dirty="0">
                        <a:solidFill>
                          <a:srgbClr val="1F2DA8"/>
                        </a:solidFill>
                        <a:latin typeface="Cambria Math" panose="02040503050406030204" charset="0"/>
                        <a:cs typeface="Cambria Math" panose="02040503050406030204" charset="0"/>
                      </a:rPr>
                      <m:t>= { </m:t>
                    </m:r>
                    <m:r>
                      <a:rPr lang="en-US" altLang="zh-CN" sz="2800" i="1" dirty="0" err="1">
                        <a:solidFill>
                          <a:srgbClr val="1F2DA8"/>
                        </a:solidFill>
                        <a:latin typeface="Cambria Math" panose="02040503050406030204" charset="0"/>
                        <a:cs typeface="Cambria Math" panose="02040503050406030204" charset="0"/>
                      </a:rPr>
                      <m:t>𝑡</m:t>
                    </m:r>
                    <m:r>
                      <a:rPr lang="en-US" altLang="zh-CN" sz="2800" i="1" dirty="0" err="1">
                        <a:solidFill>
                          <a:srgbClr val="1F2DA8"/>
                        </a:solidFill>
                        <a:latin typeface="Cambria Math" panose="02040503050406030204" charset="0"/>
                        <a:cs typeface="Cambria Math" panose="02040503050406030204" charset="0"/>
                      </a:rPr>
                      <m:t> </m:t>
                    </m:r>
                    <m:r>
                      <a:rPr lang="en-US" altLang="zh-CN" sz="2800" dirty="0" err="1">
                        <a:solidFill>
                          <a:srgbClr val="1F2DA8"/>
                        </a:solidFill>
                        <a:latin typeface="Cambria Math" panose="02040503050406030204" charset="0"/>
                        <a:cs typeface="Cambria Math" panose="02040503050406030204" charset="0"/>
                      </a:rPr>
                      <m:t>| </m:t>
                    </m:r>
                    <m:r>
                      <a:rPr lang="en-US" altLang="zh-CN" sz="2800" i="1" dirty="0" err="1">
                        <a:solidFill>
                          <a:srgbClr val="1F2DA8"/>
                        </a:solidFill>
                        <a:latin typeface="Cambria Math" panose="02040503050406030204" charset="0"/>
                        <a:cs typeface="Cambria Math" panose="02040503050406030204" charset="0"/>
                      </a:rPr>
                      <m:t>𝑡</m:t>
                    </m:r>
                    <m:r>
                      <a:rPr lang="en-US" altLang="zh-CN" sz="2800"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i="1" dirty="0" err="1">
                        <a:solidFill>
                          <a:srgbClr val="1F2DA8"/>
                        </a:solidFill>
                        <a:latin typeface="Cambria Math" panose="02040503050406030204" charset="0"/>
                        <a:cs typeface="Cambria Math" panose="02040503050406030204" charset="0"/>
                      </a:rPr>
                      <m:t>𝑅</m:t>
                    </m:r>
                    <m:r>
                      <a:rPr lang="en-US" altLang="zh-CN" sz="2800" i="1" dirty="0" err="1">
                        <a:solidFill>
                          <a:srgbClr val="1F2DA8"/>
                        </a:solidFill>
                        <a:latin typeface="Cambria Math" panose="02040503050406030204" charset="0"/>
                        <a:cs typeface="Cambria Math" panose="02040503050406030204" charset="0"/>
                      </a:rPr>
                      <m:t> </m:t>
                    </m:r>
                    <m:r>
                      <a:rPr lang="en-US" altLang="zh-CN" sz="2800" dirty="0" err="1">
                        <a:solidFill>
                          <a:srgbClr val="1F2DA8"/>
                        </a:solidFill>
                        <a:latin typeface="Cambria Math" panose="02040503050406030204" charset="0"/>
                        <a:cs typeface="Cambria Math" panose="02040503050406030204" charset="0"/>
                      </a:rPr>
                      <m:t>∨ </m:t>
                    </m:r>
                    <m:r>
                      <a:rPr lang="en-US" altLang="zh-CN" sz="2800" i="1" dirty="0" err="1">
                        <a:solidFill>
                          <a:srgbClr val="1F2DA8"/>
                        </a:solidFill>
                        <a:latin typeface="Cambria Math" panose="02040503050406030204" charset="0"/>
                        <a:cs typeface="Cambria Math" panose="02040503050406030204" charset="0"/>
                      </a:rPr>
                      <m:t>𝑡</m:t>
                    </m:r>
                    <m:r>
                      <a:rPr lang="en-US" altLang="zh-CN" sz="2800"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i="1" dirty="0">
                        <a:solidFill>
                          <a:srgbClr val="1F2DA8"/>
                        </a:solidFill>
                        <a:latin typeface="Cambria Math" panose="02040503050406030204" charset="0"/>
                        <a:cs typeface="Cambria Math" panose="02040503050406030204" charset="0"/>
                      </a:rPr>
                      <m:t>𝑆</m:t>
                    </m:r>
                    <m:r>
                      <a:rPr lang="en-US" altLang="zh-CN" sz="2800" i="1" dirty="0">
                        <a:solidFill>
                          <a:srgbClr val="1F2DA8"/>
                        </a:solidFill>
                        <a:latin typeface="Cambria Math" panose="02040503050406030204" charset="0"/>
                        <a:cs typeface="Cambria Math" panose="02040503050406030204" charset="0"/>
                      </a:rPr>
                      <m:t> </m:t>
                    </m:r>
                    <m:r>
                      <a:rPr lang="en-US" altLang="zh-CN" sz="2800" dirty="0">
                        <a:solidFill>
                          <a:srgbClr val="1F2DA8"/>
                        </a:solidFill>
                        <a:latin typeface="Cambria Math" panose="02040503050406030204" charset="0"/>
                        <a:ea typeface="MS Mincho" charset="0"/>
                        <a:cs typeface="Cambria Math" panose="02040503050406030204" charset="0"/>
                      </a:rPr>
                      <m:t>}</m:t>
                    </m:r>
                  </m:oMath>
                </a14:m>
                <a:endParaRPr lang="en-US" altLang="zh-CN" sz="2800" b="0" i="1" dirty="0">
                  <a:solidFill>
                    <a:srgbClr val="1F2DA8"/>
                  </a:solidFill>
                  <a:latin typeface="Cambria Math" panose="02040503050406030204" charset="0"/>
                  <a:ea typeface="MS Mincho" charset="0"/>
                  <a:cs typeface="Cambria Math" panose="02040503050406030204" charset="0"/>
                </a:endParaRPr>
              </a:p>
            </p:txBody>
          </p:sp>
        </mc:Choice>
        <mc:Fallback xmlns="">
          <p:sp>
            <p:nvSpPr>
              <p:cNvPr id="5" name="内容占位符 4"/>
              <p:cNvSpPr>
                <a:spLocks noRot="1" noChangeAspect="1" noMove="1" noResize="1" noEditPoints="1" noAdjustHandles="1" noChangeArrowheads="1" noChangeShapeType="1" noTextEdit="1"/>
              </p:cNvSpPr>
              <p:nvPr>
                <p:ph idx="1"/>
              </p:nvPr>
            </p:nvSpPr>
            <p:spPr>
              <a:xfrm>
                <a:off x="424180" y="687070"/>
                <a:ext cx="11343005" cy="565785"/>
              </a:xfrm>
              <a:blipFill rotWithShape="1">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23</a:t>
            </a:fld>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a:off x="920750" y="1403985"/>
                <a:ext cx="10386060" cy="4742815"/>
              </a:xfrm>
              <a:prstGeom prst="rect">
                <a:avLst/>
              </a:prstGeom>
              <a:noFill/>
              <a:ln>
                <a:solidFill>
                  <a:schemeClr val="accent1"/>
                </a:solidFill>
              </a:ln>
            </p:spPr>
            <p:txBody>
              <a:bodyPr wrap="square" rtlCol="0">
                <a:spAutoFit/>
              </a:bodyPr>
              <a:lstStyle/>
              <a:p>
                <a:pPr lvl="1" indent="0" fontAlgn="auto">
                  <a:lnSpc>
                    <a:spcPct val="120000"/>
                  </a:lnSpc>
                  <a:spcBef>
                    <a:spcPts val="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首先将关系</a:t>
                </a:r>
                <a14:m>
                  <m:oMath xmlns:m="http://schemas.openxmlformats.org/officeDocument/2006/math">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𝑅</m:t>
                    </m:r>
                  </m:oMath>
                </a14:m>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中的元组加入结果关系</a:t>
                </a:r>
                <a14:m>
                  <m:oMath xmlns:m="http://schemas.openxmlformats.org/officeDocument/2006/math">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𝑇</m:t>
                    </m:r>
                  </m:oMath>
                </a14:m>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p>
              <a:p>
                <a:pPr lvl="1" indent="0" fontAlgn="auto">
                  <a:lnSpc>
                    <a:spcPct val="120000"/>
                  </a:lnSpc>
                  <a:spcBef>
                    <a:spcPts val="0"/>
                  </a:spcBef>
                </a:pPr>
                <a14:m>
                  <m:oMathPara xmlns:m="http://schemas.openxmlformats.org/officeDocument/2006/math">
                    <m:oMathParaPr>
                      <m:jc m:val="left"/>
                    </m:oMathParaPr>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r>
                        <a:rPr lang="en-US" altLang="zh-CN" sz="2800" b="1" i="1" spc="100">
                          <a:solidFill>
                            <a:srgbClr val="1F2DA8"/>
                          </a:solidFill>
                          <a:uFillTx/>
                          <a:latin typeface="Cambria Math" panose="02040503050406030204" charset="0"/>
                          <a:ea typeface="MS Mincho" charset="0"/>
                          <a:cs typeface="Cambria Math" panose="02040503050406030204" charset="0"/>
                        </a:rPr>
                        <m:t> </m:t>
                      </m:r>
                      <m:box>
                        <m:boxPr>
                          <m:noBreak m:val="on"/>
                          <m:ctrlPr>
                            <a:rPr lang="en-US" altLang="zh-CN" sz="2800" b="1" i="1" spc="100">
                              <a:solidFill>
                                <a:srgbClr val="1F2DA8"/>
                              </a:solidFill>
                              <a:uFillTx/>
                              <a:latin typeface="Cambria Math" panose="02040503050406030204" pitchFamily="18" charset="0"/>
                              <a:cs typeface="Cambria Math" panose="02040503050406030204" charset="0"/>
                            </a:rPr>
                          </m:ctrlPr>
                        </m:boxPr>
                        <m:e>
                          <m:r>
                            <a:rPr lang="en-US" altLang="zh-CN" sz="2800" b="1" i="1" spc="100">
                              <a:solidFill>
                                <a:srgbClr val="1F2DA8"/>
                              </a:solidFill>
                              <a:uFillTx/>
                              <a:latin typeface="Cambria Math" panose="02040503050406030204" charset="0"/>
                              <a:ea typeface="MS Mincho" charset="0"/>
                              <a:cs typeface="Cambria Math" panose="02040503050406030204" charset="0"/>
                            </a:rPr>
                            <m:t>∶=</m:t>
                          </m:r>
                        </m:e>
                      </m:box>
                      <m:r>
                        <a:rPr lang="en-US" altLang="zh-CN" sz="2800" b="1" i="1" spc="100">
                          <a:solidFill>
                            <a:srgbClr val="1F2DA8"/>
                          </a:solidFill>
                          <a:uFillTx/>
                          <a:latin typeface="Cambria Math" panose="02040503050406030204" charset="0"/>
                          <a:ea typeface="MS Mincho" charset="0"/>
                          <a:cs typeface="Cambria Math" panose="02040503050406030204" charset="0"/>
                        </a:rPr>
                        <m:t> </m:t>
                      </m:r>
                      <m:r>
                        <a:rPr lang="en-US" altLang="zh-CN" sz="2800" b="1" i="1" spc="100">
                          <a:solidFill>
                            <a:srgbClr val="1F2DA8"/>
                          </a:solidFill>
                          <a:uFillTx/>
                          <a:latin typeface="Cambria Math" panose="02040503050406030204" charset="0"/>
                          <a:cs typeface="Cambria Math" panose="02040503050406030204" charset="0"/>
                        </a:rPr>
                        <m:t>𝑹</m:t>
                      </m:r>
                    </m:oMath>
                  </m:oMathPara>
                </a14:m>
                <a:endParaRPr lang="en-US" altLang="zh-CN" sz="2800" b="1" spc="100">
                  <a:solidFill>
                    <a:srgbClr val="1F2DA8"/>
                  </a:solidFill>
                  <a:uFillTx/>
                  <a:latin typeface="Times New Roman" panose="02020603050405020304" charset="0"/>
                  <a:cs typeface="Times New Roman" panose="02020603050405020304" charset="0"/>
                </a:endParaRPr>
              </a:p>
              <a:p>
                <a:pPr lvl="1" indent="0" fontAlgn="auto">
                  <a:lnSpc>
                    <a:spcPct val="120000"/>
                  </a:lnSpc>
                  <a:spcBef>
                    <a:spcPts val="0"/>
                  </a:spcBef>
                </a:pPr>
                <a:r>
                  <a:rPr lang="en-US" altLang="zh-CN" sz="2800" b="1" spc="100">
                    <a:solidFill>
                      <a:srgbClr val="1F2DA8"/>
                    </a:solidFill>
                    <a:uFillTx/>
                    <a:latin typeface="Times New Roman" panose="02020603050405020304" charset="0"/>
                    <a:cs typeface="Times New Roman" panose="02020603050405020304" charset="0"/>
                  </a:rPr>
                  <a:t>for each tuple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𝒕</m:t>
                    </m:r>
                    <m:r>
                      <a:rPr lang="en-US" altLang="zh-CN" sz="2800" b="1" i="1" spc="100" baseline="-25000">
                        <a:solidFill>
                          <a:srgbClr val="1F2DA8"/>
                        </a:solidFill>
                        <a:uFillTx/>
                        <a:latin typeface="Cambria Math" panose="02040503050406030204" charset="0"/>
                        <a:cs typeface="Cambria Math" panose="02040503050406030204" charset="0"/>
                      </a:rPr>
                      <m:t>𝒔</m:t>
                    </m:r>
                    <m:r>
                      <a:rPr lang="en-US" altLang="zh-CN" sz="2800" b="1" i="1" spc="100">
                        <a:solidFill>
                          <a:srgbClr val="1F2DA8"/>
                        </a:solidFill>
                        <a:uFillTx/>
                        <a:latin typeface="Cambria Math" panose="02040503050406030204" charset="0"/>
                        <a:ea typeface="MS Mincho" charset="0"/>
                        <a:cs typeface="Cambria Math" panose="02040503050406030204" charset="0"/>
                      </a:rPr>
                      <m:t>∈</m:t>
                    </m:r>
                    <m:r>
                      <a:rPr lang="en-US" altLang="zh-CN" sz="2800" b="1" i="1" spc="100">
                        <a:solidFill>
                          <a:srgbClr val="1F2DA8"/>
                        </a:solidFill>
                        <a:uFillTx/>
                        <a:latin typeface="Cambria Math" panose="02040503050406030204" charset="0"/>
                        <a:cs typeface="Cambria Math" panose="02040503050406030204" charset="0"/>
                      </a:rPr>
                      <m:t>𝑺</m:t>
                    </m:r>
                  </m:oMath>
                </a14:m>
                <a:endParaRPr lang="en-US" altLang="zh-CN" sz="2800" b="1" spc="100">
                  <a:solidFill>
                    <a:srgbClr val="1F2DA8"/>
                  </a:solidFill>
                  <a:uFillTx/>
                  <a:latin typeface="Times New Roman" panose="02020603050405020304" charset="0"/>
                  <a:cs typeface="Times New Roman" panose="02020603050405020304" charset="0"/>
                </a:endParaRPr>
              </a:p>
              <a:p>
                <a:pPr lvl="1" indent="0" fontAlgn="auto">
                  <a:lnSpc>
                    <a:spcPct val="120000"/>
                  </a:lnSpc>
                  <a:spcBef>
                    <a:spcPts val="0"/>
                  </a:spcBef>
                </a:pPr>
                <a:r>
                  <a:rPr lang="en-US" altLang="zh-CN" sz="2800" b="1" spc="100">
                    <a:solidFill>
                      <a:srgbClr val="1F2DA8"/>
                    </a:solidFill>
                    <a:uFillTx/>
                    <a:latin typeface="Times New Roman" panose="02020603050405020304" charset="0"/>
                    <a:cs typeface="Times New Roman" panose="02020603050405020304" charset="0"/>
                  </a:rPr>
                  <a:t>{</a:t>
                </a:r>
              </a:p>
              <a:p>
                <a:pPr lvl="2" indent="0" fontAlgn="auto">
                  <a:lnSpc>
                    <a:spcPct val="120000"/>
                  </a:lnSpc>
                  <a:spcBef>
                    <a:spcPts val="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确保结果关系</a:t>
                </a:r>
                <a14:m>
                  <m:oMath xmlns:m="http://schemas.openxmlformats.org/officeDocument/2006/math">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𝑇</m:t>
                    </m:r>
                  </m:oMath>
                </a14:m>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中元组的唯一性</a:t>
                </a: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p>
              <a:p>
                <a:pPr lvl="2" indent="0" fontAlgn="auto">
                  <a:lnSpc>
                    <a:spcPct val="120000"/>
                  </a:lnSpc>
                  <a:spcBef>
                    <a:spcPts val="0"/>
                  </a:spcBef>
                </a:pPr>
                <a:r>
                  <a:rPr lang="en-US" altLang="zh-CN" sz="2800" b="1" spc="100">
                    <a:solidFill>
                      <a:srgbClr val="1F2DA8"/>
                    </a:solidFill>
                    <a:uFillTx/>
                    <a:latin typeface="Times New Roman" panose="02020603050405020304" charset="0"/>
                    <a:cs typeface="Times New Roman" panose="02020603050405020304" charset="0"/>
                  </a:rPr>
                  <a:t>if </a:t>
                </a:r>
                <a14:m>
                  <m:oMath xmlns:m="http://schemas.openxmlformats.org/officeDocument/2006/math">
                    <m:r>
                      <a:rPr lang="en-US" altLang="zh-CN" sz="2800" b="1" i="1" spc="100">
                        <a:solidFill>
                          <a:srgbClr val="1F2DA8"/>
                        </a:solidFill>
                        <a:uFillTx/>
                        <a:latin typeface="Cambria Math" panose="02040503050406030204" charset="0"/>
                        <a:ea typeface="MS Mincho" charset="0"/>
                        <a:cs typeface="Cambria Math" panose="02040503050406030204" charset="0"/>
                      </a:rPr>
                      <m:t>(</m:t>
                    </m:r>
                    <m:r>
                      <a:rPr lang="en-US" altLang="zh-CN" sz="2800" b="1" i="1" spc="100">
                        <a:solidFill>
                          <a:srgbClr val="1F2DA8"/>
                        </a:solidFill>
                        <a:uFillTx/>
                        <a:latin typeface="Cambria Math" panose="02040503050406030204" charset="0"/>
                        <a:cs typeface="Cambria Math" panose="02040503050406030204" charset="0"/>
                      </a:rPr>
                      <m:t>𝒕</m:t>
                    </m:r>
                    <m:r>
                      <a:rPr lang="en-US" altLang="zh-CN" sz="2800" b="1" i="1" spc="100" baseline="-25000">
                        <a:solidFill>
                          <a:srgbClr val="1F2DA8"/>
                        </a:solidFill>
                        <a:uFillTx/>
                        <a:latin typeface="Cambria Math" panose="02040503050406030204" charset="0"/>
                        <a:cs typeface="Cambria Math" panose="02040503050406030204" charset="0"/>
                      </a:rPr>
                      <m:t>𝒔</m:t>
                    </m:r>
                    <m:r>
                      <a:rPr lang="en-US" altLang="zh-CN" sz="2800" b="1" i="1" spc="100">
                        <a:solidFill>
                          <a:srgbClr val="1F2DA8"/>
                        </a:solidFill>
                        <a:uFillTx/>
                        <a:latin typeface="Cambria Math" panose="02040503050406030204" charset="0"/>
                        <a:ea typeface="MS Mincho" charset="0"/>
                        <a:cs typeface="Cambria Math" panose="02040503050406030204" charset="0"/>
                      </a:rPr>
                      <m:t>∉</m:t>
                    </m:r>
                    <m:r>
                      <a:rPr lang="en-US" altLang="zh-CN" sz="2800" b="1" i="1" spc="100">
                        <a:solidFill>
                          <a:srgbClr val="1F2DA8"/>
                        </a:solidFill>
                        <a:uFillTx/>
                        <a:latin typeface="Cambria Math" panose="02040503050406030204" charset="0"/>
                        <a:cs typeface="Cambria Math" panose="02040503050406030204" charset="0"/>
                      </a:rPr>
                      <m:t>𝑹</m:t>
                    </m:r>
                    <m:r>
                      <a:rPr lang="en-US" altLang="zh-CN" sz="2800" b="1" i="1" spc="100">
                        <a:solidFill>
                          <a:srgbClr val="1F2DA8"/>
                        </a:solidFill>
                        <a:uFillTx/>
                        <a:latin typeface="Cambria Math" panose="02040503050406030204" charset="0"/>
                        <a:ea typeface="MS Mincho" charset="0"/>
                        <a:cs typeface="Cambria Math" panose="02040503050406030204" charset="0"/>
                      </a:rPr>
                      <m:t>)</m:t>
                    </m:r>
                  </m:oMath>
                </a14:m>
                <a:r>
                  <a:rPr lang="en-US" altLang="zh-CN" sz="2800" b="1" spc="100">
                    <a:solidFill>
                      <a:srgbClr val="1F2DA8"/>
                    </a:solidFill>
                    <a:uFillTx/>
                    <a:latin typeface="Times New Roman" panose="02020603050405020304" charset="0"/>
                    <a:cs typeface="Times New Roman" panose="02020603050405020304" charset="0"/>
                  </a:rPr>
                  <a:t> </a:t>
                </a:r>
              </a:p>
              <a:p>
                <a:pPr lvl="2" indent="0" fontAlgn="auto">
                  <a:lnSpc>
                    <a:spcPct val="120000"/>
                  </a:lnSpc>
                  <a:spcBef>
                    <a:spcPts val="0"/>
                  </a:spcBef>
                </a:pPr>
                <a:r>
                  <a:rPr lang="en-US" altLang="zh-CN" sz="2800" b="1" spc="100">
                    <a:solidFill>
                      <a:srgbClr val="1F2DA8"/>
                    </a:solidFill>
                    <a:uFillTx/>
                    <a:latin typeface="Times New Roman" panose="02020603050405020304" charset="0"/>
                    <a:cs typeface="Times New Roman" panose="02020603050405020304" charset="0"/>
                  </a:rPr>
                  <a:t>then  add tuple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𝒕</m:t>
                    </m:r>
                    <m:r>
                      <a:rPr lang="en-US" altLang="zh-CN" sz="2800" b="1" i="1" spc="100" baseline="-25000">
                        <a:solidFill>
                          <a:srgbClr val="1F2DA8"/>
                        </a:solidFill>
                        <a:uFillTx/>
                        <a:latin typeface="Cambria Math" panose="02040503050406030204" charset="0"/>
                        <a:cs typeface="Cambria Math" panose="02040503050406030204" charset="0"/>
                      </a:rPr>
                      <m:t>𝒔</m:t>
                    </m:r>
                  </m:oMath>
                </a14:m>
                <a:r>
                  <a:rPr lang="en-US" altLang="zh-CN" sz="2800" b="1" spc="100">
                    <a:solidFill>
                      <a:srgbClr val="1F2DA8"/>
                    </a:solidFill>
                    <a:uFillTx/>
                    <a:latin typeface="Times New Roman" panose="02020603050405020304" charset="0"/>
                    <a:cs typeface="Times New Roman" panose="02020603050405020304" charset="0"/>
                  </a:rPr>
                  <a:t> into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spc="100">
                  <a:solidFill>
                    <a:srgbClr val="1F2DA8"/>
                  </a:solidFill>
                  <a:uFillTx/>
                  <a:latin typeface="Times New Roman" panose="02020603050405020304" charset="0"/>
                  <a:cs typeface="Times New Roman" panose="02020603050405020304" charset="0"/>
                </a:endParaRPr>
              </a:p>
              <a:p>
                <a:pPr lvl="1" indent="0" fontAlgn="auto">
                  <a:lnSpc>
                    <a:spcPct val="120000"/>
                  </a:lnSpc>
                  <a:spcBef>
                    <a:spcPts val="0"/>
                  </a:spcBef>
                </a:pPr>
                <a:r>
                  <a:rPr lang="en-US" altLang="zh-CN" sz="2800" b="1" spc="100">
                    <a:solidFill>
                      <a:srgbClr val="1F2DA8"/>
                    </a:solidFill>
                    <a:uFillTx/>
                    <a:latin typeface="Times New Roman" panose="02020603050405020304" charset="0"/>
                    <a:cs typeface="Times New Roman" panose="02020603050405020304" charset="0"/>
                  </a:rPr>
                  <a:t>}</a:t>
                </a:r>
              </a:p>
              <a:p>
                <a:pPr lvl="1" indent="0" fontAlgn="auto">
                  <a:lnSpc>
                    <a:spcPct val="120000"/>
                  </a:lnSpc>
                  <a:spcBef>
                    <a:spcPts val="0"/>
                  </a:spcBef>
                </a:pPr>
                <a:r>
                  <a:rPr lang="en-US" altLang="zh-CN" sz="2800" b="1" spc="100">
                    <a:solidFill>
                      <a:srgbClr val="1F2DA8"/>
                    </a:solidFill>
                    <a:uFillTx/>
                    <a:latin typeface="Times New Roman" panose="02020603050405020304" charset="0"/>
                    <a:cs typeface="Times New Roman" panose="02020603050405020304" charset="0"/>
                  </a:rPr>
                  <a:t>return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spc="100">
                  <a:solidFill>
                    <a:srgbClr val="1F2DA8"/>
                  </a:solidFill>
                  <a:uFillTx/>
                  <a:latin typeface="Times New Roman" panose="02020603050405020304" charset="0"/>
                  <a:cs typeface="Times New Roman" panose="02020603050405020304"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20750" y="1403985"/>
                <a:ext cx="10386060" cy="4742815"/>
              </a:xfrm>
              <a:prstGeom prst="rect">
                <a:avLst/>
              </a:prstGeom>
              <a:blipFill rotWithShape="1">
                <a:blip r:embed="rId3"/>
                <a:stretch>
                  <a:fillRect l="-49" t="-107" r="-43" b="-94"/>
                </a:stretch>
              </a:blipFill>
              <a:ln>
                <a:solidFill>
                  <a:schemeClr val="accent1"/>
                </a:solidFill>
              </a:ln>
            </p:spPr>
            <p:txBody>
              <a:bodyPr/>
              <a:lstStyle/>
              <a:p>
                <a:r>
                  <a:rPr lang="zh-CN" altLang="en-US">
                    <a:noFill/>
                  </a:rPr>
                  <a:t> </a:t>
                </a:r>
              </a:p>
            </p:txBody>
          </p:sp>
        </mc:Fallback>
      </mc:AlternateContent>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a:t>
            </a:r>
            <a:r>
              <a:rPr lang="zh-CN" altLang="en-US" dirty="0"/>
              <a:t>差</a:t>
            </a:r>
            <a:r>
              <a:rPr lang="en-US" altLang="zh-CN" dirty="0"/>
              <a:t>’ </a:t>
            </a:r>
            <a:r>
              <a:rPr lang="zh-CN" altLang="en-US" dirty="0"/>
              <a:t>运算 </a:t>
            </a:r>
            <a:r>
              <a:rPr lang="en-US" altLang="zh-CN" dirty="0"/>
              <a:t>1</a:t>
            </a:r>
            <a:endParaRPr lang="zh-CN" altLang="en-US" dirty="0"/>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p:txBody>
              <a:bodyPr/>
              <a:lstStyle/>
              <a:p>
                <a:pPr fontAlgn="auto">
                  <a:lnSpc>
                    <a:spcPct val="100000"/>
                  </a:lnSpc>
                  <a:spcBef>
                    <a:spcPts val="600"/>
                  </a:spcBef>
                </a:pPr>
                <a:r>
                  <a:rPr lang="zh-CN" altLang="en-US" sz="3200" dirty="0">
                    <a:solidFill>
                      <a:srgbClr val="FF0000"/>
                    </a:solidFill>
                  </a:rPr>
                  <a:t>差</a:t>
                </a:r>
                <a:r>
                  <a:rPr lang="zh-CN" altLang="en-US" sz="3200" dirty="0"/>
                  <a:t>（</a:t>
                </a:r>
                <a:r>
                  <a:rPr lang="en-US" altLang="zh-CN" sz="3200" dirty="0"/>
                  <a:t>Difference</a:t>
                </a:r>
                <a:r>
                  <a:rPr lang="zh-CN" altLang="en-US" sz="3200" dirty="0"/>
                  <a:t>）</a:t>
                </a:r>
                <a:endParaRPr lang="en-US" altLang="zh-CN" sz="3200" dirty="0"/>
              </a:p>
              <a:p>
                <a:pPr lvl="1" algn="just" fontAlgn="auto">
                  <a:lnSpc>
                    <a:spcPct val="100000"/>
                  </a:lnSpc>
                  <a:spcBef>
                    <a:spcPts val="600"/>
                  </a:spcBef>
                </a:pPr>
                <a14:m>
                  <m:oMath xmlns:m="http://schemas.openxmlformats.org/officeDocument/2006/math">
                    <m:r>
                      <a:rPr lang="en-US" altLang="zh-CN" i="1" dirty="0">
                        <a:latin typeface="Cambria Math" panose="02040503050406030204" charset="0"/>
                        <a:cs typeface="Cambria Math" panose="02040503050406030204" charset="0"/>
                      </a:rPr>
                      <m:t>𝑅</m:t>
                    </m:r>
                  </m:oMath>
                </a14:m>
                <a:r>
                  <a:rPr lang="zh-CN" altLang="en-US" dirty="0"/>
                  <a:t>和</a:t>
                </a:r>
                <a14:m>
                  <m:oMath xmlns:m="http://schemas.openxmlformats.org/officeDocument/2006/math">
                    <m:r>
                      <a:rPr lang="en-US" altLang="zh-CN" i="1" dirty="0">
                        <a:latin typeface="Cambria Math" panose="02040503050406030204" charset="0"/>
                        <a:cs typeface="Cambria Math" panose="02040503050406030204" charset="0"/>
                      </a:rPr>
                      <m:t>𝑆</m:t>
                    </m:r>
                  </m:oMath>
                </a14:m>
                <a:endParaRPr lang="en-US" altLang="zh-CN" i="1" dirty="0"/>
              </a:p>
              <a:p>
                <a:pPr lvl="2" algn="just" fontAlgn="auto">
                  <a:lnSpc>
                    <a:spcPct val="100000"/>
                  </a:lnSpc>
                  <a:spcBef>
                    <a:spcPts val="600"/>
                  </a:spcBef>
                </a:pPr>
                <a:r>
                  <a:rPr lang="zh-CN" altLang="en-US" dirty="0"/>
                  <a:t>具有相同的目</a:t>
                </a:r>
                <a14:m>
                  <m:oMath xmlns:m="http://schemas.openxmlformats.org/officeDocument/2006/math">
                    <m:r>
                      <a:rPr lang="en-US" altLang="zh-CN" i="1" dirty="0">
                        <a:latin typeface="Cambria Math" panose="02040503050406030204" charset="0"/>
                        <a:cs typeface="Cambria Math" panose="02040503050406030204" charset="0"/>
                      </a:rPr>
                      <m:t>𝑛</m:t>
                    </m:r>
                  </m:oMath>
                </a14:m>
                <a:endParaRPr lang="en-US" altLang="zh-CN" i="1" dirty="0"/>
              </a:p>
              <a:p>
                <a:pPr lvl="2" algn="just" fontAlgn="auto">
                  <a:lnSpc>
                    <a:spcPct val="100000"/>
                  </a:lnSpc>
                  <a:spcBef>
                    <a:spcPts val="600"/>
                  </a:spcBef>
                </a:pPr>
                <a:r>
                  <a:rPr lang="zh-CN" altLang="en-US" dirty="0"/>
                  <a:t>相应的属性取自同一个域</a:t>
                </a:r>
              </a:p>
              <a:p>
                <a:pPr lvl="1" algn="just" fontAlgn="auto">
                  <a:lnSpc>
                    <a:spcPct val="100000"/>
                  </a:lnSpc>
                  <a:spcBef>
                    <a:spcPts val="2600"/>
                  </a:spcBef>
                </a:pPr>
                <a14:m>
                  <m:oMath xmlns:m="http://schemas.openxmlformats.org/officeDocument/2006/math">
                    <m:r>
                      <a:rPr lang="en-US" altLang="zh-CN" i="1" dirty="0">
                        <a:latin typeface="Cambria Math" panose="02040503050406030204" charset="0"/>
                        <a:cs typeface="Cambria Math" panose="02040503050406030204" charset="0"/>
                      </a:rPr>
                      <m:t>𝑅</m:t>
                    </m:r>
                    <m:r>
                      <a:rPr lang="en-US" altLang="zh-CN" i="1" dirty="0">
                        <a:latin typeface="Cambria Math" panose="02040503050406030204" charset="0"/>
                        <a:cs typeface="Cambria Math" panose="02040503050406030204" charset="0"/>
                      </a:rPr>
                      <m:t> − </m:t>
                    </m:r>
                    <m:r>
                      <a:rPr lang="en-US" altLang="zh-CN" i="1" dirty="0">
                        <a:latin typeface="Cambria Math" panose="02040503050406030204" charset="0"/>
                        <a:cs typeface="Cambria Math" panose="02040503050406030204" charset="0"/>
                      </a:rPr>
                      <m:t>𝑆</m:t>
                    </m:r>
                    <m:r>
                      <a:rPr lang="en-US" altLang="zh-CN" dirty="0">
                        <a:latin typeface="Cambria Math" panose="02040503050406030204" charset="0"/>
                        <a:cs typeface="Cambria Math" panose="02040503050406030204" charset="0"/>
                      </a:rPr>
                      <m:t> </m:t>
                    </m:r>
                  </m:oMath>
                </a14:m>
                <a:r>
                  <a:rPr lang="zh-CN" altLang="en-US" dirty="0">
                    <a:sym typeface="+mn-ea"/>
                  </a:rPr>
                  <a:t>的运算结果</a:t>
                </a:r>
                <a:endParaRPr lang="en-US" altLang="zh-CN" dirty="0"/>
              </a:p>
              <a:p>
                <a:pPr lvl="2" algn="just" fontAlgn="auto">
                  <a:lnSpc>
                    <a:spcPct val="100000"/>
                  </a:lnSpc>
                  <a:spcBef>
                    <a:spcPts val="600"/>
                  </a:spcBef>
                  <a:spcAft>
                    <a:spcPts val="600"/>
                  </a:spcAft>
                </a:pPr>
                <a:r>
                  <a:rPr lang="zh-CN" altLang="en-US" dirty="0"/>
                  <a:t>仍为</a:t>
                </a:r>
                <a14:m>
                  <m:oMath xmlns:m="http://schemas.openxmlformats.org/officeDocument/2006/math">
                    <m:r>
                      <a:rPr lang="en-US" altLang="zh-CN" i="1" dirty="0">
                        <a:latin typeface="Cambria Math" panose="02040503050406030204" charset="0"/>
                        <a:cs typeface="Cambria Math" panose="02040503050406030204" charset="0"/>
                      </a:rPr>
                      <m:t>𝑛</m:t>
                    </m:r>
                  </m:oMath>
                </a14:m>
                <a:r>
                  <a:rPr lang="zh-CN" altLang="en-US" dirty="0"/>
                  <a:t>目关系，由属于</a:t>
                </a:r>
                <a14:m>
                  <m:oMath xmlns:m="http://schemas.openxmlformats.org/officeDocument/2006/math">
                    <m:r>
                      <a:rPr lang="en-US" altLang="zh-CN" i="1" dirty="0">
                        <a:latin typeface="Cambria Math" panose="02040503050406030204" charset="0"/>
                        <a:cs typeface="Cambria Math" panose="02040503050406030204" charset="0"/>
                      </a:rPr>
                      <m:t>𝑅</m:t>
                    </m:r>
                  </m:oMath>
                </a14:m>
                <a:r>
                  <a:rPr lang="zh-CN" altLang="en-US" dirty="0"/>
                  <a:t>而不属于</a:t>
                </a:r>
                <a14:m>
                  <m:oMath xmlns:m="http://schemas.openxmlformats.org/officeDocument/2006/math">
                    <m:r>
                      <a:rPr lang="en-US" altLang="zh-CN" i="1" dirty="0">
                        <a:latin typeface="Cambria Math" panose="02040503050406030204" charset="0"/>
                        <a:cs typeface="Cambria Math" panose="02040503050406030204" charset="0"/>
                      </a:rPr>
                      <m:t>𝑆</m:t>
                    </m:r>
                  </m:oMath>
                </a14:m>
                <a:r>
                  <a:rPr lang="zh-CN" altLang="en-US" dirty="0"/>
                  <a:t>的所有元组组成</a:t>
                </a:r>
              </a:p>
              <a:p>
                <a:pPr indent="1511300" algn="ctr" fontAlgn="auto">
                  <a:lnSpc>
                    <a:spcPct val="100000"/>
                  </a:lnSpc>
                  <a:spcBef>
                    <a:spcPts val="600"/>
                  </a:spcBef>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𝑅</m:t>
                      </m:r>
                      <m:r>
                        <a:rPr lang="en-US" altLang="zh-CN" sz="2800"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𝑆</m:t>
                      </m:r>
                      <m:r>
                        <a:rPr lang="en-US" altLang="zh-CN" sz="2800" dirty="0">
                          <a:solidFill>
                            <a:srgbClr val="FF0000"/>
                          </a:solidFill>
                          <a:latin typeface="Cambria Math" panose="02040503050406030204" charset="0"/>
                          <a:cs typeface="Cambria Math" panose="02040503050406030204" charset="0"/>
                        </a:rPr>
                        <m:t>={ </m:t>
                      </m:r>
                      <m:r>
                        <a:rPr lang="en-US" altLang="zh-CN" sz="2800" i="1" dirty="0" err="1">
                          <a:solidFill>
                            <a:srgbClr val="FF0000"/>
                          </a:solidFill>
                          <a:latin typeface="Cambria Math" panose="02040503050406030204" charset="0"/>
                          <a:cs typeface="Cambria Math" panose="02040503050406030204" charset="0"/>
                        </a:rPr>
                        <m:t>𝑡</m:t>
                      </m:r>
                      <m:r>
                        <a:rPr lang="en-US" altLang="zh-CN" sz="2800" i="1" dirty="0" err="1">
                          <a:solidFill>
                            <a:srgbClr val="FF0000"/>
                          </a:solidFill>
                          <a:latin typeface="Cambria Math" panose="02040503050406030204" charset="0"/>
                          <a:cs typeface="Cambria Math" panose="02040503050406030204" charset="0"/>
                        </a:rPr>
                        <m:t> </m:t>
                      </m:r>
                      <m:r>
                        <a:rPr lang="en-US" altLang="zh-CN" sz="2800" dirty="0" err="1">
                          <a:solidFill>
                            <a:srgbClr val="FF0000"/>
                          </a:solidFill>
                          <a:latin typeface="Cambria Math" panose="02040503050406030204" charset="0"/>
                          <a:cs typeface="Cambria Math" panose="02040503050406030204" charset="0"/>
                        </a:rPr>
                        <m:t>| </m:t>
                      </m:r>
                      <m:r>
                        <a:rPr lang="en-US" altLang="zh-CN" sz="2800" i="1" dirty="0" err="1">
                          <a:solidFill>
                            <a:srgbClr val="FF0000"/>
                          </a:solidFill>
                          <a:latin typeface="Cambria Math" panose="02040503050406030204" charset="0"/>
                          <a:cs typeface="Cambria Math" panose="02040503050406030204" charset="0"/>
                        </a:rPr>
                        <m:t>𝑡</m:t>
                      </m:r>
                      <m:r>
                        <a:rPr lang="en-US" altLang="zh-CN" sz="2800" dirty="0" err="1">
                          <a:solidFill>
                            <a:srgbClr val="FF0000"/>
                          </a:solidFill>
                          <a:latin typeface="Cambria Math" panose="02040503050406030204" charset="0"/>
                          <a:cs typeface="Cambria Math" panose="02040503050406030204" charset="0"/>
                          <a:sym typeface="Symbol" panose="05050102010706020507" pitchFamily="2" charset="2"/>
                        </a:rPr>
                        <m:t></m:t>
                      </m:r>
                      <m:r>
                        <a:rPr lang="en-US" altLang="zh-CN" sz="2800" i="1" dirty="0" err="1">
                          <a:solidFill>
                            <a:srgbClr val="FF0000"/>
                          </a:solidFill>
                          <a:latin typeface="Cambria Math" panose="02040503050406030204" charset="0"/>
                          <a:cs typeface="Cambria Math" panose="02040503050406030204" charset="0"/>
                        </a:rPr>
                        <m:t>𝑅</m:t>
                      </m:r>
                      <m:r>
                        <a:rPr lang="en-US" altLang="zh-CN" sz="2800" dirty="0" err="1">
                          <a:solidFill>
                            <a:srgbClr val="FF0000"/>
                          </a:solidFill>
                          <a:latin typeface="Cambria Math" panose="02040503050406030204" charset="0"/>
                          <a:cs typeface="Cambria Math" panose="02040503050406030204" charset="0"/>
                        </a:rPr>
                        <m:t>∧</m:t>
                      </m:r>
                      <m:r>
                        <a:rPr lang="en-US" altLang="zh-CN" sz="2800" i="1" dirty="0" err="1">
                          <a:solidFill>
                            <a:srgbClr val="FF0000"/>
                          </a:solidFill>
                          <a:latin typeface="Cambria Math" panose="02040503050406030204" charset="0"/>
                          <a:cs typeface="Cambria Math" panose="02040503050406030204" charset="0"/>
                        </a:rPr>
                        <m:t>𝑡</m:t>
                      </m:r>
                      <m:r>
                        <a:rPr lang="en-US" altLang="zh-CN" sz="2800" dirty="0" err="1">
                          <a:solidFill>
                            <a:srgbClr val="FF0000"/>
                          </a:solidFill>
                          <a:latin typeface="Cambria Math" panose="02040503050406030204" charset="0"/>
                          <a:cs typeface="Cambria Math" panose="02040503050406030204" charset="0"/>
                          <a:sym typeface="Symbol" panose="05050102010706020507" pitchFamily="2" charset="2"/>
                        </a:rPr>
                        <m:t></m:t>
                      </m:r>
                      <m:r>
                        <a:rPr lang="en-US" altLang="zh-CN" sz="2800" i="1" dirty="0" err="1">
                          <a:solidFill>
                            <a:srgbClr val="FF0000"/>
                          </a:solidFill>
                          <a:latin typeface="Cambria Math" panose="02040503050406030204" charset="0"/>
                          <a:cs typeface="Cambria Math" panose="02040503050406030204" charset="0"/>
                        </a:rPr>
                        <m:t>𝑆</m:t>
                      </m:r>
                      <m:r>
                        <a:rPr lang="en-US" altLang="zh-CN" sz="2800" dirty="0">
                          <a:solidFill>
                            <a:srgbClr val="FF0000"/>
                          </a:solidFill>
                          <a:latin typeface="Cambria Math" panose="02040503050406030204" charset="0"/>
                          <a:ea typeface="MS Mincho" charset="0"/>
                          <a:cs typeface="Cambria Math" panose="02040503050406030204" charset="0"/>
                        </a:rPr>
                        <m:t> }</m:t>
                      </m:r>
                    </m:oMath>
                  </m:oMathPara>
                </a14:m>
                <a:endParaRPr lang="en-US" altLang="zh-CN" sz="2800" dirty="0">
                  <a:solidFill>
                    <a:srgbClr val="FF0000"/>
                  </a:solidFill>
                  <a:latin typeface="Cambria Math" panose="02040503050406030204" charset="0"/>
                  <a:ea typeface="MS Mincho" charset="0"/>
                  <a:cs typeface="Cambria Math" panose="02040503050406030204" charset="0"/>
                </a:endParaRPr>
              </a:p>
              <a:p>
                <a:pPr lvl="1" algn="just" fontAlgn="auto">
                  <a:lnSpc>
                    <a:spcPct val="100000"/>
                  </a:lnSpc>
                  <a:spcBef>
                    <a:spcPts val="2600"/>
                  </a:spcBef>
                </a:pPr>
                <a:r>
                  <a:rPr lang="zh-CN" altLang="en-US" dirty="0">
                    <a:sym typeface="+mn-ea"/>
                  </a:rPr>
                  <a:t>差运算</a:t>
                </a:r>
                <a:r>
                  <a:rPr lang="en-US" altLang="zh-CN" dirty="0">
                    <a:sym typeface="+mn-ea"/>
                  </a:rPr>
                  <a:t> </a:t>
                </a:r>
                <a:r>
                  <a:rPr lang="zh-CN" altLang="en-US" dirty="0">
                    <a:sym typeface="+mn-ea"/>
                  </a:rPr>
                  <a:t>不满足</a:t>
                </a:r>
                <a:r>
                  <a:rPr lang="en-US" altLang="zh-CN" dirty="0">
                    <a:sym typeface="+mn-ea"/>
                  </a:rPr>
                  <a:t> </a:t>
                </a:r>
                <a:r>
                  <a:rPr lang="zh-CN" altLang="en-US" dirty="0">
                    <a:sym typeface="+mn-ea"/>
                  </a:rPr>
                  <a:t>交换律</a:t>
                </a:r>
                <a:r>
                  <a:rPr lang="en-US" altLang="zh-CN" dirty="0">
                    <a:sym typeface="+mn-ea"/>
                  </a:rPr>
                  <a:t> </a:t>
                </a:r>
                <a:r>
                  <a:rPr lang="zh-CN" altLang="en-US" dirty="0">
                    <a:sym typeface="+mn-ea"/>
                  </a:rPr>
                  <a:t>和</a:t>
                </a:r>
                <a:r>
                  <a:rPr lang="en-US" altLang="zh-CN" dirty="0">
                    <a:sym typeface="+mn-ea"/>
                  </a:rPr>
                  <a:t> </a:t>
                </a:r>
                <a:r>
                  <a:rPr lang="zh-CN" altLang="en-US" dirty="0">
                    <a:sym typeface="+mn-ea"/>
                  </a:rPr>
                  <a:t>结合律</a:t>
                </a:r>
              </a:p>
              <a:p>
                <a:pPr lvl="2" eaLnBrk="1" hangingPunct="1">
                  <a:lnSpc>
                    <a:spcPct val="100000"/>
                  </a:lnSpc>
                  <a:spcBef>
                    <a:spcPts val="1000"/>
                  </a:spcBef>
                </a:pPr>
                <a:r>
                  <a:rPr lang="en-US" altLang="zh-CN" dirty="0">
                    <a:solidFill>
                      <a:srgbClr val="1F2DA8"/>
                    </a:solidFill>
                    <a:sym typeface="+mn-ea"/>
                  </a:rPr>
                  <a:t> </a:t>
                </a:r>
                <a14:m>
                  <m:oMath xmlns:m="http://schemas.openxmlformats.org/officeDocument/2006/math">
                    <m:r>
                      <a:rPr lang="en-US" altLang="x-none" i="1" dirty="0">
                        <a:solidFill>
                          <a:srgbClr val="1F2DA8"/>
                        </a:solidFill>
                        <a:latin typeface="Cambria Math" panose="02040503050406030204" charset="0"/>
                        <a:cs typeface="Cambria Math" panose="02040503050406030204" charset="0"/>
                      </a:rPr>
                      <m:t>𝑅</m:t>
                    </m:r>
                    <m:r>
                      <a:rPr lang="en-US" altLang="x-none" i="1" dirty="0">
                        <a:solidFill>
                          <a:srgbClr val="1F2DA8"/>
                        </a:solidFill>
                        <a:latin typeface="Cambria Math" panose="02040503050406030204" charset="0"/>
                        <a:cs typeface="Cambria Math" panose="02040503050406030204" charset="0"/>
                      </a:rPr>
                      <m:t> – </m:t>
                    </m:r>
                    <m:r>
                      <a:rPr lang="en-US" altLang="x-none" i="1" dirty="0">
                        <a:solidFill>
                          <a:srgbClr val="1F2DA8"/>
                        </a:solidFill>
                        <a:latin typeface="Cambria Math" panose="02040503050406030204" charset="0"/>
                        <a:cs typeface="Cambria Math" panose="02040503050406030204" charset="0"/>
                      </a:rPr>
                      <m:t>𝑆</m:t>
                    </m:r>
                    <m:r>
                      <a:rPr lang="en-US" altLang="x-none" i="1" dirty="0">
                        <a:solidFill>
                          <a:srgbClr val="1F2DA8"/>
                        </a:solidFill>
                        <a:latin typeface="Cambria Math" panose="02040503050406030204" charset="0"/>
                        <a:cs typeface="Cambria Math" panose="02040503050406030204" charset="0"/>
                      </a:rPr>
                      <m:t> ≠ </m:t>
                    </m:r>
                    <m:r>
                      <a:rPr lang="en-US" altLang="x-none" i="1" dirty="0">
                        <a:solidFill>
                          <a:srgbClr val="1F2DA8"/>
                        </a:solidFill>
                        <a:latin typeface="Cambria Math" panose="02040503050406030204" charset="0"/>
                        <a:cs typeface="Cambria Math" panose="02040503050406030204" charset="0"/>
                      </a:rPr>
                      <m:t>𝑆</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𝑅</m:t>
                    </m:r>
                  </m:oMath>
                </a14:m>
                <a:endParaRPr lang="en-US" altLang="x-none" dirty="0">
                  <a:solidFill>
                    <a:srgbClr val="1F2DA8"/>
                  </a:solidFill>
                </a:endParaRPr>
              </a:p>
              <a:p>
                <a:pPr lvl="2" algn="just" fontAlgn="auto">
                  <a:lnSpc>
                    <a:spcPct val="100000"/>
                  </a:lnSpc>
                  <a:spcBef>
                    <a:spcPts val="600"/>
                  </a:spcBef>
                  <a:spcAft>
                    <a:spcPts val="0"/>
                  </a:spcAft>
                </a:pPr>
                <a:r>
                  <a:rPr lang="en-US" altLang="x-none" b="0" dirty="0">
                    <a:solidFill>
                      <a:srgbClr val="1F2DA8"/>
                    </a:solidFill>
                    <a:latin typeface="Cambria Math" panose="02040503050406030204" charset="0"/>
                    <a:cs typeface="Cambria Math" panose="02040503050406030204" charset="0"/>
                  </a:rPr>
                  <a:t> </a:t>
                </a:r>
                <a14:m>
                  <m:oMath xmlns:m="http://schemas.openxmlformats.org/officeDocument/2006/math">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𝑅</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𝑆</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𝑇</m:t>
                    </m:r>
                    <m:r>
                      <a:rPr lang="en-US" altLang="x-none" i="1" dirty="0">
                        <a:solidFill>
                          <a:srgbClr val="1F2DA8"/>
                        </a:solidFill>
                        <a:latin typeface="Cambria Math" panose="02040503050406030204" charset="0"/>
                        <a:cs typeface="Cambria Math" panose="02040503050406030204" charset="0"/>
                      </a:rPr>
                      <m:t> ≠ </m:t>
                    </m:r>
                    <m:r>
                      <a:rPr lang="en-US" altLang="x-none" i="1" dirty="0">
                        <a:solidFill>
                          <a:srgbClr val="1F2DA8"/>
                        </a:solidFill>
                        <a:latin typeface="Cambria Math" panose="02040503050406030204" charset="0"/>
                        <a:cs typeface="Cambria Math" panose="02040503050406030204" charset="0"/>
                      </a:rPr>
                      <m:t>𝑅</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𝑆</m:t>
                    </m:r>
                    <m:r>
                      <a:rPr lang="en-US" altLang="x-none" i="1" dirty="0">
                        <a:solidFill>
                          <a:srgbClr val="1F2DA8"/>
                        </a:solidFill>
                        <a:latin typeface="Cambria Math" panose="02040503050406030204" charset="0"/>
                        <a:cs typeface="Cambria Math" panose="02040503050406030204" charset="0"/>
                      </a:rPr>
                      <m:t>−</m:t>
                    </m:r>
                    <m:r>
                      <a:rPr lang="en-US" altLang="x-none" i="1" dirty="0">
                        <a:solidFill>
                          <a:srgbClr val="1F2DA8"/>
                        </a:solidFill>
                        <a:latin typeface="Cambria Math" panose="02040503050406030204" charset="0"/>
                        <a:cs typeface="Cambria Math" panose="02040503050406030204" charset="0"/>
                      </a:rPr>
                      <m:t>𝑇</m:t>
                    </m:r>
                    <m:r>
                      <a:rPr lang="en-US" altLang="x-none" i="1" dirty="0">
                        <a:solidFill>
                          <a:srgbClr val="1F2DA8"/>
                        </a:solidFill>
                        <a:latin typeface="Cambria Math" panose="02040503050406030204" charset="0"/>
                        <a:ea typeface="MS Mincho" charset="0"/>
                        <a:cs typeface="Cambria Math" panose="02040503050406030204" charset="0"/>
                      </a:rPr>
                      <m:t>)</m:t>
                    </m:r>
                  </m:oMath>
                </a14:m>
                <a:endParaRPr lang="en-US" altLang="x-none" i="1" dirty="0">
                  <a:solidFill>
                    <a:srgbClr val="1F2DA8"/>
                  </a:solidFill>
                  <a:latin typeface="Cambria Math" panose="02040503050406030204" charset="0"/>
                  <a:ea typeface="MS Mincho" charset="0"/>
                  <a:cs typeface="Cambria Math" panose="02040503050406030204" charset="0"/>
                  <a:sym typeface="+mn-ea"/>
                </a:endParaRPr>
              </a:p>
            </p:txBody>
          </p:sp>
        </mc:Choice>
        <mc:Fallback xmlns="">
          <p:sp>
            <p:nvSpPr>
              <p:cNvPr id="7" name="内容占位符 6"/>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24</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linds(horizontal)">
                                      <p:cBhvr>
                                        <p:cTn id="7" dur="500"/>
                                        <p:tgtEl>
                                          <p:spTgt spid="7">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blinds(horizontal)">
                                      <p:cBhvr>
                                        <p:cTn id="10" dur="500"/>
                                        <p:tgtEl>
                                          <p:spTgt spid="7">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anim calcmode="lin" valueType="num">
                                      <p:cBhvr additive="base">
                                        <p:cTn id="15"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 calcmode="lin" valueType="num">
                                      <p:cBhvr additive="base">
                                        <p:cTn id="21"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anim calcmode="lin" valueType="num">
                                      <p:cBhvr additive="base">
                                        <p:cTn id="29"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a:t>
            </a:r>
            <a:r>
              <a:rPr lang="zh-CN" altLang="en-US" dirty="0">
                <a:sym typeface="+mn-ea"/>
              </a:rPr>
              <a:t>差</a:t>
            </a:r>
            <a:r>
              <a:rPr lang="en-US" altLang="zh-CN" dirty="0">
                <a:sym typeface="+mn-ea"/>
              </a:rPr>
              <a:t>’ </a:t>
            </a:r>
            <a:r>
              <a:rPr lang="zh-CN" altLang="en-US" dirty="0">
                <a:sym typeface="+mn-ea"/>
              </a:rPr>
              <a:t>运算 </a:t>
            </a:r>
            <a:r>
              <a:rPr lang="en-US" altLang="zh-CN" dirty="0">
                <a:sym typeface="+mn-ea"/>
              </a:rPr>
              <a:t>2</a:t>
            </a:r>
            <a:endParaRPr lang="zh-CN" altLang="en-US"/>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424180" y="687070"/>
                <a:ext cx="11343005" cy="565785"/>
              </a:xfrm>
            </p:spPr>
            <p:txBody>
              <a:bodyPr>
                <a:spAutoFit/>
              </a:bodyPr>
              <a:lstStyle/>
              <a:p>
                <a:pPr>
                  <a:lnSpc>
                    <a:spcPct val="110000"/>
                  </a:lnSpc>
                </a:pPr>
                <a:r>
                  <a:rPr lang="en-US" altLang="zh-CN" sz="2800">
                    <a:latin typeface="Times New Roman" panose="02020603050405020304" charset="0"/>
                    <a:cs typeface="Times New Roman" panose="02020603050405020304" charset="0"/>
                  </a:rPr>
                  <a:t>the set of tuples in the relation </a:t>
                </a:r>
                <a14:m>
                  <m:oMath xmlns:m="http://schemas.openxmlformats.org/officeDocument/2006/math">
                    <m:r>
                      <a:rPr lang="en-US" altLang="zh-CN" sz="2800" b="0" i="1">
                        <a:solidFill>
                          <a:srgbClr val="1F2DA8"/>
                        </a:solidFill>
                        <a:latin typeface="Cambria Math" panose="02040503050406030204" charset="0"/>
                        <a:cs typeface="Cambria Math" panose="02040503050406030204" charset="0"/>
                      </a:rPr>
                      <m:t>𝑇</m:t>
                    </m:r>
                    <m:r>
                      <a:rPr lang="en-US" altLang="zh-CN" sz="2800" b="0" i="1">
                        <a:solidFill>
                          <a:srgbClr val="1F2DA8"/>
                        </a:solidFill>
                        <a:latin typeface="Cambria Math" panose="02040503050406030204" charset="0"/>
                        <a:ea typeface="MS Mincho" charset="0"/>
                        <a:cs typeface="Cambria Math" panose="02040503050406030204" charset="0"/>
                      </a:rPr>
                      <m:t>=</m:t>
                    </m:r>
                    <m:r>
                      <a:rPr lang="en-US" altLang="zh-CN" sz="2800" i="1" dirty="0">
                        <a:solidFill>
                          <a:srgbClr val="1F2DA8"/>
                        </a:solidFill>
                        <a:latin typeface="Cambria Math" panose="02040503050406030204" charset="0"/>
                        <a:cs typeface="Cambria Math" panose="02040503050406030204" charset="0"/>
                      </a:rPr>
                      <m:t>𝑅</m:t>
                    </m:r>
                    <m:r>
                      <a:rPr lang="en-US" altLang="zh-CN" sz="2800" dirty="0">
                        <a:solidFill>
                          <a:srgbClr val="1F2DA8"/>
                        </a:solidFill>
                        <a:latin typeface="Cambria Math" panose="02040503050406030204" charset="0"/>
                        <a:cs typeface="Cambria Math" panose="02040503050406030204" charset="0"/>
                      </a:rPr>
                      <m:t>−</m:t>
                    </m:r>
                    <m:r>
                      <a:rPr lang="en-US" altLang="zh-CN" sz="2800" i="1" dirty="0">
                        <a:solidFill>
                          <a:srgbClr val="1F2DA8"/>
                        </a:solidFill>
                        <a:latin typeface="Cambria Math" panose="02040503050406030204" charset="0"/>
                        <a:cs typeface="Cambria Math" panose="02040503050406030204" charset="0"/>
                      </a:rPr>
                      <m:t>𝑆</m:t>
                    </m:r>
                    <m:r>
                      <a:rPr lang="en-US" altLang="zh-CN" sz="2800" dirty="0">
                        <a:solidFill>
                          <a:srgbClr val="1F2DA8"/>
                        </a:solidFill>
                        <a:latin typeface="Cambria Math" panose="02040503050406030204" charset="0"/>
                        <a:cs typeface="Cambria Math" panose="02040503050406030204" charset="0"/>
                      </a:rPr>
                      <m:t>={ </m:t>
                    </m:r>
                    <m:r>
                      <a:rPr lang="en-US" altLang="zh-CN" sz="2800" i="1" dirty="0" err="1">
                        <a:solidFill>
                          <a:srgbClr val="1F2DA8"/>
                        </a:solidFill>
                        <a:latin typeface="Cambria Math" panose="02040503050406030204" charset="0"/>
                        <a:cs typeface="Cambria Math" panose="02040503050406030204" charset="0"/>
                      </a:rPr>
                      <m:t>𝑡</m:t>
                    </m:r>
                    <m:r>
                      <a:rPr lang="en-US" altLang="zh-CN" sz="2800" i="1" dirty="0" err="1">
                        <a:solidFill>
                          <a:srgbClr val="1F2DA8"/>
                        </a:solidFill>
                        <a:latin typeface="Cambria Math" panose="02040503050406030204" charset="0"/>
                        <a:cs typeface="Cambria Math" panose="02040503050406030204" charset="0"/>
                      </a:rPr>
                      <m:t> </m:t>
                    </m:r>
                    <m:r>
                      <a:rPr lang="en-US" altLang="zh-CN" sz="2800" dirty="0" err="1">
                        <a:solidFill>
                          <a:srgbClr val="1F2DA8"/>
                        </a:solidFill>
                        <a:latin typeface="Cambria Math" panose="02040503050406030204" charset="0"/>
                        <a:cs typeface="Cambria Math" panose="02040503050406030204" charset="0"/>
                      </a:rPr>
                      <m:t>| </m:t>
                    </m:r>
                    <m:r>
                      <a:rPr lang="en-US" altLang="zh-CN" sz="2800" i="1" dirty="0" err="1">
                        <a:solidFill>
                          <a:srgbClr val="1F2DA8"/>
                        </a:solidFill>
                        <a:latin typeface="Cambria Math" panose="02040503050406030204" charset="0"/>
                        <a:cs typeface="Cambria Math" panose="02040503050406030204" charset="0"/>
                      </a:rPr>
                      <m:t>𝑡</m:t>
                    </m:r>
                    <m:r>
                      <a:rPr lang="en-US" altLang="zh-CN" sz="2800"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i="1" dirty="0" err="1">
                        <a:solidFill>
                          <a:srgbClr val="1F2DA8"/>
                        </a:solidFill>
                        <a:latin typeface="Cambria Math" panose="02040503050406030204" charset="0"/>
                        <a:cs typeface="Cambria Math" panose="02040503050406030204" charset="0"/>
                      </a:rPr>
                      <m:t>𝑅</m:t>
                    </m:r>
                    <m:r>
                      <a:rPr lang="en-US" altLang="zh-CN" sz="2800" dirty="0" err="1">
                        <a:solidFill>
                          <a:srgbClr val="1F2DA8"/>
                        </a:solidFill>
                        <a:latin typeface="Cambria Math" panose="02040503050406030204" charset="0"/>
                        <a:cs typeface="Cambria Math" panose="02040503050406030204" charset="0"/>
                      </a:rPr>
                      <m:t>∧</m:t>
                    </m:r>
                    <m:r>
                      <a:rPr lang="en-US" altLang="zh-CN" sz="2800" i="1" dirty="0" err="1">
                        <a:solidFill>
                          <a:srgbClr val="1F2DA8"/>
                        </a:solidFill>
                        <a:latin typeface="Cambria Math" panose="02040503050406030204" charset="0"/>
                        <a:cs typeface="Cambria Math" panose="02040503050406030204" charset="0"/>
                      </a:rPr>
                      <m:t>𝑡</m:t>
                    </m:r>
                    <m:r>
                      <a:rPr lang="en-US" altLang="zh-CN" sz="2800"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i="1" dirty="0" err="1">
                        <a:solidFill>
                          <a:srgbClr val="1F2DA8"/>
                        </a:solidFill>
                        <a:latin typeface="Cambria Math" panose="02040503050406030204" charset="0"/>
                        <a:cs typeface="Cambria Math" panose="02040503050406030204" charset="0"/>
                      </a:rPr>
                      <m:t>𝑆</m:t>
                    </m:r>
                    <m:r>
                      <a:rPr lang="en-US" altLang="zh-CN" sz="2800" dirty="0">
                        <a:solidFill>
                          <a:srgbClr val="1F2DA8"/>
                        </a:solidFill>
                        <a:latin typeface="Cambria Math" panose="02040503050406030204" charset="0"/>
                        <a:ea typeface="MS Mincho" charset="0"/>
                        <a:cs typeface="Cambria Math" panose="02040503050406030204" charset="0"/>
                      </a:rPr>
                      <m:t> }</m:t>
                    </m:r>
                  </m:oMath>
                </a14:m>
                <a:endParaRPr lang="en-US" altLang="zh-CN" sz="2800" b="0" i="1" dirty="0">
                  <a:solidFill>
                    <a:srgbClr val="1F2DA8"/>
                  </a:solidFill>
                  <a:latin typeface="Cambria Math" panose="02040503050406030204" charset="0"/>
                  <a:ea typeface="MS Mincho" charset="0"/>
                  <a:cs typeface="Cambria Math" panose="02040503050406030204" charset="0"/>
                </a:endParaRPr>
              </a:p>
            </p:txBody>
          </p:sp>
        </mc:Choice>
        <mc:Fallback xmlns="">
          <p:sp>
            <p:nvSpPr>
              <p:cNvPr id="5" name="内容占位符 4"/>
              <p:cNvSpPr>
                <a:spLocks noRot="1" noChangeAspect="1" noMove="1" noResize="1" noEditPoints="1" noAdjustHandles="1" noChangeArrowheads="1" noChangeShapeType="1" noTextEdit="1"/>
              </p:cNvSpPr>
              <p:nvPr>
                <p:ph idx="1"/>
              </p:nvPr>
            </p:nvSpPr>
            <p:spPr>
              <a:xfrm>
                <a:off x="424180" y="687070"/>
                <a:ext cx="11343005" cy="565785"/>
              </a:xfrm>
              <a:blipFill rotWithShape="1">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25</a:t>
            </a:fld>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920750" y="1470660"/>
                <a:ext cx="10386060" cy="4743450"/>
              </a:xfrm>
              <a:prstGeom prst="rect">
                <a:avLst/>
              </a:prstGeom>
              <a:noFill/>
              <a:ln>
                <a:solidFill>
                  <a:schemeClr val="accent1"/>
                </a:solidFill>
              </a:ln>
            </p:spPr>
            <p:txBody>
              <a:bodyPr wrap="square" rtlCol="0">
                <a:spAutoFit/>
              </a:bodyPr>
              <a:lstStyle/>
              <a:p>
                <a:pPr lvl="1" indent="0" fontAlgn="auto">
                  <a:lnSpc>
                    <a:spcPct val="120000"/>
                  </a:lnSpc>
                  <a:spcBef>
                    <a:spcPts val="0"/>
                  </a:spcBef>
                  <a:spcAft>
                    <a:spcPts val="0"/>
                  </a:spcAft>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将结果关系</a:t>
                </a:r>
                <a14:m>
                  <m:oMath xmlns:m="http://schemas.openxmlformats.org/officeDocument/2006/math">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𝑇</m:t>
                    </m:r>
                  </m:oMath>
                </a14:m>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初始化为空集</a:t>
                </a: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p>
              <a:p>
                <a:pPr lvl="1" indent="0" fontAlgn="auto">
                  <a:lnSpc>
                    <a:spcPct val="120000"/>
                  </a:lnSpc>
                  <a:spcBef>
                    <a:spcPts val="0"/>
                  </a:spcBef>
                  <a:spcAft>
                    <a:spcPts val="0"/>
                  </a:spcAft>
                </a:pPr>
                <a14:m>
                  <m:oMathPara xmlns:m="http://schemas.openxmlformats.org/officeDocument/2006/math">
                    <m:oMathParaPr>
                      <m:jc m:val="left"/>
                    </m:oMathParaPr>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r>
                        <a:rPr lang="en-US" altLang="zh-CN" sz="2800" b="1" i="1" spc="100">
                          <a:solidFill>
                            <a:srgbClr val="1F2DA8"/>
                          </a:solidFill>
                          <a:uFillTx/>
                          <a:latin typeface="Cambria Math" panose="02040503050406030204" charset="0"/>
                          <a:ea typeface="MS Mincho" charset="0"/>
                          <a:cs typeface="Cambria Math" panose="02040503050406030204" charset="0"/>
                        </a:rPr>
                        <m:t> </m:t>
                      </m:r>
                      <m:box>
                        <m:boxPr>
                          <m:noBreak m:val="on"/>
                          <m:ctrlPr>
                            <a:rPr lang="en-US" altLang="zh-CN" sz="2800" b="1" i="1" spc="100">
                              <a:solidFill>
                                <a:srgbClr val="1F2DA8"/>
                              </a:solidFill>
                              <a:uFillTx/>
                              <a:latin typeface="Cambria Math" panose="02040503050406030204" pitchFamily="18" charset="0"/>
                              <a:cs typeface="Cambria Math" panose="02040503050406030204" charset="0"/>
                            </a:rPr>
                          </m:ctrlPr>
                        </m:boxPr>
                        <m:e>
                          <m:r>
                            <a:rPr lang="en-US" altLang="zh-CN" sz="2800" b="1" i="1" spc="100">
                              <a:solidFill>
                                <a:srgbClr val="1F2DA8"/>
                              </a:solidFill>
                              <a:uFillTx/>
                              <a:latin typeface="Cambria Math" panose="02040503050406030204" charset="0"/>
                              <a:ea typeface="MS Mincho" charset="0"/>
                              <a:cs typeface="Cambria Math" panose="02040503050406030204" charset="0"/>
                            </a:rPr>
                            <m:t>∶=</m:t>
                          </m:r>
                        </m:e>
                      </m:box>
                      <m:r>
                        <a:rPr lang="en-US" altLang="zh-CN" sz="2800" b="1" i="1" spc="100">
                          <a:solidFill>
                            <a:srgbClr val="1F2DA8"/>
                          </a:solidFill>
                          <a:uFillTx/>
                          <a:latin typeface="Cambria Math" panose="02040503050406030204" charset="0"/>
                          <a:ea typeface="MS Mincho" charset="0"/>
                          <a:cs typeface="Cambria Math" panose="02040503050406030204" charset="0"/>
                        </a:rPr>
                        <m:t> {  }</m:t>
                      </m:r>
                    </m:oMath>
                  </m:oMathPara>
                </a14:m>
                <a:endParaRPr lang="en-US" altLang="zh-CN" sz="2800" b="1" spc="100">
                  <a:solidFill>
                    <a:srgbClr val="1F2DA8"/>
                  </a:solidFill>
                  <a:uFillTx/>
                  <a:latin typeface="Times New Roman" panose="02020603050405020304" charset="0"/>
                  <a:cs typeface="Times New Roman" panose="02020603050405020304" charset="0"/>
                </a:endParaRPr>
              </a:p>
              <a:p>
                <a:pPr lvl="1" indent="0" fontAlgn="auto">
                  <a:lnSpc>
                    <a:spcPct val="120000"/>
                  </a:lnSpc>
                  <a:spcBef>
                    <a:spcPts val="0"/>
                  </a:spcBef>
                  <a:spcAft>
                    <a:spcPts val="0"/>
                  </a:spcAft>
                </a:pPr>
                <a:r>
                  <a:rPr lang="en-US" altLang="zh-CN" sz="2800" b="1" spc="100">
                    <a:solidFill>
                      <a:srgbClr val="1F2DA8"/>
                    </a:solidFill>
                    <a:uFillTx/>
                    <a:latin typeface="Times New Roman" panose="02020603050405020304" charset="0"/>
                    <a:cs typeface="Times New Roman" panose="02020603050405020304" charset="0"/>
                  </a:rPr>
                  <a:t>for each tuple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𝒕</m:t>
                    </m:r>
                    <m:r>
                      <a:rPr lang="en-US" altLang="zh-CN" sz="2800" b="1" i="1" spc="100">
                        <a:solidFill>
                          <a:srgbClr val="1F2DA8"/>
                        </a:solidFill>
                        <a:uFillTx/>
                        <a:latin typeface="Cambria Math" panose="02040503050406030204" charset="0"/>
                        <a:ea typeface="MS Mincho" charset="0"/>
                        <a:cs typeface="Cambria Math" panose="02040503050406030204" charset="0"/>
                      </a:rPr>
                      <m:t>∈</m:t>
                    </m:r>
                    <m:r>
                      <a:rPr lang="en-US" altLang="zh-CN" sz="2800" b="1" i="1" spc="100">
                        <a:solidFill>
                          <a:srgbClr val="1F2DA8"/>
                        </a:solidFill>
                        <a:uFillTx/>
                        <a:latin typeface="Cambria Math" panose="02040503050406030204" charset="0"/>
                        <a:cs typeface="Cambria Math" panose="02040503050406030204" charset="0"/>
                      </a:rPr>
                      <m:t>𝑹</m:t>
                    </m:r>
                  </m:oMath>
                </a14:m>
                <a:endParaRPr lang="en-US" altLang="zh-CN" sz="2800" b="1" spc="100">
                  <a:solidFill>
                    <a:srgbClr val="1F2DA8"/>
                  </a:solidFill>
                  <a:uFillTx/>
                  <a:latin typeface="Times New Roman" panose="02020603050405020304" charset="0"/>
                  <a:cs typeface="Times New Roman" panose="02020603050405020304" charset="0"/>
                </a:endParaRPr>
              </a:p>
              <a:p>
                <a:pPr lvl="1" indent="0" fontAlgn="auto">
                  <a:lnSpc>
                    <a:spcPct val="120000"/>
                  </a:lnSpc>
                  <a:spcBef>
                    <a:spcPts val="0"/>
                  </a:spcBef>
                  <a:spcAft>
                    <a:spcPts val="0"/>
                  </a:spcAft>
                </a:pPr>
                <a:r>
                  <a:rPr lang="en-US" altLang="zh-CN" sz="2800" b="1" spc="100">
                    <a:solidFill>
                      <a:srgbClr val="1F2DA8"/>
                    </a:solidFill>
                    <a:uFillTx/>
                    <a:latin typeface="Times New Roman" panose="02020603050405020304" charset="0"/>
                    <a:cs typeface="Times New Roman" panose="02020603050405020304" charset="0"/>
                  </a:rPr>
                  <a:t>{</a:t>
                </a:r>
              </a:p>
              <a:p>
                <a:pPr lvl="2" indent="0" fontAlgn="auto">
                  <a:lnSpc>
                    <a:spcPct val="120000"/>
                  </a:lnSpc>
                  <a:spcBef>
                    <a:spcPts val="0"/>
                  </a:spcBef>
                  <a:spcAft>
                    <a:spcPts val="0"/>
                  </a:spcAft>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仅由属于关系</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𝑹</m:t>
                    </m:r>
                  </m:oMath>
                </a14:m>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但不属于关系</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𝑺</m:t>
                    </m:r>
                  </m:oMath>
                </a14:m>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的元组组成结果关系</a:t>
                </a:r>
                <a14:m>
                  <m:oMath xmlns:m="http://schemas.openxmlformats.org/officeDocument/2006/math">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𝑇</m:t>
                    </m:r>
                  </m:oMath>
                </a14:m>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endParaRPr lang="en-US" altLang="zh-CN" sz="2800" b="1" spc="100">
                  <a:solidFill>
                    <a:srgbClr val="1F2DA8"/>
                  </a:solidFill>
                  <a:uFillTx/>
                  <a:latin typeface="Times New Roman" panose="02020603050405020304" charset="0"/>
                  <a:cs typeface="Times New Roman" panose="02020603050405020304" charset="0"/>
                </a:endParaRPr>
              </a:p>
              <a:p>
                <a:pPr lvl="2" indent="0" fontAlgn="auto">
                  <a:lnSpc>
                    <a:spcPct val="120000"/>
                  </a:lnSpc>
                  <a:spcBef>
                    <a:spcPts val="0"/>
                  </a:spcBef>
                  <a:spcAft>
                    <a:spcPts val="0"/>
                  </a:spcAft>
                </a:pPr>
                <a:r>
                  <a:rPr lang="en-US" altLang="zh-CN" sz="2800" b="1" spc="100">
                    <a:solidFill>
                      <a:srgbClr val="1F2DA8"/>
                    </a:solidFill>
                    <a:uFillTx/>
                    <a:latin typeface="Times New Roman" panose="02020603050405020304" charset="0"/>
                    <a:cs typeface="Times New Roman" panose="02020603050405020304" charset="0"/>
                  </a:rPr>
                  <a:t>if </a:t>
                </a:r>
                <a14:m>
                  <m:oMath xmlns:m="http://schemas.openxmlformats.org/officeDocument/2006/math">
                    <m:r>
                      <a:rPr lang="en-US" altLang="zh-CN" sz="2800" b="1" i="1" spc="100">
                        <a:solidFill>
                          <a:srgbClr val="1F2DA8"/>
                        </a:solidFill>
                        <a:uFillTx/>
                        <a:latin typeface="Cambria Math" panose="02040503050406030204" charset="0"/>
                        <a:ea typeface="MS Mincho" charset="0"/>
                        <a:cs typeface="Cambria Math" panose="02040503050406030204" charset="0"/>
                      </a:rPr>
                      <m:t>(</m:t>
                    </m:r>
                    <m:r>
                      <a:rPr lang="en-US" altLang="zh-CN" sz="2800" b="1" i="1" spc="100">
                        <a:solidFill>
                          <a:srgbClr val="1F2DA8"/>
                        </a:solidFill>
                        <a:uFillTx/>
                        <a:latin typeface="Cambria Math" panose="02040503050406030204" charset="0"/>
                        <a:cs typeface="Cambria Math" panose="02040503050406030204" charset="0"/>
                      </a:rPr>
                      <m:t>𝒕</m:t>
                    </m:r>
                    <m:r>
                      <a:rPr lang="en-US" altLang="zh-CN" sz="2800" b="1" i="1" spc="100">
                        <a:solidFill>
                          <a:srgbClr val="1F2DA8"/>
                        </a:solidFill>
                        <a:uFillTx/>
                        <a:latin typeface="Cambria Math" panose="02040503050406030204" charset="0"/>
                        <a:ea typeface="MS Mincho" charset="0"/>
                        <a:cs typeface="Cambria Math" panose="02040503050406030204" charset="0"/>
                      </a:rPr>
                      <m:t>∉</m:t>
                    </m:r>
                    <m:r>
                      <a:rPr lang="en-US" altLang="zh-CN" sz="2800" b="1" i="1" spc="100">
                        <a:solidFill>
                          <a:srgbClr val="1F2DA8"/>
                        </a:solidFill>
                        <a:uFillTx/>
                        <a:latin typeface="Cambria Math" panose="02040503050406030204" charset="0"/>
                        <a:cs typeface="Cambria Math" panose="02040503050406030204" charset="0"/>
                      </a:rPr>
                      <m:t>𝑺</m:t>
                    </m:r>
                    <m:r>
                      <a:rPr lang="en-US" altLang="zh-CN" sz="2800" b="1" i="1" spc="100">
                        <a:solidFill>
                          <a:srgbClr val="1F2DA8"/>
                        </a:solidFill>
                        <a:uFillTx/>
                        <a:latin typeface="Cambria Math" panose="02040503050406030204" charset="0"/>
                        <a:ea typeface="MS Mincho" charset="0"/>
                        <a:cs typeface="Cambria Math" panose="02040503050406030204" charset="0"/>
                      </a:rPr>
                      <m:t>)</m:t>
                    </m:r>
                  </m:oMath>
                </a14:m>
                <a:r>
                  <a:rPr lang="en-US" altLang="zh-CN" sz="2800" b="1" spc="100">
                    <a:solidFill>
                      <a:srgbClr val="1F2DA8"/>
                    </a:solidFill>
                    <a:uFillTx/>
                    <a:latin typeface="Times New Roman" panose="02020603050405020304" charset="0"/>
                    <a:cs typeface="Times New Roman" panose="02020603050405020304" charset="0"/>
                  </a:rPr>
                  <a:t> </a:t>
                </a:r>
              </a:p>
              <a:p>
                <a:pPr lvl="2" indent="0" fontAlgn="auto">
                  <a:lnSpc>
                    <a:spcPct val="120000"/>
                  </a:lnSpc>
                  <a:spcBef>
                    <a:spcPts val="0"/>
                  </a:spcBef>
                  <a:spcAft>
                    <a:spcPts val="0"/>
                  </a:spcAft>
                </a:pPr>
                <a:r>
                  <a:rPr lang="en-US" altLang="zh-CN" sz="2800" b="1" spc="100">
                    <a:solidFill>
                      <a:srgbClr val="1F2DA8"/>
                    </a:solidFill>
                    <a:uFillTx/>
                    <a:latin typeface="Times New Roman" panose="02020603050405020304" charset="0"/>
                    <a:cs typeface="Times New Roman" panose="02020603050405020304" charset="0"/>
                  </a:rPr>
                  <a:t>then  add tuple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𝒕</m:t>
                    </m:r>
                  </m:oMath>
                </a14:m>
                <a:r>
                  <a:rPr lang="en-US" altLang="zh-CN" sz="2800" b="1" spc="100">
                    <a:solidFill>
                      <a:srgbClr val="1F2DA8"/>
                    </a:solidFill>
                    <a:uFillTx/>
                    <a:latin typeface="Times New Roman" panose="02020603050405020304" charset="0"/>
                    <a:cs typeface="Times New Roman" panose="02020603050405020304" charset="0"/>
                  </a:rPr>
                  <a:t> into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spc="100">
                  <a:solidFill>
                    <a:srgbClr val="1F2DA8"/>
                  </a:solidFill>
                  <a:uFillTx/>
                  <a:latin typeface="Times New Roman" panose="02020603050405020304" charset="0"/>
                  <a:cs typeface="Times New Roman" panose="02020603050405020304" charset="0"/>
                </a:endParaRPr>
              </a:p>
              <a:p>
                <a:pPr lvl="1" indent="0" fontAlgn="auto">
                  <a:lnSpc>
                    <a:spcPct val="120000"/>
                  </a:lnSpc>
                  <a:spcBef>
                    <a:spcPts val="0"/>
                  </a:spcBef>
                  <a:spcAft>
                    <a:spcPts val="0"/>
                  </a:spcAft>
                </a:pPr>
                <a:r>
                  <a:rPr lang="en-US" altLang="zh-CN" sz="2800" b="1" spc="100">
                    <a:solidFill>
                      <a:srgbClr val="1F2DA8"/>
                    </a:solidFill>
                    <a:uFillTx/>
                    <a:latin typeface="Times New Roman" panose="02020603050405020304" charset="0"/>
                    <a:cs typeface="Times New Roman" panose="02020603050405020304" charset="0"/>
                  </a:rPr>
                  <a:t>}</a:t>
                </a:r>
              </a:p>
              <a:p>
                <a:pPr lvl="1" indent="0" fontAlgn="auto">
                  <a:lnSpc>
                    <a:spcPct val="120000"/>
                  </a:lnSpc>
                  <a:spcBef>
                    <a:spcPts val="0"/>
                  </a:spcBef>
                  <a:spcAft>
                    <a:spcPts val="0"/>
                  </a:spcAft>
                </a:pPr>
                <a:r>
                  <a:rPr lang="en-US" altLang="zh-CN" sz="2800" b="1" spc="100">
                    <a:solidFill>
                      <a:srgbClr val="1F2DA8"/>
                    </a:solidFill>
                    <a:uFillTx/>
                    <a:latin typeface="Times New Roman" panose="02020603050405020304" charset="0"/>
                    <a:cs typeface="Times New Roman" panose="02020603050405020304" charset="0"/>
                  </a:rPr>
                  <a:t>return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spc="100">
                  <a:solidFill>
                    <a:srgbClr val="1F2DA8"/>
                  </a:solidFill>
                  <a:uFillTx/>
                  <a:latin typeface="Times New Roman" panose="02020603050405020304" charset="0"/>
                  <a:cs typeface="Times New Roman" panose="02020603050405020304"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920750" y="1470660"/>
                <a:ext cx="10386060" cy="4743450"/>
              </a:xfrm>
              <a:prstGeom prst="rect">
                <a:avLst/>
              </a:prstGeom>
              <a:blipFill rotWithShape="1">
                <a:blip r:embed="rId3"/>
                <a:stretch>
                  <a:fillRect l="-49" t="-107" r="-43" b="-94"/>
                </a:stretch>
              </a:blipFill>
              <a:ln>
                <a:solidFill>
                  <a:schemeClr val="accent1"/>
                </a:solidFill>
              </a:ln>
            </p:spPr>
            <p:txBody>
              <a:bodyPr/>
              <a:lstStyle/>
              <a:p>
                <a:r>
                  <a:rPr lang="zh-CN" altLang="en-US">
                    <a:noFill/>
                  </a:rPr>
                  <a:t> </a:t>
                </a:r>
              </a:p>
            </p:txBody>
          </p:sp>
        </mc:Fallback>
      </mc:AlternateContent>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pPr eaLnBrk="1" hangingPunct="1"/>
            <a:r>
              <a:rPr kumimoji="0" lang="zh-CN" altLang="en-US" i="0" u="none" strike="noStrike" kern="0" cap="none" spc="0" normalizeH="0" baseline="0" noProof="0" dirty="0">
                <a:ln>
                  <a:noFill/>
                </a:ln>
                <a:solidFill>
                  <a:schemeClr val="tx1"/>
                </a:solidFill>
                <a:effectLst/>
                <a:uLnTx/>
                <a:uFillTx/>
                <a:latin typeface="+mj-ea"/>
                <a:cs typeface="+mj-cs"/>
              </a:rPr>
              <a:t>并运算</a:t>
            </a:r>
            <a:r>
              <a:rPr kumimoji="0" lang="en-US" altLang="zh-CN" i="0" u="none" strike="noStrike" kern="0" cap="none" spc="0" normalizeH="0" baseline="0" noProof="0" dirty="0">
                <a:ln>
                  <a:noFill/>
                </a:ln>
                <a:solidFill>
                  <a:schemeClr val="tx1"/>
                </a:solidFill>
                <a:effectLst/>
                <a:uLnTx/>
                <a:uFillTx/>
                <a:latin typeface="+mj-ea"/>
                <a:cs typeface="+mj-cs"/>
              </a:rPr>
              <a:t>&amp;</a:t>
            </a:r>
            <a:r>
              <a:rPr kumimoji="0" lang="zh-CN" altLang="en-US" i="0" u="none" strike="noStrike" kern="0" cap="none" spc="0" normalizeH="0" baseline="0" noProof="0" dirty="0">
                <a:ln>
                  <a:noFill/>
                </a:ln>
                <a:solidFill>
                  <a:schemeClr val="tx1"/>
                </a:solidFill>
                <a:effectLst/>
                <a:uLnTx/>
                <a:uFillTx/>
                <a:latin typeface="+mj-ea"/>
                <a:cs typeface="+mj-cs"/>
              </a:rPr>
              <a:t>差运算：图</a:t>
            </a:r>
            <a:r>
              <a:rPr kumimoji="0" lang="en-US" altLang="zh-CN" i="0" u="none" strike="noStrike" kern="0" cap="none" spc="0" normalizeH="0" baseline="0" noProof="0" dirty="0">
                <a:ln>
                  <a:noFill/>
                </a:ln>
                <a:solidFill>
                  <a:schemeClr val="tx1"/>
                </a:solidFill>
                <a:effectLst/>
                <a:uLnTx/>
                <a:uFillTx/>
                <a:latin typeface="+mj-ea"/>
                <a:cs typeface="+mj-cs"/>
              </a:rPr>
              <a:t>2.2</a:t>
            </a:r>
          </a:p>
        </p:txBody>
      </p:sp>
      <p:graphicFrame>
        <p:nvGraphicFramePr>
          <p:cNvPr id="7" name="内容占位符 6"/>
          <p:cNvGraphicFramePr>
            <a:graphicFrameLocks noGrp="1"/>
          </p:cNvGraphicFramePr>
          <p:nvPr>
            <p:ph sz="half" idx="4294967295"/>
          </p:nvPr>
        </p:nvGraphicFramePr>
        <p:xfrm>
          <a:off x="1151255" y="722630"/>
          <a:ext cx="4038600" cy="1889640"/>
        </p:xfrm>
        <a:graphic>
          <a:graphicData uri="http://schemas.openxmlformats.org/drawingml/2006/table">
            <a:tbl>
              <a:tblPr firstRow="1" bandRow="1">
                <a:tableStyleId>{5C22544A-7EE6-4342-B048-85BDC9FD1C3A}</a:tableStyleId>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426720">
                <a:tc>
                  <a:txBody>
                    <a:bodyPr/>
                    <a:lstStyle/>
                    <a:p>
                      <a:pPr algn="ctr">
                        <a:buClrTx/>
                        <a:buSzTx/>
                        <a:buFontTx/>
                      </a:pPr>
                      <a:r>
                        <a:rPr lang="en-US" altLang="zh-CN" sz="2800" b="1" dirty="0">
                          <a:solidFill>
                            <a:srgbClr val="C00000"/>
                          </a:solidFill>
                        </a:rPr>
                        <a:t>A</a:t>
                      </a:r>
                      <a:endParaRPr lang="en-US" altLang="zh-CN" sz="2800" b="1" dirty="0">
                        <a:solidFill>
                          <a:srgbClr val="C00000"/>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buClrTx/>
                        <a:buSzTx/>
                        <a:buFontTx/>
                      </a:pPr>
                      <a:r>
                        <a:rPr lang="en-US" altLang="zh-CN" sz="2800" b="1" dirty="0">
                          <a:solidFill>
                            <a:srgbClr val="C00000"/>
                          </a:solidFill>
                        </a:rPr>
                        <a:t>B</a:t>
                      </a:r>
                      <a:endParaRPr lang="en-US" altLang="zh-CN" sz="2800" b="1" dirty="0">
                        <a:solidFill>
                          <a:srgbClr val="C00000"/>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buClrTx/>
                        <a:buSzTx/>
                        <a:buFontTx/>
                      </a:pPr>
                      <a:r>
                        <a:rPr lang="en-US" altLang="zh-CN" sz="2800" b="1" dirty="0">
                          <a:solidFill>
                            <a:srgbClr val="C00000"/>
                          </a:solidFill>
                        </a:rPr>
                        <a:t>C</a:t>
                      </a:r>
                      <a:endParaRPr lang="en-US" altLang="zh-CN" sz="2800" b="1" dirty="0">
                        <a:solidFill>
                          <a:srgbClr val="C00000"/>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extLst>
                  <a:ext uri="{0D108BD9-81ED-4DB2-BD59-A6C34878D82A}">
                    <a16:rowId xmlns:a16="http://schemas.microsoft.com/office/drawing/2014/main" val="10000"/>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extLst>
                  <a:ext uri="{0D108BD9-81ED-4DB2-BD59-A6C34878D82A}">
                    <a16:rowId xmlns:a16="http://schemas.microsoft.com/office/drawing/2014/main" val="10001"/>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6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bl>
          </a:graphicData>
        </a:graphic>
      </p:graphicFrame>
      <p:graphicFrame>
        <p:nvGraphicFramePr>
          <p:cNvPr id="10" name="内容占位符 9"/>
          <p:cNvGraphicFramePr>
            <a:graphicFrameLocks noGrp="1"/>
          </p:cNvGraphicFramePr>
          <p:nvPr>
            <p:ph sz="quarter" idx="4294967295"/>
          </p:nvPr>
        </p:nvGraphicFramePr>
        <p:xfrm>
          <a:off x="7251065" y="722630"/>
          <a:ext cx="4038600" cy="2451100"/>
        </p:xfrm>
        <a:graphic>
          <a:graphicData uri="http://schemas.openxmlformats.org/drawingml/2006/table">
            <a:tbl>
              <a:tblPr firstRow="1" bandRow="1">
                <a:tableStyleId>{5C22544A-7EE6-4342-B048-85BDC9FD1C3A}</a:tableStyleId>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490220">
                <a:tc>
                  <a:txBody>
                    <a:bodyPr/>
                    <a:lstStyle/>
                    <a:p>
                      <a:pPr algn="ctr"/>
                      <a:r>
                        <a:rPr lang="en-US" altLang="zh-CN" sz="2800" b="1" dirty="0">
                          <a:solidFill>
                            <a:srgbClr val="C00000"/>
                          </a:solidFill>
                        </a:rPr>
                        <a:t>A</a:t>
                      </a: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B</a:t>
                      </a: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C</a:t>
                      </a: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extLst>
                  <a:ext uri="{0D108BD9-81ED-4DB2-BD59-A6C34878D82A}">
                    <a16:rowId xmlns:a16="http://schemas.microsoft.com/office/drawing/2014/main" val="10000"/>
                  </a:ext>
                </a:extLst>
              </a:tr>
              <a:tr h="4902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extLst>
                  <a:ext uri="{0D108BD9-81ED-4DB2-BD59-A6C34878D82A}">
                    <a16:rowId xmlns:a16="http://schemas.microsoft.com/office/drawing/2014/main" val="10001"/>
                  </a:ext>
                </a:extLst>
              </a:tr>
              <a:tr h="4902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4902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r h="4902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3</a:t>
                      </a:r>
                      <a:endParaRPr lang="en-US" altLang="zh-CN" sz="2800" b="1" i="1"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0" marB="4574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extLst>
                  <a:ext uri="{0D108BD9-81ED-4DB2-BD59-A6C34878D82A}">
                    <a16:rowId xmlns:a16="http://schemas.microsoft.com/office/drawing/2014/main" val="10004"/>
                  </a:ext>
                </a:extLst>
              </a:tr>
            </a:tbl>
          </a:graphicData>
        </a:graphic>
      </p:graphicFrame>
      <p:graphicFrame>
        <p:nvGraphicFramePr>
          <p:cNvPr id="9" name="内容占位符 8"/>
          <p:cNvGraphicFramePr>
            <a:graphicFrameLocks noGrp="1"/>
          </p:cNvGraphicFramePr>
          <p:nvPr>
            <p:ph sz="quarter" idx="4294967295"/>
          </p:nvPr>
        </p:nvGraphicFramePr>
        <p:xfrm>
          <a:off x="1151255" y="3546475"/>
          <a:ext cx="4038600" cy="1889736"/>
        </p:xfrm>
        <a:graphic>
          <a:graphicData uri="http://schemas.openxmlformats.org/drawingml/2006/table">
            <a:tbl>
              <a:tblPr firstRow="1" bandRow="1">
                <a:tableStyleId>{5C22544A-7EE6-4342-B048-85BDC9FD1C3A}</a:tableStyleId>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426720">
                <a:tc>
                  <a:txBody>
                    <a:bodyPr/>
                    <a:lstStyle/>
                    <a:p>
                      <a:pPr algn="ctr"/>
                      <a:r>
                        <a:rPr lang="en-US" altLang="zh-CN" sz="2800" b="1" dirty="0">
                          <a:solidFill>
                            <a:srgbClr val="C00000"/>
                          </a:solidFill>
                        </a:rPr>
                        <a:t>A</a:t>
                      </a: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B</a:t>
                      </a: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C</a:t>
                      </a: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extLst>
                  <a:ext uri="{0D108BD9-81ED-4DB2-BD59-A6C34878D82A}">
                    <a16:rowId xmlns:a16="http://schemas.microsoft.com/office/drawing/2014/main" val="10000"/>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3</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extLst>
                  <a:ext uri="{0D108BD9-81ED-4DB2-BD59-A6C34878D82A}">
                    <a16:rowId xmlns:a16="http://schemas.microsoft.com/office/drawing/2014/main" val="10002"/>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baseline="-25000" dirty="0">
                        <a:solidFill>
                          <a:srgbClr val="1F2DA8"/>
                        </a:solidFill>
                        <a:latin typeface="Times New Roman" panose="02020603050405020304" charset="0"/>
                        <a:cs typeface="Times New Roman" panose="02020603050405020304" charset="0"/>
                      </a:endParaRPr>
                    </a:p>
                  </a:txBody>
                  <a:tcPr marT="0" marB="45714">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70729" name="TextBox 7"/>
              <p:cNvSpPr txBox="1">
                <a:spLocks noChangeArrowheads="1"/>
              </p:cNvSpPr>
              <p:nvPr/>
            </p:nvSpPr>
            <p:spPr bwMode="auto">
              <a:xfrm>
                <a:off x="556578" y="722313"/>
                <a:ext cx="432435"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𝑹</m:t>
                      </m:r>
                    </m:oMath>
                  </m:oMathPara>
                </a14:m>
                <a:endParaRPr lang="en-US" altLang="zh-CN" sz="2800" b="1" i="1"/>
              </a:p>
            </p:txBody>
          </p:sp>
        </mc:Choice>
        <mc:Fallback xmlns="">
          <p:sp>
            <p:nvSpPr>
              <p:cNvPr id="70729" name="TextBox 7"/>
              <p:cNvSpPr txBox="1">
                <a:spLocks noRot="1" noChangeAspect="1" noMove="1" noResize="1" noEditPoints="1" noAdjustHandles="1" noChangeArrowheads="1" noChangeShapeType="1" noTextEdit="1"/>
              </p:cNvSpPr>
              <p:nvPr/>
            </p:nvSpPr>
            <p:spPr bwMode="auto">
              <a:xfrm>
                <a:off x="556578" y="722313"/>
                <a:ext cx="432435" cy="521970"/>
              </a:xfrm>
              <a:prstGeom prst="rect">
                <a:avLst/>
              </a:prstGeom>
              <a:blipFill rotWithShape="1">
                <a:blip r:embed="rId2"/>
                <a:stretch>
                  <a:fillRect l="-74" t="-61" r="-1395" b="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730" name="TextBox 10"/>
              <p:cNvSpPr txBox="1">
                <a:spLocks noChangeArrowheads="1"/>
              </p:cNvSpPr>
              <p:nvPr/>
            </p:nvSpPr>
            <p:spPr bwMode="auto">
              <a:xfrm>
                <a:off x="595313" y="3546475"/>
                <a:ext cx="393700"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𝑺</m:t>
                      </m:r>
                    </m:oMath>
                  </m:oMathPara>
                </a14:m>
                <a:endParaRPr lang="en-US" altLang="zh-CN" sz="2800" b="1" i="1"/>
              </a:p>
            </p:txBody>
          </p:sp>
        </mc:Choice>
        <mc:Fallback xmlns="">
          <p:sp>
            <p:nvSpPr>
              <p:cNvPr id="70730" name="TextBox 10"/>
              <p:cNvSpPr txBox="1">
                <a:spLocks noRot="1" noChangeAspect="1" noMove="1" noResize="1" noEditPoints="1" noAdjustHandles="1" noChangeArrowheads="1" noChangeShapeType="1" noTextEdit="1"/>
              </p:cNvSpPr>
              <p:nvPr/>
            </p:nvSpPr>
            <p:spPr bwMode="auto">
              <a:xfrm>
                <a:off x="595313" y="3546475"/>
                <a:ext cx="393700" cy="521970"/>
              </a:xfrm>
              <a:prstGeom prst="rect">
                <a:avLst/>
              </a:prstGeom>
              <a:blipFill rotWithShape="1">
                <a:blip r:embed="rId3"/>
                <a:stretch>
                  <a:fillRect l="-81" r="-7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731" name="TextBox 11"/>
              <p:cNvSpPr txBox="1">
                <a:spLocks noChangeArrowheads="1"/>
              </p:cNvSpPr>
              <p:nvPr/>
            </p:nvSpPr>
            <p:spPr bwMode="auto">
              <a:xfrm>
                <a:off x="6060123" y="722630"/>
                <a:ext cx="1113790"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altLang="zh-CN" sz="2800" b="1" i="1" dirty="0">
                        <a:latin typeface="Cambria Math" panose="02040503050406030204" charset="0"/>
                        <a:cs typeface="Cambria Math" panose="02040503050406030204" charset="0"/>
                      </a:rPr>
                      <m:t>𝑹</m:t>
                    </m:r>
                    <m:r>
                      <a:rPr lang="en-US" altLang="zh-CN" sz="2800" b="1" i="1" dirty="0">
                        <a:latin typeface="Cambria Math" panose="02040503050406030204" charset="0"/>
                        <a:cs typeface="Cambria Math" panose="02040503050406030204" charset="0"/>
                      </a:rPr>
                      <m:t>∪</m:t>
                    </m:r>
                    <m:r>
                      <a:rPr lang="en-US" altLang="zh-CN" sz="2800" b="1" i="1" dirty="0">
                        <a:latin typeface="Cambria Math" panose="02040503050406030204" charset="0"/>
                        <a:cs typeface="Cambria Math" panose="02040503050406030204" charset="0"/>
                      </a:rPr>
                      <m:t>𝑺</m:t>
                    </m:r>
                  </m:oMath>
                </a14:m>
                <a:r>
                  <a:rPr lang="en-US" altLang="zh-CN" sz="2800" b="1" dirty="0"/>
                  <a:t> </a:t>
                </a:r>
              </a:p>
            </p:txBody>
          </p:sp>
        </mc:Choice>
        <mc:Fallback xmlns="">
          <p:sp>
            <p:nvSpPr>
              <p:cNvPr id="70731" name="TextBox 11"/>
              <p:cNvSpPr txBox="1">
                <a:spLocks noRot="1" noChangeAspect="1" noMove="1" noResize="1" noEditPoints="1" noAdjustHandles="1" noChangeArrowheads="1" noChangeShapeType="1" noTextEdit="1"/>
              </p:cNvSpPr>
              <p:nvPr/>
            </p:nvSpPr>
            <p:spPr bwMode="auto">
              <a:xfrm>
                <a:off x="6060123" y="722630"/>
                <a:ext cx="1113790" cy="521970"/>
              </a:xfrm>
              <a:prstGeom prst="rect">
                <a:avLst/>
              </a:prstGeom>
              <a:blipFill rotWithShape="1">
                <a:blip r:embed="rId4"/>
                <a:stretch>
                  <a:fillRect l="-29" r="-113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26</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graphicFrame>
        <p:nvGraphicFramePr>
          <p:cNvPr id="11" name="内容占位符 9"/>
          <p:cNvGraphicFramePr>
            <a:graphicFrameLocks noGrp="1"/>
          </p:cNvGraphicFramePr>
          <p:nvPr/>
        </p:nvGraphicFramePr>
        <p:xfrm>
          <a:off x="7282815" y="3546475"/>
          <a:ext cx="4038600" cy="979170"/>
        </p:xfrm>
        <a:graphic>
          <a:graphicData uri="http://schemas.openxmlformats.org/drawingml/2006/table">
            <a:tbl>
              <a:tblPr firstRow="1" bandRow="1">
                <a:tableStyleId>{5C22544A-7EE6-4342-B048-85BDC9FD1C3A}</a:tableStyleId>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489585">
                <a:tc>
                  <a:txBody>
                    <a:bodyPr/>
                    <a:lstStyle/>
                    <a:p>
                      <a:pPr algn="ctr"/>
                      <a:r>
                        <a:rPr lang="en-US" altLang="zh-CN" sz="2800" b="1" dirty="0">
                          <a:solidFill>
                            <a:srgbClr val="C00000"/>
                          </a:solidFill>
                        </a:rPr>
                        <a:t>A</a:t>
                      </a: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B</a:t>
                      </a: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C</a:t>
                      </a: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extLst>
                  <a:ext uri="{0D108BD9-81ED-4DB2-BD59-A6C34878D82A}">
                    <a16:rowId xmlns:a16="http://schemas.microsoft.com/office/drawing/2014/main" val="10000"/>
                  </a:ext>
                </a:extLst>
              </a:tr>
              <a:tr h="489585">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72767" name="TextBox 14"/>
              <p:cNvSpPr txBox="1">
                <a:spLocks noChangeArrowheads="1"/>
              </p:cNvSpPr>
              <p:nvPr/>
            </p:nvSpPr>
            <p:spPr bwMode="auto">
              <a:xfrm>
                <a:off x="6136005" y="3546158"/>
                <a:ext cx="1038225"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𝑹</m:t>
                      </m:r>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𝑺</m:t>
                      </m:r>
                    </m:oMath>
                  </m:oMathPara>
                </a14:m>
                <a:endParaRPr lang="en-US" altLang="zh-CN" sz="2800" b="1" i="1"/>
              </a:p>
            </p:txBody>
          </p:sp>
        </mc:Choice>
        <mc:Fallback xmlns="">
          <p:sp>
            <p:nvSpPr>
              <p:cNvPr id="72767" name="TextBox 14"/>
              <p:cNvSpPr txBox="1">
                <a:spLocks noRot="1" noChangeAspect="1" noMove="1" noResize="1" noEditPoints="1" noAdjustHandles="1" noChangeArrowheads="1" noChangeShapeType="1" noTextEdit="1"/>
              </p:cNvSpPr>
              <p:nvPr/>
            </p:nvSpPr>
            <p:spPr bwMode="auto">
              <a:xfrm>
                <a:off x="6136005" y="3546158"/>
                <a:ext cx="1038225" cy="521970"/>
              </a:xfrm>
              <a:prstGeom prst="rect">
                <a:avLst/>
              </a:prstGeom>
              <a:blipFill rotWithShape="1">
                <a:blip r:embed="rId5"/>
                <a:stretch>
                  <a:fillRect t="-61" r="-2630" b="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4" name="内容占位符 9"/>
          <p:cNvGraphicFramePr>
            <a:graphicFrameLocks noGrp="1"/>
          </p:cNvGraphicFramePr>
          <p:nvPr/>
        </p:nvGraphicFramePr>
        <p:xfrm>
          <a:off x="7282815" y="4914265"/>
          <a:ext cx="4038600" cy="979170"/>
        </p:xfrm>
        <a:graphic>
          <a:graphicData uri="http://schemas.openxmlformats.org/drawingml/2006/table">
            <a:tbl>
              <a:tblPr firstRow="1" bandRow="1">
                <a:tableStyleId>{5C22544A-7EE6-4342-B048-85BDC9FD1C3A}</a:tableStyleId>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489585">
                <a:tc>
                  <a:txBody>
                    <a:bodyPr/>
                    <a:lstStyle/>
                    <a:p>
                      <a:pPr algn="ctr"/>
                      <a:r>
                        <a:rPr lang="en-US" altLang="zh-CN" sz="2800" b="1" dirty="0">
                          <a:solidFill>
                            <a:srgbClr val="C00000"/>
                          </a:solidFill>
                        </a:rPr>
                        <a:t>A</a:t>
                      </a: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B</a:t>
                      </a: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tc>
                  <a:txBody>
                    <a:bodyPr/>
                    <a:lstStyle/>
                    <a:p>
                      <a:pPr algn="ctr"/>
                      <a:r>
                        <a:rPr lang="en-US" altLang="zh-CN" sz="2800" b="1" dirty="0">
                          <a:solidFill>
                            <a:srgbClr val="C00000"/>
                          </a:solidFill>
                        </a:rPr>
                        <a:t>C</a:t>
                      </a: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alpha val="50000"/>
                      </a:schemeClr>
                    </a:solidFill>
                  </a:tcPr>
                </a:tc>
                <a:extLst>
                  <a:ext uri="{0D108BD9-81ED-4DB2-BD59-A6C34878D82A}">
                    <a16:rowId xmlns:a16="http://schemas.microsoft.com/office/drawing/2014/main" val="10000"/>
                  </a:ext>
                </a:extLst>
              </a:tr>
              <a:tr h="489585">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3</a:t>
                      </a:r>
                      <a:endParaRPr lang="en-US" altLang="zh-CN" sz="2800" b="1" i="1" dirty="0">
                        <a:solidFill>
                          <a:srgbClr val="1F2DA8"/>
                        </a:solidFill>
                        <a:latin typeface="Times New Roman" panose="02020603050405020304" charset="0"/>
                        <a:cs typeface="Times New Roman" panose="02020603050405020304" charset="0"/>
                      </a:endParaRP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0" marB="45728">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50000"/>
                      </a:schemeClr>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5" name="TextBox 14"/>
              <p:cNvSpPr txBox="1">
                <a:spLocks noChangeArrowheads="1"/>
              </p:cNvSpPr>
              <p:nvPr/>
            </p:nvSpPr>
            <p:spPr bwMode="auto">
              <a:xfrm>
                <a:off x="6136005" y="4913948"/>
                <a:ext cx="1057910"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𝑺</m:t>
                      </m:r>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𝑹</m:t>
                      </m:r>
                    </m:oMath>
                  </m:oMathPara>
                </a14:m>
                <a:endParaRPr lang="en-US" altLang="zh-CN" sz="2800" b="1" i="1"/>
              </a:p>
            </p:txBody>
          </p:sp>
        </mc:Choice>
        <mc:Fallback xmlns="">
          <p:sp>
            <p:nvSpPr>
              <p:cNvPr id="5" name="TextBox 14"/>
              <p:cNvSpPr txBox="1">
                <a:spLocks noRot="1" noChangeAspect="1" noMove="1" noResize="1" noEditPoints="1" noAdjustHandles="1" noChangeArrowheads="1" noChangeShapeType="1" noTextEdit="1"/>
              </p:cNvSpPr>
              <p:nvPr/>
            </p:nvSpPr>
            <p:spPr bwMode="auto">
              <a:xfrm>
                <a:off x="6136005" y="4913948"/>
                <a:ext cx="1057910" cy="521970"/>
              </a:xfrm>
              <a:prstGeom prst="rect">
                <a:avLst/>
              </a:prstGeom>
              <a:blipFill rotWithShape="1">
                <a:blip r:embed="rId6"/>
                <a:stretch>
                  <a:fillRect t="-61" r="-720" b="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0731">
                                            <p:txEl>
                                              <p:pRg st="0" end="0"/>
                                            </p:txEl>
                                          </p:spTgt>
                                        </p:tgtEl>
                                        <p:attrNameLst>
                                          <p:attrName>style.visibility</p:attrName>
                                        </p:attrNameLst>
                                      </p:cBhvr>
                                      <p:to>
                                        <p:strVal val="visible"/>
                                      </p:to>
                                    </p:set>
                                    <p:animEffect transition="in" filter="blinds(horizontal)">
                                      <p:cBhvr>
                                        <p:cTn id="10" dur="500"/>
                                        <p:tgtEl>
                                          <p:spTgt spid="7073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1+#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2767">
                                            <p:txEl>
                                              <p:pRg st="0" end="0"/>
                                            </p:txEl>
                                          </p:spTgt>
                                        </p:tgtEl>
                                        <p:attrNameLst>
                                          <p:attrName>style.visibility</p:attrName>
                                        </p:attrNameLst>
                                      </p:cBhvr>
                                      <p:to>
                                        <p:strVal val="visible"/>
                                      </p:to>
                                    </p:set>
                                    <p:anim calcmode="lin" valueType="num">
                                      <p:cBhvr additive="base">
                                        <p:cTn id="19" dur="500" fill="hold"/>
                                        <p:tgtEl>
                                          <p:spTgt spid="72767">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27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 calcmode="lin" valueType="num">
                                      <p:cBhvr additive="base">
                                        <p:cTn id="29"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31" grpId="0" build="allAtOnce" bldLvl="0"/>
      <p:bldP spid="72767" grpId="0" build="allAtOnce" bldLvl="0"/>
      <p:bldP spid="5" grpId="0" build="allAtOnce" bldLvl="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笛卡尔积 </a:t>
            </a:r>
            <a:r>
              <a:rPr lang="en-US" altLang="zh-CN" dirty="0"/>
              <a:t>1</a:t>
            </a:r>
            <a:endParaRPr lang="zh-CN" altLang="en-US" dirty="0"/>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p:txBody>
              <a:bodyPr/>
              <a:lstStyle/>
              <a:p>
                <a:pPr marL="365125" indent="-365125" algn="just" fontAlgn="auto">
                  <a:lnSpc>
                    <a:spcPct val="100000"/>
                  </a:lnSpc>
                  <a:spcBef>
                    <a:spcPts val="0"/>
                  </a:spcBef>
                </a:pPr>
                <a:r>
                  <a:rPr lang="zh-CN" altLang="en-US" sz="2800" dirty="0"/>
                  <a:t>严格地讲应该是广义的笛卡尔积（</a:t>
                </a:r>
                <a:r>
                  <a:rPr lang="en-US" altLang="zh-CN" sz="2800" dirty="0"/>
                  <a:t>Extended Cartesian Product</a:t>
                </a:r>
                <a:r>
                  <a:rPr lang="zh-CN" altLang="en-US" sz="2800" dirty="0"/>
                  <a:t>） </a:t>
                </a:r>
              </a:p>
              <a:p>
                <a:pPr marL="365125" indent="-365125" algn="just" fontAlgn="auto">
                  <a:lnSpc>
                    <a:spcPct val="100000"/>
                  </a:lnSpc>
                  <a:spcBef>
                    <a:spcPts val="1000"/>
                  </a:spcBef>
                </a:pPr>
                <a:r>
                  <a:rPr lang="zh-CN" altLang="en-US" sz="2800" dirty="0">
                    <a:latin typeface="Cambria Math" panose="02040503050406030204" charset="0"/>
                    <a:cs typeface="Cambria Math" panose="02040503050406030204" charset="0"/>
                  </a:rPr>
                  <a:t>设有两个关系：</a:t>
                </a:r>
              </a:p>
              <a:p>
                <a:pPr marL="822325" lvl="1" indent="-365125" algn="just" fontAlgn="auto">
                  <a:lnSpc>
                    <a:spcPct val="100000"/>
                  </a:lnSpc>
                  <a:spcBef>
                    <a:spcPts val="0"/>
                  </a:spcBef>
                </a:pPr>
                <a14:m>
                  <m:oMath xmlns:m="http://schemas.openxmlformats.org/officeDocument/2006/math">
                    <m:r>
                      <a:rPr lang="en-US" altLang="zh-CN" sz="2610" i="1" dirty="0">
                        <a:latin typeface="Cambria Math" panose="02040503050406030204" charset="0"/>
                        <a:cs typeface="Cambria Math" panose="02040503050406030204" charset="0"/>
                      </a:rPr>
                      <m:t>𝑅</m:t>
                    </m:r>
                  </m:oMath>
                </a14:m>
                <a:r>
                  <a:rPr lang="en-US" altLang="zh-CN" sz="2610" dirty="0"/>
                  <a:t>: </a:t>
                </a:r>
                <a14:m>
                  <m:oMath xmlns:m="http://schemas.openxmlformats.org/officeDocument/2006/math">
                    <m:r>
                      <a:rPr lang="en-US" altLang="zh-CN" sz="2610" i="1" dirty="0">
                        <a:latin typeface="Cambria Math" panose="02040503050406030204" charset="0"/>
                        <a:cs typeface="Cambria Math" panose="02040503050406030204" charset="0"/>
                      </a:rPr>
                      <m:t>𝑛</m:t>
                    </m:r>
                  </m:oMath>
                </a14:m>
                <a:r>
                  <a:rPr lang="zh-CN" altLang="en-US" sz="2610" dirty="0"/>
                  <a:t>目关系，</a:t>
                </a:r>
                <a14:m>
                  <m:oMath xmlns:m="http://schemas.openxmlformats.org/officeDocument/2006/math">
                    <m:r>
                      <a:rPr lang="en-US" altLang="zh-CN" sz="2610" i="1" dirty="0">
                        <a:latin typeface="Cambria Math" panose="02040503050406030204" charset="0"/>
                        <a:cs typeface="Cambria Math" panose="02040503050406030204" charset="0"/>
                      </a:rPr>
                      <m:t>𝑘</m:t>
                    </m:r>
                    <m:r>
                      <a:rPr lang="en-US" altLang="zh-CN" sz="2610" baseline="-30000" dirty="0">
                        <a:latin typeface="Cambria Math" panose="02040503050406030204" charset="0"/>
                        <a:cs typeface="Cambria Math" panose="02040503050406030204" charset="0"/>
                      </a:rPr>
                      <m:t>1</m:t>
                    </m:r>
                  </m:oMath>
                </a14:m>
                <a:r>
                  <a:rPr lang="zh-CN" altLang="en-US" sz="2610" dirty="0"/>
                  <a:t>个元组</a:t>
                </a:r>
              </a:p>
              <a:p>
                <a:pPr marL="822325" lvl="1" indent="-365125" algn="just" fontAlgn="auto">
                  <a:lnSpc>
                    <a:spcPct val="100000"/>
                  </a:lnSpc>
                  <a:spcBef>
                    <a:spcPts val="0"/>
                  </a:spcBef>
                </a:pPr>
                <a14:m>
                  <m:oMath xmlns:m="http://schemas.openxmlformats.org/officeDocument/2006/math">
                    <m:r>
                      <a:rPr lang="en-US" altLang="zh-CN" sz="2610" i="1" dirty="0">
                        <a:latin typeface="Cambria Math" panose="02040503050406030204" charset="0"/>
                        <a:cs typeface="Cambria Math" panose="02040503050406030204" charset="0"/>
                      </a:rPr>
                      <m:t>𝑆</m:t>
                    </m:r>
                  </m:oMath>
                </a14:m>
                <a:r>
                  <a:rPr lang="en-US" altLang="zh-CN" sz="2610" dirty="0"/>
                  <a:t>: </a:t>
                </a:r>
                <a14:m>
                  <m:oMath xmlns:m="http://schemas.openxmlformats.org/officeDocument/2006/math">
                    <m:r>
                      <a:rPr lang="en-US" altLang="zh-CN" sz="2610" i="1" dirty="0">
                        <a:latin typeface="Cambria Math" panose="02040503050406030204" charset="0"/>
                        <a:cs typeface="Cambria Math" panose="02040503050406030204" charset="0"/>
                      </a:rPr>
                      <m:t>𝑚</m:t>
                    </m:r>
                  </m:oMath>
                </a14:m>
                <a:r>
                  <a:rPr lang="zh-CN" altLang="en-US" sz="2610" dirty="0"/>
                  <a:t>目关系，</a:t>
                </a:r>
                <a14:m>
                  <m:oMath xmlns:m="http://schemas.openxmlformats.org/officeDocument/2006/math">
                    <m:r>
                      <a:rPr lang="en-US" altLang="zh-CN" sz="2610" i="1" dirty="0">
                        <a:latin typeface="Cambria Math" panose="02040503050406030204" charset="0"/>
                        <a:cs typeface="Cambria Math" panose="02040503050406030204" charset="0"/>
                      </a:rPr>
                      <m:t>𝑘</m:t>
                    </m:r>
                    <m:r>
                      <a:rPr lang="en-US" altLang="zh-CN" sz="2610" baseline="-30000" dirty="0">
                        <a:latin typeface="Cambria Math" panose="02040503050406030204" charset="0"/>
                        <a:cs typeface="Cambria Math" panose="02040503050406030204" charset="0"/>
                      </a:rPr>
                      <m:t>2</m:t>
                    </m:r>
                  </m:oMath>
                </a14:m>
                <a:r>
                  <a:rPr lang="zh-CN" altLang="en-US" sz="2610" dirty="0"/>
                  <a:t>个元组</a:t>
                </a:r>
              </a:p>
              <a:p>
                <a:pPr marL="365125" indent="-365125" algn="just" fontAlgn="auto">
                  <a:lnSpc>
                    <a:spcPct val="100000"/>
                  </a:lnSpc>
                  <a:spcBef>
                    <a:spcPts val="1000"/>
                  </a:spcBef>
                </a:pPr>
                <a:r>
                  <a:rPr lang="zh-CN" altLang="en-US" sz="2800" dirty="0"/>
                  <a:t>笛卡尔积</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𝑅</m:t>
                    </m:r>
                    <m:r>
                      <a:rPr lang="en-US" altLang="zh-CN" sz="2800" dirty="0">
                        <a:latin typeface="Cambria Math" panose="02040503050406030204" charset="0"/>
                        <a:cs typeface="Cambria Math" panose="02040503050406030204" charset="0"/>
                      </a:rPr>
                      <m:t>×</m:t>
                    </m:r>
                    <m:r>
                      <a:rPr lang="en-US" altLang="zh-CN" sz="2800" i="1" dirty="0">
                        <a:latin typeface="Cambria Math" panose="02040503050406030204" charset="0"/>
                        <a:cs typeface="Cambria Math" panose="02040503050406030204" charset="0"/>
                      </a:rPr>
                      <m:t>𝑆</m:t>
                    </m:r>
                    <m:r>
                      <a:rPr lang="en-US" altLang="zh-CN" sz="2800" i="1" dirty="0">
                        <a:latin typeface="Cambria Math" panose="02040503050406030204" charset="0"/>
                        <a:cs typeface="Cambria Math" panose="02040503050406030204" charset="0"/>
                      </a:rPr>
                      <m:t> </m:t>
                    </m:r>
                  </m:oMath>
                </a14:m>
                <a:endParaRPr lang="en-US" altLang="zh-CN" sz="2800" dirty="0"/>
              </a:p>
              <a:p>
                <a:pPr lvl="1" algn="just" fontAlgn="auto">
                  <a:lnSpc>
                    <a:spcPct val="100000"/>
                  </a:lnSpc>
                  <a:spcBef>
                    <a:spcPts val="0"/>
                  </a:spcBef>
                </a:pPr>
                <a:r>
                  <a:rPr lang="zh-CN" altLang="en-US" sz="2800" dirty="0">
                    <a:solidFill>
                      <a:srgbClr val="C00000"/>
                    </a:solidFill>
                  </a:rPr>
                  <a:t>结果关系的关系模式：</a:t>
                </a:r>
                <a14:m>
                  <m:oMath xmlns:m="http://schemas.openxmlformats.org/officeDocument/2006/math">
                    <m:r>
                      <a:rPr lang="en-US" altLang="zh-CN" sz="2800" dirty="0">
                        <a:solidFill>
                          <a:srgbClr val="C00000"/>
                        </a:solidFill>
                        <a:latin typeface="Cambria Math" panose="02040503050406030204" charset="0"/>
                        <a:cs typeface="Cambria Math" panose="02040503050406030204" charset="0"/>
                      </a:rPr>
                      <m:t>(</m:t>
                    </m:r>
                    <m:r>
                      <a:rPr lang="en-US" altLang="zh-CN" sz="2800" i="1" dirty="0" err="1">
                        <a:solidFill>
                          <a:srgbClr val="C00000"/>
                        </a:solidFill>
                        <a:latin typeface="Cambria Math" panose="02040503050406030204" charset="0"/>
                        <a:cs typeface="Cambria Math" panose="02040503050406030204" charset="0"/>
                      </a:rPr>
                      <m:t>𝑛</m:t>
                    </m:r>
                    <m:r>
                      <a:rPr lang="en-US" altLang="zh-CN" sz="2800" dirty="0" err="1">
                        <a:solidFill>
                          <a:srgbClr val="C00000"/>
                        </a:solidFill>
                        <a:latin typeface="Cambria Math" panose="02040503050406030204" charset="0"/>
                        <a:cs typeface="Cambria Math" panose="02040503050406030204" charset="0"/>
                      </a:rPr>
                      <m:t>+</m:t>
                    </m:r>
                    <m:r>
                      <a:rPr lang="en-US" altLang="zh-CN" sz="2800" i="1" dirty="0" err="1">
                        <a:solidFill>
                          <a:srgbClr val="C00000"/>
                        </a:solidFill>
                        <a:latin typeface="Cambria Math" panose="02040503050406030204" charset="0"/>
                        <a:cs typeface="Cambria Math" panose="02040503050406030204" charset="0"/>
                      </a:rPr>
                      <m:t>𝑚</m:t>
                    </m:r>
                    <m:r>
                      <a:rPr lang="en-US" altLang="zh-CN" sz="2800" dirty="0">
                        <a:solidFill>
                          <a:srgbClr val="C00000"/>
                        </a:solidFill>
                        <a:latin typeface="Cambria Math" panose="02040503050406030204" charset="0"/>
                        <a:cs typeface="Cambria Math" panose="02040503050406030204" charset="0"/>
                      </a:rPr>
                      <m:t>) </m:t>
                    </m:r>
                  </m:oMath>
                </a14:m>
                <a:r>
                  <a:rPr lang="zh-CN" altLang="en-US" sz="2800" dirty="0">
                    <a:solidFill>
                      <a:srgbClr val="C00000"/>
                    </a:solidFill>
                  </a:rPr>
                  <a:t>列</a:t>
                </a:r>
                <a:endParaRPr lang="zh-CN" altLang="en-US" sz="2800" dirty="0"/>
              </a:p>
              <a:p>
                <a:pPr lvl="2" algn="just" fontAlgn="auto">
                  <a:lnSpc>
                    <a:spcPct val="100000"/>
                  </a:lnSpc>
                  <a:spcBef>
                    <a:spcPts val="0"/>
                  </a:spcBef>
                  <a:buFont typeface="Wingdings" panose="05000000000000000000" pitchFamily="2" charset="2"/>
                  <a:buChar char="l"/>
                </a:pPr>
                <a:r>
                  <a:rPr lang="zh-CN" altLang="en-US" sz="2800" dirty="0"/>
                  <a:t>前</a:t>
                </a:r>
                <a14:m>
                  <m:oMath xmlns:m="http://schemas.openxmlformats.org/officeDocument/2006/math">
                    <m:r>
                      <a:rPr lang="en-US" altLang="zh-CN" sz="2800" i="1" dirty="0">
                        <a:latin typeface="Cambria Math" panose="02040503050406030204" charset="0"/>
                        <a:cs typeface="Cambria Math" panose="02040503050406030204" charset="0"/>
                      </a:rPr>
                      <m:t>𝑛</m:t>
                    </m:r>
                  </m:oMath>
                </a14:m>
                <a:r>
                  <a:rPr lang="zh-CN" altLang="en-US" sz="2800" dirty="0"/>
                  <a:t>列来自于关系</a:t>
                </a:r>
                <a14:m>
                  <m:oMath xmlns:m="http://schemas.openxmlformats.org/officeDocument/2006/math">
                    <m:r>
                      <a:rPr lang="en-US" altLang="zh-CN" sz="2800" i="1" dirty="0">
                        <a:latin typeface="Cambria Math" panose="02040503050406030204" charset="0"/>
                        <a:cs typeface="Cambria Math" panose="02040503050406030204" charset="0"/>
                      </a:rPr>
                      <m:t>𝑅</m:t>
                    </m:r>
                  </m:oMath>
                </a14:m>
                <a:r>
                  <a:rPr lang="zh-CN" altLang="en-US" sz="2800" dirty="0"/>
                  <a:t>，后</a:t>
                </a:r>
                <a14:m>
                  <m:oMath xmlns:m="http://schemas.openxmlformats.org/officeDocument/2006/math">
                    <m:r>
                      <a:rPr lang="en-US" altLang="zh-CN" sz="2800" i="1" dirty="0">
                        <a:latin typeface="Cambria Math" panose="02040503050406030204" charset="0"/>
                        <a:cs typeface="Cambria Math" panose="02040503050406030204" charset="0"/>
                      </a:rPr>
                      <m:t>𝑚</m:t>
                    </m:r>
                  </m:oMath>
                </a14:m>
                <a:r>
                  <a:rPr lang="zh-CN" altLang="en-US" sz="2800" dirty="0"/>
                  <a:t>列</a:t>
                </a:r>
                <a:r>
                  <a:rPr lang="zh-CN" altLang="en-US" sz="2800" dirty="0">
                    <a:sym typeface="+mn-ea"/>
                  </a:rPr>
                  <a:t>来自于</a:t>
                </a:r>
                <a:r>
                  <a:rPr lang="zh-CN" altLang="en-US" sz="2800" dirty="0"/>
                  <a:t>关系</a:t>
                </a:r>
                <a14:m>
                  <m:oMath xmlns:m="http://schemas.openxmlformats.org/officeDocument/2006/math">
                    <m:r>
                      <a:rPr lang="en-US" altLang="zh-CN" sz="2800" i="1" dirty="0">
                        <a:latin typeface="Cambria Math" panose="02040503050406030204" charset="0"/>
                        <a:cs typeface="Cambria Math" panose="02040503050406030204" charset="0"/>
                      </a:rPr>
                      <m:t>𝑆</m:t>
                    </m:r>
                  </m:oMath>
                </a14:m>
                <a:endParaRPr lang="zh-CN" altLang="en-US" sz="2800" dirty="0"/>
              </a:p>
              <a:p>
                <a:pPr lvl="1" algn="just" fontAlgn="auto">
                  <a:lnSpc>
                    <a:spcPct val="100000"/>
                  </a:lnSpc>
                  <a:spcBef>
                    <a:spcPts val="1000"/>
                  </a:spcBef>
                </a:pPr>
                <a:r>
                  <a:rPr lang="zh-CN" altLang="en-US" sz="2800" dirty="0">
                    <a:solidFill>
                      <a:srgbClr val="C00000"/>
                    </a:solidFill>
                  </a:rPr>
                  <a:t>结果关系中的行：</a:t>
                </a:r>
                <a14:m>
                  <m:oMath xmlns:m="http://schemas.openxmlformats.org/officeDocument/2006/math">
                    <m:r>
                      <a:rPr lang="en-US" altLang="zh-CN" dirty="0">
                        <a:solidFill>
                          <a:srgbClr val="C00000"/>
                        </a:solidFill>
                        <a:latin typeface="Cambria Math" panose="02040503050406030204" charset="0"/>
                        <a:cs typeface="Cambria Math" panose="02040503050406030204" charset="0"/>
                      </a:rPr>
                      <m:t>(</m:t>
                    </m:r>
                    <m:r>
                      <a:rPr lang="en-US" altLang="zh-CN" i="1" dirty="0" err="1">
                        <a:solidFill>
                          <a:srgbClr val="C00000"/>
                        </a:solidFill>
                        <a:latin typeface="Cambria Math" panose="02040503050406030204" charset="0"/>
                        <a:cs typeface="Cambria Math" panose="02040503050406030204" charset="0"/>
                      </a:rPr>
                      <m:t>𝑛</m:t>
                    </m:r>
                    <m:r>
                      <a:rPr lang="en-US" altLang="zh-CN" dirty="0" err="1">
                        <a:solidFill>
                          <a:srgbClr val="C00000"/>
                        </a:solidFill>
                        <a:latin typeface="Cambria Math" panose="02040503050406030204" charset="0"/>
                        <a:cs typeface="Cambria Math" panose="02040503050406030204" charset="0"/>
                      </a:rPr>
                      <m:t>+</m:t>
                    </m:r>
                    <m:r>
                      <a:rPr lang="en-US" altLang="zh-CN" i="1" dirty="0" err="1">
                        <a:solidFill>
                          <a:srgbClr val="C00000"/>
                        </a:solidFill>
                        <a:latin typeface="Cambria Math" panose="02040503050406030204" charset="0"/>
                        <a:cs typeface="Cambria Math" panose="02040503050406030204" charset="0"/>
                      </a:rPr>
                      <m:t>𝑚</m:t>
                    </m:r>
                    <m:r>
                      <a:rPr lang="en-US" altLang="zh-CN" dirty="0">
                        <a:solidFill>
                          <a:srgbClr val="C00000"/>
                        </a:solidFill>
                        <a:latin typeface="Cambria Math" panose="02040503050406030204" charset="0"/>
                        <a:cs typeface="Cambria Math" panose="02040503050406030204" charset="0"/>
                      </a:rPr>
                      <m:t>)</m:t>
                    </m:r>
                  </m:oMath>
                </a14:m>
                <a:r>
                  <a:rPr lang="en-US" altLang="zh-CN" dirty="0">
                    <a:solidFill>
                      <a:srgbClr val="C00000"/>
                    </a:solidFill>
                    <a:latin typeface="Cambria Math" panose="02040503050406030204" charset="0"/>
                    <a:cs typeface="Cambria Math" panose="02040503050406030204" charset="0"/>
                  </a:rPr>
                  <a:t>-</a:t>
                </a:r>
                <a:r>
                  <a:rPr lang="zh-CN" altLang="en-US" dirty="0">
                    <a:solidFill>
                      <a:srgbClr val="C00000"/>
                    </a:solidFill>
                    <a:sym typeface="+mn-ea"/>
                  </a:rPr>
                  <a:t>元组</a:t>
                </a:r>
                <a:r>
                  <a:rPr lang="zh-CN" altLang="en-US" dirty="0">
                    <a:sym typeface="+mn-ea"/>
                  </a:rPr>
                  <a:t>，共有</a:t>
                </a:r>
                <a:r>
                  <a:rPr lang="en-US" altLang="zh-CN" sz="2800" dirty="0"/>
                  <a:t> </a:t>
                </a:r>
                <a14:m>
                  <m:oMath xmlns:m="http://schemas.openxmlformats.org/officeDocument/2006/math">
                    <m:r>
                      <a:rPr lang="en-US" altLang="zh-CN" sz="2800" i="1" dirty="0">
                        <a:latin typeface="Cambria Math" panose="02040503050406030204" charset="0"/>
                        <a:cs typeface="Cambria Math" panose="02040503050406030204" charset="0"/>
                      </a:rPr>
                      <m:t>𝑘</m:t>
                    </m:r>
                    <m:r>
                      <a:rPr lang="en-US" altLang="zh-CN" sz="2800" baseline="-30000" dirty="0">
                        <a:latin typeface="Cambria Math" panose="02040503050406030204" charset="0"/>
                        <a:cs typeface="Cambria Math" panose="02040503050406030204" charset="0"/>
                      </a:rPr>
                      <m:t>1</m:t>
                    </m:r>
                    <m:r>
                      <a:rPr lang="en-US" altLang="zh-CN" sz="2800" dirty="0">
                        <a:latin typeface="Cambria Math" panose="02040503050406030204" charset="0"/>
                        <a:cs typeface="Cambria Math" panose="02040503050406030204" charset="0"/>
                      </a:rPr>
                      <m:t>×</m:t>
                    </m:r>
                    <m:r>
                      <a:rPr lang="en-US" altLang="zh-CN" sz="2800" i="1" dirty="0">
                        <a:latin typeface="Cambria Math" panose="02040503050406030204" charset="0"/>
                        <a:cs typeface="Cambria Math" panose="02040503050406030204" charset="0"/>
                      </a:rPr>
                      <m:t>𝑘</m:t>
                    </m:r>
                    <m:r>
                      <a:rPr lang="en-US" altLang="zh-CN" sz="2800" baseline="-30000" dirty="0">
                        <a:latin typeface="Cambria Math" panose="02040503050406030204" charset="0"/>
                        <a:cs typeface="Cambria Math" panose="02040503050406030204" charset="0"/>
                      </a:rPr>
                      <m:t>2 </m:t>
                    </m:r>
                  </m:oMath>
                </a14:m>
                <a:r>
                  <a:rPr lang="zh-CN" altLang="en-US" sz="2800" dirty="0"/>
                  <a:t>个结果元组</a:t>
                </a:r>
              </a:p>
              <a:p>
                <a:pPr lvl="2" algn="just" fontAlgn="auto">
                  <a:lnSpc>
                    <a:spcPct val="100000"/>
                  </a:lnSpc>
                  <a:spcBef>
                    <a:spcPts val="0"/>
                  </a:spcBef>
                  <a:buFont typeface="Wingdings" panose="05000000000000000000" pitchFamily="2" charset="2"/>
                  <a:buChar char="l"/>
                </a:pPr>
                <a:r>
                  <a:rPr lang="zh-CN" altLang="en-US" dirty="0">
                    <a:sym typeface="+mn-ea"/>
                  </a:rPr>
                  <a:t>结果元组的前</a:t>
                </a:r>
                <a14:m>
                  <m:oMath xmlns:m="http://schemas.openxmlformats.org/officeDocument/2006/math">
                    <m:r>
                      <a:rPr lang="en-US" altLang="zh-CN" i="1" dirty="0">
                        <a:latin typeface="Cambria Math" panose="02040503050406030204" charset="0"/>
                        <a:cs typeface="Cambria Math" panose="02040503050406030204" charset="0"/>
                      </a:rPr>
                      <m:t>𝑛</m:t>
                    </m:r>
                  </m:oMath>
                </a14:m>
                <a:r>
                  <a:rPr lang="zh-CN" altLang="en-US" dirty="0">
                    <a:sym typeface="+mn-ea"/>
                  </a:rPr>
                  <a:t>列来自于关系</a:t>
                </a:r>
                <a14:m>
                  <m:oMath xmlns:m="http://schemas.openxmlformats.org/officeDocument/2006/math">
                    <m:r>
                      <a:rPr lang="en-US" altLang="zh-CN" i="1" dirty="0">
                        <a:latin typeface="Cambria Math" panose="02040503050406030204" charset="0"/>
                        <a:cs typeface="Cambria Math" panose="02040503050406030204" charset="0"/>
                      </a:rPr>
                      <m:t>𝑅</m:t>
                    </m:r>
                  </m:oMath>
                </a14:m>
                <a:r>
                  <a:rPr lang="zh-CN" altLang="en-US" dirty="0">
                    <a:sym typeface="+mn-ea"/>
                  </a:rPr>
                  <a:t>的一个元组</a:t>
                </a:r>
                <a:endParaRPr lang="zh-CN" altLang="en-US" dirty="0"/>
              </a:p>
              <a:p>
                <a:pPr lvl="2" algn="just" fontAlgn="auto">
                  <a:lnSpc>
                    <a:spcPct val="100000"/>
                  </a:lnSpc>
                  <a:spcBef>
                    <a:spcPts val="0"/>
                  </a:spcBef>
                  <a:buFont typeface="Wingdings" panose="05000000000000000000" pitchFamily="2" charset="2"/>
                  <a:buChar char="l"/>
                </a:pPr>
                <a:r>
                  <a:rPr lang="zh-CN" altLang="en-US" dirty="0">
                    <a:sym typeface="+mn-ea"/>
                  </a:rPr>
                  <a:t>结果元组的后</a:t>
                </a:r>
                <a14:m>
                  <m:oMath xmlns:m="http://schemas.openxmlformats.org/officeDocument/2006/math">
                    <m:r>
                      <a:rPr lang="en-US" altLang="zh-CN" i="1" dirty="0">
                        <a:latin typeface="Cambria Math" panose="02040503050406030204" charset="0"/>
                        <a:cs typeface="Cambria Math" panose="02040503050406030204" charset="0"/>
                      </a:rPr>
                      <m:t>𝑚</m:t>
                    </m:r>
                  </m:oMath>
                </a14:m>
                <a:r>
                  <a:rPr lang="zh-CN" altLang="en-US" dirty="0">
                    <a:sym typeface="+mn-ea"/>
                  </a:rPr>
                  <a:t>列来自于关系</a:t>
                </a:r>
                <a14:m>
                  <m:oMath xmlns:m="http://schemas.openxmlformats.org/officeDocument/2006/math">
                    <m:r>
                      <a:rPr lang="en-US" altLang="zh-CN" i="1" dirty="0">
                        <a:latin typeface="Cambria Math" panose="02040503050406030204" charset="0"/>
                        <a:cs typeface="Cambria Math" panose="02040503050406030204" charset="0"/>
                      </a:rPr>
                      <m:t>𝑆</m:t>
                    </m:r>
                  </m:oMath>
                </a14:m>
                <a:r>
                  <a:rPr lang="zh-CN" altLang="en-US" dirty="0">
                    <a:sym typeface="+mn-ea"/>
                  </a:rPr>
                  <a:t>的一个元组</a:t>
                </a:r>
                <a:endParaRPr lang="en-US" altLang="zh-CN" sz="2800" dirty="0"/>
              </a:p>
            </p:txBody>
          </p:sp>
        </mc:Choice>
        <mc:Fallback xmlns="">
          <p:sp>
            <p:nvSpPr>
              <p:cNvPr id="7" name="内容占位符 6"/>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27</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grpSp>
        <p:nvGrpSpPr>
          <p:cNvPr id="11" name="组合 10"/>
          <p:cNvGrpSpPr/>
          <p:nvPr/>
        </p:nvGrpSpPr>
        <p:grpSpPr>
          <a:xfrm>
            <a:off x="424180" y="5541010"/>
            <a:ext cx="11343005" cy="1030220"/>
            <a:chOff x="668" y="8726"/>
            <a:chExt cx="17863" cy="1622"/>
          </a:xfrm>
        </p:grpSpPr>
        <mc:AlternateContent xmlns:mc="http://schemas.openxmlformats.org/markup-compatibility/2006" xmlns:a14="http://schemas.microsoft.com/office/drawing/2010/main">
          <mc:Choice Requires="a14">
            <p:sp>
              <p:nvSpPr>
                <p:cNvPr id="4" name="内容占位符 6"/>
                <p:cNvSpPr>
                  <a:spLocks noGrp="1"/>
                </p:cNvSpPr>
                <p:nvPr/>
              </p:nvSpPr>
              <p:spPr>
                <a:xfrm>
                  <a:off x="668" y="8726"/>
                  <a:ext cx="17863" cy="822"/>
                </a:xfrm>
                <a:prstGeom prst="rect">
                  <a:avLst/>
                </a:prstGeom>
              </p:spPr>
              <p:txBody>
                <a:bodyPr vert="horz" lIns="91440" tIns="45720" rIns="91440" bIns="45720" rtlCol="0">
                  <a:spAutoFit/>
                </a:bodyPr>
                <a:lstStyle>
                  <a:lvl1pPr marL="341630" indent="-34163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774065" indent="-31623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83005" indent="-26797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fontAlgn="auto">
                    <a:lnSpc>
                      <a:spcPct val="100000"/>
                    </a:lnSpc>
                    <a:spcBef>
                      <a:spcPts val="2000"/>
                    </a:spcBef>
                    <a:spcAft>
                      <a:spcPts val="0"/>
                    </a:spcAft>
                    <a:buSzPct val="87000"/>
                    <a:buFont typeface="Wingdings" panose="05000000000000000000" charset="0"/>
                    <a:buChar char="Ø"/>
                  </a:pPr>
                  <a:r>
                    <a:rPr lang="zh-CN" altLang="en-US" sz="2800" dirty="0">
                      <a:latin typeface="Cambria Math" panose="02040503050406030204" charset="0"/>
                      <a:cs typeface="Cambria Math" panose="02040503050406030204" charset="0"/>
                    </a:rPr>
                    <a:t>可符号化表示为：</a:t>
                  </a:r>
                  <a14:m>
                    <m:oMath xmlns:m="http://schemas.openxmlformats.org/officeDocument/2006/math">
                      <m:r>
                        <a:rPr lang="en-US" altLang="zh-CN" sz="2800" i="1" dirty="0">
                          <a:latin typeface="Cambria Math" panose="02040503050406030204" charset="0"/>
                          <a:cs typeface="Cambria Math" panose="02040503050406030204" charset="0"/>
                        </a:rPr>
                        <m:t> </m:t>
                      </m:r>
                    </m:oMath>
                  </a14:m>
                  <a:endParaRPr lang="en-US" altLang="zh-CN" sz="2800" dirty="0">
                    <a:solidFill>
                      <a:srgbClr val="C00000"/>
                    </a:solidFill>
                    <a:latin typeface="Cambria Math" panose="02040503050406030204" charset="0"/>
                    <a:ea typeface="MS Mincho" charset="0"/>
                    <a:cs typeface="Cambria Math" panose="02040503050406030204" charset="0"/>
                  </a:endParaRPr>
                </a:p>
              </p:txBody>
            </p:sp>
          </mc:Choice>
          <mc:Fallback xmlns="">
            <p:sp>
              <p:nvSpPr>
                <p:cNvPr id="4" name="内容占位符 6"/>
                <p:cNvSpPr>
                  <a:spLocks noRot="1" noChangeAspect="1" noMove="1" noResize="1" noEditPoints="1" noAdjustHandles="1" noChangeArrowheads="1" noChangeShapeType="1" noTextEdit="1"/>
                </p:cNvSpPr>
                <p:nvPr/>
              </p:nvSpPr>
              <p:spPr>
                <a:xfrm>
                  <a:off x="668" y="8726"/>
                  <a:ext cx="17863" cy="822"/>
                </a:xfrm>
                <a:prstGeom prst="rect">
                  <a:avLst/>
                </a:prstGeom>
                <a:blipFill rotWithShape="1">
                  <a:blip r:embed="rId3"/>
                </a:blipFill>
              </p:spPr>
              <p:txBody>
                <a:bodyPr/>
                <a:lstStyle/>
                <a:p>
                  <a:r>
                    <a:rPr lang="zh-CN" altLang="en-US">
                      <a:noFill/>
                    </a:rPr>
                    <a:t> </a:t>
                  </a:r>
                </a:p>
              </p:txBody>
            </p:sp>
          </mc:Fallback>
        </mc:AlternateContent>
        <p:pic>
          <p:nvPicPr>
            <p:cNvPr id="9" name="图片 8"/>
            <p:cNvPicPr>
              <a:picLocks noChangeAspect="1"/>
            </p:cNvPicPr>
            <p:nvPr/>
          </p:nvPicPr>
          <p:blipFill>
            <a:blip r:embed="rId4"/>
            <a:stretch>
              <a:fillRect/>
            </a:stretch>
          </p:blipFill>
          <p:spPr>
            <a:xfrm>
              <a:off x="3076" y="9498"/>
              <a:ext cx="6526" cy="850"/>
            </a:xfrm>
            <a:prstGeom prst="rect">
              <a:avLst/>
            </a:prstGeom>
          </p:spPr>
        </p:pic>
      </p:grpSp>
      <mc:AlternateContent xmlns:mc="http://schemas.openxmlformats.org/markup-compatibility/2006" xmlns:a14="http://schemas.microsoft.com/office/drawing/2010/main">
        <mc:Choice Requires="a14">
          <p:sp>
            <p:nvSpPr>
              <p:cNvPr id="10" name="内容占位符 6"/>
              <p:cNvSpPr>
                <a:spLocks noGrp="1"/>
              </p:cNvSpPr>
              <p:nvPr/>
            </p:nvSpPr>
            <p:spPr>
              <a:xfrm>
                <a:off x="6117590" y="6048000"/>
                <a:ext cx="4227830" cy="553720"/>
              </a:xfrm>
              <a:prstGeom prst="rect">
                <a:avLst/>
              </a:prstGeom>
            </p:spPr>
            <p:txBody>
              <a:bodyPr vert="horz" wrap="square" lIns="91440" tIns="45720" rIns="91440" bIns="45720" rtlCol="0">
                <a:noAutofit/>
              </a:bodyPr>
              <a:lstStyle>
                <a:lvl1pPr marL="341630" indent="-34163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774065" indent="-31623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83005" indent="-26797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fontAlgn="auto">
                  <a:lnSpc>
                    <a:spcPct val="100000"/>
                  </a:lnSpc>
                  <a:spcBef>
                    <a:spcPts val="2000"/>
                  </a:spcBef>
                  <a:spcAft>
                    <a:spcPts val="0"/>
                  </a:spcAft>
                  <a:buSzPct val="87000"/>
                  <a:buNone/>
                </a:pPr>
                <a14:m>
                  <m:oMathPara xmlns:m="http://schemas.openxmlformats.org/officeDocument/2006/math">
                    <m:oMathParaPr>
                      <m:jc m:val="left"/>
                    </m:oMathParaPr>
                    <m:oMath xmlns:m="http://schemas.openxmlformats.org/officeDocument/2006/math">
                      <m:r>
                        <a:rPr lang="en-US" altLang="zh-CN" sz="3000" dirty="0">
                          <a:solidFill>
                            <a:srgbClr val="C00000"/>
                          </a:solidFill>
                          <a:latin typeface="Cambria Math" panose="02040503050406030204" charset="0"/>
                          <a:cs typeface="Cambria Math" panose="02040503050406030204" charset="0"/>
                        </a:rPr>
                        <m:t>={(</m:t>
                      </m:r>
                      <m:r>
                        <a:rPr lang="en-US" altLang="zh-CN" sz="3000" i="1" dirty="0">
                          <a:solidFill>
                            <a:srgbClr val="C00000"/>
                          </a:solidFill>
                          <a:latin typeface="Cambria Math" panose="02040503050406030204" charset="0"/>
                          <a:cs typeface="Cambria Math" panose="02040503050406030204" charset="0"/>
                        </a:rPr>
                        <m:t>𝑡</m:t>
                      </m:r>
                      <m:r>
                        <m:rPr>
                          <m:sty m:val="p"/>
                        </m:rPr>
                        <a:rPr lang="en-US" altLang="zh-CN" sz="3000" baseline="-30000" dirty="0">
                          <a:solidFill>
                            <a:srgbClr val="C00000"/>
                          </a:solidFill>
                          <a:latin typeface="Cambria Math" panose="02040503050406030204" charset="0"/>
                          <a:cs typeface="Cambria Math" panose="02040503050406030204" charset="0"/>
                        </a:rPr>
                        <m:t>r</m:t>
                      </m:r>
                      <m:r>
                        <a:rPr lang="en-US" altLang="zh-CN" sz="3000" dirty="0">
                          <a:solidFill>
                            <a:srgbClr val="C00000"/>
                          </a:solidFill>
                          <a:latin typeface="Cambria Math" panose="02040503050406030204" charset="0"/>
                          <a:cs typeface="Cambria Math" panose="02040503050406030204" charset="0"/>
                        </a:rPr>
                        <m:t>,</m:t>
                      </m:r>
                      <m:r>
                        <a:rPr lang="en-US" altLang="zh-CN" sz="3000" i="1" dirty="0" err="1">
                          <a:solidFill>
                            <a:srgbClr val="C00000"/>
                          </a:solidFill>
                          <a:latin typeface="Cambria Math" panose="02040503050406030204" charset="0"/>
                          <a:cs typeface="Cambria Math" panose="02040503050406030204" charset="0"/>
                        </a:rPr>
                        <m:t>𝑡</m:t>
                      </m:r>
                      <m:r>
                        <m:rPr>
                          <m:sty m:val="p"/>
                        </m:rPr>
                        <a:rPr lang="en-US" altLang="zh-CN" sz="3000" baseline="-30000" dirty="0" err="1">
                          <a:solidFill>
                            <a:srgbClr val="C00000"/>
                          </a:solidFill>
                          <a:latin typeface="Cambria Math" panose="02040503050406030204" charset="0"/>
                          <a:cs typeface="Cambria Math" panose="02040503050406030204" charset="0"/>
                        </a:rPr>
                        <m:t>s</m:t>
                      </m:r>
                      <m:r>
                        <a:rPr lang="en-US" altLang="zh-CN" sz="3000" dirty="0">
                          <a:solidFill>
                            <a:srgbClr val="C00000"/>
                          </a:solidFill>
                          <a:latin typeface="Cambria Math" panose="02040503050406030204" charset="0"/>
                          <a:cs typeface="Cambria Math" panose="02040503050406030204" charset="0"/>
                        </a:rPr>
                        <m:t>) | </m:t>
                      </m:r>
                      <m:r>
                        <a:rPr lang="en-US" altLang="zh-CN" sz="3000" i="1" dirty="0">
                          <a:solidFill>
                            <a:srgbClr val="C00000"/>
                          </a:solidFill>
                          <a:latin typeface="Cambria Math" panose="02040503050406030204" charset="0"/>
                          <a:cs typeface="Cambria Math" panose="02040503050406030204" charset="0"/>
                        </a:rPr>
                        <m:t>𝑡</m:t>
                      </m:r>
                      <m:r>
                        <m:rPr>
                          <m:sty m:val="p"/>
                        </m:rPr>
                        <a:rPr lang="en-US" altLang="zh-CN" sz="3000" baseline="-30000" dirty="0">
                          <a:solidFill>
                            <a:srgbClr val="C00000"/>
                          </a:solidFill>
                          <a:latin typeface="Cambria Math" panose="02040503050406030204" charset="0"/>
                          <a:cs typeface="Cambria Math" panose="02040503050406030204" charset="0"/>
                        </a:rPr>
                        <m:t>r</m:t>
                      </m:r>
                      <m:r>
                        <a:rPr lang="en-US" altLang="zh-CN" sz="3000" dirty="0">
                          <a:solidFill>
                            <a:srgbClr val="C00000"/>
                          </a:solidFill>
                          <a:latin typeface="Cambria Math" panose="02040503050406030204" charset="0"/>
                          <a:cs typeface="Cambria Math" panose="02040503050406030204" charset="0"/>
                          <a:sym typeface="Symbol" panose="05050102010706020507" pitchFamily="2" charset="2"/>
                        </a:rPr>
                        <m:t></m:t>
                      </m:r>
                      <m:r>
                        <a:rPr lang="en-US" altLang="zh-CN" sz="3000" i="1" dirty="0">
                          <a:solidFill>
                            <a:srgbClr val="C00000"/>
                          </a:solidFill>
                          <a:latin typeface="Cambria Math" panose="02040503050406030204" charset="0"/>
                          <a:cs typeface="Cambria Math" panose="02040503050406030204" charset="0"/>
                        </a:rPr>
                        <m:t>𝑅</m:t>
                      </m:r>
                      <m:r>
                        <a:rPr lang="en-US" altLang="zh-CN" sz="3000" dirty="0">
                          <a:solidFill>
                            <a:srgbClr val="C00000"/>
                          </a:solidFill>
                          <a:latin typeface="Cambria Math" panose="02040503050406030204" charset="0"/>
                          <a:cs typeface="Cambria Math" panose="02040503050406030204" charset="0"/>
                        </a:rPr>
                        <m:t>∧</m:t>
                      </m:r>
                      <m:r>
                        <a:rPr lang="en-US" altLang="zh-CN" sz="3000" i="1" dirty="0" err="1">
                          <a:solidFill>
                            <a:srgbClr val="C00000"/>
                          </a:solidFill>
                          <a:latin typeface="Cambria Math" panose="02040503050406030204" charset="0"/>
                          <a:cs typeface="Cambria Math" panose="02040503050406030204" charset="0"/>
                        </a:rPr>
                        <m:t>𝑡</m:t>
                      </m:r>
                      <m:r>
                        <m:rPr>
                          <m:sty m:val="p"/>
                        </m:rPr>
                        <a:rPr lang="en-US" altLang="zh-CN" sz="3000" baseline="-30000" dirty="0" err="1">
                          <a:solidFill>
                            <a:srgbClr val="C00000"/>
                          </a:solidFill>
                          <a:latin typeface="Cambria Math" panose="02040503050406030204" charset="0"/>
                          <a:cs typeface="Cambria Math" panose="02040503050406030204" charset="0"/>
                        </a:rPr>
                        <m:t>s</m:t>
                      </m:r>
                      <m:r>
                        <a:rPr lang="en-US" altLang="zh-CN" sz="3000" dirty="0" err="1">
                          <a:solidFill>
                            <a:srgbClr val="C00000"/>
                          </a:solidFill>
                          <a:latin typeface="Cambria Math" panose="02040503050406030204" charset="0"/>
                          <a:cs typeface="Cambria Math" panose="02040503050406030204" charset="0"/>
                          <a:sym typeface="Symbol" panose="05050102010706020507" pitchFamily="2" charset="2"/>
                        </a:rPr>
                        <m:t></m:t>
                      </m:r>
                      <m:r>
                        <a:rPr lang="en-US" altLang="zh-CN" sz="3000" i="1" dirty="0" err="1">
                          <a:solidFill>
                            <a:srgbClr val="C00000"/>
                          </a:solidFill>
                          <a:latin typeface="Cambria Math" panose="02040503050406030204" charset="0"/>
                          <a:cs typeface="Cambria Math" panose="02040503050406030204" charset="0"/>
                        </a:rPr>
                        <m:t>𝑆</m:t>
                      </m:r>
                      <m:r>
                        <a:rPr lang="en-US" altLang="zh-CN" sz="3000" dirty="0">
                          <a:solidFill>
                            <a:srgbClr val="C00000"/>
                          </a:solidFill>
                          <a:latin typeface="Cambria Math" panose="02040503050406030204" charset="0"/>
                          <a:ea typeface="MS Mincho" charset="0"/>
                          <a:cs typeface="Cambria Math" panose="02040503050406030204" charset="0"/>
                        </a:rPr>
                        <m:t> }</m:t>
                      </m:r>
                    </m:oMath>
                  </m:oMathPara>
                </a14:m>
                <a:endParaRPr lang="en-US" altLang="zh-CN" sz="3000" dirty="0">
                  <a:solidFill>
                    <a:srgbClr val="C00000"/>
                  </a:solidFill>
                  <a:latin typeface="Cambria Math" panose="02040503050406030204" charset="0"/>
                  <a:ea typeface="MS Mincho" charset="0"/>
                  <a:cs typeface="Cambria Math" panose="02040503050406030204" charset="0"/>
                </a:endParaRPr>
              </a:p>
            </p:txBody>
          </p:sp>
        </mc:Choice>
        <mc:Fallback xmlns="">
          <p:sp>
            <p:nvSpPr>
              <p:cNvPr id="10" name="内容占位符 6"/>
              <p:cNvSpPr>
                <a:spLocks noRot="1" noChangeAspect="1" noMove="1" noResize="1" noEditPoints="1" noAdjustHandles="1" noChangeArrowheads="1" noChangeShapeType="1" noTextEdit="1"/>
              </p:cNvSpPr>
              <p:nvPr/>
            </p:nvSpPr>
            <p:spPr>
              <a:xfrm>
                <a:off x="6117590" y="6048000"/>
                <a:ext cx="4227830" cy="553720"/>
              </a:xfrm>
              <a:prstGeom prst="rect">
                <a:avLst/>
              </a:prstGeom>
              <a:blipFill rotWithShape="1">
                <a:blip r:embed="rId5"/>
                <a:stretch>
                  <a:fillRect t="-47" b="-809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linds(horizontal)">
                                      <p:cBhvr>
                                        <p:cTn id="7" dur="500"/>
                                        <p:tgtEl>
                                          <p:spTgt spid="7">
                                            <p:txEl>
                                              <p:pRg st="4" end="4"/>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 calcmode="lin" valueType="num">
                                      <p:cBhvr additive="base">
                                        <p:cTn id="10"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1" dur="500" fill="hold"/>
                                        <p:tgtEl>
                                          <p:spTgt spid="7">
                                            <p:txEl>
                                              <p:pRg st="5" end="5"/>
                                            </p:txEl>
                                          </p:spTgt>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7">
                                            <p:txEl>
                                              <p:pRg st="6" end="6"/>
                                            </p:txEl>
                                          </p:spTgt>
                                        </p:tgtEl>
                                        <p:attrNameLst>
                                          <p:attrName>style.visibility</p:attrName>
                                        </p:attrNameLst>
                                      </p:cBhvr>
                                      <p:to>
                                        <p:strVal val="visible"/>
                                      </p:to>
                                    </p:set>
                                    <p:anim calcmode="lin" valueType="num">
                                      <p:cBhvr additive="base">
                                        <p:cTn id="14"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7">
                                            <p:txEl>
                                              <p:pRg st="6" end="6"/>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7">
                                            <p:txEl>
                                              <p:pRg st="7" end="7"/>
                                            </p:txEl>
                                          </p:spTgt>
                                        </p:tgtEl>
                                        <p:attrNameLst>
                                          <p:attrName>style.visibility</p:attrName>
                                        </p:attrNameLst>
                                      </p:cBhvr>
                                      <p:to>
                                        <p:strVal val="visible"/>
                                      </p:to>
                                    </p:set>
                                    <p:anim calcmode="lin" valueType="num">
                                      <p:cBhvr additive="base">
                                        <p:cTn id="18"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txEl>
                                              <p:pRg st="7" end="7"/>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7">
                                            <p:txEl>
                                              <p:pRg st="8" end="8"/>
                                            </p:txEl>
                                          </p:spTgt>
                                        </p:tgtEl>
                                        <p:attrNameLst>
                                          <p:attrName>style.visibility</p:attrName>
                                        </p:attrNameLst>
                                      </p:cBhvr>
                                      <p:to>
                                        <p:strVal val="visible"/>
                                      </p:to>
                                    </p:set>
                                    <p:anim calcmode="lin" valueType="num">
                                      <p:cBhvr additive="base">
                                        <p:cTn id="22"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7">
                                            <p:txEl>
                                              <p:pRg st="8" end="8"/>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7">
                                            <p:txEl>
                                              <p:pRg st="9" end="9"/>
                                            </p:txEl>
                                          </p:spTgt>
                                        </p:tgtEl>
                                        <p:attrNameLst>
                                          <p:attrName>style.visibility</p:attrName>
                                        </p:attrNameLst>
                                      </p:cBhvr>
                                      <p:to>
                                        <p:strVal val="visible"/>
                                      </p:to>
                                    </p:set>
                                    <p:anim calcmode="lin" valueType="num">
                                      <p:cBhvr additive="base">
                                        <p:cTn id="26"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sym typeface="+mn-ea"/>
              </a:rPr>
              <a:t>笛卡尔积 </a:t>
            </a:r>
            <a:r>
              <a:rPr lang="en-US" altLang="zh-CN" dirty="0">
                <a:sym typeface="+mn-ea"/>
              </a:rPr>
              <a:t>2</a:t>
            </a:r>
            <a:endParaRPr lang="zh-CN" altLang="en-US" dirty="0"/>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p:txBody>
              <a:bodyPr/>
              <a:lstStyle/>
              <a:p>
                <a:pPr marL="365125" indent="-365125" algn="just" fontAlgn="auto">
                  <a:lnSpc>
                    <a:spcPct val="100000"/>
                  </a:lnSpc>
                  <a:spcBef>
                    <a:spcPts val="1000"/>
                  </a:spcBef>
                </a:pPr>
                <a:r>
                  <a:rPr lang="zh-CN" altLang="en-US" sz="2800" dirty="0"/>
                  <a:t>任意两个关系，都可以进行笛卡尔积运算</a:t>
                </a:r>
              </a:p>
              <a:p>
                <a:pPr marL="822325" lvl="1" indent="-365125" algn="just" fontAlgn="auto">
                  <a:lnSpc>
                    <a:spcPct val="100000"/>
                  </a:lnSpc>
                  <a:spcBef>
                    <a:spcPts val="0"/>
                  </a:spcBef>
                  <a:spcAft>
                    <a:spcPts val="0"/>
                  </a:spcAft>
                </a:pPr>
                <a:r>
                  <a:rPr lang="zh-CN" altLang="en-US" sz="2800" dirty="0">
                    <a:latin typeface="Cambria Math" panose="02040503050406030204" charset="0"/>
                    <a:cs typeface="Cambria Math" panose="02040503050406030204" charset="0"/>
                  </a:rPr>
                  <a:t>设</a:t>
                </a:r>
                <a:r>
                  <a:rPr lang="zh-CN" altLang="en-US" sz="2800" b="0" dirty="0">
                    <a:latin typeface="Cambria Math" panose="02040503050406030204" charset="0"/>
                    <a:cs typeface="Cambria Math" panose="02040503050406030204" charset="0"/>
                  </a:rPr>
                  <a:t>：</a:t>
                </a:r>
                <a14:m>
                  <m:oMath xmlns:m="http://schemas.openxmlformats.org/officeDocument/2006/math">
                    <m:r>
                      <a:rPr lang="en-US" altLang="zh-CN" sz="2800" i="1" dirty="0">
                        <a:latin typeface="Cambria Math" panose="02040503050406030204" charset="0"/>
                        <a:cs typeface="Cambria Math" panose="02040503050406030204" charset="0"/>
                      </a:rPr>
                      <m:t>𝑅</m:t>
                    </m:r>
                  </m:oMath>
                </a14:m>
                <a:r>
                  <a:rPr lang="zh-CN" altLang="en-US" sz="2800" dirty="0"/>
                  <a:t>是</a:t>
                </a:r>
                <a14:m>
                  <m:oMath xmlns:m="http://schemas.openxmlformats.org/officeDocument/2006/math">
                    <m:r>
                      <a:rPr lang="en-US" altLang="zh-CN" sz="2800" i="1" dirty="0">
                        <a:latin typeface="Cambria Math" panose="02040503050406030204" charset="0"/>
                        <a:cs typeface="Cambria Math" panose="02040503050406030204" charset="0"/>
                      </a:rPr>
                      <m:t>𝑛</m:t>
                    </m:r>
                  </m:oMath>
                </a14:m>
                <a:r>
                  <a:rPr lang="zh-CN" altLang="en-US" sz="2800" dirty="0"/>
                  <a:t>目关系，</a:t>
                </a:r>
                <a14:m>
                  <m:oMath xmlns:m="http://schemas.openxmlformats.org/officeDocument/2006/math">
                    <m:r>
                      <a:rPr lang="en-US" altLang="zh-CN" sz="2800" i="1" dirty="0">
                        <a:latin typeface="Cambria Math" panose="02040503050406030204" charset="0"/>
                        <a:cs typeface="Cambria Math" panose="02040503050406030204" charset="0"/>
                      </a:rPr>
                      <m:t>𝑆</m:t>
                    </m:r>
                  </m:oMath>
                </a14:m>
                <a:r>
                  <a:rPr lang="zh-CN" altLang="en-US" sz="2800" dirty="0"/>
                  <a:t>是</a:t>
                </a:r>
                <a14:m>
                  <m:oMath xmlns:m="http://schemas.openxmlformats.org/officeDocument/2006/math">
                    <m:r>
                      <a:rPr lang="en-US" altLang="zh-CN" sz="2800" i="1" dirty="0">
                        <a:latin typeface="Cambria Math" panose="02040503050406030204" charset="0"/>
                        <a:cs typeface="Cambria Math" panose="02040503050406030204" charset="0"/>
                      </a:rPr>
                      <m:t>𝑚</m:t>
                    </m:r>
                  </m:oMath>
                </a14:m>
                <a:r>
                  <a:rPr lang="zh-CN" altLang="en-US" sz="2800" dirty="0"/>
                  <a:t>目关系</a:t>
                </a:r>
              </a:p>
              <a:p>
                <a:pPr marL="822325" lvl="1" indent="-365125" algn="just" fontAlgn="auto">
                  <a:lnSpc>
                    <a:spcPct val="100000"/>
                  </a:lnSpc>
                  <a:spcBef>
                    <a:spcPts val="0"/>
                  </a:spcBef>
                  <a:spcAft>
                    <a:spcPts val="0"/>
                  </a:spcAft>
                </a:pPr>
                <a:r>
                  <a:rPr lang="zh-CN" altLang="en-US" sz="2800" dirty="0"/>
                  <a:t>笛卡尔积</a:t>
                </a:r>
                <a14:m>
                  <m:oMath xmlns:m="http://schemas.openxmlformats.org/officeDocument/2006/math">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𝑅</m:t>
                    </m:r>
                    <m:r>
                      <a:rPr lang="en-US" altLang="zh-CN" sz="2800" dirty="0">
                        <a:latin typeface="Cambria Math" panose="02040503050406030204" charset="0"/>
                        <a:cs typeface="Cambria Math" panose="02040503050406030204" charset="0"/>
                      </a:rPr>
                      <m:t>×</m:t>
                    </m:r>
                    <m:r>
                      <a:rPr lang="en-US" altLang="zh-CN" sz="2800" i="1" dirty="0">
                        <a:latin typeface="Cambria Math" panose="02040503050406030204" charset="0"/>
                        <a:cs typeface="Cambria Math" panose="02040503050406030204" charset="0"/>
                      </a:rPr>
                      <m:t>𝑆</m:t>
                    </m:r>
                    <m:r>
                      <a:rPr lang="en-US" altLang="zh-CN" sz="2800" i="1" dirty="0">
                        <a:latin typeface="Cambria Math" panose="02040503050406030204" charset="0"/>
                        <a:cs typeface="Cambria Math" panose="02040503050406030204" charset="0"/>
                      </a:rPr>
                      <m:t> </m:t>
                    </m:r>
                  </m:oMath>
                </a14:m>
                <a:r>
                  <a:rPr lang="zh-CN" altLang="en-US" sz="2800" dirty="0"/>
                  <a:t>的计算结果是一个</a:t>
                </a:r>
                <a14:m>
                  <m:oMath xmlns:m="http://schemas.openxmlformats.org/officeDocument/2006/math">
                    <m:r>
                      <a:rPr lang="en-US" altLang="zh-CN" sz="2800" dirty="0">
                        <a:latin typeface="Cambria Math" panose="02040503050406030204" charset="0"/>
                        <a:cs typeface="Cambria Math" panose="02040503050406030204" charset="0"/>
                      </a:rPr>
                      <m:t>(</m:t>
                    </m:r>
                    <m:r>
                      <a:rPr lang="en-US" altLang="zh-CN" sz="2800" i="1" dirty="0" err="1">
                        <a:latin typeface="Cambria Math" panose="02040503050406030204" charset="0"/>
                        <a:cs typeface="Cambria Math" panose="02040503050406030204" charset="0"/>
                      </a:rPr>
                      <m:t>𝑛</m:t>
                    </m:r>
                    <m:r>
                      <a:rPr lang="en-US" altLang="zh-CN" sz="2800" dirty="0" err="1">
                        <a:latin typeface="Cambria Math" panose="02040503050406030204" charset="0"/>
                        <a:cs typeface="Cambria Math" panose="02040503050406030204" charset="0"/>
                      </a:rPr>
                      <m:t>+</m:t>
                    </m:r>
                    <m:r>
                      <a:rPr lang="en-US" altLang="zh-CN" sz="2800" i="1" dirty="0" err="1">
                        <a:latin typeface="Cambria Math" panose="02040503050406030204" charset="0"/>
                        <a:cs typeface="Cambria Math" panose="02040503050406030204" charset="0"/>
                      </a:rPr>
                      <m:t>𝑚</m:t>
                    </m:r>
                    <m:r>
                      <a:rPr lang="en-US" altLang="zh-CN" sz="2800" dirty="0">
                        <a:latin typeface="Cambria Math" panose="02040503050406030204" charset="0"/>
                        <a:cs typeface="Cambria Math" panose="02040503050406030204" charset="0"/>
                      </a:rPr>
                      <m:t>) </m:t>
                    </m:r>
                  </m:oMath>
                </a14:m>
                <a:r>
                  <a:rPr lang="zh-CN" altLang="en-US" sz="2800" dirty="0"/>
                  <a:t>目关系（假设为</a:t>
                </a:r>
                <a14:m>
                  <m:oMath xmlns:m="http://schemas.openxmlformats.org/officeDocument/2006/math">
                    <m:r>
                      <a:rPr lang="en-US" altLang="zh-CN" sz="2800" i="1" dirty="0">
                        <a:latin typeface="Cambria Math" panose="02040503050406030204" charset="0"/>
                        <a:cs typeface="Cambria Math" panose="02040503050406030204" charset="0"/>
                      </a:rPr>
                      <m:t>𝑇</m:t>
                    </m:r>
                  </m:oMath>
                </a14:m>
                <a:r>
                  <a:rPr lang="zh-CN" altLang="en-US" sz="2800" dirty="0"/>
                  <a:t>）</a:t>
                </a:r>
              </a:p>
            </p:txBody>
          </p:sp>
        </mc:Choice>
        <mc:Fallback xmlns="">
          <p:sp>
            <p:nvSpPr>
              <p:cNvPr id="7" name="内容占位符 6"/>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994" name="矩形 3074"/>
              <p:cNvSpPr/>
              <p:nvPr/>
            </p:nvSpPr>
            <p:spPr>
              <a:xfrm>
                <a:off x="1337628" y="2173605"/>
                <a:ext cx="8785225" cy="4411345"/>
              </a:xfrm>
              <a:prstGeom prst="rect">
                <a:avLst/>
              </a:prstGeom>
              <a:noFill/>
              <a:ln w="9525" cap="flat" cmpd="sng">
                <a:solidFill>
                  <a:schemeClr val="tx1"/>
                </a:solidFill>
                <a:prstDash val="solid"/>
                <a:miter/>
                <a:headEnd type="none" w="med" len="med"/>
                <a:tailEnd type="none" w="med" len="med"/>
              </a:ln>
            </p:spPr>
            <p:txBody>
              <a:bodyPr anchor="t">
                <a:spAutoFit/>
              </a:bodyPr>
              <a:lstStyle/>
              <a:p>
                <a:pPr marL="914400" lvl="1" indent="-457200" algn="l" fontAlgn="base">
                  <a:lnSpc>
                    <a:spcPct val="100000"/>
                  </a:lnSpc>
                  <a:spcBef>
                    <a:spcPts val="0"/>
                  </a:spcBef>
                  <a:spcAft>
                    <a:spcPct val="0"/>
                  </a:spcAft>
                  <a:buFont typeface="Arial" panose="020B0604020202020204" pitchFamily="34" charset="0"/>
                  <a:buNone/>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将结果关系</a:t>
                </a:r>
                <a14:m>
                  <m:oMath xmlns:m="http://schemas.openxmlformats.org/officeDocument/2006/math">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𝑇</m:t>
                    </m:r>
                    <m:r>
                      <a:rPr lang="zh-CN" altLang="en-US" sz="2800">
                        <a:solidFill>
                          <a:srgbClr val="1F2DA8"/>
                        </a:solidFill>
                        <a:latin typeface="Cambria Math" panose="02040503050406030204" pitchFamily="18" charset="0"/>
                        <a:ea typeface="楷体" panose="02010609060101010101" charset="-122"/>
                        <a:cs typeface="Times New Roman" panose="02020603050405020304" charset="0"/>
                        <a:sym typeface="Symbol" panose="05050102010706020507" pitchFamily="2" charset="2"/>
                      </a:rPr>
                      <m:t>初始化为空集</m:t>
                    </m:r>
                    <m:r>
                      <a:rPr lang="en-US" altLang="zh-CN" sz="2800" b="1">
                        <a:solidFill>
                          <a:srgbClr val="1F2DA8"/>
                        </a:solidFill>
                        <a:latin typeface="Cambria Math" panose="02040503050406030204" pitchFamily="18" charset="0"/>
                        <a:cs typeface="Times New Roman" panose="02020603050405020304" charset="0"/>
                        <a:sym typeface="Symbol" panose="05050102010706020507" pitchFamily="2" charset="2"/>
                      </a:rPr>
                      <m:t> ∗/</m:t>
                    </m:r>
                  </m:oMath>
                </a14:m>
                <a:endParaRPr lang="en-US" altLang="zh-CN" sz="2800" b="1">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0"/>
                  </a:spcBef>
                  <a:spcAft>
                    <a:spcPct val="0"/>
                  </a:spcAft>
                  <a:buFont typeface="Arial" panose="020B0604020202020204" pitchFamily="34" charset="0"/>
                  <a:buNone/>
                </a:pPr>
                <a14:m>
                  <m:oMathPara xmlns:m="http://schemas.openxmlformats.org/officeDocument/2006/math">
                    <m:oMathParaPr>
                      <m:jc m:val="left"/>
                    </m:oMathParaPr>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r>
                        <a:rPr lang="en-US" altLang="zh-CN" sz="2800" b="1" i="1" spc="100">
                          <a:solidFill>
                            <a:srgbClr val="1F2DA8"/>
                          </a:solidFill>
                          <a:uFillTx/>
                          <a:latin typeface="Cambria Math" panose="02040503050406030204" charset="0"/>
                          <a:ea typeface="MS Mincho" charset="0"/>
                          <a:cs typeface="Cambria Math" panose="02040503050406030204" charset="0"/>
                        </a:rPr>
                        <m:t> </m:t>
                      </m:r>
                      <m:box>
                        <m:boxPr>
                          <m:noBreak m:val="on"/>
                          <m:ctrlPr>
                            <a:rPr lang="en-US" altLang="zh-CN" sz="2800" b="1" i="1" spc="100">
                              <a:solidFill>
                                <a:srgbClr val="1F2DA8"/>
                              </a:solidFill>
                              <a:uFillTx/>
                              <a:latin typeface="Cambria Math" panose="02040503050406030204" pitchFamily="18" charset="0"/>
                              <a:cs typeface="Cambria Math" panose="02040503050406030204" charset="0"/>
                            </a:rPr>
                          </m:ctrlPr>
                        </m:boxPr>
                        <m:e>
                          <m:r>
                            <a:rPr lang="en-US" altLang="zh-CN" sz="2800" b="1" i="1" spc="100">
                              <a:solidFill>
                                <a:srgbClr val="1F2DA8"/>
                              </a:solidFill>
                              <a:uFillTx/>
                              <a:latin typeface="Cambria Math" panose="02040503050406030204" charset="0"/>
                              <a:ea typeface="MS Mincho" charset="0"/>
                              <a:cs typeface="Cambria Math" panose="02040503050406030204" charset="0"/>
                            </a:rPr>
                            <m:t>∶=</m:t>
                          </m:r>
                        </m:e>
                      </m:box>
                      <m:r>
                        <a:rPr lang="en-US" altLang="zh-CN" sz="2800" b="1" i="1" spc="100">
                          <a:solidFill>
                            <a:srgbClr val="1F2DA8"/>
                          </a:solidFill>
                          <a:uFillTx/>
                          <a:latin typeface="Cambria Math" panose="02040503050406030204" charset="0"/>
                          <a:ea typeface="MS Mincho" charset="0"/>
                          <a:cs typeface="Cambria Math" panose="02040503050406030204" charset="0"/>
                        </a:rPr>
                        <m:t> {  }</m:t>
                      </m:r>
                    </m:oMath>
                  </m:oMathPara>
                </a14:m>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for each tuple </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u="none" baseline="-25000">
                        <a:solidFill>
                          <a:srgbClr val="1F2DA8"/>
                        </a:solidFill>
                        <a:latin typeface="Cambria Math" panose="02040503050406030204" charset="0"/>
                        <a:cs typeface="Cambria Math" panose="02040503050406030204" charset="0"/>
                        <a:sym typeface="Symbol" panose="05050102010706020507" pitchFamily="2" charset="2"/>
                      </a:rPr>
                      <m:t>𝒓</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𝑹</m:t>
                    </m:r>
                  </m:oMath>
                </a14:m>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a:t>
                </a:r>
              </a:p>
              <a:p>
                <a:pPr marL="1371600" lvl="2" indent="-457200">
                  <a:lnSpc>
                    <a:spcPct val="100000"/>
                  </a:lnSpc>
                  <a:spcBef>
                    <a:spcPts val="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for each tuple </a:t>
                </a:r>
                <a14:m>
                  <m:oMath xmlns:m="http://schemas.openxmlformats.org/officeDocument/2006/math">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baseline="-25000">
                        <a:solidFill>
                          <a:srgbClr val="1F2DA8"/>
                        </a:solidFill>
                        <a:latin typeface="Cambria Math" panose="02040503050406030204" charset="0"/>
                        <a:cs typeface="Cambria Math" panose="02040503050406030204" charset="0"/>
                        <a:sym typeface="Symbol" panose="05050102010706020507" pitchFamily="2" charset="2"/>
                      </a:rPr>
                      <m:t>𝒔</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𝑺</m:t>
                    </m:r>
                  </m:oMath>
                </a14:m>
                <a:endParaRPr lang="en-US" altLang="zh-CN" sz="2800" b="1">
                  <a:solidFill>
                    <a:srgbClr val="1F2DA8"/>
                  </a:solidFill>
                  <a:latin typeface="Times New Roman" panose="02020603050405020304" charset="0"/>
                  <a:cs typeface="Times New Roman" panose="02020603050405020304" charset="0"/>
                  <a:sym typeface="Symbol" panose="05050102010706020507" pitchFamily="2" charset="2"/>
                </a:endParaRPr>
              </a:p>
              <a:p>
                <a:pPr marL="1371600" lvl="2" indent="-457200">
                  <a:lnSpc>
                    <a:spcPct val="100000"/>
                  </a:lnSpc>
                  <a:spcBef>
                    <a:spcPts val="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a:t>
                </a:r>
              </a:p>
              <a:p>
                <a:pPr marL="1828800" lvl="3"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add tuple </a:t>
                </a:r>
                <a14:m>
                  <m:oMath xmlns:m="http://schemas.openxmlformats.org/officeDocument/2006/math">
                    <m:r>
                      <a:rPr lang="en-US" altLang="zh-CN" sz="2800" b="1" i="1" u="none" baseline="0">
                        <a:solidFill>
                          <a:srgbClr val="1F2DA8"/>
                        </a:solidFill>
                        <a:latin typeface="Cambria Math" panose="02040503050406030204" charset="0"/>
                        <a:ea typeface="MS Mincho" charset="0"/>
                        <a:cs typeface="Cambria Math" panose="02040503050406030204" charset="0"/>
                        <a:sym typeface="Symbol" panose="05050102010706020507" pitchFamily="2" charset="2"/>
                      </a:rPr>
                      <m:t>(</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u="none" baseline="-25000">
                        <a:solidFill>
                          <a:srgbClr val="1F2DA8"/>
                        </a:solidFill>
                        <a:latin typeface="Cambria Math" panose="02040503050406030204" charset="0"/>
                        <a:cs typeface="Cambria Math" panose="02040503050406030204" charset="0"/>
                        <a:sym typeface="Symbol" panose="05050102010706020507" pitchFamily="2" charset="2"/>
                      </a:rPr>
                      <m:t>𝒓</m:t>
                    </m:r>
                    <m:r>
                      <a:rPr lang="en-US" altLang="zh-CN" sz="2800" b="1" i="1" u="none" baseline="0">
                        <a:solidFill>
                          <a:srgbClr val="1F2DA8"/>
                        </a:solidFill>
                        <a:latin typeface="Cambria Math" panose="02040503050406030204" charset="0"/>
                        <a:ea typeface="MS Mincho" charset="0"/>
                        <a:cs typeface="Cambria Math" panose="02040503050406030204" charset="0"/>
                        <a:sym typeface="Symbol" panose="05050102010706020507" pitchFamily="2" charset="2"/>
                      </a:rPr>
                      <m:t>,</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u="none" baseline="-25000">
                        <a:solidFill>
                          <a:srgbClr val="1F2DA8"/>
                        </a:solidFill>
                        <a:latin typeface="Cambria Math" panose="02040503050406030204" charset="0"/>
                        <a:cs typeface="Cambria Math" panose="02040503050406030204" charset="0"/>
                        <a:sym typeface="Symbol" panose="05050102010706020507" pitchFamily="2" charset="2"/>
                      </a:rPr>
                      <m:t>𝒔</m:t>
                    </m:r>
                    <m:r>
                      <a:rPr lang="en-US" altLang="zh-CN" sz="2800" b="1" i="1" u="none" baseline="0">
                        <a:solidFill>
                          <a:srgbClr val="1F2DA8"/>
                        </a:solidFill>
                        <a:latin typeface="Cambria Math" panose="02040503050406030204" charset="0"/>
                        <a:ea typeface="MS Mincho" charset="0"/>
                        <a:cs typeface="Cambria Math" panose="02040503050406030204" charset="0"/>
                        <a:sym typeface="Symbol" panose="05050102010706020507" pitchFamily="2" charset="2"/>
                      </a:rPr>
                      <m:t>)</m:t>
                    </m:r>
                  </m:oMath>
                </a14:m>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 into </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𝑻</m:t>
                    </m:r>
                  </m:oMath>
                </a14:m>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1371600" lvl="2" indent="-457200">
                  <a:lnSpc>
                    <a:spcPct val="100000"/>
                  </a:lnSpc>
                  <a:spcBef>
                    <a:spcPts val="0"/>
                  </a:spcBef>
                </a:pPr>
                <a:r>
                  <a:rPr lang="en-US" altLang="zh-CN" sz="2800" b="1">
                    <a:solidFill>
                      <a:srgbClr val="1F2DA8"/>
                    </a:solidFill>
                    <a:latin typeface="Times New Roman" panose="02020603050405020304" charset="0"/>
                    <a:cs typeface="Times New Roman" panose="02020603050405020304" charset="0"/>
                    <a:sym typeface="+mn-ea"/>
                  </a:rPr>
                  <a:t>}</a:t>
                </a:r>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rPr>
                  <a:t>}</a:t>
                </a: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rPr>
                  <a:t>return  </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rPr>
                      <m:t>𝑻</m:t>
                    </m:r>
                  </m:oMath>
                </a14:m>
                <a:endParaRPr lang="en-US" altLang="zh-CN" sz="2800" b="1" i="1" u="none" baseline="0">
                  <a:solidFill>
                    <a:srgbClr val="1F2DA8"/>
                  </a:solidFill>
                  <a:latin typeface="Times New Roman" panose="02020603050405020304" charset="0"/>
                  <a:cs typeface="Times New Roman" panose="02020603050405020304" charset="0"/>
                </a:endParaRPr>
              </a:p>
            </p:txBody>
          </p:sp>
        </mc:Choice>
        <mc:Fallback xmlns="">
          <p:sp>
            <p:nvSpPr>
              <p:cNvPr id="84994" name="矩形 3074"/>
              <p:cNvSpPr>
                <a:spLocks noRot="1" noChangeAspect="1" noMove="1" noResize="1" noEditPoints="1" noAdjustHandles="1" noChangeArrowheads="1" noChangeShapeType="1" noTextEdit="1"/>
              </p:cNvSpPr>
              <p:nvPr/>
            </p:nvSpPr>
            <p:spPr>
              <a:xfrm>
                <a:off x="1337628" y="2173605"/>
                <a:ext cx="8785225" cy="4411345"/>
              </a:xfrm>
              <a:prstGeom prst="rect">
                <a:avLst/>
              </a:prstGeom>
              <a:blipFill rotWithShape="1">
                <a:blip r:embed="rId3"/>
                <a:stretch>
                  <a:fillRect l="-54" t="-115" r="-54" b="-101"/>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565CE74E-AB26-4998-AD42-012C4C1AD076}" type="slidenum">
              <a:rPr lang="zh-CN" altLang="en-US" smtClean="0"/>
              <a:t>28</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p:cNvSpPr>
          <p:nvPr>
            <p:ph type="title"/>
          </p:nvPr>
        </p:nvSpPr>
        <p:spPr/>
        <p:txBody>
          <a:bodyPr wrap="square" anchor="ctr"/>
          <a:lstStyle/>
          <a:p>
            <a:pPr eaLnBrk="1" hangingPunct="1"/>
            <a:r>
              <a:rPr lang="en-US" altLang="x-none" dirty="0"/>
              <a:t> </a:t>
            </a:r>
            <a:r>
              <a:rPr lang="zh-CN" altLang="en-US" dirty="0">
                <a:sym typeface="+mn-ea"/>
              </a:rPr>
              <a:t>笛卡尔积 </a:t>
            </a:r>
            <a:r>
              <a:rPr lang="en-US" altLang="zh-CN" dirty="0">
                <a:sym typeface="+mn-ea"/>
              </a:rPr>
              <a:t>3</a:t>
            </a:r>
            <a:endParaRPr lang="zh-CN" altLang="en-US"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94212" name="Rectangle 3"/>
              <p:cNvSpPr>
                <a:spLocks noGrp="1"/>
              </p:cNvSpPr>
              <p:nvPr>
                <p:ph idx="1"/>
              </p:nvPr>
            </p:nvSpPr>
            <p:spPr>
              <a:xfrm>
                <a:off x="424180" y="687070"/>
                <a:ext cx="11343005" cy="1803400"/>
              </a:xfrm>
            </p:spPr>
            <p:txBody>
              <a:bodyPr wrap="square" anchor="t">
                <a:spAutoFit/>
              </a:bodyPr>
              <a:lstStyle/>
              <a:p>
                <a:pPr eaLnBrk="1" hangingPunct="1">
                  <a:lnSpc>
                    <a:spcPct val="110000"/>
                  </a:lnSpc>
                  <a:spcBef>
                    <a:spcPts val="1000"/>
                  </a:spcBef>
                  <a:spcAft>
                    <a:spcPts val="0"/>
                  </a:spcAft>
                </a:pPr>
                <a:r>
                  <a:rPr lang="zh-CN" altLang="en-US" dirty="0">
                    <a:ea typeface="楷体" panose="02010609060101010101" charset="-122"/>
                    <a:cs typeface="+mn-lt"/>
                  </a:rPr>
                  <a:t>笛卡儿积</a:t>
                </a:r>
                <a:r>
                  <a:rPr lang="en-US" altLang="zh-CN" dirty="0">
                    <a:ea typeface="楷体" panose="02010609060101010101" charset="-122"/>
                    <a:cs typeface="+mn-lt"/>
                  </a:rPr>
                  <a:t> </a:t>
                </a:r>
                <a:r>
                  <a:rPr lang="zh-CN" altLang="en-US" dirty="0">
                    <a:ea typeface="楷体" panose="02010609060101010101" charset="-122"/>
                    <a:cs typeface="+mn-lt"/>
                  </a:rPr>
                  <a:t>满足</a:t>
                </a:r>
                <a:r>
                  <a:rPr lang="en-US" altLang="zh-CN" dirty="0">
                    <a:ea typeface="楷体" panose="02010609060101010101" charset="-122"/>
                    <a:cs typeface="+mn-lt"/>
                  </a:rPr>
                  <a:t> </a:t>
                </a:r>
                <a:r>
                  <a:rPr lang="zh-CN" altLang="en-US" dirty="0">
                    <a:ea typeface="楷体" panose="02010609060101010101" charset="-122"/>
                    <a:cs typeface="+mn-lt"/>
                  </a:rPr>
                  <a:t>交换律</a:t>
                </a:r>
                <a:r>
                  <a:rPr lang="en-US" altLang="zh-CN" dirty="0">
                    <a:ea typeface="楷体" panose="02010609060101010101" charset="-122"/>
                    <a:cs typeface="+mn-lt"/>
                  </a:rPr>
                  <a:t> </a:t>
                </a:r>
                <a:r>
                  <a:rPr lang="zh-CN" altLang="en-US" dirty="0">
                    <a:ea typeface="楷体" panose="02010609060101010101" charset="-122"/>
                    <a:cs typeface="+mn-lt"/>
                  </a:rPr>
                  <a:t>和</a:t>
                </a:r>
                <a:r>
                  <a:rPr lang="en-US" altLang="zh-CN" dirty="0">
                    <a:ea typeface="楷体" panose="02010609060101010101" charset="-122"/>
                    <a:cs typeface="+mn-lt"/>
                  </a:rPr>
                  <a:t> </a:t>
                </a:r>
                <a:r>
                  <a:rPr lang="zh-CN" altLang="en-US" dirty="0">
                    <a:ea typeface="楷体" panose="02010609060101010101" charset="-122"/>
                    <a:cs typeface="+mn-lt"/>
                  </a:rPr>
                  <a:t>结合律</a:t>
                </a:r>
              </a:p>
              <a:p>
                <a:pPr marL="914400" lvl="1" indent="-457200" eaLnBrk="1" hangingPunct="1">
                  <a:lnSpc>
                    <a:spcPct val="110000"/>
                  </a:lnSpc>
                  <a:spcBef>
                    <a:spcPts val="1000"/>
                  </a:spcBef>
                  <a:spcAft>
                    <a:spcPts val="0"/>
                  </a:spcAft>
                </a:pPr>
                <a14:m>
                  <m:oMath xmlns:m="http://schemas.openxmlformats.org/officeDocument/2006/math">
                    <m:r>
                      <a:rPr lang="en-US" altLang="x-none" i="1" dirty="0">
                        <a:latin typeface="Cambria Math" panose="02040503050406030204" charset="0"/>
                        <a:ea typeface="楷体" panose="02010609060101010101" charset="-122"/>
                        <a:cs typeface="Cambria Math" panose="02040503050406030204" charset="0"/>
                      </a:rPr>
                      <m:t>𝑅</m:t>
                    </m:r>
                    <m:r>
                      <a:rPr lang="en-US" altLang="x-none" i="1" dirty="0">
                        <a:latin typeface="Cambria Math" panose="02040503050406030204" charset="0"/>
                        <a:ea typeface="楷体" panose="02010609060101010101" charset="-122"/>
                        <a:cs typeface="Cambria Math" panose="02040503050406030204" charset="0"/>
                      </a:rPr>
                      <m:t>×</m:t>
                    </m:r>
                    <m:r>
                      <a:rPr lang="en-US" altLang="x-none" i="1" dirty="0">
                        <a:latin typeface="Cambria Math" panose="02040503050406030204" charset="0"/>
                        <a:ea typeface="楷体" panose="02010609060101010101" charset="-122"/>
                        <a:cs typeface="Cambria Math" panose="02040503050406030204" charset="0"/>
                      </a:rPr>
                      <m:t>𝑆</m:t>
                    </m:r>
                    <m:r>
                      <a:rPr lang="en-US" altLang="x-none" i="1" dirty="0">
                        <a:latin typeface="Cambria Math" panose="02040503050406030204" charset="0"/>
                        <a:ea typeface="楷体" panose="02010609060101010101" charset="-122"/>
                        <a:cs typeface="Cambria Math" panose="02040503050406030204" charset="0"/>
                      </a:rPr>
                      <m:t> = </m:t>
                    </m:r>
                    <m:r>
                      <a:rPr lang="en-US" altLang="x-none" i="1" dirty="0">
                        <a:latin typeface="Cambria Math" panose="02040503050406030204" charset="0"/>
                        <a:ea typeface="楷体" panose="02010609060101010101" charset="-122"/>
                        <a:cs typeface="Cambria Math" panose="02040503050406030204" charset="0"/>
                      </a:rPr>
                      <m:t>𝑆</m:t>
                    </m:r>
                    <m:r>
                      <a:rPr lang="en-US" altLang="x-none" i="1" dirty="0">
                        <a:latin typeface="Cambria Math" panose="02040503050406030204" charset="0"/>
                        <a:ea typeface="楷体" panose="02010609060101010101" charset="-122"/>
                        <a:cs typeface="Cambria Math" panose="02040503050406030204" charset="0"/>
                      </a:rPr>
                      <m:t>×</m:t>
                    </m:r>
                    <m:r>
                      <a:rPr lang="en-US" altLang="x-none" i="1" dirty="0">
                        <a:latin typeface="Cambria Math" panose="02040503050406030204" charset="0"/>
                        <a:ea typeface="楷体" panose="02010609060101010101" charset="-122"/>
                        <a:cs typeface="Cambria Math" panose="02040503050406030204" charset="0"/>
                      </a:rPr>
                      <m:t>𝑅</m:t>
                    </m:r>
                  </m:oMath>
                </a14:m>
                <a:endParaRPr lang="en-US" altLang="x-none" dirty="0">
                  <a:ea typeface="楷体" panose="02010609060101010101" charset="-122"/>
                  <a:cs typeface="+mn-lt"/>
                </a:endParaRPr>
              </a:p>
              <a:p>
                <a:pPr marL="914400" lvl="1" indent="-457200" eaLnBrk="1" hangingPunct="1">
                  <a:lnSpc>
                    <a:spcPct val="110000"/>
                  </a:lnSpc>
                  <a:spcBef>
                    <a:spcPts val="1000"/>
                  </a:spcBef>
                  <a:spcAft>
                    <a:spcPts val="0"/>
                  </a:spcAft>
                </a:pPr>
                <a14:m>
                  <m:oMath xmlns:m="http://schemas.openxmlformats.org/officeDocument/2006/math">
                    <m:r>
                      <a:rPr lang="en-US" altLang="x-none" i="1" dirty="0">
                        <a:latin typeface="Cambria Math" panose="02040503050406030204" charset="0"/>
                        <a:ea typeface="楷体" panose="02010609060101010101" charset="-122"/>
                        <a:cs typeface="Cambria Math" panose="02040503050406030204" charset="0"/>
                      </a:rPr>
                      <m:t>(</m:t>
                    </m:r>
                    <m:r>
                      <a:rPr lang="en-US" altLang="x-none" i="1" dirty="0">
                        <a:latin typeface="Cambria Math" panose="02040503050406030204" charset="0"/>
                        <a:ea typeface="楷体" panose="02010609060101010101" charset="-122"/>
                        <a:cs typeface="Cambria Math" panose="02040503050406030204" charset="0"/>
                      </a:rPr>
                      <m:t>𝑅</m:t>
                    </m:r>
                    <m:r>
                      <a:rPr lang="en-US" altLang="x-none" i="1" dirty="0">
                        <a:latin typeface="Cambria Math" panose="02040503050406030204" charset="0"/>
                        <a:ea typeface="楷体" panose="02010609060101010101" charset="-122"/>
                        <a:cs typeface="Cambria Math" panose="02040503050406030204" charset="0"/>
                      </a:rPr>
                      <m:t>×</m:t>
                    </m:r>
                    <m:r>
                      <a:rPr lang="en-US" altLang="x-none" i="1" dirty="0">
                        <a:latin typeface="Cambria Math" panose="02040503050406030204" charset="0"/>
                        <a:ea typeface="楷体" panose="02010609060101010101" charset="-122"/>
                        <a:cs typeface="Cambria Math" panose="02040503050406030204" charset="0"/>
                      </a:rPr>
                      <m:t>𝑆</m:t>
                    </m:r>
                    <m:r>
                      <a:rPr lang="en-US" altLang="x-none" i="1" dirty="0">
                        <a:latin typeface="Cambria Math" panose="02040503050406030204" charset="0"/>
                        <a:ea typeface="楷体" panose="02010609060101010101" charset="-122"/>
                        <a:cs typeface="Cambria Math" panose="02040503050406030204" charset="0"/>
                      </a:rPr>
                      <m:t>)×</m:t>
                    </m:r>
                    <m:r>
                      <a:rPr lang="en-US" altLang="x-none" i="1" dirty="0">
                        <a:latin typeface="Cambria Math" panose="02040503050406030204" charset="0"/>
                        <a:ea typeface="楷体" panose="02010609060101010101" charset="-122"/>
                        <a:cs typeface="Cambria Math" panose="02040503050406030204" charset="0"/>
                      </a:rPr>
                      <m:t>𝑇</m:t>
                    </m:r>
                    <m:r>
                      <a:rPr lang="en-US" altLang="x-none" i="1" dirty="0">
                        <a:latin typeface="Cambria Math" panose="02040503050406030204" charset="0"/>
                        <a:ea typeface="楷体" panose="02010609060101010101" charset="-122"/>
                        <a:cs typeface="Cambria Math" panose="02040503050406030204" charset="0"/>
                      </a:rPr>
                      <m:t> = </m:t>
                    </m:r>
                    <m:r>
                      <a:rPr lang="en-US" altLang="x-none" i="1" dirty="0">
                        <a:latin typeface="Cambria Math" panose="02040503050406030204" charset="0"/>
                        <a:ea typeface="楷体" panose="02010609060101010101" charset="-122"/>
                        <a:cs typeface="Cambria Math" panose="02040503050406030204" charset="0"/>
                      </a:rPr>
                      <m:t>𝑅</m:t>
                    </m:r>
                    <m:r>
                      <a:rPr lang="en-US" altLang="x-none" i="1" dirty="0">
                        <a:latin typeface="Cambria Math" panose="02040503050406030204" charset="0"/>
                        <a:ea typeface="楷体" panose="02010609060101010101" charset="-122"/>
                        <a:cs typeface="Cambria Math" panose="02040503050406030204" charset="0"/>
                      </a:rPr>
                      <m:t>×(</m:t>
                    </m:r>
                    <m:r>
                      <a:rPr lang="en-US" altLang="x-none" i="1" dirty="0">
                        <a:latin typeface="Cambria Math" panose="02040503050406030204" charset="0"/>
                        <a:ea typeface="楷体" panose="02010609060101010101" charset="-122"/>
                        <a:cs typeface="Cambria Math" panose="02040503050406030204" charset="0"/>
                      </a:rPr>
                      <m:t>𝑆</m:t>
                    </m:r>
                    <m:r>
                      <a:rPr lang="en-US" altLang="x-none" i="1" dirty="0">
                        <a:latin typeface="Cambria Math" panose="02040503050406030204" charset="0"/>
                        <a:ea typeface="楷体" panose="02010609060101010101" charset="-122"/>
                        <a:cs typeface="Cambria Math" panose="02040503050406030204" charset="0"/>
                      </a:rPr>
                      <m:t>×</m:t>
                    </m:r>
                    <m:r>
                      <a:rPr lang="en-US" altLang="x-none" i="1" dirty="0">
                        <a:latin typeface="Cambria Math" panose="02040503050406030204" charset="0"/>
                        <a:ea typeface="楷体" panose="02010609060101010101" charset="-122"/>
                        <a:cs typeface="Cambria Math" panose="02040503050406030204" charset="0"/>
                      </a:rPr>
                      <m:t>𝑇</m:t>
                    </m:r>
                    <m:r>
                      <a:rPr lang="en-US" altLang="x-none" i="1" dirty="0">
                        <a:latin typeface="Cambria Math" panose="02040503050406030204" charset="0"/>
                        <a:ea typeface="楷体" panose="02010609060101010101" charset="-122"/>
                        <a:cs typeface="Cambria Math" panose="02040503050406030204" charset="0"/>
                      </a:rPr>
                      <m:t>)</m:t>
                    </m:r>
                  </m:oMath>
                </a14:m>
                <a:endParaRPr lang="en-US" altLang="x-none" i="1" dirty="0">
                  <a:ea typeface="楷体" panose="02010609060101010101" charset="-122"/>
                  <a:cs typeface="+mn-lt"/>
                </a:endParaRPr>
              </a:p>
            </p:txBody>
          </p:sp>
        </mc:Choice>
        <mc:Fallback xmlns="">
          <p:sp>
            <p:nvSpPr>
              <p:cNvPr id="94212" name="Rectangle 3"/>
              <p:cNvSpPr>
                <a:spLocks noRot="1" noChangeAspect="1" noMove="1" noResize="1" noEditPoints="1" noAdjustHandles="1" noChangeArrowheads="1" noChangeShapeType="1" noTextEdit="1"/>
              </p:cNvSpPr>
              <p:nvPr>
                <p:ph idx="1"/>
              </p:nvPr>
            </p:nvSpPr>
            <p:spPr>
              <a:xfrm>
                <a:off x="424180" y="687070"/>
                <a:ext cx="11343005" cy="1803400"/>
              </a:xfrm>
              <a:blipFill rotWithShape="1">
                <a:blip r:embed="rId2"/>
                <a:stretch>
                  <a:fillRect/>
                </a:stretch>
              </a:blipFill>
            </p:spPr>
            <p:txBody>
              <a:bodyPr/>
              <a:lstStyle/>
              <a:p>
                <a:r>
                  <a:rPr lang="zh-CN" altLang="en-US">
                    <a:noFill/>
                  </a:rPr>
                  <a:t> </a:t>
                </a:r>
              </a:p>
            </p:txBody>
          </p:sp>
        </mc:Fallback>
      </mc:AlternateContent>
      <p:sp>
        <p:nvSpPr>
          <p:cNvPr id="2" name="Rectangle 3"/>
          <p:cNvSpPr>
            <a:spLocks noGrp="1"/>
          </p:cNvSpPr>
          <p:nvPr/>
        </p:nvSpPr>
        <p:spPr>
          <a:xfrm>
            <a:off x="424180" y="3124835"/>
            <a:ext cx="11343005" cy="2242820"/>
          </a:xfrm>
          <a:prstGeom prst="rect">
            <a:avLst/>
          </a:prstGeom>
          <a:noFill/>
          <a:ln w="9525">
            <a:noFill/>
          </a:ln>
        </p:spPr>
        <p:txBody>
          <a:bodyPr wrap="square" anchor="t">
            <a:spAutoFit/>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1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5pPr>
            <a:lvl6pPr marL="2514600" lvl="5"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6pPr>
            <a:lvl7pPr marL="2971800" lvl="6"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7pPr>
            <a:lvl8pPr marL="3429000" lvl="7"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8pPr>
            <a:lvl9pPr marL="3886200" lvl="8" indent="-228600" algn="l" defTabSz="914400" eaLnBrk="0" fontAlgn="base" latinLnBrk="0" hangingPunct="0">
              <a:lnSpc>
                <a:spcPct val="11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9pPr>
          </a:lstStyle>
          <a:p>
            <a:pPr eaLnBrk="1" hangingPunct="1">
              <a:lnSpc>
                <a:spcPct val="110000"/>
              </a:lnSpc>
              <a:spcBef>
                <a:spcPts val="1000"/>
              </a:spcBef>
              <a:spcAft>
                <a:spcPts val="0"/>
              </a:spcAft>
              <a:buClr>
                <a:srgbClr val="C00000"/>
              </a:buClr>
              <a:buSzPct val="85000"/>
            </a:pPr>
            <a:r>
              <a:rPr lang="zh-CN" altLang="en-US" sz="2800" dirty="0">
                <a:solidFill>
                  <a:srgbClr val="1F2DA8"/>
                </a:solidFill>
                <a:ea typeface="楷体" panose="02010609060101010101" charset="-122"/>
                <a:cs typeface="+mn-lt"/>
              </a:rPr>
              <a:t>如果在关系</a:t>
            </a:r>
            <a:r>
              <a:rPr lang="en-US" altLang="x-none" sz="2800" dirty="0">
                <a:solidFill>
                  <a:srgbClr val="1F2DA8"/>
                </a:solidFill>
                <a:ea typeface="楷体" panose="02010609060101010101" charset="-122"/>
                <a:cs typeface="+mn-lt"/>
              </a:rPr>
              <a:t>R</a:t>
            </a:r>
            <a:r>
              <a:rPr lang="zh-CN" altLang="en-US" sz="2800" dirty="0">
                <a:solidFill>
                  <a:srgbClr val="1F2DA8"/>
                </a:solidFill>
                <a:ea typeface="楷体" panose="02010609060101010101" charset="-122"/>
                <a:cs typeface="+mn-lt"/>
              </a:rPr>
              <a:t>和</a:t>
            </a:r>
            <a:r>
              <a:rPr lang="en-US" altLang="x-none" sz="2800" dirty="0">
                <a:solidFill>
                  <a:srgbClr val="1F2DA8"/>
                </a:solidFill>
                <a:ea typeface="楷体" panose="02010609060101010101" charset="-122"/>
                <a:cs typeface="+mn-lt"/>
              </a:rPr>
              <a:t>S</a:t>
            </a:r>
            <a:r>
              <a:rPr lang="zh-CN" altLang="en-US" sz="2800" dirty="0">
                <a:solidFill>
                  <a:srgbClr val="1F2DA8"/>
                </a:solidFill>
                <a:ea typeface="楷体" panose="02010609060101010101" charset="-122"/>
                <a:cs typeface="+mn-lt"/>
              </a:rPr>
              <a:t>中存在同名的属性，在执行它们之间的笛卡尔积运算时，将被认为是两个不同的属性。</a:t>
            </a:r>
          </a:p>
          <a:p>
            <a:pPr eaLnBrk="1" hangingPunct="1">
              <a:lnSpc>
                <a:spcPct val="110000"/>
              </a:lnSpc>
              <a:spcBef>
                <a:spcPts val="2000"/>
              </a:spcBef>
              <a:spcAft>
                <a:spcPts val="0"/>
              </a:spcAft>
              <a:buClr>
                <a:srgbClr val="C00000"/>
              </a:buClr>
              <a:buSzPct val="85000"/>
            </a:pPr>
            <a:r>
              <a:rPr lang="zh-CN" altLang="en-US" sz="2800" dirty="0">
                <a:solidFill>
                  <a:srgbClr val="1F2DA8"/>
                </a:solidFill>
                <a:ea typeface="楷体" panose="02010609060101010101" charset="-122"/>
                <a:cs typeface="+mn-lt"/>
              </a:rPr>
              <a:t>在笛卡尔积的结果关系中，对每一对同名属性，</a:t>
            </a:r>
            <a:r>
              <a:rPr lang="zh-CN" altLang="en-US" sz="2800" dirty="0">
                <a:solidFill>
                  <a:srgbClr val="1F2DA8"/>
                </a:solidFill>
                <a:ea typeface="楷体" panose="02010609060101010101" charset="-122"/>
                <a:cs typeface="+mn-lt"/>
                <a:sym typeface="+mn-ea"/>
              </a:rPr>
              <a:t>必须</a:t>
            </a:r>
            <a:r>
              <a:rPr lang="zh-CN" altLang="en-US" sz="2800" dirty="0">
                <a:solidFill>
                  <a:srgbClr val="1F2DA8"/>
                </a:solidFill>
                <a:ea typeface="楷体" panose="02010609060101010101" charset="-122"/>
                <a:cs typeface="+mn-lt"/>
              </a:rPr>
              <a:t>至少对其中的一个进行换名（确保在结果关系中，属性名是互不相同的）。</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29</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pPr eaLnBrk="1" hangingPunct="1"/>
            <a:r>
              <a:rPr kumimoji="0" lang="zh-CN" altLang="en-US" i="0" u="none" strike="noStrike" kern="0" cap="none" spc="0" normalizeH="0" baseline="0" noProof="0" dirty="0">
                <a:ln>
                  <a:noFill/>
                </a:ln>
                <a:solidFill>
                  <a:schemeClr val="tx1"/>
                </a:solidFill>
                <a:effectLst/>
                <a:uLnTx/>
                <a:uFillTx/>
                <a:latin typeface="Verdana" panose="020B0604030504040204"/>
                <a:ea typeface="+mj-ea"/>
                <a:cs typeface="+mj-cs"/>
              </a:rPr>
              <a:t>笛卡尔积 </a:t>
            </a:r>
            <a:r>
              <a:rPr kumimoji="0" lang="en-US" altLang="zh-CN" i="0" u="none" strike="noStrike" kern="0" cap="none" spc="0" normalizeH="0" baseline="0" noProof="0" dirty="0">
                <a:ln>
                  <a:noFill/>
                </a:ln>
                <a:solidFill>
                  <a:schemeClr val="tx1"/>
                </a:solidFill>
                <a:effectLst/>
                <a:uLnTx/>
                <a:uFillTx/>
                <a:latin typeface="Verdana" panose="020B0604030504040204"/>
                <a:ea typeface="+mj-ea"/>
                <a:cs typeface="+mj-cs"/>
              </a:rPr>
              <a:t>4</a:t>
            </a:r>
          </a:p>
        </p:txBody>
      </p:sp>
      <p:graphicFrame>
        <p:nvGraphicFramePr>
          <p:cNvPr id="10" name="内容占位符 9"/>
          <p:cNvGraphicFramePr>
            <a:graphicFrameLocks noGrp="1"/>
          </p:cNvGraphicFramePr>
          <p:nvPr>
            <p:ph sz="quarter" idx="4294967295"/>
            <p:custDataLst>
              <p:tags r:id="rId1"/>
            </p:custDataLst>
          </p:nvPr>
        </p:nvGraphicFramePr>
        <p:xfrm>
          <a:off x="5444490" y="1014730"/>
          <a:ext cx="5932170" cy="5194380"/>
        </p:xfrm>
        <a:graphic>
          <a:graphicData uri="http://schemas.openxmlformats.org/drawingml/2006/table">
            <a:tbl>
              <a:tblPr firstRow="1" bandRow="1">
                <a:tableStyleId>{5C22544A-7EE6-4342-B048-85BDC9FD1C3A}</a:tableStyleId>
              </a:tblPr>
              <a:tblGrid>
                <a:gridCol w="988695">
                  <a:extLst>
                    <a:ext uri="{9D8B030D-6E8A-4147-A177-3AD203B41FA5}">
                      <a16:colId xmlns:a16="http://schemas.microsoft.com/office/drawing/2014/main" val="20000"/>
                    </a:ext>
                  </a:extLst>
                </a:gridCol>
                <a:gridCol w="988695">
                  <a:extLst>
                    <a:ext uri="{9D8B030D-6E8A-4147-A177-3AD203B41FA5}">
                      <a16:colId xmlns:a16="http://schemas.microsoft.com/office/drawing/2014/main" val="20001"/>
                    </a:ext>
                  </a:extLst>
                </a:gridCol>
                <a:gridCol w="988695">
                  <a:extLst>
                    <a:ext uri="{9D8B030D-6E8A-4147-A177-3AD203B41FA5}">
                      <a16:colId xmlns:a16="http://schemas.microsoft.com/office/drawing/2014/main" val="20002"/>
                    </a:ext>
                  </a:extLst>
                </a:gridCol>
                <a:gridCol w="988695">
                  <a:extLst>
                    <a:ext uri="{9D8B030D-6E8A-4147-A177-3AD203B41FA5}">
                      <a16:colId xmlns:a16="http://schemas.microsoft.com/office/drawing/2014/main" val="20003"/>
                    </a:ext>
                  </a:extLst>
                </a:gridCol>
                <a:gridCol w="988695">
                  <a:extLst>
                    <a:ext uri="{9D8B030D-6E8A-4147-A177-3AD203B41FA5}">
                      <a16:colId xmlns:a16="http://schemas.microsoft.com/office/drawing/2014/main" val="20004"/>
                    </a:ext>
                  </a:extLst>
                </a:gridCol>
                <a:gridCol w="988695">
                  <a:extLst>
                    <a:ext uri="{9D8B030D-6E8A-4147-A177-3AD203B41FA5}">
                      <a16:colId xmlns:a16="http://schemas.microsoft.com/office/drawing/2014/main" val="20005"/>
                    </a:ext>
                  </a:extLst>
                </a:gridCol>
              </a:tblGrid>
              <a:tr h="472440">
                <a:tc>
                  <a:txBody>
                    <a:bodyPr/>
                    <a:lstStyle/>
                    <a:p>
                      <a:pPr algn="ctr"/>
                      <a:r>
                        <a:rPr lang="en-US" altLang="zh-CN" sz="2800" b="1" dirty="0">
                          <a:solidFill>
                            <a:schemeClr val="tx1"/>
                          </a:solidFill>
                        </a:rPr>
                        <a:t>R.A       </a:t>
                      </a:r>
                    </a:p>
                  </a:txBody>
                  <a:tcPr marL="91457" marR="91457" marT="46990" marB="45728">
                    <a:solidFill>
                      <a:schemeClr val="accent3">
                        <a:lumMod val="40000"/>
                        <a:lumOff val="60000"/>
                      </a:schemeClr>
                    </a:solidFill>
                  </a:tcPr>
                </a:tc>
                <a:tc>
                  <a:txBody>
                    <a:bodyPr/>
                    <a:lstStyle/>
                    <a:p>
                      <a:pPr algn="ctr"/>
                      <a:r>
                        <a:rPr lang="en-US" altLang="zh-CN" sz="2800" b="1" dirty="0">
                          <a:solidFill>
                            <a:schemeClr val="tx1"/>
                          </a:solidFill>
                        </a:rPr>
                        <a:t>R.B</a:t>
                      </a:r>
                    </a:p>
                  </a:txBody>
                  <a:tcPr marL="91457" marR="91457" marT="46990" marB="45728">
                    <a:solidFill>
                      <a:schemeClr val="accent3">
                        <a:lumMod val="40000"/>
                        <a:lumOff val="60000"/>
                      </a:schemeClr>
                    </a:solidFill>
                  </a:tcPr>
                </a:tc>
                <a:tc>
                  <a:txBody>
                    <a:bodyPr/>
                    <a:lstStyle/>
                    <a:p>
                      <a:pPr algn="ctr"/>
                      <a:r>
                        <a:rPr lang="en-US" altLang="zh-CN" sz="2800" b="1" dirty="0">
                          <a:solidFill>
                            <a:schemeClr val="tx1"/>
                          </a:solidFill>
                        </a:rPr>
                        <a:t>R.C</a:t>
                      </a:r>
                    </a:p>
                  </a:txBody>
                  <a:tcPr marL="91457" marR="91457" marT="46990" marB="45728">
                    <a:solidFill>
                      <a:schemeClr val="accent3">
                        <a:lumMod val="40000"/>
                        <a:lumOff val="60000"/>
                      </a:schemeClr>
                    </a:solidFill>
                  </a:tcPr>
                </a:tc>
                <a:tc>
                  <a:txBody>
                    <a:bodyPr/>
                    <a:lstStyle/>
                    <a:p>
                      <a:pPr algn="ctr"/>
                      <a:r>
                        <a:rPr lang="en-US" altLang="zh-CN" sz="2800" b="1" dirty="0">
                          <a:solidFill>
                            <a:schemeClr val="tx1"/>
                          </a:solidFill>
                        </a:rPr>
                        <a:t>S.A</a:t>
                      </a:r>
                    </a:p>
                  </a:txBody>
                  <a:tcPr marL="91457" marR="91457" marT="46990" marB="45728">
                    <a:solidFill>
                      <a:schemeClr val="accent3">
                        <a:lumMod val="40000"/>
                        <a:lumOff val="60000"/>
                      </a:schemeClr>
                    </a:solidFill>
                  </a:tcPr>
                </a:tc>
                <a:tc>
                  <a:txBody>
                    <a:bodyPr/>
                    <a:lstStyle/>
                    <a:p>
                      <a:pPr algn="ctr"/>
                      <a:r>
                        <a:rPr lang="en-US" altLang="zh-CN" sz="2800" b="1" dirty="0">
                          <a:solidFill>
                            <a:schemeClr val="tx1"/>
                          </a:solidFill>
                        </a:rPr>
                        <a:t>S.B</a:t>
                      </a:r>
                    </a:p>
                  </a:txBody>
                  <a:tcPr marL="91457" marR="91457" marT="46990" marB="45728">
                    <a:solidFill>
                      <a:schemeClr val="accent3">
                        <a:lumMod val="40000"/>
                        <a:lumOff val="60000"/>
                      </a:schemeClr>
                    </a:solidFill>
                  </a:tcPr>
                </a:tc>
                <a:tc>
                  <a:txBody>
                    <a:bodyPr/>
                    <a:lstStyle/>
                    <a:p>
                      <a:pPr algn="ctr"/>
                      <a:r>
                        <a:rPr lang="en-US" altLang="zh-CN" sz="2800" b="1" dirty="0">
                          <a:solidFill>
                            <a:schemeClr val="tx1"/>
                          </a:solidFill>
                        </a:rPr>
                        <a:t>S.C</a:t>
                      </a:r>
                    </a:p>
                  </a:txBody>
                  <a:tcPr marL="91457" marR="91457" marT="46990" marB="45728">
                    <a:solidFill>
                      <a:schemeClr val="accent3">
                        <a:lumMod val="40000"/>
                        <a:lumOff val="60000"/>
                      </a:schemeClr>
                    </a:solidFill>
                  </a:tcPr>
                </a:tc>
                <a:extLst>
                  <a:ext uri="{0D108BD9-81ED-4DB2-BD59-A6C34878D82A}">
                    <a16:rowId xmlns:a16="http://schemas.microsoft.com/office/drawing/2014/main" val="10000"/>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1"/>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3</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2"/>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3"/>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p>
                  </a:txBody>
                  <a:tcPr marL="91457" marR="91457" marT="46990" marB="45728"/>
                </a:tc>
                <a:extLst>
                  <a:ext uri="{0D108BD9-81ED-4DB2-BD59-A6C34878D82A}">
                    <a16:rowId xmlns:a16="http://schemas.microsoft.com/office/drawing/2014/main" val="10004"/>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3</a:t>
                      </a: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5"/>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6"/>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7"/>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3</a:t>
                      </a: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8"/>
                  </a:ext>
                </a:extLst>
              </a:tr>
              <a:tr h="472440">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tc>
                  <a:txBody>
                    <a:bodyPr/>
                    <a:lstStyle/>
                    <a:p>
                      <a:pPr algn="ct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L="91457" marR="91457" marT="46990" marB="45728"/>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76928" name="TextBox 11"/>
              <p:cNvSpPr txBox="1">
                <a:spLocks noChangeArrowheads="1"/>
              </p:cNvSpPr>
              <p:nvPr/>
            </p:nvSpPr>
            <p:spPr bwMode="auto">
              <a:xfrm>
                <a:off x="7796848" y="533400"/>
                <a:ext cx="1227455"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altLang="zh-CN" sz="2800" b="1" i="1">
                        <a:latin typeface="Cambria Math" panose="02040503050406030204" charset="0"/>
                        <a:cs typeface="Cambria Math" panose="02040503050406030204" charset="0"/>
                      </a:rPr>
                      <m:t>𝑹</m:t>
                    </m:r>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𝑺</m:t>
                    </m:r>
                  </m:oMath>
                </a14:m>
                <a:r>
                  <a:rPr lang="en-US" altLang="zh-CN" sz="2800" b="1" i="1"/>
                  <a:t> </a:t>
                </a:r>
              </a:p>
            </p:txBody>
          </p:sp>
        </mc:Choice>
        <mc:Fallback xmlns="">
          <p:sp>
            <p:nvSpPr>
              <p:cNvPr id="76928" name="TextBox 11"/>
              <p:cNvSpPr txBox="1">
                <a:spLocks noRot="1" noChangeAspect="1" noMove="1" noResize="1" noEditPoints="1" noAdjustHandles="1" noChangeArrowheads="1" noChangeShapeType="1" noTextEdit="1"/>
              </p:cNvSpPr>
              <p:nvPr/>
            </p:nvSpPr>
            <p:spPr bwMode="auto">
              <a:xfrm>
                <a:off x="7796848" y="533400"/>
                <a:ext cx="1227455" cy="521970"/>
              </a:xfrm>
              <a:prstGeom prst="rect">
                <a:avLst/>
              </a:prstGeom>
              <a:blipFill rotWithShape="1">
                <a:blip r:embed="rId5"/>
                <a:stretch>
                  <a:fillRect l="-26" r="-19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2" name="表格 1"/>
          <p:cNvGraphicFramePr>
            <a:graphicFrameLocks noGrp="1"/>
          </p:cNvGraphicFramePr>
          <p:nvPr>
            <p:custDataLst>
              <p:tags r:id="rId2"/>
            </p:custDataLst>
          </p:nvPr>
        </p:nvGraphicFramePr>
        <p:xfrm>
          <a:off x="805815" y="1041400"/>
          <a:ext cx="3731895" cy="2077600"/>
        </p:xfrm>
        <a:graphic>
          <a:graphicData uri="http://schemas.openxmlformats.org/drawingml/2006/table">
            <a:tbl>
              <a:tblPr firstRow="1" bandRow="1">
                <a:tableStyleId>{5C22544A-7EE6-4342-B048-85BDC9FD1C3A}</a:tableStyleId>
              </a:tblPr>
              <a:tblGrid>
                <a:gridCol w="1243965">
                  <a:extLst>
                    <a:ext uri="{9D8B030D-6E8A-4147-A177-3AD203B41FA5}">
                      <a16:colId xmlns:a16="http://schemas.microsoft.com/office/drawing/2014/main" val="20000"/>
                    </a:ext>
                  </a:extLst>
                </a:gridCol>
                <a:gridCol w="1243965">
                  <a:extLst>
                    <a:ext uri="{9D8B030D-6E8A-4147-A177-3AD203B41FA5}">
                      <a16:colId xmlns:a16="http://schemas.microsoft.com/office/drawing/2014/main" val="20001"/>
                    </a:ext>
                  </a:extLst>
                </a:gridCol>
                <a:gridCol w="1243965">
                  <a:extLst>
                    <a:ext uri="{9D8B030D-6E8A-4147-A177-3AD203B41FA5}">
                      <a16:colId xmlns:a16="http://schemas.microsoft.com/office/drawing/2014/main" val="20002"/>
                    </a:ext>
                  </a:extLst>
                </a:gridCol>
              </a:tblGrid>
              <a:tr h="426720">
                <a:tc>
                  <a:txBody>
                    <a:bodyPr/>
                    <a:lstStyle/>
                    <a:p>
                      <a:pPr algn="ctr">
                        <a:buClrTx/>
                        <a:buSzTx/>
                        <a:buFontTx/>
                      </a:pPr>
                      <a:r>
                        <a:rPr lang="en-US" altLang="zh-CN" sz="2800" b="1" dirty="0">
                          <a:solidFill>
                            <a:schemeClr val="tx1"/>
                          </a:solidFill>
                        </a:rPr>
                        <a:t>A</a:t>
                      </a:r>
                      <a:endParaRPr lang="en-US" altLang="zh-CN" sz="2800" b="1" dirty="0">
                        <a:solidFill>
                          <a:schemeClr val="tx1"/>
                        </a:solidFill>
                        <a:latin typeface="Times New Roman" panose="02020603050405020304" charset="0"/>
                        <a:cs typeface="Times New Roman" panose="02020603050405020304" charset="0"/>
                      </a:endParaRPr>
                    </a:p>
                  </a:txBody>
                  <a:tcPr marT="46990" marB="45690">
                    <a:solidFill>
                      <a:schemeClr val="accent3">
                        <a:lumMod val="40000"/>
                        <a:lumOff val="60000"/>
                      </a:schemeClr>
                    </a:solidFill>
                  </a:tcPr>
                </a:tc>
                <a:tc>
                  <a:txBody>
                    <a:bodyPr/>
                    <a:lstStyle/>
                    <a:p>
                      <a:pPr algn="ctr">
                        <a:buClrTx/>
                        <a:buSzTx/>
                        <a:buFontTx/>
                      </a:pPr>
                      <a:r>
                        <a:rPr lang="en-US" altLang="zh-CN" sz="2800" b="1" dirty="0">
                          <a:solidFill>
                            <a:schemeClr val="tx1"/>
                          </a:solidFill>
                        </a:rPr>
                        <a:t>B</a:t>
                      </a:r>
                      <a:endParaRPr lang="en-US" altLang="zh-CN" sz="2800" b="1" dirty="0">
                        <a:solidFill>
                          <a:schemeClr val="tx1"/>
                        </a:solidFill>
                        <a:latin typeface="Times New Roman" panose="02020603050405020304" charset="0"/>
                        <a:cs typeface="Times New Roman" panose="02020603050405020304" charset="0"/>
                      </a:endParaRPr>
                    </a:p>
                  </a:txBody>
                  <a:tcPr marT="46990" marB="45690">
                    <a:solidFill>
                      <a:schemeClr val="accent3">
                        <a:lumMod val="40000"/>
                        <a:lumOff val="60000"/>
                      </a:schemeClr>
                    </a:solidFill>
                  </a:tcPr>
                </a:tc>
                <a:tc>
                  <a:txBody>
                    <a:bodyPr/>
                    <a:lstStyle/>
                    <a:p>
                      <a:pPr algn="ctr">
                        <a:buClrTx/>
                        <a:buSzTx/>
                        <a:buFontTx/>
                      </a:pPr>
                      <a:r>
                        <a:rPr lang="en-US" altLang="zh-CN" sz="2800" b="1" dirty="0">
                          <a:solidFill>
                            <a:schemeClr val="tx1"/>
                          </a:solidFill>
                        </a:rPr>
                        <a:t>C</a:t>
                      </a:r>
                      <a:endParaRPr lang="en-US" altLang="zh-CN" sz="2800" b="1" dirty="0">
                        <a:solidFill>
                          <a:schemeClr val="tx1"/>
                        </a:solidFill>
                        <a:latin typeface="Times New Roman" panose="02020603050405020304" charset="0"/>
                        <a:cs typeface="Times New Roman" panose="02020603050405020304" charset="0"/>
                      </a:endParaRPr>
                    </a:p>
                  </a:txBody>
                  <a:tcPr marT="46990" marB="45690">
                    <a:solidFill>
                      <a:schemeClr val="accent3">
                        <a:lumMod val="40000"/>
                        <a:lumOff val="60000"/>
                      </a:schemeClr>
                    </a:solidFill>
                  </a:tcPr>
                </a:tc>
                <a:extLst>
                  <a:ext uri="{0D108BD9-81ED-4DB2-BD59-A6C34878D82A}">
                    <a16:rowId xmlns:a16="http://schemas.microsoft.com/office/drawing/2014/main" val="10000"/>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p>
                  </a:txBody>
                  <a:tcPr marT="46990" marB="45690"/>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extLst>
                  <a:ext uri="{0D108BD9-81ED-4DB2-BD59-A6C34878D82A}">
                    <a16:rowId xmlns:a16="http://schemas.microsoft.com/office/drawing/2014/main" val="10001"/>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extLst>
                  <a:ext uri="{0D108BD9-81ED-4DB2-BD59-A6C34878D82A}">
                    <a16:rowId xmlns:a16="http://schemas.microsoft.com/office/drawing/2014/main" val="10002"/>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46990" marB="45690"/>
                </a:tc>
                <a:extLst>
                  <a:ext uri="{0D108BD9-81ED-4DB2-BD59-A6C34878D82A}">
                    <a16:rowId xmlns:a16="http://schemas.microsoft.com/office/drawing/2014/main" val="10003"/>
                  </a:ext>
                </a:extLst>
              </a:tr>
            </a:tbl>
          </a:graphicData>
        </a:graphic>
      </p:graphicFrame>
      <p:graphicFrame>
        <p:nvGraphicFramePr>
          <p:cNvPr id="3" name="表格 2"/>
          <p:cNvGraphicFramePr>
            <a:graphicFrameLocks noGrp="1"/>
          </p:cNvGraphicFramePr>
          <p:nvPr>
            <p:custDataLst>
              <p:tags r:id="rId3"/>
            </p:custDataLst>
          </p:nvPr>
        </p:nvGraphicFramePr>
        <p:xfrm>
          <a:off x="805815" y="4131310"/>
          <a:ext cx="3731895" cy="2077696"/>
        </p:xfrm>
        <a:graphic>
          <a:graphicData uri="http://schemas.openxmlformats.org/drawingml/2006/table">
            <a:tbl>
              <a:tblPr firstRow="1" bandRow="1">
                <a:tableStyleId>{5C22544A-7EE6-4342-B048-85BDC9FD1C3A}</a:tableStyleId>
              </a:tblPr>
              <a:tblGrid>
                <a:gridCol w="1243965">
                  <a:extLst>
                    <a:ext uri="{9D8B030D-6E8A-4147-A177-3AD203B41FA5}">
                      <a16:colId xmlns:a16="http://schemas.microsoft.com/office/drawing/2014/main" val="20000"/>
                    </a:ext>
                  </a:extLst>
                </a:gridCol>
                <a:gridCol w="1243965">
                  <a:extLst>
                    <a:ext uri="{9D8B030D-6E8A-4147-A177-3AD203B41FA5}">
                      <a16:colId xmlns:a16="http://schemas.microsoft.com/office/drawing/2014/main" val="20001"/>
                    </a:ext>
                  </a:extLst>
                </a:gridCol>
                <a:gridCol w="1243965">
                  <a:extLst>
                    <a:ext uri="{9D8B030D-6E8A-4147-A177-3AD203B41FA5}">
                      <a16:colId xmlns:a16="http://schemas.microsoft.com/office/drawing/2014/main" val="20002"/>
                    </a:ext>
                  </a:extLst>
                </a:gridCol>
              </a:tblGrid>
              <a:tr h="426720">
                <a:tc>
                  <a:txBody>
                    <a:bodyPr/>
                    <a:lstStyle/>
                    <a:p>
                      <a:pPr algn="ctr"/>
                      <a:r>
                        <a:rPr lang="en-US" altLang="zh-CN" sz="2800" b="1" dirty="0">
                          <a:solidFill>
                            <a:schemeClr val="tx1"/>
                          </a:solidFill>
                        </a:rPr>
                        <a:t>A</a:t>
                      </a:r>
                    </a:p>
                  </a:txBody>
                  <a:tcPr marT="46990" marB="45714">
                    <a:solidFill>
                      <a:schemeClr val="accent3">
                        <a:lumMod val="40000"/>
                        <a:lumOff val="60000"/>
                      </a:schemeClr>
                    </a:solidFill>
                  </a:tcPr>
                </a:tc>
                <a:tc>
                  <a:txBody>
                    <a:bodyPr/>
                    <a:lstStyle/>
                    <a:p>
                      <a:pPr algn="ctr"/>
                      <a:r>
                        <a:rPr lang="en-US" altLang="zh-CN" sz="2800" b="1" dirty="0">
                          <a:solidFill>
                            <a:schemeClr val="tx1"/>
                          </a:solidFill>
                        </a:rPr>
                        <a:t>B</a:t>
                      </a:r>
                    </a:p>
                  </a:txBody>
                  <a:tcPr marT="46990" marB="45714">
                    <a:solidFill>
                      <a:schemeClr val="accent3">
                        <a:lumMod val="40000"/>
                        <a:lumOff val="60000"/>
                      </a:schemeClr>
                    </a:solidFill>
                  </a:tcPr>
                </a:tc>
                <a:tc>
                  <a:txBody>
                    <a:bodyPr/>
                    <a:lstStyle/>
                    <a:p>
                      <a:pPr algn="ctr"/>
                      <a:r>
                        <a:rPr lang="en-US" altLang="zh-CN" sz="2800" b="1" dirty="0">
                          <a:solidFill>
                            <a:schemeClr val="tx1"/>
                          </a:solidFill>
                        </a:rPr>
                        <a:t>C</a:t>
                      </a:r>
                    </a:p>
                  </a:txBody>
                  <a:tcPr marT="46990" marB="45714">
                    <a:solidFill>
                      <a:schemeClr val="accent3">
                        <a:lumMod val="40000"/>
                        <a:lumOff val="60000"/>
                      </a:schemeClr>
                    </a:solidFill>
                  </a:tcPr>
                </a:tc>
                <a:extLst>
                  <a:ext uri="{0D108BD9-81ED-4DB2-BD59-A6C34878D82A}">
                    <a16:rowId xmlns:a16="http://schemas.microsoft.com/office/drawing/2014/main" val="10000"/>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extLst>
                  <a:ext uri="{0D108BD9-81ED-4DB2-BD59-A6C34878D82A}">
                    <a16:rowId xmlns:a16="http://schemas.microsoft.com/office/drawing/2014/main" val="10001"/>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3</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extLst>
                  <a:ext uri="{0D108BD9-81ED-4DB2-BD59-A6C34878D82A}">
                    <a16:rowId xmlns:a16="http://schemas.microsoft.com/office/drawing/2014/main" val="10002"/>
                  </a:ext>
                </a:extLst>
              </a:tr>
              <a:tr h="426720">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a</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b</a:t>
                      </a:r>
                      <a:r>
                        <a:rPr lang="en-US" altLang="zh-CN" sz="2800" b="1" baseline="-25000" dirty="0">
                          <a:solidFill>
                            <a:srgbClr val="1F2DA8"/>
                          </a:solidFill>
                          <a:latin typeface="Times New Roman" panose="02020603050405020304" charset="0"/>
                          <a:cs typeface="Times New Roman" panose="02020603050405020304" charset="0"/>
                        </a:rPr>
                        <a:t>2</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tc>
                  <a:txBody>
                    <a:bodyPr/>
                    <a:lstStyle/>
                    <a:p>
                      <a:pPr algn="ctr">
                        <a:buClrTx/>
                        <a:buSzTx/>
                        <a:buFontTx/>
                      </a:pPr>
                      <a:r>
                        <a:rPr lang="en-US" altLang="zh-CN" sz="2800" b="1" i="1" dirty="0">
                          <a:solidFill>
                            <a:srgbClr val="1F2DA8"/>
                          </a:solidFill>
                          <a:latin typeface="Times New Roman" panose="02020603050405020304" charset="0"/>
                          <a:cs typeface="Times New Roman" panose="02020603050405020304" charset="0"/>
                        </a:rPr>
                        <a:t>c</a:t>
                      </a:r>
                      <a:r>
                        <a:rPr lang="en-US" altLang="zh-CN" sz="2800" b="1" baseline="-25000" dirty="0">
                          <a:solidFill>
                            <a:srgbClr val="1F2DA8"/>
                          </a:solidFill>
                          <a:latin typeface="Times New Roman" panose="02020603050405020304" charset="0"/>
                          <a:cs typeface="Times New Roman" panose="02020603050405020304" charset="0"/>
                        </a:rPr>
                        <a:t>1</a:t>
                      </a:r>
                      <a:endParaRPr lang="en-US" altLang="zh-CN" sz="2800" b="1" i="1" dirty="0">
                        <a:solidFill>
                          <a:srgbClr val="1F2DA8"/>
                        </a:solidFill>
                        <a:latin typeface="Times New Roman" panose="02020603050405020304" charset="0"/>
                        <a:cs typeface="Times New Roman" panose="02020603050405020304" charset="0"/>
                      </a:endParaRPr>
                    </a:p>
                  </a:txBody>
                  <a:tcPr marT="46990" marB="45714"/>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70729" name="TextBox 7"/>
              <p:cNvSpPr txBox="1">
                <a:spLocks noChangeArrowheads="1"/>
              </p:cNvSpPr>
              <p:nvPr/>
            </p:nvSpPr>
            <p:spPr bwMode="auto">
              <a:xfrm>
                <a:off x="2456498" y="580073"/>
                <a:ext cx="432435"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𝑹</m:t>
                      </m:r>
                    </m:oMath>
                  </m:oMathPara>
                </a14:m>
                <a:endParaRPr lang="en-US" altLang="zh-CN" sz="2800" b="1" i="1"/>
              </a:p>
            </p:txBody>
          </p:sp>
        </mc:Choice>
        <mc:Fallback xmlns="">
          <p:sp>
            <p:nvSpPr>
              <p:cNvPr id="70729" name="TextBox 7"/>
              <p:cNvSpPr txBox="1">
                <a:spLocks noRot="1" noChangeAspect="1" noMove="1" noResize="1" noEditPoints="1" noAdjustHandles="1" noChangeArrowheads="1" noChangeShapeType="1" noTextEdit="1"/>
              </p:cNvSpPr>
              <p:nvPr/>
            </p:nvSpPr>
            <p:spPr bwMode="auto">
              <a:xfrm>
                <a:off x="2456498" y="580073"/>
                <a:ext cx="432435" cy="521970"/>
              </a:xfrm>
              <a:prstGeom prst="rect">
                <a:avLst/>
              </a:prstGeom>
              <a:blipFill rotWithShape="1">
                <a:blip r:embed="rId6"/>
                <a:stretch>
                  <a:fillRect l="-74" t="-61" r="-1395" b="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730" name="TextBox 10"/>
              <p:cNvSpPr txBox="1">
                <a:spLocks noChangeArrowheads="1"/>
              </p:cNvSpPr>
              <p:nvPr/>
            </p:nvSpPr>
            <p:spPr bwMode="auto">
              <a:xfrm>
                <a:off x="2475548" y="3675380"/>
                <a:ext cx="393700" cy="521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𝑺</m:t>
                      </m:r>
                    </m:oMath>
                  </m:oMathPara>
                </a14:m>
                <a:endParaRPr lang="en-US" altLang="zh-CN" sz="2800" b="1" i="1"/>
              </a:p>
            </p:txBody>
          </p:sp>
        </mc:Choice>
        <mc:Fallback xmlns="">
          <p:sp>
            <p:nvSpPr>
              <p:cNvPr id="70730" name="TextBox 10"/>
              <p:cNvSpPr txBox="1">
                <a:spLocks noRot="1" noChangeAspect="1" noMove="1" noResize="1" noEditPoints="1" noAdjustHandles="1" noChangeArrowheads="1" noChangeShapeType="1" noTextEdit="1"/>
              </p:cNvSpPr>
              <p:nvPr/>
            </p:nvSpPr>
            <p:spPr bwMode="auto">
              <a:xfrm>
                <a:off x="2475548" y="3675380"/>
                <a:ext cx="393700" cy="521970"/>
              </a:xfrm>
              <a:prstGeom prst="rect">
                <a:avLst/>
              </a:prstGeom>
              <a:blipFill rotWithShape="1">
                <a:blip r:embed="rId7"/>
                <a:stretch>
                  <a:fillRect l="-81" r="-7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565CE74E-AB26-4998-AD42-012C4C1AD076}" type="slidenum">
              <a:rPr lang="zh-CN" altLang="en-US" smtClean="0"/>
              <a:t>30</a:t>
            </a:fld>
            <a:endParaRPr lang="zh-CN" altLang="en-US"/>
          </a:p>
        </p:txBody>
      </p:sp>
      <p:sp>
        <p:nvSpPr>
          <p:cNvPr id="5" name="页脚占位符 4"/>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928">
                                            <p:txEl>
                                              <p:pRg st="0" end="0"/>
                                            </p:txEl>
                                          </p:spTgt>
                                        </p:tgtEl>
                                        <p:attrNameLst>
                                          <p:attrName>style.visibility</p:attrName>
                                        </p:attrNameLst>
                                      </p:cBhvr>
                                      <p:to>
                                        <p:strVal val="visible"/>
                                      </p:to>
                                    </p:set>
                                    <p:animEffect transition="in" filter="blinds(horizontal)">
                                      <p:cBhvr>
                                        <p:cTn id="7" dur="500"/>
                                        <p:tgtEl>
                                          <p:spTgt spid="7692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928" grpId="0" build="allAtOnce" bldLvl="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图</a:t>
            </a:r>
            <a:r>
              <a:rPr lang="en-US" altLang="zh-CN" dirty="0">
                <a:sym typeface="+mn-ea"/>
              </a:rPr>
              <a:t>2.4</a:t>
            </a:r>
            <a:r>
              <a:rPr lang="zh-CN" altLang="en-US" dirty="0">
                <a:sym typeface="+mn-ea"/>
              </a:rPr>
              <a:t>：基础关系 </a:t>
            </a:r>
            <a:r>
              <a:rPr lang="en-US" altLang="zh-CN" dirty="0">
                <a:sym typeface="+mn-ea"/>
              </a:rPr>
              <a:t>1</a:t>
            </a:r>
            <a:endParaRPr lang="zh-CN" altLang="en-US" dirty="0">
              <a:sym typeface="+mn-ea"/>
            </a:endParaRPr>
          </a:p>
        </p:txBody>
      </p:sp>
      <p:sp>
        <p:nvSpPr>
          <p:cNvPr id="4" name="内容占位符 3"/>
          <p:cNvSpPr>
            <a:spLocks noGrp="1"/>
          </p:cNvSpPr>
          <p:nvPr>
            <p:ph idx="1"/>
          </p:nvPr>
        </p:nvSpPr>
        <p:spPr/>
        <p:txBody>
          <a:bodyPr/>
          <a:lstStyle/>
          <a:p>
            <a:pPr eaLnBrk="1" hangingPunct="1">
              <a:lnSpc>
                <a:spcPct val="120000"/>
              </a:lnSpc>
            </a:pPr>
            <a:r>
              <a:rPr lang="zh-CN" altLang="en-US">
                <a:sym typeface="+mn-ea"/>
              </a:rPr>
              <a:t>学生</a:t>
            </a:r>
            <a:r>
              <a:rPr lang="en-US" altLang="zh-CN">
                <a:sym typeface="+mn-ea"/>
              </a:rPr>
              <a:t>-</a:t>
            </a:r>
            <a:r>
              <a:rPr lang="zh-CN" altLang="en-US">
                <a:sym typeface="+mn-ea"/>
              </a:rPr>
              <a:t>课程数据库</a:t>
            </a:r>
            <a:r>
              <a:rPr lang="en-US" altLang="zh-CN">
                <a:sym typeface="+mn-ea"/>
              </a:rPr>
              <a:t>:</a:t>
            </a:r>
            <a:endParaRPr lang="en-US" altLang="zh-CN" b="1"/>
          </a:p>
          <a:p>
            <a:pPr marL="457200" lvl="1" indent="0" eaLnBrk="1" hangingPunct="1">
              <a:lnSpc>
                <a:spcPct val="120000"/>
              </a:lnSpc>
              <a:buNone/>
            </a:pPr>
            <a:r>
              <a:rPr lang="zh-CN" altLang="en-US">
                <a:sym typeface="+mn-ea"/>
              </a:rPr>
              <a:t>学生关系</a:t>
            </a:r>
            <a:r>
              <a:rPr lang="en-US" altLang="zh-CN">
                <a:sym typeface="+mn-ea"/>
              </a:rPr>
              <a:t>Student</a:t>
            </a:r>
            <a:r>
              <a:rPr lang="zh-CN" altLang="en-US">
                <a:sym typeface="+mn-ea"/>
              </a:rPr>
              <a:t>、课程关系</a:t>
            </a:r>
            <a:r>
              <a:rPr lang="en-US" altLang="zh-CN">
                <a:sym typeface="+mn-ea"/>
              </a:rPr>
              <a:t>Course</a:t>
            </a:r>
            <a:r>
              <a:rPr lang="zh-CN" altLang="en-US">
                <a:sym typeface="+mn-ea"/>
              </a:rPr>
              <a:t>、选修关系</a:t>
            </a:r>
            <a:r>
              <a:rPr lang="en-US" altLang="zh-CN">
                <a:sym typeface="+mn-ea"/>
              </a:rPr>
              <a:t>SC</a:t>
            </a:r>
            <a:endParaRPr lang="zh-CN" altLang="en-US"/>
          </a:p>
        </p:txBody>
      </p:sp>
      <p:graphicFrame>
        <p:nvGraphicFramePr>
          <p:cNvPr id="341263" name="Group 271"/>
          <p:cNvGraphicFramePr>
            <a:graphicFrameLocks noGrp="1"/>
          </p:cNvGraphicFramePr>
          <p:nvPr>
            <p:ph type="tbl" idx="4294967295"/>
            <p:custDataLst>
              <p:tags r:id="rId1"/>
            </p:custDataLst>
          </p:nvPr>
        </p:nvGraphicFramePr>
        <p:xfrm>
          <a:off x="713105" y="2743200"/>
          <a:ext cx="10748010" cy="3028180"/>
        </p:xfrm>
        <a:graphic>
          <a:graphicData uri="http://schemas.openxmlformats.org/drawingml/2006/table">
            <a:tbl>
              <a:tblPr>
                <a:tableStyleId>{2D5ABB26-0587-4C30-8999-92F81FD0307C}</a:tableStyleId>
              </a:tblPr>
              <a:tblGrid>
                <a:gridCol w="2150745">
                  <a:extLst>
                    <a:ext uri="{9D8B030D-6E8A-4147-A177-3AD203B41FA5}">
                      <a16:colId xmlns:a16="http://schemas.microsoft.com/office/drawing/2014/main" val="20000"/>
                    </a:ext>
                  </a:extLst>
                </a:gridCol>
                <a:gridCol w="2149475">
                  <a:extLst>
                    <a:ext uri="{9D8B030D-6E8A-4147-A177-3AD203B41FA5}">
                      <a16:colId xmlns:a16="http://schemas.microsoft.com/office/drawing/2014/main" val="20001"/>
                    </a:ext>
                  </a:extLst>
                </a:gridCol>
                <a:gridCol w="2147570">
                  <a:extLst>
                    <a:ext uri="{9D8B030D-6E8A-4147-A177-3AD203B41FA5}">
                      <a16:colId xmlns:a16="http://schemas.microsoft.com/office/drawing/2014/main" val="20002"/>
                    </a:ext>
                  </a:extLst>
                </a:gridCol>
                <a:gridCol w="2150745">
                  <a:extLst>
                    <a:ext uri="{9D8B030D-6E8A-4147-A177-3AD203B41FA5}">
                      <a16:colId xmlns:a16="http://schemas.microsoft.com/office/drawing/2014/main" val="20003"/>
                    </a:ext>
                  </a:extLst>
                </a:gridCol>
                <a:gridCol w="2149475">
                  <a:extLst>
                    <a:ext uri="{9D8B030D-6E8A-4147-A177-3AD203B41FA5}">
                      <a16:colId xmlns:a16="http://schemas.microsoft.com/office/drawing/2014/main" val="20004"/>
                    </a:ext>
                  </a:extLst>
                </a:gridCol>
              </a:tblGrid>
              <a:tr h="831181">
                <a:tc>
                  <a:txBody>
                    <a:bodyPr/>
                    <a:lstStyle/>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zh-CN" altLang="en-US" sz="2800" b="1" u="none" strike="noStrike" cap="none" normalizeH="0" baseline="0" dirty="0">
                          <a:ln>
                            <a:noFill/>
                          </a:ln>
                          <a:effectLst/>
                          <a:latin typeface="楷体" panose="02010609060101010101" charset="-122"/>
                          <a:ea typeface="楷体" panose="02010609060101010101" charset="-122"/>
                          <a:cs typeface="楷体" panose="02010609060101010101" charset="-122"/>
                        </a:rPr>
                        <a:t>学号</a:t>
                      </a:r>
                    </a:p>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en-US" altLang="zh-CN" sz="2800" b="1" u="none" strike="noStrike" cap="none" normalizeH="0" baseline="0" dirty="0" err="1">
                          <a:ln>
                            <a:noFill/>
                          </a:ln>
                          <a:effectLst/>
                          <a:latin typeface="楷体" panose="02010609060101010101" charset="-122"/>
                          <a:ea typeface="楷体" panose="02010609060101010101" charset="-122"/>
                          <a:cs typeface="楷体" panose="02010609060101010101" charset="-122"/>
                        </a:rPr>
                        <a:t>Sno</a:t>
                      </a:r>
                      <a:endParaRPr kumimoji="0" lang="en-US" altLang="zh-CN"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zh-CN" altLang="en-US" sz="2800" b="1" u="none" strike="noStrike" cap="none" normalizeH="0" baseline="0" dirty="0">
                          <a:ln>
                            <a:noFill/>
                          </a:ln>
                          <a:effectLst/>
                          <a:latin typeface="楷体" panose="02010609060101010101" charset="-122"/>
                          <a:ea typeface="楷体" panose="02010609060101010101" charset="-122"/>
                          <a:cs typeface="楷体" panose="02010609060101010101" charset="-122"/>
                        </a:rPr>
                        <a:t>姓名</a:t>
                      </a:r>
                    </a:p>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en-US" altLang="zh-CN" sz="2800" b="1" u="none" strike="noStrike" cap="none" normalizeH="0" baseline="0" dirty="0" err="1">
                          <a:ln>
                            <a:noFill/>
                          </a:ln>
                          <a:effectLst/>
                          <a:latin typeface="楷体" panose="02010609060101010101" charset="-122"/>
                          <a:ea typeface="楷体" panose="02010609060101010101" charset="-122"/>
                          <a:cs typeface="楷体" panose="02010609060101010101" charset="-122"/>
                        </a:rPr>
                        <a:t>Sname</a:t>
                      </a:r>
                      <a:endParaRPr kumimoji="0" lang="en-US" altLang="zh-CN"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zh-CN" altLang="en-US" sz="2800" b="1" u="none" strike="noStrike" cap="none" normalizeH="0" baseline="0" dirty="0">
                          <a:ln>
                            <a:noFill/>
                          </a:ln>
                          <a:effectLst/>
                          <a:latin typeface="楷体" panose="02010609060101010101" charset="-122"/>
                          <a:ea typeface="楷体" panose="02010609060101010101" charset="-122"/>
                          <a:cs typeface="楷体" panose="02010609060101010101" charset="-122"/>
                        </a:rPr>
                        <a:t>性别</a:t>
                      </a:r>
                    </a:p>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en-US" altLang="zh-CN" sz="2800" b="1" u="none" strike="noStrike" cap="none" normalizeH="0" baseline="0" dirty="0" err="1">
                          <a:ln>
                            <a:noFill/>
                          </a:ln>
                          <a:effectLst/>
                          <a:latin typeface="楷体" panose="02010609060101010101" charset="-122"/>
                          <a:ea typeface="楷体" panose="02010609060101010101" charset="-122"/>
                          <a:cs typeface="楷体" panose="02010609060101010101" charset="-122"/>
                        </a:rPr>
                        <a:t>Ssex</a:t>
                      </a:r>
                      <a:endParaRPr kumimoji="0" lang="en-US" altLang="zh-CN"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zh-CN" altLang="en-US" sz="2800" b="1" u="none" strike="noStrike" cap="none" normalizeH="0" baseline="0">
                          <a:ln>
                            <a:noFill/>
                          </a:ln>
                          <a:effectLst/>
                          <a:latin typeface="楷体" panose="02010609060101010101" charset="-122"/>
                          <a:ea typeface="楷体" panose="02010609060101010101" charset="-122"/>
                          <a:cs typeface="楷体" panose="02010609060101010101" charset="-122"/>
                        </a:rPr>
                        <a:t>年龄</a:t>
                      </a:r>
                    </a:p>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en-US" altLang="zh-CN" sz="2800" b="1" u="none" strike="noStrike" cap="none" normalizeH="0" baseline="0">
                          <a:ln>
                            <a:noFill/>
                          </a:ln>
                          <a:effectLst/>
                          <a:latin typeface="楷体" panose="02010609060101010101" charset="-122"/>
                          <a:ea typeface="楷体" panose="02010609060101010101" charset="-122"/>
                          <a:cs typeface="楷体" panose="02010609060101010101" charset="-122"/>
                        </a:rPr>
                        <a:t>Sage</a:t>
                      </a:r>
                      <a:endPar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zh-CN" altLang="en-US" sz="2800" b="1" u="none" strike="noStrike" cap="none" normalizeH="0" baseline="0">
                          <a:ln>
                            <a:noFill/>
                          </a:ln>
                          <a:effectLst/>
                          <a:latin typeface="楷体" panose="02010609060101010101" charset="-122"/>
                          <a:ea typeface="楷体" panose="02010609060101010101" charset="-122"/>
                          <a:cs typeface="楷体" panose="02010609060101010101" charset="-122"/>
                        </a:rPr>
                        <a:t>所在系</a:t>
                      </a:r>
                    </a:p>
                    <a:p>
                      <a:pPr marR="0" lvl="0" indent="0" algn="ctr" defTabSz="914400" rtl="0" fontAlgn="base">
                        <a:lnSpc>
                          <a:spcPct val="100000"/>
                        </a:lnSpc>
                        <a:spcBef>
                          <a:spcPts val="0"/>
                        </a:spcBef>
                        <a:spcAft>
                          <a:spcPct val="0"/>
                        </a:spcAft>
                        <a:buClr>
                          <a:schemeClr val="hlink"/>
                        </a:buClr>
                        <a:buSzTx/>
                        <a:buFont typeface="Wingdings" panose="05000000000000000000" pitchFamily="2" charset="2"/>
                        <a:buNone/>
                      </a:pPr>
                      <a:r>
                        <a:rPr kumimoji="0" lang="en-US" altLang="zh-CN" sz="2800" b="1" u="none" strike="noStrike" cap="none" normalizeH="0" baseline="0">
                          <a:ln>
                            <a:noFill/>
                          </a:ln>
                          <a:effectLst/>
                          <a:latin typeface="楷体" panose="02010609060101010101" charset="-122"/>
                          <a:ea typeface="楷体" panose="02010609060101010101" charset="-122"/>
                          <a:cs typeface="楷体" panose="02010609060101010101" charset="-122"/>
                        </a:rPr>
                        <a:t>Sdept</a:t>
                      </a:r>
                      <a:endPar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50601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201215121</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dirty="0">
                          <a:ln>
                            <a:noFill/>
                          </a:ln>
                          <a:solidFill>
                            <a:srgbClr val="1F2DA8"/>
                          </a:solidFill>
                          <a:effectLst/>
                          <a:latin typeface="楷体" panose="02010609060101010101" charset="-122"/>
                          <a:ea typeface="楷体" panose="02010609060101010101" charset="-122"/>
                        </a:rPr>
                        <a:t>李勇</a:t>
                      </a:r>
                      <a:endParaRPr kumimoji="0" lang="zh-CN" altLang="en-US"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dirty="0">
                          <a:ln>
                            <a:noFill/>
                          </a:ln>
                          <a:solidFill>
                            <a:srgbClr val="1F2DA8"/>
                          </a:solidFill>
                          <a:effectLst/>
                          <a:latin typeface="楷体" panose="02010609060101010101" charset="-122"/>
                          <a:ea typeface="楷体" panose="02010609060101010101" charset="-122"/>
                        </a:rPr>
                        <a:t>男</a:t>
                      </a:r>
                      <a:endParaRPr kumimoji="0" lang="zh-CN" altLang="en-US"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20</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CS</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04766">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201215122</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a:ln>
                            <a:noFill/>
                          </a:ln>
                          <a:solidFill>
                            <a:srgbClr val="1F2DA8"/>
                          </a:solidFill>
                          <a:effectLst/>
                          <a:latin typeface="楷体" panose="02010609060101010101" charset="-122"/>
                          <a:ea typeface="楷体" panose="02010609060101010101" charset="-122"/>
                        </a:rPr>
                        <a:t>刘晨</a:t>
                      </a:r>
                      <a:endPar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dirty="0">
                          <a:ln>
                            <a:noFill/>
                          </a:ln>
                          <a:solidFill>
                            <a:srgbClr val="1F2DA8"/>
                          </a:solidFill>
                          <a:effectLst/>
                          <a:latin typeface="楷体" panose="02010609060101010101" charset="-122"/>
                          <a:ea typeface="楷体" panose="02010609060101010101" charset="-122"/>
                        </a:rPr>
                        <a:t>女</a:t>
                      </a:r>
                      <a:endParaRPr kumimoji="0" lang="zh-CN" altLang="en-US"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19</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CS</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04766">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201215123</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a:ln>
                            <a:noFill/>
                          </a:ln>
                          <a:solidFill>
                            <a:srgbClr val="1F2DA8"/>
                          </a:solidFill>
                          <a:effectLst/>
                          <a:latin typeface="楷体" panose="02010609060101010101" charset="-122"/>
                          <a:ea typeface="楷体" panose="02010609060101010101" charset="-122"/>
                        </a:rPr>
                        <a:t>王敏</a:t>
                      </a:r>
                      <a:endPar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a:ln>
                            <a:noFill/>
                          </a:ln>
                          <a:solidFill>
                            <a:srgbClr val="1F2DA8"/>
                          </a:solidFill>
                          <a:effectLst/>
                          <a:latin typeface="楷体" panose="02010609060101010101" charset="-122"/>
                          <a:ea typeface="楷体" panose="02010609060101010101" charset="-122"/>
                        </a:rPr>
                        <a:t>女</a:t>
                      </a:r>
                      <a:endPar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18</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MA</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0601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201215125</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dirty="0">
                          <a:ln>
                            <a:noFill/>
                          </a:ln>
                          <a:solidFill>
                            <a:srgbClr val="1F2DA8"/>
                          </a:solidFill>
                          <a:effectLst/>
                          <a:latin typeface="楷体" panose="02010609060101010101" charset="-122"/>
                          <a:ea typeface="楷体" panose="02010609060101010101" charset="-122"/>
                        </a:rPr>
                        <a:t>张立</a:t>
                      </a:r>
                      <a:endParaRPr kumimoji="0" lang="zh-CN" altLang="en-US"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u="none" strike="noStrike" cap="none" normalizeH="0" baseline="0">
                          <a:ln>
                            <a:noFill/>
                          </a:ln>
                          <a:solidFill>
                            <a:srgbClr val="1F2DA8"/>
                          </a:solidFill>
                          <a:effectLst/>
                          <a:latin typeface="楷体" panose="02010609060101010101" charset="-122"/>
                          <a:ea typeface="楷体" panose="02010609060101010101" charset="-122"/>
                        </a:rPr>
                        <a:t>男</a:t>
                      </a:r>
                      <a:endPar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a:ln>
                            <a:noFill/>
                          </a:ln>
                          <a:solidFill>
                            <a:srgbClr val="1F2DA8"/>
                          </a:solidFill>
                          <a:effectLst/>
                          <a:latin typeface="楷体" panose="02010609060101010101" charset="-122"/>
                          <a:ea typeface="楷体" panose="02010609060101010101" charset="-122"/>
                        </a:rPr>
                        <a:t>19</a:t>
                      </a:r>
                      <a:endPar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u="none" strike="noStrike" cap="none" normalizeH="0" baseline="0" dirty="0">
                          <a:ln>
                            <a:noFill/>
                          </a:ln>
                          <a:solidFill>
                            <a:srgbClr val="1F2DA8"/>
                          </a:solidFill>
                          <a:effectLst/>
                          <a:latin typeface="楷体" panose="02010609060101010101" charset="-122"/>
                          <a:ea typeface="楷体" panose="02010609060101010101" charset="-122"/>
                        </a:rPr>
                        <a:t>IS</a:t>
                      </a:r>
                      <a:endPar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84996" name="Rectangle 83"/>
          <p:cNvSpPr>
            <a:spLocks noChangeArrowheads="1"/>
          </p:cNvSpPr>
          <p:nvPr>
            <p:custDataLst>
              <p:tags r:id="rId2"/>
            </p:custDataLst>
          </p:nvPr>
        </p:nvSpPr>
        <p:spPr bwMode="auto">
          <a:xfrm>
            <a:off x="2862580" y="2133600"/>
            <a:ext cx="6435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t>学生关系</a:t>
            </a:r>
            <a:r>
              <a:rPr lang="en-US" altLang="zh-CN" sz="2800" b="1"/>
              <a:t> Student</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31</a:t>
            </a:fld>
            <a:endParaRPr lang="zh-CN" altLang="en-US"/>
          </a:p>
        </p:txBody>
      </p:sp>
      <p:sp>
        <p:nvSpPr>
          <p:cNvPr id="6" name="页脚占位符 5"/>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zh-CN" altLang="en-US" dirty="0">
                <a:sym typeface="+mn-ea"/>
              </a:rPr>
              <a:t>图</a:t>
            </a:r>
            <a:r>
              <a:rPr lang="en-US" altLang="zh-CN" dirty="0">
                <a:sym typeface="+mn-ea"/>
              </a:rPr>
              <a:t>2.4</a:t>
            </a:r>
            <a:r>
              <a:rPr lang="zh-CN" altLang="en-US" dirty="0">
                <a:sym typeface="+mn-ea"/>
              </a:rPr>
              <a:t>：</a:t>
            </a:r>
            <a:r>
              <a:rPr lang="zh-CN" altLang="en-US" dirty="0"/>
              <a:t>基础关系 </a:t>
            </a:r>
            <a:r>
              <a:rPr lang="en-US" altLang="zh-CN" dirty="0"/>
              <a:t>2</a:t>
            </a:r>
          </a:p>
        </p:txBody>
      </p:sp>
      <p:graphicFrame>
        <p:nvGraphicFramePr>
          <p:cNvPr id="342591" name="Group 575"/>
          <p:cNvGraphicFramePr>
            <a:graphicFrameLocks noGrp="1"/>
          </p:cNvGraphicFramePr>
          <p:nvPr>
            <p:ph type="tbl" idx="4294967295"/>
            <p:custDataLst>
              <p:tags r:id="rId1"/>
            </p:custDataLst>
          </p:nvPr>
        </p:nvGraphicFramePr>
        <p:xfrm>
          <a:off x="1094105" y="1268730"/>
          <a:ext cx="9779635" cy="4845050"/>
        </p:xfrm>
        <a:graphic>
          <a:graphicData uri="http://schemas.openxmlformats.org/drawingml/2006/table">
            <a:tbl>
              <a:tblPr/>
              <a:tblGrid>
                <a:gridCol w="1978660">
                  <a:extLst>
                    <a:ext uri="{9D8B030D-6E8A-4147-A177-3AD203B41FA5}">
                      <a16:colId xmlns:a16="http://schemas.microsoft.com/office/drawing/2014/main" val="20000"/>
                    </a:ext>
                  </a:extLst>
                </a:gridCol>
                <a:gridCol w="3055620">
                  <a:extLst>
                    <a:ext uri="{9D8B030D-6E8A-4147-A177-3AD203B41FA5}">
                      <a16:colId xmlns:a16="http://schemas.microsoft.com/office/drawing/2014/main" val="20001"/>
                    </a:ext>
                  </a:extLst>
                </a:gridCol>
                <a:gridCol w="2301240">
                  <a:extLst>
                    <a:ext uri="{9D8B030D-6E8A-4147-A177-3AD203B41FA5}">
                      <a16:colId xmlns:a16="http://schemas.microsoft.com/office/drawing/2014/main" val="20002"/>
                    </a:ext>
                  </a:extLst>
                </a:gridCol>
                <a:gridCol w="2444115">
                  <a:extLst>
                    <a:ext uri="{9D8B030D-6E8A-4147-A177-3AD203B41FA5}">
                      <a16:colId xmlns:a16="http://schemas.microsoft.com/office/drawing/2014/main" val="20003"/>
                    </a:ext>
                  </a:extLst>
                </a:gridCol>
              </a:tblGrid>
              <a:tr h="99949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rPr>
                        <a:t>课程号</a:t>
                      </a:r>
                    </a:p>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Cno</a:t>
                      </a:r>
                      <a:endParaRPr kumimoji="0" lang="en-US" altLang="zh-CN"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课程名</a:t>
                      </a:r>
                    </a:p>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Cname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先行课</a:t>
                      </a:r>
                    </a:p>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Cpno</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学分</a:t>
                      </a:r>
                    </a:p>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Ccredit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5492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楷体" panose="02010609060101010101" charset="-122"/>
                          <a:ea typeface="楷体" panose="02010609060101010101" charset="-122"/>
                        </a:rPr>
                        <a:t>数据库</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1"/>
                  </a:ext>
                </a:extLst>
              </a:tr>
              <a:tr h="5492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rPr>
                        <a:t>数学</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2"/>
                  </a:ext>
                </a:extLst>
              </a:tr>
              <a:tr h="5492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rPr>
                        <a:t>信息系统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3"/>
                  </a:ext>
                </a:extLst>
              </a:tr>
              <a:tr h="54991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rPr>
                        <a:t>操作系统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4"/>
                  </a:ext>
                </a:extLst>
              </a:tr>
              <a:tr h="5492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rPr>
                        <a:t>数据结构</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5"/>
                  </a:ext>
                </a:extLst>
              </a:tr>
              <a:tr h="5492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rPr>
                        <a:t>数据处理</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6"/>
                  </a:ext>
                </a:extLst>
              </a:tr>
              <a:tr h="54927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cs typeface="楷体" panose="02010609060101010101" charset="-122"/>
                        </a:rPr>
                        <a:t>PASCAL</a:t>
                      </a:r>
                      <a:r>
                        <a:rPr kumimoji="0" lang="zh-CN" altLang="en-US" sz="2800" b="1" i="0" u="none" strike="noStrike" cap="none" normalizeH="0" baseline="0">
                          <a:ln>
                            <a:noFill/>
                          </a:ln>
                          <a:solidFill>
                            <a:srgbClr val="1F2DA8"/>
                          </a:solidFill>
                          <a:effectLst/>
                          <a:latin typeface="楷体" panose="02010609060101010101" charset="-122"/>
                          <a:ea typeface="楷体" panose="02010609060101010101" charset="-122"/>
                          <a:cs typeface="楷体" panose="02010609060101010101" charset="-122"/>
                        </a:rPr>
                        <a:t>语言</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7"/>
                  </a:ext>
                </a:extLst>
              </a:tr>
            </a:tbl>
          </a:graphicData>
        </a:graphic>
      </p:graphicFrame>
      <p:sp>
        <p:nvSpPr>
          <p:cNvPr id="86066" name="Text Box 502"/>
          <p:cNvSpPr txBox="1">
            <a:spLocks noChangeArrowheads="1"/>
          </p:cNvSpPr>
          <p:nvPr/>
        </p:nvSpPr>
        <p:spPr bwMode="auto">
          <a:xfrm>
            <a:off x="4359910" y="745490"/>
            <a:ext cx="3472815"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t>课程关系</a:t>
            </a:r>
            <a:r>
              <a:rPr lang="en-US" altLang="zh-CN" sz="2800" b="1" dirty="0"/>
              <a:t> Course</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32</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dirty="0">
                <a:sym typeface="+mn-ea"/>
              </a:rPr>
              <a:t>图</a:t>
            </a:r>
            <a:r>
              <a:rPr lang="en-US" altLang="zh-CN" dirty="0">
                <a:sym typeface="+mn-ea"/>
              </a:rPr>
              <a:t>2.4</a:t>
            </a:r>
            <a:r>
              <a:rPr lang="zh-CN" altLang="en-US" dirty="0">
                <a:sym typeface="+mn-ea"/>
              </a:rPr>
              <a:t>：</a:t>
            </a:r>
            <a:r>
              <a:rPr lang="zh-CN" altLang="en-US" dirty="0"/>
              <a:t>基础关系 </a:t>
            </a:r>
            <a:r>
              <a:rPr lang="en-US" altLang="zh-CN" dirty="0"/>
              <a:t>3</a:t>
            </a:r>
          </a:p>
        </p:txBody>
      </p:sp>
      <p:graphicFrame>
        <p:nvGraphicFramePr>
          <p:cNvPr id="344448" name="Group 384"/>
          <p:cNvGraphicFramePr>
            <a:graphicFrameLocks noGrp="1"/>
          </p:cNvGraphicFramePr>
          <p:nvPr>
            <p:ph type="tbl" idx="4294967295"/>
          </p:nvPr>
        </p:nvGraphicFramePr>
        <p:xfrm>
          <a:off x="2459355" y="1567815"/>
          <a:ext cx="7272020" cy="3863465"/>
        </p:xfrm>
        <a:graphic>
          <a:graphicData uri="http://schemas.openxmlformats.org/drawingml/2006/table">
            <a:tbl>
              <a:tblPr/>
              <a:tblGrid>
                <a:gridCol w="3082290">
                  <a:extLst>
                    <a:ext uri="{9D8B030D-6E8A-4147-A177-3AD203B41FA5}">
                      <a16:colId xmlns:a16="http://schemas.microsoft.com/office/drawing/2014/main" val="20000"/>
                    </a:ext>
                  </a:extLst>
                </a:gridCol>
                <a:gridCol w="2094865">
                  <a:extLst>
                    <a:ext uri="{9D8B030D-6E8A-4147-A177-3AD203B41FA5}">
                      <a16:colId xmlns:a16="http://schemas.microsoft.com/office/drawing/2014/main" val="20001"/>
                    </a:ext>
                  </a:extLst>
                </a:gridCol>
                <a:gridCol w="2094865">
                  <a:extLst>
                    <a:ext uri="{9D8B030D-6E8A-4147-A177-3AD203B41FA5}">
                      <a16:colId xmlns:a16="http://schemas.microsoft.com/office/drawing/2014/main" val="20002"/>
                    </a:ext>
                  </a:extLst>
                </a:gridCol>
              </a:tblGrid>
              <a:tr h="83185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Sno</a:t>
                      </a:r>
                      <a:endParaRPr kumimoji="0" lang="en-US" altLang="zh-CN"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Cno</a:t>
                      </a:r>
                      <a:endParaRPr kumimoji="0" lang="en-US" altLang="zh-CN" sz="2800" b="1" i="0" u="none" strike="noStrike" cap="none" normalizeH="0" baseline="0" dirty="0">
                        <a:ln>
                          <a:noFill/>
                        </a:ln>
                        <a:solidFill>
                          <a:schemeClr val="tx1"/>
                        </a:solidFill>
                        <a:effectLst/>
                        <a:latin typeface="楷体" panose="02010609060101010101" charset="-122"/>
                        <a:ea typeface="楷体" panose="02010609060101010101" charset="-122"/>
                        <a:cs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Grade</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57785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92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57721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85</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45910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3</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88</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57912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201215122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90</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r h="57658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201215122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3</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80</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87046" name="Rectangle 185"/>
          <p:cNvSpPr>
            <a:spLocks noChangeArrowheads="1"/>
          </p:cNvSpPr>
          <p:nvPr/>
        </p:nvSpPr>
        <p:spPr bwMode="auto">
          <a:xfrm>
            <a:off x="4780280" y="922655"/>
            <a:ext cx="282130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t>选修关系</a:t>
            </a:r>
            <a:r>
              <a:rPr lang="en-US" altLang="zh-CN" sz="2800" b="1" dirty="0"/>
              <a:t> SC</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33</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选择 </a:t>
            </a:r>
            <a:r>
              <a:rPr lang="en-US" altLang="zh-CN"/>
              <a:t>1</a:t>
            </a:r>
            <a:endParaRPr lang="zh-CN" altLang="en-US" dirty="0"/>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p:txBody>
              <a:bodyPr>
                <a:noAutofit/>
              </a:bodyPr>
              <a:lstStyle/>
              <a:p>
                <a:pPr algn="just" fontAlgn="auto">
                  <a:lnSpc>
                    <a:spcPct val="100000"/>
                  </a:lnSpc>
                  <a:spcBef>
                    <a:spcPts val="1000"/>
                  </a:spcBef>
                </a:pPr>
                <a:r>
                  <a:rPr lang="zh-CN" altLang="en-US" sz="2800" dirty="0"/>
                  <a:t>选择（</a:t>
                </a:r>
                <a:r>
                  <a:rPr lang="en-US" altLang="zh-CN" sz="2800" dirty="0"/>
                  <a:t>Selection</a:t>
                </a:r>
                <a:r>
                  <a:rPr lang="zh-CN" altLang="en-US" sz="2800" dirty="0"/>
                  <a:t>）又称为限制（</a:t>
                </a:r>
                <a:r>
                  <a:rPr lang="en-US" altLang="zh-CN" sz="2800" dirty="0"/>
                  <a:t>Restriction</a:t>
                </a:r>
                <a:r>
                  <a:rPr lang="zh-CN" altLang="en-US" sz="2800" dirty="0"/>
                  <a:t>）</a:t>
                </a:r>
              </a:p>
              <a:p>
                <a:pPr algn="just" fontAlgn="auto">
                  <a:lnSpc>
                    <a:spcPct val="100000"/>
                  </a:lnSpc>
                  <a:spcBef>
                    <a:spcPts val="1000"/>
                  </a:spcBef>
                </a:pPr>
                <a:r>
                  <a:rPr lang="zh-CN" altLang="en-US" sz="2800" dirty="0"/>
                  <a:t>选择运算符的含义：</a:t>
                </a:r>
                <a14:m>
                  <m:oMath xmlns:m="http://schemas.openxmlformats.org/officeDocument/2006/math">
                    <m:r>
                      <a:rPr lang="en-US" altLang="zh-CN" sz="2800" i="1" dirty="0" err="1">
                        <a:solidFill>
                          <a:srgbClr val="FF0000"/>
                        </a:solidFill>
                        <a:latin typeface="Cambria Math" panose="02040503050406030204" charset="0"/>
                        <a:cs typeface="Cambria Math" panose="02040503050406030204" charset="0"/>
                      </a:rPr>
                      <m:t>𝜎</m:t>
                    </m:r>
                    <m:r>
                      <a:rPr lang="en-US" altLang="zh-CN" sz="2800" i="1" baseline="-30000" dirty="0" err="1">
                        <a:solidFill>
                          <a:srgbClr val="FF0000"/>
                        </a:solidFill>
                        <a:latin typeface="Cambria Math" panose="02040503050406030204" charset="0"/>
                        <a:cs typeface="Cambria Math" panose="02040503050406030204" charset="0"/>
                      </a:rPr>
                      <m:t>𝐹</m:t>
                    </m:r>
                    <m:r>
                      <a:rPr lang="en-US" altLang="zh-CN" sz="2800" i="1"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𝑅</m:t>
                    </m:r>
                    <m:r>
                      <a:rPr lang="en-US" altLang="zh-CN" sz="2800" i="1" dirty="0">
                        <a:solidFill>
                          <a:srgbClr val="FF0000"/>
                        </a:solidFill>
                        <a:latin typeface="Cambria Math" panose="02040503050406030204" charset="0"/>
                        <a:cs typeface="Cambria Math" panose="02040503050406030204" charset="0"/>
                      </a:rPr>
                      <m:t>)</m:t>
                    </m:r>
                  </m:oMath>
                </a14:m>
                <a:endParaRPr lang="zh-CN" altLang="en-US" sz="2800" dirty="0"/>
              </a:p>
              <a:p>
                <a:pPr lvl="1" algn="just" fontAlgn="auto">
                  <a:lnSpc>
                    <a:spcPct val="100000"/>
                  </a:lnSpc>
                  <a:spcBef>
                    <a:spcPts val="1000"/>
                  </a:spcBef>
                </a:pPr>
                <a:r>
                  <a:rPr lang="zh-CN" altLang="en-US" sz="2400" dirty="0"/>
                  <a:t>在关系</a:t>
                </a:r>
                <a14:m>
                  <m:oMath xmlns:m="http://schemas.openxmlformats.org/officeDocument/2006/math">
                    <m:r>
                      <a:rPr lang="en-US" altLang="zh-CN" sz="2400" i="1" dirty="0">
                        <a:latin typeface="Cambria Math" panose="02040503050406030204" charset="0"/>
                        <a:cs typeface="Cambria Math" panose="02040503050406030204" charset="0"/>
                      </a:rPr>
                      <m:t>𝑅</m:t>
                    </m:r>
                  </m:oMath>
                </a14:m>
                <a:r>
                  <a:rPr lang="zh-CN" altLang="en-US" sz="2400" dirty="0"/>
                  <a:t>中选择满足给定条件</a:t>
                </a:r>
                <a14:m>
                  <m:oMath xmlns:m="http://schemas.openxmlformats.org/officeDocument/2006/math">
                    <m:r>
                      <a:rPr lang="en-US" altLang="zh-CN" sz="2400" i="1" dirty="0">
                        <a:latin typeface="Cambria Math" panose="02040503050406030204" charset="0"/>
                        <a:cs typeface="Cambria Math" panose="02040503050406030204" charset="0"/>
                      </a:rPr>
                      <m:t>𝐹</m:t>
                    </m:r>
                  </m:oMath>
                </a14:m>
                <a:r>
                  <a:rPr lang="zh-CN" altLang="en-US" sz="2400" dirty="0"/>
                  <a:t>的诸元组</a:t>
                </a:r>
              </a:p>
              <a:p>
                <a:pPr lvl="3" algn="ctr" fontAlgn="auto">
                  <a:lnSpc>
                    <a:spcPct val="100000"/>
                  </a:lnSpc>
                  <a:spcBef>
                    <a:spcPts val="1000"/>
                  </a:spcBef>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zh-CN" sz="2400" i="1" dirty="0" err="1">
                          <a:solidFill>
                            <a:srgbClr val="FF0000"/>
                          </a:solidFill>
                          <a:latin typeface="Cambria Math" panose="02040503050406030204" charset="0"/>
                          <a:cs typeface="Cambria Math" panose="02040503050406030204" charset="0"/>
                        </a:rPr>
                        <m:t>𝜎</m:t>
                      </m:r>
                      <m:r>
                        <a:rPr lang="en-US" altLang="zh-CN" sz="2400" i="1" baseline="-30000" dirty="0" err="1">
                          <a:solidFill>
                            <a:srgbClr val="FF0000"/>
                          </a:solidFill>
                          <a:latin typeface="Cambria Math" panose="02040503050406030204" charset="0"/>
                          <a:cs typeface="Cambria Math" panose="02040503050406030204" charset="0"/>
                        </a:rPr>
                        <m:t>𝐹</m:t>
                      </m:r>
                      <m:r>
                        <a:rPr lang="en-US" altLang="zh-CN" sz="2400" i="1" dirty="0">
                          <a:solidFill>
                            <a:srgbClr val="FF0000"/>
                          </a:solidFill>
                          <a:latin typeface="Cambria Math" panose="02040503050406030204" charset="0"/>
                          <a:cs typeface="Cambria Math" panose="02040503050406030204" charset="0"/>
                        </a:rPr>
                        <m:t>(</m:t>
                      </m:r>
                      <m:r>
                        <a:rPr lang="en-US" altLang="zh-CN" sz="2400" i="1" dirty="0">
                          <a:solidFill>
                            <a:srgbClr val="FF0000"/>
                          </a:solidFill>
                          <a:latin typeface="Cambria Math" panose="02040503050406030204" charset="0"/>
                          <a:cs typeface="Cambria Math" panose="02040503050406030204" charset="0"/>
                        </a:rPr>
                        <m:t>𝑅</m:t>
                      </m:r>
                      <m:r>
                        <a:rPr lang="en-US" altLang="zh-CN" sz="2400" i="1" dirty="0">
                          <a:solidFill>
                            <a:srgbClr val="FF0000"/>
                          </a:solidFill>
                          <a:latin typeface="Cambria Math" panose="02040503050406030204" charset="0"/>
                          <a:cs typeface="Cambria Math" panose="02040503050406030204" charset="0"/>
                        </a:rPr>
                        <m:t>)={ </m:t>
                      </m:r>
                      <m:r>
                        <a:rPr lang="en-US" altLang="zh-CN" sz="2400" i="1" dirty="0" err="1">
                          <a:solidFill>
                            <a:srgbClr val="FF0000"/>
                          </a:solidFill>
                          <a:latin typeface="Cambria Math" panose="02040503050406030204" charset="0"/>
                          <a:cs typeface="Cambria Math" panose="02040503050406030204" charset="0"/>
                        </a:rPr>
                        <m:t>𝑡</m:t>
                      </m:r>
                      <m:r>
                        <a:rPr lang="en-US" altLang="zh-CN" sz="2400" i="1" dirty="0" err="1">
                          <a:solidFill>
                            <a:srgbClr val="FF0000"/>
                          </a:solidFill>
                          <a:latin typeface="Cambria Math" panose="02040503050406030204" charset="0"/>
                          <a:cs typeface="Cambria Math" panose="02040503050406030204" charset="0"/>
                        </a:rPr>
                        <m:t> | </m:t>
                      </m:r>
                      <m:r>
                        <a:rPr lang="en-US" altLang="zh-CN" sz="2400" i="1" dirty="0" err="1">
                          <a:solidFill>
                            <a:srgbClr val="FF0000"/>
                          </a:solidFill>
                          <a:latin typeface="Cambria Math" panose="02040503050406030204" charset="0"/>
                          <a:cs typeface="Cambria Math" panose="02040503050406030204" charset="0"/>
                        </a:rPr>
                        <m:t>𝑡</m:t>
                      </m:r>
                      <m:r>
                        <a:rPr lang="en-US" altLang="zh-CN" sz="2400" i="1" dirty="0" err="1">
                          <a:solidFill>
                            <a:srgbClr val="FF0000"/>
                          </a:solidFill>
                          <a:latin typeface="Cambria Math" panose="02040503050406030204" charset="0"/>
                          <a:cs typeface="Cambria Math" panose="02040503050406030204" charset="0"/>
                          <a:sym typeface="Symbol" panose="05050102010706020507" pitchFamily="2" charset="2"/>
                        </a:rPr>
                        <m:t></m:t>
                      </m:r>
                      <m:r>
                        <a:rPr lang="en-US" altLang="zh-CN" sz="2400" i="1" dirty="0" err="1">
                          <a:solidFill>
                            <a:srgbClr val="FF0000"/>
                          </a:solidFill>
                          <a:latin typeface="Cambria Math" panose="02040503050406030204" charset="0"/>
                          <a:cs typeface="Cambria Math" panose="02040503050406030204" charset="0"/>
                        </a:rPr>
                        <m:t>𝑅</m:t>
                      </m:r>
                      <m:r>
                        <a:rPr lang="en-US" altLang="zh-CN" sz="2400" i="1" dirty="0" err="1">
                          <a:solidFill>
                            <a:srgbClr val="FF0000"/>
                          </a:solidFill>
                          <a:latin typeface="Cambria Math" panose="02040503050406030204" charset="0"/>
                          <a:cs typeface="Cambria Math" panose="02040503050406030204" charset="0"/>
                        </a:rPr>
                        <m:t>∧</m:t>
                      </m:r>
                      <m:r>
                        <a:rPr lang="en-US" altLang="zh-CN" sz="2400" i="1" dirty="0" err="1">
                          <a:solidFill>
                            <a:srgbClr val="FF0000"/>
                          </a:solidFill>
                          <a:latin typeface="Cambria Math" panose="02040503050406030204" charset="0"/>
                          <a:cs typeface="Cambria Math" panose="02040503050406030204" charset="0"/>
                        </a:rPr>
                        <m:t>𝐹</m:t>
                      </m:r>
                      <m:r>
                        <a:rPr lang="en-US" altLang="zh-CN" sz="2400" i="1" dirty="0">
                          <a:solidFill>
                            <a:srgbClr val="FF0000"/>
                          </a:solidFill>
                          <a:latin typeface="Cambria Math" panose="02040503050406030204" charset="0"/>
                          <a:cs typeface="Cambria Math" panose="02040503050406030204" charset="0"/>
                        </a:rPr>
                        <m:t>(</m:t>
                      </m:r>
                      <m:r>
                        <a:rPr lang="en-US" altLang="zh-CN" sz="2400" i="1" dirty="0">
                          <a:solidFill>
                            <a:srgbClr val="FF0000"/>
                          </a:solidFill>
                          <a:latin typeface="Cambria Math" panose="02040503050406030204" charset="0"/>
                          <a:cs typeface="Cambria Math" panose="02040503050406030204" charset="0"/>
                        </a:rPr>
                        <m:t>𝑡</m:t>
                      </m:r>
                      <m:r>
                        <a:rPr lang="en-US" altLang="zh-CN" sz="2400" i="1" dirty="0">
                          <a:solidFill>
                            <a:srgbClr val="FF0000"/>
                          </a:solidFill>
                          <a:latin typeface="Cambria Math" panose="02040503050406030204" charset="0"/>
                          <a:cs typeface="Cambria Math" panose="02040503050406030204" charset="0"/>
                        </a:rPr>
                        <m:t>)=</m:t>
                      </m:r>
                      <m:r>
                        <a:rPr lang="en-US" altLang="zh-CN" sz="2400" i="1" dirty="0">
                          <a:solidFill>
                            <a:srgbClr val="FF0000"/>
                          </a:solidFill>
                          <a:latin typeface="Cambria Math" panose="02040503050406030204" charset="0"/>
                          <a:cs typeface="Cambria Math" panose="02040503050406030204" charset="0"/>
                        </a:rPr>
                        <m:t>𝒕𝒓𝒖𝒆</m:t>
                      </m:r>
                      <m:r>
                        <a:rPr lang="en-US" altLang="zh-CN" sz="2400" i="1" dirty="0">
                          <a:solidFill>
                            <a:srgbClr val="FF0000"/>
                          </a:solidFill>
                          <a:latin typeface="Cambria Math" panose="02040503050406030204" charset="0"/>
                          <a:cs typeface="Cambria Math" panose="02040503050406030204" charset="0"/>
                        </a:rPr>
                        <m:t> }</m:t>
                      </m:r>
                    </m:oMath>
                  </m:oMathPara>
                </a14:m>
                <a:endParaRPr lang="en-US" altLang="zh-CN" sz="2400" dirty="0"/>
              </a:p>
              <a:p>
                <a:pPr lvl="1" algn="just" fontAlgn="auto">
                  <a:lnSpc>
                    <a:spcPct val="100000"/>
                  </a:lnSpc>
                  <a:spcBef>
                    <a:spcPts val="2000"/>
                  </a:spcBef>
                  <a:spcAft>
                    <a:spcPts val="0"/>
                  </a:spcAft>
                </a:pPr>
                <a14:m>
                  <m:oMath xmlns:m="http://schemas.openxmlformats.org/officeDocument/2006/math">
                    <m:r>
                      <a:rPr lang="en-US" altLang="zh-CN" sz="2400" i="1" dirty="0">
                        <a:latin typeface="Cambria Math" panose="02040503050406030204" charset="0"/>
                        <a:cs typeface="Cambria Math" panose="02040503050406030204" charset="0"/>
                      </a:rPr>
                      <m:t>𝐹</m:t>
                    </m:r>
                  </m:oMath>
                </a14:m>
                <a:r>
                  <a:rPr lang="zh-CN" altLang="en-US" sz="2400" dirty="0"/>
                  <a:t>：选择条件，是一个逻辑表达式，取值为</a:t>
                </a:r>
                <a:r>
                  <a:rPr lang="en-US" altLang="zh-CN" sz="2400" dirty="0"/>
                  <a:t> </a:t>
                </a:r>
                <a:r>
                  <a:rPr lang="zh-CN" altLang="en-US" sz="2400" dirty="0"/>
                  <a:t>逻辑</a:t>
                </a:r>
                <a:r>
                  <a:rPr lang="zh-CN" altLang="en-US" sz="2400" dirty="0">
                    <a:latin typeface="Times New Roman" panose="02020603050405020304" charset="0"/>
                    <a:cs typeface="Times New Roman" panose="02020603050405020304" charset="0"/>
                  </a:rPr>
                  <a:t>真</a:t>
                </a:r>
                <a14:m>
                  <m:oMath xmlns:m="http://schemas.openxmlformats.org/officeDocument/2006/math">
                    <m:r>
                      <a:rPr lang="en-US" altLang="zh-CN" sz="2400" i="1" dirty="0">
                        <a:latin typeface="Cambria Math" panose="02040503050406030204" charset="0"/>
                        <a:cs typeface="Cambria Math" panose="02040503050406030204" charset="0"/>
                      </a:rPr>
                      <m:t>𝑡𝑟𝑢𝑒</m:t>
                    </m:r>
                  </m:oMath>
                </a14:m>
                <a:r>
                  <a:rPr lang="en-US" altLang="zh-CN" sz="2400" dirty="0">
                    <a:latin typeface="Times New Roman" panose="02020603050405020304" charset="0"/>
                    <a:cs typeface="Times New Roman" panose="02020603050405020304" charset="0"/>
                  </a:rPr>
                  <a:t> </a:t>
                </a:r>
                <a:r>
                  <a:rPr lang="zh-CN" altLang="en-US" sz="2400" dirty="0">
                    <a:latin typeface="Times New Roman" panose="02020603050405020304" charset="0"/>
                    <a:cs typeface="Times New Roman" panose="02020603050405020304" charset="0"/>
                  </a:rPr>
                  <a:t>或</a:t>
                </a:r>
                <a:r>
                  <a:rPr lang="en-US" altLang="zh-CN" sz="2400" dirty="0">
                    <a:latin typeface="Times New Roman" panose="02020603050405020304" charset="0"/>
                    <a:cs typeface="Times New Roman" panose="02020603050405020304" charset="0"/>
                  </a:rPr>
                  <a:t> </a:t>
                </a:r>
                <a:r>
                  <a:rPr lang="zh-CN" altLang="en-US" sz="2400" dirty="0">
                    <a:latin typeface="Times New Roman" panose="02020603050405020304" charset="0"/>
                    <a:cs typeface="Times New Roman" panose="02020603050405020304" charset="0"/>
                  </a:rPr>
                  <a:t>逻辑假</a:t>
                </a:r>
                <a14:m>
                  <m:oMath xmlns:m="http://schemas.openxmlformats.org/officeDocument/2006/math">
                    <m:r>
                      <a:rPr lang="en-US" altLang="zh-CN" sz="2400" i="1" dirty="0">
                        <a:latin typeface="Cambria Math" panose="02040503050406030204" charset="0"/>
                        <a:cs typeface="Cambria Math" panose="02040503050406030204" charset="0"/>
                      </a:rPr>
                      <m:t>𝑓𝑎𝑙𝑠𝑒</m:t>
                    </m:r>
                  </m:oMath>
                </a14:m>
                <a:endParaRPr lang="en-US" altLang="zh-CN" sz="2400" dirty="0"/>
              </a:p>
              <a:p>
                <a:pPr lvl="2" algn="just" fontAlgn="auto">
                  <a:lnSpc>
                    <a:spcPct val="100000"/>
                  </a:lnSpc>
                  <a:spcBef>
                    <a:spcPts val="1000"/>
                  </a:spcBef>
                  <a:buSzPct val="87000"/>
                  <a:buFont typeface="Wingdings" panose="05000000000000000000" pitchFamily="2" charset="2"/>
                  <a:buChar char="l"/>
                </a:pPr>
                <a:r>
                  <a:rPr lang="zh-CN" altLang="en-US" sz="2400" dirty="0"/>
                  <a:t>基本形式：</a:t>
                </a:r>
                <a14:m>
                  <m:oMath xmlns:m="http://schemas.openxmlformats.org/officeDocument/2006/math">
                    <m:sSub>
                      <m:sSubPr>
                        <m:ctrlPr>
                          <a:rPr lang="zh-CN" altLang="en-US" sz="2400" i="1" dirty="0">
                            <a:solidFill>
                              <a:srgbClr val="C00000"/>
                            </a:solidFill>
                            <a:latin typeface="Cambria Math" panose="02040503050406030204" pitchFamily="18" charset="0"/>
                            <a:cs typeface="Cambria Math" panose="02040503050406030204" charset="0"/>
                          </a:rPr>
                        </m:ctrlPr>
                      </m:sSubPr>
                      <m:e>
                        <m:r>
                          <a:rPr lang="en-US" altLang="zh-CN" sz="2400" b="0" i="1" dirty="0">
                            <a:solidFill>
                              <a:srgbClr val="C00000"/>
                            </a:solidFill>
                            <a:latin typeface="Cambria Math" panose="02040503050406030204" charset="0"/>
                            <a:cs typeface="Cambria Math" panose="02040503050406030204" charset="0"/>
                          </a:rPr>
                          <m:t>𝑋</m:t>
                        </m:r>
                      </m:e>
                      <m:sub>
                        <m:r>
                          <a:rPr lang="en-US" altLang="zh-CN" sz="2400" b="0" i="1" dirty="0">
                            <a:solidFill>
                              <a:srgbClr val="C00000"/>
                            </a:solidFill>
                            <a:latin typeface="Cambria Math" panose="02040503050406030204" charset="0"/>
                            <a:cs typeface="Cambria Math" panose="02040503050406030204" charset="0"/>
                          </a:rPr>
                          <m:t>1</m:t>
                        </m:r>
                      </m:sub>
                    </m:sSub>
                    <m:r>
                      <a:rPr lang="en-US" altLang="zh-CN" sz="2400" b="1" i="1" dirty="0">
                        <a:solidFill>
                          <a:srgbClr val="C00000"/>
                        </a:solidFill>
                        <a:latin typeface="Cambria Math" panose="02040503050406030204" charset="0"/>
                        <a:cs typeface="Cambria Math" panose="02040503050406030204" charset="0"/>
                      </a:rPr>
                      <m:t> </m:t>
                    </m:r>
                    <m:r>
                      <a:rPr lang="en-US" altLang="zh-CN" sz="2400" b="0" i="1" dirty="0">
                        <a:solidFill>
                          <a:srgbClr val="C00000"/>
                        </a:solidFill>
                        <a:latin typeface="Cambria Math" panose="02040503050406030204" charset="0"/>
                        <a:cs typeface="Cambria Math" panose="02040503050406030204" charset="0"/>
                      </a:rPr>
                      <m:t>𝜃</m:t>
                    </m:r>
                    <m:r>
                      <a:rPr lang="en-US" altLang="zh-CN" sz="2400" b="1" i="1" dirty="0">
                        <a:solidFill>
                          <a:srgbClr val="C00000"/>
                        </a:solidFill>
                        <a:latin typeface="Cambria Math" panose="02040503050406030204" charset="0"/>
                        <a:cs typeface="Cambria Math" panose="02040503050406030204" charset="0"/>
                      </a:rPr>
                      <m:t> </m:t>
                    </m:r>
                    <m:sSub>
                      <m:sSubPr>
                        <m:ctrlPr>
                          <a:rPr lang="en-US" altLang="zh-CN" sz="2400" b="0" i="1" dirty="0">
                            <a:solidFill>
                              <a:srgbClr val="C00000"/>
                            </a:solidFill>
                            <a:latin typeface="Cambria Math" panose="02040503050406030204" pitchFamily="18" charset="0"/>
                            <a:cs typeface="Cambria Math" panose="02040503050406030204" charset="0"/>
                          </a:rPr>
                        </m:ctrlPr>
                      </m:sSubPr>
                      <m:e>
                        <m:r>
                          <a:rPr lang="en-US" altLang="zh-CN" sz="2400" b="0" i="1" dirty="0">
                            <a:solidFill>
                              <a:srgbClr val="C00000"/>
                            </a:solidFill>
                            <a:latin typeface="Cambria Math" panose="02040503050406030204" charset="0"/>
                            <a:cs typeface="Cambria Math" panose="02040503050406030204" charset="0"/>
                          </a:rPr>
                          <m:t>𝑌</m:t>
                        </m:r>
                      </m:e>
                      <m:sub>
                        <m:r>
                          <a:rPr lang="en-US" altLang="zh-CN" sz="2400" b="0" i="1" dirty="0">
                            <a:solidFill>
                              <a:srgbClr val="C00000"/>
                            </a:solidFill>
                            <a:latin typeface="Cambria Math" panose="02040503050406030204" charset="0"/>
                            <a:cs typeface="Cambria Math" panose="02040503050406030204" charset="0"/>
                          </a:rPr>
                          <m:t>1</m:t>
                        </m:r>
                      </m:sub>
                    </m:sSub>
                  </m:oMath>
                </a14:m>
                <a:endParaRPr lang="zh-CN" altLang="en-US" sz="2400" baseline="-25000" dirty="0"/>
              </a:p>
              <a:p>
                <a:pPr lvl="3" algn="just" fontAlgn="auto">
                  <a:lnSpc>
                    <a:spcPct val="100000"/>
                  </a:lnSpc>
                  <a:spcBef>
                    <a:spcPts val="1000"/>
                  </a:spcBef>
                  <a:buSzPct val="87000"/>
                </a:pPr>
                <a14:m>
                  <m:oMath xmlns:m="http://schemas.openxmlformats.org/officeDocument/2006/math">
                    <m:sSub>
                      <m:sSubPr>
                        <m:ctrlPr>
                          <a:rPr lang="zh-CN" altLang="en-US" sz="2400" i="1" dirty="0">
                            <a:solidFill>
                              <a:srgbClr val="C00000"/>
                            </a:solidFill>
                            <a:latin typeface="Cambria Math" panose="02040503050406030204" pitchFamily="18" charset="0"/>
                            <a:cs typeface="Cambria Math" panose="02040503050406030204" charset="0"/>
                          </a:rPr>
                        </m:ctrlPr>
                      </m:sSubPr>
                      <m:e>
                        <m:r>
                          <a:rPr lang="en-US" altLang="zh-CN" sz="2400" b="0" i="1" dirty="0">
                            <a:solidFill>
                              <a:srgbClr val="C00000"/>
                            </a:solidFill>
                            <a:latin typeface="Cambria Math" panose="02040503050406030204" charset="0"/>
                            <a:cs typeface="Cambria Math" panose="02040503050406030204" charset="0"/>
                          </a:rPr>
                          <m:t>𝑋</m:t>
                        </m:r>
                      </m:e>
                      <m:sub>
                        <m:r>
                          <a:rPr lang="en-US" altLang="zh-CN" sz="2400" b="0" i="1" dirty="0">
                            <a:solidFill>
                              <a:srgbClr val="C00000"/>
                            </a:solidFill>
                            <a:latin typeface="Cambria Math" panose="02040503050406030204" charset="0"/>
                            <a:cs typeface="Cambria Math" panose="02040503050406030204" charset="0"/>
                          </a:rPr>
                          <m:t>1</m:t>
                        </m:r>
                      </m:sub>
                    </m:sSub>
                  </m:oMath>
                </a14:m>
                <a:r>
                  <a:rPr lang="zh-CN" altLang="zh-CN" sz="2400" dirty="0"/>
                  <a:t>和</a:t>
                </a:r>
                <a14:m>
                  <m:oMath xmlns:m="http://schemas.openxmlformats.org/officeDocument/2006/math">
                    <m:sSub>
                      <m:sSubPr>
                        <m:ctrlPr>
                          <a:rPr lang="en-US" altLang="zh-CN" sz="2400" b="0" i="1" dirty="0">
                            <a:solidFill>
                              <a:srgbClr val="C00000"/>
                            </a:solidFill>
                            <a:latin typeface="Cambria Math" panose="02040503050406030204" pitchFamily="18" charset="0"/>
                            <a:cs typeface="Cambria Math" panose="02040503050406030204" charset="0"/>
                          </a:rPr>
                        </m:ctrlPr>
                      </m:sSubPr>
                      <m:e>
                        <m:r>
                          <a:rPr lang="en-US" altLang="zh-CN" sz="2400" b="0" i="1" dirty="0">
                            <a:solidFill>
                              <a:srgbClr val="C00000"/>
                            </a:solidFill>
                            <a:latin typeface="Cambria Math" panose="02040503050406030204" charset="0"/>
                            <a:cs typeface="Cambria Math" panose="02040503050406030204" charset="0"/>
                          </a:rPr>
                          <m:t>𝑌</m:t>
                        </m:r>
                      </m:e>
                      <m:sub>
                        <m:r>
                          <a:rPr lang="en-US" altLang="zh-CN" sz="2400" b="0" i="1" dirty="0">
                            <a:solidFill>
                              <a:srgbClr val="C00000"/>
                            </a:solidFill>
                            <a:latin typeface="Cambria Math" panose="02040503050406030204" charset="0"/>
                            <a:cs typeface="Cambria Math" panose="02040503050406030204" charset="0"/>
                          </a:rPr>
                          <m:t>1</m:t>
                        </m:r>
                      </m:sub>
                    </m:sSub>
                  </m:oMath>
                </a14:m>
                <a:r>
                  <a:rPr lang="zh-CN" altLang="zh-CN" sz="2400" dirty="0"/>
                  <a:t>是关系</a:t>
                </a:r>
                <a:r>
                  <a:rPr lang="en-US" altLang="zh-CN" sz="2400" dirty="0"/>
                  <a:t>R</a:t>
                </a:r>
                <a:r>
                  <a:rPr lang="zh-CN" altLang="en-US" sz="2400" dirty="0"/>
                  <a:t>中的属性名或常量，但不能都是常量</a:t>
                </a:r>
                <a:endParaRPr lang="zh-CN" altLang="zh-CN" sz="2400" dirty="0"/>
              </a:p>
              <a:p>
                <a:pPr lvl="3" algn="just" fontAlgn="auto">
                  <a:lnSpc>
                    <a:spcPct val="100000"/>
                  </a:lnSpc>
                  <a:spcBef>
                    <a:spcPts val="1000"/>
                  </a:spcBef>
                  <a:buSzPct val="87000"/>
                </a:pPr>
                <a:r>
                  <a:rPr lang="zh-CN" altLang="zh-CN" sz="2400" i="1" dirty="0"/>
                  <a:t>θ</a:t>
                </a:r>
                <a:r>
                  <a:rPr lang="zh-CN" altLang="zh-CN" sz="2400" dirty="0"/>
                  <a:t>是比较运算符，它可以是＞</a:t>
                </a:r>
                <a:r>
                  <a:rPr lang="en-US" altLang="zh-CN" sz="2400" dirty="0"/>
                  <a:t>,</a:t>
                </a:r>
                <a:r>
                  <a:rPr lang="zh-CN" altLang="zh-CN" sz="2400" dirty="0"/>
                  <a:t>≥</a:t>
                </a:r>
                <a:r>
                  <a:rPr lang="en-US" altLang="zh-CN" sz="2400" dirty="0"/>
                  <a:t>,</a:t>
                </a:r>
                <a:r>
                  <a:rPr lang="zh-CN" altLang="zh-CN" sz="2400" dirty="0"/>
                  <a:t>＜</a:t>
                </a:r>
                <a:r>
                  <a:rPr lang="en-US" altLang="zh-CN" sz="2400" dirty="0"/>
                  <a:t>,</a:t>
                </a:r>
                <a:r>
                  <a:rPr lang="zh-CN" altLang="zh-CN" sz="2400" dirty="0"/>
                  <a:t>≤</a:t>
                </a:r>
                <a:r>
                  <a:rPr lang="en-US" altLang="zh-CN" sz="2400" dirty="0"/>
                  <a:t>,</a:t>
                </a:r>
                <a:r>
                  <a:rPr lang="zh-CN" altLang="zh-CN" sz="2400" dirty="0"/>
                  <a:t>＝</a:t>
                </a:r>
                <a:r>
                  <a:rPr lang="en-US" sz="2400" dirty="0"/>
                  <a:t>,</a:t>
                </a:r>
                <a:r>
                  <a:rPr lang="en-US" altLang="zh-CN" sz="2400" dirty="0"/>
                  <a:t>&lt;&gt; </a:t>
                </a:r>
                <a:r>
                  <a:rPr lang="en-US" altLang="zh-CN" sz="2400" dirty="0">
                    <a:latin typeface="Times New Roman" panose="02020603050405020304" charset="0"/>
                    <a:cs typeface="Times New Roman" panose="02020603050405020304" charset="0"/>
                  </a:rPr>
                  <a:t>(</a:t>
                </a:r>
                <a:r>
                  <a:rPr lang="zh-CN" altLang="en-US" sz="2400" dirty="0">
                    <a:latin typeface="Times New Roman" panose="02020603050405020304" charset="0"/>
                    <a:cs typeface="Times New Roman" panose="02020603050405020304" charset="0"/>
                  </a:rPr>
                  <a:t>也可以用</a:t>
                </a:r>
                <a14:m>
                  <m:oMath xmlns:m="http://schemas.openxmlformats.org/officeDocument/2006/math">
                    <m:r>
                      <a:rPr lang="en-US" altLang="zh-CN" sz="2400" b="1" i="1" dirty="0">
                        <a:latin typeface="Cambria Math" panose="02040503050406030204" charset="0"/>
                        <a:ea typeface="MS Mincho" charset="0"/>
                        <a:cs typeface="Cambria Math" panose="02040503050406030204" charset="0"/>
                      </a:rPr>
                      <m:t>≠</m:t>
                    </m:r>
                  </m:oMath>
                </a14:m>
                <a:r>
                  <a:rPr lang="zh-CN" altLang="en-US" sz="2400" dirty="0">
                    <a:latin typeface="Times New Roman" panose="02020603050405020304" charset="0"/>
                    <a:cs typeface="Times New Roman" panose="02020603050405020304" charset="0"/>
                  </a:rPr>
                  <a:t>来表示不等比较</a:t>
                </a:r>
                <a:r>
                  <a:rPr lang="en-US" altLang="zh-CN"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sym typeface="+mn-ea"/>
                  </a:rPr>
                  <a:t>&lt;&gt;</a:t>
                </a:r>
                <a:r>
                  <a:rPr lang="zh-CN" altLang="en-US" sz="2400" dirty="0">
                    <a:latin typeface="Times New Roman" panose="02020603050405020304" charset="0"/>
                    <a:cs typeface="Times New Roman" panose="02020603050405020304" charset="0"/>
                  </a:rPr>
                  <a:t>）</a:t>
                </a:r>
                <a:endParaRPr lang="en-US" altLang="zh-CN" sz="2400" dirty="0">
                  <a:latin typeface="Times New Roman" panose="02020603050405020304" charset="0"/>
                  <a:cs typeface="Times New Roman" panose="02020603050405020304" charset="0"/>
                </a:endParaRPr>
              </a:p>
              <a:p>
                <a:pPr lvl="2" algn="just" fontAlgn="auto">
                  <a:lnSpc>
                    <a:spcPct val="100000"/>
                  </a:lnSpc>
                  <a:spcBef>
                    <a:spcPts val="1000"/>
                  </a:spcBef>
                  <a:buSzPct val="87000"/>
                  <a:buFont typeface="Wingdings" panose="05000000000000000000" pitchFamily="2" charset="2"/>
                  <a:buChar char="l"/>
                </a:pPr>
                <a:r>
                  <a:rPr lang="zh-CN" altLang="en-US" sz="2400" dirty="0"/>
                  <a:t>复合形式</a:t>
                </a:r>
              </a:p>
              <a:p>
                <a:pPr lvl="3" algn="just" fontAlgn="auto">
                  <a:lnSpc>
                    <a:spcPct val="100000"/>
                  </a:lnSpc>
                  <a:spcBef>
                    <a:spcPts val="1000"/>
                  </a:spcBef>
                  <a:buSzPct val="87000"/>
                  <a:buFont typeface="Wingdings" panose="05000000000000000000" pitchFamily="2" charset="2"/>
                  <a:buChar char="l"/>
                </a:pPr>
                <a:r>
                  <a:rPr lang="en-US" altLang="zh-CN" sz="2400" dirty="0"/>
                  <a:t>在基本的选择条件上可以进一步进行逻辑运算（</a:t>
                </a:r>
                <a:r>
                  <a:rPr lang="en-US" altLang="zh-CN" sz="2400" dirty="0">
                    <a:solidFill>
                      <a:schemeClr val="tx1"/>
                    </a:solidFill>
                  </a:rPr>
                  <a:t>由若干个选择条件通过逻辑运算符（与、或、非）经有限次组合而成</a:t>
                </a:r>
                <a:r>
                  <a:rPr lang="zh-CN" altLang="en-US" sz="2400" dirty="0"/>
                  <a:t>）</a:t>
                </a:r>
                <a:endParaRPr lang="en-US" altLang="zh-CN" sz="2400" dirty="0"/>
              </a:p>
            </p:txBody>
          </p:sp>
        </mc:Choice>
        <mc:Fallback xmlns="">
          <p:sp>
            <p:nvSpPr>
              <p:cNvPr id="5" name="内容占位符 4"/>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34</a:t>
            </a:fld>
            <a:endParaRPr lang="zh-CN" altLang="en-US"/>
          </a:p>
        </p:txBody>
      </p:sp>
      <p:sp>
        <p:nvSpPr>
          <p:cNvPr id="6" name="页脚占位符 5"/>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8" name="文本框 7"/>
              <p:cNvSpPr txBox="1"/>
              <p:nvPr/>
            </p:nvSpPr>
            <p:spPr>
              <a:xfrm>
                <a:off x="6639560" y="1250315"/>
                <a:ext cx="5127625" cy="460375"/>
              </a:xfrm>
              <a:prstGeom prst="rect">
                <a:avLst/>
              </a:prstGeom>
              <a:solidFill>
                <a:schemeClr val="accent3">
                  <a:lumMod val="40000"/>
                  <a:lumOff val="60000"/>
                  <a:alpha val="50000"/>
                </a:schemeClr>
              </a:solidFill>
            </p:spPr>
            <p:txBody>
              <a:bodyPr wrap="square" rtlCol="0" anchor="t">
                <a:noAutofit/>
              </a:bodyPr>
              <a:lstStyle/>
              <a:p>
                <a:pPr algn="l"/>
                <a:r>
                  <a:rPr lang="zh-CN" altLang="en-US" sz="2400" b="1">
                    <a:latin typeface="Arial" panose="020B0604020202020204" pitchFamily="34" charset="0"/>
                    <a:ea typeface="楷体" panose="02010609060101010101" charset="-122"/>
                    <a:cs typeface="Arial" panose="020B0604020202020204" pitchFamily="34" charset="0"/>
                  </a:rPr>
                  <a:t>选择运算也可表示为：</a:t>
                </a:r>
                <a14:m>
                  <m:oMath xmlns:m="http://schemas.openxmlformats.org/officeDocument/2006/math">
                    <m:r>
                      <a:rPr lang="en-US" altLang="zh-CN" sz="2400" b="1" i="1">
                        <a:solidFill>
                          <a:srgbClr val="C00000"/>
                        </a:solidFill>
                        <a:latin typeface="Cambria Math" panose="02040503050406030204" charset="0"/>
                        <a:ea typeface="楷体" panose="02010609060101010101" charset="-122"/>
                        <a:cs typeface="Cambria Math" panose="02040503050406030204" charset="0"/>
                      </a:rPr>
                      <m:t>𝑹</m:t>
                    </m:r>
                    <m:r>
                      <a:rPr lang="en-US" altLang="zh-CN" sz="2400" b="1" i="1">
                        <a:solidFill>
                          <a:srgbClr val="C00000"/>
                        </a:solidFill>
                        <a:latin typeface="Cambria Math" panose="02040503050406030204" charset="0"/>
                        <a:ea typeface="楷体" panose="02010609060101010101" charset="-122"/>
                        <a:cs typeface="Cambria Math" panose="02040503050406030204" charset="0"/>
                      </a:rPr>
                      <m:t>  </m:t>
                    </m:r>
                  </m:oMath>
                </a14:m>
                <a:r>
                  <a:rPr lang="en-US" altLang="zh-CN" sz="2400" b="1" i="1">
                    <a:solidFill>
                      <a:srgbClr val="C00000"/>
                    </a:solidFill>
                    <a:latin typeface="Cambria Math" panose="02040503050406030204" charset="0"/>
                    <a:ea typeface="MS Mincho" charset="0"/>
                    <a:cs typeface="Cambria Math" panose="02040503050406030204" charset="0"/>
                  </a:rPr>
                  <a:t>where  F</a:t>
                </a:r>
              </a:p>
            </p:txBody>
          </p:sp>
        </mc:Choice>
        <mc:Fallback xmlns="">
          <p:sp>
            <p:nvSpPr>
              <p:cNvPr id="8" name="文本框 7"/>
              <p:cNvSpPr txBox="1">
                <a:spLocks noRot="1" noChangeAspect="1" noMove="1" noResize="1" noEditPoints="1" noAdjustHandles="1" noChangeArrowheads="1" noChangeShapeType="1" noTextEdit="1"/>
              </p:cNvSpPr>
              <p:nvPr/>
            </p:nvSpPr>
            <p:spPr>
              <a:xfrm>
                <a:off x="6639560" y="1250315"/>
                <a:ext cx="5127625" cy="46037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linds(horizontal)">
                                      <p:cBhvr>
                                        <p:cTn id="10" dur="500"/>
                                        <p:tgtEl>
                                          <p:spTgt spid="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blinds(horizontal)">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 calcmode="lin" valueType="num">
                                      <p:cBhvr additive="base">
                                        <p:cTn id="1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 calcmode="lin" valueType="num">
                                      <p:cBhvr additive="base">
                                        <p:cTn id="24"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 calcmode="lin" valueType="num">
                                      <p:cBhvr additive="base">
                                        <p:cTn id="30"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 calcmode="lin" valueType="num">
                                      <p:cBhvr additive="base">
                                        <p:cTn id="34"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5">
                                            <p:txEl>
                                              <p:pRg st="8" end="8"/>
                                            </p:txEl>
                                          </p:spTgt>
                                        </p:tgtEl>
                                        <p:attrNameLst>
                                          <p:attrName>style.visibility</p:attrName>
                                        </p:attrNameLst>
                                      </p:cBhvr>
                                      <p:to>
                                        <p:strVal val="visible"/>
                                      </p:to>
                                    </p:set>
                                    <p:anim calcmode="lin" valueType="num">
                                      <p:cBhvr additive="base">
                                        <p:cTn id="40"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5">
                                            <p:txEl>
                                              <p:pRg st="9" end="9"/>
                                            </p:txEl>
                                          </p:spTgt>
                                        </p:tgtEl>
                                        <p:attrNameLst>
                                          <p:attrName>style.visibility</p:attrName>
                                        </p:attrNameLst>
                                      </p:cBhvr>
                                      <p:to>
                                        <p:strVal val="visible"/>
                                      </p:to>
                                    </p:set>
                                    <p:anim calcmode="lin" valueType="num">
                                      <p:cBhvr additive="base">
                                        <p:cTn id="46"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500" fill="hold"/>
                                        <p:tgtEl>
                                          <p:spTgt spid="8"/>
                                        </p:tgtEl>
                                        <p:attrNameLst>
                                          <p:attrName>ppt_x</p:attrName>
                                        </p:attrNameLst>
                                      </p:cBhvr>
                                      <p:tavLst>
                                        <p:tav tm="0">
                                          <p:val>
                                            <p:strVal val="1+#ppt_w/2"/>
                                          </p:val>
                                        </p:tav>
                                        <p:tav tm="100000">
                                          <p:val>
                                            <p:strVal val="#ppt_x"/>
                                          </p:val>
                                        </p:tav>
                                      </p:tavLst>
                                    </p:anim>
                                    <p:anim calcmode="lin" valueType="num">
                                      <p:cBhvr additive="base">
                                        <p:cTn id="5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a:t>选择 </a:t>
            </a:r>
            <a:r>
              <a:rPr lang="en-US" altLang="zh-CN"/>
              <a:t>2</a:t>
            </a:r>
            <a:endParaRPr lang="zh-CN" altLang="en-US" dirty="0"/>
          </a:p>
        </p:txBody>
      </p:sp>
      <mc:AlternateContent xmlns:mc="http://schemas.openxmlformats.org/markup-compatibility/2006" xmlns:a14="http://schemas.microsoft.com/office/drawing/2010/main">
        <mc:Choice Requires="a14">
          <p:sp>
            <p:nvSpPr>
              <p:cNvPr id="89091" name="Rectangle 3"/>
              <p:cNvSpPr>
                <a:spLocks noGrp="1" noChangeArrowheads="1"/>
              </p:cNvSpPr>
              <p:nvPr>
                <p:ph idx="1"/>
              </p:nvPr>
            </p:nvSpPr>
            <p:spPr/>
            <p:txBody>
              <a:bodyPr/>
              <a:lstStyle/>
              <a:p>
                <a:r>
                  <a:rPr lang="zh-CN" altLang="en-US" dirty="0"/>
                  <a:t>选择运算是从关系</a:t>
                </a:r>
                <a14:m>
                  <m:oMath xmlns:m="http://schemas.openxmlformats.org/officeDocument/2006/math">
                    <m:r>
                      <a:rPr lang="en-US" altLang="zh-CN" i="1" dirty="0">
                        <a:latin typeface="Cambria Math" panose="02040503050406030204" charset="0"/>
                        <a:cs typeface="Cambria Math" panose="02040503050406030204" charset="0"/>
                      </a:rPr>
                      <m:t>𝑅</m:t>
                    </m:r>
                  </m:oMath>
                </a14:m>
                <a:r>
                  <a:rPr lang="zh-CN" altLang="en-US" dirty="0"/>
                  <a:t>中选取使逻辑表达式</a:t>
                </a:r>
                <a14:m>
                  <m:oMath xmlns:m="http://schemas.openxmlformats.org/officeDocument/2006/math">
                    <m:r>
                      <a:rPr lang="en-US" altLang="zh-CN" i="1" dirty="0">
                        <a:latin typeface="Cambria Math" panose="02040503050406030204" charset="0"/>
                        <a:cs typeface="Cambria Math" panose="02040503050406030204" charset="0"/>
                      </a:rPr>
                      <m:t>𝐹</m:t>
                    </m:r>
                  </m:oMath>
                </a14:m>
                <a:r>
                  <a:rPr lang="zh-CN" altLang="en-US" dirty="0"/>
                  <a:t>为真的元组，是从行的角度进行的运算</a:t>
                </a:r>
              </a:p>
            </p:txBody>
          </p:sp>
        </mc:Choice>
        <mc:Fallback xmlns="">
          <p:sp>
            <p:nvSpPr>
              <p:cNvPr id="89091" name="Rectangle 3"/>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grpSp>
        <p:nvGrpSpPr>
          <p:cNvPr id="89092" name="Group 4"/>
          <p:cNvGrpSpPr/>
          <p:nvPr/>
        </p:nvGrpSpPr>
        <p:grpSpPr bwMode="auto">
          <a:xfrm>
            <a:off x="2670810" y="2497455"/>
            <a:ext cx="6835140" cy="2641600"/>
            <a:chOff x="2448" y="1728"/>
            <a:chExt cx="2640" cy="768"/>
          </a:xfrm>
        </p:grpSpPr>
        <p:sp>
          <p:nvSpPr>
            <p:cNvPr id="89093" name="Rectangle 5"/>
            <p:cNvSpPr>
              <a:spLocks noChangeArrowheads="1"/>
            </p:cNvSpPr>
            <p:nvPr/>
          </p:nvSpPr>
          <p:spPr bwMode="auto">
            <a:xfrm>
              <a:off x="2448" y="1728"/>
              <a:ext cx="912" cy="96"/>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094" name="Rectangle 6" descr="浅色下对角线"/>
            <p:cNvSpPr>
              <a:spLocks noChangeArrowheads="1"/>
            </p:cNvSpPr>
            <p:nvPr/>
          </p:nvSpPr>
          <p:spPr bwMode="auto">
            <a:xfrm>
              <a:off x="2448" y="1824"/>
              <a:ext cx="912" cy="96"/>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095" name="Rectangle 7"/>
            <p:cNvSpPr>
              <a:spLocks noChangeArrowheads="1"/>
            </p:cNvSpPr>
            <p:nvPr/>
          </p:nvSpPr>
          <p:spPr bwMode="auto">
            <a:xfrm>
              <a:off x="2448" y="1920"/>
              <a:ext cx="912" cy="96"/>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096" name="Rectangle 8"/>
            <p:cNvSpPr>
              <a:spLocks noChangeArrowheads="1"/>
            </p:cNvSpPr>
            <p:nvPr/>
          </p:nvSpPr>
          <p:spPr bwMode="auto">
            <a:xfrm>
              <a:off x="2448" y="2400"/>
              <a:ext cx="912" cy="96"/>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097" name="Rectangle 9"/>
            <p:cNvSpPr>
              <a:spLocks noChangeArrowheads="1"/>
            </p:cNvSpPr>
            <p:nvPr/>
          </p:nvSpPr>
          <p:spPr bwMode="auto">
            <a:xfrm>
              <a:off x="2448" y="2016"/>
              <a:ext cx="912" cy="96"/>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098" name="Rectangle 10" descr="浅色下对角线"/>
            <p:cNvSpPr>
              <a:spLocks noChangeArrowheads="1"/>
            </p:cNvSpPr>
            <p:nvPr/>
          </p:nvSpPr>
          <p:spPr bwMode="auto">
            <a:xfrm>
              <a:off x="2448" y="2112"/>
              <a:ext cx="912" cy="96"/>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099" name="Rectangle 11"/>
            <p:cNvSpPr>
              <a:spLocks noChangeArrowheads="1"/>
            </p:cNvSpPr>
            <p:nvPr/>
          </p:nvSpPr>
          <p:spPr bwMode="auto">
            <a:xfrm>
              <a:off x="2448" y="2208"/>
              <a:ext cx="912" cy="96"/>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100" name="Rectangle 12" descr="浅色下对角线"/>
            <p:cNvSpPr>
              <a:spLocks noChangeArrowheads="1"/>
            </p:cNvSpPr>
            <p:nvPr/>
          </p:nvSpPr>
          <p:spPr bwMode="auto">
            <a:xfrm>
              <a:off x="2448" y="2304"/>
              <a:ext cx="912" cy="96"/>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101" name="Rectangle 13" descr="浅色下对角线"/>
            <p:cNvSpPr>
              <a:spLocks noChangeArrowheads="1"/>
            </p:cNvSpPr>
            <p:nvPr/>
          </p:nvSpPr>
          <p:spPr bwMode="auto">
            <a:xfrm>
              <a:off x="4176" y="2112"/>
              <a:ext cx="912" cy="96"/>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102" name="Rectangle 14" descr="浅色下对角线"/>
            <p:cNvSpPr>
              <a:spLocks noChangeArrowheads="1"/>
            </p:cNvSpPr>
            <p:nvPr/>
          </p:nvSpPr>
          <p:spPr bwMode="auto">
            <a:xfrm>
              <a:off x="4176" y="2016"/>
              <a:ext cx="912" cy="96"/>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103" name="Rectangle 15" descr="浅色下对角线"/>
            <p:cNvSpPr>
              <a:spLocks noChangeArrowheads="1"/>
            </p:cNvSpPr>
            <p:nvPr/>
          </p:nvSpPr>
          <p:spPr bwMode="auto">
            <a:xfrm>
              <a:off x="4176" y="1920"/>
              <a:ext cx="912" cy="96"/>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mc:AlternateContent xmlns:mc="http://schemas.openxmlformats.org/markup-compatibility/2006" xmlns:a14="http://schemas.microsoft.com/office/drawing/2010/main">
          <mc:Choice Requires="a14">
            <p:sp>
              <p:nvSpPr>
                <p:cNvPr id="89104" name="AutoShape 16"/>
                <p:cNvSpPr>
                  <a:spLocks noChangeArrowheads="1"/>
                </p:cNvSpPr>
                <p:nvPr/>
              </p:nvSpPr>
              <p:spPr bwMode="auto">
                <a:xfrm>
                  <a:off x="3491" y="1976"/>
                  <a:ext cx="604" cy="224"/>
                </a:xfrm>
                <a:prstGeom prst="rightArrow">
                  <a:avLst>
                    <a:gd name="adj1" fmla="val 50000"/>
                    <a:gd name="adj2" fmla="val 91667"/>
                  </a:avLst>
                </a:prstGeom>
                <a:solidFill>
                  <a:srgbClr val="FFFFFF"/>
                </a:solidFill>
                <a:ln w="9525">
                  <a:solidFill>
                    <a:srgbClr val="C00000"/>
                  </a:solidFill>
                  <a:miter lim="800000"/>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800" b="1" i="1">
                            <a:solidFill>
                              <a:srgbClr val="C00000"/>
                            </a:solidFill>
                            <a:latin typeface="Cambria Math" panose="02040503050406030204" charset="0"/>
                            <a:ea typeface="MS Mincho" charset="0"/>
                            <a:cs typeface="Cambria Math" panose="02040503050406030204" charset="0"/>
                          </a:rPr>
                          <m:t>𝝈</m:t>
                        </m:r>
                      </m:oMath>
                    </m:oMathPara>
                  </a14:m>
                  <a:endParaRPr lang="en-US" altLang="zh-CN" sz="2800" b="1" i="1">
                    <a:solidFill>
                      <a:srgbClr val="C00000"/>
                    </a:solidFill>
                    <a:latin typeface="Cambria Math" panose="02040503050406030204" charset="0"/>
                    <a:ea typeface="MS Mincho" charset="0"/>
                    <a:cs typeface="Cambria Math" panose="02040503050406030204" charset="0"/>
                  </a:endParaRPr>
                </a:p>
              </p:txBody>
            </p:sp>
          </mc:Choice>
          <mc:Fallback xmlns="">
            <p:sp>
              <p:nvSpPr>
                <p:cNvPr id="89104" name="AutoShape 16"/>
                <p:cNvSpPr>
                  <a:spLocks noRot="1" noChangeAspect="1" noMove="1" noResize="1" noEditPoints="1" noAdjustHandles="1" noChangeArrowheads="1" noChangeShapeType="1" noTextEdit="1"/>
                </p:cNvSpPr>
                <p:nvPr/>
              </p:nvSpPr>
              <p:spPr bwMode="auto">
                <a:xfrm>
                  <a:off x="3491" y="1976"/>
                  <a:ext cx="604" cy="224"/>
                </a:xfrm>
                <a:prstGeom prst="rightArrow">
                  <a:avLst>
                    <a:gd name="adj1" fmla="val 50000"/>
                    <a:gd name="adj2" fmla="val 91667"/>
                  </a:avLst>
                </a:prstGeom>
                <a:blipFill rotWithShape="1">
                  <a:blip r:embed="rId3"/>
                </a:blipFill>
                <a:ln w="9525">
                  <a:solidFill>
                    <a:srgbClr val="C00000"/>
                  </a:solidFill>
                  <a:miter lim="800000"/>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105" name="Text Box 17"/>
                <p:cNvSpPr txBox="1">
                  <a:spLocks noChangeArrowheads="1"/>
                </p:cNvSpPr>
                <p:nvPr/>
              </p:nvSpPr>
              <p:spPr bwMode="auto">
                <a:xfrm>
                  <a:off x="4416" y="1728"/>
                  <a:ext cx="432" cy="15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2800" b="1" i="1">
                                <a:latin typeface="Cambria Math" panose="02040503050406030204" pitchFamily="18" charset="0"/>
                                <a:cs typeface="Cambria Math" panose="02040503050406030204" charset="0"/>
                              </a:rPr>
                            </m:ctrlPr>
                          </m:sSubPr>
                          <m:e>
                            <m:r>
                              <a:rPr lang="en-US" altLang="zh-CN" sz="2800" b="1" i="1">
                                <a:latin typeface="Cambria Math" panose="02040503050406030204" charset="0"/>
                                <a:cs typeface="Cambria Math" panose="02040503050406030204" charset="0"/>
                              </a:rPr>
                              <m:t>𝝈</m:t>
                            </m:r>
                          </m:e>
                          <m:sub>
                            <m:r>
                              <a:rPr lang="en-US" altLang="zh-CN" sz="2800" b="1" i="1">
                                <a:latin typeface="Cambria Math" panose="02040503050406030204" charset="0"/>
                                <a:cs typeface="Cambria Math" panose="02040503050406030204" charset="0"/>
                              </a:rPr>
                              <m:t>𝑭</m:t>
                            </m:r>
                          </m:sub>
                        </m:sSub>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𝑹</m:t>
                        </m:r>
                        <m:r>
                          <a:rPr lang="en-US" altLang="zh-CN" sz="2800" b="1" i="1">
                            <a:latin typeface="Cambria Math" panose="02040503050406030204" charset="0"/>
                            <a:cs typeface="Cambria Math" panose="02040503050406030204" charset="0"/>
                          </a:rPr>
                          <m:t>)</m:t>
                        </m:r>
                      </m:oMath>
                    </m:oMathPara>
                  </a14:m>
                  <a:endParaRPr lang="en-US" altLang="zh-CN" sz="2800" b="1"/>
                </a:p>
              </p:txBody>
            </p:sp>
          </mc:Choice>
          <mc:Fallback xmlns="">
            <p:sp>
              <p:nvSpPr>
                <p:cNvPr id="89105" name="Text Box 17"/>
                <p:cNvSpPr txBox="1">
                  <a:spLocks noRot="1" noChangeAspect="1" noMove="1" noResize="1" noEditPoints="1" noAdjustHandles="1" noChangeArrowheads="1" noChangeShapeType="1" noTextEdit="1"/>
                </p:cNvSpPr>
                <p:nvPr/>
              </p:nvSpPr>
              <p:spPr bwMode="auto">
                <a:xfrm>
                  <a:off x="4416" y="1728"/>
                  <a:ext cx="432" cy="152"/>
                </a:xfrm>
                <a:prstGeom prst="rect">
                  <a:avLst/>
                </a:prstGeom>
                <a:blipFill rotWithShape="1">
                  <a:blip r:embed="rId4"/>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
        <p:nvSpPr>
          <p:cNvPr id="2" name="灯片编号占位符 1"/>
          <p:cNvSpPr>
            <a:spLocks noGrp="1"/>
          </p:cNvSpPr>
          <p:nvPr>
            <p:ph type="sldNum" sz="quarter" idx="12"/>
          </p:nvPr>
        </p:nvSpPr>
        <p:spPr/>
        <p:txBody>
          <a:bodyPr/>
          <a:lstStyle/>
          <a:p>
            <a:fld id="{565CE74E-AB26-4998-AD42-012C4C1AD076}" type="slidenum">
              <a:rPr lang="zh-CN" altLang="en-US" smtClean="0"/>
              <a:t>35</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4" name="文本框 3"/>
              <p:cNvSpPr txBox="1"/>
              <p:nvPr/>
            </p:nvSpPr>
            <p:spPr>
              <a:xfrm>
                <a:off x="3599180" y="1975485"/>
                <a:ext cx="339725" cy="5219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𝑹</m:t>
                      </m:r>
                    </m:oMath>
                  </m:oMathPara>
                </a14:m>
                <a:endParaRPr lang="en-US" altLang="zh-CN" sz="2800" b="1" i="1"/>
              </a:p>
            </p:txBody>
          </p:sp>
        </mc:Choice>
        <mc:Fallback xmlns="">
          <p:sp>
            <p:nvSpPr>
              <p:cNvPr id="4" name="文本框 3"/>
              <p:cNvSpPr txBox="1">
                <a:spLocks noRot="1" noChangeAspect="1" noMove="1" noResize="1" noEditPoints="1" noAdjustHandles="1" noChangeArrowheads="1" noChangeShapeType="1" noTextEdit="1"/>
              </p:cNvSpPr>
              <p:nvPr/>
            </p:nvSpPr>
            <p:spPr>
              <a:xfrm>
                <a:off x="3599180" y="1975485"/>
                <a:ext cx="339725" cy="521970"/>
              </a:xfrm>
              <a:prstGeom prst="rect">
                <a:avLst/>
              </a:prstGeom>
              <a:blipFill rotWithShape="1">
                <a:blip r:embed="rId5"/>
                <a:stretch>
                  <a:fillRect/>
                </a:stretch>
              </a:blipFill>
            </p:spPr>
            <p:txBody>
              <a:bodyPr/>
              <a:lstStyle/>
              <a:p>
                <a:r>
                  <a:rPr lang="zh-CN" altLang="en-US">
                    <a:noFill/>
                  </a:rPr>
                  <a:t> </a:t>
                </a:r>
              </a:p>
            </p:txBody>
          </p:sp>
        </mc:Fallback>
      </mc:AlternateContent>
      <p:sp>
        <p:nvSpPr>
          <p:cNvPr id="5" name="Rectangle 3"/>
          <p:cNvSpPr>
            <a:spLocks noGrp="1" noChangeArrowheads="1"/>
          </p:cNvSpPr>
          <p:nvPr/>
        </p:nvSpPr>
        <p:spPr>
          <a:xfrm>
            <a:off x="424180" y="5469255"/>
            <a:ext cx="11343005" cy="1106805"/>
          </a:xfrm>
          <a:prstGeom prst="rect">
            <a:avLst/>
          </a:prstGeom>
        </p:spPr>
        <p:txBody>
          <a:bodyPr vert="horz" lIns="91440" tIns="45720" rIns="91440" bIns="45720" rtlCol="0">
            <a:spAutoFit/>
          </a:bodyPr>
          <a:lstStyle>
            <a:lvl1pPr marL="341630" indent="-34163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774065" indent="-31623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83005" indent="-26797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在关系</a:t>
            </a:r>
            <a:r>
              <a:rPr lang="en-US" altLang="zh-CN" dirty="0"/>
              <a:t>R</a:t>
            </a:r>
            <a:r>
              <a:rPr lang="zh-CN" altLang="en-US" dirty="0"/>
              <a:t>中，带有阴影背景的元组，代入到选择条件</a:t>
            </a:r>
            <a:r>
              <a:rPr lang="en-US" altLang="zh-CN" dirty="0"/>
              <a:t>F</a:t>
            </a:r>
            <a:r>
              <a:rPr lang="zh-CN" altLang="en-US" dirty="0"/>
              <a:t>中成立，其他元组被代入到选择条件</a:t>
            </a:r>
            <a:r>
              <a:rPr lang="en-US" altLang="zh-CN" dirty="0"/>
              <a:t>F</a:t>
            </a:r>
            <a:r>
              <a:rPr lang="zh-CN" altLang="en-US" dirty="0"/>
              <a:t>中不成立。</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选择</a:t>
            </a:r>
            <a:r>
              <a:rPr lang="en-US" altLang="zh-CN"/>
              <a:t>  3</a:t>
            </a:r>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p:txBody>
              <a:bodyPr>
                <a:normAutofit/>
              </a:bodyPr>
              <a:lstStyle/>
              <a:p>
                <a:pPr algn="just" fontAlgn="auto">
                  <a:lnSpc>
                    <a:spcPct val="100000"/>
                  </a:lnSpc>
                  <a:spcBef>
                    <a:spcPts val="1000"/>
                  </a:spcBef>
                </a:pPr>
                <a:r>
                  <a:rPr lang="zh-CN" altLang="en-US" sz="2800" dirty="0"/>
                  <a:t>选择：</a:t>
                </a:r>
                <a14:m>
                  <m:oMath xmlns:m="http://schemas.openxmlformats.org/officeDocument/2006/math">
                    <m:r>
                      <a:rPr lang="en-US" altLang="zh-CN" sz="2800" i="1" dirty="0" err="1">
                        <a:solidFill>
                          <a:srgbClr val="FF0000"/>
                        </a:solidFill>
                        <a:latin typeface="Cambria Math" panose="02040503050406030204" charset="0"/>
                        <a:cs typeface="Cambria Math" panose="02040503050406030204" charset="0"/>
                      </a:rPr>
                      <m:t>𝜎</m:t>
                    </m:r>
                    <m:r>
                      <a:rPr lang="en-US" altLang="zh-CN" sz="2800" i="1" baseline="-30000" dirty="0" err="1">
                        <a:solidFill>
                          <a:srgbClr val="FF0000"/>
                        </a:solidFill>
                        <a:latin typeface="Cambria Math" panose="02040503050406030204" charset="0"/>
                        <a:cs typeface="Cambria Math" panose="02040503050406030204" charset="0"/>
                      </a:rPr>
                      <m:t>𝐹</m:t>
                    </m:r>
                    <m:r>
                      <a:rPr lang="en-US" altLang="zh-CN" sz="2800" i="1"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𝑅</m:t>
                    </m:r>
                    <m:r>
                      <a:rPr lang="en-US" altLang="zh-CN" sz="2800" i="1" dirty="0">
                        <a:solidFill>
                          <a:srgbClr val="FF0000"/>
                        </a:solidFill>
                        <a:latin typeface="Cambria Math" panose="02040503050406030204" charset="0"/>
                        <a:cs typeface="Cambria Math" panose="02040503050406030204" charset="0"/>
                      </a:rPr>
                      <m:t>)</m:t>
                    </m:r>
                  </m:oMath>
                </a14:m>
                <a:endParaRPr lang="zh-CN" altLang="en-US" sz="2800" dirty="0">
                  <a:cs typeface="楷体" panose="02010609060101010101" charset="-122"/>
                  <a:sym typeface="+mn-ea"/>
                </a:endParaRPr>
              </a:p>
              <a:p>
                <a:pPr marL="914400" lvl="1" indent="-457200" algn="just" fontAlgn="auto">
                  <a:lnSpc>
                    <a:spcPct val="100000"/>
                  </a:lnSpc>
                  <a:spcBef>
                    <a:spcPts val="1000"/>
                  </a:spcBef>
                </a:pPr>
                <a:r>
                  <a:rPr lang="zh-CN" altLang="en-US" sz="2800" dirty="0">
                    <a:cs typeface="楷体" panose="02010609060101010101" charset="-122"/>
                    <a:sym typeface="+mn-ea"/>
                  </a:rPr>
                  <a:t>结果关系模式：与关系</a:t>
                </a:r>
                <a:r>
                  <a:rPr lang="en-US" altLang="zh-CN" sz="2800" dirty="0">
                    <a:cs typeface="楷体" panose="02010609060101010101" charset="-122"/>
                    <a:sym typeface="+mn-ea"/>
                  </a:rPr>
                  <a:t>R</a:t>
                </a:r>
                <a:r>
                  <a:rPr lang="zh-CN" altLang="en-US" sz="2800" dirty="0">
                    <a:cs typeface="楷体" panose="02010609060101010101" charset="-122"/>
                    <a:sym typeface="+mn-ea"/>
                  </a:rPr>
                  <a:t>相同</a:t>
                </a:r>
              </a:p>
              <a:p>
                <a:pPr marL="914400" lvl="1" indent="-457200" algn="just" fontAlgn="auto">
                  <a:lnSpc>
                    <a:spcPct val="100000"/>
                  </a:lnSpc>
                  <a:spcBef>
                    <a:spcPts val="1000"/>
                  </a:spcBef>
                </a:pPr>
                <a:r>
                  <a:rPr lang="zh-CN" altLang="en-US" sz="2800" dirty="0">
                    <a:cs typeface="楷体" panose="02010609060101010101" charset="-122"/>
                    <a:sym typeface="+mn-ea"/>
                  </a:rPr>
                  <a:t>结果关系元组：能够使选择条件</a:t>
                </a:r>
                <a:r>
                  <a:rPr lang="en-US" altLang="x-none" sz="2800" dirty="0">
                    <a:cs typeface="楷体" panose="02010609060101010101" charset="-122"/>
                    <a:sym typeface="+mn-ea"/>
                  </a:rPr>
                  <a:t>F</a:t>
                </a:r>
                <a:r>
                  <a:rPr lang="zh-CN" altLang="en-US" sz="2800" dirty="0">
                    <a:cs typeface="楷体" panose="02010609060101010101" charset="-122"/>
                    <a:sym typeface="+mn-ea"/>
                  </a:rPr>
                  <a:t>成立的关系</a:t>
                </a:r>
                <a:r>
                  <a:rPr lang="en-US" altLang="x-none" sz="2800" dirty="0">
                    <a:cs typeface="楷体" panose="02010609060101010101" charset="-122"/>
                    <a:sym typeface="+mn-ea"/>
                  </a:rPr>
                  <a:t>R</a:t>
                </a:r>
                <a:r>
                  <a:rPr lang="zh-CN" altLang="en-US" sz="2800" dirty="0">
                    <a:cs typeface="楷体" panose="02010609060101010101" charset="-122"/>
                    <a:sym typeface="+mn-ea"/>
                  </a:rPr>
                  <a:t>中的元组</a:t>
                </a:r>
                <a:endParaRPr lang="zh-CN" altLang="en-US" sz="2800" dirty="0"/>
              </a:p>
            </p:txBody>
          </p:sp>
        </mc:Choice>
        <mc:Fallback xmlns="">
          <p:sp>
            <p:nvSpPr>
              <p:cNvPr id="5" name="内容占位符 4"/>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36</a:t>
            </a:fld>
            <a:endParaRPr lang="zh-CN" altLang="en-US"/>
          </a:p>
        </p:txBody>
      </p:sp>
      <p:sp>
        <p:nvSpPr>
          <p:cNvPr id="6" name="页脚占位符 5"/>
          <p:cNvSpPr>
            <a:spLocks noGrp="1"/>
          </p:cNvSpPr>
          <p:nvPr>
            <p:ph type="ftr" sz="quarter" idx="11"/>
          </p:nvPr>
        </p:nvSpPr>
        <p:spPr>
          <a:xfrm>
            <a:off x="0" y="6695365"/>
            <a:ext cx="4114800" cy="153670"/>
          </a:xfrm>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84994" name="矩形 3074"/>
              <p:cNvSpPr/>
              <p:nvPr/>
            </p:nvSpPr>
            <p:spPr>
              <a:xfrm>
                <a:off x="1040765" y="2421890"/>
                <a:ext cx="10144125" cy="3987800"/>
              </a:xfrm>
              <a:prstGeom prst="rect">
                <a:avLst/>
              </a:prstGeom>
              <a:noFill/>
              <a:ln w="9525" cap="flat" cmpd="sng">
                <a:solidFill>
                  <a:schemeClr val="tx1"/>
                </a:solidFill>
                <a:prstDash val="solid"/>
                <a:miter/>
                <a:headEnd type="none" w="med" len="med"/>
                <a:tailEnd type="none" w="med" len="med"/>
              </a:ln>
            </p:spPr>
            <p:txBody>
              <a:bodyPr wrap="square" anchor="t">
                <a:spAutoFit/>
              </a:bodyPr>
              <a:lstStyle/>
              <a:p>
                <a:pPr marL="914400" lvl="1" indent="-457200" algn="l" fontAlgn="base">
                  <a:lnSpc>
                    <a:spcPct val="100000"/>
                  </a:lnSpc>
                  <a:spcBef>
                    <a:spcPts val="500"/>
                  </a:spcBef>
                  <a:spcAft>
                    <a:spcPct val="0"/>
                  </a:spcAft>
                  <a:buFont typeface="Arial" panose="020B0604020202020204" pitchFamily="34" charset="0"/>
                  <a:buNone/>
                </a:pP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r>
                      <a:rPr lang="en-US" altLang="zh-CN" sz="2800" b="1" i="1" spc="100">
                        <a:solidFill>
                          <a:srgbClr val="1F2DA8"/>
                        </a:solidFill>
                        <a:uFillTx/>
                        <a:latin typeface="Cambria Math" panose="02040503050406030204" charset="0"/>
                        <a:ea typeface="MS Mincho" charset="0"/>
                        <a:cs typeface="Cambria Math" panose="02040503050406030204" charset="0"/>
                      </a:rPr>
                      <m:t> </m:t>
                    </m:r>
                    <m:box>
                      <m:boxPr>
                        <m:noBreak m:val="on"/>
                        <m:ctrlPr>
                          <a:rPr lang="en-US" altLang="zh-CN" sz="2800" b="1" i="1" spc="100">
                            <a:solidFill>
                              <a:srgbClr val="1F2DA8"/>
                            </a:solidFill>
                            <a:uFillTx/>
                            <a:latin typeface="Cambria Math" panose="02040503050406030204" pitchFamily="18" charset="0"/>
                            <a:cs typeface="Cambria Math" panose="02040503050406030204" charset="0"/>
                          </a:rPr>
                        </m:ctrlPr>
                      </m:boxPr>
                      <m:e>
                        <m:r>
                          <a:rPr lang="en-US" altLang="zh-CN" sz="2800" b="1" i="1" spc="100">
                            <a:solidFill>
                              <a:srgbClr val="1F2DA8"/>
                            </a:solidFill>
                            <a:uFillTx/>
                            <a:latin typeface="Cambria Math" panose="02040503050406030204" charset="0"/>
                            <a:ea typeface="MS Mincho" charset="0"/>
                            <a:cs typeface="Cambria Math" panose="02040503050406030204" charset="0"/>
                          </a:rPr>
                          <m:t>∶=</m:t>
                        </m:r>
                      </m:e>
                    </m:box>
                    <m:r>
                      <a:rPr lang="en-US" altLang="zh-CN" sz="2800" b="1" i="1" spc="100">
                        <a:solidFill>
                          <a:srgbClr val="1F2DA8"/>
                        </a:solidFill>
                        <a:uFillTx/>
                        <a:latin typeface="Cambria Math" panose="02040503050406030204" charset="0"/>
                        <a:ea typeface="MS Mincho" charset="0"/>
                        <a:cs typeface="Cambria Math" panose="02040503050406030204" charset="0"/>
                      </a:rPr>
                      <m:t> {  }</m:t>
                    </m:r>
                  </m:oMath>
                </a14:m>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   </a:t>
                </a: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初始化结果元组集合</a:t>
                </a:r>
                <a:r>
                  <a:rPr lang="en-US" altLang="zh-CN" sz="2800" i="1">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 </a:t>
                </a: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a:t>
                </a:r>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50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for each tuple </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𝑹</m:t>
                    </m:r>
                  </m:oMath>
                </a14:m>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50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a:t>
                </a:r>
              </a:p>
              <a:p>
                <a:pPr marL="1371600" lvl="2" indent="-457200" algn="l" fontAlgn="base">
                  <a:lnSpc>
                    <a:spcPct val="100000"/>
                  </a:lnSpc>
                  <a:spcBef>
                    <a:spcPts val="500"/>
                  </a:spcBef>
                  <a:spcAft>
                    <a:spcPct val="0"/>
                  </a:spcAft>
                  <a:buFont typeface="Arial" panose="020B0604020202020204" pitchFamily="34" charset="0"/>
                  <a:buNone/>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将元组</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oMath>
                </a14:m>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的属性值代入到条件表达式</a:t>
                </a:r>
                <a14:m>
                  <m:oMath xmlns:m="http://schemas.openxmlformats.org/officeDocument/2006/math">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𝑭</m:t>
                    </m:r>
                  </m:oMath>
                </a14:m>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中进行计算</a:t>
                </a:r>
                <a:r>
                  <a:rPr lang="en-US" altLang="zh-CN" sz="2800" i="1">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 </a:t>
                </a: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a:t>
                </a:r>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1371600" lvl="2" indent="-457200">
                  <a:lnSpc>
                    <a:spcPct val="100000"/>
                  </a:lnSpc>
                  <a:spcBef>
                    <a:spcPts val="50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if  </a:t>
                </a:r>
                <a14:m>
                  <m:oMath xmlns:m="http://schemas.openxmlformats.org/officeDocument/2006/math">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𝑭</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m:t>
                    </m:r>
                    <m:r>
                      <a:rPr lang="en-US" sz="2800" b="1" i="1">
                        <a:solidFill>
                          <a:srgbClr val="1F2DA8"/>
                        </a:solidFill>
                        <a:latin typeface="Cambria Math" panose="02040503050406030204" charset="0"/>
                        <a:cs typeface="Cambria Math" panose="02040503050406030204" charset="0"/>
                        <a:sym typeface="Symbol" panose="05050102010706020507" pitchFamily="2" charset="2"/>
                      </a:rPr>
                      <m:t>𝒕𝒓𝒖𝒆</m:t>
                    </m:r>
                  </m:oMath>
                </a14:m>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p>
              <a:p>
                <a:pPr marL="1371600" lvl="2" indent="-457200">
                  <a:lnSpc>
                    <a:spcPct val="100000"/>
                  </a:lnSpc>
                  <a:spcBef>
                    <a:spcPts val="50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then  </a:t>
                </a: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add tuple </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oMath>
                </a14:m>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 into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50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rPr>
                  <a:t>}</a:t>
                </a:r>
              </a:p>
              <a:p>
                <a:pPr marL="914400" lvl="1" indent="-457200" algn="l" fontAlgn="base">
                  <a:lnSpc>
                    <a:spcPct val="100000"/>
                  </a:lnSpc>
                  <a:spcBef>
                    <a:spcPts val="50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rPr>
                  <a:t>return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u="none" baseline="0">
                  <a:solidFill>
                    <a:srgbClr val="1F2DA8"/>
                  </a:solidFill>
                  <a:latin typeface="Times New Roman" panose="02020603050405020304" charset="0"/>
                  <a:cs typeface="Times New Roman" panose="02020603050405020304" charset="0"/>
                </a:endParaRPr>
              </a:p>
            </p:txBody>
          </p:sp>
        </mc:Choice>
        <mc:Fallback xmlns="">
          <p:sp>
            <p:nvSpPr>
              <p:cNvPr id="84994" name="矩形 3074"/>
              <p:cNvSpPr>
                <a:spLocks noRot="1" noChangeAspect="1" noMove="1" noResize="1" noEditPoints="1" noAdjustHandles="1" noChangeArrowheads="1" noChangeShapeType="1" noTextEdit="1"/>
              </p:cNvSpPr>
              <p:nvPr/>
            </p:nvSpPr>
            <p:spPr>
              <a:xfrm>
                <a:off x="1040765" y="2421890"/>
                <a:ext cx="10144125" cy="3987800"/>
              </a:xfrm>
              <a:prstGeom prst="rect">
                <a:avLst/>
              </a:prstGeom>
              <a:blipFill rotWithShape="1">
                <a:blip r:embed="rId3"/>
                <a:stretch>
                  <a:fillRect l="-50" t="-127" r="-44" b="-111"/>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noProof="0" dirty="0">
                <a:ln>
                  <a:noFill/>
                </a:ln>
                <a:effectLst/>
                <a:uLnTx/>
                <a:uFillTx/>
                <a:latin typeface="+mj-ea"/>
                <a:cs typeface="+mj-ea"/>
                <a:sym typeface="+mn-ea"/>
              </a:rPr>
              <a:t>选择 </a:t>
            </a:r>
            <a:r>
              <a:rPr lang="en-US" altLang="zh-CN" kern="0" noProof="0" dirty="0">
                <a:ln>
                  <a:noFill/>
                </a:ln>
                <a:effectLst/>
                <a:uLnTx/>
                <a:uFillTx/>
                <a:latin typeface="+mj-ea"/>
                <a:cs typeface="+mj-ea"/>
                <a:sym typeface="+mn-ea"/>
              </a:rPr>
              <a:t>3</a:t>
            </a:r>
            <a:endParaRPr lang="zh-CN" altLang="en-US">
              <a:latin typeface="+mj-ea"/>
              <a:cs typeface="+mj-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lgn="just" fontAlgn="auto">
                  <a:lnSpc>
                    <a:spcPct val="90000"/>
                  </a:lnSpc>
                  <a:spcAft>
                    <a:spcPts val="1000"/>
                  </a:spcAft>
                </a:pPr>
                <a:r>
                  <a:rPr lang="zh-CN" altLang="en-US" sz="3000" dirty="0">
                    <a:cs typeface="楷体" panose="02010609060101010101" charset="-122"/>
                    <a:sym typeface="+mn-ea"/>
                  </a:rPr>
                  <a:t>例</a:t>
                </a:r>
                <a:r>
                  <a:rPr lang="en-US" altLang="zh-CN" sz="3000" dirty="0">
                    <a:cs typeface="楷体" panose="02010609060101010101" charset="-122"/>
                    <a:sym typeface="+mn-ea"/>
                  </a:rPr>
                  <a:t>2.4</a:t>
                </a:r>
                <a:r>
                  <a:rPr lang="zh-CN" altLang="en-US" sz="3000" dirty="0">
                    <a:cs typeface="楷体" panose="02010609060101010101" charset="-122"/>
                    <a:sym typeface="+mn-ea"/>
                  </a:rPr>
                  <a:t>：</a:t>
                </a:r>
                <a:r>
                  <a:rPr lang="zh-CN" altLang="en-US" sz="3000" dirty="0">
                    <a:sym typeface="+mn-ea"/>
                  </a:rPr>
                  <a:t>查询信息系（</a:t>
                </a:r>
                <a:r>
                  <a:rPr lang="en-US" altLang="zh-CN" sz="3000" dirty="0">
                    <a:sym typeface="+mn-ea"/>
                  </a:rPr>
                  <a:t>IS</a:t>
                </a:r>
                <a:r>
                  <a:rPr lang="zh-CN" altLang="en-US" sz="3000" dirty="0">
                    <a:sym typeface="+mn-ea"/>
                  </a:rPr>
                  <a:t>系）全体学生。</a:t>
                </a:r>
              </a:p>
              <a:p>
                <a:pPr lvl="1" algn="just" fontAlgn="auto">
                  <a:lnSpc>
                    <a:spcPct val="90000"/>
                  </a:lnSpc>
                  <a:spcBef>
                    <a:spcPts val="1000"/>
                  </a:spcBef>
                  <a:spcAft>
                    <a:spcPts val="1000"/>
                  </a:spcAft>
                </a:pPr>
                <a:r>
                  <a:rPr lang="zh-CN" altLang="en-US" sz="3000" dirty="0">
                    <a:sym typeface="+mn-ea"/>
                  </a:rPr>
                  <a:t>关系代数表达式为：</a:t>
                </a:r>
                <a:endParaRPr lang="zh-CN" altLang="en-US" sz="3000" dirty="0"/>
              </a:p>
              <a:p>
                <a:pPr algn="ctr" eaLnBrk="1" hangingPunct="1">
                  <a:lnSpc>
                    <a:spcPct val="90000"/>
                  </a:lnSpc>
                  <a:buFont typeface="Wingdings" panose="05000000000000000000" pitchFamily="2" charset="2"/>
                  <a:buNone/>
                </a:pPr>
                <a14:m>
                  <m:oMathPara xmlns:m="http://schemas.openxmlformats.org/officeDocument/2006/math">
                    <m:oMathParaPr>
                      <m:jc m:val="center"/>
                    </m:oMathParaPr>
                    <m:oMath xmlns:m="http://schemas.openxmlformats.org/officeDocument/2006/math">
                      <m:r>
                        <a:rPr lang="en-US" altLang="zh-CN" sz="3000" i="1" dirty="0" err="1">
                          <a:solidFill>
                            <a:srgbClr val="FF0000"/>
                          </a:solidFill>
                          <a:latin typeface="Cambria Math" panose="02040503050406030204" charset="0"/>
                          <a:cs typeface="Cambria Math" panose="02040503050406030204" charset="0"/>
                          <a:sym typeface="+mn-ea"/>
                        </a:rPr>
                        <m:t>𝜎</m:t>
                      </m:r>
                      <m:r>
                        <a:rPr lang="en-US" altLang="zh-CN" sz="3000" i="1" baseline="-30000" dirty="0" err="1">
                          <a:solidFill>
                            <a:srgbClr val="FF0000"/>
                          </a:solidFill>
                          <a:latin typeface="Cambria Math" panose="02040503050406030204" charset="0"/>
                          <a:cs typeface="Cambria Math" panose="02040503050406030204" charset="0"/>
                          <a:sym typeface="+mn-ea"/>
                        </a:rPr>
                        <m:t>𝑆𝑑𝑒𝑝𝑡</m:t>
                      </m:r>
                      <m:r>
                        <a:rPr lang="en-US" altLang="zh-CN" sz="3000" i="1" baseline="-30000" dirty="0">
                          <a:solidFill>
                            <a:srgbClr val="FF0000"/>
                          </a:solidFill>
                          <a:latin typeface="Cambria Math" panose="02040503050406030204" charset="0"/>
                          <a:cs typeface="Cambria Math" panose="02040503050406030204" charset="0"/>
                          <a:sym typeface="+mn-ea"/>
                        </a:rPr>
                        <m:t>=′</m:t>
                      </m:r>
                      <m:r>
                        <a:rPr lang="en-US" altLang="zh-CN" sz="3000" i="1" baseline="-30000" dirty="0">
                          <a:solidFill>
                            <a:srgbClr val="FF0000"/>
                          </a:solidFill>
                          <a:latin typeface="Cambria Math" panose="02040503050406030204" charset="0"/>
                          <a:cs typeface="Cambria Math" panose="02040503050406030204" charset="0"/>
                          <a:sym typeface="+mn-ea"/>
                        </a:rPr>
                        <m:t>𝐼𝑆</m:t>
                      </m:r>
                      <m:r>
                        <a:rPr lang="en-US" altLang="zh-CN" sz="3000" i="1" baseline="-30000" dirty="0">
                          <a:solidFill>
                            <a:srgbClr val="FF0000"/>
                          </a:solidFill>
                          <a:latin typeface="Cambria Math" panose="02040503050406030204" charset="0"/>
                          <a:cs typeface="Cambria Math" panose="02040503050406030204" charset="0"/>
                          <a:sym typeface="+mn-ea"/>
                        </a:rPr>
                        <m:t>′ (</m:t>
                      </m:r>
                      <m:r>
                        <a:rPr lang="en-US" altLang="zh-CN" sz="3000" i="1" dirty="0">
                          <a:solidFill>
                            <a:srgbClr val="FF0000"/>
                          </a:solidFill>
                          <a:latin typeface="Cambria Math" panose="02040503050406030204" charset="0"/>
                          <a:cs typeface="Cambria Math" panose="02040503050406030204" charset="0"/>
                          <a:sym typeface="+mn-ea"/>
                        </a:rPr>
                        <m:t>𝑆𝑡𝑢𝑑𝑒𝑛𝑡</m:t>
                      </m:r>
                      <m:r>
                        <a:rPr lang="en-US" altLang="zh-CN" sz="3000" i="1" dirty="0">
                          <a:solidFill>
                            <a:srgbClr val="FF0000"/>
                          </a:solidFill>
                          <a:latin typeface="Cambria Math" panose="02040503050406030204" charset="0"/>
                          <a:cs typeface="Cambria Math" panose="02040503050406030204" charset="0"/>
                          <a:sym typeface="+mn-ea"/>
                        </a:rPr>
                        <m:t>)</m:t>
                      </m:r>
                    </m:oMath>
                  </m:oMathPara>
                </a14:m>
                <a:endParaRPr lang="en-US" altLang="zh-CN" sz="3000" dirty="0">
                  <a:solidFill>
                    <a:srgbClr val="FF0000"/>
                  </a:solidFill>
                  <a:sym typeface="+mn-ea"/>
                </a:endParaRPr>
              </a:p>
              <a:p>
                <a:pPr algn="l" eaLnBrk="1" hangingPunct="1">
                  <a:lnSpc>
                    <a:spcPct val="90000"/>
                  </a:lnSpc>
                  <a:buFont typeface="Wingdings" panose="05000000000000000000" pitchFamily="2" charset="2"/>
                  <a:buNone/>
                </a:pPr>
                <a:endParaRPr lang="en-US" altLang="zh-CN" sz="3000" dirty="0"/>
              </a:p>
              <a:p>
                <a:pPr lvl="1" algn="just" eaLnBrk="1" hangingPunct="1">
                  <a:lnSpc>
                    <a:spcPct val="90000"/>
                  </a:lnSpc>
                </a:pPr>
                <a:r>
                  <a:rPr lang="zh-CN" altLang="en-US" sz="3000" dirty="0">
                    <a:sym typeface="+mn-ea"/>
                  </a:rPr>
                  <a:t>结果：图</a:t>
                </a:r>
                <a:r>
                  <a:rPr lang="en-US" altLang="zh-CN" sz="3000" dirty="0">
                    <a:sym typeface="+mn-ea"/>
                  </a:rPr>
                  <a:t>2.5(a)</a:t>
                </a:r>
                <a:endParaRPr lang="zh-CN" altLang="en-US" sz="3000" dirty="0">
                  <a:sym typeface="+mn-ea"/>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783" t="-2151"/>
                </a:stretch>
              </a:blipFill>
            </p:spPr>
            <p:txBody>
              <a:bodyPr/>
              <a:lstStyle/>
              <a:p>
                <a:r>
                  <a:rPr lang="zh-CN" altLang="en-US">
                    <a:noFill/>
                  </a:rPr>
                  <a:t> </a:t>
                </a:r>
              </a:p>
            </p:txBody>
          </p:sp>
        </mc:Fallback>
      </mc:AlternateContent>
      <p:graphicFrame>
        <p:nvGraphicFramePr>
          <p:cNvPr id="510068" name="Group 116"/>
          <p:cNvGraphicFramePr>
            <a:graphicFrameLocks noGrp="1"/>
          </p:cNvGraphicFramePr>
          <p:nvPr/>
        </p:nvGraphicFramePr>
        <p:xfrm>
          <a:off x="424180" y="3589655"/>
          <a:ext cx="11343005" cy="1439545"/>
        </p:xfrm>
        <a:graphic>
          <a:graphicData uri="http://schemas.openxmlformats.org/drawingml/2006/table">
            <a:tbl>
              <a:tblPr/>
              <a:tblGrid>
                <a:gridCol w="2492375">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2262505">
                  <a:extLst>
                    <a:ext uri="{9D8B030D-6E8A-4147-A177-3AD203B41FA5}">
                      <a16:colId xmlns:a16="http://schemas.microsoft.com/office/drawing/2014/main" val="20002"/>
                    </a:ext>
                  </a:extLst>
                </a:gridCol>
                <a:gridCol w="2269490">
                  <a:extLst>
                    <a:ext uri="{9D8B030D-6E8A-4147-A177-3AD203B41FA5}">
                      <a16:colId xmlns:a16="http://schemas.microsoft.com/office/drawing/2014/main" val="20003"/>
                    </a:ext>
                  </a:extLst>
                </a:gridCol>
                <a:gridCol w="2270760">
                  <a:extLst>
                    <a:ext uri="{9D8B030D-6E8A-4147-A177-3AD203B41FA5}">
                      <a16:colId xmlns:a16="http://schemas.microsoft.com/office/drawing/2014/main" val="20004"/>
                    </a:ext>
                  </a:extLst>
                </a:gridCol>
              </a:tblGrid>
              <a:tr h="61531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楷体" panose="02010609060101010101" charset="-122"/>
                          <a:ea typeface="楷体" panose="02010609060101010101" charset="-122"/>
                        </a:rPr>
                        <a:t>Sno</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rPr>
                        <a:t>Sname</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rPr>
                        <a:t>Ssex</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rPr>
                        <a:t>Sage</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楷体" panose="02010609060101010101" charset="-122"/>
                          <a:ea typeface="楷体" panose="02010609060101010101" charset="-122"/>
                        </a:rPr>
                        <a:t>Sdept</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82423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201215125</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楷体" panose="02010609060101010101" charset="-122"/>
                          <a:ea typeface="楷体" panose="02010609060101010101" charset="-122"/>
                        </a:rPr>
                        <a:t>张立</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楷体" panose="02010609060101010101" charset="-122"/>
                          <a:ea typeface="楷体" panose="02010609060101010101" charset="-122"/>
                        </a:rPr>
                        <a:t>男</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19</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IS</a:t>
                      </a:r>
                    </a:p>
                  </a:txBody>
                  <a:tcPr marL="90000" marR="90000" marT="46790" marB="467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灯片编号占位符 4"/>
          <p:cNvSpPr>
            <a:spLocks noGrp="1"/>
          </p:cNvSpPr>
          <p:nvPr>
            <p:ph type="sldNum" sz="quarter" idx="12"/>
          </p:nvPr>
        </p:nvSpPr>
        <p:spPr/>
        <p:txBody>
          <a:bodyPr/>
          <a:lstStyle/>
          <a:p>
            <a:fld id="{565CE74E-AB26-4998-AD42-012C4C1AD076}" type="slidenum">
              <a:rPr lang="zh-CN" altLang="en-US" smtClean="0"/>
              <a:t>37</a:t>
            </a:fld>
            <a:endParaRPr lang="zh-CN" altLang="en-US"/>
          </a:p>
        </p:txBody>
      </p:sp>
      <p:sp>
        <p:nvSpPr>
          <p:cNvPr id="6" name="页脚占位符 5"/>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4" name="文本框 3"/>
              <p:cNvSpPr txBox="1"/>
              <p:nvPr/>
            </p:nvSpPr>
            <p:spPr>
              <a:xfrm>
                <a:off x="424180" y="5720715"/>
                <a:ext cx="11374120" cy="553085"/>
              </a:xfrm>
              <a:prstGeom prst="rect">
                <a:avLst/>
              </a:prstGeom>
              <a:solidFill>
                <a:schemeClr val="accent1">
                  <a:lumMod val="20000"/>
                  <a:lumOff val="80000"/>
                  <a:alpha val="50000"/>
                </a:schemeClr>
              </a:solidFill>
            </p:spPr>
            <p:txBody>
              <a:bodyPr wrap="square" rtlCol="0">
                <a:spAutoFit/>
              </a:bodyPr>
              <a:lstStyle/>
              <a:p>
                <a:pPr marL="914400" lvl="1" indent="-457200">
                  <a:buClr>
                    <a:srgbClr val="C00000"/>
                  </a:buClr>
                  <a:buSzPct val="85000"/>
                  <a:buFont typeface="Wingdings" panose="05000000000000000000" charset="0"/>
                  <a:buChar char="Ø"/>
                </a:pPr>
                <a:r>
                  <a:rPr lang="zh-CN" altLang="en-US" sz="3000" b="1">
                    <a:solidFill>
                      <a:srgbClr val="1F2DA8"/>
                    </a:solidFill>
                    <a:latin typeface="楷体" panose="02010609060101010101" charset="-122"/>
                    <a:ea typeface="楷体" panose="02010609060101010101" charset="-122"/>
                  </a:rPr>
                  <a:t>也可表示为：</a:t>
                </a:r>
                <a14:m>
                  <m:oMath xmlns:m="http://schemas.openxmlformats.org/officeDocument/2006/math">
                    <m:r>
                      <a:rPr lang="en-US" altLang="zh-CN" sz="3000" b="1" i="1">
                        <a:solidFill>
                          <a:srgbClr val="C00000"/>
                        </a:solidFill>
                        <a:latin typeface="Cambria Math" panose="02040503050406030204" charset="0"/>
                        <a:cs typeface="Cambria Math" panose="02040503050406030204" charset="0"/>
                      </a:rPr>
                      <m:t>𝑺𝒕𝒖𝒅𝒆𝒏𝒕</m:t>
                    </m:r>
                    <m:r>
                      <a:rPr lang="en-US" altLang="zh-CN" sz="3000" b="1" i="1">
                        <a:solidFill>
                          <a:srgbClr val="C00000"/>
                        </a:solidFill>
                        <a:latin typeface="Cambria Math" panose="02040503050406030204" charset="0"/>
                        <a:cs typeface="Cambria Math" panose="02040503050406030204" charset="0"/>
                      </a:rPr>
                      <m:t>  </m:t>
                    </m:r>
                    <m:r>
                      <a:rPr lang="en-US" altLang="zh-CN" sz="3000" b="1" i="1">
                        <a:solidFill>
                          <a:srgbClr val="C00000"/>
                        </a:solidFill>
                        <a:latin typeface="Cambria Math" panose="02040503050406030204" charset="0"/>
                        <a:cs typeface="Cambria Math" panose="02040503050406030204" charset="0"/>
                      </a:rPr>
                      <m:t>𝒘𝒉𝒆𝒓𝒆</m:t>
                    </m:r>
                    <m:r>
                      <a:rPr lang="en-US" altLang="zh-CN" sz="3000" b="1" i="1">
                        <a:solidFill>
                          <a:srgbClr val="C00000"/>
                        </a:solidFill>
                        <a:latin typeface="Cambria Math" panose="02040503050406030204" charset="0"/>
                        <a:cs typeface="Cambria Math" panose="02040503050406030204" charset="0"/>
                      </a:rPr>
                      <m:t>  </m:t>
                    </m:r>
                    <m:r>
                      <a:rPr lang="en-US" altLang="zh-CN" sz="3000" b="1" i="1">
                        <a:solidFill>
                          <a:srgbClr val="C00000"/>
                        </a:solidFill>
                        <a:latin typeface="Cambria Math" panose="02040503050406030204" charset="0"/>
                        <a:cs typeface="Cambria Math" panose="02040503050406030204" charset="0"/>
                      </a:rPr>
                      <m:t>𝑺𝒅𝒆𝒑𝒕</m:t>
                    </m:r>
                    <m:r>
                      <a:rPr lang="en-US" altLang="zh-CN" sz="3000" b="1" i="1">
                        <a:solidFill>
                          <a:srgbClr val="C00000"/>
                        </a:solidFill>
                        <a:latin typeface="Cambria Math" panose="02040503050406030204" charset="0"/>
                        <a:cs typeface="Cambria Math" panose="02040503050406030204" charset="0"/>
                      </a:rPr>
                      <m:t>=’</m:t>
                    </m:r>
                    <m:r>
                      <a:rPr lang="en-US" altLang="zh-CN" sz="3000" b="1" i="1">
                        <a:solidFill>
                          <a:srgbClr val="C00000"/>
                        </a:solidFill>
                        <a:latin typeface="Cambria Math" panose="02040503050406030204" charset="0"/>
                        <a:cs typeface="Cambria Math" panose="02040503050406030204" charset="0"/>
                      </a:rPr>
                      <m:t>𝑰𝑺</m:t>
                    </m:r>
                    <m:r>
                      <a:rPr lang="en-US" altLang="zh-CN" sz="3000" b="1" i="1">
                        <a:solidFill>
                          <a:srgbClr val="C00000"/>
                        </a:solidFill>
                        <a:latin typeface="Cambria Math" panose="02040503050406030204" charset="0"/>
                        <a:ea typeface="MS Mincho" charset="0"/>
                        <a:cs typeface="Cambria Math" panose="02040503050406030204" charset="0"/>
                      </a:rPr>
                      <m:t>’</m:t>
                    </m:r>
                  </m:oMath>
                </a14:m>
                <a:endParaRPr lang="en-US" altLang="zh-CN" sz="3000" b="1" i="1">
                  <a:solidFill>
                    <a:srgbClr val="C0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24180" y="5720715"/>
                <a:ext cx="11374120" cy="55308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510068"/>
                                        </p:tgtEl>
                                        <p:attrNameLst>
                                          <p:attrName>style.visibility</p:attrName>
                                        </p:attrNameLst>
                                      </p:cBhvr>
                                      <p:to>
                                        <p:strVal val="visible"/>
                                      </p:to>
                                    </p:set>
                                    <p:animEffect transition="in" filter="blinds(horizontal)">
                                      <p:cBhvr>
                                        <p:cTn id="19" dur="500"/>
                                        <p:tgtEl>
                                          <p:spTgt spid="51006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kumimoji="0" lang="zh-CN" altLang="en-US" sz="2800" i="0" u="none" strike="noStrike" kern="0" cap="none" spc="0" normalizeH="0" baseline="0" noProof="0" dirty="0">
                <a:ln>
                  <a:noFill/>
                </a:ln>
                <a:solidFill>
                  <a:schemeClr val="tx1"/>
                </a:solidFill>
                <a:effectLst/>
                <a:uLnTx/>
                <a:uFillTx/>
                <a:latin typeface="+mj-ea"/>
                <a:ea typeface="+mj-ea"/>
                <a:cs typeface="+mj-ea"/>
              </a:rPr>
              <a:t>选择 4</a:t>
            </a:r>
            <a:endParaRPr kumimoji="0" lang="en-US" altLang="zh-CN" sz="3200" b="1" i="0" u="none" strike="noStrike" kern="0" cap="none" spc="0" normalizeH="0" baseline="0" noProof="0" dirty="0">
              <a:ln>
                <a:noFill/>
              </a:ln>
              <a:solidFill>
                <a:schemeClr val="tx1"/>
              </a:solidFill>
              <a:effectLst/>
              <a:uLnTx/>
              <a:uFillTx/>
              <a:latin typeface="Verdana" panose="020B0604030504040204"/>
              <a:ea typeface="+mj-ea"/>
              <a:cs typeface="+mj-cs"/>
            </a:endParaRPr>
          </a:p>
        </p:txBody>
      </p:sp>
      <mc:AlternateContent xmlns:mc="http://schemas.openxmlformats.org/markup-compatibility/2006" xmlns:a14="http://schemas.microsoft.com/office/drawing/2010/main">
        <mc:Choice Requires="a14">
          <p:sp>
            <p:nvSpPr>
              <p:cNvPr id="91139" name="Rectangle 3"/>
              <p:cNvSpPr>
                <a:spLocks noGrp="1" noChangeArrowheads="1"/>
              </p:cNvSpPr>
              <p:nvPr>
                <p:ph type="body" sz="half" idx="4294967295"/>
              </p:nvPr>
            </p:nvSpPr>
            <p:spPr>
              <a:xfrm>
                <a:off x="424800" y="687600"/>
                <a:ext cx="11343600" cy="2154555"/>
              </a:xfrm>
            </p:spPr>
            <p:txBody>
              <a:bodyPr>
                <a:spAutoFit/>
              </a:bodyPr>
              <a:lstStyle/>
              <a:p>
                <a:pPr algn="just" fontAlgn="auto">
                  <a:lnSpc>
                    <a:spcPct val="120000"/>
                  </a:lnSpc>
                </a:pPr>
                <a:r>
                  <a:rPr lang="zh-CN" altLang="en-US" sz="2800" dirty="0"/>
                  <a:t>例</a:t>
                </a:r>
                <a:r>
                  <a:rPr lang="en-US" altLang="zh-CN" sz="2800" dirty="0">
                    <a:ea typeface="黑体" panose="02010609060101010101" pitchFamily="1" charset="-122"/>
                  </a:rPr>
                  <a:t>2.5</a:t>
                </a:r>
                <a:r>
                  <a:rPr lang="zh-CN" altLang="en-US" sz="2800" dirty="0">
                    <a:ea typeface="黑体" panose="02010609060101010101" pitchFamily="1" charset="-122"/>
                  </a:rPr>
                  <a:t>：</a:t>
                </a:r>
                <a:r>
                  <a:rPr lang="zh-CN" altLang="en-US" sz="2800" dirty="0"/>
                  <a:t>查询年龄小于</a:t>
                </a:r>
                <a:r>
                  <a:rPr lang="en-US" altLang="zh-CN" sz="2800" dirty="0"/>
                  <a:t>20</a:t>
                </a:r>
                <a:r>
                  <a:rPr lang="zh-CN" altLang="en-US" sz="2800" dirty="0"/>
                  <a:t>岁的学生。</a:t>
                </a:r>
              </a:p>
              <a:p>
                <a:pPr marL="762000" lvl="1" indent="-304165" algn="l" fontAlgn="auto">
                  <a:lnSpc>
                    <a:spcPct val="120000"/>
                  </a:lnSpc>
                  <a:spcBef>
                    <a:spcPts val="2000"/>
                  </a:spcBef>
                </a:pPr>
                <a:r>
                  <a:rPr lang="zh-CN" altLang="en-US" sz="2800" dirty="0" err="1">
                    <a:solidFill>
                      <a:srgbClr val="1F2DA8"/>
                    </a:solidFill>
                    <a:latin typeface="Cambria Math" panose="02040503050406030204" charset="0"/>
                    <a:cs typeface="Cambria Math" panose="02040503050406030204" charset="0"/>
                  </a:rPr>
                  <a:t>关系代数表达式为：</a:t>
                </a:r>
                <a14:m>
                  <m:oMath xmlns:m="http://schemas.openxmlformats.org/officeDocument/2006/math">
                    <m:r>
                      <a:rPr lang="en-US" altLang="zh-CN" sz="2800" i="1" dirty="0" err="1">
                        <a:solidFill>
                          <a:schemeClr val="accent6"/>
                        </a:solidFill>
                        <a:latin typeface="Cambria Math" panose="02040503050406030204" charset="0"/>
                        <a:cs typeface="Cambria Math" panose="02040503050406030204" charset="0"/>
                      </a:rPr>
                      <m:t>𝜎</m:t>
                    </m:r>
                    <m:r>
                      <a:rPr lang="en-US" altLang="zh-CN" sz="2800" i="1" baseline="-30000" dirty="0" err="1">
                        <a:solidFill>
                          <a:schemeClr val="accent6"/>
                        </a:solidFill>
                        <a:latin typeface="Cambria Math" panose="02040503050406030204" charset="0"/>
                        <a:cs typeface="Cambria Math" panose="02040503050406030204" charset="0"/>
                      </a:rPr>
                      <m:t>𝑆𝑎𝑔𝑒</m:t>
                    </m:r>
                    <m:r>
                      <a:rPr lang="en-US" altLang="zh-CN" sz="2800" i="1" baseline="-30000" dirty="0">
                        <a:solidFill>
                          <a:schemeClr val="accent6"/>
                        </a:solidFill>
                        <a:latin typeface="Cambria Math" panose="02040503050406030204" charset="0"/>
                        <a:cs typeface="Cambria Math" panose="02040503050406030204" charset="0"/>
                      </a:rPr>
                      <m:t>&lt;20 </m:t>
                    </m:r>
                    <m:r>
                      <a:rPr lang="en-US" altLang="zh-CN" sz="2800" i="1" dirty="0">
                        <a:solidFill>
                          <a:schemeClr val="accent6"/>
                        </a:solidFill>
                        <a:latin typeface="Cambria Math" panose="02040503050406030204" charset="0"/>
                        <a:cs typeface="Cambria Math" panose="02040503050406030204" charset="0"/>
                      </a:rPr>
                      <m:t>(</m:t>
                    </m:r>
                    <m:r>
                      <a:rPr lang="en-US" altLang="zh-CN" sz="2800" i="1" dirty="0">
                        <a:solidFill>
                          <a:schemeClr val="accent6"/>
                        </a:solidFill>
                        <a:latin typeface="Cambria Math" panose="02040503050406030204" charset="0"/>
                        <a:cs typeface="Cambria Math" panose="02040503050406030204" charset="0"/>
                      </a:rPr>
                      <m:t>𝑆𝑡𝑢𝑑𝑒𝑛𝑡</m:t>
                    </m:r>
                    <m:r>
                      <a:rPr lang="en-US" altLang="zh-CN" sz="2800" i="1" dirty="0">
                        <a:solidFill>
                          <a:schemeClr val="accent6"/>
                        </a:solidFill>
                        <a:latin typeface="Cambria Math" panose="02040503050406030204" charset="0"/>
                        <a:cs typeface="Cambria Math" panose="02040503050406030204" charset="0"/>
                      </a:rPr>
                      <m:t>)</m:t>
                    </m:r>
                  </m:oMath>
                </a14:m>
                <a:endParaRPr lang="en-US" altLang="zh-CN" sz="2800" dirty="0"/>
              </a:p>
              <a:p>
                <a:pPr marL="810895" lvl="1" indent="-353060" algn="just" fontAlgn="auto">
                  <a:lnSpc>
                    <a:spcPct val="120000"/>
                  </a:lnSpc>
                  <a:spcBef>
                    <a:spcPts val="2000"/>
                  </a:spcBef>
                </a:pPr>
                <a:r>
                  <a:rPr lang="zh-CN" altLang="en-US" sz="2800" dirty="0"/>
                  <a:t>结果：</a:t>
                </a:r>
                <a:r>
                  <a:rPr lang="zh-CN" altLang="en-US" dirty="0">
                    <a:sym typeface="+mn-ea"/>
                  </a:rPr>
                  <a:t>图</a:t>
                </a:r>
                <a:r>
                  <a:rPr lang="en-US" altLang="zh-CN" dirty="0">
                    <a:sym typeface="+mn-ea"/>
                  </a:rPr>
                  <a:t>2.5(b)</a:t>
                </a:r>
                <a:r>
                  <a:rPr lang="zh-CN" altLang="en-US" sz="2800" dirty="0"/>
                  <a:t> </a:t>
                </a:r>
              </a:p>
            </p:txBody>
          </p:sp>
        </mc:Choice>
        <mc:Fallback xmlns="">
          <p:sp>
            <p:nvSpPr>
              <p:cNvPr id="91139" name="Rectangle 3"/>
              <p:cNvSpPr>
                <a:spLocks noRot="1" noChangeAspect="1" noMove="1" noResize="1" noEditPoints="1" noAdjustHandles="1" noChangeArrowheads="1" noChangeShapeType="1" noTextEdit="1"/>
              </p:cNvSpPr>
              <p:nvPr>
                <p:ph type="body" sz="half" idx="4294967295"/>
              </p:nvPr>
            </p:nvSpPr>
            <p:spPr>
              <a:xfrm>
                <a:off x="424800" y="687600"/>
                <a:ext cx="11343600" cy="2154555"/>
              </a:xfrm>
              <a:blipFill rotWithShape="1">
                <a:blip r:embed="rId2"/>
                <a:stretch>
                  <a:fillRect l="-5" t="-25" r="5" b="25"/>
                </a:stretch>
              </a:blipFill>
            </p:spPr>
            <p:txBody>
              <a:bodyPr/>
              <a:lstStyle/>
              <a:p>
                <a:r>
                  <a:rPr lang="zh-CN" altLang="en-US">
                    <a:noFill/>
                  </a:rPr>
                  <a:t> </a:t>
                </a:r>
              </a:p>
            </p:txBody>
          </p:sp>
        </mc:Fallback>
      </mc:AlternateContent>
      <p:graphicFrame>
        <p:nvGraphicFramePr>
          <p:cNvPr id="346390" name="Group 278"/>
          <p:cNvGraphicFramePr>
            <a:graphicFrameLocks noGrp="1"/>
          </p:cNvGraphicFramePr>
          <p:nvPr>
            <p:ph idx="1"/>
          </p:nvPr>
        </p:nvGraphicFramePr>
        <p:xfrm>
          <a:off x="524510" y="2880360"/>
          <a:ext cx="11343005" cy="2534920"/>
        </p:xfrm>
        <a:graphic>
          <a:graphicData uri="http://schemas.openxmlformats.org/drawingml/2006/table">
            <a:tbl>
              <a:tblPr/>
              <a:tblGrid>
                <a:gridCol w="2440305">
                  <a:extLst>
                    <a:ext uri="{9D8B030D-6E8A-4147-A177-3AD203B41FA5}">
                      <a16:colId xmlns:a16="http://schemas.microsoft.com/office/drawing/2014/main" val="20000"/>
                    </a:ext>
                  </a:extLst>
                </a:gridCol>
                <a:gridCol w="2226310">
                  <a:extLst>
                    <a:ext uri="{9D8B030D-6E8A-4147-A177-3AD203B41FA5}">
                      <a16:colId xmlns:a16="http://schemas.microsoft.com/office/drawing/2014/main" val="20001"/>
                    </a:ext>
                  </a:extLst>
                </a:gridCol>
                <a:gridCol w="2225675">
                  <a:extLst>
                    <a:ext uri="{9D8B030D-6E8A-4147-A177-3AD203B41FA5}">
                      <a16:colId xmlns:a16="http://schemas.microsoft.com/office/drawing/2014/main" val="20002"/>
                    </a:ext>
                  </a:extLst>
                </a:gridCol>
                <a:gridCol w="2227580">
                  <a:extLst>
                    <a:ext uri="{9D8B030D-6E8A-4147-A177-3AD203B41FA5}">
                      <a16:colId xmlns:a16="http://schemas.microsoft.com/office/drawing/2014/main" val="20003"/>
                    </a:ext>
                  </a:extLst>
                </a:gridCol>
                <a:gridCol w="2223135">
                  <a:extLst>
                    <a:ext uri="{9D8B030D-6E8A-4147-A177-3AD203B41FA5}">
                      <a16:colId xmlns:a16="http://schemas.microsoft.com/office/drawing/2014/main" val="20004"/>
                    </a:ext>
                  </a:extLst>
                </a:gridCol>
              </a:tblGrid>
              <a:tr h="63373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Sno</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Sname</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Ssex</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Sage</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Sdept</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63436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201215122</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刘晨</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女</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19</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CS</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309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201215123</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王敏</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女</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18</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MA</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373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201215125</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张立</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男</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19</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IS</a:t>
                      </a:r>
                    </a:p>
                  </a:txBody>
                  <a:tcPr marL="89993" marR="89993"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fld id="{565CE74E-AB26-4998-AD42-012C4C1AD076}" type="slidenum">
              <a:rPr lang="zh-CN" altLang="en-US" smtClean="0"/>
              <a:t>38</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2" name="文本框 1"/>
              <p:cNvSpPr txBox="1"/>
              <p:nvPr/>
            </p:nvSpPr>
            <p:spPr>
              <a:xfrm>
                <a:off x="424180" y="5720715"/>
                <a:ext cx="11374120" cy="521970"/>
              </a:xfrm>
              <a:prstGeom prst="rect">
                <a:avLst/>
              </a:prstGeom>
              <a:solidFill>
                <a:schemeClr val="accent1">
                  <a:lumMod val="20000"/>
                  <a:lumOff val="80000"/>
                  <a:alpha val="50000"/>
                </a:schemeClr>
              </a:solidFill>
            </p:spPr>
            <p:txBody>
              <a:bodyPr wrap="square" rtlCol="0">
                <a:spAutoFit/>
              </a:bodyPr>
              <a:lstStyle/>
              <a:p>
                <a:pPr marL="914400" lvl="1" indent="-457200">
                  <a:buClr>
                    <a:srgbClr val="C00000"/>
                  </a:buClr>
                  <a:buSzPct val="85000"/>
                  <a:buFont typeface="Wingdings" panose="05000000000000000000" charset="0"/>
                  <a:buChar char="Ø"/>
                </a:pPr>
                <a:r>
                  <a:rPr lang="zh-CN" altLang="en-US" sz="2800" b="1">
                    <a:solidFill>
                      <a:srgbClr val="1F2DA8"/>
                    </a:solidFill>
                    <a:latin typeface="楷体" panose="02010609060101010101" charset="-122"/>
                    <a:ea typeface="楷体" panose="02010609060101010101" charset="-122"/>
                  </a:rPr>
                  <a:t>也可表示为：</a:t>
                </a:r>
                <a14:m>
                  <m:oMath xmlns:m="http://schemas.openxmlformats.org/officeDocument/2006/math">
                    <m:r>
                      <a:rPr lang="en-US" altLang="zh-CN" sz="2800" b="1" i="1">
                        <a:solidFill>
                          <a:srgbClr val="C00000"/>
                        </a:solidFill>
                        <a:latin typeface="Cambria Math" panose="02040503050406030204" charset="0"/>
                        <a:cs typeface="Cambria Math" panose="02040503050406030204" charset="0"/>
                      </a:rPr>
                      <m:t>𝑺𝒕𝒖𝒅𝒆𝒏𝒕</m:t>
                    </m:r>
                    <m:r>
                      <a:rPr lang="en-US" altLang="zh-CN" sz="2800" b="1" i="1">
                        <a:solidFill>
                          <a:srgbClr val="C00000"/>
                        </a:solidFill>
                        <a:latin typeface="Cambria Math" panose="02040503050406030204" charset="0"/>
                        <a:cs typeface="Cambria Math" panose="02040503050406030204" charset="0"/>
                      </a:rPr>
                      <m:t>  </m:t>
                    </m:r>
                    <m:r>
                      <a:rPr lang="en-US" altLang="zh-CN" sz="2800" b="1" i="1">
                        <a:solidFill>
                          <a:srgbClr val="C00000"/>
                        </a:solidFill>
                        <a:latin typeface="Cambria Math" panose="02040503050406030204" charset="0"/>
                        <a:cs typeface="Cambria Math" panose="02040503050406030204" charset="0"/>
                      </a:rPr>
                      <m:t>𝒘𝒉𝒆𝒓𝒆</m:t>
                    </m:r>
                    <m:r>
                      <a:rPr lang="en-US" altLang="zh-CN" sz="2800" b="1" i="1">
                        <a:solidFill>
                          <a:srgbClr val="C00000"/>
                        </a:solidFill>
                        <a:latin typeface="Cambria Math" panose="02040503050406030204" charset="0"/>
                        <a:cs typeface="Cambria Math" panose="02040503050406030204" charset="0"/>
                      </a:rPr>
                      <m:t>  </m:t>
                    </m:r>
                    <m:r>
                      <a:rPr lang="en-US" altLang="zh-CN" sz="2800" b="1" i="1">
                        <a:solidFill>
                          <a:srgbClr val="C00000"/>
                        </a:solidFill>
                        <a:latin typeface="Cambria Math" panose="02040503050406030204" charset="0"/>
                        <a:cs typeface="Cambria Math" panose="02040503050406030204" charset="0"/>
                      </a:rPr>
                      <m:t>𝑺𝒂𝒈𝒆</m:t>
                    </m:r>
                    <m:r>
                      <a:rPr lang="en-US" altLang="zh-CN" sz="2800" b="1" i="1">
                        <a:solidFill>
                          <a:srgbClr val="C00000"/>
                        </a:solidFill>
                        <a:latin typeface="Cambria Math" panose="02040503050406030204" charset="0"/>
                        <a:cs typeface="Cambria Math" panose="02040503050406030204" charset="0"/>
                      </a:rPr>
                      <m:t>&lt;</m:t>
                    </m:r>
                    <m:r>
                      <a:rPr lang="en-US" altLang="zh-CN" sz="2800" b="1" i="1">
                        <a:solidFill>
                          <a:srgbClr val="C00000"/>
                        </a:solidFill>
                        <a:latin typeface="Cambria Math" panose="02040503050406030204" charset="0"/>
                        <a:cs typeface="Cambria Math" panose="02040503050406030204" charset="0"/>
                      </a:rPr>
                      <m:t>𝟐𝟎</m:t>
                    </m:r>
                  </m:oMath>
                </a14:m>
                <a:endParaRPr lang="en-US" altLang="zh-CN" sz="2800" b="1" i="1">
                  <a:solidFill>
                    <a:srgbClr val="C00000"/>
                  </a:solidFill>
                  <a:latin typeface="Cambria Math" panose="02040503050406030204" charset="0"/>
                  <a:ea typeface="MS Mincho" charset="0"/>
                  <a:cs typeface="Cambria Math" panose="0204050305040603020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24180" y="5720715"/>
                <a:ext cx="11374120" cy="52197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1139">
                                            <p:txEl>
                                              <p:pRg st="1" end="1"/>
                                            </p:txEl>
                                          </p:spTgt>
                                        </p:tgtEl>
                                        <p:attrNameLst>
                                          <p:attrName>style.visibility</p:attrName>
                                        </p:attrNameLst>
                                      </p:cBhvr>
                                      <p:to>
                                        <p:strVal val="visible"/>
                                      </p:to>
                                    </p:set>
                                    <p:animEffect transition="in" filter="blinds(horizontal)">
                                      <p:cBhvr>
                                        <p:cTn id="7" dur="500"/>
                                        <p:tgtEl>
                                          <p:spTgt spid="911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1139">
                                            <p:txEl>
                                              <p:pRg st="2" end="2"/>
                                            </p:txEl>
                                          </p:spTgt>
                                        </p:tgtEl>
                                        <p:attrNameLst>
                                          <p:attrName>style.visibility</p:attrName>
                                        </p:attrNameLst>
                                      </p:cBhvr>
                                      <p:to>
                                        <p:strVal val="visible"/>
                                      </p:to>
                                    </p:set>
                                    <p:animEffect transition="in" filter="blinds(horizontal)">
                                      <p:cBhvr>
                                        <p:cTn id="12" dur="500"/>
                                        <p:tgtEl>
                                          <p:spTgt spid="91139">
                                            <p:txEl>
                                              <p:pRg st="2" end="2"/>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346390"/>
                                        </p:tgtEl>
                                        <p:attrNameLst>
                                          <p:attrName>style.visibility</p:attrName>
                                        </p:attrNameLst>
                                      </p:cBhvr>
                                      <p:to>
                                        <p:strVal val="visible"/>
                                      </p:to>
                                    </p:set>
                                    <p:animEffect transition="in" filter="blinds(horizontal)">
                                      <p:cBhvr>
                                        <p:cTn id="16" dur="500"/>
                                        <p:tgtEl>
                                          <p:spTgt spid="346390"/>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kumimoji="0" lang="zh-CN" altLang="en-US" sz="2800" i="0" u="none" strike="noStrike" kern="0" cap="none" spc="0" normalizeH="0" baseline="0" noProof="0" dirty="0">
                <a:ln>
                  <a:noFill/>
                </a:ln>
                <a:effectLst/>
                <a:uLnTx/>
                <a:uFillTx/>
                <a:latin typeface="+mj-ea"/>
                <a:ea typeface="+mj-ea"/>
                <a:cs typeface="+mj-ea"/>
              </a:rPr>
              <a:t>投影 1</a:t>
            </a:r>
            <a:endParaRPr kumimoji="0" lang="en-US" altLang="zh-CN" sz="3200" b="1" i="0" u="none" strike="noStrike" kern="0" cap="none" spc="0" normalizeH="0" baseline="0" noProof="0" dirty="0">
              <a:ln>
                <a:noFill/>
              </a:ln>
              <a:solidFill>
                <a:srgbClr val="1F2DA8"/>
              </a:solidFill>
              <a:effectLst/>
              <a:uLnTx/>
              <a:uFillTx/>
              <a:latin typeface="Verdana" panose="020B0604030504040204"/>
              <a:ea typeface="+mj-ea"/>
              <a:cs typeface="+mj-cs"/>
            </a:endParaRPr>
          </a:p>
        </p:txBody>
      </p:sp>
      <mc:AlternateContent xmlns:mc="http://schemas.openxmlformats.org/markup-compatibility/2006" xmlns:a14="http://schemas.microsoft.com/office/drawing/2010/main">
        <mc:Choice Requires="a14">
          <p:sp>
            <p:nvSpPr>
              <p:cNvPr id="92163" name="Rectangle 3"/>
              <p:cNvSpPr>
                <a:spLocks noGrp="1" noChangeArrowheads="1"/>
              </p:cNvSpPr>
              <p:nvPr>
                <p:ph type="body" idx="1"/>
              </p:nvPr>
            </p:nvSpPr>
            <p:spPr/>
            <p:txBody>
              <a:bodyPr/>
              <a:lstStyle/>
              <a:p>
                <a:pPr algn="just">
                  <a:lnSpc>
                    <a:spcPct val="120000"/>
                  </a:lnSpc>
                  <a:spcBef>
                    <a:spcPct val="0"/>
                  </a:spcBef>
                </a:pPr>
                <a:r>
                  <a:rPr lang="zh-CN" altLang="en-US" sz="2800" dirty="0">
                    <a:solidFill>
                      <a:srgbClr val="FF0000"/>
                    </a:solidFill>
                  </a:rPr>
                  <a:t>投影</a:t>
                </a:r>
                <a:r>
                  <a:rPr lang="zh-CN" altLang="en-US" sz="2800" dirty="0"/>
                  <a:t>（</a:t>
                </a:r>
                <a:r>
                  <a:rPr lang="en-US" altLang="zh-CN" sz="2800" dirty="0"/>
                  <a:t>Projection</a:t>
                </a:r>
                <a:r>
                  <a:rPr lang="zh-CN" altLang="en-US" sz="2800" dirty="0"/>
                  <a:t>）</a:t>
                </a:r>
                <a:endParaRPr lang="en-US" altLang="zh-CN" sz="2800" dirty="0"/>
              </a:p>
              <a:p>
                <a:pPr lvl="1" algn="just" eaLnBrk="1" hangingPunct="1">
                  <a:lnSpc>
                    <a:spcPct val="120000"/>
                  </a:lnSpc>
                  <a:spcBef>
                    <a:spcPct val="0"/>
                  </a:spcBef>
                </a:pPr>
                <a:r>
                  <a:rPr lang="zh-CN" altLang="en-US" sz="2800" dirty="0"/>
                  <a:t>从</a:t>
                </a:r>
                <a14:m>
                  <m:oMath xmlns:m="http://schemas.openxmlformats.org/officeDocument/2006/math">
                    <m:r>
                      <a:rPr lang="en-US" altLang="zh-CN" sz="2800" i="1" dirty="0">
                        <a:latin typeface="Cambria Math" panose="02040503050406030204" charset="0"/>
                        <a:cs typeface="Cambria Math" panose="02040503050406030204" charset="0"/>
                      </a:rPr>
                      <m:t>𝑅</m:t>
                    </m:r>
                  </m:oMath>
                </a14:m>
                <a:r>
                  <a:rPr lang="zh-CN" altLang="en-US" sz="2800" dirty="0"/>
                  <a:t>中选择出若干属性列组成新的关系（</a:t>
                </a:r>
                <a14:m>
                  <m:oMath xmlns:m="http://schemas.openxmlformats.org/officeDocument/2006/math">
                    <m:r>
                      <a:rPr lang="en-US" altLang="zh-CN" i="1" dirty="0">
                        <a:latin typeface="Cambria Math" panose="02040503050406030204" charset="0"/>
                        <a:cs typeface="Cambria Math" panose="02040503050406030204" charset="0"/>
                        <a:sym typeface="+mn-ea"/>
                      </a:rPr>
                      <m:t>𝐴</m:t>
                    </m:r>
                  </m:oMath>
                </a14:m>
                <a:r>
                  <a:rPr lang="zh-CN" altLang="en-US" i="1" dirty="0">
                    <a:sym typeface="+mn-ea"/>
                  </a:rPr>
                  <a:t>是</a:t>
                </a:r>
                <a14:m>
                  <m:oMath xmlns:m="http://schemas.openxmlformats.org/officeDocument/2006/math">
                    <m:r>
                      <a:rPr lang="en-US" altLang="zh-CN" i="1" dirty="0">
                        <a:latin typeface="Cambria Math" panose="02040503050406030204" charset="0"/>
                        <a:cs typeface="Cambria Math" panose="02040503050406030204" charset="0"/>
                        <a:sym typeface="+mn-ea"/>
                      </a:rPr>
                      <m:t>𝑅</m:t>
                    </m:r>
                  </m:oMath>
                </a14:m>
                <a:r>
                  <a:rPr lang="zh-CN" altLang="en-US" dirty="0">
                    <a:sym typeface="+mn-ea"/>
                  </a:rPr>
                  <a:t>中的属性组</a:t>
                </a:r>
                <a:r>
                  <a:rPr lang="zh-CN" altLang="en-US" sz="2800" dirty="0"/>
                  <a:t>）</a:t>
                </a:r>
              </a:p>
              <a:p>
                <a:pPr lvl="1" algn="ctr" eaLnBrk="1" hangingPunct="1">
                  <a:lnSpc>
                    <a:spcPct val="120000"/>
                  </a:lnSpc>
                  <a:spcBef>
                    <a:spcPct val="0"/>
                  </a:spcBef>
                  <a:buFont typeface="Wingdings" panose="05000000000000000000" pitchFamily="2" charset="2"/>
                  <a:buNone/>
                </a:pP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𝜋</m:t>
                    </m:r>
                    <m:r>
                      <a:rPr lang="en-US" altLang="zh-CN" sz="2800" i="1" baseline="-30000" dirty="0">
                        <a:solidFill>
                          <a:srgbClr val="FF0000"/>
                        </a:solidFill>
                        <a:latin typeface="Cambria Math" panose="02040503050406030204" charset="0"/>
                        <a:cs typeface="Cambria Math" panose="02040503050406030204" charset="0"/>
                      </a:rPr>
                      <m:t>𝐴</m:t>
                    </m:r>
                    <m:r>
                      <a:rPr lang="en-US" altLang="zh-CN" sz="2800" i="1"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𝑅</m:t>
                    </m:r>
                    <m:r>
                      <a:rPr lang="en-US" altLang="zh-CN" sz="2800" i="1" dirty="0">
                        <a:solidFill>
                          <a:srgbClr val="FF0000"/>
                        </a:solidFill>
                        <a:latin typeface="Cambria Math" panose="02040503050406030204" charset="0"/>
                        <a:cs typeface="Cambria Math" panose="02040503050406030204" charset="0"/>
                      </a:rPr>
                      <m:t>) = { </m:t>
                    </m:r>
                    <m:r>
                      <a:rPr lang="en-US" altLang="zh-CN" sz="2800" i="1" dirty="0">
                        <a:solidFill>
                          <a:srgbClr val="FF0000"/>
                        </a:solidFill>
                        <a:latin typeface="Cambria Math" panose="02040503050406030204" charset="0"/>
                        <a:cs typeface="Cambria Math" panose="02040503050406030204" charset="0"/>
                      </a:rPr>
                      <m:t>𝑡</m:t>
                    </m:r>
                    <m:r>
                      <a:rPr lang="en-US" altLang="zh-CN" sz="2800" i="1"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𝐴</m:t>
                    </m:r>
                    <m:r>
                      <a:rPr lang="en-US" altLang="zh-CN" sz="2800" i="1" dirty="0">
                        <a:solidFill>
                          <a:srgbClr val="FF0000"/>
                        </a:solidFill>
                        <a:latin typeface="Cambria Math" panose="02040503050406030204" charset="0"/>
                        <a:cs typeface="Cambria Math" panose="02040503050406030204" charset="0"/>
                      </a:rPr>
                      <m:t>] | </m:t>
                    </m:r>
                    <m:r>
                      <a:rPr lang="en-US" altLang="zh-CN" sz="2800" i="1" dirty="0">
                        <a:solidFill>
                          <a:srgbClr val="FF0000"/>
                        </a:solidFill>
                        <a:latin typeface="Cambria Math" panose="02040503050406030204" charset="0"/>
                        <a:cs typeface="Cambria Math" panose="02040503050406030204" charset="0"/>
                      </a:rPr>
                      <m:t>𝑡</m:t>
                    </m:r>
                    <m:r>
                      <a:rPr lang="en-US" altLang="zh-CN" sz="2800" i="1" dirty="0">
                        <a:solidFill>
                          <a:srgbClr val="FF0000"/>
                        </a:solidFill>
                        <a:latin typeface="Cambria Math" panose="02040503050406030204" charset="0"/>
                        <a:cs typeface="Cambria Math" panose="02040503050406030204" charset="0"/>
                        <a:sym typeface="Symbol" panose="05050102010706020507" pitchFamily="2" charset="2"/>
                      </a:rPr>
                      <m:t></m:t>
                    </m:r>
                    <m:r>
                      <a:rPr lang="en-US" altLang="zh-CN" sz="2800" i="1" dirty="0">
                        <a:solidFill>
                          <a:srgbClr val="FF0000"/>
                        </a:solidFill>
                        <a:latin typeface="Cambria Math" panose="02040503050406030204" charset="0"/>
                        <a:cs typeface="Cambria Math" panose="02040503050406030204" charset="0"/>
                      </a:rPr>
                      <m:t>𝑅</m:t>
                    </m:r>
                    <m:r>
                      <a:rPr lang="en-US" altLang="zh-CN" sz="2800" i="1" dirty="0">
                        <a:solidFill>
                          <a:srgbClr val="FF0000"/>
                        </a:solidFill>
                        <a:latin typeface="Cambria Math" panose="02040503050406030204" charset="0"/>
                        <a:cs typeface="Cambria Math" panose="02040503050406030204" charset="0"/>
                      </a:rPr>
                      <m:t> }</m:t>
                    </m:r>
                  </m:oMath>
                </a14:m>
                <a:r>
                  <a:rPr lang="zh-CN" altLang="en-US" sz="2800" dirty="0"/>
                  <a:t> </a:t>
                </a:r>
              </a:p>
              <a:p>
                <a:pPr lvl="1" algn="just" eaLnBrk="1" hangingPunct="1">
                  <a:lnSpc>
                    <a:spcPct val="120000"/>
                  </a:lnSpc>
                  <a:spcBef>
                    <a:spcPct val="0"/>
                  </a:spcBef>
                </a:pPr>
                <a:r>
                  <a:rPr lang="zh-CN" altLang="en-US" sz="2800" dirty="0"/>
                  <a:t>投影操作主要是从列的角度进行运算</a:t>
                </a:r>
              </a:p>
              <a:p>
                <a:pPr lvl="1" algn="just" eaLnBrk="1" hangingPunct="1">
                  <a:lnSpc>
                    <a:spcPct val="120000"/>
                  </a:lnSpc>
                  <a:spcBef>
                    <a:spcPct val="0"/>
                  </a:spcBef>
                </a:pPr>
                <a:endParaRPr lang="zh-CN" altLang="en-US" sz="2800" dirty="0"/>
              </a:p>
              <a:p>
                <a:pPr lvl="1" algn="just" eaLnBrk="1" hangingPunct="1">
                  <a:lnSpc>
                    <a:spcPct val="120000"/>
                  </a:lnSpc>
                  <a:spcBef>
                    <a:spcPct val="0"/>
                  </a:spcBef>
                </a:pPr>
                <a:endParaRPr lang="zh-CN" altLang="en-US" sz="2800" dirty="0"/>
              </a:p>
              <a:p>
                <a:pPr lvl="1" algn="just" eaLnBrk="1" hangingPunct="1">
                  <a:lnSpc>
                    <a:spcPct val="120000"/>
                  </a:lnSpc>
                  <a:spcBef>
                    <a:spcPct val="0"/>
                  </a:spcBef>
                </a:pPr>
                <a:endParaRPr lang="zh-CN" altLang="en-US" sz="2800" dirty="0"/>
              </a:p>
              <a:p>
                <a:pPr lvl="1" algn="just" eaLnBrk="1" hangingPunct="1">
                  <a:lnSpc>
                    <a:spcPct val="120000"/>
                  </a:lnSpc>
                  <a:spcBef>
                    <a:spcPct val="0"/>
                  </a:spcBef>
                </a:pPr>
                <a:endParaRPr lang="zh-CN" altLang="en-US" sz="2800" dirty="0"/>
              </a:p>
              <a:p>
                <a:pPr lvl="1" algn="just" eaLnBrk="1" hangingPunct="1">
                  <a:lnSpc>
                    <a:spcPct val="120000"/>
                  </a:lnSpc>
                  <a:spcBef>
                    <a:spcPct val="0"/>
                  </a:spcBef>
                </a:pPr>
                <a:endParaRPr lang="zh-CN" altLang="en-US" sz="2800" dirty="0"/>
              </a:p>
              <a:p>
                <a:pPr lvl="1" algn="just" eaLnBrk="1" hangingPunct="1">
                  <a:lnSpc>
                    <a:spcPct val="120000"/>
                  </a:lnSpc>
                  <a:spcBef>
                    <a:spcPct val="0"/>
                  </a:spcBef>
                </a:pPr>
                <a:r>
                  <a:rPr lang="zh-CN" altLang="en-US" sz="2800" dirty="0"/>
                  <a:t>投影之后不仅过滤了原关系中的某些列，而且还可能产生重复的</a:t>
                </a:r>
                <a:r>
                  <a:rPr lang="zh-CN" altLang="en-US" dirty="0">
                    <a:sym typeface="+mn-ea"/>
                  </a:rPr>
                  <a:t>投影</a:t>
                </a:r>
                <a:r>
                  <a:rPr lang="zh-CN" altLang="en-US" sz="2800" dirty="0"/>
                  <a:t>结果元组（需要消除那些重复出现的行）</a:t>
                </a:r>
              </a:p>
            </p:txBody>
          </p:sp>
        </mc:Choice>
        <mc:Fallback xmlns="">
          <p:sp>
            <p:nvSpPr>
              <p:cNvPr id="92163" name="Rectangle 3"/>
              <p:cNvSpPr>
                <a:spLocks noRot="1" noChangeAspect="1" noMove="1" noResize="1" noEditPoints="1" noAdjustHandles="1" noChangeArrowheads="1" noChangeShapeType="1" noTextEdit="1"/>
              </p:cNvSpPr>
              <p:nvPr>
                <p:ph type="body" idx="1"/>
              </p:nvPr>
            </p:nvSpPr>
            <p:spPr>
              <a:blipFill rotWithShape="1">
                <a:blip r:embed="rId2"/>
                <a:stretch>
                  <a:fillRect/>
                </a:stretch>
              </a:blipFill>
            </p:spPr>
            <p:txBody>
              <a:bodyPr/>
              <a:lstStyle/>
              <a:p>
                <a:r>
                  <a:rPr lang="zh-CN" altLang="en-US">
                    <a:noFill/>
                  </a:rPr>
                  <a:t> </a:t>
                </a:r>
              </a:p>
            </p:txBody>
          </p:sp>
        </mc:Fallback>
      </mc:AlternateContent>
      <p:grpSp>
        <p:nvGrpSpPr>
          <p:cNvPr id="92164" name="Group 27"/>
          <p:cNvGrpSpPr/>
          <p:nvPr/>
        </p:nvGrpSpPr>
        <p:grpSpPr bwMode="auto">
          <a:xfrm>
            <a:off x="3706495" y="2942590"/>
            <a:ext cx="4180840" cy="2214880"/>
            <a:chOff x="1536" y="1584"/>
            <a:chExt cx="1728" cy="1008"/>
          </a:xfrm>
        </p:grpSpPr>
        <p:sp>
          <p:nvSpPr>
            <p:cNvPr id="92165" name="AutoShape 16"/>
            <p:cNvSpPr>
              <a:spLocks noChangeArrowheads="1"/>
            </p:cNvSpPr>
            <p:nvPr/>
          </p:nvSpPr>
          <p:spPr bwMode="auto">
            <a:xfrm>
              <a:off x="2352" y="2016"/>
              <a:ext cx="528" cy="144"/>
            </a:xfrm>
            <a:prstGeom prst="rightArrow">
              <a:avLst>
                <a:gd name="adj1" fmla="val 50000"/>
                <a:gd name="adj2" fmla="val 91667"/>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mc:AlternateContent xmlns:mc="http://schemas.openxmlformats.org/markup-compatibility/2006" xmlns:a14="http://schemas.microsoft.com/office/drawing/2010/main">
          <mc:Choice Requires="a14">
            <p:sp>
              <p:nvSpPr>
                <p:cNvPr id="92166" name="Text Box 17"/>
                <p:cNvSpPr txBox="1">
                  <a:spLocks noChangeArrowheads="1"/>
                </p:cNvSpPr>
                <p:nvPr/>
              </p:nvSpPr>
              <p:spPr bwMode="auto">
                <a:xfrm>
                  <a:off x="2352" y="1728"/>
                  <a:ext cx="432" cy="2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14:m>
                    <m:oMathPara xmlns:m="http://schemas.openxmlformats.org/officeDocument/2006/math">
                      <m:oMathParaPr>
                        <m:jc m:val="centerGroup"/>
                      </m:oMathParaPr>
                      <m:oMath xmlns:m="http://schemas.openxmlformats.org/officeDocument/2006/math">
                        <m:r>
                          <a:rPr lang="en-US" altLang="zh-CN" sz="3200" b="1" i="1">
                            <a:latin typeface="Cambria Math" panose="02040503050406030204" charset="0"/>
                            <a:cs typeface="Cambria Math" panose="02040503050406030204" charset="0"/>
                          </a:rPr>
                          <m:t>𝝅</m:t>
                        </m:r>
                      </m:oMath>
                    </m:oMathPara>
                  </a14:m>
                  <a:endParaRPr lang="en-US" altLang="zh-CN" sz="3200" b="1" i="1"/>
                </a:p>
              </p:txBody>
            </p:sp>
          </mc:Choice>
          <mc:Fallback xmlns="">
            <p:sp>
              <p:nvSpPr>
                <p:cNvPr id="92166" name="Text Box 17"/>
                <p:cNvSpPr txBox="1">
                  <a:spLocks noRot="1" noChangeAspect="1" noMove="1" noResize="1" noEditPoints="1" noAdjustHandles="1" noChangeArrowheads="1" noChangeShapeType="1" noTextEdit="1"/>
                </p:cNvSpPr>
                <p:nvPr/>
              </p:nvSpPr>
              <p:spPr bwMode="auto">
                <a:xfrm>
                  <a:off x="2352" y="1728"/>
                  <a:ext cx="432" cy="266"/>
                </a:xfrm>
                <a:prstGeom prst="rect">
                  <a:avLst/>
                </a:prstGeom>
                <a:blipFill rotWithShape="1">
                  <a:blip r:embed="rId3"/>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92167" name="Rectangle 19"/>
            <p:cNvSpPr>
              <a:spLocks noChangeArrowheads="1"/>
            </p:cNvSpPr>
            <p:nvPr/>
          </p:nvSpPr>
          <p:spPr bwMode="auto">
            <a:xfrm>
              <a:off x="1536" y="1584"/>
              <a:ext cx="96" cy="1008"/>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68" name="Rectangle 20" descr="浅色下对角线"/>
            <p:cNvSpPr>
              <a:spLocks noChangeArrowheads="1"/>
            </p:cNvSpPr>
            <p:nvPr/>
          </p:nvSpPr>
          <p:spPr bwMode="auto">
            <a:xfrm>
              <a:off x="1632" y="1584"/>
              <a:ext cx="96" cy="1008"/>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69" name="Rectangle 21"/>
            <p:cNvSpPr>
              <a:spLocks noChangeArrowheads="1"/>
            </p:cNvSpPr>
            <p:nvPr/>
          </p:nvSpPr>
          <p:spPr bwMode="auto">
            <a:xfrm>
              <a:off x="1728" y="1584"/>
              <a:ext cx="96" cy="1008"/>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0" name="Rectangle 22"/>
            <p:cNvSpPr>
              <a:spLocks noChangeArrowheads="1"/>
            </p:cNvSpPr>
            <p:nvPr/>
          </p:nvSpPr>
          <p:spPr bwMode="auto">
            <a:xfrm>
              <a:off x="1824" y="1584"/>
              <a:ext cx="96" cy="1008"/>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1" name="Rectangle 23" descr="浅色下对角线"/>
            <p:cNvSpPr>
              <a:spLocks noChangeArrowheads="1"/>
            </p:cNvSpPr>
            <p:nvPr/>
          </p:nvSpPr>
          <p:spPr bwMode="auto">
            <a:xfrm>
              <a:off x="1920" y="1584"/>
              <a:ext cx="96" cy="1008"/>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2" name="Rectangle 24"/>
            <p:cNvSpPr>
              <a:spLocks noChangeArrowheads="1"/>
            </p:cNvSpPr>
            <p:nvPr/>
          </p:nvSpPr>
          <p:spPr bwMode="auto">
            <a:xfrm>
              <a:off x="2016" y="1584"/>
              <a:ext cx="96" cy="1008"/>
            </a:xfrm>
            <a:prstGeom prst="rect">
              <a:avLst/>
            </a:prstGeom>
            <a:solidFill>
              <a:srgbClr val="FFFFFF"/>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3" name="Rectangle 25" descr="浅色下对角线"/>
            <p:cNvSpPr>
              <a:spLocks noChangeArrowheads="1"/>
            </p:cNvSpPr>
            <p:nvPr/>
          </p:nvSpPr>
          <p:spPr bwMode="auto">
            <a:xfrm>
              <a:off x="3072" y="1584"/>
              <a:ext cx="96" cy="1008"/>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4" name="Rectangle 26" descr="浅色下对角线"/>
            <p:cNvSpPr>
              <a:spLocks noChangeArrowheads="1"/>
            </p:cNvSpPr>
            <p:nvPr/>
          </p:nvSpPr>
          <p:spPr bwMode="auto">
            <a:xfrm>
              <a:off x="3168" y="1584"/>
              <a:ext cx="96" cy="1008"/>
            </a:xfrm>
            <a:prstGeom prst="rect">
              <a:avLst/>
            </a:prstGeom>
            <a:pattFill prst="ltDnDiag">
              <a:fgClr>
                <a:srgbClr val="000000"/>
              </a:fgClr>
              <a:bgClr>
                <a:srgbClr val="FFFFFF"/>
              </a:bgClr>
            </a:patt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 name="灯片编号占位符 1"/>
          <p:cNvSpPr>
            <a:spLocks noGrp="1"/>
          </p:cNvSpPr>
          <p:nvPr>
            <p:ph type="sldNum" sz="quarter" idx="12"/>
          </p:nvPr>
        </p:nvSpPr>
        <p:spPr/>
        <p:txBody>
          <a:bodyPr/>
          <a:lstStyle/>
          <a:p>
            <a:fld id="{565CE74E-AB26-4998-AD42-012C4C1AD076}" type="slidenum">
              <a:rPr lang="zh-CN" altLang="en-US" smtClean="0"/>
              <a:t>39</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63">
                                            <p:txEl>
                                              <p:pRg st="3" end="3"/>
                                            </p:txEl>
                                          </p:spTgt>
                                        </p:tgtEl>
                                        <p:attrNameLst>
                                          <p:attrName>style.visibility</p:attrName>
                                        </p:attrNameLst>
                                      </p:cBhvr>
                                      <p:to>
                                        <p:strVal val="visible"/>
                                      </p:to>
                                    </p:set>
                                    <p:animEffect transition="in" filter="blinds(horizontal)">
                                      <p:cBhvr>
                                        <p:cTn id="7" dur="500"/>
                                        <p:tgtEl>
                                          <p:spTgt spid="92163">
                                            <p:txEl>
                                              <p:pRg st="3" end="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92164"/>
                                        </p:tgtEl>
                                        <p:attrNameLst>
                                          <p:attrName>style.visibility</p:attrName>
                                        </p:attrNameLst>
                                      </p:cBhvr>
                                      <p:to>
                                        <p:strVal val="visible"/>
                                      </p:to>
                                    </p:set>
                                    <p:animEffect transition="in" filter="blinds(horizontal)">
                                      <p:cBhvr>
                                        <p:cTn id="11" dur="500"/>
                                        <p:tgtEl>
                                          <p:spTgt spid="9216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92163">
                                            <p:txEl>
                                              <p:pRg st="9" end="9"/>
                                            </p:txEl>
                                          </p:spTgt>
                                        </p:tgtEl>
                                        <p:attrNameLst>
                                          <p:attrName>style.visibility</p:attrName>
                                        </p:attrNameLst>
                                      </p:cBhvr>
                                      <p:to>
                                        <p:strVal val="visible"/>
                                      </p:to>
                                    </p:set>
                                    <p:animEffect transition="in" filter="blinds(horizontal)">
                                      <p:cBhvr>
                                        <p:cTn id="16" dur="500"/>
                                        <p:tgtEl>
                                          <p:spTgt spid="9216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kern="0" noProof="0" dirty="0">
                <a:ln>
                  <a:noFill/>
                </a:ln>
                <a:effectLst/>
                <a:uLnTx/>
                <a:uFillTx/>
                <a:latin typeface="+mj-ea"/>
                <a:cs typeface="+mj-ea"/>
                <a:sym typeface="+mn-ea"/>
              </a:rPr>
              <a:t>投影 </a:t>
            </a:r>
            <a:r>
              <a:rPr lang="en-US" altLang="zh-CN" kern="0" noProof="0" dirty="0">
                <a:ln>
                  <a:noFill/>
                </a:ln>
                <a:effectLst/>
                <a:uLnTx/>
                <a:uFillTx/>
                <a:latin typeface="+mj-ea"/>
                <a:cs typeface="+mj-ea"/>
                <a:sym typeface="+mn-ea"/>
              </a:rPr>
              <a:t>2</a:t>
            </a:r>
          </a:p>
        </p:txBody>
      </p:sp>
      <mc:AlternateContent xmlns:mc="http://schemas.openxmlformats.org/markup-compatibility/2006" xmlns:a14="http://schemas.microsoft.com/office/drawing/2010/main">
        <mc:Choice Requires="a14">
          <p:sp>
            <p:nvSpPr>
              <p:cNvPr id="82947" name="Rectangle 3"/>
              <p:cNvSpPr>
                <a:spLocks noGrp="1"/>
              </p:cNvSpPr>
              <p:nvPr>
                <p:ph idx="1"/>
              </p:nvPr>
            </p:nvSpPr>
            <p:spPr>
              <a:xfrm>
                <a:off x="424180" y="687070"/>
                <a:ext cx="11343005" cy="958215"/>
              </a:xfrm>
            </p:spPr>
            <p:txBody>
              <a:bodyPr wrap="square" anchor="t">
                <a:noAutofit/>
              </a:bodyPr>
              <a:lstStyle/>
              <a:p>
                <a:pPr fontAlgn="auto">
                  <a:lnSpc>
                    <a:spcPct val="100000"/>
                  </a:lnSpc>
                  <a:spcBef>
                    <a:spcPts val="1000"/>
                  </a:spcBef>
                </a:pPr>
                <a:r>
                  <a:rPr lang="zh-CN" altLang="en-US" sz="2400" dirty="0">
                    <a:solidFill>
                      <a:srgbClr val="1F2DA8"/>
                    </a:solidFill>
                    <a:latin typeface="Times New Roman" panose="02020603050405020304" charset="0"/>
                    <a:ea typeface="楷体" panose="02010609060101010101" charset="-122"/>
                    <a:cs typeface="Times New Roman" panose="02020603050405020304" charset="0"/>
                  </a:rPr>
                  <a:t>投影</a:t>
                </a:r>
                <a:r>
                  <a:rPr lang="zh-CN" sz="2400" dirty="0">
                    <a:solidFill>
                      <a:srgbClr val="1F2DA8"/>
                    </a:solidFill>
                    <a:latin typeface="Times New Roman" panose="02020603050405020304" charset="0"/>
                    <a:ea typeface="楷体" panose="02010609060101010101" charset="-122"/>
                    <a:cs typeface="Times New Roman" panose="02020603050405020304" charset="0"/>
                  </a:rPr>
                  <a:t>：</a:t>
                </a:r>
                <a14:m>
                  <m:oMath xmlns:m="http://schemas.openxmlformats.org/officeDocument/2006/math">
                    <m:r>
                      <a:rPr lang="en-US" altLang="zh-CN" sz="2400" i="1" dirty="0">
                        <a:solidFill>
                          <a:srgbClr val="FF0000"/>
                        </a:solidFill>
                        <a:latin typeface="Cambria Math" panose="02040503050406030204" charset="0"/>
                        <a:cs typeface="Cambria Math" panose="02040503050406030204" charset="0"/>
                      </a:rPr>
                      <m:t>𝜋</m:t>
                    </m:r>
                    <m:r>
                      <a:rPr lang="en-US" altLang="zh-CN" sz="2400" i="1" baseline="-30000" dirty="0">
                        <a:solidFill>
                          <a:srgbClr val="FF0000"/>
                        </a:solidFill>
                        <a:latin typeface="Cambria Math" panose="02040503050406030204" charset="0"/>
                        <a:cs typeface="Cambria Math" panose="02040503050406030204" charset="0"/>
                      </a:rPr>
                      <m:t>𝐴</m:t>
                    </m:r>
                    <m:r>
                      <a:rPr lang="en-US" altLang="zh-CN" sz="2400" i="1" dirty="0">
                        <a:solidFill>
                          <a:srgbClr val="FF0000"/>
                        </a:solidFill>
                        <a:latin typeface="Cambria Math" panose="02040503050406030204" charset="0"/>
                        <a:cs typeface="Cambria Math" panose="02040503050406030204" charset="0"/>
                      </a:rPr>
                      <m:t>(</m:t>
                    </m:r>
                    <m:r>
                      <a:rPr lang="en-US" altLang="zh-CN" sz="2400" i="1" dirty="0">
                        <a:solidFill>
                          <a:srgbClr val="FF0000"/>
                        </a:solidFill>
                        <a:latin typeface="Cambria Math" panose="02040503050406030204" charset="0"/>
                        <a:cs typeface="Cambria Math" panose="02040503050406030204" charset="0"/>
                      </a:rPr>
                      <m:t>𝑅</m:t>
                    </m:r>
                    <m:r>
                      <a:rPr lang="en-US" altLang="zh-CN" sz="2400" i="1" dirty="0">
                        <a:solidFill>
                          <a:srgbClr val="FF0000"/>
                        </a:solidFill>
                        <a:latin typeface="Cambria Math" panose="02040503050406030204" charset="0"/>
                        <a:cs typeface="Cambria Math" panose="02040503050406030204" charset="0"/>
                      </a:rPr>
                      <m:t>)</m:t>
                    </m:r>
                  </m:oMath>
                </a14:m>
                <a:endParaRPr lang="zh-CN" altLang="en-US" sz="2400" dirty="0">
                  <a:solidFill>
                    <a:srgbClr val="FF0000"/>
                  </a:solidFill>
                  <a:latin typeface="Times New Roman" panose="02020603050405020304" charset="0"/>
                  <a:ea typeface="楷体" panose="02010609060101010101" charset="-122"/>
                  <a:cs typeface="Times New Roman" panose="02020603050405020304" charset="0"/>
                </a:endParaRPr>
              </a:p>
              <a:p>
                <a:pPr lvl="1" fontAlgn="auto">
                  <a:lnSpc>
                    <a:spcPct val="100000"/>
                  </a:lnSpc>
                  <a:spcBef>
                    <a:spcPts val="1000"/>
                  </a:spcBef>
                </a:pPr>
                <a:r>
                  <a:rPr lang="zh-CN" altLang="en-US" sz="2400" dirty="0">
                    <a:solidFill>
                      <a:srgbClr val="1F2DA8"/>
                    </a:solidFill>
                    <a:latin typeface="Times New Roman" panose="02020603050405020304" charset="0"/>
                    <a:ea typeface="楷体" panose="02010609060101010101" charset="-122"/>
                    <a:cs typeface="Times New Roman" panose="02020603050405020304" charset="0"/>
                  </a:rPr>
                  <a:t>略去关系</a:t>
                </a:r>
                <a14:m>
                  <m:oMath xmlns:m="http://schemas.openxmlformats.org/officeDocument/2006/math">
                    <m:r>
                      <a:rPr lang="en-US" altLang="zh-CN" sz="2400" i="1" dirty="0">
                        <a:solidFill>
                          <a:srgbClr val="1F2DA8"/>
                        </a:solidFill>
                        <a:latin typeface="Cambria Math" panose="02040503050406030204" charset="0"/>
                        <a:ea typeface="楷体" panose="02010609060101010101" charset="-122"/>
                        <a:cs typeface="Cambria Math" panose="02040503050406030204" charset="0"/>
                      </a:rPr>
                      <m:t>𝑅</m:t>
                    </m:r>
                  </m:oMath>
                </a14:m>
                <a:r>
                  <a:rPr lang="zh-CN" altLang="en-US" sz="2400" dirty="0">
                    <a:solidFill>
                      <a:srgbClr val="1F2DA8"/>
                    </a:solidFill>
                    <a:latin typeface="Times New Roman" panose="02020603050405020304" charset="0"/>
                    <a:ea typeface="楷体" panose="02010609060101010101" charset="-122"/>
                    <a:cs typeface="Times New Roman" panose="02020603050405020304" charset="0"/>
                  </a:rPr>
                  <a:t>中的某些列，并重新安排结果关系中列的排列次序的运算</a:t>
                </a:r>
              </a:p>
            </p:txBody>
          </p:sp>
        </mc:Choice>
        <mc:Fallback xmlns="">
          <p:sp>
            <p:nvSpPr>
              <p:cNvPr id="82947" name="Rectangle 3"/>
              <p:cNvSpPr>
                <a:spLocks noRot="1" noChangeAspect="1" noMove="1" noResize="1" noEditPoints="1" noAdjustHandles="1" noChangeArrowheads="1" noChangeShapeType="1" noTextEdit="1"/>
              </p:cNvSpPr>
              <p:nvPr>
                <p:ph idx="1"/>
              </p:nvPr>
            </p:nvSpPr>
            <p:spPr>
              <a:xfrm>
                <a:off x="424180" y="687070"/>
                <a:ext cx="11343005" cy="958215"/>
              </a:xfr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925" name="Rectangle 4"/>
              <p:cNvSpPr/>
              <p:nvPr/>
            </p:nvSpPr>
            <p:spPr>
              <a:xfrm>
                <a:off x="424180" y="1941830"/>
                <a:ext cx="11343005" cy="1551940"/>
              </a:xfrm>
              <a:prstGeom prst="rect">
                <a:avLst/>
              </a:prstGeom>
              <a:solidFill>
                <a:schemeClr val="accent3">
                  <a:lumMod val="20000"/>
                  <a:lumOff val="80000"/>
                  <a:alpha val="50000"/>
                </a:schemeClr>
              </a:solidFill>
              <a:ln w="9525">
                <a:noFill/>
              </a:ln>
            </p:spPr>
            <p:txBody>
              <a:bodyPr anchor="t">
                <a:noAutofit/>
              </a:bodyPr>
              <a:lstStyle/>
              <a:p>
                <a:pPr marL="742950" lvl="1" indent="-285750" algn="l" eaLnBrk="1" hangingPunct="1">
                  <a:lnSpc>
                    <a:spcPct val="100000"/>
                  </a:lnSpc>
                  <a:spcBef>
                    <a:spcPct val="20000"/>
                  </a:spcBef>
                  <a:buClr>
                    <a:srgbClr val="C00000"/>
                  </a:buClr>
                  <a:buSzPct val="85000"/>
                  <a:buFont typeface="Wingdings" panose="05000000000000000000" pitchFamily="2" charset="2"/>
                  <a:buChar char="Ø"/>
                </a:pPr>
                <a:r>
                  <a:rPr lang="zh-CN" altLang="en-US" sz="2400" b="1" dirty="0">
                    <a:solidFill>
                      <a:srgbClr val="1F2DA8"/>
                    </a:solidFill>
                    <a:ea typeface="楷体" panose="02010609060101010101" charset="-122"/>
                    <a:cs typeface="Times New Roman" panose="02020603050405020304" charset="0"/>
                  </a:rPr>
                  <a:t>设关系</a:t>
                </a:r>
                <a:r>
                  <a:rPr lang="en-US" altLang="x-none" sz="2400" b="1" i="1" dirty="0">
                    <a:solidFill>
                      <a:srgbClr val="1F2DA8"/>
                    </a:solidFill>
                    <a:ea typeface="楷体" panose="02010609060101010101" charset="-122"/>
                    <a:cs typeface="Times New Roman" panose="02020603050405020304" charset="0"/>
                  </a:rPr>
                  <a:t>R</a:t>
                </a:r>
                <a:r>
                  <a:rPr lang="zh-CN" altLang="en-US" sz="2400" b="1" dirty="0">
                    <a:solidFill>
                      <a:srgbClr val="1F2DA8"/>
                    </a:solidFill>
                    <a:ea typeface="楷体" panose="02010609060101010101" charset="-122"/>
                    <a:cs typeface="Times New Roman" panose="02020603050405020304" charset="0"/>
                  </a:rPr>
                  <a:t>有</a:t>
                </a:r>
                <a14:m>
                  <m:oMath xmlns:m="http://schemas.openxmlformats.org/officeDocument/2006/math">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𝒏</m:t>
                    </m:r>
                  </m:oMath>
                </a14:m>
                <a:r>
                  <a:rPr lang="zh-CN" altLang="en-US" sz="2400" b="1" dirty="0">
                    <a:solidFill>
                      <a:srgbClr val="1F2DA8"/>
                    </a:solidFill>
                    <a:ea typeface="楷体" panose="02010609060101010101" charset="-122"/>
                    <a:cs typeface="Times New Roman" panose="02020603050405020304" charset="0"/>
                  </a:rPr>
                  <a:t>个属性</a:t>
                </a:r>
                <a14:m>
                  <m:oMath xmlns:m="http://schemas.openxmlformats.org/officeDocument/2006/math">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m:t>
                    </m:r>
                    <m:r>
                      <a:rPr lang="en-US" altLang="x-none" sz="2400" b="1" i="1" baseline="-30000" dirty="0">
                        <a:solidFill>
                          <a:srgbClr val="1F2DA8"/>
                        </a:solidFill>
                        <a:latin typeface="Cambria Math" panose="02040503050406030204" charset="0"/>
                        <a:ea typeface="楷体" panose="02010609060101010101" charset="-122"/>
                        <a:cs typeface="Cambria Math" panose="02040503050406030204" charset="0"/>
                      </a:rPr>
                      <m:t>𝟏</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m:t>
                    </m:r>
                    <m:r>
                      <a:rPr lang="en-US" altLang="x-none" sz="2400" b="1" i="1" baseline="-30000" dirty="0">
                        <a:solidFill>
                          <a:srgbClr val="1F2DA8"/>
                        </a:solidFill>
                        <a:latin typeface="Cambria Math" panose="02040503050406030204" charset="0"/>
                        <a:ea typeface="楷体" panose="02010609060101010101" charset="-122"/>
                        <a:cs typeface="Cambria Math" panose="02040503050406030204" charset="0"/>
                      </a:rPr>
                      <m:t>𝟐</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𝑨𝒏</m:t>
                    </m:r>
                  </m:oMath>
                </a14:m>
                <a:r>
                  <a:rPr lang="zh-CN" altLang="en-US" sz="2400" b="1" dirty="0">
                    <a:solidFill>
                      <a:srgbClr val="1F2DA8"/>
                    </a:solidFill>
                    <a:ea typeface="楷体" panose="02010609060101010101" charset="-122"/>
                    <a:cs typeface="Times New Roman" panose="02020603050405020304" charset="0"/>
                  </a:rPr>
                  <a:t>，在其中</a:t>
                </a:r>
                <a14:m>
                  <m:oMath xmlns:m="http://schemas.openxmlformats.org/officeDocument/2006/math">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𝒎</m:t>
                    </m:r>
                  </m:oMath>
                </a14:m>
                <a:r>
                  <a:rPr lang="zh-CN" altLang="en-US" sz="2400" b="1" dirty="0">
                    <a:solidFill>
                      <a:srgbClr val="1F2DA8"/>
                    </a:solidFill>
                    <a:ea typeface="楷体" panose="02010609060101010101" charset="-122"/>
                    <a:cs typeface="Times New Roman" panose="02020603050405020304" charset="0"/>
                  </a:rPr>
                  <a:t>个属性</a:t>
                </a:r>
                <a14:m>
                  <m:oMath xmlns:m="http://schemas.openxmlformats.org/officeDocument/2006/math">
                    <m:r>
                      <a:rPr lang="en-US" altLang="zh-CN" sz="2400" b="1" dirty="0">
                        <a:solidFill>
                          <a:srgbClr val="1F2DA8"/>
                        </a:solidFill>
                        <a:latin typeface="Cambria Math" panose="02040503050406030204" charset="0"/>
                        <a:ea typeface="楷体" panose="02010609060101010101" charset="-122"/>
                        <a:cs typeface="Times New Roman" panose="02020603050405020304" charset="0"/>
                      </a:rPr>
                      <m:t> </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𝟏</m:t>
                            </m:r>
                          </m:sub>
                        </m:sSub>
                      </m:sub>
                    </m:sSub>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𝟐</m:t>
                            </m:r>
                          </m:sub>
                        </m:sSub>
                      </m:sub>
                    </m:sSub>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𝒎</m:t>
                            </m:r>
                          </m:sub>
                        </m:sSub>
                      </m:sub>
                    </m:sSub>
                  </m:oMath>
                </a14:m>
                <a:r>
                  <a:rPr lang="zh-CN" altLang="en-US" sz="2400" b="1" dirty="0">
                    <a:solidFill>
                      <a:srgbClr val="1F2DA8"/>
                    </a:solidFill>
                    <a:ea typeface="楷体" panose="02010609060101010101" charset="-122"/>
                    <a:cs typeface="Times New Roman" panose="02020603050405020304" charset="0"/>
                  </a:rPr>
                  <a:t>上的投影运算可以表示为：</a:t>
                </a:r>
                <a14:m>
                  <m:oMath xmlns:m="http://schemas.openxmlformats.org/officeDocument/2006/math">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𝝅</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𝟏</m:t>
                                </m:r>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𝟐</m:t>
                                </m:r>
                              </m:sub>
                            </m:sSub>
                          </m:sub>
                        </m:sSub>
                        <m:r>
                          <a:rPr lang="en-US" altLang="x-none" sz="2400" b="1" i="1" baseline="-25000" dirty="0">
                            <a:solidFill>
                              <a:srgbClr val="FF0000"/>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𝒎</m:t>
                                </m:r>
                              </m:sub>
                            </m:sSub>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𝑹</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m:t>
                    </m:r>
                  </m:oMath>
                </a14:m>
                <a:endParaRPr lang="en-US" altLang="x-none" sz="2400" b="1" dirty="0">
                  <a:solidFill>
                    <a:srgbClr val="0000C8"/>
                  </a:solidFill>
                  <a:ea typeface="楷体" panose="02010609060101010101" charset="-122"/>
                  <a:cs typeface="Times New Roman" panose="02020603050405020304" charset="0"/>
                </a:endParaRPr>
              </a:p>
              <a:p>
                <a:pPr lvl="2" algn="l" eaLnBrk="1" hangingPunct="1">
                  <a:lnSpc>
                    <a:spcPct val="100000"/>
                  </a:lnSpc>
                  <a:spcBef>
                    <a:spcPts val="1000"/>
                  </a:spcBef>
                  <a:spcAft>
                    <a:spcPts val="0"/>
                  </a:spcAft>
                </a:pPr>
                <a:r>
                  <a:rPr lang="zh-CN" altLang="en-US" sz="2400" b="1" dirty="0">
                    <a:solidFill>
                      <a:srgbClr val="1F2DA8"/>
                    </a:solidFill>
                    <a:ea typeface="楷体" panose="02010609060101010101" charset="-122"/>
                    <a:cs typeface="Times New Roman" panose="02020603050405020304" charset="0"/>
                  </a:rPr>
                  <a:t>其中：</a:t>
                </a:r>
                <a14:m>
                  <m:oMath xmlns:m="http://schemas.openxmlformats.org/officeDocument/2006/math">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𝒋</m:t>
                            </m:r>
                          </m:sub>
                        </m:sSub>
                      </m:sub>
                    </m:sSub>
                    <m:r>
                      <a:rPr lang="en-US" altLang="x-none" sz="2400" b="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m:t>
                    </m:r>
                    <m:r>
                      <a:rPr lang="en-US" altLang="x-none" sz="2400" b="1" i="1" baseline="-30000" dirty="0">
                        <a:solidFill>
                          <a:srgbClr val="1F2DA8"/>
                        </a:solidFill>
                        <a:latin typeface="Cambria Math" panose="02040503050406030204" charset="0"/>
                        <a:ea typeface="楷体" panose="02010609060101010101" charset="-122"/>
                        <a:cs typeface="Cambria Math" panose="02040503050406030204" charset="0"/>
                      </a:rPr>
                      <m:t>𝟏</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m:t>
                    </m:r>
                    <m:r>
                      <a:rPr lang="en-US" altLang="x-none" sz="2400" b="1" i="1" baseline="-30000" dirty="0">
                        <a:solidFill>
                          <a:srgbClr val="1F2DA8"/>
                        </a:solidFill>
                        <a:latin typeface="Cambria Math" panose="02040503050406030204" charset="0"/>
                        <a:ea typeface="楷体" panose="02010609060101010101" charset="-122"/>
                        <a:cs typeface="Cambria Math" panose="02040503050406030204" charset="0"/>
                      </a:rPr>
                      <m:t>𝟐</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𝑨𝒏</m:t>
                    </m:r>
                    <m:r>
                      <a:rPr lang="en-US" altLang="x-none" sz="2400" b="1" baseline="-30000"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dirty="0">
                        <a:solidFill>
                          <a:srgbClr val="1F2DA8"/>
                        </a:solidFill>
                        <a:latin typeface="Cambria Math" panose="02040503050406030204" charset="0"/>
                        <a:ea typeface="楷体" panose="02010609060101010101" charset="-122"/>
                        <a:cs typeface="Cambria Math" panose="02040503050406030204" charset="0"/>
                      </a:rPr>
                      <m:t>} (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𝒋</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𝟏</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𝟐</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𝒎</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dirty="0">
                        <a:solidFill>
                          <a:srgbClr val="1F2DA8"/>
                        </a:solidFill>
                        <a:latin typeface="Cambria Math" panose="02040503050406030204" charset="0"/>
                        <a:ea typeface="MS Mincho" charset="0"/>
                        <a:cs typeface="Cambria Math" panose="02040503050406030204" charset="0"/>
                      </a:rPr>
                      <m:t>)</m:t>
                    </m:r>
                  </m:oMath>
                </a14:m>
                <a:endParaRPr lang="en-US" altLang="x-none" sz="2400" b="1" dirty="0">
                  <a:solidFill>
                    <a:srgbClr val="1F2DA8"/>
                  </a:solidFill>
                  <a:latin typeface="Cambria Math" panose="02040503050406030204" charset="0"/>
                  <a:ea typeface="MS Mincho" charset="0"/>
                  <a:cs typeface="Cambria Math" panose="02040503050406030204" charset="0"/>
                </a:endParaRPr>
              </a:p>
            </p:txBody>
          </p:sp>
        </mc:Choice>
        <mc:Fallback xmlns="">
          <p:sp>
            <p:nvSpPr>
              <p:cNvPr id="81925" name="Rectangle 4"/>
              <p:cNvSpPr>
                <a:spLocks noRot="1" noChangeAspect="1" noMove="1" noResize="1" noEditPoints="1" noAdjustHandles="1" noChangeArrowheads="1" noChangeShapeType="1" noTextEdit="1"/>
              </p:cNvSpPr>
              <p:nvPr/>
            </p:nvSpPr>
            <p:spPr>
              <a:xfrm>
                <a:off x="424180" y="1941830"/>
                <a:ext cx="11343005" cy="1551940"/>
              </a:xfrm>
              <a:prstGeom prst="rect">
                <a:avLst/>
              </a:prstGeom>
              <a:blipFill rotWithShape="1">
                <a:blip r:embed="rId3"/>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Rectangle 4"/>
              <p:cNvSpPr/>
              <p:nvPr/>
            </p:nvSpPr>
            <p:spPr>
              <a:xfrm>
                <a:off x="424180" y="3775710"/>
                <a:ext cx="11343005" cy="1740535"/>
              </a:xfrm>
              <a:prstGeom prst="rect">
                <a:avLst/>
              </a:prstGeom>
              <a:noFill/>
              <a:ln w="9525">
                <a:noFill/>
              </a:ln>
            </p:spPr>
            <p:txBody>
              <a:bodyPr wrap="square" anchor="t">
                <a:noAutofit/>
              </a:bodyPr>
              <a:lstStyle/>
              <a:p>
                <a:pPr marL="742950" lvl="1" indent="-285750" algn="l" eaLnBrk="1" hangingPunct="1">
                  <a:lnSpc>
                    <a:spcPct val="100000"/>
                  </a:lnSpc>
                  <a:spcBef>
                    <a:spcPct val="20000"/>
                  </a:spcBef>
                  <a:buClr>
                    <a:srgbClr val="C00000"/>
                  </a:buClr>
                  <a:buSzPct val="85000"/>
                  <a:buFont typeface="Wingdings" panose="05000000000000000000" pitchFamily="2" charset="2"/>
                  <a:buChar char="Ø"/>
                </a:pPr>
                <a:r>
                  <a:rPr lang="zh-CN" altLang="en-US" sz="2400" b="1" dirty="0">
                    <a:solidFill>
                      <a:srgbClr val="1F2DA8"/>
                    </a:solidFill>
                    <a:ea typeface="楷体" panose="02010609060101010101" charset="-122"/>
                    <a:cs typeface="Times New Roman" panose="02020603050405020304" charset="0"/>
                  </a:rPr>
                  <a:t>运算结果</a:t>
                </a:r>
              </a:p>
              <a:p>
                <a:pPr marL="1124585" lvl="2" indent="-209550" algn="l" eaLnBrk="1" hangingPunct="1">
                  <a:lnSpc>
                    <a:spcPct val="100000"/>
                  </a:lnSpc>
                  <a:spcBef>
                    <a:spcPct val="20000"/>
                  </a:spcBef>
                  <a:buClr>
                    <a:srgbClr val="C00000"/>
                  </a:buClr>
                  <a:buSzPct val="85000"/>
                  <a:buFont typeface="Arial" panose="020B0604020202020204" pitchFamily="34" charset="0"/>
                  <a:buChar char="•"/>
                </a:pPr>
                <a:r>
                  <a:rPr lang="zh-CN" altLang="en-US" sz="2400" b="1" dirty="0">
                    <a:solidFill>
                      <a:srgbClr val="1F2DA8"/>
                    </a:solidFill>
                    <a:ea typeface="楷体" panose="02010609060101010101" charset="-122"/>
                    <a:cs typeface="Times New Roman" panose="02020603050405020304" charset="0"/>
                  </a:rPr>
                  <a:t>是一个由</a:t>
                </a:r>
                <a14:m>
                  <m:oMath xmlns:m="http://schemas.openxmlformats.org/officeDocument/2006/math">
                    <m:r>
                      <a:rPr lang="en-US" altLang="zh-CN" sz="2400" b="1" dirty="0">
                        <a:solidFill>
                          <a:srgbClr val="1F2DA8"/>
                        </a:solidFill>
                        <a:latin typeface="Cambria Math" panose="02040503050406030204" charset="0"/>
                        <a:ea typeface="楷体" panose="02010609060101010101" charset="-122"/>
                        <a:cs typeface="Times New Roman" panose="02020603050405020304" charset="0"/>
                      </a:rPr>
                      <m:t> </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𝟏</m:t>
                            </m:r>
                          </m:sub>
                        </m:sSub>
                      </m:sub>
                    </m:sSub>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𝟐</m:t>
                            </m:r>
                          </m:sub>
                        </m:sSub>
                      </m:sub>
                    </m:sSub>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𝒎</m:t>
                            </m:r>
                          </m:sub>
                        </m:sSub>
                      </m:sub>
                    </m:sSub>
                  </m:oMath>
                </a14:m>
                <a:r>
                  <a:rPr lang="zh-CN" altLang="en-US" sz="2400" b="1" dirty="0">
                    <a:solidFill>
                      <a:srgbClr val="1F2DA8"/>
                    </a:solidFill>
                    <a:ea typeface="楷体" panose="02010609060101010101" charset="-122"/>
                    <a:cs typeface="Times New Roman" panose="02020603050405020304" charset="0"/>
                  </a:rPr>
                  <a:t>所组成的</a:t>
                </a:r>
                <a14:m>
                  <m:oMath xmlns:m="http://schemas.openxmlformats.org/officeDocument/2006/math">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𝒎</m:t>
                    </m:r>
                  </m:oMath>
                </a14:m>
                <a:r>
                  <a:rPr lang="zh-CN" altLang="en-US" sz="2400" b="1" dirty="0">
                    <a:solidFill>
                      <a:srgbClr val="1F2DA8"/>
                    </a:solidFill>
                    <a:ea typeface="楷体" panose="02010609060101010101" charset="-122"/>
                    <a:cs typeface="Times New Roman" panose="02020603050405020304" charset="0"/>
                  </a:rPr>
                  <a:t>元关系</a:t>
                </a:r>
              </a:p>
              <a:p>
                <a:pPr marL="1124585" lvl="2" indent="-209550" algn="l" eaLnBrk="1" hangingPunct="1">
                  <a:lnSpc>
                    <a:spcPct val="100000"/>
                  </a:lnSpc>
                  <a:spcBef>
                    <a:spcPct val="20000"/>
                  </a:spcBef>
                  <a:buClr>
                    <a:srgbClr val="C00000"/>
                  </a:buClr>
                  <a:buSzPct val="85000"/>
                  <a:buFont typeface="Arial" panose="020B0604020202020204" pitchFamily="34" charset="0"/>
                  <a:buChar char="•"/>
                </a:pPr>
                <a:r>
                  <a:rPr lang="zh-CN" altLang="en-US" sz="2400" b="1" dirty="0">
                    <a:solidFill>
                      <a:srgbClr val="1F2DA8"/>
                    </a:solidFill>
                    <a:ea typeface="楷体" panose="02010609060101010101" charset="-122"/>
                    <a:cs typeface="Times New Roman" panose="02020603050405020304" charset="0"/>
                  </a:rPr>
                  <a:t>关系</a:t>
                </a:r>
                <a:r>
                  <a:rPr lang="en-US" altLang="x-none" sz="2400" b="1" i="1" dirty="0">
                    <a:solidFill>
                      <a:srgbClr val="1F2DA8"/>
                    </a:solidFill>
                    <a:ea typeface="楷体" panose="02010609060101010101" charset="-122"/>
                    <a:cs typeface="Times New Roman" panose="02020603050405020304" charset="0"/>
                  </a:rPr>
                  <a:t>R</a:t>
                </a:r>
                <a:r>
                  <a:rPr lang="zh-CN" altLang="en-US" sz="2400" b="1" dirty="0">
                    <a:solidFill>
                      <a:srgbClr val="1F2DA8"/>
                    </a:solidFill>
                    <a:ea typeface="楷体" panose="02010609060101010101" charset="-122"/>
                    <a:cs typeface="Times New Roman" panose="02020603050405020304" charset="0"/>
                  </a:rPr>
                  <a:t>中的每个元组</a:t>
                </a:r>
                <a14:m>
                  <m:oMath xmlns:m="http://schemas.openxmlformats.org/officeDocument/2006/math">
                    <m:r>
                      <a:rPr lang="en-US" altLang="zh-CN" sz="2400" b="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𝒕</m:t>
                    </m:r>
                    <m:r>
                      <a:rPr lang="en-US" altLang="x-none" sz="2400" b="1" dirty="0">
                        <a:solidFill>
                          <a:srgbClr val="1F2DA8"/>
                        </a:solidFill>
                        <a:latin typeface="Cambria Math" panose="02040503050406030204" charset="0"/>
                        <a:ea typeface="楷体" panose="02010609060101010101" charset="-122"/>
                        <a:cs typeface="Cambria Math" panose="02040503050406030204" charset="0"/>
                      </a:rPr>
                      <m:t> </m:t>
                    </m:r>
                  </m:oMath>
                </a14:m>
                <a:r>
                  <a:rPr lang="zh-CN" altLang="en-US" sz="2400" b="1" dirty="0">
                    <a:solidFill>
                      <a:srgbClr val="1F2DA8"/>
                    </a:solidFill>
                    <a:ea typeface="楷体" panose="02010609060101010101" charset="-122"/>
                    <a:cs typeface="Times New Roman" panose="02020603050405020304" charset="0"/>
                  </a:rPr>
                  <a:t>在</a:t>
                </a:r>
                <a14:m>
                  <m:oMath xmlns:m="http://schemas.openxmlformats.org/officeDocument/2006/math">
                    <m:r>
                      <a:rPr lang="en-US" altLang="zh-CN" sz="2400" b="1" dirty="0">
                        <a:solidFill>
                          <a:srgbClr val="1F2DA8"/>
                        </a:solidFill>
                        <a:latin typeface="Cambria Math" panose="02040503050406030204" charset="0"/>
                        <a:ea typeface="楷体" panose="02010609060101010101" charset="-122"/>
                        <a:cs typeface="Times New Roman" panose="02020603050405020304" charset="0"/>
                      </a:rPr>
                      <m:t> </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𝟏</m:t>
                            </m:r>
                          </m:sub>
                        </m:sSub>
                      </m:sub>
                    </m:sSub>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𝟐</m:t>
                            </m:r>
                          </m:sub>
                        </m:sSub>
                      </m:sub>
                    </m:sSub>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1F2DA8"/>
                                </a:solidFill>
                                <a:latin typeface="Cambria Math" panose="02040503050406030204" charset="0"/>
                                <a:ea typeface="楷体" panose="02010609060101010101" charset="-122"/>
                                <a:cs typeface="Cambria Math" panose="02040503050406030204" charset="0"/>
                              </a:rPr>
                              <m:t>𝒎</m:t>
                            </m:r>
                          </m:sub>
                        </m:sSub>
                      </m:sub>
                    </m:sSub>
                  </m:oMath>
                </a14:m>
                <a:r>
                  <a:rPr lang="zh-CN" altLang="en-US" sz="2400" b="1" dirty="0">
                    <a:solidFill>
                      <a:srgbClr val="1F2DA8"/>
                    </a:solidFill>
                    <a:ea typeface="楷体" panose="02010609060101010101" charset="-122"/>
                    <a:cs typeface="Times New Roman" panose="02020603050405020304" charset="0"/>
                  </a:rPr>
                  <a:t>这</a:t>
                </a:r>
                <a14:m>
                  <m:oMath xmlns:m="http://schemas.openxmlformats.org/officeDocument/2006/math">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𝒎</m:t>
                    </m:r>
                  </m:oMath>
                </a14:m>
                <a:r>
                  <a:rPr lang="zh-CN" altLang="en-US" sz="2400" b="1" dirty="0">
                    <a:solidFill>
                      <a:srgbClr val="1F2DA8"/>
                    </a:solidFill>
                    <a:ea typeface="楷体" panose="02010609060101010101" charset="-122"/>
                    <a:cs typeface="Times New Roman" panose="02020603050405020304" charset="0"/>
                  </a:rPr>
                  <a:t>个属性上的取值构成结果关系中的一个元组</a:t>
                </a:r>
              </a:p>
            </p:txBody>
          </p:sp>
        </mc:Choice>
        <mc:Fallback xmlns="">
          <p:sp>
            <p:nvSpPr>
              <p:cNvPr id="3" name="Rectangle 4"/>
              <p:cNvSpPr>
                <a:spLocks noRot="1" noChangeAspect="1" noMove="1" noResize="1" noEditPoints="1" noAdjustHandles="1" noChangeArrowheads="1" noChangeShapeType="1" noTextEdit="1"/>
              </p:cNvSpPr>
              <p:nvPr/>
            </p:nvSpPr>
            <p:spPr>
              <a:xfrm>
                <a:off x="424180" y="3775710"/>
                <a:ext cx="11343005" cy="1740535"/>
              </a:xfrm>
              <a:prstGeom prst="rect">
                <a:avLst/>
              </a:prstGeom>
              <a:blipFill rotWithShape="1">
                <a:blip r:embed="rId4"/>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Rectangle 4"/>
              <p:cNvSpPr/>
              <p:nvPr/>
            </p:nvSpPr>
            <p:spPr>
              <a:xfrm>
                <a:off x="424180" y="5678805"/>
                <a:ext cx="11343005" cy="565150"/>
              </a:xfrm>
              <a:prstGeom prst="rect">
                <a:avLst/>
              </a:prstGeom>
              <a:noFill/>
              <a:ln w="9525">
                <a:noFill/>
              </a:ln>
            </p:spPr>
            <p:txBody>
              <a:bodyPr anchor="t">
                <a:noAutofit/>
              </a:bodyPr>
              <a:lstStyle/>
              <a:p>
                <a:pPr marL="1124585" lvl="2" indent="-209550" algn="l" eaLnBrk="1" hangingPunct="1">
                  <a:lnSpc>
                    <a:spcPct val="100000"/>
                  </a:lnSpc>
                  <a:spcBef>
                    <a:spcPct val="0"/>
                  </a:spcBef>
                  <a:spcAft>
                    <a:spcPts val="1000"/>
                  </a:spcAft>
                  <a:buClr>
                    <a:srgbClr val="C00000"/>
                  </a:buClr>
                  <a:buSzPct val="85000"/>
                  <a:buFont typeface="Arial" panose="020B0604020202020204" pitchFamily="34" charset="0"/>
                  <a:buChar char="•"/>
                </a:pPr>
                <a:r>
                  <a:rPr lang="zh-CN" altLang="en-US" sz="2400" b="1" dirty="0">
                    <a:solidFill>
                      <a:srgbClr val="1F2DA8"/>
                    </a:solidFill>
                    <a:ea typeface="楷体" panose="02010609060101010101" charset="-122"/>
                    <a:cs typeface="Times New Roman" panose="02020603050405020304" charset="0"/>
                  </a:rPr>
                  <a:t>用集合表示法表示为：</a:t>
                </a:r>
                <a14:m>
                  <m:oMath xmlns:m="http://schemas.openxmlformats.org/officeDocument/2006/math">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𝝅</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𝟏</m:t>
                                </m:r>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𝟐</m:t>
                                </m:r>
                              </m:sub>
                            </m:sSub>
                          </m:sub>
                        </m:sSub>
                        <m:r>
                          <a:rPr lang="en-US" altLang="x-none" sz="2400" b="1" i="1" baseline="-25000" dirty="0">
                            <a:solidFill>
                              <a:srgbClr val="FF0000"/>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𝒎</m:t>
                                </m:r>
                              </m:sub>
                            </m:sSub>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𝑹</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m:t>
                    </m:r>
                    <m:d>
                      <m:dPr>
                        <m:begChr m:val="{"/>
                        <m:endChr m:val="}"/>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d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𝒕</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m:t>
                        </m:r>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𝟏</m:t>
                                </m:r>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𝟐</m:t>
                                </m:r>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 </m:t>
                        </m:r>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𝒎</m:t>
                                </m:r>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d>
                          <m:dPr>
                            <m:begChr m:val="|"/>
                            <m:endChr m:val=""/>
                            <m:ctrlPr>
                              <a:rPr lang="en-US" altLang="x-none" sz="2400" b="1" i="1" dirty="0">
                                <a:solidFill>
                                  <a:srgbClr val="FF0000"/>
                                </a:solidFill>
                                <a:latin typeface="Cambria Math" panose="02040503050406030204" pitchFamily="18" charset="0"/>
                                <a:ea typeface="楷体" panose="02010609060101010101" charset="-122"/>
                                <a:cs typeface="Cambria Math" panose="02040503050406030204" charset="0"/>
                              </a:rPr>
                            </m:ctrlPr>
                          </m:dPr>
                          <m:e>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𝒕</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𝑹</m:t>
                            </m:r>
                          </m:e>
                        </m:d>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e>
                    </m:d>
                  </m:oMath>
                </a14:m>
                <a:endParaRPr lang="en-US" altLang="x-none" sz="2400" b="1" i="1" dirty="0">
                  <a:solidFill>
                    <a:srgbClr val="FF0000"/>
                  </a:solidFill>
                  <a:latin typeface="Cambria Math" panose="02040503050406030204" charset="0"/>
                  <a:ea typeface="楷体" panose="02010609060101010101" charset="-122"/>
                  <a:cs typeface="Cambria Math" panose="02040503050406030204" charset="0"/>
                </a:endParaRPr>
              </a:p>
            </p:txBody>
          </p:sp>
        </mc:Choice>
        <mc:Fallback xmlns="">
          <p:sp>
            <p:nvSpPr>
              <p:cNvPr id="6" name="Rectangle 4"/>
              <p:cNvSpPr>
                <a:spLocks noRot="1" noChangeAspect="1" noMove="1" noResize="1" noEditPoints="1" noAdjustHandles="1" noChangeArrowheads="1" noChangeShapeType="1" noTextEdit="1"/>
              </p:cNvSpPr>
              <p:nvPr/>
            </p:nvSpPr>
            <p:spPr>
              <a:xfrm>
                <a:off x="424180" y="5678805"/>
                <a:ext cx="11343005" cy="565150"/>
              </a:xfrm>
              <a:prstGeom prst="rect">
                <a:avLst/>
              </a:prstGeom>
              <a:blipFill rotWithShape="1">
                <a:blip r:embed="rId5"/>
                <a:stretch>
                  <a:fillRect b="-1910"/>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7416165" y="687070"/>
                <a:ext cx="4351020" cy="460375"/>
              </a:xfrm>
              <a:prstGeom prst="rect">
                <a:avLst/>
              </a:prstGeom>
              <a:solidFill>
                <a:schemeClr val="accent3">
                  <a:lumMod val="20000"/>
                  <a:lumOff val="80000"/>
                  <a:alpha val="50000"/>
                </a:schemeClr>
              </a:solidFill>
            </p:spPr>
            <p:txBody>
              <a:bodyPr wrap="square" rtlCol="0" anchor="t">
                <a:noAutofit/>
              </a:bodyPr>
              <a:lstStyle/>
              <a:p>
                <a:pPr algn="r"/>
                <a:r>
                  <a:rPr lang="zh-CN" altLang="en-US" sz="2400" b="1">
                    <a:latin typeface="Arial" panose="020B0604020202020204" pitchFamily="34" charset="0"/>
                    <a:ea typeface="楷体" panose="02010609060101010101" charset="-122"/>
                    <a:cs typeface="Arial" panose="020B0604020202020204" pitchFamily="34" charset="0"/>
                  </a:rPr>
                  <a:t>投影运算也可表示为：</a:t>
                </a:r>
                <a14:m>
                  <m:oMath xmlns:m="http://schemas.openxmlformats.org/officeDocument/2006/math">
                    <m:r>
                      <a:rPr lang="en-US" altLang="zh-CN" sz="2400" b="1" i="1">
                        <a:solidFill>
                          <a:srgbClr val="C00000"/>
                        </a:solidFill>
                        <a:latin typeface="Cambria Math" panose="02040503050406030204" charset="0"/>
                        <a:ea typeface="楷体" panose="02010609060101010101" charset="-122"/>
                        <a:cs typeface="Cambria Math" panose="02040503050406030204" charset="0"/>
                      </a:rPr>
                      <m:t>𝑹</m:t>
                    </m:r>
                    <m:r>
                      <a:rPr lang="en-US" altLang="zh-CN" sz="2400" b="1">
                        <a:solidFill>
                          <a:srgbClr val="C00000"/>
                        </a:solidFill>
                        <a:latin typeface="Cambria Math" panose="02040503050406030204" charset="0"/>
                        <a:ea typeface="楷体" panose="02010609060101010101" charset="-122"/>
                        <a:cs typeface="Cambria Math" panose="02040503050406030204" charset="0"/>
                      </a:rPr>
                      <m:t>[</m:t>
                    </m:r>
                    <m:r>
                      <a:rPr lang="en-US" altLang="zh-CN" sz="2400" b="1" i="1">
                        <a:solidFill>
                          <a:srgbClr val="C00000"/>
                        </a:solidFill>
                        <a:latin typeface="Cambria Math" panose="02040503050406030204" charset="0"/>
                        <a:ea typeface="楷体" panose="02010609060101010101" charset="-122"/>
                        <a:cs typeface="Cambria Math" panose="02040503050406030204" charset="0"/>
                      </a:rPr>
                      <m:t>𝑨</m:t>
                    </m:r>
                    <m:r>
                      <a:rPr lang="en-US" altLang="zh-CN" sz="2400" b="1">
                        <a:solidFill>
                          <a:srgbClr val="C00000"/>
                        </a:solidFill>
                        <a:latin typeface="Cambria Math" panose="02040503050406030204" charset="0"/>
                        <a:ea typeface="MS Mincho" charset="0"/>
                        <a:cs typeface="Cambria Math" panose="02040503050406030204" charset="0"/>
                      </a:rPr>
                      <m:t>]</m:t>
                    </m:r>
                  </m:oMath>
                </a14:m>
                <a:endParaRPr lang="en-US" altLang="zh-CN" sz="2400" b="1">
                  <a:solidFill>
                    <a:srgbClr val="C00000"/>
                  </a:solidFill>
                  <a:latin typeface="Cambria Math" panose="02040503050406030204" charset="0"/>
                  <a:ea typeface="MS Mincho" charset="0"/>
                  <a:cs typeface="Cambria Math" panose="02040503050406030204"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7416165" y="687070"/>
                <a:ext cx="4351020" cy="460375"/>
              </a:xfrm>
              <a:prstGeom prst="rect">
                <a:avLst/>
              </a:prstGeom>
              <a:blipFill rotWithShape="1">
                <a:blip r:embed="rId6"/>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565CE74E-AB26-4998-AD42-012C4C1AD076}" type="slidenum">
              <a:rPr lang="zh-CN" altLang="en-US" smtClean="0"/>
              <a:t>40</a:t>
            </a:fld>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5797550" y="2453640"/>
                <a:ext cx="4845050" cy="481965"/>
              </a:xfrm>
              <a:prstGeom prst="rect">
                <a:avLst/>
              </a:prstGeom>
              <a:noFill/>
            </p:spPr>
            <p:txBody>
              <a:bodyPr wrap="square" rtlCol="0" anchor="t">
                <a:noAutofit/>
              </a:bodyPr>
              <a:lstStyle/>
              <a:p>
                <a:pPr algn="l"/>
                <a:r>
                  <a:rPr lang="zh-CN" altLang="en-US" sz="2400" b="1">
                    <a:latin typeface="Arial" panose="020B0604020202020204" pitchFamily="34" charset="0"/>
                    <a:ea typeface="楷体" panose="02010609060101010101" charset="-122"/>
                    <a:cs typeface="Arial" panose="020B0604020202020204" pitchFamily="34" charset="0"/>
                  </a:rPr>
                  <a:t>或表示为：</a:t>
                </a:r>
                <a14:m>
                  <m:oMath xmlns:m="http://schemas.openxmlformats.org/officeDocument/2006/math">
                    <m:r>
                      <a:rPr lang="en-US" altLang="zh-CN" sz="2400" b="1" i="1">
                        <a:solidFill>
                          <a:srgbClr val="FF0000"/>
                        </a:solidFill>
                        <a:latin typeface="Cambria Math" panose="02040503050406030204" charset="0"/>
                        <a:ea typeface="楷体" panose="02010609060101010101" charset="-122"/>
                        <a:cs typeface="Cambria Math" panose="02040503050406030204" charset="0"/>
                      </a:rPr>
                      <m:t>𝑹</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r>
                      <a:rPr lang="en-US" altLang="zh-CN" sz="2400" b="1">
                        <a:solidFill>
                          <a:srgbClr val="FF0000"/>
                        </a:solidFill>
                        <a:latin typeface="Cambria Math" panose="02040503050406030204" charset="0"/>
                        <a:ea typeface="楷体" panose="02010609060101010101" charset="-122"/>
                        <a:cs typeface="Cambria Math" panose="02040503050406030204" charset="0"/>
                      </a:rPr>
                      <m:t>[</m:t>
                    </m:r>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𝟏</m:t>
                            </m:r>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m:t>
                    </m:r>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𝟐</m:t>
                            </m:r>
                          </m:sub>
                        </m:sSub>
                      </m:sub>
                    </m:sSub>
                    <m:r>
                      <a:rPr lang="en-US" altLang="x-none" sz="2400" b="1" i="1" dirty="0">
                        <a:solidFill>
                          <a:srgbClr val="FF0000"/>
                        </a:solidFill>
                        <a:latin typeface="Cambria Math" panose="02040503050406030204" charset="0"/>
                        <a:ea typeface="楷体" panose="02010609060101010101" charset="-122"/>
                        <a:cs typeface="Cambria Math" panose="02040503050406030204" charset="0"/>
                      </a:rPr>
                      <m:t>,⋯, </m:t>
                    </m:r>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𝑨</m:t>
                        </m:r>
                      </m:e>
                      <m:sub>
                        <m:sSub>
                          <m:sSubPr>
                            <m:ctrlPr>
                              <a:rPr lang="zh-CN" altLang="en-US" sz="24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𝒊</m:t>
                            </m:r>
                          </m:e>
                          <m:sub>
                            <m:r>
                              <a:rPr lang="en-US" altLang="zh-CN" sz="2400" b="1" i="1" dirty="0">
                                <a:solidFill>
                                  <a:srgbClr val="FF0000"/>
                                </a:solidFill>
                                <a:latin typeface="Cambria Math" panose="02040503050406030204" charset="0"/>
                                <a:ea typeface="楷体" panose="02010609060101010101" charset="-122"/>
                                <a:cs typeface="Cambria Math" panose="02040503050406030204" charset="0"/>
                              </a:rPr>
                              <m:t>𝒎</m:t>
                            </m:r>
                          </m:sub>
                        </m:sSub>
                      </m:sub>
                    </m:sSub>
                    <m:r>
                      <a:rPr lang="en-US" altLang="zh-CN" sz="2400" b="1">
                        <a:solidFill>
                          <a:srgbClr val="FF0000"/>
                        </a:solidFill>
                        <a:latin typeface="Cambria Math" panose="02040503050406030204" charset="0"/>
                        <a:ea typeface="MS Mincho" charset="0"/>
                        <a:cs typeface="Cambria Math" panose="02040503050406030204" charset="0"/>
                      </a:rPr>
                      <m:t>]</m:t>
                    </m:r>
                  </m:oMath>
                </a14:m>
                <a:endParaRPr lang="en-US" altLang="zh-CN" sz="2400" b="1">
                  <a:solidFill>
                    <a:srgbClr val="FF0000"/>
                  </a:solidFill>
                  <a:latin typeface="Cambria Math" panose="02040503050406030204" charset="0"/>
                  <a:ea typeface="MS Mincho" charset="0"/>
                  <a:cs typeface="Cambria Math" panose="0204050305040603020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5797550" y="2453640"/>
                <a:ext cx="4845050" cy="481965"/>
              </a:xfrm>
              <a:prstGeom prst="rect">
                <a:avLst/>
              </a:prstGeom>
              <a:blipFill rotWithShape="1">
                <a:blip r:embed="rId7"/>
                <a:stretch>
                  <a:fillRect/>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81925"/>
                                        </p:tgtEl>
                                        <p:attrNameLst>
                                          <p:attrName>style.visibility</p:attrName>
                                        </p:attrNameLst>
                                      </p:cBhvr>
                                      <p:to>
                                        <p:strVal val="visible"/>
                                      </p:to>
                                    </p:set>
                                    <p:animEffect transition="in" filter="blinds(horizontal)">
                                      <p:cBhvr>
                                        <p:cTn id="13" dur="500"/>
                                        <p:tgtEl>
                                          <p:spTgt spid="8192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1+#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linds(horizontal)">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bldLvl="0" animBg="1"/>
      <p:bldP spid="3" grpId="0"/>
      <p:bldP spid="6" grpId="0"/>
      <p:bldP spid="8" grpId="0" bldLvl="0" animBg="1"/>
      <p:bldP spid="2"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投影</a:t>
            </a:r>
            <a:r>
              <a:rPr lang="en-US" altLang="zh-CN"/>
              <a:t>  3</a:t>
            </a:r>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p:txBody>
              <a:bodyPr>
                <a:normAutofit/>
              </a:bodyPr>
              <a:lstStyle/>
              <a:p>
                <a:pPr algn="just" fontAlgn="auto">
                  <a:lnSpc>
                    <a:spcPct val="100000"/>
                  </a:lnSpc>
                  <a:spcBef>
                    <a:spcPts val="1000"/>
                  </a:spcBef>
                </a:pPr>
                <a:r>
                  <a:rPr lang="zh-CN" altLang="en-US" sz="2800" dirty="0"/>
                  <a:t>投影：</a:t>
                </a: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𝜋</m:t>
                    </m:r>
                    <m:r>
                      <a:rPr lang="en-US" altLang="zh-CN" sz="2800" i="1" baseline="-30000" dirty="0">
                        <a:solidFill>
                          <a:srgbClr val="FF0000"/>
                        </a:solidFill>
                        <a:latin typeface="Cambria Math" panose="02040503050406030204" charset="0"/>
                        <a:cs typeface="Cambria Math" panose="02040503050406030204" charset="0"/>
                      </a:rPr>
                      <m:t>𝐴</m:t>
                    </m:r>
                    <m:r>
                      <a:rPr lang="en-US" altLang="zh-CN" sz="2800" i="1"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𝑅</m:t>
                    </m:r>
                    <m:r>
                      <a:rPr lang="en-US" altLang="zh-CN" sz="2800" i="1" dirty="0">
                        <a:solidFill>
                          <a:srgbClr val="FF0000"/>
                        </a:solidFill>
                        <a:latin typeface="Cambria Math" panose="02040503050406030204" charset="0"/>
                        <a:cs typeface="Cambria Math" panose="02040503050406030204" charset="0"/>
                      </a:rPr>
                      <m:t>)</m:t>
                    </m:r>
                  </m:oMath>
                </a14:m>
                <a:endParaRPr lang="zh-CN" altLang="en-US" sz="2800" dirty="0">
                  <a:cs typeface="楷体" panose="02010609060101010101" charset="-122"/>
                  <a:sym typeface="+mn-ea"/>
                </a:endParaRPr>
              </a:p>
              <a:p>
                <a:pPr marL="914400" lvl="1" indent="-457200" algn="just" fontAlgn="auto">
                  <a:lnSpc>
                    <a:spcPct val="100000"/>
                  </a:lnSpc>
                  <a:spcBef>
                    <a:spcPts val="1000"/>
                  </a:spcBef>
                </a:pPr>
                <a:r>
                  <a:rPr lang="zh-CN" altLang="en-US" sz="2800" dirty="0">
                    <a:cs typeface="楷体" panose="02010609060101010101" charset="-122"/>
                    <a:sym typeface="+mn-ea"/>
                  </a:rPr>
                  <a:t>结果关系模式：仅含有属性组</a:t>
                </a:r>
                <a14:m>
                  <m:oMath xmlns:m="http://schemas.openxmlformats.org/officeDocument/2006/math">
                    <m:r>
                      <a:rPr lang="en-US" altLang="zh-CN" sz="2800" i="1" dirty="0">
                        <a:latin typeface="Cambria Math" panose="02040503050406030204" charset="0"/>
                        <a:cs typeface="Cambria Math" panose="02040503050406030204" charset="0"/>
                        <a:sym typeface="+mn-ea"/>
                      </a:rPr>
                      <m:t>𝐴</m:t>
                    </m:r>
                  </m:oMath>
                </a14:m>
                <a:r>
                  <a:rPr lang="zh-CN" altLang="en-US" sz="2800" dirty="0">
                    <a:cs typeface="楷体" panose="02010609060101010101" charset="-122"/>
                    <a:sym typeface="+mn-ea"/>
                  </a:rPr>
                  <a:t>中的属性</a:t>
                </a:r>
              </a:p>
              <a:p>
                <a:pPr marL="914400" lvl="1" indent="-457200" algn="just" fontAlgn="auto">
                  <a:lnSpc>
                    <a:spcPct val="100000"/>
                  </a:lnSpc>
                  <a:spcBef>
                    <a:spcPts val="1000"/>
                  </a:spcBef>
                </a:pPr>
                <a:r>
                  <a:rPr lang="zh-CN" altLang="en-US" sz="2800" dirty="0">
                    <a:cs typeface="楷体" panose="02010609060101010101" charset="-122"/>
                    <a:sym typeface="+mn-ea"/>
                  </a:rPr>
                  <a:t>结果关系元组：由关系</a:t>
                </a:r>
                <a14:m>
                  <m:oMath xmlns:m="http://schemas.openxmlformats.org/officeDocument/2006/math">
                    <m:r>
                      <a:rPr lang="en-US" altLang="x-none" sz="2800" i="1" dirty="0">
                        <a:latin typeface="Cambria Math" panose="02040503050406030204" charset="0"/>
                        <a:cs typeface="Cambria Math" panose="02040503050406030204" charset="0"/>
                        <a:sym typeface="+mn-ea"/>
                      </a:rPr>
                      <m:t>𝑅</m:t>
                    </m:r>
                  </m:oMath>
                </a14:m>
                <a:r>
                  <a:rPr lang="zh-CN" altLang="en-US" sz="2800" dirty="0">
                    <a:cs typeface="楷体" panose="02010609060101010101" charset="-122"/>
                    <a:sym typeface="+mn-ea"/>
                  </a:rPr>
                  <a:t>中的元组投影而成</a:t>
                </a:r>
              </a:p>
            </p:txBody>
          </p:sp>
        </mc:Choice>
        <mc:Fallback xmlns="">
          <p:sp>
            <p:nvSpPr>
              <p:cNvPr id="5" name="内容占位符 4"/>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41</a:t>
            </a:fld>
            <a:endParaRPr lang="zh-CN" altLang="en-US"/>
          </a:p>
        </p:txBody>
      </p:sp>
      <p:sp>
        <p:nvSpPr>
          <p:cNvPr id="6" name="页脚占位符 5"/>
          <p:cNvSpPr>
            <a:spLocks noGrp="1"/>
          </p:cNvSpPr>
          <p:nvPr>
            <p:ph type="ftr" sz="quarter" idx="11"/>
          </p:nvPr>
        </p:nvSpPr>
        <p:spPr>
          <a:xfrm>
            <a:off x="0" y="6695365"/>
            <a:ext cx="4114800" cy="153670"/>
          </a:xfrm>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4" name="矩形 3074"/>
              <p:cNvSpPr/>
              <p:nvPr/>
            </p:nvSpPr>
            <p:spPr>
              <a:xfrm>
                <a:off x="976630" y="2576830"/>
                <a:ext cx="10250170" cy="3540760"/>
              </a:xfrm>
              <a:prstGeom prst="rect">
                <a:avLst/>
              </a:prstGeom>
              <a:noFill/>
              <a:ln w="9525" cap="flat" cmpd="sng">
                <a:solidFill>
                  <a:schemeClr val="tx1"/>
                </a:solidFill>
                <a:prstDash val="solid"/>
                <a:miter/>
                <a:headEnd type="none" w="med" len="med"/>
                <a:tailEnd type="none" w="med" len="med"/>
              </a:ln>
            </p:spPr>
            <p:txBody>
              <a:bodyPr wrap="square" anchor="t">
                <a:spAutoFit/>
              </a:bodyPr>
              <a:lstStyle/>
              <a:p>
                <a:pPr marL="914400" lvl="1" indent="-457200" algn="l" fontAlgn="base">
                  <a:lnSpc>
                    <a:spcPct val="100000"/>
                  </a:lnSpc>
                  <a:spcBef>
                    <a:spcPts val="0"/>
                  </a:spcBef>
                  <a:spcAft>
                    <a:spcPct val="0"/>
                  </a:spcAft>
                  <a:buFont typeface="Arial" panose="020B0604020202020204" pitchFamily="34" charset="0"/>
                  <a:buNone/>
                </a:pP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r>
                      <a:rPr lang="en-US" altLang="zh-CN" sz="2800" b="1" i="1" spc="100">
                        <a:solidFill>
                          <a:srgbClr val="1F2DA8"/>
                        </a:solidFill>
                        <a:uFillTx/>
                        <a:latin typeface="Cambria Math" panose="02040503050406030204" charset="0"/>
                        <a:ea typeface="MS Mincho" charset="0"/>
                        <a:cs typeface="Cambria Math" panose="02040503050406030204" charset="0"/>
                      </a:rPr>
                      <m:t> </m:t>
                    </m:r>
                    <m:box>
                      <m:boxPr>
                        <m:noBreak m:val="on"/>
                        <m:ctrlPr>
                          <a:rPr lang="en-US" altLang="zh-CN" sz="2800" b="1" i="1" spc="100">
                            <a:solidFill>
                              <a:srgbClr val="1F2DA8"/>
                            </a:solidFill>
                            <a:uFillTx/>
                            <a:latin typeface="Cambria Math" panose="02040503050406030204" pitchFamily="18" charset="0"/>
                            <a:cs typeface="Cambria Math" panose="02040503050406030204" charset="0"/>
                          </a:rPr>
                        </m:ctrlPr>
                      </m:boxPr>
                      <m:e>
                        <m:r>
                          <a:rPr lang="en-US" altLang="zh-CN" sz="2800" b="1" i="1" spc="100">
                            <a:solidFill>
                              <a:srgbClr val="1F2DA8"/>
                            </a:solidFill>
                            <a:uFillTx/>
                            <a:latin typeface="Cambria Math" panose="02040503050406030204" charset="0"/>
                            <a:ea typeface="MS Mincho" charset="0"/>
                            <a:cs typeface="Cambria Math" panose="02040503050406030204" charset="0"/>
                          </a:rPr>
                          <m:t>∶=</m:t>
                        </m:r>
                      </m:e>
                    </m:box>
                    <m:r>
                      <a:rPr lang="en-US" altLang="zh-CN" sz="2800" b="1" i="1" spc="100">
                        <a:solidFill>
                          <a:srgbClr val="1F2DA8"/>
                        </a:solidFill>
                        <a:uFillTx/>
                        <a:latin typeface="Cambria Math" panose="02040503050406030204" charset="0"/>
                        <a:ea typeface="MS Mincho" charset="0"/>
                        <a:cs typeface="Cambria Math" panose="02040503050406030204" charset="0"/>
                      </a:rPr>
                      <m:t> {  }</m:t>
                    </m:r>
                  </m:oMath>
                </a14:m>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初始化结果元组集合</a:t>
                </a:r>
                <a:r>
                  <a:rPr lang="en-US" altLang="zh-CN" sz="2800" i="1">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 </a:t>
                </a: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a:t>
                </a:r>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for each tuple </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𝑹</m:t>
                    </m:r>
                  </m:oMath>
                </a14:m>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a:t>
                </a:r>
              </a:p>
              <a:p>
                <a:pPr marL="1371600" lvl="2" indent="-457200" algn="l" fontAlgn="base">
                  <a:lnSpc>
                    <a:spcPct val="100000"/>
                  </a:lnSpc>
                  <a:spcBef>
                    <a:spcPts val="0"/>
                  </a:spcBef>
                  <a:spcAft>
                    <a:spcPct val="0"/>
                  </a:spcAft>
                  <a:buFont typeface="Arial" panose="020B0604020202020204" pitchFamily="34" charset="0"/>
                  <a:buNone/>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r>
                  <a:rPr lang="zh-CN" altLang="en-US"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投影过程中可能产生重复的结果元组</a:t>
                </a:r>
                <a14:m>
                  <m:oMath xmlns:m="http://schemas.openxmlformats.org/officeDocument/2006/math">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 </m:t>
                    </m:r>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𝑡</m:t>
                    </m:r>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m:t>
                    </m:r>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𝐴</m:t>
                    </m:r>
                    <m:r>
                      <a:rPr lang="en-US" altLang="zh-CN" sz="2800" i="1">
                        <a:solidFill>
                          <a:srgbClr val="1F2DA8"/>
                        </a:solidFill>
                        <a:latin typeface="Cambria Math" panose="02040503050406030204" charset="0"/>
                        <a:ea typeface="楷体" panose="02010609060101010101" charset="-122"/>
                        <a:cs typeface="Cambria Math" panose="02040503050406030204" charset="0"/>
                        <a:sym typeface="Symbol" panose="05050102010706020507" pitchFamily="2" charset="2"/>
                      </a:rPr>
                      <m:t>]</m:t>
                    </m:r>
                  </m:oMath>
                </a14:m>
                <a:r>
                  <a:rPr lang="en-US" altLang="zh-CN" sz="2800">
                    <a:solidFill>
                      <a:srgbClr val="1F2DA8"/>
                    </a:solidFill>
                    <a:latin typeface="楷体" panose="02010609060101010101" charset="-122"/>
                    <a:ea typeface="楷体" panose="02010609060101010101" charset="-122"/>
                    <a:cs typeface="Times New Roman" panose="02020603050405020304" charset="0"/>
                    <a:sym typeface="Symbol" panose="05050102010706020507" pitchFamily="2" charset="2"/>
                  </a:rPr>
                  <a:t> </a:t>
                </a: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a:t>
                </a:r>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1371600" lvl="2" indent="-457200">
                  <a:lnSpc>
                    <a:spcPct val="100000"/>
                  </a:lnSpc>
                  <a:spcBef>
                    <a:spcPts val="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if  </a:t>
                </a:r>
                <a14:m>
                  <m:oMath xmlns:m="http://schemas.openxmlformats.org/officeDocument/2006/math">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𝑨</m:t>
                    </m:r>
                    <m:r>
                      <a:rPr lang="en-US" altLang="zh-CN" sz="2800" b="1" i="1">
                        <a:solidFill>
                          <a:srgbClr val="1F2DA8"/>
                        </a:solidFill>
                        <a:latin typeface="Cambria Math" panose="02040503050406030204" charset="0"/>
                        <a:cs typeface="Cambria Math" panose="02040503050406030204" charset="0"/>
                        <a:sym typeface="Symbol" panose="05050102010706020507" pitchFamily="2" charset="2"/>
                      </a:rPr>
                      <m:t>]∉</m:t>
                    </m:r>
                    <m:r>
                      <a:rPr lang="en-US" sz="2800" b="1" i="1">
                        <a:solidFill>
                          <a:srgbClr val="1F2DA8"/>
                        </a:solidFill>
                        <a:latin typeface="Cambria Math" panose="02040503050406030204" charset="0"/>
                        <a:cs typeface="Cambria Math" panose="02040503050406030204" charset="0"/>
                        <a:sym typeface="Symbol" panose="05050102010706020507" pitchFamily="2" charset="2"/>
                      </a:rPr>
                      <m:t>𝑻</m:t>
                    </m:r>
                  </m:oMath>
                </a14:m>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  </a:t>
                </a:r>
              </a:p>
              <a:p>
                <a:pPr marL="1371600" lvl="2" indent="-457200">
                  <a:lnSpc>
                    <a:spcPct val="100000"/>
                  </a:lnSpc>
                  <a:spcBef>
                    <a:spcPts val="0"/>
                  </a:spcBef>
                </a:pPr>
                <a:r>
                  <a:rPr lang="en-US" altLang="zh-CN" sz="2800" b="1">
                    <a:solidFill>
                      <a:srgbClr val="1F2DA8"/>
                    </a:solidFill>
                    <a:latin typeface="Times New Roman" panose="02020603050405020304" charset="0"/>
                    <a:cs typeface="Times New Roman" panose="02020603050405020304" charset="0"/>
                    <a:sym typeface="Symbol" panose="05050102010706020507" pitchFamily="2" charset="2"/>
                  </a:rPr>
                  <a:t>then  </a:t>
                </a:r>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add tuple </a:t>
                </a:r>
                <a14:m>
                  <m:oMath xmlns:m="http://schemas.openxmlformats.org/officeDocument/2006/math">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𝒕</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𝑨</m:t>
                    </m:r>
                    <m:r>
                      <a:rPr lang="en-US" altLang="zh-CN" sz="2800" b="1" i="1" u="none" baseline="0">
                        <a:solidFill>
                          <a:srgbClr val="1F2DA8"/>
                        </a:solidFill>
                        <a:latin typeface="Cambria Math" panose="02040503050406030204" charset="0"/>
                        <a:cs typeface="Cambria Math" panose="02040503050406030204" charset="0"/>
                        <a:sym typeface="Symbol" panose="05050102010706020507" pitchFamily="2" charset="2"/>
                      </a:rPr>
                      <m:t>]</m:t>
                    </m:r>
                  </m:oMath>
                </a14:m>
                <a:r>
                  <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rPr>
                  <a:t> into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u="none" baseline="0">
                  <a:solidFill>
                    <a:srgbClr val="1F2DA8"/>
                  </a:solidFill>
                  <a:latin typeface="Times New Roman" panose="02020603050405020304" charset="0"/>
                  <a:cs typeface="Times New Roman" panose="02020603050405020304" charset="0"/>
                  <a:sym typeface="Symbol" panose="05050102010706020507" pitchFamily="2" charset="2"/>
                </a:endParaRP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rPr>
                  <a:t>}</a:t>
                </a:r>
              </a:p>
              <a:p>
                <a:pPr marL="914400" lvl="1" indent="-457200" algn="l" fontAlgn="base">
                  <a:lnSpc>
                    <a:spcPct val="100000"/>
                  </a:lnSpc>
                  <a:spcBef>
                    <a:spcPts val="0"/>
                  </a:spcBef>
                  <a:spcAft>
                    <a:spcPct val="0"/>
                  </a:spcAft>
                  <a:buFont typeface="Arial" panose="020B0604020202020204" pitchFamily="34" charset="0"/>
                  <a:buNone/>
                </a:pPr>
                <a:r>
                  <a:rPr lang="en-US" altLang="zh-CN" sz="2800" b="1" u="none" baseline="0">
                    <a:solidFill>
                      <a:srgbClr val="1F2DA8"/>
                    </a:solidFill>
                    <a:latin typeface="Times New Roman" panose="02020603050405020304" charset="0"/>
                    <a:cs typeface="Times New Roman" panose="02020603050405020304" charset="0"/>
                  </a:rPr>
                  <a:t>return  </a:t>
                </a:r>
                <a14:m>
                  <m:oMath xmlns:m="http://schemas.openxmlformats.org/officeDocument/2006/math">
                    <m:r>
                      <a:rPr lang="en-US" altLang="zh-CN" sz="2800" b="1" i="1" spc="100">
                        <a:solidFill>
                          <a:srgbClr val="1F2DA8"/>
                        </a:solidFill>
                        <a:uFillTx/>
                        <a:latin typeface="Cambria Math" panose="02040503050406030204" charset="0"/>
                        <a:cs typeface="Cambria Math" panose="02040503050406030204" charset="0"/>
                      </a:rPr>
                      <m:t>𝑻</m:t>
                    </m:r>
                  </m:oMath>
                </a14:m>
                <a:endParaRPr lang="en-US" altLang="zh-CN" sz="2800" b="1" u="none" baseline="0">
                  <a:solidFill>
                    <a:srgbClr val="1F2DA8"/>
                  </a:solidFill>
                  <a:latin typeface="Times New Roman" panose="02020603050405020304" charset="0"/>
                  <a:cs typeface="Times New Roman" panose="02020603050405020304" charset="0"/>
                </a:endParaRPr>
              </a:p>
            </p:txBody>
          </p:sp>
        </mc:Choice>
        <mc:Fallback xmlns="">
          <p:sp>
            <p:nvSpPr>
              <p:cNvPr id="4" name="矩形 3074"/>
              <p:cNvSpPr>
                <a:spLocks noRot="1" noChangeAspect="1" noMove="1" noResize="1" noEditPoints="1" noAdjustHandles="1" noChangeArrowheads="1" noChangeShapeType="1" noTextEdit="1"/>
              </p:cNvSpPr>
              <p:nvPr/>
            </p:nvSpPr>
            <p:spPr>
              <a:xfrm>
                <a:off x="976630" y="2576830"/>
                <a:ext cx="10250170" cy="3540760"/>
              </a:xfrm>
              <a:prstGeom prst="rect">
                <a:avLst/>
              </a:prstGeom>
              <a:blipFill rotWithShape="1">
                <a:blip r:embed="rId3"/>
                <a:stretch>
                  <a:fillRect l="-50" t="-143" r="-43" b="-126"/>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kumimoji="0" lang="zh-CN" altLang="en-US" sz="2800" i="0" u="none" strike="noStrike" kern="0" cap="none" spc="0" normalizeH="0" baseline="0" noProof="0" dirty="0">
                <a:ln>
                  <a:noFill/>
                </a:ln>
                <a:effectLst/>
                <a:uLnTx/>
                <a:uFillTx/>
                <a:latin typeface="+mj-ea"/>
                <a:ea typeface="+mj-ea"/>
                <a:cs typeface="+mj-ea"/>
              </a:rPr>
              <a:t>投影 </a:t>
            </a:r>
            <a:r>
              <a:rPr kumimoji="0" lang="en-US" altLang="zh-CN" sz="2800" i="0" u="none" strike="noStrike" kern="0" cap="none" spc="0" normalizeH="0" baseline="0" noProof="0" dirty="0">
                <a:ln>
                  <a:noFill/>
                </a:ln>
                <a:effectLst/>
                <a:uLnTx/>
                <a:uFillTx/>
                <a:latin typeface="+mj-ea"/>
                <a:ea typeface="+mj-ea"/>
                <a:cs typeface="+mj-ea"/>
              </a:rPr>
              <a:t>4</a:t>
            </a:r>
            <a:endParaRPr kumimoji="0" lang="en-US" altLang="zh-CN" sz="2800" b="1" i="0" u="none" strike="noStrike" kern="0" cap="none" spc="0" normalizeH="0" baseline="0" noProof="0" dirty="0">
              <a:ln>
                <a:noFill/>
              </a:ln>
              <a:solidFill>
                <a:srgbClr val="1F2DA8"/>
              </a:solidFill>
              <a:effectLst/>
              <a:uLnTx/>
              <a:uFillTx/>
              <a:latin typeface="+mj-ea"/>
              <a:ea typeface="+mj-ea"/>
              <a:cs typeface="+mj-ea"/>
            </a:endParaRPr>
          </a:p>
        </p:txBody>
      </p:sp>
      <mc:AlternateContent xmlns:mc="http://schemas.openxmlformats.org/markup-compatibility/2006">
        <mc:Choice xmlns:a14="http://schemas.microsoft.com/office/drawing/2010/main" Requires="a14">
          <p:sp>
            <p:nvSpPr>
              <p:cNvPr id="93187" name="Rectangle 3"/>
              <p:cNvSpPr>
                <a:spLocks noGrp="1" noChangeArrowheads="1"/>
              </p:cNvSpPr>
              <p:nvPr>
                <p:ph type="body" idx="1"/>
              </p:nvPr>
            </p:nvSpPr>
            <p:spPr>
              <a:xfrm>
                <a:off x="424180" y="768985"/>
                <a:ext cx="11374120" cy="2363470"/>
              </a:xfrm>
            </p:spPr>
            <p:txBody>
              <a:bodyPr wrap="square">
                <a:spAutoFit/>
              </a:bodyPr>
              <a:lstStyle/>
              <a:p>
                <a:pPr algn="just" fontAlgn="auto">
                  <a:lnSpc>
                    <a:spcPct val="120000"/>
                  </a:lnSpc>
                  <a:spcBef>
                    <a:spcPts val="800"/>
                  </a:spcBef>
                </a:pPr>
                <a:r>
                  <a:rPr lang="zh-CN" altLang="en-US" sz="2800" dirty="0"/>
                  <a:t>例</a:t>
                </a:r>
                <a:r>
                  <a:rPr lang="en-US" altLang="zh-CN" sz="2800" dirty="0"/>
                  <a:t>2.6</a:t>
                </a:r>
                <a:r>
                  <a:rPr lang="zh-CN" altLang="en-US" sz="2800" dirty="0"/>
                  <a:t>：查询学生的姓名和所在系。</a:t>
                </a:r>
              </a:p>
              <a:p>
                <a:pPr lvl="1" algn="just" fontAlgn="auto">
                  <a:lnSpc>
                    <a:spcPct val="120000"/>
                  </a:lnSpc>
                  <a:spcBef>
                    <a:spcPts val="800"/>
                  </a:spcBef>
                </a:pPr>
                <a:r>
                  <a:rPr lang="zh-CN" altLang="en-US" sz="2800" dirty="0"/>
                  <a:t>即求</a:t>
                </a:r>
                <a:r>
                  <a:rPr lang="en-US" altLang="zh-CN" sz="2800" dirty="0"/>
                  <a:t>Student</a:t>
                </a:r>
                <a:r>
                  <a:rPr lang="zh-CN" altLang="en-US" sz="2800" dirty="0"/>
                  <a:t>关系上学生姓名和所在系两个属性上的投影</a:t>
                </a:r>
              </a:p>
              <a:p>
                <a:pPr lvl="1" algn="ctr" fontAlgn="auto">
                  <a:lnSpc>
                    <a:spcPct val="120000"/>
                  </a:lnSpc>
                  <a:spcBef>
                    <a:spcPts val="800"/>
                  </a:spcBef>
                  <a:buFont typeface="Wingdings" panose="05000000000000000000" pitchFamily="2" charset="2"/>
                  <a:buNone/>
                </a:pPr>
                <a14:m>
                  <m:oMathPara xmlns:m="http://schemas.openxmlformats.org/officeDocument/2006/math">
                    <m:oMathParaPr>
                      <m:jc m:val="center"/>
                    </m:oMathParaPr>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𝜋</m:t>
                      </m:r>
                      <m:r>
                        <a:rPr lang="en-US" altLang="zh-CN" sz="2800" i="1" baseline="-30000" dirty="0" err="1">
                          <a:solidFill>
                            <a:srgbClr val="FF0000"/>
                          </a:solidFill>
                          <a:latin typeface="Cambria Math" panose="02040503050406030204" charset="0"/>
                          <a:cs typeface="Cambria Math" panose="02040503050406030204" charset="0"/>
                        </a:rPr>
                        <m:t>𝑆𝑛𝑎𝑚𝑒</m:t>
                      </m:r>
                      <m:r>
                        <a:rPr lang="en-US" altLang="zh-CN" sz="2800" i="1" baseline="-30000" dirty="0" err="1">
                          <a:solidFill>
                            <a:srgbClr val="FF0000"/>
                          </a:solidFill>
                          <a:latin typeface="Cambria Math" panose="02040503050406030204" charset="0"/>
                          <a:cs typeface="Cambria Math" panose="02040503050406030204" charset="0"/>
                        </a:rPr>
                        <m:t>,</m:t>
                      </m:r>
                      <m:r>
                        <a:rPr lang="en-US" altLang="zh-CN" sz="2800" i="1" baseline="-30000" dirty="0" err="1">
                          <a:solidFill>
                            <a:srgbClr val="FF0000"/>
                          </a:solidFill>
                          <a:latin typeface="Cambria Math" panose="02040503050406030204" charset="0"/>
                          <a:cs typeface="Cambria Math" panose="02040503050406030204" charset="0"/>
                        </a:rPr>
                        <m:t>𝑆𝑑𝑒𝑝𝑡</m:t>
                      </m:r>
                      <m:r>
                        <a:rPr lang="en-US" altLang="zh-CN" sz="2800" i="1" baseline="-30000" dirty="0" err="1">
                          <a:solidFill>
                            <a:srgbClr val="FF0000"/>
                          </a:solidFill>
                          <a:latin typeface="Cambria Math" panose="02040503050406030204" charset="0"/>
                          <a:cs typeface="Cambria Math" panose="02040503050406030204" charset="0"/>
                        </a:rPr>
                        <m:t> (</m:t>
                      </m:r>
                      <m:r>
                        <a:rPr lang="en-US" altLang="zh-CN" sz="2800" i="1" dirty="0">
                          <a:solidFill>
                            <a:srgbClr val="FF0000"/>
                          </a:solidFill>
                          <a:latin typeface="Cambria Math" panose="02040503050406030204" charset="0"/>
                          <a:cs typeface="Cambria Math" panose="02040503050406030204" charset="0"/>
                        </a:rPr>
                        <m:t>𝑆𝑡𝑢𝑑𝑒𝑛𝑡</m:t>
                      </m:r>
                      <m:r>
                        <a:rPr lang="en-US" altLang="zh-CN" sz="2800" i="1" dirty="0">
                          <a:solidFill>
                            <a:srgbClr val="FF0000"/>
                          </a:solidFill>
                          <a:latin typeface="Cambria Math" panose="02040503050406030204" charset="0"/>
                          <a:cs typeface="Cambria Math" panose="02040503050406030204" charset="0"/>
                        </a:rPr>
                        <m:t>)</m:t>
                      </m:r>
                    </m:oMath>
                  </m:oMathPara>
                </a14:m>
                <a:endParaRPr lang="en-US" altLang="zh-CN" sz="2800" dirty="0"/>
              </a:p>
              <a:p>
                <a:pPr lvl="1" algn="just" fontAlgn="auto">
                  <a:lnSpc>
                    <a:spcPct val="120000"/>
                  </a:lnSpc>
                  <a:spcBef>
                    <a:spcPts val="800"/>
                  </a:spcBef>
                </a:pPr>
                <a:r>
                  <a:rPr lang="zh-CN" altLang="en-US" sz="2800" dirty="0"/>
                  <a:t>结果：</a:t>
                </a:r>
                <a:r>
                  <a:rPr lang="zh-CN" altLang="en-US" sz="2800" dirty="0">
                    <a:sym typeface="+mn-ea"/>
                  </a:rPr>
                  <a:t>图</a:t>
                </a:r>
                <a:r>
                  <a:rPr lang="en-US" altLang="zh-CN" sz="2800" dirty="0">
                    <a:sym typeface="+mn-ea"/>
                  </a:rPr>
                  <a:t>2.6(a)</a:t>
                </a:r>
                <a:endParaRPr lang="zh-CN" altLang="en-US" sz="2800" dirty="0"/>
              </a:p>
            </p:txBody>
          </p:sp>
        </mc:Choice>
        <mc:Fallback>
          <p:sp>
            <p:nvSpPr>
              <p:cNvPr id="93187" name="Rectangle 3"/>
              <p:cNvSpPr>
                <a:spLocks noGrp="1" noRot="1" noChangeAspect="1" noMove="1" noResize="1" noEditPoints="1" noAdjustHandles="1" noChangeArrowheads="1" noChangeShapeType="1" noTextEdit="1"/>
              </p:cNvSpPr>
              <p:nvPr>
                <p:ph type="body" idx="1"/>
              </p:nvPr>
            </p:nvSpPr>
            <p:spPr>
              <a:xfrm>
                <a:off x="424180" y="768985"/>
                <a:ext cx="11374120" cy="2363470"/>
              </a:xfrm>
              <a:blipFill>
                <a:blip r:embed="rId2"/>
                <a:stretch>
                  <a:fillRect l="-670" t="-2139" b="-3743"/>
                </a:stretch>
              </a:blipFill>
            </p:spPr>
            <p:txBody>
              <a:bodyPr/>
              <a:lstStyle/>
              <a:p>
                <a:r>
                  <a:rPr lang="zh-CN" altLang="en-US">
                    <a:noFill/>
                  </a:rPr>
                  <a:t> </a:t>
                </a:r>
              </a:p>
            </p:txBody>
          </p:sp>
        </mc:Fallback>
      </mc:AlternateContent>
      <p:graphicFrame>
        <p:nvGraphicFramePr>
          <p:cNvPr id="6" name="Group 124"/>
          <p:cNvGraphicFramePr/>
          <p:nvPr/>
        </p:nvGraphicFramePr>
        <p:xfrm>
          <a:off x="3432175" y="3208973"/>
          <a:ext cx="4679950" cy="2601460"/>
        </p:xfrm>
        <a:graphic>
          <a:graphicData uri="http://schemas.openxmlformats.org/drawingml/2006/table">
            <a:tbl>
              <a:tblPr/>
              <a:tblGrid>
                <a:gridCol w="234061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tblGrid>
              <a:tr h="45910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Sname</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Sdept</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李勇</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CS</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刘晨</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CS</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王敏</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MA</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宋体" panose="02010600030101010101" pitchFamily="2" charset="-122"/>
                        </a:rPr>
                        <a:t>张立</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Arial" panose="020B0604020202020204" pitchFamily="34" charset="0"/>
                          <a:ea typeface="宋体" panose="02010600030101010101" pitchFamily="2" charset="-122"/>
                        </a:rPr>
                        <a:t>IS</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p:cNvSpPr>
            <a:spLocks noGrp="1"/>
          </p:cNvSpPr>
          <p:nvPr>
            <p:ph type="sldNum" sz="quarter" idx="12"/>
          </p:nvPr>
        </p:nvSpPr>
        <p:spPr/>
        <p:txBody>
          <a:bodyPr/>
          <a:lstStyle/>
          <a:p>
            <a:fld id="{565CE74E-AB26-4998-AD42-012C4C1AD076}" type="slidenum">
              <a:rPr lang="zh-CN" altLang="en-US" smtClean="0"/>
              <a:t>42</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4" name="文本框 3"/>
              <p:cNvSpPr txBox="1"/>
              <p:nvPr/>
            </p:nvSpPr>
            <p:spPr>
              <a:xfrm>
                <a:off x="424180" y="6035675"/>
                <a:ext cx="11374120" cy="522605"/>
              </a:xfrm>
              <a:prstGeom prst="rect">
                <a:avLst/>
              </a:prstGeom>
              <a:solidFill>
                <a:schemeClr val="accent1">
                  <a:lumMod val="20000"/>
                  <a:lumOff val="80000"/>
                  <a:alpha val="50000"/>
                </a:schemeClr>
              </a:solidFill>
            </p:spPr>
            <p:txBody>
              <a:bodyPr wrap="square" rtlCol="0">
                <a:spAutoFit/>
              </a:bodyPr>
              <a:lstStyle/>
              <a:p>
                <a:pPr marL="914400" lvl="1" indent="-457200">
                  <a:buClr>
                    <a:srgbClr val="C00000"/>
                  </a:buClr>
                  <a:buSzPct val="85000"/>
                  <a:buFont typeface="Wingdings" panose="05000000000000000000" charset="0"/>
                  <a:buChar char="Ø"/>
                </a:pPr>
                <a:r>
                  <a:rPr lang="zh-CN" altLang="en-US" sz="2800" b="1">
                    <a:solidFill>
                      <a:srgbClr val="1F2DA8"/>
                    </a:solidFill>
                    <a:latin typeface="楷体" panose="02010609060101010101" charset="-122"/>
                    <a:ea typeface="楷体" panose="02010609060101010101" charset="-122"/>
                  </a:rPr>
                  <a:t>也可表示为：</a:t>
                </a:r>
                <a14:m>
                  <m:oMath xmlns:m="http://schemas.openxmlformats.org/officeDocument/2006/math">
                    <m:r>
                      <a:rPr lang="en-US" altLang="zh-CN" sz="2800" b="1" i="1">
                        <a:solidFill>
                          <a:srgbClr val="C00000"/>
                        </a:solidFill>
                        <a:latin typeface="Cambria Math" panose="02040503050406030204" charset="0"/>
                        <a:cs typeface="Cambria Math" panose="02040503050406030204" charset="0"/>
                      </a:rPr>
                      <m:t>𝑺𝒕𝒖𝒅𝒆𝒏𝒕</m:t>
                    </m:r>
                    <m:r>
                      <a:rPr lang="en-US" altLang="zh-CN" sz="2800" b="1" i="1">
                        <a:solidFill>
                          <a:srgbClr val="C00000"/>
                        </a:solidFill>
                        <a:latin typeface="Cambria Math" panose="02040503050406030204" charset="0"/>
                        <a:cs typeface="Cambria Math" panose="02040503050406030204" charset="0"/>
                      </a:rPr>
                      <m:t> [ </m:t>
                    </m:r>
                    <m:r>
                      <a:rPr lang="en-US" altLang="zh-CN" sz="2800" b="1" i="1">
                        <a:solidFill>
                          <a:srgbClr val="C00000"/>
                        </a:solidFill>
                        <a:latin typeface="Cambria Math" panose="02040503050406030204" charset="0"/>
                        <a:cs typeface="Cambria Math" panose="02040503050406030204" charset="0"/>
                      </a:rPr>
                      <m:t>𝑺𝒏𝒂𝒎𝒆</m:t>
                    </m:r>
                    <m:r>
                      <a:rPr lang="en-US" altLang="zh-CN" sz="2800" b="1" i="1">
                        <a:solidFill>
                          <a:srgbClr val="C00000"/>
                        </a:solidFill>
                        <a:latin typeface="Cambria Math" panose="02040503050406030204" charset="0"/>
                        <a:cs typeface="Cambria Math" panose="02040503050406030204" charset="0"/>
                      </a:rPr>
                      <m:t>, </m:t>
                    </m:r>
                    <m:r>
                      <a:rPr lang="en-US" altLang="zh-CN" sz="2800" b="1" i="1">
                        <a:solidFill>
                          <a:srgbClr val="C00000"/>
                        </a:solidFill>
                        <a:latin typeface="Cambria Math" panose="02040503050406030204" charset="0"/>
                        <a:cs typeface="Cambria Math" panose="02040503050406030204" charset="0"/>
                      </a:rPr>
                      <m:t>𝑺𝒅𝒆𝒑𝒕</m:t>
                    </m:r>
                    <m:r>
                      <a:rPr lang="en-US" altLang="zh-CN" sz="2800" b="1" i="1">
                        <a:solidFill>
                          <a:srgbClr val="C00000"/>
                        </a:solidFill>
                        <a:latin typeface="Cambria Math" panose="02040503050406030204" charset="0"/>
                        <a:cs typeface="Cambria Math" panose="02040503050406030204" charset="0"/>
                      </a:rPr>
                      <m:t> ]</m:t>
                    </m:r>
                  </m:oMath>
                </a14:m>
                <a:endParaRPr lang="en-US" altLang="zh-CN" sz="2800" b="1" i="1">
                  <a:solidFill>
                    <a:srgbClr val="C0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24180" y="6035675"/>
                <a:ext cx="11374120" cy="52260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xEl>
                                              <p:pRg st="1" end="1"/>
                                            </p:txEl>
                                          </p:spTgt>
                                        </p:tgtEl>
                                        <p:attrNameLst>
                                          <p:attrName>style.visibility</p:attrName>
                                        </p:attrNameLst>
                                      </p:cBhvr>
                                      <p:to>
                                        <p:strVal val="visible"/>
                                      </p:to>
                                    </p:set>
                                    <p:animEffect transition="in" filter="blinds(horizontal)">
                                      <p:cBhvr>
                                        <p:cTn id="7" dur="500"/>
                                        <p:tgtEl>
                                          <p:spTgt spid="9318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3187">
                                            <p:txEl>
                                              <p:pRg st="2" end="2"/>
                                            </p:txEl>
                                          </p:spTgt>
                                        </p:tgtEl>
                                        <p:attrNameLst>
                                          <p:attrName>style.visibility</p:attrName>
                                        </p:attrNameLst>
                                      </p:cBhvr>
                                      <p:to>
                                        <p:strVal val="visible"/>
                                      </p:to>
                                    </p:set>
                                    <p:animEffect transition="in" filter="blinds(horizontal)">
                                      <p:cBhvr>
                                        <p:cTn id="10" dur="500"/>
                                        <p:tgtEl>
                                          <p:spTgt spid="9318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3187">
                                            <p:txEl>
                                              <p:pRg st="3" end="3"/>
                                            </p:txEl>
                                          </p:spTgt>
                                        </p:tgtEl>
                                        <p:attrNameLst>
                                          <p:attrName>style.visibility</p:attrName>
                                        </p:attrNameLst>
                                      </p:cBhvr>
                                      <p:to>
                                        <p:strVal val="visible"/>
                                      </p:to>
                                    </p:set>
                                    <p:animEffect transition="in" filter="blinds(horizontal)">
                                      <p:cBhvr>
                                        <p:cTn id="15" dur="500"/>
                                        <p:tgtEl>
                                          <p:spTgt spid="93187">
                                            <p:txEl>
                                              <p:pRg st="3" end="3"/>
                                            </p:txEl>
                                          </p:spTgt>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linds(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投影</a:t>
            </a:r>
            <a:r>
              <a:rPr lang="en-US" altLang="zh-CN"/>
              <a:t> 5</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lgn="just" eaLnBrk="1" hangingPunct="1">
                  <a:lnSpc>
                    <a:spcPct val="150000"/>
                  </a:lnSpc>
                </a:pPr>
                <a:r>
                  <a:rPr lang="zh-CN" altLang="en-US" sz="2800" dirty="0">
                    <a:sym typeface="+mn-ea"/>
                  </a:rPr>
                  <a:t>例</a:t>
                </a:r>
                <a:r>
                  <a:rPr lang="en-US" altLang="zh-CN" sz="2800" dirty="0">
                    <a:sym typeface="+mn-ea"/>
                  </a:rPr>
                  <a:t>2.7</a:t>
                </a:r>
                <a:r>
                  <a:rPr lang="zh-CN" altLang="en-US" sz="2800" dirty="0">
                    <a:sym typeface="+mn-ea"/>
                  </a:rPr>
                  <a:t>：查询学生关系</a:t>
                </a:r>
                <a:r>
                  <a:rPr lang="en-US" altLang="zh-CN" sz="2800" dirty="0">
                    <a:sym typeface="+mn-ea"/>
                  </a:rPr>
                  <a:t>Student</a:t>
                </a:r>
                <a:r>
                  <a:rPr lang="zh-CN" altLang="en-US" sz="2800" dirty="0">
                    <a:sym typeface="+mn-ea"/>
                  </a:rPr>
                  <a:t>中都有哪些系。           </a:t>
                </a:r>
                <a:endParaRPr lang="zh-CN" altLang="en-US" sz="2800" dirty="0"/>
              </a:p>
              <a:p>
                <a:pPr algn="ctr" eaLnBrk="1" hangingPunct="1">
                  <a:lnSpc>
                    <a:spcPct val="150000"/>
                  </a:lnSpc>
                  <a:buFont typeface="Wingdings" panose="05000000000000000000" pitchFamily="2" charset="2"/>
                  <a:buNone/>
                </a:pPr>
                <a14:m>
                  <m:oMathPara xmlns:m="http://schemas.openxmlformats.org/officeDocument/2006/math">
                    <m:oMathParaPr>
                      <m:jc m:val="center"/>
                    </m:oMathParaPr>
                    <m:oMath xmlns:m="http://schemas.openxmlformats.org/officeDocument/2006/math">
                      <m:r>
                        <a:rPr lang="en-US" altLang="zh-CN" sz="2800" i="1" dirty="0">
                          <a:solidFill>
                            <a:srgbClr val="FF0000"/>
                          </a:solidFill>
                          <a:latin typeface="Cambria Math" panose="02040503050406030204" charset="0"/>
                          <a:cs typeface="Cambria Math" panose="02040503050406030204" charset="0"/>
                          <a:sym typeface="+mn-ea"/>
                        </a:rPr>
                        <m:t>𝜋</m:t>
                      </m:r>
                      <m:r>
                        <a:rPr lang="en-US" altLang="zh-CN" sz="2800" i="1" baseline="-30000" dirty="0" err="1">
                          <a:solidFill>
                            <a:srgbClr val="FF0000"/>
                          </a:solidFill>
                          <a:latin typeface="Cambria Math" panose="02040503050406030204" charset="0"/>
                          <a:cs typeface="Cambria Math" panose="02040503050406030204" charset="0"/>
                          <a:sym typeface="+mn-ea"/>
                        </a:rPr>
                        <m:t>𝑆𝑑𝑒𝑝𝑡</m:t>
                      </m:r>
                      <m:r>
                        <a:rPr lang="en-US" altLang="zh-CN" sz="2800" i="1" baseline="-30000" dirty="0" err="1">
                          <a:solidFill>
                            <a:srgbClr val="FF0000"/>
                          </a:solidFill>
                          <a:latin typeface="Cambria Math" panose="02040503050406030204" charset="0"/>
                          <a:cs typeface="Cambria Math" panose="02040503050406030204" charset="0"/>
                          <a:sym typeface="+mn-ea"/>
                        </a:rPr>
                        <m:t> (</m:t>
                      </m:r>
                      <m:r>
                        <a:rPr lang="en-US" altLang="zh-CN" sz="2800" i="1" dirty="0">
                          <a:solidFill>
                            <a:srgbClr val="FF0000"/>
                          </a:solidFill>
                          <a:latin typeface="Cambria Math" panose="02040503050406030204" charset="0"/>
                          <a:cs typeface="Cambria Math" panose="02040503050406030204" charset="0"/>
                          <a:sym typeface="+mn-ea"/>
                        </a:rPr>
                        <m:t>𝑆𝑡𝑢𝑑𝑒𝑛𝑡</m:t>
                      </m:r>
                      <m:r>
                        <a:rPr lang="en-US" altLang="zh-CN" sz="2800" i="1" dirty="0">
                          <a:solidFill>
                            <a:srgbClr val="FF0000"/>
                          </a:solidFill>
                          <a:latin typeface="Cambria Math" panose="02040503050406030204" charset="0"/>
                          <a:cs typeface="Cambria Math" panose="02040503050406030204" charset="0"/>
                          <a:sym typeface="+mn-ea"/>
                        </a:rPr>
                        <m:t>)</m:t>
                      </m:r>
                    </m:oMath>
                  </m:oMathPara>
                </a14:m>
                <a:endParaRPr lang="en-US" altLang="zh-CN" sz="2800" dirty="0"/>
              </a:p>
              <a:p>
                <a:pPr lvl="1" eaLnBrk="1" hangingPunct="1">
                  <a:lnSpc>
                    <a:spcPct val="150000"/>
                  </a:lnSpc>
                  <a:spcBef>
                    <a:spcPts val="1000"/>
                  </a:spcBef>
                  <a:spcAft>
                    <a:spcPts val="0"/>
                  </a:spcAft>
                </a:pPr>
                <a:r>
                  <a:rPr lang="en-US" altLang="zh-CN" sz="2800" dirty="0">
                    <a:sym typeface="+mn-ea"/>
                  </a:rPr>
                  <a:t>	</a:t>
                </a:r>
                <a:r>
                  <a:rPr lang="zh-CN" altLang="en-US" sz="2800" dirty="0">
                    <a:sym typeface="+mn-ea"/>
                  </a:rPr>
                  <a:t>结果：</a:t>
                </a:r>
                <a:r>
                  <a:rPr lang="zh-CN" altLang="en-US" dirty="0">
                    <a:sym typeface="+mn-ea"/>
                  </a:rPr>
                  <a:t>需要消除重复出现的院系名称（图</a:t>
                </a:r>
                <a:r>
                  <a:rPr lang="en-US" altLang="zh-CN" dirty="0">
                    <a:sym typeface="+mn-ea"/>
                  </a:rPr>
                  <a:t>2.6(b)</a:t>
                </a:r>
                <a:r>
                  <a:rPr lang="zh-CN" altLang="en-US" dirty="0">
                    <a:sym typeface="+mn-ea"/>
                  </a:rPr>
                  <a:t>）</a:t>
                </a:r>
                <a:endParaRPr lang="zh-CN" altLang="en-US" sz="2800" dirty="0"/>
              </a:p>
              <a:p>
                <a:endParaRPr lang="zh-CN" altLang="en-US" sz="28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71"/>
                </a:stretch>
              </a:blipFill>
            </p:spPr>
            <p:txBody>
              <a:bodyPr/>
              <a:lstStyle/>
              <a:p>
                <a:r>
                  <a:rPr lang="zh-CN" altLang="en-US">
                    <a:noFill/>
                  </a:rPr>
                  <a:t> </a:t>
                </a:r>
              </a:p>
            </p:txBody>
          </p:sp>
        </mc:Fallback>
      </mc:AlternateContent>
      <p:graphicFrame>
        <p:nvGraphicFramePr>
          <p:cNvPr id="351299" name="Group 67"/>
          <p:cNvGraphicFramePr>
            <a:graphicFrameLocks noGrp="1"/>
          </p:cNvGraphicFramePr>
          <p:nvPr>
            <p:ph sz="half" idx="2"/>
          </p:nvPr>
        </p:nvGraphicFramePr>
        <p:xfrm>
          <a:off x="2575401" y="2967990"/>
          <a:ext cx="1658620" cy="2305052"/>
        </p:xfrm>
        <a:graphic>
          <a:graphicData uri="http://schemas.openxmlformats.org/drawingml/2006/table">
            <a:tbl>
              <a:tblPr/>
              <a:tblGrid>
                <a:gridCol w="1658620">
                  <a:extLst>
                    <a:ext uri="{9D8B030D-6E8A-4147-A177-3AD203B41FA5}">
                      <a16:colId xmlns:a16="http://schemas.microsoft.com/office/drawing/2014/main" val="20000"/>
                    </a:ext>
                  </a:extLst>
                </a:gridCol>
              </a:tblGrid>
              <a:tr h="5762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err="1">
                          <a:ln>
                            <a:noFill/>
                          </a:ln>
                          <a:solidFill>
                            <a:schemeClr val="tx1"/>
                          </a:solidFill>
                          <a:effectLst/>
                          <a:latin typeface="楷体" panose="02010609060101010101" charset="-122"/>
                          <a:ea typeface="楷体" panose="02010609060101010101" charset="-122"/>
                        </a:rPr>
                        <a:t>Sdept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5762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CS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a:ln>
                            <a:noFill/>
                          </a:ln>
                          <a:solidFill>
                            <a:srgbClr val="1F2DA8"/>
                          </a:solidFill>
                          <a:effectLst/>
                          <a:latin typeface="楷体" panose="02010609060101010101" charset="-122"/>
                          <a:ea typeface="楷体" panose="02010609060101010101" charset="-122"/>
                        </a:rPr>
                        <a:t>IS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62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1" i="0" u="none" strike="noStrike" cap="none" normalizeH="0" baseline="0" dirty="0">
                          <a:ln>
                            <a:noFill/>
                          </a:ln>
                          <a:solidFill>
                            <a:srgbClr val="1F2DA8"/>
                          </a:solidFill>
                          <a:effectLst/>
                          <a:latin typeface="楷体" panose="02010609060101010101" charset="-122"/>
                          <a:ea typeface="楷体" panose="02010609060101010101" charset="-122"/>
                        </a:rPr>
                        <a:t>MA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灯片编号占位符 4"/>
          <p:cNvSpPr>
            <a:spLocks noGrp="1"/>
          </p:cNvSpPr>
          <p:nvPr>
            <p:ph type="sldNum" sz="quarter" idx="12"/>
          </p:nvPr>
        </p:nvSpPr>
        <p:spPr/>
        <p:txBody>
          <a:bodyPr/>
          <a:lstStyle/>
          <a:p>
            <a:fld id="{565CE74E-AB26-4998-AD42-012C4C1AD076}" type="slidenum">
              <a:rPr lang="zh-CN" altLang="en-US" smtClean="0"/>
              <a:t>43</a:t>
            </a:fld>
            <a:endParaRPr lang="zh-CN" altLang="en-US"/>
          </a:p>
        </p:txBody>
      </p:sp>
      <p:sp>
        <p:nvSpPr>
          <p:cNvPr id="6" name="页脚占位符 5"/>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4" name="文本框 3"/>
              <p:cNvSpPr txBox="1"/>
              <p:nvPr/>
            </p:nvSpPr>
            <p:spPr>
              <a:xfrm>
                <a:off x="424180" y="6035675"/>
                <a:ext cx="11374120" cy="522605"/>
              </a:xfrm>
              <a:prstGeom prst="rect">
                <a:avLst/>
              </a:prstGeom>
              <a:solidFill>
                <a:schemeClr val="accent1">
                  <a:lumMod val="20000"/>
                  <a:lumOff val="80000"/>
                  <a:alpha val="50000"/>
                </a:schemeClr>
              </a:solidFill>
            </p:spPr>
            <p:txBody>
              <a:bodyPr wrap="square" rtlCol="0">
                <a:spAutoFit/>
              </a:bodyPr>
              <a:lstStyle/>
              <a:p>
                <a:pPr marL="914400" lvl="1" indent="-457200">
                  <a:buClr>
                    <a:srgbClr val="C00000"/>
                  </a:buClr>
                  <a:buSzPct val="85000"/>
                  <a:buFont typeface="Wingdings" panose="05000000000000000000" charset="0"/>
                  <a:buChar char="Ø"/>
                </a:pPr>
                <a:r>
                  <a:rPr lang="zh-CN" altLang="en-US" sz="2800" b="1">
                    <a:solidFill>
                      <a:srgbClr val="1F2DA8"/>
                    </a:solidFill>
                    <a:latin typeface="楷体" panose="02010609060101010101" charset="-122"/>
                    <a:ea typeface="楷体" panose="02010609060101010101" charset="-122"/>
                  </a:rPr>
                  <a:t>也可表示为：</a:t>
                </a:r>
                <a14:m>
                  <m:oMath xmlns:m="http://schemas.openxmlformats.org/officeDocument/2006/math">
                    <m:r>
                      <a:rPr lang="en-US" altLang="zh-CN" sz="2800" b="1" i="1">
                        <a:solidFill>
                          <a:srgbClr val="C00000"/>
                        </a:solidFill>
                        <a:latin typeface="Cambria Math" panose="02040503050406030204" charset="0"/>
                        <a:cs typeface="Cambria Math" panose="02040503050406030204" charset="0"/>
                      </a:rPr>
                      <m:t>𝑺𝒕𝒖𝒅𝒆𝒏𝒕</m:t>
                    </m:r>
                    <m:r>
                      <a:rPr lang="en-US" altLang="zh-CN" sz="2800" b="1" i="1">
                        <a:solidFill>
                          <a:srgbClr val="C00000"/>
                        </a:solidFill>
                        <a:latin typeface="Cambria Math" panose="02040503050406030204" charset="0"/>
                        <a:cs typeface="Cambria Math" panose="02040503050406030204" charset="0"/>
                      </a:rPr>
                      <m:t> [ </m:t>
                    </m:r>
                    <m:r>
                      <a:rPr lang="en-US" altLang="zh-CN" sz="2800" b="1" i="1">
                        <a:solidFill>
                          <a:srgbClr val="C00000"/>
                        </a:solidFill>
                        <a:latin typeface="Cambria Math" panose="02040503050406030204" charset="0"/>
                        <a:cs typeface="Cambria Math" panose="02040503050406030204" charset="0"/>
                      </a:rPr>
                      <m:t>𝑺𝒅𝒆𝒑𝒕</m:t>
                    </m:r>
                    <m:r>
                      <a:rPr lang="en-US" altLang="zh-CN" sz="2800" b="1" i="1">
                        <a:solidFill>
                          <a:srgbClr val="C00000"/>
                        </a:solidFill>
                        <a:latin typeface="Cambria Math" panose="02040503050406030204" charset="0"/>
                        <a:cs typeface="Cambria Math" panose="02040503050406030204" charset="0"/>
                      </a:rPr>
                      <m:t> ]</m:t>
                    </m:r>
                  </m:oMath>
                </a14:m>
                <a:endParaRPr lang="en-US" altLang="zh-CN" sz="2800" b="1" i="1">
                  <a:solidFill>
                    <a:srgbClr val="C0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24180" y="6035675"/>
                <a:ext cx="11374120" cy="522605"/>
              </a:xfrm>
              <a:prstGeom prst="rect">
                <a:avLst/>
              </a:prstGeom>
              <a:blipFill rotWithShape="1">
                <a:blip r:embed="rId3"/>
                <a:stretch>
                  <a:fillRect/>
                </a:stretch>
              </a:blipFill>
            </p:spPr>
            <p:txBody>
              <a:bodyPr/>
              <a:lstStyle/>
              <a:p>
                <a:r>
                  <a:rPr lang="zh-CN" altLang="en-US">
                    <a:noFill/>
                  </a:rPr>
                  <a:t> </a:t>
                </a:r>
              </a:p>
            </p:txBody>
          </p:sp>
        </mc:Fallback>
      </mc:AlternateContent>
      <p:pic>
        <p:nvPicPr>
          <p:cNvPr id="8" name="图片 7"/>
          <p:cNvPicPr>
            <a:picLocks noChangeAspect="1"/>
          </p:cNvPicPr>
          <p:nvPr/>
        </p:nvPicPr>
        <p:blipFill>
          <a:blip r:embed="rId4"/>
          <a:stretch>
            <a:fillRect/>
          </a:stretch>
        </p:blipFill>
        <p:spPr>
          <a:xfrm>
            <a:off x="6517640" y="2967355"/>
            <a:ext cx="5249545" cy="24460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351299"/>
                                        </p:tgtEl>
                                        <p:attrNameLst>
                                          <p:attrName>style.visibility</p:attrName>
                                        </p:attrNameLst>
                                      </p:cBhvr>
                                      <p:to>
                                        <p:strVal val="visible"/>
                                      </p:to>
                                    </p:set>
                                    <p:animEffect transition="in" filter="blinds(horizontal)">
                                      <p:cBhvr>
                                        <p:cTn id="16" dur="500"/>
                                        <p:tgtEl>
                                          <p:spTgt spid="351299"/>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p:cNvSpPr>
          <p:nvPr>
            <p:ph type="title"/>
          </p:nvPr>
        </p:nvSpPr>
        <p:spPr/>
        <p:txBody>
          <a:bodyPr wrap="square" anchor="ctr"/>
          <a:lstStyle/>
          <a:p>
            <a:pPr eaLnBrk="1" hangingPunct="1"/>
            <a:r>
              <a:rPr lang="zh-CN" altLang="en-US" dirty="0"/>
              <a:t>单个关系上的数据</a:t>
            </a:r>
            <a:r>
              <a:rPr lang="zh-CN" altLang="en-US" dirty="0">
                <a:latin typeface="宋体" panose="02010600030101010101" pitchFamily="2" charset="-122"/>
              </a:rPr>
              <a:t>操纵：选择</a:t>
            </a:r>
            <a:r>
              <a:rPr lang="en-US" altLang="zh-CN" dirty="0">
                <a:latin typeface="宋体" panose="02010600030101010101" pitchFamily="2" charset="-122"/>
              </a:rPr>
              <a:t> &amp; </a:t>
            </a:r>
            <a:r>
              <a:rPr lang="zh-CN" altLang="en-US" dirty="0">
                <a:latin typeface="宋体" panose="02010600030101010101" pitchFamily="2" charset="-122"/>
              </a:rPr>
              <a:t>投影</a:t>
            </a:r>
          </a:p>
        </p:txBody>
      </p:sp>
      <mc:AlternateContent xmlns:mc="http://schemas.openxmlformats.org/markup-compatibility/2006">
        <mc:Choice xmlns:a14="http://schemas.microsoft.com/office/drawing/2010/main" Requires="a14">
          <p:sp>
            <p:nvSpPr>
              <p:cNvPr id="87045" name="Rectangle 3"/>
              <p:cNvSpPr>
                <a:spLocks noGrp="1"/>
              </p:cNvSpPr>
              <p:nvPr>
                <p:ph idx="1"/>
              </p:nvPr>
            </p:nvSpPr>
            <p:spPr>
              <a:xfrm>
                <a:off x="424180" y="687070"/>
                <a:ext cx="11343005" cy="4127500"/>
              </a:xfrm>
            </p:spPr>
            <p:txBody>
              <a:bodyPr wrap="square" anchor="t">
                <a:spAutoFit/>
              </a:bodyPr>
              <a:lstStyle/>
              <a:p>
                <a:pPr marL="457200" indent="-457200" fontAlgn="auto">
                  <a:lnSpc>
                    <a:spcPct val="100000"/>
                  </a:lnSpc>
                  <a:buSzPct val="85000"/>
                </a:pPr>
                <a:r>
                  <a:rPr lang="zh-CN" altLang="en-US" sz="2800" dirty="0">
                    <a:latin typeface="楷体" panose="02010609060101010101" charset="-122"/>
                    <a:ea typeface="楷体" panose="02010609060101010101" charset="-122"/>
                  </a:rPr>
                  <a:t>可以结合使用投影和选择运算来实现单张表中的数据查询操作：</a:t>
                </a:r>
              </a:p>
              <a:p>
                <a:pPr marL="0" indent="0" algn="ctr" fontAlgn="auto">
                  <a:lnSpc>
                    <a:spcPct val="100000"/>
                  </a:lnSpc>
                  <a:buSzPct val="85000"/>
                  <a:buNone/>
                </a:pPr>
                <a14:m>
                  <m:oMathPara xmlns:m="http://schemas.openxmlformats.org/officeDocument/2006/math">
                    <m:oMathParaPr>
                      <m:jc m:val="centerGroup"/>
                    </m:oMathParaPr>
                    <m:oMath xmlns:m="http://schemas.openxmlformats.org/officeDocument/2006/math">
                      <m:r>
                        <a:rPr lang="en-US" altLang="zh-CN" sz="2800" i="1" dirty="0">
                          <a:solidFill>
                            <a:srgbClr val="FF0000"/>
                          </a:solidFill>
                          <a:latin typeface="Cambria Math" panose="02040503050406030204" charset="0"/>
                          <a:cs typeface="Cambria Math" panose="02040503050406030204" charset="0"/>
                          <a:sym typeface="Symbol" panose="05050102010706020507" pitchFamily="2" charset="2"/>
                        </a:rPr>
                        <m:t></m:t>
                      </m:r>
                      <m:r>
                        <a:rPr lang="en-US" altLang="x-none" sz="2800" i="1" baseline="-25000" dirty="0">
                          <a:solidFill>
                            <a:srgbClr val="FF0000"/>
                          </a:solidFill>
                          <a:latin typeface="Cambria Math" panose="02040503050406030204" charset="0"/>
                          <a:cs typeface="Cambria Math" panose="02040503050406030204" charset="0"/>
                          <a:sym typeface="Symbol" panose="05050102010706020507" pitchFamily="2" charset="2"/>
                        </a:rPr>
                        <m:t>𝐴</m:t>
                      </m:r>
                      <m:r>
                        <a:rPr lang="en-US" altLang="x-none" sz="2800" i="1" dirty="0">
                          <a:solidFill>
                            <a:srgbClr val="FF0000"/>
                          </a:solidFill>
                          <a:latin typeface="Cambria Math" panose="02040503050406030204" charset="0"/>
                          <a:cs typeface="Cambria Math" panose="02040503050406030204" charset="0"/>
                          <a:sym typeface="Symbol" panose="05050102010706020507" pitchFamily="2" charset="2"/>
                        </a:rPr>
                        <m:t> ( </m:t>
                      </m:r>
                      <m:r>
                        <a:rPr lang="en-US" altLang="x-none" sz="2800" i="1" dirty="0">
                          <a:solidFill>
                            <a:srgbClr val="FF0000"/>
                          </a:solidFill>
                          <a:latin typeface="Cambria Math" panose="02040503050406030204" charset="0"/>
                          <a:cs typeface="Cambria Math" panose="02040503050406030204" charset="0"/>
                          <a:sym typeface="Symbol" panose="05050102010706020507" pitchFamily="2" charset="2"/>
                        </a:rPr>
                        <m:t>𝜎</m:t>
                      </m:r>
                      <m:r>
                        <a:rPr lang="en-US" altLang="x-none" sz="2800" i="1" baseline="-30000" dirty="0">
                          <a:solidFill>
                            <a:srgbClr val="FF0000"/>
                          </a:solidFill>
                          <a:latin typeface="Cambria Math" panose="02040503050406030204" charset="0"/>
                          <a:cs typeface="Cambria Math" panose="02040503050406030204" charset="0"/>
                        </a:rPr>
                        <m:t>𝐹</m:t>
                      </m:r>
                      <m:r>
                        <a:rPr lang="en-US" altLang="x-none" sz="2800" i="1" baseline="-30000" dirty="0">
                          <a:solidFill>
                            <a:srgbClr val="FF0000"/>
                          </a:solidFill>
                          <a:latin typeface="Cambria Math" panose="02040503050406030204" charset="0"/>
                          <a:cs typeface="Cambria Math" panose="02040503050406030204" charset="0"/>
                        </a:rPr>
                        <m:t> ( </m:t>
                      </m:r>
                      <m:r>
                        <a:rPr lang="en-US" altLang="x-none" sz="2800" i="1" dirty="0">
                          <a:solidFill>
                            <a:srgbClr val="FF0000"/>
                          </a:solidFill>
                          <a:latin typeface="Cambria Math" panose="02040503050406030204" charset="0"/>
                          <a:cs typeface="Cambria Math" panose="02040503050406030204" charset="0"/>
                        </a:rPr>
                        <m:t>𝑅</m:t>
                      </m:r>
                      <m:r>
                        <a:rPr lang="en-US" altLang="x-none" sz="2800" i="1" dirty="0">
                          <a:solidFill>
                            <a:srgbClr val="FF0000"/>
                          </a:solidFill>
                          <a:latin typeface="Cambria Math" panose="02040503050406030204" charset="0"/>
                          <a:cs typeface="Cambria Math" panose="02040503050406030204" charset="0"/>
                        </a:rPr>
                        <m:t> ) )</m:t>
                      </m:r>
                    </m:oMath>
                  </m:oMathPara>
                </a14:m>
                <a:endParaRPr lang="en-US" altLang="x-none" sz="2800" dirty="0">
                  <a:solidFill>
                    <a:srgbClr val="FF0000"/>
                  </a:solidFill>
                  <a:latin typeface="Arial" panose="020B0604020202020204" pitchFamily="34" charset="0"/>
                </a:endParaRPr>
              </a:p>
              <a:p>
                <a:pPr marL="914400" lvl="1" indent="-457200" fontAlgn="auto">
                  <a:lnSpc>
                    <a:spcPct val="100000"/>
                  </a:lnSpc>
                </a:pPr>
                <a:endParaRPr lang="en-US" altLang="x-none" sz="1000" dirty="0">
                  <a:latin typeface="Arial" panose="020B0604020202020204" pitchFamily="34" charset="0"/>
                </a:endParaRPr>
              </a:p>
              <a:p>
                <a:pPr marL="914400" lvl="1" indent="-457200" fontAlgn="auto">
                  <a:lnSpc>
                    <a:spcPct val="100000"/>
                  </a:lnSpc>
                  <a:spcBef>
                    <a:spcPts val="1000"/>
                  </a:spcBef>
                  <a:buAutoNum type="arabicParenR"/>
                </a:pPr>
                <a:r>
                  <a:rPr lang="zh-CN" altLang="en-US" dirty="0">
                    <a:solidFill>
                      <a:srgbClr val="C00000"/>
                    </a:solidFill>
                    <a:latin typeface="楷体" panose="02010609060101010101" charset="-122"/>
                    <a:ea typeface="楷体" panose="02010609060101010101" charset="-122"/>
                    <a:cs typeface="楷体" panose="02010609060101010101" charset="-122"/>
                  </a:rPr>
                  <a:t>先根据选择条件</a:t>
                </a:r>
                <a:r>
                  <a:rPr lang="en-US" altLang="x-none" dirty="0">
                    <a:solidFill>
                      <a:srgbClr val="C00000"/>
                    </a:solidFill>
                    <a:latin typeface="楷体" panose="02010609060101010101" charset="-122"/>
                    <a:ea typeface="楷体" panose="02010609060101010101" charset="-122"/>
                    <a:cs typeface="楷体" panose="02010609060101010101" charset="-122"/>
                  </a:rPr>
                  <a:t>F</a:t>
                </a:r>
                <a:r>
                  <a:rPr lang="zh-CN" altLang="en-US" dirty="0">
                    <a:solidFill>
                      <a:srgbClr val="C00000"/>
                    </a:solidFill>
                    <a:latin typeface="楷体" panose="02010609060101010101" charset="-122"/>
                    <a:ea typeface="楷体" panose="02010609060101010101" charset="-122"/>
                    <a:cs typeface="楷体" panose="02010609060101010101" charset="-122"/>
                  </a:rPr>
                  <a:t>对关系</a:t>
                </a:r>
                <a:r>
                  <a:rPr lang="en-US" altLang="x-none" dirty="0">
                    <a:solidFill>
                      <a:srgbClr val="C00000"/>
                    </a:solidFill>
                    <a:latin typeface="楷体" panose="02010609060101010101" charset="-122"/>
                    <a:ea typeface="楷体" panose="02010609060101010101" charset="-122"/>
                    <a:cs typeface="楷体" panose="02010609060101010101" charset="-122"/>
                  </a:rPr>
                  <a:t>R</a:t>
                </a:r>
                <a:r>
                  <a:rPr lang="zh-CN" altLang="en-US" dirty="0">
                    <a:solidFill>
                      <a:srgbClr val="C00000"/>
                    </a:solidFill>
                    <a:latin typeface="楷体" panose="02010609060101010101" charset="-122"/>
                    <a:ea typeface="楷体" panose="02010609060101010101" charset="-122"/>
                    <a:cs typeface="楷体" panose="02010609060101010101" charset="-122"/>
                  </a:rPr>
                  <a:t>进行选择运算</a:t>
                </a:r>
              </a:p>
              <a:p>
                <a:pPr lvl="2" fontAlgn="auto">
                  <a:lnSpc>
                    <a:spcPct val="100000"/>
                  </a:lnSpc>
                  <a:spcBef>
                    <a:spcPts val="600"/>
                  </a:spcBef>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选出符合条件的元组</a:t>
                </a:r>
                <a:endParaRPr lang="zh-CN" altLang="en-US" sz="2800" dirty="0">
                  <a:latin typeface="楷体" panose="02010609060101010101" charset="-122"/>
                  <a:ea typeface="楷体" panose="02010609060101010101" charset="-122"/>
                  <a:cs typeface="楷体" panose="02010609060101010101" charset="-122"/>
                </a:endParaRPr>
              </a:p>
              <a:p>
                <a:pPr marL="1371600" lvl="2" indent="-457200" fontAlgn="auto">
                  <a:lnSpc>
                    <a:spcPct val="100000"/>
                  </a:lnSpc>
                  <a:spcBef>
                    <a:spcPts val="1000"/>
                  </a:spcBef>
                </a:pPr>
                <a:endParaRPr lang="zh-CN" altLang="en-US" sz="1000" dirty="0">
                  <a:latin typeface="楷体" panose="02010609060101010101" charset="-122"/>
                  <a:ea typeface="楷体" panose="02010609060101010101" charset="-122"/>
                  <a:cs typeface="楷体" panose="02010609060101010101" charset="-122"/>
                </a:endParaRPr>
              </a:p>
              <a:p>
                <a:pPr marL="914400" lvl="1" indent="-457200" fontAlgn="auto">
                  <a:lnSpc>
                    <a:spcPct val="100000"/>
                  </a:lnSpc>
                  <a:spcBef>
                    <a:spcPts val="1000"/>
                  </a:spcBef>
                  <a:buAutoNum type="arabicParenR" startAt="2"/>
                </a:pPr>
                <a:r>
                  <a:rPr lang="zh-CN" altLang="en-US" dirty="0">
                    <a:solidFill>
                      <a:srgbClr val="C00000"/>
                    </a:solidFill>
                    <a:latin typeface="楷体" panose="02010609060101010101" charset="-122"/>
                    <a:ea typeface="楷体" panose="02010609060101010101" charset="-122"/>
                    <a:cs typeface="楷体" panose="02010609060101010101" charset="-122"/>
                  </a:rPr>
                  <a:t>再对选择运算的结果关系进行投影运算</a:t>
                </a:r>
              </a:p>
              <a:p>
                <a:pPr lvl="2" fontAlgn="auto">
                  <a:lnSpc>
                    <a:spcPct val="100000"/>
                  </a:lnSpc>
                  <a:spcBef>
                    <a:spcPts val="600"/>
                  </a:spcBef>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确定最终结果关系的关系模式</a:t>
                </a:r>
              </a:p>
              <a:p>
                <a:pPr lvl="2" fontAlgn="auto">
                  <a:lnSpc>
                    <a:spcPct val="100000"/>
                  </a:lnSpc>
                  <a:spcBef>
                    <a:spcPts val="600"/>
                  </a:spcBef>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对符合选择条件的元组执行投影运算，得到最终的结果元组</a:t>
                </a:r>
              </a:p>
            </p:txBody>
          </p:sp>
        </mc:Choice>
        <mc:Fallback>
          <p:sp>
            <p:nvSpPr>
              <p:cNvPr id="87045" name="Rectangle 3"/>
              <p:cNvSpPr>
                <a:spLocks noGrp="1" noRot="1" noChangeAspect="1" noMove="1" noResize="1" noEditPoints="1" noAdjustHandles="1" noChangeArrowheads="1" noChangeShapeType="1" noTextEdit="1"/>
              </p:cNvSpPr>
              <p:nvPr>
                <p:ph idx="1"/>
              </p:nvPr>
            </p:nvSpPr>
            <p:spPr>
              <a:xfrm>
                <a:off x="424180" y="687070"/>
                <a:ext cx="11343005" cy="4127500"/>
              </a:xfrm>
              <a:blipFill>
                <a:blip r:embed="rId2"/>
                <a:stretch>
                  <a:fillRect l="-671" t="-1840" b="-9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046" name="Rectangle 4"/>
              <p:cNvSpPr/>
              <p:nvPr/>
            </p:nvSpPr>
            <p:spPr>
              <a:xfrm>
                <a:off x="424180" y="5111750"/>
                <a:ext cx="11343005" cy="1210588"/>
              </a:xfrm>
              <a:prstGeom prst="rect">
                <a:avLst/>
              </a:prstGeom>
              <a:noFill/>
              <a:ln w="9525">
                <a:noFill/>
              </a:ln>
            </p:spPr>
            <p:txBody>
              <a:bodyPr wrap="square" anchor="t">
                <a:spAutoFit/>
              </a:bodyPr>
              <a:lstStyle/>
              <a:p>
                <a:pPr marL="457200" indent="-457200">
                  <a:spcBef>
                    <a:spcPct val="20000"/>
                  </a:spcBef>
                  <a:buClr>
                    <a:srgbClr val="C00000"/>
                  </a:buClr>
                  <a:buSzPct val="85000"/>
                  <a:buFont typeface="Wingdings" panose="05000000000000000000" charset="0"/>
                  <a:buChar char="q"/>
                </a:pPr>
                <a:r>
                  <a:rPr lang="zh-CN" altLang="en-US" sz="2800" b="1" dirty="0">
                    <a:solidFill>
                      <a:srgbClr val="1F2DA8"/>
                    </a:solidFill>
                    <a:latin typeface="楷体" panose="02010609060101010101" charset="-122"/>
                    <a:ea typeface="楷体" panose="02010609060101010101" charset="-122"/>
                  </a:rPr>
                  <a:t>可以简写为：</a:t>
                </a:r>
                <a:r>
                  <a:rPr lang="zh-CN" altLang="en-US" sz="2800" b="1" dirty="0">
                    <a:solidFill>
                      <a:srgbClr val="1F2DA8"/>
                    </a:solidFill>
                    <a:latin typeface="Times New Roman" panose="02020603050405020304" charset="0"/>
                    <a:ea typeface="宋体" panose="02010600030101010101" pitchFamily="2" charset="-122"/>
                  </a:rPr>
                  <a:t> </a:t>
                </a:r>
                <a14:m>
                  <m:oMath xmlns:m="http://schemas.openxmlformats.org/officeDocument/2006/math">
                    <m:r>
                      <a:rPr lang="en-US" altLang="zh-CN"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𝑨</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30000" dirty="0">
                        <a:solidFill>
                          <a:srgbClr val="FF0000"/>
                        </a:solidFill>
                        <a:latin typeface="Cambria Math" panose="02040503050406030204" charset="0"/>
                        <a:ea typeface="宋体" panose="02010600030101010101" pitchFamily="2" charset="-122"/>
                        <a:cs typeface="Cambria Math" panose="02040503050406030204" charset="0"/>
                      </a:rPr>
                      <m:t>𝑭</m:t>
                    </m:r>
                    <m:r>
                      <a:rPr lang="en-US" altLang="x-none" sz="2800" b="1" i="1" baseline="-30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𝑹</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oMath>
                </a14:m>
                <a:endParaRPr lang="en-US" altLang="x-none" sz="2800" b="1" dirty="0">
                  <a:solidFill>
                    <a:srgbClr val="1F2DA8"/>
                  </a:solidFill>
                  <a:latin typeface="Arial" panose="020B0604020202020204" pitchFamily="34" charset="0"/>
                  <a:ea typeface="宋体" panose="02010600030101010101" pitchFamily="2" charset="-122"/>
                </a:endParaRPr>
              </a:p>
              <a:p>
                <a:pPr marL="800100" lvl="1" indent="-342900" algn="l" eaLnBrk="1" hangingPunct="1">
                  <a:lnSpc>
                    <a:spcPct val="100000"/>
                  </a:lnSpc>
                  <a:spcBef>
                    <a:spcPts val="2000"/>
                  </a:spcBef>
                  <a:spcAft>
                    <a:spcPts val="0"/>
                  </a:spcAft>
                  <a:buClr>
                    <a:srgbClr val="C00000"/>
                  </a:buClr>
                  <a:buSzPct val="85000"/>
                  <a:buFont typeface="Wingdings" panose="05000000000000000000" charset="0"/>
                  <a:buChar char="Ø"/>
                </a:pPr>
                <a:r>
                  <a:rPr lang="zh-CN" altLang="en-US" sz="2800" b="1" dirty="0">
                    <a:solidFill>
                      <a:srgbClr val="1F2DA8"/>
                    </a:solidFill>
                    <a:latin typeface="楷体" panose="02010609060101010101" charset="-122"/>
                    <a:ea typeface="楷体" panose="02010609060101010101" charset="-122"/>
                  </a:rPr>
                  <a:t>在没有括号的情况下，其运算顺序为：</a:t>
                </a:r>
                <a:r>
                  <a:rPr lang="zh-CN" altLang="en-US" sz="2800" b="1" dirty="0">
                    <a:solidFill>
                      <a:srgbClr val="C00000"/>
                    </a:solidFill>
                    <a:latin typeface="楷体" panose="02010609060101010101" charset="-122"/>
                    <a:ea typeface="楷体" panose="02010609060101010101" charset="-122"/>
                  </a:rPr>
                  <a:t>从右向左</a:t>
                </a:r>
              </a:p>
            </p:txBody>
          </p:sp>
        </mc:Choice>
        <mc:Fallback>
          <p:sp>
            <p:nvSpPr>
              <p:cNvPr id="87046" name="Rectangle 4"/>
              <p:cNvSpPr>
                <a:spLocks noRot="1" noChangeAspect="1" noMove="1" noResize="1" noEditPoints="1" noAdjustHandles="1" noChangeArrowheads="1" noChangeShapeType="1" noTextEdit="1"/>
              </p:cNvSpPr>
              <p:nvPr/>
            </p:nvSpPr>
            <p:spPr>
              <a:xfrm>
                <a:off x="424180" y="5111750"/>
                <a:ext cx="11343005" cy="1210588"/>
              </a:xfrm>
              <a:prstGeom prst="rect">
                <a:avLst/>
              </a:prstGeom>
              <a:blipFill>
                <a:blip r:embed="rId3"/>
                <a:stretch>
                  <a:fillRect l="-671" t="-7292" b="-13542"/>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44</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045">
                                            <p:txEl>
                                              <p:pRg st="4" end="4"/>
                                            </p:txEl>
                                          </p:spTgt>
                                        </p:tgtEl>
                                        <p:attrNameLst>
                                          <p:attrName>style.visibility</p:attrName>
                                        </p:attrNameLst>
                                      </p:cBhvr>
                                      <p:to>
                                        <p:strVal val="visible"/>
                                      </p:to>
                                    </p:set>
                                    <p:animEffect transition="in" filter="blinds(horizontal)">
                                      <p:cBhvr>
                                        <p:cTn id="7" dur="500"/>
                                        <p:tgtEl>
                                          <p:spTgt spid="8704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7045">
                                            <p:txEl>
                                              <p:pRg st="7" end="7"/>
                                            </p:txEl>
                                          </p:spTgt>
                                        </p:tgtEl>
                                        <p:attrNameLst>
                                          <p:attrName>style.visibility</p:attrName>
                                        </p:attrNameLst>
                                      </p:cBhvr>
                                      <p:to>
                                        <p:strVal val="visible"/>
                                      </p:to>
                                    </p:set>
                                    <p:animEffect transition="in" filter="blinds(horizontal)">
                                      <p:cBhvr>
                                        <p:cTn id="12" dur="500"/>
                                        <p:tgtEl>
                                          <p:spTgt spid="87045">
                                            <p:txEl>
                                              <p:pRg st="7" end="7"/>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7045">
                                            <p:txEl>
                                              <p:pRg st="8" end="8"/>
                                            </p:txEl>
                                          </p:spTgt>
                                        </p:tgtEl>
                                        <p:attrNameLst>
                                          <p:attrName>style.visibility</p:attrName>
                                        </p:attrNameLst>
                                      </p:cBhvr>
                                      <p:to>
                                        <p:strVal val="visible"/>
                                      </p:to>
                                    </p:set>
                                    <p:animEffect transition="in" filter="blinds(horizontal)">
                                      <p:cBhvr>
                                        <p:cTn id="15" dur="500"/>
                                        <p:tgtEl>
                                          <p:spTgt spid="87045">
                                            <p:txEl>
                                              <p:pRg st="8" end="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7046"/>
                                        </p:tgtEl>
                                        <p:attrNameLst>
                                          <p:attrName>style.visibility</p:attrName>
                                        </p:attrNameLst>
                                      </p:cBhvr>
                                      <p:to>
                                        <p:strVal val="visible"/>
                                      </p:to>
                                    </p:set>
                                    <p:anim calcmode="lin" valueType="num">
                                      <p:cBhvr additive="base">
                                        <p:cTn id="20" dur="500" fill="hold"/>
                                        <p:tgtEl>
                                          <p:spTgt spid="87046"/>
                                        </p:tgtEl>
                                        <p:attrNameLst>
                                          <p:attrName>ppt_x</p:attrName>
                                        </p:attrNameLst>
                                      </p:cBhvr>
                                      <p:tavLst>
                                        <p:tav tm="0">
                                          <p:val>
                                            <p:strVal val="#ppt_x"/>
                                          </p:val>
                                        </p:tav>
                                        <p:tav tm="100000">
                                          <p:val>
                                            <p:strVal val="#ppt_x"/>
                                          </p:val>
                                        </p:tav>
                                      </p:tavLst>
                                    </p:anim>
                                    <p:anim calcmode="lin" valueType="num">
                                      <p:cBhvr additive="base">
                                        <p:cTn id="21" dur="500" fill="hold"/>
                                        <p:tgtEl>
                                          <p:spTgt spid="870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CN" altLang="en-US"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综合举例</a:t>
            </a:r>
            <a:r>
              <a:rPr lang="zh-CN"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：单个关系上的</a:t>
            </a:r>
            <a:r>
              <a:rPr lang="en-US" altLang="zh-CN"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元组选择</a:t>
            </a:r>
            <a:r>
              <a:rPr lang="en-US" altLang="zh-CN"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与</a:t>
            </a:r>
            <a:r>
              <a:rPr lang="en-US" altLang="zh-CN"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属性投影</a:t>
            </a:r>
          </a:p>
        </p:txBody>
      </p:sp>
      <mc:AlternateContent xmlns:mc="http://schemas.openxmlformats.org/markup-compatibility/2006" xmlns:a14="http://schemas.microsoft.com/office/drawing/2010/main">
        <mc:Choice Requires="a14">
          <p:sp>
            <p:nvSpPr>
              <p:cNvPr id="113667" name="Rectangle 3"/>
              <p:cNvSpPr>
                <a:spLocks noGrp="1" noChangeArrowheads="1"/>
              </p:cNvSpPr>
              <p:nvPr>
                <p:ph idx="1"/>
              </p:nvPr>
            </p:nvSpPr>
            <p:spPr/>
            <p:txBody>
              <a:bodyPr/>
              <a:lstStyle/>
              <a:p>
                <a:pPr algn="just" fontAlgn="auto">
                  <a:lnSpc>
                    <a:spcPct val="100000"/>
                  </a:lnSpc>
                  <a:spcBef>
                    <a:spcPts val="1000"/>
                  </a:spcBef>
                </a:pPr>
                <a:r>
                  <a:rPr lang="zh-CN" altLang="en-US" sz="2800" dirty="0">
                    <a:sym typeface="+mn-ea"/>
                  </a:rPr>
                  <a:t>例</a:t>
                </a:r>
                <a:r>
                  <a:rPr lang="en-US" altLang="zh-CN" sz="2800" dirty="0">
                    <a:latin typeface="Times New Roman" panose="02020603050405020304" charset="0"/>
                    <a:cs typeface="Times New Roman" panose="02020603050405020304" charset="0"/>
                    <a:sym typeface="+mn-ea"/>
                  </a:rPr>
                  <a:t>2.11</a:t>
                </a:r>
                <a:r>
                  <a:rPr lang="zh-CN" altLang="en-US" sz="2800" dirty="0">
                    <a:sym typeface="+mn-ea"/>
                  </a:rPr>
                  <a:t>：</a:t>
                </a:r>
                <a:r>
                  <a:rPr lang="zh-CN" altLang="en-US" sz="2800" dirty="0"/>
                  <a:t>查询选修了</a:t>
                </a:r>
                <a:r>
                  <a:rPr lang="en-US" altLang="zh-CN" sz="2800" dirty="0"/>
                  <a:t>2</a:t>
                </a:r>
                <a:r>
                  <a:rPr lang="zh-CN" altLang="en-US" sz="2800" dirty="0"/>
                  <a:t>号课程的学生的学号。</a:t>
                </a:r>
              </a:p>
              <a:p>
                <a:pPr algn="just" fontAlgn="auto">
                  <a:lnSpc>
                    <a:spcPct val="100000"/>
                  </a:lnSpc>
                  <a:spcBef>
                    <a:spcPts val="1000"/>
                  </a:spcBef>
                  <a:buFont typeface="Wingdings" panose="05000000000000000000" pitchFamily="2" charset="2"/>
                  <a:buNone/>
                </a:pPr>
                <a:r>
                  <a:rPr lang="zh-CN" altLang="en-US" sz="2800" dirty="0"/>
                  <a:t>    </a:t>
                </a:r>
                <a14:m>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𝜋</m:t>
                    </m:r>
                    <m:r>
                      <a:rPr lang="en-US" altLang="zh-CN" sz="2800" i="1" baseline="-30000" dirty="0" err="1">
                        <a:solidFill>
                          <a:srgbClr val="FF0000"/>
                        </a:solidFill>
                        <a:latin typeface="Cambria Math" panose="02040503050406030204" charset="0"/>
                        <a:cs typeface="Cambria Math" panose="02040503050406030204" charset="0"/>
                      </a:rPr>
                      <m:t>𝑆𝑛𝑜</m:t>
                    </m:r>
                    <m:r>
                      <a:rPr lang="en-US" altLang="zh-CN" sz="2800" i="1" dirty="0">
                        <a:solidFill>
                          <a:srgbClr val="FF0000"/>
                        </a:solidFill>
                        <a:latin typeface="Cambria Math" panose="02040503050406030204" charset="0"/>
                        <a:cs typeface="Cambria Math" panose="02040503050406030204" charset="0"/>
                      </a:rPr>
                      <m:t>(</m:t>
                    </m:r>
                    <m:r>
                      <a:rPr lang="en-US" altLang="zh-CN" sz="2800" i="1" dirty="0" err="1">
                        <a:solidFill>
                          <a:srgbClr val="FF0000"/>
                        </a:solidFill>
                        <a:latin typeface="Cambria Math" panose="02040503050406030204" charset="0"/>
                        <a:cs typeface="Cambria Math" panose="02040503050406030204" charset="0"/>
                      </a:rPr>
                      <m:t>𝜎</m:t>
                    </m:r>
                    <m:r>
                      <a:rPr lang="en-US" altLang="zh-CN" sz="2800" i="1" baseline="-30000" dirty="0" err="1">
                        <a:solidFill>
                          <a:srgbClr val="FF0000"/>
                        </a:solidFill>
                        <a:latin typeface="Cambria Math" panose="02040503050406030204" charset="0"/>
                        <a:cs typeface="Cambria Math" panose="02040503050406030204" charset="0"/>
                      </a:rPr>
                      <m:t>𝐶𝑛𝑜</m:t>
                    </m:r>
                    <m:r>
                      <a:rPr lang="en-US" altLang="zh-CN" sz="2800" i="1" baseline="-30000" dirty="0">
                        <a:solidFill>
                          <a:srgbClr val="FF0000"/>
                        </a:solidFill>
                        <a:latin typeface="Cambria Math" panose="02040503050406030204" charset="0"/>
                        <a:cs typeface="Cambria Math" panose="02040503050406030204" charset="0"/>
                      </a:rPr>
                      <m:t>=‘2’ </m:t>
                    </m:r>
                    <m:r>
                      <a:rPr lang="en-US" altLang="zh-CN" sz="2800" i="1" dirty="0">
                        <a:solidFill>
                          <a:srgbClr val="FF0000"/>
                        </a:solidFill>
                        <a:latin typeface="Cambria Math" panose="02040503050406030204" charset="0"/>
                        <a:cs typeface="Cambria Math" panose="02040503050406030204" charset="0"/>
                      </a:rPr>
                      <m:t>(</m:t>
                    </m:r>
                    <m:r>
                      <a:rPr lang="en-US" altLang="zh-CN" sz="2800" i="1" dirty="0">
                        <a:solidFill>
                          <a:srgbClr val="FF0000"/>
                        </a:solidFill>
                        <a:latin typeface="Cambria Math" panose="02040503050406030204" charset="0"/>
                        <a:cs typeface="Cambria Math" panose="02040503050406030204" charset="0"/>
                      </a:rPr>
                      <m:t>𝑆𝐶</m:t>
                    </m:r>
                    <m:r>
                      <a:rPr lang="en-US" altLang="zh-CN" sz="2800" i="1" dirty="0">
                        <a:solidFill>
                          <a:srgbClr val="FF0000"/>
                        </a:solidFill>
                        <a:latin typeface="Cambria Math" panose="02040503050406030204" charset="0"/>
                        <a:cs typeface="Cambria Math" panose="02040503050406030204" charset="0"/>
                      </a:rPr>
                      <m:t>))</m:t>
                    </m:r>
                  </m:oMath>
                </a14:m>
                <a:endParaRPr lang="en-US" altLang="zh-CN" sz="2800" i="1" dirty="0">
                  <a:solidFill>
                    <a:srgbClr val="FF0000"/>
                  </a:solidFill>
                  <a:latin typeface="Cambria Math" panose="02040503050406030204" charset="0"/>
                  <a:ea typeface="MS Mincho" charset="0"/>
                  <a:cs typeface="Cambria Math" panose="02040503050406030204" charset="0"/>
                </a:endParaRPr>
              </a:p>
            </p:txBody>
          </p:sp>
        </mc:Choice>
        <mc:Fallback xmlns="">
          <p:sp>
            <p:nvSpPr>
              <p:cNvPr id="113667" name="Rectangle 3"/>
              <p:cNvSpPr>
                <a:spLocks noRot="1" noChangeAspect="1" noMove="1" noResize="1" noEditPoints="1" noAdjustHandles="1" noChangeArrowheads="1" noChangeShapeType="1" noTextEdit="1"/>
              </p:cNvSpPr>
              <p:nvPr>
                <p:ph idx="1"/>
              </p:nvPr>
            </p:nvSpPr>
            <p:spPr>
              <a:blipFill rotWithShape="1">
                <a:blip r:embed="rId5"/>
                <a:stretch>
                  <a:fillRect/>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45</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graphicFrame>
        <p:nvGraphicFramePr>
          <p:cNvPr id="344448" name="Group 384"/>
          <p:cNvGraphicFramePr>
            <a:graphicFrameLocks noGrp="1"/>
          </p:cNvGraphicFramePr>
          <p:nvPr>
            <p:ph type="tbl" idx="4294967295"/>
            <p:custDataLst>
              <p:tags r:id="rId1"/>
            </p:custDataLst>
          </p:nvPr>
        </p:nvGraphicFramePr>
        <p:xfrm>
          <a:off x="424180" y="2832100"/>
          <a:ext cx="3369310" cy="3124200"/>
        </p:xfrm>
        <a:graphic>
          <a:graphicData uri="http://schemas.openxmlformats.org/drawingml/2006/table">
            <a:tbl>
              <a:tblPr/>
              <a:tblGrid>
                <a:gridCol w="1588770">
                  <a:extLst>
                    <a:ext uri="{9D8B030D-6E8A-4147-A177-3AD203B41FA5}">
                      <a16:colId xmlns:a16="http://schemas.microsoft.com/office/drawing/2014/main" val="20000"/>
                    </a:ext>
                  </a:extLst>
                </a:gridCol>
                <a:gridCol w="80899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tblGrid>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Sno</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Cno</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Grade</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92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1"/>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85</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2"/>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3</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88</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3"/>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90</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4"/>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3</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80</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5"/>
                  </a:ext>
                </a:extLst>
              </a:tr>
            </a:tbl>
          </a:graphicData>
        </a:graphic>
      </p:graphicFrame>
      <p:sp>
        <p:nvSpPr>
          <p:cNvPr id="87046" name="Rectangle 185"/>
          <p:cNvSpPr>
            <a:spLocks noChangeArrowheads="1"/>
          </p:cNvSpPr>
          <p:nvPr/>
        </p:nvSpPr>
        <p:spPr bwMode="auto">
          <a:xfrm>
            <a:off x="424180" y="2327275"/>
            <a:ext cx="336931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lgn="ctr" eaLnBrk="1" hangingPunct="1">
              <a:spcBef>
                <a:spcPts val="0"/>
              </a:spcBef>
            </a:pPr>
            <a:r>
              <a:rPr lang="zh-CN" altLang="en-US" sz="2400" b="1" dirty="0"/>
              <a:t>选修关系</a:t>
            </a:r>
            <a:r>
              <a:rPr lang="en-US" altLang="zh-CN" sz="2400" b="1" dirty="0"/>
              <a:t> SC</a:t>
            </a:r>
          </a:p>
        </p:txBody>
      </p:sp>
      <mc:AlternateContent xmlns:mc="http://schemas.openxmlformats.org/markup-compatibility/2006" xmlns:a14="http://schemas.microsoft.com/office/drawing/2010/main">
        <mc:Choice Requires="a14">
          <p:sp>
            <p:nvSpPr>
              <p:cNvPr id="5" name="右箭头 4"/>
              <p:cNvSpPr/>
              <p:nvPr/>
            </p:nvSpPr>
            <p:spPr>
              <a:xfrm>
                <a:off x="3793490" y="3841513"/>
                <a:ext cx="1807210" cy="1104739"/>
              </a:xfrm>
              <a:prstGeom prst="rightArrow">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wrap="square" lIns="0" rIns="0" rtlCol="0" anchor="ctr">
                <a:spAutoFit/>
              </a:bodyPr>
              <a:lstStyle/>
              <a:p>
                <a:pPr algn="ctr"/>
                <a14:m>
                  <m:oMathPara xmlns:m="http://schemas.openxmlformats.org/officeDocument/2006/math">
                    <m:oMathParaPr>
                      <m:jc m:val="centerGroup"/>
                    </m:oMathParaPr>
                    <m:oMath xmlns:m="http://schemas.openxmlformats.org/officeDocument/2006/math">
                      <m:r>
                        <a:rPr lang="en-US" altLang="zh-CN" sz="2400" i="1" dirty="0" err="1">
                          <a:solidFill>
                            <a:schemeClr val="tx1"/>
                          </a:solidFill>
                          <a:latin typeface="Cambria Math" panose="02040503050406030204" charset="0"/>
                          <a:cs typeface="Cambria Math" panose="02040503050406030204" charset="0"/>
                        </a:rPr>
                        <m:t>𝜎</m:t>
                      </m:r>
                      <m:r>
                        <a:rPr lang="en-US" altLang="zh-CN" sz="2400" i="1" baseline="-30000" dirty="0" err="1">
                          <a:solidFill>
                            <a:schemeClr val="tx1"/>
                          </a:solidFill>
                          <a:latin typeface="Cambria Math" panose="02040503050406030204" charset="0"/>
                          <a:cs typeface="Cambria Math" panose="02040503050406030204" charset="0"/>
                        </a:rPr>
                        <m:t>𝐶𝑛𝑜</m:t>
                      </m:r>
                      <m:r>
                        <a:rPr lang="en-US" altLang="zh-CN" sz="2400" i="1" baseline="-30000" dirty="0">
                          <a:solidFill>
                            <a:schemeClr val="tx1"/>
                          </a:solidFill>
                          <a:latin typeface="Cambria Math" panose="02040503050406030204" charset="0"/>
                          <a:cs typeface="Cambria Math" panose="02040503050406030204" charset="0"/>
                        </a:rPr>
                        <m:t>=‘2’ </m:t>
                      </m:r>
                    </m:oMath>
                  </m:oMathPara>
                </a14:m>
                <a:endParaRPr lang="en-US" altLang="zh-CN" sz="2400" i="1" dirty="0">
                  <a:solidFill>
                    <a:schemeClr val="tx1"/>
                  </a:solidFill>
                  <a:latin typeface="Cambria Math" panose="02040503050406030204" charset="0"/>
                  <a:ea typeface="MS Mincho" charset="0"/>
                  <a:cs typeface="Cambria Math" panose="02040503050406030204" charset="0"/>
                </a:endParaRPr>
              </a:p>
            </p:txBody>
          </p:sp>
        </mc:Choice>
        <mc:Fallback xmlns="">
          <p:sp>
            <p:nvSpPr>
              <p:cNvPr id="5" name="右箭头 4"/>
              <p:cNvSpPr>
                <a:spLocks noRot="1" noChangeAspect="1" noMove="1" noResize="1" noEditPoints="1" noAdjustHandles="1" noChangeArrowheads="1" noChangeShapeType="1" noTextEdit="1"/>
              </p:cNvSpPr>
              <p:nvPr/>
            </p:nvSpPr>
            <p:spPr>
              <a:xfrm>
                <a:off x="3793490" y="3841513"/>
                <a:ext cx="1807210" cy="1104739"/>
              </a:xfrm>
              <a:prstGeom prst="rightArrow">
                <a:avLst/>
              </a:prstGeom>
              <a:blipFill rotWithShape="1">
                <a:blip r:embed="rId6"/>
                <a:stretch>
                  <a:fillRect l="-351" t="-1416" r="-492" b="-1358"/>
                </a:stretch>
              </a:blip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graphicFrame>
        <p:nvGraphicFramePr>
          <p:cNvPr id="6" name="Group 384"/>
          <p:cNvGraphicFramePr>
            <a:graphicFrameLocks noGrp="1"/>
          </p:cNvGraphicFramePr>
          <p:nvPr>
            <p:custDataLst>
              <p:tags r:id="rId2"/>
            </p:custDataLst>
          </p:nvPr>
        </p:nvGraphicFramePr>
        <p:xfrm>
          <a:off x="10180320" y="2832100"/>
          <a:ext cx="1586865" cy="3124200"/>
        </p:xfrm>
        <a:graphic>
          <a:graphicData uri="http://schemas.openxmlformats.org/drawingml/2006/table">
            <a:tbl>
              <a:tblPr/>
              <a:tblGrid>
                <a:gridCol w="1586865">
                  <a:extLst>
                    <a:ext uri="{9D8B030D-6E8A-4147-A177-3AD203B41FA5}">
                      <a16:colId xmlns:a16="http://schemas.microsoft.com/office/drawing/2014/main" val="20000"/>
                    </a:ext>
                  </a:extLst>
                </a:gridCol>
              </a:tblGrid>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Sno</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1"/>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2"/>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3"/>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4"/>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5"/>
                  </a:ext>
                </a:extLst>
              </a:tr>
            </a:tbl>
          </a:graphicData>
        </a:graphic>
      </p:graphicFrame>
      <p:sp>
        <p:nvSpPr>
          <p:cNvPr id="7" name="Rectangle 185"/>
          <p:cNvSpPr>
            <a:spLocks noChangeArrowheads="1"/>
          </p:cNvSpPr>
          <p:nvPr/>
        </p:nvSpPr>
        <p:spPr bwMode="auto">
          <a:xfrm>
            <a:off x="10180320" y="2327275"/>
            <a:ext cx="1587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lgn="ctr" eaLnBrk="1" hangingPunct="1">
              <a:spcBef>
                <a:spcPts val="0"/>
              </a:spcBef>
            </a:pPr>
            <a:r>
              <a:rPr lang="zh-CN" altLang="en-US" sz="2400" b="1" dirty="0"/>
              <a:t>投影结果</a:t>
            </a:r>
          </a:p>
        </p:txBody>
      </p:sp>
      <mc:AlternateContent xmlns:mc="http://schemas.openxmlformats.org/markup-compatibility/2006" xmlns:a14="http://schemas.microsoft.com/office/drawing/2010/main">
        <mc:Choice Requires="a14">
          <p:sp>
            <p:nvSpPr>
              <p:cNvPr id="8" name="右箭头 7"/>
              <p:cNvSpPr/>
              <p:nvPr/>
            </p:nvSpPr>
            <p:spPr>
              <a:xfrm>
                <a:off x="8970010" y="3923507"/>
                <a:ext cx="1200785" cy="921066"/>
              </a:xfrm>
              <a:prstGeom prst="rightArrow">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spAutoFit/>
              </a:bodyPr>
              <a:lstStyle/>
              <a:p>
                <a:pPr algn="ctr"/>
                <a14:m>
                  <m:oMathPara xmlns:m="http://schemas.openxmlformats.org/officeDocument/2006/math">
                    <m:oMathParaPr>
                      <m:jc m:val="centerGroup"/>
                    </m:oMathParaPr>
                    <m:oMath xmlns:m="http://schemas.openxmlformats.org/officeDocument/2006/math">
                      <m:r>
                        <a:rPr lang="en-US" altLang="zh-CN" sz="2400" i="1" dirty="0">
                          <a:solidFill>
                            <a:schemeClr val="tx1"/>
                          </a:solidFill>
                          <a:latin typeface="Cambria Math" panose="02040503050406030204" charset="0"/>
                          <a:cs typeface="Cambria Math" panose="02040503050406030204" charset="0"/>
                        </a:rPr>
                        <m:t>𝜋</m:t>
                      </m:r>
                      <m:r>
                        <a:rPr lang="en-US" altLang="zh-CN" sz="2400" i="1" baseline="-30000" dirty="0" err="1">
                          <a:solidFill>
                            <a:schemeClr val="tx1"/>
                          </a:solidFill>
                          <a:latin typeface="Cambria Math" panose="02040503050406030204" charset="0"/>
                          <a:cs typeface="Cambria Math" panose="02040503050406030204" charset="0"/>
                        </a:rPr>
                        <m:t>𝑆𝑛𝑜</m:t>
                      </m:r>
                    </m:oMath>
                  </m:oMathPara>
                </a14:m>
                <a:endParaRPr lang="en-US" altLang="zh-CN" sz="2400" i="1" dirty="0">
                  <a:solidFill>
                    <a:schemeClr val="tx1"/>
                  </a:solidFill>
                  <a:latin typeface="Cambria Math" panose="02040503050406030204" charset="0"/>
                  <a:ea typeface="MS Mincho" charset="0"/>
                  <a:cs typeface="Cambria Math" panose="02040503050406030204" charset="0"/>
                </a:endParaRPr>
              </a:p>
            </p:txBody>
          </p:sp>
        </mc:Choice>
        <mc:Fallback xmlns="">
          <p:sp>
            <p:nvSpPr>
              <p:cNvPr id="8" name="右箭头 7"/>
              <p:cNvSpPr>
                <a:spLocks noRot="1" noChangeAspect="1" noMove="1" noResize="1" noEditPoints="1" noAdjustHandles="1" noChangeArrowheads="1" noChangeShapeType="1" noTextEdit="1"/>
              </p:cNvSpPr>
              <p:nvPr/>
            </p:nvSpPr>
            <p:spPr>
              <a:xfrm>
                <a:off x="8970010" y="3923507"/>
                <a:ext cx="1200785" cy="921066"/>
              </a:xfrm>
              <a:prstGeom prst="rightArrow">
                <a:avLst/>
              </a:prstGeom>
              <a:blipFill rotWithShape="1">
                <a:blip r:embed="rId7"/>
                <a:stretch>
                  <a:fillRect l="-529" t="-1706" r="-740" b="-1637"/>
                </a:stretch>
              </a:blip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graphicFrame>
        <p:nvGraphicFramePr>
          <p:cNvPr id="9" name="Group 384"/>
          <p:cNvGraphicFramePr>
            <a:graphicFrameLocks noGrp="1"/>
          </p:cNvGraphicFramePr>
          <p:nvPr>
            <p:custDataLst>
              <p:tags r:id="rId3"/>
            </p:custDataLst>
          </p:nvPr>
        </p:nvGraphicFramePr>
        <p:xfrm>
          <a:off x="5600700" y="2832100"/>
          <a:ext cx="3369310" cy="3124200"/>
        </p:xfrm>
        <a:graphic>
          <a:graphicData uri="http://schemas.openxmlformats.org/drawingml/2006/table">
            <a:tbl>
              <a:tblPr/>
              <a:tblGrid>
                <a:gridCol w="1588770">
                  <a:extLst>
                    <a:ext uri="{9D8B030D-6E8A-4147-A177-3AD203B41FA5}">
                      <a16:colId xmlns:a16="http://schemas.microsoft.com/office/drawing/2014/main" val="20000"/>
                    </a:ext>
                  </a:extLst>
                </a:gridCol>
                <a:gridCol w="80899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tblGrid>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Sno</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err="1">
                          <a:ln>
                            <a:noFill/>
                          </a:ln>
                          <a:solidFill>
                            <a:schemeClr val="tx1"/>
                          </a:solidFill>
                          <a:effectLst/>
                          <a:latin typeface="楷体" panose="02010609060101010101" charset="-122"/>
                          <a:ea typeface="楷体" panose="02010609060101010101" charset="-122"/>
                          <a:cs typeface="楷体" panose="02010609060101010101" charset="-122"/>
                        </a:rPr>
                        <a:t>Cno</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楷体" panose="02010609060101010101" charset="-122"/>
                          <a:ea typeface="楷体" panose="02010609060101010101" charset="-122"/>
                          <a:cs typeface="楷体" panose="02010609060101010101" charset="-122"/>
                        </a:rPr>
                        <a:t>Grade</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1"/>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201215121</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85</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2"/>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3"/>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201215122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rPr>
                        <a:t>2</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r>
                        <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rPr>
                        <a:t>90</a:t>
                      </a: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alpha val="50000"/>
                      </a:schemeClr>
                    </a:solidFill>
                  </a:tcPr>
                </a:tc>
                <a:extLst>
                  <a:ext uri="{0D108BD9-81ED-4DB2-BD59-A6C34878D82A}">
                    <a16:rowId xmlns:a16="http://schemas.microsoft.com/office/drawing/2014/main" val="10004"/>
                  </a:ext>
                </a:extLst>
              </a:tr>
              <a:tr h="52070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R="0" lvl="0" indent="0" algn="ctr" defTabSz="914400" rtl="0" eaLnBrk="1" fontAlgn="base" hangingPunct="1">
                        <a:lnSpc>
                          <a:spcPct val="100000"/>
                        </a:lnSpc>
                        <a:spcBef>
                          <a:spcPts val="0"/>
                        </a:spcBef>
                        <a:spcAft>
                          <a:spcPct val="0"/>
                        </a:spcAft>
                        <a:buClr>
                          <a:schemeClr val="hlink"/>
                        </a:buClr>
                        <a:buSzTx/>
                        <a:buFont typeface="Wingdings" panose="05000000000000000000" pitchFamily="2" charset="2"/>
                        <a:buNone/>
                      </a:pPr>
                      <a:endParaRPr kumimoji="0" lang="en-US" altLang="zh-CN" sz="2400" b="1" i="0" u="none" strike="noStrike" cap="none" normalizeH="0" baseline="0" dirty="0">
                        <a:ln>
                          <a:noFill/>
                        </a:ln>
                        <a:solidFill>
                          <a:srgbClr val="1F2DA8"/>
                        </a:solidFill>
                        <a:effectLst/>
                        <a:latin typeface="楷体" panose="02010609060101010101" charset="-122"/>
                        <a:ea typeface="楷体" panose="02010609060101010101" charset="-122"/>
                      </a:endParaRPr>
                    </a:p>
                  </a:txBody>
                  <a:tcPr marL="90000" marR="90000" marT="46799" marB="467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alpha val="50000"/>
                      </a:schemeClr>
                    </a:solidFill>
                  </a:tcPr>
                </a:tc>
                <a:extLst>
                  <a:ext uri="{0D108BD9-81ED-4DB2-BD59-A6C34878D82A}">
                    <a16:rowId xmlns:a16="http://schemas.microsoft.com/office/drawing/2014/main" val="10005"/>
                  </a:ext>
                </a:extLst>
              </a:tr>
            </a:tbl>
          </a:graphicData>
        </a:graphic>
      </p:graphicFrame>
      <p:sp>
        <p:nvSpPr>
          <p:cNvPr id="10" name="Rectangle 185"/>
          <p:cNvSpPr>
            <a:spLocks noChangeArrowheads="1"/>
          </p:cNvSpPr>
          <p:nvPr/>
        </p:nvSpPr>
        <p:spPr bwMode="auto">
          <a:xfrm>
            <a:off x="5600700" y="2327275"/>
            <a:ext cx="336931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lgn="ctr" eaLnBrk="1" hangingPunct="1">
              <a:spcBef>
                <a:spcPts val="0"/>
              </a:spcBef>
            </a:pPr>
            <a:r>
              <a:rPr lang="zh-CN" altLang="en-US" sz="2400" b="1" dirty="0"/>
              <a:t>选择运算执行结果</a:t>
            </a:r>
          </a:p>
        </p:txBody>
      </p:sp>
      <mc:AlternateContent xmlns:mc="http://schemas.openxmlformats.org/markup-compatibility/2006">
        <mc:Choice xmlns:a14="http://schemas.microsoft.com/office/drawing/2010/main" Requires="a14">
          <p:sp>
            <p:nvSpPr>
              <p:cNvPr id="11" name="文本框 10"/>
              <p:cNvSpPr txBox="1"/>
              <p:nvPr/>
            </p:nvSpPr>
            <p:spPr>
              <a:xfrm>
                <a:off x="4175760" y="1268730"/>
                <a:ext cx="5472000" cy="522605"/>
              </a:xfrm>
              <a:prstGeom prst="rect">
                <a:avLst/>
              </a:prstGeom>
              <a:noFill/>
            </p:spPr>
            <p:txBody>
              <a:bodyPr wrap="square" rtlCol="0">
                <a:noAutofit/>
              </a:bodyPr>
              <a:lstStyle/>
              <a:p>
                <a:pPr/>
                <a14:m>
                  <m:oMathPara xmlns:m="http://schemas.openxmlformats.org/officeDocument/2006/math">
                    <m:oMathParaPr>
                      <m:jc m:val="left"/>
                    </m:oMathParaPr>
                    <m:oMath xmlns:m="http://schemas.openxmlformats.org/officeDocument/2006/math">
                      <m:r>
                        <a:rPr lang="en-US" altLang="zh-CN" sz="2800" i="1" dirty="0">
                          <a:solidFill>
                            <a:srgbClr val="FF0000"/>
                          </a:solidFill>
                          <a:latin typeface="Cambria Math" panose="02040503050406030204" charset="0"/>
                          <a:cs typeface="Cambria Math" panose="02040503050406030204" charset="0"/>
                        </a:rPr>
                        <m:t>=  { 201215121,  201215122 }</m:t>
                      </m:r>
                    </m:oMath>
                  </m:oMathPara>
                </a14:m>
                <a:endParaRPr lang="zh-CN" altLang="en-US" sz="2800" dirty="0"/>
              </a:p>
            </p:txBody>
          </p:sp>
        </mc:Choice>
        <mc:Fallback>
          <p:sp>
            <p:nvSpPr>
              <p:cNvPr id="11" name="文本框 10"/>
              <p:cNvSpPr txBox="1">
                <a:spLocks noRot="1" noChangeAspect="1" noMove="1" noResize="1" noEditPoints="1" noAdjustHandles="1" noChangeArrowheads="1" noChangeShapeType="1" noTextEdit="1"/>
              </p:cNvSpPr>
              <p:nvPr/>
            </p:nvSpPr>
            <p:spPr>
              <a:xfrm>
                <a:off x="4175760" y="1268730"/>
                <a:ext cx="5472000" cy="522605"/>
              </a:xfrm>
              <a:prstGeom prst="rect">
                <a:avLst/>
              </a:prstGeom>
              <a:blipFill>
                <a:blip r:embed="rId8"/>
                <a:stretch>
                  <a:fillRect r="-1389" b="-1860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4448"/>
                                        </p:tgtEl>
                                        <p:attrNameLst>
                                          <p:attrName>style.visibility</p:attrName>
                                        </p:attrNameLst>
                                      </p:cBhvr>
                                      <p:to>
                                        <p:strVal val="visible"/>
                                      </p:to>
                                    </p:set>
                                    <p:animEffect transition="in" filter="blinds(horizontal)">
                                      <p:cBhvr>
                                        <p:cTn id="7" dur="500"/>
                                        <p:tgtEl>
                                          <p:spTgt spid="34444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7046"/>
                                        </p:tgtEl>
                                        <p:attrNameLst>
                                          <p:attrName>style.visibility</p:attrName>
                                        </p:attrNameLst>
                                      </p:cBhvr>
                                      <p:to>
                                        <p:strVal val="visible"/>
                                      </p:to>
                                    </p:set>
                                    <p:animEffect transition="in" filter="blinds(horizontal)">
                                      <p:cBhvr>
                                        <p:cTn id="10" dur="500"/>
                                        <p:tgtEl>
                                          <p:spTgt spid="8704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3667">
                                            <p:txEl>
                                              <p:pRg st="1" end="1"/>
                                            </p:txEl>
                                          </p:spTgt>
                                        </p:tgtEl>
                                        <p:attrNameLst>
                                          <p:attrName>style.visibility</p:attrName>
                                        </p:attrNameLst>
                                      </p:cBhvr>
                                      <p:to>
                                        <p:strVal val="visible"/>
                                      </p:to>
                                    </p:set>
                                    <p:animEffect transition="in" filter="blinds(horizontal)">
                                      <p:cBhvr>
                                        <p:cTn id="15" dur="500"/>
                                        <p:tgtEl>
                                          <p:spTgt spid="11366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additive="base">
                                        <p:cTn id="19" dur="500"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anim calcmode="lin" valueType="num">
                                      <p:cBhvr additive="base">
                                        <p:cTn id="22" dur="500" fill="hold"/>
                                        <p:tgtEl>
                                          <p:spTgt spid="5"/>
                                        </p:tgtEl>
                                        <p:attrNameLst>
                                          <p:attrName>ppt_w</p:attrName>
                                        </p:attrNameLst>
                                      </p:cBhvr>
                                      <p:tavLst>
                                        <p:tav tm="0">
                                          <p:val>
                                            <p:fltVal val="0"/>
                                          </p:val>
                                        </p:tav>
                                        <p:tav tm="100000">
                                          <p:val>
                                            <p:strVal val="#ppt_w"/>
                                          </p:val>
                                        </p:tav>
                                      </p:tavLst>
                                    </p:anim>
                                    <p:anim calcmode="lin" valueType="num">
                                      <p:cBhvr additive="base">
                                        <p:cTn id="23" dur="500" fill="hold"/>
                                        <p:tgtEl>
                                          <p:spTgt spid="5"/>
                                        </p:tgtEl>
                                        <p:attrNameLst>
                                          <p:attrName>ppt_h</p:attrName>
                                        </p:attrNameLst>
                                      </p:cBhvr>
                                      <p:tavLst>
                                        <p:tav tm="0">
                                          <p:val>
                                            <p:strVal val="#ppt_h"/>
                                          </p:val>
                                        </p:tav>
                                        <p:tav tm="100000">
                                          <p:val>
                                            <p:strVal val="#ppt_h"/>
                                          </p:val>
                                        </p:tav>
                                      </p:tavLst>
                                    </p:anim>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additive="base">
                                        <p:cTn id="34" dur="500"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ppt_w/2"/>
                                          </p:val>
                                        </p:tav>
                                        <p:tav tm="100000">
                                          <p:val>
                                            <p:strVal val="#ppt_x"/>
                                          </p:val>
                                        </p:tav>
                                      </p:tavLst>
                                    </p:anim>
                                    <p:anim calcmode="lin" valueType="num">
                                      <p:cBhvr additive="base">
                                        <p:cTn id="36" dur="500" fill="hold"/>
                                        <p:tgtEl>
                                          <p:spTgt spid="8"/>
                                        </p:tgtEl>
                                        <p:attrNameLst>
                                          <p:attrName>ppt_y</p:attrName>
                                        </p:attrNameLst>
                                      </p:cBhvr>
                                      <p:tavLst>
                                        <p:tav tm="0">
                                          <p:val>
                                            <p:strVal val="#ppt_y"/>
                                          </p:val>
                                        </p:tav>
                                        <p:tav tm="100000">
                                          <p:val>
                                            <p:strVal val="#ppt_y"/>
                                          </p:val>
                                        </p:tav>
                                      </p:tavLst>
                                    </p:anim>
                                    <p:anim calcmode="lin" valueType="num">
                                      <p:cBhvr additive="base">
                                        <p:cTn id="37" dur="500" fill="hold"/>
                                        <p:tgtEl>
                                          <p:spTgt spid="8"/>
                                        </p:tgtEl>
                                        <p:attrNameLst>
                                          <p:attrName>ppt_w</p:attrName>
                                        </p:attrNameLst>
                                      </p:cBhvr>
                                      <p:tavLst>
                                        <p:tav tm="0">
                                          <p:val>
                                            <p:fltVal val="0"/>
                                          </p:val>
                                        </p:tav>
                                        <p:tav tm="100000">
                                          <p:val>
                                            <p:strVal val="#ppt_w"/>
                                          </p:val>
                                        </p:tav>
                                      </p:tavLst>
                                    </p:anim>
                                    <p:anim calcmode="lin" valueType="num">
                                      <p:cBhvr additive="base">
                                        <p:cTn id="38" dur="500" fill="hold"/>
                                        <p:tgtEl>
                                          <p:spTgt spid="8"/>
                                        </p:tgtEl>
                                        <p:attrNameLst>
                                          <p:attrName>ppt_h</p:attrName>
                                        </p:attrNameLst>
                                      </p:cBhvr>
                                      <p:tavLst>
                                        <p:tav tm="0">
                                          <p:val>
                                            <p:strVal val="#ppt_h"/>
                                          </p:val>
                                        </p:tav>
                                        <p:tav tm="100000">
                                          <p:val>
                                            <p:strVal val="#ppt_h"/>
                                          </p:val>
                                        </p:tav>
                                      </p:tavLst>
                                    </p:anim>
                                  </p:childTnLst>
                                </p:cTn>
                              </p:par>
                            </p:childTnLst>
                          </p:cTn>
                        </p:par>
                        <p:par>
                          <p:cTn id="39" fill="hold">
                            <p:stCondLst>
                              <p:cond delay="500"/>
                            </p:stCondLst>
                            <p:childTnLst>
                              <p:par>
                                <p:cTn id="40" presetID="3" presetClass="entr" presetSubtype="10" fill="hold" nodeType="after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linds(horizontal)">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blinds(horizontal)">
                                      <p:cBhvr>
                                        <p:cTn id="5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p:bldP spid="5" grpId="0" animBg="1"/>
      <p:bldP spid="7" grpId="0"/>
      <p:bldP spid="8" grpId="0" animBg="1"/>
      <p:bldP spid="10"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关系代数的基本运算（总结）</a:t>
            </a:r>
          </a:p>
        </p:txBody>
      </p:sp>
      <p:sp>
        <p:nvSpPr>
          <p:cNvPr id="4" name="页脚占位符 3"/>
          <p:cNvSpPr>
            <a:spLocks noGrp="1"/>
          </p:cNvSpPr>
          <p:nvPr>
            <p:ph type="ftr" sz="quarter" idx="11"/>
          </p:nvPr>
        </p:nvSpPr>
        <p:spPr>
          <a:xfrm>
            <a:off x="0" y="6695365"/>
            <a:ext cx="4114800" cy="153670"/>
          </a:xfrm>
        </p:spPr>
        <p:txBody>
          <a:bodyPr/>
          <a:lstStyle/>
          <a:p>
            <a:r>
              <a:rPr lang="zh-CN" altLang="en-US"/>
              <a:t>ch02_2_关系代数基本运算</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46</a:t>
            </a:fld>
            <a:endParaRPr lang="zh-CN" altLang="en-US"/>
          </a:p>
        </p:txBody>
      </p:sp>
      <mc:AlternateContent xmlns:mc="http://schemas.openxmlformats.org/markup-compatibility/2006" xmlns:a14="http://schemas.microsoft.com/office/drawing/2010/main">
        <mc:Choice Requires="a14">
          <p:graphicFrame>
            <p:nvGraphicFramePr>
              <p:cNvPr id="6" name="表格 5"/>
              <p:cNvGraphicFramePr/>
              <p:nvPr>
                <p:custDataLst>
                  <p:tags r:id="rId1"/>
                </p:custDataLst>
              </p:nvPr>
            </p:nvGraphicFramePr>
            <p:xfrm>
              <a:off x="424180" y="687070"/>
              <a:ext cx="11344275" cy="5067935"/>
            </p:xfrm>
            <a:graphic>
              <a:graphicData uri="http://schemas.openxmlformats.org/drawingml/2006/table">
                <a:tbl>
                  <a:tblPr firstRow="1" bandRow="1">
                    <a:tableStyleId>{5C22544A-7EE6-4342-B048-85BDC9FD1C3A}</a:tableStyleId>
                  </a:tblPr>
                  <a:tblGrid>
                    <a:gridCol w="1206500">
                      <a:extLst>
                        <a:ext uri="{9D8B030D-6E8A-4147-A177-3AD203B41FA5}">
                          <a16:colId xmlns:a16="http://schemas.microsoft.com/office/drawing/2014/main" val="20000"/>
                        </a:ext>
                      </a:extLst>
                    </a:gridCol>
                    <a:gridCol w="3578860">
                      <a:extLst>
                        <a:ext uri="{9D8B030D-6E8A-4147-A177-3AD203B41FA5}">
                          <a16:colId xmlns:a16="http://schemas.microsoft.com/office/drawing/2014/main" val="20001"/>
                        </a:ext>
                      </a:extLst>
                    </a:gridCol>
                    <a:gridCol w="2981960">
                      <a:extLst>
                        <a:ext uri="{9D8B030D-6E8A-4147-A177-3AD203B41FA5}">
                          <a16:colId xmlns:a16="http://schemas.microsoft.com/office/drawing/2014/main" val="20002"/>
                        </a:ext>
                      </a:extLst>
                    </a:gridCol>
                    <a:gridCol w="3576955">
                      <a:extLst>
                        <a:ext uri="{9D8B030D-6E8A-4147-A177-3AD203B41FA5}">
                          <a16:colId xmlns:a16="http://schemas.microsoft.com/office/drawing/2014/main" val="20003"/>
                        </a:ext>
                      </a:extLst>
                    </a:gridCol>
                  </a:tblGrid>
                  <a:tr h="563245">
                    <a:tc>
                      <a:txBody>
                        <a:bodyPr/>
                        <a:lstStyle/>
                        <a:p>
                          <a:pPr algn="ctr">
                            <a:buNone/>
                          </a:pPr>
                          <a:r>
                            <a:rPr lang="zh-CN" altLang="en-US" sz="2400" b="1">
                              <a:solidFill>
                                <a:schemeClr val="tx1"/>
                              </a:solidFill>
                              <a:latin typeface="楷体" panose="02010609060101010101" charset="-122"/>
                              <a:ea typeface="楷体" panose="02010609060101010101" charset="-122"/>
                            </a:rPr>
                            <a:t>运算</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运算前提</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结果关系模式</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结果关系</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extLst>
                      <a:ext uri="{0D108BD9-81ED-4DB2-BD59-A6C34878D82A}">
                        <a16:rowId xmlns:a16="http://schemas.microsoft.com/office/drawing/2014/main" val="10000"/>
                      </a:ext>
                    </a:extLst>
                  </a:tr>
                  <a:tr h="563245">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2">
                      <a:txBody>
                        <a:bodyPr/>
                        <a:lstStyle/>
                        <a:p>
                          <a:pPr>
                            <a:buNone/>
                          </a:pP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和</a:t>
                          </a:r>
                          <a:r>
                            <a:rPr lang="en-US" altLang="zh-CN" sz="2400" b="1">
                              <a:solidFill>
                                <a:srgbClr val="C00000"/>
                              </a:solidFill>
                              <a:latin typeface="楷体" panose="02010609060101010101" charset="-122"/>
                              <a:ea typeface="楷体" panose="02010609060101010101" charset="-122"/>
                            </a:rPr>
                            <a:t>S</a:t>
                          </a:r>
                          <a:r>
                            <a:rPr lang="zh-CN" altLang="en-US" sz="2400" b="1">
                              <a:solidFill>
                                <a:srgbClr val="C00000"/>
                              </a:solidFill>
                              <a:latin typeface="楷体" panose="02010609060101010101" charset="-122"/>
                              <a:ea typeface="楷体" panose="02010609060101010101" charset="-122"/>
                            </a:rPr>
                            <a:t>必须是同类关系</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2">
                      <a:txBody>
                        <a:bodyPr/>
                        <a:lstStyle/>
                        <a:p>
                          <a:pPr>
                            <a:buNone/>
                          </a:pPr>
                          <a:r>
                            <a:rPr lang="zh-CN" altLang="en-US" sz="2400" b="1">
                              <a:solidFill>
                                <a:srgbClr val="1F2DA8"/>
                              </a:solidFill>
                              <a:latin typeface="楷体" panose="02010609060101010101" charset="-122"/>
                              <a:ea typeface="楷体" panose="02010609060101010101" charset="-122"/>
                              <a:sym typeface="+mn-ea"/>
                            </a:rPr>
                            <a:t>与关系</a:t>
                          </a:r>
                          <a:r>
                            <a:rPr lang="en-US" altLang="zh-CN" sz="2400" b="1">
                              <a:solidFill>
                                <a:srgbClr val="1F2DA8"/>
                              </a:solidFill>
                              <a:latin typeface="楷体" panose="02010609060101010101" charset="-122"/>
                              <a:ea typeface="楷体" panose="02010609060101010101" charset="-122"/>
                              <a:sym typeface="+mn-ea"/>
                            </a:rPr>
                            <a:t>R</a:t>
                          </a:r>
                          <a:r>
                            <a:rPr lang="zh-CN" altLang="en-US" sz="2400" b="1">
                              <a:solidFill>
                                <a:srgbClr val="1F2DA8"/>
                              </a:solidFill>
                              <a:latin typeface="楷体" panose="02010609060101010101" charset="-122"/>
                              <a:ea typeface="楷体" panose="02010609060101010101" charset="-122"/>
                              <a:sym typeface="+mn-ea"/>
                            </a:rPr>
                            <a:t>（或关系</a:t>
                          </a:r>
                          <a:r>
                            <a:rPr lang="en-US" altLang="zh-CN" sz="2400" b="1">
                              <a:solidFill>
                                <a:srgbClr val="1F2DA8"/>
                              </a:solidFill>
                              <a:latin typeface="楷体" panose="02010609060101010101" charset="-122"/>
                              <a:ea typeface="楷体" panose="02010609060101010101" charset="-122"/>
                              <a:sym typeface="+mn-ea"/>
                            </a:rPr>
                            <a:t>S</a:t>
                          </a:r>
                          <a:r>
                            <a:rPr lang="zh-CN" altLang="en-US" sz="2400" b="1">
                              <a:solidFill>
                                <a:srgbClr val="1F2DA8"/>
                              </a:solidFill>
                              <a:latin typeface="楷体" panose="02010609060101010101" charset="-122"/>
                              <a:ea typeface="楷体" panose="02010609060101010101" charset="-122"/>
                              <a:sym typeface="+mn-ea"/>
                            </a:rPr>
                            <a:t>）的模式相同</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dirty="0">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rPr>
                                  <m:t> </m:t>
                                </m:r>
                                <m:r>
                                  <a:rPr lang="en-US" altLang="zh-CN" sz="2400" b="1" dirty="0" err="1">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𝑹</m:t>
                                </m:r>
                                <m:r>
                                  <a:rPr lang="en-US" altLang="zh-CN" sz="2400" b="1" i="1" dirty="0" err="1">
                                    <a:solidFill>
                                      <a:srgbClr val="1F2DA8"/>
                                    </a:solidFill>
                                    <a:latin typeface="Cambria Math" panose="02040503050406030204" charset="0"/>
                                    <a:cs typeface="Cambria Math" panose="02040503050406030204" charset="0"/>
                                  </a:rPr>
                                  <m:t> </m:t>
                                </m:r>
                                <m:r>
                                  <a:rPr lang="en-US" altLang="zh-CN" sz="2400" b="1" dirty="0" err="1">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a:solidFill>
                                      <a:srgbClr val="1F2DA8"/>
                                    </a:solidFill>
                                    <a:latin typeface="Cambria Math" panose="02040503050406030204" charset="0"/>
                                    <a:cs typeface="Cambria Math" panose="02040503050406030204" charset="0"/>
                                  </a:rPr>
                                  <m:t>𝑺</m:t>
                                </m:r>
                                <m:r>
                                  <a:rPr lang="en-US" altLang="zh-CN" sz="2400" b="1" i="1" dirty="0">
                                    <a:solidFill>
                                      <a:srgbClr val="1F2DA8"/>
                                    </a:solidFill>
                                    <a:latin typeface="Cambria Math" panose="02040503050406030204" charset="0"/>
                                    <a:cs typeface="Cambria Math" panose="02040503050406030204" charset="0"/>
                                  </a:rPr>
                                  <m:t> </m:t>
                                </m:r>
                                <m:r>
                                  <a:rPr lang="en-US" altLang="zh-CN" sz="2400" b="1" dirty="0">
                                    <a:solidFill>
                                      <a:srgbClr val="1F2DA8"/>
                                    </a:solidFill>
                                    <a:latin typeface="Cambria Math" panose="02040503050406030204" charset="0"/>
                                    <a:ea typeface="MS Mincho" charset="0"/>
                                    <a:cs typeface="Cambria Math" panose="02040503050406030204" charset="0"/>
                                  </a:rPr>
                                  <m:t>}</m:t>
                                </m:r>
                              </m:oMath>
                            </m:oMathPara>
                          </a14:m>
                          <a:endParaRPr lang="en-US" altLang="zh-CN" sz="2400" b="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563245">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dirty="0">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rPr>
                                  <m:t> </m:t>
                                </m:r>
                                <m:r>
                                  <a:rPr lang="en-US" altLang="zh-CN" sz="2400" b="1" dirty="0" err="1">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𝑹</m:t>
                                </m:r>
                                <m:r>
                                  <a:rPr lang="en-US" altLang="zh-CN" sz="2400" b="1" dirty="0" err="1">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𝑺</m:t>
                                </m:r>
                                <m:r>
                                  <a:rPr lang="en-US" altLang="zh-CN" sz="2400" b="1" dirty="0">
                                    <a:solidFill>
                                      <a:srgbClr val="1F2DA8"/>
                                    </a:solidFill>
                                    <a:latin typeface="Cambria Math" panose="02040503050406030204" charset="0"/>
                                    <a:ea typeface="MS Mincho" charset="0"/>
                                    <a:cs typeface="Cambria Math" panose="02040503050406030204" charset="0"/>
                                  </a:rPr>
                                  <m:t> }</m:t>
                                </m:r>
                              </m:oMath>
                            </m:oMathPara>
                          </a14:m>
                          <a:endParaRPr lang="en-US" altLang="zh-CN" sz="2400" b="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380364">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C00000"/>
                              </a:solidFill>
                              <a:latin typeface="楷体" panose="02010609060101010101" charset="-122"/>
                              <a:ea typeface="楷体" panose="02010609060101010101" charset="-122"/>
                            </a:rPr>
                            <a:t>任意两个关系</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1F2DA8"/>
                              </a:solidFill>
                              <a:latin typeface="楷体" panose="02010609060101010101" charset="-122"/>
                              <a:ea typeface="楷体" panose="02010609060101010101" charset="-122"/>
                            </a:rPr>
                            <a:t>由关系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和关系</a:t>
                          </a:r>
                          <a:r>
                            <a:rPr lang="en-US" altLang="zh-CN" sz="2400" b="1">
                              <a:solidFill>
                                <a:srgbClr val="1F2DA8"/>
                              </a:solidFill>
                              <a:latin typeface="楷体" panose="02010609060101010101" charset="-122"/>
                              <a:ea typeface="楷体" panose="02010609060101010101" charset="-122"/>
                            </a:rPr>
                            <a:t>S</a:t>
                          </a:r>
                          <a:r>
                            <a:rPr lang="zh-CN" altLang="en-US" sz="2400" b="1">
                              <a:solidFill>
                                <a:srgbClr val="1F2DA8"/>
                              </a:solidFill>
                              <a:latin typeface="楷体" panose="02010609060101010101" charset="-122"/>
                              <a:ea typeface="楷体" panose="02010609060101010101" charset="-122"/>
                            </a:rPr>
                            <a:t>中的所有属性组成</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dirty="0">
                                    <a:solidFill>
                                      <a:srgbClr val="1F2DA8"/>
                                    </a:solidFill>
                                    <a:latin typeface="Cambria Math" panose="02040503050406030204" charset="0"/>
                                    <a:cs typeface="Cambria Math" panose="02040503050406030204" charset="0"/>
                                  </a:rPr>
                                  <m:t>{(</m:t>
                                </m:r>
                                <m:r>
                                  <a:rPr lang="en-US" altLang="zh-CN" sz="2400" b="1" i="1" dirty="0">
                                    <a:solidFill>
                                      <a:srgbClr val="1F2DA8"/>
                                    </a:solidFill>
                                    <a:latin typeface="Cambria Math" panose="02040503050406030204" charset="0"/>
                                    <a:cs typeface="Cambria Math" panose="02040503050406030204" charset="0"/>
                                  </a:rPr>
                                  <m:t>𝒕</m:t>
                                </m:r>
                                <m:r>
                                  <a:rPr lang="en-US" altLang="zh-CN" sz="2400" b="1" baseline="-30000" dirty="0">
                                    <a:solidFill>
                                      <a:srgbClr val="1F2DA8"/>
                                    </a:solidFill>
                                    <a:latin typeface="Cambria Math" panose="02040503050406030204" charset="0"/>
                                    <a:cs typeface="Cambria Math" panose="02040503050406030204" charset="0"/>
                                  </a:rPr>
                                  <m:t>𝐫</m:t>
                                </m:r>
                                <m:r>
                                  <a:rPr lang="en-US" altLang="zh-CN" sz="2400" b="1" dirty="0">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baseline="-30000" dirty="0" err="1">
                                    <a:solidFill>
                                      <a:srgbClr val="1F2DA8"/>
                                    </a:solidFill>
                                    <a:latin typeface="Cambria Math" panose="02040503050406030204" charset="0"/>
                                    <a:cs typeface="Cambria Math" panose="02040503050406030204" charset="0"/>
                                  </a:rPr>
                                  <m:t>𝐬</m:t>
                                </m:r>
                                <m:r>
                                  <a:rPr lang="en-US" altLang="zh-CN" sz="2400" b="1" dirty="0">
                                    <a:solidFill>
                                      <a:srgbClr val="1F2DA8"/>
                                    </a:solidFill>
                                    <a:latin typeface="Cambria Math" panose="02040503050406030204" charset="0"/>
                                    <a:cs typeface="Cambria Math" panose="02040503050406030204" charset="0"/>
                                  </a:rPr>
                                  <m:t>) | </m:t>
                                </m:r>
                                <m:r>
                                  <a:rPr lang="en-US" altLang="zh-CN" sz="2400" b="1" i="1" dirty="0">
                                    <a:solidFill>
                                      <a:srgbClr val="1F2DA8"/>
                                    </a:solidFill>
                                    <a:latin typeface="Cambria Math" panose="02040503050406030204" charset="0"/>
                                    <a:cs typeface="Cambria Math" panose="02040503050406030204" charset="0"/>
                                  </a:rPr>
                                  <m:t>𝒕</m:t>
                                </m:r>
                                <m:r>
                                  <a:rPr lang="en-US" altLang="zh-CN" sz="2400" b="1" baseline="-30000" dirty="0">
                                    <a:solidFill>
                                      <a:srgbClr val="1F2DA8"/>
                                    </a:solidFill>
                                    <a:latin typeface="Cambria Math" panose="02040503050406030204" charset="0"/>
                                    <a:cs typeface="Cambria Math" panose="02040503050406030204" charset="0"/>
                                  </a:rPr>
                                  <m:t>𝐫</m:t>
                                </m:r>
                                <m:r>
                                  <a:rPr lang="en-US" altLang="zh-CN" sz="2400" b="1"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a:solidFill>
                                      <a:srgbClr val="1F2DA8"/>
                                    </a:solidFill>
                                    <a:latin typeface="Cambria Math" panose="02040503050406030204" charset="0"/>
                                    <a:cs typeface="Cambria Math" panose="02040503050406030204" charset="0"/>
                                  </a:rPr>
                                  <m:t>𝑹</m:t>
                                </m:r>
                                <m:r>
                                  <a:rPr lang="en-US" altLang="zh-CN" sz="2400" b="1" dirty="0">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baseline="-30000" dirty="0" err="1">
                                    <a:solidFill>
                                      <a:srgbClr val="1F2DA8"/>
                                    </a:solidFill>
                                    <a:latin typeface="Cambria Math" panose="02040503050406030204" charset="0"/>
                                    <a:cs typeface="Cambria Math" panose="02040503050406030204" charset="0"/>
                                  </a:rPr>
                                  <m:t>𝐬</m:t>
                                </m:r>
                                <m:r>
                                  <a:rPr lang="en-US" altLang="zh-CN" sz="2400" b="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𝑺</m:t>
                                </m:r>
                                <m:r>
                                  <a:rPr lang="en-US" altLang="zh-CN" sz="2400" b="1" dirty="0">
                                    <a:solidFill>
                                      <a:srgbClr val="1F2DA8"/>
                                    </a:solidFill>
                                    <a:latin typeface="Cambria Math" panose="02040503050406030204" charset="0"/>
                                    <a:ea typeface="MS Mincho" charset="0"/>
                                    <a:cs typeface="Cambria Math" panose="02040503050406030204" charset="0"/>
                                  </a:rPr>
                                  <m:t> }</m:t>
                                </m:r>
                              </m:oMath>
                            </m:oMathPara>
                          </a14:m>
                          <a:endParaRPr lang="en-US" altLang="zh-CN" sz="2400" b="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r h="381000">
                    <a:tc>
                      <a:txBody>
                        <a:bodyPr/>
                        <a:lstStyle/>
                        <a:p>
                          <a:pPr algn="ctr">
                            <a:buNone/>
                          </a:pPr>
                          <a14:m>
                            <m:oMathPara xmlns:m="http://schemas.openxmlformats.org/officeDocument/2006/math">
                              <m:oMathParaPr>
                                <m:jc m:val="centerGroup"/>
                              </m:oMathParaPr>
                              <m:oMath xmlns:m="http://schemas.openxmlformats.org/officeDocument/2006/math">
                                <m:sSub>
                                  <m:sSubPr>
                                    <m:ctrlPr>
                                      <a:rPr lang="en-US" altLang="zh-CN" sz="2400" b="1" i="1">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1F2DA8"/>
                                        </a:solidFill>
                                        <a:latin typeface="Cambria Math" panose="02040503050406030204" charset="0"/>
                                        <a:ea typeface="楷体" panose="02010609060101010101" charset="-122"/>
                                        <a:cs typeface="Cambria Math" panose="02040503050406030204" charset="0"/>
                                      </a:rPr>
                                      <m:t>𝝈</m:t>
                                    </m:r>
                                  </m:e>
                                  <m:sub>
                                    <m:r>
                                      <a:rPr lang="en-US" altLang="zh-CN" sz="2400" b="1" i="1">
                                        <a:solidFill>
                                          <a:srgbClr val="1F2DA8"/>
                                        </a:solidFill>
                                        <a:latin typeface="Cambria Math" panose="02040503050406030204" charset="0"/>
                                        <a:ea typeface="楷体" panose="02010609060101010101" charset="-122"/>
                                        <a:cs typeface="Cambria Math" panose="02040503050406030204" charset="0"/>
                                      </a:rPr>
                                      <m:t>𝑭</m:t>
                                    </m:r>
                                  </m:sub>
                                </m:sSub>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C00000"/>
                              </a:solidFill>
                              <a:latin typeface="楷体" panose="02010609060101010101" charset="-122"/>
                              <a:ea typeface="楷体" panose="02010609060101010101" charset="-122"/>
                            </a:rPr>
                            <a:t>选择条件</a:t>
                          </a:r>
                          <a:r>
                            <a:rPr lang="en-US" altLang="zh-CN" sz="2400" b="1">
                              <a:solidFill>
                                <a:srgbClr val="C00000"/>
                              </a:solidFill>
                              <a:latin typeface="楷体" panose="02010609060101010101" charset="-122"/>
                              <a:ea typeface="楷体" panose="02010609060101010101" charset="-122"/>
                            </a:rPr>
                            <a:t>F</a:t>
                          </a:r>
                          <a:r>
                            <a:rPr lang="zh-CN" altLang="en-US" sz="2400" b="1">
                              <a:solidFill>
                                <a:srgbClr val="C00000"/>
                              </a:solidFill>
                              <a:latin typeface="楷体" panose="02010609060101010101" charset="-122"/>
                              <a:ea typeface="楷体" panose="02010609060101010101" charset="-122"/>
                            </a:rPr>
                            <a:t>是一个只能由关系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中的属性名、常量、比较运算符、逻辑运算符组成的逻辑表达式</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1F2DA8"/>
                              </a:solidFill>
                              <a:latin typeface="楷体" panose="02010609060101010101" charset="-122"/>
                              <a:ea typeface="楷体" panose="02010609060101010101" charset="-122"/>
                            </a:rPr>
                            <a:t>与关系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的模式相同</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i="1" dirty="0">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rPr>
                                  <m:t> |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𝑹</m:t>
                                </m:r>
                                <m:r>
                                  <a:rPr lang="en-US" altLang="zh-CN" sz="2400" b="1" i="1" dirty="0" err="1">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𝑭</m:t>
                                </m:r>
                                <m:r>
                                  <a:rPr lang="en-US" altLang="zh-CN" sz="2400" b="1" i="1" dirty="0">
                                    <a:solidFill>
                                      <a:srgbClr val="1F2DA8"/>
                                    </a:solidFill>
                                    <a:latin typeface="Cambria Math" panose="02040503050406030204" charset="0"/>
                                    <a:cs typeface="Cambria Math" panose="02040503050406030204" charset="0"/>
                                  </a:rPr>
                                  <m:t>(</m:t>
                                </m:r>
                                <m:r>
                                  <a:rPr lang="en-US" altLang="zh-CN" sz="2400" b="1" i="1" dirty="0">
                                    <a:solidFill>
                                      <a:srgbClr val="1F2DA8"/>
                                    </a:solidFill>
                                    <a:latin typeface="Cambria Math" panose="02040503050406030204" charset="0"/>
                                    <a:cs typeface="Cambria Math" panose="02040503050406030204" charset="0"/>
                                  </a:rPr>
                                  <m:t>𝒕</m:t>
                                </m:r>
                                <m:r>
                                  <a:rPr lang="en-US" altLang="zh-CN" sz="2400" b="1" i="1" dirty="0">
                                    <a:solidFill>
                                      <a:srgbClr val="1F2DA8"/>
                                    </a:solidFill>
                                    <a:latin typeface="Cambria Math" panose="02040503050406030204" charset="0"/>
                                    <a:cs typeface="Cambria Math" panose="02040503050406030204" charset="0"/>
                                  </a:rPr>
                                  <m:t>)=</m:t>
                                </m:r>
                                <m:r>
                                  <a:rPr lang="en-US" altLang="zh-CN" sz="2400" b="1" i="1" dirty="0">
                                    <a:solidFill>
                                      <a:srgbClr val="1F2DA8"/>
                                    </a:solidFill>
                                    <a:latin typeface="Cambria Math" panose="02040503050406030204" charset="0"/>
                                    <a:cs typeface="Cambria Math" panose="02040503050406030204" charset="0"/>
                                  </a:rPr>
                                  <m:t>𝒕𝒓𝒖𝒆</m:t>
                                </m:r>
                                <m:r>
                                  <a:rPr lang="en-US" altLang="zh-CN" sz="2400" b="1" i="1" dirty="0">
                                    <a:solidFill>
                                      <a:srgbClr val="1F2DA8"/>
                                    </a:solidFill>
                                    <a:latin typeface="Cambria Math" panose="02040503050406030204" charset="0"/>
                                    <a:ea typeface="MS Mincho" charset="0"/>
                                    <a:cs typeface="Cambria Math" panose="02040503050406030204" charset="0"/>
                                  </a:rPr>
                                  <m:t> }</m:t>
                                </m:r>
                              </m:oMath>
                            </m:oMathPara>
                          </a14:m>
                          <a:endParaRPr lang="en-US" altLang="zh-CN" sz="2400" b="1" i="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4"/>
                      </a:ext>
                    </a:extLst>
                  </a:tr>
                  <a:tr h="1000760">
                    <a:tc>
                      <a:txBody>
                        <a:bodyPr/>
                        <a:lstStyle/>
                        <a:p>
                          <a:pPr algn="ctr">
                            <a:buNone/>
                          </a:pPr>
                          <a14:m>
                            <m:oMathPara xmlns:m="http://schemas.openxmlformats.org/officeDocument/2006/math">
                              <m:oMathParaPr>
                                <m:jc m:val="centerGroup"/>
                              </m:oMathParaPr>
                              <m:oMath xmlns:m="http://schemas.openxmlformats.org/officeDocument/2006/math">
                                <m:sSub>
                                  <m:sSubPr>
                                    <m:ctrlPr>
                                      <a:rPr lang="en-US" altLang="zh-CN" sz="2400" b="1" i="1">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1F2DA8"/>
                                        </a:solidFill>
                                        <a:latin typeface="Cambria Math" panose="02040503050406030204" charset="0"/>
                                        <a:ea typeface="楷体" panose="02010609060101010101" charset="-122"/>
                                        <a:cs typeface="Cambria Math" panose="02040503050406030204" charset="0"/>
                                      </a:rPr>
                                      <m:t>𝝅</m:t>
                                    </m:r>
                                  </m:e>
                                  <m:sub>
                                    <m:r>
                                      <a:rPr lang="en-US" altLang="zh-CN" sz="2400" b="1" i="1">
                                        <a:solidFill>
                                          <a:srgbClr val="1F2DA8"/>
                                        </a:solidFill>
                                        <a:latin typeface="Cambria Math" panose="02040503050406030204" charset="0"/>
                                        <a:ea typeface="楷体" panose="02010609060101010101" charset="-122"/>
                                        <a:cs typeface="Cambria Math" panose="02040503050406030204" charset="0"/>
                                      </a:rPr>
                                      <m:t>𝑨</m:t>
                                    </m:r>
                                  </m:sub>
                                </m:sSub>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C00000"/>
                              </a:solidFill>
                              <a:latin typeface="楷体" panose="02010609060101010101" charset="-122"/>
                              <a:ea typeface="楷体" panose="02010609060101010101" charset="-122"/>
                            </a:rPr>
                            <a:t>属性组</a:t>
                          </a:r>
                          <a:r>
                            <a:rPr lang="en-US" altLang="zh-CN" sz="2400" b="1">
                              <a:solidFill>
                                <a:srgbClr val="C00000"/>
                              </a:solidFill>
                              <a:latin typeface="楷体" panose="02010609060101010101" charset="-122"/>
                              <a:ea typeface="楷体" panose="02010609060101010101" charset="-122"/>
                            </a:rPr>
                            <a:t>A</a:t>
                          </a:r>
                          <a:r>
                            <a:rPr lang="zh-CN" altLang="en-US" sz="2400" b="1">
                              <a:solidFill>
                                <a:srgbClr val="C00000"/>
                              </a:solidFill>
                              <a:latin typeface="楷体" panose="02010609060101010101" charset="-122"/>
                              <a:ea typeface="楷体" panose="02010609060101010101" charset="-122"/>
                            </a:rPr>
                            <a:t>只能是关系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的一个属性子集</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1F2DA8"/>
                              </a:solidFill>
                              <a:latin typeface="楷体" panose="02010609060101010101" charset="-122"/>
                              <a:ea typeface="楷体" panose="02010609060101010101" charset="-122"/>
                            </a:rPr>
                            <a:t>由属性组</a:t>
                          </a:r>
                          <a:r>
                            <a:rPr lang="en-US" altLang="zh-CN" sz="2400" b="1">
                              <a:solidFill>
                                <a:srgbClr val="1F2DA8"/>
                              </a:solidFill>
                              <a:latin typeface="楷体" panose="02010609060101010101" charset="-122"/>
                              <a:ea typeface="楷体" panose="02010609060101010101" charset="-122"/>
                            </a:rPr>
                            <a:t>A</a:t>
                          </a:r>
                          <a:r>
                            <a:rPr lang="zh-CN" altLang="en-US" sz="2400" b="1">
                              <a:solidFill>
                                <a:srgbClr val="1F2DA8"/>
                              </a:solidFill>
                              <a:latin typeface="楷体" panose="02010609060101010101" charset="-122"/>
                              <a:ea typeface="楷体" panose="02010609060101010101" charset="-122"/>
                            </a:rPr>
                            <a:t>构成结果关系的关系模式</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en-US" altLang="x-none" sz="2400" b="1" i="1" dirty="0">
                                        <a:solidFill>
                                          <a:srgbClr val="1F2DA8"/>
                                        </a:solidFill>
                                        <a:latin typeface="Cambria Math" panose="02040503050406030204" pitchFamily="18" charset="0"/>
                                        <a:ea typeface="楷体" panose="02010609060101010101" charset="-122"/>
                                        <a:cs typeface="Cambria Math" panose="02040503050406030204" charset="0"/>
                                      </a:rPr>
                                    </m:ctrlPr>
                                  </m:dPr>
                                  <m:e>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𝒕</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d>
                                      <m:dPr>
                                        <m:begChr m:val="|"/>
                                        <m:endChr m:val=""/>
                                        <m:ctrlPr>
                                          <a:rPr lang="en-US" altLang="x-none" sz="2400" b="1" i="1" dirty="0">
                                            <a:solidFill>
                                              <a:srgbClr val="1F2DA8"/>
                                            </a:solidFill>
                                            <a:latin typeface="Cambria Math" panose="02040503050406030204" pitchFamily="18" charset="0"/>
                                            <a:ea typeface="楷体" panose="02010609060101010101" charset="-122"/>
                                            <a:cs typeface="Cambria Math" panose="02040503050406030204" charset="0"/>
                                          </a:rPr>
                                        </m:ctrlPr>
                                      </m:dPr>
                                      <m:e>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𝒕</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𝑹</m:t>
                                        </m:r>
                                      </m:e>
                                    </m:d>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e>
                                </m:d>
                              </m:oMath>
                            </m:oMathPara>
                          </a14:m>
                          <a:endParaRPr lang="en-US" altLang="x-none" sz="2400" b="1" i="1" dirty="0">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5"/>
                      </a:ext>
                    </a:extLst>
                  </a:tr>
                </a:tbl>
              </a:graphicData>
            </a:graphic>
          </p:graphicFrame>
        </mc:Choice>
        <mc:Fallback xmlns="">
          <p:graphicFrame>
            <p:nvGraphicFramePr>
              <p:cNvPr id="6" name="表格 5"/>
              <p:cNvGraphicFramePr/>
              <p:nvPr>
                <p:custDataLst>
                  <p:tags r:id="rId3"/>
                </p:custDataLst>
              </p:nvPr>
            </p:nvGraphicFramePr>
            <p:xfrm>
              <a:off x="424180" y="687070"/>
              <a:ext cx="11344275" cy="5067935"/>
            </p:xfrm>
            <a:graphic>
              <a:graphicData uri="http://schemas.openxmlformats.org/drawingml/2006/table">
                <a:tbl>
                  <a:tblPr firstRow="1" bandRow="1">
                    <a:tableStyleId>{5C22544A-7EE6-4342-B048-85BDC9FD1C3A}</a:tableStyleId>
                  </a:tblPr>
                  <a:tblGrid>
                    <a:gridCol w="1206500"/>
                    <a:gridCol w="3578860"/>
                    <a:gridCol w="2981960"/>
                    <a:gridCol w="3576955"/>
                  </a:tblGrid>
                  <a:tr h="563245">
                    <a:tc>
                      <a:txBody>
                        <a:bodyPr/>
                        <a:p>
                          <a:pPr algn="ctr">
                            <a:buNone/>
                          </a:pPr>
                          <a:r>
                            <a:rPr lang="zh-CN" altLang="en-US" sz="2400" b="1">
                              <a:solidFill>
                                <a:schemeClr val="tx1"/>
                              </a:solidFill>
                              <a:latin typeface="楷体" panose="02010609060101010101" charset="-122"/>
                              <a:ea typeface="楷体" panose="02010609060101010101" charset="-122"/>
                            </a:rPr>
                            <a:t>运算</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p>
                          <a:pPr algn="ctr">
                            <a:buNone/>
                          </a:pPr>
                          <a:r>
                            <a:rPr lang="zh-CN" altLang="en-US" sz="2400" b="1">
                              <a:solidFill>
                                <a:schemeClr val="tx1"/>
                              </a:solidFill>
                              <a:latin typeface="楷体" panose="02010609060101010101" charset="-122"/>
                              <a:ea typeface="楷体" panose="02010609060101010101" charset="-122"/>
                            </a:rPr>
                            <a:t>运算前提</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p>
                          <a:pPr algn="ctr">
                            <a:buNone/>
                          </a:pPr>
                          <a:r>
                            <a:rPr lang="zh-CN" altLang="en-US" sz="2400" b="1">
                              <a:solidFill>
                                <a:schemeClr val="tx1"/>
                              </a:solidFill>
                              <a:latin typeface="楷体" panose="02010609060101010101" charset="-122"/>
                              <a:ea typeface="楷体" panose="02010609060101010101" charset="-122"/>
                            </a:rPr>
                            <a:t>结果关系模式</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p>
                          <a:pPr algn="ctr">
                            <a:buNone/>
                          </a:pPr>
                          <a:r>
                            <a:rPr lang="zh-CN" altLang="en-US" sz="2400" b="1">
                              <a:solidFill>
                                <a:schemeClr val="tx1"/>
                              </a:solidFill>
                              <a:latin typeface="楷体" panose="02010609060101010101" charset="-122"/>
                              <a:ea typeface="楷体" panose="02010609060101010101" charset="-122"/>
                            </a:rPr>
                            <a:t>结果关系</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r>
                  <a:tr h="56324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rowSpan="2">
                      <a:txBody>
                        <a:bodyPr/>
                        <a:p>
                          <a:pPr>
                            <a:buNone/>
                          </a:pP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和</a:t>
                          </a:r>
                          <a:r>
                            <a:rPr lang="en-US" altLang="zh-CN" sz="2400" b="1">
                              <a:solidFill>
                                <a:srgbClr val="C00000"/>
                              </a:solidFill>
                              <a:latin typeface="楷体" panose="02010609060101010101" charset="-122"/>
                              <a:ea typeface="楷体" panose="02010609060101010101" charset="-122"/>
                            </a:rPr>
                            <a:t>S</a:t>
                          </a:r>
                          <a:r>
                            <a:rPr lang="zh-CN" altLang="en-US" sz="2400" b="1">
                              <a:solidFill>
                                <a:srgbClr val="C00000"/>
                              </a:solidFill>
                              <a:latin typeface="楷体" panose="02010609060101010101" charset="-122"/>
                              <a:ea typeface="楷体" panose="02010609060101010101" charset="-122"/>
                            </a:rPr>
                            <a:t>必须是同类关系</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2">
                      <a:txBody>
                        <a:bodyPr/>
                        <a:p>
                          <a:pPr>
                            <a:buNone/>
                          </a:pPr>
                          <a:r>
                            <a:rPr lang="zh-CN" altLang="en-US" sz="2400" b="1">
                              <a:solidFill>
                                <a:srgbClr val="1F2DA8"/>
                              </a:solidFill>
                              <a:latin typeface="楷体" panose="02010609060101010101" charset="-122"/>
                              <a:ea typeface="楷体" panose="02010609060101010101" charset="-122"/>
                              <a:sym typeface="+mn-ea"/>
                            </a:rPr>
                            <a:t>与关系</a:t>
                          </a:r>
                          <a:r>
                            <a:rPr lang="en-US" altLang="zh-CN" sz="2400" b="1">
                              <a:solidFill>
                                <a:srgbClr val="1F2DA8"/>
                              </a:solidFill>
                              <a:latin typeface="楷体" panose="02010609060101010101" charset="-122"/>
                              <a:ea typeface="楷体" panose="02010609060101010101" charset="-122"/>
                              <a:sym typeface="+mn-ea"/>
                            </a:rPr>
                            <a:t>R</a:t>
                          </a:r>
                          <a:r>
                            <a:rPr lang="zh-CN" altLang="en-US" sz="2400" b="1">
                              <a:solidFill>
                                <a:srgbClr val="1F2DA8"/>
                              </a:solidFill>
                              <a:latin typeface="楷体" panose="02010609060101010101" charset="-122"/>
                              <a:ea typeface="楷体" panose="02010609060101010101" charset="-122"/>
                              <a:sym typeface="+mn-ea"/>
                            </a:rPr>
                            <a:t>（或关系</a:t>
                          </a:r>
                          <a:r>
                            <a:rPr lang="en-US" altLang="zh-CN" sz="2400" b="1">
                              <a:solidFill>
                                <a:srgbClr val="1F2DA8"/>
                              </a:solidFill>
                              <a:latin typeface="楷体" panose="02010609060101010101" charset="-122"/>
                              <a:ea typeface="楷体" panose="02010609060101010101" charset="-122"/>
                              <a:sym typeface="+mn-ea"/>
                            </a:rPr>
                            <a:t>S</a:t>
                          </a:r>
                          <a:r>
                            <a:rPr lang="zh-CN" altLang="en-US" sz="2400" b="1">
                              <a:solidFill>
                                <a:srgbClr val="1F2DA8"/>
                              </a:solidFill>
                              <a:latin typeface="楷体" panose="02010609060101010101" charset="-122"/>
                              <a:ea typeface="楷体" panose="02010609060101010101" charset="-122"/>
                              <a:sym typeface="+mn-ea"/>
                            </a:rPr>
                            <a:t>）的模式相同</a:t>
                          </a:r>
                          <a:endParaRPr lang="zh-CN" altLang="en-US" sz="2400" b="1">
                            <a:solidFill>
                              <a:srgbClr val="1F2DA8"/>
                            </a:solidFill>
                            <a:latin typeface="楷体" panose="02010609060101010101" charset="-122"/>
                            <a:ea typeface="楷体" panose="02010609060101010101"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56324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822960">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p>
                          <a:pPr>
                            <a:buNone/>
                          </a:pPr>
                          <a:r>
                            <a:rPr lang="zh-CN" altLang="en-US" sz="2400" b="1">
                              <a:solidFill>
                                <a:srgbClr val="C00000"/>
                              </a:solidFill>
                              <a:latin typeface="楷体" panose="02010609060101010101" charset="-122"/>
                              <a:ea typeface="楷体" panose="02010609060101010101" charset="-122"/>
                            </a:rPr>
                            <a:t>任意两个关系</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400" b="1">
                              <a:solidFill>
                                <a:srgbClr val="1F2DA8"/>
                              </a:solidFill>
                              <a:latin typeface="楷体" panose="02010609060101010101" charset="-122"/>
                              <a:ea typeface="楷体" panose="02010609060101010101" charset="-122"/>
                            </a:rPr>
                            <a:t>由关系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和关系</a:t>
                          </a:r>
                          <a:r>
                            <a:rPr lang="en-US" altLang="zh-CN" sz="2400" b="1">
                              <a:solidFill>
                                <a:srgbClr val="1F2DA8"/>
                              </a:solidFill>
                              <a:latin typeface="楷体" panose="02010609060101010101" charset="-122"/>
                              <a:ea typeface="楷体" panose="02010609060101010101" charset="-122"/>
                            </a:rPr>
                            <a:t>S</a:t>
                          </a:r>
                          <a:r>
                            <a:rPr lang="zh-CN" altLang="en-US" sz="2400" b="1">
                              <a:solidFill>
                                <a:srgbClr val="1F2DA8"/>
                              </a:solidFill>
                              <a:latin typeface="楷体" panose="02010609060101010101" charset="-122"/>
                              <a:ea typeface="楷体" panose="02010609060101010101" charset="-122"/>
                            </a:rPr>
                            <a:t>中的所有属性组成</a:t>
                          </a:r>
                          <a:endParaRPr lang="zh-CN" altLang="en-US" sz="2400" b="1">
                            <a:solidFill>
                              <a:srgbClr val="1F2DA8"/>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1554480">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p>
                          <a:pPr>
                            <a:buNone/>
                          </a:pPr>
                          <a:r>
                            <a:rPr lang="zh-CN" altLang="en-US" sz="2400" b="1">
                              <a:solidFill>
                                <a:srgbClr val="C00000"/>
                              </a:solidFill>
                              <a:latin typeface="楷体" panose="02010609060101010101" charset="-122"/>
                              <a:ea typeface="楷体" panose="02010609060101010101" charset="-122"/>
                            </a:rPr>
                            <a:t>选择条件</a:t>
                          </a:r>
                          <a:r>
                            <a:rPr lang="en-US" altLang="zh-CN" sz="2400" b="1">
                              <a:solidFill>
                                <a:srgbClr val="C00000"/>
                              </a:solidFill>
                              <a:latin typeface="楷体" panose="02010609060101010101" charset="-122"/>
                              <a:ea typeface="楷体" panose="02010609060101010101" charset="-122"/>
                            </a:rPr>
                            <a:t>F</a:t>
                          </a:r>
                          <a:r>
                            <a:rPr lang="zh-CN" altLang="en-US" sz="2400" b="1">
                              <a:solidFill>
                                <a:srgbClr val="C00000"/>
                              </a:solidFill>
                              <a:latin typeface="楷体" panose="02010609060101010101" charset="-122"/>
                              <a:ea typeface="楷体" panose="02010609060101010101" charset="-122"/>
                            </a:rPr>
                            <a:t>是一个只能由关系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中的属性名、常量、比较运算符、逻辑运算符组成的逻辑表达式</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400" b="1">
                              <a:solidFill>
                                <a:srgbClr val="1F2DA8"/>
                              </a:solidFill>
                              <a:latin typeface="楷体" panose="02010609060101010101" charset="-122"/>
                              <a:ea typeface="楷体" panose="02010609060101010101" charset="-122"/>
                            </a:rPr>
                            <a:t>与关系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的模式相同</a:t>
                          </a:r>
                          <a:endParaRPr lang="zh-CN" altLang="en-US" sz="2400" b="1">
                            <a:solidFill>
                              <a:srgbClr val="1F2DA8"/>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1000760">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p>
                          <a:pPr>
                            <a:buNone/>
                          </a:pPr>
                          <a:r>
                            <a:rPr lang="zh-CN" altLang="en-US" sz="2400" b="1">
                              <a:solidFill>
                                <a:srgbClr val="C00000"/>
                              </a:solidFill>
                              <a:latin typeface="楷体" panose="02010609060101010101" charset="-122"/>
                              <a:ea typeface="楷体" panose="02010609060101010101" charset="-122"/>
                            </a:rPr>
                            <a:t>属性组</a:t>
                          </a:r>
                          <a:r>
                            <a:rPr lang="en-US" altLang="zh-CN" sz="2400" b="1">
                              <a:solidFill>
                                <a:srgbClr val="C00000"/>
                              </a:solidFill>
                              <a:latin typeface="楷体" panose="02010609060101010101" charset="-122"/>
                              <a:ea typeface="楷体" panose="02010609060101010101" charset="-122"/>
                            </a:rPr>
                            <a:t>A</a:t>
                          </a:r>
                          <a:r>
                            <a:rPr lang="zh-CN" altLang="en-US" sz="2400" b="1">
                              <a:solidFill>
                                <a:srgbClr val="C00000"/>
                              </a:solidFill>
                              <a:latin typeface="楷体" panose="02010609060101010101" charset="-122"/>
                              <a:ea typeface="楷体" panose="02010609060101010101" charset="-122"/>
                            </a:rPr>
                            <a:t>只能是关系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的一个属性子集</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400" b="1">
                              <a:solidFill>
                                <a:srgbClr val="1F2DA8"/>
                              </a:solidFill>
                              <a:latin typeface="楷体" panose="02010609060101010101" charset="-122"/>
                              <a:ea typeface="楷体" panose="02010609060101010101" charset="-122"/>
                            </a:rPr>
                            <a:t>由属性组</a:t>
                          </a:r>
                          <a:r>
                            <a:rPr lang="en-US" altLang="zh-CN" sz="2400" b="1">
                              <a:solidFill>
                                <a:srgbClr val="1F2DA8"/>
                              </a:solidFill>
                              <a:latin typeface="楷体" panose="02010609060101010101" charset="-122"/>
                              <a:ea typeface="楷体" panose="02010609060101010101" charset="-122"/>
                            </a:rPr>
                            <a:t>A</a:t>
                          </a:r>
                          <a:r>
                            <a:rPr lang="zh-CN" altLang="en-US" sz="2400" b="1">
                              <a:solidFill>
                                <a:srgbClr val="1F2DA8"/>
                              </a:solidFill>
                              <a:latin typeface="楷体" panose="02010609060101010101" charset="-122"/>
                              <a:ea typeface="楷体" panose="02010609060101010101" charset="-122"/>
                            </a:rPr>
                            <a:t>构成结果关系的关系模式</a:t>
                          </a:r>
                          <a:endParaRPr lang="zh-CN" altLang="en-US" sz="2400" b="1">
                            <a:solidFill>
                              <a:srgbClr val="1F2DA8"/>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bl>
              </a:graphicData>
            </a:graphic>
          </p:graphicFrame>
        </mc:Fallback>
      </mc:AlternateContent>
      <p:sp>
        <p:nvSpPr>
          <p:cNvPr id="9" name="文本框 8"/>
          <p:cNvSpPr txBox="1"/>
          <p:nvPr/>
        </p:nvSpPr>
        <p:spPr>
          <a:xfrm>
            <a:off x="425450" y="5895975"/>
            <a:ext cx="11366500" cy="706755"/>
          </a:xfrm>
          <a:prstGeom prst="rect">
            <a:avLst/>
          </a:prstGeom>
          <a:noFill/>
        </p:spPr>
        <p:txBody>
          <a:bodyPr wrap="square" rtlCol="0">
            <a:spAutoFit/>
          </a:bodyPr>
          <a:lstStyle/>
          <a:p>
            <a:pPr marL="285750" indent="-285750">
              <a:buClr>
                <a:srgbClr val="C00000"/>
              </a:buClr>
              <a:buSzPct val="85000"/>
              <a:buFont typeface="Wingdings" panose="05000000000000000000" charset="0"/>
              <a:buChar char="Ø"/>
            </a:pPr>
            <a:r>
              <a:rPr lang="zh-CN" altLang="en-US" sz="2000" b="1">
                <a:solidFill>
                  <a:srgbClr val="C00000"/>
                </a:solidFill>
                <a:latin typeface="楷体" panose="02010609060101010101" charset="-122"/>
                <a:ea typeface="楷体" panose="02010609060101010101" charset="-122"/>
                <a:cs typeface="楷体" panose="02010609060101010101" charset="-122"/>
              </a:rPr>
              <a:t>同类关系</a:t>
            </a:r>
            <a:r>
              <a:rPr lang="zh-CN" altLang="en-US" sz="2000" b="1">
                <a:latin typeface="楷体" panose="02010609060101010101" charset="-122"/>
                <a:ea typeface="楷体" panose="02010609060101010101" charset="-122"/>
                <a:cs typeface="楷体" panose="02010609060101010101" charset="-122"/>
              </a:rPr>
              <a:t>：两个关系的关系模式同时满足以下两个要求</a:t>
            </a:r>
          </a:p>
          <a:p>
            <a:pPr lvl="1"/>
            <a:r>
              <a:rPr lang="zh-CN" altLang="en-US" sz="2000" b="1">
                <a:latin typeface="楷体" panose="02010609060101010101" charset="-122"/>
                <a:ea typeface="楷体" panose="02010609060101010101" charset="-122"/>
                <a:cs typeface="楷体" panose="02010609060101010101" charset="-122"/>
              </a:rPr>
              <a:t>①具有相同的目</a:t>
            </a:r>
            <a:r>
              <a:rPr lang="en-US" altLang="zh-CN" sz="2000" b="1">
                <a:latin typeface="楷体" panose="02010609060101010101" charset="-122"/>
                <a:ea typeface="楷体" panose="02010609060101010101" charset="-122"/>
                <a:cs typeface="楷体" panose="02010609060101010101" charset="-122"/>
              </a:rPr>
              <a:t>n</a:t>
            </a:r>
            <a:r>
              <a:rPr lang="zh-CN" altLang="en-US" sz="2000" b="1">
                <a:latin typeface="楷体" panose="02010609060101010101" charset="-122"/>
                <a:ea typeface="楷体" panose="02010609060101010101" charset="-122"/>
                <a:cs typeface="楷体" panose="02010609060101010101" charset="-122"/>
              </a:rPr>
              <a:t>（具有相同数目的属性）</a:t>
            </a:r>
            <a:r>
              <a:rPr lang="en-US" altLang="zh-CN" sz="2000" b="1">
                <a:latin typeface="楷体" panose="02010609060101010101" charset="-122"/>
                <a:ea typeface="楷体" panose="02010609060101010101" charset="-122"/>
                <a:cs typeface="楷体" panose="02010609060101010101" charset="-122"/>
              </a:rPr>
              <a:t>   </a:t>
            </a:r>
            <a:r>
              <a:rPr lang="zh-CN" altLang="en-US" sz="2000" b="1">
                <a:latin typeface="楷体" panose="02010609060101010101" charset="-122"/>
                <a:ea typeface="楷体" panose="02010609060101010101" charset="-122"/>
                <a:cs typeface="楷体" panose="02010609060101010101" charset="-122"/>
              </a:rPr>
              <a:t>②相应的属性来自于同一个域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mj-ea"/>
              <a:buAutoNum type="ea1JpnChsDbPeriod" startAt="3"/>
            </a:pPr>
            <a:r>
              <a:rPr lang="zh-CN" altLang="en-US"/>
              <a:t>关系代数基本运算的应用</a:t>
            </a:r>
          </a:p>
        </p:txBody>
      </p:sp>
      <p:sp>
        <p:nvSpPr>
          <p:cNvPr id="3" name="内容占位符 2"/>
          <p:cNvSpPr>
            <a:spLocks noGrp="1"/>
          </p:cNvSpPr>
          <p:nvPr>
            <p:ph idx="1"/>
          </p:nvPr>
        </p:nvSpPr>
        <p:spPr/>
        <p:txBody>
          <a:bodyPr/>
          <a:lstStyle/>
          <a:p>
            <a:pPr>
              <a:lnSpc>
                <a:spcPct val="150000"/>
              </a:lnSpc>
            </a:pPr>
            <a:r>
              <a:rPr lang="en-US" altLang="zh-CN"/>
              <a:t>MyCAP</a:t>
            </a:r>
            <a:r>
              <a:rPr lang="zh-CN" altLang="en-US"/>
              <a:t>数据库</a:t>
            </a:r>
          </a:p>
          <a:p>
            <a:pPr>
              <a:lnSpc>
                <a:spcPct val="150000"/>
              </a:lnSpc>
            </a:pPr>
            <a:r>
              <a:rPr lang="zh-CN" altLang="en-US"/>
              <a:t>基本运算的查询语义</a:t>
            </a:r>
          </a:p>
          <a:p>
            <a:pPr>
              <a:lnSpc>
                <a:spcPct val="150000"/>
              </a:lnSpc>
            </a:pPr>
            <a:r>
              <a:rPr lang="zh-CN" altLang="en-US"/>
              <a:t>使用基本运算的查询表示</a:t>
            </a:r>
          </a:p>
        </p:txBody>
      </p:sp>
      <p:sp>
        <p:nvSpPr>
          <p:cNvPr id="8" name="灯片编号占位符 7"/>
          <p:cNvSpPr>
            <a:spLocks noGrp="1"/>
          </p:cNvSpPr>
          <p:nvPr>
            <p:ph type="sldNum" sz="quarter" idx="12"/>
          </p:nvPr>
        </p:nvSpPr>
        <p:spPr>
          <a:xfrm>
            <a:off x="11461115" y="6696000"/>
            <a:ext cx="730885" cy="153670"/>
          </a:xfrm>
        </p:spPr>
        <p:txBody>
          <a:bodyPr/>
          <a:lstStyle/>
          <a:p>
            <a:fld id="{565CE74E-AB26-4998-AD42-012C4C1AD076}" type="slidenum">
              <a:rPr lang="zh-CN" altLang="en-US" smtClean="0"/>
              <a:t>47</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MyCAP</a:t>
            </a:r>
            <a:r>
              <a:rPr lang="zh-CN" altLang="en-US">
                <a:sym typeface="+mn-ea"/>
              </a:rPr>
              <a:t>数据库</a:t>
            </a:r>
            <a:r>
              <a:rPr lang="en-US" altLang="zh-CN">
                <a:sym typeface="+mn-ea"/>
              </a:rPr>
              <a:t> 1</a:t>
            </a:r>
          </a:p>
        </p:txBody>
      </p:sp>
      <p:sp>
        <p:nvSpPr>
          <p:cNvPr id="3" name="内容占位符 2"/>
          <p:cNvSpPr>
            <a:spLocks noGrp="1"/>
          </p:cNvSpPr>
          <p:nvPr>
            <p:ph idx="1"/>
          </p:nvPr>
        </p:nvSpPr>
        <p:spPr>
          <a:xfrm>
            <a:off x="424180" y="687070"/>
            <a:ext cx="11343005" cy="1038860"/>
          </a:xfrm>
        </p:spPr>
        <p:txBody>
          <a:bodyPr>
            <a:noAutofit/>
          </a:bodyPr>
          <a:lstStyle/>
          <a:p>
            <a:r>
              <a:rPr lang="zh-CN" altLang="en-US" sz="2800">
                <a:solidFill>
                  <a:srgbClr val="1F2DA8"/>
                </a:solidFill>
                <a:cs typeface="Times New Roman" panose="02020603050405020304" charset="0"/>
                <a:sym typeface="+mn-ea"/>
              </a:rPr>
              <a:t>设有一个公司产品零售数据库，其关系模式如下</a:t>
            </a:r>
            <a:r>
              <a:rPr lang="en-US" altLang="zh-CN" sz="2800">
                <a:solidFill>
                  <a:srgbClr val="1F2DA8"/>
                </a:solidFill>
                <a:latin typeface="楷体" panose="02010609060101010101" charset="-122"/>
                <a:cs typeface="楷体" panose="02010609060101010101" charset="-122"/>
                <a:sym typeface="+mn-ea"/>
              </a:rPr>
              <a:t>(</a:t>
            </a:r>
            <a:r>
              <a:rPr lang="zh-CN" altLang="en-US" sz="2800">
                <a:solidFill>
                  <a:srgbClr val="1F2DA8"/>
                </a:solidFill>
                <a:latin typeface="楷体" panose="02010609060101010101" charset="-122"/>
                <a:cs typeface="楷体" panose="02010609060101010101" charset="-122"/>
                <a:sym typeface="+mn-ea"/>
              </a:rPr>
              <a:t>编号属性分别是各个关系的码</a:t>
            </a:r>
            <a:r>
              <a:rPr lang="en-US" altLang="zh-CN" sz="2800">
                <a:solidFill>
                  <a:srgbClr val="1F2DA8"/>
                </a:solidFill>
                <a:latin typeface="楷体" panose="02010609060101010101" charset="-122"/>
                <a:cs typeface="楷体" panose="02010609060101010101" charset="-122"/>
                <a:sym typeface="+mn-ea"/>
              </a:rPr>
              <a:t>)</a:t>
            </a:r>
            <a:r>
              <a:rPr lang="zh-CN" altLang="en-US" sz="2800">
                <a:solidFill>
                  <a:srgbClr val="1F2DA8"/>
                </a:solidFill>
                <a:cs typeface="Times New Roman" panose="02020603050405020304" charset="0"/>
                <a:sym typeface="+mn-ea"/>
              </a:rPr>
              <a:t>：</a:t>
            </a:r>
            <a:endParaRPr lang="en-US" altLang="zh-CN" sz="2800">
              <a:solidFill>
                <a:srgbClr val="FF0000"/>
              </a:solidFill>
              <a:latin typeface="Times New Roman" panose="02020603050405020304" charset="0"/>
              <a:cs typeface="Times New Roman" panose="02020603050405020304" charset="0"/>
              <a:sym typeface="+mn-ea"/>
            </a:endParaRPr>
          </a:p>
        </p:txBody>
      </p:sp>
      <p:sp>
        <p:nvSpPr>
          <p:cNvPr id="8" name="灯片编号占位符 7"/>
          <p:cNvSpPr>
            <a:spLocks noGrp="1"/>
          </p:cNvSpPr>
          <p:nvPr>
            <p:ph type="sldNum" sz="quarter" idx="12"/>
          </p:nvPr>
        </p:nvSpPr>
        <p:spPr>
          <a:xfrm>
            <a:off x="11461115" y="6696000"/>
            <a:ext cx="730885" cy="153670"/>
          </a:xfrm>
        </p:spPr>
        <p:txBody>
          <a:bodyPr/>
          <a:lstStyle/>
          <a:p>
            <a:fld id="{565CE74E-AB26-4998-AD42-012C4C1AD076}" type="slidenum">
              <a:rPr lang="zh-CN" altLang="en-US" smtClean="0"/>
              <a:t>48</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graphicFrame>
        <p:nvGraphicFramePr>
          <p:cNvPr id="6" name="表格 5"/>
          <p:cNvGraphicFramePr/>
          <p:nvPr>
            <p:custDataLst>
              <p:tags r:id="rId1"/>
            </p:custDataLst>
          </p:nvPr>
        </p:nvGraphicFramePr>
        <p:xfrm>
          <a:off x="424180" y="1817370"/>
          <a:ext cx="11343640" cy="4535170"/>
        </p:xfrm>
        <a:graphic>
          <a:graphicData uri="http://schemas.openxmlformats.org/drawingml/2006/table">
            <a:tbl>
              <a:tblPr firstRow="1" bandRow="1">
                <a:tableStyleId>{5C22544A-7EE6-4342-B048-85BDC9FD1C3A}</a:tableStyleId>
              </a:tblPr>
              <a:tblGrid>
                <a:gridCol w="1136650">
                  <a:extLst>
                    <a:ext uri="{9D8B030D-6E8A-4147-A177-3AD203B41FA5}">
                      <a16:colId xmlns:a16="http://schemas.microsoft.com/office/drawing/2014/main" val="20000"/>
                    </a:ext>
                  </a:extLst>
                </a:gridCol>
                <a:gridCol w="4521835">
                  <a:extLst>
                    <a:ext uri="{9D8B030D-6E8A-4147-A177-3AD203B41FA5}">
                      <a16:colId xmlns:a16="http://schemas.microsoft.com/office/drawing/2014/main" val="20001"/>
                    </a:ext>
                  </a:extLst>
                </a:gridCol>
                <a:gridCol w="5685155">
                  <a:extLst>
                    <a:ext uri="{9D8B030D-6E8A-4147-A177-3AD203B41FA5}">
                      <a16:colId xmlns:a16="http://schemas.microsoft.com/office/drawing/2014/main" val="20002"/>
                    </a:ext>
                  </a:extLst>
                </a:gridCol>
              </a:tblGrid>
              <a:tr h="553085">
                <a:tc>
                  <a:txBody>
                    <a:bodyPr/>
                    <a:lstStyle/>
                    <a:p>
                      <a:pPr algn="ctr">
                        <a:buNone/>
                      </a:pPr>
                      <a:r>
                        <a:rPr lang="zh-CN" altLang="en-US" sz="2400" b="1">
                          <a:solidFill>
                            <a:schemeClr val="tx1"/>
                          </a:solidFill>
                          <a:ea typeface="楷体" panose="02010609060101010101" charset="-122"/>
                        </a:rPr>
                        <a:t>关系名</a:t>
                      </a:r>
                    </a:p>
                  </a:txBody>
                  <a:tcPr anchor="ctr">
                    <a:lnL w="19050" cmpd="sng">
                      <a:solidFill>
                        <a:schemeClr val="tx1"/>
                      </a:solidFill>
                      <a:prstDash val="solid"/>
                    </a:lnL>
                    <a:lnR w="9525" cmpd="sng">
                      <a:solidFill>
                        <a:schemeClr val="tx1"/>
                      </a:solidFill>
                      <a:prstDash val="solid"/>
                    </a:lnR>
                    <a:lnT w="19050" cmpd="sng">
                      <a:solidFill>
                        <a:schemeClr val="tx1"/>
                      </a:solidFill>
                      <a:prstDash val="solid"/>
                    </a:lnT>
                    <a:lnB w="9525" cmpd="sng">
                      <a:solidFill>
                        <a:schemeClr val="tx1"/>
                      </a:solidFill>
                      <a:prstDash val="solid"/>
                    </a:lnB>
                    <a:solidFill>
                      <a:schemeClr val="bg2"/>
                    </a:solidFill>
                  </a:tcPr>
                </a:tc>
                <a:tc>
                  <a:txBody>
                    <a:bodyPr/>
                    <a:lstStyle/>
                    <a:p>
                      <a:pPr algn="ctr">
                        <a:buNone/>
                      </a:pPr>
                      <a:r>
                        <a:rPr lang="zh-CN" altLang="en-US" sz="2400" b="1">
                          <a:solidFill>
                            <a:schemeClr val="tx1"/>
                          </a:solidFill>
                          <a:ea typeface="楷体" panose="02010609060101010101" charset="-122"/>
                        </a:rPr>
                        <a:t>属性名</a:t>
                      </a:r>
                    </a:p>
                  </a:txBody>
                  <a:tcPr anchor="ctr">
                    <a:lnL w="9525" cmpd="sng">
                      <a:solidFill>
                        <a:schemeClr val="tx1"/>
                      </a:solidFill>
                      <a:prstDash val="solid"/>
                    </a:lnL>
                    <a:lnR w="9525" cmpd="sng">
                      <a:solidFill>
                        <a:schemeClr val="tx1"/>
                      </a:solidFill>
                      <a:prstDash val="solid"/>
                    </a:lnR>
                    <a:lnT w="19050" cmpd="sng">
                      <a:solidFill>
                        <a:schemeClr val="tx1"/>
                      </a:solidFill>
                      <a:prstDash val="solid"/>
                    </a:lnT>
                    <a:lnB w="9525" cmpd="sng">
                      <a:solidFill>
                        <a:schemeClr val="tx1"/>
                      </a:solidFill>
                      <a:prstDash val="solid"/>
                    </a:lnB>
                    <a:solidFill>
                      <a:schemeClr val="bg2"/>
                    </a:solidFill>
                  </a:tcPr>
                </a:tc>
                <a:tc>
                  <a:txBody>
                    <a:bodyPr/>
                    <a:lstStyle/>
                    <a:p>
                      <a:pPr algn="ctr">
                        <a:buNone/>
                      </a:pPr>
                      <a:r>
                        <a:rPr lang="zh-CN" altLang="en-US" sz="2400" b="1">
                          <a:solidFill>
                            <a:schemeClr val="tx1"/>
                          </a:solidFill>
                          <a:ea typeface="楷体" panose="02010609060101010101" charset="-122"/>
                        </a:rPr>
                        <a:t>关系模式</a:t>
                      </a:r>
                    </a:p>
                  </a:txBody>
                  <a:tcPr anchor="ctr">
                    <a:lnL w="9525" cmpd="sng">
                      <a:solidFill>
                        <a:schemeClr val="tx1"/>
                      </a:solidFill>
                      <a:prstDash val="solid"/>
                    </a:lnL>
                    <a:lnR w="19050" cmpd="sng">
                      <a:solidFill>
                        <a:schemeClr val="tx1"/>
                      </a:solidFill>
                      <a:prstDash val="solid"/>
                    </a:lnR>
                    <a:lnT w="19050" cmpd="sng">
                      <a:solidFill>
                        <a:schemeClr val="tx1"/>
                      </a:solidFill>
                      <a:prstDash val="solid"/>
                    </a:lnT>
                    <a:lnB w="9525" cmpd="sng">
                      <a:solidFill>
                        <a:schemeClr val="tx1"/>
                      </a:solidFill>
                      <a:prstDash val="solid"/>
                    </a:lnB>
                    <a:solidFill>
                      <a:schemeClr val="bg2"/>
                    </a:solidFill>
                  </a:tcPr>
                </a:tc>
                <a:extLst>
                  <a:ext uri="{0D108BD9-81ED-4DB2-BD59-A6C34878D82A}">
                    <a16:rowId xmlns:a16="http://schemas.microsoft.com/office/drawing/2014/main" val="10000"/>
                  </a:ext>
                </a:extLst>
              </a:tr>
              <a:tr h="553085">
                <a:tc>
                  <a:txBody>
                    <a:bodyPr/>
                    <a:lstStyle/>
                    <a:p>
                      <a:pPr algn="ctr">
                        <a:buNone/>
                      </a:pPr>
                      <a:r>
                        <a:rPr lang="zh-CN" altLang="en-US" sz="2400" b="1">
                          <a:solidFill>
                            <a:srgbClr val="1F2DA8"/>
                          </a:solidFill>
                          <a:ea typeface="楷体" panose="02010609060101010101" charset="-122"/>
                          <a:sym typeface="+mn-ea"/>
                        </a:rPr>
                        <a:t>顾客</a:t>
                      </a:r>
                    </a:p>
                  </a:txBody>
                  <a:tcPr anchor="ctr">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lang="zh-CN" altLang="en-US" sz="2400" b="1">
                          <a:solidFill>
                            <a:srgbClr val="1F2DA8"/>
                          </a:solidFill>
                          <a:ea typeface="楷体" panose="02010609060101010101" charset="-122"/>
                          <a:cs typeface="+mn-lt"/>
                          <a:sym typeface="+mn-ea"/>
                        </a:rPr>
                        <a:t>顾客</a:t>
                      </a:r>
                      <a:r>
                        <a:rPr lang="zh-CN" altLang="en-US" sz="2400" b="1">
                          <a:solidFill>
                            <a:srgbClr val="1F2DA8"/>
                          </a:solidFill>
                          <a:ea typeface="楷体" panose="02010609060101010101" charset="-122"/>
                          <a:cs typeface="+mn-lt"/>
                        </a:rPr>
                        <a:t>编号</a:t>
                      </a:r>
                      <a:r>
                        <a:rPr lang="zh-CN" altLang="en-US" sz="2400" b="1">
                          <a:solidFill>
                            <a:srgbClr val="1F2DA8"/>
                          </a:solidFill>
                          <a:ea typeface="楷体" panose="02010609060101010101" charset="-122"/>
                          <a:cs typeface="+mn-lt"/>
                          <a:sym typeface="+mn-ea"/>
                        </a:rPr>
                        <a:t>, 姓名, 居住城市, 折扣</a:t>
                      </a:r>
                    </a:p>
                  </a:txBody>
                  <a:tcPr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lang="en-US" altLang="zh-CN" sz="2400" b="1">
                          <a:solidFill>
                            <a:srgbClr val="FF0000"/>
                          </a:solidFill>
                          <a:ea typeface="楷体" panose="02010609060101010101" charset="-122"/>
                          <a:cs typeface="+mn-lt"/>
                          <a:sym typeface="+mn-ea"/>
                        </a:rPr>
                        <a:t>Customers (</a:t>
                      </a:r>
                      <a:r>
                        <a:rPr lang="zh-CN" altLang="en-US" sz="2400" b="1">
                          <a:solidFill>
                            <a:srgbClr val="FF0000"/>
                          </a:solidFill>
                          <a:ea typeface="楷体" panose="02010609060101010101" charset="-122"/>
                          <a:cs typeface="+mn-lt"/>
                          <a:sym typeface="+mn-ea"/>
                        </a:rPr>
                        <a:t>cid, cn</a:t>
                      </a:r>
                      <a:r>
                        <a:rPr lang="en-US" altLang="zh-CN" sz="2400" b="1">
                          <a:solidFill>
                            <a:srgbClr val="FF0000"/>
                          </a:solidFill>
                          <a:ea typeface="楷体" panose="02010609060101010101" charset="-122"/>
                          <a:cs typeface="+mn-lt"/>
                          <a:sym typeface="+mn-ea"/>
                        </a:rPr>
                        <a:t>ame</a:t>
                      </a:r>
                      <a:r>
                        <a:rPr lang="zh-CN" altLang="en-US" sz="2400" b="1">
                          <a:solidFill>
                            <a:srgbClr val="FF0000"/>
                          </a:solidFill>
                          <a:ea typeface="楷体" panose="02010609060101010101" charset="-122"/>
                          <a:cs typeface="+mn-lt"/>
                          <a:sym typeface="+mn-ea"/>
                        </a:rPr>
                        <a:t>, city, dis</a:t>
                      </a:r>
                      <a:r>
                        <a:rPr lang="en-US" altLang="zh-CN" sz="2400" b="1">
                          <a:solidFill>
                            <a:srgbClr val="FF0000"/>
                          </a:solidFill>
                          <a:ea typeface="楷体" panose="02010609060101010101" charset="-122"/>
                          <a:cs typeface="+mn-lt"/>
                          <a:sym typeface="+mn-ea"/>
                        </a:rPr>
                        <a:t>cnt)</a:t>
                      </a:r>
                      <a:endParaRPr lang="zh-CN" altLang="en-US" sz="2400" b="1">
                        <a:solidFill>
                          <a:srgbClr val="FF0000"/>
                        </a:solidFill>
                        <a:ea typeface="楷体" panose="02010609060101010101" charset="-122"/>
                        <a:cs typeface="+mn-lt"/>
                        <a:sym typeface="+mn-ea"/>
                      </a:endParaRPr>
                    </a:p>
                  </a:txBody>
                  <a:tcPr anchor="ctr">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1"/>
                  </a:ext>
                </a:extLst>
              </a:tr>
              <a:tr h="995680">
                <a:tc>
                  <a:txBody>
                    <a:bodyPr/>
                    <a:lstStyle/>
                    <a:p>
                      <a:pPr algn="ctr">
                        <a:buNone/>
                      </a:pPr>
                      <a:r>
                        <a:rPr lang="zh-CN" altLang="en-US" sz="2400" b="1">
                          <a:solidFill>
                            <a:srgbClr val="1F2DA8"/>
                          </a:solidFill>
                          <a:ea typeface="楷体" panose="02010609060101010101" charset="-122"/>
                        </a:rPr>
                        <a:t>供应商</a:t>
                      </a:r>
                    </a:p>
                  </a:txBody>
                  <a:tcPr anchor="ctr">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1">
                        <a:tint val="20000"/>
                        <a:alpha val="50000"/>
                      </a:schemeClr>
                    </a:solidFill>
                  </a:tcPr>
                </a:tc>
                <a:tc>
                  <a:txBody>
                    <a:bodyPr/>
                    <a:lstStyle/>
                    <a:p>
                      <a:pPr>
                        <a:buNone/>
                      </a:pPr>
                      <a:r>
                        <a:rPr lang="zh-CN" altLang="en-US" sz="2400" b="1">
                          <a:solidFill>
                            <a:srgbClr val="1F2DA8"/>
                          </a:solidFill>
                          <a:ea typeface="楷体" panose="02010609060101010101" charset="-122"/>
                          <a:cs typeface="+mn-lt"/>
                          <a:sym typeface="+mn-ea"/>
                        </a:rPr>
                        <a:t>供应商编号, 名称, 所在城市</a:t>
                      </a:r>
                      <a:r>
                        <a:rPr lang="en-US" altLang="zh-CN" sz="2400" b="1">
                          <a:solidFill>
                            <a:srgbClr val="1F2DA8"/>
                          </a:solidFill>
                          <a:ea typeface="楷体" panose="02010609060101010101" charset="-122"/>
                          <a:cs typeface="+mn-lt"/>
                          <a:sym typeface="+mn-ea"/>
                        </a:rPr>
                        <a:t>, </a:t>
                      </a:r>
                      <a:r>
                        <a:rPr lang="zh-CN" altLang="en-US" sz="2400" b="1">
                          <a:solidFill>
                            <a:srgbClr val="1F2DA8"/>
                          </a:solidFill>
                          <a:ea typeface="楷体" panose="02010609060101010101" charset="-122"/>
                          <a:cs typeface="+mn-lt"/>
                          <a:sym typeface="+mn-ea"/>
                        </a:rPr>
                        <a:t>佣金比例</a:t>
                      </a:r>
                    </a:p>
                  </a:txBody>
                  <a:tcPr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1">
                        <a:tint val="20000"/>
                        <a:alpha val="50000"/>
                      </a:schemeClr>
                    </a:solidFill>
                  </a:tcPr>
                </a:tc>
                <a:tc>
                  <a:txBody>
                    <a:bodyPr/>
                    <a:lstStyle/>
                    <a:p>
                      <a:pPr>
                        <a:buNone/>
                      </a:pPr>
                      <a:r>
                        <a:rPr lang="en-US" altLang="zh-CN" sz="2400" b="1">
                          <a:solidFill>
                            <a:srgbClr val="FF0000"/>
                          </a:solidFill>
                          <a:ea typeface="楷体" panose="02010609060101010101" charset="-122"/>
                          <a:cs typeface="+mn-lt"/>
                          <a:sym typeface="+mn-ea"/>
                        </a:rPr>
                        <a:t>Agents (</a:t>
                      </a:r>
                      <a:r>
                        <a:rPr lang="zh-CN" altLang="en-US" sz="2400" b="1">
                          <a:solidFill>
                            <a:srgbClr val="FF0000"/>
                          </a:solidFill>
                          <a:ea typeface="楷体" panose="02010609060101010101" charset="-122"/>
                          <a:cs typeface="+mn-lt"/>
                          <a:sym typeface="+mn-ea"/>
                        </a:rPr>
                        <a:t>aid, an</a:t>
                      </a:r>
                      <a:r>
                        <a:rPr lang="en-US" altLang="zh-CN" sz="2400" b="1">
                          <a:solidFill>
                            <a:srgbClr val="FF0000"/>
                          </a:solidFill>
                          <a:ea typeface="楷体" panose="02010609060101010101" charset="-122"/>
                          <a:cs typeface="+mn-lt"/>
                          <a:sym typeface="+mn-ea"/>
                        </a:rPr>
                        <a:t>ame</a:t>
                      </a:r>
                      <a:r>
                        <a:rPr lang="zh-CN" altLang="en-US" sz="2400" b="1">
                          <a:solidFill>
                            <a:srgbClr val="FF0000"/>
                          </a:solidFill>
                          <a:ea typeface="楷体" panose="02010609060101010101" charset="-122"/>
                          <a:cs typeface="+mn-lt"/>
                          <a:sym typeface="+mn-ea"/>
                        </a:rPr>
                        <a:t>, city</a:t>
                      </a:r>
                      <a:r>
                        <a:rPr lang="en-US" altLang="zh-CN" sz="2400" b="1">
                          <a:solidFill>
                            <a:srgbClr val="FF0000"/>
                          </a:solidFill>
                          <a:ea typeface="楷体" panose="02010609060101010101" charset="-122"/>
                          <a:cs typeface="+mn-lt"/>
                          <a:sym typeface="+mn-ea"/>
                        </a:rPr>
                        <a:t>, percent)</a:t>
                      </a:r>
                      <a:endParaRPr lang="zh-CN" altLang="en-US" sz="2400" b="1">
                        <a:solidFill>
                          <a:srgbClr val="FF0000"/>
                        </a:solidFill>
                        <a:ea typeface="楷体" panose="02010609060101010101" charset="-122"/>
                        <a:cs typeface="+mn-lt"/>
                        <a:sym typeface="+mn-ea"/>
                      </a:endParaRPr>
                    </a:p>
                  </a:txBody>
                  <a:tcPr anchor="ctr">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solidFill>
                      <a:schemeClr val="accent1">
                        <a:tint val="20000"/>
                        <a:alpha val="50000"/>
                      </a:schemeClr>
                    </a:solidFill>
                  </a:tcPr>
                </a:tc>
                <a:extLst>
                  <a:ext uri="{0D108BD9-81ED-4DB2-BD59-A6C34878D82A}">
                    <a16:rowId xmlns:a16="http://schemas.microsoft.com/office/drawing/2014/main" val="10002"/>
                  </a:ext>
                </a:extLst>
              </a:tr>
              <a:tr h="995045">
                <a:tc>
                  <a:txBody>
                    <a:bodyPr/>
                    <a:lstStyle/>
                    <a:p>
                      <a:pPr algn="ctr">
                        <a:buNone/>
                      </a:pPr>
                      <a:r>
                        <a:rPr lang="zh-CN" altLang="en-US" sz="2400" b="1">
                          <a:solidFill>
                            <a:srgbClr val="1F2DA8"/>
                          </a:solidFill>
                          <a:ea typeface="楷体" panose="02010609060101010101" charset="-122"/>
                        </a:rPr>
                        <a:t>商品</a:t>
                      </a:r>
                    </a:p>
                  </a:txBody>
                  <a:tcPr anchor="ctr">
                    <a:lnL w="19050"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lang="zh-CN" altLang="en-US" sz="2400" b="1">
                          <a:solidFill>
                            <a:srgbClr val="1F2DA8"/>
                          </a:solidFill>
                          <a:ea typeface="楷体" panose="02010609060101010101" charset="-122"/>
                          <a:cs typeface="+mn-lt"/>
                          <a:sym typeface="+mn-ea"/>
                        </a:rPr>
                        <a:t>商品编号, 名称, 库存城市</a:t>
                      </a:r>
                      <a:r>
                        <a:rPr lang="en-US" altLang="zh-CN" sz="2400" b="1">
                          <a:solidFill>
                            <a:srgbClr val="1F2DA8"/>
                          </a:solidFill>
                          <a:ea typeface="楷体" panose="02010609060101010101" charset="-122"/>
                          <a:cs typeface="+mn-lt"/>
                          <a:sym typeface="+mn-ea"/>
                        </a:rPr>
                        <a:t>, </a:t>
                      </a:r>
                      <a:r>
                        <a:rPr lang="zh-CN" altLang="en-US" sz="2400" b="1">
                          <a:solidFill>
                            <a:srgbClr val="1F2DA8"/>
                          </a:solidFill>
                          <a:ea typeface="楷体" panose="02010609060101010101" charset="-122"/>
                          <a:cs typeface="+mn-lt"/>
                          <a:sym typeface="+mn-ea"/>
                        </a:rPr>
                        <a:t>库存数量, 单价</a:t>
                      </a:r>
                    </a:p>
                  </a:txBody>
                  <a:tcPr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buNone/>
                      </a:pPr>
                      <a:r>
                        <a:rPr lang="en-US" altLang="zh-CN" sz="2400" b="1">
                          <a:solidFill>
                            <a:srgbClr val="FF0000"/>
                          </a:solidFill>
                          <a:ea typeface="楷体" panose="02010609060101010101" charset="-122"/>
                          <a:cs typeface="+mn-lt"/>
                          <a:sym typeface="+mn-ea"/>
                        </a:rPr>
                        <a:t>Products (</a:t>
                      </a:r>
                      <a:r>
                        <a:rPr lang="zh-CN" altLang="en-US" sz="2400" b="1">
                          <a:solidFill>
                            <a:srgbClr val="FF0000"/>
                          </a:solidFill>
                          <a:ea typeface="楷体" panose="02010609060101010101" charset="-122"/>
                          <a:cs typeface="+mn-lt"/>
                          <a:sym typeface="+mn-ea"/>
                        </a:rPr>
                        <a:t>pid, pn</a:t>
                      </a:r>
                      <a:r>
                        <a:rPr lang="en-US" altLang="zh-CN" sz="2400" b="1">
                          <a:solidFill>
                            <a:srgbClr val="FF0000"/>
                          </a:solidFill>
                          <a:ea typeface="楷体" panose="02010609060101010101" charset="-122"/>
                          <a:cs typeface="+mn-lt"/>
                          <a:sym typeface="+mn-ea"/>
                        </a:rPr>
                        <a:t>ame</a:t>
                      </a:r>
                      <a:r>
                        <a:rPr lang="zh-CN" altLang="en-US" sz="2400" b="1">
                          <a:solidFill>
                            <a:srgbClr val="FF0000"/>
                          </a:solidFill>
                          <a:ea typeface="楷体" panose="02010609060101010101" charset="-122"/>
                          <a:cs typeface="+mn-lt"/>
                          <a:sym typeface="+mn-ea"/>
                        </a:rPr>
                        <a:t>, city, </a:t>
                      </a:r>
                      <a:r>
                        <a:rPr lang="en-US" altLang="zh-CN" sz="2400" b="1">
                          <a:solidFill>
                            <a:srgbClr val="FF0000"/>
                          </a:solidFill>
                          <a:ea typeface="楷体" panose="02010609060101010101" charset="-122"/>
                          <a:cs typeface="+mn-lt"/>
                          <a:sym typeface="+mn-ea"/>
                        </a:rPr>
                        <a:t>quantity</a:t>
                      </a:r>
                      <a:r>
                        <a:rPr lang="zh-CN" altLang="en-US" sz="2400" b="1">
                          <a:solidFill>
                            <a:srgbClr val="FF0000"/>
                          </a:solidFill>
                          <a:ea typeface="楷体" panose="02010609060101010101" charset="-122"/>
                          <a:cs typeface="+mn-lt"/>
                          <a:sym typeface="+mn-ea"/>
                        </a:rPr>
                        <a:t>, pri</a:t>
                      </a:r>
                      <a:r>
                        <a:rPr lang="en-US" altLang="zh-CN" sz="2400" b="1">
                          <a:solidFill>
                            <a:srgbClr val="FF0000"/>
                          </a:solidFill>
                          <a:ea typeface="楷体" panose="02010609060101010101" charset="-122"/>
                          <a:cs typeface="+mn-lt"/>
                          <a:sym typeface="+mn-ea"/>
                        </a:rPr>
                        <a:t>ce)</a:t>
                      </a:r>
                      <a:endParaRPr lang="zh-CN" altLang="en-US" sz="2400" b="1">
                        <a:solidFill>
                          <a:srgbClr val="FF0000"/>
                        </a:solidFill>
                        <a:ea typeface="楷体" panose="02010609060101010101" charset="-122"/>
                        <a:cs typeface="+mn-lt"/>
                        <a:sym typeface="+mn-ea"/>
                      </a:endParaRPr>
                    </a:p>
                  </a:txBody>
                  <a:tcPr anchor="ctr">
                    <a:lnL w="9525" cmpd="sng">
                      <a:solidFill>
                        <a:schemeClr val="tx1"/>
                      </a:solidFill>
                      <a:prstDash val="solid"/>
                    </a:lnL>
                    <a:lnR w="19050"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3"/>
                  </a:ext>
                </a:extLst>
              </a:tr>
              <a:tr h="1438275">
                <a:tc>
                  <a:txBody>
                    <a:bodyPr/>
                    <a:lstStyle/>
                    <a:p>
                      <a:pPr algn="ctr">
                        <a:buNone/>
                      </a:pPr>
                      <a:r>
                        <a:rPr lang="zh-CN" altLang="en-US" sz="2400" b="1">
                          <a:solidFill>
                            <a:srgbClr val="1F2DA8"/>
                          </a:solidFill>
                          <a:ea typeface="楷体" panose="02010609060101010101" charset="-122"/>
                        </a:rPr>
                        <a:t>订单</a:t>
                      </a:r>
                    </a:p>
                  </a:txBody>
                  <a:tcPr anchor="ctr">
                    <a:lnL w="19050" cmpd="sng">
                      <a:solidFill>
                        <a:schemeClr val="tx1"/>
                      </a:solidFill>
                      <a:prstDash val="solid"/>
                    </a:lnL>
                    <a:lnR w="9525" cmpd="sng">
                      <a:solidFill>
                        <a:schemeClr val="tx1"/>
                      </a:solidFill>
                      <a:prstDash val="solid"/>
                    </a:lnR>
                    <a:lnT w="9525" cmpd="sng">
                      <a:solidFill>
                        <a:schemeClr val="tx1"/>
                      </a:solidFill>
                      <a:prstDash val="solid"/>
                    </a:lnT>
                    <a:lnB w="19050" cmpd="sng">
                      <a:solidFill>
                        <a:schemeClr val="tx1"/>
                      </a:solidFill>
                      <a:prstDash val="solid"/>
                    </a:lnB>
                    <a:solidFill>
                      <a:schemeClr val="accent1">
                        <a:tint val="20000"/>
                        <a:alpha val="50000"/>
                      </a:schemeClr>
                    </a:solidFill>
                  </a:tcPr>
                </a:tc>
                <a:tc>
                  <a:txBody>
                    <a:bodyPr/>
                    <a:lstStyle/>
                    <a:p>
                      <a:pPr>
                        <a:buNone/>
                      </a:pPr>
                      <a:r>
                        <a:rPr lang="zh-CN" altLang="en-US" sz="2400" b="1">
                          <a:solidFill>
                            <a:srgbClr val="1F2DA8"/>
                          </a:solidFill>
                          <a:ea typeface="楷体" panose="02010609060101010101" charset="-122"/>
                          <a:cs typeface="+mn-lt"/>
                          <a:sym typeface="+mn-ea"/>
                        </a:rPr>
                        <a:t>订单编号, 订购日期, 顾客编号, 供应商编号, 商品编号, 订购数量, 销售金额</a:t>
                      </a:r>
                    </a:p>
                  </a:txBody>
                  <a:tcPr anchor="ctr">
                    <a:lnL w="9525" cmpd="sng">
                      <a:solidFill>
                        <a:schemeClr val="tx1"/>
                      </a:solidFill>
                      <a:prstDash val="solid"/>
                    </a:lnL>
                    <a:lnR w="9525" cmpd="sng">
                      <a:solidFill>
                        <a:schemeClr val="tx1"/>
                      </a:solidFill>
                      <a:prstDash val="solid"/>
                    </a:lnR>
                    <a:lnT w="9525" cmpd="sng">
                      <a:solidFill>
                        <a:schemeClr val="tx1"/>
                      </a:solidFill>
                      <a:prstDash val="solid"/>
                    </a:lnT>
                    <a:lnB w="19050" cmpd="sng">
                      <a:solidFill>
                        <a:schemeClr val="tx1"/>
                      </a:solidFill>
                      <a:prstDash val="solid"/>
                    </a:lnB>
                    <a:solidFill>
                      <a:schemeClr val="accent1">
                        <a:tint val="20000"/>
                        <a:alpha val="50000"/>
                      </a:schemeClr>
                    </a:solidFill>
                  </a:tcPr>
                </a:tc>
                <a:tc>
                  <a:txBody>
                    <a:bodyPr/>
                    <a:lstStyle/>
                    <a:p>
                      <a:pPr>
                        <a:buNone/>
                      </a:pPr>
                      <a:r>
                        <a:rPr lang="en-US" altLang="zh-CN" sz="2400" b="1">
                          <a:solidFill>
                            <a:srgbClr val="FF0000"/>
                          </a:solidFill>
                          <a:ea typeface="楷体" panose="02010609060101010101" charset="-122"/>
                          <a:cs typeface="+mn-lt"/>
                          <a:sym typeface="+mn-ea"/>
                        </a:rPr>
                        <a:t>Orders (</a:t>
                      </a:r>
                      <a:r>
                        <a:rPr lang="zh-CN" altLang="en-US" sz="2400" b="1">
                          <a:solidFill>
                            <a:srgbClr val="FF0000"/>
                          </a:solidFill>
                          <a:ea typeface="楷体" panose="02010609060101010101" charset="-122"/>
                          <a:cs typeface="+mn-lt"/>
                          <a:sym typeface="+mn-ea"/>
                        </a:rPr>
                        <a:t>ordno,</a:t>
                      </a:r>
                      <a:r>
                        <a:rPr lang="en-US" altLang="zh-CN" sz="2400" b="1">
                          <a:solidFill>
                            <a:srgbClr val="FF0000"/>
                          </a:solidFill>
                          <a:ea typeface="楷体" panose="02010609060101010101" charset="-122"/>
                          <a:cs typeface="+mn-lt"/>
                          <a:sym typeface="+mn-ea"/>
                        </a:rPr>
                        <a:t>month</a:t>
                      </a:r>
                      <a:r>
                        <a:rPr lang="zh-CN" altLang="en-US" sz="2400" b="1">
                          <a:solidFill>
                            <a:srgbClr val="FF0000"/>
                          </a:solidFill>
                          <a:ea typeface="楷体" panose="02010609060101010101" charset="-122"/>
                          <a:cs typeface="+mn-lt"/>
                          <a:sym typeface="+mn-ea"/>
                        </a:rPr>
                        <a:t>,cid,aid,pid,qty,dol</a:t>
                      </a:r>
                      <a:r>
                        <a:rPr lang="en-US" altLang="zh-CN" sz="2400" b="1">
                          <a:solidFill>
                            <a:srgbClr val="FF0000"/>
                          </a:solidFill>
                          <a:ea typeface="楷体" panose="02010609060101010101" charset="-122"/>
                          <a:cs typeface="+mn-lt"/>
                          <a:sym typeface="+mn-ea"/>
                        </a:rPr>
                        <a:t>lar</a:t>
                      </a:r>
                      <a:r>
                        <a:rPr lang="zh-CN" altLang="en-US" sz="2400" b="1">
                          <a:solidFill>
                            <a:srgbClr val="FF0000"/>
                          </a:solidFill>
                          <a:ea typeface="楷体" panose="02010609060101010101" charset="-122"/>
                          <a:cs typeface="+mn-lt"/>
                          <a:sym typeface="+mn-ea"/>
                        </a:rPr>
                        <a:t>s</a:t>
                      </a:r>
                      <a:r>
                        <a:rPr lang="en-US" altLang="zh-CN" sz="2400" b="1">
                          <a:solidFill>
                            <a:srgbClr val="FF0000"/>
                          </a:solidFill>
                          <a:ea typeface="楷体" panose="02010609060101010101" charset="-122"/>
                          <a:cs typeface="+mn-lt"/>
                          <a:sym typeface="+mn-ea"/>
                        </a:rPr>
                        <a:t>)</a:t>
                      </a:r>
                      <a:endParaRPr lang="zh-CN" altLang="en-US" sz="2400" b="1">
                        <a:solidFill>
                          <a:srgbClr val="FF0000"/>
                        </a:solidFill>
                        <a:ea typeface="楷体" panose="02010609060101010101" charset="-122"/>
                        <a:cs typeface="+mn-lt"/>
                        <a:sym typeface="+mn-ea"/>
                      </a:endParaRPr>
                    </a:p>
                  </a:txBody>
                  <a:tcPr anchor="ctr">
                    <a:lnL w="9525" cmpd="sng">
                      <a:solidFill>
                        <a:schemeClr val="tx1"/>
                      </a:solidFill>
                      <a:prstDash val="solid"/>
                    </a:lnL>
                    <a:lnR w="19050" cmpd="sng">
                      <a:solidFill>
                        <a:schemeClr val="tx1"/>
                      </a:solidFill>
                      <a:prstDash val="solid"/>
                    </a:lnR>
                    <a:lnT w="9525" cmpd="sng">
                      <a:solidFill>
                        <a:schemeClr val="tx1"/>
                      </a:solidFill>
                      <a:prstDash val="solid"/>
                    </a:lnT>
                    <a:lnB w="19050" cmpd="sng">
                      <a:solidFill>
                        <a:schemeClr val="tx1"/>
                      </a:solidFill>
                      <a:prstDash val="solid"/>
                    </a:lnB>
                    <a:solidFill>
                      <a:schemeClr val="accent1">
                        <a:tint val="20000"/>
                        <a:alpha val="5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solidFill>
            <a:schemeClr val="accent1">
              <a:lumMod val="20000"/>
              <a:lumOff val="80000"/>
              <a:alpha val="50000"/>
            </a:schemeClr>
          </a:solidFill>
        </p:spPr>
        <p:txBody>
          <a:bodyPr wrap="square">
            <a:noAutofit/>
          </a:bodyPr>
          <a:lstStyle/>
          <a:p>
            <a:pPr algn="ctr"/>
            <a:r>
              <a:rPr lang="en-US" altLang="zh-CN" sz="2400">
                <a:sym typeface="+mn-ea"/>
              </a:rPr>
              <a:t>MyCAP</a:t>
            </a:r>
            <a:r>
              <a:rPr lang="zh-CN" altLang="en-US" sz="2400">
                <a:sym typeface="+mn-ea"/>
              </a:rPr>
              <a:t>数据库</a:t>
            </a:r>
            <a:r>
              <a:rPr lang="en-US" altLang="zh-CN" sz="2400">
                <a:sym typeface="+mn-ea"/>
              </a:rPr>
              <a:t> 2</a:t>
            </a:r>
            <a:endParaRPr lang="en-US" altLang="x-none" sz="2400" dirty="0">
              <a:solidFill>
                <a:schemeClr val="tx1"/>
              </a:solidFill>
              <a:sym typeface="+mn-ea"/>
            </a:endParaRPr>
          </a:p>
        </p:txBody>
      </p:sp>
      <p:graphicFrame>
        <p:nvGraphicFramePr>
          <p:cNvPr id="100357" name="表格 100356"/>
          <p:cNvGraphicFramePr/>
          <p:nvPr>
            <p:custDataLst>
              <p:tags r:id="rId1"/>
            </p:custDataLst>
          </p:nvPr>
        </p:nvGraphicFramePr>
        <p:xfrm>
          <a:off x="424180" y="1128395"/>
          <a:ext cx="4572000" cy="2194560"/>
        </p:xfrm>
        <a:graphic>
          <a:graphicData uri="http://schemas.openxmlformats.org/drawingml/2006/table">
            <a:tbl>
              <a:tblPr/>
              <a:tblGrid>
                <a:gridCol w="831215">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497965">
                  <a:extLst>
                    <a:ext uri="{9D8B030D-6E8A-4147-A177-3AD203B41FA5}">
                      <a16:colId xmlns:a16="http://schemas.microsoft.com/office/drawing/2014/main" val="20002"/>
                    </a:ext>
                  </a:extLst>
                </a:gridCol>
                <a:gridCol w="1125220">
                  <a:extLst>
                    <a:ext uri="{9D8B030D-6E8A-4147-A177-3AD203B41FA5}">
                      <a16:colId xmlns:a16="http://schemas.microsoft.com/office/drawing/2014/main" val="20003"/>
                    </a:ext>
                  </a:extLst>
                </a:gridCol>
              </a:tblGrid>
              <a:tr h="365760">
                <a:tc>
                  <a:txBody>
                    <a:bodyPr/>
                    <a:lstStyle/>
                    <a:p>
                      <a:pPr marL="0" lvl="0" indent="0" algn="ctr" eaLnBrk="1" hangingPunct="1">
                        <a:buFont typeface="Wingdings" panose="05000000000000000000" pitchFamily="2" charset="2"/>
                        <a:buNone/>
                      </a:pPr>
                      <a:r>
                        <a:rPr lang="en-US" altLang="x-none" sz="2400" u="sng" dirty="0">
                          <a:solidFill>
                            <a:srgbClr val="FF0000"/>
                          </a:solidFill>
                        </a:rPr>
                        <a:t>cid</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cname</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city</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discnt</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c001</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TipTop</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Duluth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c002</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Basics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Dallas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12.00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c003</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Allied</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Dallas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8.00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c004</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ACME</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Duluth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8.00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c006</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ACME</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Kyoto</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0.00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1417" name="Text Box 40"/>
          <p:cNvSpPr txBox="1"/>
          <p:nvPr>
            <p:custDataLst>
              <p:tags r:id="rId2"/>
            </p:custDataLst>
          </p:nvPr>
        </p:nvSpPr>
        <p:spPr>
          <a:xfrm>
            <a:off x="424475" y="687070"/>
            <a:ext cx="2667000" cy="441325"/>
          </a:xfrm>
          <a:prstGeom prst="rect">
            <a:avLst/>
          </a:prstGeom>
          <a:noFill/>
          <a:ln w="9525">
            <a:noFill/>
          </a:ln>
        </p:spPr>
        <p:txBody>
          <a:bodyPr tIns="36195" bIns="36195" anchor="t">
            <a:noAutofit/>
          </a:bodyPr>
          <a:lstStyle/>
          <a:p>
            <a:pPr>
              <a:spcBef>
                <a:spcPct val="50000"/>
              </a:spcBef>
            </a:pPr>
            <a:r>
              <a:rPr lang="en-US" altLang="x-none" sz="2400" dirty="0">
                <a:latin typeface="Calibri" panose="020F0502020204030204" charset="0"/>
                <a:ea typeface="宋体" panose="02010600030101010101" pitchFamily="2" charset="-122"/>
                <a:cs typeface="Calibri" panose="020F0502020204030204" charset="0"/>
              </a:rPr>
              <a:t>CUSTOMERS</a:t>
            </a:r>
          </a:p>
        </p:txBody>
      </p:sp>
      <p:graphicFrame>
        <p:nvGraphicFramePr>
          <p:cNvPr id="101381" name="表格 101380"/>
          <p:cNvGraphicFramePr/>
          <p:nvPr>
            <p:custDataLst>
              <p:tags r:id="rId3"/>
            </p:custDataLst>
          </p:nvPr>
        </p:nvGraphicFramePr>
        <p:xfrm>
          <a:off x="424180" y="4024630"/>
          <a:ext cx="4561840" cy="2560320"/>
        </p:xfrm>
        <a:graphic>
          <a:graphicData uri="http://schemas.openxmlformats.org/drawingml/2006/table">
            <a:tbl>
              <a:tblPr/>
              <a:tblGrid>
                <a:gridCol w="843915">
                  <a:extLst>
                    <a:ext uri="{9D8B030D-6E8A-4147-A177-3AD203B41FA5}">
                      <a16:colId xmlns:a16="http://schemas.microsoft.com/office/drawing/2014/main" val="20000"/>
                    </a:ext>
                  </a:extLst>
                </a:gridCol>
                <a:gridCol w="1111250">
                  <a:extLst>
                    <a:ext uri="{9D8B030D-6E8A-4147-A177-3AD203B41FA5}">
                      <a16:colId xmlns:a16="http://schemas.microsoft.com/office/drawing/2014/main" val="20001"/>
                    </a:ext>
                  </a:extLst>
                </a:gridCol>
                <a:gridCol w="1478280">
                  <a:extLst>
                    <a:ext uri="{9D8B030D-6E8A-4147-A177-3AD203B41FA5}">
                      <a16:colId xmlns:a16="http://schemas.microsoft.com/office/drawing/2014/main" val="20002"/>
                    </a:ext>
                  </a:extLst>
                </a:gridCol>
                <a:gridCol w="1128395">
                  <a:extLst>
                    <a:ext uri="{9D8B030D-6E8A-4147-A177-3AD203B41FA5}">
                      <a16:colId xmlns:a16="http://schemas.microsoft.com/office/drawing/2014/main" val="20003"/>
                    </a:ext>
                  </a:extLst>
                </a:gridCol>
              </a:tblGrid>
              <a:tr h="365760">
                <a:tc>
                  <a:txBody>
                    <a:bodyPr/>
                    <a:lstStyle/>
                    <a:p>
                      <a:pPr marL="0" lvl="0" indent="0" algn="ctr" eaLnBrk="1" hangingPunct="1">
                        <a:buFont typeface="Wingdings" panose="05000000000000000000" pitchFamily="2" charset="2"/>
                        <a:buNone/>
                      </a:pPr>
                      <a:r>
                        <a:rPr lang="en-US" altLang="x-none" sz="2400" u="sng" dirty="0">
                          <a:solidFill>
                            <a:srgbClr val="FF0000"/>
                          </a:solidFill>
                        </a:rPr>
                        <a:t>aid</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aname</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city</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percent</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a01</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Smith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New York</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6</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a02</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Jones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Newark</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6</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a03</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Brown</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Tokyo</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7</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a04</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Gray</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New York</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6</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a05</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Otasi</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Duluth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5</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a06</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Smith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Dallas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5</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2446" name="Text Box 45"/>
          <p:cNvSpPr txBox="1"/>
          <p:nvPr>
            <p:custDataLst>
              <p:tags r:id="rId4"/>
            </p:custDataLst>
          </p:nvPr>
        </p:nvSpPr>
        <p:spPr>
          <a:xfrm>
            <a:off x="424475" y="3583305"/>
            <a:ext cx="2398713" cy="441325"/>
          </a:xfrm>
          <a:prstGeom prst="rect">
            <a:avLst/>
          </a:prstGeom>
          <a:noFill/>
          <a:ln w="9525">
            <a:noFill/>
          </a:ln>
        </p:spPr>
        <p:txBody>
          <a:bodyPr tIns="36195" bIns="36195" anchor="t">
            <a:noAutofit/>
          </a:bodyPr>
          <a:lstStyle/>
          <a:p>
            <a:pPr>
              <a:spcBef>
                <a:spcPct val="50000"/>
              </a:spcBef>
            </a:pPr>
            <a:r>
              <a:rPr lang="en-US" altLang="x-none" sz="2400" dirty="0">
                <a:latin typeface="Calibri" panose="020F0502020204030204" charset="0"/>
                <a:ea typeface="宋体" panose="02010600030101010101" pitchFamily="2" charset="-122"/>
                <a:cs typeface="Calibri" panose="020F0502020204030204" charset="0"/>
              </a:rPr>
              <a:t>AGENTS</a:t>
            </a:r>
          </a:p>
        </p:txBody>
      </p:sp>
      <p:graphicFrame>
        <p:nvGraphicFramePr>
          <p:cNvPr id="102405" name="表格 102404"/>
          <p:cNvGraphicFramePr/>
          <p:nvPr>
            <p:custDataLst>
              <p:tags r:id="rId5"/>
            </p:custDataLst>
          </p:nvPr>
        </p:nvGraphicFramePr>
        <p:xfrm>
          <a:off x="5664200" y="1122045"/>
          <a:ext cx="6125210" cy="2926080"/>
        </p:xfrm>
        <a:graphic>
          <a:graphicData uri="http://schemas.openxmlformats.org/drawingml/2006/table">
            <a:tbl>
              <a:tblPr/>
              <a:tblGrid>
                <a:gridCol w="892175">
                  <a:extLst>
                    <a:ext uri="{9D8B030D-6E8A-4147-A177-3AD203B41FA5}">
                      <a16:colId xmlns:a16="http://schemas.microsoft.com/office/drawing/2014/main" val="20000"/>
                    </a:ext>
                  </a:extLst>
                </a:gridCol>
                <a:gridCol w="1272540">
                  <a:extLst>
                    <a:ext uri="{9D8B030D-6E8A-4147-A177-3AD203B41FA5}">
                      <a16:colId xmlns:a16="http://schemas.microsoft.com/office/drawing/2014/main" val="20001"/>
                    </a:ext>
                  </a:extLst>
                </a:gridCol>
                <a:gridCol w="1436370">
                  <a:extLst>
                    <a:ext uri="{9D8B030D-6E8A-4147-A177-3AD203B41FA5}">
                      <a16:colId xmlns:a16="http://schemas.microsoft.com/office/drawing/2014/main" val="20002"/>
                    </a:ext>
                  </a:extLst>
                </a:gridCol>
                <a:gridCol w="1578610">
                  <a:extLst>
                    <a:ext uri="{9D8B030D-6E8A-4147-A177-3AD203B41FA5}">
                      <a16:colId xmlns:a16="http://schemas.microsoft.com/office/drawing/2014/main" val="20003"/>
                    </a:ext>
                  </a:extLst>
                </a:gridCol>
                <a:gridCol w="945515">
                  <a:extLst>
                    <a:ext uri="{9D8B030D-6E8A-4147-A177-3AD203B41FA5}">
                      <a16:colId xmlns:a16="http://schemas.microsoft.com/office/drawing/2014/main" val="20004"/>
                    </a:ext>
                  </a:extLst>
                </a:gridCol>
              </a:tblGrid>
              <a:tr h="365760">
                <a:tc>
                  <a:txBody>
                    <a:bodyPr/>
                    <a:lstStyle/>
                    <a:p>
                      <a:pPr marL="0" lvl="0" indent="0" algn="ctr" eaLnBrk="1" hangingPunct="1">
                        <a:buFont typeface="Wingdings" panose="05000000000000000000" pitchFamily="2" charset="2"/>
                        <a:buNone/>
                      </a:pPr>
                      <a:r>
                        <a:rPr lang="en-US" altLang="x-none" sz="2400" u="sng" dirty="0">
                          <a:solidFill>
                            <a:srgbClr val="FF0000"/>
                          </a:solidFill>
                        </a:rPr>
                        <a:t>pid</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pname</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city</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quantity</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price</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P01</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comb</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Dallas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111400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0.50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p02</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brush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Newark</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203000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0.50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p03</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razor</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Duluth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150600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p04</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pen</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Duluth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125300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p05</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pencil</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Dallas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221400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p06</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folder</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Dallas</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123100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2.00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60">
                <a:tc>
                  <a:txBody>
                    <a:bodyPr/>
                    <a:lstStyle/>
                    <a:p>
                      <a:pPr marL="0" lvl="0" indent="0" algn="ctr" eaLnBrk="1" hangingPunct="1">
                        <a:buFont typeface="Wingdings" panose="05000000000000000000" pitchFamily="2" charset="2"/>
                        <a:buNone/>
                      </a:pPr>
                      <a:r>
                        <a:rPr lang="en-US" altLang="x-none" sz="2400" b="0" dirty="0">
                          <a:solidFill>
                            <a:srgbClr val="0000C8"/>
                          </a:solidFill>
                        </a:rPr>
                        <a:t>p07</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case</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Newark</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100500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03484" name="Text Box 59"/>
          <p:cNvSpPr txBox="1"/>
          <p:nvPr>
            <p:custDataLst>
              <p:tags r:id="rId6"/>
            </p:custDataLst>
          </p:nvPr>
        </p:nvSpPr>
        <p:spPr>
          <a:xfrm>
            <a:off x="5663565" y="666750"/>
            <a:ext cx="2398713" cy="404495"/>
          </a:xfrm>
          <a:prstGeom prst="rect">
            <a:avLst/>
          </a:prstGeom>
          <a:noFill/>
          <a:ln w="9525">
            <a:noFill/>
          </a:ln>
        </p:spPr>
        <p:txBody>
          <a:bodyPr tIns="17780" bIns="17780" anchor="t">
            <a:noAutofit/>
          </a:bodyPr>
          <a:lstStyle/>
          <a:p>
            <a:pPr>
              <a:spcBef>
                <a:spcPct val="50000"/>
              </a:spcBef>
            </a:pPr>
            <a:r>
              <a:rPr lang="en-US" altLang="x-none" sz="2400" dirty="0">
                <a:latin typeface="Calibri" panose="020F0502020204030204" charset="0"/>
                <a:ea typeface="宋体" panose="02010600030101010101" pitchFamily="2" charset="-122"/>
                <a:cs typeface="Calibri" panose="020F0502020204030204" charset="0"/>
              </a:rPr>
              <a:t>PRODUCTS</a:t>
            </a:r>
          </a:p>
        </p:txBody>
      </p:sp>
      <p:graphicFrame>
        <p:nvGraphicFramePr>
          <p:cNvPr id="103429" name="表格 103428"/>
          <p:cNvGraphicFramePr/>
          <p:nvPr>
            <p:custDataLst>
              <p:tags r:id="rId7"/>
            </p:custDataLst>
          </p:nvPr>
        </p:nvGraphicFramePr>
        <p:xfrm>
          <a:off x="5663565" y="4745990"/>
          <a:ext cx="6125845" cy="1828800"/>
        </p:xfrm>
        <a:graphic>
          <a:graphicData uri="http://schemas.openxmlformats.org/drawingml/2006/table">
            <a:tbl>
              <a:tblPr/>
              <a:tblGrid>
                <a:gridCol w="928370">
                  <a:extLst>
                    <a:ext uri="{9D8B030D-6E8A-4147-A177-3AD203B41FA5}">
                      <a16:colId xmlns:a16="http://schemas.microsoft.com/office/drawing/2014/main" val="20000"/>
                    </a:ext>
                  </a:extLst>
                </a:gridCol>
                <a:gridCol w="908050">
                  <a:extLst>
                    <a:ext uri="{9D8B030D-6E8A-4147-A177-3AD203B41FA5}">
                      <a16:colId xmlns:a16="http://schemas.microsoft.com/office/drawing/2014/main" val="20001"/>
                    </a:ext>
                  </a:extLst>
                </a:gridCol>
                <a:gridCol w="803910">
                  <a:extLst>
                    <a:ext uri="{9D8B030D-6E8A-4147-A177-3AD203B41FA5}">
                      <a16:colId xmlns:a16="http://schemas.microsoft.com/office/drawing/2014/main" val="20002"/>
                    </a:ext>
                  </a:extLst>
                </a:gridCol>
                <a:gridCol w="732790">
                  <a:extLst>
                    <a:ext uri="{9D8B030D-6E8A-4147-A177-3AD203B41FA5}">
                      <a16:colId xmlns:a16="http://schemas.microsoft.com/office/drawing/2014/main" val="20003"/>
                    </a:ext>
                  </a:extLst>
                </a:gridCol>
                <a:gridCol w="733425">
                  <a:extLst>
                    <a:ext uri="{9D8B030D-6E8A-4147-A177-3AD203B41FA5}">
                      <a16:colId xmlns:a16="http://schemas.microsoft.com/office/drawing/2014/main" val="20004"/>
                    </a:ext>
                  </a:extLst>
                </a:gridCol>
                <a:gridCol w="866140">
                  <a:extLst>
                    <a:ext uri="{9D8B030D-6E8A-4147-A177-3AD203B41FA5}">
                      <a16:colId xmlns:a16="http://schemas.microsoft.com/office/drawing/2014/main" val="20005"/>
                    </a:ext>
                  </a:extLst>
                </a:gridCol>
                <a:gridCol w="1153160">
                  <a:extLst>
                    <a:ext uri="{9D8B030D-6E8A-4147-A177-3AD203B41FA5}">
                      <a16:colId xmlns:a16="http://schemas.microsoft.com/office/drawing/2014/main" val="20006"/>
                    </a:ext>
                  </a:extLst>
                </a:gridCol>
              </a:tblGrid>
              <a:tr h="337185">
                <a:tc>
                  <a:txBody>
                    <a:bodyPr/>
                    <a:lstStyle/>
                    <a:p>
                      <a:pPr marL="0" lvl="0" indent="0" algn="ctr" eaLnBrk="1" hangingPunct="1">
                        <a:buFont typeface="Wingdings" panose="05000000000000000000" pitchFamily="2" charset="2"/>
                        <a:buNone/>
                      </a:pPr>
                      <a:r>
                        <a:rPr lang="en-US" altLang="x-none" sz="2400" u="sng" dirty="0">
                          <a:solidFill>
                            <a:srgbClr val="FF0000"/>
                          </a:solidFill>
                        </a:rPr>
                        <a:t>ordno</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month</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cid</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aid</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pid</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qty</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buFont typeface="Wingdings" panose="05000000000000000000" pitchFamily="2" charset="2"/>
                        <a:buNone/>
                      </a:pPr>
                      <a:r>
                        <a:rPr lang="en-US" altLang="x-none" sz="2400" dirty="0">
                          <a:solidFill>
                            <a:srgbClr val="FF0000"/>
                          </a:solidFill>
                        </a:rPr>
                        <a:t>dollars</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337185">
                <a:tc>
                  <a:txBody>
                    <a:bodyPr/>
                    <a:lstStyle/>
                    <a:p>
                      <a:pPr marL="0" lvl="0" indent="0" algn="ctr" eaLnBrk="1" hangingPunct="1">
                        <a:buFont typeface="Wingdings" panose="05000000000000000000" pitchFamily="2" charset="2"/>
                        <a:buNone/>
                      </a:pPr>
                      <a:r>
                        <a:rPr lang="en-US" altLang="x-none" sz="2400" b="0" dirty="0">
                          <a:solidFill>
                            <a:srgbClr val="0000C8"/>
                          </a:solidFill>
                        </a:rPr>
                        <a:t>1011</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jan</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c001</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a01</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p01</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450.00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7185">
                <a:tc>
                  <a:txBody>
                    <a:bodyPr/>
                    <a:lstStyle/>
                    <a:p>
                      <a:pPr marL="0" lvl="0" indent="0" algn="ctr" eaLnBrk="1" hangingPunct="1">
                        <a:buFont typeface="Wingdings" panose="05000000000000000000" pitchFamily="2" charset="2"/>
                        <a:buNone/>
                      </a:pPr>
                      <a:r>
                        <a:rPr lang="en-US" altLang="x-none" sz="2400" b="0" dirty="0">
                          <a:solidFill>
                            <a:srgbClr val="0000C8"/>
                          </a:solidFill>
                        </a:rPr>
                        <a:t>1012</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jan</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c001</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a01</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p01</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1000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450.00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7185">
                <a:tc>
                  <a:txBody>
                    <a:bodyPr/>
                    <a:lstStyle/>
                    <a:p>
                      <a:pPr marL="0" lvl="0" indent="0" algn="ctr" eaLnBrk="1" hangingPunct="1">
                        <a:buFont typeface="Wingdings" panose="05000000000000000000" pitchFamily="2" charset="2"/>
                        <a:buNone/>
                      </a:pPr>
                      <a:r>
                        <a:rPr lang="en-US" altLang="x-none" sz="2400" b="0" dirty="0">
                          <a:solidFill>
                            <a:srgbClr val="0000C8"/>
                          </a:solidFill>
                        </a:rPr>
                        <a:t>1019</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feb</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c001</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a02</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p02</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400</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rPr>
                        <a:t>180.00</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7185">
                <a:tc>
                  <a:txBody>
                    <a:bodyPr/>
                    <a:lstStyle/>
                    <a:p>
                      <a:pPr marL="0" lvl="0" indent="0" algn="ctr" eaLnBrk="1" hangingPunct="1">
                        <a:buFont typeface="Wingdings" panose="05000000000000000000" pitchFamily="2" charset="2"/>
                        <a:buNone/>
                      </a:pPr>
                      <a:r>
                        <a:rPr lang="en-US" altLang="x-none" sz="2400" b="0" dirty="0">
                          <a:solidFill>
                            <a:srgbClr val="0000C8"/>
                          </a:solidFill>
                          <a:latin typeface="Arial" panose="020B0604020202020204" pitchFamily="34" charset="0"/>
                        </a:rPr>
                        <a:t>…</a:t>
                      </a:r>
                    </a:p>
                  </a:txBody>
                  <a:tcPr marL="36195" marR="36195"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latin typeface="Arial" panose="020B0604020202020204" pitchFamily="34" charset="0"/>
                        </a:rPr>
                        <a:t>…</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latin typeface="Arial" panose="020B0604020202020204" pitchFamily="34" charset="0"/>
                        </a:rPr>
                        <a:t>…</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latin typeface="Arial" panose="020B0604020202020204" pitchFamily="34" charset="0"/>
                        </a:rPr>
                        <a:t>…</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latin typeface="Arial" panose="020B0604020202020204" pitchFamily="34" charset="0"/>
                        </a:rPr>
                        <a:t>…</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latin typeface="Arial" panose="020B0604020202020204" pitchFamily="34" charset="0"/>
                        </a:rPr>
                        <a:t>…</a:t>
                      </a:r>
                    </a:p>
                  </a:txBody>
                  <a:tcPr marL="36195" marR="36195"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buFont typeface="Wingdings" panose="05000000000000000000" pitchFamily="2" charset="2"/>
                        <a:buNone/>
                      </a:pPr>
                      <a:r>
                        <a:rPr lang="en-US" altLang="x-none" sz="2400" b="0" dirty="0">
                          <a:solidFill>
                            <a:srgbClr val="0000C8"/>
                          </a:solidFill>
                          <a:latin typeface="Arial" panose="020B0604020202020204" pitchFamily="34" charset="0"/>
                        </a:rPr>
                        <a:t>…</a:t>
                      </a:r>
                    </a:p>
                  </a:txBody>
                  <a:tcPr marL="36195" marR="36195"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4526" name="Text Box 77"/>
          <p:cNvSpPr txBox="1"/>
          <p:nvPr>
            <p:custDataLst>
              <p:tags r:id="rId8"/>
            </p:custDataLst>
          </p:nvPr>
        </p:nvSpPr>
        <p:spPr>
          <a:xfrm>
            <a:off x="5663883" y="4341495"/>
            <a:ext cx="1981200" cy="404495"/>
          </a:xfrm>
          <a:prstGeom prst="rect">
            <a:avLst/>
          </a:prstGeom>
          <a:noFill/>
          <a:ln w="9525">
            <a:noFill/>
          </a:ln>
        </p:spPr>
        <p:txBody>
          <a:bodyPr tIns="17780" bIns="17780" anchor="t">
            <a:noAutofit/>
          </a:bodyPr>
          <a:lstStyle/>
          <a:p>
            <a:pPr algn="l">
              <a:spcBef>
                <a:spcPct val="50000"/>
              </a:spcBef>
            </a:pPr>
            <a:r>
              <a:rPr lang="en-US" altLang="x-none" sz="2400" dirty="0">
                <a:latin typeface="Calibri" panose="020F0502020204030204" charset="0"/>
                <a:ea typeface="宋体" panose="02010600030101010101" pitchFamily="2" charset="-122"/>
                <a:cs typeface="Calibri" panose="020F0502020204030204" charset="0"/>
              </a:rPr>
              <a:t>ORDERS</a:t>
            </a:r>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49</a:t>
            </a:fld>
            <a:endParaRPr lang="zh-CN" altLang="en-US"/>
          </a:p>
        </p:txBody>
      </p:sp>
      <p:sp>
        <p:nvSpPr>
          <p:cNvPr id="3" name="页脚占位符 2"/>
          <p:cNvSpPr>
            <a:spLocks noGrp="1"/>
          </p:cNvSpPr>
          <p:nvPr>
            <p:ph type="ftr" sz="quarter" idx="11"/>
          </p:nvPr>
        </p:nvSpPr>
        <p:spPr>
          <a:xfrm>
            <a:off x="0" y="6695365"/>
            <a:ext cx="4114800" cy="153670"/>
          </a:xfrm>
        </p:spPr>
        <p:txBody>
          <a:bodyPr/>
          <a:lstStyle/>
          <a:p>
            <a:r>
              <a:rPr lang="zh-CN" altLang="en-US"/>
              <a:t>ch02_2_关系代数基本运算</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a:sym typeface="+mn-ea"/>
              </a:rPr>
              <a:t>基本运算的查询语义</a:t>
            </a:r>
          </a:p>
        </p:txBody>
      </p:sp>
      <p:sp>
        <p:nvSpPr>
          <p:cNvPr id="7" name="内容占位符 6"/>
          <p:cNvSpPr>
            <a:spLocks noGrp="1"/>
          </p:cNvSpPr>
          <p:nvPr>
            <p:ph idx="1"/>
          </p:nvPr>
        </p:nvSpPr>
        <p:spPr>
          <a:xfrm>
            <a:off x="424180" y="687070"/>
            <a:ext cx="11343005" cy="497205"/>
          </a:xfrm>
        </p:spPr>
        <p:txBody>
          <a:bodyPr>
            <a:noAutofit/>
          </a:bodyPr>
          <a:lstStyle/>
          <a:p>
            <a:pPr marL="0" indent="0">
              <a:buNone/>
            </a:pPr>
            <a:r>
              <a:rPr lang="zh-CN" altLang="en-US" sz="2400">
                <a:solidFill>
                  <a:srgbClr val="C00000"/>
                </a:solidFill>
              </a:rPr>
              <a:t>【复习思考题</a:t>
            </a:r>
            <a:r>
              <a:rPr lang="en-US" altLang="zh-CN" sz="2400">
                <a:solidFill>
                  <a:srgbClr val="C00000"/>
                </a:solidFill>
              </a:rPr>
              <a:t>20</a:t>
            </a:r>
            <a:r>
              <a:rPr lang="zh-CN" altLang="en-US" sz="2400">
                <a:solidFill>
                  <a:srgbClr val="C00000"/>
                </a:solidFill>
              </a:rPr>
              <a:t>】</a:t>
            </a:r>
            <a:r>
              <a:rPr lang="zh-CN" altLang="en-US" sz="2400">
                <a:cs typeface="Times New Roman" panose="02020603050405020304" charset="0"/>
                <a:sym typeface="+mn-ea"/>
              </a:rPr>
              <a:t>公司产品零售数据库，其关系模式如下</a:t>
            </a:r>
            <a:r>
              <a:rPr lang="en-US" altLang="zh-CN" sz="2400" u="sng">
                <a:cs typeface="楷体" panose="02010609060101010101" charset="-122"/>
                <a:sym typeface="+mn-ea"/>
              </a:rPr>
              <a:t>(</a:t>
            </a:r>
            <a:r>
              <a:rPr lang="zh-CN" altLang="en-US" sz="2400" u="sng">
                <a:cs typeface="楷体" panose="02010609060101010101" charset="-122"/>
                <a:sym typeface="+mn-ea"/>
              </a:rPr>
              <a:t>带下划线的属性是码</a:t>
            </a:r>
            <a:r>
              <a:rPr lang="en-US" altLang="zh-CN" sz="2400" u="sng">
                <a:cs typeface="楷体" panose="02010609060101010101" charset="-122"/>
                <a:sym typeface="+mn-ea"/>
              </a:rPr>
              <a:t>)</a:t>
            </a:r>
            <a:r>
              <a:rPr lang="zh-CN" altLang="en-US" sz="2400">
                <a:cs typeface="Times New Roman" panose="02020603050405020304" charset="0"/>
                <a:sym typeface="+mn-ea"/>
              </a:rPr>
              <a:t>：</a:t>
            </a:r>
            <a:endParaRPr lang="zh-CN" altLang="en-US" sz="2400"/>
          </a:p>
        </p:txBody>
      </p:sp>
      <p:graphicFrame>
        <p:nvGraphicFramePr>
          <p:cNvPr id="4" name="表格 3"/>
          <p:cNvGraphicFramePr/>
          <p:nvPr>
            <p:custDataLst>
              <p:tags r:id="rId1"/>
            </p:custDataLst>
          </p:nvPr>
        </p:nvGraphicFramePr>
        <p:xfrm>
          <a:off x="424180" y="1219835"/>
          <a:ext cx="11342370" cy="891540"/>
        </p:xfrm>
        <a:graphic>
          <a:graphicData uri="http://schemas.openxmlformats.org/drawingml/2006/table">
            <a:tbl>
              <a:tblPr firstRow="1" bandRow="1">
                <a:tableStyleId>{5C22544A-7EE6-4342-B048-85BDC9FD1C3A}</a:tableStyleId>
              </a:tblPr>
              <a:tblGrid>
                <a:gridCol w="4815840">
                  <a:extLst>
                    <a:ext uri="{9D8B030D-6E8A-4147-A177-3AD203B41FA5}">
                      <a16:colId xmlns:a16="http://schemas.microsoft.com/office/drawing/2014/main" val="20000"/>
                    </a:ext>
                  </a:extLst>
                </a:gridCol>
                <a:gridCol w="6526530">
                  <a:extLst>
                    <a:ext uri="{9D8B030D-6E8A-4147-A177-3AD203B41FA5}">
                      <a16:colId xmlns:a16="http://schemas.microsoft.com/office/drawing/2014/main" val="20001"/>
                    </a:ext>
                  </a:extLst>
                </a:gridCol>
              </a:tblGrid>
              <a:tr h="445770">
                <a:tc>
                  <a:txBody>
                    <a:bodyPr/>
                    <a:lstStyle/>
                    <a:p>
                      <a:pPr algn="l">
                        <a:buNone/>
                      </a:pP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customers (</a:t>
                      </a:r>
                      <a:r>
                        <a:rPr lang="zh-CN" altLang="en-US" sz="2200" b="1">
                          <a:solidFill>
                            <a:srgbClr val="1F2DA8"/>
                          </a:solidFill>
                          <a:latin typeface="Times New Roman" panose="02020603050405020304" charset="0"/>
                          <a:ea typeface="楷体" panose="02010609060101010101" charset="-122"/>
                          <a:cs typeface="Times New Roman" panose="02020603050405020304" charset="0"/>
                          <a:sym typeface="+mn-ea"/>
                        </a:rPr>
                        <a:t>cid, cname, city, discnt</a:t>
                      </a: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 products (</a:t>
                      </a:r>
                      <a:r>
                        <a:rPr lang="zh-CN" altLang="en-US" sz="2200" b="1">
                          <a:solidFill>
                            <a:srgbClr val="1F2DA8"/>
                          </a:solidFill>
                          <a:latin typeface="Times New Roman" panose="02020603050405020304" charset="0"/>
                          <a:ea typeface="楷体" panose="02010609060101010101" charset="-122"/>
                          <a:cs typeface="Times New Roman" panose="02020603050405020304" charset="0"/>
                          <a:sym typeface="+mn-ea"/>
                        </a:rPr>
                        <a:t>pid, pname, city, </a:t>
                      </a: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quantity</a:t>
                      </a:r>
                      <a:r>
                        <a:rPr lang="zh-CN" altLang="en-US" sz="2200" b="1">
                          <a:solidFill>
                            <a:srgbClr val="1F2DA8"/>
                          </a:solidFill>
                          <a:latin typeface="Times New Roman" panose="02020603050405020304" charset="0"/>
                          <a:ea typeface="楷体" panose="02010609060101010101" charset="-122"/>
                          <a:cs typeface="Times New Roman" panose="02020603050405020304" charset="0"/>
                          <a:sym typeface="+mn-ea"/>
                        </a:rPr>
                        <a:t>, price</a:t>
                      </a: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445770">
                <a:tc>
                  <a:txBody>
                    <a:bodyPr/>
                    <a:lstStyle/>
                    <a:p>
                      <a:pPr algn="l">
                        <a:buNone/>
                      </a:pP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agents (</a:t>
                      </a:r>
                      <a:r>
                        <a:rPr lang="zh-CN" altLang="en-US" sz="2200" b="1">
                          <a:solidFill>
                            <a:srgbClr val="1F2DA8"/>
                          </a:solidFill>
                          <a:latin typeface="Times New Roman" panose="02020603050405020304" charset="0"/>
                          <a:ea typeface="楷体" panose="02010609060101010101" charset="-122"/>
                          <a:cs typeface="Times New Roman" panose="02020603050405020304" charset="0"/>
                          <a:sym typeface="+mn-ea"/>
                        </a:rPr>
                        <a:t>aid, aname, city</a:t>
                      </a: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 percent)</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orders(</a:t>
                      </a:r>
                      <a:r>
                        <a:rPr lang="zh-CN" altLang="en-US" sz="2200" b="1">
                          <a:solidFill>
                            <a:srgbClr val="1F2DA8"/>
                          </a:solidFill>
                          <a:latin typeface="Times New Roman" panose="02020603050405020304" charset="0"/>
                          <a:ea typeface="楷体" panose="02010609060101010101" charset="-122"/>
                          <a:cs typeface="Times New Roman" panose="02020603050405020304" charset="0"/>
                          <a:sym typeface="+mn-ea"/>
                        </a:rPr>
                        <a:t>ordno, </a:t>
                      </a: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month</a:t>
                      </a:r>
                      <a:r>
                        <a:rPr lang="zh-CN" altLang="en-US" sz="2200" b="1">
                          <a:solidFill>
                            <a:srgbClr val="1F2DA8"/>
                          </a:solidFill>
                          <a:latin typeface="Times New Roman" panose="02020603050405020304" charset="0"/>
                          <a:ea typeface="楷体" panose="02010609060101010101" charset="-122"/>
                          <a:cs typeface="Times New Roman" panose="02020603050405020304" charset="0"/>
                          <a:sym typeface="+mn-ea"/>
                        </a:rPr>
                        <a:t>, cid, aid, pid, qty, dol</a:t>
                      </a: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lar</a:t>
                      </a:r>
                      <a:r>
                        <a:rPr lang="zh-CN" altLang="en-US" sz="2200" b="1">
                          <a:solidFill>
                            <a:srgbClr val="1F2DA8"/>
                          </a:solidFill>
                          <a:latin typeface="Times New Roman" panose="02020603050405020304" charset="0"/>
                          <a:ea typeface="楷体" panose="02010609060101010101" charset="-122"/>
                          <a:cs typeface="Times New Roman" panose="02020603050405020304" charset="0"/>
                          <a:sym typeface="+mn-ea"/>
                        </a:rPr>
                        <a:t>s</a:t>
                      </a:r>
                      <a:r>
                        <a:rPr lang="en-US" altLang="zh-CN" sz="2200" b="1">
                          <a:solidFill>
                            <a:srgbClr val="1F2DA8"/>
                          </a:solidFill>
                          <a:latin typeface="Times New Roman" panose="02020603050405020304" charset="0"/>
                          <a:ea typeface="楷体" panose="02010609060101010101" charset="-122"/>
                          <a:cs typeface="Times New Roman" panose="02020603050405020304" charset="0"/>
                          <a:sym typeface="+mn-ea"/>
                        </a:rPr>
                        <a:t>)</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bl>
          </a:graphicData>
        </a:graphic>
      </p:graphicFrame>
      <p:sp>
        <p:nvSpPr>
          <p:cNvPr id="6" name="文本框 5"/>
          <p:cNvSpPr txBox="1"/>
          <p:nvPr/>
        </p:nvSpPr>
        <p:spPr>
          <a:xfrm>
            <a:off x="424180" y="2160270"/>
            <a:ext cx="11343005" cy="829945"/>
          </a:xfrm>
          <a:prstGeom prst="rect">
            <a:avLst/>
          </a:prstGeom>
          <a:noFill/>
        </p:spPr>
        <p:txBody>
          <a:bodyPr wrap="square" rtlCol="0">
            <a:noAutofit/>
          </a:bodyPr>
          <a:lstStyle/>
          <a:p>
            <a:pPr indent="480695">
              <a:lnSpc>
                <a:spcPct val="100000"/>
              </a:lnSpc>
              <a:spcBef>
                <a:spcPts val="0"/>
              </a:spcBef>
              <a:spcAft>
                <a:spcPts val="0"/>
              </a:spcAft>
              <a:buNone/>
            </a:pPr>
            <a:r>
              <a:rPr lang="en-US" altLang="zh-CN" sz="2400" b="1">
                <a:solidFill>
                  <a:srgbClr val="1F2DA8"/>
                </a:solidFill>
                <a:latin typeface="楷体" panose="02010609060101010101" charset="-122"/>
                <a:ea typeface="楷体" panose="02010609060101010101" charset="-122"/>
                <a:cs typeface="楷体" panose="02010609060101010101" charset="-122"/>
              </a:rPr>
              <a:t> </a:t>
            </a:r>
            <a:r>
              <a:rPr lang="zh-CN" altLang="en-US" sz="2400" b="1">
                <a:solidFill>
                  <a:srgbClr val="1F2DA8"/>
                </a:solidFill>
                <a:latin typeface="楷体" panose="02010609060101010101" charset="-122"/>
                <a:ea typeface="楷体" panose="02010609060101010101" charset="-122"/>
                <a:cs typeface="楷体" panose="02010609060101010101" charset="-122"/>
              </a:rPr>
              <a:t>在下述六组关系代数查询表达式中，请分析他们各自查询的目标对象、查询语义和结果集的相互关系。</a:t>
            </a:r>
          </a:p>
        </p:txBody>
      </p:sp>
      <p:graphicFrame>
        <p:nvGraphicFramePr>
          <p:cNvPr id="31" name="表格 30"/>
          <p:cNvGraphicFramePr/>
          <p:nvPr>
            <p:custDataLst>
              <p:tags r:id="rId2"/>
            </p:custDataLst>
          </p:nvPr>
        </p:nvGraphicFramePr>
        <p:xfrm>
          <a:off x="165735" y="3039110"/>
          <a:ext cx="11601450" cy="3345180"/>
        </p:xfrm>
        <a:graphic>
          <a:graphicData uri="http://schemas.openxmlformats.org/drawingml/2006/table">
            <a:tbl>
              <a:tblPr firstRow="1" bandRow="1">
                <a:tableStyleId>{5C22544A-7EE6-4342-B048-85BDC9FD1C3A}</a:tableStyleId>
              </a:tblPr>
              <a:tblGrid>
                <a:gridCol w="934720">
                  <a:extLst>
                    <a:ext uri="{9D8B030D-6E8A-4147-A177-3AD203B41FA5}">
                      <a16:colId xmlns:a16="http://schemas.microsoft.com/office/drawing/2014/main" val="20000"/>
                    </a:ext>
                  </a:extLst>
                </a:gridCol>
                <a:gridCol w="5333365">
                  <a:extLst>
                    <a:ext uri="{9D8B030D-6E8A-4147-A177-3AD203B41FA5}">
                      <a16:colId xmlns:a16="http://schemas.microsoft.com/office/drawing/2014/main" val="20001"/>
                    </a:ext>
                  </a:extLst>
                </a:gridCol>
                <a:gridCol w="5333365">
                  <a:extLst>
                    <a:ext uri="{9D8B030D-6E8A-4147-A177-3AD203B41FA5}">
                      <a16:colId xmlns:a16="http://schemas.microsoft.com/office/drawing/2014/main" val="20002"/>
                    </a:ext>
                  </a:extLst>
                </a:gridCol>
              </a:tblGrid>
              <a:tr h="557530">
                <a:tc>
                  <a:txBody>
                    <a:bodyPr/>
                    <a:lstStyle/>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1</a:t>
                      </a:r>
                      <a:r>
                        <a:rPr lang="zh-CN" altLang="en-US" sz="2000" b="1">
                          <a:solidFill>
                            <a:schemeClr val="tx1"/>
                          </a:solidFill>
                          <a:latin typeface="Times New Roman" panose="02020603050405020304" charset="0"/>
                          <a:ea typeface="楷体" panose="02010609060101010101" charset="-122"/>
                        </a:rPr>
                        <a:t>组</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1</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2</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chemeClr val="accent6"/>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557530">
                <a:tc>
                  <a:txBody>
                    <a:bodyPr/>
                    <a:lstStyle/>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2</a:t>
                      </a:r>
                      <a:r>
                        <a:rPr lang="zh-CN" altLang="en-US" sz="2000" b="1">
                          <a:solidFill>
                            <a:schemeClr val="tx1"/>
                          </a:solidFill>
                          <a:latin typeface="Times New Roman" panose="02020603050405020304" charset="0"/>
                          <a:ea typeface="楷体" panose="02010609060101010101" charset="-122"/>
                        </a:rPr>
                        <a:t>组</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3</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4</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557530">
                <a:tc>
                  <a:txBody>
                    <a:bodyPr/>
                    <a:lstStyle/>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3</a:t>
                      </a:r>
                      <a:r>
                        <a:rPr lang="zh-CN" altLang="en-US" sz="2000" b="1">
                          <a:solidFill>
                            <a:schemeClr val="tx1"/>
                          </a:solidFill>
                          <a:latin typeface="Times New Roman" panose="02020603050405020304" charset="0"/>
                          <a:ea typeface="楷体" panose="02010609060101010101" charset="-122"/>
                        </a:rPr>
                        <a:t>组</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5</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  </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6</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chemeClr val="accent6"/>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  </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557530">
                <a:tc>
                  <a:txBody>
                    <a:bodyPr/>
                    <a:lstStyle/>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4</a:t>
                      </a:r>
                      <a:r>
                        <a:rPr lang="zh-CN" altLang="en-US" sz="2000" b="1">
                          <a:solidFill>
                            <a:schemeClr val="tx1"/>
                          </a:solidFill>
                          <a:latin typeface="Times New Roman" panose="02020603050405020304" charset="0"/>
                          <a:ea typeface="楷体" panose="02010609060101010101" charset="-122"/>
                        </a:rPr>
                        <a:t>组</a:t>
                      </a:r>
                    </a:p>
                  </a:txBody>
                  <a:tcPr marL="36195" marR="36195"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7</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8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(customers)  </a:t>
                      </a:r>
                      <a:r>
                        <a:rPr lang="en-US" altLang="zh-CN" sz="2000" b="1" spc="8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8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8</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8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(customers)  </a:t>
                      </a:r>
                      <a:r>
                        <a:rPr lang="en-US" altLang="zh-CN" sz="2000" b="1" spc="8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8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r h="557530">
                <a:tc>
                  <a:txBody>
                    <a:bodyPr/>
                    <a:lstStyle/>
                    <a:p>
                      <a:pPr algn="ctr">
                        <a:buNone/>
                      </a:pPr>
                      <a:r>
                        <a:rPr lang="zh-CN" altLang="en-US" sz="2000" b="1">
                          <a:solidFill>
                            <a:schemeClr val="tx1"/>
                          </a:solidFill>
                          <a:latin typeface="Times New Roman" panose="02020603050405020304" charset="0"/>
                          <a:ea typeface="楷体" panose="02010609060101010101" charset="-122"/>
                          <a:sym typeface="+mn-ea"/>
                        </a:rPr>
                        <a:t>第</a:t>
                      </a:r>
                      <a:r>
                        <a:rPr lang="en-US" altLang="zh-CN" sz="2000" b="1">
                          <a:solidFill>
                            <a:schemeClr val="tx1"/>
                          </a:solidFill>
                          <a:latin typeface="Times New Roman" panose="02020603050405020304" charset="0"/>
                          <a:ea typeface="楷体" panose="02010609060101010101" charset="-122"/>
                          <a:sym typeface="+mn-ea"/>
                        </a:rPr>
                        <a:t>5</a:t>
                      </a:r>
                      <a:r>
                        <a:rPr lang="zh-CN" altLang="en-US" sz="2000" b="1">
                          <a:solidFill>
                            <a:schemeClr val="tx1"/>
                          </a:solidFill>
                          <a:latin typeface="Times New Roman" panose="02020603050405020304" charset="0"/>
                          <a:ea typeface="楷体" panose="02010609060101010101" charset="-122"/>
                          <a:sym typeface="+mn-ea"/>
                        </a:rPr>
                        <a:t>组</a:t>
                      </a:r>
                    </a:p>
                  </a:txBody>
                  <a:tcPr marL="36195" marR="36195"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9</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10</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chemeClr val="accent6"/>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4"/>
                  </a:ext>
                </a:extLst>
              </a:tr>
              <a:tr h="557530">
                <a:tc>
                  <a:txBody>
                    <a:bodyPr/>
                    <a:lstStyle/>
                    <a:p>
                      <a:pPr algn="ctr">
                        <a:buNone/>
                      </a:pPr>
                      <a:r>
                        <a:rPr lang="zh-CN" altLang="en-US" sz="2000" b="1">
                          <a:solidFill>
                            <a:schemeClr val="tx1"/>
                          </a:solidFill>
                          <a:latin typeface="Times New Roman" panose="02020603050405020304" charset="0"/>
                          <a:ea typeface="楷体" panose="02010609060101010101" charset="-122"/>
                          <a:sym typeface="+mn-ea"/>
                        </a:rPr>
                        <a:t>第</a:t>
                      </a:r>
                      <a:r>
                        <a:rPr lang="en-US" altLang="zh-CN" sz="2000" b="1">
                          <a:solidFill>
                            <a:schemeClr val="tx1"/>
                          </a:solidFill>
                          <a:latin typeface="Times New Roman" panose="02020603050405020304" charset="0"/>
                          <a:ea typeface="楷体" panose="02010609060101010101" charset="-122"/>
                          <a:sym typeface="+mn-ea"/>
                        </a:rPr>
                        <a:t>6</a:t>
                      </a:r>
                      <a:r>
                        <a:rPr lang="zh-CN" altLang="en-US" sz="2000" b="1">
                          <a:solidFill>
                            <a:schemeClr val="tx1"/>
                          </a:solidFill>
                          <a:latin typeface="Times New Roman" panose="02020603050405020304" charset="0"/>
                          <a:ea typeface="楷体" panose="02010609060101010101" charset="-122"/>
                          <a:sym typeface="+mn-ea"/>
                        </a:rPr>
                        <a:t>组</a:t>
                      </a:r>
                    </a:p>
                  </a:txBody>
                  <a:tcPr marL="36195" marR="36195"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11</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0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12</a:t>
                      </a:r>
                      <a:r>
                        <a:rPr lang="en-US" altLang="zh-CN" sz="20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chemeClr val="accent6"/>
                          </a:solidFill>
                          <a:uFillTx/>
                          <a:latin typeface="Times New Roman" panose="02020603050405020304" charset="0"/>
                          <a:ea typeface="楷体" panose="02010609060101010101" charset="-122"/>
                          <a:cs typeface="Times New Roman" panose="02020603050405020304" charset="0"/>
                          <a:sym typeface="+mn-ea"/>
                        </a:rPr>
                        <a:t>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spc="100"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5"/>
                  </a:ext>
                </a:extLst>
              </a:tr>
            </a:tbl>
          </a:graphicData>
        </a:graphic>
      </p:graphicFrame>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50</a:t>
            </a:fld>
            <a:endParaRPr lang="zh-CN" altLang="en-US"/>
          </a:p>
        </p:txBody>
      </p:sp>
      <p:sp>
        <p:nvSpPr>
          <p:cNvPr id="5" name="页脚占位符 4"/>
          <p:cNvSpPr>
            <a:spLocks noGrp="1"/>
          </p:cNvSpPr>
          <p:nvPr>
            <p:ph type="ftr" sz="quarter" idx="11"/>
          </p:nvPr>
        </p:nvSpPr>
        <p:spPr>
          <a:xfrm>
            <a:off x="0" y="6695365"/>
            <a:ext cx="4114800" cy="153670"/>
          </a:xfrm>
        </p:spPr>
        <p:txBody>
          <a:bodyPr/>
          <a:lstStyle/>
          <a:p>
            <a:r>
              <a:rPr lang="zh-CN" altLang="en-US"/>
              <a:t>ch02_2_关系代数基本运算</a:t>
            </a:r>
          </a:p>
        </p:txBody>
      </p:sp>
    </p:spTree>
  </p:cSld>
  <p:clrMapOvr>
    <a:overrideClrMapping bg1="lt1" tx1="dk1" bg2="lt2" tx2="dk2" accent1="accent1" accent2="accent2" accent3="accent3" accent4="accent4" accent5="accent5" accent6="accent6" hlink="hlink" folHlink="folHlink"/>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思考题（第</a:t>
            </a:r>
            <a:r>
              <a:rPr lang="en-US" altLang="zh-CN">
                <a:sym typeface="+mn-ea"/>
              </a:rPr>
              <a:t>1</a:t>
            </a:r>
            <a:r>
              <a:rPr lang="zh-CN" altLang="en-US">
                <a:sym typeface="+mn-ea"/>
              </a:rPr>
              <a:t>组）</a:t>
            </a:r>
            <a:endParaRPr lang="zh-CN" altLang="en-US"/>
          </a:p>
        </p:txBody>
      </p:sp>
      <p:sp>
        <p:nvSpPr>
          <p:cNvPr id="4" name="页脚占位符 3"/>
          <p:cNvSpPr>
            <a:spLocks noGrp="1"/>
          </p:cNvSpPr>
          <p:nvPr>
            <p:ph type="ftr" sz="quarter" idx="11"/>
          </p:nvPr>
        </p:nvSpPr>
        <p:spPr>
          <a:xfrm>
            <a:off x="0" y="6695365"/>
            <a:ext cx="4114800" cy="153670"/>
          </a:xfrm>
        </p:spPr>
        <p:txBody>
          <a:bodyPr>
            <a:noAutofit/>
          </a:bodyPr>
          <a:lstStyle/>
          <a:p>
            <a:r>
              <a:rPr lang="zh-CN" altLang="en-US"/>
              <a:t>ch02_2_关系代数基本运算</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51</a:t>
            </a:fld>
            <a:endParaRPr lang="zh-CN" altLang="en-US"/>
          </a:p>
        </p:txBody>
      </p:sp>
      <p:sp>
        <p:nvSpPr>
          <p:cNvPr id="14" name="Rectangle 3"/>
          <p:cNvSpPr>
            <a:spLocks noGrp="1"/>
          </p:cNvSpPr>
          <p:nvPr/>
        </p:nvSpPr>
        <p:spPr>
          <a:xfrm>
            <a:off x="431165" y="1343660"/>
            <a:ext cx="11337290" cy="521970"/>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zh-CN" sz="2800" b="1" dirty="0">
                <a:solidFill>
                  <a:srgbClr val="1F2DA8"/>
                </a:solidFill>
                <a:highlight>
                  <a:srgbClr val="FFFF00"/>
                </a:highlight>
                <a:ea typeface="楷体" panose="02010609060101010101" charset="-122"/>
              </a:rPr>
              <a:t>查询</a:t>
            </a:r>
            <a:r>
              <a:rPr lang="zh-CN" altLang="en-US" sz="2800" b="1" dirty="0">
                <a:solidFill>
                  <a:srgbClr val="1F2DA8"/>
                </a:solidFill>
                <a:highlight>
                  <a:srgbClr val="FFFF00"/>
                </a:highlight>
                <a:ea typeface="楷体" panose="02010609060101010101" charset="-122"/>
              </a:rPr>
              <a:t>结果集的语义是什么？</a:t>
            </a:r>
            <a:endParaRPr lang="zh-CN" altLang="en-US" sz="2800" b="1" u="none" baseline="0" dirty="0">
              <a:solidFill>
                <a:srgbClr val="1F2DA8"/>
              </a:solidFill>
              <a:highlight>
                <a:srgbClr val="FFFF00"/>
              </a:highlight>
              <a:ea typeface="楷体" panose="02010609060101010101" charset="-122"/>
            </a:endParaRPr>
          </a:p>
        </p:txBody>
      </p:sp>
      <p:sp>
        <p:nvSpPr>
          <p:cNvPr id="15" name="Rectangle 3"/>
          <p:cNvSpPr>
            <a:spLocks noGrp="1"/>
          </p:cNvSpPr>
          <p:nvPr/>
        </p:nvSpPr>
        <p:spPr>
          <a:xfrm>
            <a:off x="431165" y="2058035"/>
            <a:ext cx="11337290" cy="1209675"/>
          </a:xfrm>
          <a:prstGeom prst="rect">
            <a:avLst/>
          </a:prstGeom>
          <a:noFill/>
          <a:ln w="9525">
            <a:noFill/>
          </a:ln>
        </p:spPr>
        <p:txBody>
          <a:bodyPr wrap="square" anchor="t">
            <a:noAutofit/>
          </a:bodyPr>
          <a:lstStyle/>
          <a:p>
            <a:pPr lvl="1">
              <a:lnSpc>
                <a:spcPct val="100000"/>
              </a:lnSpc>
              <a:spcBef>
                <a:spcPts val="2000"/>
              </a:spcBef>
              <a:spcAft>
                <a:spcPts val="0"/>
              </a:spcAft>
              <a:buClr>
                <a:srgbClr val="CC9900"/>
              </a:buClr>
            </a:pPr>
            <a:r>
              <a:rPr lang="en-US" altLang="x-none" sz="2800" b="1" u="none" baseline="0" dirty="0">
                <a:solidFill>
                  <a:srgbClr val="1F2DA8"/>
                </a:solidFill>
                <a:ea typeface="楷体" panose="02010609060101010101" charset="-122"/>
                <a:cs typeface="Times New Roman" panose="02020603050405020304" charset="0"/>
              </a:rPr>
              <a:t>Q</a:t>
            </a:r>
            <a:r>
              <a:rPr lang="en-US" altLang="x-none" sz="2800" b="1" u="none" baseline="-25000" dirty="0">
                <a:solidFill>
                  <a:srgbClr val="1F2DA8"/>
                </a:solidFill>
                <a:ea typeface="楷体" panose="02010609060101010101" charset="-122"/>
                <a:cs typeface="Times New Roman" panose="02020603050405020304" charset="0"/>
              </a:rPr>
              <a:t>1</a:t>
            </a:r>
            <a:r>
              <a:rPr lang="zh-CN" altLang="en-US" sz="2800" b="1" u="none" baseline="0" dirty="0">
                <a:solidFill>
                  <a:srgbClr val="1F2DA8"/>
                </a:solidFill>
                <a:ea typeface="楷体" panose="02010609060101010101" charset="-122"/>
                <a:cs typeface="Times New Roman" panose="02020603050405020304" charset="0"/>
              </a:rPr>
              <a:t>：</a:t>
            </a:r>
            <a:r>
              <a:rPr lang="en-US" altLang="zh-CN" sz="2800" b="1" u="none" baseline="0" dirty="0">
                <a:solidFill>
                  <a:srgbClr val="1F2DA8"/>
                </a:solidFill>
                <a:ea typeface="楷体" panose="02010609060101010101" charset="-122"/>
                <a:cs typeface="Times New Roman" panose="02020603050405020304" charset="0"/>
              </a:rPr>
              <a:t>p01</a:t>
            </a:r>
            <a:r>
              <a:rPr lang="zh-CN" altLang="en-US" sz="2800" b="1" u="none" baseline="0" dirty="0">
                <a:solidFill>
                  <a:srgbClr val="1F2DA8"/>
                </a:solidFill>
                <a:ea typeface="楷体" panose="02010609060101010101" charset="-122"/>
                <a:cs typeface="Times New Roman" panose="02020603050405020304" charset="0"/>
              </a:rPr>
              <a:t>号商品的所有购买</a:t>
            </a:r>
            <a:r>
              <a:rPr lang="en-US" altLang="zh-CN" sz="2800" b="1" u="none" baseline="0" dirty="0">
                <a:solidFill>
                  <a:srgbClr val="1F2DA8"/>
                </a:solidFill>
                <a:ea typeface="楷体" panose="02010609060101010101" charset="-122"/>
                <a:cs typeface="Times New Roman" panose="02020603050405020304" charset="0"/>
              </a:rPr>
              <a:t> ‘</a:t>
            </a:r>
            <a:r>
              <a:rPr lang="zh-CN" altLang="en-US" sz="2800" b="1" u="none" baseline="0" dirty="0">
                <a:solidFill>
                  <a:srgbClr val="1F2DA8"/>
                </a:solidFill>
                <a:ea typeface="楷体" panose="02010609060101010101" charset="-122"/>
                <a:cs typeface="Times New Roman" panose="02020603050405020304" charset="0"/>
              </a:rPr>
              <a:t>订单</a:t>
            </a:r>
            <a:r>
              <a:rPr lang="en-US" altLang="zh-CN" sz="2800" b="1" u="none" baseline="0" dirty="0">
                <a:solidFill>
                  <a:srgbClr val="1F2DA8"/>
                </a:solidFill>
                <a:ea typeface="楷体" panose="02010609060101010101" charset="-122"/>
                <a:cs typeface="Times New Roman" panose="02020603050405020304" charset="0"/>
              </a:rPr>
              <a:t>’</a:t>
            </a:r>
            <a:endParaRPr lang="zh-CN" altLang="en-US" sz="2800" b="1" u="none" baseline="0" dirty="0">
              <a:solidFill>
                <a:srgbClr val="1F2DA8"/>
              </a:solidFill>
              <a:ea typeface="楷体" panose="02010609060101010101" charset="-122"/>
              <a:cs typeface="Times New Roman" panose="02020603050405020304" charset="0"/>
            </a:endParaRPr>
          </a:p>
          <a:p>
            <a:pPr lvl="1">
              <a:lnSpc>
                <a:spcPct val="100000"/>
              </a:lnSpc>
              <a:spcBef>
                <a:spcPts val="2000"/>
              </a:spcBef>
              <a:spcAft>
                <a:spcPts val="0"/>
              </a:spcAft>
              <a:buClr>
                <a:srgbClr val="CC9900"/>
              </a:buClr>
            </a:pPr>
            <a:r>
              <a:rPr lang="en-US" altLang="zh-CN" sz="2800" b="1" u="none" baseline="0" dirty="0">
                <a:solidFill>
                  <a:srgbClr val="1F2DA8"/>
                </a:solidFill>
                <a:ea typeface="楷体" panose="02010609060101010101" charset="-122"/>
                <a:cs typeface="Times New Roman" panose="02020603050405020304" charset="0"/>
              </a:rPr>
              <a:t>Q</a:t>
            </a:r>
            <a:r>
              <a:rPr lang="en-US" altLang="zh-CN" sz="2800" b="1" u="none" baseline="-25000" dirty="0">
                <a:solidFill>
                  <a:srgbClr val="1F2DA8"/>
                </a:solidFill>
                <a:ea typeface="楷体" panose="02010609060101010101" charset="-122"/>
                <a:cs typeface="Times New Roman" panose="02020603050405020304" charset="0"/>
              </a:rPr>
              <a:t>2</a:t>
            </a:r>
            <a:r>
              <a:rPr lang="zh-CN" altLang="en-US" sz="2800" b="1" u="none" baseline="0" dirty="0">
                <a:solidFill>
                  <a:srgbClr val="1F2DA8"/>
                </a:solidFill>
                <a:ea typeface="楷体" panose="02010609060101010101" charset="-122"/>
                <a:cs typeface="Times New Roman" panose="02020603050405020304" charset="0"/>
              </a:rPr>
              <a:t>：除了</a:t>
            </a:r>
            <a:r>
              <a:rPr lang="en-US" altLang="zh-CN" sz="2800" b="1" u="none" baseline="0" dirty="0">
                <a:solidFill>
                  <a:srgbClr val="1F2DA8"/>
                </a:solidFill>
                <a:ea typeface="楷体" panose="02010609060101010101" charset="-122"/>
                <a:cs typeface="Times New Roman" panose="02020603050405020304" charset="0"/>
              </a:rPr>
              <a:t>p01</a:t>
            </a:r>
            <a:r>
              <a:rPr lang="zh-CN" altLang="en-US" sz="2800" b="1" u="none" baseline="0" dirty="0">
                <a:solidFill>
                  <a:srgbClr val="1F2DA8"/>
                </a:solidFill>
                <a:ea typeface="楷体" panose="02010609060101010101" charset="-122"/>
                <a:cs typeface="Times New Roman" panose="02020603050405020304" charset="0"/>
              </a:rPr>
              <a:t>号商品外，其他所有商品的购买</a:t>
            </a:r>
            <a:r>
              <a:rPr lang="en-US" altLang="zh-CN" sz="2800" b="1" u="none" baseline="0" dirty="0">
                <a:solidFill>
                  <a:srgbClr val="1F2DA8"/>
                </a:solidFill>
                <a:ea typeface="楷体" panose="02010609060101010101" charset="-122"/>
                <a:cs typeface="Times New Roman" panose="02020603050405020304" charset="0"/>
              </a:rPr>
              <a:t> ‘</a:t>
            </a:r>
            <a:r>
              <a:rPr lang="zh-CN" altLang="en-US" sz="2800" b="1" u="none" baseline="0" dirty="0">
                <a:solidFill>
                  <a:srgbClr val="1F2DA8"/>
                </a:solidFill>
                <a:ea typeface="楷体" panose="02010609060101010101" charset="-122"/>
                <a:cs typeface="Times New Roman" panose="02020603050405020304" charset="0"/>
              </a:rPr>
              <a:t>订单</a:t>
            </a:r>
            <a:r>
              <a:rPr lang="en-US" altLang="zh-CN" sz="2800" b="1" u="none" baseline="0" dirty="0">
                <a:solidFill>
                  <a:srgbClr val="1F2DA8"/>
                </a:solidFill>
                <a:ea typeface="楷体" panose="02010609060101010101" charset="-122"/>
                <a:cs typeface="Times New Roman" panose="02020603050405020304" charset="0"/>
              </a:rPr>
              <a:t>’</a:t>
            </a:r>
          </a:p>
        </p:txBody>
      </p:sp>
      <p:sp>
        <p:nvSpPr>
          <p:cNvPr id="16" name="Rectangle 3"/>
          <p:cNvSpPr>
            <a:spLocks noGrp="1"/>
          </p:cNvSpPr>
          <p:nvPr/>
        </p:nvSpPr>
        <p:spPr>
          <a:xfrm>
            <a:off x="431165" y="3811905"/>
            <a:ext cx="11337290" cy="521970"/>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en-US" sz="2800" b="1" dirty="0">
                <a:solidFill>
                  <a:srgbClr val="1F2DA8"/>
                </a:solidFill>
                <a:highlight>
                  <a:srgbClr val="FFFF00"/>
                </a:highlight>
                <a:ea typeface="楷体" panose="02010609060101010101" charset="-122"/>
              </a:rPr>
              <a:t>两个结果集的关系是什么？</a:t>
            </a:r>
            <a:endParaRPr lang="zh-CN" altLang="en-US" sz="2800" b="1" u="none" baseline="0" dirty="0">
              <a:solidFill>
                <a:srgbClr val="1F2DA8"/>
              </a:solidFill>
              <a:highlight>
                <a:srgbClr val="FFFF00"/>
              </a:highlight>
              <a:ea typeface="楷体" panose="02010609060101010101" charset="-122"/>
            </a:endParaRPr>
          </a:p>
        </p:txBody>
      </p:sp>
      <p:sp>
        <p:nvSpPr>
          <p:cNvPr id="19" name="Rectangle 3"/>
          <p:cNvSpPr>
            <a:spLocks noGrp="1"/>
          </p:cNvSpPr>
          <p:nvPr/>
        </p:nvSpPr>
        <p:spPr>
          <a:xfrm>
            <a:off x="431165" y="4531995"/>
            <a:ext cx="11337925" cy="1209675"/>
          </a:xfrm>
          <a:prstGeom prst="rect">
            <a:avLst/>
          </a:prstGeom>
          <a:noFill/>
          <a:ln w="9525">
            <a:noFill/>
          </a:ln>
        </p:spPr>
        <p:txBody>
          <a:bodyPr wrap="square" anchor="t">
            <a:noAutofit/>
          </a:bodyPr>
          <a:lstStyle/>
          <a:p>
            <a:pPr lvl="1">
              <a:lnSpc>
                <a:spcPct val="100000"/>
              </a:lnSpc>
              <a:spcBef>
                <a:spcPts val="2000"/>
              </a:spcBef>
              <a:spcAft>
                <a:spcPts val="0"/>
              </a:spcAft>
              <a:buClr>
                <a:srgbClr val="CC9900"/>
              </a:buClr>
            </a:pPr>
            <a:r>
              <a:rPr lang="en-US" altLang="x-none" sz="2800" b="1" u="none" baseline="0" dirty="0">
                <a:solidFill>
                  <a:srgbClr val="1F2DA8"/>
                </a:solidFill>
                <a:ea typeface="楷体" panose="02010609060101010101" charset="-122"/>
                <a:cs typeface="Times New Roman" panose="02020603050405020304" charset="0"/>
              </a:rPr>
              <a:t>Q</a:t>
            </a:r>
            <a:r>
              <a:rPr lang="en-US" altLang="x-none" sz="2800" b="1" u="none" baseline="-25000" dirty="0">
                <a:solidFill>
                  <a:srgbClr val="1F2DA8"/>
                </a:solidFill>
                <a:ea typeface="楷体" panose="02010609060101010101" charset="-122"/>
                <a:cs typeface="Times New Roman" panose="02020603050405020304" charset="0"/>
              </a:rPr>
              <a:t>1</a:t>
            </a:r>
            <a:r>
              <a:rPr lang="zh-CN" altLang="en-US" sz="2800" b="1" u="none" baseline="0" dirty="0">
                <a:solidFill>
                  <a:srgbClr val="1F2DA8"/>
                </a:solidFill>
                <a:ea typeface="楷体" panose="02010609060101010101" charset="-122"/>
                <a:cs typeface="Times New Roman" panose="02020603050405020304" charset="0"/>
              </a:rPr>
              <a:t> </a:t>
            </a:r>
            <a:r>
              <a:rPr lang="en-US" altLang="zh-CN" sz="2800" b="1" u="none" baseline="0" dirty="0">
                <a:solidFill>
                  <a:srgbClr val="1F2DA8"/>
                </a:solidFill>
                <a:ea typeface="楷体" panose="02010609060101010101" charset="-122"/>
                <a:cs typeface="Times New Roman" panose="02020603050405020304" charset="0"/>
                <a:sym typeface="Symbol" panose="05050102010706020507" charset="0"/>
              </a:rPr>
              <a:t></a:t>
            </a:r>
            <a:r>
              <a:rPr lang="en-US" altLang="zh-CN" sz="2800" b="1" u="none" baseline="0" dirty="0">
                <a:solidFill>
                  <a:srgbClr val="1F2DA8"/>
                </a:solidFill>
                <a:ea typeface="楷体" panose="02010609060101010101" charset="-122"/>
                <a:cs typeface="Times New Roman" panose="02020603050405020304" charset="0"/>
              </a:rPr>
              <a:t> Q</a:t>
            </a:r>
            <a:r>
              <a:rPr lang="en-US" altLang="zh-CN" sz="2800" b="1" u="none" baseline="-25000" dirty="0">
                <a:solidFill>
                  <a:srgbClr val="1F2DA8"/>
                </a:solidFill>
                <a:ea typeface="楷体" panose="02010609060101010101" charset="-122"/>
                <a:cs typeface="Times New Roman" panose="02020603050405020304" charset="0"/>
              </a:rPr>
              <a:t>2</a:t>
            </a:r>
            <a:r>
              <a:rPr lang="en-US" altLang="zh-CN" sz="2800" b="1" u="none" baseline="0" dirty="0">
                <a:solidFill>
                  <a:srgbClr val="1F2DA8"/>
                </a:solidFill>
                <a:ea typeface="楷体" panose="02010609060101010101" charset="-122"/>
                <a:cs typeface="Times New Roman" panose="02020603050405020304" charset="0"/>
              </a:rPr>
              <a:t> = </a:t>
            </a:r>
            <a:r>
              <a:rPr lang="zh-CN" altLang="en-US" sz="2800" b="1" u="none" baseline="0" dirty="0">
                <a:solidFill>
                  <a:srgbClr val="1F2DA8"/>
                </a:solidFill>
                <a:ea typeface="楷体" panose="02010609060101010101" charset="-122"/>
                <a:cs typeface="Times New Roman" panose="02020603050405020304" charset="0"/>
              </a:rPr>
              <a:t>空集</a:t>
            </a:r>
            <a:endParaRPr lang="en-US" altLang="zh-CN" sz="2800" b="1" u="none" baseline="0" dirty="0">
              <a:solidFill>
                <a:srgbClr val="1F2DA8"/>
              </a:solidFill>
              <a:ea typeface="楷体" panose="02010609060101010101" charset="-122"/>
              <a:cs typeface="Times New Roman" panose="02020603050405020304" charset="0"/>
            </a:endParaRPr>
          </a:p>
          <a:p>
            <a:pPr lvl="1">
              <a:lnSpc>
                <a:spcPct val="100000"/>
              </a:lnSpc>
              <a:spcBef>
                <a:spcPts val="2000"/>
              </a:spcBef>
              <a:spcAft>
                <a:spcPts val="0"/>
              </a:spcAft>
              <a:buClr>
                <a:srgbClr val="CC9900"/>
              </a:buClr>
            </a:pPr>
            <a:r>
              <a:rPr lang="en-US" altLang="x-none" sz="2800" b="1" dirty="0">
                <a:solidFill>
                  <a:srgbClr val="1F2DA8"/>
                </a:solidFill>
                <a:ea typeface="楷体" panose="02010609060101010101" charset="-122"/>
                <a:cs typeface="Times New Roman" panose="02020603050405020304" charset="0"/>
                <a:sym typeface="+mn-ea"/>
              </a:rPr>
              <a:t>Q</a:t>
            </a:r>
            <a:r>
              <a:rPr lang="en-US" altLang="x-none" sz="2800" b="1" baseline="-25000" dirty="0">
                <a:solidFill>
                  <a:srgbClr val="1F2DA8"/>
                </a:solidFill>
                <a:ea typeface="楷体" panose="02010609060101010101" charset="-122"/>
                <a:cs typeface="Times New Roman" panose="02020603050405020304" charset="0"/>
                <a:sym typeface="+mn-ea"/>
              </a:rPr>
              <a:t>1</a:t>
            </a:r>
            <a:r>
              <a:rPr lang="zh-CN" altLang="en-US" sz="2800" b="1" dirty="0">
                <a:solidFill>
                  <a:srgbClr val="1F2DA8"/>
                </a:solidFill>
                <a:ea typeface="楷体" panose="02010609060101010101" charset="-122"/>
                <a:cs typeface="Times New Roman" panose="02020603050405020304" charset="0"/>
                <a:sym typeface="+mn-ea"/>
              </a:rPr>
              <a:t> </a:t>
            </a:r>
            <a:r>
              <a:rPr lang="en-US" altLang="zh-CN" sz="2800" b="1" dirty="0">
                <a:solidFill>
                  <a:srgbClr val="1F2DA8"/>
                </a:solidFill>
                <a:ea typeface="楷体" panose="02010609060101010101" charset="-122"/>
                <a:cs typeface="Times New Roman" panose="02020603050405020304" charset="0"/>
                <a:sym typeface="Symbol" panose="05050102010706020507" charset="0"/>
              </a:rPr>
              <a:t></a:t>
            </a:r>
            <a:r>
              <a:rPr lang="en-US" altLang="zh-CN" sz="2800" b="1" dirty="0">
                <a:solidFill>
                  <a:srgbClr val="1F2DA8"/>
                </a:solidFill>
                <a:ea typeface="楷体" panose="02010609060101010101" charset="-122"/>
                <a:cs typeface="Times New Roman" panose="02020603050405020304" charset="0"/>
                <a:sym typeface="+mn-ea"/>
              </a:rPr>
              <a:t> Q</a:t>
            </a:r>
            <a:r>
              <a:rPr lang="en-US" altLang="zh-CN" sz="2800" b="1" baseline="-25000" dirty="0">
                <a:solidFill>
                  <a:srgbClr val="1F2DA8"/>
                </a:solidFill>
                <a:ea typeface="楷体" panose="02010609060101010101" charset="-122"/>
                <a:cs typeface="Times New Roman" panose="02020603050405020304" charset="0"/>
                <a:sym typeface="+mn-ea"/>
              </a:rPr>
              <a:t>2</a:t>
            </a:r>
            <a:r>
              <a:rPr lang="en-US" altLang="zh-CN" sz="2800" b="1" dirty="0">
                <a:solidFill>
                  <a:srgbClr val="1F2DA8"/>
                </a:solidFill>
                <a:ea typeface="楷体" panose="02010609060101010101" charset="-122"/>
                <a:cs typeface="Times New Roman" panose="02020603050405020304" charset="0"/>
                <a:sym typeface="+mn-ea"/>
              </a:rPr>
              <a:t> = Orders</a:t>
            </a:r>
            <a:endParaRPr lang="en-US" altLang="zh-CN" sz="2800" b="1" u="none" baseline="0" dirty="0">
              <a:solidFill>
                <a:srgbClr val="1F2DA8"/>
              </a:solidFill>
              <a:ea typeface="楷体" panose="02010609060101010101" charset="-122"/>
              <a:cs typeface="Times New Roman" panose="02020603050405020304" charset="0"/>
              <a:sym typeface="+mn-ea"/>
            </a:endParaRPr>
          </a:p>
        </p:txBody>
      </p:sp>
      <mc:AlternateContent xmlns:mc="http://schemas.openxmlformats.org/markup-compatibility/2006" xmlns:a14="http://schemas.microsoft.com/office/drawing/2010/main">
        <mc:Choice Requires="a14">
          <p:graphicFrame>
            <p:nvGraphicFramePr>
              <p:cNvPr id="31" name="表格 30"/>
              <p:cNvGraphicFramePr/>
              <p:nvPr>
                <p:custDataLst>
                  <p:tags r:id="rId1"/>
                </p:custDataLst>
              </p:nvPr>
            </p:nvGraphicFramePr>
            <p:xfrm>
              <a:off x="431165" y="614045"/>
              <a:ext cx="11336655" cy="637540"/>
            </p:xfrm>
            <a:graphic>
              <a:graphicData uri="http://schemas.openxmlformats.org/drawingml/2006/table">
                <a:tbl>
                  <a:tblPr firstRow="1" bandRow="1">
                    <a:tableStyleId>{5C22544A-7EE6-4342-B048-85BDC9FD1C3A}</a:tableStyleId>
                  </a:tblPr>
                  <a:tblGrid>
                    <a:gridCol w="962025">
                      <a:extLst>
                        <a:ext uri="{9D8B030D-6E8A-4147-A177-3AD203B41FA5}">
                          <a16:colId xmlns:a16="http://schemas.microsoft.com/office/drawing/2014/main" val="20000"/>
                        </a:ext>
                      </a:extLst>
                    </a:gridCol>
                    <a:gridCol w="5187315">
                      <a:extLst>
                        <a:ext uri="{9D8B030D-6E8A-4147-A177-3AD203B41FA5}">
                          <a16:colId xmlns:a16="http://schemas.microsoft.com/office/drawing/2014/main" val="20001"/>
                        </a:ext>
                      </a:extLst>
                    </a:gridCol>
                    <a:gridCol w="5187315">
                      <a:extLst>
                        <a:ext uri="{9D8B030D-6E8A-4147-A177-3AD203B41FA5}">
                          <a16:colId xmlns:a16="http://schemas.microsoft.com/office/drawing/2014/main" val="20002"/>
                        </a:ext>
                      </a:extLst>
                    </a:gridCol>
                  </a:tblGrid>
                  <a:tr h="637540">
                    <a:tc>
                      <a:txBody>
                        <a:bodyPr/>
                        <a:lstStyle/>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1</a:t>
                          </a:r>
                          <a:r>
                            <a:rPr lang="zh-CN" altLang="en-US" sz="2000" b="1">
                              <a:solidFill>
                                <a:schemeClr val="tx1"/>
                              </a:solidFill>
                              <a:latin typeface="Times New Roman" panose="02020603050405020304" charset="0"/>
                              <a:ea typeface="楷体" panose="02010609060101010101" charset="-122"/>
                            </a:rPr>
                            <a:t>组</a:t>
                          </a:r>
                        </a:p>
                      </a:txBody>
                      <a:tcPr marL="36195" marR="36195" marT="0"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8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1</a:t>
                          </a: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14:m>
                            <m:oMath xmlns:m="http://schemas.openxmlformats.org/officeDocument/2006/math">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a14:m>
                          <a:endParaRPr lang="en-US" altLang="zh-CN" sz="2800" b="1" i="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L="36195" marR="36195" marT="0"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8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2</a:t>
                          </a: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r>
                            <a:rPr lang="en-US" altLang="zh-CN" sz="2800" b="1" spc="100">
                              <a:solidFill>
                                <a:schemeClr val="accent6"/>
                              </a:solidFill>
                              <a:uFillTx/>
                              <a:latin typeface="Times New Roman" panose="02020603050405020304" charset="0"/>
                              <a:ea typeface="楷体" panose="02010609060101010101" charset="-122"/>
                              <a:cs typeface="Times New Roman" panose="02020603050405020304" charset="0"/>
                              <a:sym typeface="+mn-ea"/>
                            </a:rPr>
                            <a:t> </a:t>
                          </a:r>
                          <a14:m>
                            <m:oMath xmlns:m="http://schemas.openxmlformats.org/officeDocument/2006/math">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a14:m>
                          <a:endParaRPr lang="en-US" altLang="zh-CN" sz="2800" b="1" i="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L="36195" marR="36195" marT="0"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mc:Choice>
        <mc:Fallback xmlns="">
          <p:graphicFrame>
            <p:nvGraphicFramePr>
              <p:cNvPr id="31" name="表格 30"/>
              <p:cNvGraphicFramePr/>
              <p:nvPr>
                <p:custDataLst>
                  <p:tags r:id="rId3"/>
                </p:custDataLst>
              </p:nvPr>
            </p:nvGraphicFramePr>
            <p:xfrm>
              <a:off x="431165" y="614045"/>
              <a:ext cx="11336655" cy="637540"/>
            </p:xfrm>
            <a:graphic>
              <a:graphicData uri="http://schemas.openxmlformats.org/drawingml/2006/table">
                <a:tbl>
                  <a:tblPr firstRow="1" bandRow="1">
                    <a:tableStyleId>{5C22544A-7EE6-4342-B048-85BDC9FD1C3A}</a:tableStyleId>
                  </a:tblPr>
                  <a:tblGrid>
                    <a:gridCol w="962025"/>
                    <a:gridCol w="5187315"/>
                    <a:gridCol w="5187315"/>
                  </a:tblGrid>
                  <a:tr h="637540">
                    <a:tc>
                      <a:txBody>
                        <a:bodyPr/>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1</a:t>
                          </a:r>
                          <a:r>
                            <a:rPr lang="zh-CN" altLang="en-US" sz="2000" b="1">
                              <a:solidFill>
                                <a:schemeClr val="tx1"/>
                              </a:solidFill>
                              <a:latin typeface="Times New Roman" panose="02020603050405020304" charset="0"/>
                              <a:ea typeface="楷体" panose="02010609060101010101" charset="-122"/>
                            </a:rPr>
                            <a:t>组</a:t>
                          </a:r>
                          <a:endParaRPr lang="zh-CN" altLang="en-US" sz="2000" b="1">
                            <a:solidFill>
                              <a:schemeClr val="tx1"/>
                            </a:solidFill>
                            <a:latin typeface="Times New Roman" panose="02020603050405020304" charset="0"/>
                            <a:ea typeface="楷体" panose="02010609060101010101" charset="-122"/>
                          </a:endParaRPr>
                        </a:p>
                      </a:txBody>
                      <a:tcPr marL="36195" marR="36195" marT="0" marB="3619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L="36195" marR="36195" marT="0" marB="7175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lstStyle/>
                        <a:p>
                          <a:endParaRPr lang="zh-CN"/>
                        </a:p>
                      </a:txBody>
                      <a:tcPr marL="36195" marR="36195" marT="0" marB="7175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bl>
              </a:graphicData>
            </a:graphic>
          </p:graphicFrame>
        </mc:Fallback>
      </mc:AlternateContent>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a:sym typeface="+mn-ea"/>
              </a:rPr>
              <a:t>思考题（第</a:t>
            </a:r>
            <a:r>
              <a:rPr lang="en-US" altLang="zh-CN">
                <a:sym typeface="+mn-ea"/>
              </a:rPr>
              <a:t>2</a:t>
            </a:r>
            <a:r>
              <a:rPr lang="zh-CN" altLang="en-US">
                <a:sym typeface="+mn-ea"/>
              </a:rPr>
              <a:t>组）</a:t>
            </a:r>
            <a:endParaRPr lang="zh-CN" altLang="en-US"/>
          </a:p>
        </p:txBody>
      </p:sp>
      <p:sp>
        <p:nvSpPr>
          <p:cNvPr id="3" name="页脚占位符 2"/>
          <p:cNvSpPr>
            <a:spLocks noGrp="1"/>
          </p:cNvSpPr>
          <p:nvPr>
            <p:ph type="ftr" sz="quarter" idx="11"/>
          </p:nvPr>
        </p:nvSpPr>
        <p:spPr/>
        <p:txBody>
          <a:bodyPr>
            <a:noAutofit/>
          </a:bodyPr>
          <a:lstStyle/>
          <a:p>
            <a:r>
              <a:rPr lang="zh-CN" altLang="en-US"/>
              <a:t>ch02_2_关系代数基本运算</a:t>
            </a:r>
          </a:p>
        </p:txBody>
      </p:sp>
      <p:sp>
        <p:nvSpPr>
          <p:cNvPr id="4" name="灯片编号占位符 3"/>
          <p:cNvSpPr>
            <a:spLocks noGrp="1"/>
          </p:cNvSpPr>
          <p:nvPr>
            <p:ph type="sldNum" sz="quarter" idx="12"/>
          </p:nvPr>
        </p:nvSpPr>
        <p:spPr/>
        <p:txBody>
          <a:bodyPr>
            <a:noAutofit/>
          </a:bodyPr>
          <a:lstStyle/>
          <a:p>
            <a:fld id="{565CE74E-AB26-4998-AD42-012C4C1AD076}" type="slidenum">
              <a:rPr lang="zh-CN" altLang="en-US" smtClean="0"/>
              <a:t>52</a:t>
            </a:fld>
            <a:endParaRPr lang="zh-CN" altLang="en-US"/>
          </a:p>
        </p:txBody>
      </p:sp>
      <mc:AlternateContent xmlns:mc="http://schemas.openxmlformats.org/markup-compatibility/2006" xmlns:a14="http://schemas.microsoft.com/office/drawing/2010/main">
        <mc:Choice Requires="a14">
          <p:graphicFrame>
            <p:nvGraphicFramePr>
              <p:cNvPr id="5" name="表格 4"/>
              <p:cNvGraphicFramePr/>
              <p:nvPr>
                <p:custDataLst>
                  <p:tags r:id="rId1"/>
                </p:custDataLst>
              </p:nvPr>
            </p:nvGraphicFramePr>
            <p:xfrm>
              <a:off x="431800" y="612140"/>
              <a:ext cx="11257915" cy="673735"/>
            </p:xfrm>
            <a:graphic>
              <a:graphicData uri="http://schemas.openxmlformats.org/drawingml/2006/table">
                <a:tbl>
                  <a:tblPr firstRow="1" bandRow="1">
                    <a:tableStyleId>{5C22544A-7EE6-4342-B048-85BDC9FD1C3A}</a:tableStyleId>
                  </a:tblPr>
                  <a:tblGrid>
                    <a:gridCol w="798195">
                      <a:extLst>
                        <a:ext uri="{9D8B030D-6E8A-4147-A177-3AD203B41FA5}">
                          <a16:colId xmlns:a16="http://schemas.microsoft.com/office/drawing/2014/main" val="20000"/>
                        </a:ext>
                      </a:extLst>
                    </a:gridCol>
                    <a:gridCol w="5166360">
                      <a:extLst>
                        <a:ext uri="{9D8B030D-6E8A-4147-A177-3AD203B41FA5}">
                          <a16:colId xmlns:a16="http://schemas.microsoft.com/office/drawing/2014/main" val="20001"/>
                        </a:ext>
                      </a:extLst>
                    </a:gridCol>
                    <a:gridCol w="5293360">
                      <a:extLst>
                        <a:ext uri="{9D8B030D-6E8A-4147-A177-3AD203B41FA5}">
                          <a16:colId xmlns:a16="http://schemas.microsoft.com/office/drawing/2014/main" val="20002"/>
                        </a:ext>
                      </a:extLst>
                    </a:gridCol>
                  </a:tblGrid>
                  <a:tr h="673735">
                    <a:tc>
                      <a:txBody>
                        <a:bodyPr/>
                        <a:lstStyle/>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2</a:t>
                          </a:r>
                          <a:r>
                            <a:rPr lang="zh-CN" altLang="en-US" sz="2000" b="1">
                              <a:solidFill>
                                <a:schemeClr val="tx1"/>
                              </a:solidFill>
                              <a:latin typeface="Times New Roman" panose="02020603050405020304" charset="0"/>
                              <a:ea typeface="楷体" panose="02010609060101010101" charset="-122"/>
                            </a:rPr>
                            <a:t>组</a:t>
                          </a:r>
                        </a:p>
                      </a:txBody>
                      <a:tcPr marL="36195" marR="36195" marT="36195" marB="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8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3</a:t>
                          </a: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14:m>
                            <m:oMath xmlns:m="http://schemas.openxmlformats.org/officeDocument/2006/math">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a14:m>
                          <a:endParaRPr lang="en-US" altLang="zh-CN" sz="2800" b="1" i="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Q</a:t>
                          </a:r>
                          <a:r>
                            <a:rPr lang="en-US" altLang="zh-CN" sz="2800" b="1" spc="100" baseline="-25000">
                              <a:solidFill>
                                <a:schemeClr val="tx1"/>
                              </a:solidFill>
                              <a:uFillTx/>
                              <a:latin typeface="Times New Roman" panose="02020603050405020304" charset="0"/>
                              <a:ea typeface="楷体" panose="02010609060101010101" charset="-122"/>
                              <a:cs typeface="Times New Roman" panose="02020603050405020304" charset="0"/>
                              <a:sym typeface="+mn-ea"/>
                            </a:rPr>
                            <a:t>4</a:t>
                          </a:r>
                          <a:r>
                            <a:rPr lang="en-US" altLang="zh-CN" sz="2800" b="1" spc="100">
                              <a:solidFill>
                                <a:schemeClr val="tx1"/>
                              </a:solidFill>
                              <a:uFillTx/>
                              <a:latin typeface="Times New Roman" panose="02020603050405020304" charset="0"/>
                              <a:ea typeface="楷体" panose="02010609060101010101" charset="-122"/>
                              <a:cs typeface="Times New Roman" panose="02020603050405020304" charset="0"/>
                              <a:sym typeface="+mn-ea"/>
                            </a:rPr>
                            <a:t>:  </a:t>
                          </a:r>
                          <a14:m>
                            <m:oMath xmlns:m="http://schemas.openxmlformats.org/officeDocument/2006/math">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8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8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800" b="1" i="1" spc="100">
                                  <a:solidFill>
                                    <a:srgbClr val="FF0000"/>
                                  </a:solidFill>
                                  <a:uFillTx/>
                                  <a:latin typeface="Cambria Math" panose="02040503050406030204" charset="0"/>
                                  <a:ea typeface="MS Mincho" charset="0"/>
                                  <a:cs typeface="Cambria Math" panose="02040503050406030204" charset="0"/>
                                  <a:sym typeface="Symbol" panose="05050102010706020507" charset="0"/>
                                </a:rPr>
                                <m:t>))</m:t>
                              </m:r>
                            </m:oMath>
                          </a14:m>
                          <a:endParaRPr lang="en-US" altLang="zh-CN" sz="2800" b="1" i="1" spc="100">
                            <a:solidFill>
                              <a:srgbClr val="FF0000"/>
                            </a:solidFill>
                            <a:uFillTx/>
                            <a:latin typeface="Cambria Math" panose="02040503050406030204" charset="0"/>
                            <a:ea typeface="MS Mincho" charset="0"/>
                            <a:cs typeface="Cambria Math" panose="02040503050406030204" charset="0"/>
                            <a:sym typeface="Symbol" panose="05050102010706020507" charset="0"/>
                          </a:endParaRPr>
                        </a:p>
                      </a:txBody>
                      <a:tcPr marL="36195" marR="36195" marT="36195" marB="7175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bl>
              </a:graphicData>
            </a:graphic>
          </p:graphicFrame>
        </mc:Choice>
        <mc:Fallback xmlns="">
          <p:graphicFrame>
            <p:nvGraphicFramePr>
              <p:cNvPr id="5" name="表格 4"/>
              <p:cNvGraphicFramePr/>
              <p:nvPr>
                <p:custDataLst>
                  <p:tags r:id="rId3"/>
                </p:custDataLst>
              </p:nvPr>
            </p:nvGraphicFramePr>
            <p:xfrm>
              <a:off x="431800" y="612140"/>
              <a:ext cx="11257915" cy="673735"/>
            </p:xfrm>
            <a:graphic>
              <a:graphicData uri="http://schemas.openxmlformats.org/drawingml/2006/table">
                <a:tbl>
                  <a:tblPr firstRow="1" bandRow="1">
                    <a:tableStyleId>{5C22544A-7EE6-4342-B048-85BDC9FD1C3A}</a:tableStyleId>
                  </a:tblPr>
                  <a:tblGrid>
                    <a:gridCol w="798195"/>
                    <a:gridCol w="5166360"/>
                    <a:gridCol w="5293360"/>
                  </a:tblGrid>
                  <a:tr h="673735">
                    <a:tc>
                      <a:txBody>
                        <a:bodyPr/>
                        <a:p>
                          <a:pPr algn="ctr">
                            <a:buNone/>
                          </a:pPr>
                          <a:r>
                            <a:rPr lang="zh-CN" altLang="en-US" sz="2000" b="1">
                              <a:solidFill>
                                <a:schemeClr val="tx1"/>
                              </a:solidFill>
                              <a:latin typeface="Times New Roman" panose="02020603050405020304" charset="0"/>
                              <a:ea typeface="楷体" panose="02010609060101010101" charset="-122"/>
                            </a:rPr>
                            <a:t>第</a:t>
                          </a:r>
                          <a:r>
                            <a:rPr lang="en-US" altLang="zh-CN" sz="2000" b="1">
                              <a:solidFill>
                                <a:schemeClr val="tx1"/>
                              </a:solidFill>
                              <a:latin typeface="Times New Roman" panose="02020603050405020304" charset="0"/>
                              <a:ea typeface="楷体" panose="02010609060101010101" charset="-122"/>
                            </a:rPr>
                            <a:t>2</a:t>
                          </a:r>
                          <a:r>
                            <a:rPr lang="zh-CN" altLang="en-US" sz="2000" b="1">
                              <a:solidFill>
                                <a:schemeClr val="tx1"/>
                              </a:solidFill>
                              <a:latin typeface="Times New Roman" panose="02020603050405020304" charset="0"/>
                              <a:ea typeface="楷体" panose="02010609060101010101" charset="-122"/>
                            </a:rPr>
                            <a:t>组</a:t>
                          </a:r>
                          <a:endParaRPr lang="zh-CN" altLang="en-US" sz="2000" b="1">
                            <a:solidFill>
                              <a:schemeClr val="tx1"/>
                            </a:solidFill>
                            <a:latin typeface="Times New Roman" panose="02020603050405020304" charset="0"/>
                            <a:ea typeface="楷体" panose="02010609060101010101" charset="-122"/>
                          </a:endParaRPr>
                        </a:p>
                      </a:txBody>
                      <a:tcPr marL="36195" marR="36195" marT="36195" marB="3619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L="36195" marR="36195" marT="36195" marB="7175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lstStyle/>
                        <a:p>
                          <a:endParaRPr lang="zh-CN"/>
                        </a:p>
                      </a:txBody>
                      <a:tcPr marL="36195" marR="36195" marT="36195" marB="71755"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bl>
              </a:graphicData>
            </a:graphic>
          </p:graphicFrame>
        </mc:Fallback>
      </mc:AlternateContent>
      <p:sp>
        <p:nvSpPr>
          <p:cNvPr id="9" name="Rectangle 3"/>
          <p:cNvSpPr>
            <a:spLocks noGrp="1"/>
          </p:cNvSpPr>
          <p:nvPr/>
        </p:nvSpPr>
        <p:spPr>
          <a:xfrm>
            <a:off x="485140" y="1384300"/>
            <a:ext cx="11257915" cy="521970"/>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zh-CN" sz="2800" b="1" dirty="0">
                <a:solidFill>
                  <a:srgbClr val="1F2DA8"/>
                </a:solidFill>
                <a:highlight>
                  <a:srgbClr val="FFFF00"/>
                </a:highlight>
                <a:ea typeface="楷体" panose="02010609060101010101" charset="-122"/>
              </a:rPr>
              <a:t>查询</a:t>
            </a:r>
            <a:r>
              <a:rPr lang="zh-CN" altLang="en-US" sz="2800" b="1" dirty="0">
                <a:solidFill>
                  <a:srgbClr val="1F2DA8"/>
                </a:solidFill>
                <a:highlight>
                  <a:srgbClr val="FFFF00"/>
                </a:highlight>
                <a:ea typeface="楷体" panose="02010609060101010101" charset="-122"/>
              </a:rPr>
              <a:t>结果集的语义是什么？</a:t>
            </a:r>
            <a:endParaRPr lang="zh-CN" altLang="en-US" sz="2800" b="1" u="none" baseline="0" dirty="0">
              <a:solidFill>
                <a:srgbClr val="1F2DA8"/>
              </a:solidFill>
              <a:highlight>
                <a:srgbClr val="FFFF00"/>
              </a:highlight>
              <a:ea typeface="楷体" panose="02010609060101010101" charset="-122"/>
            </a:endParaRPr>
          </a:p>
        </p:txBody>
      </p:sp>
      <p:sp>
        <p:nvSpPr>
          <p:cNvPr id="10" name="Rectangle 3"/>
          <p:cNvSpPr>
            <a:spLocks noGrp="1"/>
          </p:cNvSpPr>
          <p:nvPr/>
        </p:nvSpPr>
        <p:spPr>
          <a:xfrm>
            <a:off x="485140" y="2009775"/>
            <a:ext cx="11257915" cy="1209675"/>
          </a:xfrm>
          <a:prstGeom prst="rect">
            <a:avLst/>
          </a:prstGeom>
          <a:noFill/>
          <a:ln w="9525">
            <a:noFill/>
          </a:ln>
        </p:spPr>
        <p:txBody>
          <a:bodyPr wrap="square" anchor="t">
            <a:noAutofit/>
          </a:bodyPr>
          <a:lstStyle/>
          <a:p>
            <a:pPr lvl="1">
              <a:lnSpc>
                <a:spcPct val="100000"/>
              </a:lnSpc>
              <a:spcBef>
                <a:spcPts val="2000"/>
              </a:spcBef>
              <a:spcAft>
                <a:spcPts val="0"/>
              </a:spcAft>
              <a:buClr>
                <a:srgbClr val="CC9900"/>
              </a:buClr>
            </a:pPr>
            <a:r>
              <a:rPr lang="en-US" altLang="x-none" sz="2800" b="1" u="none" baseline="0" dirty="0">
                <a:solidFill>
                  <a:srgbClr val="1F2DA8"/>
                </a:solidFill>
                <a:ea typeface="楷体" panose="02010609060101010101" charset="-122"/>
                <a:cs typeface="Times New Roman" panose="02020603050405020304" charset="0"/>
              </a:rPr>
              <a:t>Q</a:t>
            </a:r>
            <a:r>
              <a:rPr lang="en-US" altLang="x-none" sz="2800" b="1" u="none" baseline="-25000" dirty="0">
                <a:solidFill>
                  <a:srgbClr val="1F2DA8"/>
                </a:solidFill>
                <a:ea typeface="楷体" panose="02010609060101010101" charset="-122"/>
                <a:cs typeface="Times New Roman" panose="02020603050405020304" charset="0"/>
              </a:rPr>
              <a:t>3</a:t>
            </a:r>
            <a:r>
              <a:rPr lang="zh-CN" altLang="en-US" sz="2800" b="1" u="none" baseline="0" dirty="0">
                <a:solidFill>
                  <a:srgbClr val="1F2DA8"/>
                </a:solidFill>
                <a:ea typeface="楷体" panose="02010609060101010101" charset="-122"/>
                <a:cs typeface="Times New Roman" panose="02020603050405020304" charset="0"/>
              </a:rPr>
              <a:t>：购买过</a:t>
            </a:r>
            <a:r>
              <a:rPr lang="en-US" altLang="zh-CN" sz="2800" b="1" u="none" baseline="0" dirty="0">
                <a:solidFill>
                  <a:srgbClr val="1F2DA8"/>
                </a:solidFill>
                <a:ea typeface="楷体" panose="02010609060101010101" charset="-122"/>
                <a:cs typeface="Times New Roman" panose="02020603050405020304" charset="0"/>
              </a:rPr>
              <a:t>p01</a:t>
            </a:r>
            <a:r>
              <a:rPr lang="zh-CN" altLang="en-US" sz="2800" b="1" u="none" baseline="0" dirty="0">
                <a:solidFill>
                  <a:srgbClr val="1F2DA8"/>
                </a:solidFill>
                <a:ea typeface="楷体" panose="02010609060101010101" charset="-122"/>
                <a:cs typeface="Times New Roman" panose="02020603050405020304" charset="0"/>
              </a:rPr>
              <a:t>号商品的</a:t>
            </a:r>
            <a:r>
              <a:rPr lang="en-US" altLang="zh-CN" sz="2800" b="1" u="none" baseline="0" dirty="0">
                <a:solidFill>
                  <a:srgbClr val="1F2DA8"/>
                </a:solidFill>
                <a:ea typeface="楷体" panose="02010609060101010101" charset="-122"/>
                <a:cs typeface="Times New Roman" panose="02020603050405020304" charset="0"/>
              </a:rPr>
              <a:t> ‘</a:t>
            </a:r>
            <a:r>
              <a:rPr lang="zh-CN" altLang="en-US" sz="2800" b="1" u="none" baseline="0" dirty="0">
                <a:solidFill>
                  <a:srgbClr val="1F2DA8"/>
                </a:solidFill>
                <a:ea typeface="楷体" panose="02010609060101010101" charset="-122"/>
                <a:cs typeface="Times New Roman" panose="02020603050405020304" charset="0"/>
              </a:rPr>
              <a:t>顾客</a:t>
            </a:r>
            <a:r>
              <a:rPr lang="en-US" altLang="zh-CN" sz="2800" b="1" u="none" baseline="0" dirty="0">
                <a:solidFill>
                  <a:srgbClr val="1F2DA8"/>
                </a:solidFill>
                <a:ea typeface="楷体" panose="02010609060101010101" charset="-122"/>
                <a:cs typeface="Times New Roman" panose="02020603050405020304" charset="0"/>
              </a:rPr>
              <a:t>(</a:t>
            </a:r>
            <a:r>
              <a:rPr lang="zh-CN" altLang="en-US" sz="2800" b="1" u="none" baseline="0" dirty="0">
                <a:solidFill>
                  <a:srgbClr val="1F2DA8"/>
                </a:solidFill>
                <a:ea typeface="楷体" panose="02010609060101010101" charset="-122"/>
                <a:cs typeface="Times New Roman" panose="02020603050405020304" charset="0"/>
              </a:rPr>
              <a:t>编号</a:t>
            </a:r>
            <a:r>
              <a:rPr lang="en-US" altLang="zh-CN" sz="2800" b="1" u="none" baseline="0" dirty="0">
                <a:solidFill>
                  <a:srgbClr val="1F2DA8"/>
                </a:solidFill>
                <a:ea typeface="楷体" panose="02010609060101010101" charset="-122"/>
                <a:cs typeface="Times New Roman" panose="02020603050405020304" charset="0"/>
              </a:rPr>
              <a:t>)’</a:t>
            </a:r>
          </a:p>
          <a:p>
            <a:pPr lvl="1">
              <a:lnSpc>
                <a:spcPct val="100000"/>
              </a:lnSpc>
              <a:spcBef>
                <a:spcPts val="2000"/>
              </a:spcBef>
              <a:spcAft>
                <a:spcPts val="0"/>
              </a:spcAft>
              <a:buClr>
                <a:srgbClr val="CC9900"/>
              </a:buClr>
            </a:pPr>
            <a:r>
              <a:rPr lang="en-US" altLang="zh-CN" sz="2800" b="1" u="none" baseline="0" dirty="0">
                <a:solidFill>
                  <a:srgbClr val="1F2DA8"/>
                </a:solidFill>
                <a:ea typeface="楷体" panose="02010609060101010101" charset="-122"/>
                <a:cs typeface="Times New Roman" panose="02020603050405020304" charset="0"/>
              </a:rPr>
              <a:t>Q</a:t>
            </a:r>
            <a:r>
              <a:rPr lang="en-US" altLang="zh-CN" sz="2800" b="1" u="none" baseline="-25000" dirty="0">
                <a:solidFill>
                  <a:srgbClr val="1F2DA8"/>
                </a:solidFill>
                <a:ea typeface="楷体" panose="02010609060101010101" charset="-122"/>
                <a:cs typeface="Times New Roman" panose="02020603050405020304" charset="0"/>
              </a:rPr>
              <a:t>4</a:t>
            </a:r>
            <a:r>
              <a:rPr lang="zh-CN" altLang="en-US" sz="2800" b="1" u="none" baseline="0" dirty="0">
                <a:solidFill>
                  <a:srgbClr val="1F2DA8"/>
                </a:solidFill>
                <a:ea typeface="楷体" panose="02010609060101010101" charset="-122"/>
                <a:cs typeface="Times New Roman" panose="02020603050405020304" charset="0"/>
              </a:rPr>
              <a:t>：购买过其他商品</a:t>
            </a:r>
            <a:r>
              <a:rPr lang="en-US" altLang="zh-CN" sz="2800" b="1" u="none" baseline="0" dirty="0">
                <a:solidFill>
                  <a:srgbClr val="1F2DA8"/>
                </a:solidFill>
                <a:ea typeface="楷体" panose="02010609060101010101" charset="-122"/>
                <a:cs typeface="Times New Roman" panose="02020603050405020304" charset="0"/>
              </a:rPr>
              <a:t>(pid</a:t>
            </a:r>
            <a:r>
              <a:rPr lang="zh-CN" altLang="en-US" sz="2800" b="1" u="none" baseline="0" dirty="0">
                <a:solidFill>
                  <a:srgbClr val="1F2DA8"/>
                </a:solidFill>
                <a:ea typeface="楷体" panose="02010609060101010101" charset="-122"/>
                <a:cs typeface="Times New Roman" panose="02020603050405020304" charset="0"/>
              </a:rPr>
              <a:t>不等于</a:t>
            </a:r>
            <a:r>
              <a:rPr lang="en-US" altLang="zh-CN" sz="2800" b="1" u="none" baseline="0" dirty="0">
                <a:solidFill>
                  <a:srgbClr val="1F2DA8"/>
                </a:solidFill>
                <a:ea typeface="楷体" panose="02010609060101010101" charset="-122"/>
                <a:cs typeface="Times New Roman" panose="02020603050405020304" charset="0"/>
              </a:rPr>
              <a:t>p01)</a:t>
            </a:r>
            <a:r>
              <a:rPr lang="zh-CN" altLang="en-US" sz="2800" b="1" u="none" baseline="0" dirty="0">
                <a:solidFill>
                  <a:srgbClr val="1F2DA8"/>
                </a:solidFill>
                <a:ea typeface="楷体" panose="02010609060101010101" charset="-122"/>
                <a:cs typeface="Times New Roman" panose="02020603050405020304" charset="0"/>
              </a:rPr>
              <a:t>的</a:t>
            </a:r>
            <a:r>
              <a:rPr lang="en-US" altLang="zh-CN" sz="2800" b="1" u="none" baseline="0" dirty="0">
                <a:solidFill>
                  <a:srgbClr val="1F2DA8"/>
                </a:solidFill>
                <a:ea typeface="楷体" panose="02010609060101010101" charset="-122"/>
                <a:cs typeface="Times New Roman" panose="02020603050405020304" charset="0"/>
              </a:rPr>
              <a:t> ‘</a:t>
            </a:r>
            <a:r>
              <a:rPr lang="zh-CN" altLang="en-US" sz="2800" b="1" dirty="0">
                <a:solidFill>
                  <a:srgbClr val="1F2DA8"/>
                </a:solidFill>
                <a:ea typeface="楷体" panose="02010609060101010101" charset="-122"/>
                <a:cs typeface="Times New Roman" panose="02020603050405020304" charset="0"/>
                <a:sym typeface="+mn-ea"/>
              </a:rPr>
              <a:t>顾客</a:t>
            </a:r>
            <a:r>
              <a:rPr lang="en-US" altLang="zh-CN" sz="2800" b="1" dirty="0">
                <a:solidFill>
                  <a:srgbClr val="1F2DA8"/>
                </a:solidFill>
                <a:ea typeface="楷体" panose="02010609060101010101" charset="-122"/>
                <a:cs typeface="Times New Roman" panose="02020603050405020304" charset="0"/>
                <a:sym typeface="+mn-ea"/>
              </a:rPr>
              <a:t>(</a:t>
            </a:r>
            <a:r>
              <a:rPr lang="zh-CN" altLang="en-US" sz="2800" b="1" dirty="0">
                <a:solidFill>
                  <a:srgbClr val="1F2DA8"/>
                </a:solidFill>
                <a:ea typeface="楷体" panose="02010609060101010101" charset="-122"/>
                <a:cs typeface="Times New Roman" panose="02020603050405020304" charset="0"/>
                <a:sym typeface="+mn-ea"/>
              </a:rPr>
              <a:t>编号</a:t>
            </a:r>
            <a:r>
              <a:rPr lang="en-US" altLang="zh-CN" sz="2800" b="1" dirty="0">
                <a:solidFill>
                  <a:srgbClr val="1F2DA8"/>
                </a:solidFill>
                <a:ea typeface="楷体" panose="02010609060101010101" charset="-122"/>
                <a:cs typeface="Times New Roman" panose="02020603050405020304" charset="0"/>
                <a:sym typeface="+mn-ea"/>
              </a:rPr>
              <a:t>)’</a:t>
            </a:r>
            <a:endParaRPr lang="en-US" altLang="zh-CN" sz="2800" b="1" u="none" baseline="0" dirty="0">
              <a:solidFill>
                <a:srgbClr val="1F2DA8"/>
              </a:solidFill>
              <a:ea typeface="楷体" panose="02010609060101010101" charset="-122"/>
              <a:cs typeface="Times New Roman" panose="02020603050405020304" charset="0"/>
              <a:sym typeface="+mn-ea"/>
            </a:endParaRPr>
          </a:p>
        </p:txBody>
      </p:sp>
      <p:sp>
        <p:nvSpPr>
          <p:cNvPr id="12" name="Rectangle 3"/>
          <p:cNvSpPr>
            <a:spLocks noGrp="1"/>
          </p:cNvSpPr>
          <p:nvPr/>
        </p:nvSpPr>
        <p:spPr>
          <a:xfrm>
            <a:off x="485140" y="3523615"/>
            <a:ext cx="11257915" cy="521970"/>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en-US" sz="2800" b="1" dirty="0">
                <a:solidFill>
                  <a:srgbClr val="1F2DA8"/>
                </a:solidFill>
                <a:highlight>
                  <a:srgbClr val="FFFF00"/>
                </a:highlight>
                <a:ea typeface="楷体" panose="02010609060101010101" charset="-122"/>
              </a:rPr>
              <a:t>两个结果集的关系是什么？</a:t>
            </a:r>
            <a:endParaRPr lang="zh-CN" altLang="en-US" sz="2800" b="1" u="none" baseline="0" dirty="0">
              <a:solidFill>
                <a:srgbClr val="1F2DA8"/>
              </a:solidFill>
              <a:highlight>
                <a:srgbClr val="FFFF00"/>
              </a:highlight>
              <a:ea typeface="楷体" panose="02010609060101010101" charset="-122"/>
            </a:endParaRPr>
          </a:p>
        </p:txBody>
      </p:sp>
      <p:sp>
        <p:nvSpPr>
          <p:cNvPr id="18" name="文本框 17"/>
          <p:cNvSpPr txBox="1"/>
          <p:nvPr/>
        </p:nvSpPr>
        <p:spPr>
          <a:xfrm>
            <a:off x="1004570" y="4162425"/>
            <a:ext cx="10620375" cy="2071370"/>
          </a:xfrm>
          <a:prstGeom prst="rect">
            <a:avLst/>
          </a:prstGeom>
          <a:noFill/>
        </p:spPr>
        <p:txBody>
          <a:bodyPr wrap="square" rtlCol="0">
            <a:noAutofit/>
          </a:bodyPr>
          <a:lstStyle/>
          <a:p>
            <a:pPr marL="457200" indent="-457200">
              <a:lnSpc>
                <a:spcPct val="100000"/>
              </a:lnSpc>
              <a:spcBef>
                <a:spcPts val="0"/>
              </a:spcBef>
              <a:spcAft>
                <a:spcPts val="1000"/>
              </a:spcAft>
              <a:buClr>
                <a:srgbClr val="C00000"/>
              </a:buClr>
              <a:buSzPct val="85000"/>
              <a:buFont typeface="Wingdings" panose="05000000000000000000" charset="0"/>
              <a:buChar char="Ø"/>
            </a:pPr>
            <a:r>
              <a:rPr lang="zh-CN" altLang="en-US" sz="2800" b="1">
                <a:solidFill>
                  <a:srgbClr val="1F2DA8"/>
                </a:solidFill>
                <a:latin typeface="楷体" panose="02010609060101010101" charset="-122"/>
                <a:ea typeface="楷体" panose="02010609060101010101" charset="-122"/>
              </a:rPr>
              <a:t>两个结果集之间的关系，取决于当前</a:t>
            </a:r>
            <a:r>
              <a:rPr lang="en-US" altLang="zh-CN" sz="2800" b="1">
                <a:solidFill>
                  <a:srgbClr val="1F2DA8"/>
                </a:solidFill>
                <a:latin typeface="楷体" panose="02010609060101010101" charset="-122"/>
                <a:ea typeface="楷体" panose="02010609060101010101" charset="-122"/>
              </a:rPr>
              <a:t>orders</a:t>
            </a:r>
            <a:r>
              <a:rPr lang="zh-CN" altLang="en-US" sz="2800" b="1">
                <a:solidFill>
                  <a:srgbClr val="1F2DA8"/>
                </a:solidFill>
                <a:latin typeface="楷体" panose="02010609060101010101" charset="-122"/>
                <a:ea typeface="楷体" panose="02010609060101010101" charset="-122"/>
              </a:rPr>
              <a:t>表中的订单情况</a:t>
            </a:r>
          </a:p>
          <a:p>
            <a:pPr marL="457200" indent="-457200">
              <a:lnSpc>
                <a:spcPct val="100000"/>
              </a:lnSpc>
              <a:spcBef>
                <a:spcPts val="0"/>
              </a:spcBef>
              <a:spcAft>
                <a:spcPts val="1000"/>
              </a:spcAft>
              <a:buClr>
                <a:srgbClr val="C00000"/>
              </a:buClr>
              <a:buSzPct val="85000"/>
              <a:buFont typeface="Wingdings" panose="05000000000000000000" charset="0"/>
              <a:buChar char="Ø"/>
            </a:pPr>
            <a:r>
              <a:rPr lang="zh-CN" altLang="en-US" sz="2800" b="1">
                <a:solidFill>
                  <a:srgbClr val="1F2DA8"/>
                </a:solidFill>
                <a:latin typeface="楷体" panose="02010609060101010101" charset="-122"/>
                <a:ea typeface="楷体" panose="02010609060101010101" charset="-122"/>
              </a:rPr>
              <a:t>两个结果集之间可能有交集，也可能没有交集，甚至于一个结果集包含着另一个结果集，一切皆有可能！</a:t>
            </a:r>
          </a:p>
          <a:p>
            <a:pPr marL="457200" indent="-457200">
              <a:lnSpc>
                <a:spcPct val="100000"/>
              </a:lnSpc>
              <a:spcBef>
                <a:spcPts val="0"/>
              </a:spcBef>
              <a:spcAft>
                <a:spcPts val="1000"/>
              </a:spcAft>
              <a:buClr>
                <a:srgbClr val="C00000"/>
              </a:buClr>
              <a:buSzPct val="85000"/>
              <a:buFont typeface="Wingdings" panose="05000000000000000000" charset="0"/>
              <a:buChar char="Ø"/>
            </a:pPr>
            <a:r>
              <a:rPr lang="en-US" altLang="zh-CN" sz="2800" b="1" spc="100">
                <a:solidFill>
                  <a:srgbClr val="1F2DA8"/>
                </a:solidFill>
                <a:uFillTx/>
                <a:ea typeface="楷体" panose="02010609060101010101" charset="-122"/>
                <a:cs typeface="Times New Roman" panose="02020603050405020304" charset="0"/>
              </a:rPr>
              <a:t>Q</a:t>
            </a:r>
            <a:r>
              <a:rPr lang="en-US" altLang="zh-CN" sz="2800" b="1" spc="100" baseline="-25000">
                <a:solidFill>
                  <a:srgbClr val="1F2DA8"/>
                </a:solidFill>
                <a:uFillTx/>
                <a:ea typeface="楷体" panose="02010609060101010101" charset="-122"/>
                <a:cs typeface="Times New Roman" panose="02020603050405020304" charset="0"/>
              </a:rPr>
              <a:t>3</a:t>
            </a:r>
            <a:r>
              <a:rPr lang="en-US" altLang="zh-CN" sz="2800" b="1" spc="100">
                <a:solidFill>
                  <a:srgbClr val="1F2DA8"/>
                </a:solidFill>
                <a:uFillTx/>
                <a:ea typeface="楷体" panose="02010609060101010101" charset="-122"/>
                <a:cs typeface="Times New Roman" panose="02020603050405020304" charset="0"/>
              </a:rPr>
              <a:t> </a:t>
            </a:r>
            <a:r>
              <a:rPr lang="en-US" altLang="zh-CN" sz="2800" b="1" spc="100">
                <a:solidFill>
                  <a:srgbClr val="1F2DA8"/>
                </a:solidFill>
                <a:uFillTx/>
                <a:ea typeface="楷体" panose="02010609060101010101" charset="-122"/>
                <a:cs typeface="Times New Roman" panose="02020603050405020304" charset="0"/>
                <a:sym typeface="Symbol" panose="05050102010706020507" charset="0"/>
              </a:rPr>
              <a:t> Q</a:t>
            </a:r>
            <a:r>
              <a:rPr lang="en-US" altLang="zh-CN" sz="2800" b="1" spc="100" baseline="-25000">
                <a:solidFill>
                  <a:srgbClr val="1F2DA8"/>
                </a:solidFill>
                <a:uFillTx/>
                <a:ea typeface="楷体" panose="02010609060101010101" charset="-122"/>
                <a:cs typeface="Times New Roman" panose="02020603050405020304" charset="0"/>
                <a:sym typeface="Symbol" panose="05050102010706020507" charset="0"/>
              </a:rPr>
              <a:t>4</a:t>
            </a:r>
            <a:r>
              <a:rPr lang="en-US" altLang="zh-CN" sz="2800" b="1" spc="100">
                <a:solidFill>
                  <a:srgbClr val="1F2DA8"/>
                </a:solidFill>
                <a:uFillTx/>
                <a:ea typeface="楷体" panose="02010609060101010101" charset="-122"/>
                <a:cs typeface="Times New Roman" panose="02020603050405020304" charset="0"/>
                <a:sym typeface="Symbol" panose="05050102010706020507" charset="0"/>
              </a:rPr>
              <a:t> = </a:t>
            </a:r>
            <a:r>
              <a:rPr lang="en-US" altLang="zh-CN" sz="2800" b="1" i="1" spc="100" baseline="-25000">
                <a:solidFill>
                  <a:srgbClr val="1F2DA8"/>
                </a:solidFill>
                <a:uFillTx/>
                <a:ea typeface="楷体" panose="02010609060101010101" charset="-122"/>
                <a:cs typeface="Times New Roman" panose="02020603050405020304" charset="0"/>
                <a:sym typeface="Symbol" panose="05050102010706020507" charset="0"/>
              </a:rPr>
              <a:t>cid </a:t>
            </a:r>
            <a:r>
              <a:rPr lang="en-US" altLang="zh-CN" sz="2800" b="1" spc="100">
                <a:solidFill>
                  <a:srgbClr val="1F2DA8"/>
                </a:solidFill>
                <a:uFillTx/>
                <a:ea typeface="楷体" panose="02010609060101010101" charset="-122"/>
                <a:cs typeface="Times New Roman" panose="02020603050405020304" charset="0"/>
                <a:sym typeface="Symbol" panose="05050102010706020507" charset="0"/>
              </a:rPr>
              <a:t>(orders)</a:t>
            </a: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思考题（第</a:t>
            </a:r>
            <a:r>
              <a:rPr lang="en-US" altLang="zh-CN">
                <a:sym typeface="+mn-ea"/>
              </a:rPr>
              <a:t>3</a:t>
            </a:r>
            <a:r>
              <a:rPr lang="zh-CN" altLang="en-US">
                <a:sym typeface="+mn-ea"/>
              </a:rPr>
              <a:t>组）</a:t>
            </a:r>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53</a:t>
            </a:fld>
            <a:endParaRPr lang="zh-CN" altLang="en-US"/>
          </a:p>
        </p:txBody>
      </p:sp>
      <p:sp>
        <p:nvSpPr>
          <p:cNvPr id="14" name="Rectangle 3"/>
          <p:cNvSpPr>
            <a:spLocks noGrp="1"/>
          </p:cNvSpPr>
          <p:nvPr/>
        </p:nvSpPr>
        <p:spPr>
          <a:xfrm>
            <a:off x="431800" y="1851025"/>
            <a:ext cx="11334750" cy="491490"/>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zh-CN" sz="2600" b="1" dirty="0">
                <a:solidFill>
                  <a:srgbClr val="1F2DA8"/>
                </a:solidFill>
                <a:highlight>
                  <a:srgbClr val="FFFF00"/>
                </a:highlight>
                <a:ea typeface="楷体" panose="02010609060101010101" charset="-122"/>
              </a:rPr>
              <a:t>查询</a:t>
            </a:r>
            <a:r>
              <a:rPr lang="zh-CN" altLang="en-US" sz="2600" b="1" dirty="0">
                <a:solidFill>
                  <a:srgbClr val="1F2DA8"/>
                </a:solidFill>
                <a:highlight>
                  <a:srgbClr val="FFFF00"/>
                </a:highlight>
                <a:ea typeface="楷体" panose="02010609060101010101" charset="-122"/>
              </a:rPr>
              <a:t>结果集的语义是什么？</a:t>
            </a:r>
            <a:endParaRPr lang="zh-CN" altLang="en-US" sz="2600" b="1" u="none" baseline="0" dirty="0">
              <a:solidFill>
                <a:srgbClr val="1F2DA8"/>
              </a:solidFill>
              <a:highlight>
                <a:srgbClr val="FFFF00"/>
              </a:highlight>
              <a:ea typeface="楷体" panose="02010609060101010101" charset="-122"/>
            </a:endParaRPr>
          </a:p>
        </p:txBody>
      </p:sp>
      <p:sp>
        <p:nvSpPr>
          <p:cNvPr id="15" name="Rectangle 3"/>
          <p:cNvSpPr>
            <a:spLocks noGrp="1"/>
          </p:cNvSpPr>
          <p:nvPr/>
        </p:nvSpPr>
        <p:spPr>
          <a:xfrm>
            <a:off x="431800" y="2406015"/>
            <a:ext cx="11334750" cy="1148080"/>
          </a:xfrm>
          <a:prstGeom prst="rect">
            <a:avLst/>
          </a:prstGeom>
          <a:noFill/>
          <a:ln w="9525">
            <a:noFill/>
          </a:ln>
        </p:spPr>
        <p:txBody>
          <a:bodyPr wrap="square" anchor="t">
            <a:noAutofit/>
          </a:bodyPr>
          <a:lstStyle/>
          <a:p>
            <a:pPr lvl="1" indent="0" fontAlgn="auto">
              <a:lnSpc>
                <a:spcPct val="100000"/>
              </a:lnSpc>
              <a:spcBef>
                <a:spcPts val="2000"/>
              </a:spcBef>
              <a:spcAft>
                <a:spcPts val="0"/>
              </a:spcAft>
              <a:buClr>
                <a:srgbClr val="CC9900"/>
              </a:buClr>
            </a:pPr>
            <a:r>
              <a:rPr lang="en-US" altLang="x-none" sz="2600" b="1" dirty="0">
                <a:solidFill>
                  <a:srgbClr val="1F2DA8"/>
                </a:solidFill>
                <a:ea typeface="楷体" panose="02010609060101010101" charset="-122"/>
                <a:cs typeface="Times New Roman" panose="02020603050405020304" charset="0"/>
                <a:sym typeface="+mn-ea"/>
              </a:rPr>
              <a:t>Q</a:t>
            </a:r>
            <a:r>
              <a:rPr lang="en-US" altLang="x-none" sz="2600" b="1" baseline="-25000" dirty="0">
                <a:solidFill>
                  <a:srgbClr val="1F2DA8"/>
                </a:solidFill>
                <a:ea typeface="楷体" panose="02010609060101010101" charset="-122"/>
                <a:cs typeface="Times New Roman" panose="02020603050405020304" charset="0"/>
                <a:sym typeface="+mn-ea"/>
              </a:rPr>
              <a:t>5</a:t>
            </a:r>
            <a:r>
              <a:rPr lang="zh-CN" altLang="en-US" sz="2600" b="1" dirty="0">
                <a:solidFill>
                  <a:srgbClr val="1F2DA8"/>
                </a:solidFill>
                <a:ea typeface="楷体" panose="02010609060101010101" charset="-122"/>
                <a:cs typeface="Times New Roman" panose="02020603050405020304" charset="0"/>
                <a:sym typeface="+mn-ea"/>
              </a:rPr>
              <a:t>：购买过商品但没有购买过</a:t>
            </a:r>
            <a:r>
              <a:rPr lang="en-US" altLang="zh-CN" sz="2600" b="1" dirty="0">
                <a:solidFill>
                  <a:srgbClr val="1F2DA8"/>
                </a:solidFill>
                <a:ea typeface="楷体" panose="02010609060101010101" charset="-122"/>
                <a:cs typeface="Times New Roman" panose="02020603050405020304" charset="0"/>
                <a:sym typeface="+mn-ea"/>
              </a:rPr>
              <a:t>p01</a:t>
            </a:r>
            <a:r>
              <a:rPr lang="zh-CN" altLang="en-US" sz="2600" b="1" dirty="0">
                <a:solidFill>
                  <a:srgbClr val="1F2DA8"/>
                </a:solidFill>
                <a:ea typeface="楷体" panose="02010609060101010101" charset="-122"/>
                <a:cs typeface="Times New Roman" panose="02020603050405020304" charset="0"/>
                <a:sym typeface="+mn-ea"/>
              </a:rPr>
              <a:t>号商品的</a:t>
            </a:r>
            <a:r>
              <a:rPr lang="en-US" altLang="zh-CN" sz="2600" b="1" dirty="0">
                <a:solidFill>
                  <a:srgbClr val="1F2DA8"/>
                </a:solidFill>
                <a:ea typeface="楷体" panose="02010609060101010101" charset="-122"/>
                <a:cs typeface="Times New Roman" panose="02020603050405020304" charset="0"/>
                <a:sym typeface="+mn-ea"/>
              </a:rPr>
              <a:t> ‘</a:t>
            </a:r>
            <a:r>
              <a:rPr lang="zh-CN" altLang="en-US" sz="2600" b="1" dirty="0">
                <a:solidFill>
                  <a:srgbClr val="1F2DA8"/>
                </a:solidFill>
                <a:ea typeface="楷体" panose="02010609060101010101" charset="-122"/>
                <a:cs typeface="Times New Roman" panose="02020603050405020304" charset="0"/>
                <a:sym typeface="+mn-ea"/>
              </a:rPr>
              <a:t>顾客</a:t>
            </a:r>
            <a:r>
              <a:rPr lang="en-US" altLang="zh-CN" sz="2600" b="1" dirty="0">
                <a:solidFill>
                  <a:srgbClr val="1F2DA8"/>
                </a:solidFill>
                <a:ea typeface="楷体" panose="02010609060101010101" charset="-122"/>
                <a:cs typeface="Times New Roman" panose="02020603050405020304" charset="0"/>
                <a:sym typeface="+mn-ea"/>
              </a:rPr>
              <a:t>(</a:t>
            </a:r>
            <a:r>
              <a:rPr lang="zh-CN" altLang="en-US" sz="2600" b="1" dirty="0">
                <a:solidFill>
                  <a:srgbClr val="1F2DA8"/>
                </a:solidFill>
                <a:ea typeface="楷体" panose="02010609060101010101" charset="-122"/>
                <a:cs typeface="Times New Roman" panose="02020603050405020304" charset="0"/>
                <a:sym typeface="+mn-ea"/>
              </a:rPr>
              <a:t>编号</a:t>
            </a:r>
            <a:r>
              <a:rPr lang="en-US" altLang="zh-CN" sz="2600" b="1" dirty="0">
                <a:solidFill>
                  <a:srgbClr val="1F2DA8"/>
                </a:solidFill>
                <a:ea typeface="楷体" panose="02010609060101010101" charset="-122"/>
                <a:cs typeface="Times New Roman" panose="02020603050405020304" charset="0"/>
                <a:sym typeface="+mn-ea"/>
              </a:rPr>
              <a:t>)’</a:t>
            </a:r>
            <a:endParaRPr lang="en-US" altLang="zh-CN" sz="2600" b="1" u="none" baseline="0" dirty="0">
              <a:solidFill>
                <a:srgbClr val="1F2DA8"/>
              </a:solidFill>
              <a:ea typeface="楷体" panose="02010609060101010101" charset="-122"/>
              <a:cs typeface="Times New Roman" panose="02020603050405020304" charset="0"/>
            </a:endParaRPr>
          </a:p>
          <a:p>
            <a:pPr lvl="1" indent="0" fontAlgn="auto">
              <a:lnSpc>
                <a:spcPct val="100000"/>
              </a:lnSpc>
              <a:spcBef>
                <a:spcPts val="2000"/>
              </a:spcBef>
              <a:spcAft>
                <a:spcPts val="0"/>
              </a:spcAft>
              <a:buClr>
                <a:srgbClr val="CC9900"/>
              </a:buClr>
            </a:pPr>
            <a:r>
              <a:rPr lang="en-US" altLang="zh-CN" sz="2600" b="1" dirty="0">
                <a:solidFill>
                  <a:srgbClr val="1F2DA8"/>
                </a:solidFill>
                <a:ea typeface="楷体" panose="02010609060101010101" charset="-122"/>
                <a:cs typeface="Times New Roman" panose="02020603050405020304" charset="0"/>
                <a:sym typeface="+mn-ea"/>
              </a:rPr>
              <a:t>Q</a:t>
            </a:r>
            <a:r>
              <a:rPr lang="en-US" altLang="zh-CN" sz="2600" b="1" baseline="-25000" dirty="0">
                <a:solidFill>
                  <a:srgbClr val="1F2DA8"/>
                </a:solidFill>
                <a:ea typeface="楷体" panose="02010609060101010101" charset="-122"/>
                <a:cs typeface="Times New Roman" panose="02020603050405020304" charset="0"/>
                <a:sym typeface="+mn-ea"/>
              </a:rPr>
              <a:t>6</a:t>
            </a:r>
            <a:r>
              <a:rPr lang="zh-CN" altLang="en-US" sz="2600" b="1" dirty="0">
                <a:solidFill>
                  <a:srgbClr val="1F2DA8"/>
                </a:solidFill>
                <a:ea typeface="楷体" panose="02010609060101010101" charset="-122"/>
                <a:cs typeface="Times New Roman" panose="02020603050405020304" charset="0"/>
                <a:sym typeface="+mn-ea"/>
              </a:rPr>
              <a:t>：</a:t>
            </a:r>
            <a:r>
              <a:rPr lang="zh-CN" altLang="en-US" sz="2600" b="1" u="sng" dirty="0">
                <a:solidFill>
                  <a:srgbClr val="1F2DA8"/>
                </a:solidFill>
                <a:ea typeface="楷体" panose="02010609060101010101" charset="-122"/>
                <a:cs typeface="Times New Roman" panose="02020603050405020304" charset="0"/>
                <a:sym typeface="+mn-ea"/>
              </a:rPr>
              <a:t>只购买</a:t>
            </a:r>
            <a:r>
              <a:rPr lang="zh-CN" altLang="en-US" sz="2600" b="1" dirty="0">
                <a:solidFill>
                  <a:srgbClr val="1F2DA8"/>
                </a:solidFill>
                <a:ea typeface="楷体" panose="02010609060101010101" charset="-122"/>
                <a:cs typeface="Times New Roman" panose="02020603050405020304" charset="0"/>
                <a:sym typeface="+mn-ea"/>
              </a:rPr>
              <a:t>过</a:t>
            </a:r>
            <a:r>
              <a:rPr lang="en-US" altLang="zh-CN" sz="2600" b="1" dirty="0">
                <a:solidFill>
                  <a:srgbClr val="1F2DA8"/>
                </a:solidFill>
                <a:ea typeface="楷体" panose="02010609060101010101" charset="-122"/>
                <a:cs typeface="Times New Roman" panose="02020603050405020304" charset="0"/>
                <a:sym typeface="+mn-ea"/>
              </a:rPr>
              <a:t>p01</a:t>
            </a:r>
            <a:r>
              <a:rPr lang="zh-CN" altLang="en-US" sz="2600" b="1" dirty="0">
                <a:solidFill>
                  <a:srgbClr val="1F2DA8"/>
                </a:solidFill>
                <a:ea typeface="楷体" panose="02010609060101010101" charset="-122"/>
                <a:cs typeface="Times New Roman" panose="02020603050405020304" charset="0"/>
                <a:sym typeface="+mn-ea"/>
              </a:rPr>
              <a:t>号商品的</a:t>
            </a:r>
            <a:r>
              <a:rPr lang="en-US" altLang="zh-CN" sz="2600" b="1" dirty="0">
                <a:solidFill>
                  <a:srgbClr val="1F2DA8"/>
                </a:solidFill>
                <a:ea typeface="楷体" panose="02010609060101010101" charset="-122"/>
                <a:cs typeface="Times New Roman" panose="02020603050405020304" charset="0"/>
                <a:sym typeface="+mn-ea"/>
              </a:rPr>
              <a:t> ‘</a:t>
            </a:r>
            <a:r>
              <a:rPr lang="zh-CN" altLang="en-US" sz="2600" b="1" dirty="0">
                <a:solidFill>
                  <a:srgbClr val="1F2DA8"/>
                </a:solidFill>
                <a:ea typeface="楷体" panose="02010609060101010101" charset="-122"/>
                <a:cs typeface="Times New Roman" panose="02020603050405020304" charset="0"/>
                <a:sym typeface="+mn-ea"/>
              </a:rPr>
              <a:t>顾客</a:t>
            </a:r>
            <a:r>
              <a:rPr lang="en-US" altLang="zh-CN" sz="2600" b="1" dirty="0">
                <a:solidFill>
                  <a:srgbClr val="1F2DA8"/>
                </a:solidFill>
                <a:ea typeface="楷体" panose="02010609060101010101" charset="-122"/>
                <a:cs typeface="Times New Roman" panose="02020603050405020304" charset="0"/>
                <a:sym typeface="+mn-ea"/>
              </a:rPr>
              <a:t>(</a:t>
            </a:r>
            <a:r>
              <a:rPr lang="zh-CN" altLang="en-US" sz="2600" b="1" dirty="0">
                <a:solidFill>
                  <a:srgbClr val="1F2DA8"/>
                </a:solidFill>
                <a:ea typeface="楷体" panose="02010609060101010101" charset="-122"/>
                <a:cs typeface="Times New Roman" panose="02020603050405020304" charset="0"/>
                <a:sym typeface="+mn-ea"/>
              </a:rPr>
              <a:t>编号</a:t>
            </a:r>
            <a:r>
              <a:rPr lang="en-US" altLang="zh-CN" sz="2600" b="1" dirty="0">
                <a:solidFill>
                  <a:srgbClr val="1F2DA8"/>
                </a:solidFill>
                <a:ea typeface="楷体" panose="02010609060101010101" charset="-122"/>
                <a:cs typeface="Times New Roman" panose="02020603050405020304" charset="0"/>
                <a:sym typeface="+mn-ea"/>
              </a:rPr>
              <a:t>)’</a:t>
            </a:r>
            <a:endParaRPr lang="en-US" altLang="zh-CN" sz="2600" b="1" u="none" baseline="0" dirty="0">
              <a:solidFill>
                <a:srgbClr val="1F2DA8"/>
              </a:solidFill>
              <a:ea typeface="楷体" panose="02010609060101010101" charset="-122"/>
              <a:cs typeface="Times New Roman" panose="02020603050405020304" charset="0"/>
              <a:sym typeface="+mn-ea"/>
            </a:endParaRPr>
          </a:p>
        </p:txBody>
      </p:sp>
      <p:sp>
        <p:nvSpPr>
          <p:cNvPr id="16" name="Rectangle 3"/>
          <p:cNvSpPr>
            <a:spLocks noGrp="1"/>
          </p:cNvSpPr>
          <p:nvPr/>
        </p:nvSpPr>
        <p:spPr>
          <a:xfrm>
            <a:off x="431800" y="3959860"/>
            <a:ext cx="11334750" cy="491490"/>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en-US" sz="2600" b="1" dirty="0">
                <a:solidFill>
                  <a:srgbClr val="1F2DA8"/>
                </a:solidFill>
                <a:highlight>
                  <a:srgbClr val="FFFF00"/>
                </a:highlight>
                <a:ea typeface="楷体" panose="02010609060101010101" charset="-122"/>
              </a:rPr>
              <a:t>两个结果集的关系是什么？</a:t>
            </a:r>
            <a:endParaRPr lang="zh-CN" altLang="en-US" sz="2600" b="1" u="none" baseline="0" dirty="0">
              <a:solidFill>
                <a:srgbClr val="1F2DA8"/>
              </a:solidFill>
              <a:highlight>
                <a:srgbClr val="FFFF00"/>
              </a:highlight>
              <a:ea typeface="楷体" panose="02010609060101010101" charset="-122"/>
            </a:endParaRPr>
          </a:p>
        </p:txBody>
      </p:sp>
      <p:sp>
        <p:nvSpPr>
          <p:cNvPr id="19" name="Rectangle 3"/>
          <p:cNvSpPr>
            <a:spLocks noGrp="1"/>
          </p:cNvSpPr>
          <p:nvPr/>
        </p:nvSpPr>
        <p:spPr>
          <a:xfrm>
            <a:off x="432000" y="4547920"/>
            <a:ext cx="4351020" cy="1294130"/>
          </a:xfrm>
          <a:prstGeom prst="rect">
            <a:avLst/>
          </a:prstGeom>
          <a:noFill/>
          <a:ln w="9525">
            <a:noFill/>
          </a:ln>
        </p:spPr>
        <p:txBody>
          <a:bodyPr wrap="square" anchor="t">
            <a:noAutofit/>
          </a:bodyPr>
          <a:lstStyle/>
          <a:p>
            <a:pPr lvl="1">
              <a:lnSpc>
                <a:spcPct val="150000"/>
              </a:lnSpc>
              <a:spcBef>
                <a:spcPts val="20"/>
              </a:spcBef>
              <a:spcAft>
                <a:spcPts val="0"/>
              </a:spcAft>
              <a:buClr>
                <a:srgbClr val="CC9900"/>
              </a:buClr>
            </a:pPr>
            <a:r>
              <a:rPr lang="en-US" altLang="x-none" sz="2600" b="1" u="none" baseline="0" dirty="0">
                <a:solidFill>
                  <a:srgbClr val="1F2DA8"/>
                </a:solidFill>
                <a:ea typeface="楷体" panose="02010609060101010101" charset="-122"/>
                <a:cs typeface="Times New Roman" panose="02020603050405020304" charset="0"/>
              </a:rPr>
              <a:t>Q</a:t>
            </a:r>
            <a:r>
              <a:rPr lang="en-US" altLang="x-none" sz="2600" b="1" u="none" baseline="-25000" dirty="0">
                <a:solidFill>
                  <a:srgbClr val="1F2DA8"/>
                </a:solidFill>
                <a:ea typeface="楷体" panose="02010609060101010101" charset="-122"/>
                <a:cs typeface="Times New Roman" panose="02020603050405020304" charset="0"/>
              </a:rPr>
              <a:t>5</a:t>
            </a:r>
            <a:r>
              <a:rPr lang="zh-CN" altLang="en-US" sz="2600" b="1" u="none" baseline="0" dirty="0">
                <a:solidFill>
                  <a:srgbClr val="1F2DA8"/>
                </a:solidFill>
                <a:ea typeface="楷体" panose="02010609060101010101" charset="-122"/>
                <a:cs typeface="Times New Roman" panose="02020603050405020304" charset="0"/>
              </a:rPr>
              <a:t> </a:t>
            </a:r>
            <a:r>
              <a:rPr lang="en-US" altLang="zh-CN" sz="2600" b="1" u="none" baseline="0" dirty="0">
                <a:solidFill>
                  <a:srgbClr val="1F2DA8"/>
                </a:solidFill>
                <a:ea typeface="楷体" panose="02010609060101010101" charset="-122"/>
                <a:cs typeface="Times New Roman" panose="02020603050405020304" charset="0"/>
                <a:sym typeface="Symbol" panose="05050102010706020507" charset="0"/>
              </a:rPr>
              <a:t></a:t>
            </a:r>
            <a:r>
              <a:rPr lang="en-US" altLang="zh-CN" sz="2600" b="1" u="none" baseline="0" dirty="0">
                <a:solidFill>
                  <a:srgbClr val="1F2DA8"/>
                </a:solidFill>
                <a:ea typeface="楷体" panose="02010609060101010101" charset="-122"/>
                <a:cs typeface="Times New Roman" panose="02020603050405020304" charset="0"/>
              </a:rPr>
              <a:t> Q</a:t>
            </a:r>
            <a:r>
              <a:rPr lang="en-US" altLang="zh-CN" sz="2600" b="1" u="none" baseline="-25000" dirty="0">
                <a:solidFill>
                  <a:srgbClr val="1F2DA8"/>
                </a:solidFill>
                <a:ea typeface="楷体" panose="02010609060101010101" charset="-122"/>
                <a:cs typeface="Times New Roman" panose="02020603050405020304" charset="0"/>
              </a:rPr>
              <a:t>6</a:t>
            </a:r>
            <a:r>
              <a:rPr lang="en-US" altLang="zh-CN" sz="2600" b="1" u="none" baseline="0" dirty="0">
                <a:solidFill>
                  <a:srgbClr val="1F2DA8"/>
                </a:solidFill>
                <a:ea typeface="楷体" panose="02010609060101010101" charset="-122"/>
                <a:cs typeface="Times New Roman" panose="02020603050405020304" charset="0"/>
              </a:rPr>
              <a:t> = </a:t>
            </a:r>
            <a:r>
              <a:rPr lang="zh-CN" altLang="en-US" sz="2600" b="1" u="none" baseline="0" dirty="0">
                <a:solidFill>
                  <a:srgbClr val="1F2DA8"/>
                </a:solidFill>
                <a:ea typeface="楷体" panose="02010609060101010101" charset="-122"/>
                <a:cs typeface="Times New Roman" panose="02020603050405020304" charset="0"/>
              </a:rPr>
              <a:t>空集</a:t>
            </a:r>
            <a:endParaRPr lang="en-US" altLang="zh-CN" sz="2600" b="1" u="none" baseline="0" dirty="0">
              <a:solidFill>
                <a:srgbClr val="1F2DA8"/>
              </a:solidFill>
              <a:ea typeface="楷体" panose="02010609060101010101" charset="-122"/>
              <a:cs typeface="Times New Roman" panose="02020603050405020304" charset="0"/>
            </a:endParaRPr>
          </a:p>
          <a:p>
            <a:pPr lvl="1">
              <a:lnSpc>
                <a:spcPct val="150000"/>
              </a:lnSpc>
              <a:spcBef>
                <a:spcPts val="20"/>
              </a:spcBef>
              <a:spcAft>
                <a:spcPts val="0"/>
              </a:spcAft>
              <a:buClr>
                <a:srgbClr val="CC9900"/>
              </a:buClr>
            </a:pPr>
            <a:r>
              <a:rPr lang="en-US" altLang="x-none" sz="2600" b="1" spc="100" dirty="0">
                <a:solidFill>
                  <a:srgbClr val="1F2DA8"/>
                </a:solidFill>
                <a:uFillTx/>
                <a:ea typeface="楷体" panose="02010609060101010101" charset="-122"/>
                <a:cs typeface="Times New Roman" panose="02020603050405020304" charset="0"/>
                <a:sym typeface="+mn-ea"/>
              </a:rPr>
              <a:t>Q</a:t>
            </a:r>
            <a:r>
              <a:rPr lang="en-US" altLang="x-none" sz="2600" b="1" spc="100" baseline="-25000" dirty="0">
                <a:solidFill>
                  <a:srgbClr val="1F2DA8"/>
                </a:solidFill>
                <a:uFillTx/>
                <a:ea typeface="楷体" panose="02010609060101010101" charset="-122"/>
                <a:cs typeface="Times New Roman" panose="02020603050405020304" charset="0"/>
                <a:sym typeface="+mn-ea"/>
              </a:rPr>
              <a:t>5</a:t>
            </a:r>
            <a:r>
              <a:rPr lang="zh-CN" altLang="en-US" sz="2600" b="1" spc="100" dirty="0">
                <a:solidFill>
                  <a:srgbClr val="1F2DA8"/>
                </a:solidFill>
                <a:uFillTx/>
                <a:ea typeface="楷体" panose="02010609060101010101" charset="-122"/>
                <a:cs typeface="Times New Roman" panose="02020603050405020304" charset="0"/>
                <a:sym typeface="+mn-ea"/>
              </a:rPr>
              <a:t> </a:t>
            </a:r>
            <a:r>
              <a:rPr lang="en-US" altLang="zh-CN" sz="2600" b="1" spc="100" dirty="0">
                <a:solidFill>
                  <a:srgbClr val="1F2DA8"/>
                </a:solidFill>
                <a:uFillTx/>
                <a:ea typeface="楷体" panose="02010609060101010101" charset="-122"/>
                <a:cs typeface="Times New Roman" panose="02020603050405020304" charset="0"/>
                <a:sym typeface="Symbol" panose="05050102010706020507" charset="0"/>
              </a:rPr>
              <a:t></a:t>
            </a:r>
            <a:r>
              <a:rPr lang="en-US" altLang="zh-CN" sz="2600" b="1" spc="100" dirty="0">
                <a:solidFill>
                  <a:srgbClr val="1F2DA8"/>
                </a:solidFill>
                <a:uFillTx/>
                <a:ea typeface="楷体" panose="02010609060101010101" charset="-122"/>
                <a:cs typeface="Times New Roman" panose="02020603050405020304" charset="0"/>
                <a:sym typeface="+mn-ea"/>
              </a:rPr>
              <a:t> Q</a:t>
            </a:r>
            <a:r>
              <a:rPr lang="en-US" altLang="zh-CN" sz="2600" b="1" spc="100" baseline="-25000" dirty="0">
                <a:solidFill>
                  <a:srgbClr val="1F2DA8"/>
                </a:solidFill>
                <a:uFillTx/>
                <a:ea typeface="楷体" panose="02010609060101010101" charset="-122"/>
                <a:cs typeface="Times New Roman" panose="02020603050405020304" charset="0"/>
                <a:sym typeface="+mn-ea"/>
              </a:rPr>
              <a:t>6</a:t>
            </a:r>
            <a:r>
              <a:rPr lang="en-US" altLang="zh-CN" sz="2600" b="1" spc="100" dirty="0">
                <a:solidFill>
                  <a:srgbClr val="1F2DA8"/>
                </a:solidFill>
                <a:uFillTx/>
                <a:ea typeface="楷体" panose="02010609060101010101" charset="-122"/>
                <a:cs typeface="Times New Roman" panose="02020603050405020304" charset="0"/>
                <a:sym typeface="+mn-ea"/>
              </a:rPr>
              <a:t> </a:t>
            </a:r>
            <a:r>
              <a:rPr lang="en-US" altLang="zh-CN" sz="2600" b="1" spc="100" dirty="0">
                <a:solidFill>
                  <a:srgbClr val="1F2DA8"/>
                </a:solidFill>
                <a:uFillTx/>
                <a:latin typeface="微软雅黑" panose="020B0503020204020204" charset="-122"/>
                <a:ea typeface="微软雅黑" panose="020B0503020204020204" charset="-122"/>
                <a:cs typeface="Times New Roman" panose="02020603050405020304" charset="0"/>
                <a:sym typeface="+mn-ea"/>
              </a:rPr>
              <a:t>⊆</a:t>
            </a:r>
            <a:r>
              <a:rPr lang="en-US" altLang="zh-CN" sz="2600" b="1" spc="100" dirty="0">
                <a:solidFill>
                  <a:srgbClr val="1F2DA8"/>
                </a:solidFill>
                <a:uFillTx/>
                <a:ea typeface="楷体" panose="02010609060101010101" charset="-122"/>
                <a:cs typeface="Times New Roman" panose="02020603050405020304" charset="0"/>
                <a:sym typeface="+mn-ea"/>
              </a:rPr>
              <a:t> </a:t>
            </a:r>
            <a:r>
              <a:rPr lang="en-US" altLang="zh-CN" sz="2600" b="1" spc="100" dirty="0">
                <a:solidFill>
                  <a:srgbClr val="1F2DA8"/>
                </a:solidFill>
                <a:uFillTx/>
                <a:ea typeface="楷体" panose="02010609060101010101" charset="-122"/>
                <a:cs typeface="Times New Roman" panose="02020603050405020304" charset="0"/>
                <a:sym typeface="Symbol" panose="05050102010706020507" charset="0"/>
              </a:rPr>
              <a:t></a:t>
            </a:r>
            <a:r>
              <a:rPr lang="en-US" altLang="zh-CN" sz="2600" b="1" i="1" spc="100" baseline="-25000" dirty="0">
                <a:solidFill>
                  <a:srgbClr val="1F2DA8"/>
                </a:solidFill>
                <a:uFillTx/>
                <a:ea typeface="楷体" panose="02010609060101010101" charset="-122"/>
                <a:cs typeface="Times New Roman" panose="02020603050405020304" charset="0"/>
                <a:sym typeface="Symbol" panose="05050102010706020507" charset="0"/>
              </a:rPr>
              <a:t>cid</a:t>
            </a:r>
            <a:r>
              <a:rPr lang="en-US" altLang="zh-CN" sz="2600" b="1" spc="100" dirty="0">
                <a:solidFill>
                  <a:srgbClr val="1F2DA8"/>
                </a:solidFill>
                <a:uFillTx/>
                <a:ea typeface="楷体" panose="02010609060101010101" charset="-122"/>
                <a:cs typeface="Times New Roman" panose="02020603050405020304" charset="0"/>
                <a:sym typeface="Symbol" panose="05050102010706020507" charset="0"/>
              </a:rPr>
              <a:t>(</a:t>
            </a:r>
            <a:r>
              <a:rPr lang="en-US" altLang="zh-CN" sz="2600" b="1" spc="100" dirty="0">
                <a:solidFill>
                  <a:srgbClr val="1F2DA8"/>
                </a:solidFill>
                <a:uFillTx/>
                <a:ea typeface="楷体" panose="02010609060101010101" charset="-122"/>
                <a:cs typeface="Times New Roman" panose="02020603050405020304" charset="0"/>
                <a:sym typeface="+mn-ea"/>
              </a:rPr>
              <a:t>orders)</a:t>
            </a:r>
            <a:endParaRPr lang="en-US" altLang="zh-CN" sz="2600" b="1" spc="100" baseline="0" dirty="0">
              <a:solidFill>
                <a:srgbClr val="1F2DA8"/>
              </a:solidFill>
              <a:uFillTx/>
              <a:ea typeface="楷体" panose="02010609060101010101" charset="-122"/>
              <a:cs typeface="Times New Roman" panose="02020603050405020304" charset="0"/>
              <a:sym typeface="+mn-ea"/>
            </a:endParaRPr>
          </a:p>
        </p:txBody>
      </p:sp>
      <mc:AlternateContent xmlns:mc="http://schemas.openxmlformats.org/markup-compatibility/2006" xmlns:a14="http://schemas.microsoft.com/office/drawing/2010/main">
        <mc:Choice Requires="a14">
          <p:sp>
            <p:nvSpPr>
              <p:cNvPr id="5" name="Rectangle 3"/>
              <p:cNvSpPr>
                <a:spLocks noGrp="1"/>
              </p:cNvSpPr>
              <p:nvPr/>
            </p:nvSpPr>
            <p:spPr>
              <a:xfrm>
                <a:off x="4685030" y="4547870"/>
                <a:ext cx="7082155" cy="1291590"/>
              </a:xfrm>
              <a:prstGeom prst="rect">
                <a:avLst/>
              </a:prstGeom>
              <a:noFill/>
              <a:ln w="9525">
                <a:noFill/>
              </a:ln>
            </p:spPr>
            <p:txBody>
              <a:bodyPr wrap="square" anchor="t">
                <a:noAutofit/>
              </a:bodyPr>
              <a:lstStyle/>
              <a:p>
                <a:pPr lvl="1">
                  <a:lnSpc>
                    <a:spcPct val="150000"/>
                  </a:lnSpc>
                  <a:spcBef>
                    <a:spcPts val="20"/>
                  </a:spcBef>
                  <a:spcAft>
                    <a:spcPts val="0"/>
                  </a:spcAft>
                  <a:buClr>
                    <a:srgbClr val="CC9900"/>
                  </a:buClr>
                </a:pPr>
                <a14:m>
                  <m:oMathPara xmlns:m="http://schemas.openxmlformats.org/officeDocument/2006/math">
                    <m:oMathParaPr>
                      <m:jc m:val="left"/>
                    </m:oMathParaPr>
                    <m:oMath xmlns:m="http://schemas.openxmlformats.org/officeDocument/2006/math">
                      <m:r>
                        <a:rPr lang="en-US" altLang="x-none" sz="2600" b="1" i="1" u="none" baseline="0" dirty="0">
                          <a:solidFill>
                            <a:srgbClr val="1F2DA8"/>
                          </a:solidFill>
                          <a:latin typeface="Cambria Math" panose="02040503050406030204" charset="0"/>
                          <a:ea typeface="楷体" panose="02010609060101010101" charset="-122"/>
                          <a:cs typeface="Cambria Math" panose="02040503050406030204" charset="0"/>
                        </a:rPr>
                        <m:t>𝑸</m:t>
                      </m:r>
                      <m:r>
                        <a:rPr lang="en-US" altLang="x-none" sz="2600" b="1" i="1" u="none" baseline="-25000" dirty="0">
                          <a:solidFill>
                            <a:srgbClr val="1F2DA8"/>
                          </a:solidFill>
                          <a:latin typeface="Cambria Math" panose="02040503050406030204" charset="0"/>
                          <a:ea typeface="楷体" panose="02010609060101010101" charset="-122"/>
                          <a:cs typeface="Cambria Math" panose="02040503050406030204" charset="0"/>
                        </a:rPr>
                        <m:t>𝟓</m:t>
                      </m:r>
                      <m:r>
                        <a:rPr lang="en-US" altLang="zh-CN" sz="26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600" b="1" i="1" u="none" baseline="0" dirty="0">
                          <a:solidFill>
                            <a:srgbClr val="1F2DA8"/>
                          </a:solidFill>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6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600" b="1" i="1" u="none" baseline="0" dirty="0">
                          <a:solidFill>
                            <a:srgbClr val="1F2DA8"/>
                          </a:solidFill>
                          <a:latin typeface="Cambria Math" panose="02040503050406030204" charset="0"/>
                          <a:ea typeface="楷体" panose="02010609060101010101" charset="-122"/>
                          <a:cs typeface="Cambria Math" panose="02040503050406030204" charset="0"/>
                        </a:rPr>
                        <m:t>𝑸</m:t>
                      </m:r>
                      <m:r>
                        <a:rPr lang="en-US" altLang="zh-CN" sz="2600" b="1" i="1" u="none" baseline="-25000" dirty="0">
                          <a:solidFill>
                            <a:srgbClr val="1F2DA8"/>
                          </a:solidFill>
                          <a:latin typeface="Cambria Math" panose="02040503050406030204" charset="0"/>
                          <a:ea typeface="楷体" panose="02010609060101010101" charset="-122"/>
                          <a:cs typeface="Cambria Math" panose="02040503050406030204" charset="0"/>
                        </a:rPr>
                        <m:t>𝟒</m:t>
                      </m:r>
                    </m:oMath>
                  </m:oMathPara>
                </a14:m>
                <a:endParaRPr lang="en-US" altLang="zh-CN" sz="2600" b="1" u="none" baseline="0" dirty="0">
                  <a:solidFill>
                    <a:srgbClr val="1F2DA8"/>
                  </a:solidFill>
                  <a:ea typeface="楷体" panose="02010609060101010101" charset="-122"/>
                  <a:cs typeface="Times New Roman" panose="02020603050405020304" charset="0"/>
                </a:endParaRPr>
              </a:p>
              <a:p>
                <a:pPr lvl="1">
                  <a:lnSpc>
                    <a:spcPct val="150000"/>
                  </a:lnSpc>
                  <a:spcBef>
                    <a:spcPts val="20"/>
                  </a:spcBef>
                  <a:spcAft>
                    <a:spcPts val="0"/>
                  </a:spcAft>
                  <a:buClr>
                    <a:srgbClr val="CC9900"/>
                  </a:buClr>
                </a:pPr>
                <a14:m>
                  <m:oMathPara xmlns:m="http://schemas.openxmlformats.org/officeDocument/2006/math">
                    <m:oMathParaPr>
                      <m:jc m:val="left"/>
                    </m:oMathParaPr>
                    <m:oMath xmlns:m="http://schemas.openxmlformats.org/officeDocument/2006/math">
                      <m:r>
                        <a:rPr lang="en-US" altLang="x-none" sz="26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𝑸</m:t>
                      </m:r>
                      <m:r>
                        <a:rPr lang="en-US" altLang="x-none" sz="2600" b="1" i="1" spc="100" baseline="-25000" dirty="0">
                          <a:solidFill>
                            <a:srgbClr val="1F2DA8"/>
                          </a:solidFill>
                          <a:uFillTx/>
                          <a:latin typeface="Cambria Math" panose="02040503050406030204" charset="0"/>
                          <a:ea typeface="楷体" panose="02010609060101010101" charset="-122"/>
                          <a:cs typeface="Cambria Math" panose="02040503050406030204" charset="0"/>
                          <a:sym typeface="+mn-ea"/>
                        </a:rPr>
                        <m:t>𝟔</m:t>
                      </m:r>
                      <m:r>
                        <a:rPr lang="en-US" altLang="zh-CN" sz="26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 </m:t>
                      </m:r>
                      <m:r>
                        <a:rPr lang="en-US" altLang="zh-CN" sz="2600" b="1" i="1" dirty="0">
                          <a:solidFill>
                            <a:srgbClr val="1F2DA8"/>
                          </a:solidFill>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6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 </m:t>
                      </m:r>
                      <m:r>
                        <a:rPr lang="en-US" altLang="zh-CN" sz="26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𝑸</m:t>
                      </m:r>
                      <m:r>
                        <a:rPr lang="en-US" altLang="zh-CN" sz="2600" b="1" i="1" spc="100" baseline="-25000" dirty="0">
                          <a:solidFill>
                            <a:srgbClr val="1F2DA8"/>
                          </a:solidFill>
                          <a:uFillTx/>
                          <a:latin typeface="Cambria Math" panose="02040503050406030204" charset="0"/>
                          <a:ea typeface="楷体" panose="02010609060101010101" charset="-122"/>
                          <a:cs typeface="Cambria Math" panose="02040503050406030204" charset="0"/>
                          <a:sym typeface="+mn-ea"/>
                        </a:rPr>
                        <m:t>𝟑</m:t>
                      </m:r>
                    </m:oMath>
                  </m:oMathPara>
                </a14:m>
                <a:endParaRPr lang="en-US" altLang="zh-CN" sz="2600" b="1" i="1" spc="100" baseline="-25000" dirty="0">
                  <a:solidFill>
                    <a:srgbClr val="FF0000"/>
                  </a:solidFill>
                  <a:uFillTx/>
                  <a:latin typeface="Cambria Math" panose="02040503050406030204" charset="0"/>
                  <a:ea typeface="MS Mincho" charset="0"/>
                  <a:cs typeface="Cambria Math" panose="02040503050406030204" charset="0"/>
                  <a:sym typeface="Symbol" panose="05050102010706020507" charset="0"/>
                </a:endParaRPr>
              </a:p>
            </p:txBody>
          </p:sp>
        </mc:Choice>
        <mc:Fallback xmlns="">
          <p:sp>
            <p:nvSpPr>
              <p:cNvPr id="5" name="Rectangle 3"/>
              <p:cNvSpPr>
                <a:spLocks noRot="1" noChangeAspect="1" noMove="1" noResize="1" noEditPoints="1" noAdjustHandles="1" noChangeArrowheads="1" noChangeShapeType="1" noTextEdit="1"/>
              </p:cNvSpPr>
              <p:nvPr/>
            </p:nvSpPr>
            <p:spPr>
              <a:xfrm>
                <a:off x="4685030" y="4547870"/>
                <a:ext cx="7082155" cy="1291590"/>
              </a:xfrm>
              <a:prstGeom prst="rect">
                <a:avLst/>
              </a:prstGeom>
              <a:blipFill rotWithShape="1">
                <a:blip r:embed="rId3"/>
                <a:stretch>
                  <a:fillRect b="-688"/>
                </a:stretch>
              </a:blipFill>
              <a:ln w="9525">
                <a:noFill/>
              </a:ln>
            </p:spPr>
            <p:txBody>
              <a:bodyPr/>
              <a:lstStyle/>
              <a:p>
                <a:r>
                  <a:rPr lang="zh-CN" altLang="en-US">
                    <a:noFill/>
                  </a:rPr>
                  <a:t> </a:t>
                </a:r>
              </a:p>
            </p:txBody>
          </p:sp>
        </mc:Fallback>
      </mc:AlternateContent>
      <p:sp>
        <p:nvSpPr>
          <p:cNvPr id="6" name="文本框 5"/>
          <p:cNvSpPr txBox="1"/>
          <p:nvPr/>
        </p:nvSpPr>
        <p:spPr>
          <a:xfrm>
            <a:off x="431800" y="794385"/>
            <a:ext cx="885825" cy="429895"/>
          </a:xfrm>
          <a:prstGeom prst="rect">
            <a:avLst/>
          </a:prstGeom>
          <a:solidFill>
            <a:schemeClr val="bg1"/>
          </a:solidFill>
        </p:spPr>
        <p:txBody>
          <a:bodyPr wrap="square" rtlCol="0">
            <a:spAutoFit/>
          </a:bodyPr>
          <a:lstStyle/>
          <a:p>
            <a:pPr>
              <a:lnSpc>
                <a:spcPct val="110000"/>
              </a:lnSpc>
              <a:spcBef>
                <a:spcPts val="600"/>
              </a:spcBef>
              <a:spcAft>
                <a:spcPts val="0"/>
              </a:spcAft>
            </a:pPr>
            <a:r>
              <a:rPr lang="zh-CN" altLang="en-US" sz="2000" b="1"/>
              <a:t>第</a:t>
            </a:r>
            <a:r>
              <a:rPr lang="en-US" altLang="zh-CN" sz="2000" b="1"/>
              <a:t>3</a:t>
            </a:r>
            <a:r>
              <a:rPr lang="zh-CN" altLang="en-US" sz="2000" b="1"/>
              <a:t>组</a:t>
            </a:r>
            <a:endParaRPr lang="en-US" altLang="zh-CN" sz="2000" b="1"/>
          </a:p>
        </p:txBody>
      </p:sp>
      <mc:AlternateContent xmlns:mc="http://schemas.openxmlformats.org/markup-compatibility/2006" xmlns:a14="http://schemas.microsoft.com/office/drawing/2010/main">
        <mc:Choice Requires="a14">
          <p:graphicFrame>
            <p:nvGraphicFramePr>
              <p:cNvPr id="11" name="表格 10"/>
              <p:cNvGraphicFramePr/>
              <p:nvPr>
                <p:custDataLst>
                  <p:tags r:id="rId1"/>
                </p:custDataLst>
              </p:nvPr>
            </p:nvGraphicFramePr>
            <p:xfrm>
              <a:off x="1259840" y="612140"/>
              <a:ext cx="9823450" cy="1146810"/>
            </p:xfrm>
            <a:graphic>
              <a:graphicData uri="http://schemas.openxmlformats.org/drawingml/2006/table">
                <a:tbl>
                  <a:tblPr firstRow="1" bandRow="1">
                    <a:tableStyleId>{5C22544A-7EE6-4342-B048-85BDC9FD1C3A}</a:tableStyleId>
                  </a:tblPr>
                  <a:tblGrid>
                    <a:gridCol w="926465">
                      <a:extLst>
                        <a:ext uri="{9D8B030D-6E8A-4147-A177-3AD203B41FA5}">
                          <a16:colId xmlns:a16="http://schemas.microsoft.com/office/drawing/2014/main" val="20000"/>
                        </a:ext>
                      </a:extLst>
                    </a:gridCol>
                    <a:gridCol w="8896985">
                      <a:extLst>
                        <a:ext uri="{9D8B030D-6E8A-4147-A177-3AD203B41FA5}">
                          <a16:colId xmlns:a16="http://schemas.microsoft.com/office/drawing/2014/main" val="20001"/>
                        </a:ext>
                      </a:extLst>
                    </a:gridCol>
                  </a:tblGrid>
                  <a:tr h="573405">
                    <a:tc>
                      <a:txBody>
                        <a:bodyPr/>
                        <a:lstStyle/>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5</a:t>
                          </a: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 − </m:t>
                                </m:r>
                                <m:r>
                                  <a:rPr lang="en-US" altLang="zh-CN" sz="2400"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m:oMathPara>
                          </a14:m>
                          <a:endParaRPr lang="en-US" altLang="zh-CN" sz="2400" i="1" spc="100">
                            <a:solidFill>
                              <a:srgbClr val="FF0000"/>
                            </a:solidFill>
                            <a:uFillTx/>
                            <a:ea typeface="楷体" panose="02010609060101010101" charset="-122"/>
                            <a:cs typeface="Times New Roman" panose="020206030504050203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573405">
                    <a:tc>
                      <a:txBody>
                        <a:bodyPr/>
                        <a:lstStyle/>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6</a:t>
                          </a:r>
                          <a:endParaRPr lang="zh-CN" altLang="en-US">
                            <a:solidFill>
                              <a:srgbClr val="0000CC"/>
                            </a:solidFill>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 − </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m:oMathPara>
                          </a14:m>
                          <a:endParaRPr lang="en-US" altLang="zh-CN" sz="2400" b="1" i="1" spc="100">
                            <a:solidFill>
                              <a:srgbClr val="FF0000"/>
                            </a:solidFill>
                            <a:uFillTx/>
                            <a:ea typeface="楷体" panose="02010609060101010101" charset="-122"/>
                            <a:cs typeface="Times New Roman" panose="020206030504050203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bl>
              </a:graphicData>
            </a:graphic>
          </p:graphicFrame>
        </mc:Choice>
        <mc:Fallback xmlns="">
          <p:graphicFrame>
            <p:nvGraphicFramePr>
              <p:cNvPr id="11" name="表格 10"/>
              <p:cNvGraphicFramePr/>
              <p:nvPr>
                <p:custDataLst>
                  <p:tags r:id="rId4"/>
                </p:custDataLst>
              </p:nvPr>
            </p:nvGraphicFramePr>
            <p:xfrm>
              <a:off x="1259840" y="612140"/>
              <a:ext cx="9823450" cy="1146810"/>
            </p:xfrm>
            <a:graphic>
              <a:graphicData uri="http://schemas.openxmlformats.org/drawingml/2006/table">
                <a:tbl>
                  <a:tblPr firstRow="1" bandRow="1">
                    <a:tableStyleId>{5C22544A-7EE6-4342-B048-85BDC9FD1C3A}</a:tableStyleId>
                  </a:tblPr>
                  <a:tblGrid>
                    <a:gridCol w="926465"/>
                    <a:gridCol w="8896985"/>
                  </a:tblGrid>
                  <a:tr h="573405">
                    <a:tc>
                      <a:txBody>
                        <a:bodyPr/>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5</a:t>
                          </a:r>
                          <a:endParaRPr lang="en-US" altLang="zh-CN" sz="2400" spc="100" baseline="-25000">
                            <a:solidFill>
                              <a:schemeClr val="tx1"/>
                            </a:solidFill>
                            <a:uFillTx/>
                            <a:ea typeface="楷体" panose="02010609060101010101" charset="-122"/>
                            <a:cs typeface="Times New Roman" panose="02020603050405020304" charset="0"/>
                            <a:sym typeface="+mn-ea"/>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573405">
                    <a:tc>
                      <a:txBody>
                        <a:bodyPr/>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6</a:t>
                          </a:r>
                          <a:endParaRPr lang="zh-CN" altLang="en-US">
                            <a:solidFill>
                              <a:srgbClr val="0000CC"/>
                            </a:solidFill>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bl>
              </a:graphicData>
            </a:graphic>
          </p:graphicFrame>
        </mc:Fallback>
      </mc:AlternateContent>
      <p:grpSp>
        <p:nvGrpSpPr>
          <p:cNvPr id="17" name="组合 16"/>
          <p:cNvGrpSpPr/>
          <p:nvPr/>
        </p:nvGrpSpPr>
        <p:grpSpPr>
          <a:xfrm>
            <a:off x="6960235" y="4647565"/>
            <a:ext cx="4283710" cy="1240155"/>
            <a:chOff x="10961" y="7319"/>
            <a:chExt cx="6746" cy="1953"/>
          </a:xfrm>
        </p:grpSpPr>
        <p:pic>
          <p:nvPicPr>
            <p:cNvPr id="12" name="图片 11"/>
            <p:cNvPicPr>
              <a:picLocks noChangeAspect="1"/>
            </p:cNvPicPr>
            <p:nvPr/>
          </p:nvPicPr>
          <p:blipFill>
            <a:blip r:embed="rId6"/>
            <a:stretch>
              <a:fillRect/>
            </a:stretch>
          </p:blipFill>
          <p:spPr>
            <a:xfrm>
              <a:off x="10961" y="8412"/>
              <a:ext cx="6746" cy="861"/>
            </a:xfrm>
            <a:prstGeom prst="rect">
              <a:avLst/>
            </a:prstGeom>
            <a:ln>
              <a:solidFill>
                <a:schemeClr val="tx1"/>
              </a:solidFill>
            </a:ln>
          </p:spPr>
        </p:pic>
        <p:pic>
          <p:nvPicPr>
            <p:cNvPr id="13" name="图片 12"/>
            <p:cNvPicPr>
              <a:picLocks noChangeAspect="1"/>
            </p:cNvPicPr>
            <p:nvPr/>
          </p:nvPicPr>
          <p:blipFill>
            <a:blip r:embed="rId7"/>
            <a:stretch>
              <a:fillRect/>
            </a:stretch>
          </p:blipFill>
          <p:spPr>
            <a:xfrm>
              <a:off x="10961" y="7319"/>
              <a:ext cx="6746" cy="861"/>
            </a:xfrm>
            <a:prstGeom prst="rect">
              <a:avLst/>
            </a:prstGeom>
            <a:ln>
              <a:solidFill>
                <a:schemeClr val="tx1"/>
              </a:solidFill>
            </a:ln>
          </p:spPr>
        </p:pic>
      </p:gr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blinds(horizontal)">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5" grpId="0" build="p" bldLvl="2"/>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思考题（第</a:t>
            </a:r>
            <a:r>
              <a:rPr lang="en-US" altLang="zh-CN">
                <a:sym typeface="+mn-ea"/>
              </a:rPr>
              <a:t>4</a:t>
            </a:r>
            <a:r>
              <a:rPr lang="zh-CN" altLang="en-US">
                <a:sym typeface="+mn-ea"/>
              </a:rPr>
              <a:t>组）</a:t>
            </a:r>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54</a:t>
            </a:fld>
            <a:endParaRPr lang="zh-CN" altLang="en-US"/>
          </a:p>
        </p:txBody>
      </p:sp>
      <p:sp>
        <p:nvSpPr>
          <p:cNvPr id="9" name="Rectangle 3"/>
          <p:cNvSpPr>
            <a:spLocks noGrp="1"/>
          </p:cNvSpPr>
          <p:nvPr/>
        </p:nvSpPr>
        <p:spPr>
          <a:xfrm>
            <a:off x="431800" y="1685925"/>
            <a:ext cx="11247755" cy="460375"/>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zh-CN" sz="2400" b="1" dirty="0">
                <a:solidFill>
                  <a:srgbClr val="1F2DA8"/>
                </a:solidFill>
                <a:highlight>
                  <a:srgbClr val="FFFF00"/>
                </a:highlight>
                <a:ea typeface="楷体" panose="02010609060101010101" charset="-122"/>
              </a:rPr>
              <a:t>查询</a:t>
            </a:r>
            <a:r>
              <a:rPr lang="zh-CN" altLang="en-US" sz="2400" b="1" dirty="0">
                <a:solidFill>
                  <a:srgbClr val="1F2DA8"/>
                </a:solidFill>
                <a:highlight>
                  <a:srgbClr val="FFFF00"/>
                </a:highlight>
                <a:ea typeface="楷体" panose="02010609060101010101" charset="-122"/>
              </a:rPr>
              <a:t>结果集的语义是什么？</a:t>
            </a:r>
            <a:endParaRPr lang="zh-CN" altLang="en-US" sz="2400" b="1" u="none" baseline="0" dirty="0">
              <a:solidFill>
                <a:srgbClr val="1F2DA8"/>
              </a:solidFill>
              <a:highlight>
                <a:srgbClr val="FFFF00"/>
              </a:highlight>
              <a:ea typeface="楷体" panose="02010609060101010101" charset="-122"/>
            </a:endParaRPr>
          </a:p>
        </p:txBody>
      </p:sp>
      <p:sp>
        <p:nvSpPr>
          <p:cNvPr id="10" name="Rectangle 3"/>
          <p:cNvSpPr>
            <a:spLocks noGrp="1"/>
          </p:cNvSpPr>
          <p:nvPr/>
        </p:nvSpPr>
        <p:spPr>
          <a:xfrm>
            <a:off x="431800" y="2175510"/>
            <a:ext cx="11247755" cy="906780"/>
          </a:xfrm>
          <a:prstGeom prst="rect">
            <a:avLst/>
          </a:prstGeom>
          <a:noFill/>
          <a:ln w="9525">
            <a:noFill/>
          </a:ln>
        </p:spPr>
        <p:txBody>
          <a:bodyPr wrap="square" anchor="t">
            <a:noAutofit/>
          </a:bodyPr>
          <a:lstStyle/>
          <a:p>
            <a:pPr marL="1205230" lvl="1" indent="-748030">
              <a:lnSpc>
                <a:spcPct val="100000"/>
              </a:lnSpc>
              <a:spcBef>
                <a:spcPts val="0"/>
              </a:spcBef>
              <a:spcAft>
                <a:spcPts val="600"/>
              </a:spcAft>
              <a:buClr>
                <a:srgbClr val="CC9900"/>
              </a:buClr>
            </a:pPr>
            <a:r>
              <a:rPr lang="en-US" altLang="x-none" sz="2400" b="1" dirty="0">
                <a:solidFill>
                  <a:srgbClr val="1F2DA8"/>
                </a:solidFill>
                <a:ea typeface="楷体" panose="02010609060101010101" charset="-122"/>
                <a:cs typeface="Times New Roman" panose="02020603050405020304" charset="0"/>
                <a:sym typeface="+mn-ea"/>
              </a:rPr>
              <a:t>Q</a:t>
            </a:r>
            <a:r>
              <a:rPr lang="en-US" altLang="x-none" sz="2400" b="1" baseline="-25000" dirty="0">
                <a:solidFill>
                  <a:srgbClr val="1F2DA8"/>
                </a:solidFill>
                <a:ea typeface="楷体" panose="02010609060101010101" charset="-122"/>
                <a:cs typeface="Times New Roman" panose="02020603050405020304" charset="0"/>
                <a:sym typeface="+mn-ea"/>
              </a:rPr>
              <a:t>7</a:t>
            </a:r>
            <a:r>
              <a:rPr lang="zh-CN" altLang="en-US" sz="2400" b="1" dirty="0">
                <a:solidFill>
                  <a:srgbClr val="1F2DA8"/>
                </a:solidFill>
                <a:ea typeface="楷体" panose="02010609060101010101" charset="-122"/>
                <a:cs typeface="Times New Roman" panose="02020603050405020304" charset="0"/>
                <a:sym typeface="+mn-ea"/>
              </a:rPr>
              <a:t>：没有购买过</a:t>
            </a:r>
            <a:r>
              <a:rPr lang="en-US" altLang="zh-CN" sz="2400" b="1" dirty="0">
                <a:solidFill>
                  <a:srgbClr val="1F2DA8"/>
                </a:solidFill>
                <a:ea typeface="楷体" panose="02010609060101010101" charset="-122"/>
                <a:cs typeface="Times New Roman" panose="02020603050405020304" charset="0"/>
                <a:sym typeface="+mn-ea"/>
              </a:rPr>
              <a:t>p01</a:t>
            </a:r>
            <a:r>
              <a:rPr lang="zh-CN" altLang="en-US" sz="2400" b="1" dirty="0">
                <a:solidFill>
                  <a:srgbClr val="1F2DA8"/>
                </a:solidFill>
                <a:ea typeface="楷体" panose="02010609060101010101" charset="-122"/>
                <a:cs typeface="Times New Roman" panose="02020603050405020304" charset="0"/>
                <a:sym typeface="+mn-ea"/>
              </a:rPr>
              <a:t>号商品的顾客 </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1F2DA8"/>
                </a:solidFill>
                <a:ea typeface="楷体" panose="02010609060101010101" charset="-122"/>
                <a:cs typeface="Times New Roman" panose="02020603050405020304" charset="0"/>
                <a:sym typeface="+mn-ea"/>
              </a:rPr>
              <a:t>包括</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1F2DA8"/>
                </a:solidFill>
                <a:ea typeface="楷体" panose="02010609060101010101" charset="-122"/>
                <a:cs typeface="Times New Roman" panose="02020603050405020304" charset="0"/>
                <a:sym typeface="+mn-ea"/>
              </a:rPr>
              <a:t>没有购买过任何商品</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1F2DA8"/>
                </a:solidFill>
                <a:ea typeface="楷体" panose="02010609060101010101" charset="-122"/>
                <a:cs typeface="Times New Roman" panose="02020603050405020304" charset="0"/>
                <a:sym typeface="+mn-ea"/>
              </a:rPr>
              <a:t>的顾客</a:t>
            </a:r>
            <a:r>
              <a:rPr lang="en-US" altLang="zh-CN" sz="2400" b="1" dirty="0">
                <a:solidFill>
                  <a:srgbClr val="1F2DA8"/>
                </a:solidFill>
                <a:ea typeface="楷体" panose="02010609060101010101" charset="-122"/>
                <a:cs typeface="Times New Roman" panose="02020603050405020304" charset="0"/>
                <a:sym typeface="+mn-ea"/>
              </a:rPr>
              <a:t>)</a:t>
            </a:r>
            <a:endParaRPr lang="en-US" altLang="zh-CN" sz="2400" b="1" u="none" baseline="0" dirty="0">
              <a:solidFill>
                <a:srgbClr val="1F2DA8"/>
              </a:solidFill>
              <a:ea typeface="楷体" panose="02010609060101010101" charset="-122"/>
              <a:cs typeface="Times New Roman" panose="02020603050405020304" charset="0"/>
            </a:endParaRPr>
          </a:p>
          <a:p>
            <a:pPr marL="1205230" lvl="1" indent="-748030">
              <a:lnSpc>
                <a:spcPct val="100000"/>
              </a:lnSpc>
              <a:spcBef>
                <a:spcPts val="0"/>
              </a:spcBef>
              <a:spcAft>
                <a:spcPts val="600"/>
              </a:spcAft>
              <a:buClr>
                <a:srgbClr val="CC9900"/>
              </a:buClr>
            </a:pP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8</a:t>
            </a:r>
            <a:r>
              <a:rPr lang="zh-CN" altLang="en-US" sz="2400" b="1" dirty="0">
                <a:solidFill>
                  <a:srgbClr val="1F2DA8"/>
                </a:solidFill>
                <a:ea typeface="楷体" panose="02010609060101010101" charset="-122"/>
                <a:cs typeface="Times New Roman" panose="02020603050405020304" charset="0"/>
                <a:sym typeface="+mn-ea"/>
              </a:rPr>
              <a:t>：</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u="sng" dirty="0">
                <a:solidFill>
                  <a:srgbClr val="1F2DA8"/>
                </a:solidFill>
                <a:effectLst/>
                <a:ea typeface="楷体" panose="02010609060101010101" charset="-122"/>
                <a:cs typeface="Times New Roman" panose="02020603050405020304" charset="0"/>
                <a:sym typeface="+mn-ea"/>
              </a:rPr>
              <a:t>只购买</a:t>
            </a:r>
            <a:r>
              <a:rPr lang="zh-CN" altLang="en-US" sz="2400" b="1" u="sng" dirty="0">
                <a:solidFill>
                  <a:srgbClr val="1F2DA8"/>
                </a:solidFill>
                <a:ea typeface="楷体" panose="02010609060101010101" charset="-122"/>
                <a:cs typeface="Times New Roman" panose="02020603050405020304" charset="0"/>
                <a:sym typeface="+mn-ea"/>
              </a:rPr>
              <a:t>过</a:t>
            </a:r>
            <a:r>
              <a:rPr lang="en-US" altLang="zh-CN" sz="2400" b="1" u="sng" dirty="0">
                <a:solidFill>
                  <a:srgbClr val="1F2DA8"/>
                </a:solidFill>
                <a:ea typeface="楷体" panose="02010609060101010101" charset="-122"/>
                <a:cs typeface="Times New Roman" panose="02020603050405020304" charset="0"/>
                <a:sym typeface="+mn-ea"/>
              </a:rPr>
              <a:t>p01</a:t>
            </a:r>
            <a:r>
              <a:rPr lang="zh-CN" altLang="en-US" sz="2400" b="1" u="sng" dirty="0">
                <a:solidFill>
                  <a:srgbClr val="1F2DA8"/>
                </a:solidFill>
                <a:ea typeface="楷体" panose="02010609060101010101" charset="-122"/>
                <a:cs typeface="Times New Roman" panose="02020603050405020304" charset="0"/>
                <a:sym typeface="+mn-ea"/>
              </a:rPr>
              <a:t>号商品</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1F2DA8"/>
                </a:solidFill>
                <a:ea typeface="楷体" panose="02010609060101010101" charset="-122"/>
                <a:cs typeface="Times New Roman" panose="02020603050405020304" charset="0"/>
                <a:sym typeface="+mn-ea"/>
              </a:rPr>
              <a:t>的顾客 和 </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u="sng" dirty="0">
                <a:solidFill>
                  <a:srgbClr val="1F2DA8"/>
                </a:solidFill>
                <a:ea typeface="楷体" panose="02010609060101010101" charset="-122"/>
                <a:cs typeface="Times New Roman" panose="02020603050405020304" charset="0"/>
                <a:sym typeface="+mn-ea"/>
              </a:rPr>
              <a:t>没有购买过任何商品</a:t>
            </a:r>
            <a:r>
              <a:rPr lang="en-US" altLang="zh-CN" sz="2400" b="1" dirty="0">
                <a:solidFill>
                  <a:srgbClr val="1F2DA8"/>
                </a:solidFill>
                <a:ea typeface="楷体" panose="02010609060101010101" charset="-122"/>
                <a:cs typeface="Times New Roman" panose="02020603050405020304" charset="0"/>
                <a:sym typeface="+mn-ea"/>
              </a:rPr>
              <a:t>” </a:t>
            </a:r>
            <a:r>
              <a:rPr lang="zh-CN" altLang="en-US" sz="2400" b="1" dirty="0">
                <a:solidFill>
                  <a:srgbClr val="1F2DA8"/>
                </a:solidFill>
                <a:ea typeface="楷体" panose="02010609060101010101" charset="-122"/>
                <a:cs typeface="Times New Roman" panose="02020603050405020304" charset="0"/>
                <a:sym typeface="+mn-ea"/>
              </a:rPr>
              <a:t>的顾客</a:t>
            </a:r>
            <a:endParaRPr lang="zh-CN" altLang="en-US" sz="2400" b="1" u="none" baseline="0" dirty="0">
              <a:solidFill>
                <a:srgbClr val="1F2DA8"/>
              </a:solidFill>
              <a:ea typeface="楷体" panose="02010609060101010101" charset="-122"/>
              <a:cs typeface="Times New Roman" panose="02020603050405020304" charset="0"/>
              <a:sym typeface="+mn-ea"/>
            </a:endParaRPr>
          </a:p>
        </p:txBody>
      </p:sp>
      <p:sp>
        <p:nvSpPr>
          <p:cNvPr id="6" name="文本框 5"/>
          <p:cNvSpPr txBox="1"/>
          <p:nvPr/>
        </p:nvSpPr>
        <p:spPr>
          <a:xfrm>
            <a:off x="431800" y="670560"/>
            <a:ext cx="885190" cy="429895"/>
          </a:xfrm>
          <a:prstGeom prst="rect">
            <a:avLst/>
          </a:prstGeom>
          <a:solidFill>
            <a:schemeClr val="bg1"/>
          </a:solidFill>
        </p:spPr>
        <p:txBody>
          <a:bodyPr wrap="square" rtlCol="0">
            <a:spAutoFit/>
          </a:bodyPr>
          <a:lstStyle/>
          <a:p>
            <a:pPr>
              <a:lnSpc>
                <a:spcPct val="110000"/>
              </a:lnSpc>
              <a:spcBef>
                <a:spcPts val="600"/>
              </a:spcBef>
              <a:spcAft>
                <a:spcPts val="0"/>
              </a:spcAft>
            </a:pPr>
            <a:r>
              <a:rPr lang="zh-CN" altLang="en-US" sz="2000" b="1"/>
              <a:t>第</a:t>
            </a:r>
            <a:r>
              <a:rPr lang="en-US" altLang="zh-CN" sz="2000" b="1"/>
              <a:t>4</a:t>
            </a:r>
            <a:r>
              <a:rPr lang="zh-CN" altLang="en-US" sz="2000" b="1"/>
              <a:t>组</a:t>
            </a:r>
            <a:endParaRPr lang="en-US" altLang="zh-CN" sz="2000" b="1"/>
          </a:p>
        </p:txBody>
      </p:sp>
      <mc:AlternateContent xmlns:mc="http://schemas.openxmlformats.org/markup-compatibility/2006" xmlns:a14="http://schemas.microsoft.com/office/drawing/2010/main">
        <mc:Choice Requires="a14">
          <p:graphicFrame>
            <p:nvGraphicFramePr>
              <p:cNvPr id="11" name="表格 10"/>
              <p:cNvGraphicFramePr/>
              <p:nvPr>
                <p:custDataLst>
                  <p:tags r:id="rId1"/>
                </p:custDataLst>
              </p:nvPr>
            </p:nvGraphicFramePr>
            <p:xfrm>
              <a:off x="1259840" y="612140"/>
              <a:ext cx="9716770" cy="986790"/>
            </p:xfrm>
            <a:graphic>
              <a:graphicData uri="http://schemas.openxmlformats.org/drawingml/2006/table">
                <a:tbl>
                  <a:tblPr firstRow="1" bandRow="1">
                    <a:tableStyleId>{5C22544A-7EE6-4342-B048-85BDC9FD1C3A}</a:tableStyleId>
                  </a:tblPr>
                  <a:tblGrid>
                    <a:gridCol w="810895">
                      <a:extLst>
                        <a:ext uri="{9D8B030D-6E8A-4147-A177-3AD203B41FA5}">
                          <a16:colId xmlns:a16="http://schemas.microsoft.com/office/drawing/2014/main" val="20000"/>
                        </a:ext>
                      </a:extLst>
                    </a:gridCol>
                    <a:gridCol w="8905875">
                      <a:extLst>
                        <a:ext uri="{9D8B030D-6E8A-4147-A177-3AD203B41FA5}">
                          <a16:colId xmlns:a16="http://schemas.microsoft.com/office/drawing/2014/main" val="20001"/>
                        </a:ext>
                      </a:extLst>
                    </a:gridCol>
                  </a:tblGrid>
                  <a:tr h="493395">
                    <a:tc>
                      <a:txBody>
                        <a:bodyPr/>
                        <a:lstStyle/>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7</a:t>
                          </a: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𝒄𝒖𝒔𝒕𝒐𝒎𝒆𝒓𝒔</m:t>
                                </m:r>
                                <m:r>
                                  <a:rPr lang="en-US" altLang="zh-CN" sz="2400"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 − </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i="1" spc="80">
                                    <a:solidFill>
                                      <a:srgbClr val="FF0000"/>
                                    </a:solidFill>
                                    <a:uFillTx/>
                                    <a:latin typeface="Cambria Math" panose="02040503050406030204" charset="0"/>
                                    <a:ea typeface="MS Mincho" charset="0"/>
                                    <a:cs typeface="Cambria Math" panose="02040503050406030204" charset="0"/>
                                    <a:sym typeface="Symbol" panose="05050102010706020507" charset="0"/>
                                  </a:rPr>
                                  <m:t>))</m:t>
                                </m:r>
                              </m:oMath>
                            </m:oMathPara>
                          </a14:m>
                          <a:endParaRPr lang="en-US" altLang="zh-CN" sz="2400" i="1" spc="80">
                            <a:solidFill>
                              <a:srgbClr val="FF0000"/>
                            </a:solidFill>
                            <a:uFillTx/>
                            <a:latin typeface="Cambria Math" panose="02040503050406030204" charset="0"/>
                            <a:ea typeface="MS Mincho" charset="0"/>
                            <a:cs typeface="Cambria Math" panose="020405030504060302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493395">
                    <a:tc>
                      <a:txBody>
                        <a:bodyPr/>
                        <a:lstStyle/>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8</a:t>
                          </a:r>
                          <a:endParaRPr lang="zh-CN" altLang="en-US">
                            <a:solidFill>
                              <a:srgbClr val="0000CC"/>
                            </a:solidFill>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𝒄𝒖𝒔𝒕𝒐𝒎𝒆𝒓𝒔</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 − </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b="1" i="1" spc="8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b="1" i="1" spc="8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m:oMathPara>
                          </a14:m>
                          <a:endParaRPr lang="en-US" altLang="zh-CN" sz="2400" b="1" i="1" spc="8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bl>
              </a:graphicData>
            </a:graphic>
          </p:graphicFrame>
        </mc:Choice>
        <mc:Fallback xmlns="">
          <p:graphicFrame>
            <p:nvGraphicFramePr>
              <p:cNvPr id="11" name="表格 10"/>
              <p:cNvGraphicFramePr/>
              <p:nvPr>
                <p:custDataLst>
                  <p:tags r:id="rId3"/>
                </p:custDataLst>
              </p:nvPr>
            </p:nvGraphicFramePr>
            <p:xfrm>
              <a:off x="1259840" y="612140"/>
              <a:ext cx="9716770" cy="986790"/>
            </p:xfrm>
            <a:graphic>
              <a:graphicData uri="http://schemas.openxmlformats.org/drawingml/2006/table">
                <a:tbl>
                  <a:tblPr firstRow="1" bandRow="1">
                    <a:tableStyleId>{5C22544A-7EE6-4342-B048-85BDC9FD1C3A}</a:tableStyleId>
                  </a:tblPr>
                  <a:tblGrid>
                    <a:gridCol w="810895"/>
                    <a:gridCol w="8905875"/>
                  </a:tblGrid>
                  <a:tr h="493395">
                    <a:tc>
                      <a:txBody>
                        <a:bodyPr/>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7</a:t>
                          </a:r>
                          <a:endParaRPr lang="en-US" altLang="zh-CN" sz="2400" spc="100" baseline="-25000">
                            <a:solidFill>
                              <a:schemeClr val="tx1"/>
                            </a:solidFill>
                            <a:uFillTx/>
                            <a:ea typeface="楷体" panose="02010609060101010101" charset="-122"/>
                            <a:cs typeface="Times New Roman" panose="02020603050405020304" charset="0"/>
                            <a:sym typeface="+mn-ea"/>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493395">
                    <a:tc>
                      <a:txBody>
                        <a:bodyPr/>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8</a:t>
                          </a:r>
                          <a:endParaRPr lang="zh-CN" altLang="en-US">
                            <a:solidFill>
                              <a:srgbClr val="0000CC"/>
                            </a:solidFill>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bl>
              </a:graphicData>
            </a:graphic>
          </p:graphicFrame>
        </mc:Fallback>
      </mc:AlternateContent>
      <p:sp>
        <p:nvSpPr>
          <p:cNvPr id="12" name="Rectangle 3"/>
          <p:cNvSpPr>
            <a:spLocks noGrp="1"/>
          </p:cNvSpPr>
          <p:nvPr/>
        </p:nvSpPr>
        <p:spPr>
          <a:xfrm>
            <a:off x="430530" y="3229610"/>
            <a:ext cx="11247755" cy="460375"/>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en-US" sz="2400" b="1" dirty="0">
                <a:solidFill>
                  <a:srgbClr val="1F2DA8"/>
                </a:solidFill>
                <a:highlight>
                  <a:srgbClr val="FFFF00"/>
                </a:highlight>
                <a:ea typeface="楷体" panose="02010609060101010101" charset="-122"/>
              </a:rPr>
              <a:t>两个结果集的关系是什么？</a:t>
            </a:r>
            <a:endParaRPr lang="zh-CN" altLang="en-US" sz="2400" b="1" u="none" baseline="0" dirty="0">
              <a:solidFill>
                <a:srgbClr val="1F2DA8"/>
              </a:solidFill>
              <a:highlight>
                <a:srgbClr val="FFFF00"/>
              </a:highlight>
              <a:ea typeface="楷体" panose="02010609060101010101" charset="-122"/>
            </a:endParaRPr>
          </a:p>
        </p:txBody>
      </p:sp>
      <mc:AlternateContent xmlns:mc="http://schemas.openxmlformats.org/markup-compatibility/2006" xmlns:a14="http://schemas.microsoft.com/office/drawing/2010/main">
        <mc:Choice Requires="a14">
          <p:sp>
            <p:nvSpPr>
              <p:cNvPr id="8" name="Rectangle 3"/>
              <p:cNvSpPr>
                <a:spLocks noGrp="1"/>
              </p:cNvSpPr>
              <p:nvPr/>
            </p:nvSpPr>
            <p:spPr>
              <a:xfrm>
                <a:off x="431800" y="3668395"/>
                <a:ext cx="11247755" cy="2306955"/>
              </a:xfrm>
              <a:prstGeom prst="rect">
                <a:avLst/>
              </a:prstGeom>
              <a:noFill/>
              <a:ln w="9525">
                <a:noFill/>
              </a:ln>
            </p:spPr>
            <p:txBody>
              <a:bodyPr wrap="square" anchor="t">
                <a:noAutofit/>
              </a:bodyPr>
              <a:lstStyle/>
              <a:p>
                <a:pPr marL="457835" lvl="1">
                  <a:lnSpc>
                    <a:spcPct val="100000"/>
                  </a:lnSpc>
                  <a:spcBef>
                    <a:spcPts val="0"/>
                  </a:spcBef>
                  <a:spcAft>
                    <a:spcPts val="0"/>
                  </a:spcAft>
                  <a:buClr>
                    <a:srgbClr val="CC9900"/>
                  </a:buClr>
                </a:pP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根据顾客的商品购买情况，将所有顾客划分为以下互不相交的四个子集：</a:t>
                </a:r>
              </a:p>
              <a:p>
                <a:pPr marL="1257935" lvl="2" indent="-342900">
                  <a:lnSpc>
                    <a:spcPct val="100000"/>
                  </a:lnSpc>
                  <a:spcBef>
                    <a:spcPts val="0"/>
                  </a:spcBef>
                  <a:spcAft>
                    <a:spcPts val="0"/>
                  </a:spcAft>
                  <a:buClr>
                    <a:srgbClr val="C00000"/>
                  </a:buClr>
                  <a:buSzPct val="85000"/>
                  <a:buFont typeface="Arial" panose="020B0604020202020204" pitchFamily="34" charset="0"/>
                  <a:buChar char="•"/>
                </a:pP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没有购买过任何商品的顾客集合</a:t>
                </a:r>
                <a14:m>
                  <m:oMath xmlns:m="http://schemas.openxmlformats.org/officeDocument/2006/math">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400" b="1" i="1" u="none" baseline="0" dirty="0">
                        <a:solidFill>
                          <a:srgbClr val="FF0000"/>
                        </a:solidFill>
                        <a:latin typeface="Cambria Math" panose="02040503050406030204" charset="0"/>
                        <a:ea typeface="楷体" panose="02010609060101010101" charset="-122"/>
                        <a:cs typeface="Cambria Math" panose="02040503050406030204" charset="0"/>
                      </a:rPr>
                      <m:t>𝑺</m:t>
                    </m:r>
                    <m:r>
                      <a:rPr lang="en-US" altLang="zh-CN" sz="2400" b="1" i="1" u="none" baseline="-25000" dirty="0">
                        <a:solidFill>
                          <a:srgbClr val="FF0000"/>
                        </a:solidFill>
                        <a:latin typeface="Cambria Math" panose="02040503050406030204" charset="0"/>
                        <a:ea typeface="楷体" panose="02010609060101010101" charset="-122"/>
                        <a:cs typeface="Cambria Math" panose="02040503050406030204" charset="0"/>
                      </a:rPr>
                      <m:t>𝟏</m:t>
                    </m:r>
                  </m:oMath>
                </a14:m>
                <a:endParaRPr lang="zh-CN" altLang="en-US" sz="2400" b="1" u="none" baseline="0" dirty="0">
                  <a:solidFill>
                    <a:srgbClr val="1F2DA8"/>
                  </a:solidFill>
                  <a:latin typeface="楷体" panose="02010609060101010101" charset="-122"/>
                  <a:ea typeface="楷体" panose="02010609060101010101" charset="-122"/>
                  <a:cs typeface="楷体" panose="02010609060101010101" charset="-122"/>
                </a:endParaRPr>
              </a:p>
              <a:p>
                <a:pPr marL="1257935" lvl="2" indent="-342900">
                  <a:lnSpc>
                    <a:spcPct val="100000"/>
                  </a:lnSpc>
                  <a:spcBef>
                    <a:spcPts val="0"/>
                  </a:spcBef>
                  <a:spcAft>
                    <a:spcPts val="0"/>
                  </a:spcAft>
                  <a:buClr>
                    <a:srgbClr val="C00000"/>
                  </a:buClr>
                  <a:buSzPct val="85000"/>
                  <a:buFont typeface="Arial" panose="020B0604020202020204" pitchFamily="34" charset="0"/>
                  <a:buChar char="•"/>
                </a:pP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只购买过</a:t>
                </a:r>
                <a:r>
                  <a:rPr lang="en-US" altLang="zh-CN" sz="2400" b="1" u="none" baseline="0" dirty="0">
                    <a:solidFill>
                      <a:srgbClr val="1F2DA8"/>
                    </a:solidFill>
                    <a:latin typeface="楷体" panose="02010609060101010101" charset="-122"/>
                    <a:ea typeface="楷体" panose="02010609060101010101" charset="-122"/>
                    <a:cs typeface="楷体" panose="02010609060101010101" charset="-122"/>
                  </a:rPr>
                  <a:t>p01</a:t>
                </a: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这一种商品的顾客集合</a:t>
                </a:r>
                <a14:m>
                  <m:oMath xmlns:m="http://schemas.openxmlformats.org/officeDocument/2006/math">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400" b="1" i="1" u="none" baseline="0" dirty="0">
                        <a:solidFill>
                          <a:srgbClr val="FF0000"/>
                        </a:solidFill>
                        <a:latin typeface="Cambria Math" panose="02040503050406030204" charset="0"/>
                        <a:ea typeface="楷体" panose="02010609060101010101" charset="-122"/>
                        <a:cs typeface="Cambria Math" panose="02040503050406030204" charset="0"/>
                      </a:rPr>
                      <m:t>𝑺</m:t>
                    </m:r>
                    <m:r>
                      <a:rPr lang="en-US" altLang="zh-CN" sz="2400" b="1" i="1" u="none" baseline="-25000" dirty="0">
                        <a:solidFill>
                          <a:srgbClr val="FF0000"/>
                        </a:solidFill>
                        <a:latin typeface="Cambria Math" panose="02040503050406030204" charset="0"/>
                        <a:ea typeface="楷体" panose="02010609060101010101" charset="-122"/>
                        <a:cs typeface="Cambria Math" panose="02040503050406030204" charset="0"/>
                      </a:rPr>
                      <m:t>𝟐</m:t>
                    </m:r>
                  </m:oMath>
                </a14:m>
                <a:endParaRPr lang="zh-CN" altLang="en-US" sz="2400" b="1" u="none" baseline="0" dirty="0">
                  <a:solidFill>
                    <a:srgbClr val="FF0000"/>
                  </a:solidFill>
                  <a:latin typeface="楷体" panose="02010609060101010101" charset="-122"/>
                  <a:ea typeface="楷体" panose="02010609060101010101" charset="-122"/>
                  <a:cs typeface="楷体" panose="02010609060101010101" charset="-122"/>
                </a:endParaRPr>
              </a:p>
              <a:p>
                <a:pPr marL="1257935" lvl="2" indent="-342900">
                  <a:lnSpc>
                    <a:spcPct val="100000"/>
                  </a:lnSpc>
                  <a:spcBef>
                    <a:spcPts val="0"/>
                  </a:spcBef>
                  <a:spcAft>
                    <a:spcPts val="0"/>
                  </a:spcAft>
                  <a:buClr>
                    <a:srgbClr val="C00000"/>
                  </a:buClr>
                  <a:buSzPct val="85000"/>
                  <a:buFont typeface="Arial" panose="020B0604020202020204" pitchFamily="34" charset="0"/>
                  <a:buChar char="•"/>
                </a:pP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没有购买过</a:t>
                </a:r>
                <a:r>
                  <a:rPr lang="en-US" altLang="zh-CN" sz="2400" b="1" u="none" baseline="0" dirty="0">
                    <a:solidFill>
                      <a:srgbClr val="1F2DA8"/>
                    </a:solidFill>
                    <a:latin typeface="楷体" panose="02010609060101010101" charset="-122"/>
                    <a:ea typeface="楷体" panose="02010609060101010101" charset="-122"/>
                    <a:cs typeface="楷体" panose="02010609060101010101" charset="-122"/>
                  </a:rPr>
                  <a:t>p01</a:t>
                </a: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但购买过其他商品的顾客集合</a:t>
                </a:r>
                <a14:m>
                  <m:oMath xmlns:m="http://schemas.openxmlformats.org/officeDocument/2006/math">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400" b="1" i="1" u="none" baseline="0" dirty="0">
                        <a:solidFill>
                          <a:srgbClr val="FF0000"/>
                        </a:solidFill>
                        <a:latin typeface="Cambria Math" panose="02040503050406030204" charset="0"/>
                        <a:ea typeface="楷体" panose="02010609060101010101" charset="-122"/>
                        <a:cs typeface="Cambria Math" panose="02040503050406030204" charset="0"/>
                      </a:rPr>
                      <m:t>𝑺</m:t>
                    </m:r>
                    <m:r>
                      <a:rPr lang="en-US" altLang="zh-CN" sz="2400" b="1" i="1" u="none" baseline="-25000" dirty="0">
                        <a:solidFill>
                          <a:srgbClr val="FF0000"/>
                        </a:solidFill>
                        <a:latin typeface="Cambria Math" panose="02040503050406030204" charset="0"/>
                        <a:ea typeface="楷体" panose="02010609060101010101" charset="-122"/>
                        <a:cs typeface="Cambria Math" panose="02040503050406030204" charset="0"/>
                      </a:rPr>
                      <m:t>𝟑</m:t>
                    </m:r>
                  </m:oMath>
                </a14:m>
                <a:endParaRPr lang="zh-CN" altLang="en-US" sz="2400" b="1" u="none" baseline="0" dirty="0">
                  <a:solidFill>
                    <a:srgbClr val="1F2DA8"/>
                  </a:solidFill>
                  <a:latin typeface="楷体" panose="02010609060101010101" charset="-122"/>
                  <a:ea typeface="楷体" panose="02010609060101010101" charset="-122"/>
                  <a:cs typeface="楷体" panose="02010609060101010101" charset="-122"/>
                </a:endParaRPr>
              </a:p>
              <a:p>
                <a:pPr marL="1257935" lvl="2" indent="-342900">
                  <a:lnSpc>
                    <a:spcPct val="100000"/>
                  </a:lnSpc>
                  <a:spcBef>
                    <a:spcPts val="0"/>
                  </a:spcBef>
                  <a:spcAft>
                    <a:spcPts val="0"/>
                  </a:spcAft>
                  <a:buClr>
                    <a:srgbClr val="C00000"/>
                  </a:buClr>
                  <a:buSzPct val="85000"/>
                  <a:buFont typeface="Arial" panose="020B0604020202020204" pitchFamily="34" charset="0"/>
                  <a:buChar char="•"/>
                </a:pP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既购买过</a:t>
                </a:r>
                <a:r>
                  <a:rPr lang="en-US" altLang="zh-CN" sz="2400" b="1" u="none" baseline="0" dirty="0">
                    <a:solidFill>
                      <a:srgbClr val="1F2DA8"/>
                    </a:solidFill>
                    <a:latin typeface="楷体" panose="02010609060101010101" charset="-122"/>
                    <a:ea typeface="楷体" panose="02010609060101010101" charset="-122"/>
                    <a:cs typeface="楷体" panose="02010609060101010101" charset="-122"/>
                  </a:rPr>
                  <a:t>p01</a:t>
                </a:r>
                <a:r>
                  <a:rPr lang="zh-CN" altLang="en-US" sz="2400" b="1" u="none" baseline="0" dirty="0">
                    <a:solidFill>
                      <a:srgbClr val="1F2DA8"/>
                    </a:solidFill>
                    <a:latin typeface="楷体" panose="02010609060101010101" charset="-122"/>
                    <a:ea typeface="楷体" panose="02010609060101010101" charset="-122"/>
                    <a:cs typeface="楷体" panose="02010609060101010101" charset="-122"/>
                  </a:rPr>
                  <a:t>又购买过其他商品的顾客集合</a:t>
                </a:r>
                <a14:m>
                  <m:oMath xmlns:m="http://schemas.openxmlformats.org/officeDocument/2006/math">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400" b="1" i="1" u="none" baseline="0" dirty="0">
                        <a:solidFill>
                          <a:srgbClr val="FF0000"/>
                        </a:solidFill>
                        <a:latin typeface="Cambria Math" panose="02040503050406030204" charset="0"/>
                        <a:ea typeface="楷体" panose="02010609060101010101" charset="-122"/>
                        <a:cs typeface="Cambria Math" panose="02040503050406030204" charset="0"/>
                      </a:rPr>
                      <m:t>𝑺</m:t>
                    </m:r>
                    <m:r>
                      <a:rPr lang="en-US" altLang="zh-CN" sz="2400" b="1" i="1" u="none" baseline="-25000" dirty="0">
                        <a:solidFill>
                          <a:srgbClr val="FF0000"/>
                        </a:solidFill>
                        <a:latin typeface="Cambria Math" panose="02040503050406030204" charset="0"/>
                        <a:ea typeface="楷体" panose="02010609060101010101" charset="-122"/>
                        <a:cs typeface="Cambria Math" panose="02040503050406030204" charset="0"/>
                      </a:rPr>
                      <m:t>𝟒</m:t>
                    </m:r>
                  </m:oMath>
                </a14:m>
                <a:endParaRPr lang="en-US" altLang="zh-CN" sz="2400" b="1" u="none" baseline="-25000" dirty="0">
                  <a:solidFill>
                    <a:srgbClr val="FF0000"/>
                  </a:solidFill>
                  <a:latin typeface="楷体" panose="02010609060101010101" charset="-122"/>
                  <a:ea typeface="楷体" panose="02010609060101010101" charset="-122"/>
                  <a:cs typeface="楷体" panose="02010609060101010101" charset="-122"/>
                </a:endParaRPr>
              </a:p>
              <a:p>
                <a:pPr marL="457835" lvl="1">
                  <a:lnSpc>
                    <a:spcPct val="100000"/>
                  </a:lnSpc>
                  <a:spcBef>
                    <a:spcPts val="0"/>
                  </a:spcBef>
                  <a:spcAft>
                    <a:spcPts val="0"/>
                  </a:spcAft>
                  <a:buClr>
                    <a:srgbClr val="CC9900"/>
                  </a:buClr>
                </a:pPr>
                <a:r>
                  <a:rPr lang="zh-CN" altLang="en-US" sz="2400" b="1" u="none" dirty="0">
                    <a:solidFill>
                      <a:srgbClr val="1F2DA8"/>
                    </a:solidFill>
                    <a:latin typeface="楷体" panose="02010609060101010101" charset="-122"/>
                    <a:ea typeface="楷体" panose="02010609060101010101" charset="-122"/>
                    <a:cs typeface="楷体" panose="02010609060101010101" charset="-122"/>
                  </a:rPr>
                  <a:t>则：</a:t>
                </a:r>
              </a:p>
            </p:txBody>
          </p:sp>
        </mc:Choice>
        <mc:Fallback xmlns="">
          <p:sp>
            <p:nvSpPr>
              <p:cNvPr id="8" name="Rectangle 3"/>
              <p:cNvSpPr>
                <a:spLocks noRot="1" noChangeAspect="1" noMove="1" noResize="1" noEditPoints="1" noAdjustHandles="1" noChangeArrowheads="1" noChangeShapeType="1" noTextEdit="1"/>
              </p:cNvSpPr>
              <p:nvPr/>
            </p:nvSpPr>
            <p:spPr>
              <a:xfrm>
                <a:off x="431800" y="3668395"/>
                <a:ext cx="11247755" cy="2306955"/>
              </a:xfrm>
              <a:prstGeom prst="rect">
                <a:avLst/>
              </a:prstGeom>
              <a:blipFill rotWithShape="1">
                <a:blip r:embed="rId5"/>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1633220" y="5603240"/>
                <a:ext cx="2226310" cy="958215"/>
              </a:xfrm>
              <a:prstGeom prst="rect">
                <a:avLst/>
              </a:prstGeom>
              <a:noFill/>
            </p:spPr>
            <p:txBody>
              <a:bodyPr wrap="square" rtlCol="0">
                <a:noAutofit/>
              </a:bodyPr>
              <a:lstStyle/>
              <a:p>
                <a:pPr>
                  <a:lnSpc>
                    <a:spcPct val="100000"/>
                  </a:lnSpc>
                  <a:spcBef>
                    <a:spcPts val="0"/>
                  </a:spcBef>
                  <a:spcAft>
                    <a:spcPts val="1000"/>
                  </a:spcAft>
                </a:pPr>
                <a14:m>
                  <m:oMathPara xmlns:m="http://schemas.openxmlformats.org/officeDocument/2006/math">
                    <m:oMathParaPr>
                      <m:jc m:val="left"/>
                    </m:oMathParaPr>
                    <m:oMath xmlns:m="http://schemas.openxmlformats.org/officeDocument/2006/math">
                      <m:r>
                        <a:rPr lang="en-US" altLang="zh-CN" sz="2400" b="1" i="1">
                          <a:solidFill>
                            <a:srgbClr val="FF0000"/>
                          </a:solidFill>
                          <a:latin typeface="Cambria Math" panose="02040503050406030204" charset="0"/>
                          <a:cs typeface="Cambria Math" panose="02040503050406030204" charset="0"/>
                        </a:rPr>
                        <m:t>𝑸</m:t>
                      </m:r>
                      <m:r>
                        <a:rPr lang="en-US" altLang="zh-CN" sz="2400" b="1" i="1" baseline="-25000">
                          <a:solidFill>
                            <a:srgbClr val="FF0000"/>
                          </a:solidFill>
                          <a:latin typeface="Cambria Math" panose="02040503050406030204" charset="0"/>
                          <a:cs typeface="Cambria Math" panose="02040503050406030204" charset="0"/>
                        </a:rPr>
                        <m:t>𝟕</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𝟏</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𝟑</m:t>
                      </m:r>
                    </m:oMath>
                  </m:oMathPara>
                </a14:m>
                <a:endParaRPr lang="en-US" altLang="zh-CN" sz="2400" b="1" i="1">
                  <a:solidFill>
                    <a:srgbClr val="FF0000"/>
                  </a:solidFill>
                </a:endParaRPr>
              </a:p>
              <a:p>
                <a:pPr>
                  <a:lnSpc>
                    <a:spcPct val="100000"/>
                  </a:lnSpc>
                  <a:spcBef>
                    <a:spcPts val="0"/>
                  </a:spcBef>
                  <a:spcAft>
                    <a:spcPts val="1000"/>
                  </a:spcAft>
                </a:pPr>
                <a14:m>
                  <m:oMathPara xmlns:m="http://schemas.openxmlformats.org/officeDocument/2006/math">
                    <m:oMathParaPr>
                      <m:jc m:val="left"/>
                    </m:oMathParaPr>
                    <m:oMath xmlns:m="http://schemas.openxmlformats.org/officeDocument/2006/math">
                      <m:r>
                        <a:rPr lang="en-US" altLang="zh-CN" sz="2400" b="1" i="1">
                          <a:solidFill>
                            <a:srgbClr val="FF0000"/>
                          </a:solidFill>
                          <a:latin typeface="Cambria Math" panose="02040503050406030204" charset="0"/>
                          <a:cs typeface="Cambria Math" panose="02040503050406030204" charset="0"/>
                        </a:rPr>
                        <m:t>𝑸</m:t>
                      </m:r>
                      <m:r>
                        <a:rPr lang="en-US" altLang="zh-CN" sz="2400" b="1" i="1" baseline="-25000">
                          <a:solidFill>
                            <a:srgbClr val="FF0000"/>
                          </a:solidFill>
                          <a:latin typeface="Cambria Math" panose="02040503050406030204" charset="0"/>
                          <a:cs typeface="Cambria Math" panose="02040503050406030204" charset="0"/>
                        </a:rPr>
                        <m:t>𝟖</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𝟏</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𝟐</m:t>
                      </m:r>
                    </m:oMath>
                  </m:oMathPara>
                </a14:m>
                <a:endParaRPr lang="en-US" altLang="zh-CN" sz="2400" b="1" i="1" baseline="-25000">
                  <a:solidFill>
                    <a:srgbClr val="FF000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1633220" y="5603240"/>
                <a:ext cx="2226310" cy="958215"/>
              </a:xfrm>
              <a:prstGeom prst="rect">
                <a:avLst/>
              </a:prstGeom>
              <a:blipFill rotWithShape="1">
                <a:blip r:embed="rId6"/>
                <a:stretch>
                  <a:fillRect b="-7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6051550" y="5603240"/>
                <a:ext cx="4925060" cy="958215"/>
              </a:xfrm>
              <a:prstGeom prst="rect">
                <a:avLst/>
              </a:prstGeom>
              <a:noFill/>
            </p:spPr>
            <p:txBody>
              <a:bodyPr wrap="square" rtlCol="0">
                <a:noAutofit/>
              </a:bodyPr>
              <a:lstStyle/>
              <a:p>
                <a:pPr>
                  <a:lnSpc>
                    <a:spcPct val="100000"/>
                  </a:lnSpc>
                  <a:spcBef>
                    <a:spcPts val="0"/>
                  </a:spcBef>
                  <a:spcAft>
                    <a:spcPts val="1000"/>
                  </a:spcAft>
                </a:pPr>
                <a14:m>
                  <m:oMathPara xmlns:m="http://schemas.openxmlformats.org/officeDocument/2006/math">
                    <m:oMathParaPr>
                      <m:jc m:val="left"/>
                    </m:oMathParaPr>
                    <m:oMath xmlns:m="http://schemas.openxmlformats.org/officeDocument/2006/math">
                      <m:r>
                        <a:rPr lang="en-US" altLang="zh-CN" sz="2400" b="1" i="1">
                          <a:solidFill>
                            <a:srgbClr val="FF0000"/>
                          </a:solidFill>
                          <a:latin typeface="Cambria Math" panose="02040503050406030204" charset="0"/>
                          <a:cs typeface="Cambria Math" panose="02040503050406030204" charset="0"/>
                        </a:rPr>
                        <m:t>𝑸</m:t>
                      </m:r>
                      <m:r>
                        <a:rPr lang="en-US" altLang="zh-CN" sz="2400" b="1" i="1" baseline="-25000">
                          <a:solidFill>
                            <a:srgbClr val="FF0000"/>
                          </a:solidFill>
                          <a:latin typeface="Cambria Math" panose="02040503050406030204" charset="0"/>
                          <a:cs typeface="Cambria Math" panose="02040503050406030204" charset="0"/>
                        </a:rPr>
                        <m:t>𝟕</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𝑸</m:t>
                      </m:r>
                      <m:r>
                        <a:rPr lang="en-US" altLang="zh-CN" sz="2400" b="1" i="1" baseline="-25000">
                          <a:solidFill>
                            <a:srgbClr val="FF0000"/>
                          </a:solidFill>
                          <a:latin typeface="Cambria Math" panose="02040503050406030204" charset="0"/>
                          <a:cs typeface="Cambria Math" panose="02040503050406030204" charset="0"/>
                        </a:rPr>
                        <m:t>𝟖</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𝟏</m:t>
                      </m:r>
                    </m:oMath>
                  </m:oMathPara>
                </a14:m>
                <a:endParaRPr lang="en-US" altLang="zh-CN" sz="2400" b="1" i="1">
                  <a:solidFill>
                    <a:srgbClr val="FF0000"/>
                  </a:solidFill>
                </a:endParaRPr>
              </a:p>
              <a:p>
                <a:pPr>
                  <a:lnSpc>
                    <a:spcPct val="100000"/>
                  </a:lnSpc>
                  <a:spcBef>
                    <a:spcPts val="0"/>
                  </a:spcBef>
                  <a:spcAft>
                    <a:spcPts val="1000"/>
                  </a:spcAft>
                </a:pPr>
                <a14:m>
                  <m:oMathPara xmlns:m="http://schemas.openxmlformats.org/officeDocument/2006/math">
                    <m:oMathParaPr>
                      <m:jc m:val="left"/>
                    </m:oMathParaPr>
                    <m:oMath xmlns:m="http://schemas.openxmlformats.org/officeDocument/2006/math">
                      <m:r>
                        <a:rPr lang="en-US" altLang="zh-CN" sz="2400" b="1" i="1">
                          <a:solidFill>
                            <a:srgbClr val="FF0000"/>
                          </a:solidFill>
                          <a:latin typeface="Cambria Math" panose="02040503050406030204" charset="0"/>
                          <a:cs typeface="Cambria Math" panose="02040503050406030204" charset="0"/>
                        </a:rPr>
                        <m:t>𝑸</m:t>
                      </m:r>
                      <m:r>
                        <a:rPr lang="en-US" altLang="zh-CN" sz="2400" b="1" i="1" baseline="-25000">
                          <a:solidFill>
                            <a:srgbClr val="FF0000"/>
                          </a:solidFill>
                          <a:latin typeface="Cambria Math" panose="02040503050406030204" charset="0"/>
                          <a:cs typeface="Cambria Math" panose="02040503050406030204" charset="0"/>
                        </a:rPr>
                        <m:t>𝟕</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𝑸</m:t>
                      </m:r>
                      <m:r>
                        <a:rPr lang="en-US" altLang="zh-CN" sz="2400" b="1" i="1" baseline="-25000">
                          <a:solidFill>
                            <a:srgbClr val="FF0000"/>
                          </a:solidFill>
                          <a:latin typeface="Cambria Math" panose="02040503050406030204" charset="0"/>
                          <a:cs typeface="Cambria Math" panose="02040503050406030204" charset="0"/>
                        </a:rPr>
                        <m:t>𝟖</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𝟏</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𝟐</m:t>
                      </m:r>
                      <m:r>
                        <a:rPr lang="en-US" altLang="zh-CN" sz="2400" b="1" i="1">
                          <a:solidFill>
                            <a:srgbClr val="FF0000"/>
                          </a:solidFill>
                          <a:latin typeface="Cambria Math" panose="02040503050406030204" charset="0"/>
                          <a:cs typeface="Cambria Math" panose="02040503050406030204" charset="0"/>
                        </a:rPr>
                        <m:t> ∪ </m:t>
                      </m:r>
                      <m:r>
                        <a:rPr lang="en-US" altLang="zh-CN" sz="2400" b="1" i="1">
                          <a:solidFill>
                            <a:srgbClr val="FF0000"/>
                          </a:solidFill>
                          <a:latin typeface="Cambria Math" panose="02040503050406030204" charset="0"/>
                          <a:cs typeface="Cambria Math" panose="02040503050406030204" charset="0"/>
                        </a:rPr>
                        <m:t>𝑺</m:t>
                      </m:r>
                      <m:r>
                        <a:rPr lang="en-US" altLang="zh-CN" sz="2400" b="1" i="1" baseline="-25000">
                          <a:solidFill>
                            <a:srgbClr val="FF0000"/>
                          </a:solidFill>
                          <a:latin typeface="Cambria Math" panose="02040503050406030204" charset="0"/>
                          <a:cs typeface="Cambria Math" panose="02040503050406030204" charset="0"/>
                        </a:rPr>
                        <m:t>𝟑</m:t>
                      </m:r>
                    </m:oMath>
                  </m:oMathPara>
                </a14:m>
                <a:endParaRPr lang="en-US" altLang="zh-CN" sz="2400" b="1" i="1" baseline="-25000">
                  <a:solidFill>
                    <a:srgbClr val="FF0000"/>
                  </a:solidFill>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051550" y="5603240"/>
                <a:ext cx="4925060" cy="958215"/>
              </a:xfrm>
              <a:prstGeom prst="rect">
                <a:avLst/>
              </a:prstGeom>
              <a:blipFill rotWithShape="1">
                <a:blip r:embed="rId7"/>
                <a:stretch>
                  <a:fillRect b="-72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blinds(horizontal)">
                                      <p:cBhvr>
                                        <p:cTn id="15" dur="500"/>
                                        <p:tgtEl>
                                          <p:spTgt spid="8">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blinds(horizontal)">
                                      <p:cBhvr>
                                        <p:cTn id="18" dur="500"/>
                                        <p:tgtEl>
                                          <p:spTgt spid="8">
                                            <p:txEl>
                                              <p:pRg st="2" end="2"/>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blinds(horizontal)">
                                      <p:cBhvr>
                                        <p:cTn id="21" dur="500"/>
                                        <p:tgtEl>
                                          <p:spTgt spid="8">
                                            <p:txEl>
                                              <p:pRg st="3" end="3"/>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blinds(horizontal)">
                                      <p:cBhvr>
                                        <p:cTn id="24" dur="500"/>
                                        <p:tgtEl>
                                          <p:spTgt spid="8">
                                            <p:txEl>
                                              <p:pRg st="4" end="4"/>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blinds(horizontal)">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 calcmode="lin" valueType="num">
                                      <p:cBhvr additive="base">
                                        <p:cTn id="32"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3">
                                            <p:txEl>
                                              <p:pRg st="1" end="1"/>
                                            </p:txEl>
                                          </p:spTgt>
                                        </p:tgtEl>
                                        <p:attrNameLst>
                                          <p:attrName>style.visibility</p:attrName>
                                        </p:attrNameLst>
                                      </p:cBhvr>
                                      <p:to>
                                        <p:strVal val="visible"/>
                                      </p:to>
                                    </p:set>
                                    <p:anim calcmode="lin" valueType="num">
                                      <p:cBhvr additive="base">
                                        <p:cTn id="38"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7">
                                            <p:txEl>
                                              <p:pRg st="0" end="0"/>
                                            </p:txEl>
                                          </p:spTgt>
                                        </p:tgtEl>
                                        <p:attrNameLst>
                                          <p:attrName>style.visibility</p:attrName>
                                        </p:attrNameLst>
                                      </p:cBhvr>
                                      <p:to>
                                        <p:strVal val="visible"/>
                                      </p:to>
                                    </p:set>
                                    <p:anim calcmode="lin" valueType="num">
                                      <p:cBhvr additive="base">
                                        <p:cTn id="44"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7">
                                            <p:txEl>
                                              <p:pRg st="1" end="1"/>
                                            </p:txEl>
                                          </p:spTgt>
                                        </p:tgtEl>
                                        <p:attrNameLst>
                                          <p:attrName>style.visibility</p:attrName>
                                        </p:attrNameLst>
                                      </p:cBhvr>
                                      <p:to>
                                        <p:strVal val="visible"/>
                                      </p:to>
                                    </p:set>
                                    <p:anim calcmode="lin" valueType="num">
                                      <p:cBhvr additive="base">
                                        <p:cTn id="50"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build="allAtOnce" bldLvl="0"/>
      <p:bldP spid="13" grpId="0" build="p"/>
      <p:bldP spid="17"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思考题（第</a:t>
            </a:r>
            <a:r>
              <a:rPr lang="en-US" altLang="zh-CN">
                <a:sym typeface="+mn-ea"/>
              </a:rPr>
              <a:t>5</a:t>
            </a:r>
            <a:r>
              <a:rPr lang="zh-CN" altLang="en-US">
                <a:sym typeface="+mn-ea"/>
              </a:rPr>
              <a:t>组）</a:t>
            </a:r>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55</a:t>
            </a:fld>
            <a:endParaRPr lang="zh-CN" altLang="en-US"/>
          </a:p>
        </p:txBody>
      </p:sp>
      <p:sp>
        <p:nvSpPr>
          <p:cNvPr id="14" name="Rectangle 3"/>
          <p:cNvSpPr>
            <a:spLocks noGrp="1"/>
          </p:cNvSpPr>
          <p:nvPr/>
        </p:nvSpPr>
        <p:spPr>
          <a:xfrm>
            <a:off x="431800" y="1859915"/>
            <a:ext cx="11173460" cy="460375"/>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zh-CN" sz="2400" b="1" dirty="0">
                <a:solidFill>
                  <a:srgbClr val="1F2DA8"/>
                </a:solidFill>
                <a:highlight>
                  <a:srgbClr val="FFFF00"/>
                </a:highlight>
                <a:ea typeface="楷体" panose="02010609060101010101" charset="-122"/>
              </a:rPr>
              <a:t>查询</a:t>
            </a:r>
            <a:r>
              <a:rPr lang="zh-CN" altLang="en-US" sz="2400" b="1" dirty="0">
                <a:solidFill>
                  <a:srgbClr val="1F2DA8"/>
                </a:solidFill>
                <a:highlight>
                  <a:srgbClr val="FFFF00"/>
                </a:highlight>
                <a:ea typeface="楷体" panose="02010609060101010101" charset="-122"/>
              </a:rPr>
              <a:t>结果集的语义是什么？</a:t>
            </a:r>
            <a:endParaRPr lang="zh-CN" altLang="en-US" sz="2400" b="1" u="none" baseline="0" dirty="0">
              <a:solidFill>
                <a:srgbClr val="1F2DA8"/>
              </a:solidFill>
              <a:highlight>
                <a:srgbClr val="FFFF00"/>
              </a:highlight>
              <a:ea typeface="楷体" panose="02010609060101010101" charset="-122"/>
            </a:endParaRPr>
          </a:p>
        </p:txBody>
      </p:sp>
      <p:sp>
        <p:nvSpPr>
          <p:cNvPr id="15" name="Rectangle 3"/>
          <p:cNvSpPr>
            <a:spLocks noGrp="1"/>
          </p:cNvSpPr>
          <p:nvPr/>
        </p:nvSpPr>
        <p:spPr>
          <a:xfrm>
            <a:off x="431800" y="2390775"/>
            <a:ext cx="11173460" cy="1031240"/>
          </a:xfrm>
          <a:prstGeom prst="rect">
            <a:avLst/>
          </a:prstGeom>
          <a:noFill/>
          <a:ln w="9525">
            <a:noFill/>
          </a:ln>
        </p:spPr>
        <p:txBody>
          <a:bodyPr wrap="square" anchor="t">
            <a:noAutofit/>
          </a:bodyPr>
          <a:lstStyle/>
          <a:p>
            <a:pPr marL="1205230" lvl="1" indent="-748030">
              <a:lnSpc>
                <a:spcPct val="110000"/>
              </a:lnSpc>
              <a:spcBef>
                <a:spcPts val="0"/>
              </a:spcBef>
              <a:spcAft>
                <a:spcPts val="1000"/>
              </a:spcAft>
              <a:buClr>
                <a:srgbClr val="CC9900"/>
              </a:buClr>
            </a:pPr>
            <a:r>
              <a:rPr lang="en-US" altLang="x-none" sz="2400" b="1" dirty="0">
                <a:solidFill>
                  <a:srgbClr val="1F2DA8"/>
                </a:solidFill>
                <a:ea typeface="楷体" panose="02010609060101010101" charset="-122"/>
                <a:cs typeface="Times New Roman" panose="02020603050405020304" charset="0"/>
                <a:sym typeface="+mn-ea"/>
              </a:rPr>
              <a:t>Q</a:t>
            </a:r>
            <a:r>
              <a:rPr lang="en-US" altLang="x-none" sz="2400" b="1" baseline="-25000" dirty="0">
                <a:solidFill>
                  <a:srgbClr val="1F2DA8"/>
                </a:solidFill>
                <a:ea typeface="楷体" panose="02010609060101010101" charset="-122"/>
                <a:cs typeface="Times New Roman" panose="02020603050405020304" charset="0"/>
                <a:sym typeface="+mn-ea"/>
              </a:rPr>
              <a:t>9</a:t>
            </a:r>
            <a:r>
              <a:rPr lang="zh-CN" altLang="en-US" sz="2400" b="1" dirty="0">
                <a:solidFill>
                  <a:srgbClr val="1F2DA8"/>
                </a:solidFill>
                <a:ea typeface="楷体" panose="02010609060101010101" charset="-122"/>
                <a:cs typeface="Times New Roman" panose="02020603050405020304" charset="0"/>
                <a:sym typeface="+mn-ea"/>
              </a:rPr>
              <a:t>：除了</a:t>
            </a:r>
            <a:r>
              <a:rPr lang="en-US" altLang="zh-CN" sz="2400" b="1" dirty="0">
                <a:solidFill>
                  <a:srgbClr val="1F2DA8"/>
                </a:solidFill>
                <a:ea typeface="楷体" panose="02010609060101010101" charset="-122"/>
                <a:cs typeface="Times New Roman" panose="02020603050405020304" charset="0"/>
                <a:sym typeface="+mn-ea"/>
              </a:rPr>
              <a:t>p01</a:t>
            </a:r>
            <a:r>
              <a:rPr lang="zh-CN" altLang="en-US" sz="2400" b="1" dirty="0">
                <a:solidFill>
                  <a:srgbClr val="1F2DA8"/>
                </a:solidFill>
                <a:ea typeface="楷体" panose="02010609060101010101" charset="-122"/>
                <a:cs typeface="Times New Roman" panose="02020603050405020304" charset="0"/>
                <a:sym typeface="+mn-ea"/>
              </a:rPr>
              <a:t>号商品之外，其他商品的所有销售订单</a:t>
            </a:r>
            <a:endParaRPr lang="en-US" altLang="zh-CN" sz="2400" b="1" u="none" baseline="0" dirty="0">
              <a:solidFill>
                <a:srgbClr val="1F2DA8"/>
              </a:solidFill>
              <a:ea typeface="楷体" panose="02010609060101010101" charset="-122"/>
              <a:cs typeface="Times New Roman" panose="02020603050405020304" charset="0"/>
            </a:endParaRPr>
          </a:p>
          <a:p>
            <a:pPr marL="1205230" lvl="1" indent="-748030">
              <a:lnSpc>
                <a:spcPct val="110000"/>
              </a:lnSpc>
              <a:spcBef>
                <a:spcPts val="0"/>
              </a:spcBef>
              <a:spcAft>
                <a:spcPts val="1000"/>
              </a:spcAft>
              <a:buClr>
                <a:srgbClr val="CC9900"/>
              </a:buClr>
            </a:pP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10</a:t>
            </a:r>
            <a:r>
              <a:rPr lang="zh-CN" altLang="en-US" sz="2400" b="1" dirty="0">
                <a:solidFill>
                  <a:srgbClr val="1F2DA8"/>
                </a:solidFill>
                <a:ea typeface="楷体" panose="02010609060101010101" charset="-122"/>
                <a:cs typeface="Times New Roman" panose="02020603050405020304" charset="0"/>
                <a:sym typeface="+mn-ea"/>
              </a:rPr>
              <a:t>：</a:t>
            </a:r>
            <a:r>
              <a:rPr lang="en-US" altLang="zh-CN" sz="2400" b="1" dirty="0">
                <a:solidFill>
                  <a:srgbClr val="1F2DA8"/>
                </a:solidFill>
                <a:ea typeface="楷体" panose="02010609060101010101" charset="-122"/>
                <a:cs typeface="Times New Roman" panose="02020603050405020304" charset="0"/>
                <a:sym typeface="+mn-ea"/>
              </a:rPr>
              <a:t>p01</a:t>
            </a:r>
            <a:r>
              <a:rPr lang="zh-CN" altLang="en-US" sz="2400" b="1" dirty="0">
                <a:solidFill>
                  <a:srgbClr val="1F2DA8"/>
                </a:solidFill>
                <a:ea typeface="楷体" panose="02010609060101010101" charset="-122"/>
                <a:cs typeface="Times New Roman" panose="02020603050405020304" charset="0"/>
                <a:sym typeface="+mn-ea"/>
              </a:rPr>
              <a:t>号商品的所有销售订单</a:t>
            </a:r>
            <a:endParaRPr lang="zh-CN" altLang="en-US" sz="2400" b="1" u="none" baseline="0" dirty="0">
              <a:solidFill>
                <a:srgbClr val="1F2DA8"/>
              </a:solidFill>
              <a:ea typeface="楷体" panose="02010609060101010101" charset="-122"/>
              <a:cs typeface="Times New Roman" panose="02020603050405020304" charset="0"/>
              <a:sym typeface="+mn-ea"/>
            </a:endParaRPr>
          </a:p>
        </p:txBody>
      </p:sp>
      <p:sp>
        <p:nvSpPr>
          <p:cNvPr id="16" name="Rectangle 3"/>
          <p:cNvSpPr>
            <a:spLocks noGrp="1"/>
          </p:cNvSpPr>
          <p:nvPr/>
        </p:nvSpPr>
        <p:spPr>
          <a:xfrm>
            <a:off x="431800" y="3653155"/>
            <a:ext cx="11173460" cy="460375"/>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en-US" sz="2400" b="1" dirty="0">
                <a:solidFill>
                  <a:srgbClr val="1F2DA8"/>
                </a:solidFill>
                <a:highlight>
                  <a:srgbClr val="FFFF00"/>
                </a:highlight>
                <a:ea typeface="楷体" panose="02010609060101010101" charset="-122"/>
              </a:rPr>
              <a:t>两个结果集的关系是什么？</a:t>
            </a:r>
            <a:endParaRPr lang="zh-CN" altLang="en-US" sz="2400" b="1" u="none" baseline="0" dirty="0">
              <a:solidFill>
                <a:srgbClr val="1F2DA8"/>
              </a:solidFill>
              <a:highlight>
                <a:srgbClr val="FFFF00"/>
              </a:highlight>
              <a:ea typeface="楷体" panose="02010609060101010101" charset="-122"/>
            </a:endParaRPr>
          </a:p>
        </p:txBody>
      </p:sp>
      <mc:AlternateContent xmlns:mc="http://schemas.openxmlformats.org/markup-compatibility/2006" xmlns:a14="http://schemas.microsoft.com/office/drawing/2010/main">
        <mc:Choice Requires="a14">
          <p:sp>
            <p:nvSpPr>
              <p:cNvPr id="19" name="Rectangle 3"/>
              <p:cNvSpPr>
                <a:spLocks noGrp="1"/>
              </p:cNvSpPr>
              <p:nvPr/>
            </p:nvSpPr>
            <p:spPr>
              <a:xfrm>
                <a:off x="432000" y="4130040"/>
                <a:ext cx="4351020" cy="1031240"/>
              </a:xfrm>
              <a:prstGeom prst="rect">
                <a:avLst/>
              </a:prstGeom>
              <a:noFill/>
              <a:ln w="9525">
                <a:noFill/>
              </a:ln>
            </p:spPr>
            <p:txBody>
              <a:bodyPr wrap="square" anchor="t">
                <a:noAutofit/>
              </a:bodyPr>
              <a:lstStyle/>
              <a:p>
                <a:pPr lvl="1">
                  <a:lnSpc>
                    <a:spcPct val="110000"/>
                  </a:lnSpc>
                  <a:spcBef>
                    <a:spcPts val="0"/>
                  </a:spcBef>
                  <a:spcAft>
                    <a:spcPts val="1000"/>
                  </a:spcAft>
                  <a:buClr>
                    <a:srgbClr val="CC9900"/>
                  </a:buClr>
                </a:pPr>
                <a14:m>
                  <m:oMath xmlns:m="http://schemas.openxmlformats.org/officeDocument/2006/math">
                    <m:r>
                      <a:rPr lang="en-US" altLang="x-none" sz="2400" b="1" i="1" u="none" baseline="0" dirty="0">
                        <a:solidFill>
                          <a:srgbClr val="1F2DA8"/>
                        </a:solidFill>
                        <a:latin typeface="Cambria Math" panose="02040503050406030204" charset="0"/>
                        <a:ea typeface="楷体" panose="02010609060101010101" charset="-122"/>
                        <a:cs typeface="Cambria Math" panose="02040503050406030204" charset="0"/>
                      </a:rPr>
                      <m:t>𝑸</m:t>
                    </m:r>
                    <m:r>
                      <a:rPr lang="en-US" altLang="x-none" sz="2400" b="1" i="1" u="none" baseline="-25000" dirty="0">
                        <a:solidFill>
                          <a:srgbClr val="1F2DA8"/>
                        </a:solidFill>
                        <a:latin typeface="Cambria Math" panose="02040503050406030204" charset="0"/>
                        <a:ea typeface="楷体" panose="02010609060101010101" charset="-122"/>
                        <a:cs typeface="Cambria Math" panose="02040503050406030204" charset="0"/>
                      </a:rPr>
                      <m:t>𝟗</m:t>
                    </m:r>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 ∩ </m:t>
                    </m:r>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𝑸</m:t>
                    </m:r>
                    <m:r>
                      <a:rPr lang="en-US" altLang="zh-CN" sz="2400" b="1" i="1" u="none" baseline="-25000" dirty="0">
                        <a:solidFill>
                          <a:srgbClr val="1F2DA8"/>
                        </a:solidFill>
                        <a:latin typeface="Cambria Math" panose="02040503050406030204" charset="0"/>
                        <a:ea typeface="楷体" panose="02010609060101010101" charset="-122"/>
                        <a:cs typeface="Cambria Math" panose="02040503050406030204" charset="0"/>
                      </a:rPr>
                      <m:t>𝟏𝟎</m:t>
                    </m:r>
                  </m:oMath>
                </a14:m>
                <a:r>
                  <a:rPr lang="en-US" altLang="zh-CN" sz="2400" b="1" u="none" baseline="0" dirty="0">
                    <a:solidFill>
                      <a:srgbClr val="1F2DA8"/>
                    </a:solidFill>
                    <a:ea typeface="楷体" panose="02010609060101010101" charset="-122"/>
                    <a:cs typeface="Times New Roman" panose="02020603050405020304" charset="0"/>
                  </a:rPr>
                  <a:t> = </a:t>
                </a:r>
                <a:r>
                  <a:rPr lang="zh-CN" altLang="en-US" sz="2400" b="1" u="none" baseline="0" dirty="0">
                    <a:solidFill>
                      <a:srgbClr val="1F2DA8"/>
                    </a:solidFill>
                    <a:ea typeface="楷体" panose="02010609060101010101" charset="-122"/>
                    <a:cs typeface="Times New Roman" panose="02020603050405020304" charset="0"/>
                  </a:rPr>
                  <a:t>空集</a:t>
                </a:r>
                <a:endParaRPr lang="en-US" altLang="zh-CN" sz="2400" b="1" u="none" baseline="0" dirty="0">
                  <a:solidFill>
                    <a:srgbClr val="1F2DA8"/>
                  </a:solidFill>
                  <a:ea typeface="楷体" panose="02010609060101010101" charset="-122"/>
                  <a:cs typeface="Times New Roman" panose="02020603050405020304" charset="0"/>
                </a:endParaRPr>
              </a:p>
              <a:p>
                <a:pPr lvl="1">
                  <a:lnSpc>
                    <a:spcPct val="110000"/>
                  </a:lnSpc>
                  <a:spcBef>
                    <a:spcPts val="0"/>
                  </a:spcBef>
                  <a:spcAft>
                    <a:spcPts val="1000"/>
                  </a:spcAft>
                  <a:buClr>
                    <a:srgbClr val="CC9900"/>
                  </a:buClr>
                </a:pPr>
                <a14:m>
                  <m:oMath xmlns:m="http://schemas.openxmlformats.org/officeDocument/2006/math">
                    <m:r>
                      <a:rPr lang="en-US" altLang="x-none" sz="24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𝑸</m:t>
                    </m:r>
                    <m:r>
                      <a:rPr lang="en-US" altLang="x-none" sz="2400" b="1" i="1" spc="100" baseline="-25000" dirty="0">
                        <a:solidFill>
                          <a:srgbClr val="1F2DA8"/>
                        </a:solidFill>
                        <a:uFillTx/>
                        <a:latin typeface="Cambria Math" panose="02040503050406030204" charset="0"/>
                        <a:ea typeface="楷体" panose="02010609060101010101" charset="-122"/>
                        <a:cs typeface="Cambria Math" panose="02040503050406030204" charset="0"/>
                        <a:sym typeface="+mn-ea"/>
                      </a:rPr>
                      <m:t>𝟗</m:t>
                    </m:r>
                    <m:r>
                      <a:rPr lang="en-US" altLang="zh-CN" sz="24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 ∪ </m:t>
                    </m:r>
                    <m:r>
                      <a:rPr lang="en-US" altLang="zh-CN" sz="24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𝑸</m:t>
                    </m:r>
                    <m:r>
                      <a:rPr lang="en-US" altLang="zh-CN" sz="2400" b="1" i="1" spc="100" baseline="-25000" dirty="0">
                        <a:solidFill>
                          <a:srgbClr val="1F2DA8"/>
                        </a:solidFill>
                        <a:uFillTx/>
                        <a:latin typeface="Cambria Math" panose="02040503050406030204" charset="0"/>
                        <a:ea typeface="楷体" panose="02010609060101010101" charset="-122"/>
                        <a:cs typeface="Cambria Math" panose="02040503050406030204" charset="0"/>
                        <a:sym typeface="+mn-ea"/>
                      </a:rPr>
                      <m:t>𝟏𝟎</m:t>
                    </m:r>
                  </m:oMath>
                </a14:m>
                <a:r>
                  <a:rPr lang="en-US" altLang="zh-CN" sz="2400" b="1" spc="100" dirty="0">
                    <a:solidFill>
                      <a:srgbClr val="1F2DA8"/>
                    </a:solidFill>
                    <a:uFillTx/>
                    <a:ea typeface="楷体" panose="02010609060101010101" charset="-122"/>
                    <a:cs typeface="Times New Roman" panose="02020603050405020304" charset="0"/>
                    <a:sym typeface="+mn-ea"/>
                  </a:rPr>
                  <a:t> = orders</a:t>
                </a:r>
                <a:endParaRPr lang="en-US" altLang="zh-CN" sz="2400" b="1" spc="100" baseline="0" dirty="0">
                  <a:solidFill>
                    <a:srgbClr val="1F2DA8"/>
                  </a:solidFill>
                  <a:uFillTx/>
                  <a:ea typeface="楷体" panose="02010609060101010101" charset="-122"/>
                  <a:cs typeface="Times New Roman" panose="02020603050405020304" charset="0"/>
                  <a:sym typeface="+mn-ea"/>
                </a:endParaRPr>
              </a:p>
            </p:txBody>
          </p:sp>
        </mc:Choice>
        <mc:Fallback xmlns="">
          <p:sp>
            <p:nvSpPr>
              <p:cNvPr id="19" name="Rectangle 3"/>
              <p:cNvSpPr>
                <a:spLocks noRot="1" noChangeAspect="1" noMove="1" noResize="1" noEditPoints="1" noAdjustHandles="1" noChangeArrowheads="1" noChangeShapeType="1" noTextEdit="1"/>
              </p:cNvSpPr>
              <p:nvPr/>
            </p:nvSpPr>
            <p:spPr>
              <a:xfrm>
                <a:off x="432000" y="4130040"/>
                <a:ext cx="4351020" cy="1031240"/>
              </a:xfrm>
              <a:prstGeom prst="rect">
                <a:avLst/>
              </a:prstGeom>
              <a:blipFill rotWithShape="1">
                <a:blip r:embed="rId3"/>
                <a:stretch>
                  <a:fillRect l="-5" r="5" b="-616"/>
                </a:stretch>
              </a:blipFill>
              <a:ln w="9525">
                <a:noFill/>
              </a:ln>
            </p:spPr>
            <p:txBody>
              <a:bodyPr/>
              <a:lstStyle/>
              <a:p>
                <a:r>
                  <a:rPr lang="zh-CN" altLang="en-US">
                    <a:noFill/>
                  </a:rPr>
                  <a:t> </a:t>
                </a:r>
              </a:p>
            </p:txBody>
          </p:sp>
        </mc:Fallback>
      </mc:AlternateContent>
      <p:grpSp>
        <p:nvGrpSpPr>
          <p:cNvPr id="18" name="组合 17"/>
          <p:cNvGrpSpPr/>
          <p:nvPr/>
        </p:nvGrpSpPr>
        <p:grpSpPr>
          <a:xfrm>
            <a:off x="432000" y="5337175"/>
            <a:ext cx="11045190" cy="1031240"/>
            <a:chOff x="5985" y="3467"/>
            <a:chExt cx="17394" cy="1624"/>
          </a:xfrm>
        </p:grpSpPr>
        <mc:AlternateContent xmlns:mc="http://schemas.openxmlformats.org/markup-compatibility/2006" xmlns:a14="http://schemas.microsoft.com/office/drawing/2010/main">
          <mc:Choice Requires="a14">
            <p:sp>
              <p:nvSpPr>
                <p:cNvPr id="5" name="Rectangle 3"/>
                <p:cNvSpPr>
                  <a:spLocks noGrp="1"/>
                </p:cNvSpPr>
                <p:nvPr/>
              </p:nvSpPr>
              <p:spPr>
                <a:xfrm>
                  <a:off x="5985" y="3467"/>
                  <a:ext cx="6823" cy="1624"/>
                </a:xfrm>
                <a:prstGeom prst="rect">
                  <a:avLst/>
                </a:prstGeom>
                <a:noFill/>
                <a:ln w="9525">
                  <a:noFill/>
                </a:ln>
              </p:spPr>
              <p:txBody>
                <a:bodyPr wrap="square" anchor="t">
                  <a:noAutofit/>
                </a:bodyPr>
                <a:lstStyle/>
                <a:p>
                  <a:pPr lvl="1">
                    <a:lnSpc>
                      <a:spcPct val="110000"/>
                    </a:lnSpc>
                    <a:spcBef>
                      <a:spcPts val="0"/>
                    </a:spcBef>
                    <a:spcAft>
                      <a:spcPts val="1000"/>
                    </a:spcAft>
                    <a:buClr>
                      <a:srgbClr val="CC9900"/>
                    </a:buClr>
                  </a:pPr>
                  <a14:m>
                    <m:oMathPara xmlns:m="http://schemas.openxmlformats.org/officeDocument/2006/math">
                      <m:oMathParaPr>
                        <m:jc m:val="left"/>
                      </m:oMathParaPr>
                      <m:oMath xmlns:m="http://schemas.openxmlformats.org/officeDocument/2006/math">
                        <m:r>
                          <a:rPr lang="en-US" altLang="x-none" sz="2400" b="1" i="1" u="none" baseline="0" dirty="0">
                            <a:solidFill>
                              <a:srgbClr val="1F2DA8"/>
                            </a:solidFill>
                            <a:latin typeface="Cambria Math" panose="02040503050406030204" charset="0"/>
                            <a:ea typeface="楷体" panose="02010609060101010101" charset="-122"/>
                            <a:cs typeface="Cambria Math" panose="02040503050406030204" charset="0"/>
                          </a:rPr>
                          <m:t>𝑸</m:t>
                        </m:r>
                        <m:r>
                          <a:rPr lang="en-US" altLang="x-none" sz="2400" b="1" i="1" u="none" baseline="-25000" dirty="0">
                            <a:solidFill>
                              <a:srgbClr val="1F2DA8"/>
                            </a:solidFill>
                            <a:latin typeface="Cambria Math" panose="02040503050406030204" charset="0"/>
                            <a:ea typeface="楷体" panose="02010609060101010101" charset="-122"/>
                            <a:cs typeface="Cambria Math" panose="02040503050406030204" charset="0"/>
                          </a:rPr>
                          <m:t>𝟗</m:t>
                        </m:r>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 </m:t>
                        </m:r>
                        <m:r>
                          <a:rPr lang="en-US" altLang="zh-CN" sz="2400" b="1" i="1" u="none" baseline="0" dirty="0">
                            <a:solidFill>
                              <a:srgbClr val="1F2DA8"/>
                            </a:solidFill>
                            <a:latin typeface="Cambria Math" panose="02040503050406030204" charset="0"/>
                            <a:ea typeface="楷体" panose="02010609060101010101" charset="-122"/>
                            <a:cs typeface="Cambria Math" panose="02040503050406030204" charset="0"/>
                          </a:rPr>
                          <m:t>𝑸</m:t>
                        </m:r>
                        <m:r>
                          <a:rPr lang="en-US" altLang="zh-CN" sz="2400" b="1" i="1" u="none" baseline="-25000" dirty="0">
                            <a:solidFill>
                              <a:srgbClr val="1F2DA8"/>
                            </a:solidFill>
                            <a:latin typeface="Cambria Math" panose="02040503050406030204" charset="0"/>
                            <a:ea typeface="楷体" panose="02010609060101010101" charset="-122"/>
                            <a:cs typeface="Cambria Math" panose="02040503050406030204" charset="0"/>
                          </a:rPr>
                          <m:t>𝟐</m:t>
                        </m:r>
                      </m:oMath>
                    </m:oMathPara>
                  </a14:m>
                  <a:endParaRPr lang="en-US" altLang="zh-CN" sz="2400" b="1" u="none" baseline="0" dirty="0">
                    <a:solidFill>
                      <a:srgbClr val="1F2DA8"/>
                    </a:solidFill>
                    <a:ea typeface="楷体" panose="02010609060101010101" charset="-122"/>
                    <a:cs typeface="Times New Roman" panose="02020603050405020304" charset="0"/>
                  </a:endParaRPr>
                </a:p>
                <a:p>
                  <a:pPr lvl="1">
                    <a:lnSpc>
                      <a:spcPct val="110000"/>
                    </a:lnSpc>
                    <a:spcBef>
                      <a:spcPts val="0"/>
                    </a:spcBef>
                    <a:spcAft>
                      <a:spcPts val="1000"/>
                    </a:spcAft>
                    <a:buClr>
                      <a:srgbClr val="CC9900"/>
                    </a:buClr>
                  </a:pPr>
                  <a14:m>
                    <m:oMathPara xmlns:m="http://schemas.openxmlformats.org/officeDocument/2006/math">
                      <m:oMathParaPr>
                        <m:jc m:val="left"/>
                      </m:oMathParaPr>
                      <m:oMath xmlns:m="http://schemas.openxmlformats.org/officeDocument/2006/math">
                        <m:r>
                          <a:rPr lang="en-US" altLang="x-none" sz="24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𝑸</m:t>
                        </m:r>
                        <m:r>
                          <a:rPr lang="en-US" altLang="x-none" sz="2400" b="1" i="1" spc="100" baseline="-25000" dirty="0">
                            <a:solidFill>
                              <a:srgbClr val="1F2DA8"/>
                            </a:solidFill>
                            <a:uFillTx/>
                            <a:latin typeface="Cambria Math" panose="02040503050406030204" charset="0"/>
                            <a:ea typeface="楷体" panose="02010609060101010101" charset="-122"/>
                            <a:cs typeface="Cambria Math" panose="02040503050406030204" charset="0"/>
                            <a:sym typeface="+mn-ea"/>
                          </a:rPr>
                          <m:t>𝟏𝟎</m:t>
                        </m:r>
                        <m:r>
                          <a:rPr lang="en-US" altLang="zh-CN" sz="24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 </m:t>
                        </m:r>
                        <m:r>
                          <a:rPr lang="en-US" altLang="zh-CN" sz="2400" b="1" i="1" dirty="0">
                            <a:solidFill>
                              <a:srgbClr val="1F2DA8"/>
                            </a:solidFill>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 </m:t>
                        </m:r>
                        <m:r>
                          <a:rPr lang="en-US" altLang="zh-CN" sz="2400" b="1" i="1" spc="100" dirty="0">
                            <a:solidFill>
                              <a:srgbClr val="1F2DA8"/>
                            </a:solidFill>
                            <a:uFillTx/>
                            <a:latin typeface="Cambria Math" panose="02040503050406030204" charset="0"/>
                            <a:ea typeface="楷体" panose="02010609060101010101" charset="-122"/>
                            <a:cs typeface="Cambria Math" panose="02040503050406030204" charset="0"/>
                            <a:sym typeface="+mn-ea"/>
                          </a:rPr>
                          <m:t>𝑸</m:t>
                        </m:r>
                        <m:r>
                          <a:rPr lang="en-US" altLang="zh-CN" sz="2400" b="1" i="1" spc="100" baseline="-25000" dirty="0">
                            <a:solidFill>
                              <a:srgbClr val="1F2DA8"/>
                            </a:solidFill>
                            <a:uFillTx/>
                            <a:latin typeface="Cambria Math" panose="02040503050406030204" charset="0"/>
                            <a:ea typeface="楷体" panose="02010609060101010101" charset="-122"/>
                            <a:cs typeface="Cambria Math" panose="02040503050406030204" charset="0"/>
                            <a:sym typeface="+mn-ea"/>
                          </a:rPr>
                          <m:t>𝟏</m:t>
                        </m:r>
                      </m:oMath>
                    </m:oMathPara>
                  </a14:m>
                  <a:endParaRPr lang="en-US" altLang="zh-CN" sz="2400" b="1" i="1" spc="100" baseline="-25000" dirty="0">
                    <a:solidFill>
                      <a:srgbClr val="1F2DA8"/>
                    </a:solidFill>
                    <a:uFillTx/>
                    <a:ea typeface="楷体" panose="02010609060101010101" charset="-122"/>
                    <a:cs typeface="Times New Roman" panose="02020603050405020304" charset="0"/>
                    <a:sym typeface="+mn-ea"/>
                  </a:endParaRPr>
                </a:p>
              </p:txBody>
            </p:sp>
          </mc:Choice>
          <mc:Fallback xmlns="">
            <p:sp>
              <p:nvSpPr>
                <p:cNvPr id="5" name="Rectangle 3"/>
                <p:cNvSpPr>
                  <a:spLocks noRot="1" noChangeAspect="1" noMove="1" noResize="1" noEditPoints="1" noAdjustHandles="1" noChangeArrowheads="1" noChangeShapeType="1" noTextEdit="1"/>
                </p:cNvSpPr>
                <p:nvPr/>
              </p:nvSpPr>
              <p:spPr>
                <a:xfrm>
                  <a:off x="5985" y="3467"/>
                  <a:ext cx="6823" cy="1624"/>
                </a:xfrm>
                <a:prstGeom prst="rect">
                  <a:avLst/>
                </a:prstGeom>
                <a:blipFill rotWithShape="1">
                  <a:blip r:embed="rId4"/>
                </a:blipFill>
                <a:ln w="9525">
                  <a:noFill/>
                </a:ln>
              </p:spPr>
              <p:txBody>
                <a:bodyPr/>
                <a:lstStyle/>
                <a:p>
                  <a:r>
                    <a:rPr lang="zh-CN" altLang="en-US">
                      <a:noFill/>
                    </a:rPr>
                    <a:t> </a:t>
                  </a:r>
                </a:p>
              </p:txBody>
            </p:sp>
          </mc:Fallback>
        </mc:AlternateContent>
        <p:sp>
          <p:nvSpPr>
            <p:cNvPr id="11" name="文本框 10"/>
            <p:cNvSpPr txBox="1"/>
            <p:nvPr/>
          </p:nvSpPr>
          <p:spPr>
            <a:xfrm>
              <a:off x="14625" y="4306"/>
              <a:ext cx="8754" cy="783"/>
            </a:xfrm>
            <a:prstGeom prst="rect">
              <a:avLst/>
            </a:prstGeom>
            <a:noFill/>
          </p:spPr>
          <p:txBody>
            <a:bodyPr wrap="square" rtlCol="0">
              <a:noAutofit/>
            </a:bodyPr>
            <a:lstStyle/>
            <a:p>
              <a:pPr>
                <a:lnSpc>
                  <a:spcPct val="110000"/>
                </a:lnSpc>
                <a:spcBef>
                  <a:spcPts val="0"/>
                </a:spcBef>
                <a:spcAft>
                  <a:spcPts val="1000"/>
                </a:spcAft>
              </a:pPr>
              <a:r>
                <a:rPr lang="zh-CN" altLang="en-US" sz="2400">
                  <a:solidFill>
                    <a:srgbClr val="1F2DA8"/>
                  </a:solidFill>
                  <a:latin typeface="楷体" panose="02010609060101010101" charset="-122"/>
                  <a:ea typeface="楷体" panose="02010609060101010101" charset="-122"/>
                  <a:cs typeface="楷体" panose="02010609060101010101" charset="-122"/>
                </a:rPr>
                <a:t>（</a:t>
              </a:r>
              <a:r>
                <a:rPr lang="zh-CN" altLang="en-US" sz="2400" b="1">
                  <a:solidFill>
                    <a:srgbClr val="1F2DA8"/>
                  </a:solidFill>
                  <a:latin typeface="楷体" panose="02010609060101010101" charset="-122"/>
                  <a:ea typeface="楷体" panose="02010609060101010101" charset="-122"/>
                  <a:cs typeface="楷体" panose="02010609060101010101" charset="-122"/>
                </a:rPr>
                <a:t>注：</a:t>
              </a:r>
              <a:r>
                <a:rPr lang="en-US" altLang="zh-CN" sz="2400" b="1">
                  <a:solidFill>
                    <a:srgbClr val="1F2DA8"/>
                  </a:solidFill>
                  <a:latin typeface="楷体" panose="02010609060101010101" charset="-122"/>
                  <a:ea typeface="楷体" panose="02010609060101010101" charset="-122"/>
                  <a:cs typeface="楷体" panose="02010609060101010101" charset="-122"/>
                </a:rPr>
                <a:t>orders</a:t>
              </a:r>
              <a:r>
                <a:rPr lang="zh-CN" altLang="en-US" sz="2400" b="1">
                  <a:solidFill>
                    <a:srgbClr val="1F2DA8"/>
                  </a:solidFill>
                  <a:latin typeface="楷体" panose="02010609060101010101" charset="-122"/>
                  <a:ea typeface="楷体" panose="02010609060101010101" charset="-122"/>
                  <a:cs typeface="楷体" panose="02010609060101010101" charset="-122"/>
                </a:rPr>
                <a:t>表中的</a:t>
              </a:r>
              <a:r>
                <a:rPr lang="en-US" altLang="zh-CN" sz="2400" b="1">
                  <a:solidFill>
                    <a:srgbClr val="1F2DA8"/>
                  </a:solidFill>
                  <a:latin typeface="楷体" panose="02010609060101010101" charset="-122"/>
                  <a:ea typeface="楷体" panose="02010609060101010101" charset="-122"/>
                  <a:cs typeface="楷体" panose="02010609060101010101" charset="-122"/>
                </a:rPr>
                <a:t>pid</a:t>
              </a:r>
              <a:r>
                <a:rPr lang="zh-CN" altLang="en-US" sz="2400" b="1">
                  <a:solidFill>
                    <a:srgbClr val="1F2DA8"/>
                  </a:solidFill>
                  <a:latin typeface="楷体" panose="02010609060101010101" charset="-122"/>
                  <a:ea typeface="楷体" panose="02010609060101010101" charset="-122"/>
                  <a:cs typeface="楷体" panose="02010609060101010101" charset="-122"/>
                </a:rPr>
                <a:t>不可能取空值）</a:t>
              </a:r>
            </a:p>
          </p:txBody>
        </p:sp>
      </p:grpSp>
      <p:sp>
        <p:nvSpPr>
          <p:cNvPr id="6" name="文本框 5"/>
          <p:cNvSpPr txBox="1"/>
          <p:nvPr/>
        </p:nvSpPr>
        <p:spPr>
          <a:xfrm>
            <a:off x="431800" y="770890"/>
            <a:ext cx="971550" cy="429895"/>
          </a:xfrm>
          <a:prstGeom prst="rect">
            <a:avLst/>
          </a:prstGeom>
          <a:solidFill>
            <a:schemeClr val="bg1"/>
          </a:solidFill>
        </p:spPr>
        <p:txBody>
          <a:bodyPr wrap="square" rtlCol="0">
            <a:spAutoFit/>
          </a:bodyPr>
          <a:lstStyle/>
          <a:p>
            <a:pPr>
              <a:lnSpc>
                <a:spcPct val="110000"/>
              </a:lnSpc>
              <a:spcBef>
                <a:spcPts val="600"/>
              </a:spcBef>
              <a:spcAft>
                <a:spcPts val="0"/>
              </a:spcAft>
            </a:pPr>
            <a:r>
              <a:rPr lang="zh-CN" altLang="en-US" sz="2000" b="1"/>
              <a:t>第</a:t>
            </a:r>
            <a:r>
              <a:rPr lang="en-US" altLang="zh-CN" sz="2000" b="1"/>
              <a:t>5</a:t>
            </a:r>
            <a:r>
              <a:rPr lang="zh-CN" altLang="en-US" sz="2000" b="1"/>
              <a:t>组</a:t>
            </a:r>
            <a:endParaRPr lang="en-US" altLang="zh-CN" sz="2000" b="1"/>
          </a:p>
        </p:txBody>
      </p:sp>
      <mc:AlternateContent xmlns:mc="http://schemas.openxmlformats.org/markup-compatibility/2006" xmlns:a14="http://schemas.microsoft.com/office/drawing/2010/main">
        <mc:Choice Requires="a14">
          <p:graphicFrame>
            <p:nvGraphicFramePr>
              <p:cNvPr id="8" name="表格 7"/>
              <p:cNvGraphicFramePr/>
              <p:nvPr>
                <p:custDataLst>
                  <p:tags r:id="rId1"/>
                </p:custDataLst>
              </p:nvPr>
            </p:nvGraphicFramePr>
            <p:xfrm>
              <a:off x="1260000" y="612000"/>
              <a:ext cx="9770110" cy="1160780"/>
            </p:xfrm>
            <a:graphic>
              <a:graphicData uri="http://schemas.openxmlformats.org/drawingml/2006/table">
                <a:tbl>
                  <a:tblPr firstRow="1" bandRow="1">
                    <a:tableStyleId>{5C22544A-7EE6-4342-B048-85BDC9FD1C3A}</a:tableStyleId>
                  </a:tblPr>
                  <a:tblGrid>
                    <a:gridCol w="804545">
                      <a:extLst>
                        <a:ext uri="{9D8B030D-6E8A-4147-A177-3AD203B41FA5}">
                          <a16:colId xmlns:a16="http://schemas.microsoft.com/office/drawing/2014/main" val="20000"/>
                        </a:ext>
                      </a:extLst>
                    </a:gridCol>
                    <a:gridCol w="8965565">
                      <a:extLst>
                        <a:ext uri="{9D8B030D-6E8A-4147-A177-3AD203B41FA5}">
                          <a16:colId xmlns:a16="http://schemas.microsoft.com/office/drawing/2014/main" val="20001"/>
                        </a:ext>
                      </a:extLst>
                    </a:gridCol>
                  </a:tblGrid>
                  <a:tr h="580390">
                    <a:tc>
                      <a:txBody>
                        <a:bodyPr/>
                        <a:lstStyle/>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9</a:t>
                          </a: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𝒐𝒓𝒅𝒆𝒓𝒔</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mn-ea"/>
                                  </a:rPr>
                                  <m:t> </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 </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𝒐𝒓𝒅𝒆𝒓𝒔</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m:oMathPara>
                          </a14:m>
                          <a:endParaRPr lang="en-US" altLang="zh-CN" sz="2400" i="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580390">
                    <a:tc>
                      <a:txBody>
                        <a:bodyPr/>
                        <a:lstStyle/>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10</a:t>
                          </a:r>
                          <a:endParaRPr lang="zh-CN" altLang="en-US">
                            <a:solidFill>
                              <a:srgbClr val="0000CC"/>
                            </a:solidFill>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𝒐𝒓𝒅𝒆𝒓𝒔</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 − </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m:oMathPara>
                          </a14:m>
                          <a:endParaRPr lang="en-US" altLang="zh-CN" sz="2400" b="1" i="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bl>
              </a:graphicData>
            </a:graphic>
          </p:graphicFrame>
        </mc:Choice>
        <mc:Fallback xmlns="">
          <p:graphicFrame>
            <p:nvGraphicFramePr>
              <p:cNvPr id="8" name="表格 7"/>
              <p:cNvGraphicFramePr/>
              <p:nvPr>
                <p:custDataLst>
                  <p:tags r:id="rId5"/>
                </p:custDataLst>
              </p:nvPr>
            </p:nvGraphicFramePr>
            <p:xfrm>
              <a:off x="1260000" y="612000"/>
              <a:ext cx="9770110" cy="1160780"/>
            </p:xfrm>
            <a:graphic>
              <a:graphicData uri="http://schemas.openxmlformats.org/drawingml/2006/table">
                <a:tbl>
                  <a:tblPr firstRow="1" bandRow="1">
                    <a:tableStyleId>{5C22544A-7EE6-4342-B048-85BDC9FD1C3A}</a:tableStyleId>
                  </a:tblPr>
                  <a:tblGrid>
                    <a:gridCol w="804545"/>
                    <a:gridCol w="8965565"/>
                  </a:tblGrid>
                  <a:tr h="580390">
                    <a:tc>
                      <a:txBody>
                        <a:bodyPr/>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9</a:t>
                          </a:r>
                          <a:endParaRPr lang="en-US" altLang="zh-CN" sz="2400" spc="100" baseline="-25000">
                            <a:solidFill>
                              <a:schemeClr val="tx1"/>
                            </a:solidFill>
                            <a:uFillTx/>
                            <a:ea typeface="楷体" panose="02010609060101010101" charset="-122"/>
                            <a:cs typeface="Times New Roman" panose="02020603050405020304" charset="0"/>
                            <a:sym typeface="+mn-ea"/>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r>
                  <a:tr h="580390">
                    <a:tc>
                      <a:txBody>
                        <a:bodyPr/>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10</a:t>
                          </a:r>
                          <a:endParaRPr lang="zh-CN" altLang="en-US">
                            <a:solidFill>
                              <a:srgbClr val="0000CC"/>
                            </a:solidFill>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6"/>
                        </a:blipFill>
                      </a:tcPr>
                    </a:tc>
                  </a:tr>
                </a:tbl>
              </a:graphicData>
            </a:graphic>
          </p:graphicFrame>
        </mc:Fallback>
      </mc:AlternateContent>
      <p:grpSp>
        <p:nvGrpSpPr>
          <p:cNvPr id="9" name="组合 8"/>
          <p:cNvGrpSpPr/>
          <p:nvPr/>
        </p:nvGrpSpPr>
        <p:grpSpPr>
          <a:xfrm>
            <a:off x="6497955" y="4495165"/>
            <a:ext cx="4399280" cy="1071245"/>
            <a:chOff x="12132" y="6701"/>
            <a:chExt cx="6928" cy="1687"/>
          </a:xfrm>
        </p:grpSpPr>
        <p:pic>
          <p:nvPicPr>
            <p:cNvPr id="10" name="图片 9"/>
            <p:cNvPicPr>
              <a:picLocks noChangeAspect="1"/>
            </p:cNvPicPr>
            <p:nvPr/>
          </p:nvPicPr>
          <p:blipFill>
            <a:blip r:embed="rId7"/>
            <a:stretch>
              <a:fillRect/>
            </a:stretch>
          </p:blipFill>
          <p:spPr>
            <a:xfrm>
              <a:off x="12132" y="6701"/>
              <a:ext cx="6929" cy="843"/>
            </a:xfrm>
            <a:prstGeom prst="rect">
              <a:avLst/>
            </a:prstGeom>
            <a:ln>
              <a:solidFill>
                <a:schemeClr val="tx1"/>
              </a:solidFill>
            </a:ln>
          </p:spPr>
        </p:pic>
        <p:pic>
          <p:nvPicPr>
            <p:cNvPr id="12" name="图片 11"/>
            <p:cNvPicPr>
              <a:picLocks noChangeAspect="1"/>
            </p:cNvPicPr>
            <p:nvPr/>
          </p:nvPicPr>
          <p:blipFill>
            <a:blip r:embed="rId8"/>
            <a:stretch>
              <a:fillRect/>
            </a:stretch>
          </p:blipFill>
          <p:spPr>
            <a:xfrm>
              <a:off x="12132" y="7544"/>
              <a:ext cx="6928" cy="845"/>
            </a:xfrm>
            <a:prstGeom prst="rect">
              <a:avLst/>
            </a:prstGeom>
            <a:ln>
              <a:solidFill>
                <a:schemeClr val="tx1"/>
              </a:solidFill>
            </a:ln>
          </p:spPr>
        </p:pic>
      </p:gr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blinds(horizontal)">
                                      <p:cBhvr>
                                        <p:cTn id="12" dur="500"/>
                                        <p:tgtEl>
                                          <p:spTgt spid="19">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9">
                                            <p:txEl>
                                              <p:pRg st="1" end="1"/>
                                            </p:txEl>
                                          </p:spTgt>
                                        </p:tgtEl>
                                        <p:attrNameLst>
                                          <p:attrName>style.visibility</p:attrName>
                                        </p:attrNameLst>
                                      </p:cBhvr>
                                      <p:to>
                                        <p:strVal val="visible"/>
                                      </p:to>
                                    </p:set>
                                    <p:animEffect transition="in" filter="blinds(horizontal)">
                                      <p:cBhvr>
                                        <p:cTn id="15" dur="500"/>
                                        <p:tgtEl>
                                          <p:spTgt spid="1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linds(horizontal)">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build="allAtOnce" bldLvl="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思考题（第</a:t>
            </a:r>
            <a:r>
              <a:rPr lang="en-US" altLang="zh-CN">
                <a:sym typeface="+mn-ea"/>
              </a:rPr>
              <a:t>6</a:t>
            </a:r>
            <a:r>
              <a:rPr lang="zh-CN" altLang="en-US">
                <a:sym typeface="+mn-ea"/>
              </a:rPr>
              <a:t>组）</a:t>
            </a:r>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56</a:t>
            </a:fld>
            <a:endParaRPr lang="zh-CN" altLang="en-US"/>
          </a:p>
        </p:txBody>
      </p:sp>
      <p:sp>
        <p:nvSpPr>
          <p:cNvPr id="9" name="Rectangle 3"/>
          <p:cNvSpPr>
            <a:spLocks noGrp="1"/>
          </p:cNvSpPr>
          <p:nvPr/>
        </p:nvSpPr>
        <p:spPr>
          <a:xfrm>
            <a:off x="431800" y="1926590"/>
            <a:ext cx="11236325" cy="460375"/>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zh-CN" sz="2400" b="1" dirty="0">
                <a:solidFill>
                  <a:srgbClr val="1F2DA8"/>
                </a:solidFill>
                <a:highlight>
                  <a:srgbClr val="FFFF00"/>
                </a:highlight>
                <a:ea typeface="楷体" panose="02010609060101010101" charset="-122"/>
              </a:rPr>
              <a:t>查询</a:t>
            </a:r>
            <a:r>
              <a:rPr lang="zh-CN" altLang="en-US" sz="2400" b="1" dirty="0">
                <a:solidFill>
                  <a:srgbClr val="1F2DA8"/>
                </a:solidFill>
                <a:highlight>
                  <a:srgbClr val="FFFF00"/>
                </a:highlight>
                <a:ea typeface="楷体" panose="02010609060101010101" charset="-122"/>
              </a:rPr>
              <a:t>结果集的语义是什么？</a:t>
            </a:r>
            <a:endParaRPr lang="zh-CN" altLang="en-US" sz="2400" b="1" u="none" baseline="0" dirty="0">
              <a:solidFill>
                <a:srgbClr val="1F2DA8"/>
              </a:solidFill>
              <a:highlight>
                <a:srgbClr val="FFFF00"/>
              </a:highlight>
              <a:ea typeface="楷体" panose="02010609060101010101" charset="-122"/>
            </a:endParaRPr>
          </a:p>
        </p:txBody>
      </p:sp>
      <p:sp>
        <p:nvSpPr>
          <p:cNvPr id="10" name="Rectangle 3"/>
          <p:cNvSpPr>
            <a:spLocks noGrp="1"/>
          </p:cNvSpPr>
          <p:nvPr/>
        </p:nvSpPr>
        <p:spPr>
          <a:xfrm>
            <a:off x="431800" y="2436495"/>
            <a:ext cx="11236325" cy="958215"/>
          </a:xfrm>
          <a:prstGeom prst="rect">
            <a:avLst/>
          </a:prstGeom>
          <a:noFill/>
          <a:ln w="9525">
            <a:noFill/>
          </a:ln>
        </p:spPr>
        <p:txBody>
          <a:bodyPr wrap="square" anchor="t">
            <a:noAutofit/>
          </a:bodyPr>
          <a:lstStyle/>
          <a:p>
            <a:pPr marL="1205230" lvl="1" indent="-748030">
              <a:lnSpc>
                <a:spcPct val="100000"/>
              </a:lnSpc>
              <a:spcAft>
                <a:spcPts val="1000"/>
              </a:spcAft>
              <a:buClr>
                <a:srgbClr val="CC9900"/>
              </a:buClr>
            </a:pPr>
            <a:r>
              <a:rPr lang="en-US" altLang="x-none" sz="2400" b="1" dirty="0">
                <a:solidFill>
                  <a:srgbClr val="1F2DA8"/>
                </a:solidFill>
                <a:ea typeface="楷体" panose="02010609060101010101" charset="-122"/>
                <a:cs typeface="Times New Roman" panose="02020603050405020304" charset="0"/>
                <a:sym typeface="+mn-ea"/>
              </a:rPr>
              <a:t>Q</a:t>
            </a:r>
            <a:r>
              <a:rPr lang="en-US" altLang="x-none" sz="2400" b="1" baseline="-25000" dirty="0">
                <a:solidFill>
                  <a:srgbClr val="1F2DA8"/>
                </a:solidFill>
                <a:ea typeface="楷体" panose="02010609060101010101" charset="-122"/>
                <a:cs typeface="Times New Roman" panose="02020603050405020304" charset="0"/>
                <a:sym typeface="+mn-ea"/>
              </a:rPr>
              <a:t>11</a:t>
            </a:r>
            <a:r>
              <a:rPr lang="zh-CN" altLang="en-US" sz="2400" b="1" dirty="0">
                <a:solidFill>
                  <a:srgbClr val="1F2DA8"/>
                </a:solidFill>
                <a:ea typeface="楷体" panose="02010609060101010101" charset="-122"/>
                <a:cs typeface="Times New Roman" panose="02020603050405020304" charset="0"/>
                <a:sym typeface="+mn-ea"/>
              </a:rPr>
              <a:t>：购买过其他商品（</a:t>
            </a:r>
            <a:r>
              <a:rPr lang="en-US" altLang="zh-CN" sz="2400" b="1" dirty="0">
                <a:solidFill>
                  <a:srgbClr val="1F2DA8"/>
                </a:solidFill>
                <a:ea typeface="楷体" panose="02010609060101010101" charset="-122"/>
                <a:cs typeface="Times New Roman" panose="02020603050405020304" charset="0"/>
                <a:sym typeface="+mn-ea"/>
              </a:rPr>
              <a:t>pid</a:t>
            </a:r>
            <a:r>
              <a:rPr lang="zh-CN" altLang="en-US" sz="2400" b="1" dirty="0">
                <a:solidFill>
                  <a:srgbClr val="1F2DA8"/>
                </a:solidFill>
                <a:ea typeface="楷体" panose="02010609060101010101" charset="-122"/>
                <a:cs typeface="Times New Roman" panose="02020603050405020304" charset="0"/>
                <a:sym typeface="+mn-ea"/>
              </a:rPr>
              <a:t>不等于</a:t>
            </a:r>
            <a:r>
              <a:rPr lang="en-US" altLang="zh-CN" sz="2400" b="1" dirty="0">
                <a:solidFill>
                  <a:srgbClr val="1F2DA8"/>
                </a:solidFill>
                <a:ea typeface="楷体" panose="02010609060101010101" charset="-122"/>
                <a:cs typeface="Times New Roman" panose="02020603050405020304" charset="0"/>
                <a:sym typeface="+mn-ea"/>
              </a:rPr>
              <a:t>'p01'</a:t>
            </a:r>
            <a:r>
              <a:rPr lang="zh-CN" altLang="en-US" sz="2400" b="1" dirty="0">
                <a:solidFill>
                  <a:srgbClr val="1F2DA8"/>
                </a:solidFill>
                <a:ea typeface="楷体" panose="02010609060101010101" charset="-122"/>
                <a:cs typeface="Times New Roman" panose="02020603050405020304" charset="0"/>
                <a:sym typeface="+mn-ea"/>
              </a:rPr>
              <a:t>）的顾客编号的集合</a:t>
            </a:r>
            <a:endParaRPr lang="en-US" altLang="zh-CN" sz="2400" b="1" u="none" baseline="0" dirty="0">
              <a:solidFill>
                <a:srgbClr val="1F2DA8"/>
              </a:solidFill>
              <a:ea typeface="楷体" panose="02010609060101010101" charset="-122"/>
              <a:cs typeface="Times New Roman" panose="02020603050405020304" charset="0"/>
            </a:endParaRPr>
          </a:p>
          <a:p>
            <a:pPr marL="1205230" lvl="1" indent="-748030">
              <a:lnSpc>
                <a:spcPct val="100000"/>
              </a:lnSpc>
              <a:spcAft>
                <a:spcPts val="1000"/>
              </a:spcAft>
              <a:buClr>
                <a:srgbClr val="CC9900"/>
              </a:buClr>
            </a:pP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12</a:t>
            </a:r>
            <a:r>
              <a:rPr lang="zh-CN" altLang="en-US" sz="2400" b="1" dirty="0">
                <a:solidFill>
                  <a:srgbClr val="1F2DA8"/>
                </a:solidFill>
                <a:ea typeface="楷体" panose="02010609060101010101" charset="-122"/>
                <a:cs typeface="Times New Roman" panose="02020603050405020304" charset="0"/>
                <a:sym typeface="+mn-ea"/>
              </a:rPr>
              <a:t>：购买过商品</a:t>
            </a:r>
            <a:r>
              <a:rPr lang="en-US" altLang="zh-CN" sz="2400" b="1" dirty="0">
                <a:solidFill>
                  <a:srgbClr val="1F2DA8"/>
                </a:solidFill>
                <a:ea typeface="楷体" panose="02010609060101010101" charset="-122"/>
                <a:cs typeface="Times New Roman" panose="02020603050405020304" charset="0"/>
                <a:sym typeface="+mn-ea"/>
              </a:rPr>
              <a:t>'p01'</a:t>
            </a:r>
            <a:r>
              <a:rPr lang="zh-CN" altLang="en-US" sz="2400" b="1" dirty="0">
                <a:solidFill>
                  <a:srgbClr val="1F2DA8"/>
                </a:solidFill>
                <a:ea typeface="楷体" panose="02010609060101010101" charset="-122"/>
                <a:cs typeface="Times New Roman" panose="02020603050405020304" charset="0"/>
                <a:sym typeface="+mn-ea"/>
              </a:rPr>
              <a:t>的顾客编号的集合</a:t>
            </a:r>
            <a:endParaRPr lang="zh-CN" altLang="en-US" sz="2400" b="1" u="none" baseline="0" dirty="0">
              <a:solidFill>
                <a:srgbClr val="1F2DA8"/>
              </a:solidFill>
              <a:ea typeface="楷体" panose="02010609060101010101" charset="-122"/>
              <a:cs typeface="Times New Roman" panose="02020603050405020304" charset="0"/>
              <a:sym typeface="+mn-ea"/>
            </a:endParaRPr>
          </a:p>
        </p:txBody>
      </p:sp>
      <p:sp>
        <p:nvSpPr>
          <p:cNvPr id="12" name="Rectangle 3"/>
          <p:cNvSpPr>
            <a:spLocks noGrp="1"/>
          </p:cNvSpPr>
          <p:nvPr/>
        </p:nvSpPr>
        <p:spPr>
          <a:xfrm>
            <a:off x="431800" y="3620135"/>
            <a:ext cx="11236325" cy="460375"/>
          </a:xfrm>
          <a:prstGeom prst="rect">
            <a:avLst/>
          </a:prstGeom>
          <a:noFill/>
          <a:ln w="9525">
            <a:noFill/>
          </a:ln>
        </p:spPr>
        <p:txBody>
          <a:bodyPr wrap="square" anchor="t">
            <a:noAutofit/>
          </a:bodyPr>
          <a:lstStyle/>
          <a:p>
            <a:pPr marL="457200" indent="-457200">
              <a:spcBef>
                <a:spcPct val="20000"/>
              </a:spcBef>
              <a:buClr>
                <a:srgbClr val="C00000"/>
              </a:buClr>
              <a:buSzPct val="85000"/>
              <a:buFont typeface="Wingdings" panose="05000000000000000000" charset="0"/>
              <a:buChar char="q"/>
            </a:pPr>
            <a:r>
              <a:rPr lang="zh-CN" altLang="en-US" sz="2400" b="1" dirty="0">
                <a:solidFill>
                  <a:srgbClr val="1F2DA8"/>
                </a:solidFill>
                <a:highlight>
                  <a:srgbClr val="FFFF00"/>
                </a:highlight>
                <a:ea typeface="楷体" panose="02010609060101010101" charset="-122"/>
              </a:rPr>
              <a:t>两个结果集的关系是什么？</a:t>
            </a:r>
            <a:endParaRPr lang="zh-CN" altLang="en-US" sz="2400" b="1" u="none" baseline="0" dirty="0">
              <a:solidFill>
                <a:srgbClr val="1F2DA8"/>
              </a:solidFill>
              <a:highlight>
                <a:srgbClr val="FFFF00"/>
              </a:highlight>
              <a:ea typeface="楷体" panose="02010609060101010101" charset="-122"/>
            </a:endParaRPr>
          </a:p>
        </p:txBody>
      </p:sp>
      <p:sp>
        <p:nvSpPr>
          <p:cNvPr id="8" name="Rectangle 3"/>
          <p:cNvSpPr>
            <a:spLocks noGrp="1"/>
          </p:cNvSpPr>
          <p:nvPr/>
        </p:nvSpPr>
        <p:spPr>
          <a:xfrm>
            <a:off x="431800" y="4095750"/>
            <a:ext cx="11236325" cy="2563495"/>
          </a:xfrm>
          <a:prstGeom prst="rect">
            <a:avLst/>
          </a:prstGeom>
          <a:noFill/>
          <a:ln w="9525">
            <a:noFill/>
          </a:ln>
        </p:spPr>
        <p:txBody>
          <a:bodyPr wrap="square" anchor="t">
            <a:noAutofit/>
          </a:bodyPr>
          <a:lstStyle/>
          <a:p>
            <a:pPr marL="457200" lvl="1" indent="339725">
              <a:lnSpc>
                <a:spcPct val="100000"/>
              </a:lnSpc>
              <a:spcAft>
                <a:spcPts val="1000"/>
              </a:spcAft>
              <a:buClr>
                <a:srgbClr val="CC9900"/>
              </a:buClr>
            </a:pPr>
            <a:r>
              <a:rPr lang="zh-CN" altLang="en-US" sz="2400" b="1" dirty="0">
                <a:solidFill>
                  <a:srgbClr val="1F2DA8"/>
                </a:solidFill>
                <a:ea typeface="楷体" panose="02010609060101010101" charset="-122"/>
                <a:cs typeface="Times New Roman" panose="02020603050405020304" charset="0"/>
                <a:sym typeface="+mn-ea"/>
              </a:rPr>
              <a:t>就如同前面的</a:t>
            </a: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3</a:t>
            </a:r>
            <a:r>
              <a:rPr lang="zh-CN" altLang="en-US" sz="2400" b="1" dirty="0">
                <a:solidFill>
                  <a:srgbClr val="1F2DA8"/>
                </a:solidFill>
                <a:ea typeface="楷体" panose="02010609060101010101" charset="-122"/>
                <a:cs typeface="Times New Roman" panose="02020603050405020304" charset="0"/>
                <a:sym typeface="+mn-ea"/>
              </a:rPr>
              <a:t>和</a:t>
            </a: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4</a:t>
            </a:r>
            <a:r>
              <a:rPr lang="zh-CN" altLang="en-US" sz="2400" b="1" dirty="0">
                <a:solidFill>
                  <a:srgbClr val="1F2DA8"/>
                </a:solidFill>
                <a:ea typeface="楷体" panose="02010609060101010101" charset="-122"/>
                <a:cs typeface="Times New Roman" panose="02020603050405020304" charset="0"/>
                <a:sym typeface="+mn-ea"/>
              </a:rPr>
              <a:t>一样，</a:t>
            </a: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11</a:t>
            </a:r>
            <a:r>
              <a:rPr lang="zh-CN" altLang="en-US" sz="2400" b="1" dirty="0">
                <a:solidFill>
                  <a:srgbClr val="1F2DA8"/>
                </a:solidFill>
                <a:ea typeface="楷体" panose="02010609060101010101" charset="-122"/>
                <a:cs typeface="Times New Roman" panose="02020603050405020304" charset="0"/>
                <a:sym typeface="+mn-ea"/>
              </a:rPr>
              <a:t>和</a:t>
            </a: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12</a:t>
            </a:r>
            <a:r>
              <a:rPr lang="zh-CN" altLang="en-US" sz="2400" b="1" dirty="0">
                <a:solidFill>
                  <a:srgbClr val="1F2DA8"/>
                </a:solidFill>
                <a:ea typeface="楷体" panose="02010609060101010101" charset="-122"/>
                <a:cs typeface="Times New Roman" panose="02020603050405020304" charset="0"/>
                <a:sym typeface="+mn-ea"/>
              </a:rPr>
              <a:t>的结果集之间也没有确定的相互关系，一切取决于当前</a:t>
            </a:r>
            <a:r>
              <a:rPr lang="en-US" altLang="zh-CN" sz="2400" b="1">
                <a:solidFill>
                  <a:srgbClr val="1F2DA8"/>
                </a:solidFill>
                <a:latin typeface="楷体" panose="02010609060101010101" charset="-122"/>
                <a:ea typeface="楷体" panose="02010609060101010101" charset="-122"/>
                <a:sym typeface="+mn-ea"/>
              </a:rPr>
              <a:t>orders</a:t>
            </a:r>
            <a:r>
              <a:rPr lang="zh-CN" altLang="en-US" sz="2400" b="1">
                <a:solidFill>
                  <a:srgbClr val="1F2DA8"/>
                </a:solidFill>
                <a:latin typeface="楷体" panose="02010609060101010101" charset="-122"/>
                <a:ea typeface="楷体" panose="02010609060101010101" charset="-122"/>
                <a:sym typeface="+mn-ea"/>
              </a:rPr>
              <a:t>表中的订单情况。</a:t>
            </a:r>
            <a:endParaRPr lang="en-US" altLang="x-none" sz="2400" b="1" u="none" baseline="0" dirty="0">
              <a:solidFill>
                <a:srgbClr val="1F2DA8"/>
              </a:solidFill>
              <a:ea typeface="楷体" panose="02010609060101010101" charset="-122"/>
              <a:cs typeface="Times New Roman" panose="02020603050405020304" charset="0"/>
            </a:endParaRPr>
          </a:p>
          <a:p>
            <a:pPr marL="800100" lvl="1" indent="-342900">
              <a:lnSpc>
                <a:spcPct val="100000"/>
              </a:lnSpc>
              <a:spcAft>
                <a:spcPts val="1000"/>
              </a:spcAft>
              <a:buClr>
                <a:srgbClr val="C00000"/>
              </a:buClr>
              <a:buSzPct val="85000"/>
              <a:buFont typeface="Wingdings" panose="05000000000000000000" charset="0"/>
              <a:buChar char="Ø"/>
            </a:pPr>
            <a:r>
              <a:rPr lang="en-US" altLang="x-none" sz="2400" b="1" dirty="0">
                <a:solidFill>
                  <a:srgbClr val="1F2DA8"/>
                </a:solidFill>
                <a:ea typeface="楷体" panose="02010609060101010101" charset="-122"/>
                <a:cs typeface="Times New Roman" panose="02020603050405020304" charset="0"/>
                <a:sym typeface="+mn-ea"/>
              </a:rPr>
              <a:t>Q</a:t>
            </a:r>
            <a:r>
              <a:rPr lang="en-US" altLang="x-none" sz="2400" b="1" baseline="-25000" dirty="0">
                <a:solidFill>
                  <a:srgbClr val="1F2DA8"/>
                </a:solidFill>
                <a:ea typeface="楷体" panose="02010609060101010101" charset="-122"/>
                <a:cs typeface="Times New Roman" panose="02020603050405020304" charset="0"/>
                <a:sym typeface="+mn-ea"/>
              </a:rPr>
              <a:t>11</a:t>
            </a:r>
            <a:r>
              <a:rPr lang="zh-CN" altLang="en-US" sz="2400" b="1" dirty="0">
                <a:solidFill>
                  <a:srgbClr val="1F2DA8"/>
                </a:solidFill>
                <a:ea typeface="楷体" panose="02010609060101010101" charset="-122"/>
                <a:cs typeface="Times New Roman" panose="02020603050405020304" charset="0"/>
                <a:sym typeface="+mn-ea"/>
              </a:rPr>
              <a:t>是</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C00000"/>
                </a:solidFill>
                <a:ea typeface="楷体" panose="02010609060101010101" charset="-122"/>
                <a:cs typeface="Times New Roman" panose="02020603050405020304" charset="0"/>
                <a:sym typeface="+mn-ea"/>
              </a:rPr>
              <a:t>购买过其他商品</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1F2DA8"/>
                </a:solidFill>
                <a:ea typeface="楷体" panose="02010609060101010101" charset="-122"/>
                <a:cs typeface="Times New Roman" panose="02020603050405020304" charset="0"/>
                <a:sym typeface="+mn-ea"/>
              </a:rPr>
              <a:t>的顾客集合，其中的顾客有的可能也购买过</a:t>
            </a:r>
            <a:r>
              <a:rPr lang="en-US" altLang="zh-CN" sz="2400" b="1" dirty="0">
                <a:solidFill>
                  <a:srgbClr val="1F2DA8"/>
                </a:solidFill>
                <a:ea typeface="楷体" panose="02010609060101010101" charset="-122"/>
                <a:cs typeface="Times New Roman" panose="02020603050405020304" charset="0"/>
                <a:sym typeface="+mn-ea"/>
              </a:rPr>
              <a:t>'p01'</a:t>
            </a:r>
            <a:r>
              <a:rPr lang="zh-CN" altLang="en-US" sz="2400" b="1" dirty="0">
                <a:solidFill>
                  <a:srgbClr val="1F2DA8"/>
                </a:solidFill>
                <a:ea typeface="楷体" panose="02010609060101010101" charset="-122"/>
                <a:cs typeface="Times New Roman" panose="02020603050405020304" charset="0"/>
                <a:sym typeface="+mn-ea"/>
              </a:rPr>
              <a:t>，也有的可能没有购买过</a:t>
            </a:r>
            <a:r>
              <a:rPr lang="en-US" altLang="zh-CN" sz="2400" b="1" dirty="0">
                <a:solidFill>
                  <a:srgbClr val="1F2DA8"/>
                </a:solidFill>
                <a:ea typeface="楷体" panose="02010609060101010101" charset="-122"/>
                <a:cs typeface="Times New Roman" panose="02020603050405020304" charset="0"/>
                <a:sym typeface="+mn-ea"/>
              </a:rPr>
              <a:t>'p01'</a:t>
            </a:r>
            <a:r>
              <a:rPr lang="zh-CN" altLang="en-US" sz="2400" b="1" dirty="0">
                <a:solidFill>
                  <a:srgbClr val="1F2DA8"/>
                </a:solidFill>
                <a:ea typeface="楷体" panose="02010609060101010101" charset="-122"/>
                <a:cs typeface="Times New Roman" panose="02020603050405020304" charset="0"/>
                <a:sym typeface="+mn-ea"/>
              </a:rPr>
              <a:t>；</a:t>
            </a:r>
            <a:endParaRPr lang="en-US" altLang="zh-CN" sz="2400" b="1" u="none" baseline="0" dirty="0">
              <a:solidFill>
                <a:srgbClr val="1F2DA8"/>
              </a:solidFill>
              <a:ea typeface="楷体" panose="02010609060101010101" charset="-122"/>
              <a:cs typeface="Times New Roman" panose="02020603050405020304" charset="0"/>
            </a:endParaRPr>
          </a:p>
          <a:p>
            <a:pPr marL="800100" lvl="1" indent="-342900">
              <a:lnSpc>
                <a:spcPct val="100000"/>
              </a:lnSpc>
              <a:spcAft>
                <a:spcPts val="1000"/>
              </a:spcAft>
              <a:buClr>
                <a:srgbClr val="C00000"/>
              </a:buClr>
              <a:buSzPct val="85000"/>
              <a:buFont typeface="Wingdings" panose="05000000000000000000" charset="0"/>
              <a:buChar char="Ø"/>
            </a:pPr>
            <a:r>
              <a:rPr lang="en-US" altLang="zh-CN" sz="2400" b="1" dirty="0">
                <a:solidFill>
                  <a:srgbClr val="1F2DA8"/>
                </a:solidFill>
                <a:ea typeface="楷体" panose="02010609060101010101" charset="-122"/>
                <a:cs typeface="Times New Roman" panose="02020603050405020304" charset="0"/>
                <a:sym typeface="+mn-ea"/>
              </a:rPr>
              <a:t>Q</a:t>
            </a:r>
            <a:r>
              <a:rPr lang="en-US" altLang="zh-CN" sz="2400" b="1" baseline="-25000" dirty="0">
                <a:solidFill>
                  <a:srgbClr val="1F2DA8"/>
                </a:solidFill>
                <a:ea typeface="楷体" panose="02010609060101010101" charset="-122"/>
                <a:cs typeface="Times New Roman" panose="02020603050405020304" charset="0"/>
                <a:sym typeface="+mn-ea"/>
              </a:rPr>
              <a:t>12</a:t>
            </a:r>
            <a:r>
              <a:rPr lang="zh-CN" altLang="en-US" sz="2400" b="1" dirty="0">
                <a:solidFill>
                  <a:srgbClr val="1F2DA8"/>
                </a:solidFill>
                <a:ea typeface="楷体" panose="02010609060101010101" charset="-122"/>
                <a:cs typeface="Times New Roman" panose="02020603050405020304" charset="0"/>
                <a:sym typeface="+mn-ea"/>
              </a:rPr>
              <a:t>是</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C00000"/>
                </a:solidFill>
                <a:ea typeface="楷体" panose="02010609060101010101" charset="-122"/>
                <a:cs typeface="Times New Roman" panose="02020603050405020304" charset="0"/>
                <a:sym typeface="+mn-ea"/>
              </a:rPr>
              <a:t>购买过商品</a:t>
            </a:r>
            <a:r>
              <a:rPr lang="en-US" altLang="zh-CN" sz="2400" b="1" dirty="0">
                <a:solidFill>
                  <a:srgbClr val="C00000"/>
                </a:solidFill>
                <a:ea typeface="楷体" panose="02010609060101010101" charset="-122"/>
                <a:cs typeface="Times New Roman" panose="02020603050405020304" charset="0"/>
                <a:sym typeface="+mn-ea"/>
              </a:rPr>
              <a:t>p01</a:t>
            </a:r>
            <a:r>
              <a:rPr lang="en-US" altLang="zh-CN" sz="2400" b="1" dirty="0">
                <a:solidFill>
                  <a:srgbClr val="1F2DA8"/>
                </a:solidFill>
                <a:ea typeface="楷体" panose="02010609060101010101" charset="-122"/>
                <a:cs typeface="Times New Roman" panose="02020603050405020304" charset="0"/>
                <a:sym typeface="+mn-ea"/>
              </a:rPr>
              <a:t>”</a:t>
            </a:r>
            <a:r>
              <a:rPr lang="zh-CN" altLang="en-US" sz="2400" b="1" dirty="0">
                <a:solidFill>
                  <a:srgbClr val="1F2DA8"/>
                </a:solidFill>
                <a:ea typeface="楷体" panose="02010609060101010101" charset="-122"/>
                <a:cs typeface="Times New Roman" panose="02020603050405020304" charset="0"/>
                <a:sym typeface="+mn-ea"/>
              </a:rPr>
              <a:t>的顾客集合，其中的顾客可能也购买过其他商品，也可能没有购买过其他商品。</a:t>
            </a:r>
            <a:endParaRPr lang="zh-CN" altLang="en-US" sz="2400" b="1" u="none" dirty="0">
              <a:solidFill>
                <a:srgbClr val="1F2DA8"/>
              </a:solidFill>
              <a:ea typeface="楷体" panose="02010609060101010101" charset="-122"/>
              <a:cs typeface="Times New Roman" panose="02020603050405020304" charset="0"/>
              <a:sym typeface="+mn-ea"/>
            </a:endParaRPr>
          </a:p>
        </p:txBody>
      </p:sp>
      <p:sp>
        <p:nvSpPr>
          <p:cNvPr id="6" name="文本框 5"/>
          <p:cNvSpPr txBox="1"/>
          <p:nvPr/>
        </p:nvSpPr>
        <p:spPr>
          <a:xfrm>
            <a:off x="431800" y="770890"/>
            <a:ext cx="896620" cy="429895"/>
          </a:xfrm>
          <a:prstGeom prst="rect">
            <a:avLst/>
          </a:prstGeom>
          <a:solidFill>
            <a:schemeClr val="bg1"/>
          </a:solidFill>
        </p:spPr>
        <p:txBody>
          <a:bodyPr wrap="square" rtlCol="0">
            <a:spAutoFit/>
          </a:bodyPr>
          <a:lstStyle/>
          <a:p>
            <a:pPr>
              <a:lnSpc>
                <a:spcPct val="110000"/>
              </a:lnSpc>
              <a:spcBef>
                <a:spcPts val="600"/>
              </a:spcBef>
              <a:spcAft>
                <a:spcPts val="0"/>
              </a:spcAft>
            </a:pPr>
            <a:r>
              <a:rPr lang="zh-CN" altLang="en-US" sz="2000" b="1"/>
              <a:t>第</a:t>
            </a:r>
            <a:r>
              <a:rPr lang="en-US" altLang="zh-CN" sz="2000" b="1"/>
              <a:t>6</a:t>
            </a:r>
            <a:r>
              <a:rPr lang="zh-CN" altLang="en-US" sz="2000" b="1"/>
              <a:t>组</a:t>
            </a:r>
            <a:endParaRPr lang="en-US" altLang="zh-CN" sz="2000" b="1"/>
          </a:p>
        </p:txBody>
      </p:sp>
      <mc:AlternateContent xmlns:mc="http://schemas.openxmlformats.org/markup-compatibility/2006" xmlns:a14="http://schemas.microsoft.com/office/drawing/2010/main">
        <mc:Choice Requires="a14">
          <p:graphicFrame>
            <p:nvGraphicFramePr>
              <p:cNvPr id="13" name="表格 12"/>
              <p:cNvGraphicFramePr/>
              <p:nvPr>
                <p:custDataLst>
                  <p:tags r:id="rId1"/>
                </p:custDataLst>
              </p:nvPr>
            </p:nvGraphicFramePr>
            <p:xfrm>
              <a:off x="1260000" y="612000"/>
              <a:ext cx="9834245" cy="1160780"/>
            </p:xfrm>
            <a:graphic>
              <a:graphicData uri="http://schemas.openxmlformats.org/drawingml/2006/table">
                <a:tbl>
                  <a:tblPr firstRow="1" bandRow="1">
                    <a:tableStyleId>{5C22544A-7EE6-4342-B048-85BDC9FD1C3A}</a:tableStyleId>
                  </a:tblPr>
                  <a:tblGrid>
                    <a:gridCol w="804545">
                      <a:extLst>
                        <a:ext uri="{9D8B030D-6E8A-4147-A177-3AD203B41FA5}">
                          <a16:colId xmlns:a16="http://schemas.microsoft.com/office/drawing/2014/main" val="20000"/>
                        </a:ext>
                      </a:extLst>
                    </a:gridCol>
                    <a:gridCol w="9029700">
                      <a:extLst>
                        <a:ext uri="{9D8B030D-6E8A-4147-A177-3AD203B41FA5}">
                          <a16:colId xmlns:a16="http://schemas.microsoft.com/office/drawing/2014/main" val="20001"/>
                        </a:ext>
                      </a:extLst>
                    </a:gridCol>
                  </a:tblGrid>
                  <a:tr h="580390">
                    <a:tc>
                      <a:txBody>
                        <a:bodyPr/>
                        <a:lstStyle/>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11</a:t>
                          </a: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mn-ea"/>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𝒐𝒓𝒅𝒆𝒓𝒔</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mn-ea"/>
                                  </a:rPr>
                                  <m:t> </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 </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𝒐𝒓𝒅𝒆𝒓𝒔</m:t>
                                </m:r>
                                <m:r>
                                  <a:rPr lang="en-US" altLang="zh-CN" sz="2400"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m:oMathPara>
                          </a14:m>
                          <a:endParaRPr lang="en-US" altLang="zh-CN" sz="2400" i="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580390">
                    <a:tc>
                      <a:txBody>
                        <a:bodyPr/>
                        <a:lstStyle/>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12</a:t>
                          </a:r>
                          <a:endParaRPr lang="zh-CN" altLang="en-US">
                            <a:solidFill>
                              <a:srgbClr val="0000CC"/>
                            </a:solidFill>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𝒄𝒊𝒅</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𝒐𝒓𝒅𝒆𝒓𝒔</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mn-ea"/>
                                  </a:rPr>
                                  <m:t> − </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𝒑𝒊𝒅</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𝒑</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𝟎𝟏</m:t>
                                </m:r>
                                <m:r>
                                  <a:rPr lang="en-US" altLang="zh-CN" sz="2400" b="1" i="1" spc="100" baseline="-250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𝒐𝒓𝒅𝒆𝒓𝒔</m:t>
                                </m:r>
                                <m:r>
                                  <a:rPr lang="en-US" altLang="zh-CN" sz="2400" b="1" i="1" spc="100">
                                    <a:solidFill>
                                      <a:srgbClr val="FF0000"/>
                                    </a:solidFill>
                                    <a:uFillTx/>
                                    <a:latin typeface="Cambria Math" panose="02040503050406030204" charset="0"/>
                                    <a:ea typeface="楷体" panose="02010609060101010101" charset="-122"/>
                                    <a:cs typeface="Cambria Math" panose="02040503050406030204" charset="0"/>
                                    <a:sym typeface="Symbol" panose="05050102010706020507" charset="0"/>
                                  </a:rPr>
                                  <m:t>))</m:t>
                                </m:r>
                              </m:oMath>
                            </m:oMathPara>
                          </a14:m>
                          <a:endParaRPr lang="en-US" altLang="zh-CN" sz="2400" b="1" i="1" spc="1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endParaRPr>
                        </a:p>
                      </a:txBody>
                      <a:tcPr marT="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bl>
              </a:graphicData>
            </a:graphic>
          </p:graphicFrame>
        </mc:Choice>
        <mc:Fallback xmlns="">
          <p:graphicFrame>
            <p:nvGraphicFramePr>
              <p:cNvPr id="13" name="表格 12"/>
              <p:cNvGraphicFramePr/>
              <p:nvPr>
                <p:custDataLst>
                  <p:tags r:id="rId3"/>
                </p:custDataLst>
              </p:nvPr>
            </p:nvGraphicFramePr>
            <p:xfrm>
              <a:off x="1260000" y="612000"/>
              <a:ext cx="9834245" cy="1160780"/>
            </p:xfrm>
            <a:graphic>
              <a:graphicData uri="http://schemas.openxmlformats.org/drawingml/2006/table">
                <a:tbl>
                  <a:tblPr firstRow="1" bandRow="1">
                    <a:tableStyleId>{5C22544A-7EE6-4342-B048-85BDC9FD1C3A}</a:tableStyleId>
                  </a:tblPr>
                  <a:tblGrid>
                    <a:gridCol w="804545"/>
                    <a:gridCol w="9029700"/>
                  </a:tblGrid>
                  <a:tr h="580390">
                    <a:tc>
                      <a:txBody>
                        <a:bodyPr/>
                        <a:p>
                          <a:pPr algn="ctr">
                            <a:buNone/>
                          </a:pPr>
                          <a:r>
                            <a:rPr lang="en-US" altLang="zh-CN" sz="2400" spc="100">
                              <a:solidFill>
                                <a:schemeClr val="tx1"/>
                              </a:solidFill>
                              <a:uFillTx/>
                              <a:ea typeface="楷体" panose="02010609060101010101" charset="-122"/>
                              <a:cs typeface="Times New Roman" panose="02020603050405020304" charset="0"/>
                              <a:sym typeface="+mn-ea"/>
                            </a:rPr>
                            <a:t>Q</a:t>
                          </a:r>
                          <a:r>
                            <a:rPr lang="en-US" altLang="zh-CN" sz="2400" spc="100" baseline="-25000">
                              <a:solidFill>
                                <a:schemeClr val="tx1"/>
                              </a:solidFill>
                              <a:uFillTx/>
                              <a:ea typeface="楷体" panose="02010609060101010101" charset="-122"/>
                              <a:cs typeface="Times New Roman" panose="02020603050405020304" charset="0"/>
                              <a:sym typeface="+mn-ea"/>
                            </a:rPr>
                            <a:t>11</a:t>
                          </a:r>
                          <a:endParaRPr lang="en-US" altLang="zh-CN" sz="2400" spc="100" baseline="-25000">
                            <a:solidFill>
                              <a:schemeClr val="tx1"/>
                            </a:solidFill>
                            <a:uFillTx/>
                            <a:ea typeface="楷体" panose="02010609060101010101" charset="-122"/>
                            <a:cs typeface="Times New Roman" panose="02020603050405020304" charset="0"/>
                            <a:sym typeface="+mn-ea"/>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580390">
                    <a:tc>
                      <a:txBody>
                        <a:bodyPr/>
                        <a:p>
                          <a:pPr algn="ctr">
                            <a:buNone/>
                          </a:pPr>
                          <a:r>
                            <a:rPr lang="en-US" altLang="zh-CN" sz="2400" b="1" spc="100">
                              <a:uFillTx/>
                              <a:ea typeface="楷体" panose="02010609060101010101" charset="-122"/>
                              <a:cs typeface="Times New Roman" panose="02020603050405020304" charset="0"/>
                              <a:sym typeface="+mn-ea"/>
                            </a:rPr>
                            <a:t>Q</a:t>
                          </a:r>
                          <a:r>
                            <a:rPr lang="en-US" altLang="zh-CN" sz="2400" b="1" spc="100" baseline="-25000">
                              <a:uFillTx/>
                              <a:ea typeface="楷体" panose="02010609060101010101" charset="-122"/>
                              <a:cs typeface="Times New Roman" panose="02020603050405020304" charset="0"/>
                              <a:sym typeface="+mn-ea"/>
                            </a:rPr>
                            <a:t>12</a:t>
                          </a:r>
                          <a:endParaRPr lang="zh-CN" altLang="en-US">
                            <a:solidFill>
                              <a:srgbClr val="0000CC"/>
                            </a:solidFill>
                          </a:endParaRPr>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T="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bl>
              </a:graphicData>
            </a:graphic>
          </p:graphicFrame>
        </mc:Fallback>
      </mc:AlternateContent>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2400">
                <a:sym typeface="+mn-ea"/>
              </a:rPr>
              <a:t>思考题</a:t>
            </a:r>
            <a:r>
              <a:rPr lang="en-US" altLang="zh-CN" sz="2400">
                <a:sym typeface="+mn-ea"/>
              </a:rPr>
              <a:t> -- </a:t>
            </a:r>
            <a:r>
              <a:rPr lang="zh-CN" altLang="en-US" sz="2400">
                <a:sym typeface="+mn-ea"/>
              </a:rPr>
              <a:t>总结 </a:t>
            </a:r>
            <a:r>
              <a:rPr lang="en-US" altLang="zh-CN" sz="2400">
                <a:sym typeface="+mn-ea"/>
              </a:rPr>
              <a:t>&amp; </a:t>
            </a:r>
            <a:r>
              <a:rPr lang="zh-CN" altLang="en-US" sz="2400">
                <a:sym typeface="+mn-ea"/>
              </a:rPr>
              <a:t>思考</a:t>
            </a:r>
            <a:r>
              <a:rPr lang="en-US" altLang="zh-CN" sz="2400">
                <a:sym typeface="+mn-ea"/>
              </a:rPr>
              <a:t>  </a:t>
            </a:r>
            <a:r>
              <a:rPr lang="zh-CN" altLang="en-US" sz="2400">
                <a:sym typeface="+mn-ea"/>
              </a:rPr>
              <a:t>（注：</a:t>
            </a:r>
            <a:r>
              <a:rPr lang="en-US" altLang="zh-CN" sz="2400">
                <a:sym typeface="+mn-ea"/>
              </a:rPr>
              <a:t>'</a:t>
            </a:r>
            <a:r>
              <a:rPr lang="zh-CN" altLang="en-US" sz="2400">
                <a:sym typeface="+mn-ea"/>
              </a:rPr>
              <a:t>其他商品</a:t>
            </a:r>
            <a:r>
              <a:rPr lang="en-US" altLang="zh-CN" sz="2400">
                <a:sym typeface="+mn-ea"/>
              </a:rPr>
              <a:t>' </a:t>
            </a:r>
            <a:r>
              <a:rPr lang="zh-CN" altLang="en-US" sz="2400">
                <a:sym typeface="+mn-ea"/>
              </a:rPr>
              <a:t>是指商品编号</a:t>
            </a:r>
            <a:r>
              <a:rPr lang="en-US" altLang="zh-CN" sz="2400">
                <a:sym typeface="+mn-ea"/>
              </a:rPr>
              <a:t>pid</a:t>
            </a:r>
            <a:r>
              <a:rPr lang="zh-CN" altLang="en-US" sz="2400">
                <a:sym typeface="+mn-ea"/>
              </a:rPr>
              <a:t>不等于</a:t>
            </a:r>
            <a:r>
              <a:rPr lang="en-US" altLang="zh-CN" sz="2400">
                <a:sym typeface="+mn-ea"/>
              </a:rPr>
              <a:t>'p01'</a:t>
            </a:r>
            <a:r>
              <a:rPr lang="zh-CN" altLang="en-US" sz="2400">
                <a:sym typeface="+mn-ea"/>
              </a:rPr>
              <a:t>的商品）</a:t>
            </a:r>
            <a:endParaRPr lang="zh-CN" altLang="en-US" sz="2400"/>
          </a:p>
        </p:txBody>
      </p:sp>
      <p:graphicFrame>
        <p:nvGraphicFramePr>
          <p:cNvPr id="2" name="表格 1"/>
          <p:cNvGraphicFramePr/>
          <p:nvPr>
            <p:custDataLst>
              <p:tags r:id="rId1"/>
            </p:custDataLst>
          </p:nvPr>
        </p:nvGraphicFramePr>
        <p:xfrm>
          <a:off x="485775" y="647700"/>
          <a:ext cx="11219815" cy="5851525"/>
        </p:xfrm>
        <a:graphic>
          <a:graphicData uri="http://schemas.openxmlformats.org/drawingml/2006/table">
            <a:tbl>
              <a:tblPr firstRow="1" bandRow="1">
                <a:tableStyleId>{5C22544A-7EE6-4342-B048-85BDC9FD1C3A}</a:tableStyleId>
              </a:tblPr>
              <a:tblGrid>
                <a:gridCol w="464820">
                  <a:extLst>
                    <a:ext uri="{9D8B030D-6E8A-4147-A177-3AD203B41FA5}">
                      <a16:colId xmlns:a16="http://schemas.microsoft.com/office/drawing/2014/main" val="20000"/>
                    </a:ext>
                  </a:extLst>
                </a:gridCol>
                <a:gridCol w="4412615">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gridCol w="5551805">
                  <a:extLst>
                    <a:ext uri="{9D8B030D-6E8A-4147-A177-3AD203B41FA5}">
                      <a16:colId xmlns:a16="http://schemas.microsoft.com/office/drawing/2014/main" val="20003"/>
                    </a:ext>
                  </a:extLst>
                </a:gridCol>
              </a:tblGrid>
              <a:tr h="701040">
                <a:tc>
                  <a:txBody>
                    <a:bodyPr/>
                    <a:lstStyle/>
                    <a:p>
                      <a:pPr algn="ctr">
                        <a:buNone/>
                      </a:pPr>
                      <a:endParaRPr lang="zh-CN" altLang="en-US" sz="2000">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schemeClr>
                    </a:solidFill>
                  </a:tcPr>
                </a:tc>
                <a:tc>
                  <a:txBody>
                    <a:bodyPr/>
                    <a:lstStyle/>
                    <a:p>
                      <a:pPr algn="ctr">
                        <a:buNone/>
                      </a:pPr>
                      <a:r>
                        <a:rPr lang="zh-CN" altLang="en-US" sz="2000">
                          <a:solidFill>
                            <a:srgbClr val="1F2DA8"/>
                          </a:solidFill>
                          <a:latin typeface="楷体" panose="02010609060101010101" charset="-122"/>
                          <a:ea typeface="楷体" panose="02010609060101010101" charset="-122"/>
                        </a:rPr>
                        <a:t>查询表达式</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schemeClr>
                    </a:solidFill>
                  </a:tcPr>
                </a:tc>
                <a:tc>
                  <a:txBody>
                    <a:bodyPr/>
                    <a:lstStyle/>
                    <a:p>
                      <a:pPr algn="ctr">
                        <a:buNone/>
                      </a:pPr>
                      <a:r>
                        <a:rPr lang="zh-CN" altLang="en-US" sz="2000">
                          <a:solidFill>
                            <a:srgbClr val="1F2DA8"/>
                          </a:solidFill>
                          <a:latin typeface="楷体" panose="02010609060101010101" charset="-122"/>
                          <a:ea typeface="楷体" panose="02010609060101010101" charset="-122"/>
                        </a:rPr>
                        <a:t>目标对象</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schemeClr>
                    </a:solidFill>
                  </a:tcPr>
                </a:tc>
                <a:tc>
                  <a:txBody>
                    <a:bodyPr/>
                    <a:lstStyle/>
                    <a:p>
                      <a:pPr algn="ctr">
                        <a:buNone/>
                      </a:pPr>
                      <a:r>
                        <a:rPr lang="zh-CN" altLang="en-US" sz="2000">
                          <a:solidFill>
                            <a:srgbClr val="1F2DA8"/>
                          </a:solidFill>
                          <a:latin typeface="楷体" panose="02010609060101010101" charset="-122"/>
                          <a:ea typeface="楷体" panose="02010609060101010101" charset="-122"/>
                        </a:rPr>
                        <a:t>目标对象需要满足的条件</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schemeClr>
                    </a:solidFill>
                  </a:tcPr>
                </a:tc>
                <a:extLst>
                  <a:ext uri="{0D108BD9-81ED-4DB2-BD59-A6C34878D82A}">
                    <a16:rowId xmlns:a16="http://schemas.microsoft.com/office/drawing/2014/main" val="10000"/>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1</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FF0000"/>
                          </a:solidFill>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1F2DA8"/>
                          </a:solidFill>
                          <a:latin typeface="Times New Roman" panose="02020603050405020304" charset="0"/>
                          <a:ea typeface="楷体" panose="02010609060101010101" charset="-122"/>
                          <a:cs typeface="Times New Roman" panose="02020603050405020304" charset="0"/>
                        </a:rPr>
                        <a:t>'p01'</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号商品的销售订单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2</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FF0000"/>
                          </a:solidFill>
                          <a:sym typeface="+mn-ea"/>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zh-CN" altLang="en-US" sz="2000" b="1">
                          <a:solidFill>
                            <a:srgbClr val="1F2DA8"/>
                          </a:solidFill>
                          <a:latin typeface="Times New Roman" panose="02020603050405020304" charset="0"/>
                          <a:ea typeface="楷体" panose="02010609060101010101" charset="-122"/>
                          <a:sym typeface="+mn-ea"/>
                        </a:rPr>
                        <a:t>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l">
                        <a:buNone/>
                      </a:pPr>
                      <a:r>
                        <a:rPr lang="zh-CN" altLang="en-US" sz="2000" b="1">
                          <a:solidFill>
                            <a:srgbClr val="1F2DA8"/>
                          </a:solidFill>
                          <a:latin typeface="Times New Roman" panose="02020603050405020304" charset="0"/>
                          <a:ea typeface="楷体" panose="02010609060101010101" charset="-122"/>
                          <a:sym typeface="+mn-ea"/>
                        </a:rPr>
                        <a:t>其他商品的销售订单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3</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en-US" altLang="zh-CN" sz="2000" b="1">
                          <a:solidFill>
                            <a:srgbClr val="FF0000"/>
                          </a:solidFill>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lgn="ctr">
                        <a:buNone/>
                      </a:pPr>
                      <a:r>
                        <a:rPr lang="zh-CN" altLang="en-US" sz="2000" b="1">
                          <a:solidFill>
                            <a:srgbClr val="1F2DA8"/>
                          </a:solidFill>
                          <a:latin typeface="Times New Roman" panose="02020603050405020304" charset="0"/>
                          <a:ea typeface="楷体" panose="02010609060101010101" charset="-122"/>
                          <a:sym typeface="+mn-ea"/>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该顾客购买过</a:t>
                      </a:r>
                      <a:r>
                        <a:rPr lang="en-US" altLang="zh-CN" sz="2000" b="1">
                          <a:solidFill>
                            <a:srgbClr val="1F2DA8"/>
                          </a:solidFill>
                          <a:latin typeface="Times New Roman" panose="02020603050405020304" charset="0"/>
                          <a:ea typeface="楷体" panose="02010609060101010101" charset="-122"/>
                          <a:cs typeface="Times New Roman" panose="02020603050405020304" charset="0"/>
                        </a:rPr>
                        <a:t>'p01'</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号商品</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extLst>
                  <a:ext uri="{0D108BD9-81ED-4DB2-BD59-A6C34878D82A}">
                    <a16:rowId xmlns:a16="http://schemas.microsoft.com/office/drawing/2014/main" val="10003"/>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4</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en-US" altLang="zh-CN" sz="2000" b="1">
                          <a:solidFill>
                            <a:srgbClr val="FF0000"/>
                          </a:solidFill>
                          <a:sym typeface="+mn-ea"/>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zh-CN" altLang="en-US" sz="2000" b="1">
                          <a:solidFill>
                            <a:srgbClr val="1F2DA8"/>
                          </a:solidFill>
                          <a:latin typeface="Times New Roman" panose="02020603050405020304" charset="0"/>
                          <a:ea typeface="楷体" panose="02010609060101010101" charset="-122"/>
                        </a:rPr>
                        <a:t>该顾客购买过其他商品</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extLst>
                  <a:ext uri="{0D108BD9-81ED-4DB2-BD59-A6C34878D82A}">
                    <a16:rowId xmlns:a16="http://schemas.microsoft.com/office/drawing/2014/main" val="10004"/>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5</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FF0000"/>
                          </a:solidFill>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 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该顾客没有购买过</a:t>
                      </a:r>
                      <a:r>
                        <a:rPr lang="en-US" altLang="zh-CN" sz="2000" b="1">
                          <a:solidFill>
                            <a:srgbClr val="1F2DA8"/>
                          </a:solidFill>
                          <a:latin typeface="Times New Roman" panose="02020603050405020304" charset="0"/>
                          <a:ea typeface="楷体" panose="02010609060101010101" charset="-122"/>
                          <a:cs typeface="Times New Roman" panose="02020603050405020304" charset="0"/>
                        </a:rPr>
                        <a:t>'p01'</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，但购买过其他商品</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5"/>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6</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FF0000"/>
                          </a:solidFill>
                          <a:sym typeface="+mn-ea"/>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 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该顾客只购买过</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'p01'</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，但没有购买过其他商品</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6"/>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7</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en-US" altLang="zh-CN" sz="2000" b="1">
                          <a:solidFill>
                            <a:srgbClr val="FF0000"/>
                          </a:solidFill>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(customers) 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该顾客没有购买过</a:t>
                      </a:r>
                      <a:r>
                        <a:rPr lang="en-US" altLang="zh-CN" sz="2000" b="1">
                          <a:solidFill>
                            <a:srgbClr val="1F2DA8"/>
                          </a:solidFill>
                          <a:latin typeface="Times New Roman" panose="02020603050405020304" charset="0"/>
                          <a:ea typeface="楷体" panose="02010609060101010101" charset="-122"/>
                          <a:cs typeface="Times New Roman" panose="02020603050405020304" charset="0"/>
                        </a:rPr>
                        <a:t>'p01'</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号商品（请注意与</a:t>
                      </a:r>
                      <a:r>
                        <a:rPr lang="en-US" altLang="zh-CN" sz="2000" b="1">
                          <a:solidFill>
                            <a:srgbClr val="1F2DA8"/>
                          </a:solidFill>
                          <a:latin typeface="Times New Roman" panose="02020603050405020304" charset="0"/>
                          <a:ea typeface="楷体" panose="02010609060101010101" charset="-122"/>
                          <a:cs typeface="Times New Roman" panose="02020603050405020304" charset="0"/>
                        </a:rPr>
                        <a:t>Q</a:t>
                      </a:r>
                      <a:r>
                        <a:rPr lang="en-US" altLang="zh-CN" sz="2000" b="1" baseline="-25000">
                          <a:solidFill>
                            <a:srgbClr val="1F2DA8"/>
                          </a:solidFill>
                          <a:latin typeface="Times New Roman" panose="02020603050405020304" charset="0"/>
                          <a:ea typeface="楷体" panose="02010609060101010101" charset="-122"/>
                          <a:cs typeface="Times New Roman" panose="02020603050405020304" charset="0"/>
                        </a:rPr>
                        <a:t>5</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的区别）</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extLst>
                  <a:ext uri="{0D108BD9-81ED-4DB2-BD59-A6C34878D82A}">
                    <a16:rowId xmlns:a16="http://schemas.microsoft.com/office/drawing/2014/main" val="10007"/>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8</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en-US" altLang="zh-CN" sz="2000" b="1">
                          <a:solidFill>
                            <a:srgbClr val="FF0000"/>
                          </a:solidFill>
                          <a:sym typeface="+mn-ea"/>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(customers) 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该顾客</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没有购买过其他商品（请注意与</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Q</a:t>
                      </a:r>
                      <a:r>
                        <a:rPr lang="en-US" altLang="zh-CN" sz="2000" b="1" baseline="-25000">
                          <a:solidFill>
                            <a:srgbClr val="1F2DA8"/>
                          </a:solidFill>
                          <a:latin typeface="Times New Roman" panose="02020603050405020304" charset="0"/>
                          <a:ea typeface="楷体" panose="02010609060101010101" charset="-122"/>
                          <a:cs typeface="Times New Roman" panose="02020603050405020304" charset="0"/>
                          <a:sym typeface="+mn-ea"/>
                        </a:rPr>
                        <a:t>6</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的区别）</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extLst>
                  <a:ext uri="{0D108BD9-81ED-4DB2-BD59-A6C34878D82A}">
                    <a16:rowId xmlns:a16="http://schemas.microsoft.com/office/drawing/2014/main" val="10008"/>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9</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FF0000"/>
                          </a:solidFill>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000" b="1">
                          <a:solidFill>
                            <a:srgbClr val="1F2DA8"/>
                          </a:solidFill>
                          <a:latin typeface="Times New Roman" panose="02020603050405020304" charset="0"/>
                          <a:ea typeface="楷体" panose="02010609060101010101" charset="-122"/>
                          <a:sym typeface="+mn-ea"/>
                        </a:rPr>
                        <a:t>其他商品的销售订单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9"/>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10</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FF0000"/>
                          </a:solidFill>
                          <a:sym typeface="+mn-ea"/>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'p01'</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号商品的销售订单</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10"/>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11</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en-US" altLang="zh-CN" sz="2000" b="1">
                          <a:solidFill>
                            <a:srgbClr val="FF0000"/>
                          </a:solidFill>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购买过其他商品的顾客</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（请注意与</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Q</a:t>
                      </a:r>
                      <a:r>
                        <a:rPr lang="en-US" altLang="zh-CN" sz="2000" b="1" baseline="-25000">
                          <a:solidFill>
                            <a:srgbClr val="1F2DA8"/>
                          </a:solidFill>
                          <a:latin typeface="Times New Roman" panose="02020603050405020304" charset="0"/>
                          <a:ea typeface="楷体" panose="02010609060101010101" charset="-122"/>
                          <a:cs typeface="Times New Roman" panose="02020603050405020304" charset="0"/>
                          <a:sym typeface="+mn-ea"/>
                        </a:rPr>
                        <a:t>5</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的区别）</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extLst>
                  <a:ext uri="{0D108BD9-81ED-4DB2-BD59-A6C34878D82A}">
                    <a16:rowId xmlns:a16="http://schemas.microsoft.com/office/drawing/2014/main" val="10011"/>
                  </a:ext>
                </a:extLst>
              </a:tr>
              <a:tr h="404495">
                <a:tc>
                  <a:txBody>
                    <a:bodyPr/>
                    <a:lstStyle/>
                    <a:p>
                      <a:pPr algn="ctr">
                        <a:buNone/>
                      </a:pPr>
                      <a:r>
                        <a:rPr lang="en-US" altLang="zh-CN" sz="2000" b="1">
                          <a:solidFill>
                            <a:schemeClr val="tx1"/>
                          </a:solidFill>
                        </a:rPr>
                        <a:t>Q</a:t>
                      </a:r>
                      <a:r>
                        <a:rPr lang="en-US" altLang="zh-CN" sz="2000" b="1" baseline="-25000">
                          <a:solidFill>
                            <a:schemeClr val="tx1"/>
                          </a:solidFill>
                        </a:rPr>
                        <a:t>12</a:t>
                      </a:r>
                      <a:endParaRPr lang="en-US" altLang="zh-CN" sz="2000" b="1">
                        <a:solidFill>
                          <a:schemeClr val="tx1"/>
                        </a:solidFill>
                      </a:endParaRP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en-US" altLang="zh-CN" sz="2000" b="1">
                          <a:solidFill>
                            <a:srgbClr val="FF0000"/>
                          </a:solidFill>
                          <a:sym typeface="+mn-ea"/>
                        </a:rPr>
                        <a:t>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cid</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mn-ea"/>
                        </a:rPr>
                        <a:t>(orders </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 </a:t>
                      </a:r>
                      <a:r>
                        <a:rPr lang="en-US" altLang="zh-CN" sz="2000" b="1" baseline="-25000">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pid≠’p01’</a:t>
                      </a:r>
                      <a:r>
                        <a:rPr lang="en-US" altLang="zh-CN" sz="2000" b="1">
                          <a:solidFill>
                            <a:srgbClr val="FF0000"/>
                          </a:solidFill>
                          <a:uFillTx/>
                          <a:latin typeface="Times New Roman" panose="02020603050405020304" charset="0"/>
                          <a:ea typeface="楷体" panose="02010609060101010101" charset="-122"/>
                          <a:cs typeface="Times New Roman" panose="02020603050405020304" charset="0"/>
                          <a:sym typeface="Symbol" panose="05050102010706020507" charset="0"/>
                        </a:rPr>
                        <a:t>(orders))</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lgn="ctr">
                        <a:buNone/>
                      </a:pPr>
                      <a:r>
                        <a:rPr lang="zh-CN" altLang="en-US" sz="2000" b="1">
                          <a:solidFill>
                            <a:srgbClr val="1F2DA8"/>
                          </a:solidFill>
                          <a:latin typeface="Times New Roman" panose="02020603050405020304" charset="0"/>
                          <a:ea typeface="楷体" panose="02010609060101010101" charset="-122"/>
                        </a:rPr>
                        <a:t>顾客</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tc>
                  <a:txBody>
                    <a:bodyPr/>
                    <a:lstStyle/>
                    <a:p>
                      <a:pPr>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购买过</a:t>
                      </a:r>
                      <a:r>
                        <a:rPr lang="en-US" altLang="zh-CN" sz="2000" b="1">
                          <a:solidFill>
                            <a:srgbClr val="1F2DA8"/>
                          </a:solidFill>
                          <a:latin typeface="Times New Roman" panose="02020603050405020304" charset="0"/>
                          <a:ea typeface="楷体" panose="02010609060101010101" charset="-122"/>
                          <a:cs typeface="Times New Roman" panose="02020603050405020304" charset="0"/>
                        </a:rPr>
                        <a:t>'p01'</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号商品的顾客</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（请注意与</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Q</a:t>
                      </a:r>
                      <a:r>
                        <a:rPr lang="en-US" altLang="zh-CN" sz="2000" b="1" baseline="-25000">
                          <a:solidFill>
                            <a:srgbClr val="1F2DA8"/>
                          </a:solidFill>
                          <a:latin typeface="Times New Roman" panose="02020603050405020304" charset="0"/>
                          <a:ea typeface="楷体" panose="02010609060101010101" charset="-122"/>
                          <a:cs typeface="Times New Roman" panose="02020603050405020304" charset="0"/>
                          <a:sym typeface="+mn-ea"/>
                        </a:rPr>
                        <a:t>6</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的区别）</a:t>
                      </a:r>
                    </a:p>
                  </a:txBody>
                  <a:tcPr marL="36195" marR="3619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4">
                        <a:lumMod val="20000"/>
                        <a:lumOff val="80000"/>
                        <a:alpha val="70000"/>
                      </a:schemeClr>
                    </a:solidFill>
                  </a:tcPr>
                </a:tc>
                <a:extLst>
                  <a:ext uri="{0D108BD9-81ED-4DB2-BD59-A6C34878D82A}">
                    <a16:rowId xmlns:a16="http://schemas.microsoft.com/office/drawing/2014/main" val="10012"/>
                  </a:ext>
                </a:extLst>
              </a:tr>
            </a:tbl>
          </a:graphicData>
        </a:graphic>
      </p:graphicFrame>
      <p:sp>
        <p:nvSpPr>
          <p:cNvPr id="4" name="灯片编号占位符 3"/>
          <p:cNvSpPr>
            <a:spLocks noGrp="1"/>
          </p:cNvSpPr>
          <p:nvPr>
            <p:ph type="sldNum" sz="quarter" idx="12"/>
          </p:nvPr>
        </p:nvSpPr>
        <p:spPr/>
        <p:txBody>
          <a:bodyPr/>
          <a:lstStyle/>
          <a:p>
            <a:fld id="{565CE74E-AB26-4998-AD42-012C4C1AD076}" type="slidenum">
              <a:rPr lang="zh-CN" altLang="en-US" smtClean="0"/>
              <a:t>57</a:t>
            </a:fld>
            <a:endParaRPr lang="zh-CN" altLang="en-US"/>
          </a:p>
        </p:txBody>
      </p:sp>
      <p:sp>
        <p:nvSpPr>
          <p:cNvPr id="5" name="页脚占位符 4"/>
          <p:cNvSpPr>
            <a:spLocks noGrp="1"/>
          </p:cNvSpPr>
          <p:nvPr>
            <p:ph type="ftr" sz="quarter" idx="11"/>
          </p:nvPr>
        </p:nvSpPr>
        <p:spPr/>
        <p:txBody>
          <a:bodyPr/>
          <a:lstStyle/>
          <a:p>
            <a:r>
              <a:rPr lang="zh-CN" altLang="en-US"/>
              <a:t>ch02_2_关系代数基本运算</a:t>
            </a:r>
          </a:p>
        </p:txBody>
      </p:sp>
      <p:sp>
        <p:nvSpPr>
          <p:cNvPr id="7" name="动作按钮: 上一张 6">
            <a:hlinkClick r:id="rId3" action="ppaction://hlinksldjump"/>
          </p:cNvPr>
          <p:cNvSpPr/>
          <p:nvPr/>
        </p:nvSpPr>
        <p:spPr>
          <a:xfrm>
            <a:off x="11372850" y="6631305"/>
            <a:ext cx="467360" cy="201295"/>
          </a:xfrm>
          <a:prstGeom prst="actionButtonRetur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p:cNvSpPr>
          <p:nvPr>
            <p:ph type="title"/>
          </p:nvPr>
        </p:nvSpPr>
        <p:spPr/>
        <p:txBody>
          <a:bodyPr wrap="square" anchor="ctr"/>
          <a:lstStyle/>
          <a:p>
            <a:pPr eaLnBrk="1" hangingPunct="1"/>
            <a:r>
              <a:rPr lang="en-US" altLang="x-none" dirty="0"/>
              <a:t>关系代数的应用</a:t>
            </a:r>
            <a:endParaRPr lang="zh-CN" altLang="en-US" dirty="0"/>
          </a:p>
        </p:txBody>
      </p:sp>
      <p:sp>
        <p:nvSpPr>
          <p:cNvPr id="158724" name="Rectangle 3"/>
          <p:cNvSpPr>
            <a:spLocks noGrp="1"/>
          </p:cNvSpPr>
          <p:nvPr>
            <p:ph idx="1"/>
          </p:nvPr>
        </p:nvSpPr>
        <p:spPr>
          <a:xfrm>
            <a:off x="424180" y="687070"/>
            <a:ext cx="11343005" cy="4389755"/>
          </a:xfrm>
        </p:spPr>
        <p:txBody>
          <a:bodyPr wrap="square" anchor="t">
            <a:noAutofit/>
          </a:bodyPr>
          <a:lstStyle/>
          <a:p>
            <a:pPr marL="457200" indent="-457200" eaLnBrk="1" hangingPunct="1">
              <a:lnSpc>
                <a:spcPct val="100000"/>
              </a:lnSpc>
              <a:spcBef>
                <a:spcPts val="1000"/>
              </a:spcBef>
            </a:pPr>
            <a:r>
              <a:rPr lang="zh-CN" altLang="en-US" sz="2800" dirty="0"/>
              <a:t>求解过程</a:t>
            </a:r>
          </a:p>
          <a:p>
            <a:pPr marL="593090" lvl="1" indent="-341630" eaLnBrk="1" hangingPunct="1">
              <a:lnSpc>
                <a:spcPct val="100000"/>
              </a:lnSpc>
              <a:spcBef>
                <a:spcPts val="2000"/>
              </a:spcBef>
              <a:buAutoNum type="arabicParenR"/>
            </a:pPr>
            <a:r>
              <a:rPr lang="zh-CN" altLang="en-US" sz="2800" dirty="0"/>
              <a:t>确定查询目标（确定结果关系的关系模式）</a:t>
            </a:r>
          </a:p>
          <a:p>
            <a:pPr marL="593090" lvl="1" indent="-341630" eaLnBrk="1" hangingPunct="1">
              <a:lnSpc>
                <a:spcPct val="100000"/>
              </a:lnSpc>
              <a:spcBef>
                <a:spcPts val="2000"/>
              </a:spcBef>
              <a:buAutoNum type="arabicParenR"/>
            </a:pPr>
            <a:r>
              <a:rPr lang="zh-CN" altLang="en-US" sz="2800" dirty="0"/>
              <a:t>明确查询条件（确定结果元组的语义）</a:t>
            </a:r>
          </a:p>
          <a:p>
            <a:pPr marL="593090" lvl="1" indent="-341630" eaLnBrk="1" hangingPunct="1">
              <a:lnSpc>
                <a:spcPct val="100000"/>
              </a:lnSpc>
              <a:spcBef>
                <a:spcPts val="2000"/>
              </a:spcBef>
              <a:buAutoNum type="arabicParenR"/>
            </a:pPr>
            <a:r>
              <a:rPr lang="zh-CN" altLang="en-US" sz="2800" dirty="0"/>
              <a:t>选择从条件到目标的查找路径，并据此确定操作对象</a:t>
            </a:r>
            <a:r>
              <a:rPr lang="zh-CN" altLang="en-US" sz="2800" dirty="0">
                <a:latin typeface="Times New Roman" panose="02020603050405020304" charset="0"/>
              </a:rPr>
              <a:t>，</a:t>
            </a:r>
            <a:r>
              <a:rPr lang="zh-CN" altLang="en-US" sz="2800" dirty="0"/>
              <a:t>即</a:t>
            </a:r>
            <a:r>
              <a:rPr lang="zh-CN" altLang="en-US" sz="2800" dirty="0">
                <a:latin typeface="Times New Roman" panose="02020603050405020304" charset="0"/>
              </a:rPr>
              <a:t>：</a:t>
            </a:r>
            <a:endParaRPr lang="zh-CN" altLang="en-US" sz="2800" dirty="0"/>
          </a:p>
          <a:p>
            <a:pPr lvl="2" eaLnBrk="1" hangingPunct="1">
              <a:lnSpc>
                <a:spcPct val="100000"/>
              </a:lnSpc>
              <a:spcBef>
                <a:spcPts val="1000"/>
              </a:spcBef>
            </a:pPr>
            <a:r>
              <a:rPr lang="zh-CN" altLang="en-US" sz="2800" dirty="0"/>
              <a:t>在操作过程中需要使用到那些关系</a:t>
            </a:r>
            <a:r>
              <a:rPr lang="en-US" altLang="x-none" sz="2800" dirty="0"/>
              <a:t>?</a:t>
            </a:r>
          </a:p>
          <a:p>
            <a:pPr lvl="2" eaLnBrk="1" hangingPunct="1">
              <a:lnSpc>
                <a:spcPct val="100000"/>
              </a:lnSpc>
              <a:spcBef>
                <a:spcPts val="1000"/>
              </a:spcBef>
            </a:pPr>
            <a:r>
              <a:rPr lang="zh-CN" altLang="en-US" sz="2800" dirty="0"/>
              <a:t>这些关系又是如何联合起来实现查询的</a:t>
            </a:r>
            <a:r>
              <a:rPr lang="en-US" altLang="x-none" sz="2800" dirty="0"/>
              <a:t>?</a:t>
            </a:r>
          </a:p>
          <a:p>
            <a:pPr marL="602615" lvl="1" indent="-351155" eaLnBrk="1" hangingPunct="1">
              <a:lnSpc>
                <a:spcPct val="100000"/>
              </a:lnSpc>
              <a:spcBef>
                <a:spcPts val="2000"/>
              </a:spcBef>
              <a:buAutoNum type="arabicParenR" startAt="4"/>
            </a:pPr>
            <a:r>
              <a:rPr lang="zh-CN" altLang="en-US" sz="2800" dirty="0">
                <a:latin typeface="Times New Roman" panose="02020603050405020304" charset="0"/>
                <a:cs typeface="Times New Roman" panose="02020603050405020304" charset="0"/>
                <a:sym typeface="+mn-ea"/>
              </a:rPr>
              <a:t>根据以上分析构造关系代数表达式</a:t>
            </a:r>
          </a:p>
        </p:txBody>
      </p:sp>
      <p:sp>
        <p:nvSpPr>
          <p:cNvPr id="6" name="灯片编号占位符 5"/>
          <p:cNvSpPr>
            <a:spLocks noGrp="1"/>
          </p:cNvSpPr>
          <p:nvPr>
            <p:ph type="sldNum" sz="quarter" idx="12"/>
          </p:nvPr>
        </p:nvSpPr>
        <p:spPr>
          <a:xfrm>
            <a:off x="11461115" y="6696000"/>
            <a:ext cx="730885" cy="153670"/>
          </a:xfrm>
        </p:spPr>
        <p:txBody>
          <a:bodyPr/>
          <a:lstStyle/>
          <a:p>
            <a:fld id="{565CE74E-AB26-4998-AD42-012C4C1AD076}" type="slidenum">
              <a:rPr lang="zh-CN" altLang="en-US" smtClean="0"/>
              <a:t>58</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使用基本运算的查询表示</a:t>
            </a:r>
          </a:p>
        </p:txBody>
      </p:sp>
      <p:sp>
        <p:nvSpPr>
          <p:cNvPr id="3" name="内容占位符 2"/>
          <p:cNvSpPr>
            <a:spLocks noGrp="1"/>
          </p:cNvSpPr>
          <p:nvPr>
            <p:ph idx="1"/>
          </p:nvPr>
        </p:nvSpPr>
        <p:spPr/>
        <p:txBody>
          <a:bodyPr/>
          <a:lstStyle/>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查询所有顾客所居住的城市名称；</a:t>
            </a:r>
          </a:p>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查询所有居住在京都的顾客；</a:t>
            </a:r>
          </a:p>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查询存放于达拉斯且单价超过</a:t>
            </a:r>
            <a:r>
              <a:rPr lang="en-US" altLang="x-none" sz="2400" dirty="0">
                <a:solidFill>
                  <a:srgbClr val="1F2DA8"/>
                </a:solidFill>
                <a:latin typeface="Calibri" panose="020F0502020204030204" charset="0"/>
                <a:cs typeface="Calibri" panose="020F0502020204030204" charset="0"/>
                <a:sym typeface="+mn-ea"/>
              </a:rPr>
              <a:t>$0.50</a:t>
            </a:r>
            <a:r>
              <a:rPr lang="zh-CN" altLang="en-US" sz="2400" dirty="0">
                <a:solidFill>
                  <a:srgbClr val="1F2DA8"/>
                </a:solidFill>
                <a:latin typeface="Calibri" panose="020F0502020204030204" charset="0"/>
                <a:cs typeface="Calibri" panose="020F0502020204030204" charset="0"/>
                <a:sym typeface="+mn-ea"/>
              </a:rPr>
              <a:t>的商品；</a:t>
            </a:r>
          </a:p>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查询所有折扣低于</a:t>
            </a:r>
            <a:r>
              <a:rPr lang="en-US" altLang="x-none" sz="2400" dirty="0">
                <a:solidFill>
                  <a:srgbClr val="1F2DA8"/>
                </a:solidFill>
                <a:latin typeface="Calibri" panose="020F0502020204030204" charset="0"/>
                <a:cs typeface="Calibri" panose="020F0502020204030204" charset="0"/>
                <a:sym typeface="+mn-ea"/>
              </a:rPr>
              <a:t>10%</a:t>
            </a:r>
            <a:r>
              <a:rPr lang="zh-CN" altLang="en-US" sz="2400" dirty="0">
                <a:solidFill>
                  <a:srgbClr val="1F2DA8"/>
                </a:solidFill>
                <a:latin typeface="Calibri" panose="020F0502020204030204" charset="0"/>
                <a:cs typeface="Calibri" panose="020F0502020204030204" charset="0"/>
                <a:sym typeface="+mn-ea"/>
              </a:rPr>
              <a:t>的顾客所在城市以及佣金低于</a:t>
            </a:r>
            <a:r>
              <a:rPr lang="en-US" altLang="x-none" sz="2400" dirty="0">
                <a:solidFill>
                  <a:srgbClr val="1F2DA8"/>
                </a:solidFill>
                <a:latin typeface="Calibri" panose="020F0502020204030204" charset="0"/>
                <a:cs typeface="Calibri" panose="020F0502020204030204" charset="0"/>
                <a:sym typeface="+mn-ea"/>
              </a:rPr>
              <a:t>6%</a:t>
            </a:r>
            <a:r>
              <a:rPr lang="zh-CN" altLang="en-US" sz="2400" dirty="0">
                <a:solidFill>
                  <a:srgbClr val="1F2DA8"/>
                </a:solidFill>
                <a:latin typeface="Calibri" panose="020F0502020204030204" charset="0"/>
                <a:cs typeface="Calibri" panose="020F0502020204030204" charset="0"/>
                <a:sym typeface="+mn-ea"/>
              </a:rPr>
              <a:t>的代理商所在城市的城市名称；</a:t>
            </a:r>
          </a:p>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查询位于同一个城市的顾客和代理商，给出顾客的姓名、代理商的名称以及他们所在城市的名称；</a:t>
            </a:r>
          </a:p>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查询姓名为</a:t>
            </a:r>
            <a:r>
              <a:rPr lang="en-US" altLang="zh-CN" sz="2400" dirty="0">
                <a:solidFill>
                  <a:srgbClr val="1F2DA8"/>
                </a:solidFill>
                <a:latin typeface="Calibri" panose="020F0502020204030204" charset="0"/>
                <a:cs typeface="Calibri" panose="020F0502020204030204" charset="0"/>
                <a:sym typeface="+mn-ea"/>
              </a:rPr>
              <a:t>‘</a:t>
            </a:r>
            <a:r>
              <a:rPr lang="en-US" altLang="x-none" sz="2400" dirty="0">
                <a:solidFill>
                  <a:srgbClr val="1F2DA8"/>
                </a:solidFill>
                <a:latin typeface="Calibri" panose="020F0502020204030204" charset="0"/>
                <a:cs typeface="Calibri" panose="020F0502020204030204" charset="0"/>
                <a:sym typeface="+mn-ea"/>
              </a:rPr>
              <a:t>Allied’</a:t>
            </a:r>
            <a:r>
              <a:rPr lang="zh-CN" altLang="en-US" sz="2400" dirty="0">
                <a:solidFill>
                  <a:srgbClr val="1F2DA8"/>
                </a:solidFill>
                <a:latin typeface="Calibri" panose="020F0502020204030204" charset="0"/>
                <a:cs typeface="Calibri" panose="020F0502020204030204" charset="0"/>
                <a:sym typeface="+mn-ea"/>
              </a:rPr>
              <a:t>的顾客的订购信息，列出其每一条订单记录所购买商品的商品编号、订购日期以及订购数量；</a:t>
            </a:r>
          </a:p>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查询顾客、代理商以及所订购的商品都位于同一个城市的订单的编号；</a:t>
            </a:r>
          </a:p>
          <a:p>
            <a:pPr marL="457200" indent="-457200" fontAlgn="auto">
              <a:lnSpc>
                <a:spcPct val="100000"/>
              </a:lnSpc>
              <a:spcBef>
                <a:spcPts val="600"/>
              </a:spcBef>
              <a:spcAft>
                <a:spcPts val="0"/>
              </a:spcAft>
              <a:buFont typeface="+mj-lt"/>
              <a:buAutoNum type="arabicPeriod"/>
            </a:pPr>
            <a:r>
              <a:rPr lang="zh-CN" altLang="en-US" sz="2400" dirty="0">
                <a:latin typeface="Calibri" panose="020F0502020204030204" charset="0"/>
                <a:cs typeface="Calibri" panose="020F0502020204030204" charset="0"/>
                <a:sym typeface="+mn-ea"/>
              </a:rPr>
              <a:t>查询</a:t>
            </a:r>
            <a:r>
              <a:rPr lang="zh-CN" altLang="en-US" sz="2400" dirty="0">
                <a:solidFill>
                  <a:srgbClr val="1F2DA8"/>
                </a:solidFill>
                <a:latin typeface="Arial" panose="020B0604020202020204" pitchFamily="34" charset="0"/>
                <a:cs typeface="Arial" panose="020B0604020202020204" pitchFamily="34" charset="0"/>
                <a:sym typeface="+mn-ea"/>
              </a:rPr>
              <a:t>没有销售过</a:t>
            </a:r>
            <a:r>
              <a:rPr lang="en-US" altLang="zh-CN" sz="2400" dirty="0">
                <a:solidFill>
                  <a:srgbClr val="1F2DA8"/>
                </a:solidFill>
                <a:latin typeface="Arial" panose="020B0604020202020204" pitchFamily="34" charset="0"/>
                <a:cs typeface="Arial" panose="020B0604020202020204" pitchFamily="34" charset="0"/>
                <a:sym typeface="+mn-ea"/>
              </a:rPr>
              <a:t>'</a:t>
            </a:r>
            <a:r>
              <a:rPr lang="en-US" altLang="x-none" sz="2400" dirty="0">
                <a:solidFill>
                  <a:srgbClr val="1F2DA8"/>
                </a:solidFill>
                <a:latin typeface="Arial" panose="020B0604020202020204" pitchFamily="34" charset="0"/>
                <a:cs typeface="Arial" panose="020B0604020202020204" pitchFamily="34" charset="0"/>
                <a:sym typeface="+mn-ea"/>
              </a:rPr>
              <a:t>p02'</a:t>
            </a:r>
            <a:r>
              <a:rPr lang="zh-CN" altLang="en-US" sz="2400" dirty="0">
                <a:solidFill>
                  <a:srgbClr val="1F2DA8"/>
                </a:solidFill>
                <a:latin typeface="Arial" panose="020B0604020202020204" pitchFamily="34" charset="0"/>
                <a:cs typeface="Arial" panose="020B0604020202020204" pitchFamily="34" charset="0"/>
                <a:sym typeface="+mn-ea"/>
              </a:rPr>
              <a:t>号商品的供应商的编号</a:t>
            </a:r>
            <a:r>
              <a:rPr lang="zh-CN" altLang="en-US" sz="2400" dirty="0">
                <a:latin typeface="Calibri" panose="020F0502020204030204" charset="0"/>
                <a:cs typeface="Calibri" panose="020F0502020204030204" charset="0"/>
                <a:sym typeface="+mn-ea"/>
              </a:rPr>
              <a:t>；</a:t>
            </a:r>
            <a:endParaRPr lang="zh-CN" altLang="en-US" sz="2400" b="1" dirty="0">
              <a:solidFill>
                <a:srgbClr val="1F2DA8"/>
              </a:solidFill>
              <a:latin typeface="Arial" panose="020B0604020202020204" pitchFamily="34" charset="0"/>
              <a:ea typeface="楷体" panose="02010609060101010101" charset="-122"/>
              <a:cs typeface="Arial" panose="020B0604020202020204" pitchFamily="34" charset="0"/>
              <a:sym typeface="+mn-ea"/>
            </a:endParaRPr>
          </a:p>
          <a:p>
            <a:pPr marL="457200" indent="-457200" fontAlgn="auto">
              <a:lnSpc>
                <a:spcPct val="100000"/>
              </a:lnSpc>
              <a:spcBef>
                <a:spcPts val="600"/>
              </a:spcBef>
              <a:spcAft>
                <a:spcPts val="0"/>
              </a:spcAft>
              <a:buFont typeface="+mj-lt"/>
              <a:buAutoNum type="arabicPeriod"/>
            </a:pPr>
            <a:r>
              <a:rPr lang="zh-CN" altLang="en-US" sz="2400" dirty="0">
                <a:latin typeface="Calibri" panose="020F0502020204030204" charset="0"/>
                <a:cs typeface="Calibri" panose="020F0502020204030204" charset="0"/>
                <a:sym typeface="+mn-ea"/>
              </a:rPr>
              <a:t>查询</a:t>
            </a:r>
            <a:r>
              <a:rPr lang="zh-CN" altLang="en-US" sz="2400" dirty="0">
                <a:solidFill>
                  <a:srgbClr val="1F2DA8"/>
                </a:solidFill>
                <a:latin typeface="Arial" panose="020B0604020202020204" pitchFamily="34" charset="0"/>
                <a:cs typeface="Arial" panose="020B0604020202020204" pitchFamily="34" charset="0"/>
                <a:sym typeface="+mn-ea"/>
              </a:rPr>
              <a:t>只销售过</a:t>
            </a:r>
            <a:r>
              <a:rPr lang="en-US" altLang="zh-CN" sz="2400" dirty="0">
                <a:solidFill>
                  <a:srgbClr val="1F2DA8"/>
                </a:solidFill>
                <a:latin typeface="Arial" panose="020B0604020202020204" pitchFamily="34" charset="0"/>
                <a:cs typeface="Arial" panose="020B0604020202020204" pitchFamily="34" charset="0"/>
                <a:sym typeface="+mn-ea"/>
              </a:rPr>
              <a:t> ‘</a:t>
            </a:r>
            <a:r>
              <a:rPr lang="en-US" altLang="x-none" sz="2400" dirty="0">
                <a:solidFill>
                  <a:srgbClr val="1F2DA8"/>
                </a:solidFill>
                <a:latin typeface="Arial" panose="020B0604020202020204" pitchFamily="34" charset="0"/>
                <a:cs typeface="Arial" panose="020B0604020202020204" pitchFamily="34" charset="0"/>
                <a:sym typeface="+mn-ea"/>
              </a:rPr>
              <a:t>p02’ </a:t>
            </a:r>
            <a:r>
              <a:rPr lang="zh-CN" altLang="en-US" sz="2400" dirty="0">
                <a:solidFill>
                  <a:srgbClr val="1F2DA8"/>
                </a:solidFill>
                <a:latin typeface="Arial" panose="020B0604020202020204" pitchFamily="34" charset="0"/>
                <a:cs typeface="Arial" panose="020B0604020202020204" pitchFamily="34" charset="0"/>
                <a:sym typeface="+mn-ea"/>
              </a:rPr>
              <a:t>号商品的供应商的编号</a:t>
            </a:r>
            <a:r>
              <a:rPr lang="zh-CN" altLang="en-US" sz="2400" dirty="0">
                <a:latin typeface="Calibri" panose="020F0502020204030204" charset="0"/>
                <a:cs typeface="Calibri" panose="020F0502020204030204" charset="0"/>
                <a:sym typeface="+mn-ea"/>
              </a:rPr>
              <a:t>；</a:t>
            </a:r>
            <a:endParaRPr lang="zh-CN" altLang="en-US" sz="2400" dirty="0">
              <a:solidFill>
                <a:srgbClr val="1F2DA8"/>
              </a:solidFill>
              <a:latin typeface="Calibri" panose="020F0502020204030204" charset="0"/>
              <a:cs typeface="Calibri" panose="020F0502020204030204" charset="0"/>
              <a:sym typeface="+mn-ea"/>
            </a:endParaRPr>
          </a:p>
          <a:p>
            <a:pPr marL="457200" indent="-457200">
              <a:lnSpc>
                <a:spcPct val="100000"/>
              </a:lnSpc>
              <a:spcBef>
                <a:spcPts val="600"/>
              </a:spcBef>
              <a:spcAft>
                <a:spcPts val="0"/>
              </a:spcAft>
              <a:buFont typeface="+mj-lt"/>
              <a:buAutoNum type="arabicPeriod"/>
            </a:pPr>
            <a:r>
              <a:rPr lang="zh-CN" altLang="en-US" sz="2400" dirty="0">
                <a:solidFill>
                  <a:srgbClr val="1F2DA8"/>
                </a:solidFill>
                <a:latin typeface="Calibri" panose="020F0502020204030204" charset="0"/>
                <a:cs typeface="Calibri" panose="020F0502020204030204" charset="0"/>
                <a:sym typeface="+mn-ea"/>
              </a:rPr>
              <a:t>在当前的所有顾客中，查询折扣最高的顾客的编号。</a:t>
            </a:r>
          </a:p>
        </p:txBody>
      </p:sp>
      <p:sp>
        <p:nvSpPr>
          <p:cNvPr id="8" name="灯片编号占位符 7"/>
          <p:cNvSpPr>
            <a:spLocks noGrp="1"/>
          </p:cNvSpPr>
          <p:nvPr>
            <p:ph type="sldNum" sz="quarter" idx="12"/>
          </p:nvPr>
        </p:nvSpPr>
        <p:spPr>
          <a:xfrm>
            <a:off x="11461115" y="6696000"/>
            <a:ext cx="730885" cy="153670"/>
          </a:xfrm>
        </p:spPr>
        <p:txBody>
          <a:bodyPr/>
          <a:lstStyle/>
          <a:p>
            <a:fld id="{565CE74E-AB26-4998-AD42-012C4C1AD076}" type="slidenum">
              <a:rPr lang="zh-CN" altLang="en-US" smtClean="0"/>
              <a:t>59</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p:cNvSpPr>
          <p:nvPr>
            <p:ph type="title"/>
          </p:nvPr>
        </p:nvSpPr>
        <p:spPr/>
        <p:txBody>
          <a:bodyPr wrap="square" anchor="ctr"/>
          <a:lstStyle/>
          <a:p>
            <a:pPr eaLnBrk="1" hangingPunct="1"/>
            <a:r>
              <a:rPr lang="en-US" altLang="x-none" dirty="0"/>
              <a:t>Example 1</a:t>
            </a:r>
          </a:p>
        </p:txBody>
      </p:sp>
      <p:sp>
        <p:nvSpPr>
          <p:cNvPr id="106500" name="Rectangle 3"/>
          <p:cNvSpPr>
            <a:spLocks noGrp="1"/>
          </p:cNvSpPr>
          <p:nvPr>
            <p:ph idx="1"/>
          </p:nvPr>
        </p:nvSpPr>
        <p:spPr>
          <a:xfrm>
            <a:off x="424180" y="687070"/>
            <a:ext cx="11343005" cy="553085"/>
          </a:xfrm>
          <a:solidFill>
            <a:schemeClr val="accent3">
              <a:lumMod val="20000"/>
              <a:lumOff val="80000"/>
              <a:alpha val="50000"/>
            </a:schemeClr>
          </a:solidFill>
        </p:spPr>
        <p:txBody>
          <a:bodyPr wrap="square" anchor="t">
            <a:noAutofit/>
          </a:bodyPr>
          <a:lstStyle/>
          <a:p>
            <a:pPr marL="514350" indent="-514350" eaLnBrk="1" hangingPunct="1">
              <a:lnSpc>
                <a:spcPct val="100000"/>
              </a:lnSpc>
              <a:buFont typeface="+mj-lt"/>
              <a:buAutoNum type="arabicPeriod"/>
            </a:pPr>
            <a:r>
              <a:rPr lang="zh-CN" altLang="en-US" dirty="0">
                <a:solidFill>
                  <a:srgbClr val="1F2DA8"/>
                </a:solidFill>
                <a:latin typeface="Calibri" panose="020F0502020204030204" charset="0"/>
                <a:cs typeface="Calibri" panose="020F0502020204030204" charset="0"/>
                <a:sym typeface="+mn-ea"/>
              </a:rPr>
              <a:t>查询所有顾客所居住的城市名称</a:t>
            </a:r>
          </a:p>
        </p:txBody>
      </p:sp>
      <p:graphicFrame>
        <p:nvGraphicFramePr>
          <p:cNvPr id="105478" name="表格 105477"/>
          <p:cNvGraphicFramePr/>
          <p:nvPr>
            <p:custDataLst>
              <p:tags r:id="rId1"/>
            </p:custDataLst>
          </p:nvPr>
        </p:nvGraphicFramePr>
        <p:xfrm>
          <a:off x="1024890" y="1789430"/>
          <a:ext cx="6076950" cy="3160776"/>
        </p:xfrm>
        <a:graphic>
          <a:graphicData uri="http://schemas.openxmlformats.org/drawingml/2006/table">
            <a:tbl>
              <a:tblPr/>
              <a:tblGrid>
                <a:gridCol w="1126490">
                  <a:extLst>
                    <a:ext uri="{9D8B030D-6E8A-4147-A177-3AD203B41FA5}">
                      <a16:colId xmlns:a16="http://schemas.microsoft.com/office/drawing/2014/main" val="20000"/>
                    </a:ext>
                  </a:extLst>
                </a:gridCol>
                <a:gridCol w="1799590">
                  <a:extLst>
                    <a:ext uri="{9D8B030D-6E8A-4147-A177-3AD203B41FA5}">
                      <a16:colId xmlns:a16="http://schemas.microsoft.com/office/drawing/2014/main" val="20001"/>
                    </a:ext>
                  </a:extLst>
                </a:gridCol>
                <a:gridCol w="1574165">
                  <a:extLst>
                    <a:ext uri="{9D8B030D-6E8A-4147-A177-3AD203B41FA5}">
                      <a16:colId xmlns:a16="http://schemas.microsoft.com/office/drawing/2014/main" val="20002"/>
                    </a:ext>
                  </a:extLst>
                </a:gridCol>
                <a:gridCol w="1576705">
                  <a:extLst>
                    <a:ext uri="{9D8B030D-6E8A-4147-A177-3AD203B41FA5}">
                      <a16:colId xmlns:a16="http://schemas.microsoft.com/office/drawing/2014/main" val="20003"/>
                    </a:ext>
                  </a:extLst>
                </a:gridCol>
              </a:tblGrid>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u="sng" dirty="0">
                          <a:solidFill>
                            <a:srgbClr val="C00000"/>
                          </a:solidFill>
                        </a:rPr>
                        <a:t>cid</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rPr>
                        <a:t>cname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rPr>
                        <a:t>city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rPr>
                        <a:t>discnt</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TipTop</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10.00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Basics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12.00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Allied</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Kyoto</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6538" name="Text Box 41"/>
          <p:cNvSpPr txBox="1"/>
          <p:nvPr/>
        </p:nvSpPr>
        <p:spPr>
          <a:xfrm>
            <a:off x="1025525" y="1316355"/>
            <a:ext cx="5146675" cy="445770"/>
          </a:xfrm>
          <a:prstGeom prst="rect">
            <a:avLst/>
          </a:prstGeom>
          <a:noFill/>
          <a:ln w="9525">
            <a:noFill/>
          </a:ln>
        </p:spPr>
        <p:txBody>
          <a:bodyPr anchor="t">
            <a:noAutofit/>
          </a:bodyPr>
          <a:lstStyle/>
          <a:p>
            <a:pPr algn="l">
              <a:spcBef>
                <a:spcPct val="50000"/>
              </a:spcBef>
            </a:pPr>
            <a:r>
              <a:rPr lang="en-US" altLang="x-none" sz="2800" dirty="0">
                <a:latin typeface="Arial" panose="020B0604020202020204" pitchFamily="34" charset="0"/>
                <a:ea typeface="宋体" panose="02010600030101010101" pitchFamily="2" charset="-122"/>
              </a:rPr>
              <a:t>Customers</a:t>
            </a:r>
          </a:p>
        </p:txBody>
      </p:sp>
      <p:graphicFrame>
        <p:nvGraphicFramePr>
          <p:cNvPr id="105516" name="表格 105515"/>
          <p:cNvGraphicFramePr/>
          <p:nvPr/>
        </p:nvGraphicFramePr>
        <p:xfrm>
          <a:off x="9093200" y="1941830"/>
          <a:ext cx="1524000" cy="2107184"/>
        </p:xfrm>
        <a:graphic>
          <a:graphicData uri="http://schemas.openxmlformats.org/drawingml/2006/table">
            <a:tbl>
              <a:tblPr/>
              <a:tblGrid>
                <a:gridCol w="1524000">
                  <a:extLst>
                    <a:ext uri="{9D8B030D-6E8A-4147-A177-3AD203B41FA5}">
                      <a16:colId xmlns:a16="http://schemas.microsoft.com/office/drawing/2014/main" val="20000"/>
                    </a:ext>
                  </a:extLst>
                </a:gridCol>
              </a:tblGrid>
              <a:tr h="493713">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FF0000"/>
                          </a:solidFill>
                        </a:rPr>
                        <a:t>city</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93712">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Duluth</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3713">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Dallas</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3712">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Kyoto</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06551" name="Text Box 54"/>
              <p:cNvSpPr txBox="1"/>
              <p:nvPr/>
            </p:nvSpPr>
            <p:spPr>
              <a:xfrm>
                <a:off x="8382000" y="1316355"/>
                <a:ext cx="1524000" cy="518160"/>
              </a:xfrm>
              <a:prstGeom prst="rect">
                <a:avLst/>
              </a:prstGeom>
              <a:noFill/>
              <a:ln w="9525">
                <a:noFill/>
              </a:ln>
            </p:spPr>
            <p:txBody>
              <a:bodyPr wrap="square"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x-none" sz="2800" b="1" i="1" dirty="0">
                              <a:solidFill>
                                <a:srgbClr val="FF0000"/>
                              </a:solidFill>
                              <a:latin typeface="Cambria Math" panose="02040503050406030204" pitchFamily="18" charset="0"/>
                              <a:ea typeface="宋体" panose="02010600030101010101" pitchFamily="2" charset="-122"/>
                              <a:cs typeface="Cambria Math" panose="02040503050406030204" charset="0"/>
                              <a:sym typeface="Symbol" panose="05050102010706020507" pitchFamily="2" charset="2"/>
                            </a:rPr>
                          </m:ctrlPr>
                        </m:sSubPr>
                        <m:e>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𝝅</m:t>
                          </m:r>
                        </m:e>
                        <m: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𝒄𝒊𝒕𝒚</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sub>
                      </m:s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𝑪𝒖𝒔𝒕𝒐𝒎𝒆𝒓𝒔</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oMath>
                  </m:oMathPara>
                </a14:m>
                <a:endParaRPr lang="en-US" altLang="x-none" sz="2800" b="1" i="1" dirty="0">
                  <a:solidFill>
                    <a:srgbClr val="FF0000"/>
                  </a:solidFill>
                  <a:latin typeface="Arial" panose="020B0604020202020204" pitchFamily="34" charset="0"/>
                  <a:ea typeface="宋体" panose="02010600030101010101" pitchFamily="2" charset="-122"/>
                  <a:sym typeface="Symbol" panose="05050102010706020507" pitchFamily="2" charset="2"/>
                </a:endParaRPr>
              </a:p>
            </p:txBody>
          </p:sp>
        </mc:Choice>
        <mc:Fallback xmlns="">
          <p:sp>
            <p:nvSpPr>
              <p:cNvPr id="106551" name="Text Box 54"/>
              <p:cNvSpPr txBox="1">
                <a:spLocks noRot="1" noChangeAspect="1" noMove="1" noResize="1" noEditPoints="1" noAdjustHandles="1" noChangeArrowheads="1" noChangeShapeType="1" noTextEdit="1"/>
              </p:cNvSpPr>
              <p:nvPr/>
            </p:nvSpPr>
            <p:spPr>
              <a:xfrm>
                <a:off x="8382000" y="1316355"/>
                <a:ext cx="1524000" cy="518160"/>
              </a:xfrm>
              <a:prstGeom prst="rect">
                <a:avLst/>
              </a:prstGeom>
              <a:blipFill rotWithShape="1">
                <a:blip r:embed="rId3"/>
                <a:stretch>
                  <a:fillRect r="-100792"/>
                </a:stretch>
              </a:blipFill>
              <a:ln w="9525">
                <a:noFill/>
              </a:ln>
            </p:spPr>
            <p:txBody>
              <a:bodyPr/>
              <a:lstStyle/>
              <a:p>
                <a:r>
                  <a:rPr lang="zh-CN" altLang="en-US">
                    <a:noFill/>
                  </a:rPr>
                  <a:t> </a:t>
                </a:r>
              </a:p>
            </p:txBody>
          </p:sp>
        </mc:Fallback>
      </mc:AlternateContent>
      <p:sp>
        <p:nvSpPr>
          <p:cNvPr id="106552" name="Rectangle 57"/>
          <p:cNvSpPr/>
          <p:nvPr/>
        </p:nvSpPr>
        <p:spPr>
          <a:xfrm>
            <a:off x="424180" y="5496560"/>
            <a:ext cx="11343640" cy="1038860"/>
          </a:xfrm>
          <a:prstGeom prst="rect">
            <a:avLst/>
          </a:prstGeom>
          <a:solidFill>
            <a:srgbClr val="EAEAEA"/>
          </a:solidFill>
          <a:ln w="9525">
            <a:noFill/>
          </a:ln>
        </p:spPr>
        <p:txBody>
          <a:bodyPr wrap="square" anchor="t">
            <a:noAutofit/>
          </a:bodyPr>
          <a:lstStyle/>
          <a:p>
            <a:pPr marL="342900" indent="-342900">
              <a:lnSpc>
                <a:spcPct val="110000"/>
              </a:lnSpc>
              <a:spcBef>
                <a:spcPct val="20000"/>
              </a:spcBef>
              <a:buClr>
                <a:srgbClr val="C00000"/>
              </a:buClr>
              <a:buSzPct val="85000"/>
              <a:buFont typeface="Wingdings" panose="05000000000000000000" pitchFamily="2" charset="2"/>
              <a:buChar char="q"/>
            </a:pPr>
            <a:r>
              <a:rPr lang="zh-CN" altLang="en-US" sz="2800" b="1" dirty="0">
                <a:solidFill>
                  <a:srgbClr val="0000C8"/>
                </a:solidFill>
                <a:latin typeface="+mn-lt"/>
                <a:ea typeface="楷体" panose="02010609060101010101" charset="-122"/>
                <a:cs typeface="+mn-lt"/>
                <a:sym typeface="+mn-ea"/>
              </a:rPr>
              <a:t>在结果关系中，要剔除</a:t>
            </a:r>
            <a:r>
              <a:rPr lang="zh-CN" altLang="en-US" sz="2800" b="1" dirty="0">
                <a:solidFill>
                  <a:srgbClr val="0000C8"/>
                </a:solidFill>
                <a:ea typeface="楷体" panose="02010609060101010101" charset="-122"/>
                <a:cs typeface="+mn-lt"/>
                <a:sym typeface="+mn-ea"/>
              </a:rPr>
              <a:t>重复的</a:t>
            </a:r>
            <a:r>
              <a:rPr lang="en-US" altLang="zh-CN" sz="2800" b="1" dirty="0">
                <a:solidFill>
                  <a:srgbClr val="0000C8"/>
                </a:solidFill>
                <a:ea typeface="楷体" panose="02010609060101010101" charset="-122"/>
                <a:cs typeface="+mn-lt"/>
                <a:sym typeface="+mn-ea"/>
              </a:rPr>
              <a:t> </a:t>
            </a:r>
            <a:r>
              <a:rPr lang="en-US" altLang="zh-CN" sz="2800" b="1" dirty="0">
                <a:solidFill>
                  <a:srgbClr val="0000C8"/>
                </a:solidFill>
                <a:latin typeface="+mn-lt"/>
                <a:ea typeface="楷体" panose="02010609060101010101" charset="-122"/>
                <a:cs typeface="+mn-lt"/>
                <a:sym typeface="+mn-ea"/>
              </a:rPr>
              <a:t>‘</a:t>
            </a:r>
            <a:r>
              <a:rPr lang="en-US" altLang="x-none" sz="2800" b="1" dirty="0">
                <a:solidFill>
                  <a:srgbClr val="0000C8"/>
                </a:solidFill>
                <a:latin typeface="+mn-lt"/>
                <a:ea typeface="楷体" panose="02010609060101010101" charset="-122"/>
                <a:cs typeface="+mn-lt"/>
                <a:sym typeface="+mn-ea"/>
              </a:rPr>
              <a:t>Duluth’ </a:t>
            </a:r>
            <a:r>
              <a:rPr lang="zh-CN" altLang="en-US" sz="2800" b="1" dirty="0">
                <a:solidFill>
                  <a:srgbClr val="0000C8"/>
                </a:solidFill>
                <a:latin typeface="+mn-lt"/>
                <a:ea typeface="楷体" panose="02010609060101010101" charset="-122"/>
                <a:cs typeface="+mn-lt"/>
                <a:sym typeface="+mn-ea"/>
              </a:rPr>
              <a:t>及</a:t>
            </a:r>
            <a:r>
              <a:rPr lang="en-US" altLang="zh-CN" sz="2800" b="1" dirty="0">
                <a:solidFill>
                  <a:srgbClr val="0000C8"/>
                </a:solidFill>
                <a:latin typeface="+mn-lt"/>
                <a:ea typeface="楷体" panose="02010609060101010101" charset="-122"/>
                <a:cs typeface="+mn-lt"/>
                <a:sym typeface="+mn-ea"/>
              </a:rPr>
              <a:t> ‘</a:t>
            </a:r>
            <a:r>
              <a:rPr lang="en-US" altLang="x-none" sz="2800" b="1" dirty="0">
                <a:solidFill>
                  <a:srgbClr val="0000C8"/>
                </a:solidFill>
                <a:latin typeface="+mn-lt"/>
                <a:ea typeface="楷体" panose="02010609060101010101" charset="-122"/>
                <a:cs typeface="+mn-lt"/>
                <a:sym typeface="+mn-ea"/>
              </a:rPr>
              <a:t>Dallas’ </a:t>
            </a:r>
            <a:r>
              <a:rPr lang="zh-CN" altLang="en-US" sz="2800" b="1" dirty="0">
                <a:solidFill>
                  <a:srgbClr val="0000C8"/>
                </a:solidFill>
                <a:latin typeface="+mn-lt"/>
                <a:ea typeface="楷体" panose="02010609060101010101" charset="-122"/>
                <a:cs typeface="+mn-lt"/>
                <a:sym typeface="+mn-ea"/>
              </a:rPr>
              <a:t>元组，保证结果关系中元组的唯一性。</a:t>
            </a:r>
          </a:p>
        </p:txBody>
      </p:sp>
      <p:sp>
        <p:nvSpPr>
          <p:cNvPr id="3" name="灯片编号占位符 2"/>
          <p:cNvSpPr>
            <a:spLocks noGrp="1"/>
          </p:cNvSpPr>
          <p:nvPr>
            <p:ph type="sldNum" sz="quarter" idx="12"/>
          </p:nvPr>
        </p:nvSpPr>
        <p:spPr/>
        <p:txBody>
          <a:bodyPr/>
          <a:lstStyle/>
          <a:p>
            <a:fld id="{565CE74E-AB26-4998-AD42-012C4C1AD076}" type="slidenum">
              <a:rPr lang="zh-CN" altLang="en-US" smtClean="0"/>
              <a:t>60</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551"/>
                                        </p:tgtEl>
                                        <p:attrNameLst>
                                          <p:attrName>style.visibility</p:attrName>
                                        </p:attrNameLst>
                                      </p:cBhvr>
                                      <p:to>
                                        <p:strVal val="visible"/>
                                      </p:to>
                                    </p:set>
                                    <p:animEffect transition="in" filter="blinds(horizontal)">
                                      <p:cBhvr>
                                        <p:cTn id="7" dur="500"/>
                                        <p:tgtEl>
                                          <p:spTgt spid="1065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5516"/>
                                        </p:tgtEl>
                                        <p:attrNameLst>
                                          <p:attrName>style.visibility</p:attrName>
                                        </p:attrNameLst>
                                      </p:cBhvr>
                                      <p:to>
                                        <p:strVal val="visible"/>
                                      </p:to>
                                    </p:set>
                                    <p:animEffect transition="in" filter="blinds(horizontal)">
                                      <p:cBhvr>
                                        <p:cTn id="12" dur="500"/>
                                        <p:tgtEl>
                                          <p:spTgt spid="10551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6552"/>
                                        </p:tgtEl>
                                        <p:attrNameLst>
                                          <p:attrName>style.visibility</p:attrName>
                                        </p:attrNameLst>
                                      </p:cBhvr>
                                      <p:to>
                                        <p:strVal val="visible"/>
                                      </p:to>
                                    </p:set>
                                    <p:anim calcmode="lin" valueType="num">
                                      <p:cBhvr additive="base">
                                        <p:cTn id="17" dur="500" fill="hold"/>
                                        <p:tgtEl>
                                          <p:spTgt spid="106552"/>
                                        </p:tgtEl>
                                        <p:attrNameLst>
                                          <p:attrName>ppt_x</p:attrName>
                                        </p:attrNameLst>
                                      </p:cBhvr>
                                      <p:tavLst>
                                        <p:tav tm="0">
                                          <p:val>
                                            <p:strVal val="#ppt_x"/>
                                          </p:val>
                                        </p:tav>
                                        <p:tav tm="100000">
                                          <p:val>
                                            <p:strVal val="#ppt_x"/>
                                          </p:val>
                                        </p:tav>
                                      </p:tavLst>
                                    </p:anim>
                                    <p:anim calcmode="lin" valueType="num">
                                      <p:cBhvr additive="base">
                                        <p:cTn id="18" dur="500" fill="hold"/>
                                        <p:tgtEl>
                                          <p:spTgt spid="1065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51" grpId="0"/>
      <p:bldP spid="106552"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p:cNvSpPr>
            <a:spLocks noGrp="1"/>
          </p:cNvSpPr>
          <p:nvPr>
            <p:ph type="title"/>
          </p:nvPr>
        </p:nvSpPr>
        <p:spPr/>
        <p:txBody>
          <a:bodyPr wrap="square" anchor="ctr"/>
          <a:lstStyle/>
          <a:p>
            <a:pPr eaLnBrk="1" hangingPunct="1"/>
            <a:r>
              <a:rPr lang="en-US" altLang="x-none" dirty="0"/>
              <a:t>Example 2</a:t>
            </a:r>
          </a:p>
        </p:txBody>
      </p:sp>
      <p:sp>
        <p:nvSpPr>
          <p:cNvPr id="4" name="内容占位符 3"/>
          <p:cNvSpPr>
            <a:spLocks noGrp="1"/>
          </p:cNvSpPr>
          <p:nvPr>
            <p:ph idx="1"/>
          </p:nvPr>
        </p:nvSpPr>
        <p:spPr>
          <a:xfrm>
            <a:off x="424180" y="687070"/>
            <a:ext cx="11343005" cy="598805"/>
          </a:xfrm>
          <a:solidFill>
            <a:schemeClr val="accent3">
              <a:lumMod val="20000"/>
              <a:lumOff val="80000"/>
              <a:alpha val="50000"/>
            </a:schemeClr>
          </a:solidFill>
        </p:spPr>
        <p:txBody>
          <a:bodyPr>
            <a:noAutofit/>
          </a:bodyPr>
          <a:lstStyle/>
          <a:p>
            <a:pPr marL="514350" indent="-514350">
              <a:buFont typeface="+mj-lt"/>
              <a:buAutoNum type="arabicPeriod" startAt="2"/>
            </a:pPr>
            <a:r>
              <a:rPr lang="zh-CN" altLang="en-US" dirty="0">
                <a:solidFill>
                  <a:srgbClr val="0000C8"/>
                </a:solidFill>
                <a:cs typeface="+mn-lt"/>
                <a:sym typeface="+mn-ea"/>
              </a:rPr>
              <a:t>查询所有居住在京都</a:t>
            </a:r>
            <a:r>
              <a:rPr lang="en-US" altLang="x-none" dirty="0">
                <a:solidFill>
                  <a:srgbClr val="0000C8"/>
                </a:solidFill>
                <a:cs typeface="+mn-lt"/>
                <a:sym typeface="+mn-ea"/>
              </a:rPr>
              <a:t>(Kyoto)</a:t>
            </a:r>
            <a:r>
              <a:rPr lang="zh-CN" altLang="en-US" dirty="0">
                <a:solidFill>
                  <a:srgbClr val="0000C8"/>
                </a:solidFill>
                <a:cs typeface="+mn-lt"/>
                <a:sym typeface="+mn-ea"/>
              </a:rPr>
              <a:t>的顾客</a:t>
            </a:r>
          </a:p>
        </p:txBody>
      </p:sp>
      <p:graphicFrame>
        <p:nvGraphicFramePr>
          <p:cNvPr id="107526" name="表格 107525"/>
          <p:cNvGraphicFramePr/>
          <p:nvPr>
            <p:custDataLst>
              <p:tags r:id="rId1"/>
            </p:custDataLst>
          </p:nvPr>
        </p:nvGraphicFramePr>
        <p:xfrm>
          <a:off x="3712210" y="1457325"/>
          <a:ext cx="6850380" cy="2644140"/>
        </p:xfrm>
        <a:graphic>
          <a:graphicData uri="http://schemas.openxmlformats.org/drawingml/2006/table">
            <a:tbl>
              <a:tblPr/>
              <a:tblGrid>
                <a:gridCol w="1268095">
                  <a:extLst>
                    <a:ext uri="{9D8B030D-6E8A-4147-A177-3AD203B41FA5}">
                      <a16:colId xmlns:a16="http://schemas.microsoft.com/office/drawing/2014/main" val="20000"/>
                    </a:ext>
                  </a:extLst>
                </a:gridCol>
                <a:gridCol w="2030095">
                  <a:extLst>
                    <a:ext uri="{9D8B030D-6E8A-4147-A177-3AD203B41FA5}">
                      <a16:colId xmlns:a16="http://schemas.microsoft.com/office/drawing/2014/main" val="20001"/>
                    </a:ext>
                  </a:extLst>
                </a:gridCol>
                <a:gridCol w="177419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tblGrid>
              <a:tr h="44069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u="sng" dirty="0">
                          <a:solidFill>
                            <a:srgbClr val="C00000"/>
                          </a:solidFill>
                          <a:latin typeface="Arial" panose="020B0604020202020204" pitchFamily="34" charset="0"/>
                          <a:cs typeface="Arial" panose="020B0604020202020204" pitchFamily="34" charset="0"/>
                        </a:rPr>
                        <a:t>cid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latin typeface="Arial" panose="020B0604020202020204" pitchFamily="34" charset="0"/>
                          <a:cs typeface="Arial" panose="020B0604020202020204" pitchFamily="34" charset="0"/>
                        </a:rPr>
                        <a:t>cname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latin typeface="Arial" panose="020B0604020202020204" pitchFamily="34" charset="0"/>
                          <a:cs typeface="Arial" panose="020B0604020202020204" pitchFamily="34" charset="0"/>
                        </a:rPr>
                        <a:t>city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latin typeface="Arial" panose="020B0604020202020204" pitchFamily="34" charset="0"/>
                          <a:cs typeface="Arial" panose="020B0604020202020204" pitchFamily="34" charset="0"/>
                        </a:rPr>
                        <a:t>discnt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4069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TipTop</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Duluth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10.00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069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Basics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Dallas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12.00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069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Allied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Dallas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8.00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069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ACME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Duluth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8.00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069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c006</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ACME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Kyoto</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8586" name="Text Box 41"/>
          <p:cNvSpPr txBox="1"/>
          <p:nvPr/>
        </p:nvSpPr>
        <p:spPr>
          <a:xfrm>
            <a:off x="889000" y="1447800"/>
            <a:ext cx="2823210" cy="521970"/>
          </a:xfrm>
          <a:prstGeom prst="rect">
            <a:avLst/>
          </a:prstGeom>
          <a:noFill/>
          <a:ln w="9525">
            <a:noFill/>
          </a:ln>
        </p:spPr>
        <p:txBody>
          <a:bodyPr wrap="square" anchor="t">
            <a:spAutoFit/>
          </a:bodyPr>
          <a:lstStyle/>
          <a:p>
            <a:pPr algn="ctr">
              <a:spcBef>
                <a:spcPct val="50000"/>
              </a:spcBef>
            </a:pPr>
            <a:r>
              <a:rPr lang="en-US" altLang="x-none" sz="2800" dirty="0">
                <a:latin typeface="Arial" panose="020B0604020202020204" pitchFamily="34" charset="0"/>
                <a:ea typeface="宋体" panose="02010600030101010101" pitchFamily="2" charset="-122"/>
              </a:rPr>
              <a:t>Customers</a:t>
            </a:r>
          </a:p>
        </p:txBody>
      </p:sp>
      <p:graphicFrame>
        <p:nvGraphicFramePr>
          <p:cNvPr id="107564" name="表格 107563"/>
          <p:cNvGraphicFramePr/>
          <p:nvPr>
            <p:custDataLst>
              <p:tags r:id="rId2"/>
            </p:custDataLst>
          </p:nvPr>
        </p:nvGraphicFramePr>
        <p:xfrm>
          <a:off x="3722370" y="5183505"/>
          <a:ext cx="6839585" cy="1066800"/>
        </p:xfrm>
        <a:graphic>
          <a:graphicData uri="http://schemas.openxmlformats.org/drawingml/2006/table">
            <a:tbl>
              <a:tblPr/>
              <a:tblGrid>
                <a:gridCol w="1270000">
                  <a:extLst>
                    <a:ext uri="{9D8B030D-6E8A-4147-A177-3AD203B41FA5}">
                      <a16:colId xmlns:a16="http://schemas.microsoft.com/office/drawing/2014/main" val="20000"/>
                    </a:ext>
                  </a:extLst>
                </a:gridCol>
                <a:gridCol w="2023745">
                  <a:extLst>
                    <a:ext uri="{9D8B030D-6E8A-4147-A177-3AD203B41FA5}">
                      <a16:colId xmlns:a16="http://schemas.microsoft.com/office/drawing/2014/main" val="20001"/>
                    </a:ext>
                  </a:extLst>
                </a:gridCol>
                <a:gridCol w="1771015">
                  <a:extLst>
                    <a:ext uri="{9D8B030D-6E8A-4147-A177-3AD203B41FA5}">
                      <a16:colId xmlns:a16="http://schemas.microsoft.com/office/drawing/2014/main" val="20002"/>
                    </a:ext>
                  </a:extLst>
                </a:gridCol>
                <a:gridCol w="1774825">
                  <a:extLst>
                    <a:ext uri="{9D8B030D-6E8A-4147-A177-3AD203B41FA5}">
                      <a16:colId xmlns:a16="http://schemas.microsoft.com/office/drawing/2014/main" val="20003"/>
                    </a:ext>
                  </a:extLst>
                </a:gridCol>
              </a:tblGrid>
              <a:tr h="53340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latin typeface="Arial" panose="020B0604020202020204" pitchFamily="34" charset="0"/>
                          <a:cs typeface="Arial" panose="020B0604020202020204" pitchFamily="34" charset="0"/>
                        </a:rPr>
                        <a:t>cid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latin typeface="Arial" panose="020B0604020202020204" pitchFamily="34" charset="0"/>
                          <a:cs typeface="Arial" panose="020B0604020202020204" pitchFamily="34" charset="0"/>
                        </a:rPr>
                        <a:t>cname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latin typeface="Arial" panose="020B0604020202020204" pitchFamily="34" charset="0"/>
                          <a:cs typeface="Arial" panose="020B0604020202020204" pitchFamily="34" charset="0"/>
                        </a:rPr>
                        <a:t>city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C00000"/>
                          </a:solidFill>
                          <a:latin typeface="Arial" panose="020B0604020202020204" pitchFamily="34" charset="0"/>
                          <a:cs typeface="Arial" panose="020B0604020202020204" pitchFamily="34" charset="0"/>
                        </a:rPr>
                        <a:t>discnt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33400">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c006</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ACME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Kyoto</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800" b="1" dirty="0">
                          <a:solidFill>
                            <a:srgbClr val="0000C8"/>
                          </a:solidFill>
                        </a:rPr>
                        <a:t>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07581" name="Rectangle 60"/>
              <p:cNvSpPr/>
              <p:nvPr/>
            </p:nvSpPr>
            <p:spPr>
              <a:xfrm>
                <a:off x="889000" y="4461510"/>
                <a:ext cx="7772400" cy="533400"/>
              </a:xfrm>
              <a:prstGeom prst="rect">
                <a:avLst/>
              </a:prstGeom>
              <a:noFill/>
              <a:ln w="9525">
                <a:noFill/>
              </a:ln>
            </p:spPr>
            <p:txBody>
              <a:bodyPr anchor="t"/>
              <a:lstStyle/>
              <a:p>
                <a:pPr marL="228600" lvl="0" indent="-228600" algn="l" eaLnBrk="1" hangingPunct="1">
                  <a:spcBef>
                    <a:spcPct val="20000"/>
                  </a:spcBef>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𝒄𝒊𝒕𝒚</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𝑲𝒚𝒐𝒕𝒐</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𝑪𝒖𝒔𝒕𝒐𝒎𝒆𝒓𝒔</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oMath>
                  </m:oMathPara>
                </a14:m>
                <a:endParaRPr lang="en-US" altLang="x-none" sz="2800" b="1" i="1" dirty="0">
                  <a:solidFill>
                    <a:srgbClr val="FF0000"/>
                  </a:solidFill>
                  <a:latin typeface="Calibri" panose="020F0502020204030204" charset="0"/>
                  <a:ea typeface="宋体" panose="02010600030101010101" pitchFamily="2" charset="-122"/>
                  <a:cs typeface="Calibri" panose="020F0502020204030204" charset="0"/>
                </a:endParaRPr>
              </a:p>
            </p:txBody>
          </p:sp>
        </mc:Choice>
        <mc:Fallback xmlns="">
          <p:sp>
            <p:nvSpPr>
              <p:cNvPr id="107581" name="Rectangle 60"/>
              <p:cNvSpPr>
                <a:spLocks noRot="1" noChangeAspect="1" noMove="1" noResize="1" noEditPoints="1" noAdjustHandles="1" noChangeArrowheads="1" noChangeShapeType="1" noTextEdit="1"/>
              </p:cNvSpPr>
              <p:nvPr/>
            </p:nvSpPr>
            <p:spPr>
              <a:xfrm>
                <a:off x="889000" y="4461510"/>
                <a:ext cx="7772400" cy="533400"/>
              </a:xfrm>
              <a:prstGeom prst="rect">
                <a:avLst/>
              </a:prstGeom>
              <a:blipFill rotWithShape="1">
                <a:blip r:embed="rId4"/>
                <a:stretch>
                  <a:fillRect b="-1905"/>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61</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75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7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8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p:cNvSpPr>
          <p:nvPr>
            <p:ph type="title"/>
          </p:nvPr>
        </p:nvSpPr>
        <p:spPr/>
        <p:txBody>
          <a:bodyPr wrap="square" anchor="ctr"/>
          <a:lstStyle/>
          <a:p>
            <a:pPr eaLnBrk="1" hangingPunct="1"/>
            <a:r>
              <a:rPr lang="en-US" altLang="x-none" dirty="0"/>
              <a:t>Example 3</a:t>
            </a:r>
          </a:p>
        </p:txBody>
      </p:sp>
      <p:sp>
        <p:nvSpPr>
          <p:cNvPr id="4" name="内容占位符 3"/>
          <p:cNvSpPr>
            <a:spLocks noGrp="1"/>
          </p:cNvSpPr>
          <p:nvPr>
            <p:ph idx="1"/>
          </p:nvPr>
        </p:nvSpPr>
        <p:spPr>
          <a:xfrm>
            <a:off x="424180" y="687070"/>
            <a:ext cx="11343005" cy="598805"/>
          </a:xfrm>
          <a:solidFill>
            <a:schemeClr val="accent3">
              <a:lumMod val="20000"/>
              <a:lumOff val="80000"/>
              <a:alpha val="50000"/>
            </a:schemeClr>
          </a:solidFill>
        </p:spPr>
        <p:txBody>
          <a:bodyPr>
            <a:noAutofit/>
          </a:bodyPr>
          <a:lstStyle/>
          <a:p>
            <a:pPr marL="514350" indent="-514350">
              <a:buFont typeface="+mj-lt"/>
              <a:buAutoNum type="arabicPeriod" startAt="3"/>
            </a:pPr>
            <a:r>
              <a:rPr lang="zh-CN" altLang="en-US" dirty="0">
                <a:solidFill>
                  <a:srgbClr val="0000C8"/>
                </a:solidFill>
                <a:cs typeface="+mn-lt"/>
                <a:sym typeface="+mn-ea"/>
              </a:rPr>
              <a:t>查询存放于达拉斯</a:t>
            </a:r>
            <a:r>
              <a:rPr lang="en-US" altLang="x-none" dirty="0">
                <a:solidFill>
                  <a:srgbClr val="0000C8"/>
                </a:solidFill>
                <a:cs typeface="+mn-lt"/>
                <a:sym typeface="+mn-ea"/>
              </a:rPr>
              <a:t>(Dallas)</a:t>
            </a:r>
            <a:r>
              <a:rPr lang="zh-CN" altLang="en-US" dirty="0">
                <a:solidFill>
                  <a:srgbClr val="0000C8"/>
                </a:solidFill>
                <a:cs typeface="+mn-lt"/>
                <a:sym typeface="+mn-ea"/>
              </a:rPr>
              <a:t>且单价</a:t>
            </a:r>
            <a:r>
              <a:rPr lang="en-US" altLang="x-none" dirty="0">
                <a:solidFill>
                  <a:srgbClr val="0000C8"/>
                </a:solidFill>
                <a:cs typeface="+mn-lt"/>
                <a:sym typeface="+mn-ea"/>
              </a:rPr>
              <a:t>(price)</a:t>
            </a:r>
            <a:r>
              <a:rPr lang="zh-CN" altLang="en-US" dirty="0">
                <a:solidFill>
                  <a:srgbClr val="0000C8"/>
                </a:solidFill>
                <a:cs typeface="+mn-lt"/>
                <a:sym typeface="+mn-ea"/>
              </a:rPr>
              <a:t>超过</a:t>
            </a:r>
            <a:r>
              <a:rPr lang="en-US" altLang="x-none" dirty="0">
                <a:solidFill>
                  <a:srgbClr val="0000C8"/>
                </a:solidFill>
                <a:cs typeface="+mn-lt"/>
                <a:sym typeface="+mn-ea"/>
              </a:rPr>
              <a:t>$0.50</a:t>
            </a:r>
            <a:r>
              <a:rPr lang="zh-CN" altLang="en-US" dirty="0">
                <a:solidFill>
                  <a:srgbClr val="0000C8"/>
                </a:solidFill>
                <a:cs typeface="+mn-lt"/>
                <a:sym typeface="+mn-ea"/>
              </a:rPr>
              <a:t>的商品</a:t>
            </a:r>
          </a:p>
        </p:txBody>
      </p:sp>
      <p:graphicFrame>
        <p:nvGraphicFramePr>
          <p:cNvPr id="108550" name="表格 108549"/>
          <p:cNvGraphicFramePr/>
          <p:nvPr>
            <p:custDataLst>
              <p:tags r:id="rId1"/>
            </p:custDataLst>
          </p:nvPr>
        </p:nvGraphicFramePr>
        <p:xfrm>
          <a:off x="2362200" y="1453515"/>
          <a:ext cx="8399145" cy="2960370"/>
        </p:xfrm>
        <a:graphic>
          <a:graphicData uri="http://schemas.openxmlformats.org/drawingml/2006/table">
            <a:tbl>
              <a:tblPr/>
              <a:tblGrid>
                <a:gridCol w="1202690">
                  <a:extLst>
                    <a:ext uri="{9D8B030D-6E8A-4147-A177-3AD203B41FA5}">
                      <a16:colId xmlns:a16="http://schemas.microsoft.com/office/drawing/2014/main" val="20000"/>
                    </a:ext>
                  </a:extLst>
                </a:gridCol>
                <a:gridCol w="1960880">
                  <a:extLst>
                    <a:ext uri="{9D8B030D-6E8A-4147-A177-3AD203B41FA5}">
                      <a16:colId xmlns:a16="http://schemas.microsoft.com/office/drawing/2014/main" val="20001"/>
                    </a:ext>
                  </a:extLst>
                </a:gridCol>
                <a:gridCol w="1743075">
                  <a:extLst>
                    <a:ext uri="{9D8B030D-6E8A-4147-A177-3AD203B41FA5}">
                      <a16:colId xmlns:a16="http://schemas.microsoft.com/office/drawing/2014/main" val="20002"/>
                    </a:ext>
                  </a:extLst>
                </a:gridCol>
                <a:gridCol w="1746250">
                  <a:extLst>
                    <a:ext uri="{9D8B030D-6E8A-4147-A177-3AD203B41FA5}">
                      <a16:colId xmlns:a16="http://schemas.microsoft.com/office/drawing/2014/main" val="20003"/>
                    </a:ext>
                  </a:extLst>
                </a:gridCol>
                <a:gridCol w="1746250">
                  <a:extLst>
                    <a:ext uri="{9D8B030D-6E8A-4147-A177-3AD203B41FA5}">
                      <a16:colId xmlns:a16="http://schemas.microsoft.com/office/drawing/2014/main" val="20004"/>
                    </a:ext>
                  </a:extLst>
                </a:gridCol>
              </a:tblGrid>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u="sng" dirty="0">
                          <a:solidFill>
                            <a:srgbClr val="C00000"/>
                          </a:solidFill>
                          <a:latin typeface="Arial" panose="020B0604020202020204" pitchFamily="34" charset="0"/>
                          <a:cs typeface="Arial" panose="020B0604020202020204" pitchFamily="34" charset="0"/>
                        </a:rPr>
                        <a:t>pid</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latin typeface="Arial" panose="020B0604020202020204" pitchFamily="34" charset="0"/>
                          <a:cs typeface="Arial" panose="020B0604020202020204" pitchFamily="34" charset="0"/>
                        </a:rPr>
                        <a:t>pname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latin typeface="Arial" panose="020B0604020202020204" pitchFamily="34" charset="0"/>
                          <a:cs typeface="Arial" panose="020B0604020202020204" pitchFamily="34" charset="0"/>
                        </a:rPr>
                        <a:t>city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latin typeface="Arial" panose="020B0604020202020204" pitchFamily="34" charset="0"/>
                          <a:cs typeface="Arial" panose="020B0604020202020204" pitchFamily="34" charset="0"/>
                        </a:rPr>
                        <a:t>quantity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latin typeface="Arial" panose="020B0604020202020204" pitchFamily="34" charset="0"/>
                          <a:cs typeface="Arial" panose="020B0604020202020204" pitchFamily="34" charset="0"/>
                        </a:rPr>
                        <a:t>price</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P01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comb</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111400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0.50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p04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pen</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125300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p05</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pencil</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221400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p06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folder</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123100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2.00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p07</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case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Newark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100500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0000C8"/>
                          </a:solidFill>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108594" name="Rectangle 48"/>
              <p:cNvSpPr/>
              <p:nvPr/>
            </p:nvSpPr>
            <p:spPr>
              <a:xfrm>
                <a:off x="381000" y="4613910"/>
                <a:ext cx="8763000" cy="609600"/>
              </a:xfrm>
              <a:prstGeom prst="rect">
                <a:avLst/>
              </a:prstGeom>
              <a:noFill/>
              <a:ln w="9525">
                <a:noFill/>
              </a:ln>
            </p:spPr>
            <p:txBody>
              <a:bodyPr anchor="t"/>
              <a:lstStyle/>
              <a:p>
                <a:pPr marL="1143000" lvl="2" indent="-228600" algn="l" eaLnBrk="1" hangingPunct="1">
                  <a:spcBef>
                    <a:spcPct val="20000"/>
                  </a:spcBef>
                  <a:buFont typeface="Wingdings" panose="05000000000000000000" pitchFamily="2" charset="2"/>
                  <a:buNone/>
                </a:pPr>
                <a14:m>
                  <m:oMathPara xmlns:m="http://schemas.openxmlformats.org/officeDocument/2006/math">
                    <m:oMathParaPr>
                      <m:jc m:val="left"/>
                    </m:oMathParaPr>
                    <m:oMath xmlns:m="http://schemas.openxmlformats.org/officeDocument/2006/math">
                      <m:sSub>
                        <m:sSubPr>
                          <m:ctrlPr>
                            <a:rPr lang="en-US" altLang="x-none" sz="2800" b="1" i="1" dirty="0">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𝝈</m:t>
                          </m:r>
                        </m:e>
                        <m: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𝒄𝒊𝒕𝒚</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𝑫𝒂𝒍𝒍𝒂𝒔</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𝒑𝒓𝒊𝒄𝒆</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&gt;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𝟎</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𝟓𝟎</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𝑷𝒓𝒐𝒅𝒖𝒄𝒕𝒔</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xmlns="">
          <p:sp>
            <p:nvSpPr>
              <p:cNvPr id="108594" name="Rectangle 48"/>
              <p:cNvSpPr>
                <a:spLocks noRot="1" noChangeAspect="1" noMove="1" noResize="1" noEditPoints="1" noAdjustHandles="1" noChangeArrowheads="1" noChangeShapeType="1" noTextEdit="1"/>
              </p:cNvSpPr>
              <p:nvPr/>
            </p:nvSpPr>
            <p:spPr>
              <a:xfrm>
                <a:off x="381000" y="4613910"/>
                <a:ext cx="8763000" cy="609600"/>
              </a:xfrm>
              <a:prstGeom prst="rect">
                <a:avLst/>
              </a:prstGeom>
              <a:blipFill rotWithShape="1">
                <a:blip r:embed="rId4"/>
                <a:stretch>
                  <a:fillRect/>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62</a:t>
            </a:fld>
            <a:endParaRPr lang="zh-CN" altLang="en-US"/>
          </a:p>
        </p:txBody>
      </p:sp>
      <p:graphicFrame>
        <p:nvGraphicFramePr>
          <p:cNvPr id="6" name="表格 5"/>
          <p:cNvGraphicFramePr/>
          <p:nvPr>
            <p:custDataLst>
              <p:tags r:id="rId2"/>
            </p:custDataLst>
          </p:nvPr>
        </p:nvGraphicFramePr>
        <p:xfrm>
          <a:off x="2362200" y="5229225"/>
          <a:ext cx="8399145" cy="1480185"/>
        </p:xfrm>
        <a:graphic>
          <a:graphicData uri="http://schemas.openxmlformats.org/drawingml/2006/table">
            <a:tbl>
              <a:tblPr/>
              <a:tblGrid>
                <a:gridCol w="1202055">
                  <a:extLst>
                    <a:ext uri="{9D8B030D-6E8A-4147-A177-3AD203B41FA5}">
                      <a16:colId xmlns:a16="http://schemas.microsoft.com/office/drawing/2014/main" val="20000"/>
                    </a:ext>
                  </a:extLst>
                </a:gridCol>
                <a:gridCol w="1961515">
                  <a:extLst>
                    <a:ext uri="{9D8B030D-6E8A-4147-A177-3AD203B41FA5}">
                      <a16:colId xmlns:a16="http://schemas.microsoft.com/office/drawing/2014/main" val="20001"/>
                    </a:ext>
                  </a:extLst>
                </a:gridCol>
                <a:gridCol w="1743075">
                  <a:extLst>
                    <a:ext uri="{9D8B030D-6E8A-4147-A177-3AD203B41FA5}">
                      <a16:colId xmlns:a16="http://schemas.microsoft.com/office/drawing/2014/main" val="20002"/>
                    </a:ext>
                  </a:extLst>
                </a:gridCol>
                <a:gridCol w="1746885">
                  <a:extLst>
                    <a:ext uri="{9D8B030D-6E8A-4147-A177-3AD203B41FA5}">
                      <a16:colId xmlns:a16="http://schemas.microsoft.com/office/drawing/2014/main" val="20003"/>
                    </a:ext>
                  </a:extLst>
                </a:gridCol>
                <a:gridCol w="1745615">
                  <a:extLst>
                    <a:ext uri="{9D8B030D-6E8A-4147-A177-3AD203B41FA5}">
                      <a16:colId xmlns:a16="http://schemas.microsoft.com/office/drawing/2014/main" val="20004"/>
                    </a:ext>
                  </a:extLst>
                </a:gridCol>
              </a:tblGrid>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u="sng" dirty="0">
                          <a:solidFill>
                            <a:srgbClr val="C00000"/>
                          </a:solidFill>
                        </a:rPr>
                        <a:t>pid</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rPr>
                        <a:t>pname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rPr>
                        <a:t>city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rPr>
                        <a:t>quantity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C00000"/>
                          </a:solidFill>
                        </a:rPr>
                        <a:t>price</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p05</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pencil</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221400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3395">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p06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folder</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123100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0"/>
                        </a:spcAft>
                        <a:buFont typeface="Wingdings" panose="05000000000000000000" pitchFamily="2" charset="2"/>
                        <a:buChar char="q"/>
                        <a:defRPr sz="2000" b="0" i="0" u="none" kern="1200" baseline="0">
                          <a:solidFill>
                            <a:schemeClr val="accent2"/>
                          </a:solidFill>
                          <a:latin typeface="Times New Roman" panose="02020603050405020304" charset="0"/>
                          <a:ea typeface="华文细黑" panose="02010600040101010101" charset="-122"/>
                        </a:defRPr>
                      </a:lvl1pPr>
                      <a:lvl2pPr marL="742950" lvl="1" indent="-285750" algn="l">
                        <a:defRPr sz="2000" b="0" kern="1200">
                          <a:solidFill>
                            <a:schemeClr val="tx1"/>
                          </a:solidFill>
                        </a:defRPr>
                      </a:lvl2pPr>
                      <a:lvl3pPr marL="1143000" lvl="2" indent="-228600" algn="l">
                        <a:defRPr sz="2000" b="0" kern="1200">
                          <a:solidFill>
                            <a:schemeClr val="accent2"/>
                          </a:solidFill>
                        </a:defRPr>
                      </a:lvl3pPr>
                      <a:lvl4pPr marL="1600200" lvl="3" indent="-228600" algn="l">
                        <a:buFont typeface="Wingdings" panose="05000000000000000000" pitchFamily="2" charset="2"/>
                        <a:defRPr sz="2000" b="0" kern="1200">
                          <a:solidFill>
                            <a:schemeClr val="tx1"/>
                          </a:solidFill>
                        </a:defRPr>
                      </a:lvl4pPr>
                      <a:lvl5pPr marL="2057400" lvl="4" indent="-228600" algn="l">
                        <a:defRPr sz="2000" b="0" kern="1200">
                          <a:solidFill>
                            <a:schemeClr val="accent2"/>
                          </a:solidFill>
                        </a:defRPr>
                      </a:lvl5pPr>
                    </a:lstStyle>
                    <a:p>
                      <a:pPr marL="0" lvl="0" indent="0" algn="ctr" eaLnBrk="1" hangingPunct="1">
                        <a:buFont typeface="Wingdings" panose="05000000000000000000" pitchFamily="2" charset="2"/>
                        <a:buNone/>
                      </a:pPr>
                      <a:r>
                        <a:rPr lang="en-US" altLang="x-none" sz="2400" b="1" dirty="0">
                          <a:solidFill>
                            <a:srgbClr val="1F2DA8"/>
                          </a:solidFill>
                        </a:rPr>
                        <a:t>2.00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页脚占位符 1"/>
          <p:cNvSpPr>
            <a:spLocks noGrp="1"/>
          </p:cNvSpPr>
          <p:nvPr>
            <p:ph type="ftr" sz="quarter" idx="11"/>
          </p:nvPr>
        </p:nvSpPr>
        <p:spPr/>
        <p:txBody>
          <a:bodyPr/>
          <a:lstStyle/>
          <a:p>
            <a:r>
              <a:rPr lang="zh-CN" altLang="en-US"/>
              <a:t>ch02_2_关系代数基本运算</a:t>
            </a:r>
          </a:p>
        </p:txBody>
      </p:sp>
      <p:sp>
        <p:nvSpPr>
          <p:cNvPr id="108586" name="Text Box 41"/>
          <p:cNvSpPr txBox="1"/>
          <p:nvPr/>
        </p:nvSpPr>
        <p:spPr>
          <a:xfrm>
            <a:off x="424180" y="1343660"/>
            <a:ext cx="1938020" cy="521970"/>
          </a:xfrm>
          <a:prstGeom prst="rect">
            <a:avLst/>
          </a:prstGeom>
          <a:noFill/>
          <a:ln w="9525">
            <a:noFill/>
          </a:ln>
        </p:spPr>
        <p:txBody>
          <a:bodyPr wrap="square" anchor="t">
            <a:noAutofit/>
          </a:bodyPr>
          <a:lstStyle/>
          <a:p>
            <a:pPr algn="ctr">
              <a:spcBef>
                <a:spcPct val="50000"/>
              </a:spcBef>
            </a:pPr>
            <a:r>
              <a:rPr lang="en-US" altLang="x-none" sz="2800" dirty="0">
                <a:latin typeface="Arial" panose="020B0604020202020204" pitchFamily="34" charset="0"/>
                <a:ea typeface="宋体" panose="02010600030101010101" pitchFamily="2" charset="-122"/>
              </a:rPr>
              <a:t>Products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8594"/>
                                        </p:tgtEl>
                                        <p:attrNameLst>
                                          <p:attrName>style.visibility</p:attrName>
                                        </p:attrNameLst>
                                      </p:cBhvr>
                                      <p:to>
                                        <p:strVal val="visible"/>
                                      </p:to>
                                    </p:set>
                                    <p:animEffect transition="in" filter="blinds(horizontal)">
                                      <p:cBhvr>
                                        <p:cTn id="7" dur="500"/>
                                        <p:tgtEl>
                                          <p:spTgt spid="1085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9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p:cNvSpPr>
            <a:spLocks noGrp="1"/>
          </p:cNvSpPr>
          <p:nvPr>
            <p:ph type="title"/>
          </p:nvPr>
        </p:nvSpPr>
        <p:spPr/>
        <p:txBody>
          <a:bodyPr wrap="square" anchor="ctr"/>
          <a:lstStyle/>
          <a:p>
            <a:pPr eaLnBrk="1" hangingPunct="1"/>
            <a:r>
              <a:rPr lang="zh-CN" altLang="en-US" dirty="0"/>
              <a:t>复杂查询</a:t>
            </a:r>
          </a:p>
        </p:txBody>
      </p:sp>
      <p:sp>
        <p:nvSpPr>
          <p:cNvPr id="110596" name="Rectangle 3"/>
          <p:cNvSpPr>
            <a:spLocks noGrp="1"/>
          </p:cNvSpPr>
          <p:nvPr>
            <p:ph idx="1"/>
          </p:nvPr>
        </p:nvSpPr>
        <p:spPr>
          <a:xfrm>
            <a:off x="424180" y="687070"/>
            <a:ext cx="11343005" cy="4049395"/>
          </a:xfrm>
        </p:spPr>
        <p:txBody>
          <a:bodyPr wrap="square" anchor="t">
            <a:noAutofit/>
          </a:bodyPr>
          <a:lstStyle/>
          <a:p>
            <a:pPr eaLnBrk="1" hangingPunct="1"/>
            <a:r>
              <a:rPr lang="zh-CN" altLang="en-US" sz="2800" dirty="0">
                <a:latin typeface="Arial" panose="020B0604020202020204" pitchFamily="34" charset="0"/>
                <a:cs typeface="Arial" panose="020B0604020202020204" pitchFamily="34" charset="0"/>
              </a:rPr>
              <a:t>为了方便后续关系代数表达式的表示，将各个关系的关系名可简写成其首字母：</a:t>
            </a:r>
          </a:p>
          <a:p>
            <a:pPr eaLnBrk="1" hangingPunct="1"/>
            <a:endParaRPr lang="zh-CN" altLang="en-US" sz="2800" dirty="0">
              <a:latin typeface="Arial" panose="020B0604020202020204" pitchFamily="34" charset="0"/>
              <a:cs typeface="Arial" panose="020B0604020202020204" pitchFamily="34" charset="0"/>
            </a:endParaRPr>
          </a:p>
          <a:p>
            <a:pPr lvl="2" eaLnBrk="1" hangingPunct="1">
              <a:lnSpc>
                <a:spcPct val="110000"/>
              </a:lnSpc>
              <a:spcBef>
                <a:spcPts val="1000"/>
              </a:spcBef>
              <a:buNone/>
            </a:pPr>
            <a:r>
              <a:rPr lang="en-US" altLang="x-none" sz="2800" dirty="0">
                <a:latin typeface="Arial" panose="020B0604020202020204" pitchFamily="34" charset="0"/>
                <a:cs typeface="Arial" panose="020B0604020202020204" pitchFamily="34" charset="0"/>
              </a:rPr>
              <a:t>CUSTOMERS  </a:t>
            </a:r>
            <a:r>
              <a:rPr lang="en-US" altLang="x-none" sz="2800" dirty="0">
                <a:latin typeface="Arial" panose="020B0604020202020204" pitchFamily="34" charset="0"/>
                <a:cs typeface="Arial" panose="020B0604020202020204" pitchFamily="34" charset="0"/>
                <a:sym typeface="Wingdings" panose="05000000000000000000" pitchFamily="2" charset="2"/>
              </a:rPr>
              <a:t>  </a:t>
            </a:r>
            <a:r>
              <a:rPr lang="en-US" altLang="x-none" sz="2800" dirty="0">
                <a:solidFill>
                  <a:srgbClr val="FF0000"/>
                </a:solidFill>
                <a:latin typeface="Arial" panose="020B0604020202020204" pitchFamily="34" charset="0"/>
                <a:cs typeface="Arial" panose="020B0604020202020204" pitchFamily="34" charset="0"/>
                <a:sym typeface="Wingdings" panose="05000000000000000000" pitchFamily="2" charset="2"/>
              </a:rPr>
              <a:t>C</a:t>
            </a:r>
            <a:endParaRPr lang="en-US" altLang="x-none" sz="2800" dirty="0">
              <a:latin typeface="Arial" panose="020B0604020202020204" pitchFamily="34" charset="0"/>
              <a:cs typeface="Arial" panose="020B0604020202020204" pitchFamily="34" charset="0"/>
              <a:sym typeface="Wingdings" panose="05000000000000000000" pitchFamily="2" charset="2"/>
            </a:endParaRPr>
          </a:p>
          <a:p>
            <a:pPr lvl="2" eaLnBrk="1" hangingPunct="1">
              <a:lnSpc>
                <a:spcPct val="110000"/>
              </a:lnSpc>
              <a:spcBef>
                <a:spcPts val="1000"/>
              </a:spcBef>
              <a:buNone/>
            </a:pPr>
            <a:r>
              <a:rPr lang="en-US" altLang="x-none" sz="2800" dirty="0">
                <a:latin typeface="Arial" panose="020B0604020202020204" pitchFamily="34" charset="0"/>
                <a:cs typeface="Arial" panose="020B0604020202020204" pitchFamily="34" charset="0"/>
                <a:sym typeface="Wingdings" panose="05000000000000000000" pitchFamily="2" charset="2"/>
              </a:rPr>
              <a:t>AGENTS            </a:t>
            </a:r>
            <a:r>
              <a:rPr lang="en-US" altLang="x-none" sz="2800" dirty="0">
                <a:solidFill>
                  <a:srgbClr val="FF0000"/>
                </a:solidFill>
                <a:latin typeface="Arial" panose="020B0604020202020204" pitchFamily="34" charset="0"/>
                <a:cs typeface="Arial" panose="020B0604020202020204" pitchFamily="34" charset="0"/>
                <a:sym typeface="Wingdings" panose="05000000000000000000" pitchFamily="2" charset="2"/>
              </a:rPr>
              <a:t>A</a:t>
            </a:r>
            <a:endParaRPr lang="en-US" altLang="x-none" sz="2800" dirty="0">
              <a:latin typeface="Arial" panose="020B0604020202020204" pitchFamily="34" charset="0"/>
              <a:cs typeface="Arial" panose="020B0604020202020204" pitchFamily="34" charset="0"/>
              <a:sym typeface="Wingdings" panose="05000000000000000000" pitchFamily="2" charset="2"/>
            </a:endParaRPr>
          </a:p>
          <a:p>
            <a:pPr lvl="2" eaLnBrk="1" hangingPunct="1">
              <a:lnSpc>
                <a:spcPct val="110000"/>
              </a:lnSpc>
              <a:spcBef>
                <a:spcPts val="1000"/>
              </a:spcBef>
              <a:buNone/>
            </a:pPr>
            <a:r>
              <a:rPr lang="en-US" altLang="x-none" sz="2800" dirty="0">
                <a:latin typeface="Arial" panose="020B0604020202020204" pitchFamily="34" charset="0"/>
                <a:cs typeface="Arial" panose="020B0604020202020204" pitchFamily="34" charset="0"/>
                <a:sym typeface="Wingdings" panose="05000000000000000000" pitchFamily="2" charset="2"/>
              </a:rPr>
              <a:t>PRODUCTS       </a:t>
            </a:r>
            <a:r>
              <a:rPr lang="en-US" altLang="x-none" sz="2800" dirty="0">
                <a:solidFill>
                  <a:srgbClr val="FF0000"/>
                </a:solidFill>
                <a:latin typeface="Arial" panose="020B0604020202020204" pitchFamily="34" charset="0"/>
                <a:cs typeface="Arial" panose="020B0604020202020204" pitchFamily="34" charset="0"/>
                <a:sym typeface="Wingdings" panose="05000000000000000000" pitchFamily="2" charset="2"/>
              </a:rPr>
              <a:t>P</a:t>
            </a:r>
            <a:endParaRPr lang="en-US" altLang="x-none" sz="2800" dirty="0">
              <a:latin typeface="Arial" panose="020B0604020202020204" pitchFamily="34" charset="0"/>
              <a:cs typeface="Arial" panose="020B0604020202020204" pitchFamily="34" charset="0"/>
              <a:sym typeface="Wingdings" panose="05000000000000000000" pitchFamily="2" charset="2"/>
            </a:endParaRPr>
          </a:p>
          <a:p>
            <a:pPr lvl="2" eaLnBrk="1" hangingPunct="1">
              <a:lnSpc>
                <a:spcPct val="110000"/>
              </a:lnSpc>
              <a:spcBef>
                <a:spcPts val="1000"/>
              </a:spcBef>
              <a:buNone/>
            </a:pPr>
            <a:r>
              <a:rPr lang="en-US" altLang="x-none" sz="2800" dirty="0">
                <a:latin typeface="Arial" panose="020B0604020202020204" pitchFamily="34" charset="0"/>
                <a:cs typeface="Arial" panose="020B0604020202020204" pitchFamily="34" charset="0"/>
                <a:sym typeface="Wingdings" panose="05000000000000000000" pitchFamily="2" charset="2"/>
              </a:rPr>
              <a:t>ORDERS            </a:t>
            </a:r>
            <a:r>
              <a:rPr lang="en-US" altLang="x-none" sz="2800" dirty="0">
                <a:solidFill>
                  <a:srgbClr val="FF0000"/>
                </a:solidFill>
                <a:latin typeface="Arial" panose="020B0604020202020204" pitchFamily="34" charset="0"/>
                <a:cs typeface="Arial" panose="020B0604020202020204" pitchFamily="34" charset="0"/>
                <a:sym typeface="Wingdings" panose="05000000000000000000" pitchFamily="2" charset="2"/>
              </a:rPr>
              <a:t>O</a:t>
            </a:r>
          </a:p>
        </p:txBody>
      </p:sp>
      <p:sp>
        <p:nvSpPr>
          <p:cNvPr id="3" name="灯片编号占位符 2"/>
          <p:cNvSpPr>
            <a:spLocks noGrp="1"/>
          </p:cNvSpPr>
          <p:nvPr>
            <p:ph type="sldNum" sz="quarter" idx="12"/>
          </p:nvPr>
        </p:nvSpPr>
        <p:spPr/>
        <p:txBody>
          <a:bodyPr/>
          <a:lstStyle/>
          <a:p>
            <a:fld id="{565CE74E-AB26-4998-AD42-012C4C1AD076}" type="slidenum">
              <a:rPr lang="zh-CN" altLang="en-US" smtClean="0"/>
              <a:t>63</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p:cNvSpPr>
          <p:nvPr>
            <p:ph type="title"/>
          </p:nvPr>
        </p:nvSpPr>
        <p:spPr/>
        <p:txBody>
          <a:bodyPr wrap="square" anchor="ctr"/>
          <a:lstStyle/>
          <a:p>
            <a:pPr eaLnBrk="1" hangingPunct="1"/>
            <a:r>
              <a:rPr lang="en-US" altLang="x-none" dirty="0"/>
              <a:t>Example 4</a:t>
            </a:r>
          </a:p>
        </p:txBody>
      </p:sp>
      <p:sp>
        <p:nvSpPr>
          <p:cNvPr id="111620" name="Rectangle 5"/>
          <p:cNvSpPr/>
          <p:nvPr/>
        </p:nvSpPr>
        <p:spPr>
          <a:xfrm>
            <a:off x="424180" y="1807530"/>
            <a:ext cx="11342370" cy="1038860"/>
          </a:xfrm>
          <a:prstGeom prst="rect">
            <a:avLst/>
          </a:prstGeom>
          <a:solidFill>
            <a:schemeClr val="accent3">
              <a:lumMod val="20000"/>
              <a:lumOff val="80000"/>
              <a:alpha val="50000"/>
            </a:schemeClr>
          </a:solidFill>
          <a:ln w="9525">
            <a:noFill/>
          </a:ln>
        </p:spPr>
        <p:txBody>
          <a:bodyPr wrap="square" anchor="t">
            <a:noAutofit/>
          </a:bodyPr>
          <a:lstStyle/>
          <a:p>
            <a:pPr marL="514350" indent="-514350">
              <a:lnSpc>
                <a:spcPct val="110000"/>
              </a:lnSpc>
              <a:spcBef>
                <a:spcPts val="0"/>
              </a:spcBef>
              <a:spcAft>
                <a:spcPts val="0"/>
              </a:spcAft>
              <a:buClr>
                <a:srgbClr val="C00000"/>
              </a:buClr>
              <a:buSzPct val="85000"/>
              <a:buFont typeface="+mj-lt"/>
              <a:buAutoNum type="arabicPeriod" startAt="4"/>
            </a:pPr>
            <a:r>
              <a:rPr lang="zh-CN" altLang="en-US" sz="2800" b="1" dirty="0">
                <a:solidFill>
                  <a:srgbClr val="1F2DA8"/>
                </a:solidFill>
                <a:latin typeface="Calibri" panose="020F0502020204030204" charset="0"/>
                <a:ea typeface="楷体" panose="02010609060101010101" charset="-122"/>
                <a:cs typeface="Calibri" panose="020F0502020204030204" charset="0"/>
              </a:rPr>
              <a:t>查询所有折扣</a:t>
            </a:r>
            <a:r>
              <a:rPr lang="en-US" altLang="x-none" sz="2800" b="1" dirty="0">
                <a:solidFill>
                  <a:srgbClr val="1F2DA8"/>
                </a:solidFill>
                <a:latin typeface="Calibri" panose="020F0502020204030204" charset="0"/>
                <a:ea typeface="楷体" panose="02010609060101010101" charset="-122"/>
                <a:cs typeface="Calibri" panose="020F0502020204030204" charset="0"/>
              </a:rPr>
              <a:t>(discnt)</a:t>
            </a:r>
            <a:r>
              <a:rPr lang="zh-CN" altLang="en-US" sz="2800" b="1" dirty="0">
                <a:solidFill>
                  <a:srgbClr val="1F2DA8"/>
                </a:solidFill>
                <a:latin typeface="Calibri" panose="020F0502020204030204" charset="0"/>
                <a:ea typeface="楷体" panose="02010609060101010101" charset="-122"/>
                <a:cs typeface="Calibri" panose="020F0502020204030204" charset="0"/>
              </a:rPr>
              <a:t>低于</a:t>
            </a:r>
            <a:r>
              <a:rPr lang="en-US" altLang="x-none" sz="2800" b="1" dirty="0">
                <a:solidFill>
                  <a:srgbClr val="1F2DA8"/>
                </a:solidFill>
                <a:latin typeface="Calibri" panose="020F0502020204030204" charset="0"/>
                <a:ea typeface="楷体" panose="02010609060101010101" charset="-122"/>
                <a:cs typeface="Calibri" panose="020F0502020204030204" charset="0"/>
              </a:rPr>
              <a:t>10%</a:t>
            </a:r>
            <a:r>
              <a:rPr lang="zh-CN" altLang="en-US" sz="2800" b="1" dirty="0">
                <a:solidFill>
                  <a:srgbClr val="1F2DA8"/>
                </a:solidFill>
                <a:latin typeface="Calibri" panose="020F0502020204030204" charset="0"/>
                <a:ea typeface="楷体" panose="02010609060101010101" charset="-122"/>
                <a:cs typeface="Calibri" panose="020F0502020204030204" charset="0"/>
              </a:rPr>
              <a:t>的顾客所在城市以及佣金</a:t>
            </a:r>
            <a:r>
              <a:rPr lang="en-US" altLang="x-none" sz="2800" b="1" dirty="0">
                <a:solidFill>
                  <a:srgbClr val="1F2DA8"/>
                </a:solidFill>
                <a:latin typeface="Calibri" panose="020F0502020204030204" charset="0"/>
                <a:ea typeface="楷体" panose="02010609060101010101" charset="-122"/>
                <a:cs typeface="Calibri" panose="020F0502020204030204" charset="0"/>
              </a:rPr>
              <a:t>(percent)</a:t>
            </a:r>
            <a:r>
              <a:rPr lang="zh-CN" altLang="en-US" sz="2800" b="1" dirty="0">
                <a:solidFill>
                  <a:srgbClr val="1F2DA8"/>
                </a:solidFill>
                <a:latin typeface="Calibri" panose="020F0502020204030204" charset="0"/>
                <a:ea typeface="楷体" panose="02010609060101010101" charset="-122"/>
                <a:cs typeface="Calibri" panose="020F0502020204030204" charset="0"/>
              </a:rPr>
              <a:t>低于</a:t>
            </a:r>
            <a:r>
              <a:rPr lang="en-US" altLang="x-none" sz="2800" b="1" dirty="0">
                <a:solidFill>
                  <a:srgbClr val="1F2DA8"/>
                </a:solidFill>
                <a:latin typeface="Calibri" panose="020F0502020204030204" charset="0"/>
                <a:ea typeface="楷体" panose="02010609060101010101" charset="-122"/>
                <a:cs typeface="Calibri" panose="020F0502020204030204" charset="0"/>
              </a:rPr>
              <a:t>6%</a:t>
            </a:r>
            <a:r>
              <a:rPr lang="zh-CN" altLang="en-US" sz="2800" b="1" dirty="0">
                <a:solidFill>
                  <a:srgbClr val="1F2DA8"/>
                </a:solidFill>
                <a:latin typeface="Calibri" panose="020F0502020204030204" charset="0"/>
                <a:ea typeface="楷体" panose="02010609060101010101" charset="-122"/>
                <a:cs typeface="Calibri" panose="020F0502020204030204" charset="0"/>
              </a:rPr>
              <a:t>的代理商所在城市的城市名称</a:t>
            </a:r>
          </a:p>
        </p:txBody>
      </p:sp>
      <mc:AlternateContent xmlns:mc="http://schemas.openxmlformats.org/markup-compatibility/2006" xmlns:a14="http://schemas.microsoft.com/office/drawing/2010/main">
        <mc:Choice Requires="a14">
          <p:sp>
            <p:nvSpPr>
              <p:cNvPr id="110598" name="Rectangle 6"/>
              <p:cNvSpPr/>
              <p:nvPr/>
            </p:nvSpPr>
            <p:spPr>
              <a:xfrm>
                <a:off x="1965960" y="3064510"/>
                <a:ext cx="3715385" cy="685800"/>
              </a:xfrm>
              <a:prstGeom prst="rect">
                <a:avLst/>
              </a:prstGeom>
              <a:noFill/>
              <a:ln w="9525">
                <a:noFill/>
              </a:ln>
            </p:spPr>
            <p:txBody>
              <a:bodyPr anchor="t">
                <a:noAutofit/>
              </a:bodyPr>
              <a:lstStyle/>
              <a:p>
                <a:pPr marL="228600" lvl="0" indent="-228600" algn="l" eaLnBrk="1" hangingPunct="1">
                  <a:lnSpc>
                    <a:spcPct val="110000"/>
                  </a:lnSpc>
                  <a:spcBef>
                    <a:spcPct val="20000"/>
                  </a:spcBef>
                  <a:buFont typeface="Wingdings" panose="05000000000000000000" pitchFamily="2" charset="2"/>
                  <a:buNone/>
                </a:pPr>
                <a14:m>
                  <m:oMathPara xmlns:m="http://schemas.openxmlformats.org/officeDocument/2006/math">
                    <m:oMathParaPr>
                      <m:jc m:val="center"/>
                    </m:oMathParaPr>
                    <m:oMath xmlns:m="http://schemas.openxmlformats.org/officeDocument/2006/math">
                      <m:sSub>
                        <m:sSubPr>
                          <m:ctrlPr>
                            <a:rPr lang="en-US" altLang="x-none" sz="2800" b="1" i="1" dirty="0">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𝝅</m:t>
                          </m:r>
                        </m:e>
                        <m: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𝒄𝒊𝒕𝒚</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sSub>
                        <m:sSubPr>
                          <m:ctrlPr>
                            <a:rPr lang="en-US" altLang="x-none" sz="2800" b="1" i="1" dirty="0">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𝝈</m:t>
                          </m:r>
                        </m:e>
                        <m: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&lt;</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𝟏𝟎</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𝑪</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oMath>
                  </m:oMathPara>
                </a14:m>
                <a:endParaRPr lang="en-US" altLang="x-none" sz="2800" b="1" i="1" dirty="0">
                  <a:solidFill>
                    <a:srgbClr val="FF0000"/>
                  </a:solidFill>
                  <a:latin typeface="Times New Roman" panose="02020603050405020304" charset="0"/>
                  <a:ea typeface="宋体" panose="02010600030101010101" pitchFamily="2" charset="-122"/>
                  <a:sym typeface="Symbol" panose="05050102010706020507" pitchFamily="2" charset="2"/>
                </a:endParaRPr>
              </a:p>
            </p:txBody>
          </p:sp>
        </mc:Choice>
        <mc:Fallback xmlns="">
          <p:sp>
            <p:nvSpPr>
              <p:cNvPr id="110598" name="Rectangle 6"/>
              <p:cNvSpPr>
                <a:spLocks noRot="1" noChangeAspect="1" noMove="1" noResize="1" noEditPoints="1" noAdjustHandles="1" noChangeArrowheads="1" noChangeShapeType="1" noTextEdit="1"/>
              </p:cNvSpPr>
              <p:nvPr/>
            </p:nvSpPr>
            <p:spPr>
              <a:xfrm>
                <a:off x="1965960" y="3064510"/>
                <a:ext cx="3715385" cy="685800"/>
              </a:xfrm>
              <a:prstGeom prst="rect">
                <a:avLst/>
              </a:prstGeom>
              <a:blipFill rotWithShape="1">
                <a:blip r:embed="rId3"/>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Rectangle 6"/>
              <p:cNvSpPr/>
              <p:nvPr/>
            </p:nvSpPr>
            <p:spPr>
              <a:xfrm>
                <a:off x="6266815" y="3064510"/>
                <a:ext cx="3715385" cy="685800"/>
              </a:xfrm>
              <a:prstGeom prst="rect">
                <a:avLst/>
              </a:prstGeom>
              <a:noFill/>
              <a:ln w="9525">
                <a:noFill/>
              </a:ln>
            </p:spPr>
            <p:txBody>
              <a:bodyPr anchor="t">
                <a:noAutofit/>
              </a:bodyPr>
              <a:lstStyle/>
              <a:p>
                <a:pPr marL="228600" lvl="0" indent="-228600" algn="l" eaLnBrk="1" hangingPunct="1">
                  <a:lnSpc>
                    <a:spcPct val="110000"/>
                  </a:lnSpc>
                  <a:spcBef>
                    <a:spcPct val="20000"/>
                  </a:spcBef>
                  <a:buFont typeface="Wingdings" panose="05000000000000000000" pitchFamily="2" charset="2"/>
                  <a:buNone/>
                </a:pPr>
                <a14:m>
                  <m:oMathPara xmlns:m="http://schemas.openxmlformats.org/officeDocument/2006/math">
                    <m:oMathParaPr>
                      <m:jc m:val="centerGroup"/>
                    </m:oMathParaPr>
                    <m:oMath xmlns:m="http://schemas.openxmlformats.org/officeDocument/2006/math">
                      <m:sSub>
                        <m:sSubPr>
                          <m:ctrlPr>
                            <a:rPr lang="en-US" altLang="x-none" sz="2800" b="1" i="1" dirty="0">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𝝅</m:t>
                          </m:r>
                        </m:e>
                        <m: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𝒄𝒊𝒕𝒚</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sSub>
                        <m:sSubPr>
                          <m:ctrlPr>
                            <a:rPr lang="en-US" altLang="x-none" sz="2800" b="1" i="1" dirty="0">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𝝈</m:t>
                          </m:r>
                        </m:e>
                        <m: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𝒑𝒆𝒓𝒄𝒆𝒏𝒕</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&lt;</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𝟔</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𝑨</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oMath>
                  </m:oMathPara>
                </a14:m>
                <a:endParaRPr lang="en-US" altLang="x-none" sz="2800" b="1" i="1" dirty="0">
                  <a:solidFill>
                    <a:srgbClr val="FF0000"/>
                  </a:solidFill>
                  <a:latin typeface="Times New Roman" panose="02020603050405020304" charset="0"/>
                  <a:ea typeface="宋体" panose="02010600030101010101" pitchFamily="2" charset="-122"/>
                  <a:sym typeface="Symbol" panose="05050102010706020507" pitchFamily="2" charset="2"/>
                </a:endParaRPr>
              </a:p>
            </p:txBody>
          </p:sp>
        </mc:Choice>
        <mc:Fallback xmlns="">
          <p:sp>
            <p:nvSpPr>
              <p:cNvPr id="3" name="Rectangle 6"/>
              <p:cNvSpPr>
                <a:spLocks noRot="1" noChangeAspect="1" noMove="1" noResize="1" noEditPoints="1" noAdjustHandles="1" noChangeArrowheads="1" noChangeShapeType="1" noTextEdit="1"/>
              </p:cNvSpPr>
              <p:nvPr/>
            </p:nvSpPr>
            <p:spPr>
              <a:xfrm>
                <a:off x="6266815" y="3064510"/>
                <a:ext cx="3715385" cy="685800"/>
              </a:xfrm>
              <a:prstGeom prst="rect">
                <a:avLst/>
              </a:prstGeom>
              <a:blipFill rotWithShape="1">
                <a:blip r:embed="rId4"/>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6"/>
              <p:cNvSpPr/>
              <p:nvPr/>
            </p:nvSpPr>
            <p:spPr>
              <a:xfrm>
                <a:off x="5554980" y="3064510"/>
                <a:ext cx="711835" cy="685800"/>
              </a:xfrm>
              <a:prstGeom prst="rect">
                <a:avLst/>
              </a:prstGeom>
              <a:noFill/>
              <a:ln w="9525">
                <a:noFill/>
              </a:ln>
            </p:spPr>
            <p:txBody>
              <a:bodyPr anchor="t">
                <a:noAutofit/>
              </a:bodyPr>
              <a:lstStyle/>
              <a:p>
                <a:pPr marL="0" lvl="0" indent="0" algn="ctr" eaLnBrk="1" hangingPunct="1">
                  <a:lnSpc>
                    <a:spcPct val="110000"/>
                  </a:lnSpc>
                  <a:spcBef>
                    <a:spcPct val="20000"/>
                  </a:spcBef>
                  <a:buFont typeface="Wingdings" panose="05000000000000000000" pitchFamily="2" charset="2"/>
                  <a:buNone/>
                </a:pPr>
                <a:r>
                  <a:rPr lang="en-US" altLang="x-none" sz="2800" b="1" i="1" dirty="0">
                    <a:solidFill>
                      <a:srgbClr val="FF0000"/>
                    </a:solidFill>
                    <a:latin typeface="Times New Roman" panose="02020603050405020304" charset="0"/>
                    <a:ea typeface="宋体" panose="02010600030101010101" pitchFamily="2" charset="-122"/>
                  </a:rPr>
                  <a:t> </a:t>
                </a:r>
                <a14:m>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oMath>
                </a14:m>
                <a:r>
                  <a:rPr lang="en-US" altLang="x-none" sz="2800" b="1" i="1" dirty="0">
                    <a:solidFill>
                      <a:srgbClr val="FF0000"/>
                    </a:solidFill>
                    <a:latin typeface="Times New Roman" panose="02020603050405020304" charset="0"/>
                    <a:ea typeface="宋体" panose="02010600030101010101" pitchFamily="2" charset="-122"/>
                    <a:sym typeface="Symbol" panose="05050102010706020507" pitchFamily="2" charset="2"/>
                  </a:rPr>
                  <a:t> </a:t>
                </a:r>
              </a:p>
            </p:txBody>
          </p:sp>
        </mc:Choice>
        <mc:Fallback xmlns="">
          <p:sp>
            <p:nvSpPr>
              <p:cNvPr id="4" name="Rectangle 6"/>
              <p:cNvSpPr>
                <a:spLocks noRot="1" noChangeAspect="1" noMove="1" noResize="1" noEditPoints="1" noAdjustHandles="1" noChangeArrowheads="1" noChangeShapeType="1" noTextEdit="1"/>
              </p:cNvSpPr>
              <p:nvPr/>
            </p:nvSpPr>
            <p:spPr>
              <a:xfrm>
                <a:off x="5554980" y="3064510"/>
                <a:ext cx="711835" cy="685800"/>
              </a:xfrm>
              <a:prstGeom prst="rect">
                <a:avLst/>
              </a:prstGeom>
              <a:blipFill rotWithShape="1">
                <a:blip r:embed="rId5"/>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603885" y="4182110"/>
                <a:ext cx="10694670" cy="1077595"/>
              </a:xfrm>
              <a:prstGeom prst="rect">
                <a:avLst/>
              </a:prstGeom>
              <a:noFill/>
            </p:spPr>
            <p:txBody>
              <a:bodyPr wrap="square" rtlCol="0">
                <a:noAutofit/>
              </a:bodyPr>
              <a:lstStyle/>
              <a:p>
                <a:pPr indent="0" fontAlgn="auto">
                  <a:spcBef>
                    <a:spcPts val="1000"/>
                  </a:spcBef>
                  <a:spcAft>
                    <a:spcPts val="1000"/>
                  </a:spcAft>
                </a:pPr>
                <a:r>
                  <a:rPr lang="zh-CN" altLang="en-US" sz="2800" b="1">
                    <a:solidFill>
                      <a:srgbClr val="0000C8"/>
                    </a:solidFill>
                    <a:latin typeface="楷体" panose="02010609060101010101" charset="-122"/>
                    <a:ea typeface="楷体" panose="02010609060101010101" charset="-122"/>
                  </a:rPr>
                  <a:t>【</a:t>
                </a:r>
                <a:r>
                  <a:rPr lang="zh-CN" altLang="en-US" sz="2800" b="1">
                    <a:solidFill>
                      <a:srgbClr val="FF0000"/>
                    </a:solidFill>
                    <a:latin typeface="楷体" panose="02010609060101010101" charset="-122"/>
                    <a:ea typeface="楷体" panose="02010609060101010101" charset="-122"/>
                  </a:rPr>
                  <a:t>思考</a:t>
                </a:r>
                <a:r>
                  <a:rPr lang="zh-CN" altLang="en-US" sz="2800" b="1">
                    <a:solidFill>
                      <a:srgbClr val="0000C8"/>
                    </a:solidFill>
                    <a:latin typeface="楷体" panose="02010609060101010101" charset="-122"/>
                    <a:ea typeface="楷体" panose="02010609060101010101" charset="-122"/>
                  </a:rPr>
                  <a:t>】能否将该查询表示如下？</a:t>
                </a:r>
              </a:p>
              <a:p>
                <a:pPr indent="0" algn="ctr" fontAlgn="auto">
                  <a:spcBef>
                    <a:spcPts val="1000"/>
                  </a:spcBef>
                  <a:spcAft>
                    <a:spcPts val="1000"/>
                  </a:spcAft>
                </a:pPr>
                <a14:m>
                  <m:oMathPara xmlns:m="http://schemas.openxmlformats.org/officeDocument/2006/math">
                    <m:oMathParaPr>
                      <m:jc m:val="centerGroup"/>
                    </m:oMathParaPr>
                    <m:oMath xmlns:m="http://schemas.openxmlformats.org/officeDocument/2006/math">
                      <m:sSub>
                        <m:sSubPr>
                          <m:ctrlPr>
                            <a:rPr lang="en-US" altLang="x-none" sz="2800" b="1" i="1" dirty="0">
                              <a:solidFill>
                                <a:srgbClr val="C00000"/>
                              </a:solidFill>
                              <a:latin typeface="Cambria Math" panose="02040503050406030204" pitchFamily="18" charset="0"/>
                              <a:ea typeface="宋体" panose="02010600030101010101" pitchFamily="2" charset="-122"/>
                              <a:cs typeface="Cambria Math" panose="02040503050406030204" charset="0"/>
                              <a:sym typeface="+mn-ea"/>
                            </a:rPr>
                          </m:ctrlPr>
                        </m:sSubPr>
                        <m:e>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𝝅</m:t>
                          </m:r>
                        </m:e>
                        <m:sub>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𝒄𝒊𝒕𝒚</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 </m:t>
                          </m:r>
                        </m:sub>
                      </m:sSub>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m:t>
                      </m:r>
                      <m:r>
                        <a:rPr lang="en-US" altLang="zh-CN"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  (</m:t>
                      </m:r>
                      <m:sSub>
                        <m:sSubPr>
                          <m:ctrlPr>
                            <a:rPr lang="en-US" altLang="x-none" sz="2800" b="1" i="1" dirty="0">
                              <a:solidFill>
                                <a:srgbClr val="C00000"/>
                              </a:solidFill>
                              <a:latin typeface="Cambria Math" panose="02040503050406030204" pitchFamily="18" charset="0"/>
                              <a:ea typeface="宋体" panose="02010600030101010101" pitchFamily="2" charset="-122"/>
                              <a:cs typeface="Cambria Math" panose="02040503050406030204" charset="0"/>
                              <a:sym typeface="+mn-ea"/>
                            </a:rPr>
                          </m:ctrlPr>
                        </m:sSubPr>
                        <m:e>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𝝈</m:t>
                          </m:r>
                        </m:e>
                        <m:sub>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𝒅𝒊𝒔𝒄𝒏𝒕</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&lt;</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𝟏𝟎</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 </m:t>
                          </m:r>
                        </m:sub>
                      </m:sSub>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𝑪</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  ∪  (</m:t>
                      </m:r>
                      <m:sSub>
                        <m:sSubPr>
                          <m:ctrlPr>
                            <a:rPr lang="en-US" altLang="x-none" sz="2800" b="1" i="1" dirty="0">
                              <a:solidFill>
                                <a:srgbClr val="C00000"/>
                              </a:solidFill>
                              <a:latin typeface="Cambria Math" panose="02040503050406030204" pitchFamily="18" charset="0"/>
                              <a:ea typeface="宋体" panose="02010600030101010101" pitchFamily="2" charset="-122"/>
                              <a:cs typeface="Cambria Math" panose="02040503050406030204" charset="0"/>
                              <a:sym typeface="+mn-ea"/>
                            </a:rPr>
                          </m:ctrlPr>
                        </m:sSubPr>
                        <m:e>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𝝈</m:t>
                          </m:r>
                        </m:e>
                        <m:sub>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𝒑𝒆𝒓𝒄𝒆𝒏𝒕</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&lt;</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𝟔</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 </m:t>
                          </m:r>
                        </m:sub>
                      </m:sSub>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mn-ea"/>
                        </a:rPr>
                        <m:t>(</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𝑨</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oMath>
                  </m:oMathPara>
                </a14:m>
                <a:endParaRPr lang="en-US" altLang="zh-CN" sz="2800" b="1" i="1" dirty="0">
                  <a:solidFill>
                    <a:srgbClr val="C00000"/>
                  </a:solidFill>
                  <a:latin typeface="Cambria Math" panose="02040503050406030204" charset="0"/>
                  <a:ea typeface="MS Mincho" charset="0"/>
                  <a:cs typeface="Cambria Math" panose="02040503050406030204" charset="0"/>
                  <a:sym typeface="Symbol" panose="05050102010706020507" pitchFamily="2" charset="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603885" y="4182110"/>
                <a:ext cx="10694670" cy="1077595"/>
              </a:xfrm>
              <a:prstGeom prst="rect">
                <a:avLst/>
              </a:prstGeom>
              <a:blipFill rotWithShape="1">
                <a:blip r:embed="rId6"/>
                <a:stretch>
                  <a:fillRect/>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565CE74E-AB26-4998-AD42-012C4C1AD076}" type="slidenum">
              <a:rPr lang="zh-CN" altLang="en-US" smtClean="0"/>
              <a:t>64</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14" name="Rectangle 5"/>
              <p:cNvSpPr/>
              <p:nvPr/>
            </p:nvSpPr>
            <p:spPr>
              <a:xfrm>
                <a:off x="424180" y="5977255"/>
                <a:ext cx="11342370" cy="481965"/>
              </a:xfrm>
              <a:prstGeom prst="rect">
                <a:avLst/>
              </a:prstGeom>
              <a:solidFill>
                <a:schemeClr val="bg2">
                  <a:alpha val="50000"/>
                </a:schemeClr>
              </a:solidFill>
              <a:ln w="9525">
                <a:noFill/>
              </a:ln>
            </p:spPr>
            <p:txBody>
              <a:bodyPr wrap="square" anchor="t">
                <a:noAutofit/>
              </a:bodyPr>
              <a:lstStyle/>
              <a:p>
                <a:pPr lvl="0" indent="0" algn="l" fontAlgn="auto">
                  <a:lnSpc>
                    <a:spcPct val="100000"/>
                  </a:lnSpc>
                  <a:spcBef>
                    <a:spcPts val="0"/>
                  </a:spcBef>
                  <a:spcAft>
                    <a:spcPts val="0"/>
                  </a:spcAft>
                  <a:buClr>
                    <a:srgbClr val="C00000"/>
                  </a:buClr>
                  <a:buSzPct val="85000"/>
                  <a:buNone/>
                </a:pPr>
                <a:r>
                  <a:rPr lang="zh-CN" altLang="en-US" sz="2400" b="1" dirty="0">
                    <a:solidFill>
                      <a:srgbClr val="1F2DA8"/>
                    </a:solidFill>
                    <a:latin typeface="楷体" panose="02010609060101010101" charset="-122"/>
                    <a:ea typeface="楷体" panose="02010609060101010101" charset="-122"/>
                    <a:cs typeface="Cambria Math" panose="02040503050406030204" charset="0"/>
                  </a:rPr>
                  <a:t>【答】不能。中间的并运算</a:t>
                </a:r>
                <a14:m>
                  <m:oMath xmlns:m="http://schemas.openxmlformats.org/officeDocument/2006/math">
                    <m:r>
                      <a:rPr lang="en-US" altLang="zh-CN"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 (</m:t>
                    </m:r>
                    <m:sSub>
                      <m:sSubPr>
                        <m:ctrlPr>
                          <a:rPr lang="en-US" altLang="x-none" sz="2400" b="1" i="1" dirty="0">
                            <a:solidFill>
                              <a:srgbClr val="1F2DA8"/>
                            </a:solidFill>
                            <a:latin typeface="Cambria Math" panose="02040503050406030204" pitchFamily="18" charset="0"/>
                            <a:ea typeface="宋体" panose="02010600030101010101" pitchFamily="2" charset="-122"/>
                            <a:cs typeface="Cambria Math" panose="02040503050406030204" charset="0"/>
                            <a:sym typeface="+mn-ea"/>
                          </a:rPr>
                        </m:ctrlPr>
                      </m:sSubPr>
                      <m:e>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𝝈</m:t>
                        </m:r>
                      </m:e>
                      <m:sub>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𝒅𝒊𝒔𝒄𝒏𝒕</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&lt;</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𝟏𝟎</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 </m:t>
                        </m:r>
                      </m:sub>
                    </m:sSub>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𝑪</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 ∪ (</m:t>
                    </m:r>
                    <m:sSub>
                      <m:sSubPr>
                        <m:ctrlPr>
                          <a:rPr lang="en-US" altLang="x-none" sz="2400" b="1" i="1" dirty="0">
                            <a:solidFill>
                              <a:srgbClr val="1F2DA8"/>
                            </a:solidFill>
                            <a:latin typeface="Cambria Math" panose="02040503050406030204" pitchFamily="18" charset="0"/>
                            <a:ea typeface="宋体" panose="02010600030101010101" pitchFamily="2" charset="-122"/>
                            <a:cs typeface="Cambria Math" panose="02040503050406030204" charset="0"/>
                            <a:sym typeface="+mn-ea"/>
                          </a:rPr>
                        </m:ctrlPr>
                      </m:sSubPr>
                      <m:e>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𝝈</m:t>
                        </m:r>
                      </m:e>
                      <m:sub>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𝒑𝒆𝒓𝒄𝒆𝒏𝒕</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&lt;</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𝟔</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 </m:t>
                        </m:r>
                      </m:sub>
                    </m:sSub>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mn-ea"/>
                      </a:rPr>
                      <m:t>(</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𝑨</m:t>
                    </m:r>
                    <m:r>
                      <a:rPr lang="en-US" altLang="x-none" sz="2400" b="1" i="1" dirty="0">
                        <a:solidFill>
                          <a:srgbClr val="1F2DA8"/>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oMath>
                </a14:m>
                <a:r>
                  <a:rPr lang="zh-CN" altLang="en-US" sz="2400" b="1" dirty="0">
                    <a:solidFill>
                      <a:srgbClr val="1F2DA8"/>
                    </a:solidFill>
                    <a:latin typeface="楷体" panose="02010609060101010101" charset="-122"/>
                    <a:ea typeface="楷体" panose="02010609060101010101" charset="-122"/>
                    <a:cs typeface="Cambria Math" panose="02040503050406030204" charset="0"/>
                  </a:rPr>
                  <a:t>是不合法的。</a:t>
                </a:r>
              </a:p>
            </p:txBody>
          </p:sp>
        </mc:Choice>
        <mc:Fallback xmlns="">
          <p:sp>
            <p:nvSpPr>
              <p:cNvPr id="14" name="Rectangle 5"/>
              <p:cNvSpPr>
                <a:spLocks noRot="1" noChangeAspect="1" noMove="1" noResize="1" noEditPoints="1" noAdjustHandles="1" noChangeArrowheads="1" noChangeShapeType="1" noTextEdit="1"/>
              </p:cNvSpPr>
              <p:nvPr/>
            </p:nvSpPr>
            <p:spPr>
              <a:xfrm>
                <a:off x="424180" y="5977255"/>
                <a:ext cx="11342370" cy="481965"/>
              </a:xfrm>
              <a:prstGeom prst="rect">
                <a:avLst/>
              </a:prstGeom>
              <a:blipFill rotWithShape="1">
                <a:blip r:embed="rId7"/>
                <a:stretch>
                  <a:fillRect/>
                </a:stretch>
              </a:blipFill>
              <a:ln w="9525">
                <a:noFill/>
              </a:ln>
            </p:spPr>
            <p:txBody>
              <a:bodyPr/>
              <a:lstStyle/>
              <a:p>
                <a:r>
                  <a:rPr lang="zh-CN" altLang="en-US">
                    <a:noFill/>
                  </a:rPr>
                  <a:t> </a:t>
                </a:r>
              </a:p>
            </p:txBody>
          </p:sp>
        </mc:Fallback>
      </mc:AlternateContent>
      <p:grpSp>
        <p:nvGrpSpPr>
          <p:cNvPr id="8" name="组合 7"/>
          <p:cNvGrpSpPr/>
          <p:nvPr/>
        </p:nvGrpSpPr>
        <p:grpSpPr>
          <a:xfrm>
            <a:off x="423545" y="664210"/>
            <a:ext cx="11342370" cy="952500"/>
            <a:chOff x="667" y="1046"/>
            <a:chExt cx="17862" cy="1500"/>
          </a:xfrm>
        </p:grpSpPr>
        <p:sp>
          <p:nvSpPr>
            <p:cNvPr id="111625"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7"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0598">
                                            <p:txEl>
                                              <p:pRg st="0" end="0"/>
                                            </p:txEl>
                                          </p:spTgt>
                                        </p:tgtEl>
                                        <p:attrNameLst>
                                          <p:attrName>style.visibility</p:attrName>
                                        </p:attrNameLst>
                                      </p:cBhvr>
                                      <p:to>
                                        <p:strVal val="visible"/>
                                      </p:to>
                                    </p:set>
                                    <p:animEffect transition="in" filter="blinds(horizontal)">
                                      <p:cBhvr>
                                        <p:cTn id="7" dur="500"/>
                                        <p:tgtEl>
                                          <p:spTgt spid="110598">
                                            <p:txEl>
                                              <p:pRg st="0" end="0"/>
                                            </p:txEl>
                                          </p:spTgt>
                                        </p:tgtEl>
                                      </p:cBhvr>
                                    </p:animEffect>
                                  </p:childTnLst>
                                  <p:subTnLst>
                                    <p:animClr clrSpc="rgb" dir="cw">
                                      <p:cBhvr override="childStyle">
                                        <p:cTn dur="65" fill="hold" display="1" masterRel="nextClick" afterEffect="1"/>
                                        <p:tgtEl>
                                          <p:spTgt spid="110598">
                                            <p:txEl>
                                              <p:pRg st="0" end="0"/>
                                            </p:txEl>
                                          </p:spTgt>
                                        </p:tgtEl>
                                        <p:attrNameLst>
                                          <p:attrName>ppt_c</p:attrName>
                                        </p:attrNameLst>
                                      </p:cBhvr>
                                      <p:to>
                                        <a:srgbClr val="1F2DA8"/>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subTnLst>
                                    <p:animClr clrSpc="rgb" dir="cw">
                                      <p:cBhvr override="childStyle">
                                        <p:cTn dur="65" fill="hold" display="1" masterRel="nextClick" afterEffect="1"/>
                                        <p:tgtEl>
                                          <p:spTgt spid="3">
                                            <p:txEl>
                                              <p:pRg st="0" end="0"/>
                                            </p:txEl>
                                          </p:spTgt>
                                        </p:tgtEl>
                                        <p:attrNameLst>
                                          <p:attrName>ppt_c</p:attrName>
                                        </p:attrNameLst>
                                      </p:cBhvr>
                                      <p:to>
                                        <a:srgbClr val="1F2DA8"/>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blinds(horizontal)">
                                      <p:cBhvr>
                                        <p:cTn id="17" dur="500"/>
                                        <p:tgtEl>
                                          <p:spTgt spid="4">
                                            <p:txEl>
                                              <p:pRg st="0" end="0"/>
                                            </p:txEl>
                                          </p:spTgt>
                                        </p:tgtEl>
                                      </p:cBhvr>
                                    </p:animEffect>
                                  </p:childTnLst>
                                  <p:subTnLst>
                                    <p:animClr clrSpc="rgb" dir="cw">
                                      <p:cBhvr override="childStyle">
                                        <p:cTn dur="65" fill="hold" display="1" masterRel="nextClick" afterEffect="1"/>
                                        <p:tgtEl>
                                          <p:spTgt spid="4">
                                            <p:txEl>
                                              <p:pRg st="0" end="0"/>
                                            </p:txEl>
                                          </p:spTgt>
                                        </p:tgtEl>
                                        <p:attrNameLst>
                                          <p:attrName>ppt_c</p:attrName>
                                        </p:attrNameLst>
                                      </p:cBhvr>
                                      <p:to>
                                        <a:srgbClr val="1F2DA8"/>
                                      </p:to>
                                    </p:animClr>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4">
                                            <p:bg/>
                                          </p:spTgt>
                                        </p:tgtEl>
                                        <p:attrNameLst>
                                          <p:attrName>style.visibility</p:attrName>
                                        </p:attrNameLst>
                                      </p:cBhvr>
                                      <p:to>
                                        <p:strVal val="visible"/>
                                      </p:to>
                                    </p:set>
                                    <p:animEffect transition="in" filter="blinds(horizontal)">
                                      <p:cBhvr>
                                        <p:cTn id="28" dur="500"/>
                                        <p:tgtEl>
                                          <p:spTgt spid="14">
                                            <p:bg/>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blinds(horizontal)">
                                      <p:cBhvr>
                                        <p:cTn id="31"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uiExpand="1" build="p" bldLvl="2"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1414081" y="3172505"/>
                <a:ext cx="7158355" cy="51816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𝝅</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𝒄𝒏𝒂𝒎𝒆</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𝒄𝒊𝒕𝒚</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𝑨</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𝒂𝒏𝒂𝒎𝒆</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414081" y="3172505"/>
                <a:ext cx="7158355" cy="518160"/>
              </a:xfrm>
              <a:prstGeom prst="rect">
                <a:avLst/>
              </a:prstGeom>
              <a:blipFill rotWithShape="1">
                <a:blip r:embed="rId2"/>
                <a:stretch>
                  <a:fillRect l="-8" t="-9" r="-19" b="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4978336" y="3172505"/>
                <a:ext cx="3420745" cy="51816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𝝈</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𝒄𝒊𝒕𝒚</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𝑨</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𝒄𝒊𝒕𝒚</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978336" y="3172505"/>
                <a:ext cx="3420745" cy="518160"/>
              </a:xfrm>
              <a:prstGeom prst="rect">
                <a:avLst/>
              </a:prstGeom>
              <a:blipFill rotWithShape="1">
                <a:blip r:embed="rId3"/>
                <a:stretch>
                  <a:fillRect l="-17" t="-9" r="-206" b="9"/>
                </a:stretch>
              </a:blipFill>
            </p:spPr>
            <p:txBody>
              <a:bodyPr/>
              <a:lstStyle/>
              <a:p>
                <a:r>
                  <a:rPr lang="zh-CN" altLang="en-US">
                    <a:noFill/>
                  </a:rPr>
                  <a:t> </a:t>
                </a:r>
              </a:p>
            </p:txBody>
          </p:sp>
        </mc:Fallback>
      </mc:AlternateContent>
      <p:sp>
        <p:nvSpPr>
          <p:cNvPr id="112643" name="Rectangle 2"/>
          <p:cNvSpPr>
            <a:spLocks noGrp="1"/>
          </p:cNvSpPr>
          <p:nvPr>
            <p:ph type="title"/>
          </p:nvPr>
        </p:nvSpPr>
        <p:spPr/>
        <p:txBody>
          <a:bodyPr wrap="square" anchor="ctr"/>
          <a:lstStyle/>
          <a:p>
            <a:pPr eaLnBrk="1" hangingPunct="1"/>
            <a:r>
              <a:rPr lang="en-US" altLang="x-none" dirty="0"/>
              <a:t>Example 5 </a:t>
            </a:r>
            <a:r>
              <a:rPr lang="zh-CN" altLang="en-US" dirty="0"/>
              <a:t>（</a:t>
            </a:r>
            <a:r>
              <a:rPr lang="en-US" altLang="zh-CN" dirty="0"/>
              <a:t>1</a:t>
            </a:r>
            <a:r>
              <a:rPr lang="zh-CN" altLang="en-US" dirty="0"/>
              <a:t>）</a:t>
            </a:r>
          </a:p>
        </p:txBody>
      </p:sp>
      <p:sp>
        <p:nvSpPr>
          <p:cNvPr id="112644" name="Rectangle 3"/>
          <p:cNvSpPr>
            <a:spLocks noGrp="1"/>
          </p:cNvSpPr>
          <p:nvPr>
            <p:ph idx="1"/>
          </p:nvPr>
        </p:nvSpPr>
        <p:spPr>
          <a:xfrm>
            <a:off x="424180" y="1856425"/>
            <a:ext cx="11343005" cy="1038860"/>
          </a:xfrm>
          <a:solidFill>
            <a:schemeClr val="accent3">
              <a:lumMod val="20000"/>
              <a:lumOff val="80000"/>
              <a:alpha val="50000"/>
            </a:schemeClr>
          </a:solidFill>
        </p:spPr>
        <p:txBody>
          <a:bodyPr wrap="square" anchor="t">
            <a:noAutofit/>
          </a:bodyPr>
          <a:lstStyle/>
          <a:p>
            <a:pPr marL="514350" indent="-514350" eaLnBrk="1" hangingPunct="1">
              <a:lnSpc>
                <a:spcPct val="110000"/>
              </a:lnSpc>
              <a:buFont typeface="+mj-lt"/>
              <a:buAutoNum type="arabicPeriod" startAt="5"/>
            </a:pPr>
            <a:r>
              <a:rPr lang="zh-CN" altLang="en-US" sz="2800" dirty="0">
                <a:ea typeface="楷体" panose="02010609060101010101" charset="-122"/>
                <a:cs typeface="+mn-lt"/>
              </a:rPr>
              <a:t>查询位于同一个城市的顾客和代理商，给出顾客的姓名</a:t>
            </a:r>
            <a:r>
              <a:rPr lang="en-US" altLang="x-none" sz="2800" dirty="0">
                <a:ea typeface="楷体" panose="02010609060101010101" charset="-122"/>
                <a:cs typeface="+mn-lt"/>
              </a:rPr>
              <a:t>(cname)</a:t>
            </a:r>
            <a:r>
              <a:rPr lang="zh-CN" altLang="en-US" sz="2800" dirty="0">
                <a:ea typeface="楷体" panose="02010609060101010101" charset="-122"/>
                <a:cs typeface="+mn-lt"/>
              </a:rPr>
              <a:t>、代理商的名称</a:t>
            </a:r>
            <a:r>
              <a:rPr lang="en-US" altLang="x-none" sz="2800" dirty="0">
                <a:ea typeface="楷体" panose="02010609060101010101" charset="-122"/>
                <a:cs typeface="+mn-lt"/>
              </a:rPr>
              <a:t>(aname)</a:t>
            </a:r>
            <a:r>
              <a:rPr lang="zh-CN" altLang="en-US" sz="2800" dirty="0">
                <a:ea typeface="楷体" panose="02010609060101010101" charset="-122"/>
                <a:cs typeface="+mn-lt"/>
              </a:rPr>
              <a:t>以及他们所在城市的名称</a:t>
            </a:r>
            <a:r>
              <a:rPr lang="en-US" altLang="x-none" sz="2800" dirty="0">
                <a:ea typeface="楷体" panose="02010609060101010101" charset="-122"/>
                <a:cs typeface="+mn-lt"/>
              </a:rPr>
              <a:t>(city)</a:t>
            </a:r>
          </a:p>
        </p:txBody>
      </p:sp>
      <mc:AlternateContent xmlns:mc="http://schemas.openxmlformats.org/markup-compatibility/2006" xmlns:a14="http://schemas.microsoft.com/office/drawing/2010/main">
        <mc:Choice Requires="a14">
          <p:sp>
            <p:nvSpPr>
              <p:cNvPr id="2" name="文本框 1"/>
              <p:cNvSpPr txBox="1"/>
              <p:nvPr/>
            </p:nvSpPr>
            <p:spPr>
              <a:xfrm>
                <a:off x="7086536" y="3172505"/>
                <a:ext cx="1043940" cy="52197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𝑨</m:t>
                      </m:r>
                    </m:oMath>
                  </m:oMathPara>
                </a14:m>
                <a:endParaRPr lang="en-US" altLang="zh-CN" sz="2800" b="1" i="1">
                  <a:solidFill>
                    <a:srgbClr val="FF0000"/>
                  </a:solidFill>
                  <a:latin typeface="Cambria Math" panose="02040503050406030204" charset="0"/>
                  <a:cs typeface="Cambria Math" panose="0204050305040603020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086536" y="3172505"/>
                <a:ext cx="1043940" cy="521970"/>
              </a:xfrm>
              <a:prstGeom prst="rect">
                <a:avLst/>
              </a:prstGeom>
              <a:blipFill rotWithShape="1">
                <a:blip r:embed="rId4"/>
                <a:stretch>
                  <a:fillRect l="-55" t="-9" r="-1770" b="9"/>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565CE74E-AB26-4998-AD42-012C4C1AD076}" type="slidenum">
              <a:rPr lang="zh-CN" altLang="en-US" smtClean="0"/>
              <a:t>65</a:t>
            </a:fld>
            <a:endParaRPr lang="zh-CN" altLang="en-US"/>
          </a:p>
        </p:txBody>
      </p:sp>
      <p:sp>
        <p:nvSpPr>
          <p:cNvPr id="5" name="页脚占位符 4"/>
          <p:cNvSpPr>
            <a:spLocks noGrp="1"/>
          </p:cNvSpPr>
          <p:nvPr>
            <p:ph type="ftr" sz="quarter" idx="11"/>
          </p:nvPr>
        </p:nvSpPr>
        <p:spPr/>
        <p:txBody>
          <a:bodyPr/>
          <a:lstStyle/>
          <a:p>
            <a:r>
              <a:rPr lang="zh-CN" altLang="en-US"/>
              <a:t>ch02_2_关系代数基本运算</a:t>
            </a:r>
          </a:p>
        </p:txBody>
      </p:sp>
      <p:sp>
        <p:nvSpPr>
          <p:cNvPr id="14" name="Rectangle 5"/>
          <p:cNvSpPr/>
          <p:nvPr/>
        </p:nvSpPr>
        <p:spPr>
          <a:xfrm>
            <a:off x="424815" y="4240530"/>
            <a:ext cx="11342370" cy="2322830"/>
          </a:xfrm>
          <a:prstGeom prst="rect">
            <a:avLst/>
          </a:prstGeom>
          <a:solidFill>
            <a:schemeClr val="bg2">
              <a:alpha val="50000"/>
            </a:schemeClr>
          </a:solidFill>
          <a:ln w="9525">
            <a:noFill/>
          </a:ln>
        </p:spPr>
        <p:txBody>
          <a:bodyPr wrap="square" anchor="t">
            <a:noAutofit/>
          </a:bodyPr>
          <a:lstStyle/>
          <a:p>
            <a:pPr lvl="0" indent="-457200" algn="l" fontAlgn="auto">
              <a:lnSpc>
                <a:spcPct val="100000"/>
              </a:lnSpc>
              <a:spcBef>
                <a:spcPts val="0"/>
              </a:spcBef>
              <a:spcAft>
                <a:spcPts val="0"/>
              </a:spcAft>
              <a:buClr>
                <a:srgbClr val="C00000"/>
              </a:buClr>
              <a:buSzPct val="85000"/>
              <a:buFont typeface="Wingdings" panose="05000000000000000000" charset="0"/>
              <a:buChar char="q"/>
            </a:pPr>
            <a:r>
              <a:rPr lang="zh-CN" altLang="en-US" sz="2800" b="1" dirty="0">
                <a:solidFill>
                  <a:srgbClr val="1F2DA8"/>
                </a:solidFill>
                <a:latin typeface="楷体" panose="02010609060101010101" charset="-122"/>
                <a:ea typeface="楷体" panose="02010609060101010101" charset="-122"/>
                <a:cs typeface="Cambria Math" panose="02040503050406030204" charset="0"/>
              </a:rPr>
              <a:t>说明：</a:t>
            </a:r>
          </a:p>
          <a:p>
            <a:pPr marL="914400" lvl="1" indent="-457200" algn="l" fontAlgn="auto">
              <a:lnSpc>
                <a:spcPct val="100000"/>
              </a:lnSpc>
              <a:spcBef>
                <a:spcPts val="0"/>
              </a:spcBef>
              <a:spcAft>
                <a:spcPts val="0"/>
              </a:spcAft>
              <a:buClr>
                <a:srgbClr val="C00000"/>
              </a:buClr>
              <a:buSzPct val="85000"/>
              <a:buFont typeface="+mj-ea"/>
              <a:buAutoNum type="circleNumDbPlain"/>
            </a:pPr>
            <a:r>
              <a:rPr lang="zh-CN" altLang="en-US" sz="2800" b="1" dirty="0">
                <a:solidFill>
                  <a:srgbClr val="1F2DA8"/>
                </a:solidFill>
                <a:latin typeface="楷体" panose="02010609060101010101" charset="-122"/>
                <a:ea typeface="楷体" panose="02010609060101010101" charset="-122"/>
                <a:sym typeface="+mn-ea"/>
              </a:rPr>
              <a:t>先分析用户查询要求，确定本次查询需要使用到的关系：</a:t>
            </a:r>
            <a:r>
              <a:rPr lang="zh-CN" altLang="en-US" sz="2800" b="1" dirty="0">
                <a:solidFill>
                  <a:srgbClr val="C00000"/>
                </a:solidFill>
                <a:latin typeface="楷体" panose="02010609060101010101" charset="-122"/>
                <a:ea typeface="楷体" panose="02010609060101010101" charset="-122"/>
                <a:sym typeface="+mn-ea"/>
              </a:rPr>
              <a:t>顾客</a:t>
            </a:r>
            <a:r>
              <a:rPr lang="zh-CN" altLang="en-US" sz="2800" b="1" dirty="0">
                <a:solidFill>
                  <a:srgbClr val="1F2DA8"/>
                </a:solidFill>
                <a:latin typeface="楷体" panose="02010609060101010101" charset="-122"/>
                <a:ea typeface="楷体" panose="02010609060101010101" charset="-122"/>
                <a:sym typeface="+mn-ea"/>
              </a:rPr>
              <a:t>和</a:t>
            </a:r>
            <a:r>
              <a:rPr lang="zh-CN" altLang="en-US" sz="2800" b="1" dirty="0">
                <a:solidFill>
                  <a:srgbClr val="C00000"/>
                </a:solidFill>
                <a:latin typeface="楷体" panose="02010609060101010101" charset="-122"/>
                <a:ea typeface="楷体" panose="02010609060101010101" charset="-122"/>
                <a:sym typeface="+mn-ea"/>
              </a:rPr>
              <a:t>代理商</a:t>
            </a:r>
            <a:r>
              <a:rPr lang="zh-CN" altLang="en-US" sz="2800" b="1" dirty="0">
                <a:solidFill>
                  <a:srgbClr val="1F2DA8"/>
                </a:solidFill>
                <a:latin typeface="楷体" panose="02010609060101010101" charset="-122"/>
                <a:ea typeface="楷体" panose="02010609060101010101" charset="-122"/>
                <a:sym typeface="+mn-ea"/>
              </a:rPr>
              <a:t>（本次查询不要求在目标顾客和代理商之间存在订单）</a:t>
            </a:r>
          </a:p>
          <a:p>
            <a:pPr marL="914400" lvl="1" indent="-457200" algn="l" fontAlgn="auto">
              <a:lnSpc>
                <a:spcPct val="100000"/>
              </a:lnSpc>
              <a:spcBef>
                <a:spcPts val="600"/>
              </a:spcBef>
              <a:spcAft>
                <a:spcPts val="0"/>
              </a:spcAft>
              <a:buClr>
                <a:srgbClr val="C00000"/>
              </a:buClr>
              <a:buSzPct val="85000"/>
              <a:buFont typeface="+mj-ea"/>
              <a:buAutoNum type="circleNumDbPlain"/>
            </a:pPr>
            <a:r>
              <a:rPr lang="zh-CN" altLang="en-US" sz="2800" b="1" dirty="0">
                <a:solidFill>
                  <a:srgbClr val="1F2DA8"/>
                </a:solidFill>
                <a:latin typeface="楷体" panose="02010609060101010101" charset="-122"/>
                <a:ea typeface="楷体" panose="02010609060101010101" charset="-122"/>
                <a:sym typeface="+mn-ea"/>
              </a:rPr>
              <a:t>先用笛卡尔积实现顾客和代理商关系的合并，再用选择运算查出符合条件的笛卡尔积结果元组，最后用投影运算生成目标关系。</a:t>
            </a:r>
          </a:p>
        </p:txBody>
      </p:sp>
      <p:grpSp>
        <p:nvGrpSpPr>
          <p:cNvPr id="8" name="组合 7"/>
          <p:cNvGrpSpPr/>
          <p:nvPr/>
        </p:nvGrpSpPr>
        <p:grpSpPr>
          <a:xfrm>
            <a:off x="423545" y="664210"/>
            <a:ext cx="11342370" cy="952500"/>
            <a:chOff x="667" y="1046"/>
            <a:chExt cx="17862" cy="1500"/>
          </a:xfrm>
        </p:grpSpPr>
        <p:sp>
          <p:nvSpPr>
            <p:cNvPr id="7"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9"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animClr clrSpc="rgb" dir="cw">
                                      <p:cBhvr override="childStyle">
                                        <p:cTn dur="65" fill="hold" display="1" masterRel="nextClick" afterEffect="1"/>
                                        <p:tgtEl>
                                          <p:spTgt spid="2"/>
                                        </p:tgtEl>
                                        <p:attrNameLst>
                                          <p:attrName>ppt_c</p:attrName>
                                        </p:attrNameLst>
                                      </p:cBhvr>
                                      <p:to>
                                        <a:srgbClr val="0000C8"/>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subTnLst>
                                    <p:animClr clrSpc="rgb" dir="cw">
                                      <p:cBhvr override="childStyle">
                                        <p:cTn dur="65" fill="hold" display="1" masterRel="nextClick" afterEffect="1"/>
                                        <p:tgtEl>
                                          <p:spTgt spid="3"/>
                                        </p:tgtEl>
                                        <p:attrNameLst>
                                          <p:attrName>ppt_c</p:attrName>
                                        </p:attrNameLst>
                                      </p:cBhvr>
                                      <p:to>
                                        <a:srgbClr val="0000C8"/>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subTnLst>
                                    <p:animClr clrSpc="rgb" dir="cw">
                                      <p:cBhvr override="childStyle">
                                        <p:cTn dur="65" fill="hold" display="1" masterRel="nextClick" afterEffect="1"/>
                                        <p:tgtEl>
                                          <p:spTgt spid="4"/>
                                        </p:tgtEl>
                                        <p:attrNameLst>
                                          <p:attrName>ppt_c</p:attrName>
                                        </p:attrNameLst>
                                      </p:cBhvr>
                                      <p:to>
                                        <a:srgbClr val="0000C8"/>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bg/>
                                          </p:spTgt>
                                        </p:tgtEl>
                                        <p:attrNameLst>
                                          <p:attrName>style.visibility</p:attrName>
                                        </p:attrNameLst>
                                      </p:cBhvr>
                                      <p:to>
                                        <p:strVal val="visible"/>
                                      </p:to>
                                    </p:set>
                                    <p:animEffect transition="in" filter="blinds(horizontal)">
                                      <p:cBhvr>
                                        <p:cTn id="22" dur="500"/>
                                        <p:tgtEl>
                                          <p:spTgt spid="14">
                                            <p:bg/>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blinds(horizontal)">
                                      <p:cBhvr>
                                        <p:cTn id="25" dur="500"/>
                                        <p:tgtEl>
                                          <p:spTgt spid="1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4">
                                            <p:txEl>
                                              <p:pRg st="1" end="1"/>
                                            </p:txEl>
                                          </p:spTgt>
                                        </p:tgtEl>
                                        <p:attrNameLst>
                                          <p:attrName>style.visibility</p:attrName>
                                        </p:attrNameLst>
                                      </p:cBhvr>
                                      <p:to>
                                        <p:strVal val="visible"/>
                                      </p:to>
                                    </p:set>
                                    <p:animEffect transition="in" filter="blinds(horizontal)">
                                      <p:cBhvr>
                                        <p:cTn id="30" dur="500"/>
                                        <p:tgtEl>
                                          <p:spTgt spid="1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4">
                                            <p:txEl>
                                              <p:pRg st="2" end="2"/>
                                            </p:txEl>
                                          </p:spTgt>
                                        </p:tgtEl>
                                        <p:attrNameLst>
                                          <p:attrName>style.visibility</p:attrName>
                                        </p:attrNameLst>
                                      </p:cBhvr>
                                      <p:to>
                                        <p:strVal val="visible"/>
                                      </p:to>
                                    </p:set>
                                    <p:animEffect transition="in" filter="blinds(horizontal)">
                                      <p:cBhvr>
                                        <p:cTn id="35"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2" grpId="0"/>
      <p:bldP spid="14" grpId="0" uiExpand="1" build="p" bldLvl="2"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p:cNvSpPr>
          <p:nvPr>
            <p:ph type="title"/>
          </p:nvPr>
        </p:nvSpPr>
        <p:spPr/>
        <p:txBody>
          <a:bodyPr wrap="square" anchor="ctr"/>
          <a:lstStyle/>
          <a:p>
            <a:pPr eaLnBrk="1" hangingPunct="1"/>
            <a:r>
              <a:rPr lang="en-US" altLang="x-none" dirty="0"/>
              <a:t>Example 5 </a:t>
            </a:r>
            <a:r>
              <a:rPr lang="zh-CN" altLang="en-US" dirty="0"/>
              <a:t>（</a:t>
            </a:r>
            <a:r>
              <a:rPr lang="en-US" altLang="zh-CN" dirty="0"/>
              <a:t>2</a:t>
            </a:r>
            <a:r>
              <a:rPr lang="zh-CN" altLang="en-US" dirty="0"/>
              <a:t>）</a:t>
            </a:r>
          </a:p>
        </p:txBody>
      </p:sp>
      <p:sp>
        <p:nvSpPr>
          <p:cNvPr id="112644" name="Rectangle 3"/>
          <p:cNvSpPr>
            <a:spLocks noGrp="1"/>
          </p:cNvSpPr>
          <p:nvPr>
            <p:ph idx="1"/>
          </p:nvPr>
        </p:nvSpPr>
        <p:spPr>
          <a:xfrm>
            <a:off x="424180" y="1895160"/>
            <a:ext cx="11343005" cy="1038860"/>
          </a:xfrm>
          <a:solidFill>
            <a:schemeClr val="accent3">
              <a:lumMod val="20000"/>
              <a:lumOff val="80000"/>
              <a:alpha val="50000"/>
            </a:schemeClr>
          </a:solidFill>
        </p:spPr>
        <p:txBody>
          <a:bodyPr wrap="square" anchor="t">
            <a:noAutofit/>
          </a:bodyPr>
          <a:lstStyle/>
          <a:p>
            <a:pPr marL="514350" indent="-514350" eaLnBrk="1" hangingPunct="1">
              <a:lnSpc>
                <a:spcPct val="110000"/>
              </a:lnSpc>
              <a:buFont typeface="+mj-lt"/>
              <a:buAutoNum type="arabicPeriod" startAt="5"/>
            </a:pPr>
            <a:r>
              <a:rPr lang="zh-CN" altLang="en-US" sz="2800" dirty="0">
                <a:ea typeface="楷体" panose="02010609060101010101" charset="-122"/>
                <a:cs typeface="+mn-lt"/>
              </a:rPr>
              <a:t>查询位于同一个城市的顾客和代理商，给出顾客的姓名</a:t>
            </a:r>
            <a:r>
              <a:rPr lang="en-US" altLang="x-none" sz="2800" dirty="0">
                <a:ea typeface="楷体" panose="02010609060101010101" charset="-122"/>
                <a:cs typeface="+mn-lt"/>
              </a:rPr>
              <a:t>(cname)</a:t>
            </a:r>
            <a:r>
              <a:rPr lang="zh-CN" altLang="en-US" sz="2800" dirty="0">
                <a:ea typeface="楷体" panose="02010609060101010101" charset="-122"/>
                <a:cs typeface="+mn-lt"/>
              </a:rPr>
              <a:t>、代理商的名称</a:t>
            </a:r>
            <a:r>
              <a:rPr lang="en-US" altLang="x-none" sz="2800" dirty="0">
                <a:ea typeface="楷体" panose="02010609060101010101" charset="-122"/>
                <a:cs typeface="+mn-lt"/>
              </a:rPr>
              <a:t>(aname)</a:t>
            </a:r>
            <a:r>
              <a:rPr lang="zh-CN" altLang="en-US" sz="2800" dirty="0">
                <a:ea typeface="楷体" panose="02010609060101010101" charset="-122"/>
                <a:cs typeface="+mn-lt"/>
              </a:rPr>
              <a:t>以及他们所在城市的名称</a:t>
            </a:r>
            <a:r>
              <a:rPr lang="en-US" altLang="x-none" sz="2800" dirty="0">
                <a:ea typeface="楷体" panose="02010609060101010101" charset="-122"/>
                <a:cs typeface="+mn-lt"/>
              </a:rPr>
              <a:t>(city)</a:t>
            </a:r>
          </a:p>
        </p:txBody>
      </p:sp>
      <mc:AlternateContent xmlns:mc="http://schemas.openxmlformats.org/markup-compatibility/2006" xmlns:a14="http://schemas.microsoft.com/office/drawing/2010/main">
        <mc:Choice Requires="a14">
          <p:sp>
            <p:nvSpPr>
              <p:cNvPr id="4" name="文本框 3"/>
              <p:cNvSpPr txBox="1"/>
              <p:nvPr/>
            </p:nvSpPr>
            <p:spPr>
              <a:xfrm>
                <a:off x="1414145" y="3048635"/>
                <a:ext cx="7158355" cy="51816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𝝅</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𝒄𝒏𝒂𝒎𝒆</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𝒄𝒊𝒕𝒚</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𝑨</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𝒂𝒏𝒂𝒎𝒆</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m:t>
                      </m:r>
                      <m:sSub>
                        <m:sSubPr>
                          <m:ctrlPr>
                            <a:rPr lang="en-US" altLang="zh-CN" sz="2800" b="1" i="1">
                              <a:solidFill>
                                <a:srgbClr val="FF0000"/>
                              </a:solidFill>
                              <a:latin typeface="Cambria Math" panose="02040503050406030204" pitchFamily="18" charset="0"/>
                              <a:ea typeface="MS Mincho" charset="0"/>
                              <a:cs typeface="Cambria Math" panose="02040503050406030204" charset="0"/>
                            </a:rPr>
                          </m:ctrlPr>
                        </m:sSubPr>
                        <m:e>
                          <m:r>
                            <a:rPr lang="en-US" altLang="zh-CN" sz="2800" b="1" i="1">
                              <a:solidFill>
                                <a:srgbClr val="FF0000"/>
                              </a:solidFill>
                              <a:latin typeface="Cambria Math" panose="02040503050406030204" charset="0"/>
                              <a:ea typeface="MS Mincho" charset="0"/>
                              <a:cs typeface="Cambria Math" panose="02040503050406030204" charset="0"/>
                            </a:rPr>
                            <m:t>𝝈</m:t>
                          </m:r>
                        </m:e>
                        <m:sub>
                          <m:r>
                            <a:rPr lang="en-US" altLang="zh-CN" sz="2800" b="1" i="1">
                              <a:solidFill>
                                <a:srgbClr val="FF0000"/>
                              </a:solidFill>
                              <a:latin typeface="Cambria Math" panose="02040503050406030204" charset="0"/>
                              <a:ea typeface="MS Mincho" charset="0"/>
                              <a:cs typeface="Cambria Math" panose="02040503050406030204" charset="0"/>
                            </a:rPr>
                            <m:t> </m:t>
                          </m:r>
                          <m:r>
                            <a:rPr lang="en-US" altLang="zh-CN" sz="2800" b="1" i="1">
                              <a:solidFill>
                                <a:srgbClr val="FF0000"/>
                              </a:solidFill>
                              <a:latin typeface="Cambria Math" panose="02040503050406030204" charset="0"/>
                              <a:ea typeface="MS Mincho" charset="0"/>
                              <a:cs typeface="Cambria Math" panose="02040503050406030204" charset="0"/>
                            </a:rPr>
                            <m:t>𝑪</m:t>
                          </m:r>
                          <m:r>
                            <a:rPr lang="en-US" altLang="zh-CN" sz="2800" b="1" i="1">
                              <a:solidFill>
                                <a:srgbClr val="FF0000"/>
                              </a:solidFill>
                              <a:latin typeface="Cambria Math" panose="02040503050406030204" charset="0"/>
                              <a:ea typeface="MS Mincho" charset="0"/>
                              <a:cs typeface="Cambria Math" panose="02040503050406030204" charset="0"/>
                            </a:rPr>
                            <m:t>.</m:t>
                          </m:r>
                          <m:r>
                            <a:rPr lang="en-US" altLang="zh-CN" sz="2800" b="1" i="1">
                              <a:solidFill>
                                <a:srgbClr val="FF0000"/>
                              </a:solidFill>
                              <a:latin typeface="Cambria Math" panose="02040503050406030204" charset="0"/>
                              <a:ea typeface="MS Mincho" charset="0"/>
                              <a:cs typeface="Cambria Math" panose="02040503050406030204" charset="0"/>
                            </a:rPr>
                            <m:t>𝒄𝒊𝒕𝒚</m:t>
                          </m:r>
                          <m:r>
                            <a:rPr lang="en-US" altLang="zh-CN" sz="2800" b="1" i="1">
                              <a:solidFill>
                                <a:srgbClr val="FF0000"/>
                              </a:solidFill>
                              <a:latin typeface="Cambria Math" panose="02040503050406030204" charset="0"/>
                              <a:ea typeface="MS Mincho" charset="0"/>
                              <a:cs typeface="Cambria Math" panose="02040503050406030204" charset="0"/>
                            </a:rPr>
                            <m:t>=</m:t>
                          </m:r>
                          <m:r>
                            <a:rPr lang="en-US" altLang="zh-CN" sz="2800" b="1" i="1">
                              <a:solidFill>
                                <a:srgbClr val="FF0000"/>
                              </a:solidFill>
                              <a:latin typeface="Cambria Math" panose="02040503050406030204" charset="0"/>
                              <a:ea typeface="MS Mincho" charset="0"/>
                              <a:cs typeface="Cambria Math" panose="02040503050406030204" charset="0"/>
                            </a:rPr>
                            <m:t>𝑨</m:t>
                          </m:r>
                          <m:r>
                            <a:rPr lang="en-US" altLang="zh-CN" sz="2800" b="1" i="1">
                              <a:solidFill>
                                <a:srgbClr val="FF0000"/>
                              </a:solidFill>
                              <a:latin typeface="Cambria Math" panose="02040503050406030204" charset="0"/>
                              <a:ea typeface="MS Mincho" charset="0"/>
                              <a:cs typeface="Cambria Math" panose="02040503050406030204" charset="0"/>
                            </a:rPr>
                            <m:t>.</m:t>
                          </m:r>
                          <m:r>
                            <a:rPr lang="en-US" altLang="zh-CN" sz="2800" b="1" i="1">
                              <a:solidFill>
                                <a:srgbClr val="FF0000"/>
                              </a:solidFill>
                              <a:latin typeface="Cambria Math" panose="02040503050406030204" charset="0"/>
                              <a:ea typeface="MS Mincho" charset="0"/>
                              <a:cs typeface="Cambria Math" panose="02040503050406030204" charset="0"/>
                            </a:rPr>
                            <m:t>𝒄𝒊𝒕𝒚</m:t>
                          </m:r>
                          <m:r>
                            <a:rPr lang="en-US" altLang="zh-CN" sz="2800" b="1" i="1">
                              <a:solidFill>
                                <a:srgbClr val="FF0000"/>
                              </a:solidFill>
                              <a:latin typeface="Cambria Math" panose="02040503050406030204" charset="0"/>
                              <a:ea typeface="MS Mincho"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m:t>
                      </m:r>
                      <m:r>
                        <a:rPr lang="en-US" altLang="zh-CN" sz="2800" b="1" i="1">
                          <a:solidFill>
                            <a:srgbClr val="FF0000"/>
                          </a:solidFill>
                          <a:latin typeface="Cambria Math" panose="02040503050406030204" charset="0"/>
                          <a:ea typeface="MS Mincho" charset="0"/>
                          <a:cs typeface="Cambria Math" panose="02040503050406030204" charset="0"/>
                        </a:rPr>
                        <m:t>𝑪</m:t>
                      </m:r>
                      <m:r>
                        <a:rPr lang="en-US" altLang="zh-CN" sz="2800" b="1" i="1">
                          <a:solidFill>
                            <a:srgbClr val="FF0000"/>
                          </a:solidFill>
                          <a:latin typeface="Cambria Math" panose="02040503050406030204" charset="0"/>
                          <a:ea typeface="MS Mincho" charset="0"/>
                          <a:cs typeface="Cambria Math" panose="02040503050406030204" charset="0"/>
                        </a:rPr>
                        <m:t>×</m:t>
                      </m:r>
                      <m:r>
                        <a:rPr lang="en-US" altLang="zh-CN" sz="2800" b="1" i="1">
                          <a:solidFill>
                            <a:srgbClr val="FF0000"/>
                          </a:solidFill>
                          <a:latin typeface="Cambria Math" panose="02040503050406030204" charset="0"/>
                          <a:ea typeface="MS Mincho" charset="0"/>
                          <a:cs typeface="Cambria Math" panose="02040503050406030204" charset="0"/>
                        </a:rPr>
                        <m:t>𝑨</m:t>
                      </m:r>
                      <m:r>
                        <a:rPr lang="en-US" altLang="zh-CN" sz="2800" b="1" i="1">
                          <a:solidFill>
                            <a:srgbClr val="FF0000"/>
                          </a:solidFill>
                          <a:latin typeface="Cambria Math" panose="02040503050406030204" charset="0"/>
                          <a:ea typeface="MS Mincho" charset="0"/>
                          <a:cs typeface="Cambria Math" panose="02040503050406030204" charset="0"/>
                        </a:rPr>
                        <m:t>))</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414145" y="3048635"/>
                <a:ext cx="7158355" cy="518160"/>
              </a:xfrm>
              <a:prstGeom prst="rect">
                <a:avLst/>
              </a:prstGeom>
              <a:blipFill rotWithShape="1">
                <a:blip r:embed="rId2"/>
                <a:stretch>
                  <a:fillRect/>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565CE74E-AB26-4998-AD42-012C4C1AD076}" type="slidenum">
              <a:rPr lang="zh-CN" altLang="en-US" smtClean="0"/>
              <a:t>66</a:t>
            </a:fld>
            <a:endParaRPr lang="zh-CN" altLang="en-US"/>
          </a:p>
        </p:txBody>
      </p:sp>
      <p:sp>
        <p:nvSpPr>
          <p:cNvPr id="5" name="页脚占位符 4"/>
          <p:cNvSpPr>
            <a:spLocks noGrp="1"/>
          </p:cNvSpPr>
          <p:nvPr>
            <p:ph type="ftr" sz="quarter" idx="11"/>
          </p:nvPr>
        </p:nvSpPr>
        <p:spPr/>
        <p:txBody>
          <a:bodyPr/>
          <a:lstStyle/>
          <a:p>
            <a:r>
              <a:rPr lang="zh-CN" altLang="en-US"/>
              <a:t>ch02_2_关系代数基本运算</a:t>
            </a:r>
          </a:p>
        </p:txBody>
      </p:sp>
      <p:sp>
        <p:nvSpPr>
          <p:cNvPr id="14" name="Rectangle 5"/>
          <p:cNvSpPr/>
          <p:nvPr/>
        </p:nvSpPr>
        <p:spPr>
          <a:xfrm>
            <a:off x="424815" y="3970655"/>
            <a:ext cx="11342370" cy="2501900"/>
          </a:xfrm>
          <a:prstGeom prst="rect">
            <a:avLst/>
          </a:prstGeom>
          <a:solidFill>
            <a:schemeClr val="bg2">
              <a:alpha val="50000"/>
            </a:schemeClr>
          </a:solidFill>
          <a:ln w="9525">
            <a:noFill/>
          </a:ln>
        </p:spPr>
        <p:txBody>
          <a:bodyPr wrap="square" anchor="t">
            <a:noAutofit/>
          </a:bodyPr>
          <a:lstStyle/>
          <a:p>
            <a:pPr lvl="0" indent="0" algn="l" fontAlgn="auto">
              <a:lnSpc>
                <a:spcPct val="100000"/>
              </a:lnSpc>
              <a:spcBef>
                <a:spcPts val="0"/>
              </a:spcBef>
              <a:spcAft>
                <a:spcPts val="0"/>
              </a:spcAft>
              <a:buClr>
                <a:srgbClr val="C00000"/>
              </a:buClr>
              <a:buSzPct val="85000"/>
              <a:buNone/>
            </a:pPr>
            <a:r>
              <a:rPr lang="zh-CN" altLang="en-US" sz="2800" b="1" dirty="0">
                <a:solidFill>
                  <a:srgbClr val="1F2DA8"/>
                </a:solidFill>
                <a:latin typeface="楷体" panose="02010609060101010101" charset="-122"/>
                <a:ea typeface="楷体" panose="02010609060101010101" charset="-122"/>
                <a:cs typeface="Cambria Math" panose="02040503050406030204" charset="0"/>
              </a:rPr>
              <a:t>【思考】请用关系代数的基本运算来表示下述查询：</a:t>
            </a:r>
          </a:p>
          <a:p>
            <a:pPr marL="914400" lvl="1" indent="-457200" algn="l" fontAlgn="auto">
              <a:lnSpc>
                <a:spcPct val="100000"/>
              </a:lnSpc>
              <a:spcBef>
                <a:spcPts val="1000"/>
              </a:spcBef>
              <a:spcAft>
                <a:spcPts val="0"/>
              </a:spcAft>
              <a:buClr>
                <a:srgbClr val="C00000"/>
              </a:buClr>
              <a:buSzPct val="85000"/>
              <a:buFont typeface="+mj-ea"/>
              <a:buAutoNum type="circleNumDbPlain"/>
            </a:pPr>
            <a:r>
              <a:rPr lang="zh-CN" altLang="en-US" sz="2800" b="1" dirty="0">
                <a:solidFill>
                  <a:srgbClr val="1F2DA8"/>
                </a:solidFill>
                <a:ea typeface="楷体" panose="02010609060101010101" charset="-122"/>
                <a:cs typeface="+mn-lt"/>
                <a:sym typeface="+mn-ea"/>
              </a:rPr>
              <a:t>查询</a:t>
            </a:r>
            <a:r>
              <a:rPr lang="zh-CN" altLang="en-US" sz="2800" b="1" dirty="0">
                <a:solidFill>
                  <a:srgbClr val="C00000"/>
                </a:solidFill>
                <a:ea typeface="楷体" panose="02010609060101010101" charset="-122"/>
                <a:cs typeface="+mn-lt"/>
                <a:sym typeface="+mn-ea"/>
              </a:rPr>
              <a:t>位于同一个城市且相互之间存在订单</a:t>
            </a:r>
            <a:r>
              <a:rPr lang="zh-CN" altLang="en-US" sz="2800" b="1" dirty="0">
                <a:solidFill>
                  <a:srgbClr val="1F2DA8"/>
                </a:solidFill>
                <a:ea typeface="楷体" panose="02010609060101010101" charset="-122"/>
                <a:cs typeface="+mn-lt"/>
                <a:sym typeface="+mn-ea"/>
              </a:rPr>
              <a:t>的顾客和代理商，给出顾客的姓名、代理商的名称、他们所在城市的名称；</a:t>
            </a:r>
            <a:endParaRPr lang="zh-CN" altLang="en-US" sz="2800" b="1" dirty="0">
              <a:solidFill>
                <a:srgbClr val="1F2DA8"/>
              </a:solidFill>
              <a:latin typeface="楷体" panose="02010609060101010101" charset="-122"/>
              <a:ea typeface="楷体" panose="02010609060101010101" charset="-122"/>
              <a:sym typeface="+mn-ea"/>
            </a:endParaRPr>
          </a:p>
          <a:p>
            <a:pPr marL="914400" lvl="1" indent="-457200" algn="l" fontAlgn="auto">
              <a:lnSpc>
                <a:spcPct val="100000"/>
              </a:lnSpc>
              <a:spcBef>
                <a:spcPts val="1000"/>
              </a:spcBef>
              <a:spcAft>
                <a:spcPts val="0"/>
              </a:spcAft>
              <a:buClr>
                <a:srgbClr val="C00000"/>
              </a:buClr>
              <a:buSzPct val="85000"/>
              <a:buFont typeface="+mj-ea"/>
              <a:buAutoNum type="circleNumDbPlain"/>
            </a:pPr>
            <a:r>
              <a:rPr lang="zh-CN" altLang="en-US" sz="2800" b="1" dirty="0">
                <a:solidFill>
                  <a:srgbClr val="1F2DA8"/>
                </a:solidFill>
                <a:ea typeface="楷体" panose="02010609060101010101" charset="-122"/>
                <a:cs typeface="+mn-lt"/>
                <a:sym typeface="+mn-ea"/>
              </a:rPr>
              <a:t>查询</a:t>
            </a:r>
            <a:r>
              <a:rPr lang="zh-CN" altLang="en-US" sz="2800" b="1" dirty="0">
                <a:solidFill>
                  <a:srgbClr val="C00000"/>
                </a:solidFill>
                <a:ea typeface="楷体" panose="02010609060101010101" charset="-122"/>
                <a:cs typeface="+mn-lt"/>
                <a:sym typeface="+mn-ea"/>
              </a:rPr>
              <a:t>位于同一个城市且相互之间不存在订单</a:t>
            </a:r>
            <a:r>
              <a:rPr lang="zh-CN" altLang="en-US" sz="2800" b="1" dirty="0">
                <a:solidFill>
                  <a:srgbClr val="1F2DA8"/>
                </a:solidFill>
                <a:ea typeface="楷体" panose="02010609060101010101" charset="-122"/>
                <a:cs typeface="+mn-lt"/>
                <a:sym typeface="+mn-ea"/>
              </a:rPr>
              <a:t>的顾客和代理商，给出顾客的姓名、代理商的名称、他们所在城市的名称</a:t>
            </a:r>
            <a:r>
              <a:rPr lang="zh-CN" altLang="en-US" sz="2800" b="1" dirty="0">
                <a:solidFill>
                  <a:srgbClr val="1F2DA8"/>
                </a:solidFill>
                <a:latin typeface="楷体" panose="02010609060101010101" charset="-122"/>
                <a:ea typeface="楷体" panose="02010609060101010101" charset="-122"/>
                <a:sym typeface="+mn-ea"/>
              </a:rPr>
              <a:t>。</a:t>
            </a:r>
          </a:p>
        </p:txBody>
      </p:sp>
      <p:grpSp>
        <p:nvGrpSpPr>
          <p:cNvPr id="8" name="组合 7"/>
          <p:cNvGrpSpPr/>
          <p:nvPr/>
        </p:nvGrpSpPr>
        <p:grpSpPr>
          <a:xfrm>
            <a:off x="423545" y="664210"/>
            <a:ext cx="11342370" cy="952500"/>
            <a:chOff x="667" y="1046"/>
            <a:chExt cx="17862" cy="1500"/>
          </a:xfrm>
        </p:grpSpPr>
        <p:sp>
          <p:nvSpPr>
            <p:cNvPr id="2"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7"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bg/>
                                          </p:spTgt>
                                        </p:tgtEl>
                                        <p:attrNameLst>
                                          <p:attrName>style.visibility</p:attrName>
                                        </p:attrNameLst>
                                      </p:cBhvr>
                                      <p:to>
                                        <p:strVal val="visible"/>
                                      </p:to>
                                    </p:set>
                                    <p:animEffect transition="in" filter="blinds(horizontal)">
                                      <p:cBhvr>
                                        <p:cTn id="7" dur="500"/>
                                        <p:tgtEl>
                                          <p:spTgt spid="14">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xEl>
                                              <p:pRg st="0" end="0"/>
                                            </p:txEl>
                                          </p:spTgt>
                                        </p:tgtEl>
                                        <p:attrNameLst>
                                          <p:attrName>style.visibility</p:attrName>
                                        </p:attrNameLst>
                                      </p:cBhvr>
                                      <p:to>
                                        <p:strVal val="visible"/>
                                      </p:to>
                                    </p:set>
                                    <p:animEffect transition="in" filter="blinds(horizontal)">
                                      <p:cBhvr>
                                        <p:cTn id="10" dur="500"/>
                                        <p:tgtEl>
                                          <p:spTgt spid="1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Effect transition="in" filter="blinds(horizontal)">
                                      <p:cBhvr>
                                        <p:cTn id="15" dur="500"/>
                                        <p:tgtEl>
                                          <p:spTgt spid="1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4">
                                            <p:txEl>
                                              <p:pRg st="2" end="2"/>
                                            </p:txEl>
                                          </p:spTgt>
                                        </p:tgtEl>
                                        <p:attrNameLst>
                                          <p:attrName>style.visibility</p:attrName>
                                        </p:attrNameLst>
                                      </p:cBhvr>
                                      <p:to>
                                        <p:strVal val="visible"/>
                                      </p:to>
                                    </p:set>
                                    <p:animEffect transition="in" filter="blinds(horizontal)">
                                      <p:cBhvr>
                                        <p:cTn id="20"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bldLvl="2"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p:cNvSpPr>
          <p:nvPr>
            <p:ph type="title"/>
          </p:nvPr>
        </p:nvSpPr>
        <p:spPr/>
        <p:txBody>
          <a:bodyPr wrap="square" anchor="ctr"/>
          <a:lstStyle/>
          <a:p>
            <a:pPr eaLnBrk="1" hangingPunct="1"/>
            <a:r>
              <a:rPr lang="en-US" altLang="x-none" dirty="0"/>
              <a:t>Example 6</a:t>
            </a:r>
            <a:r>
              <a:rPr lang="zh-CN" altLang="en-US" dirty="0"/>
              <a:t>（</a:t>
            </a:r>
            <a:r>
              <a:rPr lang="en-US" altLang="zh-CN" dirty="0"/>
              <a:t>1</a:t>
            </a:r>
            <a:r>
              <a:rPr lang="zh-CN" altLang="en-US" dirty="0"/>
              <a:t>）</a:t>
            </a:r>
          </a:p>
        </p:txBody>
      </p:sp>
      <p:sp>
        <p:nvSpPr>
          <p:cNvPr id="113668" name="Rectangle 3"/>
          <p:cNvSpPr>
            <a:spLocks noGrp="1"/>
          </p:cNvSpPr>
          <p:nvPr>
            <p:ph idx="1"/>
          </p:nvPr>
        </p:nvSpPr>
        <p:spPr>
          <a:xfrm>
            <a:off x="424180" y="1788480"/>
            <a:ext cx="11343005" cy="1038860"/>
          </a:xfrm>
          <a:solidFill>
            <a:schemeClr val="accent3">
              <a:lumMod val="20000"/>
              <a:lumOff val="80000"/>
              <a:alpha val="50000"/>
            </a:schemeClr>
          </a:solidFill>
        </p:spPr>
        <p:txBody>
          <a:bodyPr wrap="square" anchor="t">
            <a:noAutofit/>
          </a:bodyPr>
          <a:lstStyle/>
          <a:p>
            <a:pPr marL="514350" indent="-514350" eaLnBrk="1" hangingPunct="1">
              <a:lnSpc>
                <a:spcPct val="110000"/>
              </a:lnSpc>
              <a:buFont typeface="+mj-lt"/>
              <a:buAutoNum type="arabicPeriod" startAt="6"/>
            </a:pPr>
            <a:r>
              <a:rPr lang="zh-CN" altLang="en-US" sz="2800" dirty="0">
                <a:latin typeface="Calibri" panose="020F0502020204030204" charset="0"/>
                <a:ea typeface="楷体" panose="02010609060101010101" charset="-122"/>
                <a:cs typeface="Calibri" panose="020F0502020204030204" charset="0"/>
              </a:rPr>
              <a:t>查询姓名为</a:t>
            </a:r>
            <a:r>
              <a:rPr lang="en-US" altLang="zh-CN" sz="2800" dirty="0">
                <a:latin typeface="Calibri" panose="020F0502020204030204" charset="0"/>
                <a:ea typeface="楷体" panose="02010609060101010101" charset="-122"/>
                <a:cs typeface="Calibri" panose="020F0502020204030204" charset="0"/>
              </a:rPr>
              <a:t>‘</a:t>
            </a:r>
            <a:r>
              <a:rPr lang="en-US" altLang="x-none" sz="2800" dirty="0">
                <a:latin typeface="Calibri" panose="020F0502020204030204" charset="0"/>
                <a:ea typeface="楷体" panose="02010609060101010101" charset="-122"/>
                <a:cs typeface="Calibri" panose="020F0502020204030204" charset="0"/>
              </a:rPr>
              <a:t>Allied’</a:t>
            </a:r>
            <a:r>
              <a:rPr lang="zh-CN" altLang="en-US" sz="2800" dirty="0">
                <a:latin typeface="Calibri" panose="020F0502020204030204" charset="0"/>
                <a:ea typeface="楷体" panose="02010609060101010101" charset="-122"/>
                <a:cs typeface="Calibri" panose="020F0502020204030204" charset="0"/>
              </a:rPr>
              <a:t>的顾客的订购信息，列出其每一条订单记录所购买商品的商品编号</a:t>
            </a:r>
            <a:r>
              <a:rPr lang="en-US" altLang="x-none" sz="2800" dirty="0">
                <a:latin typeface="Calibri" panose="020F0502020204030204" charset="0"/>
                <a:ea typeface="楷体" panose="02010609060101010101" charset="-122"/>
                <a:cs typeface="Calibri" panose="020F0502020204030204" charset="0"/>
              </a:rPr>
              <a:t>(pid)</a:t>
            </a:r>
            <a:r>
              <a:rPr lang="zh-CN" altLang="en-US" sz="2800" dirty="0">
                <a:latin typeface="Calibri" panose="020F0502020204030204" charset="0"/>
                <a:ea typeface="楷体" panose="02010609060101010101" charset="-122"/>
                <a:cs typeface="Calibri" panose="020F0502020204030204" charset="0"/>
              </a:rPr>
              <a:t>、订购月份</a:t>
            </a:r>
            <a:r>
              <a:rPr lang="en-US" altLang="x-none" sz="2800" dirty="0">
                <a:latin typeface="Calibri" panose="020F0502020204030204" charset="0"/>
                <a:ea typeface="楷体" panose="02010609060101010101" charset="-122"/>
                <a:cs typeface="Calibri" panose="020F0502020204030204" charset="0"/>
              </a:rPr>
              <a:t>(month)</a:t>
            </a:r>
            <a:r>
              <a:rPr lang="zh-CN" altLang="en-US" sz="2800" dirty="0">
                <a:latin typeface="Calibri" panose="020F0502020204030204" charset="0"/>
                <a:ea typeface="楷体" panose="02010609060101010101" charset="-122"/>
                <a:cs typeface="Calibri" panose="020F0502020204030204" charset="0"/>
              </a:rPr>
              <a:t>以及订购数量</a:t>
            </a:r>
            <a:r>
              <a:rPr lang="en-US" altLang="x-none" sz="2800" dirty="0">
                <a:latin typeface="Calibri" panose="020F0502020204030204" charset="0"/>
                <a:ea typeface="楷体" panose="02010609060101010101" charset="-122"/>
                <a:cs typeface="Calibri" panose="020F0502020204030204" charset="0"/>
              </a:rPr>
              <a:t>(qty)</a:t>
            </a:r>
          </a:p>
        </p:txBody>
      </p:sp>
      <mc:AlternateContent xmlns:mc="http://schemas.openxmlformats.org/markup-compatibility/2006" xmlns:a14="http://schemas.microsoft.com/office/drawing/2010/main">
        <mc:Choice Requires="a14">
          <p:sp>
            <p:nvSpPr>
              <p:cNvPr id="4" name="文本框 3"/>
              <p:cNvSpPr txBox="1"/>
              <p:nvPr/>
            </p:nvSpPr>
            <p:spPr>
              <a:xfrm>
                <a:off x="943546" y="3873005"/>
                <a:ext cx="9207500" cy="51816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𝝅</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𝒑𝒊𝒅</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𝒎𝒐𝒏𝒕𝒉</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𝒒𝒕𝒚</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943546" y="3873005"/>
                <a:ext cx="9207500" cy="518160"/>
              </a:xfrm>
              <a:prstGeom prst="rect">
                <a:avLst/>
              </a:prstGeom>
              <a:blipFill rotWithShape="1">
                <a:blip r:embed="rId2"/>
                <a:stretch>
                  <a:fillRect l="-6" t="-27" r="6"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4173156" y="3873005"/>
                <a:ext cx="5758815" cy="52197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𝝈</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  ∧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𝒄𝒏𝒂𝒎𝒆</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𝑨𝒍𝒍𝒊𝒆𝒅</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dirty="0">
                  <a:solidFill>
                    <a:srgbClr val="FF0000"/>
                  </a:solidFill>
                  <a:latin typeface="Cambria Math" panose="02040503050406030204" charset="0"/>
                  <a:ea typeface="MS Mincho"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173156" y="3873005"/>
                <a:ext cx="5758815" cy="521970"/>
              </a:xfrm>
              <a:prstGeom prst="rect">
                <a:avLst/>
              </a:prstGeom>
              <a:blipFill>
                <a:blip r:embed="rId3"/>
                <a:stretch>
                  <a:fillRect r="-441" b="-209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8634666" y="3873005"/>
                <a:ext cx="1089660" cy="52197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𝑶</m:t>
                      </m:r>
                    </m:oMath>
                  </m:oMathPara>
                </a14:m>
                <a:endParaRPr lang="en-US" altLang="zh-CN" sz="2800" b="1" i="1">
                  <a:solidFill>
                    <a:srgbClr val="FF0000"/>
                  </a:solidFill>
                  <a:latin typeface="Cambria Math" panose="02040503050406030204" charset="0"/>
                  <a:cs typeface="Cambria Math" panose="0204050305040603020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8634666" y="3873005"/>
                <a:ext cx="1089660" cy="521970"/>
              </a:xfrm>
              <a:prstGeom prst="rect">
                <a:avLst/>
              </a:prstGeom>
              <a:blipFill rotWithShape="1">
                <a:blip r:embed="rId4"/>
                <a:stretch>
                  <a:fillRect l="-52" t="-27" r="-181" b="27"/>
                </a:stretch>
              </a:blipFill>
            </p:spPr>
            <p:txBody>
              <a:bodyPr/>
              <a:lstStyle/>
              <a:p>
                <a:r>
                  <a:rPr lang="zh-CN" altLang="en-US">
                    <a:noFill/>
                  </a:rPr>
                  <a:t> </a:t>
                </a:r>
              </a:p>
            </p:txBody>
          </p:sp>
        </mc:Fallback>
      </mc:AlternateContent>
      <p:sp>
        <p:nvSpPr>
          <p:cNvPr id="5" name="文本框 4"/>
          <p:cNvSpPr txBox="1"/>
          <p:nvPr/>
        </p:nvSpPr>
        <p:spPr>
          <a:xfrm>
            <a:off x="424180" y="3217545"/>
            <a:ext cx="11343640" cy="521970"/>
          </a:xfrm>
          <a:prstGeom prst="rect">
            <a:avLst/>
          </a:prstGeom>
          <a:solidFill>
            <a:schemeClr val="bg2">
              <a:alpha val="50000"/>
            </a:schemeClr>
          </a:solidFill>
        </p:spPr>
        <p:txBody>
          <a:bodyPr wrap="square" rtlCol="0">
            <a:noAutofit/>
          </a:bodyPr>
          <a:lstStyle/>
          <a:p>
            <a:pPr marL="514350" indent="-514350">
              <a:buClr>
                <a:srgbClr val="C00000"/>
              </a:buClr>
              <a:buSzPct val="85000"/>
              <a:buFont typeface="+mj-ea"/>
              <a:buAutoNum type="circleNumDbPlain"/>
            </a:pPr>
            <a:r>
              <a:rPr lang="zh-CN" altLang="en-US" sz="2800" b="1">
                <a:solidFill>
                  <a:srgbClr val="1F2DA8"/>
                </a:solidFill>
                <a:latin typeface="楷体" panose="02010609060101010101" charset="-122"/>
                <a:ea typeface="楷体" panose="02010609060101010101" charset="-122"/>
              </a:rPr>
              <a:t>查询表达式（一）</a:t>
            </a:r>
          </a:p>
        </p:txBody>
      </p:sp>
      <mc:AlternateContent xmlns:mc="http://schemas.openxmlformats.org/markup-compatibility/2006" xmlns:a14="http://schemas.microsoft.com/office/drawing/2010/main">
        <mc:Choice Requires="a14">
          <p:sp>
            <p:nvSpPr>
              <p:cNvPr id="6" name="文本框 5"/>
              <p:cNvSpPr txBox="1"/>
              <p:nvPr/>
            </p:nvSpPr>
            <p:spPr>
              <a:xfrm>
                <a:off x="851471" y="5374145"/>
                <a:ext cx="9314815" cy="51816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𝝅</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𝒑𝒊𝒅</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𝒎𝒐𝒏𝒕𝒉</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𝒒𝒕𝒚</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851471" y="5374145"/>
                <a:ext cx="9314815" cy="518160"/>
              </a:xfrm>
              <a:prstGeom prst="rect">
                <a:avLst/>
              </a:prstGeom>
              <a:blipFill rotWithShape="1">
                <a:blip r:embed="rId5"/>
                <a:stretch>
                  <a:fillRect l="-6" t="-27" r="6"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081081" y="5374145"/>
                <a:ext cx="5903595" cy="52197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𝝈</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dirty="0">
                  <a:solidFill>
                    <a:srgbClr val="FF0000"/>
                  </a:solidFill>
                  <a:latin typeface="Cambria Math" panose="02040503050406030204" charset="0"/>
                  <a:ea typeface="MS Mincho" charset="0"/>
                  <a:cs typeface="Cambria Math" panose="02040503050406030204"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4081081" y="5374145"/>
                <a:ext cx="5903595" cy="521970"/>
              </a:xfrm>
              <a:prstGeom prst="rect">
                <a:avLst/>
              </a:prstGeom>
              <a:blipFill>
                <a:blip r:embed="rId6"/>
                <a:stretch>
                  <a:fillRect r="-858"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8780081" y="5374145"/>
                <a:ext cx="1022985" cy="52197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oMath>
                  </m:oMathPara>
                </a14:m>
                <a:endParaRPr lang="en-US" altLang="zh-CN" sz="2800" b="1" i="1" dirty="0">
                  <a:solidFill>
                    <a:srgbClr val="FF0000"/>
                  </a:solidFill>
                  <a:latin typeface="Cambria Math" panose="02040503050406030204" charset="0"/>
                  <a:cs typeface="Cambria Math" panose="02040503050406030204"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8780081" y="5374145"/>
                <a:ext cx="1022985" cy="521970"/>
              </a:xfrm>
              <a:prstGeom prst="rect">
                <a:avLst/>
              </a:prstGeom>
              <a:blipFill rotWithShape="1">
                <a:blip r:embed="rId7"/>
                <a:stretch>
                  <a:fillRect l="-56" t="-27" r="-192" b="27"/>
                </a:stretch>
              </a:blipFill>
            </p:spPr>
            <p:txBody>
              <a:bodyPr/>
              <a:lstStyle/>
              <a:p>
                <a:r>
                  <a:rPr lang="zh-CN" altLang="en-US">
                    <a:noFill/>
                  </a:rPr>
                  <a:t> </a:t>
                </a:r>
              </a:p>
            </p:txBody>
          </p:sp>
        </mc:Fallback>
      </mc:AlternateContent>
      <p:sp>
        <p:nvSpPr>
          <p:cNvPr id="9" name="文本框 8"/>
          <p:cNvSpPr txBox="1"/>
          <p:nvPr/>
        </p:nvSpPr>
        <p:spPr>
          <a:xfrm>
            <a:off x="424180" y="4749165"/>
            <a:ext cx="11343005" cy="521970"/>
          </a:xfrm>
          <a:prstGeom prst="rect">
            <a:avLst/>
          </a:prstGeom>
          <a:solidFill>
            <a:schemeClr val="bg2">
              <a:alpha val="50000"/>
            </a:schemeClr>
          </a:solidFill>
        </p:spPr>
        <p:txBody>
          <a:bodyPr wrap="square" rtlCol="0">
            <a:noAutofit/>
          </a:bodyPr>
          <a:lstStyle/>
          <a:p>
            <a:pPr marL="514350" indent="-514350">
              <a:buClr>
                <a:srgbClr val="C00000"/>
              </a:buClr>
              <a:buSzPct val="85000"/>
              <a:buFont typeface="+mj-ea"/>
              <a:buAutoNum type="circleNumDbPlain" startAt="2"/>
            </a:pPr>
            <a:r>
              <a:rPr lang="zh-CN" altLang="en-US" sz="2800" b="1">
                <a:solidFill>
                  <a:srgbClr val="1F2DA8"/>
                </a:solidFill>
                <a:latin typeface="楷体" panose="02010609060101010101" charset="-122"/>
                <a:ea typeface="楷体" panose="02010609060101010101" charset="-122"/>
              </a:rPr>
              <a:t>查询表达式（二）</a:t>
            </a:r>
          </a:p>
        </p:txBody>
      </p:sp>
      <mc:AlternateContent xmlns:mc="http://schemas.openxmlformats.org/markup-compatibility/2006" xmlns:a14="http://schemas.microsoft.com/office/drawing/2010/main">
        <mc:Choice Requires="a14">
          <p:sp>
            <p:nvSpPr>
              <p:cNvPr id="10" name="文本框 9"/>
              <p:cNvSpPr txBox="1"/>
              <p:nvPr/>
            </p:nvSpPr>
            <p:spPr>
              <a:xfrm>
                <a:off x="5908675" y="5374800"/>
                <a:ext cx="3324860" cy="521970"/>
              </a:xfrm>
              <a:prstGeom prst="rect">
                <a:avLst/>
              </a:prstGeom>
              <a:noFill/>
            </p:spPr>
            <p:txBody>
              <a:bodyPr wrap="squar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𝝈</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𝒄𝒏𝒂𝒎𝒆</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𝑨𝒍𝒍𝒊𝒆𝒅</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m:t>
                      </m:r>
                      <m:r>
                        <a:rPr lang="en-US" altLang="zh-CN" sz="2800" b="1" i="1">
                          <a:solidFill>
                            <a:srgbClr val="FF0000"/>
                          </a:solidFill>
                          <a:latin typeface="Cambria Math" panose="02040503050406030204" charset="0"/>
                          <a:ea typeface="MS Mincho" charset="0"/>
                          <a:cs typeface="Cambria Math" panose="02040503050406030204" charset="0"/>
                        </a:rPr>
                        <m:t>𝑪</m:t>
                      </m:r>
                      <m:r>
                        <a:rPr lang="en-US" altLang="zh-CN" sz="2800" b="1" i="1">
                          <a:solidFill>
                            <a:srgbClr val="FF0000"/>
                          </a:solidFill>
                          <a:latin typeface="Cambria Math" panose="02040503050406030204" charset="0"/>
                          <a:ea typeface="MS Mincho" charset="0"/>
                          <a:cs typeface="Cambria Math" panose="02040503050406030204" charset="0"/>
                        </a:rPr>
                        <m:t>)</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5908675" y="5374800"/>
                <a:ext cx="3324860" cy="521970"/>
              </a:xfrm>
              <a:prstGeom prst="rect">
                <a:avLst/>
              </a:prstGeom>
              <a:blipFill rotWithShape="1">
                <a:blip r:embed="rId8"/>
                <a:stretch>
                  <a:fillRect t="-31" b="31"/>
                </a:stretch>
              </a:blipFill>
            </p:spPr>
            <p:txBody>
              <a:bodyPr/>
              <a:lstStyle/>
              <a:p>
                <a:r>
                  <a:rPr lang="zh-CN" altLang="en-US">
                    <a:noFill/>
                  </a:rPr>
                  <a:t> </a:t>
                </a:r>
              </a:p>
            </p:txBody>
          </p:sp>
        </mc:Fallback>
      </mc:AlternateContent>
      <p:sp>
        <p:nvSpPr>
          <p:cNvPr id="12" name="灯片编号占位符 11"/>
          <p:cNvSpPr>
            <a:spLocks noGrp="1"/>
          </p:cNvSpPr>
          <p:nvPr>
            <p:ph type="sldNum" sz="quarter" idx="12"/>
          </p:nvPr>
        </p:nvSpPr>
        <p:spPr/>
        <p:txBody>
          <a:bodyPr/>
          <a:lstStyle/>
          <a:p>
            <a:fld id="{565CE74E-AB26-4998-AD42-012C4C1AD076}" type="slidenum">
              <a:rPr lang="zh-CN" altLang="en-US" smtClean="0"/>
              <a:t>67</a:t>
            </a:fld>
            <a:endParaRPr lang="zh-CN" altLang="en-US"/>
          </a:p>
        </p:txBody>
      </p:sp>
      <p:sp>
        <p:nvSpPr>
          <p:cNvPr id="11" name="页脚占位符 10"/>
          <p:cNvSpPr>
            <a:spLocks noGrp="1"/>
          </p:cNvSpPr>
          <p:nvPr>
            <p:ph type="ftr" sz="quarter" idx="11"/>
          </p:nvPr>
        </p:nvSpPr>
        <p:spPr/>
        <p:txBody>
          <a:bodyPr/>
          <a:lstStyle/>
          <a:p>
            <a:r>
              <a:rPr lang="zh-CN" altLang="en-US"/>
              <a:t>ch02_2_关系代数基本运算</a:t>
            </a:r>
          </a:p>
        </p:txBody>
      </p:sp>
      <p:grpSp>
        <p:nvGrpSpPr>
          <p:cNvPr id="13" name="组合 12"/>
          <p:cNvGrpSpPr/>
          <p:nvPr/>
        </p:nvGrpSpPr>
        <p:grpSpPr>
          <a:xfrm>
            <a:off x="423545" y="664210"/>
            <a:ext cx="11342370" cy="952500"/>
            <a:chOff x="667" y="1046"/>
            <a:chExt cx="17862" cy="1500"/>
          </a:xfrm>
        </p:grpSpPr>
        <p:sp>
          <p:nvSpPr>
            <p:cNvPr id="14"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15"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subTnLst>
                                    <p:animClr clrSpc="rgb" dir="cw">
                                      <p:cBhvr override="childStyle">
                                        <p:cTn dur="65" fill="hold" display="1" masterRel="nextClick" afterEffect="1"/>
                                        <p:tgtEl>
                                          <p:spTgt spid="2"/>
                                        </p:tgtEl>
                                        <p:attrNameLst>
                                          <p:attrName>ppt_c</p:attrName>
                                        </p:attrNameLst>
                                      </p:cBhvr>
                                      <p:to>
                                        <a:srgbClr val="0000C8"/>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subTnLst>
                                    <p:animClr clrSpc="rgb" dir="cw">
                                      <p:cBhvr override="childStyle">
                                        <p:cTn dur="65" fill="hold" display="1" masterRel="nextClick" afterEffect="1"/>
                                        <p:tgtEl>
                                          <p:spTgt spid="3"/>
                                        </p:tgtEl>
                                        <p:attrNameLst>
                                          <p:attrName>ppt_c</p:attrName>
                                        </p:attrNameLst>
                                      </p:cBhvr>
                                      <p:to>
                                        <a:srgbClr val="0000C8"/>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subTnLst>
                                    <p:animClr clrSpc="rgb" dir="cw">
                                      <p:cBhvr override="childStyle">
                                        <p:cTn dur="65" fill="hold" display="1" masterRel="nextClick" afterEffect="1"/>
                                        <p:tgtEl>
                                          <p:spTgt spid="4"/>
                                        </p:tgtEl>
                                        <p:attrNameLst>
                                          <p:attrName>ppt_c</p:attrName>
                                        </p:attrNameLst>
                                      </p:cBhvr>
                                      <p:to>
                                        <a:srgbClr val="0000C8"/>
                                      </p:to>
                                    </p:animClr>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subTnLst>
                                    <p:animClr clrSpc="rgb" dir="cw">
                                      <p:cBhvr override="childStyle">
                                        <p:cTn dur="65" fill="hold" display="1" masterRel="nextClick" afterEffect="1"/>
                                        <p:tgtEl>
                                          <p:spTgt spid="10"/>
                                        </p:tgtEl>
                                        <p:attrNameLst>
                                          <p:attrName>ppt_c</p:attrName>
                                        </p:attrNameLst>
                                      </p:cBhvr>
                                      <p:to>
                                        <a:srgbClr val="0000C8"/>
                                      </p:to>
                                    </p:animClr>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subTnLst>
                                    <p:animClr clrSpc="rgb" dir="cw">
                                      <p:cBhvr override="childStyle">
                                        <p:cTn dur="65" fill="hold" display="1" masterRel="nextClick" afterEffect="1"/>
                                        <p:tgtEl>
                                          <p:spTgt spid="8"/>
                                        </p:tgtEl>
                                        <p:attrNameLst>
                                          <p:attrName>ppt_c</p:attrName>
                                        </p:attrNameLst>
                                      </p:cBhvr>
                                      <p:to>
                                        <a:srgbClr val="0000C8"/>
                                      </p:to>
                                    </p:animClr>
                                  </p:sub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subTnLst>
                                    <p:animClr clrSpc="rgb" dir="cw">
                                      <p:cBhvr override="childStyle">
                                        <p:cTn dur="65" fill="hold" display="1" masterRel="nextClick" afterEffect="1"/>
                                        <p:tgtEl>
                                          <p:spTgt spid="7"/>
                                        </p:tgtEl>
                                        <p:attrNameLst>
                                          <p:attrName>ppt_c</p:attrName>
                                        </p:attrNameLst>
                                      </p:cBhvr>
                                      <p:to>
                                        <a:srgbClr val="0000C8"/>
                                      </p:to>
                                    </p:animClr>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subTnLst>
                                    <p:animClr clrSpc="rgb" dir="cw">
                                      <p:cBhvr override="childStyle">
                                        <p:cTn dur="65" fill="hold" display="1" masterRel="nextClick" afterEffect="1"/>
                                        <p:tgtEl>
                                          <p:spTgt spid="6"/>
                                        </p:tgtEl>
                                        <p:attrNameLst>
                                          <p:attrName>ppt_c</p:attrName>
                                        </p:attrNameLst>
                                      </p:cBhvr>
                                      <p:to>
                                        <a:srgbClr val="0000C8"/>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2" grpId="0"/>
      <p:bldP spid="5" grpId="0" bldLvl="0" animBg="1"/>
      <p:bldP spid="6" grpId="0"/>
      <p:bldP spid="7" grpId="0"/>
      <p:bldP spid="8" grpId="0"/>
      <p:bldP spid="9" grpId="0" bldLvl="0" animBg="1"/>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p:cNvSpPr>
            <a:spLocks noGrp="1"/>
          </p:cNvSpPr>
          <p:nvPr>
            <p:ph type="title"/>
          </p:nvPr>
        </p:nvSpPr>
        <p:spPr/>
        <p:txBody>
          <a:bodyPr wrap="square" anchor="ctr"/>
          <a:lstStyle/>
          <a:p>
            <a:pPr eaLnBrk="1" hangingPunct="1"/>
            <a:r>
              <a:rPr lang="en-US" altLang="x-none" dirty="0"/>
              <a:t>Example 6</a:t>
            </a:r>
            <a:r>
              <a:rPr lang="zh-CN" altLang="en-US" dirty="0"/>
              <a:t>（</a:t>
            </a:r>
            <a:r>
              <a:rPr lang="en-US" altLang="zh-CN" dirty="0"/>
              <a:t>2</a:t>
            </a:r>
            <a:r>
              <a:rPr lang="zh-CN" altLang="en-US" dirty="0"/>
              <a:t>）</a:t>
            </a:r>
          </a:p>
        </p:txBody>
      </p:sp>
      <p:sp>
        <p:nvSpPr>
          <p:cNvPr id="114692" name="Rectangle 3"/>
          <p:cNvSpPr>
            <a:spLocks noGrp="1"/>
          </p:cNvSpPr>
          <p:nvPr>
            <p:ph idx="1"/>
          </p:nvPr>
        </p:nvSpPr>
        <p:spPr>
          <a:xfrm>
            <a:off x="424180" y="687070"/>
            <a:ext cx="11343005" cy="829945"/>
          </a:xfrm>
          <a:solidFill>
            <a:schemeClr val="accent3">
              <a:lumMod val="20000"/>
              <a:lumOff val="80000"/>
              <a:alpha val="50000"/>
            </a:schemeClr>
          </a:solidFill>
        </p:spPr>
        <p:txBody>
          <a:bodyPr wrap="square" anchor="t">
            <a:noAutofit/>
          </a:bodyPr>
          <a:lstStyle/>
          <a:p>
            <a:pPr marL="457200" indent="-457200" eaLnBrk="1" hangingPunct="1">
              <a:lnSpc>
                <a:spcPct val="100000"/>
              </a:lnSpc>
              <a:spcBef>
                <a:spcPts val="20"/>
              </a:spcBef>
              <a:buFont typeface="+mj-lt"/>
              <a:buAutoNum type="arabicPeriod" startAt="6"/>
            </a:pPr>
            <a:r>
              <a:rPr lang="zh-CN" altLang="en-US" sz="2400" dirty="0">
                <a:latin typeface="Calibri" panose="020F0502020204030204" charset="0"/>
                <a:ea typeface="楷体" panose="02010609060101010101" charset="-122"/>
                <a:cs typeface="Calibri" panose="020F0502020204030204" charset="0"/>
              </a:rPr>
              <a:t>查询姓名为</a:t>
            </a:r>
            <a:r>
              <a:rPr lang="en-US" altLang="zh-CN" sz="2400" dirty="0">
                <a:latin typeface="Calibri" panose="020F0502020204030204" charset="0"/>
                <a:ea typeface="楷体" panose="02010609060101010101" charset="-122"/>
                <a:cs typeface="Calibri" panose="020F0502020204030204" charset="0"/>
              </a:rPr>
              <a:t>‘</a:t>
            </a:r>
            <a:r>
              <a:rPr lang="en-US" altLang="x-none" sz="2400" dirty="0">
                <a:latin typeface="Calibri" panose="020F0502020204030204" charset="0"/>
                <a:ea typeface="楷体" panose="02010609060101010101" charset="-122"/>
                <a:cs typeface="Calibri" panose="020F0502020204030204" charset="0"/>
              </a:rPr>
              <a:t>Allied’</a:t>
            </a:r>
            <a:r>
              <a:rPr lang="zh-CN" altLang="en-US" sz="2400" dirty="0">
                <a:latin typeface="Calibri" panose="020F0502020204030204" charset="0"/>
                <a:ea typeface="楷体" panose="02010609060101010101" charset="-122"/>
                <a:cs typeface="Calibri" panose="020F0502020204030204" charset="0"/>
              </a:rPr>
              <a:t>的顾客的订购信息，列出其每一条订单记录所购买商品的商品编号</a:t>
            </a:r>
            <a:r>
              <a:rPr lang="en-US" altLang="x-none" sz="2400" dirty="0">
                <a:latin typeface="Calibri" panose="020F0502020204030204" charset="0"/>
                <a:ea typeface="楷体" panose="02010609060101010101" charset="-122"/>
                <a:cs typeface="Calibri" panose="020F0502020204030204" charset="0"/>
              </a:rPr>
              <a:t>(pid)</a:t>
            </a:r>
            <a:r>
              <a:rPr lang="zh-CN" altLang="en-US" sz="2400" dirty="0">
                <a:latin typeface="Calibri" panose="020F0502020204030204" charset="0"/>
                <a:ea typeface="楷体" panose="02010609060101010101" charset="-122"/>
                <a:cs typeface="Calibri" panose="020F0502020204030204" charset="0"/>
              </a:rPr>
              <a:t>、订购月份</a:t>
            </a:r>
            <a:r>
              <a:rPr lang="en-US" altLang="x-none" sz="2400" dirty="0">
                <a:latin typeface="Calibri" panose="020F0502020204030204" charset="0"/>
                <a:ea typeface="楷体" panose="02010609060101010101" charset="-122"/>
                <a:cs typeface="Calibri" panose="020F0502020204030204" charset="0"/>
              </a:rPr>
              <a:t>(month)</a:t>
            </a:r>
            <a:r>
              <a:rPr lang="zh-CN" altLang="en-US" sz="2400" dirty="0">
                <a:latin typeface="Calibri" panose="020F0502020204030204" charset="0"/>
                <a:ea typeface="楷体" panose="02010609060101010101" charset="-122"/>
                <a:cs typeface="Calibri" panose="020F0502020204030204" charset="0"/>
              </a:rPr>
              <a:t>以及订购数量</a:t>
            </a:r>
            <a:r>
              <a:rPr lang="en-US" altLang="x-none" sz="2400" dirty="0">
                <a:latin typeface="Calibri" panose="020F0502020204030204" charset="0"/>
                <a:ea typeface="楷体" panose="02010609060101010101" charset="-122"/>
                <a:cs typeface="Calibri" panose="020F0502020204030204" charset="0"/>
              </a:rPr>
              <a:t>(qty)</a:t>
            </a:r>
          </a:p>
        </p:txBody>
      </p:sp>
      <mc:AlternateContent xmlns:mc="http://schemas.openxmlformats.org/markup-compatibility/2006">
        <mc:Choice xmlns:a14="http://schemas.microsoft.com/office/drawing/2010/main" Requires="a14">
          <p:sp>
            <p:nvSpPr>
              <p:cNvPr id="113670" name="Rectangle 5"/>
              <p:cNvSpPr/>
              <p:nvPr/>
            </p:nvSpPr>
            <p:spPr>
              <a:xfrm>
                <a:off x="424815" y="3883025"/>
                <a:ext cx="11342370" cy="1077595"/>
              </a:xfrm>
              <a:prstGeom prst="rect">
                <a:avLst/>
              </a:prstGeom>
              <a:noFill/>
              <a:ln w="9525">
                <a:noFill/>
              </a:ln>
            </p:spPr>
            <p:txBody>
              <a:bodyPr anchor="t">
                <a:noAutofit/>
              </a:bodyPr>
              <a:lstStyle/>
              <a:p>
                <a:pPr marL="457200" indent="-457200">
                  <a:lnSpc>
                    <a:spcPct val="110000"/>
                  </a:lnSpc>
                  <a:spcBef>
                    <a:spcPct val="20000"/>
                  </a:spcBef>
                  <a:buClr>
                    <a:srgbClr val="C00000"/>
                  </a:buClr>
                  <a:buSzPct val="85000"/>
                  <a:buFont typeface="+mj-ea"/>
                  <a:buAutoNum type="circleNumDbPlain" startAt="3"/>
                </a:pPr>
                <a:r>
                  <a:rPr lang="zh-CN" altLang="en-US" sz="2400" b="1" dirty="0">
                    <a:solidFill>
                      <a:srgbClr val="1F2DA8"/>
                    </a:solidFill>
                    <a:latin typeface="楷体" panose="02010609060101010101" charset="-122"/>
                    <a:ea typeface="楷体" panose="02010609060101010101" charset="-122"/>
                  </a:rPr>
                  <a:t>查询表达式（三）</a:t>
                </a:r>
              </a:p>
              <a:p>
                <a:pPr lvl="1" indent="0">
                  <a:lnSpc>
                    <a:spcPct val="110000"/>
                  </a:lnSpc>
                  <a:spcBef>
                    <a:spcPct val="20000"/>
                  </a:spcBef>
                  <a:buClr>
                    <a:srgbClr val="C00000"/>
                  </a:buClr>
                  <a:buSzPct val="85000"/>
                  <a:buFont typeface="+mj-ea"/>
                  <a:buNone/>
                </a:pPr>
                <a14:m>
                  <m:oMathPara xmlns:m="http://schemas.openxmlformats.org/officeDocument/2006/math">
                    <m:oMathParaPr>
                      <m:jc m:val="center"/>
                    </m:oMathParaPr>
                    <m:oMath xmlns:m="http://schemas.openxmlformats.org/officeDocument/2006/math">
                      <m:r>
                        <a:rPr lang="en-US" altLang="zh-CN" sz="2800" b="1" i="1" dirty="0">
                          <a:solidFill>
                            <a:srgbClr val="0000C8"/>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𝑶</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𝑶</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𝒎𝒐𝒏𝒕𝒉</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𝑶</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𝒒𝒕𝒚</m:t>
                      </m:r>
                      <m:r>
                        <a:rPr lang="en-US" altLang="x-none" sz="2800" b="1" i="1"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dirty="0">
                          <a:solidFill>
                            <a:srgbClr val="0000C8"/>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𝑪</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𝒄𝒊𝒅</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𝑶</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𝒄𝒊𝒅</m:t>
                      </m:r>
                      <m:r>
                        <a:rPr lang="en-US" altLang="x-none" sz="2800" b="1" i="1" dirty="0">
                          <a:solidFill>
                            <a:srgbClr val="0000C8"/>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𝒄𝒊𝒅</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0000C8"/>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𝑪</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𝒄𝒏𝒂𝒎𝒆</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𝑨𝒍𝒍𝒊𝒆𝒅</m:t>
                      </m:r>
                      <m:r>
                        <a:rPr lang="en-US" altLang="x-none" sz="2800" b="1" i="1" baseline="-25000"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dirty="0">
                          <a:solidFill>
                            <a:srgbClr val="0000C8"/>
                          </a:solidFill>
                          <a:latin typeface="Cambria Math" panose="02040503050406030204" charset="0"/>
                          <a:ea typeface="宋体" panose="02010600030101010101" pitchFamily="2" charset="-122"/>
                          <a:cs typeface="Cambria Math" panose="02040503050406030204" charset="0"/>
                        </a:rPr>
                        <m:t>𝑪</m:t>
                      </m:r>
                      <m:r>
                        <a:rPr lang="en-US" altLang="x-none" sz="2800" b="1" i="1" dirty="0">
                          <a:solidFill>
                            <a:srgbClr val="0000C8"/>
                          </a:solidFill>
                          <a:latin typeface="Cambria Math" panose="02040503050406030204" charset="0"/>
                          <a:ea typeface="宋体" panose="02010600030101010101" pitchFamily="2" charset="-122"/>
                          <a:cs typeface="Cambria Math" panose="02040503050406030204" charset="0"/>
                        </a:rPr>
                        <m:t>))×</m:t>
                      </m:r>
                      <m:r>
                        <a:rPr lang="en-US" altLang="x-none" sz="2800" b="1" i="1" dirty="0">
                          <a:solidFill>
                            <a:srgbClr val="0000C8"/>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0000C8"/>
                          </a:solidFill>
                          <a:latin typeface="Cambria Math" panose="02040503050406030204" charset="0"/>
                          <a:ea typeface="MS Mincho" charset="0"/>
                          <a:cs typeface="Cambria Math" panose="02040503050406030204" charset="0"/>
                        </a:rPr>
                        <m:t> ))</m:t>
                      </m:r>
                    </m:oMath>
                  </m:oMathPara>
                </a14:m>
                <a:endParaRPr lang="zh-CN" altLang="en-US" sz="2400" b="1" dirty="0">
                  <a:solidFill>
                    <a:srgbClr val="1F2DA8"/>
                  </a:solidFill>
                  <a:latin typeface="楷体" panose="02010609060101010101" charset="-122"/>
                  <a:ea typeface="楷体" panose="02010609060101010101" charset="-122"/>
                  <a:sym typeface="+mn-ea"/>
                </a:endParaRPr>
              </a:p>
            </p:txBody>
          </p:sp>
        </mc:Choice>
        <mc:Fallback>
          <p:sp>
            <p:nvSpPr>
              <p:cNvPr id="113670" name="Rectangle 5"/>
              <p:cNvSpPr>
                <a:spLocks noRot="1" noChangeAspect="1" noMove="1" noResize="1" noEditPoints="1" noAdjustHandles="1" noChangeArrowheads="1" noChangeShapeType="1" noTextEdit="1"/>
              </p:cNvSpPr>
              <p:nvPr/>
            </p:nvSpPr>
            <p:spPr>
              <a:xfrm>
                <a:off x="424815" y="3883025"/>
                <a:ext cx="11342370" cy="1077595"/>
              </a:xfrm>
              <a:prstGeom prst="rect">
                <a:avLst/>
              </a:prstGeom>
              <a:blipFill>
                <a:blip r:embed="rId2"/>
                <a:stretch>
                  <a:fillRect l="-336" t="-5814" b="-4651"/>
                </a:stretch>
              </a:blipFill>
              <a:ln w="9525">
                <a:noFill/>
              </a:ln>
            </p:spPr>
            <p:txBody>
              <a:bodyPr/>
              <a:lstStyle/>
              <a:p>
                <a:r>
                  <a:rPr lang="zh-CN" altLang="en-US">
                    <a:noFill/>
                  </a:rPr>
                  <a:t> </a:t>
                </a:r>
              </a:p>
            </p:txBody>
          </p:sp>
        </mc:Fallback>
      </mc:AlternateContent>
      <p:grpSp>
        <p:nvGrpSpPr>
          <p:cNvPr id="13" name="组合 12"/>
          <p:cNvGrpSpPr/>
          <p:nvPr/>
        </p:nvGrpSpPr>
        <p:grpSpPr>
          <a:xfrm>
            <a:off x="424180" y="1657350"/>
            <a:ext cx="11343005" cy="931545"/>
            <a:chOff x="668" y="3051"/>
            <a:chExt cx="17863" cy="1467"/>
          </a:xfrm>
        </p:grpSpPr>
        <p:grpSp>
          <p:nvGrpSpPr>
            <p:cNvPr id="6" name="组合 5"/>
            <p:cNvGrpSpPr/>
            <p:nvPr/>
          </p:nvGrpSpPr>
          <p:grpSpPr>
            <a:xfrm>
              <a:off x="1486" y="3696"/>
              <a:ext cx="14500" cy="822"/>
              <a:chOff x="1486" y="3696"/>
              <a:chExt cx="14500" cy="822"/>
            </a:xfrm>
          </p:grpSpPr>
          <mc:AlternateContent xmlns:mc="http://schemas.openxmlformats.org/markup-compatibility/2006" xmlns:a14="http://schemas.microsoft.com/office/drawing/2010/main">
            <mc:Choice Requires="a14">
              <p:sp>
                <p:nvSpPr>
                  <p:cNvPr id="4" name="文本框 3"/>
                  <p:cNvSpPr txBox="1"/>
                  <p:nvPr/>
                </p:nvSpPr>
                <p:spPr>
                  <a:xfrm>
                    <a:off x="1486" y="3696"/>
                    <a:ext cx="14500" cy="816"/>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𝝅</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𝒑𝒊𝒅</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𝒎𝒐𝒏𝒕𝒉</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𝒒𝒕𝒚</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486" y="3696"/>
                    <a:ext cx="14500" cy="816"/>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6572" y="3696"/>
                    <a:ext cx="9069" cy="822"/>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𝝈</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  ∧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𝒄𝒏𝒂𝒎𝒆</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𝑨𝒍𝒍𝒊𝒆𝒅</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dirty="0">
                      <a:solidFill>
                        <a:srgbClr val="FF0000"/>
                      </a:solidFill>
                      <a:latin typeface="Cambria Math" panose="02040503050406030204" charset="0"/>
                      <a:ea typeface="MS Mincho"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6572" y="3696"/>
                    <a:ext cx="9069" cy="822"/>
                  </a:xfrm>
                  <a:prstGeom prst="rect">
                    <a:avLst/>
                  </a:prstGeom>
                  <a:blipFill>
                    <a:blip r:embed="rId4"/>
                    <a:stretch>
                      <a:fillRect r="-1101" b="-186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13598" y="3696"/>
                    <a:ext cx="1716" cy="822"/>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𝑶</m:t>
                          </m:r>
                        </m:oMath>
                      </m:oMathPara>
                    </a14:m>
                    <a:endParaRPr lang="en-US" altLang="zh-CN" sz="2800" b="1" i="1">
                      <a:solidFill>
                        <a:srgbClr val="FF0000"/>
                      </a:solidFill>
                      <a:latin typeface="Cambria Math" panose="02040503050406030204" charset="0"/>
                      <a:cs typeface="Cambria Math" panose="0204050305040603020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3598" y="3696"/>
                    <a:ext cx="1716" cy="822"/>
                  </a:xfrm>
                  <a:prstGeom prst="rect">
                    <a:avLst/>
                  </a:prstGeom>
                  <a:blipFill rotWithShape="1">
                    <a:blip r:embed="rId5"/>
                  </a:blipFill>
                </p:spPr>
                <p:txBody>
                  <a:bodyPr/>
                  <a:lstStyle/>
                  <a:p>
                    <a:r>
                      <a:rPr lang="zh-CN" altLang="en-US">
                        <a:noFill/>
                      </a:rPr>
                      <a:t> </a:t>
                    </a:r>
                  </a:p>
                </p:txBody>
              </p:sp>
            </mc:Fallback>
          </mc:AlternateContent>
        </p:grpSp>
        <p:sp>
          <p:nvSpPr>
            <p:cNvPr id="5" name="文本框 4"/>
            <p:cNvSpPr txBox="1"/>
            <p:nvPr/>
          </p:nvSpPr>
          <p:spPr>
            <a:xfrm>
              <a:off x="668" y="3051"/>
              <a:ext cx="17863" cy="725"/>
            </a:xfrm>
            <a:prstGeom prst="rect">
              <a:avLst/>
            </a:prstGeom>
            <a:noFill/>
          </p:spPr>
          <p:txBody>
            <a:bodyPr wrap="square" rtlCol="0">
              <a:noAutofit/>
            </a:bodyPr>
            <a:lstStyle/>
            <a:p>
              <a:pPr marL="514350" indent="-514350">
                <a:buClr>
                  <a:srgbClr val="C00000"/>
                </a:buClr>
                <a:buSzPct val="85000"/>
                <a:buFont typeface="+mj-ea"/>
                <a:buAutoNum type="circleNumDbPlain"/>
              </a:pPr>
              <a:r>
                <a:rPr lang="zh-CN" altLang="en-US" sz="2400" b="1">
                  <a:solidFill>
                    <a:srgbClr val="1F2DA8"/>
                  </a:solidFill>
                  <a:latin typeface="楷体" panose="02010609060101010101" charset="-122"/>
                  <a:ea typeface="楷体" panose="02010609060101010101" charset="-122"/>
                </a:rPr>
                <a:t>查询表达式（一）</a:t>
              </a:r>
            </a:p>
          </p:txBody>
        </p:sp>
      </p:grpSp>
      <p:grpSp>
        <p:nvGrpSpPr>
          <p:cNvPr id="12" name="组合 11"/>
          <p:cNvGrpSpPr/>
          <p:nvPr/>
        </p:nvGrpSpPr>
        <p:grpSpPr>
          <a:xfrm>
            <a:off x="424815" y="2770505"/>
            <a:ext cx="11342370" cy="934085"/>
            <a:chOff x="668" y="7815"/>
            <a:chExt cx="17862" cy="1471"/>
          </a:xfrm>
        </p:grpSpPr>
        <mc:AlternateContent xmlns:mc="http://schemas.openxmlformats.org/markup-compatibility/2006" xmlns:a14="http://schemas.microsoft.com/office/drawing/2010/main">
          <mc:Choice Requires="a14">
            <p:sp>
              <p:nvSpPr>
                <p:cNvPr id="7" name="文本框 6"/>
                <p:cNvSpPr txBox="1"/>
                <p:nvPr/>
              </p:nvSpPr>
              <p:spPr>
                <a:xfrm>
                  <a:off x="1341" y="8463"/>
                  <a:ext cx="14669" cy="816"/>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𝝅</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𝒑𝒊𝒅</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𝒎𝒐𝒏𝒕𝒉</m:t>
                            </m:r>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𝒒𝒕𝒚</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41" y="8463"/>
                  <a:ext cx="14669" cy="816"/>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6427" y="8463"/>
                  <a:ext cx="9297" cy="822"/>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𝝈</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𝑶</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𝒄𝒊𝒅</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                                               )</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6427" y="8463"/>
                  <a:ext cx="9297" cy="82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3827" y="8463"/>
                  <a:ext cx="1611" cy="822"/>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𝑶</m:t>
                        </m:r>
                      </m:oMath>
                    </m:oMathPara>
                  </a14:m>
                  <a:endParaRPr lang="en-US" altLang="zh-CN" sz="2800" b="1" i="1" dirty="0">
                    <a:solidFill>
                      <a:srgbClr val="FF0000"/>
                    </a:solidFill>
                    <a:latin typeface="Cambria Math" panose="02040503050406030204" charset="0"/>
                    <a:cs typeface="Cambria Math" panose="02040503050406030204"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3827" y="8463"/>
                  <a:ext cx="1611" cy="822"/>
                </a:xfrm>
                <a:prstGeom prst="rect">
                  <a:avLst/>
                </a:prstGeom>
                <a:blipFill rotWithShape="1">
                  <a:blip r:embed="rId8"/>
                </a:blipFill>
              </p:spPr>
              <p:txBody>
                <a:bodyPr/>
                <a:lstStyle/>
                <a:p>
                  <a:r>
                    <a:rPr lang="zh-CN" altLang="en-US">
                      <a:noFill/>
                    </a:rPr>
                    <a:t> </a:t>
                  </a:r>
                </a:p>
              </p:txBody>
            </p:sp>
          </mc:Fallback>
        </mc:AlternateContent>
        <p:sp>
          <p:nvSpPr>
            <p:cNvPr id="10" name="文本框 9"/>
            <p:cNvSpPr txBox="1"/>
            <p:nvPr/>
          </p:nvSpPr>
          <p:spPr>
            <a:xfrm>
              <a:off x="668" y="7815"/>
              <a:ext cx="17862" cy="725"/>
            </a:xfrm>
            <a:prstGeom prst="rect">
              <a:avLst/>
            </a:prstGeom>
            <a:noFill/>
          </p:spPr>
          <p:txBody>
            <a:bodyPr wrap="square" rtlCol="0">
              <a:noAutofit/>
            </a:bodyPr>
            <a:lstStyle/>
            <a:p>
              <a:pPr marL="514350" indent="-514350">
                <a:buClr>
                  <a:srgbClr val="C00000"/>
                </a:buClr>
                <a:buSzPct val="85000"/>
                <a:buFont typeface="+mj-ea"/>
                <a:buAutoNum type="circleNumDbPlain" startAt="2"/>
              </a:pPr>
              <a:r>
                <a:rPr lang="zh-CN" altLang="en-US" sz="2400" b="1">
                  <a:solidFill>
                    <a:srgbClr val="1F2DA8"/>
                  </a:solidFill>
                  <a:latin typeface="楷体" panose="02010609060101010101" charset="-122"/>
                  <a:ea typeface="楷体" panose="02010609060101010101" charset="-122"/>
                </a:rPr>
                <a:t>查询表达式（二）</a:t>
              </a:r>
            </a:p>
          </p:txBody>
        </p:sp>
        <mc:AlternateContent xmlns:mc="http://schemas.openxmlformats.org/markup-compatibility/2006" xmlns:a14="http://schemas.microsoft.com/office/drawing/2010/main">
          <mc:Choice Requires="a14">
            <p:sp>
              <p:nvSpPr>
                <p:cNvPr id="11" name="文本框 10"/>
                <p:cNvSpPr txBox="1"/>
                <p:nvPr/>
              </p:nvSpPr>
              <p:spPr>
                <a:xfrm>
                  <a:off x="9305" y="8464"/>
                  <a:ext cx="5236" cy="822"/>
                </a:xfrm>
                <a:prstGeom prst="rect">
                  <a:avLst/>
                </a:prstGeom>
                <a:noFill/>
              </p:spPr>
              <p:txBody>
                <a:bodyPr wrap="squar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cs typeface="Cambria Math" panose="02040503050406030204" charset="0"/>
                              </a:rPr>
                            </m:ctrlPr>
                          </m:sSubPr>
                          <m:e>
                            <m:r>
                              <a:rPr lang="en-US" altLang="zh-CN" sz="2800" b="1" i="1">
                                <a:solidFill>
                                  <a:srgbClr val="FF0000"/>
                                </a:solidFill>
                                <a:latin typeface="Cambria Math" panose="02040503050406030204" charset="0"/>
                                <a:cs typeface="Cambria Math" panose="02040503050406030204" charset="0"/>
                              </a:rPr>
                              <m:t>𝝈</m:t>
                            </m:r>
                          </m:e>
                          <m:sub>
                            <m:r>
                              <a:rPr lang="en-US" altLang="zh-CN" sz="2800" b="1" i="1">
                                <a:solidFill>
                                  <a:srgbClr val="FF0000"/>
                                </a:solidFill>
                                <a:latin typeface="Cambria Math" panose="02040503050406030204" charset="0"/>
                                <a:cs typeface="Cambria Math" panose="02040503050406030204" charset="0"/>
                              </a:rPr>
                              <m:t> </m:t>
                            </m:r>
                            <m:r>
                              <a:rPr lang="en-US" altLang="zh-CN" sz="2800" b="1" i="1">
                                <a:solidFill>
                                  <a:srgbClr val="FF0000"/>
                                </a:solidFill>
                                <a:latin typeface="Cambria Math" panose="02040503050406030204" charset="0"/>
                                <a:cs typeface="Cambria Math" panose="02040503050406030204" charset="0"/>
                              </a:rPr>
                              <m:t>𝑪</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𝒄𝒏𝒂𝒎𝒆</m:t>
                            </m:r>
                            <m:r>
                              <a:rPr lang="en-US" altLang="zh-CN" sz="2800" b="1" i="1">
                                <a:solidFill>
                                  <a:srgbClr val="FF0000"/>
                                </a:solidFill>
                                <a:latin typeface="Cambria Math" panose="02040503050406030204" charset="0"/>
                                <a:cs typeface="Cambria Math" panose="02040503050406030204" charset="0"/>
                              </a:rPr>
                              <m:t>=’</m:t>
                            </m:r>
                            <m:r>
                              <a:rPr lang="en-US" altLang="zh-CN" sz="2800" b="1" i="1">
                                <a:solidFill>
                                  <a:srgbClr val="FF0000"/>
                                </a:solidFill>
                                <a:latin typeface="Cambria Math" panose="02040503050406030204" charset="0"/>
                                <a:cs typeface="Cambria Math" panose="02040503050406030204" charset="0"/>
                              </a:rPr>
                              <m:t>𝑨𝒍𝒍𝒊𝒆𝒅</m:t>
                            </m:r>
                            <m:r>
                              <a:rPr lang="en-US" altLang="zh-CN" sz="2800" b="1" i="1">
                                <a:solidFill>
                                  <a:srgbClr val="FF0000"/>
                                </a:solidFill>
                                <a:latin typeface="Cambria Math" panose="02040503050406030204" charset="0"/>
                                <a:cs typeface="Cambria Math" panose="02040503050406030204" charset="0"/>
                              </a:rPr>
                              <m:t>’ </m:t>
                            </m:r>
                          </m:sub>
                        </m:sSub>
                        <m:r>
                          <a:rPr lang="en-US" altLang="zh-CN" sz="2800" b="1" i="1">
                            <a:solidFill>
                              <a:srgbClr val="FF0000"/>
                            </a:solidFill>
                            <a:latin typeface="Cambria Math" panose="02040503050406030204" charset="0"/>
                            <a:ea typeface="MS Mincho" charset="0"/>
                            <a:cs typeface="Cambria Math" panose="02040503050406030204" charset="0"/>
                          </a:rPr>
                          <m:t>(</m:t>
                        </m:r>
                        <m:r>
                          <a:rPr lang="en-US" altLang="zh-CN" sz="2800" b="1" i="1">
                            <a:solidFill>
                              <a:srgbClr val="FF0000"/>
                            </a:solidFill>
                            <a:latin typeface="Cambria Math" panose="02040503050406030204" charset="0"/>
                            <a:ea typeface="MS Mincho" charset="0"/>
                            <a:cs typeface="Cambria Math" panose="02040503050406030204" charset="0"/>
                          </a:rPr>
                          <m:t>𝑪</m:t>
                        </m:r>
                        <m:r>
                          <a:rPr lang="en-US" altLang="zh-CN" sz="2800" b="1" i="1">
                            <a:solidFill>
                              <a:srgbClr val="FF0000"/>
                            </a:solidFill>
                            <a:latin typeface="Cambria Math" panose="02040503050406030204" charset="0"/>
                            <a:ea typeface="MS Mincho" charset="0"/>
                            <a:cs typeface="Cambria Math" panose="02040503050406030204" charset="0"/>
                          </a:rPr>
                          <m:t>)</m:t>
                        </m:r>
                      </m:oMath>
                    </m:oMathPara>
                  </a14:m>
                  <a:endParaRPr lang="en-US" altLang="zh-CN" sz="2800" b="1" i="1">
                    <a:solidFill>
                      <a:srgbClr val="FF0000"/>
                    </a:solidFill>
                    <a:latin typeface="Cambria Math" panose="02040503050406030204" charset="0"/>
                    <a:ea typeface="MS Mincho" charset="0"/>
                    <a:cs typeface="Cambria Math" panose="02040503050406030204"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9305" y="8464"/>
                  <a:ext cx="5236" cy="822"/>
                </a:xfrm>
                <a:prstGeom prst="rect">
                  <a:avLst/>
                </a:prstGeom>
                <a:blipFill rotWithShape="1">
                  <a:blip r:embed="rId9"/>
                </a:blipFill>
              </p:spPr>
              <p:txBody>
                <a:bodyPr/>
                <a:lstStyle/>
                <a:p>
                  <a:r>
                    <a:rPr lang="zh-CN" altLang="en-US">
                      <a:noFill/>
                    </a:rPr>
                    <a:t> </a:t>
                  </a:r>
                </a:p>
              </p:txBody>
            </p:sp>
          </mc:Fallback>
        </mc:AlternateContent>
      </p:grpSp>
      <p:sp>
        <p:nvSpPr>
          <p:cNvPr id="14" name="Rectangle 5"/>
          <p:cNvSpPr/>
          <p:nvPr/>
        </p:nvSpPr>
        <p:spPr>
          <a:xfrm>
            <a:off x="424815" y="5106035"/>
            <a:ext cx="11342370" cy="1568450"/>
          </a:xfrm>
          <a:prstGeom prst="rect">
            <a:avLst/>
          </a:prstGeom>
          <a:solidFill>
            <a:schemeClr val="bg2">
              <a:alpha val="50000"/>
            </a:schemeClr>
          </a:solidFill>
          <a:ln w="9525">
            <a:noFill/>
          </a:ln>
        </p:spPr>
        <p:txBody>
          <a:bodyPr wrap="square" anchor="t">
            <a:noAutofit/>
          </a:bodyPr>
          <a:lstStyle/>
          <a:p>
            <a:pPr lvl="0" indent="-457200" algn="l" fontAlgn="auto">
              <a:lnSpc>
                <a:spcPct val="100000"/>
              </a:lnSpc>
              <a:spcBef>
                <a:spcPts val="0"/>
              </a:spcBef>
              <a:spcAft>
                <a:spcPts val="0"/>
              </a:spcAft>
              <a:buClr>
                <a:srgbClr val="C00000"/>
              </a:buClr>
              <a:buSzPct val="85000"/>
              <a:buFont typeface="Wingdings" panose="05000000000000000000" charset="0"/>
              <a:buChar char="q"/>
            </a:pPr>
            <a:r>
              <a:rPr lang="zh-CN" altLang="en-US" sz="2400" b="1" dirty="0">
                <a:solidFill>
                  <a:srgbClr val="1F2DA8"/>
                </a:solidFill>
                <a:latin typeface="楷体" panose="02010609060101010101" charset="-122"/>
                <a:ea typeface="楷体" panose="02010609060101010101" charset="-122"/>
                <a:cs typeface="Cambria Math" panose="02040503050406030204" charset="0"/>
              </a:rPr>
              <a:t>说明：</a:t>
            </a:r>
          </a:p>
          <a:p>
            <a:pPr marL="914400" lvl="1" indent="-457200" algn="l" fontAlgn="auto">
              <a:lnSpc>
                <a:spcPct val="100000"/>
              </a:lnSpc>
              <a:spcBef>
                <a:spcPts val="0"/>
              </a:spcBef>
              <a:spcAft>
                <a:spcPts val="0"/>
              </a:spcAft>
              <a:buClr>
                <a:srgbClr val="C00000"/>
              </a:buClr>
              <a:buSzPct val="85000"/>
              <a:buFont typeface="Wingdings" panose="05000000000000000000" charset="0"/>
              <a:buChar char="Ø"/>
            </a:pPr>
            <a:r>
              <a:rPr lang="zh-CN" altLang="en-US" sz="2400" b="1" dirty="0">
                <a:solidFill>
                  <a:srgbClr val="1F2DA8"/>
                </a:solidFill>
                <a:latin typeface="楷体" panose="02010609060101010101" charset="-122"/>
                <a:ea typeface="楷体" panose="02010609060101010101" charset="-122"/>
                <a:sym typeface="+mn-ea"/>
              </a:rPr>
              <a:t>可提前执行单个关系上的元组选择查询，也可添加部分投影操作，以降低中间计算结果的数据量；</a:t>
            </a:r>
          </a:p>
          <a:p>
            <a:pPr marL="914400" lvl="1" indent="-457200" algn="l" fontAlgn="auto">
              <a:lnSpc>
                <a:spcPct val="100000"/>
              </a:lnSpc>
              <a:spcBef>
                <a:spcPts val="0"/>
              </a:spcBef>
              <a:spcAft>
                <a:spcPts val="0"/>
              </a:spcAft>
              <a:buClr>
                <a:srgbClr val="C00000"/>
              </a:buClr>
              <a:buSzPct val="85000"/>
              <a:buFont typeface="Wingdings" panose="05000000000000000000" charset="0"/>
              <a:buChar char="Ø"/>
            </a:pPr>
            <a:r>
              <a:rPr lang="zh-CN" altLang="en-US" sz="2400" b="1" dirty="0">
                <a:solidFill>
                  <a:srgbClr val="1F2DA8"/>
                </a:solidFill>
                <a:latin typeface="楷体" panose="02010609060101010101" charset="-122"/>
                <a:ea typeface="楷体" panose="02010609060101010101" charset="-122"/>
                <a:sym typeface="+mn-ea"/>
              </a:rPr>
              <a:t>添加新的投影操作，不能影响后续运算的合法性。</a:t>
            </a:r>
          </a:p>
        </p:txBody>
      </p:sp>
      <p:sp>
        <p:nvSpPr>
          <p:cNvPr id="16" name="灯片编号占位符 15"/>
          <p:cNvSpPr>
            <a:spLocks noGrp="1"/>
          </p:cNvSpPr>
          <p:nvPr>
            <p:ph type="sldNum" sz="quarter" idx="12"/>
          </p:nvPr>
        </p:nvSpPr>
        <p:spPr/>
        <p:txBody>
          <a:bodyPr/>
          <a:lstStyle/>
          <a:p>
            <a:fld id="{565CE74E-AB26-4998-AD42-012C4C1AD076}" type="slidenum">
              <a:rPr lang="zh-CN" altLang="en-US" smtClean="0"/>
              <a:t>68</a:t>
            </a:fld>
            <a:endParaRPr lang="zh-CN" altLang="en-US"/>
          </a:p>
        </p:txBody>
      </p:sp>
      <p:sp>
        <p:nvSpPr>
          <p:cNvPr id="15" name="页脚占位符 14"/>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670"/>
                                        </p:tgtEl>
                                        <p:attrNameLst>
                                          <p:attrName>style.visibility</p:attrName>
                                        </p:attrNameLst>
                                      </p:cBhvr>
                                      <p:to>
                                        <p:strVal val="visible"/>
                                      </p:to>
                                    </p:set>
                                    <p:animEffect transition="in" filter="blinds(horizontal)">
                                      <p:cBhvr>
                                        <p:cTn id="7" dur="500"/>
                                        <p:tgtEl>
                                          <p:spTgt spid="1136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0" grpId="0"/>
      <p:bldP spid="14"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p:cNvSpPr>
          <p:nvPr>
            <p:ph type="title"/>
          </p:nvPr>
        </p:nvSpPr>
        <p:spPr/>
        <p:txBody>
          <a:bodyPr wrap="square" anchor="ctr"/>
          <a:lstStyle/>
          <a:p>
            <a:pPr eaLnBrk="1" hangingPunct="1"/>
            <a:r>
              <a:rPr lang="en-US" altLang="x-none" dirty="0"/>
              <a:t>Example 7</a:t>
            </a:r>
          </a:p>
        </p:txBody>
      </p:sp>
      <p:sp>
        <p:nvSpPr>
          <p:cNvPr id="115716" name="Rectangle 3"/>
          <p:cNvSpPr>
            <a:spLocks noGrp="1"/>
          </p:cNvSpPr>
          <p:nvPr>
            <p:ph idx="1"/>
          </p:nvPr>
        </p:nvSpPr>
        <p:spPr>
          <a:xfrm>
            <a:off x="419100" y="1877380"/>
            <a:ext cx="11343005" cy="521970"/>
          </a:xfrm>
          <a:solidFill>
            <a:schemeClr val="accent3">
              <a:lumMod val="20000"/>
              <a:lumOff val="80000"/>
              <a:alpha val="50000"/>
            </a:schemeClr>
          </a:solidFill>
        </p:spPr>
        <p:txBody>
          <a:bodyPr wrap="square" anchor="t">
            <a:noAutofit/>
          </a:bodyPr>
          <a:lstStyle/>
          <a:p>
            <a:pPr marL="514350" indent="-514350" eaLnBrk="1" hangingPunct="1">
              <a:lnSpc>
                <a:spcPct val="100000"/>
              </a:lnSpc>
              <a:spcBef>
                <a:spcPts val="0"/>
              </a:spcBef>
              <a:buFont typeface="+mj-lt"/>
              <a:buAutoNum type="arabicPeriod" startAt="7"/>
            </a:pPr>
            <a:r>
              <a:rPr lang="zh-CN" altLang="en-US" sz="2800" dirty="0">
                <a:ea typeface="楷体" panose="02010609060101010101" charset="-122"/>
                <a:cs typeface="+mn-lt"/>
              </a:rPr>
              <a:t>查询顾客、代理商以及所订购的商品都位于同一个城市的订单编号</a:t>
            </a:r>
            <a:endParaRPr lang="en-US" altLang="x-none" sz="2800" dirty="0">
              <a:ea typeface="楷体" panose="02010609060101010101" charset="-122"/>
              <a:cs typeface="+mn-lt"/>
            </a:endParaRPr>
          </a:p>
        </p:txBody>
      </p:sp>
      <mc:AlternateContent xmlns:mc="http://schemas.openxmlformats.org/markup-compatibility/2006" xmlns:a14="http://schemas.microsoft.com/office/drawing/2010/main">
        <mc:Choice Requires="a14">
          <p:sp>
            <p:nvSpPr>
              <p:cNvPr id="2" name="文本框 1"/>
              <p:cNvSpPr txBox="1"/>
              <p:nvPr/>
            </p:nvSpPr>
            <p:spPr>
              <a:xfrm>
                <a:off x="419100" y="2799080"/>
                <a:ext cx="11329035" cy="910590"/>
              </a:xfrm>
              <a:prstGeom prst="rect">
                <a:avLst/>
              </a:prstGeom>
              <a:noFill/>
            </p:spPr>
            <p:txBody>
              <a:bodyPr wrap="square" rtlCol="0">
                <a:noAutofit/>
              </a:bodyPr>
              <a:lstStyle/>
              <a:p>
                <a:pPr marL="457200" indent="-457200" fontAlgn="auto">
                  <a:lnSpc>
                    <a:spcPct val="100000"/>
                  </a:lnSpc>
                  <a:spcBef>
                    <a:spcPts val="600"/>
                  </a:spcBef>
                  <a:spcAft>
                    <a:spcPts val="1000"/>
                  </a:spcAft>
                  <a:buClr>
                    <a:srgbClr val="C00000"/>
                  </a:buClr>
                  <a:buSzPct val="85000"/>
                  <a:buFont typeface="Wingdings" panose="05000000000000000000" charset="0"/>
                  <a:buChar char="Ø"/>
                </a:pPr>
                <a:r>
                  <a:rPr lang="zh-CN" altLang="en-US" sz="2400" b="1">
                    <a:solidFill>
                      <a:srgbClr val="1F2DA8"/>
                    </a:solidFill>
                    <a:latin typeface="Arial" panose="020B0604020202020204" pitchFamily="34" charset="0"/>
                    <a:ea typeface="楷体" panose="02010609060101010101" charset="-122"/>
                  </a:rPr>
                  <a:t>查询表达式（一）</a:t>
                </a:r>
              </a:p>
              <a:p>
                <a:pPr lvl="0" indent="0" fontAlgn="auto">
                  <a:spcBef>
                    <a:spcPts val="600"/>
                  </a:spcBef>
                  <a:spcAft>
                    <a:spcPts val="600"/>
                  </a:spcAft>
                  <a:buClr>
                    <a:srgbClr val="C00000"/>
                  </a:buClr>
                  <a:buSzPct val="85000"/>
                  <a:buNone/>
                </a:pPr>
                <a14:m>
                  <m:oMathPara xmlns:m="http://schemas.openxmlformats.org/officeDocument/2006/math">
                    <m:oMathParaPr>
                      <m:jc m:val="centerGroup"/>
                    </m:oMathParaPr>
                    <m:oMath xmlns:m="http://schemas.openxmlformats.org/officeDocument/2006/math">
                      <m:sSub>
                        <m:sSubPr>
                          <m:ctrlPr>
                            <a:rPr lang="en-US" altLang="zh-CN" sz="2400" b="1" i="1">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rPr>
                            <m:t>𝝅</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rPr>
                            <m:t>𝒐𝒓𝒅𝒏𝒐</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sub>
                      </m:sSub>
                      <m:r>
                        <a:rPr lang="en-US" altLang="zh-CN" sz="2400" b="1" i="1">
                          <a:solidFill>
                            <a:srgbClr val="FF0000"/>
                          </a:solidFill>
                          <a:latin typeface="Cambria Math" panose="02040503050406030204" pitchFamily="18" charset="0"/>
                          <a:ea typeface="楷体" panose="02010609060101010101" charset="-122"/>
                        </a:rPr>
                        <m:t>(</m:t>
                      </m:r>
                      <m:sSub>
                        <m:sSubPr>
                          <m:ctrlPr>
                            <a:rPr lang="en-US" altLang="zh-CN" sz="2400" b="1" i="1">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rPr>
                            <m:t>𝝈</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rPr>
                            <m:t>𝑪</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𝑷</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𝑪</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𝒂𝒊𝒅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𝒂𝒊𝒅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𝑷</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𝒑𝒊𝒅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𝒑𝒊𝒅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sub>
                      </m:sSub>
                      <m:r>
                        <a:rPr lang="en-US" altLang="zh-CN" sz="2400" b="1" i="1">
                          <a:solidFill>
                            <a:srgbClr val="FF0000"/>
                          </a:solidFill>
                          <a:latin typeface="Cambria Math" panose="02040503050406030204" pitchFamily="18" charset="0"/>
                          <a:ea typeface="楷体" panose="02010609060101010101" charset="-122"/>
                        </a:rPr>
                        <m:t>(</m:t>
                      </m:r>
                      <m:r>
                        <a:rPr lang="en-US" altLang="zh-CN" sz="2400" b="1" i="1">
                          <a:solidFill>
                            <a:srgbClr val="FF0000"/>
                          </a:solidFill>
                          <a:latin typeface="Cambria Math" panose="02040503050406030204" pitchFamily="18" charset="0"/>
                          <a:ea typeface="楷体" panose="02010609060101010101" charset="-122"/>
                        </a:rPr>
                        <m:t>𝑪</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𝑷</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pitchFamily="18" charset="0"/>
                          <a:ea typeface="楷体" panose="02010609060101010101" charset="-122"/>
                        </a:rPr>
                        <m:t>))</m:t>
                      </m:r>
                    </m:oMath>
                  </m:oMathPara>
                </a14:m>
                <a:endParaRPr lang="zh-CN" altLang="en-US" sz="2400" b="1">
                  <a:solidFill>
                    <a:srgbClr val="1F2DA8"/>
                  </a:solidFill>
                  <a:latin typeface="Arial" panose="020B0604020202020204" pitchFamily="34" charset="0"/>
                  <a:ea typeface="楷体" panose="02010609060101010101"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19100" y="2799080"/>
                <a:ext cx="11329035" cy="910590"/>
              </a:xfrm>
              <a:prstGeom prst="rect">
                <a:avLst/>
              </a:prstGeom>
              <a:blipFill rotWithShape="1">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565CE74E-AB26-4998-AD42-012C4C1AD076}" type="slidenum">
              <a:rPr lang="zh-CN" altLang="en-US" smtClean="0"/>
              <a:t>69</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5" name="文本框 4"/>
              <p:cNvSpPr txBox="1"/>
              <p:nvPr/>
            </p:nvSpPr>
            <p:spPr>
              <a:xfrm>
                <a:off x="419100" y="4138930"/>
                <a:ext cx="11329035" cy="1361440"/>
              </a:xfrm>
              <a:prstGeom prst="rect">
                <a:avLst/>
              </a:prstGeom>
              <a:noFill/>
            </p:spPr>
            <p:txBody>
              <a:bodyPr wrap="square" rtlCol="0">
                <a:noAutofit/>
              </a:bodyPr>
              <a:lstStyle/>
              <a:p>
                <a:pPr marL="457200" indent="-457200" fontAlgn="auto">
                  <a:lnSpc>
                    <a:spcPct val="100000"/>
                  </a:lnSpc>
                  <a:spcBef>
                    <a:spcPts val="2000"/>
                  </a:spcBef>
                  <a:spcAft>
                    <a:spcPts val="1000"/>
                  </a:spcAft>
                  <a:buClr>
                    <a:srgbClr val="C00000"/>
                  </a:buClr>
                  <a:buSzPct val="85000"/>
                  <a:buFont typeface="Wingdings" panose="05000000000000000000" charset="0"/>
                  <a:buChar char="Ø"/>
                </a:pPr>
                <a:r>
                  <a:rPr lang="zh-CN" altLang="en-US" sz="2400" b="1">
                    <a:solidFill>
                      <a:srgbClr val="1F2DA8"/>
                    </a:solidFill>
                    <a:latin typeface="Arial" panose="020B0604020202020204" pitchFamily="34" charset="0"/>
                    <a:ea typeface="楷体" panose="02010609060101010101" charset="-122"/>
                  </a:rPr>
                  <a:t>查询表达式（二）</a:t>
                </a:r>
              </a:p>
              <a:p>
                <a:pPr indent="0" fontAlgn="auto">
                  <a:spcBef>
                    <a:spcPts val="600"/>
                  </a:spcBef>
                  <a:spcAft>
                    <a:spcPts val="600"/>
                  </a:spcAft>
                  <a:buClr>
                    <a:srgbClr val="C00000"/>
                  </a:buClr>
                  <a:buSzPct val="85000"/>
                  <a:buNone/>
                </a:pPr>
                <a14:m>
                  <m:oMathPara xmlns:m="http://schemas.openxmlformats.org/officeDocument/2006/math">
                    <m:oMathParaPr>
                      <m:jc m:val="left"/>
                    </m:oMathParaPr>
                    <m:oMath xmlns:m="http://schemas.openxmlformats.org/officeDocument/2006/math">
                      <m:sSub>
                        <m:sSubPr>
                          <m:ctrlPr>
                            <a:rPr lang="en-US" altLang="zh-CN" sz="2400" b="1" i="1">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rPr>
                            <m:t>𝝅</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rPr>
                            <m:t>𝒐𝒓𝒅𝒏𝒐</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sub>
                      </m:sSub>
                      <m:r>
                        <a:rPr lang="en-US" altLang="zh-CN" sz="2400" b="1" i="1">
                          <a:solidFill>
                            <a:srgbClr val="FF0000"/>
                          </a:solidFill>
                          <a:latin typeface="Cambria Math" panose="02040503050406030204" pitchFamily="18" charset="0"/>
                          <a:ea typeface="楷体" panose="02010609060101010101" charset="-122"/>
                        </a:rPr>
                        <m:t>( </m:t>
                      </m:r>
                      <m:sSub>
                        <m:sSubPr>
                          <m:ctrlPr>
                            <a:rPr lang="en-US" altLang="zh-CN" sz="2400" b="1" i="1">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rPr>
                            <m:t>𝝈</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rPr>
                            <m:t>𝑪</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 ∧ </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𝑷</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 ∧ </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𝑪</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 ∧ </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𝒂𝒊𝒅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𝒂𝒊𝒅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 ∧ </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𝑷</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𝒑𝒊𝒅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𝒑𝒊𝒅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sub>
                      </m:sSub>
                      <m:r>
                        <a:rPr lang="en-US" altLang="zh-CN" sz="2400" b="1" i="1">
                          <a:solidFill>
                            <a:srgbClr val="FF0000"/>
                          </a:solidFill>
                          <a:latin typeface="Cambria Math" panose="02040503050406030204" pitchFamily="18" charset="0"/>
                          <a:ea typeface="楷体" panose="02010609060101010101" charset="-122"/>
                        </a:rPr>
                        <m:t>(</m:t>
                      </m:r>
                    </m:oMath>
                  </m:oMathPara>
                </a14:m>
                <a:endParaRPr lang="en-US" altLang="zh-CN" sz="2400" b="1" i="1">
                  <a:solidFill>
                    <a:srgbClr val="FF0000"/>
                  </a:solidFill>
                  <a:latin typeface="Arial" panose="020B0604020202020204" pitchFamily="34" charset="0"/>
                  <a:ea typeface="楷体" panose="02010609060101010101" charset="-122"/>
                </a:endParaRPr>
              </a:p>
              <a:p>
                <a:pPr lvl="5" indent="0" fontAlgn="auto">
                  <a:spcBef>
                    <a:spcPts val="600"/>
                  </a:spcBef>
                  <a:spcAft>
                    <a:spcPts val="600"/>
                  </a:spcAft>
                  <a:buClr>
                    <a:srgbClr val="C00000"/>
                  </a:buClr>
                  <a:buSzPct val="85000"/>
                  <a:buNone/>
                </a:pPr>
                <a14:m>
                  <m:oMathPara xmlns:m="http://schemas.openxmlformats.org/officeDocument/2006/math">
                    <m:oMathParaPr>
                      <m:jc m:val="left"/>
                    </m:oMathParaPr>
                    <m:oMath xmlns:m="http://schemas.openxmlformats.org/officeDocument/2006/math">
                      <m:sSub>
                        <m:sSubPr>
                          <m:ctrlPr>
                            <a:rPr lang="en-US" altLang="zh-CN" sz="2400" b="1" i="1">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rPr>
                            <m:t>𝝅</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sub>
                      </m:sSub>
                      <m:r>
                        <a:rPr lang="en-US" altLang="zh-CN" sz="2400" b="1" i="1">
                          <a:solidFill>
                            <a:srgbClr val="FF0000"/>
                          </a:solidFill>
                          <a:latin typeface="Cambria Math" panose="02040503050406030204" pitchFamily="18" charset="0"/>
                          <a:ea typeface="楷体" panose="02010609060101010101" charset="-122"/>
                        </a:rPr>
                        <m:t>(</m:t>
                      </m:r>
                      <m:r>
                        <a:rPr lang="en-US" altLang="zh-CN" sz="2400" b="1" i="1">
                          <a:solidFill>
                            <a:srgbClr val="FF0000"/>
                          </a:solidFill>
                          <a:latin typeface="Cambria Math" panose="02040503050406030204" pitchFamily="18" charset="0"/>
                          <a:ea typeface="楷体" panose="02010609060101010101" charset="-122"/>
                        </a:rPr>
                        <m:t>𝑪</m:t>
                      </m:r>
                      <m:r>
                        <a:rPr lang="en-US" altLang="zh-CN" sz="2400" b="1" i="1">
                          <a:solidFill>
                            <a:srgbClr val="FF0000"/>
                          </a:solidFill>
                          <a:latin typeface="Cambria Math" panose="02040503050406030204" pitchFamily="18" charset="0"/>
                          <a:ea typeface="楷体" panose="02010609060101010101" charset="-122"/>
                        </a:rPr>
                        <m:t>)×</m:t>
                      </m:r>
                      <m:sSub>
                        <m:sSubPr>
                          <m:ctrlPr>
                            <a:rPr lang="en-US" altLang="zh-CN" sz="2400" b="1" i="1">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rPr>
                            <m:t>𝝅</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rPr>
                            <m:t>𝒂𝒊𝒅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sub>
                      </m:sSub>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𝑨</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sSub>
                        <m:sSubPr>
                          <m:ctrlPr>
                            <a:rPr lang="en-US" altLang="zh-CN" sz="2400" b="1" i="1">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rPr>
                            <m:t>𝝅</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rPr>
                            <m:t>𝒑𝒊𝒅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𝒄𝒊𝒕𝒚</m:t>
                          </m:r>
                          <m:r>
                            <a:rPr lang="en-US" altLang="zh-CN" sz="2400" b="1" i="1">
                              <a:solidFill>
                                <a:srgbClr val="FF0000"/>
                              </a:solidFill>
                              <a:latin typeface="Cambria Math" panose="02040503050406030204" charset="0"/>
                              <a:ea typeface="楷体" panose="02010609060101010101" charset="-122"/>
                              <a:cs typeface="Cambria Math" panose="02040503050406030204" charset="0"/>
                            </a:rPr>
                            <m:t> </m:t>
                          </m:r>
                        </m:sub>
                      </m:sSub>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𝑷</m:t>
                      </m:r>
                      <m:r>
                        <a:rPr lang="en-US" altLang="zh-CN" sz="2400" b="1" i="1">
                          <a:solidFill>
                            <a:srgbClr val="FF0000"/>
                          </a:solidFill>
                          <a:latin typeface="Cambria Math" panose="02040503050406030204" charset="0"/>
                          <a:ea typeface="楷体" panose="02010609060101010101" charset="-122"/>
                          <a:cs typeface="Cambria Math" panose="02040503050406030204" charset="0"/>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rPr>
                        <m:t>𝑶</m:t>
                      </m:r>
                      <m:r>
                        <a:rPr lang="en-US" altLang="zh-CN" sz="2400" b="1" i="1">
                          <a:solidFill>
                            <a:srgbClr val="FF0000"/>
                          </a:solidFill>
                          <a:latin typeface="Cambria Math" panose="02040503050406030204" charset="0"/>
                          <a:ea typeface="楷体" panose="02010609060101010101" charset="-122"/>
                          <a:cs typeface="Cambria Math" panose="02040503050406030204" charset="0"/>
                        </a:rPr>
                        <m:t> )  )</m:t>
                      </m:r>
                    </m:oMath>
                  </m:oMathPara>
                </a14:m>
                <a:endParaRPr lang="zh-CN" altLang="en-US" sz="2400" b="1">
                  <a:solidFill>
                    <a:srgbClr val="1F2DA8"/>
                  </a:solidFill>
                  <a:latin typeface="Arial" panose="020B0604020202020204" pitchFamily="34" charset="0"/>
                  <a:ea typeface="楷体" panose="02010609060101010101"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19100" y="4138930"/>
                <a:ext cx="11329035" cy="1361440"/>
              </a:xfrm>
              <a:prstGeom prst="rect">
                <a:avLst/>
              </a:prstGeom>
              <a:blipFill rotWithShape="1">
                <a:blip r:embed="rId3"/>
                <a:stretch>
                  <a:fillRect/>
                </a:stretch>
              </a:blipFill>
            </p:spPr>
            <p:txBody>
              <a:bodyPr/>
              <a:lstStyle/>
              <a:p>
                <a:r>
                  <a:rPr lang="zh-CN" altLang="en-US">
                    <a:noFill/>
                  </a:rPr>
                  <a:t> </a:t>
                </a:r>
              </a:p>
            </p:txBody>
          </p:sp>
        </mc:Fallback>
      </mc:AlternateContent>
      <p:grpSp>
        <p:nvGrpSpPr>
          <p:cNvPr id="8" name="组合 7"/>
          <p:cNvGrpSpPr/>
          <p:nvPr/>
        </p:nvGrpSpPr>
        <p:grpSpPr>
          <a:xfrm>
            <a:off x="423545" y="664210"/>
            <a:ext cx="11342370" cy="952500"/>
            <a:chOff x="667" y="1046"/>
            <a:chExt cx="17862" cy="1500"/>
          </a:xfrm>
        </p:grpSpPr>
        <p:sp>
          <p:nvSpPr>
            <p:cNvPr id="6"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7"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blinds(horizontal)">
                                      <p:cBhvr>
                                        <p:cTn id="15" dur="500"/>
                                        <p:tgtEl>
                                          <p:spTgt spid="5">
                                            <p:txEl>
                                              <p:pRg st="0" end="0"/>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blinds(horizontal)">
                                      <p:cBhvr>
                                        <p:cTn id="18" dur="500"/>
                                        <p:tgtEl>
                                          <p:spTgt spid="5">
                                            <p:txEl>
                                              <p:pRg st="1" end="1"/>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blinds(horizontal)">
                                      <p:cBhvr>
                                        <p:cTn id="21"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6145"/>
          <p:cNvSpPr>
            <a:spLocks noGrp="1"/>
          </p:cNvSpPr>
          <p:nvPr>
            <p:ph type="title"/>
          </p:nvPr>
        </p:nvSpPr>
        <p:spPr/>
        <p:txBody>
          <a:bodyPr anchor="ctr"/>
          <a:lstStyle/>
          <a:p>
            <a:r>
              <a:rPr lang="en-US" altLang="x-none" dirty="0">
                <a:sym typeface="+mn-ea"/>
              </a:rPr>
              <a:t>Example 8</a:t>
            </a:r>
            <a:endParaRPr lang="zh-CN" altLang="en-US" b="1">
              <a:ea typeface="宋体" panose="02010600030101010101" pitchFamily="2" charset="-122"/>
            </a:endParaRPr>
          </a:p>
        </p:txBody>
      </p:sp>
      <p:sp>
        <p:nvSpPr>
          <p:cNvPr id="6146" name="文本占位符 6146"/>
          <p:cNvSpPr>
            <a:spLocks noGrp="1"/>
          </p:cNvSpPr>
          <p:nvPr>
            <p:ph idx="1"/>
          </p:nvPr>
        </p:nvSpPr>
        <p:spPr>
          <a:xfrm>
            <a:off x="424815" y="1800000"/>
            <a:ext cx="11343005" cy="565150"/>
          </a:xfrm>
          <a:solidFill>
            <a:schemeClr val="accent3">
              <a:lumMod val="20000"/>
              <a:lumOff val="80000"/>
              <a:alpha val="50000"/>
            </a:schemeClr>
          </a:solidFill>
        </p:spPr>
        <p:txBody>
          <a:bodyPr anchor="t">
            <a:noAutofit/>
          </a:bodyPr>
          <a:lstStyle/>
          <a:p>
            <a:pPr marL="514350" indent="-514350">
              <a:lnSpc>
                <a:spcPct val="110000"/>
              </a:lnSpc>
              <a:buFont typeface="+mj-lt"/>
              <a:buAutoNum type="arabicPeriod" startAt="8"/>
            </a:pPr>
            <a:r>
              <a:rPr lang="zh-CN" altLang="en-US" sz="2800" dirty="0">
                <a:latin typeface="Calibri" panose="020F0502020204030204" charset="0"/>
                <a:cs typeface="Calibri" panose="020F0502020204030204" charset="0"/>
                <a:sym typeface="+mn-ea"/>
              </a:rPr>
              <a:t>查询</a:t>
            </a:r>
            <a:r>
              <a:rPr lang="zh-CN" altLang="en-US" sz="2800" dirty="0">
                <a:solidFill>
                  <a:srgbClr val="0000C8"/>
                </a:solidFill>
                <a:cs typeface="+mn-lt"/>
              </a:rPr>
              <a:t>没有销售过</a:t>
            </a:r>
            <a:r>
              <a:rPr lang="en-US" altLang="zh-CN" sz="2800" dirty="0">
                <a:solidFill>
                  <a:srgbClr val="0000C8"/>
                </a:solidFill>
                <a:cs typeface="+mn-lt"/>
              </a:rPr>
              <a:t>'</a:t>
            </a:r>
            <a:r>
              <a:rPr lang="en-US" altLang="x-none" sz="2800" dirty="0">
                <a:solidFill>
                  <a:srgbClr val="0000C8"/>
                </a:solidFill>
                <a:cs typeface="+mn-lt"/>
              </a:rPr>
              <a:t>p02'</a:t>
            </a:r>
            <a:r>
              <a:rPr lang="zh-CN" altLang="en-US" sz="2800" dirty="0">
                <a:solidFill>
                  <a:srgbClr val="0000C8"/>
                </a:solidFill>
                <a:cs typeface="+mn-lt"/>
              </a:rPr>
              <a:t>号商品的供应商的编号</a:t>
            </a:r>
            <a:r>
              <a:rPr lang="en-US" altLang="zh-CN" sz="2800" dirty="0">
                <a:solidFill>
                  <a:srgbClr val="0000C8"/>
                </a:solidFill>
                <a:cs typeface="+mn-lt"/>
              </a:rPr>
              <a:t>(</a:t>
            </a:r>
            <a:r>
              <a:rPr lang="en-US" altLang="x-none" sz="2800" dirty="0">
                <a:solidFill>
                  <a:srgbClr val="0000C8"/>
                </a:solidFill>
                <a:cs typeface="+mn-lt"/>
              </a:rPr>
              <a:t>aid)</a:t>
            </a:r>
            <a:r>
              <a:rPr lang="zh-CN" altLang="en-US" sz="2800" dirty="0">
                <a:solidFill>
                  <a:srgbClr val="0000C8"/>
                </a:solidFill>
                <a:cs typeface="+mn-lt"/>
              </a:rPr>
              <a:t>；</a:t>
            </a:r>
          </a:p>
        </p:txBody>
      </p:sp>
      <mc:AlternateContent xmlns:mc="http://schemas.openxmlformats.org/markup-compatibility/2006">
        <mc:Choice xmlns:a14="http://schemas.microsoft.com/office/drawing/2010/main" Requires="a14">
          <p:sp>
            <p:nvSpPr>
              <p:cNvPr id="6148" name="文本框 6147"/>
              <p:cNvSpPr txBox="1"/>
              <p:nvPr/>
            </p:nvSpPr>
            <p:spPr>
              <a:xfrm>
                <a:off x="4114800" y="4886325"/>
                <a:ext cx="3750310" cy="769620"/>
              </a:xfrm>
              <a:prstGeom prst="rect">
                <a:avLst/>
              </a:prstGeom>
              <a:noFill/>
              <a:ln w="9525">
                <a:noFill/>
              </a:ln>
            </p:spPr>
            <p:txBody>
              <a:bodyPr wrap="square" bIns="144145" anchor="t">
                <a:noAutofit/>
              </a:bodyPr>
              <a:lstStyle/>
              <a:p>
                <a:pPr algn="l">
                  <a:lnSpc>
                    <a:spcPct val="110000"/>
                  </a:lnSpc>
                  <a:spcBef>
                    <a:spcPct val="20000"/>
                  </a:spcBef>
                  <a:buClr>
                    <a:schemeClr val="accent2"/>
                  </a:buClr>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𝟎𝟐</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p:sp>
            <p:nvSpPr>
              <p:cNvPr id="6148" name="文本框 6147"/>
              <p:cNvSpPr txBox="1">
                <a:spLocks noRot="1" noChangeAspect="1" noMove="1" noResize="1" noEditPoints="1" noAdjustHandles="1" noChangeArrowheads="1" noChangeShapeType="1" noTextEdit="1"/>
              </p:cNvSpPr>
              <p:nvPr/>
            </p:nvSpPr>
            <p:spPr>
              <a:xfrm>
                <a:off x="4114800" y="4886325"/>
                <a:ext cx="3750310" cy="769620"/>
              </a:xfrm>
              <a:prstGeom prst="rect">
                <a:avLst/>
              </a:prstGeom>
              <a:blipFill>
                <a:blip r:embed="rId3"/>
                <a:stretch>
                  <a:fillRect/>
                </a:stretch>
              </a:blipFill>
              <a:ln w="9525">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72" name="文本框 7171"/>
              <p:cNvSpPr txBox="1"/>
              <p:nvPr/>
            </p:nvSpPr>
            <p:spPr>
              <a:xfrm>
                <a:off x="424180" y="5731510"/>
                <a:ext cx="11343005" cy="769620"/>
              </a:xfrm>
              <a:prstGeom prst="rect">
                <a:avLst/>
              </a:prstGeom>
              <a:noFill/>
              <a:ln w="9525">
                <a:noFill/>
              </a:ln>
            </p:spPr>
            <p:txBody>
              <a:bodyPr wrap="square" bIns="144145" anchor="t">
                <a:noAutofit/>
              </a:bodyPr>
              <a:lstStyle/>
              <a:p>
                <a:pPr marL="457200" indent="-457200">
                  <a:lnSpc>
                    <a:spcPct val="110000"/>
                  </a:lnSpc>
                  <a:spcBef>
                    <a:spcPct val="20000"/>
                  </a:spcBef>
                  <a:buClr>
                    <a:srgbClr val="C00000"/>
                  </a:buClr>
                  <a:buSzPct val="85000"/>
                  <a:buFont typeface="Wingdings" panose="05000000000000000000" charset="0"/>
                  <a:buChar char="q"/>
                </a:pPr>
                <a:r>
                  <a:rPr lang="zh-CN" altLang="en-US" sz="2800" b="1" dirty="0">
                    <a:solidFill>
                      <a:srgbClr val="1F2DA8"/>
                    </a:solidFill>
                    <a:latin typeface="楷体" panose="02010609060101010101" charset="-122"/>
                    <a:ea typeface="楷体" panose="02010609060101010101" charset="-122"/>
                    <a:sym typeface="Symbol" panose="05050102010706020507" pitchFamily="2" charset="2"/>
                  </a:rPr>
                  <a:t>另一种错误表示：</a:t>
                </a:r>
                <a14:m>
                  <m:oMath xmlns:m="http://schemas.openxmlformats.org/officeDocument/2006/math">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rPr>
                      <m:t>)  −</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 </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𝒑</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𝟎𝟐</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C00000"/>
                        </a:solidFill>
                        <a:latin typeface="Cambria Math" panose="02040503050406030204" charset="0"/>
                        <a:ea typeface="MS Mincho" charset="0"/>
                        <a:cs typeface="Cambria Math" panose="02040503050406030204" charset="0"/>
                      </a:rPr>
                      <m:t>) )</m:t>
                    </m:r>
                  </m:oMath>
                </a14:m>
                <a:endParaRPr lang="en-US" altLang="x-none" sz="2800" b="1" i="1" dirty="0">
                  <a:solidFill>
                    <a:srgbClr val="C00000"/>
                  </a:solidFill>
                  <a:latin typeface="Cambria Math" panose="02040503050406030204" charset="0"/>
                  <a:ea typeface="MS Mincho" charset="0"/>
                  <a:cs typeface="Cambria Math" panose="02040503050406030204" charset="0"/>
                </a:endParaRPr>
              </a:p>
            </p:txBody>
          </p:sp>
        </mc:Choice>
        <mc:Fallback>
          <p:sp>
            <p:nvSpPr>
              <p:cNvPr id="7172" name="文本框 7171"/>
              <p:cNvSpPr txBox="1">
                <a:spLocks noRot="1" noChangeAspect="1" noMove="1" noResize="1" noEditPoints="1" noAdjustHandles="1" noChangeArrowheads="1" noChangeShapeType="1" noTextEdit="1"/>
              </p:cNvSpPr>
              <p:nvPr/>
            </p:nvSpPr>
            <p:spPr>
              <a:xfrm>
                <a:off x="424180" y="5731510"/>
                <a:ext cx="11343005" cy="769620"/>
              </a:xfrm>
              <a:prstGeom prst="rect">
                <a:avLst/>
              </a:prstGeom>
              <a:blipFill>
                <a:blip r:embed="rId4"/>
                <a:stretch>
                  <a:fillRect l="-671" t="-11475"/>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70</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grpSp>
        <p:nvGrpSpPr>
          <p:cNvPr id="8" name="组合 7"/>
          <p:cNvGrpSpPr/>
          <p:nvPr/>
        </p:nvGrpSpPr>
        <p:grpSpPr>
          <a:xfrm>
            <a:off x="423545" y="664210"/>
            <a:ext cx="11342370" cy="952500"/>
            <a:chOff x="667" y="1046"/>
            <a:chExt cx="17862" cy="1500"/>
          </a:xfrm>
        </p:grpSpPr>
        <p:sp>
          <p:nvSpPr>
            <p:cNvPr id="7"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9"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mc:AlternateContent xmlns:mc="http://schemas.openxmlformats.org/markup-compatibility/2006" xmlns:a14="http://schemas.microsoft.com/office/drawing/2010/main">
        <mc:Choice Requires="a14">
          <p:sp>
            <p:nvSpPr>
              <p:cNvPr id="10" name="文本框 9"/>
              <p:cNvSpPr txBox="1"/>
              <p:nvPr/>
            </p:nvSpPr>
            <p:spPr>
              <a:xfrm>
                <a:off x="424815" y="2480310"/>
                <a:ext cx="11345545" cy="1631315"/>
              </a:xfrm>
              <a:prstGeom prst="rect">
                <a:avLst/>
              </a:prstGeom>
              <a:noFill/>
            </p:spPr>
            <p:txBody>
              <a:bodyPr wrap="square" rtlCol="0">
                <a:noAutofit/>
              </a:bodyPr>
              <a:lstStyle/>
              <a:p>
                <a:pPr marL="457200" indent="-457200" fontAlgn="auto">
                  <a:spcBef>
                    <a:spcPts val="1000"/>
                  </a:spcBef>
                  <a:buClr>
                    <a:srgbClr val="C00000"/>
                  </a:buClr>
                  <a:buSzPct val="85000"/>
                  <a:buFont typeface="Wingdings" panose="05000000000000000000" charset="0"/>
                  <a:buChar char="q"/>
                </a:pPr>
                <a:r>
                  <a:rPr lang="zh-CN" altLang="en-US" sz="2800" b="1">
                    <a:latin typeface="楷体" panose="02010609060101010101" charset="-122"/>
                    <a:ea typeface="楷体" panose="02010609060101010101" charset="-122"/>
                  </a:rPr>
                  <a:t>可能出现的错误表示</a:t>
                </a:r>
              </a:p>
              <a:p>
                <a:pPr marL="914400" lvl="1" indent="-457200" fontAlgn="auto">
                  <a:spcBef>
                    <a:spcPts val="1000"/>
                  </a:spcBef>
                  <a:buClr>
                    <a:srgbClr val="C00000"/>
                  </a:buClr>
                  <a:buSzPct val="85000"/>
                  <a:buFont typeface="Wingdings" panose="05000000000000000000" charset="0"/>
                  <a:buChar char="Ø"/>
                </a:pPr>
                <a14:m>
                  <m:oMath xmlns:m="http://schemas.openxmlformats.org/officeDocument/2006/math">
                    <m:sSub>
                      <m:sSubPr>
                        <m:ctrlPr>
                          <a:rPr lang="en-US" altLang="zh-CN" sz="2800" b="1" i="1">
                            <a:latin typeface="Cambria Math" panose="02040503050406030204" pitchFamily="18" charset="0"/>
                            <a:ea typeface="楷体" panose="02010609060101010101" charset="-122"/>
                            <a:cs typeface="Cambria Math" panose="02040503050406030204" charset="0"/>
                          </a:rPr>
                        </m:ctrlPr>
                      </m:sSubPr>
                      <m:e>
                        <m:r>
                          <a:rPr lang="en-US" altLang="zh-CN" sz="2800" b="1" i="1">
                            <a:latin typeface="Cambria Math" panose="02040503050406030204" charset="0"/>
                            <a:ea typeface="楷体" panose="02010609060101010101" charset="-122"/>
                            <a:cs typeface="Cambria Math" panose="02040503050406030204" charset="0"/>
                          </a:rPr>
                          <m:t>𝝅</m:t>
                        </m:r>
                      </m:e>
                      <m:sub>
                        <m:r>
                          <a:rPr lang="en-US" altLang="zh-CN" sz="2800" b="1" i="1">
                            <a:latin typeface="Cambria Math" panose="02040503050406030204" charset="0"/>
                            <a:ea typeface="楷体" panose="02010609060101010101" charset="-122"/>
                            <a:cs typeface="Cambria Math" panose="02040503050406030204" charset="0"/>
                          </a:rPr>
                          <m:t>𝒂𝒊𝒅</m:t>
                        </m:r>
                        <m:r>
                          <a:rPr lang="en-US" altLang="zh-CN" sz="2800" b="1" i="1">
                            <a:latin typeface="Cambria Math" panose="02040503050406030204" charset="0"/>
                            <a:ea typeface="楷体" panose="02010609060101010101" charset="-122"/>
                            <a:cs typeface="Cambria Math" panose="02040503050406030204" charset="0"/>
                          </a:rPr>
                          <m:t> </m:t>
                        </m:r>
                      </m:sub>
                    </m:sSub>
                    <m:r>
                      <a:rPr lang="en-US" altLang="zh-CN" sz="2800" b="1" i="1">
                        <a:latin typeface="Cambria Math" panose="02040503050406030204" charset="0"/>
                        <a:ea typeface="楷体" panose="02010609060101010101" charset="-122"/>
                        <a:cs typeface="Cambria Math" panose="02040503050406030204" charset="0"/>
                      </a:rPr>
                      <m:t>(</m:t>
                    </m:r>
                    <m:sSub>
                      <m:sSubPr>
                        <m:ctrlPr>
                          <a:rPr lang="en-US" altLang="zh-CN" sz="2800" b="1" i="1">
                            <a:latin typeface="Cambria Math" panose="02040503050406030204" pitchFamily="18" charset="0"/>
                            <a:ea typeface="楷体" panose="02010609060101010101" charset="-122"/>
                            <a:cs typeface="Cambria Math" panose="02040503050406030204" charset="0"/>
                          </a:rPr>
                        </m:ctrlPr>
                      </m:sSubPr>
                      <m:e>
                        <m:r>
                          <a:rPr lang="en-US" altLang="zh-CN" sz="2800" b="1" i="1">
                            <a:latin typeface="Cambria Math" panose="02040503050406030204" charset="0"/>
                            <a:ea typeface="楷体" panose="02010609060101010101" charset="-122"/>
                            <a:cs typeface="Cambria Math" panose="02040503050406030204" charset="0"/>
                          </a:rPr>
                          <m:t>𝝈</m:t>
                        </m:r>
                      </m:e>
                      <m:sub>
                        <m:r>
                          <a:rPr lang="en-US" altLang="zh-CN" sz="2800" b="1" i="1">
                            <a:latin typeface="Cambria Math" panose="02040503050406030204" charset="0"/>
                            <a:ea typeface="楷体" panose="02010609060101010101" charset="-122"/>
                            <a:cs typeface="Cambria Math" panose="02040503050406030204" charset="0"/>
                          </a:rPr>
                          <m:t>𝒑𝒊𝒅</m:t>
                        </m:r>
                        <m:r>
                          <a:rPr lang="en-US" altLang="zh-CN" sz="2800" b="1" i="1">
                            <a:latin typeface="Cambria Math" panose="02040503050406030204" charset="0"/>
                            <a:ea typeface="楷体" panose="02010609060101010101" charset="-122"/>
                            <a:cs typeface="Cambria Math" panose="02040503050406030204" charset="0"/>
                          </a:rPr>
                          <m:t> ≠ ’</m:t>
                        </m:r>
                        <m:r>
                          <a:rPr lang="en-US" altLang="zh-CN" sz="2800" b="1" i="1">
                            <a:latin typeface="Cambria Math" panose="02040503050406030204" charset="0"/>
                            <a:ea typeface="楷体" panose="02010609060101010101" charset="-122"/>
                            <a:cs typeface="Cambria Math" panose="02040503050406030204" charset="0"/>
                          </a:rPr>
                          <m:t>𝒑</m:t>
                        </m:r>
                        <m:r>
                          <a:rPr lang="en-US" altLang="zh-CN" sz="2800" b="1" i="1">
                            <a:latin typeface="Cambria Math" panose="02040503050406030204" charset="0"/>
                            <a:ea typeface="楷体" panose="02010609060101010101" charset="-122"/>
                            <a:cs typeface="Cambria Math" panose="02040503050406030204" charset="0"/>
                          </a:rPr>
                          <m:t>𝟎𝟐</m:t>
                        </m:r>
                        <m:r>
                          <a:rPr lang="en-US" altLang="zh-CN" sz="2800" b="1" i="1">
                            <a:latin typeface="Cambria Math" panose="02040503050406030204" charset="0"/>
                            <a:ea typeface="楷体" panose="02010609060101010101" charset="-122"/>
                            <a:cs typeface="Cambria Math" panose="02040503050406030204" charset="0"/>
                          </a:rPr>
                          <m:t>’</m:t>
                        </m:r>
                      </m:sub>
                    </m:sSub>
                    <m:r>
                      <a:rPr lang="en-US" altLang="zh-CN" sz="2800" b="1" i="1">
                        <a:latin typeface="Cambria Math" panose="02040503050406030204" charset="0"/>
                        <a:ea typeface="楷体" panose="02010609060101010101" charset="-122"/>
                        <a:cs typeface="Cambria Math" panose="02040503050406030204" charset="0"/>
                      </a:rPr>
                      <m:t>(</m:t>
                    </m:r>
                    <m:r>
                      <a:rPr lang="en-US" altLang="zh-CN" sz="2800" b="1" i="1">
                        <a:latin typeface="Cambria Math" panose="02040503050406030204" charset="0"/>
                        <a:ea typeface="楷体" panose="02010609060101010101" charset="-122"/>
                        <a:cs typeface="Cambria Math" panose="02040503050406030204" charset="0"/>
                      </a:rPr>
                      <m:t>𝑶</m:t>
                    </m:r>
                    <m:r>
                      <a:rPr lang="en-US" altLang="zh-CN" sz="2800" b="1" i="1">
                        <a:latin typeface="Cambria Math" panose="02040503050406030204" charset="0"/>
                        <a:ea typeface="楷体" panose="02010609060101010101" charset="-122"/>
                        <a:cs typeface="Cambria Math" panose="02040503050406030204" charset="0"/>
                      </a:rPr>
                      <m:t>))</m:t>
                    </m:r>
                  </m:oMath>
                </a14:m>
                <a:endParaRPr lang="en-US" altLang="zh-CN" sz="2800" b="1" i="1">
                  <a:latin typeface="Cambria Math" panose="02040503050406030204" charset="0"/>
                  <a:ea typeface="楷体" panose="02010609060101010101" charset="-122"/>
                  <a:cs typeface="Cambria Math" panose="02040503050406030204" charset="0"/>
                </a:endParaRPr>
              </a:p>
              <a:p>
                <a:pPr marL="914400" lvl="1" indent="-457200" fontAlgn="auto">
                  <a:spcBef>
                    <a:spcPts val="1000"/>
                  </a:spcBef>
                  <a:buClr>
                    <a:srgbClr val="C00000"/>
                  </a:buClr>
                  <a:buSzPct val="85000"/>
                  <a:buFont typeface="Wingdings" panose="05000000000000000000" charset="0"/>
                  <a:buChar char="Ø"/>
                </a:pPr>
                <a14:m>
                  <m:oMath xmlns:m="http://schemas.openxmlformats.org/officeDocument/2006/math">
                    <m:sSub>
                      <m:sSubPr>
                        <m:ctrlPr>
                          <a:rPr lang="en-US" altLang="zh-CN" sz="2800" b="1" i="1">
                            <a:latin typeface="Cambria Math" panose="02040503050406030204" pitchFamily="18" charset="0"/>
                            <a:ea typeface="楷体" panose="02010609060101010101" charset="-122"/>
                            <a:cs typeface="Cambria Math" panose="02040503050406030204" charset="0"/>
                          </a:rPr>
                        </m:ctrlPr>
                      </m:sSubPr>
                      <m:e>
                        <m:r>
                          <a:rPr lang="en-US" altLang="zh-CN" sz="2800" b="1" i="1">
                            <a:latin typeface="Cambria Math" panose="02040503050406030204" charset="0"/>
                            <a:ea typeface="楷体" panose="02010609060101010101" charset="-122"/>
                            <a:cs typeface="Cambria Math" panose="02040503050406030204" charset="0"/>
                          </a:rPr>
                          <m:t>𝝅</m:t>
                        </m:r>
                      </m:e>
                      <m:sub>
                        <m:r>
                          <a:rPr lang="en-US" altLang="zh-CN" sz="2800" b="1" i="1">
                            <a:latin typeface="Cambria Math" panose="02040503050406030204" charset="0"/>
                            <a:ea typeface="楷体" panose="02010609060101010101" charset="-122"/>
                            <a:cs typeface="Cambria Math" panose="02040503050406030204" charset="0"/>
                          </a:rPr>
                          <m:t>𝒂𝒊𝒅</m:t>
                        </m:r>
                        <m:r>
                          <a:rPr lang="en-US" altLang="zh-CN" sz="2800" b="1" i="1">
                            <a:latin typeface="Cambria Math" panose="02040503050406030204" charset="0"/>
                            <a:ea typeface="楷体" panose="02010609060101010101" charset="-122"/>
                            <a:cs typeface="Cambria Math" panose="02040503050406030204" charset="0"/>
                          </a:rPr>
                          <m:t> </m:t>
                        </m:r>
                      </m:sub>
                    </m:sSub>
                    <m:r>
                      <a:rPr lang="en-US" altLang="zh-CN" sz="2800" b="1" i="1">
                        <a:latin typeface="Cambria Math" panose="02040503050406030204" charset="0"/>
                        <a:ea typeface="楷体" panose="02010609060101010101" charset="-122"/>
                        <a:cs typeface="Cambria Math" panose="02040503050406030204" charset="0"/>
                      </a:rPr>
                      <m:t>(</m:t>
                    </m:r>
                    <m:sSub>
                      <m:sSubPr>
                        <m:ctrlPr>
                          <a:rPr lang="en-US" altLang="zh-CN" sz="2800" b="1" i="1">
                            <a:latin typeface="Cambria Math" panose="02040503050406030204" pitchFamily="18" charset="0"/>
                            <a:ea typeface="楷体" panose="02010609060101010101" charset="-122"/>
                            <a:cs typeface="Cambria Math" panose="02040503050406030204" charset="0"/>
                          </a:rPr>
                        </m:ctrlPr>
                      </m:sSubPr>
                      <m:e>
                        <m:r>
                          <a:rPr lang="en-US" altLang="zh-CN" sz="2800" b="1" i="1">
                            <a:latin typeface="Cambria Math" panose="02040503050406030204" charset="0"/>
                            <a:ea typeface="楷体" panose="02010609060101010101" charset="-122"/>
                            <a:cs typeface="Cambria Math" panose="02040503050406030204" charset="0"/>
                          </a:rPr>
                          <m:t>𝝈</m:t>
                        </m:r>
                      </m:e>
                      <m:sub>
                        <m:r>
                          <a:rPr lang="en-US" altLang="zh-CN" sz="2800" b="1" i="1">
                            <a:latin typeface="Cambria Math" panose="02040503050406030204" charset="0"/>
                            <a:ea typeface="楷体" panose="02010609060101010101" charset="-122"/>
                            <a:cs typeface="Cambria Math" panose="02040503050406030204" charset="0"/>
                          </a:rPr>
                          <m:t>𝒑𝒊𝒅</m:t>
                        </m:r>
                        <m:r>
                          <a:rPr lang="en-US" altLang="zh-CN" sz="2800" b="1" i="1">
                            <a:latin typeface="Cambria Math" panose="02040503050406030204" charset="0"/>
                            <a:ea typeface="楷体" panose="02010609060101010101" charset="-122"/>
                            <a:cs typeface="Cambria Math" panose="02040503050406030204" charset="0"/>
                          </a:rPr>
                          <m:t> = ’</m:t>
                        </m:r>
                        <m:r>
                          <a:rPr lang="en-US" altLang="zh-CN" sz="2800" b="1" i="1">
                            <a:latin typeface="Cambria Math" panose="02040503050406030204" charset="0"/>
                            <a:ea typeface="楷体" panose="02010609060101010101" charset="-122"/>
                            <a:cs typeface="Cambria Math" panose="02040503050406030204" charset="0"/>
                          </a:rPr>
                          <m:t>𝒑</m:t>
                        </m:r>
                        <m:r>
                          <a:rPr lang="en-US" altLang="zh-CN" sz="2800" b="1" i="1">
                            <a:latin typeface="Cambria Math" panose="02040503050406030204" charset="0"/>
                            <a:ea typeface="楷体" panose="02010609060101010101" charset="-122"/>
                            <a:cs typeface="Cambria Math" panose="02040503050406030204" charset="0"/>
                          </a:rPr>
                          <m:t>𝟎𝟐</m:t>
                        </m:r>
                        <m:r>
                          <a:rPr lang="en-US" altLang="zh-CN" sz="2800" b="1" i="1">
                            <a:latin typeface="Cambria Math" panose="02040503050406030204" charset="0"/>
                            <a:ea typeface="楷体" panose="02010609060101010101" charset="-122"/>
                            <a:cs typeface="Cambria Math" panose="02040503050406030204" charset="0"/>
                          </a:rPr>
                          <m:t>’  ⋀  </m:t>
                        </m:r>
                        <m:r>
                          <a:rPr lang="en-US" altLang="zh-CN" sz="2800" b="1" i="1">
                            <a:latin typeface="Cambria Math" panose="02040503050406030204" charset="0"/>
                            <a:ea typeface="楷体" panose="02010609060101010101" charset="-122"/>
                            <a:cs typeface="Cambria Math" panose="02040503050406030204" charset="0"/>
                          </a:rPr>
                          <m:t>𝒒𝒕𝒚</m:t>
                        </m:r>
                        <m:r>
                          <a:rPr lang="en-US" altLang="zh-CN" sz="2800" b="1" i="1">
                            <a:latin typeface="Cambria Math" panose="02040503050406030204" charset="0"/>
                            <a:ea typeface="楷体" panose="02010609060101010101" charset="-122"/>
                            <a:cs typeface="Cambria Math" panose="02040503050406030204" charset="0"/>
                          </a:rPr>
                          <m:t> = </m:t>
                        </m:r>
                        <m:r>
                          <a:rPr lang="en-US" altLang="zh-CN" sz="2800" b="1" i="1">
                            <a:latin typeface="Cambria Math" panose="02040503050406030204" charset="0"/>
                            <a:ea typeface="楷体" panose="02010609060101010101" charset="-122"/>
                            <a:cs typeface="Cambria Math" panose="02040503050406030204" charset="0"/>
                          </a:rPr>
                          <m:t>𝟎</m:t>
                        </m:r>
                        <m:r>
                          <a:rPr lang="en-US" altLang="zh-CN" sz="2800" b="1" i="1">
                            <a:latin typeface="Cambria Math" panose="02040503050406030204" charset="0"/>
                            <a:ea typeface="楷体" panose="02010609060101010101" charset="-122"/>
                            <a:cs typeface="Cambria Math" panose="02040503050406030204" charset="0"/>
                          </a:rPr>
                          <m:t> </m:t>
                        </m:r>
                      </m:sub>
                    </m:sSub>
                    <m:r>
                      <a:rPr lang="en-US" altLang="zh-CN" sz="2800" b="1" i="1">
                        <a:latin typeface="Cambria Math" panose="02040503050406030204" charset="0"/>
                        <a:ea typeface="楷体" panose="02010609060101010101" charset="-122"/>
                        <a:cs typeface="Cambria Math" panose="02040503050406030204" charset="0"/>
                      </a:rPr>
                      <m:t>(</m:t>
                    </m:r>
                    <m:r>
                      <a:rPr lang="en-US" altLang="zh-CN" sz="2800" b="1" i="1">
                        <a:latin typeface="Cambria Math" panose="02040503050406030204" charset="0"/>
                        <a:ea typeface="楷体" panose="02010609060101010101" charset="-122"/>
                        <a:cs typeface="Cambria Math" panose="02040503050406030204" charset="0"/>
                      </a:rPr>
                      <m:t>𝑶</m:t>
                    </m:r>
                    <m:r>
                      <a:rPr lang="en-US" altLang="zh-CN" sz="2800" b="1" i="1">
                        <a:latin typeface="Cambria Math" panose="02040503050406030204" charset="0"/>
                        <a:ea typeface="楷体" panose="02010609060101010101" charset="-122"/>
                        <a:cs typeface="Cambria Math" panose="02040503050406030204" charset="0"/>
                      </a:rPr>
                      <m:t>))</m:t>
                    </m:r>
                  </m:oMath>
                </a14:m>
                <a:endParaRPr lang="zh-CN" altLang="en-US" sz="2800" b="1">
                  <a:latin typeface="楷体" panose="02010609060101010101" charset="-122"/>
                  <a:ea typeface="楷体" panose="02010609060101010101"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424815" y="2480310"/>
                <a:ext cx="11345545" cy="1631315"/>
              </a:xfrm>
              <a:prstGeom prst="rect">
                <a:avLst/>
              </a:prstGeom>
              <a:blipFill rotWithShape="1">
                <a:blip r:embed="rId5"/>
                <a:stretch>
                  <a:fillRect/>
                </a:stretch>
              </a:blipFill>
            </p:spPr>
            <p:txBody>
              <a:bodyPr/>
              <a:lstStyle/>
              <a:p>
                <a:r>
                  <a:rPr lang="zh-CN" altLang="en-US">
                    <a:noFill/>
                  </a:rPr>
                  <a:t> </a:t>
                </a:r>
              </a:p>
            </p:txBody>
          </p:sp>
        </mc:Fallback>
      </mc:AlternateContent>
      <p:sp>
        <p:nvSpPr>
          <p:cNvPr id="11" name="文本框 10"/>
          <p:cNvSpPr txBox="1"/>
          <p:nvPr/>
        </p:nvSpPr>
        <p:spPr>
          <a:xfrm>
            <a:off x="467360" y="4288790"/>
            <a:ext cx="11303000" cy="521970"/>
          </a:xfrm>
          <a:prstGeom prst="rect">
            <a:avLst/>
          </a:prstGeom>
          <a:noFill/>
        </p:spPr>
        <p:txBody>
          <a:bodyPr wrap="square" rtlCol="0">
            <a:noAutofit/>
          </a:bodyPr>
          <a:lstStyle/>
          <a:p>
            <a:pPr marL="457200" indent="-457200" fontAlgn="auto">
              <a:spcBef>
                <a:spcPts val="1000"/>
              </a:spcBef>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rPr>
              <a:t>正确的查询表示如下</a:t>
            </a:r>
          </a:p>
        </p:txBody>
      </p:sp>
      <mc:AlternateContent xmlns:mc="http://schemas.openxmlformats.org/markup-compatibility/2006" xmlns:a14="http://schemas.microsoft.com/office/drawing/2010/main">
        <mc:Choice Requires="a14">
          <p:sp>
            <p:nvSpPr>
              <p:cNvPr id="12" name="文本框 11"/>
              <p:cNvSpPr txBox="1"/>
              <p:nvPr/>
            </p:nvSpPr>
            <p:spPr>
              <a:xfrm>
                <a:off x="2184400" y="4886325"/>
                <a:ext cx="1517650" cy="769620"/>
              </a:xfrm>
              <a:prstGeom prst="rect">
                <a:avLst/>
              </a:prstGeom>
              <a:noFill/>
              <a:ln w="9525">
                <a:noFill/>
              </a:ln>
            </p:spPr>
            <p:txBody>
              <a:bodyPr wrap="square" bIns="144145" anchor="t">
                <a:noAutofit/>
              </a:bodyPr>
              <a:lstStyle/>
              <a:p>
                <a:pPr algn="l">
                  <a:lnSpc>
                    <a:spcPct val="110000"/>
                  </a:lnSpc>
                  <a:spcBef>
                    <a:spcPct val="20000"/>
                  </a:spcBef>
                  <a:buClr>
                    <a:schemeClr val="accent2"/>
                  </a:buClr>
                  <a:buFont typeface="Wingdings" panose="05000000000000000000" pitchFamily="2" charset="2"/>
                  <a:buNone/>
                </a:pPr>
                <a14:m>
                  <m:oMathPara xmlns:m="http://schemas.openxmlformats.org/officeDocument/2006/math">
                    <m:oMathParaPr>
                      <m:jc m:val="righ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𝑨</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2184400" y="4886325"/>
                <a:ext cx="1517650" cy="769620"/>
              </a:xfrm>
              <a:prstGeom prst="rect">
                <a:avLst/>
              </a:prstGeom>
              <a:blipFill rotWithShape="1">
                <a:blip r:embed="rId6"/>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693795" y="4999990"/>
                <a:ext cx="581025" cy="663575"/>
              </a:xfrm>
              <a:prstGeom prst="rect">
                <a:avLst/>
              </a:prstGeom>
              <a:noFill/>
              <a:ln w="9525">
                <a:noFill/>
              </a:ln>
            </p:spPr>
            <p:txBody>
              <a:bodyPr wrap="square" bIns="144145" anchor="t">
                <a:noAutofit/>
              </a:bodyPr>
              <a:lstStyle/>
              <a:p>
                <a:pPr algn="l">
                  <a:lnSpc>
                    <a:spcPct val="110000"/>
                  </a:lnSpc>
                  <a:spcBef>
                    <a:spcPct val="20000"/>
                  </a:spcBef>
                  <a:buClr>
                    <a:schemeClr val="accent2"/>
                  </a:buClr>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3693795" y="4999990"/>
                <a:ext cx="581025" cy="663575"/>
              </a:xfrm>
              <a:prstGeom prst="rect">
                <a:avLst/>
              </a:prstGeom>
              <a:blipFill rotWithShape="1">
                <a:blip r:embed="rId7"/>
                <a:stretch>
                  <a:fillRect/>
                </a:stretch>
              </a:blipFill>
              <a:ln w="9525">
                <a:no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linds(horizont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blinds(horizontal)">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8"/>
                                        </p:tgtEl>
                                        <p:attrNameLst>
                                          <p:attrName>style.visibility</p:attrName>
                                        </p:attrNameLst>
                                      </p:cBhvr>
                                      <p:to>
                                        <p:strVal val="visible"/>
                                      </p:to>
                                    </p:set>
                                    <p:animEffect transition="in" filter="blinds(horizontal)">
                                      <p:cBhvr>
                                        <p:cTn id="27" dur="500"/>
                                        <p:tgtEl>
                                          <p:spTgt spid="6148"/>
                                        </p:tgtEl>
                                      </p:cBhvr>
                                    </p:animEffect>
                                  </p:childTnLst>
                                  <p:subTnLst>
                                    <p:animClr clrSpc="rgb" dir="cw">
                                      <p:cBhvr override="childStyle">
                                        <p:cTn dur="65" fill="hold" display="1" masterRel="nextClick" afterEffect="1"/>
                                        <p:tgtEl>
                                          <p:spTgt spid="6148"/>
                                        </p:tgtEl>
                                        <p:attrNameLst>
                                          <p:attrName>ppt_c</p:attrName>
                                        </p:attrNameLst>
                                      </p:cBhvr>
                                      <p:to>
                                        <a:schemeClr val="hlink"/>
                                      </p:to>
                                    </p:animClr>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subTnLst>
                                    <p:animClr clrSpc="rgb" dir="cw">
                                      <p:cBhvr override="childStyle">
                                        <p:cTn dur="65" fill="hold" display="1" masterRel="nextClick" afterEffect="1"/>
                                        <p:tgtEl>
                                          <p:spTgt spid="12"/>
                                        </p:tgtEl>
                                        <p:attrNameLst>
                                          <p:attrName>ppt_c</p:attrName>
                                        </p:attrNameLst>
                                      </p:cBhvr>
                                      <p:to>
                                        <a:schemeClr val="hlink"/>
                                      </p:to>
                                    </p:animClr>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subTnLst>
                                    <p:animClr clrSpc="rgb" dir="cw">
                                      <p:cBhvr override="childStyle">
                                        <p:cTn dur="65" fill="hold" display="1" masterRel="nextClick" afterEffect="1"/>
                                        <p:tgtEl>
                                          <p:spTgt spid="13"/>
                                        </p:tgtEl>
                                        <p:attrNameLst>
                                          <p:attrName>ppt_c</p:attrName>
                                        </p:attrNameLst>
                                      </p:cBhvr>
                                      <p:to>
                                        <a:schemeClr val="hlink"/>
                                      </p:to>
                                    </p:animClr>
                                  </p:sub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2"/>
                                        </p:tgtEl>
                                        <p:attrNameLst>
                                          <p:attrName>style.visibility</p:attrName>
                                        </p:attrNameLst>
                                      </p:cBhvr>
                                      <p:to>
                                        <p:strVal val="visible"/>
                                      </p:to>
                                    </p:set>
                                    <p:animEffect transition="in" filter="blinds(horizontal)">
                                      <p:cBhvr>
                                        <p:cTn id="42" dur="500"/>
                                        <p:tgtEl>
                                          <p:spTgt spid="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ldLvl="0" animBg="1"/>
      <p:bldP spid="7172" grpId="0" bldLvl="0" animBg="1"/>
      <p:bldP spid="10" grpId="0" build="p" bldLvl="2"/>
      <p:bldP spid="11" grpId="0"/>
      <p:bldP spid="12" grpId="0" bldLvl="0" animBg="1"/>
      <p:bldP spid="13"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6145"/>
          <p:cNvSpPr>
            <a:spLocks noGrp="1"/>
          </p:cNvSpPr>
          <p:nvPr>
            <p:ph type="title"/>
          </p:nvPr>
        </p:nvSpPr>
        <p:spPr/>
        <p:txBody>
          <a:bodyPr anchor="ctr"/>
          <a:lstStyle/>
          <a:p>
            <a:r>
              <a:rPr lang="en-US" altLang="x-none" dirty="0">
                <a:sym typeface="+mn-ea"/>
              </a:rPr>
              <a:t>Example 9</a:t>
            </a:r>
            <a:endParaRPr lang="zh-CN" altLang="en-US" b="1">
              <a:ea typeface="宋体" panose="02010600030101010101" pitchFamily="2" charset="-122"/>
            </a:endParaRPr>
          </a:p>
        </p:txBody>
      </p:sp>
      <p:sp>
        <p:nvSpPr>
          <p:cNvPr id="7170" name="文本占位符 7170"/>
          <p:cNvSpPr>
            <a:spLocks noGrp="1"/>
          </p:cNvSpPr>
          <p:nvPr/>
        </p:nvSpPr>
        <p:spPr>
          <a:xfrm>
            <a:off x="424815" y="1800000"/>
            <a:ext cx="11343005" cy="565150"/>
          </a:xfrm>
          <a:prstGeom prst="rect">
            <a:avLst/>
          </a:prstGeom>
          <a:solidFill>
            <a:schemeClr val="accent3">
              <a:lumMod val="20000"/>
              <a:lumOff val="80000"/>
              <a:alpha val="50000"/>
            </a:schemeClr>
          </a:solidFill>
        </p:spPr>
        <p:txBody>
          <a:bodyPr vert="horz" wrap="square" lIns="91440" tIns="45720" rIns="91440" bIns="45720" rtlCol="0" anchor="t">
            <a:noAutofit/>
          </a:bodyPr>
          <a:lstStyle>
            <a:lvl1pPr marL="360045" indent="-360045" algn="l" defTabSz="914400" rtl="0" eaLnBrk="1" latinLnBrk="0" hangingPunct="1">
              <a:lnSpc>
                <a:spcPct val="110000"/>
              </a:lnSpc>
              <a:spcBef>
                <a:spcPts val="0"/>
              </a:spcBef>
              <a:spcAft>
                <a:spcPts val="0"/>
              </a:spcAft>
              <a:buClr>
                <a:srgbClr val="C00000"/>
              </a:buClr>
              <a:buSzPct val="85000"/>
              <a:buFont typeface="Wingdings" panose="05000000000000000000" charset="0"/>
              <a:buChar char="q"/>
              <a:defRPr sz="2800" b="1" kern="1200">
                <a:solidFill>
                  <a:srgbClr val="1F2DA8"/>
                </a:solidFill>
                <a:latin typeface="Arial" panose="020B0604020202020204" pitchFamily="34" charset="0"/>
                <a:ea typeface="楷体" panose="02010609060101010101" charset="-122"/>
                <a:cs typeface="+mn-cs"/>
              </a:defRPr>
            </a:lvl1pPr>
            <a:lvl2pPr marL="7848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Arial" panose="020B0604020202020204" pitchFamily="34" charset="0"/>
                <a:ea typeface="楷体" panose="02010609060101010101" charset="-122"/>
                <a:cs typeface="+mn-cs"/>
              </a:defRPr>
            </a:lvl2pPr>
            <a:lvl3pPr marL="12528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3pPr>
            <a:lvl4pPr marL="17100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4pPr>
            <a:lvl5pPr marL="21564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Arial" panose="020B0604020202020204" pitchFamily="34" charset="0"/>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10000"/>
              </a:lnSpc>
              <a:buClr>
                <a:srgbClr val="C00000"/>
              </a:buClr>
              <a:buFont typeface="+mj-lt"/>
              <a:buAutoNum type="arabicPeriod" startAt="9"/>
            </a:pPr>
            <a:r>
              <a:rPr lang="zh-CN" altLang="en-US" dirty="0">
                <a:latin typeface="Calibri" panose="020F0502020204030204" charset="0"/>
                <a:cs typeface="Calibri" panose="020F0502020204030204" charset="0"/>
                <a:sym typeface="+mn-ea"/>
              </a:rPr>
              <a:t>查询</a:t>
            </a:r>
            <a:r>
              <a:rPr lang="zh-CN" altLang="en-US" sz="2800" dirty="0">
                <a:solidFill>
                  <a:srgbClr val="0000C8"/>
                </a:solidFill>
                <a:cs typeface="+mn-lt"/>
              </a:rPr>
              <a:t>只销售过</a:t>
            </a:r>
            <a:r>
              <a:rPr lang="en-US" altLang="zh-CN" sz="2800" dirty="0">
                <a:solidFill>
                  <a:srgbClr val="0000C8"/>
                </a:solidFill>
                <a:cs typeface="+mn-lt"/>
              </a:rPr>
              <a:t> ‘</a:t>
            </a:r>
            <a:r>
              <a:rPr lang="en-US" altLang="x-none" sz="2800" dirty="0">
                <a:solidFill>
                  <a:srgbClr val="0000C8"/>
                </a:solidFill>
                <a:cs typeface="+mn-lt"/>
              </a:rPr>
              <a:t>p02’ </a:t>
            </a:r>
            <a:r>
              <a:rPr lang="zh-CN" altLang="en-US" sz="2800" dirty="0">
                <a:solidFill>
                  <a:srgbClr val="0000C8"/>
                </a:solidFill>
                <a:cs typeface="+mn-lt"/>
              </a:rPr>
              <a:t>号商品的供应商的编号</a:t>
            </a:r>
          </a:p>
        </p:txBody>
      </p:sp>
      <mc:AlternateContent xmlns:mc="http://schemas.openxmlformats.org/markup-compatibility/2006">
        <mc:Choice xmlns:a14="http://schemas.microsoft.com/office/drawing/2010/main" Requires="a14">
          <p:sp>
            <p:nvSpPr>
              <p:cNvPr id="5" name="文本框 7181"/>
              <p:cNvSpPr txBox="1"/>
              <p:nvPr/>
            </p:nvSpPr>
            <p:spPr>
              <a:xfrm>
                <a:off x="425450" y="5170170"/>
                <a:ext cx="11342370" cy="671195"/>
              </a:xfrm>
              <a:prstGeom prst="rect">
                <a:avLst/>
              </a:prstGeom>
              <a:noFill/>
              <a:ln w="9525">
                <a:noFill/>
              </a:ln>
            </p:spPr>
            <p:txBody>
              <a:bodyPr wrap="square" anchor="t">
                <a:noAutofit/>
              </a:bodyPr>
              <a:lstStyle/>
              <a:p>
                <a:pPr lvl="0" indent="-457200">
                  <a:lnSpc>
                    <a:spcPct val="110000"/>
                  </a:lnSpc>
                  <a:spcBef>
                    <a:spcPct val="20000"/>
                  </a:spcBef>
                  <a:buClr>
                    <a:srgbClr val="C00000"/>
                  </a:buClr>
                  <a:buSzPct val="85000"/>
                  <a:buFont typeface="Wingdings" panose="05000000000000000000" charset="0"/>
                  <a:buChar char="q"/>
                </a:pPr>
                <a:r>
                  <a:rPr lang="zh-CN" altLang="en-US" sz="2800" b="1" dirty="0">
                    <a:solidFill>
                      <a:srgbClr val="0000C8"/>
                    </a:solidFill>
                    <a:latin typeface="Arial" panose="020B0604020202020204" pitchFamily="34" charset="0"/>
                    <a:ea typeface="楷体" panose="02010609060101010101" charset="-122"/>
                    <a:cs typeface="+mn-lt"/>
                    <a:sym typeface="Symbol" panose="05050102010706020507" pitchFamily="2" charset="2"/>
                  </a:rPr>
                  <a:t>本题不能表示为：</a:t>
                </a:r>
                <a:r>
                  <a:rPr lang="en-US" altLang="x-none" sz="2800" b="1" dirty="0">
                    <a:solidFill>
                      <a:schemeClr val="tx2"/>
                    </a:solidFill>
                    <a:latin typeface="Arial" panose="020B0604020202020204" pitchFamily="34" charset="0"/>
                    <a:ea typeface="宋体" panose="02010600030101010101" pitchFamily="2" charset="-122"/>
                    <a:sym typeface="Symbol" panose="05050102010706020507" pitchFamily="2" charset="2"/>
                  </a:rPr>
                  <a:t>  </a:t>
                </a:r>
                <a14:m>
                  <m:oMath xmlns:m="http://schemas.openxmlformats.org/officeDocument/2006/math">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rPr>
                      <m:t>𝑨</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rPr>
                      <m:t>)  −</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 </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𝒑</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𝟎𝟐</m:t>
                    </m:r>
                    <m:r>
                      <a:rPr lang="en-US" altLang="x-none" sz="2800" b="1" i="1" baseline="-25000" dirty="0">
                        <a:solidFill>
                          <a:srgbClr val="C0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C00000"/>
                        </a:solidFill>
                        <a:latin typeface="Cambria Math" panose="02040503050406030204" charset="0"/>
                        <a:ea typeface="宋体" panose="02010600030101010101" pitchFamily="2" charset="-122"/>
                        <a:cs typeface="Cambria Math" panose="02040503050406030204" charset="0"/>
                      </a:rPr>
                      <m:t>) )</m:t>
                    </m:r>
                  </m:oMath>
                </a14:m>
                <a:endParaRPr lang="en-US" altLang="x-none" sz="2800" b="1" i="1" dirty="0">
                  <a:solidFill>
                    <a:srgbClr val="C00000"/>
                  </a:solidFill>
                  <a:latin typeface="Arial" panose="020B0604020202020204" pitchFamily="34" charset="0"/>
                  <a:ea typeface="宋体" panose="02010600030101010101" pitchFamily="2" charset="-122"/>
                </a:endParaRPr>
              </a:p>
            </p:txBody>
          </p:sp>
        </mc:Choice>
        <mc:Fallback>
          <p:sp>
            <p:nvSpPr>
              <p:cNvPr id="5" name="文本框 7181"/>
              <p:cNvSpPr txBox="1">
                <a:spLocks noRot="1" noChangeAspect="1" noMove="1" noResize="1" noEditPoints="1" noAdjustHandles="1" noChangeArrowheads="1" noChangeShapeType="1" noTextEdit="1"/>
              </p:cNvSpPr>
              <p:nvPr/>
            </p:nvSpPr>
            <p:spPr>
              <a:xfrm>
                <a:off x="425450" y="5170170"/>
                <a:ext cx="11342370" cy="671195"/>
              </a:xfrm>
              <a:prstGeom prst="rect">
                <a:avLst/>
              </a:prstGeom>
              <a:blipFill>
                <a:blip r:embed="rId3"/>
                <a:stretch>
                  <a:fillRect l="-671" t="-13208" b="-9434"/>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71</a:t>
            </a:fld>
            <a:endParaRPr lang="zh-CN" altLang="en-US"/>
          </a:p>
        </p:txBody>
      </p:sp>
      <p:sp>
        <p:nvSpPr>
          <p:cNvPr id="4" name="页脚占位符 3"/>
          <p:cNvSpPr>
            <a:spLocks noGrp="1"/>
          </p:cNvSpPr>
          <p:nvPr>
            <p:ph type="ftr" sz="quarter" idx="11"/>
          </p:nvPr>
        </p:nvSpPr>
        <p:spPr>
          <a:xfrm>
            <a:off x="0" y="6695365"/>
            <a:ext cx="4114800" cy="153670"/>
          </a:xfrm>
        </p:spPr>
        <p:txBody>
          <a:bodyPr/>
          <a:lstStyle/>
          <a:p>
            <a:r>
              <a:rPr lang="zh-CN" altLang="en-US"/>
              <a:t>ch02_2_关系代数基本运算</a:t>
            </a:r>
          </a:p>
        </p:txBody>
      </p:sp>
      <p:grpSp>
        <p:nvGrpSpPr>
          <p:cNvPr id="8" name="组合 7"/>
          <p:cNvGrpSpPr/>
          <p:nvPr/>
        </p:nvGrpSpPr>
        <p:grpSpPr>
          <a:xfrm>
            <a:off x="423545" y="664210"/>
            <a:ext cx="11342370" cy="952500"/>
            <a:chOff x="667" y="1046"/>
            <a:chExt cx="17862" cy="1500"/>
          </a:xfrm>
        </p:grpSpPr>
        <p:sp>
          <p:nvSpPr>
            <p:cNvPr id="7"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9"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mc:AlternateContent xmlns:mc="http://schemas.openxmlformats.org/markup-compatibility/2006">
        <mc:Choice xmlns:a14="http://schemas.microsoft.com/office/drawing/2010/main" Requires="a14">
          <p:sp>
            <p:nvSpPr>
              <p:cNvPr id="10" name="文本框 9"/>
              <p:cNvSpPr txBox="1"/>
              <p:nvPr/>
            </p:nvSpPr>
            <p:spPr>
              <a:xfrm>
                <a:off x="4304030" y="4022090"/>
                <a:ext cx="3750310" cy="769620"/>
              </a:xfrm>
              <a:prstGeom prst="rect">
                <a:avLst/>
              </a:prstGeom>
              <a:noFill/>
              <a:ln w="9525">
                <a:noFill/>
              </a:ln>
            </p:spPr>
            <p:txBody>
              <a:bodyPr wrap="square" bIns="144145" anchor="t">
                <a:noAutofit/>
              </a:bodyPr>
              <a:lstStyle/>
              <a:p>
                <a:pPr algn="l">
                  <a:lnSpc>
                    <a:spcPct val="110000"/>
                  </a:lnSpc>
                  <a:spcBef>
                    <a:spcPct val="20000"/>
                  </a:spcBef>
                  <a:buClr>
                    <a:schemeClr val="accent2"/>
                  </a:buClr>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𝟎𝟐</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4304030" y="4022090"/>
                <a:ext cx="3750310" cy="769620"/>
              </a:xfrm>
              <a:prstGeom prst="rect">
                <a:avLst/>
              </a:prstGeom>
              <a:blipFill>
                <a:blip r:embed="rId4"/>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424815" y="2609850"/>
                <a:ext cx="11345545" cy="546100"/>
              </a:xfrm>
              <a:prstGeom prst="rect">
                <a:avLst/>
              </a:prstGeom>
              <a:noFill/>
            </p:spPr>
            <p:txBody>
              <a:bodyPr wrap="square" rtlCol="0">
                <a:noAutofit/>
              </a:bodyPr>
              <a:lstStyle/>
              <a:p>
                <a:pPr marL="457200" indent="-457200" fontAlgn="auto">
                  <a:spcBef>
                    <a:spcPts val="1000"/>
                  </a:spcBef>
                  <a:buClr>
                    <a:srgbClr val="C00000"/>
                  </a:buClr>
                  <a:buSzPct val="85000"/>
                  <a:buFont typeface="Wingdings" panose="05000000000000000000" charset="0"/>
                  <a:buChar char="q"/>
                </a:pPr>
                <a:r>
                  <a:rPr lang="zh-CN" altLang="en-US" sz="2800" b="1">
                    <a:latin typeface="楷体" panose="02010609060101010101" charset="-122"/>
                    <a:ea typeface="楷体" panose="02010609060101010101" charset="-122"/>
                  </a:rPr>
                  <a:t>可能出现的错误表示：</a:t>
                </a:r>
                <a14:m>
                  <m:oMath xmlns:m="http://schemas.openxmlformats.org/officeDocument/2006/math">
                    <m:sSub>
                      <m:sSubPr>
                        <m:ctrlPr>
                          <a:rPr lang="en-US" altLang="zh-CN" sz="2800" b="1" i="1">
                            <a:solidFill>
                              <a:srgbClr val="C00000"/>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rgbClr val="C00000"/>
                            </a:solidFill>
                            <a:latin typeface="Cambria Math" panose="02040503050406030204" charset="0"/>
                            <a:ea typeface="楷体" panose="02010609060101010101" charset="-122"/>
                            <a:cs typeface="Cambria Math" panose="02040503050406030204" charset="0"/>
                          </a:rPr>
                          <m:t>𝝅</m:t>
                        </m:r>
                      </m:e>
                      <m:sub>
                        <m:r>
                          <a:rPr lang="en-US" altLang="zh-CN" sz="2800" b="1" i="1">
                            <a:solidFill>
                              <a:srgbClr val="C00000"/>
                            </a:solidFill>
                            <a:latin typeface="Cambria Math" panose="02040503050406030204" charset="0"/>
                            <a:ea typeface="楷体" panose="02010609060101010101" charset="-122"/>
                            <a:cs typeface="Cambria Math" panose="02040503050406030204" charset="0"/>
                          </a:rPr>
                          <m:t>𝒂𝒊𝒅</m:t>
                        </m:r>
                        <m:r>
                          <a:rPr lang="en-US" altLang="zh-CN" sz="2800" b="1" i="1">
                            <a:solidFill>
                              <a:srgbClr val="C00000"/>
                            </a:solidFill>
                            <a:latin typeface="Cambria Math" panose="02040503050406030204" charset="0"/>
                            <a:ea typeface="楷体" panose="02010609060101010101" charset="-122"/>
                            <a:cs typeface="Cambria Math" panose="02040503050406030204" charset="0"/>
                          </a:rPr>
                          <m:t> </m:t>
                        </m:r>
                      </m:sub>
                    </m:sSub>
                    <m:r>
                      <a:rPr lang="en-US" altLang="zh-CN" sz="2800" b="1" i="1">
                        <a:solidFill>
                          <a:srgbClr val="C00000"/>
                        </a:solidFill>
                        <a:latin typeface="Cambria Math" panose="02040503050406030204" charset="0"/>
                        <a:ea typeface="楷体" panose="02010609060101010101" charset="-122"/>
                        <a:cs typeface="Cambria Math" panose="02040503050406030204" charset="0"/>
                      </a:rPr>
                      <m:t>(</m:t>
                    </m:r>
                    <m:sSub>
                      <m:sSubPr>
                        <m:ctrlPr>
                          <a:rPr lang="en-US" altLang="zh-CN" sz="2800" b="1" i="1">
                            <a:solidFill>
                              <a:srgbClr val="C00000"/>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rgbClr val="C00000"/>
                            </a:solidFill>
                            <a:latin typeface="Cambria Math" panose="02040503050406030204" charset="0"/>
                            <a:ea typeface="楷体" panose="02010609060101010101" charset="-122"/>
                            <a:cs typeface="Cambria Math" panose="02040503050406030204" charset="0"/>
                          </a:rPr>
                          <m:t>𝝈</m:t>
                        </m:r>
                      </m:e>
                      <m:sub>
                        <m:r>
                          <a:rPr lang="en-US" altLang="zh-CN" sz="2800" b="1" i="1">
                            <a:solidFill>
                              <a:srgbClr val="C00000"/>
                            </a:solidFill>
                            <a:latin typeface="Cambria Math" panose="02040503050406030204" charset="0"/>
                            <a:ea typeface="楷体" panose="02010609060101010101" charset="-122"/>
                            <a:cs typeface="Cambria Math" panose="02040503050406030204" charset="0"/>
                          </a:rPr>
                          <m:t>𝒑𝒊𝒅</m:t>
                        </m:r>
                        <m:r>
                          <a:rPr lang="en-US" altLang="zh-CN" sz="2800" b="1" i="1">
                            <a:solidFill>
                              <a:srgbClr val="C00000"/>
                            </a:solidFill>
                            <a:latin typeface="Cambria Math" panose="02040503050406030204" charset="0"/>
                            <a:ea typeface="楷体" panose="02010609060101010101" charset="-122"/>
                            <a:cs typeface="Cambria Math" panose="02040503050406030204" charset="0"/>
                          </a:rPr>
                          <m:t> = ’</m:t>
                        </m:r>
                        <m:r>
                          <a:rPr lang="en-US" altLang="zh-CN" sz="2800" b="1" i="1">
                            <a:solidFill>
                              <a:srgbClr val="C00000"/>
                            </a:solidFill>
                            <a:latin typeface="Cambria Math" panose="02040503050406030204" charset="0"/>
                            <a:ea typeface="楷体" panose="02010609060101010101" charset="-122"/>
                            <a:cs typeface="Cambria Math" panose="02040503050406030204" charset="0"/>
                          </a:rPr>
                          <m:t>𝒑</m:t>
                        </m:r>
                        <m:r>
                          <a:rPr lang="en-US" altLang="zh-CN" sz="2800" b="1" i="1">
                            <a:solidFill>
                              <a:srgbClr val="C00000"/>
                            </a:solidFill>
                            <a:latin typeface="Cambria Math" panose="02040503050406030204" charset="0"/>
                            <a:ea typeface="楷体" panose="02010609060101010101" charset="-122"/>
                            <a:cs typeface="Cambria Math" panose="02040503050406030204" charset="0"/>
                          </a:rPr>
                          <m:t>𝟎𝟐</m:t>
                        </m:r>
                        <m:r>
                          <a:rPr lang="en-US" altLang="zh-CN" sz="2800" b="1" i="1">
                            <a:solidFill>
                              <a:srgbClr val="C00000"/>
                            </a:solidFill>
                            <a:latin typeface="Cambria Math" panose="02040503050406030204" charset="0"/>
                            <a:ea typeface="楷体" panose="02010609060101010101" charset="-122"/>
                            <a:cs typeface="Cambria Math" panose="02040503050406030204" charset="0"/>
                          </a:rPr>
                          <m:t>’</m:t>
                        </m:r>
                      </m:sub>
                    </m:sSub>
                    <m:r>
                      <a:rPr lang="en-US" altLang="zh-CN" sz="2800" b="1" i="1">
                        <a:solidFill>
                          <a:srgbClr val="C00000"/>
                        </a:solidFill>
                        <a:latin typeface="Cambria Math" panose="02040503050406030204" charset="0"/>
                        <a:ea typeface="楷体" panose="02010609060101010101" charset="-122"/>
                        <a:cs typeface="Cambria Math" panose="02040503050406030204" charset="0"/>
                      </a:rPr>
                      <m:t>(</m:t>
                    </m:r>
                    <m:r>
                      <a:rPr lang="en-US" altLang="zh-CN" sz="2800" b="1" i="1">
                        <a:solidFill>
                          <a:srgbClr val="C00000"/>
                        </a:solidFill>
                        <a:latin typeface="Cambria Math" panose="02040503050406030204" charset="0"/>
                        <a:ea typeface="楷体" panose="02010609060101010101" charset="-122"/>
                        <a:cs typeface="Cambria Math" panose="02040503050406030204" charset="0"/>
                      </a:rPr>
                      <m:t>𝑶</m:t>
                    </m:r>
                    <m:r>
                      <a:rPr lang="en-US" altLang="zh-CN" sz="2800" b="1" i="1">
                        <a:solidFill>
                          <a:srgbClr val="C00000"/>
                        </a:solidFill>
                        <a:latin typeface="Cambria Math" panose="02040503050406030204" charset="0"/>
                        <a:ea typeface="MS Mincho" charset="0"/>
                        <a:cs typeface="Cambria Math" panose="02040503050406030204" charset="0"/>
                      </a:rPr>
                      <m:t>))</m:t>
                    </m:r>
                  </m:oMath>
                </a14:m>
                <a:endParaRPr lang="en-US" altLang="zh-CN" sz="2800" b="1" i="1">
                  <a:solidFill>
                    <a:srgbClr val="C00000"/>
                  </a:solidFill>
                  <a:latin typeface="Cambria Math" panose="02040503050406030204" charset="0"/>
                  <a:ea typeface="MS Mincho" charset="0"/>
                  <a:cs typeface="Cambria Math" panose="02040503050406030204"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24815" y="2609850"/>
                <a:ext cx="11345545" cy="546100"/>
              </a:xfrm>
              <a:prstGeom prst="rect">
                <a:avLst/>
              </a:prstGeom>
              <a:blipFill rotWithShape="1">
                <a:blip r:embed="rId5"/>
                <a:stretch>
                  <a:fillRect/>
                </a:stretch>
              </a:blipFill>
            </p:spPr>
            <p:txBody>
              <a:bodyPr/>
              <a:lstStyle/>
              <a:p>
                <a:r>
                  <a:rPr lang="zh-CN" altLang="en-US">
                    <a:noFill/>
                  </a:rPr>
                  <a:t> </a:t>
                </a:r>
              </a:p>
            </p:txBody>
          </p:sp>
        </mc:Fallback>
      </mc:AlternateContent>
      <p:sp>
        <p:nvSpPr>
          <p:cNvPr id="12" name="文本框 11"/>
          <p:cNvSpPr txBox="1"/>
          <p:nvPr/>
        </p:nvSpPr>
        <p:spPr>
          <a:xfrm>
            <a:off x="467360" y="3404870"/>
            <a:ext cx="11303000" cy="521970"/>
          </a:xfrm>
          <a:prstGeom prst="rect">
            <a:avLst/>
          </a:prstGeom>
          <a:noFill/>
        </p:spPr>
        <p:txBody>
          <a:bodyPr wrap="square" rtlCol="0">
            <a:noAutofit/>
          </a:bodyPr>
          <a:lstStyle/>
          <a:p>
            <a:pPr marL="457200" indent="-457200" fontAlgn="auto">
              <a:spcBef>
                <a:spcPts val="1000"/>
              </a:spcBef>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rPr>
              <a:t>正确的查询表示如下</a:t>
            </a:r>
          </a:p>
        </p:txBody>
      </p:sp>
      <mc:AlternateContent xmlns:mc="http://schemas.openxmlformats.org/markup-compatibility/2006" xmlns:a14="http://schemas.microsoft.com/office/drawing/2010/main">
        <mc:Choice Requires="a14">
          <p:sp>
            <p:nvSpPr>
              <p:cNvPr id="13" name="文本框 12"/>
              <p:cNvSpPr txBox="1"/>
              <p:nvPr/>
            </p:nvSpPr>
            <p:spPr>
              <a:xfrm>
                <a:off x="2289810" y="4022090"/>
                <a:ext cx="1517650" cy="769620"/>
              </a:xfrm>
              <a:prstGeom prst="rect">
                <a:avLst/>
              </a:prstGeom>
              <a:noFill/>
              <a:ln w="9525">
                <a:noFill/>
              </a:ln>
            </p:spPr>
            <p:txBody>
              <a:bodyPr wrap="square" bIns="144145" anchor="t">
                <a:noAutofit/>
              </a:bodyPr>
              <a:lstStyle/>
              <a:p>
                <a:pPr algn="l">
                  <a:lnSpc>
                    <a:spcPct val="110000"/>
                  </a:lnSpc>
                  <a:spcBef>
                    <a:spcPct val="20000"/>
                  </a:spcBef>
                  <a:buClr>
                    <a:schemeClr val="accent2"/>
                  </a:buClr>
                  <a:buFont typeface="Wingdings" panose="05000000000000000000" pitchFamily="2" charset="2"/>
                  <a:buNone/>
                </a:pPr>
                <a14:m>
                  <m:oMathPara xmlns:m="http://schemas.openxmlformats.org/officeDocument/2006/math">
                    <m:oMathParaPr>
                      <m:jc m:val="righ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2289810" y="4022090"/>
                <a:ext cx="1517650" cy="769620"/>
              </a:xfrm>
              <a:prstGeom prst="rect">
                <a:avLst/>
              </a:prstGeom>
              <a:blipFill rotWithShape="1">
                <a:blip r:embed="rId6"/>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3799205" y="4150995"/>
                <a:ext cx="581025" cy="663575"/>
              </a:xfrm>
              <a:prstGeom prst="rect">
                <a:avLst/>
              </a:prstGeom>
              <a:noFill/>
              <a:ln w="9525">
                <a:noFill/>
              </a:ln>
            </p:spPr>
            <p:txBody>
              <a:bodyPr wrap="square" bIns="144145" anchor="t">
                <a:noAutofit/>
              </a:bodyPr>
              <a:lstStyle/>
              <a:p>
                <a:pPr algn="l">
                  <a:lnSpc>
                    <a:spcPct val="110000"/>
                  </a:lnSpc>
                  <a:spcBef>
                    <a:spcPct val="20000"/>
                  </a:spcBef>
                  <a:buClr>
                    <a:schemeClr val="accent2"/>
                  </a:buClr>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3799205" y="4150995"/>
                <a:ext cx="581025" cy="663575"/>
              </a:xfrm>
              <a:prstGeom prst="rect">
                <a:avLst/>
              </a:prstGeom>
              <a:blipFill rotWithShape="1">
                <a:blip r:embed="rId7"/>
                <a:stretch>
                  <a:fillRect/>
                </a:stretch>
              </a:blipFill>
              <a:ln w="9525">
                <a:no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subTnLst>
                                    <p:animClr clrSpc="rgb" dir="cw">
                                      <p:cBhvr override="childStyle">
                                        <p:cTn dur="65" fill="hold" display="1" masterRel="nextClick" afterEffect="1"/>
                                        <p:tgtEl>
                                          <p:spTgt spid="10"/>
                                        </p:tgtEl>
                                        <p:attrNameLst>
                                          <p:attrName>ppt_c</p:attrName>
                                        </p:attrNameLst>
                                      </p:cBhvr>
                                      <p:to>
                                        <a:schemeClr val="hlink"/>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subTnLst>
                                    <p:animClr clrSpc="rgb" dir="cw">
                                      <p:cBhvr override="childStyle">
                                        <p:cTn dur="65" fill="hold" display="1" masterRel="nextClick" afterEffect="1"/>
                                        <p:tgtEl>
                                          <p:spTgt spid="13"/>
                                        </p:tgtEl>
                                        <p:attrNameLst>
                                          <p:attrName>ppt_c</p:attrName>
                                        </p:attrNameLst>
                                      </p:cBhvr>
                                      <p:to>
                                        <a:schemeClr val="hlink"/>
                                      </p:to>
                                    </p:animClr>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subTnLst>
                                    <p:animClr clrSpc="rgb" dir="cw">
                                      <p:cBhvr override="childStyle">
                                        <p:cTn dur="65" fill="hold" display="1" masterRel="nextClick" afterEffect="1"/>
                                        <p:tgtEl>
                                          <p:spTgt spid="14"/>
                                        </p:tgtEl>
                                        <p:attrNameLst>
                                          <p:attrName>ppt_c</p:attrName>
                                        </p:attrNameLst>
                                      </p:cBhvr>
                                      <p:to>
                                        <a:schemeClr val="hlink"/>
                                      </p:to>
                                    </p:animClr>
                                  </p:sub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ppt_x"/>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bldLvl="0" animBg="1"/>
      <p:bldP spid="11" grpId="0" build="p" bldLvl="2"/>
      <p:bldP spid="12" grpId="0"/>
      <p:bldP spid="13" grpId="0" bldLvl="0" animBg="1"/>
      <p:bldP spid="14"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6145"/>
          <p:cNvSpPr>
            <a:spLocks noGrp="1"/>
          </p:cNvSpPr>
          <p:nvPr>
            <p:ph type="title"/>
          </p:nvPr>
        </p:nvSpPr>
        <p:spPr/>
        <p:txBody>
          <a:bodyPr anchor="ctr"/>
          <a:lstStyle/>
          <a:p>
            <a:r>
              <a:rPr lang="en-US" altLang="x-none" dirty="0">
                <a:sym typeface="+mn-ea"/>
              </a:rPr>
              <a:t>Example 8 &amp; 9  </a:t>
            </a:r>
            <a:endParaRPr lang="zh-CN" altLang="en-US" b="1" dirty="0">
              <a:ea typeface="宋体" panose="02010600030101010101" pitchFamily="2" charset="-122"/>
              <a:sym typeface="+mn-ea"/>
            </a:endParaRPr>
          </a:p>
        </p:txBody>
      </p:sp>
      <p:sp>
        <p:nvSpPr>
          <p:cNvPr id="6146" name="文本占位符 6146"/>
          <p:cNvSpPr>
            <a:spLocks noGrp="1"/>
          </p:cNvSpPr>
          <p:nvPr>
            <p:ph idx="1"/>
          </p:nvPr>
        </p:nvSpPr>
        <p:spPr>
          <a:xfrm>
            <a:off x="424815" y="1800000"/>
            <a:ext cx="11343005" cy="521970"/>
          </a:xfrm>
          <a:solidFill>
            <a:schemeClr val="accent3">
              <a:lumMod val="20000"/>
              <a:lumOff val="80000"/>
              <a:alpha val="50000"/>
            </a:schemeClr>
          </a:solidFill>
        </p:spPr>
        <p:txBody>
          <a:bodyPr anchor="t">
            <a:noAutofit/>
          </a:bodyPr>
          <a:lstStyle/>
          <a:p>
            <a:pPr marL="514350" indent="-514350">
              <a:lnSpc>
                <a:spcPct val="100000"/>
              </a:lnSpc>
              <a:buFont typeface="+mj-lt"/>
              <a:buAutoNum type="arabicPeriod" startAt="8"/>
            </a:pPr>
            <a:r>
              <a:rPr lang="zh-CN" altLang="en-US" sz="2800" dirty="0">
                <a:latin typeface="Calibri" panose="020F0502020204030204" charset="0"/>
                <a:cs typeface="Calibri" panose="020F0502020204030204" charset="0"/>
                <a:sym typeface="+mn-ea"/>
              </a:rPr>
              <a:t>查询</a:t>
            </a:r>
            <a:r>
              <a:rPr lang="zh-CN" altLang="en-US" sz="2800" dirty="0">
                <a:solidFill>
                  <a:srgbClr val="0000C8"/>
                </a:solidFill>
                <a:latin typeface="Calibri" panose="020F0502020204030204" charset="0"/>
                <a:cs typeface="Calibri" panose="020F0502020204030204" charset="0"/>
              </a:rPr>
              <a:t>没有销售过</a:t>
            </a:r>
            <a:r>
              <a:rPr lang="en-US" altLang="zh-CN" sz="2800" dirty="0">
                <a:solidFill>
                  <a:srgbClr val="0000C8"/>
                </a:solidFill>
                <a:latin typeface="Calibri" panose="020F0502020204030204" charset="0"/>
                <a:cs typeface="Calibri" panose="020F0502020204030204" charset="0"/>
              </a:rPr>
              <a:t>‘</a:t>
            </a:r>
            <a:r>
              <a:rPr lang="en-US" altLang="x-none" sz="2800" dirty="0">
                <a:solidFill>
                  <a:srgbClr val="0000C8"/>
                </a:solidFill>
                <a:latin typeface="Calibri" panose="020F0502020204030204" charset="0"/>
                <a:cs typeface="Calibri" panose="020F0502020204030204" charset="0"/>
              </a:rPr>
              <a:t>p02’</a:t>
            </a:r>
            <a:r>
              <a:rPr lang="zh-CN" altLang="en-US" sz="2800" dirty="0">
                <a:solidFill>
                  <a:srgbClr val="0000C8"/>
                </a:solidFill>
                <a:latin typeface="Calibri" panose="020F0502020204030204" charset="0"/>
                <a:cs typeface="Calibri" panose="020F0502020204030204" charset="0"/>
              </a:rPr>
              <a:t>号商品的供应商的编号</a:t>
            </a:r>
            <a:r>
              <a:rPr lang="en-US" altLang="zh-CN" sz="2800" dirty="0">
                <a:solidFill>
                  <a:srgbClr val="0000C8"/>
                </a:solidFill>
                <a:latin typeface="Calibri" panose="020F0502020204030204" charset="0"/>
                <a:cs typeface="Calibri" panose="020F0502020204030204" charset="0"/>
              </a:rPr>
              <a:t>(</a:t>
            </a:r>
            <a:r>
              <a:rPr lang="en-US" altLang="x-none" sz="2800" dirty="0">
                <a:solidFill>
                  <a:srgbClr val="0000C8"/>
                </a:solidFill>
                <a:latin typeface="Calibri" panose="020F0502020204030204" charset="0"/>
                <a:cs typeface="Calibri" panose="020F0502020204030204" charset="0"/>
              </a:rPr>
              <a:t>aid)</a:t>
            </a:r>
          </a:p>
        </p:txBody>
      </p:sp>
      <mc:AlternateContent xmlns:mc="http://schemas.openxmlformats.org/markup-compatibility/2006">
        <mc:Choice xmlns:a14="http://schemas.microsoft.com/office/drawing/2010/main" Requires="a14">
          <p:sp>
            <p:nvSpPr>
              <p:cNvPr id="6148" name="文本框 6147"/>
              <p:cNvSpPr txBox="1"/>
              <p:nvPr/>
            </p:nvSpPr>
            <p:spPr>
              <a:xfrm>
                <a:off x="1440000" y="2331085"/>
                <a:ext cx="8382000" cy="717550"/>
              </a:xfrm>
              <a:prstGeom prst="rect">
                <a:avLst/>
              </a:prstGeom>
              <a:noFill/>
              <a:ln w="9525">
                <a:noFill/>
              </a:ln>
            </p:spPr>
            <p:txBody>
              <a:bodyPr bIns="144145" anchor="t">
                <a:noAutofit/>
              </a:bodyPr>
              <a:lstStyle/>
              <a:p>
                <a:pPr>
                  <a:spcBef>
                    <a:spcPct val="20000"/>
                  </a:spcBef>
                  <a:buClr>
                    <a:schemeClr val="accent2"/>
                  </a:buClr>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𝑨</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𝟎𝟐</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p:sp>
            <p:nvSpPr>
              <p:cNvPr id="6148" name="文本框 6147"/>
              <p:cNvSpPr txBox="1">
                <a:spLocks noRot="1" noChangeAspect="1" noMove="1" noResize="1" noEditPoints="1" noAdjustHandles="1" noChangeArrowheads="1" noChangeShapeType="1" noTextEdit="1"/>
              </p:cNvSpPr>
              <p:nvPr/>
            </p:nvSpPr>
            <p:spPr>
              <a:xfrm>
                <a:off x="1440000" y="2331085"/>
                <a:ext cx="8382000" cy="717550"/>
              </a:xfrm>
              <a:prstGeom prst="rect">
                <a:avLst/>
              </a:prstGeom>
              <a:blipFill>
                <a:blip r:embed="rId3"/>
                <a:stretch>
                  <a:fillRect/>
                </a:stretch>
              </a:blipFill>
              <a:ln w="9525">
                <a:noFill/>
              </a:ln>
            </p:spPr>
            <p:txBody>
              <a:bodyPr/>
              <a:lstStyle/>
              <a:p>
                <a:r>
                  <a:rPr lang="zh-CN" altLang="en-US">
                    <a:noFill/>
                  </a:rPr>
                  <a:t> </a:t>
                </a:r>
              </a:p>
            </p:txBody>
          </p:sp>
        </mc:Fallback>
      </mc:AlternateContent>
      <p:sp>
        <p:nvSpPr>
          <p:cNvPr id="7170" name="文本占位符 7170"/>
          <p:cNvSpPr>
            <a:spLocks noGrp="1"/>
          </p:cNvSpPr>
          <p:nvPr/>
        </p:nvSpPr>
        <p:spPr>
          <a:xfrm>
            <a:off x="424815" y="3188520"/>
            <a:ext cx="11343005" cy="521970"/>
          </a:xfrm>
          <a:prstGeom prst="rect">
            <a:avLst/>
          </a:prstGeom>
          <a:solidFill>
            <a:schemeClr val="accent3">
              <a:lumMod val="20000"/>
              <a:lumOff val="80000"/>
              <a:alpha val="50000"/>
            </a:schemeClr>
          </a:solidFill>
        </p:spPr>
        <p:txBody>
          <a:bodyPr vert="horz" wrap="square" lIns="91440" tIns="45720" rIns="91440" bIns="45720" rtlCol="0" anchor="t">
            <a:noAutofit/>
          </a:bodyPr>
          <a:lstStyle>
            <a:lvl1pPr marL="360045" indent="-360045" algn="l" defTabSz="914400" rtl="0" eaLnBrk="1" latinLnBrk="0" hangingPunct="1">
              <a:lnSpc>
                <a:spcPct val="110000"/>
              </a:lnSpc>
              <a:spcBef>
                <a:spcPts val="0"/>
              </a:spcBef>
              <a:spcAft>
                <a:spcPts val="0"/>
              </a:spcAft>
              <a:buClr>
                <a:srgbClr val="C00000"/>
              </a:buClr>
              <a:buSzPct val="85000"/>
              <a:buFont typeface="Wingdings" panose="05000000000000000000" charset="0"/>
              <a:buChar char="q"/>
              <a:defRPr sz="2800" b="1" kern="1200">
                <a:solidFill>
                  <a:srgbClr val="1F2DA8"/>
                </a:solidFill>
                <a:latin typeface="Arial" panose="020B0604020202020204" pitchFamily="34" charset="0"/>
                <a:ea typeface="楷体" panose="02010609060101010101" charset="-122"/>
                <a:cs typeface="+mn-cs"/>
              </a:defRPr>
            </a:lvl1pPr>
            <a:lvl2pPr marL="7848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Arial" panose="020B0604020202020204" pitchFamily="34" charset="0"/>
                <a:ea typeface="楷体" panose="02010609060101010101" charset="-122"/>
                <a:cs typeface="+mn-cs"/>
              </a:defRPr>
            </a:lvl2pPr>
            <a:lvl3pPr marL="12528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3pPr>
            <a:lvl4pPr marL="17100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4pPr>
            <a:lvl5pPr marL="21564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Arial" panose="020B0604020202020204" pitchFamily="34" charset="0"/>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buClr>
                <a:srgbClr val="C00000"/>
              </a:buClr>
              <a:buFont typeface="+mj-lt"/>
              <a:buAutoNum type="arabicPeriod" startAt="9"/>
            </a:pPr>
            <a:r>
              <a:rPr lang="zh-CN" altLang="en-US" dirty="0">
                <a:latin typeface="Calibri" panose="020F0502020204030204" charset="0"/>
                <a:cs typeface="Calibri" panose="020F0502020204030204" charset="0"/>
                <a:sym typeface="+mn-ea"/>
              </a:rPr>
              <a:t>查询</a:t>
            </a:r>
            <a:r>
              <a:rPr lang="zh-CN" altLang="en-US" dirty="0">
                <a:solidFill>
                  <a:srgbClr val="0000C8"/>
                </a:solidFill>
                <a:latin typeface="Calibri" panose="020F0502020204030204" charset="0"/>
                <a:cs typeface="Calibri" panose="020F0502020204030204" charset="0"/>
              </a:rPr>
              <a:t>只销售过</a:t>
            </a:r>
            <a:r>
              <a:rPr lang="en-US" altLang="zh-CN" dirty="0">
                <a:solidFill>
                  <a:srgbClr val="0000C8"/>
                </a:solidFill>
                <a:latin typeface="Calibri" panose="020F0502020204030204" charset="0"/>
                <a:cs typeface="Calibri" panose="020F0502020204030204" charset="0"/>
              </a:rPr>
              <a:t> ‘</a:t>
            </a:r>
            <a:r>
              <a:rPr lang="en-US" altLang="x-none" dirty="0">
                <a:solidFill>
                  <a:srgbClr val="0000C8"/>
                </a:solidFill>
                <a:latin typeface="Calibri" panose="020F0502020204030204" charset="0"/>
                <a:cs typeface="Calibri" panose="020F0502020204030204" charset="0"/>
              </a:rPr>
              <a:t>p02’ </a:t>
            </a:r>
            <a:r>
              <a:rPr lang="zh-CN" altLang="en-US" dirty="0">
                <a:solidFill>
                  <a:srgbClr val="0000C8"/>
                </a:solidFill>
                <a:latin typeface="Calibri" panose="020F0502020204030204" charset="0"/>
                <a:cs typeface="Calibri" panose="020F0502020204030204" charset="0"/>
              </a:rPr>
              <a:t>号商品的供应商的编号</a:t>
            </a:r>
          </a:p>
        </p:txBody>
      </p:sp>
      <mc:AlternateContent xmlns:mc="http://schemas.openxmlformats.org/markup-compatibility/2006">
        <mc:Choice xmlns:a14="http://schemas.microsoft.com/office/drawing/2010/main" Requires="a14">
          <p:sp>
            <p:nvSpPr>
              <p:cNvPr id="7172" name="文本框 7171"/>
              <p:cNvSpPr txBox="1"/>
              <p:nvPr/>
            </p:nvSpPr>
            <p:spPr>
              <a:xfrm>
                <a:off x="1440000" y="3727450"/>
                <a:ext cx="8382000" cy="717550"/>
              </a:xfrm>
              <a:prstGeom prst="rect">
                <a:avLst/>
              </a:prstGeom>
              <a:noFill/>
              <a:ln w="9525">
                <a:noFill/>
              </a:ln>
            </p:spPr>
            <p:txBody>
              <a:bodyPr bIns="144145" anchor="t">
                <a:noAutofit/>
              </a:bodyPr>
              <a:lstStyle/>
              <a:p>
                <a:pPr>
                  <a:spcBef>
                    <a:spcPct val="20000"/>
                  </a:spcBef>
                  <a:buClr>
                    <a:schemeClr val="accent2"/>
                  </a:buClr>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𝟎𝟐</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p:sp>
            <p:nvSpPr>
              <p:cNvPr id="7172" name="文本框 7171"/>
              <p:cNvSpPr txBox="1">
                <a:spLocks noRot="1" noChangeAspect="1" noMove="1" noResize="1" noEditPoints="1" noAdjustHandles="1" noChangeArrowheads="1" noChangeShapeType="1" noTextEdit="1"/>
              </p:cNvSpPr>
              <p:nvPr/>
            </p:nvSpPr>
            <p:spPr>
              <a:xfrm>
                <a:off x="1440000" y="3727450"/>
                <a:ext cx="8382000" cy="717550"/>
              </a:xfrm>
              <a:prstGeom prst="rect">
                <a:avLst/>
              </a:prstGeom>
              <a:blipFill>
                <a:blip r:embed="rId4"/>
                <a:stretch>
                  <a:fillRect/>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72</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grpSp>
        <p:nvGrpSpPr>
          <p:cNvPr id="8" name="组合 7"/>
          <p:cNvGrpSpPr/>
          <p:nvPr/>
        </p:nvGrpSpPr>
        <p:grpSpPr>
          <a:xfrm>
            <a:off x="423545" y="664210"/>
            <a:ext cx="11342370" cy="952500"/>
            <a:chOff x="667" y="1046"/>
            <a:chExt cx="17862" cy="1500"/>
          </a:xfrm>
        </p:grpSpPr>
        <p:sp>
          <p:nvSpPr>
            <p:cNvPr id="7"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9"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p:sp>
        <p:nvSpPr>
          <p:cNvPr id="2" name="文本占位符 7170"/>
          <p:cNvSpPr>
            <a:spLocks noGrp="1"/>
          </p:cNvSpPr>
          <p:nvPr/>
        </p:nvSpPr>
        <p:spPr>
          <a:xfrm>
            <a:off x="424815" y="4610920"/>
            <a:ext cx="11343005" cy="521970"/>
          </a:xfrm>
          <a:prstGeom prst="rect">
            <a:avLst/>
          </a:prstGeom>
          <a:solidFill>
            <a:schemeClr val="accent3">
              <a:lumMod val="20000"/>
              <a:lumOff val="80000"/>
              <a:alpha val="50000"/>
            </a:schemeClr>
          </a:solidFill>
        </p:spPr>
        <p:txBody>
          <a:bodyPr vert="horz" wrap="square" lIns="91440" tIns="45720" rIns="91440" bIns="45720" rtlCol="0" anchor="t">
            <a:noAutofit/>
          </a:bodyPr>
          <a:lstStyle>
            <a:lvl1pPr marL="360045" indent="-360045" algn="l" defTabSz="914400" rtl="0" eaLnBrk="1" latinLnBrk="0" hangingPunct="1">
              <a:lnSpc>
                <a:spcPct val="110000"/>
              </a:lnSpc>
              <a:spcBef>
                <a:spcPts val="0"/>
              </a:spcBef>
              <a:spcAft>
                <a:spcPts val="0"/>
              </a:spcAft>
              <a:buClr>
                <a:srgbClr val="C00000"/>
              </a:buClr>
              <a:buSzPct val="85000"/>
              <a:buFont typeface="Wingdings" panose="05000000000000000000" charset="0"/>
              <a:buChar char="q"/>
              <a:defRPr sz="2800" b="1" kern="1200">
                <a:solidFill>
                  <a:srgbClr val="1F2DA8"/>
                </a:solidFill>
                <a:latin typeface="Arial" panose="020B0604020202020204" pitchFamily="34" charset="0"/>
                <a:ea typeface="楷体" panose="02010609060101010101" charset="-122"/>
                <a:cs typeface="+mn-cs"/>
              </a:defRPr>
            </a:lvl1pPr>
            <a:lvl2pPr marL="7848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Arial" panose="020B0604020202020204" pitchFamily="34" charset="0"/>
                <a:ea typeface="楷体" panose="02010609060101010101" charset="-122"/>
                <a:cs typeface="+mn-cs"/>
              </a:defRPr>
            </a:lvl2pPr>
            <a:lvl3pPr marL="12528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3pPr>
            <a:lvl4pPr marL="17100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4pPr>
            <a:lvl5pPr marL="21564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Arial" panose="020B0604020202020204" pitchFamily="34" charset="0"/>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rgbClr val="C00000"/>
              </a:buClr>
              <a:buFont typeface="+mj-lt"/>
              <a:buNone/>
            </a:pPr>
            <a:r>
              <a:rPr lang="zh-CN" altLang="en-US" dirty="0">
                <a:latin typeface="Calibri" panose="020F0502020204030204" charset="0"/>
                <a:cs typeface="Calibri" panose="020F0502020204030204" charset="0"/>
                <a:sym typeface="+mn-ea"/>
              </a:rPr>
              <a:t>【例】查询</a:t>
            </a:r>
            <a:r>
              <a:rPr lang="zh-CN" altLang="en-US" dirty="0">
                <a:solidFill>
                  <a:srgbClr val="0000C8"/>
                </a:solidFill>
                <a:latin typeface="Calibri" panose="020F0502020204030204" charset="0"/>
                <a:cs typeface="Calibri" panose="020F0502020204030204" charset="0"/>
              </a:rPr>
              <a:t>销售过</a:t>
            </a:r>
            <a:r>
              <a:rPr lang="en-US" altLang="zh-CN" dirty="0">
                <a:solidFill>
                  <a:srgbClr val="0000C8"/>
                </a:solidFill>
                <a:latin typeface="Calibri" panose="020F0502020204030204" charset="0"/>
                <a:cs typeface="Calibri" panose="020F0502020204030204" charset="0"/>
              </a:rPr>
              <a:t> ‘</a:t>
            </a:r>
            <a:r>
              <a:rPr lang="en-US" altLang="x-none" dirty="0">
                <a:solidFill>
                  <a:srgbClr val="0000C8"/>
                </a:solidFill>
                <a:latin typeface="Calibri" panose="020F0502020204030204" charset="0"/>
                <a:cs typeface="Calibri" panose="020F0502020204030204" charset="0"/>
              </a:rPr>
              <a:t>p02’ </a:t>
            </a:r>
            <a:r>
              <a:rPr lang="zh-CN" altLang="en-US" dirty="0">
                <a:solidFill>
                  <a:srgbClr val="0000C8"/>
                </a:solidFill>
                <a:latin typeface="Calibri" panose="020F0502020204030204" charset="0"/>
                <a:cs typeface="Calibri" panose="020F0502020204030204" charset="0"/>
              </a:rPr>
              <a:t>号商品的供应商的编号</a:t>
            </a:r>
          </a:p>
        </p:txBody>
      </p:sp>
      <mc:AlternateContent xmlns:mc="http://schemas.openxmlformats.org/markup-compatibility/2006">
        <mc:Choice xmlns:a14="http://schemas.microsoft.com/office/drawing/2010/main" Requires="a14">
          <p:sp>
            <p:nvSpPr>
              <p:cNvPr id="10" name="文本框 9"/>
              <p:cNvSpPr txBox="1"/>
              <p:nvPr/>
            </p:nvSpPr>
            <p:spPr>
              <a:xfrm>
                <a:off x="1440000" y="5154295"/>
                <a:ext cx="8382000" cy="717550"/>
              </a:xfrm>
              <a:prstGeom prst="rect">
                <a:avLst/>
              </a:prstGeom>
              <a:noFill/>
              <a:ln w="9525">
                <a:noFill/>
              </a:ln>
            </p:spPr>
            <p:txBody>
              <a:bodyPr bIns="144145" anchor="t">
                <a:noAutofit/>
              </a:bodyPr>
              <a:lstStyle/>
              <a:p>
                <a:pPr indent="0" algn="l" fontAlgn="auto">
                  <a:lnSpc>
                    <a:spcPct val="100000"/>
                  </a:lnSpc>
                  <a:spcBef>
                    <a:spcPts val="0"/>
                  </a:spcBef>
                  <a:buClr>
                    <a:schemeClr val="accent2"/>
                  </a:buClr>
                  <a:buFont typeface="Wingdings" panose="05000000000000000000" pitchFamily="2" charset="2"/>
                  <a:buNone/>
                </a:pPr>
                <a14:m>
                  <m:oMathPara xmlns:m="http://schemas.openxmlformats.org/officeDocument/2006/math">
                    <m:oMathParaPr>
                      <m:jc m:val="left"/>
                    </m:oMathParaPr>
                    <m:oMath xmlns:m="http://schemas.openxmlformats.org/officeDocument/2006/math">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𝒂𝒊𝒅</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𝒑𝒊𝒅</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 ′</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𝒑</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𝟎𝟐</m:t>
                      </m:r>
                      <m:r>
                        <a:rPr lang="en-US" altLang="x-none" sz="2800" b="1" i="1" baseline="-25000" dirty="0">
                          <a:solidFill>
                            <a:srgbClr val="FF0000"/>
                          </a:solidFill>
                          <a:latin typeface="Cambria Math" panose="02040503050406030204" charset="0"/>
                          <a:ea typeface="宋体" panose="02010600030101010101" pitchFamily="2" charset="-122"/>
                          <a:cs typeface="Cambria Math" panose="02040503050406030204" charset="0"/>
                        </a:rPr>
                        <m:t>′ (</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𝑶</m:t>
                      </m:r>
                      <m:r>
                        <a:rPr lang="en-US" altLang="x-none" sz="2800" b="1" i="1" dirty="0">
                          <a:solidFill>
                            <a:srgbClr val="FF0000"/>
                          </a:solidFill>
                          <a:latin typeface="Cambria Math" panose="02040503050406030204" charset="0"/>
                          <a:ea typeface="宋体" panose="02010600030101010101" pitchFamily="2" charset="-122"/>
                          <a:cs typeface="Cambria Math" panose="02040503050406030204" charset="0"/>
                        </a:rPr>
                        <m:t>) )</m:t>
                      </m:r>
                    </m:oMath>
                  </m:oMathPara>
                </a14:m>
                <a:endParaRPr lang="en-US" altLang="x-none" sz="2800" b="1" i="1" dirty="0">
                  <a:solidFill>
                    <a:srgbClr val="FF0000"/>
                  </a:solidFill>
                  <a:latin typeface="Arial" panose="020B0604020202020204" pitchFamily="34" charset="0"/>
                  <a:ea typeface="宋体" panose="02010600030101010101" pitchFamily="2"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1440000" y="5154295"/>
                <a:ext cx="8382000" cy="717550"/>
              </a:xfrm>
              <a:prstGeom prst="rect">
                <a:avLst/>
              </a:prstGeom>
              <a:blipFill>
                <a:blip r:embed="rId5"/>
                <a:stretch>
                  <a:fillRect/>
                </a:stretch>
              </a:blipFill>
              <a:ln w="9525">
                <a:noFill/>
              </a:ln>
            </p:spPr>
            <p:txBody>
              <a:bodyPr/>
              <a:lstStyle/>
              <a:p>
                <a:r>
                  <a:rPr lang="zh-CN" altLang="en-US">
                    <a:noFill/>
                  </a:rPr>
                  <a:t> </a:t>
                </a:r>
              </a:p>
            </p:txBody>
          </p:sp>
        </mc:Fallback>
      </mc:AlternateContent>
      <p:sp>
        <p:nvSpPr>
          <p:cNvPr id="11" name="文本占位符 7170"/>
          <p:cNvSpPr>
            <a:spLocks noGrp="1"/>
          </p:cNvSpPr>
          <p:nvPr/>
        </p:nvSpPr>
        <p:spPr>
          <a:xfrm>
            <a:off x="423545" y="5985060"/>
            <a:ext cx="11343005" cy="521970"/>
          </a:xfrm>
          <a:prstGeom prst="rect">
            <a:avLst/>
          </a:prstGeom>
          <a:solidFill>
            <a:schemeClr val="accent3">
              <a:lumMod val="20000"/>
              <a:lumOff val="80000"/>
              <a:alpha val="50000"/>
            </a:schemeClr>
          </a:solidFill>
        </p:spPr>
        <p:txBody>
          <a:bodyPr vert="horz" wrap="square" lIns="91440" tIns="45720" rIns="91440" bIns="45720" rtlCol="0" anchor="t">
            <a:noAutofit/>
          </a:bodyPr>
          <a:lstStyle>
            <a:lvl1pPr marL="360045" indent="-360045" algn="l" defTabSz="914400" rtl="0" eaLnBrk="1" latinLnBrk="0" hangingPunct="1">
              <a:lnSpc>
                <a:spcPct val="110000"/>
              </a:lnSpc>
              <a:spcBef>
                <a:spcPts val="0"/>
              </a:spcBef>
              <a:spcAft>
                <a:spcPts val="0"/>
              </a:spcAft>
              <a:buClr>
                <a:srgbClr val="C00000"/>
              </a:buClr>
              <a:buSzPct val="85000"/>
              <a:buFont typeface="Wingdings" panose="05000000000000000000" charset="0"/>
              <a:buChar char="q"/>
              <a:defRPr sz="2800" b="1" kern="1200">
                <a:solidFill>
                  <a:srgbClr val="1F2DA8"/>
                </a:solidFill>
                <a:latin typeface="Arial" panose="020B0604020202020204" pitchFamily="34" charset="0"/>
                <a:ea typeface="楷体" panose="02010609060101010101" charset="-122"/>
                <a:cs typeface="+mn-cs"/>
              </a:defRPr>
            </a:lvl1pPr>
            <a:lvl2pPr marL="7848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Arial" panose="020B0604020202020204" pitchFamily="34" charset="0"/>
                <a:ea typeface="楷体" panose="02010609060101010101" charset="-122"/>
                <a:cs typeface="+mn-cs"/>
              </a:defRPr>
            </a:lvl2pPr>
            <a:lvl3pPr marL="12528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3pPr>
            <a:lvl4pPr marL="17100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4pPr>
            <a:lvl5pPr marL="21564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Arial" panose="020B0604020202020204" pitchFamily="34" charset="0"/>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rgbClr val="C00000"/>
              </a:buClr>
              <a:buFont typeface="Wingdings" panose="05000000000000000000" charset="0"/>
              <a:buChar char="q"/>
            </a:pPr>
            <a:r>
              <a:rPr lang="zh-CN" altLang="en-US" dirty="0">
                <a:latin typeface="Calibri" panose="020F0502020204030204" charset="0"/>
                <a:cs typeface="Calibri" panose="020F0502020204030204" charset="0"/>
                <a:sym typeface="+mn-ea"/>
              </a:rPr>
              <a:t>请仔细体会：何时需要使用</a:t>
            </a:r>
            <a:r>
              <a:rPr lang="en-US" altLang="zh-CN" dirty="0">
                <a:latin typeface="Calibri" panose="020F0502020204030204" charset="0"/>
                <a:cs typeface="Calibri" panose="020F0502020204030204" charset="0"/>
                <a:sym typeface="+mn-ea"/>
              </a:rPr>
              <a:t>‘</a:t>
            </a:r>
            <a:r>
              <a:rPr lang="zh-CN" altLang="en-US" dirty="0">
                <a:latin typeface="Calibri" panose="020F0502020204030204" charset="0"/>
                <a:cs typeface="Calibri" panose="020F0502020204030204" charset="0"/>
                <a:sym typeface="+mn-ea"/>
              </a:rPr>
              <a:t>差</a:t>
            </a:r>
            <a:r>
              <a:rPr lang="en-US" altLang="zh-CN" dirty="0">
                <a:latin typeface="Calibri" panose="020F0502020204030204" charset="0"/>
                <a:cs typeface="Calibri" panose="020F0502020204030204" charset="0"/>
                <a:sym typeface="+mn-ea"/>
              </a:rPr>
              <a:t>’</a:t>
            </a:r>
            <a:r>
              <a:rPr lang="zh-CN" altLang="en-US" dirty="0">
                <a:latin typeface="Calibri" panose="020F0502020204030204" charset="0"/>
                <a:cs typeface="Calibri" panose="020F0502020204030204" charset="0"/>
                <a:sym typeface="+mn-ea"/>
              </a:rPr>
              <a:t>运算？何时使用</a:t>
            </a:r>
            <a:r>
              <a:rPr lang="en-US" altLang="zh-CN" dirty="0">
                <a:latin typeface="Calibri" panose="020F0502020204030204" charset="0"/>
                <a:cs typeface="Calibri" panose="020F0502020204030204" charset="0"/>
                <a:sym typeface="+mn-ea"/>
              </a:rPr>
              <a:t>‘</a:t>
            </a:r>
            <a:r>
              <a:rPr lang="zh-CN" altLang="en-US" dirty="0">
                <a:latin typeface="Calibri" panose="020F0502020204030204" charset="0"/>
                <a:cs typeface="Calibri" panose="020F0502020204030204" charset="0"/>
                <a:sym typeface="+mn-ea"/>
              </a:rPr>
              <a:t>不等</a:t>
            </a:r>
            <a:r>
              <a:rPr lang="en-US" altLang="zh-CN" dirty="0">
                <a:latin typeface="Calibri" panose="020F0502020204030204" charset="0"/>
                <a:cs typeface="Calibri" panose="020F0502020204030204" charset="0"/>
                <a:sym typeface="+mn-ea"/>
              </a:rPr>
              <a:t>’</a:t>
            </a:r>
            <a:r>
              <a:rPr lang="zh-CN" altLang="en-US" dirty="0">
                <a:latin typeface="Calibri" panose="020F0502020204030204" charset="0"/>
                <a:cs typeface="Calibri" panose="020F0502020204030204" charset="0"/>
                <a:sym typeface="+mn-ea"/>
              </a:rPr>
              <a:t>比较？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0" grpId="0"/>
      <p:bldP spid="11"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p:cNvSpPr>
          <p:nvPr>
            <p:ph type="title"/>
          </p:nvPr>
        </p:nvSpPr>
        <p:spPr/>
        <p:txBody>
          <a:bodyPr wrap="square" anchor="ctr"/>
          <a:lstStyle/>
          <a:p>
            <a:pPr eaLnBrk="1" hangingPunct="1"/>
            <a:r>
              <a:rPr lang="en-US" altLang="x-none" dirty="0"/>
              <a:t>Example 10</a:t>
            </a:r>
            <a:r>
              <a:rPr lang="zh-CN" altLang="en-US" dirty="0"/>
              <a:t>（</a:t>
            </a:r>
            <a:r>
              <a:rPr lang="en-US" altLang="zh-CN" dirty="0"/>
              <a:t>1</a:t>
            </a:r>
            <a:r>
              <a:rPr lang="zh-CN" altLang="en-US" dirty="0"/>
              <a:t>）</a:t>
            </a:r>
          </a:p>
        </p:txBody>
      </p:sp>
      <p:sp>
        <p:nvSpPr>
          <p:cNvPr id="117764" name="Rectangle 3"/>
          <p:cNvSpPr>
            <a:spLocks noGrp="1"/>
          </p:cNvSpPr>
          <p:nvPr>
            <p:ph idx="1"/>
          </p:nvPr>
        </p:nvSpPr>
        <p:spPr>
          <a:xfrm>
            <a:off x="424180" y="1910400"/>
            <a:ext cx="11343005" cy="521970"/>
          </a:xfrm>
          <a:solidFill>
            <a:schemeClr val="accent3">
              <a:lumMod val="20000"/>
              <a:lumOff val="80000"/>
              <a:alpha val="50000"/>
            </a:schemeClr>
          </a:solidFill>
        </p:spPr>
        <p:txBody>
          <a:bodyPr wrap="square" anchor="t">
            <a:noAutofit/>
          </a:bodyPr>
          <a:lstStyle/>
          <a:p>
            <a:pPr marL="514350" indent="-514350" eaLnBrk="1" hangingPunct="1">
              <a:lnSpc>
                <a:spcPct val="100000"/>
              </a:lnSpc>
              <a:spcBef>
                <a:spcPts val="0"/>
              </a:spcBef>
              <a:buFont typeface="+mj-lt"/>
              <a:buAutoNum type="arabicPeriod" startAt="10"/>
            </a:pPr>
            <a:r>
              <a:rPr lang="zh-CN" altLang="en-US" sz="2800" dirty="0">
                <a:solidFill>
                  <a:srgbClr val="0000C8"/>
                </a:solidFill>
                <a:ea typeface="楷体" panose="02010609060101010101" charset="-122"/>
                <a:cs typeface="+mn-lt"/>
              </a:rPr>
              <a:t>在当前的所有顾客中</a:t>
            </a:r>
            <a:r>
              <a:rPr lang="en-US" altLang="x-none" sz="2800" dirty="0">
                <a:solidFill>
                  <a:srgbClr val="0000C8"/>
                </a:solidFill>
                <a:ea typeface="楷体" panose="02010609060101010101" charset="-122"/>
                <a:cs typeface="+mn-lt"/>
              </a:rPr>
              <a:t>, </a:t>
            </a:r>
            <a:r>
              <a:rPr lang="zh-CN" altLang="en-US" sz="2800" dirty="0">
                <a:solidFill>
                  <a:srgbClr val="0000C8"/>
                </a:solidFill>
                <a:ea typeface="楷体" panose="02010609060101010101" charset="-122"/>
                <a:cs typeface="+mn-lt"/>
              </a:rPr>
              <a:t>查询折扣</a:t>
            </a:r>
            <a:r>
              <a:rPr lang="en-US" altLang="x-none" sz="2800" dirty="0">
                <a:solidFill>
                  <a:srgbClr val="0000C8"/>
                </a:solidFill>
                <a:ea typeface="楷体" panose="02010609060101010101" charset="-122"/>
                <a:cs typeface="+mn-lt"/>
              </a:rPr>
              <a:t>(discnt)</a:t>
            </a:r>
            <a:r>
              <a:rPr lang="zh-CN" altLang="en-US" sz="2800" dirty="0">
                <a:solidFill>
                  <a:srgbClr val="0000C8"/>
                </a:solidFill>
                <a:ea typeface="楷体" panose="02010609060101010101" charset="-122"/>
                <a:cs typeface="+mn-lt"/>
              </a:rPr>
              <a:t>最高的顾客的编号</a:t>
            </a:r>
            <a:endParaRPr lang="en-US" altLang="x-none" sz="2800" dirty="0">
              <a:solidFill>
                <a:srgbClr val="0000C8"/>
              </a:solidFill>
              <a:ea typeface="楷体" panose="02010609060101010101" charset="-122"/>
              <a:cs typeface="+mn-lt"/>
            </a:endParaRPr>
          </a:p>
        </p:txBody>
      </p:sp>
      <p:pic>
        <p:nvPicPr>
          <p:cNvPr id="3" name="图片 2"/>
          <p:cNvPicPr>
            <a:picLocks noChangeAspect="1"/>
          </p:cNvPicPr>
          <p:nvPr/>
        </p:nvPicPr>
        <p:blipFill>
          <a:blip r:embed="rId2"/>
          <a:stretch>
            <a:fillRect/>
          </a:stretch>
        </p:blipFill>
        <p:spPr>
          <a:xfrm>
            <a:off x="2315845" y="2726690"/>
            <a:ext cx="7559040" cy="3437890"/>
          </a:xfrm>
          <a:prstGeom prst="rect">
            <a:avLst/>
          </a:prstGeom>
        </p:spPr>
      </p:pic>
      <p:sp>
        <p:nvSpPr>
          <p:cNvPr id="4" name="灯片编号占位符 3"/>
          <p:cNvSpPr>
            <a:spLocks noGrp="1"/>
          </p:cNvSpPr>
          <p:nvPr>
            <p:ph type="sldNum" sz="quarter" idx="12"/>
          </p:nvPr>
        </p:nvSpPr>
        <p:spPr/>
        <p:txBody>
          <a:bodyPr/>
          <a:lstStyle/>
          <a:p>
            <a:fld id="{565CE74E-AB26-4998-AD42-012C4C1AD076}" type="slidenum">
              <a:rPr lang="zh-CN" altLang="en-US" smtClean="0"/>
              <a:t>73</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grpSp>
        <p:nvGrpSpPr>
          <p:cNvPr id="8" name="组合 7"/>
          <p:cNvGrpSpPr/>
          <p:nvPr/>
        </p:nvGrpSpPr>
        <p:grpSpPr>
          <a:xfrm>
            <a:off x="423545" y="664210"/>
            <a:ext cx="11342370" cy="952500"/>
            <a:chOff x="667" y="1046"/>
            <a:chExt cx="17862" cy="1500"/>
          </a:xfrm>
        </p:grpSpPr>
        <p:sp>
          <p:nvSpPr>
            <p:cNvPr id="5" name="文本框 110601"/>
            <p:cNvSpPr txBox="1"/>
            <p:nvPr/>
          </p:nvSpPr>
          <p:spPr>
            <a:xfrm>
              <a:off x="667" y="1046"/>
              <a:ext cx="7502"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C (cno, cname, city, discnt)</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A (aid, aname, city, percent)</a:t>
              </a:r>
            </a:p>
          </p:txBody>
        </p:sp>
        <p:sp>
          <p:nvSpPr>
            <p:cNvPr id="7" name="文本框 110601"/>
            <p:cNvSpPr txBox="1"/>
            <p:nvPr/>
          </p:nvSpPr>
          <p:spPr>
            <a:xfrm>
              <a:off x="8169" y="1046"/>
              <a:ext cx="10361" cy="1501"/>
            </a:xfrm>
            <a:prstGeom prst="rect">
              <a:avLst/>
            </a:prstGeom>
            <a:noFill/>
            <a:ln w="25400" cap="flat" cmpd="sng">
              <a:noFill/>
              <a:prstDash val="solid"/>
              <a:miter/>
              <a:headEnd type="none" w="med" len="med"/>
              <a:tailEnd type="none" w="med" len="med"/>
            </a:ln>
          </p:spPr>
          <p:txBody>
            <a:bodyPr wrap="square" anchor="t">
              <a:noAutofit/>
            </a:bodyPr>
            <a:lstStyle/>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P (pid, pname, city, quantity, price)</a:t>
              </a:r>
            </a:p>
            <a:p>
              <a:pPr lvl="0" indent="0" algn="l" eaLnBrk="1" hangingPunct="1">
                <a:lnSpc>
                  <a:spcPct val="100000"/>
                </a:lnSpc>
                <a:spcBef>
                  <a:spcPts val="0"/>
                </a:spcBef>
                <a:spcAft>
                  <a:spcPts val="0"/>
                </a:spcAft>
              </a:pPr>
              <a:r>
                <a:rPr lang="en-US" altLang="x-none" sz="2800" b="1" dirty="0">
                  <a:solidFill>
                    <a:srgbClr val="1F2DA8"/>
                  </a:solidFill>
                  <a:uFillTx/>
                  <a:ea typeface="楷体" panose="02010609060101010101" charset="-122"/>
                  <a:cs typeface="+mn-lt"/>
                </a:rPr>
                <a:t>O (ordno, month, cid, aid, pid, qty, dollars)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2</a:t>
            </a:r>
            <a:r>
              <a:rPr lang="zh-CN" altLang="en-US" dirty="0">
                <a:sym typeface="+mn-ea"/>
              </a:rPr>
              <a:t>）</a:t>
            </a:r>
            <a:endParaRPr lang="zh-CN" altLang="en-US"/>
          </a:p>
        </p:txBody>
      </p:sp>
      <p:sp>
        <p:nvSpPr>
          <p:cNvPr id="3073" name="文本占位符 4097"/>
          <p:cNvSpPr>
            <a:spLocks noGrp="1"/>
          </p:cNvSpPr>
          <p:nvPr>
            <p:ph idx="4294967295"/>
          </p:nvPr>
        </p:nvSpPr>
        <p:spPr>
          <a:xfrm>
            <a:off x="387350" y="2439670"/>
            <a:ext cx="11441430" cy="460375"/>
          </a:xfrm>
          <a:solidFill>
            <a:schemeClr val="accent3">
              <a:lumMod val="20000"/>
              <a:lumOff val="80000"/>
              <a:alpha val="50000"/>
            </a:schemeClr>
          </a:solidFill>
        </p:spPr>
        <p:txBody>
          <a:bodyPr anchor="t">
            <a:noAutofit/>
          </a:bodyPr>
          <a:lstStyle/>
          <a:p>
            <a:pPr marL="457200" indent="-457200">
              <a:lnSpc>
                <a:spcPct val="100000"/>
              </a:lnSpc>
              <a:spcBef>
                <a:spcPts val="0"/>
              </a:spcBef>
              <a:buFont typeface="+mj-lt"/>
              <a:buAutoNum type="arabicPeriod" startAt="10"/>
            </a:pPr>
            <a:r>
              <a:rPr lang="zh-CN" altLang="en-US" sz="2400" b="1">
                <a:solidFill>
                  <a:srgbClr val="0000C8"/>
                </a:solidFill>
              </a:rPr>
              <a:t>在当前的所有顾客中</a:t>
            </a:r>
            <a:r>
              <a:rPr lang="en-US" altLang="zh-CN" sz="2400" b="1">
                <a:solidFill>
                  <a:srgbClr val="0000C8"/>
                </a:solidFill>
              </a:rPr>
              <a:t>, </a:t>
            </a:r>
            <a:r>
              <a:rPr lang="zh-CN" altLang="en-US" sz="2400" b="1">
                <a:solidFill>
                  <a:srgbClr val="0000C8"/>
                </a:solidFill>
              </a:rPr>
              <a:t>查询折扣</a:t>
            </a:r>
            <a:r>
              <a:rPr lang="en-US" altLang="zh-CN" sz="2400" b="1">
                <a:solidFill>
                  <a:srgbClr val="0000C8"/>
                </a:solidFill>
              </a:rPr>
              <a:t>(discnt)</a:t>
            </a:r>
            <a:r>
              <a:rPr lang="zh-CN" altLang="en-US" sz="2400" b="1">
                <a:solidFill>
                  <a:srgbClr val="0000C8"/>
                </a:solidFill>
              </a:rPr>
              <a:t>最高的顾客的编号</a:t>
            </a:r>
            <a:r>
              <a:rPr lang="en-US" altLang="zh-CN" sz="2400" b="1">
                <a:solidFill>
                  <a:srgbClr val="0000C8"/>
                </a:solidFill>
              </a:rPr>
              <a:t>(cid)</a:t>
            </a:r>
          </a:p>
        </p:txBody>
      </p:sp>
      <mc:AlternateContent xmlns:mc="http://schemas.openxmlformats.org/markup-compatibility/2006" xmlns:a14="http://schemas.microsoft.com/office/drawing/2010/main">
        <mc:Choice Requires="a14">
          <p:sp>
            <p:nvSpPr>
              <p:cNvPr id="4136" name="矩形 4135"/>
              <p:cNvSpPr/>
              <p:nvPr/>
            </p:nvSpPr>
            <p:spPr>
              <a:xfrm>
                <a:off x="883920" y="2986405"/>
                <a:ext cx="10828655" cy="525145"/>
              </a:xfrm>
              <a:prstGeom prst="rect">
                <a:avLst/>
              </a:prstGeom>
              <a:noFill/>
              <a:ln w="9525">
                <a:noFill/>
              </a:ln>
            </p:spPr>
            <p:txBody>
              <a:bodyPr anchor="t">
                <a:noAutofit/>
              </a:bodyPr>
              <a:lstStyle/>
              <a:p>
                <a:pPr marL="457200" indent="-457200">
                  <a:lnSpc>
                    <a:spcPct val="110000"/>
                  </a:lnSpc>
                  <a:spcBef>
                    <a:spcPct val="20000"/>
                  </a:spcBef>
                  <a:buClr>
                    <a:srgbClr val="C00000"/>
                  </a:buClr>
                  <a:buSzPct val="85000"/>
                  <a:buFont typeface="Wingdings" panose="05000000000000000000" charset="0"/>
                  <a:buChar char="Ø"/>
                </a:pPr>
                <a:r>
                  <a:rPr lang="zh-CN" altLang="en-US" sz="2400" b="1">
                    <a:solidFill>
                      <a:srgbClr val="0000C8"/>
                    </a:solidFill>
                    <a:latin typeface="楷体" panose="02010609060101010101" charset="-122"/>
                    <a:ea typeface="楷体" panose="02010609060101010101" charset="-122"/>
                    <a:sym typeface="Symbol" panose="05050102010706020507" pitchFamily="2" charset="2"/>
                  </a:rPr>
                  <a:t>错误答案：</a:t>
                </a:r>
                <a:r>
                  <a:rPr lang="en-US" altLang="zh-CN" sz="2400" b="1">
                    <a:solidFill>
                      <a:srgbClr val="0000C8"/>
                    </a:solidFill>
                    <a:latin typeface="楷体" panose="02010609060101010101" charset="-122"/>
                    <a:ea typeface="楷体" panose="02010609060101010101" charset="-122"/>
                    <a:sym typeface="Symbol" panose="05050102010706020507" pitchFamily="2" charset="2"/>
                  </a:rPr>
                  <a:t>   </a:t>
                </a:r>
                <a14:m>
                  <m:oMath xmlns:m="http://schemas.openxmlformats.org/officeDocument/2006/math">
                    <m:sSub>
                      <m:sSubPr>
                        <m:ctrlPr>
                          <a:rPr lang="zh-CN" altLang="en-US" sz="2400" b="1" i="1">
                            <a:solidFill>
                              <a:srgbClr val="FF0000"/>
                            </a:solidFill>
                            <a:latin typeface="Cambria Math" panose="02040503050406030204" pitchFamily="18" charset="0"/>
                            <a:ea typeface="楷体" panose="02010609060101010101" charset="-122"/>
                            <a:cs typeface="Cambria Math" panose="02040503050406030204" charset="0"/>
                            <a:sym typeface="Symbol" panose="05050102010706020507" pitchFamily="2" charset="2"/>
                          </a:rPr>
                        </m:ctrlPr>
                      </m:sSubPr>
                      <m:e>
                        <m:r>
                          <a:rPr lang="en-US" altLang="zh-CN" sz="2400" b="1" i="1">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𝝅</m:t>
                        </m:r>
                      </m:e>
                      <m:sub>
                        <m:r>
                          <a:rPr lang="en-US" altLang="zh-CN" sz="2400" b="1" i="1">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 </m:t>
                        </m:r>
                        <m:r>
                          <a:rPr lang="en-US" altLang="zh-CN" sz="2400" b="1" i="1">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𝑪</m:t>
                        </m:r>
                        <m:r>
                          <a:rPr lang="en-US" altLang="zh-CN" sz="2400" b="1" i="1">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m:t>
                        </m:r>
                        <m:r>
                          <a:rPr lang="en-US" altLang="zh-CN" sz="2400" b="1" i="1">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𝒄𝒊𝒅</m:t>
                        </m:r>
                        <m:r>
                          <a:rPr lang="en-US" altLang="zh-CN" sz="2400" b="1" i="1">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 </m:t>
                        </m:r>
                      </m:sub>
                    </m:sSub>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 </m:t>
                    </m:r>
                    <m:sSub>
                      <m:sSubPr>
                        <m:ctrlPr>
                          <a:rPr lang="en-US" altLang="zh-CN" sz="2400" b="1" i="1" u="none" baseline="0">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𝝈</m:t>
                        </m:r>
                      </m:e>
                      <m:sub>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 </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 = </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𝑴𝑨𝑿</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 </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𝑪</m:t>
                    </m:r>
                    <m:r>
                      <a:rPr lang="en-US" altLang="zh-CN" sz="2400" b="1" i="1" u="none" baseline="0">
                        <a:solidFill>
                          <a:srgbClr val="FF0000"/>
                        </a:solidFill>
                        <a:latin typeface="Cambria Math" panose="02040503050406030204" charset="0"/>
                        <a:ea typeface="宋体" panose="02010600030101010101" pitchFamily="2" charset="-122"/>
                        <a:cs typeface="Cambria Math" panose="02040503050406030204" charset="0"/>
                      </a:rPr>
                      <m:t> ) )</m:t>
                    </m:r>
                  </m:oMath>
                </a14:m>
                <a:endParaRPr lang="en-US" altLang="zh-CN" sz="2400" b="1" i="1" u="none" baseline="0">
                  <a:solidFill>
                    <a:srgbClr val="FF0000"/>
                  </a:solidFill>
                  <a:latin typeface="Arial" panose="020B0604020202020204" pitchFamily="34" charset="0"/>
                  <a:ea typeface="宋体" panose="02010600030101010101" pitchFamily="2" charset="-122"/>
                </a:endParaRPr>
              </a:p>
            </p:txBody>
          </p:sp>
        </mc:Choice>
        <mc:Fallback xmlns="">
          <p:sp>
            <p:nvSpPr>
              <p:cNvPr id="4136" name="矩形 4135"/>
              <p:cNvSpPr>
                <a:spLocks noRot="1" noChangeAspect="1" noMove="1" noResize="1" noEditPoints="1" noAdjustHandles="1" noChangeArrowheads="1" noChangeShapeType="1" noTextEdit="1"/>
              </p:cNvSpPr>
              <p:nvPr/>
            </p:nvSpPr>
            <p:spPr>
              <a:xfrm>
                <a:off x="883920" y="2986405"/>
                <a:ext cx="10828655" cy="525145"/>
              </a:xfrm>
              <a:prstGeom prst="rect">
                <a:avLst/>
              </a:prstGeom>
              <a:blipFill rotWithShape="1">
                <a:blip r:embed="rId3"/>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387350" y="3653155"/>
                <a:ext cx="11440795" cy="2963545"/>
              </a:xfrm>
              <a:prstGeom prst="rect">
                <a:avLst/>
              </a:prstGeom>
              <a:solidFill>
                <a:schemeClr val="bg1">
                  <a:lumMod val="95000"/>
                  <a:alpha val="50000"/>
                </a:schemeClr>
              </a:solidFill>
            </p:spPr>
            <p:txBody>
              <a:bodyPr wrap="square" rtlCol="0">
                <a:noAutofit/>
              </a:bodyPr>
              <a:lstStyle/>
              <a:p>
                <a:pPr marL="342900" indent="-342900" fontAlgn="auto">
                  <a:spcBef>
                    <a:spcPts val="800"/>
                  </a:spcBef>
                  <a:buClr>
                    <a:srgbClr val="C00000"/>
                  </a:buClr>
                  <a:buSzPct val="85000"/>
                  <a:buFont typeface="Wingdings" panose="05000000000000000000" charset="0"/>
                  <a:buChar char="q"/>
                </a:pP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回顾：选择运算</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 </a:t>
                </a:r>
                <a14:m>
                  <m:oMath xmlns:m="http://schemas.openxmlformats.org/officeDocument/2006/math">
                    <m:sSub>
                      <m:sSubPr>
                        <m:ctrlPr>
                          <a:rPr lang="en-US" altLang="zh-CN" sz="2000" b="1" i="1">
                            <a:solidFill>
                              <a:srgbClr val="C00000"/>
                            </a:solidFill>
                            <a:latin typeface="Cambria Math" panose="02040503050406030204" pitchFamily="18" charset="0"/>
                            <a:ea typeface="楷体" panose="02010609060101010101" charset="-122"/>
                            <a:cs typeface="Cambria Math" panose="02040503050406030204" charset="0"/>
                            <a:sym typeface="+mn-ea"/>
                          </a:rPr>
                        </m:ctrlPr>
                      </m:sSubPr>
                      <m:e>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𝝈</m:t>
                        </m:r>
                      </m:e>
                      <m:sub>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𝑭</m:t>
                        </m:r>
                      </m:sub>
                    </m:sSub>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m:t>
                    </m:r>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𝑹</m:t>
                    </m:r>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m:t>
                    </m:r>
                  </m:oMath>
                </a14:m>
                <a:endPar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endParaRPr>
              </a:p>
              <a:p>
                <a:pPr lvl="1" indent="0" fontAlgn="auto">
                  <a:spcBef>
                    <a:spcPts val="800"/>
                  </a:spcBef>
                  <a:buClr>
                    <a:srgbClr val="C00000"/>
                  </a:buClr>
                  <a:buSzPct val="85000"/>
                  <a:buNone/>
                </a:pP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根据给定的条件表达式</a:t>
                </a:r>
                <a14:m>
                  <m:oMath xmlns:m="http://schemas.openxmlformats.org/officeDocument/2006/math">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𝑭</m:t>
                    </m:r>
                  </m:oMath>
                </a14:m>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来查询一个关系中有哪些元组满足查询要求，具体计算过程是：</a:t>
                </a:r>
              </a:p>
              <a:p>
                <a:pPr marL="800100" lvl="1" indent="-342900" fontAlgn="auto">
                  <a:spcBef>
                    <a:spcPts val="800"/>
                  </a:spcBef>
                  <a:buClr>
                    <a:srgbClr val="C00000"/>
                  </a:buClr>
                  <a:buSzPct val="85000"/>
                  <a:buFont typeface="Wingdings" panose="05000000000000000000" charset="0"/>
                  <a:buChar char="Ø"/>
                </a:pP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针对关系</a:t>
                </a:r>
                <a14:m>
                  <m:oMath xmlns:m="http://schemas.openxmlformats.org/officeDocument/2006/math">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𝑹</m:t>
                    </m:r>
                  </m:oMath>
                </a14:m>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中的每一个元组</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t</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，将</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t</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中元组的属性值代入到条件表达式</a:t>
                </a:r>
                <a14:m>
                  <m:oMath xmlns:m="http://schemas.openxmlformats.org/officeDocument/2006/math">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𝑭</m:t>
                    </m:r>
                  </m:oMath>
                </a14:m>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中进行计算，如果结果为</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true</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，那么就说元组</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t</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能够使得条件</a:t>
                </a:r>
                <a14:m>
                  <m:oMath xmlns:m="http://schemas.openxmlformats.org/officeDocument/2006/math">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𝑭</m:t>
                    </m:r>
                  </m:oMath>
                </a14:m>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成立，则元组</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t</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满足查询要求并被加入到查询的结果元组集合中。</a:t>
                </a:r>
              </a:p>
              <a:p>
                <a:pPr marL="800100" lvl="1" indent="-342900" fontAlgn="auto">
                  <a:spcBef>
                    <a:spcPts val="800"/>
                  </a:spcBef>
                  <a:buClr>
                    <a:srgbClr val="C00000"/>
                  </a:buClr>
                  <a:buSzPct val="85000"/>
                  <a:buFont typeface="Wingdings" panose="05000000000000000000" charset="0"/>
                  <a:buChar char="Ø"/>
                </a:pP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因此在选择条件表达式</a:t>
                </a:r>
                <a14:m>
                  <m:oMath xmlns:m="http://schemas.openxmlformats.org/officeDocument/2006/math">
                    <m:r>
                      <a:rPr lang="en-US" altLang="zh-CN" sz="2000" b="1" i="1">
                        <a:solidFill>
                          <a:srgbClr val="C00000"/>
                        </a:solidFill>
                        <a:latin typeface="Cambria Math" panose="02040503050406030204" charset="0"/>
                        <a:ea typeface="楷体" panose="02010609060101010101" charset="-122"/>
                        <a:cs typeface="Cambria Math" panose="02040503050406030204" charset="0"/>
                        <a:sym typeface="+mn-ea"/>
                      </a:rPr>
                      <m:t>𝑭</m:t>
                    </m:r>
                  </m:oMath>
                </a14:m>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中使用统计函数</a:t>
                </a:r>
                <a:r>
                  <a:rPr lang="en-US" altLang="zh-CN" sz="2000" b="1">
                    <a:solidFill>
                      <a:srgbClr val="1F2DA8"/>
                    </a:solidFill>
                    <a:latin typeface="Times New Roman" panose="02020603050405020304" charset="0"/>
                    <a:ea typeface="楷体" panose="02010609060101010101" charset="-122"/>
                    <a:cs typeface="Times New Roman" panose="02020603050405020304" charset="0"/>
                    <a:sym typeface="+mn-ea"/>
                  </a:rPr>
                  <a:t>MAX</a:t>
                </a:r>
                <a:r>
                  <a:rPr lang="zh-CN" altLang="en-US" sz="2000" b="1">
                    <a:solidFill>
                      <a:srgbClr val="1F2DA8"/>
                    </a:solidFill>
                    <a:latin typeface="Times New Roman" panose="02020603050405020304" charset="0"/>
                    <a:ea typeface="楷体" panose="02010609060101010101" charset="-122"/>
                    <a:cs typeface="Times New Roman" panose="02020603050405020304" charset="0"/>
                    <a:sym typeface="+mn-ea"/>
                  </a:rPr>
                  <a:t>是没有意义的（在单个元组上，对一个属性的取值进行最大值的统计计算是没有意义的）。</a:t>
                </a:r>
              </a:p>
              <a:p>
                <a:pPr marL="800100" lvl="1" indent="-342900" fontAlgn="auto">
                  <a:spcBef>
                    <a:spcPts val="800"/>
                  </a:spcBef>
                  <a:buClr>
                    <a:srgbClr val="C00000"/>
                  </a:buClr>
                  <a:buSzPct val="85000"/>
                  <a:buFont typeface="Wingdings" panose="05000000000000000000" charset="0"/>
                  <a:buChar char="Ø"/>
                </a:pPr>
                <a:r>
                  <a:rPr lang="zh-CN" altLang="en-US" sz="2000" b="1">
                    <a:solidFill>
                      <a:srgbClr val="1F2DA8"/>
                    </a:solidFill>
                    <a:latin typeface="Times New Roman" panose="02020603050405020304" charset="0"/>
                    <a:ea typeface="楷体" panose="02010609060101010101" charset="-122"/>
                    <a:cs typeface="Times New Roman" panose="02020603050405020304" charset="0"/>
                  </a:rPr>
                  <a:t>在部分参考资料中介绍了扩充关系代数操作</a:t>
                </a:r>
                <a:r>
                  <a:rPr lang="en-US" altLang="zh-CN" sz="2000" b="1">
                    <a:solidFill>
                      <a:srgbClr val="1F2DA8"/>
                    </a:solidFill>
                    <a:latin typeface="Times New Roman" panose="02020603050405020304" charset="0"/>
                    <a:ea typeface="楷体" panose="02010609060101010101" charset="-122"/>
                    <a:cs typeface="Times New Roman" panose="02020603050405020304" charset="0"/>
                  </a:rPr>
                  <a:t>‘</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聚集</a:t>
                </a:r>
                <a:r>
                  <a:rPr lang="en-US" altLang="zh-CN" sz="2000" b="1">
                    <a:solidFill>
                      <a:srgbClr val="1F2DA8"/>
                    </a:solidFill>
                    <a:latin typeface="Times New Roman" panose="02020603050405020304" charset="0"/>
                    <a:ea typeface="楷体" panose="02010609060101010101" charset="-122"/>
                    <a:cs typeface="Times New Roman" panose="02020603050405020304" charset="0"/>
                  </a:rPr>
                  <a:t>’</a:t>
                </a:r>
                <a:r>
                  <a:rPr lang="zh-CN" altLang="en-US" sz="2000" b="1">
                    <a:solidFill>
                      <a:srgbClr val="1F2DA8"/>
                    </a:solidFill>
                    <a:latin typeface="Times New Roman" panose="02020603050405020304" charset="0"/>
                    <a:ea typeface="楷体" panose="02010609060101010101" charset="-122"/>
                    <a:cs typeface="Times New Roman" panose="02020603050405020304" charset="0"/>
                  </a:rPr>
                  <a:t>，但也仅用于对查询结果集进行统计计算。</a:t>
                </a:r>
              </a:p>
            </p:txBody>
          </p:sp>
        </mc:Choice>
        <mc:Fallback xmlns="">
          <p:sp>
            <p:nvSpPr>
              <p:cNvPr id="4" name="文本框 3"/>
              <p:cNvSpPr txBox="1">
                <a:spLocks noRot="1" noChangeAspect="1" noMove="1" noResize="1" noEditPoints="1" noAdjustHandles="1" noChangeArrowheads="1" noChangeShapeType="1" noTextEdit="1"/>
              </p:cNvSpPr>
              <p:nvPr/>
            </p:nvSpPr>
            <p:spPr>
              <a:xfrm>
                <a:off x="387350" y="3653155"/>
                <a:ext cx="11440795" cy="2963545"/>
              </a:xfrm>
              <a:prstGeom prst="rect">
                <a:avLst/>
              </a:prstGeom>
              <a:blipFill rotWithShape="1">
                <a:blip r:embed="rId4"/>
                <a:stretch>
                  <a:fillRect/>
                </a:stretch>
              </a:blipFill>
            </p:spPr>
            <p:txBody>
              <a:bodyPr/>
              <a:lstStyle/>
              <a:p>
                <a:r>
                  <a:rPr lang="zh-CN" altLang="en-US">
                    <a:noFill/>
                  </a:rPr>
                  <a:t> </a:t>
                </a:r>
              </a:p>
            </p:txBody>
          </p:sp>
        </mc:Fallback>
      </mc:AlternateContent>
      <p:pic>
        <p:nvPicPr>
          <p:cNvPr id="5" name="图片 4"/>
          <p:cNvPicPr>
            <a:picLocks noChangeAspect="1"/>
          </p:cNvPicPr>
          <p:nvPr/>
        </p:nvPicPr>
        <p:blipFill>
          <a:blip r:embed="rId5"/>
          <a:stretch>
            <a:fillRect/>
          </a:stretch>
        </p:blipFill>
        <p:spPr>
          <a:xfrm>
            <a:off x="3362960" y="589915"/>
            <a:ext cx="5189855" cy="1763395"/>
          </a:xfrm>
          <a:prstGeom prst="rect">
            <a:avLst/>
          </a:prstGeom>
        </p:spPr>
      </p:pic>
      <p:sp>
        <p:nvSpPr>
          <p:cNvPr id="3" name="灯片编号占位符 2"/>
          <p:cNvSpPr>
            <a:spLocks noGrp="1"/>
          </p:cNvSpPr>
          <p:nvPr>
            <p:ph type="sldNum" sz="quarter" idx="12"/>
          </p:nvPr>
        </p:nvSpPr>
        <p:spPr>
          <a:xfrm>
            <a:off x="11461115" y="6696000"/>
            <a:ext cx="730885" cy="153670"/>
          </a:xfrm>
        </p:spPr>
        <p:txBody>
          <a:bodyPr/>
          <a:lstStyle/>
          <a:p>
            <a:fld id="{565CE74E-AB26-4998-AD42-012C4C1AD076}" type="slidenum">
              <a:rPr lang="zh-CN" altLang="en-US" smtClean="0"/>
              <a:t>74</a:t>
            </a:fld>
            <a:endParaRPr lang="zh-CN" altLang="en-US"/>
          </a:p>
        </p:txBody>
      </p:sp>
      <p:sp>
        <p:nvSpPr>
          <p:cNvPr id="2" name="页脚占位符 1"/>
          <p:cNvSpPr>
            <a:spLocks noGrp="1"/>
          </p:cNvSpPr>
          <p:nvPr>
            <p:ph type="ftr" sz="quarter" idx="11"/>
          </p:nvPr>
        </p:nvSpPr>
        <p:spPr>
          <a:xfrm>
            <a:off x="0" y="6695365"/>
            <a:ext cx="4114800" cy="153670"/>
          </a:xfrm>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36"/>
                                        </p:tgtEl>
                                        <p:attrNameLst>
                                          <p:attrName>style.visibility</p:attrName>
                                        </p:attrNameLst>
                                      </p:cBhvr>
                                      <p:to>
                                        <p:strVal val="visible"/>
                                      </p:to>
                                    </p:set>
                                    <p:animEffect transition="in" filter="blinds(horizontal)">
                                      <p:cBhvr>
                                        <p:cTn id="7" dur="500"/>
                                        <p:tgtEl>
                                          <p:spTgt spid="41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bg/>
                                          </p:spTgt>
                                        </p:tgtEl>
                                        <p:attrNameLst>
                                          <p:attrName>style.visibility</p:attrName>
                                        </p:attrNameLst>
                                      </p:cBhvr>
                                      <p:to>
                                        <p:strVal val="visible"/>
                                      </p:to>
                                    </p:set>
                                    <p:animEffect transition="in" filter="blinds(horizontal)">
                                      <p:cBhvr>
                                        <p:cTn id="12" dur="500"/>
                                        <p:tgtEl>
                                          <p:spTgt spid="4">
                                            <p:bg/>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blinds(horizontal)">
                                      <p:cBhvr>
                                        <p:cTn id="15" dur="50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blinds(horizontal)">
                                      <p:cBhvr>
                                        <p:cTn id="20" dur="5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blinds(horizontal)">
                                      <p:cBhvr>
                                        <p:cTn id="25" dur="500"/>
                                        <p:tgtEl>
                                          <p:spTgt spid="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blinds(horizontal)">
                                      <p:cBhvr>
                                        <p:cTn id="30" dur="5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blinds(horizontal)">
                                      <p:cBhvr>
                                        <p:cTn id="3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 grpId="0"/>
      <p:bldP spid="4" grpId="0" uiExpand="1" build="p" bldLvl="2"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3</a:t>
            </a:r>
            <a:r>
              <a:rPr lang="zh-CN" altLang="en-US" dirty="0">
                <a:sym typeface="+mn-ea"/>
              </a:rPr>
              <a:t>）</a:t>
            </a:r>
          </a:p>
        </p:txBody>
      </p:sp>
      <p:sp>
        <p:nvSpPr>
          <p:cNvPr id="4097" name="文本占位符 5121"/>
          <p:cNvSpPr>
            <a:spLocks noGrp="1"/>
          </p:cNvSpPr>
          <p:nvPr>
            <p:ph idx="1"/>
          </p:nvPr>
        </p:nvSpPr>
        <p:spPr>
          <a:xfrm>
            <a:off x="424180" y="2952000"/>
            <a:ext cx="11343005" cy="610871"/>
          </a:xfrm>
          <a:solidFill>
            <a:schemeClr val="tx2">
              <a:lumMod val="20000"/>
              <a:lumOff val="80000"/>
              <a:alpha val="50000"/>
            </a:schemeClr>
          </a:solidFill>
        </p:spPr>
        <p:txBody>
          <a:bodyPr anchor="t">
            <a:noAutofit/>
          </a:bodyPr>
          <a:lstStyle/>
          <a:p>
            <a:pPr>
              <a:buFont typeface="Wingdings" panose="05000000000000000000" charset="0"/>
              <a:buChar char="q"/>
            </a:pPr>
            <a:r>
              <a:rPr lang="zh-CN" altLang="en-US" sz="2800" b="1">
                <a:solidFill>
                  <a:srgbClr val="0000C8"/>
                </a:solidFill>
                <a:latin typeface="Times New Roman" panose="02020603050405020304" charset="0"/>
                <a:cs typeface="Times New Roman" panose="02020603050405020304" charset="0"/>
              </a:rPr>
              <a:t>对于一个顾客</a:t>
            </a:r>
            <a:r>
              <a:rPr lang="en-US" altLang="zh-CN" sz="2800" b="1">
                <a:solidFill>
                  <a:srgbClr val="0000C8"/>
                </a:solidFill>
                <a:latin typeface="Times New Roman" panose="02020603050405020304" charset="0"/>
                <a:cs typeface="Times New Roman" panose="02020603050405020304" charset="0"/>
              </a:rPr>
              <a:t>c</a:t>
            </a:r>
            <a:r>
              <a:rPr lang="zh-CN" altLang="en-US" sz="2800" b="1">
                <a:solidFill>
                  <a:srgbClr val="0000C8"/>
                </a:solidFill>
                <a:latin typeface="Times New Roman" panose="02020603050405020304" charset="0"/>
                <a:cs typeface="Times New Roman" panose="02020603050405020304" charset="0"/>
              </a:rPr>
              <a:t>，如何判定</a:t>
            </a:r>
            <a:r>
              <a:rPr lang="en-US" altLang="zh-CN" sz="2800" b="1">
                <a:solidFill>
                  <a:srgbClr val="0000C8"/>
                </a:solidFill>
                <a:latin typeface="Times New Roman" panose="02020603050405020304" charset="0"/>
                <a:cs typeface="Times New Roman" panose="02020603050405020304" charset="0"/>
              </a:rPr>
              <a:t>c</a:t>
            </a:r>
            <a:r>
              <a:rPr lang="zh-CN" altLang="en-US" sz="2800" b="1">
                <a:solidFill>
                  <a:srgbClr val="0000C8"/>
                </a:solidFill>
                <a:latin typeface="Times New Roman" panose="02020603050405020304" charset="0"/>
                <a:cs typeface="Times New Roman" panose="02020603050405020304" charset="0"/>
              </a:rPr>
              <a:t>的折扣是 </a:t>
            </a:r>
            <a:r>
              <a:rPr lang="en-US" altLang="zh-CN" sz="2800" b="1">
                <a:solidFill>
                  <a:srgbClr val="0000C8"/>
                </a:solidFill>
                <a:latin typeface="Times New Roman" panose="02020603050405020304" charset="0"/>
                <a:cs typeface="Times New Roman" panose="02020603050405020304" charset="0"/>
              </a:rPr>
              <a:t>“</a:t>
            </a:r>
            <a:r>
              <a:rPr lang="zh-CN" altLang="en-US" sz="2800" b="1">
                <a:solidFill>
                  <a:srgbClr val="FF0000"/>
                </a:solidFill>
                <a:latin typeface="Times New Roman" panose="02020603050405020304" charset="0"/>
                <a:cs typeface="Times New Roman" panose="02020603050405020304" charset="0"/>
              </a:rPr>
              <a:t>最高</a:t>
            </a:r>
            <a:r>
              <a:rPr lang="en-US" altLang="zh-CN" sz="2800" b="1">
                <a:solidFill>
                  <a:srgbClr val="0000C8"/>
                </a:solidFill>
                <a:latin typeface="Times New Roman" panose="02020603050405020304" charset="0"/>
                <a:cs typeface="Times New Roman" panose="02020603050405020304" charset="0"/>
              </a:rPr>
              <a:t>”</a:t>
            </a:r>
            <a:r>
              <a:rPr lang="zh-CN" altLang="en-US" sz="2800" b="1">
                <a:solidFill>
                  <a:srgbClr val="0000C8"/>
                </a:solidFill>
                <a:latin typeface="Times New Roman" panose="02020603050405020304" charset="0"/>
                <a:cs typeface="Times New Roman" panose="02020603050405020304" charset="0"/>
              </a:rPr>
              <a:t> </a:t>
            </a:r>
            <a:r>
              <a:rPr lang="en-US" altLang="zh-CN" sz="2800" b="1">
                <a:solidFill>
                  <a:srgbClr val="0000C8"/>
                </a:solidFill>
                <a:latin typeface="Times New Roman" panose="02020603050405020304" charset="0"/>
                <a:cs typeface="Times New Roman" panose="02020603050405020304" charset="0"/>
              </a:rPr>
              <a:t>or “</a:t>
            </a:r>
            <a:r>
              <a:rPr lang="zh-CN" altLang="en-US" sz="2800" b="1">
                <a:solidFill>
                  <a:srgbClr val="FF0000"/>
                </a:solidFill>
                <a:latin typeface="Times New Roman" panose="02020603050405020304" charset="0"/>
                <a:cs typeface="Times New Roman" panose="02020603050405020304" charset="0"/>
              </a:rPr>
              <a:t>不是最高</a:t>
            </a:r>
            <a:r>
              <a:rPr lang="zh-CN" altLang="en-US" sz="2800" b="1">
                <a:solidFill>
                  <a:srgbClr val="0000C8"/>
                </a:solidFill>
                <a:latin typeface="Times New Roman" panose="02020603050405020304" charset="0"/>
                <a:cs typeface="Times New Roman" panose="02020603050405020304" charset="0"/>
              </a:rPr>
              <a:t>”？</a:t>
            </a:r>
          </a:p>
        </p:txBody>
      </p:sp>
      <p:sp>
        <p:nvSpPr>
          <p:cNvPr id="5160" name="矩形 5159"/>
          <p:cNvSpPr/>
          <p:nvPr/>
        </p:nvSpPr>
        <p:spPr>
          <a:xfrm>
            <a:off x="424815" y="4005580"/>
            <a:ext cx="11343005" cy="2089150"/>
          </a:xfrm>
          <a:prstGeom prst="rect">
            <a:avLst/>
          </a:prstGeom>
          <a:noFill/>
          <a:ln w="9525">
            <a:noFill/>
          </a:ln>
        </p:spPr>
        <p:txBody>
          <a:bodyPr anchor="t"/>
          <a:lstStyle/>
          <a:p>
            <a:pPr marL="609600" indent="-609600">
              <a:lnSpc>
                <a:spcPct val="120000"/>
              </a:lnSpc>
              <a:spcBef>
                <a:spcPts val="2000"/>
              </a:spcBef>
              <a:spcAft>
                <a:spcPts val="0"/>
              </a:spcAft>
              <a:buClr>
                <a:srgbClr val="C00000"/>
              </a:buClr>
              <a:buSzPct val="85000"/>
              <a:buFont typeface="+mj-lt"/>
              <a:buAutoNum type="alphaLcParenR"/>
            </a:pPr>
            <a:r>
              <a:rPr lang="zh-CN" altLang="en-US" sz="2800" b="1">
                <a:solidFill>
                  <a:srgbClr val="0000C8"/>
                </a:solidFill>
                <a:latin typeface="+mn-lt"/>
                <a:ea typeface="楷体" panose="02010609060101010101" charset="-122"/>
                <a:cs typeface="+mn-lt"/>
                <a:sym typeface="Symbol" panose="05050102010706020507" pitchFamily="2" charset="2"/>
              </a:rPr>
              <a:t>如果</a:t>
            </a:r>
            <a:r>
              <a:rPr lang="en-US" altLang="zh-CN" sz="2800" b="1">
                <a:solidFill>
                  <a:srgbClr val="0000C8"/>
                </a:solidFill>
                <a:latin typeface="+mn-lt"/>
                <a:ea typeface="楷体" panose="02010609060101010101" charset="-122"/>
                <a:cs typeface="+mn-lt"/>
                <a:sym typeface="Symbol" panose="05050102010706020507" pitchFamily="2" charset="2"/>
              </a:rPr>
              <a:t>c</a:t>
            </a:r>
            <a:r>
              <a:rPr lang="zh-CN" altLang="en-US" sz="2800" b="1">
                <a:solidFill>
                  <a:srgbClr val="0000C8"/>
                </a:solidFill>
                <a:latin typeface="+mn-lt"/>
                <a:ea typeface="楷体" panose="02010609060101010101" charset="-122"/>
                <a:cs typeface="+mn-lt"/>
                <a:sym typeface="Symbol" panose="05050102010706020507" pitchFamily="2" charset="2"/>
              </a:rPr>
              <a:t>的折扣不小于所有顾客的折扣，则</a:t>
            </a:r>
            <a:r>
              <a:rPr lang="en-US" altLang="zh-CN" sz="2800" b="1">
                <a:solidFill>
                  <a:srgbClr val="0000C8"/>
                </a:solidFill>
                <a:latin typeface="+mn-lt"/>
                <a:ea typeface="楷体" panose="02010609060101010101" charset="-122"/>
                <a:cs typeface="+mn-lt"/>
                <a:sym typeface="Symbol" panose="05050102010706020507" pitchFamily="2" charset="2"/>
              </a:rPr>
              <a:t>c</a:t>
            </a:r>
            <a:r>
              <a:rPr lang="zh-CN" altLang="en-US" sz="2800" b="1">
                <a:solidFill>
                  <a:srgbClr val="0000C8"/>
                </a:solidFill>
                <a:latin typeface="+mn-lt"/>
                <a:ea typeface="楷体" panose="02010609060101010101" charset="-122"/>
                <a:cs typeface="+mn-lt"/>
                <a:sym typeface="Symbol" panose="05050102010706020507" pitchFamily="2" charset="2"/>
              </a:rPr>
              <a:t>的折扣就是最高的；</a:t>
            </a:r>
          </a:p>
          <a:p>
            <a:pPr marL="609600" indent="-609600">
              <a:lnSpc>
                <a:spcPct val="120000"/>
              </a:lnSpc>
              <a:spcBef>
                <a:spcPts val="2000"/>
              </a:spcBef>
              <a:spcAft>
                <a:spcPts val="0"/>
              </a:spcAft>
              <a:buClr>
                <a:srgbClr val="C00000"/>
              </a:buClr>
              <a:buSzPct val="85000"/>
              <a:buFont typeface="+mj-lt"/>
              <a:buAutoNum type="alphaLcParenR"/>
            </a:pPr>
            <a:r>
              <a:rPr lang="zh-CN" altLang="en-US" sz="2800" b="1">
                <a:solidFill>
                  <a:srgbClr val="0000C8"/>
                </a:solidFill>
                <a:latin typeface="+mn-lt"/>
                <a:ea typeface="楷体" panose="02010609060101010101" charset="-122"/>
                <a:cs typeface="+mn-lt"/>
                <a:sym typeface="Symbol" panose="05050102010706020507" pitchFamily="2" charset="2"/>
              </a:rPr>
              <a:t>如果能够找到一个顾客</a:t>
            </a:r>
            <a:r>
              <a:rPr lang="en-US" altLang="zh-CN" sz="2800" b="1">
                <a:solidFill>
                  <a:srgbClr val="0000C8"/>
                </a:solidFill>
                <a:latin typeface="+mn-lt"/>
                <a:ea typeface="楷体" panose="02010609060101010101" charset="-122"/>
                <a:cs typeface="+mn-lt"/>
                <a:sym typeface="Symbol" panose="05050102010706020507" pitchFamily="2" charset="2"/>
              </a:rPr>
              <a:t>g</a:t>
            </a:r>
            <a:r>
              <a:rPr lang="zh-CN" altLang="en-US" sz="2800" b="1">
                <a:solidFill>
                  <a:srgbClr val="0000C8"/>
                </a:solidFill>
                <a:latin typeface="+mn-lt"/>
                <a:ea typeface="楷体" panose="02010609060101010101" charset="-122"/>
                <a:cs typeface="+mn-lt"/>
                <a:sym typeface="Symbol" panose="05050102010706020507" pitchFamily="2" charset="2"/>
              </a:rPr>
              <a:t>，</a:t>
            </a:r>
            <a:r>
              <a:rPr lang="en-US" altLang="zh-CN" sz="2800" b="1">
                <a:solidFill>
                  <a:srgbClr val="0000C8"/>
                </a:solidFill>
                <a:latin typeface="+mn-lt"/>
                <a:ea typeface="楷体" panose="02010609060101010101" charset="-122"/>
                <a:cs typeface="+mn-lt"/>
                <a:sym typeface="Symbol" panose="05050102010706020507" pitchFamily="2" charset="2"/>
              </a:rPr>
              <a:t>g</a:t>
            </a:r>
            <a:r>
              <a:rPr lang="zh-CN" altLang="en-US" sz="2800" b="1">
                <a:solidFill>
                  <a:srgbClr val="0000C8"/>
                </a:solidFill>
                <a:latin typeface="+mn-lt"/>
                <a:ea typeface="楷体" panose="02010609060101010101" charset="-122"/>
                <a:cs typeface="+mn-lt"/>
                <a:sym typeface="Symbol" panose="05050102010706020507" pitchFamily="2" charset="2"/>
              </a:rPr>
              <a:t>的折扣比</a:t>
            </a:r>
            <a:r>
              <a:rPr lang="en-US" altLang="zh-CN" sz="2800" b="1">
                <a:solidFill>
                  <a:srgbClr val="0000C8"/>
                </a:solidFill>
                <a:latin typeface="+mn-lt"/>
                <a:ea typeface="楷体" panose="02010609060101010101" charset="-122"/>
                <a:cs typeface="+mn-lt"/>
                <a:sym typeface="Symbol" panose="05050102010706020507" pitchFamily="2" charset="2"/>
              </a:rPr>
              <a:t>c</a:t>
            </a:r>
            <a:r>
              <a:rPr lang="zh-CN" altLang="en-US" sz="2800" b="1">
                <a:solidFill>
                  <a:srgbClr val="0000C8"/>
                </a:solidFill>
                <a:latin typeface="+mn-lt"/>
                <a:ea typeface="楷体" panose="02010609060101010101" charset="-122"/>
                <a:cs typeface="+mn-lt"/>
                <a:sym typeface="Symbol" panose="05050102010706020507" pitchFamily="2" charset="2"/>
              </a:rPr>
              <a:t>的折扣高，那么</a:t>
            </a:r>
            <a:r>
              <a:rPr lang="en-US" altLang="zh-CN" sz="2800" b="1">
                <a:solidFill>
                  <a:srgbClr val="0000C8"/>
                </a:solidFill>
                <a:latin typeface="+mn-lt"/>
                <a:ea typeface="楷体" panose="02010609060101010101" charset="-122"/>
                <a:cs typeface="+mn-lt"/>
                <a:sym typeface="Symbol" panose="05050102010706020507" pitchFamily="2" charset="2"/>
              </a:rPr>
              <a:t>c</a:t>
            </a:r>
            <a:r>
              <a:rPr lang="zh-CN" altLang="en-US" sz="2800" b="1">
                <a:solidFill>
                  <a:srgbClr val="0000C8"/>
                </a:solidFill>
                <a:latin typeface="+mn-lt"/>
                <a:ea typeface="楷体" panose="02010609060101010101" charset="-122"/>
                <a:cs typeface="+mn-lt"/>
                <a:sym typeface="Symbol" panose="05050102010706020507" pitchFamily="2" charset="2"/>
              </a:rPr>
              <a:t>的折扣就不是最高的。</a:t>
            </a:r>
          </a:p>
        </p:txBody>
      </p:sp>
      <p:sp>
        <p:nvSpPr>
          <p:cNvPr id="5161" name="矩形 5160"/>
          <p:cNvSpPr/>
          <p:nvPr/>
        </p:nvSpPr>
        <p:spPr>
          <a:xfrm>
            <a:off x="1795780" y="4016375"/>
            <a:ext cx="4886325" cy="575945"/>
          </a:xfrm>
          <a:prstGeom prst="rect">
            <a:avLst/>
          </a:prstGeom>
          <a:noFill/>
          <a:ln w="31750" cap="flat" cmpd="sng">
            <a:solidFill>
              <a:srgbClr val="FF0000"/>
            </a:solidFill>
            <a:prstDash val="dash"/>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5162" name="矩形 5161"/>
          <p:cNvSpPr/>
          <p:nvPr/>
        </p:nvSpPr>
        <p:spPr>
          <a:xfrm>
            <a:off x="2559685" y="4783455"/>
            <a:ext cx="5866765" cy="576580"/>
          </a:xfrm>
          <a:prstGeom prst="rect">
            <a:avLst/>
          </a:prstGeom>
          <a:noFill/>
          <a:ln w="31750" cap="flat" cmpd="sng">
            <a:solidFill>
              <a:srgbClr val="FF0000"/>
            </a:solidFill>
            <a:prstDash val="dash"/>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2763520" y="595630"/>
            <a:ext cx="6663690" cy="2264410"/>
          </a:xfrm>
          <a:prstGeom prst="rect">
            <a:avLst/>
          </a:prstGeom>
        </p:spPr>
      </p:pic>
      <p:sp>
        <p:nvSpPr>
          <p:cNvPr id="5" name="灯片编号占位符 4"/>
          <p:cNvSpPr>
            <a:spLocks noGrp="1"/>
          </p:cNvSpPr>
          <p:nvPr>
            <p:ph type="sldNum" sz="quarter" idx="12"/>
          </p:nvPr>
        </p:nvSpPr>
        <p:spPr/>
        <p:txBody>
          <a:bodyPr/>
          <a:lstStyle/>
          <a:p>
            <a:fld id="{565CE74E-AB26-4998-AD42-012C4C1AD076}" type="slidenum">
              <a:rPr lang="zh-CN" altLang="en-US" smtClean="0"/>
              <a:t>75</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60">
                                            <p:txEl>
                                              <p:pRg st="0" end="0"/>
                                            </p:txEl>
                                          </p:spTgt>
                                        </p:tgtEl>
                                        <p:attrNameLst>
                                          <p:attrName>style.visibility</p:attrName>
                                        </p:attrNameLst>
                                      </p:cBhvr>
                                      <p:to>
                                        <p:strVal val="visible"/>
                                      </p:to>
                                    </p:set>
                                    <p:animEffect transition="in" filter="blinds(horizontal)">
                                      <p:cBhvr>
                                        <p:cTn id="7" dur="500"/>
                                        <p:tgtEl>
                                          <p:spTgt spid="51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60">
                                            <p:txEl>
                                              <p:pRg st="1" end="1"/>
                                            </p:txEl>
                                          </p:spTgt>
                                        </p:tgtEl>
                                        <p:attrNameLst>
                                          <p:attrName>style.visibility</p:attrName>
                                        </p:attrNameLst>
                                      </p:cBhvr>
                                      <p:to>
                                        <p:strVal val="visible"/>
                                      </p:to>
                                    </p:set>
                                    <p:animEffect transition="in" filter="blinds(horizontal)">
                                      <p:cBhvr>
                                        <p:cTn id="12" dur="500"/>
                                        <p:tgtEl>
                                          <p:spTgt spid="51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1" presetClass="entr" presetSubtype="0" fill="hold" nodeType="clickEffect">
                                  <p:stCondLst>
                                    <p:cond delay="0"/>
                                  </p:stCondLst>
                                  <p:childTnLst>
                                    <p:set>
                                      <p:cBhvr>
                                        <p:cTn id="16" dur="1" fill="hold">
                                          <p:stCondLst>
                                            <p:cond delay="0"/>
                                          </p:stCondLst>
                                        </p:cTn>
                                        <p:tgtEl>
                                          <p:spTgt spid="5161"/>
                                        </p:tgtEl>
                                        <p:attrNameLst>
                                          <p:attrName>style.visibility</p:attrName>
                                        </p:attrNameLst>
                                      </p:cBhvr>
                                      <p:to>
                                        <p:strVal val="visible"/>
                                      </p:to>
                                    </p:set>
                                    <p:animEffect transition="in" filter="fade">
                                      <p:cBhvr>
                                        <p:cTn id="17" dur="385" decel="100000"/>
                                        <p:tgtEl>
                                          <p:spTgt spid="5161"/>
                                        </p:tgtEl>
                                      </p:cBhvr>
                                    </p:animEffect>
                                    <p:animScale>
                                      <p:cBhvr>
                                        <p:cTn id="18" dur="385" decel="100000"/>
                                        <p:tgtEl>
                                          <p:spTgt spid="5161"/>
                                        </p:tgtEl>
                                      </p:cBhvr>
                                      <p:from x="10000" y="10000"/>
                                      <p:to x="200000" y="450000"/>
                                    </p:animScale>
                                    <p:animScale>
                                      <p:cBhvr>
                                        <p:cTn id="19" dur="615" accel="100000" fill="hold">
                                          <p:stCondLst>
                                            <p:cond delay="385"/>
                                          </p:stCondLst>
                                        </p:cTn>
                                        <p:tgtEl>
                                          <p:spTgt spid="5161"/>
                                        </p:tgtEl>
                                      </p:cBhvr>
                                      <p:from x="200000" y="450000"/>
                                      <p:to x="100000" y="100000"/>
                                    </p:animScale>
                                    <p:set>
                                      <p:cBhvr>
                                        <p:cTn id="20" dur="385" fill="hold"/>
                                        <p:tgtEl>
                                          <p:spTgt spid="5161"/>
                                        </p:tgtEl>
                                        <p:attrNameLst>
                                          <p:attrName>ppt_x</p:attrName>
                                        </p:attrNameLst>
                                      </p:cBhvr>
                                      <p:to>
                                        <p:strVal val="(0.5)"/>
                                      </p:to>
                                    </p:set>
                                    <p:anim from="(0.5)" to="(#ppt_x)" calcmode="lin" valueType="num">
                                      <p:cBhvr>
                                        <p:cTn id="21" dur="615" accel="100000" fill="hold">
                                          <p:stCondLst>
                                            <p:cond delay="385"/>
                                          </p:stCondLst>
                                        </p:cTn>
                                        <p:tgtEl>
                                          <p:spTgt spid="5161"/>
                                        </p:tgtEl>
                                        <p:attrNameLst>
                                          <p:attrName>ppt_x</p:attrName>
                                        </p:attrNameLst>
                                      </p:cBhvr>
                                    </p:anim>
                                    <p:set>
                                      <p:cBhvr>
                                        <p:cTn id="22" dur="385" fill="hold"/>
                                        <p:tgtEl>
                                          <p:spTgt spid="5161"/>
                                        </p:tgtEl>
                                        <p:attrNameLst>
                                          <p:attrName>ppt_y</p:attrName>
                                        </p:attrNameLst>
                                      </p:cBhvr>
                                      <p:to>
                                        <p:strVal val="(#ppt_y+0.4)"/>
                                      </p:to>
                                    </p:set>
                                    <p:anim from="(#ppt_y+0.4)" to="(#ppt_y)" calcmode="lin" valueType="num">
                                      <p:cBhvr>
                                        <p:cTn id="23" dur="615" accel="100000" fill="hold">
                                          <p:stCondLst>
                                            <p:cond delay="385"/>
                                          </p:stCondLst>
                                        </p:cTn>
                                        <p:tgtEl>
                                          <p:spTgt spid="5161"/>
                                        </p:tgtEl>
                                        <p:attrNameLst>
                                          <p:attrName>ppt_y</p:attrName>
                                        </p:attrNameLst>
                                      </p:cBhvr>
                                    </p:anim>
                                  </p:childTnLst>
                                </p:cTn>
                              </p:par>
                            </p:childTnLst>
                          </p:cTn>
                        </p:par>
                      </p:childTnLst>
                    </p:cTn>
                  </p:par>
                  <p:par>
                    <p:cTn id="24" fill="hold">
                      <p:stCondLst>
                        <p:cond delay="indefinite"/>
                      </p:stCondLst>
                      <p:childTnLst>
                        <p:par>
                          <p:cTn id="25" fill="hold">
                            <p:stCondLst>
                              <p:cond delay="0"/>
                            </p:stCondLst>
                            <p:childTnLst>
                              <p:par>
                                <p:cTn id="26" presetID="25" presetClass="entr" presetSubtype="0" fill="hold" nodeType="clickEffect">
                                  <p:stCondLst>
                                    <p:cond delay="0"/>
                                  </p:stCondLst>
                                  <p:childTnLst>
                                    <p:set>
                                      <p:cBhvr>
                                        <p:cTn id="27" dur="1" fill="hold">
                                          <p:stCondLst>
                                            <p:cond delay="0"/>
                                          </p:stCondLst>
                                        </p:cTn>
                                        <p:tgtEl>
                                          <p:spTgt spid="5162"/>
                                        </p:tgtEl>
                                        <p:attrNameLst>
                                          <p:attrName>style.visibility</p:attrName>
                                        </p:attrNameLst>
                                      </p:cBhvr>
                                      <p:to>
                                        <p:strVal val="visible"/>
                                      </p:to>
                                    </p:set>
                                    <p:anim calcmode="lin" valueType="num">
                                      <p:cBhvr>
                                        <p:cTn id="28" dur="500" decel="50000" fill="hold">
                                          <p:stCondLst>
                                            <p:cond delay="0"/>
                                          </p:stCondLst>
                                        </p:cTn>
                                        <p:tgtEl>
                                          <p:spTgt spid="5162"/>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5162"/>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5162"/>
                                        </p:tgtEl>
                                        <p:attrNameLst>
                                          <p:attrName>ppt_w</p:attrName>
                                        </p:attrNameLst>
                                      </p:cBhvr>
                                      <p:tavLst>
                                        <p:tav tm="0">
                                          <p:val>
                                            <p:strVal val="#ppt_w*.05"/>
                                          </p:val>
                                        </p:tav>
                                        <p:tav tm="100000">
                                          <p:val>
                                            <p:strVal val="#ppt_w"/>
                                          </p:val>
                                        </p:tav>
                                      </p:tavLst>
                                    </p:anim>
                                    <p:anim calcmode="lin" valueType="num">
                                      <p:cBhvr>
                                        <p:cTn id="31" dur="1000" fill="hold"/>
                                        <p:tgtEl>
                                          <p:spTgt spid="5162"/>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5162"/>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5162"/>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5162"/>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5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0"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4</a:t>
            </a:r>
            <a:r>
              <a:rPr lang="zh-CN" altLang="en-US" dirty="0">
                <a:sym typeface="+mn-ea"/>
              </a:rPr>
              <a:t>）</a:t>
            </a:r>
            <a:endParaRPr lang="zh-CN" altLang="en-US"/>
          </a:p>
        </p:txBody>
      </p:sp>
      <p:sp>
        <p:nvSpPr>
          <p:cNvPr id="5121" name="文本占位符 6145"/>
          <p:cNvSpPr>
            <a:spLocks noGrp="1"/>
          </p:cNvSpPr>
          <p:nvPr>
            <p:ph idx="1"/>
          </p:nvPr>
        </p:nvSpPr>
        <p:spPr>
          <a:xfrm>
            <a:off x="424180" y="2952000"/>
            <a:ext cx="11343005" cy="610871"/>
          </a:xfrm>
          <a:solidFill>
            <a:schemeClr val="tx2">
              <a:lumMod val="20000"/>
              <a:lumOff val="80000"/>
              <a:alpha val="50000"/>
            </a:schemeClr>
          </a:solidFill>
        </p:spPr>
        <p:txBody>
          <a:bodyPr anchor="t">
            <a:noAutofit/>
          </a:bodyPr>
          <a:lstStyle/>
          <a:p>
            <a:pPr>
              <a:buFont typeface="Wingdings" panose="05000000000000000000" charset="0"/>
              <a:buChar char="q"/>
            </a:pPr>
            <a:r>
              <a:rPr lang="zh-CN" altLang="en-US" sz="2800" b="1">
                <a:solidFill>
                  <a:srgbClr val="0000C8"/>
                </a:solidFill>
              </a:rPr>
              <a:t>给定一个顾客</a:t>
            </a:r>
            <a:r>
              <a:rPr lang="en-US" altLang="zh-CN" sz="2800" b="1">
                <a:solidFill>
                  <a:srgbClr val="0000C8"/>
                </a:solidFill>
              </a:rPr>
              <a:t>c</a:t>
            </a:r>
            <a:r>
              <a:rPr lang="zh-CN" altLang="en-US" sz="2800" b="1">
                <a:solidFill>
                  <a:srgbClr val="0000C8"/>
                </a:solidFill>
              </a:rPr>
              <a:t>，如何判定</a:t>
            </a:r>
            <a:r>
              <a:rPr lang="en-US" altLang="zh-CN" sz="2800" b="1">
                <a:solidFill>
                  <a:srgbClr val="0000C8"/>
                </a:solidFill>
              </a:rPr>
              <a:t>c</a:t>
            </a:r>
            <a:r>
              <a:rPr lang="zh-CN" altLang="en-US" sz="2800" b="1">
                <a:solidFill>
                  <a:srgbClr val="0000C8"/>
                </a:solidFill>
              </a:rPr>
              <a:t>的折扣“</a:t>
            </a:r>
            <a:r>
              <a:rPr lang="zh-CN" altLang="en-US" sz="2800" b="1">
                <a:solidFill>
                  <a:srgbClr val="FF0000"/>
                </a:solidFill>
              </a:rPr>
              <a:t>不是最高</a:t>
            </a:r>
            <a:r>
              <a:rPr lang="zh-CN" altLang="en-US" sz="2800" b="1">
                <a:solidFill>
                  <a:srgbClr val="0000C8"/>
                </a:solidFill>
              </a:rPr>
              <a:t>”？</a:t>
            </a:r>
          </a:p>
        </p:txBody>
      </p:sp>
      <p:sp>
        <p:nvSpPr>
          <p:cNvPr id="5159" name="矩形 6183"/>
          <p:cNvSpPr/>
          <p:nvPr/>
        </p:nvSpPr>
        <p:spPr>
          <a:xfrm>
            <a:off x="424815" y="3655695"/>
            <a:ext cx="11341735" cy="1079500"/>
          </a:xfrm>
          <a:prstGeom prst="rect">
            <a:avLst/>
          </a:prstGeom>
          <a:noFill/>
          <a:ln w="9525">
            <a:noFill/>
          </a:ln>
        </p:spPr>
        <p:txBody>
          <a:bodyPr anchor="t">
            <a:noAutofit/>
          </a:bodyPr>
          <a:lstStyle/>
          <a:p>
            <a:pPr marL="1066800" lvl="1" indent="-609600">
              <a:lnSpc>
                <a:spcPct val="110000"/>
              </a:lnSpc>
              <a:spcBef>
                <a:spcPct val="20000"/>
              </a:spcBef>
              <a:buClr>
                <a:srgbClr val="C00000"/>
              </a:buClr>
              <a:buSzPct val="85000"/>
              <a:buFont typeface="+mj-lt"/>
              <a:buAutoNum type="alphaLcParenR" startAt="2"/>
            </a:pPr>
            <a:r>
              <a:rPr lang="zh-CN" altLang="en-US" sz="2800" b="1" i="1">
                <a:solidFill>
                  <a:srgbClr val="0000C8"/>
                </a:solidFill>
                <a:latin typeface="+mn-lt"/>
                <a:ea typeface="楷体" panose="02010609060101010101" charset="-122"/>
                <a:cs typeface="+mn-lt"/>
                <a:sym typeface="Symbol" panose="05050102010706020507" pitchFamily="2" charset="2"/>
              </a:rPr>
              <a:t>如果能够</a:t>
            </a:r>
            <a:r>
              <a:rPr lang="zh-CN" altLang="en-US" sz="2800" b="1" i="1">
                <a:solidFill>
                  <a:srgbClr val="C00000"/>
                </a:solidFill>
                <a:latin typeface="+mn-lt"/>
                <a:ea typeface="楷体" panose="02010609060101010101" charset="-122"/>
                <a:cs typeface="+mn-lt"/>
                <a:sym typeface="Symbol" panose="05050102010706020507" pitchFamily="2" charset="2"/>
              </a:rPr>
              <a:t>找到一个或一些顾客</a:t>
            </a:r>
            <a:r>
              <a:rPr lang="en-US" altLang="zh-CN" sz="2800" b="1" i="1">
                <a:solidFill>
                  <a:srgbClr val="C00000"/>
                </a:solidFill>
                <a:latin typeface="+mn-lt"/>
                <a:ea typeface="楷体" panose="02010609060101010101" charset="-122"/>
                <a:cs typeface="+mn-lt"/>
                <a:sym typeface="Symbol" panose="05050102010706020507" pitchFamily="2" charset="2"/>
              </a:rPr>
              <a:t>g</a:t>
            </a:r>
            <a:r>
              <a:rPr lang="zh-CN" altLang="en-US" sz="2800" b="1" i="1">
                <a:solidFill>
                  <a:srgbClr val="C00000"/>
                </a:solidFill>
                <a:latin typeface="+mn-lt"/>
                <a:ea typeface="楷体" panose="02010609060101010101" charset="-122"/>
                <a:cs typeface="+mn-lt"/>
                <a:sym typeface="Symbol" panose="05050102010706020507" pitchFamily="2" charset="2"/>
              </a:rPr>
              <a:t>，</a:t>
            </a:r>
            <a:r>
              <a:rPr lang="en-US" altLang="zh-CN" sz="2800" b="1" i="1">
                <a:solidFill>
                  <a:srgbClr val="C00000"/>
                </a:solidFill>
                <a:latin typeface="+mn-lt"/>
                <a:ea typeface="楷体" panose="02010609060101010101" charset="-122"/>
                <a:cs typeface="+mn-lt"/>
                <a:sym typeface="Symbol" panose="05050102010706020507" pitchFamily="2" charset="2"/>
              </a:rPr>
              <a:t>g</a:t>
            </a:r>
            <a:r>
              <a:rPr lang="zh-CN" altLang="en-US" sz="2800" b="1" i="1">
                <a:solidFill>
                  <a:srgbClr val="C00000"/>
                </a:solidFill>
                <a:latin typeface="+mn-lt"/>
                <a:ea typeface="楷体" panose="02010609060101010101" charset="-122"/>
                <a:cs typeface="+mn-lt"/>
                <a:sym typeface="Symbol" panose="05050102010706020507" pitchFamily="2" charset="2"/>
              </a:rPr>
              <a:t>的折扣比</a:t>
            </a:r>
            <a:r>
              <a:rPr lang="en-US" altLang="zh-CN" sz="2800" b="1" i="1">
                <a:solidFill>
                  <a:srgbClr val="C00000"/>
                </a:solidFill>
                <a:latin typeface="+mn-lt"/>
                <a:ea typeface="楷体" panose="02010609060101010101" charset="-122"/>
                <a:cs typeface="+mn-lt"/>
                <a:sym typeface="Symbol" panose="05050102010706020507" pitchFamily="2" charset="2"/>
              </a:rPr>
              <a:t>c</a:t>
            </a:r>
            <a:r>
              <a:rPr lang="zh-CN" altLang="en-US" sz="2800" b="1" i="1">
                <a:solidFill>
                  <a:srgbClr val="C00000"/>
                </a:solidFill>
                <a:latin typeface="+mn-lt"/>
                <a:ea typeface="楷体" panose="02010609060101010101" charset="-122"/>
                <a:cs typeface="+mn-lt"/>
                <a:sym typeface="Symbol" panose="05050102010706020507" pitchFamily="2" charset="2"/>
              </a:rPr>
              <a:t>的折扣要高</a:t>
            </a:r>
            <a:r>
              <a:rPr lang="zh-CN" altLang="en-US" sz="2800" b="1" i="1">
                <a:solidFill>
                  <a:srgbClr val="0000C8"/>
                </a:solidFill>
                <a:latin typeface="+mn-lt"/>
                <a:ea typeface="楷体" panose="02010609060101010101" charset="-122"/>
                <a:cs typeface="+mn-lt"/>
                <a:sym typeface="Symbol" panose="05050102010706020507" pitchFamily="2" charset="2"/>
              </a:rPr>
              <a:t>，那么</a:t>
            </a:r>
            <a:r>
              <a:rPr lang="en-US" altLang="zh-CN" sz="2800" b="1" i="1">
                <a:solidFill>
                  <a:srgbClr val="0000C8"/>
                </a:solidFill>
                <a:latin typeface="+mn-lt"/>
                <a:ea typeface="楷体" panose="02010609060101010101" charset="-122"/>
                <a:cs typeface="+mn-lt"/>
                <a:sym typeface="Symbol" panose="05050102010706020507" pitchFamily="2" charset="2"/>
              </a:rPr>
              <a:t>c</a:t>
            </a:r>
            <a:r>
              <a:rPr lang="zh-CN" altLang="en-US" sz="2800" b="1" i="1">
                <a:solidFill>
                  <a:srgbClr val="0000C8"/>
                </a:solidFill>
                <a:latin typeface="+mn-lt"/>
                <a:ea typeface="楷体" panose="02010609060101010101" charset="-122"/>
                <a:cs typeface="+mn-lt"/>
                <a:sym typeface="Symbol" panose="05050102010706020507" pitchFamily="2" charset="2"/>
              </a:rPr>
              <a:t>的折扣就不是最高的</a:t>
            </a:r>
            <a:r>
              <a:rPr lang="zh-CN" altLang="en-US" sz="2800" b="1">
                <a:solidFill>
                  <a:srgbClr val="0000C8"/>
                </a:solidFill>
                <a:latin typeface="+mn-lt"/>
                <a:ea typeface="楷体" panose="02010609060101010101" charset="-122"/>
                <a:cs typeface="+mn-lt"/>
                <a:sym typeface="Symbol" panose="05050102010706020507" pitchFamily="2" charset="2"/>
              </a:rPr>
              <a:t>。</a:t>
            </a:r>
          </a:p>
        </p:txBody>
      </p:sp>
      <mc:AlternateContent xmlns:mc="http://schemas.openxmlformats.org/markup-compatibility/2006" xmlns:a14="http://schemas.microsoft.com/office/drawing/2010/main">
        <mc:Choice Requires="a14">
          <p:sp>
            <p:nvSpPr>
              <p:cNvPr id="6185" name="矩形 6184"/>
              <p:cNvSpPr/>
              <p:nvPr/>
            </p:nvSpPr>
            <p:spPr>
              <a:xfrm>
                <a:off x="424815" y="4872990"/>
                <a:ext cx="11341735" cy="1512570"/>
              </a:xfrm>
              <a:prstGeom prst="rect">
                <a:avLst/>
              </a:prstGeom>
              <a:noFill/>
              <a:ln w="15875" cap="flat" cmpd="sng">
                <a:noFill/>
                <a:prstDash val="solid"/>
                <a:miter/>
                <a:headEnd type="none" w="med" len="med"/>
                <a:tailEnd type="none" w="med" len="med"/>
              </a:ln>
            </p:spPr>
            <p:txBody>
              <a:bodyPr wrap="square" anchor="t">
                <a:noAutofit/>
              </a:bodyPr>
              <a:lstStyle/>
              <a:p>
                <a:pPr marL="384175" indent="-384175">
                  <a:lnSpc>
                    <a:spcPct val="110000"/>
                  </a:lnSpc>
                  <a:spcBef>
                    <a:spcPct val="20000"/>
                  </a:spcBef>
                  <a:buClr>
                    <a:srgbClr val="C00000"/>
                  </a:buClr>
                  <a:buSzPct val="85000"/>
                  <a:buFont typeface="Wingdings" panose="05000000000000000000" charset="0"/>
                  <a:buChar char="q"/>
                </a:pPr>
                <a:r>
                  <a:rPr lang="zh-CN" altLang="en-US" sz="2800" b="1">
                    <a:solidFill>
                      <a:srgbClr val="0000C8"/>
                    </a:solidFill>
                    <a:latin typeface="+mn-lt"/>
                    <a:ea typeface="楷体" panose="02010609060101010101" charset="-122"/>
                    <a:cs typeface="+mn-lt"/>
                    <a:sym typeface="Symbol" panose="05050102010706020507" pitchFamily="2" charset="2"/>
                  </a:rPr>
                  <a:t>换句话说，给定一个顾客</a:t>
                </a:r>
                <a:r>
                  <a:rPr lang="en-US" altLang="zh-CN" sz="2800" b="1">
                    <a:solidFill>
                      <a:srgbClr val="0000C8"/>
                    </a:solidFill>
                    <a:latin typeface="+mn-lt"/>
                    <a:ea typeface="楷体" panose="02010609060101010101" charset="-122"/>
                    <a:cs typeface="+mn-lt"/>
                    <a:sym typeface="Symbol" panose="05050102010706020507" pitchFamily="2" charset="2"/>
                  </a:rPr>
                  <a:t>c</a:t>
                </a:r>
                <a:r>
                  <a:rPr lang="zh-CN" altLang="en-US" sz="2800" b="1">
                    <a:solidFill>
                      <a:srgbClr val="0000C8"/>
                    </a:solidFill>
                    <a:latin typeface="+mn-lt"/>
                    <a:ea typeface="楷体" panose="02010609060101010101" charset="-122"/>
                    <a:cs typeface="+mn-lt"/>
                    <a:sym typeface="Symbol" panose="05050102010706020507" pitchFamily="2" charset="2"/>
                  </a:rPr>
                  <a:t>，用条件</a:t>
                </a:r>
                <a:r>
                  <a:rPr lang="en-US" altLang="zh-CN" sz="2800" b="1">
                    <a:solidFill>
                      <a:srgbClr val="0000C8"/>
                    </a:solidFill>
                    <a:latin typeface="+mn-lt"/>
                    <a:ea typeface="楷体" panose="02010609060101010101" charset="-122"/>
                    <a:cs typeface="+mn-lt"/>
                    <a:sym typeface="Symbol" panose="05050102010706020507" pitchFamily="2" charset="2"/>
                  </a:rPr>
                  <a:t> </a:t>
                </a:r>
                <a14:m>
                  <m:oMath xmlns:m="http://schemas.openxmlformats.org/officeDocument/2006/math">
                    <m:r>
                      <a:rPr lang="en-US" altLang="zh-CN" sz="2800" b="1">
                        <a:solidFill>
                          <a:srgbClr val="0000C8"/>
                        </a:solidFill>
                        <a:highlight>
                          <a:srgbClr val="FFFF00"/>
                        </a:highlight>
                        <a:latin typeface="Cambria Math" panose="02040503050406030204" charset="0"/>
                        <a:ea typeface="楷体" panose="02010609060101010101" charset="-122"/>
                        <a:cs typeface="Cambria Math" panose="02040503050406030204" charset="0"/>
                        <a:sym typeface="Symbol" panose="05050102010706020507" pitchFamily="2" charset="2"/>
                      </a:rPr>
                      <m:t>𝐜</m:t>
                    </m:r>
                    <m:r>
                      <a:rPr lang="en-US" altLang="zh-CN" sz="2800" b="1">
                        <a:solidFill>
                          <a:srgbClr val="0000C8"/>
                        </a:solidFill>
                        <a:highlight>
                          <a:srgbClr val="FFFF00"/>
                        </a:highlight>
                        <a:latin typeface="Cambria Math" panose="02040503050406030204" charset="0"/>
                        <a:ea typeface="楷体" panose="02010609060101010101" charset="-122"/>
                        <a:cs typeface="Cambria Math" panose="02040503050406030204" charset="0"/>
                        <a:sym typeface="Symbol" panose="05050102010706020507" pitchFamily="2" charset="2"/>
                      </a:rPr>
                      <m:t>.</m:t>
                    </m:r>
                    <m:r>
                      <a:rPr lang="en-US" altLang="zh-CN" sz="2800" b="1">
                        <a:solidFill>
                          <a:srgbClr val="0000C8"/>
                        </a:solidFill>
                        <a:highlight>
                          <a:srgbClr val="FFFF00"/>
                        </a:highlight>
                        <a:latin typeface="Cambria Math" panose="02040503050406030204" charset="0"/>
                        <a:ea typeface="楷体" panose="02010609060101010101" charset="-122"/>
                        <a:cs typeface="Cambria Math" panose="02040503050406030204" charset="0"/>
                        <a:sym typeface="Symbol" panose="05050102010706020507" pitchFamily="2" charset="2"/>
                      </a:rPr>
                      <m:t>𝐝𝐢𝐬𝐜𝐧𝐭</m:t>
                    </m:r>
                    <m:r>
                      <a:rPr lang="en-US" altLang="zh-CN" sz="2800" b="1">
                        <a:solidFill>
                          <a:srgbClr val="0000C8"/>
                        </a:solidFill>
                        <a:highlight>
                          <a:srgbClr val="FFFF00"/>
                        </a:highlight>
                        <a:latin typeface="Cambria Math" panose="02040503050406030204" charset="0"/>
                        <a:ea typeface="楷体" panose="02010609060101010101" charset="-122"/>
                        <a:cs typeface="Cambria Math" panose="02040503050406030204" charset="0"/>
                        <a:sym typeface="Symbol" panose="05050102010706020507" pitchFamily="2" charset="2"/>
                      </a:rPr>
                      <m:t> &lt; </m:t>
                    </m:r>
                    <m:r>
                      <a:rPr lang="en-US" altLang="zh-CN" sz="2800" b="1">
                        <a:solidFill>
                          <a:srgbClr val="0000C8"/>
                        </a:solidFill>
                        <a:highlight>
                          <a:srgbClr val="FFFF00"/>
                        </a:highlight>
                        <a:latin typeface="Cambria Math" panose="02040503050406030204" charset="0"/>
                        <a:ea typeface="楷体" panose="02010609060101010101" charset="-122"/>
                        <a:cs typeface="Cambria Math" panose="02040503050406030204" charset="0"/>
                        <a:sym typeface="Symbol" panose="05050102010706020507" pitchFamily="2" charset="2"/>
                      </a:rPr>
                      <m:t>𝐠</m:t>
                    </m:r>
                    <m:r>
                      <a:rPr lang="en-US" altLang="zh-CN" sz="2800" b="1">
                        <a:solidFill>
                          <a:srgbClr val="0000C8"/>
                        </a:solidFill>
                        <a:highlight>
                          <a:srgbClr val="FFFF00"/>
                        </a:highlight>
                        <a:latin typeface="Cambria Math" panose="02040503050406030204" charset="0"/>
                        <a:ea typeface="楷体" panose="02010609060101010101" charset="-122"/>
                        <a:cs typeface="Cambria Math" panose="02040503050406030204" charset="0"/>
                        <a:sym typeface="Symbol" panose="05050102010706020507" pitchFamily="2" charset="2"/>
                      </a:rPr>
                      <m:t>.</m:t>
                    </m:r>
                    <m:r>
                      <a:rPr lang="en-US" altLang="zh-CN" sz="2800" b="1">
                        <a:solidFill>
                          <a:srgbClr val="0000C8"/>
                        </a:solidFill>
                        <a:highlight>
                          <a:srgbClr val="FFFF00"/>
                        </a:highlight>
                        <a:latin typeface="Cambria Math" panose="02040503050406030204" charset="0"/>
                        <a:ea typeface="楷体" panose="02010609060101010101" charset="-122"/>
                        <a:cs typeface="Cambria Math" panose="02040503050406030204" charset="0"/>
                        <a:sym typeface="Symbol" panose="05050102010706020507" pitchFamily="2" charset="2"/>
                      </a:rPr>
                      <m:t>𝐝𝐢𝐬𝐜𝐧𝐭</m:t>
                    </m:r>
                  </m:oMath>
                </a14:m>
                <a:r>
                  <a:rPr lang="en-US" altLang="zh-CN" sz="2800" b="1">
                    <a:solidFill>
                      <a:srgbClr val="0000C8"/>
                    </a:solidFill>
                    <a:latin typeface="+mn-lt"/>
                    <a:ea typeface="楷体" panose="02010609060101010101" charset="-122"/>
                    <a:cs typeface="+mn-lt"/>
                    <a:sym typeface="Symbol" panose="05050102010706020507" pitchFamily="2" charset="2"/>
                  </a:rPr>
                  <a:t> </a:t>
                </a:r>
                <a:r>
                  <a:rPr lang="zh-CN" altLang="en-US" sz="2800" b="1">
                    <a:solidFill>
                      <a:srgbClr val="0000C8"/>
                    </a:solidFill>
                    <a:latin typeface="+mn-lt"/>
                    <a:ea typeface="楷体" panose="02010609060101010101" charset="-122"/>
                    <a:cs typeface="+mn-lt"/>
                    <a:sym typeface="Symbol" panose="05050102010706020507" pitchFamily="2" charset="2"/>
                  </a:rPr>
                  <a:t>在顾客关系上进行元组选择，查找满足上述要求的顾客</a:t>
                </a:r>
                <a:r>
                  <a:rPr lang="en-US" altLang="zh-CN" sz="2800" b="1">
                    <a:solidFill>
                      <a:srgbClr val="0000C8"/>
                    </a:solidFill>
                    <a:latin typeface="+mn-lt"/>
                    <a:ea typeface="楷体" panose="02010609060101010101" charset="-122"/>
                    <a:cs typeface="+mn-lt"/>
                    <a:sym typeface="Symbol" panose="05050102010706020507" pitchFamily="2" charset="2"/>
                  </a:rPr>
                  <a:t>g</a:t>
                </a:r>
                <a:r>
                  <a:rPr lang="zh-CN" altLang="en-US" sz="2800" b="1">
                    <a:solidFill>
                      <a:srgbClr val="0000C8"/>
                    </a:solidFill>
                    <a:latin typeface="+mn-lt"/>
                    <a:ea typeface="楷体" panose="02010609060101010101" charset="-122"/>
                    <a:cs typeface="+mn-lt"/>
                    <a:sym typeface="Symbol" panose="05050102010706020507" pitchFamily="2" charset="2"/>
                  </a:rPr>
                  <a:t>。如果结果集不为空，则</a:t>
                </a:r>
                <a:r>
                  <a:rPr lang="en-US" altLang="zh-CN" sz="2800" b="1">
                    <a:solidFill>
                      <a:srgbClr val="0000C8"/>
                    </a:solidFill>
                    <a:latin typeface="+mn-lt"/>
                    <a:ea typeface="楷体" panose="02010609060101010101" charset="-122"/>
                    <a:cs typeface="+mn-lt"/>
                    <a:sym typeface="Symbol" panose="05050102010706020507" pitchFamily="2" charset="2"/>
                  </a:rPr>
                  <a:t>c</a:t>
                </a:r>
                <a:r>
                  <a:rPr lang="zh-CN" altLang="en-US" sz="2800" b="1">
                    <a:solidFill>
                      <a:srgbClr val="0000C8"/>
                    </a:solidFill>
                    <a:latin typeface="+mn-lt"/>
                    <a:ea typeface="楷体" panose="02010609060101010101" charset="-122"/>
                    <a:cs typeface="+mn-lt"/>
                    <a:sym typeface="Symbol" panose="05050102010706020507" pitchFamily="2" charset="2"/>
                  </a:rPr>
                  <a:t>就是折扣不是最高的顾客。</a:t>
                </a:r>
              </a:p>
            </p:txBody>
          </p:sp>
        </mc:Choice>
        <mc:Fallback xmlns="">
          <p:sp>
            <p:nvSpPr>
              <p:cNvPr id="6185" name="矩形 6184"/>
              <p:cNvSpPr>
                <a:spLocks noRot="1" noChangeAspect="1" noMove="1" noResize="1" noEditPoints="1" noAdjustHandles="1" noChangeArrowheads="1" noChangeShapeType="1" noTextEdit="1"/>
              </p:cNvSpPr>
              <p:nvPr/>
            </p:nvSpPr>
            <p:spPr>
              <a:xfrm>
                <a:off x="424815" y="4872990"/>
                <a:ext cx="11341735" cy="1512570"/>
              </a:xfrm>
              <a:prstGeom prst="rect">
                <a:avLst/>
              </a:prstGeom>
              <a:blipFill rotWithShape="1">
                <a:blip r:embed="rId2"/>
                <a:stretch>
                  <a:fillRect/>
                </a:stretch>
              </a:blipFill>
              <a:ln w="15875" cap="flat" cmpd="sng">
                <a:noFill/>
                <a:prstDash val="solid"/>
                <a:miter/>
                <a:headEnd type="none" w="med" len="med"/>
                <a:tailEnd type="none" w="med" len="med"/>
              </a:ln>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2763520" y="595630"/>
            <a:ext cx="6663690" cy="2264410"/>
          </a:xfrm>
          <a:prstGeom prst="rect">
            <a:avLst/>
          </a:prstGeom>
        </p:spPr>
      </p:pic>
      <p:sp>
        <p:nvSpPr>
          <p:cNvPr id="5" name="灯片编号占位符 4"/>
          <p:cNvSpPr>
            <a:spLocks noGrp="1"/>
          </p:cNvSpPr>
          <p:nvPr>
            <p:ph type="sldNum" sz="quarter" idx="12"/>
          </p:nvPr>
        </p:nvSpPr>
        <p:spPr/>
        <p:txBody>
          <a:bodyPr/>
          <a:lstStyle/>
          <a:p>
            <a:fld id="{565CE74E-AB26-4998-AD42-012C4C1AD076}" type="slidenum">
              <a:rPr lang="zh-CN" altLang="en-US" smtClean="0"/>
              <a:t>76</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59"/>
                                        </p:tgtEl>
                                        <p:attrNameLst>
                                          <p:attrName>style.visibility</p:attrName>
                                        </p:attrNameLst>
                                      </p:cBhvr>
                                      <p:to>
                                        <p:strVal val="visible"/>
                                      </p:to>
                                    </p:set>
                                    <p:animEffect transition="in" filter="blinds(horizontal)">
                                      <p:cBhvr>
                                        <p:cTn id="7" dur="500"/>
                                        <p:tgtEl>
                                          <p:spTgt spid="51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85"/>
                                        </p:tgtEl>
                                        <p:attrNameLst>
                                          <p:attrName>style.visibility</p:attrName>
                                        </p:attrNameLst>
                                      </p:cBhvr>
                                      <p:to>
                                        <p:strVal val="visible"/>
                                      </p:to>
                                    </p:set>
                                    <p:animEffect transition="in" filter="blinds(horizontal)">
                                      <p:cBhvr>
                                        <p:cTn id="12" dur="500"/>
                                        <p:tgtEl>
                                          <p:spTgt spid="6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9" grpId="0"/>
      <p:bldP spid="6185"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5</a:t>
            </a:r>
            <a:r>
              <a:rPr lang="zh-CN" altLang="en-US" dirty="0">
                <a:sym typeface="+mn-ea"/>
              </a:rPr>
              <a:t>）</a:t>
            </a:r>
            <a:endParaRPr lang="zh-CN" altLang="en-US"/>
          </a:p>
        </p:txBody>
      </p:sp>
      <p:sp>
        <p:nvSpPr>
          <p:cNvPr id="6145" name="文本占位符 7169"/>
          <p:cNvSpPr>
            <a:spLocks noGrp="1"/>
          </p:cNvSpPr>
          <p:nvPr>
            <p:ph idx="1"/>
          </p:nvPr>
        </p:nvSpPr>
        <p:spPr>
          <a:xfrm>
            <a:off x="424180" y="2952000"/>
            <a:ext cx="11343005" cy="829945"/>
          </a:xfrm>
          <a:solidFill>
            <a:schemeClr val="tx2">
              <a:lumMod val="20000"/>
              <a:lumOff val="80000"/>
              <a:alpha val="50000"/>
            </a:schemeClr>
          </a:solidFill>
        </p:spPr>
        <p:txBody>
          <a:bodyPr anchor="t">
            <a:noAutofit/>
          </a:bodyPr>
          <a:lstStyle/>
          <a:p>
            <a:pPr>
              <a:lnSpc>
                <a:spcPct val="100000"/>
              </a:lnSpc>
              <a:buFont typeface="Wingdings" panose="05000000000000000000" charset="0"/>
              <a:buChar char="q"/>
            </a:pPr>
            <a:r>
              <a:rPr lang="zh-CN" altLang="en-US" sz="2400" b="1">
                <a:solidFill>
                  <a:srgbClr val="0000C8"/>
                </a:solidFill>
                <a:cs typeface="+mn-lt"/>
              </a:rPr>
              <a:t>为了查询得到折扣不是最高的顾客，</a:t>
            </a:r>
            <a:r>
              <a:rPr lang="zh-CN" altLang="en-US" sz="2400" b="1">
                <a:solidFill>
                  <a:srgbClr val="0000C8"/>
                </a:solidFill>
                <a:cs typeface="+mn-lt"/>
                <a:sym typeface="Symbol" panose="05050102010706020507" pitchFamily="2" charset="2"/>
              </a:rPr>
              <a:t>我们需要两个顾客集合</a:t>
            </a:r>
            <a:r>
              <a:rPr lang="zh-CN" altLang="en-US" sz="2400" b="1" i="1">
                <a:solidFill>
                  <a:srgbClr val="0000C8"/>
                </a:solidFill>
                <a:cs typeface="+mn-lt"/>
                <a:sym typeface="Symbol" panose="05050102010706020507" pitchFamily="2" charset="2"/>
              </a:rPr>
              <a:t>（完全一样的关系</a:t>
            </a:r>
            <a:r>
              <a:rPr lang="en-US" altLang="zh-CN" sz="2400" b="1" i="1">
                <a:solidFill>
                  <a:srgbClr val="0000C8"/>
                </a:solidFill>
                <a:cs typeface="+mn-lt"/>
                <a:sym typeface="Symbol" panose="05050102010706020507" pitchFamily="2" charset="2"/>
              </a:rPr>
              <a:t>C</a:t>
            </a:r>
            <a:r>
              <a:rPr lang="zh-CN" altLang="en-US" sz="2400" b="1" i="1">
                <a:solidFill>
                  <a:srgbClr val="0000C8"/>
                </a:solidFill>
                <a:cs typeface="+mn-lt"/>
                <a:sym typeface="Symbol" panose="05050102010706020507" pitchFamily="2" charset="2"/>
              </a:rPr>
              <a:t>和关系</a:t>
            </a:r>
            <a:r>
              <a:rPr lang="en-US" altLang="zh-CN" sz="2400" b="1" i="1">
                <a:solidFill>
                  <a:srgbClr val="0000C8"/>
                </a:solidFill>
                <a:cs typeface="+mn-lt"/>
                <a:sym typeface="Symbol" panose="05050102010706020507" pitchFamily="2" charset="2"/>
              </a:rPr>
              <a:t>S</a:t>
            </a:r>
            <a:r>
              <a:rPr lang="zh-CN" altLang="en-US" sz="2400" b="1" i="1">
                <a:solidFill>
                  <a:srgbClr val="0000C8"/>
                </a:solidFill>
                <a:cs typeface="+mn-lt"/>
                <a:sym typeface="Symbol" panose="05050102010706020507" pitchFamily="2" charset="2"/>
              </a:rPr>
              <a:t>）</a:t>
            </a:r>
          </a:p>
        </p:txBody>
      </p:sp>
      <p:sp>
        <p:nvSpPr>
          <p:cNvPr id="6183" name="矩形 7207"/>
          <p:cNvSpPr/>
          <p:nvPr/>
        </p:nvSpPr>
        <p:spPr>
          <a:xfrm>
            <a:off x="424180" y="3817620"/>
            <a:ext cx="11342370" cy="829945"/>
          </a:xfrm>
          <a:prstGeom prst="rect">
            <a:avLst/>
          </a:prstGeom>
          <a:noFill/>
          <a:ln w="9525">
            <a:noFill/>
          </a:ln>
        </p:spPr>
        <p:txBody>
          <a:bodyPr anchor="t">
            <a:noAutofit/>
          </a:bodyPr>
          <a:lstStyle/>
          <a:p>
            <a:pPr marL="742950" lvl="1" indent="-285750" algn="l" eaLnBrk="1" fontAlgn="base" latinLnBrk="0" hangingPunct="1">
              <a:lnSpc>
                <a:spcPct val="100000"/>
              </a:lnSpc>
              <a:spcBef>
                <a:spcPts val="0"/>
              </a:spcBef>
              <a:spcAft>
                <a:spcPts val="0"/>
              </a:spcAft>
              <a:buClr>
                <a:srgbClr val="C00000"/>
              </a:buClr>
              <a:buSzPct val="85000"/>
              <a:buFont typeface="Wingdings" panose="05000000000000000000" pitchFamily="2" charset="2"/>
              <a:buChar char="Ø"/>
            </a:pPr>
            <a:r>
              <a:rPr lang="zh-CN" altLang="en-US" sz="2400" b="1" i="1" u="none" baseline="0">
                <a:solidFill>
                  <a:srgbClr val="0000C8"/>
                </a:solidFill>
                <a:latin typeface="+mn-lt"/>
                <a:ea typeface="楷体" panose="02010609060101010101" charset="-122"/>
                <a:cs typeface="+mn-lt"/>
              </a:rPr>
              <a:t>顾客关系</a:t>
            </a:r>
            <a:r>
              <a:rPr lang="en-US" altLang="zh-CN" sz="2400" b="1" i="1" u="none" baseline="0">
                <a:solidFill>
                  <a:srgbClr val="0000C8"/>
                </a:solidFill>
                <a:latin typeface="+mn-lt"/>
                <a:ea typeface="楷体" panose="02010609060101010101" charset="-122"/>
                <a:cs typeface="+mn-lt"/>
              </a:rPr>
              <a:t>C: </a:t>
            </a:r>
            <a:r>
              <a:rPr lang="zh-CN" altLang="en-US" sz="2400" b="1" i="1" u="none" baseline="0">
                <a:solidFill>
                  <a:srgbClr val="0000C8"/>
                </a:solidFill>
                <a:latin typeface="+mn-lt"/>
                <a:ea typeface="楷体" panose="02010609060101010101" charset="-122"/>
                <a:cs typeface="+mn-lt"/>
              </a:rPr>
              <a:t>作为目标对象的候选集</a:t>
            </a:r>
          </a:p>
          <a:p>
            <a:pPr marL="742950" lvl="1" indent="-285750" algn="l" eaLnBrk="1" fontAlgn="base" latinLnBrk="0" hangingPunct="1">
              <a:lnSpc>
                <a:spcPct val="100000"/>
              </a:lnSpc>
              <a:spcBef>
                <a:spcPts val="0"/>
              </a:spcBef>
              <a:spcAft>
                <a:spcPts val="0"/>
              </a:spcAft>
              <a:buClr>
                <a:srgbClr val="C00000"/>
              </a:buClr>
              <a:buSzPct val="85000"/>
              <a:buFont typeface="Wingdings" panose="05000000000000000000" pitchFamily="2" charset="2"/>
              <a:buChar char="Ø"/>
            </a:pPr>
            <a:r>
              <a:rPr lang="zh-CN" altLang="en-US" sz="2400" b="1" i="1" u="none" baseline="0">
                <a:solidFill>
                  <a:srgbClr val="0000C8"/>
                </a:solidFill>
                <a:latin typeface="+mn-lt"/>
                <a:ea typeface="楷体" panose="02010609060101010101" charset="-122"/>
                <a:cs typeface="+mn-lt"/>
              </a:rPr>
              <a:t>顾客关系</a:t>
            </a:r>
            <a:r>
              <a:rPr lang="en-US" altLang="zh-CN" sz="2400" b="1" i="1" u="none" baseline="0">
                <a:solidFill>
                  <a:srgbClr val="0000C8"/>
                </a:solidFill>
                <a:latin typeface="+mn-lt"/>
                <a:ea typeface="楷体" panose="02010609060101010101" charset="-122"/>
                <a:cs typeface="+mn-lt"/>
              </a:rPr>
              <a:t>S: </a:t>
            </a:r>
            <a:r>
              <a:rPr lang="zh-CN" altLang="en-US" sz="2400" b="1" i="1" u="none" baseline="0">
                <a:solidFill>
                  <a:srgbClr val="0000C8"/>
                </a:solidFill>
                <a:latin typeface="+mn-lt"/>
                <a:ea typeface="楷体" panose="02010609060101010101" charset="-122"/>
                <a:cs typeface="+mn-lt"/>
              </a:rPr>
              <a:t>作为条件对象的集合</a:t>
            </a:r>
          </a:p>
        </p:txBody>
      </p:sp>
      <p:sp>
        <p:nvSpPr>
          <p:cNvPr id="7209" name="矩形 7208"/>
          <p:cNvSpPr/>
          <p:nvPr/>
        </p:nvSpPr>
        <p:spPr>
          <a:xfrm>
            <a:off x="424815" y="4624705"/>
            <a:ext cx="11341735" cy="460375"/>
          </a:xfrm>
          <a:prstGeom prst="rect">
            <a:avLst/>
          </a:prstGeom>
          <a:noFill/>
          <a:ln w="9525">
            <a:noFill/>
          </a:ln>
        </p:spPr>
        <p:txBody>
          <a:bodyPr anchor="t">
            <a:noAutofit/>
          </a:bodyPr>
          <a:lstStyle/>
          <a:p>
            <a:pPr marL="457200" indent="-457200">
              <a:spcBef>
                <a:spcPct val="20000"/>
              </a:spcBef>
              <a:buClr>
                <a:srgbClr val="C00000"/>
              </a:buClr>
              <a:buSzPct val="85000"/>
              <a:buFont typeface="Wingdings" panose="05000000000000000000" charset="0"/>
              <a:buChar char="q"/>
            </a:pPr>
            <a:r>
              <a:rPr lang="zh-CN" altLang="en-US" sz="2400" b="1">
                <a:solidFill>
                  <a:srgbClr val="FF0000"/>
                </a:solidFill>
                <a:latin typeface="+mn-lt"/>
                <a:ea typeface="楷体" panose="02010609060101010101" charset="-122"/>
                <a:cs typeface="+mn-lt"/>
              </a:rPr>
              <a:t>通过这两个顾客关系，如何在</a:t>
            </a:r>
            <a:r>
              <a:rPr lang="en-US" altLang="zh-CN" sz="2400" b="1">
                <a:solidFill>
                  <a:srgbClr val="FF0000"/>
                </a:solidFill>
                <a:latin typeface="+mn-lt"/>
                <a:ea typeface="楷体" panose="02010609060101010101" charset="-122"/>
                <a:cs typeface="+mn-lt"/>
              </a:rPr>
              <a:t>C</a:t>
            </a:r>
            <a:r>
              <a:rPr lang="zh-CN" altLang="en-US" sz="2400" b="1">
                <a:solidFill>
                  <a:srgbClr val="FF0000"/>
                </a:solidFill>
                <a:latin typeface="+mn-lt"/>
                <a:ea typeface="楷体" panose="02010609060101010101" charset="-122"/>
                <a:cs typeface="+mn-lt"/>
              </a:rPr>
              <a:t>中找出折扣不是最高的顾客元组？</a:t>
            </a:r>
            <a:endParaRPr lang="zh-CN" altLang="en-US" sz="2400" b="1" i="1">
              <a:solidFill>
                <a:srgbClr val="FF0000"/>
              </a:solidFill>
              <a:latin typeface="+mn-lt"/>
              <a:ea typeface="楷体" panose="02010609060101010101" charset="-122"/>
              <a:cs typeface="+mn-lt"/>
              <a:sym typeface="Symbol" panose="05050102010706020507" pitchFamily="2" charset="2"/>
            </a:endParaRPr>
          </a:p>
        </p:txBody>
      </p:sp>
      <p:sp>
        <p:nvSpPr>
          <p:cNvPr id="3" name="矩形 7207"/>
          <p:cNvSpPr/>
          <p:nvPr/>
        </p:nvSpPr>
        <p:spPr>
          <a:xfrm>
            <a:off x="551180" y="5054600"/>
            <a:ext cx="11342370" cy="1568450"/>
          </a:xfrm>
          <a:prstGeom prst="rect">
            <a:avLst/>
          </a:prstGeom>
          <a:noFill/>
          <a:ln w="9525">
            <a:noFill/>
          </a:ln>
        </p:spPr>
        <p:txBody>
          <a:bodyPr anchor="t">
            <a:noAutofit/>
          </a:bodyPr>
          <a:lstStyle/>
          <a:p>
            <a:pPr marL="742950" lvl="1" indent="-285750" algn="l" eaLnBrk="1" fontAlgn="base" latinLnBrk="0" hangingPunct="1">
              <a:lnSpc>
                <a:spcPct val="100000"/>
              </a:lnSpc>
              <a:spcBef>
                <a:spcPts val="0"/>
              </a:spcBef>
              <a:spcAft>
                <a:spcPts val="0"/>
              </a:spcAft>
              <a:buClr>
                <a:srgbClr val="C00000"/>
              </a:buClr>
              <a:buSzPct val="85000"/>
              <a:buFont typeface="Wingdings" panose="05000000000000000000" pitchFamily="2" charset="2"/>
              <a:buChar char="Ø"/>
            </a:pP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在关系</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C</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中查找折扣不是最高的顾客</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c</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，而关系</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S</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中顾客元组则是用来判断顾客</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c</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是不是</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折扣不是最高</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a:t>
            </a:r>
          </a:p>
          <a:p>
            <a:pPr marL="742950" lvl="1" indent="-285750" algn="l" eaLnBrk="1" fontAlgn="base" latinLnBrk="0" hangingPunct="1">
              <a:lnSpc>
                <a:spcPct val="100000"/>
              </a:lnSpc>
              <a:spcBef>
                <a:spcPts val="0"/>
              </a:spcBef>
              <a:spcAft>
                <a:spcPts val="0"/>
              </a:spcAft>
              <a:buClr>
                <a:srgbClr val="C00000"/>
              </a:buClr>
              <a:buSzPct val="85000"/>
              <a:buFont typeface="Wingdings" panose="05000000000000000000" pitchFamily="2" charset="2"/>
              <a:buChar char="Ø"/>
            </a:pP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也就是说，对于一个给定的顾客</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c</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，我们在关系</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S</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中查找折扣比</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c</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高的顾客元组</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s</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，如果能够找到这样的元组，那么顾客</a:t>
            </a:r>
            <a:r>
              <a:rPr lang="en-US" altLang="zh-CN" sz="2400" b="1">
                <a:solidFill>
                  <a:srgbClr val="0000C8"/>
                </a:solidFill>
                <a:latin typeface="楷体" panose="02010609060101010101" charset="-122"/>
                <a:ea typeface="楷体" panose="02010609060101010101" charset="-122"/>
                <a:cs typeface="楷体" panose="02010609060101010101" charset="-122"/>
                <a:sym typeface="+mn-ea"/>
              </a:rPr>
              <a:t>c</a:t>
            </a:r>
            <a:r>
              <a:rPr lang="zh-CN" altLang="en-US" sz="2400" b="1">
                <a:solidFill>
                  <a:srgbClr val="0000C8"/>
                </a:solidFill>
                <a:latin typeface="楷体" panose="02010609060101010101" charset="-122"/>
                <a:ea typeface="楷体" panose="02010609060101010101" charset="-122"/>
                <a:cs typeface="楷体" panose="02010609060101010101" charset="-122"/>
                <a:sym typeface="+mn-ea"/>
              </a:rPr>
              <a:t>就是满足条件的（折扣不是最高）。</a:t>
            </a:r>
            <a:endParaRPr lang="zh-CN" altLang="en-US" sz="2400" b="1" i="1" u="none" baseline="0">
              <a:solidFill>
                <a:srgbClr val="0000C8"/>
              </a:solidFill>
              <a:latin typeface="楷体" panose="02010609060101010101" charset="-122"/>
              <a:ea typeface="楷体" panose="02010609060101010101" charset="-122"/>
              <a:cs typeface="楷体" panose="02010609060101010101" charset="-122"/>
              <a:sym typeface="+mn-ea"/>
            </a:endParaRPr>
          </a:p>
        </p:txBody>
      </p:sp>
      <p:pic>
        <p:nvPicPr>
          <p:cNvPr id="4" name="图片 3"/>
          <p:cNvPicPr>
            <a:picLocks noChangeAspect="1"/>
          </p:cNvPicPr>
          <p:nvPr/>
        </p:nvPicPr>
        <p:blipFill>
          <a:blip r:embed="rId3"/>
          <a:stretch>
            <a:fillRect/>
          </a:stretch>
        </p:blipFill>
        <p:spPr>
          <a:xfrm>
            <a:off x="2763520" y="595630"/>
            <a:ext cx="6663690" cy="2264410"/>
          </a:xfrm>
          <a:prstGeom prst="rect">
            <a:avLst/>
          </a:prstGeom>
        </p:spPr>
      </p:pic>
      <p:sp>
        <p:nvSpPr>
          <p:cNvPr id="6" name="灯片编号占位符 5"/>
          <p:cNvSpPr>
            <a:spLocks noGrp="1"/>
          </p:cNvSpPr>
          <p:nvPr>
            <p:ph type="sldNum" sz="quarter" idx="12"/>
          </p:nvPr>
        </p:nvSpPr>
        <p:spPr/>
        <p:txBody>
          <a:bodyPr/>
          <a:lstStyle/>
          <a:p>
            <a:fld id="{565CE74E-AB26-4998-AD42-012C4C1AD076}" type="slidenum">
              <a:rPr lang="zh-CN" altLang="en-US" smtClean="0"/>
              <a:t>77</a:t>
            </a:fld>
            <a:endParaRPr lang="zh-CN" altLang="en-US"/>
          </a:p>
        </p:txBody>
      </p:sp>
      <p:sp>
        <p:nvSpPr>
          <p:cNvPr id="5" name="页脚占位符 4"/>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09"/>
                                        </p:tgtEl>
                                        <p:attrNameLst>
                                          <p:attrName>style.visibility</p:attrName>
                                        </p:attrNameLst>
                                      </p:cBhvr>
                                      <p:to>
                                        <p:strVal val="visible"/>
                                      </p:to>
                                    </p:set>
                                    <p:animEffect transition="in" filter="blinds(horizontal)">
                                      <p:cBhvr>
                                        <p:cTn id="7" dur="500"/>
                                        <p:tgtEl>
                                          <p:spTgt spid="720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9" grpId="0"/>
      <p:bldP spid="3" grpId="0" build="p" bldLvl="2"/>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8232"/>
          <p:cNvSpPr/>
          <p:nvPr/>
        </p:nvSpPr>
        <p:spPr>
          <a:xfrm>
            <a:off x="424815" y="5496560"/>
            <a:ext cx="11342370" cy="1198880"/>
          </a:xfrm>
          <a:prstGeom prst="rect">
            <a:avLst/>
          </a:prstGeom>
          <a:solidFill>
            <a:schemeClr val="accent3">
              <a:lumMod val="20000"/>
              <a:lumOff val="80000"/>
              <a:alpha val="50000"/>
            </a:schemeClr>
          </a:solidFill>
          <a:ln w="9525">
            <a:noFill/>
          </a:ln>
        </p:spPr>
        <p:txBody>
          <a:bodyPr wrap="square" anchor="t">
            <a:noAutofit/>
          </a:bodyPr>
          <a:lstStyle/>
          <a:p>
            <a:pPr lvl="0" indent="-457200" fontAlgn="auto">
              <a:spcBef>
                <a:spcPts val="0"/>
              </a:spcBef>
              <a:buClr>
                <a:srgbClr val="C00000"/>
              </a:buClr>
              <a:buSzPct val="85000"/>
              <a:buFont typeface="Wingdings" panose="05000000000000000000" charset="0"/>
              <a:buChar char="q"/>
            </a:pPr>
            <a:r>
              <a:rPr lang="zh-CN" altLang="en-US" sz="2400" b="1">
                <a:solidFill>
                  <a:srgbClr val="FF0000"/>
                </a:solidFill>
                <a:latin typeface="+mn-lt"/>
                <a:ea typeface="楷体" panose="02010609060101010101" charset="-122"/>
                <a:cs typeface="+mn-lt"/>
              </a:rPr>
              <a:t>思考</a:t>
            </a:r>
            <a:r>
              <a:rPr lang="zh-CN" altLang="en-US" sz="2400" b="1">
                <a:solidFill>
                  <a:srgbClr val="0000C8"/>
                </a:solidFill>
                <a:latin typeface="+mn-lt"/>
                <a:ea typeface="楷体" panose="02010609060101010101" charset="-122"/>
                <a:cs typeface="+mn-lt"/>
              </a:rPr>
              <a:t>：</a:t>
            </a:r>
          </a:p>
          <a:p>
            <a:pPr marL="971550" lvl="1" indent="-514350" fontAlgn="auto">
              <a:spcBef>
                <a:spcPts val="0"/>
              </a:spcBef>
              <a:buClr>
                <a:srgbClr val="C00000"/>
              </a:buClr>
              <a:buSzPct val="85000"/>
              <a:buFont typeface="+mj-ea"/>
              <a:buAutoNum type="circleNumDbPlain"/>
            </a:pPr>
            <a:r>
              <a:rPr lang="zh-CN" altLang="en-US" sz="2400" b="1">
                <a:solidFill>
                  <a:srgbClr val="0000C8"/>
                </a:solidFill>
                <a:latin typeface="+mn-lt"/>
                <a:ea typeface="楷体" panose="02010609060101010101" charset="-122"/>
                <a:cs typeface="+mn-lt"/>
              </a:rPr>
              <a:t>如果顾客</a:t>
            </a:r>
            <a:r>
              <a:rPr lang="en-US" altLang="zh-CN" sz="2400" b="1" i="1">
                <a:solidFill>
                  <a:srgbClr val="0000C8"/>
                </a:solidFill>
                <a:latin typeface="Times New Roman" panose="02020603050405020304" charset="0"/>
                <a:ea typeface="楷体" panose="02010609060101010101" charset="-122"/>
                <a:cs typeface="Times New Roman" panose="02020603050405020304" charset="0"/>
              </a:rPr>
              <a:t>c006 </a:t>
            </a:r>
            <a:r>
              <a:rPr lang="zh-CN" altLang="en-US" sz="2400" b="1">
                <a:solidFill>
                  <a:srgbClr val="0000C8"/>
                </a:solidFill>
                <a:latin typeface="+mn-lt"/>
                <a:ea typeface="楷体" panose="02010609060101010101" charset="-122"/>
                <a:cs typeface="+mn-lt"/>
              </a:rPr>
              <a:t>的折扣</a:t>
            </a:r>
            <a:r>
              <a:rPr lang="en-US" altLang="zh-CN" sz="2400" b="1">
                <a:solidFill>
                  <a:srgbClr val="0000C8"/>
                </a:solidFill>
                <a:latin typeface="+mn-lt"/>
                <a:ea typeface="楷体" panose="02010609060101010101" charset="-122"/>
                <a:cs typeface="+mn-lt"/>
              </a:rPr>
              <a:t>discnt</a:t>
            </a:r>
            <a:r>
              <a:rPr lang="zh-CN" altLang="en-US" sz="2400" b="1">
                <a:solidFill>
                  <a:srgbClr val="0000C8"/>
                </a:solidFill>
                <a:latin typeface="+mn-lt"/>
                <a:ea typeface="楷体" panose="02010609060101010101" charset="-122"/>
                <a:cs typeface="+mn-lt"/>
              </a:rPr>
              <a:t>不是</a:t>
            </a:r>
            <a:r>
              <a:rPr lang="en-US" altLang="zh-CN" sz="2400" b="1">
                <a:solidFill>
                  <a:srgbClr val="0000C8"/>
                </a:solidFill>
                <a:latin typeface="+mn-lt"/>
                <a:ea typeface="楷体" panose="02010609060101010101" charset="-122"/>
                <a:cs typeface="+mn-lt"/>
              </a:rPr>
              <a:t>0</a:t>
            </a:r>
            <a:r>
              <a:rPr lang="zh-CN" altLang="en-US" sz="2400" b="1">
                <a:solidFill>
                  <a:srgbClr val="0000C8"/>
                </a:solidFill>
                <a:latin typeface="+mn-lt"/>
                <a:ea typeface="楷体" panose="02010609060101010101" charset="-122"/>
                <a:cs typeface="+mn-lt"/>
              </a:rPr>
              <a:t>而是一个空值，</a:t>
            </a:r>
            <a:r>
              <a:rPr lang="en-US" altLang="zh-CN" sz="2400" b="1">
                <a:solidFill>
                  <a:srgbClr val="0000C8"/>
                </a:solidFill>
                <a:ea typeface="楷体" panose="02010609060101010101" charset="-122"/>
                <a:cs typeface="+mn-lt"/>
                <a:sym typeface="+mn-ea"/>
              </a:rPr>
              <a:t>R</a:t>
            </a:r>
            <a:r>
              <a:rPr lang="en-US" altLang="zh-CN" sz="2400" b="1" baseline="-25000">
                <a:solidFill>
                  <a:srgbClr val="0000C8"/>
                </a:solidFill>
                <a:ea typeface="楷体" panose="02010609060101010101" charset="-122"/>
                <a:cs typeface="+mn-lt"/>
                <a:sym typeface="+mn-ea"/>
              </a:rPr>
              <a:t>2</a:t>
            </a:r>
            <a:r>
              <a:rPr lang="zh-CN" altLang="en-US" sz="2400" b="1">
                <a:solidFill>
                  <a:srgbClr val="0000C8"/>
                </a:solidFill>
                <a:latin typeface="+mn-lt"/>
                <a:ea typeface="楷体" panose="02010609060101010101" charset="-122"/>
                <a:cs typeface="+mn-lt"/>
              </a:rPr>
              <a:t>的计算结果是什么？</a:t>
            </a:r>
          </a:p>
          <a:p>
            <a:pPr marL="971550" lvl="1" indent="-514350" fontAlgn="auto">
              <a:spcBef>
                <a:spcPts val="0"/>
              </a:spcBef>
              <a:buClr>
                <a:srgbClr val="C00000"/>
              </a:buClr>
              <a:buSzPct val="85000"/>
              <a:buFont typeface="+mj-ea"/>
              <a:buAutoNum type="circleNumDbPlain"/>
            </a:pPr>
            <a:r>
              <a:rPr lang="zh-CN" altLang="en-US" sz="2400" b="1">
                <a:solidFill>
                  <a:srgbClr val="0000C8"/>
                </a:solidFill>
                <a:latin typeface="+mn-lt"/>
                <a:ea typeface="楷体" panose="02010609060101010101" charset="-122"/>
                <a:cs typeface="+mn-lt"/>
              </a:rPr>
              <a:t>如果顾客表中的所有顾客元组的</a:t>
            </a:r>
            <a:r>
              <a:rPr lang="en-US" altLang="zh-CN" sz="2400" b="1">
                <a:solidFill>
                  <a:srgbClr val="0000C8"/>
                </a:solidFill>
                <a:latin typeface="+mn-lt"/>
                <a:ea typeface="楷体" panose="02010609060101010101" charset="-122"/>
                <a:cs typeface="+mn-lt"/>
              </a:rPr>
              <a:t>discnt</a:t>
            </a:r>
            <a:r>
              <a:rPr lang="zh-CN" altLang="en-US" sz="2400" b="1">
                <a:solidFill>
                  <a:srgbClr val="0000C8"/>
                </a:solidFill>
                <a:latin typeface="+mn-lt"/>
                <a:ea typeface="楷体" panose="02010609060101010101" charset="-122"/>
                <a:cs typeface="+mn-lt"/>
              </a:rPr>
              <a:t>值都是空值，</a:t>
            </a:r>
            <a:r>
              <a:rPr lang="en-US" altLang="zh-CN" sz="2400" b="1">
                <a:solidFill>
                  <a:srgbClr val="0000C8"/>
                </a:solidFill>
                <a:ea typeface="楷体" panose="02010609060101010101" charset="-122"/>
                <a:cs typeface="+mn-lt"/>
                <a:sym typeface="+mn-ea"/>
              </a:rPr>
              <a:t>R</a:t>
            </a:r>
            <a:r>
              <a:rPr lang="en-US" altLang="zh-CN" sz="2400" b="1" baseline="-25000">
                <a:solidFill>
                  <a:srgbClr val="0000C8"/>
                </a:solidFill>
                <a:ea typeface="楷体" panose="02010609060101010101" charset="-122"/>
                <a:cs typeface="+mn-lt"/>
                <a:sym typeface="+mn-ea"/>
              </a:rPr>
              <a:t>2</a:t>
            </a:r>
            <a:r>
              <a:rPr lang="zh-CN" altLang="en-US" sz="2400" b="1">
                <a:solidFill>
                  <a:srgbClr val="0000C8"/>
                </a:solidFill>
                <a:ea typeface="楷体" panose="02010609060101010101" charset="-122"/>
                <a:cs typeface="+mn-lt"/>
                <a:sym typeface="+mn-ea"/>
              </a:rPr>
              <a:t>的计算结果是什么？</a:t>
            </a:r>
            <a:endParaRPr lang="zh-CN" altLang="en-US" sz="2400" b="1">
              <a:solidFill>
                <a:srgbClr val="0000C8"/>
              </a:solidFill>
              <a:latin typeface="+mn-lt"/>
              <a:ea typeface="楷体" panose="02010609060101010101" charset="-122"/>
              <a:cs typeface="+mn-lt"/>
            </a:endParaRPr>
          </a:p>
        </p:txBody>
      </p:sp>
      <p:sp>
        <p:nvSpPr>
          <p:cNvPr id="2" name="标题 1"/>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6</a:t>
            </a:r>
            <a:r>
              <a:rPr lang="zh-CN" altLang="en-US" dirty="0">
                <a:sym typeface="+mn-ea"/>
              </a:rPr>
              <a:t>）</a:t>
            </a:r>
            <a:endParaRPr lang="zh-CN" altLang="en-US"/>
          </a:p>
        </p:txBody>
      </p:sp>
      <mc:AlternateContent xmlns:mc="http://schemas.openxmlformats.org/markup-compatibility/2006" xmlns:a14="http://schemas.microsoft.com/office/drawing/2010/main">
        <mc:Choice Requires="a14">
          <p:sp>
            <p:nvSpPr>
              <p:cNvPr id="7169" name="文本占位符 8193"/>
              <p:cNvSpPr>
                <a:spLocks noGrp="1"/>
              </p:cNvSpPr>
              <p:nvPr>
                <p:ph idx="1"/>
              </p:nvPr>
            </p:nvSpPr>
            <p:spPr>
              <a:xfrm>
                <a:off x="424180" y="2952000"/>
                <a:ext cx="11343005" cy="565150"/>
              </a:xfrm>
            </p:spPr>
            <p:txBody>
              <a:bodyPr anchor="t">
                <a:spAutoFit/>
              </a:bodyPr>
              <a:lstStyle/>
              <a:p>
                <a:pPr>
                  <a:buFont typeface="Wingdings" panose="05000000000000000000" charset="0"/>
                  <a:buChar char="q"/>
                </a:pPr>
                <a:r>
                  <a:rPr lang="zh-CN" altLang="en-US" sz="2800" b="1">
                    <a:solidFill>
                      <a:srgbClr val="0000C8"/>
                    </a:solidFill>
                  </a:rPr>
                  <a:t>令 </a:t>
                </a:r>
                <a14:m>
                  <m:oMath xmlns:m="http://schemas.openxmlformats.org/officeDocument/2006/math">
                    <m:r>
                      <a:rPr lang="en-US" altLang="zh-CN" sz="2800" b="1" i="1">
                        <a:solidFill>
                          <a:srgbClr val="0000C8"/>
                        </a:solidFill>
                        <a:latin typeface="Cambria Math" panose="02040503050406030204" charset="0"/>
                        <a:cs typeface="Cambria Math" panose="02040503050406030204" charset="0"/>
                      </a:rPr>
                      <m:t>𝑺</m:t>
                    </m:r>
                    <m:r>
                      <a:rPr lang="en-US" altLang="zh-CN" sz="2800" b="1" i="1">
                        <a:solidFill>
                          <a:srgbClr val="0000C8"/>
                        </a:solidFill>
                        <a:latin typeface="Cambria Math" panose="02040503050406030204" charset="0"/>
                        <a:cs typeface="Cambria Math" panose="02040503050406030204" charset="0"/>
                      </a:rPr>
                      <m:t> </m:t>
                    </m:r>
                    <m:box>
                      <m:boxPr>
                        <m:noBreak m:val="on"/>
                        <m:ctrlPr>
                          <a:rPr lang="en-US" altLang="zh-CN" sz="2800" b="1" i="1">
                            <a:solidFill>
                              <a:srgbClr val="0000C8"/>
                            </a:solidFill>
                            <a:latin typeface="Cambria Math" panose="02040503050406030204" pitchFamily="18" charset="0"/>
                            <a:cs typeface="Cambria Math" panose="02040503050406030204" charset="0"/>
                          </a:rPr>
                        </m:ctrlPr>
                      </m:boxPr>
                      <m:e>
                        <m:r>
                          <a:rPr lang="en-US" altLang="zh-CN" sz="2800" b="1" i="1">
                            <a:solidFill>
                              <a:srgbClr val="0000C8"/>
                            </a:solidFill>
                            <a:latin typeface="Cambria Math" panose="02040503050406030204" charset="0"/>
                            <a:cs typeface="Cambria Math" panose="02040503050406030204" charset="0"/>
                          </a:rPr>
                          <m:t>∶=</m:t>
                        </m:r>
                      </m:e>
                    </m:box>
                    <m:r>
                      <a:rPr lang="en-US" altLang="zh-CN" sz="2800" b="1" i="1">
                        <a:solidFill>
                          <a:srgbClr val="0000C8"/>
                        </a:solidFill>
                        <a:latin typeface="Cambria Math" panose="02040503050406030204" charset="0"/>
                        <a:cs typeface="Cambria Math" panose="02040503050406030204" charset="0"/>
                      </a:rPr>
                      <m:t> </m:t>
                    </m:r>
                    <m:r>
                      <a:rPr lang="en-US" altLang="zh-CN" sz="2800" b="1" i="1">
                        <a:solidFill>
                          <a:srgbClr val="0000C8"/>
                        </a:solidFill>
                        <a:latin typeface="Cambria Math" panose="02040503050406030204" charset="0"/>
                        <a:cs typeface="Cambria Math" panose="02040503050406030204" charset="0"/>
                      </a:rPr>
                      <m:t>𝑪</m:t>
                    </m:r>
                  </m:oMath>
                </a14:m>
                <a:endParaRPr lang="en-US" altLang="zh-CN" sz="2800" b="1" i="1">
                  <a:solidFill>
                    <a:srgbClr val="0000C8"/>
                  </a:solidFill>
                </a:endParaRPr>
              </a:p>
            </p:txBody>
          </p:sp>
        </mc:Choice>
        <mc:Fallback xmlns="">
          <p:sp>
            <p:nvSpPr>
              <p:cNvPr id="7169" name="文本占位符 8193"/>
              <p:cNvSpPr>
                <a:spLocks noRot="1" noChangeAspect="1" noMove="1" noResize="1" noEditPoints="1" noAdjustHandles="1" noChangeArrowheads="1" noChangeShapeType="1" noTextEdit="1"/>
              </p:cNvSpPr>
              <p:nvPr>
                <p:ph idx="1"/>
              </p:nvPr>
            </p:nvSpPr>
            <p:spPr>
              <a:xfrm>
                <a:off x="424180" y="2952000"/>
                <a:ext cx="11343005" cy="565150"/>
              </a:xfrm>
              <a:blipFill rotWithShape="1">
                <a:blip r:embed="rId4"/>
                <a:stretch>
                  <a:fillRect t="-92" b="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07" name="矩形 8231"/>
              <p:cNvSpPr/>
              <p:nvPr/>
            </p:nvSpPr>
            <p:spPr>
              <a:xfrm>
                <a:off x="1443673" y="3516948"/>
                <a:ext cx="8229600" cy="521970"/>
              </a:xfrm>
              <a:prstGeom prst="rect">
                <a:avLst/>
              </a:prstGeom>
              <a:noFill/>
              <a:ln w="9525">
                <a:noFill/>
              </a:ln>
            </p:spPr>
            <p:txBody>
              <a:bodyPr anchor="t">
                <a:noAutofit/>
              </a:bodyPr>
              <a:lstStyle/>
              <a:p>
                <a:pPr marL="800100" lvl="1" indent="-342900" algn="ctr"/>
                <a14:m>
                  <m:oMathPara xmlns:m="http://schemas.openxmlformats.org/officeDocument/2006/math">
                    <m:oMathParaPr>
                      <m:jc m:val="left"/>
                    </m:oMathParaPr>
                    <m:oMath xmlns:m="http://schemas.openxmlformats.org/officeDocument/2006/math">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𝑹</m:t>
                      </m:r>
                      <m:r>
                        <a:rPr lang="en-US" altLang="zh-CN" sz="2800" b="1" i="1" baseline="-25000">
                          <a:solidFill>
                            <a:srgbClr val="0000C8"/>
                          </a:solidFill>
                          <a:latin typeface="Cambria Math" panose="02040503050406030204" charset="0"/>
                          <a:ea typeface="宋体" panose="02010600030101010101" pitchFamily="2" charset="-122"/>
                          <a:cs typeface="Cambria Math" panose="02040503050406030204" charset="0"/>
                        </a:rPr>
                        <m:t>𝟐</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m:t>
                      </m:r>
                      <m:box>
                        <m:boxPr>
                          <m:noBreak m:val="on"/>
                          <m:ctrlPr>
                            <a:rPr lang="en-US" altLang="zh-CN" sz="2800" b="1" i="1">
                              <a:solidFill>
                                <a:srgbClr val="0000C8"/>
                              </a:solidFill>
                              <a:latin typeface="Cambria Math" panose="02040503050406030204" pitchFamily="18" charset="0"/>
                              <a:ea typeface="宋体" panose="02010600030101010101" pitchFamily="2" charset="-122"/>
                              <a:cs typeface="Cambria Math" panose="02040503050406030204" charset="0"/>
                            </a:rPr>
                          </m:ctrlPr>
                        </m:boxPr>
                        <m:e>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e>
                      </m:box>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 </m:t>
                      </m:r>
                      <m:sSub>
                        <m:sSubPr>
                          <m:ctrlPr>
                            <a:rPr lang="en-US" altLang="zh-CN" sz="2800" b="1" i="1">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𝝅</m:t>
                          </m:r>
                        </m:e>
                        <m:sub>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𝑪</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𝒄𝒊𝒅</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sSub>
                        <m:sSubPr>
                          <m:ctrlPr>
                            <a:rPr lang="en-US" altLang="zh-CN" sz="2800" b="1" i="1">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𝝈</m:t>
                          </m:r>
                        </m:e>
                        <m:sub>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&lt;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oMath>
                  </m:oMathPara>
                </a14:m>
                <a:endParaRPr lang="en-US" altLang="zh-CN" sz="2800" b="1" i="1">
                  <a:solidFill>
                    <a:srgbClr val="FF0000"/>
                  </a:solidFill>
                  <a:latin typeface="Arial" panose="020B0604020202020204" pitchFamily="34" charset="0"/>
                  <a:ea typeface="宋体" panose="02010600030101010101" pitchFamily="2" charset="-122"/>
                </a:endParaRPr>
              </a:p>
            </p:txBody>
          </p:sp>
        </mc:Choice>
        <mc:Fallback xmlns="">
          <p:sp>
            <p:nvSpPr>
              <p:cNvPr id="7207" name="矩形 8231"/>
              <p:cNvSpPr>
                <a:spLocks noRot="1" noChangeAspect="1" noMove="1" noResize="1" noEditPoints="1" noAdjustHandles="1" noChangeArrowheads="1" noChangeShapeType="1" noTextEdit="1"/>
              </p:cNvSpPr>
              <p:nvPr/>
            </p:nvSpPr>
            <p:spPr>
              <a:xfrm>
                <a:off x="1443673" y="3516948"/>
                <a:ext cx="8229600" cy="521970"/>
              </a:xfrm>
              <a:prstGeom prst="rect">
                <a:avLst/>
              </a:prstGeom>
              <a:blipFill rotWithShape="1">
                <a:blip r:embed="rId5"/>
                <a:stretch>
                  <a:fillRect l="-4" t="-61" r="4" b="-4075"/>
                </a:stretch>
              </a:blipFill>
              <a:ln w="9525">
                <a:noFill/>
              </a:ln>
            </p:spPr>
            <p:txBody>
              <a:bodyPr/>
              <a:lstStyle/>
              <a:p>
                <a:r>
                  <a:rPr lang="zh-CN" altLang="en-US">
                    <a:noFill/>
                  </a:rPr>
                  <a:t> </a:t>
                </a:r>
              </a:p>
            </p:txBody>
          </p:sp>
        </mc:Fallback>
      </mc:AlternateContent>
      <p:sp>
        <p:nvSpPr>
          <p:cNvPr id="7208" name="矩形 8232"/>
          <p:cNvSpPr/>
          <p:nvPr/>
        </p:nvSpPr>
        <p:spPr>
          <a:xfrm>
            <a:off x="424180" y="4329430"/>
            <a:ext cx="11342370" cy="1038860"/>
          </a:xfrm>
          <a:prstGeom prst="rect">
            <a:avLst/>
          </a:prstGeom>
          <a:noFill/>
          <a:ln w="9525">
            <a:noFill/>
          </a:ln>
        </p:spPr>
        <p:txBody>
          <a:bodyPr wrap="square" anchor="t">
            <a:noAutofit/>
          </a:bodyPr>
          <a:lstStyle/>
          <a:p>
            <a:pPr marL="914400" lvl="1" indent="-457200">
              <a:spcBef>
                <a:spcPct val="20000"/>
              </a:spcBef>
              <a:buClr>
                <a:srgbClr val="C00000"/>
              </a:buClr>
              <a:buSzPct val="85000"/>
              <a:buFont typeface="Wingdings" panose="05000000000000000000" charset="0"/>
              <a:buChar char="Ø"/>
            </a:pPr>
            <a:r>
              <a:rPr lang="zh-CN" altLang="en-US" sz="2800" b="1">
                <a:solidFill>
                  <a:srgbClr val="0000C8"/>
                </a:solidFill>
                <a:latin typeface="+mn-lt"/>
                <a:ea typeface="楷体" panose="02010609060101010101" charset="-122"/>
                <a:cs typeface="+mn-lt"/>
              </a:rPr>
              <a:t>计算结果如左表所示</a:t>
            </a:r>
          </a:p>
          <a:p>
            <a:pPr marL="914400" lvl="1" indent="-457200">
              <a:spcBef>
                <a:spcPct val="20000"/>
              </a:spcBef>
              <a:buClr>
                <a:srgbClr val="C00000"/>
              </a:buClr>
              <a:buSzPct val="85000"/>
              <a:buFont typeface="Wingdings" panose="05000000000000000000" charset="0"/>
              <a:buChar char="Ø"/>
            </a:pPr>
            <a:r>
              <a:rPr lang="en-US" altLang="zh-CN" sz="2800" b="1">
                <a:solidFill>
                  <a:srgbClr val="0000C8"/>
                </a:solidFill>
                <a:latin typeface="+mn-lt"/>
                <a:ea typeface="楷体" panose="02010609060101010101" charset="-122"/>
                <a:cs typeface="+mn-lt"/>
              </a:rPr>
              <a:t>R</a:t>
            </a:r>
            <a:r>
              <a:rPr lang="en-US" altLang="zh-CN" sz="2800" b="1" baseline="-25000">
                <a:solidFill>
                  <a:srgbClr val="0000C8"/>
                </a:solidFill>
                <a:latin typeface="+mn-lt"/>
                <a:ea typeface="楷体" panose="02010609060101010101" charset="-122"/>
                <a:cs typeface="+mn-lt"/>
              </a:rPr>
              <a:t>2</a:t>
            </a:r>
            <a:r>
              <a:rPr lang="en-US" altLang="zh-CN" sz="2800" b="1">
                <a:solidFill>
                  <a:srgbClr val="0000C8"/>
                </a:solidFill>
                <a:latin typeface="+mn-lt"/>
                <a:ea typeface="楷体" panose="02010609060101010101" charset="-122"/>
                <a:cs typeface="+mn-lt"/>
              </a:rPr>
              <a:t> </a:t>
            </a:r>
            <a:r>
              <a:rPr lang="zh-CN" altLang="en-US" sz="2800" b="1">
                <a:solidFill>
                  <a:srgbClr val="0000C8"/>
                </a:solidFill>
                <a:latin typeface="+mn-lt"/>
                <a:ea typeface="楷体" panose="02010609060101010101" charset="-122"/>
                <a:cs typeface="+mn-lt"/>
              </a:rPr>
              <a:t>即为折扣不是最高的顾客编号的集合。</a:t>
            </a:r>
          </a:p>
        </p:txBody>
      </p:sp>
      <p:pic>
        <p:nvPicPr>
          <p:cNvPr id="3" name="图片 2"/>
          <p:cNvPicPr>
            <a:picLocks noChangeAspect="1"/>
          </p:cNvPicPr>
          <p:nvPr/>
        </p:nvPicPr>
        <p:blipFill>
          <a:blip r:embed="rId6"/>
          <a:stretch>
            <a:fillRect/>
          </a:stretch>
        </p:blipFill>
        <p:spPr>
          <a:xfrm>
            <a:off x="1953895" y="595630"/>
            <a:ext cx="6663690" cy="2264410"/>
          </a:xfrm>
          <a:prstGeom prst="rect">
            <a:avLst/>
          </a:prstGeom>
        </p:spPr>
      </p:pic>
      <p:graphicFrame>
        <p:nvGraphicFramePr>
          <p:cNvPr id="4" name="表格 3"/>
          <p:cNvGraphicFramePr/>
          <p:nvPr>
            <p:custDataLst>
              <p:tags r:id="rId1"/>
            </p:custDataLst>
          </p:nvPr>
        </p:nvGraphicFramePr>
        <p:xfrm>
          <a:off x="9606280" y="3026410"/>
          <a:ext cx="1832610" cy="2286000"/>
        </p:xfrm>
        <a:graphic>
          <a:graphicData uri="http://schemas.openxmlformats.org/drawingml/2006/table">
            <a:tbl>
              <a:tblPr firstRow="1" bandRow="1">
                <a:tableStyleId>{5C22544A-7EE6-4342-B048-85BDC9FD1C3A}</a:tableStyleId>
              </a:tblPr>
              <a:tblGrid>
                <a:gridCol w="1832610">
                  <a:extLst>
                    <a:ext uri="{9D8B030D-6E8A-4147-A177-3AD203B41FA5}">
                      <a16:colId xmlns:a16="http://schemas.microsoft.com/office/drawing/2014/main" val="20000"/>
                    </a:ext>
                  </a:extLst>
                </a:gridCol>
              </a:tblGrid>
              <a:tr h="457200">
                <a:tc>
                  <a:txBody>
                    <a:bodyPr/>
                    <a:lstStyle/>
                    <a:p>
                      <a:pPr algn="ctr">
                        <a:buNone/>
                      </a:pPr>
                      <a:r>
                        <a:rPr lang="en-US" altLang="zh-CN" sz="2400" b="1">
                          <a:solidFill>
                            <a:srgbClr val="FF0000"/>
                          </a:solidFill>
                          <a:latin typeface="Arial" panose="020B0604020202020204" pitchFamily="34" charset="0"/>
                          <a:cs typeface="Arial" panose="020B0604020202020204" pitchFamily="34" charset="0"/>
                        </a:rPr>
                        <a:t>cid</a:t>
                      </a:r>
                    </a:p>
                  </a:txBody>
                  <a:tcPr anchor="ctr">
                    <a:lnL w="28575" cmpd="sng">
                      <a:solidFill>
                        <a:schemeClr val="tx1"/>
                      </a:solidFill>
                      <a:prstDash val="solid"/>
                    </a:lnL>
                    <a:lnR w="28575"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extLst>
                  <a:ext uri="{0D108BD9-81ED-4DB2-BD59-A6C34878D82A}">
                    <a16:rowId xmlns:a16="http://schemas.microsoft.com/office/drawing/2014/main" val="10000"/>
                  </a:ext>
                </a:extLst>
              </a:tr>
              <a:tr h="381000">
                <a:tc>
                  <a:txBody>
                    <a:bodyPr/>
                    <a:lstStyle/>
                    <a:p>
                      <a:pPr algn="ctr">
                        <a:buNone/>
                      </a:pPr>
                      <a:r>
                        <a:rPr lang="en-US" altLang="zh-CN" sz="2400" b="1" i="1">
                          <a:solidFill>
                            <a:srgbClr val="0000C8"/>
                          </a:solidFill>
                          <a:latin typeface="Times New Roman" panose="02020603050405020304" charset="0"/>
                          <a:cs typeface="Times New Roman" panose="02020603050405020304" charset="0"/>
                        </a:rPr>
                        <a:t>c001</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381000">
                <a:tc>
                  <a:txBody>
                    <a:bodyPr/>
                    <a:lstStyle/>
                    <a:p>
                      <a:pPr algn="ctr">
                        <a:buNone/>
                      </a:pPr>
                      <a:r>
                        <a:rPr lang="en-US" altLang="zh-CN" sz="2400" b="1" i="1">
                          <a:solidFill>
                            <a:srgbClr val="0000C8"/>
                          </a:solidFill>
                          <a:latin typeface="Times New Roman" panose="02020603050405020304" charset="0"/>
                          <a:cs typeface="Times New Roman" panose="02020603050405020304" charset="0"/>
                        </a:rPr>
                        <a:t>c003</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381000">
                <a:tc>
                  <a:txBody>
                    <a:bodyPr/>
                    <a:lstStyle/>
                    <a:p>
                      <a:pPr algn="ctr">
                        <a:buNone/>
                      </a:pPr>
                      <a:r>
                        <a:rPr lang="en-US" altLang="zh-CN" sz="2400" b="1" i="1">
                          <a:solidFill>
                            <a:srgbClr val="0000C8"/>
                          </a:solidFill>
                          <a:latin typeface="Times New Roman" panose="02020603050405020304" charset="0"/>
                          <a:cs typeface="Times New Roman" panose="02020603050405020304" charset="0"/>
                        </a:rPr>
                        <a:t>c004</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r h="381000">
                <a:tc>
                  <a:txBody>
                    <a:bodyPr/>
                    <a:lstStyle/>
                    <a:p>
                      <a:pPr algn="ctr">
                        <a:buNone/>
                      </a:pPr>
                      <a:r>
                        <a:rPr lang="en-US" altLang="zh-CN" sz="2400" b="1" i="1">
                          <a:solidFill>
                            <a:srgbClr val="0000C8"/>
                          </a:solidFill>
                          <a:latin typeface="Times New Roman" panose="02020603050405020304" charset="0"/>
                          <a:cs typeface="Times New Roman" panose="02020603050405020304" charset="0"/>
                        </a:rPr>
                        <a:t>c006</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5" name="文本框 4"/>
              <p:cNvSpPr txBox="1"/>
              <p:nvPr/>
            </p:nvSpPr>
            <p:spPr>
              <a:xfrm>
                <a:off x="9039161" y="3026664"/>
                <a:ext cx="546735" cy="52197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r>
                        <a:rPr lang="en-US" altLang="zh-CN" sz="2800" b="1" i="1">
                          <a:solidFill>
                            <a:srgbClr val="0000C8"/>
                          </a:solidFill>
                          <a:latin typeface="Cambria Math" panose="02040503050406030204" charset="0"/>
                          <a:cs typeface="Cambria Math" panose="02040503050406030204" charset="0"/>
                        </a:rPr>
                        <m:t>𝑹</m:t>
                      </m:r>
                      <m:r>
                        <a:rPr lang="en-US" altLang="zh-CN" sz="2800" b="1" i="1" baseline="-25000">
                          <a:solidFill>
                            <a:srgbClr val="0000C8"/>
                          </a:solidFill>
                          <a:latin typeface="Cambria Math" panose="02040503050406030204" charset="0"/>
                          <a:ea typeface="MS Mincho" charset="0"/>
                          <a:cs typeface="Cambria Math" panose="02040503050406030204" charset="0"/>
                        </a:rPr>
                        <m:t>𝟐</m:t>
                      </m:r>
                    </m:oMath>
                  </m:oMathPara>
                </a14:m>
                <a:endParaRPr lang="en-US" altLang="zh-CN" sz="2800" b="1" i="1" baseline="-25000">
                  <a:solidFill>
                    <a:srgbClr val="0000C8"/>
                  </a:solidFill>
                  <a:latin typeface="Cambria Math" panose="02040503050406030204" charset="0"/>
                  <a:ea typeface="MS Mincho" charset="0"/>
                  <a:cs typeface="Cambria Math" panose="02040503050406030204"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9039161" y="3026664"/>
                <a:ext cx="546735" cy="521970"/>
              </a:xfrm>
              <a:prstGeom prst="rect">
                <a:avLst/>
              </a:prstGeom>
              <a:blipFill rotWithShape="1">
                <a:blip r:embed="rId7"/>
                <a:stretch>
                  <a:fillRect l="-104" t="-49" r="104" b="-4088"/>
                </a:stretch>
              </a:blipFill>
            </p:spPr>
            <p:txBody>
              <a:bodyPr/>
              <a:lstStyle/>
              <a:p>
                <a:r>
                  <a:rPr lang="zh-CN" altLang="en-US">
                    <a:noFill/>
                  </a:rPr>
                  <a:t> </a:t>
                </a:r>
              </a:p>
            </p:txBody>
          </p:sp>
        </mc:Fallback>
      </mc:AlternateContent>
      <p:sp>
        <p:nvSpPr>
          <p:cNvPr id="8" name="灯片编号占位符 7"/>
          <p:cNvSpPr>
            <a:spLocks noGrp="1"/>
          </p:cNvSpPr>
          <p:nvPr>
            <p:ph type="sldNum" sz="quarter" idx="12"/>
          </p:nvPr>
        </p:nvSpPr>
        <p:spPr/>
        <p:txBody>
          <a:bodyPr/>
          <a:lstStyle/>
          <a:p>
            <a:fld id="{565CE74E-AB26-4998-AD42-012C4C1AD076}" type="slidenum">
              <a:rPr lang="zh-CN" altLang="en-US" smtClean="0"/>
              <a:t>78</a:t>
            </a:fld>
            <a:endParaRPr lang="zh-CN" altLang="en-US"/>
          </a:p>
        </p:txBody>
      </p:sp>
      <p:sp>
        <p:nvSpPr>
          <p:cNvPr id="7" name="页脚占位符 6"/>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7208"/>
                                        </p:tgtEl>
                                        <p:attrNameLst>
                                          <p:attrName>style.visibility</p:attrName>
                                        </p:attrNameLst>
                                      </p:cBhvr>
                                      <p:to>
                                        <p:strVal val="visible"/>
                                      </p:to>
                                    </p:set>
                                    <p:anim calcmode="lin" valueType="num">
                                      <p:cBhvr additive="base">
                                        <p:cTn id="16" dur="500" fill="hold"/>
                                        <p:tgtEl>
                                          <p:spTgt spid="7208"/>
                                        </p:tgtEl>
                                        <p:attrNameLst>
                                          <p:attrName>ppt_x</p:attrName>
                                        </p:attrNameLst>
                                      </p:cBhvr>
                                      <p:tavLst>
                                        <p:tav tm="0">
                                          <p:val>
                                            <p:strVal val="#ppt_x"/>
                                          </p:val>
                                        </p:tav>
                                        <p:tav tm="100000">
                                          <p:val>
                                            <p:strVal val="#ppt_x"/>
                                          </p:val>
                                        </p:tav>
                                      </p:tavLst>
                                    </p:anim>
                                    <p:anim calcmode="lin" valueType="num">
                                      <p:cBhvr additive="base">
                                        <p:cTn id="17" dur="500" fill="hold"/>
                                        <p:tgtEl>
                                          <p:spTgt spid="720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208" grpId="0"/>
      <p:bldP spid="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7</a:t>
            </a:r>
            <a:r>
              <a:rPr lang="zh-CN" altLang="en-US" dirty="0">
                <a:sym typeface="+mn-ea"/>
              </a:rPr>
              <a:t>）</a:t>
            </a:r>
            <a:endParaRPr lang="zh-CN" altLang="en-US"/>
          </a:p>
        </p:txBody>
      </p:sp>
      <p:sp>
        <p:nvSpPr>
          <p:cNvPr id="3" name="内容占位符 2"/>
          <p:cNvSpPr>
            <a:spLocks noGrp="1"/>
          </p:cNvSpPr>
          <p:nvPr>
            <p:ph idx="1"/>
          </p:nvPr>
        </p:nvSpPr>
        <p:spPr/>
        <p:txBody>
          <a:bodyPr/>
          <a:lstStyle/>
          <a:p>
            <a:r>
              <a:rPr lang="zh-CN" altLang="en-US">
                <a:solidFill>
                  <a:srgbClr val="0000C8"/>
                </a:solidFill>
                <a:latin typeface="+mn-lt"/>
                <a:cs typeface="+mn-lt"/>
                <a:sym typeface="+mn-ea"/>
              </a:rPr>
              <a:t>为了完整地演示计算过程，我们仅保留顾客关系中的</a:t>
            </a:r>
            <a:r>
              <a:rPr lang="en-US" altLang="zh-CN">
                <a:solidFill>
                  <a:srgbClr val="0000C8"/>
                </a:solidFill>
                <a:latin typeface="+mn-lt"/>
                <a:cs typeface="+mn-lt"/>
                <a:sym typeface="+mn-ea"/>
              </a:rPr>
              <a:t>cid</a:t>
            </a:r>
            <a:r>
              <a:rPr lang="zh-CN" altLang="en-US">
                <a:solidFill>
                  <a:srgbClr val="0000C8"/>
                </a:solidFill>
                <a:latin typeface="+mn-lt"/>
                <a:cs typeface="+mn-lt"/>
                <a:sym typeface="+mn-ea"/>
              </a:rPr>
              <a:t>和</a:t>
            </a:r>
            <a:r>
              <a:rPr lang="en-US" altLang="zh-CN">
                <a:solidFill>
                  <a:srgbClr val="0000C8"/>
                </a:solidFill>
                <a:latin typeface="+mn-lt"/>
                <a:cs typeface="+mn-lt"/>
                <a:sym typeface="+mn-ea"/>
              </a:rPr>
              <a:t>discnt</a:t>
            </a:r>
            <a:r>
              <a:rPr lang="zh-CN" altLang="en-US">
                <a:solidFill>
                  <a:srgbClr val="0000C8"/>
                </a:solidFill>
                <a:latin typeface="+mn-lt"/>
                <a:cs typeface="+mn-lt"/>
                <a:sym typeface="+mn-ea"/>
              </a:rPr>
              <a:t>两个属性，以及</a:t>
            </a:r>
            <a:r>
              <a:rPr lang="en-US" altLang="zh-CN">
                <a:solidFill>
                  <a:srgbClr val="0000C8"/>
                </a:solidFill>
                <a:latin typeface="+mn-lt"/>
                <a:cs typeface="+mn-lt"/>
                <a:sym typeface="+mn-ea"/>
              </a:rPr>
              <a:t>c001,c002,c003</a:t>
            </a:r>
            <a:r>
              <a:rPr lang="zh-CN" altLang="en-US">
                <a:solidFill>
                  <a:srgbClr val="0000C8"/>
                </a:solidFill>
                <a:latin typeface="+mn-lt"/>
                <a:cs typeface="+mn-lt"/>
                <a:sym typeface="+mn-ea"/>
              </a:rPr>
              <a:t>三个元组。从而得到一个简化的顾客关系</a:t>
            </a:r>
            <a:r>
              <a:rPr lang="en-US" altLang="zh-CN">
                <a:solidFill>
                  <a:srgbClr val="0000C8"/>
                </a:solidFill>
                <a:latin typeface="+mn-lt"/>
                <a:cs typeface="+mn-lt"/>
                <a:sym typeface="+mn-ea"/>
              </a:rPr>
              <a:t>C</a:t>
            </a:r>
            <a:r>
              <a:rPr lang="zh-CN" altLang="en-US">
                <a:solidFill>
                  <a:srgbClr val="0000C8"/>
                </a:solidFill>
                <a:latin typeface="+mn-lt"/>
                <a:cs typeface="+mn-lt"/>
                <a:sym typeface="+mn-ea"/>
              </a:rPr>
              <a:t>和关系</a:t>
            </a:r>
            <a:r>
              <a:rPr lang="en-US" altLang="zh-CN">
                <a:solidFill>
                  <a:srgbClr val="0000C8"/>
                </a:solidFill>
                <a:latin typeface="+mn-lt"/>
                <a:cs typeface="+mn-lt"/>
                <a:sym typeface="+mn-ea"/>
              </a:rPr>
              <a:t>S</a:t>
            </a:r>
            <a:r>
              <a:rPr lang="zh-CN" altLang="en-US">
                <a:solidFill>
                  <a:srgbClr val="0000C8"/>
                </a:solidFill>
                <a:latin typeface="+mn-lt"/>
                <a:cs typeface="+mn-lt"/>
                <a:sym typeface="+mn-ea"/>
              </a:rPr>
              <a:t>，并演示如何去查询得到</a:t>
            </a:r>
            <a:r>
              <a:rPr lang="en-US" altLang="zh-CN">
                <a:solidFill>
                  <a:srgbClr val="0000C8"/>
                </a:solidFill>
                <a:latin typeface="+mn-lt"/>
                <a:cs typeface="+mn-lt"/>
                <a:sym typeface="+mn-ea"/>
              </a:rPr>
              <a:t>‘</a:t>
            </a:r>
            <a:r>
              <a:rPr lang="zh-CN" altLang="en-US">
                <a:solidFill>
                  <a:srgbClr val="0000C8"/>
                </a:solidFill>
                <a:latin typeface="+mn-lt"/>
                <a:cs typeface="+mn-lt"/>
                <a:sym typeface="+mn-ea"/>
              </a:rPr>
              <a:t>折扣最高</a:t>
            </a:r>
            <a:r>
              <a:rPr lang="en-US" altLang="zh-CN">
                <a:solidFill>
                  <a:srgbClr val="0000C8"/>
                </a:solidFill>
                <a:latin typeface="+mn-lt"/>
                <a:cs typeface="+mn-lt"/>
                <a:sym typeface="+mn-ea"/>
              </a:rPr>
              <a:t>’</a:t>
            </a:r>
            <a:r>
              <a:rPr lang="zh-CN" altLang="en-US">
                <a:solidFill>
                  <a:srgbClr val="0000C8"/>
                </a:solidFill>
                <a:latin typeface="+mn-lt"/>
                <a:cs typeface="+mn-lt"/>
                <a:sym typeface="+mn-ea"/>
              </a:rPr>
              <a:t>的顾客。</a:t>
            </a:r>
            <a:endParaRPr lang="zh-CN" altLang="en-US" b="1">
              <a:solidFill>
                <a:srgbClr val="0000C8"/>
              </a:solidFill>
              <a:latin typeface="+mn-lt"/>
              <a:ea typeface="楷体" panose="02010609060101010101" charset="-122"/>
              <a:cs typeface="+mn-lt"/>
            </a:endParaRPr>
          </a:p>
          <a:p>
            <a:endParaRPr lang="zh-CN" altLang="en-US" b="1">
              <a:solidFill>
                <a:srgbClr val="0000C8"/>
              </a:solidFill>
              <a:latin typeface="+mn-lt"/>
              <a:ea typeface="楷体" panose="02010609060101010101" charset="-122"/>
              <a:cs typeface="+mn-lt"/>
            </a:endParaRPr>
          </a:p>
        </p:txBody>
      </p:sp>
      <p:grpSp>
        <p:nvGrpSpPr>
          <p:cNvPr id="8195" name="组合 9219"/>
          <p:cNvGrpSpPr/>
          <p:nvPr/>
        </p:nvGrpSpPr>
        <p:grpSpPr>
          <a:xfrm>
            <a:off x="1025525" y="2956560"/>
            <a:ext cx="6553200" cy="3109595"/>
            <a:chOff x="0" y="0"/>
            <a:chExt cx="4128" cy="2342"/>
          </a:xfrm>
        </p:grpSpPr>
        <p:sp>
          <p:nvSpPr>
            <p:cNvPr id="8196" name="矩形 9220"/>
            <p:cNvSpPr/>
            <p:nvPr/>
          </p:nvSpPr>
          <p:spPr>
            <a:xfrm>
              <a:off x="0" y="0"/>
              <a:ext cx="745" cy="390"/>
            </a:xfrm>
            <a:prstGeom prst="rect">
              <a:avLst/>
            </a:prstGeom>
            <a:solidFill>
              <a:srgbClr val="EAEAEA"/>
            </a:solidFill>
            <a:ln w="9525">
              <a:noFill/>
            </a:ln>
          </p:spPr>
          <p:txBody>
            <a:bodyPr anchor="ctr"/>
            <a:lstStyle/>
            <a:p>
              <a:pPr algn="ctr">
                <a:spcBef>
                  <a:spcPct val="20000"/>
                </a:spcBef>
                <a:buFont typeface="Wingdings" panose="05000000000000000000" pitchFamily="2" charset="2"/>
                <a:buNone/>
              </a:pPr>
              <a:r>
                <a:rPr lang="en-US" altLang="zh-CN" sz="2800" b="1" u="sng">
                  <a:solidFill>
                    <a:srgbClr val="FF0000"/>
                  </a:solidFill>
                  <a:latin typeface="Arial" panose="020B0604020202020204" pitchFamily="34" charset="0"/>
                  <a:ea typeface="宋体" panose="02010600030101010101" pitchFamily="2" charset="-122"/>
                  <a:cs typeface="Arial" panose="020B0604020202020204" pitchFamily="34" charset="0"/>
                </a:rPr>
                <a:t>cid</a:t>
              </a:r>
            </a:p>
          </p:txBody>
        </p:sp>
        <p:sp>
          <p:nvSpPr>
            <p:cNvPr id="8197" name="矩形 9221"/>
            <p:cNvSpPr/>
            <p:nvPr/>
          </p:nvSpPr>
          <p:spPr>
            <a:xfrm>
              <a:off x="745" y="0"/>
              <a:ext cx="1217" cy="390"/>
            </a:xfrm>
            <a:prstGeom prst="rect">
              <a:avLst/>
            </a:prstGeom>
            <a:solidFill>
              <a:srgbClr val="EAEAEA"/>
            </a:solidFill>
            <a:ln w="9525">
              <a:noFill/>
            </a:ln>
          </p:spPr>
          <p:txBody>
            <a:bodyPr anchor="ctr"/>
            <a:lstStyle/>
            <a:p>
              <a:pPr algn="ctr">
                <a:spcBef>
                  <a:spcPct val="20000"/>
                </a:spcBef>
                <a:buFont typeface="Wingdings" panose="05000000000000000000" pitchFamily="2" charset="2"/>
                <a:buNone/>
              </a:pPr>
              <a:r>
                <a:rPr lang="en-US" altLang="zh-CN" sz="2800" b="1">
                  <a:solidFill>
                    <a:srgbClr val="FF0000"/>
                  </a:solidFill>
                  <a:latin typeface="Arial" panose="020B0604020202020204" pitchFamily="34" charset="0"/>
                  <a:ea typeface="宋体" panose="02010600030101010101" pitchFamily="2" charset="-122"/>
                  <a:cs typeface="Arial" panose="020B0604020202020204" pitchFamily="34" charset="0"/>
                </a:rPr>
                <a:t>cname</a:t>
              </a:r>
            </a:p>
          </p:txBody>
        </p:sp>
        <p:sp>
          <p:nvSpPr>
            <p:cNvPr id="8198" name="矩形 9222"/>
            <p:cNvSpPr/>
            <p:nvPr/>
          </p:nvSpPr>
          <p:spPr>
            <a:xfrm>
              <a:off x="1962" y="0"/>
              <a:ext cx="1084" cy="390"/>
            </a:xfrm>
            <a:prstGeom prst="rect">
              <a:avLst/>
            </a:prstGeom>
            <a:solidFill>
              <a:srgbClr val="EAEAEA"/>
            </a:solidFill>
            <a:ln w="9525">
              <a:noFill/>
            </a:ln>
          </p:spPr>
          <p:txBody>
            <a:bodyPr anchor="ctr"/>
            <a:lstStyle/>
            <a:p>
              <a:pPr algn="ctr">
                <a:spcBef>
                  <a:spcPct val="20000"/>
                </a:spcBef>
                <a:buFont typeface="Wingdings" panose="05000000000000000000" pitchFamily="2" charset="2"/>
                <a:buNone/>
              </a:pPr>
              <a:r>
                <a:rPr lang="en-US" altLang="zh-CN" sz="2800" b="1">
                  <a:solidFill>
                    <a:srgbClr val="FF0000"/>
                  </a:solidFill>
                  <a:latin typeface="Arial" panose="020B0604020202020204" pitchFamily="34" charset="0"/>
                  <a:ea typeface="宋体" panose="02010600030101010101" pitchFamily="2" charset="-122"/>
                  <a:cs typeface="Arial" panose="020B0604020202020204" pitchFamily="34" charset="0"/>
                </a:rPr>
                <a:t>city</a:t>
              </a:r>
            </a:p>
          </p:txBody>
        </p:sp>
        <p:sp>
          <p:nvSpPr>
            <p:cNvPr id="8199" name="矩形 9223"/>
            <p:cNvSpPr/>
            <p:nvPr/>
          </p:nvSpPr>
          <p:spPr>
            <a:xfrm>
              <a:off x="3046" y="0"/>
              <a:ext cx="1082" cy="390"/>
            </a:xfrm>
            <a:prstGeom prst="rect">
              <a:avLst/>
            </a:prstGeom>
            <a:solidFill>
              <a:srgbClr val="EAEAEA"/>
            </a:solidFill>
            <a:ln w="9525">
              <a:noFill/>
            </a:ln>
          </p:spPr>
          <p:txBody>
            <a:bodyPr anchor="ctr"/>
            <a:lstStyle/>
            <a:p>
              <a:pPr algn="ctr">
                <a:spcBef>
                  <a:spcPct val="20000"/>
                </a:spcBef>
                <a:buFont typeface="Wingdings" panose="05000000000000000000" pitchFamily="2" charset="2"/>
                <a:buNone/>
              </a:pPr>
              <a:r>
                <a:rPr lang="en-US" altLang="zh-CN" sz="2800" b="1">
                  <a:solidFill>
                    <a:srgbClr val="FF0000"/>
                  </a:solidFill>
                  <a:latin typeface="Arial" panose="020B0604020202020204" pitchFamily="34" charset="0"/>
                  <a:ea typeface="宋体" panose="02010600030101010101" pitchFamily="2" charset="-122"/>
                  <a:cs typeface="Arial" panose="020B0604020202020204" pitchFamily="34" charset="0"/>
                </a:rPr>
                <a:t>discnt</a:t>
              </a:r>
            </a:p>
          </p:txBody>
        </p:sp>
        <p:sp>
          <p:nvSpPr>
            <p:cNvPr id="8200" name="矩形 9224"/>
            <p:cNvSpPr/>
            <p:nvPr/>
          </p:nvSpPr>
          <p:spPr>
            <a:xfrm>
              <a:off x="0" y="390"/>
              <a:ext cx="745"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c001</a:t>
              </a:r>
            </a:p>
          </p:txBody>
        </p:sp>
        <p:sp>
          <p:nvSpPr>
            <p:cNvPr id="8201" name="矩形 9225"/>
            <p:cNvSpPr/>
            <p:nvPr/>
          </p:nvSpPr>
          <p:spPr>
            <a:xfrm>
              <a:off x="745" y="390"/>
              <a:ext cx="1217"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TipTop</a:t>
              </a:r>
            </a:p>
          </p:txBody>
        </p:sp>
        <p:sp>
          <p:nvSpPr>
            <p:cNvPr id="8202" name="矩形 9226"/>
            <p:cNvSpPr/>
            <p:nvPr/>
          </p:nvSpPr>
          <p:spPr>
            <a:xfrm>
              <a:off x="1962" y="390"/>
              <a:ext cx="1084"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Duluth</a:t>
              </a:r>
            </a:p>
          </p:txBody>
        </p:sp>
        <p:sp>
          <p:nvSpPr>
            <p:cNvPr id="8203" name="矩形 9227"/>
            <p:cNvSpPr/>
            <p:nvPr/>
          </p:nvSpPr>
          <p:spPr>
            <a:xfrm>
              <a:off x="3046" y="390"/>
              <a:ext cx="1082"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10.00</a:t>
              </a:r>
            </a:p>
          </p:txBody>
        </p:sp>
        <p:sp>
          <p:nvSpPr>
            <p:cNvPr id="8204" name="矩形 9228"/>
            <p:cNvSpPr/>
            <p:nvPr/>
          </p:nvSpPr>
          <p:spPr>
            <a:xfrm>
              <a:off x="0" y="781"/>
              <a:ext cx="745"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c002</a:t>
              </a:r>
            </a:p>
          </p:txBody>
        </p:sp>
        <p:sp>
          <p:nvSpPr>
            <p:cNvPr id="8205" name="矩形 9229"/>
            <p:cNvSpPr/>
            <p:nvPr/>
          </p:nvSpPr>
          <p:spPr>
            <a:xfrm>
              <a:off x="745" y="781"/>
              <a:ext cx="1217"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Basics</a:t>
              </a:r>
            </a:p>
          </p:txBody>
        </p:sp>
        <p:sp>
          <p:nvSpPr>
            <p:cNvPr id="8206" name="矩形 9230"/>
            <p:cNvSpPr/>
            <p:nvPr/>
          </p:nvSpPr>
          <p:spPr>
            <a:xfrm>
              <a:off x="1962" y="781"/>
              <a:ext cx="1084"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Dallas</a:t>
              </a:r>
            </a:p>
          </p:txBody>
        </p:sp>
        <p:sp>
          <p:nvSpPr>
            <p:cNvPr id="8207" name="矩形 9231"/>
            <p:cNvSpPr/>
            <p:nvPr/>
          </p:nvSpPr>
          <p:spPr>
            <a:xfrm>
              <a:off x="3046" y="781"/>
              <a:ext cx="1082"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12.00</a:t>
              </a:r>
            </a:p>
          </p:txBody>
        </p:sp>
        <p:sp>
          <p:nvSpPr>
            <p:cNvPr id="8208" name="矩形 9232"/>
            <p:cNvSpPr/>
            <p:nvPr/>
          </p:nvSpPr>
          <p:spPr>
            <a:xfrm>
              <a:off x="0" y="1171"/>
              <a:ext cx="745"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c003</a:t>
              </a:r>
            </a:p>
          </p:txBody>
        </p:sp>
        <p:sp>
          <p:nvSpPr>
            <p:cNvPr id="8209" name="矩形 9233"/>
            <p:cNvSpPr/>
            <p:nvPr/>
          </p:nvSpPr>
          <p:spPr>
            <a:xfrm>
              <a:off x="745" y="1171"/>
              <a:ext cx="1217"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Allied</a:t>
              </a:r>
            </a:p>
          </p:txBody>
        </p:sp>
        <p:sp>
          <p:nvSpPr>
            <p:cNvPr id="8210" name="矩形 9234"/>
            <p:cNvSpPr/>
            <p:nvPr/>
          </p:nvSpPr>
          <p:spPr>
            <a:xfrm>
              <a:off x="1962" y="1171"/>
              <a:ext cx="1084"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Dallas</a:t>
              </a:r>
            </a:p>
          </p:txBody>
        </p:sp>
        <p:sp>
          <p:nvSpPr>
            <p:cNvPr id="8211" name="矩形 9235"/>
            <p:cNvSpPr/>
            <p:nvPr/>
          </p:nvSpPr>
          <p:spPr>
            <a:xfrm>
              <a:off x="3046" y="1171"/>
              <a:ext cx="1082"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8.00</a:t>
              </a:r>
            </a:p>
          </p:txBody>
        </p:sp>
        <p:sp>
          <p:nvSpPr>
            <p:cNvPr id="8212" name="矩形 9236"/>
            <p:cNvSpPr/>
            <p:nvPr/>
          </p:nvSpPr>
          <p:spPr>
            <a:xfrm>
              <a:off x="0" y="1561"/>
              <a:ext cx="745"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c004</a:t>
              </a:r>
            </a:p>
          </p:txBody>
        </p:sp>
        <p:sp>
          <p:nvSpPr>
            <p:cNvPr id="8213" name="矩形 9237"/>
            <p:cNvSpPr/>
            <p:nvPr/>
          </p:nvSpPr>
          <p:spPr>
            <a:xfrm>
              <a:off x="745" y="1561"/>
              <a:ext cx="1217"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ACME</a:t>
              </a:r>
            </a:p>
          </p:txBody>
        </p:sp>
        <p:sp>
          <p:nvSpPr>
            <p:cNvPr id="8214" name="矩形 9238"/>
            <p:cNvSpPr/>
            <p:nvPr/>
          </p:nvSpPr>
          <p:spPr>
            <a:xfrm>
              <a:off x="1962" y="1561"/>
              <a:ext cx="1084"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Duluth</a:t>
              </a:r>
            </a:p>
          </p:txBody>
        </p:sp>
        <p:sp>
          <p:nvSpPr>
            <p:cNvPr id="8215" name="矩形 9239"/>
            <p:cNvSpPr/>
            <p:nvPr/>
          </p:nvSpPr>
          <p:spPr>
            <a:xfrm>
              <a:off x="3046" y="1561"/>
              <a:ext cx="1082" cy="391"/>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8.00</a:t>
              </a:r>
            </a:p>
          </p:txBody>
        </p:sp>
        <p:sp>
          <p:nvSpPr>
            <p:cNvPr id="8216" name="矩形 9240"/>
            <p:cNvSpPr/>
            <p:nvPr/>
          </p:nvSpPr>
          <p:spPr>
            <a:xfrm>
              <a:off x="0" y="1952"/>
              <a:ext cx="745"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c006</a:t>
              </a:r>
            </a:p>
          </p:txBody>
        </p:sp>
        <p:sp>
          <p:nvSpPr>
            <p:cNvPr id="8217" name="矩形 9241"/>
            <p:cNvSpPr/>
            <p:nvPr/>
          </p:nvSpPr>
          <p:spPr>
            <a:xfrm>
              <a:off x="745" y="1952"/>
              <a:ext cx="1217"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ACME</a:t>
              </a:r>
            </a:p>
          </p:txBody>
        </p:sp>
        <p:sp>
          <p:nvSpPr>
            <p:cNvPr id="8218" name="矩形 9242"/>
            <p:cNvSpPr/>
            <p:nvPr/>
          </p:nvSpPr>
          <p:spPr>
            <a:xfrm>
              <a:off x="1962" y="1952"/>
              <a:ext cx="1084"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Kyoto</a:t>
              </a:r>
            </a:p>
          </p:txBody>
        </p:sp>
        <p:sp>
          <p:nvSpPr>
            <p:cNvPr id="8219" name="矩形 9243"/>
            <p:cNvSpPr/>
            <p:nvPr/>
          </p:nvSpPr>
          <p:spPr>
            <a:xfrm>
              <a:off x="3046" y="1952"/>
              <a:ext cx="1082" cy="390"/>
            </a:xfrm>
            <a:prstGeom prst="rect">
              <a:avLst/>
            </a:prstGeom>
            <a:noFill/>
            <a:ln w="9525">
              <a:noFill/>
            </a:ln>
          </p:spPr>
          <p:txBody>
            <a:bodyPr anchor="ctr"/>
            <a:lstStyle/>
            <a:p>
              <a:pPr algn="ctr">
                <a:spcBef>
                  <a:spcPct val="20000"/>
                </a:spcBef>
                <a:buFont typeface="Wingdings" panose="05000000000000000000" pitchFamily="2" charset="2"/>
                <a:buNone/>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0.00</a:t>
              </a:r>
            </a:p>
          </p:txBody>
        </p:sp>
        <p:sp>
          <p:nvSpPr>
            <p:cNvPr id="8220" name="直接连接符 9244"/>
            <p:cNvSpPr/>
            <p:nvPr/>
          </p:nvSpPr>
          <p:spPr>
            <a:xfrm>
              <a:off x="745" y="0"/>
              <a:ext cx="0" cy="2342"/>
            </a:xfrm>
            <a:prstGeom prst="line">
              <a:avLst/>
            </a:prstGeom>
            <a:ln w="12700" cap="flat" cmpd="sng">
              <a:solidFill>
                <a:schemeClr val="tx1"/>
              </a:solidFill>
              <a:prstDash val="solid"/>
              <a:round/>
              <a:headEnd type="none" w="med" len="med"/>
              <a:tailEnd type="none" w="med" len="med"/>
            </a:ln>
          </p:spPr>
        </p:sp>
        <p:sp>
          <p:nvSpPr>
            <p:cNvPr id="8221" name="直接连接符 9245"/>
            <p:cNvSpPr/>
            <p:nvPr/>
          </p:nvSpPr>
          <p:spPr>
            <a:xfrm>
              <a:off x="1962" y="0"/>
              <a:ext cx="0" cy="2342"/>
            </a:xfrm>
            <a:prstGeom prst="line">
              <a:avLst/>
            </a:prstGeom>
            <a:ln w="12700" cap="flat" cmpd="sng">
              <a:solidFill>
                <a:schemeClr val="tx1"/>
              </a:solidFill>
              <a:prstDash val="solid"/>
              <a:round/>
              <a:headEnd type="none" w="med" len="med"/>
              <a:tailEnd type="none" w="med" len="med"/>
            </a:ln>
          </p:spPr>
        </p:sp>
        <p:sp>
          <p:nvSpPr>
            <p:cNvPr id="8222" name="直接连接符 9246"/>
            <p:cNvSpPr/>
            <p:nvPr/>
          </p:nvSpPr>
          <p:spPr>
            <a:xfrm>
              <a:off x="3046" y="0"/>
              <a:ext cx="0" cy="2342"/>
            </a:xfrm>
            <a:prstGeom prst="line">
              <a:avLst/>
            </a:prstGeom>
            <a:ln w="12700" cap="flat" cmpd="sng">
              <a:solidFill>
                <a:schemeClr val="tx1"/>
              </a:solidFill>
              <a:prstDash val="solid"/>
              <a:round/>
              <a:headEnd type="none" w="med" len="med"/>
              <a:tailEnd type="none" w="med" len="med"/>
            </a:ln>
          </p:spPr>
        </p:sp>
        <p:sp>
          <p:nvSpPr>
            <p:cNvPr id="8223" name="直接连接符 9247"/>
            <p:cNvSpPr/>
            <p:nvPr/>
          </p:nvSpPr>
          <p:spPr>
            <a:xfrm>
              <a:off x="0" y="390"/>
              <a:ext cx="4128" cy="0"/>
            </a:xfrm>
            <a:prstGeom prst="line">
              <a:avLst/>
            </a:prstGeom>
            <a:ln w="12700" cap="flat" cmpd="sng">
              <a:solidFill>
                <a:schemeClr val="tx1"/>
              </a:solidFill>
              <a:prstDash val="solid"/>
              <a:round/>
              <a:headEnd type="none" w="med" len="med"/>
              <a:tailEnd type="none" w="med" len="med"/>
            </a:ln>
          </p:spPr>
        </p:sp>
        <p:sp>
          <p:nvSpPr>
            <p:cNvPr id="8224" name="直接连接符 9248"/>
            <p:cNvSpPr/>
            <p:nvPr/>
          </p:nvSpPr>
          <p:spPr>
            <a:xfrm>
              <a:off x="0" y="781"/>
              <a:ext cx="4128" cy="0"/>
            </a:xfrm>
            <a:prstGeom prst="line">
              <a:avLst/>
            </a:prstGeom>
            <a:ln w="12700" cap="flat" cmpd="sng">
              <a:solidFill>
                <a:schemeClr val="tx1"/>
              </a:solidFill>
              <a:prstDash val="solid"/>
              <a:round/>
              <a:headEnd type="none" w="med" len="med"/>
              <a:tailEnd type="none" w="med" len="med"/>
            </a:ln>
          </p:spPr>
        </p:sp>
        <p:sp>
          <p:nvSpPr>
            <p:cNvPr id="8225" name="直接连接符 9249"/>
            <p:cNvSpPr/>
            <p:nvPr/>
          </p:nvSpPr>
          <p:spPr>
            <a:xfrm>
              <a:off x="0" y="1171"/>
              <a:ext cx="4128" cy="0"/>
            </a:xfrm>
            <a:prstGeom prst="line">
              <a:avLst/>
            </a:prstGeom>
            <a:ln w="12700" cap="flat" cmpd="sng">
              <a:solidFill>
                <a:schemeClr val="tx1"/>
              </a:solidFill>
              <a:prstDash val="solid"/>
              <a:round/>
              <a:headEnd type="none" w="med" len="med"/>
              <a:tailEnd type="none" w="med" len="med"/>
            </a:ln>
          </p:spPr>
        </p:sp>
        <p:sp>
          <p:nvSpPr>
            <p:cNvPr id="8226" name="直接连接符 9250"/>
            <p:cNvSpPr/>
            <p:nvPr/>
          </p:nvSpPr>
          <p:spPr>
            <a:xfrm>
              <a:off x="0" y="1561"/>
              <a:ext cx="4128" cy="0"/>
            </a:xfrm>
            <a:prstGeom prst="line">
              <a:avLst/>
            </a:prstGeom>
            <a:ln w="12700" cap="flat" cmpd="sng">
              <a:solidFill>
                <a:schemeClr val="tx1"/>
              </a:solidFill>
              <a:prstDash val="solid"/>
              <a:round/>
              <a:headEnd type="none" w="med" len="med"/>
              <a:tailEnd type="none" w="med" len="med"/>
            </a:ln>
          </p:spPr>
        </p:sp>
        <p:sp>
          <p:nvSpPr>
            <p:cNvPr id="8227" name="直接连接符 9251"/>
            <p:cNvSpPr/>
            <p:nvPr/>
          </p:nvSpPr>
          <p:spPr>
            <a:xfrm>
              <a:off x="0" y="1952"/>
              <a:ext cx="4128" cy="0"/>
            </a:xfrm>
            <a:prstGeom prst="line">
              <a:avLst/>
            </a:prstGeom>
            <a:ln w="12700" cap="flat" cmpd="sng">
              <a:solidFill>
                <a:schemeClr val="tx1"/>
              </a:solidFill>
              <a:prstDash val="solid"/>
              <a:round/>
              <a:headEnd type="none" w="med" len="med"/>
              <a:tailEnd type="none" w="med" len="med"/>
            </a:ln>
          </p:spPr>
        </p:sp>
        <p:sp>
          <p:nvSpPr>
            <p:cNvPr id="8228" name="直接连接符 9252"/>
            <p:cNvSpPr/>
            <p:nvPr/>
          </p:nvSpPr>
          <p:spPr>
            <a:xfrm>
              <a:off x="0" y="0"/>
              <a:ext cx="0" cy="2342"/>
            </a:xfrm>
            <a:prstGeom prst="line">
              <a:avLst/>
            </a:prstGeom>
            <a:ln w="28575" cap="flat" cmpd="sng">
              <a:solidFill>
                <a:schemeClr val="tx1"/>
              </a:solidFill>
              <a:prstDash val="solid"/>
              <a:round/>
              <a:headEnd type="none" w="med" len="med"/>
              <a:tailEnd type="none" w="med" len="med"/>
            </a:ln>
          </p:spPr>
        </p:sp>
        <p:sp>
          <p:nvSpPr>
            <p:cNvPr id="8229" name="直接连接符 9253"/>
            <p:cNvSpPr/>
            <p:nvPr/>
          </p:nvSpPr>
          <p:spPr>
            <a:xfrm>
              <a:off x="4128" y="0"/>
              <a:ext cx="0" cy="2342"/>
            </a:xfrm>
            <a:prstGeom prst="line">
              <a:avLst/>
            </a:prstGeom>
            <a:ln w="28575" cap="flat" cmpd="sng">
              <a:solidFill>
                <a:schemeClr val="tx1"/>
              </a:solidFill>
              <a:prstDash val="solid"/>
              <a:round/>
              <a:headEnd type="none" w="med" len="med"/>
              <a:tailEnd type="none" w="med" len="med"/>
            </a:ln>
          </p:spPr>
        </p:sp>
        <p:sp>
          <p:nvSpPr>
            <p:cNvPr id="8230" name="直接连接符 9254"/>
            <p:cNvSpPr/>
            <p:nvPr/>
          </p:nvSpPr>
          <p:spPr>
            <a:xfrm>
              <a:off x="0" y="0"/>
              <a:ext cx="4128" cy="0"/>
            </a:xfrm>
            <a:prstGeom prst="line">
              <a:avLst/>
            </a:prstGeom>
            <a:ln w="28575" cap="flat" cmpd="sng">
              <a:solidFill>
                <a:schemeClr val="tx1"/>
              </a:solidFill>
              <a:prstDash val="solid"/>
              <a:round/>
              <a:headEnd type="none" w="med" len="med"/>
              <a:tailEnd type="none" w="med" len="med"/>
            </a:ln>
          </p:spPr>
        </p:sp>
        <p:sp>
          <p:nvSpPr>
            <p:cNvPr id="8231" name="直接连接符 9255"/>
            <p:cNvSpPr/>
            <p:nvPr/>
          </p:nvSpPr>
          <p:spPr>
            <a:xfrm>
              <a:off x="0" y="2342"/>
              <a:ext cx="4128" cy="0"/>
            </a:xfrm>
            <a:prstGeom prst="line">
              <a:avLst/>
            </a:prstGeom>
            <a:ln w="28575" cap="flat" cmpd="sng">
              <a:solidFill>
                <a:schemeClr val="tx1"/>
              </a:solidFill>
              <a:prstDash val="solid"/>
              <a:round/>
              <a:headEnd type="none" w="med" len="med"/>
              <a:tailEnd type="none" w="med" len="med"/>
            </a:ln>
          </p:spPr>
        </p:sp>
      </p:grpSp>
      <p:sp>
        <p:nvSpPr>
          <p:cNvPr id="8232" name="Text Box 40"/>
          <p:cNvSpPr txBox="1"/>
          <p:nvPr/>
        </p:nvSpPr>
        <p:spPr>
          <a:xfrm>
            <a:off x="1101725" y="2406968"/>
            <a:ext cx="2667000" cy="521970"/>
          </a:xfrm>
          <a:prstGeom prst="rect">
            <a:avLst/>
          </a:prstGeom>
          <a:noFill/>
          <a:ln w="9525">
            <a:noFill/>
          </a:ln>
        </p:spPr>
        <p:txBody>
          <a:bodyPr anchor="t">
            <a:noAutofit/>
          </a:bodyPr>
          <a:lstStyle/>
          <a:p>
            <a:pPr>
              <a:spcBef>
                <a:spcPct val="50000"/>
              </a:spcBef>
            </a:pPr>
            <a:r>
              <a:rPr lang="en-US" altLang="zh-CN" sz="2800" b="1">
                <a:latin typeface="Arial" panose="020B0604020202020204" pitchFamily="34" charset="0"/>
                <a:ea typeface="宋体" panose="02010600030101010101" pitchFamily="2" charset="-122"/>
              </a:rPr>
              <a:t>CUSTOMERS</a:t>
            </a:r>
          </a:p>
        </p:txBody>
      </p:sp>
      <p:graphicFrame>
        <p:nvGraphicFramePr>
          <p:cNvPr id="5" name="表格 4"/>
          <p:cNvGraphicFramePr/>
          <p:nvPr>
            <p:custDataLst>
              <p:tags r:id="rId1"/>
            </p:custDataLst>
          </p:nvPr>
        </p:nvGraphicFramePr>
        <p:xfrm>
          <a:off x="8508365" y="2956560"/>
          <a:ext cx="2766060" cy="2072640"/>
        </p:xfrm>
        <a:graphic>
          <a:graphicData uri="http://schemas.openxmlformats.org/drawingml/2006/table">
            <a:tbl>
              <a:tblPr firstRow="1" bandRow="1">
                <a:tableStyleId>{5C22544A-7EE6-4342-B048-85BDC9FD1C3A}</a:tableStyleId>
              </a:tblPr>
              <a:tblGrid>
                <a:gridCol w="1383030">
                  <a:extLst>
                    <a:ext uri="{9D8B030D-6E8A-4147-A177-3AD203B41FA5}">
                      <a16:colId xmlns:a16="http://schemas.microsoft.com/office/drawing/2014/main" val="20000"/>
                    </a:ext>
                  </a:extLst>
                </a:gridCol>
                <a:gridCol w="1383030">
                  <a:extLst>
                    <a:ext uri="{9D8B030D-6E8A-4147-A177-3AD203B41FA5}">
                      <a16:colId xmlns:a16="http://schemas.microsoft.com/office/drawing/2014/main" val="20001"/>
                    </a:ext>
                  </a:extLst>
                </a:gridCol>
              </a:tblGrid>
              <a:tr h="381000">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cid</a:t>
                      </a:r>
                    </a:p>
                  </a:txBody>
                  <a:tcPr anchor="ctr">
                    <a:lnL w="28575" cmpd="sng">
                      <a:solidFill>
                        <a:schemeClr val="tx1"/>
                      </a:solidFill>
                      <a:prstDash val="solid"/>
                    </a:lnL>
                    <a:lnR w="12700"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discnt</a:t>
                      </a:r>
                    </a:p>
                  </a:txBody>
                  <a:tcPr anchor="ctr">
                    <a:lnL w="12700" cmpd="sng">
                      <a:solidFill>
                        <a:schemeClr val="tx1"/>
                      </a:solidFill>
                      <a:prstDash val="solid"/>
                    </a:lnL>
                    <a:lnR w="28575"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extLst>
                  <a:ext uri="{0D108BD9-81ED-4DB2-BD59-A6C34878D82A}">
                    <a16:rowId xmlns:a16="http://schemas.microsoft.com/office/drawing/2014/main" val="10000"/>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2857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3"/>
                  </a:ext>
                </a:extLst>
              </a:tr>
            </a:tbl>
          </a:graphicData>
        </a:graphic>
      </p:graphicFrame>
      <p:sp>
        <p:nvSpPr>
          <p:cNvPr id="6" name="Text Box 40"/>
          <p:cNvSpPr txBox="1"/>
          <p:nvPr/>
        </p:nvSpPr>
        <p:spPr>
          <a:xfrm>
            <a:off x="8508365" y="2434590"/>
            <a:ext cx="2770505" cy="521970"/>
          </a:xfrm>
          <a:prstGeom prst="rect">
            <a:avLst/>
          </a:prstGeom>
          <a:noFill/>
          <a:ln w="9525">
            <a:noFill/>
          </a:ln>
        </p:spPr>
        <p:txBody>
          <a:bodyPr wrap="square" anchor="t">
            <a:noAutofit/>
          </a:bodyPr>
          <a:lstStyle/>
          <a:p>
            <a:pPr algn="ctr">
              <a:spcBef>
                <a:spcPct val="50000"/>
              </a:spcBef>
            </a:pPr>
            <a:r>
              <a:rPr lang="zh-CN" altLang="en-US" sz="2400" b="1">
                <a:solidFill>
                  <a:srgbClr val="0000C8"/>
                </a:solidFill>
                <a:latin typeface="Arial" panose="020B0604020202020204" pitchFamily="34" charset="0"/>
                <a:ea typeface="楷体" panose="02010609060101010101" charset="-122"/>
                <a:cs typeface="Arial" panose="020B0604020202020204" pitchFamily="34" charset="0"/>
              </a:rPr>
              <a:t>精简后的关系</a:t>
            </a:r>
            <a:r>
              <a:rPr lang="en-US" altLang="zh-CN" sz="2800" b="1">
                <a:solidFill>
                  <a:srgbClr val="0000C8"/>
                </a:solidFill>
                <a:latin typeface="Arial" panose="020B0604020202020204" pitchFamily="34" charset="0"/>
                <a:ea typeface="楷体" panose="02010609060101010101" charset="-122"/>
                <a:cs typeface="Arial" panose="020B0604020202020204" pitchFamily="34" charset="0"/>
              </a:rPr>
              <a:t> C</a:t>
            </a:r>
          </a:p>
        </p:txBody>
      </p:sp>
      <p:sp>
        <p:nvSpPr>
          <p:cNvPr id="7" name="灯片编号占位符 6"/>
          <p:cNvSpPr>
            <a:spLocks noGrp="1"/>
          </p:cNvSpPr>
          <p:nvPr>
            <p:ph type="sldNum" sz="quarter" idx="12"/>
          </p:nvPr>
        </p:nvSpPr>
        <p:spPr/>
        <p:txBody>
          <a:bodyPr/>
          <a:lstStyle/>
          <a:p>
            <a:fld id="{565CE74E-AB26-4998-AD42-012C4C1AD076}" type="slidenum">
              <a:rPr lang="zh-CN" altLang="en-US" smtClean="0"/>
              <a:t>79</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8</a:t>
            </a:r>
            <a:r>
              <a:rPr lang="zh-CN" altLang="en-US" dirty="0">
                <a:sym typeface="+mn-ea"/>
              </a:rPr>
              <a:t>）</a:t>
            </a:r>
            <a:endParaRPr lang="zh-CN" altLang="en-US"/>
          </a:p>
        </p:txBody>
      </p:sp>
      <p:grpSp>
        <p:nvGrpSpPr>
          <p:cNvPr id="9219" name="组合 10243"/>
          <p:cNvGrpSpPr/>
          <p:nvPr/>
        </p:nvGrpSpPr>
        <p:grpSpPr>
          <a:xfrm>
            <a:off x="837565" y="1028065"/>
            <a:ext cx="3065463" cy="2070100"/>
            <a:chOff x="-298" y="374"/>
            <a:chExt cx="1931" cy="1304"/>
          </a:xfrm>
        </p:grpSpPr>
        <p:sp>
          <p:nvSpPr>
            <p:cNvPr id="9220" name="Text Box 40"/>
            <p:cNvSpPr txBox="1"/>
            <p:nvPr/>
          </p:nvSpPr>
          <p:spPr>
            <a:xfrm>
              <a:off x="-298" y="374"/>
              <a:ext cx="298" cy="329"/>
            </a:xfrm>
            <a:prstGeom prst="rect">
              <a:avLst/>
            </a:prstGeom>
            <a:noFill/>
            <a:ln w="9525">
              <a:noFill/>
            </a:ln>
          </p:spPr>
          <p:txBody>
            <a:bodyPr wrap="square" anchor="t">
              <a:spAutoFit/>
            </a:bodyPr>
            <a:lstStyle/>
            <a:p>
              <a:pPr>
                <a:spcBef>
                  <a:spcPct val="50000"/>
                </a:spcBef>
              </a:pPr>
              <a:r>
                <a:rPr lang="en-US" altLang="zh-CN" sz="2800" b="1">
                  <a:latin typeface="Arial" panose="020B0604020202020204" pitchFamily="34" charset="0"/>
                  <a:ea typeface="宋体" panose="02010600030101010101" pitchFamily="2" charset="-122"/>
                </a:rPr>
                <a:t>C</a:t>
              </a:r>
            </a:p>
          </p:txBody>
        </p:sp>
        <p:grpSp>
          <p:nvGrpSpPr>
            <p:cNvPr id="9221" name="组合 10245"/>
            <p:cNvGrpSpPr/>
            <p:nvPr/>
          </p:nvGrpSpPr>
          <p:grpSpPr>
            <a:xfrm>
              <a:off x="0" y="374"/>
              <a:ext cx="1633" cy="1304"/>
              <a:chOff x="0" y="0"/>
              <a:chExt cx="1633" cy="1304"/>
            </a:xfrm>
          </p:grpSpPr>
          <p:sp>
            <p:nvSpPr>
              <p:cNvPr id="9222" name="矩形 10246"/>
              <p:cNvSpPr/>
              <p:nvPr/>
            </p:nvSpPr>
            <p:spPr>
              <a:xfrm>
                <a:off x="817" y="978"/>
                <a:ext cx="816" cy="326"/>
              </a:xfrm>
              <a:prstGeom prst="rect">
                <a:avLst/>
              </a:prstGeom>
              <a:solidFill>
                <a:schemeClr val="accent5">
                  <a:lumMod val="40000"/>
                  <a:lumOff val="60000"/>
                  <a:alpha val="50000"/>
                </a:schemeClr>
              </a:solid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8</a:t>
                </a:r>
              </a:p>
            </p:txBody>
          </p:sp>
          <p:sp>
            <p:nvSpPr>
              <p:cNvPr id="9223" name="矩形 10247"/>
              <p:cNvSpPr/>
              <p:nvPr/>
            </p:nvSpPr>
            <p:spPr>
              <a:xfrm>
                <a:off x="0" y="978"/>
                <a:ext cx="817" cy="326"/>
              </a:xfrm>
              <a:prstGeom prst="rect">
                <a:avLst/>
              </a:prstGeom>
              <a:solidFill>
                <a:schemeClr val="accent5">
                  <a:lumMod val="40000"/>
                  <a:lumOff val="60000"/>
                  <a:alpha val="50000"/>
                </a:schemeClr>
              </a:solid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c003</a:t>
                </a:r>
              </a:p>
            </p:txBody>
          </p:sp>
          <p:sp>
            <p:nvSpPr>
              <p:cNvPr id="9224" name="矩形 10248"/>
              <p:cNvSpPr/>
              <p:nvPr/>
            </p:nvSpPr>
            <p:spPr>
              <a:xfrm>
                <a:off x="817" y="652"/>
                <a:ext cx="816" cy="326"/>
              </a:xfrm>
              <a:prstGeom prst="rect">
                <a:avLst/>
              </a:prstGeom>
              <a:solidFill>
                <a:schemeClr val="accent6">
                  <a:lumMod val="40000"/>
                  <a:lumOff val="60000"/>
                  <a:alpha val="50000"/>
                </a:schemeClr>
              </a:solid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12</a:t>
                </a:r>
              </a:p>
            </p:txBody>
          </p:sp>
          <p:sp>
            <p:nvSpPr>
              <p:cNvPr id="9225" name="矩形 10249"/>
              <p:cNvSpPr/>
              <p:nvPr/>
            </p:nvSpPr>
            <p:spPr>
              <a:xfrm>
                <a:off x="0" y="652"/>
                <a:ext cx="817" cy="326"/>
              </a:xfrm>
              <a:prstGeom prst="rect">
                <a:avLst/>
              </a:prstGeom>
              <a:solidFill>
                <a:schemeClr val="accent6">
                  <a:lumMod val="40000"/>
                  <a:lumOff val="60000"/>
                  <a:alpha val="50000"/>
                </a:schemeClr>
              </a:solid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c002</a:t>
                </a:r>
              </a:p>
            </p:txBody>
          </p:sp>
          <p:sp>
            <p:nvSpPr>
              <p:cNvPr id="9226" name="矩形 10250"/>
              <p:cNvSpPr/>
              <p:nvPr/>
            </p:nvSpPr>
            <p:spPr>
              <a:xfrm>
                <a:off x="817" y="326"/>
                <a:ext cx="816" cy="326"/>
              </a:xfrm>
              <a:prstGeom prst="rect">
                <a:avLst/>
              </a:prstGeom>
              <a:solidFill>
                <a:schemeClr val="accent3">
                  <a:lumMod val="40000"/>
                  <a:lumOff val="60000"/>
                  <a:alpha val="50000"/>
                </a:schemeClr>
              </a:solid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10</a:t>
                </a:r>
              </a:p>
            </p:txBody>
          </p:sp>
          <p:sp>
            <p:nvSpPr>
              <p:cNvPr id="9227" name="矩形 10251"/>
              <p:cNvSpPr/>
              <p:nvPr/>
            </p:nvSpPr>
            <p:spPr>
              <a:xfrm>
                <a:off x="0" y="326"/>
                <a:ext cx="817" cy="326"/>
              </a:xfrm>
              <a:prstGeom prst="rect">
                <a:avLst/>
              </a:prstGeom>
              <a:solidFill>
                <a:schemeClr val="accent3">
                  <a:lumMod val="40000"/>
                  <a:lumOff val="60000"/>
                  <a:alpha val="50000"/>
                </a:schemeClr>
              </a:solid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c001</a:t>
                </a:r>
              </a:p>
            </p:txBody>
          </p:sp>
          <p:sp>
            <p:nvSpPr>
              <p:cNvPr id="9228" name="矩形 10252"/>
              <p:cNvSpPr/>
              <p:nvPr/>
            </p:nvSpPr>
            <p:spPr>
              <a:xfrm>
                <a:off x="817" y="0"/>
                <a:ext cx="816" cy="326"/>
              </a:xfrm>
              <a:prstGeom prst="rect">
                <a:avLst/>
              </a:prstGeom>
              <a:solidFill>
                <a:srgbClr val="DDDDDD"/>
              </a:solidFill>
              <a:ln w="9525">
                <a:noFill/>
              </a:ln>
            </p:spPr>
            <p:txBody>
              <a:bodyPr anchor="t"/>
              <a:lstStyle/>
              <a:p>
                <a:pPr algn="ctr">
                  <a:spcBef>
                    <a:spcPct val="20000"/>
                  </a:spcBef>
                </a:pPr>
                <a:r>
                  <a:rPr lang="en-US" altLang="zh-CN" sz="2800" b="1">
                    <a:solidFill>
                      <a:srgbClr val="FF0000"/>
                    </a:solidFill>
                    <a:latin typeface="Calibri" panose="020F0502020204030204" charset="0"/>
                    <a:ea typeface="宋体" panose="02010600030101010101" pitchFamily="2" charset="-122"/>
                    <a:cs typeface="Calibri" panose="020F0502020204030204" charset="0"/>
                  </a:rPr>
                  <a:t>discnt</a:t>
                </a:r>
              </a:p>
            </p:txBody>
          </p:sp>
          <p:sp>
            <p:nvSpPr>
              <p:cNvPr id="9229" name="矩形 10253"/>
              <p:cNvSpPr/>
              <p:nvPr/>
            </p:nvSpPr>
            <p:spPr>
              <a:xfrm>
                <a:off x="0" y="0"/>
                <a:ext cx="817" cy="326"/>
              </a:xfrm>
              <a:prstGeom prst="rect">
                <a:avLst/>
              </a:prstGeom>
              <a:solidFill>
                <a:srgbClr val="DDDDDD"/>
              </a:solidFill>
              <a:ln w="9525">
                <a:noFill/>
              </a:ln>
            </p:spPr>
            <p:txBody>
              <a:bodyPr anchor="t"/>
              <a:lstStyle/>
              <a:p>
                <a:pPr algn="ctr">
                  <a:spcBef>
                    <a:spcPct val="20000"/>
                  </a:spcBef>
                </a:pPr>
                <a:r>
                  <a:rPr lang="en-US" altLang="zh-CN" sz="2800" b="1">
                    <a:solidFill>
                      <a:srgbClr val="FF0000"/>
                    </a:solidFill>
                    <a:latin typeface="Calibri" panose="020F0502020204030204" charset="0"/>
                    <a:ea typeface="宋体" panose="02010600030101010101" pitchFamily="2" charset="-122"/>
                    <a:cs typeface="Calibri" panose="020F0502020204030204" charset="0"/>
                  </a:rPr>
                  <a:t>cid</a:t>
                </a:r>
              </a:p>
            </p:txBody>
          </p:sp>
          <p:sp>
            <p:nvSpPr>
              <p:cNvPr id="9230" name="直接连接符 10254"/>
              <p:cNvSpPr/>
              <p:nvPr/>
            </p:nvSpPr>
            <p:spPr>
              <a:xfrm>
                <a:off x="0" y="0"/>
                <a:ext cx="1633" cy="0"/>
              </a:xfrm>
              <a:prstGeom prst="line">
                <a:avLst/>
              </a:prstGeom>
              <a:ln w="28575" cap="sq" cmpd="sng">
                <a:solidFill>
                  <a:schemeClr val="tx1"/>
                </a:solidFill>
                <a:prstDash val="solid"/>
                <a:round/>
                <a:headEnd type="none" w="med" len="med"/>
                <a:tailEnd type="none" w="med" len="med"/>
              </a:ln>
            </p:spPr>
          </p:sp>
          <p:sp>
            <p:nvSpPr>
              <p:cNvPr id="9231" name="直接连接符 10255"/>
              <p:cNvSpPr/>
              <p:nvPr/>
            </p:nvSpPr>
            <p:spPr>
              <a:xfrm>
                <a:off x="0" y="326"/>
                <a:ext cx="1633" cy="0"/>
              </a:xfrm>
              <a:prstGeom prst="line">
                <a:avLst/>
              </a:prstGeom>
              <a:ln w="12700" cap="flat" cmpd="sng">
                <a:solidFill>
                  <a:schemeClr val="tx1"/>
                </a:solidFill>
                <a:prstDash val="solid"/>
                <a:round/>
                <a:headEnd type="none" w="med" len="med"/>
                <a:tailEnd type="none" w="med" len="med"/>
              </a:ln>
            </p:spPr>
          </p:sp>
          <p:sp>
            <p:nvSpPr>
              <p:cNvPr id="9232" name="直接连接符 10256"/>
              <p:cNvSpPr/>
              <p:nvPr/>
            </p:nvSpPr>
            <p:spPr>
              <a:xfrm>
                <a:off x="0" y="652"/>
                <a:ext cx="1633" cy="0"/>
              </a:xfrm>
              <a:prstGeom prst="line">
                <a:avLst/>
              </a:prstGeom>
              <a:ln w="12700" cap="flat" cmpd="sng">
                <a:solidFill>
                  <a:schemeClr val="tx1"/>
                </a:solidFill>
                <a:prstDash val="solid"/>
                <a:round/>
                <a:headEnd type="none" w="med" len="med"/>
                <a:tailEnd type="none" w="med" len="med"/>
              </a:ln>
            </p:spPr>
          </p:sp>
          <p:sp>
            <p:nvSpPr>
              <p:cNvPr id="9233" name="直接连接符 10257"/>
              <p:cNvSpPr/>
              <p:nvPr/>
            </p:nvSpPr>
            <p:spPr>
              <a:xfrm>
                <a:off x="0" y="978"/>
                <a:ext cx="1633" cy="0"/>
              </a:xfrm>
              <a:prstGeom prst="line">
                <a:avLst/>
              </a:prstGeom>
              <a:ln w="12700" cap="flat" cmpd="sng">
                <a:solidFill>
                  <a:schemeClr val="tx1"/>
                </a:solidFill>
                <a:prstDash val="solid"/>
                <a:round/>
                <a:headEnd type="none" w="med" len="med"/>
                <a:tailEnd type="none" w="med" len="med"/>
              </a:ln>
            </p:spPr>
          </p:sp>
          <p:sp>
            <p:nvSpPr>
              <p:cNvPr id="9234" name="直接连接符 10258"/>
              <p:cNvSpPr/>
              <p:nvPr/>
            </p:nvSpPr>
            <p:spPr>
              <a:xfrm>
                <a:off x="0" y="1304"/>
                <a:ext cx="1633" cy="0"/>
              </a:xfrm>
              <a:prstGeom prst="line">
                <a:avLst/>
              </a:prstGeom>
              <a:ln w="28575" cap="sq" cmpd="sng">
                <a:solidFill>
                  <a:schemeClr val="tx1"/>
                </a:solidFill>
                <a:prstDash val="solid"/>
                <a:round/>
                <a:headEnd type="none" w="med" len="med"/>
                <a:tailEnd type="none" w="med" len="med"/>
              </a:ln>
            </p:spPr>
          </p:sp>
          <p:sp>
            <p:nvSpPr>
              <p:cNvPr id="9235" name="直接连接符 10259"/>
              <p:cNvSpPr/>
              <p:nvPr/>
            </p:nvSpPr>
            <p:spPr>
              <a:xfrm>
                <a:off x="0" y="0"/>
                <a:ext cx="0" cy="1304"/>
              </a:xfrm>
              <a:prstGeom prst="line">
                <a:avLst/>
              </a:prstGeom>
              <a:ln w="28575" cap="sq" cmpd="sng">
                <a:solidFill>
                  <a:schemeClr val="tx1"/>
                </a:solidFill>
                <a:prstDash val="solid"/>
                <a:round/>
                <a:headEnd type="none" w="med" len="med"/>
                <a:tailEnd type="none" w="med" len="med"/>
              </a:ln>
            </p:spPr>
          </p:sp>
          <p:sp>
            <p:nvSpPr>
              <p:cNvPr id="9236" name="直接连接符 10260"/>
              <p:cNvSpPr/>
              <p:nvPr/>
            </p:nvSpPr>
            <p:spPr>
              <a:xfrm>
                <a:off x="817" y="0"/>
                <a:ext cx="0" cy="1304"/>
              </a:xfrm>
              <a:prstGeom prst="line">
                <a:avLst/>
              </a:prstGeom>
              <a:ln w="12700" cap="flat" cmpd="sng">
                <a:solidFill>
                  <a:schemeClr val="tx1"/>
                </a:solidFill>
                <a:prstDash val="solid"/>
                <a:round/>
                <a:headEnd type="none" w="med" len="med"/>
                <a:tailEnd type="none" w="med" len="med"/>
              </a:ln>
            </p:spPr>
          </p:sp>
          <p:sp>
            <p:nvSpPr>
              <p:cNvPr id="9237" name="直接连接符 10261"/>
              <p:cNvSpPr/>
              <p:nvPr/>
            </p:nvSpPr>
            <p:spPr>
              <a:xfrm>
                <a:off x="1633" y="0"/>
                <a:ext cx="0" cy="1304"/>
              </a:xfrm>
              <a:prstGeom prst="line">
                <a:avLst/>
              </a:prstGeom>
              <a:ln w="28575" cap="sq" cmpd="sng">
                <a:solidFill>
                  <a:schemeClr val="tx1"/>
                </a:solidFill>
                <a:prstDash val="solid"/>
                <a:round/>
                <a:headEnd type="none" w="med" len="med"/>
                <a:tailEnd type="none" w="med" len="med"/>
              </a:ln>
            </p:spPr>
          </p:sp>
        </p:grpSp>
      </p:grpSp>
      <p:grpSp>
        <p:nvGrpSpPr>
          <p:cNvPr id="9238" name="组合 10262"/>
          <p:cNvGrpSpPr/>
          <p:nvPr/>
        </p:nvGrpSpPr>
        <p:grpSpPr>
          <a:xfrm>
            <a:off x="837565" y="3961130"/>
            <a:ext cx="3065463" cy="2070100"/>
            <a:chOff x="-298" y="374"/>
            <a:chExt cx="1931" cy="1304"/>
          </a:xfrm>
        </p:grpSpPr>
        <p:sp>
          <p:nvSpPr>
            <p:cNvPr id="9239" name="Text Box 40"/>
            <p:cNvSpPr txBox="1"/>
            <p:nvPr/>
          </p:nvSpPr>
          <p:spPr>
            <a:xfrm>
              <a:off x="-298" y="380"/>
              <a:ext cx="298" cy="329"/>
            </a:xfrm>
            <a:prstGeom prst="rect">
              <a:avLst/>
            </a:prstGeom>
            <a:noFill/>
            <a:ln w="9525">
              <a:noFill/>
            </a:ln>
          </p:spPr>
          <p:txBody>
            <a:bodyPr wrap="square" anchor="t">
              <a:spAutoFit/>
            </a:bodyPr>
            <a:lstStyle/>
            <a:p>
              <a:pPr>
                <a:spcBef>
                  <a:spcPct val="50000"/>
                </a:spcBef>
              </a:pPr>
              <a:r>
                <a:rPr lang="en-US" altLang="zh-CN" sz="2800" b="1">
                  <a:latin typeface="Arial" panose="020B0604020202020204" pitchFamily="34" charset="0"/>
                  <a:ea typeface="宋体" panose="02010600030101010101" pitchFamily="2" charset="-122"/>
                </a:rPr>
                <a:t>S</a:t>
              </a:r>
            </a:p>
          </p:txBody>
        </p:sp>
        <p:grpSp>
          <p:nvGrpSpPr>
            <p:cNvPr id="9240" name="组合 10264"/>
            <p:cNvGrpSpPr/>
            <p:nvPr/>
          </p:nvGrpSpPr>
          <p:grpSpPr>
            <a:xfrm>
              <a:off x="0" y="374"/>
              <a:ext cx="1633" cy="1304"/>
              <a:chOff x="0" y="0"/>
              <a:chExt cx="1633" cy="1304"/>
            </a:xfrm>
          </p:grpSpPr>
          <p:sp>
            <p:nvSpPr>
              <p:cNvPr id="9241" name="矩形 10265"/>
              <p:cNvSpPr/>
              <p:nvPr/>
            </p:nvSpPr>
            <p:spPr>
              <a:xfrm>
                <a:off x="817" y="978"/>
                <a:ext cx="816" cy="326"/>
              </a:xfrm>
              <a:prstGeom prst="rect">
                <a:avLst/>
              </a:prstGeom>
              <a:no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8</a:t>
                </a:r>
              </a:p>
            </p:txBody>
          </p:sp>
          <p:sp>
            <p:nvSpPr>
              <p:cNvPr id="9242" name="矩形 10266"/>
              <p:cNvSpPr/>
              <p:nvPr/>
            </p:nvSpPr>
            <p:spPr>
              <a:xfrm>
                <a:off x="0" y="978"/>
                <a:ext cx="817" cy="326"/>
              </a:xfrm>
              <a:prstGeom prst="rect">
                <a:avLst/>
              </a:prstGeom>
              <a:no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c003</a:t>
                </a:r>
              </a:p>
            </p:txBody>
          </p:sp>
          <p:sp>
            <p:nvSpPr>
              <p:cNvPr id="9243" name="矩形 10267"/>
              <p:cNvSpPr/>
              <p:nvPr/>
            </p:nvSpPr>
            <p:spPr>
              <a:xfrm>
                <a:off x="817" y="652"/>
                <a:ext cx="816" cy="326"/>
              </a:xfrm>
              <a:prstGeom prst="rect">
                <a:avLst/>
              </a:prstGeom>
              <a:no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12</a:t>
                </a:r>
              </a:p>
            </p:txBody>
          </p:sp>
          <p:sp>
            <p:nvSpPr>
              <p:cNvPr id="9244" name="矩形 10268"/>
              <p:cNvSpPr/>
              <p:nvPr/>
            </p:nvSpPr>
            <p:spPr>
              <a:xfrm>
                <a:off x="0" y="652"/>
                <a:ext cx="817" cy="326"/>
              </a:xfrm>
              <a:prstGeom prst="rect">
                <a:avLst/>
              </a:prstGeom>
              <a:no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c002</a:t>
                </a:r>
              </a:p>
            </p:txBody>
          </p:sp>
          <p:sp>
            <p:nvSpPr>
              <p:cNvPr id="9245" name="矩形 10269"/>
              <p:cNvSpPr/>
              <p:nvPr/>
            </p:nvSpPr>
            <p:spPr>
              <a:xfrm>
                <a:off x="817" y="326"/>
                <a:ext cx="816" cy="326"/>
              </a:xfrm>
              <a:prstGeom prst="rect">
                <a:avLst/>
              </a:prstGeom>
              <a:no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10</a:t>
                </a:r>
              </a:p>
            </p:txBody>
          </p:sp>
          <p:sp>
            <p:nvSpPr>
              <p:cNvPr id="9246" name="矩形 10270"/>
              <p:cNvSpPr/>
              <p:nvPr/>
            </p:nvSpPr>
            <p:spPr>
              <a:xfrm>
                <a:off x="0" y="326"/>
                <a:ext cx="817" cy="326"/>
              </a:xfrm>
              <a:prstGeom prst="rect">
                <a:avLst/>
              </a:prstGeom>
              <a:noFill/>
              <a:ln w="9525">
                <a:noFill/>
              </a:ln>
            </p:spPr>
            <p:txBody>
              <a:bodyPr anchor="t"/>
              <a:lstStyle/>
              <a:p>
                <a:pPr algn="ctr">
                  <a:spcBef>
                    <a:spcPct val="20000"/>
                  </a:spcBef>
                </a:pPr>
                <a:r>
                  <a:rPr lang="en-US" altLang="zh-CN" sz="2800" b="1" i="1">
                    <a:solidFill>
                      <a:srgbClr val="0000C8"/>
                    </a:solidFill>
                    <a:latin typeface="Times New Roman" panose="02020603050405020304" charset="0"/>
                    <a:ea typeface="宋体" panose="02010600030101010101" pitchFamily="2" charset="-122"/>
                    <a:cs typeface="Times New Roman" panose="02020603050405020304" charset="0"/>
                  </a:rPr>
                  <a:t>c001</a:t>
                </a:r>
              </a:p>
            </p:txBody>
          </p:sp>
          <p:sp>
            <p:nvSpPr>
              <p:cNvPr id="9247" name="矩形 10271"/>
              <p:cNvSpPr/>
              <p:nvPr/>
            </p:nvSpPr>
            <p:spPr>
              <a:xfrm>
                <a:off x="817" y="0"/>
                <a:ext cx="816" cy="326"/>
              </a:xfrm>
              <a:prstGeom prst="rect">
                <a:avLst/>
              </a:prstGeom>
              <a:solidFill>
                <a:srgbClr val="DDDDDD"/>
              </a:solidFill>
              <a:ln w="9525">
                <a:noFill/>
              </a:ln>
            </p:spPr>
            <p:txBody>
              <a:bodyPr anchor="t"/>
              <a:lstStyle/>
              <a:p>
                <a:pPr algn="ctr">
                  <a:spcBef>
                    <a:spcPct val="20000"/>
                  </a:spcBef>
                </a:pPr>
                <a:r>
                  <a:rPr lang="en-US" altLang="zh-CN" sz="2800" b="1">
                    <a:solidFill>
                      <a:srgbClr val="FF0000"/>
                    </a:solidFill>
                    <a:latin typeface="Calibri" panose="020F0502020204030204" charset="0"/>
                    <a:ea typeface="宋体" panose="02010600030101010101" pitchFamily="2" charset="-122"/>
                    <a:cs typeface="Calibri" panose="020F0502020204030204" charset="0"/>
                  </a:rPr>
                  <a:t>discnt</a:t>
                </a:r>
              </a:p>
            </p:txBody>
          </p:sp>
          <p:sp>
            <p:nvSpPr>
              <p:cNvPr id="9248" name="矩形 10272"/>
              <p:cNvSpPr/>
              <p:nvPr/>
            </p:nvSpPr>
            <p:spPr>
              <a:xfrm>
                <a:off x="0" y="0"/>
                <a:ext cx="817" cy="326"/>
              </a:xfrm>
              <a:prstGeom prst="rect">
                <a:avLst/>
              </a:prstGeom>
              <a:solidFill>
                <a:srgbClr val="DDDDDD"/>
              </a:solidFill>
              <a:ln w="9525">
                <a:noFill/>
              </a:ln>
            </p:spPr>
            <p:txBody>
              <a:bodyPr anchor="t"/>
              <a:lstStyle/>
              <a:p>
                <a:pPr algn="ctr">
                  <a:spcBef>
                    <a:spcPct val="20000"/>
                  </a:spcBef>
                </a:pPr>
                <a:r>
                  <a:rPr lang="en-US" altLang="zh-CN" sz="2800" b="1">
                    <a:solidFill>
                      <a:srgbClr val="FF0000"/>
                    </a:solidFill>
                    <a:latin typeface="Calibri" panose="020F0502020204030204" charset="0"/>
                    <a:ea typeface="宋体" panose="02010600030101010101" pitchFamily="2" charset="-122"/>
                    <a:cs typeface="Calibri" panose="020F0502020204030204" charset="0"/>
                  </a:rPr>
                  <a:t>cid</a:t>
                </a:r>
              </a:p>
            </p:txBody>
          </p:sp>
          <p:sp>
            <p:nvSpPr>
              <p:cNvPr id="9249" name="直接连接符 10273"/>
              <p:cNvSpPr/>
              <p:nvPr/>
            </p:nvSpPr>
            <p:spPr>
              <a:xfrm>
                <a:off x="0" y="0"/>
                <a:ext cx="1633" cy="0"/>
              </a:xfrm>
              <a:prstGeom prst="line">
                <a:avLst/>
              </a:prstGeom>
              <a:ln w="28575" cap="sq" cmpd="sng">
                <a:solidFill>
                  <a:schemeClr val="tx1"/>
                </a:solidFill>
                <a:prstDash val="solid"/>
                <a:round/>
                <a:headEnd type="none" w="med" len="med"/>
                <a:tailEnd type="none" w="med" len="med"/>
              </a:ln>
            </p:spPr>
          </p:sp>
          <p:sp>
            <p:nvSpPr>
              <p:cNvPr id="9250" name="直接连接符 10274"/>
              <p:cNvSpPr/>
              <p:nvPr/>
            </p:nvSpPr>
            <p:spPr>
              <a:xfrm>
                <a:off x="0" y="326"/>
                <a:ext cx="1633" cy="0"/>
              </a:xfrm>
              <a:prstGeom prst="line">
                <a:avLst/>
              </a:prstGeom>
              <a:ln w="12700" cap="flat" cmpd="sng">
                <a:solidFill>
                  <a:schemeClr val="tx1"/>
                </a:solidFill>
                <a:prstDash val="solid"/>
                <a:round/>
                <a:headEnd type="none" w="med" len="med"/>
                <a:tailEnd type="none" w="med" len="med"/>
              </a:ln>
            </p:spPr>
          </p:sp>
          <p:sp>
            <p:nvSpPr>
              <p:cNvPr id="9251" name="直接连接符 10275"/>
              <p:cNvSpPr/>
              <p:nvPr/>
            </p:nvSpPr>
            <p:spPr>
              <a:xfrm>
                <a:off x="0" y="652"/>
                <a:ext cx="1633" cy="0"/>
              </a:xfrm>
              <a:prstGeom prst="line">
                <a:avLst/>
              </a:prstGeom>
              <a:ln w="12700" cap="flat" cmpd="sng">
                <a:solidFill>
                  <a:schemeClr val="tx1"/>
                </a:solidFill>
                <a:prstDash val="solid"/>
                <a:round/>
                <a:headEnd type="none" w="med" len="med"/>
                <a:tailEnd type="none" w="med" len="med"/>
              </a:ln>
            </p:spPr>
          </p:sp>
          <p:sp>
            <p:nvSpPr>
              <p:cNvPr id="9252" name="直接连接符 10276"/>
              <p:cNvSpPr/>
              <p:nvPr/>
            </p:nvSpPr>
            <p:spPr>
              <a:xfrm>
                <a:off x="0" y="978"/>
                <a:ext cx="1633" cy="0"/>
              </a:xfrm>
              <a:prstGeom prst="line">
                <a:avLst/>
              </a:prstGeom>
              <a:ln w="12700" cap="flat" cmpd="sng">
                <a:solidFill>
                  <a:schemeClr val="tx1"/>
                </a:solidFill>
                <a:prstDash val="solid"/>
                <a:round/>
                <a:headEnd type="none" w="med" len="med"/>
                <a:tailEnd type="none" w="med" len="med"/>
              </a:ln>
            </p:spPr>
          </p:sp>
          <p:sp>
            <p:nvSpPr>
              <p:cNvPr id="9253" name="直接连接符 10277"/>
              <p:cNvSpPr/>
              <p:nvPr/>
            </p:nvSpPr>
            <p:spPr>
              <a:xfrm>
                <a:off x="0" y="1304"/>
                <a:ext cx="1633" cy="0"/>
              </a:xfrm>
              <a:prstGeom prst="line">
                <a:avLst/>
              </a:prstGeom>
              <a:ln w="28575" cap="sq" cmpd="sng">
                <a:solidFill>
                  <a:schemeClr val="tx1"/>
                </a:solidFill>
                <a:prstDash val="solid"/>
                <a:round/>
                <a:headEnd type="none" w="med" len="med"/>
                <a:tailEnd type="none" w="med" len="med"/>
              </a:ln>
            </p:spPr>
          </p:sp>
          <p:sp>
            <p:nvSpPr>
              <p:cNvPr id="9254" name="直接连接符 10278"/>
              <p:cNvSpPr/>
              <p:nvPr/>
            </p:nvSpPr>
            <p:spPr>
              <a:xfrm>
                <a:off x="0" y="0"/>
                <a:ext cx="0" cy="1304"/>
              </a:xfrm>
              <a:prstGeom prst="line">
                <a:avLst/>
              </a:prstGeom>
              <a:ln w="28575" cap="sq" cmpd="sng">
                <a:solidFill>
                  <a:schemeClr val="tx1"/>
                </a:solidFill>
                <a:prstDash val="solid"/>
                <a:round/>
                <a:headEnd type="none" w="med" len="med"/>
                <a:tailEnd type="none" w="med" len="med"/>
              </a:ln>
            </p:spPr>
          </p:sp>
          <p:sp>
            <p:nvSpPr>
              <p:cNvPr id="9255" name="直接连接符 10279"/>
              <p:cNvSpPr/>
              <p:nvPr/>
            </p:nvSpPr>
            <p:spPr>
              <a:xfrm>
                <a:off x="817" y="0"/>
                <a:ext cx="0" cy="1304"/>
              </a:xfrm>
              <a:prstGeom prst="line">
                <a:avLst/>
              </a:prstGeom>
              <a:ln w="12700" cap="flat" cmpd="sng">
                <a:solidFill>
                  <a:schemeClr val="tx1"/>
                </a:solidFill>
                <a:prstDash val="solid"/>
                <a:round/>
                <a:headEnd type="none" w="med" len="med"/>
                <a:tailEnd type="none" w="med" len="med"/>
              </a:ln>
            </p:spPr>
          </p:sp>
          <p:sp>
            <p:nvSpPr>
              <p:cNvPr id="9256" name="直接连接符 10280"/>
              <p:cNvSpPr/>
              <p:nvPr/>
            </p:nvSpPr>
            <p:spPr>
              <a:xfrm>
                <a:off x="1633" y="0"/>
                <a:ext cx="0" cy="1304"/>
              </a:xfrm>
              <a:prstGeom prst="line">
                <a:avLst/>
              </a:prstGeom>
              <a:ln w="28575" cap="sq" cmpd="sng">
                <a:solidFill>
                  <a:schemeClr val="tx1"/>
                </a:solidFill>
                <a:prstDash val="solid"/>
                <a:round/>
                <a:headEnd type="none" w="med" len="med"/>
                <a:tailEnd type="none" w="med" len="med"/>
              </a:ln>
            </p:spPr>
          </p:sp>
        </p:grpSp>
      </p:grpSp>
      <p:graphicFrame>
        <p:nvGraphicFramePr>
          <p:cNvPr id="9" name="表格 8"/>
          <p:cNvGraphicFramePr/>
          <p:nvPr>
            <p:custDataLst>
              <p:tags r:id="rId1"/>
            </p:custDataLst>
          </p:nvPr>
        </p:nvGraphicFramePr>
        <p:xfrm>
          <a:off x="4914900" y="1028065"/>
          <a:ext cx="6459220" cy="5003800"/>
        </p:xfrm>
        <a:graphic>
          <a:graphicData uri="http://schemas.openxmlformats.org/drawingml/2006/table">
            <a:tbl>
              <a:tblPr firstRow="1" bandRow="1">
                <a:tableStyleId>{5C22544A-7EE6-4342-B048-85BDC9FD1C3A}</a:tableStyleId>
              </a:tblPr>
              <a:tblGrid>
                <a:gridCol w="1614805">
                  <a:extLst>
                    <a:ext uri="{9D8B030D-6E8A-4147-A177-3AD203B41FA5}">
                      <a16:colId xmlns:a16="http://schemas.microsoft.com/office/drawing/2014/main" val="20000"/>
                    </a:ext>
                  </a:extLst>
                </a:gridCol>
                <a:gridCol w="1614805">
                  <a:extLst>
                    <a:ext uri="{9D8B030D-6E8A-4147-A177-3AD203B41FA5}">
                      <a16:colId xmlns:a16="http://schemas.microsoft.com/office/drawing/2014/main" val="20001"/>
                    </a:ext>
                  </a:extLst>
                </a:gridCol>
                <a:gridCol w="1614805">
                  <a:extLst>
                    <a:ext uri="{9D8B030D-6E8A-4147-A177-3AD203B41FA5}">
                      <a16:colId xmlns:a16="http://schemas.microsoft.com/office/drawing/2014/main" val="20002"/>
                    </a:ext>
                  </a:extLst>
                </a:gridCol>
                <a:gridCol w="1614805">
                  <a:extLst>
                    <a:ext uri="{9D8B030D-6E8A-4147-A177-3AD203B41FA5}">
                      <a16:colId xmlns:a16="http://schemas.microsoft.com/office/drawing/2014/main" val="20003"/>
                    </a:ext>
                  </a:extLst>
                </a:gridCol>
              </a:tblGrid>
              <a:tr h="500380">
                <a:tc>
                  <a:txBody>
                    <a:bodyPr/>
                    <a:lstStyle/>
                    <a:p>
                      <a:pPr algn="ctr">
                        <a:buNone/>
                      </a:pPr>
                      <a:r>
                        <a:rPr lang="en-US" altLang="zh-CN" sz="2800" b="1">
                          <a:solidFill>
                            <a:srgbClr val="FF0000"/>
                          </a:solidFill>
                        </a:rPr>
                        <a:t>C.cid</a:t>
                      </a:r>
                    </a:p>
                  </a:txBody>
                  <a:tcPr marT="0" marB="0" anchor="ctr">
                    <a:lnL w="28575" cmpd="sng">
                      <a:solidFill>
                        <a:schemeClr val="tx1"/>
                      </a:solidFill>
                      <a:prstDash val="solid"/>
                    </a:lnL>
                    <a:lnR w="9525" cmpd="sng">
                      <a:solidFill>
                        <a:schemeClr val="tx1"/>
                      </a:solidFill>
                      <a:prstDash val="solid"/>
                    </a:lnR>
                    <a:lnT w="28575" cmpd="sng">
                      <a:solidFill>
                        <a:schemeClr val="tx1"/>
                      </a:solidFill>
                      <a:prstDash val="solid"/>
                    </a:lnT>
                    <a:lnB w="28575" cmpd="sng">
                      <a:solidFill>
                        <a:schemeClr val="tx1"/>
                      </a:solidFill>
                      <a:prstDash val="solid"/>
                    </a:lnB>
                    <a:solidFill>
                      <a:schemeClr val="bg1">
                        <a:lumMod val="85000"/>
                      </a:schemeClr>
                    </a:solidFill>
                  </a:tcPr>
                </a:tc>
                <a:tc>
                  <a:txBody>
                    <a:bodyPr/>
                    <a:lstStyle/>
                    <a:p>
                      <a:pPr algn="ctr">
                        <a:buNone/>
                      </a:pPr>
                      <a:r>
                        <a:rPr lang="en-US" altLang="zh-CN" sz="2800" b="1">
                          <a:solidFill>
                            <a:srgbClr val="FF0000"/>
                          </a:solidFill>
                        </a:rPr>
                        <a:t>C.discnt</a:t>
                      </a:r>
                    </a:p>
                  </a:txBody>
                  <a:tcPr marT="0" marB="0" anchor="ctr">
                    <a:lnL w="9525" cmpd="sng">
                      <a:solidFill>
                        <a:schemeClr val="tx1"/>
                      </a:solidFill>
                      <a:prstDash val="solid"/>
                    </a:lnL>
                    <a:lnR w="9525" cmpd="sng">
                      <a:solidFill>
                        <a:schemeClr val="tx1"/>
                      </a:solidFill>
                      <a:prstDash val="solid"/>
                    </a:lnR>
                    <a:lnT w="28575" cmpd="sng">
                      <a:solidFill>
                        <a:schemeClr val="tx1"/>
                      </a:solidFill>
                      <a:prstDash val="solid"/>
                    </a:lnT>
                    <a:lnB w="28575" cmpd="sng">
                      <a:solidFill>
                        <a:schemeClr val="tx1"/>
                      </a:solidFill>
                      <a:prstDash val="solid"/>
                    </a:lnB>
                    <a:solidFill>
                      <a:schemeClr val="bg1">
                        <a:lumMod val="85000"/>
                      </a:schemeClr>
                    </a:solidFill>
                  </a:tcPr>
                </a:tc>
                <a:tc>
                  <a:txBody>
                    <a:bodyPr/>
                    <a:lstStyle/>
                    <a:p>
                      <a:pPr algn="ctr">
                        <a:buNone/>
                      </a:pPr>
                      <a:r>
                        <a:rPr lang="en-US" altLang="zh-CN" sz="2800" b="1">
                          <a:solidFill>
                            <a:srgbClr val="FF0000"/>
                          </a:solidFill>
                        </a:rPr>
                        <a:t>S.cid</a:t>
                      </a:r>
                    </a:p>
                  </a:txBody>
                  <a:tcPr marT="0" marB="0" anchor="ctr">
                    <a:lnL w="9525" cmpd="sng">
                      <a:solidFill>
                        <a:schemeClr val="tx1"/>
                      </a:solidFill>
                      <a:prstDash val="solid"/>
                    </a:lnL>
                    <a:lnR w="9525" cmpd="sng">
                      <a:solidFill>
                        <a:schemeClr val="tx1"/>
                      </a:solidFill>
                      <a:prstDash val="solid"/>
                    </a:lnR>
                    <a:lnT w="28575" cmpd="sng">
                      <a:solidFill>
                        <a:schemeClr val="tx1"/>
                      </a:solidFill>
                      <a:prstDash val="solid"/>
                    </a:lnT>
                    <a:lnB w="28575" cmpd="sng">
                      <a:solidFill>
                        <a:schemeClr val="tx1"/>
                      </a:solidFill>
                      <a:prstDash val="solid"/>
                    </a:lnB>
                    <a:solidFill>
                      <a:schemeClr val="bg1">
                        <a:lumMod val="85000"/>
                      </a:schemeClr>
                    </a:solidFill>
                  </a:tcPr>
                </a:tc>
                <a:tc>
                  <a:txBody>
                    <a:bodyPr/>
                    <a:lstStyle/>
                    <a:p>
                      <a:pPr algn="ctr">
                        <a:buNone/>
                      </a:pPr>
                      <a:r>
                        <a:rPr lang="en-US" altLang="zh-CN" sz="2800" b="1">
                          <a:solidFill>
                            <a:srgbClr val="FF0000"/>
                          </a:solidFill>
                        </a:rPr>
                        <a:t>S.discnt</a:t>
                      </a:r>
                    </a:p>
                  </a:txBody>
                  <a:tcPr marT="0" marB="0" anchor="ctr">
                    <a:lnL w="9525" cmpd="sng">
                      <a:solidFill>
                        <a:schemeClr val="tx1"/>
                      </a:solidFill>
                      <a:prstDash val="solid"/>
                    </a:lnL>
                    <a:lnR w="28575" cmpd="sng">
                      <a:solidFill>
                        <a:schemeClr val="tx1"/>
                      </a:solidFill>
                      <a:prstDash val="solid"/>
                    </a:lnR>
                    <a:lnT w="28575" cmpd="sng">
                      <a:solidFill>
                        <a:schemeClr val="tx1"/>
                      </a:solidFill>
                      <a:prstDash val="solid"/>
                    </a:lnT>
                    <a:lnB w="28575" cmpd="sng">
                      <a:solidFill>
                        <a:schemeClr val="tx1"/>
                      </a:solidFill>
                      <a:prstDash val="solid"/>
                    </a:lnB>
                    <a:solidFill>
                      <a:schemeClr val="bg1">
                        <a:lumMod val="85000"/>
                      </a:schemeClr>
                    </a:solidFill>
                  </a:tcPr>
                </a:tc>
                <a:extLst>
                  <a:ext uri="{0D108BD9-81ED-4DB2-BD59-A6C34878D82A}">
                    <a16:rowId xmlns:a16="http://schemas.microsoft.com/office/drawing/2014/main" val="10000"/>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28575" cmpd="sng">
                      <a:solidFill>
                        <a:schemeClr val="tx1"/>
                      </a:solidFill>
                      <a:prstDash val="solid"/>
                    </a:lnL>
                    <a:lnR w="9525" cmpd="sng">
                      <a:solidFill>
                        <a:schemeClr val="tx1"/>
                      </a:solidFill>
                      <a:prstDash val="solid"/>
                    </a:lnR>
                    <a:lnT w="28575" cmpd="sng">
                      <a:solidFill>
                        <a:schemeClr val="tx1"/>
                      </a:solidFill>
                      <a:prstDash val="solid"/>
                    </a:lnT>
                    <a:lnB w="9525" cmpd="sng">
                      <a:solidFill>
                        <a:schemeClr val="tx1"/>
                      </a:solidFill>
                      <a:prstDash val="solid"/>
                    </a:lnB>
                    <a:solidFill>
                      <a:schemeClr val="accent3">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9525" cmpd="sng">
                      <a:solidFill>
                        <a:schemeClr val="tx1"/>
                      </a:solidFill>
                      <a:prstDash val="solid"/>
                    </a:lnL>
                    <a:lnR w="9525" cmpd="sng">
                      <a:solidFill>
                        <a:schemeClr val="tx1"/>
                      </a:solidFill>
                      <a:prstDash val="solid"/>
                    </a:lnR>
                    <a:lnT w="28575" cmpd="sng">
                      <a:solidFill>
                        <a:schemeClr val="tx1"/>
                      </a:solidFill>
                      <a:prstDash val="solid"/>
                    </a:lnT>
                    <a:lnB w="9525" cmpd="sng">
                      <a:solidFill>
                        <a:schemeClr val="tx1"/>
                      </a:solidFill>
                      <a:prstDash val="solid"/>
                    </a:lnB>
                    <a:solidFill>
                      <a:schemeClr val="accent3">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9525" cmpd="sng">
                      <a:solidFill>
                        <a:schemeClr val="tx1"/>
                      </a:solidFill>
                      <a:prstDash val="solid"/>
                    </a:lnL>
                    <a:lnR w="9525" cmpd="sng">
                      <a:solidFill>
                        <a:schemeClr val="tx1"/>
                      </a:solidFill>
                      <a:prstDash val="solid"/>
                    </a:lnR>
                    <a:lnT w="2857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9525" cmpd="sng">
                      <a:solidFill>
                        <a:schemeClr val="tx1"/>
                      </a:solidFill>
                      <a:prstDash val="solid"/>
                    </a:lnL>
                    <a:lnR w="28575" cmpd="sng">
                      <a:solidFill>
                        <a:schemeClr val="tx1"/>
                      </a:solidFill>
                      <a:prstDash val="solid"/>
                    </a:lnR>
                    <a:lnT w="2857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1"/>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2"/>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3">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3"/>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6">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6">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4"/>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6">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6">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5"/>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6">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6">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6"/>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5">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5">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7"/>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5">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chemeClr val="accent5">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9525" cmpd="sng">
                      <a:solidFill>
                        <a:schemeClr val="tx1"/>
                      </a:solidFill>
                      <a:prstDash val="solid"/>
                    </a:lnB>
                    <a:noFill/>
                  </a:tcPr>
                </a:tc>
                <a:extLst>
                  <a:ext uri="{0D108BD9-81ED-4DB2-BD59-A6C34878D82A}">
                    <a16:rowId xmlns:a16="http://schemas.microsoft.com/office/drawing/2014/main" val="10008"/>
                  </a:ext>
                </a:extLst>
              </a:tr>
              <a:tr h="50038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28575" cmpd="sng">
                      <a:solidFill>
                        <a:schemeClr val="tx1"/>
                      </a:solidFill>
                      <a:prstDash val="solid"/>
                    </a:lnL>
                    <a:lnR w="9525" cmpd="sng">
                      <a:solidFill>
                        <a:schemeClr val="tx1"/>
                      </a:solidFill>
                      <a:prstDash val="solid"/>
                    </a:lnR>
                    <a:lnT w="9525" cmpd="sng">
                      <a:solidFill>
                        <a:schemeClr val="tx1"/>
                      </a:solidFill>
                      <a:prstDash val="solid"/>
                    </a:lnT>
                    <a:lnB w="28575" cmpd="sng">
                      <a:solidFill>
                        <a:schemeClr val="tx1"/>
                      </a:solidFill>
                      <a:prstDash val="solid"/>
                    </a:lnB>
                    <a:solidFill>
                      <a:schemeClr val="accent5">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28575" cmpd="sng">
                      <a:solidFill>
                        <a:schemeClr val="tx1"/>
                      </a:solidFill>
                      <a:prstDash val="solid"/>
                    </a:lnB>
                    <a:solidFill>
                      <a:schemeClr val="accent5">
                        <a:lumMod val="40000"/>
                        <a:lumOff val="60000"/>
                        <a:alpha val="50000"/>
                      </a:schemeClr>
                    </a:solid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9525" cmpd="sng">
                      <a:solidFill>
                        <a:schemeClr val="tx1"/>
                      </a:solidFill>
                      <a:prstDash val="solid"/>
                    </a:lnL>
                    <a:lnR w="9525" cmpd="sng">
                      <a:solidFill>
                        <a:schemeClr val="tx1"/>
                      </a:solidFill>
                      <a:prstDash val="solid"/>
                    </a:lnR>
                    <a:lnT w="9525" cmpd="sng">
                      <a:solidFill>
                        <a:schemeClr val="tx1"/>
                      </a:solidFill>
                      <a:prstDash val="solid"/>
                    </a:lnT>
                    <a:lnB w="2857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9525" cmpd="sng">
                      <a:solidFill>
                        <a:schemeClr val="tx1"/>
                      </a:solidFill>
                      <a:prstDash val="solid"/>
                    </a:lnL>
                    <a:lnR w="28575" cmpd="sng">
                      <a:solidFill>
                        <a:schemeClr val="tx1"/>
                      </a:solidFill>
                      <a:prstDash val="solid"/>
                    </a:lnR>
                    <a:lnT w="9525"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19" name="Text Box 40"/>
              <p:cNvSpPr txBox="1"/>
              <p:nvPr/>
            </p:nvSpPr>
            <p:spPr>
              <a:xfrm>
                <a:off x="4914900" y="595630"/>
                <a:ext cx="6459220" cy="521970"/>
              </a:xfrm>
              <a:prstGeom prst="rect">
                <a:avLst/>
              </a:prstGeom>
              <a:noFill/>
              <a:ln w="9525">
                <a:noFill/>
              </a:ln>
            </p:spPr>
            <p:txBody>
              <a:bodyPr wrap="square" anchor="t">
                <a:spAutoFit/>
              </a:bodyPr>
              <a:lstStyle/>
              <a:p>
                <a:pPr algn="ctr">
                  <a:spcBef>
                    <a:spcPct val="50000"/>
                  </a:spcBef>
                </a:pPr>
                <a14:m>
                  <m:oMathPara xmlns:m="http://schemas.openxmlformats.org/officeDocument/2006/math">
                    <m:oMathParaPr>
                      <m:jc m:val="centerGroup"/>
                    </m:oMathParaPr>
                    <m:oMath xmlns:m="http://schemas.openxmlformats.org/officeDocument/2006/math">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oMath>
                  </m:oMathPara>
                </a14:m>
                <a:endParaRPr lang="en-US" altLang="zh-CN" sz="2800" b="1" i="1">
                  <a:solidFill>
                    <a:srgbClr val="0000C8"/>
                  </a:solidFill>
                  <a:latin typeface="Cambria Math" panose="02040503050406030204" charset="0"/>
                  <a:ea typeface="宋体" panose="02010600030101010101" pitchFamily="2" charset="-122"/>
                  <a:cs typeface="Cambria Math" panose="02040503050406030204" charset="0"/>
                </a:endParaRPr>
              </a:p>
            </p:txBody>
          </p:sp>
        </mc:Choice>
        <mc:Fallback xmlns="">
          <p:sp>
            <p:nvSpPr>
              <p:cNvPr id="19" name="Text Box 40"/>
              <p:cNvSpPr txBox="1">
                <a:spLocks noRot="1" noChangeAspect="1" noMove="1" noResize="1" noEditPoints="1" noAdjustHandles="1" noChangeArrowheads="1" noChangeShapeType="1" noTextEdit="1"/>
              </p:cNvSpPr>
              <p:nvPr/>
            </p:nvSpPr>
            <p:spPr>
              <a:xfrm>
                <a:off x="4914900" y="595630"/>
                <a:ext cx="6459220" cy="521970"/>
              </a:xfrm>
              <a:prstGeom prst="rect">
                <a:avLst/>
              </a:prstGeom>
              <a:blipFill rotWithShape="1">
                <a:blip r:embed="rId3"/>
                <a:stretch>
                  <a:fillRect/>
                </a:stretch>
              </a:blipFill>
              <a:ln w="9525">
                <a:noFill/>
              </a:ln>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565CE74E-AB26-4998-AD42-012C4C1AD076}" type="slidenum">
              <a:rPr lang="zh-CN" altLang="en-US" smtClean="0"/>
              <a:t>80</a:t>
            </a:fld>
            <a:endParaRPr lang="zh-CN" altLang="en-US"/>
          </a:p>
        </p:txBody>
      </p:sp>
      <p:sp>
        <p:nvSpPr>
          <p:cNvPr id="3" name="页脚占位符 2"/>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9</a:t>
            </a:r>
            <a:r>
              <a:rPr lang="zh-CN" altLang="en-US" dirty="0">
                <a:sym typeface="+mn-ea"/>
              </a:rPr>
              <a:t>）</a:t>
            </a:r>
            <a:endParaRPr lang="zh-CN" altLang="en-US"/>
          </a:p>
        </p:txBody>
      </p:sp>
      <p:graphicFrame>
        <p:nvGraphicFramePr>
          <p:cNvPr id="11266" name="表格 11265"/>
          <p:cNvGraphicFramePr/>
          <p:nvPr>
            <p:custDataLst>
              <p:tags r:id="rId1"/>
            </p:custDataLst>
          </p:nvPr>
        </p:nvGraphicFramePr>
        <p:xfrm>
          <a:off x="2633980" y="1339850"/>
          <a:ext cx="7078345" cy="5328920"/>
        </p:xfrm>
        <a:graphic>
          <a:graphicData uri="http://schemas.openxmlformats.org/drawingml/2006/table">
            <a:tbl>
              <a:tblPr/>
              <a:tblGrid>
                <a:gridCol w="1520825">
                  <a:extLst>
                    <a:ext uri="{9D8B030D-6E8A-4147-A177-3AD203B41FA5}">
                      <a16:colId xmlns:a16="http://schemas.microsoft.com/office/drawing/2014/main" val="20000"/>
                    </a:ext>
                  </a:extLst>
                </a:gridCol>
                <a:gridCol w="2018665">
                  <a:extLst>
                    <a:ext uri="{9D8B030D-6E8A-4147-A177-3AD203B41FA5}">
                      <a16:colId xmlns:a16="http://schemas.microsoft.com/office/drawing/2014/main" val="20001"/>
                    </a:ext>
                  </a:extLst>
                </a:gridCol>
                <a:gridCol w="1496060">
                  <a:extLst>
                    <a:ext uri="{9D8B030D-6E8A-4147-A177-3AD203B41FA5}">
                      <a16:colId xmlns:a16="http://schemas.microsoft.com/office/drawing/2014/main" val="20002"/>
                    </a:ext>
                  </a:extLst>
                </a:gridCol>
                <a:gridCol w="2042795">
                  <a:extLst>
                    <a:ext uri="{9D8B030D-6E8A-4147-A177-3AD203B41FA5}">
                      <a16:colId xmlns:a16="http://schemas.microsoft.com/office/drawing/2014/main" val="20003"/>
                    </a:ext>
                  </a:extLst>
                </a:gridCol>
              </a:tblGrid>
              <a:tr h="5334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C.cid</a:t>
                      </a:r>
                      <a:endParaRPr lang="zh-CN" altLang="en-US">
                        <a:solidFill>
                          <a:srgbClr val="FF00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C.discnt</a:t>
                      </a:r>
                      <a:endParaRPr lang="zh-CN" altLang="en-US">
                        <a:solidFill>
                          <a:srgbClr val="FF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S.cid</a:t>
                      </a:r>
                      <a:endParaRPr lang="zh-CN" altLang="en-US">
                        <a:solidFill>
                          <a:srgbClr val="FF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S.discnt</a:t>
                      </a:r>
                      <a:endParaRPr lang="zh-CN" altLang="en-US">
                        <a:solidFill>
                          <a:srgbClr val="FF00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5334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213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34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276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1495">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34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34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34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3213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11323" name="Text Box 40"/>
              <p:cNvSpPr txBox="1"/>
              <p:nvPr/>
            </p:nvSpPr>
            <p:spPr>
              <a:xfrm>
                <a:off x="3071813" y="653098"/>
                <a:ext cx="6048375" cy="521970"/>
              </a:xfrm>
              <a:prstGeom prst="rect">
                <a:avLst/>
              </a:prstGeom>
              <a:noFill/>
              <a:ln w="9525">
                <a:noFill/>
              </a:ln>
            </p:spPr>
            <p:txBody>
              <a:bodyPr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ea typeface="宋体" panose="02010600030101010101" pitchFamily="2" charset="-122"/>
                              <a:cs typeface="Cambria Math" panose="02040503050406030204" charset="0"/>
                            </a:rPr>
                          </m:ctrlPr>
                        </m:sSubPr>
                        <m:e>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𝝈</m:t>
                          </m:r>
                        </m:e>
                        <m:sub>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 &lt; </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MS Mincho" charset="0"/>
                          <a:cs typeface="Cambria Math" panose="02040503050406030204" charset="0"/>
                        </a:rPr>
                        <m:t>)</m:t>
                      </m:r>
                    </m:oMath>
                  </m:oMathPara>
                </a14:m>
                <a:endParaRPr lang="en-US" altLang="zh-CN" sz="2800" b="1" i="1">
                  <a:solidFill>
                    <a:srgbClr val="0000C8"/>
                  </a:solidFill>
                  <a:latin typeface="Cambria Math" panose="02040503050406030204" charset="0"/>
                  <a:ea typeface="MS Mincho" charset="0"/>
                  <a:cs typeface="Cambria Math" panose="02040503050406030204" charset="0"/>
                </a:endParaRPr>
              </a:p>
            </p:txBody>
          </p:sp>
        </mc:Choice>
        <mc:Fallback xmlns="">
          <p:sp>
            <p:nvSpPr>
              <p:cNvPr id="11323" name="Text Box 40"/>
              <p:cNvSpPr txBox="1">
                <a:spLocks noRot="1" noChangeAspect="1" noMove="1" noResize="1" noEditPoints="1" noAdjustHandles="1" noChangeArrowheads="1" noChangeShapeType="1" noTextEdit="1"/>
              </p:cNvSpPr>
              <p:nvPr/>
            </p:nvSpPr>
            <p:spPr>
              <a:xfrm>
                <a:off x="3071813" y="653098"/>
                <a:ext cx="6048375" cy="521970"/>
              </a:xfrm>
              <a:prstGeom prst="rect">
                <a:avLst/>
              </a:prstGeom>
              <a:blipFill rotWithShape="1">
                <a:blip r:embed="rId4"/>
                <a:stretch>
                  <a:fillRect l="-5" t="-61" r="5" b="61"/>
                </a:stretch>
              </a:blipFill>
              <a:ln w="9525">
                <a:noFill/>
              </a:ln>
            </p:spPr>
            <p:txBody>
              <a:bodyPr/>
              <a:lstStyle/>
              <a:p>
                <a:r>
                  <a:rPr lang="zh-CN" altLang="en-US">
                    <a:noFill/>
                  </a:rPr>
                  <a:t> </a:t>
                </a:r>
              </a:p>
            </p:txBody>
          </p:sp>
        </mc:Fallback>
      </mc:AlternateContent>
      <p:sp>
        <p:nvSpPr>
          <p:cNvPr id="11324" name="矩形 11323"/>
          <p:cNvSpPr/>
          <p:nvPr/>
        </p:nvSpPr>
        <p:spPr>
          <a:xfrm>
            <a:off x="2996565" y="1957070"/>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11325" name="矩形 11324"/>
          <p:cNvSpPr/>
          <p:nvPr/>
        </p:nvSpPr>
        <p:spPr>
          <a:xfrm>
            <a:off x="2996565" y="3036570"/>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11326" name="矩形 11325"/>
          <p:cNvSpPr/>
          <p:nvPr/>
        </p:nvSpPr>
        <p:spPr>
          <a:xfrm>
            <a:off x="2996565" y="3541395"/>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11327" name="矩形 11326"/>
          <p:cNvSpPr/>
          <p:nvPr/>
        </p:nvSpPr>
        <p:spPr>
          <a:xfrm>
            <a:off x="2996565" y="4116070"/>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11328" name="矩形 11327"/>
          <p:cNvSpPr/>
          <p:nvPr/>
        </p:nvSpPr>
        <p:spPr>
          <a:xfrm>
            <a:off x="2996565" y="4620895"/>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11329" name="矩形 11328"/>
          <p:cNvSpPr/>
          <p:nvPr/>
        </p:nvSpPr>
        <p:spPr>
          <a:xfrm>
            <a:off x="2994660" y="6205220"/>
            <a:ext cx="634111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3" name="灯片编号占位符 2"/>
          <p:cNvSpPr>
            <a:spLocks noGrp="1"/>
          </p:cNvSpPr>
          <p:nvPr>
            <p:ph type="sldNum" sz="quarter" idx="12"/>
          </p:nvPr>
        </p:nvSpPr>
        <p:spPr/>
        <p:txBody>
          <a:bodyPr/>
          <a:lstStyle/>
          <a:p>
            <a:fld id="{565CE74E-AB26-4998-AD42-012C4C1AD076}" type="slidenum">
              <a:rPr lang="zh-CN" altLang="en-US" smtClean="0"/>
              <a:t>81</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23"/>
                                        </p:tgtEl>
                                        <p:attrNameLst>
                                          <p:attrName>style.visibility</p:attrName>
                                        </p:attrNameLst>
                                      </p:cBhvr>
                                      <p:to>
                                        <p:strVal val="visible"/>
                                      </p:to>
                                    </p:set>
                                    <p:animEffect transition="in" filter="blinds(horizontal)">
                                      <p:cBhvr>
                                        <p:cTn id="7" dur="500"/>
                                        <p:tgtEl>
                                          <p:spTgt spid="1132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11324"/>
                                        </p:tgtEl>
                                        <p:attrNameLst>
                                          <p:attrName>style.visibility</p:attrName>
                                        </p:attrNameLst>
                                      </p:cBhvr>
                                      <p:to>
                                        <p:strVal val="visible"/>
                                      </p:to>
                                    </p:set>
                                    <p:anim calcmode="lin" valueType="num">
                                      <p:cBhvr>
                                        <p:cTn id="12" dur="1000" fill="hold"/>
                                        <p:tgtEl>
                                          <p:spTgt spid="11324"/>
                                        </p:tgtEl>
                                        <p:attrNameLst>
                                          <p:attrName>ppt_x</p:attrName>
                                        </p:attrNameLst>
                                      </p:cBhvr>
                                      <p:tavLst>
                                        <p:tav tm="0">
                                          <p:val>
                                            <p:strVal val="#ppt_x-#ppt_w/2"/>
                                          </p:val>
                                        </p:tav>
                                        <p:tav tm="100000">
                                          <p:val>
                                            <p:strVal val="#ppt_x"/>
                                          </p:val>
                                        </p:tav>
                                      </p:tavLst>
                                    </p:anim>
                                    <p:anim calcmode="lin" valueType="num">
                                      <p:cBhvr>
                                        <p:cTn id="13" dur="1000" fill="hold"/>
                                        <p:tgtEl>
                                          <p:spTgt spid="11324"/>
                                        </p:tgtEl>
                                        <p:attrNameLst>
                                          <p:attrName>ppt_y</p:attrName>
                                        </p:attrNameLst>
                                      </p:cBhvr>
                                      <p:tavLst>
                                        <p:tav tm="0">
                                          <p:val>
                                            <p:strVal val="#ppt_y"/>
                                          </p:val>
                                        </p:tav>
                                        <p:tav tm="100000">
                                          <p:val>
                                            <p:strVal val="#ppt_y"/>
                                          </p:val>
                                        </p:tav>
                                      </p:tavLst>
                                    </p:anim>
                                    <p:anim calcmode="lin" valueType="num">
                                      <p:cBhvr>
                                        <p:cTn id="14" dur="1000" fill="hold"/>
                                        <p:tgtEl>
                                          <p:spTgt spid="11324"/>
                                        </p:tgtEl>
                                        <p:attrNameLst>
                                          <p:attrName>ppt_w</p:attrName>
                                        </p:attrNameLst>
                                      </p:cBhvr>
                                      <p:tavLst>
                                        <p:tav tm="0">
                                          <p:val>
                                            <p:fltVal val="0"/>
                                          </p:val>
                                        </p:tav>
                                        <p:tav tm="100000">
                                          <p:val>
                                            <p:strVal val="#ppt_w"/>
                                          </p:val>
                                        </p:tav>
                                      </p:tavLst>
                                    </p:anim>
                                    <p:anim calcmode="lin" valueType="num">
                                      <p:cBhvr>
                                        <p:cTn id="15" dur="1000" fill="hold"/>
                                        <p:tgtEl>
                                          <p:spTgt spid="11324"/>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nodeType="clickEffect">
                                  <p:stCondLst>
                                    <p:cond delay="0"/>
                                  </p:stCondLst>
                                  <p:childTnLst>
                                    <p:set>
                                      <p:cBhvr>
                                        <p:cTn id="19" dur="1" fill="hold">
                                          <p:stCondLst>
                                            <p:cond delay="0"/>
                                          </p:stCondLst>
                                        </p:cTn>
                                        <p:tgtEl>
                                          <p:spTgt spid="11325"/>
                                        </p:tgtEl>
                                        <p:attrNameLst>
                                          <p:attrName>style.visibility</p:attrName>
                                        </p:attrNameLst>
                                      </p:cBhvr>
                                      <p:to>
                                        <p:strVal val="visible"/>
                                      </p:to>
                                    </p:set>
                                    <p:anim calcmode="lin" valueType="num">
                                      <p:cBhvr>
                                        <p:cTn id="20" dur="1000" fill="hold"/>
                                        <p:tgtEl>
                                          <p:spTgt spid="11325"/>
                                        </p:tgtEl>
                                        <p:attrNameLst>
                                          <p:attrName>ppt_x</p:attrName>
                                        </p:attrNameLst>
                                      </p:cBhvr>
                                      <p:tavLst>
                                        <p:tav tm="0">
                                          <p:val>
                                            <p:strVal val="#ppt_x-#ppt_w/2"/>
                                          </p:val>
                                        </p:tav>
                                        <p:tav tm="100000">
                                          <p:val>
                                            <p:strVal val="#ppt_x"/>
                                          </p:val>
                                        </p:tav>
                                      </p:tavLst>
                                    </p:anim>
                                    <p:anim calcmode="lin" valueType="num">
                                      <p:cBhvr>
                                        <p:cTn id="21" dur="1000" fill="hold"/>
                                        <p:tgtEl>
                                          <p:spTgt spid="11325"/>
                                        </p:tgtEl>
                                        <p:attrNameLst>
                                          <p:attrName>ppt_y</p:attrName>
                                        </p:attrNameLst>
                                      </p:cBhvr>
                                      <p:tavLst>
                                        <p:tav tm="0">
                                          <p:val>
                                            <p:strVal val="#ppt_y"/>
                                          </p:val>
                                        </p:tav>
                                        <p:tav tm="100000">
                                          <p:val>
                                            <p:strVal val="#ppt_y"/>
                                          </p:val>
                                        </p:tav>
                                      </p:tavLst>
                                    </p:anim>
                                    <p:anim calcmode="lin" valueType="num">
                                      <p:cBhvr>
                                        <p:cTn id="22" dur="1000" fill="hold"/>
                                        <p:tgtEl>
                                          <p:spTgt spid="11325"/>
                                        </p:tgtEl>
                                        <p:attrNameLst>
                                          <p:attrName>ppt_w</p:attrName>
                                        </p:attrNameLst>
                                      </p:cBhvr>
                                      <p:tavLst>
                                        <p:tav tm="0">
                                          <p:val>
                                            <p:fltVal val="0"/>
                                          </p:val>
                                        </p:tav>
                                        <p:tav tm="100000">
                                          <p:val>
                                            <p:strVal val="#ppt_w"/>
                                          </p:val>
                                        </p:tav>
                                      </p:tavLst>
                                    </p:anim>
                                    <p:anim calcmode="lin" valueType="num">
                                      <p:cBhvr>
                                        <p:cTn id="23" dur="1000" fill="hold"/>
                                        <p:tgtEl>
                                          <p:spTgt spid="1132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nodeType="clickEffect">
                                  <p:stCondLst>
                                    <p:cond delay="0"/>
                                  </p:stCondLst>
                                  <p:childTnLst>
                                    <p:set>
                                      <p:cBhvr>
                                        <p:cTn id="27" dur="1" fill="hold">
                                          <p:stCondLst>
                                            <p:cond delay="0"/>
                                          </p:stCondLst>
                                        </p:cTn>
                                        <p:tgtEl>
                                          <p:spTgt spid="11326"/>
                                        </p:tgtEl>
                                        <p:attrNameLst>
                                          <p:attrName>style.visibility</p:attrName>
                                        </p:attrNameLst>
                                      </p:cBhvr>
                                      <p:to>
                                        <p:strVal val="visible"/>
                                      </p:to>
                                    </p:set>
                                    <p:anim calcmode="lin" valueType="num">
                                      <p:cBhvr>
                                        <p:cTn id="28" dur="1000" fill="hold"/>
                                        <p:tgtEl>
                                          <p:spTgt spid="11326"/>
                                        </p:tgtEl>
                                        <p:attrNameLst>
                                          <p:attrName>ppt_x</p:attrName>
                                        </p:attrNameLst>
                                      </p:cBhvr>
                                      <p:tavLst>
                                        <p:tav tm="0">
                                          <p:val>
                                            <p:strVal val="#ppt_x-#ppt_w/2"/>
                                          </p:val>
                                        </p:tav>
                                        <p:tav tm="100000">
                                          <p:val>
                                            <p:strVal val="#ppt_x"/>
                                          </p:val>
                                        </p:tav>
                                      </p:tavLst>
                                    </p:anim>
                                    <p:anim calcmode="lin" valueType="num">
                                      <p:cBhvr>
                                        <p:cTn id="29" dur="1000" fill="hold"/>
                                        <p:tgtEl>
                                          <p:spTgt spid="11326"/>
                                        </p:tgtEl>
                                        <p:attrNameLst>
                                          <p:attrName>ppt_y</p:attrName>
                                        </p:attrNameLst>
                                      </p:cBhvr>
                                      <p:tavLst>
                                        <p:tav tm="0">
                                          <p:val>
                                            <p:strVal val="#ppt_y"/>
                                          </p:val>
                                        </p:tav>
                                        <p:tav tm="100000">
                                          <p:val>
                                            <p:strVal val="#ppt_y"/>
                                          </p:val>
                                        </p:tav>
                                      </p:tavLst>
                                    </p:anim>
                                    <p:anim calcmode="lin" valueType="num">
                                      <p:cBhvr>
                                        <p:cTn id="30" dur="1000" fill="hold"/>
                                        <p:tgtEl>
                                          <p:spTgt spid="11326"/>
                                        </p:tgtEl>
                                        <p:attrNameLst>
                                          <p:attrName>ppt_w</p:attrName>
                                        </p:attrNameLst>
                                      </p:cBhvr>
                                      <p:tavLst>
                                        <p:tav tm="0">
                                          <p:val>
                                            <p:fltVal val="0"/>
                                          </p:val>
                                        </p:tav>
                                        <p:tav tm="100000">
                                          <p:val>
                                            <p:strVal val="#ppt_w"/>
                                          </p:val>
                                        </p:tav>
                                      </p:tavLst>
                                    </p:anim>
                                    <p:anim calcmode="lin" valueType="num">
                                      <p:cBhvr>
                                        <p:cTn id="31" dur="1000" fill="hold"/>
                                        <p:tgtEl>
                                          <p:spTgt spid="11326"/>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nodeType="clickEffect">
                                  <p:stCondLst>
                                    <p:cond delay="0"/>
                                  </p:stCondLst>
                                  <p:childTnLst>
                                    <p:set>
                                      <p:cBhvr>
                                        <p:cTn id="35" dur="1" fill="hold">
                                          <p:stCondLst>
                                            <p:cond delay="0"/>
                                          </p:stCondLst>
                                        </p:cTn>
                                        <p:tgtEl>
                                          <p:spTgt spid="11327"/>
                                        </p:tgtEl>
                                        <p:attrNameLst>
                                          <p:attrName>style.visibility</p:attrName>
                                        </p:attrNameLst>
                                      </p:cBhvr>
                                      <p:to>
                                        <p:strVal val="visible"/>
                                      </p:to>
                                    </p:set>
                                    <p:anim calcmode="lin" valueType="num">
                                      <p:cBhvr>
                                        <p:cTn id="36" dur="1000" fill="hold"/>
                                        <p:tgtEl>
                                          <p:spTgt spid="11327"/>
                                        </p:tgtEl>
                                        <p:attrNameLst>
                                          <p:attrName>ppt_x</p:attrName>
                                        </p:attrNameLst>
                                      </p:cBhvr>
                                      <p:tavLst>
                                        <p:tav tm="0">
                                          <p:val>
                                            <p:strVal val="#ppt_x-#ppt_w/2"/>
                                          </p:val>
                                        </p:tav>
                                        <p:tav tm="100000">
                                          <p:val>
                                            <p:strVal val="#ppt_x"/>
                                          </p:val>
                                        </p:tav>
                                      </p:tavLst>
                                    </p:anim>
                                    <p:anim calcmode="lin" valueType="num">
                                      <p:cBhvr>
                                        <p:cTn id="37" dur="1000" fill="hold"/>
                                        <p:tgtEl>
                                          <p:spTgt spid="11327"/>
                                        </p:tgtEl>
                                        <p:attrNameLst>
                                          <p:attrName>ppt_y</p:attrName>
                                        </p:attrNameLst>
                                      </p:cBhvr>
                                      <p:tavLst>
                                        <p:tav tm="0">
                                          <p:val>
                                            <p:strVal val="#ppt_y"/>
                                          </p:val>
                                        </p:tav>
                                        <p:tav tm="100000">
                                          <p:val>
                                            <p:strVal val="#ppt_y"/>
                                          </p:val>
                                        </p:tav>
                                      </p:tavLst>
                                    </p:anim>
                                    <p:anim calcmode="lin" valueType="num">
                                      <p:cBhvr>
                                        <p:cTn id="38" dur="1000" fill="hold"/>
                                        <p:tgtEl>
                                          <p:spTgt spid="11327"/>
                                        </p:tgtEl>
                                        <p:attrNameLst>
                                          <p:attrName>ppt_w</p:attrName>
                                        </p:attrNameLst>
                                      </p:cBhvr>
                                      <p:tavLst>
                                        <p:tav tm="0">
                                          <p:val>
                                            <p:fltVal val="0"/>
                                          </p:val>
                                        </p:tav>
                                        <p:tav tm="100000">
                                          <p:val>
                                            <p:strVal val="#ppt_w"/>
                                          </p:val>
                                        </p:tav>
                                      </p:tavLst>
                                    </p:anim>
                                    <p:anim calcmode="lin" valueType="num">
                                      <p:cBhvr>
                                        <p:cTn id="39" dur="1000" fill="hold"/>
                                        <p:tgtEl>
                                          <p:spTgt spid="11327"/>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nodeType="clickEffect">
                                  <p:stCondLst>
                                    <p:cond delay="0"/>
                                  </p:stCondLst>
                                  <p:childTnLst>
                                    <p:set>
                                      <p:cBhvr>
                                        <p:cTn id="43" dur="1" fill="hold">
                                          <p:stCondLst>
                                            <p:cond delay="0"/>
                                          </p:stCondLst>
                                        </p:cTn>
                                        <p:tgtEl>
                                          <p:spTgt spid="11328"/>
                                        </p:tgtEl>
                                        <p:attrNameLst>
                                          <p:attrName>style.visibility</p:attrName>
                                        </p:attrNameLst>
                                      </p:cBhvr>
                                      <p:to>
                                        <p:strVal val="visible"/>
                                      </p:to>
                                    </p:set>
                                    <p:anim calcmode="lin" valueType="num">
                                      <p:cBhvr>
                                        <p:cTn id="44" dur="1000" fill="hold"/>
                                        <p:tgtEl>
                                          <p:spTgt spid="11328"/>
                                        </p:tgtEl>
                                        <p:attrNameLst>
                                          <p:attrName>ppt_x</p:attrName>
                                        </p:attrNameLst>
                                      </p:cBhvr>
                                      <p:tavLst>
                                        <p:tav tm="0">
                                          <p:val>
                                            <p:strVal val="#ppt_x-#ppt_w/2"/>
                                          </p:val>
                                        </p:tav>
                                        <p:tav tm="100000">
                                          <p:val>
                                            <p:strVal val="#ppt_x"/>
                                          </p:val>
                                        </p:tav>
                                      </p:tavLst>
                                    </p:anim>
                                    <p:anim calcmode="lin" valueType="num">
                                      <p:cBhvr>
                                        <p:cTn id="45" dur="1000" fill="hold"/>
                                        <p:tgtEl>
                                          <p:spTgt spid="11328"/>
                                        </p:tgtEl>
                                        <p:attrNameLst>
                                          <p:attrName>ppt_y</p:attrName>
                                        </p:attrNameLst>
                                      </p:cBhvr>
                                      <p:tavLst>
                                        <p:tav tm="0">
                                          <p:val>
                                            <p:strVal val="#ppt_y"/>
                                          </p:val>
                                        </p:tav>
                                        <p:tav tm="100000">
                                          <p:val>
                                            <p:strVal val="#ppt_y"/>
                                          </p:val>
                                        </p:tav>
                                      </p:tavLst>
                                    </p:anim>
                                    <p:anim calcmode="lin" valueType="num">
                                      <p:cBhvr>
                                        <p:cTn id="46" dur="1000" fill="hold"/>
                                        <p:tgtEl>
                                          <p:spTgt spid="11328"/>
                                        </p:tgtEl>
                                        <p:attrNameLst>
                                          <p:attrName>ppt_w</p:attrName>
                                        </p:attrNameLst>
                                      </p:cBhvr>
                                      <p:tavLst>
                                        <p:tav tm="0">
                                          <p:val>
                                            <p:fltVal val="0"/>
                                          </p:val>
                                        </p:tav>
                                        <p:tav tm="100000">
                                          <p:val>
                                            <p:strVal val="#ppt_w"/>
                                          </p:val>
                                        </p:tav>
                                      </p:tavLst>
                                    </p:anim>
                                    <p:anim calcmode="lin" valueType="num">
                                      <p:cBhvr>
                                        <p:cTn id="47" dur="1000" fill="hold"/>
                                        <p:tgtEl>
                                          <p:spTgt spid="11328"/>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nodeType="clickEffect">
                                  <p:stCondLst>
                                    <p:cond delay="0"/>
                                  </p:stCondLst>
                                  <p:childTnLst>
                                    <p:set>
                                      <p:cBhvr>
                                        <p:cTn id="51" dur="1" fill="hold">
                                          <p:stCondLst>
                                            <p:cond delay="0"/>
                                          </p:stCondLst>
                                        </p:cTn>
                                        <p:tgtEl>
                                          <p:spTgt spid="11329"/>
                                        </p:tgtEl>
                                        <p:attrNameLst>
                                          <p:attrName>style.visibility</p:attrName>
                                        </p:attrNameLst>
                                      </p:cBhvr>
                                      <p:to>
                                        <p:strVal val="visible"/>
                                      </p:to>
                                    </p:set>
                                    <p:anim calcmode="lin" valueType="num">
                                      <p:cBhvr>
                                        <p:cTn id="52" dur="1000" fill="hold"/>
                                        <p:tgtEl>
                                          <p:spTgt spid="11329"/>
                                        </p:tgtEl>
                                        <p:attrNameLst>
                                          <p:attrName>ppt_x</p:attrName>
                                        </p:attrNameLst>
                                      </p:cBhvr>
                                      <p:tavLst>
                                        <p:tav tm="0">
                                          <p:val>
                                            <p:strVal val="#ppt_x-#ppt_w/2"/>
                                          </p:val>
                                        </p:tav>
                                        <p:tav tm="100000">
                                          <p:val>
                                            <p:strVal val="#ppt_x"/>
                                          </p:val>
                                        </p:tav>
                                      </p:tavLst>
                                    </p:anim>
                                    <p:anim calcmode="lin" valueType="num">
                                      <p:cBhvr>
                                        <p:cTn id="53" dur="1000" fill="hold"/>
                                        <p:tgtEl>
                                          <p:spTgt spid="11329"/>
                                        </p:tgtEl>
                                        <p:attrNameLst>
                                          <p:attrName>ppt_y</p:attrName>
                                        </p:attrNameLst>
                                      </p:cBhvr>
                                      <p:tavLst>
                                        <p:tav tm="0">
                                          <p:val>
                                            <p:strVal val="#ppt_y"/>
                                          </p:val>
                                        </p:tav>
                                        <p:tav tm="100000">
                                          <p:val>
                                            <p:strVal val="#ppt_y"/>
                                          </p:val>
                                        </p:tav>
                                      </p:tavLst>
                                    </p:anim>
                                    <p:anim calcmode="lin" valueType="num">
                                      <p:cBhvr>
                                        <p:cTn id="54" dur="1000" fill="hold"/>
                                        <p:tgtEl>
                                          <p:spTgt spid="11329"/>
                                        </p:tgtEl>
                                        <p:attrNameLst>
                                          <p:attrName>ppt_w</p:attrName>
                                        </p:attrNameLst>
                                      </p:cBhvr>
                                      <p:tavLst>
                                        <p:tav tm="0">
                                          <p:val>
                                            <p:fltVal val="0"/>
                                          </p:val>
                                        </p:tav>
                                        <p:tav tm="100000">
                                          <p:val>
                                            <p:strVal val="#ppt_w"/>
                                          </p:val>
                                        </p:tav>
                                      </p:tavLst>
                                    </p:anim>
                                    <p:anim calcmode="lin" valueType="num">
                                      <p:cBhvr>
                                        <p:cTn id="55" dur="1000" fill="hold"/>
                                        <p:tgtEl>
                                          <p:spTgt spid="1132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10</a:t>
            </a:r>
            <a:r>
              <a:rPr lang="zh-CN" altLang="en-US" dirty="0">
                <a:sym typeface="+mn-ea"/>
              </a:rPr>
              <a:t>）</a:t>
            </a:r>
            <a:endParaRPr lang="zh-CN" altLang="en-US"/>
          </a:p>
        </p:txBody>
      </p:sp>
      <p:graphicFrame>
        <p:nvGraphicFramePr>
          <p:cNvPr id="12290" name="表格 12289"/>
          <p:cNvGraphicFramePr/>
          <p:nvPr>
            <p:custDataLst>
              <p:tags r:id="rId1"/>
            </p:custDataLst>
          </p:nvPr>
        </p:nvGraphicFramePr>
        <p:xfrm>
          <a:off x="1123315" y="1346835"/>
          <a:ext cx="6484620" cy="4594860"/>
        </p:xfrm>
        <a:graphic>
          <a:graphicData uri="http://schemas.openxmlformats.org/drawingml/2006/table">
            <a:tbl>
              <a:tblPr/>
              <a:tblGrid>
                <a:gridCol w="1393190">
                  <a:extLst>
                    <a:ext uri="{9D8B030D-6E8A-4147-A177-3AD203B41FA5}">
                      <a16:colId xmlns:a16="http://schemas.microsoft.com/office/drawing/2014/main" val="20000"/>
                    </a:ext>
                  </a:extLst>
                </a:gridCol>
                <a:gridCol w="1849755">
                  <a:extLst>
                    <a:ext uri="{9D8B030D-6E8A-4147-A177-3AD203B41FA5}">
                      <a16:colId xmlns:a16="http://schemas.microsoft.com/office/drawing/2014/main" val="20001"/>
                    </a:ext>
                  </a:extLst>
                </a:gridCol>
                <a:gridCol w="1370330">
                  <a:extLst>
                    <a:ext uri="{9D8B030D-6E8A-4147-A177-3AD203B41FA5}">
                      <a16:colId xmlns:a16="http://schemas.microsoft.com/office/drawing/2014/main" val="20002"/>
                    </a:ext>
                  </a:extLst>
                </a:gridCol>
                <a:gridCol w="1871345">
                  <a:extLst>
                    <a:ext uri="{9D8B030D-6E8A-4147-A177-3AD203B41FA5}">
                      <a16:colId xmlns:a16="http://schemas.microsoft.com/office/drawing/2014/main" val="20003"/>
                    </a:ext>
                  </a:extLst>
                </a:gridCol>
              </a:tblGrid>
              <a:tr h="4572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C.cid</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C.discnt</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S.cid</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S.discnt</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c001</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10</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c002</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12</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c003</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8</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c001</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c003</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8</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c002</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12</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974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11322" name="Text Box 40"/>
              <p:cNvSpPr txBox="1"/>
              <p:nvPr/>
            </p:nvSpPr>
            <p:spPr>
              <a:xfrm>
                <a:off x="1340803" y="710565"/>
                <a:ext cx="6048375" cy="521970"/>
              </a:xfrm>
              <a:prstGeom prst="rect">
                <a:avLst/>
              </a:prstGeom>
              <a:noFill/>
              <a:ln w="9525">
                <a:noFill/>
              </a:ln>
            </p:spPr>
            <p:txBody>
              <a:bodyPr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2800" b="1" i="1">
                              <a:solidFill>
                                <a:srgbClr val="0000C8"/>
                              </a:solidFill>
                              <a:latin typeface="Cambria Math" panose="02040503050406030204" pitchFamily="18" charset="0"/>
                              <a:ea typeface="宋体" panose="02010600030101010101" pitchFamily="2" charset="-122"/>
                              <a:cs typeface="Cambria Math" panose="02040503050406030204" charset="0"/>
                            </a:rPr>
                          </m:ctrlPr>
                        </m:sSubPr>
                        <m:e>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𝝈</m:t>
                          </m:r>
                        </m:e>
                        <m: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&lt; </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oMath>
                  </m:oMathPara>
                </a14:m>
                <a:endParaRPr lang="en-US" altLang="zh-CN" sz="2800" b="1" i="1">
                  <a:solidFill>
                    <a:srgbClr val="0000C8"/>
                  </a:solidFill>
                  <a:latin typeface="Arial" panose="020B0604020202020204" pitchFamily="34" charset="0"/>
                  <a:ea typeface="宋体" panose="02010600030101010101" pitchFamily="2" charset="-122"/>
                </a:endParaRPr>
              </a:p>
            </p:txBody>
          </p:sp>
        </mc:Choice>
        <mc:Fallback xmlns="">
          <p:sp>
            <p:nvSpPr>
              <p:cNvPr id="11322" name="Text Box 40"/>
              <p:cNvSpPr txBox="1">
                <a:spLocks noRot="1" noChangeAspect="1" noMove="1" noResize="1" noEditPoints="1" noAdjustHandles="1" noChangeArrowheads="1" noChangeShapeType="1" noTextEdit="1"/>
              </p:cNvSpPr>
              <p:nvPr/>
            </p:nvSpPr>
            <p:spPr>
              <a:xfrm>
                <a:off x="1340803" y="710565"/>
                <a:ext cx="6048375" cy="521970"/>
              </a:xfrm>
              <a:prstGeom prst="rect">
                <a:avLst/>
              </a:prstGeom>
              <a:blipFill rotWithShape="1">
                <a:blip r:embed="rId4"/>
                <a:stretch>
                  <a:fillRect l="-5" r="5"/>
                </a:stretch>
              </a:blipFill>
              <a:ln w="9525">
                <a:noFill/>
              </a:ln>
            </p:spPr>
            <p:txBody>
              <a:bodyPr/>
              <a:lstStyle/>
              <a:p>
                <a:r>
                  <a:rPr lang="zh-CN" altLang="en-US">
                    <a:noFill/>
                  </a:rPr>
                  <a:t> </a:t>
                </a:r>
              </a:p>
            </p:txBody>
          </p:sp>
        </mc:Fallback>
      </mc:AlternateContent>
      <p:sp>
        <p:nvSpPr>
          <p:cNvPr id="11324" name="Text Box 40"/>
          <p:cNvSpPr txBox="1"/>
          <p:nvPr/>
        </p:nvSpPr>
        <p:spPr>
          <a:xfrm>
            <a:off x="8508365" y="1906905"/>
            <a:ext cx="2766060" cy="521970"/>
          </a:xfrm>
          <a:prstGeom prst="rect">
            <a:avLst/>
          </a:prstGeom>
          <a:solidFill>
            <a:schemeClr val="bg1"/>
          </a:solidFill>
          <a:ln w="9525">
            <a:noFill/>
          </a:ln>
        </p:spPr>
        <p:txBody>
          <a:bodyPr wrap="square" anchor="t">
            <a:noAutofit/>
          </a:bodyPr>
          <a:lstStyle/>
          <a:p>
            <a:pPr algn="ctr">
              <a:spcBef>
                <a:spcPct val="50000"/>
              </a:spcBef>
            </a:pPr>
            <a:r>
              <a:rPr lang="zh-CN" altLang="en-US" sz="2400" b="1" dirty="0">
                <a:solidFill>
                  <a:srgbClr val="0000C8"/>
                </a:solidFill>
                <a:latin typeface="楷体" panose="02010609060101010101" charset="-122"/>
                <a:ea typeface="楷体" panose="02010609060101010101" charset="-122"/>
              </a:rPr>
              <a:t>顾客关系</a:t>
            </a:r>
            <a:r>
              <a:rPr lang="zh-CN" altLang="en-US" sz="2000" b="1" dirty="0">
                <a:solidFill>
                  <a:srgbClr val="0000C8"/>
                </a:solidFill>
                <a:latin typeface="Arial" panose="020B0604020202020204" pitchFamily="34" charset="0"/>
                <a:ea typeface="宋体" panose="02010600030101010101" pitchFamily="2" charset="-122"/>
              </a:rPr>
              <a:t> </a:t>
            </a:r>
            <a:r>
              <a:rPr lang="zh-CN" altLang="en-US" sz="2800" b="1" dirty="0">
                <a:solidFill>
                  <a:srgbClr val="0000C8"/>
                </a:solidFill>
                <a:latin typeface="Arial" panose="020B0604020202020204" pitchFamily="34" charset="0"/>
                <a:ea typeface="宋体" panose="02010600030101010101" pitchFamily="2" charset="-122"/>
              </a:rPr>
              <a:t>C</a:t>
            </a:r>
          </a:p>
        </p:txBody>
      </p:sp>
      <p:sp>
        <p:nvSpPr>
          <p:cNvPr id="12367" name="文本框 12366"/>
          <p:cNvSpPr txBox="1"/>
          <p:nvPr/>
        </p:nvSpPr>
        <p:spPr>
          <a:xfrm>
            <a:off x="407035" y="6105525"/>
            <a:ext cx="11409680" cy="460375"/>
          </a:xfrm>
          <a:prstGeom prst="rect">
            <a:avLst/>
          </a:prstGeom>
          <a:solidFill>
            <a:schemeClr val="accent1">
              <a:lumMod val="20000"/>
              <a:lumOff val="80000"/>
              <a:alpha val="50000"/>
            </a:schemeClr>
          </a:solidFill>
          <a:ln w="25400" cap="flat" cmpd="sng">
            <a:noFill/>
            <a:prstDash val="solid"/>
            <a:miter/>
            <a:headEnd type="none" w="med" len="med"/>
            <a:tailEnd type="none" w="med" len="med"/>
          </a:ln>
        </p:spPr>
        <p:txBody>
          <a:bodyPr wrap="square" anchor="t">
            <a:noAutofit/>
          </a:bodyPr>
          <a:lstStyle/>
          <a:p>
            <a:pPr marL="342900" indent="-342900">
              <a:spcBef>
                <a:spcPct val="50000"/>
              </a:spcBef>
              <a:buClr>
                <a:srgbClr val="C00000"/>
              </a:buClr>
              <a:buSzPct val="85000"/>
              <a:buFont typeface="Wingdings" panose="05000000000000000000" charset="0"/>
              <a:buChar char="q"/>
            </a:pPr>
            <a:r>
              <a:rPr lang="zh-CN" altLang="en-US" sz="2400" b="1">
                <a:solidFill>
                  <a:srgbClr val="0000C8"/>
                </a:solidFill>
                <a:latin typeface="Arial" panose="020B0604020202020204" pitchFamily="34" charset="0"/>
                <a:ea typeface="楷体" panose="02010609060101010101" charset="-122"/>
                <a:cs typeface="Arial" panose="020B0604020202020204" pitchFamily="34" charset="0"/>
              </a:rPr>
              <a:t>在</a:t>
            </a:r>
            <a:r>
              <a:rPr lang="en-US" altLang="zh-CN" sz="2400" b="1">
                <a:solidFill>
                  <a:srgbClr val="0000C8"/>
                </a:solidFill>
                <a:latin typeface="Arial" panose="020B0604020202020204" pitchFamily="34" charset="0"/>
                <a:ea typeface="楷体" panose="02010609060101010101" charset="-122"/>
                <a:cs typeface="Arial" panose="020B0604020202020204" pitchFamily="34" charset="0"/>
              </a:rPr>
              <a:t>C.cid</a:t>
            </a:r>
            <a:r>
              <a:rPr lang="zh-CN" altLang="en-US" sz="2400" b="1">
                <a:solidFill>
                  <a:srgbClr val="0000C8"/>
                </a:solidFill>
                <a:latin typeface="Arial" panose="020B0604020202020204" pitchFamily="34" charset="0"/>
                <a:ea typeface="楷体" panose="02010609060101010101" charset="-122"/>
                <a:cs typeface="Arial" panose="020B0604020202020204" pitchFamily="34" charset="0"/>
              </a:rPr>
              <a:t>列上留下了“</a:t>
            </a:r>
            <a:r>
              <a:rPr lang="zh-CN" altLang="en-US" sz="2400" b="1">
                <a:solidFill>
                  <a:srgbClr val="FF0000"/>
                </a:solidFill>
                <a:latin typeface="Arial" panose="020B0604020202020204" pitchFamily="34" charset="0"/>
                <a:ea typeface="楷体" panose="02010609060101010101" charset="-122"/>
                <a:cs typeface="Arial" panose="020B0604020202020204" pitchFamily="34" charset="0"/>
              </a:rPr>
              <a:t>折扣不是最高</a:t>
            </a:r>
            <a:r>
              <a:rPr lang="zh-CN" altLang="en-US" sz="2400" b="1">
                <a:solidFill>
                  <a:srgbClr val="0000C8"/>
                </a:solidFill>
                <a:latin typeface="Arial" panose="020B0604020202020204" pitchFamily="34" charset="0"/>
                <a:ea typeface="楷体" panose="02010609060101010101" charset="-122"/>
                <a:cs typeface="Arial" panose="020B0604020202020204" pitchFamily="34" charset="0"/>
              </a:rPr>
              <a:t>”的顾客的</a:t>
            </a:r>
            <a:r>
              <a:rPr lang="en-US" altLang="zh-CN" sz="2400" b="1">
                <a:solidFill>
                  <a:srgbClr val="0000C8"/>
                </a:solidFill>
                <a:latin typeface="Arial" panose="020B0604020202020204" pitchFamily="34" charset="0"/>
                <a:ea typeface="楷体" panose="02010609060101010101" charset="-122"/>
                <a:cs typeface="Arial" panose="020B0604020202020204" pitchFamily="34" charset="0"/>
              </a:rPr>
              <a:t>cid</a:t>
            </a:r>
          </a:p>
        </p:txBody>
      </p:sp>
      <p:graphicFrame>
        <p:nvGraphicFramePr>
          <p:cNvPr id="5" name="表格 4"/>
          <p:cNvGraphicFramePr/>
          <p:nvPr>
            <p:custDataLst>
              <p:tags r:id="rId2"/>
            </p:custDataLst>
          </p:nvPr>
        </p:nvGraphicFramePr>
        <p:xfrm>
          <a:off x="8508365" y="2429510"/>
          <a:ext cx="2766060" cy="2072640"/>
        </p:xfrm>
        <a:graphic>
          <a:graphicData uri="http://schemas.openxmlformats.org/drawingml/2006/table">
            <a:tbl>
              <a:tblPr firstRow="1" bandRow="1">
                <a:tableStyleId>{5C22544A-7EE6-4342-B048-85BDC9FD1C3A}</a:tableStyleId>
              </a:tblPr>
              <a:tblGrid>
                <a:gridCol w="1383030">
                  <a:extLst>
                    <a:ext uri="{9D8B030D-6E8A-4147-A177-3AD203B41FA5}">
                      <a16:colId xmlns:a16="http://schemas.microsoft.com/office/drawing/2014/main" val="20000"/>
                    </a:ext>
                  </a:extLst>
                </a:gridCol>
                <a:gridCol w="1383030">
                  <a:extLst>
                    <a:ext uri="{9D8B030D-6E8A-4147-A177-3AD203B41FA5}">
                      <a16:colId xmlns:a16="http://schemas.microsoft.com/office/drawing/2014/main" val="20001"/>
                    </a:ext>
                  </a:extLst>
                </a:gridCol>
              </a:tblGrid>
              <a:tr h="381000">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cid</a:t>
                      </a:r>
                    </a:p>
                  </a:txBody>
                  <a:tcPr anchor="ctr">
                    <a:lnL w="28575" cmpd="sng">
                      <a:solidFill>
                        <a:schemeClr val="tx1"/>
                      </a:solidFill>
                      <a:prstDash val="solid"/>
                    </a:lnL>
                    <a:lnR w="12700"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discnt</a:t>
                      </a:r>
                    </a:p>
                  </a:txBody>
                  <a:tcPr anchor="ctr">
                    <a:lnL w="12700" cmpd="sng">
                      <a:solidFill>
                        <a:schemeClr val="tx1"/>
                      </a:solidFill>
                      <a:prstDash val="solid"/>
                    </a:lnL>
                    <a:lnR w="28575"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extLst>
                  <a:ext uri="{0D108BD9-81ED-4DB2-BD59-A6C34878D82A}">
                    <a16:rowId xmlns:a16="http://schemas.microsoft.com/office/drawing/2014/main" val="10000"/>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2857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fld id="{565CE74E-AB26-4998-AD42-012C4C1AD076}" type="slidenum">
              <a:rPr lang="zh-CN" altLang="en-US" smtClean="0"/>
              <a:t>82</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324"/>
                                        </p:tgtEl>
                                        <p:attrNameLst>
                                          <p:attrName>style.visibility</p:attrName>
                                        </p:attrNameLst>
                                      </p:cBhvr>
                                      <p:to>
                                        <p:strVal val="visible"/>
                                      </p:to>
                                    </p:set>
                                    <p:anim calcmode="lin" valueType="num">
                                      <p:cBhvr additive="base">
                                        <p:cTn id="7" dur="500" fill="hold"/>
                                        <p:tgtEl>
                                          <p:spTgt spid="11324"/>
                                        </p:tgtEl>
                                        <p:attrNameLst>
                                          <p:attrName>ppt_x</p:attrName>
                                        </p:attrNameLst>
                                      </p:cBhvr>
                                      <p:tavLst>
                                        <p:tav tm="0">
                                          <p:val>
                                            <p:strVal val="1+#ppt_w/2"/>
                                          </p:val>
                                        </p:tav>
                                        <p:tav tm="100000">
                                          <p:val>
                                            <p:strVal val="#ppt_x"/>
                                          </p:val>
                                        </p:tav>
                                      </p:tavLst>
                                    </p:anim>
                                    <p:anim calcmode="lin" valueType="num">
                                      <p:cBhvr additive="base">
                                        <p:cTn id="8" dur="500" fill="hold"/>
                                        <p:tgtEl>
                                          <p:spTgt spid="1132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4"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11</a:t>
            </a:r>
            <a:r>
              <a:rPr lang="zh-CN" altLang="en-US" dirty="0">
                <a:sym typeface="+mn-ea"/>
              </a:rPr>
              <a:t>）</a:t>
            </a:r>
            <a:endParaRPr lang="zh-CN" altLang="en-US"/>
          </a:p>
        </p:txBody>
      </p:sp>
      <p:graphicFrame>
        <p:nvGraphicFramePr>
          <p:cNvPr id="12290" name="表格 12289"/>
          <p:cNvGraphicFramePr/>
          <p:nvPr>
            <p:custDataLst>
              <p:tags r:id="rId1"/>
            </p:custDataLst>
          </p:nvPr>
        </p:nvGraphicFramePr>
        <p:xfrm>
          <a:off x="1123315" y="1178560"/>
          <a:ext cx="6484620" cy="3657600"/>
        </p:xfrm>
        <a:graphic>
          <a:graphicData uri="http://schemas.openxmlformats.org/drawingml/2006/table">
            <a:tbl>
              <a:tblPr/>
              <a:tblGrid>
                <a:gridCol w="1393190">
                  <a:extLst>
                    <a:ext uri="{9D8B030D-6E8A-4147-A177-3AD203B41FA5}">
                      <a16:colId xmlns:a16="http://schemas.microsoft.com/office/drawing/2014/main" val="20000"/>
                    </a:ext>
                  </a:extLst>
                </a:gridCol>
                <a:gridCol w="1849755">
                  <a:extLst>
                    <a:ext uri="{9D8B030D-6E8A-4147-A177-3AD203B41FA5}">
                      <a16:colId xmlns:a16="http://schemas.microsoft.com/office/drawing/2014/main" val="20001"/>
                    </a:ext>
                  </a:extLst>
                </a:gridCol>
                <a:gridCol w="1370330">
                  <a:extLst>
                    <a:ext uri="{9D8B030D-6E8A-4147-A177-3AD203B41FA5}">
                      <a16:colId xmlns:a16="http://schemas.microsoft.com/office/drawing/2014/main" val="20002"/>
                    </a:ext>
                  </a:extLst>
                </a:gridCol>
                <a:gridCol w="1871345">
                  <a:extLst>
                    <a:ext uri="{9D8B030D-6E8A-4147-A177-3AD203B41FA5}">
                      <a16:colId xmlns:a16="http://schemas.microsoft.com/office/drawing/2014/main" val="20003"/>
                    </a:ext>
                  </a:extLst>
                </a:gridCol>
              </a:tblGrid>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C.cid</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C.discnt</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S.cid</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S.discnt</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c001</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10</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c003</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8</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c003</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8</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11322" name="Text Box 40"/>
              <p:cNvSpPr txBox="1"/>
              <p:nvPr/>
            </p:nvSpPr>
            <p:spPr>
              <a:xfrm>
                <a:off x="1340803" y="595630"/>
                <a:ext cx="6048375" cy="521970"/>
              </a:xfrm>
              <a:prstGeom prst="rect">
                <a:avLst/>
              </a:prstGeom>
              <a:noFill/>
              <a:ln w="9525">
                <a:noFill/>
              </a:ln>
            </p:spPr>
            <p:txBody>
              <a:bodyPr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2800" b="1" i="1">
                              <a:solidFill>
                                <a:srgbClr val="0000C8"/>
                              </a:solidFill>
                              <a:latin typeface="Cambria Math" panose="02040503050406030204" pitchFamily="18" charset="0"/>
                              <a:ea typeface="宋体" panose="02010600030101010101" pitchFamily="2" charset="-122"/>
                              <a:cs typeface="Cambria Math" panose="02040503050406030204" charset="0"/>
                            </a:rPr>
                          </m:ctrlPr>
                        </m:sSubPr>
                        <m:e>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𝝈</m:t>
                          </m:r>
                        </m:e>
                        <m: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&lt; </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oMath>
                  </m:oMathPara>
                </a14:m>
                <a:endParaRPr lang="en-US" altLang="zh-CN" sz="2800" b="1" i="1">
                  <a:solidFill>
                    <a:srgbClr val="0000C8"/>
                  </a:solidFill>
                  <a:latin typeface="Arial" panose="020B0604020202020204" pitchFamily="34" charset="0"/>
                  <a:ea typeface="宋体" panose="02010600030101010101" pitchFamily="2" charset="-122"/>
                </a:endParaRPr>
              </a:p>
            </p:txBody>
          </p:sp>
        </mc:Choice>
        <mc:Fallback xmlns="">
          <p:sp>
            <p:nvSpPr>
              <p:cNvPr id="11322" name="Text Box 40"/>
              <p:cNvSpPr txBox="1">
                <a:spLocks noRot="1" noChangeAspect="1" noMove="1" noResize="1" noEditPoints="1" noAdjustHandles="1" noChangeArrowheads="1" noChangeShapeType="1" noTextEdit="1"/>
              </p:cNvSpPr>
              <p:nvPr/>
            </p:nvSpPr>
            <p:spPr>
              <a:xfrm>
                <a:off x="1340803" y="595630"/>
                <a:ext cx="6048375" cy="521970"/>
              </a:xfrm>
              <a:prstGeom prst="rect">
                <a:avLst/>
              </a:prstGeom>
              <a:blipFill rotWithShape="1">
                <a:blip r:embed="rId5"/>
                <a:stretch>
                  <a:fillRect l="-5" r="5"/>
                </a:stretch>
              </a:blipFill>
              <a:ln w="9525">
                <a:noFill/>
              </a:ln>
            </p:spPr>
            <p:txBody>
              <a:bodyPr/>
              <a:lstStyle/>
              <a:p>
                <a:r>
                  <a:rPr lang="zh-CN" altLang="en-US">
                    <a:noFill/>
                  </a:rPr>
                  <a:t> </a:t>
                </a:r>
              </a:p>
            </p:txBody>
          </p:sp>
        </mc:Fallback>
      </mc:AlternateContent>
      <p:sp>
        <p:nvSpPr>
          <p:cNvPr id="11324" name="Text Box 40"/>
          <p:cNvSpPr txBox="1"/>
          <p:nvPr/>
        </p:nvSpPr>
        <p:spPr>
          <a:xfrm>
            <a:off x="8508365" y="656590"/>
            <a:ext cx="2766060" cy="521970"/>
          </a:xfrm>
          <a:prstGeom prst="rect">
            <a:avLst/>
          </a:prstGeom>
          <a:solidFill>
            <a:schemeClr val="bg1"/>
          </a:solidFill>
          <a:ln w="9525">
            <a:noFill/>
          </a:ln>
        </p:spPr>
        <p:txBody>
          <a:bodyPr wrap="square" anchor="t">
            <a:noAutofit/>
          </a:bodyPr>
          <a:lstStyle/>
          <a:p>
            <a:pPr algn="ctr">
              <a:spcBef>
                <a:spcPct val="50000"/>
              </a:spcBef>
            </a:pPr>
            <a:r>
              <a:rPr lang="zh-CN" altLang="en-US" sz="2400" b="1" dirty="0">
                <a:solidFill>
                  <a:srgbClr val="0000C8"/>
                </a:solidFill>
                <a:latin typeface="楷体" panose="02010609060101010101" charset="-122"/>
                <a:ea typeface="楷体" panose="02010609060101010101" charset="-122"/>
              </a:rPr>
              <a:t>顾客关系</a:t>
            </a:r>
            <a:r>
              <a:rPr lang="zh-CN" altLang="en-US" sz="2000" b="1" dirty="0">
                <a:solidFill>
                  <a:srgbClr val="0000C8"/>
                </a:solidFill>
                <a:latin typeface="Arial" panose="020B0604020202020204" pitchFamily="34" charset="0"/>
                <a:ea typeface="宋体" panose="02010600030101010101" pitchFamily="2" charset="-122"/>
              </a:rPr>
              <a:t> </a:t>
            </a:r>
            <a:r>
              <a:rPr lang="zh-CN" altLang="en-US" sz="2800" b="1" dirty="0">
                <a:solidFill>
                  <a:srgbClr val="0000C8"/>
                </a:solidFill>
                <a:latin typeface="Arial" panose="020B0604020202020204" pitchFamily="34" charset="0"/>
                <a:ea typeface="宋体" panose="02010600030101010101" pitchFamily="2" charset="-122"/>
              </a:rPr>
              <a:t>C</a:t>
            </a:r>
          </a:p>
        </p:txBody>
      </p:sp>
      <p:graphicFrame>
        <p:nvGraphicFramePr>
          <p:cNvPr id="5" name="表格 4"/>
          <p:cNvGraphicFramePr/>
          <p:nvPr>
            <p:custDataLst>
              <p:tags r:id="rId2"/>
            </p:custDataLst>
          </p:nvPr>
        </p:nvGraphicFramePr>
        <p:xfrm>
          <a:off x="8508365" y="1179195"/>
          <a:ext cx="2766060" cy="2072640"/>
        </p:xfrm>
        <a:graphic>
          <a:graphicData uri="http://schemas.openxmlformats.org/drawingml/2006/table">
            <a:tbl>
              <a:tblPr firstRow="1" bandRow="1">
                <a:tableStyleId>{5C22544A-7EE6-4342-B048-85BDC9FD1C3A}</a:tableStyleId>
              </a:tblPr>
              <a:tblGrid>
                <a:gridCol w="1383030">
                  <a:extLst>
                    <a:ext uri="{9D8B030D-6E8A-4147-A177-3AD203B41FA5}">
                      <a16:colId xmlns:a16="http://schemas.microsoft.com/office/drawing/2014/main" val="20000"/>
                    </a:ext>
                  </a:extLst>
                </a:gridCol>
                <a:gridCol w="1383030">
                  <a:extLst>
                    <a:ext uri="{9D8B030D-6E8A-4147-A177-3AD203B41FA5}">
                      <a16:colId xmlns:a16="http://schemas.microsoft.com/office/drawing/2014/main" val="20001"/>
                    </a:ext>
                  </a:extLst>
                </a:gridCol>
              </a:tblGrid>
              <a:tr h="381000">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cid</a:t>
                      </a:r>
                    </a:p>
                  </a:txBody>
                  <a:tcPr anchor="ctr">
                    <a:lnL w="28575" cmpd="sng">
                      <a:solidFill>
                        <a:schemeClr val="tx1"/>
                      </a:solidFill>
                      <a:prstDash val="solid"/>
                    </a:lnL>
                    <a:lnR w="12700"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discnt</a:t>
                      </a:r>
                    </a:p>
                  </a:txBody>
                  <a:tcPr anchor="ctr">
                    <a:lnL w="12700" cmpd="sng">
                      <a:solidFill>
                        <a:schemeClr val="tx1"/>
                      </a:solidFill>
                      <a:prstDash val="solid"/>
                    </a:lnL>
                    <a:lnR w="28575"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extLst>
                  <a:ext uri="{0D108BD9-81ED-4DB2-BD59-A6C34878D82A}">
                    <a16:rowId xmlns:a16="http://schemas.microsoft.com/office/drawing/2014/main" val="10000"/>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2857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2346" name="Text Box 40"/>
              <p:cNvSpPr txBox="1"/>
              <p:nvPr/>
            </p:nvSpPr>
            <p:spPr>
              <a:xfrm>
                <a:off x="1123315" y="5659755"/>
                <a:ext cx="6485255" cy="583565"/>
              </a:xfrm>
              <a:prstGeom prst="rect">
                <a:avLst/>
              </a:prstGeom>
              <a:noFill/>
              <a:ln w="9525">
                <a:noFill/>
              </a:ln>
            </p:spPr>
            <p:txBody>
              <a:bodyPr wrap="square"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3200" b="1" i="1">
                              <a:solidFill>
                                <a:srgbClr val="FF0000"/>
                              </a:solidFill>
                              <a:latin typeface="Cambria Math" panose="02040503050406030204" pitchFamily="18" charset="0"/>
                              <a:ea typeface="宋体" panose="02010600030101010101" pitchFamily="2" charset="-122"/>
                              <a:cs typeface="Cambria Math" panose="02040503050406030204" charset="0"/>
                              <a:sym typeface="Symbol" panose="05050102010706020507" pitchFamily="2" charset="2"/>
                            </a:rPr>
                          </m:ctrlPr>
                        </m:sSubPr>
                        <m:e>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𝝅</m:t>
                          </m:r>
                        </m:e>
                        <m:sub>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𝑪</m:t>
                          </m:r>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𝒄𝒊𝒅</m:t>
                          </m:r>
                          <m:r>
                            <a:rPr lang="en-US" altLang="zh-CN" sz="3200" b="1" i="1">
                              <a:solidFill>
                                <a:schemeClr val="accent2"/>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sub>
                      </m:sSub>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sSub>
                        <m:sSubPr>
                          <m:ctrlPr>
                            <a:rPr lang="en-US" altLang="zh-CN" sz="3200" b="1" i="1">
                              <a:solidFill>
                                <a:srgbClr val="0000C8"/>
                              </a:solidFill>
                              <a:latin typeface="Cambria Math" panose="02040503050406030204" pitchFamily="18" charset="0"/>
                              <a:ea typeface="宋体" panose="02010600030101010101" pitchFamily="2" charset="-122"/>
                              <a:cs typeface="Cambria Math" panose="02040503050406030204" charset="0"/>
                            </a:rPr>
                          </m:ctrlPr>
                        </m:sSubPr>
                        <m:e>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𝝈</m:t>
                          </m:r>
                        </m:e>
                        <m:sub>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 &lt; </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 </m:t>
                          </m:r>
                        </m:sub>
                      </m:sSub>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oMath>
                  </m:oMathPara>
                </a14:m>
                <a:endParaRPr lang="en-US" altLang="zh-CN" sz="3200" b="1" i="1">
                  <a:solidFill>
                    <a:srgbClr val="0000C8"/>
                  </a:solidFill>
                  <a:latin typeface="Arial" panose="020B0604020202020204" pitchFamily="34" charset="0"/>
                  <a:ea typeface="宋体" panose="02010600030101010101" pitchFamily="2" charset="-122"/>
                </a:endParaRPr>
              </a:p>
            </p:txBody>
          </p:sp>
        </mc:Choice>
        <mc:Fallback xmlns="">
          <p:sp>
            <p:nvSpPr>
              <p:cNvPr id="12346" name="Text Box 40"/>
              <p:cNvSpPr txBox="1">
                <a:spLocks noRot="1" noChangeAspect="1" noMove="1" noResize="1" noEditPoints="1" noAdjustHandles="1" noChangeArrowheads="1" noChangeShapeType="1" noTextEdit="1"/>
              </p:cNvSpPr>
              <p:nvPr/>
            </p:nvSpPr>
            <p:spPr>
              <a:xfrm>
                <a:off x="1123315" y="5659755"/>
                <a:ext cx="6485255" cy="583565"/>
              </a:xfrm>
              <a:prstGeom prst="rect">
                <a:avLst/>
              </a:prstGeom>
              <a:blipFill rotWithShape="1">
                <a:blip r:embed="rId6"/>
                <a:stretch>
                  <a:fillRect/>
                </a:stretch>
              </a:blipFill>
              <a:ln w="9525">
                <a:noFill/>
              </a:ln>
            </p:spPr>
            <p:txBody>
              <a:bodyPr/>
              <a:lstStyle/>
              <a:p>
                <a:r>
                  <a:rPr lang="zh-CN" altLang="en-US">
                    <a:noFill/>
                  </a:rPr>
                  <a:t> </a:t>
                </a:r>
              </a:p>
            </p:txBody>
          </p:sp>
        </mc:Fallback>
      </mc:AlternateContent>
      <p:sp>
        <p:nvSpPr>
          <p:cNvPr id="12366" name="文本框 13390"/>
          <p:cNvSpPr txBox="1"/>
          <p:nvPr/>
        </p:nvSpPr>
        <p:spPr>
          <a:xfrm>
            <a:off x="406400" y="5062220"/>
            <a:ext cx="7202170" cy="521970"/>
          </a:xfrm>
          <a:prstGeom prst="rect">
            <a:avLst/>
          </a:prstGeom>
          <a:noFill/>
          <a:ln w="9525">
            <a:noFill/>
          </a:ln>
        </p:spPr>
        <p:txBody>
          <a:bodyPr wrap="square" anchor="t">
            <a:noAutofit/>
          </a:bodyPr>
          <a:lstStyle/>
          <a:p>
            <a:pPr marL="457200" indent="-457200">
              <a:spcBef>
                <a:spcPct val="50000"/>
              </a:spcBef>
              <a:buClr>
                <a:srgbClr val="C00000"/>
              </a:buClr>
              <a:buSzPct val="85000"/>
              <a:buFont typeface="Wingdings" panose="05000000000000000000" charset="0"/>
              <a:buChar char="q"/>
            </a:pPr>
            <a:r>
              <a:rPr lang="zh-CN" altLang="en-US" sz="2800" b="1">
                <a:solidFill>
                  <a:srgbClr val="0000C8"/>
                </a:solidFill>
                <a:latin typeface="+mn-lt"/>
                <a:ea typeface="楷体" panose="02010609060101010101" charset="-122"/>
                <a:cs typeface="+mn-lt"/>
              </a:rPr>
              <a:t>投影得到“</a:t>
            </a:r>
            <a:r>
              <a:rPr lang="zh-CN" altLang="en-US" sz="2800" b="1">
                <a:solidFill>
                  <a:srgbClr val="FF0000"/>
                </a:solidFill>
                <a:latin typeface="+mn-lt"/>
                <a:ea typeface="楷体" panose="02010609060101010101" charset="-122"/>
                <a:cs typeface="+mn-lt"/>
              </a:rPr>
              <a:t>折扣不是最高</a:t>
            </a:r>
            <a:r>
              <a:rPr lang="zh-CN" altLang="en-US" sz="2800" b="1">
                <a:solidFill>
                  <a:srgbClr val="0000C8"/>
                </a:solidFill>
                <a:latin typeface="+mn-lt"/>
                <a:ea typeface="楷体" panose="02010609060101010101" charset="-122"/>
                <a:cs typeface="+mn-lt"/>
              </a:rPr>
              <a:t>”的顾客的</a:t>
            </a:r>
            <a:r>
              <a:rPr lang="en-US" altLang="zh-CN" sz="2800" b="1">
                <a:solidFill>
                  <a:srgbClr val="0000C8"/>
                </a:solidFill>
                <a:latin typeface="+mn-lt"/>
                <a:ea typeface="楷体" panose="02010609060101010101" charset="-122"/>
                <a:cs typeface="+mn-lt"/>
              </a:rPr>
              <a:t>cid</a:t>
            </a:r>
          </a:p>
        </p:txBody>
      </p:sp>
      <p:sp>
        <p:nvSpPr>
          <p:cNvPr id="2" name="Text Box 40"/>
          <p:cNvSpPr txBox="1"/>
          <p:nvPr/>
        </p:nvSpPr>
        <p:spPr>
          <a:xfrm>
            <a:off x="8115935" y="4330700"/>
            <a:ext cx="3604895" cy="460375"/>
          </a:xfrm>
          <a:prstGeom prst="rect">
            <a:avLst/>
          </a:prstGeom>
          <a:solidFill>
            <a:schemeClr val="bg1"/>
          </a:solidFill>
          <a:ln w="9525">
            <a:noFill/>
          </a:ln>
        </p:spPr>
        <p:txBody>
          <a:bodyPr wrap="square" anchor="t">
            <a:noAutofit/>
          </a:bodyPr>
          <a:lstStyle/>
          <a:p>
            <a:pPr algn="ctr">
              <a:spcBef>
                <a:spcPct val="50000"/>
              </a:spcBef>
            </a:pPr>
            <a:r>
              <a:rPr lang="zh-CN" altLang="en-US" sz="2400" b="1" dirty="0">
                <a:solidFill>
                  <a:srgbClr val="0000C8"/>
                </a:solidFill>
                <a:latin typeface="楷体" panose="02010609060101010101" charset="-122"/>
                <a:ea typeface="楷体" panose="02010609060101010101" charset="-122"/>
              </a:rPr>
              <a:t>折扣不是最高的顾客</a:t>
            </a:r>
            <a:r>
              <a:rPr lang="en-US" altLang="zh-CN" sz="2400" b="1" dirty="0">
                <a:solidFill>
                  <a:srgbClr val="0000C8"/>
                </a:solidFill>
                <a:latin typeface="楷体" panose="02010609060101010101" charset="-122"/>
                <a:ea typeface="楷体" panose="02010609060101010101" charset="-122"/>
              </a:rPr>
              <a:t>cid</a:t>
            </a:r>
            <a:endParaRPr lang="en-US" altLang="zh-CN" sz="2800" b="1" dirty="0">
              <a:solidFill>
                <a:srgbClr val="0000C8"/>
              </a:solidFill>
              <a:latin typeface="Arial" panose="020B0604020202020204" pitchFamily="34" charset="0"/>
              <a:ea typeface="宋体" panose="02010600030101010101" pitchFamily="2" charset="-122"/>
            </a:endParaRPr>
          </a:p>
        </p:txBody>
      </p:sp>
      <p:graphicFrame>
        <p:nvGraphicFramePr>
          <p:cNvPr id="3" name="表格 2"/>
          <p:cNvGraphicFramePr/>
          <p:nvPr>
            <p:custDataLst>
              <p:tags r:id="rId3"/>
            </p:custDataLst>
          </p:nvPr>
        </p:nvGraphicFramePr>
        <p:xfrm>
          <a:off x="8867140" y="4820920"/>
          <a:ext cx="2044065" cy="1554480"/>
        </p:xfrm>
        <a:graphic>
          <a:graphicData uri="http://schemas.openxmlformats.org/drawingml/2006/table">
            <a:tbl>
              <a:tblPr firstRow="1" bandRow="1">
                <a:tableStyleId>{5C22544A-7EE6-4342-B048-85BDC9FD1C3A}</a:tableStyleId>
              </a:tblPr>
              <a:tblGrid>
                <a:gridCol w="2044065">
                  <a:extLst>
                    <a:ext uri="{9D8B030D-6E8A-4147-A177-3AD203B41FA5}">
                      <a16:colId xmlns:a16="http://schemas.microsoft.com/office/drawing/2014/main" val="20000"/>
                    </a:ext>
                  </a:extLst>
                </a:gridCol>
              </a:tblGrid>
              <a:tr h="381000">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C.cid</a:t>
                      </a:r>
                    </a:p>
                  </a:txBody>
                  <a:tcPr anchor="ctr">
                    <a:lnL w="28575" cmpd="sng">
                      <a:solidFill>
                        <a:schemeClr val="tx1"/>
                      </a:solidFill>
                      <a:prstDash val="solid"/>
                    </a:lnL>
                    <a:lnR w="28575"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extLst>
                  <a:ext uri="{0D108BD9-81ED-4DB2-BD59-A6C34878D82A}">
                    <a16:rowId xmlns:a16="http://schemas.microsoft.com/office/drawing/2014/main" val="10000"/>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2"/>
                  </a:ext>
                </a:extLst>
              </a:tr>
            </a:tbl>
          </a:graphicData>
        </a:graphic>
      </p:graphicFrame>
      <p:sp>
        <p:nvSpPr>
          <p:cNvPr id="7" name="灯片编号占位符 6"/>
          <p:cNvSpPr>
            <a:spLocks noGrp="1"/>
          </p:cNvSpPr>
          <p:nvPr>
            <p:ph type="sldNum" sz="quarter" idx="12"/>
          </p:nvPr>
        </p:nvSpPr>
        <p:spPr/>
        <p:txBody>
          <a:bodyPr/>
          <a:lstStyle/>
          <a:p>
            <a:fld id="{565CE74E-AB26-4998-AD42-012C4C1AD076}" type="slidenum">
              <a:rPr lang="zh-CN" altLang="en-US" smtClean="0"/>
              <a:t>83</a:t>
            </a:fld>
            <a:endParaRPr lang="zh-CN" altLang="en-US"/>
          </a:p>
        </p:txBody>
      </p:sp>
      <p:sp>
        <p:nvSpPr>
          <p:cNvPr id="6" name="页脚占位符 5"/>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66"/>
                                        </p:tgtEl>
                                        <p:attrNameLst>
                                          <p:attrName>style.visibility</p:attrName>
                                        </p:attrNameLst>
                                      </p:cBhvr>
                                      <p:to>
                                        <p:strVal val="visible"/>
                                      </p:to>
                                    </p:set>
                                    <p:animEffect transition="in" filter="blinds(horizontal)">
                                      <p:cBhvr>
                                        <p:cTn id="7" dur="500"/>
                                        <p:tgtEl>
                                          <p:spTgt spid="123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346"/>
                                        </p:tgtEl>
                                        <p:attrNameLst>
                                          <p:attrName>style.visibility</p:attrName>
                                        </p:attrNameLst>
                                      </p:cBhvr>
                                      <p:to>
                                        <p:strVal val="visible"/>
                                      </p:to>
                                    </p:set>
                                    <p:anim calcmode="lin" valueType="num">
                                      <p:cBhvr additive="base">
                                        <p:cTn id="12" dur="500" fill="hold"/>
                                        <p:tgtEl>
                                          <p:spTgt spid="12346"/>
                                        </p:tgtEl>
                                        <p:attrNameLst>
                                          <p:attrName>ppt_x</p:attrName>
                                        </p:attrNameLst>
                                      </p:cBhvr>
                                      <p:tavLst>
                                        <p:tav tm="0">
                                          <p:val>
                                            <p:strVal val="#ppt_x"/>
                                          </p:val>
                                        </p:tav>
                                        <p:tav tm="100000">
                                          <p:val>
                                            <p:strVal val="#ppt_x"/>
                                          </p:val>
                                        </p:tav>
                                      </p:tavLst>
                                    </p:anim>
                                    <p:anim calcmode="lin" valueType="num">
                                      <p:cBhvr additive="base">
                                        <p:cTn id="13" dur="500" fill="hold"/>
                                        <p:tgtEl>
                                          <p:spTgt spid="1234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6" grpId="0"/>
      <p:bldP spid="12366" grpId="0" animBg="1"/>
      <p:bldP spid="2"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12</a:t>
            </a:r>
            <a:r>
              <a:rPr lang="zh-CN" altLang="en-US" dirty="0">
                <a:sym typeface="+mn-ea"/>
              </a:rPr>
              <a:t>）</a:t>
            </a:r>
            <a:endParaRPr lang="zh-CN" altLang="en-US"/>
          </a:p>
        </p:txBody>
      </p:sp>
      <p:graphicFrame>
        <p:nvGraphicFramePr>
          <p:cNvPr id="12290" name="表格 12289"/>
          <p:cNvGraphicFramePr/>
          <p:nvPr>
            <p:custDataLst>
              <p:tags r:id="rId1"/>
            </p:custDataLst>
          </p:nvPr>
        </p:nvGraphicFramePr>
        <p:xfrm>
          <a:off x="1123315" y="1178560"/>
          <a:ext cx="6484620" cy="3657600"/>
        </p:xfrm>
        <a:graphic>
          <a:graphicData uri="http://schemas.openxmlformats.org/drawingml/2006/table">
            <a:tbl>
              <a:tblPr/>
              <a:tblGrid>
                <a:gridCol w="1393190">
                  <a:extLst>
                    <a:ext uri="{9D8B030D-6E8A-4147-A177-3AD203B41FA5}">
                      <a16:colId xmlns:a16="http://schemas.microsoft.com/office/drawing/2014/main" val="20000"/>
                    </a:ext>
                  </a:extLst>
                </a:gridCol>
                <a:gridCol w="1849755">
                  <a:extLst>
                    <a:ext uri="{9D8B030D-6E8A-4147-A177-3AD203B41FA5}">
                      <a16:colId xmlns:a16="http://schemas.microsoft.com/office/drawing/2014/main" val="20001"/>
                    </a:ext>
                  </a:extLst>
                </a:gridCol>
                <a:gridCol w="1370330">
                  <a:extLst>
                    <a:ext uri="{9D8B030D-6E8A-4147-A177-3AD203B41FA5}">
                      <a16:colId xmlns:a16="http://schemas.microsoft.com/office/drawing/2014/main" val="20002"/>
                    </a:ext>
                  </a:extLst>
                </a:gridCol>
                <a:gridCol w="1871345">
                  <a:extLst>
                    <a:ext uri="{9D8B030D-6E8A-4147-A177-3AD203B41FA5}">
                      <a16:colId xmlns:a16="http://schemas.microsoft.com/office/drawing/2014/main" val="20003"/>
                    </a:ext>
                  </a:extLst>
                </a:gridCol>
              </a:tblGrid>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C.cid</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C.discnt</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S.cid</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a:solidFill>
                            <a:srgbClr val="FF0000"/>
                          </a:solidFill>
                        </a:rPr>
                        <a:t>S.discnt</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c001</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10</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c003</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8</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c003</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8</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sz="24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6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endParaRPr lang="zh-CN" altLang="en-US" sz="2400" b="1" i="1">
                        <a:solidFill>
                          <a:srgbClr val="0000C8"/>
                        </a:solidFill>
                        <a:latin typeface="Times New Roman" panose="02020603050405020304" charset="0"/>
                        <a:cs typeface="Times New Roman" panose="0202060305040502030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11322" name="Text Box 40"/>
              <p:cNvSpPr txBox="1"/>
              <p:nvPr/>
            </p:nvSpPr>
            <p:spPr>
              <a:xfrm>
                <a:off x="1340803" y="595630"/>
                <a:ext cx="6048375" cy="521970"/>
              </a:xfrm>
              <a:prstGeom prst="rect">
                <a:avLst/>
              </a:prstGeom>
              <a:noFill/>
              <a:ln w="9525">
                <a:noFill/>
              </a:ln>
            </p:spPr>
            <p:txBody>
              <a:bodyPr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2800" b="1" i="1">
                              <a:solidFill>
                                <a:srgbClr val="0000C8"/>
                              </a:solidFill>
                              <a:latin typeface="Cambria Math" panose="02040503050406030204" pitchFamily="18" charset="0"/>
                              <a:ea typeface="宋体" panose="02010600030101010101" pitchFamily="2" charset="-122"/>
                              <a:cs typeface="Cambria Math" panose="02040503050406030204" charset="0"/>
                            </a:rPr>
                          </m:ctrlPr>
                        </m:sSubPr>
                        <m:e>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𝝈</m:t>
                          </m:r>
                        </m:e>
                        <m: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&lt; </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oMath>
                  </m:oMathPara>
                </a14:m>
                <a:endParaRPr lang="en-US" altLang="zh-CN" sz="2800" b="1" i="1">
                  <a:solidFill>
                    <a:srgbClr val="0000C8"/>
                  </a:solidFill>
                  <a:latin typeface="Arial" panose="020B0604020202020204" pitchFamily="34" charset="0"/>
                  <a:ea typeface="宋体" panose="02010600030101010101" pitchFamily="2" charset="-122"/>
                </a:endParaRPr>
              </a:p>
            </p:txBody>
          </p:sp>
        </mc:Choice>
        <mc:Fallback xmlns="">
          <p:sp>
            <p:nvSpPr>
              <p:cNvPr id="11322" name="Text Box 40"/>
              <p:cNvSpPr txBox="1">
                <a:spLocks noRot="1" noChangeAspect="1" noMove="1" noResize="1" noEditPoints="1" noAdjustHandles="1" noChangeArrowheads="1" noChangeShapeType="1" noTextEdit="1"/>
              </p:cNvSpPr>
              <p:nvPr/>
            </p:nvSpPr>
            <p:spPr>
              <a:xfrm>
                <a:off x="1340803" y="595630"/>
                <a:ext cx="6048375" cy="521970"/>
              </a:xfrm>
              <a:prstGeom prst="rect">
                <a:avLst/>
              </a:prstGeom>
              <a:blipFill rotWithShape="1">
                <a:blip r:embed="rId5"/>
                <a:stretch>
                  <a:fillRect l="-5" r="5"/>
                </a:stretch>
              </a:blipFill>
              <a:ln w="9525">
                <a:noFill/>
              </a:ln>
            </p:spPr>
            <p:txBody>
              <a:bodyPr/>
              <a:lstStyle/>
              <a:p>
                <a:r>
                  <a:rPr lang="zh-CN" altLang="en-US">
                    <a:noFill/>
                  </a:rPr>
                  <a:t> </a:t>
                </a:r>
              </a:p>
            </p:txBody>
          </p:sp>
        </mc:Fallback>
      </mc:AlternateContent>
      <p:sp>
        <p:nvSpPr>
          <p:cNvPr id="11324" name="Text Box 40"/>
          <p:cNvSpPr txBox="1"/>
          <p:nvPr/>
        </p:nvSpPr>
        <p:spPr>
          <a:xfrm>
            <a:off x="8508365" y="656590"/>
            <a:ext cx="2766060" cy="521970"/>
          </a:xfrm>
          <a:prstGeom prst="rect">
            <a:avLst/>
          </a:prstGeom>
          <a:solidFill>
            <a:schemeClr val="bg1"/>
          </a:solidFill>
          <a:ln w="9525">
            <a:noFill/>
          </a:ln>
        </p:spPr>
        <p:txBody>
          <a:bodyPr wrap="square" anchor="t">
            <a:noAutofit/>
          </a:bodyPr>
          <a:lstStyle/>
          <a:p>
            <a:pPr algn="ctr">
              <a:spcBef>
                <a:spcPct val="50000"/>
              </a:spcBef>
            </a:pPr>
            <a:r>
              <a:rPr lang="zh-CN" altLang="en-US" sz="2400" b="1" dirty="0">
                <a:solidFill>
                  <a:srgbClr val="0000C8"/>
                </a:solidFill>
                <a:latin typeface="楷体" panose="02010609060101010101" charset="-122"/>
                <a:ea typeface="楷体" panose="02010609060101010101" charset="-122"/>
              </a:rPr>
              <a:t>顾客关系</a:t>
            </a:r>
            <a:r>
              <a:rPr lang="zh-CN" altLang="en-US" sz="2000" b="1" dirty="0">
                <a:solidFill>
                  <a:srgbClr val="0000C8"/>
                </a:solidFill>
                <a:latin typeface="Arial" panose="020B0604020202020204" pitchFamily="34" charset="0"/>
                <a:ea typeface="宋体" panose="02010600030101010101" pitchFamily="2" charset="-122"/>
              </a:rPr>
              <a:t> </a:t>
            </a:r>
            <a:r>
              <a:rPr lang="zh-CN" altLang="en-US" sz="2800" b="1" dirty="0">
                <a:solidFill>
                  <a:srgbClr val="0000C8"/>
                </a:solidFill>
                <a:latin typeface="Arial" panose="020B0604020202020204" pitchFamily="34" charset="0"/>
                <a:ea typeface="宋体" panose="02010600030101010101" pitchFamily="2" charset="-122"/>
              </a:rPr>
              <a:t>C</a:t>
            </a:r>
          </a:p>
        </p:txBody>
      </p:sp>
      <p:graphicFrame>
        <p:nvGraphicFramePr>
          <p:cNvPr id="5" name="表格 4"/>
          <p:cNvGraphicFramePr/>
          <p:nvPr>
            <p:custDataLst>
              <p:tags r:id="rId2"/>
            </p:custDataLst>
          </p:nvPr>
        </p:nvGraphicFramePr>
        <p:xfrm>
          <a:off x="8508365" y="1179195"/>
          <a:ext cx="2766060" cy="2072640"/>
        </p:xfrm>
        <a:graphic>
          <a:graphicData uri="http://schemas.openxmlformats.org/drawingml/2006/table">
            <a:tbl>
              <a:tblPr firstRow="1" bandRow="1">
                <a:tableStyleId>{5C22544A-7EE6-4342-B048-85BDC9FD1C3A}</a:tableStyleId>
              </a:tblPr>
              <a:tblGrid>
                <a:gridCol w="1383030">
                  <a:extLst>
                    <a:ext uri="{9D8B030D-6E8A-4147-A177-3AD203B41FA5}">
                      <a16:colId xmlns:a16="http://schemas.microsoft.com/office/drawing/2014/main" val="20000"/>
                    </a:ext>
                  </a:extLst>
                </a:gridCol>
                <a:gridCol w="1383030">
                  <a:extLst>
                    <a:ext uri="{9D8B030D-6E8A-4147-A177-3AD203B41FA5}">
                      <a16:colId xmlns:a16="http://schemas.microsoft.com/office/drawing/2014/main" val="20001"/>
                    </a:ext>
                  </a:extLst>
                </a:gridCol>
              </a:tblGrid>
              <a:tr h="381000">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cid</a:t>
                      </a:r>
                    </a:p>
                  </a:txBody>
                  <a:tcPr anchor="ctr">
                    <a:lnL w="28575" cmpd="sng">
                      <a:solidFill>
                        <a:schemeClr val="tx1"/>
                      </a:solidFill>
                      <a:prstDash val="solid"/>
                    </a:lnL>
                    <a:lnR w="12700"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discnt</a:t>
                      </a:r>
                    </a:p>
                  </a:txBody>
                  <a:tcPr anchor="ctr">
                    <a:lnL w="12700" cmpd="sng">
                      <a:solidFill>
                        <a:schemeClr val="tx1"/>
                      </a:solidFill>
                      <a:prstDash val="solid"/>
                    </a:lnL>
                    <a:lnR w="28575"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extLst>
                  <a:ext uri="{0D108BD9-81ED-4DB2-BD59-A6C34878D82A}">
                    <a16:rowId xmlns:a16="http://schemas.microsoft.com/office/drawing/2014/main" val="10000"/>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10</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12</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c003</a:t>
                      </a:r>
                    </a:p>
                  </a:txBody>
                  <a:tcPr anchor="ctr">
                    <a:lnL w="28575" cmpd="sng">
                      <a:solidFill>
                        <a:schemeClr val="tx1"/>
                      </a:solidFill>
                      <a:prstDash val="solid"/>
                    </a:lnL>
                    <a:lnR w="12700" cmpd="sng">
                      <a:solidFill>
                        <a:schemeClr val="tx1"/>
                      </a:solidFill>
                      <a:prstDash val="solid"/>
                    </a:lnR>
                    <a:lnT w="12700" cmpd="sng">
                      <a:solidFill>
                        <a:schemeClr val="tx1"/>
                      </a:solidFill>
                      <a:prstDash val="solid"/>
                    </a:lnT>
                    <a:lnB w="28575" cmpd="sng">
                      <a:solidFill>
                        <a:schemeClr val="tx1"/>
                      </a:solidFill>
                      <a:prstDash val="solid"/>
                    </a:lnB>
                    <a:noFill/>
                  </a:tcPr>
                </a:tc>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8</a:t>
                      </a:r>
                    </a:p>
                  </a:txBody>
                  <a:tcPr anchor="ctr">
                    <a:lnL w="12700" cmpd="sng">
                      <a:solidFill>
                        <a:schemeClr val="tx1"/>
                      </a:solidFill>
                      <a:prstDash val="solid"/>
                    </a:lnL>
                    <a:lnR w="28575" cmpd="sng">
                      <a:solidFill>
                        <a:schemeClr val="tx1"/>
                      </a:solidFill>
                      <a:prstDash val="solid"/>
                    </a:lnR>
                    <a:lnT w="12700"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2346" name="Text Box 40"/>
              <p:cNvSpPr txBox="1"/>
              <p:nvPr/>
            </p:nvSpPr>
            <p:spPr>
              <a:xfrm>
                <a:off x="1123315" y="5966460"/>
                <a:ext cx="6485255" cy="583565"/>
              </a:xfrm>
              <a:prstGeom prst="rect">
                <a:avLst/>
              </a:prstGeom>
              <a:noFill/>
              <a:ln w="9525">
                <a:noFill/>
              </a:ln>
            </p:spPr>
            <p:txBody>
              <a:bodyPr wrap="square"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3200" b="1" i="1">
                              <a:solidFill>
                                <a:srgbClr val="FF0000"/>
                              </a:solidFill>
                              <a:latin typeface="Cambria Math" panose="02040503050406030204" pitchFamily="18" charset="0"/>
                              <a:ea typeface="宋体" panose="02010600030101010101" pitchFamily="2" charset="-122"/>
                              <a:cs typeface="Cambria Math" panose="02040503050406030204" charset="0"/>
                              <a:sym typeface="Symbol" panose="05050102010706020507" pitchFamily="2" charset="2"/>
                            </a:rPr>
                          </m:ctrlPr>
                        </m:sSubPr>
                        <m:e>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𝝅</m:t>
                          </m:r>
                        </m:e>
                        <m:sub>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𝑺</m:t>
                          </m:r>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m:t>
                          </m:r>
                          <m:r>
                            <a:rPr lang="en-US" altLang="zh-CN" sz="32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𝒄𝒊𝒅</m:t>
                          </m:r>
                          <m:r>
                            <a:rPr lang="en-US" altLang="zh-CN" sz="3200" b="1" i="1">
                              <a:solidFill>
                                <a:schemeClr val="accent2"/>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sub>
                      </m:sSub>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 </m:t>
                      </m:r>
                      <m:sSub>
                        <m:sSubPr>
                          <m:ctrlPr>
                            <a:rPr lang="en-US" altLang="zh-CN" sz="3200" b="1" i="1">
                              <a:solidFill>
                                <a:srgbClr val="0000C8"/>
                              </a:solidFill>
                              <a:latin typeface="Cambria Math" panose="02040503050406030204" pitchFamily="18" charset="0"/>
                              <a:ea typeface="宋体" panose="02010600030101010101" pitchFamily="2" charset="-122"/>
                              <a:cs typeface="Cambria Math" panose="02040503050406030204" charset="0"/>
                            </a:rPr>
                          </m:ctrlPr>
                        </m:sSubPr>
                        <m:e>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𝝈</m:t>
                          </m:r>
                        </m:e>
                        <m:sub>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 &lt; </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𝒅𝒊𝒔𝒄𝒏𝒕</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 </m:t>
                          </m:r>
                        </m:sub>
                      </m:sSub>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3200" b="1" i="1">
                          <a:solidFill>
                            <a:srgbClr val="0000C8"/>
                          </a:solidFill>
                          <a:latin typeface="Cambria Math" panose="02040503050406030204" charset="0"/>
                          <a:ea typeface="宋体" panose="02010600030101010101" pitchFamily="2" charset="-122"/>
                          <a:cs typeface="Cambria Math" panose="02040503050406030204" charset="0"/>
                        </a:rPr>
                        <m:t>))</m:t>
                      </m:r>
                    </m:oMath>
                  </m:oMathPara>
                </a14:m>
                <a:endParaRPr lang="en-US" altLang="zh-CN" sz="3200" b="1" i="1">
                  <a:solidFill>
                    <a:srgbClr val="0000C8"/>
                  </a:solidFill>
                  <a:latin typeface="Arial" panose="020B0604020202020204" pitchFamily="34" charset="0"/>
                  <a:ea typeface="宋体" panose="02010600030101010101" pitchFamily="2" charset="-122"/>
                </a:endParaRPr>
              </a:p>
            </p:txBody>
          </p:sp>
        </mc:Choice>
        <mc:Fallback xmlns="">
          <p:sp>
            <p:nvSpPr>
              <p:cNvPr id="12346" name="Text Box 40"/>
              <p:cNvSpPr txBox="1">
                <a:spLocks noRot="1" noChangeAspect="1" noMove="1" noResize="1" noEditPoints="1" noAdjustHandles="1" noChangeArrowheads="1" noChangeShapeType="1" noTextEdit="1"/>
              </p:cNvSpPr>
              <p:nvPr/>
            </p:nvSpPr>
            <p:spPr>
              <a:xfrm>
                <a:off x="1123315" y="5966460"/>
                <a:ext cx="6485255" cy="583565"/>
              </a:xfrm>
              <a:prstGeom prst="rect">
                <a:avLst/>
              </a:prstGeom>
              <a:blipFill rotWithShape="1">
                <a:blip r:embed="rId6"/>
                <a:stretch>
                  <a:fillRect/>
                </a:stretch>
              </a:blipFill>
              <a:ln w="9525">
                <a:noFill/>
              </a:ln>
            </p:spPr>
            <p:txBody>
              <a:bodyPr/>
              <a:lstStyle/>
              <a:p>
                <a:r>
                  <a:rPr lang="zh-CN" altLang="en-US">
                    <a:noFill/>
                  </a:rPr>
                  <a:t> </a:t>
                </a:r>
              </a:p>
            </p:txBody>
          </p:sp>
        </mc:Fallback>
      </mc:AlternateContent>
      <p:sp>
        <p:nvSpPr>
          <p:cNvPr id="12366" name="文本框 13390"/>
          <p:cNvSpPr txBox="1"/>
          <p:nvPr/>
        </p:nvSpPr>
        <p:spPr>
          <a:xfrm>
            <a:off x="406400" y="5062220"/>
            <a:ext cx="7202170" cy="953135"/>
          </a:xfrm>
          <a:prstGeom prst="rect">
            <a:avLst/>
          </a:prstGeom>
          <a:noFill/>
          <a:ln w="9525">
            <a:noFill/>
          </a:ln>
        </p:spPr>
        <p:txBody>
          <a:bodyPr wrap="square" anchor="t">
            <a:noAutofit/>
          </a:bodyPr>
          <a:lstStyle/>
          <a:p>
            <a:pPr marL="457200" indent="-457200">
              <a:spcBef>
                <a:spcPct val="50000"/>
              </a:spcBef>
              <a:buClr>
                <a:srgbClr val="C00000"/>
              </a:buClr>
              <a:buSzPct val="85000"/>
              <a:buFont typeface="Wingdings" panose="05000000000000000000" charset="0"/>
              <a:buChar char="q"/>
            </a:pPr>
            <a:r>
              <a:rPr lang="zh-CN" altLang="en-US" sz="2800" b="1">
                <a:solidFill>
                  <a:srgbClr val="0000C8"/>
                </a:solidFill>
                <a:latin typeface="+mn-lt"/>
                <a:ea typeface="楷体" panose="02010609060101010101" charset="-122"/>
                <a:cs typeface="+mn-lt"/>
              </a:rPr>
              <a:t>换个方式，可投影得到“</a:t>
            </a:r>
            <a:r>
              <a:rPr lang="zh-CN" altLang="en-US" sz="2800" b="1">
                <a:solidFill>
                  <a:srgbClr val="FF0000"/>
                </a:solidFill>
                <a:latin typeface="+mn-lt"/>
                <a:ea typeface="楷体" panose="02010609060101010101" charset="-122"/>
                <a:cs typeface="+mn-lt"/>
              </a:rPr>
              <a:t>折扣不是最低</a:t>
            </a:r>
            <a:r>
              <a:rPr lang="zh-CN" altLang="en-US" sz="2800" b="1">
                <a:solidFill>
                  <a:srgbClr val="0000C8"/>
                </a:solidFill>
                <a:latin typeface="+mn-lt"/>
                <a:ea typeface="楷体" panose="02010609060101010101" charset="-122"/>
                <a:cs typeface="+mn-lt"/>
              </a:rPr>
              <a:t>”的顾客的</a:t>
            </a:r>
            <a:r>
              <a:rPr lang="en-US" altLang="zh-CN" sz="2800" b="1">
                <a:solidFill>
                  <a:srgbClr val="0000C8"/>
                </a:solidFill>
                <a:latin typeface="+mn-lt"/>
                <a:ea typeface="楷体" panose="02010609060101010101" charset="-122"/>
                <a:cs typeface="+mn-lt"/>
              </a:rPr>
              <a:t>cid</a:t>
            </a:r>
          </a:p>
        </p:txBody>
      </p:sp>
      <p:sp>
        <p:nvSpPr>
          <p:cNvPr id="2" name="Text Box 40"/>
          <p:cNvSpPr txBox="1"/>
          <p:nvPr/>
        </p:nvSpPr>
        <p:spPr>
          <a:xfrm>
            <a:off x="8115935" y="4330700"/>
            <a:ext cx="3604895" cy="460375"/>
          </a:xfrm>
          <a:prstGeom prst="rect">
            <a:avLst/>
          </a:prstGeom>
          <a:solidFill>
            <a:schemeClr val="bg1"/>
          </a:solidFill>
          <a:ln w="9525">
            <a:noFill/>
          </a:ln>
        </p:spPr>
        <p:txBody>
          <a:bodyPr wrap="square" anchor="t">
            <a:noAutofit/>
          </a:bodyPr>
          <a:lstStyle/>
          <a:p>
            <a:pPr algn="ctr">
              <a:spcBef>
                <a:spcPct val="50000"/>
              </a:spcBef>
            </a:pPr>
            <a:r>
              <a:rPr lang="zh-CN" altLang="en-US" sz="2400" b="1" dirty="0">
                <a:solidFill>
                  <a:srgbClr val="0000C8"/>
                </a:solidFill>
                <a:latin typeface="楷体" panose="02010609060101010101" charset="-122"/>
                <a:ea typeface="楷体" panose="02010609060101010101" charset="-122"/>
              </a:rPr>
              <a:t>折扣不是最低的顾客</a:t>
            </a:r>
            <a:r>
              <a:rPr lang="en-US" altLang="zh-CN" sz="2400" b="1" dirty="0">
                <a:solidFill>
                  <a:srgbClr val="0000C8"/>
                </a:solidFill>
                <a:latin typeface="楷体" panose="02010609060101010101" charset="-122"/>
                <a:ea typeface="楷体" panose="02010609060101010101" charset="-122"/>
              </a:rPr>
              <a:t>cid</a:t>
            </a:r>
            <a:endParaRPr lang="en-US" altLang="zh-CN" sz="2800" b="1" dirty="0">
              <a:solidFill>
                <a:srgbClr val="0000C8"/>
              </a:solidFill>
              <a:latin typeface="Arial" panose="020B0604020202020204" pitchFamily="34" charset="0"/>
              <a:ea typeface="宋体" panose="02010600030101010101" pitchFamily="2" charset="-122"/>
            </a:endParaRPr>
          </a:p>
        </p:txBody>
      </p:sp>
      <p:graphicFrame>
        <p:nvGraphicFramePr>
          <p:cNvPr id="3" name="表格 2"/>
          <p:cNvGraphicFramePr/>
          <p:nvPr>
            <p:custDataLst>
              <p:tags r:id="rId3"/>
            </p:custDataLst>
          </p:nvPr>
        </p:nvGraphicFramePr>
        <p:xfrm>
          <a:off x="8867140" y="4820920"/>
          <a:ext cx="2044065" cy="1554480"/>
        </p:xfrm>
        <a:graphic>
          <a:graphicData uri="http://schemas.openxmlformats.org/drawingml/2006/table">
            <a:tbl>
              <a:tblPr firstRow="1" bandRow="1">
                <a:tableStyleId>{5C22544A-7EE6-4342-B048-85BDC9FD1C3A}</a:tableStyleId>
              </a:tblPr>
              <a:tblGrid>
                <a:gridCol w="2044065">
                  <a:extLst>
                    <a:ext uri="{9D8B030D-6E8A-4147-A177-3AD203B41FA5}">
                      <a16:colId xmlns:a16="http://schemas.microsoft.com/office/drawing/2014/main" val="20000"/>
                    </a:ext>
                  </a:extLst>
                </a:gridCol>
              </a:tblGrid>
              <a:tr h="381000">
                <a:tc>
                  <a:txBody>
                    <a:bodyPr/>
                    <a:lstStyle/>
                    <a:p>
                      <a:pPr algn="ctr">
                        <a:buNone/>
                      </a:pPr>
                      <a:r>
                        <a:rPr lang="en-US" altLang="zh-CN" sz="2800" b="1">
                          <a:solidFill>
                            <a:srgbClr val="FF0000"/>
                          </a:solidFill>
                          <a:latin typeface="Arial" panose="020B0604020202020204" pitchFamily="34" charset="0"/>
                          <a:cs typeface="Arial" panose="020B0604020202020204" pitchFamily="34" charset="0"/>
                        </a:rPr>
                        <a:t>S.cid</a:t>
                      </a:r>
                    </a:p>
                  </a:txBody>
                  <a:tcPr anchor="ctr">
                    <a:lnL w="28575" cmpd="sng">
                      <a:solidFill>
                        <a:schemeClr val="tx1"/>
                      </a:solidFill>
                      <a:prstDash val="solid"/>
                    </a:lnL>
                    <a:lnR w="28575" cmpd="sng">
                      <a:solidFill>
                        <a:schemeClr val="tx1"/>
                      </a:solidFill>
                      <a:prstDash val="solid"/>
                    </a:lnR>
                    <a:lnT w="28575" cmpd="sng">
                      <a:solidFill>
                        <a:schemeClr val="tx1"/>
                      </a:solidFill>
                      <a:prstDash val="solid"/>
                    </a:lnT>
                    <a:lnB w="12700" cmpd="sng">
                      <a:solidFill>
                        <a:schemeClr val="tx1"/>
                      </a:solidFill>
                      <a:prstDash val="solid"/>
                    </a:lnB>
                    <a:solidFill>
                      <a:schemeClr val="bg1">
                        <a:lumMod val="95000"/>
                      </a:schemeClr>
                    </a:solidFill>
                  </a:tcPr>
                </a:tc>
                <a:extLst>
                  <a:ext uri="{0D108BD9-81ED-4DB2-BD59-A6C34878D82A}">
                    <a16:rowId xmlns:a16="http://schemas.microsoft.com/office/drawing/2014/main" val="10000"/>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c002</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381000">
                <a:tc>
                  <a:txBody>
                    <a:bodyPr/>
                    <a:lstStyle/>
                    <a:p>
                      <a:pPr algn="ctr">
                        <a:buNone/>
                      </a:pPr>
                      <a:r>
                        <a:rPr lang="en-US" altLang="zh-CN" sz="2800" b="1" i="1">
                          <a:solidFill>
                            <a:srgbClr val="0000C8"/>
                          </a:solidFill>
                          <a:latin typeface="Times New Roman" panose="02020603050405020304" charset="0"/>
                          <a:cs typeface="Times New Roman" panose="02020603050405020304" charset="0"/>
                        </a:rPr>
                        <a:t>c001</a:t>
                      </a:r>
                    </a:p>
                  </a:txBody>
                  <a:tcPr anchor="ctr">
                    <a:lnL w="28575" cmpd="sng">
                      <a:solidFill>
                        <a:schemeClr val="tx1"/>
                      </a:solidFill>
                      <a:prstDash val="solid"/>
                    </a:lnL>
                    <a:lnR w="28575" cmpd="sng">
                      <a:solidFill>
                        <a:schemeClr val="tx1"/>
                      </a:solidFill>
                      <a:prstDash val="solid"/>
                    </a:lnR>
                    <a:lnT w="12700" cmpd="sng">
                      <a:solidFill>
                        <a:schemeClr val="tx1"/>
                      </a:solidFill>
                      <a:prstDash val="solid"/>
                    </a:lnT>
                    <a:lnB w="28575" cmpd="sng">
                      <a:solidFill>
                        <a:schemeClr val="tx1"/>
                      </a:solidFill>
                      <a:prstDash val="solid"/>
                    </a:lnB>
                    <a:noFill/>
                  </a:tcPr>
                </a:tc>
                <a:extLst>
                  <a:ext uri="{0D108BD9-81ED-4DB2-BD59-A6C34878D82A}">
                    <a16:rowId xmlns:a16="http://schemas.microsoft.com/office/drawing/2014/main" val="10002"/>
                  </a:ext>
                </a:extLst>
              </a:tr>
            </a:tbl>
          </a:graphicData>
        </a:graphic>
      </p:graphicFrame>
      <p:sp>
        <p:nvSpPr>
          <p:cNvPr id="7" name="灯片编号占位符 6"/>
          <p:cNvSpPr>
            <a:spLocks noGrp="1"/>
          </p:cNvSpPr>
          <p:nvPr>
            <p:ph type="sldNum" sz="quarter" idx="12"/>
          </p:nvPr>
        </p:nvSpPr>
        <p:spPr/>
        <p:txBody>
          <a:bodyPr/>
          <a:lstStyle/>
          <a:p>
            <a:fld id="{565CE74E-AB26-4998-AD42-012C4C1AD076}" type="slidenum">
              <a:rPr lang="zh-CN" altLang="en-US" smtClean="0"/>
              <a:t>84</a:t>
            </a:fld>
            <a:endParaRPr lang="zh-CN" altLang="en-US"/>
          </a:p>
        </p:txBody>
      </p:sp>
      <p:sp>
        <p:nvSpPr>
          <p:cNvPr id="6" name="页脚占位符 5"/>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66"/>
                                        </p:tgtEl>
                                        <p:attrNameLst>
                                          <p:attrName>style.visibility</p:attrName>
                                        </p:attrNameLst>
                                      </p:cBhvr>
                                      <p:to>
                                        <p:strVal val="visible"/>
                                      </p:to>
                                    </p:set>
                                    <p:animEffect transition="in" filter="blinds(horizontal)">
                                      <p:cBhvr>
                                        <p:cTn id="7" dur="500"/>
                                        <p:tgtEl>
                                          <p:spTgt spid="123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346"/>
                                        </p:tgtEl>
                                        <p:attrNameLst>
                                          <p:attrName>style.visibility</p:attrName>
                                        </p:attrNameLst>
                                      </p:cBhvr>
                                      <p:to>
                                        <p:strVal val="visible"/>
                                      </p:to>
                                    </p:set>
                                    <p:anim calcmode="lin" valueType="num">
                                      <p:cBhvr additive="base">
                                        <p:cTn id="12" dur="500" fill="hold"/>
                                        <p:tgtEl>
                                          <p:spTgt spid="12346"/>
                                        </p:tgtEl>
                                        <p:attrNameLst>
                                          <p:attrName>ppt_x</p:attrName>
                                        </p:attrNameLst>
                                      </p:cBhvr>
                                      <p:tavLst>
                                        <p:tav tm="0">
                                          <p:val>
                                            <p:strVal val="#ppt_x"/>
                                          </p:val>
                                        </p:tav>
                                        <p:tav tm="100000">
                                          <p:val>
                                            <p:strVal val="#ppt_x"/>
                                          </p:val>
                                        </p:tav>
                                      </p:tavLst>
                                    </p:anim>
                                    <p:anim calcmode="lin" valueType="num">
                                      <p:cBhvr additive="base">
                                        <p:cTn id="13" dur="500" fill="hold"/>
                                        <p:tgtEl>
                                          <p:spTgt spid="12346"/>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6" grpId="0"/>
      <p:bldP spid="12366" grpId="0" animBg="1"/>
      <p:bldP spid="2"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13</a:t>
            </a:r>
            <a:r>
              <a:rPr lang="zh-CN" altLang="en-US" dirty="0">
                <a:sym typeface="+mn-ea"/>
              </a:rPr>
              <a:t>）</a:t>
            </a:r>
            <a:endParaRPr lang="zh-CN" altLang="en-US"/>
          </a:p>
        </p:txBody>
      </p:sp>
      <p:sp>
        <p:nvSpPr>
          <p:cNvPr id="15420" name="文本框 15419"/>
          <p:cNvSpPr txBox="1"/>
          <p:nvPr/>
        </p:nvSpPr>
        <p:spPr>
          <a:xfrm>
            <a:off x="423545" y="5806440"/>
            <a:ext cx="11343005" cy="521970"/>
          </a:xfrm>
          <a:prstGeom prst="rect">
            <a:avLst/>
          </a:prstGeom>
          <a:noFill/>
          <a:ln w="9525">
            <a:noFill/>
          </a:ln>
        </p:spPr>
        <p:txBody>
          <a:bodyPr wrap="square" anchor="t">
            <a:noAutofit/>
          </a:bodyPr>
          <a:lstStyle/>
          <a:p>
            <a:pPr marL="457200" indent="-457200" algn="l">
              <a:spcBef>
                <a:spcPct val="50000"/>
              </a:spcBef>
              <a:buClr>
                <a:srgbClr val="C00000"/>
              </a:buClr>
              <a:buSzPct val="85000"/>
              <a:buFont typeface="Wingdings" panose="05000000000000000000" charset="0"/>
              <a:buChar char="q"/>
            </a:pPr>
            <a:r>
              <a:rPr lang="zh-CN" altLang="en-US" sz="2800" b="1">
                <a:solidFill>
                  <a:srgbClr val="FF0000"/>
                </a:solidFill>
                <a:latin typeface="+mn-lt"/>
                <a:ea typeface="楷体" panose="02010609060101010101" charset="-122"/>
                <a:cs typeface="+mn-lt"/>
              </a:rPr>
              <a:t>注意：</a:t>
            </a:r>
            <a:r>
              <a:rPr lang="zh-CN" altLang="en-US" sz="2800" b="1">
                <a:solidFill>
                  <a:srgbClr val="0000C8"/>
                </a:solidFill>
                <a:latin typeface="+mn-lt"/>
                <a:ea typeface="楷体" panose="02010609060101010101" charset="-122"/>
                <a:cs typeface="+mn-lt"/>
              </a:rPr>
              <a:t>在这一步的选择运算中，切记不能使用</a:t>
            </a:r>
            <a:r>
              <a:rPr lang="en-US" altLang="zh-CN" sz="2800" b="1">
                <a:solidFill>
                  <a:srgbClr val="0000C8"/>
                </a:solidFill>
                <a:latin typeface="+mn-lt"/>
                <a:ea typeface="楷体" panose="02010609060101010101" charset="-122"/>
                <a:cs typeface="+mn-lt"/>
              </a:rPr>
              <a:t> ‘</a:t>
            </a:r>
            <a:r>
              <a:rPr lang="zh-CN" altLang="en-US" sz="2800" b="1">
                <a:solidFill>
                  <a:srgbClr val="0000C8"/>
                </a:solidFill>
                <a:latin typeface="+mn-lt"/>
                <a:ea typeface="楷体" panose="02010609060101010101" charset="-122"/>
                <a:cs typeface="+mn-lt"/>
              </a:rPr>
              <a:t>小于等于</a:t>
            </a:r>
            <a:r>
              <a:rPr lang="en-US" altLang="zh-CN" sz="2800" b="1">
                <a:solidFill>
                  <a:srgbClr val="0000C8"/>
                </a:solidFill>
                <a:latin typeface="+mn-lt"/>
                <a:ea typeface="楷体" panose="02010609060101010101" charset="-122"/>
                <a:cs typeface="+mn-lt"/>
              </a:rPr>
              <a:t>’ </a:t>
            </a:r>
            <a:r>
              <a:rPr lang="zh-CN" altLang="en-US" sz="2800" b="1">
                <a:solidFill>
                  <a:srgbClr val="0000C8"/>
                </a:solidFill>
                <a:latin typeface="+mn-lt"/>
                <a:ea typeface="楷体" panose="02010609060101010101" charset="-122"/>
                <a:cs typeface="+mn-lt"/>
              </a:rPr>
              <a:t>比较！</a:t>
            </a:r>
          </a:p>
        </p:txBody>
      </p:sp>
      <p:graphicFrame>
        <p:nvGraphicFramePr>
          <p:cNvPr id="11266" name="表格 11265"/>
          <p:cNvGraphicFramePr/>
          <p:nvPr>
            <p:custDataLst>
              <p:tags r:id="rId1"/>
            </p:custDataLst>
          </p:nvPr>
        </p:nvGraphicFramePr>
        <p:xfrm>
          <a:off x="2633980" y="1194435"/>
          <a:ext cx="7078345" cy="4267200"/>
        </p:xfrm>
        <a:graphic>
          <a:graphicData uri="http://schemas.openxmlformats.org/drawingml/2006/table">
            <a:tbl>
              <a:tblPr/>
              <a:tblGrid>
                <a:gridCol w="1520825">
                  <a:extLst>
                    <a:ext uri="{9D8B030D-6E8A-4147-A177-3AD203B41FA5}">
                      <a16:colId xmlns:a16="http://schemas.microsoft.com/office/drawing/2014/main" val="20000"/>
                    </a:ext>
                  </a:extLst>
                </a:gridCol>
                <a:gridCol w="2018665">
                  <a:extLst>
                    <a:ext uri="{9D8B030D-6E8A-4147-A177-3AD203B41FA5}">
                      <a16:colId xmlns:a16="http://schemas.microsoft.com/office/drawing/2014/main" val="20001"/>
                    </a:ext>
                  </a:extLst>
                </a:gridCol>
                <a:gridCol w="1496060">
                  <a:extLst>
                    <a:ext uri="{9D8B030D-6E8A-4147-A177-3AD203B41FA5}">
                      <a16:colId xmlns:a16="http://schemas.microsoft.com/office/drawing/2014/main" val="20002"/>
                    </a:ext>
                  </a:extLst>
                </a:gridCol>
                <a:gridCol w="2042795">
                  <a:extLst>
                    <a:ext uri="{9D8B030D-6E8A-4147-A177-3AD203B41FA5}">
                      <a16:colId xmlns:a16="http://schemas.microsoft.com/office/drawing/2014/main" val="20003"/>
                    </a:ext>
                  </a:extLst>
                </a:gridCol>
              </a:tblGrid>
              <a:tr h="426720">
                <a:tc>
                  <a:txBody>
                    <a:bodyPr/>
                    <a:lstStyle/>
                    <a:p>
                      <a:pPr marL="0" lvl="0" indent="0" algn="ctr">
                        <a:buNone/>
                      </a:pPr>
                      <a:r>
                        <a:rPr lang="en-US" altLang="zh-CN" sz="2800" b="1">
                          <a:solidFill>
                            <a:srgbClr val="FF0000"/>
                          </a:solidFill>
                        </a:rPr>
                        <a:t>C.cid</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p>
                      <a:pPr marL="0" lvl="0" indent="0" algn="ctr">
                        <a:buNone/>
                      </a:pPr>
                      <a:r>
                        <a:rPr lang="en-US" altLang="zh-CN" sz="2800" b="1">
                          <a:solidFill>
                            <a:srgbClr val="FF0000"/>
                          </a:solidFill>
                        </a:rPr>
                        <a:t>C.discnt</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p>
                      <a:pPr marL="0" lvl="0" indent="0" algn="ctr">
                        <a:buNone/>
                      </a:pPr>
                      <a:r>
                        <a:rPr lang="en-US" altLang="zh-CN" sz="2800" b="1">
                          <a:solidFill>
                            <a:srgbClr val="FF0000"/>
                          </a:solidFill>
                        </a:rPr>
                        <a:t>S.cid</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p>
                      <a:pPr marL="0" lvl="0" indent="0" algn="ctr">
                        <a:buNone/>
                      </a:pPr>
                      <a:r>
                        <a:rPr lang="en-US" altLang="zh-CN" sz="2800" b="1">
                          <a:solidFill>
                            <a:srgbClr val="FF0000"/>
                          </a:solidFill>
                        </a:rPr>
                        <a:t>S.discnt</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12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6720">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c003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i="1">
                          <a:solidFill>
                            <a:srgbClr val="0000C8"/>
                          </a:solidFill>
                          <a:latin typeface="Times New Roman" panose="02020603050405020304" charset="0"/>
                          <a:cs typeface="Times New Roman" panose="02020603050405020304" charset="0"/>
                        </a:rPr>
                        <a:t>8</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11323" name="Text Box 40"/>
              <p:cNvSpPr txBox="1"/>
              <p:nvPr/>
            </p:nvSpPr>
            <p:spPr>
              <a:xfrm>
                <a:off x="3071813" y="653098"/>
                <a:ext cx="6048375" cy="521970"/>
              </a:xfrm>
              <a:prstGeom prst="rect">
                <a:avLst/>
              </a:prstGeom>
              <a:noFill/>
              <a:ln w="9525">
                <a:noFill/>
              </a:ln>
            </p:spPr>
            <p:txBody>
              <a:bodyPr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2800" b="1" i="1">
                              <a:solidFill>
                                <a:srgbClr val="0000C8"/>
                              </a:solidFill>
                              <a:latin typeface="Cambria Math" panose="02040503050406030204" pitchFamily="18" charset="0"/>
                              <a:ea typeface="宋体" panose="02010600030101010101" pitchFamily="2" charset="-122"/>
                              <a:cs typeface="Cambria Math" panose="02040503050406030204" charset="0"/>
                            </a:rPr>
                          </m:ctrlPr>
                        </m:sSubPr>
                        <m:e>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𝝈</m:t>
                          </m:r>
                        </m:e>
                        <m:sub>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 &lt; </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MS Mincho" charset="0"/>
                          <a:cs typeface="Cambria Math" panose="02040503050406030204" charset="0"/>
                        </a:rPr>
                        <m:t>)</m:t>
                      </m:r>
                    </m:oMath>
                  </m:oMathPara>
                </a14:m>
                <a:endParaRPr lang="en-US" altLang="zh-CN" sz="2800" b="1" i="1">
                  <a:solidFill>
                    <a:srgbClr val="0000C8"/>
                  </a:solidFill>
                  <a:latin typeface="Cambria Math" panose="02040503050406030204" charset="0"/>
                  <a:ea typeface="MS Mincho" charset="0"/>
                  <a:cs typeface="Cambria Math" panose="02040503050406030204" charset="0"/>
                </a:endParaRPr>
              </a:p>
            </p:txBody>
          </p:sp>
        </mc:Choice>
        <mc:Fallback xmlns="">
          <p:sp>
            <p:nvSpPr>
              <p:cNvPr id="11323" name="Text Box 40"/>
              <p:cNvSpPr txBox="1">
                <a:spLocks noRot="1" noChangeAspect="1" noMove="1" noResize="1" noEditPoints="1" noAdjustHandles="1" noChangeArrowheads="1" noChangeShapeType="1" noTextEdit="1"/>
              </p:cNvSpPr>
              <p:nvPr/>
            </p:nvSpPr>
            <p:spPr>
              <a:xfrm>
                <a:off x="3071813" y="653098"/>
                <a:ext cx="6048375" cy="521970"/>
              </a:xfrm>
              <a:prstGeom prst="rect">
                <a:avLst/>
              </a:prstGeom>
              <a:blipFill rotWithShape="1">
                <a:blip r:embed="rId3"/>
                <a:stretch>
                  <a:fillRect l="-5" t="-61" r="5" b="61"/>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85</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x-none" dirty="0">
                <a:sym typeface="+mn-ea"/>
              </a:rPr>
              <a:t>Example 10</a:t>
            </a:r>
            <a:r>
              <a:rPr lang="zh-CN" altLang="en-US" dirty="0">
                <a:sym typeface="+mn-ea"/>
              </a:rPr>
              <a:t>（</a:t>
            </a:r>
            <a:r>
              <a:rPr lang="en-US" altLang="zh-CN" dirty="0">
                <a:sym typeface="+mn-ea"/>
              </a:rPr>
              <a:t>14</a:t>
            </a:r>
            <a:r>
              <a:rPr lang="zh-CN" altLang="en-US" dirty="0">
                <a:sym typeface="+mn-ea"/>
              </a:rPr>
              <a:t>）</a:t>
            </a:r>
            <a:endParaRPr lang="zh-CN" altLang="en-US"/>
          </a:p>
        </p:txBody>
      </p:sp>
      <p:sp>
        <p:nvSpPr>
          <p:cNvPr id="5" name="内容占位符 4"/>
          <p:cNvSpPr>
            <a:spLocks noGrp="1"/>
          </p:cNvSpPr>
          <p:nvPr>
            <p:ph idx="1"/>
          </p:nvPr>
        </p:nvSpPr>
        <p:spPr/>
        <p:txBody>
          <a:bodyPr>
            <a:noAutofit/>
          </a:bodyPr>
          <a:lstStyle/>
          <a:p>
            <a:r>
              <a:rPr lang="zh-CN" altLang="en-US" sz="2400">
                <a:solidFill>
                  <a:srgbClr val="0000C8"/>
                </a:solidFill>
                <a:latin typeface="Calibri" panose="020F0502020204030204" charset="0"/>
                <a:cs typeface="Calibri" panose="020F0502020204030204" charset="0"/>
                <a:sym typeface="+mn-ea"/>
              </a:rPr>
              <a:t>使用了</a:t>
            </a:r>
            <a:r>
              <a:rPr lang="en-US" altLang="zh-CN" sz="2400">
                <a:solidFill>
                  <a:srgbClr val="0000C8"/>
                </a:solidFill>
                <a:latin typeface="Calibri" panose="020F0502020204030204" charset="0"/>
                <a:cs typeface="Calibri" panose="020F0502020204030204" charset="0"/>
                <a:sym typeface="+mn-ea"/>
              </a:rPr>
              <a:t> ‘</a:t>
            </a:r>
            <a:r>
              <a:rPr lang="zh-CN" altLang="en-US" sz="2400">
                <a:solidFill>
                  <a:srgbClr val="0000C8"/>
                </a:solidFill>
                <a:latin typeface="Calibri" panose="020F0502020204030204" charset="0"/>
                <a:cs typeface="Calibri" panose="020F0502020204030204" charset="0"/>
                <a:sym typeface="+mn-ea"/>
              </a:rPr>
              <a:t>小于等于</a:t>
            </a:r>
            <a:r>
              <a:rPr lang="en-US" altLang="zh-CN" sz="2400">
                <a:solidFill>
                  <a:srgbClr val="0000C8"/>
                </a:solidFill>
                <a:latin typeface="Calibri" panose="020F0502020204030204" charset="0"/>
                <a:cs typeface="Calibri" panose="020F0502020204030204" charset="0"/>
                <a:sym typeface="+mn-ea"/>
              </a:rPr>
              <a:t>’ </a:t>
            </a:r>
            <a:r>
              <a:rPr lang="zh-CN" altLang="en-US" sz="2400">
                <a:solidFill>
                  <a:srgbClr val="0000C8"/>
                </a:solidFill>
                <a:latin typeface="Calibri" panose="020F0502020204030204" charset="0"/>
                <a:cs typeface="Calibri" panose="020F0502020204030204" charset="0"/>
                <a:sym typeface="+mn-ea"/>
              </a:rPr>
              <a:t>比较后，选择运算的执行结果，实现不了挑选</a:t>
            </a:r>
            <a:r>
              <a:rPr lang="en-US" altLang="zh-CN" sz="2400">
                <a:solidFill>
                  <a:srgbClr val="0000C8"/>
                </a:solidFill>
                <a:latin typeface="Calibri" panose="020F0502020204030204" charset="0"/>
                <a:cs typeface="Calibri" panose="020F0502020204030204" charset="0"/>
                <a:sym typeface="+mn-ea"/>
              </a:rPr>
              <a:t> ‘</a:t>
            </a:r>
            <a:r>
              <a:rPr lang="zh-CN" altLang="en-US" sz="2400">
                <a:solidFill>
                  <a:srgbClr val="C00000"/>
                </a:solidFill>
                <a:latin typeface="Calibri" panose="020F0502020204030204" charset="0"/>
                <a:cs typeface="Calibri" panose="020F0502020204030204" charset="0"/>
                <a:sym typeface="+mn-ea"/>
              </a:rPr>
              <a:t>折扣不是最高</a:t>
            </a:r>
            <a:r>
              <a:rPr lang="en-US" altLang="zh-CN" sz="2400">
                <a:solidFill>
                  <a:srgbClr val="0000C8"/>
                </a:solidFill>
                <a:latin typeface="Calibri" panose="020F0502020204030204" charset="0"/>
                <a:cs typeface="Calibri" panose="020F0502020204030204" charset="0"/>
                <a:sym typeface="+mn-ea"/>
              </a:rPr>
              <a:t>’ </a:t>
            </a:r>
            <a:r>
              <a:rPr lang="zh-CN" altLang="en-US" sz="2400">
                <a:solidFill>
                  <a:srgbClr val="0000C8"/>
                </a:solidFill>
                <a:latin typeface="Calibri" panose="020F0502020204030204" charset="0"/>
                <a:cs typeface="Calibri" panose="020F0502020204030204" charset="0"/>
                <a:sym typeface="+mn-ea"/>
              </a:rPr>
              <a:t>或</a:t>
            </a:r>
            <a:r>
              <a:rPr lang="en-US" altLang="zh-CN" sz="2400">
                <a:solidFill>
                  <a:srgbClr val="0000C8"/>
                </a:solidFill>
                <a:latin typeface="Calibri" panose="020F0502020204030204" charset="0"/>
                <a:cs typeface="Calibri" panose="020F0502020204030204" charset="0"/>
                <a:sym typeface="+mn-ea"/>
              </a:rPr>
              <a:t> ‘</a:t>
            </a:r>
            <a:r>
              <a:rPr lang="zh-CN" altLang="en-US" sz="2400">
                <a:solidFill>
                  <a:srgbClr val="C00000"/>
                </a:solidFill>
                <a:latin typeface="Calibri" panose="020F0502020204030204" charset="0"/>
                <a:cs typeface="Calibri" panose="020F0502020204030204" charset="0"/>
                <a:sym typeface="+mn-ea"/>
              </a:rPr>
              <a:t>折扣不是最低</a:t>
            </a:r>
            <a:r>
              <a:rPr lang="en-US" altLang="zh-CN" sz="2400">
                <a:solidFill>
                  <a:srgbClr val="0000C8"/>
                </a:solidFill>
                <a:latin typeface="Calibri" panose="020F0502020204030204" charset="0"/>
                <a:cs typeface="Calibri" panose="020F0502020204030204" charset="0"/>
                <a:sym typeface="+mn-ea"/>
              </a:rPr>
              <a:t>’ </a:t>
            </a:r>
            <a:r>
              <a:rPr lang="zh-CN" altLang="en-US" sz="2400">
                <a:solidFill>
                  <a:srgbClr val="0000C8"/>
                </a:solidFill>
                <a:latin typeface="Calibri" panose="020F0502020204030204" charset="0"/>
                <a:cs typeface="Calibri" panose="020F0502020204030204" charset="0"/>
                <a:sym typeface="+mn-ea"/>
              </a:rPr>
              <a:t>顾客的目标！</a:t>
            </a:r>
            <a:endParaRPr lang="zh-CN" altLang="en-US" sz="2400" b="1">
              <a:solidFill>
                <a:srgbClr val="0000C8"/>
              </a:solidFill>
              <a:latin typeface="Calibri" panose="020F0502020204030204" charset="0"/>
              <a:ea typeface="楷体" panose="02010609060101010101" charset="-122"/>
              <a:cs typeface="Calibri" panose="020F0502020204030204" charset="0"/>
            </a:endParaRPr>
          </a:p>
          <a:p>
            <a:endParaRPr lang="zh-CN" altLang="en-US" sz="2400">
              <a:latin typeface="Calibri" panose="020F0502020204030204" charset="0"/>
              <a:cs typeface="Calibri" panose="020F0502020204030204" charset="0"/>
            </a:endParaRPr>
          </a:p>
        </p:txBody>
      </p:sp>
      <p:graphicFrame>
        <p:nvGraphicFramePr>
          <p:cNvPr id="11266" name="表格 11265"/>
          <p:cNvGraphicFramePr/>
          <p:nvPr>
            <p:custDataLst>
              <p:tags r:id="rId1"/>
            </p:custDataLst>
          </p:nvPr>
        </p:nvGraphicFramePr>
        <p:xfrm>
          <a:off x="2633980" y="2332990"/>
          <a:ext cx="7078345" cy="4267200"/>
        </p:xfrm>
        <a:graphic>
          <a:graphicData uri="http://schemas.openxmlformats.org/drawingml/2006/table">
            <a:tbl>
              <a:tblPr/>
              <a:tblGrid>
                <a:gridCol w="1520825">
                  <a:extLst>
                    <a:ext uri="{9D8B030D-6E8A-4147-A177-3AD203B41FA5}">
                      <a16:colId xmlns:a16="http://schemas.microsoft.com/office/drawing/2014/main" val="20000"/>
                    </a:ext>
                  </a:extLst>
                </a:gridCol>
                <a:gridCol w="2018665">
                  <a:extLst>
                    <a:ext uri="{9D8B030D-6E8A-4147-A177-3AD203B41FA5}">
                      <a16:colId xmlns:a16="http://schemas.microsoft.com/office/drawing/2014/main" val="20001"/>
                    </a:ext>
                  </a:extLst>
                </a:gridCol>
                <a:gridCol w="1496060">
                  <a:extLst>
                    <a:ext uri="{9D8B030D-6E8A-4147-A177-3AD203B41FA5}">
                      <a16:colId xmlns:a16="http://schemas.microsoft.com/office/drawing/2014/main" val="20002"/>
                    </a:ext>
                  </a:extLst>
                </a:gridCol>
                <a:gridCol w="2042795">
                  <a:extLst>
                    <a:ext uri="{9D8B030D-6E8A-4147-A177-3AD203B41FA5}">
                      <a16:colId xmlns:a16="http://schemas.microsoft.com/office/drawing/2014/main" val="20003"/>
                    </a:ext>
                  </a:extLst>
                </a:gridCol>
              </a:tblGrid>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C.cid</a:t>
                      </a:r>
                      <a:endParaRPr lang="zh-CN" altLang="en-US">
                        <a:solidFill>
                          <a:srgbClr val="FF0000"/>
                        </a:solidFill>
                      </a:endParaRP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C.discnt</a:t>
                      </a:r>
                      <a:endParaRPr lang="zh-CN" altLang="en-US">
                        <a:solidFill>
                          <a:srgbClr val="FF0000"/>
                        </a:solidFill>
                      </a:endParaRP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S.cid</a:t>
                      </a:r>
                      <a:endParaRPr lang="zh-CN" altLang="en-US">
                        <a:solidFill>
                          <a:srgbClr val="FF0000"/>
                        </a:solidFill>
                      </a:endParaRP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a:solidFill>
                            <a:srgbClr val="FF0000"/>
                          </a:solidFill>
                        </a:rPr>
                        <a:t>S.discnt</a:t>
                      </a:r>
                      <a:endParaRPr lang="zh-CN" altLang="en-US">
                        <a:solidFill>
                          <a:srgbClr val="FF0000"/>
                        </a:solidFill>
                      </a:endParaRP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c001</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10</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c002</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12</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672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40000"/>
                        <a:lumOff val="60000"/>
                        <a:alpha val="50000"/>
                      </a:schemeClr>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c003</a:t>
                      </a:r>
                    </a:p>
                  </a:txBody>
                  <a:tcPr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ctr">
                        <a:buNone/>
                      </a:pPr>
                      <a:r>
                        <a:rPr lang="en-US" altLang="zh-CN" b="1" i="1">
                          <a:solidFill>
                            <a:srgbClr val="0000C8"/>
                          </a:solidFill>
                          <a:latin typeface="Times New Roman" panose="02020603050405020304" charset="0"/>
                          <a:cs typeface="Times New Roman" panose="02020603050405020304" charset="0"/>
                        </a:rPr>
                        <a:t>8</a:t>
                      </a:r>
                    </a:p>
                  </a:txBody>
                  <a:tcPr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mc:AlternateContent xmlns:mc="http://schemas.openxmlformats.org/markup-compatibility/2006" xmlns:a14="http://schemas.microsoft.com/office/drawing/2010/main">
        <mc:Choice Requires="a14">
          <p:sp>
            <p:nvSpPr>
              <p:cNvPr id="11323" name="Text Box 40"/>
              <p:cNvSpPr txBox="1"/>
              <p:nvPr/>
            </p:nvSpPr>
            <p:spPr>
              <a:xfrm>
                <a:off x="3071813" y="1721803"/>
                <a:ext cx="6048375" cy="521970"/>
              </a:xfrm>
              <a:prstGeom prst="rect">
                <a:avLst/>
              </a:prstGeom>
              <a:noFill/>
              <a:ln w="9525">
                <a:noFill/>
              </a:ln>
            </p:spPr>
            <p:txBody>
              <a:bodyPr anchor="t">
                <a:noAutofit/>
              </a:bodyPr>
              <a:lstStyle/>
              <a:p>
                <a:pPr algn="ctr">
                  <a:spcBef>
                    <a:spcPct val="50000"/>
                  </a:spcBef>
                </a:pPr>
                <a14:m>
                  <m:oMathPara xmlns:m="http://schemas.openxmlformats.org/officeDocument/2006/math">
                    <m:oMathParaPr>
                      <m:jc m:val="centerGroup"/>
                    </m:oMathParaPr>
                    <m:oMath xmlns:m="http://schemas.openxmlformats.org/officeDocument/2006/math">
                      <m:sSub>
                        <m:sSubPr>
                          <m:ctrlPr>
                            <a:rPr lang="en-US" altLang="zh-CN" sz="2800" b="1" i="1">
                              <a:solidFill>
                                <a:srgbClr val="FF0000"/>
                              </a:solidFill>
                              <a:latin typeface="Cambria Math" panose="02040503050406030204" pitchFamily="18" charset="0"/>
                              <a:ea typeface="宋体" panose="02010600030101010101" pitchFamily="2" charset="-122"/>
                              <a:cs typeface="Cambria Math" panose="02040503050406030204" charset="0"/>
                              <a:sym typeface="Symbol" panose="05050102010706020507" pitchFamily="2" charset="2"/>
                            </a:rPr>
                          </m:ctrlPr>
                        </m:sSubPr>
                        <m:e>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sym typeface="Symbol" panose="05050102010706020507" pitchFamily="2" charset="2"/>
                            </a:rPr>
                            <m:t>𝝈</m:t>
                          </m:r>
                        </m:e>
                        <m:sub>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 ≤ </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FF0000"/>
                              </a:solidFill>
                              <a:latin typeface="Cambria Math" panose="02040503050406030204" charset="0"/>
                              <a:ea typeface="宋体" panose="02010600030101010101" pitchFamily="2" charset="-122"/>
                              <a:cs typeface="Cambria Math" panose="02040503050406030204" charset="0"/>
                            </a:rPr>
                            <m:t>𝒅𝒊𝒔𝒄𝒏𝒕</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 </m:t>
                          </m:r>
                        </m:sub>
                      </m:sSub>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𝑪</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m:t>
                      </m:r>
                      <m:r>
                        <a:rPr lang="en-US" altLang="zh-CN" sz="2800" b="1" i="1">
                          <a:solidFill>
                            <a:srgbClr val="0000C8"/>
                          </a:solidFill>
                          <a:latin typeface="Cambria Math" panose="02040503050406030204" charset="0"/>
                          <a:ea typeface="宋体" panose="02010600030101010101" pitchFamily="2" charset="-122"/>
                          <a:cs typeface="Cambria Math" panose="02040503050406030204" charset="0"/>
                        </a:rPr>
                        <m:t>𝑺</m:t>
                      </m:r>
                      <m:r>
                        <a:rPr lang="en-US" altLang="zh-CN" sz="2800" b="1" i="1">
                          <a:solidFill>
                            <a:srgbClr val="0000C8"/>
                          </a:solidFill>
                          <a:latin typeface="Cambria Math" panose="02040503050406030204" charset="0"/>
                          <a:ea typeface="MS Mincho" charset="0"/>
                          <a:cs typeface="Cambria Math" panose="02040503050406030204" charset="0"/>
                        </a:rPr>
                        <m:t>)</m:t>
                      </m:r>
                    </m:oMath>
                  </m:oMathPara>
                </a14:m>
                <a:endParaRPr lang="en-US" altLang="zh-CN" sz="2800" b="1" i="1">
                  <a:solidFill>
                    <a:srgbClr val="0000C8"/>
                  </a:solidFill>
                  <a:latin typeface="Cambria Math" panose="02040503050406030204" charset="0"/>
                  <a:ea typeface="MS Mincho" charset="0"/>
                  <a:cs typeface="Cambria Math" panose="02040503050406030204" charset="0"/>
                </a:endParaRPr>
              </a:p>
            </p:txBody>
          </p:sp>
        </mc:Choice>
        <mc:Fallback xmlns="">
          <p:sp>
            <p:nvSpPr>
              <p:cNvPr id="11323" name="Text Box 40"/>
              <p:cNvSpPr txBox="1">
                <a:spLocks noRot="1" noChangeAspect="1" noMove="1" noResize="1" noEditPoints="1" noAdjustHandles="1" noChangeArrowheads="1" noChangeShapeType="1" noTextEdit="1"/>
              </p:cNvSpPr>
              <p:nvPr/>
            </p:nvSpPr>
            <p:spPr>
              <a:xfrm>
                <a:off x="3071813" y="1721803"/>
                <a:ext cx="6048375" cy="521970"/>
              </a:xfrm>
              <a:prstGeom prst="rect">
                <a:avLst/>
              </a:prstGeom>
              <a:blipFill rotWithShape="1">
                <a:blip r:embed="rId4"/>
                <a:stretch>
                  <a:fillRect l="-5" t="-61" r="5" b="61"/>
                </a:stretch>
              </a:blipFill>
              <a:ln w="9525">
                <a:noFill/>
              </a:ln>
            </p:spPr>
            <p:txBody>
              <a:bodyPr/>
              <a:lstStyle/>
              <a:p>
                <a:r>
                  <a:rPr lang="zh-CN" altLang="en-US">
                    <a:noFill/>
                  </a:rPr>
                  <a:t> </a:t>
                </a:r>
              </a:p>
            </p:txBody>
          </p:sp>
        </mc:Fallback>
      </mc:AlternateContent>
      <p:sp>
        <p:nvSpPr>
          <p:cNvPr id="11324" name="矩形 11323"/>
          <p:cNvSpPr/>
          <p:nvPr/>
        </p:nvSpPr>
        <p:spPr>
          <a:xfrm>
            <a:off x="2996565" y="3641090"/>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11325" name="矩形 11324"/>
          <p:cNvSpPr/>
          <p:nvPr/>
        </p:nvSpPr>
        <p:spPr>
          <a:xfrm>
            <a:off x="2996565" y="4072890"/>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11326" name="矩形 11325"/>
          <p:cNvSpPr/>
          <p:nvPr/>
        </p:nvSpPr>
        <p:spPr>
          <a:xfrm>
            <a:off x="2996565" y="4933950"/>
            <a:ext cx="6339840" cy="360045"/>
          </a:xfrm>
          <a:prstGeom prst="rect">
            <a:avLst/>
          </a:prstGeom>
          <a:solidFill>
            <a:srgbClr val="C00000"/>
          </a:solid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2" name="文本框 1"/>
          <p:cNvSpPr txBox="1"/>
          <p:nvPr/>
        </p:nvSpPr>
        <p:spPr>
          <a:xfrm>
            <a:off x="5547995" y="1172845"/>
            <a:ext cx="6219190" cy="460375"/>
          </a:xfrm>
          <a:prstGeom prst="rect">
            <a:avLst/>
          </a:prstGeom>
          <a:solidFill>
            <a:schemeClr val="accent3">
              <a:lumMod val="20000"/>
              <a:lumOff val="80000"/>
              <a:alpha val="50000"/>
            </a:schemeClr>
          </a:solidFill>
        </p:spPr>
        <p:txBody>
          <a:bodyPr wrap="square" rtlCol="0">
            <a:noAutofit/>
          </a:bodyPr>
          <a:lstStyle/>
          <a:p>
            <a:r>
              <a:rPr lang="zh-CN" altLang="en-US" sz="2400" b="1">
                <a:solidFill>
                  <a:srgbClr val="0000C8"/>
                </a:solidFill>
                <a:ea typeface="楷体" panose="02010609060101010101" charset="-122"/>
                <a:cs typeface="+mn-lt"/>
                <a:sym typeface="+mn-ea"/>
              </a:rPr>
              <a:t>（在</a:t>
            </a:r>
            <a:r>
              <a:rPr lang="en-US" altLang="zh-CN" sz="2400" b="1">
                <a:solidFill>
                  <a:srgbClr val="0000C8"/>
                </a:solidFill>
                <a:ea typeface="楷体" panose="02010609060101010101" charset="-122"/>
                <a:cs typeface="+mn-lt"/>
                <a:sym typeface="+mn-ea"/>
              </a:rPr>
              <a:t>C.cid</a:t>
            </a:r>
            <a:r>
              <a:rPr lang="zh-CN" altLang="en-US" sz="2400" b="1">
                <a:solidFill>
                  <a:srgbClr val="0000C8"/>
                </a:solidFill>
                <a:ea typeface="楷体" panose="02010609060101010101" charset="-122"/>
                <a:cs typeface="+mn-lt"/>
                <a:sym typeface="+mn-ea"/>
              </a:rPr>
              <a:t>和</a:t>
            </a:r>
            <a:r>
              <a:rPr lang="en-US" altLang="zh-CN" sz="2400" b="1">
                <a:solidFill>
                  <a:srgbClr val="0000C8"/>
                </a:solidFill>
                <a:ea typeface="楷体" panose="02010609060101010101" charset="-122"/>
                <a:cs typeface="+mn-lt"/>
                <a:sym typeface="+mn-ea"/>
              </a:rPr>
              <a:t>S.cid</a:t>
            </a:r>
            <a:r>
              <a:rPr lang="zh-CN" altLang="en-US" sz="2400" b="1">
                <a:solidFill>
                  <a:srgbClr val="0000C8"/>
                </a:solidFill>
                <a:ea typeface="楷体" panose="02010609060101010101" charset="-122"/>
                <a:cs typeface="+mn-lt"/>
                <a:sym typeface="+mn-ea"/>
              </a:rPr>
              <a:t>列上，都含有所有顾客的</a:t>
            </a:r>
            <a:r>
              <a:rPr lang="en-US" altLang="zh-CN" sz="2400" b="1">
                <a:solidFill>
                  <a:srgbClr val="0000C8"/>
                </a:solidFill>
                <a:ea typeface="楷体" panose="02010609060101010101" charset="-122"/>
                <a:cs typeface="+mn-lt"/>
                <a:sym typeface="+mn-ea"/>
              </a:rPr>
              <a:t>cid</a:t>
            </a:r>
            <a:r>
              <a:rPr lang="zh-CN" altLang="en-US" sz="2400" b="1">
                <a:solidFill>
                  <a:srgbClr val="0000C8"/>
                </a:solidFill>
                <a:ea typeface="楷体" panose="02010609060101010101" charset="-122"/>
                <a:cs typeface="+mn-lt"/>
                <a:sym typeface="+mn-ea"/>
              </a:rPr>
              <a:t>）</a:t>
            </a:r>
            <a:endParaRPr lang="zh-CN" altLang="en-US" sz="2400"/>
          </a:p>
        </p:txBody>
      </p:sp>
      <p:sp>
        <p:nvSpPr>
          <p:cNvPr id="6" name="灯片编号占位符 5"/>
          <p:cNvSpPr>
            <a:spLocks noGrp="1"/>
          </p:cNvSpPr>
          <p:nvPr>
            <p:ph type="sldNum" sz="quarter" idx="12"/>
          </p:nvPr>
        </p:nvSpPr>
        <p:spPr/>
        <p:txBody>
          <a:bodyPr/>
          <a:lstStyle/>
          <a:p>
            <a:fld id="{565CE74E-AB26-4998-AD42-012C4C1AD076}" type="slidenum">
              <a:rPr lang="zh-CN" altLang="en-US" smtClean="0"/>
              <a:t>86</a:t>
            </a:fld>
            <a:endParaRPr lang="zh-CN" altLang="en-US"/>
          </a:p>
        </p:txBody>
      </p:sp>
      <p:sp>
        <p:nvSpPr>
          <p:cNvPr id="4" name="页脚占位符 3"/>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1324"/>
                                        </p:tgtEl>
                                        <p:attrNameLst>
                                          <p:attrName>style.visibility</p:attrName>
                                        </p:attrNameLst>
                                      </p:cBhvr>
                                      <p:to>
                                        <p:strVal val="visible"/>
                                      </p:to>
                                    </p:set>
                                    <p:anim calcmode="lin" valueType="num">
                                      <p:cBhvr>
                                        <p:cTn id="7" dur="1000" fill="hold"/>
                                        <p:tgtEl>
                                          <p:spTgt spid="11324"/>
                                        </p:tgtEl>
                                        <p:attrNameLst>
                                          <p:attrName>ppt_x</p:attrName>
                                        </p:attrNameLst>
                                      </p:cBhvr>
                                      <p:tavLst>
                                        <p:tav tm="0">
                                          <p:val>
                                            <p:strVal val="#ppt_x-#ppt_w/2"/>
                                          </p:val>
                                        </p:tav>
                                        <p:tav tm="100000">
                                          <p:val>
                                            <p:strVal val="#ppt_x"/>
                                          </p:val>
                                        </p:tav>
                                      </p:tavLst>
                                    </p:anim>
                                    <p:anim calcmode="lin" valueType="num">
                                      <p:cBhvr>
                                        <p:cTn id="8" dur="1000" fill="hold"/>
                                        <p:tgtEl>
                                          <p:spTgt spid="11324"/>
                                        </p:tgtEl>
                                        <p:attrNameLst>
                                          <p:attrName>ppt_y</p:attrName>
                                        </p:attrNameLst>
                                      </p:cBhvr>
                                      <p:tavLst>
                                        <p:tav tm="0">
                                          <p:val>
                                            <p:strVal val="#ppt_y"/>
                                          </p:val>
                                        </p:tav>
                                        <p:tav tm="100000">
                                          <p:val>
                                            <p:strVal val="#ppt_y"/>
                                          </p:val>
                                        </p:tav>
                                      </p:tavLst>
                                    </p:anim>
                                    <p:anim calcmode="lin" valueType="num">
                                      <p:cBhvr>
                                        <p:cTn id="9" dur="1000" fill="hold"/>
                                        <p:tgtEl>
                                          <p:spTgt spid="11324"/>
                                        </p:tgtEl>
                                        <p:attrNameLst>
                                          <p:attrName>ppt_w</p:attrName>
                                        </p:attrNameLst>
                                      </p:cBhvr>
                                      <p:tavLst>
                                        <p:tav tm="0">
                                          <p:val>
                                            <p:fltVal val="0"/>
                                          </p:val>
                                        </p:tav>
                                        <p:tav tm="100000">
                                          <p:val>
                                            <p:strVal val="#ppt_w"/>
                                          </p:val>
                                        </p:tav>
                                      </p:tavLst>
                                    </p:anim>
                                    <p:anim calcmode="lin" valueType="num">
                                      <p:cBhvr>
                                        <p:cTn id="10" dur="1000" fill="hold"/>
                                        <p:tgtEl>
                                          <p:spTgt spid="11324"/>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nodeType="clickEffect">
                                  <p:stCondLst>
                                    <p:cond delay="0"/>
                                  </p:stCondLst>
                                  <p:childTnLst>
                                    <p:set>
                                      <p:cBhvr>
                                        <p:cTn id="14" dur="1" fill="hold">
                                          <p:stCondLst>
                                            <p:cond delay="0"/>
                                          </p:stCondLst>
                                        </p:cTn>
                                        <p:tgtEl>
                                          <p:spTgt spid="11325"/>
                                        </p:tgtEl>
                                        <p:attrNameLst>
                                          <p:attrName>style.visibility</p:attrName>
                                        </p:attrNameLst>
                                      </p:cBhvr>
                                      <p:to>
                                        <p:strVal val="visible"/>
                                      </p:to>
                                    </p:set>
                                    <p:anim calcmode="lin" valueType="num">
                                      <p:cBhvr>
                                        <p:cTn id="15" dur="1000" fill="hold"/>
                                        <p:tgtEl>
                                          <p:spTgt spid="11325"/>
                                        </p:tgtEl>
                                        <p:attrNameLst>
                                          <p:attrName>ppt_x</p:attrName>
                                        </p:attrNameLst>
                                      </p:cBhvr>
                                      <p:tavLst>
                                        <p:tav tm="0">
                                          <p:val>
                                            <p:strVal val="#ppt_x-#ppt_w/2"/>
                                          </p:val>
                                        </p:tav>
                                        <p:tav tm="100000">
                                          <p:val>
                                            <p:strVal val="#ppt_x"/>
                                          </p:val>
                                        </p:tav>
                                      </p:tavLst>
                                    </p:anim>
                                    <p:anim calcmode="lin" valueType="num">
                                      <p:cBhvr>
                                        <p:cTn id="16" dur="1000" fill="hold"/>
                                        <p:tgtEl>
                                          <p:spTgt spid="11325"/>
                                        </p:tgtEl>
                                        <p:attrNameLst>
                                          <p:attrName>ppt_y</p:attrName>
                                        </p:attrNameLst>
                                      </p:cBhvr>
                                      <p:tavLst>
                                        <p:tav tm="0">
                                          <p:val>
                                            <p:strVal val="#ppt_y"/>
                                          </p:val>
                                        </p:tav>
                                        <p:tav tm="100000">
                                          <p:val>
                                            <p:strVal val="#ppt_y"/>
                                          </p:val>
                                        </p:tav>
                                      </p:tavLst>
                                    </p:anim>
                                    <p:anim calcmode="lin" valueType="num">
                                      <p:cBhvr>
                                        <p:cTn id="17" dur="1000" fill="hold"/>
                                        <p:tgtEl>
                                          <p:spTgt spid="11325"/>
                                        </p:tgtEl>
                                        <p:attrNameLst>
                                          <p:attrName>ppt_w</p:attrName>
                                        </p:attrNameLst>
                                      </p:cBhvr>
                                      <p:tavLst>
                                        <p:tav tm="0">
                                          <p:val>
                                            <p:fltVal val="0"/>
                                          </p:val>
                                        </p:tav>
                                        <p:tav tm="100000">
                                          <p:val>
                                            <p:strVal val="#ppt_w"/>
                                          </p:val>
                                        </p:tav>
                                      </p:tavLst>
                                    </p:anim>
                                    <p:anim calcmode="lin" valueType="num">
                                      <p:cBhvr>
                                        <p:cTn id="18" dur="1000" fill="hold"/>
                                        <p:tgtEl>
                                          <p:spTgt spid="11325"/>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nodeType="clickEffect">
                                  <p:stCondLst>
                                    <p:cond delay="0"/>
                                  </p:stCondLst>
                                  <p:childTnLst>
                                    <p:set>
                                      <p:cBhvr>
                                        <p:cTn id="22" dur="1" fill="hold">
                                          <p:stCondLst>
                                            <p:cond delay="0"/>
                                          </p:stCondLst>
                                        </p:cTn>
                                        <p:tgtEl>
                                          <p:spTgt spid="11326"/>
                                        </p:tgtEl>
                                        <p:attrNameLst>
                                          <p:attrName>style.visibility</p:attrName>
                                        </p:attrNameLst>
                                      </p:cBhvr>
                                      <p:to>
                                        <p:strVal val="visible"/>
                                      </p:to>
                                    </p:set>
                                    <p:anim calcmode="lin" valueType="num">
                                      <p:cBhvr>
                                        <p:cTn id="23" dur="1000" fill="hold"/>
                                        <p:tgtEl>
                                          <p:spTgt spid="11326"/>
                                        </p:tgtEl>
                                        <p:attrNameLst>
                                          <p:attrName>ppt_x</p:attrName>
                                        </p:attrNameLst>
                                      </p:cBhvr>
                                      <p:tavLst>
                                        <p:tav tm="0">
                                          <p:val>
                                            <p:strVal val="#ppt_x-#ppt_w/2"/>
                                          </p:val>
                                        </p:tav>
                                        <p:tav tm="100000">
                                          <p:val>
                                            <p:strVal val="#ppt_x"/>
                                          </p:val>
                                        </p:tav>
                                      </p:tavLst>
                                    </p:anim>
                                    <p:anim calcmode="lin" valueType="num">
                                      <p:cBhvr>
                                        <p:cTn id="24" dur="1000" fill="hold"/>
                                        <p:tgtEl>
                                          <p:spTgt spid="11326"/>
                                        </p:tgtEl>
                                        <p:attrNameLst>
                                          <p:attrName>ppt_y</p:attrName>
                                        </p:attrNameLst>
                                      </p:cBhvr>
                                      <p:tavLst>
                                        <p:tav tm="0">
                                          <p:val>
                                            <p:strVal val="#ppt_y"/>
                                          </p:val>
                                        </p:tav>
                                        <p:tav tm="100000">
                                          <p:val>
                                            <p:strVal val="#ppt_y"/>
                                          </p:val>
                                        </p:tav>
                                      </p:tavLst>
                                    </p:anim>
                                    <p:anim calcmode="lin" valueType="num">
                                      <p:cBhvr>
                                        <p:cTn id="25" dur="1000" fill="hold"/>
                                        <p:tgtEl>
                                          <p:spTgt spid="11326"/>
                                        </p:tgtEl>
                                        <p:attrNameLst>
                                          <p:attrName>ppt_w</p:attrName>
                                        </p:attrNameLst>
                                      </p:cBhvr>
                                      <p:tavLst>
                                        <p:tav tm="0">
                                          <p:val>
                                            <p:fltVal val="0"/>
                                          </p:val>
                                        </p:tav>
                                        <p:tav tm="100000">
                                          <p:val>
                                            <p:strVal val="#ppt_w"/>
                                          </p:val>
                                        </p:tav>
                                      </p:tavLst>
                                    </p:anim>
                                    <p:anim calcmode="lin" valueType="num">
                                      <p:cBhvr>
                                        <p:cTn id="26" dur="1000" fill="hold"/>
                                        <p:tgtEl>
                                          <p:spTgt spid="11326"/>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2"/>
          <p:cNvSpPr>
            <a:spLocks noGrp="1"/>
          </p:cNvSpPr>
          <p:nvPr>
            <p:ph type="title"/>
          </p:nvPr>
        </p:nvSpPr>
        <p:spPr/>
        <p:txBody>
          <a:bodyPr wrap="square" anchor="ctr"/>
          <a:lstStyle/>
          <a:p>
            <a:pPr eaLnBrk="1" hangingPunct="1"/>
            <a:r>
              <a:rPr lang="en-US" altLang="x-none" dirty="0"/>
              <a:t>Example 10 (</a:t>
            </a:r>
            <a:r>
              <a:rPr lang="zh-CN" altLang="en-US" dirty="0"/>
              <a:t>总结</a:t>
            </a:r>
            <a:r>
              <a:rPr lang="en-US" altLang="x-none" dirty="0"/>
              <a:t>)</a:t>
            </a:r>
          </a:p>
        </p:txBody>
      </p:sp>
      <p:sp>
        <p:nvSpPr>
          <p:cNvPr id="118788" name="Rectangle 3"/>
          <p:cNvSpPr>
            <a:spLocks noGrp="1"/>
          </p:cNvSpPr>
          <p:nvPr>
            <p:ph idx="1"/>
          </p:nvPr>
        </p:nvSpPr>
        <p:spPr>
          <a:xfrm>
            <a:off x="424180" y="687070"/>
            <a:ext cx="11343005" cy="521970"/>
          </a:xfrm>
          <a:solidFill>
            <a:schemeClr val="accent3">
              <a:lumMod val="20000"/>
              <a:lumOff val="80000"/>
            </a:schemeClr>
          </a:solidFill>
        </p:spPr>
        <p:txBody>
          <a:bodyPr wrap="square" anchor="t">
            <a:noAutofit/>
          </a:bodyPr>
          <a:lstStyle/>
          <a:p>
            <a:pPr marL="0" indent="0" eaLnBrk="1" hangingPunct="1">
              <a:lnSpc>
                <a:spcPct val="100000"/>
              </a:lnSpc>
              <a:spcBef>
                <a:spcPct val="10000"/>
              </a:spcBef>
              <a:buNone/>
            </a:pPr>
            <a:r>
              <a:rPr lang="en-US" altLang="zh-CN" sz="2800" dirty="0">
                <a:solidFill>
                  <a:srgbClr val="0000C8"/>
                </a:solidFill>
                <a:cs typeface="+mn-lt"/>
              </a:rPr>
              <a:t>9. </a:t>
            </a:r>
            <a:r>
              <a:rPr lang="zh-CN" altLang="en-US" sz="2800">
                <a:solidFill>
                  <a:srgbClr val="0000C8"/>
                </a:solidFill>
                <a:sym typeface="+mn-ea"/>
              </a:rPr>
              <a:t>在当前的所有顾客中</a:t>
            </a:r>
            <a:r>
              <a:rPr lang="en-US" altLang="zh-CN" sz="2800">
                <a:solidFill>
                  <a:srgbClr val="0000C8"/>
                </a:solidFill>
                <a:sym typeface="+mn-ea"/>
              </a:rPr>
              <a:t>, </a:t>
            </a:r>
            <a:r>
              <a:rPr lang="zh-CN" altLang="en-US" sz="2800">
                <a:solidFill>
                  <a:srgbClr val="0000C8"/>
                </a:solidFill>
                <a:sym typeface="+mn-ea"/>
              </a:rPr>
              <a:t>查询折扣</a:t>
            </a:r>
            <a:r>
              <a:rPr lang="en-US" altLang="zh-CN" sz="2800">
                <a:solidFill>
                  <a:srgbClr val="0000C8"/>
                </a:solidFill>
                <a:sym typeface="+mn-ea"/>
              </a:rPr>
              <a:t>(discnt)</a:t>
            </a:r>
            <a:r>
              <a:rPr lang="zh-CN" altLang="en-US" sz="2800">
                <a:solidFill>
                  <a:srgbClr val="0000C8"/>
                </a:solidFill>
                <a:sym typeface="+mn-ea"/>
              </a:rPr>
              <a:t>最高的顾客的编号</a:t>
            </a:r>
            <a:r>
              <a:rPr lang="en-US" altLang="zh-CN" sz="2800">
                <a:solidFill>
                  <a:srgbClr val="0000C8"/>
                </a:solidFill>
                <a:sym typeface="+mn-ea"/>
              </a:rPr>
              <a:t>(cid)</a:t>
            </a:r>
            <a:endParaRPr lang="en-US" altLang="x-none" sz="2800" dirty="0">
              <a:solidFill>
                <a:srgbClr val="0000C8"/>
              </a:solidFill>
              <a:cs typeface="+mn-lt"/>
            </a:endParaRPr>
          </a:p>
        </p:txBody>
      </p:sp>
      <mc:AlternateContent xmlns:mc="http://schemas.openxmlformats.org/markup-compatibility/2006" xmlns:a14="http://schemas.microsoft.com/office/drawing/2010/main">
        <mc:Choice Requires="a14">
          <p:sp>
            <p:nvSpPr>
              <p:cNvPr id="116742" name="Rectangle 4"/>
              <p:cNvSpPr/>
              <p:nvPr/>
            </p:nvSpPr>
            <p:spPr>
              <a:xfrm>
                <a:off x="424815" y="1255395"/>
                <a:ext cx="11342370" cy="3876675"/>
              </a:xfrm>
              <a:prstGeom prst="rect">
                <a:avLst/>
              </a:prstGeom>
              <a:solidFill>
                <a:schemeClr val="bg1"/>
              </a:solidFill>
              <a:ln w="9525">
                <a:noFill/>
              </a:ln>
            </p:spPr>
            <p:txBody>
              <a:bodyPr wrap="square" anchor="t">
                <a:noAutofit/>
              </a:bodyPr>
              <a:lstStyle/>
              <a:p>
                <a:pPr marL="514350" indent="-514350" fontAlgn="auto">
                  <a:spcBef>
                    <a:spcPts val="0"/>
                  </a:spcBef>
                  <a:spcAft>
                    <a:spcPts val="100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查询所有顾客的编号，其结果构成关系</a:t>
                </a:r>
                <a:r>
                  <a:rPr lang="en-US" altLang="x-none" sz="2800" b="1" dirty="0">
                    <a:solidFill>
                      <a:srgbClr val="0000C8"/>
                    </a:solidFill>
                    <a:latin typeface="+mn-lt"/>
                    <a:ea typeface="楷体" panose="02010609060101010101" charset="-122"/>
                    <a:cs typeface="+mn-lt"/>
                  </a:rPr>
                  <a:t>R</a:t>
                </a:r>
                <a:r>
                  <a:rPr lang="en-US" altLang="x-none" sz="2800" b="1" baseline="-25000" dirty="0">
                    <a:solidFill>
                      <a:srgbClr val="0000C8"/>
                    </a:solidFill>
                    <a:latin typeface="+mn-lt"/>
                    <a:ea typeface="楷体" panose="02010609060101010101" charset="-122"/>
                    <a:cs typeface="+mn-lt"/>
                  </a:rPr>
                  <a:t>1</a:t>
                </a:r>
                <a:endParaRPr lang="en-US" altLang="x-none" sz="2800" b="1" dirty="0">
                  <a:solidFill>
                    <a:srgbClr val="0000C8"/>
                  </a:solidFill>
                  <a:latin typeface="+mn-lt"/>
                  <a:ea typeface="楷体" panose="02010609060101010101" charset="-122"/>
                  <a:cs typeface="+mn-lt"/>
                </a:endParaRPr>
              </a:p>
              <a:p>
                <a:pPr marL="1371600" lvl="2" indent="-457200" algn="l" fontAlgn="auto">
                  <a:spcBef>
                    <a:spcPts val="0"/>
                  </a:spcBef>
                  <a:spcAft>
                    <a:spcPts val="1000"/>
                  </a:spcAft>
                </a:pPr>
                <a14:m>
                  <m:oMathPara xmlns:m="http://schemas.openxmlformats.org/officeDocument/2006/math">
                    <m:oMathParaPr>
                      <m:jc m:val="left"/>
                    </m:oMathParaPr>
                    <m:oMath xmlns:m="http://schemas.openxmlformats.org/officeDocument/2006/math">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𝑹</m:t>
                      </m:r>
                      <m:r>
                        <a:rPr lang="en-US" altLang="x-none" sz="2800" b="1" i="1" baseline="-25000" dirty="0">
                          <a:solidFill>
                            <a:srgbClr val="0000C8"/>
                          </a:solidFill>
                          <a:latin typeface="Cambria Math" panose="02040503050406030204" charset="0"/>
                          <a:ea typeface="楷体" panose="02010609060101010101" charset="-122"/>
                          <a:cs typeface="Cambria Math" panose="02040503050406030204" charset="0"/>
                        </a:rPr>
                        <m:t>𝟏</m:t>
                      </m:r>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  </m:t>
                      </m:r>
                      <m:box>
                        <m:boxPr>
                          <m:noBreak m:val="on"/>
                          <m:ctrlPr>
                            <a:rPr lang="en-US" altLang="x-none" sz="2800" b="1" i="1" dirty="0">
                              <a:solidFill>
                                <a:srgbClr val="0000C8"/>
                              </a:solidFill>
                              <a:latin typeface="Cambria Math" panose="02040503050406030204" pitchFamily="18" charset="0"/>
                              <a:ea typeface="楷体" panose="02010609060101010101" charset="-122"/>
                              <a:cs typeface="Cambria Math" panose="02040503050406030204" charset="0"/>
                            </a:rPr>
                          </m:ctrlPr>
                        </m:boxPr>
                        <m:e>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m:t>
                          </m:r>
                        </m:e>
                      </m:box>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  </m:t>
                      </m:r>
                      <m:sSub>
                        <m:sSubPr>
                          <m:ctrlPr>
                            <a:rPr lang="en-US" altLang="x-none" sz="28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𝝅</m:t>
                          </m:r>
                        </m:e>
                        <m:sub>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 </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𝒄𝒊𝒅</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 </m:t>
                          </m:r>
                        </m:sub>
                      </m:sSub>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𝑪</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oMath>
                  </m:oMathPara>
                </a14:m>
                <a:endParaRPr lang="en-US" altLang="x-none" sz="2800" b="1" dirty="0">
                  <a:solidFill>
                    <a:srgbClr val="0000C8"/>
                  </a:solidFill>
                  <a:latin typeface="+mn-lt"/>
                  <a:ea typeface="楷体" panose="02010609060101010101" charset="-122"/>
                  <a:cs typeface="+mn-lt"/>
                </a:endParaRPr>
              </a:p>
              <a:p>
                <a:pPr marL="514350" indent="-514350" fontAlgn="auto">
                  <a:spcBef>
                    <a:spcPts val="1000"/>
                  </a:spcBef>
                  <a:spcAft>
                    <a:spcPts val="100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查询折扣并非最高的顾客（</a:t>
                </a:r>
                <a:r>
                  <a:rPr lang="zh-CN" altLang="en-US" sz="2800" b="1" i="1" dirty="0">
                    <a:solidFill>
                      <a:srgbClr val="0000C8"/>
                    </a:solidFill>
                    <a:latin typeface="+mn-lt"/>
                    <a:ea typeface="楷体" panose="02010609060101010101" charset="-122"/>
                    <a:cs typeface="+mn-lt"/>
                  </a:rPr>
                  <a:t>其折扣低于其他某个顾客的折扣，或至少存在一个顾客</a:t>
                </a:r>
                <a14:m>
                  <m:oMath xmlns:m="http://schemas.openxmlformats.org/officeDocument/2006/math">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𝑿</m:t>
                    </m:r>
                  </m:oMath>
                </a14:m>
                <a:r>
                  <a:rPr lang="zh-CN" altLang="en-US" sz="2800" b="1" i="1" dirty="0">
                    <a:solidFill>
                      <a:srgbClr val="0000C8"/>
                    </a:solidFill>
                    <a:latin typeface="+mn-lt"/>
                    <a:ea typeface="楷体" panose="02010609060101010101" charset="-122"/>
                    <a:cs typeface="+mn-lt"/>
                  </a:rPr>
                  <a:t>，而</a:t>
                </a:r>
                <a14:m>
                  <m:oMath xmlns:m="http://schemas.openxmlformats.org/officeDocument/2006/math">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𝑿</m:t>
                    </m:r>
                  </m:oMath>
                </a14:m>
                <a:r>
                  <a:rPr lang="zh-CN" altLang="en-US" sz="2800" b="1" i="1" dirty="0">
                    <a:solidFill>
                      <a:srgbClr val="0000C8"/>
                    </a:solidFill>
                    <a:latin typeface="+mn-lt"/>
                    <a:ea typeface="楷体" panose="02010609060101010101" charset="-122"/>
                    <a:cs typeface="+mn-lt"/>
                  </a:rPr>
                  <a:t>的折扣高于当前顾客的折扣</a:t>
                </a:r>
                <a:r>
                  <a:rPr lang="zh-CN" altLang="en-US" sz="2800" b="1" dirty="0">
                    <a:solidFill>
                      <a:srgbClr val="0000C8"/>
                    </a:solidFill>
                    <a:latin typeface="+mn-lt"/>
                    <a:ea typeface="楷体" panose="02010609060101010101" charset="-122"/>
                    <a:cs typeface="+mn-lt"/>
                  </a:rPr>
                  <a:t>）的编号，查询结果构成关系</a:t>
                </a:r>
                <a:r>
                  <a:rPr lang="en-US" altLang="x-none" sz="2800" b="1" dirty="0">
                    <a:solidFill>
                      <a:srgbClr val="0000C8"/>
                    </a:solidFill>
                    <a:latin typeface="+mn-lt"/>
                    <a:ea typeface="楷体" panose="02010609060101010101" charset="-122"/>
                    <a:cs typeface="+mn-lt"/>
                  </a:rPr>
                  <a:t>R</a:t>
                </a:r>
                <a:r>
                  <a:rPr lang="en-US" altLang="x-none" sz="2800" b="1" baseline="-25000" dirty="0">
                    <a:solidFill>
                      <a:srgbClr val="0000C8"/>
                    </a:solidFill>
                    <a:latin typeface="+mn-lt"/>
                    <a:ea typeface="楷体" panose="02010609060101010101" charset="-122"/>
                    <a:cs typeface="+mn-lt"/>
                  </a:rPr>
                  <a:t>2</a:t>
                </a:r>
                <a:endParaRPr lang="en-US" altLang="x-none" sz="2800" b="1" dirty="0">
                  <a:solidFill>
                    <a:srgbClr val="0000C8"/>
                  </a:solidFill>
                  <a:latin typeface="+mn-lt"/>
                  <a:ea typeface="楷体" panose="02010609060101010101" charset="-122"/>
                  <a:cs typeface="+mn-lt"/>
                </a:endParaRPr>
              </a:p>
              <a:p>
                <a:pPr marL="914400" lvl="1" indent="-457200" algn="l" fontAlgn="auto">
                  <a:spcBef>
                    <a:spcPts val="0"/>
                  </a:spcBef>
                  <a:spcAft>
                    <a:spcPts val="1000"/>
                  </a:spcAft>
                </a:pPr>
                <a:r>
                  <a:rPr lang="zh-CN" altLang="en-US" sz="2800" b="1" dirty="0">
                    <a:solidFill>
                      <a:srgbClr val="0000C8"/>
                    </a:solidFill>
                    <a:latin typeface="+mn-lt"/>
                    <a:ea typeface="楷体" panose="02010609060101010101" charset="-122"/>
                    <a:cs typeface="+mn-lt"/>
                  </a:rPr>
                  <a:t>令 </a:t>
                </a:r>
                <a:r>
                  <a:rPr lang="en-US" altLang="x-none" sz="2800" b="1" dirty="0">
                    <a:solidFill>
                      <a:srgbClr val="0000C8"/>
                    </a:solidFill>
                    <a:latin typeface="+mn-lt"/>
                    <a:ea typeface="楷体" panose="02010609060101010101" charset="-122"/>
                    <a:cs typeface="+mn-lt"/>
                  </a:rPr>
                  <a:t>S := C, </a:t>
                </a:r>
                <a:r>
                  <a:rPr lang="zh-CN" altLang="en-US" sz="2800" b="1" dirty="0">
                    <a:solidFill>
                      <a:srgbClr val="0000C8"/>
                    </a:solidFill>
                    <a:latin typeface="+mn-lt"/>
                    <a:ea typeface="楷体" panose="02010609060101010101" charset="-122"/>
                    <a:cs typeface="+mn-lt"/>
                  </a:rPr>
                  <a:t>则：</a:t>
                </a:r>
                <a14:m>
                  <m:oMath xmlns:m="http://schemas.openxmlformats.org/officeDocument/2006/math">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𝑹</m:t>
                    </m:r>
                    <m:r>
                      <a:rPr lang="en-US" altLang="x-none" sz="2800" b="1" i="1" baseline="-25000" dirty="0">
                        <a:solidFill>
                          <a:srgbClr val="0000C8"/>
                        </a:solidFill>
                        <a:latin typeface="Cambria Math" panose="02040503050406030204" charset="0"/>
                        <a:ea typeface="楷体" panose="02010609060101010101" charset="-122"/>
                        <a:cs typeface="Cambria Math" panose="02040503050406030204" charset="0"/>
                      </a:rPr>
                      <m:t>𝟐</m:t>
                    </m:r>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  </m:t>
                    </m:r>
                    <m:box>
                      <m:boxPr>
                        <m:noBreak m:val="on"/>
                        <m:ctrlPr>
                          <a:rPr lang="en-US" altLang="x-none" sz="2800" b="1" i="1" dirty="0">
                            <a:solidFill>
                              <a:srgbClr val="0000C8"/>
                            </a:solidFill>
                            <a:latin typeface="Cambria Math" panose="02040503050406030204" pitchFamily="18" charset="0"/>
                            <a:ea typeface="楷体" panose="02010609060101010101" charset="-122"/>
                            <a:cs typeface="Cambria Math" panose="02040503050406030204" charset="0"/>
                          </a:rPr>
                        </m:ctrlPr>
                      </m:boxPr>
                      <m:e>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m:t>
                        </m:r>
                      </m:e>
                    </m:box>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  </m:t>
                    </m:r>
                    <m:sSub>
                      <m:sSubPr>
                        <m:ctrlPr>
                          <a:rPr lang="en-US" altLang="x-none" sz="28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𝝅</m:t>
                        </m:r>
                      </m:e>
                      <m:sub>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 </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𝑪</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𝒄𝒊𝒅</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 </m:t>
                        </m:r>
                      </m:sub>
                    </m:sSub>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sSub>
                      <m:sSubPr>
                        <m:ctrlPr>
                          <a:rPr lang="en-US" altLang="x-none" sz="2800" b="1" i="1" dirty="0">
                            <a:solidFill>
                              <a:srgbClr val="FF0000"/>
                            </a:solidFill>
                            <a:latin typeface="Cambria Math" panose="02040503050406030204" pitchFamily="18" charset="0"/>
                            <a:ea typeface="楷体" panose="02010609060101010101" charset="-122"/>
                            <a:cs typeface="Cambria Math" panose="02040503050406030204" charset="0"/>
                          </a:rPr>
                        </m:ctrlPr>
                      </m:sSubPr>
                      <m:e>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𝝈</m:t>
                        </m:r>
                      </m:e>
                      <m:sub>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 </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𝑪</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𝒅𝒊𝒔𝒄𝒏𝒕</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 &lt; </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𝑺</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𝒅𝒊𝒔𝒄𝒏𝒕</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 </m:t>
                        </m:r>
                      </m:sub>
                    </m:sSub>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𝑪</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𝑺</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m:t>
                    </m:r>
                  </m:oMath>
                </a14:m>
                <a:endParaRPr lang="en-US" altLang="x-none" sz="2800" b="1" dirty="0">
                  <a:solidFill>
                    <a:srgbClr val="0000C8"/>
                  </a:solidFill>
                  <a:latin typeface="+mn-lt"/>
                  <a:ea typeface="楷体" panose="02010609060101010101" charset="-122"/>
                  <a:cs typeface="+mn-lt"/>
                </a:endParaRPr>
              </a:p>
              <a:p>
                <a:pPr marL="514350" indent="-514350" fontAlgn="auto">
                  <a:spcBef>
                    <a:spcPts val="1000"/>
                  </a:spcBef>
                  <a:spcAft>
                    <a:spcPts val="100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利用减法</a:t>
                </a:r>
                <a:r>
                  <a:rPr lang="en-US" altLang="x-none" sz="2800" b="1" dirty="0">
                    <a:solidFill>
                      <a:srgbClr val="0000C8"/>
                    </a:solidFill>
                    <a:latin typeface="+mn-lt"/>
                    <a:ea typeface="楷体" panose="02010609060101010101" charset="-122"/>
                    <a:cs typeface="+mn-lt"/>
                  </a:rPr>
                  <a:t>(difference)</a:t>
                </a:r>
                <a:r>
                  <a:rPr lang="zh-CN" altLang="en-US" sz="2800" b="1" dirty="0">
                    <a:solidFill>
                      <a:srgbClr val="0000C8"/>
                    </a:solidFill>
                    <a:latin typeface="+mn-lt"/>
                    <a:ea typeface="楷体" panose="02010609060101010101" charset="-122"/>
                    <a:cs typeface="+mn-lt"/>
                  </a:rPr>
                  <a:t>运算获得折扣最高顾客的编号：</a:t>
                </a:r>
                <a14:m>
                  <m:oMath xmlns:m="http://schemas.openxmlformats.org/officeDocument/2006/math">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𝑻</m:t>
                    </m:r>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  </m:t>
                    </m:r>
                    <m:box>
                      <m:boxPr>
                        <m:noBreak m:val="on"/>
                        <m:ctrlPr>
                          <a:rPr lang="en-US" altLang="x-none" sz="2800" b="1" i="1" dirty="0">
                            <a:solidFill>
                              <a:srgbClr val="0000C8"/>
                            </a:solidFill>
                            <a:latin typeface="Cambria Math" panose="02040503050406030204" pitchFamily="18" charset="0"/>
                            <a:ea typeface="楷体" panose="02010609060101010101" charset="-122"/>
                            <a:cs typeface="Cambria Math" panose="02040503050406030204" charset="0"/>
                          </a:rPr>
                        </m:ctrlPr>
                      </m:boxPr>
                      <m:e>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m:t>
                        </m:r>
                      </m:e>
                    </m:box>
                    <m:r>
                      <a:rPr lang="en-US" altLang="x-none" sz="2800" b="1" i="1" dirty="0">
                        <a:solidFill>
                          <a:srgbClr val="0000C8"/>
                        </a:solidFill>
                        <a:latin typeface="Cambria Math" panose="02040503050406030204" charset="0"/>
                        <a:ea typeface="楷体" panose="02010609060101010101" charset="-122"/>
                        <a:cs typeface="Cambria Math" panose="02040503050406030204" charset="0"/>
                      </a:rPr>
                      <m:t>  </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𝑹</m:t>
                    </m:r>
                    <m:r>
                      <a:rPr lang="en-US" altLang="x-none" sz="2800" b="1" i="1" baseline="-25000" dirty="0">
                        <a:solidFill>
                          <a:srgbClr val="FF0000"/>
                        </a:solidFill>
                        <a:latin typeface="Cambria Math" panose="02040503050406030204" charset="0"/>
                        <a:ea typeface="楷体" panose="02010609060101010101" charset="-122"/>
                        <a:cs typeface="Cambria Math" panose="02040503050406030204" charset="0"/>
                      </a:rPr>
                      <m:t>𝟏</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sym typeface="Symbol" panose="05050102010706020507" pitchFamily="2" charset="2"/>
                      </a:rPr>
                      <m:t>−</m:t>
                    </m:r>
                    <m:r>
                      <a:rPr lang="en-US" altLang="x-none" sz="2800" b="1" i="1" dirty="0">
                        <a:solidFill>
                          <a:srgbClr val="FF0000"/>
                        </a:solidFill>
                        <a:latin typeface="Cambria Math" panose="02040503050406030204" charset="0"/>
                        <a:ea typeface="楷体" panose="02010609060101010101" charset="-122"/>
                        <a:cs typeface="Cambria Math" panose="02040503050406030204" charset="0"/>
                      </a:rPr>
                      <m:t>𝑹</m:t>
                    </m:r>
                    <m:r>
                      <a:rPr lang="en-US" altLang="x-none" sz="2800" b="1" i="1" baseline="-25000" dirty="0">
                        <a:solidFill>
                          <a:srgbClr val="FF0000"/>
                        </a:solidFill>
                        <a:latin typeface="Cambria Math" panose="02040503050406030204" charset="0"/>
                        <a:ea typeface="楷体" panose="02010609060101010101" charset="-122"/>
                        <a:cs typeface="Cambria Math" panose="02040503050406030204" charset="0"/>
                      </a:rPr>
                      <m:t>𝟐</m:t>
                    </m:r>
                  </m:oMath>
                </a14:m>
                <a:endParaRPr lang="en-US" altLang="x-none" sz="2800" b="1" i="1" baseline="-25000" dirty="0">
                  <a:solidFill>
                    <a:srgbClr val="FF0000"/>
                  </a:solidFill>
                  <a:latin typeface="Cambria Math" panose="02040503050406030204" charset="0"/>
                  <a:ea typeface="楷体" panose="02010609060101010101" charset="-122"/>
                  <a:cs typeface="Cambria Math" panose="02040503050406030204" charset="0"/>
                </a:endParaRPr>
              </a:p>
            </p:txBody>
          </p:sp>
        </mc:Choice>
        <mc:Fallback xmlns="">
          <p:sp>
            <p:nvSpPr>
              <p:cNvPr id="116742" name="Rectangle 4"/>
              <p:cNvSpPr>
                <a:spLocks noRot="1" noChangeAspect="1" noMove="1" noResize="1" noEditPoints="1" noAdjustHandles="1" noChangeArrowheads="1" noChangeShapeType="1" noTextEdit="1"/>
              </p:cNvSpPr>
              <p:nvPr/>
            </p:nvSpPr>
            <p:spPr>
              <a:xfrm>
                <a:off x="424815" y="1255395"/>
                <a:ext cx="11342370" cy="3876675"/>
              </a:xfrm>
              <a:prstGeom prst="rect">
                <a:avLst/>
              </a:prstGeom>
              <a:blipFill rotWithShape="1">
                <a:blip r:embed="rId3"/>
                <a:stretch>
                  <a:fillRect/>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812" name="Rectangle 3"/>
              <p:cNvSpPr>
                <a:spLocks noGrp="1"/>
              </p:cNvSpPr>
              <p:nvPr/>
            </p:nvSpPr>
            <p:spPr>
              <a:xfrm>
                <a:off x="424815" y="5357495"/>
                <a:ext cx="11343005" cy="1124585"/>
              </a:xfrm>
              <a:prstGeom prst="rect">
                <a:avLst/>
              </a:prstGeom>
            </p:spPr>
            <p:txBody>
              <a:bodyPr vert="horz" wrap="square" lIns="91440" tIns="45720" rIns="91440" bIns="45720" rtlCol="0" anchor="t">
                <a:noAutofit/>
              </a:bodyPr>
              <a:lstStyle>
                <a:lvl1pPr marL="360045" indent="-360045" algn="l" defTabSz="914400" rtl="0" eaLnBrk="1" latinLnBrk="0" hangingPunct="1">
                  <a:lnSpc>
                    <a:spcPct val="110000"/>
                  </a:lnSpc>
                  <a:spcBef>
                    <a:spcPts val="0"/>
                  </a:spcBef>
                  <a:spcAft>
                    <a:spcPts val="0"/>
                  </a:spcAft>
                  <a:buClr>
                    <a:srgbClr val="C00000"/>
                  </a:buClr>
                  <a:buSzPct val="85000"/>
                  <a:buFont typeface="Wingdings" panose="05000000000000000000" charset="0"/>
                  <a:buChar char="q"/>
                  <a:defRPr sz="2800" b="1" kern="1200">
                    <a:solidFill>
                      <a:srgbClr val="1F2DA8"/>
                    </a:solidFill>
                    <a:latin typeface="Arial" panose="020B0604020202020204" pitchFamily="34" charset="0"/>
                    <a:ea typeface="楷体" panose="02010609060101010101" charset="-122"/>
                    <a:cs typeface="+mn-cs"/>
                  </a:defRPr>
                </a:lvl1pPr>
                <a:lvl2pPr marL="7848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Arial" panose="020B0604020202020204" pitchFamily="34" charset="0"/>
                    <a:ea typeface="楷体" panose="02010609060101010101" charset="-122"/>
                    <a:cs typeface="+mn-cs"/>
                  </a:defRPr>
                </a:lvl2pPr>
                <a:lvl3pPr marL="12528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3pPr>
                <a:lvl4pPr marL="1710055" indent="-33782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Arial" panose="020B0604020202020204" pitchFamily="34" charset="0"/>
                    <a:ea typeface="楷体" panose="02010609060101010101" charset="-122"/>
                    <a:cs typeface="+mn-cs"/>
                  </a:defRPr>
                </a:lvl4pPr>
                <a:lvl5pPr marL="2156460" indent="-327025"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Arial" panose="020B0604020202020204" pitchFamily="34" charset="0"/>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10000"/>
                  </a:spcBef>
                </a:pPr>
                <a:r>
                  <a:rPr lang="zh-CN" altLang="en-US" dirty="0">
                    <a:solidFill>
                      <a:srgbClr val="0000C8"/>
                    </a:solidFill>
                    <a:latin typeface="Arial" panose="020B0604020202020204" pitchFamily="34" charset="0"/>
                  </a:rPr>
                  <a:t>合并上述的三个公式</a:t>
                </a:r>
                <a:r>
                  <a:rPr lang="zh-CN" dirty="0">
                    <a:solidFill>
                      <a:srgbClr val="0000C8"/>
                    </a:solidFill>
                    <a:latin typeface="Arial" panose="020B0604020202020204" pitchFamily="34" charset="0"/>
                  </a:rPr>
                  <a:t>，得到该查询的关系代数表达式如下：</a:t>
                </a:r>
                <a:endParaRPr lang="en-US" altLang="x-none" dirty="0">
                  <a:solidFill>
                    <a:srgbClr val="0000C8"/>
                  </a:solidFill>
                  <a:latin typeface="Arial" panose="020B0604020202020204" pitchFamily="34" charset="0"/>
                </a:endParaRPr>
              </a:p>
              <a:p>
                <a:pPr lvl="2" eaLnBrk="1" hangingPunct="1">
                  <a:lnSpc>
                    <a:spcPct val="120000"/>
                  </a:lnSpc>
                  <a:buNone/>
                </a:pPr>
                <a14:m>
                  <m:oMathPara xmlns:m="http://schemas.openxmlformats.org/officeDocument/2006/math">
                    <m:oMathParaPr>
                      <m:jc m:val="left"/>
                    </m:oMathParaPr>
                    <m:oMath xmlns:m="http://schemas.openxmlformats.org/officeDocument/2006/math">
                      <m:sSub>
                        <m:sSubPr>
                          <m:ctrlPr>
                            <a:rPr lang="en-US" altLang="x-none" i="1" dirty="0">
                              <a:solidFill>
                                <a:srgbClr val="FF0000"/>
                              </a:solidFill>
                              <a:latin typeface="Cambria Math" panose="02040503050406030204" pitchFamily="18" charset="0"/>
                              <a:cs typeface="Cambria Math" panose="02040503050406030204" charset="0"/>
                            </a:rPr>
                          </m:ctrlPr>
                        </m:sSubPr>
                        <m:e>
                          <m:r>
                            <a:rPr lang="en-US" altLang="x-none" b="1" i="1" dirty="0">
                              <a:solidFill>
                                <a:srgbClr val="FF0000"/>
                              </a:solidFill>
                              <a:latin typeface="Cambria Math" panose="02040503050406030204" charset="0"/>
                              <a:cs typeface="Cambria Math" panose="02040503050406030204" charset="0"/>
                            </a:rPr>
                            <m:t>𝝅</m:t>
                          </m:r>
                        </m:e>
                        <m:sub>
                          <m:r>
                            <a:rPr lang="en-US" altLang="x-none" i="1" dirty="0">
                              <a:solidFill>
                                <a:srgbClr val="FF0000"/>
                              </a:solidFill>
                              <a:latin typeface="Cambria Math" panose="02040503050406030204" charset="0"/>
                              <a:cs typeface="Cambria Math" panose="02040503050406030204" charset="0"/>
                            </a:rPr>
                            <m:t> </m:t>
                          </m:r>
                          <m:r>
                            <a:rPr lang="en-US" altLang="x-none" i="1" dirty="0">
                              <a:solidFill>
                                <a:srgbClr val="FF0000"/>
                              </a:solidFill>
                              <a:latin typeface="Cambria Math" panose="02040503050406030204" charset="0"/>
                              <a:cs typeface="Cambria Math" panose="02040503050406030204" charset="0"/>
                            </a:rPr>
                            <m:t>𝒄𝒊𝒅</m:t>
                          </m:r>
                          <m:r>
                            <a:rPr lang="en-US" altLang="x-none" i="1" dirty="0">
                              <a:solidFill>
                                <a:srgbClr val="FF0000"/>
                              </a:solidFill>
                              <a:latin typeface="Cambria Math" panose="02040503050406030204" charset="0"/>
                              <a:cs typeface="Cambria Math" panose="02040503050406030204" charset="0"/>
                            </a:rPr>
                            <m:t> </m:t>
                          </m:r>
                        </m:sub>
                      </m:sSub>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𝐶</m:t>
                      </m:r>
                      <m:r>
                        <a:rPr lang="en-US" altLang="x-none" i="1" dirty="0">
                          <a:solidFill>
                            <a:srgbClr val="FF0000"/>
                          </a:solidFill>
                          <a:latin typeface="Cambria Math" panose="02040503050406030204" charset="0"/>
                          <a:cs typeface="Cambria Math" panose="02040503050406030204" charset="0"/>
                        </a:rPr>
                        <m:t>)−</m:t>
                      </m:r>
                      <m:sSub>
                        <m:sSubPr>
                          <m:ctrlPr>
                            <a:rPr lang="en-US" altLang="x-none" i="1" dirty="0">
                              <a:solidFill>
                                <a:srgbClr val="FF0000"/>
                              </a:solidFill>
                              <a:latin typeface="Cambria Math" panose="02040503050406030204" pitchFamily="18" charset="0"/>
                              <a:cs typeface="Cambria Math" panose="02040503050406030204" charset="0"/>
                            </a:rPr>
                          </m:ctrlPr>
                        </m:sSubPr>
                        <m:e>
                          <m:r>
                            <a:rPr lang="en-US" altLang="x-none" b="1" i="1" dirty="0">
                              <a:solidFill>
                                <a:srgbClr val="FF0000"/>
                              </a:solidFill>
                              <a:latin typeface="Cambria Math" panose="02040503050406030204" charset="0"/>
                              <a:cs typeface="Cambria Math" panose="02040503050406030204" charset="0"/>
                            </a:rPr>
                            <m:t>𝝅</m:t>
                          </m:r>
                        </m:e>
                        <m:sub>
                          <m:r>
                            <a:rPr lang="en-US" altLang="x-none" i="1" dirty="0">
                              <a:solidFill>
                                <a:srgbClr val="FF0000"/>
                              </a:solidFill>
                              <a:latin typeface="Cambria Math" panose="02040503050406030204" charset="0"/>
                              <a:cs typeface="Cambria Math" panose="02040503050406030204" charset="0"/>
                            </a:rPr>
                            <m:t> </m:t>
                          </m:r>
                          <m:r>
                            <a:rPr lang="en-US" altLang="x-none" i="1" dirty="0">
                              <a:solidFill>
                                <a:srgbClr val="FF0000"/>
                              </a:solidFill>
                              <a:latin typeface="Cambria Math" panose="02040503050406030204" charset="0"/>
                              <a:cs typeface="Cambria Math" panose="02040503050406030204" charset="0"/>
                            </a:rPr>
                            <m:t>𝑪</m:t>
                          </m:r>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𝒄𝒊𝒅</m:t>
                          </m:r>
                          <m:r>
                            <a:rPr lang="en-US" altLang="x-none" i="1" dirty="0">
                              <a:solidFill>
                                <a:srgbClr val="FF0000"/>
                              </a:solidFill>
                              <a:latin typeface="Cambria Math" panose="02040503050406030204" charset="0"/>
                              <a:cs typeface="Cambria Math" panose="02040503050406030204" charset="0"/>
                            </a:rPr>
                            <m:t> </m:t>
                          </m:r>
                        </m:sub>
                      </m:sSub>
                      <m:r>
                        <a:rPr lang="en-US" altLang="x-none" i="1" dirty="0">
                          <a:solidFill>
                            <a:srgbClr val="FF0000"/>
                          </a:solidFill>
                          <a:latin typeface="Cambria Math" panose="02040503050406030204" charset="0"/>
                          <a:cs typeface="Cambria Math" panose="02040503050406030204" charset="0"/>
                        </a:rPr>
                        <m:t>(</m:t>
                      </m:r>
                      <m:sSub>
                        <m:sSubPr>
                          <m:ctrlPr>
                            <a:rPr lang="en-US" altLang="x-none" i="1" dirty="0">
                              <a:solidFill>
                                <a:srgbClr val="FF0000"/>
                              </a:solidFill>
                              <a:latin typeface="Cambria Math" panose="02040503050406030204" pitchFamily="18" charset="0"/>
                              <a:cs typeface="Cambria Math" panose="02040503050406030204" charset="0"/>
                            </a:rPr>
                          </m:ctrlPr>
                        </m:sSubPr>
                        <m:e>
                          <m:r>
                            <a:rPr lang="en-US" altLang="x-none" b="1" i="1" dirty="0">
                              <a:solidFill>
                                <a:srgbClr val="FF0000"/>
                              </a:solidFill>
                              <a:latin typeface="Cambria Math" panose="02040503050406030204" charset="0"/>
                              <a:cs typeface="Cambria Math" panose="02040503050406030204" charset="0"/>
                            </a:rPr>
                            <m:t>𝝈</m:t>
                          </m:r>
                        </m:e>
                        <m:sub>
                          <m:r>
                            <a:rPr lang="en-US" altLang="x-none" i="1" dirty="0">
                              <a:solidFill>
                                <a:srgbClr val="FF0000"/>
                              </a:solidFill>
                              <a:latin typeface="Cambria Math" panose="02040503050406030204" charset="0"/>
                              <a:cs typeface="Cambria Math" panose="02040503050406030204" charset="0"/>
                            </a:rPr>
                            <m:t> </m:t>
                          </m:r>
                          <m:r>
                            <a:rPr lang="en-US" altLang="x-none" i="1" dirty="0">
                              <a:solidFill>
                                <a:srgbClr val="FF0000"/>
                              </a:solidFill>
                              <a:latin typeface="Cambria Math" panose="02040503050406030204" charset="0"/>
                              <a:cs typeface="Cambria Math" panose="02040503050406030204" charset="0"/>
                            </a:rPr>
                            <m:t>𝐶</m:t>
                          </m:r>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𝑑𝑖𝑠𝑐𝑛𝑡</m:t>
                          </m:r>
                          <m:r>
                            <a:rPr lang="en-US" altLang="x-none" i="1" dirty="0">
                              <a:solidFill>
                                <a:srgbClr val="FF0000"/>
                              </a:solidFill>
                              <a:latin typeface="Cambria Math" panose="02040503050406030204" charset="0"/>
                              <a:cs typeface="Cambria Math" panose="02040503050406030204" charset="0"/>
                            </a:rPr>
                            <m:t> &lt; </m:t>
                          </m:r>
                          <m:r>
                            <a:rPr lang="en-US" altLang="x-none" i="1" dirty="0">
                              <a:solidFill>
                                <a:srgbClr val="FF0000"/>
                              </a:solidFill>
                              <a:latin typeface="Cambria Math" panose="02040503050406030204" charset="0"/>
                              <a:cs typeface="Cambria Math" panose="02040503050406030204" charset="0"/>
                            </a:rPr>
                            <m:t>𝑆</m:t>
                          </m:r>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𝑑𝑖𝑠𝑐𝑛𝑡</m:t>
                          </m:r>
                          <m:r>
                            <a:rPr lang="en-US" altLang="x-none" i="1" dirty="0">
                              <a:solidFill>
                                <a:srgbClr val="FF0000"/>
                              </a:solidFill>
                              <a:latin typeface="Cambria Math" panose="02040503050406030204" charset="0"/>
                              <a:cs typeface="Cambria Math" panose="02040503050406030204" charset="0"/>
                            </a:rPr>
                            <m:t> </m:t>
                          </m:r>
                        </m:sub>
                      </m:sSub>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𝐶</m:t>
                      </m:r>
                      <m:r>
                        <a:rPr lang="en-US" altLang="x-none" b="1"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𝑆</m:t>
                      </m:r>
                      <m:r>
                        <a:rPr lang="en-US" altLang="x-none" i="1" dirty="0">
                          <a:solidFill>
                            <a:srgbClr val="FF0000"/>
                          </a:solidFill>
                          <a:latin typeface="Cambria Math" panose="02040503050406030204" charset="0"/>
                          <a:ea typeface="MS Mincho" charset="0"/>
                          <a:cs typeface="Cambria Math" panose="02040503050406030204" charset="0"/>
                        </a:rPr>
                        <m:t>))</m:t>
                      </m:r>
                    </m:oMath>
                  </m:oMathPara>
                </a14:m>
                <a:endParaRPr lang="en-US" altLang="x-none" i="1" dirty="0">
                  <a:solidFill>
                    <a:srgbClr val="FF0000"/>
                  </a:solidFill>
                  <a:latin typeface="Cambria Math" panose="02040503050406030204" charset="0"/>
                  <a:ea typeface="MS Mincho" charset="0"/>
                  <a:cs typeface="Cambria Math" panose="02040503050406030204" charset="0"/>
                </a:endParaRPr>
              </a:p>
            </p:txBody>
          </p:sp>
        </mc:Choice>
        <mc:Fallback xmlns="">
          <p:sp>
            <p:nvSpPr>
              <p:cNvPr id="119812" name="Rectangle 3"/>
              <p:cNvSpPr>
                <a:spLocks noRot="1" noChangeAspect="1" noMove="1" noResize="1" noEditPoints="1" noAdjustHandles="1" noChangeArrowheads="1" noChangeShapeType="1" noTextEdit="1"/>
              </p:cNvSpPr>
              <p:nvPr/>
            </p:nvSpPr>
            <p:spPr>
              <a:xfrm>
                <a:off x="424815" y="5357495"/>
                <a:ext cx="11343005" cy="1124585"/>
              </a:xfrm>
              <a:prstGeom prst="rect">
                <a:avLst/>
              </a:prstGeom>
              <a:blipFill rotWithShape="1">
                <a:blip r:embed="rId4"/>
                <a:stretch>
                  <a:fillRect/>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87</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2"/>
                                        </p:tgtEl>
                                        <p:attrNameLst>
                                          <p:attrName>style.visibility</p:attrName>
                                        </p:attrNameLst>
                                      </p:cBhvr>
                                      <p:to>
                                        <p:strVal val="visible"/>
                                      </p:to>
                                    </p:set>
                                    <p:anim calcmode="lin" valueType="num">
                                      <p:cBhvr additive="base">
                                        <p:cTn id="7" dur="500" fill="hold"/>
                                        <p:tgtEl>
                                          <p:spTgt spid="119812"/>
                                        </p:tgtEl>
                                        <p:attrNameLst>
                                          <p:attrName>ppt_x</p:attrName>
                                        </p:attrNameLst>
                                      </p:cBhvr>
                                      <p:tavLst>
                                        <p:tav tm="0">
                                          <p:val>
                                            <p:strVal val="#ppt_x"/>
                                          </p:val>
                                        </p:tav>
                                        <p:tav tm="100000">
                                          <p:val>
                                            <p:strVal val="#ppt_x"/>
                                          </p:val>
                                        </p:tav>
                                      </p:tavLst>
                                    </p:anim>
                                    <p:anim calcmode="lin" valueType="num">
                                      <p:cBhvr additive="base">
                                        <p:cTn id="8" dur="500" fill="hold"/>
                                        <p:tgtEl>
                                          <p:spTgt spid="1198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p:cNvSpPr>
          <p:nvPr>
            <p:ph type="title"/>
          </p:nvPr>
        </p:nvSpPr>
        <p:spPr/>
        <p:txBody>
          <a:bodyPr wrap="square" anchor="ctr"/>
          <a:lstStyle/>
          <a:p>
            <a:pPr eaLnBrk="1" hangingPunct="1"/>
            <a:r>
              <a:rPr lang="en-US" altLang="x-none" dirty="0"/>
              <a:t>Example 10 (</a:t>
            </a:r>
            <a:r>
              <a:rPr lang="zh-CN" altLang="en-US" dirty="0"/>
              <a:t>拓展思考</a:t>
            </a:r>
            <a:r>
              <a:rPr lang="en-US" altLang="x-none" dirty="0"/>
              <a:t>)</a:t>
            </a:r>
          </a:p>
        </p:txBody>
      </p:sp>
      <mc:AlternateContent xmlns:mc="http://schemas.openxmlformats.org/markup-compatibility/2006" xmlns:a14="http://schemas.microsoft.com/office/drawing/2010/main">
        <mc:Choice Requires="a14">
          <p:sp>
            <p:nvSpPr>
              <p:cNvPr id="119812" name="Rectangle 3"/>
              <p:cNvSpPr>
                <a:spLocks noGrp="1"/>
              </p:cNvSpPr>
              <p:nvPr>
                <p:ph idx="1"/>
              </p:nvPr>
            </p:nvSpPr>
            <p:spPr>
              <a:xfrm>
                <a:off x="424180" y="687070"/>
                <a:ext cx="11343005" cy="607695"/>
              </a:xfrm>
            </p:spPr>
            <p:txBody>
              <a:bodyPr wrap="square" anchor="t">
                <a:noAutofit/>
              </a:bodyPr>
              <a:lstStyle/>
              <a:p>
                <a:pPr marL="0" indent="0" eaLnBrk="1" hangingPunct="1">
                  <a:lnSpc>
                    <a:spcPct val="120000"/>
                  </a:lnSpc>
                  <a:spcBef>
                    <a:spcPct val="10000"/>
                  </a:spcBef>
                  <a:buNone/>
                </a:pPr>
                <a:r>
                  <a:rPr lang="en-US" sz="2800" dirty="0">
                    <a:latin typeface="Arial" panose="020B0604020202020204" pitchFamily="34" charset="0"/>
                  </a:rPr>
                  <a:t>[Example 10]       </a:t>
                </a:r>
                <a14:m>
                  <m:oMath xmlns:m="http://schemas.openxmlformats.org/officeDocument/2006/math">
                    <m:sSub>
                      <m:sSubPr>
                        <m:ctrlPr>
                          <a:rPr lang="en-US" altLang="x-none" i="1" dirty="0">
                            <a:solidFill>
                              <a:srgbClr val="FF0000"/>
                            </a:solidFill>
                            <a:latin typeface="Cambria Math" panose="02040503050406030204" pitchFamily="18" charset="0"/>
                            <a:cs typeface="Cambria Math" panose="02040503050406030204" charset="0"/>
                          </a:rPr>
                        </m:ctrlPr>
                      </m:sSubPr>
                      <m:e>
                        <m:r>
                          <a:rPr lang="en-US" altLang="x-none" b="1" i="1" dirty="0">
                            <a:solidFill>
                              <a:srgbClr val="FF0000"/>
                            </a:solidFill>
                            <a:latin typeface="Cambria Math" panose="02040503050406030204" charset="0"/>
                            <a:cs typeface="Cambria Math" panose="02040503050406030204" charset="0"/>
                          </a:rPr>
                          <m:t>𝝅</m:t>
                        </m:r>
                      </m:e>
                      <m:sub>
                        <m:r>
                          <a:rPr lang="en-US" altLang="x-none" i="1" dirty="0">
                            <a:solidFill>
                              <a:srgbClr val="FF0000"/>
                            </a:solidFill>
                            <a:latin typeface="Cambria Math" panose="02040503050406030204" charset="0"/>
                            <a:cs typeface="Cambria Math" panose="02040503050406030204" charset="0"/>
                          </a:rPr>
                          <m:t> </m:t>
                        </m:r>
                        <m:r>
                          <a:rPr lang="en-US" altLang="x-none" i="1" dirty="0">
                            <a:solidFill>
                              <a:srgbClr val="FF0000"/>
                            </a:solidFill>
                            <a:latin typeface="Cambria Math" panose="02040503050406030204" charset="0"/>
                            <a:cs typeface="Cambria Math" panose="02040503050406030204" charset="0"/>
                          </a:rPr>
                          <m:t>𝒄𝒊𝒅</m:t>
                        </m:r>
                        <m:r>
                          <a:rPr lang="en-US" altLang="x-none" i="1" dirty="0">
                            <a:solidFill>
                              <a:srgbClr val="FF0000"/>
                            </a:solidFill>
                            <a:latin typeface="Cambria Math" panose="02040503050406030204" charset="0"/>
                            <a:cs typeface="Cambria Math" panose="02040503050406030204" charset="0"/>
                          </a:rPr>
                          <m:t> </m:t>
                        </m:r>
                      </m:sub>
                    </m:sSub>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𝐶</m:t>
                    </m:r>
                    <m:r>
                      <a:rPr lang="en-US" altLang="x-none" i="1" dirty="0">
                        <a:solidFill>
                          <a:srgbClr val="FF0000"/>
                        </a:solidFill>
                        <a:latin typeface="Cambria Math" panose="02040503050406030204" charset="0"/>
                        <a:cs typeface="Cambria Math" panose="02040503050406030204" charset="0"/>
                      </a:rPr>
                      <m:t>)−</m:t>
                    </m:r>
                    <m:sSub>
                      <m:sSubPr>
                        <m:ctrlPr>
                          <a:rPr lang="en-US" altLang="x-none" i="1" dirty="0">
                            <a:solidFill>
                              <a:srgbClr val="FF0000"/>
                            </a:solidFill>
                            <a:latin typeface="Cambria Math" panose="02040503050406030204" pitchFamily="18" charset="0"/>
                            <a:cs typeface="Cambria Math" panose="02040503050406030204" charset="0"/>
                          </a:rPr>
                        </m:ctrlPr>
                      </m:sSubPr>
                      <m:e>
                        <m:r>
                          <a:rPr lang="en-US" altLang="x-none" b="1" i="1" dirty="0">
                            <a:solidFill>
                              <a:srgbClr val="FF0000"/>
                            </a:solidFill>
                            <a:latin typeface="Cambria Math" panose="02040503050406030204" charset="0"/>
                            <a:cs typeface="Cambria Math" panose="02040503050406030204" charset="0"/>
                          </a:rPr>
                          <m:t>𝝅</m:t>
                        </m:r>
                      </m:e>
                      <m:sub>
                        <m:r>
                          <a:rPr lang="en-US" altLang="x-none" i="1" dirty="0">
                            <a:solidFill>
                              <a:srgbClr val="FF0000"/>
                            </a:solidFill>
                            <a:latin typeface="Cambria Math" panose="02040503050406030204" charset="0"/>
                            <a:cs typeface="Cambria Math" panose="02040503050406030204" charset="0"/>
                          </a:rPr>
                          <m:t> </m:t>
                        </m:r>
                        <m:r>
                          <a:rPr lang="en-US" altLang="x-none" i="1" dirty="0">
                            <a:solidFill>
                              <a:srgbClr val="FF0000"/>
                            </a:solidFill>
                            <a:latin typeface="Cambria Math" panose="02040503050406030204" charset="0"/>
                            <a:cs typeface="Cambria Math" panose="02040503050406030204" charset="0"/>
                          </a:rPr>
                          <m:t>𝑪</m:t>
                        </m:r>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𝒄𝒊𝒅</m:t>
                        </m:r>
                        <m:r>
                          <a:rPr lang="en-US" altLang="x-none" i="1" dirty="0">
                            <a:solidFill>
                              <a:srgbClr val="FF0000"/>
                            </a:solidFill>
                            <a:latin typeface="Cambria Math" panose="02040503050406030204" charset="0"/>
                            <a:cs typeface="Cambria Math" panose="02040503050406030204" charset="0"/>
                          </a:rPr>
                          <m:t> </m:t>
                        </m:r>
                      </m:sub>
                    </m:sSub>
                    <m:r>
                      <a:rPr lang="en-US" altLang="x-none" i="1" dirty="0">
                        <a:solidFill>
                          <a:srgbClr val="FF0000"/>
                        </a:solidFill>
                        <a:latin typeface="Cambria Math" panose="02040503050406030204" charset="0"/>
                        <a:cs typeface="Cambria Math" panose="02040503050406030204" charset="0"/>
                      </a:rPr>
                      <m:t>(</m:t>
                    </m:r>
                    <m:sSub>
                      <m:sSubPr>
                        <m:ctrlPr>
                          <a:rPr lang="en-US" altLang="x-none" i="1" dirty="0">
                            <a:solidFill>
                              <a:srgbClr val="FF0000"/>
                            </a:solidFill>
                            <a:latin typeface="Cambria Math" panose="02040503050406030204" pitchFamily="18" charset="0"/>
                            <a:cs typeface="Cambria Math" panose="02040503050406030204" charset="0"/>
                          </a:rPr>
                        </m:ctrlPr>
                      </m:sSubPr>
                      <m:e>
                        <m:r>
                          <a:rPr lang="en-US" altLang="x-none" b="1" i="1" dirty="0">
                            <a:solidFill>
                              <a:srgbClr val="FF0000"/>
                            </a:solidFill>
                            <a:latin typeface="Cambria Math" panose="02040503050406030204" charset="0"/>
                            <a:cs typeface="Cambria Math" panose="02040503050406030204" charset="0"/>
                          </a:rPr>
                          <m:t>𝝈</m:t>
                        </m:r>
                      </m:e>
                      <m:sub>
                        <m:r>
                          <a:rPr lang="en-US" altLang="x-none" i="1" dirty="0">
                            <a:solidFill>
                              <a:srgbClr val="FF0000"/>
                            </a:solidFill>
                            <a:latin typeface="Cambria Math" panose="02040503050406030204" charset="0"/>
                            <a:cs typeface="Cambria Math" panose="02040503050406030204" charset="0"/>
                          </a:rPr>
                          <m:t> </m:t>
                        </m:r>
                        <m:r>
                          <a:rPr lang="en-US" altLang="x-none" i="1" dirty="0">
                            <a:solidFill>
                              <a:srgbClr val="FF0000"/>
                            </a:solidFill>
                            <a:latin typeface="Cambria Math" panose="02040503050406030204" charset="0"/>
                            <a:cs typeface="Cambria Math" panose="02040503050406030204" charset="0"/>
                          </a:rPr>
                          <m:t>𝐶</m:t>
                        </m:r>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𝑑𝑖𝑠𝑐𝑛𝑡</m:t>
                        </m:r>
                        <m:r>
                          <a:rPr lang="en-US" altLang="x-none" i="1" dirty="0">
                            <a:solidFill>
                              <a:srgbClr val="FF0000"/>
                            </a:solidFill>
                            <a:latin typeface="Cambria Math" panose="02040503050406030204" charset="0"/>
                            <a:cs typeface="Cambria Math" panose="02040503050406030204" charset="0"/>
                          </a:rPr>
                          <m:t> &lt; </m:t>
                        </m:r>
                        <m:r>
                          <a:rPr lang="en-US" altLang="x-none" i="1" dirty="0">
                            <a:solidFill>
                              <a:srgbClr val="FF0000"/>
                            </a:solidFill>
                            <a:latin typeface="Cambria Math" panose="02040503050406030204" charset="0"/>
                            <a:cs typeface="Cambria Math" panose="02040503050406030204" charset="0"/>
                          </a:rPr>
                          <m:t>𝑆</m:t>
                        </m:r>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𝑑𝑖𝑠𝑐𝑛𝑡</m:t>
                        </m:r>
                        <m:r>
                          <a:rPr lang="en-US" altLang="x-none" i="1" dirty="0">
                            <a:solidFill>
                              <a:srgbClr val="FF0000"/>
                            </a:solidFill>
                            <a:latin typeface="Cambria Math" panose="02040503050406030204" charset="0"/>
                            <a:cs typeface="Cambria Math" panose="02040503050406030204" charset="0"/>
                          </a:rPr>
                          <m:t> </m:t>
                        </m:r>
                      </m:sub>
                    </m:sSub>
                    <m:r>
                      <a:rPr lang="en-US" altLang="x-none"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𝐶</m:t>
                    </m:r>
                    <m:r>
                      <a:rPr lang="en-US" altLang="x-none" b="1" i="1" dirty="0">
                        <a:solidFill>
                          <a:srgbClr val="FF0000"/>
                        </a:solidFill>
                        <a:latin typeface="Cambria Math" panose="02040503050406030204" charset="0"/>
                        <a:cs typeface="Cambria Math" panose="02040503050406030204" charset="0"/>
                      </a:rPr>
                      <m:t>×</m:t>
                    </m:r>
                    <m:r>
                      <a:rPr lang="en-US" altLang="x-none" i="1" dirty="0">
                        <a:solidFill>
                          <a:srgbClr val="FF0000"/>
                        </a:solidFill>
                        <a:latin typeface="Cambria Math" panose="02040503050406030204" charset="0"/>
                        <a:cs typeface="Cambria Math" panose="02040503050406030204" charset="0"/>
                      </a:rPr>
                      <m:t>𝑆</m:t>
                    </m:r>
                    <m:r>
                      <a:rPr lang="en-US" altLang="x-none" i="1" dirty="0">
                        <a:solidFill>
                          <a:srgbClr val="FF0000"/>
                        </a:solidFill>
                        <a:latin typeface="Cambria Math" panose="02040503050406030204" charset="0"/>
                        <a:ea typeface="MS Mincho" charset="0"/>
                        <a:cs typeface="Cambria Math" panose="02040503050406030204" charset="0"/>
                      </a:rPr>
                      <m:t>))</m:t>
                    </m:r>
                  </m:oMath>
                </a14:m>
                <a:endParaRPr lang="en-US" altLang="x-none" sz="2800" i="1" dirty="0">
                  <a:solidFill>
                    <a:srgbClr val="FF0000"/>
                  </a:solidFill>
                  <a:latin typeface="Arial" panose="020B0604020202020204" pitchFamily="34" charset="0"/>
                </a:endParaRPr>
              </a:p>
            </p:txBody>
          </p:sp>
        </mc:Choice>
        <mc:Fallback xmlns="">
          <p:sp>
            <p:nvSpPr>
              <p:cNvPr id="119812" name="Rectangle 3"/>
              <p:cNvSpPr>
                <a:spLocks noRot="1" noChangeAspect="1" noMove="1" noResize="1" noEditPoints="1" noAdjustHandles="1" noChangeArrowheads="1" noChangeShapeType="1" noTextEdit="1"/>
              </p:cNvSpPr>
              <p:nvPr>
                <p:ph idx="1"/>
              </p:nvPr>
            </p:nvSpPr>
            <p:spPr>
              <a:xfrm>
                <a:off x="424180" y="687070"/>
                <a:ext cx="11343005" cy="607695"/>
              </a:xfrm>
              <a:blipFill rotWithShape="1">
                <a:blip r:embed="rId3"/>
                <a:stretch>
                  <a:fillRect/>
                </a:stretch>
              </a:blipFill>
            </p:spPr>
            <p:txBody>
              <a:bodyPr/>
              <a:lstStyle/>
              <a:p>
                <a:r>
                  <a:rPr lang="zh-CN" altLang="en-US">
                    <a:noFill/>
                  </a:rPr>
                  <a:t> </a:t>
                </a:r>
              </a:p>
            </p:txBody>
          </p:sp>
        </mc:Fallback>
      </mc:AlternateContent>
      <p:sp>
        <p:nvSpPr>
          <p:cNvPr id="117766" name="Rectangle 6"/>
          <p:cNvSpPr/>
          <p:nvPr/>
        </p:nvSpPr>
        <p:spPr>
          <a:xfrm>
            <a:off x="424180" y="1656715"/>
            <a:ext cx="11343005" cy="3954145"/>
          </a:xfrm>
          <a:prstGeom prst="rect">
            <a:avLst/>
          </a:prstGeom>
          <a:noFill/>
          <a:ln w="9525">
            <a:noFill/>
          </a:ln>
        </p:spPr>
        <p:txBody>
          <a:bodyPr anchor="t">
            <a:noAutofit/>
          </a:bodyPr>
          <a:lstStyle/>
          <a:p>
            <a:pPr marL="1444625" indent="-1444625">
              <a:lnSpc>
                <a:spcPct val="100000"/>
              </a:lnSpc>
              <a:spcBef>
                <a:spcPts val="600"/>
              </a:spcBef>
              <a:spcAft>
                <a:spcPts val="0"/>
              </a:spcAft>
              <a:buClr>
                <a:srgbClr val="C00000"/>
              </a:buClr>
              <a:buSzPct val="85000"/>
              <a:buNone/>
            </a:pPr>
            <a:r>
              <a:rPr lang="zh-CN" altLang="en-US" sz="2800" b="1" dirty="0">
                <a:solidFill>
                  <a:srgbClr val="FF0000"/>
                </a:solidFill>
                <a:latin typeface="+mn-lt"/>
                <a:ea typeface="楷体" panose="02010609060101010101" charset="-122"/>
                <a:cs typeface="+mn-lt"/>
              </a:rPr>
              <a:t>【思考】</a:t>
            </a:r>
            <a:r>
              <a:rPr lang="zh-CN" altLang="en-US" sz="2800" b="1" dirty="0">
                <a:solidFill>
                  <a:srgbClr val="0000C8"/>
                </a:solidFill>
                <a:latin typeface="+mn-lt"/>
                <a:ea typeface="楷体" panose="02010609060101010101" charset="-122"/>
                <a:cs typeface="+mn-lt"/>
              </a:rPr>
              <a:t>下述查询是否可以用关系代数来表示？</a:t>
            </a:r>
          </a:p>
          <a:p>
            <a:pPr marL="1444625" indent="0">
              <a:lnSpc>
                <a:spcPct val="100000"/>
              </a:lnSpc>
              <a:spcBef>
                <a:spcPts val="600"/>
              </a:spcBef>
              <a:spcAft>
                <a:spcPts val="0"/>
              </a:spcAft>
              <a:buClr>
                <a:srgbClr val="C00000"/>
              </a:buClr>
              <a:buSzPct val="85000"/>
              <a:buNone/>
            </a:pPr>
            <a:r>
              <a:rPr lang="zh-CN" altLang="en-US" sz="2800" b="1" dirty="0">
                <a:solidFill>
                  <a:srgbClr val="0000C8"/>
                </a:solidFill>
                <a:latin typeface="+mn-lt"/>
                <a:ea typeface="楷体" panose="02010609060101010101" charset="-122"/>
                <a:cs typeface="+mn-lt"/>
              </a:rPr>
              <a:t>如果可以，请写出对应的关系代数表达式。</a:t>
            </a:r>
            <a:endParaRPr lang="en-US" altLang="x-none" sz="2800" b="1" dirty="0">
              <a:solidFill>
                <a:srgbClr val="0000C8"/>
              </a:solidFill>
              <a:latin typeface="+mn-lt"/>
              <a:ea typeface="楷体" panose="02010609060101010101" charset="-122"/>
              <a:cs typeface="+mn-lt"/>
            </a:endParaRPr>
          </a:p>
          <a:p>
            <a:pPr marL="971550" lvl="1" indent="-514350" algn="l" eaLnBrk="1" hangingPunct="1">
              <a:lnSpc>
                <a:spcPct val="100000"/>
              </a:lnSpc>
              <a:spcBef>
                <a:spcPts val="2000"/>
              </a:spcBef>
              <a:spcAft>
                <a:spcPts val="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查询具有最小折扣的顾客的编号</a:t>
            </a:r>
          </a:p>
          <a:p>
            <a:pPr marL="971550" lvl="1" indent="-514350" algn="l" eaLnBrk="1" hangingPunct="1">
              <a:lnSpc>
                <a:spcPct val="100000"/>
              </a:lnSpc>
              <a:spcBef>
                <a:spcPts val="1000"/>
              </a:spcBef>
              <a:spcAft>
                <a:spcPts val="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查询折扣并非最大的顾客的编号</a:t>
            </a:r>
          </a:p>
          <a:p>
            <a:pPr marL="971550" lvl="1" indent="-514350" algn="l" eaLnBrk="1" hangingPunct="1">
              <a:lnSpc>
                <a:spcPct val="100000"/>
              </a:lnSpc>
              <a:spcBef>
                <a:spcPts val="1000"/>
              </a:spcBef>
              <a:spcAft>
                <a:spcPts val="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查询其折扣为第二大的顾客的编号</a:t>
            </a:r>
          </a:p>
          <a:p>
            <a:pPr marL="971550" lvl="1" indent="-514350" algn="l" eaLnBrk="1" hangingPunct="1">
              <a:lnSpc>
                <a:spcPct val="100000"/>
              </a:lnSpc>
              <a:spcBef>
                <a:spcPts val="1000"/>
              </a:spcBef>
              <a:spcAft>
                <a:spcPts val="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查询折扣等于所有顾客折扣的平均值的顾客的编号</a:t>
            </a:r>
          </a:p>
          <a:p>
            <a:pPr marL="971550" lvl="1" indent="-514350" algn="l" eaLnBrk="1" hangingPunct="1">
              <a:lnSpc>
                <a:spcPct val="100000"/>
              </a:lnSpc>
              <a:spcBef>
                <a:spcPts val="1000"/>
              </a:spcBef>
              <a:spcAft>
                <a:spcPts val="0"/>
              </a:spcAft>
              <a:buClr>
                <a:srgbClr val="C00000"/>
              </a:buClr>
              <a:buSzPct val="85000"/>
              <a:buFont typeface="+mj-ea"/>
              <a:buAutoNum type="circleNumDbPlain"/>
            </a:pPr>
            <a:r>
              <a:rPr lang="zh-CN" altLang="en-US" sz="2800" b="1" dirty="0">
                <a:solidFill>
                  <a:srgbClr val="0000C8"/>
                </a:solidFill>
                <a:latin typeface="+mn-lt"/>
                <a:ea typeface="楷体" panose="02010609060101010101" charset="-122"/>
                <a:cs typeface="+mn-lt"/>
              </a:rPr>
              <a:t>查询具有最大折扣的顾客的姓名</a:t>
            </a:r>
            <a:r>
              <a:rPr lang="en-US" altLang="x-none" sz="2800" b="1" dirty="0">
                <a:solidFill>
                  <a:srgbClr val="0000C8"/>
                </a:solidFill>
                <a:latin typeface="+mn-lt"/>
                <a:ea typeface="楷体" panose="02010609060101010101" charset="-122"/>
                <a:cs typeface="+mn-lt"/>
              </a:rPr>
              <a:t>(cname)</a:t>
            </a:r>
          </a:p>
        </p:txBody>
      </p:sp>
      <p:sp>
        <p:nvSpPr>
          <p:cNvPr id="3" name="灯片编号占位符 2"/>
          <p:cNvSpPr>
            <a:spLocks noGrp="1"/>
          </p:cNvSpPr>
          <p:nvPr>
            <p:ph type="sldNum" sz="quarter" idx="12"/>
          </p:nvPr>
        </p:nvSpPr>
        <p:spPr/>
        <p:txBody>
          <a:bodyPr/>
          <a:lstStyle/>
          <a:p>
            <a:fld id="{565CE74E-AB26-4998-AD42-012C4C1AD076}" type="slidenum">
              <a:rPr lang="zh-CN" altLang="en-US" smtClean="0"/>
              <a:t>88</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766"/>
                                        </p:tgtEl>
                                        <p:attrNameLst>
                                          <p:attrName>style.visibility</p:attrName>
                                        </p:attrNameLst>
                                      </p:cBhvr>
                                      <p:to>
                                        <p:strVal val="visible"/>
                                      </p:to>
                                    </p:set>
                                    <p:animEffect transition="in" filter="blinds(horizontal)">
                                      <p:cBhvr>
                                        <p:cTn id="7" dur="500"/>
                                        <p:tgtEl>
                                          <p:spTgt spid="117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p:cNvSpPr>
          <p:nvPr>
            <p:ph type="title"/>
          </p:nvPr>
        </p:nvSpPr>
        <p:spPr/>
        <p:txBody>
          <a:bodyPr wrap="square" anchor="ctr"/>
          <a:lstStyle/>
          <a:p>
            <a:pPr eaLnBrk="1" hangingPunct="1"/>
            <a:r>
              <a:rPr lang="en-US" altLang="x-none" dirty="0"/>
              <a:t>Example 10 (</a:t>
            </a:r>
            <a:r>
              <a:rPr lang="zh-CN" altLang="en-US" dirty="0"/>
              <a:t>拓展思考</a:t>
            </a:r>
            <a:r>
              <a:rPr lang="en-US" altLang="x-none" dirty="0"/>
              <a:t>) </a:t>
            </a:r>
            <a:r>
              <a:rPr lang="zh-CN" altLang="en-US" dirty="0"/>
              <a:t>参考答案</a:t>
            </a:r>
            <a:r>
              <a:rPr lang="en-US" altLang="zh-CN" dirty="0"/>
              <a:t> 1</a:t>
            </a:r>
          </a:p>
        </p:txBody>
      </p:sp>
      <mc:AlternateContent xmlns:mc="http://schemas.openxmlformats.org/markup-compatibility/2006" xmlns:a14="http://schemas.microsoft.com/office/drawing/2010/main">
        <mc:Choice Requires="a14">
          <p:sp>
            <p:nvSpPr>
              <p:cNvPr id="119812" name="Rectangle 3"/>
              <p:cNvSpPr>
                <a:spLocks noGrp="1"/>
              </p:cNvSpPr>
              <p:nvPr>
                <p:ph idx="1"/>
              </p:nvPr>
            </p:nvSpPr>
            <p:spPr>
              <a:xfrm>
                <a:off x="424180" y="687070"/>
                <a:ext cx="11343005" cy="1162050"/>
              </a:xfrm>
              <a:solidFill>
                <a:schemeClr val="accent3">
                  <a:lumMod val="20000"/>
                  <a:lumOff val="80000"/>
                  <a:alpha val="50000"/>
                </a:schemeClr>
              </a:solidFill>
            </p:spPr>
            <p:txBody>
              <a:bodyPr wrap="square" anchor="t">
                <a:noAutofit/>
              </a:bodyPr>
              <a:lstStyle/>
              <a:p>
                <a:pPr marL="0" indent="0" eaLnBrk="1" hangingPunct="1">
                  <a:lnSpc>
                    <a:spcPct val="120000"/>
                  </a:lnSpc>
                  <a:spcBef>
                    <a:spcPct val="10000"/>
                  </a:spcBef>
                  <a:buNone/>
                </a:pPr>
                <a:r>
                  <a:rPr lang="en-US" sz="2800" dirty="0">
                    <a:latin typeface="Arial" panose="020B0604020202020204" pitchFamily="34" charset="0"/>
                  </a:rPr>
                  <a:t>10. </a:t>
                </a:r>
                <a:r>
                  <a:rPr lang="zh-CN" altLang="en-US" sz="2800" dirty="0">
                    <a:latin typeface="Arial" panose="020B0604020202020204" pitchFamily="34" charset="0"/>
                  </a:rPr>
                  <a:t>具有最大折扣的顾客的编号：</a:t>
                </a:r>
                <a:r>
                  <a:rPr lang="en-US" altLang="zh-CN" sz="2800" dirty="0">
                    <a:latin typeface="Arial" panose="020B0604020202020204" pitchFamily="34" charset="0"/>
                  </a:rPr>
                  <a:t>     </a:t>
                </a:r>
                <a14:m>
                  <m:oMath xmlns:m="http://schemas.openxmlformats.org/officeDocument/2006/math">
                    <m:r>
                      <a:rPr lang="en-US" altLang="zh-CN" sz="2800" i="1" dirty="0">
                        <a:latin typeface="Cambria Math" panose="02040503050406030204" charset="0"/>
                        <a:cs typeface="Cambria Math" panose="02040503050406030204" charset="0"/>
                      </a:rPr>
                      <m:t>𝑺</m:t>
                    </m:r>
                    <m:r>
                      <a:rPr lang="en-US" altLang="zh-CN" sz="2800" i="1" dirty="0">
                        <a:latin typeface="Cambria Math" panose="02040503050406030204" charset="0"/>
                        <a:cs typeface="Cambria Math" panose="02040503050406030204" charset="0"/>
                      </a:rPr>
                      <m:t>  </m:t>
                    </m:r>
                    <m:box>
                      <m:boxPr>
                        <m:noBreak m:val="on"/>
                        <m:ctrlPr>
                          <a:rPr lang="en-US" altLang="zh-CN" sz="2800" i="1" dirty="0">
                            <a:latin typeface="Cambria Math" panose="02040503050406030204" pitchFamily="18" charset="0"/>
                            <a:cs typeface="Cambria Math" panose="02040503050406030204" charset="0"/>
                          </a:rPr>
                        </m:ctrlPr>
                      </m:boxPr>
                      <m:e>
                        <m:r>
                          <a:rPr lang="en-US" altLang="zh-CN" sz="2800" i="1" dirty="0">
                            <a:latin typeface="Cambria Math" panose="02040503050406030204" charset="0"/>
                            <a:cs typeface="Cambria Math" panose="02040503050406030204" charset="0"/>
                          </a:rPr>
                          <m:t>∶=</m:t>
                        </m:r>
                      </m:e>
                    </m:box>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𝑪</m:t>
                    </m:r>
                  </m:oMath>
                </a14:m>
                <a:endParaRPr lang="zh-CN" altLang="en-US" sz="2800" dirty="0">
                  <a:latin typeface="Arial" panose="020B0604020202020204" pitchFamily="34" charset="0"/>
                </a:endParaRPr>
              </a:p>
              <a:p>
                <a:pPr marL="0" indent="0" algn="ctr" eaLnBrk="1" hangingPunct="1">
                  <a:lnSpc>
                    <a:spcPct val="120000"/>
                  </a:lnSpc>
                  <a:spcBef>
                    <a:spcPct val="10000"/>
                  </a:spcBef>
                  <a:buNone/>
                </a:pPr>
                <a14:m>
                  <m:oMathPara xmlns:m="http://schemas.openxmlformats.org/officeDocument/2006/math">
                    <m:oMathParaPr>
                      <m:jc m:val="centerGroup"/>
                    </m:oMathParaPr>
                    <m:oMath xmlns:m="http://schemas.openxmlformats.org/officeDocument/2006/math">
                      <m:sSub>
                        <m:sSubPr>
                          <m:ctrlPr>
                            <a:rPr lang="en-US" altLang="x-none" b="0" i="1" dirty="0">
                              <a:solidFill>
                                <a:srgbClr val="C00000"/>
                              </a:solidFill>
                              <a:latin typeface="Cambria Math" panose="02040503050406030204" pitchFamily="18" charset="0"/>
                              <a:cs typeface="Cambria Math" panose="02040503050406030204" charset="0"/>
                            </a:rPr>
                          </m:ctrlPr>
                        </m:sSubPr>
                        <m:e>
                          <m:r>
                            <a:rPr lang="en-US" altLang="x-none" b="0" i="1" dirty="0">
                              <a:solidFill>
                                <a:srgbClr val="C00000"/>
                              </a:solidFill>
                              <a:latin typeface="Cambria Math" panose="02040503050406030204" charset="0"/>
                              <a:cs typeface="Cambria Math" panose="02040503050406030204" charset="0"/>
                            </a:rPr>
                            <m:t>𝜋</m:t>
                          </m:r>
                        </m:e>
                        <m:sub>
                          <m:r>
                            <a:rPr lang="en-US" altLang="x-none" b="0" i="1" dirty="0">
                              <a:solidFill>
                                <a:srgbClr val="C00000"/>
                              </a:solidFill>
                              <a:latin typeface="Cambria Math" panose="02040503050406030204" charset="0"/>
                              <a:cs typeface="Cambria Math" panose="02040503050406030204" charset="0"/>
                            </a:rPr>
                            <m:t> </m:t>
                          </m:r>
                          <m:r>
                            <a:rPr lang="en-US" altLang="x-none" b="0" i="1" dirty="0">
                              <a:solidFill>
                                <a:srgbClr val="C00000"/>
                              </a:solidFill>
                              <a:latin typeface="Cambria Math" panose="02040503050406030204" charset="0"/>
                              <a:cs typeface="Cambria Math" panose="02040503050406030204" charset="0"/>
                            </a:rPr>
                            <m:t>𝑐𝑖𝑑</m:t>
                          </m:r>
                          <m:r>
                            <a:rPr lang="en-US" altLang="x-none" b="0" i="1" dirty="0">
                              <a:solidFill>
                                <a:srgbClr val="C00000"/>
                              </a:solidFill>
                              <a:latin typeface="Cambria Math" panose="02040503050406030204" charset="0"/>
                              <a:cs typeface="Cambria Math" panose="02040503050406030204" charset="0"/>
                            </a:rPr>
                            <m:t> </m:t>
                          </m:r>
                        </m:sub>
                      </m:sSub>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 − </m:t>
                      </m:r>
                      <m:sSub>
                        <m:sSubPr>
                          <m:ctrlPr>
                            <a:rPr lang="en-US" altLang="x-none" b="0" i="1" dirty="0">
                              <a:solidFill>
                                <a:srgbClr val="C00000"/>
                              </a:solidFill>
                              <a:latin typeface="Cambria Math" panose="02040503050406030204" pitchFamily="18" charset="0"/>
                              <a:cs typeface="Cambria Math" panose="02040503050406030204" charset="0"/>
                            </a:rPr>
                          </m:ctrlPr>
                        </m:sSubPr>
                        <m:e>
                          <m:r>
                            <a:rPr lang="en-US" altLang="x-none" b="0" i="1" dirty="0">
                              <a:solidFill>
                                <a:srgbClr val="C00000"/>
                              </a:solidFill>
                              <a:latin typeface="Cambria Math" panose="02040503050406030204" charset="0"/>
                              <a:cs typeface="Cambria Math" panose="02040503050406030204" charset="0"/>
                            </a:rPr>
                            <m:t>𝜋</m:t>
                          </m:r>
                        </m:e>
                        <m:sub>
                          <m:r>
                            <a:rPr lang="en-US" altLang="x-none" b="0" i="1" dirty="0">
                              <a:solidFill>
                                <a:srgbClr val="C00000"/>
                              </a:solidFill>
                              <a:latin typeface="Cambria Math" panose="02040503050406030204" charset="0"/>
                              <a:cs typeface="Cambria Math" panose="02040503050406030204" charset="0"/>
                            </a:rPr>
                            <m:t> </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𝑐𝑖𝑑</m:t>
                          </m:r>
                          <m:r>
                            <a:rPr lang="en-US" altLang="x-none" b="0" i="1" dirty="0">
                              <a:solidFill>
                                <a:srgbClr val="C00000"/>
                              </a:solidFill>
                              <a:latin typeface="Cambria Math" panose="02040503050406030204" charset="0"/>
                              <a:cs typeface="Cambria Math" panose="02040503050406030204" charset="0"/>
                            </a:rPr>
                            <m:t> </m:t>
                          </m:r>
                        </m:sub>
                      </m:sSub>
                      <m:r>
                        <a:rPr lang="en-US" altLang="x-none" b="0" i="1" dirty="0">
                          <a:solidFill>
                            <a:srgbClr val="C00000"/>
                          </a:solidFill>
                          <a:latin typeface="Cambria Math" panose="02040503050406030204" charset="0"/>
                          <a:cs typeface="Cambria Math" panose="02040503050406030204" charset="0"/>
                        </a:rPr>
                        <m:t>(</m:t>
                      </m:r>
                      <m:sSub>
                        <m:sSubPr>
                          <m:ctrlPr>
                            <a:rPr lang="en-US" altLang="x-none" b="0" i="1" dirty="0">
                              <a:solidFill>
                                <a:srgbClr val="C00000"/>
                              </a:solidFill>
                              <a:latin typeface="Cambria Math" panose="02040503050406030204" pitchFamily="18" charset="0"/>
                              <a:cs typeface="Cambria Math" panose="02040503050406030204" charset="0"/>
                            </a:rPr>
                          </m:ctrlPr>
                        </m:sSubPr>
                        <m:e>
                          <m:r>
                            <a:rPr lang="en-US" altLang="x-none" b="0" i="1" dirty="0">
                              <a:solidFill>
                                <a:srgbClr val="C00000"/>
                              </a:solidFill>
                              <a:latin typeface="Cambria Math" panose="02040503050406030204" charset="0"/>
                              <a:cs typeface="Cambria Math" panose="02040503050406030204" charset="0"/>
                            </a:rPr>
                            <m:t>𝜎</m:t>
                          </m:r>
                        </m:e>
                        <m:sub>
                          <m:r>
                            <a:rPr lang="en-US" altLang="x-none" b="0" i="1" dirty="0">
                              <a:solidFill>
                                <a:srgbClr val="C00000"/>
                              </a:solidFill>
                              <a:latin typeface="Cambria Math" panose="02040503050406030204" charset="0"/>
                              <a:cs typeface="Cambria Math" panose="02040503050406030204" charset="0"/>
                            </a:rPr>
                            <m:t> </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𝑑𝑖𝑠𝑐𝑛𝑡</m:t>
                          </m:r>
                          <m:r>
                            <a:rPr lang="en-US" altLang="x-none" b="0" i="1" dirty="0">
                              <a:solidFill>
                                <a:srgbClr val="C00000"/>
                              </a:solidFill>
                              <a:latin typeface="Cambria Math" panose="02040503050406030204" charset="0"/>
                              <a:cs typeface="Cambria Math" panose="02040503050406030204" charset="0"/>
                            </a:rPr>
                            <m:t> &lt; </m:t>
                          </m:r>
                          <m:r>
                            <a:rPr lang="en-US" altLang="x-none" b="0" i="1" dirty="0">
                              <a:solidFill>
                                <a:srgbClr val="C00000"/>
                              </a:solidFill>
                              <a:latin typeface="Cambria Math" panose="02040503050406030204" charset="0"/>
                              <a:cs typeface="Cambria Math" panose="02040503050406030204" charset="0"/>
                            </a:rPr>
                            <m:t>𝑆</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𝑑𝑖𝑠𝑐𝑛𝑡</m:t>
                          </m:r>
                          <m:r>
                            <a:rPr lang="en-US" altLang="x-none" b="0" i="1" dirty="0">
                              <a:solidFill>
                                <a:srgbClr val="C00000"/>
                              </a:solidFill>
                              <a:latin typeface="Cambria Math" panose="02040503050406030204" charset="0"/>
                              <a:cs typeface="Cambria Math" panose="02040503050406030204" charset="0"/>
                            </a:rPr>
                            <m:t> </m:t>
                          </m:r>
                        </m:sub>
                      </m:sSub>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𝑆</m:t>
                      </m:r>
                      <m:r>
                        <a:rPr lang="en-US" altLang="x-none" b="0" i="1" dirty="0">
                          <a:solidFill>
                            <a:srgbClr val="C00000"/>
                          </a:solidFill>
                          <a:latin typeface="Cambria Math" panose="02040503050406030204" charset="0"/>
                          <a:ea typeface="MS Mincho" charset="0"/>
                          <a:cs typeface="Cambria Math" panose="02040503050406030204" charset="0"/>
                        </a:rPr>
                        <m:t>))</m:t>
                      </m:r>
                    </m:oMath>
                  </m:oMathPara>
                </a14:m>
                <a:endParaRPr lang="en-US" altLang="x-none" sz="2800" b="0" i="1" dirty="0">
                  <a:solidFill>
                    <a:srgbClr val="C00000"/>
                  </a:solidFill>
                  <a:latin typeface="Cambria Math" panose="02040503050406030204" charset="0"/>
                  <a:ea typeface="MS Mincho" charset="0"/>
                  <a:cs typeface="Cambria Math" panose="02040503050406030204" charset="0"/>
                </a:endParaRPr>
              </a:p>
            </p:txBody>
          </p:sp>
        </mc:Choice>
        <mc:Fallback xmlns="">
          <p:sp>
            <p:nvSpPr>
              <p:cNvPr id="119812" name="Rectangle 3"/>
              <p:cNvSpPr>
                <a:spLocks noRot="1" noChangeAspect="1" noMove="1" noResize="1" noEditPoints="1" noAdjustHandles="1" noChangeArrowheads="1" noChangeShapeType="1" noTextEdit="1"/>
              </p:cNvSpPr>
              <p:nvPr>
                <p:ph idx="1"/>
              </p:nvPr>
            </p:nvSpPr>
            <p:spPr>
              <a:xfrm>
                <a:off x="424180" y="687070"/>
                <a:ext cx="11343005" cy="1162050"/>
              </a:xfr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766" name="Rectangle 6"/>
              <p:cNvSpPr/>
              <p:nvPr/>
            </p:nvSpPr>
            <p:spPr>
              <a:xfrm>
                <a:off x="424180" y="1991995"/>
                <a:ext cx="11343005" cy="4482465"/>
              </a:xfrm>
              <a:prstGeom prst="rect">
                <a:avLst/>
              </a:prstGeom>
              <a:noFill/>
              <a:ln w="9525">
                <a:noFill/>
              </a:ln>
            </p:spPr>
            <p:txBody>
              <a:bodyPr anchor="t">
                <a:noAutofit/>
              </a:bodyPr>
              <a:lstStyle/>
              <a:p>
                <a:pPr marL="514350" lvl="0" indent="-514350" algn="l" eaLnBrk="1" hangingPunct="1">
                  <a:lnSpc>
                    <a:spcPct val="100000"/>
                  </a:lnSpc>
                  <a:spcBef>
                    <a:spcPct val="0"/>
                  </a:spcBef>
                  <a:spcAft>
                    <a:spcPts val="0"/>
                  </a:spcAft>
                  <a:buClr>
                    <a:srgbClr val="C00000"/>
                  </a:buClr>
                  <a:buSzPct val="85000"/>
                  <a:buFont typeface="+mj-ea"/>
                  <a:buAutoNum type="circleNumDbPlain"/>
                </a:pPr>
                <a:r>
                  <a:rPr lang="zh-CN" altLang="en-US" sz="2800" b="1" dirty="0">
                    <a:solidFill>
                      <a:schemeClr val="tx1"/>
                    </a:solidFill>
                    <a:latin typeface="+mn-lt"/>
                    <a:ea typeface="楷体" panose="02010609060101010101" charset="-122"/>
                    <a:cs typeface="+mn-lt"/>
                  </a:rPr>
                  <a:t>查询具有最小折扣的顾客的编号</a:t>
                </a:r>
              </a:p>
              <a:p>
                <a:pPr marL="514350" lvl="0" indent="-514350" algn="l" eaLnBrk="1" hangingPunct="1">
                  <a:lnSpc>
                    <a:spcPct val="100000"/>
                  </a:lnSpc>
                  <a:spcBef>
                    <a:spcPct val="0"/>
                  </a:spcBef>
                  <a:spcAft>
                    <a:spcPts val="0"/>
                  </a:spcAft>
                  <a:buClr>
                    <a:srgbClr val="C00000"/>
                  </a:buClr>
                  <a:buSzPct val="85000"/>
                  <a:buFont typeface="+mj-ea"/>
                  <a:buAutoNum type="circleNumDbPlain"/>
                </a:pPr>
                <a:r>
                  <a:rPr lang="zh-CN" altLang="en-US" sz="2800" b="1" dirty="0">
                    <a:solidFill>
                      <a:schemeClr val="tx1"/>
                    </a:solidFill>
                    <a:latin typeface="+mn-lt"/>
                    <a:ea typeface="楷体" panose="02010609060101010101" charset="-122"/>
                    <a:cs typeface="+mn-lt"/>
                  </a:rPr>
                  <a:t>查询折扣并非最大的顾客的编号</a:t>
                </a:r>
              </a:p>
              <a:p>
                <a:pPr marL="514350" lvl="0" indent="-514350" algn="l" eaLnBrk="1" hangingPunct="1">
                  <a:lnSpc>
                    <a:spcPct val="100000"/>
                  </a:lnSpc>
                  <a:spcBef>
                    <a:spcPct val="0"/>
                  </a:spcBef>
                  <a:spcAft>
                    <a:spcPts val="0"/>
                  </a:spcAft>
                  <a:buClr>
                    <a:srgbClr val="C00000"/>
                  </a:buClr>
                  <a:buSzPct val="85000"/>
                  <a:buFont typeface="+mj-ea"/>
                  <a:buAutoNum type="circleNumDbPlain"/>
                </a:pPr>
                <a:r>
                  <a:rPr lang="zh-CN" altLang="en-US" sz="2800" b="1" dirty="0">
                    <a:solidFill>
                      <a:schemeClr val="tx1"/>
                    </a:solidFill>
                    <a:latin typeface="+mn-lt"/>
                    <a:ea typeface="楷体" panose="02010609060101010101" charset="-122"/>
                    <a:cs typeface="+mn-lt"/>
                  </a:rPr>
                  <a:t>查询其折扣为第二大的顾客的编号</a:t>
                </a:r>
              </a:p>
              <a:p>
                <a:pPr marL="971550" lvl="1" indent="-514350" algn="l" eaLnBrk="1" hangingPunct="1">
                  <a:lnSpc>
                    <a:spcPct val="100000"/>
                  </a:lnSpc>
                  <a:spcBef>
                    <a:spcPct val="0"/>
                  </a:spcBef>
                  <a:spcAft>
                    <a:spcPts val="0"/>
                  </a:spcAft>
                  <a:buClr>
                    <a:srgbClr val="C00000"/>
                  </a:buClr>
                  <a:buSzPct val="85000"/>
                  <a:buFont typeface="Wingdings" panose="05000000000000000000" charset="0"/>
                  <a:buChar char="Ø"/>
                </a:pPr>
                <a:r>
                  <a:rPr lang="zh-CN" altLang="en-US" sz="2800" b="1" dirty="0">
                    <a:solidFill>
                      <a:srgbClr val="C00000"/>
                    </a:solidFill>
                    <a:latin typeface="Calibri" panose="020F0502020204030204" charset="0"/>
                    <a:ea typeface="楷体" panose="02010609060101010101" charset="-122"/>
                    <a:cs typeface="+mn-lt"/>
                  </a:rPr>
                  <a:t>①②③</a:t>
                </a:r>
                <a:r>
                  <a:rPr lang="zh-CN" altLang="en-US" sz="2800" b="1" dirty="0">
                    <a:solidFill>
                      <a:srgbClr val="C00000"/>
                    </a:solidFill>
                    <a:latin typeface="+mn-lt"/>
                    <a:ea typeface="楷体" panose="02010609060101010101" charset="-122"/>
                    <a:cs typeface="+mn-lt"/>
                  </a:rPr>
                  <a:t>都可以用关系代数来表示（课后思考）</a:t>
                </a:r>
              </a:p>
              <a:p>
                <a:pPr marL="514350" lvl="0" indent="-514350" algn="l" eaLnBrk="1" hangingPunct="1">
                  <a:lnSpc>
                    <a:spcPct val="100000"/>
                  </a:lnSpc>
                  <a:spcBef>
                    <a:spcPts val="2000"/>
                  </a:spcBef>
                  <a:spcAft>
                    <a:spcPts val="0"/>
                  </a:spcAft>
                  <a:buClr>
                    <a:srgbClr val="C00000"/>
                  </a:buClr>
                  <a:buSzPct val="85000"/>
                  <a:buFont typeface="+mj-ea"/>
                  <a:buAutoNum type="circleNumDbPlain"/>
                </a:pPr>
                <a:r>
                  <a:rPr lang="zh-CN" altLang="en-US" sz="2800" b="1" dirty="0">
                    <a:solidFill>
                      <a:schemeClr val="tx1"/>
                    </a:solidFill>
                    <a:latin typeface="+mn-lt"/>
                    <a:ea typeface="楷体" panose="02010609060101010101" charset="-122"/>
                    <a:cs typeface="+mn-lt"/>
                  </a:rPr>
                  <a:t>查询折扣等于所有顾客折扣的平均值的顾客的编号</a:t>
                </a:r>
              </a:p>
              <a:p>
                <a:pPr marL="971550" lvl="1" indent="-514350" algn="l" eaLnBrk="1" hangingPunct="1">
                  <a:lnSpc>
                    <a:spcPct val="100000"/>
                  </a:lnSpc>
                  <a:spcBef>
                    <a:spcPct val="0"/>
                  </a:spcBef>
                  <a:spcAft>
                    <a:spcPts val="0"/>
                  </a:spcAft>
                  <a:buClr>
                    <a:srgbClr val="C00000"/>
                  </a:buClr>
                  <a:buSzPct val="85000"/>
                  <a:buFont typeface="Wingdings" panose="05000000000000000000" charset="0"/>
                  <a:buChar char="Ø"/>
                </a:pPr>
                <a:r>
                  <a:rPr lang="zh-CN" altLang="en-US" sz="2800" b="1" dirty="0">
                    <a:solidFill>
                      <a:srgbClr val="C00000"/>
                    </a:solidFill>
                    <a:latin typeface="+mn-lt"/>
                    <a:ea typeface="楷体" panose="02010609060101010101" charset="-122"/>
                    <a:cs typeface="+mn-lt"/>
                  </a:rPr>
                  <a:t>在关系代数中没有引入统计功能，第</a:t>
                </a:r>
                <a:r>
                  <a:rPr lang="zh-CN" altLang="en-US" sz="2800" b="1" dirty="0">
                    <a:solidFill>
                      <a:srgbClr val="C00000"/>
                    </a:solidFill>
                    <a:latin typeface="微软雅黑" panose="020B0503020204020204" charset="-122"/>
                    <a:ea typeface="微软雅黑" panose="020B0503020204020204" charset="-122"/>
                    <a:cs typeface="+mn-lt"/>
                  </a:rPr>
                  <a:t>④</a:t>
                </a:r>
                <a:r>
                  <a:rPr lang="zh-CN" altLang="en-US" sz="2800" b="1" dirty="0">
                    <a:solidFill>
                      <a:srgbClr val="C00000"/>
                    </a:solidFill>
                    <a:latin typeface="+mn-lt"/>
                    <a:ea typeface="楷体" panose="02010609060101010101" charset="-122"/>
                    <a:cs typeface="+mn-lt"/>
                  </a:rPr>
                  <a:t>题无法表示。</a:t>
                </a:r>
                <a:endParaRPr lang="zh-CN" altLang="en-US" sz="2800" b="1" dirty="0">
                  <a:solidFill>
                    <a:schemeClr val="tx1"/>
                  </a:solidFill>
                  <a:latin typeface="+mn-lt"/>
                  <a:ea typeface="楷体" panose="02010609060101010101" charset="-122"/>
                  <a:cs typeface="+mn-lt"/>
                </a:endParaRPr>
              </a:p>
              <a:p>
                <a:pPr marL="514350" lvl="0" indent="-514350" algn="l" eaLnBrk="1" hangingPunct="1">
                  <a:lnSpc>
                    <a:spcPct val="100000"/>
                  </a:lnSpc>
                  <a:spcBef>
                    <a:spcPts val="2000"/>
                  </a:spcBef>
                  <a:spcAft>
                    <a:spcPts val="0"/>
                  </a:spcAft>
                  <a:buClr>
                    <a:srgbClr val="C00000"/>
                  </a:buClr>
                  <a:buSzPct val="85000"/>
                  <a:buFont typeface="+mj-ea"/>
                  <a:buAutoNum type="circleNumDbPlain"/>
                </a:pPr>
                <a:r>
                  <a:rPr lang="zh-CN" altLang="en-US" sz="2800" b="1" dirty="0">
                    <a:solidFill>
                      <a:schemeClr val="tx1"/>
                    </a:solidFill>
                    <a:ea typeface="楷体" panose="02010609060101010101" charset="-122"/>
                    <a:cs typeface="+mn-lt"/>
                    <a:sym typeface="+mn-ea"/>
                  </a:rPr>
                  <a:t>查询具有最大折扣的顾客的姓名</a:t>
                </a:r>
                <a:r>
                  <a:rPr lang="en-US" altLang="x-none" sz="2800" b="1" dirty="0">
                    <a:solidFill>
                      <a:schemeClr val="tx1"/>
                    </a:solidFill>
                    <a:ea typeface="楷体" panose="02010609060101010101" charset="-122"/>
                    <a:cs typeface="+mn-lt"/>
                    <a:sym typeface="+mn-ea"/>
                  </a:rPr>
                  <a:t>(cname)</a:t>
                </a:r>
              </a:p>
              <a:p>
                <a:pPr marL="971550" lvl="1" indent="-514350" algn="l" eaLnBrk="1" hangingPunct="1">
                  <a:lnSpc>
                    <a:spcPct val="100000"/>
                  </a:lnSpc>
                  <a:spcBef>
                    <a:spcPct val="0"/>
                  </a:spcBef>
                  <a:spcAft>
                    <a:spcPts val="0"/>
                  </a:spcAft>
                  <a:buClr>
                    <a:srgbClr val="C00000"/>
                  </a:buClr>
                  <a:buSzPct val="85000"/>
                  <a:buFont typeface="Wingdings" panose="05000000000000000000" charset="0"/>
                  <a:buChar char="Ø"/>
                </a:pPr>
                <a:r>
                  <a:rPr lang="zh-CN" altLang="en-US" sz="2800" b="1" dirty="0">
                    <a:solidFill>
                      <a:schemeClr val="tx1"/>
                    </a:solidFill>
                    <a:latin typeface="+mn-lt"/>
                    <a:ea typeface="楷体" panose="02010609060101010101" charset="-122"/>
                    <a:cs typeface="+mn-lt"/>
                    <a:sym typeface="+mn-ea"/>
                  </a:rPr>
                  <a:t>第</a:t>
                </a:r>
                <a:r>
                  <a:rPr lang="zh-CN" altLang="en-US" sz="2800" b="1" dirty="0">
                    <a:solidFill>
                      <a:schemeClr val="tx1"/>
                    </a:solidFill>
                    <a:ea typeface="楷体" panose="02010609060101010101" charset="-122"/>
                    <a:cs typeface="+mn-lt"/>
                    <a:sym typeface="+mn-ea"/>
                  </a:rPr>
                  <a:t>⑤题</a:t>
                </a:r>
                <a:r>
                  <a:rPr lang="zh-CN" altLang="en-US" sz="2800" b="1" dirty="0">
                    <a:solidFill>
                      <a:schemeClr val="tx1"/>
                    </a:solidFill>
                    <a:latin typeface="+mn-lt"/>
                    <a:ea typeface="楷体" panose="02010609060101010101" charset="-122"/>
                    <a:cs typeface="+mn-lt"/>
                    <a:sym typeface="+mn-ea"/>
                  </a:rPr>
                  <a:t>是否可以表示如下？</a:t>
                </a:r>
              </a:p>
              <a:p>
                <a:pPr lvl="1" indent="1233170" algn="l" eaLnBrk="1" hangingPunct="1">
                  <a:lnSpc>
                    <a:spcPct val="100000"/>
                  </a:lnSpc>
                  <a:spcBef>
                    <a:spcPct val="0"/>
                  </a:spcBef>
                  <a:spcAft>
                    <a:spcPts val="0"/>
                  </a:spcAft>
                  <a:buClr>
                    <a:srgbClr val="C00000"/>
                  </a:buClr>
                  <a:buSzPct val="85000"/>
                  <a:buNone/>
                </a:pPr>
                <a14:m>
                  <m:oMathPara xmlns:m="http://schemas.openxmlformats.org/officeDocument/2006/math">
                    <m:oMathParaPr>
                      <m:jc m:val="left"/>
                    </m:oMathParaPr>
                    <m:oMath xmlns:m="http://schemas.openxmlformats.org/officeDocument/2006/math">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𝒄𝒏𝒂𝒎𝒆</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 − </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𝒄𝒏𝒂𝒎𝒆</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𝝈</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&lt; </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ea typeface="MS Mincho" charset="0"/>
                          <a:cs typeface="Cambria Math" panose="02040503050406030204" charset="0"/>
                        </a:rPr>
                        <m:t>))</m:t>
                      </m:r>
                    </m:oMath>
                  </m:oMathPara>
                </a14:m>
                <a:endParaRPr lang="zh-CN" altLang="en-US" sz="2800" b="1" dirty="0">
                  <a:solidFill>
                    <a:schemeClr val="tx1"/>
                  </a:solidFill>
                  <a:latin typeface="+mn-lt"/>
                  <a:ea typeface="楷体" panose="02010609060101010101" charset="-122"/>
                  <a:cs typeface="+mn-lt"/>
                  <a:sym typeface="+mn-ea"/>
                </a:endParaRPr>
              </a:p>
            </p:txBody>
          </p:sp>
        </mc:Choice>
        <mc:Fallback xmlns="">
          <p:sp>
            <p:nvSpPr>
              <p:cNvPr id="117766" name="Rectangle 6"/>
              <p:cNvSpPr>
                <a:spLocks noRot="1" noChangeAspect="1" noMove="1" noResize="1" noEditPoints="1" noAdjustHandles="1" noChangeArrowheads="1" noChangeShapeType="1" noTextEdit="1"/>
              </p:cNvSpPr>
              <p:nvPr/>
            </p:nvSpPr>
            <p:spPr>
              <a:xfrm>
                <a:off x="424180" y="1991995"/>
                <a:ext cx="11343005" cy="4482465"/>
              </a:xfrm>
              <a:prstGeom prst="rect">
                <a:avLst/>
              </a:prstGeom>
              <a:blipFill rotWithShape="1">
                <a:blip r:embed="rId4"/>
                <a:stretch>
                  <a:fillRect/>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89</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7766">
                                            <p:txEl>
                                              <p:pRg st="4" end="4"/>
                                            </p:txEl>
                                          </p:spTgt>
                                        </p:tgtEl>
                                        <p:attrNameLst>
                                          <p:attrName>style.visibility</p:attrName>
                                        </p:attrNameLst>
                                      </p:cBhvr>
                                      <p:to>
                                        <p:strVal val="visible"/>
                                      </p:to>
                                    </p:set>
                                    <p:animEffect transition="in" filter="blinds(horizontal)">
                                      <p:cBhvr>
                                        <p:cTn id="7" dur="500"/>
                                        <p:tgtEl>
                                          <p:spTgt spid="117766">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7766">
                                            <p:txEl>
                                              <p:pRg st="5" end="5"/>
                                            </p:txEl>
                                          </p:spTgt>
                                        </p:tgtEl>
                                        <p:attrNameLst>
                                          <p:attrName>style.visibility</p:attrName>
                                        </p:attrNameLst>
                                      </p:cBhvr>
                                      <p:to>
                                        <p:strVal val="visible"/>
                                      </p:to>
                                    </p:set>
                                    <p:animEffect transition="in" filter="blinds(horizontal)">
                                      <p:cBhvr>
                                        <p:cTn id="10" dur="500"/>
                                        <p:tgtEl>
                                          <p:spTgt spid="117766">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7766">
                                            <p:txEl>
                                              <p:pRg st="6" end="6"/>
                                            </p:txEl>
                                          </p:spTgt>
                                        </p:tgtEl>
                                        <p:attrNameLst>
                                          <p:attrName>style.visibility</p:attrName>
                                        </p:attrNameLst>
                                      </p:cBhvr>
                                      <p:to>
                                        <p:strVal val="visible"/>
                                      </p:to>
                                    </p:set>
                                    <p:animEffect transition="in" filter="blinds(horizontal)">
                                      <p:cBhvr>
                                        <p:cTn id="15" dur="500"/>
                                        <p:tgtEl>
                                          <p:spTgt spid="117766">
                                            <p:txEl>
                                              <p:pRg st="6" end="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17766">
                                            <p:txEl>
                                              <p:pRg st="7" end="7"/>
                                            </p:txEl>
                                          </p:spTgt>
                                        </p:tgtEl>
                                        <p:attrNameLst>
                                          <p:attrName>style.visibility</p:attrName>
                                        </p:attrNameLst>
                                      </p:cBhvr>
                                      <p:to>
                                        <p:strVal val="visible"/>
                                      </p:to>
                                    </p:set>
                                    <p:animEffect transition="in" filter="blinds(horizontal)">
                                      <p:cBhvr>
                                        <p:cTn id="18" dur="500"/>
                                        <p:tgtEl>
                                          <p:spTgt spid="117766">
                                            <p:txEl>
                                              <p:pRg st="7" end="7"/>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17766">
                                            <p:txEl>
                                              <p:pRg st="8" end="8"/>
                                            </p:txEl>
                                          </p:spTgt>
                                        </p:tgtEl>
                                        <p:attrNameLst>
                                          <p:attrName>style.visibility</p:attrName>
                                        </p:attrNameLst>
                                      </p:cBhvr>
                                      <p:to>
                                        <p:strVal val="visible"/>
                                      </p:to>
                                    </p:set>
                                    <p:animEffect transition="in" filter="blinds(horizontal)">
                                      <p:cBhvr>
                                        <p:cTn id="21" dur="500"/>
                                        <p:tgtEl>
                                          <p:spTgt spid="11776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p:cNvSpPr>
          <p:nvPr>
            <p:ph type="title"/>
          </p:nvPr>
        </p:nvSpPr>
        <p:spPr/>
        <p:txBody>
          <a:bodyPr wrap="square" anchor="ctr"/>
          <a:lstStyle/>
          <a:p>
            <a:pPr eaLnBrk="1" hangingPunct="1"/>
            <a:r>
              <a:rPr lang="en-US" altLang="x-none" dirty="0"/>
              <a:t>Example 10 (</a:t>
            </a:r>
            <a:r>
              <a:rPr lang="zh-CN" altLang="en-US" dirty="0"/>
              <a:t>拓展思考</a:t>
            </a:r>
            <a:r>
              <a:rPr lang="en-US" altLang="x-none" dirty="0"/>
              <a:t>) </a:t>
            </a:r>
            <a:r>
              <a:rPr lang="zh-CN" altLang="en-US" dirty="0"/>
              <a:t>参考答案</a:t>
            </a:r>
            <a:r>
              <a:rPr lang="en-US" altLang="zh-CN" dirty="0"/>
              <a:t> 1</a:t>
            </a:r>
          </a:p>
        </p:txBody>
      </p:sp>
      <mc:AlternateContent xmlns:mc="http://schemas.openxmlformats.org/markup-compatibility/2006" xmlns:a14="http://schemas.microsoft.com/office/drawing/2010/main">
        <mc:Choice Requires="a14">
          <p:sp>
            <p:nvSpPr>
              <p:cNvPr id="119812" name="Rectangle 3"/>
              <p:cNvSpPr>
                <a:spLocks noGrp="1"/>
              </p:cNvSpPr>
              <p:nvPr>
                <p:ph idx="1"/>
              </p:nvPr>
            </p:nvSpPr>
            <p:spPr>
              <a:xfrm>
                <a:off x="424180" y="687070"/>
                <a:ext cx="11343005" cy="983615"/>
              </a:xfrm>
              <a:solidFill>
                <a:schemeClr val="accent3">
                  <a:lumMod val="20000"/>
                  <a:lumOff val="80000"/>
                  <a:alpha val="50000"/>
                </a:schemeClr>
              </a:solidFill>
            </p:spPr>
            <p:txBody>
              <a:bodyPr wrap="square" anchor="t">
                <a:noAutofit/>
              </a:bodyPr>
              <a:lstStyle/>
              <a:p>
                <a:pPr marL="0" indent="0" eaLnBrk="1" hangingPunct="1">
                  <a:lnSpc>
                    <a:spcPct val="100000"/>
                  </a:lnSpc>
                  <a:spcBef>
                    <a:spcPct val="0"/>
                  </a:spcBef>
                  <a:spcAft>
                    <a:spcPct val="0"/>
                  </a:spcAft>
                  <a:buNone/>
                </a:pPr>
                <a:r>
                  <a:rPr lang="en-US" sz="2800" dirty="0">
                    <a:latin typeface="Arial" panose="020B0604020202020204" pitchFamily="34" charset="0"/>
                  </a:rPr>
                  <a:t>10. </a:t>
                </a:r>
                <a:r>
                  <a:rPr lang="zh-CN" altLang="en-US" sz="2800" dirty="0">
                    <a:latin typeface="Arial" panose="020B0604020202020204" pitchFamily="34" charset="0"/>
                  </a:rPr>
                  <a:t>具有最大折扣的顾客的编号：</a:t>
                </a:r>
                <a:r>
                  <a:rPr lang="en-US" altLang="zh-CN" sz="2800" dirty="0">
                    <a:latin typeface="Arial" panose="020B0604020202020204" pitchFamily="34" charset="0"/>
                  </a:rPr>
                  <a:t>     </a:t>
                </a:r>
                <a14:m>
                  <m:oMath xmlns:m="http://schemas.openxmlformats.org/officeDocument/2006/math">
                    <m:r>
                      <a:rPr lang="en-US" altLang="zh-CN" sz="2800" i="1" dirty="0">
                        <a:latin typeface="Cambria Math" panose="02040503050406030204" charset="0"/>
                        <a:cs typeface="Cambria Math" panose="02040503050406030204" charset="0"/>
                      </a:rPr>
                      <m:t>𝑺</m:t>
                    </m:r>
                    <m:r>
                      <a:rPr lang="en-US" altLang="zh-CN" sz="2800" i="1" dirty="0">
                        <a:latin typeface="Cambria Math" panose="02040503050406030204" charset="0"/>
                        <a:cs typeface="Cambria Math" panose="02040503050406030204" charset="0"/>
                      </a:rPr>
                      <m:t>  </m:t>
                    </m:r>
                    <m:box>
                      <m:boxPr>
                        <m:noBreak m:val="on"/>
                        <m:ctrlPr>
                          <a:rPr lang="en-US" altLang="zh-CN" sz="2800" i="1" dirty="0">
                            <a:latin typeface="Cambria Math" panose="02040503050406030204" pitchFamily="18" charset="0"/>
                            <a:cs typeface="Cambria Math" panose="02040503050406030204" charset="0"/>
                          </a:rPr>
                        </m:ctrlPr>
                      </m:boxPr>
                      <m:e>
                        <m:r>
                          <a:rPr lang="en-US" altLang="zh-CN" sz="2800" i="1" dirty="0">
                            <a:latin typeface="Cambria Math" panose="02040503050406030204" charset="0"/>
                            <a:cs typeface="Cambria Math" panose="02040503050406030204" charset="0"/>
                          </a:rPr>
                          <m:t>∶=</m:t>
                        </m:r>
                      </m:e>
                    </m:box>
                    <m:r>
                      <a:rPr lang="en-US" altLang="zh-CN" sz="2800" i="1" dirty="0">
                        <a:latin typeface="Cambria Math" panose="02040503050406030204" charset="0"/>
                        <a:cs typeface="Cambria Math" panose="02040503050406030204" charset="0"/>
                      </a:rPr>
                      <m:t>  </m:t>
                    </m:r>
                    <m:r>
                      <a:rPr lang="en-US" altLang="zh-CN" sz="2800" i="1" dirty="0">
                        <a:latin typeface="Cambria Math" panose="02040503050406030204" charset="0"/>
                        <a:cs typeface="Cambria Math" panose="02040503050406030204" charset="0"/>
                      </a:rPr>
                      <m:t>𝑪</m:t>
                    </m:r>
                  </m:oMath>
                </a14:m>
                <a:endParaRPr lang="zh-CN" altLang="en-US" sz="2800" dirty="0">
                  <a:latin typeface="Arial" panose="020B0604020202020204" pitchFamily="34" charset="0"/>
                </a:endParaRPr>
              </a:p>
              <a:p>
                <a:pPr marL="0" indent="0" algn="ctr" eaLnBrk="1" hangingPunct="1">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sSub>
                        <m:sSubPr>
                          <m:ctrlPr>
                            <a:rPr lang="en-US" altLang="x-none" b="0" i="1" dirty="0">
                              <a:solidFill>
                                <a:srgbClr val="C00000"/>
                              </a:solidFill>
                              <a:latin typeface="Cambria Math" panose="02040503050406030204" pitchFamily="18" charset="0"/>
                              <a:cs typeface="Cambria Math" panose="02040503050406030204" charset="0"/>
                            </a:rPr>
                          </m:ctrlPr>
                        </m:sSubPr>
                        <m:e>
                          <m:r>
                            <a:rPr lang="en-US" altLang="x-none" b="0" i="1" dirty="0">
                              <a:solidFill>
                                <a:srgbClr val="C00000"/>
                              </a:solidFill>
                              <a:latin typeface="Cambria Math" panose="02040503050406030204" charset="0"/>
                              <a:cs typeface="Cambria Math" panose="02040503050406030204" charset="0"/>
                            </a:rPr>
                            <m:t>𝜋</m:t>
                          </m:r>
                        </m:e>
                        <m:sub>
                          <m:r>
                            <a:rPr lang="en-US" altLang="x-none" b="0" i="1" dirty="0">
                              <a:solidFill>
                                <a:srgbClr val="C00000"/>
                              </a:solidFill>
                              <a:latin typeface="Cambria Math" panose="02040503050406030204" charset="0"/>
                              <a:cs typeface="Cambria Math" panose="02040503050406030204" charset="0"/>
                            </a:rPr>
                            <m:t> </m:t>
                          </m:r>
                          <m:r>
                            <a:rPr lang="en-US" altLang="x-none" b="0" i="1" dirty="0">
                              <a:solidFill>
                                <a:srgbClr val="C00000"/>
                              </a:solidFill>
                              <a:latin typeface="Cambria Math" panose="02040503050406030204" charset="0"/>
                              <a:cs typeface="Cambria Math" panose="02040503050406030204" charset="0"/>
                            </a:rPr>
                            <m:t>𝑐𝑖𝑑</m:t>
                          </m:r>
                          <m:r>
                            <a:rPr lang="en-US" altLang="x-none" b="0" i="1" dirty="0">
                              <a:solidFill>
                                <a:srgbClr val="C00000"/>
                              </a:solidFill>
                              <a:latin typeface="Cambria Math" panose="02040503050406030204" charset="0"/>
                              <a:cs typeface="Cambria Math" panose="02040503050406030204" charset="0"/>
                            </a:rPr>
                            <m:t> </m:t>
                          </m:r>
                        </m:sub>
                      </m:sSub>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 − </m:t>
                      </m:r>
                      <m:sSub>
                        <m:sSubPr>
                          <m:ctrlPr>
                            <a:rPr lang="en-US" altLang="x-none" b="0" i="1" dirty="0">
                              <a:solidFill>
                                <a:srgbClr val="C00000"/>
                              </a:solidFill>
                              <a:latin typeface="Cambria Math" panose="02040503050406030204" pitchFamily="18" charset="0"/>
                              <a:cs typeface="Cambria Math" panose="02040503050406030204" charset="0"/>
                            </a:rPr>
                          </m:ctrlPr>
                        </m:sSubPr>
                        <m:e>
                          <m:r>
                            <a:rPr lang="en-US" altLang="x-none" b="0" i="1" dirty="0">
                              <a:solidFill>
                                <a:srgbClr val="C00000"/>
                              </a:solidFill>
                              <a:latin typeface="Cambria Math" panose="02040503050406030204" charset="0"/>
                              <a:cs typeface="Cambria Math" panose="02040503050406030204" charset="0"/>
                            </a:rPr>
                            <m:t>𝜋</m:t>
                          </m:r>
                        </m:e>
                        <m:sub>
                          <m:r>
                            <a:rPr lang="en-US" altLang="x-none" b="0" i="1" dirty="0">
                              <a:solidFill>
                                <a:srgbClr val="C00000"/>
                              </a:solidFill>
                              <a:latin typeface="Cambria Math" panose="02040503050406030204" charset="0"/>
                              <a:cs typeface="Cambria Math" panose="02040503050406030204" charset="0"/>
                            </a:rPr>
                            <m:t> </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𝑐𝑖𝑑</m:t>
                          </m:r>
                          <m:r>
                            <a:rPr lang="en-US" altLang="x-none" b="0" i="1" dirty="0">
                              <a:solidFill>
                                <a:srgbClr val="C00000"/>
                              </a:solidFill>
                              <a:latin typeface="Cambria Math" panose="02040503050406030204" charset="0"/>
                              <a:cs typeface="Cambria Math" panose="02040503050406030204" charset="0"/>
                            </a:rPr>
                            <m:t> </m:t>
                          </m:r>
                        </m:sub>
                      </m:sSub>
                      <m:r>
                        <a:rPr lang="en-US" altLang="x-none" b="0" i="1" dirty="0">
                          <a:solidFill>
                            <a:srgbClr val="C00000"/>
                          </a:solidFill>
                          <a:latin typeface="Cambria Math" panose="02040503050406030204" charset="0"/>
                          <a:cs typeface="Cambria Math" panose="02040503050406030204" charset="0"/>
                        </a:rPr>
                        <m:t>(</m:t>
                      </m:r>
                      <m:sSub>
                        <m:sSubPr>
                          <m:ctrlPr>
                            <a:rPr lang="en-US" altLang="x-none" b="0" i="1" dirty="0">
                              <a:solidFill>
                                <a:srgbClr val="C00000"/>
                              </a:solidFill>
                              <a:latin typeface="Cambria Math" panose="02040503050406030204" pitchFamily="18" charset="0"/>
                              <a:cs typeface="Cambria Math" panose="02040503050406030204" charset="0"/>
                            </a:rPr>
                          </m:ctrlPr>
                        </m:sSubPr>
                        <m:e>
                          <m:r>
                            <a:rPr lang="en-US" altLang="x-none" b="0" i="1" dirty="0">
                              <a:solidFill>
                                <a:srgbClr val="C00000"/>
                              </a:solidFill>
                              <a:latin typeface="Cambria Math" panose="02040503050406030204" charset="0"/>
                              <a:cs typeface="Cambria Math" panose="02040503050406030204" charset="0"/>
                            </a:rPr>
                            <m:t>𝜎</m:t>
                          </m:r>
                        </m:e>
                        <m:sub>
                          <m:r>
                            <a:rPr lang="en-US" altLang="x-none" b="0" i="1" dirty="0">
                              <a:solidFill>
                                <a:srgbClr val="C00000"/>
                              </a:solidFill>
                              <a:latin typeface="Cambria Math" panose="02040503050406030204" charset="0"/>
                              <a:cs typeface="Cambria Math" panose="02040503050406030204" charset="0"/>
                            </a:rPr>
                            <m:t> </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𝑑𝑖𝑠𝑐𝑛𝑡</m:t>
                          </m:r>
                          <m:r>
                            <a:rPr lang="en-US" altLang="x-none" b="0" i="1" dirty="0">
                              <a:solidFill>
                                <a:srgbClr val="C00000"/>
                              </a:solidFill>
                              <a:latin typeface="Cambria Math" panose="02040503050406030204" charset="0"/>
                              <a:cs typeface="Cambria Math" panose="02040503050406030204" charset="0"/>
                            </a:rPr>
                            <m:t> &lt; </m:t>
                          </m:r>
                          <m:r>
                            <a:rPr lang="en-US" altLang="x-none" b="0" i="1" dirty="0">
                              <a:solidFill>
                                <a:srgbClr val="C00000"/>
                              </a:solidFill>
                              <a:latin typeface="Cambria Math" panose="02040503050406030204" charset="0"/>
                              <a:cs typeface="Cambria Math" panose="02040503050406030204" charset="0"/>
                            </a:rPr>
                            <m:t>𝑆</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𝑑𝑖𝑠𝑐𝑛𝑡</m:t>
                          </m:r>
                          <m:r>
                            <a:rPr lang="en-US" altLang="x-none" b="0" i="1" dirty="0">
                              <a:solidFill>
                                <a:srgbClr val="C00000"/>
                              </a:solidFill>
                              <a:latin typeface="Cambria Math" panose="02040503050406030204" charset="0"/>
                              <a:cs typeface="Cambria Math" panose="02040503050406030204" charset="0"/>
                            </a:rPr>
                            <m:t> </m:t>
                          </m:r>
                        </m:sub>
                      </m:sSub>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𝐶</m:t>
                      </m:r>
                      <m:r>
                        <a:rPr lang="en-US" altLang="x-none" b="0" i="1" dirty="0">
                          <a:solidFill>
                            <a:srgbClr val="C00000"/>
                          </a:solidFill>
                          <a:latin typeface="Cambria Math" panose="02040503050406030204" charset="0"/>
                          <a:cs typeface="Cambria Math" panose="02040503050406030204" charset="0"/>
                        </a:rPr>
                        <m:t>×</m:t>
                      </m:r>
                      <m:r>
                        <a:rPr lang="en-US" altLang="x-none" b="0" i="1" dirty="0">
                          <a:solidFill>
                            <a:srgbClr val="C00000"/>
                          </a:solidFill>
                          <a:latin typeface="Cambria Math" panose="02040503050406030204" charset="0"/>
                          <a:cs typeface="Cambria Math" panose="02040503050406030204" charset="0"/>
                        </a:rPr>
                        <m:t>𝑆</m:t>
                      </m:r>
                      <m:r>
                        <a:rPr lang="en-US" altLang="x-none" b="0" i="1" dirty="0">
                          <a:solidFill>
                            <a:srgbClr val="C00000"/>
                          </a:solidFill>
                          <a:latin typeface="Cambria Math" panose="02040503050406030204" charset="0"/>
                          <a:ea typeface="MS Mincho" charset="0"/>
                          <a:cs typeface="Cambria Math" panose="02040503050406030204" charset="0"/>
                        </a:rPr>
                        <m:t>))</m:t>
                      </m:r>
                    </m:oMath>
                  </m:oMathPara>
                </a14:m>
                <a:endParaRPr lang="en-US" altLang="x-none" sz="2800" b="0" i="1" dirty="0">
                  <a:solidFill>
                    <a:srgbClr val="C00000"/>
                  </a:solidFill>
                  <a:latin typeface="Cambria Math" panose="02040503050406030204" charset="0"/>
                  <a:ea typeface="MS Mincho" charset="0"/>
                  <a:cs typeface="Cambria Math" panose="02040503050406030204" charset="0"/>
                </a:endParaRPr>
              </a:p>
            </p:txBody>
          </p:sp>
        </mc:Choice>
        <mc:Fallback xmlns="">
          <p:sp>
            <p:nvSpPr>
              <p:cNvPr id="119812" name="Rectangle 3"/>
              <p:cNvSpPr>
                <a:spLocks noRot="1" noChangeAspect="1" noMove="1" noResize="1" noEditPoints="1" noAdjustHandles="1" noChangeArrowheads="1" noChangeShapeType="1" noTextEdit="1"/>
              </p:cNvSpPr>
              <p:nvPr>
                <p:ph idx="1"/>
              </p:nvPr>
            </p:nvSpPr>
            <p:spPr>
              <a:xfrm>
                <a:off x="424180" y="687070"/>
                <a:ext cx="11343005" cy="983615"/>
              </a:xfr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766" name="Rectangle 6"/>
              <p:cNvSpPr/>
              <p:nvPr/>
            </p:nvSpPr>
            <p:spPr>
              <a:xfrm>
                <a:off x="424180" y="1801495"/>
                <a:ext cx="11343005" cy="1383665"/>
              </a:xfrm>
              <a:prstGeom prst="rect">
                <a:avLst/>
              </a:prstGeom>
              <a:noFill/>
              <a:ln w="9525">
                <a:noFill/>
              </a:ln>
            </p:spPr>
            <p:txBody>
              <a:bodyPr anchor="t">
                <a:noAutofit/>
              </a:bodyPr>
              <a:lstStyle/>
              <a:p>
                <a:pPr marL="514350" lvl="0" indent="-514350" algn="l" eaLnBrk="1" hangingPunct="1">
                  <a:lnSpc>
                    <a:spcPct val="100000"/>
                  </a:lnSpc>
                  <a:spcBef>
                    <a:spcPct val="0"/>
                  </a:spcBef>
                  <a:spcAft>
                    <a:spcPct val="0"/>
                  </a:spcAft>
                  <a:buClr>
                    <a:srgbClr val="C00000"/>
                  </a:buClr>
                  <a:buSzPct val="85000"/>
                  <a:buFont typeface="+mj-ea"/>
                  <a:buAutoNum type="circleNumDbPlain" startAt="5"/>
                </a:pPr>
                <a:r>
                  <a:rPr lang="zh-CN" altLang="en-US" sz="2800" b="1" dirty="0">
                    <a:solidFill>
                      <a:schemeClr val="tx1"/>
                    </a:solidFill>
                    <a:ea typeface="楷体" panose="02010609060101010101" charset="-122"/>
                    <a:cs typeface="+mn-lt"/>
                    <a:sym typeface="+mn-ea"/>
                  </a:rPr>
                  <a:t>查询具有最大折扣的顾客的姓名</a:t>
                </a:r>
                <a:r>
                  <a:rPr lang="en-US" altLang="x-none" sz="2800" b="1" dirty="0">
                    <a:solidFill>
                      <a:schemeClr val="tx1"/>
                    </a:solidFill>
                    <a:ea typeface="楷体" panose="02010609060101010101" charset="-122"/>
                    <a:cs typeface="+mn-lt"/>
                    <a:sym typeface="+mn-ea"/>
                  </a:rPr>
                  <a:t>(cname)</a:t>
                </a:r>
              </a:p>
              <a:p>
                <a:pPr marL="971550" lvl="1" indent="-514350" algn="l" eaLnBrk="1" hangingPunct="1">
                  <a:lnSpc>
                    <a:spcPct val="100000"/>
                  </a:lnSpc>
                  <a:spcBef>
                    <a:spcPct val="0"/>
                  </a:spcBef>
                  <a:spcAft>
                    <a:spcPct val="0"/>
                  </a:spcAft>
                  <a:buClr>
                    <a:srgbClr val="C00000"/>
                  </a:buClr>
                  <a:buSzPct val="85000"/>
                  <a:buFont typeface="Wingdings" panose="05000000000000000000" charset="0"/>
                  <a:buChar char="Ø"/>
                </a:pPr>
                <a:r>
                  <a:rPr lang="zh-CN" altLang="en-US" sz="2800" b="1" dirty="0">
                    <a:solidFill>
                      <a:schemeClr val="tx1"/>
                    </a:solidFill>
                    <a:latin typeface="+mn-lt"/>
                    <a:ea typeface="楷体" panose="02010609060101010101" charset="-122"/>
                    <a:cs typeface="+mn-lt"/>
                    <a:sym typeface="+mn-ea"/>
                  </a:rPr>
                  <a:t>第</a:t>
                </a:r>
                <a:r>
                  <a:rPr lang="zh-CN" altLang="en-US" sz="2800" b="1" dirty="0">
                    <a:solidFill>
                      <a:schemeClr val="tx1"/>
                    </a:solidFill>
                    <a:ea typeface="楷体" panose="02010609060101010101" charset="-122"/>
                    <a:cs typeface="+mn-lt"/>
                    <a:sym typeface="+mn-ea"/>
                  </a:rPr>
                  <a:t>⑤题</a:t>
                </a:r>
                <a:r>
                  <a:rPr lang="zh-CN" altLang="en-US" sz="2800" b="1" dirty="0">
                    <a:solidFill>
                      <a:schemeClr val="tx1"/>
                    </a:solidFill>
                    <a:latin typeface="+mn-lt"/>
                    <a:ea typeface="楷体" panose="02010609060101010101" charset="-122"/>
                    <a:cs typeface="+mn-lt"/>
                    <a:sym typeface="+mn-ea"/>
                  </a:rPr>
                  <a:t>是否可以表示如下？</a:t>
                </a:r>
                <a:endParaRPr lang="zh-CN" altLang="en-US" sz="2800" b="1" dirty="0">
                  <a:solidFill>
                    <a:srgbClr val="FF0000"/>
                  </a:solidFill>
                  <a:latin typeface="+mn-lt"/>
                  <a:ea typeface="楷体" panose="02010609060101010101" charset="-122"/>
                  <a:cs typeface="+mn-lt"/>
                  <a:sym typeface="+mn-ea"/>
                </a:endParaRPr>
              </a:p>
              <a:p>
                <a:pPr lvl="1" indent="1233170" algn="l" eaLnBrk="1" hangingPunct="1">
                  <a:lnSpc>
                    <a:spcPct val="100000"/>
                  </a:lnSpc>
                  <a:spcBef>
                    <a:spcPct val="0"/>
                  </a:spcBef>
                  <a:spcAft>
                    <a:spcPct val="0"/>
                  </a:spcAft>
                  <a:buClr>
                    <a:srgbClr val="C00000"/>
                  </a:buClr>
                  <a:buSzPct val="85000"/>
                  <a:buNone/>
                </a:pPr>
                <a14:m>
                  <m:oMathPara xmlns:m="http://schemas.openxmlformats.org/officeDocument/2006/math">
                    <m:oMathParaPr>
                      <m:jc m:val="left"/>
                    </m:oMathParaPr>
                    <m:oMath xmlns:m="http://schemas.openxmlformats.org/officeDocument/2006/math">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𝒄𝒏𝒂𝒎𝒆</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 − </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𝒄𝒏𝒂𝒎𝒆</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𝝈</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&lt; </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ea typeface="MS Mincho" charset="0"/>
                          <a:cs typeface="Cambria Math" panose="02040503050406030204" charset="0"/>
                        </a:rPr>
                        <m:t>))</m:t>
                      </m:r>
                    </m:oMath>
                  </m:oMathPara>
                </a14:m>
                <a:endParaRPr lang="zh-CN" altLang="en-US" sz="2800" b="1" dirty="0">
                  <a:solidFill>
                    <a:schemeClr val="tx1"/>
                  </a:solidFill>
                  <a:latin typeface="+mn-lt"/>
                  <a:ea typeface="楷体" panose="02010609060101010101" charset="-122"/>
                  <a:cs typeface="+mn-lt"/>
                  <a:sym typeface="+mn-ea"/>
                </a:endParaRPr>
              </a:p>
            </p:txBody>
          </p:sp>
        </mc:Choice>
        <mc:Fallback xmlns="">
          <p:sp>
            <p:nvSpPr>
              <p:cNvPr id="117766" name="Rectangle 6"/>
              <p:cNvSpPr>
                <a:spLocks noRot="1" noChangeAspect="1" noMove="1" noResize="1" noEditPoints="1" noAdjustHandles="1" noChangeArrowheads="1" noChangeShapeType="1" noTextEdit="1"/>
              </p:cNvSpPr>
              <p:nvPr/>
            </p:nvSpPr>
            <p:spPr>
              <a:xfrm>
                <a:off x="424180" y="1801495"/>
                <a:ext cx="11343005" cy="1383665"/>
              </a:xfrm>
              <a:prstGeom prst="rect">
                <a:avLst/>
              </a:prstGeom>
              <a:blipFill rotWithShape="1">
                <a:blip r:embed="rId4"/>
                <a:stretch>
                  <a:fillRect/>
                </a:stretch>
              </a:blipFill>
              <a:ln w="9525">
                <a:noFill/>
              </a:ln>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565CE74E-AB26-4998-AD42-012C4C1AD076}" type="slidenum">
              <a:rPr lang="zh-CN" altLang="en-US" smtClean="0"/>
              <a:t>90</a:t>
            </a:fld>
            <a:endParaRPr lang="zh-CN" altLang="en-US"/>
          </a:p>
        </p:txBody>
      </p:sp>
      <p:sp>
        <p:nvSpPr>
          <p:cNvPr id="2" name="页脚占位符 1"/>
          <p:cNvSpPr>
            <a:spLocks noGrp="1"/>
          </p:cNvSpPr>
          <p:nvPr>
            <p:ph type="ftr" sz="quarter" idx="11"/>
          </p:nvPr>
        </p:nvSpPr>
        <p:spPr/>
        <p:txBody>
          <a:bodyPr/>
          <a:lstStyle/>
          <a:p>
            <a:r>
              <a:rPr lang="zh-CN" altLang="en-US"/>
              <a:t>ch02_2_关系代数基本运算</a:t>
            </a:r>
          </a:p>
        </p:txBody>
      </p:sp>
      <mc:AlternateContent xmlns:mc="http://schemas.openxmlformats.org/markup-compatibility/2006" xmlns:a14="http://schemas.microsoft.com/office/drawing/2010/main">
        <mc:Choice Requires="a14">
          <p:sp>
            <p:nvSpPr>
              <p:cNvPr id="12" name="文本框 11"/>
              <p:cNvSpPr txBox="1"/>
              <p:nvPr/>
            </p:nvSpPr>
            <p:spPr>
              <a:xfrm>
                <a:off x="467360" y="3389630"/>
                <a:ext cx="11303000" cy="928370"/>
              </a:xfrm>
              <a:prstGeom prst="rect">
                <a:avLst/>
              </a:prstGeom>
              <a:solidFill>
                <a:schemeClr val="accent3">
                  <a:lumMod val="20000"/>
                  <a:lumOff val="80000"/>
                  <a:alpha val="50000"/>
                </a:schemeClr>
              </a:solidFill>
            </p:spPr>
            <p:txBody>
              <a:bodyPr wrap="square" rtlCol="0">
                <a:noAutofit/>
              </a:bodyPr>
              <a:lstStyle/>
              <a:p>
                <a:pPr marL="457200" indent="-457200" fontAlgn="auto">
                  <a:lnSpc>
                    <a:spcPct val="100000"/>
                  </a:lnSpc>
                  <a:spcBef>
                    <a:spcPct val="0"/>
                  </a:spcBef>
                  <a:spcAft>
                    <a:spcPct val="0"/>
                  </a:spcAft>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rPr>
                  <a:t>上述查询表示是错误的（结果语义不符），正确的查询表示如下</a:t>
                </a:r>
              </a:p>
              <a:p>
                <a:pPr lvl="1" indent="0" fontAlgn="auto">
                  <a:lnSpc>
                    <a:spcPct val="100000"/>
                  </a:lnSpc>
                  <a:spcBef>
                    <a:spcPct val="0"/>
                  </a:spcBef>
                  <a:spcAft>
                    <a:spcPct val="0"/>
                  </a:spcAft>
                  <a:buClr>
                    <a:srgbClr val="C00000"/>
                  </a:buClr>
                  <a:buSzPct val="85000"/>
                  <a:buNone/>
                </a:pPr>
                <a14:m>
                  <m:oMathPara xmlns:m="http://schemas.openxmlformats.org/officeDocument/2006/math">
                    <m:oMathParaPr>
                      <m:jc m:val="centerGroup"/>
                    </m:oMathParaPr>
                    <m:oMath xmlns:m="http://schemas.openxmlformats.org/officeDocument/2006/math">
                      <m:sSub>
                        <m:sSubPr>
                          <m:ctrlPr>
                            <a:rPr lang="zh-CN" altLang="en-US" sz="2800" b="1" i="1">
                              <a:solidFill>
                                <a:srgbClr val="C00000"/>
                              </a:solidFill>
                              <a:latin typeface="Cambria Math" panose="02040503050406030204" pitchFamily="18" charset="0"/>
                              <a:ea typeface="楷体" panose="02010609060101010101" charset="-122"/>
                              <a:cs typeface="Cambria Math" panose="02040503050406030204" charset="0"/>
                            </a:rPr>
                          </m:ctrlPr>
                        </m:sSubPr>
                        <m:e>
                          <m:r>
                            <a:rPr lang="en-US" altLang="zh-CN" sz="2800" b="1" i="1">
                              <a:solidFill>
                                <a:srgbClr val="C00000"/>
                              </a:solidFill>
                              <a:latin typeface="Cambria Math" panose="02040503050406030204" charset="0"/>
                              <a:ea typeface="楷体" panose="02010609060101010101" charset="-122"/>
                              <a:cs typeface="Cambria Math" panose="02040503050406030204" charset="0"/>
                            </a:rPr>
                            <m:t>𝝅</m:t>
                          </m:r>
                        </m:e>
                        <m:sub>
                          <m:r>
                            <a:rPr lang="en-US" altLang="zh-CN" sz="2800" b="1" i="1">
                              <a:solidFill>
                                <a:srgbClr val="C00000"/>
                              </a:solidFill>
                              <a:latin typeface="Cambria Math" panose="02040503050406030204" charset="0"/>
                              <a:ea typeface="楷体" panose="02010609060101010101" charset="-122"/>
                              <a:cs typeface="Cambria Math" panose="02040503050406030204" charset="0"/>
                            </a:rPr>
                            <m:t>𝒄𝒏𝒂𝒎𝒆</m:t>
                          </m:r>
                          <m:r>
                            <a:rPr lang="en-US" altLang="zh-CN" sz="2800" b="1" i="1">
                              <a:solidFill>
                                <a:srgbClr val="C00000"/>
                              </a:solidFill>
                              <a:latin typeface="Cambria Math" panose="02040503050406030204" charset="0"/>
                              <a:ea typeface="楷体" panose="02010609060101010101" charset="-122"/>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𝒄𝒊𝒅</m:t>
                          </m:r>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𝒄𝒏𝒂𝒎𝒆</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𝒄𝒊𝒅</m:t>
                          </m:r>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𝒄𝒏𝒂𝒎𝒆</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𝝈</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&lt; </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ea typeface="MS Mincho" charset="0"/>
                          <a:cs typeface="Cambria Math" panose="02040503050406030204" charset="0"/>
                        </a:rPr>
                        <m:t>)))</m:t>
                      </m:r>
                    </m:oMath>
                  </m:oMathPara>
                </a14:m>
                <a:endParaRPr lang="en-US" altLang="x-none" sz="2800" b="1" i="1" dirty="0">
                  <a:solidFill>
                    <a:srgbClr val="C00000"/>
                  </a:solidFill>
                  <a:latin typeface="Cambria Math" panose="02040503050406030204" charset="0"/>
                  <a:ea typeface="MS Mincho" charset="0"/>
                  <a:cs typeface="Cambria Math" panose="02040503050406030204"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67360" y="3389630"/>
                <a:ext cx="11303000" cy="92837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424180" y="4547870"/>
                <a:ext cx="11303000" cy="1383665"/>
              </a:xfrm>
              <a:prstGeom prst="rect">
                <a:avLst/>
              </a:prstGeom>
              <a:noFill/>
            </p:spPr>
            <p:txBody>
              <a:bodyPr wrap="square" rtlCol="0">
                <a:noAutofit/>
              </a:bodyPr>
              <a:lstStyle/>
              <a:p>
                <a:pPr marL="457200" indent="-457200" fontAlgn="auto">
                  <a:lnSpc>
                    <a:spcPct val="100000"/>
                  </a:lnSpc>
                  <a:spcBef>
                    <a:spcPct val="0"/>
                  </a:spcBef>
                  <a:spcAft>
                    <a:spcPct val="0"/>
                  </a:spcAft>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rPr>
                  <a:t>或者表示如下</a:t>
                </a:r>
              </a:p>
              <a:p>
                <a:pPr lvl="2" indent="-457200" fontAlgn="auto">
                  <a:lnSpc>
                    <a:spcPct val="100000"/>
                  </a:lnSpc>
                  <a:spcBef>
                    <a:spcPct val="0"/>
                  </a:spcBef>
                  <a:spcAft>
                    <a:spcPct val="0"/>
                  </a:spcAft>
                  <a:buClr>
                    <a:srgbClr val="C00000"/>
                  </a:buClr>
                  <a:buSzPct val="85000"/>
                  <a:buFont typeface="Wingdings" panose="05000000000000000000" charset="0"/>
                  <a:buChar char="Ø"/>
                </a:pPr>
                <a:r>
                  <a:rPr lang="zh-CN" altLang="en-US" sz="2800" b="1">
                    <a:solidFill>
                      <a:srgbClr val="1F2DA8"/>
                    </a:solidFill>
                    <a:latin typeface="楷体" panose="02010609060101010101" charset="-122"/>
                    <a:ea typeface="楷体" panose="02010609060101010101" charset="-122"/>
                  </a:rPr>
                  <a:t>令</a:t>
                </a:r>
                <a:r>
                  <a:rPr lang="en-US" altLang="zh-CN" sz="2800">
                    <a:solidFill>
                      <a:srgbClr val="C00000"/>
                    </a:solidFill>
                    <a:latin typeface="Cambria Math" panose="02040503050406030204" charset="0"/>
                    <a:ea typeface="楷体" panose="02010609060101010101" charset="-122"/>
                    <a:cs typeface="Cambria Math" panose="02040503050406030204" charset="0"/>
                  </a:rPr>
                  <a:t>  </a:t>
                </a:r>
                <a14:m>
                  <m:oMath xmlns:m="http://schemas.openxmlformats.org/officeDocument/2006/math">
                    <m:r>
                      <a:rPr lang="en-US" altLang="zh-CN" sz="2800" b="1" i="1">
                        <a:solidFill>
                          <a:srgbClr val="C00000"/>
                        </a:solidFill>
                        <a:latin typeface="Cambria Math" panose="02040503050406030204" charset="0"/>
                        <a:ea typeface="楷体" panose="02010609060101010101" charset="-122"/>
                        <a:cs typeface="Cambria Math" panose="02040503050406030204" charset="0"/>
                      </a:rPr>
                      <m:t>𝑻</m:t>
                    </m:r>
                    <m:r>
                      <a:rPr lang="en-US" altLang="zh-CN" sz="2800" b="1" i="1">
                        <a:solidFill>
                          <a:srgbClr val="C00000"/>
                        </a:solidFill>
                        <a:latin typeface="Cambria Math" panose="02040503050406030204" charset="0"/>
                        <a:ea typeface="楷体" panose="02010609060101010101" charset="-122"/>
                        <a:cs typeface="Cambria Math" panose="02040503050406030204" charset="0"/>
                      </a:rPr>
                      <m:t>  </m:t>
                    </m:r>
                    <m:box>
                      <m:boxPr>
                        <m:noBreak m:val="on"/>
                        <m:ctrlPr>
                          <a:rPr lang="en-US" altLang="zh-CN" sz="2800" b="1" i="1">
                            <a:solidFill>
                              <a:srgbClr val="C00000"/>
                            </a:solidFill>
                            <a:latin typeface="Cambria Math" panose="02040503050406030204" pitchFamily="18" charset="0"/>
                            <a:ea typeface="楷体" panose="02010609060101010101" charset="-122"/>
                            <a:cs typeface="Cambria Math" panose="02040503050406030204" charset="0"/>
                          </a:rPr>
                        </m:ctrlPr>
                      </m:boxPr>
                      <m:e>
                        <m:r>
                          <a:rPr lang="en-US" altLang="zh-CN" sz="2800" b="1" i="1">
                            <a:solidFill>
                              <a:srgbClr val="C00000"/>
                            </a:solidFill>
                            <a:latin typeface="Cambria Math" panose="02040503050406030204" charset="0"/>
                            <a:ea typeface="楷体" panose="02010609060101010101" charset="-122"/>
                            <a:cs typeface="Cambria Math" panose="02040503050406030204" charset="0"/>
                          </a:rPr>
                          <m:t>∶=</m:t>
                        </m:r>
                      </m:e>
                    </m:box>
                    <m:r>
                      <a:rPr lang="en-US" altLang="zh-CN" sz="2800" b="1" i="1">
                        <a:solidFill>
                          <a:srgbClr val="C00000"/>
                        </a:solidFill>
                        <a:latin typeface="Cambria Math" panose="02040503050406030204" charset="0"/>
                        <a:ea typeface="楷体" panose="02010609060101010101" charset="-122"/>
                        <a:cs typeface="Cambria Math" panose="02040503050406030204" charset="0"/>
                      </a:rPr>
                      <m:t>  </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𝒄𝒊𝒅</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𝝅</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𝒄𝒊𝒅</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sSub>
                      <m:sSubPr>
                        <m:ctrlPr>
                          <a:rPr lang="en-US" altLang="x-none" sz="2800" b="1" i="1" dirty="0">
                            <a:solidFill>
                              <a:srgbClr val="C00000"/>
                            </a:solidFill>
                            <a:latin typeface="Cambria Math" panose="02040503050406030204" pitchFamily="18" charset="0"/>
                            <a:cs typeface="Cambria Math" panose="02040503050406030204" charset="0"/>
                          </a:rPr>
                        </m:ctrlPr>
                      </m:sSubPr>
                      <m:e>
                        <m:r>
                          <a:rPr lang="en-US" altLang="x-none" sz="2800" b="1" i="1" dirty="0">
                            <a:solidFill>
                              <a:srgbClr val="C00000"/>
                            </a:solidFill>
                            <a:latin typeface="Cambria Math" panose="02040503050406030204" charset="0"/>
                            <a:cs typeface="Cambria Math" panose="02040503050406030204" charset="0"/>
                          </a:rPr>
                          <m:t>𝝈</m:t>
                        </m:r>
                      </m:e>
                      <m:sub>
                        <m:r>
                          <a:rPr lang="en-US" altLang="x-none" sz="2800" b="1" i="1" dirty="0">
                            <a:solidFill>
                              <a:srgbClr val="C00000"/>
                            </a:solidFill>
                            <a:latin typeface="Cambria Math" panose="02040503050406030204" charset="0"/>
                            <a:cs typeface="Cambria Math" panose="02040503050406030204" charset="0"/>
                          </a:rPr>
                          <m:t> </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&lt; </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𝒅𝒊𝒔𝒄𝒏𝒕</m:t>
                        </m:r>
                        <m:r>
                          <a:rPr lang="en-US" altLang="x-none" sz="2800" b="1" i="1" dirty="0">
                            <a:solidFill>
                              <a:srgbClr val="C00000"/>
                            </a:solidFill>
                            <a:latin typeface="Cambria Math" panose="02040503050406030204" charset="0"/>
                            <a:cs typeface="Cambria Math" panose="02040503050406030204" charset="0"/>
                          </a:rPr>
                          <m:t> </m:t>
                        </m:r>
                      </m:sub>
                    </m:sSub>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𝑪</m:t>
                    </m:r>
                    <m:r>
                      <a:rPr lang="en-US" altLang="x-none" sz="2800" b="1" i="1" dirty="0">
                        <a:solidFill>
                          <a:srgbClr val="C00000"/>
                        </a:solidFill>
                        <a:latin typeface="Cambria Math" panose="02040503050406030204" charset="0"/>
                        <a:cs typeface="Cambria Math" panose="02040503050406030204" charset="0"/>
                      </a:rPr>
                      <m:t>×</m:t>
                    </m:r>
                    <m:r>
                      <a:rPr lang="en-US" altLang="x-none" sz="2800" b="1" i="1" dirty="0">
                        <a:solidFill>
                          <a:srgbClr val="C00000"/>
                        </a:solidFill>
                        <a:latin typeface="Cambria Math" panose="02040503050406030204" charset="0"/>
                        <a:cs typeface="Cambria Math" panose="02040503050406030204" charset="0"/>
                      </a:rPr>
                      <m:t>𝑺</m:t>
                    </m:r>
                    <m:r>
                      <a:rPr lang="en-US" altLang="x-none" sz="2800" b="1" i="1" dirty="0">
                        <a:solidFill>
                          <a:srgbClr val="C00000"/>
                        </a:solidFill>
                        <a:latin typeface="Cambria Math" panose="02040503050406030204" charset="0"/>
                        <a:ea typeface="MS Mincho" charset="0"/>
                        <a:cs typeface="Cambria Math" panose="02040503050406030204" charset="0"/>
                      </a:rPr>
                      <m:t>))</m:t>
                    </m:r>
                  </m:oMath>
                </a14:m>
                <a:endParaRPr lang="en-US" altLang="x-none" sz="2800" b="1" i="1" dirty="0">
                  <a:solidFill>
                    <a:srgbClr val="C00000"/>
                  </a:solidFill>
                  <a:latin typeface="Cambria Math" panose="02040503050406030204" charset="0"/>
                  <a:ea typeface="MS Mincho" charset="0"/>
                  <a:cs typeface="Cambria Math" panose="02040503050406030204" charset="0"/>
                </a:endParaRPr>
              </a:p>
              <a:p>
                <a:pPr lvl="2" indent="-457200" fontAlgn="auto">
                  <a:lnSpc>
                    <a:spcPct val="100000"/>
                  </a:lnSpc>
                  <a:spcBef>
                    <a:spcPct val="0"/>
                  </a:spcBef>
                  <a:spcAft>
                    <a:spcPct val="0"/>
                  </a:spcAft>
                  <a:buClr>
                    <a:srgbClr val="C00000"/>
                  </a:buClr>
                  <a:buSzPct val="85000"/>
                  <a:buFont typeface="Wingdings" panose="05000000000000000000" charset="0"/>
                  <a:buChar char="Ø"/>
                </a:pPr>
                <a:r>
                  <a:rPr lang="zh-CN" altLang="en-US" sz="2800" b="1">
                    <a:solidFill>
                      <a:srgbClr val="1F2DA8"/>
                    </a:solidFill>
                    <a:latin typeface="楷体" panose="02010609060101010101" charset="-122"/>
                    <a:ea typeface="楷体" panose="02010609060101010101" charset="-122"/>
                  </a:rPr>
                  <a:t>本查询可表示为：</a:t>
                </a:r>
                <a14:m>
                  <m:oMath xmlns:m="http://schemas.openxmlformats.org/officeDocument/2006/math">
                    <m:sSub>
                      <m:sSubPr>
                        <m:ctrlPr>
                          <a:rPr lang="en-US" altLang="x-none" sz="2800" b="1" i="1" dirty="0">
                            <a:solidFill>
                              <a:srgbClr val="C00000"/>
                            </a:solidFill>
                            <a:latin typeface="Cambria Math" panose="02040503050406030204" pitchFamily="18" charset="0"/>
                            <a:ea typeface="MS Mincho" charset="0"/>
                            <a:cs typeface="Cambria Math" panose="02040503050406030204" charset="0"/>
                          </a:rPr>
                        </m:ctrlPr>
                      </m:sSubPr>
                      <m:e>
                        <m:r>
                          <a:rPr lang="en-US" altLang="x-none" sz="2800" b="1" i="1" dirty="0">
                            <a:solidFill>
                              <a:srgbClr val="C00000"/>
                            </a:solidFill>
                            <a:latin typeface="Cambria Math" panose="02040503050406030204" charset="0"/>
                            <a:ea typeface="MS Mincho" charset="0"/>
                            <a:cs typeface="Cambria Math" panose="02040503050406030204" charset="0"/>
                          </a:rPr>
                          <m:t>𝝅</m:t>
                        </m:r>
                      </m:e>
                      <m:sub>
                        <m:r>
                          <a:rPr lang="en-US" altLang="x-none" sz="2800" b="1" i="1" dirty="0">
                            <a:solidFill>
                              <a:srgbClr val="C00000"/>
                            </a:solidFill>
                            <a:latin typeface="Cambria Math" panose="02040503050406030204" charset="0"/>
                            <a:ea typeface="MS Mincho" charset="0"/>
                            <a:cs typeface="Cambria Math" panose="02040503050406030204" charset="0"/>
                          </a:rPr>
                          <m:t>𝑪</m:t>
                        </m:r>
                        <m:r>
                          <a:rPr lang="en-US" altLang="x-none" sz="2800" b="1" i="1" dirty="0">
                            <a:solidFill>
                              <a:srgbClr val="C00000"/>
                            </a:solidFill>
                            <a:latin typeface="Cambria Math" panose="02040503050406030204" charset="0"/>
                            <a:ea typeface="MS Mincho" charset="0"/>
                            <a:cs typeface="Cambria Math" panose="02040503050406030204" charset="0"/>
                          </a:rPr>
                          <m:t>.</m:t>
                        </m:r>
                        <m:r>
                          <a:rPr lang="en-US" altLang="x-none" sz="2800" b="1" i="1" dirty="0">
                            <a:solidFill>
                              <a:srgbClr val="C00000"/>
                            </a:solidFill>
                            <a:latin typeface="Cambria Math" panose="02040503050406030204" charset="0"/>
                            <a:ea typeface="MS Mincho" charset="0"/>
                            <a:cs typeface="Cambria Math" panose="02040503050406030204" charset="0"/>
                          </a:rPr>
                          <m:t>𝒄𝒏𝒂𝒎𝒆</m:t>
                        </m:r>
                        <m:r>
                          <a:rPr lang="en-US" altLang="x-none" sz="2800" b="1" i="1" dirty="0">
                            <a:solidFill>
                              <a:srgbClr val="C00000"/>
                            </a:solidFill>
                            <a:latin typeface="Cambria Math" panose="02040503050406030204" charset="0"/>
                            <a:ea typeface="MS Mincho" charset="0"/>
                            <a:cs typeface="Cambria Math" panose="02040503050406030204" charset="0"/>
                          </a:rPr>
                          <m:t> </m:t>
                        </m:r>
                      </m:sub>
                    </m:sSub>
                    <m:r>
                      <a:rPr lang="en-US" altLang="x-none" sz="2800" b="1" i="1" dirty="0">
                        <a:solidFill>
                          <a:srgbClr val="C00000"/>
                        </a:solidFill>
                        <a:latin typeface="Cambria Math" panose="02040503050406030204" charset="0"/>
                        <a:ea typeface="MS Mincho" charset="0"/>
                        <a:cs typeface="Cambria Math" panose="02040503050406030204" charset="0"/>
                      </a:rPr>
                      <m:t>(</m:t>
                    </m:r>
                    <m:sSub>
                      <m:sSubPr>
                        <m:ctrlPr>
                          <a:rPr lang="en-US" altLang="x-none" sz="2800" b="1" i="1" dirty="0">
                            <a:solidFill>
                              <a:srgbClr val="C00000"/>
                            </a:solidFill>
                            <a:latin typeface="Cambria Math" panose="02040503050406030204" pitchFamily="18" charset="0"/>
                            <a:ea typeface="MS Mincho" charset="0"/>
                            <a:cs typeface="Cambria Math" panose="02040503050406030204" charset="0"/>
                          </a:rPr>
                        </m:ctrlPr>
                      </m:sSubPr>
                      <m:e>
                        <m:r>
                          <a:rPr lang="en-US" altLang="x-none" sz="2800" b="1" i="1" dirty="0">
                            <a:solidFill>
                              <a:srgbClr val="C00000"/>
                            </a:solidFill>
                            <a:latin typeface="Cambria Math" panose="02040503050406030204" charset="0"/>
                            <a:ea typeface="MS Mincho" charset="0"/>
                            <a:cs typeface="Cambria Math" panose="02040503050406030204" charset="0"/>
                          </a:rPr>
                          <m:t>𝝈</m:t>
                        </m:r>
                      </m:e>
                      <m:sub>
                        <m:r>
                          <a:rPr lang="en-US" altLang="x-none" sz="2800" b="1" i="1" dirty="0">
                            <a:solidFill>
                              <a:srgbClr val="C00000"/>
                            </a:solidFill>
                            <a:latin typeface="Cambria Math" panose="02040503050406030204" charset="0"/>
                            <a:ea typeface="MS Mincho" charset="0"/>
                            <a:cs typeface="Cambria Math" panose="02040503050406030204" charset="0"/>
                          </a:rPr>
                          <m:t>𝑪</m:t>
                        </m:r>
                        <m:r>
                          <a:rPr lang="en-US" altLang="x-none" sz="2800" b="1" i="1" dirty="0">
                            <a:solidFill>
                              <a:srgbClr val="C00000"/>
                            </a:solidFill>
                            <a:latin typeface="Cambria Math" panose="02040503050406030204" charset="0"/>
                            <a:ea typeface="MS Mincho" charset="0"/>
                            <a:cs typeface="Cambria Math" panose="02040503050406030204" charset="0"/>
                          </a:rPr>
                          <m:t>.</m:t>
                        </m:r>
                        <m:r>
                          <a:rPr lang="en-US" altLang="x-none" sz="2800" b="1" i="1" dirty="0">
                            <a:solidFill>
                              <a:srgbClr val="C00000"/>
                            </a:solidFill>
                            <a:latin typeface="Cambria Math" panose="02040503050406030204" charset="0"/>
                            <a:ea typeface="MS Mincho" charset="0"/>
                            <a:cs typeface="Cambria Math" panose="02040503050406030204" charset="0"/>
                          </a:rPr>
                          <m:t>𝒄𝒊𝒅</m:t>
                        </m:r>
                        <m:r>
                          <a:rPr lang="en-US" altLang="x-none" sz="2800" b="1" i="1" dirty="0">
                            <a:solidFill>
                              <a:srgbClr val="C00000"/>
                            </a:solidFill>
                            <a:latin typeface="Cambria Math" panose="02040503050406030204" charset="0"/>
                            <a:ea typeface="MS Mincho" charset="0"/>
                            <a:cs typeface="Cambria Math" panose="02040503050406030204" charset="0"/>
                          </a:rPr>
                          <m:t> = </m:t>
                        </m:r>
                        <m:r>
                          <a:rPr lang="en-US" altLang="x-none" sz="2800" b="1" i="1" dirty="0">
                            <a:solidFill>
                              <a:srgbClr val="C00000"/>
                            </a:solidFill>
                            <a:latin typeface="Cambria Math" panose="02040503050406030204" charset="0"/>
                            <a:ea typeface="MS Mincho" charset="0"/>
                            <a:cs typeface="Cambria Math" panose="02040503050406030204" charset="0"/>
                          </a:rPr>
                          <m:t>𝑻</m:t>
                        </m:r>
                        <m:r>
                          <a:rPr lang="en-US" altLang="x-none" sz="2800" b="1" i="1" dirty="0">
                            <a:solidFill>
                              <a:srgbClr val="C00000"/>
                            </a:solidFill>
                            <a:latin typeface="Cambria Math" panose="02040503050406030204" charset="0"/>
                            <a:ea typeface="MS Mincho" charset="0"/>
                            <a:cs typeface="Cambria Math" panose="02040503050406030204" charset="0"/>
                          </a:rPr>
                          <m:t>.</m:t>
                        </m:r>
                        <m:r>
                          <a:rPr lang="en-US" altLang="x-none" sz="2800" b="1" i="1" dirty="0">
                            <a:solidFill>
                              <a:srgbClr val="C00000"/>
                            </a:solidFill>
                            <a:latin typeface="Cambria Math" panose="02040503050406030204" charset="0"/>
                            <a:ea typeface="MS Mincho" charset="0"/>
                            <a:cs typeface="Cambria Math" panose="02040503050406030204" charset="0"/>
                          </a:rPr>
                          <m:t>𝒄𝒊𝒅</m:t>
                        </m:r>
                        <m:r>
                          <a:rPr lang="en-US" altLang="x-none" sz="2800" b="1" i="1" dirty="0">
                            <a:solidFill>
                              <a:srgbClr val="C00000"/>
                            </a:solidFill>
                            <a:latin typeface="Cambria Math" panose="02040503050406030204" charset="0"/>
                            <a:ea typeface="MS Mincho" charset="0"/>
                            <a:cs typeface="Cambria Math" panose="02040503050406030204" charset="0"/>
                          </a:rPr>
                          <m:t> </m:t>
                        </m:r>
                      </m:sub>
                    </m:sSub>
                    <m:r>
                      <a:rPr lang="en-US" altLang="x-none" sz="2800" b="1" i="1" dirty="0">
                        <a:solidFill>
                          <a:srgbClr val="C00000"/>
                        </a:solidFill>
                        <a:latin typeface="Cambria Math" panose="02040503050406030204" charset="0"/>
                        <a:ea typeface="MS Mincho" charset="0"/>
                        <a:cs typeface="Cambria Math" panose="02040503050406030204" charset="0"/>
                      </a:rPr>
                      <m:t>(</m:t>
                    </m:r>
                    <m:r>
                      <a:rPr lang="en-US" altLang="x-none" sz="2800" b="1" i="1" dirty="0">
                        <a:solidFill>
                          <a:srgbClr val="C00000"/>
                        </a:solidFill>
                        <a:latin typeface="Cambria Math" panose="02040503050406030204" charset="0"/>
                        <a:ea typeface="MS Mincho" charset="0"/>
                        <a:cs typeface="Cambria Math" panose="02040503050406030204" charset="0"/>
                      </a:rPr>
                      <m:t>𝑪</m:t>
                    </m:r>
                    <m:r>
                      <a:rPr lang="en-US" altLang="x-none" sz="2800" b="1" i="1" dirty="0">
                        <a:solidFill>
                          <a:srgbClr val="C00000"/>
                        </a:solidFill>
                        <a:latin typeface="Cambria Math" panose="02040503050406030204" charset="0"/>
                        <a:ea typeface="MS Mincho" charset="0"/>
                        <a:cs typeface="Cambria Math" panose="02040503050406030204" charset="0"/>
                      </a:rPr>
                      <m:t>×</m:t>
                    </m:r>
                    <m:r>
                      <a:rPr lang="en-US" altLang="x-none" sz="2800" b="1" i="1" dirty="0">
                        <a:solidFill>
                          <a:srgbClr val="C00000"/>
                        </a:solidFill>
                        <a:latin typeface="Cambria Math" panose="02040503050406030204" charset="0"/>
                        <a:ea typeface="MS Mincho" charset="0"/>
                        <a:cs typeface="Cambria Math" panose="02040503050406030204" charset="0"/>
                      </a:rPr>
                      <m:t>𝑻</m:t>
                    </m:r>
                    <m:r>
                      <a:rPr lang="en-US" altLang="x-none" sz="2800" b="1" i="1" dirty="0">
                        <a:solidFill>
                          <a:srgbClr val="C00000"/>
                        </a:solidFill>
                        <a:latin typeface="Cambria Math" panose="02040503050406030204" charset="0"/>
                        <a:ea typeface="MS Mincho" charset="0"/>
                        <a:cs typeface="Cambria Math" panose="02040503050406030204" charset="0"/>
                      </a:rPr>
                      <m:t>))</m:t>
                    </m:r>
                  </m:oMath>
                </a14:m>
                <a:endParaRPr lang="en-US" altLang="x-none" sz="2800" b="1" i="1" dirty="0">
                  <a:solidFill>
                    <a:srgbClr val="C00000"/>
                  </a:solidFill>
                  <a:latin typeface="Cambria Math" panose="02040503050406030204" charset="0"/>
                  <a:ea typeface="MS Mincho" charset="0"/>
                  <a:cs typeface="Cambria Math" panose="02040503050406030204"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24180" y="4547870"/>
                <a:ext cx="11303000" cy="1383665"/>
              </a:xfrm>
              <a:prstGeom prst="rect">
                <a:avLst/>
              </a:prstGeom>
              <a:blipFill rotWithShape="1">
                <a:blip r:embed="rId6"/>
                <a:stretch>
                  <a:fillRect/>
                </a:stretch>
              </a:blipFill>
            </p:spPr>
            <p:txBody>
              <a:bodyPr/>
              <a:lstStyle/>
              <a:p>
                <a:r>
                  <a:rPr lang="zh-CN" altLang="en-US">
                    <a:noFill/>
                  </a:rPr>
                  <a:t> </a:t>
                </a:r>
              </a:p>
            </p:txBody>
          </p:sp>
        </mc:Fallback>
      </mc:AlternateContent>
      <p:sp>
        <p:nvSpPr>
          <p:cNvPr id="5" name="文本框 4"/>
          <p:cNvSpPr txBox="1"/>
          <p:nvPr/>
        </p:nvSpPr>
        <p:spPr>
          <a:xfrm>
            <a:off x="464185" y="6075045"/>
            <a:ext cx="11303000" cy="521970"/>
          </a:xfrm>
          <a:prstGeom prst="rect">
            <a:avLst/>
          </a:prstGeom>
          <a:solidFill>
            <a:schemeClr val="accent3">
              <a:lumMod val="20000"/>
              <a:lumOff val="80000"/>
              <a:alpha val="50000"/>
            </a:schemeClr>
          </a:solidFill>
          <a:ln>
            <a:solidFill>
              <a:schemeClr val="accent1"/>
            </a:solidFill>
          </a:ln>
        </p:spPr>
        <p:txBody>
          <a:bodyPr wrap="square" rtlCol="0">
            <a:noAutofit/>
          </a:bodyPr>
          <a:lstStyle/>
          <a:p>
            <a:pPr marL="457200" indent="-457200" fontAlgn="auto">
              <a:lnSpc>
                <a:spcPct val="100000"/>
              </a:lnSpc>
              <a:spcBef>
                <a:spcPct val="0"/>
              </a:spcBef>
              <a:spcAft>
                <a:spcPct val="0"/>
              </a:spcAft>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rPr>
              <a:t>要点：在减数和被减数关系中，必须含目标对象的码！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4" grpId="0"/>
      <p:bldP spid="5"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mj-ea"/>
              <a:buAutoNum type="ea1JpnChsDbPeriod" startAt="4"/>
            </a:pPr>
            <a:r>
              <a:rPr lang="zh-CN" altLang="en-US">
                <a:sym typeface="+mn-ea"/>
              </a:rPr>
              <a:t>关系代数基本运算小结</a:t>
            </a:r>
            <a:r>
              <a:rPr lang="en-US" altLang="zh-CN">
                <a:sym typeface="+mn-ea"/>
              </a:rPr>
              <a:t> 1</a:t>
            </a:r>
            <a:endParaRPr lang="zh-CN" altLang="en-US"/>
          </a:p>
        </p:txBody>
      </p:sp>
      <p:sp>
        <p:nvSpPr>
          <p:cNvPr id="5" name="内容占位符 4"/>
          <p:cNvSpPr>
            <a:spLocks noGrp="1"/>
          </p:cNvSpPr>
          <p:nvPr>
            <p:ph idx="1"/>
          </p:nvPr>
        </p:nvSpPr>
        <p:spPr/>
        <p:txBody>
          <a:bodyPr/>
          <a:lstStyle/>
          <a:p>
            <a:r>
              <a:rPr lang="zh-CN" altLang="en-US"/>
              <a:t>关系代数的基本运算</a:t>
            </a:r>
          </a:p>
          <a:p>
            <a:pPr lvl="1"/>
            <a:r>
              <a:rPr lang="zh-CN" altLang="en-US"/>
              <a:t>并，差，笛卡尔积，选择，投影</a:t>
            </a:r>
          </a:p>
          <a:p>
            <a:pPr lvl="1"/>
            <a:r>
              <a:rPr lang="zh-CN" altLang="en-US"/>
              <a:t>每个运算的运算提前、运算结果（结果关系模式和结果元组）</a:t>
            </a:r>
          </a:p>
          <a:p>
            <a:pPr lvl="1"/>
            <a:endParaRPr lang="zh-CN" altLang="en-US"/>
          </a:p>
          <a:p>
            <a:r>
              <a:rPr lang="zh-CN" altLang="en-US"/>
              <a:t>关系代数基本运算的应用</a:t>
            </a:r>
          </a:p>
          <a:p>
            <a:pPr lvl="1"/>
            <a:r>
              <a:rPr lang="zh-CN" altLang="en-US"/>
              <a:t>如何正确书写关系代数表达式</a:t>
            </a:r>
          </a:p>
          <a:p>
            <a:pPr lvl="1"/>
            <a:r>
              <a:rPr lang="zh-CN" altLang="en-US"/>
              <a:t>熟悉每一种运算符的使用场景和需要注意的重点</a:t>
            </a:r>
          </a:p>
          <a:p>
            <a:pPr lvl="2"/>
            <a:r>
              <a:rPr lang="zh-CN" altLang="en-US"/>
              <a:t>并、差运算的使用前提</a:t>
            </a:r>
          </a:p>
          <a:p>
            <a:pPr lvl="2"/>
            <a:r>
              <a:rPr lang="zh-CN" altLang="en-US"/>
              <a:t>单个关系上的数据查询：选择与投影运算的调用顺序</a:t>
            </a:r>
          </a:p>
          <a:p>
            <a:pPr lvl="2"/>
            <a:r>
              <a:rPr lang="zh-CN" altLang="en-US"/>
              <a:t>何时需要使用笛卡尔积？笛卡尔积的运算结果是什么？</a:t>
            </a:r>
          </a:p>
          <a:p>
            <a:pPr lvl="2"/>
            <a:r>
              <a:rPr lang="zh-CN" altLang="en-US"/>
              <a:t>何时需要使用差运算？在使用差运算时需要注意什么？</a:t>
            </a:r>
          </a:p>
        </p:txBody>
      </p:sp>
      <p:sp>
        <p:nvSpPr>
          <p:cNvPr id="3" name="页脚占位符 2"/>
          <p:cNvSpPr>
            <a:spLocks noGrp="1"/>
          </p:cNvSpPr>
          <p:nvPr>
            <p:ph type="ftr" sz="quarter" idx="11"/>
          </p:nvPr>
        </p:nvSpPr>
        <p:spPr>
          <a:xfrm>
            <a:off x="0" y="6695365"/>
            <a:ext cx="4114800" cy="153670"/>
          </a:xfrm>
        </p:spPr>
        <p:txBody>
          <a:bodyPr/>
          <a:lstStyle/>
          <a:p>
            <a:r>
              <a:rPr lang="zh-CN" altLang="en-US"/>
              <a:t>ch02_2_关系代数基本运算</a:t>
            </a:r>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91</a:t>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mj-ea"/>
              <a:buAutoNum type="ea1JpnChsDbPeriod" startAt="4"/>
            </a:pPr>
            <a:r>
              <a:rPr lang="zh-CN" altLang="en-US"/>
              <a:t>关系代数基本运算小结</a:t>
            </a:r>
            <a:r>
              <a:rPr lang="en-US" altLang="zh-CN"/>
              <a:t> 2</a:t>
            </a:r>
          </a:p>
        </p:txBody>
      </p:sp>
      <p:sp>
        <p:nvSpPr>
          <p:cNvPr id="4" name="页脚占位符 3"/>
          <p:cNvSpPr>
            <a:spLocks noGrp="1"/>
          </p:cNvSpPr>
          <p:nvPr>
            <p:ph type="ftr" sz="quarter" idx="11"/>
          </p:nvPr>
        </p:nvSpPr>
        <p:spPr>
          <a:xfrm>
            <a:off x="0" y="6695365"/>
            <a:ext cx="4114800" cy="153670"/>
          </a:xfrm>
        </p:spPr>
        <p:txBody>
          <a:bodyPr/>
          <a:lstStyle/>
          <a:p>
            <a:r>
              <a:rPr lang="zh-CN" altLang="en-US"/>
              <a:t>ch02_2_关系代数基本运算</a:t>
            </a:r>
          </a:p>
        </p:txBody>
      </p:sp>
      <p:sp>
        <p:nvSpPr>
          <p:cNvPr id="5" name="灯片编号占位符 4"/>
          <p:cNvSpPr>
            <a:spLocks noGrp="1"/>
          </p:cNvSpPr>
          <p:nvPr>
            <p:ph type="sldNum" sz="quarter" idx="12"/>
          </p:nvPr>
        </p:nvSpPr>
        <p:spPr>
          <a:xfrm>
            <a:off x="11461115" y="6696000"/>
            <a:ext cx="730885" cy="153670"/>
          </a:xfrm>
        </p:spPr>
        <p:txBody>
          <a:bodyPr/>
          <a:lstStyle/>
          <a:p>
            <a:fld id="{565CE74E-AB26-4998-AD42-012C4C1AD076}" type="slidenum">
              <a:rPr lang="zh-CN" altLang="en-US" smtClean="0"/>
              <a:t>92</a:t>
            </a:fld>
            <a:endParaRPr lang="zh-CN" altLang="en-US"/>
          </a:p>
        </p:txBody>
      </p:sp>
      <mc:AlternateContent xmlns:mc="http://schemas.openxmlformats.org/markup-compatibility/2006" xmlns:a14="http://schemas.microsoft.com/office/drawing/2010/main">
        <mc:Choice Requires="a14">
          <p:graphicFrame>
            <p:nvGraphicFramePr>
              <p:cNvPr id="6" name="表格 5"/>
              <p:cNvGraphicFramePr/>
              <p:nvPr>
                <p:custDataLst>
                  <p:tags r:id="rId1"/>
                </p:custDataLst>
              </p:nvPr>
            </p:nvGraphicFramePr>
            <p:xfrm>
              <a:off x="424180" y="687070"/>
              <a:ext cx="11344275" cy="5067935"/>
            </p:xfrm>
            <a:graphic>
              <a:graphicData uri="http://schemas.openxmlformats.org/drawingml/2006/table">
                <a:tbl>
                  <a:tblPr firstRow="1" bandRow="1">
                    <a:tableStyleId>{5C22544A-7EE6-4342-B048-85BDC9FD1C3A}</a:tableStyleId>
                  </a:tblPr>
                  <a:tblGrid>
                    <a:gridCol w="1206500">
                      <a:extLst>
                        <a:ext uri="{9D8B030D-6E8A-4147-A177-3AD203B41FA5}">
                          <a16:colId xmlns:a16="http://schemas.microsoft.com/office/drawing/2014/main" val="20000"/>
                        </a:ext>
                      </a:extLst>
                    </a:gridCol>
                    <a:gridCol w="3578860">
                      <a:extLst>
                        <a:ext uri="{9D8B030D-6E8A-4147-A177-3AD203B41FA5}">
                          <a16:colId xmlns:a16="http://schemas.microsoft.com/office/drawing/2014/main" val="20001"/>
                        </a:ext>
                      </a:extLst>
                    </a:gridCol>
                    <a:gridCol w="2981960">
                      <a:extLst>
                        <a:ext uri="{9D8B030D-6E8A-4147-A177-3AD203B41FA5}">
                          <a16:colId xmlns:a16="http://schemas.microsoft.com/office/drawing/2014/main" val="20002"/>
                        </a:ext>
                      </a:extLst>
                    </a:gridCol>
                    <a:gridCol w="3576955">
                      <a:extLst>
                        <a:ext uri="{9D8B030D-6E8A-4147-A177-3AD203B41FA5}">
                          <a16:colId xmlns:a16="http://schemas.microsoft.com/office/drawing/2014/main" val="20003"/>
                        </a:ext>
                      </a:extLst>
                    </a:gridCol>
                  </a:tblGrid>
                  <a:tr h="563245">
                    <a:tc>
                      <a:txBody>
                        <a:bodyPr/>
                        <a:lstStyle/>
                        <a:p>
                          <a:pPr algn="ctr">
                            <a:buNone/>
                          </a:pPr>
                          <a:r>
                            <a:rPr lang="zh-CN" altLang="en-US" sz="2400" b="1">
                              <a:solidFill>
                                <a:schemeClr val="tx1"/>
                              </a:solidFill>
                              <a:latin typeface="楷体" panose="02010609060101010101" charset="-122"/>
                              <a:ea typeface="楷体" panose="02010609060101010101" charset="-122"/>
                            </a:rPr>
                            <a:t>运算</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运算前提</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结果关系模式</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结果关系</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extLst>
                      <a:ext uri="{0D108BD9-81ED-4DB2-BD59-A6C34878D82A}">
                        <a16:rowId xmlns:a16="http://schemas.microsoft.com/office/drawing/2014/main" val="10000"/>
                      </a:ext>
                    </a:extLst>
                  </a:tr>
                  <a:tr h="563245">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2">
                      <a:txBody>
                        <a:bodyPr/>
                        <a:lstStyle/>
                        <a:p>
                          <a:pPr>
                            <a:buNone/>
                          </a:pP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和</a:t>
                          </a:r>
                          <a:r>
                            <a:rPr lang="en-US" altLang="zh-CN" sz="2400" b="1">
                              <a:solidFill>
                                <a:srgbClr val="C00000"/>
                              </a:solidFill>
                              <a:latin typeface="楷体" panose="02010609060101010101" charset="-122"/>
                              <a:ea typeface="楷体" panose="02010609060101010101" charset="-122"/>
                            </a:rPr>
                            <a:t>S</a:t>
                          </a:r>
                          <a:r>
                            <a:rPr lang="zh-CN" altLang="en-US" sz="2400" b="1">
                              <a:solidFill>
                                <a:srgbClr val="C00000"/>
                              </a:solidFill>
                              <a:latin typeface="楷体" panose="02010609060101010101" charset="-122"/>
                              <a:ea typeface="楷体" panose="02010609060101010101" charset="-122"/>
                            </a:rPr>
                            <a:t>必须是同类关系</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2">
                      <a:txBody>
                        <a:bodyPr/>
                        <a:lstStyle/>
                        <a:p>
                          <a:pPr>
                            <a:buNone/>
                          </a:pPr>
                          <a:r>
                            <a:rPr lang="zh-CN" altLang="en-US" sz="2400" b="1">
                              <a:solidFill>
                                <a:srgbClr val="1F2DA8"/>
                              </a:solidFill>
                              <a:latin typeface="楷体" panose="02010609060101010101" charset="-122"/>
                              <a:ea typeface="楷体" panose="02010609060101010101" charset="-122"/>
                              <a:sym typeface="+mn-ea"/>
                            </a:rPr>
                            <a:t>与关系</a:t>
                          </a:r>
                          <a:r>
                            <a:rPr lang="en-US" altLang="zh-CN" sz="2400" b="1">
                              <a:solidFill>
                                <a:srgbClr val="1F2DA8"/>
                              </a:solidFill>
                              <a:latin typeface="楷体" panose="02010609060101010101" charset="-122"/>
                              <a:ea typeface="楷体" panose="02010609060101010101" charset="-122"/>
                              <a:sym typeface="+mn-ea"/>
                            </a:rPr>
                            <a:t>R</a:t>
                          </a:r>
                          <a:r>
                            <a:rPr lang="zh-CN" altLang="en-US" sz="2400" b="1">
                              <a:solidFill>
                                <a:srgbClr val="1F2DA8"/>
                              </a:solidFill>
                              <a:latin typeface="楷体" panose="02010609060101010101" charset="-122"/>
                              <a:ea typeface="楷体" panose="02010609060101010101" charset="-122"/>
                              <a:sym typeface="+mn-ea"/>
                            </a:rPr>
                            <a:t>（或关系</a:t>
                          </a:r>
                          <a:r>
                            <a:rPr lang="en-US" altLang="zh-CN" sz="2400" b="1">
                              <a:solidFill>
                                <a:srgbClr val="1F2DA8"/>
                              </a:solidFill>
                              <a:latin typeface="楷体" panose="02010609060101010101" charset="-122"/>
                              <a:ea typeface="楷体" panose="02010609060101010101" charset="-122"/>
                              <a:sym typeface="+mn-ea"/>
                            </a:rPr>
                            <a:t>S</a:t>
                          </a:r>
                          <a:r>
                            <a:rPr lang="zh-CN" altLang="en-US" sz="2400" b="1">
                              <a:solidFill>
                                <a:srgbClr val="1F2DA8"/>
                              </a:solidFill>
                              <a:latin typeface="楷体" panose="02010609060101010101" charset="-122"/>
                              <a:ea typeface="楷体" panose="02010609060101010101" charset="-122"/>
                              <a:sym typeface="+mn-ea"/>
                            </a:rPr>
                            <a:t>）的模式相同</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dirty="0">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rPr>
                                  <m:t> </m:t>
                                </m:r>
                                <m:r>
                                  <a:rPr lang="en-US" altLang="zh-CN" sz="2400" b="1" dirty="0" err="1">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𝑹</m:t>
                                </m:r>
                                <m:r>
                                  <a:rPr lang="en-US" altLang="zh-CN" sz="2400" b="1" i="1" dirty="0" err="1">
                                    <a:solidFill>
                                      <a:srgbClr val="1F2DA8"/>
                                    </a:solidFill>
                                    <a:latin typeface="Cambria Math" panose="02040503050406030204" charset="0"/>
                                    <a:cs typeface="Cambria Math" panose="02040503050406030204" charset="0"/>
                                  </a:rPr>
                                  <m:t> </m:t>
                                </m:r>
                                <m:r>
                                  <a:rPr lang="en-US" altLang="zh-CN" sz="2400" b="1" dirty="0" err="1">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a:solidFill>
                                      <a:srgbClr val="1F2DA8"/>
                                    </a:solidFill>
                                    <a:latin typeface="Cambria Math" panose="02040503050406030204" charset="0"/>
                                    <a:cs typeface="Cambria Math" panose="02040503050406030204" charset="0"/>
                                  </a:rPr>
                                  <m:t>𝑺</m:t>
                                </m:r>
                                <m:r>
                                  <a:rPr lang="en-US" altLang="zh-CN" sz="2400" b="1" i="1" dirty="0">
                                    <a:solidFill>
                                      <a:srgbClr val="1F2DA8"/>
                                    </a:solidFill>
                                    <a:latin typeface="Cambria Math" panose="02040503050406030204" charset="0"/>
                                    <a:cs typeface="Cambria Math" panose="02040503050406030204" charset="0"/>
                                  </a:rPr>
                                  <m:t> </m:t>
                                </m:r>
                                <m:r>
                                  <a:rPr lang="en-US" altLang="zh-CN" sz="2400" b="1" dirty="0">
                                    <a:solidFill>
                                      <a:srgbClr val="1F2DA8"/>
                                    </a:solidFill>
                                    <a:latin typeface="Cambria Math" panose="02040503050406030204" charset="0"/>
                                    <a:ea typeface="MS Mincho" charset="0"/>
                                    <a:cs typeface="Cambria Math" panose="02040503050406030204" charset="0"/>
                                  </a:rPr>
                                  <m:t>}</m:t>
                                </m:r>
                              </m:oMath>
                            </m:oMathPara>
                          </a14:m>
                          <a:endParaRPr lang="en-US" altLang="zh-CN" sz="2400" b="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563245">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dirty="0">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rPr>
                                  <m:t> </m:t>
                                </m:r>
                                <m:r>
                                  <a:rPr lang="en-US" altLang="zh-CN" sz="2400" b="1" dirty="0" err="1">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𝑹</m:t>
                                </m:r>
                                <m:r>
                                  <a:rPr lang="en-US" altLang="zh-CN" sz="2400" b="1" dirty="0" err="1">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𝑺</m:t>
                                </m:r>
                                <m:r>
                                  <a:rPr lang="en-US" altLang="zh-CN" sz="2400" b="1" dirty="0">
                                    <a:solidFill>
                                      <a:srgbClr val="1F2DA8"/>
                                    </a:solidFill>
                                    <a:latin typeface="Cambria Math" panose="02040503050406030204" charset="0"/>
                                    <a:ea typeface="MS Mincho" charset="0"/>
                                    <a:cs typeface="Cambria Math" panose="02040503050406030204" charset="0"/>
                                  </a:rPr>
                                  <m:t> }</m:t>
                                </m:r>
                              </m:oMath>
                            </m:oMathPara>
                          </a14:m>
                          <a:endParaRPr lang="en-US" altLang="zh-CN" sz="2400" b="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380364">
                    <a:tc>
                      <a:txBody>
                        <a:bodyPr/>
                        <a:lstStyle/>
                        <a:p>
                          <a:pPr algn="ctr">
                            <a:buNone/>
                          </a:pPr>
                          <a14:m>
                            <m:oMathPara xmlns:m="http://schemas.openxmlformats.org/officeDocument/2006/math">
                              <m:oMathParaPr>
                                <m:jc m:val="centerGroup"/>
                              </m:oMathParaPr>
                              <m:oMath xmlns:m="http://schemas.openxmlformats.org/officeDocument/2006/math">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𝑺</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C00000"/>
                              </a:solidFill>
                              <a:latin typeface="楷体" panose="02010609060101010101" charset="-122"/>
                              <a:ea typeface="楷体" panose="02010609060101010101" charset="-122"/>
                            </a:rPr>
                            <a:t>任意两个关系</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1F2DA8"/>
                              </a:solidFill>
                              <a:latin typeface="楷体" panose="02010609060101010101" charset="-122"/>
                              <a:ea typeface="楷体" panose="02010609060101010101" charset="-122"/>
                            </a:rPr>
                            <a:t>由关系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和关系</a:t>
                          </a:r>
                          <a:r>
                            <a:rPr lang="en-US" altLang="zh-CN" sz="2400" b="1">
                              <a:solidFill>
                                <a:srgbClr val="1F2DA8"/>
                              </a:solidFill>
                              <a:latin typeface="楷体" panose="02010609060101010101" charset="-122"/>
                              <a:ea typeface="楷体" panose="02010609060101010101" charset="-122"/>
                            </a:rPr>
                            <a:t>S</a:t>
                          </a:r>
                          <a:r>
                            <a:rPr lang="zh-CN" altLang="en-US" sz="2400" b="1">
                              <a:solidFill>
                                <a:srgbClr val="1F2DA8"/>
                              </a:solidFill>
                              <a:latin typeface="楷体" panose="02010609060101010101" charset="-122"/>
                              <a:ea typeface="楷体" panose="02010609060101010101" charset="-122"/>
                            </a:rPr>
                            <a:t>中的所有属性组成</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dirty="0">
                                    <a:solidFill>
                                      <a:srgbClr val="1F2DA8"/>
                                    </a:solidFill>
                                    <a:latin typeface="Cambria Math" panose="02040503050406030204" charset="0"/>
                                    <a:cs typeface="Cambria Math" panose="02040503050406030204" charset="0"/>
                                  </a:rPr>
                                  <m:t>{(</m:t>
                                </m:r>
                                <m:r>
                                  <a:rPr lang="en-US" altLang="zh-CN" sz="2400" b="1" i="1" dirty="0">
                                    <a:solidFill>
                                      <a:srgbClr val="1F2DA8"/>
                                    </a:solidFill>
                                    <a:latin typeface="Cambria Math" panose="02040503050406030204" charset="0"/>
                                    <a:cs typeface="Cambria Math" panose="02040503050406030204" charset="0"/>
                                  </a:rPr>
                                  <m:t>𝒕</m:t>
                                </m:r>
                                <m:r>
                                  <a:rPr lang="en-US" altLang="zh-CN" sz="2400" b="1" baseline="-30000" dirty="0">
                                    <a:solidFill>
                                      <a:srgbClr val="1F2DA8"/>
                                    </a:solidFill>
                                    <a:latin typeface="Cambria Math" panose="02040503050406030204" charset="0"/>
                                    <a:cs typeface="Cambria Math" panose="02040503050406030204" charset="0"/>
                                  </a:rPr>
                                  <m:t>𝐫</m:t>
                                </m:r>
                                <m:r>
                                  <a:rPr lang="en-US" altLang="zh-CN" sz="2400" b="1" dirty="0">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baseline="-30000" dirty="0" err="1">
                                    <a:solidFill>
                                      <a:srgbClr val="1F2DA8"/>
                                    </a:solidFill>
                                    <a:latin typeface="Cambria Math" panose="02040503050406030204" charset="0"/>
                                    <a:cs typeface="Cambria Math" panose="02040503050406030204" charset="0"/>
                                  </a:rPr>
                                  <m:t>𝐬</m:t>
                                </m:r>
                                <m:r>
                                  <a:rPr lang="en-US" altLang="zh-CN" sz="2400" b="1" dirty="0">
                                    <a:solidFill>
                                      <a:srgbClr val="1F2DA8"/>
                                    </a:solidFill>
                                    <a:latin typeface="Cambria Math" panose="02040503050406030204" charset="0"/>
                                    <a:cs typeface="Cambria Math" panose="02040503050406030204" charset="0"/>
                                  </a:rPr>
                                  <m:t>) | </m:t>
                                </m:r>
                                <m:r>
                                  <a:rPr lang="en-US" altLang="zh-CN" sz="2400" b="1" i="1" dirty="0">
                                    <a:solidFill>
                                      <a:srgbClr val="1F2DA8"/>
                                    </a:solidFill>
                                    <a:latin typeface="Cambria Math" panose="02040503050406030204" charset="0"/>
                                    <a:cs typeface="Cambria Math" panose="02040503050406030204" charset="0"/>
                                  </a:rPr>
                                  <m:t>𝒕</m:t>
                                </m:r>
                                <m:r>
                                  <a:rPr lang="en-US" altLang="zh-CN" sz="2400" b="1" baseline="-30000" dirty="0">
                                    <a:solidFill>
                                      <a:srgbClr val="1F2DA8"/>
                                    </a:solidFill>
                                    <a:latin typeface="Cambria Math" panose="02040503050406030204" charset="0"/>
                                    <a:cs typeface="Cambria Math" panose="02040503050406030204" charset="0"/>
                                  </a:rPr>
                                  <m:t>𝐫</m:t>
                                </m:r>
                                <m:r>
                                  <a:rPr lang="en-US" altLang="zh-CN" sz="2400" b="1" dirty="0">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a:solidFill>
                                      <a:srgbClr val="1F2DA8"/>
                                    </a:solidFill>
                                    <a:latin typeface="Cambria Math" panose="02040503050406030204" charset="0"/>
                                    <a:cs typeface="Cambria Math" panose="02040503050406030204" charset="0"/>
                                  </a:rPr>
                                  <m:t>𝑹</m:t>
                                </m:r>
                                <m:r>
                                  <a:rPr lang="en-US" altLang="zh-CN" sz="2400" b="1" dirty="0">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baseline="-30000" dirty="0" err="1">
                                    <a:solidFill>
                                      <a:srgbClr val="1F2DA8"/>
                                    </a:solidFill>
                                    <a:latin typeface="Cambria Math" panose="02040503050406030204" charset="0"/>
                                    <a:cs typeface="Cambria Math" panose="02040503050406030204" charset="0"/>
                                  </a:rPr>
                                  <m:t>𝐬</m:t>
                                </m:r>
                                <m:r>
                                  <a:rPr lang="en-US" altLang="zh-CN" sz="2400" b="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𝑺</m:t>
                                </m:r>
                                <m:r>
                                  <a:rPr lang="en-US" altLang="zh-CN" sz="2400" b="1" dirty="0">
                                    <a:solidFill>
                                      <a:srgbClr val="1F2DA8"/>
                                    </a:solidFill>
                                    <a:latin typeface="Cambria Math" panose="02040503050406030204" charset="0"/>
                                    <a:ea typeface="MS Mincho" charset="0"/>
                                    <a:cs typeface="Cambria Math" panose="02040503050406030204" charset="0"/>
                                  </a:rPr>
                                  <m:t> }</m:t>
                                </m:r>
                              </m:oMath>
                            </m:oMathPara>
                          </a14:m>
                          <a:endParaRPr lang="en-US" altLang="zh-CN" sz="2400" b="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3"/>
                      </a:ext>
                    </a:extLst>
                  </a:tr>
                  <a:tr h="381000">
                    <a:tc>
                      <a:txBody>
                        <a:bodyPr/>
                        <a:lstStyle/>
                        <a:p>
                          <a:pPr algn="ctr">
                            <a:buNone/>
                          </a:pPr>
                          <a14:m>
                            <m:oMathPara xmlns:m="http://schemas.openxmlformats.org/officeDocument/2006/math">
                              <m:oMathParaPr>
                                <m:jc m:val="centerGroup"/>
                              </m:oMathParaPr>
                              <m:oMath xmlns:m="http://schemas.openxmlformats.org/officeDocument/2006/math">
                                <m:sSub>
                                  <m:sSubPr>
                                    <m:ctrlPr>
                                      <a:rPr lang="en-US" altLang="zh-CN" sz="2400" b="1" i="1">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1F2DA8"/>
                                        </a:solidFill>
                                        <a:latin typeface="Cambria Math" panose="02040503050406030204" charset="0"/>
                                        <a:ea typeface="楷体" panose="02010609060101010101" charset="-122"/>
                                        <a:cs typeface="Cambria Math" panose="02040503050406030204" charset="0"/>
                                      </a:rPr>
                                      <m:t>𝝈</m:t>
                                    </m:r>
                                  </m:e>
                                  <m:sub>
                                    <m:r>
                                      <a:rPr lang="en-US" altLang="zh-CN" sz="2400" b="1" i="1">
                                        <a:solidFill>
                                          <a:srgbClr val="1F2DA8"/>
                                        </a:solidFill>
                                        <a:latin typeface="Cambria Math" panose="02040503050406030204" charset="0"/>
                                        <a:ea typeface="楷体" panose="02010609060101010101" charset="-122"/>
                                        <a:cs typeface="Cambria Math" panose="02040503050406030204" charset="0"/>
                                      </a:rPr>
                                      <m:t>𝑭</m:t>
                                    </m:r>
                                  </m:sub>
                                </m:sSub>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C00000"/>
                              </a:solidFill>
                              <a:latin typeface="楷体" panose="02010609060101010101" charset="-122"/>
                              <a:ea typeface="楷体" panose="02010609060101010101" charset="-122"/>
                            </a:rPr>
                            <a:t>选择条件</a:t>
                          </a:r>
                          <a:r>
                            <a:rPr lang="en-US" altLang="zh-CN" sz="2400" b="1">
                              <a:solidFill>
                                <a:srgbClr val="C00000"/>
                              </a:solidFill>
                              <a:latin typeface="楷体" panose="02010609060101010101" charset="-122"/>
                              <a:ea typeface="楷体" panose="02010609060101010101" charset="-122"/>
                            </a:rPr>
                            <a:t>F</a:t>
                          </a:r>
                          <a:r>
                            <a:rPr lang="zh-CN" altLang="en-US" sz="2400" b="1">
                              <a:solidFill>
                                <a:srgbClr val="C00000"/>
                              </a:solidFill>
                              <a:latin typeface="楷体" panose="02010609060101010101" charset="-122"/>
                              <a:ea typeface="楷体" panose="02010609060101010101" charset="-122"/>
                            </a:rPr>
                            <a:t>是一个只能由关系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中的属性名、常量、比较运算符、逻辑运算符组成的逻辑表达式</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1F2DA8"/>
                              </a:solidFill>
                              <a:latin typeface="楷体" panose="02010609060101010101" charset="-122"/>
                              <a:ea typeface="楷体" panose="02010609060101010101" charset="-122"/>
                            </a:rPr>
                            <a:t>与关系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的模式相同</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r>
                                  <a:rPr lang="en-US" altLang="zh-CN" sz="2400" b="1" i="1" dirty="0">
                                    <a:solidFill>
                                      <a:srgbClr val="1F2DA8"/>
                                    </a:solidFill>
                                    <a:latin typeface="Cambria Math" panose="02040503050406030204" charset="0"/>
                                    <a:cs typeface="Cambria Math" panose="02040503050406030204" charset="0"/>
                                  </a:rPr>
                                  <m:t>{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rPr>
                                  <m:t> | </m:t>
                                </m:r>
                                <m:r>
                                  <a:rPr lang="en-US" altLang="zh-CN" sz="2400" b="1" i="1" dirty="0" err="1">
                                    <a:solidFill>
                                      <a:srgbClr val="1F2DA8"/>
                                    </a:solidFill>
                                    <a:latin typeface="Cambria Math" panose="02040503050406030204" charset="0"/>
                                    <a:cs typeface="Cambria Math" panose="02040503050406030204" charset="0"/>
                                  </a:rPr>
                                  <m:t>𝒕</m:t>
                                </m:r>
                                <m:r>
                                  <a:rPr lang="en-US" altLang="zh-CN" sz="2400" b="1" i="1" dirty="0" err="1">
                                    <a:solidFill>
                                      <a:srgbClr val="1F2DA8"/>
                                    </a:solidFill>
                                    <a:latin typeface="Cambria Math" panose="02040503050406030204" charset="0"/>
                                    <a:cs typeface="Cambria Math" panose="02040503050406030204" charset="0"/>
                                    <a:sym typeface="Symbol" panose="05050102010706020507" pitchFamily="2" charset="2"/>
                                  </a:rPr>
                                  <m:t></m:t>
                                </m:r>
                                <m:r>
                                  <a:rPr lang="en-US" altLang="zh-CN" sz="2400" b="1" i="1" dirty="0" err="1">
                                    <a:solidFill>
                                      <a:srgbClr val="1F2DA8"/>
                                    </a:solidFill>
                                    <a:latin typeface="Cambria Math" panose="02040503050406030204" charset="0"/>
                                    <a:cs typeface="Cambria Math" panose="02040503050406030204" charset="0"/>
                                  </a:rPr>
                                  <m:t>𝑹</m:t>
                                </m:r>
                                <m:r>
                                  <a:rPr lang="en-US" altLang="zh-CN" sz="2400" b="1" i="1" dirty="0" err="1">
                                    <a:solidFill>
                                      <a:srgbClr val="1F2DA8"/>
                                    </a:solidFill>
                                    <a:latin typeface="Cambria Math" panose="02040503050406030204" charset="0"/>
                                    <a:cs typeface="Cambria Math" panose="02040503050406030204" charset="0"/>
                                  </a:rPr>
                                  <m:t>∧</m:t>
                                </m:r>
                                <m:r>
                                  <a:rPr lang="en-US" altLang="zh-CN" sz="2400" b="1" i="1" dirty="0" err="1">
                                    <a:solidFill>
                                      <a:srgbClr val="1F2DA8"/>
                                    </a:solidFill>
                                    <a:latin typeface="Cambria Math" panose="02040503050406030204" charset="0"/>
                                    <a:cs typeface="Cambria Math" panose="02040503050406030204" charset="0"/>
                                  </a:rPr>
                                  <m:t>𝑭</m:t>
                                </m:r>
                                <m:r>
                                  <a:rPr lang="en-US" altLang="zh-CN" sz="2400" b="1" i="1" dirty="0">
                                    <a:solidFill>
                                      <a:srgbClr val="1F2DA8"/>
                                    </a:solidFill>
                                    <a:latin typeface="Cambria Math" panose="02040503050406030204" charset="0"/>
                                    <a:cs typeface="Cambria Math" panose="02040503050406030204" charset="0"/>
                                  </a:rPr>
                                  <m:t>(</m:t>
                                </m:r>
                                <m:r>
                                  <a:rPr lang="en-US" altLang="zh-CN" sz="2400" b="1" i="1" dirty="0">
                                    <a:solidFill>
                                      <a:srgbClr val="1F2DA8"/>
                                    </a:solidFill>
                                    <a:latin typeface="Cambria Math" panose="02040503050406030204" charset="0"/>
                                    <a:cs typeface="Cambria Math" panose="02040503050406030204" charset="0"/>
                                  </a:rPr>
                                  <m:t>𝒕</m:t>
                                </m:r>
                                <m:r>
                                  <a:rPr lang="en-US" altLang="zh-CN" sz="2400" b="1" i="1" dirty="0">
                                    <a:solidFill>
                                      <a:srgbClr val="1F2DA8"/>
                                    </a:solidFill>
                                    <a:latin typeface="Cambria Math" panose="02040503050406030204" charset="0"/>
                                    <a:cs typeface="Cambria Math" panose="02040503050406030204" charset="0"/>
                                  </a:rPr>
                                  <m:t>)=</m:t>
                                </m:r>
                                <m:r>
                                  <a:rPr lang="en-US" altLang="zh-CN" sz="2400" b="1" i="1" dirty="0">
                                    <a:solidFill>
                                      <a:srgbClr val="1F2DA8"/>
                                    </a:solidFill>
                                    <a:latin typeface="Cambria Math" panose="02040503050406030204" charset="0"/>
                                    <a:cs typeface="Cambria Math" panose="02040503050406030204" charset="0"/>
                                  </a:rPr>
                                  <m:t>𝒕𝒓𝒖𝒆</m:t>
                                </m:r>
                                <m:r>
                                  <a:rPr lang="en-US" altLang="zh-CN" sz="2400" b="1" i="1" dirty="0">
                                    <a:solidFill>
                                      <a:srgbClr val="1F2DA8"/>
                                    </a:solidFill>
                                    <a:latin typeface="Cambria Math" panose="02040503050406030204" charset="0"/>
                                    <a:ea typeface="MS Mincho" charset="0"/>
                                    <a:cs typeface="Cambria Math" panose="02040503050406030204" charset="0"/>
                                  </a:rPr>
                                  <m:t> }</m:t>
                                </m:r>
                              </m:oMath>
                            </m:oMathPara>
                          </a14:m>
                          <a:endParaRPr lang="en-US" altLang="zh-CN" sz="2400" b="1" i="1" dirty="0">
                            <a:solidFill>
                              <a:srgbClr val="1F2DA8"/>
                            </a:solidFill>
                            <a:latin typeface="Cambria Math" panose="02040503050406030204" charset="0"/>
                            <a:ea typeface="MS Mincho" charset="0"/>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4"/>
                      </a:ext>
                    </a:extLst>
                  </a:tr>
                  <a:tr h="1000760">
                    <a:tc>
                      <a:txBody>
                        <a:bodyPr/>
                        <a:lstStyle/>
                        <a:p>
                          <a:pPr algn="ctr">
                            <a:buNone/>
                          </a:pPr>
                          <a14:m>
                            <m:oMathPara xmlns:m="http://schemas.openxmlformats.org/officeDocument/2006/math">
                              <m:oMathParaPr>
                                <m:jc m:val="centerGroup"/>
                              </m:oMathParaPr>
                              <m:oMath xmlns:m="http://schemas.openxmlformats.org/officeDocument/2006/math">
                                <m:sSub>
                                  <m:sSubPr>
                                    <m:ctrlPr>
                                      <a:rPr lang="en-US" altLang="zh-CN" sz="2400" b="1" i="1">
                                        <a:solidFill>
                                          <a:srgbClr val="1F2DA8"/>
                                        </a:solidFill>
                                        <a:latin typeface="Cambria Math" panose="02040503050406030204" pitchFamily="18" charset="0"/>
                                        <a:ea typeface="楷体" panose="02010609060101010101" charset="-122"/>
                                        <a:cs typeface="Cambria Math" panose="02040503050406030204" charset="0"/>
                                      </a:rPr>
                                    </m:ctrlPr>
                                  </m:sSubPr>
                                  <m:e>
                                    <m:r>
                                      <a:rPr lang="en-US" altLang="zh-CN" sz="2400" b="1" i="1">
                                        <a:solidFill>
                                          <a:srgbClr val="1F2DA8"/>
                                        </a:solidFill>
                                        <a:latin typeface="Cambria Math" panose="02040503050406030204" charset="0"/>
                                        <a:ea typeface="楷体" panose="02010609060101010101" charset="-122"/>
                                        <a:cs typeface="Cambria Math" panose="02040503050406030204" charset="0"/>
                                      </a:rPr>
                                      <m:t>𝝅</m:t>
                                    </m:r>
                                  </m:e>
                                  <m:sub>
                                    <m:r>
                                      <a:rPr lang="en-US" altLang="zh-CN" sz="2400" b="1" i="1">
                                        <a:solidFill>
                                          <a:srgbClr val="1F2DA8"/>
                                        </a:solidFill>
                                        <a:latin typeface="Cambria Math" panose="02040503050406030204" charset="0"/>
                                        <a:ea typeface="楷体" panose="02010609060101010101" charset="-122"/>
                                        <a:cs typeface="Cambria Math" panose="02040503050406030204" charset="0"/>
                                      </a:rPr>
                                      <m:t>𝑨</m:t>
                                    </m:r>
                                  </m:sub>
                                </m:sSub>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r>
                                  <a:rPr lang="en-US" altLang="zh-CN" sz="2400" b="1" i="1">
                                    <a:solidFill>
                                      <a:srgbClr val="1F2DA8"/>
                                    </a:solidFill>
                                    <a:latin typeface="Cambria Math" panose="02040503050406030204" charset="0"/>
                                    <a:ea typeface="楷体" panose="02010609060101010101" charset="-122"/>
                                    <a:cs typeface="Cambria Math" panose="02040503050406030204" charset="0"/>
                                  </a:rPr>
                                  <m:t>𝑹</m:t>
                                </m:r>
                                <m:r>
                                  <a:rPr lang="en-US" altLang="zh-CN" sz="2400" b="1" i="1">
                                    <a:solidFill>
                                      <a:srgbClr val="1F2DA8"/>
                                    </a:solidFill>
                                    <a:latin typeface="Cambria Math" panose="02040503050406030204" charset="0"/>
                                    <a:ea typeface="楷体" panose="02010609060101010101" charset="-122"/>
                                    <a:cs typeface="Cambria Math" panose="02040503050406030204" charset="0"/>
                                  </a:rPr>
                                  <m:t>)</m:t>
                                </m:r>
                              </m:oMath>
                            </m:oMathPara>
                          </a14:m>
                          <a:endParaRPr lang="en-US" altLang="zh-CN" sz="2400" b="1" i="1">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C00000"/>
                              </a:solidFill>
                              <a:latin typeface="楷体" panose="02010609060101010101" charset="-122"/>
                              <a:ea typeface="楷体" panose="02010609060101010101" charset="-122"/>
                            </a:rPr>
                            <a:t>属性组</a:t>
                          </a:r>
                          <a:r>
                            <a:rPr lang="en-US" altLang="zh-CN" sz="2400" b="1">
                              <a:solidFill>
                                <a:srgbClr val="C00000"/>
                              </a:solidFill>
                              <a:latin typeface="楷体" panose="02010609060101010101" charset="-122"/>
                              <a:ea typeface="楷体" panose="02010609060101010101" charset="-122"/>
                            </a:rPr>
                            <a:t>A</a:t>
                          </a:r>
                          <a:r>
                            <a:rPr lang="zh-CN" altLang="en-US" sz="2400" b="1">
                              <a:solidFill>
                                <a:srgbClr val="C00000"/>
                              </a:solidFill>
                              <a:latin typeface="楷体" panose="02010609060101010101" charset="-122"/>
                              <a:ea typeface="楷体" panose="02010609060101010101" charset="-122"/>
                            </a:rPr>
                            <a:t>只能是关系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的一个属性子集</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1F2DA8"/>
                              </a:solidFill>
                              <a:latin typeface="楷体" panose="02010609060101010101" charset="-122"/>
                              <a:ea typeface="楷体" panose="02010609060101010101" charset="-122"/>
                            </a:rPr>
                            <a:t>由属性组</a:t>
                          </a:r>
                          <a:r>
                            <a:rPr lang="en-US" altLang="zh-CN" sz="2400" b="1">
                              <a:solidFill>
                                <a:srgbClr val="1F2DA8"/>
                              </a:solidFill>
                              <a:latin typeface="楷体" panose="02010609060101010101" charset="-122"/>
                              <a:ea typeface="楷体" panose="02010609060101010101" charset="-122"/>
                            </a:rPr>
                            <a:t>A</a:t>
                          </a:r>
                          <a:r>
                            <a:rPr lang="zh-CN" altLang="en-US" sz="2400" b="1">
                              <a:solidFill>
                                <a:srgbClr val="1F2DA8"/>
                              </a:solidFill>
                              <a:latin typeface="楷体" panose="02010609060101010101" charset="-122"/>
                              <a:ea typeface="楷体" panose="02010609060101010101" charset="-122"/>
                            </a:rPr>
                            <a:t>构成结果关系的关系模式</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en-US" altLang="x-none" sz="2400" b="1" i="1" dirty="0">
                                        <a:solidFill>
                                          <a:srgbClr val="1F2DA8"/>
                                        </a:solidFill>
                                        <a:latin typeface="Cambria Math" panose="02040503050406030204" pitchFamily="18" charset="0"/>
                                        <a:ea typeface="楷体" panose="02010609060101010101" charset="-122"/>
                                        <a:cs typeface="Cambria Math" panose="02040503050406030204" charset="0"/>
                                      </a:rPr>
                                    </m:ctrlPr>
                                  </m:dPr>
                                  <m:e>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𝒕</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𝑨</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d>
                                      <m:dPr>
                                        <m:begChr m:val="|"/>
                                        <m:endChr m:val=""/>
                                        <m:ctrlPr>
                                          <a:rPr lang="en-US" altLang="x-none" sz="2400" b="1" i="1" dirty="0">
                                            <a:solidFill>
                                              <a:srgbClr val="1F2DA8"/>
                                            </a:solidFill>
                                            <a:latin typeface="Cambria Math" panose="02040503050406030204" pitchFamily="18" charset="0"/>
                                            <a:ea typeface="楷体" panose="02010609060101010101" charset="-122"/>
                                            <a:cs typeface="Cambria Math" panose="02040503050406030204" charset="0"/>
                                          </a:rPr>
                                        </m:ctrlPr>
                                      </m:dPr>
                                      <m:e>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𝒕</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m:t>
                                        </m:r>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𝑹</m:t>
                                        </m:r>
                                      </m:e>
                                    </m:d>
                                    <m:r>
                                      <a:rPr lang="en-US" altLang="x-none" sz="2400" b="1" i="1" dirty="0">
                                        <a:solidFill>
                                          <a:srgbClr val="1F2DA8"/>
                                        </a:solidFill>
                                        <a:latin typeface="Cambria Math" panose="02040503050406030204" charset="0"/>
                                        <a:ea typeface="楷体" panose="02010609060101010101" charset="-122"/>
                                        <a:cs typeface="Cambria Math" panose="02040503050406030204" charset="0"/>
                                      </a:rPr>
                                      <m:t> </m:t>
                                    </m:r>
                                  </m:e>
                                </m:d>
                              </m:oMath>
                            </m:oMathPara>
                          </a14:m>
                          <a:endParaRPr lang="en-US" altLang="x-none" sz="2400" b="1" i="1" dirty="0">
                            <a:solidFill>
                              <a:srgbClr val="1F2DA8"/>
                            </a:solidFill>
                            <a:latin typeface="Cambria Math" panose="02040503050406030204" charset="0"/>
                            <a:ea typeface="楷体" panose="02010609060101010101" charset="-122"/>
                            <a:cs typeface="Cambria Math" panose="02040503050406030204" charset="0"/>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5"/>
                      </a:ext>
                    </a:extLst>
                  </a:tr>
                </a:tbl>
              </a:graphicData>
            </a:graphic>
          </p:graphicFrame>
        </mc:Choice>
        <mc:Fallback xmlns="">
          <p:graphicFrame>
            <p:nvGraphicFramePr>
              <p:cNvPr id="6" name="表格 5"/>
              <p:cNvGraphicFramePr/>
              <p:nvPr>
                <p:custDataLst>
                  <p:tags r:id="rId3"/>
                </p:custDataLst>
              </p:nvPr>
            </p:nvGraphicFramePr>
            <p:xfrm>
              <a:off x="424180" y="687070"/>
              <a:ext cx="11344275" cy="5067935"/>
            </p:xfrm>
            <a:graphic>
              <a:graphicData uri="http://schemas.openxmlformats.org/drawingml/2006/table">
                <a:tbl>
                  <a:tblPr firstRow="1" bandRow="1">
                    <a:tableStyleId>{5C22544A-7EE6-4342-B048-85BDC9FD1C3A}</a:tableStyleId>
                  </a:tblPr>
                  <a:tblGrid>
                    <a:gridCol w="1206500"/>
                    <a:gridCol w="3578860"/>
                    <a:gridCol w="2981960"/>
                    <a:gridCol w="3576955"/>
                  </a:tblGrid>
                  <a:tr h="563245">
                    <a:tc>
                      <a:txBody>
                        <a:bodyPr/>
                        <a:p>
                          <a:pPr algn="ctr">
                            <a:buNone/>
                          </a:pPr>
                          <a:r>
                            <a:rPr lang="zh-CN" altLang="en-US" sz="2400" b="1">
                              <a:solidFill>
                                <a:schemeClr val="tx1"/>
                              </a:solidFill>
                              <a:latin typeface="楷体" panose="02010609060101010101" charset="-122"/>
                              <a:ea typeface="楷体" panose="02010609060101010101" charset="-122"/>
                            </a:rPr>
                            <a:t>运算</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p>
                          <a:pPr algn="ctr">
                            <a:buNone/>
                          </a:pPr>
                          <a:r>
                            <a:rPr lang="zh-CN" altLang="en-US" sz="2400" b="1">
                              <a:solidFill>
                                <a:schemeClr val="tx1"/>
                              </a:solidFill>
                              <a:latin typeface="楷体" panose="02010609060101010101" charset="-122"/>
                              <a:ea typeface="楷体" panose="02010609060101010101" charset="-122"/>
                            </a:rPr>
                            <a:t>运算前提</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p>
                          <a:pPr algn="ctr">
                            <a:buNone/>
                          </a:pPr>
                          <a:r>
                            <a:rPr lang="zh-CN" altLang="en-US" sz="2400" b="1">
                              <a:solidFill>
                                <a:schemeClr val="tx1"/>
                              </a:solidFill>
                              <a:latin typeface="楷体" panose="02010609060101010101" charset="-122"/>
                              <a:ea typeface="楷体" panose="02010609060101010101" charset="-122"/>
                            </a:rPr>
                            <a:t>结果关系模式</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c>
                      <a:txBody>
                        <a:bodyPr/>
                        <a:p>
                          <a:pPr algn="ctr">
                            <a:buNone/>
                          </a:pPr>
                          <a:r>
                            <a:rPr lang="zh-CN" altLang="en-US" sz="2400" b="1">
                              <a:solidFill>
                                <a:schemeClr val="tx1"/>
                              </a:solidFill>
                              <a:latin typeface="楷体" panose="02010609060101010101" charset="-122"/>
                              <a:ea typeface="楷体" panose="02010609060101010101" charset="-122"/>
                            </a:rPr>
                            <a:t>结果关系</a:t>
                          </a:r>
                          <a:endParaRPr lang="zh-CN" altLang="en-US" sz="2400" b="1">
                            <a:solidFill>
                              <a:schemeClr val="tx1"/>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90000"/>
                            <a:alpha val="50000"/>
                          </a:schemeClr>
                        </a:solidFill>
                      </a:tcPr>
                    </a:tc>
                  </a:tr>
                  <a:tr h="56324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rowSpan="2">
                      <a:txBody>
                        <a:bodyPr/>
                        <a:p>
                          <a:pPr>
                            <a:buNone/>
                          </a:pP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和</a:t>
                          </a:r>
                          <a:r>
                            <a:rPr lang="en-US" altLang="zh-CN" sz="2400" b="1">
                              <a:solidFill>
                                <a:srgbClr val="C00000"/>
                              </a:solidFill>
                              <a:latin typeface="楷体" panose="02010609060101010101" charset="-122"/>
                              <a:ea typeface="楷体" panose="02010609060101010101" charset="-122"/>
                            </a:rPr>
                            <a:t>S</a:t>
                          </a:r>
                          <a:r>
                            <a:rPr lang="zh-CN" altLang="en-US" sz="2400" b="1">
                              <a:solidFill>
                                <a:srgbClr val="C00000"/>
                              </a:solidFill>
                              <a:latin typeface="楷体" panose="02010609060101010101" charset="-122"/>
                              <a:ea typeface="楷体" panose="02010609060101010101" charset="-122"/>
                            </a:rPr>
                            <a:t>必须是同类关系</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2">
                      <a:txBody>
                        <a:bodyPr/>
                        <a:p>
                          <a:pPr>
                            <a:buNone/>
                          </a:pPr>
                          <a:r>
                            <a:rPr lang="zh-CN" altLang="en-US" sz="2400" b="1">
                              <a:solidFill>
                                <a:srgbClr val="1F2DA8"/>
                              </a:solidFill>
                              <a:latin typeface="楷体" panose="02010609060101010101" charset="-122"/>
                              <a:ea typeface="楷体" panose="02010609060101010101" charset="-122"/>
                              <a:sym typeface="+mn-ea"/>
                            </a:rPr>
                            <a:t>与关系</a:t>
                          </a:r>
                          <a:r>
                            <a:rPr lang="en-US" altLang="zh-CN" sz="2400" b="1">
                              <a:solidFill>
                                <a:srgbClr val="1F2DA8"/>
                              </a:solidFill>
                              <a:latin typeface="楷体" panose="02010609060101010101" charset="-122"/>
                              <a:ea typeface="楷体" panose="02010609060101010101" charset="-122"/>
                              <a:sym typeface="+mn-ea"/>
                            </a:rPr>
                            <a:t>R</a:t>
                          </a:r>
                          <a:r>
                            <a:rPr lang="zh-CN" altLang="en-US" sz="2400" b="1">
                              <a:solidFill>
                                <a:srgbClr val="1F2DA8"/>
                              </a:solidFill>
                              <a:latin typeface="楷体" panose="02010609060101010101" charset="-122"/>
                              <a:ea typeface="楷体" panose="02010609060101010101" charset="-122"/>
                              <a:sym typeface="+mn-ea"/>
                            </a:rPr>
                            <a:t>（或关系</a:t>
                          </a:r>
                          <a:r>
                            <a:rPr lang="en-US" altLang="zh-CN" sz="2400" b="1">
                              <a:solidFill>
                                <a:srgbClr val="1F2DA8"/>
                              </a:solidFill>
                              <a:latin typeface="楷体" panose="02010609060101010101" charset="-122"/>
                              <a:ea typeface="楷体" panose="02010609060101010101" charset="-122"/>
                              <a:sym typeface="+mn-ea"/>
                            </a:rPr>
                            <a:t>S</a:t>
                          </a:r>
                          <a:r>
                            <a:rPr lang="zh-CN" altLang="en-US" sz="2400" b="1">
                              <a:solidFill>
                                <a:srgbClr val="1F2DA8"/>
                              </a:solidFill>
                              <a:latin typeface="楷体" panose="02010609060101010101" charset="-122"/>
                              <a:ea typeface="楷体" panose="02010609060101010101" charset="-122"/>
                              <a:sym typeface="+mn-ea"/>
                            </a:rPr>
                            <a:t>）的模式相同</a:t>
                          </a:r>
                          <a:endParaRPr lang="zh-CN" altLang="en-US" sz="2400" b="1">
                            <a:solidFill>
                              <a:srgbClr val="1F2DA8"/>
                            </a:solidFill>
                            <a:latin typeface="楷体" panose="02010609060101010101" charset="-122"/>
                            <a:ea typeface="楷体" panose="02010609060101010101"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563245">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822960">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p>
                          <a:pPr>
                            <a:buNone/>
                          </a:pPr>
                          <a:r>
                            <a:rPr lang="zh-CN" altLang="en-US" sz="2400" b="1">
                              <a:solidFill>
                                <a:srgbClr val="C00000"/>
                              </a:solidFill>
                              <a:latin typeface="楷体" panose="02010609060101010101" charset="-122"/>
                              <a:ea typeface="楷体" panose="02010609060101010101" charset="-122"/>
                            </a:rPr>
                            <a:t>任意两个关系</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400" b="1">
                              <a:solidFill>
                                <a:srgbClr val="1F2DA8"/>
                              </a:solidFill>
                              <a:latin typeface="楷体" panose="02010609060101010101" charset="-122"/>
                              <a:ea typeface="楷体" panose="02010609060101010101" charset="-122"/>
                            </a:rPr>
                            <a:t>由关系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和关系</a:t>
                          </a:r>
                          <a:r>
                            <a:rPr lang="en-US" altLang="zh-CN" sz="2400" b="1">
                              <a:solidFill>
                                <a:srgbClr val="1F2DA8"/>
                              </a:solidFill>
                              <a:latin typeface="楷体" panose="02010609060101010101" charset="-122"/>
                              <a:ea typeface="楷体" panose="02010609060101010101" charset="-122"/>
                            </a:rPr>
                            <a:t>S</a:t>
                          </a:r>
                          <a:r>
                            <a:rPr lang="zh-CN" altLang="en-US" sz="2400" b="1">
                              <a:solidFill>
                                <a:srgbClr val="1F2DA8"/>
                              </a:solidFill>
                              <a:latin typeface="楷体" panose="02010609060101010101" charset="-122"/>
                              <a:ea typeface="楷体" panose="02010609060101010101" charset="-122"/>
                            </a:rPr>
                            <a:t>中的所有属性组成</a:t>
                          </a:r>
                          <a:endParaRPr lang="zh-CN" altLang="en-US" sz="2400" b="1">
                            <a:solidFill>
                              <a:srgbClr val="1F2DA8"/>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1554480">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p>
                          <a:pPr>
                            <a:buNone/>
                          </a:pPr>
                          <a:r>
                            <a:rPr lang="zh-CN" altLang="en-US" sz="2400" b="1">
                              <a:solidFill>
                                <a:srgbClr val="C00000"/>
                              </a:solidFill>
                              <a:latin typeface="楷体" panose="02010609060101010101" charset="-122"/>
                              <a:ea typeface="楷体" panose="02010609060101010101" charset="-122"/>
                            </a:rPr>
                            <a:t>选择条件</a:t>
                          </a:r>
                          <a:r>
                            <a:rPr lang="en-US" altLang="zh-CN" sz="2400" b="1">
                              <a:solidFill>
                                <a:srgbClr val="C00000"/>
                              </a:solidFill>
                              <a:latin typeface="楷体" panose="02010609060101010101" charset="-122"/>
                              <a:ea typeface="楷体" panose="02010609060101010101" charset="-122"/>
                            </a:rPr>
                            <a:t>F</a:t>
                          </a:r>
                          <a:r>
                            <a:rPr lang="zh-CN" altLang="en-US" sz="2400" b="1">
                              <a:solidFill>
                                <a:srgbClr val="C00000"/>
                              </a:solidFill>
                              <a:latin typeface="楷体" panose="02010609060101010101" charset="-122"/>
                              <a:ea typeface="楷体" panose="02010609060101010101" charset="-122"/>
                            </a:rPr>
                            <a:t>是一个只能由关系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中的属性名、常量、比较运算符、逻辑运算符组成的逻辑表达式</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400" b="1">
                              <a:solidFill>
                                <a:srgbClr val="1F2DA8"/>
                              </a:solidFill>
                              <a:latin typeface="楷体" panose="02010609060101010101" charset="-122"/>
                              <a:ea typeface="楷体" panose="02010609060101010101" charset="-122"/>
                            </a:rPr>
                            <a:t>与关系</a:t>
                          </a:r>
                          <a:r>
                            <a:rPr lang="en-US" altLang="zh-CN" sz="2400" b="1">
                              <a:solidFill>
                                <a:srgbClr val="1F2DA8"/>
                              </a:solidFill>
                              <a:latin typeface="楷体" panose="02010609060101010101" charset="-122"/>
                              <a:ea typeface="楷体" panose="02010609060101010101" charset="-122"/>
                            </a:rPr>
                            <a:t>R</a:t>
                          </a:r>
                          <a:r>
                            <a:rPr lang="zh-CN" altLang="en-US" sz="2400" b="1">
                              <a:solidFill>
                                <a:srgbClr val="1F2DA8"/>
                              </a:solidFill>
                              <a:latin typeface="楷体" panose="02010609060101010101" charset="-122"/>
                              <a:ea typeface="楷体" panose="02010609060101010101" charset="-122"/>
                            </a:rPr>
                            <a:t>的模式相同</a:t>
                          </a:r>
                          <a:endParaRPr lang="zh-CN" altLang="en-US" sz="2400" b="1">
                            <a:solidFill>
                              <a:srgbClr val="1F2DA8"/>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r h="1000760">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c>
                      <a:txBody>
                        <a:bodyPr/>
                        <a:p>
                          <a:pPr>
                            <a:buNone/>
                          </a:pPr>
                          <a:r>
                            <a:rPr lang="zh-CN" altLang="en-US" sz="2400" b="1">
                              <a:solidFill>
                                <a:srgbClr val="C00000"/>
                              </a:solidFill>
                              <a:latin typeface="楷体" panose="02010609060101010101" charset="-122"/>
                              <a:ea typeface="楷体" panose="02010609060101010101" charset="-122"/>
                            </a:rPr>
                            <a:t>属性组</a:t>
                          </a:r>
                          <a:r>
                            <a:rPr lang="en-US" altLang="zh-CN" sz="2400" b="1">
                              <a:solidFill>
                                <a:srgbClr val="C00000"/>
                              </a:solidFill>
                              <a:latin typeface="楷体" panose="02010609060101010101" charset="-122"/>
                              <a:ea typeface="楷体" panose="02010609060101010101" charset="-122"/>
                            </a:rPr>
                            <a:t>A</a:t>
                          </a:r>
                          <a:r>
                            <a:rPr lang="zh-CN" altLang="en-US" sz="2400" b="1">
                              <a:solidFill>
                                <a:srgbClr val="C00000"/>
                              </a:solidFill>
                              <a:latin typeface="楷体" panose="02010609060101010101" charset="-122"/>
                              <a:ea typeface="楷体" panose="02010609060101010101" charset="-122"/>
                            </a:rPr>
                            <a:t>只能是关系</a:t>
                          </a:r>
                          <a:r>
                            <a:rPr lang="en-US" altLang="zh-CN" sz="2400" b="1">
                              <a:solidFill>
                                <a:srgbClr val="C00000"/>
                              </a:solidFill>
                              <a:latin typeface="楷体" panose="02010609060101010101" charset="-122"/>
                              <a:ea typeface="楷体" panose="02010609060101010101" charset="-122"/>
                            </a:rPr>
                            <a:t>R</a:t>
                          </a:r>
                          <a:r>
                            <a:rPr lang="zh-CN" altLang="en-US" sz="2400" b="1">
                              <a:solidFill>
                                <a:srgbClr val="C00000"/>
                              </a:solidFill>
                              <a:latin typeface="楷体" panose="02010609060101010101" charset="-122"/>
                              <a:ea typeface="楷体" panose="02010609060101010101" charset="-122"/>
                            </a:rPr>
                            <a:t>的一个属性子集</a:t>
                          </a:r>
                          <a:endParaRPr lang="zh-CN" altLang="en-US" sz="2400" b="1">
                            <a:solidFill>
                              <a:srgbClr val="C00000"/>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2400" b="1">
                              <a:solidFill>
                                <a:srgbClr val="1F2DA8"/>
                              </a:solidFill>
                              <a:latin typeface="楷体" panose="02010609060101010101" charset="-122"/>
                              <a:ea typeface="楷体" panose="02010609060101010101" charset="-122"/>
                            </a:rPr>
                            <a:t>由属性组</a:t>
                          </a:r>
                          <a:r>
                            <a:rPr lang="en-US" altLang="zh-CN" sz="2400" b="1">
                              <a:solidFill>
                                <a:srgbClr val="1F2DA8"/>
                              </a:solidFill>
                              <a:latin typeface="楷体" panose="02010609060101010101" charset="-122"/>
                              <a:ea typeface="楷体" panose="02010609060101010101" charset="-122"/>
                            </a:rPr>
                            <a:t>A</a:t>
                          </a:r>
                          <a:r>
                            <a:rPr lang="zh-CN" altLang="en-US" sz="2400" b="1">
                              <a:solidFill>
                                <a:srgbClr val="1F2DA8"/>
                              </a:solidFill>
                              <a:latin typeface="楷体" panose="02010609060101010101" charset="-122"/>
                              <a:ea typeface="楷体" panose="02010609060101010101" charset="-122"/>
                            </a:rPr>
                            <a:t>构成结果关系的关系模式</a:t>
                          </a:r>
                          <a:endParaRPr lang="zh-CN" altLang="en-US" sz="2400" b="1">
                            <a:solidFill>
                              <a:srgbClr val="1F2DA8"/>
                            </a:solidFill>
                            <a:latin typeface="楷体" panose="02010609060101010101" charset="-122"/>
                            <a:ea typeface="楷体" panose="02010609060101010101"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4"/>
                        </a:blipFill>
                      </a:tcPr>
                    </a:tc>
                  </a:tr>
                </a:tbl>
              </a:graphicData>
            </a:graphic>
          </p:graphicFrame>
        </mc:Fallback>
      </mc:AlternateContent>
      <p:sp>
        <p:nvSpPr>
          <p:cNvPr id="9" name="文本框 8"/>
          <p:cNvSpPr txBox="1"/>
          <p:nvPr/>
        </p:nvSpPr>
        <p:spPr>
          <a:xfrm>
            <a:off x="425450" y="5895975"/>
            <a:ext cx="11366500" cy="706755"/>
          </a:xfrm>
          <a:prstGeom prst="rect">
            <a:avLst/>
          </a:prstGeom>
          <a:noFill/>
        </p:spPr>
        <p:txBody>
          <a:bodyPr wrap="square" rtlCol="0">
            <a:spAutoFit/>
          </a:bodyPr>
          <a:lstStyle/>
          <a:p>
            <a:pPr marL="285750" indent="-285750">
              <a:buClr>
                <a:srgbClr val="C00000"/>
              </a:buClr>
              <a:buSzPct val="85000"/>
              <a:buFont typeface="Wingdings" panose="05000000000000000000" charset="0"/>
              <a:buChar char="Ø"/>
            </a:pPr>
            <a:r>
              <a:rPr lang="zh-CN" altLang="en-US" sz="2000" b="1">
                <a:solidFill>
                  <a:srgbClr val="C00000"/>
                </a:solidFill>
                <a:latin typeface="楷体" panose="02010609060101010101" charset="-122"/>
                <a:ea typeface="楷体" panose="02010609060101010101" charset="-122"/>
                <a:cs typeface="楷体" panose="02010609060101010101" charset="-122"/>
              </a:rPr>
              <a:t>同类关系</a:t>
            </a:r>
            <a:r>
              <a:rPr lang="zh-CN" altLang="en-US" sz="2000" b="1">
                <a:latin typeface="楷体" panose="02010609060101010101" charset="-122"/>
                <a:ea typeface="楷体" panose="02010609060101010101" charset="-122"/>
                <a:cs typeface="楷体" panose="02010609060101010101" charset="-122"/>
              </a:rPr>
              <a:t>：两个关系的关系模式同时满足以下两个要求</a:t>
            </a:r>
          </a:p>
          <a:p>
            <a:pPr lvl="1"/>
            <a:r>
              <a:rPr lang="zh-CN" altLang="en-US" sz="2000" b="1">
                <a:latin typeface="楷体" panose="02010609060101010101" charset="-122"/>
                <a:ea typeface="楷体" panose="02010609060101010101" charset="-122"/>
                <a:cs typeface="楷体" panose="02010609060101010101" charset="-122"/>
              </a:rPr>
              <a:t>①具有相同的目</a:t>
            </a:r>
            <a:r>
              <a:rPr lang="en-US" altLang="zh-CN" sz="2000" b="1">
                <a:latin typeface="楷体" panose="02010609060101010101" charset="-122"/>
                <a:ea typeface="楷体" panose="02010609060101010101" charset="-122"/>
                <a:cs typeface="楷体" panose="02010609060101010101" charset="-122"/>
              </a:rPr>
              <a:t>n</a:t>
            </a:r>
            <a:r>
              <a:rPr lang="zh-CN" altLang="en-US" sz="2000" b="1">
                <a:latin typeface="楷体" panose="02010609060101010101" charset="-122"/>
                <a:ea typeface="楷体" panose="02010609060101010101" charset="-122"/>
                <a:cs typeface="楷体" panose="02010609060101010101" charset="-122"/>
              </a:rPr>
              <a:t>（具有相同数目的属性）</a:t>
            </a:r>
            <a:r>
              <a:rPr lang="en-US" altLang="zh-CN" sz="2000" b="1">
                <a:latin typeface="楷体" panose="02010609060101010101" charset="-122"/>
                <a:ea typeface="楷体" panose="02010609060101010101" charset="-122"/>
                <a:cs typeface="楷体" panose="02010609060101010101" charset="-122"/>
              </a:rPr>
              <a:t>   </a:t>
            </a:r>
            <a:r>
              <a:rPr lang="zh-CN" altLang="en-US" sz="2000" b="1">
                <a:latin typeface="楷体" panose="02010609060101010101" charset="-122"/>
                <a:ea typeface="楷体" panose="02010609060101010101" charset="-122"/>
                <a:cs typeface="楷体" panose="02010609060101010101" charset="-122"/>
              </a:rPr>
              <a:t>②相应的属性来自于同一个域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I5YzE2YjhjOTAyMGY4ZmQ1YzBlZjA5NzU0NTU1NmQifQ=="/>
  <p:tag name="RESOURCE_RECORD_KEY" val="{&quot;70&quot;:[3314500]}"/>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725*302"/>
  <p:tag name="TABLE_ENDDRAG_RECT" val="31*59*725*302"/>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06fd25ce-c9fc-4396-ac55-78bd330c34d5}"/>
  <p:tag name="TABLE_ENDDRAG_ORIGIN_RECT" val="893*450"/>
  <p:tag name="TABLE_ENDDRAG_RECT" val="33*54*893*450"/>
</p:tagLst>
</file>

<file path=ppt/tags/tag12.xml><?xml version="1.0" encoding="utf-8"?>
<p:tagLst xmlns:p="http://schemas.openxmlformats.org/presentationml/2006/main">
  <p:tag name="KSO_WM_UNIT_TABLE_BEAUTIFY" val="smartTable{06fd25ce-c9fc-4396-ac55-78bd330c34d5}"/>
  <p:tag name="TABLE_ENDDRAG_ORIGIN_RECT" val="893*450"/>
  <p:tag name="TABLE_ENDDRAG_RECT" val="33*54*893*450"/>
</p:tagLst>
</file>

<file path=ppt/tags/tag13.xml><?xml version="1.0" encoding="utf-8"?>
<p:tagLst xmlns:a="http://schemas.openxmlformats.org/drawingml/2006/main" xmlns:r="http://schemas.openxmlformats.org/officeDocument/2006/relationships" xmlns:p="http://schemas.openxmlformats.org/presentationml/2006/main">
  <p:tag name="TABLE_ENDDRAG_ORIGIN_RECT" val="358*442"/>
  <p:tag name="TABLE_ENDDRAG_RECT" val="472*54*358*442"/>
</p:tagLst>
</file>

<file path=ppt/tags/tag14.xml><?xml version="1.0" encoding="utf-8"?>
<p:tagLst xmlns:p="http://schemas.openxmlformats.org/presentationml/2006/main">
  <p:tag name="TABLE_ENDDRAG_ORIGIN_RECT" val="358*442"/>
  <p:tag name="TABLE_ENDDRAG_RECT" val="472*54*358*442"/>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150*150"/>
  <p:tag name="TABLE_ENDDRAG_RECT" val="33*96*150*150"/>
</p:tagLst>
</file>

<file path=ppt/tags/tag16.xml><?xml version="1.0" encoding="utf-8"?>
<p:tagLst xmlns:a="http://schemas.openxmlformats.org/drawingml/2006/main" xmlns:r="http://schemas.openxmlformats.org/officeDocument/2006/relationships" xmlns:p="http://schemas.openxmlformats.org/presentationml/2006/main">
  <p:tag name="TABLE_ENDDRAG_ORIGIN_RECT" val="150*186"/>
  <p:tag name="TABLE_ENDDRAG_RECT" val="33*283*150*186"/>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150*186"/>
  <p:tag name="TABLE_ENDDRAG_RECT" val="33*283*150*186"/>
</p:tagLst>
</file>

<file path=ppt/tags/tag18.xml><?xml version="1.0" encoding="utf-8"?>
<p:tagLst xmlns:a="http://schemas.openxmlformats.org/drawingml/2006/main" xmlns:r="http://schemas.openxmlformats.org/officeDocument/2006/relationships" xmlns:p="http://schemas.openxmlformats.org/presentationml/2006/main">
  <p:tag name="TABLE_ENDDRAG_ORIGIN_RECT" val="150*186"/>
  <p:tag name="TABLE_ENDDRAG_RECT" val="33*283*150*186"/>
</p:tagLst>
</file>

<file path=ppt/tags/tag19.xml><?xml version="1.0" encoding="utf-8"?>
<p:tagLst xmlns:a="http://schemas.openxmlformats.org/drawingml/2006/main" xmlns:r="http://schemas.openxmlformats.org/officeDocument/2006/relationships" xmlns:p="http://schemas.openxmlformats.org/presentationml/2006/main">
  <p:tag name="TABLE_ENDDRAG_ORIGIN_RECT" val="150*186"/>
  <p:tag name="TABLE_ENDDRAG_RECT" val="33*283*150*186"/>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4.xml><?xml version="1.0" encoding="utf-8"?>
<p:tagLst xmlns:a="http://schemas.openxmlformats.org/drawingml/2006/main" xmlns:r="http://schemas.openxmlformats.org/officeDocument/2006/relationships" xmlns:p="http://schemas.openxmlformats.org/presentationml/2006/main">
  <p:tag name="TABLE_ENDDRAG_ORIGIN_RECT" val="898*120"/>
  <p:tag name="TABLE_ENDDRAG_RECT" val="31*364*898*120"/>
</p:tagLst>
</file>

<file path=ppt/tags/tag25.xml><?xml version="1.0" encoding="utf-8"?>
<p:tagLst xmlns:a="http://schemas.openxmlformats.org/drawingml/2006/main" xmlns:r="http://schemas.openxmlformats.org/officeDocument/2006/relationships" xmlns:p="http://schemas.openxmlformats.org/presentationml/2006/main">
  <p:tag name="TABLE_ENDDRAG_ORIGIN_RECT" val="898*286"/>
  <p:tag name="TABLE_ENDDRAG_RECT" val="31*59*898*286"/>
</p:tagLst>
</file>

<file path=ppt/tags/tag26.xml><?xml version="1.0" encoding="utf-8"?>
<p:tagLst xmlns:a="http://schemas.openxmlformats.org/drawingml/2006/main" xmlns:r="http://schemas.openxmlformats.org/officeDocument/2006/relationships" xmlns:p="http://schemas.openxmlformats.org/presentationml/2006/main">
  <p:tag name="TABLE_ENDDRAG_ORIGIN_RECT" val="467*341"/>
  <p:tag name="TABLE_ENDDRAG_RECT" val="428*91*467*341"/>
</p:tagLst>
</file>

<file path=ppt/tags/tag27.xml><?xml version="1.0" encoding="utf-8"?>
<p:tagLst xmlns:p="http://schemas.openxmlformats.org/presentationml/2006/main">
  <p:tag name="TABLE_ENDDRAG_ORIGIN_RECT" val="898*286"/>
  <p:tag name="TABLE_ENDDRAG_RECT" val="31*59*898*286"/>
</p:tagLst>
</file>

<file path=ppt/tags/tag28.xml><?xml version="1.0" encoding="utf-8"?>
<p:tagLst xmlns:a="http://schemas.openxmlformats.org/drawingml/2006/main" xmlns:r="http://schemas.openxmlformats.org/officeDocument/2006/relationships" xmlns:p="http://schemas.openxmlformats.org/presentationml/2006/main">
  <p:tag name="TABLE_ENDDRAG_ORIGIN_RECT" val="293*163"/>
  <p:tag name="TABLE_ENDDRAG_RECT" val="63*93*293*163"/>
</p:tagLst>
</file>

<file path=ppt/tags/tag29.xml><?xml version="1.0" encoding="utf-8"?>
<p:tagLst xmlns:a="http://schemas.openxmlformats.org/drawingml/2006/main" xmlns:r="http://schemas.openxmlformats.org/officeDocument/2006/relationships" xmlns:p="http://schemas.openxmlformats.org/presentationml/2006/main">
  <p:tag name="TABLE_ENDDRAG_ORIGIN_RECT" val="293*163"/>
  <p:tag name="TABLE_ENDDRAG_RECT" val="63*320*293*163"/>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846*379"/>
  <p:tag name="TABLE_ENDDRAG_RECT" val="113*216*846*379"/>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TABLE_ENDDRAG_ORIGIN_RECT" val="770*381"/>
  <p:tag name="TABLE_ENDDRAG_RECT" val="86*99*770*381"/>
</p:tagLst>
</file>

<file path=ppt/tags/tag33.xml><?xml version="1.0" encoding="utf-8"?>
<p:tagLst xmlns:a="http://schemas.openxmlformats.org/drawingml/2006/main" xmlns:r="http://schemas.openxmlformats.org/officeDocument/2006/relationships" xmlns:p="http://schemas.openxmlformats.org/presentationml/2006/main">
  <p:tag name="TABLE_ENDDRAG_ORIGIN_RECT" val="265*246"/>
  <p:tag name="TABLE_ENDDRAG_RECT" val="33*223*265*246"/>
</p:tagLst>
</file>

<file path=ppt/tags/tag34.xml><?xml version="1.0" encoding="utf-8"?>
<p:tagLst xmlns:a="http://schemas.openxmlformats.org/drawingml/2006/main" xmlns:r="http://schemas.openxmlformats.org/officeDocument/2006/relationships" xmlns:p="http://schemas.openxmlformats.org/presentationml/2006/main">
  <p:tag name="TABLE_ENDDRAG_ORIGIN_RECT" val="264*246"/>
  <p:tag name="TABLE_ENDDRAG_RECT" val="664*223*264*246"/>
</p:tagLst>
</file>

<file path=ppt/tags/tag35.xml><?xml version="1.0" encoding="utf-8"?>
<p:tagLst xmlns:a="http://schemas.openxmlformats.org/drawingml/2006/main" xmlns:r="http://schemas.openxmlformats.org/officeDocument/2006/relationships" xmlns:p="http://schemas.openxmlformats.org/presentationml/2006/main">
  <p:tag name="TABLE_ENDDRAG_ORIGIN_RECT" val="265*246"/>
  <p:tag name="TABLE_ENDDRAG_RECT" val="33*223*265*246"/>
</p:tagLst>
</file>

<file path=ppt/tags/tag36.xml><?xml version="1.0" encoding="utf-8"?>
<p:tagLst xmlns:a="http://schemas.openxmlformats.org/drawingml/2006/main" xmlns:r="http://schemas.openxmlformats.org/officeDocument/2006/relationships" xmlns:p="http://schemas.openxmlformats.org/presentationml/2006/main">
  <p:tag name="TABLE_ENDDRAG_ORIGIN_RECT" val="893*180"/>
  <p:tag name="TABLE_ENDDRAG_RECT" val="33*54*893*180"/>
</p:tagLst>
</file>

<file path=ppt/tags/tag37.xml><?xml version="1.0" encoding="utf-8"?>
<p:tagLst xmlns:a="http://schemas.openxmlformats.org/drawingml/2006/main" xmlns:r="http://schemas.openxmlformats.org/officeDocument/2006/relationships" xmlns:p="http://schemas.openxmlformats.org/presentationml/2006/main">
  <p:tag name="TABLE_ENDDRAG_ORIGIN_RECT" val="893*339"/>
  <p:tag name="TABLE_ENDDRAG_RECT" val="33*274*893*339"/>
</p:tagLst>
</file>

<file path=ppt/tags/tag38.xml><?xml version="1.0" encoding="utf-8"?>
<p:tagLst xmlns:p="http://schemas.openxmlformats.org/presentationml/2006/main">
  <p:tag name="TABLE_ENDDRAG_ORIGIN_RECT" val="893*180"/>
  <p:tag name="TABLE_ENDDRAG_RECT" val="33*54*893*180"/>
</p:tagLst>
</file>

<file path=ppt/tags/tag39.xml><?xml version="1.0" encoding="utf-8"?>
<p:tagLst xmlns:a="http://schemas.openxmlformats.org/drawingml/2006/main" xmlns:r="http://schemas.openxmlformats.org/officeDocument/2006/relationships" xmlns:p="http://schemas.openxmlformats.org/presentationml/2006/main">
  <p:tag name="TABLE_ENDDRAG_ORIGIN_RECT" val="360*148"/>
  <p:tag name="TABLE_ENDDRAG_RECT" val="45*108*360*148"/>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359*135"/>
  <p:tag name="TABLE_ENDDRAG_RECT" val="45*364*359*135"/>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TABLE_ENDDRAG_ORIGIN_RECT" val="482*193"/>
  <p:tag name="TABLE_ENDDRAG_RECT" val="445*69*482*193"/>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TABLE_ENDDRAG_ORIGIN_RECT" val="421*198"/>
  <p:tag name="TABLE_ENDDRAG_RECT" val="35*119*421*198"/>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UNIT_TABLE_BEAUTIFY" val="smartTable{c21d5d2f-d35c-46c1-8f59-9b7cfedbd6ba}"/>
  <p:tag name="TABLE_ENDDRAG_ORIGIN_RECT" val="893*70"/>
  <p:tag name="TABLE_ENDDRAG_RECT" val="33*96*893*70"/>
</p:tagLst>
</file>

<file path=ppt/tags/tag48.xml><?xml version="1.0" encoding="utf-8"?>
<p:tagLst xmlns:a="http://schemas.openxmlformats.org/drawingml/2006/main" xmlns:r="http://schemas.openxmlformats.org/officeDocument/2006/relationships" xmlns:p="http://schemas.openxmlformats.org/presentationml/2006/main">
  <p:tag name="KSO_WM_UNIT_TABLE_BEAUTIFY" val="smartTable{b0bf178f-00b6-46c2-bded-62e62d531647}"/>
  <p:tag name="TABLE_ENDDRAG_ORIGIN_RECT" val="913*263"/>
  <p:tag name="TABLE_ENDDRAG_RECT" val="13*239*913*263"/>
</p:tagLst>
</file>

<file path=ppt/tags/tag49.xml><?xml version="1.0" encoding="utf-8"?>
<p:tagLst xmlns:a="http://schemas.openxmlformats.org/drawingml/2006/main" xmlns:r="http://schemas.openxmlformats.org/officeDocument/2006/relationships" xmlns:p="http://schemas.openxmlformats.org/presentationml/2006/main">
  <p:tag name="KSO_WM_UNIT_TABLE_BEAUTIFY" val="smartTable{c8c3a983-7b08-4a5f-9ecc-ca57cf2b639c}"/>
  <p:tag name="TABLE_ENDDRAG_ORIGIN_RECT" val="892*50"/>
  <p:tag name="TABLE_ENDDRAG_RECT" val="33*48*892*50"/>
</p:tagLst>
</file>

<file path=ppt/tags/tag50.xml><?xml version="1.0" encoding="utf-8"?>
<p:tagLst xmlns:a="http://schemas.openxmlformats.org/drawingml/2006/main" xmlns:r="http://schemas.openxmlformats.org/officeDocument/2006/relationships" xmlns:p="http://schemas.openxmlformats.org/presentationml/2006/main">
  <p:tag name="KSO_WM_UNIT_TABLE_BEAUTIFY" val="smartTable{c8c3a983-7b08-4a5f-9ecc-ca57cf2b639c}"/>
  <p:tag name="TABLE_ENDDRAG_ORIGIN_RECT" val="886*53"/>
  <p:tag name="TABLE_ENDDRAG_RECT" val="34*48*886*53"/>
</p:tagLst>
</file>

<file path=ppt/tags/tag51.xml><?xml version="1.0" encoding="utf-8"?>
<p:tagLst xmlns:p="http://schemas.openxmlformats.org/presentationml/2006/main">
  <p:tag name="KSO_WM_UNIT_TABLE_BEAUTIFY" val="smartTable{c8c3a983-7b08-4a5f-9ecc-ca57cf2b639c}"/>
  <p:tag name="TABLE_ENDDRAG_ORIGIN_RECT" val="892*50"/>
  <p:tag name="TABLE_ENDDRAG_RECT" val="33*48*892*50"/>
</p:tagLst>
</file>

<file path=ppt/tags/tag52.xml><?xml version="1.0" encoding="utf-8"?>
<p:tagLst xmlns:a="http://schemas.openxmlformats.org/drawingml/2006/main" xmlns:r="http://schemas.openxmlformats.org/officeDocument/2006/relationships" xmlns:p="http://schemas.openxmlformats.org/presentationml/2006/main">
  <p:tag name="TABLE_ENDDRAG_ORIGIN_RECT" val="773*90"/>
  <p:tag name="TABLE_ENDDRAG_RECT" val="99*48*773*90"/>
</p:tagLst>
</file>

<file path=ppt/tags/tag53.xml><?xml version="1.0" encoding="utf-8"?>
<p:tagLst xmlns:p="http://schemas.openxmlformats.org/presentationml/2006/main">
  <p:tag name="KSO_WM_UNIT_TABLE_BEAUTIFY" val="smartTable{c8c3a983-7b08-4a5f-9ecc-ca57cf2b639c}"/>
  <p:tag name="TABLE_ENDDRAG_ORIGIN_RECT" val="886*53"/>
  <p:tag name="TABLE_ENDDRAG_RECT" val="34*48*886*53"/>
</p:tagLst>
</file>

<file path=ppt/tags/tag54.xml><?xml version="1.0" encoding="utf-8"?>
<p:tagLst xmlns:a="http://schemas.openxmlformats.org/drawingml/2006/main" xmlns:r="http://schemas.openxmlformats.org/officeDocument/2006/relationships" xmlns:p="http://schemas.openxmlformats.org/presentationml/2006/main">
  <p:tag name="TABLE_ENDDRAG_ORIGIN_RECT" val="765*61"/>
  <p:tag name="TABLE_ENDDRAG_RECT" val="99*48*765*61"/>
</p:tagLst>
</file>

<file path=ppt/tags/tag55.xml><?xml version="1.0" encoding="utf-8"?>
<p:tagLst xmlns:p="http://schemas.openxmlformats.org/presentationml/2006/main">
  <p:tag name="TABLE_ENDDRAG_ORIGIN_RECT" val="773*90"/>
  <p:tag name="TABLE_ENDDRAG_RECT" val="99*48*773*90"/>
</p:tagLst>
</file>

<file path=ppt/tags/tag56.xml><?xml version="1.0" encoding="utf-8"?>
<p:tagLst xmlns:a="http://schemas.openxmlformats.org/drawingml/2006/main" xmlns:r="http://schemas.openxmlformats.org/officeDocument/2006/relationships" xmlns:p="http://schemas.openxmlformats.org/presentationml/2006/main">
  <p:tag name="TABLE_ENDDRAG_ORIGIN_RECT" val="671*91"/>
  <p:tag name="TABLE_ENDDRAG_RECT" val="20*43*671*91"/>
</p:tagLst>
</file>

<file path=ppt/tags/tag57.xml><?xml version="1.0" encoding="utf-8"?>
<p:tagLst xmlns:p="http://schemas.openxmlformats.org/presentationml/2006/main">
  <p:tag name="TABLE_ENDDRAG_ORIGIN_RECT" val="765*61"/>
  <p:tag name="TABLE_ENDDRAG_RECT" val="99*48*765*61"/>
</p:tagLst>
</file>

<file path=ppt/tags/tag58.xml><?xml version="1.0" encoding="utf-8"?>
<p:tagLst xmlns:a="http://schemas.openxmlformats.org/drawingml/2006/main" xmlns:r="http://schemas.openxmlformats.org/officeDocument/2006/relationships" xmlns:p="http://schemas.openxmlformats.org/presentationml/2006/main">
  <p:tag name="TABLE_ENDDRAG_ORIGIN_RECT" val="671*91"/>
  <p:tag name="TABLE_ENDDRAG_RECT" val="20*43*671*91"/>
</p:tagLst>
</file>

<file path=ppt/tags/tag59.xml><?xml version="1.0" encoding="utf-8"?>
<p:tagLst xmlns:p="http://schemas.openxmlformats.org/presentationml/2006/main">
  <p:tag name="TABLE_ENDDRAG_ORIGIN_RECT" val="671*91"/>
  <p:tag name="TABLE_ENDDRAG_RECT" val="20*43*671*91"/>
</p:tagLst>
</file>

<file path=ppt/tags/tag60.xml><?xml version="1.0" encoding="utf-8"?>
<p:tagLst xmlns:a="http://schemas.openxmlformats.org/drawingml/2006/main" xmlns:r="http://schemas.openxmlformats.org/officeDocument/2006/relationships" xmlns:p="http://schemas.openxmlformats.org/presentationml/2006/main">
  <p:tag name="KSO_WM_UNIT_TABLE_BEAUTIFY" val="smartTable{60ca708a-128a-4b63-9a86-f1f51925940b}"/>
  <p:tag name="TABLE_ENDDRAG_ORIGIN_RECT" val="883*429"/>
  <p:tag name="TABLE_ENDDRAG_RECT" val="41*51*883*429"/>
</p:tagLst>
</file>

<file path=ppt/tags/tag61.xml><?xml version="1.0" encoding="utf-8"?>
<p:tagLst xmlns:p="http://schemas.openxmlformats.org/presentationml/2006/main">
  <p:tag name="TABLE_ENDDRAG_ORIGIN_RECT" val="671*91"/>
  <p:tag name="TABLE_ENDDRAG_RECT" val="20*43*671*91"/>
</p:tagLst>
</file>

<file path=ppt/tags/tag62.xml><?xml version="1.0" encoding="utf-8"?>
<p:tagLst xmlns:a="http://schemas.openxmlformats.org/drawingml/2006/main" xmlns:r="http://schemas.openxmlformats.org/officeDocument/2006/relationships" xmlns:p="http://schemas.openxmlformats.org/presentationml/2006/main">
  <p:tag name="TABLE_ENDDRAG_ORIGIN_RECT" val="478*264"/>
  <p:tag name="TABLE_ENDDRAG_RECT" val="80*140*478*264"/>
</p:tagLst>
</file>

<file path=ppt/tags/tag63.xml><?xml version="1.0" encoding="utf-8"?>
<p:tagLst xmlns:a="http://schemas.openxmlformats.org/drawingml/2006/main" xmlns:r="http://schemas.openxmlformats.org/officeDocument/2006/relationships" xmlns:p="http://schemas.openxmlformats.org/presentationml/2006/main">
  <p:tag name="TABLE_ENDDRAG_ORIGIN_RECT" val="539*221"/>
  <p:tag name="TABLE_ENDDRAG_RECT" val="292*114*539*221"/>
</p:tagLst>
</file>

<file path=ppt/tags/tag64.xml><?xml version="1.0" encoding="utf-8"?>
<p:tagLst xmlns:a="http://schemas.openxmlformats.org/drawingml/2006/main" xmlns:r="http://schemas.openxmlformats.org/officeDocument/2006/relationships" xmlns:p="http://schemas.openxmlformats.org/presentationml/2006/main">
  <p:tag name="TABLE_ENDDRAG_ORIGIN_RECT" val="538*84"/>
  <p:tag name="TABLE_ENDDRAG_RECT" val="293*408*538*84"/>
</p:tagLst>
</file>

<file path=ppt/tags/tag65.xml><?xml version="1.0" encoding="utf-8"?>
<p:tagLst xmlns:a="http://schemas.openxmlformats.org/drawingml/2006/main" xmlns:r="http://schemas.openxmlformats.org/officeDocument/2006/relationships" xmlns:p="http://schemas.openxmlformats.org/presentationml/2006/main">
  <p:tag name="TABLE_ENDDRAG_ORIGIN_RECT" val="661*233"/>
  <p:tag name="TABLE_ENDDRAG_RECT" val="186*114*661*233"/>
</p:tagLst>
</file>

<file path=ppt/tags/tag66.xml><?xml version="1.0" encoding="utf-8"?>
<p:tagLst xmlns:a="http://schemas.openxmlformats.org/drawingml/2006/main" xmlns:r="http://schemas.openxmlformats.org/officeDocument/2006/relationships" xmlns:p="http://schemas.openxmlformats.org/presentationml/2006/main">
  <p:tag name="TABLE_ENDDRAG_ORIGIN_RECT" val="661*116"/>
  <p:tag name="TABLE_ENDDRAG_RECT" val="186*411*661*116"/>
</p:tagLst>
</file>

<file path=ppt/tags/tag67.xml><?xml version="1.0" encoding="utf-8"?>
<p:tagLst xmlns:a="http://schemas.openxmlformats.org/drawingml/2006/main" xmlns:r="http://schemas.openxmlformats.org/officeDocument/2006/relationships" xmlns:p="http://schemas.openxmlformats.org/presentationml/2006/main">
  <p:tag name="TABLE_ENDDRAG_ORIGIN_RECT" val="144*180"/>
  <p:tag name="TABLE_ENDDRAG_RECT" val="756*284*144*180"/>
</p:tagLst>
</file>

<file path=ppt/tags/tag68.xml><?xml version="1.0" encoding="utf-8"?>
<p:tagLst xmlns:a="http://schemas.openxmlformats.org/drawingml/2006/main" xmlns:r="http://schemas.openxmlformats.org/officeDocument/2006/relationships" xmlns:p="http://schemas.openxmlformats.org/presentationml/2006/main">
  <p:tag name="TABLE_ENDDRAG_ORIGIN_RECT" val="217*244"/>
  <p:tag name="TABLE_ENDDRAG_RECT" val="732*232*217*244"/>
</p:tagLst>
</file>

<file path=ppt/tags/tag69.xml><?xml version="1.0" encoding="utf-8"?>
<p:tagLst xmlns:a="http://schemas.openxmlformats.org/drawingml/2006/main" xmlns:r="http://schemas.openxmlformats.org/officeDocument/2006/relationships" xmlns:p="http://schemas.openxmlformats.org/presentationml/2006/main">
  <p:tag name="TABLE_ENDDRAG_ORIGIN_RECT" val="508*393"/>
  <p:tag name="TABLE_ENDDRAG_RECT" val="387*80*508*393"/>
</p:tagLst>
</file>

<file path=ppt/tags/tag70.xml><?xml version="1.0" encoding="utf-8"?>
<p:tagLst xmlns:a="http://schemas.openxmlformats.org/drawingml/2006/main" xmlns:r="http://schemas.openxmlformats.org/officeDocument/2006/relationships" xmlns:p="http://schemas.openxmlformats.org/presentationml/2006/main">
  <p:tag name="TABLE_ENDDRAG_ORIGIN_RECT" val="557*419"/>
  <p:tag name="TABLE_ENDDRAG_RECT" val="207*105*557*419"/>
</p:tagLst>
</file>

<file path=ppt/tags/tag71.xml><?xml version="1.0" encoding="utf-8"?>
<p:tagLst xmlns:a="http://schemas.openxmlformats.org/drawingml/2006/main" xmlns:r="http://schemas.openxmlformats.org/officeDocument/2006/relationships" xmlns:p="http://schemas.openxmlformats.org/presentationml/2006/main">
  <p:tag name="TABLE_ENDDRAG_ORIGIN_RECT" val="510*361"/>
  <p:tag name="TABLE_ENDDRAG_RECT" val="88*106*510*361"/>
</p:tagLst>
</file>

<file path=ppt/tags/tag72.xml><?xml version="1.0" encoding="utf-8"?>
<p:tagLst xmlns:a="http://schemas.openxmlformats.org/drawingml/2006/main" xmlns:r="http://schemas.openxmlformats.org/officeDocument/2006/relationships" xmlns:p="http://schemas.openxmlformats.org/presentationml/2006/main">
  <p:tag name="TABLE_ENDDRAG_ORIGIN_RECT" val="217*244"/>
  <p:tag name="TABLE_ENDDRAG_RECT" val="732*232*217*244"/>
</p:tagLst>
</file>

<file path=ppt/tags/tag73.xml><?xml version="1.0" encoding="utf-8"?>
<p:tagLst xmlns:a="http://schemas.openxmlformats.org/drawingml/2006/main" xmlns:r="http://schemas.openxmlformats.org/officeDocument/2006/relationships" xmlns:p="http://schemas.openxmlformats.org/presentationml/2006/main">
  <p:tag name="TABLE_ENDDRAG_ORIGIN_RECT" val="510*255"/>
  <p:tag name="TABLE_ENDDRAG_RECT" val="88*106*510*255"/>
</p:tagLst>
</file>

<file path=ppt/tags/tag74.xml><?xml version="1.0" encoding="utf-8"?>
<p:tagLst xmlns:a="http://schemas.openxmlformats.org/drawingml/2006/main" xmlns:r="http://schemas.openxmlformats.org/officeDocument/2006/relationships" xmlns:p="http://schemas.openxmlformats.org/presentationml/2006/main">
  <p:tag name="TABLE_ENDDRAG_ORIGIN_RECT" val="217*244"/>
  <p:tag name="TABLE_ENDDRAG_RECT" val="732*232*217*244"/>
</p:tagLst>
</file>

<file path=ppt/tags/tag75.xml><?xml version="1.0" encoding="utf-8"?>
<p:tagLst xmlns:a="http://schemas.openxmlformats.org/drawingml/2006/main" xmlns:r="http://schemas.openxmlformats.org/officeDocument/2006/relationships" xmlns:p="http://schemas.openxmlformats.org/presentationml/2006/main">
  <p:tag name="TABLE_ENDDRAG_ORIGIN_RECT" val="160*163"/>
  <p:tag name="TABLE_ENDDRAG_RECT" val="698*337*160*163"/>
</p:tagLst>
</file>

<file path=ppt/tags/tag76.xml><?xml version="1.0" encoding="utf-8"?>
<p:tagLst xmlns:a="http://schemas.openxmlformats.org/drawingml/2006/main" xmlns:r="http://schemas.openxmlformats.org/officeDocument/2006/relationships" xmlns:p="http://schemas.openxmlformats.org/presentationml/2006/main">
  <p:tag name="TABLE_ENDDRAG_ORIGIN_RECT" val="510*255"/>
  <p:tag name="TABLE_ENDDRAG_RECT" val="88*106*510*255"/>
</p:tagLst>
</file>

<file path=ppt/tags/tag77.xml><?xml version="1.0" encoding="utf-8"?>
<p:tagLst xmlns:a="http://schemas.openxmlformats.org/drawingml/2006/main" xmlns:r="http://schemas.openxmlformats.org/officeDocument/2006/relationships" xmlns:p="http://schemas.openxmlformats.org/presentationml/2006/main">
  <p:tag name="TABLE_ENDDRAG_ORIGIN_RECT" val="217*244"/>
  <p:tag name="TABLE_ENDDRAG_RECT" val="732*232*217*244"/>
</p:tagLst>
</file>

<file path=ppt/tags/tag78.xml><?xml version="1.0" encoding="utf-8"?>
<p:tagLst xmlns:a="http://schemas.openxmlformats.org/drawingml/2006/main" xmlns:r="http://schemas.openxmlformats.org/officeDocument/2006/relationships" xmlns:p="http://schemas.openxmlformats.org/presentationml/2006/main">
  <p:tag name="TABLE_ENDDRAG_ORIGIN_RECT" val="160*163"/>
  <p:tag name="TABLE_ENDDRAG_RECT" val="698*337*160*163"/>
</p:tagLst>
</file>

<file path=ppt/tags/tag79.xml><?xml version="1.0" encoding="utf-8"?>
<p:tagLst xmlns:a="http://schemas.openxmlformats.org/drawingml/2006/main" xmlns:r="http://schemas.openxmlformats.org/officeDocument/2006/relationships" xmlns:p="http://schemas.openxmlformats.org/presentationml/2006/main">
  <p:tag name="TABLE_ENDDRAG_ORIGIN_RECT" val="557*333"/>
  <p:tag name="TABLE_ENDDRAG_RECT" val="207*105*557*333"/>
</p:tagLst>
</file>

<file path=ppt/tags/tag80.xml><?xml version="1.0" encoding="utf-8"?>
<p:tagLst xmlns:a="http://schemas.openxmlformats.org/drawingml/2006/main" xmlns:r="http://schemas.openxmlformats.org/officeDocument/2006/relationships" xmlns:p="http://schemas.openxmlformats.org/presentationml/2006/main">
  <p:tag name="TABLE_ENDDRAG_ORIGIN_RECT" val="557*301"/>
  <p:tag name="TABLE_ENDDRAG_RECT" val="207*105*557*301"/>
</p:tagLst>
</file>

<file path=ppt/tags/tag81.xml><?xml version="1.0" encoding="utf-8"?>
<p:tagLst xmlns:a="http://schemas.openxmlformats.org/drawingml/2006/main" xmlns:r="http://schemas.openxmlformats.org/officeDocument/2006/relationships" xmlns:p="http://schemas.openxmlformats.org/presentationml/2006/main">
  <p:tag name="TABLE_ENDDRAG_ORIGIN_RECT" val="893*180"/>
  <p:tag name="TABLE_ENDDRAG_RECT" val="33*54*893*180"/>
</p:tagLst>
</file>

<file path=ppt/tags/tag83.xml><?xml version="1.0" encoding="utf-8"?>
<p:tagLst xmlns:p="http://schemas.openxmlformats.org/presentationml/2006/main">
  <p:tag name="TABLE_ENDDRAG_ORIGIN_RECT" val="893*180"/>
  <p:tag name="TABLE_ENDDRAG_RECT" val="33*54*893*180"/>
</p:tagLst>
</file>

<file path=ppt/tags/tag100.xml><?xml version="1.0" encoding="utf-8"?>
<p:tagLst xmlns:p="http://schemas.openxmlformats.org/presentationml/2006/main">
  <p:tag name="TABLE_ENDDRAG_ORIGIN_RECT" val="725*302"/>
  <p:tag name="TABLE_ENDDRAG_RECT" val="31*59*725*302"/>
</p:tagLst>
</file>

<file path=ppt/tags/tag240.xml><?xml version="1.0" encoding="utf-8"?>
<p:tagLst xmlns:p="http://schemas.openxmlformats.org/presentationml/2006/main">
  <p:tag name="TABLE_ENDDRAG_ORIGIN_RECT" val="898*120"/>
  <p:tag name="TABLE_ENDDRAG_RECT" val="31*364*898*12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11350</Words>
  <Application>Microsoft Macintosh PowerPoint</Application>
  <PresentationFormat>宽屏</PresentationFormat>
  <Paragraphs>2031</Paragraphs>
  <Slides>92</Slides>
  <Notes>16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92</vt:i4>
      </vt:variant>
    </vt:vector>
  </HeadingPairs>
  <TitlesOfParts>
    <vt:vector size="105" baseType="lpstr">
      <vt:lpstr>华文楷体</vt:lpstr>
      <vt:lpstr>宋体</vt:lpstr>
      <vt:lpstr>黑体</vt:lpstr>
      <vt:lpstr>楷体</vt:lpstr>
      <vt:lpstr>微软雅黑</vt:lpstr>
      <vt:lpstr>Arial</vt:lpstr>
      <vt:lpstr>Calibri</vt:lpstr>
      <vt:lpstr>Cambria Math</vt:lpstr>
      <vt:lpstr>Times New Roman</vt:lpstr>
      <vt:lpstr>Verdana</vt:lpstr>
      <vt:lpstr>Wingdings</vt:lpstr>
      <vt:lpstr>WPS</vt:lpstr>
      <vt:lpstr>Equation.KSEE3</vt:lpstr>
      <vt:lpstr>PowerPoint 演示文稿</vt:lpstr>
      <vt:lpstr>课件内容</vt:lpstr>
      <vt:lpstr>关系代数概述</vt:lpstr>
      <vt:lpstr>关系代数  1</vt:lpstr>
      <vt:lpstr>关系代数  2</vt:lpstr>
      <vt:lpstr>关系代数 3：关系运算</vt:lpstr>
      <vt:lpstr>关系代数 4：基本运算 &amp; 扩充运算</vt:lpstr>
      <vt:lpstr> 关系代数 5：关系操纵的表示</vt:lpstr>
      <vt:lpstr>关系代数中使用的记号 1</vt:lpstr>
      <vt:lpstr>使用的记号 2</vt:lpstr>
      <vt:lpstr>使用的记号 3：元组的连接</vt:lpstr>
      <vt:lpstr>使用的记号 4：象集（Images Set）</vt:lpstr>
      <vt:lpstr>象集的例子（图2.3）</vt:lpstr>
      <vt:lpstr>关系代数的基本运算</vt:lpstr>
      <vt:lpstr>关系模式的语义 1</vt:lpstr>
      <vt:lpstr>关系模式的语义 2</vt:lpstr>
      <vt:lpstr>关系代数中的 ‘赋值’ 运算</vt:lpstr>
      <vt:lpstr>赋值运算的使用方式</vt:lpstr>
      <vt:lpstr>赋值运算的用途</vt:lpstr>
      <vt:lpstr>算术比较运算 与 逻辑运算</vt:lpstr>
      <vt:lpstr>关系代数的基本运算</vt:lpstr>
      <vt:lpstr>‘并’ 运算  1</vt:lpstr>
      <vt:lpstr>‘并’ 运算  2</vt:lpstr>
      <vt:lpstr>‘差’ 运算 1</vt:lpstr>
      <vt:lpstr>‘差’ 运算 2</vt:lpstr>
      <vt:lpstr>并运算&amp;差运算：图2.2</vt:lpstr>
      <vt:lpstr>笛卡尔积 1</vt:lpstr>
      <vt:lpstr>笛卡尔积 2</vt:lpstr>
      <vt:lpstr> 笛卡尔积 3</vt:lpstr>
      <vt:lpstr>笛卡尔积 4</vt:lpstr>
      <vt:lpstr>图2.4：基础关系 1</vt:lpstr>
      <vt:lpstr>图2.4：基础关系 2</vt:lpstr>
      <vt:lpstr>图2.4：基础关系 3</vt:lpstr>
      <vt:lpstr>选择 1</vt:lpstr>
      <vt:lpstr>选择 2</vt:lpstr>
      <vt:lpstr>选择  3</vt:lpstr>
      <vt:lpstr>选择 3</vt:lpstr>
      <vt:lpstr>选择 4</vt:lpstr>
      <vt:lpstr>投影 1</vt:lpstr>
      <vt:lpstr>投影 2</vt:lpstr>
      <vt:lpstr>投影  3</vt:lpstr>
      <vt:lpstr>投影 4</vt:lpstr>
      <vt:lpstr>投影 5</vt:lpstr>
      <vt:lpstr>单个关系上的数据操纵：选择 &amp; 投影</vt:lpstr>
      <vt:lpstr>综合举例：单个关系上的 元组选择 与 属性投影</vt:lpstr>
      <vt:lpstr>关系代数的基本运算（总结）</vt:lpstr>
      <vt:lpstr>关系代数基本运算的应用</vt:lpstr>
      <vt:lpstr>MyCAP数据库 1</vt:lpstr>
      <vt:lpstr>MyCAP数据库 2</vt:lpstr>
      <vt:lpstr>基本运算的查询语义</vt:lpstr>
      <vt:lpstr>思考题（第1组）</vt:lpstr>
      <vt:lpstr>思考题（第2组）</vt:lpstr>
      <vt:lpstr>思考题（第3组）</vt:lpstr>
      <vt:lpstr>思考题（第4组）</vt:lpstr>
      <vt:lpstr>思考题（第5组）</vt:lpstr>
      <vt:lpstr>思考题（第6组）</vt:lpstr>
      <vt:lpstr>思考题 -- 总结 &amp; 思考  （注：'其他商品' 是指商品编号pid不等于'p01'的商品）</vt:lpstr>
      <vt:lpstr>关系代数的应用</vt:lpstr>
      <vt:lpstr>使用基本运算的查询表示</vt:lpstr>
      <vt:lpstr>Example 1</vt:lpstr>
      <vt:lpstr>Example 2</vt:lpstr>
      <vt:lpstr>Example 3</vt:lpstr>
      <vt:lpstr>复杂查询</vt:lpstr>
      <vt:lpstr>Example 4</vt:lpstr>
      <vt:lpstr>Example 5 （1）</vt:lpstr>
      <vt:lpstr>Example 5 （2）</vt:lpstr>
      <vt:lpstr>Example 6（1）</vt:lpstr>
      <vt:lpstr>Example 6（2）</vt:lpstr>
      <vt:lpstr>Example 7</vt:lpstr>
      <vt:lpstr>Example 8</vt:lpstr>
      <vt:lpstr>Example 9</vt:lpstr>
      <vt:lpstr>Example 8 &amp; 9  </vt:lpstr>
      <vt:lpstr>Example 10（1）</vt:lpstr>
      <vt:lpstr>Example 10（2）</vt:lpstr>
      <vt:lpstr>Example 10（3）</vt:lpstr>
      <vt:lpstr>Example 10（4）</vt:lpstr>
      <vt:lpstr>Example 10（5）</vt:lpstr>
      <vt:lpstr>Example 10（6）</vt:lpstr>
      <vt:lpstr>Example 10（7）</vt:lpstr>
      <vt:lpstr>Example 10（8）</vt:lpstr>
      <vt:lpstr>Example 10（9）</vt:lpstr>
      <vt:lpstr>Example 10（10）</vt:lpstr>
      <vt:lpstr>Example 10（11）</vt:lpstr>
      <vt:lpstr>Example 10（12）</vt:lpstr>
      <vt:lpstr>Example 10（13）</vt:lpstr>
      <vt:lpstr>Example 10（14）</vt:lpstr>
      <vt:lpstr>Example 10 (总结)</vt:lpstr>
      <vt:lpstr>Example 10 (拓展思考)</vt:lpstr>
      <vt:lpstr>Example 10 (拓展思考) 参考答案 1</vt:lpstr>
      <vt:lpstr>Example 10 (拓展思考) 参考答案 1</vt:lpstr>
      <vt:lpstr>关系代数基本运算小结 1</vt:lpstr>
      <vt:lpstr>关系代数基本运算小结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Wei Hu</cp:lastModifiedBy>
  <cp:revision>237</cp:revision>
  <dcterms:created xsi:type="dcterms:W3CDTF">2023-08-09T12:44:00Z</dcterms:created>
  <dcterms:modified xsi:type="dcterms:W3CDTF">2026-04-13T05:37:19Z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830BECDCA4BF430DAFF921095AF9E199_13</vt:lpwstr>
  </property>
  <property fmtid="{D5CDD505-2E9C-101B-9397-08002B2CF9AE}" pid="3" name="KSOProductBuildVer">
    <vt:lpwstr>2052-12.1.0.20305</vt:lpwstr>
  </property>
</Properties>
</file>