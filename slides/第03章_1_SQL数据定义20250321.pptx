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56" r:id="rId2"/>
    <p:sldMasterId id="2147483664" r:id="rId3"/>
  </p:sldMasterIdLst>
  <p:notesMasterIdLst>
    <p:notesMasterId r:id="rId46"/>
  </p:notesMasterIdLst>
  <p:handoutMasterIdLst>
    <p:handoutMasterId r:id="rId47"/>
  </p:handoutMasterIdLst>
  <p:sldIdLst>
    <p:sldId id="687" r:id="rId4"/>
    <p:sldId id="900" r:id="rId5"/>
    <p:sldId id="930" r:id="rId6"/>
    <p:sldId id="901" r:id="rId7"/>
    <p:sldId id="902" r:id="rId8"/>
    <p:sldId id="903" r:id="rId9"/>
    <p:sldId id="904" r:id="rId10"/>
    <p:sldId id="905" r:id="rId11"/>
    <p:sldId id="939" r:id="rId12"/>
    <p:sldId id="940" r:id="rId13"/>
    <p:sldId id="941" r:id="rId14"/>
    <p:sldId id="906" r:id="rId15"/>
    <p:sldId id="907" r:id="rId16"/>
    <p:sldId id="935" r:id="rId17"/>
    <p:sldId id="936" r:id="rId18"/>
    <p:sldId id="937" r:id="rId19"/>
    <p:sldId id="938" r:id="rId20"/>
    <p:sldId id="908" r:id="rId21"/>
    <p:sldId id="909" r:id="rId22"/>
    <p:sldId id="910" r:id="rId23"/>
    <p:sldId id="911" r:id="rId24"/>
    <p:sldId id="912" r:id="rId25"/>
    <p:sldId id="913" r:id="rId26"/>
    <p:sldId id="914" r:id="rId27"/>
    <p:sldId id="915" r:id="rId28"/>
    <p:sldId id="916" r:id="rId29"/>
    <p:sldId id="917" r:id="rId30"/>
    <p:sldId id="918" r:id="rId31"/>
    <p:sldId id="919" r:id="rId32"/>
    <p:sldId id="979" r:id="rId33"/>
    <p:sldId id="980" r:id="rId34"/>
    <p:sldId id="970" r:id="rId35"/>
    <p:sldId id="922" r:id="rId36"/>
    <p:sldId id="923" r:id="rId37"/>
    <p:sldId id="924" r:id="rId38"/>
    <p:sldId id="925" r:id="rId39"/>
    <p:sldId id="926" r:id="rId40"/>
    <p:sldId id="927" r:id="rId41"/>
    <p:sldId id="928" r:id="rId42"/>
    <p:sldId id="929" r:id="rId43"/>
    <p:sldId id="990" r:id="rId44"/>
    <p:sldId id="991" r:id="rId45"/>
  </p:sldIdLst>
  <p:sldSz cx="12192000" cy="6858000"/>
  <p:notesSz cx="6858000" cy="9144000"/>
  <p:embeddedFontLst>
    <p:embeddedFont>
      <p:font typeface="宋体" panose="02010600030101010101" pitchFamily="2" charset="-122"/>
      <p:regular r:id="rId48"/>
    </p:embeddedFont>
    <p:embeddedFont>
      <p:font typeface="楷体" panose="02010609060101010101" pitchFamily="49" charset="-122"/>
      <p:regular r:id="rId49"/>
    </p:embeddedFont>
    <p:embeddedFont>
      <p:font typeface="微软雅黑" panose="020B0503020204020204" pitchFamily="34" charset="-122"/>
      <p:regular r:id="rId50"/>
      <p:bold r:id="rId51"/>
    </p:embeddedFont>
  </p:embeddedFontLst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380509090" name="百老汇" initials="百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8"/>
    <a:srgbClr val="FF0000"/>
    <a:srgbClr val="E9ECF6"/>
    <a:srgbClr val="1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commentAuthors" Target="commentAuthor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1.fntdata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2.fntdata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2024.04.03  23:08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E72BCE-0FFC-42E3-B712-40EAEAFBF26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E72BCE-0FFC-42E3-B712-40EAEAFBF266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E72BCE-0FFC-42E3-B712-40EAEAFBF266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ch03_1_SQL数据定义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Microsoft_Word_97_-_2004___.doc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021200" y="5412105"/>
            <a:ext cx="41516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（202</a:t>
            </a:r>
            <a:r>
              <a:rPr kumimoji="1"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kumimoji="1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春季）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0" y="1924685"/>
            <a:ext cx="12192635" cy="829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第3章  关系数据库标准语言SQL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2511425" y="3335655"/>
            <a:ext cx="7144385" cy="171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lang="en-US" altLang="zh-CN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SQL</a:t>
            </a: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概述</a:t>
            </a:r>
            <a:endParaRPr lang="en-US" altLang="zh-CN" sz="24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微软雅黑" panose="020B0503020204020204" charset="-122"/>
              <a:cs typeface="+mj-lt"/>
            </a:endParaRPr>
          </a:p>
          <a:p>
            <a:pPr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lang="zh-CN" altLang="en-US" sz="24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微软雅黑" panose="020B0503020204020204" charset="-122"/>
                <a:cs typeface="+mj-lt"/>
              </a:rPr>
              <a:t>数据定义</a:t>
            </a:r>
          </a:p>
          <a:p>
            <a:pPr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endParaRPr lang="zh-CN" altLang="en-US" sz="24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+mj-lt"/>
              <a:ea typeface="微软雅黑" panose="020B0503020204020204" charset="-122"/>
              <a:cs typeface="+mj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180" y="687070"/>
            <a:ext cx="11343005" cy="5384800"/>
          </a:xfrm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/>
              <a:t>3.1 SQL</a:t>
            </a:r>
            <a:r>
              <a:rPr lang="zh-CN" altLang="en-US" sz="2800"/>
              <a:t>概述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/>
              <a:t>3.2 </a:t>
            </a:r>
            <a:r>
              <a:rPr lang="zh-CN" altLang="en-US" sz="2800"/>
              <a:t>学生</a:t>
            </a:r>
            <a:r>
              <a:rPr lang="en-US" altLang="zh-CN" sz="2800"/>
              <a:t>-</a:t>
            </a:r>
            <a:r>
              <a:rPr lang="zh-CN" altLang="en-US" sz="2800"/>
              <a:t>课程数据库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/>
              <a:t>3.3 SQL</a:t>
            </a:r>
            <a:r>
              <a:rPr lang="zh-CN" altLang="en-US" sz="2800"/>
              <a:t>数据定义</a:t>
            </a:r>
            <a:endParaRPr lang="en-US" altLang="zh-CN" sz="28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/>
              <a:t>3.4 </a:t>
            </a:r>
            <a:r>
              <a:rPr lang="en-US" altLang="zh-CN" sz="2800" dirty="0">
                <a:sym typeface="+mn-ea"/>
              </a:rPr>
              <a:t>SQL</a:t>
            </a:r>
            <a:r>
              <a:rPr lang="zh-CN" altLang="en-US" sz="2800" dirty="0">
                <a:sym typeface="+mn-ea"/>
              </a:rPr>
              <a:t>数据查询</a:t>
            </a:r>
            <a:endParaRPr lang="en-US" altLang="zh-CN" sz="28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/>
              <a:t>3.5</a:t>
            </a:r>
            <a:r>
              <a:rPr lang="en-US" altLang="zh-CN" sz="2800" dirty="0">
                <a:sym typeface="+mn-ea"/>
              </a:rPr>
              <a:t> SQL</a:t>
            </a:r>
            <a:r>
              <a:rPr lang="zh-CN" altLang="en-US" sz="2800" dirty="0">
                <a:sym typeface="+mn-ea"/>
              </a:rPr>
              <a:t>数据更新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/>
              <a:t>3.6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空值的处理</a:t>
            </a:r>
            <a:endParaRPr lang="en-US" altLang="zh-CN" sz="28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/>
              <a:t>3.7 </a:t>
            </a:r>
            <a:r>
              <a:rPr lang="zh-CN" altLang="en-US" sz="2800" dirty="0">
                <a:sym typeface="+mn-ea"/>
              </a:rPr>
              <a:t>视图</a:t>
            </a:r>
            <a:endParaRPr lang="en-US" altLang="zh-CN" sz="28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180" y="687070"/>
            <a:ext cx="11343005" cy="5259070"/>
          </a:xfrm>
        </p:spPr>
        <p:txBody>
          <a:bodyPr wrap="square">
            <a:spAutoFit/>
          </a:bodyPr>
          <a:lstStyle/>
          <a:p>
            <a:pPr marL="0" indent="0" algn="l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/>
              <a:t>3.1 SQL</a:t>
            </a:r>
            <a:r>
              <a:rPr lang="zh-CN" altLang="en-US" sz="2800"/>
              <a:t>概述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2800"/>
              <a:t>SQL</a:t>
            </a:r>
            <a:r>
              <a:rPr lang="zh-CN" altLang="en-US" sz="2800"/>
              <a:t>的产生与发展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2800"/>
              <a:t>SQL</a:t>
            </a:r>
            <a:r>
              <a:rPr lang="zh-CN" altLang="en-US" sz="2800"/>
              <a:t>的特点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en-US" altLang="zh-CN" sz="2800"/>
              <a:t>SQL</a:t>
            </a:r>
            <a:r>
              <a:rPr lang="zh-CN" altLang="en-US" sz="2800"/>
              <a:t>中的基本概念</a:t>
            </a:r>
          </a:p>
          <a:p>
            <a:pPr marL="0" indent="0" algn="l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/>
              <a:t>3.2 </a:t>
            </a:r>
            <a:r>
              <a:rPr lang="zh-CN" altLang="en-US" sz="2800"/>
              <a:t>学生</a:t>
            </a:r>
            <a:r>
              <a:rPr lang="en-US" altLang="zh-CN" sz="2800"/>
              <a:t>-</a:t>
            </a:r>
            <a:r>
              <a:rPr lang="zh-CN" altLang="en-US" sz="2800"/>
              <a:t>课程数据库</a:t>
            </a:r>
          </a:p>
          <a:p>
            <a:pPr marL="0" indent="0" algn="l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/>
              <a:t>3.3 SQL</a:t>
            </a:r>
            <a:r>
              <a:rPr lang="zh-CN" altLang="en-US" sz="2800"/>
              <a:t>数据定义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/>
              <a:t>模式的定义与删除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/>
              <a:t>基本表的定义、删除与修改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/>
              <a:t>索引的建立与删除</a:t>
            </a:r>
          </a:p>
          <a:p>
            <a:pPr lvl="1"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2800"/>
              <a:t>数据字典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anchor="b" anchorCtr="0"/>
          <a:lstStyle/>
          <a:p>
            <a:pPr eaLnBrk="1" hangingPunct="1"/>
            <a:r>
              <a:rPr kumimoji="1" lang="zh-CN" altLang="en-US" dirty="0">
                <a:solidFill>
                  <a:srgbClr val="1F2DA8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（202</a:t>
            </a:r>
            <a:r>
              <a:rPr kumimoji="1" lang="en-US" altLang="zh-CN" dirty="0">
                <a:solidFill>
                  <a:srgbClr val="1F2DA8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kumimoji="1" lang="zh-CN" altLang="en-US" dirty="0">
                <a:solidFill>
                  <a:srgbClr val="1F2DA8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 春季）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 anchor="ctr" anchorCtr="0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第3章  关系数据库标准语言SQL</a:t>
            </a:r>
            <a:b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lang="en-US" altLang="zh-CN" sz="3600" b="1" dirty="0">
                <a:solidFill>
                  <a:srgbClr val="1F2D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3.1  SQL</a:t>
            </a:r>
            <a:r>
              <a:rPr lang="zh-CN" altLang="en-US" sz="3600" b="1" dirty="0">
                <a:solidFill>
                  <a:srgbClr val="1F2D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概述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SQL</a:t>
            </a:r>
            <a:r>
              <a:rPr lang="zh-CN" altLang="en-US" dirty="0"/>
              <a:t>（</a:t>
            </a:r>
            <a:r>
              <a:rPr lang="en-US" altLang="zh-CN" dirty="0"/>
              <a:t>Structured Query Language</a:t>
            </a:r>
            <a:r>
              <a:rPr lang="zh-CN" altLang="en-US" dirty="0"/>
              <a:t>）结构化查询语言，是关系数据库的标准语言</a:t>
            </a:r>
          </a:p>
          <a:p>
            <a:endParaRPr lang="zh-CN" altLang="en-US" dirty="0"/>
          </a:p>
          <a:p>
            <a:r>
              <a:rPr lang="en-US" altLang="zh-CN" dirty="0"/>
              <a:t>SQL</a:t>
            </a:r>
            <a:r>
              <a:rPr lang="zh-CN" altLang="en-US" dirty="0"/>
              <a:t>是一个通用的、功能极强的关系数据库语言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综合统一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高度非过程化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面向集合的操作方式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以同一种语法结构提供两种使用方法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zh-CN" altLang="en-US" dirty="0"/>
              <a:t>语言简洁，易学易用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</a:t>
            </a:r>
            <a:r>
              <a:rPr lang="zh-CN" altLang="en-US" dirty="0"/>
              <a:t>的特点</a:t>
            </a:r>
            <a:r>
              <a:rPr lang="en-US" altLang="zh-CN" dirty="0"/>
              <a:t> 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综合统一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集数据定义语言（</a:t>
            </a:r>
            <a:r>
              <a:rPr lang="en-US" altLang="zh-CN" dirty="0"/>
              <a:t>DDL</a:t>
            </a:r>
            <a:r>
              <a:rPr lang="zh-CN" altLang="en-US" dirty="0"/>
              <a:t>），数据操纵语言（</a:t>
            </a:r>
            <a:r>
              <a:rPr lang="en-US" altLang="zh-CN" dirty="0"/>
              <a:t>DML</a:t>
            </a:r>
            <a:r>
              <a:rPr lang="zh-CN" altLang="en-US" dirty="0"/>
              <a:t>），数据控制语言（</a:t>
            </a:r>
            <a:r>
              <a:rPr lang="en-US" altLang="zh-CN" dirty="0"/>
              <a:t>DCL</a:t>
            </a:r>
            <a:r>
              <a:rPr lang="zh-CN" altLang="en-US" dirty="0"/>
              <a:t>）功能于一体。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可以独立完成数据库生命周期中的全部活动：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定义和修改、删除关系模式，定义和删除视图，插入数据，建立数据库;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对数据库中的数据进行查询和更新;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数据库重构和维护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数据库安全性、完整性控制，以及事务控制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zh-CN" altLang="en-US" dirty="0"/>
              <a:t>嵌入式</a:t>
            </a:r>
            <a:r>
              <a:rPr lang="en-US" altLang="zh-CN" dirty="0"/>
              <a:t>SQL</a:t>
            </a:r>
            <a:r>
              <a:rPr lang="zh-CN" altLang="en-US" dirty="0"/>
              <a:t>和动态</a:t>
            </a:r>
            <a:r>
              <a:rPr lang="en-US" altLang="zh-CN" dirty="0"/>
              <a:t>SQL</a:t>
            </a:r>
            <a:r>
              <a:rPr lang="zh-CN" altLang="en-US" dirty="0"/>
              <a:t>定义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用户数据库投入运行后，可根据需要随时逐步修改模式，不影响数据库的运行。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数据操作符统一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</a:t>
            </a:r>
            <a:r>
              <a:rPr lang="zh-CN" altLang="en-US" dirty="0"/>
              <a:t>的特点</a:t>
            </a:r>
            <a:r>
              <a:rPr lang="en-US" altLang="zh-CN" dirty="0"/>
              <a:t> 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dirty="0">
                <a:solidFill>
                  <a:srgbClr val="FF0000"/>
                </a:solidFill>
              </a:rPr>
              <a:t>高度非过程化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dirty="0"/>
              <a:t>非关系数据模型的数据操纵语言“面向过程”，必须指定存取路径。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dirty="0"/>
              <a:t>SQL</a:t>
            </a:r>
            <a:r>
              <a:rPr lang="zh-CN" altLang="en-US" dirty="0"/>
              <a:t>只要提出“做什么”，无须了解存取路径。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dirty="0"/>
              <a:t>存取路径的选择以及</a:t>
            </a:r>
            <a:r>
              <a:rPr lang="en-US" altLang="zh-CN" dirty="0"/>
              <a:t>SQL</a:t>
            </a:r>
            <a:r>
              <a:rPr lang="zh-CN" altLang="en-US" dirty="0"/>
              <a:t>的操作过程由系统自动完成。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dirty="0">
                <a:solidFill>
                  <a:srgbClr val="FF0000"/>
                </a:solidFill>
              </a:rPr>
              <a:t>面向集合的操作方式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dirty="0"/>
              <a:t>非关系数据模型采用面向记录的操作方式，操作对象是一条记录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dirty="0"/>
              <a:t>SQL</a:t>
            </a:r>
            <a:r>
              <a:rPr lang="zh-CN" altLang="en-US" dirty="0"/>
              <a:t>采用集合操作方式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dirty="0"/>
              <a:t> 操作对象、查找结果可以是元组的集合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dirty="0"/>
              <a:t> 一次插入、删除、更新操作的对象可以是元组的集合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600" dirty="0"/>
              <a:t>SQL</a:t>
            </a:r>
            <a:r>
              <a:rPr lang="zh-CN" altLang="en-US" sz="3600" dirty="0"/>
              <a:t>的特点</a:t>
            </a:r>
            <a:r>
              <a:rPr lang="en-US" altLang="zh-CN" sz="3600" dirty="0"/>
              <a:t> 3</a:t>
            </a:r>
            <a:endParaRPr lang="zh-CN" altLang="en-US" sz="36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dirty="0">
                <a:solidFill>
                  <a:srgbClr val="FF0000"/>
                </a:solidFill>
              </a:rPr>
              <a:t>以同一种语法结构提供多种使用方式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dirty="0"/>
              <a:t>SQL</a:t>
            </a:r>
            <a:r>
              <a:rPr lang="zh-CN" altLang="en-US" dirty="0"/>
              <a:t>是独立的语言，能够独立地用于联机</a:t>
            </a:r>
            <a:r>
              <a:rPr lang="zh-CN" altLang="en-US" dirty="0">
                <a:solidFill>
                  <a:srgbClr val="FF0000"/>
                </a:solidFill>
              </a:rPr>
              <a:t>交互式</a:t>
            </a:r>
            <a:r>
              <a:rPr lang="zh-CN" altLang="en-US" dirty="0"/>
              <a:t>访问数据库，使用方式包括：</a:t>
            </a:r>
            <a:r>
              <a:rPr lang="zh-CN" altLang="en-US" dirty="0">
                <a:solidFill>
                  <a:srgbClr val="C00000"/>
                </a:solidFill>
              </a:rPr>
              <a:t>命令行交互、批处理、可编程</a:t>
            </a:r>
            <a:endParaRPr lang="zh-CN" alt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dirty="0"/>
              <a:t>SQL</a:t>
            </a:r>
            <a:r>
              <a:rPr lang="zh-CN" altLang="en-US" dirty="0"/>
              <a:t>又是</a:t>
            </a:r>
            <a:r>
              <a:rPr lang="zh-CN" altLang="en-US" dirty="0">
                <a:solidFill>
                  <a:srgbClr val="FF0000"/>
                </a:solidFill>
              </a:rPr>
              <a:t>嵌入式</a:t>
            </a:r>
            <a:r>
              <a:rPr lang="zh-CN" altLang="en-US" dirty="0"/>
              <a:t>语言，能够嵌入到高级语言（例如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C++</a:t>
            </a:r>
            <a:r>
              <a:rPr lang="zh-CN" altLang="en-US" dirty="0"/>
              <a:t>，</a:t>
            </a:r>
            <a:r>
              <a:rPr lang="en-US" altLang="zh-CN" dirty="0"/>
              <a:t>Java</a:t>
            </a:r>
            <a:r>
              <a:rPr lang="zh-CN" altLang="en-US" dirty="0"/>
              <a:t>）程序中，供程序员设计程序时使用</a:t>
            </a:r>
            <a:endParaRPr lang="en-US" altLang="zh-CN" dirty="0"/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zh-CN" altLang="en-US" dirty="0">
                <a:solidFill>
                  <a:srgbClr val="FF0000"/>
                </a:solidFill>
              </a:rPr>
              <a:t>语言简洁，易学易用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dirty="0"/>
              <a:t>SQL</a:t>
            </a:r>
            <a:r>
              <a:rPr lang="zh-CN" altLang="en-US" dirty="0"/>
              <a:t>功能极强，完成核心功能只用了</a:t>
            </a:r>
            <a:r>
              <a:rPr lang="en-US" altLang="zh-CN" dirty="0"/>
              <a:t>9</a:t>
            </a:r>
            <a:r>
              <a:rPr lang="zh-CN" altLang="en-US" dirty="0"/>
              <a:t>个动词</a:t>
            </a:r>
            <a:r>
              <a:rPr lang="en-US" altLang="zh-CN" dirty="0"/>
              <a:t>: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dirty="0"/>
              <a:t>数据定义：</a:t>
            </a:r>
            <a:r>
              <a:rPr lang="en-US" altLang="zh-CN" dirty="0"/>
              <a:t>CREATE</a:t>
            </a:r>
            <a:r>
              <a:rPr lang="zh-CN" altLang="en-US" dirty="0"/>
              <a:t>，</a:t>
            </a:r>
            <a:r>
              <a:rPr lang="en-US" altLang="zh-CN" dirty="0"/>
              <a:t>DROP</a:t>
            </a:r>
            <a:r>
              <a:rPr lang="zh-CN" altLang="en-US" dirty="0"/>
              <a:t>，</a:t>
            </a:r>
            <a:r>
              <a:rPr lang="en-US" altLang="zh-CN" dirty="0"/>
              <a:t>ALTER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dirty="0"/>
              <a:t>数据查询：</a:t>
            </a:r>
            <a:r>
              <a:rPr lang="en-US" altLang="zh-CN" dirty="0"/>
              <a:t>SELECT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dirty="0"/>
              <a:t>数据操作：</a:t>
            </a:r>
            <a:r>
              <a:rPr lang="en-US" altLang="zh-CN" dirty="0"/>
              <a:t>INSERT</a:t>
            </a:r>
            <a:r>
              <a:rPr lang="zh-CN" altLang="en-US" dirty="0"/>
              <a:t>，</a:t>
            </a:r>
            <a:r>
              <a:rPr lang="en-US" altLang="zh-CN" dirty="0"/>
              <a:t>UPDATE</a:t>
            </a:r>
            <a:r>
              <a:rPr lang="zh-CN" altLang="en-US" dirty="0"/>
              <a:t>，</a:t>
            </a:r>
            <a:r>
              <a:rPr lang="en-US" altLang="zh-CN" dirty="0"/>
              <a:t>DELETE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dirty="0"/>
              <a:t>数据控制：</a:t>
            </a:r>
            <a:r>
              <a:rPr lang="en-US" altLang="zh-CN" dirty="0"/>
              <a:t>GRANT</a:t>
            </a:r>
            <a:r>
              <a:rPr lang="zh-CN" altLang="en-US" dirty="0"/>
              <a:t>，</a:t>
            </a:r>
            <a:r>
              <a:rPr lang="en-US" altLang="zh-CN" dirty="0"/>
              <a:t>REVOKE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dirty="0"/>
              <a:t>从关系模型</a:t>
            </a:r>
            <a:r>
              <a:rPr lang="en-US" altLang="zh-CN" dirty="0"/>
              <a:t> </a:t>
            </a:r>
            <a:r>
              <a:rPr lang="zh-CN" altLang="en-US" dirty="0"/>
              <a:t>到</a:t>
            </a:r>
            <a:r>
              <a:rPr lang="en-US" altLang="zh-CN" dirty="0"/>
              <a:t> </a:t>
            </a:r>
            <a:r>
              <a:rPr lang="en-US" altLang="x-none" dirty="0"/>
              <a:t>SQL</a:t>
            </a:r>
            <a:r>
              <a:rPr lang="zh-CN" altLang="en-US" dirty="0"/>
              <a:t>语言</a:t>
            </a:r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eaLnBrk="1" hangingPunct="1"/>
            <a:r>
              <a:rPr lang="zh-CN" altLang="en-US" dirty="0"/>
              <a:t>基本概念的变化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x-none" dirty="0"/>
          </a:p>
        </p:txBody>
      </p:sp>
      <p:graphicFrame>
        <p:nvGraphicFramePr>
          <p:cNvPr id="6150" name="表格 6149"/>
          <p:cNvGraphicFramePr/>
          <p:nvPr>
            <p:custDataLst>
              <p:tags r:id="rId1"/>
            </p:custDataLst>
          </p:nvPr>
        </p:nvGraphicFramePr>
        <p:xfrm>
          <a:off x="1003935" y="1480185"/>
          <a:ext cx="10194924" cy="2418207"/>
        </p:xfrm>
        <a:graphic>
          <a:graphicData uri="http://schemas.openxmlformats.org/drawingml/2006/table">
            <a:tbl>
              <a:tblPr/>
              <a:tblGrid>
                <a:gridCol w="203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8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>
                          <a:solidFill>
                            <a:srgbClr val="FF0000"/>
                          </a:solidFill>
                          <a:ea typeface="楷体" panose="02010609060101010101" charset="-122"/>
                        </a:rPr>
                        <a:t>关系模型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关系</a:t>
                      </a:r>
                    </a:p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relation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子模式</a:t>
                      </a:r>
                    </a:p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sub-schema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属性</a:t>
                      </a:r>
                    </a:p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attribute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元组</a:t>
                      </a:r>
                    </a:p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>
                          <a:solidFill>
                            <a:srgbClr val="0000C8"/>
                          </a:solidFill>
                          <a:ea typeface="楷体" panose="02010609060101010101" charset="-122"/>
                        </a:rPr>
                        <a:t>tuple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667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b="1" dirty="0">
                          <a:solidFill>
                            <a:srgbClr val="FF0000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SQL</a:t>
                      </a: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基本表</a:t>
                      </a:r>
                    </a:p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base table</a:t>
                      </a:r>
                      <a:endParaRPr lang="zh-CN" altLang="en-US" sz="2800" b="1" dirty="0">
                        <a:solidFill>
                          <a:srgbClr val="0000C8"/>
                        </a:solidFill>
                        <a:ea typeface="楷体" panose="02010609060101010101" charset="-122"/>
                        <a:cs typeface="Times New Roman" panose="02020603050405020304" pitchFamily="2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视图</a:t>
                      </a:r>
                    </a:p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view</a:t>
                      </a:r>
                      <a:endParaRPr lang="zh-CN" altLang="en-US" sz="2800" b="1" dirty="0">
                        <a:solidFill>
                          <a:srgbClr val="0000C8"/>
                        </a:solidFill>
                        <a:ea typeface="楷体" panose="02010609060101010101" charset="-122"/>
                        <a:cs typeface="Times New Roman" panose="02020603050405020304" pitchFamily="2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列</a:t>
                      </a:r>
                    </a:p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column</a:t>
                      </a:r>
                      <a:endParaRPr lang="zh-CN" altLang="en-US" sz="2800" b="1" dirty="0">
                        <a:solidFill>
                          <a:srgbClr val="0000C8"/>
                        </a:solidFill>
                        <a:ea typeface="楷体" panose="02010609060101010101" charset="-122"/>
                        <a:cs typeface="Times New Roman" panose="02020603050405020304" pitchFamily="2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q"/>
                        <a:defRPr sz="2000" b="0" i="0" u="none" kern="1200" baseline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000" b="0" kern="1200">
                          <a:solidFill>
                            <a:schemeClr val="tx1"/>
                          </a:solidFill>
                        </a:defRPr>
                      </a:lvl2pPr>
                      <a:lvl3pPr marL="1143000" lvl="2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3pPr>
                      <a:lvl4pPr marL="1600200" lvl="3" indent="-228600">
                        <a:buFont typeface="Wingdings" panose="05000000000000000000" pitchFamily="2" charset="2"/>
                        <a:defRPr sz="2000" b="0" kern="1200">
                          <a:solidFill>
                            <a:schemeClr val="tx1"/>
                          </a:solidFill>
                        </a:defRPr>
                      </a:lvl4pPr>
                      <a:lvl5pPr marL="2057400" lvl="4" indent="-228600">
                        <a:defRPr sz="2000" b="0" kern="1200">
                          <a:solidFill>
                            <a:schemeClr val="accent2"/>
                          </a:solidFill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行</a:t>
                      </a:r>
                    </a:p>
                    <a:p>
                      <a:pPr marL="0" lvl="0" indent="0" algn="ctr" eaLnBrk="1" hangingPunct="1">
                        <a:spcBef>
                          <a:spcPct val="1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b="1" dirty="0">
                          <a:solidFill>
                            <a:srgbClr val="0000C8"/>
                          </a:solidFill>
                          <a:ea typeface="楷体" panose="02010609060101010101" charset="-122"/>
                          <a:cs typeface="Times New Roman" panose="02020603050405020304" pitchFamily="2" charset="0"/>
                        </a:rPr>
                        <a:t>row</a:t>
                      </a:r>
                      <a:endParaRPr lang="zh-CN" altLang="en-US" sz="2800" b="1" dirty="0">
                        <a:solidFill>
                          <a:srgbClr val="0000C8"/>
                        </a:solidFill>
                        <a:ea typeface="楷体" panose="02010609060101010101" charset="-122"/>
                        <a:cs typeface="Times New Roman" panose="02020603050405020304" pitchFamily="2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70" name="AutoShape 35"/>
          <p:cNvSpPr/>
          <p:nvPr/>
        </p:nvSpPr>
        <p:spPr>
          <a:xfrm>
            <a:off x="7023735" y="4490085"/>
            <a:ext cx="4175125" cy="995679"/>
          </a:xfrm>
          <a:prstGeom prst="borderCallout2">
            <a:avLst>
              <a:gd name="adj1" fmla="val 12926"/>
              <a:gd name="adj2" fmla="val -2440"/>
              <a:gd name="adj3" fmla="val 12926"/>
              <a:gd name="adj4" fmla="val -6708"/>
              <a:gd name="adj5" fmla="val -54398"/>
              <a:gd name="adj6" fmla="val -11028"/>
            </a:avLst>
          </a:prstGeom>
          <a:solidFill>
            <a:srgbClr val="EAEAEA"/>
          </a:solidFill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arrow" w="med" len="med"/>
          </a:ln>
        </p:spPr>
        <p:txBody>
          <a:bodyPr wrap="square" anchor="t">
            <a:noAutofit/>
          </a:bodyPr>
          <a:lstStyle/>
          <a:p>
            <a:pPr algn="ctr">
              <a:spcBef>
                <a:spcPct val="10000"/>
              </a:spcBef>
            </a:pPr>
            <a:r>
              <a:rPr lang="zh-CN" altLang="en-US" sz="2800" b="1" dirty="0">
                <a:solidFill>
                  <a:srgbClr val="0000C8"/>
                </a:solidFill>
                <a:ea typeface="楷体" panose="02010609060101010101" charset="-122"/>
                <a:cs typeface="Times New Roman" panose="02020603050405020304" pitchFamily="2" charset="0"/>
              </a:rPr>
              <a:t>视图也被称为‘虚表’</a:t>
            </a:r>
          </a:p>
          <a:p>
            <a:pPr algn="ctr">
              <a:spcBef>
                <a:spcPct val="10000"/>
              </a:spcBef>
            </a:pPr>
            <a:r>
              <a:rPr lang="zh-CN" altLang="en-US" sz="2800" b="1" dirty="0">
                <a:solidFill>
                  <a:srgbClr val="0000C8"/>
                </a:solidFill>
                <a:ea typeface="楷体" panose="02010609060101010101" charset="-122"/>
                <a:cs typeface="Times New Roman" panose="02020603050405020304" pitchFamily="2" charset="0"/>
              </a:rPr>
              <a:t>（</a:t>
            </a:r>
            <a:r>
              <a:rPr lang="en-US" altLang="x-none" sz="2800" b="1" dirty="0">
                <a:solidFill>
                  <a:srgbClr val="0000C8"/>
                </a:solidFill>
                <a:ea typeface="楷体" panose="02010609060101010101" charset="-122"/>
                <a:cs typeface="Times New Roman" panose="02020603050405020304" pitchFamily="2" charset="0"/>
              </a:rPr>
              <a:t>virtual table</a:t>
            </a:r>
            <a:r>
              <a:rPr lang="zh-CN" altLang="en-US" sz="2800" b="1" dirty="0">
                <a:solidFill>
                  <a:srgbClr val="0000C8"/>
                </a:solidFill>
                <a:ea typeface="楷体" panose="02010609060101010101" charset="-122"/>
                <a:cs typeface="Times New Roman" panose="02020603050405020304" pitchFamily="2" charset="0"/>
              </a:rPr>
              <a:t>）</a:t>
            </a:r>
          </a:p>
        </p:txBody>
      </p:sp>
      <p:grpSp>
        <p:nvGrpSpPr>
          <p:cNvPr id="6171" name="组合 6170"/>
          <p:cNvGrpSpPr/>
          <p:nvPr/>
        </p:nvGrpSpPr>
        <p:grpSpPr>
          <a:xfrm>
            <a:off x="2522538" y="3976688"/>
            <a:ext cx="4256088" cy="2463242"/>
            <a:chOff x="-521" y="0"/>
            <a:chExt cx="2681" cy="705"/>
          </a:xfrm>
        </p:grpSpPr>
        <p:sp>
          <p:nvSpPr>
            <p:cNvPr id="7195" name="Freeform 36"/>
            <p:cNvSpPr/>
            <p:nvPr/>
          </p:nvSpPr>
          <p:spPr>
            <a:xfrm>
              <a:off x="480" y="0"/>
              <a:ext cx="110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" y="240"/>
                </a:cxn>
                <a:cxn ang="0">
                  <a:pos x="1104" y="0"/>
                </a:cxn>
              </a:cxnLst>
              <a:rect l="0" t="0" r="0" b="0"/>
              <a:pathLst>
                <a:path w="1104" h="240">
                  <a:moveTo>
                    <a:pt x="0" y="0"/>
                  </a:moveTo>
                  <a:cubicBezTo>
                    <a:pt x="196" y="120"/>
                    <a:pt x="392" y="240"/>
                    <a:pt x="576" y="240"/>
                  </a:cubicBezTo>
                  <a:cubicBezTo>
                    <a:pt x="760" y="240"/>
                    <a:pt x="932" y="120"/>
                    <a:pt x="1104" y="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ea typeface="楷体" panose="02010609060101010101" charset="-122"/>
                <a:cs typeface="Times New Roman" panose="02020603050405020304" pitchFamily="2" charset="0"/>
              </a:endParaRPr>
            </a:p>
          </p:txBody>
        </p:sp>
        <p:sp>
          <p:nvSpPr>
            <p:cNvPr id="7196" name="Line 37"/>
            <p:cNvSpPr/>
            <p:nvPr/>
          </p:nvSpPr>
          <p:spPr>
            <a:xfrm>
              <a:off x="1056" y="240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pPr algn="ctr"/>
              <a:endParaRPr lang="zh-CN" altLang="en-US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7197" name="Text Box 38"/>
            <p:cNvSpPr txBox="1"/>
            <p:nvPr/>
          </p:nvSpPr>
          <p:spPr>
            <a:xfrm>
              <a:off x="-521" y="432"/>
              <a:ext cx="2681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C8"/>
                  </a:solidFill>
                  <a:ea typeface="楷体" panose="02010609060101010101" charset="-122"/>
                  <a:cs typeface="Times New Roman" panose="02020603050405020304" pitchFamily="2" charset="0"/>
                </a:rPr>
                <a:t>两者统称为 ‘表’ （</a:t>
              </a:r>
              <a:r>
                <a:rPr lang="en-US" altLang="x-none" sz="2800" b="1" dirty="0">
                  <a:solidFill>
                    <a:srgbClr val="0000C8"/>
                  </a:solidFill>
                  <a:ea typeface="楷体" panose="02010609060101010101" charset="-122"/>
                  <a:cs typeface="Times New Roman" panose="02020603050405020304" pitchFamily="2" charset="0"/>
                </a:rPr>
                <a:t>table</a:t>
              </a:r>
              <a:r>
                <a:rPr lang="zh-CN" altLang="en-US" sz="2800" b="1" dirty="0">
                  <a:solidFill>
                    <a:srgbClr val="0000C8"/>
                  </a:solidFill>
                  <a:ea typeface="楷体" panose="02010609060101010101" charset="-122"/>
                  <a:cs typeface="Times New Roman" panose="02020603050405020304" pitchFamily="2" charset="0"/>
                </a:rPr>
                <a:t>）</a:t>
              </a: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en-US" altLang="x-none" dirty="0">
                <a:sym typeface="+mn-ea"/>
              </a:rPr>
              <a:t>SQL</a:t>
            </a:r>
            <a:r>
              <a:rPr lang="zh-CN" altLang="x-none" dirty="0">
                <a:sym typeface="+mn-ea"/>
              </a:rPr>
              <a:t>语言的基本语言成分</a:t>
            </a:r>
            <a:endParaRPr lang="en-US" altLang="zh-CN" dirty="0">
              <a:sym typeface="+mn-ea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lvl="0" eaLnBrk="1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符号</a:t>
            </a:r>
            <a:r>
              <a:rPr lang="zh-CN" altLang="en-US" sz="2400" dirty="0"/>
              <a:t>：</a:t>
            </a:r>
            <a:r>
              <a:rPr lang="en-US" altLang="zh-CN" sz="2400" dirty="0"/>
              <a:t>26</a:t>
            </a:r>
            <a:r>
              <a:rPr lang="zh-CN" altLang="en-US" sz="2400" dirty="0"/>
              <a:t>个英文字母，阿拉伯数字，括号，四则运算，</a:t>
            </a:r>
            <a:r>
              <a:rPr lang="en-US" altLang="zh-CN" sz="2400" dirty="0"/>
              <a:t>......</a:t>
            </a:r>
            <a:endParaRPr lang="zh-CN" altLang="en-US" sz="2400" dirty="0"/>
          </a:p>
          <a:p>
            <a:pPr lvl="0" eaLnBrk="1" hangingPunct="1">
              <a:lnSpc>
                <a:spcPct val="100000"/>
              </a:lnSpc>
              <a:spcBef>
                <a:spcPts val="1500"/>
              </a:spcBef>
            </a:pPr>
            <a:r>
              <a:rPr lang="zh-CN" altLang="zh-CN" sz="2400" dirty="0">
                <a:solidFill>
                  <a:srgbClr val="FF0000"/>
                </a:solidFill>
              </a:rPr>
              <a:t>保留字</a:t>
            </a:r>
            <a:r>
              <a:rPr lang="zh-CN" altLang="zh-CN" sz="2400" dirty="0"/>
              <a:t>：</a:t>
            </a:r>
            <a:r>
              <a:rPr lang="zh-CN" altLang="en-US" sz="2400" dirty="0"/>
              <a:t>在</a:t>
            </a:r>
            <a:r>
              <a:rPr lang="en-US" altLang="zh-CN" sz="2400" dirty="0"/>
              <a:t>SQL</a:t>
            </a:r>
            <a:r>
              <a:rPr lang="zh-CN" altLang="en-US" sz="2400" dirty="0"/>
              <a:t>语言中具有特定含义的语言成分，通常是一个英文单词（或缩写），通常用于标识一条</a:t>
            </a:r>
            <a:r>
              <a:rPr lang="en-US" altLang="zh-CN" sz="2400" dirty="0"/>
              <a:t>SQL</a:t>
            </a:r>
            <a:r>
              <a:rPr lang="zh-CN" altLang="en-US" sz="2400" dirty="0"/>
              <a:t>语句的组成成分，也包括系统内置的系统表、存储过程</a:t>
            </a:r>
            <a:r>
              <a:rPr lang="en-US" altLang="zh-CN" sz="2400" dirty="0"/>
              <a:t>/</a:t>
            </a:r>
            <a:r>
              <a:rPr lang="zh-CN" altLang="en-US" sz="2400" dirty="0"/>
              <a:t>函数、</a:t>
            </a:r>
            <a:r>
              <a:rPr lang="en-US" altLang="zh-CN" sz="2400" dirty="0"/>
              <a:t>SQL</a:t>
            </a:r>
            <a:r>
              <a:rPr lang="zh-CN" altLang="en-US" sz="2400" dirty="0"/>
              <a:t>函数等等，例如：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</a:pPr>
            <a:r>
              <a:rPr lang="zh-CN" altLang="en-US" sz="2400" dirty="0"/>
              <a:t>用于标识语句类型：</a:t>
            </a:r>
            <a:r>
              <a:rPr lang="en-US" altLang="zh-CN" sz="2400" dirty="0"/>
              <a:t>create, select, insert, alter, ......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</a:pPr>
            <a:r>
              <a:rPr lang="zh-CN" altLang="zh-CN" sz="2400" dirty="0"/>
              <a:t>用于标识对象类型：</a:t>
            </a:r>
            <a:r>
              <a:rPr lang="en-US" altLang="zh-CN" sz="2400" dirty="0"/>
              <a:t>table, view, procedure, trigger, ......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</a:pPr>
            <a:r>
              <a:rPr lang="zh-CN" altLang="en-US" sz="2400" dirty="0"/>
              <a:t>用于标识语句成分：</a:t>
            </a:r>
            <a:r>
              <a:rPr lang="en-US" altLang="zh-CN" sz="2400" dirty="0"/>
              <a:t>unique, primary key, with check option, ......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</a:pPr>
            <a:r>
              <a:rPr lang="zh-CN" altLang="zh-CN" sz="2400" dirty="0"/>
              <a:t>数据类型，内置函数，</a:t>
            </a:r>
            <a:r>
              <a:rPr lang="en-US" altLang="zh-CN" sz="2400" dirty="0"/>
              <a:t>......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</a:pPr>
            <a:r>
              <a:rPr lang="zh-CN" altLang="en-US" sz="2400" dirty="0"/>
              <a:t>可编程</a:t>
            </a:r>
            <a:r>
              <a:rPr lang="en-US" altLang="zh-CN" sz="2400" dirty="0"/>
              <a:t>SQL</a:t>
            </a:r>
            <a:r>
              <a:rPr lang="zh-CN" altLang="en-US" sz="2400" dirty="0"/>
              <a:t>中的流程控制命令：</a:t>
            </a:r>
            <a:r>
              <a:rPr lang="en-US" altLang="zh-CN" sz="2400" dirty="0"/>
              <a:t>if...then...else, while..., for ...</a:t>
            </a:r>
          </a:p>
          <a:p>
            <a:pPr lvl="0" eaLnBrk="1" hangingPunct="1">
              <a:lnSpc>
                <a:spcPct val="100000"/>
              </a:lnSpc>
              <a:spcBef>
                <a:spcPts val="15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标识符</a:t>
            </a:r>
            <a:r>
              <a:rPr lang="zh-CN" altLang="en-US" sz="2400" dirty="0"/>
              <a:t>：用于对由用户创建的数据库对象进行命名，包括表、视图、属性、存储过程</a:t>
            </a:r>
            <a:r>
              <a:rPr lang="en-US" altLang="zh-CN" sz="2400" dirty="0"/>
              <a:t>/</a:t>
            </a:r>
            <a:r>
              <a:rPr lang="zh-CN" altLang="zh-CN" sz="2400" dirty="0"/>
              <a:t>函数、触发器、变量</a:t>
            </a:r>
            <a:r>
              <a:rPr lang="en-US" altLang="zh-CN" sz="2400" dirty="0"/>
              <a:t>......</a:t>
            </a:r>
          </a:p>
          <a:p>
            <a:pPr lvl="0" eaLnBrk="1" hangingPunct="1">
              <a:lnSpc>
                <a:spcPct val="100000"/>
              </a:lnSpc>
              <a:spcBef>
                <a:spcPts val="15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常量</a:t>
            </a:r>
            <a:r>
              <a:rPr lang="zh-CN" altLang="en-US" sz="2400" dirty="0"/>
              <a:t>：数值常量、字符（串）常量、日期</a:t>
            </a:r>
            <a:r>
              <a:rPr lang="en-US" altLang="zh-CN" sz="2400" dirty="0"/>
              <a:t>/</a:t>
            </a:r>
            <a:r>
              <a:rPr lang="zh-CN" altLang="en-US" sz="2400" dirty="0"/>
              <a:t>时间常量</a:t>
            </a:r>
            <a:endParaRPr lang="zh-CN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en-US" altLang="x-none" dirty="0">
                <a:sym typeface="+mn-ea"/>
              </a:rPr>
              <a:t>SQL</a:t>
            </a:r>
            <a:r>
              <a:rPr lang="zh-CN" altLang="x-none" dirty="0">
                <a:sym typeface="+mn-ea"/>
              </a:rPr>
              <a:t>语言的基本表示规范（交互式</a:t>
            </a:r>
            <a:r>
              <a:rPr lang="en-US" altLang="zh-CN" dirty="0">
                <a:sym typeface="+mn-ea"/>
              </a:rPr>
              <a:t>SQL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lvl="0" eaLnBrk="1" hangingPunct="1">
              <a:lnSpc>
                <a:spcPct val="110000"/>
              </a:lnSpc>
              <a:spcBef>
                <a:spcPts val="600"/>
              </a:spcBef>
            </a:pP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一条完整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SQL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语句，通常以命令动词开始，以</a:t>
            </a:r>
            <a:r>
              <a:rPr lang="zh-CN" altLang="en-US" sz="28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分号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';'</a:t>
            </a:r>
            <a:r>
              <a:rPr lang="zh-CN" altLang="zh-CN" sz="2800" dirty="0">
                <a:latin typeface="Calibri" panose="020F0502020204030204" charset="0"/>
                <a:cs typeface="Calibri" panose="020F0502020204030204" charset="0"/>
              </a:rPr>
              <a:t>作为结束符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zh-CN" altLang="zh-CN" sz="2800" dirty="0">
                <a:latin typeface="Calibri" panose="020F0502020204030204" charset="0"/>
                <a:cs typeface="Calibri" panose="020F0502020204030204" charset="0"/>
              </a:rPr>
              <a:t>在交互式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SQL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执行窗口中，可以一次只执行一条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SQL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语句，也可以一次执行多条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SQL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语句（批处理）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在批处理执行方式下，分号既作为前一条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SQL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语句的结束符，也可以看做是不同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SQL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语句之间的分隔符</a:t>
            </a:r>
          </a:p>
          <a:p>
            <a:pPr lvl="0" eaLnBrk="1" hangingPunct="1">
              <a:lnSpc>
                <a:spcPct val="110000"/>
              </a:lnSpc>
              <a:spcBef>
                <a:spcPts val="1600"/>
              </a:spcBef>
            </a:pP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除常量外，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SQL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语言中的其他语言成分仅支持西文字符，且（字母）不区分大小写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保留字、表名、列名等都不区分大小写（在个别数据库系统中有例外）</a:t>
            </a:r>
          </a:p>
          <a:p>
            <a:pPr lvl="0" eaLnBrk="1" hangingPunct="1">
              <a:lnSpc>
                <a:spcPct val="110000"/>
              </a:lnSpc>
              <a:spcBef>
                <a:spcPts val="1600"/>
              </a:spcBef>
            </a:pP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数值类型的常量不需要定界符，但字符（串）或日期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/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时间类型的常量需要使用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‘</a:t>
            </a:r>
            <a:r>
              <a:rPr lang="zh-CN" altLang="en-US" sz="28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单引号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’ </a:t>
            </a: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作为定界符，可支持不同的日期显示格式。</a:t>
            </a:r>
            <a:endParaRPr lang="zh-CN" altLang="zh-CN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</a:t>
            </a:r>
            <a:r>
              <a:rPr lang="zh-CN" altLang="en-US" dirty="0"/>
              <a:t>与关系数据库三级模式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18435" name="Group 1055"/>
          <p:cNvGrpSpPr/>
          <p:nvPr/>
        </p:nvGrpSpPr>
        <p:grpSpPr bwMode="auto">
          <a:xfrm>
            <a:off x="1727675" y="923950"/>
            <a:ext cx="9583738" cy="4854575"/>
            <a:chOff x="-255" y="-444"/>
            <a:chExt cx="6037" cy="3058"/>
          </a:xfrm>
        </p:grpSpPr>
        <p:sp>
          <p:nvSpPr>
            <p:cNvPr id="18437" name="Rectangle 1028"/>
            <p:cNvSpPr>
              <a:spLocks noChangeArrowheads="1"/>
            </p:cNvSpPr>
            <p:nvPr/>
          </p:nvSpPr>
          <p:spPr bwMode="auto">
            <a:xfrm>
              <a:off x="1054" y="-444"/>
              <a:ext cx="816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squar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SQL</a:t>
              </a:r>
            </a:p>
          </p:txBody>
        </p:sp>
        <p:sp>
          <p:nvSpPr>
            <p:cNvPr id="18438" name="Rectangle 1029"/>
            <p:cNvSpPr>
              <a:spLocks noChangeArrowheads="1"/>
            </p:cNvSpPr>
            <p:nvPr/>
          </p:nvSpPr>
          <p:spPr bwMode="auto">
            <a:xfrm>
              <a:off x="2755" y="471"/>
              <a:ext cx="816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non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视图</a:t>
              </a:r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8439" name="Rectangle 1030"/>
            <p:cNvSpPr>
              <a:spLocks noChangeArrowheads="1"/>
            </p:cNvSpPr>
            <p:nvPr/>
          </p:nvSpPr>
          <p:spPr bwMode="auto">
            <a:xfrm>
              <a:off x="1054" y="471"/>
              <a:ext cx="816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squar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视图</a:t>
              </a:r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8440" name="Rectangle 1031"/>
            <p:cNvSpPr>
              <a:spLocks noChangeArrowheads="1"/>
            </p:cNvSpPr>
            <p:nvPr/>
          </p:nvSpPr>
          <p:spPr bwMode="auto">
            <a:xfrm>
              <a:off x="991" y="1378"/>
              <a:ext cx="952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non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基本表</a:t>
              </a:r>
              <a:r>
                <a:rPr lang="en-US" altLang="zh-CN" sz="2800" b="1" dirty="0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8441" name="Rectangle 1032"/>
            <p:cNvSpPr>
              <a:spLocks noChangeArrowheads="1"/>
            </p:cNvSpPr>
            <p:nvPr/>
          </p:nvSpPr>
          <p:spPr bwMode="auto">
            <a:xfrm>
              <a:off x="-143" y="1378"/>
              <a:ext cx="952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non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基本表</a:t>
              </a:r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8442" name="Rectangle 1033"/>
            <p:cNvSpPr>
              <a:spLocks noChangeArrowheads="1"/>
            </p:cNvSpPr>
            <p:nvPr/>
          </p:nvSpPr>
          <p:spPr bwMode="auto">
            <a:xfrm>
              <a:off x="2124" y="1378"/>
              <a:ext cx="952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non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基本表</a:t>
              </a:r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8443" name="Rectangle 1034"/>
            <p:cNvSpPr>
              <a:spLocks noChangeArrowheads="1"/>
            </p:cNvSpPr>
            <p:nvPr/>
          </p:nvSpPr>
          <p:spPr bwMode="auto">
            <a:xfrm>
              <a:off x="3258" y="1378"/>
              <a:ext cx="952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non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基本表</a:t>
              </a:r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8444" name="Rectangle 1035"/>
            <p:cNvSpPr>
              <a:spLocks noChangeArrowheads="1"/>
            </p:cNvSpPr>
            <p:nvPr/>
          </p:nvSpPr>
          <p:spPr bwMode="auto">
            <a:xfrm>
              <a:off x="3115" y="2285"/>
              <a:ext cx="1225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non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存储文件</a:t>
              </a:r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8445" name="Rectangle 1036"/>
            <p:cNvSpPr>
              <a:spLocks noChangeArrowheads="1"/>
            </p:cNvSpPr>
            <p:nvPr/>
          </p:nvSpPr>
          <p:spPr bwMode="auto">
            <a:xfrm>
              <a:off x="853" y="2285"/>
              <a:ext cx="1225" cy="32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miter lim="800000"/>
            </a:ln>
          </p:spPr>
          <p:txBody>
            <a:bodyPr wrap="none" anchor="ctr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存储文件</a:t>
              </a:r>
              <a:r>
                <a:rPr lang="en-US" altLang="zh-CN" sz="2800" b="1">
                  <a:solidFill>
                    <a:srgbClr val="0000C8"/>
                  </a:solidFill>
                  <a:ea typeface="楷体" panose="02010609060101010101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8456" name="Line 1049"/>
            <p:cNvSpPr>
              <a:spLocks noChangeShapeType="1"/>
            </p:cNvSpPr>
            <p:nvPr/>
          </p:nvSpPr>
          <p:spPr bwMode="auto">
            <a:xfrm>
              <a:off x="-255" y="153"/>
              <a:ext cx="4762" cy="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Line 1050"/>
            <p:cNvSpPr>
              <a:spLocks noChangeShapeType="1"/>
            </p:cNvSpPr>
            <p:nvPr/>
          </p:nvSpPr>
          <p:spPr bwMode="auto">
            <a:xfrm>
              <a:off x="-234" y="1060"/>
              <a:ext cx="4762" cy="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8" name="Line 1051"/>
            <p:cNvSpPr>
              <a:spLocks noChangeShapeType="1"/>
            </p:cNvSpPr>
            <p:nvPr/>
          </p:nvSpPr>
          <p:spPr bwMode="auto">
            <a:xfrm>
              <a:off x="-234" y="1967"/>
              <a:ext cx="4762" cy="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Text Box 1052"/>
            <p:cNvSpPr txBox="1">
              <a:spLocks noChangeArrowheads="1"/>
            </p:cNvSpPr>
            <p:nvPr/>
          </p:nvSpPr>
          <p:spPr bwMode="auto">
            <a:xfrm>
              <a:off x="4665" y="471"/>
              <a:ext cx="111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C00000"/>
                  </a:solidFill>
                  <a:ea typeface="楷体" panose="02010609060101010101" charset="-122"/>
                </a:rPr>
                <a:t>外模式</a:t>
              </a:r>
            </a:p>
          </p:txBody>
        </p:sp>
        <p:sp>
          <p:nvSpPr>
            <p:cNvPr id="18460" name="Text Box 1053"/>
            <p:cNvSpPr txBox="1">
              <a:spLocks noChangeArrowheads="1"/>
            </p:cNvSpPr>
            <p:nvPr/>
          </p:nvSpPr>
          <p:spPr bwMode="auto">
            <a:xfrm>
              <a:off x="4665" y="1378"/>
              <a:ext cx="111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C00000"/>
                  </a:solidFill>
                  <a:ea typeface="楷体" panose="02010609060101010101" charset="-122"/>
                  <a:cs typeface="Arial" panose="020B0604020202020204" pitchFamily="34" charset="0"/>
                </a:rPr>
                <a:t>模 式</a:t>
              </a:r>
            </a:p>
          </p:txBody>
        </p:sp>
        <p:sp>
          <p:nvSpPr>
            <p:cNvPr id="18461" name="Text Box 1054"/>
            <p:cNvSpPr txBox="1">
              <a:spLocks noChangeArrowheads="1"/>
            </p:cNvSpPr>
            <p:nvPr/>
          </p:nvSpPr>
          <p:spPr bwMode="auto">
            <a:xfrm>
              <a:off x="4665" y="2285"/>
              <a:ext cx="111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C00000"/>
                  </a:solidFill>
                  <a:ea typeface="楷体" panose="02010609060101010101" charset="-122"/>
                </a:rPr>
                <a:t>内模式</a:t>
              </a:r>
            </a:p>
          </p:txBody>
        </p:sp>
      </p:grpSp>
      <p:cxnSp>
        <p:nvCxnSpPr>
          <p:cNvPr id="2" name="直接箭头连接符 1"/>
          <p:cNvCxnSpPr/>
          <p:nvPr/>
        </p:nvCxnSpPr>
        <p:spPr>
          <a:xfrm>
            <a:off x="4453255" y="1446530"/>
            <a:ext cx="0" cy="93027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>
            <a:off x="4453255" y="2886710"/>
            <a:ext cx="0" cy="93027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4449445" y="4326255"/>
            <a:ext cx="0" cy="93027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2661285" y="1456690"/>
            <a:ext cx="1513840" cy="235966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4751705" y="1456690"/>
            <a:ext cx="2459990" cy="87630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2661285" y="4338955"/>
            <a:ext cx="1321435" cy="92265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6259830" y="2899410"/>
            <a:ext cx="894080" cy="91694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153910" y="2899410"/>
            <a:ext cx="906145" cy="91694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5320665" y="4338955"/>
            <a:ext cx="939165" cy="89979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8049895" y="4338955"/>
            <a:ext cx="10160" cy="91757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070" y="687070"/>
            <a:ext cx="4430395" cy="2660650"/>
          </a:xfrm>
          <a:prstGeom prst="rect">
            <a:avLst/>
          </a:prstGeom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SQL</a:t>
            </a:r>
            <a:r>
              <a:rPr lang="zh-CN" altLang="en-US"/>
              <a:t>与关系数据库三级模式 </a:t>
            </a:r>
            <a:r>
              <a:rPr lang="en-US" altLang="zh-CN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基本表</a:t>
            </a:r>
            <a:endParaRPr lang="zh-CN" altLang="en-US" sz="28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本身独立存在的表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/>
              <a:t>一个关系对应</a:t>
            </a:r>
            <a:r>
              <a:rPr lang="zh-CN" altLang="en-US" sz="2800" dirty="0"/>
              <a:t>一个基本表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一个或多个基本表对应一个存储文件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一个表可以带若干索引</a:t>
            </a:r>
          </a:p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存储文件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存储文件的逻辑结构组成了关系数据库的内模式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dirty="0">
                <a:sym typeface="+mn-ea"/>
              </a:rPr>
              <a:t>存储文件的</a:t>
            </a:r>
            <a:r>
              <a:rPr lang="zh-CN" altLang="en-US" sz="2800" dirty="0"/>
              <a:t>物理结构对最终用户是隐蔽的</a:t>
            </a:r>
          </a:p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视图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从一个或几个基本表导出的表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数据库中只存放视图的定义而不存放视图对应的数据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视图是一个虚表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用户可以在视图上再定义视图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4606925"/>
            <a:ext cx="9144000" cy="650875"/>
          </a:xfrm>
        </p:spPr>
        <p:txBody>
          <a:bodyPr anchor="b" anchorCtr="0"/>
          <a:lstStyle/>
          <a:p>
            <a:pPr eaLnBrk="1" hangingPunct="1"/>
            <a:r>
              <a:rPr kumimoji="1" lang="zh-CN" altLang="en-US" dirty="0">
                <a:solidFill>
                  <a:srgbClr val="1F2DA8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（2025 春季）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  <a:spcBef>
                <a:spcPts val="2400"/>
              </a:spcBef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第3章  关系数据库标准语言SQL</a:t>
            </a:r>
            <a:b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b="1" dirty="0">
                <a:solidFill>
                  <a:srgbClr val="1F2DA8"/>
                </a:solidFill>
                <a:effectLst/>
                <a:sym typeface="+mn-ea"/>
              </a:rPr>
              <a:t>3.2  </a:t>
            </a:r>
            <a:r>
              <a:rPr lang="zh-CN" altLang="en-US" sz="3600" b="1" dirty="0">
                <a:solidFill>
                  <a:srgbClr val="1F2DA8"/>
                </a:solidFill>
                <a:effectLst/>
                <a:sym typeface="+mn-ea"/>
              </a:rPr>
              <a:t>学生</a:t>
            </a:r>
            <a:r>
              <a:rPr lang="en-US" altLang="zh-CN" sz="3600" b="1" dirty="0">
                <a:solidFill>
                  <a:srgbClr val="1F2DA8"/>
                </a:solidFill>
                <a:effectLst/>
                <a:sym typeface="+mn-ea"/>
              </a:rPr>
              <a:t>-</a:t>
            </a:r>
            <a:r>
              <a:rPr lang="zh-CN" altLang="en-US" sz="3600" b="1" dirty="0">
                <a:solidFill>
                  <a:srgbClr val="1F2DA8"/>
                </a:solidFill>
                <a:effectLst/>
                <a:sym typeface="+mn-ea"/>
              </a:rPr>
              <a:t>课程数据库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基础关系 </a:t>
            </a:r>
            <a:r>
              <a:rPr lang="en-US" altLang="zh-CN" dirty="0">
                <a:sym typeface="+mn-ea"/>
              </a:rPr>
              <a:t>1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ym typeface="+mn-ea"/>
              </a:rPr>
              <a:t>学生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课程数据库</a:t>
            </a:r>
            <a:r>
              <a:rPr lang="en-US" altLang="zh-CN">
                <a:sym typeface="+mn-ea"/>
              </a:rPr>
              <a:t>:</a:t>
            </a:r>
            <a:endParaRPr lang="en-US" altLang="zh-CN" b="1"/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CN" altLang="en-US">
                <a:sym typeface="+mn-ea"/>
              </a:rPr>
              <a:t>学生关系</a:t>
            </a:r>
            <a:r>
              <a:rPr lang="en-US" altLang="zh-CN">
                <a:sym typeface="+mn-ea"/>
              </a:rPr>
              <a:t>Student</a:t>
            </a:r>
            <a:r>
              <a:rPr lang="zh-CN" altLang="en-US">
                <a:sym typeface="+mn-ea"/>
              </a:rPr>
              <a:t>、课程关系</a:t>
            </a:r>
            <a:r>
              <a:rPr lang="en-US" altLang="zh-CN">
                <a:sym typeface="+mn-ea"/>
              </a:rPr>
              <a:t>Course</a:t>
            </a:r>
            <a:r>
              <a:rPr lang="zh-CN" altLang="en-US">
                <a:sym typeface="+mn-ea"/>
              </a:rPr>
              <a:t>、选修关系</a:t>
            </a:r>
            <a:r>
              <a:rPr lang="en-US" altLang="zh-CN">
                <a:sym typeface="+mn-ea"/>
              </a:rPr>
              <a:t>SC</a:t>
            </a:r>
            <a:endParaRPr lang="zh-CN" altLang="en-US"/>
          </a:p>
        </p:txBody>
      </p:sp>
      <p:graphicFrame>
        <p:nvGraphicFramePr>
          <p:cNvPr id="341263" name="Group 271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713105" y="2743200"/>
          <a:ext cx="10748010" cy="30281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50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1181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学号</a:t>
                      </a:r>
                    </a:p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Sno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姓名</a:t>
                      </a:r>
                    </a:p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Sname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性别</a:t>
                      </a:r>
                    </a:p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Ssex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年龄</a:t>
                      </a:r>
                    </a:p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Sage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所在系</a:t>
                      </a:r>
                    </a:p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>
                          <a:ln>
                            <a:noFill/>
                          </a:ln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Sdept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李勇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男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CS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7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201215122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刘晨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女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CS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7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201215123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王敏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女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18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MA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201215125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张立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男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19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IS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786" marB="467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996" name="Rectangle 8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62580" y="2133600"/>
            <a:ext cx="64357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学生关系</a:t>
            </a:r>
            <a:r>
              <a:rPr lang="en-US" altLang="zh-CN" sz="2800" b="1"/>
              <a:t> Student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基础关系 </a:t>
            </a:r>
            <a:r>
              <a:rPr lang="en-US" altLang="zh-CN" dirty="0"/>
              <a:t>2</a:t>
            </a:r>
          </a:p>
        </p:txBody>
      </p:sp>
      <p:graphicFrame>
        <p:nvGraphicFramePr>
          <p:cNvPr id="342591" name="Group 575"/>
          <p:cNvGraphicFramePr>
            <a:graphicFrameLocks noGrp="1"/>
          </p:cNvGraphicFramePr>
          <p:nvPr>
            <p:ph type="tbl" idx="4294967295"/>
            <p:custDataLst>
              <p:tags r:id="rId1"/>
            </p:custDataLst>
          </p:nvPr>
        </p:nvGraphicFramePr>
        <p:xfrm>
          <a:off x="1094105" y="1268730"/>
          <a:ext cx="9779635" cy="4845050"/>
        </p:xfrm>
        <a:graphic>
          <a:graphicData uri="http://schemas.openxmlformats.org/drawingml/2006/table">
            <a:tbl>
              <a:tblPr/>
              <a:tblGrid>
                <a:gridCol w="197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4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949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课程号</a:t>
                      </a:r>
                    </a:p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Cno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课程名</a:t>
                      </a:r>
                    </a:p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Cname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先行课</a:t>
                      </a:r>
                    </a:p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Cpno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学分</a:t>
                      </a:r>
                    </a:p>
                    <a:p>
                      <a:pPr marR="0" lvl="0" indent="0" algn="ctr" defTabSz="914400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Ccredit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数据库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数学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信息系统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9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操作系统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数据结构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数据处理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1F2DA8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PASCAL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语言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6066" name="Text Box 502"/>
          <p:cNvSpPr txBox="1">
            <a:spLocks noChangeArrowheads="1"/>
          </p:cNvSpPr>
          <p:nvPr/>
        </p:nvSpPr>
        <p:spPr bwMode="auto">
          <a:xfrm>
            <a:off x="4359910" y="745490"/>
            <a:ext cx="3472815" cy="52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/>
              <a:t>课程关系</a:t>
            </a:r>
            <a:r>
              <a:rPr lang="en-US" altLang="zh-CN" sz="2800" b="1" dirty="0"/>
              <a:t> Course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基础关系 </a:t>
            </a:r>
            <a:r>
              <a:rPr lang="en-US" altLang="zh-CN" dirty="0"/>
              <a:t>3</a:t>
            </a:r>
          </a:p>
        </p:txBody>
      </p:sp>
      <p:graphicFrame>
        <p:nvGraphicFramePr>
          <p:cNvPr id="344448" name="Group 384"/>
          <p:cNvGraphicFramePr>
            <a:graphicFrameLocks noGrp="1"/>
          </p:cNvGraphicFramePr>
          <p:nvPr>
            <p:ph type="tbl" idx="4294967295"/>
          </p:nvPr>
        </p:nvGraphicFramePr>
        <p:xfrm>
          <a:off x="2459355" y="1567815"/>
          <a:ext cx="7272020" cy="3863465"/>
        </p:xfrm>
        <a:graphic>
          <a:graphicData uri="http://schemas.openxmlformats.org/drawingml/2006/table">
            <a:tbl>
              <a:tblPr/>
              <a:tblGrid>
                <a:gridCol w="308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1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Sno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Cno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Grade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201215121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92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201215121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85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201215121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88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201215122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90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5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201215122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3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10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F2DA8"/>
                          </a:solidFill>
                          <a:effectLst/>
                          <a:latin typeface="楷体" panose="02010609060101010101" charset="-122"/>
                          <a:ea typeface="楷体" panose="02010609060101010101" charset="-122"/>
                        </a:rPr>
                        <a:t>80</a:t>
                      </a:r>
                    </a:p>
                  </a:txBody>
                  <a:tcPr marL="90000" marR="90000" marT="46799" marB="467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046" name="Rectangle 185"/>
          <p:cNvSpPr>
            <a:spLocks noChangeArrowheads="1"/>
          </p:cNvSpPr>
          <p:nvPr/>
        </p:nvSpPr>
        <p:spPr bwMode="auto">
          <a:xfrm>
            <a:off x="4780280" y="922655"/>
            <a:ext cx="282130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/>
              <a:t>选修关系</a:t>
            </a:r>
            <a:r>
              <a:rPr lang="en-US" altLang="zh-CN" sz="2800" b="1" dirty="0"/>
              <a:t> SC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anchor="b" anchorCtr="0"/>
          <a:lstStyle/>
          <a:p>
            <a:pPr eaLnBrk="1" hangingPunct="1"/>
            <a:r>
              <a:rPr kumimoji="1" lang="zh-CN" altLang="en-US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（2025 春季）</a:t>
            </a:r>
            <a:endParaRPr lang="en-US" altLang="zh-CN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  <a:spcBef>
                <a:spcPts val="2400"/>
              </a:spcBef>
            </a:pPr>
            <a:r>
              <a:rPr lang="zh-CN" altLang="en-US" sz="3600" dirty="0"/>
              <a:t>第3章  关系数据库标准语言SQL</a:t>
            </a:r>
            <a:br>
              <a:rPr lang="en-US" altLang="zh-CN" sz="3600" dirty="0"/>
            </a:br>
            <a:r>
              <a:rPr lang="en-US" altLang="zh-CN" sz="3600" dirty="0">
                <a:solidFill>
                  <a:srgbClr val="1F2DA8"/>
                </a:solidFill>
              </a:rPr>
              <a:t>ch3.3 SQL</a:t>
            </a:r>
            <a:r>
              <a:rPr lang="zh-CN" altLang="en-US" sz="3600" dirty="0">
                <a:solidFill>
                  <a:srgbClr val="1F2DA8"/>
                </a:solidFill>
              </a:rPr>
              <a:t>数据定义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层次化的数据库对象命名机制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一个关系数据库管理系统的实例（</a:t>
            </a:r>
            <a:r>
              <a:rPr lang="en-US" altLang="zh-CN" dirty="0"/>
              <a:t>Instance</a:t>
            </a:r>
            <a:r>
              <a:rPr lang="zh-CN" altLang="en-US" dirty="0"/>
              <a:t>）中可以建立多个数据库</a:t>
            </a:r>
          </a:p>
          <a:p>
            <a:r>
              <a:rPr lang="zh-CN" altLang="en-US" dirty="0"/>
              <a:t>一个数据库中可以建立多个模式</a:t>
            </a:r>
          </a:p>
          <a:p>
            <a:r>
              <a:rPr lang="zh-CN" altLang="en-US" dirty="0"/>
              <a:t>一个模式下通常包括多个表、视图和索引等数据库对象</a:t>
            </a:r>
          </a:p>
          <a:p>
            <a:endParaRPr lang="zh-CN" altLang="en-US" dirty="0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5580000" y="4392000"/>
            <a:ext cx="252730" cy="409575"/>
          </a:xfrm>
          <a:prstGeom prst="downArrow">
            <a:avLst>
              <a:gd name="adj1" fmla="val 50000"/>
              <a:gd name="adj2" fmla="val 58265"/>
            </a:avLst>
          </a:prstGeom>
          <a:solidFill>
            <a:srgbClr val="FFFFFF"/>
          </a:solidFill>
          <a:ln w="9525">
            <a:solidFill>
              <a:srgbClr val="FF5050"/>
            </a:solidFill>
            <a:miter lim="800000"/>
          </a:ln>
        </p:spPr>
        <p:txBody>
          <a:bodyPr vert="eaVert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633470" y="3331845"/>
            <a:ext cx="4158615" cy="3046095"/>
            <a:chOff x="2627313" y="1157288"/>
            <a:chExt cx="4158615" cy="3046095"/>
          </a:xfrm>
        </p:grpSpPr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2627313" y="1157288"/>
              <a:ext cx="4158615" cy="3046095"/>
            </a:xfrm>
            <a:prstGeom prst="rect">
              <a:avLst/>
            </a:prstGeom>
            <a:noFill/>
            <a:ln w="9525">
              <a:solidFill>
                <a:srgbClr val="FF505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2738438" y="1300163"/>
              <a:ext cx="3921125" cy="953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rPr>
                <a:t>数据库</a:t>
              </a:r>
            </a:p>
            <a:p>
              <a:pPr algn="ctr" eaLnBrk="1" hangingPunct="1"/>
              <a:r>
                <a:rPr lang="zh-CN" altLang="en-US" sz="2800" b="1" dirty="0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rPr>
                <a:t>（有的系统称为目录）</a:t>
              </a:r>
            </a:p>
          </p:txBody>
        </p:sp>
        <p:sp>
          <p:nvSpPr>
            <p:cNvPr id="16" name="矩形 14"/>
            <p:cNvSpPr>
              <a:spLocks noChangeArrowheads="1"/>
            </p:cNvSpPr>
            <p:nvPr/>
          </p:nvSpPr>
          <p:spPr bwMode="auto">
            <a:xfrm>
              <a:off x="2738438" y="2635568"/>
              <a:ext cx="392112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rPr>
                <a:t>模式</a:t>
              </a:r>
            </a:p>
          </p:txBody>
        </p:sp>
        <p:sp>
          <p:nvSpPr>
            <p:cNvPr id="17" name="矩形 15"/>
            <p:cNvSpPr>
              <a:spLocks noChangeArrowheads="1"/>
            </p:cNvSpPr>
            <p:nvPr/>
          </p:nvSpPr>
          <p:spPr bwMode="auto">
            <a:xfrm>
              <a:off x="2739073" y="3551873"/>
              <a:ext cx="392112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</a:rPr>
                <a:t>表以及视图、索引等</a:t>
              </a:r>
            </a:p>
          </p:txBody>
        </p:sp>
        <p:sp>
          <p:nvSpPr>
            <p:cNvPr id="18" name="AutoShape 10"/>
            <p:cNvSpPr>
              <a:spLocks noChangeArrowheads="1"/>
            </p:cNvSpPr>
            <p:nvPr/>
          </p:nvSpPr>
          <p:spPr bwMode="auto">
            <a:xfrm>
              <a:off x="4573843" y="3153443"/>
              <a:ext cx="249237" cy="411163"/>
            </a:xfrm>
            <a:prstGeom prst="downArrow">
              <a:avLst>
                <a:gd name="adj1" fmla="val 50000"/>
                <a:gd name="adj2" fmla="val 58205"/>
              </a:avLst>
            </a:prstGeom>
            <a:solidFill>
              <a:srgbClr val="FFFFFF"/>
            </a:solidFill>
            <a:ln w="9525">
              <a:solidFill>
                <a:srgbClr val="FF5050"/>
              </a:solidFill>
              <a:miter lim="800000"/>
            </a:ln>
          </p:spPr>
          <p:txBody>
            <a:bodyPr vert="eaVert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latin typeface="+mn-lt"/>
              </a:rPr>
              <a:t>数据定义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SQL</a:t>
            </a:r>
            <a:r>
              <a:rPr lang="zh-CN" altLang="en-US" dirty="0"/>
              <a:t>的数据定义功能</a:t>
            </a:r>
            <a:r>
              <a:rPr lang="en-US" altLang="zh-CN" dirty="0"/>
              <a:t>: </a:t>
            </a:r>
          </a:p>
          <a:p>
            <a:pPr lvl="1"/>
            <a:r>
              <a:rPr lang="zh-CN" altLang="en-US" dirty="0"/>
              <a:t>模式定义</a:t>
            </a:r>
          </a:p>
          <a:p>
            <a:pPr lvl="1"/>
            <a:r>
              <a:rPr lang="zh-CN" altLang="en-US" dirty="0"/>
              <a:t>表定义</a:t>
            </a:r>
          </a:p>
          <a:p>
            <a:pPr lvl="1"/>
            <a:r>
              <a:rPr lang="zh-CN" altLang="en-US" dirty="0"/>
              <a:t>视图和索引的定义 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956455"/>
              </p:ext>
            </p:extLst>
          </p:nvPr>
        </p:nvGraphicFramePr>
        <p:xfrm>
          <a:off x="423863" y="2709863"/>
          <a:ext cx="11318875" cy="385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617845" imgH="1923415" progId="Word.Document.8">
                  <p:embed/>
                </p:oleObj>
              </mc:Choice>
              <mc:Fallback>
                <p:oleObj name="文档" r:id="rId2" imgW="5617845" imgH="19234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3" y="2709863"/>
                        <a:ext cx="11318875" cy="385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定义模式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定义模式实际上定义了一个命名空间。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在这个空间中可以定义该模式包含的数据库对象，例如基本表、视图、索引等。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endParaRPr lang="zh-CN" altLang="en-US" dirty="0"/>
          </a:p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在</a:t>
            </a:r>
            <a:r>
              <a:rPr lang="en-US" altLang="zh-CN" dirty="0"/>
              <a:t>CREATE SCHEMA</a:t>
            </a:r>
            <a:r>
              <a:rPr lang="zh-CN" altLang="en-US" dirty="0"/>
              <a:t>中可以接受</a:t>
            </a:r>
            <a:r>
              <a:rPr lang="en-US" altLang="zh-CN" dirty="0"/>
              <a:t>CREATE TABLE</a:t>
            </a:r>
            <a:r>
              <a:rPr lang="zh-CN" altLang="en-US" dirty="0"/>
              <a:t>，</a:t>
            </a:r>
            <a:r>
              <a:rPr lang="en-US" altLang="zh-CN" dirty="0"/>
              <a:t>CREATE VIEW</a:t>
            </a:r>
            <a:r>
              <a:rPr lang="zh-CN" altLang="en-US" dirty="0"/>
              <a:t>和</a:t>
            </a:r>
            <a:r>
              <a:rPr lang="en-US" altLang="zh-CN" dirty="0"/>
              <a:t>GRANT</a:t>
            </a:r>
            <a:r>
              <a:rPr lang="zh-CN" altLang="en-US" dirty="0"/>
              <a:t>子句。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/>
              <a:t>CREATE SCHEMA &lt;</a:t>
            </a:r>
            <a:r>
              <a:rPr lang="zh-CN" altLang="en-US" dirty="0"/>
              <a:t>模式名</a:t>
            </a:r>
            <a:r>
              <a:rPr lang="en-US" altLang="zh-CN" dirty="0"/>
              <a:t>&gt; AUTHORIZATION &lt;</a:t>
            </a:r>
            <a:r>
              <a:rPr lang="zh-CN" altLang="en-US" dirty="0"/>
              <a:t>用户名</a:t>
            </a:r>
            <a:r>
              <a:rPr lang="en-US" altLang="zh-CN" dirty="0"/>
              <a:t>&gt;  [&lt;</a:t>
            </a:r>
            <a:r>
              <a:rPr lang="zh-CN" altLang="en-US" dirty="0"/>
              <a:t>表定义子句</a:t>
            </a:r>
            <a:r>
              <a:rPr lang="en-US" altLang="zh-CN" dirty="0"/>
              <a:t>&gt;| &lt;</a:t>
            </a:r>
            <a:r>
              <a:rPr lang="zh-CN" altLang="en-US" dirty="0"/>
              <a:t>视图定义子句</a:t>
            </a:r>
            <a:r>
              <a:rPr lang="en-US" altLang="zh-CN" dirty="0"/>
              <a:t>&gt;|&lt;</a:t>
            </a:r>
            <a:r>
              <a:rPr lang="zh-CN" altLang="en-US" dirty="0"/>
              <a:t>授权定义子句</a:t>
            </a:r>
            <a:r>
              <a:rPr lang="en-US" altLang="zh-CN" dirty="0"/>
              <a:t>&gt;]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定义模式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3.1] 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为用户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WANG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定义一个学生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课程模式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S-T</a:t>
            </a:r>
          </a:p>
          <a:p>
            <a:pPr marL="457200" lvl="1" indent="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SCHEMA “S_T” AUTHORIZATION WANG;</a:t>
            </a:r>
          </a:p>
          <a:p>
            <a:pPr marL="0" indent="0">
              <a:lnSpc>
                <a:spcPct val="110000"/>
              </a:lnSpc>
              <a:spcBef>
                <a:spcPts val="2000"/>
              </a:spcBef>
              <a:buNone/>
            </a:pP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3.2] </a:t>
            </a: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SCHEMA AUTHORIZATION WANG;</a:t>
            </a:r>
          </a:p>
          <a:p>
            <a:pPr marL="457200" lvl="1" indent="0">
              <a:buNone/>
            </a:pP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该语句没有指定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模式名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模式名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隐含为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用户名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spcBef>
                <a:spcPts val="2000"/>
              </a:spcBef>
              <a:buNone/>
            </a:pP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3.3]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为用户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ZHANG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创建了一个模式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，并且在其中定义一个表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TAB1</a:t>
            </a:r>
          </a:p>
          <a:p>
            <a:pPr marL="457200" lvl="1" indent="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SCHEMA TEST AUTHORIZATION ZHANG</a:t>
            </a:r>
          </a:p>
          <a:p>
            <a:pPr marL="363855" lvl="1" indent="84201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TAB1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( </a:t>
            </a: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COL1 SMALLINT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363855" lvl="1" indent="505460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COL2 INT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363855" lvl="1" indent="505460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COL3 CHAR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363855" lvl="1" indent="505460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COL4 NUMERIC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10,3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363855" lvl="1" indent="5054600">
              <a:buNone/>
            </a:pP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COL5 DECIMAL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5,2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删除模式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DROP SCHEMA &lt;</a:t>
            </a:r>
            <a:r>
              <a:rPr lang="zh-CN" altLang="en-US" dirty="0">
                <a:solidFill>
                  <a:srgbClr val="FF0000"/>
                </a:solidFill>
              </a:rPr>
              <a:t>模式名</a:t>
            </a:r>
            <a:r>
              <a:rPr lang="en-US" altLang="zh-CN" dirty="0">
                <a:solidFill>
                  <a:srgbClr val="FF0000"/>
                </a:solidFill>
              </a:rPr>
              <a:t>&gt; &lt;CASCADE|RESTRICT&gt;</a:t>
            </a:r>
          </a:p>
          <a:p>
            <a:pPr lvl="1"/>
            <a:r>
              <a:rPr lang="en-US" altLang="zh-CN" dirty="0"/>
              <a:t>CASCADE（</a:t>
            </a:r>
            <a:r>
              <a:rPr lang="zh-CN" altLang="en-US" dirty="0"/>
              <a:t>级联</a:t>
            </a:r>
            <a:r>
              <a:rPr lang="en-US" altLang="zh-CN" dirty="0"/>
              <a:t>）</a:t>
            </a:r>
          </a:p>
          <a:p>
            <a:pPr lvl="2"/>
            <a:r>
              <a:rPr lang="zh-CN" altLang="en-US" dirty="0"/>
              <a:t>删除模式的同时把该模式中所有的数据库对象全部删除</a:t>
            </a:r>
          </a:p>
          <a:p>
            <a:pPr lvl="1"/>
            <a:r>
              <a:rPr lang="en-US" altLang="zh-CN" dirty="0"/>
              <a:t>RESTRICT（</a:t>
            </a:r>
            <a:r>
              <a:rPr lang="zh-CN" altLang="en-US" dirty="0"/>
              <a:t>限制</a:t>
            </a:r>
            <a:r>
              <a:rPr lang="en-US" altLang="zh-CN" dirty="0"/>
              <a:t>）</a:t>
            </a:r>
          </a:p>
          <a:p>
            <a:pPr lvl="2"/>
            <a:r>
              <a:rPr lang="zh-CN" altLang="en-US" dirty="0"/>
              <a:t>如果该模式中定义了下属的数据库对象（如表、视图等），则拒绝该删除语句的执行。</a:t>
            </a:r>
          </a:p>
          <a:p>
            <a:pPr lvl="2"/>
            <a:r>
              <a:rPr lang="zh-CN" altLang="en-US" dirty="0"/>
              <a:t>仅当该模式中没有任何下属的对象时才能执行。</a:t>
            </a:r>
          </a:p>
          <a:p>
            <a:pPr lvl="2"/>
            <a:endParaRPr lang="en-US" altLang="zh-CN" dirty="0"/>
          </a:p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3.4]  </a:t>
            </a:r>
            <a:r>
              <a:rPr lang="en-US" altLang="zh-CN" dirty="0">
                <a:solidFill>
                  <a:srgbClr val="FF0000"/>
                </a:solidFill>
              </a:rPr>
              <a:t>DROP SCHEMA ZHANG CASCADE</a:t>
            </a:r>
            <a:r>
              <a:rPr lang="zh-CN" altLang="en-US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删除模式</a:t>
            </a:r>
            <a:r>
              <a:rPr lang="en-US" altLang="zh-CN" dirty="0"/>
              <a:t>ZHANG</a:t>
            </a:r>
          </a:p>
          <a:p>
            <a:pPr lvl="1"/>
            <a:r>
              <a:rPr lang="zh-CN" altLang="en-US" dirty="0"/>
              <a:t>同时该模式中定义的表</a:t>
            </a:r>
            <a:r>
              <a:rPr lang="en-US" altLang="zh-CN" dirty="0"/>
              <a:t>TAB1</a:t>
            </a:r>
            <a:r>
              <a:rPr lang="zh-CN" altLang="en-US" dirty="0"/>
              <a:t>也被删除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定义基本表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180" y="694690"/>
            <a:ext cx="11343005" cy="5897880"/>
          </a:xfrm>
        </p:spPr>
        <p:txBody>
          <a:bodyPr>
            <a:noAutofit/>
          </a:bodyPr>
          <a:lstStyle/>
          <a:p>
            <a:pPr marL="0" indent="513715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CREATE TABLE &lt;</a:t>
            </a:r>
            <a:r>
              <a:rPr lang="zh-CN" altLang="en-US" sz="2800" dirty="0">
                <a:solidFill>
                  <a:srgbClr val="FF0000"/>
                </a:solidFill>
              </a:rPr>
              <a:t>表名</a:t>
            </a:r>
            <a:r>
              <a:rPr lang="en-US" altLang="zh-CN" sz="2800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(&lt;</a:t>
            </a:r>
            <a:r>
              <a:rPr lang="zh-CN" altLang="en-US" sz="2800" dirty="0">
                <a:solidFill>
                  <a:srgbClr val="FF0000"/>
                </a:solidFill>
              </a:rPr>
              <a:t>列名</a:t>
            </a:r>
            <a:r>
              <a:rPr lang="en-US" altLang="zh-CN" sz="2800" dirty="0">
                <a:solidFill>
                  <a:srgbClr val="FF0000"/>
                </a:solidFill>
              </a:rPr>
              <a:t>&gt; &lt;</a:t>
            </a:r>
            <a:r>
              <a:rPr lang="zh-CN" altLang="en-US" sz="2800" dirty="0">
                <a:solidFill>
                  <a:srgbClr val="FF0000"/>
                </a:solidFill>
              </a:rPr>
              <a:t>数据类型</a:t>
            </a:r>
            <a:r>
              <a:rPr lang="en-US" altLang="zh-CN" sz="2800" dirty="0">
                <a:solidFill>
                  <a:srgbClr val="FF0000"/>
                </a:solidFill>
              </a:rPr>
              <a:t>&gt;[ &lt;</a:t>
            </a:r>
            <a:r>
              <a:rPr lang="zh-CN" altLang="en-US" sz="2800" dirty="0">
                <a:solidFill>
                  <a:srgbClr val="FF0000"/>
                </a:solidFill>
              </a:rPr>
              <a:t>列级完整性约束条件</a:t>
            </a:r>
            <a:r>
              <a:rPr lang="en-US" altLang="zh-CN" sz="2800" dirty="0">
                <a:solidFill>
                  <a:srgbClr val="FF0000"/>
                </a:solidFill>
              </a:rPr>
              <a:t>&gt; 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[,&lt;</a:t>
            </a:r>
            <a:r>
              <a:rPr lang="zh-CN" altLang="en-US" sz="2800" dirty="0">
                <a:solidFill>
                  <a:srgbClr val="FF0000"/>
                </a:solidFill>
              </a:rPr>
              <a:t>列名</a:t>
            </a:r>
            <a:r>
              <a:rPr lang="en-US" altLang="zh-CN" sz="2800" dirty="0">
                <a:solidFill>
                  <a:srgbClr val="FF0000"/>
                </a:solidFill>
              </a:rPr>
              <a:t>&gt; &lt;</a:t>
            </a:r>
            <a:r>
              <a:rPr lang="zh-CN" altLang="en-US" sz="2800" dirty="0">
                <a:solidFill>
                  <a:srgbClr val="FF0000"/>
                </a:solidFill>
              </a:rPr>
              <a:t>数据类型</a:t>
            </a:r>
            <a:r>
              <a:rPr lang="en-US" altLang="zh-CN" sz="2800" dirty="0">
                <a:solidFill>
                  <a:srgbClr val="FF0000"/>
                </a:solidFill>
              </a:rPr>
              <a:t>&gt;[ &lt;</a:t>
            </a:r>
            <a:r>
              <a:rPr lang="zh-CN" altLang="en-US" sz="2800" dirty="0">
                <a:solidFill>
                  <a:srgbClr val="FF0000"/>
                </a:solidFill>
              </a:rPr>
              <a:t>列级完整性约束条件</a:t>
            </a:r>
            <a:r>
              <a:rPr lang="en-US" altLang="zh-CN" sz="2800" dirty="0">
                <a:solidFill>
                  <a:srgbClr val="FF0000"/>
                </a:solidFill>
              </a:rPr>
              <a:t>&gt;] ] 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2610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 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[,&lt;</a:t>
            </a:r>
            <a:r>
              <a:rPr lang="zh-CN" altLang="en-US" sz="2800" dirty="0">
                <a:solidFill>
                  <a:srgbClr val="FF0000"/>
                </a:solidFill>
              </a:rPr>
              <a:t>表级完整性约束条件</a:t>
            </a:r>
            <a:r>
              <a:rPr lang="en-US" altLang="zh-CN" sz="2800" dirty="0">
                <a:solidFill>
                  <a:srgbClr val="FF0000"/>
                </a:solidFill>
              </a:rPr>
              <a:t>&gt; ] );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800" dirty="0"/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&lt;</a:t>
            </a:r>
            <a:r>
              <a:rPr lang="zh-CN" altLang="en-US" sz="2800" dirty="0"/>
              <a:t>表名</a:t>
            </a:r>
            <a:r>
              <a:rPr lang="en-US" altLang="zh-CN" sz="2800" dirty="0"/>
              <a:t>&gt;</a:t>
            </a:r>
            <a:r>
              <a:rPr lang="zh-CN" altLang="en-US" sz="2800" dirty="0"/>
              <a:t>：所要定义的基本表的名字</a:t>
            </a:r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&lt;</a:t>
            </a:r>
            <a:r>
              <a:rPr lang="zh-CN" altLang="en-US" sz="2800" dirty="0"/>
              <a:t>列名</a:t>
            </a:r>
            <a:r>
              <a:rPr lang="en-US" altLang="zh-CN" sz="2800" dirty="0"/>
              <a:t>&gt;</a:t>
            </a:r>
            <a:r>
              <a:rPr lang="zh-CN" altLang="en-US" sz="2800" dirty="0"/>
              <a:t>：组成该表的各个属性（列）</a:t>
            </a:r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&lt;</a:t>
            </a:r>
            <a:r>
              <a:rPr lang="zh-CN" altLang="en-US" sz="2800" dirty="0"/>
              <a:t>列级完整性约束条件</a:t>
            </a:r>
            <a:r>
              <a:rPr lang="en-US" altLang="zh-CN" sz="2800" dirty="0"/>
              <a:t>&gt;</a:t>
            </a:r>
            <a:r>
              <a:rPr lang="zh-CN" altLang="en-US" sz="2800" dirty="0"/>
              <a:t>：涉及相应属性列的完整性约束条件</a:t>
            </a:r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&lt;</a:t>
            </a:r>
            <a:r>
              <a:rPr lang="zh-CN" altLang="en-US" sz="2800" dirty="0"/>
              <a:t>表级完整性约束条件</a:t>
            </a:r>
            <a:r>
              <a:rPr lang="en-US" altLang="zh-CN" sz="2800" dirty="0"/>
              <a:t>&gt;</a:t>
            </a:r>
            <a:r>
              <a:rPr lang="zh-CN" altLang="en-US" sz="2800" dirty="0"/>
              <a:t>：涉及一个或多个属性列的完整性约束条件 </a:t>
            </a:r>
            <a:endParaRPr lang="en-US" altLang="zh-CN" sz="2800" dirty="0"/>
          </a:p>
          <a:p>
            <a:pPr lvl="1">
              <a:lnSpc>
                <a:spcPct val="100000"/>
              </a:lnSpc>
            </a:pPr>
            <a:r>
              <a:rPr lang="zh-CN" altLang="en-US" sz="2800" dirty="0"/>
              <a:t>如果完整性约束条件涉及到该表的多个属性列，则必须定义在表级上，否则既可以定义在列级也可以定义在表级。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定义基本表</a:t>
            </a:r>
            <a:r>
              <a:rPr lang="en-US" altLang="zh-CN" dirty="0"/>
              <a:t>-</a:t>
            </a:r>
            <a:r>
              <a:rPr lang="zh-CN" altLang="en-US" dirty="0"/>
              <a:t>学生表</a:t>
            </a:r>
            <a:r>
              <a:rPr lang="en-US" altLang="zh-CN" dirty="0"/>
              <a:t>Student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3.5] 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建立“学生”表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。学号是主码，姓名取值唯一。</a:t>
            </a:r>
          </a:p>
          <a:p>
            <a:pPr marL="352425" lvl="1" indent="0">
              <a:lnSpc>
                <a:spcPct val="130000"/>
              </a:lnSpc>
              <a:spcBef>
                <a:spcPts val="2000"/>
              </a:spcBef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CREATE TABLE Student          </a:t>
            </a:r>
          </a:p>
          <a:p>
            <a:pPr marL="352425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CHAR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PRIMARY KEY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/*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列级完整性约束条件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是主码*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                  </a:t>
            </a:r>
          </a:p>
          <a:p>
            <a:pPr marL="352425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CHAR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UNIQUE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,     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zh-CN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取值具有唯一性*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 marL="352425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Ssex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CHAR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352425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Sage   SMALLINT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352425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Sdept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CHAR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1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</p:txBody>
      </p:sp>
      <p:sp>
        <p:nvSpPr>
          <p:cNvPr id="36868" name="AutoShape 7"/>
          <p:cNvSpPr>
            <a:spLocks noChangeArrowheads="1"/>
          </p:cNvSpPr>
          <p:nvPr/>
        </p:nvSpPr>
        <p:spPr bwMode="auto">
          <a:xfrm>
            <a:off x="7824470" y="1654514"/>
            <a:ext cx="1475105" cy="578442"/>
          </a:xfrm>
          <a:prstGeom prst="wedgeRoundRectCallout">
            <a:avLst>
              <a:gd name="adj1" fmla="val -120555"/>
              <a:gd name="adj2" fmla="val 79281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</a:ln>
        </p:spPr>
        <p:txBody>
          <a:bodyPr wrap="square"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ea typeface="楷体" panose="02010609060101010101" charset="-122"/>
              </a:rPr>
              <a:t>主码</a:t>
            </a: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7824470" y="4214075"/>
            <a:ext cx="2785110" cy="1056211"/>
          </a:xfrm>
          <a:prstGeom prst="wedgeRoundRectCallout">
            <a:avLst>
              <a:gd name="adj1" fmla="val -114227"/>
              <a:gd name="adj2" fmla="val -92430"/>
              <a:gd name="adj3" fmla="val 16667"/>
            </a:avLst>
          </a:prstGeom>
          <a:gradFill rotWithShape="1">
            <a:gsLst>
              <a:gs pos="0">
                <a:srgbClr val="CCFFFF">
                  <a:alpha val="73000"/>
                </a:srgbClr>
              </a:gs>
              <a:gs pos="100000">
                <a:srgbClr val="B9CC4A"/>
              </a:gs>
            </a:gsLst>
            <a:lin ang="5400000" scaled="1"/>
          </a:gradFill>
          <a:ln w="25400">
            <a:solidFill>
              <a:srgbClr val="FF99CC"/>
            </a:solidFill>
            <a:miter lim="800000"/>
          </a:ln>
        </p:spPr>
        <p:txBody>
          <a:bodyPr wrap="square"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ea typeface="楷体" panose="02010609060101010101" charset="-122"/>
                <a:cs typeface="Arial" panose="020B0604020202020204" pitchFamily="34" charset="0"/>
              </a:rPr>
              <a:t>UNIQUE</a:t>
            </a:r>
          </a:p>
          <a:p>
            <a:pPr algn="ctr" eaLnBrk="1" hangingPunct="1"/>
            <a:r>
              <a:rPr lang="zh-CN" altLang="en-US" sz="2800" b="1">
                <a:ea typeface="楷体" panose="02010609060101010101" charset="-122"/>
                <a:cs typeface="Arial" panose="020B0604020202020204" pitchFamily="34" charset="0"/>
              </a:rPr>
              <a:t>约束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3545" y="6106160"/>
            <a:ext cx="11343640" cy="4603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/>
              <a:t>说明：在实际应用中，学生的姓名不具备唯一性，姓名不能被定义为学生表的码！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bldLvl="0" animBg="1" autoUpdateAnimBg="0"/>
      <p:bldP spid="5" grpId="0" bldLvl="0" animBg="1" autoUpdateAnimBg="0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定义基本表</a:t>
            </a:r>
            <a:r>
              <a:rPr lang="en-US" altLang="zh-CN" dirty="0"/>
              <a:t>-</a:t>
            </a:r>
            <a:r>
              <a:rPr lang="zh-CN" altLang="en-US" dirty="0"/>
              <a:t>课程表</a:t>
            </a:r>
            <a:r>
              <a:rPr lang="en-US" altLang="zh-CN" dirty="0"/>
              <a:t>Course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 [</a:t>
            </a:r>
            <a:r>
              <a:rPr lang="zh-CN" altLang="en-US" sz="2800" dirty="0"/>
              <a:t>例</a:t>
            </a:r>
            <a:r>
              <a:rPr lang="en-US" altLang="zh-CN" sz="2800" dirty="0"/>
              <a:t>3.6 ] </a:t>
            </a:r>
            <a:r>
              <a:rPr lang="zh-CN" altLang="en-US" sz="2800" dirty="0"/>
              <a:t>建立一个“课程”表</a:t>
            </a:r>
            <a:r>
              <a:rPr lang="en-US" altLang="zh-CN" sz="2800" dirty="0"/>
              <a:t>Course</a:t>
            </a:r>
          </a:p>
          <a:p>
            <a:pPr marL="914400" lvl="2" indent="0">
              <a:lnSpc>
                <a:spcPct val="110000"/>
              </a:lnSpc>
              <a:spcBef>
                <a:spcPts val="1000"/>
              </a:spcBef>
              <a:buNone/>
            </a:pPr>
            <a:r>
              <a:rPr lang="en-US" altLang="zh-CN" sz="2800" dirty="0"/>
              <a:t>CREATE TABLE  Course</a:t>
            </a:r>
            <a:r>
              <a:rPr lang="zh-CN" altLang="en-US" sz="2800" dirty="0"/>
              <a:t>(</a:t>
            </a:r>
          </a:p>
          <a:p>
            <a:pPr marL="1828800" lvl="4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dirty="0" err="1"/>
              <a:t>Cno</a:t>
            </a:r>
            <a:r>
              <a:rPr lang="en-US" altLang="zh-CN" sz="2800" dirty="0"/>
              <a:t>       CHAR</a:t>
            </a:r>
            <a:r>
              <a:rPr lang="zh-CN" altLang="en-US" sz="2800" dirty="0"/>
              <a:t>(</a:t>
            </a:r>
            <a:r>
              <a:rPr lang="en-US" altLang="zh-CN" sz="2800" dirty="0"/>
              <a:t>4</a:t>
            </a:r>
            <a:r>
              <a:rPr lang="zh-CN" altLang="en-US" sz="2800" dirty="0"/>
              <a:t>)</a:t>
            </a:r>
            <a:r>
              <a:rPr lang="en-US" altLang="zh-CN" sz="2800" dirty="0"/>
              <a:t> PRIMARY KEY</a:t>
            </a:r>
            <a:r>
              <a:rPr lang="zh-CN" altLang="en-US" sz="2800" dirty="0"/>
              <a:t>,</a:t>
            </a:r>
          </a:p>
          <a:p>
            <a:pPr marL="1828800" lvl="4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dirty="0" err="1"/>
              <a:t>Cname</a:t>
            </a:r>
            <a:r>
              <a:rPr lang="en-US" altLang="zh-CN" sz="2800" dirty="0"/>
              <a:t>  CHAR</a:t>
            </a:r>
            <a:r>
              <a:rPr lang="zh-CN" altLang="en-US" sz="2800" dirty="0"/>
              <a:t>(</a:t>
            </a:r>
            <a:r>
              <a:rPr lang="en-US" altLang="zh-CN" sz="2800" dirty="0"/>
              <a:t>40</a:t>
            </a:r>
            <a:r>
              <a:rPr lang="zh-CN" altLang="en-US" sz="2800" dirty="0"/>
              <a:t>) </a:t>
            </a:r>
            <a:r>
              <a:rPr lang="en-US" altLang="zh-CN" sz="2800" dirty="0"/>
              <a:t>NOT NULL</a:t>
            </a:r>
            <a:r>
              <a:rPr lang="zh-CN" altLang="en-US" sz="2800" dirty="0"/>
              <a:t>,</a:t>
            </a:r>
          </a:p>
          <a:p>
            <a:pPr marL="1828800" lvl="4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dirty="0" err="1"/>
              <a:t>Cpno</a:t>
            </a:r>
            <a:r>
              <a:rPr lang="en-US" altLang="zh-CN" sz="2800" dirty="0"/>
              <a:t>     CHAR</a:t>
            </a:r>
            <a:r>
              <a:rPr lang="zh-CN" altLang="en-US" sz="2800" dirty="0"/>
              <a:t>(</a:t>
            </a:r>
            <a:r>
              <a:rPr lang="en-US" altLang="zh-CN" sz="2800" dirty="0"/>
              <a:t>4</a:t>
            </a:r>
            <a:r>
              <a:rPr lang="zh-CN" altLang="en-US" sz="2800" dirty="0"/>
              <a:t>),</a:t>
            </a:r>
          </a:p>
          <a:p>
            <a:pPr marL="1828800" lvl="4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dirty="0" err="1"/>
              <a:t>Ccredit</a:t>
            </a:r>
            <a:r>
              <a:rPr lang="en-US" altLang="zh-CN" sz="2800" dirty="0"/>
              <a:t>  SMALLINT</a:t>
            </a:r>
            <a:r>
              <a:rPr lang="zh-CN" altLang="en-US" sz="2800" dirty="0">
                <a:sym typeface="+mn-ea"/>
              </a:rPr>
              <a:t>,</a:t>
            </a:r>
            <a:endParaRPr lang="zh-CN" altLang="en-US" sz="2800" dirty="0"/>
          </a:p>
          <a:p>
            <a:pPr marL="1828800" lvl="4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dirty="0"/>
              <a:t>FOREIGN KEY </a:t>
            </a:r>
            <a:r>
              <a:rPr lang="zh-CN" altLang="en-US" sz="2800" dirty="0"/>
              <a:t>(</a:t>
            </a:r>
            <a:r>
              <a:rPr lang="en-US" altLang="zh-CN" sz="2800" dirty="0" err="1"/>
              <a:t>Cpno</a:t>
            </a:r>
            <a:r>
              <a:rPr lang="zh-CN" altLang="en-US" sz="2800" dirty="0"/>
              <a:t>)</a:t>
            </a:r>
            <a:r>
              <a:rPr lang="en-US" altLang="zh-CN" sz="2800" dirty="0"/>
              <a:t> REFERENCES  Course</a:t>
            </a:r>
            <a:r>
              <a:rPr lang="zh-CN" altLang="en-US" sz="2800" dirty="0"/>
              <a:t>(</a:t>
            </a:r>
            <a:r>
              <a:rPr lang="en-US" altLang="zh-CN" sz="2800" dirty="0" err="1"/>
              <a:t>Cno</a:t>
            </a:r>
            <a:r>
              <a:rPr lang="zh-CN" altLang="en-US" sz="2800" dirty="0"/>
              <a:t>)</a:t>
            </a:r>
            <a:r>
              <a:rPr lang="en-US" altLang="zh-CN" sz="2800" dirty="0"/>
              <a:t> </a:t>
            </a:r>
          </a:p>
          <a:p>
            <a:pPr marL="914400" lvl="2" indent="0">
              <a:buNone/>
            </a:pPr>
            <a:r>
              <a:rPr lang="zh-CN" altLang="en-US" sz="2800" dirty="0"/>
              <a:t>)</a:t>
            </a:r>
            <a:r>
              <a:rPr lang="en-US" altLang="zh-CN" sz="2800" dirty="0"/>
              <a:t>; </a:t>
            </a:r>
          </a:p>
        </p:txBody>
      </p:sp>
      <p:sp>
        <p:nvSpPr>
          <p:cNvPr id="37892" name="AutoShape 6"/>
          <p:cNvSpPr>
            <a:spLocks noChangeArrowheads="1"/>
          </p:cNvSpPr>
          <p:nvPr/>
        </p:nvSpPr>
        <p:spPr bwMode="auto">
          <a:xfrm>
            <a:off x="7542530" y="2673036"/>
            <a:ext cx="1730375" cy="578478"/>
          </a:xfrm>
          <a:prstGeom prst="wedgeRoundRectCallout">
            <a:avLst>
              <a:gd name="adj1" fmla="val -159321"/>
              <a:gd name="adj2" fmla="val 60937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F6FDF8"/>
              </a:gs>
            </a:gsLst>
            <a:lin ang="5400000" scaled="1"/>
          </a:gradFill>
          <a:ln w="25400">
            <a:solidFill>
              <a:schemeClr val="accent1"/>
            </a:solidFill>
            <a:miter lim="800000"/>
          </a:ln>
        </p:spPr>
        <p:txBody>
          <a:bodyPr wrap="square"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先修课 </a:t>
            </a:r>
          </a:p>
        </p:txBody>
      </p:sp>
      <p:sp>
        <p:nvSpPr>
          <p:cNvPr id="37893" name="AutoShape 8"/>
          <p:cNvSpPr>
            <a:spLocks noChangeArrowheads="1"/>
          </p:cNvSpPr>
          <p:nvPr/>
        </p:nvSpPr>
        <p:spPr bwMode="auto">
          <a:xfrm>
            <a:off x="6821805" y="5242955"/>
            <a:ext cx="4531360" cy="1533371"/>
          </a:xfrm>
          <a:prstGeom prst="wedgeRoundRectCallout">
            <a:avLst>
              <a:gd name="adj1" fmla="val -48234"/>
              <a:gd name="adj2" fmla="val -79410"/>
              <a:gd name="adj3" fmla="val 16667"/>
            </a:avLst>
          </a:prstGeom>
          <a:gradFill rotWithShape="1">
            <a:gsLst>
              <a:gs pos="0">
                <a:srgbClr val="C4F2D2"/>
              </a:gs>
              <a:gs pos="100000">
                <a:srgbClr val="E9FAEE"/>
              </a:gs>
            </a:gsLst>
            <a:lin ang="5400000" scaled="1"/>
          </a:gradFill>
          <a:ln w="25400">
            <a:solidFill>
              <a:srgbClr val="00FFFF"/>
            </a:solidFill>
            <a:miter lim="800000"/>
          </a:ln>
        </p:spPr>
        <p:txBody>
          <a:bodyPr wrap="square"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   Cpno</a:t>
            </a:r>
            <a:r>
              <a:rPr lang="zh-CN" altLang="en-US" sz="2800" b="1"/>
              <a:t>是外码</a:t>
            </a:r>
          </a:p>
          <a:p>
            <a:pPr algn="ctr" eaLnBrk="1" hangingPunct="1"/>
            <a:r>
              <a:rPr lang="zh-CN" altLang="en-US" sz="2800" b="1"/>
              <a:t>   被参照表是</a:t>
            </a:r>
            <a:r>
              <a:rPr lang="en-US" altLang="zh-CN" sz="2800" b="1"/>
              <a:t>Course</a:t>
            </a:r>
          </a:p>
          <a:p>
            <a:pPr algn="ctr" eaLnBrk="1" hangingPunct="1"/>
            <a:r>
              <a:rPr lang="zh-CN" altLang="en-US" sz="2800" b="1"/>
              <a:t>   被参照列是</a:t>
            </a:r>
            <a:r>
              <a:rPr lang="en-US" altLang="zh-CN" sz="2800" b="1"/>
              <a:t>Cno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ldLvl="0" animBg="1" autoUpdateAnimBg="0"/>
      <p:bldP spid="37893" grpId="0" bldLvl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定义基本表</a:t>
            </a:r>
            <a:r>
              <a:rPr lang="en-US" altLang="zh-CN" dirty="0"/>
              <a:t>-</a:t>
            </a:r>
            <a:r>
              <a:rPr lang="zh-CN" altLang="en-US" dirty="0"/>
              <a:t>学生选课表</a:t>
            </a:r>
            <a:r>
              <a:rPr lang="en-US" altLang="zh-CN" dirty="0"/>
              <a:t>SC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3.7] 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建立一个学生选课表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</a:p>
          <a:p>
            <a:pPr marL="457200" lvl="1" indent="0">
              <a:lnSpc>
                <a:spcPct val="100000"/>
              </a:lnSpc>
              <a:spcBef>
                <a:spcPts val="1300"/>
              </a:spcBef>
              <a:buNone/>
            </a:pPr>
            <a:r>
              <a:rPr lang="en-US" altLang="zh-CN" sz="2610" dirty="0">
                <a:latin typeface="Arial" panose="020B0604020202020204" pitchFamily="34" charset="0"/>
                <a:cs typeface="Arial" panose="020B0604020202020204" pitchFamily="34" charset="0"/>
              </a:rPr>
              <a:t>CREATE TABLE  SC (</a:t>
            </a: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610" dirty="0" err="1"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en-US" altLang="zh-CN" sz="2610" dirty="0">
                <a:latin typeface="Arial" panose="020B0604020202020204" pitchFamily="34" charset="0"/>
                <a:cs typeface="Arial" panose="020B0604020202020204" pitchFamily="34" charset="0"/>
              </a:rPr>
              <a:t>  CHAR</a:t>
            </a:r>
            <a:r>
              <a:rPr lang="zh-CN" altLang="en-US" sz="261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61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zh-CN" altLang="en-US" sz="261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Cno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CHAR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Grade  SMALLINT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</a:p>
          <a:p>
            <a:pPr marL="1371600" lvl="3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主码由两个属性构成，必须作为表级完整性进行定义*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REFERENCES Student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1371600" lvl="3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表级完整性约束条件，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是外码，被参照表是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*/</a:t>
            </a:r>
          </a:p>
          <a:p>
            <a:pPr marL="914400" lvl="2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 Course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371600" lvl="3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表级完整性约束条件， </a:t>
            </a:r>
            <a:r>
              <a:rPr lang="en-US" altLang="zh-CN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Cno</a:t>
            </a: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是外码，被参照表是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Course*/</a:t>
            </a:r>
          </a:p>
          <a:p>
            <a:pPr marL="457200"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数据类型 </a:t>
            </a:r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中域的概念用</a:t>
            </a:r>
            <a:r>
              <a:rPr lang="zh-CN" altLang="en-US" dirty="0">
                <a:solidFill>
                  <a:srgbClr val="FF0000"/>
                </a:solidFill>
              </a:rPr>
              <a:t>数据类型</a:t>
            </a:r>
            <a:r>
              <a:rPr lang="zh-CN" altLang="en-US" dirty="0"/>
              <a:t>来实现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定义表的属性时需要指明其数据类型及长度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选用哪种数据类型，需要考虑以下因素来决定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取值范围 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要做哪些运算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数据类型 </a:t>
            </a:r>
            <a:r>
              <a:rPr lang="en-US" altLang="zh-CN" sz="3600" dirty="0"/>
              <a:t>2</a:t>
            </a:r>
          </a:p>
        </p:txBody>
      </p:sp>
      <p:graphicFrame>
        <p:nvGraphicFramePr>
          <p:cNvPr id="40963" name="Group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543560" y="694055"/>
          <a:ext cx="11256645" cy="5904230"/>
        </p:xfrm>
        <a:graphic>
          <a:graphicData uri="http://schemas.openxmlformats.org/drawingml/2006/table">
            <a:tbl>
              <a:tblPr/>
              <a:tblGrid>
                <a:gridCol w="376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数据类型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含义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CHAR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,CHARACTER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长度为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的定长字符串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VARCHAR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, CHARACTERVARYING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最大长度为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的变长字符串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CLOB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字符串大对象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BLOB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二进制大对象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INT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，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INTEGER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长整数（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4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字节）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SMALLINT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短整数（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2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字节）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BIGINT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大整数（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8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字节）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NUMERIC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p, d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定点数，由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p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位数字（不包括符号、小数点）组成，小数后面有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d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位数字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DECIMAL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,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d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, DEC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,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d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同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NUMERIC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C8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REAL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取决于机器精度的单精度浮点数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DOUBLE PRECISION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取决于机器精度的双精度浮点数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FLOAT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可选精度的浮点数，精度至少为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位数字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BOOLEAN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逻辑布尔量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DATE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日期，包含年、月、日，格式为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YYYY-MM-DD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TIME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时间，包含一日的时、分、秒，格式为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HH:MM:SS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TIMESTAMP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时间戳类型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INTERVAL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8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时间间隔类型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/>
              <a:t>日期时间数据类型</a:t>
            </a: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eaLnBrk="1" hangingPunct="1"/>
            <a:r>
              <a:rPr lang="en-US" altLang="x-none" sz="2800" dirty="0"/>
              <a:t>DATE</a:t>
            </a:r>
            <a:r>
              <a:rPr lang="zh-CN" altLang="en-US" sz="2800" dirty="0"/>
              <a:t>是一个由三部分组成的值（年、月和日）。年份部分的范围是从</a:t>
            </a:r>
            <a:r>
              <a:rPr lang="en-US" altLang="x-none" sz="2800" dirty="0"/>
              <a:t>0001</a:t>
            </a:r>
            <a:r>
              <a:rPr lang="zh-CN" altLang="en-US" sz="2800" dirty="0"/>
              <a:t>到</a:t>
            </a:r>
            <a:r>
              <a:rPr lang="en-US" altLang="x-none" sz="2800" dirty="0"/>
              <a:t>9999</a:t>
            </a:r>
            <a:r>
              <a:rPr lang="zh-CN" altLang="en-US" sz="2800" dirty="0"/>
              <a:t>，月份部分的范围是从</a:t>
            </a:r>
            <a:r>
              <a:rPr lang="en-US" altLang="x-none" sz="2800" dirty="0"/>
              <a:t>1</a:t>
            </a:r>
            <a:r>
              <a:rPr lang="zh-CN" altLang="en-US" sz="2800" dirty="0"/>
              <a:t>到</a:t>
            </a:r>
            <a:r>
              <a:rPr lang="en-US" altLang="x-none" sz="2800" dirty="0"/>
              <a:t>12</a:t>
            </a:r>
            <a:r>
              <a:rPr lang="zh-CN" altLang="en-US" sz="2800" dirty="0"/>
              <a:t>，日部分的范围是从</a:t>
            </a:r>
            <a:r>
              <a:rPr lang="en-US" altLang="x-none" sz="2800" dirty="0"/>
              <a:t>1</a:t>
            </a:r>
            <a:r>
              <a:rPr lang="zh-CN" altLang="en-US" sz="2800" dirty="0"/>
              <a:t>到</a:t>
            </a:r>
            <a:r>
              <a:rPr lang="en-US" altLang="x-none" sz="2800" dirty="0"/>
              <a:t>n</a:t>
            </a:r>
            <a:r>
              <a:rPr lang="zh-CN" altLang="en-US" sz="2800" dirty="0"/>
              <a:t>。</a:t>
            </a:r>
            <a:r>
              <a:rPr lang="en-US" altLang="x-none" sz="2800" dirty="0"/>
              <a:t>DATE</a:t>
            </a:r>
            <a:r>
              <a:rPr lang="zh-CN" altLang="en-US" sz="2800" dirty="0"/>
              <a:t>列长</a:t>
            </a:r>
            <a:r>
              <a:rPr lang="en-US" altLang="x-none" sz="2800" dirty="0"/>
              <a:t>10</a:t>
            </a:r>
            <a:r>
              <a:rPr lang="zh-CN" altLang="en-US" sz="2800" dirty="0"/>
              <a:t>个字节</a:t>
            </a:r>
            <a:endParaRPr lang="en-US" altLang="x-none" sz="2800" dirty="0"/>
          </a:p>
          <a:p>
            <a:pPr eaLnBrk="1" hangingPunct="1">
              <a:lnSpc>
                <a:spcPct val="100000"/>
              </a:lnSpc>
              <a:spcBef>
                <a:spcPts val="1000"/>
              </a:spcBef>
            </a:pPr>
            <a:r>
              <a:rPr lang="en-US" altLang="x-none" sz="2800" dirty="0"/>
              <a:t>TIME</a:t>
            </a:r>
            <a:r>
              <a:rPr lang="zh-CN" altLang="en-US" sz="2800" dirty="0"/>
              <a:t>是一个由三部分组成的值（小时、分和秒）。小时部分的范围是从</a:t>
            </a:r>
            <a:r>
              <a:rPr lang="en-US" altLang="x-none" sz="2800" dirty="0"/>
              <a:t>0</a:t>
            </a:r>
            <a:r>
              <a:rPr lang="zh-CN" altLang="en-US" sz="2800" dirty="0"/>
              <a:t>到</a:t>
            </a:r>
            <a:r>
              <a:rPr lang="en-US" altLang="x-none" sz="2800" dirty="0"/>
              <a:t>24</a:t>
            </a:r>
            <a:r>
              <a:rPr lang="zh-CN" altLang="en-US" sz="2800" dirty="0"/>
              <a:t>，分和秒部分的范围都是从</a:t>
            </a:r>
            <a:r>
              <a:rPr lang="en-US" altLang="x-none" sz="2800" dirty="0"/>
              <a:t>0</a:t>
            </a:r>
            <a:r>
              <a:rPr lang="zh-CN" altLang="en-US" sz="2800" dirty="0"/>
              <a:t>到</a:t>
            </a:r>
            <a:r>
              <a:rPr lang="en-US" altLang="x-none" sz="2800" dirty="0"/>
              <a:t>59</a:t>
            </a:r>
            <a:r>
              <a:rPr lang="zh-CN" altLang="en-US" sz="2800" dirty="0"/>
              <a:t>。</a:t>
            </a:r>
            <a:r>
              <a:rPr lang="en-US" altLang="x-none" sz="2800" dirty="0"/>
              <a:t>TIME</a:t>
            </a:r>
            <a:r>
              <a:rPr lang="zh-CN" altLang="en-US" sz="2800" dirty="0"/>
              <a:t>列长</a:t>
            </a:r>
            <a:r>
              <a:rPr lang="en-US" altLang="x-none" sz="2800" dirty="0"/>
              <a:t>8</a:t>
            </a:r>
            <a:r>
              <a:rPr lang="zh-CN" altLang="en-US" sz="2800" dirty="0"/>
              <a:t>个字节</a:t>
            </a:r>
            <a:endParaRPr lang="en-US" altLang="x-none" sz="2800" dirty="0"/>
          </a:p>
          <a:p>
            <a:pPr eaLnBrk="1" hangingPunct="1">
              <a:lnSpc>
                <a:spcPct val="100000"/>
              </a:lnSpc>
              <a:spcBef>
                <a:spcPts val="1000"/>
              </a:spcBef>
            </a:pPr>
            <a:r>
              <a:rPr lang="en-US" altLang="x-none" sz="2800" dirty="0"/>
              <a:t>TIMESTAMP</a:t>
            </a:r>
            <a:r>
              <a:rPr lang="zh-CN" altLang="en-US" sz="2800" dirty="0"/>
              <a:t>是一个由七部分组成的值（年、月、日、小时、分钟、秒和微秒）。微秒部分的范围是从</a:t>
            </a:r>
            <a:r>
              <a:rPr lang="en-US" altLang="x-none" sz="2800" dirty="0"/>
              <a:t>000000</a:t>
            </a:r>
            <a:r>
              <a:rPr lang="zh-CN" altLang="en-US" sz="2800" dirty="0"/>
              <a:t>到</a:t>
            </a:r>
            <a:r>
              <a:rPr lang="en-US" altLang="x-none" sz="2800" dirty="0"/>
              <a:t>999999</a:t>
            </a:r>
            <a:r>
              <a:rPr lang="zh-CN" altLang="en-US" sz="2800" dirty="0"/>
              <a:t>。</a:t>
            </a:r>
            <a:r>
              <a:rPr lang="en-US" altLang="x-none" sz="2800" dirty="0"/>
              <a:t>TIMESTAMP</a:t>
            </a:r>
            <a:r>
              <a:rPr lang="zh-CN" altLang="en-US" sz="2800" dirty="0"/>
              <a:t>列的长度是</a:t>
            </a:r>
            <a:r>
              <a:rPr lang="en-US" altLang="x-none" sz="2800" dirty="0"/>
              <a:t>26</a:t>
            </a:r>
            <a:r>
              <a:rPr lang="zh-CN" altLang="en-US" sz="2800" dirty="0"/>
              <a:t>字节</a:t>
            </a:r>
          </a:p>
          <a:p>
            <a:pPr eaLnBrk="1" hangingPunct="1">
              <a:lnSpc>
                <a:spcPct val="100000"/>
              </a:lnSpc>
              <a:spcBef>
                <a:spcPts val="1000"/>
              </a:spcBef>
            </a:pPr>
            <a:r>
              <a:rPr lang="zh-CN" altLang="en-US" sz="2800" dirty="0"/>
              <a:t>常用的日期函数：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charset="0"/>
              <a:buChar char="Ø"/>
            </a:pPr>
            <a:r>
              <a:rPr lang="en-US" altLang="zh-CN" sz="2800" dirty="0">
                <a:solidFill>
                  <a:srgbClr val="FF0000"/>
                </a:solidFill>
              </a:rPr>
              <a:t>GETDATE(  )</a:t>
            </a:r>
            <a:r>
              <a:rPr lang="en-US" altLang="zh-CN" sz="2800" dirty="0"/>
              <a:t>   </a:t>
            </a:r>
            <a:r>
              <a:rPr lang="zh-CN" altLang="en-US" sz="2800" dirty="0"/>
              <a:t>返回当前的系统日期时间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charset="0"/>
              <a:buChar char="Ø"/>
            </a:pPr>
            <a:r>
              <a:rPr lang="en-US" altLang="zh-CN" sz="2800" dirty="0">
                <a:solidFill>
                  <a:srgbClr val="FF0000"/>
                </a:solidFill>
              </a:rPr>
              <a:t>DAY(...)  MONTH(...)  YEAR(...)</a:t>
            </a:r>
            <a:r>
              <a:rPr lang="en-US" altLang="zh-CN" sz="2800" dirty="0"/>
              <a:t>  </a:t>
            </a:r>
            <a:r>
              <a:rPr lang="zh-CN" altLang="en-US" sz="2800" dirty="0"/>
              <a:t>返回给定日期的年月日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/>
              <a:t>日期时间类型的值的字符串表示</a:t>
            </a: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1200"/>
              </a:spcAft>
            </a:pPr>
            <a:r>
              <a:rPr lang="zh-CN" altLang="en-US" sz="2800" dirty="0"/>
              <a:t>日期、时间和时间戳也可以用字符串来表示，</a:t>
            </a:r>
            <a:r>
              <a:rPr lang="en-US" altLang="x-none" sz="2800" dirty="0"/>
              <a:t>CHAR</a:t>
            </a:r>
            <a:r>
              <a:rPr lang="zh-CN" altLang="en-US" sz="2800" dirty="0"/>
              <a:t>标量函数可用来创建日期时间类型的值的字符串表示</a:t>
            </a:r>
            <a:endParaRPr lang="en-US" altLang="x-none" sz="2800" dirty="0"/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1200"/>
              </a:spcAft>
            </a:pPr>
            <a:r>
              <a:rPr lang="zh-CN" altLang="en-US" sz="2800" dirty="0"/>
              <a:t>日期值的字符串表示是一个以数字开始，长度不少于</a:t>
            </a:r>
            <a:r>
              <a:rPr lang="en-US" altLang="x-none" sz="2800" dirty="0"/>
              <a:t>8</a:t>
            </a:r>
            <a:r>
              <a:rPr lang="zh-CN" altLang="en-US" sz="2800" dirty="0"/>
              <a:t>个字符的字符串。日期值的月份和日部分中前面的零可以略去</a:t>
            </a:r>
            <a:endParaRPr lang="en-US" altLang="x-none" sz="2800" dirty="0"/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1200"/>
              </a:spcAft>
            </a:pPr>
            <a:r>
              <a:rPr lang="zh-CN" altLang="en-US" sz="2800" dirty="0"/>
              <a:t>时间值的字符串表示是以数字开头，长度不少于</a:t>
            </a:r>
            <a:r>
              <a:rPr lang="en-US" altLang="x-none" sz="2800" dirty="0"/>
              <a:t>4</a:t>
            </a:r>
            <a:r>
              <a:rPr lang="zh-CN" altLang="en-US" sz="2800" dirty="0"/>
              <a:t>个字符的字符串。时间值的小时部分前面的零可以省略，秒部分可以完全省略</a:t>
            </a:r>
            <a:endParaRPr lang="en-US" altLang="x-none" sz="2800" dirty="0"/>
          </a:p>
          <a:p>
            <a:pPr eaLnBrk="1" hangingPunct="1">
              <a:lnSpc>
                <a:spcPct val="110000"/>
              </a:lnSpc>
              <a:spcBef>
                <a:spcPts val="20"/>
              </a:spcBef>
              <a:spcAft>
                <a:spcPts val="1200"/>
              </a:spcAft>
            </a:pPr>
            <a:r>
              <a:rPr lang="zh-CN" altLang="en-US" sz="2800" dirty="0"/>
              <a:t>时间戳值的字符串表示是以数字开头，长度不少于</a:t>
            </a:r>
            <a:r>
              <a:rPr lang="en-US" altLang="x-none" sz="2800" dirty="0"/>
              <a:t>16</a:t>
            </a:r>
            <a:r>
              <a:rPr lang="zh-CN" altLang="en-US" sz="2800" dirty="0"/>
              <a:t>个字符的字符串。完整的时间戳字符串表示形式为</a:t>
            </a:r>
            <a:r>
              <a:rPr lang="en-US" altLang="x-none" sz="2800" dirty="0"/>
              <a:t>yyyy-mm-dd-hh.mm.ss.nnnnnn</a:t>
            </a:r>
            <a:r>
              <a:rPr lang="zh-CN" altLang="en-US" sz="2800" dirty="0"/>
              <a:t>。时间戳的月、日或小时等几部分前面的零可省略，微秒可截断或完全省略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修改基本表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24180" y="687070"/>
            <a:ext cx="11343005" cy="2306955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/>
              <a:t>ALTER TABLE 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</a:t>
            </a:r>
          </a:p>
          <a:p>
            <a:pPr marL="352425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/>
              <a:t>[ ADD [COLUMN] &lt;</a:t>
            </a:r>
            <a:r>
              <a:rPr lang="zh-CN" altLang="en-US" sz="2400" dirty="0"/>
              <a:t>新列名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数据类型</a:t>
            </a:r>
            <a:r>
              <a:rPr lang="en-US" altLang="zh-CN" sz="2400" dirty="0"/>
              <a:t>&gt; [ </a:t>
            </a:r>
            <a:r>
              <a:rPr lang="zh-CN" altLang="en-US" sz="2400" dirty="0"/>
              <a:t>完整性约束 </a:t>
            </a:r>
            <a:r>
              <a:rPr lang="en-US" altLang="zh-CN" sz="2400" dirty="0"/>
              <a:t>] ]</a:t>
            </a:r>
          </a:p>
          <a:p>
            <a:pPr marL="352425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/>
              <a:t>[ ADD &lt;</a:t>
            </a:r>
            <a:r>
              <a:rPr lang="zh-CN" altLang="en-US" sz="2400" dirty="0"/>
              <a:t>表级完整性约束</a:t>
            </a:r>
            <a:r>
              <a:rPr lang="en-US" altLang="zh-CN" sz="2400" dirty="0"/>
              <a:t>&gt;]</a:t>
            </a:r>
          </a:p>
          <a:p>
            <a:pPr marL="352425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/>
              <a:t>[ DROP [COLUMN]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 [CASCADE | RESTRICT] ]</a:t>
            </a:r>
          </a:p>
          <a:p>
            <a:pPr marL="352425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/>
              <a:t>[ DROP CONSTRAINT &lt;</a:t>
            </a:r>
            <a:r>
              <a:rPr lang="zh-CN" altLang="en-US" sz="2400" dirty="0"/>
              <a:t>完整性约束名</a:t>
            </a:r>
            <a:r>
              <a:rPr lang="en-US" altLang="zh-CN" sz="2400" dirty="0"/>
              <a:t>&gt; [RESTRICT | CASCADE] ]</a:t>
            </a:r>
          </a:p>
          <a:p>
            <a:pPr marL="352425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/>
              <a:t>[ ALTER COLUMN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数据类型</a:t>
            </a:r>
            <a:r>
              <a:rPr lang="en-US" altLang="zh-CN" sz="2400" dirty="0"/>
              <a:t>&gt; ] </a:t>
            </a:r>
            <a:r>
              <a:rPr lang="zh-CN" altLang="en-US" sz="2400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47107" name="内容占位符 2"/>
          <p:cNvSpPr>
            <a:spLocks noGrp="1"/>
          </p:cNvSpPr>
          <p:nvPr/>
        </p:nvSpPr>
        <p:spPr>
          <a:xfrm>
            <a:off x="424180" y="3085465"/>
            <a:ext cx="11343005" cy="339026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30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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240" dirty="0"/>
              <a:t>其中：</a:t>
            </a:r>
            <a:endParaRPr lang="en-US" altLang="zh-CN" sz="2240" dirty="0"/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2400" dirty="0"/>
              <a:t>&lt;</a:t>
            </a:r>
            <a:r>
              <a:rPr lang="zh-CN" altLang="en-US" sz="2400" dirty="0"/>
              <a:t>表名</a:t>
            </a:r>
            <a:r>
              <a:rPr lang="en-US" altLang="zh-CN" sz="2400" dirty="0"/>
              <a:t>&gt;</a:t>
            </a:r>
            <a:r>
              <a:rPr lang="zh-CN" altLang="en-US" sz="2400" dirty="0"/>
              <a:t>是要修改的基本表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ADD</a:t>
            </a:r>
            <a:r>
              <a:rPr lang="zh-CN" altLang="en-US" sz="2400" dirty="0"/>
              <a:t>子句用于增加新列、新的列级完整性约束条件和新的表级完整性约束条件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DROP COLUMN</a:t>
            </a:r>
            <a:r>
              <a:rPr lang="zh-CN" altLang="en-US" sz="2400" dirty="0"/>
              <a:t>子句用于删除表中的列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如果指定了</a:t>
            </a:r>
            <a:r>
              <a:rPr lang="en-US" altLang="zh-CN" sz="2400" dirty="0"/>
              <a:t>CASCADE</a:t>
            </a:r>
            <a:r>
              <a:rPr lang="zh-CN" altLang="en-US" sz="2400" dirty="0"/>
              <a:t>短语，则自动删除引用了该列的其他对象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如果指定了</a:t>
            </a:r>
            <a:r>
              <a:rPr lang="en-US" altLang="zh-CN" sz="2400" dirty="0"/>
              <a:t>RESTRICT</a:t>
            </a:r>
            <a:r>
              <a:rPr lang="zh-CN" altLang="en-US" sz="2400" dirty="0"/>
              <a:t>短语，则如果该列被其他对象引用，关系数据库管理系统将拒绝删除该列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DROP CONSTRAINT</a:t>
            </a:r>
            <a:r>
              <a:rPr lang="zh-CN" altLang="en-US" sz="2400" dirty="0"/>
              <a:t>子句用于删除指定的完整性约束条件</a:t>
            </a: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ALTER COLUMN</a:t>
            </a:r>
            <a:r>
              <a:rPr lang="zh-CN" altLang="en-US" sz="2400" dirty="0"/>
              <a:t>子句用于修改原有的列定义，包括修改列名和数据类型</a:t>
            </a:r>
            <a:endParaRPr lang="zh-CN" altLang="en-US" sz="2400" b="0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修改基本表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3.8] </a:t>
            </a:r>
            <a:r>
              <a:rPr lang="zh-CN" altLang="en-US" dirty="0"/>
              <a:t>向</a:t>
            </a:r>
            <a:r>
              <a:rPr lang="en-US" altLang="zh-CN" dirty="0"/>
              <a:t>Student</a:t>
            </a:r>
            <a:r>
              <a:rPr lang="zh-CN" altLang="en-US" dirty="0"/>
              <a:t>表增加“入学时间”列，其数据类型为日期型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ALTER TABLE Student ADD </a:t>
            </a:r>
            <a:r>
              <a:rPr lang="en-US" altLang="zh-CN" dirty="0" err="1">
                <a:solidFill>
                  <a:srgbClr val="FF0000"/>
                </a:solidFill>
              </a:rPr>
              <a:t>S_entrance</a:t>
            </a:r>
            <a:r>
              <a:rPr lang="en-US" altLang="zh-CN" dirty="0">
                <a:solidFill>
                  <a:srgbClr val="FF0000"/>
                </a:solidFill>
              </a:rPr>
              <a:t> DATE</a:t>
            </a:r>
            <a:r>
              <a:rPr lang="zh-CN" altLang="en-US" dirty="0">
                <a:solidFill>
                  <a:srgbClr val="FF0000"/>
                </a:solidFill>
              </a:rPr>
              <a:t>;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不管基本表中原来是否已有数据，新增加的列一律为空值 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3.9] </a:t>
            </a:r>
            <a:r>
              <a:rPr lang="zh-CN" altLang="en-US" dirty="0"/>
              <a:t>将年龄的数据类型由字符型（假设原来的数据类型是字符型）改为整数。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ALTER TABLE Student ALTER COLUMN Sage INT;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3.10] </a:t>
            </a:r>
            <a:r>
              <a:rPr lang="zh-CN" altLang="en-US" dirty="0"/>
              <a:t>增加课程名称必须取唯一值的约束条件。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ALTER TABLE Course ADD UNIQUE(</a:t>
            </a:r>
            <a:r>
              <a:rPr lang="en-US" altLang="zh-CN" dirty="0" err="1">
                <a:solidFill>
                  <a:srgbClr val="FF0000"/>
                </a:solidFill>
              </a:rPr>
              <a:t>Cname</a:t>
            </a:r>
            <a:r>
              <a:rPr lang="en-US" altLang="zh-CN" dirty="0">
                <a:solidFill>
                  <a:srgbClr val="FF0000"/>
                </a:solidFill>
              </a:rPr>
              <a:t>);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删除基本表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DROP TABLE &lt;</a:t>
            </a:r>
            <a:r>
              <a:rPr lang="zh-CN" altLang="en-US" dirty="0">
                <a:solidFill>
                  <a:srgbClr val="FF0000"/>
                </a:solidFill>
              </a:rPr>
              <a:t>表名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［</a:t>
            </a:r>
            <a:r>
              <a:rPr lang="en-US" altLang="zh-CN" dirty="0">
                <a:solidFill>
                  <a:srgbClr val="FF0000"/>
                </a:solidFill>
              </a:rPr>
              <a:t>RESTRICT| CASCADE</a:t>
            </a:r>
            <a:r>
              <a:rPr lang="zh-CN" altLang="en-US" dirty="0">
                <a:solidFill>
                  <a:srgbClr val="FF0000"/>
                </a:solidFill>
              </a:rPr>
              <a:t>］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/>
              <a:t>RESTRICT</a:t>
            </a:r>
            <a:r>
              <a:rPr lang="zh-CN" altLang="en-US" dirty="0"/>
              <a:t>：删除表是有限制的。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欲删除的基本表不能被其他表的约束所引用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如果存在依赖该表的对象，则此表不能被删除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CASCADE</a:t>
            </a:r>
            <a:r>
              <a:rPr lang="zh-CN" altLang="en-US" dirty="0"/>
              <a:t>：删除该表没有限制。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在删除基本表的同时，相关的依赖对象一起删除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删除基本表 </a:t>
            </a:r>
            <a:r>
              <a:rPr lang="en-US" altLang="zh-CN" sz="3200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3.11] 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删除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表</a:t>
            </a:r>
          </a:p>
          <a:p>
            <a:pPr marL="363855" lvl="1" indent="0"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 TABLE  Student  CASCADE;</a:t>
            </a:r>
          </a:p>
          <a:p>
            <a:pPr lvl="1"/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基本表定义被删除，数据被删除</a:t>
            </a:r>
          </a:p>
          <a:p>
            <a:pPr lvl="1"/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表上建立的索引、视图、触发器等一般也将被删除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例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3.12]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若表上建有视图，选择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RESTRICT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时表不能删除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选择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CASCADE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时可以删除表，视图也自动删除。	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VIEW  </a:t>
            </a:r>
            <a:r>
              <a:rPr lang="en-US" altLang="zh-CN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IS_Student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AS </a:t>
            </a:r>
          </a:p>
          <a:p>
            <a:pPr marL="363855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SELECT </a:t>
            </a:r>
            <a:r>
              <a:rPr lang="en-US" altLang="zh-CN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Sno, Sname, Sage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855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FROM  Student</a:t>
            </a:r>
          </a:p>
          <a:p>
            <a:pPr marL="363855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	WHERE </a:t>
            </a:r>
            <a:r>
              <a:rPr lang="en-US" altLang="zh-CN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Sdept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='IS';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 TABLE Student RESTRICT;   </a:t>
            </a:r>
          </a:p>
          <a:p>
            <a:pPr marL="363855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--ERROR: cannot drop table Student because other objects depend on it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 TABLE Student CASCADE; 	    </a:t>
            </a:r>
          </a:p>
          <a:p>
            <a:pPr marL="363855" lvl="1" indent="0">
              <a:buNone/>
            </a:pP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--NOTICE: drop cascades to view </a:t>
            </a:r>
            <a:r>
              <a:rPr lang="en-US" altLang="zh-CN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IS_Student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索引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800" dirty="0"/>
              <a:t>建立索引的目的：加快查询速度</a:t>
            </a:r>
            <a:endParaRPr lang="en-US" altLang="zh-CN" sz="2800" dirty="0"/>
          </a:p>
          <a:p>
            <a:pPr lvl="1"/>
            <a:r>
              <a:rPr lang="zh-CN" altLang="en-US" sz="2800" dirty="0"/>
              <a:t>由数据库管理员或表的拥有者建立</a:t>
            </a:r>
            <a:endParaRPr lang="en-US" altLang="zh-CN" sz="2800" dirty="0"/>
          </a:p>
          <a:p>
            <a:pPr lvl="1"/>
            <a:r>
              <a:rPr lang="zh-CN" altLang="en-US" sz="2800" dirty="0"/>
              <a:t>由关系数据库管理系统自动完成维护</a:t>
            </a:r>
          </a:p>
          <a:p>
            <a:pPr lvl="1"/>
            <a:r>
              <a:rPr lang="zh-CN" altLang="en-US" sz="2800" dirty="0"/>
              <a:t>关系数据库管理系统自动使用合适的索引作为存取路径，用户不必也不能显式地选择索引</a:t>
            </a:r>
          </a:p>
          <a:p>
            <a:pPr lvl="1"/>
            <a:endParaRPr lang="zh-CN" altLang="en-US" sz="2800" dirty="0"/>
          </a:p>
          <a:p>
            <a:r>
              <a:rPr lang="zh-CN" altLang="en-US" sz="2800" dirty="0"/>
              <a:t>关系数据库管理系统中常见索引：</a:t>
            </a:r>
          </a:p>
          <a:p>
            <a:pPr lvl="1"/>
            <a:r>
              <a:rPr lang="zh-CN" altLang="en-US" sz="2800" dirty="0"/>
              <a:t>顺序文件上的索引</a:t>
            </a:r>
          </a:p>
          <a:p>
            <a:pPr lvl="1"/>
            <a:r>
              <a:rPr lang="en-US" altLang="zh-CN" sz="2800" dirty="0"/>
              <a:t>B+</a:t>
            </a:r>
            <a:r>
              <a:rPr lang="zh-CN" altLang="en-US" sz="2800" dirty="0"/>
              <a:t>树索引</a:t>
            </a:r>
            <a:endParaRPr lang="en-US" altLang="zh-CN" sz="2800" dirty="0"/>
          </a:p>
          <a:p>
            <a:pPr lvl="1"/>
            <a:r>
              <a:rPr lang="zh-CN" altLang="en-US" sz="2800" dirty="0"/>
              <a:t>散列（</a:t>
            </a:r>
            <a:r>
              <a:rPr lang="en-US" altLang="zh-CN" sz="2800" dirty="0"/>
              <a:t>hash</a:t>
            </a:r>
            <a:r>
              <a:rPr lang="zh-CN" altLang="en-US" sz="2800" dirty="0"/>
              <a:t>）索引</a:t>
            </a:r>
          </a:p>
          <a:p>
            <a:pPr lvl="1"/>
            <a:r>
              <a:rPr lang="zh-CN" altLang="en-US" sz="2800" dirty="0"/>
              <a:t>位图索引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sz="3600" dirty="0"/>
              <a:t>建立索引 </a:t>
            </a:r>
            <a:r>
              <a:rPr lang="en-US" altLang="zh-CN" sz="3600" dirty="0"/>
              <a:t>1</a:t>
            </a:r>
            <a:r>
              <a:rPr lang="zh-CN" altLang="en-US" sz="3600" dirty="0"/>
              <a:t>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zh-CN" altLang="en-US" dirty="0"/>
              <a:t>语句格式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CREATE [UNIQUE] [CLUSTER] INDEX &lt;</a:t>
            </a:r>
            <a:r>
              <a:rPr lang="zh-CN" altLang="en-US" dirty="0">
                <a:solidFill>
                  <a:srgbClr val="FF0000"/>
                </a:solidFill>
              </a:rPr>
              <a:t>索引名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en-US" altLang="zh-CN" dirty="0"/>
              <a:t> 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ON &lt;</a:t>
            </a:r>
            <a:r>
              <a:rPr lang="zh-CN" altLang="en-US" dirty="0"/>
              <a:t>表名</a:t>
            </a:r>
            <a:r>
              <a:rPr lang="en-US" altLang="zh-CN" dirty="0"/>
              <a:t>&gt;(&lt;</a:t>
            </a:r>
            <a:r>
              <a:rPr lang="zh-CN" altLang="en-US" dirty="0"/>
              <a:t>列名</a:t>
            </a:r>
            <a:r>
              <a:rPr lang="en-US" altLang="zh-CN" dirty="0"/>
              <a:t>&gt;[&lt;</a:t>
            </a:r>
            <a:r>
              <a:rPr lang="zh-CN" altLang="en-US" dirty="0"/>
              <a:t>次序</a:t>
            </a:r>
            <a:r>
              <a:rPr lang="en-US" altLang="zh-CN" dirty="0"/>
              <a:t>&gt;][,&lt;</a:t>
            </a:r>
            <a:r>
              <a:rPr lang="zh-CN" altLang="en-US" dirty="0"/>
              <a:t>列名</a:t>
            </a:r>
            <a:r>
              <a:rPr lang="en-US" altLang="zh-CN" dirty="0"/>
              <a:t>&gt;[&lt;</a:t>
            </a:r>
            <a:r>
              <a:rPr lang="zh-CN" altLang="en-US" dirty="0"/>
              <a:t>次序</a:t>
            </a:r>
            <a:r>
              <a:rPr lang="en-US" altLang="zh-CN" dirty="0"/>
              <a:t>&gt;] ]</a:t>
            </a:r>
            <a:r>
              <a:rPr lang="en-US" altLang="zh-CN" dirty="0">
                <a:latin typeface="Courier New" panose="02070309020205020404" pitchFamily="49" charset="0"/>
              </a:rPr>
              <a:t>…)</a:t>
            </a:r>
            <a:r>
              <a:rPr lang="en-US" altLang="zh-CN" dirty="0"/>
              <a:t>;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 algn="just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zh-CN" altLang="en-US" dirty="0">
                <a:solidFill>
                  <a:srgbClr val="FF0000"/>
                </a:solidFill>
              </a:rPr>
              <a:t>表名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要建索引的基本表的名字</a:t>
            </a:r>
          </a:p>
          <a:p>
            <a:pPr lvl="1" algn="just">
              <a:buClr>
                <a:srgbClr val="C00000"/>
              </a:buClr>
            </a:pPr>
            <a:r>
              <a:rPr lang="zh-CN" altLang="en-US" dirty="0"/>
              <a:t>索引：可以建立在该表的一</a:t>
            </a:r>
            <a:r>
              <a:rPr lang="zh-CN" altLang="en-US" dirty="0">
                <a:solidFill>
                  <a:srgbClr val="FF0000"/>
                </a:solidFill>
              </a:rPr>
              <a:t>列</a:t>
            </a:r>
            <a:r>
              <a:rPr lang="zh-CN" altLang="en-US" dirty="0"/>
              <a:t>或多列上，各列名之间用逗号分隔</a:t>
            </a:r>
          </a:p>
          <a:p>
            <a:pPr lvl="1" algn="just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zh-CN" altLang="en-US" dirty="0">
                <a:solidFill>
                  <a:srgbClr val="FF0000"/>
                </a:solidFill>
              </a:rPr>
              <a:t>次序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指定索引值的排列次序，升序：</a:t>
            </a:r>
            <a:r>
              <a:rPr lang="en-US" altLang="zh-CN" dirty="0"/>
              <a:t>ASC</a:t>
            </a:r>
            <a:r>
              <a:rPr lang="zh-CN" altLang="en-US" dirty="0"/>
              <a:t>，降序：</a:t>
            </a:r>
            <a:r>
              <a:rPr lang="en-US" altLang="zh-CN" dirty="0"/>
              <a:t>DESC</a:t>
            </a:r>
            <a:r>
              <a:rPr lang="zh-CN" altLang="en-US" dirty="0"/>
              <a:t>。缺省次序为</a:t>
            </a:r>
            <a:r>
              <a:rPr lang="en-US" altLang="zh-CN" dirty="0"/>
              <a:t> ASC</a:t>
            </a:r>
          </a:p>
          <a:p>
            <a:pPr lvl="1" algn="just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UNIQUE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此索引的每一个索引值只对应唯一的数据记录</a:t>
            </a:r>
          </a:p>
          <a:p>
            <a:pPr lvl="1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CLUSTER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表示要建立的索引是聚簇索引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建立索引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2000"/>
              </a:spcBef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3.13]</a:t>
            </a:r>
            <a:r>
              <a:rPr lang="zh-CN" altLang="en-US" dirty="0"/>
              <a:t> 为学生</a:t>
            </a:r>
            <a:r>
              <a:rPr lang="en-US" altLang="zh-CN" dirty="0"/>
              <a:t>-</a:t>
            </a:r>
            <a:r>
              <a:rPr lang="zh-CN" altLang="en-US" dirty="0"/>
              <a:t>课程数据库中的</a:t>
            </a:r>
            <a:r>
              <a:rPr lang="en-US" altLang="zh-CN" dirty="0"/>
              <a:t>Student</a:t>
            </a:r>
            <a:r>
              <a:rPr lang="zh-CN" altLang="en-US" dirty="0"/>
              <a:t>，</a:t>
            </a:r>
            <a:r>
              <a:rPr lang="en-US" altLang="zh-CN" dirty="0"/>
              <a:t>Course</a:t>
            </a:r>
            <a:r>
              <a:rPr lang="zh-CN" altLang="en-US" dirty="0"/>
              <a:t>，</a:t>
            </a:r>
            <a:r>
              <a:rPr lang="en-US" altLang="zh-CN" dirty="0"/>
              <a:t>SC</a:t>
            </a:r>
            <a:r>
              <a:rPr lang="zh-CN" altLang="en-US" dirty="0"/>
              <a:t>三个表建立索引。</a:t>
            </a:r>
            <a:r>
              <a:rPr lang="en-US" altLang="zh-CN" dirty="0"/>
              <a:t>Student</a:t>
            </a:r>
            <a:r>
              <a:rPr lang="zh-CN" altLang="en-US" dirty="0"/>
              <a:t>表按学号升序建唯一索引，</a:t>
            </a:r>
            <a:r>
              <a:rPr lang="en-US" altLang="zh-CN" dirty="0"/>
              <a:t>Course</a:t>
            </a:r>
            <a:r>
              <a:rPr lang="zh-CN" altLang="en-US" dirty="0"/>
              <a:t>表按课程号升序建唯一索引，</a:t>
            </a:r>
            <a:r>
              <a:rPr lang="en-US" altLang="zh-CN" dirty="0"/>
              <a:t>SC</a:t>
            </a:r>
            <a:r>
              <a:rPr lang="zh-CN" altLang="en-US" dirty="0"/>
              <a:t>表按学号升序和课程号降序建唯一索引</a:t>
            </a:r>
          </a:p>
          <a:p>
            <a:pPr marL="457200" lvl="1" indent="0">
              <a:lnSpc>
                <a:spcPct val="120000"/>
              </a:lnSpc>
              <a:spcBef>
                <a:spcPts val="200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CREATE UNIQUE INDEX  </a:t>
            </a:r>
            <a:r>
              <a:rPr lang="en-US" altLang="zh-CN" dirty="0" err="1">
                <a:solidFill>
                  <a:srgbClr val="FF0000"/>
                </a:solidFill>
              </a:rPr>
              <a:t>Stusno</a:t>
            </a:r>
            <a:r>
              <a:rPr lang="en-US" altLang="zh-CN" dirty="0">
                <a:solidFill>
                  <a:srgbClr val="FF0000"/>
                </a:solidFill>
              </a:rPr>
              <a:t> ON Student</a:t>
            </a:r>
            <a:r>
              <a:rPr lang="zh-CN" altLang="en-US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Sno</a:t>
            </a:r>
            <a:r>
              <a:rPr lang="zh-CN" altLang="en-US" dirty="0">
                <a:solidFill>
                  <a:srgbClr val="FF0000"/>
                </a:solidFill>
              </a:rPr>
              <a:t>);</a:t>
            </a:r>
          </a:p>
          <a:p>
            <a:pPr marL="457200" lvl="1" indent="0">
              <a:lnSpc>
                <a:spcPct val="120000"/>
              </a:lnSpc>
              <a:spcBef>
                <a:spcPts val="200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CREATE UNIQUE INDEX  </a:t>
            </a:r>
            <a:r>
              <a:rPr lang="en-US" altLang="zh-CN" dirty="0" err="1">
                <a:solidFill>
                  <a:srgbClr val="FF0000"/>
                </a:solidFill>
              </a:rPr>
              <a:t>Coucno</a:t>
            </a:r>
            <a:r>
              <a:rPr lang="en-US" altLang="zh-CN" dirty="0">
                <a:solidFill>
                  <a:srgbClr val="FF0000"/>
                </a:solidFill>
              </a:rPr>
              <a:t> ON Course</a:t>
            </a:r>
            <a:r>
              <a:rPr lang="zh-CN" altLang="en-US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Cno</a:t>
            </a:r>
            <a:r>
              <a:rPr lang="zh-CN" altLang="en-US" dirty="0">
                <a:solidFill>
                  <a:srgbClr val="FF0000"/>
                </a:solidFill>
              </a:rPr>
              <a:t>);</a:t>
            </a:r>
          </a:p>
          <a:p>
            <a:pPr marL="457200" lvl="1" indent="0">
              <a:lnSpc>
                <a:spcPct val="120000"/>
              </a:lnSpc>
              <a:spcBef>
                <a:spcPts val="200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CREATE UNIQUE INDEX  </a:t>
            </a:r>
            <a:r>
              <a:rPr lang="en-US" altLang="zh-CN" dirty="0" err="1">
                <a:solidFill>
                  <a:srgbClr val="FF0000"/>
                </a:solidFill>
              </a:rPr>
              <a:t>SCno</a:t>
            </a:r>
            <a:r>
              <a:rPr lang="en-US" altLang="zh-CN" dirty="0">
                <a:solidFill>
                  <a:srgbClr val="FF0000"/>
                </a:solidFill>
              </a:rPr>
              <a:t> ON SC</a:t>
            </a:r>
            <a:r>
              <a:rPr lang="zh-CN" altLang="en-US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Sno</a:t>
            </a:r>
            <a:r>
              <a:rPr lang="en-US" altLang="zh-CN" dirty="0">
                <a:solidFill>
                  <a:srgbClr val="FF0000"/>
                </a:solidFill>
              </a:rPr>
              <a:t> ASC</a:t>
            </a:r>
            <a:r>
              <a:rPr lang="zh-CN" altLang="en-US" dirty="0">
                <a:solidFill>
                  <a:srgbClr val="FF0000"/>
                </a:solidFill>
              </a:rPr>
              <a:t>,</a:t>
            </a:r>
            <a:r>
              <a:rPr lang="en-US" altLang="zh-CN" dirty="0" err="1">
                <a:solidFill>
                  <a:srgbClr val="FF0000"/>
                </a:solidFill>
              </a:rPr>
              <a:t>Cno</a:t>
            </a:r>
            <a:r>
              <a:rPr lang="en-US" altLang="zh-CN" dirty="0">
                <a:solidFill>
                  <a:srgbClr val="FF0000"/>
                </a:solidFill>
              </a:rPr>
              <a:t> DESC</a:t>
            </a:r>
            <a:r>
              <a:rPr lang="zh-CN" altLang="en-US" dirty="0">
                <a:solidFill>
                  <a:srgbClr val="FF0000"/>
                </a:solidFill>
              </a:rPr>
              <a:t>);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修改</a:t>
            </a:r>
            <a:r>
              <a:rPr lang="en-US" altLang="zh-CN" sz="3600" dirty="0"/>
              <a:t>/</a:t>
            </a:r>
            <a:r>
              <a:rPr lang="zh-CN" altLang="en-US" sz="3600" dirty="0"/>
              <a:t>删除索引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ALTER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en-US" altLang="zh-CN" dirty="0"/>
              <a:t>INDEX &lt;</a:t>
            </a:r>
            <a:r>
              <a:rPr lang="zh-CN" altLang="en-US" dirty="0"/>
              <a:t>旧索引名</a:t>
            </a:r>
            <a:r>
              <a:rPr lang="en-US" altLang="zh-CN" dirty="0"/>
              <a:t>&gt; RENAME TO &lt;</a:t>
            </a:r>
            <a:r>
              <a:rPr lang="zh-CN" altLang="en-US" dirty="0"/>
              <a:t>新索引名</a:t>
            </a:r>
            <a:r>
              <a:rPr lang="en-US" altLang="zh-CN" dirty="0"/>
              <a:t>&gt;</a:t>
            </a:r>
            <a:endParaRPr lang="zh-CN" altLang="en-US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3.14] </a:t>
            </a:r>
            <a:r>
              <a:rPr lang="zh-CN" altLang="en-US" dirty="0"/>
              <a:t>将</a:t>
            </a:r>
            <a:r>
              <a:rPr lang="en-US" altLang="zh-CN" dirty="0"/>
              <a:t>SC</a:t>
            </a:r>
            <a:r>
              <a:rPr lang="zh-CN" altLang="en-US" dirty="0"/>
              <a:t>表的</a:t>
            </a:r>
            <a:r>
              <a:rPr lang="en-US" altLang="zh-CN" dirty="0" err="1"/>
              <a:t>SCno</a:t>
            </a:r>
            <a:r>
              <a:rPr lang="zh-CN" altLang="en-US" dirty="0"/>
              <a:t>索引名改为</a:t>
            </a:r>
            <a:r>
              <a:rPr lang="en-US" altLang="zh-CN" dirty="0" err="1"/>
              <a:t>SCSno</a:t>
            </a:r>
            <a:endParaRPr lang="zh-CN" altLang="en-US" dirty="0"/>
          </a:p>
          <a:p>
            <a:pPr lvl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ALTER INDEX </a:t>
            </a:r>
            <a:r>
              <a:rPr lang="en-US" altLang="zh-CN" dirty="0" err="1"/>
              <a:t>SCno</a:t>
            </a:r>
            <a:r>
              <a:rPr lang="en-US" altLang="zh-CN" dirty="0"/>
              <a:t> RENAME TO </a:t>
            </a:r>
            <a:r>
              <a:rPr lang="en-US" altLang="zh-CN" dirty="0" err="1"/>
              <a:t>SCSno</a:t>
            </a:r>
            <a:r>
              <a:rPr lang="en-US" altLang="zh-CN" dirty="0"/>
              <a:t>;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endParaRPr lang="en-US" altLang="zh-CN" dirty="0"/>
          </a:p>
          <a:p>
            <a:pPr algn="just" eaLnBrk="1" hangingPunct="1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DROP</a:t>
            </a:r>
            <a:r>
              <a:rPr lang="en-US" altLang="zh-CN" dirty="0"/>
              <a:t> INDEX &lt;</a:t>
            </a:r>
            <a:r>
              <a:rPr lang="zh-CN" altLang="en-US" dirty="0"/>
              <a:t>索引名</a:t>
            </a:r>
            <a:r>
              <a:rPr lang="en-US" altLang="zh-CN" dirty="0"/>
              <a:t>&gt;</a:t>
            </a:r>
            <a:r>
              <a:rPr lang="zh-CN" altLang="en-US" dirty="0"/>
              <a:t>;</a:t>
            </a:r>
            <a:endParaRPr lang="en-US" altLang="zh-CN" dirty="0"/>
          </a:p>
          <a:p>
            <a:pPr lvl="1" algn="just">
              <a:lnSpc>
                <a:spcPct val="100000"/>
              </a:lnSpc>
              <a:spcBef>
                <a:spcPts val="1000"/>
              </a:spcBef>
            </a:pPr>
            <a:r>
              <a:rPr lang="zh-CN" altLang="en-US" dirty="0"/>
              <a:t>删除索引时，系统会从数据字典中删去有关该索引的</a:t>
            </a:r>
          </a:p>
          <a:p>
            <a:pPr lvl="1" ea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描述。</a:t>
            </a:r>
            <a:endParaRPr lang="en-US" altLang="zh-CN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3.15]  </a:t>
            </a:r>
            <a:r>
              <a:rPr lang="zh-CN" altLang="en-US" dirty="0"/>
              <a:t>删除</a:t>
            </a:r>
            <a:r>
              <a:rPr lang="en-US" altLang="zh-CN" dirty="0"/>
              <a:t>Student</a:t>
            </a:r>
            <a:r>
              <a:rPr lang="zh-CN" altLang="en-US" dirty="0"/>
              <a:t>表的</a:t>
            </a:r>
            <a:r>
              <a:rPr lang="en-US" altLang="zh-CN" dirty="0" err="1"/>
              <a:t>Stusname</a:t>
            </a:r>
            <a:r>
              <a:rPr lang="zh-CN" altLang="en-US" dirty="0"/>
              <a:t>索引</a:t>
            </a:r>
          </a:p>
          <a:p>
            <a:pPr lvl="2" ea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2400" dirty="0"/>
              <a:t>	</a:t>
            </a:r>
            <a:r>
              <a:rPr lang="zh-CN" altLang="en-US" sz="2800" dirty="0"/>
              <a:t>        </a:t>
            </a:r>
            <a:r>
              <a:rPr lang="en-US" altLang="zh-CN" sz="2800" dirty="0"/>
              <a:t>DROP INDEX </a:t>
            </a:r>
            <a:r>
              <a:rPr lang="en-US" altLang="zh-CN" sz="2800" dirty="0" err="1"/>
              <a:t>Stusname</a:t>
            </a:r>
            <a:r>
              <a:rPr lang="zh-CN" altLang="en-US" sz="2800" dirty="0"/>
              <a:t>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数据字典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数据字典是关系数据库管理系统内部的一组系统表，它记录了数据库中所有定义信息：</a:t>
            </a:r>
            <a:endParaRPr lang="en-US" altLang="zh-CN" dirty="0"/>
          </a:p>
          <a:p>
            <a:pPr lvl="1"/>
            <a:r>
              <a:rPr lang="zh-CN" altLang="en-US" dirty="0"/>
              <a:t>关系模式定义</a:t>
            </a:r>
            <a:endParaRPr lang="en-US" altLang="zh-CN" dirty="0"/>
          </a:p>
          <a:p>
            <a:pPr lvl="1"/>
            <a:r>
              <a:rPr lang="zh-CN" altLang="en-US" dirty="0"/>
              <a:t>视图定义</a:t>
            </a:r>
            <a:endParaRPr lang="en-US" altLang="zh-CN" dirty="0"/>
          </a:p>
          <a:p>
            <a:pPr lvl="1"/>
            <a:r>
              <a:rPr lang="zh-CN" altLang="en-US" dirty="0"/>
              <a:t>索引定义</a:t>
            </a:r>
            <a:endParaRPr lang="en-US" altLang="zh-CN" dirty="0"/>
          </a:p>
          <a:p>
            <a:pPr lvl="1"/>
            <a:r>
              <a:rPr lang="zh-CN" altLang="en-US" dirty="0"/>
              <a:t>完整性约束定义</a:t>
            </a:r>
            <a:endParaRPr lang="en-US" altLang="zh-CN" dirty="0"/>
          </a:p>
          <a:p>
            <a:pPr lvl="1"/>
            <a:r>
              <a:rPr lang="zh-CN" altLang="en-US" dirty="0"/>
              <a:t>各类用户对数据库的操作权限</a:t>
            </a:r>
            <a:endParaRPr lang="en-US" altLang="zh-CN" dirty="0"/>
          </a:p>
          <a:p>
            <a:pPr lvl="1"/>
            <a:r>
              <a:rPr lang="zh-CN" altLang="en-US" dirty="0"/>
              <a:t>统计信息等</a:t>
            </a:r>
          </a:p>
          <a:p>
            <a:pPr lvl="1"/>
            <a:endParaRPr lang="zh-CN" altLang="en-US" dirty="0"/>
          </a:p>
          <a:p>
            <a:pPr eaLnBrk="1" hangingPunct="1"/>
            <a:r>
              <a:rPr lang="zh-CN" altLang="en-US" dirty="0"/>
              <a:t>关系数据库管理系统在执行</a:t>
            </a:r>
            <a:r>
              <a:rPr lang="en-US" altLang="zh-CN" dirty="0"/>
              <a:t>SQL</a:t>
            </a:r>
            <a:r>
              <a:rPr lang="zh-CN" altLang="en-US" dirty="0"/>
              <a:t>的数据定义语句时，实际上就是在更新数据字典表中的相应信息。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ch03_1_SQL数据定义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华为：GaussDB数据库的数据字典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/>
              <a:t>GaussDB的数据字典主要包括</a:t>
            </a:r>
            <a:r>
              <a:rPr lang="en-US" altLang="zh-CN" sz="2000"/>
              <a:t>‘</a:t>
            </a:r>
            <a:r>
              <a:rPr lang="zh-CN" altLang="en-US" sz="2000"/>
              <a:t>系统表</a:t>
            </a:r>
            <a:r>
              <a:rPr lang="en-US" altLang="zh-CN" sz="2000"/>
              <a:t>’</a:t>
            </a:r>
            <a:r>
              <a:rPr lang="zh-CN" altLang="en-US" sz="2000"/>
              <a:t>和</a:t>
            </a:r>
            <a:r>
              <a:rPr lang="en-US" altLang="zh-CN" sz="2000"/>
              <a:t>‘</a:t>
            </a:r>
            <a:r>
              <a:rPr lang="zh-CN" altLang="en-US" sz="2000"/>
              <a:t>系统视图</a:t>
            </a:r>
            <a:r>
              <a:rPr lang="en-US" altLang="zh-CN" sz="2000"/>
              <a:t>’</a:t>
            </a:r>
            <a:r>
              <a:rPr lang="zh-CN" altLang="en-US" sz="2000"/>
              <a:t>。</a:t>
            </a:r>
            <a:r>
              <a:rPr lang="en-US" altLang="zh-CN" sz="2000"/>
              <a:t>‘</a:t>
            </a:r>
            <a:r>
              <a:rPr lang="zh-CN" altLang="en-US" sz="2000"/>
              <a:t>系统表</a:t>
            </a:r>
            <a:r>
              <a:rPr lang="en-US" altLang="zh-CN" sz="2000"/>
              <a:t>’</a:t>
            </a:r>
            <a:r>
              <a:rPr lang="zh-CN" altLang="en-US" sz="2000"/>
              <a:t>是数据库存放数据库元数据的地方，它是系统运行控制信息的来源，是数据库系统的核心组成部分（部分系统表见如下表格）；</a:t>
            </a:r>
            <a:r>
              <a:rPr lang="en-US" altLang="zh-CN" sz="2000"/>
              <a:t>‘</a:t>
            </a:r>
            <a:r>
              <a:rPr lang="zh-CN" altLang="en-US" sz="2000"/>
              <a:t>系统视图</a:t>
            </a:r>
            <a:r>
              <a:rPr lang="en-US" altLang="zh-CN" sz="2000"/>
              <a:t>’</a:t>
            </a:r>
            <a:r>
              <a:rPr lang="zh-CN" altLang="en-US" sz="2000"/>
              <a:t>提供了查询系统表和访问数据库内部状态的方法。</a:t>
            </a:r>
          </a:p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zh-CN" altLang="en-US" sz="2000"/>
              <a:t>系统表和系统视图要么只对数据库管理员可见，要么对所有用户可见。正常情况下，用户只能通过</a:t>
            </a:r>
            <a:r>
              <a:rPr lang="en-US" altLang="zh-CN" sz="2000"/>
              <a:t>DDL</a:t>
            </a:r>
            <a:r>
              <a:rPr lang="zh-CN" altLang="en-US" sz="2000"/>
              <a:t>、</a:t>
            </a:r>
            <a:r>
              <a:rPr lang="en-US" altLang="zh-CN" sz="2000"/>
              <a:t>DCL</a:t>
            </a:r>
            <a:r>
              <a:rPr lang="zh-CN" altLang="en-US" sz="2000"/>
              <a:t>等</a:t>
            </a:r>
            <a:r>
              <a:rPr lang="en-US" altLang="zh-CN" sz="2000"/>
              <a:t>SQL</a:t>
            </a:r>
            <a:r>
              <a:rPr lang="zh-CN" altLang="en-US" sz="2000"/>
              <a:t>语句来管理维护系统表信息。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2000"/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zh-CN" altLang="en-US" sz="2000"/>
          </a:p>
          <a:p>
            <a:pPr lvl="1"/>
            <a:endParaRPr lang="zh-CN" altLang="en-US" sz="20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61115" y="6696000"/>
            <a:ext cx="730885" cy="153670"/>
          </a:xfrm>
        </p:spPr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41</a:t>
            </a:fld>
            <a:endParaRPr lang="en-US" altLang="x-none" strike="noStrike" noProof="1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23545" y="2520950"/>
          <a:ext cx="11343640" cy="4004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2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rgbClr val="C00000"/>
                          </a:solidFill>
                          <a:ea typeface="楷体" panose="02010609060101010101" charset="-122"/>
                        </a:rPr>
                        <a:t>系统表名</a:t>
                      </a:r>
                    </a:p>
                  </a:txBody>
                  <a:tcPr marL="125730" marR="125730" marT="36195" marB="361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solidFill>
                            <a:srgbClr val="C00000"/>
                          </a:solidFill>
                          <a:ea typeface="楷体" panose="02010609060101010101" charset="-122"/>
                        </a:rPr>
                        <a:t>描述</a:t>
                      </a:r>
                    </a:p>
                  </a:txBody>
                  <a:tcPr marL="125730" marR="125730" marT="36195" marB="3619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PG_class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数据字典中最重要的一张系统表，记录着表、视图、索引、属性、序列等数据库对象的定义信息，是每条</a:t>
                      </a: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DDL/DML</a:t>
                      </a: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操作都必须要关联的系统表。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PG_attribute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存储所有表（包括系统表）中的字段定义信息。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PG_index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存储关于索引的一部分信息（其他信息存储在</a:t>
                      </a: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PG_class</a:t>
                      </a: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中）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PG_attrdef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存储字段的缺省值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PG_constraint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存储表上的数据完整性约束定义（不包括</a:t>
                      </a: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NOT NULL</a:t>
                      </a: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约束）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19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  <a:sym typeface="+mn-ea"/>
                        </a:rPr>
                        <a:t>PG_tablespace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存储表空间的信息。表中的数据可以存储在特定的表空间里，已帮助管理磁盘布局和解决</a:t>
                      </a: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I/O</a:t>
                      </a: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瓶颈。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  <a:sym typeface="+mn-ea"/>
                        </a:rPr>
                        <a:t>PG_namespace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存储名字空间（模式）的信息。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  <a:sym typeface="+mn-ea"/>
                        </a:rPr>
                        <a:t>PG_database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rgbClr val="0000C8"/>
                          </a:solidFill>
                          <a:ea typeface="楷体" panose="02010609060101010101" charset="-122"/>
                          <a:cs typeface="+mn-lt"/>
                        </a:rPr>
                        <a:t>存储（一个集群中所有）数据库的信息。</a:t>
                      </a:r>
                    </a:p>
                  </a:txBody>
                  <a:tcPr marL="125730" marR="125730" marT="36195" marB="36195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蚂蚁集团：</a:t>
            </a:r>
            <a:r>
              <a:rPr lang="en-US" altLang="zh-CN">
                <a:sym typeface="+mn-ea"/>
              </a:rPr>
              <a:t>OceanBase </a:t>
            </a:r>
            <a:r>
              <a:rPr lang="zh-CN" altLang="en-US">
                <a:sym typeface="+mn-ea"/>
              </a:rPr>
              <a:t>数据库的数据字典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</a:pPr>
            <a:r>
              <a:rPr lang="zh-CN" altLang="en-US" sz="2000">
                <a:cs typeface="+mn-lt"/>
              </a:rPr>
              <a:t>OceanBase 数据库是一款分布式数据库，由多个物理上分散的数据库单元组成，通过计算机网络将这些数据库单元组成的逻辑上的统一整体，被称之为 OceanBase 集群。</a:t>
            </a:r>
          </a:p>
          <a:p>
            <a:pPr lvl="0">
              <a:lnSpc>
                <a:spcPct val="110000"/>
              </a:lnSpc>
            </a:pPr>
            <a:r>
              <a:rPr lang="zh-CN" altLang="en-US" sz="2000">
                <a:cs typeface="+mn-lt"/>
              </a:rPr>
              <a:t>OceanBase 数据库是单进程软件，进程名为 observer。通常一台物理或者虚拟服务器运行一个 observer 进程，被称为一个节点（也被称为一个 OBServer 节点）。</a:t>
            </a:r>
          </a:p>
          <a:p>
            <a:pPr lvl="0">
              <a:lnSpc>
                <a:spcPct val="110000"/>
              </a:lnSpc>
            </a:pPr>
            <a:r>
              <a:rPr lang="zh-CN" altLang="en-US" sz="2000">
                <a:cs typeface="+mn-lt"/>
              </a:rPr>
              <a:t>在集群之上，OceanBase 数据库采用了多租户架构。租户类似于传统数据库的数据库实例，可以独占和管理被分配给它的物理资源。在租户下可以创建 Database、表、用户等数据库对象。</a:t>
            </a:r>
          </a:p>
          <a:p>
            <a:pPr lvl="0">
              <a:lnSpc>
                <a:spcPct val="110000"/>
              </a:lnSpc>
            </a:pPr>
            <a:r>
              <a:rPr lang="zh-CN" altLang="en-US" sz="2000">
                <a:cs typeface="+mn-lt"/>
              </a:rPr>
              <a:t>在</a:t>
            </a:r>
            <a:r>
              <a:rPr lang="zh-CN" altLang="en-US" sz="2000">
                <a:cs typeface="+mn-lt"/>
                <a:sym typeface="+mn-ea"/>
              </a:rPr>
              <a:t>OceanBase 数据库中，</a:t>
            </a:r>
            <a:r>
              <a:rPr lang="zh-CN" altLang="en-US" sz="2000">
                <a:cs typeface="+mn-lt"/>
              </a:rPr>
              <a:t>有三种类型的租户：</a:t>
            </a:r>
            <a:r>
              <a:rPr lang="zh-CN" altLang="en-US" sz="2000">
                <a:solidFill>
                  <a:srgbClr val="C00000"/>
                </a:solidFill>
                <a:cs typeface="+mn-lt"/>
              </a:rPr>
              <a:t>系统租户、用户租户、</a:t>
            </a:r>
            <a:r>
              <a:rPr lang="zh-CN" altLang="en-US" sz="2000">
                <a:solidFill>
                  <a:srgbClr val="C00000"/>
                </a:solidFill>
                <a:cs typeface="+mn-lt"/>
                <a:sym typeface="+mn-ea"/>
              </a:rPr>
              <a:t>Meta 租户</a:t>
            </a:r>
            <a:r>
              <a:rPr lang="zh-CN" altLang="en-US" sz="2000">
                <a:cs typeface="+mn-lt"/>
                <a:sym typeface="+mn-ea"/>
              </a:rPr>
              <a:t>。在一个OceanBase 集群中，有一个系统租户并且是集群默认创建的租户，其中的系统表用于存放与集群有关的元数据；可以创建若干个</a:t>
            </a:r>
            <a:r>
              <a:rPr lang="zh-CN" altLang="en-US" sz="2000">
                <a:cs typeface="+mn-lt"/>
              </a:rPr>
              <a:t>用户租户，每一个用户租户都自动拥有一个与之对应的 Meta 租户，在</a:t>
            </a:r>
            <a:r>
              <a:rPr lang="zh-CN" altLang="en-US" sz="2000">
                <a:cs typeface="+mn-lt"/>
                <a:sym typeface="+mn-ea"/>
              </a:rPr>
              <a:t>Meta 租户的系统表中存放与对应用户租户有关的元数据</a:t>
            </a:r>
            <a:r>
              <a:rPr lang="zh-CN" altLang="en-US" sz="2000">
                <a:cs typeface="+mn-lt"/>
              </a:rPr>
              <a:t>。</a:t>
            </a:r>
          </a:p>
          <a:p>
            <a:pPr lvl="0">
              <a:lnSpc>
                <a:spcPct val="110000"/>
              </a:lnSpc>
            </a:pPr>
            <a:r>
              <a:rPr lang="zh-CN" altLang="en-US" sz="2000">
                <a:cs typeface="+mn-lt"/>
                <a:sym typeface="+mn-ea"/>
              </a:rPr>
              <a:t>OceanBase 数据库的数据字典受到保护，只能通过通过字典视图获取相关信息。系统提供了三种类型的字典视图：</a:t>
            </a:r>
            <a:r>
              <a:rPr lang="en-US" altLang="zh-CN" sz="2000">
                <a:solidFill>
                  <a:srgbClr val="C00000"/>
                </a:solidFill>
                <a:cs typeface="+mn-lt"/>
                <a:sym typeface="+mn-ea"/>
              </a:rPr>
              <a:t>information_schema</a:t>
            </a:r>
            <a:r>
              <a:rPr lang="zh-CN" altLang="en-US" sz="2000">
                <a:solidFill>
                  <a:srgbClr val="C00000"/>
                </a:solidFill>
                <a:cs typeface="+mn-lt"/>
                <a:sym typeface="+mn-ea"/>
              </a:rPr>
              <a:t>视图</a:t>
            </a:r>
            <a:r>
              <a:rPr lang="zh-CN" altLang="en-US" sz="2000">
                <a:cs typeface="+mn-lt"/>
                <a:sym typeface="+mn-ea"/>
              </a:rPr>
              <a:t>、</a:t>
            </a:r>
            <a:r>
              <a:rPr lang="en-US" altLang="zh-CN" sz="2000">
                <a:cs typeface="+mn-lt"/>
                <a:sym typeface="+mn-ea"/>
              </a:rPr>
              <a:t> </a:t>
            </a:r>
            <a:r>
              <a:rPr lang="en-US" altLang="zh-CN" sz="2000">
                <a:solidFill>
                  <a:srgbClr val="C00000"/>
                </a:solidFill>
                <a:cs typeface="+mn-lt"/>
                <a:sym typeface="+mn-ea"/>
              </a:rPr>
              <a:t>oceanbase.CDB</a:t>
            </a:r>
            <a:r>
              <a:rPr lang="zh-CN" altLang="en-US" sz="2000">
                <a:solidFill>
                  <a:srgbClr val="C00000"/>
                </a:solidFill>
                <a:cs typeface="+mn-lt"/>
                <a:sym typeface="+mn-ea"/>
              </a:rPr>
              <a:t>视图</a:t>
            </a:r>
            <a:r>
              <a:rPr lang="zh-CN" altLang="en-US" sz="2000">
                <a:cs typeface="+mn-lt"/>
                <a:sym typeface="+mn-ea"/>
              </a:rPr>
              <a:t>、</a:t>
            </a:r>
            <a:r>
              <a:rPr lang="en-US" altLang="zh-CN" sz="2000">
                <a:solidFill>
                  <a:srgbClr val="C00000"/>
                </a:solidFill>
                <a:cs typeface="+mn-lt"/>
                <a:sym typeface="+mn-ea"/>
              </a:rPr>
              <a:t>oceanbase.DBA</a:t>
            </a:r>
            <a:r>
              <a:rPr lang="zh-CN" altLang="en-US" sz="2000">
                <a:cs typeface="+mn-lt"/>
                <a:sym typeface="+mn-ea"/>
              </a:rPr>
              <a:t>视图，分别面向普通的用户租户、系统租户、拥有管理员权限的用户访问。</a:t>
            </a:r>
            <a:endParaRPr lang="zh-CN" altLang="en-US" sz="2000">
              <a:cs typeface="+mn-lt"/>
            </a:endParaRPr>
          </a:p>
          <a:p>
            <a:pPr lvl="1"/>
            <a:endParaRPr lang="zh-CN" altLang="en-US" sz="2000">
              <a:cs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61115" y="6696000"/>
            <a:ext cx="730885" cy="153670"/>
          </a:xfrm>
        </p:spPr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  <a:t>42</a:t>
            </a:fld>
            <a:endParaRPr lang="en-US" altLang="x-none" strike="noStrike" noProof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M3MTJmZWYzNGY4YmRiNTYxOWVmNTczZTFmNjFmODMifQ=="/>
  <p:tag name="RESOURCE_RECORD_KEY" val="{&quot;70&quot;:[331450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c371e34-30de-4976-8235-b87676e03957}"/>
  <p:tag name="TABLE_ENDDRAG_ORIGIN_RECT" val="802*187"/>
  <p:tag name="TABLE_ENDDRAG_RECT" val="79*138*802*18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846*379"/>
  <p:tag name="TABLE_ENDDRAG_RECT" val="113*216*846*3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70*381"/>
  <p:tag name="TABLE_ENDDRAG_RECT" val="86*99*770*3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9*482"/>
  <p:tag name="TABLE_ENDDRAG_RECT" val="57*53*859*48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3*262"/>
  <p:tag name="TABLE_ENDDRAG_RECT" val="33*246*893*26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4503</Words>
  <Application>Microsoft Macintosh PowerPoint</Application>
  <PresentationFormat>宽屏</PresentationFormat>
  <Paragraphs>576</Paragraphs>
  <Slides>42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Times New Roman</vt:lpstr>
      <vt:lpstr>微软雅黑</vt:lpstr>
      <vt:lpstr>宋体</vt:lpstr>
      <vt:lpstr>Wingdings</vt:lpstr>
      <vt:lpstr>Courier New</vt:lpstr>
      <vt:lpstr>Arial</vt:lpstr>
      <vt:lpstr>楷体</vt:lpstr>
      <vt:lpstr>Calibri</vt:lpstr>
      <vt:lpstr>WPS</vt:lpstr>
      <vt:lpstr>1_WPS</vt:lpstr>
      <vt:lpstr>2_WPS</vt:lpstr>
      <vt:lpstr>Microsoft Word 97 - 2004 文档</vt:lpstr>
      <vt:lpstr>PowerPoint 演示文稿</vt:lpstr>
      <vt:lpstr>目录</vt:lpstr>
      <vt:lpstr>目录</vt:lpstr>
      <vt:lpstr>第3章  关系数据库标准语言SQL 3.1  SQL概述</vt:lpstr>
      <vt:lpstr>SQL</vt:lpstr>
      <vt:lpstr>SQL的特点 1</vt:lpstr>
      <vt:lpstr>SQL的特点 2</vt:lpstr>
      <vt:lpstr>SQL的特点 3</vt:lpstr>
      <vt:lpstr>从关系模型 到 SQL语言</vt:lpstr>
      <vt:lpstr>SQL语言的基本语言成分</vt:lpstr>
      <vt:lpstr>SQL语言的基本表示规范（交互式SQL）</vt:lpstr>
      <vt:lpstr>SQL与关系数据库三级模式 1</vt:lpstr>
      <vt:lpstr>SQL与关系数据库三级模式 2</vt:lpstr>
      <vt:lpstr>第3章  关系数据库标准语言SQL 3.2  学生-课程数据库</vt:lpstr>
      <vt:lpstr>基础关系 1</vt:lpstr>
      <vt:lpstr>基础关系 2</vt:lpstr>
      <vt:lpstr>基础关系 3</vt:lpstr>
      <vt:lpstr>第3章  关系数据库标准语言SQL ch3.3 SQL数据定义</vt:lpstr>
      <vt:lpstr>层次化的数据库对象命名机制</vt:lpstr>
      <vt:lpstr>数据定义</vt:lpstr>
      <vt:lpstr>定义模式 1</vt:lpstr>
      <vt:lpstr>定义模式 2</vt:lpstr>
      <vt:lpstr>删除模式</vt:lpstr>
      <vt:lpstr>定义基本表</vt:lpstr>
      <vt:lpstr>定义基本表-学生表Student</vt:lpstr>
      <vt:lpstr>定义基本表-课程表Course</vt:lpstr>
      <vt:lpstr>定义基本表-学生选课表SC</vt:lpstr>
      <vt:lpstr>数据类型 1</vt:lpstr>
      <vt:lpstr>数据类型 2</vt:lpstr>
      <vt:lpstr>日期时间数据类型</vt:lpstr>
      <vt:lpstr>日期时间类型的值的字符串表示</vt:lpstr>
      <vt:lpstr>修改基本表 1</vt:lpstr>
      <vt:lpstr>修改基本表 2</vt:lpstr>
      <vt:lpstr>删除基本表 1 </vt:lpstr>
      <vt:lpstr>删除基本表 2</vt:lpstr>
      <vt:lpstr>索引</vt:lpstr>
      <vt:lpstr>建立索引 1 </vt:lpstr>
      <vt:lpstr>建立索引 2</vt:lpstr>
      <vt:lpstr>修改/删除索引</vt:lpstr>
      <vt:lpstr>数据字典</vt:lpstr>
      <vt:lpstr>华为：GaussDB数据库的数据字典</vt:lpstr>
      <vt:lpstr>蚂蚁集团：OceanBase 数据库的数据字典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pc403</dc:creator>
  <cp:lastModifiedBy>Wei Hu</cp:lastModifiedBy>
  <cp:revision>251</cp:revision>
  <dcterms:created xsi:type="dcterms:W3CDTF">2023-08-09T12:44:00Z</dcterms:created>
  <dcterms:modified xsi:type="dcterms:W3CDTF">2026-04-19T00:49:26Z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F12BBC9013804A96BD7366ACDCA62ADC_13</vt:lpwstr>
  </property>
  <property fmtid="{D5CDD505-2E9C-101B-9397-08002B2CF9AE}" pid="3" name="KSOProductBuildVer">
    <vt:lpwstr>2052-12.1.0.20305</vt:lpwstr>
  </property>
</Properties>
</file>