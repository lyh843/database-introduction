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
  </p:notesMasterIdLst>
  <p:handoutMasterIdLst>
    <p:handoutMasterId r:id="rId133"/>
  </p:handoutMasterIdLst>
  <p:sldIdLst>
    <p:sldId id="687" r:id="rId3"/>
    <p:sldId id="1186" r:id="rId5"/>
    <p:sldId id="1187" r:id="rId6"/>
    <p:sldId id="1190" r:id="rId7"/>
    <p:sldId id="1191" r:id="rId8"/>
    <p:sldId id="1192" r:id="rId9"/>
    <p:sldId id="1193" r:id="rId10"/>
    <p:sldId id="1379" r:id="rId11"/>
    <p:sldId id="1380" r:id="rId12"/>
    <p:sldId id="1381" r:id="rId13"/>
    <p:sldId id="1382" r:id="rId14"/>
    <p:sldId id="1383" r:id="rId15"/>
    <p:sldId id="1384" r:id="rId16"/>
    <p:sldId id="1385" r:id="rId17"/>
    <p:sldId id="1386" r:id="rId18"/>
    <p:sldId id="900" r:id="rId19"/>
    <p:sldId id="930" r:id="rId20"/>
    <p:sldId id="931" r:id="rId21"/>
    <p:sldId id="1510" r:id="rId22"/>
    <p:sldId id="932" r:id="rId23"/>
    <p:sldId id="933" r:id="rId24"/>
    <p:sldId id="934" r:id="rId25"/>
    <p:sldId id="1523" r:id="rId26"/>
    <p:sldId id="935" r:id="rId27"/>
    <p:sldId id="937" r:id="rId28"/>
    <p:sldId id="936" r:id="rId29"/>
    <p:sldId id="1511" r:id="rId30"/>
    <p:sldId id="938" r:id="rId31"/>
    <p:sldId id="939" r:id="rId32"/>
    <p:sldId id="940" r:id="rId33"/>
    <p:sldId id="941" r:id="rId34"/>
    <p:sldId id="942" r:id="rId35"/>
    <p:sldId id="943" r:id="rId36"/>
    <p:sldId id="1047" r:id="rId37"/>
    <p:sldId id="944" r:id="rId38"/>
    <p:sldId id="945" r:id="rId39"/>
    <p:sldId id="946" r:id="rId40"/>
    <p:sldId id="1048" r:id="rId41"/>
    <p:sldId id="1049" r:id="rId42"/>
    <p:sldId id="1268" r:id="rId43"/>
    <p:sldId id="1269" r:id="rId44"/>
    <p:sldId id="1378" r:id="rId45"/>
    <p:sldId id="1522" r:id="rId46"/>
    <p:sldId id="949" r:id="rId47"/>
    <p:sldId id="1509" r:id="rId48"/>
    <p:sldId id="950" r:id="rId49"/>
    <p:sldId id="951" r:id="rId50"/>
    <p:sldId id="952" r:id="rId51"/>
    <p:sldId id="1354" r:id="rId52"/>
    <p:sldId id="1355" r:id="rId53"/>
    <p:sldId id="1356" r:id="rId54"/>
    <p:sldId id="1357" r:id="rId55"/>
    <p:sldId id="1358" r:id="rId56"/>
    <p:sldId id="1359" r:id="rId57"/>
    <p:sldId id="1360" r:id="rId58"/>
    <p:sldId id="1361" r:id="rId59"/>
    <p:sldId id="1362" r:id="rId60"/>
    <p:sldId id="1363" r:id="rId61"/>
    <p:sldId id="1365" r:id="rId62"/>
    <p:sldId id="1366" r:id="rId63"/>
    <p:sldId id="1367" r:id="rId64"/>
    <p:sldId id="1368" r:id="rId65"/>
    <p:sldId id="1369" r:id="rId66"/>
    <p:sldId id="1370" r:id="rId67"/>
    <p:sldId id="1371" r:id="rId68"/>
    <p:sldId id="1372" r:id="rId69"/>
    <p:sldId id="1373" r:id="rId70"/>
    <p:sldId id="1374" r:id="rId71"/>
    <p:sldId id="1375" r:id="rId72"/>
    <p:sldId id="1376" r:id="rId73"/>
    <p:sldId id="1377" r:id="rId74"/>
    <p:sldId id="953" r:id="rId75"/>
    <p:sldId id="1512" r:id="rId76"/>
    <p:sldId id="1513" r:id="rId77"/>
    <p:sldId id="1514" r:id="rId78"/>
    <p:sldId id="1515" r:id="rId79"/>
    <p:sldId id="1516" r:id="rId80"/>
    <p:sldId id="1517" r:id="rId81"/>
    <p:sldId id="1518" r:id="rId82"/>
    <p:sldId id="1519" r:id="rId83"/>
    <p:sldId id="1520" r:id="rId84"/>
    <p:sldId id="962" r:id="rId85"/>
    <p:sldId id="963" r:id="rId86"/>
    <p:sldId id="964" r:id="rId87"/>
    <p:sldId id="965" r:id="rId88"/>
    <p:sldId id="966" r:id="rId89"/>
    <p:sldId id="967" r:id="rId90"/>
    <p:sldId id="1498" r:id="rId91"/>
    <p:sldId id="1152" r:id="rId92"/>
    <p:sldId id="1153" r:id="rId93"/>
    <p:sldId id="969" r:id="rId94"/>
    <p:sldId id="970" r:id="rId95"/>
    <p:sldId id="971" r:id="rId96"/>
    <p:sldId id="1324" r:id="rId97"/>
    <p:sldId id="972" r:id="rId98"/>
    <p:sldId id="973" r:id="rId99"/>
    <p:sldId id="974" r:id="rId100"/>
    <p:sldId id="1154" r:id="rId101"/>
    <p:sldId id="976" r:id="rId102"/>
    <p:sldId id="977" r:id="rId103"/>
    <p:sldId id="978" r:id="rId104"/>
    <p:sldId id="979" r:id="rId105"/>
    <p:sldId id="980" r:id="rId106"/>
    <p:sldId id="981" r:id="rId107"/>
    <p:sldId id="982" r:id="rId108"/>
    <p:sldId id="983" r:id="rId109"/>
    <p:sldId id="984" r:id="rId110"/>
    <p:sldId id="1500" r:id="rId111"/>
    <p:sldId id="1501" r:id="rId112"/>
    <p:sldId id="1502" r:id="rId113"/>
    <p:sldId id="1503" r:id="rId114"/>
    <p:sldId id="1504" r:id="rId115"/>
    <p:sldId id="1505" r:id="rId116"/>
    <p:sldId id="1506" r:id="rId117"/>
    <p:sldId id="1507" r:id="rId118"/>
    <p:sldId id="1508" r:id="rId119"/>
    <p:sldId id="1156" r:id="rId120"/>
    <p:sldId id="988" r:id="rId121"/>
    <p:sldId id="985" r:id="rId122"/>
    <p:sldId id="1155" r:id="rId123"/>
    <p:sldId id="989" r:id="rId124"/>
    <p:sldId id="990" r:id="rId125"/>
    <p:sldId id="991" r:id="rId126"/>
    <p:sldId id="1182" r:id="rId127"/>
    <p:sldId id="992" r:id="rId128"/>
    <p:sldId id="993" r:id="rId129"/>
    <p:sldId id="994" r:id="rId130"/>
    <p:sldId id="995" r:id="rId131"/>
    <p:sldId id="996" r:id="rId132"/>
  </p:sldIdLst>
  <p:sldSz cx="12192000" cy="6858000"/>
  <p:notesSz cx="6858000" cy="9144000"/>
  <p:embeddedFontLst>
    <p:embeddedFont>
      <p:font typeface="楷体" charset="-122"/>
      <p:regular r:id="rId138"/>
    </p:embeddedFont>
    <p:embeddedFont>
      <p:font typeface="Calibri" panose="020F0502020204030204" charset="0"/>
      <p:regular r:id="rId139"/>
    </p:embeddedFont>
    <p:embeddedFont>
      <p:font typeface="微软雅黑" charset="-122"/>
      <p:regular r:id="rId140"/>
    </p:embeddedFont>
    <p:embeddedFont>
      <p:font typeface="Cambria Math" panose="02040503050406030204" charset="0"/>
      <p:regular r:id="rId141"/>
    </p:embeddedFont>
  </p:embeddedFontLst>
  <p:custDataLst>
    <p:tags r:id="rId1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380509090" name="百老汇" initials="百"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8"/>
    <a:srgbClr val="FF0000"/>
    <a:srgbClr val="0000FF"/>
    <a:srgbClr val="1F2DA8"/>
    <a:srgbClr val="E9EC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2" Type="http://schemas.openxmlformats.org/officeDocument/2006/relationships/tags" Target="tags/tag37.xml"/><Relationship Id="rId141" Type="http://schemas.openxmlformats.org/officeDocument/2006/relationships/font" Target="fonts/font4.fntdata"/><Relationship Id="rId140" Type="http://schemas.openxmlformats.org/officeDocument/2006/relationships/font" Target="fonts/font3.fntdata"/><Relationship Id="rId14" Type="http://schemas.openxmlformats.org/officeDocument/2006/relationships/slide" Target="slides/slide11.xml"/><Relationship Id="rId139" Type="http://schemas.openxmlformats.org/officeDocument/2006/relationships/font" Target="fonts/font2.fntdata"/><Relationship Id="rId138" Type="http://schemas.openxmlformats.org/officeDocument/2006/relationships/font" Target="fonts/font1.fntdata"/><Relationship Id="rId137" Type="http://schemas.openxmlformats.org/officeDocument/2006/relationships/commentAuthors" Target="commentAuthors.xml"/><Relationship Id="rId136" Type="http://schemas.openxmlformats.org/officeDocument/2006/relationships/tableStyles" Target="tableStyles.xml"/><Relationship Id="rId135" Type="http://schemas.openxmlformats.org/officeDocument/2006/relationships/viewProps" Target="viewProps.xml"/><Relationship Id="rId134" Type="http://schemas.openxmlformats.org/officeDocument/2006/relationships/presProps" Target="presProps.xml"/><Relationship Id="rId133" Type="http://schemas.openxmlformats.org/officeDocument/2006/relationships/handoutMaster" Target="handoutMasters/handoutMaster1.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2024.04.03  23:08</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p:nvPr>
        </p:nvSpPr>
        <p:spPr/>
        <p:txBody>
          <a:bodyPr wrap="square" anchor="t"/>
          <a:p>
            <a:pPr lvl="0" indent="0"/>
            <a:r>
              <a:rPr lang="zh-CN" altLang="en-US" dirty="0"/>
              <a:t>自然联结</a:t>
            </a:r>
            <a:endParaRPr lang="zh-CN" altLang="en-US" dirty="0"/>
          </a:p>
        </p:txBody>
      </p:sp>
      <p:sp>
        <p:nvSpPr>
          <p:cNvPr id="32772" name="灯片编号占位符 3"/>
          <p:cNvSpPr txBox="1">
            <a:spLocks noGrp="1"/>
          </p:cNvSpPr>
          <p:nvPr/>
        </p:nvSpPr>
        <p:spPr>
          <a:xfrm>
            <a:off x="3886200" y="8686800"/>
            <a:ext cx="2971800" cy="457200"/>
          </a:xfrm>
          <a:prstGeom prst="rect">
            <a:avLst/>
          </a:prstGeom>
          <a:noFill/>
          <a:ln w="9525">
            <a:noFill/>
          </a:ln>
        </p:spPr>
        <p:txBody>
          <a:bodyPr anchor="b"/>
          <a:p>
            <a:pPr lvl="0" indent="0" algn="r"/>
            <a:fld id="{9A0DB2DC-4C9A-4742-B13C-FB6460FD3503}" type="slidenum">
              <a:rPr lang="en-US" altLang="x-none" sz="1200" b="0" dirty="0"/>
            </a:fld>
            <a:endParaRPr lang="en-US" altLang="x-none" sz="1200" b="0"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p:nvPr>
        </p:nvSpPr>
        <p:spPr/>
        <p:txBody>
          <a:bodyPr wrap="square" anchor="t"/>
          <a:p>
            <a:pPr lvl="0" indent="0"/>
            <a:r>
              <a:rPr lang="zh-CN" altLang="en-US" dirty="0"/>
              <a:t>自然联结</a:t>
            </a:r>
            <a:endParaRPr lang="zh-CN" altLang="en-US" dirty="0"/>
          </a:p>
        </p:txBody>
      </p:sp>
      <p:sp>
        <p:nvSpPr>
          <p:cNvPr id="32772" name="灯片编号占位符 3"/>
          <p:cNvSpPr txBox="1">
            <a:spLocks noGrp="1"/>
          </p:cNvSpPr>
          <p:nvPr/>
        </p:nvSpPr>
        <p:spPr>
          <a:xfrm>
            <a:off x="3886200" y="8686800"/>
            <a:ext cx="2971800" cy="457200"/>
          </a:xfrm>
          <a:prstGeom prst="rect">
            <a:avLst/>
          </a:prstGeom>
          <a:noFill/>
          <a:ln w="9525">
            <a:noFill/>
          </a:ln>
        </p:spPr>
        <p:txBody>
          <a:bodyPr anchor="b"/>
          <a:p>
            <a:pPr lvl="0" indent="0" algn="r"/>
            <a:fld id="{9A0DB2DC-4C9A-4742-B13C-FB6460FD3503}" type="slidenum">
              <a:rPr lang="en-US" altLang="x-none" sz="1200" b="0" dirty="0"/>
            </a:fld>
            <a:endParaRPr lang="en-US" altLang="x-none" sz="1200" b="0"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p:nvPr>
        </p:nvSpPr>
        <p:spPr/>
        <p:txBody>
          <a:bodyPr wrap="square" anchor="t"/>
          <a:p>
            <a:pPr lvl="0" indent="0"/>
            <a:r>
              <a:rPr lang="zh-CN" altLang="en-US" dirty="0"/>
              <a:t>自然联结</a:t>
            </a:r>
            <a:endParaRPr lang="zh-CN" altLang="en-US" dirty="0"/>
          </a:p>
        </p:txBody>
      </p:sp>
      <p:sp>
        <p:nvSpPr>
          <p:cNvPr id="32772" name="灯片编号占位符 3"/>
          <p:cNvSpPr txBox="1">
            <a:spLocks noGrp="1"/>
          </p:cNvSpPr>
          <p:nvPr/>
        </p:nvSpPr>
        <p:spPr>
          <a:xfrm>
            <a:off x="3886200" y="8686800"/>
            <a:ext cx="2971800" cy="457200"/>
          </a:xfrm>
          <a:prstGeom prst="rect">
            <a:avLst/>
          </a:prstGeom>
          <a:noFill/>
          <a:ln w="9525">
            <a:noFill/>
          </a:ln>
        </p:spPr>
        <p:txBody>
          <a:bodyPr anchor="b"/>
          <a:p>
            <a:pPr lvl="0" indent="0" algn="r"/>
            <a:fld id="{9A0DB2DC-4C9A-4742-B13C-FB6460FD3503}" type="slidenum">
              <a:rPr lang="en-US" altLang="x-none" sz="1200" b="0" dirty="0"/>
            </a:fld>
            <a:endParaRPr lang="en-US" altLang="x-none" sz="1200" b="0"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p:nvPr>
        </p:nvSpPr>
        <p:spPr/>
        <p:txBody>
          <a:bodyPr wrap="square" anchor="t"/>
          <a:p>
            <a:pPr lvl="0" indent="0"/>
            <a:r>
              <a:rPr lang="zh-CN" altLang="en-US" dirty="0"/>
              <a:t>自然联结</a:t>
            </a:r>
            <a:endParaRPr lang="zh-CN" altLang="en-US" dirty="0"/>
          </a:p>
        </p:txBody>
      </p:sp>
      <p:sp>
        <p:nvSpPr>
          <p:cNvPr id="32772" name="灯片编号占位符 3"/>
          <p:cNvSpPr txBox="1">
            <a:spLocks noGrp="1"/>
          </p:cNvSpPr>
          <p:nvPr/>
        </p:nvSpPr>
        <p:spPr>
          <a:xfrm>
            <a:off x="3886200" y="8686800"/>
            <a:ext cx="2971800" cy="457200"/>
          </a:xfrm>
          <a:prstGeom prst="rect">
            <a:avLst/>
          </a:prstGeom>
          <a:noFill/>
          <a:ln w="9525">
            <a:noFill/>
          </a:ln>
        </p:spPr>
        <p:txBody>
          <a:bodyPr anchor="b"/>
          <a:p>
            <a:pPr lvl="0" indent="0" algn="r"/>
            <a:fld id="{9A0DB2DC-4C9A-4742-B13C-FB6460FD3503}" type="slidenum">
              <a:rPr lang="en-US" altLang="x-none" sz="1200" b="0" dirty="0"/>
            </a:fld>
            <a:endParaRPr lang="en-US" altLang="x-none" sz="1200" b="0"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itchFamily="2" charset="-122"/>
            </a:endParaRPr>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4DE72BCE-0FFC-42E3-B712-40EAEAFBF266}"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itchFamily="2" charset="-122"/>
            </a:endParaRPr>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4DE72BCE-0FFC-42E3-B712-40EAEAFBF266}"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itchFamily="2" charset="-122"/>
            </a:endParaRPr>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4DE72BCE-0FFC-42E3-B712-40EAEAFBF266}"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itchFamily="2" charset="-122"/>
            </a:endParaRPr>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4DE72BCE-0FFC-42E3-B712-40EAEAFBF266}"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itchFamily="2" charset="-122"/>
            </a:endParaRPr>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4DE72BCE-0FFC-42E3-B712-40EAEAFBF266}"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5" name="页脚占位符 4"/>
          <p:cNvSpPr>
            <a:spLocks noGrp="1"/>
          </p:cNvSpPr>
          <p:nvPr>
            <p:ph type="ftr" sz="quarter" idx="11"/>
          </p:nvPr>
        </p:nvSpPr>
        <p:spPr/>
        <p:txBody>
          <a:bodyPr/>
          <a:lstStyle/>
          <a:p>
            <a:r>
              <a:rPr lang="zh-CN" altLang="en-US"/>
              <a:t>ch03_2_SQL数据查询</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lnSpc>
                <a:spcPct val="100000"/>
              </a:lnSpc>
              <a:spcBef>
                <a:spcPts val="1000"/>
              </a:spcBef>
              <a:spcAft>
                <a:spcPts val="0"/>
              </a:spcAft>
              <a:defRPr sz="2800">
                <a:latin typeface="Calibri" panose="020F0502020204030204" charset="0"/>
              </a:defRPr>
            </a:lvl1pPr>
            <a:lvl2pPr>
              <a:lnSpc>
                <a:spcPct val="100000"/>
              </a:lnSpc>
              <a:spcBef>
                <a:spcPct val="0"/>
              </a:spcBef>
              <a:spcAft>
                <a:spcPts val="0"/>
              </a:spcAft>
              <a:defRPr sz="2800">
                <a:latin typeface="Calibri" panose="020F0502020204030204" charset="0"/>
              </a:defRPr>
            </a:lvl2pPr>
            <a:lvl3pPr>
              <a:lnSpc>
                <a:spcPct val="100000"/>
              </a:lnSpc>
              <a:spcBef>
                <a:spcPct val="0"/>
              </a:spcBef>
              <a:spcAft>
                <a:spcPts val="0"/>
              </a:spcAft>
              <a:defRPr sz="2800">
                <a:latin typeface="Calibri" panose="020F0502020204030204" charset="0"/>
              </a:defRPr>
            </a:lvl3pPr>
            <a:lvl4pPr>
              <a:lnSpc>
                <a:spcPct val="100000"/>
              </a:lnSpc>
              <a:spcBef>
                <a:spcPct val="0"/>
              </a:spcBef>
              <a:spcAft>
                <a:spcPts val="0"/>
              </a:spcAft>
              <a:defRPr sz="2800">
                <a:latin typeface="Calibri" panose="020F0502020204030204" charset="0"/>
              </a:defRPr>
            </a:lvl4pPr>
            <a:lvl5pPr>
              <a:lnSpc>
                <a:spcPct val="100000"/>
              </a:lnSpc>
              <a:spcBef>
                <a:spcPct val="0"/>
              </a:spcBef>
              <a:spcAft>
                <a:spcPts val="0"/>
              </a:spcAft>
              <a:defRPr sz="2800">
                <a:latin typeface="Calibri" panose="020F0502020204030204" charset="0"/>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zh-CN" altLang="en-US"/>
              <a:t>ch03_2_SQL数据查询</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4815" y="615950"/>
            <a:ext cx="5579745" cy="5981700"/>
          </a:xfrm>
        </p:spPr>
        <p:txBody>
          <a:bodyPr/>
          <a:lstStyle>
            <a:lvl1pPr>
              <a:lnSpc>
                <a:spcPct val="100000"/>
              </a:lnSpc>
              <a:spcBef>
                <a:spcPts val="1000"/>
              </a:spcBef>
              <a:spcAft>
                <a:spcPts val="0"/>
              </a:spcAft>
              <a:defRPr sz="2800">
                <a:latin typeface="Calibri" panose="020F0502020204030204" charset="0"/>
              </a:defRPr>
            </a:lvl1pPr>
            <a:lvl2pPr>
              <a:lnSpc>
                <a:spcPct val="100000"/>
              </a:lnSpc>
              <a:spcBef>
                <a:spcPct val="0"/>
              </a:spcBef>
              <a:spcAft>
                <a:spcPts val="0"/>
              </a:spcAft>
              <a:defRPr sz="2800">
                <a:latin typeface="Calibri" panose="020F0502020204030204" charset="0"/>
              </a:defRPr>
            </a:lvl2pPr>
            <a:lvl3pPr>
              <a:lnSpc>
                <a:spcPct val="100000"/>
              </a:lnSpc>
              <a:spcBef>
                <a:spcPct val="0"/>
              </a:spcBef>
              <a:spcAft>
                <a:spcPts val="0"/>
              </a:spcAft>
              <a:defRPr sz="2800">
                <a:latin typeface="Calibri" panose="020F0502020204030204" charset="0"/>
              </a:defRPr>
            </a:lvl3pPr>
            <a:lvl4pPr>
              <a:lnSpc>
                <a:spcPct val="100000"/>
              </a:lnSpc>
              <a:spcBef>
                <a:spcPct val="0"/>
              </a:spcBef>
              <a:spcAft>
                <a:spcPts val="0"/>
              </a:spcAft>
              <a:defRPr sz="2800">
                <a:latin typeface="Calibri" panose="020F0502020204030204" charset="0"/>
              </a:defRPr>
            </a:lvl4pPr>
            <a:lvl5pPr>
              <a:lnSpc>
                <a:spcPct val="100000"/>
              </a:lnSpc>
              <a:spcBef>
                <a:spcPct val="0"/>
              </a:spcBef>
              <a:spcAft>
                <a:spcPts val="0"/>
              </a:spcAft>
              <a:defRPr sz="2800">
                <a:latin typeface="Calibri" panose="020F0502020204030204" charset="0"/>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615950"/>
            <a:ext cx="5588635" cy="5981700"/>
          </a:xfrm>
        </p:spPr>
        <p:txBody>
          <a:bodyPr/>
          <a:lstStyle>
            <a:lvl1pPr>
              <a:lnSpc>
                <a:spcPct val="100000"/>
              </a:lnSpc>
              <a:spcBef>
                <a:spcPts val="1000"/>
              </a:spcBef>
              <a:spcAft>
                <a:spcPts val="0"/>
              </a:spcAft>
              <a:defRPr sz="2800">
                <a:latin typeface="Calibri" panose="020F0502020204030204" charset="0"/>
              </a:defRPr>
            </a:lvl1pPr>
            <a:lvl2pPr>
              <a:lnSpc>
                <a:spcPct val="100000"/>
              </a:lnSpc>
              <a:spcBef>
                <a:spcPct val="0"/>
              </a:spcBef>
              <a:spcAft>
                <a:spcPts val="0"/>
              </a:spcAft>
              <a:defRPr sz="2800">
                <a:latin typeface="Calibri" panose="020F0502020204030204" charset="0"/>
              </a:defRPr>
            </a:lvl2pPr>
            <a:lvl3pPr>
              <a:lnSpc>
                <a:spcPct val="100000"/>
              </a:lnSpc>
              <a:spcBef>
                <a:spcPct val="0"/>
              </a:spcBef>
              <a:spcAft>
                <a:spcPts val="0"/>
              </a:spcAft>
              <a:defRPr sz="2800">
                <a:latin typeface="Calibri" panose="020F0502020204030204" charset="0"/>
              </a:defRPr>
            </a:lvl3pPr>
            <a:lvl4pPr>
              <a:lnSpc>
                <a:spcPct val="100000"/>
              </a:lnSpc>
              <a:spcBef>
                <a:spcPct val="0"/>
              </a:spcBef>
              <a:spcAft>
                <a:spcPts val="0"/>
              </a:spcAft>
              <a:defRPr sz="2800">
                <a:latin typeface="Calibri" panose="020F0502020204030204" charset="0"/>
              </a:defRPr>
            </a:lvl4pPr>
            <a:lvl5pPr>
              <a:lnSpc>
                <a:spcPct val="100000"/>
              </a:lnSpc>
              <a:spcBef>
                <a:spcPct val="0"/>
              </a:spcBef>
              <a:spcAft>
                <a:spcPts val="0"/>
              </a:spcAft>
              <a:defRPr sz="2800">
                <a:latin typeface="Calibri" panose="020F0502020204030204" charset="0"/>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11"/>
          </p:nvPr>
        </p:nvSpPr>
        <p:spPr/>
        <p:txBody>
          <a:bodyPr/>
          <a:lstStyle/>
          <a:p>
            <a:r>
              <a:rPr lang="zh-CN" altLang="en-US"/>
              <a:t>ch03_2_SQL数据查询</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815" y="570865"/>
            <a:ext cx="5579745" cy="553085"/>
          </a:xfrm>
        </p:spPr>
        <p:txBody>
          <a:bodyPr anchor="b">
            <a:spAutoFit/>
          </a:bodyPr>
          <a:lstStyle>
            <a:lvl1pPr marL="0" indent="0">
              <a:lnSpc>
                <a:spcPct val="100000"/>
              </a:lnSpc>
              <a:spcBef>
                <a:spcPts val="0"/>
              </a:spcBef>
              <a:spcAft>
                <a:spcPts val="0"/>
              </a:spcAft>
              <a:buNone/>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24815" y="1223645"/>
            <a:ext cx="5579745" cy="5391150"/>
          </a:xfrm>
        </p:spPr>
        <p:txBody>
          <a:bodyPr/>
          <a:lstStyle>
            <a:lvl1pPr eaLnBrk="1" fontAlgn="auto" latinLnBrk="0" hangingPunct="1">
              <a:lnSpc>
                <a:spcPct val="100000"/>
              </a:lnSpc>
              <a:spcBef>
                <a:spcPts val="1000"/>
              </a:spcBef>
              <a:spcAft>
                <a:spcPts val="0"/>
              </a:spcAft>
              <a:defRPr sz="2800">
                <a:latin typeface="Calibri" panose="020F0502020204030204" charset="0"/>
              </a:defRPr>
            </a:lvl1pPr>
            <a:lvl2pPr>
              <a:lnSpc>
                <a:spcPct val="100000"/>
              </a:lnSpc>
              <a:spcBef>
                <a:spcPct val="0"/>
              </a:spcBef>
              <a:spcAft>
                <a:spcPts val="0"/>
              </a:spcAft>
              <a:defRPr sz="2800">
                <a:latin typeface="Calibri" panose="020F0502020204030204" charset="0"/>
              </a:defRPr>
            </a:lvl2pPr>
            <a:lvl3pPr>
              <a:lnSpc>
                <a:spcPct val="100000"/>
              </a:lnSpc>
              <a:spcBef>
                <a:spcPct val="0"/>
              </a:spcBef>
              <a:spcAft>
                <a:spcPts val="0"/>
              </a:spcAft>
              <a:defRPr sz="2800">
                <a:latin typeface="Calibri" panose="020F0502020204030204" charset="0"/>
              </a:defRPr>
            </a:lvl3pPr>
            <a:lvl4pPr>
              <a:lnSpc>
                <a:spcPct val="100000"/>
              </a:lnSpc>
              <a:spcBef>
                <a:spcPct val="0"/>
              </a:spcBef>
              <a:spcAft>
                <a:spcPts val="0"/>
              </a:spcAft>
              <a:defRPr sz="2800">
                <a:latin typeface="Calibri" panose="020F0502020204030204" charset="0"/>
              </a:defRPr>
            </a:lvl4pPr>
            <a:lvl5pPr>
              <a:lnSpc>
                <a:spcPct val="100000"/>
              </a:lnSpc>
              <a:spcBef>
                <a:spcPct val="0"/>
              </a:spcBef>
              <a:spcAft>
                <a:spcPts val="0"/>
              </a:spcAft>
              <a:defRPr sz="2800">
                <a:latin typeface="Calibri" panose="020F0502020204030204" charset="0"/>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570865"/>
            <a:ext cx="5589270" cy="553085"/>
          </a:xfrm>
        </p:spPr>
        <p:txBody>
          <a:bodyPr anchor="b">
            <a:spAutoFit/>
          </a:bodyPr>
          <a:lstStyle>
            <a:lvl1pPr marL="0" indent="0">
              <a:lnSpc>
                <a:spcPct val="100000"/>
              </a:lnSpc>
              <a:spcBef>
                <a:spcPts val="0"/>
              </a:spcBef>
              <a:spcAft>
                <a:spcPts val="0"/>
              </a:spcAft>
              <a:buNone/>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1223645"/>
            <a:ext cx="5589270" cy="5391150"/>
          </a:xfrm>
        </p:spPr>
        <p:txBody>
          <a:bodyPr/>
          <a:lstStyle>
            <a:lvl1pPr eaLnBrk="1" fontAlgn="auto" latinLnBrk="0" hangingPunct="1">
              <a:lnSpc>
                <a:spcPct val="100000"/>
              </a:lnSpc>
              <a:spcBef>
                <a:spcPts val="1000"/>
              </a:spcBef>
              <a:spcAft>
                <a:spcPts val="0"/>
              </a:spcAft>
              <a:defRPr sz="2800">
                <a:latin typeface="Calibri" panose="020F0502020204030204" charset="0"/>
              </a:defRPr>
            </a:lvl1pPr>
            <a:lvl2pPr>
              <a:lnSpc>
                <a:spcPct val="100000"/>
              </a:lnSpc>
              <a:spcBef>
                <a:spcPct val="0"/>
              </a:spcBef>
              <a:spcAft>
                <a:spcPts val="0"/>
              </a:spcAft>
              <a:defRPr sz="2800">
                <a:latin typeface="Calibri" panose="020F0502020204030204" charset="0"/>
              </a:defRPr>
            </a:lvl2pPr>
            <a:lvl3pPr>
              <a:lnSpc>
                <a:spcPct val="100000"/>
              </a:lnSpc>
              <a:spcBef>
                <a:spcPct val="0"/>
              </a:spcBef>
              <a:spcAft>
                <a:spcPts val="0"/>
              </a:spcAft>
              <a:defRPr sz="2800">
                <a:latin typeface="Calibri" panose="020F0502020204030204" charset="0"/>
              </a:defRPr>
            </a:lvl3pPr>
            <a:lvl4pPr>
              <a:lnSpc>
                <a:spcPct val="100000"/>
              </a:lnSpc>
              <a:spcBef>
                <a:spcPct val="0"/>
              </a:spcBef>
              <a:spcAft>
                <a:spcPts val="0"/>
              </a:spcAft>
              <a:defRPr sz="2800">
                <a:latin typeface="Calibri" panose="020F0502020204030204" charset="0"/>
              </a:defRPr>
            </a:lvl4pPr>
            <a:lvl5pPr>
              <a:lnSpc>
                <a:spcPct val="100000"/>
              </a:lnSpc>
              <a:spcBef>
                <a:spcPct val="0"/>
              </a:spcBef>
              <a:spcAft>
                <a:spcPts val="0"/>
              </a:spcAft>
              <a:defRPr sz="2800">
                <a:latin typeface="Calibri" panose="020F0502020204030204" charset="0"/>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页脚占位符 7"/>
          <p:cNvSpPr>
            <a:spLocks noGrp="1"/>
          </p:cNvSpPr>
          <p:nvPr>
            <p:ph type="ftr" sz="quarter" idx="11"/>
          </p:nvPr>
        </p:nvSpPr>
        <p:spPr/>
        <p:txBody>
          <a:bodyPr/>
          <a:lstStyle/>
          <a:p>
            <a:r>
              <a:rPr lang="zh-CN" altLang="en-US"/>
              <a:t>ch03_2_SQL数据查询</a:t>
            </a:r>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p:txBody>
          <a:bodyPr/>
          <a:lstStyle/>
          <a:p>
            <a:r>
              <a:rPr lang="zh-CN" altLang="en-US"/>
              <a:t>ch03_2_SQL数据查询</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ch03_2_SQL数据查询</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horz"/>
          <a:lstStyle>
            <a:lvl1pPr eaLnBrk="1" fontAlgn="base" latinLnBrk="0" hangingPunct="1">
              <a:lnSpc>
                <a:spcPct val="100000"/>
              </a:lnSpc>
              <a:spcBef>
                <a:spcPts val="1000"/>
              </a:spcBef>
              <a:spcAft>
                <a:spcPts val="0"/>
              </a:spcAft>
              <a:defRPr sz="2800">
                <a:latin typeface="Calibri" panose="020F0502020204030204" charset="0"/>
              </a:defRPr>
            </a:lvl1pPr>
            <a:lvl2pPr>
              <a:lnSpc>
                <a:spcPct val="100000"/>
              </a:lnSpc>
              <a:spcBef>
                <a:spcPct val="0"/>
              </a:spcBef>
              <a:spcAft>
                <a:spcPts val="0"/>
              </a:spcAft>
              <a:defRPr sz="2800">
                <a:latin typeface="Calibri" panose="020F0502020204030204" charset="0"/>
              </a:defRPr>
            </a:lvl2pPr>
            <a:lvl3pPr>
              <a:lnSpc>
                <a:spcPct val="100000"/>
              </a:lnSpc>
              <a:spcBef>
                <a:spcPct val="0"/>
              </a:spcBef>
              <a:spcAft>
                <a:spcPts val="0"/>
              </a:spcAft>
              <a:defRPr sz="2800">
                <a:latin typeface="Calibri" panose="020F0502020204030204" charset="0"/>
              </a:defRPr>
            </a:lvl3pPr>
            <a:lvl4pPr>
              <a:lnSpc>
                <a:spcPct val="100000"/>
              </a:lnSpc>
              <a:spcBef>
                <a:spcPct val="0"/>
              </a:spcBef>
              <a:spcAft>
                <a:spcPts val="0"/>
              </a:spcAft>
              <a:defRPr sz="2800">
                <a:latin typeface="Calibri" panose="020F0502020204030204" charset="0"/>
              </a:defRPr>
            </a:lvl4pPr>
            <a:lvl5pPr>
              <a:lnSpc>
                <a:spcPct val="100000"/>
              </a:lnSpc>
              <a:spcBef>
                <a:spcPct val="0"/>
              </a:spcBef>
              <a:spcAft>
                <a:spcPts val="0"/>
              </a:spcAft>
              <a:defRPr sz="2800">
                <a:latin typeface="Calibri" panose="020F0502020204030204" charset="0"/>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1"/>
            <p:custDataLst>
              <p:tags r:id="rId2"/>
            </p:custDataLst>
          </p:nvPr>
        </p:nvSpPr>
        <p:spPr/>
        <p:txBody>
          <a:bodyPr/>
          <a:p>
            <a:r>
              <a:rPr lang="zh-CN" altLang="en-US"/>
              <a:t>ch03_2_SQL数据查询</a:t>
            </a:r>
            <a:endParaRPr lang="zh-CN" altLang="en-US"/>
          </a:p>
        </p:txBody>
      </p:sp>
      <p:sp>
        <p:nvSpPr>
          <p:cNvPr id="7" name="灯片编号占位符 6"/>
          <p:cNvSpPr>
            <a:spLocks noGrp="1"/>
          </p:cNvSpPr>
          <p:nvPr>
            <p:ph type="sldNum" sz="quarter" idx="12"/>
            <p:custDataLst>
              <p:tags r:id="rId3"/>
            </p:custDataLst>
          </p:nvPr>
        </p:nvSpPr>
        <p:spPr/>
        <p:txBody>
          <a:bodyPr/>
          <a:p>
            <a:fld id="{565CE74E-AB26-4998-AD42-012C4C1AD076}" type="slidenum">
              <a:rPr lang="zh-CN" altLang="en-US" smtClean="0"/>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3"/>
          </p:nvPr>
        </p:nvSpPr>
        <p:spPr>
          <a:xfrm>
            <a:off x="0" y="6696000"/>
            <a:ext cx="4114800" cy="152400"/>
          </a:xfrm>
          <a:prstGeom prst="rect">
            <a:avLst/>
          </a:prstGeom>
        </p:spPr>
        <p:txBody>
          <a:bodyPr vert="horz" lIns="91440" tIns="0" rIns="91440" bIns="0" rtlCol="0" anchor="ctr">
            <a:spAutoFit/>
          </a:bodyPr>
          <a:lstStyle>
            <a:lvl1pPr algn="l">
              <a:defRPr sz="1000" b="1" i="1">
                <a:solidFill>
                  <a:schemeClr val="tx1">
                    <a:tint val="75000"/>
                  </a:schemeClr>
                </a:solidFill>
                <a:latin typeface="楷体" charset="-122"/>
                <a:ea typeface="楷体" charset="-122"/>
              </a:defRPr>
            </a:lvl1pPr>
          </a:lstStyle>
          <a:p>
            <a:r>
              <a:rPr lang="zh-CN" altLang="en-US"/>
              <a:t>ch03_2_SQL数据查询</a:t>
            </a:r>
            <a:endParaRPr lang="zh-CN" altLang="en-US"/>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charset="-122"/>
                <a:ea typeface="楷体"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tags" Target="../tags/tag8.xml"/><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xml"/><Relationship Id="rId7" Type="http://schemas.openxmlformats.org/officeDocument/2006/relationships/image" Target="../media/image16.png"/><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image" Target="../media/image15.png"/><Relationship Id="rId2" Type="http://schemas.openxmlformats.org/officeDocument/2006/relationships/tags" Target="../tags/tag10.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slide" Target="slide127.xml"/><Relationship Id="rId4" Type="http://schemas.openxmlformats.org/officeDocument/2006/relationships/slide" Target="slide121.xml"/><Relationship Id="rId3" Type="http://schemas.openxmlformats.org/officeDocument/2006/relationships/slide" Target="slide84.xml"/><Relationship Id="rId2" Type="http://schemas.openxmlformats.org/officeDocument/2006/relationships/slide" Target="slide72.xml"/><Relationship Id="rId1" Type="http://schemas.openxmlformats.org/officeDocument/2006/relationships/slide" Target="slide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tags" Target="../tags/tag27.xml"/><Relationship Id="rId1" Type="http://schemas.openxmlformats.org/officeDocument/2006/relationships/tags" Target="../tags/tag2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1.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0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5.wmf"/><Relationship Id="rId1" Type="http://schemas.openxmlformats.org/officeDocument/2006/relationships/oleObject" Target="../embeddings/oleObject1.bin"/></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5.xml"/><Relationship Id="rId2" Type="http://schemas.openxmlformats.org/officeDocument/2006/relationships/image" Target="../media/image25.wmf"/><Relationship Id="rId1" Type="http://schemas.openxmlformats.org/officeDocument/2006/relationships/oleObject" Target="../embeddings/oleObject2.bin"/></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spAutoFit/>
          </a:bodyPr>
          <a:p>
            <a:pPr algn="ctr"/>
            <a:r>
              <a:rPr kumimoji="1" lang="zh-CN" altLang="en-US" sz="2000" dirty="0">
                <a:solidFill>
                  <a:schemeClr val="bg1"/>
                </a:solidFill>
                <a:effectLst>
                  <a:outerShdw blurRad="38100" dist="38100" dir="2700000" algn="tl">
                    <a:srgbClr val="000000">
                      <a:alpha val="43137"/>
                    </a:srgbClr>
                  </a:outerShdw>
                </a:effectLst>
                <a:latin typeface="微软雅黑" charset="-122"/>
                <a:ea typeface="微软雅黑" charset="-122"/>
                <a:sym typeface="+mn-ea"/>
              </a:rPr>
              <a:t>（202</a:t>
            </a:r>
            <a:r>
              <a:rPr kumimoji="1" lang="en-US" altLang="zh-CN" sz="2000" dirty="0">
                <a:solidFill>
                  <a:schemeClr val="bg1"/>
                </a:solidFill>
                <a:effectLst>
                  <a:outerShdw blurRad="38100" dist="38100" dir="2700000" algn="tl">
                    <a:srgbClr val="000000">
                      <a:alpha val="43137"/>
                    </a:srgbClr>
                  </a:outerShdw>
                </a:effectLst>
                <a:latin typeface="微软雅黑" charset="-122"/>
                <a:ea typeface="微软雅黑" charset="-122"/>
                <a:sym typeface="+mn-ea"/>
              </a:rPr>
              <a:t>6</a:t>
            </a:r>
            <a:r>
              <a:rPr kumimoji="1" lang="zh-CN" altLang="en-US" sz="2000" dirty="0">
                <a:solidFill>
                  <a:schemeClr val="bg1"/>
                </a:solidFill>
                <a:effectLst>
                  <a:outerShdw blurRad="38100" dist="38100" dir="2700000" algn="tl">
                    <a:srgbClr val="000000">
                      <a:alpha val="43137"/>
                    </a:srgbClr>
                  </a:outerShdw>
                </a:effectLst>
                <a:latin typeface="微软雅黑" charset="-122"/>
                <a:ea typeface="微软雅黑" charset="-122"/>
                <a:sym typeface="+mn-ea"/>
              </a:rPr>
              <a:t> 春季）</a:t>
            </a:r>
            <a:endParaRPr kumimoji="1" lang="zh-CN" altLang="en-US" sz="2000" dirty="0">
              <a:solidFill>
                <a:schemeClr val="bg1"/>
              </a:solidFill>
              <a:effectLst>
                <a:outerShdw blurRad="38100" dist="38100" dir="2700000" algn="tl">
                  <a:srgbClr val="000000">
                    <a:alpha val="43137"/>
                  </a:srgbClr>
                </a:outerShdw>
              </a:effectLst>
              <a:latin typeface="微软雅黑" charset="-122"/>
              <a:ea typeface="微软雅黑" charset="-122"/>
              <a:sym typeface="+mn-ea"/>
            </a:endParaRPr>
          </a:p>
        </p:txBody>
      </p:sp>
      <p:sp>
        <p:nvSpPr>
          <p:cNvPr id="8" name="文本框 7"/>
          <p:cNvSpPr txBox="1"/>
          <p:nvPr>
            <p:custDataLst>
              <p:tags r:id="rId3"/>
            </p:custDataLst>
          </p:nvPr>
        </p:nvSpPr>
        <p:spPr>
          <a:xfrm>
            <a:off x="0" y="1924685"/>
            <a:ext cx="12192000" cy="829945"/>
          </a:xfrm>
          <a:prstGeom prst="rect">
            <a:avLst/>
          </a:prstGeom>
          <a:noFill/>
        </p:spPr>
        <p:txBody>
          <a:bodyPr wrap="square" rtlCol="0">
            <a:spAutoFit/>
          </a:bodyPr>
          <a:p>
            <a:pPr algn="ctr"/>
            <a:r>
              <a:rPr lang="zh-CN" altLang="en-US" sz="4800" b="1" dirty="0">
                <a:solidFill>
                  <a:schemeClr val="bg1"/>
                </a:solidFill>
                <a:effectLst>
                  <a:outerShdw blurRad="38100" dist="38100" dir="2700000" algn="tl">
                    <a:srgbClr val="000000">
                      <a:alpha val="43137"/>
                    </a:srgbClr>
                  </a:outerShdw>
                </a:effectLst>
                <a:latin typeface="微软雅黑" charset="-122"/>
                <a:ea typeface="微软雅黑" charset="-122"/>
                <a:cs typeface="微软雅黑" charset="-122"/>
              </a:rPr>
              <a:t>第3章  关系数据库标准语言SQL</a:t>
            </a:r>
            <a:endParaRPr lang="zh-CN" altLang="en-US" sz="4800" b="1" dirty="0">
              <a:solidFill>
                <a:schemeClr val="bg1"/>
              </a:solidFill>
              <a:effectLst>
                <a:outerShdw blurRad="38100" dist="38100" dir="2700000" algn="tl">
                  <a:srgbClr val="000000">
                    <a:alpha val="43137"/>
                  </a:srgbClr>
                </a:outerShdw>
              </a:effectLst>
              <a:latin typeface="微软雅黑" charset="-122"/>
              <a:ea typeface="微软雅黑" charset="-122"/>
              <a:cs typeface="微软雅黑" charset="-122"/>
            </a:endParaRPr>
          </a:p>
        </p:txBody>
      </p:sp>
      <p:sp>
        <p:nvSpPr>
          <p:cNvPr id="12" name="矩形 11"/>
          <p:cNvSpPr/>
          <p:nvPr>
            <p:custDataLst>
              <p:tags r:id="rId4"/>
            </p:custDataLst>
          </p:nvPr>
        </p:nvSpPr>
        <p:spPr>
          <a:xfrm>
            <a:off x="2511425" y="3335655"/>
            <a:ext cx="7144385" cy="460375"/>
          </a:xfrm>
          <a:prstGeom prst="rect">
            <a:avLst/>
          </a:prstGeom>
        </p:spPr>
        <p:txBody>
          <a:bodyPr wrap="square">
            <a:spAutoFit/>
          </a:bodyPr>
          <a:p>
            <a:pPr algn="ctr">
              <a:lnSpc>
                <a:spcPct val="100000"/>
              </a:lnSpc>
              <a:spcBef>
                <a:spcPts val="2000"/>
              </a:spcBef>
              <a:spcAft>
                <a:spcPts val="0"/>
              </a:spcAft>
            </a:pPr>
            <a:r>
              <a:rPr lang="zh-CN" altLang="en-US" sz="2400" b="1" spc="300" dirty="0">
                <a:solidFill>
                  <a:schemeClr val="bg1"/>
                </a:solidFill>
                <a:effectLst>
                  <a:outerShdw blurRad="38100" dist="38100" dir="2700000" algn="tl">
                    <a:srgbClr val="000000">
                      <a:alpha val="43137"/>
                    </a:srgbClr>
                  </a:outerShdw>
                </a:effectLst>
                <a:uFillTx/>
                <a:latin typeface="+mj-lt"/>
                <a:ea typeface="微软雅黑" charset="-122"/>
                <a:cs typeface="+mj-lt"/>
              </a:rPr>
              <a:t>（</a:t>
            </a:r>
            <a:r>
              <a:rPr lang="en-US" altLang="zh-CN" sz="2400" b="1" spc="300" dirty="0">
                <a:solidFill>
                  <a:schemeClr val="bg1"/>
                </a:solidFill>
                <a:effectLst>
                  <a:outerShdw blurRad="38100" dist="38100" dir="2700000" algn="tl">
                    <a:srgbClr val="000000">
                      <a:alpha val="43137"/>
                    </a:srgbClr>
                  </a:outerShdw>
                </a:effectLst>
                <a:uFillTx/>
                <a:latin typeface="+mj-lt"/>
                <a:ea typeface="微软雅黑" charset="-122"/>
                <a:cs typeface="+mj-lt"/>
              </a:rPr>
              <a:t>3.4  SQL</a:t>
            </a:r>
            <a:r>
              <a:rPr lang="zh-CN" altLang="en-US" sz="2400" b="1" spc="300" dirty="0">
                <a:solidFill>
                  <a:schemeClr val="bg1"/>
                </a:solidFill>
                <a:effectLst>
                  <a:outerShdw blurRad="38100" dist="38100" dir="2700000" algn="tl">
                    <a:srgbClr val="000000">
                      <a:alpha val="43137"/>
                    </a:srgbClr>
                  </a:outerShdw>
                </a:effectLst>
                <a:uFillTx/>
                <a:latin typeface="+mj-lt"/>
                <a:ea typeface="微软雅黑" charset="-122"/>
                <a:cs typeface="+mj-lt"/>
              </a:rPr>
              <a:t>数据</a:t>
            </a:r>
            <a:r>
              <a:rPr lang="zh-CN" altLang="en-US" sz="2400" b="1" spc="300" dirty="0">
                <a:solidFill>
                  <a:schemeClr val="bg1"/>
                </a:solidFill>
                <a:effectLst>
                  <a:outerShdw blurRad="38100" dist="38100" dir="2700000" algn="tl">
                    <a:srgbClr val="000000">
                      <a:alpha val="43137"/>
                    </a:srgbClr>
                  </a:outerShdw>
                </a:effectLst>
                <a:uFillTx/>
                <a:latin typeface="+mj-lt"/>
                <a:ea typeface="微软雅黑" charset="-122"/>
                <a:cs typeface="+mj-lt"/>
              </a:rPr>
              <a:t>查询）</a:t>
            </a:r>
            <a:endParaRPr lang="zh-CN" altLang="en-US" sz="2400" b="1" spc="300" dirty="0">
              <a:solidFill>
                <a:schemeClr val="bg1"/>
              </a:solidFill>
              <a:effectLst>
                <a:outerShdw blurRad="38100" dist="38100" dir="2700000" algn="tl">
                  <a:srgbClr val="000000">
                    <a:alpha val="43137"/>
                  </a:srgbClr>
                </a:outerShdw>
              </a:effectLst>
              <a:uFillTx/>
              <a:latin typeface="+mj-lt"/>
              <a:ea typeface="微软雅黑" charset="-122"/>
              <a:cs typeface="+mj-lt"/>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7" name="Rectangle 4"/>
          <p:cNvSpPr>
            <a:spLocks noGrp="1"/>
          </p:cNvSpPr>
          <p:nvPr>
            <p:ph idx="1"/>
          </p:nvPr>
        </p:nvSpPr>
        <p:spPr/>
        <p:txBody>
          <a:bodyPr wrap="square" anchor="t"/>
          <a:p>
            <a:pPr eaLnBrk="1" hangingPunct="1">
              <a:lnSpc>
                <a:spcPct val="140000"/>
              </a:lnSpc>
            </a:pPr>
            <a:r>
              <a:rPr lang="zh-CN" altLang="en-US" sz="2800"/>
              <a:t>映像语句</a:t>
            </a:r>
            <a:endParaRPr lang="zh-CN" altLang="en-US" sz="2800"/>
          </a:p>
        </p:txBody>
      </p:sp>
      <p:sp>
        <p:nvSpPr>
          <p:cNvPr id="33795" name="Rectangle 5"/>
          <p:cNvSpPr/>
          <p:nvPr/>
        </p:nvSpPr>
        <p:spPr>
          <a:xfrm>
            <a:off x="3254375" y="1530350"/>
            <a:ext cx="8513445" cy="4826000"/>
          </a:xfrm>
          <a:prstGeom prst="rect">
            <a:avLst/>
          </a:prstGeom>
          <a:solidFill>
            <a:schemeClr val="accent1">
              <a:lumMod val="20000"/>
              <a:lumOff val="80000"/>
              <a:alpha val="30000"/>
            </a:schemeClr>
          </a:solidFill>
          <a:ln w="9525">
            <a:solidFill>
              <a:schemeClr val="accent1"/>
            </a:solidFill>
          </a:ln>
        </p:spPr>
        <p:txBody>
          <a:bodyPr wrap="square" anchor="t">
            <a:spAutoFit/>
          </a:bodyPr>
          <a:p>
            <a:pPr marL="342900" indent="-342900">
              <a:lnSpc>
                <a:spcPct val="140000"/>
              </a:lnSpc>
              <a:spcBef>
                <a:spcPct val="20000"/>
              </a:spcBef>
            </a:pPr>
            <a:r>
              <a:rPr lang="en-US" altLang="x-none" sz="2800" b="1" dirty="0">
                <a:solidFill>
                  <a:srgbClr val="0000C8"/>
                </a:solidFill>
                <a:latin typeface="Arial" panose="020B0604020202090204" pitchFamily="34" charset="0"/>
                <a:ea typeface="宋体" pitchFamily="2" charset="-122"/>
              </a:rPr>
              <a:t>SELECT  * | colname { , colname ... }</a:t>
            </a:r>
            <a:endParaRPr lang="en-US" altLang="x-none" sz="2800" b="1" dirty="0">
              <a:solidFill>
                <a:srgbClr val="0000C8"/>
              </a:solidFill>
              <a:latin typeface="Arial" panose="020B0604020202090204" pitchFamily="34" charset="0"/>
              <a:ea typeface="宋体" pitchFamily="2" charset="-122"/>
            </a:endParaRPr>
          </a:p>
          <a:p>
            <a:pPr marL="342900" indent="-342900">
              <a:lnSpc>
                <a:spcPct val="140000"/>
              </a:lnSpc>
              <a:spcBef>
                <a:spcPct val="20000"/>
              </a:spcBef>
            </a:pPr>
            <a:r>
              <a:rPr lang="en-US" altLang="x-none" sz="2800" b="1" dirty="0">
                <a:solidFill>
                  <a:srgbClr val="0000C8"/>
                </a:solidFill>
                <a:latin typeface="Arial" panose="020B0604020202090204" pitchFamily="34" charset="0"/>
                <a:ea typeface="宋体" pitchFamily="2" charset="-122"/>
              </a:rPr>
              <a:t>FROM  tablename { , tablename ... }</a:t>
            </a:r>
            <a:endParaRPr lang="en-US" altLang="x-none" sz="2800" b="1" dirty="0">
              <a:solidFill>
                <a:srgbClr val="0000C8"/>
              </a:solidFill>
              <a:latin typeface="Arial" panose="020B0604020202090204" pitchFamily="34" charset="0"/>
              <a:ea typeface="宋体" pitchFamily="2" charset="-122"/>
            </a:endParaRPr>
          </a:p>
          <a:p>
            <a:pPr marL="342900" indent="-342900">
              <a:lnSpc>
                <a:spcPct val="140000"/>
              </a:lnSpc>
              <a:spcBef>
                <a:spcPct val="20000"/>
              </a:spcBef>
            </a:pPr>
            <a:r>
              <a:rPr lang="en-US" altLang="x-none" sz="2800" b="1" dirty="0">
                <a:solidFill>
                  <a:srgbClr val="0000C8"/>
                </a:solidFill>
                <a:latin typeface="Arial" panose="020B0604020202090204" pitchFamily="34" charset="0"/>
                <a:ea typeface="宋体" pitchFamily="2" charset="-122"/>
              </a:rPr>
              <a:t>[ WHERE  search_condition ]</a:t>
            </a:r>
            <a:endParaRPr lang="en-US" altLang="x-none" sz="2800" b="1" dirty="0">
              <a:solidFill>
                <a:srgbClr val="0000C8"/>
              </a:solidFill>
              <a:latin typeface="Arial" panose="020B0604020202090204" pitchFamily="34" charset="0"/>
              <a:ea typeface="宋体" pitchFamily="2" charset="-122"/>
            </a:endParaRPr>
          </a:p>
          <a:p>
            <a:pPr marL="342900" indent="-342900">
              <a:lnSpc>
                <a:spcPct val="140000"/>
              </a:lnSpc>
              <a:spcBef>
                <a:spcPct val="20000"/>
              </a:spcBef>
            </a:pPr>
            <a:r>
              <a:rPr lang="en-US" altLang="x-none" sz="2800" b="1" dirty="0">
                <a:solidFill>
                  <a:srgbClr val="0000C8"/>
                </a:solidFill>
                <a:latin typeface="Arial" panose="020B0604020202090204" pitchFamily="34" charset="0"/>
                <a:ea typeface="宋体" pitchFamily="2" charset="-122"/>
              </a:rPr>
              <a:t>[ GROUP BY  colname { , colname ... }</a:t>
            </a:r>
            <a:endParaRPr lang="en-US" altLang="x-none" sz="2800" b="1" dirty="0">
              <a:solidFill>
                <a:srgbClr val="0000C8"/>
              </a:solidFill>
              <a:latin typeface="Arial" panose="020B0604020202090204" pitchFamily="34" charset="0"/>
              <a:ea typeface="宋体" pitchFamily="2" charset="-122"/>
            </a:endParaRPr>
          </a:p>
          <a:p>
            <a:pPr marL="342900" indent="-342900">
              <a:lnSpc>
                <a:spcPct val="140000"/>
              </a:lnSpc>
              <a:spcBef>
                <a:spcPct val="20000"/>
              </a:spcBef>
            </a:pPr>
            <a:r>
              <a:rPr lang="en-US" altLang="x-none" sz="2800" b="1" dirty="0">
                <a:solidFill>
                  <a:srgbClr val="0000C8"/>
                </a:solidFill>
                <a:latin typeface="Arial" panose="020B0604020202090204" pitchFamily="34" charset="0"/>
                <a:ea typeface="宋体" pitchFamily="2" charset="-122"/>
              </a:rPr>
              <a:t>[ HAVING  group_condition ] ]</a:t>
            </a:r>
            <a:endParaRPr lang="en-US" altLang="x-none" sz="2800" b="1" dirty="0">
              <a:solidFill>
                <a:srgbClr val="0000C8"/>
              </a:solidFill>
              <a:latin typeface="Arial" panose="020B0604020202090204" pitchFamily="34" charset="0"/>
              <a:ea typeface="宋体" pitchFamily="2" charset="-122"/>
            </a:endParaRPr>
          </a:p>
          <a:p>
            <a:pPr marL="342900" indent="-342900">
              <a:lnSpc>
                <a:spcPct val="140000"/>
              </a:lnSpc>
              <a:spcBef>
                <a:spcPct val="20000"/>
              </a:spcBef>
            </a:pPr>
            <a:r>
              <a:rPr lang="en-US" altLang="x-none" sz="2800" b="1" dirty="0">
                <a:solidFill>
                  <a:srgbClr val="0000C8"/>
                </a:solidFill>
                <a:latin typeface="Arial" panose="020B0604020202090204" pitchFamily="34" charset="0"/>
                <a:ea typeface="宋体" pitchFamily="2" charset="-122"/>
              </a:rPr>
              <a:t>[ ORDER BY  colname [ ASC | DESC ]</a:t>
            </a:r>
            <a:endParaRPr lang="en-US" altLang="x-none" sz="2800" b="1" dirty="0">
              <a:solidFill>
                <a:srgbClr val="0000C8"/>
              </a:solidFill>
              <a:latin typeface="Arial" panose="020B0604020202090204" pitchFamily="34" charset="0"/>
              <a:ea typeface="宋体" pitchFamily="2" charset="-122"/>
            </a:endParaRPr>
          </a:p>
          <a:p>
            <a:pPr marL="1143000" lvl="2" indent="-228600" algn="l" eaLnBrk="1" hangingPunct="1">
              <a:lnSpc>
                <a:spcPct val="140000"/>
              </a:lnSpc>
              <a:spcBef>
                <a:spcPct val="20000"/>
              </a:spcBef>
            </a:pPr>
            <a:r>
              <a:rPr lang="en-US" altLang="x-none" sz="2800" b="1" dirty="0">
                <a:solidFill>
                  <a:srgbClr val="0000C8"/>
                </a:solidFill>
                <a:latin typeface="Arial" panose="020B0604020202090204" pitchFamily="34" charset="0"/>
                <a:ea typeface="宋体" pitchFamily="2" charset="-122"/>
              </a:rPr>
              <a:t> { , colname [ ASC | DESC ] ... } ] ;</a:t>
            </a:r>
            <a:endParaRPr lang="en-US" altLang="x-none" sz="2800" b="1" dirty="0">
              <a:solidFill>
                <a:srgbClr val="0000C8"/>
              </a:solidFill>
              <a:latin typeface="Arial" panose="020B0604020202090204" pitchFamily="34" charset="0"/>
              <a:ea typeface="宋体" pitchFamily="2" charset="-122"/>
            </a:endParaRPr>
          </a:p>
        </p:txBody>
      </p:sp>
      <p:sp>
        <p:nvSpPr>
          <p:cNvPr id="33796" name="Rectangle 3"/>
          <p:cNvSpPr>
            <a:spLocks noGrp="1"/>
          </p:cNvSpPr>
          <p:nvPr>
            <p:ph type="title"/>
          </p:nvPr>
        </p:nvSpPr>
        <p:spPr/>
        <p:txBody>
          <a:bodyPr wrap="square" anchor="ctr"/>
          <a:p>
            <a:pPr eaLnBrk="1" hangingPunct="1"/>
            <a:r>
              <a:rPr lang="en-US" altLang="x-none" dirty="0"/>
              <a:t>SQL</a:t>
            </a:r>
            <a:r>
              <a:rPr lang="zh-CN" altLang="en-US" dirty="0"/>
              <a:t>数据查询语句概述</a:t>
            </a:r>
            <a:r>
              <a:rPr lang="en-US" altLang="zh-CN" dirty="0"/>
              <a:t> 1</a:t>
            </a:r>
            <a:endParaRPr lang="en-US" altLang="zh-CN" dirty="0"/>
          </a:p>
        </p:txBody>
      </p:sp>
      <p:sp>
        <p:nvSpPr>
          <p:cNvPr id="33798" name="Rectangle 6"/>
          <p:cNvSpPr/>
          <p:nvPr/>
        </p:nvSpPr>
        <p:spPr>
          <a:xfrm>
            <a:off x="511175" y="1530350"/>
            <a:ext cx="2373630" cy="4137025"/>
          </a:xfrm>
          <a:prstGeom prst="rect">
            <a:avLst/>
          </a:prstGeom>
          <a:noFill/>
          <a:ln w="9525">
            <a:noFill/>
          </a:ln>
        </p:spPr>
        <p:txBody>
          <a:bodyPr anchor="t">
            <a:noAutofit/>
          </a:bodyPr>
          <a:p>
            <a:pPr marL="342900" indent="-342900" algn="dist">
              <a:lnSpc>
                <a:spcPct val="140000"/>
              </a:lnSpc>
              <a:spcBef>
                <a:spcPct val="20000"/>
              </a:spcBef>
            </a:pPr>
            <a:r>
              <a:rPr lang="zh-CN" altLang="en-US" sz="2800" b="1" i="1" dirty="0">
                <a:solidFill>
                  <a:srgbClr val="FF0000"/>
                </a:solidFill>
                <a:ea typeface="楷体" charset="-122"/>
                <a:cs typeface="Times New Roman" panose="02020503050405090304" pitchFamily="2" charset="0"/>
              </a:rPr>
              <a:t>目  标   子  句</a:t>
            </a:r>
            <a:endParaRPr lang="zh-CN" altLang="en-US" sz="2800" b="1" i="1" dirty="0">
              <a:solidFill>
                <a:srgbClr val="FF0000"/>
              </a:solidFill>
              <a:ea typeface="楷体" charset="-122"/>
              <a:cs typeface="Times New Roman" panose="02020503050405090304" pitchFamily="2" charset="0"/>
            </a:endParaRPr>
          </a:p>
          <a:p>
            <a:pPr marL="342900" indent="-342900" algn="dist">
              <a:lnSpc>
                <a:spcPct val="140000"/>
              </a:lnSpc>
              <a:spcBef>
                <a:spcPct val="20000"/>
              </a:spcBef>
            </a:pPr>
            <a:r>
              <a:rPr lang="zh-CN" altLang="en-US" sz="2800" b="1" i="1" dirty="0">
                <a:solidFill>
                  <a:srgbClr val="FF0000"/>
                </a:solidFill>
                <a:ea typeface="楷体" charset="-122"/>
                <a:cs typeface="Times New Roman" panose="02020503050405090304" pitchFamily="2" charset="0"/>
              </a:rPr>
              <a:t>范  围   子  句</a:t>
            </a:r>
            <a:endParaRPr lang="zh-CN" altLang="en-US" sz="2800" b="1" i="1" dirty="0">
              <a:solidFill>
                <a:srgbClr val="FF0000"/>
              </a:solidFill>
              <a:ea typeface="楷体" charset="-122"/>
              <a:cs typeface="Times New Roman" panose="02020503050405090304" pitchFamily="2" charset="0"/>
            </a:endParaRPr>
          </a:p>
          <a:p>
            <a:pPr marL="342900" indent="-342900" algn="dist">
              <a:lnSpc>
                <a:spcPct val="140000"/>
              </a:lnSpc>
              <a:spcBef>
                <a:spcPct val="20000"/>
              </a:spcBef>
            </a:pPr>
            <a:r>
              <a:rPr lang="zh-CN" altLang="en-US" sz="2800" b="1" i="1" dirty="0">
                <a:solidFill>
                  <a:srgbClr val="FF0000"/>
                </a:solidFill>
                <a:ea typeface="楷体" charset="-122"/>
                <a:cs typeface="Times New Roman" panose="02020503050405090304" pitchFamily="2" charset="0"/>
              </a:rPr>
              <a:t>条  件   子  句</a:t>
            </a:r>
            <a:endParaRPr lang="zh-CN" altLang="en-US" sz="2800" b="1" i="1" dirty="0">
              <a:solidFill>
                <a:srgbClr val="FF0000"/>
              </a:solidFill>
              <a:ea typeface="楷体" charset="-122"/>
              <a:cs typeface="Times New Roman" panose="02020503050405090304" pitchFamily="2" charset="0"/>
            </a:endParaRPr>
          </a:p>
          <a:p>
            <a:pPr marL="342900" indent="-342900" algn="dist">
              <a:lnSpc>
                <a:spcPct val="140000"/>
              </a:lnSpc>
              <a:spcBef>
                <a:spcPct val="20000"/>
              </a:spcBef>
            </a:pPr>
            <a:r>
              <a:rPr lang="zh-CN" altLang="en-US" sz="2800" b="1" i="1" dirty="0">
                <a:solidFill>
                  <a:srgbClr val="FF0000"/>
                </a:solidFill>
                <a:ea typeface="楷体" charset="-122"/>
                <a:cs typeface="Times New Roman" panose="02020503050405090304" pitchFamily="2" charset="0"/>
              </a:rPr>
              <a:t>分  组   子  句</a:t>
            </a:r>
            <a:endParaRPr lang="zh-CN" altLang="en-US" sz="2800" b="1" i="1" dirty="0">
              <a:solidFill>
                <a:srgbClr val="FF0000"/>
              </a:solidFill>
              <a:ea typeface="楷体" charset="-122"/>
              <a:cs typeface="Times New Roman" panose="02020503050405090304" pitchFamily="2" charset="0"/>
            </a:endParaRPr>
          </a:p>
          <a:p>
            <a:pPr marL="342900" indent="-342900" algn="dist">
              <a:lnSpc>
                <a:spcPct val="140000"/>
              </a:lnSpc>
              <a:spcBef>
                <a:spcPct val="20000"/>
              </a:spcBef>
            </a:pPr>
            <a:r>
              <a:rPr lang="zh-CN" altLang="en-US" sz="2800" b="1" i="1" dirty="0">
                <a:solidFill>
                  <a:srgbClr val="FF0000"/>
                </a:solidFill>
                <a:ea typeface="楷体" charset="-122"/>
                <a:cs typeface="Times New Roman" panose="02020503050405090304" pitchFamily="2" charset="0"/>
              </a:rPr>
              <a:t>分组查询子句</a:t>
            </a:r>
            <a:endParaRPr lang="zh-CN" altLang="en-US" sz="2800" b="1" i="1" dirty="0">
              <a:solidFill>
                <a:srgbClr val="FF0000"/>
              </a:solidFill>
              <a:ea typeface="楷体" charset="-122"/>
              <a:cs typeface="Times New Roman" panose="02020503050405090304" pitchFamily="2" charset="0"/>
            </a:endParaRPr>
          </a:p>
          <a:p>
            <a:pPr marL="342900" indent="-342900" algn="dist">
              <a:lnSpc>
                <a:spcPct val="140000"/>
              </a:lnSpc>
              <a:spcBef>
                <a:spcPct val="20000"/>
              </a:spcBef>
            </a:pPr>
            <a:r>
              <a:rPr lang="zh-CN" altLang="en-US" sz="2800" b="1" i="1" dirty="0">
                <a:solidFill>
                  <a:srgbClr val="FF0000"/>
                </a:solidFill>
                <a:ea typeface="楷体" charset="-122"/>
                <a:cs typeface="Times New Roman" panose="02020503050405090304" pitchFamily="2" charset="0"/>
              </a:rPr>
              <a:t>排序输出子句</a:t>
            </a:r>
            <a:endParaRPr lang="zh-CN" altLang="en-US" sz="2800" b="1" i="1" dirty="0">
              <a:solidFill>
                <a:srgbClr val="FF0000"/>
              </a:solidFill>
              <a:ea typeface="楷体" charset="-122"/>
              <a:cs typeface="Times New Roman" panose="02020503050405090304" pitchFamily="2"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4" name="右箭头 3"/>
          <p:cNvSpPr/>
          <p:nvPr/>
        </p:nvSpPr>
        <p:spPr>
          <a:xfrm>
            <a:off x="2884805" y="1833245"/>
            <a:ext cx="274320" cy="159385"/>
          </a:xfrm>
          <a:prstGeom prst="rightArrow">
            <a:avLst/>
          </a:prstGeom>
          <a:solidFill>
            <a:srgbClr val="C00000">
              <a:alpha val="50000"/>
            </a:srgbClr>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右箭头 4"/>
          <p:cNvSpPr/>
          <p:nvPr/>
        </p:nvSpPr>
        <p:spPr>
          <a:xfrm>
            <a:off x="2884805" y="2538730"/>
            <a:ext cx="274320" cy="159385"/>
          </a:xfrm>
          <a:prstGeom prst="rightArrow">
            <a:avLst/>
          </a:prstGeom>
          <a:solidFill>
            <a:srgbClr val="C00000">
              <a:alpha val="50000"/>
            </a:srgbClr>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右箭头 5"/>
          <p:cNvSpPr/>
          <p:nvPr/>
        </p:nvSpPr>
        <p:spPr>
          <a:xfrm>
            <a:off x="2884805" y="3230245"/>
            <a:ext cx="274320" cy="159385"/>
          </a:xfrm>
          <a:prstGeom prst="rightArrow">
            <a:avLst/>
          </a:prstGeom>
          <a:solidFill>
            <a:srgbClr val="C00000">
              <a:alpha val="50000"/>
            </a:srgbClr>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右箭头 6"/>
          <p:cNvSpPr/>
          <p:nvPr/>
        </p:nvSpPr>
        <p:spPr>
          <a:xfrm>
            <a:off x="2884805" y="3921760"/>
            <a:ext cx="274320" cy="159385"/>
          </a:xfrm>
          <a:prstGeom prst="rightArrow">
            <a:avLst/>
          </a:prstGeom>
          <a:solidFill>
            <a:srgbClr val="C00000">
              <a:alpha val="50000"/>
            </a:srgbClr>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右箭头 7"/>
          <p:cNvSpPr/>
          <p:nvPr/>
        </p:nvSpPr>
        <p:spPr>
          <a:xfrm>
            <a:off x="2884805" y="4566920"/>
            <a:ext cx="274320" cy="159385"/>
          </a:xfrm>
          <a:prstGeom prst="rightArrow">
            <a:avLst/>
          </a:prstGeom>
          <a:solidFill>
            <a:srgbClr val="C00000">
              <a:alpha val="50000"/>
            </a:srgbClr>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右箭头 8"/>
          <p:cNvSpPr/>
          <p:nvPr/>
        </p:nvSpPr>
        <p:spPr>
          <a:xfrm>
            <a:off x="2884805" y="5308600"/>
            <a:ext cx="274320" cy="159385"/>
          </a:xfrm>
          <a:prstGeom prst="rightArrow">
            <a:avLst/>
          </a:prstGeom>
          <a:solidFill>
            <a:srgbClr val="C00000">
              <a:alpha val="50000"/>
            </a:srgbClr>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6" name="Rectangle 7"/>
          <p:cNvSpPr/>
          <p:nvPr/>
        </p:nvSpPr>
        <p:spPr>
          <a:xfrm>
            <a:off x="2209800" y="3200400"/>
            <a:ext cx="7772400" cy="1219200"/>
          </a:xfrm>
          <a:prstGeom prst="rect">
            <a:avLst/>
          </a:prstGeom>
          <a:noFill/>
          <a:ln w="9525">
            <a:noFill/>
          </a:ln>
        </p:spPr>
        <p:txBody>
          <a:bodyPr anchor="t"/>
          <a:p>
            <a:pPr marL="1143000" lvl="2" indent="-228600" algn="l" eaLnBrk="1" hangingPunct="1">
              <a:lnSpc>
                <a:spcPct val="120000"/>
              </a:lnSpc>
              <a:spcBef>
                <a:spcPct val="20000"/>
              </a:spcBef>
            </a:pP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GROUP BY  colname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 colname ... </a:t>
            </a:r>
            <a:r>
              <a:rPr lang="en-US" altLang="x-none" sz="2800" dirty="0">
                <a:solidFill>
                  <a:srgbClr val="FF0066"/>
                </a:solidFill>
                <a:latin typeface="Arial" panose="020B0604020202090204" pitchFamily="34" charset="0"/>
                <a:ea typeface="宋体" pitchFamily="2" charset="-122"/>
              </a:rPr>
              <a:t>}</a:t>
            </a:r>
            <a:endParaRPr lang="en-US" altLang="x-none" sz="2800" dirty="0">
              <a:solidFill>
                <a:srgbClr val="FF0066"/>
              </a:solidFill>
              <a:latin typeface="Arial" panose="020B0604020202090204" pitchFamily="34" charset="0"/>
              <a:ea typeface="宋体" pitchFamily="2" charset="-122"/>
            </a:endParaRPr>
          </a:p>
          <a:p>
            <a:pPr marL="1600200" lvl="3" indent="-228600" algn="l" eaLnBrk="1" hangingPunct="1">
              <a:lnSpc>
                <a:spcPct val="120000"/>
              </a:lnSpc>
              <a:spcBef>
                <a:spcPct val="20000"/>
              </a:spcBef>
            </a:pP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HAVING  group_condition </a:t>
            </a:r>
            <a:r>
              <a:rPr lang="en-US" altLang="x-none" sz="2800" dirty="0">
                <a:solidFill>
                  <a:srgbClr val="FF0066"/>
                </a:solidFill>
                <a:latin typeface="Arial" panose="020B0604020202090204" pitchFamily="34" charset="0"/>
                <a:ea typeface="宋体" pitchFamily="2" charset="-122"/>
              </a:rPr>
              <a:t>] ]</a:t>
            </a:r>
            <a:endParaRPr lang="en-US" altLang="x-none" sz="2800" dirty="0">
              <a:latin typeface="Arial" panose="020B0604020202090204" pitchFamily="34" charset="0"/>
              <a:ea typeface="宋体" pitchFamily="2" charset="-122"/>
            </a:endParaRPr>
          </a:p>
        </p:txBody>
      </p:sp>
      <p:sp>
        <p:nvSpPr>
          <p:cNvPr id="33797" name="Rectangle 4"/>
          <p:cNvSpPr/>
          <p:nvPr/>
        </p:nvSpPr>
        <p:spPr>
          <a:xfrm>
            <a:off x="2209800" y="1981200"/>
            <a:ext cx="7772400" cy="609600"/>
          </a:xfrm>
          <a:prstGeom prst="rect">
            <a:avLst/>
          </a:prstGeom>
          <a:noFill/>
          <a:ln w="9525">
            <a:noFill/>
          </a:ln>
        </p:spPr>
        <p:txBody>
          <a:bodyPr anchor="t"/>
          <a:p>
            <a:pPr marL="1143000" lvl="2" indent="-228600" algn="l" eaLnBrk="1" hangingPunct="1">
              <a:lnSpc>
                <a:spcPct val="140000"/>
              </a:lnSpc>
              <a:spcBef>
                <a:spcPct val="20000"/>
              </a:spcBef>
            </a:pPr>
            <a:r>
              <a:rPr lang="en-US" altLang="x-none" sz="2800" dirty="0">
                <a:latin typeface="Arial" panose="020B0604020202090204" pitchFamily="34" charset="0"/>
                <a:ea typeface="宋体" pitchFamily="2" charset="-122"/>
              </a:rPr>
              <a:t>FROM  tablename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 tablename ... </a:t>
            </a:r>
            <a:r>
              <a:rPr lang="en-US" altLang="x-none" sz="2800" dirty="0">
                <a:solidFill>
                  <a:srgbClr val="FF0066"/>
                </a:solidFill>
                <a:latin typeface="Arial" panose="020B0604020202090204" pitchFamily="34" charset="0"/>
                <a:ea typeface="宋体" pitchFamily="2" charset="-122"/>
              </a:rPr>
              <a:t>}</a:t>
            </a:r>
            <a:endParaRPr lang="en-US" altLang="x-none" sz="2800" dirty="0">
              <a:solidFill>
                <a:srgbClr val="FF0066"/>
              </a:solidFill>
              <a:latin typeface="Arial" panose="020B0604020202090204" pitchFamily="34" charset="0"/>
              <a:ea typeface="宋体" pitchFamily="2" charset="-122"/>
            </a:endParaRPr>
          </a:p>
        </p:txBody>
      </p:sp>
      <p:sp>
        <p:nvSpPr>
          <p:cNvPr id="34821" name="Rectangle 2"/>
          <p:cNvSpPr>
            <a:spLocks noGrp="1"/>
          </p:cNvSpPr>
          <p:nvPr>
            <p:ph type="title"/>
          </p:nvPr>
        </p:nvSpPr>
        <p:spPr/>
        <p:txBody>
          <a:bodyPr wrap="square" anchor="ctr"/>
          <a:p>
            <a:pPr eaLnBrk="1" hangingPunct="1"/>
            <a:r>
              <a:rPr lang="en-US" altLang="x-none" dirty="0">
                <a:sym typeface="+mn-ea"/>
              </a:rPr>
              <a:t>SQL</a:t>
            </a:r>
            <a:r>
              <a:rPr lang="zh-CN" altLang="en-US" dirty="0">
                <a:sym typeface="+mn-ea"/>
              </a:rPr>
              <a:t>数据查询语句概述</a:t>
            </a:r>
            <a:r>
              <a:rPr lang="en-US" altLang="zh-CN" dirty="0">
                <a:sym typeface="+mn-ea"/>
              </a:rPr>
              <a:t> 2</a:t>
            </a:r>
            <a:endParaRPr lang="zh-CN" altLang="en-US" dirty="0"/>
          </a:p>
        </p:txBody>
      </p:sp>
      <p:sp>
        <p:nvSpPr>
          <p:cNvPr id="34822" name="Rectangle 3"/>
          <p:cNvSpPr>
            <a:spLocks noGrp="1"/>
          </p:cNvSpPr>
          <p:nvPr>
            <p:ph idx="1"/>
          </p:nvPr>
        </p:nvSpPr>
        <p:spPr/>
        <p:txBody>
          <a:bodyPr wrap="square" anchor="t"/>
          <a:p>
            <a:pPr eaLnBrk="1" hangingPunct="1"/>
            <a:r>
              <a:rPr lang="zh-CN" altLang="en-US" sz="2800"/>
              <a:t>映像语句各子句的执行顺序</a:t>
            </a:r>
            <a:endParaRPr lang="zh-CN" altLang="en-US" sz="2800"/>
          </a:p>
        </p:txBody>
      </p:sp>
      <p:sp>
        <p:nvSpPr>
          <p:cNvPr id="33800" name="Rectangle 5"/>
          <p:cNvSpPr/>
          <p:nvPr/>
        </p:nvSpPr>
        <p:spPr>
          <a:xfrm>
            <a:off x="2209800" y="2590800"/>
            <a:ext cx="7772400" cy="609600"/>
          </a:xfrm>
          <a:prstGeom prst="rect">
            <a:avLst/>
          </a:prstGeom>
          <a:noFill/>
          <a:ln w="9525">
            <a:noFill/>
          </a:ln>
        </p:spPr>
        <p:txBody>
          <a:bodyPr anchor="t"/>
          <a:p>
            <a:pPr marL="1143000" lvl="2" indent="-228600" algn="l" eaLnBrk="1" hangingPunct="1">
              <a:lnSpc>
                <a:spcPct val="140000"/>
              </a:lnSpc>
              <a:spcBef>
                <a:spcPct val="20000"/>
              </a:spcBef>
            </a:pP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WHERE  search_condition </a:t>
            </a:r>
            <a:r>
              <a:rPr lang="en-US" altLang="x-none" sz="2800" dirty="0">
                <a:solidFill>
                  <a:srgbClr val="FF0066"/>
                </a:solidFill>
                <a:latin typeface="Arial" panose="020B0604020202090204" pitchFamily="34" charset="0"/>
                <a:ea typeface="宋体" pitchFamily="2" charset="-122"/>
              </a:rPr>
              <a:t>]</a:t>
            </a:r>
            <a:endParaRPr lang="en-US" altLang="x-none" sz="2800" dirty="0">
              <a:latin typeface="Arial" panose="020B0604020202090204" pitchFamily="34" charset="0"/>
              <a:ea typeface="宋体" pitchFamily="2" charset="-122"/>
            </a:endParaRPr>
          </a:p>
        </p:txBody>
      </p:sp>
      <p:sp>
        <p:nvSpPr>
          <p:cNvPr id="33801" name="Rectangle 6"/>
          <p:cNvSpPr/>
          <p:nvPr/>
        </p:nvSpPr>
        <p:spPr>
          <a:xfrm>
            <a:off x="2209800" y="3124200"/>
            <a:ext cx="7772400" cy="685800"/>
          </a:xfrm>
          <a:prstGeom prst="rect">
            <a:avLst/>
          </a:prstGeom>
          <a:noFill/>
          <a:ln w="9525">
            <a:noFill/>
          </a:ln>
        </p:spPr>
        <p:txBody>
          <a:bodyPr anchor="t"/>
          <a:p>
            <a:pPr marL="1143000" lvl="2" indent="-228600" algn="l" eaLnBrk="1" hangingPunct="1">
              <a:lnSpc>
                <a:spcPct val="140000"/>
              </a:lnSpc>
              <a:spcBef>
                <a:spcPct val="20000"/>
              </a:spcBef>
            </a:pP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GROUP BY  colname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 colname ... </a:t>
            </a:r>
            <a:r>
              <a:rPr lang="en-US" altLang="x-none" sz="2800" dirty="0">
                <a:solidFill>
                  <a:srgbClr val="FF0066"/>
                </a:solidFill>
                <a:latin typeface="Arial" panose="020B0604020202090204" pitchFamily="34" charset="0"/>
                <a:ea typeface="宋体" pitchFamily="2" charset="-122"/>
              </a:rPr>
              <a:t>} ]</a:t>
            </a:r>
            <a:endParaRPr lang="en-US" altLang="x-none" sz="2800" dirty="0">
              <a:latin typeface="Arial" panose="020B0604020202090204" pitchFamily="34" charset="0"/>
              <a:ea typeface="宋体" pitchFamily="2" charset="-122"/>
            </a:endParaRPr>
          </a:p>
        </p:txBody>
      </p:sp>
      <p:sp>
        <p:nvSpPr>
          <p:cNvPr id="33802" name="Rectangle 8"/>
          <p:cNvSpPr/>
          <p:nvPr/>
        </p:nvSpPr>
        <p:spPr>
          <a:xfrm>
            <a:off x="2209800" y="1371600"/>
            <a:ext cx="7772400" cy="685800"/>
          </a:xfrm>
          <a:prstGeom prst="rect">
            <a:avLst/>
          </a:prstGeom>
          <a:noFill/>
          <a:ln w="9525">
            <a:noFill/>
          </a:ln>
        </p:spPr>
        <p:txBody>
          <a:bodyPr anchor="t"/>
          <a:p>
            <a:pPr marL="1143000" lvl="2" indent="-228600" algn="l" eaLnBrk="1" hangingPunct="1">
              <a:lnSpc>
                <a:spcPct val="140000"/>
              </a:lnSpc>
              <a:spcBef>
                <a:spcPct val="20000"/>
              </a:spcBef>
            </a:pPr>
            <a:r>
              <a:rPr lang="en-US" altLang="x-none" sz="2800" dirty="0">
                <a:latin typeface="Arial" panose="020B0604020202090204" pitchFamily="34" charset="0"/>
                <a:ea typeface="宋体" pitchFamily="2" charset="-122"/>
              </a:rPr>
              <a:t>SELECT  *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colname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 colname ... </a:t>
            </a:r>
            <a:r>
              <a:rPr lang="en-US" altLang="x-none" sz="2800" dirty="0">
                <a:solidFill>
                  <a:srgbClr val="FF0066"/>
                </a:solidFill>
                <a:latin typeface="Arial" panose="020B0604020202090204" pitchFamily="34" charset="0"/>
                <a:ea typeface="宋体" pitchFamily="2" charset="-122"/>
              </a:rPr>
              <a:t>}</a:t>
            </a:r>
            <a:endParaRPr lang="en-US" altLang="x-none" sz="2800" dirty="0">
              <a:solidFill>
                <a:srgbClr val="FF0066"/>
              </a:solidFill>
              <a:latin typeface="Arial" panose="020B0604020202090204" pitchFamily="34" charset="0"/>
              <a:ea typeface="宋体" pitchFamily="2" charset="-122"/>
            </a:endParaRPr>
          </a:p>
        </p:txBody>
      </p:sp>
      <p:sp>
        <p:nvSpPr>
          <p:cNvPr id="33803" name="Rectangle 9"/>
          <p:cNvSpPr/>
          <p:nvPr/>
        </p:nvSpPr>
        <p:spPr>
          <a:xfrm>
            <a:off x="2209800" y="4419600"/>
            <a:ext cx="7772400" cy="1219200"/>
          </a:xfrm>
          <a:prstGeom prst="rect">
            <a:avLst/>
          </a:prstGeom>
          <a:noFill/>
          <a:ln w="9525">
            <a:noFill/>
          </a:ln>
        </p:spPr>
        <p:txBody>
          <a:bodyPr anchor="t"/>
          <a:p>
            <a:pPr marL="1143000" lvl="2" indent="-228600" algn="l" eaLnBrk="1" hangingPunct="1">
              <a:lnSpc>
                <a:spcPct val="120000"/>
              </a:lnSpc>
              <a:spcBef>
                <a:spcPct val="20000"/>
              </a:spcBef>
            </a:pP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ORDER BY  colname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ASC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DESC </a:t>
            </a:r>
            <a:r>
              <a:rPr lang="en-US" altLang="x-none" sz="2800" dirty="0">
                <a:solidFill>
                  <a:srgbClr val="FF0066"/>
                </a:solidFill>
                <a:latin typeface="Arial" panose="020B0604020202090204" pitchFamily="34" charset="0"/>
                <a:ea typeface="宋体" pitchFamily="2" charset="-122"/>
              </a:rPr>
              <a:t>]</a:t>
            </a:r>
            <a:endParaRPr lang="en-US" altLang="x-none" sz="2800" dirty="0">
              <a:solidFill>
                <a:srgbClr val="FF0066"/>
              </a:solidFill>
              <a:latin typeface="Arial" panose="020B0604020202090204" pitchFamily="34" charset="0"/>
              <a:ea typeface="宋体" pitchFamily="2" charset="-122"/>
            </a:endParaRPr>
          </a:p>
          <a:p>
            <a:pPr marL="2057400" lvl="4" indent="-228600" algn="l" eaLnBrk="1" hangingPunct="1">
              <a:lnSpc>
                <a:spcPct val="120000"/>
              </a:lnSpc>
              <a:spcBef>
                <a:spcPct val="20000"/>
              </a:spcBef>
            </a:pPr>
            <a:r>
              <a:rPr lang="en-US" altLang="x-none" sz="2800" dirty="0">
                <a:latin typeface="Arial" panose="020B0604020202090204" pitchFamily="34" charset="0"/>
                <a:ea typeface="宋体" pitchFamily="2" charset="-122"/>
              </a:rPr>
              <a:t>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 colname </a:t>
            </a:r>
            <a:r>
              <a:rPr lang="en-US" altLang="x-none" sz="2800" dirty="0">
                <a:solidFill>
                  <a:srgbClr val="FF0066"/>
                </a:solidFill>
                <a:latin typeface="Arial" panose="020B0604020202090204" pitchFamily="34" charset="0"/>
                <a:ea typeface="宋体" pitchFamily="2" charset="-122"/>
              </a:rPr>
              <a:t>[ </a:t>
            </a:r>
            <a:r>
              <a:rPr lang="en-US" altLang="x-none" sz="2800" dirty="0">
                <a:latin typeface="Arial" panose="020B0604020202090204" pitchFamily="34" charset="0"/>
                <a:ea typeface="宋体" pitchFamily="2" charset="-122"/>
              </a:rPr>
              <a:t>ASC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DESC</a:t>
            </a:r>
            <a:r>
              <a:rPr lang="en-US" altLang="x-none" sz="2800" dirty="0">
                <a:solidFill>
                  <a:srgbClr val="FF0066"/>
                </a:solidFill>
                <a:latin typeface="Arial" panose="020B0604020202090204" pitchFamily="34" charset="0"/>
                <a:ea typeface="宋体" pitchFamily="2" charset="-122"/>
              </a:rPr>
              <a:t> ]</a:t>
            </a:r>
            <a:r>
              <a:rPr lang="en-US" altLang="x-none" sz="2800" dirty="0">
                <a:latin typeface="Arial" panose="020B0604020202090204" pitchFamily="34" charset="0"/>
                <a:ea typeface="宋体" pitchFamily="2" charset="-122"/>
              </a:rPr>
              <a:t> ...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a:t>
            </a:r>
            <a:r>
              <a:rPr lang="en-US" altLang="x-none" sz="2800" dirty="0">
                <a:solidFill>
                  <a:srgbClr val="FF0066"/>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a:t>
            </a:r>
            <a:endParaRPr lang="en-US" altLang="x-none" sz="2800" dirty="0">
              <a:latin typeface="Arial" panose="020B0604020202090204" pitchFamily="34" charset="0"/>
              <a:ea typeface="宋体" pitchFamily="2" charset="-122"/>
            </a:endParaRPr>
          </a:p>
        </p:txBody>
      </p:sp>
      <p:sp>
        <p:nvSpPr>
          <p:cNvPr id="3" name="文本框 2"/>
          <p:cNvSpPr txBox="1"/>
          <p:nvPr/>
        </p:nvSpPr>
        <p:spPr>
          <a:xfrm>
            <a:off x="2076450" y="6003290"/>
            <a:ext cx="8195945" cy="521970"/>
          </a:xfrm>
          <a:prstGeom prst="rect">
            <a:avLst/>
          </a:prstGeom>
          <a:noFill/>
        </p:spPr>
        <p:txBody>
          <a:bodyPr wrap="square" rtlCol="0">
            <a:spAutoFit/>
          </a:bodyPr>
          <a:p>
            <a:r>
              <a:rPr lang="zh-CN" altLang="en-US" sz="2800" b="1" u="sng">
                <a:solidFill>
                  <a:schemeClr val="accent6"/>
                </a:solidFill>
                <a:latin typeface="楷体" charset="-122"/>
                <a:ea typeface="楷体" charset="-122"/>
              </a:rPr>
              <a:t>动画执行过程反映了这些子句被处理的顺序！</a:t>
            </a:r>
            <a:endParaRPr lang="zh-CN" altLang="en-US" sz="2800" b="1" u="sng">
              <a:solidFill>
                <a:schemeClr val="accent6"/>
              </a:solidFill>
              <a:latin typeface="楷体" charset="-122"/>
              <a:ea typeface="楷体" charset="-122"/>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blinds(horizontal)">
                                      <p:cBhvr>
                                        <p:cTn id="7" dur="500"/>
                                        <p:tgtEl>
                                          <p:spTgt spid="3379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3800"/>
                                        </p:tgtEl>
                                        <p:attrNameLst>
                                          <p:attrName>style.visibility</p:attrName>
                                        </p:attrNameLst>
                                      </p:cBhvr>
                                      <p:to>
                                        <p:strVal val="visible"/>
                                      </p:to>
                                    </p:set>
                                    <p:anim calcmode="lin" valueType="num">
                                      <p:cBhvr additive="base">
                                        <p:cTn id="12" dur="500" fill="hold"/>
                                        <p:tgtEl>
                                          <p:spTgt spid="33800"/>
                                        </p:tgtEl>
                                        <p:attrNameLst>
                                          <p:attrName>ppt_x</p:attrName>
                                        </p:attrNameLst>
                                      </p:cBhvr>
                                      <p:tavLst>
                                        <p:tav tm="0">
                                          <p:val>
                                            <p:strVal val="#ppt_x"/>
                                          </p:val>
                                        </p:tav>
                                        <p:tav tm="100000">
                                          <p:val>
                                            <p:strVal val="#ppt_x"/>
                                          </p:val>
                                        </p:tav>
                                      </p:tavLst>
                                    </p:anim>
                                    <p:anim calcmode="lin" valueType="num">
                                      <p:cBhvr additive="base">
                                        <p:cTn id="13" dur="500" fill="hold"/>
                                        <p:tgtEl>
                                          <p:spTgt spid="3380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3801"/>
                                        </p:tgtEl>
                                        <p:attrNameLst>
                                          <p:attrName>style.visibility</p:attrName>
                                        </p:attrNameLst>
                                      </p:cBhvr>
                                      <p:to>
                                        <p:strVal val="visible"/>
                                      </p:to>
                                    </p:set>
                                    <p:anim calcmode="lin" valueType="num">
                                      <p:cBhvr additive="base">
                                        <p:cTn id="18" dur="500" fill="hold"/>
                                        <p:tgtEl>
                                          <p:spTgt spid="33801"/>
                                        </p:tgtEl>
                                        <p:attrNameLst>
                                          <p:attrName>ppt_x</p:attrName>
                                        </p:attrNameLst>
                                      </p:cBhvr>
                                      <p:tavLst>
                                        <p:tav tm="0">
                                          <p:val>
                                            <p:strVal val="#ppt_x"/>
                                          </p:val>
                                        </p:tav>
                                        <p:tav tm="100000">
                                          <p:val>
                                            <p:strVal val="#ppt_x"/>
                                          </p:val>
                                        </p:tav>
                                      </p:tavLst>
                                    </p:anim>
                                    <p:anim calcmode="lin" valueType="num">
                                      <p:cBhvr additive="base">
                                        <p:cTn id="19" dur="500" fill="hold"/>
                                        <p:tgtEl>
                                          <p:spTgt spid="3380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3801"/>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3796"/>
                                        </p:tgtEl>
                                        <p:attrNameLst>
                                          <p:attrName>style.visibility</p:attrName>
                                        </p:attrNameLst>
                                      </p:cBhvr>
                                      <p:to>
                                        <p:strVal val="visible"/>
                                      </p:to>
                                    </p:set>
                                    <p:animEffect transition="in" filter="blinds(horizontal)">
                                      <p:cBhvr>
                                        <p:cTn id="24" dur="500"/>
                                        <p:tgtEl>
                                          <p:spTgt spid="33796"/>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3802"/>
                                        </p:tgtEl>
                                        <p:attrNameLst>
                                          <p:attrName>style.visibility</p:attrName>
                                        </p:attrNameLst>
                                      </p:cBhvr>
                                      <p:to>
                                        <p:strVal val="visible"/>
                                      </p:to>
                                    </p:set>
                                    <p:animEffect transition="in" filter="blinds(horizontal)">
                                      <p:cBhvr>
                                        <p:cTn id="29" dur="500"/>
                                        <p:tgtEl>
                                          <p:spTgt spid="33802"/>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3803"/>
                                        </p:tgtEl>
                                        <p:attrNameLst>
                                          <p:attrName>style.visibility</p:attrName>
                                        </p:attrNameLst>
                                      </p:cBhvr>
                                      <p:to>
                                        <p:strVal val="visible"/>
                                      </p:to>
                                    </p:set>
                                    <p:anim calcmode="lin" valueType="num">
                                      <p:cBhvr additive="base">
                                        <p:cTn id="34" dur="500" fill="hold"/>
                                        <p:tgtEl>
                                          <p:spTgt spid="33803"/>
                                        </p:tgtEl>
                                        <p:attrNameLst>
                                          <p:attrName>ppt_x</p:attrName>
                                        </p:attrNameLst>
                                      </p:cBhvr>
                                      <p:tavLst>
                                        <p:tav tm="0">
                                          <p:val>
                                            <p:strVal val="#ppt_x"/>
                                          </p:val>
                                        </p:tav>
                                        <p:tav tm="100000">
                                          <p:val>
                                            <p:strVal val="#ppt_x"/>
                                          </p:val>
                                        </p:tav>
                                      </p:tavLst>
                                    </p:anim>
                                    <p:anim calcmode="lin" valueType="num">
                                      <p:cBhvr additive="base">
                                        <p:cTn id="35" dur="500" fill="hold"/>
                                        <p:tgtEl>
                                          <p:spTgt spid="33803"/>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blinds(horizontal)">
                                      <p:cBhvr>
                                        <p:cTn id="4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P spid="33797" grpId="0"/>
      <p:bldP spid="33800" grpId="0"/>
      <p:bldP spid="33801" grpId="0"/>
      <p:bldP spid="33802" grpId="0"/>
      <p:bldP spid="33803"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Rectangle 2"/>
          <p:cNvSpPr>
            <a:spLocks noGrp="1"/>
          </p:cNvSpPr>
          <p:nvPr>
            <p:ph type="title"/>
          </p:nvPr>
        </p:nvSpPr>
        <p:spPr/>
        <p:txBody>
          <a:bodyPr wrap="square" anchor="ctr"/>
          <a:p>
            <a:pPr eaLnBrk="1" hangingPunct="1"/>
            <a:r>
              <a:rPr lang="zh-CN" altLang="en-US" dirty="0">
                <a:sym typeface="+mn-ea"/>
              </a:rPr>
              <a:t>基本映像语句的组成</a:t>
            </a:r>
            <a:r>
              <a:rPr lang="en-US" altLang="zh-CN" dirty="0">
                <a:sym typeface="+mn-ea"/>
              </a:rPr>
              <a:t> 1</a:t>
            </a:r>
            <a:endParaRPr lang="zh-CN" altLang="en-US" dirty="0">
              <a:latin typeface="宋体" pitchFamily="2" charset="-122"/>
            </a:endParaRPr>
          </a:p>
        </p:txBody>
      </p:sp>
      <p:sp>
        <p:nvSpPr>
          <p:cNvPr id="37892" name="Rectangle 3"/>
          <p:cNvSpPr>
            <a:spLocks noGrp="1"/>
          </p:cNvSpPr>
          <p:nvPr>
            <p:ph idx="1"/>
          </p:nvPr>
        </p:nvSpPr>
        <p:spPr/>
        <p:txBody>
          <a:bodyPr wrap="square" anchor="t"/>
          <a:p>
            <a:pPr marL="914400" lvl="1" indent="-457200" eaLnBrk="1" hangingPunct="1">
              <a:lnSpc>
                <a:spcPct val="100000"/>
              </a:lnSpc>
              <a:spcBef>
                <a:spcPct val="0"/>
              </a:spcBef>
              <a:buAutoNum type="arabicParenR"/>
            </a:pPr>
            <a:r>
              <a:rPr lang="zh-CN" altLang="en-US" sz="2800" dirty="0"/>
              <a:t>目标子句：</a:t>
            </a:r>
            <a:r>
              <a:rPr lang="en-US" altLang="x-none" sz="2800" b="0" dirty="0">
                <a:solidFill>
                  <a:srgbClr val="FF0000"/>
                </a:solidFill>
                <a:latin typeface="Arial" panose="020B0604020202090204" pitchFamily="34" charset="0"/>
                <a:cs typeface="Arial" panose="020B0604020202090204" pitchFamily="34" charset="0"/>
                <a:sym typeface="+mn-ea"/>
              </a:rPr>
              <a:t>SELECT </a:t>
            </a:r>
            <a:r>
              <a:rPr lang="en-US" altLang="zh-CN" sz="2800" b="0" dirty="0">
                <a:solidFill>
                  <a:srgbClr val="FF0000"/>
                </a:solidFill>
                <a:latin typeface="Arial" panose="020B0604020202090204" pitchFamily="34" charset="0"/>
                <a:cs typeface="Arial" panose="020B0604020202090204" pitchFamily="34" charset="0"/>
                <a:sym typeface="+mn-ea"/>
              </a:rPr>
              <a:t>[distinct] </a:t>
            </a:r>
            <a:r>
              <a:rPr lang="en-US" altLang="x-none" sz="2800" b="0" dirty="0">
                <a:solidFill>
                  <a:srgbClr val="FF0000"/>
                </a:solidFill>
                <a:latin typeface="Arial" panose="020B0604020202090204" pitchFamily="34" charset="0"/>
                <a:cs typeface="Arial" panose="020B0604020202090204" pitchFamily="34" charset="0"/>
                <a:sym typeface="+mn-ea"/>
              </a:rPr>
              <a:t>column-name-list | expressions | *</a:t>
            </a:r>
            <a:endParaRPr lang="en-US" altLang="x-none" sz="2800" dirty="0">
              <a:solidFill>
                <a:srgbClr val="FF0066"/>
              </a:solidFill>
            </a:endParaRPr>
          </a:p>
          <a:p>
            <a:pPr marL="1371600" lvl="2" indent="-457200" eaLnBrk="1" hangingPunct="1">
              <a:lnSpc>
                <a:spcPct val="100000"/>
              </a:lnSpc>
              <a:spcBef>
                <a:spcPct val="0"/>
              </a:spcBef>
            </a:pPr>
            <a:r>
              <a:rPr lang="zh-CN" altLang="en-US" sz="2800" dirty="0"/>
              <a:t>定义生成结果表时目标列的投影</a:t>
            </a:r>
            <a:r>
              <a:rPr lang="zh-CN" altLang="en-US" sz="2800" dirty="0"/>
              <a:t>方式</a:t>
            </a:r>
            <a:endParaRPr lang="zh-CN" altLang="en-US" sz="2800" dirty="0"/>
          </a:p>
        </p:txBody>
      </p:sp>
      <p:sp>
        <p:nvSpPr>
          <p:cNvPr id="35846" name="Rectangle 4"/>
          <p:cNvSpPr/>
          <p:nvPr/>
        </p:nvSpPr>
        <p:spPr>
          <a:xfrm>
            <a:off x="424180" y="2345690"/>
            <a:ext cx="11037570" cy="3810000"/>
          </a:xfrm>
          <a:prstGeom prst="rect">
            <a:avLst/>
          </a:prstGeom>
          <a:noFill/>
          <a:ln w="9525">
            <a:noFill/>
          </a:ln>
        </p:spPr>
        <p:txBody>
          <a:bodyPr anchor="t"/>
          <a:p>
            <a:pPr marL="914400" lvl="1" indent="-457200" algn="l" eaLnBrk="1" hangingPunct="1">
              <a:lnSpc>
                <a:spcPct val="100000"/>
              </a:lnSpc>
              <a:spcBef>
                <a:spcPts val="0"/>
              </a:spcBef>
              <a:spcAft>
                <a:spcPts val="600"/>
              </a:spcAft>
              <a:buClr>
                <a:srgbClr val="C00000"/>
              </a:buClr>
              <a:buSzPct val="85000"/>
              <a:buFont typeface="Wingdings" panose="05000000000000000000" pitchFamily="2" charset="2"/>
              <a:buChar char="Ø"/>
            </a:pPr>
            <a:r>
              <a:rPr lang="zh-CN" altLang="en-US" sz="2800" b="1" dirty="0">
                <a:solidFill>
                  <a:srgbClr val="0000C8"/>
                </a:solidFill>
                <a:latin typeface="+mn-lt"/>
                <a:ea typeface="楷体" charset="-122"/>
                <a:cs typeface="+mn-lt"/>
              </a:rPr>
              <a:t>目标子句的构造方式</a:t>
            </a:r>
            <a:endParaRPr lang="zh-CN" altLang="en-US" sz="2800" b="1" dirty="0">
              <a:solidFill>
                <a:srgbClr val="0000C8"/>
              </a:solidFill>
              <a:latin typeface="+mn-lt"/>
              <a:ea typeface="楷体" charset="-122"/>
              <a:cs typeface="+mn-lt"/>
            </a:endParaRPr>
          </a:p>
          <a:p>
            <a:pPr marL="1371600" lvl="2" indent="-457200" algn="l" eaLnBrk="1" hangingPunct="1">
              <a:lnSpc>
                <a:spcPct val="100000"/>
              </a:lnSpc>
              <a:spcBef>
                <a:spcPts val="0"/>
              </a:spcBef>
              <a:spcAft>
                <a:spcPts val="600"/>
              </a:spcAft>
              <a:buClr>
                <a:srgbClr val="C00000"/>
              </a:buClr>
              <a:buSzPct val="85000"/>
              <a:buFont typeface="Wingdings" panose="05000000000000000000" charset="0"/>
              <a:buChar char="§"/>
            </a:pPr>
            <a:r>
              <a:rPr lang="zh-CN" altLang="en-US" sz="2800" b="1" dirty="0">
                <a:solidFill>
                  <a:srgbClr val="0000C8"/>
                </a:solidFill>
                <a:latin typeface="+mn-lt"/>
                <a:ea typeface="楷体" charset="-122"/>
                <a:cs typeface="+mn-lt"/>
              </a:rPr>
              <a:t>简单的属性投影：可以通过</a:t>
            </a:r>
            <a:r>
              <a:rPr lang="en-US" altLang="zh-CN" sz="2800" b="1" dirty="0">
                <a:solidFill>
                  <a:srgbClr val="0000C8"/>
                </a:solidFill>
                <a:latin typeface="+mn-lt"/>
                <a:ea typeface="楷体" charset="-122"/>
                <a:cs typeface="+mn-lt"/>
              </a:rPr>
              <a:t>‘</a:t>
            </a:r>
            <a:r>
              <a:rPr lang="zh-CN" altLang="en-US" sz="2800" b="1" dirty="0">
                <a:solidFill>
                  <a:srgbClr val="C00000"/>
                </a:solidFill>
                <a:latin typeface="+mn-lt"/>
                <a:ea typeface="楷体" charset="-122"/>
                <a:cs typeface="+mn-lt"/>
              </a:rPr>
              <a:t>表名</a:t>
            </a:r>
            <a:r>
              <a:rPr lang="en-US" altLang="x-none" sz="2800" b="1" dirty="0">
                <a:solidFill>
                  <a:srgbClr val="C00000"/>
                </a:solidFill>
                <a:latin typeface="+mn-lt"/>
                <a:ea typeface="楷体" charset="-122"/>
                <a:cs typeface="+mn-lt"/>
              </a:rPr>
              <a:t>.</a:t>
            </a:r>
            <a:r>
              <a:rPr lang="zh-CN" altLang="en-US" sz="2800" b="1" dirty="0">
                <a:solidFill>
                  <a:srgbClr val="C00000"/>
                </a:solidFill>
                <a:latin typeface="+mn-lt"/>
                <a:ea typeface="楷体" charset="-122"/>
                <a:cs typeface="+mn-lt"/>
              </a:rPr>
              <a:t>列名</a:t>
            </a:r>
            <a:r>
              <a:rPr lang="en-US" altLang="zh-CN" sz="2800" b="1" dirty="0">
                <a:solidFill>
                  <a:srgbClr val="0000C8"/>
                </a:solidFill>
                <a:latin typeface="+mn-lt"/>
                <a:ea typeface="楷体" charset="-122"/>
                <a:cs typeface="+mn-lt"/>
              </a:rPr>
              <a:t>’</a:t>
            </a:r>
            <a:r>
              <a:rPr lang="zh-CN" altLang="en-US" sz="2800" b="1" dirty="0">
                <a:solidFill>
                  <a:srgbClr val="0000C8"/>
                </a:solidFill>
                <a:latin typeface="+mn-lt"/>
                <a:ea typeface="楷体" charset="-122"/>
                <a:cs typeface="+mn-lt"/>
              </a:rPr>
              <a:t>的方式来指明是对哪一张表中的哪个列的投影；</a:t>
            </a:r>
            <a:endParaRPr lang="zh-CN" altLang="en-US" sz="2800" b="1" dirty="0">
              <a:solidFill>
                <a:srgbClr val="0000C8"/>
              </a:solidFill>
              <a:latin typeface="+mn-lt"/>
              <a:ea typeface="楷体" charset="-122"/>
              <a:cs typeface="+mn-lt"/>
            </a:endParaRPr>
          </a:p>
          <a:p>
            <a:pPr marL="1371600" lvl="2" indent="-457200" algn="l" eaLnBrk="1" hangingPunct="1">
              <a:lnSpc>
                <a:spcPct val="100000"/>
              </a:lnSpc>
              <a:spcBef>
                <a:spcPts val="0"/>
              </a:spcBef>
              <a:spcAft>
                <a:spcPts val="600"/>
              </a:spcAft>
              <a:buClr>
                <a:srgbClr val="C00000"/>
              </a:buClr>
              <a:buSzPct val="85000"/>
              <a:buFont typeface="Wingdings" panose="05000000000000000000" charset="0"/>
              <a:buChar char="§"/>
            </a:pPr>
            <a:r>
              <a:rPr lang="zh-CN" altLang="en-US" sz="2800" b="1" dirty="0">
                <a:solidFill>
                  <a:srgbClr val="0000C8"/>
                </a:solidFill>
                <a:latin typeface="+mn-lt"/>
                <a:ea typeface="楷体" charset="-122"/>
                <a:cs typeface="+mn-lt"/>
              </a:rPr>
              <a:t>可以将一个表达式的计算结果投影到某个目标列上；</a:t>
            </a:r>
            <a:endParaRPr lang="zh-CN" altLang="en-US" sz="2800" b="1" dirty="0">
              <a:solidFill>
                <a:srgbClr val="0000C8"/>
              </a:solidFill>
              <a:latin typeface="+mn-lt"/>
              <a:ea typeface="楷体" charset="-122"/>
              <a:cs typeface="+mn-lt"/>
            </a:endParaRPr>
          </a:p>
          <a:p>
            <a:pPr marL="1371600" lvl="2" indent="-457200" algn="l" eaLnBrk="1" hangingPunct="1">
              <a:lnSpc>
                <a:spcPct val="100000"/>
              </a:lnSpc>
              <a:spcBef>
                <a:spcPts val="0"/>
              </a:spcBef>
              <a:spcAft>
                <a:spcPts val="600"/>
              </a:spcAft>
              <a:buClr>
                <a:srgbClr val="C00000"/>
              </a:buClr>
              <a:buSzPct val="85000"/>
              <a:buFont typeface="Wingdings" panose="05000000000000000000" charset="0"/>
              <a:buChar char="§"/>
            </a:pPr>
            <a:r>
              <a:rPr lang="zh-CN" altLang="en-US" sz="2800" b="1" dirty="0">
                <a:solidFill>
                  <a:srgbClr val="0000C8"/>
                </a:solidFill>
                <a:latin typeface="+mn-lt"/>
                <a:ea typeface="楷体" charset="-122"/>
                <a:cs typeface="+mn-lt"/>
              </a:rPr>
              <a:t>可以在目标子句中对投影得到的结果列进行重命名：</a:t>
            </a:r>
            <a:r>
              <a:rPr lang="en-US" altLang="x-none" sz="2800" b="1" dirty="0">
                <a:solidFill>
                  <a:srgbClr val="C00000"/>
                </a:solidFill>
                <a:latin typeface="+mn-lt"/>
                <a:ea typeface="楷体" charset="-122"/>
                <a:cs typeface="+mn-lt"/>
              </a:rPr>
              <a:t>&lt;column_expression&gt;  AS  &lt;colname&gt;</a:t>
            </a:r>
            <a:endParaRPr lang="en-US" altLang="x-none" sz="2800" b="1" dirty="0">
              <a:solidFill>
                <a:srgbClr val="0000C8"/>
              </a:solidFill>
              <a:latin typeface="+mn-lt"/>
              <a:ea typeface="楷体" charset="-122"/>
              <a:cs typeface="+mn-lt"/>
            </a:endParaRPr>
          </a:p>
          <a:p>
            <a:pPr marL="1371600" lvl="2" indent="-457200" algn="l" eaLnBrk="1" hangingPunct="1">
              <a:lnSpc>
                <a:spcPct val="100000"/>
              </a:lnSpc>
              <a:spcBef>
                <a:spcPts val="0"/>
              </a:spcBef>
              <a:spcAft>
                <a:spcPts val="600"/>
              </a:spcAft>
              <a:buClr>
                <a:srgbClr val="C00000"/>
              </a:buClr>
              <a:buSzPct val="85000"/>
              <a:buFont typeface="Wingdings" panose="05000000000000000000" charset="0"/>
              <a:buChar char="§"/>
            </a:pPr>
            <a:r>
              <a:rPr lang="zh-CN" altLang="en-US" sz="2800" b="1" dirty="0">
                <a:solidFill>
                  <a:srgbClr val="0000C8"/>
                </a:solidFill>
                <a:latin typeface="+mn-lt"/>
                <a:ea typeface="楷体" charset="-122"/>
                <a:cs typeface="+mn-lt"/>
              </a:rPr>
              <a:t>可用</a:t>
            </a:r>
            <a:r>
              <a:rPr lang="en-US" altLang="zh-CN" sz="2800" b="1" dirty="0">
                <a:solidFill>
                  <a:srgbClr val="0000C8"/>
                </a:solidFill>
                <a:latin typeface="+mn-lt"/>
                <a:ea typeface="楷体" charset="-122"/>
                <a:cs typeface="+mn-lt"/>
              </a:rPr>
              <a:t>‘</a:t>
            </a:r>
            <a:r>
              <a:rPr lang="zh-CN" altLang="en-US" sz="2800" b="1" dirty="0">
                <a:solidFill>
                  <a:srgbClr val="C00000"/>
                </a:solidFill>
                <a:latin typeface="+mn-lt"/>
                <a:ea typeface="楷体" charset="-122"/>
                <a:cs typeface="+mn-lt"/>
              </a:rPr>
              <a:t> *</a:t>
            </a:r>
            <a:r>
              <a:rPr lang="zh-CN" altLang="en-US" sz="2800" b="1" dirty="0">
                <a:solidFill>
                  <a:srgbClr val="0000C8"/>
                </a:solidFill>
                <a:latin typeface="+mn-lt"/>
                <a:ea typeface="楷体" charset="-122"/>
                <a:cs typeface="+mn-lt"/>
              </a:rPr>
              <a:t> </a:t>
            </a:r>
            <a:r>
              <a:rPr lang="en-US" altLang="zh-CN" sz="2800" b="1" dirty="0">
                <a:solidFill>
                  <a:srgbClr val="0000C8"/>
                </a:solidFill>
                <a:latin typeface="+mn-lt"/>
                <a:ea typeface="楷体" charset="-122"/>
                <a:cs typeface="+mn-lt"/>
              </a:rPr>
              <a:t>’</a:t>
            </a:r>
            <a:r>
              <a:rPr lang="zh-CN" altLang="en-US" sz="2800" b="1" dirty="0">
                <a:solidFill>
                  <a:srgbClr val="0000C8"/>
                </a:solidFill>
                <a:latin typeface="+mn-lt"/>
                <a:ea typeface="楷体" charset="-122"/>
                <a:cs typeface="+mn-lt"/>
              </a:rPr>
              <a:t>来代替表中的所有列；</a:t>
            </a:r>
            <a:endParaRPr lang="zh-CN" altLang="en-US" sz="2800" b="1" dirty="0">
              <a:solidFill>
                <a:srgbClr val="0000C8"/>
              </a:solidFill>
              <a:latin typeface="+mn-lt"/>
              <a:ea typeface="楷体" charset="-122"/>
              <a:cs typeface="+mn-lt"/>
            </a:endParaRPr>
          </a:p>
          <a:p>
            <a:pPr marL="1371600" lvl="2" indent="-457200" algn="l" eaLnBrk="1" hangingPunct="1">
              <a:lnSpc>
                <a:spcPct val="100000"/>
              </a:lnSpc>
              <a:spcBef>
                <a:spcPts val="0"/>
              </a:spcBef>
              <a:spcAft>
                <a:spcPts val="600"/>
              </a:spcAft>
              <a:buClr>
                <a:srgbClr val="C00000"/>
              </a:buClr>
              <a:buSzPct val="85000"/>
              <a:buFont typeface="Wingdings" panose="05000000000000000000" charset="0"/>
              <a:buChar char="§"/>
            </a:pPr>
            <a:r>
              <a:rPr lang="zh-CN" altLang="en-US" sz="2800" b="1" dirty="0">
                <a:solidFill>
                  <a:srgbClr val="0000C8"/>
                </a:solidFill>
                <a:latin typeface="+mn-lt"/>
                <a:ea typeface="楷体" charset="-122"/>
                <a:cs typeface="+mn-lt"/>
              </a:rPr>
              <a:t>可添加保留字</a:t>
            </a:r>
            <a:r>
              <a:rPr lang="en-US" altLang="x-none" sz="2800" b="1" dirty="0">
                <a:solidFill>
                  <a:srgbClr val="C00000"/>
                </a:solidFill>
                <a:latin typeface="+mn-lt"/>
                <a:ea typeface="楷体" charset="-122"/>
                <a:cs typeface="+mn-lt"/>
              </a:rPr>
              <a:t>distinct</a:t>
            </a:r>
            <a:r>
              <a:rPr lang="zh-CN" altLang="en-US" sz="2800" b="1" dirty="0">
                <a:solidFill>
                  <a:srgbClr val="0000C8"/>
                </a:solidFill>
                <a:latin typeface="+mn-lt"/>
                <a:ea typeface="楷体" charset="-122"/>
                <a:cs typeface="+mn-lt"/>
              </a:rPr>
              <a:t>来消除结果表中的重复元组。</a:t>
            </a:r>
            <a:endParaRPr lang="zh-CN" altLang="en-US" sz="2800" b="1" dirty="0">
              <a:solidFill>
                <a:srgbClr val="0000C8"/>
              </a:solidFill>
              <a:latin typeface="+mn-lt"/>
              <a:ea typeface="楷体" charset="-122"/>
              <a:cs typeface="+mn-lt"/>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6">
                                            <p:txEl>
                                              <p:pRg st="0" end="0"/>
                                            </p:txEl>
                                          </p:spTgt>
                                        </p:tgtEl>
                                        <p:attrNameLst>
                                          <p:attrName>style.visibility</p:attrName>
                                        </p:attrNameLst>
                                      </p:cBhvr>
                                      <p:to>
                                        <p:strVal val="visible"/>
                                      </p:to>
                                    </p:set>
                                    <p:anim calcmode="lin" valueType="num">
                                      <p:cBhvr additive="base">
                                        <p:cTn id="7" dur="500" fill="hold"/>
                                        <p:tgtEl>
                                          <p:spTgt spid="3584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846">
                                            <p:txEl>
                                              <p:pRg st="1" end="1"/>
                                            </p:txEl>
                                          </p:spTgt>
                                        </p:tgtEl>
                                        <p:attrNameLst>
                                          <p:attrName>style.visibility</p:attrName>
                                        </p:attrNameLst>
                                      </p:cBhvr>
                                      <p:to>
                                        <p:strVal val="visible"/>
                                      </p:to>
                                    </p:set>
                                    <p:anim calcmode="lin" valueType="num">
                                      <p:cBhvr additive="base">
                                        <p:cTn id="13" dur="500" fill="hold"/>
                                        <p:tgtEl>
                                          <p:spTgt spid="3584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846">
                                            <p:txEl>
                                              <p:pRg st="2" end="2"/>
                                            </p:txEl>
                                          </p:spTgt>
                                        </p:tgtEl>
                                        <p:attrNameLst>
                                          <p:attrName>style.visibility</p:attrName>
                                        </p:attrNameLst>
                                      </p:cBhvr>
                                      <p:to>
                                        <p:strVal val="visible"/>
                                      </p:to>
                                    </p:set>
                                    <p:anim calcmode="lin" valueType="num">
                                      <p:cBhvr additive="base">
                                        <p:cTn id="19" dur="500" fill="hold"/>
                                        <p:tgtEl>
                                          <p:spTgt spid="3584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84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5846">
                                            <p:txEl>
                                              <p:pRg st="3" end="3"/>
                                            </p:txEl>
                                          </p:spTgt>
                                        </p:tgtEl>
                                        <p:attrNameLst>
                                          <p:attrName>style.visibility</p:attrName>
                                        </p:attrNameLst>
                                      </p:cBhvr>
                                      <p:to>
                                        <p:strVal val="visible"/>
                                      </p:to>
                                    </p:set>
                                    <p:anim calcmode="lin" valueType="num">
                                      <p:cBhvr additive="base">
                                        <p:cTn id="25" dur="500" fill="hold"/>
                                        <p:tgtEl>
                                          <p:spTgt spid="3584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84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5846">
                                            <p:txEl>
                                              <p:pRg st="4" end="4"/>
                                            </p:txEl>
                                          </p:spTgt>
                                        </p:tgtEl>
                                        <p:attrNameLst>
                                          <p:attrName>style.visibility</p:attrName>
                                        </p:attrNameLst>
                                      </p:cBhvr>
                                      <p:to>
                                        <p:strVal val="visible"/>
                                      </p:to>
                                    </p:set>
                                    <p:anim calcmode="lin" valueType="num">
                                      <p:cBhvr additive="base">
                                        <p:cTn id="31" dur="500" fill="hold"/>
                                        <p:tgtEl>
                                          <p:spTgt spid="3584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84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5846">
                                            <p:txEl>
                                              <p:pRg st="5" end="5"/>
                                            </p:txEl>
                                          </p:spTgt>
                                        </p:tgtEl>
                                        <p:attrNameLst>
                                          <p:attrName>style.visibility</p:attrName>
                                        </p:attrNameLst>
                                      </p:cBhvr>
                                      <p:to>
                                        <p:strVal val="visible"/>
                                      </p:to>
                                    </p:set>
                                    <p:anim calcmode="lin" valueType="num">
                                      <p:cBhvr additive="base">
                                        <p:cTn id="37" dur="500" fill="hold"/>
                                        <p:tgtEl>
                                          <p:spTgt spid="3584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84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bldLvl="3"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Rectangle 2"/>
          <p:cNvSpPr>
            <a:spLocks noGrp="1"/>
          </p:cNvSpPr>
          <p:nvPr>
            <p:ph type="title"/>
          </p:nvPr>
        </p:nvSpPr>
        <p:spPr/>
        <p:txBody>
          <a:bodyPr wrap="square" anchor="ctr"/>
          <a:p>
            <a:pPr eaLnBrk="1" hangingPunct="1"/>
            <a:r>
              <a:rPr lang="zh-CN" altLang="en-US" dirty="0">
                <a:sym typeface="+mn-ea"/>
              </a:rPr>
              <a:t>基本映像语句的组成</a:t>
            </a:r>
            <a:r>
              <a:rPr lang="en-US" altLang="zh-CN" dirty="0">
                <a:sym typeface="+mn-ea"/>
              </a:rPr>
              <a:t> 2</a:t>
            </a:r>
            <a:endParaRPr lang="en-US" altLang="zh-CN" dirty="0">
              <a:latin typeface="宋体" pitchFamily="2" charset="-122"/>
              <a:sym typeface="+mn-ea"/>
            </a:endParaRPr>
          </a:p>
        </p:txBody>
      </p:sp>
      <p:sp>
        <p:nvSpPr>
          <p:cNvPr id="38916" name="Rectangle 3"/>
          <p:cNvSpPr>
            <a:spLocks noGrp="1"/>
          </p:cNvSpPr>
          <p:nvPr>
            <p:ph idx="1"/>
          </p:nvPr>
        </p:nvSpPr>
        <p:spPr/>
        <p:txBody>
          <a:bodyPr wrap="square" anchor="t"/>
          <a:p>
            <a:pPr marL="914400" lvl="1" indent="-457200" eaLnBrk="1" hangingPunct="1">
              <a:lnSpc>
                <a:spcPct val="100000"/>
              </a:lnSpc>
              <a:spcBef>
                <a:spcPts val="1000"/>
              </a:spcBef>
              <a:buAutoNum type="arabicParenR" startAt="2"/>
            </a:pPr>
            <a:r>
              <a:rPr lang="zh-CN" altLang="en-US" sz="2800" dirty="0">
                <a:latin typeface="+mn-lt"/>
                <a:cs typeface="+mn-lt"/>
              </a:rPr>
              <a:t>范围子句： </a:t>
            </a:r>
            <a:r>
              <a:rPr lang="en-US" altLang="x-none" sz="2800" dirty="0">
                <a:solidFill>
                  <a:srgbClr val="FF0000"/>
                </a:solidFill>
                <a:latin typeface="+mn-lt"/>
                <a:cs typeface="+mn-lt"/>
              </a:rPr>
              <a:t>FROM  tablename { , tablename ... }</a:t>
            </a:r>
            <a:endParaRPr lang="en-US" altLang="x-none" sz="2800" dirty="0">
              <a:solidFill>
                <a:srgbClr val="FF0066"/>
              </a:solidFill>
              <a:latin typeface="+mn-lt"/>
              <a:cs typeface="+mn-lt"/>
            </a:endParaRPr>
          </a:p>
          <a:p>
            <a:pPr marL="1371600" lvl="2" indent="-457200" eaLnBrk="1" hangingPunct="1">
              <a:lnSpc>
                <a:spcPct val="100000"/>
              </a:lnSpc>
              <a:spcBef>
                <a:spcPts val="1000"/>
              </a:spcBef>
            </a:pPr>
            <a:r>
              <a:rPr lang="zh-CN" altLang="en-US" sz="2800" dirty="0">
                <a:solidFill>
                  <a:srgbClr val="0000C8"/>
                </a:solidFill>
                <a:latin typeface="+mn-lt"/>
                <a:cs typeface="+mn-lt"/>
              </a:rPr>
              <a:t>指定操作对象（被访问的表）</a:t>
            </a:r>
            <a:endParaRPr lang="zh-CN" altLang="en-US" sz="2800" dirty="0">
              <a:solidFill>
                <a:srgbClr val="0000C8"/>
              </a:solidFill>
              <a:latin typeface="+mn-lt"/>
              <a:cs typeface="+mn-lt"/>
            </a:endParaRPr>
          </a:p>
        </p:txBody>
      </p:sp>
      <p:sp>
        <p:nvSpPr>
          <p:cNvPr id="36870" name="Text Box 4"/>
          <p:cNvSpPr txBox="1"/>
          <p:nvPr/>
        </p:nvSpPr>
        <p:spPr>
          <a:xfrm>
            <a:off x="424180" y="5339715"/>
            <a:ext cx="11341735" cy="953135"/>
          </a:xfrm>
          <a:prstGeom prst="rect">
            <a:avLst/>
          </a:prstGeom>
          <a:solidFill>
            <a:srgbClr val="CCFFFF">
              <a:alpha val="50000"/>
            </a:srgbClr>
          </a:solidFill>
          <a:ln w="9525">
            <a:noFill/>
            <a:miter/>
          </a:ln>
        </p:spPr>
        <p:txBody>
          <a:bodyPr wrap="square">
            <a:spAutoFit/>
          </a:bodyPr>
          <a:p>
            <a:pPr marL="342900" indent="-342900">
              <a:spcBef>
                <a:spcPct val="50000"/>
              </a:spcBef>
              <a:buClr>
                <a:srgbClr val="C00000"/>
              </a:buClr>
              <a:buSzPct val="85000"/>
              <a:buFont typeface="Wingdings" panose="05000000000000000000" charset="0"/>
              <a:buChar char="q"/>
            </a:pPr>
            <a:r>
              <a:rPr lang="en-US" altLang="x-none" sz="2800" u="sng" noProof="1" dirty="0">
                <a:effectLst>
                  <a:outerShdw blurRad="38100" dist="38100" dir="2700000">
                    <a:srgbClr val="FFFFFF"/>
                  </a:outerShdw>
                </a:effectLst>
                <a:latin typeface="+mn-lt"/>
                <a:ea typeface="楷体" charset="-122"/>
                <a:cs typeface="+mn-lt"/>
              </a:rPr>
              <a:t>‘</a:t>
            </a:r>
            <a:r>
              <a:rPr lang="en-US" altLang="x-none" sz="2800" u="sng" noProof="1" dirty="0">
                <a:solidFill>
                  <a:srgbClr val="FF0000"/>
                </a:solidFill>
                <a:effectLst>
                  <a:outerShdw blurRad="38100" dist="38100" dir="2700000">
                    <a:srgbClr val="000000"/>
                  </a:outerShdw>
                </a:effectLst>
                <a:latin typeface="+mn-lt"/>
                <a:ea typeface="楷体" charset="-122"/>
                <a:cs typeface="+mn-lt"/>
              </a:rPr>
              <a:t>SELECT</a:t>
            </a:r>
            <a:r>
              <a:rPr lang="zh-CN" altLang="en-US" sz="2800" u="sng" noProof="1" dirty="0">
                <a:solidFill>
                  <a:srgbClr val="FF0000"/>
                </a:solidFill>
                <a:effectLst>
                  <a:outerShdw blurRad="38100" dist="38100" dir="2700000">
                    <a:srgbClr val="000000"/>
                  </a:outerShdw>
                </a:effectLst>
                <a:latin typeface="+mn-lt"/>
                <a:ea typeface="楷体" charset="-122"/>
                <a:cs typeface="+mn-lt"/>
              </a:rPr>
              <a:t>子句</a:t>
            </a:r>
            <a:r>
              <a:rPr lang="zh-CN" altLang="en-US" sz="2800" u="sng" noProof="1" dirty="0">
                <a:effectLst>
                  <a:outerShdw blurRad="38100" dist="38100" dir="2700000">
                    <a:srgbClr val="FFFFFF"/>
                  </a:outerShdw>
                </a:effectLst>
                <a:latin typeface="+mn-lt"/>
                <a:ea typeface="楷体" charset="-122"/>
                <a:cs typeface="+mn-lt"/>
              </a:rPr>
              <a:t>’和‘</a:t>
            </a:r>
            <a:r>
              <a:rPr lang="en-US" altLang="x-none" sz="2800" u="sng" noProof="1" dirty="0">
                <a:solidFill>
                  <a:srgbClr val="FF0000"/>
                </a:solidFill>
                <a:effectLst>
                  <a:outerShdw blurRad="38100" dist="38100" dir="2700000">
                    <a:srgbClr val="000000"/>
                  </a:outerShdw>
                </a:effectLst>
                <a:latin typeface="+mn-lt"/>
                <a:ea typeface="楷体" charset="-122"/>
                <a:cs typeface="+mn-lt"/>
              </a:rPr>
              <a:t>FROM</a:t>
            </a:r>
            <a:r>
              <a:rPr lang="zh-CN" altLang="en-US" sz="2800" u="sng" noProof="1" dirty="0">
                <a:solidFill>
                  <a:srgbClr val="FF0000"/>
                </a:solidFill>
                <a:effectLst>
                  <a:outerShdw blurRad="38100" dist="38100" dir="2700000">
                    <a:srgbClr val="000000"/>
                  </a:outerShdw>
                </a:effectLst>
                <a:latin typeface="+mn-lt"/>
                <a:ea typeface="楷体" charset="-122"/>
                <a:cs typeface="+mn-lt"/>
              </a:rPr>
              <a:t>子句</a:t>
            </a:r>
            <a:r>
              <a:rPr lang="zh-CN" altLang="en-US" sz="2800" u="sng" noProof="1" dirty="0">
                <a:effectLst>
                  <a:outerShdw blurRad="38100" dist="38100" dir="2700000">
                    <a:srgbClr val="FFFFFF"/>
                  </a:outerShdw>
                </a:effectLst>
                <a:latin typeface="+mn-lt"/>
                <a:ea typeface="楷体" charset="-122"/>
                <a:cs typeface="+mn-lt"/>
              </a:rPr>
              <a:t>’是一条映像语句中必不可少的两个组成部分</a:t>
            </a:r>
            <a:endParaRPr lang="zh-CN" altLang="en-US" sz="2800" u="sng" noProof="1" dirty="0">
              <a:effectLst>
                <a:outerShdw blurRad="38100" dist="38100" dir="2700000">
                  <a:srgbClr val="FFFFFF"/>
                </a:outerShdw>
              </a:effectLst>
              <a:latin typeface="+mn-lt"/>
              <a:ea typeface="楷体" charset="-122"/>
              <a:cs typeface="+mn-lt"/>
            </a:endParaRPr>
          </a:p>
        </p:txBody>
      </p:sp>
      <p:sp>
        <p:nvSpPr>
          <p:cNvPr id="2" name="Rectangle 3"/>
          <p:cNvSpPr>
            <a:spLocks noGrp="1"/>
          </p:cNvSpPr>
          <p:nvPr/>
        </p:nvSpPr>
        <p:spPr>
          <a:xfrm>
            <a:off x="423545" y="2098040"/>
            <a:ext cx="11343005" cy="2933065"/>
          </a:xfrm>
          <a:prstGeom prst="rect">
            <a:avLst/>
          </a:prstGeom>
          <a:noFill/>
          <a:ln w="9525">
            <a:noFill/>
          </a:ln>
        </p:spPr>
        <p:txBody>
          <a:bodyPr wrap="square" anchor="t">
            <a:spAutoFit/>
          </a:bodyPr>
          <a:lstStyle>
            <a:lvl1pPr marL="342900" lvl="0" indent="-342900" algn="l" defTabSz="914400" eaLnBrk="0" fontAlgn="base" latinLnBrk="0" hangingPunct="0">
              <a:lnSpc>
                <a:spcPct val="110000"/>
              </a:lnSpc>
              <a:spcBef>
                <a:spcPts val="0"/>
              </a:spcBef>
              <a:spcAft>
                <a:spcPts val="0"/>
              </a:spcAft>
              <a:buClr>
                <a:srgbClr val="C00000"/>
              </a:buClr>
              <a:buSzPct val="85000"/>
              <a:buFont typeface="Wingdings" panose="05000000000000000000" pitchFamily="2" charset="2"/>
              <a:buChar char="q"/>
              <a:defRPr sz="2400" b="1" i="0" u="none" kern="1200" baseline="0">
                <a:solidFill>
                  <a:schemeClr val="accent6"/>
                </a:solidFill>
                <a:latin typeface="+mn-lt"/>
                <a:ea typeface="楷体" charset="-122"/>
                <a:cs typeface="+mn-cs"/>
              </a:defRPr>
            </a:lvl1pPr>
            <a:lvl2pPr marL="742950" lvl="1" indent="-285750" algn="l" defTabSz="914400" eaLnBrk="0" fontAlgn="base" latinLnBrk="0" hangingPunct="0">
              <a:lnSpc>
                <a:spcPct val="110000"/>
              </a:lnSpc>
              <a:spcBef>
                <a:spcPts val="1000"/>
              </a:spcBef>
              <a:spcAft>
                <a:spcPts val="0"/>
              </a:spcAft>
              <a:buClr>
                <a:srgbClr val="C00000"/>
              </a:buClr>
              <a:buSzPct val="85000"/>
              <a:buFont typeface="Wingdings" panose="05000000000000000000" pitchFamily="2" charset="2"/>
              <a:buChar char="Ø"/>
              <a:defRPr sz="2400" b="1" i="0" u="none" kern="1200" baseline="0">
                <a:solidFill>
                  <a:schemeClr val="accent6"/>
                </a:solidFill>
                <a:latin typeface="+mn-lt"/>
                <a:ea typeface="楷体" charset="-122"/>
                <a:cs typeface="+mn-cs"/>
              </a:defRPr>
            </a:lvl2pPr>
            <a:lvl3pPr marL="1143000" lvl="2" indent="-228600" algn="l" defTabSz="914400" eaLnBrk="0" fontAlgn="base" latinLnBrk="0" hangingPunct="0">
              <a:lnSpc>
                <a:spcPct val="110000"/>
              </a:lnSpc>
              <a:spcBef>
                <a:spcPts val="0"/>
              </a:spcBef>
              <a:spcAft>
                <a:spcPts val="0"/>
              </a:spcAft>
              <a:buClr>
                <a:srgbClr val="C00000"/>
              </a:buClr>
              <a:buSzPct val="85000"/>
              <a:buFont typeface="Wingdings" panose="05000000000000000000" charset="0"/>
              <a:buChar char="§"/>
              <a:defRPr sz="2400" b="1" i="0" u="none" kern="1200" baseline="0">
                <a:solidFill>
                  <a:schemeClr val="accent6"/>
                </a:solidFill>
                <a:latin typeface="+mn-lt"/>
                <a:ea typeface="楷体" charset="-122"/>
                <a:cs typeface="+mn-cs"/>
              </a:defRPr>
            </a:lvl3pPr>
            <a:lvl4pPr marL="1600200" lvl="3" indent="-228600" algn="l" defTabSz="914400" eaLnBrk="0" fontAlgn="base" latinLnBrk="0" hangingPunct="0">
              <a:lnSpc>
                <a:spcPct val="110000"/>
              </a:lnSpc>
              <a:spcBef>
                <a:spcPts val="0"/>
              </a:spcBef>
              <a:spcAft>
                <a:spcPts val="0"/>
              </a:spcAft>
              <a:buClr>
                <a:srgbClr val="C00000"/>
              </a:buClr>
              <a:buSzPct val="85000"/>
              <a:buFont typeface="Arial" panose="020B0604020202090204" pitchFamily="34" charset="0"/>
              <a:buChar char="‒"/>
              <a:defRPr sz="2400" b="1" i="0" u="none" kern="1200" baseline="0">
                <a:solidFill>
                  <a:schemeClr val="accent6"/>
                </a:solidFill>
                <a:latin typeface="+mn-lt"/>
                <a:ea typeface="楷体" charset="-122"/>
                <a:cs typeface="+mn-cs"/>
              </a:defRPr>
            </a:lvl4pPr>
            <a:lvl5pPr marL="2057400" lvl="4" indent="-228600" algn="l" defTabSz="914400" eaLnBrk="0" fontAlgn="base" latinLnBrk="0" hangingPunct="0">
              <a:lnSpc>
                <a:spcPct val="110000"/>
              </a:lnSpc>
              <a:spcBef>
                <a:spcPts val="0"/>
              </a:spcBef>
              <a:spcAft>
                <a:spcPts val="0"/>
              </a:spcAft>
              <a:buClr>
                <a:srgbClr val="C00000"/>
              </a:buClr>
              <a:buSzPct val="85000"/>
              <a:buFont typeface="Wingdings" panose="05000000000000000000" charset="0"/>
              <a:buChar char=""/>
              <a:defRPr sz="2400" b="1" i="0" u="none" kern="1200" baseline="0">
                <a:solidFill>
                  <a:schemeClr val="accent6"/>
                </a:solidFill>
                <a:latin typeface="+mn-lt"/>
                <a:ea typeface="楷体" charset="-122"/>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marL="914400" lvl="1" indent="-457200" eaLnBrk="1" hangingPunct="1">
              <a:lnSpc>
                <a:spcPct val="100000"/>
              </a:lnSpc>
              <a:spcBef>
                <a:spcPts val="2000"/>
              </a:spcBef>
            </a:pPr>
            <a:r>
              <a:rPr lang="zh-CN" altLang="en-US" sz="2800" dirty="0">
                <a:solidFill>
                  <a:srgbClr val="0000C8"/>
                </a:solidFill>
                <a:latin typeface="+mn-lt"/>
                <a:cs typeface="+mn-lt"/>
              </a:rPr>
              <a:t>可以在</a:t>
            </a:r>
            <a:r>
              <a:rPr lang="en-US" altLang="x-none" sz="2800" dirty="0">
                <a:solidFill>
                  <a:srgbClr val="0000C8"/>
                </a:solidFill>
                <a:latin typeface="+mn-lt"/>
                <a:cs typeface="+mn-lt"/>
              </a:rPr>
              <a:t>FROM</a:t>
            </a:r>
            <a:r>
              <a:rPr lang="zh-CN" altLang="en-US" sz="2800" dirty="0">
                <a:solidFill>
                  <a:srgbClr val="0000C8"/>
                </a:solidFill>
                <a:latin typeface="+mn-lt"/>
                <a:cs typeface="+mn-lt"/>
              </a:rPr>
              <a:t>子句中对一个表重新命名（即定义一个别名</a:t>
            </a:r>
            <a:r>
              <a:rPr lang="en-US" altLang="zh-CN" sz="2800" dirty="0">
                <a:solidFill>
                  <a:srgbClr val="0000C8"/>
                </a:solidFill>
                <a:latin typeface="+mn-lt"/>
                <a:cs typeface="+mn-lt"/>
              </a:rPr>
              <a:t> </a:t>
            </a:r>
            <a:r>
              <a:rPr lang="en-US" altLang="x-none" sz="2800" dirty="0">
                <a:solidFill>
                  <a:srgbClr val="0000C8"/>
                </a:solidFill>
                <a:latin typeface="+mn-lt"/>
                <a:cs typeface="+mn-lt"/>
              </a:rPr>
              <a:t>alias</a:t>
            </a:r>
            <a:r>
              <a:rPr lang="zh-CN" altLang="en-US" sz="2800" dirty="0">
                <a:solidFill>
                  <a:srgbClr val="0000C8"/>
                </a:solidFill>
                <a:latin typeface="+mn-lt"/>
                <a:cs typeface="+mn-lt"/>
              </a:rPr>
              <a:t>）：</a:t>
            </a:r>
            <a:r>
              <a:rPr lang="en-US" altLang="x-none" sz="2800" dirty="0">
                <a:solidFill>
                  <a:srgbClr val="C00000"/>
                </a:solidFill>
                <a:latin typeface="+mn-lt"/>
                <a:cs typeface="+mn-lt"/>
              </a:rPr>
              <a:t>&lt;table_name&gt;   &lt;alias_name&gt;</a:t>
            </a:r>
            <a:endParaRPr lang="en-US" altLang="x-none" sz="2800" dirty="0">
              <a:solidFill>
                <a:srgbClr val="C00000"/>
              </a:solidFill>
              <a:latin typeface="+mn-lt"/>
              <a:cs typeface="+mn-lt"/>
            </a:endParaRPr>
          </a:p>
          <a:p>
            <a:pPr marL="914400" lvl="1" indent="-457200" eaLnBrk="1" hangingPunct="1">
              <a:lnSpc>
                <a:spcPct val="100000"/>
              </a:lnSpc>
              <a:spcBef>
                <a:spcPts val="2000"/>
              </a:spcBef>
            </a:pPr>
            <a:r>
              <a:rPr lang="zh-CN" altLang="en-US" sz="2800" dirty="0">
                <a:solidFill>
                  <a:srgbClr val="0000C8"/>
                </a:solidFill>
                <a:latin typeface="+mn-lt"/>
                <a:cs typeface="+mn-lt"/>
              </a:rPr>
              <a:t>在</a:t>
            </a:r>
            <a:r>
              <a:rPr lang="en-US" altLang="zh-CN" sz="2800" dirty="0">
                <a:solidFill>
                  <a:srgbClr val="0000C8"/>
                </a:solidFill>
                <a:latin typeface="+mn-lt"/>
                <a:cs typeface="+mn-lt"/>
              </a:rPr>
              <a:t>FROM</a:t>
            </a:r>
            <a:r>
              <a:rPr lang="zh-CN" altLang="en-US" sz="2800" dirty="0">
                <a:solidFill>
                  <a:srgbClr val="0000C8"/>
                </a:solidFill>
                <a:latin typeface="+mn-lt"/>
                <a:cs typeface="+mn-lt"/>
              </a:rPr>
              <a:t>子句中对表进行重命名的作用</a:t>
            </a:r>
            <a:endParaRPr lang="en-US" altLang="x-none" sz="2800" dirty="0">
              <a:solidFill>
                <a:srgbClr val="0000C8"/>
              </a:solidFill>
              <a:latin typeface="+mn-lt"/>
              <a:cs typeface="+mn-lt"/>
            </a:endParaRPr>
          </a:p>
          <a:p>
            <a:pPr marL="1371600" lvl="2" indent="-457200" eaLnBrk="1" hangingPunct="1">
              <a:lnSpc>
                <a:spcPct val="100000"/>
              </a:lnSpc>
              <a:buFont typeface="+mj-ea"/>
              <a:buAutoNum type="circleNumDbPlain"/>
            </a:pPr>
            <a:r>
              <a:rPr lang="zh-CN" altLang="en-US" sz="2800" dirty="0">
                <a:solidFill>
                  <a:srgbClr val="0000C8"/>
                </a:solidFill>
                <a:latin typeface="+mn-lt"/>
                <a:cs typeface="+mn-lt"/>
              </a:rPr>
              <a:t>便于实现表的</a:t>
            </a:r>
            <a:r>
              <a:rPr lang="en-US" altLang="zh-CN" sz="2800" dirty="0">
                <a:solidFill>
                  <a:srgbClr val="0000C8"/>
                </a:solidFill>
                <a:latin typeface="+mn-lt"/>
                <a:cs typeface="+mn-lt"/>
              </a:rPr>
              <a:t>‘</a:t>
            </a:r>
            <a:r>
              <a:rPr lang="zh-CN" altLang="en-US" sz="2800" dirty="0">
                <a:solidFill>
                  <a:srgbClr val="0000C8"/>
                </a:solidFill>
                <a:latin typeface="+mn-lt"/>
                <a:cs typeface="+mn-lt"/>
              </a:rPr>
              <a:t>自身</a:t>
            </a:r>
            <a:r>
              <a:rPr lang="zh-CN" altLang="en-US" sz="2800" dirty="0">
                <a:solidFill>
                  <a:srgbClr val="0000C8"/>
                </a:solidFill>
                <a:latin typeface="+mn-lt"/>
                <a:cs typeface="+mn-lt"/>
              </a:rPr>
              <a:t>连接</a:t>
            </a:r>
            <a:r>
              <a:rPr lang="en-US" altLang="zh-CN" sz="2800" dirty="0">
                <a:solidFill>
                  <a:srgbClr val="0000C8"/>
                </a:solidFill>
                <a:latin typeface="+mn-lt"/>
                <a:cs typeface="+mn-lt"/>
              </a:rPr>
              <a:t>’</a:t>
            </a:r>
            <a:r>
              <a:rPr lang="zh-CN" altLang="en-US" sz="2800" dirty="0">
                <a:solidFill>
                  <a:srgbClr val="0000C8"/>
                </a:solidFill>
                <a:latin typeface="+mn-lt"/>
                <a:cs typeface="+mn-lt"/>
              </a:rPr>
              <a:t>（一个表自己与自己的连接运算）</a:t>
            </a:r>
            <a:endParaRPr lang="zh-CN" altLang="en-US" sz="2800" dirty="0">
              <a:solidFill>
                <a:srgbClr val="0000C8"/>
              </a:solidFill>
              <a:latin typeface="+mn-lt"/>
              <a:cs typeface="+mn-lt"/>
            </a:endParaRPr>
          </a:p>
          <a:p>
            <a:pPr marL="1371600" lvl="2" indent="-457200" eaLnBrk="1" hangingPunct="1">
              <a:lnSpc>
                <a:spcPct val="100000"/>
              </a:lnSpc>
              <a:buFont typeface="+mj-ea"/>
              <a:buAutoNum type="circleNumDbPlain"/>
            </a:pPr>
            <a:r>
              <a:rPr lang="zh-CN" altLang="en-US" sz="2800" dirty="0">
                <a:solidFill>
                  <a:srgbClr val="0000C8"/>
                </a:solidFill>
                <a:latin typeface="+mn-lt"/>
                <a:cs typeface="+mn-lt"/>
              </a:rPr>
              <a:t>可以通过重命名来简化SQL命令的书写</a:t>
            </a:r>
            <a:endParaRPr lang="zh-CN" altLang="en-US" sz="2800" dirty="0">
              <a:solidFill>
                <a:srgbClr val="0000C8"/>
              </a:solidFill>
              <a:latin typeface="+mn-lt"/>
              <a:cs typeface="+mn-lt"/>
            </a:endParaRPr>
          </a:p>
          <a:p>
            <a:pPr marL="1371600" lvl="2" indent="-457200" eaLnBrk="1" hangingPunct="1">
              <a:lnSpc>
                <a:spcPct val="100000"/>
              </a:lnSpc>
              <a:buFont typeface="+mj-ea"/>
              <a:buAutoNum type="circleNumDbPlain"/>
            </a:pPr>
            <a:r>
              <a:rPr lang="zh-CN" altLang="en-US" sz="2800" dirty="0">
                <a:solidFill>
                  <a:srgbClr val="0000C8"/>
                </a:solidFill>
                <a:latin typeface="+mn-lt"/>
                <a:cs typeface="+mn-lt"/>
              </a:rPr>
              <a:t>可以提高</a:t>
            </a:r>
            <a:r>
              <a:rPr lang="en-US" altLang="zh-CN" sz="2800" dirty="0">
                <a:solidFill>
                  <a:srgbClr val="0000C8"/>
                </a:solidFill>
                <a:latin typeface="+mn-lt"/>
                <a:cs typeface="+mn-lt"/>
              </a:rPr>
              <a:t>SQL</a:t>
            </a:r>
            <a:r>
              <a:rPr lang="zh-CN" altLang="en-US" sz="2800" dirty="0">
                <a:solidFill>
                  <a:srgbClr val="0000C8"/>
                </a:solidFill>
                <a:latin typeface="+mn-lt"/>
                <a:cs typeface="+mn-lt"/>
              </a:rPr>
              <a:t>命令的可读性</a:t>
            </a:r>
            <a:endParaRPr lang="zh-CN" altLang="en-US" sz="2800" dirty="0">
              <a:solidFill>
                <a:srgbClr val="0000C8"/>
              </a:solidFill>
              <a:latin typeface="+mn-lt"/>
              <a:cs typeface="+mn-lt"/>
            </a:endParaRPr>
          </a:p>
        </p:txBody>
      </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blinds(horizontal)">
                                      <p:cBhvr>
                                        <p:cTn id="15" dur="500"/>
                                        <p:tgtEl>
                                          <p:spTgt spid="2">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blinds(horizontal)">
                                      <p:cBhvr>
                                        <p:cTn id="18" dur="500"/>
                                        <p:tgtEl>
                                          <p:spTgt spid="2">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linds(horizontal)">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6870"/>
                                        </p:tgtEl>
                                        <p:attrNameLst>
                                          <p:attrName>style.visibility</p:attrName>
                                        </p:attrNameLst>
                                      </p:cBhvr>
                                      <p:to>
                                        <p:strVal val="visible"/>
                                      </p:to>
                                    </p:set>
                                    <p:anim calcmode="lin" valueType="num">
                                      <p:cBhvr additive="base">
                                        <p:cTn id="26" dur="500" fill="hold"/>
                                        <p:tgtEl>
                                          <p:spTgt spid="36870"/>
                                        </p:tgtEl>
                                        <p:attrNameLst>
                                          <p:attrName>ppt_x</p:attrName>
                                        </p:attrNameLst>
                                      </p:cBhvr>
                                      <p:tavLst>
                                        <p:tav tm="0">
                                          <p:val>
                                            <p:strVal val="#ppt_x"/>
                                          </p:val>
                                        </p:tav>
                                        <p:tav tm="100000">
                                          <p:val>
                                            <p:strVal val="#ppt_x"/>
                                          </p:val>
                                        </p:tav>
                                      </p:tavLst>
                                    </p:anim>
                                    <p:anim calcmode="lin" valueType="num">
                                      <p:cBhvr additive="base">
                                        <p:cTn id="27" dur="500" fill="hold"/>
                                        <p:tgtEl>
                                          <p:spTgt spid="368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bldLvl="0" animBg="1"/>
      <p:bldP spid="2" grpId="0" bldLvl="2"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sz="2400" dirty="0">
                <a:sym typeface="+mn-ea"/>
              </a:rPr>
              <a:t>SELECT &amp; FROM </a:t>
            </a:r>
            <a:r>
              <a:rPr lang="zh-CN" altLang="en-US" sz="2400" dirty="0">
                <a:sym typeface="+mn-ea"/>
              </a:rPr>
              <a:t>子句总结</a:t>
            </a:r>
            <a:endParaRPr lang="zh-CN" altLang="en-US" sz="2400" dirty="0">
              <a:sym typeface="+mn-ea"/>
            </a:endParaRPr>
          </a:p>
        </p:txBody>
      </p:sp>
      <p:sp>
        <p:nvSpPr>
          <p:cNvPr id="3" name="内容占位符 2"/>
          <p:cNvSpPr>
            <a:spLocks noGrp="1"/>
          </p:cNvSpPr>
          <p:nvPr>
            <p:ph idx="1"/>
          </p:nvPr>
        </p:nvSpPr>
        <p:spPr>
          <a:xfrm>
            <a:off x="424180" y="687070"/>
            <a:ext cx="11343005" cy="5395595"/>
          </a:xfrm>
        </p:spPr>
        <p:txBody>
          <a:bodyPr>
            <a:spAutoFit/>
          </a:bodyPr>
          <a:p>
            <a:pPr>
              <a:lnSpc>
                <a:spcPct val="100000"/>
              </a:lnSpc>
            </a:pPr>
            <a:r>
              <a:rPr lang="en-US" altLang="x-none" sz="2400" dirty="0">
                <a:solidFill>
                  <a:srgbClr val="FF0000"/>
                </a:solidFill>
                <a:latin typeface="Arial" panose="020B0604020202090204" pitchFamily="34" charset="0"/>
                <a:cs typeface="Arial" panose="020B0604020202090204" pitchFamily="34" charset="0"/>
                <a:sym typeface="+mn-ea"/>
              </a:rPr>
              <a:t>  SELECT  </a:t>
            </a:r>
            <a:r>
              <a:rPr lang="en-US" altLang="zh-CN" sz="2400" dirty="0">
                <a:solidFill>
                  <a:srgbClr val="FF0000"/>
                </a:solidFill>
                <a:latin typeface="Arial" panose="020B0604020202090204" pitchFamily="34" charset="0"/>
                <a:cs typeface="Arial" panose="020B0604020202090204" pitchFamily="34" charset="0"/>
                <a:sym typeface="+mn-ea"/>
              </a:rPr>
              <a:t>[ distinct ]  </a:t>
            </a:r>
            <a:r>
              <a:rPr lang="en-US" altLang="x-none" sz="2400" dirty="0">
                <a:solidFill>
                  <a:srgbClr val="FF0000"/>
                </a:solidFill>
                <a:latin typeface="Arial" panose="020B0604020202090204" pitchFamily="34" charset="0"/>
                <a:cs typeface="Arial" panose="020B0604020202090204" pitchFamily="34" charset="0"/>
                <a:sym typeface="+mn-ea"/>
              </a:rPr>
              <a:t>column-name-list  |  expressions  |  *</a:t>
            </a:r>
            <a:endParaRPr lang="en-US" altLang="x-none" sz="2400" dirty="0">
              <a:latin typeface="Arial" panose="020B0604020202090204" pitchFamily="34" charset="0"/>
              <a:cs typeface="Arial" panose="020B0604020202090204" pitchFamily="34" charset="0"/>
              <a:sym typeface="+mn-ea"/>
            </a:endParaRPr>
          </a:p>
          <a:p>
            <a:pPr lvl="1">
              <a:lnSpc>
                <a:spcPct val="100000"/>
              </a:lnSpc>
              <a:spcBef>
                <a:spcPts val="600"/>
              </a:spcBef>
              <a:buFont typeface="Wingdings" panose="05000000000000000000" charset="0"/>
              <a:buChar char=""/>
            </a:pPr>
            <a:r>
              <a:rPr lang="zh-CN" altLang="x-none" sz="2400" dirty="0">
                <a:cs typeface="+mn-lt"/>
                <a:sym typeface="+mn-ea"/>
              </a:rPr>
              <a:t>目标子句，用于投影生成结果表；</a:t>
            </a:r>
            <a:endParaRPr lang="zh-CN" altLang="x-none" sz="2400" dirty="0">
              <a:cs typeface="+mn-lt"/>
              <a:sym typeface="+mn-ea"/>
            </a:endParaRPr>
          </a:p>
          <a:p>
            <a:pPr lvl="1">
              <a:lnSpc>
                <a:spcPct val="100000"/>
              </a:lnSpc>
              <a:spcBef>
                <a:spcPts val="600"/>
              </a:spcBef>
              <a:buFont typeface="Wingdings" panose="05000000000000000000" charset="0"/>
              <a:buChar char=""/>
            </a:pPr>
            <a:r>
              <a:rPr lang="zh-CN" altLang="x-none" sz="2400" dirty="0">
                <a:cs typeface="+mn-lt"/>
                <a:sym typeface="+mn-ea"/>
              </a:rPr>
              <a:t>可以是单个列投影，也可以是对一个表达式的计算结果进行投影；</a:t>
            </a:r>
            <a:endParaRPr lang="zh-CN" altLang="x-none" sz="2400" dirty="0">
              <a:cs typeface="+mn-lt"/>
              <a:sym typeface="+mn-ea"/>
            </a:endParaRPr>
          </a:p>
          <a:p>
            <a:pPr lvl="1">
              <a:lnSpc>
                <a:spcPct val="100000"/>
              </a:lnSpc>
              <a:spcBef>
                <a:spcPts val="600"/>
              </a:spcBef>
              <a:buFont typeface="Wingdings" panose="05000000000000000000" charset="0"/>
              <a:buChar char=""/>
            </a:pPr>
            <a:r>
              <a:rPr lang="zh-CN" altLang="x-none" sz="2400" dirty="0">
                <a:cs typeface="+mn-lt"/>
                <a:sym typeface="+mn-ea"/>
              </a:rPr>
              <a:t>可以用 </a:t>
            </a:r>
            <a:r>
              <a:rPr lang="en-US" altLang="zh-CN" sz="2400" dirty="0">
                <a:solidFill>
                  <a:srgbClr val="C00000"/>
                </a:solidFill>
                <a:cs typeface="+mn-lt"/>
                <a:sym typeface="+mn-ea"/>
              </a:rPr>
              <a:t>*</a:t>
            </a:r>
            <a:r>
              <a:rPr lang="en-US" altLang="zh-CN" sz="2400" dirty="0">
                <a:cs typeface="+mn-lt"/>
                <a:sym typeface="+mn-ea"/>
              </a:rPr>
              <a:t> </a:t>
            </a:r>
            <a:r>
              <a:rPr lang="zh-CN" altLang="en-US" sz="2400" dirty="0">
                <a:cs typeface="+mn-lt"/>
                <a:sym typeface="+mn-ea"/>
              </a:rPr>
              <a:t>表示投影出表中的所有列（按照创建表时的列定义顺序显示）；</a:t>
            </a:r>
            <a:endParaRPr lang="zh-CN" altLang="en-US" sz="2400" dirty="0">
              <a:cs typeface="+mn-lt"/>
              <a:sym typeface="+mn-ea"/>
            </a:endParaRPr>
          </a:p>
          <a:p>
            <a:pPr lvl="1">
              <a:lnSpc>
                <a:spcPct val="100000"/>
              </a:lnSpc>
              <a:spcBef>
                <a:spcPts val="600"/>
              </a:spcBef>
              <a:buFont typeface="Wingdings" panose="05000000000000000000" charset="0"/>
              <a:buChar char=""/>
            </a:pPr>
            <a:r>
              <a:rPr lang="zh-CN" altLang="en-US" sz="2400" dirty="0">
                <a:cs typeface="+mn-lt"/>
                <a:sym typeface="+mn-ea"/>
              </a:rPr>
              <a:t>可以用</a:t>
            </a:r>
            <a:r>
              <a:rPr lang="en-US" altLang="zh-CN" sz="2400" dirty="0">
                <a:cs typeface="+mn-lt"/>
                <a:sym typeface="+mn-ea"/>
              </a:rPr>
              <a:t>distinct</a:t>
            </a:r>
            <a:r>
              <a:rPr lang="zh-CN" altLang="en-US" sz="2400" dirty="0">
                <a:cs typeface="+mn-lt"/>
                <a:sym typeface="+mn-ea"/>
              </a:rPr>
              <a:t>谓词要求系统对结果元组进行唯一性检查（对结果元组进行去重处理）。</a:t>
            </a:r>
            <a:endParaRPr lang="zh-CN" altLang="en-US" sz="2400" dirty="0">
              <a:cs typeface="+mn-lt"/>
              <a:sym typeface="+mn-ea"/>
            </a:endParaRPr>
          </a:p>
          <a:p>
            <a:pPr>
              <a:lnSpc>
                <a:spcPct val="100000"/>
              </a:lnSpc>
              <a:spcBef>
                <a:spcPts val="2000"/>
              </a:spcBef>
            </a:pPr>
            <a:r>
              <a:rPr lang="en-US" altLang="x-none" sz="2400" dirty="0">
                <a:solidFill>
                  <a:srgbClr val="FF0000"/>
                </a:solidFill>
                <a:latin typeface="Arial" panose="020B0604020202090204" pitchFamily="34" charset="0"/>
                <a:cs typeface="Arial" panose="020B0604020202090204" pitchFamily="34" charset="0"/>
                <a:sym typeface="+mn-ea"/>
              </a:rPr>
              <a:t>  FROM  </a:t>
            </a:r>
            <a:r>
              <a:rPr lang="en-US" altLang="zh-CN" sz="2400" dirty="0">
                <a:solidFill>
                  <a:srgbClr val="FF0000"/>
                </a:solidFill>
                <a:latin typeface="Arial" panose="020B0604020202090204" pitchFamily="34" charset="0"/>
                <a:cs typeface="Arial" panose="020B0604020202090204" pitchFamily="34" charset="0"/>
                <a:sym typeface="+mn-ea"/>
              </a:rPr>
              <a:t>tablename-list</a:t>
            </a:r>
            <a:endParaRPr lang="en-US" altLang="zh-CN" sz="2400" dirty="0">
              <a:cs typeface="+mn-lt"/>
              <a:sym typeface="+mn-ea"/>
            </a:endParaRPr>
          </a:p>
          <a:p>
            <a:pPr lvl="1" eaLnBrk="1" hangingPunct="1">
              <a:lnSpc>
                <a:spcPct val="100000"/>
              </a:lnSpc>
              <a:spcBef>
                <a:spcPts val="600"/>
              </a:spcBef>
              <a:buFont typeface="Wingdings" panose="05000000000000000000" charset="0"/>
              <a:buChar char=""/>
            </a:pPr>
            <a:r>
              <a:rPr lang="zh-CN" altLang="en-US" sz="2400">
                <a:cs typeface="+mn-lt"/>
              </a:rPr>
              <a:t>范围子句，定义本次查询可以访问的表；</a:t>
            </a:r>
            <a:endParaRPr lang="zh-CN" altLang="en-US" sz="2400">
              <a:cs typeface="+mn-lt"/>
            </a:endParaRPr>
          </a:p>
          <a:p>
            <a:pPr lvl="1" eaLnBrk="1" hangingPunct="1">
              <a:lnSpc>
                <a:spcPct val="100000"/>
              </a:lnSpc>
              <a:spcBef>
                <a:spcPts val="600"/>
              </a:spcBef>
              <a:buFont typeface="Wingdings" panose="05000000000000000000" charset="0"/>
              <a:buChar char=""/>
            </a:pPr>
            <a:r>
              <a:rPr lang="zh-CN" altLang="en-US" sz="2400">
                <a:cs typeface="+mn-lt"/>
              </a:rPr>
              <a:t>如果对表进行了换名，那么必须通过定义的别名来访问对应的表；</a:t>
            </a:r>
            <a:endParaRPr lang="zh-CN" altLang="en-US" sz="2400">
              <a:cs typeface="+mn-lt"/>
            </a:endParaRPr>
          </a:p>
          <a:p>
            <a:pPr lvl="1" eaLnBrk="1" hangingPunct="1">
              <a:lnSpc>
                <a:spcPct val="100000"/>
              </a:lnSpc>
              <a:spcBef>
                <a:spcPts val="600"/>
              </a:spcBef>
              <a:buFont typeface="Wingdings" panose="05000000000000000000" charset="0"/>
              <a:buChar char=""/>
            </a:pPr>
            <a:r>
              <a:rPr lang="en-US" altLang="zh-CN" sz="2400">
                <a:cs typeface="+mn-lt"/>
              </a:rPr>
              <a:t>FROM</a:t>
            </a:r>
            <a:r>
              <a:rPr lang="zh-CN" altLang="en-US" sz="2400">
                <a:cs typeface="+mn-lt"/>
              </a:rPr>
              <a:t>子句中的表（别名）不能重名，</a:t>
            </a:r>
            <a:r>
              <a:rPr lang="en-US" altLang="zh-CN" sz="2400">
                <a:cs typeface="+mn-lt"/>
              </a:rPr>
              <a:t>SELECT</a:t>
            </a:r>
            <a:r>
              <a:rPr lang="zh-CN" altLang="en-US" sz="2400">
                <a:cs typeface="+mn-lt"/>
              </a:rPr>
              <a:t>子句中的结果列不能重名；</a:t>
            </a:r>
            <a:endParaRPr lang="zh-CN" altLang="en-US" sz="2400">
              <a:cs typeface="+mn-lt"/>
            </a:endParaRPr>
          </a:p>
          <a:p>
            <a:pPr lvl="1" eaLnBrk="1" hangingPunct="1">
              <a:lnSpc>
                <a:spcPct val="100000"/>
              </a:lnSpc>
              <a:spcBef>
                <a:spcPts val="600"/>
              </a:spcBef>
              <a:buFont typeface="Wingdings" panose="05000000000000000000" charset="0"/>
              <a:buChar char=""/>
            </a:pPr>
            <a:r>
              <a:rPr lang="zh-CN" altLang="en-US" sz="2400">
                <a:cs typeface="+mn-lt"/>
              </a:rPr>
              <a:t>如果范围子句中的表存在同名的列，可以通过</a:t>
            </a:r>
            <a:r>
              <a:rPr lang="en-US" altLang="zh-CN" sz="2400">
                <a:cs typeface="+mn-lt"/>
              </a:rPr>
              <a:t>‘</a:t>
            </a:r>
            <a:r>
              <a:rPr lang="zh-CN" altLang="en-US" sz="2400">
                <a:cs typeface="+mn-lt"/>
              </a:rPr>
              <a:t>表名</a:t>
            </a:r>
            <a:r>
              <a:rPr lang="en-US" altLang="zh-CN" sz="2400">
                <a:cs typeface="+mn-lt"/>
              </a:rPr>
              <a:t>.</a:t>
            </a:r>
            <a:r>
              <a:rPr lang="zh-CN" altLang="en-US" sz="2400">
                <a:cs typeface="+mn-lt"/>
              </a:rPr>
              <a:t>列</a:t>
            </a:r>
            <a:r>
              <a:rPr lang="zh-CN" altLang="en-US" sz="2400">
                <a:cs typeface="+mn-lt"/>
              </a:rPr>
              <a:t>名</a:t>
            </a:r>
            <a:r>
              <a:rPr lang="en-US" altLang="zh-CN" sz="2400">
                <a:cs typeface="+mn-lt"/>
              </a:rPr>
              <a:t>’</a:t>
            </a:r>
            <a:r>
              <a:rPr lang="zh-CN" altLang="en-US" sz="2400">
                <a:cs typeface="+mn-lt"/>
              </a:rPr>
              <a:t>的方式来明确定义需要访问哪一张表中的列；否则可以直接通过列名来访问相关的列。</a:t>
            </a:r>
            <a:endParaRPr lang="zh-CN" altLang="en-US" sz="2400">
              <a:cs typeface="+mn-lt"/>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9" name="Rectangle 2"/>
          <p:cNvSpPr>
            <a:spLocks noGrp="1"/>
          </p:cNvSpPr>
          <p:nvPr>
            <p:ph type="title"/>
          </p:nvPr>
        </p:nvSpPr>
        <p:spPr/>
        <p:txBody>
          <a:bodyPr wrap="square" anchor="ctr"/>
          <a:p>
            <a:pPr eaLnBrk="1" hangingPunct="1"/>
            <a:r>
              <a:rPr lang="zh-CN" altLang="en-US" dirty="0">
                <a:sym typeface="+mn-ea"/>
              </a:rPr>
              <a:t>基本映像语句的组成</a:t>
            </a:r>
            <a:r>
              <a:rPr lang="en-US" altLang="zh-CN" dirty="0">
                <a:sym typeface="+mn-ea"/>
              </a:rPr>
              <a:t> 3</a:t>
            </a:r>
            <a:endParaRPr lang="en-US" altLang="zh-CN" dirty="0">
              <a:latin typeface="宋体" pitchFamily="2" charset="-122"/>
              <a:sym typeface="+mn-ea"/>
            </a:endParaRPr>
          </a:p>
        </p:txBody>
      </p:sp>
      <p:sp>
        <p:nvSpPr>
          <p:cNvPr id="37893" name="Rectangle 3"/>
          <p:cNvSpPr>
            <a:spLocks noGrp="1"/>
          </p:cNvSpPr>
          <p:nvPr>
            <p:ph idx="1"/>
          </p:nvPr>
        </p:nvSpPr>
        <p:spPr>
          <a:ln>
            <a:miter/>
          </a:ln>
        </p:spPr>
        <p:txBody>
          <a:bodyPr vert="horz" wrap="square" anchor="t"/>
          <a:p>
            <a:pPr marL="457200" lvl="0" indent="-457200" eaLnBrk="1" fontAlgn="base" hangingPunct="1">
              <a:lnSpc>
                <a:spcPct val="100000"/>
              </a:lnSpc>
              <a:buFont typeface="Wingdings" panose="05000000000000000000" pitchFamily="2" charset="2"/>
              <a:buAutoNum type="arabicParenR" startAt="3"/>
            </a:pPr>
            <a:r>
              <a:rPr lang="zh-CN" altLang="en-US" strike="noStrike" noProof="1" dirty="0"/>
              <a:t>条件子句： </a:t>
            </a:r>
            <a:r>
              <a:rPr lang="en-US" altLang="x-none" strike="noStrike" noProof="1" dirty="0">
                <a:solidFill>
                  <a:srgbClr val="FF0000"/>
                </a:solidFill>
                <a:latin typeface="Arial" panose="020B0604020202090204" pitchFamily="34" charset="0"/>
              </a:rPr>
              <a:t>WHERE  search_condition</a:t>
            </a:r>
            <a:endParaRPr lang="en-US" altLang="x-none" strike="noStrike" noProof="1" dirty="0">
              <a:solidFill>
                <a:schemeClr val="accent6"/>
              </a:solidFill>
              <a:latin typeface="Arial" panose="020B0604020202090204" pitchFamily="34" charset="0"/>
            </a:endParaRPr>
          </a:p>
          <a:p>
            <a:pPr lvl="1" eaLnBrk="1" fontAlgn="base" hangingPunct="1">
              <a:lnSpc>
                <a:spcPct val="100000"/>
              </a:lnSpc>
              <a:spcBef>
                <a:spcPct val="10000"/>
              </a:spcBef>
              <a:buFont typeface="Wingdings" panose="05000000000000000000" charset="0"/>
              <a:buChar char=""/>
            </a:pPr>
            <a:r>
              <a:rPr lang="zh-CN" altLang="en-US" strike="noStrike" noProof="1" dirty="0">
                <a:solidFill>
                  <a:srgbClr val="0000C8"/>
                </a:solidFill>
                <a:latin typeface="Arial" panose="020B0604020202090204" pitchFamily="34" charset="0"/>
              </a:rPr>
              <a:t>是映像语句中的可选成分，用于定义查询条件（即结果表中的元组必须满足的条件）。</a:t>
            </a:r>
            <a:endParaRPr lang="zh-CN" altLang="en-US" strike="noStrike" noProof="1" dirty="0">
              <a:solidFill>
                <a:srgbClr val="0000C8"/>
              </a:solidFill>
              <a:latin typeface="Arial" panose="020B0604020202090204" pitchFamily="34" charset="0"/>
            </a:endParaRPr>
          </a:p>
          <a:p>
            <a:pPr lvl="1" eaLnBrk="1" fontAlgn="base" hangingPunct="1">
              <a:lnSpc>
                <a:spcPct val="100000"/>
              </a:lnSpc>
              <a:spcBef>
                <a:spcPct val="10000"/>
              </a:spcBef>
              <a:buFont typeface="Wingdings" panose="05000000000000000000" charset="0"/>
              <a:buChar char=""/>
            </a:pPr>
            <a:endParaRPr lang="zh-CN" altLang="en-US" sz="1200" strike="noStrike" noProof="1" dirty="0">
              <a:solidFill>
                <a:srgbClr val="0000C8"/>
              </a:solidFill>
              <a:latin typeface="Arial" panose="020B0604020202090204" pitchFamily="34" charset="0"/>
            </a:endParaRPr>
          </a:p>
          <a:p>
            <a:pPr lvl="1" eaLnBrk="1" fontAlgn="base" hangingPunct="1">
              <a:lnSpc>
                <a:spcPct val="100000"/>
              </a:lnSpc>
              <a:spcBef>
                <a:spcPct val="10000"/>
              </a:spcBef>
              <a:buFont typeface="Wingdings" panose="05000000000000000000" charset="0"/>
              <a:buChar char=""/>
            </a:pPr>
            <a:r>
              <a:rPr lang="zh-CN" altLang="en-US" strike="noStrike" noProof="1" dirty="0">
                <a:solidFill>
                  <a:srgbClr val="0000C8"/>
                </a:solidFill>
                <a:effectLst/>
                <a:latin typeface="Arial" panose="020B0604020202090204" pitchFamily="34" charset="0"/>
              </a:rPr>
              <a:t>包括‘</a:t>
            </a:r>
            <a:r>
              <a:rPr lang="zh-CN" altLang="en-US" u="sng" strike="noStrike" noProof="1" dirty="0">
                <a:solidFill>
                  <a:srgbClr val="C00000"/>
                </a:solidFill>
                <a:effectLst/>
                <a:latin typeface="Arial" panose="020B0604020202090204" pitchFamily="34" charset="0"/>
              </a:rPr>
              <a:t>单个表中的元组选择条件</a:t>
            </a:r>
            <a:r>
              <a:rPr lang="zh-CN" altLang="en-US" strike="noStrike" noProof="1" dirty="0">
                <a:solidFill>
                  <a:srgbClr val="0000C8"/>
                </a:solidFill>
                <a:effectLst/>
                <a:latin typeface="Arial" panose="020B0604020202090204" pitchFamily="34" charset="0"/>
              </a:rPr>
              <a:t>’以及‘</a:t>
            </a:r>
            <a:r>
              <a:rPr lang="zh-CN" altLang="en-US" u="sng" strike="noStrike" noProof="1" dirty="0">
                <a:solidFill>
                  <a:srgbClr val="C00000"/>
                </a:solidFill>
                <a:effectLst/>
                <a:latin typeface="Arial" panose="020B0604020202090204" pitchFamily="34" charset="0"/>
              </a:rPr>
              <a:t>表与表之间的连接条件</a:t>
            </a:r>
            <a:r>
              <a:rPr lang="zh-CN" altLang="en-US" strike="noStrike" noProof="1" dirty="0">
                <a:solidFill>
                  <a:srgbClr val="0000C8"/>
                </a:solidFill>
                <a:effectLst/>
                <a:latin typeface="Arial" panose="020B0604020202090204" pitchFamily="34" charset="0"/>
              </a:rPr>
              <a:t>’都需要在</a:t>
            </a:r>
            <a:r>
              <a:rPr lang="en-US" altLang="x-none" strike="noStrike" noProof="1" dirty="0">
                <a:solidFill>
                  <a:srgbClr val="0000C8"/>
                </a:solidFill>
                <a:effectLst/>
                <a:latin typeface="Arial" panose="020B0604020202090204" pitchFamily="34" charset="0"/>
              </a:rPr>
              <a:t>WHERE</a:t>
            </a:r>
            <a:r>
              <a:rPr lang="zh-CN" altLang="en-US" strike="noStrike" noProof="1" dirty="0">
                <a:solidFill>
                  <a:srgbClr val="0000C8"/>
                </a:solidFill>
                <a:effectLst/>
                <a:latin typeface="Arial" panose="020B0604020202090204" pitchFamily="34" charset="0"/>
              </a:rPr>
              <a:t>子句中通过一定的逻辑表达式显式地表示出来。</a:t>
            </a:r>
            <a:endParaRPr lang="zh-CN" altLang="en-US" strike="noStrike" noProof="1" dirty="0">
              <a:solidFill>
                <a:srgbClr val="0000C8"/>
              </a:solidFill>
              <a:effectLst/>
              <a:latin typeface="Arial" panose="020B0604020202090204" pitchFamily="34" charset="0"/>
            </a:endParaRPr>
          </a:p>
        </p:txBody>
      </p:sp>
      <p:sp>
        <p:nvSpPr>
          <p:cNvPr id="2" name="Rectangle 3"/>
          <p:cNvSpPr>
            <a:spLocks noGrp="1"/>
          </p:cNvSpPr>
          <p:nvPr/>
        </p:nvSpPr>
        <p:spPr>
          <a:xfrm>
            <a:off x="424180" y="4298950"/>
            <a:ext cx="11343005" cy="1943100"/>
          </a:xfrm>
          <a:prstGeom prst="rect">
            <a:avLst/>
          </a:prstGeom>
          <a:noFill/>
          <a:ln w="9525">
            <a:noFill/>
            <a:miter/>
          </a:ln>
        </p:spPr>
        <p:txBody>
          <a:bodyPr vert="horz" wrap="square" anchor="t">
            <a:spAutoFit/>
          </a:bodyPr>
          <a:lstStyle>
            <a:lvl1pPr marL="342900" lvl="0" indent="-342900" algn="l" defTabSz="914400" eaLnBrk="0" fontAlgn="base" latinLnBrk="0" hangingPunct="0">
              <a:lnSpc>
                <a:spcPct val="110000"/>
              </a:lnSpc>
              <a:spcBef>
                <a:spcPts val="0"/>
              </a:spcBef>
              <a:spcAft>
                <a:spcPts val="0"/>
              </a:spcAft>
              <a:buClr>
                <a:srgbClr val="C00000"/>
              </a:buClr>
              <a:buSzPct val="85000"/>
              <a:buFont typeface="Wingdings" panose="05000000000000000000" pitchFamily="2" charset="2"/>
              <a:buChar char="q"/>
              <a:defRPr sz="2400" b="1" i="0" u="none" kern="1200" baseline="0">
                <a:solidFill>
                  <a:schemeClr val="accent6"/>
                </a:solidFill>
                <a:latin typeface="+mn-lt"/>
                <a:ea typeface="楷体" charset="-122"/>
                <a:cs typeface="+mn-cs"/>
              </a:defRPr>
            </a:lvl1pPr>
            <a:lvl2pPr marL="742950" lvl="1" indent="-285750" algn="l" defTabSz="914400" eaLnBrk="0" fontAlgn="base" latinLnBrk="0" hangingPunct="0">
              <a:lnSpc>
                <a:spcPct val="110000"/>
              </a:lnSpc>
              <a:spcBef>
                <a:spcPts val="1000"/>
              </a:spcBef>
              <a:spcAft>
                <a:spcPts val="0"/>
              </a:spcAft>
              <a:buClr>
                <a:srgbClr val="C00000"/>
              </a:buClr>
              <a:buSzPct val="85000"/>
              <a:buFont typeface="Wingdings" panose="05000000000000000000" pitchFamily="2" charset="2"/>
              <a:buChar char="Ø"/>
              <a:defRPr sz="2400" b="1" i="0" u="none" kern="1200" baseline="0">
                <a:solidFill>
                  <a:schemeClr val="accent6"/>
                </a:solidFill>
                <a:latin typeface="+mn-lt"/>
                <a:ea typeface="楷体" charset="-122"/>
                <a:cs typeface="+mn-cs"/>
              </a:defRPr>
            </a:lvl2pPr>
            <a:lvl3pPr marL="1143000" lvl="2" indent="-228600" algn="l" defTabSz="914400" eaLnBrk="0" fontAlgn="base" latinLnBrk="0" hangingPunct="0">
              <a:lnSpc>
                <a:spcPct val="110000"/>
              </a:lnSpc>
              <a:spcBef>
                <a:spcPts val="0"/>
              </a:spcBef>
              <a:spcAft>
                <a:spcPts val="0"/>
              </a:spcAft>
              <a:buClr>
                <a:srgbClr val="C00000"/>
              </a:buClr>
              <a:buSzPct val="85000"/>
              <a:buFont typeface="Wingdings" panose="05000000000000000000" charset="0"/>
              <a:buChar char="§"/>
              <a:defRPr sz="2400" b="1" i="0" u="none" kern="1200" baseline="0">
                <a:solidFill>
                  <a:schemeClr val="accent6"/>
                </a:solidFill>
                <a:latin typeface="+mn-lt"/>
                <a:ea typeface="楷体" charset="-122"/>
                <a:cs typeface="+mn-cs"/>
              </a:defRPr>
            </a:lvl3pPr>
            <a:lvl4pPr marL="1600200" lvl="3" indent="-228600" algn="l" defTabSz="914400" eaLnBrk="0" fontAlgn="base" latinLnBrk="0" hangingPunct="0">
              <a:lnSpc>
                <a:spcPct val="110000"/>
              </a:lnSpc>
              <a:spcBef>
                <a:spcPts val="0"/>
              </a:spcBef>
              <a:spcAft>
                <a:spcPts val="0"/>
              </a:spcAft>
              <a:buClr>
                <a:srgbClr val="C00000"/>
              </a:buClr>
              <a:buSzPct val="85000"/>
              <a:buFont typeface="Arial" panose="020B0604020202090204" pitchFamily="34" charset="0"/>
              <a:buChar char="‒"/>
              <a:defRPr sz="2400" b="1" i="0" u="none" kern="1200" baseline="0">
                <a:solidFill>
                  <a:schemeClr val="accent6"/>
                </a:solidFill>
                <a:latin typeface="+mn-lt"/>
                <a:ea typeface="楷体" charset="-122"/>
                <a:cs typeface="+mn-cs"/>
              </a:defRPr>
            </a:lvl4pPr>
            <a:lvl5pPr marL="2057400" lvl="4" indent="-228600" algn="l" defTabSz="914400" eaLnBrk="0" fontAlgn="base" latinLnBrk="0" hangingPunct="0">
              <a:lnSpc>
                <a:spcPct val="110000"/>
              </a:lnSpc>
              <a:spcBef>
                <a:spcPts val="0"/>
              </a:spcBef>
              <a:spcAft>
                <a:spcPts val="0"/>
              </a:spcAft>
              <a:buClr>
                <a:srgbClr val="C00000"/>
              </a:buClr>
              <a:buSzPct val="85000"/>
              <a:buFont typeface="Wingdings" panose="05000000000000000000" charset="0"/>
              <a:buChar char=""/>
              <a:defRPr sz="2400" b="1" i="0" u="none" kern="1200" baseline="0">
                <a:solidFill>
                  <a:schemeClr val="accent6"/>
                </a:solidFill>
                <a:latin typeface="+mn-lt"/>
                <a:ea typeface="楷体" charset="-122"/>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lvl="1" eaLnBrk="1" fontAlgn="base" hangingPunct="1">
              <a:lnSpc>
                <a:spcPct val="100000"/>
              </a:lnSpc>
              <a:spcBef>
                <a:spcPts val="1000"/>
              </a:spcBef>
              <a:buFont typeface="Wingdings" panose="05000000000000000000" charset="0"/>
              <a:buChar char=""/>
            </a:pPr>
            <a:r>
              <a:rPr lang="zh-CN" altLang="en-US" sz="2800" strike="noStrike" noProof="1" dirty="0">
                <a:solidFill>
                  <a:srgbClr val="0000C8"/>
                </a:solidFill>
                <a:effectLst/>
                <a:latin typeface="Calibri" panose="020F0502020204030204" charset="0"/>
                <a:cs typeface="Calibri" panose="020F0502020204030204" charset="0"/>
              </a:rPr>
              <a:t>在</a:t>
            </a:r>
            <a:r>
              <a:rPr lang="en-US" altLang="x-none" sz="2800" strike="noStrike" noProof="1" dirty="0">
                <a:solidFill>
                  <a:srgbClr val="0000C8"/>
                </a:solidFill>
                <a:effectLst/>
                <a:latin typeface="Calibri" panose="020F0502020204030204" charset="0"/>
                <a:cs typeface="Calibri" panose="020F0502020204030204" charset="0"/>
              </a:rPr>
              <a:t>FROM</a:t>
            </a:r>
            <a:r>
              <a:rPr lang="zh-CN" altLang="en-US" sz="2800" strike="noStrike" noProof="1" dirty="0">
                <a:solidFill>
                  <a:srgbClr val="0000C8"/>
                </a:solidFill>
                <a:effectLst/>
                <a:latin typeface="Calibri" panose="020F0502020204030204" charset="0"/>
                <a:cs typeface="Calibri" panose="020F0502020204030204" charset="0"/>
              </a:rPr>
              <a:t>子句中给出的表只是表明此次查询需要访问这些表，它们之间是通过</a:t>
            </a:r>
            <a:r>
              <a:rPr lang="zh-CN" altLang="en-US" sz="2800" u="sng" strike="noStrike" noProof="1" dirty="0">
                <a:solidFill>
                  <a:srgbClr val="0000C8"/>
                </a:solidFill>
                <a:effectLst/>
                <a:latin typeface="Calibri" panose="020F0502020204030204" charset="0"/>
                <a:cs typeface="Calibri" panose="020F0502020204030204" charset="0"/>
              </a:rPr>
              <a:t>笛卡儿积</a:t>
            </a:r>
            <a:r>
              <a:rPr lang="zh-CN" altLang="en-US" sz="2800" strike="noStrike" noProof="1" dirty="0">
                <a:solidFill>
                  <a:srgbClr val="0000C8"/>
                </a:solidFill>
                <a:effectLst/>
                <a:latin typeface="Calibri" panose="020F0502020204030204" charset="0"/>
                <a:cs typeface="Calibri" panose="020F0502020204030204" charset="0"/>
              </a:rPr>
              <a:t>运算进行合并的；</a:t>
            </a:r>
            <a:endParaRPr lang="zh-CN" altLang="en-US" sz="2800" strike="noStrike" noProof="1" dirty="0">
              <a:solidFill>
                <a:srgbClr val="0000C8"/>
              </a:solidFill>
              <a:effectLst/>
              <a:latin typeface="Calibri" panose="020F0502020204030204" charset="0"/>
              <a:cs typeface="Calibri" panose="020F0502020204030204" charset="0"/>
            </a:endParaRPr>
          </a:p>
          <a:p>
            <a:pPr lvl="1" eaLnBrk="1" fontAlgn="base" hangingPunct="1">
              <a:lnSpc>
                <a:spcPct val="100000"/>
              </a:lnSpc>
              <a:spcBef>
                <a:spcPts val="1000"/>
              </a:spcBef>
              <a:buFont typeface="Wingdings" panose="05000000000000000000" charset="0"/>
              <a:buChar char=""/>
            </a:pPr>
            <a:r>
              <a:rPr lang="zh-CN" altLang="en-US" sz="2800" strike="noStrike" noProof="1" dirty="0">
                <a:solidFill>
                  <a:srgbClr val="0000C8"/>
                </a:solidFill>
                <a:effectLst/>
                <a:latin typeface="Calibri" panose="020F0502020204030204" charset="0"/>
                <a:cs typeface="Calibri" panose="020F0502020204030204" charset="0"/>
              </a:rPr>
              <a:t>如果需要执行它们之间的‘</a:t>
            </a:r>
            <a:r>
              <a:rPr lang="zh-CN" altLang="en-US" sz="2800" strike="noStrike" noProof="1" dirty="0">
                <a:solidFill>
                  <a:srgbClr val="0000C8"/>
                </a:solidFill>
                <a:effectLst/>
                <a:latin typeface="Calibri" panose="020F0502020204030204" charset="0"/>
                <a:cs typeface="Calibri" panose="020F0502020204030204" charset="0"/>
                <a:sym typeface="Symbol" panose="05050102010706020507" pitchFamily="18" charset="2"/>
              </a:rPr>
              <a:t></a:t>
            </a:r>
            <a:r>
              <a:rPr lang="en-US" altLang="x-none" sz="2800" strike="noStrike" noProof="1" dirty="0">
                <a:solidFill>
                  <a:srgbClr val="0000C8"/>
                </a:solidFill>
                <a:effectLst/>
                <a:latin typeface="Calibri" panose="020F0502020204030204" charset="0"/>
                <a:cs typeface="Calibri" panose="020F0502020204030204" charset="0"/>
                <a:sym typeface="Symbol" panose="05050102010706020507" pitchFamily="18" charset="2"/>
              </a:rPr>
              <a:t>-</a:t>
            </a:r>
            <a:r>
              <a:rPr lang="zh-CN" altLang="en-US" sz="2800" strike="noStrike" noProof="1" dirty="0">
                <a:solidFill>
                  <a:srgbClr val="0000C8"/>
                </a:solidFill>
                <a:effectLst/>
                <a:latin typeface="Calibri" panose="020F0502020204030204" charset="0"/>
                <a:cs typeface="Calibri" panose="020F0502020204030204" charset="0"/>
                <a:sym typeface="Symbol" panose="05050102010706020507" pitchFamily="18" charset="2"/>
              </a:rPr>
              <a:t>连接’或‘自然连接’运算，则需要在</a:t>
            </a:r>
            <a:r>
              <a:rPr lang="en-US" altLang="x-none" sz="2800" strike="noStrike" noProof="1" dirty="0">
                <a:solidFill>
                  <a:srgbClr val="0000C8"/>
                </a:solidFill>
                <a:effectLst/>
                <a:latin typeface="Calibri" panose="020F0502020204030204" charset="0"/>
                <a:cs typeface="Calibri" panose="020F0502020204030204" charset="0"/>
                <a:sym typeface="Symbol" panose="05050102010706020507" pitchFamily="18" charset="2"/>
              </a:rPr>
              <a:t>WHERE</a:t>
            </a:r>
            <a:r>
              <a:rPr lang="zh-CN" altLang="en-US" sz="2800" strike="noStrike" noProof="1" dirty="0">
                <a:solidFill>
                  <a:srgbClr val="0000C8"/>
                </a:solidFill>
                <a:effectLst/>
                <a:latin typeface="Calibri" panose="020F0502020204030204" charset="0"/>
                <a:cs typeface="Calibri" panose="020F0502020204030204" charset="0"/>
                <a:sym typeface="Symbol" panose="05050102010706020507" pitchFamily="18" charset="2"/>
              </a:rPr>
              <a:t>子句中显式地给出它们的连接条件。</a:t>
            </a:r>
            <a:endParaRPr lang="zh-CN" altLang="en-US" sz="2800" strike="noStrike" noProof="1" dirty="0">
              <a:solidFill>
                <a:srgbClr val="0000C8"/>
              </a:solidFill>
              <a:effectLst/>
              <a:latin typeface="Calibri" panose="020F0502020204030204" charset="0"/>
              <a:cs typeface="Calibri" panose="020F0502020204030204" charset="0"/>
              <a:sym typeface="Symbol" panose="05050102010706020507" pitchFamily="18" charset="2"/>
            </a:endParaRPr>
          </a:p>
        </p:txBody>
      </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3"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4" name="Rectangle 4"/>
          <p:cNvSpPr>
            <a:spLocks noGrp="1"/>
          </p:cNvSpPr>
          <p:nvPr>
            <p:ph type="title"/>
          </p:nvPr>
        </p:nvSpPr>
        <p:spPr/>
        <p:txBody>
          <a:bodyPr wrap="square" anchor="ctr"/>
          <a:p>
            <a:pPr eaLnBrk="1" hangingPunct="1"/>
            <a:r>
              <a:rPr lang="en-US" altLang="x-none" dirty="0"/>
              <a:t>3.4  SQL</a:t>
            </a:r>
            <a:r>
              <a:rPr lang="zh-CN" altLang="en-US" dirty="0"/>
              <a:t>数据</a:t>
            </a:r>
            <a:r>
              <a:rPr lang="zh-CN" altLang="en-US" dirty="0"/>
              <a:t>查询</a:t>
            </a:r>
            <a:endParaRPr lang="zh-CN" altLang="en-US" dirty="0"/>
          </a:p>
        </p:txBody>
      </p:sp>
      <p:sp>
        <p:nvSpPr>
          <p:cNvPr id="30725" name="Rectangle 5"/>
          <p:cNvSpPr>
            <a:spLocks noGrp="1"/>
          </p:cNvSpPr>
          <p:nvPr>
            <p:ph idx="1"/>
          </p:nvPr>
        </p:nvSpPr>
        <p:spPr>
          <a:xfrm>
            <a:off x="424180" y="687070"/>
            <a:ext cx="11343005" cy="5788025"/>
          </a:xfrm>
        </p:spPr>
        <p:txBody>
          <a:bodyPr wrap="square" anchor="t">
            <a:noAutofit/>
          </a:bodyPr>
          <a:p>
            <a:pPr eaLnBrk="1" hangingPunct="1">
              <a:lnSpc>
                <a:spcPct val="100000"/>
              </a:lnSpc>
              <a:spcBef>
                <a:spcPts val="20"/>
              </a:spcBef>
              <a:spcAft>
                <a:spcPts val="0"/>
              </a:spcAft>
            </a:pPr>
            <a:r>
              <a:rPr lang="zh-CN" altLang="en-US" dirty="0"/>
              <a:t>数据查询功能</a:t>
            </a:r>
            <a:endParaRPr lang="zh-CN" altLang="en-US" dirty="0"/>
          </a:p>
          <a:p>
            <a:pPr lvl="1" eaLnBrk="1" hangingPunct="1">
              <a:lnSpc>
                <a:spcPct val="100000"/>
              </a:lnSpc>
              <a:spcBef>
                <a:spcPts val="20"/>
              </a:spcBef>
              <a:spcAft>
                <a:spcPts val="0"/>
              </a:spcAft>
              <a:buNone/>
            </a:pPr>
            <a:r>
              <a:rPr lang="en-US" altLang="x-none" dirty="0"/>
              <a:t>SQL</a:t>
            </a:r>
            <a:r>
              <a:rPr lang="zh-CN" altLang="en-US" dirty="0"/>
              <a:t>语言数据查询功能的数学基础来源于关系代数</a:t>
            </a:r>
            <a:endParaRPr lang="zh-CN" altLang="en-US" dirty="0"/>
          </a:p>
          <a:p>
            <a:pPr lvl="0" eaLnBrk="1" hangingPunct="1">
              <a:lnSpc>
                <a:spcPct val="100000"/>
              </a:lnSpc>
              <a:spcBef>
                <a:spcPts val="1600"/>
              </a:spcBef>
              <a:spcAft>
                <a:spcPts val="0"/>
              </a:spcAft>
            </a:pPr>
            <a:r>
              <a:rPr lang="zh-CN" altLang="en-US" dirty="0"/>
              <a:t>常见的关系</a:t>
            </a:r>
            <a:r>
              <a:rPr lang="zh-CN" altLang="en-US" dirty="0"/>
              <a:t>数据查询有</a:t>
            </a:r>
            <a:endParaRPr lang="zh-CN" altLang="en-US" dirty="0"/>
          </a:p>
          <a:p>
            <a:pPr lvl="1" eaLnBrk="1" hangingPunct="1">
              <a:lnSpc>
                <a:spcPct val="100000"/>
              </a:lnSpc>
              <a:spcBef>
                <a:spcPts val="20"/>
              </a:spcBef>
              <a:spcAft>
                <a:spcPts val="0"/>
              </a:spcAft>
            </a:pPr>
            <a:r>
              <a:rPr lang="zh-CN" altLang="en-US" dirty="0"/>
              <a:t>单个关系上的元组 </a:t>
            </a:r>
            <a:r>
              <a:rPr lang="zh-CN" altLang="en-US" dirty="0">
                <a:solidFill>
                  <a:srgbClr val="FF0000"/>
                </a:solidFill>
              </a:rPr>
              <a:t>选择 </a:t>
            </a:r>
            <a:r>
              <a:rPr lang="zh-CN" altLang="en-US" dirty="0"/>
              <a:t>和属性 </a:t>
            </a:r>
            <a:r>
              <a:rPr lang="zh-CN" altLang="en-US" dirty="0">
                <a:solidFill>
                  <a:srgbClr val="FF0000"/>
                </a:solidFill>
              </a:rPr>
              <a:t>投影</a:t>
            </a:r>
            <a:endParaRPr lang="zh-CN" altLang="en-US" dirty="0"/>
          </a:p>
          <a:p>
            <a:pPr lvl="1" eaLnBrk="1" hangingPunct="1">
              <a:lnSpc>
                <a:spcPct val="100000"/>
              </a:lnSpc>
              <a:spcBef>
                <a:spcPts val="20"/>
              </a:spcBef>
              <a:spcAft>
                <a:spcPts val="0"/>
              </a:spcAft>
            </a:pPr>
            <a:r>
              <a:rPr lang="zh-CN" altLang="en-US" dirty="0"/>
              <a:t>两个关系的 </a:t>
            </a:r>
            <a:r>
              <a:rPr lang="zh-CN" altLang="en-US" dirty="0">
                <a:solidFill>
                  <a:srgbClr val="FF0000"/>
                </a:solidFill>
              </a:rPr>
              <a:t>迪卡尔积</a:t>
            </a:r>
            <a:endParaRPr lang="zh-CN" altLang="en-US" dirty="0"/>
          </a:p>
          <a:p>
            <a:pPr lvl="1" eaLnBrk="1" hangingPunct="1">
              <a:lnSpc>
                <a:spcPct val="100000"/>
              </a:lnSpc>
              <a:spcBef>
                <a:spcPts val="20"/>
              </a:spcBef>
              <a:spcAft>
                <a:spcPts val="0"/>
              </a:spcAft>
            </a:pPr>
            <a:r>
              <a:rPr lang="zh-CN" altLang="en-US" dirty="0"/>
              <a:t>两个关系的 </a:t>
            </a:r>
            <a:r>
              <a:rPr lang="zh-CN" altLang="en-US" dirty="0">
                <a:solidFill>
                  <a:srgbClr val="FF0000"/>
                </a:solidFill>
              </a:rPr>
              <a:t>自然连接</a:t>
            </a:r>
            <a:r>
              <a:rPr lang="zh-CN" altLang="en-US" dirty="0"/>
              <a:t> 和 </a:t>
            </a:r>
            <a:r>
              <a:rPr lang="zh-CN" altLang="en-US" dirty="0">
                <a:solidFill>
                  <a:srgbClr val="FF0000"/>
                </a:solidFill>
                <a:latin typeface="Arial" panose="020B0604020202090204" pitchFamily="34" charset="0"/>
                <a:cs typeface="Arial" panose="020B0604020202090204" pitchFamily="34" charset="0"/>
              </a:rPr>
              <a:t>θ</a:t>
            </a:r>
            <a:r>
              <a:rPr lang="en-US" altLang="zh-CN" dirty="0">
                <a:solidFill>
                  <a:srgbClr val="FF0000"/>
                </a:solidFill>
                <a:latin typeface="Arial" panose="020B0604020202090204" pitchFamily="34" charset="0"/>
                <a:cs typeface="Arial" panose="020B0604020202090204" pitchFamily="34" charset="0"/>
              </a:rPr>
              <a:t>-</a:t>
            </a:r>
            <a:r>
              <a:rPr lang="zh-CN" altLang="en-US" dirty="0">
                <a:solidFill>
                  <a:srgbClr val="FF0000"/>
                </a:solidFill>
                <a:latin typeface="Arial" panose="020B0604020202090204" pitchFamily="34" charset="0"/>
                <a:cs typeface="Arial" panose="020B0604020202090204" pitchFamily="34" charset="0"/>
              </a:rPr>
              <a:t>连接</a:t>
            </a:r>
            <a:endParaRPr lang="zh-CN" altLang="en-US" dirty="0">
              <a:solidFill>
                <a:srgbClr val="FF0000"/>
              </a:solidFill>
              <a:latin typeface="Arial" panose="020B0604020202090204" pitchFamily="34" charset="0"/>
              <a:cs typeface="Arial" panose="020B0604020202090204" pitchFamily="34" charset="0"/>
            </a:endParaRPr>
          </a:p>
          <a:p>
            <a:pPr lvl="1" eaLnBrk="1" hangingPunct="1">
              <a:lnSpc>
                <a:spcPct val="100000"/>
              </a:lnSpc>
              <a:spcBef>
                <a:spcPts val="20"/>
              </a:spcBef>
              <a:spcAft>
                <a:spcPts val="0"/>
              </a:spcAft>
            </a:pPr>
            <a:r>
              <a:rPr lang="zh-CN" altLang="en-US" dirty="0">
                <a:solidFill>
                  <a:srgbClr val="1F2DA8"/>
                </a:solidFill>
                <a:latin typeface="Arial" panose="020B0604020202090204" pitchFamily="34" charset="0"/>
                <a:cs typeface="Arial" panose="020B0604020202090204" pitchFamily="34" charset="0"/>
              </a:rPr>
              <a:t>两个关系的</a:t>
            </a:r>
            <a:r>
              <a:rPr lang="zh-CN" altLang="en-US" dirty="0">
                <a:solidFill>
                  <a:schemeClr val="tx1"/>
                </a:solidFill>
                <a:latin typeface="Arial" panose="020B0604020202090204" pitchFamily="34" charset="0"/>
                <a:cs typeface="Arial" panose="020B0604020202090204" pitchFamily="34" charset="0"/>
              </a:rPr>
              <a:t> </a:t>
            </a:r>
            <a:r>
              <a:rPr lang="zh-CN" altLang="en-US" dirty="0">
                <a:solidFill>
                  <a:srgbClr val="FF0000"/>
                </a:solidFill>
                <a:latin typeface="Arial" panose="020B0604020202090204" pitchFamily="34" charset="0"/>
                <a:cs typeface="Arial" panose="020B0604020202090204" pitchFamily="34" charset="0"/>
              </a:rPr>
              <a:t>并、交、差</a:t>
            </a:r>
            <a:endParaRPr lang="zh-CN" altLang="en-US" dirty="0">
              <a:solidFill>
                <a:srgbClr val="FF0000"/>
              </a:solidFill>
              <a:latin typeface="Arial" panose="020B0604020202090204" pitchFamily="34" charset="0"/>
              <a:cs typeface="Arial" panose="020B0604020202090204" pitchFamily="34" charset="0"/>
            </a:endParaRPr>
          </a:p>
          <a:p>
            <a:pPr lvl="1" eaLnBrk="1" hangingPunct="1">
              <a:lnSpc>
                <a:spcPct val="100000"/>
              </a:lnSpc>
              <a:spcBef>
                <a:spcPts val="20"/>
              </a:spcBef>
              <a:spcAft>
                <a:spcPts val="0"/>
              </a:spcAft>
            </a:pPr>
            <a:r>
              <a:rPr lang="zh-CN" altLang="en-US" dirty="0">
                <a:solidFill>
                  <a:srgbClr val="1F2DA8"/>
                </a:solidFill>
                <a:latin typeface="Arial" panose="020B0604020202090204" pitchFamily="34" charset="0"/>
                <a:cs typeface="Arial" panose="020B0604020202090204" pitchFamily="34" charset="0"/>
              </a:rPr>
              <a:t>两个关系的</a:t>
            </a:r>
            <a:r>
              <a:rPr lang="zh-CN" altLang="en-US" dirty="0">
                <a:solidFill>
                  <a:srgbClr val="FF0000"/>
                </a:solidFill>
                <a:latin typeface="Arial" panose="020B0604020202090204" pitchFamily="34" charset="0"/>
                <a:cs typeface="Arial" panose="020B0604020202090204" pitchFamily="34" charset="0"/>
              </a:rPr>
              <a:t>  除</a:t>
            </a:r>
            <a:endParaRPr lang="zh-CN" altLang="en-US" dirty="0">
              <a:solidFill>
                <a:srgbClr val="FF0000"/>
              </a:solidFill>
              <a:latin typeface="Arial" panose="020B0604020202090204" pitchFamily="34" charset="0"/>
              <a:cs typeface="Arial" panose="020B0604020202090204" pitchFamily="34" charset="0"/>
            </a:endParaRPr>
          </a:p>
          <a:p>
            <a:pPr lvl="0" eaLnBrk="1" hangingPunct="1">
              <a:lnSpc>
                <a:spcPct val="100000"/>
              </a:lnSpc>
              <a:spcBef>
                <a:spcPts val="1600"/>
              </a:spcBef>
            </a:pPr>
            <a:r>
              <a:rPr lang="zh-CN" altLang="en-US" dirty="0">
                <a:solidFill>
                  <a:srgbClr val="1F2DA8"/>
                </a:solidFill>
                <a:latin typeface="Arial" panose="020B0604020202090204" pitchFamily="34" charset="0"/>
                <a:cs typeface="Arial" panose="020B0604020202090204" pitchFamily="34" charset="0"/>
              </a:rPr>
              <a:t>在交互式</a:t>
            </a:r>
            <a:r>
              <a:rPr lang="en-US" altLang="zh-CN" dirty="0">
                <a:solidFill>
                  <a:srgbClr val="1F2DA8"/>
                </a:solidFill>
                <a:latin typeface="Arial" panose="020B0604020202090204" pitchFamily="34" charset="0"/>
                <a:cs typeface="Arial" panose="020B0604020202090204" pitchFamily="34" charset="0"/>
              </a:rPr>
              <a:t>SQL</a:t>
            </a:r>
            <a:r>
              <a:rPr lang="zh-CN" altLang="en-US" dirty="0">
                <a:solidFill>
                  <a:srgbClr val="1F2DA8"/>
                </a:solidFill>
                <a:latin typeface="Arial" panose="020B0604020202090204" pitchFamily="34" charset="0"/>
                <a:cs typeface="Arial" panose="020B0604020202090204" pitchFamily="34" charset="0"/>
              </a:rPr>
              <a:t>中新扩展的数据查询功能</a:t>
            </a:r>
            <a:endParaRPr lang="zh-CN" altLang="en-US" dirty="0">
              <a:solidFill>
                <a:srgbClr val="1F2DA8"/>
              </a:solidFill>
              <a:latin typeface="Arial" panose="020B0604020202090204" pitchFamily="34" charset="0"/>
              <a:cs typeface="Arial" panose="020B0604020202090204" pitchFamily="34" charset="0"/>
            </a:endParaRPr>
          </a:p>
          <a:p>
            <a:pPr lvl="1" eaLnBrk="1" hangingPunct="1">
              <a:lnSpc>
                <a:spcPct val="100000"/>
              </a:lnSpc>
              <a:spcBef>
                <a:spcPts val="20"/>
              </a:spcBef>
              <a:spcAft>
                <a:spcPts val="0"/>
              </a:spcAft>
            </a:pPr>
            <a:r>
              <a:rPr lang="zh-CN" altLang="en-US" dirty="0">
                <a:solidFill>
                  <a:srgbClr val="FF0000"/>
                </a:solidFill>
                <a:latin typeface="Arial" panose="020B0604020202090204" pitchFamily="34" charset="0"/>
                <a:cs typeface="Arial" panose="020B0604020202090204" pitchFamily="34" charset="0"/>
              </a:rPr>
              <a:t>计算</a:t>
            </a:r>
            <a:r>
              <a:rPr lang="zh-CN" altLang="en-US" dirty="0">
                <a:solidFill>
                  <a:srgbClr val="1F2DA8"/>
                </a:solidFill>
                <a:latin typeface="Arial" panose="020B0604020202090204" pitchFamily="34" charset="0"/>
                <a:cs typeface="Arial" panose="020B0604020202090204" pitchFamily="34" charset="0"/>
              </a:rPr>
              <a:t>（广义</a:t>
            </a:r>
            <a:r>
              <a:rPr lang="zh-CN" altLang="en-US" dirty="0">
                <a:solidFill>
                  <a:srgbClr val="1F2DA8"/>
                </a:solidFill>
                <a:latin typeface="Arial" panose="020B0604020202090204" pitchFamily="34" charset="0"/>
                <a:cs typeface="Arial" panose="020B0604020202090204" pitchFamily="34" charset="0"/>
              </a:rPr>
              <a:t>投影）</a:t>
            </a:r>
            <a:endParaRPr lang="zh-CN" altLang="en-US" dirty="0">
              <a:solidFill>
                <a:srgbClr val="1F2DA8"/>
              </a:solidFill>
              <a:latin typeface="Arial" panose="020B0604020202090204" pitchFamily="34" charset="0"/>
              <a:cs typeface="Arial" panose="020B0604020202090204" pitchFamily="34" charset="0"/>
            </a:endParaRPr>
          </a:p>
          <a:p>
            <a:pPr lvl="1" eaLnBrk="1" hangingPunct="1">
              <a:lnSpc>
                <a:spcPct val="100000"/>
              </a:lnSpc>
              <a:spcBef>
                <a:spcPts val="20"/>
              </a:spcBef>
              <a:spcAft>
                <a:spcPts val="0"/>
              </a:spcAft>
            </a:pPr>
            <a:r>
              <a:rPr lang="zh-CN" altLang="en-US" dirty="0">
                <a:solidFill>
                  <a:srgbClr val="FF0000"/>
                </a:solidFill>
                <a:latin typeface="Arial" panose="020B0604020202090204" pitchFamily="34" charset="0"/>
                <a:cs typeface="Arial" panose="020B0604020202090204" pitchFamily="34" charset="0"/>
              </a:rPr>
              <a:t>统计查询</a:t>
            </a:r>
            <a:r>
              <a:rPr lang="zh-CN" altLang="en-US" dirty="0">
                <a:solidFill>
                  <a:srgbClr val="1F2DA8"/>
                </a:solidFill>
                <a:latin typeface="Arial" panose="020B0604020202090204" pitchFamily="34" charset="0"/>
                <a:cs typeface="Arial" panose="020B0604020202090204" pitchFamily="34" charset="0"/>
              </a:rPr>
              <a:t> 与 </a:t>
            </a:r>
            <a:r>
              <a:rPr lang="zh-CN" altLang="en-US" dirty="0">
                <a:solidFill>
                  <a:srgbClr val="FF0000"/>
                </a:solidFill>
                <a:latin typeface="Arial" panose="020B0604020202090204" pitchFamily="34" charset="0"/>
                <a:cs typeface="Arial" panose="020B0604020202090204" pitchFamily="34" charset="0"/>
              </a:rPr>
              <a:t>分组统计查询</a:t>
            </a:r>
            <a:endParaRPr lang="zh-CN" altLang="en-US" dirty="0">
              <a:solidFill>
                <a:srgbClr val="1F2DA8"/>
              </a:solidFill>
              <a:latin typeface="Arial" panose="020B0604020202090204" pitchFamily="34" charset="0"/>
              <a:cs typeface="Arial" panose="020B0604020202090204" pitchFamily="34" charset="0"/>
            </a:endParaRPr>
          </a:p>
          <a:p>
            <a:pPr lvl="1" eaLnBrk="1" hangingPunct="1">
              <a:lnSpc>
                <a:spcPct val="100000"/>
              </a:lnSpc>
              <a:spcBef>
                <a:spcPts val="20"/>
              </a:spcBef>
              <a:spcAft>
                <a:spcPts val="0"/>
              </a:spcAft>
            </a:pPr>
            <a:r>
              <a:rPr lang="zh-CN" altLang="en-US" dirty="0">
                <a:solidFill>
                  <a:srgbClr val="FF0000"/>
                </a:solidFill>
                <a:latin typeface="Arial" panose="020B0604020202090204" pitchFamily="34" charset="0"/>
                <a:cs typeface="Arial" panose="020B0604020202090204" pitchFamily="34" charset="0"/>
              </a:rPr>
              <a:t>结果排序</a:t>
            </a:r>
            <a:endParaRPr lang="zh-CN" altLang="en-US" dirty="0">
              <a:solidFill>
                <a:srgbClr val="1F2DA8"/>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dirty="0">
                <a:sym typeface="+mn-ea"/>
              </a:rPr>
              <a:t>关系数据查询：关系代数</a:t>
            </a:r>
            <a:r>
              <a:rPr lang="en-US" altLang="zh-CN" dirty="0">
                <a:sym typeface="+mn-ea"/>
              </a:rPr>
              <a:t> vs. SQL</a:t>
            </a:r>
            <a:r>
              <a:rPr lang="zh-CN" altLang="en-US" dirty="0">
                <a:sym typeface="+mn-ea"/>
              </a:rPr>
              <a:t>语言</a:t>
            </a:r>
            <a:endParaRPr lang="zh-CN" altLang="en-US" dirty="0">
              <a:sym typeface="+mn-ea"/>
            </a:endParaRPr>
          </a:p>
        </p:txBody>
      </p:sp>
      <mc:AlternateContent xmlns:mc="http://schemas.openxmlformats.org/markup-compatibility/2006">
        <mc:Choice xmlns:a14="http://schemas.microsoft.com/office/drawing/2010/main" Requires="a14">
          <p:sp>
            <p:nvSpPr>
              <p:cNvPr id="30723" name="Rectangle 6"/>
              <p:cNvSpPr/>
              <p:nvPr/>
            </p:nvSpPr>
            <p:spPr>
              <a:xfrm>
                <a:off x="424180" y="1436370"/>
                <a:ext cx="11343640" cy="566420"/>
              </a:xfrm>
              <a:prstGeom prst="rect">
                <a:avLst/>
              </a:prstGeom>
              <a:noFill/>
              <a:ln w="9525">
                <a:noFill/>
              </a:ln>
            </p:spPr>
            <p:txBody>
              <a:bodyPr wrap="square" anchor="t">
                <a:noAutofit/>
              </a:bodyPr>
              <a:p>
                <a:pPr marL="742950" lvl="1" indent="-285750" algn="l" eaLnBrk="1" hangingPunct="1">
                  <a:lnSpc>
                    <a:spcPct val="110000"/>
                  </a:lnSpc>
                  <a:spcBef>
                    <a:spcPct val="20000"/>
                  </a:spcBef>
                  <a:buClr>
                    <a:srgbClr val="C00000"/>
                  </a:buClr>
                  <a:buSzPct val="85000"/>
                  <a:buFont typeface="Wingdings" panose="05000000000000000000" pitchFamily="2" charset="2"/>
                  <a:buChar char="Ø"/>
                </a:pPr>
                <a:r>
                  <a:rPr lang="zh-CN" altLang="en-US" sz="2800" b="1" dirty="0">
                    <a:solidFill>
                      <a:srgbClr val="1F2DA8"/>
                    </a:solidFill>
                    <a:highlight>
                      <a:srgbClr val="FFFF00"/>
                    </a:highlight>
                    <a:ea typeface="楷体" charset="-122"/>
                    <a:cs typeface="Times New Roman" panose="02020503050405090304" pitchFamily="2" charset="0"/>
                  </a:rPr>
                  <a:t>关系代数</a:t>
                </a:r>
                <a:r>
                  <a:rPr lang="zh-CN" altLang="en-US" sz="2800" b="1" dirty="0">
                    <a:solidFill>
                      <a:srgbClr val="1F2DA8"/>
                    </a:solidFill>
                    <a:ea typeface="楷体" charset="-122"/>
                    <a:cs typeface="Times New Roman" panose="02020503050405090304" pitchFamily="2" charset="0"/>
                  </a:rPr>
                  <a:t>：</a:t>
                </a:r>
                <a14:m>
                  <m:oMath xmlns:m="http://schemas.openxmlformats.org/officeDocument/2006/math">
                    <m:sSub>
                      <m:sSubPr>
                        <m:ctrlPr>
                          <a:rPr lang="zh-CN" altLang="en-US" sz="2800" b="1" i="1" dirty="0">
                            <a:solidFill>
                              <a:srgbClr val="C00000"/>
                            </a:solidFill>
                            <a:latin typeface="Cambria Math" panose="02040503050406030204" charset="0"/>
                            <a:ea typeface="楷体" charset="-122"/>
                            <a:cs typeface="Cambria Math" panose="02040503050406030204" charset="0"/>
                          </a:rPr>
                        </m:ctrlPr>
                      </m:sSubPr>
                      <m:e>
                        <m:r>
                          <a:rPr lang="en-US" altLang="zh-CN" sz="2800" b="1" i="1" dirty="0">
                            <a:solidFill>
                              <a:srgbClr val="C00000"/>
                            </a:solidFill>
                            <a:latin typeface="Cambria Math" panose="02040503050406030204" charset="0"/>
                            <a:ea typeface="楷体" charset="-122"/>
                            <a:cs typeface="Cambria Math" panose="02040503050406030204" charset="0"/>
                          </a:rPr>
                          <m:t>𝝅</m:t>
                        </m:r>
                      </m:e>
                      <m:sub>
                        <m:r>
                          <a:rPr lang="en-US" altLang="zh-CN" sz="2800" b="1" i="1" dirty="0">
                            <a:solidFill>
                              <a:srgbClr val="C00000"/>
                            </a:solidFill>
                            <a:latin typeface="Cambria Math" panose="02040503050406030204" charset="0"/>
                            <a:ea typeface="楷体" charset="-122"/>
                            <a:cs typeface="Cambria Math" panose="02040503050406030204" charset="0"/>
                          </a:rPr>
                          <m:t>𝑨</m:t>
                        </m:r>
                        <m:r>
                          <a:rPr lang="en-US" altLang="zh-CN" sz="2800" b="1" i="1" baseline="-25000" dirty="0">
                            <a:solidFill>
                              <a:srgbClr val="C00000"/>
                            </a:solidFill>
                            <a:latin typeface="Cambria Math" panose="02040503050406030204" charset="0"/>
                            <a:ea typeface="楷体" charset="-122"/>
                            <a:cs typeface="Cambria Math" panose="02040503050406030204" charset="0"/>
                          </a:rPr>
                          <m:t>𝟏</m:t>
                        </m:r>
                        <m:r>
                          <a:rPr lang="en-US" altLang="zh-CN" sz="2800" b="1" i="1" dirty="0">
                            <a:solidFill>
                              <a:srgbClr val="C00000"/>
                            </a:solidFill>
                            <a:latin typeface="Cambria Math" panose="02040503050406030204" charset="0"/>
                            <a:ea typeface="楷体" charset="-122"/>
                            <a:cs typeface="Cambria Math" panose="02040503050406030204" charset="0"/>
                          </a:rPr>
                          <m:t>, </m:t>
                        </m:r>
                        <m:r>
                          <a:rPr lang="en-US" altLang="zh-CN" sz="2800" b="1" i="1" dirty="0">
                            <a:solidFill>
                              <a:srgbClr val="C00000"/>
                            </a:solidFill>
                            <a:latin typeface="Cambria Math" panose="02040503050406030204" charset="0"/>
                            <a:ea typeface="楷体" charset="-122"/>
                            <a:cs typeface="Cambria Math" panose="02040503050406030204" charset="0"/>
                          </a:rPr>
                          <m:t>𝑨</m:t>
                        </m:r>
                        <m:r>
                          <a:rPr lang="en-US" altLang="zh-CN" sz="2800" b="1" i="1" baseline="-25000" dirty="0">
                            <a:solidFill>
                              <a:srgbClr val="C00000"/>
                            </a:solidFill>
                            <a:latin typeface="Cambria Math" panose="02040503050406030204" charset="0"/>
                            <a:ea typeface="楷体" charset="-122"/>
                            <a:cs typeface="Cambria Math" panose="02040503050406030204" charset="0"/>
                          </a:rPr>
                          <m:t>𝟐</m:t>
                        </m:r>
                        <m:r>
                          <a:rPr lang="en-US" altLang="zh-CN" sz="2800" b="1" i="1" dirty="0">
                            <a:solidFill>
                              <a:srgbClr val="C00000"/>
                            </a:solidFill>
                            <a:latin typeface="Cambria Math" panose="02040503050406030204" charset="0"/>
                            <a:ea typeface="楷体" charset="-122"/>
                            <a:cs typeface="Cambria Math" panose="02040503050406030204" charset="0"/>
                          </a:rPr>
                          <m:t>, ..., </m:t>
                        </m:r>
                        <m:r>
                          <a:rPr lang="en-US" altLang="zh-CN" sz="2800" b="1" i="1" dirty="0">
                            <a:solidFill>
                              <a:srgbClr val="C00000"/>
                            </a:solidFill>
                            <a:latin typeface="Cambria Math" panose="02040503050406030204" charset="0"/>
                            <a:ea typeface="楷体" charset="-122"/>
                            <a:cs typeface="Cambria Math" panose="02040503050406030204" charset="0"/>
                          </a:rPr>
                          <m:t>𝑨</m:t>
                        </m:r>
                        <m:r>
                          <a:rPr lang="en-US" altLang="zh-CN" sz="2800" b="1" i="1" baseline="-25000" dirty="0">
                            <a:solidFill>
                              <a:srgbClr val="C00000"/>
                            </a:solidFill>
                            <a:latin typeface="Cambria Math" panose="02040503050406030204" charset="0"/>
                            <a:ea typeface="楷体" charset="-122"/>
                            <a:cs typeface="Cambria Math" panose="02040503050406030204" charset="0"/>
                          </a:rPr>
                          <m:t>𝒎</m:t>
                        </m:r>
                        <m:r>
                          <a:rPr lang="en-US" altLang="zh-CN" sz="2800" b="1" i="1" dirty="0">
                            <a:solidFill>
                              <a:srgbClr val="C00000"/>
                            </a:solidFill>
                            <a:latin typeface="Cambria Math" panose="02040503050406030204" charset="0"/>
                            <a:ea typeface="楷体" charset="-122"/>
                            <a:cs typeface="Cambria Math" panose="02040503050406030204" charset="0"/>
                          </a:rPr>
                          <m:t> </m:t>
                        </m:r>
                      </m:sub>
                    </m:sSub>
                    <m:r>
                      <a:rPr lang="en-US" altLang="x-none" sz="2800" b="1" i="1" dirty="0">
                        <a:solidFill>
                          <a:srgbClr val="C00000"/>
                        </a:solidFill>
                        <a:latin typeface="Cambria Math" panose="02040503050406030204" charset="0"/>
                        <a:ea typeface="楷体" charset="-122"/>
                        <a:cs typeface="Cambria Math" panose="02040503050406030204" charset="0"/>
                      </a:rPr>
                      <m:t>(</m:t>
                    </m:r>
                    <m:r>
                      <a:rPr lang="en-US" altLang="x-none" sz="2800" b="1" i="1" baseline="-25000" dirty="0">
                        <a:solidFill>
                          <a:srgbClr val="C00000"/>
                        </a:solidFill>
                        <a:latin typeface="Cambria Math" panose="02040503050406030204" charset="0"/>
                        <a:ea typeface="楷体" charset="-122"/>
                        <a:cs typeface="Cambria Math" panose="02040503050406030204" charset="0"/>
                        <a:sym typeface="Symbol" panose="05050102010706020507" pitchFamily="18" charset="2"/>
                      </a:rPr>
                      <m:t> </m:t>
                    </m:r>
                    <m:r>
                      <a:rPr lang="en-US" altLang="zh-CN" sz="2800" b="1" i="1" dirty="0">
                        <a:solidFill>
                          <a:srgbClr val="C00000"/>
                        </a:solidFill>
                        <a:latin typeface="Cambria Math" panose="02040503050406030204" charset="0"/>
                        <a:ea typeface="楷体" charset="-122"/>
                        <a:cs typeface="Cambria Math" panose="02040503050406030204" charset="0"/>
                        <a:sym typeface="Symbol" panose="05050102010706020507" pitchFamily="18" charset="2"/>
                      </a:rPr>
                      <m:t>𝝈</m:t>
                    </m:r>
                    <m:r>
                      <a:rPr lang="en-US" altLang="x-none" sz="2800" b="1" i="1" baseline="-25000" dirty="0">
                        <a:solidFill>
                          <a:srgbClr val="C00000"/>
                        </a:solidFill>
                        <a:latin typeface="Cambria Math" panose="02040503050406030204" charset="0"/>
                        <a:ea typeface="楷体" charset="-122"/>
                        <a:cs typeface="Cambria Math" panose="02040503050406030204" charset="0"/>
                        <a:sym typeface="Symbol" panose="05050102010706020507" pitchFamily="18" charset="2"/>
                      </a:rPr>
                      <m:t>𝑭</m:t>
                    </m:r>
                    <m:r>
                      <a:rPr lang="en-US" altLang="x-none" sz="2800" b="1" i="1" baseline="-25000" dirty="0">
                        <a:solidFill>
                          <a:srgbClr val="C00000"/>
                        </a:solidFill>
                        <a:latin typeface="Cambria Math" panose="02040503050406030204" charset="0"/>
                        <a:ea typeface="楷体" charset="-122"/>
                        <a:cs typeface="Cambria Math" panose="02040503050406030204" charset="0"/>
                        <a:sym typeface="Symbol" panose="05050102010706020507" pitchFamily="18" charset="2"/>
                      </a:rPr>
                      <m:t> </m:t>
                    </m:r>
                    <m:r>
                      <a:rPr lang="en-US" altLang="x-none" sz="2800" b="1" i="1" dirty="0">
                        <a:solidFill>
                          <a:srgbClr val="C00000"/>
                        </a:solidFill>
                        <a:latin typeface="Cambria Math" panose="02040503050406030204" charset="0"/>
                        <a:ea typeface="楷体" charset="-122"/>
                        <a:cs typeface="Cambria Math" panose="02040503050406030204" charset="0"/>
                      </a:rPr>
                      <m:t>( </m:t>
                    </m:r>
                    <m:r>
                      <a:rPr lang="en-US" altLang="x-none" sz="2800" b="1" i="1" dirty="0">
                        <a:solidFill>
                          <a:srgbClr val="C00000"/>
                        </a:solidFill>
                        <a:latin typeface="Cambria Math" panose="02040503050406030204" charset="0"/>
                        <a:ea typeface="楷体" charset="-122"/>
                        <a:cs typeface="Cambria Math" panose="02040503050406030204" charset="0"/>
                      </a:rPr>
                      <m:t>𝑹</m:t>
                    </m:r>
                    <m:r>
                      <a:rPr lang="en-US" altLang="x-none" sz="2800" b="1" i="1" baseline="-25000" dirty="0">
                        <a:solidFill>
                          <a:srgbClr val="C00000"/>
                        </a:solidFill>
                        <a:latin typeface="Cambria Math" panose="02040503050406030204" charset="0"/>
                        <a:ea typeface="楷体" charset="-122"/>
                        <a:cs typeface="Cambria Math" panose="02040503050406030204" charset="0"/>
                      </a:rPr>
                      <m:t> </m:t>
                    </m:r>
                    <m:r>
                      <a:rPr lang="en-US" altLang="x-none" sz="2800" b="1" i="1" dirty="0">
                        <a:solidFill>
                          <a:srgbClr val="C00000"/>
                        </a:solidFill>
                        <a:latin typeface="Cambria Math" panose="02040503050406030204" charset="0"/>
                        <a:ea typeface="MS Mincho" charset="0"/>
                        <a:cs typeface="Cambria Math" panose="02040503050406030204" charset="0"/>
                      </a:rPr>
                      <m:t>) )</m:t>
                    </m:r>
                  </m:oMath>
                </a14:m>
                <a:endParaRPr lang="en-US" altLang="x-none" sz="2800" b="1" i="1" dirty="0">
                  <a:solidFill>
                    <a:srgbClr val="C00000"/>
                  </a:solidFill>
                  <a:latin typeface="Cambria Math" panose="02040503050406030204" charset="0"/>
                  <a:ea typeface="MS Mincho" charset="0"/>
                  <a:cs typeface="Cambria Math" panose="02040503050406030204" charset="0"/>
                  <a:sym typeface="Symbol" panose="05050102010706020507" pitchFamily="18" charset="2"/>
                </a:endParaRPr>
              </a:p>
            </p:txBody>
          </p:sp>
        </mc:Choice>
        <mc:Fallback>
          <p:sp>
            <p:nvSpPr>
              <p:cNvPr id="30723" name="Rectangle 6"/>
              <p:cNvSpPr>
                <a:spLocks noRot="1" noChangeAspect="1" noMove="1" noResize="1" noEditPoints="1" noAdjustHandles="1" noChangeArrowheads="1" noChangeShapeType="1" noTextEdit="1"/>
              </p:cNvSpPr>
              <p:nvPr/>
            </p:nvSpPr>
            <p:spPr>
              <a:xfrm>
                <a:off x="424180" y="1436370"/>
                <a:ext cx="11343640" cy="566420"/>
              </a:xfrm>
              <a:prstGeom prst="rect">
                <a:avLst/>
              </a:prstGeom>
              <a:blipFill rotWithShape="1">
                <a:blip r:embed="rId1"/>
                <a:stretch>
                  <a:fillRect b="-5717"/>
                </a:stretch>
              </a:blipFill>
              <a:ln w="9525">
                <a:noFill/>
              </a:ln>
            </p:spPr>
            <p:txBody>
              <a:bodyPr/>
              <a:lstStyle/>
              <a:p>
                <a:r>
                  <a:rPr lang="zh-CN" altLang="en-US">
                    <a:noFill/>
                  </a:rPr>
                  <a:t> </a:t>
                </a:r>
              </a:p>
            </p:txBody>
          </p:sp>
        </mc:Fallback>
      </mc:AlternateContent>
      <p:sp>
        <p:nvSpPr>
          <p:cNvPr id="30725" name="Rectangle 5"/>
          <p:cNvSpPr>
            <a:spLocks noGrp="1"/>
          </p:cNvSpPr>
          <p:nvPr>
            <p:ph idx="1"/>
          </p:nvPr>
        </p:nvSpPr>
        <p:spPr>
          <a:xfrm>
            <a:off x="424180" y="687070"/>
            <a:ext cx="11343005" cy="553085"/>
          </a:xfrm>
          <a:solidFill>
            <a:schemeClr val="accent1">
              <a:lumMod val="20000"/>
              <a:lumOff val="80000"/>
              <a:alpha val="50000"/>
            </a:schemeClr>
          </a:solidFill>
        </p:spPr>
        <p:txBody>
          <a:bodyPr wrap="square" anchor="t">
            <a:noAutofit/>
          </a:bodyPr>
          <a:p>
            <a:pPr eaLnBrk="1" hangingPunct="1">
              <a:lnSpc>
                <a:spcPct val="100000"/>
              </a:lnSpc>
            </a:pPr>
            <a:r>
              <a:rPr lang="zh-CN" altLang="en-US" dirty="0"/>
              <a:t>单个关系上的 </a:t>
            </a:r>
            <a:r>
              <a:rPr lang="zh-CN" altLang="en-US" dirty="0">
                <a:solidFill>
                  <a:srgbClr val="FF0000"/>
                </a:solidFill>
              </a:rPr>
              <a:t>选择</a:t>
            </a:r>
            <a:r>
              <a:rPr lang="zh-CN" altLang="en-US" dirty="0"/>
              <a:t> 和 </a:t>
            </a:r>
            <a:r>
              <a:rPr lang="zh-CN" altLang="en-US" dirty="0">
                <a:solidFill>
                  <a:srgbClr val="FF0000"/>
                </a:solidFill>
              </a:rPr>
              <a:t>投影</a:t>
            </a:r>
            <a:endParaRPr lang="zh-CN" altLang="en-US" dirty="0">
              <a:solidFill>
                <a:srgbClr val="FF0000"/>
              </a:solidFill>
            </a:endParaRPr>
          </a:p>
        </p:txBody>
      </p:sp>
      <mc:AlternateContent xmlns:mc="http://schemas.openxmlformats.org/markup-compatibility/2006">
        <mc:Choice xmlns:a14="http://schemas.microsoft.com/office/drawing/2010/main" Requires="a14">
          <p:sp>
            <p:nvSpPr>
              <p:cNvPr id="10" name="文本框 9"/>
              <p:cNvSpPr txBox="1">
                <a:spLocks noChangeAspect="1"/>
              </p:cNvSpPr>
              <p:nvPr/>
            </p:nvSpPr>
            <p:spPr>
              <a:xfrm>
                <a:off x="1738630" y="2153285"/>
                <a:ext cx="8564880" cy="555625"/>
              </a:xfrm>
              <a:prstGeom prst="rect">
                <a:avLst/>
              </a:prstGeom>
              <a:noFill/>
            </p:spPr>
            <p:txBody>
              <a:bodyPr wrap="square" rtlCol="0" anchor="t">
                <a:noAutofit/>
              </a:bodyPr>
              <a:p>
                <a:pPr algn="l"/>
                <a14:m>
                  <m:oMathPara xmlns:m="http://schemas.openxmlformats.org/officeDocument/2006/math">
                    <m:oMathParaPr>
                      <m:jc m:val="left"/>
                    </m:oMathParaPr>
                    <m:oMath xmlns:m="http://schemas.openxmlformats.org/officeDocument/2006/math">
                      <m:r>
                        <a:rPr lang="zh-CN" altLang="en-US" sz="2800" b="1" dirty="0">
                          <a:solidFill>
                            <a:srgbClr val="1F2DA8"/>
                          </a:solidFill>
                          <a:latin typeface="Cambria Math" panose="02040503050406030204" charset="0"/>
                          <a:ea typeface="楷体" charset="-122"/>
                          <a:cs typeface="Times New Roman" panose="02020503050405090304" pitchFamily="2" charset="0"/>
                        </a:rPr>
                        <m:t>其中</m:t>
                      </m:r>
                      <m:r>
                        <a:rPr lang="en-US" altLang="zh-CN" sz="2800" b="1" i="1">
                          <a:solidFill>
                            <a:srgbClr val="1F2DA8"/>
                          </a:solidFill>
                          <a:latin typeface="Cambria Math" panose="02040503050406030204" charset="0"/>
                          <a:ea typeface="MS Mincho" charset="0"/>
                          <a:cs typeface="Cambria Math" panose="02040503050406030204" charset="0"/>
                        </a:rPr>
                        <m:t>  </m:t>
                      </m:r>
                      <m:r>
                        <a:rPr lang="en-US" altLang="zh-CN" sz="2800" b="1" i="1">
                          <a:solidFill>
                            <a:srgbClr val="1F2DA8"/>
                          </a:solidFill>
                          <a:latin typeface="Cambria Math" panose="02040503050406030204" charset="0"/>
                          <a:ea typeface="楷体" charset="-122"/>
                          <a:cs typeface="Cambria Math" panose="02040503050406030204" charset="0"/>
                        </a:rPr>
                        <m:t>𝑨</m:t>
                      </m:r>
                      <m:r>
                        <a:rPr lang="en-US" altLang="zh-CN" sz="2800" b="1" i="1" baseline="-25000">
                          <a:solidFill>
                            <a:srgbClr val="1F2DA8"/>
                          </a:solidFill>
                          <a:latin typeface="Cambria Math" panose="02040503050406030204" charset="0"/>
                          <a:ea typeface="楷体" charset="-122"/>
                          <a:cs typeface="Cambria Math" panose="02040503050406030204" charset="0"/>
                        </a:rPr>
                        <m:t>𝒊</m:t>
                      </m:r>
                      <m:r>
                        <a:rPr lang="en-US" altLang="zh-CN" sz="2800" b="1" i="1">
                          <a:solidFill>
                            <a:srgbClr val="1F2DA8"/>
                          </a:solidFill>
                          <a:latin typeface="Cambria Math" panose="02040503050406030204" charset="0"/>
                          <a:ea typeface="MS Mincho" charset="0"/>
                          <a:cs typeface="Cambria Math" panose="02040503050406030204" charset="0"/>
                        </a:rPr>
                        <m:t>∈</m:t>
                      </m:r>
                      <m:r>
                        <a:rPr lang="en-US" altLang="zh-CN" sz="2800" b="1" i="1">
                          <a:solidFill>
                            <a:srgbClr val="1F2DA8"/>
                          </a:solidFill>
                          <a:latin typeface="Cambria Math" panose="02040503050406030204" charset="0"/>
                          <a:ea typeface="楷体" charset="-122"/>
                          <a:cs typeface="Cambria Math" panose="02040503050406030204" charset="0"/>
                        </a:rPr>
                        <m:t>𝒉𝒆𝒂𝒅</m:t>
                      </m:r>
                      <m:r>
                        <a:rPr lang="en-US" altLang="zh-CN" sz="2800" b="1" i="1">
                          <a:solidFill>
                            <a:srgbClr val="1F2DA8"/>
                          </a:solidFill>
                          <a:latin typeface="Cambria Math" panose="02040503050406030204" charset="0"/>
                          <a:ea typeface="MS Mincho" charset="0"/>
                          <a:cs typeface="Cambria Math" panose="02040503050406030204" charset="0"/>
                        </a:rPr>
                        <m:t>(</m:t>
                      </m:r>
                      <m:r>
                        <a:rPr lang="en-US" altLang="zh-CN" sz="2800" b="1" i="1">
                          <a:solidFill>
                            <a:srgbClr val="1F2DA8"/>
                          </a:solidFill>
                          <a:latin typeface="Cambria Math" panose="02040503050406030204" charset="0"/>
                          <a:ea typeface="楷体" charset="-122"/>
                          <a:cs typeface="Cambria Math" panose="02040503050406030204" charset="0"/>
                        </a:rPr>
                        <m:t>𝑹</m:t>
                      </m:r>
                      <m:r>
                        <a:rPr lang="en-US" altLang="zh-CN" sz="2800" b="1" i="1">
                          <a:solidFill>
                            <a:srgbClr val="1F2DA8"/>
                          </a:solidFill>
                          <a:latin typeface="Cambria Math" panose="02040503050406030204" charset="0"/>
                          <a:ea typeface="MS Mincho" charset="0"/>
                          <a:cs typeface="Cambria Math" panose="02040503050406030204" charset="0"/>
                        </a:rPr>
                        <m:t>) </m:t>
                      </m:r>
                      <m:r>
                        <a:rPr lang="en-US" altLang="zh-CN" sz="2800" b="1" i="1">
                          <a:solidFill>
                            <a:srgbClr val="1F2DA8"/>
                          </a:solidFill>
                          <a:latin typeface="Cambria Math" panose="02040503050406030204" charset="0"/>
                          <a:ea typeface="楷体" charset="-122"/>
                          <a:cs typeface="Cambria Math" panose="02040503050406030204" charset="0"/>
                        </a:rPr>
                        <m:t>𝒇𝒐𝒓</m:t>
                      </m:r>
                      <m:r>
                        <a:rPr lang="en-US" altLang="zh-CN" sz="2800" b="1" i="1">
                          <a:solidFill>
                            <a:srgbClr val="1F2DA8"/>
                          </a:solidFill>
                          <a:latin typeface="Cambria Math" panose="02040503050406030204" charset="0"/>
                          <a:ea typeface="MS Mincho" charset="0"/>
                          <a:cs typeface="Cambria Math" panose="02040503050406030204" charset="0"/>
                        </a:rPr>
                        <m:t> </m:t>
                      </m:r>
                      <m:r>
                        <a:rPr lang="en-US" altLang="zh-CN" sz="2800" b="1" i="1">
                          <a:solidFill>
                            <a:srgbClr val="1F2DA8"/>
                          </a:solidFill>
                          <a:latin typeface="Cambria Math" panose="02040503050406030204" charset="0"/>
                          <a:ea typeface="楷体" charset="-122"/>
                          <a:cs typeface="Cambria Math" panose="02040503050406030204" charset="0"/>
                        </a:rPr>
                        <m:t>𝒊</m:t>
                      </m:r>
                      <m:r>
                        <a:rPr lang="en-US" altLang="zh-CN" sz="2800" b="1" i="1">
                          <a:solidFill>
                            <a:srgbClr val="1F2DA8"/>
                          </a:solidFill>
                          <a:latin typeface="Cambria Math" panose="02040503050406030204" charset="0"/>
                          <a:ea typeface="MS Mincho" charset="0"/>
                          <a:cs typeface="Cambria Math" panose="02040503050406030204" charset="0"/>
                        </a:rPr>
                        <m:t>=</m:t>
                      </m:r>
                      <m:r>
                        <a:rPr lang="en-US" altLang="zh-CN" sz="2800" b="1" i="1">
                          <a:solidFill>
                            <a:srgbClr val="1F2DA8"/>
                          </a:solidFill>
                          <a:latin typeface="Cambria Math" panose="02040503050406030204" charset="0"/>
                          <a:ea typeface="楷体" charset="-122"/>
                          <a:cs typeface="Cambria Math" panose="02040503050406030204" charset="0"/>
                        </a:rPr>
                        <m:t>𝟏</m:t>
                      </m:r>
                      <m:r>
                        <a:rPr lang="en-US" altLang="zh-CN" sz="2800" b="1" i="1">
                          <a:solidFill>
                            <a:srgbClr val="1F2DA8"/>
                          </a:solidFill>
                          <a:latin typeface="Cambria Math" panose="02040503050406030204" charset="0"/>
                          <a:ea typeface="MS Mincho" charset="0"/>
                          <a:cs typeface="Cambria Math" panose="02040503050406030204" charset="0"/>
                        </a:rPr>
                        <m:t>,</m:t>
                      </m:r>
                      <m:r>
                        <a:rPr lang="en-US" altLang="zh-CN" sz="2800" b="1" i="1">
                          <a:solidFill>
                            <a:srgbClr val="1F2DA8"/>
                          </a:solidFill>
                          <a:latin typeface="Cambria Math" panose="02040503050406030204" charset="0"/>
                          <a:ea typeface="楷体" charset="-122"/>
                          <a:cs typeface="Cambria Math" panose="02040503050406030204" charset="0"/>
                        </a:rPr>
                        <m:t>𝟐</m:t>
                      </m:r>
                      <m:r>
                        <a:rPr lang="en-US" altLang="zh-CN" sz="2800" b="1" i="1">
                          <a:solidFill>
                            <a:srgbClr val="1F2DA8"/>
                          </a:solidFill>
                          <a:latin typeface="Cambria Math" panose="02040503050406030204" charset="0"/>
                          <a:ea typeface="MS Mincho" charset="0"/>
                          <a:cs typeface="Cambria Math" panose="02040503050406030204" charset="0"/>
                        </a:rPr>
                        <m:t>,⋯,</m:t>
                      </m:r>
                      <m:r>
                        <a:rPr lang="en-US" altLang="zh-CN" sz="2800" b="1" i="1">
                          <a:solidFill>
                            <a:srgbClr val="1F2DA8"/>
                          </a:solidFill>
                          <a:latin typeface="Cambria Math" panose="02040503050406030204" charset="0"/>
                          <a:ea typeface="楷体" charset="-122"/>
                          <a:cs typeface="Cambria Math" panose="02040503050406030204" charset="0"/>
                        </a:rPr>
                        <m:t>𝒎</m:t>
                      </m:r>
                    </m:oMath>
                  </m:oMathPara>
                </a14:m>
                <a:endParaRPr lang="en-US" altLang="zh-CN" sz="2800" b="1" i="1">
                  <a:solidFill>
                    <a:srgbClr val="1F2DA8"/>
                  </a:solidFill>
                  <a:latin typeface="Cambria Math" panose="02040503050406030204" charset="0"/>
                  <a:ea typeface="楷体" charset="-122"/>
                  <a:cs typeface="Cambria Math" panose="0204050305040603020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738630" y="2153285"/>
                <a:ext cx="8564880" cy="555625"/>
              </a:xfrm>
              <a:prstGeom prst="rect">
                <a:avLst/>
              </a:prstGeom>
              <a:blipFill rotWithShape="1">
                <a:blip r:embed="rId2"/>
                <a:stretch>
                  <a:fillRect b="-457"/>
                </a:stretch>
              </a:blipFill>
            </p:spPr>
            <p:txBody>
              <a:bodyPr/>
              <a:lstStyle/>
              <a:p>
                <a:r>
                  <a:rPr lang="zh-CN" altLang="en-US">
                    <a:noFill/>
                  </a:rPr>
                  <a:t> </a:t>
                </a:r>
              </a:p>
            </p:txBody>
          </p:sp>
        </mc:Fallback>
      </mc:AlternateContent>
      <p:grpSp>
        <p:nvGrpSpPr>
          <p:cNvPr id="4" name="组合 3"/>
          <p:cNvGrpSpPr/>
          <p:nvPr/>
        </p:nvGrpSpPr>
        <p:grpSpPr>
          <a:xfrm>
            <a:off x="424180" y="3315970"/>
            <a:ext cx="10587355" cy="2164080"/>
            <a:chOff x="454" y="5084"/>
            <a:chExt cx="16673" cy="3408"/>
          </a:xfrm>
        </p:grpSpPr>
        <p:sp>
          <p:nvSpPr>
            <p:cNvPr id="30726" name="Rectangle 7"/>
            <p:cNvSpPr/>
            <p:nvPr/>
          </p:nvSpPr>
          <p:spPr>
            <a:xfrm>
              <a:off x="454" y="5084"/>
              <a:ext cx="13443" cy="890"/>
            </a:xfrm>
            <a:prstGeom prst="rect">
              <a:avLst/>
            </a:prstGeom>
            <a:noFill/>
            <a:ln w="9525">
              <a:noFill/>
            </a:ln>
          </p:spPr>
          <p:txBody>
            <a:bodyPr wrap="square" anchor="t">
              <a:noAutofit/>
            </a:bodyPr>
            <a:p>
              <a:pPr marL="742950" lvl="1" indent="-285750" algn="l" eaLnBrk="1" hangingPunct="1">
                <a:lnSpc>
                  <a:spcPct val="110000"/>
                </a:lnSpc>
                <a:spcBef>
                  <a:spcPct val="20000"/>
                </a:spcBef>
                <a:buClr>
                  <a:srgbClr val="C00000"/>
                </a:buClr>
                <a:buSzPct val="85000"/>
                <a:buFont typeface="Wingdings" panose="05000000000000000000" pitchFamily="2" charset="2"/>
                <a:buChar char="Ø"/>
              </a:pPr>
              <a:r>
                <a:rPr lang="en-US" altLang="x-none" sz="2800" b="1" dirty="0">
                  <a:solidFill>
                    <a:srgbClr val="1F2DA8"/>
                  </a:solidFill>
                  <a:highlight>
                    <a:srgbClr val="FFFF00"/>
                  </a:highlight>
                  <a:latin typeface="+mn-lt"/>
                  <a:ea typeface="楷体" charset="-122"/>
                  <a:cs typeface="+mn-lt"/>
                  <a:sym typeface="Symbol" panose="05050102010706020507" pitchFamily="18" charset="2"/>
                </a:rPr>
                <a:t>SQL</a:t>
              </a:r>
              <a:r>
                <a:rPr lang="zh-CN" altLang="en-US" sz="2800" b="1" dirty="0">
                  <a:solidFill>
                    <a:srgbClr val="1F2DA8"/>
                  </a:solidFill>
                  <a:highlight>
                    <a:srgbClr val="FFFF00"/>
                  </a:highlight>
                  <a:latin typeface="+mn-lt"/>
                  <a:ea typeface="楷体" charset="-122"/>
                  <a:cs typeface="+mn-lt"/>
                  <a:sym typeface="Symbol" panose="05050102010706020507" pitchFamily="18" charset="2"/>
                </a:rPr>
                <a:t>语言</a:t>
              </a:r>
              <a:r>
                <a:rPr lang="zh-CN" altLang="en-US" sz="2800" b="1" dirty="0">
                  <a:solidFill>
                    <a:srgbClr val="1F2DA8"/>
                  </a:solidFill>
                  <a:latin typeface="+mn-lt"/>
                  <a:ea typeface="楷体" charset="-122"/>
                  <a:cs typeface="+mn-lt"/>
                  <a:sym typeface="Symbol" panose="05050102010706020507" pitchFamily="18" charset="2"/>
                </a:rPr>
                <a:t>：</a:t>
              </a:r>
              <a:endParaRPr lang="zh-CN" altLang="en-US" sz="2800" b="1" dirty="0">
                <a:solidFill>
                  <a:srgbClr val="1F2DA8"/>
                </a:solidFill>
                <a:latin typeface="+mn-lt"/>
                <a:ea typeface="楷体" charset="-122"/>
                <a:cs typeface="+mn-lt"/>
                <a:sym typeface="Symbol" panose="05050102010706020507" pitchFamily="18" charset="2"/>
              </a:endParaRPr>
            </a:p>
          </p:txBody>
        </p:sp>
        <mc:AlternateContent xmlns:mc="http://schemas.openxmlformats.org/markup-compatibility/2006">
          <mc:Choice xmlns:a14="http://schemas.microsoft.com/office/drawing/2010/main" Requires="a14">
            <p:sp>
              <p:nvSpPr>
                <p:cNvPr id="2" name="Rectangle 7"/>
                <p:cNvSpPr/>
                <p:nvPr/>
              </p:nvSpPr>
              <p:spPr>
                <a:xfrm>
                  <a:off x="1761" y="6110"/>
                  <a:ext cx="15366" cy="2382"/>
                </a:xfrm>
                <a:prstGeom prst="rect">
                  <a:avLst/>
                </a:prstGeom>
                <a:noFill/>
                <a:ln w="9525">
                  <a:solidFill>
                    <a:schemeClr val="accent1"/>
                  </a:solidFill>
                </a:ln>
              </p:spPr>
              <p:txBody>
                <a:bodyPr wrap="square" anchor="t">
                  <a:noAutofit/>
                </a:bodyPr>
                <a:p>
                  <a:pPr marL="1600200" lvl="3" indent="-228600" algn="l" eaLnBrk="1" hangingPunct="1">
                    <a:lnSpc>
                      <a:spcPct val="110000"/>
                    </a:lnSpc>
                    <a:spcBef>
                      <a:spcPct val="20000"/>
                    </a:spcBef>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𝑺𝑬𝑳𝑬𝑪𝑻</m:t>
                        </m:r>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   </m:t>
                        </m:r>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𝑨</m:t>
                        </m:r>
                        <m:r>
                          <a:rPr lang="en-US" altLang="x-none" sz="2800" b="1" i="1" baseline="-25000"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𝟏</m:t>
                        </m:r>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 </m:t>
                        </m:r>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𝑨</m:t>
                        </m:r>
                        <m:r>
                          <a:rPr lang="en-US" altLang="x-none" sz="2800" b="1" i="1" baseline="-25000"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𝟐</m:t>
                        </m:r>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 ..., </m:t>
                        </m:r>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𝑨</m:t>
                        </m:r>
                        <m:r>
                          <a:rPr lang="en-US" altLang="x-none" sz="2800" b="1" i="1" baseline="-25000"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𝒎</m:t>
                        </m:r>
                      </m:oMath>
                    </m:oMathPara>
                  </a14:m>
                  <a:endParaRPr lang="en-US" altLang="x-none" sz="2800" b="1" i="1" dirty="0">
                    <a:solidFill>
                      <a:srgbClr val="FF0000"/>
                    </a:solidFill>
                    <a:latin typeface="+mn-lt"/>
                    <a:ea typeface="楷体" charset="-122"/>
                    <a:cs typeface="+mn-lt"/>
                    <a:sym typeface="Symbol" panose="05050102010706020507" pitchFamily="18" charset="2"/>
                  </a:endParaRPr>
                </a:p>
                <a:p>
                  <a:pPr marL="1600200" lvl="3" indent="-228600" algn="l" eaLnBrk="1" hangingPunct="1">
                    <a:lnSpc>
                      <a:spcPct val="110000"/>
                    </a:lnSpc>
                    <a:spcBef>
                      <a:spcPct val="20000"/>
                    </a:spcBef>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𝑭𝑹𝑶𝑴</m:t>
                        </m:r>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      </m:t>
                        </m:r>
                        <m:r>
                          <a:rPr lang="en-US" altLang="x-none" sz="2800" b="1" i="1" dirty="0">
                            <a:solidFill>
                              <a:srgbClr val="FF0000"/>
                            </a:solidFill>
                            <a:latin typeface="Cambria Math" panose="02040503050406030204" charset="0"/>
                            <a:ea typeface="楷体" charset="-122"/>
                            <a:cs typeface="Cambria Math" panose="02040503050406030204" charset="0"/>
                          </a:rPr>
                          <m:t>𝑹</m:t>
                        </m:r>
                      </m:oMath>
                    </m:oMathPara>
                  </a14:m>
                  <a:endParaRPr lang="en-US" altLang="x-none" sz="2800" b="1" i="1" baseline="-25000" dirty="0">
                    <a:solidFill>
                      <a:srgbClr val="FF0000"/>
                    </a:solidFill>
                    <a:latin typeface="+mn-lt"/>
                    <a:ea typeface="楷体" charset="-122"/>
                    <a:cs typeface="+mn-lt"/>
                    <a:sym typeface="Symbol" panose="05050102010706020507" pitchFamily="18" charset="2"/>
                  </a:endParaRPr>
                </a:p>
                <a:p>
                  <a:pPr marL="1600200" lvl="3" indent="-228600" algn="l" eaLnBrk="1" hangingPunct="1">
                    <a:lnSpc>
                      <a:spcPct val="110000"/>
                    </a:lnSpc>
                    <a:spcBef>
                      <a:spcPct val="20000"/>
                    </a:spcBef>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𝑾𝑯𝑬𝑹𝑬</m:t>
                        </m:r>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   </m:t>
                        </m:r>
                        <m:r>
                          <a:rPr lang="en-US" altLang="x-none" sz="2800" b="1" i="1" dirty="0">
                            <a:solidFill>
                              <a:srgbClr val="FF0000"/>
                            </a:solidFill>
                            <a:latin typeface="Cambria Math" panose="02040503050406030204" charset="0"/>
                            <a:ea typeface="楷体" charset="-122"/>
                            <a:cs typeface="Cambria Math" panose="02040503050406030204" charset="0"/>
                            <a:sym typeface="Symbol" panose="05050102010706020507" pitchFamily="18" charset="2"/>
                          </a:rPr>
                          <m:t>𝑭</m:t>
                        </m:r>
                      </m:oMath>
                    </m:oMathPara>
                  </a14:m>
                  <a:endParaRPr lang="en-US" altLang="x-none" sz="2800" b="1" i="1" dirty="0">
                    <a:solidFill>
                      <a:srgbClr val="FF0000"/>
                    </a:solidFill>
                    <a:latin typeface="+mn-lt"/>
                    <a:ea typeface="楷体" charset="-122"/>
                    <a:cs typeface="+mn-lt"/>
                    <a:sym typeface="Symbol" panose="05050102010706020507" pitchFamily="18" charset="2"/>
                  </a:endParaRPr>
                </a:p>
              </p:txBody>
            </p:sp>
          </mc:Choice>
          <mc:Fallback>
            <p:sp>
              <p:nvSpPr>
                <p:cNvPr id="2" name="Rectangle 7"/>
                <p:cNvSpPr>
                  <a:spLocks noRot="1" noChangeAspect="1" noMove="1" noResize="1" noEditPoints="1" noAdjustHandles="1" noChangeArrowheads="1" noChangeShapeType="1" noTextEdit="1"/>
                </p:cNvSpPr>
                <p:nvPr/>
              </p:nvSpPr>
              <p:spPr>
                <a:xfrm>
                  <a:off x="1761" y="6110"/>
                  <a:ext cx="15366" cy="2382"/>
                </a:xfrm>
                <a:prstGeom prst="rect">
                  <a:avLst/>
                </a:prstGeom>
                <a:blipFill rotWithShape="1">
                  <a:blip r:embed="rId3"/>
                </a:blipFill>
                <a:ln w="9525">
                  <a:solidFill>
                    <a:schemeClr val="accent1"/>
                  </a:solidFill>
                </a:ln>
              </p:spPr>
              <p:txBody>
                <a:bodyPr/>
                <a:lstStyle/>
                <a:p>
                  <a:r>
                    <a:rPr lang="zh-CN" altLang="en-US">
                      <a:noFill/>
                    </a:rPr>
                    <a:t> </a:t>
                  </a:r>
                </a:p>
              </p:txBody>
            </p:sp>
          </mc:Fallback>
        </mc:AlternateContent>
      </p:gr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dirty="0">
                <a:sym typeface="+mn-ea"/>
              </a:rPr>
              <a:t>关系数据查询：关系代数</a:t>
            </a:r>
            <a:r>
              <a:rPr lang="en-US" altLang="zh-CN" dirty="0">
                <a:sym typeface="+mn-ea"/>
              </a:rPr>
              <a:t> vs. SQL</a:t>
            </a:r>
            <a:r>
              <a:rPr lang="zh-CN" altLang="en-US" dirty="0">
                <a:sym typeface="+mn-ea"/>
              </a:rPr>
              <a:t>语言</a:t>
            </a:r>
            <a:endParaRPr lang="zh-CN" altLang="en-US"/>
          </a:p>
        </p:txBody>
      </p:sp>
      <mc:AlternateContent xmlns:mc="http://schemas.openxmlformats.org/markup-compatibility/2006">
        <mc:Choice xmlns:a14="http://schemas.microsoft.com/office/drawing/2010/main" Requires="a14">
          <p:sp>
            <p:nvSpPr>
              <p:cNvPr id="31747" name="Rectangle 5"/>
              <p:cNvSpPr>
                <a:spLocks noGrp="1"/>
              </p:cNvSpPr>
              <p:nvPr>
                <p:ph idx="1"/>
              </p:nvPr>
            </p:nvSpPr>
            <p:spPr>
              <a:xfrm>
                <a:off x="424180" y="687070"/>
                <a:ext cx="11343005" cy="2494915"/>
              </a:xfrm>
            </p:spPr>
            <p:txBody>
              <a:bodyPr wrap="square" anchor="t">
                <a:noAutofit/>
              </a:bodyPr>
              <a:p>
                <a:pPr eaLnBrk="1" hangingPunct="1"/>
                <a:r>
                  <a:rPr lang="zh-CN" altLang="en-US" dirty="0">
                    <a:sym typeface="+mn-ea"/>
                  </a:rPr>
                  <a:t>两个关系的</a:t>
                </a:r>
                <a:r>
                  <a:rPr lang="zh-CN" altLang="en-US" dirty="0">
                    <a:solidFill>
                      <a:srgbClr val="FF0000"/>
                    </a:solidFill>
                    <a:sym typeface="+mn-ea"/>
                  </a:rPr>
                  <a:t>迪卡尔积</a:t>
                </a:r>
                <a:endParaRPr lang="zh-CN" altLang="en-US" dirty="0">
                  <a:sym typeface="+mn-ea"/>
                </a:endParaRPr>
              </a:p>
              <a:p>
                <a:pPr marL="457200" lvl="1" indent="0" eaLnBrk="1" hangingPunct="1">
                  <a:buNone/>
                </a:pPr>
                <a:endParaRPr lang="zh-CN" altLang="en-US" dirty="0"/>
              </a:p>
              <a:p>
                <a:pPr marL="457200" lvl="1" indent="0" eaLnBrk="1" hangingPunct="1">
                  <a:buNone/>
                </a:pPr>
                <a:r>
                  <a:rPr lang="zh-CN" altLang="en-US" dirty="0"/>
                  <a:t>假设</a:t>
                </a:r>
                <a:r>
                  <a:rPr lang="en-US" altLang="x-none" dirty="0"/>
                  <a:t>: </a:t>
                </a:r>
                <a14:m>
                  <m:oMath xmlns:m="http://schemas.openxmlformats.org/officeDocument/2006/math">
                    <m:r>
                      <a:rPr lang="en-US" altLang="x-none" i="1" dirty="0">
                        <a:solidFill>
                          <a:srgbClr val="1F2DA8"/>
                        </a:solidFill>
                        <a:latin typeface="Cambria Math" panose="02040503050406030204" charset="0"/>
                        <a:cs typeface="Cambria Math" panose="02040503050406030204" charset="0"/>
                      </a:rPr>
                      <m:t>𝐻𝑒𝑎𝑑</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𝑅</m:t>
                    </m:r>
                    <m:r>
                      <a:rPr lang="en-US" altLang="x-none" i="1" dirty="0">
                        <a:solidFill>
                          <a:srgbClr val="1F2DA8"/>
                        </a:solidFill>
                        <a:latin typeface="Cambria Math" panose="02040503050406030204" charset="0"/>
                        <a:cs typeface="Cambria Math" panose="02040503050406030204" charset="0"/>
                      </a:rPr>
                      <m:t>) = { </m:t>
                    </m:r>
                    <m:r>
                      <a:rPr lang="en-US" altLang="x-none" i="1" dirty="0">
                        <a:solidFill>
                          <a:srgbClr val="1F2DA8"/>
                        </a:solidFill>
                        <a:latin typeface="Cambria Math" panose="02040503050406030204" charset="0"/>
                        <a:cs typeface="Cambria Math" panose="02040503050406030204" charset="0"/>
                      </a:rPr>
                      <m:t>𝐴</m:t>
                    </m:r>
                    <m:r>
                      <a:rPr lang="en-US" altLang="x-none" i="1" baseline="-25000" dirty="0">
                        <a:solidFill>
                          <a:srgbClr val="1F2DA8"/>
                        </a:solidFill>
                        <a:latin typeface="Cambria Math" panose="02040503050406030204" charset="0"/>
                        <a:cs typeface="Cambria Math" panose="02040503050406030204" charset="0"/>
                      </a:rPr>
                      <m:t>1</m:t>
                    </m:r>
                    <m:r>
                      <a:rPr lang="en-US" altLang="x-none" i="1" dirty="0">
                        <a:solidFill>
                          <a:srgbClr val="1F2DA8"/>
                        </a:solidFill>
                        <a:latin typeface="Cambria Math" panose="02040503050406030204" charset="0"/>
                        <a:cs typeface="Cambria Math" panose="02040503050406030204" charset="0"/>
                      </a:rPr>
                      <m:t>, …, </m:t>
                    </m:r>
                    <m:r>
                      <a:rPr lang="en-US" altLang="x-none" i="1" dirty="0">
                        <a:solidFill>
                          <a:srgbClr val="1F2DA8"/>
                        </a:solidFill>
                        <a:latin typeface="Cambria Math" panose="02040503050406030204" charset="0"/>
                        <a:cs typeface="Cambria Math" panose="02040503050406030204" charset="0"/>
                      </a:rPr>
                      <m:t>𝐴</m:t>
                    </m:r>
                    <m:r>
                      <a:rPr lang="en-US" altLang="x-none" i="1" baseline="-25000" dirty="0">
                        <a:solidFill>
                          <a:srgbClr val="1F2DA8"/>
                        </a:solidFill>
                        <a:latin typeface="Cambria Math" panose="02040503050406030204" charset="0"/>
                        <a:cs typeface="Cambria Math" panose="02040503050406030204" charset="0"/>
                      </a:rPr>
                      <m:t>𝑛</m:t>
                    </m:r>
                    <m:r>
                      <a:rPr lang="en-US" altLang="x-none" i="1" dirty="0">
                        <a:solidFill>
                          <a:srgbClr val="1F2DA8"/>
                        </a:solidFill>
                        <a:latin typeface="Cambria Math" panose="02040503050406030204" charset="0"/>
                        <a:cs typeface="Cambria Math" panose="02040503050406030204" charset="0"/>
                      </a:rPr>
                      <m:t> }</m:t>
                    </m:r>
                  </m:oMath>
                </a14:m>
                <a:r>
                  <a:rPr lang="zh-CN" altLang="en-US" dirty="0">
                    <a:solidFill>
                      <a:srgbClr val="1F2DA8"/>
                    </a:solidFill>
                  </a:rPr>
                  <a:t>，</a:t>
                </a:r>
                <a14:m>
                  <m:oMath xmlns:m="http://schemas.openxmlformats.org/officeDocument/2006/math">
                    <m:r>
                      <a:rPr lang="en-US" altLang="x-none" i="1" dirty="0">
                        <a:solidFill>
                          <a:srgbClr val="1F2DA8"/>
                        </a:solidFill>
                        <a:latin typeface="Cambria Math" panose="02040503050406030204" charset="0"/>
                        <a:cs typeface="Cambria Math" panose="02040503050406030204" charset="0"/>
                      </a:rPr>
                      <m:t>𝐻𝑒𝑎𝑑</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𝑆</m:t>
                    </m:r>
                    <m:r>
                      <a:rPr lang="en-US" altLang="x-none" i="1" dirty="0">
                        <a:solidFill>
                          <a:srgbClr val="1F2DA8"/>
                        </a:solidFill>
                        <a:latin typeface="Cambria Math" panose="02040503050406030204" charset="0"/>
                        <a:cs typeface="Cambria Math" panose="02040503050406030204" charset="0"/>
                      </a:rPr>
                      <m:t>) = { </m:t>
                    </m:r>
                    <m:r>
                      <a:rPr lang="en-US" altLang="x-none" i="1" dirty="0">
                        <a:solidFill>
                          <a:srgbClr val="1F2DA8"/>
                        </a:solidFill>
                        <a:latin typeface="Cambria Math" panose="02040503050406030204" charset="0"/>
                        <a:cs typeface="Cambria Math" panose="02040503050406030204" charset="0"/>
                      </a:rPr>
                      <m:t>𝐵</m:t>
                    </m:r>
                    <m:r>
                      <a:rPr lang="en-US" altLang="x-none" i="1" baseline="-25000" dirty="0">
                        <a:solidFill>
                          <a:srgbClr val="1F2DA8"/>
                        </a:solidFill>
                        <a:latin typeface="Cambria Math" panose="02040503050406030204" charset="0"/>
                        <a:cs typeface="Cambria Math" panose="02040503050406030204" charset="0"/>
                      </a:rPr>
                      <m:t>1</m:t>
                    </m:r>
                    <m:r>
                      <a:rPr lang="en-US" altLang="x-none" i="1" dirty="0">
                        <a:solidFill>
                          <a:srgbClr val="1F2DA8"/>
                        </a:solidFill>
                        <a:latin typeface="Cambria Math" panose="02040503050406030204" charset="0"/>
                        <a:cs typeface="Cambria Math" panose="02040503050406030204" charset="0"/>
                      </a:rPr>
                      <m:t>, …, </m:t>
                    </m:r>
                    <m:r>
                      <a:rPr lang="en-US" altLang="x-none" i="1" dirty="0">
                        <a:solidFill>
                          <a:srgbClr val="1F2DA8"/>
                        </a:solidFill>
                        <a:latin typeface="Cambria Math" panose="02040503050406030204" charset="0"/>
                        <a:cs typeface="Cambria Math" panose="02040503050406030204" charset="0"/>
                      </a:rPr>
                      <m:t>𝐵</m:t>
                    </m:r>
                    <m:r>
                      <a:rPr lang="en-US" altLang="x-none" i="1" baseline="-25000" dirty="0">
                        <a:solidFill>
                          <a:srgbClr val="1F2DA8"/>
                        </a:solidFill>
                        <a:latin typeface="Cambria Math" panose="02040503050406030204" charset="0"/>
                        <a:cs typeface="Cambria Math" panose="02040503050406030204" charset="0"/>
                      </a:rPr>
                      <m:t>𝑚</m:t>
                    </m:r>
                    <m:r>
                      <a:rPr lang="en-US" altLang="x-none" i="1" dirty="0">
                        <a:solidFill>
                          <a:srgbClr val="1F2DA8"/>
                        </a:solidFill>
                        <a:latin typeface="Cambria Math" panose="02040503050406030204" charset="0"/>
                        <a:cs typeface="Cambria Math" panose="02040503050406030204" charset="0"/>
                      </a:rPr>
                      <m:t> }</m:t>
                    </m:r>
                  </m:oMath>
                </a14:m>
                <a:endParaRPr lang="en-US" altLang="x-none" dirty="0"/>
              </a:p>
              <a:p>
                <a:pPr lvl="1" eaLnBrk="1" hangingPunct="1">
                  <a:buNone/>
                </a:pPr>
                <a:endParaRPr lang="en-US" altLang="x-none" dirty="0"/>
              </a:p>
              <a:p>
                <a:pPr lvl="1" eaLnBrk="1" hangingPunct="1"/>
                <a:r>
                  <a:rPr lang="zh-CN" altLang="en-US" dirty="0">
                    <a:highlight>
                      <a:srgbClr val="FFFF00"/>
                    </a:highlight>
                  </a:rPr>
                  <a:t>关系代数</a:t>
                </a:r>
                <a:r>
                  <a:rPr lang="en-US" altLang="zh-CN" dirty="0"/>
                  <a:t>(</a:t>
                </a:r>
                <a:r>
                  <a:rPr lang="zh-CN" altLang="en-US" dirty="0"/>
                  <a:t>迪卡尔积</a:t>
                </a:r>
                <a:r>
                  <a:rPr lang="en-US" altLang="zh-CN" dirty="0"/>
                  <a:t>)</a:t>
                </a:r>
                <a:r>
                  <a:rPr lang="zh-CN" altLang="en-US" dirty="0"/>
                  <a:t>：</a:t>
                </a:r>
                <a14:m>
                  <m:oMath xmlns:m="http://schemas.openxmlformats.org/officeDocument/2006/math">
                    <m:r>
                      <a:rPr lang="en-US" altLang="x-none" i="1" dirty="0">
                        <a:solidFill>
                          <a:srgbClr val="FF0000"/>
                        </a:solidFill>
                        <a:latin typeface="Cambria Math" panose="02040503050406030204" charset="0"/>
                        <a:cs typeface="Cambria Math" panose="02040503050406030204" charset="0"/>
                      </a:rPr>
                      <m:t>𝑅</m:t>
                    </m:r>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𝑆</m:t>
                    </m:r>
                  </m:oMath>
                </a14:m>
                <a:endParaRPr lang="en-US" altLang="x-none" i="1" dirty="0">
                  <a:solidFill>
                    <a:srgbClr val="FF0000"/>
                  </a:solidFill>
                </a:endParaRPr>
              </a:p>
            </p:txBody>
          </p:sp>
        </mc:Choice>
        <mc:Fallback>
          <p:sp>
            <p:nvSpPr>
              <p:cNvPr id="31747" name="Rectangle 5"/>
              <p:cNvSpPr>
                <a:spLocks noRot="1" noChangeAspect="1" noMove="1" noResize="1" noEditPoints="1" noAdjustHandles="1" noChangeArrowheads="1" noChangeShapeType="1" noTextEdit="1"/>
              </p:cNvSpPr>
              <p:nvPr>
                <p:ph idx="1"/>
              </p:nvPr>
            </p:nvSpPr>
            <p:spPr>
              <a:xfrm>
                <a:off x="424180" y="687070"/>
                <a:ext cx="11343005" cy="2494915"/>
              </a:xfrm>
              <a:blipFill rotWithShape="1">
                <a:blip r:embed="rId1"/>
                <a:stretch>
                  <a:fillRect/>
                </a:stretch>
              </a:blipFill>
            </p:spPr>
            <p:txBody>
              <a:bodyPr/>
              <a:lstStyle/>
              <a:p>
                <a:r>
                  <a:rPr lang="zh-CN" altLang="en-US">
                    <a:noFill/>
                  </a:rPr>
                  <a:t> </a:t>
                </a:r>
              </a:p>
            </p:txBody>
          </p:sp>
        </mc:Fallback>
      </mc:AlternateContent>
      <p:grpSp>
        <p:nvGrpSpPr>
          <p:cNvPr id="5" name="组合 4"/>
          <p:cNvGrpSpPr/>
          <p:nvPr/>
        </p:nvGrpSpPr>
        <p:grpSpPr>
          <a:xfrm>
            <a:off x="424180" y="3526790"/>
            <a:ext cx="10791825" cy="1678940"/>
            <a:chOff x="454" y="6927"/>
            <a:chExt cx="16995" cy="2644"/>
          </a:xfrm>
        </p:grpSpPr>
        <mc:AlternateContent xmlns:mc="http://schemas.openxmlformats.org/markup-compatibility/2006">
          <mc:Choice xmlns:a14="http://schemas.microsoft.com/office/drawing/2010/main" Requires="a14">
            <p:sp>
              <p:nvSpPr>
                <p:cNvPr id="2" name="Rectangle 5"/>
                <p:cNvSpPr>
                  <a:spLocks noGrp="1"/>
                </p:cNvSpPr>
                <p:nvPr/>
              </p:nvSpPr>
              <p:spPr>
                <a:xfrm>
                  <a:off x="1768" y="7935"/>
                  <a:ext cx="15681" cy="1636"/>
                </a:xfrm>
                <a:prstGeom prst="rect">
                  <a:avLst/>
                </a:prstGeom>
                <a:noFill/>
                <a:ln w="9525">
                  <a:solidFill>
                    <a:schemeClr val="accent1"/>
                  </a:solidFill>
                </a:ln>
              </p:spPr>
              <p:txBody>
                <a:bodyPr wrap="square" anchor="t">
                  <a:no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lvl="2" eaLnBrk="1" hangingPunct="1">
                    <a:buNone/>
                  </a:pPr>
                  <a14:m>
                    <m:oMathPara xmlns:m="http://schemas.openxmlformats.org/officeDocument/2006/math">
                      <m:oMathParaPr>
                        <m:jc m:val="left"/>
                      </m:oMathParaPr>
                      <m:oMath xmlns:m="http://schemas.openxmlformats.org/officeDocument/2006/math">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𝑆𝐸𝐿𝐸𝐶𝑇</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𝐴</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𝐴</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𝐴</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𝑛</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𝑆</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𝐵</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𝑆</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𝐵</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𝑆</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𝐵</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𝑚</m:t>
                        </m:r>
                      </m:oMath>
                    </m:oMathPara>
                  </a14:m>
                  <a:endParaRPr lang="en-US" altLang="x-none" sz="2800" i="1" dirty="0">
                    <a:solidFill>
                      <a:srgbClr val="FF0000"/>
                    </a:solidFill>
                    <a:sym typeface="Symbol" panose="05050102010706020507" pitchFamily="18" charset="2"/>
                  </a:endParaRPr>
                </a:p>
                <a:p>
                  <a:pPr lvl="2" eaLnBrk="1" hangingPunct="1">
                    <a:buNone/>
                  </a:pPr>
                  <a14:m>
                    <m:oMathPara xmlns:m="http://schemas.openxmlformats.org/officeDocument/2006/math">
                      <m:oMathParaPr>
                        <m:jc m:val="left"/>
                      </m:oMathParaPr>
                      <m:oMath xmlns:m="http://schemas.openxmlformats.org/officeDocument/2006/math">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𝐹𝑅𝑂𝑀</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rPr>
                          <m:t>𝑅</m:t>
                        </m:r>
                        <m:r>
                          <a:rPr lang="en-US" altLang="x-none" sz="2800" i="1" dirty="0">
                            <a:solidFill>
                              <a:srgbClr val="FF0000"/>
                            </a:solidFill>
                            <a:latin typeface="Cambria Math" panose="02040503050406030204" charset="0"/>
                            <a:cs typeface="Cambria Math" panose="02040503050406030204" charset="0"/>
                          </a:rPr>
                          <m:t>, </m:t>
                        </m:r>
                        <m:r>
                          <a:rPr lang="en-US" altLang="x-none" sz="2800" i="1" dirty="0">
                            <a:solidFill>
                              <a:srgbClr val="FF0000"/>
                            </a:solidFill>
                            <a:latin typeface="Cambria Math" panose="02040503050406030204" charset="0"/>
                            <a:cs typeface="Cambria Math" panose="02040503050406030204" charset="0"/>
                          </a:rPr>
                          <m:t> </m:t>
                        </m:r>
                        <m:r>
                          <a:rPr lang="en-US" altLang="x-none" sz="2800" i="1" dirty="0">
                            <a:solidFill>
                              <a:srgbClr val="FF0000"/>
                            </a:solidFill>
                            <a:latin typeface="Cambria Math" panose="02040503050406030204" charset="0"/>
                            <a:cs typeface="Cambria Math" panose="02040503050406030204" charset="0"/>
                          </a:rPr>
                          <m:t>𝑆</m:t>
                        </m:r>
                      </m:oMath>
                    </m:oMathPara>
                  </a14:m>
                  <a:endParaRPr lang="en-US" altLang="x-none" sz="2800" i="1" dirty="0">
                    <a:solidFill>
                      <a:srgbClr val="FF0000"/>
                    </a:solidFill>
                  </a:endParaRPr>
                </a:p>
              </p:txBody>
            </p:sp>
          </mc:Choice>
          <mc:Fallback>
            <p:sp>
              <p:nvSpPr>
                <p:cNvPr id="2" name="Rectangle 5"/>
                <p:cNvSpPr>
                  <a:spLocks noRot="1" noChangeAspect="1" noMove="1" noResize="1" noEditPoints="1" noAdjustHandles="1" noChangeArrowheads="1" noChangeShapeType="1" noTextEdit="1"/>
                </p:cNvSpPr>
                <p:nvPr/>
              </p:nvSpPr>
              <p:spPr>
                <a:xfrm>
                  <a:off x="1768" y="7935"/>
                  <a:ext cx="15681" cy="1636"/>
                </a:xfrm>
                <a:prstGeom prst="rect">
                  <a:avLst/>
                </a:prstGeom>
                <a:blipFill rotWithShape="1">
                  <a:blip r:embed="rId2"/>
                </a:blipFill>
                <a:ln w="9525">
                  <a:solidFill>
                    <a:schemeClr val="accent1"/>
                  </a:solidFill>
                </a:ln>
              </p:spPr>
              <p:txBody>
                <a:bodyPr/>
                <a:lstStyle/>
                <a:p>
                  <a:r>
                    <a:rPr lang="zh-CN" altLang="en-US">
                      <a:noFill/>
                    </a:rPr>
                    <a:t> </a:t>
                  </a:r>
                </a:p>
              </p:txBody>
            </p:sp>
          </mc:Fallback>
        </mc:AlternateContent>
        <p:sp>
          <p:nvSpPr>
            <p:cNvPr id="30726" name="Rectangle 7"/>
            <p:cNvSpPr/>
            <p:nvPr>
              <p:custDataLst>
                <p:tags r:id="rId3"/>
              </p:custDataLst>
            </p:nvPr>
          </p:nvSpPr>
          <p:spPr>
            <a:xfrm>
              <a:off x="454" y="6927"/>
              <a:ext cx="13443" cy="890"/>
            </a:xfrm>
            <a:prstGeom prst="rect">
              <a:avLst/>
            </a:prstGeom>
            <a:noFill/>
            <a:ln w="9525">
              <a:noFill/>
            </a:ln>
          </p:spPr>
          <p:txBody>
            <a:bodyPr wrap="square" anchor="t">
              <a:noAutofit/>
            </a:bodyPr>
            <a:p>
              <a:pPr marL="742950" lvl="1" indent="-285750" algn="l" eaLnBrk="1" hangingPunct="1">
                <a:lnSpc>
                  <a:spcPct val="110000"/>
                </a:lnSpc>
                <a:spcBef>
                  <a:spcPct val="20000"/>
                </a:spcBef>
                <a:buClr>
                  <a:srgbClr val="C00000"/>
                </a:buClr>
                <a:buSzPct val="85000"/>
                <a:buFont typeface="Wingdings" panose="05000000000000000000" pitchFamily="2" charset="2"/>
                <a:buChar char="Ø"/>
              </a:pPr>
              <a:r>
                <a:rPr lang="en-US" altLang="x-none" sz="2800" b="1" dirty="0">
                  <a:solidFill>
                    <a:srgbClr val="1F2DA8"/>
                  </a:solidFill>
                  <a:highlight>
                    <a:srgbClr val="FFFF00"/>
                  </a:highlight>
                  <a:latin typeface="+mn-lt"/>
                  <a:ea typeface="楷体" charset="-122"/>
                  <a:cs typeface="+mn-lt"/>
                  <a:sym typeface="Symbol" panose="05050102010706020507" pitchFamily="18" charset="2"/>
                </a:rPr>
                <a:t>SQL</a:t>
              </a:r>
              <a:r>
                <a:rPr lang="zh-CN" altLang="en-US" sz="2800" b="1" dirty="0">
                  <a:solidFill>
                    <a:srgbClr val="1F2DA8"/>
                  </a:solidFill>
                  <a:highlight>
                    <a:srgbClr val="FFFF00"/>
                  </a:highlight>
                  <a:latin typeface="+mn-lt"/>
                  <a:ea typeface="楷体" charset="-122"/>
                  <a:cs typeface="+mn-lt"/>
                  <a:sym typeface="Symbol" panose="05050102010706020507" pitchFamily="18" charset="2"/>
                </a:rPr>
                <a:t>语言</a:t>
              </a:r>
              <a:r>
                <a:rPr lang="zh-CN" altLang="en-US" sz="2800" b="1" dirty="0">
                  <a:solidFill>
                    <a:srgbClr val="1F2DA8"/>
                  </a:solidFill>
                  <a:latin typeface="+mn-lt"/>
                  <a:ea typeface="楷体" charset="-122"/>
                  <a:cs typeface="+mn-lt"/>
                  <a:sym typeface="Symbol" panose="05050102010706020507" pitchFamily="18" charset="2"/>
                </a:rPr>
                <a:t>：</a:t>
              </a:r>
              <a:endParaRPr lang="zh-CN" altLang="en-US" sz="2800" b="1" dirty="0">
                <a:solidFill>
                  <a:srgbClr val="1F2DA8"/>
                </a:solidFill>
                <a:latin typeface="+mn-lt"/>
                <a:ea typeface="楷体" charset="-122"/>
                <a:cs typeface="+mn-lt"/>
                <a:sym typeface="Symbol" panose="05050102010706020507" pitchFamily="18" charset="2"/>
              </a:endParaRPr>
            </a:p>
          </p:txBody>
        </p:sp>
      </p:gr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dirty="0">
                <a:sym typeface="+mn-ea"/>
              </a:rPr>
              <a:t>关系数据查询：关系代数</a:t>
            </a:r>
            <a:r>
              <a:rPr lang="en-US" altLang="zh-CN" dirty="0">
                <a:sym typeface="+mn-ea"/>
              </a:rPr>
              <a:t> vs. SQL</a:t>
            </a:r>
            <a:r>
              <a:rPr lang="zh-CN" altLang="en-US" dirty="0">
                <a:sym typeface="+mn-ea"/>
              </a:rPr>
              <a:t>语言</a:t>
            </a:r>
            <a:endParaRPr lang="zh-CN" altLang="en-US"/>
          </a:p>
        </p:txBody>
      </p:sp>
      <mc:AlternateContent xmlns:mc="http://schemas.openxmlformats.org/markup-compatibility/2006">
        <mc:Choice xmlns:a14="http://schemas.microsoft.com/office/drawing/2010/main" Requires="a14">
          <p:sp>
            <p:nvSpPr>
              <p:cNvPr id="31747" name="Rectangle 5"/>
              <p:cNvSpPr>
                <a:spLocks noGrp="1"/>
              </p:cNvSpPr>
              <p:nvPr>
                <p:ph idx="1"/>
              </p:nvPr>
            </p:nvSpPr>
            <p:spPr>
              <a:xfrm>
                <a:off x="424180" y="687070"/>
                <a:ext cx="11343005" cy="2494915"/>
              </a:xfrm>
            </p:spPr>
            <p:txBody>
              <a:bodyPr wrap="square" anchor="t">
                <a:noAutofit/>
              </a:bodyPr>
              <a:p>
                <a:pPr eaLnBrk="1" hangingPunct="1"/>
                <a:r>
                  <a:rPr lang="zh-CN" altLang="en-US" dirty="0">
                    <a:sym typeface="+mn-ea"/>
                  </a:rPr>
                  <a:t>两个关系的</a:t>
                </a:r>
                <a:r>
                  <a:rPr lang="en-US" altLang="zh-CN" dirty="0">
                    <a:sym typeface="+mn-ea"/>
                  </a:rPr>
                  <a:t> </a:t>
                </a:r>
                <a:r>
                  <a:rPr lang="en-US" altLang="zh-CN" dirty="0">
                    <a:solidFill>
                      <a:srgbClr val="FF0000"/>
                    </a:solidFill>
                    <a:latin typeface="Arial" panose="020B0604020202090204" pitchFamily="34" charset="0"/>
                    <a:cs typeface="Arial" panose="020B0604020202090204" pitchFamily="34" charset="0"/>
                    <a:sym typeface="+mn-ea"/>
                  </a:rPr>
                  <a:t>theta</a:t>
                </a:r>
                <a:r>
                  <a:rPr lang="en-US" altLang="zh-CN" dirty="0">
                    <a:solidFill>
                      <a:srgbClr val="FF0000"/>
                    </a:solidFill>
                    <a:latin typeface="Arial" panose="020B0604020202090204" pitchFamily="34" charset="0"/>
                    <a:cs typeface="Arial" panose="020B0604020202090204" pitchFamily="34" charset="0"/>
                    <a:sym typeface="+mn-ea"/>
                  </a:rPr>
                  <a:t>-</a:t>
                </a:r>
                <a:r>
                  <a:rPr lang="zh-CN" altLang="en-US" dirty="0">
                    <a:solidFill>
                      <a:srgbClr val="FF0000"/>
                    </a:solidFill>
                    <a:latin typeface="Arial" panose="020B0604020202090204" pitchFamily="34" charset="0"/>
                    <a:cs typeface="Arial" panose="020B0604020202090204" pitchFamily="34" charset="0"/>
                    <a:sym typeface="+mn-ea"/>
                  </a:rPr>
                  <a:t>连接</a:t>
                </a:r>
                <a:endParaRPr lang="zh-CN" altLang="en-US" dirty="0">
                  <a:latin typeface="Arial" panose="020B0604020202090204" pitchFamily="34" charset="0"/>
                  <a:cs typeface="Arial" panose="020B0604020202090204" pitchFamily="34" charset="0"/>
                  <a:sym typeface="+mn-ea"/>
                </a:endParaRPr>
              </a:p>
              <a:p>
                <a:pPr marL="457200" lvl="1" indent="0" eaLnBrk="1" hangingPunct="1">
                  <a:buNone/>
                </a:pPr>
                <a:endParaRPr lang="zh-CN" altLang="en-US" dirty="0"/>
              </a:p>
              <a:p>
                <a:pPr marL="457200" lvl="1" indent="0" eaLnBrk="1" hangingPunct="1">
                  <a:buNone/>
                </a:pPr>
                <a:r>
                  <a:rPr lang="zh-CN" altLang="en-US" dirty="0">
                    <a:solidFill>
                      <a:srgbClr val="1F2DA8"/>
                    </a:solidFill>
                  </a:rPr>
                  <a:t>假设</a:t>
                </a:r>
                <a:r>
                  <a:rPr lang="en-US" altLang="x-none" dirty="0">
                    <a:solidFill>
                      <a:srgbClr val="1F2DA8"/>
                    </a:solidFill>
                  </a:rPr>
                  <a:t>: </a:t>
                </a:r>
                <a14:m>
                  <m:oMath xmlns:m="http://schemas.openxmlformats.org/officeDocument/2006/math">
                    <m:r>
                      <a:rPr lang="en-US" altLang="x-none" i="1" dirty="0">
                        <a:solidFill>
                          <a:srgbClr val="1F2DA8"/>
                        </a:solidFill>
                        <a:latin typeface="Cambria Math" panose="02040503050406030204" charset="0"/>
                        <a:cs typeface="Cambria Math" panose="02040503050406030204" charset="0"/>
                      </a:rPr>
                      <m:t>𝐻𝑒𝑎𝑑</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𝑅</m:t>
                    </m:r>
                    <m:r>
                      <a:rPr lang="en-US" altLang="x-none" i="1" dirty="0">
                        <a:solidFill>
                          <a:srgbClr val="1F2DA8"/>
                        </a:solidFill>
                        <a:latin typeface="Cambria Math" panose="02040503050406030204" charset="0"/>
                        <a:cs typeface="Cambria Math" panose="02040503050406030204" charset="0"/>
                      </a:rPr>
                      <m:t>) = { </m:t>
                    </m:r>
                    <m:r>
                      <a:rPr lang="en-US" altLang="x-none" i="1" dirty="0">
                        <a:solidFill>
                          <a:srgbClr val="1F2DA8"/>
                        </a:solidFill>
                        <a:latin typeface="Cambria Math" panose="02040503050406030204" charset="0"/>
                        <a:cs typeface="Cambria Math" panose="02040503050406030204" charset="0"/>
                      </a:rPr>
                      <m:t>𝐴</m:t>
                    </m:r>
                    <m:r>
                      <a:rPr lang="en-US" altLang="x-none" i="1" baseline="-25000" dirty="0">
                        <a:solidFill>
                          <a:srgbClr val="1F2DA8"/>
                        </a:solidFill>
                        <a:latin typeface="Cambria Math" panose="02040503050406030204" charset="0"/>
                        <a:cs typeface="Cambria Math" panose="02040503050406030204" charset="0"/>
                      </a:rPr>
                      <m:t>1</m:t>
                    </m:r>
                    <m:r>
                      <a:rPr lang="en-US" altLang="x-none" i="1" dirty="0">
                        <a:solidFill>
                          <a:srgbClr val="1F2DA8"/>
                        </a:solidFill>
                        <a:latin typeface="Cambria Math" panose="02040503050406030204" charset="0"/>
                        <a:cs typeface="Cambria Math" panose="02040503050406030204" charset="0"/>
                      </a:rPr>
                      <m:t>, </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 </m:t>
                    </m:r>
                    <m:r>
                      <a:rPr lang="en-US" altLang="x-none" i="1" dirty="0">
                        <a:solidFill>
                          <a:srgbClr val="1F2DA8"/>
                        </a:solidFill>
                        <a:latin typeface="Cambria Math" panose="02040503050406030204" charset="0"/>
                        <a:cs typeface="Cambria Math" panose="02040503050406030204" charset="0"/>
                      </a:rPr>
                      <m:t>𝐴</m:t>
                    </m:r>
                    <m:r>
                      <a:rPr lang="en-US" altLang="x-none" i="1" baseline="-25000" dirty="0">
                        <a:solidFill>
                          <a:srgbClr val="1F2DA8"/>
                        </a:solidFill>
                        <a:latin typeface="Cambria Math" panose="02040503050406030204" charset="0"/>
                        <a:cs typeface="Cambria Math" panose="02040503050406030204" charset="0"/>
                      </a:rPr>
                      <m:t>𝑛</m:t>
                    </m:r>
                    <m:r>
                      <a:rPr lang="en-US" altLang="x-none" i="1" dirty="0">
                        <a:solidFill>
                          <a:srgbClr val="1F2DA8"/>
                        </a:solidFill>
                        <a:latin typeface="Cambria Math" panose="02040503050406030204" charset="0"/>
                        <a:cs typeface="Cambria Math" panose="02040503050406030204" charset="0"/>
                      </a:rPr>
                      <m:t> }</m:t>
                    </m:r>
                    <m:r>
                      <a:rPr lang="en-US" altLang="zh-CN"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𝐻𝑒𝑎𝑑</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𝑆</m:t>
                    </m:r>
                    <m:r>
                      <a:rPr lang="en-US" altLang="x-none" i="1" dirty="0">
                        <a:solidFill>
                          <a:srgbClr val="1F2DA8"/>
                        </a:solidFill>
                        <a:latin typeface="Cambria Math" panose="02040503050406030204" charset="0"/>
                        <a:cs typeface="Cambria Math" panose="02040503050406030204" charset="0"/>
                      </a:rPr>
                      <m:t>) = { </m:t>
                    </m:r>
                    <m:r>
                      <a:rPr lang="en-US" altLang="x-none" i="1" dirty="0">
                        <a:solidFill>
                          <a:srgbClr val="1F2DA8"/>
                        </a:solidFill>
                        <a:latin typeface="Cambria Math" panose="02040503050406030204" charset="0"/>
                        <a:cs typeface="Cambria Math" panose="02040503050406030204" charset="0"/>
                      </a:rPr>
                      <m:t>𝐵</m:t>
                    </m:r>
                    <m:r>
                      <a:rPr lang="en-US" altLang="x-none" i="1" baseline="-25000" dirty="0">
                        <a:solidFill>
                          <a:srgbClr val="1F2DA8"/>
                        </a:solidFill>
                        <a:latin typeface="Cambria Math" panose="02040503050406030204" charset="0"/>
                        <a:cs typeface="Cambria Math" panose="02040503050406030204" charset="0"/>
                      </a:rPr>
                      <m:t>1</m:t>
                    </m:r>
                    <m:r>
                      <a:rPr lang="en-US" altLang="x-none" i="1" dirty="0">
                        <a:solidFill>
                          <a:srgbClr val="1F2DA8"/>
                        </a:solidFill>
                        <a:latin typeface="Cambria Math" panose="02040503050406030204" charset="0"/>
                        <a:cs typeface="Cambria Math" panose="02040503050406030204" charset="0"/>
                      </a:rPr>
                      <m:t>, </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 </m:t>
                    </m:r>
                    <m:r>
                      <a:rPr lang="en-US" altLang="x-none" i="1" dirty="0">
                        <a:solidFill>
                          <a:srgbClr val="1F2DA8"/>
                        </a:solidFill>
                        <a:latin typeface="Cambria Math" panose="02040503050406030204" charset="0"/>
                        <a:cs typeface="Cambria Math" panose="02040503050406030204" charset="0"/>
                      </a:rPr>
                      <m:t>𝐵</m:t>
                    </m:r>
                    <m:r>
                      <a:rPr lang="en-US" altLang="x-none" i="1" baseline="-25000" dirty="0">
                        <a:solidFill>
                          <a:srgbClr val="1F2DA8"/>
                        </a:solidFill>
                        <a:latin typeface="Cambria Math" panose="02040503050406030204" charset="0"/>
                        <a:cs typeface="Cambria Math" panose="02040503050406030204" charset="0"/>
                      </a:rPr>
                      <m:t>𝑚</m:t>
                    </m:r>
                    <m:r>
                      <a:rPr lang="en-US" altLang="x-none" i="1" dirty="0">
                        <a:solidFill>
                          <a:srgbClr val="1F2DA8"/>
                        </a:solidFill>
                        <a:latin typeface="Cambria Math" panose="02040503050406030204" charset="0"/>
                        <a:cs typeface="Cambria Math" panose="02040503050406030204" charset="0"/>
                      </a:rPr>
                      <m:t> }</m:t>
                    </m:r>
                  </m:oMath>
                </a14:m>
                <a:endParaRPr lang="en-US" altLang="x-none" dirty="0">
                  <a:solidFill>
                    <a:srgbClr val="1F2DA8"/>
                  </a:solidFill>
                </a:endParaRPr>
              </a:p>
              <a:p>
                <a:pPr lvl="1" eaLnBrk="1" hangingPunct="1">
                  <a:buNone/>
                </a:pPr>
                <a:endParaRPr lang="en-US" altLang="x-none" dirty="0"/>
              </a:p>
              <a:p>
                <a:pPr lvl="1" eaLnBrk="1" hangingPunct="1"/>
                <a:r>
                  <a:rPr lang="zh-CN" altLang="en-US" dirty="0">
                    <a:highlight>
                      <a:srgbClr val="FFFF00"/>
                    </a:highlight>
                  </a:rPr>
                  <a:t>关系代数</a:t>
                </a:r>
                <a:r>
                  <a:rPr lang="en-US" altLang="zh-CN" dirty="0">
                    <a:highlight>
                      <a:srgbClr val="000000">
                        <a:alpha val="0"/>
                      </a:srgbClr>
                    </a:highlight>
                  </a:rPr>
                  <a:t>:</a:t>
                </a:r>
                <a:r>
                  <a:rPr lang="en-US" altLang="zh-CN" dirty="0"/>
                  <a:t> (</a:t>
                </a:r>
                <a:r>
                  <a:rPr lang="en-US" altLang="zh-CN" dirty="0">
                    <a:latin typeface="Arial" panose="020B0604020202090204" pitchFamily="34" charset="0"/>
                    <a:cs typeface="Arial" panose="020B0604020202090204" pitchFamily="34" charset="0"/>
                  </a:rPr>
                  <a:t>theta-</a:t>
                </a:r>
                <a:r>
                  <a:rPr lang="zh-CN" altLang="en-US" dirty="0">
                    <a:latin typeface="Arial" panose="020B0604020202090204" pitchFamily="34" charset="0"/>
                    <a:cs typeface="Arial" panose="020B0604020202090204" pitchFamily="34" charset="0"/>
                  </a:rPr>
                  <a:t>连接</a:t>
                </a:r>
                <a:r>
                  <a:rPr lang="en-US" altLang="zh-CN" dirty="0"/>
                  <a:t>):  </a:t>
                </a:r>
                <a:endParaRPr lang="en-US" altLang="x-none" i="1" dirty="0">
                  <a:solidFill>
                    <a:srgbClr val="FF0000"/>
                  </a:solidFill>
                </a:endParaRPr>
              </a:p>
            </p:txBody>
          </p:sp>
        </mc:Choice>
        <mc:Fallback>
          <p:sp>
            <p:nvSpPr>
              <p:cNvPr id="31747" name="Rectangle 5"/>
              <p:cNvSpPr>
                <a:spLocks noRot="1" noChangeAspect="1" noMove="1" noResize="1" noEditPoints="1" noAdjustHandles="1" noChangeArrowheads="1" noChangeShapeType="1" noTextEdit="1"/>
              </p:cNvSpPr>
              <p:nvPr>
                <p:ph idx="1"/>
              </p:nvPr>
            </p:nvSpPr>
            <p:spPr>
              <a:xfrm>
                <a:off x="424180" y="687070"/>
                <a:ext cx="11343005" cy="2494915"/>
              </a:xfrm>
              <a:blipFill rotWithShape="1">
                <a:blip r:embed="rId1"/>
                <a:stretch>
                  <a:fillRect/>
                </a:stretch>
              </a:blipFill>
            </p:spPr>
            <p:txBody>
              <a:bodyPr/>
              <a:lstStyle/>
              <a:p>
                <a:r>
                  <a:rPr lang="zh-CN" altLang="en-US">
                    <a:noFill/>
                  </a:rPr>
                  <a:t> </a:t>
                </a:r>
              </a:p>
            </p:txBody>
          </p:sp>
        </mc:Fallback>
      </mc:AlternateContent>
      <p:grpSp>
        <p:nvGrpSpPr>
          <p:cNvPr id="5" name="组合 4"/>
          <p:cNvGrpSpPr/>
          <p:nvPr/>
        </p:nvGrpSpPr>
        <p:grpSpPr>
          <a:xfrm>
            <a:off x="424180" y="3635375"/>
            <a:ext cx="10554970" cy="2098040"/>
            <a:chOff x="-1732" y="5725"/>
            <a:chExt cx="16622" cy="3304"/>
          </a:xfrm>
        </p:grpSpPr>
        <mc:AlternateContent xmlns:mc="http://schemas.openxmlformats.org/markup-compatibility/2006">
          <mc:Choice xmlns:a14="http://schemas.microsoft.com/office/drawing/2010/main" Requires="a14">
            <p:sp>
              <p:nvSpPr>
                <p:cNvPr id="2" name="Rectangle 5"/>
                <p:cNvSpPr>
                  <a:spLocks noGrp="1"/>
                </p:cNvSpPr>
                <p:nvPr/>
              </p:nvSpPr>
              <p:spPr>
                <a:xfrm>
                  <a:off x="-345" y="6647"/>
                  <a:ext cx="15235" cy="2382"/>
                </a:xfrm>
                <a:prstGeom prst="rect">
                  <a:avLst/>
                </a:prstGeom>
                <a:noFill/>
                <a:ln w="9525">
                  <a:solidFill>
                    <a:schemeClr val="accent1"/>
                  </a:solidFill>
                </a:ln>
              </p:spPr>
              <p:txBody>
                <a:bodyPr wrap="square" anchor="t">
                  <a:no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lvl="2" eaLnBrk="1" hangingPunct="1">
                    <a:buNone/>
                  </a:pPr>
                  <a14:m>
                    <m:oMathPara xmlns:m="http://schemas.openxmlformats.org/officeDocument/2006/math">
                      <m:oMathParaPr>
                        <m:jc m:val="left"/>
                      </m:oMathParaPr>
                      <m:oMath xmlns:m="http://schemas.openxmlformats.org/officeDocument/2006/math">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𝑆𝐸𝐿𝐸𝐶𝑇</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𝐴</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𝐴</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𝐴</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𝑛</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𝑆</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𝐵</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𝑆</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𝐵</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𝑆</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𝐵</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𝑚</m:t>
                        </m:r>
                      </m:oMath>
                    </m:oMathPara>
                  </a14:m>
                  <a:endParaRPr lang="en-US" altLang="x-none" sz="2800" i="1" dirty="0">
                    <a:solidFill>
                      <a:srgbClr val="FF0000"/>
                    </a:solidFill>
                    <a:sym typeface="Symbol" panose="05050102010706020507" pitchFamily="18" charset="2"/>
                  </a:endParaRPr>
                </a:p>
                <a:p>
                  <a:pPr lvl="2" eaLnBrk="1" hangingPunct="1">
                    <a:buNone/>
                  </a:pPr>
                  <a14:m>
                    <m:oMathPara xmlns:m="http://schemas.openxmlformats.org/officeDocument/2006/math">
                      <m:oMathParaPr>
                        <m:jc m:val="left"/>
                      </m:oMathParaPr>
                      <m:oMath xmlns:m="http://schemas.openxmlformats.org/officeDocument/2006/math">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𝐹𝑅𝑂𝑀</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rPr>
                          <m:t>𝑅</m:t>
                        </m:r>
                        <m:r>
                          <a:rPr lang="en-US" altLang="x-none" sz="2800" i="1" dirty="0">
                            <a:solidFill>
                              <a:srgbClr val="FF0000"/>
                            </a:solidFill>
                            <a:latin typeface="Cambria Math" panose="02040503050406030204" charset="0"/>
                            <a:cs typeface="Cambria Math" panose="02040503050406030204" charset="0"/>
                          </a:rPr>
                          <m:t>, </m:t>
                        </m:r>
                        <m:r>
                          <a:rPr lang="en-US" altLang="x-none" sz="2800" i="1" dirty="0">
                            <a:solidFill>
                              <a:srgbClr val="FF0000"/>
                            </a:solidFill>
                            <a:latin typeface="Cambria Math" panose="02040503050406030204" charset="0"/>
                            <a:cs typeface="Cambria Math" panose="02040503050406030204" charset="0"/>
                          </a:rPr>
                          <m:t> </m:t>
                        </m:r>
                        <m:r>
                          <a:rPr lang="en-US" altLang="x-none" sz="2800" i="1" dirty="0">
                            <a:solidFill>
                              <a:srgbClr val="FF0000"/>
                            </a:solidFill>
                            <a:latin typeface="Cambria Math" panose="02040503050406030204" charset="0"/>
                            <a:cs typeface="Cambria Math" panose="02040503050406030204" charset="0"/>
                          </a:rPr>
                          <m:t>𝑆</m:t>
                        </m:r>
                      </m:oMath>
                    </m:oMathPara>
                  </a14:m>
                  <a:endParaRPr lang="en-US" altLang="x-none" sz="2800" i="1" dirty="0">
                    <a:solidFill>
                      <a:srgbClr val="FF0000"/>
                    </a:solidFill>
                  </a:endParaRPr>
                </a:p>
                <a:p>
                  <a:pPr lvl="2" eaLnBrk="1" hangingPunct="1">
                    <a:buNone/>
                  </a:pPr>
                  <a14:m>
                    <m:oMathPara xmlns:m="http://schemas.openxmlformats.org/officeDocument/2006/math">
                      <m:oMathParaPr>
                        <m:jc m:val="left"/>
                      </m:oMathParaPr>
                      <m:oMath xmlns:m="http://schemas.openxmlformats.org/officeDocument/2006/math">
                        <m:r>
                          <a:rPr lang="en-US" altLang="x-none" sz="2800" i="1" dirty="0">
                            <a:solidFill>
                              <a:srgbClr val="FF0000"/>
                            </a:solidFill>
                            <a:latin typeface="Cambria Math" panose="02040503050406030204" charset="0"/>
                            <a:cs typeface="Cambria Math" panose="02040503050406030204" charset="0"/>
                          </a:rPr>
                          <m:t>𝑊𝐻𝐸𝑅𝐸</m:t>
                        </m:r>
                        <m:r>
                          <a:rPr lang="en-US" altLang="x-none" sz="2800" i="1" dirty="0">
                            <a:solidFill>
                              <a:srgbClr val="FF0000"/>
                            </a:solidFill>
                            <a:latin typeface="Cambria Math" panose="02040503050406030204" charset="0"/>
                            <a:cs typeface="Cambria Math" panose="02040503050406030204" charset="0"/>
                          </a:rPr>
                          <m:t>   </m:t>
                        </m:r>
                        <m:r>
                          <a:rPr lang="en-US" altLang="x-none" sz="2800" i="1" dirty="0">
                            <a:solidFill>
                              <a:srgbClr val="FF0000"/>
                            </a:solidFill>
                            <a:latin typeface="Cambria Math" panose="02040503050406030204" charset="0"/>
                            <a:cs typeface="Cambria Math" panose="02040503050406030204" charset="0"/>
                          </a:rPr>
                          <m:t>𝐹</m:t>
                        </m:r>
                      </m:oMath>
                    </m:oMathPara>
                  </a14:m>
                  <a:endParaRPr lang="en-US" altLang="x-none" sz="2800" i="1" dirty="0">
                    <a:solidFill>
                      <a:srgbClr val="FF0000"/>
                    </a:solidFill>
                  </a:endParaRPr>
                </a:p>
              </p:txBody>
            </p:sp>
          </mc:Choice>
          <mc:Fallback>
            <p:sp>
              <p:nvSpPr>
                <p:cNvPr id="2" name="Rectangle 5"/>
                <p:cNvSpPr>
                  <a:spLocks noRot="1" noChangeAspect="1" noMove="1" noResize="1" noEditPoints="1" noAdjustHandles="1" noChangeArrowheads="1" noChangeShapeType="1" noTextEdit="1"/>
                </p:cNvSpPr>
                <p:nvPr/>
              </p:nvSpPr>
              <p:spPr>
                <a:xfrm>
                  <a:off x="-345" y="6647"/>
                  <a:ext cx="15235" cy="2382"/>
                </a:xfrm>
                <a:prstGeom prst="rect">
                  <a:avLst/>
                </a:prstGeom>
                <a:blipFill rotWithShape="1">
                  <a:blip r:embed="rId2"/>
                </a:blipFill>
                <a:ln w="9525">
                  <a:solidFill>
                    <a:schemeClr val="accent1"/>
                  </a:solidFill>
                </a:ln>
              </p:spPr>
              <p:txBody>
                <a:bodyPr/>
                <a:lstStyle/>
                <a:p>
                  <a:r>
                    <a:rPr lang="zh-CN" altLang="en-US">
                      <a:noFill/>
                    </a:rPr>
                    <a:t> </a:t>
                  </a:r>
                </a:p>
              </p:txBody>
            </p:sp>
          </mc:Fallback>
        </mc:AlternateContent>
        <p:sp>
          <p:nvSpPr>
            <p:cNvPr id="30726" name="Rectangle 7"/>
            <p:cNvSpPr/>
            <p:nvPr>
              <p:custDataLst>
                <p:tags r:id="rId3"/>
              </p:custDataLst>
            </p:nvPr>
          </p:nvSpPr>
          <p:spPr>
            <a:xfrm>
              <a:off x="-1732" y="5725"/>
              <a:ext cx="13443" cy="890"/>
            </a:xfrm>
            <a:prstGeom prst="rect">
              <a:avLst/>
            </a:prstGeom>
            <a:noFill/>
            <a:ln w="9525">
              <a:noFill/>
            </a:ln>
          </p:spPr>
          <p:txBody>
            <a:bodyPr wrap="square" anchor="t">
              <a:noAutofit/>
            </a:bodyPr>
            <a:p>
              <a:pPr marL="742950" lvl="1" indent="-285750" algn="l" eaLnBrk="1" hangingPunct="1">
                <a:lnSpc>
                  <a:spcPct val="110000"/>
                </a:lnSpc>
                <a:spcBef>
                  <a:spcPct val="20000"/>
                </a:spcBef>
                <a:buClr>
                  <a:srgbClr val="C00000"/>
                </a:buClr>
                <a:buSzPct val="85000"/>
                <a:buFont typeface="Wingdings" panose="05000000000000000000" pitchFamily="2" charset="2"/>
                <a:buChar char="Ø"/>
              </a:pPr>
              <a:r>
                <a:rPr lang="en-US" altLang="x-none" sz="2800" b="1" dirty="0">
                  <a:solidFill>
                    <a:srgbClr val="1F2DA8"/>
                  </a:solidFill>
                  <a:highlight>
                    <a:srgbClr val="FFFF00"/>
                  </a:highlight>
                  <a:latin typeface="+mn-lt"/>
                  <a:ea typeface="楷体" charset="-122"/>
                  <a:cs typeface="+mn-lt"/>
                  <a:sym typeface="Symbol" panose="05050102010706020507" pitchFamily="18" charset="2"/>
                </a:rPr>
                <a:t>SQL</a:t>
              </a:r>
              <a:r>
                <a:rPr lang="zh-CN" altLang="en-US" sz="2800" b="1" dirty="0">
                  <a:solidFill>
                    <a:srgbClr val="1F2DA8"/>
                  </a:solidFill>
                  <a:highlight>
                    <a:srgbClr val="FFFF00"/>
                  </a:highlight>
                  <a:latin typeface="+mn-lt"/>
                  <a:ea typeface="楷体" charset="-122"/>
                  <a:cs typeface="+mn-lt"/>
                  <a:sym typeface="Symbol" panose="05050102010706020507" pitchFamily="18" charset="2"/>
                </a:rPr>
                <a:t>语言</a:t>
              </a:r>
              <a:r>
                <a:rPr lang="zh-CN" altLang="en-US" sz="2800" b="1" dirty="0">
                  <a:solidFill>
                    <a:srgbClr val="1F2DA8"/>
                  </a:solidFill>
                  <a:latin typeface="+mn-lt"/>
                  <a:ea typeface="楷体" charset="-122"/>
                  <a:cs typeface="+mn-lt"/>
                  <a:sym typeface="Symbol" panose="05050102010706020507" pitchFamily="18" charset="2"/>
                </a:rPr>
                <a:t>：</a:t>
              </a:r>
              <a:endParaRPr lang="zh-CN" altLang="en-US" sz="2800" b="1" dirty="0">
                <a:solidFill>
                  <a:srgbClr val="1F2DA8"/>
                </a:solidFill>
                <a:latin typeface="+mn-lt"/>
                <a:ea typeface="楷体" charset="-122"/>
                <a:cs typeface="+mn-lt"/>
                <a:sym typeface="Symbol" panose="05050102010706020507" pitchFamily="18" charset="2"/>
              </a:endParaRPr>
            </a:p>
          </p:txBody>
        </p:sp>
      </p:gr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pic>
        <p:nvPicPr>
          <p:cNvPr id="7" name="图片 6"/>
          <p:cNvPicPr>
            <a:picLocks noChangeAspect="1"/>
          </p:cNvPicPr>
          <p:nvPr/>
        </p:nvPicPr>
        <p:blipFill>
          <a:blip r:embed="rId4"/>
          <a:stretch>
            <a:fillRect/>
          </a:stretch>
        </p:blipFill>
        <p:spPr>
          <a:xfrm>
            <a:off x="5495290" y="2644775"/>
            <a:ext cx="1276985" cy="784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dirty="0">
                <a:sym typeface="+mn-ea"/>
              </a:rPr>
              <a:t>关系数据查询：关系代数</a:t>
            </a:r>
            <a:r>
              <a:rPr lang="en-US" altLang="zh-CN" dirty="0">
                <a:sym typeface="+mn-ea"/>
              </a:rPr>
              <a:t> vs. SQL</a:t>
            </a:r>
            <a:r>
              <a:rPr lang="zh-CN" altLang="en-US" dirty="0">
                <a:sym typeface="+mn-ea"/>
              </a:rPr>
              <a:t>语言</a:t>
            </a:r>
            <a:endParaRPr lang="zh-CN" altLang="en-US"/>
          </a:p>
        </p:txBody>
      </p:sp>
      <mc:AlternateContent xmlns:mc="http://schemas.openxmlformats.org/markup-compatibility/2006">
        <mc:Choice xmlns:a14="http://schemas.microsoft.com/office/drawing/2010/main" Requires="a14">
          <p:sp>
            <p:nvSpPr>
              <p:cNvPr id="31747" name="Rectangle 5"/>
              <p:cNvSpPr>
                <a:spLocks noGrp="1"/>
              </p:cNvSpPr>
              <p:nvPr>
                <p:ph idx="1"/>
              </p:nvPr>
            </p:nvSpPr>
            <p:spPr>
              <a:xfrm>
                <a:off x="424180" y="687070"/>
                <a:ext cx="11343005" cy="1928495"/>
              </a:xfrm>
            </p:spPr>
            <p:txBody>
              <a:bodyPr wrap="square" anchor="t">
                <a:noAutofit/>
              </a:bodyPr>
              <a:p>
                <a:pPr fontAlgn="auto">
                  <a:lnSpc>
                    <a:spcPct val="100000"/>
                  </a:lnSpc>
                  <a:spcAft>
                    <a:spcPts val="1000"/>
                  </a:spcAft>
                </a:pPr>
                <a:r>
                  <a:rPr lang="zh-CN" altLang="en-US" dirty="0">
                    <a:sym typeface="+mn-ea"/>
                  </a:rPr>
                  <a:t>两个关系的</a:t>
                </a:r>
                <a:r>
                  <a:rPr lang="en-US" altLang="zh-CN" dirty="0">
                    <a:sym typeface="+mn-ea"/>
                  </a:rPr>
                  <a:t> </a:t>
                </a:r>
                <a:r>
                  <a:rPr lang="zh-CN" altLang="en-US" dirty="0">
                    <a:solidFill>
                      <a:srgbClr val="FF0000"/>
                    </a:solidFill>
                    <a:sym typeface="+mn-ea"/>
                  </a:rPr>
                  <a:t>自然连接</a:t>
                </a:r>
                <a:endParaRPr lang="zh-CN" altLang="en-US" dirty="0"/>
              </a:p>
              <a:p>
                <a:pPr marL="457200" lvl="1" indent="0" fontAlgn="auto">
                  <a:lnSpc>
                    <a:spcPct val="100000"/>
                  </a:lnSpc>
                  <a:spcAft>
                    <a:spcPts val="1000"/>
                  </a:spcAft>
                  <a:buNone/>
                </a:pPr>
                <a:r>
                  <a:rPr lang="zh-CN" altLang="en-US" dirty="0"/>
                  <a:t>假设</a:t>
                </a:r>
                <a:r>
                  <a:rPr lang="en-US" altLang="x-none" dirty="0"/>
                  <a:t>: </a:t>
                </a:r>
                <a14:m>
                  <m:oMath xmlns:m="http://schemas.openxmlformats.org/officeDocument/2006/math">
                    <m:r>
                      <a:rPr lang="en-US" altLang="x-none" i="1" dirty="0">
                        <a:solidFill>
                          <a:srgbClr val="1F2DA8"/>
                        </a:solidFill>
                        <a:latin typeface="Cambria Math" panose="02040503050406030204" charset="0"/>
                        <a:cs typeface="Cambria Math" panose="02040503050406030204" charset="0"/>
                      </a:rPr>
                      <m:t>𝐻𝑒𝑎𝑑</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𝑅</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𝐴</m:t>
                    </m:r>
                    <m:r>
                      <a:rPr lang="en-US" altLang="x-none" i="1" baseline="-25000" dirty="0">
                        <a:solidFill>
                          <a:srgbClr val="1F2DA8"/>
                        </a:solidFill>
                        <a:latin typeface="Cambria Math" panose="02040503050406030204" charset="0"/>
                        <a:cs typeface="Cambria Math" panose="02040503050406030204" charset="0"/>
                      </a:rPr>
                      <m:t>1</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𝐴</m:t>
                    </m:r>
                    <m:r>
                      <a:rPr lang="en-US" altLang="x-none" i="1" baseline="-25000" dirty="0">
                        <a:solidFill>
                          <a:srgbClr val="1F2DA8"/>
                        </a:solidFill>
                        <a:latin typeface="Cambria Math" panose="02040503050406030204" charset="0"/>
                        <a:cs typeface="Cambria Math" panose="02040503050406030204" charset="0"/>
                      </a:rPr>
                      <m:t>𝑛</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𝐵</m:t>
                    </m:r>
                    <m:r>
                      <a:rPr lang="en-US" altLang="x-none" i="1" baseline="-25000" dirty="0">
                        <a:solidFill>
                          <a:srgbClr val="1F2DA8"/>
                        </a:solidFill>
                        <a:latin typeface="Cambria Math" panose="02040503050406030204" charset="0"/>
                        <a:cs typeface="Cambria Math" panose="02040503050406030204" charset="0"/>
                      </a:rPr>
                      <m:t>1</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𝐵</m:t>
                    </m:r>
                    <m:r>
                      <a:rPr lang="en-US" altLang="x-none" i="1" baseline="-25000" dirty="0">
                        <a:solidFill>
                          <a:srgbClr val="1F2DA8"/>
                        </a:solidFill>
                        <a:latin typeface="Cambria Math" panose="02040503050406030204" charset="0"/>
                        <a:cs typeface="Cambria Math" panose="02040503050406030204" charset="0"/>
                      </a:rPr>
                      <m:t>𝑘</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𝐻𝑒𝑎𝑑</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𝑆</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𝐵</m:t>
                    </m:r>
                    <m:r>
                      <a:rPr lang="en-US" altLang="x-none" i="1" baseline="-25000" dirty="0">
                        <a:solidFill>
                          <a:srgbClr val="1F2DA8"/>
                        </a:solidFill>
                        <a:latin typeface="Cambria Math" panose="02040503050406030204" charset="0"/>
                        <a:cs typeface="Cambria Math" panose="02040503050406030204" charset="0"/>
                      </a:rPr>
                      <m:t>1</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𝐵</m:t>
                    </m:r>
                    <m:r>
                      <a:rPr lang="en-US" altLang="x-none" i="1" baseline="-25000" dirty="0">
                        <a:solidFill>
                          <a:srgbClr val="1F2DA8"/>
                        </a:solidFill>
                        <a:latin typeface="Cambria Math" panose="02040503050406030204" charset="0"/>
                        <a:cs typeface="Cambria Math" panose="02040503050406030204" charset="0"/>
                      </a:rPr>
                      <m:t>𝑘</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𝐶</m:t>
                    </m:r>
                    <m:r>
                      <a:rPr lang="en-US" altLang="x-none" i="1" baseline="-25000" dirty="0">
                        <a:solidFill>
                          <a:srgbClr val="1F2DA8"/>
                        </a:solidFill>
                        <a:latin typeface="Cambria Math" panose="02040503050406030204" charset="0"/>
                        <a:cs typeface="Cambria Math" panose="02040503050406030204" charset="0"/>
                      </a:rPr>
                      <m:t>1</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𝐶</m:t>
                    </m:r>
                    <m:r>
                      <a:rPr lang="en-US" altLang="x-none" i="1" baseline="-25000" dirty="0">
                        <a:solidFill>
                          <a:srgbClr val="1F2DA8"/>
                        </a:solidFill>
                        <a:latin typeface="Cambria Math" panose="02040503050406030204" charset="0"/>
                        <a:cs typeface="Cambria Math" panose="02040503050406030204" charset="0"/>
                      </a:rPr>
                      <m:t>𝑚</m:t>
                    </m:r>
                    <m:r>
                      <a:rPr lang="en-US" altLang="x-none" i="1" dirty="0">
                        <a:solidFill>
                          <a:srgbClr val="1F2DA8"/>
                        </a:solidFill>
                        <a:latin typeface="Cambria Math" panose="02040503050406030204" charset="0"/>
                        <a:cs typeface="Cambria Math" panose="02040503050406030204" charset="0"/>
                      </a:rPr>
                      <m:t>}</m:t>
                    </m:r>
                  </m:oMath>
                </a14:m>
                <a:endParaRPr lang="en-US" altLang="x-none" dirty="0"/>
              </a:p>
              <a:p>
                <a:pPr lvl="1" fontAlgn="auto">
                  <a:lnSpc>
                    <a:spcPct val="100000"/>
                  </a:lnSpc>
                  <a:spcBef>
                    <a:spcPts val="2000"/>
                  </a:spcBef>
                  <a:spcAft>
                    <a:spcPts val="1000"/>
                  </a:spcAft>
                </a:pPr>
                <a:r>
                  <a:rPr lang="zh-CN" altLang="en-US" dirty="0">
                    <a:highlight>
                      <a:srgbClr val="FFFF00"/>
                    </a:highlight>
                  </a:rPr>
                  <a:t>关系代数</a:t>
                </a:r>
                <a:r>
                  <a:rPr lang="en-US" altLang="zh-CN" dirty="0"/>
                  <a:t> (</a:t>
                </a:r>
                <a:r>
                  <a:rPr lang="zh-CN" altLang="en-US" dirty="0"/>
                  <a:t>自然连接</a:t>
                </a:r>
                <a:r>
                  <a:rPr lang="en-US" altLang="zh-CN" dirty="0"/>
                  <a:t>)</a:t>
                </a:r>
                <a:r>
                  <a:rPr lang="zh-CN" altLang="en-US" dirty="0"/>
                  <a:t>：</a:t>
                </a:r>
                <a:r>
                  <a:rPr lang="en-US" altLang="x-none" dirty="0">
                    <a:solidFill>
                      <a:schemeClr val="accent2"/>
                    </a:solidFill>
                  </a:rPr>
                  <a:t> </a:t>
                </a:r>
                <a14:m>
                  <m:oMath xmlns:m="http://schemas.openxmlformats.org/officeDocument/2006/math">
                    <m:r>
                      <m:rPr>
                        <m:sty m:val="p"/>
                      </m:rPr>
                      <a:rPr lang="en-US" altLang="x-none" dirty="0">
                        <a:solidFill>
                          <a:srgbClr val="FF0000"/>
                        </a:solidFill>
                        <a:latin typeface="Cambria Math" panose="02040503050406030204" charset="0"/>
                        <a:cs typeface="Cambria Math" panose="02040503050406030204" charset="0"/>
                      </a:rPr>
                      <m:t>R</m:t>
                    </m:r>
                    <m:r>
                      <a:rPr lang="en-US" altLang="x-none" b="1" dirty="0">
                        <a:solidFill>
                          <a:srgbClr val="FF0000"/>
                        </a:solidFill>
                        <a:latin typeface="Cambria Math" panose="02040503050406030204" charset="0"/>
                        <a:cs typeface="Cambria Math" panose="02040503050406030204" charset="0"/>
                      </a:rPr>
                      <m:t>⋈</m:t>
                    </m:r>
                    <m:r>
                      <m:rPr>
                        <m:sty m:val="p"/>
                      </m:rPr>
                      <a:rPr lang="en-US" altLang="x-none" dirty="0">
                        <a:solidFill>
                          <a:srgbClr val="FF0000"/>
                        </a:solidFill>
                        <a:latin typeface="Cambria Math" panose="02040503050406030204" charset="0"/>
                        <a:cs typeface="Cambria Math" panose="02040503050406030204" charset="0"/>
                      </a:rPr>
                      <m:t>S</m:t>
                    </m:r>
                  </m:oMath>
                </a14:m>
                <a:endParaRPr lang="en-US" altLang="x-none" dirty="0">
                  <a:solidFill>
                    <a:srgbClr val="FF0000"/>
                  </a:solidFill>
                </a:endParaRPr>
              </a:p>
            </p:txBody>
          </p:sp>
        </mc:Choice>
        <mc:Fallback>
          <p:sp>
            <p:nvSpPr>
              <p:cNvPr id="31747" name="Rectangle 5"/>
              <p:cNvSpPr>
                <a:spLocks noRot="1" noChangeAspect="1" noMove="1" noResize="1" noEditPoints="1" noAdjustHandles="1" noChangeArrowheads="1" noChangeShapeType="1" noTextEdit="1"/>
              </p:cNvSpPr>
              <p:nvPr>
                <p:ph idx="1"/>
              </p:nvPr>
            </p:nvSpPr>
            <p:spPr>
              <a:xfrm>
                <a:off x="424180" y="687070"/>
                <a:ext cx="11343005" cy="1928495"/>
              </a:xfrm>
              <a:blipFill rotWithShape="1">
                <a:blip r:embed="rId1"/>
                <a:stretch>
                  <a:fillRect b="-17221"/>
                </a:stretch>
              </a:blipFill>
            </p:spPr>
            <p:txBody>
              <a:bodyPr/>
              <a:lstStyle/>
              <a:p>
                <a:r>
                  <a:rPr lang="zh-CN" altLang="en-US">
                    <a:noFill/>
                  </a:rPr>
                  <a:t> </a:t>
                </a:r>
              </a:p>
            </p:txBody>
          </p:sp>
        </mc:Fallback>
      </mc:AlternateContent>
      <p:sp>
        <p:nvSpPr>
          <p:cNvPr id="30726" name="Rectangle 7"/>
          <p:cNvSpPr/>
          <p:nvPr/>
        </p:nvSpPr>
        <p:spPr>
          <a:xfrm>
            <a:off x="424180" y="3117215"/>
            <a:ext cx="11343640" cy="565150"/>
          </a:xfrm>
          <a:prstGeom prst="rect">
            <a:avLst/>
          </a:prstGeom>
          <a:noFill/>
          <a:ln w="9525">
            <a:noFill/>
          </a:ln>
        </p:spPr>
        <p:txBody>
          <a:bodyPr wrap="square" anchor="t">
            <a:noAutofit/>
          </a:bodyPr>
          <a:p>
            <a:pPr marL="742950" lvl="1" indent="-285750" algn="l" eaLnBrk="1" hangingPunct="1">
              <a:lnSpc>
                <a:spcPct val="110000"/>
              </a:lnSpc>
              <a:spcBef>
                <a:spcPct val="20000"/>
              </a:spcBef>
              <a:buClr>
                <a:srgbClr val="C00000"/>
              </a:buClr>
              <a:buSzPct val="85000"/>
              <a:buFont typeface="Wingdings" panose="05000000000000000000" pitchFamily="2" charset="2"/>
              <a:buChar char="Ø"/>
            </a:pPr>
            <a:r>
              <a:rPr lang="en-US" altLang="x-none" sz="2800" dirty="0">
                <a:solidFill>
                  <a:srgbClr val="1F2DA8"/>
                </a:solidFill>
                <a:highlight>
                  <a:srgbClr val="FFFF00"/>
                </a:highlight>
                <a:latin typeface="+mn-lt"/>
                <a:ea typeface="楷体" charset="-122"/>
                <a:cs typeface="+mn-lt"/>
                <a:sym typeface="Symbol" panose="05050102010706020507" pitchFamily="18" charset="2"/>
              </a:rPr>
              <a:t>SQL</a:t>
            </a:r>
            <a:r>
              <a:rPr lang="zh-CN" altLang="en-US" sz="2800" dirty="0">
                <a:solidFill>
                  <a:srgbClr val="1F2DA8"/>
                </a:solidFill>
                <a:highlight>
                  <a:srgbClr val="FFFF00"/>
                </a:highlight>
                <a:latin typeface="+mn-lt"/>
                <a:ea typeface="楷体" charset="-122"/>
                <a:cs typeface="+mn-lt"/>
                <a:sym typeface="Symbol" panose="05050102010706020507" pitchFamily="18" charset="2"/>
              </a:rPr>
              <a:t>语言</a:t>
            </a:r>
            <a:r>
              <a:rPr lang="zh-CN" altLang="en-US" sz="2800" dirty="0">
                <a:solidFill>
                  <a:srgbClr val="1F2DA8"/>
                </a:solidFill>
                <a:latin typeface="+mn-lt"/>
                <a:ea typeface="楷体" charset="-122"/>
                <a:cs typeface="+mn-lt"/>
                <a:sym typeface="Symbol" panose="05050102010706020507" pitchFamily="18" charset="2"/>
              </a:rPr>
              <a:t>：</a:t>
            </a:r>
            <a:endParaRPr lang="zh-CN" altLang="en-US" sz="2800" dirty="0">
              <a:solidFill>
                <a:srgbClr val="1F2DA8"/>
              </a:solidFill>
              <a:latin typeface="+mn-lt"/>
              <a:ea typeface="楷体" charset="-122"/>
              <a:cs typeface="+mn-lt"/>
              <a:sym typeface="Symbol" panose="05050102010706020507" pitchFamily="18" charset="2"/>
            </a:endParaRPr>
          </a:p>
        </p:txBody>
      </p:sp>
      <mc:AlternateContent xmlns:mc="http://schemas.openxmlformats.org/markup-compatibility/2006">
        <mc:Choice xmlns:a14="http://schemas.microsoft.com/office/drawing/2010/main" Requires="a14">
          <p:sp>
            <p:nvSpPr>
              <p:cNvPr id="2" name="Rectangle 5"/>
              <p:cNvSpPr>
                <a:spLocks noGrp="1"/>
              </p:cNvSpPr>
              <p:nvPr/>
            </p:nvSpPr>
            <p:spPr>
              <a:xfrm>
                <a:off x="422910" y="3783330"/>
                <a:ext cx="11344275" cy="1666875"/>
              </a:xfrm>
              <a:prstGeom prst="rect">
                <a:avLst/>
              </a:prstGeom>
              <a:noFill/>
              <a:ln w="9525">
                <a:solidFill>
                  <a:schemeClr val="accent1"/>
                </a:solidFill>
              </a:ln>
            </p:spPr>
            <p:txBody>
              <a:bodyPr wrap="square" lIns="198120" anchor="t">
                <a:no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lvl="0" eaLnBrk="1" hangingPunct="1">
                  <a:spcBef>
                    <a:spcPts val="600"/>
                  </a:spcBef>
                  <a:spcAft>
                    <a:spcPts val="600"/>
                  </a:spcAft>
                  <a:buNone/>
                </a:pPr>
                <a14:m>
                  <m:oMathPara xmlns:m="http://schemas.openxmlformats.org/officeDocument/2006/math">
                    <m:oMathParaPr>
                      <m:jc m:val="left"/>
                    </m:oMathParaPr>
                    <m:oMath xmlns:m="http://schemas.openxmlformats.org/officeDocument/2006/math">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𝑆𝐸𝐿𝐸𝐶𝑇</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𝐴</m:t>
                      </m:r>
                      <m:r>
                        <a:rPr lang="en-US" altLang="x-none" sz="2800" b="0" i="1" baseline="-25000"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𝐴</m:t>
                      </m:r>
                      <m:r>
                        <a:rPr lang="en-US" altLang="x-none" sz="2800" b="0" i="1" baseline="-25000"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𝐴</m:t>
                      </m:r>
                      <m:r>
                        <a:rPr lang="en-US" altLang="x-none" sz="2800" b="0" i="1" baseline="-25000" dirty="0">
                          <a:solidFill>
                            <a:srgbClr val="FF0000"/>
                          </a:solidFill>
                          <a:latin typeface="Cambria Math" panose="02040503050406030204" charset="0"/>
                          <a:cs typeface="Cambria Math" panose="02040503050406030204" charset="0"/>
                          <a:sym typeface="Symbol" panose="05050102010706020507" pitchFamily="18" charset="2"/>
                        </a:rPr>
                        <m:t>𝑛</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𝐵</m:t>
                      </m:r>
                      <m:r>
                        <a:rPr lang="en-US" altLang="x-none" sz="2800" b="0" i="1" baseline="-25000"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𝐵</m:t>
                      </m:r>
                      <m:r>
                        <a:rPr lang="en-US" altLang="x-none" sz="2800" b="0" i="1" baseline="-25000"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𝐵</m:t>
                      </m:r>
                      <m:r>
                        <a:rPr lang="en-US" altLang="x-none" sz="2800" b="0" i="1" baseline="-25000" dirty="0">
                          <a:solidFill>
                            <a:srgbClr val="FF0000"/>
                          </a:solidFill>
                          <a:latin typeface="Cambria Math" panose="02040503050406030204" charset="0"/>
                          <a:cs typeface="Cambria Math" panose="02040503050406030204" charset="0"/>
                          <a:sym typeface="Symbol" panose="05050102010706020507" pitchFamily="18" charset="2"/>
                        </a:rPr>
                        <m:t>𝑘</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𝑆</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𝐶</m:t>
                      </m:r>
                      <m:r>
                        <a:rPr lang="en-US" altLang="x-none" sz="2800" b="0" i="1" baseline="-25000"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𝑆</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𝐶</m:t>
                      </m:r>
                      <m:r>
                        <a:rPr lang="en-US" altLang="x-none" sz="2800" b="0" i="1" baseline="-25000"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𝑆</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𝐶</m:t>
                      </m:r>
                      <m:r>
                        <a:rPr lang="en-US" altLang="x-none" sz="2800" b="0" i="1" baseline="-25000" dirty="0">
                          <a:solidFill>
                            <a:srgbClr val="FF0000"/>
                          </a:solidFill>
                          <a:latin typeface="Cambria Math" panose="02040503050406030204" charset="0"/>
                          <a:cs typeface="Cambria Math" panose="02040503050406030204" charset="0"/>
                          <a:sym typeface="Symbol" panose="05050102010706020507" pitchFamily="18" charset="2"/>
                        </a:rPr>
                        <m:t>𝑚</m:t>
                      </m:r>
                    </m:oMath>
                  </m:oMathPara>
                </a14:m>
                <a:endParaRPr lang="en-US" altLang="x-none" sz="2800" b="0" i="1" dirty="0">
                  <a:solidFill>
                    <a:srgbClr val="FF0000"/>
                  </a:solidFill>
                  <a:sym typeface="Symbol" panose="05050102010706020507" pitchFamily="18" charset="2"/>
                </a:endParaRPr>
              </a:p>
              <a:p>
                <a:pPr lvl="0" eaLnBrk="1" hangingPunct="1">
                  <a:spcBef>
                    <a:spcPts val="600"/>
                  </a:spcBef>
                  <a:spcAft>
                    <a:spcPts val="600"/>
                  </a:spcAft>
                  <a:buNone/>
                </a:pPr>
                <a14:m>
                  <m:oMathPara xmlns:m="http://schemas.openxmlformats.org/officeDocument/2006/math">
                    <m:oMathParaPr>
                      <m:jc m:val="left"/>
                    </m:oMathParaPr>
                    <m:oMath xmlns:m="http://schemas.openxmlformats.org/officeDocument/2006/math">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𝐹𝑅𝑂𝑀</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𝑆</m:t>
                      </m:r>
                    </m:oMath>
                  </m:oMathPara>
                </a14:m>
                <a:endParaRPr lang="en-US" altLang="x-none" sz="2800" b="0" i="1" dirty="0">
                  <a:solidFill>
                    <a:srgbClr val="FF0000"/>
                  </a:solidFill>
                </a:endParaRPr>
              </a:p>
              <a:p>
                <a:pPr lvl="0" eaLnBrk="1" hangingPunct="1">
                  <a:spcBef>
                    <a:spcPts val="600"/>
                  </a:spcBef>
                  <a:spcAft>
                    <a:spcPts val="600"/>
                  </a:spcAft>
                  <a:buNone/>
                </a:pPr>
                <a14:m>
                  <m:oMathPara xmlns:m="http://schemas.openxmlformats.org/officeDocument/2006/math">
                    <m:oMathParaPr>
                      <m:jc m:val="left"/>
                    </m:oMathParaPr>
                    <m:oMath xmlns:m="http://schemas.openxmlformats.org/officeDocument/2006/math">
                      <m:r>
                        <a:rPr lang="en-US" altLang="x-none" sz="2800" b="0" i="1" dirty="0">
                          <a:solidFill>
                            <a:srgbClr val="FF0000"/>
                          </a:solidFill>
                          <a:latin typeface="Cambria Math" panose="02040503050406030204" charset="0"/>
                          <a:cs typeface="Cambria Math" panose="02040503050406030204" charset="0"/>
                        </a:rPr>
                        <m:t>𝑊𝐻𝐸𝑅𝐸</m:t>
                      </m:r>
                      <m:r>
                        <a:rPr lang="en-US" altLang="x-none" sz="2800" b="0" i="1" dirty="0">
                          <a:solidFill>
                            <a:srgbClr val="FF0000"/>
                          </a:solidFill>
                          <a:latin typeface="Cambria Math" panose="02040503050406030204" charset="0"/>
                          <a:cs typeface="Cambria Math" panose="02040503050406030204" charset="0"/>
                        </a:rPr>
                        <m:t>  </m:t>
                      </m:r>
                      <m:r>
                        <a:rPr lang="en-US" altLang="x-none" sz="2800" b="0" i="1" dirty="0">
                          <a:solidFill>
                            <a:srgbClr val="FF0000"/>
                          </a:solidFill>
                          <a:latin typeface="Cambria Math" panose="02040503050406030204" charset="0"/>
                          <a:cs typeface="Cambria Math" panose="02040503050406030204" charset="0"/>
                        </a:rPr>
                        <m:t>𝑅</m:t>
                      </m:r>
                      <m:r>
                        <a:rPr lang="en-US" altLang="x-none" sz="2800" b="0" i="1" dirty="0">
                          <a:solidFill>
                            <a:srgbClr val="FF0000"/>
                          </a:solidFill>
                          <a:latin typeface="Cambria Math" panose="02040503050406030204" charset="0"/>
                          <a:cs typeface="Cambria Math" panose="02040503050406030204" charset="0"/>
                        </a:rPr>
                        <m:t>.</m:t>
                      </m:r>
                      <m:r>
                        <a:rPr lang="en-US" altLang="x-none" sz="2800" b="0" i="1" dirty="0">
                          <a:solidFill>
                            <a:srgbClr val="FF0000"/>
                          </a:solidFill>
                          <a:latin typeface="Cambria Math" panose="02040503050406030204"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1</m:t>
                      </m:r>
                      <m:r>
                        <a:rPr lang="en-US" altLang="x-none" sz="2800" b="0" i="1" dirty="0">
                          <a:solidFill>
                            <a:srgbClr val="FF0000"/>
                          </a:solidFill>
                          <a:latin typeface="Cambria Math" panose="02040503050406030204" charset="0"/>
                          <a:cs typeface="Cambria Math" panose="02040503050406030204" charset="0"/>
                        </a:rPr>
                        <m:t>=</m:t>
                      </m:r>
                      <m:r>
                        <a:rPr lang="en-US" altLang="x-none" sz="2800" b="0" i="1" dirty="0">
                          <a:solidFill>
                            <a:srgbClr val="FF0000"/>
                          </a:solidFill>
                          <a:latin typeface="Cambria Math" panose="02040503050406030204" charset="0"/>
                          <a:cs typeface="Cambria Math" panose="02040503050406030204" charset="0"/>
                        </a:rPr>
                        <m:t>𝑆</m:t>
                      </m:r>
                      <m:r>
                        <a:rPr lang="en-US" altLang="x-none" sz="2800" b="0" i="1" dirty="0">
                          <a:solidFill>
                            <a:srgbClr val="FF0000"/>
                          </a:solidFill>
                          <a:latin typeface="Cambria Math" panose="02040503050406030204" charset="0"/>
                          <a:cs typeface="Cambria Math" panose="02040503050406030204" charset="0"/>
                        </a:rPr>
                        <m:t>.</m:t>
                      </m:r>
                      <m:r>
                        <a:rPr lang="en-US" altLang="x-none" sz="2800" b="0" i="1" dirty="0">
                          <a:solidFill>
                            <a:srgbClr val="FF0000"/>
                          </a:solidFill>
                          <a:latin typeface="Cambria Math" panose="02040503050406030204"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1</m:t>
                      </m:r>
                      <m:r>
                        <a:rPr lang="en-US" altLang="x-none" sz="2800" b="0" i="1" dirty="0">
                          <a:solidFill>
                            <a:srgbClr val="FF0000"/>
                          </a:solidFill>
                          <a:latin typeface="Cambria Math" panose="02040503050406030204" charset="0"/>
                          <a:cs typeface="Cambria Math" panose="02040503050406030204" charset="0"/>
                        </a:rPr>
                        <m:t> </m:t>
                      </m:r>
                      <m:r>
                        <a:rPr lang="en-US" altLang="x-none" sz="2800" b="0" i="1" dirty="0">
                          <a:solidFill>
                            <a:srgbClr val="FF0000"/>
                          </a:solidFill>
                          <a:latin typeface="Cambria Math" panose="02040503050406030204" charset="0"/>
                          <a:cs typeface="Cambria Math" panose="02040503050406030204" charset="0"/>
                        </a:rPr>
                        <m:t>𝑎𝑛𝑑</m:t>
                      </m:r>
                      <m:r>
                        <a:rPr lang="en-US" altLang="x-none" sz="2800" b="0" i="1" dirty="0">
                          <a:solidFill>
                            <a:srgbClr val="FF0000"/>
                          </a:solidFill>
                          <a:latin typeface="Cambria Math" panose="02040503050406030204" charset="0"/>
                          <a:ea typeface="MS Mincho" charset="0"/>
                          <a:cs typeface="Cambria Math" panose="02040503050406030204" charset="0"/>
                        </a:rPr>
                        <m:t> </m:t>
                      </m:r>
                      <m:r>
                        <a:rPr lang="en-US" altLang="x-none" sz="2800" b="0" i="1" dirty="0">
                          <a:solidFill>
                            <a:srgbClr val="FF0000"/>
                          </a:solidFill>
                          <a:latin typeface="Cambria Math" panose="02040503050406030204" charset="0"/>
                          <a:ea typeface="MS Mincho" charset="0"/>
                          <a:cs typeface="Cambria Math" panose="02040503050406030204" charset="0"/>
                        </a:rPr>
                        <m:t>𝑅</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2</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𝑆</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2</m:t>
                      </m:r>
                      <m:r>
                        <a:rPr lang="en-US" altLang="x-none" sz="2800" b="0" i="1" dirty="0">
                          <a:solidFill>
                            <a:srgbClr val="FF0000"/>
                          </a:solidFill>
                          <a:latin typeface="Cambria Math" panose="02040503050406030204" charset="0"/>
                          <a:ea typeface="MS Mincho" charset="0"/>
                          <a:cs typeface="Cambria Math" panose="02040503050406030204" charset="0"/>
                        </a:rPr>
                        <m:t> </m:t>
                      </m:r>
                      <m:r>
                        <a:rPr lang="en-US" altLang="x-none" sz="2800" b="0" i="1" dirty="0">
                          <a:solidFill>
                            <a:srgbClr val="FF0000"/>
                          </a:solidFill>
                          <a:latin typeface="Cambria Math" panose="02040503050406030204" charset="0"/>
                          <a:ea typeface="MS Mincho" charset="0"/>
                          <a:cs typeface="Cambria Math" panose="02040503050406030204" charset="0"/>
                        </a:rPr>
                        <m:t>𝑎𝑛𝑑</m:t>
                      </m:r>
                      <m:r>
                        <a:rPr lang="en-US" altLang="x-none" sz="2800" b="0" i="1" dirty="0">
                          <a:solidFill>
                            <a:srgbClr val="FF0000"/>
                          </a:solidFill>
                          <a:latin typeface="Cambria Math" panose="02040503050406030204" charset="0"/>
                          <a:ea typeface="MS Mincho" charset="0"/>
                          <a:cs typeface="Cambria Math" panose="02040503050406030204" charset="0"/>
                        </a:rPr>
                        <m:t> ... </m:t>
                      </m:r>
                      <m:r>
                        <a:rPr lang="en-US" altLang="x-none" sz="2800" b="0" i="1" dirty="0">
                          <a:solidFill>
                            <a:srgbClr val="FF0000"/>
                          </a:solidFill>
                          <a:latin typeface="Cambria Math" panose="02040503050406030204" charset="0"/>
                          <a:ea typeface="MS Mincho" charset="0"/>
                          <a:cs typeface="Cambria Math" panose="02040503050406030204" charset="0"/>
                        </a:rPr>
                        <m:t>𝑎𝑛𝑑</m:t>
                      </m:r>
                      <m:r>
                        <a:rPr lang="en-US" altLang="x-none" sz="2800" b="0" i="1" dirty="0">
                          <a:solidFill>
                            <a:srgbClr val="FF0000"/>
                          </a:solidFill>
                          <a:latin typeface="Cambria Math" panose="02040503050406030204" charset="0"/>
                          <a:ea typeface="MS Mincho" charset="0"/>
                          <a:cs typeface="Cambria Math" panose="02040503050406030204" charset="0"/>
                        </a:rPr>
                        <m:t> </m:t>
                      </m:r>
                      <m:r>
                        <a:rPr lang="en-US" altLang="x-none" sz="2800" b="0" i="1" dirty="0">
                          <a:solidFill>
                            <a:srgbClr val="FF0000"/>
                          </a:solidFill>
                          <a:latin typeface="Cambria Math" panose="02040503050406030204" charset="0"/>
                          <a:ea typeface="MS Mincho" charset="0"/>
                          <a:cs typeface="Cambria Math" panose="02040503050406030204" charset="0"/>
                        </a:rPr>
                        <m:t>𝑅</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𝑘</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𝑆</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𝑘</m:t>
                      </m:r>
                      <m:r>
                        <a:rPr lang="en-US" altLang="x-none" sz="2800" b="0" i="1" dirty="0">
                          <a:solidFill>
                            <a:srgbClr val="FF0000"/>
                          </a:solidFill>
                          <a:latin typeface="Cambria Math" panose="02040503050406030204" charset="0"/>
                          <a:ea typeface="MS Mincho" charset="0"/>
                          <a:cs typeface="Cambria Math" panose="02040503050406030204" charset="0"/>
                        </a:rPr>
                        <m:t> ;</m:t>
                      </m:r>
                    </m:oMath>
                  </m:oMathPara>
                </a14:m>
                <a:endParaRPr lang="zh-CN" altLang="en-US" sz="2800" b="0" i="1" dirty="0">
                  <a:solidFill>
                    <a:srgbClr val="FF0000"/>
                  </a:solidFill>
                  <a:latin typeface="Cambria Math" panose="02040503050406030204" charset="0"/>
                  <a:cs typeface="Cambria Math" panose="02040503050406030204" charset="0"/>
                </a:endParaRPr>
              </a:p>
            </p:txBody>
          </p:sp>
        </mc:Choice>
        <mc:Fallback>
          <p:sp>
            <p:nvSpPr>
              <p:cNvPr id="2" name="Rectangle 5"/>
              <p:cNvSpPr>
                <a:spLocks noRot="1" noChangeAspect="1" noMove="1" noResize="1" noEditPoints="1" noAdjustHandles="1" noChangeArrowheads="1" noChangeShapeType="1" noTextEdit="1"/>
              </p:cNvSpPr>
              <p:nvPr/>
            </p:nvSpPr>
            <p:spPr>
              <a:xfrm>
                <a:off x="422910" y="3783330"/>
                <a:ext cx="11344275" cy="1666875"/>
              </a:xfrm>
              <a:prstGeom prst="rect">
                <a:avLst/>
              </a:prstGeom>
              <a:blipFill rotWithShape="1">
                <a:blip r:embed="rId2"/>
                <a:stretch>
                  <a:fillRect l="-56" t="-381" r="-25743" b="-28724"/>
                </a:stretch>
              </a:blipFill>
              <a:ln w="9525">
                <a:solidFill>
                  <a:schemeClr val="accent1"/>
                </a:solid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 calcmode="lin" valueType="num">
                                      <p:cBhvr additive="base">
                                        <p:cTn id="7" dur="500" fill="hold"/>
                                        <p:tgtEl>
                                          <p:spTgt spid="30726"/>
                                        </p:tgtEl>
                                        <p:attrNameLst>
                                          <p:attrName>ppt_x</p:attrName>
                                        </p:attrNameLst>
                                      </p:cBhvr>
                                      <p:tavLst>
                                        <p:tav tm="0">
                                          <p:val>
                                            <p:strVal val="#ppt_x"/>
                                          </p:val>
                                        </p:tav>
                                        <p:tav tm="100000">
                                          <p:val>
                                            <p:strVal val="#ppt_x"/>
                                          </p:val>
                                        </p:tav>
                                      </p:tavLst>
                                    </p:anim>
                                    <p:anim calcmode="lin" valueType="num">
                                      <p:cBhvr additive="base">
                                        <p:cTn id="8" dur="500" fill="hold"/>
                                        <p:tgtEl>
                                          <p:spTgt spid="307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p:bldP spid="2"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dirty="0">
                <a:sym typeface="+mn-ea"/>
              </a:rPr>
              <a:t>关系数据查询：关系代数</a:t>
            </a:r>
            <a:r>
              <a:rPr lang="en-US" altLang="zh-CN" dirty="0">
                <a:sym typeface="+mn-ea"/>
              </a:rPr>
              <a:t> vs. SQL</a:t>
            </a:r>
            <a:r>
              <a:rPr lang="zh-CN" altLang="en-US" dirty="0">
                <a:sym typeface="+mn-ea"/>
              </a:rPr>
              <a:t>语言</a:t>
            </a:r>
            <a:endParaRPr lang="zh-CN" altLang="en-US"/>
          </a:p>
        </p:txBody>
      </p:sp>
      <mc:AlternateContent xmlns:mc="http://schemas.openxmlformats.org/markup-compatibility/2006">
        <mc:Choice xmlns:a14="http://schemas.microsoft.com/office/drawing/2010/main" Requires="a14">
          <p:sp>
            <p:nvSpPr>
              <p:cNvPr id="31747" name="Rectangle 5"/>
              <p:cNvSpPr>
                <a:spLocks noGrp="1"/>
              </p:cNvSpPr>
              <p:nvPr>
                <p:ph idx="1"/>
              </p:nvPr>
            </p:nvSpPr>
            <p:spPr>
              <a:xfrm>
                <a:off x="424180" y="687070"/>
                <a:ext cx="11343005" cy="1994535"/>
              </a:xfrm>
            </p:spPr>
            <p:txBody>
              <a:bodyPr wrap="square" anchor="t">
                <a:noAutofit/>
              </a:bodyPr>
              <a:p>
                <a:pPr eaLnBrk="1" hangingPunct="1">
                  <a:lnSpc>
                    <a:spcPct val="100000"/>
                  </a:lnSpc>
                </a:pPr>
                <a:r>
                  <a:rPr lang="zh-CN" altLang="en-US" sz="2800" dirty="0">
                    <a:sym typeface="+mn-ea"/>
                  </a:rPr>
                  <a:t>两个关系的</a:t>
                </a:r>
                <a:r>
                  <a:rPr lang="en-US" altLang="zh-CN" sz="2800" dirty="0">
                    <a:sym typeface="+mn-ea"/>
                  </a:rPr>
                  <a:t> </a:t>
                </a:r>
                <a:r>
                  <a:rPr lang="zh-CN" altLang="en-US" sz="2800" dirty="0">
                    <a:solidFill>
                      <a:srgbClr val="FF0000"/>
                    </a:solidFill>
                    <a:sym typeface="+mn-ea"/>
                  </a:rPr>
                  <a:t>自然连接</a:t>
                </a:r>
                <a:r>
                  <a:rPr lang="en-US" altLang="zh-CN" sz="2800" dirty="0">
                    <a:solidFill>
                      <a:srgbClr val="FF0000"/>
                    </a:solidFill>
                    <a:sym typeface="+mn-ea"/>
                  </a:rPr>
                  <a:t> + </a:t>
                </a:r>
                <a:r>
                  <a:rPr lang="zh-CN" altLang="en-US" sz="2800" dirty="0">
                    <a:solidFill>
                      <a:srgbClr val="FF0000"/>
                    </a:solidFill>
                    <a:sym typeface="+mn-ea"/>
                  </a:rPr>
                  <a:t>选择</a:t>
                </a:r>
                <a:r>
                  <a:rPr lang="en-US" altLang="zh-CN" sz="2800" dirty="0">
                    <a:solidFill>
                      <a:srgbClr val="FF0000"/>
                    </a:solidFill>
                    <a:sym typeface="+mn-ea"/>
                  </a:rPr>
                  <a:t> + </a:t>
                </a:r>
                <a:r>
                  <a:rPr lang="zh-CN" altLang="en-US" sz="2800" dirty="0">
                    <a:solidFill>
                      <a:srgbClr val="FF0000"/>
                    </a:solidFill>
                    <a:sym typeface="+mn-ea"/>
                  </a:rPr>
                  <a:t>投影</a:t>
                </a:r>
                <a:endParaRPr lang="zh-CN" altLang="en-US" sz="2800" dirty="0">
                  <a:sym typeface="+mn-ea"/>
                </a:endParaRPr>
              </a:p>
              <a:p>
                <a:pPr marL="457200" lvl="1" indent="0" algn="l" eaLnBrk="1" hangingPunct="1">
                  <a:lnSpc>
                    <a:spcPct val="100000"/>
                  </a:lnSpc>
                  <a:spcBef>
                    <a:spcPts val="2000"/>
                  </a:spcBef>
                  <a:buNone/>
                </a:pPr>
                <a:r>
                  <a:rPr lang="zh-CN" altLang="en-US" sz="2800" dirty="0">
                    <a:solidFill>
                      <a:srgbClr val="1F2DA8"/>
                    </a:solidFill>
                  </a:rPr>
                  <a:t>假设</a:t>
                </a:r>
                <a:r>
                  <a:rPr lang="en-US" altLang="x-none" sz="2800" dirty="0">
                    <a:solidFill>
                      <a:srgbClr val="1F2DA8"/>
                    </a:solidFill>
                  </a:rPr>
                  <a:t> </a:t>
                </a:r>
                <a14:m>
                  <m:oMath xmlns:m="http://schemas.openxmlformats.org/officeDocument/2006/math">
                    <m:r>
                      <a:rPr lang="en-US" altLang="x-none" sz="2800" i="1" dirty="0">
                        <a:solidFill>
                          <a:srgbClr val="1F2DA8"/>
                        </a:solidFill>
                        <a:latin typeface="Cambria Math" panose="02040503050406030204" charset="0"/>
                        <a:cs typeface="Cambria Math" panose="02040503050406030204" charset="0"/>
                      </a:rPr>
                      <m:t>𝐻𝑒𝑎𝑑</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𝑅</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𝐴</m:t>
                    </m:r>
                    <m:r>
                      <a:rPr lang="en-US" altLang="x-none" sz="2800" i="1" baseline="-25000" dirty="0">
                        <a:solidFill>
                          <a:srgbClr val="1F2DA8"/>
                        </a:solidFill>
                        <a:latin typeface="Cambria Math" panose="02040503050406030204" charset="0"/>
                        <a:cs typeface="Cambria Math" panose="02040503050406030204" charset="0"/>
                      </a:rPr>
                      <m:t>1</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𝐴</m:t>
                    </m:r>
                    <m:r>
                      <a:rPr lang="en-US" altLang="x-none" sz="2800" i="1" baseline="-25000" dirty="0">
                        <a:solidFill>
                          <a:srgbClr val="1F2DA8"/>
                        </a:solidFill>
                        <a:latin typeface="Cambria Math" panose="02040503050406030204" charset="0"/>
                        <a:cs typeface="Cambria Math" panose="02040503050406030204" charset="0"/>
                      </a:rPr>
                      <m:t>𝑛</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𝐵</m:t>
                    </m:r>
                    <m:r>
                      <a:rPr lang="en-US" altLang="x-none" sz="2800" i="1" baseline="-25000" dirty="0">
                        <a:solidFill>
                          <a:srgbClr val="1F2DA8"/>
                        </a:solidFill>
                        <a:latin typeface="Cambria Math" panose="02040503050406030204" charset="0"/>
                        <a:cs typeface="Cambria Math" panose="02040503050406030204" charset="0"/>
                      </a:rPr>
                      <m:t>1</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𝐵</m:t>
                    </m:r>
                    <m:r>
                      <a:rPr lang="en-US" altLang="x-none" sz="2800" i="1" baseline="-25000" dirty="0">
                        <a:solidFill>
                          <a:srgbClr val="1F2DA8"/>
                        </a:solidFill>
                        <a:latin typeface="Cambria Math" panose="02040503050406030204" charset="0"/>
                        <a:cs typeface="Cambria Math" panose="02040503050406030204" charset="0"/>
                      </a:rPr>
                      <m:t>𝑘</m:t>
                    </m:r>
                    <m:r>
                      <a:rPr lang="en-US" altLang="x-none" sz="2800" i="1" dirty="0">
                        <a:solidFill>
                          <a:srgbClr val="1F2DA8"/>
                        </a:solidFill>
                        <a:latin typeface="Cambria Math" panose="02040503050406030204" charset="0"/>
                        <a:cs typeface="Cambria Math" panose="02040503050406030204" charset="0"/>
                      </a:rPr>
                      <m:t>}</m:t>
                    </m:r>
                  </m:oMath>
                </a14:m>
                <a:r>
                  <a:rPr lang="en-US" altLang="x-none" sz="2800" i="1" dirty="0">
                    <a:solidFill>
                      <a:srgbClr val="1F2DA8"/>
                    </a:solidFill>
                  </a:rPr>
                  <a:t>,</a:t>
                </a:r>
                <a14:m>
                  <m:oMath xmlns:m="http://schemas.openxmlformats.org/officeDocument/2006/math">
                    <m:r>
                      <a:rPr lang="en-US" altLang="x-none" sz="2800" i="1" dirty="0">
                        <a:solidFill>
                          <a:srgbClr val="1F2DA8"/>
                        </a:solidFill>
                        <a:latin typeface="Cambria Math" panose="02040503050406030204" charset="0"/>
                        <a:cs typeface="Cambria Math" panose="02040503050406030204" charset="0"/>
                      </a:rPr>
                      <m:t>𝐻𝑒𝑎𝑑</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𝑆</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𝐵</m:t>
                    </m:r>
                    <m:r>
                      <a:rPr lang="en-US" altLang="x-none" sz="2800" i="1" baseline="-25000" dirty="0">
                        <a:solidFill>
                          <a:srgbClr val="1F2DA8"/>
                        </a:solidFill>
                        <a:latin typeface="Cambria Math" panose="02040503050406030204" charset="0"/>
                        <a:cs typeface="Cambria Math" panose="02040503050406030204" charset="0"/>
                      </a:rPr>
                      <m:t>1</m:t>
                    </m:r>
                    <m:r>
                      <a:rPr lang="en-US" altLang="x-none" sz="2800" i="1" dirty="0">
                        <a:solidFill>
                          <a:srgbClr val="1F2DA8"/>
                        </a:solidFill>
                        <a:latin typeface="Cambria Math" panose="02040503050406030204" charset="0"/>
                        <a:cs typeface="Cambria Math" panose="02040503050406030204" charset="0"/>
                      </a:rPr>
                      <m:t>, </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𝐵</m:t>
                    </m:r>
                    <m:r>
                      <a:rPr lang="en-US" altLang="x-none" sz="2800" i="1" baseline="-25000" dirty="0">
                        <a:solidFill>
                          <a:srgbClr val="1F2DA8"/>
                        </a:solidFill>
                        <a:latin typeface="Cambria Math" panose="02040503050406030204" charset="0"/>
                        <a:cs typeface="Cambria Math" panose="02040503050406030204" charset="0"/>
                      </a:rPr>
                      <m:t>𝑘</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𝐶</m:t>
                    </m:r>
                    <m:r>
                      <a:rPr lang="en-US" altLang="x-none" sz="2800" i="1" baseline="-25000" dirty="0">
                        <a:solidFill>
                          <a:srgbClr val="1F2DA8"/>
                        </a:solidFill>
                        <a:latin typeface="Cambria Math" panose="02040503050406030204" charset="0"/>
                        <a:cs typeface="Cambria Math" panose="02040503050406030204" charset="0"/>
                      </a:rPr>
                      <m:t>1</m:t>
                    </m:r>
                    <m:r>
                      <a:rPr lang="en-US" altLang="x-none" sz="2800" i="1" dirty="0">
                        <a:solidFill>
                          <a:srgbClr val="1F2DA8"/>
                        </a:solidFill>
                        <a:latin typeface="Cambria Math" panose="02040503050406030204" charset="0"/>
                        <a:cs typeface="Cambria Math" panose="02040503050406030204" charset="0"/>
                      </a:rPr>
                      <m:t>,…,</m:t>
                    </m:r>
                    <m:r>
                      <a:rPr lang="en-US" altLang="x-none" sz="2800" i="1" dirty="0">
                        <a:solidFill>
                          <a:srgbClr val="1F2DA8"/>
                        </a:solidFill>
                        <a:latin typeface="Cambria Math" panose="02040503050406030204" charset="0"/>
                        <a:cs typeface="Cambria Math" panose="02040503050406030204" charset="0"/>
                      </a:rPr>
                      <m:t>𝐶</m:t>
                    </m:r>
                    <m:r>
                      <a:rPr lang="en-US" altLang="x-none" sz="2800" i="1" baseline="-25000" dirty="0">
                        <a:solidFill>
                          <a:srgbClr val="1F2DA8"/>
                        </a:solidFill>
                        <a:latin typeface="Cambria Math" panose="02040503050406030204" charset="0"/>
                        <a:cs typeface="Cambria Math" panose="02040503050406030204" charset="0"/>
                      </a:rPr>
                      <m:t>𝑚</m:t>
                    </m:r>
                    <m:r>
                      <a:rPr lang="en-US" altLang="x-none" sz="2800" i="1" dirty="0">
                        <a:solidFill>
                          <a:srgbClr val="1F2DA8"/>
                        </a:solidFill>
                        <a:latin typeface="Cambria Math" panose="02040503050406030204" charset="0"/>
                        <a:cs typeface="Cambria Math" panose="02040503050406030204" charset="0"/>
                      </a:rPr>
                      <m:t>}</m:t>
                    </m:r>
                  </m:oMath>
                </a14:m>
                <a:endParaRPr lang="en-US" altLang="x-none" sz="2800" dirty="0">
                  <a:solidFill>
                    <a:srgbClr val="1F2DA8"/>
                  </a:solidFill>
                </a:endParaRPr>
              </a:p>
              <a:p>
                <a:pPr lvl="1" fontAlgn="auto">
                  <a:lnSpc>
                    <a:spcPct val="100000"/>
                  </a:lnSpc>
                  <a:spcBef>
                    <a:spcPts val="2000"/>
                  </a:spcBef>
                </a:pPr>
                <a:r>
                  <a:rPr lang="zh-CN" altLang="en-US" sz="2800" dirty="0">
                    <a:highlight>
                      <a:srgbClr val="FFFF00"/>
                    </a:highlight>
                  </a:rPr>
                  <a:t>关系代数</a:t>
                </a:r>
                <a:r>
                  <a:rPr lang="zh-CN" altLang="en-US" sz="2800" dirty="0"/>
                  <a:t>：</a:t>
                </a: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sym typeface="Symbol" panose="05050102010706020507" pitchFamily="18" charset="2"/>
                      </a:rPr>
                      <m:t></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𝑎𝑡𝑡𝑟</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_</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𝑎𝑡𝑡𝑟</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_</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 ..., </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𝑎𝑡𝑡𝑟</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_</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𝑥</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mn-ea"/>
                      </a:rPr>
                      <m:t>(</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zh-CN" sz="2800" i="1" dirty="0">
                        <a:solidFill>
                          <a:srgbClr val="FF0000"/>
                        </a:solidFill>
                        <a:latin typeface="Cambria Math" panose="02040503050406030204" charset="0"/>
                        <a:cs typeface="Cambria Math" panose="02040503050406030204" charset="0"/>
                        <a:sym typeface="Symbol" panose="05050102010706020507" pitchFamily="18" charset="2"/>
                      </a:rPr>
                      <m:t>𝜎</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𝐹</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mn-ea"/>
                      </a:rPr>
                      <m:t>( </m:t>
                    </m:r>
                    <m:r>
                      <a:rPr lang="en-US" altLang="x-none" sz="2800" i="1" dirty="0">
                        <a:solidFill>
                          <a:srgbClr val="FF0000"/>
                        </a:solidFill>
                        <a:latin typeface="Cambria Math" panose="02040503050406030204" charset="0"/>
                        <a:cs typeface="Cambria Math" panose="02040503050406030204" charset="0"/>
                        <a:sym typeface="+mn-ea"/>
                      </a:rPr>
                      <m:t>𝑅</m:t>
                    </m:r>
                    <m:r>
                      <a:rPr lang="en-US" altLang="x-none" sz="2800" i="1" dirty="0">
                        <a:solidFill>
                          <a:srgbClr val="FF0000"/>
                        </a:solidFill>
                        <a:latin typeface="Cambria Math" panose="02040503050406030204" charset="0"/>
                        <a:cs typeface="Cambria Math" panose="02040503050406030204" charset="0"/>
                        <a:sym typeface="+mn-ea"/>
                      </a:rPr>
                      <m:t>⋈</m:t>
                    </m:r>
                    <m:r>
                      <a:rPr lang="en-US" altLang="x-none" sz="2800" i="1" dirty="0">
                        <a:solidFill>
                          <a:srgbClr val="FF0000"/>
                        </a:solidFill>
                        <a:latin typeface="Cambria Math" panose="02040503050406030204" charset="0"/>
                        <a:cs typeface="Cambria Math" panose="02040503050406030204" charset="0"/>
                        <a:sym typeface="+mn-ea"/>
                      </a:rPr>
                      <m:t>𝑆</m:t>
                    </m:r>
                    <m:r>
                      <a:rPr lang="en-US" altLang="x-none" sz="2800" i="1" baseline="-25000" dirty="0">
                        <a:solidFill>
                          <a:srgbClr val="FF0000"/>
                        </a:solidFill>
                        <a:latin typeface="Cambria Math" panose="02040503050406030204" charset="0"/>
                        <a:cs typeface="Cambria Math" panose="02040503050406030204" charset="0"/>
                        <a:sym typeface="+mn-ea"/>
                      </a:rPr>
                      <m:t> </m:t>
                    </m:r>
                    <m:r>
                      <a:rPr lang="en-US" altLang="x-none" sz="2800" i="1" dirty="0">
                        <a:solidFill>
                          <a:srgbClr val="FF0000"/>
                        </a:solidFill>
                        <a:latin typeface="Cambria Math" panose="02040503050406030204" charset="0"/>
                        <a:cs typeface="Cambria Math" panose="02040503050406030204" charset="0"/>
                        <a:sym typeface="+mn-ea"/>
                      </a:rPr>
                      <m:t>) )</m:t>
                    </m:r>
                  </m:oMath>
                </a14:m>
                <a:endParaRPr lang="en-US" altLang="x-none" sz="2800" dirty="0">
                  <a:solidFill>
                    <a:srgbClr val="FF0000"/>
                  </a:solidFill>
                </a:endParaRPr>
              </a:p>
            </p:txBody>
          </p:sp>
        </mc:Choice>
        <mc:Fallback>
          <p:sp>
            <p:nvSpPr>
              <p:cNvPr id="31747" name="Rectangle 5"/>
              <p:cNvSpPr>
                <a:spLocks noRot="1" noChangeAspect="1" noMove="1" noResize="1" noEditPoints="1" noAdjustHandles="1" noChangeArrowheads="1" noChangeShapeType="1" noTextEdit="1"/>
              </p:cNvSpPr>
              <p:nvPr>
                <p:ph idx="1"/>
              </p:nvPr>
            </p:nvSpPr>
            <p:spPr>
              <a:xfrm>
                <a:off x="424180" y="687070"/>
                <a:ext cx="11343005" cy="1994535"/>
              </a:xfrm>
              <a:blipFill rotWithShape="1">
                <a:blip r:embed="rId1"/>
                <a:stretch>
                  <a:fillRect b="-2168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a:spLocks noChangeAspect="1"/>
              </p:cNvSpPr>
              <p:nvPr/>
            </p:nvSpPr>
            <p:spPr>
              <a:xfrm>
                <a:off x="1048385" y="3150870"/>
                <a:ext cx="10093960" cy="555625"/>
              </a:xfrm>
              <a:prstGeom prst="rect">
                <a:avLst/>
              </a:prstGeom>
              <a:noFill/>
            </p:spPr>
            <p:txBody>
              <a:bodyPr wrap="none" rtlCol="0" anchor="t">
                <a:noAutofit/>
              </a:bodyPr>
              <a:p>
                <a:pPr algn="l"/>
                <a14:m>
                  <m:oMath xmlns:m="http://schemas.openxmlformats.org/officeDocument/2006/math">
                    <m:r>
                      <a:rPr lang="zh-CN" altLang="en-US" sz="2800" b="1" dirty="0">
                        <a:solidFill>
                          <a:srgbClr val="1F2DA8"/>
                        </a:solidFill>
                        <a:latin typeface="楷体" charset="-122"/>
                        <a:ea typeface="楷体" charset="-122"/>
                      </a:rPr>
                      <m:t>其中：</m:t>
                    </m:r>
                    <m:r>
                      <a:rPr lang="en-US" altLang="zh-CN" sz="2800" b="1" i="1">
                        <a:solidFill>
                          <a:srgbClr val="1F2DA8"/>
                        </a:solidFill>
                        <a:latin typeface="Cambria Math" panose="02040503050406030204" charset="0"/>
                        <a:cs typeface="Cambria Math" panose="02040503050406030204" charset="0"/>
                      </a:rPr>
                      <m:t>𝒂𝒕𝒕𝒓</m:t>
                    </m:r>
                    <m:r>
                      <a:rPr lang="en-US" altLang="zh-CN" sz="2800" b="1" i="1">
                        <a:solidFill>
                          <a:srgbClr val="1F2DA8"/>
                        </a:solidFill>
                        <a:latin typeface="Cambria Math" panose="02040503050406030204" charset="0"/>
                        <a:cs typeface="Cambria Math" panose="02040503050406030204" charset="0"/>
                      </a:rPr>
                      <m:t>_</m:t>
                    </m:r>
                    <m:r>
                      <a:rPr lang="en-US" altLang="zh-CN" sz="2800" b="1" i="1">
                        <a:solidFill>
                          <a:srgbClr val="1F2DA8"/>
                        </a:solidFill>
                        <a:latin typeface="Cambria Math" panose="02040503050406030204" charset="0"/>
                        <a:cs typeface="Cambria Math" panose="02040503050406030204" charset="0"/>
                      </a:rPr>
                      <m:t>𝒊</m:t>
                    </m:r>
                    <m:r>
                      <a:rPr lang="en-US" altLang="zh-CN" sz="2800" b="1" i="1">
                        <a:solidFill>
                          <a:srgbClr val="1F2DA8"/>
                        </a:solidFill>
                        <a:latin typeface="Cambria Math" panose="02040503050406030204" charset="0"/>
                        <a:cs typeface="Cambria Math" panose="02040503050406030204" charset="0"/>
                      </a:rPr>
                      <m:t>∈</m:t>
                    </m:r>
                    <m:r>
                      <a:rPr lang="en-US" altLang="zh-CN" sz="2800" b="1" i="1">
                        <a:solidFill>
                          <a:srgbClr val="1F2DA8"/>
                        </a:solidFill>
                        <a:latin typeface="Cambria Math" panose="02040503050406030204" charset="0"/>
                        <a:cs typeface="Cambria Math" panose="02040503050406030204" charset="0"/>
                      </a:rPr>
                      <m:t>𝒉𝒆𝒂𝒅</m:t>
                    </m:r>
                    <m:r>
                      <a:rPr lang="en-US" altLang="zh-CN" sz="2800" b="1" i="1">
                        <a:solidFill>
                          <a:srgbClr val="1F2DA8"/>
                        </a:solidFill>
                        <a:latin typeface="Cambria Math" panose="02040503050406030204" charset="0"/>
                        <a:cs typeface="Cambria Math" panose="02040503050406030204" charset="0"/>
                      </a:rPr>
                      <m:t>(</m:t>
                    </m:r>
                    <m:r>
                      <a:rPr lang="en-US" altLang="zh-CN" sz="2800" b="1" i="1">
                        <a:solidFill>
                          <a:srgbClr val="1F2DA8"/>
                        </a:solidFill>
                        <a:latin typeface="Cambria Math" panose="02040503050406030204" charset="0"/>
                        <a:cs typeface="Cambria Math" panose="02040503050406030204" charset="0"/>
                      </a:rPr>
                      <m:t>𝑹</m:t>
                    </m:r>
                    <m:r>
                      <a:rPr lang="en-US" altLang="zh-CN" sz="2800" b="1" i="1">
                        <a:solidFill>
                          <a:srgbClr val="1F2DA8"/>
                        </a:solidFill>
                        <a:latin typeface="Cambria Math" panose="02040503050406030204" charset="0"/>
                        <a:cs typeface="Cambria Math" panose="02040503050406030204" charset="0"/>
                      </a:rPr>
                      <m:t>) </m:t>
                    </m:r>
                    <m:r>
                      <a:rPr lang="zh-CN" altLang="en-US" sz="2800" b="1" dirty="0">
                        <a:solidFill>
                          <a:srgbClr val="1F2DA8"/>
                        </a:solidFill>
                        <a:latin typeface="楷体" charset="-122"/>
                        <a:ea typeface="楷体" charset="-122"/>
                      </a:rPr>
                      <m:t>或</m:t>
                    </m:r>
                    <m:r>
                      <a:rPr lang="en-US" altLang="zh-CN" sz="2800" b="1" i="1">
                        <a:solidFill>
                          <a:srgbClr val="1F2DA8"/>
                        </a:solidFill>
                        <a:latin typeface="Cambria Math" panose="02040503050406030204" charset="0"/>
                        <a:cs typeface="Cambria Math" panose="02040503050406030204" charset="0"/>
                      </a:rPr>
                      <m:t> </m:t>
                    </m:r>
                    <m:r>
                      <a:rPr lang="en-US" altLang="zh-CN" sz="2800" b="1" i="1">
                        <a:solidFill>
                          <a:srgbClr val="1F2DA8"/>
                        </a:solidFill>
                        <a:latin typeface="Cambria Math" panose="02040503050406030204" charset="0"/>
                        <a:cs typeface="Cambria Math" panose="02040503050406030204" charset="0"/>
                      </a:rPr>
                      <m:t>𝒂𝒕𝒕𝒓</m:t>
                    </m:r>
                    <m:r>
                      <a:rPr lang="en-US" altLang="zh-CN" sz="2800" b="1" i="1">
                        <a:solidFill>
                          <a:srgbClr val="1F2DA8"/>
                        </a:solidFill>
                        <a:latin typeface="Cambria Math" panose="02040503050406030204" charset="0"/>
                        <a:cs typeface="Cambria Math" panose="02040503050406030204" charset="0"/>
                      </a:rPr>
                      <m:t>_</m:t>
                    </m:r>
                    <m:r>
                      <a:rPr lang="en-US" altLang="zh-CN" sz="2800" b="1" i="1">
                        <a:solidFill>
                          <a:srgbClr val="1F2DA8"/>
                        </a:solidFill>
                        <a:latin typeface="Cambria Math" panose="02040503050406030204" charset="0"/>
                        <a:cs typeface="Cambria Math" panose="02040503050406030204" charset="0"/>
                      </a:rPr>
                      <m:t>𝒊</m:t>
                    </m:r>
                    <m:r>
                      <a:rPr lang="en-US" altLang="zh-CN" sz="2800" b="1" i="1">
                        <a:solidFill>
                          <a:srgbClr val="1F2DA8"/>
                        </a:solidFill>
                        <a:latin typeface="Cambria Math" panose="02040503050406030204" charset="0"/>
                        <a:cs typeface="Cambria Math" panose="02040503050406030204" charset="0"/>
                      </a:rPr>
                      <m:t>∈</m:t>
                    </m:r>
                    <m:r>
                      <a:rPr lang="en-US" altLang="zh-CN" sz="2800" b="1" i="1">
                        <a:solidFill>
                          <a:srgbClr val="1F2DA8"/>
                        </a:solidFill>
                        <a:latin typeface="Cambria Math" panose="02040503050406030204" charset="0"/>
                        <a:cs typeface="Cambria Math" panose="02040503050406030204" charset="0"/>
                      </a:rPr>
                      <m:t>𝒉𝒆𝒂𝒅</m:t>
                    </m:r>
                    <m:r>
                      <a:rPr lang="en-US" altLang="zh-CN" sz="2800" b="1" i="1">
                        <a:solidFill>
                          <a:srgbClr val="1F2DA8"/>
                        </a:solidFill>
                        <a:latin typeface="Cambria Math" panose="02040503050406030204" charset="0"/>
                        <a:cs typeface="Cambria Math" panose="02040503050406030204" charset="0"/>
                      </a:rPr>
                      <m:t>(</m:t>
                    </m:r>
                    <m:r>
                      <a:rPr lang="en-US" altLang="zh-CN" sz="2800" b="1" i="1">
                        <a:solidFill>
                          <a:srgbClr val="1F2DA8"/>
                        </a:solidFill>
                        <a:latin typeface="Cambria Math" panose="02040503050406030204" charset="0"/>
                        <a:cs typeface="Cambria Math" panose="02040503050406030204" charset="0"/>
                      </a:rPr>
                      <m:t>𝑺</m:t>
                    </m:r>
                    <m:r>
                      <a:rPr lang="en-US" altLang="zh-CN" sz="2800" b="1" i="1">
                        <a:solidFill>
                          <a:srgbClr val="1F2DA8"/>
                        </a:solidFill>
                        <a:latin typeface="Cambria Math" panose="02040503050406030204" charset="0"/>
                        <a:cs typeface="Cambria Math" panose="02040503050406030204" charset="0"/>
                      </a:rPr>
                      <m:t>) </m:t>
                    </m:r>
                    <m:r>
                      <a:rPr lang="en-US" altLang="zh-CN" sz="2800" b="1" i="1">
                        <a:solidFill>
                          <a:srgbClr val="1F2DA8"/>
                        </a:solidFill>
                        <a:latin typeface="Cambria Math" panose="02040503050406030204" charset="0"/>
                        <a:cs typeface="Cambria Math" panose="02040503050406030204" charset="0"/>
                      </a:rPr>
                      <m:t>𝒇𝒐𝒓</m:t>
                    </m:r>
                    <m:r>
                      <a:rPr lang="en-US" altLang="zh-CN" sz="2800" b="1" i="1">
                        <a:solidFill>
                          <a:srgbClr val="1F2DA8"/>
                        </a:solidFill>
                        <a:latin typeface="Cambria Math" panose="02040503050406030204" charset="0"/>
                        <a:cs typeface="Cambria Math" panose="02040503050406030204" charset="0"/>
                      </a:rPr>
                      <m:t> </m:t>
                    </m:r>
                    <m:r>
                      <a:rPr lang="en-US" altLang="zh-CN" sz="2800" b="1" i="1">
                        <a:solidFill>
                          <a:srgbClr val="1F2DA8"/>
                        </a:solidFill>
                        <a:latin typeface="Cambria Math" panose="02040503050406030204" charset="0"/>
                        <a:cs typeface="Cambria Math" panose="02040503050406030204" charset="0"/>
                      </a:rPr>
                      <m:t>𝒊</m:t>
                    </m:r>
                    <m:r>
                      <a:rPr lang="en-US" altLang="zh-CN" sz="2800" b="1" i="1">
                        <a:solidFill>
                          <a:srgbClr val="1F2DA8"/>
                        </a:solidFill>
                        <a:latin typeface="Cambria Math" panose="02040503050406030204" charset="0"/>
                        <a:cs typeface="Cambria Math" panose="02040503050406030204" charset="0"/>
                      </a:rPr>
                      <m:t>=</m:t>
                    </m:r>
                    <m:r>
                      <a:rPr lang="en-US" altLang="zh-CN" sz="2800" b="1" i="1">
                        <a:solidFill>
                          <a:srgbClr val="1F2DA8"/>
                        </a:solidFill>
                        <a:latin typeface="Cambria Math" panose="02040503050406030204" charset="0"/>
                        <a:cs typeface="Cambria Math" panose="02040503050406030204" charset="0"/>
                      </a:rPr>
                      <m:t>𝟏</m:t>
                    </m:r>
                    <m:r>
                      <a:rPr lang="en-US" altLang="zh-CN" sz="2800" b="1" i="1">
                        <a:solidFill>
                          <a:srgbClr val="1F2DA8"/>
                        </a:solidFill>
                        <a:latin typeface="Cambria Math" panose="02040503050406030204" charset="0"/>
                        <a:cs typeface="Cambria Math" panose="02040503050406030204" charset="0"/>
                      </a:rPr>
                      <m:t>,</m:t>
                    </m:r>
                    <m:r>
                      <a:rPr lang="en-US" altLang="zh-CN" sz="2800" b="1" i="1">
                        <a:solidFill>
                          <a:srgbClr val="1F2DA8"/>
                        </a:solidFill>
                        <a:latin typeface="Cambria Math" panose="02040503050406030204" charset="0"/>
                        <a:cs typeface="Cambria Math" panose="02040503050406030204" charset="0"/>
                      </a:rPr>
                      <m:t>𝟐</m:t>
                    </m:r>
                    <m:r>
                      <a:rPr lang="en-US" altLang="zh-CN" sz="2800" b="1" i="1">
                        <a:solidFill>
                          <a:srgbClr val="1F2DA8"/>
                        </a:solidFill>
                        <a:latin typeface="Cambria Math" panose="02040503050406030204" charset="0"/>
                        <a:cs typeface="Cambria Math" panose="02040503050406030204" charset="0"/>
                      </a:rPr>
                      <m:t>,⋯,</m:t>
                    </m:r>
                    <m:r>
                      <a:rPr lang="en-US" altLang="zh-CN" sz="2800" b="1" i="1">
                        <a:solidFill>
                          <a:srgbClr val="1F2DA8"/>
                        </a:solidFill>
                        <a:latin typeface="Cambria Math" panose="02040503050406030204" charset="0"/>
                        <a:cs typeface="Cambria Math" panose="02040503050406030204" charset="0"/>
                      </a:rPr>
                      <m:t>𝒙</m:t>
                    </m:r>
                  </m:oMath>
                </a14:m>
                <a:r>
                  <a:rPr lang="en-US" altLang="zh-CN" sz="2800" b="1" i="1">
                    <a:solidFill>
                      <a:srgbClr val="1F2DA8"/>
                    </a:solidFill>
                    <a:latin typeface="Cambria Math" panose="02040503050406030204" charset="0"/>
                    <a:cs typeface="Cambria Math" panose="02040503050406030204" charset="0"/>
                  </a:rPr>
                  <a:t> </a:t>
                </a:r>
                <a:endParaRPr lang="en-US" altLang="zh-CN" sz="2800" b="1" i="1">
                  <a:solidFill>
                    <a:srgbClr val="1F2DA8"/>
                  </a:solidFill>
                  <a:latin typeface="Cambria Math" panose="02040503050406030204" charset="0"/>
                  <a:cs typeface="Cambria Math" panose="02040503050406030204"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1048385" y="3150870"/>
                <a:ext cx="10093960" cy="555625"/>
              </a:xfrm>
              <a:prstGeom prst="rect">
                <a:avLst/>
              </a:prstGeom>
              <a:blipFill rotWithShape="1">
                <a:blip r:embed="rId2"/>
                <a:stretch>
                  <a:fillRect r="-19263"/>
                </a:stretch>
              </a:blipFill>
            </p:spPr>
            <p:txBody>
              <a:bodyPr/>
              <a:lstStyle/>
              <a:p>
                <a:r>
                  <a:rPr lang="zh-CN" altLang="en-US">
                    <a:noFill/>
                  </a:rPr>
                  <a:t> </a:t>
                </a:r>
              </a:p>
            </p:txBody>
          </p:sp>
        </mc:Fallback>
      </mc:AlternateContent>
      <p:sp>
        <p:nvSpPr>
          <p:cNvPr id="30726" name="Rectangle 7"/>
          <p:cNvSpPr/>
          <p:nvPr/>
        </p:nvSpPr>
        <p:spPr>
          <a:xfrm>
            <a:off x="424180" y="3681095"/>
            <a:ext cx="8536305" cy="565150"/>
          </a:xfrm>
          <a:prstGeom prst="rect">
            <a:avLst/>
          </a:prstGeom>
          <a:noFill/>
          <a:ln w="9525">
            <a:noFill/>
          </a:ln>
        </p:spPr>
        <p:txBody>
          <a:bodyPr wrap="square" anchor="t">
            <a:noAutofit/>
          </a:bodyPr>
          <a:p>
            <a:pPr marL="742950" lvl="1" indent="-285750" algn="l" eaLnBrk="1" hangingPunct="1">
              <a:lnSpc>
                <a:spcPct val="110000"/>
              </a:lnSpc>
              <a:spcBef>
                <a:spcPct val="20000"/>
              </a:spcBef>
              <a:buClr>
                <a:srgbClr val="C00000"/>
              </a:buClr>
              <a:buSzPct val="85000"/>
              <a:buFont typeface="Wingdings" panose="05000000000000000000" pitchFamily="2" charset="2"/>
              <a:buChar char="Ø"/>
            </a:pPr>
            <a:r>
              <a:rPr lang="en-US" altLang="x-none" sz="2800" b="1" dirty="0">
                <a:solidFill>
                  <a:srgbClr val="1F2DA8"/>
                </a:solidFill>
                <a:highlight>
                  <a:srgbClr val="FFFF00"/>
                </a:highlight>
                <a:latin typeface="+mn-lt"/>
                <a:ea typeface="楷体" charset="-122"/>
                <a:cs typeface="+mn-lt"/>
                <a:sym typeface="Symbol" panose="05050102010706020507" pitchFamily="18" charset="2"/>
              </a:rPr>
              <a:t>SQL</a:t>
            </a:r>
            <a:r>
              <a:rPr lang="zh-CN" altLang="en-US" sz="2800" b="1" dirty="0">
                <a:solidFill>
                  <a:srgbClr val="1F2DA8"/>
                </a:solidFill>
                <a:highlight>
                  <a:srgbClr val="FFFF00"/>
                </a:highlight>
                <a:latin typeface="+mn-lt"/>
                <a:ea typeface="楷体" charset="-122"/>
                <a:cs typeface="+mn-lt"/>
                <a:sym typeface="Symbol" panose="05050102010706020507" pitchFamily="18" charset="2"/>
              </a:rPr>
              <a:t>语言</a:t>
            </a:r>
            <a:r>
              <a:rPr lang="zh-CN" altLang="en-US" sz="2800" b="1" dirty="0">
                <a:solidFill>
                  <a:srgbClr val="1F2DA8"/>
                </a:solidFill>
                <a:latin typeface="+mn-lt"/>
                <a:ea typeface="楷体" charset="-122"/>
                <a:cs typeface="+mn-lt"/>
                <a:sym typeface="Symbol" panose="05050102010706020507" pitchFamily="18" charset="2"/>
              </a:rPr>
              <a:t>：</a:t>
            </a:r>
            <a:endParaRPr lang="zh-CN" altLang="en-US" sz="2800" b="1" dirty="0">
              <a:solidFill>
                <a:srgbClr val="1F2DA8"/>
              </a:solidFill>
              <a:latin typeface="+mn-lt"/>
              <a:ea typeface="楷体" charset="-122"/>
              <a:cs typeface="+mn-lt"/>
              <a:sym typeface="Symbol" panose="05050102010706020507" pitchFamily="18" charset="2"/>
            </a:endParaRPr>
          </a:p>
        </p:txBody>
      </p:sp>
      <mc:AlternateContent xmlns:mc="http://schemas.openxmlformats.org/markup-compatibility/2006">
        <mc:Choice xmlns:a14="http://schemas.microsoft.com/office/drawing/2010/main" Requires="a14">
          <p:sp>
            <p:nvSpPr>
              <p:cNvPr id="2" name="Rectangle 5"/>
              <p:cNvSpPr>
                <a:spLocks noGrp="1"/>
              </p:cNvSpPr>
              <p:nvPr/>
            </p:nvSpPr>
            <p:spPr>
              <a:xfrm>
                <a:off x="423545" y="4338955"/>
                <a:ext cx="11344275" cy="1512570"/>
              </a:xfrm>
              <a:prstGeom prst="rect">
                <a:avLst/>
              </a:prstGeom>
              <a:noFill/>
              <a:ln w="9525">
                <a:solidFill>
                  <a:schemeClr val="accent1"/>
                </a:solidFill>
              </a:ln>
            </p:spPr>
            <p:txBody>
              <a:bodyPr wrap="square" lIns="198120" anchor="t">
                <a:no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lvl="0" eaLnBrk="1" hangingPunct="1">
                  <a:buNone/>
                </a:pPr>
                <a14:m>
                  <m:oMathPara xmlns:m="http://schemas.openxmlformats.org/officeDocument/2006/math">
                    <m:oMathParaPr>
                      <m:jc m:val="left"/>
                    </m:oMathParaPr>
                    <m:oMath xmlns:m="http://schemas.openxmlformats.org/officeDocument/2006/math">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𝑆𝐸𝐿𝐸𝐶𝑇</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𝑎𝑡𝑡𝑟</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_</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𝑎𝑡𝑡𝑟</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_</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𝑎𝑡𝑡𝑟</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_</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𝑥</m:t>
                      </m:r>
                    </m:oMath>
                  </m:oMathPara>
                </a14:m>
                <a:endParaRPr lang="en-US" altLang="x-none" sz="2800" b="0" i="1" dirty="0">
                  <a:solidFill>
                    <a:srgbClr val="FF0000"/>
                  </a:solidFill>
                  <a:sym typeface="Symbol" panose="05050102010706020507" pitchFamily="18" charset="2"/>
                </a:endParaRPr>
              </a:p>
              <a:p>
                <a:pPr lvl="0" eaLnBrk="1" hangingPunct="1">
                  <a:buNone/>
                </a:pPr>
                <a14:m>
                  <m:oMathPara xmlns:m="http://schemas.openxmlformats.org/officeDocument/2006/math">
                    <m:oMathParaPr>
                      <m:jc m:val="left"/>
                    </m:oMathParaPr>
                    <m:oMath xmlns:m="http://schemas.openxmlformats.org/officeDocument/2006/math">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𝐹𝑅𝑂𝑀</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𝑅</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b="0" i="1" dirty="0">
                          <a:solidFill>
                            <a:srgbClr val="FF0000"/>
                          </a:solidFill>
                          <a:latin typeface="Cambria Math" panose="02040503050406030204" charset="0"/>
                          <a:cs typeface="Cambria Math" panose="02040503050406030204" charset="0"/>
                          <a:sym typeface="Symbol" panose="05050102010706020507" pitchFamily="18" charset="2"/>
                        </a:rPr>
                        <m:t>𝑆</m:t>
                      </m:r>
                    </m:oMath>
                  </m:oMathPara>
                </a14:m>
                <a:endParaRPr lang="en-US" altLang="x-none" sz="2800" b="0" i="1" dirty="0">
                  <a:solidFill>
                    <a:srgbClr val="FF0000"/>
                  </a:solidFill>
                </a:endParaRPr>
              </a:p>
              <a:p>
                <a:pPr lvl="0" eaLnBrk="1" hangingPunct="1">
                  <a:buNone/>
                </a:pPr>
                <a14:m>
                  <m:oMathPara xmlns:m="http://schemas.openxmlformats.org/officeDocument/2006/math">
                    <m:oMathParaPr>
                      <m:jc m:val="left"/>
                    </m:oMathParaPr>
                    <m:oMath xmlns:m="http://schemas.openxmlformats.org/officeDocument/2006/math">
                      <m:r>
                        <a:rPr lang="en-US" altLang="x-none" sz="2800" b="0" i="1" dirty="0">
                          <a:solidFill>
                            <a:srgbClr val="FF0000"/>
                          </a:solidFill>
                          <a:latin typeface="Cambria Math" panose="02040503050406030204" charset="0"/>
                          <a:cs typeface="Cambria Math" panose="02040503050406030204" charset="0"/>
                        </a:rPr>
                        <m:t>𝑊𝐻𝐸𝑅𝐸</m:t>
                      </m:r>
                      <m:r>
                        <a:rPr lang="en-US" altLang="x-none" sz="2800" b="0" i="1" dirty="0">
                          <a:solidFill>
                            <a:srgbClr val="FF0000"/>
                          </a:solidFill>
                          <a:latin typeface="Cambria Math" panose="02040503050406030204" charset="0"/>
                          <a:cs typeface="Cambria Math" panose="02040503050406030204" charset="0"/>
                        </a:rPr>
                        <m:t>  </m:t>
                      </m:r>
                      <m:r>
                        <a:rPr lang="en-US" altLang="x-none" sz="2800" b="0" i="1" dirty="0">
                          <a:solidFill>
                            <a:srgbClr val="FF0000"/>
                          </a:solidFill>
                          <a:latin typeface="Cambria Math" panose="02040503050406030204" charset="0"/>
                          <a:cs typeface="Cambria Math" panose="02040503050406030204" charset="0"/>
                        </a:rPr>
                        <m:t>𝐹</m:t>
                      </m:r>
                      <m:r>
                        <a:rPr lang="en-US" altLang="x-none" sz="2800" b="0" i="1" dirty="0">
                          <a:solidFill>
                            <a:srgbClr val="FF0000"/>
                          </a:solidFill>
                          <a:latin typeface="Cambria Math" panose="02040503050406030204" charset="0"/>
                          <a:cs typeface="Cambria Math" panose="02040503050406030204" charset="0"/>
                        </a:rPr>
                        <m:t> </m:t>
                      </m:r>
                      <m:r>
                        <a:rPr lang="en-US" altLang="x-none" sz="2800" b="0" i="1" dirty="0">
                          <a:solidFill>
                            <a:srgbClr val="FF0000"/>
                          </a:solidFill>
                          <a:latin typeface="Cambria Math" panose="02040503050406030204" charset="0"/>
                          <a:cs typeface="Cambria Math" panose="02040503050406030204" charset="0"/>
                        </a:rPr>
                        <m:t> </m:t>
                      </m:r>
                      <m:r>
                        <a:rPr lang="en-US" altLang="x-none" sz="2800" b="0" i="1" dirty="0">
                          <a:solidFill>
                            <a:srgbClr val="FF0000"/>
                          </a:solidFill>
                          <a:latin typeface="Cambria Math" panose="02040503050406030204" charset="0"/>
                          <a:cs typeface="Cambria Math" panose="02040503050406030204" charset="0"/>
                        </a:rPr>
                        <m:t>𝑎𝑛𝑑</m:t>
                      </m:r>
                      <m:r>
                        <a:rPr lang="en-US" altLang="x-none" sz="2800" b="0" i="1" dirty="0">
                          <a:solidFill>
                            <a:srgbClr val="FF0000"/>
                          </a:solidFill>
                          <a:latin typeface="Cambria Math" panose="02040503050406030204" charset="0"/>
                          <a:cs typeface="Cambria Math" panose="02040503050406030204" charset="0"/>
                        </a:rPr>
                        <m:t> </m:t>
                      </m:r>
                      <m:r>
                        <a:rPr lang="en-US" altLang="x-none" sz="2800" b="0" i="1" dirty="0">
                          <a:solidFill>
                            <a:srgbClr val="FF0000"/>
                          </a:solidFill>
                          <a:latin typeface="Cambria Math" panose="02040503050406030204" charset="0"/>
                          <a:cs typeface="Cambria Math" panose="02040503050406030204" charset="0"/>
                        </a:rPr>
                        <m:t> </m:t>
                      </m:r>
                      <m:r>
                        <a:rPr lang="en-US" altLang="x-none" sz="2800" b="0" i="1" dirty="0">
                          <a:solidFill>
                            <a:srgbClr val="FF0000"/>
                          </a:solidFill>
                          <a:latin typeface="Cambria Math" panose="02040503050406030204" charset="0"/>
                          <a:cs typeface="Cambria Math" panose="02040503050406030204" charset="0"/>
                        </a:rPr>
                        <m:t>𝑅</m:t>
                      </m:r>
                      <m:r>
                        <a:rPr lang="en-US" altLang="x-none" sz="2800" b="0" i="1" dirty="0">
                          <a:solidFill>
                            <a:srgbClr val="FF0000"/>
                          </a:solidFill>
                          <a:latin typeface="Cambria Math" panose="02040503050406030204" charset="0"/>
                          <a:cs typeface="Cambria Math" panose="02040503050406030204" charset="0"/>
                        </a:rPr>
                        <m:t>.</m:t>
                      </m:r>
                      <m:r>
                        <a:rPr lang="en-US" altLang="x-none" sz="2800" b="0" i="1" dirty="0">
                          <a:solidFill>
                            <a:srgbClr val="FF0000"/>
                          </a:solidFill>
                          <a:latin typeface="Cambria Math" panose="02040503050406030204"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1</m:t>
                      </m:r>
                      <m:r>
                        <a:rPr lang="en-US" altLang="x-none" sz="2800" b="0" i="1" dirty="0">
                          <a:solidFill>
                            <a:srgbClr val="FF0000"/>
                          </a:solidFill>
                          <a:latin typeface="Cambria Math" panose="02040503050406030204" charset="0"/>
                          <a:cs typeface="Cambria Math" panose="02040503050406030204" charset="0"/>
                        </a:rPr>
                        <m:t>=</m:t>
                      </m:r>
                      <m:r>
                        <a:rPr lang="en-US" altLang="x-none" sz="2800" b="0" i="1" dirty="0">
                          <a:solidFill>
                            <a:srgbClr val="FF0000"/>
                          </a:solidFill>
                          <a:latin typeface="Cambria Math" panose="02040503050406030204" charset="0"/>
                          <a:cs typeface="Cambria Math" panose="02040503050406030204" charset="0"/>
                        </a:rPr>
                        <m:t>𝑆</m:t>
                      </m:r>
                      <m:r>
                        <a:rPr lang="en-US" altLang="x-none" sz="2800" b="0" i="1" dirty="0">
                          <a:solidFill>
                            <a:srgbClr val="FF0000"/>
                          </a:solidFill>
                          <a:latin typeface="Cambria Math" panose="02040503050406030204" charset="0"/>
                          <a:cs typeface="Cambria Math" panose="02040503050406030204" charset="0"/>
                        </a:rPr>
                        <m:t>.</m:t>
                      </m:r>
                      <m:r>
                        <a:rPr lang="en-US" altLang="x-none" sz="2800" b="0" i="1" dirty="0">
                          <a:solidFill>
                            <a:srgbClr val="FF0000"/>
                          </a:solidFill>
                          <a:latin typeface="Cambria Math" panose="02040503050406030204"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1</m:t>
                      </m:r>
                      <m:r>
                        <a:rPr lang="en-US" altLang="x-none" sz="2800" b="0" i="1" dirty="0">
                          <a:solidFill>
                            <a:srgbClr val="FF0000"/>
                          </a:solidFill>
                          <a:latin typeface="Cambria Math" panose="02040503050406030204" charset="0"/>
                          <a:cs typeface="Cambria Math" panose="02040503050406030204" charset="0"/>
                        </a:rPr>
                        <m:t> </m:t>
                      </m:r>
                      <m:r>
                        <a:rPr lang="en-US" altLang="x-none" sz="2800" b="0" i="1" dirty="0">
                          <a:solidFill>
                            <a:srgbClr val="FF0000"/>
                          </a:solidFill>
                          <a:latin typeface="Cambria Math" panose="02040503050406030204" charset="0"/>
                          <a:cs typeface="Cambria Math" panose="02040503050406030204" charset="0"/>
                        </a:rPr>
                        <m:t>𝑎𝑛𝑑</m:t>
                      </m:r>
                      <m:r>
                        <a:rPr lang="en-US" altLang="x-none" sz="2800" b="0" i="1" dirty="0">
                          <a:solidFill>
                            <a:srgbClr val="FF0000"/>
                          </a:solidFill>
                          <a:latin typeface="Cambria Math" panose="02040503050406030204" charset="0"/>
                          <a:ea typeface="MS Mincho" charset="0"/>
                          <a:cs typeface="Cambria Math" panose="02040503050406030204" charset="0"/>
                        </a:rPr>
                        <m:t> </m:t>
                      </m:r>
                      <m:r>
                        <a:rPr lang="en-US" altLang="x-none" sz="2800" b="0" i="1" dirty="0">
                          <a:solidFill>
                            <a:srgbClr val="FF0000"/>
                          </a:solidFill>
                          <a:latin typeface="Cambria Math" panose="02040503050406030204" charset="0"/>
                          <a:ea typeface="MS Mincho" charset="0"/>
                          <a:cs typeface="Cambria Math" panose="02040503050406030204" charset="0"/>
                        </a:rPr>
                        <m:t>𝑅</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2</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𝑆</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2</m:t>
                      </m:r>
                      <m:r>
                        <a:rPr lang="en-US" altLang="x-none" sz="2800" b="0" i="1" dirty="0">
                          <a:solidFill>
                            <a:srgbClr val="FF0000"/>
                          </a:solidFill>
                          <a:latin typeface="Cambria Math" panose="02040503050406030204" charset="0"/>
                          <a:ea typeface="MS Mincho" charset="0"/>
                          <a:cs typeface="Cambria Math" panose="02040503050406030204" charset="0"/>
                        </a:rPr>
                        <m:t> </m:t>
                      </m:r>
                      <m:r>
                        <a:rPr lang="en-US" altLang="x-none" sz="2800" b="0" i="1" dirty="0">
                          <a:solidFill>
                            <a:srgbClr val="FF0000"/>
                          </a:solidFill>
                          <a:latin typeface="Cambria Math" panose="02040503050406030204" charset="0"/>
                          <a:ea typeface="MS Mincho" charset="0"/>
                          <a:cs typeface="Cambria Math" panose="02040503050406030204" charset="0"/>
                        </a:rPr>
                        <m:t>𝑎𝑛𝑑</m:t>
                      </m:r>
                      <m:r>
                        <a:rPr lang="en-US" altLang="x-none" sz="2800" b="0" i="1" dirty="0">
                          <a:solidFill>
                            <a:srgbClr val="FF0000"/>
                          </a:solidFill>
                          <a:latin typeface="Cambria Math" panose="02040503050406030204" charset="0"/>
                          <a:ea typeface="MS Mincho" charset="0"/>
                          <a:cs typeface="Cambria Math" panose="02040503050406030204" charset="0"/>
                        </a:rPr>
                        <m:t> ... </m:t>
                      </m:r>
                      <m:r>
                        <a:rPr lang="en-US" altLang="x-none" sz="2800" b="0" i="1" dirty="0">
                          <a:solidFill>
                            <a:srgbClr val="FF0000"/>
                          </a:solidFill>
                          <a:latin typeface="Cambria Math" panose="02040503050406030204" charset="0"/>
                          <a:ea typeface="MS Mincho" charset="0"/>
                          <a:cs typeface="Cambria Math" panose="02040503050406030204" charset="0"/>
                        </a:rPr>
                        <m:t>𝑎𝑛𝑑</m:t>
                      </m:r>
                      <m:r>
                        <a:rPr lang="en-US" altLang="x-none" sz="2800" b="0" i="1" dirty="0">
                          <a:solidFill>
                            <a:srgbClr val="FF0000"/>
                          </a:solidFill>
                          <a:latin typeface="Cambria Math" panose="02040503050406030204" charset="0"/>
                          <a:ea typeface="MS Mincho" charset="0"/>
                          <a:cs typeface="Cambria Math" panose="02040503050406030204" charset="0"/>
                        </a:rPr>
                        <m:t> </m:t>
                      </m:r>
                      <m:r>
                        <a:rPr lang="en-US" altLang="x-none" sz="2800" b="0" i="1" dirty="0">
                          <a:solidFill>
                            <a:srgbClr val="FF0000"/>
                          </a:solidFill>
                          <a:latin typeface="Cambria Math" panose="02040503050406030204" charset="0"/>
                          <a:ea typeface="MS Mincho" charset="0"/>
                          <a:cs typeface="Cambria Math" panose="02040503050406030204" charset="0"/>
                        </a:rPr>
                        <m:t>𝑅</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𝑘</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𝑆</m:t>
                      </m:r>
                      <m:r>
                        <a:rPr lang="en-US" altLang="x-none" sz="2800" b="0" i="1" dirty="0">
                          <a:solidFill>
                            <a:srgbClr val="FF0000"/>
                          </a:solidFill>
                          <a:latin typeface="Cambria Math" panose="02040503050406030204" charset="0"/>
                          <a:ea typeface="MS Mincho" charset="0"/>
                          <a:cs typeface="Cambria Math" panose="02040503050406030204" charset="0"/>
                        </a:rPr>
                        <m:t>.</m:t>
                      </m:r>
                      <m:r>
                        <a:rPr lang="en-US" altLang="x-none" sz="2800" b="0" i="1" dirty="0">
                          <a:solidFill>
                            <a:srgbClr val="FF0000"/>
                          </a:solidFill>
                          <a:latin typeface="Cambria Math" panose="02040503050406030204" charset="0"/>
                          <a:ea typeface="MS Mincho" charset="0"/>
                          <a:cs typeface="Cambria Math" panose="02040503050406030204" charset="0"/>
                        </a:rPr>
                        <m:t>𝐵</m:t>
                      </m:r>
                      <m:r>
                        <a:rPr lang="en-US" altLang="x-none" sz="2800" b="0" i="1" baseline="-25000" dirty="0">
                          <a:solidFill>
                            <a:srgbClr val="FF0000"/>
                          </a:solidFill>
                          <a:latin typeface="Cambria Math" panose="02040503050406030204" charset="0"/>
                          <a:cs typeface="Cambria Math" panose="02040503050406030204" charset="0"/>
                        </a:rPr>
                        <m:t>𝑘</m:t>
                      </m:r>
                      <m:r>
                        <a:rPr lang="en-US" altLang="x-none" sz="2800" b="0" i="1" dirty="0">
                          <a:solidFill>
                            <a:srgbClr val="FF0000"/>
                          </a:solidFill>
                          <a:latin typeface="Cambria Math" panose="02040503050406030204" charset="0"/>
                          <a:ea typeface="MS Mincho" charset="0"/>
                          <a:cs typeface="Cambria Math" panose="02040503050406030204" charset="0"/>
                        </a:rPr>
                        <m:t> ;</m:t>
                      </m:r>
                    </m:oMath>
                  </m:oMathPara>
                </a14:m>
                <a:endParaRPr lang="zh-CN" altLang="en-US" sz="2800" b="0" i="1" dirty="0">
                  <a:solidFill>
                    <a:srgbClr val="FF0000"/>
                  </a:solidFill>
                  <a:latin typeface="Cambria Math" panose="02040503050406030204" charset="0"/>
                  <a:cs typeface="Cambria Math" panose="02040503050406030204" charset="0"/>
                </a:endParaRPr>
              </a:p>
            </p:txBody>
          </p:sp>
        </mc:Choice>
        <mc:Fallback>
          <p:sp>
            <p:nvSpPr>
              <p:cNvPr id="2" name="Rectangle 5"/>
              <p:cNvSpPr>
                <a:spLocks noRot="1" noChangeAspect="1" noMove="1" noResize="1" noEditPoints="1" noAdjustHandles="1" noChangeArrowheads="1" noChangeShapeType="1" noTextEdit="1"/>
              </p:cNvSpPr>
              <p:nvPr/>
            </p:nvSpPr>
            <p:spPr>
              <a:xfrm>
                <a:off x="423545" y="4338955"/>
                <a:ext cx="11344275" cy="1512570"/>
              </a:xfrm>
              <a:prstGeom prst="rect">
                <a:avLst/>
              </a:prstGeom>
              <a:blipFill rotWithShape="1">
                <a:blip r:embed="rId3"/>
                <a:stretch>
                  <a:fillRect l="-56" t="-420" r="-56" b="-31780"/>
                </a:stretch>
              </a:blipFill>
              <a:ln w="9525">
                <a:solidFill>
                  <a:schemeClr val="accent1"/>
                </a:solidFill>
              </a:ln>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 calcmode="lin" valueType="num">
                                      <p:cBhvr additive="base">
                                        <p:cTn id="7" dur="500" fill="hold"/>
                                        <p:tgtEl>
                                          <p:spTgt spid="30726"/>
                                        </p:tgtEl>
                                        <p:attrNameLst>
                                          <p:attrName>ppt_x</p:attrName>
                                        </p:attrNameLst>
                                      </p:cBhvr>
                                      <p:tavLst>
                                        <p:tav tm="0">
                                          <p:val>
                                            <p:strVal val="#ppt_x"/>
                                          </p:val>
                                        </p:tav>
                                        <p:tav tm="100000">
                                          <p:val>
                                            <p:strVal val="#ppt_x"/>
                                          </p:val>
                                        </p:tav>
                                      </p:tavLst>
                                    </p:anim>
                                    <p:anim calcmode="lin" valueType="num">
                                      <p:cBhvr additive="base">
                                        <p:cTn id="8" dur="500" fill="hold"/>
                                        <p:tgtEl>
                                          <p:spTgt spid="307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p:bldP spid="2"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关系数据查询：关系代数</a:t>
            </a:r>
            <a:r>
              <a:rPr lang="en-US" altLang="zh-CN" dirty="0">
                <a:sym typeface="+mn-ea"/>
              </a:rPr>
              <a:t> vs. SQL</a:t>
            </a:r>
            <a:r>
              <a:rPr lang="zh-CN" altLang="en-US" dirty="0">
                <a:sym typeface="+mn-ea"/>
              </a:rPr>
              <a:t>语言</a:t>
            </a:r>
            <a:endParaRPr lang="zh-CN" altLang="en-US"/>
          </a:p>
        </p:txBody>
      </p:sp>
      <p:sp>
        <p:nvSpPr>
          <p:cNvPr id="3" name="内容占位符 2"/>
          <p:cNvSpPr>
            <a:spLocks noGrp="1"/>
          </p:cNvSpPr>
          <p:nvPr>
            <p:ph idx="1"/>
          </p:nvPr>
        </p:nvSpPr>
        <p:spPr>
          <a:xfrm>
            <a:off x="424180" y="687070"/>
            <a:ext cx="11343005" cy="1038860"/>
          </a:xfrm>
        </p:spPr>
        <p:txBody>
          <a:bodyPr>
            <a:noAutofit/>
          </a:bodyPr>
          <a:p>
            <a:pPr eaLnBrk="1" hangingPunct="1"/>
            <a:r>
              <a:rPr lang="zh-CN" altLang="en-US" sz="2800" dirty="0">
                <a:sym typeface="+mn-ea"/>
              </a:rPr>
              <a:t>为了避免自然连接的</a:t>
            </a:r>
            <a:r>
              <a:rPr lang="en-US" altLang="zh-CN" sz="2800" u="sng" dirty="0">
                <a:sym typeface="+mn-ea"/>
              </a:rPr>
              <a:t>‘</a:t>
            </a:r>
            <a:r>
              <a:rPr lang="zh-CN" altLang="en-US" sz="2800" u="sng" dirty="0">
                <a:sym typeface="+mn-ea"/>
              </a:rPr>
              <a:t>麻烦</a:t>
            </a:r>
            <a:r>
              <a:rPr lang="en-US" altLang="zh-CN" sz="2800" u="sng" dirty="0">
                <a:sym typeface="+mn-ea"/>
              </a:rPr>
              <a:t>’</a:t>
            </a:r>
            <a:r>
              <a:rPr lang="zh-CN" altLang="en-US" sz="2800" dirty="0">
                <a:sym typeface="+mn-ea"/>
              </a:rPr>
              <a:t>，更常见的是采用</a:t>
            </a:r>
            <a:endParaRPr lang="zh-CN" altLang="en-US" sz="2800" dirty="0"/>
          </a:p>
          <a:p>
            <a:pPr marL="914400" lvl="2" indent="0" eaLnBrk="1" hangingPunct="1">
              <a:buNone/>
            </a:pPr>
            <a:r>
              <a:rPr lang="zh-CN" altLang="en-US" sz="2800" dirty="0">
                <a:solidFill>
                  <a:srgbClr val="FF0000"/>
                </a:solidFill>
                <a:latin typeface="Arial" panose="020B0604020202090204" pitchFamily="34" charset="0"/>
                <a:cs typeface="Arial" panose="020B0604020202090204" pitchFamily="34" charset="0"/>
                <a:sym typeface="+mn-ea"/>
              </a:rPr>
              <a:t>迪卡尔积</a:t>
            </a:r>
            <a:r>
              <a:rPr lang="zh-CN" altLang="en-US" sz="2800" dirty="0">
                <a:solidFill>
                  <a:srgbClr val="FF0000"/>
                </a:solidFill>
                <a:sym typeface="+mn-ea"/>
              </a:rPr>
              <a:t> </a:t>
            </a:r>
            <a:r>
              <a:rPr lang="en-US" altLang="zh-CN" sz="2800" dirty="0">
                <a:solidFill>
                  <a:srgbClr val="FF0000"/>
                </a:solidFill>
                <a:sym typeface="+mn-ea"/>
              </a:rPr>
              <a:t>+ </a:t>
            </a:r>
            <a:r>
              <a:rPr lang="zh-CN" altLang="en-US" sz="2800" dirty="0">
                <a:solidFill>
                  <a:srgbClr val="FF0000"/>
                </a:solidFill>
                <a:sym typeface="+mn-ea"/>
              </a:rPr>
              <a:t>选择 </a:t>
            </a:r>
            <a:r>
              <a:rPr lang="en-US" altLang="zh-CN" sz="2800" dirty="0">
                <a:solidFill>
                  <a:srgbClr val="FF0000"/>
                </a:solidFill>
                <a:sym typeface="+mn-ea"/>
              </a:rPr>
              <a:t>+ </a:t>
            </a:r>
            <a:r>
              <a:rPr lang="zh-CN" altLang="en-US" sz="2800" dirty="0">
                <a:solidFill>
                  <a:srgbClr val="FF0000"/>
                </a:solidFill>
                <a:sym typeface="+mn-ea"/>
              </a:rPr>
              <a:t>投影</a:t>
            </a:r>
            <a:endParaRPr lang="zh-CN" altLang="en-US" sz="2800"/>
          </a:p>
        </p:txBody>
      </p:sp>
      <mc:AlternateContent xmlns:mc="http://schemas.openxmlformats.org/markup-compatibility/2006">
        <mc:Choice xmlns:a14="http://schemas.microsoft.com/office/drawing/2010/main" Requires="a14">
          <p:sp>
            <p:nvSpPr>
              <p:cNvPr id="31747" name="Rectangle 5"/>
              <p:cNvSpPr>
                <a:spLocks noGrp="1"/>
              </p:cNvSpPr>
              <p:nvPr>
                <p:ph type="body" idx="4294967295"/>
                <p:custDataLst>
                  <p:tags r:id="rId1"/>
                </p:custDataLst>
              </p:nvPr>
            </p:nvSpPr>
            <p:spPr>
              <a:xfrm>
                <a:off x="424180" y="1726565"/>
                <a:ext cx="11342370" cy="1306830"/>
              </a:xfrm>
            </p:spPr>
            <p:txBody>
              <a:bodyPr wrap="square" anchor="t">
                <a:noAutofit/>
              </a:bodyPr>
              <a:p>
                <a:pPr marL="457200" lvl="1" indent="0" eaLnBrk="1" hangingPunct="1">
                  <a:lnSpc>
                    <a:spcPct val="100000"/>
                  </a:lnSpc>
                  <a:buNone/>
                </a:pPr>
                <a:r>
                  <a:rPr lang="zh-CN" altLang="en-US" dirty="0">
                    <a:solidFill>
                      <a:srgbClr val="1F2DA8"/>
                    </a:solidFill>
                    <a:ea typeface="楷体" charset="-122"/>
                    <a:cs typeface="+mn-lt"/>
                  </a:rPr>
                  <a:t>假设</a:t>
                </a:r>
                <a:r>
                  <a:rPr lang="en-US" altLang="x-none" dirty="0">
                    <a:solidFill>
                      <a:srgbClr val="1F2DA8"/>
                    </a:solidFill>
                    <a:ea typeface="楷体" charset="-122"/>
                    <a:cs typeface="+mn-lt"/>
                  </a:rPr>
                  <a:t>: </a:t>
                </a:r>
                <a14:m>
                  <m:oMath xmlns:m="http://schemas.openxmlformats.org/officeDocument/2006/math">
                    <m:r>
                      <a:rPr lang="en-US" altLang="x-none" i="1" dirty="0">
                        <a:solidFill>
                          <a:srgbClr val="1F2DA8"/>
                        </a:solidFill>
                        <a:latin typeface="Cambria Math" panose="02040503050406030204" charset="0"/>
                        <a:ea typeface="楷体" charset="-122"/>
                        <a:cs typeface="Cambria Math" panose="02040503050406030204" charset="0"/>
                      </a:rPr>
                      <m:t>𝐻𝑒𝑎𝑑</m:t>
                    </m:r>
                    <m:r>
                      <a:rPr lang="en-US" altLang="x-none" i="1" dirty="0">
                        <a:solidFill>
                          <a:srgbClr val="1F2DA8"/>
                        </a:solidFill>
                        <a:latin typeface="Cambria Math" panose="02040503050406030204" charset="0"/>
                        <a:ea typeface="楷体" charset="-122"/>
                        <a:cs typeface="Cambria Math" panose="02040503050406030204" charset="0"/>
                      </a:rPr>
                      <m:t>(</m:t>
                    </m:r>
                    <m:r>
                      <a:rPr lang="en-US" altLang="x-none" i="1" dirty="0">
                        <a:solidFill>
                          <a:srgbClr val="1F2DA8"/>
                        </a:solidFill>
                        <a:latin typeface="Cambria Math" panose="02040503050406030204" charset="0"/>
                        <a:ea typeface="楷体" charset="-122"/>
                        <a:cs typeface="Cambria Math" panose="02040503050406030204" charset="0"/>
                      </a:rPr>
                      <m:t>𝑅</m:t>
                    </m:r>
                    <m:r>
                      <a:rPr lang="en-US" altLang="x-none" i="1" dirty="0">
                        <a:solidFill>
                          <a:srgbClr val="1F2DA8"/>
                        </a:solidFill>
                        <a:latin typeface="Cambria Math" panose="02040503050406030204" charset="0"/>
                        <a:ea typeface="楷体" charset="-122"/>
                        <a:cs typeface="Cambria Math" panose="02040503050406030204" charset="0"/>
                      </a:rPr>
                      <m:t>) = { </m:t>
                    </m:r>
                    <m:r>
                      <a:rPr lang="en-US" altLang="x-none" i="1" dirty="0">
                        <a:solidFill>
                          <a:srgbClr val="1F2DA8"/>
                        </a:solidFill>
                        <a:latin typeface="Cambria Math" panose="02040503050406030204" charset="0"/>
                        <a:ea typeface="楷体" charset="-122"/>
                        <a:cs typeface="Cambria Math" panose="02040503050406030204" charset="0"/>
                      </a:rPr>
                      <m:t>𝐴</m:t>
                    </m:r>
                    <m:r>
                      <a:rPr lang="en-US" altLang="x-none" i="1" baseline="-25000" dirty="0">
                        <a:solidFill>
                          <a:srgbClr val="1F2DA8"/>
                        </a:solidFill>
                        <a:latin typeface="Cambria Math" panose="02040503050406030204" charset="0"/>
                        <a:ea typeface="楷体" charset="-122"/>
                        <a:cs typeface="Cambria Math" panose="02040503050406030204" charset="0"/>
                      </a:rPr>
                      <m:t>1</m:t>
                    </m:r>
                    <m:r>
                      <a:rPr lang="en-US" altLang="x-none" i="1" dirty="0">
                        <a:solidFill>
                          <a:srgbClr val="1F2DA8"/>
                        </a:solidFill>
                        <a:latin typeface="Cambria Math" panose="02040503050406030204" charset="0"/>
                        <a:ea typeface="楷体" charset="-122"/>
                        <a:cs typeface="Cambria Math" panose="02040503050406030204" charset="0"/>
                      </a:rPr>
                      <m:t>, …, </m:t>
                    </m:r>
                    <m:r>
                      <a:rPr lang="en-US" altLang="x-none" i="1" dirty="0">
                        <a:solidFill>
                          <a:srgbClr val="1F2DA8"/>
                        </a:solidFill>
                        <a:latin typeface="Cambria Math" panose="02040503050406030204" charset="0"/>
                        <a:ea typeface="楷体" charset="-122"/>
                        <a:cs typeface="Cambria Math" panose="02040503050406030204" charset="0"/>
                      </a:rPr>
                      <m:t>𝐴</m:t>
                    </m:r>
                    <m:r>
                      <a:rPr lang="en-US" altLang="x-none" i="1" baseline="-25000" dirty="0">
                        <a:solidFill>
                          <a:srgbClr val="1F2DA8"/>
                        </a:solidFill>
                        <a:latin typeface="Cambria Math" panose="02040503050406030204" charset="0"/>
                        <a:ea typeface="楷体" charset="-122"/>
                        <a:cs typeface="Cambria Math" panose="02040503050406030204" charset="0"/>
                      </a:rPr>
                      <m:t>𝑛</m:t>
                    </m:r>
                    <m:r>
                      <a:rPr lang="en-US" altLang="x-none" i="1" baseline="-25000" dirty="0">
                        <a:solidFill>
                          <a:srgbClr val="1F2DA8"/>
                        </a:solidFill>
                        <a:latin typeface="Cambria Math" panose="02040503050406030204" charset="0"/>
                        <a:ea typeface="楷体" charset="-122"/>
                        <a:cs typeface="Cambria Math" panose="02040503050406030204" charset="0"/>
                      </a:rPr>
                      <m:t> </m:t>
                    </m:r>
                    <m:r>
                      <a:rPr lang="en-US" altLang="x-none" i="1" dirty="0">
                        <a:solidFill>
                          <a:srgbClr val="1F2DA8"/>
                        </a:solidFill>
                        <a:latin typeface="Cambria Math" panose="02040503050406030204" charset="0"/>
                        <a:ea typeface="楷体" charset="-122"/>
                        <a:cs typeface="Cambria Math" panose="02040503050406030204" charset="0"/>
                      </a:rPr>
                      <m:t>}, </m:t>
                    </m:r>
                    <m:r>
                      <a:rPr lang="en-US" altLang="x-none" i="1" dirty="0">
                        <a:solidFill>
                          <a:srgbClr val="1F2DA8"/>
                        </a:solidFill>
                        <a:latin typeface="Cambria Math" panose="02040503050406030204" charset="0"/>
                        <a:ea typeface="楷体" charset="-122"/>
                        <a:cs typeface="Cambria Math" panose="02040503050406030204" charset="0"/>
                      </a:rPr>
                      <m:t>𝐻𝑒𝑎𝑑</m:t>
                    </m:r>
                    <m:r>
                      <a:rPr lang="en-US" altLang="x-none" i="1" dirty="0">
                        <a:solidFill>
                          <a:srgbClr val="1F2DA8"/>
                        </a:solidFill>
                        <a:latin typeface="Cambria Math" panose="02040503050406030204" charset="0"/>
                        <a:ea typeface="楷体" charset="-122"/>
                        <a:cs typeface="Cambria Math" panose="02040503050406030204" charset="0"/>
                      </a:rPr>
                      <m:t>(</m:t>
                    </m:r>
                    <m:r>
                      <a:rPr lang="en-US" altLang="x-none" i="1" dirty="0">
                        <a:solidFill>
                          <a:srgbClr val="1F2DA8"/>
                        </a:solidFill>
                        <a:latin typeface="Cambria Math" panose="02040503050406030204" charset="0"/>
                        <a:ea typeface="楷体" charset="-122"/>
                        <a:cs typeface="Cambria Math" panose="02040503050406030204" charset="0"/>
                      </a:rPr>
                      <m:t>𝑆</m:t>
                    </m:r>
                    <m:r>
                      <a:rPr lang="en-US" altLang="x-none" i="1" dirty="0">
                        <a:solidFill>
                          <a:srgbClr val="1F2DA8"/>
                        </a:solidFill>
                        <a:latin typeface="Cambria Math" panose="02040503050406030204" charset="0"/>
                        <a:ea typeface="楷体" charset="-122"/>
                        <a:cs typeface="Cambria Math" panose="02040503050406030204" charset="0"/>
                      </a:rPr>
                      <m:t>) = { </m:t>
                    </m:r>
                    <m:r>
                      <a:rPr lang="en-US" altLang="x-none" i="1" dirty="0">
                        <a:solidFill>
                          <a:srgbClr val="1F2DA8"/>
                        </a:solidFill>
                        <a:latin typeface="Cambria Math" panose="02040503050406030204" charset="0"/>
                        <a:ea typeface="楷体" charset="-122"/>
                        <a:cs typeface="Cambria Math" panose="02040503050406030204" charset="0"/>
                      </a:rPr>
                      <m:t>𝐵</m:t>
                    </m:r>
                    <m:r>
                      <a:rPr lang="en-US" altLang="x-none" i="1" baseline="-25000" dirty="0">
                        <a:solidFill>
                          <a:srgbClr val="1F2DA8"/>
                        </a:solidFill>
                        <a:latin typeface="Cambria Math" panose="02040503050406030204" charset="0"/>
                        <a:ea typeface="楷体" charset="-122"/>
                        <a:cs typeface="Cambria Math" panose="02040503050406030204" charset="0"/>
                      </a:rPr>
                      <m:t>1</m:t>
                    </m:r>
                    <m:r>
                      <a:rPr lang="en-US" altLang="x-none" i="1" dirty="0">
                        <a:solidFill>
                          <a:srgbClr val="1F2DA8"/>
                        </a:solidFill>
                        <a:latin typeface="Cambria Math" panose="02040503050406030204" charset="0"/>
                        <a:ea typeface="楷体" charset="-122"/>
                        <a:cs typeface="Cambria Math" panose="02040503050406030204" charset="0"/>
                      </a:rPr>
                      <m:t>, …, </m:t>
                    </m:r>
                    <m:r>
                      <a:rPr lang="en-US" altLang="x-none" i="1" dirty="0">
                        <a:solidFill>
                          <a:srgbClr val="1F2DA8"/>
                        </a:solidFill>
                        <a:latin typeface="Cambria Math" panose="02040503050406030204" charset="0"/>
                        <a:ea typeface="楷体" charset="-122"/>
                        <a:cs typeface="Cambria Math" panose="02040503050406030204" charset="0"/>
                      </a:rPr>
                      <m:t>𝐵</m:t>
                    </m:r>
                    <m:r>
                      <a:rPr lang="en-US" altLang="x-none" i="1" baseline="-25000" dirty="0">
                        <a:solidFill>
                          <a:srgbClr val="1F2DA8"/>
                        </a:solidFill>
                        <a:latin typeface="Cambria Math" panose="02040503050406030204" charset="0"/>
                        <a:ea typeface="楷体" charset="-122"/>
                        <a:cs typeface="Cambria Math" panose="02040503050406030204" charset="0"/>
                      </a:rPr>
                      <m:t>𝑚</m:t>
                    </m:r>
                    <m:r>
                      <a:rPr lang="en-US" altLang="x-none" i="1" baseline="-25000" dirty="0">
                        <a:solidFill>
                          <a:srgbClr val="1F2DA8"/>
                        </a:solidFill>
                        <a:latin typeface="Cambria Math" panose="02040503050406030204" charset="0"/>
                        <a:ea typeface="楷体" charset="-122"/>
                        <a:cs typeface="Cambria Math" panose="02040503050406030204" charset="0"/>
                      </a:rPr>
                      <m:t> </m:t>
                    </m:r>
                    <m:r>
                      <a:rPr lang="en-US" altLang="x-none" i="1" dirty="0">
                        <a:solidFill>
                          <a:srgbClr val="1F2DA8"/>
                        </a:solidFill>
                        <a:latin typeface="Cambria Math" panose="02040503050406030204" charset="0"/>
                        <a:ea typeface="楷体" charset="-122"/>
                        <a:cs typeface="Cambria Math" panose="02040503050406030204" charset="0"/>
                      </a:rPr>
                      <m:t>}</m:t>
                    </m:r>
                  </m:oMath>
                </a14:m>
                <a:endParaRPr lang="en-US" altLang="x-none" i="1" dirty="0">
                  <a:solidFill>
                    <a:srgbClr val="1F2DA8"/>
                  </a:solidFill>
                  <a:ea typeface="楷体" charset="-122"/>
                  <a:cs typeface="+mn-lt"/>
                </a:endParaRPr>
              </a:p>
              <a:p>
                <a:pPr lvl="1" eaLnBrk="1" hangingPunct="1">
                  <a:lnSpc>
                    <a:spcPct val="100000"/>
                  </a:lnSpc>
                  <a:spcBef>
                    <a:spcPts val="2000"/>
                  </a:spcBef>
                  <a:buClr>
                    <a:srgbClr val="C00000"/>
                  </a:buClr>
                  <a:buSzPct val="85000"/>
                </a:pPr>
                <a:r>
                  <a:rPr lang="zh-CN" altLang="en-US" dirty="0">
                    <a:solidFill>
                      <a:srgbClr val="1F2DA8"/>
                    </a:solidFill>
                    <a:highlight>
                      <a:srgbClr val="FFFF00"/>
                    </a:highlight>
                    <a:ea typeface="楷体" charset="-122"/>
                    <a:cs typeface="+mn-lt"/>
                  </a:rPr>
                  <a:t>关系代数</a:t>
                </a:r>
                <a:r>
                  <a:rPr lang="zh-CN" altLang="en-US" dirty="0">
                    <a:solidFill>
                      <a:srgbClr val="1F2DA8"/>
                    </a:solidFill>
                    <a:ea typeface="楷体" charset="-122"/>
                    <a:cs typeface="+mn-lt"/>
                  </a:rPr>
                  <a:t>：</a:t>
                </a:r>
                <a14:m>
                  <m:oMath xmlns:m="http://schemas.openxmlformats.org/officeDocument/2006/math">
                    <m:r>
                      <a:rPr lang="en-US" altLang="zh-CN"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m:t>
                    </m:r>
                    <m:r>
                      <m:rPr>
                        <m:sty m:val="p"/>
                      </m:rPr>
                      <a:rPr lang="en-US" altLang="x-none" baseline="-25000" dirty="0">
                        <a:solidFill>
                          <a:srgbClr val="FF0000"/>
                        </a:solidFill>
                        <a:latin typeface="Cambria Math" panose="02040503050406030204" charset="0"/>
                        <a:cs typeface="Cambria Math" panose="02040503050406030204" charset="0"/>
                        <a:sym typeface="Symbol" panose="05050102010706020507" pitchFamily="18" charset="2"/>
                      </a:rPr>
                      <m:t>attr</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_</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1</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 </m:t>
                    </m:r>
                    <m:r>
                      <m:rPr>
                        <m:sty m:val="p"/>
                      </m:rPr>
                      <a:rPr lang="en-US" altLang="x-none" baseline="-25000" dirty="0">
                        <a:solidFill>
                          <a:srgbClr val="FF0000"/>
                        </a:solidFill>
                        <a:latin typeface="Cambria Math" panose="02040503050406030204" charset="0"/>
                        <a:cs typeface="Cambria Math" panose="02040503050406030204" charset="0"/>
                        <a:sym typeface="Symbol" panose="05050102010706020507" pitchFamily="18" charset="2"/>
                      </a:rPr>
                      <m:t>attr</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_</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2</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 ..., </m:t>
                    </m:r>
                    <m:r>
                      <m:rPr>
                        <m:sty m:val="p"/>
                      </m:rPr>
                      <a:rPr lang="en-US" altLang="x-none" baseline="-25000" dirty="0">
                        <a:solidFill>
                          <a:srgbClr val="FF0000"/>
                        </a:solidFill>
                        <a:latin typeface="Cambria Math" panose="02040503050406030204" charset="0"/>
                        <a:cs typeface="Cambria Math" panose="02040503050406030204" charset="0"/>
                        <a:sym typeface="Symbol" panose="05050102010706020507" pitchFamily="18" charset="2"/>
                      </a:rPr>
                      <m:t>attr</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_</m:t>
                    </m:r>
                    <m:r>
                      <m:rPr>
                        <m:sty m:val="p"/>
                      </m:rPr>
                      <a:rPr lang="en-US" altLang="x-none" baseline="-25000" dirty="0">
                        <a:solidFill>
                          <a:srgbClr val="FF0000"/>
                        </a:solidFill>
                        <a:latin typeface="Cambria Math" panose="02040503050406030204" charset="0"/>
                        <a:cs typeface="Cambria Math" panose="02040503050406030204" charset="0"/>
                        <a:sym typeface="Symbol" panose="05050102010706020507" pitchFamily="18" charset="2"/>
                      </a:rPr>
                      <m:t>x</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 </m:t>
                    </m:r>
                    <m:r>
                      <a:rPr lang="en-US" altLang="x-none" dirty="0">
                        <a:solidFill>
                          <a:srgbClr val="FF0000"/>
                        </a:solidFill>
                        <a:latin typeface="Cambria Math" panose="02040503050406030204" charset="0"/>
                        <a:ea typeface="MS Mincho" charset="0"/>
                        <a:cs typeface="Cambria Math" panose="02040503050406030204" charset="0"/>
                        <a:sym typeface="+mn-ea"/>
                      </a:rPr>
                      <m:t>(</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 </m:t>
                    </m:r>
                    <m:r>
                      <m:rPr>
                        <m:sty m:val="p"/>
                      </m:rPr>
                      <a:rPr lang="en-US" altLang="zh-CN" dirty="0">
                        <a:solidFill>
                          <a:srgbClr val="FF0000"/>
                        </a:solidFill>
                        <a:latin typeface="Cambria Math" panose="02040503050406030204" charset="0"/>
                        <a:cs typeface="Cambria Math" panose="02040503050406030204" charset="0"/>
                        <a:sym typeface="Symbol" panose="05050102010706020507" pitchFamily="18" charset="2"/>
                      </a:rPr>
                      <m:t>σ</m:t>
                    </m:r>
                    <m:r>
                      <m:rPr>
                        <m:sty m:val="p"/>
                      </m:rPr>
                      <a:rPr lang="en-US" altLang="x-none" baseline="-25000" dirty="0">
                        <a:solidFill>
                          <a:srgbClr val="FF0000"/>
                        </a:solidFill>
                        <a:latin typeface="Cambria Math" panose="02040503050406030204" charset="0"/>
                        <a:cs typeface="Cambria Math" panose="02040503050406030204" charset="0"/>
                        <a:sym typeface="Symbol" panose="05050102010706020507" pitchFamily="18" charset="2"/>
                      </a:rPr>
                      <m:t>F</m:t>
                    </m:r>
                    <m:r>
                      <a:rPr lang="en-US" altLang="x-none" baseline="-25000" dirty="0">
                        <a:solidFill>
                          <a:srgbClr val="FF0000"/>
                        </a:solidFill>
                        <a:latin typeface="Cambria Math" panose="02040503050406030204" charset="0"/>
                        <a:ea typeface="MS Mincho" charset="0"/>
                        <a:cs typeface="Cambria Math" panose="02040503050406030204" charset="0"/>
                        <a:sym typeface="Symbol" panose="05050102010706020507" pitchFamily="18" charset="2"/>
                      </a:rPr>
                      <m:t> </m:t>
                    </m:r>
                    <m:r>
                      <a:rPr lang="en-US" altLang="x-none" dirty="0">
                        <a:solidFill>
                          <a:srgbClr val="FF0000"/>
                        </a:solidFill>
                        <a:latin typeface="Cambria Math" panose="02040503050406030204" charset="0"/>
                        <a:ea typeface="MS Mincho" charset="0"/>
                        <a:cs typeface="Cambria Math" panose="02040503050406030204" charset="0"/>
                        <a:sym typeface="+mn-ea"/>
                      </a:rPr>
                      <m:t>( </m:t>
                    </m:r>
                    <m:r>
                      <m:rPr>
                        <m:sty m:val="p"/>
                      </m:rPr>
                      <a:rPr lang="en-US" altLang="x-none" dirty="0">
                        <a:solidFill>
                          <a:srgbClr val="FF0000"/>
                        </a:solidFill>
                        <a:latin typeface="Cambria Math" panose="02040503050406030204" charset="0"/>
                        <a:cs typeface="Cambria Math" panose="02040503050406030204" charset="0"/>
                        <a:sym typeface="+mn-ea"/>
                      </a:rPr>
                      <m:t>R</m:t>
                    </m:r>
                    <m:r>
                      <a:rPr lang="en-US" altLang="x-none" dirty="0">
                        <a:solidFill>
                          <a:srgbClr val="FF0000"/>
                        </a:solidFill>
                        <a:latin typeface="Cambria Math" panose="02040503050406030204" charset="0"/>
                        <a:ea typeface="MS Mincho" charset="0"/>
                        <a:cs typeface="Cambria Math" panose="02040503050406030204" charset="0"/>
                        <a:sym typeface="+mn-ea"/>
                      </a:rPr>
                      <m:t> × </m:t>
                    </m:r>
                    <m:r>
                      <m:rPr>
                        <m:sty m:val="p"/>
                      </m:rPr>
                      <a:rPr lang="en-US" altLang="x-none" dirty="0">
                        <a:solidFill>
                          <a:srgbClr val="FF0000"/>
                        </a:solidFill>
                        <a:latin typeface="Cambria Math" panose="02040503050406030204" charset="0"/>
                        <a:cs typeface="Cambria Math" panose="02040503050406030204" charset="0"/>
                        <a:sym typeface="+mn-ea"/>
                      </a:rPr>
                      <m:t>S</m:t>
                    </m:r>
                    <m:r>
                      <a:rPr lang="en-US" altLang="x-none" baseline="-25000" dirty="0">
                        <a:solidFill>
                          <a:srgbClr val="FF0000"/>
                        </a:solidFill>
                        <a:latin typeface="Cambria Math" panose="02040503050406030204" charset="0"/>
                        <a:ea typeface="MS Mincho" charset="0"/>
                        <a:cs typeface="Cambria Math" panose="02040503050406030204" charset="0"/>
                        <a:sym typeface="+mn-ea"/>
                      </a:rPr>
                      <m:t> </m:t>
                    </m:r>
                    <m:r>
                      <a:rPr lang="en-US" altLang="x-none" dirty="0">
                        <a:solidFill>
                          <a:srgbClr val="FF0000"/>
                        </a:solidFill>
                        <a:latin typeface="Cambria Math" panose="02040503050406030204" charset="0"/>
                        <a:ea typeface="MS Mincho" charset="0"/>
                        <a:cs typeface="Cambria Math" panose="02040503050406030204" charset="0"/>
                        <a:sym typeface="+mn-ea"/>
                      </a:rPr>
                      <m:t>) )</m:t>
                    </m:r>
                  </m:oMath>
                </a14:m>
                <a:endParaRPr lang="en-US" altLang="x-none" dirty="0">
                  <a:solidFill>
                    <a:srgbClr val="FF0000"/>
                  </a:solidFill>
                  <a:cs typeface="+mn-lt"/>
                  <a:sym typeface="+mn-ea"/>
                </a:endParaRPr>
              </a:p>
            </p:txBody>
          </p:sp>
        </mc:Choice>
        <mc:Fallback>
          <p:sp>
            <p:nvSpPr>
              <p:cNvPr id="31747" name="Rectangle 5"/>
              <p:cNvSpPr>
                <a:spLocks noRot="1" noChangeAspect="1" noMove="1" noResize="1" noEditPoints="1" noAdjustHandles="1" noChangeArrowheads="1" noChangeShapeType="1" noTextEdit="1"/>
              </p:cNvSpPr>
              <p:nvPr>
                <p:ph type="body" idx="4294967295"/>
                <p:custDataLst>
                  <p:tags r:id="rId2"/>
                </p:custDataLst>
              </p:nvPr>
            </p:nvSpPr>
            <p:spPr>
              <a:xfrm>
                <a:off x="424180" y="1726565"/>
                <a:ext cx="11342370" cy="1306830"/>
              </a:xfrm>
              <a:blipFill rotWithShape="1">
                <a:blip r:embed="rId3"/>
                <a:stretch>
                  <a:fillRect b="-972"/>
                </a:stretch>
              </a:blipFill>
            </p:spPr>
            <p:txBody>
              <a:bodyPr/>
              <a:lstStyle/>
              <a:p>
                <a:r>
                  <a:rPr lang="zh-CN" altLang="en-US">
                    <a:noFill/>
                  </a:rPr>
                  <a:t> </a:t>
                </a:r>
              </a:p>
            </p:txBody>
          </p:sp>
        </mc:Fallback>
      </mc:AlternateContent>
      <p:sp>
        <p:nvSpPr>
          <p:cNvPr id="4" name="文本框 3"/>
          <p:cNvSpPr txBox="1"/>
          <p:nvPr>
            <p:custDataLst>
              <p:tags r:id="rId4"/>
            </p:custDataLst>
          </p:nvPr>
        </p:nvSpPr>
        <p:spPr>
          <a:xfrm>
            <a:off x="423545" y="5861685"/>
            <a:ext cx="11343640" cy="521970"/>
          </a:xfrm>
          <a:prstGeom prst="rect">
            <a:avLst/>
          </a:prstGeom>
          <a:noFill/>
        </p:spPr>
        <p:txBody>
          <a:bodyPr wrap="square" rtlCol="0">
            <a:noAutofit/>
          </a:bodyPr>
          <a:p>
            <a:pPr marL="342900" indent="-342900">
              <a:buClr>
                <a:srgbClr val="C00000"/>
              </a:buClr>
              <a:buSzPct val="85000"/>
              <a:buFont typeface="Wingdings" panose="05000000000000000000" charset="0"/>
              <a:buChar char="q"/>
            </a:pPr>
            <a:r>
              <a:rPr lang="zh-CN" altLang="en-US" sz="2800" u="sng">
                <a:solidFill>
                  <a:srgbClr val="0000FF"/>
                </a:solidFill>
                <a:latin typeface="+mn-lt"/>
                <a:ea typeface="楷体" charset="-122"/>
                <a:cs typeface="+mn-lt"/>
              </a:rPr>
              <a:t>采用</a:t>
            </a:r>
            <a:r>
              <a:rPr lang="zh-CN" altLang="en-US" sz="2800" u="sng">
                <a:solidFill>
                  <a:srgbClr val="0000FF"/>
                </a:solidFill>
                <a:latin typeface="+mn-lt"/>
                <a:ea typeface="楷体" charset="-122"/>
                <a:cs typeface="+mn-lt"/>
              </a:rPr>
              <a:t>以上方法，可以将两个关系按任意指定的方式进行合并！</a:t>
            </a:r>
            <a:endParaRPr lang="zh-CN" altLang="en-US" sz="2800" u="sng">
              <a:solidFill>
                <a:srgbClr val="0000FF"/>
              </a:solidFill>
              <a:latin typeface="+mn-lt"/>
              <a:ea typeface="楷体" charset="-122"/>
              <a:cs typeface="+mn-lt"/>
            </a:endParaRPr>
          </a:p>
        </p:txBody>
      </p:sp>
      <p:grpSp>
        <p:nvGrpSpPr>
          <p:cNvPr id="6" name="组合 5"/>
          <p:cNvGrpSpPr/>
          <p:nvPr/>
        </p:nvGrpSpPr>
        <p:grpSpPr>
          <a:xfrm>
            <a:off x="424180" y="3340100"/>
            <a:ext cx="11342370" cy="1979930"/>
            <a:chOff x="454" y="5709"/>
            <a:chExt cx="17862" cy="3118"/>
          </a:xfrm>
        </p:grpSpPr>
        <mc:AlternateContent xmlns:mc="http://schemas.openxmlformats.org/markup-compatibility/2006">
          <mc:Choice xmlns:a14="http://schemas.microsoft.com/office/drawing/2010/main" Requires="a14">
            <p:sp>
              <p:nvSpPr>
                <p:cNvPr id="5" name="Rectangle 5"/>
                <p:cNvSpPr>
                  <a:spLocks noGrp="1"/>
                </p:cNvSpPr>
                <p:nvPr>
                  <p:custDataLst>
                    <p:tags r:id="rId5"/>
                  </p:custDataLst>
                </p:nvPr>
              </p:nvSpPr>
              <p:spPr>
                <a:xfrm>
                  <a:off x="1866" y="6648"/>
                  <a:ext cx="15146" cy="2179"/>
                </a:xfrm>
                <a:prstGeom prst="rect">
                  <a:avLst/>
                </a:prstGeom>
                <a:noFill/>
                <a:ln w="9525">
                  <a:solidFill>
                    <a:schemeClr val="accent1"/>
                  </a:solidFill>
                </a:ln>
              </p:spPr>
              <p:txBody>
                <a:bodyPr wrap="square" anchor="t">
                  <a:no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marL="801370" lvl="3" indent="-227965" defTabSz="914400" eaLnBrk="1" hangingPunct="1">
                    <a:lnSpc>
                      <a:spcPct val="100000"/>
                    </a:lnSpc>
                    <a:spcBef>
                      <a:spcPts val="2000"/>
                    </a:spcBef>
                    <a:spcAft>
                      <a:spcPts val="0"/>
                    </a:spcAft>
                    <a:buNone/>
                    <a:tabLst>
                      <a:tab pos="1611630" algn="l"/>
                    </a:tabLst>
                  </a:pPr>
                  <a14:m>
                    <m:oMathPara xmlns:m="http://schemas.openxmlformats.org/officeDocument/2006/math">
                      <m:oMathParaPr>
                        <m:jc m:val="left"/>
                      </m:oMathParaPr>
                      <m:oMath xmlns:m="http://schemas.openxmlformats.org/officeDocument/2006/math">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𝑆𝐸𝐿𝐸𝐶𝑇</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𝑎𝑡𝑡𝑟</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_</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1</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𝑎𝑡𝑡𝑟</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_</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2</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𝑎𝑡𝑡𝑟</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_</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𝑥</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oMath>
                    </m:oMathPara>
                  </a14:m>
                  <a:endParaRPr lang="en-US" altLang="x-none" sz="2800" i="1" dirty="0">
                    <a:solidFill>
                      <a:srgbClr val="FF0000"/>
                    </a:solidFill>
                    <a:sym typeface="Symbol" panose="05050102010706020507" pitchFamily="18" charset="2"/>
                  </a:endParaRPr>
                </a:p>
                <a:p>
                  <a:pPr marL="801370" lvl="3" indent="-227965" defTabSz="914400" eaLnBrk="1" hangingPunct="1">
                    <a:lnSpc>
                      <a:spcPct val="100000"/>
                    </a:lnSpc>
                    <a:spcBef>
                      <a:spcPts val="1000"/>
                    </a:spcBef>
                    <a:spcAft>
                      <a:spcPts val="0"/>
                    </a:spcAft>
                    <a:buNone/>
                    <a:tabLst>
                      <a:tab pos="1611630" algn="l"/>
                    </a:tabLst>
                  </a:pPr>
                  <a14:m>
                    <m:oMathPara xmlns:m="http://schemas.openxmlformats.org/officeDocument/2006/math">
                      <m:oMathParaPr>
                        <m:jc m:val="left"/>
                      </m:oMathParaPr>
                      <m:oMath xmlns:m="http://schemas.openxmlformats.org/officeDocument/2006/math">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𝐹𝑅𝑂𝑀</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rPr>
                          <m:t>𝑅</m:t>
                        </m:r>
                        <m:r>
                          <a:rPr lang="en-US" altLang="x-none" sz="2800" i="1" dirty="0">
                            <a:solidFill>
                              <a:srgbClr val="FF0000"/>
                            </a:solidFill>
                            <a:latin typeface="Cambria Math" panose="02040503050406030204" charset="0"/>
                            <a:cs typeface="Cambria Math" panose="02040503050406030204" charset="0"/>
                          </a:rPr>
                          <m:t>,</m:t>
                        </m:r>
                        <m:r>
                          <a:rPr lang="en-US" altLang="x-none" sz="2800" i="1" dirty="0">
                            <a:solidFill>
                              <a:srgbClr val="FF0000"/>
                            </a:solidFill>
                            <a:latin typeface="Cambria Math" panose="02040503050406030204" charset="0"/>
                            <a:cs typeface="Cambria Math" panose="02040503050406030204" charset="0"/>
                          </a:rPr>
                          <m:t> </m:t>
                        </m:r>
                        <m:r>
                          <a:rPr lang="en-US" altLang="x-none" sz="2800" i="1" dirty="0">
                            <a:solidFill>
                              <a:srgbClr val="FF0000"/>
                            </a:solidFill>
                            <a:latin typeface="Cambria Math" panose="02040503050406030204" charset="0"/>
                            <a:cs typeface="Cambria Math" panose="02040503050406030204" charset="0"/>
                          </a:rPr>
                          <m:t> </m:t>
                        </m:r>
                        <m:r>
                          <a:rPr lang="en-US" altLang="x-none" sz="2800" i="1" dirty="0">
                            <a:solidFill>
                              <a:srgbClr val="FF0000"/>
                            </a:solidFill>
                            <a:latin typeface="Cambria Math" panose="02040503050406030204" charset="0"/>
                            <a:cs typeface="Cambria Math" panose="02040503050406030204" charset="0"/>
                          </a:rPr>
                          <m:t>𝑆</m:t>
                        </m:r>
                      </m:oMath>
                    </m:oMathPara>
                  </a14:m>
                  <a:endParaRPr lang="en-US" altLang="x-none" sz="2800" i="1" baseline="-25000" dirty="0">
                    <a:solidFill>
                      <a:srgbClr val="FF0000"/>
                    </a:solidFill>
                    <a:sym typeface="Symbol" panose="05050102010706020507" pitchFamily="18" charset="2"/>
                  </a:endParaRPr>
                </a:p>
                <a:p>
                  <a:pPr marL="801370" lvl="3" indent="-227965" defTabSz="914400" eaLnBrk="1" hangingPunct="1">
                    <a:lnSpc>
                      <a:spcPct val="100000"/>
                    </a:lnSpc>
                    <a:spcBef>
                      <a:spcPts val="1000"/>
                    </a:spcBef>
                    <a:spcAft>
                      <a:spcPts val="0"/>
                    </a:spcAft>
                    <a:buNone/>
                    <a:tabLst>
                      <a:tab pos="1611630" algn="l"/>
                    </a:tabLst>
                  </a:pPr>
                  <a14:m>
                    <m:oMathPara xmlns:m="http://schemas.openxmlformats.org/officeDocument/2006/math">
                      <m:oMathParaPr>
                        <m:jc m:val="left"/>
                      </m:oMathParaPr>
                      <m:oMath xmlns:m="http://schemas.openxmlformats.org/officeDocument/2006/math">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𝑊𝐻𝐸𝑅𝐸</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 </m:t>
                        </m:r>
                        <m:r>
                          <a:rPr lang="en-US" altLang="x-none" sz="2800" i="1" dirty="0">
                            <a:solidFill>
                              <a:srgbClr val="FF0000"/>
                            </a:solidFill>
                            <a:latin typeface="Cambria Math" panose="02040503050406030204" charset="0"/>
                            <a:cs typeface="Cambria Math" panose="02040503050406030204" charset="0"/>
                            <a:sym typeface="Symbol" panose="05050102010706020507" pitchFamily="18" charset="2"/>
                          </a:rPr>
                          <m:t>𝐹</m:t>
                        </m:r>
                      </m:oMath>
                    </m:oMathPara>
                  </a14:m>
                  <a:endParaRPr lang="en-US" altLang="x-none" sz="2800" i="1" dirty="0">
                    <a:solidFill>
                      <a:srgbClr val="FF0000"/>
                    </a:solidFill>
                    <a:sym typeface="Symbol" panose="05050102010706020507" pitchFamily="18" charset="2"/>
                  </a:endParaRPr>
                </a:p>
              </p:txBody>
            </p:sp>
          </mc:Choice>
          <mc:Fallback>
            <p:sp>
              <p:nvSpPr>
                <p:cNvPr id="5" name="Rectangle 5"/>
                <p:cNvSpPr>
                  <a:spLocks noRot="1" noChangeAspect="1" noMove="1" noResize="1" noEditPoints="1" noAdjustHandles="1" noChangeArrowheads="1" noChangeShapeType="1" noTextEdit="1"/>
                </p:cNvSpPr>
                <p:nvPr>
                  <p:custDataLst>
                    <p:tags r:id="rId6"/>
                  </p:custDataLst>
                </p:nvPr>
              </p:nvSpPr>
              <p:spPr>
                <a:xfrm>
                  <a:off x="1866" y="6648"/>
                  <a:ext cx="15146" cy="2179"/>
                </a:xfrm>
                <a:prstGeom prst="rect">
                  <a:avLst/>
                </a:prstGeom>
                <a:blipFill rotWithShape="1">
                  <a:blip r:embed="rId7"/>
                </a:blipFill>
                <a:ln w="9525">
                  <a:solidFill>
                    <a:schemeClr val="accent1"/>
                  </a:solidFill>
                </a:ln>
              </p:spPr>
              <p:txBody>
                <a:bodyPr/>
                <a:lstStyle/>
                <a:p>
                  <a:r>
                    <a:rPr lang="zh-CN" altLang="en-US">
                      <a:noFill/>
                    </a:rPr>
                    <a:t> </a:t>
                  </a:r>
                </a:p>
              </p:txBody>
            </p:sp>
          </mc:Fallback>
        </mc:AlternateContent>
        <p:sp>
          <p:nvSpPr>
            <p:cNvPr id="30726" name="Rectangle 7"/>
            <p:cNvSpPr/>
            <p:nvPr>
              <p:custDataLst>
                <p:tags r:id="rId8"/>
              </p:custDataLst>
            </p:nvPr>
          </p:nvSpPr>
          <p:spPr>
            <a:xfrm>
              <a:off x="454" y="5709"/>
              <a:ext cx="17862" cy="890"/>
            </a:xfrm>
            <a:prstGeom prst="rect">
              <a:avLst/>
            </a:prstGeom>
            <a:noFill/>
            <a:ln w="9525">
              <a:noFill/>
            </a:ln>
          </p:spPr>
          <p:txBody>
            <a:bodyPr wrap="square" anchor="t">
              <a:noAutofit/>
            </a:bodyPr>
            <a:p>
              <a:pPr marL="742950" lvl="1" indent="-285750" algn="l" eaLnBrk="1" hangingPunct="1">
                <a:lnSpc>
                  <a:spcPct val="110000"/>
                </a:lnSpc>
                <a:spcBef>
                  <a:spcPct val="20000"/>
                </a:spcBef>
                <a:buClr>
                  <a:srgbClr val="C00000"/>
                </a:buClr>
                <a:buSzPct val="85000"/>
                <a:buFont typeface="Wingdings" panose="05000000000000000000" pitchFamily="2" charset="2"/>
                <a:buChar char="Ø"/>
              </a:pPr>
              <a:r>
                <a:rPr lang="en-US" altLang="x-none" sz="2800" b="1" dirty="0">
                  <a:solidFill>
                    <a:srgbClr val="1F2DA8"/>
                  </a:solidFill>
                  <a:highlight>
                    <a:srgbClr val="FFFF00"/>
                  </a:highlight>
                  <a:latin typeface="+mn-lt"/>
                  <a:ea typeface="楷体" charset="-122"/>
                  <a:cs typeface="+mn-lt"/>
                  <a:sym typeface="Symbol" panose="05050102010706020507" pitchFamily="18" charset="2"/>
                </a:rPr>
                <a:t>SQL</a:t>
              </a:r>
              <a:r>
                <a:rPr lang="zh-CN" altLang="en-US" sz="2800" b="1" dirty="0">
                  <a:solidFill>
                    <a:srgbClr val="1F2DA8"/>
                  </a:solidFill>
                  <a:highlight>
                    <a:srgbClr val="FFFF00"/>
                  </a:highlight>
                  <a:latin typeface="+mn-lt"/>
                  <a:ea typeface="楷体" charset="-122"/>
                  <a:cs typeface="+mn-lt"/>
                  <a:sym typeface="Symbol" panose="05050102010706020507" pitchFamily="18" charset="2"/>
                </a:rPr>
                <a:t>语言</a:t>
              </a:r>
              <a:r>
                <a:rPr lang="zh-CN" altLang="en-US" sz="2800" b="1" dirty="0">
                  <a:solidFill>
                    <a:srgbClr val="1F2DA8"/>
                  </a:solidFill>
                  <a:latin typeface="+mn-lt"/>
                  <a:ea typeface="楷体" charset="-122"/>
                  <a:cs typeface="+mn-lt"/>
                  <a:sym typeface="Symbol" panose="05050102010706020507" pitchFamily="18" charset="2"/>
                </a:rPr>
                <a:t>：</a:t>
              </a:r>
              <a:endParaRPr lang="zh-CN" altLang="en-US" sz="2800" b="1" dirty="0">
                <a:solidFill>
                  <a:srgbClr val="1F2DA8"/>
                </a:solidFill>
                <a:latin typeface="+mn-lt"/>
                <a:ea typeface="楷体" charset="-122"/>
                <a:cs typeface="+mn-lt"/>
                <a:sym typeface="Symbol" panose="05050102010706020507" pitchFamily="18" charset="2"/>
              </a:endParaRPr>
            </a:p>
          </p:txBody>
        </p:sp>
      </p:grpSp>
      <p:sp>
        <p:nvSpPr>
          <p:cNvPr id="7" name="灯片编号占位符 6"/>
          <p:cNvSpPr>
            <a:spLocks noGrp="1"/>
          </p:cNvSpPr>
          <p:nvPr>
            <p:ph type="sldNum" sz="quarter" idx="12"/>
          </p:nvPr>
        </p:nvSpPr>
        <p:spPr/>
        <p:txBody>
          <a:bodyPr/>
          <a:p>
            <a:fld id="{565CE74E-AB26-4998-AD42-012C4C1AD076}" type="slidenum">
              <a:rPr lang="zh-CN" altLang="en-US" smtClean="0"/>
            </a:fld>
            <a:endParaRPr lang="zh-CN" altLang="en-US"/>
          </a:p>
        </p:txBody>
      </p:sp>
      <p:sp>
        <p:nvSpPr>
          <p:cNvPr id="9" name="页脚占位符 8"/>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p:txBody>
          <a:bodyPr anchor="ctr"/>
          <a:p>
            <a:r>
              <a:rPr lang="en-US" altLang="zh-CN">
                <a:sym typeface="+mn-ea"/>
              </a:rPr>
              <a:t>3.4  </a:t>
            </a:r>
            <a:r>
              <a:rPr lang="en-US" altLang="zh-CN" dirty="0">
                <a:sym typeface="+mn-ea"/>
              </a:rPr>
              <a:t>SQL</a:t>
            </a:r>
            <a:r>
              <a:rPr lang="zh-CN" altLang="en-US" dirty="0">
                <a:sym typeface="+mn-ea"/>
              </a:rPr>
              <a:t>数据查询</a:t>
            </a:r>
            <a:endParaRPr lang="zh-CN" altLang="en-US"/>
          </a:p>
        </p:txBody>
      </p:sp>
      <p:sp>
        <p:nvSpPr>
          <p:cNvPr id="36866" name="内容占位符 2"/>
          <p:cNvSpPr>
            <a:spLocks noGrp="1"/>
          </p:cNvSpPr>
          <p:nvPr>
            <p:ph idx="1"/>
          </p:nvPr>
        </p:nvSpPr>
        <p:spPr/>
        <p:txBody>
          <a:bodyPr anchor="t"/>
          <a:p>
            <a:pPr>
              <a:lnSpc>
                <a:spcPct val="110000"/>
              </a:lnSpc>
            </a:pPr>
            <a:r>
              <a:rPr lang="zh-CN" altLang="zh-CN"/>
              <a:t>基本查询语句</a:t>
            </a:r>
            <a:r>
              <a:rPr lang="en-US" altLang="zh-CN"/>
              <a:t>(select statement)</a:t>
            </a:r>
            <a:r>
              <a:rPr lang="zh-CN" altLang="en-US"/>
              <a:t>的组成</a:t>
            </a:r>
            <a:endParaRPr lang="zh-CN" altLang="en-US"/>
          </a:p>
          <a:p>
            <a:pPr lvl="1">
              <a:lnSpc>
                <a:spcPct val="110000"/>
              </a:lnSpc>
            </a:pPr>
            <a:r>
              <a:rPr lang="zh-CN" altLang="en-US">
                <a:solidFill>
                  <a:srgbClr val="C00000"/>
                </a:solidFill>
              </a:rPr>
              <a:t>目标子句</a:t>
            </a:r>
            <a:r>
              <a:rPr lang="en-US" altLang="zh-CN">
                <a:solidFill>
                  <a:srgbClr val="C00000"/>
                </a:solidFill>
              </a:rPr>
              <a:t> + </a:t>
            </a:r>
            <a:r>
              <a:rPr lang="zh-CN" altLang="en-US">
                <a:solidFill>
                  <a:srgbClr val="C00000"/>
                </a:solidFill>
              </a:rPr>
              <a:t>范围子句</a:t>
            </a:r>
            <a:r>
              <a:rPr lang="en-US" altLang="zh-CN">
                <a:solidFill>
                  <a:srgbClr val="C00000"/>
                </a:solidFill>
              </a:rPr>
              <a:t> + </a:t>
            </a:r>
            <a:r>
              <a:rPr lang="zh-CN" altLang="en-US">
                <a:solidFill>
                  <a:srgbClr val="C00000"/>
                </a:solidFill>
              </a:rPr>
              <a:t>条件子句</a:t>
            </a:r>
            <a:endParaRPr lang="zh-CN" altLang="en-US"/>
          </a:p>
          <a:p>
            <a:pPr lvl="1">
              <a:lnSpc>
                <a:spcPct val="110000"/>
              </a:lnSpc>
            </a:pPr>
            <a:endParaRPr lang="zh-CN" altLang="en-US"/>
          </a:p>
          <a:p>
            <a:pPr>
              <a:lnSpc>
                <a:spcPct val="110000"/>
              </a:lnSpc>
            </a:pPr>
            <a:r>
              <a:rPr lang="zh-CN" altLang="en-US"/>
              <a:t>基本查询功能</a:t>
            </a:r>
            <a:endParaRPr lang="zh-CN" altLang="en-US"/>
          </a:p>
          <a:p>
            <a:pPr lvl="1">
              <a:lnSpc>
                <a:spcPct val="110000"/>
              </a:lnSpc>
              <a:spcBef>
                <a:spcPts val="1000"/>
              </a:spcBef>
            </a:pPr>
            <a:r>
              <a:rPr lang="zh-CN" altLang="en-US"/>
              <a:t>单表查询</a:t>
            </a:r>
            <a:endParaRPr lang="zh-CN" altLang="en-US"/>
          </a:p>
          <a:p>
            <a:pPr lvl="1">
              <a:lnSpc>
                <a:spcPct val="110000"/>
              </a:lnSpc>
              <a:spcBef>
                <a:spcPts val="1000"/>
              </a:spcBef>
            </a:pPr>
            <a:r>
              <a:rPr lang="zh-CN" altLang="en-US"/>
              <a:t>常用查询谓词：</a:t>
            </a:r>
            <a:r>
              <a:rPr lang="zh-CN" altLang="en-US"/>
              <a:t>新增空值查询、模糊查询等查询</a:t>
            </a:r>
            <a:r>
              <a:rPr lang="zh-CN" altLang="en-US"/>
              <a:t>谓词</a:t>
            </a:r>
            <a:endParaRPr lang="zh-CN" altLang="en-US"/>
          </a:p>
          <a:p>
            <a:pPr lvl="1">
              <a:lnSpc>
                <a:spcPct val="110000"/>
              </a:lnSpc>
              <a:spcBef>
                <a:spcPts val="1000"/>
              </a:spcBef>
            </a:pPr>
            <a:r>
              <a:rPr lang="zh-CN" altLang="en-US"/>
              <a:t>表连接查询（</a:t>
            </a:r>
            <a:r>
              <a:rPr lang="en-US" altLang="zh-CN"/>
              <a:t>theta</a:t>
            </a:r>
            <a:r>
              <a:rPr lang="en-US" altLang="zh-CN"/>
              <a:t>-</a:t>
            </a:r>
            <a:r>
              <a:rPr lang="zh-CN" altLang="en-US"/>
              <a:t>连接</a:t>
            </a:r>
            <a:r>
              <a:rPr lang="zh-CN" altLang="en-US"/>
              <a:t>）</a:t>
            </a:r>
            <a:endParaRPr lang="zh-CN" altLang="en-US"/>
          </a:p>
          <a:p>
            <a:pPr lvl="1">
              <a:lnSpc>
                <a:spcPct val="110000"/>
              </a:lnSpc>
              <a:spcBef>
                <a:spcPts val="1000"/>
              </a:spcBef>
            </a:pPr>
            <a:r>
              <a:rPr lang="zh-CN" altLang="en-US"/>
              <a:t>表的自连接</a:t>
            </a:r>
            <a:endParaRPr lang="zh-CN" altLang="en-US"/>
          </a:p>
          <a:p>
            <a:pPr lvl="1">
              <a:lnSpc>
                <a:spcPct val="110000"/>
              </a:lnSpc>
              <a:spcBef>
                <a:spcPts val="1000"/>
              </a:spcBef>
            </a:pPr>
            <a:r>
              <a:rPr lang="zh-CN" altLang="en-US"/>
              <a:t>表的重命名 </a:t>
            </a:r>
            <a:r>
              <a:rPr lang="en-US" altLang="zh-CN"/>
              <a:t>(alias), </a:t>
            </a:r>
            <a:r>
              <a:rPr lang="zh-CN" altLang="en-US"/>
              <a:t>结果列的重命名</a:t>
            </a:r>
            <a:endParaRPr lang="zh-CN" altLang="en-US"/>
          </a:p>
          <a:p>
            <a:pPr lvl="1">
              <a:lnSpc>
                <a:spcPct val="110000"/>
              </a:lnSpc>
              <a:spcBef>
                <a:spcPts val="1000"/>
              </a:spcBef>
            </a:pPr>
            <a:r>
              <a:rPr lang="zh-CN" altLang="en-US"/>
              <a:t>结果元组 去重 </a:t>
            </a:r>
            <a:r>
              <a:rPr lang="en-US" altLang="zh-CN"/>
              <a:t>&amp; </a:t>
            </a:r>
            <a:r>
              <a:rPr lang="zh-CN" altLang="en-US"/>
              <a:t>排序</a:t>
            </a:r>
            <a:endParaRPr lang="zh-CN" altLang="en-US"/>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3.4  </a:t>
            </a:r>
            <a:r>
              <a:rPr lang="en-US" altLang="zh-CN" dirty="0">
                <a:sym typeface="+mn-ea"/>
              </a:rPr>
              <a:t>SQL</a:t>
            </a:r>
            <a:r>
              <a:rPr lang="zh-CN" altLang="en-US" dirty="0">
                <a:sym typeface="+mn-ea"/>
              </a:rPr>
              <a:t>数据查询</a:t>
            </a:r>
            <a:endParaRPr lang="zh-CN" altLang="en-US"/>
          </a:p>
        </p:txBody>
      </p:sp>
      <p:sp>
        <p:nvSpPr>
          <p:cNvPr id="3" name="内容占位符 2"/>
          <p:cNvSpPr>
            <a:spLocks noGrp="1"/>
          </p:cNvSpPr>
          <p:nvPr>
            <p:ph idx="1"/>
          </p:nvPr>
        </p:nvSpPr>
        <p:spPr>
          <a:xfrm>
            <a:off x="424180" y="687070"/>
            <a:ext cx="11343005" cy="5384800"/>
          </a:xfrm>
        </p:spPr>
        <p:txBody>
          <a:bodyPr wrap="square">
            <a:spAutoFit/>
          </a:bodyPr>
          <a:p>
            <a:pPr marL="0" indent="0" algn="l">
              <a:lnSpc>
                <a:spcPct val="150000"/>
              </a:lnSpc>
              <a:buNone/>
            </a:pPr>
            <a:r>
              <a:rPr lang="en-US" altLang="zh-CN" sz="2800"/>
              <a:t>3.4.1  </a:t>
            </a:r>
            <a:r>
              <a:rPr lang="zh-CN" altLang="en-US" sz="2800">
                <a:hlinkClick r:id="rId1" action="ppaction://hlinksldjump"/>
              </a:rPr>
              <a:t>单表查询</a:t>
            </a:r>
            <a:endParaRPr lang="en-US" altLang="zh-CN" sz="2800"/>
          </a:p>
          <a:p>
            <a:pPr marL="0" indent="0" algn="l">
              <a:lnSpc>
                <a:spcPct val="150000"/>
              </a:lnSpc>
              <a:buNone/>
            </a:pPr>
            <a:r>
              <a:rPr lang="en-US" altLang="zh-CN" sz="2800"/>
              <a:t>3.4.2  </a:t>
            </a:r>
            <a:r>
              <a:rPr lang="zh-CN" altLang="en-US" sz="2800" dirty="0">
                <a:sym typeface="+mn-ea"/>
                <a:hlinkClick r:id="rId2" action="ppaction://hlinksldjump"/>
              </a:rPr>
              <a:t>连接</a:t>
            </a:r>
            <a:r>
              <a:rPr lang="zh-CN" altLang="en-US" sz="2800">
                <a:sym typeface="+mn-ea"/>
                <a:hlinkClick r:id="rId2" action="ppaction://hlinksldjump"/>
              </a:rPr>
              <a:t>查询</a:t>
            </a:r>
            <a:endParaRPr lang="en-US" altLang="zh-CN" sz="2800"/>
          </a:p>
          <a:p>
            <a:pPr marL="0" indent="0" algn="l">
              <a:lnSpc>
                <a:spcPct val="150000"/>
              </a:lnSpc>
              <a:buNone/>
            </a:pPr>
            <a:r>
              <a:rPr lang="en-US" altLang="zh-CN" sz="2800"/>
              <a:t>3.4.3 </a:t>
            </a:r>
            <a:r>
              <a:rPr lang="en-US" altLang="zh-CN" sz="2800" dirty="0">
                <a:sym typeface="+mn-ea"/>
              </a:rPr>
              <a:t> </a:t>
            </a:r>
            <a:r>
              <a:rPr lang="zh-CN" altLang="en-US" sz="2800" dirty="0">
                <a:sym typeface="+mn-ea"/>
                <a:hlinkClick r:id="rId3" action="ppaction://hlinksldjump"/>
              </a:rPr>
              <a:t>嵌套</a:t>
            </a:r>
            <a:r>
              <a:rPr lang="zh-CN" altLang="en-US" sz="2800">
                <a:sym typeface="+mn-ea"/>
                <a:hlinkClick r:id="rId3" action="ppaction://hlinksldjump"/>
              </a:rPr>
              <a:t>查询</a:t>
            </a:r>
            <a:endParaRPr lang="en-US" altLang="zh-CN" sz="2800"/>
          </a:p>
          <a:p>
            <a:pPr marL="0" indent="0" algn="l">
              <a:lnSpc>
                <a:spcPct val="150000"/>
              </a:lnSpc>
              <a:buNone/>
            </a:pPr>
            <a:r>
              <a:rPr lang="en-US" altLang="zh-CN" sz="2800" dirty="0">
                <a:sym typeface="+mn-ea"/>
              </a:rPr>
              <a:t>3.4.4  </a:t>
            </a:r>
            <a:r>
              <a:rPr lang="zh-CN" altLang="en-US" sz="2800" dirty="0">
                <a:sym typeface="+mn-ea"/>
                <a:hlinkClick r:id="rId4" action="ppaction://hlinksldjump"/>
              </a:rPr>
              <a:t>集合</a:t>
            </a:r>
            <a:r>
              <a:rPr lang="zh-CN" altLang="en-US" sz="2800">
                <a:sym typeface="+mn-ea"/>
                <a:hlinkClick r:id="rId4" action="ppaction://hlinksldjump"/>
              </a:rPr>
              <a:t>查询</a:t>
            </a:r>
            <a:endParaRPr lang="en-US" altLang="zh-CN" sz="2800"/>
          </a:p>
          <a:p>
            <a:pPr marL="0" indent="0" algn="l">
              <a:lnSpc>
                <a:spcPct val="150000"/>
              </a:lnSpc>
              <a:buNone/>
            </a:pPr>
            <a:r>
              <a:rPr lang="en-US" sz="2800"/>
              <a:t>3.4.5  </a:t>
            </a:r>
            <a:r>
              <a:rPr lang="zh-CN" altLang="en-US" sz="2800" dirty="0">
                <a:sym typeface="+mn-ea"/>
                <a:hlinkClick r:id="rId5" action="ppaction://hlinksldjump"/>
              </a:rPr>
              <a:t>基于派生表</a:t>
            </a:r>
            <a:r>
              <a:rPr lang="zh-CN" altLang="en-US" sz="2800">
                <a:sym typeface="+mn-ea"/>
                <a:hlinkClick r:id="rId5" action="ppaction://hlinksldjump"/>
              </a:rPr>
              <a:t>查询</a:t>
            </a:r>
            <a:endParaRPr lang="zh-CN" altLang="en-US" sz="2800" dirty="0">
              <a:sym typeface="+mn-ea"/>
            </a:endParaRPr>
          </a:p>
          <a:p>
            <a:pPr marL="0" indent="0" algn="l">
              <a:lnSpc>
                <a:spcPct val="150000"/>
              </a:lnSpc>
              <a:buNone/>
            </a:pPr>
            <a:r>
              <a:rPr lang="en-US" altLang="zh-CN" sz="2800"/>
              <a:t>3.4.6  SELECT</a:t>
            </a:r>
            <a:r>
              <a:rPr lang="zh-CN" altLang="en-US" sz="2800"/>
              <a:t>语句的一般格式</a:t>
            </a:r>
            <a:endParaRPr lang="zh-CN" altLang="en-US" sz="2800"/>
          </a:p>
          <a:p>
            <a:pPr marL="0" indent="0" algn="l">
              <a:lnSpc>
                <a:spcPct val="150000"/>
              </a:lnSpc>
              <a:buNone/>
            </a:pPr>
            <a:r>
              <a:rPr lang="zh-CN" altLang="en-US" sz="2800">
                <a:hlinkClick r:id="rId6" action="ppaction://hlinksldjump"/>
              </a:rPr>
              <a:t>复习思考题</a:t>
            </a:r>
            <a:endParaRPr lang="zh-CN" altLang="en-US" sz="28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nchor="b" anchorCtr="0"/>
          <a:lstStyle/>
          <a:p>
            <a:pPr eaLnBrk="1" hangingPunct="1"/>
            <a:r>
              <a:rPr lang="zh-CN" altLang="en-US" dirty="0">
                <a:solidFill>
                  <a:srgbClr val="0000C8"/>
                </a:solidFill>
              </a:rPr>
              <a:t>（202</a:t>
            </a:r>
            <a:r>
              <a:rPr lang="en-US" altLang="zh-CN" dirty="0">
                <a:solidFill>
                  <a:srgbClr val="0000C8"/>
                </a:solidFill>
              </a:rPr>
              <a:t>6</a:t>
            </a:r>
            <a:r>
              <a:rPr lang="zh-CN" altLang="en-US" dirty="0">
                <a:solidFill>
                  <a:srgbClr val="0000C8"/>
                </a:solidFill>
              </a:rPr>
              <a:t> 春季）</a:t>
            </a:r>
            <a:endParaRPr lang="zh-CN" altLang="en-US" dirty="0">
              <a:solidFill>
                <a:srgbClr val="0000C8"/>
              </a:solidFill>
            </a:endParaRPr>
          </a:p>
        </p:txBody>
      </p:sp>
      <p:sp>
        <p:nvSpPr>
          <p:cNvPr id="3074" name="Rectangle 2"/>
          <p:cNvSpPr>
            <a:spLocks noGrp="1" noChangeArrowheads="1"/>
          </p:cNvSpPr>
          <p:nvPr>
            <p:ph type="ctrTitle" sz="quarter"/>
          </p:nvPr>
        </p:nvSpPr>
        <p:spPr/>
        <p:txBody>
          <a:bodyPr/>
          <a:lstStyle/>
          <a:p>
            <a:pPr eaLnBrk="1" hangingPunct="1">
              <a:lnSpc>
                <a:spcPct val="200000"/>
              </a:lnSpc>
              <a:spcBef>
                <a:spcPts val="2400"/>
              </a:spcBef>
            </a:pPr>
            <a:r>
              <a:rPr lang="zh-CN" altLang="en-US" sz="3600" dirty="0"/>
              <a:t>第3章  关系数据库标准语言SQL</a:t>
            </a:r>
            <a:br>
              <a:rPr lang="en-US" altLang="zh-CN" sz="3600"/>
            </a:br>
            <a:r>
              <a:rPr lang="en-US" altLang="zh-CN" sz="3600">
                <a:solidFill>
                  <a:srgbClr val="0000C8"/>
                </a:solidFill>
              </a:rPr>
              <a:t>ch3.4.1  </a:t>
            </a:r>
            <a:r>
              <a:rPr lang="en-US" altLang="zh-CN" sz="3600" dirty="0">
                <a:solidFill>
                  <a:srgbClr val="0000C8"/>
                </a:solidFill>
              </a:rPr>
              <a:t>SQL</a:t>
            </a:r>
            <a:r>
              <a:rPr lang="zh-CN" altLang="en-US" sz="3600" dirty="0">
                <a:solidFill>
                  <a:srgbClr val="0000C8"/>
                </a:solidFill>
              </a:rPr>
              <a:t>数据查询（单表）</a:t>
            </a:r>
            <a:endParaRPr lang="zh-CN" altLang="en-US" sz="3600" dirty="0">
              <a:solidFill>
                <a:srgbClr val="0000C8"/>
              </a:solidFill>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数据查询</a:t>
            </a:r>
            <a:endParaRPr lang="zh-CN" altLang="en-US" dirty="0"/>
          </a:p>
        </p:txBody>
      </p:sp>
      <p:sp>
        <p:nvSpPr>
          <p:cNvPr id="3" name="内容占位符 2"/>
          <p:cNvSpPr>
            <a:spLocks noGrp="1"/>
          </p:cNvSpPr>
          <p:nvPr>
            <p:ph idx="1"/>
          </p:nvPr>
        </p:nvSpPr>
        <p:spPr>
          <a:xfrm>
            <a:off x="424180" y="687070"/>
            <a:ext cx="11343005" cy="460375"/>
          </a:xfrm>
        </p:spPr>
        <p:txBody>
          <a:bodyPr>
            <a:spAutoFit/>
          </a:bodyPr>
          <a:lstStyle/>
          <a:p>
            <a:pPr algn="just" eaLnBrk="1" hangingPunct="1">
              <a:lnSpc>
                <a:spcPct val="100000"/>
              </a:lnSpc>
            </a:pPr>
            <a:r>
              <a:rPr lang="zh-CN" altLang="en-US" sz="2400" dirty="0"/>
              <a:t>语句格式</a:t>
            </a:r>
            <a:endParaRPr lang="zh-CN" altLang="en-US" sz="2400" dirty="0"/>
          </a:p>
        </p:txBody>
      </p:sp>
      <p:sp>
        <p:nvSpPr>
          <p:cNvPr id="5" name="内容占位符 4"/>
          <p:cNvSpPr>
            <a:spLocks noGrp="1"/>
          </p:cNvSpPr>
          <p:nvPr>
            <p:ph sz="half" idx="4294967295"/>
          </p:nvPr>
        </p:nvSpPr>
        <p:spPr>
          <a:xfrm>
            <a:off x="424180" y="3182620"/>
            <a:ext cx="11342370" cy="3317875"/>
          </a:xfrm>
        </p:spPr>
        <p:txBody>
          <a:bodyPr wrap="square">
            <a:noAutofit/>
          </a:bodyPr>
          <a:lstStyle/>
          <a:p>
            <a:pPr marL="552450" lvl="1" indent="-326390" algn="just">
              <a:lnSpc>
                <a:spcPct val="100000"/>
              </a:lnSpc>
              <a:spcBef>
                <a:spcPts val="1000"/>
              </a:spcBef>
            </a:pPr>
            <a:r>
              <a:rPr lang="en-US" altLang="zh-CN" sz="2400" dirty="0">
                <a:latin typeface="Calibri" panose="020F0502020204030204" charset="0"/>
                <a:cs typeface="Calibri" panose="020F0502020204030204" charset="0"/>
              </a:rPr>
              <a:t>SELECT</a:t>
            </a:r>
            <a:r>
              <a:rPr lang="zh-CN" altLang="en-US" sz="2400" dirty="0">
                <a:latin typeface="Calibri" panose="020F0502020204030204" charset="0"/>
                <a:cs typeface="Calibri" panose="020F0502020204030204" charset="0"/>
              </a:rPr>
              <a:t>子句：指定要显示的列</a:t>
            </a:r>
            <a:endParaRPr lang="zh-CN" altLang="en-US" sz="2400" dirty="0">
              <a:latin typeface="Calibri" panose="020F0502020204030204" charset="0"/>
              <a:cs typeface="Calibri" panose="020F0502020204030204" charset="0"/>
            </a:endParaRPr>
          </a:p>
          <a:p>
            <a:pPr marL="552450" lvl="1" indent="-326390" algn="just">
              <a:lnSpc>
                <a:spcPct val="100000"/>
              </a:lnSpc>
              <a:spcBef>
                <a:spcPts val="1000"/>
              </a:spcBef>
            </a:pPr>
            <a:r>
              <a:rPr lang="en-US" altLang="zh-CN" sz="2400" dirty="0">
                <a:latin typeface="Calibri" panose="020F0502020204030204" charset="0"/>
                <a:cs typeface="Calibri" panose="020F0502020204030204" charset="0"/>
              </a:rPr>
              <a:t>FROM</a:t>
            </a:r>
            <a:r>
              <a:rPr lang="zh-CN" altLang="en-US" sz="2400" dirty="0">
                <a:latin typeface="Calibri" panose="020F0502020204030204" charset="0"/>
                <a:cs typeface="Calibri" panose="020F0502020204030204" charset="0"/>
              </a:rPr>
              <a:t>子句：指定查询对象</a:t>
            </a:r>
            <a:r>
              <a:rPr lang="en-US" altLang="zh-CN" sz="2400" dirty="0">
                <a:latin typeface="Calibri" panose="020F0502020204030204" charset="0"/>
                <a:cs typeface="Calibri" panose="020F0502020204030204" charset="0"/>
              </a:rPr>
              <a:t>（</a:t>
            </a:r>
            <a:r>
              <a:rPr lang="zh-CN" altLang="en-US" sz="2400" dirty="0">
                <a:latin typeface="Calibri" panose="020F0502020204030204" charset="0"/>
                <a:cs typeface="Calibri" panose="020F0502020204030204" charset="0"/>
              </a:rPr>
              <a:t>基本表、视图</a:t>
            </a:r>
            <a:r>
              <a:rPr lang="en-US" altLang="zh-CN"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或</a:t>
            </a:r>
            <a:r>
              <a:rPr lang="en-US" altLang="zh-CN"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子查询</a:t>
            </a:r>
            <a:r>
              <a:rPr lang="en-US" altLang="zh-CN" sz="2400" dirty="0">
                <a:latin typeface="Calibri" panose="020F0502020204030204" charset="0"/>
                <a:cs typeface="Calibri" panose="020F0502020204030204" charset="0"/>
              </a:rPr>
              <a:t>）</a:t>
            </a:r>
            <a:endParaRPr lang="en-US" altLang="zh-CN" sz="2400" dirty="0">
              <a:latin typeface="Calibri" panose="020F0502020204030204" charset="0"/>
              <a:cs typeface="Calibri" panose="020F0502020204030204" charset="0"/>
            </a:endParaRPr>
          </a:p>
          <a:p>
            <a:pPr marL="552450" lvl="1" indent="-326390" algn="just">
              <a:lnSpc>
                <a:spcPct val="100000"/>
              </a:lnSpc>
              <a:spcBef>
                <a:spcPts val="1000"/>
              </a:spcBef>
            </a:pPr>
            <a:r>
              <a:rPr lang="en-US" altLang="zh-CN" sz="2400" dirty="0">
                <a:latin typeface="Calibri" panose="020F0502020204030204" charset="0"/>
                <a:cs typeface="Calibri" panose="020F0502020204030204" charset="0"/>
              </a:rPr>
              <a:t>WHERE</a:t>
            </a:r>
            <a:r>
              <a:rPr lang="zh-CN" altLang="en-US" sz="2400" dirty="0">
                <a:latin typeface="Calibri" panose="020F0502020204030204" charset="0"/>
                <a:cs typeface="Calibri" panose="020F0502020204030204" charset="0"/>
              </a:rPr>
              <a:t>子句：指定查询条件</a:t>
            </a:r>
            <a:endParaRPr lang="zh-CN" altLang="en-US" sz="2400" dirty="0">
              <a:latin typeface="Calibri" panose="020F0502020204030204" charset="0"/>
              <a:cs typeface="Calibri" panose="020F0502020204030204" charset="0"/>
            </a:endParaRPr>
          </a:p>
          <a:p>
            <a:pPr marL="552450" lvl="1" indent="-326390" algn="just">
              <a:lnSpc>
                <a:spcPct val="100000"/>
              </a:lnSpc>
              <a:spcBef>
                <a:spcPts val="1000"/>
              </a:spcBef>
            </a:pPr>
            <a:r>
              <a:rPr lang="en-US" altLang="zh-CN" sz="2400" dirty="0">
                <a:latin typeface="Calibri" panose="020F0502020204030204" charset="0"/>
                <a:cs typeface="Calibri" panose="020F0502020204030204" charset="0"/>
              </a:rPr>
              <a:t>GROUP BY</a:t>
            </a:r>
            <a:r>
              <a:rPr lang="zh-CN" altLang="en-US" sz="2400" dirty="0">
                <a:latin typeface="Calibri" panose="020F0502020204030204" charset="0"/>
                <a:cs typeface="Calibri" panose="020F0502020204030204" charset="0"/>
              </a:rPr>
              <a:t>子句：对查询结果按指定列的值分组，在该列上</a:t>
            </a:r>
            <a:r>
              <a:rPr lang="zh-CN" altLang="en-US" sz="2400" dirty="0">
                <a:latin typeface="Calibri" panose="020F0502020204030204" charset="0"/>
                <a:cs typeface="Calibri" panose="020F0502020204030204" charset="0"/>
              </a:rPr>
              <a:t>取值相等的元组为一个组。通常会在每组中作用聚集函数。</a:t>
            </a:r>
            <a:endParaRPr lang="zh-CN" altLang="en-US" sz="2400" dirty="0">
              <a:latin typeface="Calibri" panose="020F0502020204030204" charset="0"/>
              <a:cs typeface="Calibri" panose="020F0502020204030204" charset="0"/>
            </a:endParaRPr>
          </a:p>
          <a:p>
            <a:pPr marL="552450" lvl="1" indent="-326390" algn="just">
              <a:lnSpc>
                <a:spcPct val="100000"/>
              </a:lnSpc>
              <a:spcBef>
                <a:spcPts val="1000"/>
              </a:spcBef>
            </a:pPr>
            <a:r>
              <a:rPr lang="en-US" altLang="zh-CN" sz="2400" dirty="0">
                <a:latin typeface="Calibri" panose="020F0502020204030204" charset="0"/>
                <a:cs typeface="Calibri" panose="020F0502020204030204" charset="0"/>
              </a:rPr>
              <a:t>HAVING</a:t>
            </a:r>
            <a:r>
              <a:rPr lang="zh-CN" altLang="en-US" sz="2400" dirty="0">
                <a:latin typeface="Calibri" panose="020F0502020204030204" charset="0"/>
                <a:cs typeface="Calibri" panose="020F0502020204030204" charset="0"/>
              </a:rPr>
              <a:t>短语：只有满足指定条件的组才予以输出</a:t>
            </a:r>
            <a:endParaRPr lang="zh-CN" altLang="en-US" sz="2400" dirty="0">
              <a:latin typeface="Calibri" panose="020F0502020204030204" charset="0"/>
              <a:cs typeface="Calibri" panose="020F0502020204030204" charset="0"/>
            </a:endParaRPr>
          </a:p>
          <a:p>
            <a:pPr marL="552450" lvl="1" indent="-326390">
              <a:lnSpc>
                <a:spcPct val="100000"/>
              </a:lnSpc>
              <a:spcBef>
                <a:spcPts val="1000"/>
              </a:spcBef>
            </a:pPr>
            <a:r>
              <a:rPr lang="en-US" altLang="zh-CN" sz="2400" dirty="0">
                <a:latin typeface="Calibri" panose="020F0502020204030204" charset="0"/>
                <a:cs typeface="Calibri" panose="020F0502020204030204" charset="0"/>
              </a:rPr>
              <a:t>ORDER BY</a:t>
            </a:r>
            <a:r>
              <a:rPr lang="zh-CN" altLang="en-US" sz="2400" dirty="0">
                <a:latin typeface="Calibri" panose="020F0502020204030204" charset="0"/>
                <a:cs typeface="Calibri" panose="020F0502020204030204" charset="0"/>
              </a:rPr>
              <a:t>子句：对查询结果表按指定列值的升序或降序排序 </a:t>
            </a:r>
            <a:endParaRPr lang="zh-CN" altLang="en-US" sz="2400" dirty="0">
              <a:latin typeface="Calibri" panose="020F0502020204030204" charset="0"/>
              <a:cs typeface="Calibri" panose="020F0502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
        <p:nvSpPr>
          <p:cNvPr id="7" name="内容占位符 2"/>
          <p:cNvSpPr>
            <a:spLocks noGrp="1"/>
          </p:cNvSpPr>
          <p:nvPr/>
        </p:nvSpPr>
        <p:spPr>
          <a:xfrm>
            <a:off x="423545" y="1199515"/>
            <a:ext cx="11343005" cy="1938020"/>
          </a:xfrm>
          <a:prstGeom prst="rect">
            <a:avLst/>
          </a:prstGeom>
          <a:solidFill>
            <a:schemeClr val="accent3">
              <a:lumMod val="20000"/>
              <a:lumOff val="80000"/>
              <a:alpha val="50000"/>
            </a:schemeClr>
          </a:solidFill>
          <a:ln>
            <a:solidFill>
              <a:schemeClr val="accent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1" fontAlgn="auto">
              <a:lnSpc>
                <a:spcPct val="100000"/>
              </a:lnSpc>
              <a:spcBef>
                <a:spcPct val="0"/>
              </a:spcBef>
              <a:buFont typeface="Wingdings" panose="05000000000000000000" pitchFamily="2" charset="2"/>
              <a:buNone/>
            </a:pPr>
            <a:r>
              <a:rPr lang="en-US" altLang="zh-CN" sz="2400" dirty="0">
                <a:solidFill>
                  <a:srgbClr val="FF0000"/>
                </a:solidFill>
                <a:latin typeface="Calibri" panose="020F0502020204030204" charset="0"/>
                <a:cs typeface="Calibri" panose="020F0502020204030204" charset="0"/>
              </a:rPr>
              <a:t>SELECT</a:t>
            </a:r>
            <a:r>
              <a:rPr lang="en-US" altLang="zh-CN" sz="2400" dirty="0">
                <a:latin typeface="Calibri" panose="020F0502020204030204" charset="0"/>
                <a:cs typeface="Calibri" panose="020F0502020204030204" charset="0"/>
              </a:rPr>
              <a:t> [ALL|DISTINCT] &lt;</a:t>
            </a:r>
            <a:r>
              <a:rPr lang="zh-CN" altLang="en-US" sz="2400" dirty="0">
                <a:latin typeface="Calibri" panose="020F0502020204030204" charset="0"/>
                <a:cs typeface="Calibri" panose="020F0502020204030204" charset="0"/>
              </a:rPr>
              <a:t>目标列表达式</a:t>
            </a:r>
            <a:r>
              <a:rPr lang="en-US" altLang="zh-CN" sz="2400" dirty="0">
                <a:latin typeface="Calibri" panose="020F0502020204030204" charset="0"/>
                <a:cs typeface="Calibri" panose="020F0502020204030204" charset="0"/>
              </a:rPr>
              <a:t>&gt;[</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&lt;</a:t>
            </a:r>
            <a:r>
              <a:rPr lang="zh-CN" altLang="en-US" sz="2400" dirty="0">
                <a:latin typeface="Calibri" panose="020F0502020204030204" charset="0"/>
                <a:cs typeface="Calibri" panose="020F0502020204030204" charset="0"/>
              </a:rPr>
              <a:t>目标列表达式</a:t>
            </a:r>
            <a:r>
              <a:rPr lang="en-US" altLang="zh-CN" sz="2400" dirty="0">
                <a:latin typeface="Calibri" panose="020F0502020204030204" charset="0"/>
                <a:cs typeface="Calibri" panose="020F0502020204030204" charset="0"/>
              </a:rPr>
              <a:t>&gt;] …</a:t>
            </a:r>
            <a:endParaRPr lang="en-US" altLang="zh-CN" sz="2400" dirty="0">
              <a:latin typeface="Calibri" panose="020F0502020204030204" charset="0"/>
              <a:cs typeface="Calibri" panose="020F0502020204030204" charset="0"/>
            </a:endParaRPr>
          </a:p>
          <a:p>
            <a:pPr lvl="1" fontAlgn="auto">
              <a:lnSpc>
                <a:spcPct val="100000"/>
              </a:lnSpc>
              <a:spcBef>
                <a:spcPct val="0"/>
              </a:spcBef>
              <a:buFont typeface="Wingdings" panose="05000000000000000000" pitchFamily="2" charset="2"/>
              <a:buNone/>
            </a:pPr>
            <a:r>
              <a:rPr lang="en-US" altLang="zh-CN" sz="2400" dirty="0">
                <a:solidFill>
                  <a:srgbClr val="FF0000"/>
                </a:solidFill>
                <a:latin typeface="Calibri" panose="020F0502020204030204" charset="0"/>
                <a:cs typeface="Calibri" panose="020F0502020204030204" charset="0"/>
              </a:rPr>
              <a:t>FROM</a:t>
            </a:r>
            <a:r>
              <a:rPr lang="en-US" altLang="zh-CN" sz="2400" dirty="0">
                <a:solidFill>
                  <a:srgbClr val="FF00FF"/>
                </a:solidFill>
                <a:latin typeface="Calibri" panose="020F0502020204030204" charset="0"/>
                <a:cs typeface="Calibri" panose="020F0502020204030204" charset="0"/>
              </a:rPr>
              <a:t> </a:t>
            </a:r>
            <a:r>
              <a:rPr lang="en-US" altLang="zh-CN" sz="2400" dirty="0">
                <a:latin typeface="Calibri" panose="020F0502020204030204" charset="0"/>
                <a:cs typeface="Calibri" panose="020F0502020204030204" charset="0"/>
              </a:rPr>
              <a:t>&lt;</a:t>
            </a:r>
            <a:r>
              <a:rPr lang="zh-CN" altLang="en-US" sz="2400" dirty="0">
                <a:latin typeface="Calibri" panose="020F0502020204030204" charset="0"/>
                <a:cs typeface="Calibri" panose="020F0502020204030204" charset="0"/>
              </a:rPr>
              <a:t>表名或视图名</a:t>
            </a:r>
            <a:r>
              <a:rPr lang="en-US" altLang="zh-CN" sz="2400" dirty="0">
                <a:latin typeface="Calibri" panose="020F0502020204030204" charset="0"/>
                <a:cs typeface="Calibri" panose="020F0502020204030204" charset="0"/>
              </a:rPr>
              <a:t>&gt;[,&lt;</a:t>
            </a:r>
            <a:r>
              <a:rPr lang="zh-CN" altLang="en-US" sz="2400" dirty="0">
                <a:latin typeface="Calibri" panose="020F0502020204030204" charset="0"/>
                <a:cs typeface="Calibri" panose="020F0502020204030204" charset="0"/>
              </a:rPr>
              <a:t>表名或视图名</a:t>
            </a:r>
            <a:r>
              <a:rPr lang="en-US" altLang="zh-CN" sz="2400" dirty="0">
                <a:latin typeface="Calibri" panose="020F0502020204030204" charset="0"/>
                <a:cs typeface="Calibri" panose="020F0502020204030204" charset="0"/>
              </a:rPr>
              <a:t>&gt; ]…|</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SELECT </a:t>
            </a:r>
            <a:r>
              <a:rPr lang="zh-CN" altLang="en-US" sz="2400" dirty="0">
                <a:latin typeface="Calibri" panose="020F0502020204030204" charset="0"/>
                <a:cs typeface="Calibri" panose="020F0502020204030204" charset="0"/>
              </a:rPr>
              <a:t>语句)</a:t>
            </a:r>
            <a:r>
              <a:rPr lang="en-US" altLang="zh-CN" sz="2400" dirty="0">
                <a:latin typeface="Calibri" panose="020F0502020204030204" charset="0"/>
                <a:cs typeface="Calibri" panose="020F0502020204030204" charset="0"/>
              </a:rPr>
              <a:t> [AS]&lt;</a:t>
            </a:r>
            <a:r>
              <a:rPr lang="zh-CN" altLang="en-US" sz="2400" dirty="0">
                <a:latin typeface="Calibri" panose="020F0502020204030204" charset="0"/>
                <a:cs typeface="Calibri" panose="020F0502020204030204" charset="0"/>
              </a:rPr>
              <a:t>别名</a:t>
            </a:r>
            <a:r>
              <a:rPr lang="en-US" altLang="zh-CN" sz="2400" dirty="0">
                <a:latin typeface="Calibri" panose="020F0502020204030204" charset="0"/>
                <a:cs typeface="Calibri" panose="020F0502020204030204" charset="0"/>
              </a:rPr>
              <a:t>&gt;</a:t>
            </a:r>
            <a:endParaRPr lang="en-US" altLang="zh-CN" sz="2400" dirty="0">
              <a:latin typeface="Calibri" panose="020F0502020204030204" charset="0"/>
              <a:cs typeface="Calibri" panose="020F0502020204030204" charset="0"/>
            </a:endParaRPr>
          </a:p>
          <a:p>
            <a:pPr marL="1276350" lvl="2" fontAlgn="auto">
              <a:lnSpc>
                <a:spcPct val="100000"/>
              </a:lnSpc>
              <a:spcBef>
                <a:spcPct val="0"/>
              </a:spcBef>
              <a:buFont typeface="Wingdings" panose="05000000000000000000" pitchFamily="2" charset="2"/>
              <a:buNone/>
            </a:pPr>
            <a:r>
              <a:rPr lang="en-US" altLang="zh-CN" sz="2400" dirty="0">
                <a:latin typeface="Calibri" panose="020F0502020204030204" charset="0"/>
                <a:cs typeface="Calibri" panose="020F0502020204030204" charset="0"/>
              </a:rPr>
              <a:t>[ </a:t>
            </a:r>
            <a:r>
              <a:rPr lang="en-US" altLang="zh-CN" sz="2400" dirty="0">
                <a:solidFill>
                  <a:srgbClr val="FF0000"/>
                </a:solidFill>
                <a:latin typeface="Calibri" panose="020F0502020204030204" charset="0"/>
                <a:cs typeface="Calibri" panose="020F0502020204030204" charset="0"/>
              </a:rPr>
              <a:t>WHERE</a:t>
            </a:r>
            <a:r>
              <a:rPr lang="en-US" altLang="zh-CN" sz="2400" dirty="0">
                <a:latin typeface="Calibri" panose="020F0502020204030204" charset="0"/>
                <a:cs typeface="Calibri" panose="020F0502020204030204" charset="0"/>
              </a:rPr>
              <a:t> &lt;</a:t>
            </a:r>
            <a:r>
              <a:rPr lang="zh-CN" altLang="en-US" sz="2400" dirty="0">
                <a:latin typeface="Calibri" panose="020F0502020204030204" charset="0"/>
                <a:cs typeface="Calibri" panose="020F0502020204030204" charset="0"/>
              </a:rPr>
              <a:t>条件表达式</a:t>
            </a:r>
            <a:r>
              <a:rPr lang="en-US" altLang="zh-CN" sz="2400" dirty="0">
                <a:latin typeface="Calibri" panose="020F0502020204030204" charset="0"/>
                <a:cs typeface="Calibri" panose="020F0502020204030204" charset="0"/>
              </a:rPr>
              <a:t>&gt; ]</a:t>
            </a:r>
            <a:endParaRPr lang="en-US" altLang="zh-CN" sz="2400" dirty="0">
              <a:latin typeface="Calibri" panose="020F0502020204030204" charset="0"/>
              <a:cs typeface="Calibri" panose="020F0502020204030204" charset="0"/>
            </a:endParaRPr>
          </a:p>
          <a:p>
            <a:pPr marL="1276350" lvl="2" fontAlgn="auto">
              <a:lnSpc>
                <a:spcPct val="100000"/>
              </a:lnSpc>
              <a:spcBef>
                <a:spcPct val="0"/>
              </a:spcBef>
              <a:buFont typeface="Wingdings" panose="05000000000000000000" pitchFamily="2" charset="2"/>
              <a:buNone/>
            </a:pPr>
            <a:r>
              <a:rPr lang="en-US" altLang="zh-CN" sz="2400" dirty="0">
                <a:latin typeface="Calibri" panose="020F0502020204030204" charset="0"/>
                <a:cs typeface="Calibri" panose="020F0502020204030204" charset="0"/>
              </a:rPr>
              <a:t>[</a:t>
            </a:r>
            <a:r>
              <a:rPr lang="en-US" altLang="zh-CN" sz="2400" dirty="0">
                <a:solidFill>
                  <a:srgbClr val="FF0000"/>
                </a:solidFill>
                <a:latin typeface="Calibri" panose="020F0502020204030204" charset="0"/>
                <a:cs typeface="Calibri" panose="020F0502020204030204" charset="0"/>
              </a:rPr>
              <a:t>GROUP BY </a:t>
            </a:r>
            <a:r>
              <a:rPr lang="en-US" altLang="zh-CN" sz="2400" dirty="0">
                <a:latin typeface="Calibri" panose="020F0502020204030204" charset="0"/>
                <a:cs typeface="Calibri" panose="020F0502020204030204" charset="0"/>
              </a:rPr>
              <a:t>&lt;</a:t>
            </a:r>
            <a:r>
              <a:rPr lang="zh-CN" altLang="en-US" sz="2400" dirty="0">
                <a:latin typeface="Calibri" panose="020F0502020204030204" charset="0"/>
                <a:cs typeface="Calibri" panose="020F0502020204030204" charset="0"/>
              </a:rPr>
              <a:t>列名</a:t>
            </a:r>
            <a:r>
              <a:rPr lang="en-US" altLang="zh-CN" sz="2400" dirty="0">
                <a:latin typeface="Calibri" panose="020F0502020204030204" charset="0"/>
                <a:cs typeface="Calibri" panose="020F0502020204030204" charset="0"/>
              </a:rPr>
              <a:t>1&gt; [ </a:t>
            </a:r>
            <a:r>
              <a:rPr lang="en-US" altLang="zh-CN" sz="2400" dirty="0">
                <a:solidFill>
                  <a:srgbClr val="FF0000"/>
                </a:solidFill>
                <a:latin typeface="Calibri" panose="020F0502020204030204" charset="0"/>
                <a:cs typeface="Calibri" panose="020F0502020204030204" charset="0"/>
              </a:rPr>
              <a:t>HAVING</a:t>
            </a:r>
            <a:r>
              <a:rPr lang="en-US" altLang="zh-CN" sz="2400" dirty="0">
                <a:latin typeface="Calibri" panose="020F0502020204030204" charset="0"/>
                <a:cs typeface="Calibri" panose="020F0502020204030204" charset="0"/>
              </a:rPr>
              <a:t> &lt;</a:t>
            </a:r>
            <a:r>
              <a:rPr lang="zh-CN" altLang="en-US" sz="2400" dirty="0">
                <a:latin typeface="Calibri" panose="020F0502020204030204" charset="0"/>
                <a:cs typeface="Calibri" panose="020F0502020204030204" charset="0"/>
              </a:rPr>
              <a:t>条件表达式</a:t>
            </a:r>
            <a:r>
              <a:rPr lang="en-US" altLang="zh-CN" sz="2400" dirty="0">
                <a:latin typeface="Calibri" panose="020F0502020204030204" charset="0"/>
                <a:cs typeface="Calibri" panose="020F0502020204030204" charset="0"/>
              </a:rPr>
              <a:t>&gt; ] ]</a:t>
            </a:r>
            <a:endParaRPr lang="en-US" altLang="zh-CN" sz="2400" dirty="0">
              <a:latin typeface="Calibri" panose="020F0502020204030204" charset="0"/>
              <a:cs typeface="Calibri" panose="020F0502020204030204" charset="0"/>
            </a:endParaRPr>
          </a:p>
          <a:p>
            <a:pPr marL="1276350" lvl="2" fontAlgn="auto">
              <a:lnSpc>
                <a:spcPct val="100000"/>
              </a:lnSpc>
              <a:spcBef>
                <a:spcPct val="0"/>
              </a:spcBef>
              <a:buFont typeface="Wingdings" panose="05000000000000000000" pitchFamily="2" charset="2"/>
              <a:buNone/>
            </a:pPr>
            <a:r>
              <a:rPr lang="en-US" altLang="zh-CN" sz="2400" dirty="0">
                <a:latin typeface="Calibri" panose="020F0502020204030204" charset="0"/>
                <a:cs typeface="Calibri" panose="020F0502020204030204" charset="0"/>
              </a:rPr>
              <a:t>[</a:t>
            </a:r>
            <a:r>
              <a:rPr lang="en-US" altLang="zh-CN" sz="2400" dirty="0">
                <a:solidFill>
                  <a:srgbClr val="FF0000"/>
                </a:solidFill>
                <a:latin typeface="Calibri" panose="020F0502020204030204" charset="0"/>
                <a:cs typeface="Calibri" panose="020F0502020204030204" charset="0"/>
              </a:rPr>
              <a:t>ORDER BY </a:t>
            </a:r>
            <a:r>
              <a:rPr lang="en-US" altLang="zh-CN" sz="2400" dirty="0">
                <a:latin typeface="Calibri" panose="020F0502020204030204" charset="0"/>
                <a:cs typeface="Calibri" panose="020F0502020204030204" charset="0"/>
              </a:rPr>
              <a:t>&lt;</a:t>
            </a:r>
            <a:r>
              <a:rPr lang="zh-CN" altLang="en-US" sz="2400" dirty="0">
                <a:latin typeface="Calibri" panose="020F0502020204030204" charset="0"/>
                <a:cs typeface="Calibri" panose="020F0502020204030204" charset="0"/>
              </a:rPr>
              <a:t>列名</a:t>
            </a:r>
            <a:r>
              <a:rPr lang="en-US" altLang="zh-CN" sz="2400" dirty="0">
                <a:latin typeface="Calibri" panose="020F0502020204030204" charset="0"/>
                <a:cs typeface="Calibri" panose="020F0502020204030204" charset="0"/>
              </a:rPr>
              <a:t>2&gt; [ ASC|DESC ] ]</a:t>
            </a:r>
            <a:r>
              <a:rPr lang="zh-CN" altLang="en-US" sz="2400" dirty="0">
                <a:latin typeface="Calibri" panose="020F0502020204030204" charset="0"/>
                <a:cs typeface="Calibri" panose="020F0502020204030204" charset="0"/>
              </a:rPr>
              <a:t>;</a:t>
            </a:r>
            <a:endParaRPr lang="zh-CN" altLang="en-US" sz="2400" dirty="0">
              <a:latin typeface="Calibri" panose="020F0502020204030204" charset="0"/>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基本的数据查询</a:t>
            </a:r>
            <a:r>
              <a:rPr lang="zh-CN" altLang="en-US"/>
              <a:t>功能</a:t>
            </a:r>
            <a:endParaRPr lang="zh-CN" altLang="en-US"/>
          </a:p>
        </p:txBody>
      </p:sp>
      <p:sp>
        <p:nvSpPr>
          <p:cNvPr id="3" name="内容占位符 2"/>
          <p:cNvSpPr>
            <a:spLocks noGrp="1"/>
          </p:cNvSpPr>
          <p:nvPr>
            <p:ph idx="1"/>
          </p:nvPr>
        </p:nvSpPr>
        <p:spPr/>
        <p:txBody>
          <a:bodyPr/>
          <a:p>
            <a:r>
              <a:rPr lang="zh-CN" altLang="en-US">
                <a:solidFill>
                  <a:srgbClr val="C00000"/>
                </a:solidFill>
              </a:rPr>
              <a:t>目标属性投影</a:t>
            </a:r>
            <a:endParaRPr lang="zh-CN" altLang="en-US"/>
          </a:p>
          <a:p>
            <a:pPr lvl="1"/>
            <a:r>
              <a:rPr lang="zh-CN" altLang="en-US"/>
              <a:t>查询指定列、查询</a:t>
            </a:r>
            <a:r>
              <a:rPr lang="zh-CN" altLang="en-US"/>
              <a:t>全部列</a:t>
            </a:r>
            <a:endParaRPr lang="zh-CN" altLang="en-US"/>
          </a:p>
          <a:p>
            <a:pPr lvl="1"/>
            <a:r>
              <a:rPr lang="zh-CN" altLang="en-US"/>
              <a:t>查询经过计算的值：表达式投影、内置函数</a:t>
            </a:r>
            <a:r>
              <a:rPr lang="zh-CN" altLang="en-US"/>
              <a:t>调用</a:t>
            </a:r>
            <a:endParaRPr lang="zh-CN" altLang="en-US"/>
          </a:p>
          <a:p>
            <a:pPr lvl="1"/>
            <a:r>
              <a:rPr lang="zh-CN" altLang="en-US"/>
              <a:t>结果列的重命名：</a:t>
            </a:r>
            <a:r>
              <a:rPr lang="zh-CN" altLang="en-US" dirty="0">
                <a:highlight>
                  <a:srgbClr val="000000">
                    <a:alpha val="0"/>
                  </a:srgbClr>
                </a:highlight>
                <a:sym typeface="+mn-ea"/>
              </a:rPr>
              <a:t>使用列别名改变查询结果的列标题</a:t>
            </a:r>
            <a:endParaRPr lang="zh-CN" altLang="en-US" dirty="0">
              <a:highlight>
                <a:srgbClr val="000000">
                  <a:alpha val="0"/>
                </a:srgbClr>
              </a:highlight>
              <a:sym typeface="+mn-ea"/>
            </a:endParaRPr>
          </a:p>
          <a:p>
            <a:pPr lvl="1"/>
            <a:r>
              <a:rPr lang="zh-CN" altLang="en-US" dirty="0">
                <a:highlight>
                  <a:srgbClr val="000000">
                    <a:alpha val="0"/>
                  </a:srgbClr>
                </a:highlight>
                <a:sym typeface="+mn-ea"/>
              </a:rPr>
              <a:t>结果元组去重：</a:t>
            </a:r>
            <a:r>
              <a:rPr lang="en-US" altLang="zh-CN" dirty="0">
                <a:solidFill>
                  <a:srgbClr val="0000C8"/>
                </a:solidFill>
                <a:highlight>
                  <a:srgbClr val="000000">
                    <a:alpha val="0"/>
                  </a:srgbClr>
                </a:highlight>
                <a:sym typeface="+mn-ea"/>
              </a:rPr>
              <a:t>ALL | DISTINCT</a:t>
            </a:r>
            <a:endParaRPr lang="zh-CN" altLang="en-US">
              <a:solidFill>
                <a:srgbClr val="0000C8"/>
              </a:solidFill>
            </a:endParaRPr>
          </a:p>
          <a:p>
            <a:r>
              <a:rPr lang="zh-CN" altLang="en-US">
                <a:solidFill>
                  <a:srgbClr val="C00000"/>
                </a:solidFill>
              </a:rPr>
              <a:t>元组选择</a:t>
            </a:r>
            <a:endParaRPr lang="zh-CN" altLang="en-US">
              <a:solidFill>
                <a:srgbClr val="C00000"/>
              </a:solidFill>
            </a:endParaRPr>
          </a:p>
          <a:p>
            <a:pPr lvl="1"/>
            <a:r>
              <a:rPr lang="zh-CN" altLang="en-US"/>
              <a:t>算术比较运算符</a:t>
            </a:r>
            <a:endParaRPr lang="zh-CN" altLang="en-US"/>
          </a:p>
          <a:p>
            <a:pPr lvl="1"/>
            <a:r>
              <a:rPr lang="zh-CN" altLang="en-US"/>
              <a:t>确定范围查询、确定集合查询（集合查询谓词）</a:t>
            </a:r>
            <a:endParaRPr lang="zh-CN" altLang="en-US"/>
          </a:p>
          <a:p>
            <a:pPr lvl="1"/>
            <a:r>
              <a:rPr lang="zh-CN" altLang="en-US"/>
              <a:t>字符匹配查询（模糊查询）、涉及空值的查询</a:t>
            </a:r>
            <a:endParaRPr lang="zh-CN" altLang="en-US"/>
          </a:p>
          <a:p>
            <a:pPr lvl="1"/>
            <a:r>
              <a:rPr lang="zh-CN" altLang="en-US"/>
              <a:t>多重查询</a:t>
            </a:r>
            <a:r>
              <a:rPr lang="zh-CN" altLang="en-US"/>
              <a:t>条件</a:t>
            </a:r>
            <a:endParaRPr lang="zh-CN" altLang="en-US"/>
          </a:p>
          <a:p>
            <a:r>
              <a:rPr lang="zh-CN" altLang="en-US">
                <a:solidFill>
                  <a:srgbClr val="C00000"/>
                </a:solidFill>
              </a:rPr>
              <a:t>查询结果排序</a:t>
            </a:r>
            <a:endParaRPr lang="zh-CN" altLang="en-US">
              <a:solidFill>
                <a:srgbClr val="C00000"/>
              </a:solidFill>
            </a:endParaRPr>
          </a:p>
          <a:p>
            <a:r>
              <a:rPr lang="zh-CN" altLang="en-US">
                <a:solidFill>
                  <a:srgbClr val="C00000"/>
                </a:solidFill>
              </a:rPr>
              <a:t>统计查询（聚集函数）</a:t>
            </a:r>
            <a:endParaRPr lang="zh-CN" altLang="en-US">
              <a:solidFill>
                <a:srgbClr val="C00000"/>
              </a:solidFill>
            </a:endParaRPr>
          </a:p>
        </p:txBody>
      </p:sp>
      <p:sp>
        <p:nvSpPr>
          <p:cNvPr id="4" name="页脚占位符 3"/>
          <p:cNvSpPr>
            <a:spLocks noGrp="1"/>
          </p:cNvSpPr>
          <p:nvPr>
            <p:ph type="ftr" sz="quarter" idx="11"/>
          </p:nvPr>
        </p:nvSpPr>
        <p:spPr/>
        <p:txBody>
          <a:bodyPr/>
          <a:p>
            <a:r>
              <a:rPr lang="zh-CN" altLang="en-US"/>
              <a:t>ch03_2_SQL数据查询</a:t>
            </a:r>
            <a:endParaRPr lang="zh-CN" altLang="en-US"/>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dirty="0"/>
              <a:t>选择表中的若干列</a:t>
            </a:r>
            <a:endParaRPr lang="zh-CN" altLang="en-US" dirty="0"/>
          </a:p>
        </p:txBody>
      </p:sp>
      <p:sp>
        <p:nvSpPr>
          <p:cNvPr id="69635" name="Rectangle 3"/>
          <p:cNvSpPr>
            <a:spLocks noGrp="1" noChangeArrowheads="1"/>
          </p:cNvSpPr>
          <p:nvPr>
            <p:ph idx="1"/>
          </p:nvPr>
        </p:nvSpPr>
        <p:spPr>
          <a:xfrm>
            <a:off x="424180" y="687070"/>
            <a:ext cx="11343005" cy="2804795"/>
          </a:xfrm>
        </p:spPr>
        <p:txBody>
          <a:bodyPr>
            <a:noAutofit/>
          </a:bodyPr>
          <a:lstStyle/>
          <a:p>
            <a:r>
              <a:rPr lang="zh-CN" altLang="en-US" dirty="0">
                <a:highlight>
                  <a:srgbClr val="FFFF00"/>
                </a:highlight>
              </a:rPr>
              <a:t>查询指定列</a:t>
            </a:r>
            <a:endParaRPr lang="zh-CN" altLang="en-US" dirty="0"/>
          </a:p>
          <a:p>
            <a:pPr lvl="1">
              <a:lnSpc>
                <a:spcPct val="100000"/>
              </a:lnSpc>
            </a:pPr>
            <a:r>
              <a:rPr lang="en-US" altLang="zh-CN" sz="2800" dirty="0"/>
              <a:t>[</a:t>
            </a:r>
            <a:r>
              <a:rPr lang="zh-CN" altLang="en-US" sz="2800" dirty="0"/>
              <a:t>例</a:t>
            </a:r>
            <a:r>
              <a:rPr lang="en-US" altLang="zh-CN" sz="2800" dirty="0"/>
              <a:t>3.16]  </a:t>
            </a:r>
            <a:r>
              <a:rPr lang="zh-CN" altLang="en-US" sz="2800" dirty="0"/>
              <a:t>查询全体学生的学号与姓名。</a:t>
            </a:r>
            <a:endParaRPr lang="zh-CN" altLang="en-US" sz="2800" dirty="0"/>
          </a:p>
          <a:p>
            <a:pPr marL="2192655" lvl="5" indent="0">
              <a:lnSpc>
                <a:spcPct val="100000"/>
              </a:lnSpc>
              <a:spcBef>
                <a:spcPct val="0"/>
              </a:spcBef>
              <a:spcAft>
                <a:spcPct val="0"/>
              </a:spcAft>
              <a:buNone/>
            </a:pPr>
            <a:r>
              <a:rPr lang="en-US" altLang="zh-CN" sz="2800" dirty="0">
                <a:solidFill>
                  <a:srgbClr val="FF0000"/>
                </a:solidFill>
              </a:rPr>
              <a:t>SELECT  </a:t>
            </a:r>
            <a:r>
              <a:rPr lang="en-US" altLang="zh-CN" sz="2800" dirty="0" err="1">
                <a:solidFill>
                  <a:srgbClr val="FF0000"/>
                </a:solidFill>
              </a:rPr>
              <a:t>Sno</a:t>
            </a:r>
            <a:r>
              <a:rPr lang="zh-CN" altLang="en-US" sz="2800" dirty="0">
                <a:solidFill>
                  <a:srgbClr val="FF0000"/>
                </a:solidFill>
              </a:rPr>
              <a:t>,</a:t>
            </a:r>
            <a:r>
              <a:rPr lang="en-US" altLang="zh-CN" sz="2800" dirty="0">
                <a:solidFill>
                  <a:srgbClr val="FF0000"/>
                </a:solidFill>
              </a:rPr>
              <a:t> </a:t>
            </a:r>
            <a:r>
              <a:rPr lang="en-US" altLang="zh-CN" sz="2800" dirty="0" err="1">
                <a:solidFill>
                  <a:srgbClr val="FF0000"/>
                </a:solidFill>
              </a:rPr>
              <a:t>Sname</a:t>
            </a:r>
            <a:r>
              <a:rPr lang="en-US" altLang="zh-CN" sz="2800" dirty="0">
                <a:solidFill>
                  <a:srgbClr val="FF0000"/>
                </a:solidFill>
              </a:rPr>
              <a:t> 	FROM  Student</a:t>
            </a:r>
            <a:r>
              <a:rPr lang="zh-CN" altLang="en-US" sz="2800" dirty="0">
                <a:solidFill>
                  <a:srgbClr val="FF0000"/>
                </a:solidFill>
              </a:rPr>
              <a:t>; </a:t>
            </a:r>
            <a:endParaRPr lang="en-US" altLang="zh-CN" sz="2800" dirty="0">
              <a:solidFill>
                <a:srgbClr val="FF0000"/>
              </a:solidFill>
            </a:endParaRPr>
          </a:p>
          <a:p>
            <a:pPr lvl="1">
              <a:lnSpc>
                <a:spcPct val="100000"/>
              </a:lnSpc>
              <a:spcBef>
                <a:spcPts val="1000"/>
              </a:spcBef>
            </a:pPr>
            <a:r>
              <a:rPr lang="en-US" altLang="zh-CN" sz="2800" dirty="0"/>
              <a:t>[</a:t>
            </a:r>
            <a:r>
              <a:rPr lang="zh-CN" altLang="en-US" sz="2800" dirty="0"/>
              <a:t>例</a:t>
            </a:r>
            <a:r>
              <a:rPr lang="en-US" altLang="zh-CN" sz="2800" dirty="0"/>
              <a:t>3.17]  </a:t>
            </a:r>
            <a:r>
              <a:rPr lang="zh-CN" altLang="en-US" sz="2800" dirty="0"/>
              <a:t>查询全体学生的姓名、学号、所在系。</a:t>
            </a:r>
            <a:endParaRPr lang="zh-CN" altLang="en-US" sz="2800" dirty="0"/>
          </a:p>
          <a:p>
            <a:pPr marL="2192655" lvl="5" indent="0">
              <a:lnSpc>
                <a:spcPct val="100000"/>
              </a:lnSpc>
              <a:spcBef>
                <a:spcPct val="0"/>
              </a:spcBef>
              <a:spcAft>
                <a:spcPct val="0"/>
              </a:spcAft>
              <a:buNone/>
            </a:pPr>
            <a:r>
              <a:rPr lang="en-US" altLang="zh-CN" sz="2800" dirty="0">
                <a:solidFill>
                  <a:srgbClr val="FF0000"/>
                </a:solidFill>
              </a:rPr>
              <a:t>SELECT </a:t>
            </a:r>
            <a:r>
              <a:rPr lang="en-US" altLang="zh-CN" sz="2800" dirty="0" err="1">
                <a:solidFill>
                  <a:srgbClr val="FF0000"/>
                </a:solidFill>
              </a:rPr>
              <a:t>Sname</a:t>
            </a:r>
            <a:r>
              <a:rPr lang="zh-CN" altLang="en-US" sz="2800" dirty="0">
                <a:solidFill>
                  <a:srgbClr val="FF0000"/>
                </a:solidFill>
              </a:rPr>
              <a:t>,</a:t>
            </a:r>
            <a:r>
              <a:rPr lang="en-US" altLang="zh-CN" sz="2800" dirty="0" err="1">
                <a:solidFill>
                  <a:srgbClr val="FF0000"/>
                </a:solidFill>
              </a:rPr>
              <a:t>Sno</a:t>
            </a:r>
            <a:r>
              <a:rPr lang="zh-CN" altLang="en-US" sz="2800" dirty="0">
                <a:solidFill>
                  <a:srgbClr val="FF0000"/>
                </a:solidFill>
              </a:rPr>
              <a:t>,</a:t>
            </a:r>
            <a:r>
              <a:rPr lang="en-US" altLang="zh-CN" sz="2800" dirty="0" err="1">
                <a:solidFill>
                  <a:srgbClr val="FF0000"/>
                </a:solidFill>
              </a:rPr>
              <a:t>Sdept</a:t>
            </a:r>
            <a:r>
              <a:rPr lang="en-US" altLang="zh-CN" sz="2800" dirty="0">
                <a:solidFill>
                  <a:srgbClr val="FF0000"/>
                </a:solidFill>
              </a:rPr>
              <a:t> </a:t>
            </a:r>
            <a:endParaRPr lang="en-US" altLang="zh-CN" sz="2800" dirty="0">
              <a:solidFill>
                <a:srgbClr val="FF0000"/>
              </a:solidFill>
            </a:endParaRPr>
          </a:p>
          <a:p>
            <a:pPr marL="2192655" lvl="5" indent="0">
              <a:lnSpc>
                <a:spcPct val="100000"/>
              </a:lnSpc>
              <a:spcBef>
                <a:spcPct val="0"/>
              </a:spcBef>
              <a:spcAft>
                <a:spcPct val="0"/>
              </a:spcAft>
              <a:buNone/>
            </a:pPr>
            <a:r>
              <a:rPr lang="en-US" altLang="zh-CN" sz="2800" dirty="0">
                <a:solidFill>
                  <a:srgbClr val="FF0000"/>
                </a:solidFill>
              </a:rPr>
              <a:t>FROM Student</a:t>
            </a:r>
            <a:r>
              <a:rPr lang="zh-CN" altLang="en-US" sz="2800" dirty="0">
                <a:solidFill>
                  <a:srgbClr val="FF0000"/>
                </a:solidFill>
              </a:rPr>
              <a:t>;</a:t>
            </a:r>
            <a:endParaRPr lang="zh-CN" altLang="en-US" sz="2800" dirty="0">
              <a:solidFill>
                <a:srgbClr val="FF0000"/>
              </a:solidFill>
            </a:endParaRPr>
          </a:p>
        </p:txBody>
      </p:sp>
      <p:sp>
        <p:nvSpPr>
          <p:cNvPr id="11" name="内容占位符 10"/>
          <p:cNvSpPr>
            <a:spLocks noGrp="1"/>
          </p:cNvSpPr>
          <p:nvPr>
            <p:ph idx="4294967295"/>
          </p:nvPr>
        </p:nvSpPr>
        <p:spPr>
          <a:xfrm>
            <a:off x="424180" y="3748405"/>
            <a:ext cx="11343005" cy="2753360"/>
          </a:xfrm>
        </p:spPr>
        <p:txBody>
          <a:bodyPr>
            <a:noAutofit/>
          </a:bodyPr>
          <a:lstStyle/>
          <a:p>
            <a:pPr algn="just" eaLnBrk="1" hangingPunct="1"/>
            <a:r>
              <a:rPr lang="zh-CN" altLang="en-US" sz="3000" dirty="0">
                <a:highlight>
                  <a:srgbClr val="FFFF00"/>
                </a:highlight>
              </a:rPr>
              <a:t>查询全部列</a:t>
            </a:r>
            <a:endParaRPr lang="zh-CN" altLang="en-US" sz="3000" dirty="0"/>
          </a:p>
          <a:p>
            <a:pPr lvl="1" algn="just">
              <a:lnSpc>
                <a:spcPct val="100000"/>
              </a:lnSpc>
              <a:buSzPct val="87000"/>
            </a:pPr>
            <a:r>
              <a:rPr lang="en-US" altLang="zh-CN" dirty="0"/>
              <a:t>[</a:t>
            </a:r>
            <a:r>
              <a:rPr lang="zh-CN" altLang="en-US" dirty="0"/>
              <a:t>例</a:t>
            </a:r>
            <a:r>
              <a:rPr lang="en-US" altLang="zh-CN" dirty="0"/>
              <a:t>3.18]  </a:t>
            </a:r>
            <a:r>
              <a:rPr lang="zh-CN" altLang="en-US" dirty="0"/>
              <a:t>查询全体学生的详细记录</a:t>
            </a:r>
            <a:endParaRPr lang="zh-CN" altLang="en-US" dirty="0"/>
          </a:p>
          <a:p>
            <a:pPr lvl="5" algn="just" eaLnBrk="1" hangingPunct="1">
              <a:lnSpc>
                <a:spcPct val="100000"/>
              </a:lnSpc>
              <a:spcBef>
                <a:spcPct val="0"/>
              </a:spcBef>
              <a:spcAft>
                <a:spcPct val="0"/>
              </a:spcAft>
              <a:buFont typeface="Arial" panose="020B0604020202090204" pitchFamily="34" charset="0"/>
              <a:buNone/>
            </a:pPr>
            <a:r>
              <a:rPr lang="en-US" altLang="zh-CN" sz="2800" dirty="0">
                <a:solidFill>
                  <a:srgbClr val="FF0000"/>
                </a:solidFill>
              </a:rPr>
              <a:t>SELECT  </a:t>
            </a:r>
            <a:r>
              <a:rPr lang="en-US" altLang="zh-CN" sz="2800" dirty="0" err="1">
                <a:solidFill>
                  <a:srgbClr val="FF0000"/>
                </a:solidFill>
              </a:rPr>
              <a:t>Sno</a:t>
            </a:r>
            <a:r>
              <a:rPr lang="zh-CN" altLang="en-US" sz="2800" dirty="0">
                <a:solidFill>
                  <a:srgbClr val="FF0000"/>
                </a:solidFill>
              </a:rPr>
              <a:t>,</a:t>
            </a:r>
            <a:r>
              <a:rPr lang="en-US" altLang="zh-CN" sz="2800" dirty="0">
                <a:solidFill>
                  <a:srgbClr val="FF0000"/>
                </a:solidFill>
              </a:rPr>
              <a:t> </a:t>
            </a:r>
            <a:r>
              <a:rPr lang="en-US" altLang="zh-CN" sz="2800" dirty="0" err="1">
                <a:solidFill>
                  <a:srgbClr val="FF0000"/>
                </a:solidFill>
              </a:rPr>
              <a:t>Sname</a:t>
            </a:r>
            <a:r>
              <a:rPr lang="zh-CN" altLang="en-US" sz="2800" dirty="0">
                <a:solidFill>
                  <a:srgbClr val="FF0000"/>
                </a:solidFill>
              </a:rPr>
              <a:t>,</a:t>
            </a:r>
            <a:r>
              <a:rPr lang="en-US" altLang="zh-CN" sz="2800" dirty="0">
                <a:solidFill>
                  <a:srgbClr val="FF0000"/>
                </a:solidFill>
              </a:rPr>
              <a:t> </a:t>
            </a:r>
            <a:r>
              <a:rPr lang="en-US" altLang="zh-CN" sz="2800" dirty="0" err="1">
                <a:solidFill>
                  <a:srgbClr val="FF0000"/>
                </a:solidFill>
              </a:rPr>
              <a:t>Ssex</a:t>
            </a:r>
            <a:r>
              <a:rPr lang="zh-CN" altLang="en-US" sz="2800" dirty="0">
                <a:solidFill>
                  <a:srgbClr val="FF0000"/>
                </a:solidFill>
              </a:rPr>
              <a:t>,</a:t>
            </a:r>
            <a:r>
              <a:rPr lang="en-US" altLang="zh-CN" sz="2800" dirty="0">
                <a:solidFill>
                  <a:srgbClr val="FF0000"/>
                </a:solidFill>
              </a:rPr>
              <a:t> Sage</a:t>
            </a:r>
            <a:r>
              <a:rPr lang="zh-CN" altLang="en-US" sz="2800" dirty="0">
                <a:solidFill>
                  <a:srgbClr val="FF0000"/>
                </a:solidFill>
              </a:rPr>
              <a:t>,</a:t>
            </a:r>
            <a:r>
              <a:rPr lang="en-US" altLang="zh-CN" sz="2800" dirty="0">
                <a:solidFill>
                  <a:srgbClr val="FF0000"/>
                </a:solidFill>
              </a:rPr>
              <a:t> </a:t>
            </a:r>
            <a:r>
              <a:rPr lang="en-US" altLang="zh-CN" sz="2800" dirty="0" err="1">
                <a:solidFill>
                  <a:srgbClr val="FF0000"/>
                </a:solidFill>
              </a:rPr>
              <a:t>Sdept</a:t>
            </a:r>
            <a:r>
              <a:rPr lang="en-US" altLang="zh-CN" sz="2800" dirty="0">
                <a:solidFill>
                  <a:srgbClr val="FF0000"/>
                </a:solidFill>
              </a:rPr>
              <a:t> </a:t>
            </a:r>
            <a:endParaRPr lang="en-US" altLang="zh-CN" sz="2800" dirty="0">
              <a:solidFill>
                <a:srgbClr val="FF0000"/>
              </a:solidFill>
            </a:endParaRPr>
          </a:p>
          <a:p>
            <a:pPr lvl="5" algn="just" eaLnBrk="1" hangingPunct="1">
              <a:lnSpc>
                <a:spcPct val="100000"/>
              </a:lnSpc>
              <a:spcBef>
                <a:spcPct val="0"/>
              </a:spcBef>
              <a:spcAft>
                <a:spcPct val="0"/>
              </a:spcAft>
              <a:buFont typeface="Arial" panose="020B0604020202090204" pitchFamily="34" charset="0"/>
              <a:buNone/>
            </a:pPr>
            <a:r>
              <a:rPr lang="en-US" altLang="zh-CN" sz="2800" dirty="0">
                <a:solidFill>
                  <a:srgbClr val="FF0000"/>
                </a:solidFill>
              </a:rPr>
              <a:t>FROM  Student</a:t>
            </a:r>
            <a:r>
              <a:rPr lang="zh-CN" altLang="en-US" sz="2800" dirty="0">
                <a:solidFill>
                  <a:srgbClr val="FF0000"/>
                </a:solidFill>
              </a:rPr>
              <a:t>; </a:t>
            </a:r>
            <a:endParaRPr lang="zh-CN" altLang="en-US" sz="2800" dirty="0">
              <a:solidFill>
                <a:srgbClr val="FF0000"/>
              </a:solidFill>
            </a:endParaRPr>
          </a:p>
          <a:p>
            <a:pPr lvl="2" algn="just">
              <a:lnSpc>
                <a:spcPct val="100000"/>
              </a:lnSpc>
              <a:spcBef>
                <a:spcPct val="0"/>
              </a:spcBef>
              <a:spcAft>
                <a:spcPct val="0"/>
              </a:spcAft>
            </a:pPr>
            <a:r>
              <a:rPr lang="zh-CN" altLang="en-US" sz="2800" dirty="0"/>
              <a:t>或</a:t>
            </a:r>
            <a:endParaRPr lang="zh-CN" altLang="en-US" sz="2800" dirty="0"/>
          </a:p>
          <a:p>
            <a:pPr lvl="5" algn="just" eaLnBrk="1" hangingPunct="1">
              <a:lnSpc>
                <a:spcPct val="100000"/>
              </a:lnSpc>
              <a:spcBef>
                <a:spcPct val="0"/>
              </a:spcBef>
              <a:spcAft>
                <a:spcPct val="0"/>
              </a:spcAft>
              <a:buFont typeface="Arial" panose="020B0604020202090204" pitchFamily="34" charset="0"/>
              <a:buNone/>
            </a:pPr>
            <a:r>
              <a:rPr lang="en-US" altLang="zh-CN" sz="2800" dirty="0">
                <a:solidFill>
                  <a:srgbClr val="FF0000"/>
                </a:solidFill>
              </a:rPr>
              <a:t>SELECT  *   FROM Student</a:t>
            </a:r>
            <a:r>
              <a:rPr lang="zh-CN" altLang="en-US" sz="2800" dirty="0">
                <a:solidFill>
                  <a:srgbClr val="FF0000"/>
                </a:solidFill>
              </a:rPr>
              <a:t>; </a:t>
            </a:r>
            <a:endParaRPr lang="zh-CN" altLang="en-US" sz="2800" dirty="0">
              <a:solidFill>
                <a:srgbClr val="FF0000"/>
              </a:solidFill>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635">
                                            <p:txEl>
                                              <p:pRg st="2" end="2"/>
                                            </p:txEl>
                                          </p:spTgt>
                                        </p:tgtEl>
                                        <p:attrNameLst>
                                          <p:attrName>style.visibility</p:attrName>
                                        </p:attrNameLst>
                                      </p:cBhvr>
                                      <p:to>
                                        <p:strVal val="visible"/>
                                      </p:to>
                                    </p:set>
                                    <p:animEffect transition="in" filter="blinds(horizontal)">
                                      <p:cBhvr>
                                        <p:cTn id="7" dur="500"/>
                                        <p:tgtEl>
                                          <p:spTgt spid="6963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9635">
                                            <p:txEl>
                                              <p:pRg st="3" end="3"/>
                                            </p:txEl>
                                          </p:spTgt>
                                        </p:tgtEl>
                                        <p:attrNameLst>
                                          <p:attrName>style.visibility</p:attrName>
                                        </p:attrNameLst>
                                      </p:cBhvr>
                                      <p:to>
                                        <p:strVal val="visible"/>
                                      </p:to>
                                    </p:set>
                                    <p:animEffect transition="in" filter="blinds(horizontal)">
                                      <p:cBhvr>
                                        <p:cTn id="12" dur="500"/>
                                        <p:tgtEl>
                                          <p:spTgt spid="6963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9635">
                                            <p:txEl>
                                              <p:pRg st="4" end="4"/>
                                            </p:txEl>
                                          </p:spTgt>
                                        </p:tgtEl>
                                        <p:attrNameLst>
                                          <p:attrName>style.visibility</p:attrName>
                                        </p:attrNameLst>
                                      </p:cBhvr>
                                      <p:to>
                                        <p:strVal val="visible"/>
                                      </p:to>
                                    </p:set>
                                    <p:animEffect transition="in" filter="blinds(horizontal)">
                                      <p:cBhvr>
                                        <p:cTn id="17" dur="500"/>
                                        <p:tgtEl>
                                          <p:spTgt spid="69635">
                                            <p:txEl>
                                              <p:pRg st="4" end="4"/>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69635">
                                            <p:txEl>
                                              <p:pRg st="5" end="5"/>
                                            </p:txEl>
                                          </p:spTgt>
                                        </p:tgtEl>
                                        <p:attrNameLst>
                                          <p:attrName>style.visibility</p:attrName>
                                        </p:attrNameLst>
                                      </p:cBhvr>
                                      <p:to>
                                        <p:strVal val="visible"/>
                                      </p:to>
                                    </p:set>
                                    <p:animEffect transition="in" filter="blinds(horizontal)">
                                      <p:cBhvr>
                                        <p:cTn id="20" dur="500"/>
                                        <p:tgtEl>
                                          <p:spTgt spid="69635">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 calcmode="lin" valueType="num">
                                      <p:cBhvr additive="base">
                                        <p:cTn id="25"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
                                            <p:txEl>
                                              <p:pRg st="1" end="1"/>
                                            </p:txEl>
                                          </p:spTgt>
                                        </p:tgtEl>
                                        <p:attrNameLst>
                                          <p:attrName>style.visibility</p:attrName>
                                        </p:attrNameLst>
                                      </p:cBhvr>
                                      <p:to>
                                        <p:strVal val="visible"/>
                                      </p:to>
                                    </p:set>
                                    <p:anim calcmode="lin" valueType="num">
                                      <p:cBhvr additive="base">
                                        <p:cTn id="29"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anim calcmode="lin" valueType="num">
                                      <p:cBhvr additive="base">
                                        <p:cTn id="35"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anim calcmode="lin" valueType="num">
                                      <p:cBhvr additive="base">
                                        <p:cTn id="39"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1">
                                            <p:txEl>
                                              <p:pRg st="4" end="4"/>
                                            </p:txEl>
                                          </p:spTgt>
                                        </p:tgtEl>
                                        <p:attrNameLst>
                                          <p:attrName>style.visibility</p:attrName>
                                        </p:attrNameLst>
                                      </p:cBhvr>
                                      <p:to>
                                        <p:strVal val="visible"/>
                                      </p:to>
                                    </p:set>
                                    <p:anim calcmode="lin" valueType="num">
                                      <p:cBhvr additive="base">
                                        <p:cTn id="45"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
                                            <p:txEl>
                                              <p:pRg st="4" end="4"/>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1">
                                            <p:txEl>
                                              <p:pRg st="5" end="5"/>
                                            </p:txEl>
                                          </p:spTgt>
                                        </p:tgtEl>
                                        <p:attrNameLst>
                                          <p:attrName>style.visibility</p:attrName>
                                        </p:attrNameLst>
                                      </p:cBhvr>
                                      <p:to>
                                        <p:strVal val="visible"/>
                                      </p:to>
                                    </p:set>
                                    <p:anim calcmode="lin" valueType="num">
                                      <p:cBhvr additive="base">
                                        <p:cTn id="49"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zh-CN" altLang="en-US" dirty="0"/>
              <a:t>查询经过计算的值 </a:t>
            </a:r>
            <a:r>
              <a:rPr lang="en-US" altLang="zh-CN" dirty="0"/>
              <a:t>1</a:t>
            </a:r>
            <a:endParaRPr lang="zh-CN" altLang="en-US" dirty="0"/>
          </a:p>
        </p:txBody>
      </p:sp>
      <p:sp>
        <p:nvSpPr>
          <p:cNvPr id="71682" name="Rectangle 3"/>
          <p:cNvSpPr>
            <a:spLocks noGrp="1" noChangeArrowheads="1"/>
          </p:cNvSpPr>
          <p:nvPr>
            <p:ph idx="1"/>
          </p:nvPr>
        </p:nvSpPr>
        <p:spPr>
          <a:xfrm>
            <a:off x="424180" y="687070"/>
            <a:ext cx="11343005" cy="1460500"/>
          </a:xfrm>
          <a:solidFill>
            <a:schemeClr val="accent3">
              <a:lumMod val="20000"/>
              <a:lumOff val="80000"/>
              <a:alpha val="50000"/>
            </a:schemeClr>
          </a:solidFill>
        </p:spPr>
        <p:txBody>
          <a:bodyPr>
            <a:noAutofit/>
          </a:bodyPr>
          <a:lstStyle/>
          <a:p>
            <a:pPr>
              <a:lnSpc>
                <a:spcPct val="100000"/>
              </a:lnSpc>
              <a:spcBef>
                <a:spcPts val="600"/>
              </a:spcBef>
            </a:pPr>
            <a:r>
              <a:rPr lang="zh-CN" altLang="en-US" dirty="0">
                <a:highlight>
                  <a:srgbClr val="FFFF00"/>
                </a:highlight>
              </a:rPr>
              <a:t>查询经过计算的值</a:t>
            </a:r>
            <a:r>
              <a:rPr lang="zh-CN" altLang="en-US" dirty="0"/>
              <a:t> </a:t>
            </a:r>
            <a:endParaRPr lang="zh-CN" altLang="en-US" dirty="0"/>
          </a:p>
          <a:p>
            <a:pPr lvl="1">
              <a:lnSpc>
                <a:spcPct val="100000"/>
              </a:lnSpc>
              <a:spcBef>
                <a:spcPts val="600"/>
              </a:spcBef>
            </a:pPr>
            <a:r>
              <a:rPr lang="en-US" altLang="zh-CN" dirty="0"/>
              <a:t>SELECT</a:t>
            </a:r>
            <a:r>
              <a:rPr lang="zh-CN" altLang="en-US" dirty="0"/>
              <a:t>子句的</a:t>
            </a:r>
            <a:r>
              <a:rPr lang="en-US" altLang="zh-CN" dirty="0"/>
              <a:t>&lt;</a:t>
            </a:r>
            <a:r>
              <a:rPr lang="zh-CN" altLang="en-US" dirty="0"/>
              <a:t>目标列表达式</a:t>
            </a:r>
            <a:r>
              <a:rPr lang="en-US" altLang="zh-CN" dirty="0"/>
              <a:t>&gt;</a:t>
            </a:r>
            <a:r>
              <a:rPr lang="zh-CN" altLang="en-US" dirty="0"/>
              <a:t>不仅可以为表中的列，也可以是表达式或</a:t>
            </a:r>
            <a:r>
              <a:rPr lang="zh-CN" altLang="en-US" dirty="0"/>
              <a:t>常量（</a:t>
            </a:r>
            <a:r>
              <a:rPr lang="zh-CN" altLang="en-US" dirty="0">
                <a:solidFill>
                  <a:srgbClr val="C00000"/>
                </a:solidFill>
              </a:rPr>
              <a:t>广义投影</a:t>
            </a:r>
            <a:r>
              <a:rPr lang="zh-CN" altLang="en-US" dirty="0"/>
              <a:t>）</a:t>
            </a:r>
            <a:endParaRPr lang="zh-CN" altLang="en-US" dirty="0"/>
          </a:p>
        </p:txBody>
      </p:sp>
      <p:graphicFrame>
        <p:nvGraphicFramePr>
          <p:cNvPr id="2" name="表格 2"/>
          <p:cNvGraphicFramePr>
            <a:graphicFrameLocks noGrp="1"/>
          </p:cNvGraphicFramePr>
          <p:nvPr>
            <p:custDataLst>
              <p:tags r:id="rId1"/>
            </p:custDataLst>
          </p:nvPr>
        </p:nvGraphicFramePr>
        <p:xfrm>
          <a:off x="4438650" y="4012565"/>
          <a:ext cx="3961765" cy="2320925"/>
        </p:xfrm>
        <a:graphic>
          <a:graphicData uri="http://schemas.openxmlformats.org/drawingml/2006/table">
            <a:tbl>
              <a:tblPr firstRow="1" bandRow="1">
                <a:tableStyleId>{5C22544A-7EE6-4342-B048-85BDC9FD1C3A}</a:tableStyleId>
              </a:tblPr>
              <a:tblGrid>
                <a:gridCol w="1503680"/>
                <a:gridCol w="2458085"/>
              </a:tblGrid>
              <a:tr h="464185">
                <a:tc>
                  <a:txBody>
                    <a:bodyPr/>
                    <a:lstStyle/>
                    <a:p>
                      <a:pPr algn="ctr"/>
                      <a:r>
                        <a:rPr lang="en-US" altLang="zh-CN" sz="2800" dirty="0" err="1">
                          <a:solidFill>
                            <a:srgbClr val="C00000"/>
                          </a:solidFill>
                        </a:rPr>
                        <a:t>Sname</a:t>
                      </a:r>
                      <a:endParaRPr lang="en-US" altLang="zh-CN" sz="2800" dirty="0" err="1">
                        <a:solidFill>
                          <a:srgbClr val="C00000"/>
                        </a:solidFill>
                      </a:endParaRPr>
                    </a:p>
                  </a:txBody>
                  <a:tcPr anchor="ctr">
                    <a:solidFill>
                      <a:schemeClr val="accent3">
                        <a:lumMod val="20000"/>
                        <a:lumOff val="80000"/>
                      </a:schemeClr>
                    </a:solidFill>
                  </a:tcPr>
                </a:tc>
                <a:tc>
                  <a:txBody>
                    <a:bodyPr/>
                    <a:lstStyle/>
                    <a:p>
                      <a:pPr algn="ctr"/>
                      <a:r>
                        <a:rPr lang="en-US" altLang="zh-CN" sz="2800" dirty="0">
                          <a:solidFill>
                            <a:srgbClr val="C00000"/>
                          </a:solidFill>
                        </a:rPr>
                        <a:t>2014-Sage</a:t>
                      </a:r>
                      <a:endParaRPr lang="en-US" altLang="zh-CN" sz="2800" dirty="0">
                        <a:solidFill>
                          <a:srgbClr val="C00000"/>
                        </a:solidFill>
                      </a:endParaRPr>
                    </a:p>
                  </a:txBody>
                  <a:tcPr anchor="ctr">
                    <a:solidFill>
                      <a:schemeClr val="accent3">
                        <a:lumMod val="20000"/>
                        <a:lumOff val="80000"/>
                      </a:schemeClr>
                    </a:solidFill>
                  </a:tcPr>
                </a:tc>
              </a:tr>
              <a:tr h="464185">
                <a:tc>
                  <a:txBody>
                    <a:bodyPr/>
                    <a:lstStyle/>
                    <a:p>
                      <a:pPr algn="ctr"/>
                      <a:r>
                        <a:rPr lang="zh-CN" altLang="en-US" sz="2800" dirty="0"/>
                        <a:t>李勇</a:t>
                      </a:r>
                      <a:endParaRPr lang="zh-CN"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1994</a:t>
                      </a:r>
                      <a:endParaRPr lang="en-US" altLang="zh-CN" sz="2800" dirty="0"/>
                    </a:p>
                  </a:txBody>
                  <a:tcPr anchor="ctr"/>
                </a:tc>
              </a:tr>
              <a:tr h="464185">
                <a:tc>
                  <a:txBody>
                    <a:bodyPr/>
                    <a:lstStyle/>
                    <a:p>
                      <a:pPr algn="ctr"/>
                      <a:r>
                        <a:rPr lang="en-US" altLang="zh-CN" sz="2800" dirty="0"/>
                        <a:t> </a:t>
                      </a:r>
                      <a:r>
                        <a:rPr lang="zh-CN" altLang="en-US" sz="2800" dirty="0"/>
                        <a:t>刘晨</a:t>
                      </a:r>
                      <a:endParaRPr lang="en-US" altLang="zh-CN" sz="2800" dirty="0"/>
                    </a:p>
                  </a:txBody>
                  <a:tcPr anchor="ctr"/>
                </a:tc>
                <a:tc>
                  <a:txBody>
                    <a:bodyPr/>
                    <a:lstStyle/>
                    <a:p>
                      <a:pPr algn="ctr"/>
                      <a:r>
                        <a:rPr lang="en-US" altLang="zh-CN" sz="2800" dirty="0"/>
                        <a:t>1995</a:t>
                      </a:r>
                      <a:endParaRPr lang="en-US" altLang="zh-CN" sz="2800" dirty="0"/>
                    </a:p>
                  </a:txBody>
                  <a:tcPr anchor="ctr"/>
                </a:tc>
              </a:tr>
              <a:tr h="464185">
                <a:tc>
                  <a:txBody>
                    <a:bodyPr/>
                    <a:lstStyle/>
                    <a:p>
                      <a:pPr algn="ctr"/>
                      <a:r>
                        <a:rPr lang="en-US" altLang="zh-CN" sz="2800" dirty="0"/>
                        <a:t> </a:t>
                      </a:r>
                      <a:r>
                        <a:rPr lang="zh-CN" altLang="en-US" sz="2800" dirty="0"/>
                        <a:t>王敏</a:t>
                      </a:r>
                      <a:endParaRPr lang="en-US" altLang="zh-CN" sz="2800" dirty="0"/>
                    </a:p>
                  </a:txBody>
                  <a:tcPr anchor="ctr"/>
                </a:tc>
                <a:tc>
                  <a:txBody>
                    <a:bodyPr/>
                    <a:lstStyle/>
                    <a:p>
                      <a:pPr algn="ctr"/>
                      <a:r>
                        <a:rPr lang="en-US" altLang="zh-CN" sz="2800" dirty="0"/>
                        <a:t>1996</a:t>
                      </a:r>
                      <a:endParaRPr lang="en-US" altLang="zh-CN" sz="2800" dirty="0"/>
                    </a:p>
                  </a:txBody>
                  <a:tcPr anchor="ctr"/>
                </a:tc>
              </a:tr>
              <a:tr h="464185">
                <a:tc>
                  <a:txBody>
                    <a:bodyPr/>
                    <a:lstStyle/>
                    <a:p>
                      <a:pPr algn="ctr"/>
                      <a:r>
                        <a:rPr lang="en-US" altLang="zh-CN" sz="2800" dirty="0"/>
                        <a:t> </a:t>
                      </a:r>
                      <a:r>
                        <a:rPr lang="zh-CN" altLang="en-US" sz="2800" dirty="0"/>
                        <a:t>张立</a:t>
                      </a:r>
                      <a:endParaRPr lang="zh-CN" altLang="en-US" sz="2800" dirty="0"/>
                    </a:p>
                  </a:txBody>
                  <a:tcPr anchor="ctr"/>
                </a:tc>
                <a:tc>
                  <a:txBody>
                    <a:bodyPr/>
                    <a:lstStyle/>
                    <a:p>
                      <a:pPr algn="ctr"/>
                      <a:r>
                        <a:rPr lang="en-US" altLang="zh-CN" sz="2800" dirty="0"/>
                        <a:t>1995 </a:t>
                      </a:r>
                      <a:endParaRPr lang="en-US" altLang="zh-CN" sz="2800" dirty="0"/>
                    </a:p>
                  </a:txBody>
                  <a:tcPr anchor="ctr"/>
                </a:tc>
              </a:tr>
            </a:tbl>
          </a:graphicData>
        </a:graphic>
      </p:graphicFrame>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
        <p:nvSpPr>
          <p:cNvPr id="5" name="Rectangle 3"/>
          <p:cNvSpPr>
            <a:spLocks noGrp="1" noChangeArrowheads="1"/>
          </p:cNvSpPr>
          <p:nvPr/>
        </p:nvSpPr>
        <p:spPr>
          <a:xfrm>
            <a:off x="424180" y="2428240"/>
            <a:ext cx="11343005" cy="306133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ts val="600"/>
              </a:spcBef>
            </a:pPr>
            <a:r>
              <a:rPr lang="en-US" altLang="zh-CN" dirty="0"/>
              <a:t>[</a:t>
            </a:r>
            <a:r>
              <a:rPr lang="zh-CN" altLang="en-US" dirty="0"/>
              <a:t>例</a:t>
            </a:r>
            <a:r>
              <a:rPr lang="en-US" altLang="zh-CN" dirty="0"/>
              <a:t>3.19]  </a:t>
            </a:r>
            <a:r>
              <a:rPr lang="zh-CN" altLang="en-US" dirty="0"/>
              <a:t>查全体学生的姓名及其出生年份。</a:t>
            </a:r>
            <a:endParaRPr lang="zh-CN" altLang="en-US" dirty="0"/>
          </a:p>
          <a:p>
            <a:pPr marL="1278255" lvl="3" indent="0">
              <a:lnSpc>
                <a:spcPct val="100000"/>
              </a:lnSpc>
              <a:spcBef>
                <a:spcPts val="600"/>
              </a:spcBef>
              <a:buNone/>
            </a:pPr>
            <a:r>
              <a:rPr lang="en-US" altLang="zh-CN" dirty="0">
                <a:solidFill>
                  <a:srgbClr val="FF0000"/>
                </a:solidFill>
              </a:rPr>
              <a:t>SELECT </a:t>
            </a:r>
            <a:r>
              <a:rPr lang="en-US" altLang="zh-CN" dirty="0" err="1">
                <a:solidFill>
                  <a:srgbClr val="FF0000"/>
                </a:solidFill>
              </a:rPr>
              <a:t>Sname</a:t>
            </a:r>
            <a:r>
              <a:rPr lang="zh-CN" altLang="en-US" dirty="0">
                <a:solidFill>
                  <a:srgbClr val="FF0000"/>
                </a:solidFill>
              </a:rPr>
              <a:t>,</a:t>
            </a:r>
            <a:r>
              <a:rPr lang="en-US" altLang="zh-CN" dirty="0">
                <a:solidFill>
                  <a:srgbClr val="FF0000"/>
                </a:solidFill>
              </a:rPr>
              <a:t> </a:t>
            </a:r>
            <a:r>
              <a:rPr lang="en-US" altLang="zh-CN" dirty="0">
                <a:solidFill>
                  <a:srgbClr val="FF0000"/>
                </a:solidFill>
                <a:cs typeface="Arial" panose="020B0604020202090204" pitchFamily="34" charset="0"/>
              </a:rPr>
              <a:t>2014</a:t>
            </a:r>
            <a:r>
              <a:rPr lang="en-US" altLang="zh-CN" dirty="0">
                <a:solidFill>
                  <a:srgbClr val="FF0000"/>
                </a:solidFill>
                <a:latin typeface="Times New Roman" panose="02020503050405090304" pitchFamily="2" charset="0"/>
                <a:cs typeface="Times New Roman" panose="02020503050405090304" pitchFamily="2" charset="0"/>
              </a:rPr>
              <a:t> - </a:t>
            </a:r>
            <a:r>
              <a:rPr lang="en-US" altLang="zh-CN" dirty="0">
                <a:solidFill>
                  <a:srgbClr val="FF0000"/>
                </a:solidFill>
                <a:cs typeface="Arial" panose="020B0604020202090204" pitchFamily="34" charset="0"/>
              </a:rPr>
              <a:t>Sage</a:t>
            </a:r>
            <a:r>
              <a:rPr lang="en-US" altLang="zh-CN" dirty="0">
                <a:solidFill>
                  <a:srgbClr val="1F2DA8"/>
                </a:solidFill>
              </a:rPr>
              <a:t>      /*</a:t>
            </a:r>
            <a:r>
              <a:rPr lang="zh-CN" altLang="en-US" dirty="0">
                <a:solidFill>
                  <a:srgbClr val="1F2DA8"/>
                </a:solidFill>
              </a:rPr>
              <a:t>假设当时为</a:t>
            </a:r>
            <a:r>
              <a:rPr lang="en-US" altLang="zh-CN" dirty="0">
                <a:solidFill>
                  <a:srgbClr val="1F2DA8"/>
                </a:solidFill>
              </a:rPr>
              <a:t>2014</a:t>
            </a:r>
            <a:r>
              <a:rPr lang="zh-CN" altLang="en-US" dirty="0">
                <a:solidFill>
                  <a:srgbClr val="1F2DA8"/>
                </a:solidFill>
              </a:rPr>
              <a:t>年*</a:t>
            </a:r>
            <a:r>
              <a:rPr lang="en-US" altLang="zh-CN" dirty="0">
                <a:solidFill>
                  <a:srgbClr val="1F2DA8"/>
                </a:solidFill>
              </a:rPr>
              <a:t>/</a:t>
            </a:r>
            <a:endParaRPr lang="en-US" altLang="zh-CN" dirty="0">
              <a:solidFill>
                <a:srgbClr val="FF0000"/>
              </a:solidFill>
            </a:endParaRPr>
          </a:p>
          <a:p>
            <a:pPr marL="1278255" lvl="3" indent="0">
              <a:lnSpc>
                <a:spcPct val="100000"/>
              </a:lnSpc>
              <a:spcBef>
                <a:spcPts val="600"/>
              </a:spcBef>
              <a:buNone/>
            </a:pPr>
            <a:r>
              <a:rPr lang="en-US" altLang="zh-CN" dirty="0">
                <a:solidFill>
                  <a:srgbClr val="FF0000"/>
                </a:solidFill>
              </a:rPr>
              <a:t>FROM Student</a:t>
            </a:r>
            <a:r>
              <a:rPr lang="zh-CN" altLang="en-US" dirty="0">
                <a:solidFill>
                  <a:srgbClr val="FF0000"/>
                </a:solidFill>
              </a:rPr>
              <a:t>;</a:t>
            </a:r>
            <a:endParaRPr lang="zh-CN" altLang="en-US" dirty="0">
              <a:solidFill>
                <a:srgbClr val="FF0000"/>
              </a:solidFill>
            </a:endParaRPr>
          </a:p>
          <a:p>
            <a:pPr marL="1278255" lvl="3" indent="0">
              <a:lnSpc>
                <a:spcPct val="100000"/>
              </a:lnSpc>
              <a:spcBef>
                <a:spcPts val="600"/>
              </a:spcBef>
              <a:buNone/>
            </a:pPr>
            <a:endParaRPr lang="zh-CN" altLang="en-US" dirty="0">
              <a:solidFill>
                <a:srgbClr val="FF0000"/>
              </a:solidFill>
            </a:endParaRPr>
          </a:p>
          <a:p>
            <a:pPr marL="1278255" lvl="3" indent="0">
              <a:lnSpc>
                <a:spcPct val="100000"/>
              </a:lnSpc>
              <a:spcBef>
                <a:spcPts val="600"/>
              </a:spcBef>
              <a:buNone/>
            </a:pPr>
            <a:endParaRPr lang="zh-CN" altLang="en-US" dirty="0"/>
          </a:p>
          <a:p>
            <a:pPr lvl="1">
              <a:lnSpc>
                <a:spcPct val="100000"/>
              </a:lnSpc>
              <a:spcBef>
                <a:spcPts val="600"/>
              </a:spcBef>
            </a:pPr>
            <a:r>
              <a:rPr lang="zh-CN" altLang="en-US" dirty="0"/>
              <a:t>输出结果：</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 calcmode="lin" valueType="num">
                                      <p:cBhvr additive="base">
                                        <p:cTn id="20"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r>
              <a:rPr lang="zh-CN" altLang="en-US" dirty="0"/>
              <a:t>查询经过计算的值 </a:t>
            </a:r>
            <a:r>
              <a:rPr lang="en-US" altLang="zh-CN" dirty="0"/>
              <a:t>2</a:t>
            </a:r>
            <a:endParaRPr lang="zh-CN" altLang="en-US" dirty="0"/>
          </a:p>
        </p:txBody>
      </p:sp>
      <p:sp>
        <p:nvSpPr>
          <p:cNvPr id="72706" name="Rectangle 3"/>
          <p:cNvSpPr>
            <a:spLocks noGrp="1" noChangeArrowheads="1"/>
          </p:cNvSpPr>
          <p:nvPr>
            <p:ph idx="1"/>
          </p:nvPr>
        </p:nvSpPr>
        <p:spPr/>
        <p:txBody>
          <a:bodyPr>
            <a:normAutofit/>
          </a:bodyPr>
          <a:lstStyle/>
          <a:p>
            <a:pPr>
              <a:lnSpc>
                <a:spcPct val="100000"/>
              </a:lnSpc>
              <a:spcBef>
                <a:spcPts val="600"/>
              </a:spcBef>
            </a:pPr>
            <a:r>
              <a:rPr lang="en-US" altLang="zh-CN" dirty="0"/>
              <a:t>[</a:t>
            </a:r>
            <a:r>
              <a:rPr lang="zh-CN" altLang="en-US" dirty="0"/>
              <a:t>例</a:t>
            </a:r>
            <a:r>
              <a:rPr lang="en-US" altLang="zh-CN" dirty="0"/>
              <a:t>3.20] </a:t>
            </a:r>
            <a:r>
              <a:rPr lang="zh-CN" altLang="en-US" dirty="0"/>
              <a:t>查询全体学生的姓名、出生年份和所在的院系，要求用小写字母表示系名。</a:t>
            </a:r>
            <a:endParaRPr lang="zh-CN" altLang="en-US" dirty="0"/>
          </a:p>
          <a:p>
            <a:pPr marL="363855" lvl="1" indent="0">
              <a:lnSpc>
                <a:spcPct val="100000"/>
              </a:lnSpc>
              <a:spcBef>
                <a:spcPts val="600"/>
              </a:spcBef>
              <a:buNone/>
            </a:pPr>
            <a:r>
              <a:rPr lang="en-US" altLang="zh-CN" dirty="0">
                <a:solidFill>
                  <a:srgbClr val="FF0000"/>
                </a:solidFill>
              </a:rPr>
              <a:t>SELECT </a:t>
            </a:r>
            <a:r>
              <a:rPr lang="en-US" altLang="zh-CN" dirty="0" err="1">
                <a:solidFill>
                  <a:srgbClr val="FF0000"/>
                </a:solidFill>
              </a:rPr>
              <a:t>Sname</a:t>
            </a:r>
            <a:r>
              <a:rPr lang="en-US" altLang="zh-CN" dirty="0">
                <a:solidFill>
                  <a:srgbClr val="FF0000"/>
                </a:solidFill>
              </a:rPr>
              <a:t>, </a:t>
            </a:r>
            <a:r>
              <a:rPr lang="zh-CN" altLang="en-US" dirty="0">
                <a:solidFill>
                  <a:srgbClr val="FF0000"/>
                </a:solidFill>
              </a:rPr>
              <a:t>'</a:t>
            </a:r>
            <a:r>
              <a:rPr lang="en-US" altLang="zh-CN" dirty="0">
                <a:solidFill>
                  <a:srgbClr val="FF0000"/>
                </a:solidFill>
              </a:rPr>
              <a:t>Year of Birth: </a:t>
            </a:r>
            <a:r>
              <a:rPr lang="zh-CN" altLang="en-US" dirty="0">
                <a:solidFill>
                  <a:srgbClr val="FF0000"/>
                </a:solidFill>
              </a:rPr>
              <a:t>'</a:t>
            </a:r>
            <a:r>
              <a:rPr lang="en-US" altLang="zh-CN" dirty="0">
                <a:solidFill>
                  <a:srgbClr val="FF0000"/>
                </a:solidFill>
              </a:rPr>
              <a:t>, 2014 - Sage, LOWER</a:t>
            </a:r>
            <a:r>
              <a:rPr lang="zh-CN" altLang="en-US" dirty="0">
                <a:solidFill>
                  <a:srgbClr val="FF0000"/>
                </a:solidFill>
              </a:rPr>
              <a:t>(</a:t>
            </a:r>
            <a:r>
              <a:rPr lang="en-US" altLang="zh-CN" dirty="0" err="1">
                <a:solidFill>
                  <a:srgbClr val="FF0000"/>
                </a:solidFill>
              </a:rPr>
              <a:t>Sdept</a:t>
            </a:r>
            <a:r>
              <a:rPr lang="zh-CN" altLang="en-US" dirty="0">
                <a:solidFill>
                  <a:srgbClr val="FF0000"/>
                </a:solidFill>
              </a:rPr>
              <a:t>)</a:t>
            </a:r>
            <a:endParaRPr lang="zh-CN" altLang="en-US" dirty="0">
              <a:solidFill>
                <a:srgbClr val="FF0000"/>
              </a:solidFill>
            </a:endParaRPr>
          </a:p>
          <a:p>
            <a:pPr marL="363855" lvl="1" indent="0">
              <a:lnSpc>
                <a:spcPct val="100000"/>
              </a:lnSpc>
              <a:spcBef>
                <a:spcPts val="600"/>
              </a:spcBef>
              <a:buNone/>
            </a:pPr>
            <a:r>
              <a:rPr lang="en-US" altLang="zh-CN" dirty="0">
                <a:solidFill>
                  <a:srgbClr val="FF0000"/>
                </a:solidFill>
              </a:rPr>
              <a:t>FROM Student</a:t>
            </a:r>
            <a:r>
              <a:rPr lang="zh-CN" altLang="en-US" dirty="0">
                <a:solidFill>
                  <a:srgbClr val="FF0000"/>
                </a:solidFill>
              </a:rPr>
              <a:t>;</a:t>
            </a:r>
            <a:endParaRPr lang="zh-CN" altLang="en-US" dirty="0"/>
          </a:p>
          <a:p>
            <a:pPr>
              <a:lnSpc>
                <a:spcPct val="100000"/>
              </a:lnSpc>
              <a:spcBef>
                <a:spcPts val="3600"/>
              </a:spcBef>
            </a:pPr>
            <a:r>
              <a:rPr lang="zh-CN" altLang="en-US" dirty="0"/>
              <a:t>输出结果：</a:t>
            </a:r>
            <a:endParaRPr lang="zh-CN" altLang="en-US" dirty="0"/>
          </a:p>
        </p:txBody>
      </p:sp>
      <p:graphicFrame>
        <p:nvGraphicFramePr>
          <p:cNvPr id="2" name="表格 2"/>
          <p:cNvGraphicFramePr>
            <a:graphicFrameLocks noGrp="1"/>
          </p:cNvGraphicFramePr>
          <p:nvPr>
            <p:custDataLst>
              <p:tags r:id="rId1"/>
            </p:custDataLst>
          </p:nvPr>
        </p:nvGraphicFramePr>
        <p:xfrm>
          <a:off x="2569210" y="3030220"/>
          <a:ext cx="8475345" cy="2825750"/>
        </p:xfrm>
        <a:graphic>
          <a:graphicData uri="http://schemas.openxmlformats.org/drawingml/2006/table">
            <a:tbl>
              <a:tblPr firstRow="1" bandRow="1">
                <a:tableStyleId>{5C22544A-7EE6-4342-B048-85BDC9FD1C3A}</a:tableStyleId>
              </a:tblPr>
              <a:tblGrid>
                <a:gridCol w="1520825"/>
                <a:gridCol w="2733675"/>
                <a:gridCol w="1892935"/>
                <a:gridCol w="2327910"/>
              </a:tblGrid>
              <a:tr h="56515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err="1">
                          <a:solidFill>
                            <a:srgbClr val="C00000"/>
                          </a:solidFill>
                        </a:rPr>
                        <a:t>Sname</a:t>
                      </a:r>
                      <a:endParaRPr lang="en-US" altLang="zh-CN" sz="2800" dirty="0" err="1">
                        <a:solidFill>
                          <a:srgbClr val="C00000"/>
                        </a:solidFill>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solidFill>
                            <a:srgbClr val="C00000"/>
                          </a:solidFill>
                        </a:rPr>
                        <a:t>'Year of Birth:'</a:t>
                      </a:r>
                      <a:endParaRPr lang="en-US" altLang="zh-CN" sz="2800" dirty="0">
                        <a:solidFill>
                          <a:srgbClr val="C00000"/>
                        </a:solidFill>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solidFill>
                            <a:srgbClr val="C00000"/>
                          </a:solidFill>
                        </a:rPr>
                        <a:t>2014-Sage</a:t>
                      </a:r>
                      <a:endParaRPr lang="en-US" altLang="zh-CN" sz="2800" dirty="0">
                        <a:solidFill>
                          <a:srgbClr val="C00000"/>
                        </a:solidFill>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solidFill>
                            <a:srgbClr val="C00000"/>
                          </a:solidFill>
                        </a:rPr>
                        <a:t>LOWER</a:t>
                      </a:r>
                      <a:r>
                        <a:rPr lang="zh-CN" altLang="en-US" sz="2800" dirty="0">
                          <a:solidFill>
                            <a:srgbClr val="C00000"/>
                          </a:solidFill>
                        </a:rPr>
                        <a:t>(</a:t>
                      </a:r>
                      <a:r>
                        <a:rPr lang="en-US" altLang="zh-CN" sz="2800" dirty="0" err="1">
                          <a:solidFill>
                            <a:srgbClr val="C00000"/>
                          </a:solidFill>
                        </a:rPr>
                        <a:t>Sdept</a:t>
                      </a:r>
                      <a:r>
                        <a:rPr lang="zh-CN" altLang="en-US" sz="2800" dirty="0">
                          <a:solidFill>
                            <a:srgbClr val="C00000"/>
                          </a:solidFill>
                        </a:rPr>
                        <a:t>)</a:t>
                      </a:r>
                      <a:endParaRPr lang="zh-CN" altLang="en-US" sz="2800" dirty="0">
                        <a:solidFill>
                          <a:srgbClr val="C00000"/>
                        </a:solidFill>
                      </a:endParaRPr>
                    </a:p>
                  </a:txBody>
                  <a:tcPr anchor="ctr">
                    <a:solidFill>
                      <a:schemeClr val="accent3">
                        <a:lumMod val="20000"/>
                        <a:lumOff val="80000"/>
                      </a:schemeClr>
                    </a:solidFill>
                  </a:tcPr>
                </a:tc>
              </a:tr>
              <a:tr h="56515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dirty="0"/>
                        <a:t>李勇</a:t>
                      </a:r>
                      <a:endParaRPr lang="zh-CN"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Year of Birth:</a:t>
                      </a:r>
                      <a:endParaRPr lang="en-US" altLang="zh-CN"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1994</a:t>
                      </a:r>
                      <a:endParaRPr lang="en-US" altLang="zh-CN"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cs</a:t>
                      </a:r>
                      <a:endParaRPr lang="en-US" altLang="zh-CN" sz="2800" dirty="0"/>
                    </a:p>
                  </a:txBody>
                  <a:tcPr anchor="ctr"/>
                </a:tc>
              </a:tr>
              <a:tr h="565150">
                <a:tc>
                  <a:txBody>
                    <a:bodyPr/>
                    <a:lstStyle/>
                    <a:p>
                      <a:pPr algn="ctr"/>
                      <a:r>
                        <a:rPr lang="zh-CN" altLang="en-US" sz="2800" dirty="0"/>
                        <a:t>刘晨</a:t>
                      </a:r>
                      <a:endParaRPr lang="zh-CN" altLang="en-US" sz="2800" dirty="0"/>
                    </a:p>
                  </a:txBody>
                  <a:tcPr anchor="ctr"/>
                </a:tc>
                <a:tc>
                  <a:txBody>
                    <a:bodyPr/>
                    <a:lstStyle/>
                    <a:p>
                      <a:pPr algn="ctr"/>
                      <a:r>
                        <a:rPr lang="en-US" altLang="zh-CN" sz="2800" dirty="0"/>
                        <a:t>Year of Birth: </a:t>
                      </a:r>
                      <a:endParaRPr lang="en-US" altLang="zh-CN" sz="2800" dirty="0"/>
                    </a:p>
                  </a:txBody>
                  <a:tcPr anchor="ctr"/>
                </a:tc>
                <a:tc>
                  <a:txBody>
                    <a:bodyPr/>
                    <a:lstStyle/>
                    <a:p>
                      <a:pPr algn="ctr"/>
                      <a:r>
                        <a:rPr lang="en-US" altLang="zh-CN" sz="2800" dirty="0"/>
                        <a:t>1995</a:t>
                      </a:r>
                      <a:endParaRPr lang="en-US" altLang="zh-CN" sz="2800" dirty="0"/>
                    </a:p>
                  </a:txBody>
                  <a:tcPr anchor="ctr"/>
                </a:tc>
                <a:tc>
                  <a:txBody>
                    <a:bodyPr/>
                    <a:lstStyle/>
                    <a:p>
                      <a:pPr algn="ctr"/>
                      <a:r>
                        <a:rPr lang="en-US" altLang="zh-CN" sz="2800" dirty="0"/>
                        <a:t>cs</a:t>
                      </a:r>
                      <a:endParaRPr lang="en-US" altLang="zh-CN" sz="2800" dirty="0"/>
                    </a:p>
                  </a:txBody>
                  <a:tcPr anchor="ctr"/>
                </a:tc>
              </a:tr>
              <a:tr h="565150">
                <a:tc>
                  <a:txBody>
                    <a:bodyPr/>
                    <a:lstStyle/>
                    <a:p>
                      <a:pPr algn="ctr"/>
                      <a:r>
                        <a:rPr lang="zh-CN" altLang="en-US" sz="2800" dirty="0"/>
                        <a:t>王敏</a:t>
                      </a:r>
                      <a:endParaRPr lang="zh-CN" altLang="en-US" sz="2800" dirty="0"/>
                    </a:p>
                  </a:txBody>
                  <a:tcPr anchor="ctr"/>
                </a:tc>
                <a:tc>
                  <a:txBody>
                    <a:bodyPr/>
                    <a:lstStyle/>
                    <a:p>
                      <a:pPr algn="ctr"/>
                      <a:r>
                        <a:rPr lang="en-US" altLang="zh-CN" sz="2800" dirty="0"/>
                        <a:t>Year of Birth: </a:t>
                      </a:r>
                      <a:endParaRPr lang="en-US" altLang="zh-CN" sz="2800" dirty="0"/>
                    </a:p>
                  </a:txBody>
                  <a:tcPr anchor="ctr"/>
                </a:tc>
                <a:tc>
                  <a:txBody>
                    <a:bodyPr/>
                    <a:lstStyle/>
                    <a:p>
                      <a:pPr algn="ctr"/>
                      <a:r>
                        <a:rPr lang="en-US" altLang="zh-CN" sz="2800" dirty="0"/>
                        <a:t>1996</a:t>
                      </a:r>
                      <a:endParaRPr lang="en-US" altLang="zh-CN" sz="2800" dirty="0"/>
                    </a:p>
                  </a:txBody>
                  <a:tcPr anchor="ctr"/>
                </a:tc>
                <a:tc>
                  <a:txBody>
                    <a:bodyPr/>
                    <a:lstStyle/>
                    <a:p>
                      <a:pPr algn="ctr"/>
                      <a:r>
                        <a:rPr lang="en-US" altLang="zh-CN" sz="2800" dirty="0"/>
                        <a:t>ma</a:t>
                      </a:r>
                      <a:endParaRPr lang="en-US" altLang="zh-CN" sz="2800" dirty="0"/>
                    </a:p>
                  </a:txBody>
                  <a:tcPr anchor="ctr"/>
                </a:tc>
              </a:tr>
              <a:tr h="565150">
                <a:tc>
                  <a:txBody>
                    <a:bodyPr/>
                    <a:lstStyle/>
                    <a:p>
                      <a:pPr algn="ctr"/>
                      <a:r>
                        <a:rPr lang="zh-CN" altLang="en-US" sz="2800" dirty="0"/>
                        <a:t>张立</a:t>
                      </a:r>
                      <a:endParaRPr lang="zh-CN" altLang="en-US" sz="2800" dirty="0"/>
                    </a:p>
                  </a:txBody>
                  <a:tcPr anchor="ctr"/>
                </a:tc>
                <a:tc>
                  <a:txBody>
                    <a:bodyPr/>
                    <a:lstStyle/>
                    <a:p>
                      <a:pPr algn="ctr"/>
                      <a:r>
                        <a:rPr lang="en-US" altLang="zh-CN" sz="2800" dirty="0"/>
                        <a:t>Year of Birth: </a:t>
                      </a:r>
                      <a:endParaRPr lang="en-US" altLang="zh-CN" sz="2800" dirty="0"/>
                    </a:p>
                  </a:txBody>
                  <a:tcPr anchor="ctr"/>
                </a:tc>
                <a:tc>
                  <a:txBody>
                    <a:bodyPr/>
                    <a:lstStyle/>
                    <a:p>
                      <a:pPr algn="ctr"/>
                      <a:r>
                        <a:rPr lang="en-US" altLang="zh-CN" sz="2800" dirty="0"/>
                        <a:t>1995</a:t>
                      </a:r>
                      <a:endParaRPr lang="en-US" altLang="zh-CN" sz="2800" dirty="0"/>
                    </a:p>
                  </a:txBody>
                  <a:tcPr anchor="ctr"/>
                </a:tc>
                <a:tc>
                  <a:txBody>
                    <a:bodyPr/>
                    <a:lstStyle/>
                    <a:p>
                      <a:pPr algn="ctr"/>
                      <a:r>
                        <a:rPr lang="en-US" altLang="zh-CN" sz="2800" dirty="0"/>
                        <a:t>is</a:t>
                      </a:r>
                      <a:endParaRPr lang="en-US" altLang="zh-CN" sz="2800" dirty="0"/>
                    </a:p>
                  </a:txBody>
                  <a:tcPr anchor="ctr"/>
                </a:tc>
              </a:tr>
            </a:tbl>
          </a:graphicData>
        </a:graphic>
      </p:graphicFrame>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
        <p:nvSpPr>
          <p:cNvPr id="5" name="文本框 4"/>
          <p:cNvSpPr txBox="1"/>
          <p:nvPr/>
        </p:nvSpPr>
        <p:spPr>
          <a:xfrm>
            <a:off x="424180" y="6014720"/>
            <a:ext cx="11247755" cy="521970"/>
          </a:xfrm>
          <a:prstGeom prst="rect">
            <a:avLst/>
          </a:prstGeom>
          <a:noFill/>
        </p:spPr>
        <p:txBody>
          <a:bodyPr wrap="square" rtlCol="0">
            <a:spAutoFit/>
          </a:bodyPr>
          <a:p>
            <a:pPr marL="742950" lvl="1" indent="-285750">
              <a:buClr>
                <a:srgbClr val="C00000"/>
              </a:buClr>
              <a:buSzPct val="85000"/>
              <a:buFont typeface="Wingdings" panose="05000000000000000000" charset="0"/>
              <a:buChar char="Ø"/>
            </a:pPr>
            <a:r>
              <a:rPr lang="zh-CN" altLang="en-US" sz="2800" b="1">
                <a:latin typeface="楷体" charset="-122"/>
                <a:ea typeface="楷体" charset="-122"/>
              </a:rPr>
              <a:t>可以对</a:t>
            </a:r>
            <a:r>
              <a:rPr lang="en-US" altLang="zh-CN" sz="2800" b="1">
                <a:latin typeface="楷体" charset="-122"/>
                <a:ea typeface="楷体" charset="-122"/>
              </a:rPr>
              <a:t> </a:t>
            </a:r>
            <a:r>
              <a:rPr lang="zh-CN" altLang="en-US" sz="2800" b="1">
                <a:solidFill>
                  <a:srgbClr val="C00000"/>
                </a:solidFill>
                <a:latin typeface="楷体" charset="-122"/>
                <a:ea typeface="楷体" charset="-122"/>
              </a:rPr>
              <a:t>常量、表达式、内置函数</a:t>
            </a:r>
            <a:r>
              <a:rPr lang="en-US" altLang="zh-CN" sz="2800" b="1">
                <a:latin typeface="楷体" charset="-122"/>
                <a:ea typeface="楷体" charset="-122"/>
              </a:rPr>
              <a:t> </a:t>
            </a:r>
            <a:r>
              <a:rPr lang="zh-CN" altLang="en-US" sz="2800" b="1">
                <a:latin typeface="楷体" charset="-122"/>
                <a:ea typeface="楷体" charset="-122"/>
              </a:rPr>
              <a:t>的计算结果进行</a:t>
            </a:r>
            <a:r>
              <a:rPr lang="zh-CN" altLang="en-US" sz="2800" b="1">
                <a:latin typeface="楷体" charset="-122"/>
                <a:ea typeface="楷体" charset="-122"/>
              </a:rPr>
              <a:t>投影</a:t>
            </a:r>
            <a:endParaRPr lang="zh-CN" altLang="en-US" sz="2800" b="1">
              <a:latin typeface="楷体" charset="-122"/>
              <a:ea typeface="楷体"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706">
                                            <p:txEl>
                                              <p:pRg st="1" end="1"/>
                                            </p:txEl>
                                          </p:spTgt>
                                        </p:tgtEl>
                                        <p:attrNameLst>
                                          <p:attrName>style.visibility</p:attrName>
                                        </p:attrNameLst>
                                      </p:cBhvr>
                                      <p:to>
                                        <p:strVal val="visible"/>
                                      </p:to>
                                    </p:set>
                                    <p:animEffect transition="in" filter="blinds(horizontal)">
                                      <p:cBhvr>
                                        <p:cTn id="7" dur="500"/>
                                        <p:tgtEl>
                                          <p:spTgt spid="72706">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2706">
                                            <p:txEl>
                                              <p:pRg st="2" end="2"/>
                                            </p:txEl>
                                          </p:spTgt>
                                        </p:tgtEl>
                                        <p:attrNameLst>
                                          <p:attrName>style.visibility</p:attrName>
                                        </p:attrNameLst>
                                      </p:cBhvr>
                                      <p:to>
                                        <p:strVal val="visible"/>
                                      </p:to>
                                    </p:set>
                                    <p:animEffect transition="in" filter="blinds(horizontal)">
                                      <p:cBhvr>
                                        <p:cTn id="10" dur="500"/>
                                        <p:tgtEl>
                                          <p:spTgt spid="7270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2706">
                                            <p:txEl>
                                              <p:pRg st="3" end="3"/>
                                            </p:txEl>
                                          </p:spTgt>
                                        </p:tgtEl>
                                        <p:attrNameLst>
                                          <p:attrName>style.visibility</p:attrName>
                                        </p:attrNameLst>
                                      </p:cBhvr>
                                      <p:to>
                                        <p:strVal val="visible"/>
                                      </p:to>
                                    </p:set>
                                    <p:anim calcmode="lin" valueType="num">
                                      <p:cBhvr additive="base">
                                        <p:cTn id="15" dur="500" fill="hold"/>
                                        <p:tgtEl>
                                          <p:spTgt spid="7270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2706">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查询经过计算的值 </a:t>
            </a:r>
            <a:r>
              <a:rPr lang="en-US" altLang="zh-CN" dirty="0">
                <a:sym typeface="+mn-ea"/>
              </a:rPr>
              <a:t>3</a:t>
            </a:r>
            <a:endParaRPr lang="zh-CN" altLang="en-US"/>
          </a:p>
        </p:txBody>
      </p:sp>
      <p:sp>
        <p:nvSpPr>
          <p:cNvPr id="3" name="内容占位符 2"/>
          <p:cNvSpPr>
            <a:spLocks noGrp="1"/>
          </p:cNvSpPr>
          <p:nvPr>
            <p:ph idx="1"/>
          </p:nvPr>
        </p:nvSpPr>
        <p:spPr>
          <a:xfrm>
            <a:off x="424180" y="687070"/>
            <a:ext cx="11343005" cy="953135"/>
          </a:xfrm>
        </p:spPr>
        <p:txBody>
          <a:bodyPr>
            <a:noAutofit/>
          </a:bodyPr>
          <a:p>
            <a:pPr>
              <a:lnSpc>
                <a:spcPct val="100000"/>
              </a:lnSpc>
              <a:spcBef>
                <a:spcPts val="0"/>
              </a:spcBef>
            </a:pPr>
            <a:r>
              <a:rPr lang="zh-CN" altLang="en-US"/>
              <a:t>假设在订单</a:t>
            </a:r>
            <a:r>
              <a:rPr lang="en-US" altLang="zh-CN"/>
              <a:t>Orders</a:t>
            </a:r>
            <a:r>
              <a:rPr lang="zh-CN" altLang="en-US"/>
              <a:t>中，订购日期</a:t>
            </a:r>
            <a:r>
              <a:rPr lang="en-US" altLang="zh-CN"/>
              <a:t>orddate</a:t>
            </a:r>
            <a:r>
              <a:rPr lang="zh-CN" altLang="en-US"/>
              <a:t>是日期</a:t>
            </a:r>
            <a:r>
              <a:rPr lang="en-US" altLang="zh-CN"/>
              <a:t>(Date)</a:t>
            </a:r>
            <a:r>
              <a:rPr lang="zh-CN" altLang="en-US"/>
              <a:t>类型字段，就可以调用</a:t>
            </a:r>
            <a:r>
              <a:rPr lang="en-US" altLang="zh-CN"/>
              <a:t>DBMS</a:t>
            </a:r>
            <a:r>
              <a:rPr lang="zh-CN" altLang="en-US"/>
              <a:t>内置的日期函数来完成一些日期类型值的转换和计算。</a:t>
            </a:r>
            <a:endParaRPr lang="zh-CN" altLang="en-US"/>
          </a:p>
        </p:txBody>
      </p:sp>
      <p:sp>
        <p:nvSpPr>
          <p:cNvPr id="95238" name="Rectangle 5"/>
          <p:cNvSpPr>
            <a:spLocks noGrp="1"/>
          </p:cNvSpPr>
          <p:nvPr>
            <p:ph type="body" idx="4294967295"/>
          </p:nvPr>
        </p:nvSpPr>
        <p:spPr>
          <a:xfrm>
            <a:off x="424180" y="1609725"/>
            <a:ext cx="11323955" cy="521970"/>
          </a:xfrm>
          <a:noFill/>
        </p:spPr>
        <p:txBody>
          <a:bodyPr wrap="square" anchor="t">
            <a:noAutofit/>
          </a:bodyPr>
          <a:p>
            <a:pPr algn="ctr" eaLnBrk="1" hangingPunct="1">
              <a:lnSpc>
                <a:spcPct val="100000"/>
              </a:lnSpc>
              <a:spcBef>
                <a:spcPct val="10000"/>
              </a:spcBef>
              <a:buNone/>
            </a:pPr>
            <a:r>
              <a:rPr lang="en-US" altLang="x-none" sz="2800" dirty="0">
                <a:solidFill>
                  <a:srgbClr val="FF0000"/>
                </a:solidFill>
                <a:latin typeface="Calibri" panose="020F0502020204030204" charset="0"/>
                <a:cs typeface="Calibri" panose="020F0502020204030204" charset="0"/>
              </a:rPr>
              <a:t>Orders</a:t>
            </a:r>
            <a:r>
              <a:rPr lang="en-US" altLang="x-none" sz="2800" dirty="0">
                <a:latin typeface="Calibri" panose="020F0502020204030204" charset="0"/>
                <a:cs typeface="Calibri" panose="020F0502020204030204" charset="0"/>
              </a:rPr>
              <a:t> (ordno, orddate, cid, aid, pid, qty, dollars)</a:t>
            </a:r>
            <a:endParaRPr lang="en-US" altLang="x-none" sz="2800" dirty="0">
              <a:latin typeface="Calibri" panose="020F0502020204030204" charset="0"/>
              <a:cs typeface="Calibri" panose="020F0502020204030204" charset="0"/>
            </a:endParaRPr>
          </a:p>
        </p:txBody>
      </p:sp>
      <p:sp>
        <p:nvSpPr>
          <p:cNvPr id="97285" name="Rectangle 4"/>
          <p:cNvSpPr/>
          <p:nvPr>
            <p:custDataLst>
              <p:tags r:id="rId1"/>
            </p:custDataLst>
          </p:nvPr>
        </p:nvSpPr>
        <p:spPr>
          <a:xfrm>
            <a:off x="424180" y="2344420"/>
            <a:ext cx="11343005" cy="521970"/>
          </a:xfrm>
          <a:prstGeom prst="rect">
            <a:avLst/>
          </a:prstGeom>
          <a:solidFill>
            <a:schemeClr val="accent3">
              <a:lumMod val="20000"/>
              <a:lumOff val="80000"/>
              <a:alpha val="50000"/>
            </a:schemeClr>
          </a:solidFill>
          <a:ln w="9525">
            <a:noFill/>
          </a:ln>
        </p:spPr>
        <p:txBody>
          <a:bodyPr wrap="square" anchor="t">
            <a:noAutofit/>
          </a:bodyPr>
          <a:p>
            <a:pPr marL="342900" indent="-342900" algn="l">
              <a:lnSpc>
                <a:spcPct val="100000"/>
              </a:lnSpc>
              <a:spcBef>
                <a:spcPts val="0"/>
              </a:spcBef>
              <a:spcAft>
                <a:spcPts val="0"/>
              </a:spcAft>
              <a:buClr>
                <a:srgbClr val="C00000"/>
              </a:buClr>
              <a:buSzPct val="85000"/>
              <a:buFont typeface="Wingdings" panose="05000000000000000000" charset="0"/>
              <a:buChar char="q"/>
            </a:pPr>
            <a:r>
              <a:rPr lang="zh-CN" altLang="en-US" sz="2800" b="1" dirty="0">
                <a:solidFill>
                  <a:schemeClr val="tx1"/>
                </a:solidFill>
                <a:latin typeface="+mn-lt"/>
                <a:ea typeface="楷体" charset="-122"/>
                <a:cs typeface="+mn-lt"/>
              </a:rPr>
              <a:t>查询每一份订单的编号、订购的年、月、日；</a:t>
            </a:r>
            <a:endParaRPr lang="zh-CN" altLang="en-US" sz="2800" b="1" dirty="0">
              <a:solidFill>
                <a:schemeClr val="tx1"/>
              </a:solidFill>
              <a:latin typeface="+mn-lt"/>
              <a:ea typeface="楷体" charset="-122"/>
              <a:cs typeface="+mn-lt"/>
            </a:endParaRPr>
          </a:p>
        </p:txBody>
      </p:sp>
      <p:sp>
        <p:nvSpPr>
          <p:cNvPr id="97286" name="Rectangle 5"/>
          <p:cNvSpPr/>
          <p:nvPr>
            <p:custDataLst>
              <p:tags r:id="rId2"/>
            </p:custDataLst>
          </p:nvPr>
        </p:nvSpPr>
        <p:spPr>
          <a:xfrm>
            <a:off x="423545" y="2911475"/>
            <a:ext cx="11324590" cy="1029970"/>
          </a:xfrm>
          <a:prstGeom prst="rect">
            <a:avLst/>
          </a:prstGeom>
          <a:noFill/>
          <a:ln w="9525">
            <a:noFill/>
          </a:ln>
        </p:spPr>
        <p:txBody>
          <a:bodyPr wrap="square" anchor="t">
            <a:noAutofit/>
          </a:bodyPr>
          <a:p>
            <a:pPr marL="685800" lvl="1" indent="-228600" algn="l" eaLnBrk="1" hangingPunct="1">
              <a:lnSpc>
                <a:spcPct val="100000"/>
              </a:lnSpc>
              <a:spcBef>
                <a:spcPts val="600"/>
              </a:spcBef>
              <a:spcAft>
                <a:spcPts val="0"/>
              </a:spcAft>
              <a:buSzPct val="85000"/>
            </a:pPr>
            <a:r>
              <a:rPr lang="en-US" altLang="x-none" sz="2800" b="1" dirty="0">
                <a:solidFill>
                  <a:srgbClr val="0000C8"/>
                </a:solidFill>
                <a:latin typeface="Arial" panose="020B0604020202090204" pitchFamily="34" charset="0"/>
                <a:ea typeface="楷体" charset="-122"/>
                <a:cs typeface="Arial" panose="020B0604020202090204" pitchFamily="34" charset="0"/>
              </a:rPr>
              <a:t>SELECT   ordno, </a:t>
            </a:r>
            <a:r>
              <a:rPr lang="en-US" altLang="x-none" sz="2800" b="1" dirty="0">
                <a:solidFill>
                  <a:srgbClr val="FF0000"/>
                </a:solidFill>
                <a:latin typeface="Arial" panose="020B0604020202090204" pitchFamily="34" charset="0"/>
                <a:ea typeface="楷体" charset="-122"/>
                <a:cs typeface="Arial" panose="020B0604020202090204" pitchFamily="34" charset="0"/>
              </a:rPr>
              <a:t>year</a:t>
            </a:r>
            <a:r>
              <a:rPr lang="en-US" altLang="x-none" sz="2800" b="1" dirty="0">
                <a:solidFill>
                  <a:srgbClr val="0000C8"/>
                </a:solidFill>
                <a:latin typeface="Arial" panose="020B0604020202090204" pitchFamily="34" charset="0"/>
                <a:ea typeface="楷体" charset="-122"/>
                <a:cs typeface="Arial" panose="020B0604020202090204" pitchFamily="34" charset="0"/>
              </a:rPr>
              <a:t>(orddate)</a:t>
            </a:r>
            <a:r>
              <a:rPr lang="en-US" altLang="x-none" sz="2800" b="1" dirty="0">
                <a:solidFill>
                  <a:srgbClr val="0000C8"/>
                </a:solidFill>
                <a:latin typeface="Arial" panose="020B0604020202090204" pitchFamily="34" charset="0"/>
                <a:ea typeface="楷体" charset="-122"/>
                <a:cs typeface="Arial" panose="020B0604020202090204" pitchFamily="34" charset="0"/>
                <a:sym typeface="+mn-ea"/>
              </a:rPr>
              <a:t>, </a:t>
            </a:r>
            <a:r>
              <a:rPr lang="en-US" altLang="x-none" sz="2800" b="1" dirty="0">
                <a:solidFill>
                  <a:srgbClr val="FF0000"/>
                </a:solidFill>
                <a:latin typeface="Arial" panose="020B0604020202090204" pitchFamily="34" charset="0"/>
                <a:ea typeface="楷体" charset="-122"/>
                <a:cs typeface="Arial" panose="020B0604020202090204" pitchFamily="34" charset="0"/>
                <a:sym typeface="+mn-ea"/>
              </a:rPr>
              <a:t>month</a:t>
            </a:r>
            <a:r>
              <a:rPr lang="en-US" altLang="x-none" sz="2800" b="1" dirty="0">
                <a:solidFill>
                  <a:srgbClr val="0000C8"/>
                </a:solidFill>
                <a:latin typeface="Arial" panose="020B0604020202090204" pitchFamily="34" charset="0"/>
                <a:ea typeface="楷体" charset="-122"/>
                <a:cs typeface="Arial" panose="020B0604020202090204" pitchFamily="34" charset="0"/>
                <a:sym typeface="+mn-ea"/>
              </a:rPr>
              <a:t>(orddate), </a:t>
            </a:r>
            <a:r>
              <a:rPr lang="en-US" altLang="x-none" sz="2800" b="1" dirty="0">
                <a:solidFill>
                  <a:srgbClr val="FF0000"/>
                </a:solidFill>
                <a:latin typeface="Arial" panose="020B0604020202090204" pitchFamily="34" charset="0"/>
                <a:ea typeface="楷体" charset="-122"/>
                <a:cs typeface="Arial" panose="020B0604020202090204" pitchFamily="34" charset="0"/>
                <a:sym typeface="+mn-ea"/>
              </a:rPr>
              <a:t>day</a:t>
            </a:r>
            <a:r>
              <a:rPr lang="en-US" altLang="x-none" sz="2800" b="1" dirty="0">
                <a:solidFill>
                  <a:srgbClr val="0000C8"/>
                </a:solidFill>
                <a:latin typeface="Arial" panose="020B0604020202090204" pitchFamily="34" charset="0"/>
                <a:ea typeface="楷体" charset="-122"/>
                <a:cs typeface="Arial" panose="020B0604020202090204" pitchFamily="34" charset="0"/>
                <a:sym typeface="+mn-ea"/>
              </a:rPr>
              <a:t>(orddate)</a:t>
            </a:r>
            <a:endParaRPr lang="en-US" altLang="x-none" sz="2800" b="1" dirty="0">
              <a:solidFill>
                <a:srgbClr val="0000C8"/>
              </a:solidFill>
              <a:latin typeface="Arial" panose="020B0604020202090204" pitchFamily="34" charset="0"/>
              <a:ea typeface="楷体" charset="-122"/>
              <a:cs typeface="Arial" panose="020B0604020202090204" pitchFamily="34" charset="0"/>
            </a:endParaRPr>
          </a:p>
          <a:p>
            <a:pPr marL="685800" lvl="1" indent="-228600" algn="l" eaLnBrk="1" hangingPunct="1">
              <a:lnSpc>
                <a:spcPct val="100000"/>
              </a:lnSpc>
              <a:spcBef>
                <a:spcPts val="600"/>
              </a:spcBef>
              <a:spcAft>
                <a:spcPts val="0"/>
              </a:spcAft>
              <a:buSzPct val="85000"/>
            </a:pPr>
            <a:r>
              <a:rPr lang="en-US" altLang="x-none" sz="2800" b="1" dirty="0">
                <a:solidFill>
                  <a:srgbClr val="0000C8"/>
                </a:solidFill>
                <a:latin typeface="Arial" panose="020B0604020202090204" pitchFamily="34" charset="0"/>
                <a:ea typeface="楷体" charset="-122"/>
                <a:cs typeface="Arial" panose="020B0604020202090204" pitchFamily="34" charset="0"/>
              </a:rPr>
              <a:t>FROM   orders;</a:t>
            </a:r>
            <a:endParaRPr lang="en-US" altLang="x-none" sz="2800" b="1" dirty="0">
              <a:solidFill>
                <a:srgbClr val="0000C8"/>
              </a:solidFill>
              <a:latin typeface="Arial" panose="020B0604020202090204" pitchFamily="34" charset="0"/>
              <a:ea typeface="楷体" charset="-122"/>
              <a:cs typeface="Arial" panose="020B0604020202090204" pitchFamily="34" charset="0"/>
            </a:endParaRPr>
          </a:p>
        </p:txBody>
      </p:sp>
      <p:sp>
        <p:nvSpPr>
          <p:cNvPr id="97287" name="Rectangle 6"/>
          <p:cNvSpPr/>
          <p:nvPr>
            <p:custDataLst>
              <p:tags r:id="rId3"/>
            </p:custDataLst>
          </p:nvPr>
        </p:nvSpPr>
        <p:spPr>
          <a:xfrm>
            <a:off x="424180" y="4179570"/>
            <a:ext cx="11343005" cy="521970"/>
          </a:xfrm>
          <a:prstGeom prst="rect">
            <a:avLst/>
          </a:prstGeom>
          <a:solidFill>
            <a:schemeClr val="accent3">
              <a:lumMod val="20000"/>
              <a:lumOff val="80000"/>
              <a:alpha val="50000"/>
            </a:schemeClr>
          </a:solidFill>
          <a:ln w="9525">
            <a:noFill/>
          </a:ln>
        </p:spPr>
        <p:txBody>
          <a:bodyPr wrap="square" anchor="t">
            <a:noAutofit/>
          </a:bodyPr>
          <a:p>
            <a:pPr marL="342900" indent="-342900">
              <a:lnSpc>
                <a:spcPct val="100000"/>
              </a:lnSpc>
              <a:spcBef>
                <a:spcPts val="0"/>
              </a:spcBef>
              <a:spcAft>
                <a:spcPts val="0"/>
              </a:spcAft>
              <a:buClr>
                <a:srgbClr val="C00000"/>
              </a:buClr>
              <a:buSzPct val="85000"/>
              <a:buFont typeface="Wingdings" panose="05000000000000000000" charset="0"/>
              <a:buChar char="q"/>
            </a:pPr>
            <a:r>
              <a:rPr lang="zh-CN" altLang="en-US" sz="2800" b="1" dirty="0">
                <a:solidFill>
                  <a:schemeClr val="tx1"/>
                </a:solidFill>
                <a:latin typeface="+mn-lt"/>
                <a:ea typeface="楷体" charset="-122"/>
                <a:cs typeface="+mn-lt"/>
              </a:rPr>
              <a:t>查询每一份订单的编号、订购日期、距离</a:t>
            </a:r>
            <a:r>
              <a:rPr lang="zh-CN" altLang="en-US" sz="2800" b="1" dirty="0">
                <a:solidFill>
                  <a:schemeClr val="tx1"/>
                </a:solidFill>
                <a:latin typeface="+mn-lt"/>
                <a:ea typeface="楷体" charset="-122"/>
                <a:cs typeface="+mn-lt"/>
              </a:rPr>
              <a:t>至今相隔的天数；</a:t>
            </a:r>
            <a:endParaRPr lang="zh-CN" altLang="en-US" sz="2800" b="1" dirty="0">
              <a:solidFill>
                <a:schemeClr val="tx1"/>
              </a:solidFill>
              <a:latin typeface="+mn-lt"/>
              <a:ea typeface="楷体" charset="-122"/>
              <a:cs typeface="+mn-lt"/>
            </a:endParaRPr>
          </a:p>
        </p:txBody>
      </p:sp>
      <p:sp>
        <p:nvSpPr>
          <p:cNvPr id="97288" name="Rectangle 7"/>
          <p:cNvSpPr/>
          <p:nvPr>
            <p:custDataLst>
              <p:tags r:id="rId4"/>
            </p:custDataLst>
          </p:nvPr>
        </p:nvSpPr>
        <p:spPr>
          <a:xfrm>
            <a:off x="423545" y="4852670"/>
            <a:ext cx="11324590" cy="953135"/>
          </a:xfrm>
          <a:prstGeom prst="rect">
            <a:avLst/>
          </a:prstGeom>
          <a:noFill/>
          <a:ln w="9525">
            <a:noFill/>
          </a:ln>
        </p:spPr>
        <p:txBody>
          <a:bodyPr wrap="square" lIns="504190" anchor="t">
            <a:noAutofit/>
          </a:bodyPr>
          <a:p>
            <a:pPr marL="228600" lvl="0" indent="-228600" algn="l" eaLnBrk="1" hangingPunct="1">
              <a:lnSpc>
                <a:spcPct val="100000"/>
              </a:lnSpc>
              <a:spcBef>
                <a:spcPts val="0"/>
              </a:spcBef>
              <a:spcAft>
                <a:spcPts val="0"/>
              </a:spcAft>
            </a:pPr>
            <a:r>
              <a:rPr lang="en-US" altLang="x-none" sz="2800" b="1" dirty="0">
                <a:solidFill>
                  <a:srgbClr val="0000C8"/>
                </a:solidFill>
                <a:latin typeface="Arial" panose="020B0604020202090204" pitchFamily="34" charset="0"/>
                <a:ea typeface="楷体" charset="-122"/>
                <a:cs typeface="Arial" panose="020B0604020202090204" pitchFamily="34" charset="0"/>
              </a:rPr>
              <a:t>SELECT  ordno,  orddate,  datediff(curdate(), orddate)</a:t>
            </a:r>
            <a:endParaRPr lang="en-US" altLang="x-none" sz="2800" b="1" dirty="0">
              <a:solidFill>
                <a:srgbClr val="0000C8"/>
              </a:solidFill>
              <a:latin typeface="Arial" panose="020B0604020202090204" pitchFamily="34" charset="0"/>
              <a:ea typeface="楷体" charset="-122"/>
              <a:cs typeface="Arial" panose="020B0604020202090204" pitchFamily="34" charset="0"/>
            </a:endParaRPr>
          </a:p>
          <a:p>
            <a:pPr marL="228600" lvl="0" indent="-228600" algn="l" eaLnBrk="1" hangingPunct="1">
              <a:lnSpc>
                <a:spcPct val="100000"/>
              </a:lnSpc>
              <a:spcBef>
                <a:spcPts val="0"/>
              </a:spcBef>
              <a:spcAft>
                <a:spcPts val="0"/>
              </a:spcAft>
            </a:pPr>
            <a:r>
              <a:rPr lang="en-US" altLang="x-none" sz="2800" b="1" dirty="0">
                <a:solidFill>
                  <a:srgbClr val="0000C8"/>
                </a:solidFill>
                <a:latin typeface="Arial" panose="020B0604020202090204" pitchFamily="34" charset="0"/>
                <a:ea typeface="楷体" charset="-122"/>
                <a:cs typeface="Arial" panose="020B0604020202090204" pitchFamily="34" charset="0"/>
              </a:rPr>
              <a:t>FROM      orders ;</a:t>
            </a:r>
            <a:endParaRPr lang="en-US" altLang="x-none" sz="2800" b="1" dirty="0">
              <a:solidFill>
                <a:srgbClr val="0000C8"/>
              </a:solidFill>
              <a:latin typeface="Arial" panose="020B0604020202090204" pitchFamily="34" charset="0"/>
              <a:ea typeface="楷体" charset="-122"/>
              <a:cs typeface="Arial" panose="020B0604020202090204" pitchFamily="34" charset="0"/>
            </a:endParaRPr>
          </a:p>
        </p:txBody>
      </p:sp>
      <p:sp>
        <p:nvSpPr>
          <p:cNvPr id="4" name="灯片编号占位符 3"/>
          <p:cNvSpPr>
            <a:spLocks noGrp="1"/>
          </p:cNvSpPr>
          <p:nvPr>
            <p:ph type="sldNum" sz="quarter" idx="12"/>
          </p:nvPr>
        </p:nvSpPr>
        <p:spPr>
          <a:xfrm>
            <a:off x="11461115" y="6584875"/>
            <a:ext cx="730885" cy="278130"/>
          </a:xfrm>
        </p:spPr>
        <p:txBody>
          <a:bodyPr/>
          <a:p>
            <a:fld id="{565CE74E-AB26-4998-AD42-012C4C1AD076}"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7285"/>
                                        </p:tgtEl>
                                        <p:attrNameLst>
                                          <p:attrName>style.visibility</p:attrName>
                                        </p:attrNameLst>
                                      </p:cBhvr>
                                      <p:to>
                                        <p:strVal val="visible"/>
                                      </p:to>
                                    </p:set>
                                    <p:anim calcmode="lin" valueType="num">
                                      <p:cBhvr additive="base">
                                        <p:cTn id="7" dur="500" fill="hold"/>
                                        <p:tgtEl>
                                          <p:spTgt spid="97285"/>
                                        </p:tgtEl>
                                        <p:attrNameLst>
                                          <p:attrName>ppt_x</p:attrName>
                                        </p:attrNameLst>
                                      </p:cBhvr>
                                      <p:tavLst>
                                        <p:tav tm="0">
                                          <p:val>
                                            <p:strVal val="#ppt_x"/>
                                          </p:val>
                                        </p:tav>
                                        <p:tav tm="100000">
                                          <p:val>
                                            <p:strVal val="#ppt_x"/>
                                          </p:val>
                                        </p:tav>
                                      </p:tavLst>
                                    </p:anim>
                                    <p:anim calcmode="lin" valueType="num">
                                      <p:cBhvr additive="base">
                                        <p:cTn id="8" dur="500" fill="hold"/>
                                        <p:tgtEl>
                                          <p:spTgt spid="972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7286"/>
                                        </p:tgtEl>
                                        <p:attrNameLst>
                                          <p:attrName>style.visibility</p:attrName>
                                        </p:attrNameLst>
                                      </p:cBhvr>
                                      <p:to>
                                        <p:strVal val="visible"/>
                                      </p:to>
                                    </p:set>
                                    <p:anim calcmode="lin" valueType="num">
                                      <p:cBhvr additive="base">
                                        <p:cTn id="13" dur="500" fill="hold"/>
                                        <p:tgtEl>
                                          <p:spTgt spid="97286"/>
                                        </p:tgtEl>
                                        <p:attrNameLst>
                                          <p:attrName>ppt_x</p:attrName>
                                        </p:attrNameLst>
                                      </p:cBhvr>
                                      <p:tavLst>
                                        <p:tav tm="0">
                                          <p:val>
                                            <p:strVal val="#ppt_x"/>
                                          </p:val>
                                        </p:tav>
                                        <p:tav tm="100000">
                                          <p:val>
                                            <p:strVal val="#ppt_x"/>
                                          </p:val>
                                        </p:tav>
                                      </p:tavLst>
                                    </p:anim>
                                    <p:anim calcmode="lin" valueType="num">
                                      <p:cBhvr additive="base">
                                        <p:cTn id="14" dur="500" fill="hold"/>
                                        <p:tgtEl>
                                          <p:spTgt spid="9728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7287"/>
                                        </p:tgtEl>
                                        <p:attrNameLst>
                                          <p:attrName>style.visibility</p:attrName>
                                        </p:attrNameLst>
                                      </p:cBhvr>
                                      <p:to>
                                        <p:strVal val="visible"/>
                                      </p:to>
                                    </p:set>
                                    <p:anim calcmode="lin" valueType="num">
                                      <p:cBhvr additive="base">
                                        <p:cTn id="19" dur="500" fill="hold"/>
                                        <p:tgtEl>
                                          <p:spTgt spid="97287"/>
                                        </p:tgtEl>
                                        <p:attrNameLst>
                                          <p:attrName>ppt_x</p:attrName>
                                        </p:attrNameLst>
                                      </p:cBhvr>
                                      <p:tavLst>
                                        <p:tav tm="0">
                                          <p:val>
                                            <p:strVal val="#ppt_x"/>
                                          </p:val>
                                        </p:tav>
                                        <p:tav tm="100000">
                                          <p:val>
                                            <p:strVal val="#ppt_x"/>
                                          </p:val>
                                        </p:tav>
                                      </p:tavLst>
                                    </p:anim>
                                    <p:anim calcmode="lin" valueType="num">
                                      <p:cBhvr additive="base">
                                        <p:cTn id="20" dur="500" fill="hold"/>
                                        <p:tgtEl>
                                          <p:spTgt spid="9728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7288"/>
                                        </p:tgtEl>
                                        <p:attrNameLst>
                                          <p:attrName>style.visibility</p:attrName>
                                        </p:attrNameLst>
                                      </p:cBhvr>
                                      <p:to>
                                        <p:strVal val="visible"/>
                                      </p:to>
                                    </p:set>
                                    <p:anim calcmode="lin" valueType="num">
                                      <p:cBhvr additive="base">
                                        <p:cTn id="25" dur="500" fill="hold"/>
                                        <p:tgtEl>
                                          <p:spTgt spid="97288"/>
                                        </p:tgtEl>
                                        <p:attrNameLst>
                                          <p:attrName>ppt_x</p:attrName>
                                        </p:attrNameLst>
                                      </p:cBhvr>
                                      <p:tavLst>
                                        <p:tav tm="0">
                                          <p:val>
                                            <p:strVal val="#ppt_x"/>
                                          </p:val>
                                        </p:tav>
                                        <p:tav tm="100000">
                                          <p:val>
                                            <p:strVal val="#ppt_x"/>
                                          </p:val>
                                        </p:tav>
                                      </p:tavLst>
                                    </p:anim>
                                    <p:anim calcmode="lin" valueType="num">
                                      <p:cBhvr additive="base">
                                        <p:cTn id="26" dur="500" fill="hold"/>
                                        <p:tgtEl>
                                          <p:spTgt spid="972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5" grpId="0" bldLvl="0" animBg="1"/>
      <p:bldP spid="97286" grpId="0"/>
      <p:bldP spid="97287" grpId="0" bldLvl="0" animBg="1"/>
      <p:bldP spid="9728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r>
              <a:rPr lang="zh-CN" altLang="en-US" dirty="0"/>
              <a:t>查询经过计算的值 </a:t>
            </a:r>
            <a:r>
              <a:rPr lang="en-US" altLang="zh-CN" dirty="0"/>
              <a:t>4</a:t>
            </a:r>
            <a:endParaRPr lang="zh-CN" altLang="en-US" dirty="0"/>
          </a:p>
        </p:txBody>
      </p:sp>
      <p:sp>
        <p:nvSpPr>
          <p:cNvPr id="73730" name="Rectangle 3"/>
          <p:cNvSpPr>
            <a:spLocks noGrp="1" noChangeArrowheads="1"/>
          </p:cNvSpPr>
          <p:nvPr>
            <p:ph idx="1"/>
          </p:nvPr>
        </p:nvSpPr>
        <p:spPr/>
        <p:txBody>
          <a:bodyPr>
            <a:normAutofit/>
          </a:bodyPr>
          <a:lstStyle/>
          <a:p>
            <a:r>
              <a:rPr lang="zh-CN" altLang="en-US" dirty="0">
                <a:highlight>
                  <a:srgbClr val="FFFF00"/>
                </a:highlight>
                <a:cs typeface="Calibri" panose="020F0502020204030204" charset="0"/>
              </a:rPr>
              <a:t>使用列别名改变查询结果的列标题</a:t>
            </a:r>
            <a:endParaRPr lang="en-US" altLang="zh-CN" dirty="0">
              <a:cs typeface="Calibri" panose="020F0502020204030204" charset="0"/>
            </a:endParaRPr>
          </a:p>
          <a:p>
            <a:pPr marL="363855" lvl="1" indent="0">
              <a:lnSpc>
                <a:spcPct val="100000"/>
              </a:lnSpc>
              <a:spcBef>
                <a:spcPts val="1000"/>
              </a:spcBef>
              <a:buNone/>
            </a:pPr>
            <a:r>
              <a:rPr lang="en-US" altLang="zh-CN" dirty="0">
                <a:cs typeface="Calibri" panose="020F0502020204030204" charset="0"/>
              </a:rPr>
              <a:t>     </a:t>
            </a:r>
            <a:r>
              <a:rPr lang="en-US" altLang="zh-CN" sz="2800" b="1" dirty="0">
                <a:solidFill>
                  <a:srgbClr val="FF0000"/>
                </a:solidFill>
                <a:ea typeface="楷体" charset="-122"/>
                <a:cs typeface="Calibri" panose="020F0502020204030204" charset="0"/>
              </a:rPr>
              <a:t>SELECT  </a:t>
            </a:r>
            <a:r>
              <a:rPr lang="en-US" altLang="zh-CN" sz="2800" b="1" dirty="0" err="1">
                <a:solidFill>
                  <a:srgbClr val="FF0000"/>
                </a:solidFill>
                <a:ea typeface="楷体" charset="-122"/>
                <a:cs typeface="Calibri" panose="020F0502020204030204" charset="0"/>
              </a:rPr>
              <a:t>Sname</a:t>
            </a:r>
            <a:r>
              <a:rPr lang="en-US" altLang="zh-CN" sz="2800" b="1" dirty="0">
                <a:solidFill>
                  <a:srgbClr val="FF0000"/>
                </a:solidFill>
                <a:ea typeface="楷体" charset="-122"/>
                <a:cs typeface="Calibri" panose="020F0502020204030204" charset="0"/>
              </a:rPr>
              <a:t>  NAME</a:t>
            </a:r>
            <a:r>
              <a:rPr lang="zh-CN" altLang="en-US" sz="2800" b="1" dirty="0">
                <a:solidFill>
                  <a:srgbClr val="FF0000"/>
                </a:solidFill>
                <a:ea typeface="楷体" charset="-122"/>
                <a:cs typeface="Calibri" panose="020F0502020204030204" charset="0"/>
              </a:rPr>
              <a:t>,</a:t>
            </a:r>
            <a:r>
              <a:rPr lang="en-US" altLang="zh-CN" sz="2800" b="1" dirty="0">
                <a:solidFill>
                  <a:srgbClr val="FF0000"/>
                </a:solidFill>
                <a:ea typeface="楷体" charset="-122"/>
                <a:cs typeface="Calibri" panose="020F0502020204030204" charset="0"/>
              </a:rPr>
              <a:t>  'Year of Birth:</a:t>
            </a:r>
            <a:r>
              <a:rPr lang="zh-CN" altLang="en-US" sz="2800" b="1" dirty="0">
                <a:solidFill>
                  <a:srgbClr val="FF0000"/>
                </a:solidFill>
                <a:ea typeface="楷体" charset="-122"/>
                <a:cs typeface="Calibri" panose="020F0502020204030204" charset="0"/>
              </a:rPr>
              <a:t>'</a:t>
            </a:r>
            <a:r>
              <a:rPr lang="en-US" altLang="zh-CN" sz="2800" b="1" dirty="0">
                <a:solidFill>
                  <a:srgbClr val="FF0000"/>
                </a:solidFill>
                <a:ea typeface="楷体" charset="-122"/>
                <a:cs typeface="Calibri" panose="020F0502020204030204" charset="0"/>
              </a:rPr>
              <a:t>  BIRTH</a:t>
            </a:r>
            <a:r>
              <a:rPr lang="zh-CN" altLang="en-US" sz="2800" b="1" dirty="0">
                <a:solidFill>
                  <a:srgbClr val="FF0000"/>
                </a:solidFill>
                <a:ea typeface="楷体" charset="-122"/>
                <a:cs typeface="Calibri" panose="020F0502020204030204" charset="0"/>
              </a:rPr>
              <a:t>,</a:t>
            </a:r>
            <a:endParaRPr lang="zh-CN" altLang="en-US" sz="2800" b="1" dirty="0">
              <a:solidFill>
                <a:srgbClr val="FF0000"/>
              </a:solidFill>
              <a:ea typeface="楷体" charset="-122"/>
              <a:cs typeface="Calibri" panose="020F0502020204030204" charset="0"/>
            </a:endParaRPr>
          </a:p>
          <a:p>
            <a:pPr marL="2649855" lvl="6" indent="0">
              <a:lnSpc>
                <a:spcPct val="100000"/>
              </a:lnSpc>
              <a:spcBef>
                <a:spcPct val="0"/>
              </a:spcBef>
              <a:spcAft>
                <a:spcPct val="0"/>
              </a:spcAft>
              <a:buNone/>
            </a:pPr>
            <a:r>
              <a:rPr lang="en-US" altLang="zh-CN" sz="2800" b="1" dirty="0">
                <a:solidFill>
                  <a:srgbClr val="FF0000"/>
                </a:solidFill>
                <a:ea typeface="楷体" charset="-122"/>
                <a:cs typeface="Calibri" panose="020F0502020204030204" charset="0"/>
              </a:rPr>
              <a:t>2014-Sage  BIRTHDAY</a:t>
            </a:r>
            <a:r>
              <a:rPr lang="zh-CN" altLang="en-US" sz="2800" b="1" dirty="0">
                <a:solidFill>
                  <a:srgbClr val="FF0000"/>
                </a:solidFill>
                <a:ea typeface="楷体" charset="-122"/>
                <a:cs typeface="Calibri" panose="020F0502020204030204" charset="0"/>
              </a:rPr>
              <a:t>,</a:t>
            </a:r>
            <a:endParaRPr lang="zh-CN" altLang="en-US" sz="2800" b="1" dirty="0">
              <a:solidFill>
                <a:srgbClr val="FF0000"/>
              </a:solidFill>
              <a:ea typeface="楷体" charset="-122"/>
              <a:cs typeface="Calibri" panose="020F0502020204030204" charset="0"/>
            </a:endParaRPr>
          </a:p>
          <a:p>
            <a:pPr marL="2649855" lvl="6" indent="0">
              <a:lnSpc>
                <a:spcPct val="100000"/>
              </a:lnSpc>
              <a:spcBef>
                <a:spcPct val="0"/>
              </a:spcBef>
              <a:spcAft>
                <a:spcPct val="0"/>
              </a:spcAft>
              <a:buNone/>
            </a:pPr>
            <a:r>
              <a:rPr lang="en-US" altLang="zh-CN" sz="2800" b="1" dirty="0">
                <a:solidFill>
                  <a:srgbClr val="FF0000"/>
                </a:solidFill>
                <a:ea typeface="楷体" charset="-122"/>
                <a:cs typeface="Calibri" panose="020F0502020204030204" charset="0"/>
              </a:rPr>
              <a:t>LOWER</a:t>
            </a:r>
            <a:r>
              <a:rPr lang="zh-CN" altLang="en-US" sz="2800" b="1" dirty="0">
                <a:solidFill>
                  <a:srgbClr val="FF0000"/>
                </a:solidFill>
                <a:ea typeface="楷体" charset="-122"/>
                <a:cs typeface="Calibri" panose="020F0502020204030204" charset="0"/>
              </a:rPr>
              <a:t>(</a:t>
            </a:r>
            <a:r>
              <a:rPr lang="en-US" altLang="zh-CN" sz="2800" b="1" dirty="0" err="1">
                <a:solidFill>
                  <a:srgbClr val="FF0000"/>
                </a:solidFill>
                <a:ea typeface="楷体" charset="-122"/>
                <a:cs typeface="Calibri" panose="020F0502020204030204" charset="0"/>
              </a:rPr>
              <a:t>Sdept</a:t>
            </a:r>
            <a:r>
              <a:rPr lang="zh-CN" altLang="en-US" sz="2800" b="1" dirty="0">
                <a:solidFill>
                  <a:srgbClr val="FF0000"/>
                </a:solidFill>
                <a:ea typeface="楷体" charset="-122"/>
                <a:cs typeface="Calibri" panose="020F0502020204030204" charset="0"/>
              </a:rPr>
              <a:t>)</a:t>
            </a:r>
            <a:r>
              <a:rPr lang="en-US" altLang="zh-CN" sz="2800" b="1" dirty="0">
                <a:solidFill>
                  <a:srgbClr val="FF0000"/>
                </a:solidFill>
                <a:ea typeface="楷体" charset="-122"/>
                <a:cs typeface="Calibri" panose="020F0502020204030204" charset="0"/>
              </a:rPr>
              <a:t>  DEPARTMENT</a:t>
            </a:r>
            <a:endParaRPr lang="en-US" altLang="zh-CN" sz="2800" b="1" dirty="0">
              <a:solidFill>
                <a:srgbClr val="FF0000"/>
              </a:solidFill>
              <a:ea typeface="楷体" charset="-122"/>
              <a:cs typeface="Calibri" panose="020F0502020204030204" charset="0"/>
            </a:endParaRPr>
          </a:p>
          <a:p>
            <a:pPr marL="363855" lvl="1" indent="0">
              <a:lnSpc>
                <a:spcPct val="100000"/>
              </a:lnSpc>
              <a:spcBef>
                <a:spcPct val="0"/>
              </a:spcBef>
              <a:spcAft>
                <a:spcPct val="0"/>
              </a:spcAft>
              <a:buNone/>
            </a:pPr>
            <a:r>
              <a:rPr lang="en-US" altLang="zh-CN" sz="2800" b="1" dirty="0">
                <a:solidFill>
                  <a:srgbClr val="FF0000"/>
                </a:solidFill>
                <a:ea typeface="楷体" charset="-122"/>
                <a:cs typeface="Calibri" panose="020F0502020204030204" charset="0"/>
              </a:rPr>
              <a:t>     FROM  Student</a:t>
            </a:r>
            <a:r>
              <a:rPr lang="zh-CN" altLang="en-US" sz="2800" b="1" dirty="0">
                <a:solidFill>
                  <a:srgbClr val="FF0000"/>
                </a:solidFill>
                <a:ea typeface="楷体" charset="-122"/>
                <a:cs typeface="Calibri" panose="020F0502020204030204" charset="0"/>
              </a:rPr>
              <a:t>;</a:t>
            </a:r>
            <a:endParaRPr lang="zh-CN" altLang="en-US" sz="2800" b="1" dirty="0">
              <a:solidFill>
                <a:srgbClr val="FF0000"/>
              </a:solidFill>
              <a:ea typeface="楷体" charset="-122"/>
              <a:cs typeface="Calibri" panose="020F0502020204030204" charset="0"/>
            </a:endParaRPr>
          </a:p>
          <a:p>
            <a:pPr>
              <a:lnSpc>
                <a:spcPct val="100000"/>
              </a:lnSpc>
              <a:spcBef>
                <a:spcPts val="5000"/>
              </a:spcBef>
            </a:pPr>
            <a:r>
              <a:rPr lang="zh-CN" altLang="en-US" dirty="0">
                <a:cs typeface="Calibri" panose="020F0502020204030204" charset="0"/>
              </a:rPr>
              <a:t>输出结果：</a:t>
            </a:r>
            <a:endParaRPr lang="zh-CN" altLang="en-US" dirty="0">
              <a:cs typeface="Calibri" panose="020F0502020204030204" charset="0"/>
            </a:endParaRPr>
          </a:p>
        </p:txBody>
      </p:sp>
      <p:graphicFrame>
        <p:nvGraphicFramePr>
          <p:cNvPr id="5" name="表格 2"/>
          <p:cNvGraphicFramePr>
            <a:graphicFrameLocks noGrp="1"/>
          </p:cNvGraphicFramePr>
          <p:nvPr>
            <p:custDataLst>
              <p:tags r:id="rId1"/>
            </p:custDataLst>
          </p:nvPr>
        </p:nvGraphicFramePr>
        <p:xfrm>
          <a:off x="2781300" y="3588385"/>
          <a:ext cx="8559165" cy="2590800"/>
        </p:xfrm>
        <a:graphic>
          <a:graphicData uri="http://schemas.openxmlformats.org/drawingml/2006/table">
            <a:tbl>
              <a:tblPr firstRow="1" bandRow="1">
                <a:tableStyleId>{5C22544A-7EE6-4342-B048-85BDC9FD1C3A}</a:tableStyleId>
              </a:tblPr>
              <a:tblGrid>
                <a:gridCol w="1463675"/>
                <a:gridCol w="2492375"/>
                <a:gridCol w="1959610"/>
                <a:gridCol w="2643505"/>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solidFill>
                            <a:srgbClr val="C00000"/>
                          </a:solidFill>
                        </a:rPr>
                        <a:t>NAME</a:t>
                      </a:r>
                      <a:endParaRPr lang="en-US" altLang="zh-CN" sz="2800" dirty="0">
                        <a:solidFill>
                          <a:srgbClr val="C00000"/>
                        </a:solidFill>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a:solidFill>
                            <a:srgbClr val="C00000"/>
                          </a:solidFill>
                        </a:rPr>
                        <a:t>BIRTH</a:t>
                      </a:r>
                      <a:endParaRPr lang="en-US" altLang="zh-CN" sz="2800" dirty="0">
                        <a:solidFill>
                          <a:srgbClr val="C00000"/>
                        </a:solidFill>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solidFill>
                            <a:srgbClr val="C00000"/>
                          </a:solidFill>
                        </a:rPr>
                        <a:t>BIRTHDAY</a:t>
                      </a:r>
                      <a:endParaRPr lang="en-US" altLang="zh-CN" sz="2800" dirty="0">
                        <a:solidFill>
                          <a:srgbClr val="C00000"/>
                        </a:solidFill>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solidFill>
                            <a:srgbClr val="C00000"/>
                          </a:solidFill>
                        </a:rPr>
                        <a:t>DEPARTMENT</a:t>
                      </a:r>
                      <a:endParaRPr lang="en-US" altLang="zh-CN" sz="2800" dirty="0">
                        <a:solidFill>
                          <a:srgbClr val="C00000"/>
                        </a:solidFill>
                      </a:endParaRPr>
                    </a:p>
                  </a:txBody>
                  <a:tcPr anchor="ctr">
                    <a:solidFill>
                      <a:schemeClr val="accent3">
                        <a:lumMod val="20000"/>
                        <a:lumOff val="80000"/>
                      </a:schemeClr>
                    </a:solidFill>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dirty="0"/>
                        <a:t>李勇</a:t>
                      </a:r>
                      <a:endParaRPr lang="zh-CN"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Year of Birth:</a:t>
                      </a:r>
                      <a:endParaRPr lang="en-US" altLang="zh-CN"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1994</a:t>
                      </a:r>
                      <a:endParaRPr lang="en-US" altLang="zh-CN"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cs</a:t>
                      </a:r>
                      <a:endParaRPr lang="en-US" altLang="zh-CN" sz="2800" dirty="0"/>
                    </a:p>
                  </a:txBody>
                  <a:tcPr anchor="ctr"/>
                </a:tc>
              </a:tr>
              <a:tr h="370840">
                <a:tc>
                  <a:txBody>
                    <a:bodyPr/>
                    <a:lstStyle/>
                    <a:p>
                      <a:pPr algn="ctr"/>
                      <a:r>
                        <a:rPr lang="zh-CN" altLang="en-US" sz="2800" dirty="0"/>
                        <a:t>刘晨</a:t>
                      </a:r>
                      <a:endParaRPr lang="zh-CN" altLang="en-US" sz="2800" dirty="0"/>
                    </a:p>
                  </a:txBody>
                  <a:tcPr anchor="ctr"/>
                </a:tc>
                <a:tc>
                  <a:txBody>
                    <a:bodyPr/>
                    <a:lstStyle/>
                    <a:p>
                      <a:pPr algn="ctr"/>
                      <a:r>
                        <a:rPr lang="en-US" altLang="zh-CN" sz="2800" dirty="0"/>
                        <a:t>Year of Birth: </a:t>
                      </a:r>
                      <a:endParaRPr lang="en-US" altLang="zh-CN" sz="2800" dirty="0"/>
                    </a:p>
                  </a:txBody>
                  <a:tcPr anchor="ctr"/>
                </a:tc>
                <a:tc>
                  <a:txBody>
                    <a:bodyPr/>
                    <a:lstStyle/>
                    <a:p>
                      <a:pPr algn="ctr"/>
                      <a:r>
                        <a:rPr lang="en-US" altLang="zh-CN" sz="2800" dirty="0"/>
                        <a:t>1995</a:t>
                      </a:r>
                      <a:endParaRPr lang="en-US" altLang="zh-CN" sz="2800" dirty="0"/>
                    </a:p>
                  </a:txBody>
                  <a:tcPr anchor="ctr"/>
                </a:tc>
                <a:tc>
                  <a:txBody>
                    <a:bodyPr/>
                    <a:lstStyle/>
                    <a:p>
                      <a:pPr algn="ctr"/>
                      <a:r>
                        <a:rPr lang="en-US" altLang="zh-CN" sz="2800" dirty="0"/>
                        <a:t>cs</a:t>
                      </a:r>
                      <a:endParaRPr lang="en-US" altLang="zh-CN" sz="2800" dirty="0"/>
                    </a:p>
                  </a:txBody>
                  <a:tcPr anchor="ctr"/>
                </a:tc>
              </a:tr>
              <a:tr h="370840">
                <a:tc>
                  <a:txBody>
                    <a:bodyPr/>
                    <a:lstStyle/>
                    <a:p>
                      <a:pPr algn="ctr"/>
                      <a:r>
                        <a:rPr lang="zh-CN" altLang="en-US" sz="2800" dirty="0"/>
                        <a:t>王敏</a:t>
                      </a:r>
                      <a:endParaRPr lang="zh-CN" altLang="en-US" sz="2800" dirty="0"/>
                    </a:p>
                  </a:txBody>
                  <a:tcPr anchor="ctr"/>
                </a:tc>
                <a:tc>
                  <a:txBody>
                    <a:bodyPr/>
                    <a:lstStyle/>
                    <a:p>
                      <a:pPr algn="ctr"/>
                      <a:r>
                        <a:rPr lang="en-US" altLang="zh-CN" sz="2800" dirty="0"/>
                        <a:t>Year of Birth: </a:t>
                      </a:r>
                      <a:endParaRPr lang="en-US" altLang="zh-CN" sz="2800" dirty="0"/>
                    </a:p>
                  </a:txBody>
                  <a:tcPr anchor="ctr"/>
                </a:tc>
                <a:tc>
                  <a:txBody>
                    <a:bodyPr/>
                    <a:lstStyle/>
                    <a:p>
                      <a:pPr algn="ctr"/>
                      <a:r>
                        <a:rPr lang="en-US" altLang="zh-CN" sz="2800" dirty="0"/>
                        <a:t>1996</a:t>
                      </a:r>
                      <a:endParaRPr lang="en-US" altLang="zh-CN" sz="2800" dirty="0"/>
                    </a:p>
                  </a:txBody>
                  <a:tcPr anchor="ctr"/>
                </a:tc>
                <a:tc>
                  <a:txBody>
                    <a:bodyPr/>
                    <a:lstStyle/>
                    <a:p>
                      <a:pPr algn="ctr"/>
                      <a:r>
                        <a:rPr lang="en-US" altLang="zh-CN" sz="2800" dirty="0"/>
                        <a:t>ma</a:t>
                      </a:r>
                      <a:endParaRPr lang="en-US" altLang="zh-CN" sz="2800" dirty="0"/>
                    </a:p>
                  </a:txBody>
                  <a:tcPr anchor="ctr"/>
                </a:tc>
              </a:tr>
              <a:tr h="370840">
                <a:tc>
                  <a:txBody>
                    <a:bodyPr/>
                    <a:lstStyle/>
                    <a:p>
                      <a:pPr algn="ctr"/>
                      <a:r>
                        <a:rPr lang="zh-CN" altLang="en-US" sz="2800" dirty="0"/>
                        <a:t>张立</a:t>
                      </a:r>
                      <a:endParaRPr lang="zh-CN" altLang="en-US" sz="2800" dirty="0"/>
                    </a:p>
                  </a:txBody>
                  <a:tcPr anchor="ctr"/>
                </a:tc>
                <a:tc>
                  <a:txBody>
                    <a:bodyPr/>
                    <a:lstStyle/>
                    <a:p>
                      <a:pPr algn="ctr"/>
                      <a:r>
                        <a:rPr lang="en-US" altLang="zh-CN" sz="2800" dirty="0"/>
                        <a:t>Year of Birth: </a:t>
                      </a:r>
                      <a:endParaRPr lang="en-US" altLang="zh-CN" sz="2800" dirty="0"/>
                    </a:p>
                  </a:txBody>
                  <a:tcPr anchor="ctr"/>
                </a:tc>
                <a:tc>
                  <a:txBody>
                    <a:bodyPr/>
                    <a:lstStyle/>
                    <a:p>
                      <a:pPr algn="ctr"/>
                      <a:r>
                        <a:rPr lang="en-US" altLang="zh-CN" sz="2800" dirty="0"/>
                        <a:t>1995</a:t>
                      </a:r>
                      <a:endParaRPr lang="en-US" altLang="zh-CN" sz="2800" dirty="0"/>
                    </a:p>
                  </a:txBody>
                  <a:tcPr anchor="ctr"/>
                </a:tc>
                <a:tc>
                  <a:txBody>
                    <a:bodyPr/>
                    <a:lstStyle/>
                    <a:p>
                      <a:pPr algn="ctr"/>
                      <a:r>
                        <a:rPr lang="en-US" altLang="zh-CN" sz="2800" dirty="0"/>
                        <a:t>is</a:t>
                      </a:r>
                      <a:endParaRPr lang="en-US" altLang="zh-CN" sz="2800" dirty="0"/>
                    </a:p>
                  </a:txBody>
                  <a:tcPr anchor="ctr"/>
                </a:tc>
              </a:tr>
            </a:tbl>
          </a:graphicData>
        </a:graphic>
      </p:graphicFrame>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730">
                                            <p:txEl>
                                              <p:pRg st="1" end="1"/>
                                            </p:txEl>
                                          </p:spTgt>
                                        </p:tgtEl>
                                        <p:attrNameLst>
                                          <p:attrName>style.visibility</p:attrName>
                                        </p:attrNameLst>
                                      </p:cBhvr>
                                      <p:to>
                                        <p:strVal val="visible"/>
                                      </p:to>
                                    </p:set>
                                    <p:animEffect transition="in" filter="blinds(horizontal)">
                                      <p:cBhvr>
                                        <p:cTn id="7" dur="500"/>
                                        <p:tgtEl>
                                          <p:spTgt spid="73730">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3730">
                                            <p:txEl>
                                              <p:pRg st="2" end="2"/>
                                            </p:txEl>
                                          </p:spTgt>
                                        </p:tgtEl>
                                        <p:attrNameLst>
                                          <p:attrName>style.visibility</p:attrName>
                                        </p:attrNameLst>
                                      </p:cBhvr>
                                      <p:to>
                                        <p:strVal val="visible"/>
                                      </p:to>
                                    </p:set>
                                    <p:animEffect transition="in" filter="blinds(horizontal)">
                                      <p:cBhvr>
                                        <p:cTn id="10" dur="500"/>
                                        <p:tgtEl>
                                          <p:spTgt spid="73730">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3730">
                                            <p:txEl>
                                              <p:pRg st="3" end="3"/>
                                            </p:txEl>
                                          </p:spTgt>
                                        </p:tgtEl>
                                        <p:attrNameLst>
                                          <p:attrName>style.visibility</p:attrName>
                                        </p:attrNameLst>
                                      </p:cBhvr>
                                      <p:to>
                                        <p:strVal val="visible"/>
                                      </p:to>
                                    </p:set>
                                    <p:animEffect transition="in" filter="blinds(horizontal)">
                                      <p:cBhvr>
                                        <p:cTn id="13" dur="500"/>
                                        <p:tgtEl>
                                          <p:spTgt spid="73730">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3730">
                                            <p:txEl>
                                              <p:pRg st="4" end="4"/>
                                            </p:txEl>
                                          </p:spTgt>
                                        </p:tgtEl>
                                        <p:attrNameLst>
                                          <p:attrName>style.visibility</p:attrName>
                                        </p:attrNameLst>
                                      </p:cBhvr>
                                      <p:to>
                                        <p:strVal val="visible"/>
                                      </p:to>
                                    </p:set>
                                    <p:animEffect transition="in" filter="blinds(horizontal)">
                                      <p:cBhvr>
                                        <p:cTn id="16" dur="500"/>
                                        <p:tgtEl>
                                          <p:spTgt spid="73730">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3730">
                                            <p:txEl>
                                              <p:pRg st="5" end="5"/>
                                            </p:txEl>
                                          </p:spTgt>
                                        </p:tgtEl>
                                        <p:attrNameLst>
                                          <p:attrName>style.visibility</p:attrName>
                                        </p:attrNameLst>
                                      </p:cBhvr>
                                      <p:to>
                                        <p:strVal val="visible"/>
                                      </p:to>
                                    </p:set>
                                    <p:anim calcmode="lin" valueType="num">
                                      <p:cBhvr additive="base">
                                        <p:cTn id="21" dur="500" fill="hold"/>
                                        <p:tgtEl>
                                          <p:spTgt spid="73730">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3730">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dirty="0"/>
              <a:t>消除取值重复的行（</a:t>
            </a:r>
            <a:r>
              <a:rPr lang="en-US" altLang="zh-CN" dirty="0"/>
              <a:t>1</a:t>
            </a:r>
            <a:r>
              <a:rPr lang="zh-CN" altLang="en-US" dirty="0"/>
              <a:t>）</a:t>
            </a:r>
            <a:endParaRPr lang="zh-CN" altLang="en-US" dirty="0"/>
          </a:p>
        </p:txBody>
      </p:sp>
      <p:sp>
        <p:nvSpPr>
          <p:cNvPr id="76803" name="Rectangle 3"/>
          <p:cNvSpPr>
            <a:spLocks noGrp="1" noChangeArrowheads="1"/>
          </p:cNvSpPr>
          <p:nvPr>
            <p:ph idx="1"/>
          </p:nvPr>
        </p:nvSpPr>
        <p:spPr>
          <a:xfrm>
            <a:off x="424180" y="687070"/>
            <a:ext cx="11343005" cy="1167130"/>
          </a:xfrm>
          <a:solidFill>
            <a:schemeClr val="accent3">
              <a:lumMod val="20000"/>
              <a:lumOff val="80000"/>
              <a:alpha val="50000"/>
            </a:schemeClr>
          </a:solidFill>
        </p:spPr>
        <p:txBody>
          <a:bodyPr>
            <a:noAutofit/>
          </a:bodyPr>
          <a:lstStyle/>
          <a:p>
            <a:pPr>
              <a:lnSpc>
                <a:spcPct val="110000"/>
              </a:lnSpc>
              <a:spcBef>
                <a:spcPts val="1000"/>
              </a:spcBef>
            </a:pPr>
            <a:r>
              <a:rPr lang="zh-CN" altLang="en-US" dirty="0">
                <a:solidFill>
                  <a:srgbClr val="FF0000"/>
                </a:solidFill>
              </a:rPr>
              <a:t>指定</a:t>
            </a:r>
            <a:r>
              <a:rPr lang="en-US" altLang="zh-CN" dirty="0">
                <a:solidFill>
                  <a:srgbClr val="FF0000"/>
                </a:solidFill>
              </a:rPr>
              <a:t>DISTINCT</a:t>
            </a:r>
            <a:r>
              <a:rPr lang="zh-CN" altLang="en-US" dirty="0">
                <a:solidFill>
                  <a:srgbClr val="FF0000"/>
                </a:solidFill>
              </a:rPr>
              <a:t>关键词，去掉表中重复的行</a:t>
            </a:r>
            <a:r>
              <a:rPr lang="zh-CN" altLang="en-US" dirty="0"/>
              <a:t> </a:t>
            </a:r>
            <a:endParaRPr lang="en-US" altLang="zh-CN" dirty="0"/>
          </a:p>
          <a:p>
            <a:pPr lvl="1">
              <a:lnSpc>
                <a:spcPct val="110000"/>
              </a:lnSpc>
              <a:spcBef>
                <a:spcPts val="1000"/>
              </a:spcBef>
            </a:pPr>
            <a:r>
              <a:rPr lang="zh-CN" altLang="en-US" dirty="0"/>
              <a:t>如果没有指定</a:t>
            </a:r>
            <a:r>
              <a:rPr lang="en-US" altLang="zh-CN" dirty="0"/>
              <a:t>DISTINCT</a:t>
            </a:r>
            <a:r>
              <a:rPr lang="zh-CN" altLang="en-US" dirty="0"/>
              <a:t>关键词，则缺省为</a:t>
            </a:r>
            <a:r>
              <a:rPr lang="en-US" altLang="zh-CN" dirty="0"/>
              <a:t>ALL</a:t>
            </a:r>
            <a:endParaRPr lang="zh-CN" altLang="en-US" dirty="0"/>
          </a:p>
        </p:txBody>
      </p:sp>
      <p:graphicFrame>
        <p:nvGraphicFramePr>
          <p:cNvPr id="3" name="表格 2"/>
          <p:cNvGraphicFramePr>
            <a:graphicFrameLocks noGrp="1"/>
          </p:cNvGraphicFramePr>
          <p:nvPr/>
        </p:nvGraphicFramePr>
        <p:xfrm>
          <a:off x="3418200" y="4627973"/>
          <a:ext cx="2366010" cy="1112520"/>
        </p:xfrm>
        <a:graphic>
          <a:graphicData uri="http://schemas.openxmlformats.org/drawingml/2006/table">
            <a:tbl>
              <a:tblPr firstRow="1" bandRow="1">
                <a:tableStyleId>{5C22544A-7EE6-4342-B048-85BDC9FD1C3A}</a:tableStyleId>
              </a:tblPr>
              <a:tblGrid>
                <a:gridCol w="2366010"/>
              </a:tblGrid>
              <a:tr h="370840">
                <a:tc>
                  <a:txBody>
                    <a:bodyPr/>
                    <a:lstStyle/>
                    <a:p>
                      <a:pPr algn="ctr"/>
                      <a:r>
                        <a:rPr lang="en-US" altLang="zh-CN" sz="2800" dirty="0" err="1">
                          <a:solidFill>
                            <a:srgbClr val="C00000"/>
                          </a:solidFill>
                        </a:rPr>
                        <a:t>Sno</a:t>
                      </a:r>
                      <a:endParaRPr lang="en-US" altLang="zh-CN" sz="2800" dirty="0" err="1">
                        <a:solidFill>
                          <a:srgbClr val="C00000"/>
                        </a:solidFill>
                      </a:endParaRPr>
                    </a:p>
                  </a:txBody>
                  <a:tcPr anchor="ctr">
                    <a:solidFill>
                      <a:schemeClr val="accent3">
                        <a:lumMod val="20000"/>
                        <a:lumOff val="80000"/>
                      </a:schemeClr>
                    </a:solidFill>
                  </a:tcPr>
                </a:tc>
              </a:tr>
              <a:tr h="370840">
                <a:tc>
                  <a:txBody>
                    <a:bodyPr/>
                    <a:lstStyle/>
                    <a:p>
                      <a:pPr algn="ctr"/>
                      <a:r>
                        <a:rPr lang="en-US" altLang="zh-CN" sz="2800" dirty="0"/>
                        <a:t>201215121</a:t>
                      </a:r>
                      <a:endParaRPr lang="en-US" altLang="zh-CN" sz="2800" dirty="0"/>
                    </a:p>
                  </a:txBody>
                  <a:tcPr anchor="ctr"/>
                </a:tc>
              </a:tr>
              <a:tr h="370840">
                <a:tc>
                  <a:txBody>
                    <a:bodyPr/>
                    <a:lstStyle/>
                    <a:p>
                      <a:pPr algn="ctr"/>
                      <a:r>
                        <a:rPr lang="en-US" altLang="zh-CN" sz="2800" dirty="0"/>
                        <a:t>201215122</a:t>
                      </a:r>
                      <a:endParaRPr lang="en-US" altLang="zh-CN" sz="2800" dirty="0"/>
                    </a:p>
                  </a:txBody>
                  <a:tcPr anchor="ctr"/>
                </a:tc>
              </a:tr>
            </a:tbl>
          </a:graphicData>
        </a:graphic>
      </p:graphicFrame>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
        <p:nvSpPr>
          <p:cNvPr id="5" name="Rectangle 3"/>
          <p:cNvSpPr>
            <a:spLocks noGrp="1" noChangeArrowheads="1"/>
          </p:cNvSpPr>
          <p:nvPr/>
        </p:nvSpPr>
        <p:spPr>
          <a:xfrm>
            <a:off x="424180" y="2238375"/>
            <a:ext cx="11343005" cy="310197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spcBef>
                <a:spcPts val="1000"/>
              </a:spcBef>
            </a:pPr>
            <a:r>
              <a:rPr lang="en-US" altLang="zh-CN" dirty="0">
                <a:sym typeface="+mn-ea"/>
              </a:rPr>
              <a:t>[</a:t>
            </a:r>
            <a:r>
              <a:rPr lang="zh-CN" altLang="en-US" dirty="0">
                <a:sym typeface="+mn-ea"/>
              </a:rPr>
              <a:t>例</a:t>
            </a:r>
            <a:r>
              <a:rPr lang="en-US" altLang="zh-CN" dirty="0">
                <a:sym typeface="+mn-ea"/>
              </a:rPr>
              <a:t>3.21]  </a:t>
            </a:r>
            <a:r>
              <a:rPr lang="zh-CN" altLang="en-US" dirty="0">
                <a:sym typeface="+mn-ea"/>
              </a:rPr>
              <a:t>查询选修了课程的学生学号。</a:t>
            </a:r>
            <a:r>
              <a:rPr lang="zh-CN" altLang="en-US" dirty="0"/>
              <a:t> </a:t>
            </a:r>
            <a:endParaRPr lang="en-US" altLang="zh-CN" dirty="0"/>
          </a:p>
          <a:p>
            <a:pPr marL="1278255" lvl="3" indent="0">
              <a:lnSpc>
                <a:spcPct val="110000"/>
              </a:lnSpc>
              <a:spcBef>
                <a:spcPts val="2000"/>
              </a:spcBef>
              <a:buNone/>
            </a:pPr>
            <a:r>
              <a:rPr lang="en-US" altLang="zh-CN" dirty="0">
                <a:solidFill>
                  <a:srgbClr val="FF0000"/>
                </a:solidFill>
              </a:rPr>
              <a:t>SELECT DISTINCT </a:t>
            </a:r>
            <a:r>
              <a:rPr lang="en-US" altLang="zh-CN" dirty="0" err="1">
                <a:solidFill>
                  <a:srgbClr val="FF0000"/>
                </a:solidFill>
              </a:rPr>
              <a:t>Sno</a:t>
            </a:r>
            <a:endParaRPr lang="en-US" altLang="zh-CN" dirty="0">
              <a:solidFill>
                <a:srgbClr val="FF0000"/>
              </a:solidFill>
            </a:endParaRPr>
          </a:p>
          <a:p>
            <a:pPr marL="1278255" lvl="3" indent="0">
              <a:lnSpc>
                <a:spcPct val="110000"/>
              </a:lnSpc>
              <a:spcBef>
                <a:spcPts val="1000"/>
              </a:spcBef>
              <a:buNone/>
            </a:pPr>
            <a:r>
              <a:rPr lang="en-US" altLang="zh-CN" dirty="0">
                <a:solidFill>
                  <a:srgbClr val="FF0000"/>
                </a:solidFill>
              </a:rPr>
              <a:t>FROM SC</a:t>
            </a:r>
            <a:r>
              <a:rPr lang="zh-CN" altLang="en-US" dirty="0">
                <a:solidFill>
                  <a:srgbClr val="FF0000"/>
                </a:solidFill>
              </a:rPr>
              <a:t>;</a:t>
            </a:r>
            <a:r>
              <a:rPr lang="zh-CN" altLang="en-US" dirty="0"/>
              <a:t> </a:t>
            </a:r>
            <a:endParaRPr lang="zh-CN" altLang="en-US" dirty="0"/>
          </a:p>
          <a:p>
            <a:pPr marL="1278255" lvl="3" indent="0">
              <a:lnSpc>
                <a:spcPct val="110000"/>
              </a:lnSpc>
              <a:spcBef>
                <a:spcPts val="1000"/>
              </a:spcBef>
              <a:buNone/>
            </a:pPr>
            <a:endParaRPr lang="zh-CN" altLang="en-US" dirty="0"/>
          </a:p>
          <a:p>
            <a:pPr>
              <a:lnSpc>
                <a:spcPct val="110000"/>
              </a:lnSpc>
              <a:spcBef>
                <a:spcPts val="1000"/>
              </a:spcBef>
            </a:pPr>
            <a:r>
              <a:rPr lang="zh-CN" altLang="en-US" dirty="0"/>
              <a:t>执行结果：</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blinds(horizontal)">
                                      <p:cBhvr>
                                        <p:cTn id="20" dur="500"/>
                                        <p:tgtEl>
                                          <p:spTgt spid="5">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linds(horizontal)">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2"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r>
              <a:rPr lang="zh-CN" altLang="en-US" dirty="0">
                <a:sym typeface="+mn-ea"/>
              </a:rPr>
              <a:t>消除取值重复的行（</a:t>
            </a:r>
            <a:r>
              <a:rPr lang="en-US" altLang="zh-CN" dirty="0">
                <a:sym typeface="+mn-ea"/>
              </a:rPr>
              <a:t>2</a:t>
            </a:r>
            <a:r>
              <a:rPr lang="zh-CN" altLang="en-US" dirty="0">
                <a:sym typeface="+mn-ea"/>
              </a:rPr>
              <a:t>）</a:t>
            </a:r>
            <a:endParaRPr lang="zh-CN" altLang="en-US" dirty="0"/>
          </a:p>
        </p:txBody>
      </p:sp>
      <p:sp>
        <p:nvSpPr>
          <p:cNvPr id="75778" name="Rectangle 3"/>
          <p:cNvSpPr>
            <a:spLocks noGrp="1" noChangeArrowheads="1"/>
          </p:cNvSpPr>
          <p:nvPr>
            <p:ph idx="1"/>
          </p:nvPr>
        </p:nvSpPr>
        <p:spPr/>
        <p:txBody>
          <a:bodyPr>
            <a:normAutofit/>
          </a:bodyPr>
          <a:lstStyle/>
          <a:p>
            <a:r>
              <a:rPr lang="en-US" altLang="zh-CN" dirty="0"/>
              <a:t>[</a:t>
            </a:r>
            <a:r>
              <a:rPr lang="zh-CN" altLang="en-US" dirty="0"/>
              <a:t>例</a:t>
            </a:r>
            <a:r>
              <a:rPr lang="en-US" altLang="zh-CN" dirty="0"/>
              <a:t>3.21]  </a:t>
            </a:r>
            <a:r>
              <a:rPr lang="zh-CN" altLang="en-US" dirty="0"/>
              <a:t>查询选修了课程的学生学号。</a:t>
            </a:r>
            <a:endParaRPr lang="zh-CN" altLang="en-US" dirty="0"/>
          </a:p>
          <a:p>
            <a:pPr marL="821055" lvl="1" indent="-457200" algn="l">
              <a:lnSpc>
                <a:spcPct val="100000"/>
              </a:lnSpc>
              <a:spcBef>
                <a:spcPts val="600"/>
              </a:spcBef>
            </a:pPr>
            <a:r>
              <a:rPr lang="zh-CN" altLang="en-US" dirty="0"/>
              <a:t> 也可以表示</a:t>
            </a:r>
            <a:r>
              <a:rPr lang="zh-CN" altLang="en-US" dirty="0"/>
              <a:t>为：   </a:t>
            </a:r>
            <a:r>
              <a:rPr lang="en-US" altLang="zh-CN" dirty="0"/>
              <a:t>	</a:t>
            </a:r>
            <a:r>
              <a:rPr lang="en-US" altLang="zh-CN" dirty="0">
                <a:solidFill>
                  <a:srgbClr val="FF0000"/>
                </a:solidFill>
              </a:rPr>
              <a:t>SELECT </a:t>
            </a:r>
            <a:r>
              <a:rPr lang="en-US" altLang="zh-CN" dirty="0" err="1">
                <a:solidFill>
                  <a:srgbClr val="FF0000"/>
                </a:solidFill>
              </a:rPr>
              <a:t>Sno</a:t>
            </a:r>
            <a:r>
              <a:rPr lang="en-US" altLang="zh-CN" dirty="0">
                <a:solidFill>
                  <a:srgbClr val="FF0000"/>
                </a:solidFill>
              </a:rPr>
              <a:t>   FROM SC</a:t>
            </a:r>
            <a:r>
              <a:rPr lang="zh-CN" altLang="en-US" dirty="0">
                <a:solidFill>
                  <a:srgbClr val="FF0000"/>
                </a:solidFill>
              </a:rPr>
              <a:t>;</a:t>
            </a:r>
            <a:endParaRPr lang="zh-CN" altLang="en-US" dirty="0"/>
          </a:p>
          <a:p>
            <a:pPr marL="457200" lvl="1" indent="1508760">
              <a:lnSpc>
                <a:spcPct val="100000"/>
              </a:lnSpc>
              <a:spcBef>
                <a:spcPts val="1600"/>
              </a:spcBef>
              <a:buNone/>
            </a:pPr>
            <a:r>
              <a:rPr lang="zh-CN" altLang="en-US" dirty="0"/>
              <a:t>等价于：	</a:t>
            </a:r>
            <a:r>
              <a:rPr lang="en-US" altLang="zh-CN" dirty="0">
                <a:solidFill>
                  <a:srgbClr val="FF0000"/>
                </a:solidFill>
              </a:rPr>
              <a:t>SELECT ALL  </a:t>
            </a:r>
            <a:r>
              <a:rPr lang="en-US" altLang="zh-CN" dirty="0" err="1">
                <a:solidFill>
                  <a:srgbClr val="FF0000"/>
                </a:solidFill>
              </a:rPr>
              <a:t>Sno</a:t>
            </a:r>
            <a:r>
              <a:rPr lang="en-US" altLang="zh-CN" dirty="0">
                <a:solidFill>
                  <a:srgbClr val="FF0000"/>
                </a:solidFill>
              </a:rPr>
              <a:t>  FROM SC</a:t>
            </a:r>
            <a:r>
              <a:rPr lang="zh-CN" altLang="en-US" dirty="0">
                <a:solidFill>
                  <a:srgbClr val="FF0000"/>
                </a:solidFill>
              </a:rPr>
              <a:t>;</a:t>
            </a:r>
            <a:endParaRPr lang="zh-CN" altLang="en-US" dirty="0"/>
          </a:p>
          <a:p>
            <a:pPr marL="821055" lvl="1" indent="-457200">
              <a:lnSpc>
                <a:spcPct val="110000"/>
              </a:lnSpc>
              <a:spcBef>
                <a:spcPts val="3000"/>
              </a:spcBef>
            </a:pPr>
            <a:r>
              <a:rPr lang="zh-CN" altLang="en-US" dirty="0"/>
              <a:t>	执行上面的</a:t>
            </a:r>
            <a:r>
              <a:rPr lang="en-US" altLang="zh-CN" dirty="0"/>
              <a:t>SELECT</a:t>
            </a:r>
            <a:r>
              <a:rPr lang="zh-CN" altLang="en-US" dirty="0"/>
              <a:t>语句后，结果为： </a:t>
            </a:r>
            <a:endParaRPr lang="en-US" altLang="zh-CN" dirty="0"/>
          </a:p>
        </p:txBody>
      </p:sp>
      <p:graphicFrame>
        <p:nvGraphicFramePr>
          <p:cNvPr id="4" name="表格 4"/>
          <p:cNvGraphicFramePr>
            <a:graphicFrameLocks noGrp="1"/>
          </p:cNvGraphicFramePr>
          <p:nvPr/>
        </p:nvGraphicFramePr>
        <p:xfrm>
          <a:off x="4195440" y="3312403"/>
          <a:ext cx="2366010" cy="2225040"/>
        </p:xfrm>
        <a:graphic>
          <a:graphicData uri="http://schemas.openxmlformats.org/drawingml/2006/table">
            <a:tbl>
              <a:tblPr firstRow="1" bandRow="1">
                <a:tableStyleId>{5C22544A-7EE6-4342-B048-85BDC9FD1C3A}</a:tableStyleId>
              </a:tblPr>
              <a:tblGrid>
                <a:gridCol w="2366010"/>
              </a:tblGrid>
              <a:tr h="370840">
                <a:tc>
                  <a:txBody>
                    <a:bodyPr/>
                    <a:lstStyle/>
                    <a:p>
                      <a:pPr algn="ctr"/>
                      <a:r>
                        <a:rPr lang="en-US" altLang="zh-CN" sz="2800" dirty="0" err="1">
                          <a:solidFill>
                            <a:srgbClr val="C00000"/>
                          </a:solidFill>
                        </a:rPr>
                        <a:t>Sno</a:t>
                      </a:r>
                      <a:endParaRPr lang="en-US" altLang="zh-CN" sz="2800" dirty="0" err="1">
                        <a:solidFill>
                          <a:srgbClr val="C00000"/>
                        </a:solidFill>
                      </a:endParaRPr>
                    </a:p>
                  </a:txBody>
                  <a:tcPr anchor="ctr">
                    <a:solidFill>
                      <a:schemeClr val="accent3">
                        <a:lumMod val="20000"/>
                        <a:lumOff val="80000"/>
                      </a:schemeClr>
                    </a:solidFill>
                  </a:tcPr>
                </a:tc>
              </a:tr>
              <a:tr h="370840">
                <a:tc>
                  <a:txBody>
                    <a:bodyPr/>
                    <a:lstStyle/>
                    <a:p>
                      <a:pPr algn="ctr"/>
                      <a:r>
                        <a:rPr lang="en-US" altLang="zh-CN" sz="2800" dirty="0"/>
                        <a:t>201215121</a:t>
                      </a:r>
                      <a:endParaRPr lang="en-US" altLang="zh-CN" sz="2800" dirty="0"/>
                    </a:p>
                  </a:txBody>
                  <a:tcPr anchor="ctr"/>
                </a:tc>
              </a:tr>
              <a:tr h="370840">
                <a:tc>
                  <a:txBody>
                    <a:bodyPr/>
                    <a:lstStyle/>
                    <a:p>
                      <a:pPr algn="ctr"/>
                      <a:r>
                        <a:rPr lang="en-US" altLang="zh-CN" sz="2800" dirty="0"/>
                        <a:t>201215121</a:t>
                      </a:r>
                      <a:endParaRPr lang="en-US" altLang="zh-CN" sz="2800" dirty="0"/>
                    </a:p>
                  </a:txBody>
                  <a:tcPr anchor="ctr"/>
                </a:tc>
              </a:tr>
              <a:tr h="370840">
                <a:tc>
                  <a:txBody>
                    <a:bodyPr/>
                    <a:lstStyle/>
                    <a:p>
                      <a:pPr algn="ctr"/>
                      <a:r>
                        <a:rPr lang="en-US" altLang="zh-CN" sz="2800" dirty="0"/>
                        <a:t>201215121</a:t>
                      </a:r>
                      <a:endParaRPr lang="en-US" altLang="zh-CN" sz="2800" dirty="0"/>
                    </a:p>
                  </a:txBody>
                  <a:tcPr anchor="ctr"/>
                </a:tc>
              </a:tr>
              <a:tr h="370840">
                <a:tc>
                  <a:txBody>
                    <a:bodyPr/>
                    <a:lstStyle/>
                    <a:p>
                      <a:pPr algn="ctr"/>
                      <a:r>
                        <a:rPr lang="en-US" altLang="zh-CN" sz="2800" dirty="0"/>
                        <a:t>201215122</a:t>
                      </a:r>
                      <a:endParaRPr lang="en-US" altLang="zh-CN" sz="2800" dirty="0"/>
                    </a:p>
                  </a:txBody>
                  <a:tcPr anchor="ctr"/>
                </a:tc>
              </a:tr>
              <a:tr h="370840">
                <a:tc>
                  <a:txBody>
                    <a:bodyPr/>
                    <a:lstStyle/>
                    <a:p>
                      <a:pPr algn="ctr"/>
                      <a:r>
                        <a:rPr lang="en-US" altLang="zh-CN" sz="2800" dirty="0"/>
                        <a:t>201215122</a:t>
                      </a:r>
                      <a:endParaRPr lang="en-US" altLang="zh-CN" sz="2800" dirty="0"/>
                    </a:p>
                  </a:txBody>
                  <a:tcPr anchor="ctr"/>
                </a:tc>
              </a:tr>
            </a:tbl>
          </a:graphicData>
        </a:graphic>
      </p:graphicFrame>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78">
                                            <p:txEl>
                                              <p:pRg st="2" end="2"/>
                                            </p:txEl>
                                          </p:spTgt>
                                        </p:tgtEl>
                                        <p:attrNameLst>
                                          <p:attrName>style.visibility</p:attrName>
                                        </p:attrNameLst>
                                      </p:cBhvr>
                                      <p:to>
                                        <p:strVal val="visible"/>
                                      </p:to>
                                    </p:set>
                                    <p:animEffect transition="in" filter="blinds(horizontal)">
                                      <p:cBhvr>
                                        <p:cTn id="7" dur="500"/>
                                        <p:tgtEl>
                                          <p:spTgt spid="7577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5778">
                                            <p:txEl>
                                              <p:pRg st="3" end="3"/>
                                            </p:txEl>
                                          </p:spTgt>
                                        </p:tgtEl>
                                        <p:attrNameLst>
                                          <p:attrName>style.visibility</p:attrName>
                                        </p:attrNameLst>
                                      </p:cBhvr>
                                      <p:to>
                                        <p:strVal val="visible"/>
                                      </p:to>
                                    </p:set>
                                    <p:anim calcmode="lin" valueType="num">
                                      <p:cBhvr additive="base">
                                        <p:cTn id="12" dur="500" fill="hold"/>
                                        <p:tgtEl>
                                          <p:spTgt spid="75778">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5778">
                                            <p:txEl>
                                              <p:pRg st="3" end="3"/>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消除取值重复的行（</a:t>
            </a:r>
            <a:r>
              <a:rPr lang="en-US" altLang="zh-CN" dirty="0">
                <a:sym typeface="+mn-ea"/>
              </a:rPr>
              <a:t>3</a:t>
            </a:r>
            <a:r>
              <a:rPr lang="zh-CN" altLang="en-US" dirty="0">
                <a:sym typeface="+mn-ea"/>
              </a:rPr>
              <a:t>）</a:t>
            </a:r>
            <a:endParaRPr lang="zh-CN" altLang="en-US"/>
          </a:p>
        </p:txBody>
      </p:sp>
      <p:sp>
        <p:nvSpPr>
          <p:cNvPr id="4" name="页脚占位符 3"/>
          <p:cNvSpPr>
            <a:spLocks noGrp="1"/>
          </p:cNvSpPr>
          <p:nvPr>
            <p:ph type="ftr" sz="quarter" idx="11"/>
          </p:nvPr>
        </p:nvSpPr>
        <p:spPr>
          <a:xfrm>
            <a:off x="0" y="6695365"/>
            <a:ext cx="4114800" cy="153670"/>
          </a:xfrm>
        </p:spPr>
        <p:txBody>
          <a:bodyPr/>
          <a:p>
            <a:r>
              <a:rPr lang="zh-CN" altLang="en-US"/>
              <a:t>ch03_2_SQL数据查询</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424180" y="2033270"/>
            <a:ext cx="4648200" cy="4242435"/>
          </a:xfrm>
          <a:prstGeom prst="rect">
            <a:avLst/>
          </a:prstGeom>
        </p:spPr>
      </p:pic>
      <p:graphicFrame>
        <p:nvGraphicFramePr>
          <p:cNvPr id="10" name="表格 9"/>
          <p:cNvGraphicFramePr>
            <a:graphicFrameLocks noGrp="1"/>
          </p:cNvGraphicFramePr>
          <p:nvPr/>
        </p:nvGraphicFramePr>
        <p:xfrm>
          <a:off x="5570215" y="2699478"/>
          <a:ext cx="2366010" cy="1112520"/>
        </p:xfrm>
        <a:graphic>
          <a:graphicData uri="http://schemas.openxmlformats.org/drawingml/2006/table">
            <a:tbl>
              <a:tblPr firstRow="1" bandRow="1">
                <a:tableStyleId>{5C22544A-7EE6-4342-B048-85BDC9FD1C3A}</a:tableStyleId>
              </a:tblPr>
              <a:tblGrid>
                <a:gridCol w="2366010"/>
              </a:tblGrid>
              <a:tr h="370840">
                <a:tc>
                  <a:txBody>
                    <a:bodyPr/>
                    <a:p>
                      <a:pPr algn="ctr"/>
                      <a:r>
                        <a:rPr lang="en-US" altLang="zh-CN" sz="2800" dirty="0" err="1">
                          <a:solidFill>
                            <a:srgbClr val="C00000"/>
                          </a:solidFill>
                        </a:rPr>
                        <a:t>Sno</a:t>
                      </a:r>
                      <a:endParaRPr lang="en-US" altLang="zh-CN" sz="2800" dirty="0" err="1">
                        <a:solidFill>
                          <a:srgbClr val="C00000"/>
                        </a:solidFill>
                      </a:endParaRPr>
                    </a:p>
                  </a:txBody>
                  <a:tcPr anchor="ctr">
                    <a:solidFill>
                      <a:schemeClr val="accent3">
                        <a:lumMod val="20000"/>
                        <a:lumOff val="80000"/>
                      </a:schemeClr>
                    </a:solidFill>
                  </a:tcPr>
                </a:tc>
              </a:tr>
              <a:tr h="370840">
                <a:tc>
                  <a:txBody>
                    <a:bodyPr/>
                    <a:p>
                      <a:pPr algn="ctr"/>
                      <a:r>
                        <a:rPr lang="en-US" altLang="zh-CN" sz="2800" dirty="0"/>
                        <a:t>201215121</a:t>
                      </a:r>
                      <a:endParaRPr lang="en-US" altLang="zh-CN" sz="2800" dirty="0"/>
                    </a:p>
                  </a:txBody>
                  <a:tcPr anchor="ctr"/>
                </a:tc>
              </a:tr>
              <a:tr h="370840">
                <a:tc>
                  <a:txBody>
                    <a:bodyPr/>
                    <a:p>
                      <a:pPr algn="ctr"/>
                      <a:r>
                        <a:rPr lang="en-US" altLang="zh-CN" sz="2800" dirty="0"/>
                        <a:t>201215122</a:t>
                      </a:r>
                      <a:endParaRPr lang="en-US" altLang="zh-CN" sz="2800" dirty="0"/>
                    </a:p>
                  </a:txBody>
                  <a:tcPr anchor="ctr"/>
                </a:tc>
              </a:tr>
            </a:tbl>
          </a:graphicData>
        </a:graphic>
      </p:graphicFrame>
      <p:sp>
        <p:nvSpPr>
          <p:cNvPr id="11" name="文本框 10"/>
          <p:cNvSpPr txBox="1"/>
          <p:nvPr/>
        </p:nvSpPr>
        <p:spPr>
          <a:xfrm>
            <a:off x="5266055" y="1456690"/>
            <a:ext cx="3454400" cy="953135"/>
          </a:xfrm>
          <a:prstGeom prst="rect">
            <a:avLst/>
          </a:prstGeom>
          <a:noFill/>
        </p:spPr>
        <p:txBody>
          <a:bodyPr wrap="square" rtlCol="0">
            <a:noAutofit/>
          </a:bodyPr>
          <a:p>
            <a:pPr marL="0" lvl="0" indent="0" algn="l">
              <a:lnSpc>
                <a:spcPct val="100000"/>
              </a:lnSpc>
              <a:spcBef>
                <a:spcPct val="0"/>
              </a:spcBef>
              <a:spcAft>
                <a:spcPts val="0"/>
              </a:spcAft>
              <a:buNone/>
            </a:pPr>
            <a:r>
              <a:rPr lang="en-US" altLang="zh-CN" sz="2800" b="1" dirty="0">
                <a:solidFill>
                  <a:srgbClr val="FF0000"/>
                </a:solidFill>
                <a:latin typeface="Calibri" panose="020F0502020204030204" charset="0"/>
                <a:cs typeface="Calibri" panose="020F0502020204030204" charset="0"/>
                <a:sym typeface="+mn-ea"/>
              </a:rPr>
              <a:t>SELECT  DISTINCT </a:t>
            </a:r>
            <a:r>
              <a:rPr lang="en-US" altLang="zh-CN" sz="2800" b="1" dirty="0" err="1">
                <a:solidFill>
                  <a:srgbClr val="FF0000"/>
                </a:solidFill>
                <a:latin typeface="Calibri" panose="020F0502020204030204" charset="0"/>
                <a:cs typeface="Calibri" panose="020F0502020204030204" charset="0"/>
                <a:sym typeface="+mn-ea"/>
              </a:rPr>
              <a:t>Sno</a:t>
            </a:r>
            <a:endParaRPr lang="en-US" altLang="zh-CN" sz="2800" b="1" dirty="0">
              <a:solidFill>
                <a:srgbClr val="FF0000"/>
              </a:solidFill>
              <a:latin typeface="Calibri" panose="020F0502020204030204" charset="0"/>
              <a:cs typeface="Calibri" panose="020F0502020204030204" charset="0"/>
            </a:endParaRPr>
          </a:p>
          <a:p>
            <a:pPr marL="0" lvl="0" indent="0" algn="l">
              <a:lnSpc>
                <a:spcPct val="100000"/>
              </a:lnSpc>
              <a:spcBef>
                <a:spcPct val="0"/>
              </a:spcBef>
              <a:spcAft>
                <a:spcPts val="0"/>
              </a:spcAft>
              <a:buNone/>
            </a:pPr>
            <a:r>
              <a:rPr lang="en-US" altLang="zh-CN" sz="2800" b="1" dirty="0">
                <a:solidFill>
                  <a:srgbClr val="FF0000"/>
                </a:solidFill>
                <a:latin typeface="Calibri" panose="020F0502020204030204" charset="0"/>
                <a:cs typeface="Calibri" panose="020F0502020204030204" charset="0"/>
                <a:sym typeface="+mn-ea"/>
              </a:rPr>
              <a:t>FROM  SC</a:t>
            </a:r>
            <a:r>
              <a:rPr lang="zh-CN" altLang="en-US" sz="2800" b="1" dirty="0">
                <a:solidFill>
                  <a:srgbClr val="FF0000"/>
                </a:solidFill>
                <a:latin typeface="Calibri" panose="020F0502020204030204" charset="0"/>
                <a:cs typeface="Calibri" panose="020F0502020204030204" charset="0"/>
                <a:sym typeface="+mn-ea"/>
              </a:rPr>
              <a:t>;</a:t>
            </a:r>
            <a:endParaRPr lang="zh-CN" altLang="en-US" sz="2800" b="1" dirty="0">
              <a:solidFill>
                <a:srgbClr val="FF0000"/>
              </a:solidFill>
              <a:latin typeface="Calibri" panose="020F0502020204030204" charset="0"/>
              <a:cs typeface="Calibri" panose="020F0502020204030204" charset="0"/>
              <a:sym typeface="+mn-ea"/>
            </a:endParaRPr>
          </a:p>
        </p:txBody>
      </p:sp>
      <p:sp>
        <p:nvSpPr>
          <p:cNvPr id="12" name="文本框 11"/>
          <p:cNvSpPr txBox="1"/>
          <p:nvPr/>
        </p:nvSpPr>
        <p:spPr>
          <a:xfrm>
            <a:off x="9400540" y="1456690"/>
            <a:ext cx="2366645" cy="953135"/>
          </a:xfrm>
          <a:prstGeom prst="rect">
            <a:avLst/>
          </a:prstGeom>
          <a:noFill/>
        </p:spPr>
        <p:txBody>
          <a:bodyPr wrap="square" rtlCol="0">
            <a:noAutofit/>
          </a:bodyPr>
          <a:p>
            <a:pPr marL="0" lvl="0" indent="0" algn="l">
              <a:lnSpc>
                <a:spcPct val="100000"/>
              </a:lnSpc>
              <a:spcBef>
                <a:spcPct val="0"/>
              </a:spcBef>
              <a:spcAft>
                <a:spcPts val="0"/>
              </a:spcAft>
              <a:buNone/>
            </a:pPr>
            <a:r>
              <a:rPr lang="en-US" altLang="zh-CN" sz="2800" b="1" dirty="0">
                <a:solidFill>
                  <a:srgbClr val="FF0000"/>
                </a:solidFill>
                <a:latin typeface="Calibri" panose="020F0502020204030204" charset="0"/>
                <a:cs typeface="Calibri" panose="020F0502020204030204" charset="0"/>
                <a:sym typeface="+mn-ea"/>
              </a:rPr>
              <a:t>SELECT  </a:t>
            </a:r>
            <a:r>
              <a:rPr lang="en-US" altLang="zh-CN" sz="2800" b="1" dirty="0" err="1">
                <a:solidFill>
                  <a:srgbClr val="FF0000"/>
                </a:solidFill>
                <a:latin typeface="Calibri" panose="020F0502020204030204" charset="0"/>
                <a:cs typeface="Calibri" panose="020F0502020204030204" charset="0"/>
                <a:sym typeface="+mn-ea"/>
              </a:rPr>
              <a:t>Sno</a:t>
            </a:r>
            <a:endParaRPr lang="en-US" altLang="zh-CN" sz="2800" b="1" dirty="0">
              <a:solidFill>
                <a:srgbClr val="FF0000"/>
              </a:solidFill>
              <a:latin typeface="Calibri" panose="020F0502020204030204" charset="0"/>
              <a:cs typeface="Calibri" panose="020F0502020204030204" charset="0"/>
            </a:endParaRPr>
          </a:p>
          <a:p>
            <a:pPr marL="0" lvl="0" indent="0" algn="l">
              <a:lnSpc>
                <a:spcPct val="100000"/>
              </a:lnSpc>
              <a:spcBef>
                <a:spcPct val="0"/>
              </a:spcBef>
              <a:spcAft>
                <a:spcPts val="0"/>
              </a:spcAft>
              <a:buNone/>
            </a:pPr>
            <a:r>
              <a:rPr lang="en-US" altLang="zh-CN" sz="2800" b="1" dirty="0">
                <a:solidFill>
                  <a:srgbClr val="FF0000"/>
                </a:solidFill>
                <a:latin typeface="Calibri" panose="020F0502020204030204" charset="0"/>
                <a:cs typeface="Calibri" panose="020F0502020204030204" charset="0"/>
                <a:sym typeface="+mn-ea"/>
              </a:rPr>
              <a:t>FROM  SC</a:t>
            </a:r>
            <a:r>
              <a:rPr lang="zh-CN" altLang="en-US" sz="2800" b="1" dirty="0">
                <a:solidFill>
                  <a:srgbClr val="FF0000"/>
                </a:solidFill>
                <a:latin typeface="Calibri" panose="020F0502020204030204" charset="0"/>
                <a:cs typeface="Calibri" panose="020F0502020204030204" charset="0"/>
                <a:sym typeface="+mn-ea"/>
              </a:rPr>
              <a:t>;</a:t>
            </a:r>
            <a:endParaRPr lang="zh-CN" altLang="en-US" sz="2800" b="1" dirty="0">
              <a:solidFill>
                <a:srgbClr val="FF0000"/>
              </a:solidFill>
              <a:latin typeface="Calibri" panose="020F0502020204030204" charset="0"/>
              <a:cs typeface="Calibri" panose="020F0502020204030204" charset="0"/>
              <a:sym typeface="+mn-ea"/>
            </a:endParaRPr>
          </a:p>
        </p:txBody>
      </p:sp>
      <p:graphicFrame>
        <p:nvGraphicFramePr>
          <p:cNvPr id="13" name="表格 4"/>
          <p:cNvGraphicFramePr>
            <a:graphicFrameLocks noGrp="1"/>
          </p:cNvGraphicFramePr>
          <p:nvPr/>
        </p:nvGraphicFramePr>
        <p:xfrm>
          <a:off x="9400535" y="2699628"/>
          <a:ext cx="2366010" cy="2225040"/>
        </p:xfrm>
        <a:graphic>
          <a:graphicData uri="http://schemas.openxmlformats.org/drawingml/2006/table">
            <a:tbl>
              <a:tblPr firstRow="1" bandRow="1">
                <a:tableStyleId>{5C22544A-7EE6-4342-B048-85BDC9FD1C3A}</a:tableStyleId>
              </a:tblPr>
              <a:tblGrid>
                <a:gridCol w="2366010"/>
              </a:tblGrid>
              <a:tr h="370840">
                <a:tc>
                  <a:txBody>
                    <a:bodyPr/>
                    <a:p>
                      <a:pPr algn="ctr"/>
                      <a:r>
                        <a:rPr lang="en-US" altLang="zh-CN" sz="2800" dirty="0" err="1">
                          <a:solidFill>
                            <a:srgbClr val="C00000"/>
                          </a:solidFill>
                        </a:rPr>
                        <a:t>Sno</a:t>
                      </a:r>
                      <a:endParaRPr lang="en-US" altLang="zh-CN" sz="2800" dirty="0" err="1">
                        <a:solidFill>
                          <a:srgbClr val="C00000"/>
                        </a:solidFill>
                      </a:endParaRPr>
                    </a:p>
                  </a:txBody>
                  <a:tcPr anchor="ctr">
                    <a:solidFill>
                      <a:schemeClr val="accent3">
                        <a:lumMod val="20000"/>
                        <a:lumOff val="80000"/>
                      </a:schemeClr>
                    </a:solidFill>
                  </a:tcPr>
                </a:tc>
              </a:tr>
              <a:tr h="370840">
                <a:tc>
                  <a:txBody>
                    <a:bodyPr/>
                    <a:p>
                      <a:pPr algn="ctr"/>
                      <a:r>
                        <a:rPr lang="en-US" altLang="zh-CN" sz="2800" dirty="0"/>
                        <a:t>201215121</a:t>
                      </a:r>
                      <a:endParaRPr lang="en-US" altLang="zh-CN" sz="2800" dirty="0"/>
                    </a:p>
                  </a:txBody>
                  <a:tcPr anchor="ctr"/>
                </a:tc>
              </a:tr>
              <a:tr h="370840">
                <a:tc>
                  <a:txBody>
                    <a:bodyPr/>
                    <a:p>
                      <a:pPr algn="ctr"/>
                      <a:r>
                        <a:rPr lang="en-US" altLang="zh-CN" sz="2800" dirty="0"/>
                        <a:t>201215121</a:t>
                      </a:r>
                      <a:endParaRPr lang="en-US" altLang="zh-CN" sz="2800" dirty="0"/>
                    </a:p>
                  </a:txBody>
                  <a:tcPr anchor="ctr"/>
                </a:tc>
              </a:tr>
              <a:tr h="370840">
                <a:tc>
                  <a:txBody>
                    <a:bodyPr/>
                    <a:p>
                      <a:pPr algn="ctr"/>
                      <a:r>
                        <a:rPr lang="en-US" altLang="zh-CN" sz="2800" dirty="0"/>
                        <a:t>201215121</a:t>
                      </a:r>
                      <a:endParaRPr lang="en-US" altLang="zh-CN" sz="2800" dirty="0"/>
                    </a:p>
                  </a:txBody>
                  <a:tcPr anchor="ctr"/>
                </a:tc>
              </a:tr>
              <a:tr h="370840">
                <a:tc>
                  <a:txBody>
                    <a:bodyPr/>
                    <a:p>
                      <a:pPr algn="ctr"/>
                      <a:r>
                        <a:rPr lang="en-US" altLang="zh-CN" sz="2800" dirty="0"/>
                        <a:t>201215122</a:t>
                      </a:r>
                      <a:endParaRPr lang="en-US" altLang="zh-CN" sz="2800" dirty="0"/>
                    </a:p>
                  </a:txBody>
                  <a:tcPr anchor="ctr"/>
                </a:tc>
              </a:tr>
              <a:tr h="370840">
                <a:tc>
                  <a:txBody>
                    <a:bodyPr/>
                    <a:p>
                      <a:pPr algn="ctr"/>
                      <a:r>
                        <a:rPr lang="en-US" altLang="zh-CN" sz="2800" dirty="0"/>
                        <a:t>201215122</a:t>
                      </a:r>
                      <a:endParaRPr lang="en-US" altLang="zh-CN" sz="2800" dirty="0"/>
                    </a:p>
                  </a:txBody>
                  <a:tcPr anchor="ctr"/>
                </a:tc>
              </a:tr>
            </a:tbl>
          </a:graphicData>
        </a:graphic>
      </p:graphicFrame>
      <p:sp>
        <p:nvSpPr>
          <p:cNvPr id="75778" name="Rectangle 3"/>
          <p:cNvSpPr>
            <a:spLocks noGrp="1" noChangeArrowheads="1"/>
          </p:cNvSpPr>
          <p:nvPr>
            <p:ph idx="1"/>
          </p:nvPr>
        </p:nvSpPr>
        <p:spPr>
          <a:xfrm>
            <a:off x="424180" y="687070"/>
            <a:ext cx="11343005" cy="598805"/>
          </a:xfrm>
        </p:spPr>
        <p:txBody>
          <a:bodyPr>
            <a:noAutofit/>
          </a:bodyPr>
          <a:p>
            <a:r>
              <a:rPr lang="en-US" altLang="zh-CN" dirty="0"/>
              <a:t>[</a:t>
            </a:r>
            <a:r>
              <a:rPr lang="zh-CN" altLang="en-US" dirty="0"/>
              <a:t>例</a:t>
            </a:r>
            <a:r>
              <a:rPr lang="en-US" altLang="zh-CN" dirty="0"/>
              <a:t>3.21]  </a:t>
            </a:r>
            <a:r>
              <a:rPr lang="zh-CN" altLang="en-US" dirty="0"/>
              <a:t>查询选修了课程的学生学号。</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1+#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dirty="0"/>
              <a:t>查询满足条件的元组</a:t>
            </a:r>
            <a:endParaRPr lang="zh-CN" altLang="en-US" dirty="0"/>
          </a:p>
        </p:txBody>
      </p:sp>
      <p:graphicFrame>
        <p:nvGraphicFramePr>
          <p:cNvPr id="75781" name="Group 5"/>
          <p:cNvGraphicFramePr>
            <a:graphicFrameLocks noGrp="1"/>
          </p:cNvGraphicFramePr>
          <p:nvPr>
            <p:ph idx="1"/>
            <p:custDataLst>
              <p:tags r:id="rId1"/>
            </p:custDataLst>
          </p:nvPr>
        </p:nvGraphicFramePr>
        <p:xfrm>
          <a:off x="424180" y="687070"/>
          <a:ext cx="11343005" cy="5258435"/>
        </p:xfrm>
        <a:graphic>
          <a:graphicData uri="http://schemas.openxmlformats.org/drawingml/2006/table">
            <a:tbl>
              <a:tblPr/>
              <a:tblGrid>
                <a:gridCol w="4059555"/>
                <a:gridCol w="7283450"/>
              </a:tblGrid>
              <a:tr h="75120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dirty="0">
                          <a:ln>
                            <a:noFill/>
                          </a:ln>
                          <a:solidFill>
                            <a:srgbClr val="C00000"/>
                          </a:solidFill>
                          <a:effectLst/>
                          <a:latin typeface="楷体" charset="-122"/>
                          <a:ea typeface="楷体" charset="-122"/>
                          <a:cs typeface="楷体" charset="-122"/>
                        </a:rPr>
                        <a:t>查 询 条 件</a:t>
                      </a:r>
                      <a:endParaRPr kumimoji="0" lang="zh-CN" altLang="en-US" sz="2800" b="1" i="0" u="none" strike="noStrike" cap="none" normalizeH="0" baseline="0" dirty="0">
                        <a:ln>
                          <a:noFill/>
                        </a:ln>
                        <a:solidFill>
                          <a:srgbClr val="C00000"/>
                        </a:solidFill>
                        <a:effectLst/>
                        <a:latin typeface="楷体" charset="-122"/>
                        <a:ea typeface="楷体" charset="-122"/>
                        <a:cs typeface="楷体"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dirty="0">
                          <a:ln>
                            <a:noFill/>
                          </a:ln>
                          <a:solidFill>
                            <a:srgbClr val="C00000"/>
                          </a:solidFill>
                          <a:effectLst/>
                          <a:latin typeface="楷体" charset="-122"/>
                          <a:ea typeface="楷体" charset="-122"/>
                          <a:cs typeface="楷体" charset="-122"/>
                        </a:rPr>
                        <a:t>谓    词</a:t>
                      </a:r>
                      <a:endParaRPr kumimoji="0" lang="zh-CN" altLang="en-US" sz="2800" b="1" i="0" u="none" strike="noStrike" cap="none" normalizeH="0" baseline="0" dirty="0">
                        <a:ln>
                          <a:noFill/>
                        </a:ln>
                        <a:solidFill>
                          <a:srgbClr val="C00000"/>
                        </a:solidFill>
                        <a:effectLst/>
                        <a:latin typeface="楷体" charset="-122"/>
                        <a:ea typeface="楷体" charset="-122"/>
                        <a:cs typeface="楷体"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r>
              <a:tr h="75120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a:ln>
                            <a:noFill/>
                          </a:ln>
                          <a:solidFill>
                            <a:schemeClr val="tx1"/>
                          </a:solidFill>
                          <a:effectLst/>
                          <a:latin typeface="Calibri" panose="020F0502020204030204" charset="0"/>
                          <a:ea typeface="楷体" charset="-122"/>
                          <a:cs typeface="楷体" charset="-122"/>
                        </a:rPr>
                        <a:t>①</a:t>
                      </a:r>
                      <a:r>
                        <a:rPr kumimoji="0" lang="en-US" altLang="zh-CN" sz="2800" b="1" i="0" u="none" strike="noStrike" cap="none" normalizeH="0" baseline="0">
                          <a:ln>
                            <a:noFill/>
                          </a:ln>
                          <a:solidFill>
                            <a:schemeClr val="tx1"/>
                          </a:solidFill>
                          <a:effectLst/>
                          <a:latin typeface="Calibri" panose="020F0502020204030204" charset="0"/>
                          <a:ea typeface="楷体" charset="-122"/>
                          <a:cs typeface="楷体" charset="-122"/>
                        </a:rPr>
                        <a:t> </a:t>
                      </a:r>
                      <a:r>
                        <a:rPr kumimoji="0" lang="zh-CN" altLang="en-US" sz="2800" b="1" i="0" u="none" strike="noStrike" cap="none" normalizeH="0" baseline="0">
                          <a:ln>
                            <a:noFill/>
                          </a:ln>
                          <a:solidFill>
                            <a:schemeClr val="tx1"/>
                          </a:solidFill>
                          <a:effectLst/>
                          <a:latin typeface="楷体" charset="-122"/>
                          <a:ea typeface="楷体" charset="-122"/>
                          <a:cs typeface="楷体" charset="-122"/>
                        </a:rPr>
                        <a:t>比较</a:t>
                      </a:r>
                      <a:endParaRPr kumimoji="0" lang="zh-CN" altLang="en-US" sz="2800" b="1" i="0" u="none" strike="noStrike" cap="none" normalizeH="0" baseline="0">
                        <a:ln>
                          <a:noFill/>
                        </a:ln>
                        <a:solidFill>
                          <a:schemeClr val="tx1"/>
                        </a:solidFill>
                        <a:effectLst/>
                        <a:latin typeface="楷体" charset="-122"/>
                        <a:ea typeface="楷体" charset="-122"/>
                        <a:cs typeface="楷体"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a:t>
                      </a:r>
                      <a:r>
                        <a:rPr kumimoji="0" lang="zh-CN" alt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&gt;</a:t>
                      </a:r>
                      <a:r>
                        <a:rPr kumimoji="0" lang="zh-CN" altLang="en-US" sz="2800" b="1" i="0" u="none" strike="noStrike" cap="none" normalizeH="0" baseline="0" dirty="0">
                          <a:ln>
                            <a:noFill/>
                          </a:ln>
                          <a:solidFill>
                            <a:schemeClr val="tx1"/>
                          </a:solidFill>
                          <a:effectLst/>
                          <a:latin typeface="+mn-lt"/>
                          <a:ea typeface="宋体" pitchFamily="2" charset="-122"/>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&lt;</a:t>
                      </a:r>
                      <a:r>
                        <a:rPr kumimoji="0" lang="zh-CN" alt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&gt;=</a:t>
                      </a:r>
                      <a:r>
                        <a:rPr kumimoji="0" lang="zh-CN" alt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&lt;=</a:t>
                      </a:r>
                      <a:r>
                        <a:rPr kumimoji="0" lang="zh-CN" alt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a:t>
                      </a:r>
                      <a:r>
                        <a:rPr kumimoji="0" lang="zh-CN" alt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&lt;&gt;</a:t>
                      </a:r>
                      <a:r>
                        <a:rPr kumimoji="0" lang="zh-CN" altLang="en-US" sz="2800" b="1" i="0" u="none" strike="noStrike" cap="none" normalizeH="0" baseline="0" dirty="0">
                          <a:ln>
                            <a:noFill/>
                          </a:ln>
                          <a:solidFill>
                            <a:schemeClr val="tx1"/>
                          </a:solidFill>
                          <a:effectLst/>
                          <a:latin typeface="+mn-lt"/>
                          <a:ea typeface="宋体" pitchFamily="2" charset="-122"/>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!&gt;</a:t>
                      </a:r>
                      <a:r>
                        <a:rPr kumimoji="0" lang="zh-CN" alt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!&lt;</a:t>
                      </a:r>
                      <a:endParaRPr kumimoji="0" lang="en-US" alt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r>
              <a:tr h="75120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a:ln>
                            <a:noFill/>
                          </a:ln>
                          <a:solidFill>
                            <a:schemeClr val="tx1"/>
                          </a:solidFill>
                          <a:effectLst/>
                          <a:latin typeface="Calibri" panose="020F0502020204030204" charset="0"/>
                          <a:ea typeface="楷体" charset="-122"/>
                          <a:cs typeface="Times New Roman" panose="02020503050405090304" pitchFamily="2" charset="0"/>
                        </a:rPr>
                        <a:t>②</a:t>
                      </a:r>
                      <a:r>
                        <a:rPr kumimoji="0" lang="en-US" altLang="zh-CN" sz="2800" b="1" i="0" u="none" strike="noStrike" cap="none" normalizeH="0" baseline="0">
                          <a:ln>
                            <a:noFill/>
                          </a:ln>
                          <a:solidFill>
                            <a:schemeClr val="tx1"/>
                          </a:solidFill>
                          <a:effectLst/>
                          <a:latin typeface="Calibri" panose="020F0502020204030204" charset="0"/>
                          <a:ea typeface="楷体" charset="-122"/>
                          <a:cs typeface="Times New Roman" panose="02020503050405090304" pitchFamily="2" charset="0"/>
                        </a:rPr>
                        <a:t> </a:t>
                      </a:r>
                      <a:r>
                        <a:rPr kumimoji="0" lang="zh-CN" altLang="en-US" sz="2800" b="1" i="0" u="none" strike="noStrike" cap="none" normalizeH="0" baseline="0">
                          <a:ln>
                            <a:noFill/>
                          </a:ln>
                          <a:solidFill>
                            <a:schemeClr val="tx1"/>
                          </a:solidFill>
                          <a:effectLst/>
                          <a:latin typeface="楷体" charset="-122"/>
                          <a:ea typeface="楷体" charset="-122"/>
                          <a:cs typeface="Times New Roman" panose="02020503050405090304" pitchFamily="2" charset="0"/>
                        </a:rPr>
                        <a:t>确定范围</a:t>
                      </a:r>
                      <a:endParaRPr kumimoji="0" lang="zh-CN" altLang="en-US" sz="2800" b="1" i="0" u="none" strike="noStrike" cap="none" normalizeH="0" baseline="0">
                        <a:ln>
                          <a:noFill/>
                        </a:ln>
                        <a:solidFill>
                          <a:schemeClr val="tx1"/>
                        </a:solidFill>
                        <a:effectLst/>
                        <a:latin typeface="楷体" charset="-122"/>
                        <a:ea typeface="楷体" charset="-122"/>
                        <a:cs typeface="Times New Roman" panose="02020503050405090304" pitchFamily="2" charset="0"/>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a:ln>
                            <a:noFill/>
                          </a:ln>
                          <a:solidFill>
                            <a:schemeClr val="tx1"/>
                          </a:solidFill>
                          <a:effectLst/>
                          <a:latin typeface="+mn-lt"/>
                          <a:ea typeface="宋体" pitchFamily="2" charset="-122"/>
                          <a:cs typeface="Times New Roman" panose="02020503050405090304" pitchFamily="2" charset="0"/>
                        </a:rPr>
                        <a:t>BETWEEN ... AND ... </a:t>
                      </a:r>
                      <a:r>
                        <a:rPr kumimoji="0" lang="zh-CN" altLang="en-US" sz="2800" b="1" i="0" u="none" strike="noStrike" cap="none" normalizeH="0" baseline="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a:ln>
                            <a:noFill/>
                          </a:ln>
                          <a:solidFill>
                            <a:schemeClr val="tx1"/>
                          </a:solidFill>
                          <a:effectLst/>
                          <a:latin typeface="+mn-lt"/>
                          <a:ea typeface="宋体" pitchFamily="2" charset="-122"/>
                          <a:cs typeface="Times New Roman" panose="02020503050405090304" pitchFamily="2" charset="0"/>
                        </a:rPr>
                        <a:t>NOT BETWEEN ... AND ...</a:t>
                      </a:r>
                      <a:endParaRPr kumimoji="0" lang="en-US" sz="2800" b="1" i="0" u="none" strike="noStrike" cap="none" normalizeH="0" baseline="0">
                        <a:ln>
                          <a:noFill/>
                        </a:ln>
                        <a:solidFill>
                          <a:schemeClr val="tx1"/>
                        </a:solidFill>
                        <a:effectLst/>
                        <a:latin typeface="+mn-lt"/>
                        <a:ea typeface="宋体" pitchFamily="2" charset="-122"/>
                        <a:cs typeface="Times New Roman" panose="02020503050405090304" pitchFamily="2" charset="0"/>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r>
              <a:tr h="75120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a:ln>
                            <a:noFill/>
                          </a:ln>
                          <a:solidFill>
                            <a:schemeClr val="tx1"/>
                          </a:solidFill>
                          <a:effectLst/>
                          <a:latin typeface="Calibri" panose="020F0502020204030204" charset="0"/>
                          <a:ea typeface="楷体" charset="-122"/>
                          <a:cs typeface="Times New Roman" panose="02020503050405090304" pitchFamily="2" charset="0"/>
                        </a:rPr>
                        <a:t>③</a:t>
                      </a:r>
                      <a:r>
                        <a:rPr kumimoji="0" lang="en-US" altLang="zh-CN" sz="2800" b="1" i="0" u="none" strike="noStrike" cap="none" normalizeH="0" baseline="0">
                          <a:ln>
                            <a:noFill/>
                          </a:ln>
                          <a:solidFill>
                            <a:schemeClr val="tx1"/>
                          </a:solidFill>
                          <a:effectLst/>
                          <a:latin typeface="Calibri" panose="020F0502020204030204" charset="0"/>
                          <a:ea typeface="楷体" charset="-122"/>
                          <a:cs typeface="Times New Roman" panose="02020503050405090304" pitchFamily="2" charset="0"/>
                        </a:rPr>
                        <a:t> </a:t>
                      </a:r>
                      <a:r>
                        <a:rPr kumimoji="0" lang="zh-CN" altLang="en-US" sz="2800" b="1" i="0" u="none" strike="noStrike" cap="none" normalizeH="0" baseline="0">
                          <a:ln>
                            <a:noFill/>
                          </a:ln>
                          <a:solidFill>
                            <a:schemeClr val="tx1"/>
                          </a:solidFill>
                          <a:effectLst/>
                          <a:latin typeface="楷体" charset="-122"/>
                          <a:ea typeface="楷体" charset="-122"/>
                          <a:cs typeface="Times New Roman" panose="02020503050405090304" pitchFamily="2" charset="0"/>
                        </a:rPr>
                        <a:t>确定集合</a:t>
                      </a:r>
                      <a:endParaRPr kumimoji="0" lang="zh-CN" altLang="en-US" sz="2800" b="1" i="0" u="none" strike="noStrike" cap="none" normalizeH="0" baseline="0">
                        <a:ln>
                          <a:noFill/>
                        </a:ln>
                        <a:solidFill>
                          <a:schemeClr val="tx1"/>
                        </a:solidFill>
                        <a:effectLst/>
                        <a:latin typeface="楷体" charset="-122"/>
                        <a:ea typeface="楷体" charset="-122"/>
                        <a:cs typeface="Times New Roman" panose="02020503050405090304" pitchFamily="2" charset="0"/>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IN</a:t>
                      </a:r>
                      <a:r>
                        <a:rPr kumimoji="0" lang="zh-CN" alt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NOT IN</a:t>
                      </a:r>
                      <a:endPar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r>
              <a:tr h="75120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a:ln>
                            <a:noFill/>
                          </a:ln>
                          <a:solidFill>
                            <a:schemeClr val="tx1"/>
                          </a:solidFill>
                          <a:effectLst/>
                          <a:latin typeface="微软雅黑" charset="-122"/>
                          <a:ea typeface="微软雅黑" charset="-122"/>
                          <a:cs typeface="Times New Roman" panose="02020503050405090304" pitchFamily="2" charset="0"/>
                        </a:rPr>
                        <a:t>④</a:t>
                      </a:r>
                      <a:r>
                        <a:rPr kumimoji="0" lang="en-US" altLang="zh-CN" sz="2800" b="1" i="0" u="none" strike="noStrike" cap="none" normalizeH="0" baseline="0">
                          <a:ln>
                            <a:noFill/>
                          </a:ln>
                          <a:solidFill>
                            <a:schemeClr val="tx1"/>
                          </a:solidFill>
                          <a:effectLst/>
                          <a:latin typeface="微软雅黑" charset="-122"/>
                          <a:ea typeface="微软雅黑" charset="-122"/>
                          <a:cs typeface="Times New Roman" panose="02020503050405090304" pitchFamily="2" charset="0"/>
                        </a:rPr>
                        <a:t> </a:t>
                      </a:r>
                      <a:r>
                        <a:rPr kumimoji="0" lang="zh-CN" altLang="en-US" sz="2800" b="1" i="0" u="none" strike="noStrike" cap="none" normalizeH="0" baseline="0">
                          <a:ln>
                            <a:noFill/>
                          </a:ln>
                          <a:solidFill>
                            <a:schemeClr val="tx1"/>
                          </a:solidFill>
                          <a:effectLst/>
                          <a:latin typeface="楷体" charset="-122"/>
                          <a:ea typeface="楷体" charset="-122"/>
                          <a:cs typeface="Times New Roman" panose="02020503050405090304" pitchFamily="2" charset="0"/>
                        </a:rPr>
                        <a:t>字符匹配</a:t>
                      </a:r>
                      <a:endParaRPr kumimoji="0" lang="zh-CN" altLang="en-US" sz="2800" b="1" i="0" u="none" strike="noStrike" cap="none" normalizeH="0" baseline="0">
                        <a:ln>
                          <a:noFill/>
                        </a:ln>
                        <a:solidFill>
                          <a:schemeClr val="tx1"/>
                        </a:solidFill>
                        <a:effectLst/>
                        <a:latin typeface="楷体" charset="-122"/>
                        <a:ea typeface="楷体" charset="-122"/>
                        <a:cs typeface="Times New Roman" panose="02020503050405090304" pitchFamily="2" charset="0"/>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LIKE</a:t>
                      </a:r>
                      <a:r>
                        <a:rPr kumimoji="0" lang="zh-CN" alt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rPr>
                        <a:t>NOT LIKE</a:t>
                      </a:r>
                      <a:endParaRPr kumimoji="0" lang="en-US" sz="2800" b="1" i="0" u="none" strike="noStrike" cap="none" normalizeH="0" baseline="0" dirty="0">
                        <a:ln>
                          <a:noFill/>
                        </a:ln>
                        <a:solidFill>
                          <a:schemeClr val="tx1"/>
                        </a:solidFill>
                        <a:effectLst/>
                        <a:latin typeface="+mn-lt"/>
                        <a:ea typeface="宋体" pitchFamily="2" charset="-122"/>
                        <a:cs typeface="Times New Roman" panose="02020503050405090304" pitchFamily="2" charset="0"/>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r>
              <a:tr h="75120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a:ln>
                            <a:noFill/>
                          </a:ln>
                          <a:solidFill>
                            <a:schemeClr val="tx1"/>
                          </a:solidFill>
                          <a:effectLst/>
                          <a:latin typeface="微软雅黑" charset="-122"/>
                          <a:ea typeface="微软雅黑" charset="-122"/>
                          <a:cs typeface="楷体" charset="-122"/>
                        </a:rPr>
                        <a:t>⑤</a:t>
                      </a:r>
                      <a:r>
                        <a:rPr kumimoji="0" lang="en-US" altLang="zh-CN" sz="2800" b="1" i="0" u="none" strike="noStrike" cap="none" normalizeH="0" baseline="0">
                          <a:ln>
                            <a:noFill/>
                          </a:ln>
                          <a:solidFill>
                            <a:schemeClr val="tx1"/>
                          </a:solidFill>
                          <a:effectLst/>
                          <a:latin typeface="微软雅黑" charset="-122"/>
                          <a:ea typeface="微软雅黑" charset="-122"/>
                          <a:cs typeface="楷体" charset="-122"/>
                        </a:rPr>
                        <a:t> </a:t>
                      </a:r>
                      <a:r>
                        <a:rPr kumimoji="0" lang="zh-CN" altLang="en-US" sz="2800" b="1" i="0" u="none" strike="noStrike" cap="none" normalizeH="0" baseline="0">
                          <a:ln>
                            <a:noFill/>
                          </a:ln>
                          <a:solidFill>
                            <a:schemeClr val="tx1"/>
                          </a:solidFill>
                          <a:effectLst/>
                          <a:latin typeface="楷体" charset="-122"/>
                          <a:ea typeface="楷体" charset="-122"/>
                          <a:cs typeface="楷体" charset="-122"/>
                        </a:rPr>
                        <a:t>空值</a:t>
                      </a:r>
                      <a:endParaRPr kumimoji="0" lang="zh-CN" altLang="en-US" sz="2800" b="1" i="0" u="none" strike="noStrike" cap="none" normalizeH="0" baseline="0">
                        <a:ln>
                          <a:noFill/>
                        </a:ln>
                        <a:solidFill>
                          <a:schemeClr val="tx1"/>
                        </a:solidFill>
                        <a:effectLst/>
                        <a:latin typeface="楷体" charset="-122"/>
                        <a:ea typeface="楷体" charset="-122"/>
                        <a:cs typeface="楷体"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a:ln>
                            <a:noFill/>
                          </a:ln>
                          <a:solidFill>
                            <a:schemeClr val="tx1"/>
                          </a:solidFill>
                          <a:effectLst/>
                          <a:latin typeface="+mn-lt"/>
                          <a:ea typeface="宋体" pitchFamily="2" charset="-122"/>
                          <a:cs typeface="Times New Roman" panose="02020503050405090304" pitchFamily="2" charset="0"/>
                        </a:rPr>
                        <a:t>IS NULL</a:t>
                      </a:r>
                      <a:r>
                        <a:rPr kumimoji="0" lang="zh-CN" altLang="en-US" sz="2800" b="1" i="0" u="none" strike="noStrike" cap="none" normalizeH="0" baseline="0">
                          <a:ln>
                            <a:noFill/>
                          </a:ln>
                          <a:solidFill>
                            <a:schemeClr val="tx1"/>
                          </a:solidFill>
                          <a:effectLst/>
                          <a:latin typeface="+mn-lt"/>
                          <a:ea typeface="宋体" pitchFamily="2" charset="-122"/>
                          <a:cs typeface="Times New Roman" panose="02020503050405090304" pitchFamily="2" charset="0"/>
                        </a:rPr>
                        <a:t>, </a:t>
                      </a:r>
                      <a:r>
                        <a:rPr kumimoji="0" lang="en-US" sz="2800" b="1" i="0" u="none" strike="noStrike" cap="none" normalizeH="0" baseline="0">
                          <a:ln>
                            <a:noFill/>
                          </a:ln>
                          <a:solidFill>
                            <a:schemeClr val="tx1"/>
                          </a:solidFill>
                          <a:effectLst/>
                          <a:latin typeface="+mn-lt"/>
                          <a:ea typeface="宋体" pitchFamily="2" charset="-122"/>
                          <a:cs typeface="Times New Roman" panose="02020503050405090304" pitchFamily="2" charset="0"/>
                        </a:rPr>
                        <a:t>IS NOT NULL</a:t>
                      </a:r>
                      <a:endParaRPr kumimoji="0" lang="en-US" sz="2800" b="1" i="0" u="none" strike="noStrike" cap="none" normalizeH="0" baseline="0">
                        <a:ln>
                          <a:noFill/>
                        </a:ln>
                        <a:solidFill>
                          <a:schemeClr val="tx1"/>
                        </a:solidFill>
                        <a:effectLst/>
                        <a:latin typeface="+mn-lt"/>
                        <a:ea typeface="宋体" pitchFamily="2" charset="-122"/>
                        <a:cs typeface="Times New Roman" panose="02020503050405090304" pitchFamily="2" charset="0"/>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r>
              <a:tr h="75120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dirty="0">
                          <a:ln>
                            <a:noFill/>
                          </a:ln>
                          <a:solidFill>
                            <a:schemeClr val="tx1"/>
                          </a:solidFill>
                          <a:effectLst/>
                          <a:latin typeface="微软雅黑" charset="-122"/>
                          <a:ea typeface="微软雅黑" charset="-122"/>
                        </a:rPr>
                        <a:t>⑥</a:t>
                      </a:r>
                      <a:r>
                        <a:rPr kumimoji="0" lang="en-US" altLang="zh-CN" sz="2800" b="1" i="0" u="none" strike="noStrike" cap="none" normalizeH="0" baseline="0" dirty="0">
                          <a:ln>
                            <a:noFill/>
                          </a:ln>
                          <a:solidFill>
                            <a:schemeClr val="tx1"/>
                          </a:solidFill>
                          <a:effectLst/>
                          <a:latin typeface="微软雅黑" charset="-122"/>
                          <a:ea typeface="微软雅黑" charset="-122"/>
                        </a:rPr>
                        <a:t> </a:t>
                      </a:r>
                      <a:r>
                        <a:rPr kumimoji="0" lang="zh-CN" altLang="en-US" sz="2800" b="1" i="0" u="none" strike="noStrike" cap="none" normalizeH="0" baseline="0" dirty="0">
                          <a:ln>
                            <a:noFill/>
                          </a:ln>
                          <a:solidFill>
                            <a:schemeClr val="tx1"/>
                          </a:solidFill>
                          <a:effectLst/>
                          <a:latin typeface="楷体" charset="-122"/>
                          <a:ea typeface="楷体" charset="-122"/>
                        </a:rPr>
                        <a:t>多重条件（逻辑运算）</a:t>
                      </a:r>
                      <a:endParaRPr kumimoji="0" lang="zh-CN" altLang="en-US" sz="2800" b="1" i="0" u="none" strike="noStrike" cap="none" normalizeH="0" baseline="0" dirty="0">
                        <a:ln>
                          <a:noFill/>
                        </a:ln>
                        <a:solidFill>
                          <a:schemeClr val="tx1"/>
                        </a:solidFill>
                        <a:effectLst/>
                        <a:latin typeface="楷体" charset="-122"/>
                        <a:ea typeface="楷体"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chemeClr val="tx1"/>
                          </a:solidFill>
                          <a:effectLst/>
                          <a:latin typeface="+mn-lt"/>
                          <a:ea typeface="宋体" pitchFamily="2" charset="-122"/>
                        </a:rPr>
                        <a:t>AND</a:t>
                      </a:r>
                      <a:r>
                        <a:rPr kumimoji="0" lang="zh-CN" altLang="en-US" sz="2800" b="1" i="0" u="none" strike="noStrike" cap="none" normalizeH="0" baseline="0" dirty="0">
                          <a:ln>
                            <a:noFill/>
                          </a:ln>
                          <a:solidFill>
                            <a:schemeClr val="tx1"/>
                          </a:solidFill>
                          <a:effectLst/>
                          <a:latin typeface="+mn-lt"/>
                          <a:ea typeface="宋体" pitchFamily="2" charset="-122"/>
                        </a:rPr>
                        <a:t>, </a:t>
                      </a:r>
                      <a:r>
                        <a:rPr kumimoji="0" lang="en-US" sz="2800" b="1" i="0" u="none" strike="noStrike" cap="none" normalizeH="0" baseline="0" dirty="0">
                          <a:ln>
                            <a:noFill/>
                          </a:ln>
                          <a:solidFill>
                            <a:schemeClr val="tx1"/>
                          </a:solidFill>
                          <a:effectLst/>
                          <a:latin typeface="+mn-lt"/>
                          <a:ea typeface="宋体" pitchFamily="2" charset="-122"/>
                        </a:rPr>
                        <a:t>OR</a:t>
                      </a:r>
                      <a:r>
                        <a:rPr kumimoji="0" lang="zh-CN" altLang="en-US" sz="2800" b="1" i="0" u="none" strike="noStrike" cap="none" normalizeH="0" baseline="0" dirty="0">
                          <a:ln>
                            <a:noFill/>
                          </a:ln>
                          <a:solidFill>
                            <a:schemeClr val="tx1"/>
                          </a:solidFill>
                          <a:effectLst/>
                          <a:latin typeface="+mn-lt"/>
                          <a:ea typeface="宋体" pitchFamily="2" charset="-122"/>
                        </a:rPr>
                        <a:t>, </a:t>
                      </a:r>
                      <a:r>
                        <a:rPr kumimoji="0" lang="en-US" sz="2800" b="1" i="0" u="none" strike="noStrike" cap="none" normalizeH="0" baseline="0" dirty="0">
                          <a:ln>
                            <a:noFill/>
                          </a:ln>
                          <a:solidFill>
                            <a:schemeClr val="tx1"/>
                          </a:solidFill>
                          <a:effectLst/>
                          <a:latin typeface="+mn-lt"/>
                          <a:ea typeface="宋体" pitchFamily="2" charset="-122"/>
                        </a:rPr>
                        <a:t>NOT</a:t>
                      </a:r>
                      <a:endParaRPr kumimoji="0" lang="en-US" sz="2800" b="1" i="0" u="none" strike="noStrike" cap="none" normalizeH="0" baseline="0" dirty="0">
                        <a:ln>
                          <a:noFill/>
                        </a:ln>
                        <a:solidFill>
                          <a:schemeClr val="tx1"/>
                        </a:solidFill>
                        <a:effectLst/>
                        <a:latin typeface="+mn-lt"/>
                        <a:ea typeface="宋体" pitchFamily="2"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r>
            </a:tbl>
          </a:graphicData>
        </a:graphic>
      </p:graphicFrame>
      <p:sp>
        <p:nvSpPr>
          <p:cNvPr id="77827" name="Rectangle 4"/>
          <p:cNvSpPr>
            <a:spLocks noChangeArrowheads="1"/>
          </p:cNvSpPr>
          <p:nvPr/>
        </p:nvSpPr>
        <p:spPr bwMode="auto">
          <a:xfrm>
            <a:off x="2667000" y="1752600"/>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77828" name="Rectangle 5"/>
          <p:cNvSpPr>
            <a:spLocks noChangeArrowheads="1"/>
          </p:cNvSpPr>
          <p:nvPr/>
        </p:nvSpPr>
        <p:spPr bwMode="auto">
          <a:xfrm>
            <a:off x="2895600" y="1752600"/>
            <a:ext cx="7010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dirty="0"/>
              <a:t>①</a:t>
            </a:r>
            <a:r>
              <a:rPr lang="en-US" altLang="zh-CN" dirty="0"/>
              <a:t> </a:t>
            </a:r>
            <a:r>
              <a:rPr lang="zh-CN" altLang="en-US" dirty="0"/>
              <a:t>比较大小</a:t>
            </a:r>
            <a:endParaRPr lang="zh-CN" altLang="en-US" dirty="0"/>
          </a:p>
        </p:txBody>
      </p:sp>
      <p:sp>
        <p:nvSpPr>
          <p:cNvPr id="78851" name="Rectangle 3"/>
          <p:cNvSpPr>
            <a:spLocks noGrp="1" noChangeArrowheads="1"/>
          </p:cNvSpPr>
          <p:nvPr>
            <p:ph idx="1"/>
          </p:nvPr>
        </p:nvSpPr>
        <p:spPr/>
        <p:txBody>
          <a:bodyPr>
            <a:noAutofit/>
          </a:bodyPr>
          <a:lstStyle/>
          <a:p>
            <a:r>
              <a:rPr lang="en-US" altLang="zh-CN" sz="2700" dirty="0"/>
              <a:t>[</a:t>
            </a:r>
            <a:r>
              <a:rPr lang="zh-CN" altLang="en-US" sz="2700" dirty="0"/>
              <a:t>例</a:t>
            </a:r>
            <a:r>
              <a:rPr lang="en-US" altLang="zh-CN" sz="2700" dirty="0"/>
              <a:t>3.22]</a:t>
            </a:r>
            <a:r>
              <a:rPr lang="zh-CN" altLang="en-US" sz="2700" dirty="0"/>
              <a:t> 查询计算机科学系全体学生的名单。</a:t>
            </a:r>
            <a:endParaRPr lang="zh-CN" altLang="en-US" sz="2700" dirty="0"/>
          </a:p>
          <a:p>
            <a:pPr lvl="2" eaLnBrk="1" hangingPunct="1">
              <a:lnSpc>
                <a:spcPct val="100000"/>
              </a:lnSpc>
              <a:buFont typeface="Wingdings" panose="05000000000000000000" pitchFamily="2" charset="2"/>
              <a:buNone/>
            </a:pPr>
            <a:r>
              <a:rPr lang="en-US" altLang="zh-CN" sz="2700" dirty="0">
                <a:solidFill>
                  <a:srgbClr val="FF0000"/>
                </a:solidFill>
                <a:latin typeface="Arial" panose="020B0604020202090204" pitchFamily="34" charset="0"/>
                <a:cs typeface="Arial" panose="020B0604020202090204" pitchFamily="34" charset="0"/>
              </a:rPr>
              <a:t>SELECT </a:t>
            </a:r>
            <a:r>
              <a:rPr lang="en-US" altLang="zh-CN" sz="2700" dirty="0" err="1">
                <a:solidFill>
                  <a:srgbClr val="FF0000"/>
                </a:solidFill>
                <a:latin typeface="Arial" panose="020B0604020202090204" pitchFamily="34" charset="0"/>
                <a:cs typeface="Arial" panose="020B0604020202090204" pitchFamily="34" charset="0"/>
              </a:rPr>
              <a:t>Sname</a:t>
            </a:r>
            <a:endParaRPr lang="en-US" altLang="zh-CN" sz="2700" dirty="0">
              <a:solidFill>
                <a:srgbClr val="FF0000"/>
              </a:solidFill>
              <a:latin typeface="Arial" panose="020B0604020202090204" pitchFamily="34" charset="0"/>
              <a:cs typeface="Arial" panose="020B0604020202090204" pitchFamily="34" charset="0"/>
            </a:endParaRPr>
          </a:p>
          <a:p>
            <a:pPr lvl="2" eaLnBrk="1" hangingPunct="1">
              <a:lnSpc>
                <a:spcPct val="100000"/>
              </a:lnSpc>
              <a:buFont typeface="Wingdings" panose="05000000000000000000" pitchFamily="2" charset="2"/>
              <a:buNone/>
            </a:pPr>
            <a:r>
              <a:rPr lang="en-US" altLang="zh-CN" sz="2700" dirty="0">
                <a:solidFill>
                  <a:srgbClr val="FF0000"/>
                </a:solidFill>
                <a:latin typeface="Arial" panose="020B0604020202090204" pitchFamily="34" charset="0"/>
                <a:cs typeface="Arial" panose="020B0604020202090204" pitchFamily="34" charset="0"/>
              </a:rPr>
              <a:t>FROM     Student</a:t>
            </a:r>
            <a:endParaRPr lang="en-US" altLang="zh-CN" sz="2700" dirty="0">
              <a:solidFill>
                <a:srgbClr val="FF0000"/>
              </a:solidFill>
              <a:latin typeface="Arial" panose="020B0604020202090204" pitchFamily="34" charset="0"/>
              <a:cs typeface="Arial" panose="020B0604020202090204" pitchFamily="34" charset="0"/>
            </a:endParaRPr>
          </a:p>
          <a:p>
            <a:pPr lvl="2" eaLnBrk="1" hangingPunct="1">
              <a:lnSpc>
                <a:spcPct val="100000"/>
              </a:lnSpc>
              <a:buFont typeface="Wingdings" panose="05000000000000000000" pitchFamily="2" charset="2"/>
              <a:buNone/>
            </a:pPr>
            <a:r>
              <a:rPr lang="en-US" altLang="zh-CN" sz="2700" dirty="0">
                <a:solidFill>
                  <a:srgbClr val="FF0000"/>
                </a:solidFill>
                <a:latin typeface="Arial" panose="020B0604020202090204" pitchFamily="34" charset="0"/>
                <a:cs typeface="Arial" panose="020B0604020202090204" pitchFamily="34" charset="0"/>
              </a:rPr>
              <a:t>WHERE  </a:t>
            </a:r>
            <a:r>
              <a:rPr lang="en-US" altLang="zh-CN" sz="2700" dirty="0" err="1">
                <a:solidFill>
                  <a:srgbClr val="FF0000"/>
                </a:solidFill>
                <a:latin typeface="Arial" panose="020B0604020202090204" pitchFamily="34" charset="0"/>
                <a:cs typeface="Arial" panose="020B0604020202090204" pitchFamily="34" charset="0"/>
              </a:rPr>
              <a:t>Sdept </a:t>
            </a:r>
            <a:r>
              <a:rPr lang="en-US" altLang="zh-CN" sz="2700" dirty="0">
                <a:solidFill>
                  <a:srgbClr val="FF0000"/>
                </a:solidFill>
                <a:latin typeface="Arial" panose="020B0604020202090204" pitchFamily="34" charset="0"/>
                <a:cs typeface="Arial" panose="020B0604020202090204" pitchFamily="34" charset="0"/>
              </a:rPr>
              <a:t>= ‘CS’ </a:t>
            </a:r>
            <a:r>
              <a:rPr lang="zh-CN" altLang="en-US" sz="2700" dirty="0">
                <a:solidFill>
                  <a:srgbClr val="FF0000"/>
                </a:solidFill>
                <a:latin typeface="Arial" panose="020B0604020202090204" pitchFamily="34" charset="0"/>
                <a:cs typeface="Arial" panose="020B0604020202090204" pitchFamily="34" charset="0"/>
              </a:rPr>
              <a:t>;</a:t>
            </a:r>
            <a:r>
              <a:rPr lang="zh-CN" altLang="en-US" sz="2700" dirty="0">
                <a:latin typeface="Arial" panose="020B0604020202090204" pitchFamily="34" charset="0"/>
                <a:cs typeface="Arial" panose="020B0604020202090204" pitchFamily="34" charset="0"/>
              </a:rPr>
              <a:t> </a:t>
            </a:r>
            <a:endParaRPr lang="zh-CN" altLang="en-US" sz="2700" dirty="0">
              <a:latin typeface="Arial" panose="020B0604020202090204" pitchFamily="34" charset="0"/>
              <a:cs typeface="Arial" panose="020B0604020202090204" pitchFamily="34" charset="0"/>
            </a:endParaRPr>
          </a:p>
          <a:p>
            <a:pPr>
              <a:lnSpc>
                <a:spcPct val="110000"/>
              </a:lnSpc>
              <a:spcBef>
                <a:spcPts val="3000"/>
              </a:spcBef>
            </a:pPr>
            <a:r>
              <a:rPr lang="en-US" altLang="zh-CN" sz="2700" dirty="0"/>
              <a:t>[</a:t>
            </a:r>
            <a:r>
              <a:rPr lang="zh-CN" altLang="en-US" sz="2700" dirty="0"/>
              <a:t>例</a:t>
            </a:r>
            <a:r>
              <a:rPr lang="en-US" altLang="zh-CN" sz="2700" dirty="0"/>
              <a:t>3.23]</a:t>
            </a:r>
            <a:r>
              <a:rPr lang="zh-CN" altLang="en-US" sz="2700" dirty="0"/>
              <a:t>查询所有年龄在</a:t>
            </a:r>
            <a:r>
              <a:rPr lang="en-US" altLang="zh-CN" sz="2700" dirty="0"/>
              <a:t>20</a:t>
            </a:r>
            <a:r>
              <a:rPr lang="zh-CN" altLang="en-US" sz="2700" dirty="0"/>
              <a:t>岁以下的学生姓名及其年龄。</a:t>
            </a:r>
            <a:endParaRPr lang="zh-CN" altLang="en-US" sz="2700" dirty="0"/>
          </a:p>
          <a:p>
            <a:pPr lvl="2" algn="just" eaLnBrk="1" hangingPunct="1">
              <a:lnSpc>
                <a:spcPct val="100000"/>
              </a:lnSpc>
              <a:buFont typeface="Wingdings" panose="05000000000000000000" pitchFamily="2" charset="2"/>
              <a:buNone/>
            </a:pPr>
            <a:r>
              <a:rPr lang="en-US" altLang="zh-CN" sz="2700" dirty="0">
                <a:solidFill>
                  <a:srgbClr val="FF0000"/>
                </a:solidFill>
                <a:latin typeface="Arial" panose="020B0604020202090204" pitchFamily="34" charset="0"/>
                <a:cs typeface="Arial" panose="020B0604020202090204" pitchFamily="34" charset="0"/>
              </a:rPr>
              <a:t>SELECT </a:t>
            </a:r>
            <a:r>
              <a:rPr lang="en-US" altLang="zh-CN" sz="2700" dirty="0" err="1">
                <a:solidFill>
                  <a:srgbClr val="FF0000"/>
                </a:solidFill>
                <a:latin typeface="Arial" panose="020B0604020202090204" pitchFamily="34" charset="0"/>
                <a:cs typeface="Arial" panose="020B0604020202090204" pitchFamily="34" charset="0"/>
              </a:rPr>
              <a:t>Sname</a:t>
            </a:r>
            <a:r>
              <a:rPr lang="zh-CN" altLang="en-US" sz="2700" dirty="0">
                <a:solidFill>
                  <a:srgbClr val="FF0000"/>
                </a:solidFill>
                <a:latin typeface="Arial" panose="020B0604020202090204" pitchFamily="34" charset="0"/>
                <a:cs typeface="Arial" panose="020B0604020202090204" pitchFamily="34" charset="0"/>
              </a:rPr>
              <a:t>,</a:t>
            </a:r>
            <a:r>
              <a:rPr lang="en-US" altLang="zh-CN" sz="2700" dirty="0">
                <a:solidFill>
                  <a:srgbClr val="FF0000"/>
                </a:solidFill>
                <a:latin typeface="Arial" panose="020B0604020202090204" pitchFamily="34" charset="0"/>
                <a:cs typeface="Arial" panose="020B0604020202090204" pitchFamily="34" charset="0"/>
              </a:rPr>
              <a:t>Sage </a:t>
            </a:r>
            <a:endParaRPr lang="en-US" altLang="zh-CN" sz="2700" dirty="0">
              <a:solidFill>
                <a:srgbClr val="FF0000"/>
              </a:solidFill>
              <a:latin typeface="Arial" panose="020B0604020202090204" pitchFamily="34" charset="0"/>
              <a:cs typeface="Arial" panose="020B0604020202090204" pitchFamily="34" charset="0"/>
            </a:endParaRPr>
          </a:p>
          <a:p>
            <a:pPr lvl="2" algn="just" eaLnBrk="1" hangingPunct="1">
              <a:lnSpc>
                <a:spcPct val="100000"/>
              </a:lnSpc>
              <a:buFont typeface="Wingdings" panose="05000000000000000000" pitchFamily="2" charset="2"/>
              <a:buNone/>
            </a:pPr>
            <a:r>
              <a:rPr lang="en-US" altLang="zh-CN" sz="2700" dirty="0">
                <a:solidFill>
                  <a:srgbClr val="FF0000"/>
                </a:solidFill>
                <a:latin typeface="Arial" panose="020B0604020202090204" pitchFamily="34" charset="0"/>
                <a:cs typeface="Arial" panose="020B0604020202090204" pitchFamily="34" charset="0"/>
              </a:rPr>
              <a:t>FROM     Student    </a:t>
            </a:r>
            <a:endParaRPr lang="en-US" altLang="zh-CN" sz="2700" dirty="0">
              <a:solidFill>
                <a:srgbClr val="FF0000"/>
              </a:solidFill>
              <a:latin typeface="Arial" panose="020B0604020202090204" pitchFamily="34" charset="0"/>
              <a:cs typeface="Arial" panose="020B0604020202090204" pitchFamily="34" charset="0"/>
            </a:endParaRPr>
          </a:p>
          <a:p>
            <a:pPr lvl="2" algn="just" eaLnBrk="1" hangingPunct="1">
              <a:lnSpc>
                <a:spcPct val="100000"/>
              </a:lnSpc>
              <a:buFont typeface="Wingdings" panose="05000000000000000000" pitchFamily="2" charset="2"/>
              <a:buNone/>
            </a:pPr>
            <a:r>
              <a:rPr lang="en-US" altLang="zh-CN" sz="2700" dirty="0">
                <a:solidFill>
                  <a:srgbClr val="FF0000"/>
                </a:solidFill>
                <a:latin typeface="Arial" panose="020B0604020202090204" pitchFamily="34" charset="0"/>
                <a:cs typeface="Arial" panose="020B0604020202090204" pitchFamily="34" charset="0"/>
              </a:rPr>
              <a:t>WHERE  Sage &lt; 20 </a:t>
            </a:r>
            <a:r>
              <a:rPr lang="zh-CN" altLang="en-US" sz="2700" dirty="0">
                <a:solidFill>
                  <a:srgbClr val="FF0000"/>
                </a:solidFill>
                <a:latin typeface="Arial" panose="020B0604020202090204" pitchFamily="34" charset="0"/>
                <a:cs typeface="Arial" panose="020B0604020202090204" pitchFamily="34" charset="0"/>
              </a:rPr>
              <a:t>;</a:t>
            </a:r>
            <a:endParaRPr lang="zh-CN" altLang="en-US" sz="2700" dirty="0">
              <a:solidFill>
                <a:srgbClr val="FF0000"/>
              </a:solidFill>
              <a:latin typeface="Arial" panose="020B0604020202090204" pitchFamily="34" charset="0"/>
              <a:cs typeface="Arial" panose="020B0604020202090204" pitchFamily="34" charset="0"/>
            </a:endParaRPr>
          </a:p>
          <a:p>
            <a:pPr>
              <a:lnSpc>
                <a:spcPct val="110000"/>
              </a:lnSpc>
              <a:spcBef>
                <a:spcPts val="3000"/>
              </a:spcBef>
            </a:pPr>
            <a:r>
              <a:rPr lang="en-US" altLang="zh-CN" sz="2700" dirty="0"/>
              <a:t>[</a:t>
            </a:r>
            <a:r>
              <a:rPr lang="zh-CN" altLang="en-US" sz="2700" dirty="0"/>
              <a:t>例</a:t>
            </a:r>
            <a:r>
              <a:rPr lang="en-US" altLang="zh-CN" sz="2700" dirty="0"/>
              <a:t>3.24]</a:t>
            </a:r>
            <a:r>
              <a:rPr lang="zh-CN" altLang="en-US" sz="2700" dirty="0"/>
              <a:t>查询考试成绩有不及格的学生的学号。</a:t>
            </a:r>
            <a:endParaRPr lang="zh-CN" altLang="en-US" sz="2700" dirty="0"/>
          </a:p>
          <a:p>
            <a:pPr lvl="2" eaLnBrk="1" hangingPunct="1">
              <a:lnSpc>
                <a:spcPct val="100000"/>
              </a:lnSpc>
              <a:buFont typeface="Arial" panose="020B0604020202090204" pitchFamily="34" charset="0"/>
              <a:buNone/>
            </a:pPr>
            <a:r>
              <a:rPr lang="en-US" altLang="zh-CN" sz="2700" dirty="0">
                <a:solidFill>
                  <a:srgbClr val="FF0000"/>
                </a:solidFill>
                <a:latin typeface="Arial" panose="020B0604020202090204" pitchFamily="34" charset="0"/>
                <a:cs typeface="Arial" panose="020B0604020202090204" pitchFamily="34" charset="0"/>
              </a:rPr>
              <a:t>SELECT DISTINCT Sno</a:t>
            </a:r>
            <a:endParaRPr lang="en-US" altLang="zh-CN" sz="2700" dirty="0">
              <a:solidFill>
                <a:srgbClr val="FF0000"/>
              </a:solidFill>
              <a:latin typeface="Arial" panose="020B0604020202090204" pitchFamily="34" charset="0"/>
              <a:cs typeface="Arial" panose="020B0604020202090204" pitchFamily="34" charset="0"/>
            </a:endParaRPr>
          </a:p>
          <a:p>
            <a:pPr lvl="2" eaLnBrk="1" hangingPunct="1">
              <a:lnSpc>
                <a:spcPct val="100000"/>
              </a:lnSpc>
              <a:buFont typeface="Arial" panose="020B0604020202090204" pitchFamily="34" charset="0"/>
              <a:buNone/>
            </a:pPr>
            <a:r>
              <a:rPr lang="en-US" altLang="zh-CN" sz="2700" dirty="0">
                <a:solidFill>
                  <a:srgbClr val="FF0000"/>
                </a:solidFill>
                <a:latin typeface="Arial" panose="020B0604020202090204" pitchFamily="34" charset="0"/>
                <a:cs typeface="Arial" panose="020B0604020202090204" pitchFamily="34" charset="0"/>
              </a:rPr>
              <a:t>FROM  SC</a:t>
            </a:r>
            <a:endParaRPr lang="en-US" altLang="zh-CN" sz="2700" dirty="0">
              <a:solidFill>
                <a:srgbClr val="FF0000"/>
              </a:solidFill>
              <a:latin typeface="Arial" panose="020B0604020202090204" pitchFamily="34" charset="0"/>
              <a:cs typeface="Arial" panose="020B0604020202090204" pitchFamily="34" charset="0"/>
            </a:endParaRPr>
          </a:p>
          <a:p>
            <a:pPr lvl="2" eaLnBrk="1" hangingPunct="1">
              <a:lnSpc>
                <a:spcPct val="100000"/>
              </a:lnSpc>
              <a:buFont typeface="Arial" panose="020B0604020202090204" pitchFamily="34" charset="0"/>
              <a:buNone/>
            </a:pPr>
            <a:r>
              <a:rPr lang="en-US" altLang="zh-CN" sz="2700" dirty="0">
                <a:solidFill>
                  <a:srgbClr val="FF0000"/>
                </a:solidFill>
                <a:latin typeface="Arial" panose="020B0604020202090204" pitchFamily="34" charset="0"/>
                <a:cs typeface="Arial" panose="020B0604020202090204" pitchFamily="34" charset="0"/>
              </a:rPr>
              <a:t>WHERE Grade &lt; 60 </a:t>
            </a:r>
            <a:r>
              <a:rPr lang="zh-CN" altLang="en-US" sz="2700" dirty="0">
                <a:solidFill>
                  <a:srgbClr val="FF0000"/>
                </a:solidFill>
                <a:latin typeface="Arial" panose="020B0604020202090204" pitchFamily="34" charset="0"/>
                <a:cs typeface="Arial" panose="020B0604020202090204" pitchFamily="34" charset="0"/>
              </a:rPr>
              <a:t>; </a:t>
            </a:r>
            <a:endParaRPr lang="zh-CN" altLang="en-US" sz="2700"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8851">
                                            <p:txEl>
                                              <p:pRg st="1" end="1"/>
                                            </p:txEl>
                                          </p:spTgt>
                                        </p:tgtEl>
                                        <p:attrNameLst>
                                          <p:attrName>style.visibility</p:attrName>
                                        </p:attrNameLst>
                                      </p:cBhvr>
                                      <p:to>
                                        <p:strVal val="visible"/>
                                      </p:to>
                                    </p:set>
                                    <p:animEffect transition="in" filter="blinds(horizontal)">
                                      <p:cBhvr>
                                        <p:cTn id="7" dur="500"/>
                                        <p:tgtEl>
                                          <p:spTgt spid="7885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8851">
                                            <p:txEl>
                                              <p:pRg st="2" end="2"/>
                                            </p:txEl>
                                          </p:spTgt>
                                        </p:tgtEl>
                                        <p:attrNameLst>
                                          <p:attrName>style.visibility</p:attrName>
                                        </p:attrNameLst>
                                      </p:cBhvr>
                                      <p:to>
                                        <p:strVal val="visible"/>
                                      </p:to>
                                    </p:set>
                                    <p:animEffect transition="in" filter="blinds(horizontal)">
                                      <p:cBhvr>
                                        <p:cTn id="10" dur="500"/>
                                        <p:tgtEl>
                                          <p:spTgt spid="7885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8851">
                                            <p:txEl>
                                              <p:pRg st="3" end="3"/>
                                            </p:txEl>
                                          </p:spTgt>
                                        </p:tgtEl>
                                        <p:attrNameLst>
                                          <p:attrName>style.visibility</p:attrName>
                                        </p:attrNameLst>
                                      </p:cBhvr>
                                      <p:to>
                                        <p:strVal val="visible"/>
                                      </p:to>
                                    </p:set>
                                    <p:animEffect transition="in" filter="blinds(horizontal)">
                                      <p:cBhvr>
                                        <p:cTn id="13" dur="500"/>
                                        <p:tgtEl>
                                          <p:spTgt spid="7885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8851">
                                            <p:txEl>
                                              <p:pRg st="4" end="4"/>
                                            </p:txEl>
                                          </p:spTgt>
                                        </p:tgtEl>
                                        <p:attrNameLst>
                                          <p:attrName>style.visibility</p:attrName>
                                        </p:attrNameLst>
                                      </p:cBhvr>
                                      <p:to>
                                        <p:strVal val="visible"/>
                                      </p:to>
                                    </p:set>
                                    <p:anim calcmode="lin" valueType="num">
                                      <p:cBhvr additive="base">
                                        <p:cTn id="18" dur="500" fill="hold"/>
                                        <p:tgtEl>
                                          <p:spTgt spid="78851">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88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8851">
                                            <p:txEl>
                                              <p:pRg st="5" end="5"/>
                                            </p:txEl>
                                          </p:spTgt>
                                        </p:tgtEl>
                                        <p:attrNameLst>
                                          <p:attrName>style.visibility</p:attrName>
                                        </p:attrNameLst>
                                      </p:cBhvr>
                                      <p:to>
                                        <p:strVal val="visible"/>
                                      </p:to>
                                    </p:set>
                                    <p:anim calcmode="lin" valueType="num">
                                      <p:cBhvr additive="base">
                                        <p:cTn id="24" dur="500" fill="hold"/>
                                        <p:tgtEl>
                                          <p:spTgt spid="78851">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78851">
                                            <p:txEl>
                                              <p:pRg st="5" end="5"/>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78851">
                                            <p:txEl>
                                              <p:pRg st="6" end="6"/>
                                            </p:txEl>
                                          </p:spTgt>
                                        </p:tgtEl>
                                        <p:attrNameLst>
                                          <p:attrName>style.visibility</p:attrName>
                                        </p:attrNameLst>
                                      </p:cBhvr>
                                      <p:to>
                                        <p:strVal val="visible"/>
                                      </p:to>
                                    </p:set>
                                    <p:anim calcmode="lin" valueType="num">
                                      <p:cBhvr additive="base">
                                        <p:cTn id="28" dur="500" fill="hold"/>
                                        <p:tgtEl>
                                          <p:spTgt spid="78851">
                                            <p:txEl>
                                              <p:pRg st="6" end="6"/>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78851">
                                            <p:txEl>
                                              <p:pRg st="6" end="6"/>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78851">
                                            <p:txEl>
                                              <p:pRg st="7" end="7"/>
                                            </p:txEl>
                                          </p:spTgt>
                                        </p:tgtEl>
                                        <p:attrNameLst>
                                          <p:attrName>style.visibility</p:attrName>
                                        </p:attrNameLst>
                                      </p:cBhvr>
                                      <p:to>
                                        <p:strVal val="visible"/>
                                      </p:to>
                                    </p:set>
                                    <p:anim calcmode="lin" valueType="num">
                                      <p:cBhvr additive="base">
                                        <p:cTn id="32" dur="500" fill="hold"/>
                                        <p:tgtEl>
                                          <p:spTgt spid="78851">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7885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78851">
                                            <p:txEl>
                                              <p:pRg st="8" end="8"/>
                                            </p:txEl>
                                          </p:spTgt>
                                        </p:tgtEl>
                                        <p:attrNameLst>
                                          <p:attrName>style.visibility</p:attrName>
                                        </p:attrNameLst>
                                      </p:cBhvr>
                                      <p:to>
                                        <p:strVal val="visible"/>
                                      </p:to>
                                    </p:set>
                                    <p:anim calcmode="lin" valueType="num">
                                      <p:cBhvr additive="base">
                                        <p:cTn id="38" dur="500" fill="hold"/>
                                        <p:tgtEl>
                                          <p:spTgt spid="78851">
                                            <p:txEl>
                                              <p:pRg st="8" end="8"/>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7885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78851">
                                            <p:txEl>
                                              <p:pRg st="9" end="9"/>
                                            </p:txEl>
                                          </p:spTgt>
                                        </p:tgtEl>
                                        <p:attrNameLst>
                                          <p:attrName>style.visibility</p:attrName>
                                        </p:attrNameLst>
                                      </p:cBhvr>
                                      <p:to>
                                        <p:strVal val="visible"/>
                                      </p:to>
                                    </p:set>
                                    <p:anim calcmode="lin" valueType="num">
                                      <p:cBhvr additive="base">
                                        <p:cTn id="44" dur="500" fill="hold"/>
                                        <p:tgtEl>
                                          <p:spTgt spid="78851">
                                            <p:txEl>
                                              <p:pRg st="9" end="9"/>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78851">
                                            <p:txEl>
                                              <p:pRg st="9" end="9"/>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78851">
                                            <p:txEl>
                                              <p:pRg st="10" end="10"/>
                                            </p:txEl>
                                          </p:spTgt>
                                        </p:tgtEl>
                                        <p:attrNameLst>
                                          <p:attrName>style.visibility</p:attrName>
                                        </p:attrNameLst>
                                      </p:cBhvr>
                                      <p:to>
                                        <p:strVal val="visible"/>
                                      </p:to>
                                    </p:set>
                                    <p:anim calcmode="lin" valueType="num">
                                      <p:cBhvr additive="base">
                                        <p:cTn id="48" dur="500" fill="hold"/>
                                        <p:tgtEl>
                                          <p:spTgt spid="78851">
                                            <p:txEl>
                                              <p:pRg st="10" end="1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78851">
                                            <p:txEl>
                                              <p:pRg st="10" end="10"/>
                                            </p:txEl>
                                          </p:spTgt>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78851">
                                            <p:txEl>
                                              <p:pRg st="11" end="11"/>
                                            </p:txEl>
                                          </p:spTgt>
                                        </p:tgtEl>
                                        <p:attrNameLst>
                                          <p:attrName>style.visibility</p:attrName>
                                        </p:attrNameLst>
                                      </p:cBhvr>
                                      <p:to>
                                        <p:strVal val="visible"/>
                                      </p:to>
                                    </p:set>
                                    <p:anim calcmode="lin" valueType="num">
                                      <p:cBhvr additive="base">
                                        <p:cTn id="52" dur="500" fill="hold"/>
                                        <p:tgtEl>
                                          <p:spTgt spid="78851">
                                            <p:txEl>
                                              <p:pRg st="11" end="11"/>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7885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zh-CN" altLang="en-US" dirty="0"/>
              <a:t>② 确定范围</a:t>
            </a:r>
            <a:endParaRPr lang="zh-CN" altLang="en-US" dirty="0"/>
          </a:p>
        </p:txBody>
      </p:sp>
      <p:sp>
        <p:nvSpPr>
          <p:cNvPr id="79875" name="Rectangle 3"/>
          <p:cNvSpPr>
            <a:spLocks noGrp="1" noChangeArrowheads="1"/>
          </p:cNvSpPr>
          <p:nvPr>
            <p:ph idx="1"/>
          </p:nvPr>
        </p:nvSpPr>
        <p:spPr>
          <a:xfrm>
            <a:off x="424180" y="687070"/>
            <a:ext cx="11343005" cy="565150"/>
          </a:xfrm>
          <a:solidFill>
            <a:schemeClr val="accent3">
              <a:lumMod val="20000"/>
              <a:lumOff val="80000"/>
              <a:alpha val="50000"/>
            </a:schemeClr>
          </a:solidFill>
        </p:spPr>
        <p:txBody>
          <a:bodyPr>
            <a:noAutofit/>
          </a:bodyPr>
          <a:lstStyle/>
          <a:p>
            <a:pPr>
              <a:lnSpc>
                <a:spcPct val="110000"/>
              </a:lnSpc>
              <a:spcBef>
                <a:spcPct val="0"/>
              </a:spcBef>
            </a:pPr>
            <a:r>
              <a:rPr lang="zh-CN" altLang="en-US" sz="2800" dirty="0">
                <a:latin typeface="Arial" panose="020B0604020202090204" pitchFamily="34" charset="0"/>
                <a:cs typeface="Arial" panose="020B0604020202090204" pitchFamily="34" charset="0"/>
              </a:rPr>
              <a:t>谓词</a:t>
            </a:r>
            <a:r>
              <a:rPr lang="en-US" altLang="zh-CN" sz="2800" dirty="0">
                <a:latin typeface="Arial" panose="020B0604020202090204" pitchFamily="34" charset="0"/>
                <a:cs typeface="Arial" panose="020B0604020202090204" pitchFamily="34" charset="0"/>
              </a:rPr>
              <a:t>:   BETWEEN …  AND  …  </a:t>
            </a:r>
            <a:r>
              <a:rPr lang="zh-CN" altLang="en-US" sz="2800" dirty="0">
                <a:latin typeface="Arial" panose="020B0604020202090204" pitchFamily="34" charset="0"/>
                <a:cs typeface="Arial" panose="020B0604020202090204" pitchFamily="34" charset="0"/>
              </a:rPr>
              <a:t>或</a:t>
            </a:r>
            <a:r>
              <a:rPr lang="en-US" altLang="zh-CN" sz="2800" dirty="0">
                <a:latin typeface="Arial" panose="020B0604020202090204" pitchFamily="34" charset="0"/>
                <a:cs typeface="Arial" panose="020B0604020202090204" pitchFamily="34" charset="0"/>
              </a:rPr>
              <a:t>   NOT BETWEEN  …  AND  …</a:t>
            </a:r>
            <a:endParaRPr lang="zh-CN" altLang="en-US" sz="2800"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4" name="Rectangle 3"/>
          <p:cNvSpPr>
            <a:spLocks noGrp="1" noChangeArrowheads="1"/>
          </p:cNvSpPr>
          <p:nvPr/>
        </p:nvSpPr>
        <p:spPr>
          <a:xfrm>
            <a:off x="424180" y="1449705"/>
            <a:ext cx="11343005" cy="461264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spcBef>
                <a:spcPts val="2000"/>
              </a:spcBef>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例</a:t>
            </a:r>
            <a:r>
              <a:rPr lang="en-US" altLang="zh-CN" sz="2800" dirty="0">
                <a:latin typeface="Arial" panose="020B0604020202090204" pitchFamily="34" charset="0"/>
                <a:cs typeface="Arial" panose="020B0604020202090204" pitchFamily="34" charset="0"/>
              </a:rPr>
              <a:t>3.25] </a:t>
            </a:r>
            <a:r>
              <a:rPr lang="zh-CN" altLang="en-US" sz="2800" dirty="0">
                <a:latin typeface="Arial" panose="020B0604020202090204" pitchFamily="34" charset="0"/>
                <a:cs typeface="Arial" panose="020B0604020202090204" pitchFamily="34" charset="0"/>
              </a:rPr>
              <a:t>查询年龄在</a:t>
            </a:r>
            <a:r>
              <a:rPr lang="en-US" altLang="zh-CN" sz="2800" dirty="0">
                <a:latin typeface="Arial" panose="020B0604020202090204" pitchFamily="34" charset="0"/>
                <a:cs typeface="Arial" panose="020B0604020202090204" pitchFamily="34" charset="0"/>
              </a:rPr>
              <a:t>20~23</a:t>
            </a:r>
            <a:r>
              <a:rPr lang="zh-CN" altLang="en-US" sz="2800" dirty="0">
                <a:latin typeface="Arial" panose="020B0604020202090204" pitchFamily="34" charset="0"/>
                <a:cs typeface="Arial" panose="020B0604020202090204" pitchFamily="34" charset="0"/>
              </a:rPr>
              <a:t>岁（包括</a:t>
            </a:r>
            <a:r>
              <a:rPr lang="en-US" altLang="zh-CN" sz="2800" dirty="0">
                <a:latin typeface="Arial" panose="020B0604020202090204" pitchFamily="34" charset="0"/>
                <a:cs typeface="Arial" panose="020B0604020202090204" pitchFamily="34" charset="0"/>
              </a:rPr>
              <a:t>20</a:t>
            </a:r>
            <a:r>
              <a:rPr lang="zh-CN" altLang="en-US" sz="2800" dirty="0">
                <a:latin typeface="Arial" panose="020B0604020202090204" pitchFamily="34" charset="0"/>
                <a:cs typeface="Arial" panose="020B0604020202090204" pitchFamily="34" charset="0"/>
              </a:rPr>
              <a:t>岁和</a:t>
            </a:r>
            <a:r>
              <a:rPr lang="en-US" altLang="zh-CN" sz="2800" dirty="0">
                <a:latin typeface="Arial" panose="020B0604020202090204" pitchFamily="34" charset="0"/>
                <a:cs typeface="Arial" panose="020B0604020202090204" pitchFamily="34" charset="0"/>
              </a:rPr>
              <a:t>23</a:t>
            </a:r>
            <a:r>
              <a:rPr lang="zh-CN" altLang="en-US" sz="2800" dirty="0">
                <a:latin typeface="Arial" panose="020B0604020202090204" pitchFamily="34" charset="0"/>
                <a:cs typeface="Arial" panose="020B0604020202090204" pitchFamily="34" charset="0"/>
              </a:rPr>
              <a:t>岁）之间的学生的姓名、系别和年龄</a:t>
            </a:r>
            <a:endParaRPr lang="zh-CN" altLang="en-US" sz="2800" dirty="0">
              <a:latin typeface="Arial" panose="020B0604020202090204" pitchFamily="34" charset="0"/>
              <a:cs typeface="Arial" panose="020B0604020202090204" pitchFamily="34" charset="0"/>
            </a:endParaRPr>
          </a:p>
          <a:p>
            <a:pPr marL="821055" lvl="2" indent="0">
              <a:lnSpc>
                <a:spcPct val="11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SELECT </a:t>
            </a:r>
            <a:r>
              <a:rPr lang="en-US" altLang="zh-CN" sz="2800" dirty="0" err="1">
                <a:solidFill>
                  <a:srgbClr val="FF0000"/>
                </a:solidFill>
                <a:latin typeface="Arial" panose="020B0604020202090204" pitchFamily="34" charset="0"/>
                <a:cs typeface="Arial" panose="020B0604020202090204" pitchFamily="34" charset="0"/>
              </a:rPr>
              <a:t>Sname</a:t>
            </a:r>
            <a:r>
              <a:rPr lang="zh-CN" altLang="en-US" sz="2800" dirty="0">
                <a:solidFill>
                  <a:srgbClr val="FF0000"/>
                </a:solidFill>
                <a:latin typeface="Arial" panose="020B0604020202090204" pitchFamily="34" charset="0"/>
                <a:cs typeface="Arial" panose="020B0604020202090204" pitchFamily="34" charset="0"/>
              </a:rPr>
              <a:t>, </a:t>
            </a:r>
            <a:r>
              <a:rPr lang="en-US" altLang="zh-CN" sz="2800" dirty="0" err="1">
                <a:solidFill>
                  <a:srgbClr val="FF0000"/>
                </a:solidFill>
                <a:latin typeface="Arial" panose="020B0604020202090204" pitchFamily="34" charset="0"/>
                <a:cs typeface="Arial" panose="020B0604020202090204" pitchFamily="34" charset="0"/>
              </a:rPr>
              <a:t>Sdept</a:t>
            </a:r>
            <a:r>
              <a:rPr lang="zh-CN" altLang="en-US" sz="2800" dirty="0">
                <a:solidFill>
                  <a:srgbClr val="FF0000"/>
                </a:solidFill>
                <a:latin typeface="Arial" panose="020B0604020202090204" pitchFamily="34" charset="0"/>
                <a:cs typeface="Arial" panose="020B0604020202090204" pitchFamily="34" charset="0"/>
              </a:rPr>
              <a:t>, </a:t>
            </a:r>
            <a:r>
              <a:rPr lang="en-US" altLang="zh-CN" sz="2800" dirty="0">
                <a:solidFill>
                  <a:srgbClr val="FF0000"/>
                </a:solidFill>
                <a:latin typeface="Arial" panose="020B0604020202090204" pitchFamily="34" charset="0"/>
                <a:cs typeface="Arial" panose="020B0604020202090204" pitchFamily="34" charset="0"/>
              </a:rPr>
              <a:t>Sage</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1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FROM     Student</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1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WHERE   Sage BETWEEN 20 AND 23</a:t>
            </a:r>
            <a:r>
              <a:rPr lang="zh-CN" altLang="en-US" sz="2800" dirty="0">
                <a:solidFill>
                  <a:srgbClr val="FF0000"/>
                </a:solidFill>
                <a:latin typeface="Arial" panose="020B0604020202090204" pitchFamily="34" charset="0"/>
                <a:cs typeface="Arial" panose="020B0604020202090204" pitchFamily="34" charset="0"/>
              </a:rPr>
              <a:t>; </a:t>
            </a:r>
            <a:endParaRPr lang="zh-CN" altLang="en-US" sz="2800" dirty="0">
              <a:solidFill>
                <a:srgbClr val="FF0000"/>
              </a:solidFill>
              <a:latin typeface="Arial" panose="020B0604020202090204" pitchFamily="34" charset="0"/>
              <a:cs typeface="Arial" panose="020B0604020202090204" pitchFamily="34" charset="0"/>
            </a:endParaRPr>
          </a:p>
          <a:p>
            <a:pPr>
              <a:lnSpc>
                <a:spcPct val="110000"/>
              </a:lnSpc>
              <a:spcBef>
                <a:spcPts val="2000"/>
              </a:spcBef>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例</a:t>
            </a:r>
            <a:r>
              <a:rPr lang="en-US" altLang="zh-CN" sz="2800" dirty="0">
                <a:latin typeface="Arial" panose="020B0604020202090204" pitchFamily="34" charset="0"/>
                <a:cs typeface="Arial" panose="020B0604020202090204" pitchFamily="34" charset="0"/>
              </a:rPr>
              <a:t>3.26]  </a:t>
            </a:r>
            <a:r>
              <a:rPr lang="zh-CN" altLang="en-US" sz="2800" dirty="0">
                <a:latin typeface="Arial" panose="020B0604020202090204" pitchFamily="34" charset="0"/>
                <a:cs typeface="Arial" panose="020B0604020202090204" pitchFamily="34" charset="0"/>
              </a:rPr>
              <a:t>查询年龄不在</a:t>
            </a:r>
            <a:r>
              <a:rPr lang="en-US" altLang="zh-CN" sz="2800" dirty="0">
                <a:latin typeface="Arial" panose="020B0604020202090204" pitchFamily="34" charset="0"/>
                <a:cs typeface="Arial" panose="020B0604020202090204" pitchFamily="34" charset="0"/>
              </a:rPr>
              <a:t>20~23</a:t>
            </a:r>
            <a:r>
              <a:rPr lang="zh-CN" altLang="en-US" sz="2800" dirty="0">
                <a:latin typeface="Arial" panose="020B0604020202090204" pitchFamily="34" charset="0"/>
                <a:cs typeface="Arial" panose="020B0604020202090204" pitchFamily="34" charset="0"/>
              </a:rPr>
              <a:t>岁之间的学生姓名、系别和年龄</a:t>
            </a:r>
            <a:endParaRPr lang="zh-CN" altLang="en-US" sz="2800" dirty="0">
              <a:latin typeface="Arial" panose="020B0604020202090204" pitchFamily="34" charset="0"/>
              <a:cs typeface="Arial" panose="020B0604020202090204" pitchFamily="34" charset="0"/>
            </a:endParaRPr>
          </a:p>
          <a:p>
            <a:pPr marL="821055" lvl="2" indent="0">
              <a:lnSpc>
                <a:spcPct val="11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SELECT </a:t>
            </a:r>
            <a:r>
              <a:rPr lang="en-US" altLang="zh-CN" sz="2800" dirty="0" err="1">
                <a:solidFill>
                  <a:srgbClr val="FF0000"/>
                </a:solidFill>
                <a:latin typeface="Arial" panose="020B0604020202090204" pitchFamily="34" charset="0"/>
                <a:cs typeface="Arial" panose="020B0604020202090204" pitchFamily="34" charset="0"/>
              </a:rPr>
              <a:t>Sname</a:t>
            </a:r>
            <a:r>
              <a:rPr lang="zh-CN" altLang="en-US" sz="2800" dirty="0">
                <a:solidFill>
                  <a:srgbClr val="FF0000"/>
                </a:solidFill>
                <a:latin typeface="Arial" panose="020B0604020202090204" pitchFamily="34" charset="0"/>
                <a:cs typeface="Arial" panose="020B0604020202090204" pitchFamily="34" charset="0"/>
              </a:rPr>
              <a:t>, </a:t>
            </a:r>
            <a:r>
              <a:rPr lang="en-US" altLang="zh-CN" sz="2800" dirty="0" err="1">
                <a:solidFill>
                  <a:srgbClr val="FF0000"/>
                </a:solidFill>
                <a:latin typeface="Arial" panose="020B0604020202090204" pitchFamily="34" charset="0"/>
                <a:cs typeface="Arial" panose="020B0604020202090204" pitchFamily="34" charset="0"/>
              </a:rPr>
              <a:t>Sdept</a:t>
            </a:r>
            <a:r>
              <a:rPr lang="zh-CN" altLang="en-US" sz="2800" dirty="0">
                <a:solidFill>
                  <a:srgbClr val="FF0000"/>
                </a:solidFill>
                <a:latin typeface="Arial" panose="020B0604020202090204" pitchFamily="34" charset="0"/>
                <a:cs typeface="Arial" panose="020B0604020202090204" pitchFamily="34" charset="0"/>
              </a:rPr>
              <a:t>, </a:t>
            </a:r>
            <a:r>
              <a:rPr lang="en-US" altLang="zh-CN" sz="2800" dirty="0">
                <a:solidFill>
                  <a:srgbClr val="FF0000"/>
                </a:solidFill>
                <a:latin typeface="Arial" panose="020B0604020202090204" pitchFamily="34" charset="0"/>
                <a:cs typeface="Arial" panose="020B0604020202090204" pitchFamily="34" charset="0"/>
              </a:rPr>
              <a:t>Sage</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1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FROM    Student</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1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WHERE Sage NOT BETWEEN 20 AND 23</a:t>
            </a:r>
            <a:r>
              <a:rPr lang="zh-CN" altLang="en-US" sz="2800" dirty="0">
                <a:solidFill>
                  <a:srgbClr val="FF0000"/>
                </a:solidFill>
                <a:latin typeface="Arial" panose="020B0604020202090204" pitchFamily="34" charset="0"/>
                <a:cs typeface="Arial" panose="020B0604020202090204" pitchFamily="34" charset="0"/>
              </a:rPr>
              <a:t>; </a:t>
            </a:r>
            <a:endParaRPr lang="zh-CN" altLang="en-US" sz="2800" dirty="0">
              <a:solidFill>
                <a:srgbClr val="FF0000"/>
              </a:solidFill>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anim calcmode="lin" valueType="num">
                                      <p:cBhvr additive="base">
                                        <p:cTn id="4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dirty="0"/>
              <a:t>③</a:t>
            </a:r>
            <a:r>
              <a:rPr lang="en-US" altLang="zh-CN" dirty="0"/>
              <a:t> </a:t>
            </a:r>
            <a:r>
              <a:rPr lang="zh-CN" altLang="en-US" dirty="0"/>
              <a:t>确定集合</a:t>
            </a:r>
            <a:endParaRPr lang="zh-CN" altLang="en-US" dirty="0"/>
          </a:p>
        </p:txBody>
      </p:sp>
      <p:sp>
        <p:nvSpPr>
          <p:cNvPr id="80899" name="Rectangle 3"/>
          <p:cNvSpPr>
            <a:spLocks noGrp="1" noChangeArrowheads="1"/>
          </p:cNvSpPr>
          <p:nvPr>
            <p:ph idx="1"/>
          </p:nvPr>
        </p:nvSpPr>
        <p:spPr>
          <a:xfrm>
            <a:off x="424180" y="687070"/>
            <a:ext cx="11343005" cy="521970"/>
          </a:xfrm>
          <a:solidFill>
            <a:schemeClr val="accent3">
              <a:lumMod val="20000"/>
              <a:lumOff val="80000"/>
              <a:alpha val="50000"/>
            </a:schemeClr>
          </a:solidFill>
        </p:spPr>
        <p:txBody>
          <a:bodyPr>
            <a:noAutofit/>
          </a:bodyPr>
          <a:lstStyle/>
          <a:p>
            <a:pPr>
              <a:lnSpc>
                <a:spcPct val="100000"/>
              </a:lnSpc>
              <a:spcBef>
                <a:spcPct val="0"/>
              </a:spcBef>
            </a:pPr>
            <a:r>
              <a:rPr lang="zh-CN" altLang="en-US" sz="2800" dirty="0"/>
              <a:t>谓词：</a:t>
            </a:r>
            <a:r>
              <a:rPr lang="en-US" altLang="zh-CN" sz="2800" dirty="0"/>
              <a:t>IN &lt;</a:t>
            </a:r>
            <a:r>
              <a:rPr lang="zh-CN" altLang="en-US" sz="2800" dirty="0"/>
              <a:t>值表</a:t>
            </a:r>
            <a:r>
              <a:rPr lang="en-US" altLang="zh-CN" sz="2800" dirty="0"/>
              <a:t>&gt;,  NOT IN &lt;</a:t>
            </a:r>
            <a:r>
              <a:rPr lang="zh-CN" altLang="en-US" sz="2800" dirty="0"/>
              <a:t>值表</a:t>
            </a:r>
            <a:r>
              <a:rPr lang="en-US" altLang="zh-CN" sz="2800" dirty="0"/>
              <a:t>&gt;</a:t>
            </a:r>
            <a:endParaRPr lang="en-US" altLang="zh-CN" sz="2800"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4" name="Rectangle 3"/>
          <p:cNvSpPr>
            <a:spLocks noGrp="1" noChangeArrowheads="1"/>
          </p:cNvSpPr>
          <p:nvPr/>
        </p:nvSpPr>
        <p:spPr>
          <a:xfrm>
            <a:off x="424180" y="1461135"/>
            <a:ext cx="11343005" cy="478472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ts val="3000"/>
              </a:spcBef>
            </a:pPr>
            <a:r>
              <a:rPr lang="en-US" altLang="zh-CN" sz="2800" dirty="0"/>
              <a:t>[</a:t>
            </a:r>
            <a:r>
              <a:rPr lang="zh-CN" altLang="en-US" sz="2800" dirty="0"/>
              <a:t>例</a:t>
            </a:r>
            <a:r>
              <a:rPr lang="en-US" altLang="zh-CN" sz="2800" dirty="0"/>
              <a:t>3.27]</a:t>
            </a:r>
            <a:r>
              <a:rPr lang="zh-CN" altLang="en-US" sz="2800" dirty="0"/>
              <a:t>查询计算机科学系（</a:t>
            </a:r>
            <a:r>
              <a:rPr lang="en-US" altLang="zh-CN" sz="2800" dirty="0"/>
              <a:t>CS</a:t>
            </a:r>
            <a:r>
              <a:rPr lang="zh-CN" altLang="en-US" sz="2800" dirty="0"/>
              <a:t>）、数学系（</a:t>
            </a:r>
            <a:r>
              <a:rPr lang="en-US" altLang="zh-CN" sz="2800" dirty="0"/>
              <a:t>MA</a:t>
            </a:r>
            <a:r>
              <a:rPr lang="zh-CN" altLang="en-US" sz="2800" dirty="0"/>
              <a:t>）和信息系（</a:t>
            </a:r>
            <a:r>
              <a:rPr lang="en-US" altLang="zh-CN" sz="2800" dirty="0"/>
              <a:t>IS</a:t>
            </a:r>
            <a:r>
              <a:rPr lang="zh-CN" altLang="en-US" sz="2800" dirty="0"/>
              <a:t>）学生的姓名和性别。</a:t>
            </a:r>
            <a:endParaRPr lang="zh-CN" altLang="en-US" sz="2800" dirty="0"/>
          </a:p>
          <a:p>
            <a:pPr marL="821055" lvl="2"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SELECT </a:t>
            </a:r>
            <a:r>
              <a:rPr lang="en-US" altLang="zh-CN" sz="2800" dirty="0" err="1">
                <a:solidFill>
                  <a:srgbClr val="FF0000"/>
                </a:solidFill>
                <a:latin typeface="Arial" panose="020B0604020202090204" pitchFamily="34" charset="0"/>
                <a:cs typeface="Arial" panose="020B0604020202090204" pitchFamily="34" charset="0"/>
              </a:rPr>
              <a:t>Sname</a:t>
            </a:r>
            <a:r>
              <a:rPr lang="zh-CN" altLang="en-US" sz="2800" dirty="0">
                <a:solidFill>
                  <a:srgbClr val="FF0000"/>
                </a:solidFill>
                <a:latin typeface="Arial" panose="020B0604020202090204" pitchFamily="34" charset="0"/>
                <a:cs typeface="Arial" panose="020B0604020202090204" pitchFamily="34" charset="0"/>
              </a:rPr>
              <a:t>, </a:t>
            </a:r>
            <a:r>
              <a:rPr lang="en-US" altLang="zh-CN" sz="2800" dirty="0" err="1">
                <a:solidFill>
                  <a:srgbClr val="FF0000"/>
                </a:solidFill>
                <a:latin typeface="Arial" panose="020B0604020202090204" pitchFamily="34" charset="0"/>
                <a:cs typeface="Arial" panose="020B0604020202090204" pitchFamily="34" charset="0"/>
              </a:rPr>
              <a:t>Ssex</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FROM  Student</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WHERE </a:t>
            </a:r>
            <a:r>
              <a:rPr lang="en-US" altLang="zh-CN" sz="2800" dirty="0" err="1">
                <a:solidFill>
                  <a:srgbClr val="FF0000"/>
                </a:solidFill>
                <a:latin typeface="Arial" panose="020B0604020202090204" pitchFamily="34" charset="0"/>
                <a:cs typeface="Arial" panose="020B0604020202090204" pitchFamily="34" charset="0"/>
              </a:rPr>
              <a:t>Sdept</a:t>
            </a:r>
            <a:r>
              <a:rPr lang="en-US" altLang="zh-CN" sz="2800" dirty="0">
                <a:solidFill>
                  <a:srgbClr val="FF0000"/>
                </a:solidFill>
                <a:latin typeface="Arial" panose="020B0604020202090204" pitchFamily="34" charset="0"/>
                <a:cs typeface="Arial" panose="020B0604020202090204" pitchFamily="34" charset="0"/>
              </a:rPr>
              <a:t> IN </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 'CS', 'MA</a:t>
            </a:r>
            <a:r>
              <a:rPr lang="en-US" altLang="zh-CN" dirty="0">
                <a:solidFill>
                  <a:srgbClr val="FF0000"/>
                </a:solidFill>
                <a:latin typeface="Arial" panose="020B0604020202090204" pitchFamily="34" charset="0"/>
                <a:cs typeface="Arial" panose="020B0604020202090204" pitchFamily="34" charset="0"/>
                <a:sym typeface="+mn-ea"/>
              </a:rPr>
              <a:t>'</a:t>
            </a:r>
            <a:r>
              <a:rPr lang="en-US" altLang="zh-CN" sz="2800" dirty="0">
                <a:solidFill>
                  <a:srgbClr val="FF0000"/>
                </a:solidFill>
                <a:latin typeface="Arial" panose="020B0604020202090204" pitchFamily="34" charset="0"/>
                <a:cs typeface="Arial" panose="020B0604020202090204" pitchFamily="34" charset="0"/>
              </a:rPr>
              <a:t>, 'IS' </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a:t>
            </a:r>
            <a:endParaRPr lang="en-US" altLang="zh-CN" sz="2800" dirty="0">
              <a:solidFill>
                <a:srgbClr val="FF0000"/>
              </a:solidFill>
              <a:latin typeface="Arial" panose="020B0604020202090204" pitchFamily="34" charset="0"/>
              <a:cs typeface="Arial" panose="020B0604020202090204" pitchFamily="34" charset="0"/>
            </a:endParaRPr>
          </a:p>
          <a:p>
            <a:pPr>
              <a:lnSpc>
                <a:spcPct val="100000"/>
              </a:lnSpc>
              <a:spcBef>
                <a:spcPts val="3000"/>
              </a:spcBef>
            </a:pPr>
            <a:r>
              <a:rPr lang="en-US" altLang="zh-CN" sz="2800" dirty="0"/>
              <a:t>[</a:t>
            </a:r>
            <a:r>
              <a:rPr lang="zh-CN" altLang="en-US" sz="2800" dirty="0"/>
              <a:t>例</a:t>
            </a:r>
            <a:r>
              <a:rPr lang="en-US" altLang="zh-CN" sz="2800" dirty="0"/>
              <a:t>3.28]</a:t>
            </a:r>
            <a:r>
              <a:rPr lang="zh-CN" altLang="en-US" sz="2800" dirty="0"/>
              <a:t>查询既不是计算机科学系、数学系，也不是信息系的学生的姓名和性别。</a:t>
            </a:r>
            <a:endParaRPr lang="zh-CN" altLang="en-US" sz="2800" dirty="0"/>
          </a:p>
          <a:p>
            <a:pPr marL="821055" lvl="2"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SELECT </a:t>
            </a:r>
            <a:r>
              <a:rPr lang="en-US" altLang="zh-CN" sz="2800" dirty="0" err="1">
                <a:solidFill>
                  <a:srgbClr val="FF0000"/>
                </a:solidFill>
                <a:latin typeface="Arial" panose="020B0604020202090204" pitchFamily="34" charset="0"/>
                <a:cs typeface="Arial" panose="020B0604020202090204" pitchFamily="34" charset="0"/>
              </a:rPr>
              <a:t>Sname</a:t>
            </a:r>
            <a:r>
              <a:rPr lang="zh-CN" altLang="en-US" sz="2800" dirty="0">
                <a:solidFill>
                  <a:srgbClr val="FF0000"/>
                </a:solidFill>
                <a:latin typeface="Arial" panose="020B0604020202090204" pitchFamily="34" charset="0"/>
                <a:cs typeface="Arial" panose="020B0604020202090204" pitchFamily="34" charset="0"/>
              </a:rPr>
              <a:t>, </a:t>
            </a:r>
            <a:r>
              <a:rPr lang="en-US" altLang="zh-CN" sz="2800" dirty="0" err="1">
                <a:solidFill>
                  <a:srgbClr val="FF0000"/>
                </a:solidFill>
                <a:latin typeface="Arial" panose="020B0604020202090204" pitchFamily="34" charset="0"/>
                <a:cs typeface="Arial" panose="020B0604020202090204" pitchFamily="34" charset="0"/>
              </a:rPr>
              <a:t>Ssex</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FROM Student</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WHERE </a:t>
            </a:r>
            <a:r>
              <a:rPr lang="en-US" altLang="zh-CN" sz="2800" dirty="0" err="1">
                <a:solidFill>
                  <a:srgbClr val="FF0000"/>
                </a:solidFill>
                <a:latin typeface="Arial" panose="020B0604020202090204" pitchFamily="34" charset="0"/>
                <a:cs typeface="Arial" panose="020B0604020202090204" pitchFamily="34" charset="0"/>
              </a:rPr>
              <a:t>Sdept</a:t>
            </a:r>
            <a:r>
              <a:rPr lang="en-US" altLang="zh-CN" sz="2800" dirty="0">
                <a:solidFill>
                  <a:srgbClr val="FF0000"/>
                </a:solidFill>
                <a:latin typeface="Arial" panose="020B0604020202090204" pitchFamily="34" charset="0"/>
                <a:cs typeface="Arial" panose="020B0604020202090204" pitchFamily="34" charset="0"/>
              </a:rPr>
              <a:t> NOT IN </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 'IS', 'MA’, 'CS' </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a:t>
            </a:r>
            <a:endParaRPr lang="en-US" altLang="zh-CN" sz="2800" dirty="0">
              <a:solidFill>
                <a:srgbClr val="FF0000"/>
              </a:solidFill>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anim calcmode="lin" valueType="num">
                                      <p:cBhvr additive="base">
                                        <p:cTn id="4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dirty="0"/>
              <a:t>④ 字符匹配 </a:t>
            </a:r>
            <a:r>
              <a:rPr lang="en-US" altLang="zh-CN" dirty="0"/>
              <a:t>1</a:t>
            </a:r>
            <a:endParaRPr lang="zh-CN" altLang="en-US" dirty="0"/>
          </a:p>
        </p:txBody>
      </p:sp>
      <p:sp>
        <p:nvSpPr>
          <p:cNvPr id="81923" name="Rectangle 3"/>
          <p:cNvSpPr>
            <a:spLocks noGrp="1" noChangeArrowheads="1"/>
          </p:cNvSpPr>
          <p:nvPr>
            <p:ph idx="1"/>
          </p:nvPr>
        </p:nvSpPr>
        <p:spPr>
          <a:xfrm>
            <a:off x="424180" y="687070"/>
            <a:ext cx="11343005" cy="2460625"/>
          </a:xfrm>
          <a:solidFill>
            <a:schemeClr val="accent3">
              <a:lumMod val="20000"/>
              <a:lumOff val="80000"/>
              <a:alpha val="50000"/>
            </a:schemeClr>
          </a:solidFill>
        </p:spPr>
        <p:txBody>
          <a:bodyPr>
            <a:noAutofit/>
          </a:bodyPr>
          <a:lstStyle/>
          <a:p>
            <a:pPr>
              <a:lnSpc>
                <a:spcPct val="110000"/>
              </a:lnSpc>
              <a:spcBef>
                <a:spcPts val="0"/>
              </a:spcBef>
            </a:pPr>
            <a:r>
              <a:rPr lang="zh-CN" altLang="en-US" sz="2800" dirty="0">
                <a:latin typeface="Arial" panose="020B0604020202090204" pitchFamily="34" charset="0"/>
                <a:cs typeface="Arial" panose="020B0604020202090204" pitchFamily="34" charset="0"/>
              </a:rPr>
              <a:t>谓词： </a:t>
            </a:r>
            <a:r>
              <a:rPr lang="en-US" altLang="zh-CN" sz="2800" dirty="0">
                <a:solidFill>
                  <a:srgbClr val="FF0000"/>
                </a:solidFill>
                <a:latin typeface="Arial" panose="020B0604020202090204" pitchFamily="34" charset="0"/>
                <a:cs typeface="Arial" panose="020B0604020202090204" pitchFamily="34" charset="0"/>
              </a:rPr>
              <a:t>[ NOT ] LIKE  ‘&lt;</a:t>
            </a:r>
            <a:r>
              <a:rPr lang="zh-CN" altLang="en-US" sz="2800" dirty="0">
                <a:solidFill>
                  <a:srgbClr val="FF0000"/>
                </a:solidFill>
                <a:latin typeface="Arial" panose="020B0604020202090204" pitchFamily="34" charset="0"/>
                <a:cs typeface="Arial" panose="020B0604020202090204" pitchFamily="34" charset="0"/>
              </a:rPr>
              <a:t>匹配串</a:t>
            </a:r>
            <a:r>
              <a:rPr lang="en-US" altLang="zh-CN" sz="2800" dirty="0">
                <a:solidFill>
                  <a:srgbClr val="FF0000"/>
                </a:solidFill>
                <a:latin typeface="Arial" panose="020B0604020202090204" pitchFamily="34" charset="0"/>
                <a:cs typeface="Arial" panose="020B0604020202090204" pitchFamily="34" charset="0"/>
              </a:rPr>
              <a:t>&gt;’  [ ESCAPE  ‘&lt;</a:t>
            </a:r>
            <a:r>
              <a:rPr lang="zh-CN" altLang="en-US" sz="2800" dirty="0">
                <a:solidFill>
                  <a:srgbClr val="FF0000"/>
                </a:solidFill>
                <a:latin typeface="Arial" panose="020B0604020202090204" pitchFamily="34" charset="0"/>
                <a:cs typeface="Arial" panose="020B0604020202090204" pitchFamily="34" charset="0"/>
              </a:rPr>
              <a:t>换码字符</a:t>
            </a:r>
            <a:r>
              <a:rPr lang="en-US" altLang="zh-CN" sz="2800" dirty="0">
                <a:solidFill>
                  <a:srgbClr val="FF0000"/>
                </a:solidFill>
                <a:latin typeface="Arial" panose="020B0604020202090204" pitchFamily="34" charset="0"/>
                <a:cs typeface="Arial" panose="020B0604020202090204" pitchFamily="34" charset="0"/>
              </a:rPr>
              <a:t>&gt;’ ]</a:t>
            </a:r>
            <a:endParaRPr lang="en-US" altLang="zh-CN" sz="2800" dirty="0">
              <a:latin typeface="Arial" panose="020B0604020202090204" pitchFamily="34" charset="0"/>
              <a:cs typeface="Arial" panose="020B0604020202090204" pitchFamily="34" charset="0"/>
            </a:endParaRPr>
          </a:p>
          <a:p>
            <a:pPr lvl="1">
              <a:lnSpc>
                <a:spcPct val="110000"/>
              </a:lnSpc>
              <a:spcBef>
                <a:spcPts val="0"/>
              </a:spcBef>
            </a:pPr>
            <a:r>
              <a:rPr lang="en-US" altLang="zh-CN" sz="2800" dirty="0">
                <a:latin typeface="Arial" panose="020B0604020202090204" pitchFamily="34" charset="0"/>
                <a:cs typeface="Arial" panose="020B0604020202090204" pitchFamily="34" charset="0"/>
              </a:rPr>
              <a:t>&lt;</a:t>
            </a:r>
            <a:r>
              <a:rPr lang="zh-CN" altLang="en-US" sz="2800" dirty="0">
                <a:latin typeface="Arial" panose="020B0604020202090204" pitchFamily="34" charset="0"/>
                <a:cs typeface="Arial" panose="020B0604020202090204" pitchFamily="34" charset="0"/>
              </a:rPr>
              <a:t>匹配串</a:t>
            </a:r>
            <a:r>
              <a:rPr lang="en-US" altLang="zh-CN" sz="2800" dirty="0">
                <a:latin typeface="Arial" panose="020B0604020202090204" pitchFamily="34" charset="0"/>
                <a:cs typeface="Arial" panose="020B0604020202090204" pitchFamily="34" charset="0"/>
              </a:rPr>
              <a:t>&gt;</a:t>
            </a:r>
            <a:r>
              <a:rPr lang="zh-CN" altLang="en-US" sz="2800" dirty="0">
                <a:latin typeface="Arial" panose="020B0604020202090204" pitchFamily="34" charset="0"/>
                <a:cs typeface="Arial" panose="020B0604020202090204" pitchFamily="34" charset="0"/>
              </a:rPr>
              <a:t>可以是一个完整的字符串，也可以含有通配符</a:t>
            </a: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（任意长度（长度可以为</a:t>
            </a:r>
            <a:r>
              <a:rPr lang="en-US" altLang="zh-CN" sz="2800" dirty="0">
                <a:latin typeface="Arial" panose="020B0604020202090204" pitchFamily="34" charset="0"/>
                <a:cs typeface="Arial" panose="020B0604020202090204" pitchFamily="34" charset="0"/>
              </a:rPr>
              <a:t>0</a:t>
            </a:r>
            <a:r>
              <a:rPr lang="zh-CN" altLang="en-US" sz="2800" dirty="0">
                <a:latin typeface="Arial" panose="020B0604020202090204" pitchFamily="34" charset="0"/>
                <a:cs typeface="Arial" panose="020B0604020202090204" pitchFamily="34" charset="0"/>
              </a:rPr>
              <a:t>）的字符串）和</a:t>
            </a:r>
            <a:r>
              <a:rPr lang="en-US" altLang="zh-CN" sz="2800" dirty="0">
                <a:latin typeface="Arial" panose="020B0604020202090204" pitchFamily="34" charset="0"/>
                <a:cs typeface="Arial" panose="020B0604020202090204" pitchFamily="34" charset="0"/>
              </a:rPr>
              <a:t> _</a:t>
            </a:r>
            <a:r>
              <a:rPr lang="zh-CN" altLang="en-US" sz="2800" dirty="0">
                <a:latin typeface="Arial" panose="020B0604020202090204" pitchFamily="34" charset="0"/>
                <a:cs typeface="Arial" panose="020B0604020202090204" pitchFamily="34" charset="0"/>
              </a:rPr>
              <a:t>（任意单个字符）</a:t>
            </a:r>
            <a:endParaRPr lang="en-US" altLang="zh-CN" sz="2800" dirty="0">
              <a:latin typeface="Arial" panose="020B0604020202090204" pitchFamily="34" charset="0"/>
              <a:cs typeface="Arial" panose="020B0604020202090204" pitchFamily="34" charset="0"/>
            </a:endParaRPr>
          </a:p>
          <a:p>
            <a:pPr lvl="2">
              <a:lnSpc>
                <a:spcPct val="110000"/>
              </a:lnSpc>
              <a:spcBef>
                <a:spcPts val="0"/>
              </a:spcBef>
            </a:pPr>
            <a:r>
              <a:rPr lang="zh-CN" altLang="en-US" sz="2800" dirty="0">
                <a:latin typeface="Arial" panose="020B0604020202090204" pitchFamily="34" charset="0"/>
                <a:cs typeface="Arial" panose="020B0604020202090204" pitchFamily="34" charset="0"/>
              </a:rPr>
              <a:t>例如：</a:t>
            </a:r>
            <a:r>
              <a:rPr lang="en-US" altLang="zh-CN" sz="2800" dirty="0" err="1">
                <a:latin typeface="Arial" panose="020B0604020202090204" pitchFamily="34" charset="0"/>
                <a:cs typeface="Arial" panose="020B0604020202090204" pitchFamily="34" charset="0"/>
              </a:rPr>
              <a:t>a%b</a:t>
            </a:r>
            <a:r>
              <a:rPr lang="zh-CN" altLang="en-US" sz="2800" dirty="0">
                <a:latin typeface="Arial" panose="020B0604020202090204" pitchFamily="34" charset="0"/>
                <a:cs typeface="Arial" panose="020B0604020202090204" pitchFamily="34" charset="0"/>
              </a:rPr>
              <a:t>表示以</a:t>
            </a:r>
            <a:r>
              <a:rPr lang="en-US" altLang="zh-CN" sz="2800" dirty="0">
                <a:latin typeface="Arial" panose="020B0604020202090204" pitchFamily="34" charset="0"/>
                <a:cs typeface="Arial" panose="020B0604020202090204" pitchFamily="34" charset="0"/>
              </a:rPr>
              <a:t>a</a:t>
            </a:r>
            <a:r>
              <a:rPr lang="zh-CN" altLang="en-US" sz="2800" dirty="0">
                <a:latin typeface="Arial" panose="020B0604020202090204" pitchFamily="34" charset="0"/>
                <a:cs typeface="Arial" panose="020B0604020202090204" pitchFamily="34" charset="0"/>
              </a:rPr>
              <a:t>开头，以</a:t>
            </a:r>
            <a:r>
              <a:rPr lang="en-US" altLang="zh-CN" sz="2800" dirty="0">
                <a:latin typeface="Arial" panose="020B0604020202090204" pitchFamily="34" charset="0"/>
                <a:cs typeface="Arial" panose="020B0604020202090204" pitchFamily="34" charset="0"/>
              </a:rPr>
              <a:t>b</a:t>
            </a:r>
            <a:r>
              <a:rPr lang="zh-CN" altLang="en-US" sz="2800" dirty="0">
                <a:latin typeface="Arial" panose="020B0604020202090204" pitchFamily="34" charset="0"/>
                <a:cs typeface="Arial" panose="020B0604020202090204" pitchFamily="34" charset="0"/>
              </a:rPr>
              <a:t>结尾的任意长度的字符串</a:t>
            </a:r>
            <a:endParaRPr lang="en-US" altLang="zh-CN" sz="2800" dirty="0">
              <a:latin typeface="Arial" panose="020B0604020202090204" pitchFamily="34" charset="0"/>
              <a:cs typeface="Arial" panose="020B0604020202090204" pitchFamily="34" charset="0"/>
            </a:endParaRPr>
          </a:p>
          <a:p>
            <a:pPr lvl="2">
              <a:lnSpc>
                <a:spcPct val="110000"/>
              </a:lnSpc>
              <a:spcBef>
                <a:spcPts val="0"/>
              </a:spcBef>
            </a:pPr>
            <a:r>
              <a:rPr lang="zh-CN" altLang="en-US" sz="2800" dirty="0">
                <a:latin typeface="Arial" panose="020B0604020202090204" pitchFamily="34" charset="0"/>
                <a:cs typeface="Arial" panose="020B0604020202090204" pitchFamily="34" charset="0"/>
              </a:rPr>
              <a:t>例如：</a:t>
            </a:r>
            <a:r>
              <a:rPr lang="en-US" altLang="zh-CN" sz="2800" dirty="0" err="1">
                <a:latin typeface="Arial" panose="020B0604020202090204" pitchFamily="34" charset="0"/>
                <a:cs typeface="Arial" panose="020B0604020202090204" pitchFamily="34" charset="0"/>
              </a:rPr>
              <a:t>a_b</a:t>
            </a:r>
            <a:r>
              <a:rPr lang="zh-CN" altLang="en-US" sz="2800" dirty="0">
                <a:latin typeface="Arial" panose="020B0604020202090204" pitchFamily="34" charset="0"/>
                <a:cs typeface="Arial" panose="020B0604020202090204" pitchFamily="34" charset="0"/>
              </a:rPr>
              <a:t>表示以</a:t>
            </a:r>
            <a:r>
              <a:rPr lang="en-US" altLang="zh-CN" sz="2800" dirty="0">
                <a:latin typeface="Arial" panose="020B0604020202090204" pitchFamily="34" charset="0"/>
                <a:cs typeface="Arial" panose="020B0604020202090204" pitchFamily="34" charset="0"/>
              </a:rPr>
              <a:t>a</a:t>
            </a:r>
            <a:r>
              <a:rPr lang="zh-CN" altLang="en-US" sz="2800" dirty="0">
                <a:latin typeface="Arial" panose="020B0604020202090204" pitchFamily="34" charset="0"/>
                <a:cs typeface="Arial" panose="020B0604020202090204" pitchFamily="34" charset="0"/>
              </a:rPr>
              <a:t>开头，以</a:t>
            </a:r>
            <a:r>
              <a:rPr lang="en-US" altLang="zh-CN" sz="2800" dirty="0">
                <a:latin typeface="Arial" panose="020B0604020202090204" pitchFamily="34" charset="0"/>
                <a:cs typeface="Arial" panose="020B0604020202090204" pitchFamily="34" charset="0"/>
              </a:rPr>
              <a:t>b</a:t>
            </a:r>
            <a:r>
              <a:rPr lang="zh-CN" altLang="en-US" sz="2800" dirty="0">
                <a:latin typeface="Arial" panose="020B0604020202090204" pitchFamily="34" charset="0"/>
                <a:cs typeface="Arial" panose="020B0604020202090204" pitchFamily="34" charset="0"/>
              </a:rPr>
              <a:t>结尾的长度为</a:t>
            </a:r>
            <a:r>
              <a:rPr lang="en-US" altLang="zh-CN" sz="2800" dirty="0">
                <a:latin typeface="Arial" panose="020B0604020202090204" pitchFamily="34" charset="0"/>
                <a:cs typeface="Arial" panose="020B0604020202090204" pitchFamily="34" charset="0"/>
              </a:rPr>
              <a:t>3</a:t>
            </a:r>
            <a:r>
              <a:rPr lang="zh-CN" altLang="en-US" sz="2800" dirty="0">
                <a:latin typeface="Arial" panose="020B0604020202090204" pitchFamily="34" charset="0"/>
                <a:cs typeface="Arial" panose="020B0604020202090204" pitchFamily="34" charset="0"/>
              </a:rPr>
              <a:t>的任意字符串</a:t>
            </a:r>
            <a:endParaRPr lang="zh-CN" altLang="en-US" sz="2800"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4" name="Rectangle 3"/>
          <p:cNvSpPr>
            <a:spLocks noGrp="1" noChangeArrowheads="1"/>
          </p:cNvSpPr>
          <p:nvPr/>
        </p:nvSpPr>
        <p:spPr>
          <a:xfrm>
            <a:off x="424180" y="3365500"/>
            <a:ext cx="11343005" cy="297370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fontAlgn="auto">
              <a:lnSpc>
                <a:spcPct val="110000"/>
              </a:lnSpc>
              <a:spcBef>
                <a:spcPts val="1000"/>
              </a:spcBef>
            </a:pPr>
            <a:r>
              <a:rPr lang="zh-CN" altLang="en-US" sz="2800" dirty="0">
                <a:highlight>
                  <a:srgbClr val="FFFF00"/>
                </a:highlight>
                <a:latin typeface="Arial" panose="020B0604020202090204" pitchFamily="34" charset="0"/>
                <a:cs typeface="Arial" panose="020B0604020202090204" pitchFamily="34" charset="0"/>
              </a:rPr>
              <a:t>匹配串为固定字符串</a:t>
            </a:r>
            <a:endParaRPr lang="zh-CN" altLang="en-US" sz="2800" dirty="0">
              <a:latin typeface="Arial" panose="020B0604020202090204" pitchFamily="34" charset="0"/>
              <a:cs typeface="Arial" panose="020B0604020202090204" pitchFamily="34" charset="0"/>
            </a:endParaRPr>
          </a:p>
          <a:p>
            <a:pPr lvl="1" fontAlgn="auto">
              <a:lnSpc>
                <a:spcPct val="110000"/>
              </a:lnSpc>
              <a:spcBef>
                <a:spcPts val="1000"/>
              </a:spcBef>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例</a:t>
            </a:r>
            <a:r>
              <a:rPr lang="en-US" altLang="zh-CN" sz="2800" dirty="0">
                <a:latin typeface="Arial" panose="020B0604020202090204" pitchFamily="34" charset="0"/>
                <a:cs typeface="Arial" panose="020B0604020202090204" pitchFamily="34" charset="0"/>
              </a:rPr>
              <a:t>3.29]  </a:t>
            </a:r>
            <a:r>
              <a:rPr lang="zh-CN" altLang="en-US" sz="2800" dirty="0">
                <a:latin typeface="Arial" panose="020B0604020202090204" pitchFamily="34" charset="0"/>
                <a:cs typeface="Arial" panose="020B0604020202090204" pitchFamily="34" charset="0"/>
              </a:rPr>
              <a:t>查询学号为</a:t>
            </a:r>
            <a:r>
              <a:rPr lang="en-US" altLang="zh-CN" sz="2800" dirty="0">
                <a:latin typeface="Arial" panose="020B0604020202090204" pitchFamily="34" charset="0"/>
                <a:cs typeface="Arial" panose="020B0604020202090204" pitchFamily="34" charset="0"/>
              </a:rPr>
              <a:t>201215121</a:t>
            </a:r>
            <a:r>
              <a:rPr lang="zh-CN" altLang="en-US" sz="2800" dirty="0">
                <a:latin typeface="Arial" panose="020B0604020202090204" pitchFamily="34" charset="0"/>
                <a:cs typeface="Arial" panose="020B0604020202090204" pitchFamily="34" charset="0"/>
              </a:rPr>
              <a:t>的学生的详细情况。</a:t>
            </a:r>
            <a:endParaRPr lang="zh-CN" altLang="en-US" sz="2800" dirty="0">
              <a:latin typeface="Arial" panose="020B0604020202090204" pitchFamily="34" charset="0"/>
              <a:cs typeface="Arial" panose="020B0604020202090204" pitchFamily="34" charset="0"/>
            </a:endParaRPr>
          </a:p>
          <a:p>
            <a:pPr marL="727075" lvl="2" indent="0" fontAlgn="auto">
              <a:lnSpc>
                <a:spcPct val="110000"/>
              </a:lnSpc>
              <a:spcBef>
                <a:spcPts val="1000"/>
              </a:spcBef>
              <a:buNone/>
            </a:pPr>
            <a:r>
              <a:rPr lang="en-US" altLang="zh-CN" sz="2800" dirty="0">
                <a:solidFill>
                  <a:srgbClr val="FF0000"/>
                </a:solidFill>
                <a:latin typeface="Arial" panose="020B0604020202090204" pitchFamily="34" charset="0"/>
                <a:cs typeface="Arial" panose="020B0604020202090204" pitchFamily="34" charset="0"/>
              </a:rPr>
              <a:t>SELECT *  FROM  Student  WHERE  </a:t>
            </a:r>
            <a:r>
              <a:rPr lang="en-US" altLang="zh-CN" sz="2800" dirty="0" err="1">
                <a:solidFill>
                  <a:srgbClr val="FF0000"/>
                </a:solidFill>
                <a:latin typeface="Arial" panose="020B0604020202090204" pitchFamily="34" charset="0"/>
                <a:cs typeface="Arial" panose="020B0604020202090204" pitchFamily="34" charset="0"/>
              </a:rPr>
              <a:t>Sno</a:t>
            </a:r>
            <a:r>
              <a:rPr lang="en-US" altLang="zh-CN" sz="2800" dirty="0">
                <a:solidFill>
                  <a:srgbClr val="FF0000"/>
                </a:solidFill>
                <a:latin typeface="Arial" panose="020B0604020202090204" pitchFamily="34" charset="0"/>
                <a:cs typeface="Arial" panose="020B0604020202090204" pitchFamily="34" charset="0"/>
              </a:rPr>
              <a:t> LIKE ‘201215121’</a:t>
            </a:r>
            <a:r>
              <a:rPr lang="zh-CN" altLang="en-US" sz="2800" dirty="0">
                <a:solidFill>
                  <a:srgbClr val="FF0000"/>
                </a:solidFill>
                <a:latin typeface="Arial" panose="020B0604020202090204" pitchFamily="34" charset="0"/>
                <a:cs typeface="Arial" panose="020B0604020202090204" pitchFamily="34" charset="0"/>
              </a:rPr>
              <a:t>;</a:t>
            </a:r>
            <a:endParaRPr lang="zh-CN" altLang="en-US" sz="2800" dirty="0">
              <a:latin typeface="Arial" panose="020B0604020202090204" pitchFamily="34" charset="0"/>
              <a:cs typeface="Arial" panose="020B0604020202090204" pitchFamily="34" charset="0"/>
            </a:endParaRPr>
          </a:p>
          <a:p>
            <a:pPr lvl="1" fontAlgn="auto">
              <a:lnSpc>
                <a:spcPct val="110000"/>
              </a:lnSpc>
              <a:spcBef>
                <a:spcPts val="1000"/>
              </a:spcBef>
            </a:pPr>
            <a:r>
              <a:rPr lang="zh-CN" altLang="en-US" sz="2800" dirty="0">
                <a:latin typeface="Arial" panose="020B0604020202090204" pitchFamily="34" charset="0"/>
                <a:cs typeface="Arial" panose="020B0604020202090204" pitchFamily="34" charset="0"/>
              </a:rPr>
              <a:t>在</a:t>
            </a:r>
            <a:r>
              <a:rPr lang="en-US" altLang="zh-CN" sz="2800" dirty="0">
                <a:latin typeface="Arial" panose="020B0604020202090204" pitchFamily="34" charset="0"/>
                <a:cs typeface="Arial" panose="020B0604020202090204" pitchFamily="34" charset="0"/>
              </a:rPr>
              <a:t>&lt;</a:t>
            </a:r>
            <a:r>
              <a:rPr lang="zh-CN" altLang="en-US" sz="2800" dirty="0">
                <a:latin typeface="Arial" panose="020B0604020202090204" pitchFamily="34" charset="0"/>
                <a:cs typeface="Arial" panose="020B0604020202090204" pitchFamily="34" charset="0"/>
              </a:rPr>
              <a:t>匹配串</a:t>
            </a:r>
            <a:r>
              <a:rPr lang="en-US" altLang="zh-CN" sz="2800" dirty="0">
                <a:latin typeface="Arial" panose="020B0604020202090204" pitchFamily="34" charset="0"/>
                <a:cs typeface="Arial" panose="020B0604020202090204" pitchFamily="34" charset="0"/>
              </a:rPr>
              <a:t>&gt;</a:t>
            </a:r>
            <a:r>
              <a:rPr lang="zh-CN" altLang="en-US" sz="2800" dirty="0">
                <a:latin typeface="Arial" panose="020B0604020202090204" pitchFamily="34" charset="0"/>
                <a:cs typeface="Arial" panose="020B0604020202090204" pitchFamily="34" charset="0"/>
              </a:rPr>
              <a:t>中不含通配符，该</a:t>
            </a:r>
            <a:r>
              <a:rPr lang="zh-CN" altLang="en-US" sz="2800" dirty="0">
                <a:latin typeface="Arial" panose="020B0604020202090204" pitchFamily="34" charset="0"/>
                <a:cs typeface="Arial" panose="020B0604020202090204" pitchFamily="34" charset="0"/>
              </a:rPr>
              <a:t>查询等价于： </a:t>
            </a:r>
            <a:endParaRPr lang="zh-CN" altLang="en-US" sz="2800" dirty="0">
              <a:latin typeface="Arial" panose="020B0604020202090204" pitchFamily="34" charset="0"/>
              <a:cs typeface="Arial" panose="020B0604020202090204" pitchFamily="34" charset="0"/>
            </a:endParaRPr>
          </a:p>
          <a:p>
            <a:pPr marL="715645" lvl="2" indent="0" fontAlgn="auto">
              <a:lnSpc>
                <a:spcPct val="110000"/>
              </a:lnSpc>
              <a:spcBef>
                <a:spcPts val="1000"/>
              </a:spcBef>
              <a:buNone/>
            </a:pPr>
            <a:r>
              <a:rPr lang="en-US" altLang="zh-CN" sz="2800" dirty="0">
                <a:solidFill>
                  <a:srgbClr val="FF0000"/>
                </a:solidFill>
                <a:latin typeface="Arial" panose="020B0604020202090204" pitchFamily="34" charset="0"/>
                <a:cs typeface="Arial" panose="020B0604020202090204" pitchFamily="34" charset="0"/>
              </a:rPr>
              <a:t>SELECT  *  FROM  Student  WHERE  </a:t>
            </a:r>
            <a:r>
              <a:rPr lang="en-US" altLang="zh-CN" sz="2800" dirty="0" err="1">
                <a:solidFill>
                  <a:srgbClr val="FF0000"/>
                </a:solidFill>
                <a:latin typeface="Arial" panose="020B0604020202090204" pitchFamily="34" charset="0"/>
                <a:cs typeface="Arial" panose="020B0604020202090204" pitchFamily="34" charset="0"/>
              </a:rPr>
              <a:t>Sno</a:t>
            </a:r>
            <a:r>
              <a:rPr lang="en-US" altLang="zh-CN" sz="2800" dirty="0">
                <a:solidFill>
                  <a:srgbClr val="FF0000"/>
                </a:solidFill>
                <a:latin typeface="Arial" panose="020B0604020202090204" pitchFamily="34" charset="0"/>
                <a:cs typeface="Arial" panose="020B0604020202090204" pitchFamily="34" charset="0"/>
              </a:rPr>
              <a:t> = ‘201215121’</a:t>
            </a:r>
            <a:r>
              <a:rPr lang="zh-CN" altLang="en-US" sz="2800" dirty="0">
                <a:solidFill>
                  <a:srgbClr val="FF0000"/>
                </a:solidFill>
                <a:latin typeface="Arial" panose="020B0604020202090204" pitchFamily="34" charset="0"/>
                <a:cs typeface="Arial" panose="020B0604020202090204" pitchFamily="34" charset="0"/>
              </a:rPr>
              <a:t>;</a:t>
            </a:r>
            <a:endParaRPr lang="zh-CN" altLang="en-US" sz="2800" dirty="0">
              <a:solidFill>
                <a:srgbClr val="FF0000"/>
              </a:solidFill>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dirty="0"/>
              <a:t>④ 字符匹配 </a:t>
            </a:r>
            <a:r>
              <a:rPr lang="en-US" altLang="zh-CN" dirty="0"/>
              <a:t>2</a:t>
            </a:r>
            <a:endParaRPr lang="zh-CN" altLang="en-US" dirty="0"/>
          </a:p>
        </p:txBody>
      </p:sp>
      <p:sp>
        <p:nvSpPr>
          <p:cNvPr id="83971" name="Rectangle 3"/>
          <p:cNvSpPr>
            <a:spLocks noGrp="1" noChangeArrowheads="1"/>
          </p:cNvSpPr>
          <p:nvPr>
            <p:ph idx="1"/>
          </p:nvPr>
        </p:nvSpPr>
        <p:spPr>
          <a:xfrm>
            <a:off x="424180" y="687070"/>
            <a:ext cx="11343005" cy="4996815"/>
          </a:xfrm>
        </p:spPr>
        <p:txBody>
          <a:bodyPr>
            <a:noAutofit/>
          </a:bodyPr>
          <a:lstStyle/>
          <a:p>
            <a:pPr>
              <a:lnSpc>
                <a:spcPct val="110000"/>
              </a:lnSpc>
              <a:spcBef>
                <a:spcPct val="0"/>
              </a:spcBef>
            </a:pPr>
            <a:r>
              <a:rPr lang="zh-CN" altLang="en-US" sz="2800" dirty="0">
                <a:highlight>
                  <a:srgbClr val="FFFF00"/>
                </a:highlight>
                <a:cs typeface="Calibri" panose="020F0502020204030204" charset="0"/>
              </a:rPr>
              <a:t>匹配串为含通配符的字符串</a:t>
            </a:r>
            <a:r>
              <a:rPr lang="en-US" altLang="zh-CN" sz="2800" dirty="0">
                <a:highlight>
                  <a:srgbClr val="FFFF00"/>
                </a:highlight>
                <a:cs typeface="Calibri" panose="020F0502020204030204" charset="0"/>
              </a:rPr>
              <a:t>(1)</a:t>
            </a:r>
            <a:endParaRPr lang="zh-CN" altLang="en-US" sz="2800" dirty="0">
              <a:cs typeface="Calibri" panose="020F0502020204030204" charset="0"/>
            </a:endParaRPr>
          </a:p>
          <a:p>
            <a:pPr>
              <a:lnSpc>
                <a:spcPct val="110000"/>
              </a:lnSpc>
              <a:spcBef>
                <a:spcPts val="2000"/>
              </a:spcBef>
            </a:pPr>
            <a:r>
              <a:rPr lang="en-US" altLang="zh-CN" sz="2800" dirty="0">
                <a:cs typeface="Calibri" panose="020F0502020204030204" charset="0"/>
              </a:rPr>
              <a:t>[</a:t>
            </a:r>
            <a:r>
              <a:rPr lang="zh-CN" altLang="en-US" sz="2800" dirty="0">
                <a:cs typeface="Calibri" panose="020F0502020204030204" charset="0"/>
              </a:rPr>
              <a:t>例</a:t>
            </a:r>
            <a:r>
              <a:rPr lang="en-US" altLang="zh-CN" sz="2800" dirty="0">
                <a:cs typeface="Calibri" panose="020F0502020204030204" charset="0"/>
              </a:rPr>
              <a:t>3.30]  </a:t>
            </a:r>
            <a:r>
              <a:rPr lang="zh-CN" altLang="en-US" sz="2800" dirty="0">
                <a:cs typeface="Calibri" panose="020F0502020204030204" charset="0"/>
              </a:rPr>
              <a:t>查询所有姓刘学生的姓名、学号和性别。</a:t>
            </a:r>
            <a:endParaRPr lang="zh-CN" altLang="en-US" sz="2800" dirty="0">
              <a:cs typeface="Calibri" panose="020F0502020204030204" charset="0"/>
            </a:endParaRPr>
          </a:p>
          <a:p>
            <a:pPr marL="821055" lvl="2" indent="0">
              <a:lnSpc>
                <a:spcPct val="110000"/>
              </a:lnSpc>
              <a:spcBef>
                <a:spcPct val="0"/>
              </a:spcBef>
              <a:buNone/>
            </a:pPr>
            <a:r>
              <a:rPr lang="en-US" altLang="zh-CN" sz="2800" spc="100" dirty="0">
                <a:solidFill>
                  <a:srgbClr val="FF0000"/>
                </a:solidFill>
                <a:cs typeface="Calibri" panose="020F0502020204030204" charset="0"/>
              </a:rPr>
              <a:t>SELECT  </a:t>
            </a:r>
            <a:r>
              <a:rPr lang="en-US" altLang="zh-CN" sz="2800" spc="100" dirty="0" err="1">
                <a:solidFill>
                  <a:srgbClr val="FF0000"/>
                </a:solidFill>
                <a:cs typeface="Calibri" panose="020F0502020204030204" charset="0"/>
              </a:rPr>
              <a:t>Sname</a:t>
            </a:r>
            <a:r>
              <a:rPr lang="zh-CN" altLang="en-US" sz="2800" spc="100" dirty="0">
                <a:solidFill>
                  <a:srgbClr val="FF0000"/>
                </a:solidFill>
                <a:cs typeface="Calibri" panose="020F0502020204030204" charset="0"/>
              </a:rPr>
              <a:t>,</a:t>
            </a:r>
            <a:r>
              <a:rPr lang="en-US" altLang="zh-CN" sz="2800" spc="100" dirty="0">
                <a:solidFill>
                  <a:srgbClr val="FF0000"/>
                </a:solidFill>
                <a:cs typeface="Calibri" panose="020F0502020204030204" charset="0"/>
              </a:rPr>
              <a:t> </a:t>
            </a:r>
            <a:r>
              <a:rPr lang="en-US" altLang="zh-CN" sz="2800" spc="100" dirty="0" err="1">
                <a:solidFill>
                  <a:srgbClr val="FF0000"/>
                </a:solidFill>
                <a:cs typeface="Calibri" panose="020F0502020204030204" charset="0"/>
              </a:rPr>
              <a:t>Sno</a:t>
            </a:r>
            <a:r>
              <a:rPr lang="zh-CN" altLang="en-US" sz="2800" spc="100" dirty="0">
                <a:solidFill>
                  <a:srgbClr val="FF0000"/>
                </a:solidFill>
                <a:cs typeface="Calibri" panose="020F0502020204030204" charset="0"/>
              </a:rPr>
              <a:t>,</a:t>
            </a:r>
            <a:r>
              <a:rPr lang="en-US" altLang="zh-CN" sz="2800" spc="100" dirty="0">
                <a:solidFill>
                  <a:srgbClr val="FF0000"/>
                </a:solidFill>
                <a:cs typeface="Calibri" panose="020F0502020204030204" charset="0"/>
              </a:rPr>
              <a:t> </a:t>
            </a:r>
            <a:r>
              <a:rPr lang="en-US" altLang="zh-CN" sz="2800" spc="100" dirty="0" err="1">
                <a:solidFill>
                  <a:srgbClr val="FF0000"/>
                </a:solidFill>
                <a:cs typeface="Calibri" panose="020F0502020204030204" charset="0"/>
              </a:rPr>
              <a:t>Ssex</a:t>
            </a:r>
            <a:endParaRPr lang="en-US" altLang="zh-CN" sz="2800" spc="100" dirty="0">
              <a:solidFill>
                <a:srgbClr val="FF0000"/>
              </a:solidFill>
              <a:cs typeface="Calibri" panose="020F0502020204030204" charset="0"/>
            </a:endParaRPr>
          </a:p>
          <a:p>
            <a:pPr marL="821055" lvl="2" indent="0">
              <a:lnSpc>
                <a:spcPct val="110000"/>
              </a:lnSpc>
              <a:spcBef>
                <a:spcPct val="0"/>
              </a:spcBef>
              <a:buNone/>
            </a:pPr>
            <a:r>
              <a:rPr lang="en-US" altLang="zh-CN" sz="2800" spc="100" dirty="0">
                <a:solidFill>
                  <a:srgbClr val="FF0000"/>
                </a:solidFill>
                <a:cs typeface="Calibri" panose="020F0502020204030204" charset="0"/>
              </a:rPr>
              <a:t>FROM  Student</a:t>
            </a:r>
            <a:endParaRPr lang="en-US" altLang="zh-CN" sz="2800" spc="100" dirty="0">
              <a:solidFill>
                <a:srgbClr val="FF0000"/>
              </a:solidFill>
              <a:cs typeface="Calibri" panose="020F0502020204030204" charset="0"/>
            </a:endParaRPr>
          </a:p>
          <a:p>
            <a:pPr marL="821055" lvl="2" indent="0">
              <a:lnSpc>
                <a:spcPct val="110000"/>
              </a:lnSpc>
              <a:spcBef>
                <a:spcPct val="0"/>
              </a:spcBef>
              <a:buNone/>
            </a:pPr>
            <a:r>
              <a:rPr lang="en-US" altLang="zh-CN" sz="2800" spc="100" dirty="0">
                <a:solidFill>
                  <a:srgbClr val="FF0000"/>
                </a:solidFill>
                <a:cs typeface="Calibri" panose="020F0502020204030204" charset="0"/>
              </a:rPr>
              <a:t>WHERE  </a:t>
            </a:r>
            <a:r>
              <a:rPr lang="en-US" altLang="zh-CN" sz="2800" spc="100" dirty="0" err="1">
                <a:solidFill>
                  <a:srgbClr val="FF0000"/>
                </a:solidFill>
                <a:cs typeface="Calibri" panose="020F0502020204030204" charset="0"/>
              </a:rPr>
              <a:t>Sname</a:t>
            </a:r>
            <a:r>
              <a:rPr lang="en-US" altLang="zh-CN" sz="2800" spc="100" dirty="0">
                <a:solidFill>
                  <a:srgbClr val="FF0000"/>
                </a:solidFill>
                <a:cs typeface="Calibri" panose="020F0502020204030204" charset="0"/>
              </a:rPr>
              <a:t> LIKE </a:t>
            </a:r>
            <a:r>
              <a:rPr lang="zh-CN" altLang="en-US" sz="2800" spc="100" dirty="0">
                <a:solidFill>
                  <a:srgbClr val="FF0000"/>
                </a:solidFill>
                <a:cs typeface="Calibri" panose="020F0502020204030204" charset="0"/>
              </a:rPr>
              <a:t>'刘</a:t>
            </a:r>
            <a:r>
              <a:rPr lang="en-US" altLang="zh-CN" sz="2800" spc="100" dirty="0">
                <a:solidFill>
                  <a:srgbClr val="FF0000"/>
                </a:solidFill>
                <a:cs typeface="Calibri" panose="020F0502020204030204" charset="0"/>
              </a:rPr>
              <a:t>%</a:t>
            </a:r>
            <a:r>
              <a:rPr lang="zh-CN" altLang="en-US" sz="2800" spc="100" dirty="0">
                <a:solidFill>
                  <a:srgbClr val="FF0000"/>
                </a:solidFill>
                <a:cs typeface="Calibri" panose="020F0502020204030204" charset="0"/>
              </a:rPr>
              <a:t>';</a:t>
            </a:r>
            <a:endParaRPr lang="zh-CN" altLang="en-US" sz="2800" spc="100" dirty="0">
              <a:cs typeface="Calibri" panose="020F0502020204030204" charset="0"/>
            </a:endParaRPr>
          </a:p>
          <a:p>
            <a:pPr>
              <a:lnSpc>
                <a:spcPct val="110000"/>
              </a:lnSpc>
              <a:spcBef>
                <a:spcPts val="3000"/>
              </a:spcBef>
            </a:pPr>
            <a:r>
              <a:rPr lang="en-US" altLang="zh-CN" sz="2800" dirty="0">
                <a:cs typeface="Calibri" panose="020F0502020204030204" charset="0"/>
              </a:rPr>
              <a:t>[</a:t>
            </a:r>
            <a:r>
              <a:rPr lang="zh-CN" altLang="en-US" sz="2800" dirty="0">
                <a:cs typeface="Calibri" panose="020F0502020204030204" charset="0"/>
              </a:rPr>
              <a:t>例</a:t>
            </a:r>
            <a:r>
              <a:rPr lang="en-US" altLang="zh-CN" sz="2800" dirty="0">
                <a:cs typeface="Calibri" panose="020F0502020204030204" charset="0"/>
              </a:rPr>
              <a:t>3.31]  </a:t>
            </a:r>
            <a:r>
              <a:rPr lang="zh-CN" altLang="en-US" sz="2800" dirty="0">
                <a:cs typeface="Calibri" panose="020F0502020204030204" charset="0"/>
              </a:rPr>
              <a:t>查询姓</a:t>
            </a:r>
            <a:r>
              <a:rPr lang="en-US" altLang="zh-CN" sz="2800" dirty="0">
                <a:cs typeface="Calibri" panose="020F0502020204030204" charset="0"/>
              </a:rPr>
              <a:t>"</a:t>
            </a:r>
            <a:r>
              <a:rPr lang="zh-CN" altLang="en-US" sz="2800" dirty="0">
                <a:cs typeface="Calibri" panose="020F0502020204030204" charset="0"/>
              </a:rPr>
              <a:t>欧阳</a:t>
            </a:r>
            <a:r>
              <a:rPr lang="en-US" altLang="zh-CN" sz="2800" dirty="0">
                <a:cs typeface="Calibri" panose="020F0502020204030204" charset="0"/>
              </a:rPr>
              <a:t>"</a:t>
            </a:r>
            <a:r>
              <a:rPr lang="zh-CN" altLang="en-US" sz="2800" dirty="0">
                <a:cs typeface="Calibri" panose="020F0502020204030204" charset="0"/>
              </a:rPr>
              <a:t>且全名为三个汉字的学生的姓名。</a:t>
            </a:r>
            <a:endParaRPr lang="zh-CN" altLang="en-US" sz="2800" dirty="0">
              <a:cs typeface="Calibri" panose="020F0502020204030204" charset="0"/>
            </a:endParaRPr>
          </a:p>
          <a:p>
            <a:pPr marL="821055" lvl="2" indent="0">
              <a:lnSpc>
                <a:spcPct val="110000"/>
              </a:lnSpc>
              <a:spcBef>
                <a:spcPct val="0"/>
              </a:spcBef>
              <a:buNone/>
            </a:pPr>
            <a:r>
              <a:rPr lang="en-US" altLang="zh-CN" sz="2800" spc="100" dirty="0">
                <a:solidFill>
                  <a:srgbClr val="FF0000"/>
                </a:solidFill>
                <a:uFillTx/>
                <a:cs typeface="Calibri" panose="020F0502020204030204" charset="0"/>
              </a:rPr>
              <a:t>SELECT  </a:t>
            </a:r>
            <a:r>
              <a:rPr lang="en-US" altLang="zh-CN" sz="2800" spc="100" dirty="0" err="1">
                <a:solidFill>
                  <a:srgbClr val="FF0000"/>
                </a:solidFill>
                <a:uFillTx/>
                <a:cs typeface="Calibri" panose="020F0502020204030204" charset="0"/>
              </a:rPr>
              <a:t>Sname</a:t>
            </a:r>
            <a:endParaRPr lang="en-US" altLang="zh-CN" sz="2800" spc="100" dirty="0">
              <a:solidFill>
                <a:srgbClr val="FF0000"/>
              </a:solidFill>
              <a:uFillTx/>
              <a:cs typeface="Calibri" panose="020F0502020204030204" charset="0"/>
            </a:endParaRPr>
          </a:p>
          <a:p>
            <a:pPr marL="821055" lvl="2" indent="0">
              <a:lnSpc>
                <a:spcPct val="110000"/>
              </a:lnSpc>
              <a:spcBef>
                <a:spcPct val="0"/>
              </a:spcBef>
              <a:buNone/>
            </a:pPr>
            <a:r>
              <a:rPr lang="en-US" altLang="zh-CN" sz="2800" spc="100" dirty="0">
                <a:solidFill>
                  <a:srgbClr val="FF0000"/>
                </a:solidFill>
                <a:uFillTx/>
                <a:cs typeface="Calibri" panose="020F0502020204030204" charset="0"/>
              </a:rPr>
              <a:t>FROM  Student</a:t>
            </a:r>
            <a:endParaRPr lang="en-US" altLang="zh-CN" sz="2800" spc="100" dirty="0">
              <a:solidFill>
                <a:srgbClr val="FF0000"/>
              </a:solidFill>
              <a:uFillTx/>
              <a:cs typeface="Calibri" panose="020F0502020204030204" charset="0"/>
            </a:endParaRPr>
          </a:p>
          <a:p>
            <a:pPr marL="821055" lvl="2" indent="0">
              <a:lnSpc>
                <a:spcPct val="110000"/>
              </a:lnSpc>
              <a:spcBef>
                <a:spcPct val="0"/>
              </a:spcBef>
              <a:buNone/>
            </a:pPr>
            <a:r>
              <a:rPr lang="en-US" altLang="zh-CN" sz="2800" spc="100" dirty="0">
                <a:solidFill>
                  <a:srgbClr val="FF0000"/>
                </a:solidFill>
                <a:uFillTx/>
                <a:cs typeface="Calibri" panose="020F0502020204030204" charset="0"/>
              </a:rPr>
              <a:t>WHERE  </a:t>
            </a:r>
            <a:r>
              <a:rPr lang="en-US" altLang="zh-CN" sz="2800" spc="100" dirty="0" err="1">
                <a:solidFill>
                  <a:srgbClr val="FF0000"/>
                </a:solidFill>
                <a:uFillTx/>
                <a:cs typeface="Calibri" panose="020F0502020204030204" charset="0"/>
              </a:rPr>
              <a:t>Sname</a:t>
            </a:r>
            <a:r>
              <a:rPr lang="en-US" altLang="zh-CN" sz="2800" spc="100" dirty="0">
                <a:solidFill>
                  <a:srgbClr val="FF0000"/>
                </a:solidFill>
                <a:uFillTx/>
                <a:cs typeface="Calibri" panose="020F0502020204030204" charset="0"/>
              </a:rPr>
              <a:t> LIKE '</a:t>
            </a:r>
            <a:r>
              <a:rPr lang="zh-CN" altLang="en-US" sz="2800" spc="100" dirty="0">
                <a:solidFill>
                  <a:srgbClr val="FF0000"/>
                </a:solidFill>
                <a:uFillTx/>
                <a:cs typeface="Calibri" panose="020F0502020204030204" charset="0"/>
              </a:rPr>
              <a:t>欧阳</a:t>
            </a:r>
            <a:r>
              <a:rPr lang="en-US" altLang="zh-CN" sz="2800" spc="100" dirty="0">
                <a:solidFill>
                  <a:srgbClr val="FF0000"/>
                </a:solidFill>
                <a:uFillTx/>
                <a:cs typeface="Calibri" panose="020F0502020204030204" charset="0"/>
              </a:rPr>
              <a:t>__’</a:t>
            </a:r>
            <a:r>
              <a:rPr lang="zh-CN" altLang="en-US" sz="2800" spc="100" dirty="0">
                <a:solidFill>
                  <a:srgbClr val="FF0000"/>
                </a:solidFill>
                <a:uFillTx/>
                <a:cs typeface="Calibri" panose="020F0502020204030204" charset="0"/>
              </a:rPr>
              <a:t>;</a:t>
            </a:r>
            <a:endParaRPr lang="zh-CN" altLang="en-US" sz="2800" spc="100" dirty="0">
              <a:solidFill>
                <a:srgbClr val="FF0000"/>
              </a:solidFill>
              <a:uFillTx/>
              <a:cs typeface="Calibri" panose="020F050202020403020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4" name="文本框 3"/>
          <p:cNvSpPr txBox="1"/>
          <p:nvPr/>
        </p:nvSpPr>
        <p:spPr>
          <a:xfrm>
            <a:off x="424180" y="5838825"/>
            <a:ext cx="11343005" cy="829945"/>
          </a:xfrm>
          <a:prstGeom prst="rect">
            <a:avLst/>
          </a:prstGeom>
          <a:noFill/>
        </p:spPr>
        <p:txBody>
          <a:bodyPr wrap="square" rtlCol="0">
            <a:noAutofit/>
          </a:bodyPr>
          <a:p>
            <a:pPr marL="742950" lvl="1" indent="-285750">
              <a:buClr>
                <a:srgbClr val="C00000"/>
              </a:buClr>
              <a:buSzPct val="85000"/>
              <a:buFont typeface="Wingdings" panose="05000000000000000000" charset="0"/>
              <a:buChar char="Ø"/>
            </a:pPr>
            <a:r>
              <a:rPr lang="zh-CN" altLang="en-US" sz="2400" b="1">
                <a:latin typeface="Calibri" panose="020F0502020204030204" charset="0"/>
                <a:ea typeface="楷体" charset="-122"/>
                <a:cs typeface="Calibri" panose="020F0502020204030204" charset="0"/>
              </a:rPr>
              <a:t>备注：一个汉字占两个字节，所以用连续两个通配符</a:t>
            </a:r>
            <a:r>
              <a:rPr lang="en-US" altLang="zh-CN" sz="2400" b="1">
                <a:latin typeface="Calibri" panose="020F0502020204030204" charset="0"/>
                <a:ea typeface="楷体" charset="-122"/>
                <a:cs typeface="Calibri" panose="020F0502020204030204" charset="0"/>
              </a:rPr>
              <a:t> ’_’ </a:t>
            </a:r>
            <a:r>
              <a:rPr lang="zh-CN" altLang="en-US" sz="2400" b="1">
                <a:latin typeface="Calibri" panose="020F0502020204030204" charset="0"/>
                <a:ea typeface="楷体" charset="-122"/>
                <a:cs typeface="Calibri" panose="020F0502020204030204" charset="0"/>
              </a:rPr>
              <a:t>来匹配任意一个汉字（或任意的两个字符）</a:t>
            </a:r>
            <a:endParaRPr lang="zh-CN" altLang="en-US" sz="2400" b="1">
              <a:latin typeface="Calibri" panose="020F0502020204030204" charset="0"/>
              <a:ea typeface="楷体" charset="-122"/>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971">
                                            <p:txEl>
                                              <p:pRg st="1" end="1"/>
                                            </p:txEl>
                                          </p:spTgt>
                                        </p:tgtEl>
                                        <p:attrNameLst>
                                          <p:attrName>style.visibility</p:attrName>
                                        </p:attrNameLst>
                                      </p:cBhvr>
                                      <p:to>
                                        <p:strVal val="visible"/>
                                      </p:to>
                                    </p:set>
                                    <p:anim calcmode="lin" valueType="num">
                                      <p:cBhvr additive="base">
                                        <p:cTn id="7" dur="500" fill="hold"/>
                                        <p:tgtEl>
                                          <p:spTgt spid="839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9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3971">
                                            <p:txEl>
                                              <p:pRg st="2" end="2"/>
                                            </p:txEl>
                                          </p:spTgt>
                                        </p:tgtEl>
                                        <p:attrNameLst>
                                          <p:attrName>style.visibility</p:attrName>
                                        </p:attrNameLst>
                                      </p:cBhvr>
                                      <p:to>
                                        <p:strVal val="visible"/>
                                      </p:to>
                                    </p:set>
                                    <p:anim calcmode="lin" valueType="num">
                                      <p:cBhvr additive="base">
                                        <p:cTn id="13" dur="500" fill="hold"/>
                                        <p:tgtEl>
                                          <p:spTgt spid="839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971">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3971">
                                            <p:txEl>
                                              <p:pRg st="3" end="3"/>
                                            </p:txEl>
                                          </p:spTgt>
                                        </p:tgtEl>
                                        <p:attrNameLst>
                                          <p:attrName>style.visibility</p:attrName>
                                        </p:attrNameLst>
                                      </p:cBhvr>
                                      <p:to>
                                        <p:strVal val="visible"/>
                                      </p:to>
                                    </p:set>
                                    <p:anim calcmode="lin" valueType="num">
                                      <p:cBhvr additive="base">
                                        <p:cTn id="17" dur="500" fill="hold"/>
                                        <p:tgtEl>
                                          <p:spTgt spid="8397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3971">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3971">
                                            <p:txEl>
                                              <p:pRg st="4" end="4"/>
                                            </p:txEl>
                                          </p:spTgt>
                                        </p:tgtEl>
                                        <p:attrNameLst>
                                          <p:attrName>style.visibility</p:attrName>
                                        </p:attrNameLst>
                                      </p:cBhvr>
                                      <p:to>
                                        <p:strVal val="visible"/>
                                      </p:to>
                                    </p:set>
                                    <p:anim calcmode="lin" valueType="num">
                                      <p:cBhvr additive="base">
                                        <p:cTn id="21" dur="500" fill="hold"/>
                                        <p:tgtEl>
                                          <p:spTgt spid="8397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39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3971">
                                            <p:txEl>
                                              <p:pRg st="5" end="5"/>
                                            </p:txEl>
                                          </p:spTgt>
                                        </p:tgtEl>
                                        <p:attrNameLst>
                                          <p:attrName>style.visibility</p:attrName>
                                        </p:attrNameLst>
                                      </p:cBhvr>
                                      <p:to>
                                        <p:strVal val="visible"/>
                                      </p:to>
                                    </p:set>
                                    <p:anim calcmode="lin" valueType="num">
                                      <p:cBhvr additive="base">
                                        <p:cTn id="27" dur="500" fill="hold"/>
                                        <p:tgtEl>
                                          <p:spTgt spid="83971">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39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3971">
                                            <p:txEl>
                                              <p:pRg st="6" end="6"/>
                                            </p:txEl>
                                          </p:spTgt>
                                        </p:tgtEl>
                                        <p:attrNameLst>
                                          <p:attrName>style.visibility</p:attrName>
                                        </p:attrNameLst>
                                      </p:cBhvr>
                                      <p:to>
                                        <p:strVal val="visible"/>
                                      </p:to>
                                    </p:set>
                                    <p:anim calcmode="lin" valueType="num">
                                      <p:cBhvr additive="base">
                                        <p:cTn id="33" dur="500" fill="hold"/>
                                        <p:tgtEl>
                                          <p:spTgt spid="8397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397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3971">
                                            <p:txEl>
                                              <p:pRg st="7" end="7"/>
                                            </p:txEl>
                                          </p:spTgt>
                                        </p:tgtEl>
                                        <p:attrNameLst>
                                          <p:attrName>style.visibility</p:attrName>
                                        </p:attrNameLst>
                                      </p:cBhvr>
                                      <p:to>
                                        <p:strVal val="visible"/>
                                      </p:to>
                                    </p:set>
                                    <p:anim calcmode="lin" valueType="num">
                                      <p:cBhvr additive="base">
                                        <p:cTn id="37" dur="500" fill="hold"/>
                                        <p:tgtEl>
                                          <p:spTgt spid="8397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397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83971">
                                            <p:txEl>
                                              <p:pRg st="8" end="8"/>
                                            </p:txEl>
                                          </p:spTgt>
                                        </p:tgtEl>
                                        <p:attrNameLst>
                                          <p:attrName>style.visibility</p:attrName>
                                        </p:attrNameLst>
                                      </p:cBhvr>
                                      <p:to>
                                        <p:strVal val="visible"/>
                                      </p:to>
                                    </p:set>
                                    <p:anim calcmode="lin" valueType="num">
                                      <p:cBhvr additive="base">
                                        <p:cTn id="41" dur="500" fill="hold"/>
                                        <p:tgtEl>
                                          <p:spTgt spid="8397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397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dirty="0"/>
              <a:t>④ 字符匹配 </a:t>
            </a:r>
            <a:r>
              <a:rPr lang="en-US" altLang="zh-CN" dirty="0"/>
              <a:t>3</a:t>
            </a:r>
            <a:endParaRPr lang="zh-CN" altLang="en-US" dirty="0"/>
          </a:p>
        </p:txBody>
      </p:sp>
      <p:sp>
        <p:nvSpPr>
          <p:cNvPr id="83971" name="Rectangle 3"/>
          <p:cNvSpPr>
            <a:spLocks noGrp="1" noChangeArrowheads="1"/>
          </p:cNvSpPr>
          <p:nvPr>
            <p:ph idx="1"/>
          </p:nvPr>
        </p:nvSpPr>
        <p:spPr>
          <a:xfrm>
            <a:off x="424180" y="687070"/>
            <a:ext cx="11343005" cy="5381625"/>
          </a:xfrm>
        </p:spPr>
        <p:txBody>
          <a:bodyPr>
            <a:noAutofit/>
          </a:bodyPr>
          <a:lstStyle/>
          <a:p>
            <a:pPr>
              <a:lnSpc>
                <a:spcPct val="110000"/>
              </a:lnSpc>
              <a:spcBef>
                <a:spcPts val="0"/>
              </a:spcBef>
            </a:pPr>
            <a:r>
              <a:rPr lang="zh-CN" altLang="en-US" sz="2800" dirty="0">
                <a:highlight>
                  <a:srgbClr val="FFFF00"/>
                </a:highlight>
                <a:latin typeface="Arial" panose="020B0604020202090204" pitchFamily="34" charset="0"/>
                <a:cs typeface="Arial" panose="020B0604020202090204" pitchFamily="34" charset="0"/>
              </a:rPr>
              <a:t>匹配串为含通配符的字符串</a:t>
            </a:r>
            <a:r>
              <a:rPr lang="en-US" altLang="zh-CN" sz="2800" dirty="0">
                <a:highlight>
                  <a:srgbClr val="FFFF00"/>
                </a:highlight>
                <a:latin typeface="Arial" panose="020B0604020202090204" pitchFamily="34" charset="0"/>
                <a:cs typeface="Arial" panose="020B0604020202090204" pitchFamily="34" charset="0"/>
              </a:rPr>
              <a:t>(2)</a:t>
            </a:r>
            <a:endParaRPr lang="zh-CN" altLang="en-US" sz="2800" dirty="0">
              <a:latin typeface="Arial" panose="020B0604020202090204" pitchFamily="34" charset="0"/>
              <a:cs typeface="Arial" panose="020B0604020202090204" pitchFamily="34" charset="0"/>
            </a:endParaRPr>
          </a:p>
          <a:p>
            <a:pPr>
              <a:lnSpc>
                <a:spcPct val="110000"/>
              </a:lnSpc>
              <a:spcBef>
                <a:spcPts val="3000"/>
              </a:spcBef>
            </a:pPr>
            <a:r>
              <a:rPr lang="en-US" altLang="zh-CN" sz="2800" dirty="0">
                <a:latin typeface="Arial" panose="020B0604020202090204" pitchFamily="34" charset="0"/>
                <a:cs typeface="Arial" panose="020B0604020202090204" pitchFamily="34" charset="0"/>
                <a:sym typeface="+mn-ea"/>
              </a:rPr>
              <a:t>[</a:t>
            </a:r>
            <a:r>
              <a:rPr lang="zh-CN" altLang="en-US" sz="2800" dirty="0">
                <a:latin typeface="Arial" panose="020B0604020202090204" pitchFamily="34" charset="0"/>
                <a:cs typeface="Arial" panose="020B0604020202090204" pitchFamily="34" charset="0"/>
                <a:sym typeface="+mn-ea"/>
              </a:rPr>
              <a:t>例</a:t>
            </a:r>
            <a:r>
              <a:rPr lang="en-US" altLang="zh-CN" sz="2800" dirty="0">
                <a:latin typeface="Arial" panose="020B0604020202090204" pitchFamily="34" charset="0"/>
                <a:cs typeface="Arial" panose="020B0604020202090204" pitchFamily="34" charset="0"/>
                <a:sym typeface="+mn-ea"/>
              </a:rPr>
              <a:t>3.32]  </a:t>
            </a:r>
            <a:r>
              <a:rPr lang="zh-CN" altLang="en-US" sz="2800" dirty="0">
                <a:latin typeface="Arial" panose="020B0604020202090204" pitchFamily="34" charset="0"/>
                <a:cs typeface="Arial" panose="020B0604020202090204" pitchFamily="34" charset="0"/>
                <a:sym typeface="+mn-ea"/>
              </a:rPr>
              <a:t>查询名字中第</a:t>
            </a:r>
            <a:r>
              <a:rPr lang="en-US" altLang="zh-CN" sz="2800" dirty="0">
                <a:latin typeface="Arial" panose="020B0604020202090204" pitchFamily="34" charset="0"/>
                <a:cs typeface="Arial" panose="020B0604020202090204" pitchFamily="34" charset="0"/>
                <a:sym typeface="+mn-ea"/>
              </a:rPr>
              <a:t>2</a:t>
            </a:r>
            <a:r>
              <a:rPr lang="zh-CN" altLang="en-US" sz="2800" dirty="0">
                <a:latin typeface="Arial" panose="020B0604020202090204" pitchFamily="34" charset="0"/>
                <a:cs typeface="Arial" panose="020B0604020202090204" pitchFamily="34" charset="0"/>
                <a:sym typeface="+mn-ea"/>
              </a:rPr>
              <a:t>个字为</a:t>
            </a:r>
            <a:r>
              <a:rPr lang="en-US" altLang="zh-CN" sz="2800" dirty="0">
                <a:latin typeface="Arial" panose="020B0604020202090204" pitchFamily="34" charset="0"/>
                <a:cs typeface="Arial" panose="020B0604020202090204" pitchFamily="34" charset="0"/>
                <a:sym typeface="+mn-ea"/>
              </a:rPr>
              <a:t>"</a:t>
            </a:r>
            <a:r>
              <a:rPr lang="zh-CN" altLang="en-US" sz="2800" dirty="0">
                <a:latin typeface="Arial" panose="020B0604020202090204" pitchFamily="34" charset="0"/>
                <a:cs typeface="Arial" panose="020B0604020202090204" pitchFamily="34" charset="0"/>
                <a:sym typeface="+mn-ea"/>
              </a:rPr>
              <a:t>阳</a:t>
            </a:r>
            <a:r>
              <a:rPr lang="en-US" altLang="zh-CN" sz="2800" dirty="0">
                <a:latin typeface="Arial" panose="020B0604020202090204" pitchFamily="34" charset="0"/>
                <a:cs typeface="Arial" panose="020B0604020202090204" pitchFamily="34" charset="0"/>
                <a:sym typeface="+mn-ea"/>
              </a:rPr>
              <a:t>"</a:t>
            </a:r>
            <a:r>
              <a:rPr lang="zh-CN" altLang="en-US" sz="2800" dirty="0">
                <a:latin typeface="Arial" panose="020B0604020202090204" pitchFamily="34" charset="0"/>
                <a:cs typeface="Arial" panose="020B0604020202090204" pitchFamily="34" charset="0"/>
                <a:sym typeface="+mn-ea"/>
              </a:rPr>
              <a:t>字的学生的姓名和学号。</a:t>
            </a:r>
            <a:endParaRPr lang="zh-CN" altLang="en-US" sz="2800" dirty="0">
              <a:latin typeface="Arial" panose="020B0604020202090204" pitchFamily="34" charset="0"/>
              <a:cs typeface="Arial" panose="020B0604020202090204" pitchFamily="34" charset="0"/>
            </a:endParaRPr>
          </a:p>
          <a:p>
            <a:pPr marL="821055" lvl="2" indent="0">
              <a:lnSpc>
                <a:spcPct val="110000"/>
              </a:lnSpc>
              <a:spcBef>
                <a:spcPts val="1000"/>
              </a:spcBef>
              <a:buNone/>
            </a:pPr>
            <a:r>
              <a:rPr lang="en-US" altLang="zh-CN" sz="2800" dirty="0">
                <a:solidFill>
                  <a:srgbClr val="FF0000"/>
                </a:solidFill>
                <a:latin typeface="Arial" panose="020B0604020202090204" pitchFamily="34" charset="0"/>
                <a:cs typeface="Arial" panose="020B0604020202090204" pitchFamily="34" charset="0"/>
                <a:sym typeface="+mn-ea"/>
              </a:rPr>
              <a:t>SELECT  </a:t>
            </a:r>
            <a:r>
              <a:rPr lang="en-US" altLang="zh-CN" sz="2800" dirty="0" err="1">
                <a:solidFill>
                  <a:srgbClr val="FF0000"/>
                </a:solidFill>
                <a:latin typeface="Arial" panose="020B0604020202090204" pitchFamily="34" charset="0"/>
                <a:cs typeface="Arial" panose="020B0604020202090204" pitchFamily="34" charset="0"/>
                <a:sym typeface="+mn-ea"/>
              </a:rPr>
              <a:t>Sname</a:t>
            </a:r>
            <a:r>
              <a:rPr lang="en-US" altLang="zh-CN" sz="2800" dirty="0">
                <a:solidFill>
                  <a:srgbClr val="FF0000"/>
                </a:solidFill>
                <a:latin typeface="Arial" panose="020B0604020202090204" pitchFamily="34" charset="0"/>
                <a:cs typeface="Arial" panose="020B0604020202090204" pitchFamily="34" charset="0"/>
                <a:sym typeface="+mn-ea"/>
              </a:rPr>
              <a:t>, </a:t>
            </a:r>
            <a:r>
              <a:rPr lang="en-US" altLang="zh-CN" sz="2800" dirty="0" err="1">
                <a:solidFill>
                  <a:srgbClr val="FF0000"/>
                </a:solidFill>
                <a:latin typeface="Arial" panose="020B0604020202090204" pitchFamily="34" charset="0"/>
                <a:cs typeface="Arial" panose="020B0604020202090204" pitchFamily="34" charset="0"/>
                <a:sym typeface="+mn-ea"/>
              </a:rPr>
              <a:t>Sno</a:t>
            </a:r>
            <a:endParaRPr lang="en-US" altLang="zh-CN" sz="2800" dirty="0">
              <a:solidFill>
                <a:srgbClr val="FF0000"/>
              </a:solidFill>
              <a:latin typeface="Arial" panose="020B0604020202090204" pitchFamily="34" charset="0"/>
              <a:cs typeface="Arial" panose="020B0604020202090204" pitchFamily="34" charset="0"/>
              <a:sym typeface="+mn-ea"/>
            </a:endParaRPr>
          </a:p>
          <a:p>
            <a:pPr marL="821055" lvl="2" indent="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sym typeface="+mn-ea"/>
              </a:rPr>
              <a:t>FROM  Student</a:t>
            </a:r>
            <a:endParaRPr lang="en-US" altLang="zh-CN" sz="2800" dirty="0">
              <a:solidFill>
                <a:srgbClr val="FF0000"/>
              </a:solidFill>
              <a:latin typeface="Arial" panose="020B0604020202090204" pitchFamily="34" charset="0"/>
              <a:cs typeface="Arial" panose="020B0604020202090204" pitchFamily="34" charset="0"/>
              <a:sym typeface="+mn-ea"/>
            </a:endParaRPr>
          </a:p>
          <a:p>
            <a:pPr marL="821055" lvl="2" indent="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sym typeface="+mn-ea"/>
              </a:rPr>
              <a:t>WHERE  </a:t>
            </a:r>
            <a:r>
              <a:rPr lang="en-US" altLang="zh-CN" sz="2800" dirty="0" err="1">
                <a:solidFill>
                  <a:srgbClr val="FF0000"/>
                </a:solidFill>
                <a:latin typeface="Arial" panose="020B0604020202090204" pitchFamily="34" charset="0"/>
                <a:cs typeface="Arial" panose="020B0604020202090204" pitchFamily="34" charset="0"/>
                <a:sym typeface="+mn-ea"/>
              </a:rPr>
              <a:t>Sname</a:t>
            </a:r>
            <a:r>
              <a:rPr lang="en-US" altLang="zh-CN" sz="2800" dirty="0">
                <a:solidFill>
                  <a:srgbClr val="FF0000"/>
                </a:solidFill>
                <a:latin typeface="Arial" panose="020B0604020202090204" pitchFamily="34" charset="0"/>
                <a:cs typeface="Arial" panose="020B0604020202090204" pitchFamily="34" charset="0"/>
                <a:sym typeface="+mn-ea"/>
              </a:rPr>
              <a:t> LIKE </a:t>
            </a:r>
            <a:r>
              <a:rPr lang="zh-CN" altLang="en-US" sz="2800" dirty="0">
                <a:solidFill>
                  <a:srgbClr val="FF0000"/>
                </a:solidFill>
                <a:latin typeface="Arial" panose="020B0604020202090204" pitchFamily="34" charset="0"/>
                <a:cs typeface="Arial" panose="020B0604020202090204" pitchFamily="34" charset="0"/>
                <a:sym typeface="+mn-ea"/>
              </a:rPr>
              <a:t>'</a:t>
            </a:r>
            <a:r>
              <a:rPr lang="en-US" altLang="zh-CN" sz="2800" dirty="0">
                <a:solidFill>
                  <a:srgbClr val="FF0000"/>
                </a:solidFill>
                <a:latin typeface="Arial" panose="020B0604020202090204" pitchFamily="34" charset="0"/>
                <a:cs typeface="Arial" panose="020B0604020202090204" pitchFamily="34" charset="0"/>
                <a:sym typeface="+mn-ea"/>
              </a:rPr>
              <a:t>__</a:t>
            </a:r>
            <a:r>
              <a:rPr lang="zh-CN" altLang="en-US" sz="2800" dirty="0">
                <a:solidFill>
                  <a:srgbClr val="FF0000"/>
                </a:solidFill>
                <a:latin typeface="Arial" panose="020B0604020202090204" pitchFamily="34" charset="0"/>
                <a:cs typeface="Arial" panose="020B0604020202090204" pitchFamily="34" charset="0"/>
                <a:sym typeface="+mn-ea"/>
              </a:rPr>
              <a:t>阳</a:t>
            </a:r>
            <a:r>
              <a:rPr lang="en-US" altLang="zh-CN" sz="2800" dirty="0">
                <a:solidFill>
                  <a:srgbClr val="FF0000"/>
                </a:solidFill>
                <a:latin typeface="Arial" panose="020B0604020202090204" pitchFamily="34" charset="0"/>
                <a:cs typeface="Arial" panose="020B0604020202090204" pitchFamily="34" charset="0"/>
                <a:sym typeface="+mn-ea"/>
              </a:rPr>
              <a:t>%</a:t>
            </a:r>
            <a:r>
              <a:rPr lang="zh-CN" altLang="en-US" sz="2800" dirty="0">
                <a:solidFill>
                  <a:srgbClr val="FF0000"/>
                </a:solidFill>
                <a:latin typeface="Arial" panose="020B0604020202090204" pitchFamily="34" charset="0"/>
                <a:cs typeface="Arial" panose="020B0604020202090204" pitchFamily="34" charset="0"/>
                <a:sym typeface="+mn-ea"/>
              </a:rPr>
              <a:t>';</a:t>
            </a:r>
            <a:endParaRPr lang="zh-CN" altLang="en-US" sz="2800" dirty="0">
              <a:solidFill>
                <a:srgbClr val="FF0000"/>
              </a:solidFill>
              <a:latin typeface="Arial" panose="020B0604020202090204" pitchFamily="34" charset="0"/>
              <a:cs typeface="Arial" panose="020B0604020202090204" pitchFamily="34" charset="0"/>
            </a:endParaRPr>
          </a:p>
          <a:p>
            <a:pPr>
              <a:lnSpc>
                <a:spcPct val="110000"/>
              </a:lnSpc>
              <a:spcBef>
                <a:spcPts val="3000"/>
              </a:spcBef>
            </a:pPr>
            <a:r>
              <a:rPr lang="en-US" altLang="zh-CN" sz="2800" dirty="0">
                <a:latin typeface="Arial" panose="020B0604020202090204" pitchFamily="34" charset="0"/>
                <a:cs typeface="Arial" panose="020B0604020202090204" pitchFamily="34" charset="0"/>
                <a:sym typeface="+mn-ea"/>
              </a:rPr>
              <a:t>[</a:t>
            </a:r>
            <a:r>
              <a:rPr lang="zh-CN" altLang="en-US" sz="2800" dirty="0">
                <a:latin typeface="Arial" panose="020B0604020202090204" pitchFamily="34" charset="0"/>
                <a:cs typeface="Arial" panose="020B0604020202090204" pitchFamily="34" charset="0"/>
                <a:sym typeface="+mn-ea"/>
              </a:rPr>
              <a:t>例</a:t>
            </a:r>
            <a:r>
              <a:rPr lang="en-US" altLang="zh-CN" sz="2800" dirty="0">
                <a:latin typeface="Arial" panose="020B0604020202090204" pitchFamily="34" charset="0"/>
                <a:cs typeface="Arial" panose="020B0604020202090204" pitchFamily="34" charset="0"/>
                <a:sym typeface="+mn-ea"/>
              </a:rPr>
              <a:t>3.33]  </a:t>
            </a:r>
            <a:r>
              <a:rPr lang="zh-CN" altLang="en-US" sz="2800" dirty="0">
                <a:latin typeface="Arial" panose="020B0604020202090204" pitchFamily="34" charset="0"/>
                <a:cs typeface="Arial" panose="020B0604020202090204" pitchFamily="34" charset="0"/>
                <a:sym typeface="+mn-ea"/>
              </a:rPr>
              <a:t>查询所有不姓刘的学生姓名、学号和性别。</a:t>
            </a:r>
            <a:endParaRPr lang="zh-CN" altLang="en-US" sz="2800" dirty="0">
              <a:latin typeface="Arial" panose="020B0604020202090204" pitchFamily="34" charset="0"/>
              <a:cs typeface="Arial" panose="020B0604020202090204" pitchFamily="34" charset="0"/>
            </a:endParaRPr>
          </a:p>
          <a:p>
            <a:pPr marL="821055" lvl="2" indent="0">
              <a:lnSpc>
                <a:spcPct val="110000"/>
              </a:lnSpc>
              <a:spcBef>
                <a:spcPts val="1000"/>
              </a:spcBef>
              <a:buNone/>
            </a:pPr>
            <a:r>
              <a:rPr lang="en-US" altLang="zh-CN" sz="2800" dirty="0">
                <a:solidFill>
                  <a:srgbClr val="FF0000"/>
                </a:solidFill>
                <a:latin typeface="Arial" panose="020B0604020202090204" pitchFamily="34" charset="0"/>
                <a:cs typeface="Arial" panose="020B0604020202090204" pitchFamily="34" charset="0"/>
                <a:sym typeface="+mn-ea"/>
              </a:rPr>
              <a:t>SELECT </a:t>
            </a:r>
            <a:r>
              <a:rPr lang="en-US" altLang="zh-CN" sz="2800" dirty="0" err="1">
                <a:solidFill>
                  <a:srgbClr val="FF0000"/>
                </a:solidFill>
                <a:latin typeface="Arial" panose="020B0604020202090204" pitchFamily="34" charset="0"/>
                <a:cs typeface="Arial" panose="020B0604020202090204" pitchFamily="34" charset="0"/>
                <a:sym typeface="+mn-ea"/>
              </a:rPr>
              <a:t>Sname</a:t>
            </a:r>
            <a:r>
              <a:rPr lang="zh-CN" altLang="en-US" sz="2800" dirty="0">
                <a:solidFill>
                  <a:srgbClr val="FF0000"/>
                </a:solidFill>
                <a:latin typeface="Arial" panose="020B0604020202090204" pitchFamily="34" charset="0"/>
                <a:cs typeface="Arial" panose="020B0604020202090204" pitchFamily="34" charset="0"/>
                <a:sym typeface="+mn-ea"/>
              </a:rPr>
              <a:t>, </a:t>
            </a:r>
            <a:r>
              <a:rPr lang="en-US" altLang="zh-CN" sz="2800" dirty="0" err="1">
                <a:solidFill>
                  <a:srgbClr val="FF0000"/>
                </a:solidFill>
                <a:latin typeface="Arial" panose="020B0604020202090204" pitchFamily="34" charset="0"/>
                <a:cs typeface="Arial" panose="020B0604020202090204" pitchFamily="34" charset="0"/>
                <a:sym typeface="+mn-ea"/>
              </a:rPr>
              <a:t>Sno</a:t>
            </a:r>
            <a:r>
              <a:rPr lang="zh-CN" altLang="en-US" sz="2800" dirty="0">
                <a:solidFill>
                  <a:srgbClr val="FF0000"/>
                </a:solidFill>
                <a:latin typeface="Arial" panose="020B0604020202090204" pitchFamily="34" charset="0"/>
                <a:cs typeface="Arial" panose="020B0604020202090204" pitchFamily="34" charset="0"/>
                <a:sym typeface="+mn-ea"/>
              </a:rPr>
              <a:t>, </a:t>
            </a:r>
            <a:r>
              <a:rPr lang="en-US" altLang="zh-CN" sz="2800" dirty="0" err="1">
                <a:solidFill>
                  <a:srgbClr val="FF0000"/>
                </a:solidFill>
                <a:latin typeface="Arial" panose="020B0604020202090204" pitchFamily="34" charset="0"/>
                <a:cs typeface="Arial" panose="020B0604020202090204" pitchFamily="34" charset="0"/>
                <a:sym typeface="+mn-ea"/>
              </a:rPr>
              <a:t>Ssex</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sym typeface="+mn-ea"/>
              </a:rPr>
              <a:t>FROM     Student</a:t>
            </a:r>
            <a:endParaRPr lang="en-US" altLang="zh-CN" sz="2800" dirty="0">
              <a:solidFill>
                <a:srgbClr val="FF0000"/>
              </a:solidFill>
              <a:latin typeface="Arial" panose="020B0604020202090204" pitchFamily="34" charset="0"/>
              <a:cs typeface="Arial" panose="020B0604020202090204" pitchFamily="34" charset="0"/>
            </a:endParaRPr>
          </a:p>
          <a:p>
            <a:pPr marL="821055" lvl="2" indent="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sym typeface="+mn-ea"/>
              </a:rPr>
              <a:t>WHERE  </a:t>
            </a:r>
            <a:r>
              <a:rPr lang="en-US" altLang="zh-CN" sz="2800" dirty="0" err="1">
                <a:solidFill>
                  <a:srgbClr val="FF0000"/>
                </a:solidFill>
                <a:latin typeface="Arial" panose="020B0604020202090204" pitchFamily="34" charset="0"/>
                <a:cs typeface="Arial" panose="020B0604020202090204" pitchFamily="34" charset="0"/>
                <a:sym typeface="+mn-ea"/>
              </a:rPr>
              <a:t>Sname</a:t>
            </a:r>
            <a:r>
              <a:rPr lang="en-US" altLang="zh-CN" sz="2800" dirty="0">
                <a:solidFill>
                  <a:srgbClr val="FF0000"/>
                </a:solidFill>
                <a:latin typeface="Arial" panose="020B0604020202090204" pitchFamily="34" charset="0"/>
                <a:cs typeface="Arial" panose="020B0604020202090204" pitchFamily="34" charset="0"/>
                <a:sym typeface="+mn-ea"/>
              </a:rPr>
              <a:t> NOT LIKE '</a:t>
            </a:r>
            <a:r>
              <a:rPr lang="zh-CN" altLang="en-US" sz="2800" dirty="0">
                <a:solidFill>
                  <a:srgbClr val="FF0000"/>
                </a:solidFill>
                <a:latin typeface="Arial" panose="020B0604020202090204" pitchFamily="34" charset="0"/>
                <a:cs typeface="Arial" panose="020B0604020202090204" pitchFamily="34" charset="0"/>
                <a:sym typeface="+mn-ea"/>
              </a:rPr>
              <a:t>刘</a:t>
            </a:r>
            <a:r>
              <a:rPr lang="en-US" altLang="zh-CN" sz="2800" dirty="0">
                <a:solidFill>
                  <a:srgbClr val="FF0000"/>
                </a:solidFill>
                <a:latin typeface="Arial" panose="020B0604020202090204" pitchFamily="34" charset="0"/>
                <a:cs typeface="Arial" panose="020B0604020202090204" pitchFamily="34" charset="0"/>
                <a:sym typeface="+mn-ea"/>
              </a:rPr>
              <a:t>%'</a:t>
            </a:r>
            <a:r>
              <a:rPr lang="zh-CN" altLang="en-US" sz="2800" dirty="0">
                <a:solidFill>
                  <a:srgbClr val="FF0000"/>
                </a:solidFill>
                <a:latin typeface="Arial" panose="020B0604020202090204" pitchFamily="34" charset="0"/>
                <a:cs typeface="Arial" panose="020B0604020202090204" pitchFamily="34" charset="0"/>
                <a:sym typeface="+mn-ea"/>
              </a:rPr>
              <a:t>;</a:t>
            </a:r>
            <a:endParaRPr lang="zh-CN" altLang="en-US" sz="2800" dirty="0">
              <a:solidFill>
                <a:srgbClr val="FF0000"/>
              </a:solidFill>
              <a:latin typeface="Arial" panose="020B0604020202090204" pitchFamily="34" charset="0"/>
              <a:cs typeface="Arial" panose="020B0604020202090204" pitchFamily="34" charset="0"/>
              <a:sym typeface="+mn-ea"/>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971">
                                            <p:txEl>
                                              <p:pRg st="1" end="1"/>
                                            </p:txEl>
                                          </p:spTgt>
                                        </p:tgtEl>
                                        <p:attrNameLst>
                                          <p:attrName>style.visibility</p:attrName>
                                        </p:attrNameLst>
                                      </p:cBhvr>
                                      <p:to>
                                        <p:strVal val="visible"/>
                                      </p:to>
                                    </p:set>
                                    <p:anim calcmode="lin" valueType="num">
                                      <p:cBhvr additive="base">
                                        <p:cTn id="7" dur="500" fill="hold"/>
                                        <p:tgtEl>
                                          <p:spTgt spid="839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9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3971">
                                            <p:txEl>
                                              <p:pRg st="2" end="2"/>
                                            </p:txEl>
                                          </p:spTgt>
                                        </p:tgtEl>
                                        <p:attrNameLst>
                                          <p:attrName>style.visibility</p:attrName>
                                        </p:attrNameLst>
                                      </p:cBhvr>
                                      <p:to>
                                        <p:strVal val="visible"/>
                                      </p:to>
                                    </p:set>
                                    <p:anim calcmode="lin" valueType="num">
                                      <p:cBhvr additive="base">
                                        <p:cTn id="13" dur="500" fill="hold"/>
                                        <p:tgtEl>
                                          <p:spTgt spid="839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971">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3971">
                                            <p:txEl>
                                              <p:pRg st="3" end="3"/>
                                            </p:txEl>
                                          </p:spTgt>
                                        </p:tgtEl>
                                        <p:attrNameLst>
                                          <p:attrName>style.visibility</p:attrName>
                                        </p:attrNameLst>
                                      </p:cBhvr>
                                      <p:to>
                                        <p:strVal val="visible"/>
                                      </p:to>
                                    </p:set>
                                    <p:anim calcmode="lin" valueType="num">
                                      <p:cBhvr additive="base">
                                        <p:cTn id="17" dur="500" fill="hold"/>
                                        <p:tgtEl>
                                          <p:spTgt spid="8397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3971">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3971">
                                            <p:txEl>
                                              <p:pRg st="4" end="4"/>
                                            </p:txEl>
                                          </p:spTgt>
                                        </p:tgtEl>
                                        <p:attrNameLst>
                                          <p:attrName>style.visibility</p:attrName>
                                        </p:attrNameLst>
                                      </p:cBhvr>
                                      <p:to>
                                        <p:strVal val="visible"/>
                                      </p:to>
                                    </p:set>
                                    <p:anim calcmode="lin" valueType="num">
                                      <p:cBhvr additive="base">
                                        <p:cTn id="21" dur="500" fill="hold"/>
                                        <p:tgtEl>
                                          <p:spTgt spid="8397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39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3971">
                                            <p:txEl>
                                              <p:pRg st="5" end="5"/>
                                            </p:txEl>
                                          </p:spTgt>
                                        </p:tgtEl>
                                        <p:attrNameLst>
                                          <p:attrName>style.visibility</p:attrName>
                                        </p:attrNameLst>
                                      </p:cBhvr>
                                      <p:to>
                                        <p:strVal val="visible"/>
                                      </p:to>
                                    </p:set>
                                    <p:anim calcmode="lin" valueType="num">
                                      <p:cBhvr additive="base">
                                        <p:cTn id="27" dur="500" fill="hold"/>
                                        <p:tgtEl>
                                          <p:spTgt spid="83971">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39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3971">
                                            <p:txEl>
                                              <p:pRg st="6" end="6"/>
                                            </p:txEl>
                                          </p:spTgt>
                                        </p:tgtEl>
                                        <p:attrNameLst>
                                          <p:attrName>style.visibility</p:attrName>
                                        </p:attrNameLst>
                                      </p:cBhvr>
                                      <p:to>
                                        <p:strVal val="visible"/>
                                      </p:to>
                                    </p:set>
                                    <p:anim calcmode="lin" valueType="num">
                                      <p:cBhvr additive="base">
                                        <p:cTn id="33" dur="500" fill="hold"/>
                                        <p:tgtEl>
                                          <p:spTgt spid="8397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397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3971">
                                            <p:txEl>
                                              <p:pRg st="7" end="7"/>
                                            </p:txEl>
                                          </p:spTgt>
                                        </p:tgtEl>
                                        <p:attrNameLst>
                                          <p:attrName>style.visibility</p:attrName>
                                        </p:attrNameLst>
                                      </p:cBhvr>
                                      <p:to>
                                        <p:strVal val="visible"/>
                                      </p:to>
                                    </p:set>
                                    <p:anim calcmode="lin" valueType="num">
                                      <p:cBhvr additive="base">
                                        <p:cTn id="37" dur="500" fill="hold"/>
                                        <p:tgtEl>
                                          <p:spTgt spid="8397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397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83971">
                                            <p:txEl>
                                              <p:pRg st="8" end="8"/>
                                            </p:txEl>
                                          </p:spTgt>
                                        </p:tgtEl>
                                        <p:attrNameLst>
                                          <p:attrName>style.visibility</p:attrName>
                                        </p:attrNameLst>
                                      </p:cBhvr>
                                      <p:to>
                                        <p:strVal val="visible"/>
                                      </p:to>
                                    </p:set>
                                    <p:anim calcmode="lin" valueType="num">
                                      <p:cBhvr additive="base">
                                        <p:cTn id="41" dur="500" fill="hold"/>
                                        <p:tgtEl>
                                          <p:spTgt spid="8397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397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zh-CN" altLang="en-US" dirty="0"/>
              <a:t>④ 字符匹配 </a:t>
            </a:r>
            <a:r>
              <a:rPr lang="en-US" altLang="zh-CN" dirty="0"/>
              <a:t>4</a:t>
            </a:r>
            <a:endParaRPr lang="zh-CN" altLang="en-US" dirty="0"/>
          </a:p>
        </p:txBody>
      </p:sp>
      <p:sp>
        <p:nvSpPr>
          <p:cNvPr id="86019" name="Rectangle 3"/>
          <p:cNvSpPr>
            <a:spLocks noGrp="1" noChangeArrowheads="1"/>
          </p:cNvSpPr>
          <p:nvPr>
            <p:ph idx="1"/>
          </p:nvPr>
        </p:nvSpPr>
        <p:spPr>
          <a:xfrm>
            <a:off x="424180" y="687070"/>
            <a:ext cx="11343005" cy="1512570"/>
          </a:xfrm>
          <a:solidFill>
            <a:schemeClr val="accent3">
              <a:lumMod val="20000"/>
              <a:lumOff val="80000"/>
              <a:alpha val="50000"/>
            </a:schemeClr>
          </a:solidFill>
        </p:spPr>
        <p:txBody>
          <a:bodyPr>
            <a:noAutofit/>
          </a:bodyPr>
          <a:lstStyle/>
          <a:p>
            <a:pPr fontAlgn="auto">
              <a:lnSpc>
                <a:spcPct val="110000"/>
              </a:lnSpc>
              <a:spcBef>
                <a:spcPts val="0"/>
              </a:spcBef>
            </a:pPr>
            <a:r>
              <a:rPr lang="en-US" altLang="zh-CN" sz="2800" dirty="0">
                <a:cs typeface="Calibri" panose="020F0502020204030204" charset="0"/>
              </a:rPr>
              <a:t> </a:t>
            </a:r>
            <a:r>
              <a:rPr lang="zh-CN" altLang="en-US" sz="2800" dirty="0">
                <a:highlight>
                  <a:srgbClr val="FFFF00"/>
                </a:highlight>
                <a:cs typeface="Calibri" panose="020F0502020204030204" charset="0"/>
              </a:rPr>
              <a:t>使用换码字符将通配符转义为普通字符</a:t>
            </a:r>
            <a:endParaRPr lang="en-US" altLang="zh-CN" sz="2800" dirty="0">
              <a:cs typeface="Calibri" panose="020F0502020204030204" charset="0"/>
            </a:endParaRPr>
          </a:p>
          <a:p>
            <a:pPr lvl="1" fontAlgn="auto">
              <a:lnSpc>
                <a:spcPct val="110000"/>
              </a:lnSpc>
              <a:spcBef>
                <a:spcPts val="0"/>
              </a:spcBef>
            </a:pPr>
            <a:r>
              <a:rPr lang="zh-CN" altLang="en-US" sz="2800" dirty="0">
                <a:solidFill>
                  <a:srgbClr val="0000C8"/>
                </a:solidFill>
                <a:cs typeface="Calibri" panose="020F0502020204030204" charset="0"/>
              </a:rPr>
              <a:t>用</a:t>
            </a:r>
            <a:r>
              <a:rPr lang="en-US" altLang="zh-CN" sz="2800" dirty="0">
                <a:solidFill>
                  <a:srgbClr val="0000C8"/>
                </a:solidFill>
                <a:cs typeface="Calibri" panose="020F0502020204030204" charset="0"/>
              </a:rPr>
              <a:t> </a:t>
            </a:r>
            <a:r>
              <a:rPr lang="zh-CN" altLang="en-US" sz="2800" dirty="0">
                <a:solidFill>
                  <a:srgbClr val="C00000"/>
                </a:solidFill>
                <a:cs typeface="Calibri" panose="020F0502020204030204" charset="0"/>
              </a:rPr>
              <a:t>ESCAPE '＼'</a:t>
            </a:r>
            <a:r>
              <a:rPr lang="en-US" altLang="zh-CN" sz="2800" dirty="0">
                <a:solidFill>
                  <a:srgbClr val="C00000"/>
                </a:solidFill>
                <a:cs typeface="Calibri" panose="020F0502020204030204" charset="0"/>
              </a:rPr>
              <a:t> </a:t>
            </a:r>
            <a:r>
              <a:rPr lang="zh-CN" altLang="en-US" sz="2800" dirty="0">
                <a:solidFill>
                  <a:srgbClr val="0000C8"/>
                </a:solidFill>
                <a:cs typeface="Calibri" panose="020F0502020204030204" charset="0"/>
              </a:rPr>
              <a:t>表示字符</a:t>
            </a:r>
            <a:r>
              <a:rPr lang="zh-CN" altLang="en-US" sz="2800" dirty="0">
                <a:solidFill>
                  <a:srgbClr val="C00000"/>
                </a:solidFill>
                <a:cs typeface="Calibri" panose="020F0502020204030204" charset="0"/>
              </a:rPr>
              <a:t>＼</a:t>
            </a:r>
            <a:r>
              <a:rPr lang="zh-CN" altLang="en-US" sz="2800" dirty="0">
                <a:solidFill>
                  <a:srgbClr val="0000C8"/>
                </a:solidFill>
                <a:cs typeface="Calibri" panose="020F0502020204030204" charset="0"/>
              </a:rPr>
              <a:t>为换码字符（也称为</a:t>
            </a:r>
            <a:r>
              <a:rPr lang="en-US" altLang="zh-CN" sz="2800" dirty="0">
                <a:solidFill>
                  <a:srgbClr val="0000C8"/>
                </a:solidFill>
                <a:cs typeface="Calibri" panose="020F0502020204030204" charset="0"/>
              </a:rPr>
              <a:t>‘</a:t>
            </a:r>
            <a:r>
              <a:rPr lang="zh-CN" altLang="en-US" sz="2800" dirty="0">
                <a:solidFill>
                  <a:srgbClr val="0000C8"/>
                </a:solidFill>
                <a:cs typeface="Calibri" panose="020F0502020204030204" charset="0"/>
              </a:rPr>
              <a:t>转义指示符</a:t>
            </a:r>
            <a:r>
              <a:rPr lang="en-US" altLang="zh-CN" sz="2800" dirty="0">
                <a:solidFill>
                  <a:srgbClr val="0000C8"/>
                </a:solidFill>
                <a:cs typeface="Calibri" panose="020F0502020204030204" charset="0"/>
              </a:rPr>
              <a:t>’</a:t>
            </a:r>
            <a:r>
              <a:rPr lang="zh-CN" altLang="en-US" sz="2800" dirty="0">
                <a:solidFill>
                  <a:srgbClr val="0000C8"/>
                </a:solidFill>
                <a:cs typeface="Calibri" panose="020F0502020204030204" charset="0"/>
              </a:rPr>
              <a:t>）</a:t>
            </a:r>
            <a:endParaRPr lang="zh-CN" altLang="en-US" sz="2800" dirty="0">
              <a:solidFill>
                <a:srgbClr val="0000C8"/>
              </a:solidFill>
              <a:cs typeface="Calibri" panose="020F0502020204030204" charset="0"/>
            </a:endParaRPr>
          </a:p>
          <a:p>
            <a:pPr lvl="1" fontAlgn="auto">
              <a:lnSpc>
                <a:spcPct val="110000"/>
              </a:lnSpc>
              <a:spcBef>
                <a:spcPts val="0"/>
              </a:spcBef>
            </a:pPr>
            <a:r>
              <a:rPr lang="zh-CN" altLang="en-US" sz="2800" dirty="0">
                <a:solidFill>
                  <a:srgbClr val="0000C8"/>
                </a:solidFill>
                <a:cs typeface="Calibri" panose="020F0502020204030204" charset="0"/>
              </a:rPr>
              <a:t>说明：在</a:t>
            </a:r>
            <a:r>
              <a:rPr lang="en-US" altLang="zh-CN" sz="2800" dirty="0">
                <a:solidFill>
                  <a:srgbClr val="0000C8"/>
                </a:solidFill>
                <a:cs typeface="Calibri" panose="020F0502020204030204" charset="0"/>
              </a:rPr>
              <a:t>MySQL</a:t>
            </a:r>
            <a:r>
              <a:rPr lang="zh-CN" altLang="en-US" sz="2800" dirty="0">
                <a:solidFill>
                  <a:srgbClr val="0000C8"/>
                </a:solidFill>
                <a:cs typeface="Calibri" panose="020F0502020204030204" charset="0"/>
              </a:rPr>
              <a:t>中，系统内置的缺省转义指示符就是</a:t>
            </a:r>
            <a:r>
              <a:rPr lang="en-US" altLang="zh-CN" sz="2800" dirty="0">
                <a:solidFill>
                  <a:srgbClr val="0000C8"/>
                </a:solidFill>
                <a:cs typeface="Calibri" panose="020F0502020204030204" charset="0"/>
              </a:rPr>
              <a:t> </a:t>
            </a:r>
            <a:r>
              <a:rPr lang="en-US" altLang="zh-CN" sz="2800" dirty="0">
                <a:solidFill>
                  <a:srgbClr val="C00000"/>
                </a:solidFill>
                <a:cs typeface="Calibri" panose="020F0502020204030204" charset="0"/>
              </a:rPr>
              <a:t> </a:t>
            </a:r>
            <a:r>
              <a:rPr lang="zh-CN" altLang="en-US" dirty="0">
                <a:solidFill>
                  <a:srgbClr val="C00000"/>
                </a:solidFill>
                <a:cs typeface="Calibri" panose="020F0502020204030204" charset="0"/>
                <a:sym typeface="+mn-ea"/>
              </a:rPr>
              <a:t>'＼'</a:t>
            </a:r>
            <a:endParaRPr lang="zh-CN" altLang="en-US" sz="2800" dirty="0">
              <a:solidFill>
                <a:srgbClr val="C00000"/>
              </a:solidFill>
              <a:cs typeface="Calibri" panose="020F0502020204030204" charset="0"/>
              <a:sym typeface="+mn-ea"/>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4" name="Rectangle 3"/>
          <p:cNvSpPr>
            <a:spLocks noGrp="1" noChangeArrowheads="1"/>
          </p:cNvSpPr>
          <p:nvPr/>
        </p:nvSpPr>
        <p:spPr>
          <a:xfrm>
            <a:off x="424180" y="2506980"/>
            <a:ext cx="11343005" cy="413829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fontAlgn="auto">
              <a:lnSpc>
                <a:spcPct val="110000"/>
              </a:lnSpc>
              <a:spcBef>
                <a:spcPts val="0"/>
              </a:spcBef>
            </a:pPr>
            <a:r>
              <a:rPr lang="en-US" altLang="zh-CN" sz="2800" dirty="0">
                <a:cs typeface="Calibri" panose="020F0502020204030204" charset="0"/>
              </a:rPr>
              <a:t> </a:t>
            </a:r>
            <a:r>
              <a:rPr lang="zh-CN" altLang="en-US" sz="2800" dirty="0">
                <a:cs typeface="Calibri" panose="020F0502020204030204" charset="0"/>
              </a:rPr>
              <a:t> </a:t>
            </a:r>
            <a:r>
              <a:rPr lang="en-US" altLang="zh-CN" sz="2800" dirty="0">
                <a:cs typeface="Calibri" panose="020F0502020204030204" charset="0"/>
              </a:rPr>
              <a:t>[</a:t>
            </a:r>
            <a:r>
              <a:rPr lang="zh-CN" altLang="en-US" sz="2800" dirty="0">
                <a:cs typeface="Calibri" panose="020F0502020204030204" charset="0"/>
              </a:rPr>
              <a:t>例</a:t>
            </a:r>
            <a:r>
              <a:rPr lang="en-US" altLang="zh-CN" sz="2800" dirty="0">
                <a:cs typeface="Calibri" panose="020F0502020204030204" charset="0"/>
              </a:rPr>
              <a:t>3.34]  </a:t>
            </a:r>
            <a:r>
              <a:rPr lang="zh-CN" altLang="en-US" sz="2800" dirty="0">
                <a:cs typeface="Calibri" panose="020F0502020204030204" charset="0"/>
              </a:rPr>
              <a:t>查询</a:t>
            </a:r>
            <a:r>
              <a:rPr lang="en-US" altLang="zh-CN" sz="2800" dirty="0" err="1">
                <a:cs typeface="Calibri" panose="020F0502020204030204" charset="0"/>
              </a:rPr>
              <a:t>DB_Design</a:t>
            </a:r>
            <a:r>
              <a:rPr lang="zh-CN" altLang="en-US" sz="2800" dirty="0">
                <a:cs typeface="Calibri" panose="020F0502020204030204" charset="0"/>
              </a:rPr>
              <a:t>课程的课程号和学分。</a:t>
            </a:r>
            <a:endParaRPr lang="zh-CN" altLang="en-US" sz="2800" dirty="0">
              <a:cs typeface="Calibri" panose="020F0502020204030204" charset="0"/>
            </a:endParaRPr>
          </a:p>
          <a:p>
            <a:pPr marL="821055" lvl="2" indent="0" fontAlgn="auto">
              <a:lnSpc>
                <a:spcPct val="110000"/>
              </a:lnSpc>
              <a:spcBef>
                <a:spcPts val="0"/>
              </a:spcBef>
              <a:buNone/>
            </a:pPr>
            <a:r>
              <a:rPr lang="en-US" altLang="zh-CN" sz="2800" dirty="0">
                <a:solidFill>
                  <a:srgbClr val="FF0000"/>
                </a:solidFill>
                <a:cs typeface="Calibri" panose="020F0502020204030204" charset="0"/>
              </a:rPr>
              <a:t>SELECT  </a:t>
            </a:r>
            <a:r>
              <a:rPr lang="en-US" altLang="zh-CN" sz="2800" dirty="0" err="1">
                <a:solidFill>
                  <a:srgbClr val="FF0000"/>
                </a:solidFill>
                <a:cs typeface="Calibri" panose="020F0502020204030204" charset="0"/>
              </a:rPr>
              <a:t>Cno</a:t>
            </a:r>
            <a:r>
              <a:rPr lang="zh-CN" altLang="en-US" sz="2800" dirty="0">
                <a:solidFill>
                  <a:srgbClr val="FF0000"/>
                </a:solidFill>
                <a:cs typeface="Calibri" panose="020F0502020204030204" charset="0"/>
              </a:rPr>
              <a:t>，</a:t>
            </a:r>
            <a:r>
              <a:rPr lang="en-US" altLang="zh-CN" sz="2800" dirty="0" err="1">
                <a:solidFill>
                  <a:srgbClr val="FF0000"/>
                </a:solidFill>
                <a:cs typeface="Calibri" panose="020F0502020204030204" charset="0"/>
              </a:rPr>
              <a:t>Ccredit</a:t>
            </a:r>
            <a:endParaRPr lang="en-US" altLang="zh-CN" sz="2800" dirty="0">
              <a:solidFill>
                <a:srgbClr val="FF0000"/>
              </a:solidFill>
              <a:cs typeface="Calibri" panose="020F0502020204030204" charset="0"/>
            </a:endParaRPr>
          </a:p>
          <a:p>
            <a:pPr marL="821055" lvl="2" indent="0" fontAlgn="auto">
              <a:lnSpc>
                <a:spcPct val="110000"/>
              </a:lnSpc>
              <a:spcBef>
                <a:spcPts val="0"/>
              </a:spcBef>
              <a:buNone/>
            </a:pPr>
            <a:r>
              <a:rPr lang="en-US" altLang="zh-CN" sz="2800" dirty="0">
                <a:solidFill>
                  <a:srgbClr val="FF0000"/>
                </a:solidFill>
                <a:cs typeface="Calibri" panose="020F0502020204030204" charset="0"/>
              </a:rPr>
              <a:t>FROM     Course</a:t>
            </a:r>
            <a:endParaRPr lang="en-US" altLang="zh-CN" sz="2800" dirty="0">
              <a:solidFill>
                <a:srgbClr val="FF0000"/>
              </a:solidFill>
              <a:cs typeface="Calibri" panose="020F0502020204030204" charset="0"/>
            </a:endParaRPr>
          </a:p>
          <a:p>
            <a:pPr marL="821055" lvl="2" indent="0" fontAlgn="auto">
              <a:lnSpc>
                <a:spcPct val="110000"/>
              </a:lnSpc>
              <a:spcBef>
                <a:spcPts val="0"/>
              </a:spcBef>
              <a:buNone/>
            </a:pPr>
            <a:r>
              <a:rPr lang="en-US" altLang="zh-CN" sz="2800" dirty="0">
                <a:solidFill>
                  <a:srgbClr val="FF0000"/>
                </a:solidFill>
                <a:cs typeface="Calibri" panose="020F0502020204030204" charset="0"/>
              </a:rPr>
              <a:t>WHERE  </a:t>
            </a:r>
            <a:r>
              <a:rPr lang="en-US" altLang="zh-CN" sz="2800" dirty="0" err="1">
                <a:solidFill>
                  <a:srgbClr val="FF0000"/>
                </a:solidFill>
                <a:cs typeface="Calibri" panose="020F0502020204030204" charset="0"/>
              </a:rPr>
              <a:t>Cname</a:t>
            </a:r>
            <a:r>
              <a:rPr lang="en-US" altLang="zh-CN" sz="2800" dirty="0">
                <a:solidFill>
                  <a:srgbClr val="FF0000"/>
                </a:solidFill>
                <a:cs typeface="Calibri" panose="020F0502020204030204" charset="0"/>
              </a:rPr>
              <a:t> LIKE 'DB\_Design' ESCAPE '\' </a:t>
            </a:r>
            <a:r>
              <a:rPr lang="zh-CN" altLang="en-US" sz="2800" dirty="0">
                <a:solidFill>
                  <a:srgbClr val="FF0000"/>
                </a:solidFill>
                <a:cs typeface="Calibri" panose="020F0502020204030204" charset="0"/>
              </a:rPr>
              <a:t>;</a:t>
            </a:r>
            <a:endParaRPr lang="zh-CN" altLang="en-US" sz="2800" dirty="0">
              <a:solidFill>
                <a:srgbClr val="FF0000"/>
              </a:solidFill>
              <a:cs typeface="Calibri" panose="020F0502020204030204" charset="0"/>
            </a:endParaRPr>
          </a:p>
          <a:p>
            <a:pPr fontAlgn="auto">
              <a:lnSpc>
                <a:spcPct val="110000"/>
              </a:lnSpc>
              <a:spcBef>
                <a:spcPts val="2000"/>
              </a:spcBef>
            </a:pPr>
            <a:r>
              <a:rPr lang="en-US" altLang="zh-CN" sz="2800" dirty="0">
                <a:cs typeface="Calibri" panose="020F0502020204030204" charset="0"/>
              </a:rPr>
              <a:t>[</a:t>
            </a:r>
            <a:r>
              <a:rPr lang="zh-CN" altLang="en-US" sz="2800" dirty="0">
                <a:cs typeface="Calibri" panose="020F0502020204030204" charset="0"/>
              </a:rPr>
              <a:t>例</a:t>
            </a:r>
            <a:r>
              <a:rPr lang="en-US" altLang="zh-CN" sz="2800" dirty="0">
                <a:cs typeface="Calibri" panose="020F0502020204030204" charset="0"/>
              </a:rPr>
              <a:t>3.35]  </a:t>
            </a:r>
            <a:r>
              <a:rPr lang="zh-CN" altLang="en-US" sz="2800" dirty="0">
                <a:cs typeface="Calibri" panose="020F0502020204030204" charset="0"/>
              </a:rPr>
              <a:t>查询以</a:t>
            </a:r>
            <a:r>
              <a:rPr lang="en-US" altLang="zh-CN" sz="2800" dirty="0">
                <a:cs typeface="Calibri" panose="020F0502020204030204" charset="0"/>
              </a:rPr>
              <a:t>"DB_"</a:t>
            </a:r>
            <a:r>
              <a:rPr lang="zh-CN" altLang="en-US" sz="2800" dirty="0">
                <a:cs typeface="Calibri" panose="020F0502020204030204" charset="0"/>
              </a:rPr>
              <a:t>开头，且倒数第</a:t>
            </a:r>
            <a:r>
              <a:rPr lang="en-US" altLang="zh-CN" sz="2800" dirty="0">
                <a:cs typeface="Calibri" panose="020F0502020204030204" charset="0"/>
              </a:rPr>
              <a:t>3</a:t>
            </a:r>
            <a:r>
              <a:rPr lang="zh-CN" altLang="en-US" sz="2800" dirty="0">
                <a:cs typeface="Calibri" panose="020F0502020204030204" charset="0"/>
              </a:rPr>
              <a:t>个字符为 </a:t>
            </a:r>
            <a:r>
              <a:rPr lang="en-US" altLang="zh-CN" sz="2800" dirty="0" err="1">
                <a:cs typeface="Calibri" panose="020F0502020204030204" charset="0"/>
              </a:rPr>
              <a:t>i </a:t>
            </a:r>
            <a:r>
              <a:rPr lang="zh-CN" altLang="en-US" sz="2800" dirty="0">
                <a:cs typeface="Calibri" panose="020F0502020204030204" charset="0"/>
              </a:rPr>
              <a:t>的课程的详细情况。</a:t>
            </a:r>
            <a:endParaRPr lang="zh-CN" altLang="en-US" sz="2800" dirty="0">
              <a:cs typeface="Calibri" panose="020F0502020204030204" charset="0"/>
            </a:endParaRPr>
          </a:p>
          <a:p>
            <a:pPr marL="821055" lvl="2" indent="0" fontAlgn="auto">
              <a:lnSpc>
                <a:spcPct val="110000"/>
              </a:lnSpc>
              <a:spcBef>
                <a:spcPts val="0"/>
              </a:spcBef>
              <a:buNone/>
            </a:pPr>
            <a:r>
              <a:rPr lang="en-US" altLang="zh-CN" sz="2800" dirty="0">
                <a:solidFill>
                  <a:srgbClr val="FF0000"/>
                </a:solidFill>
                <a:cs typeface="Calibri" panose="020F0502020204030204" charset="0"/>
              </a:rPr>
              <a:t>SELECT  *</a:t>
            </a:r>
            <a:endParaRPr lang="en-US" altLang="zh-CN" sz="2800" dirty="0">
              <a:solidFill>
                <a:srgbClr val="FF0000"/>
              </a:solidFill>
              <a:cs typeface="Calibri" panose="020F0502020204030204" charset="0"/>
            </a:endParaRPr>
          </a:p>
          <a:p>
            <a:pPr marL="821055" lvl="2" indent="0" fontAlgn="auto">
              <a:lnSpc>
                <a:spcPct val="110000"/>
              </a:lnSpc>
              <a:spcBef>
                <a:spcPts val="0"/>
              </a:spcBef>
              <a:buNone/>
            </a:pPr>
            <a:r>
              <a:rPr lang="en-US" altLang="zh-CN" sz="2800" dirty="0">
                <a:solidFill>
                  <a:srgbClr val="FF0000"/>
                </a:solidFill>
                <a:cs typeface="Calibri" panose="020F0502020204030204" charset="0"/>
              </a:rPr>
              <a:t>FROM    Course</a:t>
            </a:r>
            <a:endParaRPr lang="en-US" altLang="zh-CN" sz="2800" dirty="0">
              <a:solidFill>
                <a:srgbClr val="FF0000"/>
              </a:solidFill>
              <a:cs typeface="Calibri" panose="020F0502020204030204" charset="0"/>
            </a:endParaRPr>
          </a:p>
          <a:p>
            <a:pPr marL="821055" lvl="2" indent="0" fontAlgn="auto">
              <a:lnSpc>
                <a:spcPct val="110000"/>
              </a:lnSpc>
              <a:spcBef>
                <a:spcPts val="0"/>
              </a:spcBef>
              <a:buNone/>
            </a:pPr>
            <a:r>
              <a:rPr lang="en-US" altLang="zh-CN" sz="2800" dirty="0">
                <a:solidFill>
                  <a:srgbClr val="FF0000"/>
                </a:solidFill>
                <a:cs typeface="Calibri" panose="020F0502020204030204" charset="0"/>
              </a:rPr>
              <a:t>WHERE  </a:t>
            </a:r>
            <a:r>
              <a:rPr lang="en-US" altLang="zh-CN" sz="2800" dirty="0" err="1">
                <a:solidFill>
                  <a:srgbClr val="FF0000"/>
                </a:solidFill>
                <a:cs typeface="Calibri" panose="020F0502020204030204" charset="0"/>
              </a:rPr>
              <a:t>Cname</a:t>
            </a:r>
            <a:r>
              <a:rPr lang="en-US" altLang="zh-CN" sz="2800" dirty="0">
                <a:solidFill>
                  <a:srgbClr val="FF0000"/>
                </a:solidFill>
                <a:cs typeface="Calibri" panose="020F0502020204030204" charset="0"/>
              </a:rPr>
              <a:t> LIKE  </a:t>
            </a:r>
            <a:r>
              <a:rPr lang="zh-CN" altLang="en-US" sz="2800" dirty="0">
                <a:solidFill>
                  <a:srgbClr val="FF0000"/>
                </a:solidFill>
                <a:cs typeface="Calibri" panose="020F0502020204030204" charset="0"/>
              </a:rPr>
              <a:t>'</a:t>
            </a:r>
            <a:r>
              <a:rPr lang="en-US" altLang="zh-CN" sz="2800" dirty="0">
                <a:solidFill>
                  <a:srgbClr val="FF0000"/>
                </a:solidFill>
                <a:cs typeface="Calibri" panose="020F0502020204030204" charset="0"/>
              </a:rPr>
              <a:t>DB\_%</a:t>
            </a:r>
            <a:r>
              <a:rPr lang="en-US" altLang="zh-CN" sz="2800" dirty="0" err="1">
                <a:solidFill>
                  <a:srgbClr val="FF0000"/>
                </a:solidFill>
                <a:cs typeface="Calibri" panose="020F0502020204030204" charset="0"/>
              </a:rPr>
              <a:t>i</a:t>
            </a:r>
            <a:r>
              <a:rPr lang="en-US" altLang="zh-CN" sz="2800" dirty="0">
                <a:solidFill>
                  <a:srgbClr val="FF0000"/>
                </a:solidFill>
                <a:cs typeface="Calibri" panose="020F0502020204030204" charset="0"/>
              </a:rPr>
              <a:t>_ _</a:t>
            </a:r>
            <a:r>
              <a:rPr lang="zh-CN" altLang="en-US" sz="2800" dirty="0">
                <a:solidFill>
                  <a:srgbClr val="FF0000"/>
                </a:solidFill>
                <a:cs typeface="Calibri" panose="020F0502020204030204" charset="0"/>
              </a:rPr>
              <a:t>'</a:t>
            </a:r>
            <a:r>
              <a:rPr lang="en-US" altLang="zh-CN" sz="2800" dirty="0">
                <a:solidFill>
                  <a:srgbClr val="FF0000"/>
                </a:solidFill>
                <a:cs typeface="Calibri" panose="020F0502020204030204" charset="0"/>
              </a:rPr>
              <a:t> ESCAPE '\' </a:t>
            </a:r>
            <a:r>
              <a:rPr lang="zh-CN" altLang="en-US" sz="2800" dirty="0">
                <a:solidFill>
                  <a:srgbClr val="FF0000"/>
                </a:solidFill>
                <a:cs typeface="Calibri" panose="020F0502020204030204" charset="0"/>
              </a:rPr>
              <a:t>;</a:t>
            </a:r>
            <a:endParaRPr lang="zh-CN" altLang="en-US" sz="2800" dirty="0">
              <a:solidFill>
                <a:srgbClr val="FF0000"/>
              </a:solidFill>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linds(horizontal)">
                                      <p:cBhvr>
                                        <p:cTn id="15" dur="500"/>
                                        <p:tgtEl>
                                          <p:spTgt spid="4">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linds(horizontal)">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blinds(horizontal)">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blinds(horizontal)">
                                      <p:cBhvr>
                                        <p:cTn id="28" dur="500"/>
                                        <p:tgtEl>
                                          <p:spTgt spid="4">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blinds(horizontal)">
                                      <p:cBhvr>
                                        <p:cTn id="31" dur="500"/>
                                        <p:tgtEl>
                                          <p:spTgt spid="4">
                                            <p:txEl>
                                              <p:pRg st="6" end="6"/>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blinds(horizontal)">
                                      <p:cBhvr>
                                        <p:cTn id="34"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2"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dirty="0"/>
              <a:t>⑤</a:t>
            </a:r>
            <a:r>
              <a:rPr lang="en-US" altLang="zh-CN" dirty="0"/>
              <a:t> </a:t>
            </a:r>
            <a:r>
              <a:rPr lang="zh-CN" altLang="en-US" dirty="0"/>
              <a:t>涉及空值的查询</a:t>
            </a:r>
            <a:endParaRPr lang="zh-CN" altLang="en-US" dirty="0"/>
          </a:p>
        </p:txBody>
      </p:sp>
      <p:sp>
        <p:nvSpPr>
          <p:cNvPr id="87043" name="Rectangle 3"/>
          <p:cNvSpPr>
            <a:spLocks noGrp="1" noChangeArrowheads="1"/>
          </p:cNvSpPr>
          <p:nvPr>
            <p:ph idx="1"/>
          </p:nvPr>
        </p:nvSpPr>
        <p:spPr>
          <a:xfrm>
            <a:off x="424180" y="687070"/>
            <a:ext cx="11343005" cy="1814830"/>
          </a:xfrm>
          <a:solidFill>
            <a:schemeClr val="accent3">
              <a:lumMod val="20000"/>
              <a:lumOff val="80000"/>
              <a:alpha val="50000"/>
            </a:schemeClr>
          </a:solidFill>
        </p:spPr>
        <p:txBody>
          <a:bodyPr>
            <a:noAutofit/>
          </a:bodyPr>
          <a:lstStyle/>
          <a:p>
            <a:pPr>
              <a:lnSpc>
                <a:spcPct val="100000"/>
              </a:lnSpc>
            </a:pPr>
            <a:r>
              <a:rPr lang="zh-CN" altLang="en-US" dirty="0"/>
              <a:t>谓词： </a:t>
            </a:r>
            <a:r>
              <a:rPr lang="en-US" altLang="zh-CN" dirty="0">
                <a:solidFill>
                  <a:srgbClr val="C00000"/>
                </a:solidFill>
              </a:rPr>
              <a:t>IS NULL</a:t>
            </a:r>
            <a:r>
              <a:rPr lang="en-US" altLang="zh-CN" dirty="0"/>
              <a:t> </a:t>
            </a:r>
            <a:r>
              <a:rPr lang="zh-CN" altLang="en-US" dirty="0"/>
              <a:t>或 </a:t>
            </a:r>
            <a:r>
              <a:rPr lang="en-US" altLang="zh-CN" dirty="0">
                <a:solidFill>
                  <a:srgbClr val="C00000"/>
                </a:solidFill>
              </a:rPr>
              <a:t>IS NOT NULL</a:t>
            </a:r>
            <a:endParaRPr lang="en-US" altLang="zh-CN" dirty="0"/>
          </a:p>
          <a:p>
            <a:pPr lvl="1">
              <a:lnSpc>
                <a:spcPct val="100000"/>
              </a:lnSpc>
            </a:pPr>
            <a:r>
              <a:rPr lang="en-US" altLang="zh-CN" dirty="0"/>
              <a:t> </a:t>
            </a:r>
            <a:r>
              <a:rPr lang="zh-CN" altLang="en-US" dirty="0"/>
              <a:t>在</a:t>
            </a:r>
            <a:r>
              <a:rPr lang="en-US" altLang="zh-CN" dirty="0"/>
              <a:t>SQL</a:t>
            </a:r>
            <a:r>
              <a:rPr lang="zh-CN" altLang="en-US" dirty="0"/>
              <a:t>标准中，</a:t>
            </a:r>
            <a:r>
              <a:rPr lang="en-US" altLang="zh-CN" dirty="0"/>
              <a:t>“IS” </a:t>
            </a:r>
            <a:r>
              <a:rPr lang="zh-CN" altLang="en-US" dirty="0"/>
              <a:t>不能用 “</a:t>
            </a:r>
            <a:r>
              <a:rPr lang="en-US" altLang="zh-CN" dirty="0"/>
              <a:t>=” </a:t>
            </a:r>
            <a:r>
              <a:rPr lang="zh-CN" altLang="en-US" dirty="0"/>
              <a:t>代替</a:t>
            </a:r>
            <a:endParaRPr lang="zh-CN" altLang="en-US" dirty="0"/>
          </a:p>
          <a:p>
            <a:pPr lvl="1">
              <a:lnSpc>
                <a:spcPct val="100000"/>
              </a:lnSpc>
            </a:pPr>
            <a:r>
              <a:rPr lang="zh-CN" altLang="en-US" dirty="0"/>
              <a:t>在商用的关系数据库系统中，可以用</a:t>
            </a:r>
            <a:r>
              <a:rPr lang="en-US" altLang="zh-CN" dirty="0"/>
              <a:t> ‘ = NULL ’ </a:t>
            </a:r>
            <a:r>
              <a:rPr lang="zh-CN" altLang="en-US" dirty="0"/>
              <a:t>来代替</a:t>
            </a:r>
            <a:r>
              <a:rPr lang="en-US" altLang="zh-CN" dirty="0"/>
              <a:t>IS NULL</a:t>
            </a:r>
            <a:r>
              <a:rPr lang="zh-CN" altLang="en-US" dirty="0"/>
              <a:t>，但不能用</a:t>
            </a:r>
            <a:r>
              <a:rPr lang="en-US" altLang="zh-CN" dirty="0"/>
              <a:t> ‘ != NULL ’ </a:t>
            </a:r>
            <a:r>
              <a:rPr lang="zh-CN" altLang="en-US" dirty="0"/>
              <a:t>来代替</a:t>
            </a:r>
            <a:r>
              <a:rPr lang="en-US" altLang="zh-CN" dirty="0"/>
              <a:t> IS NOT NULL</a:t>
            </a:r>
            <a:endParaRPr lang="en-US" altLang="zh-CN"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4" name="Rectangle 3"/>
          <p:cNvSpPr>
            <a:spLocks noGrp="1" noChangeArrowheads="1"/>
          </p:cNvSpPr>
          <p:nvPr/>
        </p:nvSpPr>
        <p:spPr>
          <a:xfrm>
            <a:off x="424180" y="2630170"/>
            <a:ext cx="11343005" cy="409765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ts val="3000"/>
              </a:spcBef>
            </a:pPr>
            <a:r>
              <a:rPr lang="en-US" altLang="zh-CN" dirty="0"/>
              <a:t>[</a:t>
            </a:r>
            <a:r>
              <a:rPr lang="zh-CN" altLang="en-US" dirty="0"/>
              <a:t>例</a:t>
            </a:r>
            <a:r>
              <a:rPr lang="en-US" altLang="zh-CN" dirty="0"/>
              <a:t>3.36]  </a:t>
            </a:r>
            <a:r>
              <a:rPr lang="zh-CN" altLang="en-US" dirty="0"/>
              <a:t>某些学生选修课程后没有参加考试，所以有选课记录，但没有考试成绩。查询缺少成绩的学生的学号和相应的课程号。</a:t>
            </a:r>
            <a:endParaRPr lang="zh-CN" altLang="en-US" dirty="0"/>
          </a:p>
          <a:p>
            <a:pPr marL="1278255" lvl="3" indent="0">
              <a:lnSpc>
                <a:spcPct val="100000"/>
              </a:lnSpc>
              <a:buNone/>
            </a:pPr>
            <a:r>
              <a:rPr lang="en-US" altLang="zh-CN" dirty="0">
                <a:solidFill>
                  <a:srgbClr val="FF0000"/>
                </a:solidFill>
                <a:latin typeface="Arial" panose="020B0604020202090204" pitchFamily="34" charset="0"/>
                <a:cs typeface="Arial" panose="020B0604020202090204" pitchFamily="34" charset="0"/>
              </a:rPr>
              <a:t>SELECT  </a:t>
            </a:r>
            <a:r>
              <a:rPr lang="en-US" altLang="zh-CN" dirty="0" err="1">
                <a:solidFill>
                  <a:srgbClr val="FF0000"/>
                </a:solidFill>
                <a:latin typeface="Arial" panose="020B0604020202090204" pitchFamily="34" charset="0"/>
                <a:cs typeface="Arial" panose="020B0604020202090204" pitchFamily="34" charset="0"/>
              </a:rPr>
              <a:t>Sno</a:t>
            </a:r>
            <a:r>
              <a:rPr lang="zh-CN" altLang="en-US" dirty="0">
                <a:solidFill>
                  <a:srgbClr val="FF0000"/>
                </a:solidFill>
                <a:latin typeface="Arial" panose="020B0604020202090204" pitchFamily="34" charset="0"/>
                <a:cs typeface="Arial" panose="020B0604020202090204" pitchFamily="34" charset="0"/>
              </a:rPr>
              <a:t>，</a:t>
            </a:r>
            <a:r>
              <a:rPr lang="en-US" altLang="zh-CN" dirty="0" err="1">
                <a:solidFill>
                  <a:srgbClr val="FF0000"/>
                </a:solidFill>
                <a:latin typeface="Arial" panose="020B0604020202090204" pitchFamily="34" charset="0"/>
                <a:cs typeface="Arial" panose="020B0604020202090204" pitchFamily="34" charset="0"/>
              </a:rPr>
              <a:t>Cno</a:t>
            </a:r>
            <a:endParaRPr lang="en-US" altLang="zh-CN" dirty="0">
              <a:solidFill>
                <a:srgbClr val="FF0000"/>
              </a:solidFill>
              <a:latin typeface="Arial" panose="020B0604020202090204" pitchFamily="34" charset="0"/>
              <a:cs typeface="Arial" panose="020B0604020202090204" pitchFamily="34" charset="0"/>
            </a:endParaRPr>
          </a:p>
          <a:p>
            <a:pPr marL="1278255" lvl="3" indent="0">
              <a:lnSpc>
                <a:spcPct val="100000"/>
              </a:lnSpc>
              <a:buNone/>
            </a:pPr>
            <a:r>
              <a:rPr lang="en-US" altLang="zh-CN" dirty="0">
                <a:solidFill>
                  <a:srgbClr val="FF0000"/>
                </a:solidFill>
                <a:latin typeface="Arial" panose="020B0604020202090204" pitchFamily="34" charset="0"/>
                <a:cs typeface="Arial" panose="020B0604020202090204" pitchFamily="34" charset="0"/>
              </a:rPr>
              <a:t>FROM     SC</a:t>
            </a:r>
            <a:endParaRPr lang="en-US" altLang="zh-CN" dirty="0">
              <a:solidFill>
                <a:srgbClr val="FF0000"/>
              </a:solidFill>
              <a:latin typeface="Arial" panose="020B0604020202090204" pitchFamily="34" charset="0"/>
              <a:cs typeface="Arial" panose="020B0604020202090204" pitchFamily="34" charset="0"/>
            </a:endParaRPr>
          </a:p>
          <a:p>
            <a:pPr marL="1278255" lvl="3" indent="0">
              <a:lnSpc>
                <a:spcPct val="100000"/>
              </a:lnSpc>
              <a:buNone/>
            </a:pPr>
            <a:r>
              <a:rPr lang="en-US" altLang="zh-CN" dirty="0">
                <a:solidFill>
                  <a:srgbClr val="FF0000"/>
                </a:solidFill>
                <a:latin typeface="Arial" panose="020B0604020202090204" pitchFamily="34" charset="0"/>
                <a:cs typeface="Arial" panose="020B0604020202090204" pitchFamily="34" charset="0"/>
              </a:rPr>
              <a:t>WHERE  Grade IS NULL</a:t>
            </a:r>
            <a:endParaRPr lang="en-US" altLang="zh-CN" dirty="0">
              <a:solidFill>
                <a:srgbClr val="FF0000"/>
              </a:solidFill>
              <a:latin typeface="Arial" panose="020B0604020202090204" pitchFamily="34" charset="0"/>
              <a:cs typeface="Arial" panose="020B0604020202090204" pitchFamily="34" charset="0"/>
            </a:endParaRPr>
          </a:p>
          <a:p>
            <a:pPr>
              <a:lnSpc>
                <a:spcPct val="100000"/>
              </a:lnSpc>
            </a:pPr>
            <a:r>
              <a:rPr lang="en-US" altLang="zh-CN" dirty="0"/>
              <a:t>[</a:t>
            </a:r>
            <a:r>
              <a:rPr lang="zh-CN" altLang="en-US" dirty="0"/>
              <a:t>例</a:t>
            </a:r>
            <a:r>
              <a:rPr lang="en-US" altLang="zh-CN" dirty="0"/>
              <a:t>3.37]  </a:t>
            </a:r>
            <a:r>
              <a:rPr lang="zh-CN" altLang="en-US" dirty="0"/>
              <a:t>查所有有成绩的学生学号和课程号。</a:t>
            </a:r>
            <a:endParaRPr lang="zh-CN" altLang="en-US" dirty="0"/>
          </a:p>
          <a:p>
            <a:pPr marL="1278255" lvl="3" indent="0">
              <a:lnSpc>
                <a:spcPct val="100000"/>
              </a:lnSpc>
              <a:buNone/>
            </a:pPr>
            <a:r>
              <a:rPr lang="en-US" altLang="zh-CN" dirty="0">
                <a:solidFill>
                  <a:srgbClr val="FF0000"/>
                </a:solidFill>
                <a:latin typeface="Arial" panose="020B0604020202090204" pitchFamily="34" charset="0"/>
                <a:cs typeface="Arial" panose="020B0604020202090204" pitchFamily="34" charset="0"/>
              </a:rPr>
              <a:t>SELECT </a:t>
            </a:r>
            <a:r>
              <a:rPr lang="en-US" altLang="zh-CN" dirty="0" err="1">
                <a:solidFill>
                  <a:srgbClr val="FF0000"/>
                </a:solidFill>
                <a:latin typeface="Arial" panose="020B0604020202090204" pitchFamily="34" charset="0"/>
                <a:cs typeface="Arial" panose="020B0604020202090204" pitchFamily="34" charset="0"/>
              </a:rPr>
              <a:t>Sno</a:t>
            </a:r>
            <a:r>
              <a:rPr lang="zh-CN" altLang="en-US" dirty="0">
                <a:solidFill>
                  <a:srgbClr val="FF0000"/>
                </a:solidFill>
                <a:latin typeface="Arial" panose="020B0604020202090204" pitchFamily="34" charset="0"/>
                <a:cs typeface="Arial" panose="020B0604020202090204" pitchFamily="34" charset="0"/>
              </a:rPr>
              <a:t>，</a:t>
            </a:r>
            <a:r>
              <a:rPr lang="en-US" altLang="zh-CN" dirty="0" err="1">
                <a:solidFill>
                  <a:srgbClr val="FF0000"/>
                </a:solidFill>
                <a:latin typeface="Arial" panose="020B0604020202090204" pitchFamily="34" charset="0"/>
                <a:cs typeface="Arial" panose="020B0604020202090204" pitchFamily="34" charset="0"/>
              </a:rPr>
              <a:t>Cno</a:t>
            </a:r>
            <a:endParaRPr lang="en-US" altLang="zh-CN" dirty="0">
              <a:solidFill>
                <a:srgbClr val="FF0000"/>
              </a:solidFill>
              <a:latin typeface="Arial" panose="020B0604020202090204" pitchFamily="34" charset="0"/>
              <a:cs typeface="Arial" panose="020B0604020202090204" pitchFamily="34" charset="0"/>
            </a:endParaRPr>
          </a:p>
          <a:p>
            <a:pPr marL="1278255" lvl="3" indent="0">
              <a:lnSpc>
                <a:spcPct val="100000"/>
              </a:lnSpc>
              <a:buNone/>
            </a:pPr>
            <a:r>
              <a:rPr lang="en-US" altLang="zh-CN" dirty="0">
                <a:solidFill>
                  <a:srgbClr val="FF0000"/>
                </a:solidFill>
                <a:latin typeface="Arial" panose="020B0604020202090204" pitchFamily="34" charset="0"/>
                <a:cs typeface="Arial" panose="020B0604020202090204" pitchFamily="34" charset="0"/>
              </a:rPr>
              <a:t>FROM     SC</a:t>
            </a:r>
            <a:endParaRPr lang="en-US" altLang="zh-CN" dirty="0">
              <a:solidFill>
                <a:srgbClr val="FF0000"/>
              </a:solidFill>
              <a:latin typeface="Arial" panose="020B0604020202090204" pitchFamily="34" charset="0"/>
              <a:cs typeface="Arial" panose="020B0604020202090204" pitchFamily="34" charset="0"/>
            </a:endParaRPr>
          </a:p>
          <a:p>
            <a:pPr marL="1278255" lvl="3" indent="0">
              <a:lnSpc>
                <a:spcPct val="100000"/>
              </a:lnSpc>
              <a:buNone/>
            </a:pPr>
            <a:r>
              <a:rPr lang="en-US" altLang="zh-CN" dirty="0">
                <a:solidFill>
                  <a:srgbClr val="FF0000"/>
                </a:solidFill>
                <a:latin typeface="Arial" panose="020B0604020202090204" pitchFamily="34" charset="0"/>
                <a:cs typeface="Arial" panose="020B0604020202090204" pitchFamily="34" charset="0"/>
              </a:rPr>
              <a:t>WHERE  Grade IS NOT NULL</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anim calcmode="lin" valueType="num">
                                      <p:cBhvr additive="base">
                                        <p:cTn id="4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zh-CN" altLang="en-US"/>
              <a:t>⑥多重条件查询</a:t>
            </a:r>
            <a:endParaRPr lang="zh-CN" altLang="en-US"/>
          </a:p>
        </p:txBody>
      </p:sp>
      <p:sp>
        <p:nvSpPr>
          <p:cNvPr id="88067" name="Rectangle 3"/>
          <p:cNvSpPr>
            <a:spLocks noGrp="1" noChangeArrowheads="1"/>
          </p:cNvSpPr>
          <p:nvPr>
            <p:ph idx="1"/>
          </p:nvPr>
        </p:nvSpPr>
        <p:spPr>
          <a:xfrm>
            <a:off x="424180" y="687070"/>
            <a:ext cx="11343005" cy="1081405"/>
          </a:xfrm>
          <a:solidFill>
            <a:schemeClr val="accent3">
              <a:lumMod val="20000"/>
              <a:lumOff val="80000"/>
              <a:alpha val="50000"/>
            </a:schemeClr>
          </a:solidFill>
        </p:spPr>
        <p:txBody>
          <a:bodyPr>
            <a:noAutofit/>
          </a:bodyPr>
          <a:lstStyle/>
          <a:p>
            <a:pPr fontAlgn="auto">
              <a:lnSpc>
                <a:spcPct val="100000"/>
              </a:lnSpc>
              <a:spcBef>
                <a:spcPts val="1000"/>
              </a:spcBef>
            </a:pPr>
            <a:r>
              <a:rPr lang="zh-CN" altLang="en-US" sz="2800" dirty="0">
                <a:highlight>
                  <a:srgbClr val="FFFF00"/>
                </a:highlight>
              </a:rPr>
              <a:t>逻辑运算符：</a:t>
            </a:r>
            <a:r>
              <a:rPr lang="en-US" altLang="zh-CN" sz="2800" dirty="0">
                <a:highlight>
                  <a:srgbClr val="FFFF00"/>
                </a:highlight>
              </a:rPr>
              <a:t>AND </a:t>
            </a:r>
            <a:r>
              <a:rPr lang="zh-CN" altLang="en-US" sz="2800" dirty="0">
                <a:highlight>
                  <a:srgbClr val="FFFF00"/>
                </a:highlight>
              </a:rPr>
              <a:t>和 </a:t>
            </a:r>
            <a:r>
              <a:rPr lang="en-US" altLang="zh-CN" sz="2800" dirty="0">
                <a:highlight>
                  <a:srgbClr val="FFFF00"/>
                </a:highlight>
              </a:rPr>
              <a:t>OR </a:t>
            </a:r>
            <a:r>
              <a:rPr lang="zh-CN" altLang="en-US" sz="2800" dirty="0">
                <a:highlight>
                  <a:srgbClr val="FFFF00"/>
                </a:highlight>
              </a:rPr>
              <a:t>来连接多个查询条件</a:t>
            </a:r>
            <a:endParaRPr lang="zh-CN" altLang="en-US" sz="2800" dirty="0"/>
          </a:p>
          <a:p>
            <a:pPr lvl="1" fontAlgn="auto">
              <a:lnSpc>
                <a:spcPct val="100000"/>
              </a:lnSpc>
              <a:spcBef>
                <a:spcPts val="1000"/>
              </a:spcBef>
            </a:pPr>
            <a:r>
              <a:rPr lang="zh-CN" altLang="en-US" sz="2800" dirty="0"/>
              <a:t> </a:t>
            </a:r>
            <a:r>
              <a:rPr lang="en-US" altLang="zh-CN" sz="2800" dirty="0"/>
              <a:t>AND</a:t>
            </a:r>
            <a:r>
              <a:rPr lang="zh-CN" altLang="en-US" sz="2800" dirty="0"/>
              <a:t>的优先级高于</a:t>
            </a:r>
            <a:r>
              <a:rPr lang="en-US" altLang="zh-CN" sz="2800" dirty="0"/>
              <a:t>OR</a:t>
            </a:r>
            <a:r>
              <a:rPr lang="zh-CN" altLang="en-US" sz="2800" dirty="0"/>
              <a:t>，</a:t>
            </a:r>
            <a:r>
              <a:rPr lang="en-US" altLang="zh-CN" sz="2800" dirty="0"/>
              <a:t> </a:t>
            </a:r>
            <a:r>
              <a:rPr lang="zh-CN" altLang="en-US" sz="2800" dirty="0"/>
              <a:t>可以用括号改变计算</a:t>
            </a:r>
            <a:r>
              <a:rPr lang="zh-CN" altLang="en-US" sz="2800" dirty="0"/>
              <a:t>顺序</a:t>
            </a:r>
            <a:endParaRPr lang="zh-CN" altLang="en-US" sz="2800" dirty="0"/>
          </a:p>
        </p:txBody>
      </p:sp>
      <p:sp>
        <p:nvSpPr>
          <p:cNvPr id="6" name="内容占位符 5"/>
          <p:cNvSpPr>
            <a:spLocks noGrp="1"/>
          </p:cNvSpPr>
          <p:nvPr>
            <p:ph idx="4294967295"/>
          </p:nvPr>
        </p:nvSpPr>
        <p:spPr>
          <a:xfrm>
            <a:off x="424180" y="3649345"/>
            <a:ext cx="11343005" cy="3107690"/>
          </a:xfrm>
        </p:spPr>
        <p:txBody>
          <a:bodyPr>
            <a:noAutofit/>
          </a:bodyPr>
          <a:lstStyle/>
          <a:p>
            <a:pPr>
              <a:lnSpc>
                <a:spcPct val="100000"/>
              </a:lnSpc>
              <a:spcBef>
                <a:spcPct val="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a:t>
            </a:r>
            <a:r>
              <a:rPr lang="en-US" altLang="zh-CN" sz="2800" dirty="0">
                <a:latin typeface="Calibri" panose="020F0502020204030204" charset="0"/>
                <a:cs typeface="Calibri" panose="020F0502020204030204" charset="0"/>
              </a:rPr>
              <a:t>3.27]  </a:t>
            </a:r>
            <a:r>
              <a:rPr lang="zh-CN" altLang="en-US" sz="2800" dirty="0">
                <a:latin typeface="Calibri" panose="020F0502020204030204" charset="0"/>
                <a:cs typeface="Calibri" panose="020F0502020204030204" charset="0"/>
              </a:rPr>
              <a:t>查询计算机科学系（</a:t>
            </a:r>
            <a:r>
              <a:rPr lang="en-US" altLang="zh-CN" sz="2800" dirty="0">
                <a:latin typeface="Calibri" panose="020F0502020204030204" charset="0"/>
                <a:cs typeface="Calibri" panose="020F0502020204030204" charset="0"/>
              </a:rPr>
              <a:t>CS</a:t>
            </a:r>
            <a:r>
              <a:rPr lang="zh-CN" altLang="en-US" sz="2800" dirty="0">
                <a:latin typeface="Calibri" panose="020F0502020204030204" charset="0"/>
                <a:cs typeface="Calibri" panose="020F0502020204030204" charset="0"/>
              </a:rPr>
              <a:t>）、数学系（</a:t>
            </a:r>
            <a:r>
              <a:rPr lang="en-US" altLang="zh-CN" sz="2800" dirty="0">
                <a:latin typeface="Calibri" panose="020F0502020204030204" charset="0"/>
                <a:cs typeface="Calibri" panose="020F0502020204030204" charset="0"/>
              </a:rPr>
              <a:t>MA</a:t>
            </a:r>
            <a:r>
              <a:rPr lang="zh-CN" altLang="en-US" sz="2800" dirty="0">
                <a:latin typeface="Calibri" panose="020F0502020204030204" charset="0"/>
                <a:cs typeface="Calibri" panose="020F0502020204030204" charset="0"/>
              </a:rPr>
              <a:t>）和信息系（</a:t>
            </a:r>
            <a:r>
              <a:rPr lang="en-US" altLang="zh-CN" sz="2800" dirty="0">
                <a:latin typeface="Calibri" panose="020F0502020204030204" charset="0"/>
                <a:cs typeface="Calibri" panose="020F0502020204030204" charset="0"/>
              </a:rPr>
              <a:t>IS</a:t>
            </a:r>
            <a:r>
              <a:rPr lang="zh-CN" altLang="en-US" sz="2800" dirty="0">
                <a:latin typeface="Calibri" panose="020F0502020204030204" charset="0"/>
                <a:cs typeface="Calibri" panose="020F0502020204030204" charset="0"/>
              </a:rPr>
              <a:t>）学生的姓名和性别。</a:t>
            </a:r>
            <a:endParaRPr lang="zh-CN" altLang="en-US" sz="2800" dirty="0">
              <a:latin typeface="Calibri" panose="020F0502020204030204" charset="0"/>
              <a:cs typeface="Calibri" panose="020F0502020204030204" charset="0"/>
            </a:endParaRPr>
          </a:p>
          <a:p>
            <a:pPr marL="821055" lvl="2" indent="0">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SELECT </a:t>
            </a:r>
            <a:r>
              <a:rPr lang="en-US" altLang="zh-CN" sz="2800" dirty="0" err="1">
                <a:solidFill>
                  <a:srgbClr val="FF0000"/>
                </a:solidFill>
                <a:latin typeface="Calibri" panose="020F0502020204030204" charset="0"/>
                <a:cs typeface="Calibri" panose="020F0502020204030204" charset="0"/>
              </a:rPr>
              <a:t>Sname</a:t>
            </a:r>
            <a:r>
              <a:rPr lang="zh-CN" altLang="en-US" sz="2800" dirty="0">
                <a:solidFill>
                  <a:srgbClr val="FF0000"/>
                </a:solidFill>
                <a:latin typeface="Calibri" panose="020F0502020204030204" charset="0"/>
                <a:cs typeface="Calibri" panose="020F0502020204030204" charset="0"/>
              </a:rPr>
              <a:t>,</a:t>
            </a:r>
            <a:r>
              <a:rPr lang="en-US" altLang="zh-CN" sz="2800" dirty="0" err="1">
                <a:solidFill>
                  <a:srgbClr val="FF0000"/>
                </a:solidFill>
                <a:latin typeface="Calibri" panose="020F0502020204030204" charset="0"/>
                <a:cs typeface="Calibri" panose="020F0502020204030204" charset="0"/>
              </a:rPr>
              <a:t>Ssex  </a:t>
            </a:r>
            <a:r>
              <a:rPr lang="en-US" altLang="zh-CN" sz="2800" dirty="0">
                <a:solidFill>
                  <a:srgbClr val="FF0000"/>
                </a:solidFill>
                <a:latin typeface="Calibri" panose="020F0502020204030204" charset="0"/>
                <a:cs typeface="Calibri" panose="020F0502020204030204" charset="0"/>
              </a:rPr>
              <a:t>FROM Student  WHERE  </a:t>
            </a:r>
            <a:r>
              <a:rPr lang="en-US" altLang="zh-CN" sz="2800" dirty="0" err="1">
                <a:solidFill>
                  <a:srgbClr val="FF0000"/>
                </a:solidFill>
                <a:latin typeface="Calibri" panose="020F0502020204030204" charset="0"/>
                <a:cs typeface="Calibri" panose="020F0502020204030204" charset="0"/>
              </a:rPr>
              <a:t>Sdept</a:t>
            </a:r>
            <a:r>
              <a:rPr lang="en-US" altLang="zh-CN" sz="2800" dirty="0">
                <a:solidFill>
                  <a:srgbClr val="FF0000"/>
                </a:solidFill>
                <a:latin typeface="Calibri" panose="020F0502020204030204" charset="0"/>
                <a:cs typeface="Calibri" panose="020F0502020204030204" charset="0"/>
              </a:rPr>
              <a:t> IN </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'CS ','MA ','IS'</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a:t>
            </a:r>
            <a:endParaRPr lang="zh-CN" altLang="en-US" sz="2800" dirty="0">
              <a:solidFill>
                <a:srgbClr val="FF0000"/>
              </a:solidFill>
              <a:latin typeface="Calibri" panose="020F0502020204030204" charset="0"/>
              <a:cs typeface="Calibri" panose="020F0502020204030204" charset="0"/>
            </a:endParaRPr>
          </a:p>
          <a:p>
            <a:pPr>
              <a:lnSpc>
                <a:spcPct val="100000"/>
              </a:lnSpc>
              <a:spcBef>
                <a:spcPct val="0"/>
              </a:spcBef>
            </a:pPr>
            <a:r>
              <a:rPr lang="zh-CN" altLang="en-US" sz="2800" dirty="0">
                <a:latin typeface="Calibri" panose="020F0502020204030204" charset="0"/>
                <a:cs typeface="Calibri" panose="020F0502020204030204" charset="0"/>
              </a:rPr>
              <a:t>可改写为：</a:t>
            </a:r>
            <a:endParaRPr lang="zh-CN" altLang="en-US" sz="2800" dirty="0">
              <a:latin typeface="Calibri" panose="020F0502020204030204" charset="0"/>
              <a:cs typeface="Calibri" panose="020F0502020204030204" charset="0"/>
            </a:endParaRPr>
          </a:p>
          <a:p>
            <a:pPr marL="821055" lvl="2" indent="0">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SELECT  </a:t>
            </a:r>
            <a:r>
              <a:rPr lang="en-US" altLang="zh-CN" sz="2800" dirty="0" err="1">
                <a:solidFill>
                  <a:srgbClr val="FF0000"/>
                </a:solidFill>
                <a:latin typeface="Calibri" panose="020F0502020204030204" charset="0"/>
                <a:cs typeface="Calibri" panose="020F0502020204030204" charset="0"/>
              </a:rPr>
              <a:t>Sname</a:t>
            </a:r>
            <a:r>
              <a:rPr lang="zh-CN" altLang="en-US" sz="2800" dirty="0">
                <a:solidFill>
                  <a:srgbClr val="FF0000"/>
                </a:solidFill>
                <a:latin typeface="Calibri" panose="020F0502020204030204" charset="0"/>
                <a:cs typeface="Calibri" panose="020F0502020204030204" charset="0"/>
              </a:rPr>
              <a:t>, </a:t>
            </a:r>
            <a:r>
              <a:rPr lang="en-US" altLang="zh-CN" sz="2800" dirty="0" err="1">
                <a:solidFill>
                  <a:srgbClr val="FF0000"/>
                </a:solidFill>
                <a:latin typeface="Calibri" panose="020F0502020204030204" charset="0"/>
                <a:cs typeface="Calibri" panose="020F0502020204030204" charset="0"/>
              </a:rPr>
              <a:t>Ssex</a:t>
            </a:r>
            <a:endParaRPr lang="en-US" altLang="zh-CN" sz="2800" dirty="0">
              <a:solidFill>
                <a:srgbClr val="FF0000"/>
              </a:solidFill>
              <a:latin typeface="Calibri" panose="020F0502020204030204" charset="0"/>
              <a:cs typeface="Calibri" panose="020F0502020204030204" charset="0"/>
            </a:endParaRPr>
          </a:p>
          <a:p>
            <a:pPr marL="821055" lvl="2" indent="0">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FROM     Student</a:t>
            </a:r>
            <a:endParaRPr lang="en-US" altLang="zh-CN" sz="2800" dirty="0">
              <a:solidFill>
                <a:srgbClr val="FF0000"/>
              </a:solidFill>
              <a:latin typeface="Calibri" panose="020F0502020204030204" charset="0"/>
              <a:cs typeface="Calibri" panose="020F0502020204030204" charset="0"/>
            </a:endParaRPr>
          </a:p>
          <a:p>
            <a:pPr marL="821055" lvl="2" indent="0">
              <a:lnSpc>
                <a:spcPct val="100000"/>
              </a:lnSpc>
              <a:spcBef>
                <a:spcPct val="0"/>
              </a:spcBef>
              <a:buNone/>
            </a:pPr>
            <a:r>
              <a:rPr lang="en-US" altLang="zh-CN" sz="2800" dirty="0">
                <a:solidFill>
                  <a:srgbClr val="FF0000"/>
                </a:solidFill>
                <a:latin typeface="Calibri" panose="020F0502020204030204" charset="0"/>
                <a:cs typeface="Calibri" panose="020F0502020204030204" charset="0"/>
              </a:rPr>
              <a:t>WHERE  </a:t>
            </a:r>
            <a:r>
              <a:rPr lang="en-US" altLang="zh-CN" sz="2800" dirty="0" err="1">
                <a:solidFill>
                  <a:srgbClr val="FF0000"/>
                </a:solidFill>
                <a:latin typeface="Calibri" panose="020F0502020204030204" charset="0"/>
                <a:cs typeface="Calibri" panose="020F0502020204030204" charset="0"/>
              </a:rPr>
              <a:t>Sdept</a:t>
            </a:r>
            <a:r>
              <a:rPr lang="en-US" altLang="zh-CN" sz="2800" dirty="0">
                <a:solidFill>
                  <a:srgbClr val="FF0000"/>
                </a:solidFill>
                <a:latin typeface="Calibri" panose="020F0502020204030204" charset="0"/>
                <a:cs typeface="Calibri" panose="020F0502020204030204" charset="0"/>
              </a:rPr>
              <a:t>= ' CS' OR </a:t>
            </a:r>
            <a:r>
              <a:rPr lang="en-US" altLang="zh-CN" sz="2800" dirty="0" err="1">
                <a:solidFill>
                  <a:srgbClr val="FF0000"/>
                </a:solidFill>
                <a:latin typeface="Calibri" panose="020F0502020204030204" charset="0"/>
                <a:cs typeface="Calibri" panose="020F0502020204030204" charset="0"/>
              </a:rPr>
              <a:t>Sdept</a:t>
            </a:r>
            <a:r>
              <a:rPr lang="en-US" altLang="zh-CN" sz="2800" dirty="0">
                <a:solidFill>
                  <a:srgbClr val="FF0000"/>
                </a:solidFill>
                <a:latin typeface="Calibri" panose="020F0502020204030204" charset="0"/>
                <a:cs typeface="Calibri" panose="020F0502020204030204" charset="0"/>
              </a:rPr>
              <a:t>= ' MA' OR </a:t>
            </a:r>
            <a:r>
              <a:rPr lang="en-US" altLang="zh-CN" sz="2800" dirty="0" err="1">
                <a:solidFill>
                  <a:srgbClr val="FF0000"/>
                </a:solidFill>
                <a:latin typeface="Calibri" panose="020F0502020204030204" charset="0"/>
                <a:cs typeface="Calibri" panose="020F0502020204030204" charset="0"/>
              </a:rPr>
              <a:t>Sdept</a:t>
            </a:r>
            <a:r>
              <a:rPr lang="en-US" altLang="zh-CN" sz="2800" dirty="0">
                <a:solidFill>
                  <a:srgbClr val="FF0000"/>
                </a:solidFill>
                <a:latin typeface="Calibri" panose="020F0502020204030204" charset="0"/>
                <a:cs typeface="Calibri" panose="020F0502020204030204" charset="0"/>
              </a:rPr>
              <a:t>= 'IS '</a:t>
            </a:r>
            <a:r>
              <a:rPr lang="zh-CN" altLang="en-US" sz="2800" dirty="0">
                <a:solidFill>
                  <a:srgbClr val="FF0000"/>
                </a:solidFill>
                <a:latin typeface="Calibri" panose="020F0502020204030204" charset="0"/>
                <a:cs typeface="Calibri" panose="020F0502020204030204" charset="0"/>
              </a:rPr>
              <a:t>;</a:t>
            </a:r>
            <a:endParaRPr lang="zh-CN" altLang="en-US" sz="2800" dirty="0">
              <a:solidFill>
                <a:srgbClr val="FF0000"/>
              </a:solidFill>
              <a:latin typeface="Calibri" panose="020F0502020204030204" charset="0"/>
              <a:cs typeface="Calibri" panose="020F050202020403020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4" name="Rectangle 3"/>
          <p:cNvSpPr>
            <a:spLocks noGrp="1" noChangeArrowheads="1"/>
          </p:cNvSpPr>
          <p:nvPr/>
        </p:nvSpPr>
        <p:spPr>
          <a:xfrm>
            <a:off x="424180" y="1806575"/>
            <a:ext cx="11343005" cy="181483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ct val="0"/>
              </a:spcBef>
            </a:pPr>
            <a:r>
              <a:rPr lang="en-US" altLang="zh-CN" dirty="0">
                <a:cs typeface="Calibri" panose="020F0502020204030204" charset="0"/>
              </a:rPr>
              <a:t>[</a:t>
            </a:r>
            <a:r>
              <a:rPr lang="zh-CN" altLang="en-US" dirty="0">
                <a:cs typeface="Calibri" panose="020F0502020204030204" charset="0"/>
              </a:rPr>
              <a:t>例</a:t>
            </a:r>
            <a:r>
              <a:rPr lang="en-US" altLang="zh-CN" dirty="0">
                <a:cs typeface="Calibri" panose="020F0502020204030204" charset="0"/>
              </a:rPr>
              <a:t>3.38]  </a:t>
            </a:r>
            <a:r>
              <a:rPr lang="zh-CN" altLang="en-US" dirty="0">
                <a:cs typeface="Calibri" panose="020F0502020204030204" charset="0"/>
              </a:rPr>
              <a:t>查询计算机系年龄在</a:t>
            </a:r>
            <a:r>
              <a:rPr lang="en-US" altLang="zh-CN" dirty="0">
                <a:cs typeface="Calibri" panose="020F0502020204030204" charset="0"/>
              </a:rPr>
              <a:t>20</a:t>
            </a:r>
            <a:r>
              <a:rPr lang="zh-CN" altLang="en-US" dirty="0">
                <a:cs typeface="Calibri" panose="020F0502020204030204" charset="0"/>
              </a:rPr>
              <a:t>岁以下的学生姓名。</a:t>
            </a:r>
            <a:endParaRPr lang="zh-CN" altLang="en-US" dirty="0">
              <a:cs typeface="Calibri" panose="020F0502020204030204" charset="0"/>
            </a:endParaRPr>
          </a:p>
          <a:p>
            <a:pPr marL="821055" lvl="2" indent="0">
              <a:lnSpc>
                <a:spcPct val="100000"/>
              </a:lnSpc>
              <a:spcBef>
                <a:spcPct val="0"/>
              </a:spcBef>
              <a:buNone/>
            </a:pPr>
            <a:r>
              <a:rPr lang="en-US" altLang="zh-CN" dirty="0">
                <a:solidFill>
                  <a:srgbClr val="FF0000"/>
                </a:solidFill>
                <a:cs typeface="Calibri" panose="020F0502020204030204" charset="0"/>
              </a:rPr>
              <a:t>SELECT </a:t>
            </a:r>
            <a:r>
              <a:rPr lang="en-US" altLang="zh-CN" dirty="0" err="1">
                <a:solidFill>
                  <a:srgbClr val="FF0000"/>
                </a:solidFill>
                <a:cs typeface="Calibri" panose="020F0502020204030204" charset="0"/>
              </a:rPr>
              <a:t>Sname</a:t>
            </a:r>
            <a:endParaRPr lang="en-US" altLang="zh-CN" dirty="0">
              <a:solidFill>
                <a:srgbClr val="FF0000"/>
              </a:solidFill>
              <a:cs typeface="Calibri" panose="020F0502020204030204" charset="0"/>
            </a:endParaRPr>
          </a:p>
          <a:p>
            <a:pPr marL="821055" lvl="2" indent="0">
              <a:lnSpc>
                <a:spcPct val="100000"/>
              </a:lnSpc>
              <a:spcBef>
                <a:spcPct val="0"/>
              </a:spcBef>
              <a:buNone/>
            </a:pPr>
            <a:r>
              <a:rPr lang="en-US" altLang="zh-CN" dirty="0">
                <a:solidFill>
                  <a:srgbClr val="FF0000"/>
                </a:solidFill>
                <a:cs typeface="Calibri" panose="020F0502020204030204" charset="0"/>
              </a:rPr>
              <a:t>FROM  Student</a:t>
            </a:r>
            <a:endParaRPr lang="en-US" altLang="zh-CN" dirty="0">
              <a:solidFill>
                <a:srgbClr val="FF0000"/>
              </a:solidFill>
              <a:cs typeface="Calibri" panose="020F0502020204030204" charset="0"/>
            </a:endParaRPr>
          </a:p>
          <a:p>
            <a:pPr marL="821055" lvl="2" indent="0">
              <a:lnSpc>
                <a:spcPct val="100000"/>
              </a:lnSpc>
              <a:spcBef>
                <a:spcPct val="0"/>
              </a:spcBef>
              <a:buNone/>
            </a:pPr>
            <a:r>
              <a:rPr lang="en-US" altLang="zh-CN" dirty="0">
                <a:solidFill>
                  <a:srgbClr val="FF0000"/>
                </a:solidFill>
                <a:cs typeface="Calibri" panose="020F0502020204030204" charset="0"/>
              </a:rPr>
              <a:t>WHERE </a:t>
            </a:r>
            <a:r>
              <a:rPr lang="en-US" altLang="zh-CN" dirty="0" err="1">
                <a:solidFill>
                  <a:srgbClr val="FF0000"/>
                </a:solidFill>
                <a:cs typeface="Calibri" panose="020F0502020204030204" charset="0"/>
              </a:rPr>
              <a:t>Sdept</a:t>
            </a:r>
            <a:r>
              <a:rPr lang="en-US" altLang="zh-CN" dirty="0">
                <a:solidFill>
                  <a:srgbClr val="FF0000"/>
                </a:solidFill>
                <a:cs typeface="Calibri" panose="020F0502020204030204" charset="0"/>
              </a:rPr>
              <a:t>= 'CS' AND Sage&lt;20</a:t>
            </a:r>
            <a:r>
              <a:rPr lang="zh-CN" altLang="en-US" dirty="0">
                <a:solidFill>
                  <a:srgbClr val="FF0000"/>
                </a:solidFill>
                <a:cs typeface="Calibri" panose="020F0502020204030204" charset="0"/>
              </a:rPr>
              <a:t>;</a:t>
            </a:r>
            <a:endParaRPr lang="zh-CN" altLang="en-US" dirty="0">
              <a:solidFill>
                <a:srgbClr val="FF0000"/>
              </a:solidFill>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linds(horizontal)">
                                      <p:cBhvr>
                                        <p:cTn id="15" dur="500"/>
                                        <p:tgtEl>
                                          <p:spTgt spid="4">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linds(horizontal)">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 calcmode="lin" valueType="num">
                                      <p:cBhvr additive="base">
                                        <p:cTn id="2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 calcmode="lin" valueType="num">
                                      <p:cBhvr additive="base">
                                        <p:cTn id="2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 calcmode="lin" valueType="num">
                                      <p:cBhvr additive="base">
                                        <p:cTn id="3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anim calcmode="lin" valueType="num">
                                      <p:cBhvr additive="base">
                                        <p:cTn id="4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
                                            <p:txEl>
                                              <p:pRg st="4" end="4"/>
                                            </p:txEl>
                                          </p:spTgt>
                                        </p:tgtEl>
                                        <p:attrNameLst>
                                          <p:attrName>style.visibility</p:attrName>
                                        </p:attrNameLst>
                                      </p:cBhvr>
                                      <p:to>
                                        <p:strVal val="visible"/>
                                      </p:to>
                                    </p:set>
                                    <p:anim calcmode="lin" valueType="num">
                                      <p:cBhvr additive="base">
                                        <p:cTn id="4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6">
                                            <p:txEl>
                                              <p:pRg st="5" end="5"/>
                                            </p:txEl>
                                          </p:spTgt>
                                        </p:tgtEl>
                                        <p:attrNameLst>
                                          <p:attrName>style.visibility</p:attrName>
                                        </p:attrNameLst>
                                      </p:cBhvr>
                                      <p:to>
                                        <p:strVal val="visible"/>
                                      </p:to>
                                    </p:set>
                                    <p:anim calcmode="lin" valueType="num">
                                      <p:cBhvr additive="base">
                                        <p:cTn id="4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对查询结果排序</a:t>
            </a:r>
            <a:endParaRPr lang="zh-CN" altLang="en-US"/>
          </a:p>
        </p:txBody>
      </p:sp>
      <p:sp>
        <p:nvSpPr>
          <p:cNvPr id="3" name="内容占位符 2"/>
          <p:cNvSpPr>
            <a:spLocks noGrp="1"/>
          </p:cNvSpPr>
          <p:nvPr>
            <p:ph idx="1"/>
          </p:nvPr>
        </p:nvSpPr>
        <p:spPr>
          <a:xfrm>
            <a:off x="424180" y="687070"/>
            <a:ext cx="11343005" cy="1814830"/>
          </a:xfrm>
          <a:solidFill>
            <a:schemeClr val="accent3">
              <a:lumMod val="20000"/>
              <a:lumOff val="80000"/>
              <a:alpha val="50000"/>
            </a:schemeClr>
          </a:solidFill>
        </p:spPr>
        <p:txBody>
          <a:bodyPr>
            <a:noAutofit/>
          </a:bodyPr>
          <a:p>
            <a:pPr>
              <a:lnSpc>
                <a:spcPct val="100000"/>
              </a:lnSpc>
              <a:spcBef>
                <a:spcPct val="0"/>
              </a:spcBef>
            </a:pPr>
            <a:r>
              <a:rPr lang="en-US" altLang="zh-CN" sz="2800" dirty="0">
                <a:highlight>
                  <a:srgbClr val="FFFF00"/>
                </a:highlight>
                <a:sym typeface="+mn-ea"/>
              </a:rPr>
              <a:t>ORDER BY</a:t>
            </a:r>
            <a:r>
              <a:rPr lang="zh-CN" altLang="en-US" sz="2800" dirty="0">
                <a:highlight>
                  <a:srgbClr val="FFFF00"/>
                </a:highlight>
                <a:sym typeface="+mn-ea"/>
              </a:rPr>
              <a:t>子句</a:t>
            </a:r>
            <a:endParaRPr lang="zh-CN" altLang="en-US" sz="2800" dirty="0"/>
          </a:p>
          <a:p>
            <a:pPr lvl="1">
              <a:lnSpc>
                <a:spcPct val="100000"/>
              </a:lnSpc>
              <a:spcBef>
                <a:spcPct val="0"/>
              </a:spcBef>
            </a:pPr>
            <a:r>
              <a:rPr lang="zh-CN" altLang="en-US" sz="2800" dirty="0">
                <a:sym typeface="+mn-ea"/>
              </a:rPr>
              <a:t>可以按一个或多个列排序</a:t>
            </a:r>
            <a:endParaRPr lang="zh-CN" altLang="en-US" sz="2800" dirty="0"/>
          </a:p>
          <a:p>
            <a:pPr lvl="1">
              <a:lnSpc>
                <a:spcPct val="100000"/>
              </a:lnSpc>
              <a:spcBef>
                <a:spcPct val="0"/>
              </a:spcBef>
            </a:pPr>
            <a:r>
              <a:rPr lang="zh-CN" altLang="en-US" sz="2800" dirty="0">
                <a:sym typeface="+mn-ea"/>
              </a:rPr>
              <a:t>升序：</a:t>
            </a:r>
            <a:r>
              <a:rPr lang="en-US" altLang="zh-CN" sz="2800" dirty="0">
                <a:sym typeface="+mn-ea"/>
              </a:rPr>
              <a:t>ASC;   </a:t>
            </a:r>
            <a:r>
              <a:rPr lang="zh-CN" altLang="en-US" sz="2800" dirty="0">
                <a:sym typeface="+mn-ea"/>
              </a:rPr>
              <a:t>降序：</a:t>
            </a:r>
            <a:r>
              <a:rPr lang="en-US" altLang="zh-CN" sz="2800" dirty="0">
                <a:sym typeface="+mn-ea"/>
              </a:rPr>
              <a:t>DESC;    </a:t>
            </a:r>
            <a:r>
              <a:rPr lang="zh-CN" altLang="en-US" sz="2800" dirty="0">
                <a:sym typeface="+mn-ea"/>
              </a:rPr>
              <a:t>缺省</a:t>
            </a:r>
            <a:r>
              <a:rPr lang="zh-CN" altLang="en-US" sz="2800" dirty="0">
                <a:sym typeface="+mn-ea"/>
              </a:rPr>
              <a:t>顺序为升序</a:t>
            </a:r>
            <a:endParaRPr lang="zh-CN" altLang="en-US" sz="2800" dirty="0"/>
          </a:p>
          <a:p>
            <a:pPr lvl="1">
              <a:lnSpc>
                <a:spcPct val="100000"/>
              </a:lnSpc>
              <a:spcBef>
                <a:spcPct val="0"/>
              </a:spcBef>
            </a:pPr>
            <a:r>
              <a:rPr lang="zh-CN" altLang="en-US" sz="2800" dirty="0">
                <a:sym typeface="+mn-ea"/>
              </a:rPr>
              <a:t>对于空值，排序时显示的次序由具体系统实现来决定</a:t>
            </a:r>
            <a:endParaRPr lang="zh-CN" altLang="en-US" sz="2800"/>
          </a:p>
        </p:txBody>
      </p:sp>
      <p:sp>
        <p:nvSpPr>
          <p:cNvPr id="91139" name="Rectangle 3"/>
          <p:cNvSpPr>
            <a:spLocks noGrp="1" noChangeArrowheads="1"/>
          </p:cNvSpPr>
          <p:nvPr/>
        </p:nvSpPr>
        <p:spPr>
          <a:xfrm>
            <a:off x="424180" y="2816225"/>
            <a:ext cx="5400000" cy="323596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ts val="0"/>
              </a:spcBef>
            </a:pPr>
            <a:r>
              <a:rPr lang="en-US" altLang="zh-CN" sz="2800" dirty="0"/>
              <a:t>[</a:t>
            </a:r>
            <a:r>
              <a:rPr lang="zh-CN" altLang="en-US" sz="2800" dirty="0"/>
              <a:t>例</a:t>
            </a:r>
            <a:r>
              <a:rPr lang="en-US" altLang="zh-CN" sz="2800" dirty="0"/>
              <a:t>3.39]</a:t>
            </a:r>
            <a:r>
              <a:rPr lang="zh-CN" altLang="en-US" sz="2800" dirty="0"/>
              <a:t>查询选修了</a:t>
            </a:r>
            <a:r>
              <a:rPr lang="en-US" altLang="zh-CN" sz="2800" dirty="0"/>
              <a:t>3</a:t>
            </a:r>
            <a:r>
              <a:rPr lang="zh-CN" altLang="en-US" sz="2800" dirty="0"/>
              <a:t>号课程的学生的学号及其成绩，查询结果按分数降序排列。</a:t>
            </a:r>
            <a:endParaRPr lang="zh-CN" altLang="en-US" sz="2800" dirty="0"/>
          </a:p>
          <a:p>
            <a:pPr marL="457200" lvl="1" indent="0">
              <a:lnSpc>
                <a:spcPct val="100000"/>
              </a:lnSpc>
              <a:spcBef>
                <a:spcPts val="1000"/>
              </a:spcBef>
              <a:buNone/>
            </a:pPr>
            <a:r>
              <a:rPr lang="en-US" altLang="zh-CN" sz="2800" dirty="0">
                <a:solidFill>
                  <a:srgbClr val="FF0000"/>
                </a:solidFill>
                <a:latin typeface="Times New Roman" panose="02020503050405090304" pitchFamily="2" charset="0"/>
                <a:cs typeface="Times New Roman" panose="02020503050405090304" pitchFamily="2" charset="0"/>
              </a:rPr>
              <a:t>SELECT </a:t>
            </a:r>
            <a:r>
              <a:rPr lang="en-US" altLang="zh-CN" sz="2800" dirty="0" err="1">
                <a:solidFill>
                  <a:srgbClr val="FF0000"/>
                </a:solidFill>
                <a:latin typeface="Times New Roman" panose="02020503050405090304" pitchFamily="2" charset="0"/>
                <a:cs typeface="Times New Roman" panose="02020503050405090304" pitchFamily="2" charset="0"/>
              </a:rPr>
              <a:t>Sno</a:t>
            </a:r>
            <a:r>
              <a:rPr lang="zh-CN" altLang="en-US" sz="2800" dirty="0">
                <a:solidFill>
                  <a:srgbClr val="FF0000"/>
                </a:solidFill>
                <a:latin typeface="Times New Roman" panose="02020503050405090304" pitchFamily="2" charset="0"/>
                <a:cs typeface="Times New Roman" panose="02020503050405090304" pitchFamily="2" charset="0"/>
              </a:rPr>
              <a:t>, </a:t>
            </a:r>
            <a:r>
              <a:rPr lang="en-US" altLang="zh-CN" sz="2800" dirty="0">
                <a:solidFill>
                  <a:srgbClr val="FF0000"/>
                </a:solidFill>
                <a:latin typeface="Times New Roman" panose="02020503050405090304" pitchFamily="2" charset="0"/>
                <a:cs typeface="Times New Roman" panose="02020503050405090304" pitchFamily="2" charset="0"/>
              </a:rPr>
              <a:t>Grade</a:t>
            </a:r>
            <a:endParaRPr lang="en-US" altLang="zh-CN" sz="2800" dirty="0">
              <a:solidFill>
                <a:srgbClr val="FF0000"/>
              </a:solidFill>
              <a:latin typeface="Times New Roman" panose="02020503050405090304" pitchFamily="2" charset="0"/>
              <a:cs typeface="Times New Roman" panose="02020503050405090304" pitchFamily="2" charset="0"/>
            </a:endParaRPr>
          </a:p>
          <a:p>
            <a:pPr marL="457200" lvl="1" indent="0">
              <a:lnSpc>
                <a:spcPct val="100000"/>
              </a:lnSpc>
              <a:spcBef>
                <a:spcPts val="0"/>
              </a:spcBef>
              <a:buNone/>
            </a:pPr>
            <a:r>
              <a:rPr lang="en-US" altLang="zh-CN" sz="2800" dirty="0">
                <a:solidFill>
                  <a:srgbClr val="FF0000"/>
                </a:solidFill>
                <a:latin typeface="Times New Roman" panose="02020503050405090304" pitchFamily="2" charset="0"/>
                <a:cs typeface="Times New Roman" panose="02020503050405090304" pitchFamily="2" charset="0"/>
              </a:rPr>
              <a:t>FROM    SC</a:t>
            </a:r>
            <a:endParaRPr lang="en-US" altLang="zh-CN" sz="2800" dirty="0">
              <a:solidFill>
                <a:srgbClr val="FF0000"/>
              </a:solidFill>
              <a:latin typeface="Times New Roman" panose="02020503050405090304" pitchFamily="2" charset="0"/>
              <a:cs typeface="Times New Roman" panose="02020503050405090304" pitchFamily="2" charset="0"/>
            </a:endParaRPr>
          </a:p>
          <a:p>
            <a:pPr marL="457200" lvl="1" indent="0">
              <a:lnSpc>
                <a:spcPct val="100000"/>
              </a:lnSpc>
              <a:spcBef>
                <a:spcPts val="0"/>
              </a:spcBef>
              <a:buNone/>
            </a:pPr>
            <a:r>
              <a:rPr lang="en-US" altLang="zh-CN" sz="2800" dirty="0">
                <a:solidFill>
                  <a:srgbClr val="FF0000"/>
                </a:solidFill>
                <a:latin typeface="Times New Roman" panose="02020503050405090304" pitchFamily="2" charset="0"/>
                <a:cs typeface="Times New Roman" panose="02020503050405090304" pitchFamily="2" charset="0"/>
              </a:rPr>
              <a:t>WHERE  </a:t>
            </a:r>
            <a:r>
              <a:rPr lang="en-US" altLang="zh-CN" sz="2800" dirty="0" err="1">
                <a:solidFill>
                  <a:srgbClr val="FF0000"/>
                </a:solidFill>
                <a:latin typeface="Times New Roman" panose="02020503050405090304" pitchFamily="2" charset="0"/>
                <a:cs typeface="Times New Roman" panose="02020503050405090304" pitchFamily="2" charset="0"/>
              </a:rPr>
              <a:t>Cno</a:t>
            </a:r>
            <a:r>
              <a:rPr lang="en-US" altLang="zh-CN" sz="2800" dirty="0">
                <a:solidFill>
                  <a:srgbClr val="FF0000"/>
                </a:solidFill>
                <a:latin typeface="Times New Roman" panose="02020503050405090304" pitchFamily="2" charset="0"/>
                <a:cs typeface="Times New Roman" panose="02020503050405090304" pitchFamily="2" charset="0"/>
              </a:rPr>
              <a:t>= '3'</a:t>
            </a:r>
            <a:endParaRPr lang="en-US" altLang="zh-CN" sz="2800" dirty="0">
              <a:solidFill>
                <a:srgbClr val="FF0000"/>
              </a:solidFill>
              <a:latin typeface="Times New Roman" panose="02020503050405090304" pitchFamily="2" charset="0"/>
              <a:cs typeface="Times New Roman" panose="02020503050405090304" pitchFamily="2" charset="0"/>
            </a:endParaRPr>
          </a:p>
          <a:p>
            <a:pPr marL="457200" lvl="1" indent="0">
              <a:lnSpc>
                <a:spcPct val="100000"/>
              </a:lnSpc>
              <a:spcBef>
                <a:spcPts val="0"/>
              </a:spcBef>
              <a:buNone/>
            </a:pPr>
            <a:r>
              <a:rPr lang="en-US" altLang="zh-CN" sz="2800" dirty="0">
                <a:solidFill>
                  <a:srgbClr val="FF0000"/>
                </a:solidFill>
                <a:latin typeface="Times New Roman" panose="02020503050405090304" pitchFamily="2" charset="0"/>
                <a:cs typeface="Times New Roman" panose="02020503050405090304" pitchFamily="2" charset="0"/>
              </a:rPr>
              <a:t>ORDER BY Grade DESC</a:t>
            </a:r>
            <a:r>
              <a:rPr lang="zh-CN" altLang="en-US" sz="2800" dirty="0">
                <a:solidFill>
                  <a:srgbClr val="FF0000"/>
                </a:solidFill>
                <a:latin typeface="Times New Roman" panose="02020503050405090304" pitchFamily="2" charset="0"/>
                <a:cs typeface="Times New Roman" panose="02020503050405090304" pitchFamily="2" charset="0"/>
              </a:rPr>
              <a:t>;</a:t>
            </a:r>
            <a:endParaRPr lang="zh-CN" altLang="en-US" sz="2800" dirty="0">
              <a:solidFill>
                <a:srgbClr val="FF0000"/>
              </a:solidFill>
              <a:latin typeface="Times New Roman" panose="02020503050405090304" pitchFamily="2" charset="0"/>
              <a:cs typeface="Times New Roman" panose="02020503050405090304" pitchFamily="2" charset="0"/>
            </a:endParaRPr>
          </a:p>
        </p:txBody>
      </p:sp>
      <p:sp>
        <p:nvSpPr>
          <p:cNvPr id="5" name="内容占位符 1"/>
          <p:cNvSpPr>
            <a:spLocks noGrp="1"/>
          </p:cNvSpPr>
          <p:nvPr/>
        </p:nvSpPr>
        <p:spPr>
          <a:xfrm>
            <a:off x="6367145" y="2816225"/>
            <a:ext cx="5400000" cy="323596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ts val="0"/>
              </a:spcBef>
            </a:pPr>
            <a:r>
              <a:rPr lang="en-US" altLang="zh-CN" sz="2800" dirty="0"/>
              <a:t>[</a:t>
            </a:r>
            <a:r>
              <a:rPr lang="zh-CN" altLang="en-US" sz="2800" dirty="0"/>
              <a:t>例</a:t>
            </a:r>
            <a:r>
              <a:rPr lang="en-US" altLang="zh-CN" sz="2800" dirty="0"/>
              <a:t>3.40]</a:t>
            </a:r>
            <a:r>
              <a:rPr lang="zh-CN" altLang="en-US" sz="2800" dirty="0"/>
              <a:t>查询全体学生情况，查询结果按所在系的系号升序排列，同一系中的学生按年龄降序排列。</a:t>
            </a:r>
            <a:endParaRPr lang="zh-CN" altLang="en-US" sz="2800" dirty="0"/>
          </a:p>
          <a:p>
            <a:pPr marL="457200" lvl="1" indent="0">
              <a:lnSpc>
                <a:spcPct val="100000"/>
              </a:lnSpc>
              <a:spcBef>
                <a:spcPts val="1000"/>
              </a:spcBef>
              <a:buNone/>
            </a:pPr>
            <a:r>
              <a:rPr lang="en-US" altLang="zh-CN" sz="2800" dirty="0">
                <a:solidFill>
                  <a:srgbClr val="FF0000"/>
                </a:solidFill>
                <a:latin typeface="Times New Roman" panose="02020503050405090304" pitchFamily="2" charset="0"/>
                <a:cs typeface="Times New Roman" panose="02020503050405090304" pitchFamily="2" charset="0"/>
              </a:rPr>
              <a:t>SELECT  *</a:t>
            </a:r>
            <a:endParaRPr lang="en-US" altLang="zh-CN" sz="2800" dirty="0">
              <a:solidFill>
                <a:srgbClr val="FF0000"/>
              </a:solidFill>
              <a:latin typeface="Times New Roman" panose="02020503050405090304" pitchFamily="2" charset="0"/>
              <a:cs typeface="Times New Roman" panose="02020503050405090304" pitchFamily="2" charset="0"/>
            </a:endParaRPr>
          </a:p>
          <a:p>
            <a:pPr marL="457200" lvl="1" indent="0">
              <a:lnSpc>
                <a:spcPct val="100000"/>
              </a:lnSpc>
              <a:spcBef>
                <a:spcPts val="0"/>
              </a:spcBef>
              <a:buNone/>
            </a:pPr>
            <a:r>
              <a:rPr lang="en-US" altLang="zh-CN" sz="2800" dirty="0">
                <a:solidFill>
                  <a:srgbClr val="FF0000"/>
                </a:solidFill>
                <a:latin typeface="Times New Roman" panose="02020503050405090304" pitchFamily="2" charset="0"/>
                <a:cs typeface="Times New Roman" panose="02020503050405090304" pitchFamily="2" charset="0"/>
              </a:rPr>
              <a:t>FROM  Student</a:t>
            </a:r>
            <a:endParaRPr lang="en-US" altLang="zh-CN" sz="2800" dirty="0">
              <a:solidFill>
                <a:srgbClr val="FF0000"/>
              </a:solidFill>
              <a:latin typeface="Times New Roman" panose="02020503050405090304" pitchFamily="2" charset="0"/>
              <a:cs typeface="Times New Roman" panose="02020503050405090304" pitchFamily="2" charset="0"/>
            </a:endParaRPr>
          </a:p>
          <a:p>
            <a:pPr marL="457200" lvl="1" indent="0">
              <a:lnSpc>
                <a:spcPct val="100000"/>
              </a:lnSpc>
              <a:spcBef>
                <a:spcPts val="0"/>
              </a:spcBef>
              <a:buNone/>
            </a:pPr>
            <a:r>
              <a:rPr lang="en-US" altLang="zh-CN" sz="2800" dirty="0">
                <a:solidFill>
                  <a:srgbClr val="FF0000"/>
                </a:solidFill>
                <a:latin typeface="Times New Roman" panose="02020503050405090304" pitchFamily="2" charset="0"/>
                <a:cs typeface="Times New Roman" panose="02020503050405090304" pitchFamily="2" charset="0"/>
              </a:rPr>
              <a:t>ORDER BY </a:t>
            </a:r>
            <a:r>
              <a:rPr lang="en-US" altLang="zh-CN" sz="2800" dirty="0" err="1">
                <a:solidFill>
                  <a:srgbClr val="FF0000"/>
                </a:solidFill>
                <a:latin typeface="Times New Roman" panose="02020503050405090304" pitchFamily="2" charset="0"/>
                <a:cs typeface="Times New Roman" panose="02020503050405090304" pitchFamily="2" charset="0"/>
              </a:rPr>
              <a:t>Sdept</a:t>
            </a:r>
            <a:r>
              <a:rPr lang="zh-CN" altLang="en-US" sz="2800" dirty="0">
                <a:solidFill>
                  <a:srgbClr val="FF0000"/>
                </a:solidFill>
                <a:latin typeface="Times New Roman" panose="02020503050405090304" pitchFamily="2" charset="0"/>
                <a:cs typeface="Times New Roman" panose="02020503050405090304" pitchFamily="2" charset="0"/>
              </a:rPr>
              <a:t>, </a:t>
            </a:r>
            <a:r>
              <a:rPr lang="en-US" altLang="zh-CN" sz="2800" dirty="0">
                <a:solidFill>
                  <a:srgbClr val="FF0000"/>
                </a:solidFill>
                <a:latin typeface="Times New Roman" panose="02020503050405090304" pitchFamily="2" charset="0"/>
                <a:cs typeface="Times New Roman" panose="02020503050405090304" pitchFamily="2" charset="0"/>
              </a:rPr>
              <a:t>Sage DESC</a:t>
            </a:r>
            <a:r>
              <a:rPr lang="zh-CN" altLang="en-US" sz="2800" dirty="0">
                <a:solidFill>
                  <a:srgbClr val="FF0000"/>
                </a:solidFill>
                <a:latin typeface="Times New Roman" panose="02020503050405090304" pitchFamily="2" charset="0"/>
                <a:cs typeface="Times New Roman" panose="02020503050405090304" pitchFamily="2" charset="0"/>
              </a:rPr>
              <a:t>;</a:t>
            </a:r>
            <a:endParaRPr lang="zh-CN" altLang="en-US" sz="2800" dirty="0">
              <a:latin typeface="Times New Roman" panose="02020503050405090304" pitchFamily="2" charset="0"/>
              <a:cs typeface="Times New Roman" panose="02020503050405090304" pitchFamily="2"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39"/>
                                        </p:tgtEl>
                                        <p:attrNameLst>
                                          <p:attrName>style.visibility</p:attrName>
                                        </p:attrNameLst>
                                      </p:cBhvr>
                                      <p:to>
                                        <p:strVal val="visible"/>
                                      </p:to>
                                    </p:set>
                                    <p:animEffect transition="in" filter="blinds(horizontal)">
                                      <p:cBhvr>
                                        <p:cTn id="7" dur="500"/>
                                        <p:tgtEl>
                                          <p:spTgt spid="911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聚集函数 </a:t>
            </a:r>
            <a:r>
              <a:rPr lang="en-US" altLang="zh-CN" dirty="0">
                <a:sym typeface="+mn-ea"/>
              </a:rPr>
              <a:t>1</a:t>
            </a:r>
            <a:endParaRPr lang="zh-CN" altLang="en-US"/>
          </a:p>
        </p:txBody>
      </p:sp>
      <p:graphicFrame>
        <p:nvGraphicFramePr>
          <p:cNvPr id="5" name="表格 4"/>
          <p:cNvGraphicFramePr/>
          <p:nvPr>
            <p:custDataLst>
              <p:tags r:id="rId1"/>
            </p:custDataLst>
          </p:nvPr>
        </p:nvGraphicFramePr>
        <p:xfrm>
          <a:off x="617855" y="666115"/>
          <a:ext cx="10842625" cy="4975225"/>
        </p:xfrm>
        <a:graphic>
          <a:graphicData uri="http://schemas.openxmlformats.org/drawingml/2006/table">
            <a:tbl>
              <a:tblPr firstRow="1" bandRow="1">
                <a:tableStyleId>{5C22544A-7EE6-4342-B048-85BDC9FD1C3A}</a:tableStyleId>
              </a:tblPr>
              <a:tblGrid>
                <a:gridCol w="5099050"/>
                <a:gridCol w="5743575"/>
              </a:tblGrid>
              <a:tr h="594995">
                <a:tc>
                  <a:txBody>
                    <a:bodyPr/>
                    <a:p>
                      <a:pPr algn="ctr">
                        <a:buNone/>
                      </a:pPr>
                      <a:r>
                        <a:rPr lang="zh-CN" altLang="en-US" sz="2800" b="1">
                          <a:solidFill>
                            <a:srgbClr val="C00000"/>
                          </a:solidFill>
                          <a:latin typeface="楷体" charset="-122"/>
                          <a:ea typeface="楷体" charset="-122"/>
                        </a:rPr>
                        <a:t>聚集函数</a:t>
                      </a:r>
                      <a:endParaRPr lang="zh-CN" altLang="en-US" sz="2800" b="1">
                        <a:solidFill>
                          <a:srgbClr val="C00000"/>
                        </a:solidFill>
                        <a:latin typeface="楷体" charset="-122"/>
                        <a:ea typeface="楷体"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c>
                  <a:txBody>
                    <a:bodyPr/>
                    <a:p>
                      <a:pPr algn="ctr">
                        <a:buNone/>
                      </a:pPr>
                      <a:r>
                        <a:rPr lang="zh-CN" altLang="en-US" sz="2800" b="1">
                          <a:solidFill>
                            <a:srgbClr val="C00000"/>
                          </a:solidFill>
                          <a:latin typeface="楷体" charset="-122"/>
                          <a:ea typeface="楷体" charset="-122"/>
                        </a:rPr>
                        <a:t>功能描述</a:t>
                      </a:r>
                      <a:endParaRPr lang="zh-CN" altLang="en-US" sz="2800" b="1">
                        <a:solidFill>
                          <a:srgbClr val="C00000"/>
                        </a:solidFill>
                        <a:latin typeface="楷体" charset="-122"/>
                        <a:ea typeface="楷体"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r>
              <a:tr h="595630">
                <a:tc>
                  <a:txBody>
                    <a:bodyPr/>
                    <a:p>
                      <a:pPr>
                        <a:buNone/>
                      </a:pPr>
                      <a:r>
                        <a:rPr lang="en-US" altLang="zh-CN" sz="2800" b="1" dirty="0">
                          <a:solidFill>
                            <a:srgbClr val="0000C8"/>
                          </a:solidFill>
                          <a:sym typeface="+mn-ea"/>
                        </a:rPr>
                        <a:t>COUNT</a:t>
                      </a:r>
                      <a:r>
                        <a:rPr lang="zh-CN" altLang="en-US" sz="2800" b="1" dirty="0">
                          <a:solidFill>
                            <a:srgbClr val="0000C8"/>
                          </a:solidFill>
                          <a:sym typeface="+mn-ea"/>
                        </a:rPr>
                        <a:t>(</a:t>
                      </a:r>
                      <a:r>
                        <a:rPr lang="en-US" altLang="zh-CN" sz="2800" b="1" dirty="0">
                          <a:solidFill>
                            <a:srgbClr val="0000C8"/>
                          </a:solidFill>
                          <a:sym typeface="+mn-ea"/>
                        </a:rPr>
                        <a:t>*</a:t>
                      </a:r>
                      <a:r>
                        <a:rPr lang="zh-CN" altLang="en-US" sz="2800" b="1" dirty="0">
                          <a:solidFill>
                            <a:srgbClr val="0000C8"/>
                          </a:solidFill>
                          <a:sym typeface="+mn-ea"/>
                        </a:rPr>
                        <a:t>)</a:t>
                      </a:r>
                      <a:endParaRPr lang="zh-CN" altLang="en-US" sz="2800" b="1" dirty="0">
                        <a:solidFill>
                          <a:srgbClr val="0000C8"/>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p>
                      <a:pPr>
                        <a:buNone/>
                      </a:pPr>
                      <a:r>
                        <a:rPr lang="zh-CN" altLang="en-US" sz="2800" b="1" dirty="0">
                          <a:solidFill>
                            <a:srgbClr val="0000C8"/>
                          </a:solidFill>
                          <a:latin typeface="楷体" charset="-122"/>
                          <a:ea typeface="楷体" charset="-122"/>
                          <a:sym typeface="+mn-ea"/>
                        </a:rPr>
                        <a:t>统计元组个数</a:t>
                      </a:r>
                      <a:endParaRPr lang="zh-CN" altLang="en-US" sz="2800" b="1" dirty="0">
                        <a:solidFill>
                          <a:srgbClr val="0000C8"/>
                        </a:solidFill>
                        <a:latin typeface="楷体" charset="-122"/>
                        <a:ea typeface="楷体"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r>
              <a:tr h="594360">
                <a:tc>
                  <a:txBody>
                    <a:bodyPr/>
                    <a:p>
                      <a:pPr>
                        <a:buNone/>
                      </a:pPr>
                      <a:r>
                        <a:rPr lang="en-US" altLang="zh-CN" sz="2800" b="1" dirty="0">
                          <a:solidFill>
                            <a:srgbClr val="0000C8"/>
                          </a:solidFill>
                          <a:sym typeface="+mn-ea"/>
                        </a:rPr>
                        <a:t>COUNT</a:t>
                      </a:r>
                      <a:r>
                        <a:rPr lang="zh-CN" altLang="en-US" sz="2800" b="1" dirty="0">
                          <a:solidFill>
                            <a:srgbClr val="0000C8"/>
                          </a:solidFill>
                          <a:sym typeface="+mn-ea"/>
                        </a:rPr>
                        <a:t>(</a:t>
                      </a:r>
                      <a:r>
                        <a:rPr lang="en-US" altLang="zh-CN" sz="2800" b="1" dirty="0">
                          <a:solidFill>
                            <a:srgbClr val="0000C8"/>
                          </a:solidFill>
                          <a:sym typeface="+mn-ea"/>
                        </a:rPr>
                        <a:t>[DISTINCT|</a:t>
                      </a:r>
                      <a:r>
                        <a:rPr lang="en-US" altLang="zh-CN" sz="2800" b="1" u="sng" dirty="0">
                          <a:solidFill>
                            <a:srgbClr val="0000C8"/>
                          </a:solidFill>
                          <a:sym typeface="+mn-ea"/>
                        </a:rPr>
                        <a:t>ALL</a:t>
                      </a:r>
                      <a:r>
                        <a:rPr lang="en-US" altLang="zh-CN" sz="2800" b="1" dirty="0">
                          <a:solidFill>
                            <a:srgbClr val="0000C8"/>
                          </a:solidFill>
                          <a:sym typeface="+mn-ea"/>
                        </a:rPr>
                        <a:t>] &lt;</a:t>
                      </a:r>
                      <a:r>
                        <a:rPr lang="zh-CN" altLang="en-US" sz="2800" b="1" dirty="0">
                          <a:solidFill>
                            <a:srgbClr val="0000C8"/>
                          </a:solidFill>
                          <a:sym typeface="+mn-ea"/>
                        </a:rPr>
                        <a:t>列名</a:t>
                      </a:r>
                      <a:r>
                        <a:rPr lang="en-US" altLang="zh-CN" sz="2800" b="1" dirty="0">
                          <a:solidFill>
                            <a:srgbClr val="0000C8"/>
                          </a:solidFill>
                          <a:sym typeface="+mn-ea"/>
                        </a:rPr>
                        <a:t>&gt;</a:t>
                      </a:r>
                      <a:r>
                        <a:rPr lang="zh-CN" altLang="en-US" sz="2800" b="1" dirty="0">
                          <a:solidFill>
                            <a:srgbClr val="0000C8"/>
                          </a:solidFill>
                          <a:sym typeface="+mn-ea"/>
                        </a:rPr>
                        <a:t>)</a:t>
                      </a:r>
                      <a:endParaRPr lang="zh-CN" altLang="en-US" sz="2800" b="1" dirty="0">
                        <a:solidFill>
                          <a:srgbClr val="0000C8"/>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20000"/>
                        <a:alpha val="50000"/>
                      </a:schemeClr>
                    </a:solidFill>
                  </a:tcPr>
                </a:tc>
                <a:tc>
                  <a:txBody>
                    <a:bodyPr/>
                    <a:p>
                      <a:pPr>
                        <a:buNone/>
                      </a:pPr>
                      <a:r>
                        <a:rPr lang="zh-CN" altLang="en-US" sz="2800" b="1" dirty="0">
                          <a:solidFill>
                            <a:srgbClr val="0000C8"/>
                          </a:solidFill>
                          <a:latin typeface="楷体" charset="-122"/>
                          <a:ea typeface="楷体" charset="-122"/>
                          <a:sym typeface="+mn-ea"/>
                        </a:rPr>
                        <a:t>统计一列中值的个数</a:t>
                      </a:r>
                      <a:endParaRPr lang="zh-CN" altLang="en-US" sz="2800" b="1" dirty="0">
                        <a:solidFill>
                          <a:srgbClr val="0000C8"/>
                        </a:solidFill>
                        <a:latin typeface="楷体" charset="-122"/>
                        <a:ea typeface="楷体"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20000"/>
                        <a:alpha val="50000"/>
                      </a:schemeClr>
                    </a:solidFill>
                  </a:tcPr>
                </a:tc>
              </a:tr>
              <a:tr h="1000125">
                <a:tc>
                  <a:txBody>
                    <a:bodyPr/>
                    <a:p>
                      <a:pPr>
                        <a:buNone/>
                      </a:pPr>
                      <a:r>
                        <a:rPr lang="en-US" altLang="zh-CN" sz="2800" b="1" dirty="0">
                          <a:solidFill>
                            <a:srgbClr val="0000C8"/>
                          </a:solidFill>
                          <a:sym typeface="+mn-ea"/>
                        </a:rPr>
                        <a:t>SUM</a:t>
                      </a:r>
                      <a:r>
                        <a:rPr lang="zh-CN" altLang="en-US" sz="2800" b="1" dirty="0">
                          <a:solidFill>
                            <a:srgbClr val="0000C8"/>
                          </a:solidFill>
                          <a:sym typeface="+mn-ea"/>
                        </a:rPr>
                        <a:t>(</a:t>
                      </a:r>
                      <a:r>
                        <a:rPr lang="en-US" altLang="zh-CN" sz="2800" b="1" dirty="0">
                          <a:solidFill>
                            <a:srgbClr val="0000C8"/>
                          </a:solidFill>
                          <a:sym typeface="+mn-ea"/>
                        </a:rPr>
                        <a:t>[DISTINCT|</a:t>
                      </a:r>
                      <a:r>
                        <a:rPr lang="en-US" altLang="zh-CN" sz="2800" b="1" u="sng" dirty="0">
                          <a:solidFill>
                            <a:srgbClr val="0000C8"/>
                          </a:solidFill>
                          <a:sym typeface="+mn-ea"/>
                        </a:rPr>
                        <a:t>ALL</a:t>
                      </a:r>
                      <a:r>
                        <a:rPr lang="en-US" altLang="zh-CN" sz="2800" b="1" dirty="0">
                          <a:solidFill>
                            <a:srgbClr val="0000C8"/>
                          </a:solidFill>
                          <a:sym typeface="+mn-ea"/>
                        </a:rPr>
                        <a:t>] &lt;</a:t>
                      </a:r>
                      <a:r>
                        <a:rPr lang="zh-CN" altLang="en-US" sz="2800" b="1" dirty="0">
                          <a:solidFill>
                            <a:srgbClr val="0000C8"/>
                          </a:solidFill>
                          <a:sym typeface="+mn-ea"/>
                        </a:rPr>
                        <a:t>列名</a:t>
                      </a:r>
                      <a:r>
                        <a:rPr lang="en-US" altLang="zh-CN" sz="2800" b="1" dirty="0">
                          <a:solidFill>
                            <a:srgbClr val="0000C8"/>
                          </a:solidFill>
                          <a:sym typeface="+mn-ea"/>
                        </a:rPr>
                        <a:t>&gt;</a:t>
                      </a:r>
                      <a:r>
                        <a:rPr lang="zh-CN" altLang="en-US" sz="2800" b="1" dirty="0">
                          <a:solidFill>
                            <a:srgbClr val="0000C8"/>
                          </a:solidFill>
                          <a:sym typeface="+mn-ea"/>
                        </a:rPr>
                        <a:t>)</a:t>
                      </a:r>
                      <a:endParaRPr lang="zh-CN" altLang="en-US" sz="2800" b="1" dirty="0">
                        <a:solidFill>
                          <a:srgbClr val="0000C8"/>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p>
                      <a:pPr>
                        <a:buNone/>
                      </a:pPr>
                      <a:r>
                        <a:rPr lang="zh-CN" altLang="en-US" sz="2800" b="1" dirty="0">
                          <a:solidFill>
                            <a:srgbClr val="0000C8"/>
                          </a:solidFill>
                          <a:latin typeface="楷体" charset="-122"/>
                          <a:ea typeface="楷体" charset="-122"/>
                          <a:sym typeface="+mn-ea"/>
                        </a:rPr>
                        <a:t>计算一列值的总和（此列必须为数值型）</a:t>
                      </a:r>
                      <a:endParaRPr lang="zh-CN" altLang="en-US" sz="2800" b="1" dirty="0">
                        <a:solidFill>
                          <a:srgbClr val="0000C8"/>
                        </a:solidFill>
                        <a:latin typeface="楷体" charset="-122"/>
                        <a:ea typeface="楷体"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r>
              <a:tr h="999490">
                <a:tc>
                  <a:txBody>
                    <a:bodyPr/>
                    <a:p>
                      <a:pPr>
                        <a:buNone/>
                      </a:pPr>
                      <a:r>
                        <a:rPr lang="en-US" altLang="zh-CN" sz="2800" b="1" dirty="0">
                          <a:solidFill>
                            <a:srgbClr val="0000C8"/>
                          </a:solidFill>
                          <a:sym typeface="+mn-ea"/>
                        </a:rPr>
                        <a:t>AVG</a:t>
                      </a:r>
                      <a:r>
                        <a:rPr lang="zh-CN" altLang="en-US" sz="2800" b="1" dirty="0">
                          <a:solidFill>
                            <a:srgbClr val="0000C8"/>
                          </a:solidFill>
                          <a:sym typeface="+mn-ea"/>
                        </a:rPr>
                        <a:t>(</a:t>
                      </a:r>
                      <a:r>
                        <a:rPr lang="en-US" altLang="zh-CN" sz="2800" b="1" dirty="0">
                          <a:solidFill>
                            <a:srgbClr val="0000C8"/>
                          </a:solidFill>
                          <a:sym typeface="+mn-ea"/>
                        </a:rPr>
                        <a:t>[DISTINCT|</a:t>
                      </a:r>
                      <a:r>
                        <a:rPr lang="en-US" altLang="zh-CN" sz="2800" b="1" u="sng" dirty="0">
                          <a:solidFill>
                            <a:srgbClr val="0000C8"/>
                          </a:solidFill>
                          <a:sym typeface="+mn-ea"/>
                        </a:rPr>
                        <a:t>ALL</a:t>
                      </a:r>
                      <a:r>
                        <a:rPr lang="en-US" altLang="zh-CN" sz="2800" b="1" dirty="0">
                          <a:solidFill>
                            <a:srgbClr val="0000C8"/>
                          </a:solidFill>
                          <a:sym typeface="+mn-ea"/>
                        </a:rPr>
                        <a:t>] &lt;</a:t>
                      </a:r>
                      <a:r>
                        <a:rPr lang="zh-CN" altLang="en-US" sz="2800" b="1" dirty="0">
                          <a:solidFill>
                            <a:srgbClr val="0000C8"/>
                          </a:solidFill>
                          <a:sym typeface="+mn-ea"/>
                        </a:rPr>
                        <a:t>列名</a:t>
                      </a:r>
                      <a:r>
                        <a:rPr lang="en-US" altLang="zh-CN" sz="2800" b="1" dirty="0">
                          <a:solidFill>
                            <a:srgbClr val="0000C8"/>
                          </a:solidFill>
                          <a:sym typeface="+mn-ea"/>
                        </a:rPr>
                        <a:t>&gt;</a:t>
                      </a:r>
                      <a:r>
                        <a:rPr lang="zh-CN" altLang="en-US" sz="2800" b="1" dirty="0">
                          <a:solidFill>
                            <a:srgbClr val="0000C8"/>
                          </a:solidFill>
                          <a:sym typeface="+mn-ea"/>
                        </a:rPr>
                        <a:t>)</a:t>
                      </a:r>
                      <a:endParaRPr lang="zh-CN" altLang="en-US" sz="2800" b="1" dirty="0">
                        <a:solidFill>
                          <a:srgbClr val="0000C8"/>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20000"/>
                        <a:alpha val="50000"/>
                      </a:schemeClr>
                    </a:solidFill>
                  </a:tcPr>
                </a:tc>
                <a:tc>
                  <a:txBody>
                    <a:bodyPr/>
                    <a:p>
                      <a:pPr>
                        <a:buNone/>
                      </a:pPr>
                      <a:r>
                        <a:rPr lang="zh-CN" altLang="en-US" sz="2800" b="1" dirty="0">
                          <a:solidFill>
                            <a:srgbClr val="0000C8"/>
                          </a:solidFill>
                          <a:latin typeface="楷体" charset="-122"/>
                          <a:ea typeface="楷体" charset="-122"/>
                          <a:sym typeface="+mn-ea"/>
                        </a:rPr>
                        <a:t>计算一列值的平均值（此列必须为数值型）</a:t>
                      </a:r>
                      <a:endParaRPr lang="zh-CN" altLang="en-US" sz="2800" b="1" dirty="0">
                        <a:solidFill>
                          <a:srgbClr val="0000C8"/>
                        </a:solidFill>
                        <a:latin typeface="楷体" charset="-122"/>
                        <a:ea typeface="楷体"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20000"/>
                        <a:alpha val="50000"/>
                      </a:schemeClr>
                    </a:solidFill>
                  </a:tcPr>
                </a:tc>
              </a:tr>
              <a:tr h="595630">
                <a:tc>
                  <a:txBody>
                    <a:bodyPr/>
                    <a:p>
                      <a:pPr>
                        <a:buNone/>
                      </a:pPr>
                      <a:r>
                        <a:rPr lang="en-US" altLang="zh-CN" sz="2800" b="1" dirty="0">
                          <a:solidFill>
                            <a:srgbClr val="0000C8"/>
                          </a:solidFill>
                          <a:sym typeface="+mn-ea"/>
                        </a:rPr>
                        <a:t>MAX</a:t>
                      </a:r>
                      <a:r>
                        <a:rPr lang="zh-CN" altLang="en-US" sz="2800" b="1" dirty="0">
                          <a:solidFill>
                            <a:srgbClr val="0000C8"/>
                          </a:solidFill>
                          <a:sym typeface="+mn-ea"/>
                        </a:rPr>
                        <a:t>(</a:t>
                      </a:r>
                      <a:r>
                        <a:rPr lang="en-US" altLang="zh-CN" sz="2800" b="1" dirty="0">
                          <a:solidFill>
                            <a:srgbClr val="0000C8"/>
                          </a:solidFill>
                          <a:sym typeface="+mn-ea"/>
                        </a:rPr>
                        <a:t>[DISTINCT|</a:t>
                      </a:r>
                      <a:r>
                        <a:rPr lang="en-US" altLang="zh-CN" sz="2800" b="1" u="sng" dirty="0">
                          <a:solidFill>
                            <a:srgbClr val="0000C8"/>
                          </a:solidFill>
                          <a:sym typeface="+mn-ea"/>
                        </a:rPr>
                        <a:t>ALL</a:t>
                      </a:r>
                      <a:r>
                        <a:rPr lang="en-US" altLang="zh-CN" sz="2800" b="1" dirty="0">
                          <a:solidFill>
                            <a:srgbClr val="0000C8"/>
                          </a:solidFill>
                          <a:sym typeface="+mn-ea"/>
                        </a:rPr>
                        <a:t>] &lt;</a:t>
                      </a:r>
                      <a:r>
                        <a:rPr lang="zh-CN" altLang="en-US" sz="2800" b="1" dirty="0">
                          <a:solidFill>
                            <a:srgbClr val="0000C8"/>
                          </a:solidFill>
                          <a:sym typeface="+mn-ea"/>
                        </a:rPr>
                        <a:t>列名</a:t>
                      </a:r>
                      <a:r>
                        <a:rPr lang="en-US" altLang="zh-CN" sz="2800" b="1" dirty="0">
                          <a:solidFill>
                            <a:srgbClr val="0000C8"/>
                          </a:solidFill>
                          <a:sym typeface="+mn-ea"/>
                        </a:rPr>
                        <a:t>&gt;</a:t>
                      </a:r>
                      <a:r>
                        <a:rPr lang="zh-CN" altLang="en-US" sz="2800" b="1" dirty="0">
                          <a:solidFill>
                            <a:srgbClr val="0000C8"/>
                          </a:solidFill>
                          <a:sym typeface="+mn-ea"/>
                        </a:rPr>
                        <a:t>)</a:t>
                      </a:r>
                      <a:endParaRPr lang="zh-CN" altLang="en-US" sz="2800" b="1" dirty="0">
                        <a:solidFill>
                          <a:srgbClr val="0000C8"/>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p>
                      <a:pPr>
                        <a:buNone/>
                      </a:pPr>
                      <a:r>
                        <a:rPr lang="zh-CN" altLang="en-US" sz="2800" b="1" dirty="0">
                          <a:solidFill>
                            <a:srgbClr val="0000C8"/>
                          </a:solidFill>
                          <a:latin typeface="楷体" charset="-122"/>
                          <a:ea typeface="楷体" charset="-122"/>
                          <a:sym typeface="+mn-ea"/>
                        </a:rPr>
                        <a:t>求一列值中的最大值</a:t>
                      </a:r>
                      <a:endParaRPr lang="zh-CN" altLang="en-US" sz="2800" b="1" dirty="0">
                        <a:solidFill>
                          <a:srgbClr val="0000C8"/>
                        </a:solidFill>
                        <a:latin typeface="楷体" charset="-122"/>
                        <a:ea typeface="楷体"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r>
              <a:tr h="594995">
                <a:tc>
                  <a:txBody>
                    <a:bodyPr/>
                    <a:p>
                      <a:pPr>
                        <a:buNone/>
                      </a:pPr>
                      <a:r>
                        <a:rPr lang="en-US" altLang="zh-CN" sz="2800" b="1" dirty="0">
                          <a:solidFill>
                            <a:srgbClr val="0000C8"/>
                          </a:solidFill>
                          <a:sym typeface="+mn-ea"/>
                        </a:rPr>
                        <a:t>MIN</a:t>
                      </a:r>
                      <a:r>
                        <a:rPr lang="zh-CN" altLang="en-US" sz="2800" b="1" dirty="0">
                          <a:solidFill>
                            <a:srgbClr val="0000C8"/>
                          </a:solidFill>
                          <a:sym typeface="+mn-ea"/>
                        </a:rPr>
                        <a:t>(</a:t>
                      </a:r>
                      <a:r>
                        <a:rPr lang="en-US" altLang="zh-CN" sz="2800" b="1" dirty="0">
                          <a:solidFill>
                            <a:srgbClr val="0000C8"/>
                          </a:solidFill>
                          <a:sym typeface="+mn-ea"/>
                        </a:rPr>
                        <a:t>[DISTINCT|</a:t>
                      </a:r>
                      <a:r>
                        <a:rPr lang="en-US" altLang="zh-CN" sz="2800" b="1" u="sng" dirty="0">
                          <a:solidFill>
                            <a:srgbClr val="0000C8"/>
                          </a:solidFill>
                          <a:sym typeface="+mn-ea"/>
                        </a:rPr>
                        <a:t>ALL</a:t>
                      </a:r>
                      <a:r>
                        <a:rPr lang="en-US" altLang="zh-CN" sz="2800" b="1" dirty="0">
                          <a:solidFill>
                            <a:srgbClr val="0000C8"/>
                          </a:solidFill>
                          <a:sym typeface="+mn-ea"/>
                        </a:rPr>
                        <a:t>] &lt;</a:t>
                      </a:r>
                      <a:r>
                        <a:rPr lang="zh-CN" altLang="en-US" sz="2800" b="1" dirty="0">
                          <a:solidFill>
                            <a:srgbClr val="0000C8"/>
                          </a:solidFill>
                          <a:sym typeface="+mn-ea"/>
                        </a:rPr>
                        <a:t>列名</a:t>
                      </a:r>
                      <a:r>
                        <a:rPr lang="en-US" altLang="zh-CN" sz="2800" b="1" dirty="0">
                          <a:solidFill>
                            <a:srgbClr val="0000C8"/>
                          </a:solidFill>
                          <a:sym typeface="+mn-ea"/>
                        </a:rPr>
                        <a:t>&gt;</a:t>
                      </a:r>
                      <a:r>
                        <a:rPr lang="zh-CN" altLang="en-US" sz="2800" b="1" dirty="0">
                          <a:solidFill>
                            <a:srgbClr val="0000C8"/>
                          </a:solidFill>
                          <a:sym typeface="+mn-ea"/>
                        </a:rPr>
                        <a:t>)</a:t>
                      </a:r>
                      <a:endParaRPr lang="zh-CN" altLang="en-US" sz="2800" b="1" dirty="0">
                        <a:solidFill>
                          <a:srgbClr val="0000C8"/>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20000"/>
                        <a:alpha val="50000"/>
                      </a:schemeClr>
                    </a:solidFill>
                  </a:tcPr>
                </a:tc>
                <a:tc>
                  <a:txBody>
                    <a:bodyPr/>
                    <a:p>
                      <a:pPr>
                        <a:buNone/>
                      </a:pPr>
                      <a:r>
                        <a:rPr lang="zh-CN" altLang="en-US" sz="2800" b="1" dirty="0">
                          <a:solidFill>
                            <a:srgbClr val="0000C8"/>
                          </a:solidFill>
                          <a:latin typeface="楷体" charset="-122"/>
                          <a:ea typeface="楷体" charset="-122"/>
                          <a:sym typeface="+mn-ea"/>
                        </a:rPr>
                        <a:t>求一列值中的最小值</a:t>
                      </a:r>
                      <a:endParaRPr lang="zh-CN" altLang="en-US" sz="2800" b="1" dirty="0">
                        <a:solidFill>
                          <a:srgbClr val="0000C8"/>
                        </a:solidFill>
                        <a:latin typeface="楷体" charset="-122"/>
                        <a:ea typeface="楷体"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20000"/>
                        <a:alpha val="50000"/>
                      </a:schemeClr>
                    </a:solidFill>
                  </a:tcPr>
                </a:tc>
              </a:tr>
            </a:tbl>
          </a:graphicData>
        </a:graphic>
      </p:graphicFrame>
      <p:sp>
        <p:nvSpPr>
          <p:cNvPr id="3" name="文本框 2"/>
          <p:cNvSpPr txBox="1"/>
          <p:nvPr/>
        </p:nvSpPr>
        <p:spPr>
          <a:xfrm>
            <a:off x="601980" y="5776595"/>
            <a:ext cx="10858500" cy="829945"/>
          </a:xfrm>
          <a:prstGeom prst="rect">
            <a:avLst/>
          </a:prstGeom>
          <a:solidFill>
            <a:schemeClr val="bg1">
              <a:lumMod val="95000"/>
            </a:schemeClr>
          </a:solidFill>
        </p:spPr>
        <p:txBody>
          <a:bodyPr wrap="square" rtlCol="0">
            <a:spAutoFit/>
          </a:bodyPr>
          <a:p>
            <a:pPr marL="342900" indent="-342900">
              <a:buClr>
                <a:srgbClr val="C00000"/>
              </a:buClr>
              <a:buSzPct val="85000"/>
              <a:buFont typeface="Wingdings" panose="05000000000000000000" charset="0"/>
              <a:buChar char="q"/>
            </a:pPr>
            <a:r>
              <a:rPr lang="zh-CN" altLang="en-US" sz="2400" b="1">
                <a:solidFill>
                  <a:srgbClr val="C00000"/>
                </a:solidFill>
                <a:latin typeface="Arial" panose="020B0604020202090204" pitchFamily="34" charset="0"/>
                <a:ea typeface="楷体" charset="-122"/>
                <a:cs typeface="Arial" panose="020B0604020202090204" pitchFamily="34" charset="0"/>
              </a:rPr>
              <a:t>说明：保留字</a:t>
            </a:r>
            <a:r>
              <a:rPr lang="en-US" altLang="zh-CN" sz="2400" b="1">
                <a:solidFill>
                  <a:srgbClr val="C00000"/>
                </a:solidFill>
                <a:latin typeface="Arial" panose="020B0604020202090204" pitchFamily="34" charset="0"/>
                <a:ea typeface="楷体" charset="-122"/>
                <a:cs typeface="Arial" panose="020B0604020202090204" pitchFamily="34" charset="0"/>
              </a:rPr>
              <a:t>DISTINCT</a:t>
            </a:r>
            <a:r>
              <a:rPr lang="zh-CN" altLang="en-US" sz="2400" b="1">
                <a:solidFill>
                  <a:srgbClr val="C00000"/>
                </a:solidFill>
                <a:latin typeface="Arial" panose="020B0604020202090204" pitchFamily="34" charset="0"/>
                <a:ea typeface="楷体" charset="-122"/>
                <a:cs typeface="Arial" panose="020B0604020202090204" pitchFamily="34" charset="0"/>
              </a:rPr>
              <a:t>可以用在</a:t>
            </a:r>
            <a:r>
              <a:rPr lang="en-US" altLang="zh-CN" sz="2400" b="1">
                <a:solidFill>
                  <a:srgbClr val="C00000"/>
                </a:solidFill>
                <a:latin typeface="Arial" panose="020B0604020202090204" pitchFamily="34" charset="0"/>
                <a:ea typeface="楷体" charset="-122"/>
                <a:cs typeface="Arial" panose="020B0604020202090204" pitchFamily="34" charset="0"/>
              </a:rPr>
              <a:t>SELECT</a:t>
            </a:r>
            <a:r>
              <a:rPr lang="zh-CN" altLang="en-US" sz="2400" b="1">
                <a:solidFill>
                  <a:srgbClr val="C00000"/>
                </a:solidFill>
                <a:latin typeface="Arial" panose="020B0604020202090204" pitchFamily="34" charset="0"/>
                <a:ea typeface="楷体" charset="-122"/>
                <a:cs typeface="Arial" panose="020B0604020202090204" pitchFamily="34" charset="0"/>
              </a:rPr>
              <a:t>子句和统计函数中，用于消除集合中的重复元素。</a:t>
            </a:r>
            <a:endParaRPr lang="zh-CN" altLang="en-US" sz="2400" b="1">
              <a:solidFill>
                <a:srgbClr val="C00000"/>
              </a:solidFill>
              <a:latin typeface="Arial" panose="020B0604020202090204" pitchFamily="34" charset="0"/>
              <a:ea typeface="楷体" charset="-122"/>
              <a:cs typeface="Arial" panose="020B0604020202090204" pitchFamily="3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8" name="页脚占位符 7"/>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Rectangle 2"/>
          <p:cNvSpPr>
            <a:spLocks noGrp="1"/>
          </p:cNvSpPr>
          <p:nvPr>
            <p:ph type="title"/>
          </p:nvPr>
        </p:nvSpPr>
        <p:spPr/>
        <p:txBody>
          <a:bodyPr wrap="square" anchor="ctr"/>
          <a:p>
            <a:pPr eaLnBrk="1" hangingPunct="1"/>
            <a:r>
              <a:rPr lang="zh-CN" altLang="en-US" dirty="0">
                <a:sym typeface="+mn-ea"/>
              </a:rPr>
              <a:t>聚集函数 </a:t>
            </a:r>
            <a:r>
              <a:rPr lang="en-US" altLang="zh-CN" dirty="0">
                <a:sym typeface="+mn-ea"/>
              </a:rPr>
              <a:t>2</a:t>
            </a:r>
            <a:endParaRPr lang="en-US" altLang="zh-CN" dirty="0">
              <a:sym typeface="+mn-ea"/>
            </a:endParaRPr>
          </a:p>
        </p:txBody>
      </p:sp>
      <p:sp>
        <p:nvSpPr>
          <p:cNvPr id="96260" name="Rectangle 3"/>
          <p:cNvSpPr>
            <a:spLocks noGrp="1"/>
          </p:cNvSpPr>
          <p:nvPr>
            <p:ph idx="1"/>
          </p:nvPr>
        </p:nvSpPr>
        <p:spPr/>
        <p:txBody>
          <a:bodyPr wrap="square" anchor="t"/>
          <a:p>
            <a:pPr eaLnBrk="1" hangingPunct="1">
              <a:lnSpc>
                <a:spcPct val="100000"/>
              </a:lnSpc>
              <a:spcBef>
                <a:spcPts val="800"/>
              </a:spcBef>
            </a:pPr>
            <a:r>
              <a:rPr lang="zh-CN" altLang="zh-CN" dirty="0">
                <a:solidFill>
                  <a:srgbClr val="C00000"/>
                </a:solidFill>
              </a:rPr>
              <a:t>聚集函数的处理对象是一个元组集合</a:t>
            </a:r>
            <a:endParaRPr lang="zh-CN" altLang="zh-CN" dirty="0"/>
          </a:p>
          <a:p>
            <a:pPr lvl="1" eaLnBrk="1" hangingPunct="1">
              <a:lnSpc>
                <a:spcPct val="100000"/>
              </a:lnSpc>
              <a:spcBef>
                <a:spcPts val="800"/>
              </a:spcBef>
            </a:pPr>
            <a:endParaRPr lang="zh-CN" altLang="zh-CN" sz="1200" dirty="0"/>
          </a:p>
          <a:p>
            <a:pPr eaLnBrk="1" hangingPunct="1">
              <a:lnSpc>
                <a:spcPct val="100000"/>
              </a:lnSpc>
              <a:spcBef>
                <a:spcPts val="800"/>
              </a:spcBef>
            </a:pPr>
            <a:r>
              <a:rPr lang="en-US" altLang="zh-CN" dirty="0">
                <a:highlight>
                  <a:srgbClr val="FFFF00"/>
                </a:highlight>
              </a:rPr>
              <a:t>count </a:t>
            </a:r>
            <a:r>
              <a:rPr lang="zh-CN" altLang="en-US" dirty="0">
                <a:highlight>
                  <a:srgbClr val="FFFF00"/>
                </a:highlight>
              </a:rPr>
              <a:t>统计</a:t>
            </a:r>
            <a:endParaRPr lang="zh-CN" altLang="en-US" dirty="0"/>
          </a:p>
          <a:p>
            <a:pPr lvl="1" eaLnBrk="1" hangingPunct="1">
              <a:lnSpc>
                <a:spcPct val="100000"/>
              </a:lnSpc>
              <a:spcBef>
                <a:spcPts val="800"/>
              </a:spcBef>
            </a:pPr>
            <a:r>
              <a:rPr lang="en-US" altLang="zh-CN" dirty="0"/>
              <a:t>count(*)</a:t>
            </a:r>
            <a:r>
              <a:rPr lang="zh-CN" altLang="en-US" dirty="0"/>
              <a:t>：返回</a:t>
            </a:r>
            <a:r>
              <a:rPr lang="zh-CN" altLang="zh-CN" dirty="0"/>
              <a:t>集合中的元组个数</a:t>
            </a:r>
            <a:endParaRPr lang="zh-CN" altLang="zh-CN" dirty="0"/>
          </a:p>
          <a:p>
            <a:pPr lvl="1" eaLnBrk="1" hangingPunct="1">
              <a:lnSpc>
                <a:spcPct val="100000"/>
              </a:lnSpc>
              <a:spcBef>
                <a:spcPts val="800"/>
              </a:spcBef>
            </a:pPr>
            <a:r>
              <a:rPr lang="en-US" altLang="zh-CN" dirty="0"/>
              <a:t>count(colname)</a:t>
            </a:r>
            <a:r>
              <a:rPr lang="zh-CN" altLang="en-US" dirty="0"/>
              <a:t>：返回在</a:t>
            </a:r>
            <a:r>
              <a:rPr lang="en-US" altLang="zh-CN" dirty="0"/>
              <a:t>colname</a:t>
            </a:r>
            <a:r>
              <a:rPr lang="zh-CN" altLang="en-US" dirty="0"/>
              <a:t>属性上取值非空的元组个数</a:t>
            </a:r>
            <a:endParaRPr lang="zh-CN" altLang="en-US" dirty="0"/>
          </a:p>
          <a:p>
            <a:pPr lvl="1" eaLnBrk="1" hangingPunct="1">
              <a:lnSpc>
                <a:spcPct val="100000"/>
              </a:lnSpc>
              <a:spcBef>
                <a:spcPts val="800"/>
              </a:spcBef>
            </a:pPr>
            <a:r>
              <a:rPr lang="en-US" altLang="zh-CN" dirty="0"/>
              <a:t>count(distinct  colname)</a:t>
            </a:r>
            <a:r>
              <a:rPr lang="zh-CN" altLang="en-US" dirty="0"/>
              <a:t>：返回</a:t>
            </a:r>
            <a:r>
              <a:rPr lang="en-US" altLang="zh-CN" dirty="0"/>
              <a:t>colname</a:t>
            </a:r>
            <a:r>
              <a:rPr lang="zh-CN" altLang="en-US" dirty="0"/>
              <a:t>取值非空且互不相同的元组个数</a:t>
            </a:r>
            <a:endParaRPr lang="zh-CN" altLang="en-US" dirty="0"/>
          </a:p>
          <a:p>
            <a:pPr lvl="1" eaLnBrk="1" hangingPunct="1">
              <a:lnSpc>
                <a:spcPct val="100000"/>
              </a:lnSpc>
              <a:spcBef>
                <a:spcPts val="800"/>
              </a:spcBef>
            </a:pPr>
            <a:endParaRPr lang="zh-CN" altLang="en-US" sz="1200" dirty="0"/>
          </a:p>
          <a:p>
            <a:pPr lvl="0" eaLnBrk="1" hangingPunct="1">
              <a:lnSpc>
                <a:spcPct val="100000"/>
              </a:lnSpc>
              <a:spcBef>
                <a:spcPts val="800"/>
              </a:spcBef>
            </a:pPr>
            <a:r>
              <a:rPr lang="en-US" altLang="zh-CN" dirty="0">
                <a:highlight>
                  <a:srgbClr val="FFFF00"/>
                </a:highlight>
              </a:rPr>
              <a:t>SUM, AVG, MAX, MIN </a:t>
            </a:r>
            <a:r>
              <a:rPr lang="zh-CN" altLang="en-US" dirty="0">
                <a:highlight>
                  <a:srgbClr val="FFFF00"/>
                </a:highlight>
              </a:rPr>
              <a:t>统计</a:t>
            </a:r>
            <a:endParaRPr lang="zh-CN" altLang="en-US" dirty="0"/>
          </a:p>
          <a:p>
            <a:pPr lvl="1" eaLnBrk="1" hangingPunct="1">
              <a:lnSpc>
                <a:spcPct val="100000"/>
              </a:lnSpc>
              <a:spcBef>
                <a:spcPts val="800"/>
              </a:spcBef>
            </a:pPr>
            <a:r>
              <a:rPr lang="zh-CN" altLang="en-US" dirty="0"/>
              <a:t>分别用于统计一组元组在某个属性上的取值的总和、平均值、最大值、最小值</a:t>
            </a:r>
            <a:endParaRPr lang="en-US" altLang="x-none"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260">
                                            <p:txEl>
                                              <p:pRg st="0" end="0"/>
                                            </p:txEl>
                                          </p:spTgt>
                                        </p:tgtEl>
                                        <p:attrNameLst>
                                          <p:attrName>style.visibility</p:attrName>
                                        </p:attrNameLst>
                                      </p:cBhvr>
                                      <p:to>
                                        <p:strVal val="visible"/>
                                      </p:to>
                                    </p:set>
                                    <p:animEffect transition="in" filter="blinds(horizontal)">
                                      <p:cBhvr>
                                        <p:cTn id="7" dur="500"/>
                                        <p:tgtEl>
                                          <p:spTgt spid="962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6260">
                                            <p:txEl>
                                              <p:pRg st="2" end="2"/>
                                            </p:txEl>
                                          </p:spTgt>
                                        </p:tgtEl>
                                        <p:attrNameLst>
                                          <p:attrName>style.visibility</p:attrName>
                                        </p:attrNameLst>
                                      </p:cBhvr>
                                      <p:to>
                                        <p:strVal val="visible"/>
                                      </p:to>
                                    </p:set>
                                    <p:animEffect transition="in" filter="blinds(horizontal)">
                                      <p:cBhvr>
                                        <p:cTn id="12" dur="500"/>
                                        <p:tgtEl>
                                          <p:spTgt spid="96260">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6260">
                                            <p:txEl>
                                              <p:pRg st="3" end="3"/>
                                            </p:txEl>
                                          </p:spTgt>
                                        </p:tgtEl>
                                        <p:attrNameLst>
                                          <p:attrName>style.visibility</p:attrName>
                                        </p:attrNameLst>
                                      </p:cBhvr>
                                      <p:to>
                                        <p:strVal val="visible"/>
                                      </p:to>
                                    </p:set>
                                    <p:animEffect transition="in" filter="blinds(horizontal)">
                                      <p:cBhvr>
                                        <p:cTn id="15" dur="500"/>
                                        <p:tgtEl>
                                          <p:spTgt spid="96260">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6260">
                                            <p:txEl>
                                              <p:pRg st="4" end="4"/>
                                            </p:txEl>
                                          </p:spTgt>
                                        </p:tgtEl>
                                        <p:attrNameLst>
                                          <p:attrName>style.visibility</p:attrName>
                                        </p:attrNameLst>
                                      </p:cBhvr>
                                      <p:to>
                                        <p:strVal val="visible"/>
                                      </p:to>
                                    </p:set>
                                    <p:animEffect transition="in" filter="blinds(horizontal)">
                                      <p:cBhvr>
                                        <p:cTn id="18" dur="500"/>
                                        <p:tgtEl>
                                          <p:spTgt spid="96260">
                                            <p:txEl>
                                              <p:pRg st="4" end="4"/>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6260">
                                            <p:txEl>
                                              <p:pRg st="5" end="5"/>
                                            </p:txEl>
                                          </p:spTgt>
                                        </p:tgtEl>
                                        <p:attrNameLst>
                                          <p:attrName>style.visibility</p:attrName>
                                        </p:attrNameLst>
                                      </p:cBhvr>
                                      <p:to>
                                        <p:strVal val="visible"/>
                                      </p:to>
                                    </p:set>
                                    <p:animEffect transition="in" filter="blinds(horizontal)">
                                      <p:cBhvr>
                                        <p:cTn id="21" dur="500"/>
                                        <p:tgtEl>
                                          <p:spTgt spid="96260">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96260">
                                            <p:txEl>
                                              <p:pRg st="7" end="7"/>
                                            </p:txEl>
                                          </p:spTgt>
                                        </p:tgtEl>
                                        <p:attrNameLst>
                                          <p:attrName>style.visibility</p:attrName>
                                        </p:attrNameLst>
                                      </p:cBhvr>
                                      <p:to>
                                        <p:strVal val="visible"/>
                                      </p:to>
                                    </p:set>
                                    <p:animEffect transition="in" filter="blinds(horizontal)">
                                      <p:cBhvr>
                                        <p:cTn id="26" dur="500"/>
                                        <p:tgtEl>
                                          <p:spTgt spid="96260">
                                            <p:txEl>
                                              <p:pRg st="7" end="7"/>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96260">
                                            <p:txEl>
                                              <p:pRg st="8" end="8"/>
                                            </p:txEl>
                                          </p:spTgt>
                                        </p:tgtEl>
                                        <p:attrNameLst>
                                          <p:attrName>style.visibility</p:attrName>
                                        </p:attrNameLst>
                                      </p:cBhvr>
                                      <p:to>
                                        <p:strVal val="visible"/>
                                      </p:to>
                                    </p:set>
                                    <p:animEffect transition="in" filter="blinds(horizontal)">
                                      <p:cBhvr>
                                        <p:cTn id="29" dur="500"/>
                                        <p:tgtEl>
                                          <p:spTgt spid="9626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Rectangle 2"/>
          <p:cNvSpPr>
            <a:spLocks noGrp="1"/>
          </p:cNvSpPr>
          <p:nvPr>
            <p:ph type="title"/>
          </p:nvPr>
        </p:nvSpPr>
        <p:spPr/>
        <p:txBody>
          <a:bodyPr wrap="square" anchor="ctr"/>
          <a:p>
            <a:pPr eaLnBrk="1" hangingPunct="1"/>
            <a:r>
              <a:rPr lang="zh-CN" altLang="en-US" dirty="0">
                <a:sym typeface="+mn-ea"/>
              </a:rPr>
              <a:t>聚集函数 </a:t>
            </a:r>
            <a:r>
              <a:rPr lang="en-US" altLang="zh-CN" dirty="0">
                <a:sym typeface="+mn-ea"/>
              </a:rPr>
              <a:t>3</a:t>
            </a:r>
            <a:endParaRPr lang="en-US" altLang="zh-CN" dirty="0">
              <a:sym typeface="+mn-ea"/>
            </a:endParaRPr>
          </a:p>
        </p:txBody>
      </p:sp>
      <p:sp>
        <p:nvSpPr>
          <p:cNvPr id="96260" name="Rectangle 3"/>
          <p:cNvSpPr>
            <a:spLocks noGrp="1"/>
          </p:cNvSpPr>
          <p:nvPr>
            <p:ph idx="1"/>
          </p:nvPr>
        </p:nvSpPr>
        <p:spPr/>
        <p:txBody>
          <a:bodyPr wrap="square" anchor="t"/>
          <a:p>
            <a:pPr eaLnBrk="1" hangingPunct="1"/>
            <a:r>
              <a:rPr lang="zh-CN" altLang="en-US" dirty="0">
                <a:highlight>
                  <a:srgbClr val="FFFF00"/>
                </a:highlight>
                <a:latin typeface="Arial" panose="020B0604020202090204" pitchFamily="34" charset="0"/>
                <a:cs typeface="Arial" panose="020B0604020202090204" pitchFamily="34" charset="0"/>
              </a:rPr>
              <a:t>空值（</a:t>
            </a:r>
            <a:r>
              <a:rPr lang="en-US" altLang="x-none" dirty="0">
                <a:highlight>
                  <a:srgbClr val="FFFF00"/>
                </a:highlight>
                <a:latin typeface="Arial" panose="020B0604020202090204" pitchFamily="34" charset="0"/>
                <a:cs typeface="Arial" panose="020B0604020202090204" pitchFamily="34" charset="0"/>
              </a:rPr>
              <a:t>NULL</a:t>
            </a:r>
            <a:r>
              <a:rPr lang="zh-CN" altLang="en-US" dirty="0">
                <a:highlight>
                  <a:srgbClr val="FFFF00"/>
                </a:highlight>
                <a:latin typeface="Arial" panose="020B0604020202090204" pitchFamily="34" charset="0"/>
                <a:cs typeface="Arial" panose="020B0604020202090204" pitchFamily="34" charset="0"/>
              </a:rPr>
              <a:t>）在聚集函数中的处理</a:t>
            </a:r>
            <a:endParaRPr lang="zh-CN" altLang="en-US" sz="1200" dirty="0">
              <a:latin typeface="Arial" panose="020B0604020202090204" pitchFamily="34" charset="0"/>
              <a:cs typeface="Arial" panose="020B0604020202090204" pitchFamily="34" charset="0"/>
            </a:endParaRPr>
          </a:p>
          <a:p>
            <a:pPr lvl="1" eaLnBrk="1" hangingPunct="1"/>
            <a:r>
              <a:rPr lang="zh-CN" altLang="en-US" dirty="0">
                <a:latin typeface="Arial" panose="020B0604020202090204" pitchFamily="34" charset="0"/>
                <a:cs typeface="Arial" panose="020B0604020202090204" pitchFamily="34" charset="0"/>
              </a:rPr>
              <a:t>在使用聚集函数对一个集合中的元素进行统计计算时，将忽略其中的</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空</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值元素</a:t>
            </a:r>
            <a:endParaRPr lang="zh-CN" altLang="en-US" dirty="0">
              <a:latin typeface="Arial" panose="020B0604020202090204" pitchFamily="34" charset="0"/>
              <a:cs typeface="Arial" panose="020B0604020202090204" pitchFamily="34" charset="0"/>
            </a:endParaRPr>
          </a:p>
          <a:p>
            <a:pPr lvl="2" eaLnBrk="1" hangingPunct="1"/>
            <a:r>
              <a:rPr lang="zh-CN" altLang="en-US" dirty="0">
                <a:latin typeface="Arial" panose="020B0604020202090204" pitchFamily="34" charset="0"/>
                <a:cs typeface="Arial" panose="020B0604020202090204" pitchFamily="34" charset="0"/>
              </a:rPr>
              <a:t>在一个元组集合上执行如下的统计查询，它们返回的结果可能是不一样的！</a:t>
            </a:r>
            <a:endParaRPr lang="zh-CN" altLang="en-US" dirty="0">
              <a:latin typeface="Arial" panose="020B0604020202090204" pitchFamily="34" charset="0"/>
              <a:cs typeface="Arial" panose="020B0604020202090204" pitchFamily="34" charset="0"/>
            </a:endParaRPr>
          </a:p>
          <a:p>
            <a:pPr marL="1371600" lvl="3" indent="0" eaLnBrk="1" hangingPunct="1">
              <a:buNone/>
            </a:pPr>
            <a:r>
              <a:rPr lang="en-US" altLang="x-none" b="0" dirty="0">
                <a:latin typeface="Arial" panose="020B0604020202090204" pitchFamily="34" charset="0"/>
                <a:cs typeface="Arial" panose="020B0604020202090204" pitchFamily="34" charset="0"/>
              </a:rPr>
              <a:t>COUNT(</a:t>
            </a:r>
            <a:r>
              <a:rPr lang="zh-CN" altLang="en-US" b="0" dirty="0">
                <a:latin typeface="Arial" panose="020B0604020202090204" pitchFamily="34" charset="0"/>
                <a:cs typeface="Arial" panose="020B0604020202090204" pitchFamily="34" charset="0"/>
              </a:rPr>
              <a:t>*</a:t>
            </a:r>
            <a:r>
              <a:rPr lang="en-US" altLang="x-none" b="0" dirty="0">
                <a:latin typeface="Arial" panose="020B0604020202090204" pitchFamily="34" charset="0"/>
                <a:cs typeface="Arial" panose="020B0604020202090204" pitchFamily="34" charset="0"/>
              </a:rPr>
              <a:t>)      COUNT(sd)     COUNT(distinct  sd)</a:t>
            </a:r>
            <a:endParaRPr lang="en-US" altLang="x-none" dirty="0">
              <a:latin typeface="Arial" panose="020B0604020202090204" pitchFamily="34" charset="0"/>
              <a:cs typeface="Arial" panose="020B0604020202090204" pitchFamily="34" charset="0"/>
            </a:endParaRPr>
          </a:p>
          <a:p>
            <a:pPr lvl="2" eaLnBrk="1" hangingPunct="1">
              <a:lnSpc>
                <a:spcPct val="110000"/>
              </a:lnSpc>
              <a:spcBef>
                <a:spcPts val="1000"/>
              </a:spcBef>
            </a:pPr>
            <a:r>
              <a:rPr lang="zh-CN" altLang="en-US" dirty="0">
                <a:latin typeface="Arial" panose="020B0604020202090204" pitchFamily="34" charset="0"/>
                <a:cs typeface="Arial" panose="020B0604020202090204" pitchFamily="34" charset="0"/>
              </a:rPr>
              <a:t>在调用</a:t>
            </a:r>
            <a:r>
              <a:rPr lang="en-US" altLang="zh-CN" dirty="0">
                <a:latin typeface="Arial" panose="020B0604020202090204" pitchFamily="34" charset="0"/>
                <a:cs typeface="Arial" panose="020B0604020202090204" pitchFamily="34" charset="0"/>
              </a:rPr>
              <a:t>SUM, AVG, MAX, MIN</a:t>
            </a:r>
            <a:r>
              <a:rPr lang="zh-CN" altLang="en-US" dirty="0">
                <a:latin typeface="Arial" panose="020B0604020202090204" pitchFamily="34" charset="0"/>
                <a:cs typeface="Arial" panose="020B0604020202090204" pitchFamily="34" charset="0"/>
              </a:rPr>
              <a:t>聚集函数时，将首先剔除掉集合中取值为</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空</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的元素，然后再进行统计计算</a:t>
            </a:r>
            <a:endParaRPr lang="zh-CN" altLang="en-US" dirty="0">
              <a:latin typeface="Arial" panose="020B0604020202090204" pitchFamily="34" charset="0"/>
              <a:cs typeface="Arial" panose="020B0604020202090204" pitchFamily="34" charset="0"/>
            </a:endParaRPr>
          </a:p>
          <a:p>
            <a:pPr lvl="1" eaLnBrk="1" hangingPunct="1"/>
            <a:endParaRPr lang="zh-CN" altLang="en-US" sz="1200" dirty="0">
              <a:latin typeface="Arial" panose="020B0604020202090204" pitchFamily="34" charset="0"/>
              <a:cs typeface="Arial" panose="020B0604020202090204" pitchFamily="34" charset="0"/>
            </a:endParaRPr>
          </a:p>
          <a:p>
            <a:pPr lvl="1" eaLnBrk="1" hangingPunct="1"/>
            <a:r>
              <a:rPr lang="zh-CN" altLang="en-US" dirty="0">
                <a:latin typeface="Arial" panose="020B0604020202090204" pitchFamily="34" charset="0"/>
                <a:cs typeface="Arial" panose="020B0604020202090204" pitchFamily="34" charset="0"/>
              </a:rPr>
              <a:t>在一个空集上进行统计计算时，其返回结果如下：</a:t>
            </a:r>
            <a:endParaRPr lang="zh-CN" altLang="en-US" dirty="0">
              <a:latin typeface="Arial" panose="020B0604020202090204" pitchFamily="34" charset="0"/>
              <a:cs typeface="Arial" panose="020B0604020202090204" pitchFamily="34" charset="0"/>
            </a:endParaRPr>
          </a:p>
          <a:p>
            <a:pPr lvl="2" eaLnBrk="1" hangingPunct="1"/>
            <a:r>
              <a:rPr lang="en-US" altLang="x-none" dirty="0">
                <a:latin typeface="Arial" panose="020B0604020202090204" pitchFamily="34" charset="0"/>
                <a:cs typeface="Arial" panose="020B0604020202090204" pitchFamily="34" charset="0"/>
              </a:rPr>
              <a:t>COUNT(  ) </a:t>
            </a:r>
            <a:r>
              <a:rPr lang="zh-CN" altLang="en-US" dirty="0">
                <a:latin typeface="Arial" panose="020B0604020202090204" pitchFamily="34" charset="0"/>
                <a:cs typeface="Arial" panose="020B0604020202090204" pitchFamily="34" charset="0"/>
              </a:rPr>
              <a:t>返回 </a:t>
            </a:r>
            <a:r>
              <a:rPr lang="en-US" altLang="x-none" dirty="0">
                <a:latin typeface="Arial" panose="020B0604020202090204" pitchFamily="34" charset="0"/>
                <a:cs typeface="Arial" panose="020B0604020202090204" pitchFamily="34" charset="0"/>
              </a:rPr>
              <a:t>0</a:t>
            </a:r>
            <a:endParaRPr lang="en-US" altLang="x-none" dirty="0">
              <a:latin typeface="Arial" panose="020B0604020202090204" pitchFamily="34" charset="0"/>
              <a:cs typeface="Arial" panose="020B0604020202090204" pitchFamily="34" charset="0"/>
            </a:endParaRPr>
          </a:p>
          <a:p>
            <a:pPr lvl="2" eaLnBrk="1" hangingPunct="1"/>
            <a:r>
              <a:rPr lang="zh-CN" altLang="en-US" dirty="0">
                <a:latin typeface="Arial" panose="020B0604020202090204" pitchFamily="34" charset="0"/>
                <a:cs typeface="Arial" panose="020B0604020202090204" pitchFamily="34" charset="0"/>
              </a:rPr>
              <a:t>其它的聚集函数均返回空值 </a:t>
            </a:r>
            <a:r>
              <a:rPr lang="en-US" altLang="x-none" dirty="0">
                <a:latin typeface="Arial" panose="020B0604020202090204" pitchFamily="34" charset="0"/>
                <a:cs typeface="Arial" panose="020B0604020202090204" pitchFamily="34" charset="0"/>
              </a:rPr>
              <a:t>NULL</a:t>
            </a:r>
            <a:endParaRPr lang="en-US" altLang="x-none"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6260">
                                            <p:txEl>
                                              <p:pRg st="6" end="6"/>
                                            </p:txEl>
                                          </p:spTgt>
                                        </p:tgtEl>
                                        <p:attrNameLst>
                                          <p:attrName>style.visibility</p:attrName>
                                        </p:attrNameLst>
                                      </p:cBhvr>
                                      <p:to>
                                        <p:strVal val="visible"/>
                                      </p:to>
                                    </p:set>
                                    <p:animEffect transition="in" filter="blinds(horizontal)">
                                      <p:cBhvr>
                                        <p:cTn id="7" dur="500"/>
                                        <p:tgtEl>
                                          <p:spTgt spid="96260">
                                            <p:txEl>
                                              <p:pRg st="6"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6260">
                                            <p:txEl>
                                              <p:pRg st="7" end="7"/>
                                            </p:txEl>
                                          </p:spTgt>
                                        </p:tgtEl>
                                        <p:attrNameLst>
                                          <p:attrName>style.visibility</p:attrName>
                                        </p:attrNameLst>
                                      </p:cBhvr>
                                      <p:to>
                                        <p:strVal val="visible"/>
                                      </p:to>
                                    </p:set>
                                    <p:animEffect transition="in" filter="blinds(horizontal)">
                                      <p:cBhvr>
                                        <p:cTn id="10" dur="500"/>
                                        <p:tgtEl>
                                          <p:spTgt spid="96260">
                                            <p:txEl>
                                              <p:pRg st="7" end="7"/>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6260">
                                            <p:txEl>
                                              <p:pRg st="8" end="8"/>
                                            </p:txEl>
                                          </p:spTgt>
                                        </p:tgtEl>
                                        <p:attrNameLst>
                                          <p:attrName>style.visibility</p:attrName>
                                        </p:attrNameLst>
                                      </p:cBhvr>
                                      <p:to>
                                        <p:strVal val="visible"/>
                                      </p:to>
                                    </p:set>
                                    <p:animEffect transition="in" filter="blinds(horizontal)">
                                      <p:cBhvr>
                                        <p:cTn id="13" dur="500"/>
                                        <p:tgtEl>
                                          <p:spTgt spid="9626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聚集函数</a:t>
            </a:r>
            <a:r>
              <a:rPr lang="en-US" altLang="zh-CN"/>
              <a:t> 4</a:t>
            </a:r>
            <a:endParaRPr lang="en-US" altLang="zh-CN"/>
          </a:p>
        </p:txBody>
      </p:sp>
      <p:sp>
        <p:nvSpPr>
          <p:cNvPr id="3" name="内容占位符 2"/>
          <p:cNvSpPr>
            <a:spLocks noGrp="1"/>
          </p:cNvSpPr>
          <p:nvPr>
            <p:ph idx="1"/>
          </p:nvPr>
        </p:nvSpPr>
        <p:spPr/>
        <p:txBody>
          <a:bodyPr/>
          <a:p>
            <a:pPr>
              <a:lnSpc>
                <a:spcPct val="100000"/>
              </a:lnSpc>
            </a:pPr>
            <a:r>
              <a:rPr lang="zh-CN" altLang="en-US" sz="2800">
                <a:latin typeface="Arial" panose="020B0604020202090204" pitchFamily="34" charset="0"/>
                <a:cs typeface="Arial" panose="020B0604020202090204" pitchFamily="34" charset="0"/>
              </a:rPr>
              <a:t>使用聚集函数可以对查询结果进行统计计算，并返回统计</a:t>
            </a:r>
            <a:r>
              <a:rPr lang="zh-CN" altLang="en-US" sz="2800">
                <a:latin typeface="Arial" panose="020B0604020202090204" pitchFamily="34" charset="0"/>
                <a:cs typeface="Arial" panose="020B0604020202090204" pitchFamily="34" charset="0"/>
              </a:rPr>
              <a:t>结果</a:t>
            </a:r>
            <a:endParaRPr lang="zh-CN" altLang="en-US" sz="2800">
              <a:latin typeface="Arial" panose="020B0604020202090204" pitchFamily="34" charset="0"/>
              <a:cs typeface="Arial" panose="020B0604020202090204" pitchFamily="34" charset="0"/>
            </a:endParaRPr>
          </a:p>
          <a:p>
            <a:pPr>
              <a:lnSpc>
                <a:spcPct val="100000"/>
              </a:lnSpc>
            </a:pPr>
            <a:r>
              <a:rPr lang="zh-CN" altLang="en-US" sz="2800">
                <a:latin typeface="Arial" panose="020B0604020202090204" pitchFamily="34" charset="0"/>
                <a:cs typeface="Arial" panose="020B0604020202090204" pitchFamily="34" charset="0"/>
              </a:rPr>
              <a:t>有三种类型的统计查询语句</a:t>
            </a:r>
            <a:endParaRPr lang="zh-CN" altLang="en-US" sz="2800">
              <a:latin typeface="Arial" panose="020B0604020202090204" pitchFamily="34" charset="0"/>
              <a:cs typeface="Arial" panose="020B0604020202090204" pitchFamily="34" charset="0"/>
            </a:endParaRPr>
          </a:p>
          <a:p>
            <a:pPr marL="971550" lvl="1" indent="-514350">
              <a:lnSpc>
                <a:spcPct val="100000"/>
              </a:lnSpc>
              <a:buFont typeface="+mj-ea"/>
              <a:buAutoNum type="circleNumDbPlain"/>
            </a:pPr>
            <a:r>
              <a:rPr lang="zh-CN" altLang="en-US" sz="2800">
                <a:solidFill>
                  <a:srgbClr val="C00000"/>
                </a:solidFill>
                <a:latin typeface="Arial" panose="020B0604020202090204" pitchFamily="34" charset="0"/>
                <a:cs typeface="Arial" panose="020B0604020202090204" pitchFamily="34" charset="0"/>
              </a:rPr>
              <a:t>统计查询</a:t>
            </a:r>
            <a:endParaRPr lang="zh-CN" altLang="en-US" sz="2800">
              <a:latin typeface="Arial" panose="020B0604020202090204" pitchFamily="34" charset="0"/>
              <a:cs typeface="Arial" panose="020B0604020202090204" pitchFamily="34" charset="0"/>
            </a:endParaRPr>
          </a:p>
          <a:p>
            <a:pPr lvl="2">
              <a:lnSpc>
                <a:spcPct val="100000"/>
              </a:lnSpc>
            </a:pPr>
            <a:r>
              <a:rPr lang="zh-CN" altLang="en-US" sz="2800">
                <a:latin typeface="Arial" panose="020B0604020202090204" pitchFamily="34" charset="0"/>
                <a:cs typeface="Arial" panose="020B0604020202090204" pitchFamily="34" charset="0"/>
              </a:rPr>
              <a:t>没有</a:t>
            </a:r>
            <a:r>
              <a:rPr lang="en-US" altLang="zh-CN" sz="2800">
                <a:latin typeface="Arial" panose="020B0604020202090204" pitchFamily="34" charset="0"/>
                <a:cs typeface="Arial" panose="020B0604020202090204" pitchFamily="34" charset="0"/>
              </a:rPr>
              <a:t>group by</a:t>
            </a:r>
            <a:r>
              <a:rPr lang="zh-CN" altLang="en-US" sz="2800">
                <a:latin typeface="Arial" panose="020B0604020202090204" pitchFamily="34" charset="0"/>
                <a:cs typeface="Arial" panose="020B0604020202090204" pitchFamily="34" charset="0"/>
              </a:rPr>
              <a:t>子句，直接对整个查询结果进行统计计算</a:t>
            </a:r>
            <a:endParaRPr lang="zh-CN" altLang="en-US" sz="2800">
              <a:latin typeface="Arial" panose="020B0604020202090204" pitchFamily="34" charset="0"/>
              <a:cs typeface="Arial" panose="020B0604020202090204" pitchFamily="34" charset="0"/>
            </a:endParaRPr>
          </a:p>
          <a:p>
            <a:pPr lvl="2">
              <a:lnSpc>
                <a:spcPct val="100000"/>
              </a:lnSpc>
            </a:pPr>
            <a:r>
              <a:rPr lang="zh-CN" altLang="en-US" sz="2800">
                <a:latin typeface="Arial" panose="020B0604020202090204" pitchFamily="34" charset="0"/>
                <a:cs typeface="Arial" panose="020B0604020202090204" pitchFamily="34" charset="0"/>
              </a:rPr>
              <a:t>返回单条统计结果</a:t>
            </a:r>
            <a:endParaRPr lang="zh-CN" altLang="en-US" sz="2800">
              <a:latin typeface="Arial" panose="020B0604020202090204" pitchFamily="34" charset="0"/>
              <a:cs typeface="Arial" panose="020B0604020202090204" pitchFamily="34" charset="0"/>
            </a:endParaRPr>
          </a:p>
          <a:p>
            <a:pPr marL="971550" lvl="1" indent="-514350">
              <a:lnSpc>
                <a:spcPct val="100000"/>
              </a:lnSpc>
              <a:spcBef>
                <a:spcPts val="1000"/>
              </a:spcBef>
              <a:buFont typeface="+mj-ea"/>
              <a:buAutoNum type="circleNumDbPlain"/>
            </a:pPr>
            <a:r>
              <a:rPr lang="zh-CN" altLang="en-US" sz="2800">
                <a:solidFill>
                  <a:srgbClr val="C00000"/>
                </a:solidFill>
                <a:latin typeface="Arial" panose="020B0604020202090204" pitchFamily="34" charset="0"/>
                <a:cs typeface="Arial" panose="020B0604020202090204" pitchFamily="34" charset="0"/>
              </a:rPr>
              <a:t>分组统计查询</a:t>
            </a:r>
            <a:endParaRPr lang="zh-CN" altLang="en-US" sz="2800">
              <a:latin typeface="Arial" panose="020B0604020202090204" pitchFamily="34" charset="0"/>
              <a:cs typeface="Arial" panose="020B0604020202090204" pitchFamily="34" charset="0"/>
            </a:endParaRPr>
          </a:p>
          <a:p>
            <a:pPr lvl="2">
              <a:lnSpc>
                <a:spcPct val="100000"/>
              </a:lnSpc>
            </a:pPr>
            <a:r>
              <a:rPr lang="zh-CN" altLang="en-US" sz="2800">
                <a:latin typeface="Arial" panose="020B0604020202090204" pitchFamily="34" charset="0"/>
                <a:cs typeface="Arial" panose="020B0604020202090204" pitchFamily="34" charset="0"/>
              </a:rPr>
              <a:t>使用</a:t>
            </a:r>
            <a:r>
              <a:rPr lang="en-US" altLang="zh-CN" sz="2800">
                <a:latin typeface="Arial" panose="020B0604020202090204" pitchFamily="34" charset="0"/>
                <a:cs typeface="Arial" panose="020B0604020202090204" pitchFamily="34" charset="0"/>
              </a:rPr>
              <a:t>group by</a:t>
            </a:r>
            <a:r>
              <a:rPr lang="zh-CN" altLang="en-US" sz="2800">
                <a:latin typeface="Arial" panose="020B0604020202090204" pitchFamily="34" charset="0"/>
                <a:cs typeface="Arial" panose="020B0604020202090204" pitchFamily="34" charset="0"/>
              </a:rPr>
              <a:t>子句，分组进行统计计算</a:t>
            </a:r>
            <a:endParaRPr lang="zh-CN" altLang="en-US" sz="2800">
              <a:latin typeface="Arial" panose="020B0604020202090204" pitchFamily="34" charset="0"/>
              <a:cs typeface="Arial" panose="020B0604020202090204" pitchFamily="34" charset="0"/>
            </a:endParaRPr>
          </a:p>
          <a:p>
            <a:pPr lvl="2">
              <a:lnSpc>
                <a:spcPct val="100000"/>
              </a:lnSpc>
            </a:pPr>
            <a:r>
              <a:rPr lang="zh-CN" altLang="en-US" sz="2800">
                <a:latin typeface="Arial" panose="020B0604020202090204" pitchFamily="34" charset="0"/>
                <a:cs typeface="Arial" panose="020B0604020202090204" pitchFamily="34" charset="0"/>
              </a:rPr>
              <a:t>每一个</a:t>
            </a:r>
            <a:r>
              <a:rPr lang="en-US" altLang="zh-CN" sz="2800">
                <a:latin typeface="Arial" panose="020B0604020202090204" pitchFamily="34" charset="0"/>
                <a:cs typeface="Arial" panose="020B0604020202090204" pitchFamily="34" charset="0"/>
              </a:rPr>
              <a:t>‘</a:t>
            </a:r>
            <a:r>
              <a:rPr lang="zh-CN" altLang="en-US" sz="2800">
                <a:latin typeface="Arial" panose="020B0604020202090204" pitchFamily="34" charset="0"/>
                <a:cs typeface="Arial" panose="020B0604020202090204" pitchFamily="34" charset="0"/>
              </a:rPr>
              <a:t>组</a:t>
            </a:r>
            <a:r>
              <a:rPr lang="en-US" altLang="zh-CN" sz="2800">
                <a:latin typeface="Arial" panose="020B0604020202090204" pitchFamily="34" charset="0"/>
                <a:cs typeface="Arial" panose="020B0604020202090204" pitchFamily="34" charset="0"/>
              </a:rPr>
              <a:t>’</a:t>
            </a:r>
            <a:r>
              <a:rPr lang="zh-CN" altLang="en-US" sz="2800">
                <a:latin typeface="Arial" panose="020B0604020202090204" pitchFamily="34" charset="0"/>
                <a:cs typeface="Arial" panose="020B0604020202090204" pitchFamily="34" charset="0"/>
              </a:rPr>
              <a:t>返回一条统计结果</a:t>
            </a:r>
            <a:endParaRPr lang="zh-CN" altLang="en-US" sz="2800">
              <a:latin typeface="Arial" panose="020B0604020202090204" pitchFamily="34" charset="0"/>
              <a:cs typeface="Arial" panose="020B0604020202090204" pitchFamily="34" charset="0"/>
            </a:endParaRPr>
          </a:p>
          <a:p>
            <a:pPr marL="971550" lvl="1" indent="-514350">
              <a:lnSpc>
                <a:spcPct val="100000"/>
              </a:lnSpc>
              <a:spcBef>
                <a:spcPts val="1000"/>
              </a:spcBef>
              <a:buFont typeface="+mj-ea"/>
              <a:buAutoNum type="circleNumDbPlain"/>
            </a:pPr>
            <a:r>
              <a:rPr lang="zh-CN" altLang="en-US" sz="2800">
                <a:solidFill>
                  <a:srgbClr val="C00000"/>
                </a:solidFill>
                <a:latin typeface="Arial" panose="020B0604020202090204" pitchFamily="34" charset="0"/>
                <a:cs typeface="Arial" panose="020B0604020202090204" pitchFamily="34" charset="0"/>
              </a:rPr>
              <a:t>分组</a:t>
            </a:r>
            <a:r>
              <a:rPr lang="en-US" altLang="zh-CN" sz="2800">
                <a:solidFill>
                  <a:srgbClr val="C00000"/>
                </a:solidFill>
                <a:latin typeface="Arial" panose="020B0604020202090204" pitchFamily="34" charset="0"/>
                <a:cs typeface="Arial" panose="020B0604020202090204" pitchFamily="34" charset="0"/>
              </a:rPr>
              <a:t>-</a:t>
            </a:r>
            <a:r>
              <a:rPr lang="zh-CN" altLang="en-US" sz="2800">
                <a:solidFill>
                  <a:srgbClr val="C00000"/>
                </a:solidFill>
                <a:latin typeface="Arial" panose="020B0604020202090204" pitchFamily="34" charset="0"/>
                <a:cs typeface="Arial" panose="020B0604020202090204" pitchFamily="34" charset="0"/>
              </a:rPr>
              <a:t>选择统计查询</a:t>
            </a:r>
            <a:endParaRPr lang="zh-CN" altLang="en-US" sz="2800">
              <a:latin typeface="Arial" panose="020B0604020202090204" pitchFamily="34" charset="0"/>
              <a:cs typeface="Arial" panose="020B0604020202090204" pitchFamily="34" charset="0"/>
            </a:endParaRPr>
          </a:p>
          <a:p>
            <a:pPr lvl="2">
              <a:lnSpc>
                <a:spcPct val="100000"/>
              </a:lnSpc>
            </a:pPr>
            <a:r>
              <a:rPr lang="zh-CN" altLang="en-US" sz="2800">
                <a:latin typeface="Arial" panose="020B0604020202090204" pitchFamily="34" charset="0"/>
                <a:cs typeface="Arial" panose="020B0604020202090204" pitchFamily="34" charset="0"/>
              </a:rPr>
              <a:t>使用</a:t>
            </a:r>
            <a:r>
              <a:rPr lang="en-US" altLang="zh-CN" sz="2800">
                <a:latin typeface="Arial" panose="020B0604020202090204" pitchFamily="34" charset="0"/>
                <a:cs typeface="Arial" panose="020B0604020202090204" pitchFamily="34" charset="0"/>
              </a:rPr>
              <a:t>group by</a:t>
            </a:r>
            <a:r>
              <a:rPr lang="zh-CN" altLang="en-US" sz="2800">
                <a:latin typeface="Arial" panose="020B0604020202090204" pitchFamily="34" charset="0"/>
                <a:cs typeface="Arial" panose="020B0604020202090204" pitchFamily="34" charset="0"/>
              </a:rPr>
              <a:t>子句先分组，再用</a:t>
            </a:r>
            <a:r>
              <a:rPr lang="en-US" altLang="zh-CN" sz="2800">
                <a:latin typeface="Arial" panose="020B0604020202090204" pitchFamily="34" charset="0"/>
                <a:cs typeface="Arial" panose="020B0604020202090204" pitchFamily="34" charset="0"/>
              </a:rPr>
              <a:t>having</a:t>
            </a:r>
            <a:r>
              <a:rPr lang="zh-CN" altLang="en-US" sz="2800">
                <a:latin typeface="Arial" panose="020B0604020202090204" pitchFamily="34" charset="0"/>
                <a:cs typeface="Arial" panose="020B0604020202090204" pitchFamily="34" charset="0"/>
              </a:rPr>
              <a:t>子句进行</a:t>
            </a:r>
            <a:r>
              <a:rPr lang="en-US" altLang="zh-CN" sz="2800">
                <a:latin typeface="Arial" panose="020B0604020202090204" pitchFamily="34" charset="0"/>
                <a:cs typeface="Arial" panose="020B0604020202090204" pitchFamily="34" charset="0"/>
              </a:rPr>
              <a:t>‘</a:t>
            </a:r>
            <a:r>
              <a:rPr lang="zh-CN" altLang="en-US" sz="2800">
                <a:latin typeface="Arial" panose="020B0604020202090204" pitchFamily="34" charset="0"/>
                <a:cs typeface="Arial" panose="020B0604020202090204" pitchFamily="34" charset="0"/>
              </a:rPr>
              <a:t>组</a:t>
            </a:r>
            <a:r>
              <a:rPr lang="en-US" altLang="zh-CN" sz="2800">
                <a:latin typeface="Arial" panose="020B0604020202090204" pitchFamily="34" charset="0"/>
                <a:cs typeface="Arial" panose="020B0604020202090204" pitchFamily="34" charset="0"/>
              </a:rPr>
              <a:t>’</a:t>
            </a:r>
            <a:r>
              <a:rPr lang="zh-CN" altLang="en-US" sz="2800">
                <a:latin typeface="Arial" panose="020B0604020202090204" pitchFamily="34" charset="0"/>
                <a:cs typeface="Arial" panose="020B0604020202090204" pitchFamily="34" charset="0"/>
              </a:rPr>
              <a:t>的选择，最后再对符合条件的组进行统计计算</a:t>
            </a:r>
            <a:endParaRPr lang="zh-CN" altLang="en-US" sz="2800">
              <a:latin typeface="Arial" panose="020B0604020202090204" pitchFamily="34" charset="0"/>
              <a:cs typeface="Arial" panose="020B0604020202090204" pitchFamily="34" charset="0"/>
            </a:endParaRPr>
          </a:p>
          <a:p>
            <a:pPr lvl="2">
              <a:lnSpc>
                <a:spcPct val="100000"/>
              </a:lnSpc>
            </a:pPr>
            <a:r>
              <a:rPr lang="zh-CN" altLang="en-US" sz="2800">
                <a:latin typeface="Arial" panose="020B0604020202090204" pitchFamily="34" charset="0"/>
                <a:cs typeface="Arial" panose="020B0604020202090204" pitchFamily="34" charset="0"/>
              </a:rPr>
              <a:t>每一个符合</a:t>
            </a:r>
            <a:r>
              <a:rPr lang="en-US" altLang="zh-CN" sz="2800">
                <a:latin typeface="Arial" panose="020B0604020202090204" pitchFamily="34" charset="0"/>
                <a:cs typeface="Arial" panose="020B0604020202090204" pitchFamily="34" charset="0"/>
              </a:rPr>
              <a:t>having</a:t>
            </a:r>
            <a:r>
              <a:rPr lang="zh-CN" altLang="en-US" sz="2800">
                <a:latin typeface="Arial" panose="020B0604020202090204" pitchFamily="34" charset="0"/>
                <a:cs typeface="Arial" panose="020B0604020202090204" pitchFamily="34" charset="0"/>
              </a:rPr>
              <a:t>条件的</a:t>
            </a:r>
            <a:r>
              <a:rPr lang="en-US" altLang="zh-CN" sz="2800">
                <a:latin typeface="Arial" panose="020B0604020202090204" pitchFamily="34" charset="0"/>
                <a:cs typeface="Arial" panose="020B0604020202090204" pitchFamily="34" charset="0"/>
              </a:rPr>
              <a:t>‘</a:t>
            </a:r>
            <a:r>
              <a:rPr lang="zh-CN" altLang="en-US" sz="2800">
                <a:latin typeface="Arial" panose="020B0604020202090204" pitchFamily="34" charset="0"/>
                <a:cs typeface="Arial" panose="020B0604020202090204" pitchFamily="34" charset="0"/>
              </a:rPr>
              <a:t>组</a:t>
            </a:r>
            <a:r>
              <a:rPr lang="en-US" altLang="zh-CN" sz="2800">
                <a:latin typeface="Arial" panose="020B0604020202090204" pitchFamily="34" charset="0"/>
                <a:cs typeface="Arial" panose="020B0604020202090204" pitchFamily="34" charset="0"/>
              </a:rPr>
              <a:t>’</a:t>
            </a:r>
            <a:r>
              <a:rPr lang="zh-CN" altLang="en-US" sz="2800">
                <a:latin typeface="Arial" panose="020B0604020202090204" pitchFamily="34" charset="0"/>
                <a:cs typeface="Arial" panose="020B0604020202090204" pitchFamily="34" charset="0"/>
              </a:rPr>
              <a:t>返回一条统计结果</a:t>
            </a:r>
            <a:endParaRPr lang="zh-CN" altLang="en-US" sz="2800">
              <a:latin typeface="Arial" panose="020B0604020202090204" pitchFamily="34" charset="0"/>
              <a:cs typeface="Arial" panose="020B0604020202090204" pitchFamily="34" charset="0"/>
            </a:endParaRPr>
          </a:p>
          <a:p>
            <a:pPr marL="971550" lvl="1" indent="-514350">
              <a:buFont typeface="+mj-ea"/>
              <a:buAutoNum type="circleNumDbPlain"/>
            </a:pPr>
            <a:endParaRPr lang="zh-CN" altLang="en-US" sz="2800">
              <a:latin typeface="Arial" panose="020B0604020202090204" pitchFamily="34" charset="0"/>
              <a:cs typeface="Arial" panose="020B0604020202090204" pitchFamily="34" charset="0"/>
            </a:endParaRPr>
          </a:p>
        </p:txBody>
      </p:sp>
      <p:sp>
        <p:nvSpPr>
          <p:cNvPr id="6" name="灯片编号占位符 5"/>
          <p:cNvSpPr>
            <a:spLocks noGrp="1"/>
          </p:cNvSpPr>
          <p:nvPr>
            <p:ph type="sldNum" sz="quarter" idx="12"/>
          </p:nvPr>
        </p:nvSpPr>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ch03_2_SQL数据查询</a:t>
            </a: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Calibri" panose="020F0502020204030204" charset="0"/>
              </a:rPr>
              <a:t>①</a:t>
            </a:r>
            <a:r>
              <a:rPr lang="en-US" altLang="zh-CN">
                <a:latin typeface="Calibri" panose="020F0502020204030204" charset="0"/>
              </a:rPr>
              <a:t> </a:t>
            </a:r>
            <a:r>
              <a:rPr lang="zh-CN" altLang="en-US">
                <a:latin typeface="Calibri" panose="020F0502020204030204" charset="0"/>
              </a:rPr>
              <a:t>统计</a:t>
            </a:r>
            <a:r>
              <a:rPr lang="zh-CN" altLang="en-US">
                <a:latin typeface="Calibri" panose="020F0502020204030204" charset="0"/>
              </a:rPr>
              <a:t>查询</a:t>
            </a:r>
            <a:endParaRPr lang="zh-CN" altLang="en-US">
              <a:latin typeface="Calibri" panose="020F0502020204030204" charset="0"/>
            </a:endParaRPr>
          </a:p>
        </p:txBody>
      </p:sp>
      <p:sp>
        <p:nvSpPr>
          <p:cNvPr id="3" name="内容占位符 2"/>
          <p:cNvSpPr>
            <a:spLocks noGrp="1"/>
          </p:cNvSpPr>
          <p:nvPr>
            <p:ph idx="1"/>
          </p:nvPr>
        </p:nvSpPr>
        <p:spPr/>
        <p:txBody>
          <a:bodyPr/>
          <a:p>
            <a:pPr lvl="0">
              <a:lnSpc>
                <a:spcPct val="150000"/>
              </a:lnSpc>
              <a:spcBef>
                <a:spcPts val="800"/>
              </a:spcBef>
            </a:pPr>
            <a:r>
              <a:rPr lang="zh-CN" altLang="en-US">
                <a:solidFill>
                  <a:srgbClr val="C00000"/>
                </a:solidFill>
                <a:cs typeface="Calibri" panose="020F0502020204030204" charset="0"/>
                <a:sym typeface="+mn-ea"/>
              </a:rPr>
              <a:t>统计查询</a:t>
            </a:r>
            <a:endParaRPr lang="zh-CN" altLang="en-US">
              <a:solidFill>
                <a:srgbClr val="C00000"/>
              </a:solidFill>
              <a:cs typeface="Calibri" panose="020F0502020204030204" charset="0"/>
              <a:sym typeface="+mn-ea"/>
            </a:endParaRPr>
          </a:p>
          <a:p>
            <a:pPr lvl="1">
              <a:lnSpc>
                <a:spcPct val="150000"/>
              </a:lnSpc>
              <a:spcBef>
                <a:spcPts val="800"/>
              </a:spcBef>
            </a:pPr>
            <a:r>
              <a:rPr lang="zh-CN" altLang="en-US">
                <a:cs typeface="Calibri" panose="020F0502020204030204" charset="0"/>
                <a:sym typeface="+mn-ea"/>
              </a:rPr>
              <a:t>没有</a:t>
            </a:r>
            <a:r>
              <a:rPr lang="en-US" altLang="zh-CN">
                <a:cs typeface="Calibri" panose="020F0502020204030204" charset="0"/>
                <a:sym typeface="+mn-ea"/>
              </a:rPr>
              <a:t>group by</a:t>
            </a:r>
            <a:r>
              <a:rPr lang="zh-CN" altLang="en-US">
                <a:cs typeface="Calibri" panose="020F0502020204030204" charset="0"/>
                <a:sym typeface="+mn-ea"/>
              </a:rPr>
              <a:t>子句</a:t>
            </a:r>
            <a:endParaRPr lang="zh-CN" altLang="en-US">
              <a:cs typeface="Calibri" panose="020F0502020204030204" charset="0"/>
              <a:sym typeface="+mn-ea"/>
            </a:endParaRPr>
          </a:p>
          <a:p>
            <a:pPr lvl="1">
              <a:lnSpc>
                <a:spcPct val="150000"/>
              </a:lnSpc>
              <a:spcBef>
                <a:spcPts val="800"/>
              </a:spcBef>
            </a:pPr>
            <a:r>
              <a:rPr lang="zh-CN" altLang="en-US">
                <a:cs typeface="Calibri" panose="020F0502020204030204" charset="0"/>
                <a:sym typeface="+mn-ea"/>
              </a:rPr>
              <a:t>直接在</a:t>
            </a:r>
            <a:r>
              <a:rPr lang="en-US" altLang="zh-CN">
                <a:cs typeface="Calibri" panose="020F0502020204030204" charset="0"/>
                <a:sym typeface="+mn-ea"/>
              </a:rPr>
              <a:t>SELECT</a:t>
            </a:r>
            <a:r>
              <a:rPr lang="zh-CN" altLang="en-US">
                <a:cs typeface="Calibri" panose="020F0502020204030204" charset="0"/>
                <a:sym typeface="+mn-ea"/>
              </a:rPr>
              <a:t>子句中调用聚集函数，对查询结果进行统计计算</a:t>
            </a:r>
            <a:endParaRPr lang="zh-CN" altLang="en-US">
              <a:cs typeface="Calibri" panose="020F0502020204030204" charset="0"/>
              <a:sym typeface="+mn-ea"/>
            </a:endParaRPr>
          </a:p>
          <a:p>
            <a:pPr lvl="1">
              <a:lnSpc>
                <a:spcPct val="150000"/>
              </a:lnSpc>
              <a:spcBef>
                <a:spcPts val="800"/>
              </a:spcBef>
            </a:pPr>
            <a:r>
              <a:rPr lang="zh-CN" altLang="en-US">
                <a:cs typeface="Calibri" panose="020F0502020204030204" charset="0"/>
                <a:sym typeface="+mn-ea"/>
              </a:rPr>
              <a:t>可以同时调用多种聚集函数，开展多种不同的统计计算</a:t>
            </a:r>
            <a:endParaRPr lang="zh-CN" altLang="en-US">
              <a:cs typeface="Calibri" panose="020F0502020204030204" charset="0"/>
            </a:endParaRPr>
          </a:p>
          <a:p>
            <a:pPr lvl="1">
              <a:lnSpc>
                <a:spcPct val="150000"/>
              </a:lnSpc>
              <a:spcBef>
                <a:spcPts val="800"/>
              </a:spcBef>
            </a:pPr>
            <a:r>
              <a:rPr lang="zh-CN" altLang="en-US">
                <a:cs typeface="Calibri" panose="020F0502020204030204" charset="0"/>
                <a:sym typeface="+mn-ea"/>
              </a:rPr>
              <a:t>只返回统计结果，不允许对属性的投影</a:t>
            </a:r>
            <a:endParaRPr lang="zh-CN" altLang="en-US">
              <a:cs typeface="Calibri" panose="020F0502020204030204" charset="0"/>
              <a:sym typeface="+mn-ea"/>
            </a:endParaRPr>
          </a:p>
          <a:p>
            <a:pPr lvl="1">
              <a:lnSpc>
                <a:spcPct val="150000"/>
              </a:lnSpc>
              <a:spcBef>
                <a:spcPts val="800"/>
              </a:spcBef>
            </a:pPr>
            <a:r>
              <a:rPr lang="zh-CN" altLang="en-US">
                <a:cs typeface="Calibri" panose="020F0502020204030204" charset="0"/>
                <a:sym typeface="+mn-ea"/>
              </a:rPr>
              <a:t>查询只会返回由统计结果构成</a:t>
            </a:r>
            <a:r>
              <a:rPr lang="zh-CN" altLang="en-US">
                <a:cs typeface="Calibri" panose="020F0502020204030204" charset="0"/>
                <a:sym typeface="+mn-ea"/>
              </a:rPr>
              <a:t>的单条</a:t>
            </a:r>
            <a:r>
              <a:rPr lang="zh-CN" altLang="en-US">
                <a:cs typeface="Calibri" panose="020F0502020204030204" charset="0"/>
                <a:sym typeface="+mn-ea"/>
              </a:rPr>
              <a:t>结果元组</a:t>
            </a:r>
            <a:endParaRPr lang="zh-CN" altLang="en-US">
              <a:cs typeface="Calibri" panose="020F0502020204030204" charset="0"/>
            </a:endParaRPr>
          </a:p>
          <a:p>
            <a:endParaRPr lang="zh-CN" altLang="en-US">
              <a:cs typeface="Calibri" panose="020F0502020204030204" charset="0"/>
            </a:endParaRPr>
          </a:p>
        </p:txBody>
      </p:sp>
      <p:sp>
        <p:nvSpPr>
          <p:cNvPr id="4" name="页脚占位符 3"/>
          <p:cNvSpPr>
            <a:spLocks noGrp="1"/>
          </p:cNvSpPr>
          <p:nvPr>
            <p:ph type="ftr" sz="quarter" idx="11"/>
          </p:nvPr>
        </p:nvSpPr>
        <p:spPr/>
        <p:txBody>
          <a:bodyPr/>
          <a:p>
            <a:r>
              <a:rPr lang="zh-CN" altLang="en-US"/>
              <a:t>ch03_2_SQL数据查询</a:t>
            </a:r>
            <a:endParaRPr lang="zh-CN" altLang="en-US"/>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dirty="0"/>
              <a:t>聚集函数</a:t>
            </a:r>
            <a:r>
              <a:rPr lang="en-US" altLang="zh-CN" dirty="0"/>
              <a:t> 5</a:t>
            </a:r>
            <a:endParaRPr lang="zh-CN" altLang="en-US" dirty="0"/>
          </a:p>
        </p:txBody>
      </p:sp>
      <p:sp>
        <p:nvSpPr>
          <p:cNvPr id="95235" name="Rectangle 3"/>
          <p:cNvSpPr>
            <a:spLocks noGrp="1" noChangeArrowheads="1"/>
          </p:cNvSpPr>
          <p:nvPr>
            <p:ph idx="4294967295"/>
          </p:nvPr>
        </p:nvSpPr>
        <p:spPr>
          <a:xfrm>
            <a:off x="424800" y="681355"/>
            <a:ext cx="5400000" cy="5636260"/>
          </a:xfrm>
        </p:spPr>
        <p:txBody>
          <a:bodyPr>
            <a:spAutoFit/>
          </a:bodyPr>
          <a:lstStyle/>
          <a:p>
            <a:pPr>
              <a:lnSpc>
                <a:spcPct val="100000"/>
              </a:lnSpc>
              <a:spcBef>
                <a:spcPct val="0"/>
              </a:spcBef>
            </a:pPr>
            <a:r>
              <a:rPr lang="en-US" altLang="zh-CN" sz="2800" dirty="0">
                <a:highlight>
                  <a:srgbClr val="FFFF00"/>
                </a:highlight>
              </a:rPr>
              <a:t>[</a:t>
            </a:r>
            <a:r>
              <a:rPr lang="zh-CN" altLang="en-US" sz="2800" dirty="0">
                <a:highlight>
                  <a:srgbClr val="FFFF00"/>
                </a:highlight>
              </a:rPr>
              <a:t>例</a:t>
            </a:r>
            <a:r>
              <a:rPr lang="en-US" altLang="zh-CN" sz="2800" dirty="0">
                <a:highlight>
                  <a:srgbClr val="FFFF00"/>
                </a:highlight>
              </a:rPr>
              <a:t>3.41] </a:t>
            </a:r>
            <a:r>
              <a:rPr lang="zh-CN" altLang="en-US" sz="2800" dirty="0">
                <a:highlight>
                  <a:srgbClr val="FFFF00"/>
                </a:highlight>
              </a:rPr>
              <a:t>查询学生总人数。</a:t>
            </a:r>
            <a:endParaRPr lang="zh-CN" altLang="en-US" sz="2800" dirty="0"/>
          </a:p>
          <a:p>
            <a:pPr marL="363855" lvl="1" indent="0">
              <a:lnSpc>
                <a:spcPct val="100000"/>
              </a:lnSpc>
              <a:spcBef>
                <a:spcPts val="600"/>
              </a:spcBef>
              <a:buNone/>
            </a:pPr>
            <a:r>
              <a:rPr lang="en-US" altLang="zh-CN" sz="2400" dirty="0">
                <a:solidFill>
                  <a:srgbClr val="0000C8"/>
                </a:solidFill>
                <a:latin typeface="Arial" panose="020B0604020202090204" pitchFamily="34" charset="0"/>
                <a:cs typeface="Arial" panose="020B0604020202090204" pitchFamily="34" charset="0"/>
              </a:rPr>
              <a:t>SELECT COUNT</a:t>
            </a:r>
            <a:r>
              <a:rPr lang="zh-CN" altLang="en-US" sz="2400" dirty="0">
                <a:solidFill>
                  <a:srgbClr val="0000C8"/>
                </a:solidFill>
                <a:latin typeface="Arial" panose="020B0604020202090204" pitchFamily="34" charset="0"/>
                <a:cs typeface="Arial" panose="020B0604020202090204" pitchFamily="34" charset="0"/>
              </a:rPr>
              <a:t>(</a:t>
            </a:r>
            <a:r>
              <a:rPr lang="en-US" altLang="zh-CN" sz="2400" dirty="0">
                <a:solidFill>
                  <a:srgbClr val="0000C8"/>
                </a:solidFill>
                <a:latin typeface="Arial" panose="020B0604020202090204" pitchFamily="34" charset="0"/>
                <a:cs typeface="Arial" panose="020B0604020202090204" pitchFamily="34" charset="0"/>
              </a:rPr>
              <a:t>*</a:t>
            </a:r>
            <a:r>
              <a:rPr lang="zh-CN" altLang="en-US" sz="2400" dirty="0">
                <a:solidFill>
                  <a:srgbClr val="0000C8"/>
                </a:solidFill>
                <a:latin typeface="Arial" panose="020B0604020202090204" pitchFamily="34" charset="0"/>
                <a:cs typeface="Arial" panose="020B0604020202090204" pitchFamily="34" charset="0"/>
              </a:rPr>
              <a:t>)</a:t>
            </a:r>
            <a:endParaRPr lang="zh-CN" altLang="en-US" sz="2400" dirty="0">
              <a:solidFill>
                <a:srgbClr val="0000C8"/>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0000C8"/>
                </a:solidFill>
                <a:latin typeface="Arial" panose="020B0604020202090204" pitchFamily="34" charset="0"/>
                <a:cs typeface="Arial" panose="020B0604020202090204" pitchFamily="34" charset="0"/>
              </a:rPr>
              <a:t>FROM  Student</a:t>
            </a:r>
            <a:r>
              <a:rPr lang="zh-CN" altLang="en-US" sz="2400" dirty="0">
                <a:solidFill>
                  <a:srgbClr val="0000C8"/>
                </a:solidFill>
                <a:latin typeface="Arial" panose="020B0604020202090204" pitchFamily="34" charset="0"/>
                <a:cs typeface="Arial" panose="020B0604020202090204" pitchFamily="34" charset="0"/>
              </a:rPr>
              <a:t>;</a:t>
            </a:r>
            <a:r>
              <a:rPr lang="zh-CN" altLang="en-US" sz="2800" b="0" dirty="0">
                <a:solidFill>
                  <a:srgbClr val="0000C8"/>
                </a:solidFill>
                <a:latin typeface="Arial" panose="020B0604020202090204" pitchFamily="34" charset="0"/>
                <a:cs typeface="Arial" panose="020B0604020202090204" pitchFamily="34" charset="0"/>
              </a:rPr>
              <a:t> </a:t>
            </a:r>
            <a:endParaRPr lang="zh-CN" altLang="en-US" sz="2800" dirty="0">
              <a:solidFill>
                <a:srgbClr val="0000C8"/>
              </a:solidFill>
            </a:endParaRPr>
          </a:p>
          <a:p>
            <a:pPr>
              <a:lnSpc>
                <a:spcPct val="100000"/>
              </a:lnSpc>
              <a:spcBef>
                <a:spcPts val="2000"/>
              </a:spcBef>
            </a:pPr>
            <a:r>
              <a:rPr lang="en-US" altLang="zh-CN" sz="2800" dirty="0">
                <a:highlight>
                  <a:srgbClr val="FFFF00"/>
                </a:highlight>
              </a:rPr>
              <a:t>[</a:t>
            </a:r>
            <a:r>
              <a:rPr lang="zh-CN" altLang="en-US" sz="2800" dirty="0">
                <a:highlight>
                  <a:srgbClr val="FFFF00"/>
                </a:highlight>
              </a:rPr>
              <a:t>例</a:t>
            </a:r>
            <a:r>
              <a:rPr lang="en-US" altLang="zh-CN" sz="2800" dirty="0">
                <a:highlight>
                  <a:srgbClr val="FFFF00"/>
                </a:highlight>
              </a:rPr>
              <a:t>3.42] </a:t>
            </a:r>
            <a:r>
              <a:rPr lang="zh-CN" altLang="en-US" sz="2800" dirty="0">
                <a:highlight>
                  <a:srgbClr val="FFFF00"/>
                </a:highlight>
              </a:rPr>
              <a:t>查询选修了课程的学生人数。</a:t>
            </a:r>
            <a:endParaRPr lang="zh-CN" altLang="en-US" sz="2800" dirty="0">
              <a:highlight>
                <a:srgbClr val="FFFF00"/>
              </a:highlight>
            </a:endParaRPr>
          </a:p>
          <a:p>
            <a:pPr marL="363855" lvl="1" indent="0">
              <a:lnSpc>
                <a:spcPct val="100000"/>
              </a:lnSpc>
              <a:spcBef>
                <a:spcPts val="600"/>
              </a:spcBef>
              <a:buNone/>
            </a:pPr>
            <a:r>
              <a:rPr lang="en-US" altLang="zh-CN" sz="2400" dirty="0">
                <a:solidFill>
                  <a:srgbClr val="0000C8"/>
                </a:solidFill>
                <a:latin typeface="Arial" panose="020B0604020202090204" pitchFamily="34" charset="0"/>
                <a:cs typeface="Arial" panose="020B0604020202090204" pitchFamily="34" charset="0"/>
              </a:rPr>
              <a:t>SELECT COUNT</a:t>
            </a:r>
            <a:r>
              <a:rPr lang="zh-CN" altLang="en-US" sz="2400" dirty="0">
                <a:solidFill>
                  <a:srgbClr val="0000C8"/>
                </a:solidFill>
                <a:latin typeface="Arial" panose="020B0604020202090204" pitchFamily="34" charset="0"/>
                <a:cs typeface="Arial" panose="020B0604020202090204" pitchFamily="34" charset="0"/>
              </a:rPr>
              <a:t>(</a:t>
            </a:r>
            <a:r>
              <a:rPr lang="en-US" altLang="zh-CN" sz="2400" dirty="0">
                <a:solidFill>
                  <a:srgbClr val="FF0000"/>
                </a:solidFill>
                <a:latin typeface="Arial" panose="020B0604020202090204" pitchFamily="34" charset="0"/>
                <a:cs typeface="Arial" panose="020B0604020202090204" pitchFamily="34" charset="0"/>
              </a:rPr>
              <a:t>DISTINCT</a:t>
            </a:r>
            <a:r>
              <a:rPr lang="en-US" altLang="zh-CN" sz="2400" dirty="0">
                <a:latin typeface="Arial" panose="020B0604020202090204" pitchFamily="34" charset="0"/>
                <a:cs typeface="Arial" panose="020B0604020202090204" pitchFamily="34" charset="0"/>
              </a:rPr>
              <a:t> </a:t>
            </a:r>
            <a:r>
              <a:rPr lang="en-US" altLang="zh-CN" sz="2400" dirty="0" err="1">
                <a:solidFill>
                  <a:srgbClr val="0000C8"/>
                </a:solidFill>
                <a:latin typeface="Arial" panose="020B0604020202090204" pitchFamily="34" charset="0"/>
                <a:cs typeface="Arial" panose="020B0604020202090204" pitchFamily="34" charset="0"/>
              </a:rPr>
              <a:t>Sno</a:t>
            </a:r>
            <a:r>
              <a:rPr lang="zh-CN" altLang="en-US" sz="2400" dirty="0">
                <a:solidFill>
                  <a:srgbClr val="0000C8"/>
                </a:solidFill>
                <a:latin typeface="Arial" panose="020B0604020202090204" pitchFamily="34" charset="0"/>
                <a:cs typeface="Arial" panose="020B0604020202090204" pitchFamily="34" charset="0"/>
              </a:rPr>
              <a:t>)</a:t>
            </a:r>
            <a:endParaRPr lang="zh-CN" altLang="en-US" sz="2400" dirty="0">
              <a:solidFill>
                <a:srgbClr val="0000C8"/>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0000C8"/>
                </a:solidFill>
                <a:latin typeface="Arial" panose="020B0604020202090204" pitchFamily="34" charset="0"/>
                <a:cs typeface="Arial" panose="020B0604020202090204" pitchFamily="34" charset="0"/>
              </a:rPr>
              <a:t>FROM SC</a:t>
            </a:r>
            <a:r>
              <a:rPr lang="zh-CN" altLang="en-US" sz="2400" dirty="0">
                <a:solidFill>
                  <a:srgbClr val="0000C8"/>
                </a:solidFill>
                <a:latin typeface="Arial" panose="020B0604020202090204" pitchFamily="34" charset="0"/>
                <a:cs typeface="Arial" panose="020B0604020202090204" pitchFamily="34" charset="0"/>
              </a:rPr>
              <a:t>;</a:t>
            </a:r>
            <a:endParaRPr lang="zh-CN" altLang="en-US" sz="2800" dirty="0">
              <a:solidFill>
                <a:srgbClr val="0000C8"/>
              </a:solidFill>
            </a:endParaRPr>
          </a:p>
          <a:p>
            <a:pPr>
              <a:lnSpc>
                <a:spcPct val="100000"/>
              </a:lnSpc>
              <a:spcBef>
                <a:spcPts val="2000"/>
              </a:spcBef>
            </a:pPr>
            <a:r>
              <a:rPr lang="en-US" altLang="zh-CN" sz="2800" dirty="0">
                <a:highlight>
                  <a:srgbClr val="FFFF00"/>
                </a:highlight>
              </a:rPr>
              <a:t>[</a:t>
            </a:r>
            <a:r>
              <a:rPr lang="zh-CN" altLang="en-US" sz="2800" dirty="0">
                <a:highlight>
                  <a:srgbClr val="FFFF00"/>
                </a:highlight>
              </a:rPr>
              <a:t>例</a:t>
            </a:r>
            <a:r>
              <a:rPr lang="en-US" altLang="zh-CN" sz="2800" dirty="0">
                <a:highlight>
                  <a:srgbClr val="FFFF00"/>
                </a:highlight>
              </a:rPr>
              <a:t>3.43] </a:t>
            </a:r>
            <a:r>
              <a:rPr lang="zh-CN" altLang="en-US" sz="2800" dirty="0">
                <a:highlight>
                  <a:srgbClr val="FFFF00"/>
                </a:highlight>
              </a:rPr>
              <a:t>计算</a:t>
            </a:r>
            <a:r>
              <a:rPr lang="en-US" altLang="zh-CN" sz="2800" dirty="0">
                <a:highlight>
                  <a:srgbClr val="FFFF00"/>
                </a:highlight>
              </a:rPr>
              <a:t>1</a:t>
            </a:r>
            <a:r>
              <a:rPr lang="zh-CN" altLang="en-US" sz="2800" dirty="0">
                <a:highlight>
                  <a:srgbClr val="FFFF00"/>
                </a:highlight>
              </a:rPr>
              <a:t>号课程的学生平均成绩。</a:t>
            </a:r>
            <a:endParaRPr lang="zh-CN" altLang="en-US" sz="2800" dirty="0">
              <a:highlight>
                <a:srgbClr val="FFFF00"/>
              </a:highlight>
            </a:endParaRPr>
          </a:p>
          <a:p>
            <a:pPr marL="363855" lvl="1" indent="0">
              <a:lnSpc>
                <a:spcPct val="100000"/>
              </a:lnSpc>
              <a:spcBef>
                <a:spcPts val="600"/>
              </a:spcBef>
              <a:buNone/>
            </a:pPr>
            <a:r>
              <a:rPr lang="en-US" altLang="zh-CN" sz="2400" dirty="0">
                <a:solidFill>
                  <a:srgbClr val="0000C8"/>
                </a:solidFill>
                <a:latin typeface="Arial" panose="020B0604020202090204" pitchFamily="34" charset="0"/>
                <a:cs typeface="Arial" panose="020B0604020202090204" pitchFamily="34" charset="0"/>
              </a:rPr>
              <a:t>SELECT AVG</a:t>
            </a:r>
            <a:r>
              <a:rPr lang="zh-CN" altLang="en-US" sz="2400" dirty="0">
                <a:solidFill>
                  <a:srgbClr val="0000C8"/>
                </a:solidFill>
                <a:latin typeface="Arial" panose="020B0604020202090204" pitchFamily="34" charset="0"/>
                <a:cs typeface="Arial" panose="020B0604020202090204" pitchFamily="34" charset="0"/>
              </a:rPr>
              <a:t>(</a:t>
            </a:r>
            <a:r>
              <a:rPr lang="en-US" altLang="zh-CN" sz="2400" dirty="0">
                <a:solidFill>
                  <a:srgbClr val="0000C8"/>
                </a:solidFill>
                <a:latin typeface="Arial" panose="020B0604020202090204" pitchFamily="34" charset="0"/>
                <a:cs typeface="Arial" panose="020B0604020202090204" pitchFamily="34" charset="0"/>
              </a:rPr>
              <a:t>Grade</a:t>
            </a:r>
            <a:r>
              <a:rPr lang="zh-CN" altLang="en-US" sz="2400" dirty="0">
                <a:solidFill>
                  <a:srgbClr val="0000C8"/>
                </a:solidFill>
                <a:latin typeface="Arial" panose="020B0604020202090204" pitchFamily="34" charset="0"/>
                <a:cs typeface="Arial" panose="020B0604020202090204" pitchFamily="34" charset="0"/>
              </a:rPr>
              <a:t>)</a:t>
            </a:r>
            <a:endParaRPr lang="zh-CN" altLang="en-US" sz="2400" dirty="0">
              <a:solidFill>
                <a:srgbClr val="0000C8"/>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0000C8"/>
                </a:solidFill>
                <a:latin typeface="Arial" panose="020B0604020202090204" pitchFamily="34" charset="0"/>
                <a:cs typeface="Arial" panose="020B0604020202090204" pitchFamily="34" charset="0"/>
              </a:rPr>
              <a:t>FROM   SC</a:t>
            </a:r>
            <a:endParaRPr lang="en-US" altLang="zh-CN" sz="2400" dirty="0">
              <a:solidFill>
                <a:srgbClr val="0000C8"/>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0000C8"/>
                </a:solidFill>
                <a:latin typeface="Arial" panose="020B0604020202090204" pitchFamily="34" charset="0"/>
                <a:cs typeface="Arial" panose="020B0604020202090204" pitchFamily="34" charset="0"/>
              </a:rPr>
              <a:t>WHERE </a:t>
            </a:r>
            <a:r>
              <a:rPr lang="en-US" altLang="zh-CN" sz="2400" dirty="0" err="1">
                <a:solidFill>
                  <a:srgbClr val="0000C8"/>
                </a:solidFill>
                <a:latin typeface="Arial" panose="020B0604020202090204" pitchFamily="34" charset="0"/>
                <a:cs typeface="Arial" panose="020B0604020202090204" pitchFamily="34" charset="0"/>
              </a:rPr>
              <a:t>Cno </a:t>
            </a:r>
            <a:r>
              <a:rPr lang="en-US" altLang="zh-CN" sz="2400" dirty="0">
                <a:solidFill>
                  <a:srgbClr val="0000C8"/>
                </a:solidFill>
                <a:latin typeface="Arial" panose="020B0604020202090204" pitchFamily="34" charset="0"/>
                <a:cs typeface="Arial" panose="020B0604020202090204" pitchFamily="34" charset="0"/>
              </a:rPr>
              <a:t>= '1'</a:t>
            </a:r>
            <a:r>
              <a:rPr lang="zh-CN" altLang="en-US" sz="2400" dirty="0">
                <a:solidFill>
                  <a:srgbClr val="0000C8"/>
                </a:solidFill>
                <a:latin typeface="Arial" panose="020B0604020202090204" pitchFamily="34" charset="0"/>
                <a:cs typeface="Arial" panose="020B0604020202090204" pitchFamily="34" charset="0"/>
              </a:rPr>
              <a:t>;</a:t>
            </a:r>
            <a:endParaRPr lang="zh-CN" altLang="en-US" sz="2400" dirty="0">
              <a:solidFill>
                <a:srgbClr val="0000C8"/>
              </a:solidFill>
              <a:latin typeface="Arial" panose="020B0604020202090204" pitchFamily="34" charset="0"/>
              <a:cs typeface="Arial" panose="020B0604020202090204" pitchFamily="34" charset="0"/>
            </a:endParaRPr>
          </a:p>
        </p:txBody>
      </p:sp>
      <p:sp>
        <p:nvSpPr>
          <p:cNvPr id="5" name="内容占位符 4"/>
          <p:cNvSpPr>
            <a:spLocks noGrp="1"/>
          </p:cNvSpPr>
          <p:nvPr>
            <p:ph idx="4294967295"/>
          </p:nvPr>
        </p:nvSpPr>
        <p:spPr>
          <a:xfrm>
            <a:off x="6101715" y="681355"/>
            <a:ext cx="5400000" cy="5195570"/>
          </a:xfrm>
        </p:spPr>
        <p:txBody>
          <a:bodyPr>
            <a:spAutoFit/>
          </a:bodyPr>
          <a:lstStyle/>
          <a:p>
            <a:pPr>
              <a:lnSpc>
                <a:spcPct val="100000"/>
              </a:lnSpc>
              <a:spcBef>
                <a:spcPct val="0"/>
              </a:spcBef>
            </a:pPr>
            <a:r>
              <a:rPr lang="en-US" altLang="zh-CN" sz="2800" dirty="0">
                <a:highlight>
                  <a:srgbClr val="FFFF00"/>
                </a:highlight>
              </a:rPr>
              <a:t>[</a:t>
            </a:r>
            <a:r>
              <a:rPr lang="zh-CN" altLang="en-US" sz="2800" dirty="0">
                <a:highlight>
                  <a:srgbClr val="FFFF00"/>
                </a:highlight>
              </a:rPr>
              <a:t>例</a:t>
            </a:r>
            <a:r>
              <a:rPr lang="en-US" altLang="zh-CN" sz="2800" dirty="0">
                <a:highlight>
                  <a:srgbClr val="FFFF00"/>
                </a:highlight>
              </a:rPr>
              <a:t>3.44] </a:t>
            </a:r>
            <a:r>
              <a:rPr lang="zh-CN" altLang="en-US" sz="2800" dirty="0">
                <a:highlight>
                  <a:srgbClr val="FFFF00"/>
                </a:highlight>
              </a:rPr>
              <a:t>查询选修</a:t>
            </a:r>
            <a:r>
              <a:rPr lang="en-US" altLang="zh-CN" sz="2800" dirty="0">
                <a:highlight>
                  <a:srgbClr val="FFFF00"/>
                </a:highlight>
              </a:rPr>
              <a:t>1</a:t>
            </a:r>
            <a:r>
              <a:rPr lang="zh-CN" altLang="en-US" sz="2800" dirty="0">
                <a:highlight>
                  <a:srgbClr val="FFFF00"/>
                </a:highlight>
              </a:rPr>
              <a:t>号课程的学生最高分数。</a:t>
            </a:r>
            <a:endParaRPr lang="zh-CN" altLang="en-US" sz="2800" dirty="0">
              <a:highlight>
                <a:srgbClr val="FFFF00"/>
              </a:highlight>
            </a:endParaRPr>
          </a:p>
          <a:p>
            <a:pPr marL="363855" lvl="1" indent="0">
              <a:lnSpc>
                <a:spcPct val="100000"/>
              </a:lnSpc>
              <a:spcBef>
                <a:spcPts val="600"/>
              </a:spcBef>
              <a:buNone/>
            </a:pPr>
            <a:r>
              <a:rPr lang="en-US" altLang="zh-CN" sz="2400" dirty="0">
                <a:solidFill>
                  <a:srgbClr val="0000C8"/>
                </a:solidFill>
                <a:latin typeface="Arial" panose="020B0604020202090204" pitchFamily="34" charset="0"/>
                <a:cs typeface="Arial" panose="020B0604020202090204" pitchFamily="34" charset="0"/>
              </a:rPr>
              <a:t>SELECT MAX</a:t>
            </a:r>
            <a:r>
              <a:rPr lang="zh-CN" altLang="en-US" sz="2400" dirty="0">
                <a:solidFill>
                  <a:srgbClr val="0000C8"/>
                </a:solidFill>
                <a:latin typeface="Arial" panose="020B0604020202090204" pitchFamily="34" charset="0"/>
                <a:cs typeface="Arial" panose="020B0604020202090204" pitchFamily="34" charset="0"/>
              </a:rPr>
              <a:t>(</a:t>
            </a:r>
            <a:r>
              <a:rPr lang="en-US" altLang="zh-CN" sz="2400" dirty="0">
                <a:solidFill>
                  <a:srgbClr val="0000C8"/>
                </a:solidFill>
                <a:latin typeface="Arial" panose="020B0604020202090204" pitchFamily="34" charset="0"/>
                <a:cs typeface="Arial" panose="020B0604020202090204" pitchFamily="34" charset="0"/>
              </a:rPr>
              <a:t>Grade</a:t>
            </a:r>
            <a:r>
              <a:rPr lang="zh-CN" altLang="en-US" sz="2400" dirty="0">
                <a:solidFill>
                  <a:srgbClr val="0000C8"/>
                </a:solidFill>
                <a:latin typeface="Arial" panose="020B0604020202090204" pitchFamily="34" charset="0"/>
                <a:cs typeface="Arial" panose="020B0604020202090204" pitchFamily="34" charset="0"/>
              </a:rPr>
              <a:t>)</a:t>
            </a:r>
            <a:endParaRPr lang="zh-CN" altLang="en-US" sz="2400" dirty="0">
              <a:solidFill>
                <a:srgbClr val="0000C8"/>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0000C8"/>
                </a:solidFill>
                <a:latin typeface="Arial" panose="020B0604020202090204" pitchFamily="34" charset="0"/>
                <a:cs typeface="Arial" panose="020B0604020202090204" pitchFamily="34" charset="0"/>
              </a:rPr>
              <a:t>FROM SC15</a:t>
            </a:r>
            <a:endParaRPr lang="en-US" altLang="zh-CN" sz="2800" dirty="0">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0000C8"/>
                </a:solidFill>
                <a:latin typeface="Arial" panose="020B0604020202090204" pitchFamily="34" charset="0"/>
                <a:cs typeface="Arial" panose="020B0604020202090204" pitchFamily="34" charset="0"/>
              </a:rPr>
              <a:t>WHERE Cno='1';</a:t>
            </a:r>
            <a:endParaRPr lang="zh-CN" altLang="en-US" sz="2800" dirty="0">
              <a:latin typeface="Arial" panose="020B0604020202090204" pitchFamily="34" charset="0"/>
              <a:cs typeface="Arial" panose="020B0604020202090204" pitchFamily="34" charset="0"/>
            </a:endParaRPr>
          </a:p>
          <a:p>
            <a:pPr>
              <a:lnSpc>
                <a:spcPct val="100000"/>
              </a:lnSpc>
              <a:spcBef>
                <a:spcPts val="5000"/>
              </a:spcBef>
            </a:pPr>
            <a:r>
              <a:rPr lang="en-US" altLang="zh-CN" sz="2800" dirty="0">
                <a:highlight>
                  <a:srgbClr val="FFFF00"/>
                </a:highlight>
              </a:rPr>
              <a:t>[</a:t>
            </a:r>
            <a:r>
              <a:rPr lang="zh-CN" altLang="en-US" sz="2800" dirty="0">
                <a:highlight>
                  <a:srgbClr val="FFFF00"/>
                </a:highlight>
              </a:rPr>
              <a:t>例</a:t>
            </a:r>
            <a:r>
              <a:rPr lang="en-US" altLang="zh-CN" sz="2800" dirty="0">
                <a:highlight>
                  <a:srgbClr val="FFFF00"/>
                </a:highlight>
              </a:rPr>
              <a:t>3.45] </a:t>
            </a:r>
            <a:r>
              <a:rPr lang="zh-CN" altLang="en-US" sz="2800" dirty="0">
                <a:highlight>
                  <a:srgbClr val="FFFF00"/>
                </a:highlight>
              </a:rPr>
              <a:t>查询学生</a:t>
            </a:r>
            <a:r>
              <a:rPr lang="en-US" altLang="zh-CN" sz="2800" dirty="0">
                <a:highlight>
                  <a:srgbClr val="FFFF00"/>
                </a:highlight>
              </a:rPr>
              <a:t>201215012</a:t>
            </a:r>
            <a:r>
              <a:rPr lang="zh-CN" altLang="en-US" sz="2800" dirty="0">
                <a:highlight>
                  <a:srgbClr val="FFFF00"/>
                </a:highlight>
              </a:rPr>
              <a:t>选修课程的总学分数。</a:t>
            </a:r>
            <a:endParaRPr lang="zh-CN" altLang="en-US" sz="2800" dirty="0">
              <a:highlight>
                <a:srgbClr val="FFFF00"/>
              </a:highlight>
            </a:endParaRPr>
          </a:p>
          <a:p>
            <a:pPr marL="363855" lvl="1" indent="0">
              <a:lnSpc>
                <a:spcPct val="100000"/>
              </a:lnSpc>
              <a:spcBef>
                <a:spcPts val="600"/>
              </a:spcBef>
              <a:buNone/>
            </a:pPr>
            <a:r>
              <a:rPr lang="en-US" altLang="zh-CN" sz="2400" dirty="0">
                <a:solidFill>
                  <a:srgbClr val="0000C8"/>
                </a:solidFill>
                <a:latin typeface="Arial" panose="020B0604020202090204" pitchFamily="34" charset="0"/>
                <a:cs typeface="Arial" panose="020B0604020202090204" pitchFamily="34" charset="0"/>
              </a:rPr>
              <a:t>SELECT SUM</a:t>
            </a:r>
            <a:r>
              <a:rPr lang="zh-CN" altLang="en-US" sz="2400" dirty="0">
                <a:solidFill>
                  <a:srgbClr val="0000C8"/>
                </a:solidFill>
                <a:latin typeface="Arial" panose="020B0604020202090204" pitchFamily="34" charset="0"/>
                <a:cs typeface="Arial" panose="020B0604020202090204" pitchFamily="34" charset="0"/>
              </a:rPr>
              <a:t>(</a:t>
            </a:r>
            <a:r>
              <a:rPr lang="en-US" altLang="zh-CN" sz="2400" dirty="0" err="1">
                <a:solidFill>
                  <a:srgbClr val="0000C8"/>
                </a:solidFill>
                <a:latin typeface="Arial" panose="020B0604020202090204" pitchFamily="34" charset="0"/>
                <a:cs typeface="Arial" panose="020B0604020202090204" pitchFamily="34" charset="0"/>
              </a:rPr>
              <a:t>Ccredit</a:t>
            </a:r>
            <a:r>
              <a:rPr lang="zh-CN" altLang="en-US" sz="2400" dirty="0">
                <a:solidFill>
                  <a:srgbClr val="0000C8"/>
                </a:solidFill>
                <a:latin typeface="Arial" panose="020B0604020202090204" pitchFamily="34" charset="0"/>
                <a:cs typeface="Arial" panose="020B0604020202090204" pitchFamily="34" charset="0"/>
              </a:rPr>
              <a:t>)</a:t>
            </a:r>
            <a:endParaRPr lang="zh-CN" altLang="en-US" sz="2400" dirty="0">
              <a:solidFill>
                <a:srgbClr val="0000C8"/>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0000C8"/>
                </a:solidFill>
                <a:latin typeface="Arial" panose="020B0604020202090204" pitchFamily="34" charset="0"/>
                <a:cs typeface="Arial" panose="020B0604020202090204" pitchFamily="34" charset="0"/>
              </a:rPr>
              <a:t>FROM  </a:t>
            </a:r>
            <a:r>
              <a:rPr lang="en-US" altLang="zh-CN" sz="2400" dirty="0" err="1">
                <a:solidFill>
                  <a:srgbClr val="0000C8"/>
                </a:solidFill>
                <a:latin typeface="Arial" panose="020B0604020202090204" pitchFamily="34" charset="0"/>
                <a:cs typeface="Arial" panose="020B0604020202090204" pitchFamily="34" charset="0"/>
              </a:rPr>
              <a:t>SC,Course</a:t>
            </a:r>
            <a:endParaRPr lang="en-US" altLang="zh-CN" sz="2400" dirty="0">
              <a:solidFill>
                <a:srgbClr val="0000C8"/>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0000C8"/>
                </a:solidFill>
                <a:latin typeface="Arial" panose="020B0604020202090204" pitchFamily="34" charset="0"/>
                <a:cs typeface="Arial" panose="020B0604020202090204" pitchFamily="34" charset="0"/>
              </a:rPr>
              <a:t>WHERE </a:t>
            </a:r>
            <a:r>
              <a:rPr lang="en-US" altLang="zh-CN" sz="2400" dirty="0" err="1">
                <a:solidFill>
                  <a:srgbClr val="0000C8"/>
                </a:solidFill>
                <a:latin typeface="Arial" panose="020B0604020202090204" pitchFamily="34" charset="0"/>
                <a:cs typeface="Arial" panose="020B0604020202090204" pitchFamily="34" charset="0"/>
              </a:rPr>
              <a:t>Sno</a:t>
            </a:r>
            <a:r>
              <a:rPr lang="en-US" altLang="zh-CN" sz="2400" dirty="0">
                <a:solidFill>
                  <a:srgbClr val="0000C8"/>
                </a:solidFill>
                <a:latin typeface="Arial" panose="020B0604020202090204" pitchFamily="34" charset="0"/>
                <a:cs typeface="Arial" panose="020B0604020202090204" pitchFamily="34" charset="0"/>
              </a:rPr>
              <a:t>='201215012' AND</a:t>
            </a:r>
            <a:r>
              <a:rPr lang="zh-CN" altLang="en-US" sz="2400" dirty="0">
                <a:solidFill>
                  <a:srgbClr val="0000C8"/>
                </a:solidFill>
                <a:latin typeface="Arial" panose="020B0604020202090204" pitchFamily="34" charset="0"/>
                <a:cs typeface="Arial" panose="020B0604020202090204" pitchFamily="34" charset="0"/>
              </a:rPr>
              <a:t>   </a:t>
            </a:r>
            <a:r>
              <a:rPr lang="en-US" altLang="zh-CN" sz="2400" dirty="0" err="1">
                <a:solidFill>
                  <a:srgbClr val="0000C8"/>
                </a:solidFill>
                <a:latin typeface="Arial" panose="020B0604020202090204" pitchFamily="34" charset="0"/>
                <a:cs typeface="Arial" panose="020B0604020202090204" pitchFamily="34" charset="0"/>
              </a:rPr>
              <a:t>SC.Cno</a:t>
            </a:r>
            <a:r>
              <a:rPr lang="en-US" altLang="zh-CN" sz="2400" dirty="0">
                <a:solidFill>
                  <a:srgbClr val="0000C8"/>
                </a:solidFill>
                <a:latin typeface="Arial" panose="020B0604020202090204" pitchFamily="34" charset="0"/>
                <a:cs typeface="Arial" panose="020B0604020202090204" pitchFamily="34" charset="0"/>
              </a:rPr>
              <a:t>=</a:t>
            </a:r>
            <a:r>
              <a:rPr lang="en-US" altLang="zh-CN" sz="2400" dirty="0" err="1">
                <a:solidFill>
                  <a:srgbClr val="0000C8"/>
                </a:solidFill>
                <a:latin typeface="Arial" panose="020B0604020202090204" pitchFamily="34" charset="0"/>
                <a:cs typeface="Arial" panose="020B0604020202090204" pitchFamily="34" charset="0"/>
              </a:rPr>
              <a:t>Course.Cno</a:t>
            </a:r>
            <a:r>
              <a:rPr lang="en-US" altLang="zh-CN" sz="2400" dirty="0">
                <a:solidFill>
                  <a:srgbClr val="0000C8"/>
                </a:solidFill>
                <a:latin typeface="Arial" panose="020B0604020202090204" pitchFamily="34" charset="0"/>
                <a:cs typeface="Arial" panose="020B0604020202090204" pitchFamily="34" charset="0"/>
              </a:rPr>
              <a:t>;</a:t>
            </a:r>
            <a:endParaRPr lang="zh-CN" altLang="en-US" sz="2400"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Effect transition="in" filter="blinds(horizontal)">
                                      <p:cBhvr>
                                        <p:cTn id="7" dur="500"/>
                                        <p:tgtEl>
                                          <p:spTgt spid="952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5235">
                                            <p:txEl>
                                              <p:pRg st="1" end="1"/>
                                            </p:txEl>
                                          </p:spTgt>
                                        </p:tgtEl>
                                        <p:attrNameLst>
                                          <p:attrName>style.visibility</p:attrName>
                                        </p:attrNameLst>
                                      </p:cBhvr>
                                      <p:to>
                                        <p:strVal val="visible"/>
                                      </p:to>
                                    </p:set>
                                    <p:animEffect transition="in" filter="blinds(horizontal)">
                                      <p:cBhvr>
                                        <p:cTn id="12" dur="500"/>
                                        <p:tgtEl>
                                          <p:spTgt spid="9523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5235">
                                            <p:txEl>
                                              <p:pRg st="2" end="2"/>
                                            </p:txEl>
                                          </p:spTgt>
                                        </p:tgtEl>
                                        <p:attrNameLst>
                                          <p:attrName>style.visibility</p:attrName>
                                        </p:attrNameLst>
                                      </p:cBhvr>
                                      <p:to>
                                        <p:strVal val="visible"/>
                                      </p:to>
                                    </p:set>
                                    <p:animEffect transition="in" filter="blinds(horizontal)">
                                      <p:cBhvr>
                                        <p:cTn id="15" dur="500"/>
                                        <p:tgtEl>
                                          <p:spTgt spid="9523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5235">
                                            <p:txEl>
                                              <p:pRg st="3" end="3"/>
                                            </p:txEl>
                                          </p:spTgt>
                                        </p:tgtEl>
                                        <p:attrNameLst>
                                          <p:attrName>style.visibility</p:attrName>
                                        </p:attrNameLst>
                                      </p:cBhvr>
                                      <p:to>
                                        <p:strVal val="visible"/>
                                      </p:to>
                                    </p:set>
                                    <p:animEffect transition="in" filter="blinds(horizontal)">
                                      <p:cBhvr>
                                        <p:cTn id="20" dur="500"/>
                                        <p:tgtEl>
                                          <p:spTgt spid="9523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95235">
                                            <p:txEl>
                                              <p:pRg st="4" end="4"/>
                                            </p:txEl>
                                          </p:spTgt>
                                        </p:tgtEl>
                                        <p:attrNameLst>
                                          <p:attrName>style.visibility</p:attrName>
                                        </p:attrNameLst>
                                      </p:cBhvr>
                                      <p:to>
                                        <p:strVal val="visible"/>
                                      </p:to>
                                    </p:set>
                                    <p:animEffect transition="in" filter="blinds(horizontal)">
                                      <p:cBhvr>
                                        <p:cTn id="25" dur="500"/>
                                        <p:tgtEl>
                                          <p:spTgt spid="9523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95235">
                                            <p:txEl>
                                              <p:pRg st="5" end="5"/>
                                            </p:txEl>
                                          </p:spTgt>
                                        </p:tgtEl>
                                        <p:attrNameLst>
                                          <p:attrName>style.visibility</p:attrName>
                                        </p:attrNameLst>
                                      </p:cBhvr>
                                      <p:to>
                                        <p:strVal val="visible"/>
                                      </p:to>
                                    </p:set>
                                    <p:animEffect transition="in" filter="blinds(horizontal)">
                                      <p:cBhvr>
                                        <p:cTn id="28" dur="500"/>
                                        <p:tgtEl>
                                          <p:spTgt spid="9523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95235">
                                            <p:txEl>
                                              <p:pRg st="6" end="6"/>
                                            </p:txEl>
                                          </p:spTgt>
                                        </p:tgtEl>
                                        <p:attrNameLst>
                                          <p:attrName>style.visibility</p:attrName>
                                        </p:attrNameLst>
                                      </p:cBhvr>
                                      <p:to>
                                        <p:strVal val="visible"/>
                                      </p:to>
                                    </p:set>
                                    <p:animEffect transition="in" filter="blinds(horizontal)">
                                      <p:cBhvr>
                                        <p:cTn id="33" dur="500"/>
                                        <p:tgtEl>
                                          <p:spTgt spid="9523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95235">
                                            <p:txEl>
                                              <p:pRg st="7" end="7"/>
                                            </p:txEl>
                                          </p:spTgt>
                                        </p:tgtEl>
                                        <p:attrNameLst>
                                          <p:attrName>style.visibility</p:attrName>
                                        </p:attrNameLst>
                                      </p:cBhvr>
                                      <p:to>
                                        <p:strVal val="visible"/>
                                      </p:to>
                                    </p:set>
                                    <p:animEffect transition="in" filter="blinds(horizontal)">
                                      <p:cBhvr>
                                        <p:cTn id="38" dur="500"/>
                                        <p:tgtEl>
                                          <p:spTgt spid="95235">
                                            <p:txEl>
                                              <p:pRg st="7" end="7"/>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95235">
                                            <p:txEl>
                                              <p:pRg st="8" end="8"/>
                                            </p:txEl>
                                          </p:spTgt>
                                        </p:tgtEl>
                                        <p:attrNameLst>
                                          <p:attrName>style.visibility</p:attrName>
                                        </p:attrNameLst>
                                      </p:cBhvr>
                                      <p:to>
                                        <p:strVal val="visible"/>
                                      </p:to>
                                    </p:set>
                                    <p:animEffect transition="in" filter="blinds(horizontal)">
                                      <p:cBhvr>
                                        <p:cTn id="41" dur="500"/>
                                        <p:tgtEl>
                                          <p:spTgt spid="95235">
                                            <p:txEl>
                                              <p:pRg st="8" end="8"/>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95235">
                                            <p:txEl>
                                              <p:pRg st="9" end="9"/>
                                            </p:txEl>
                                          </p:spTgt>
                                        </p:tgtEl>
                                        <p:attrNameLst>
                                          <p:attrName>style.visibility</p:attrName>
                                        </p:attrNameLst>
                                      </p:cBhvr>
                                      <p:to>
                                        <p:strVal val="visible"/>
                                      </p:to>
                                    </p:set>
                                    <p:animEffect transition="in" filter="blinds(horizontal)">
                                      <p:cBhvr>
                                        <p:cTn id="44" dur="500"/>
                                        <p:tgtEl>
                                          <p:spTgt spid="95235">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5">
                                            <p:txEl>
                                              <p:pRg st="0" end="0"/>
                                            </p:txEl>
                                          </p:spTgt>
                                        </p:tgtEl>
                                        <p:attrNameLst>
                                          <p:attrName>style.visibility</p:attrName>
                                        </p:attrNameLst>
                                      </p:cBhvr>
                                      <p:to>
                                        <p:strVal val="visible"/>
                                      </p:to>
                                    </p:set>
                                    <p:animEffect transition="in" filter="blinds(horizontal)">
                                      <p:cBhvr>
                                        <p:cTn id="49" dur="500"/>
                                        <p:tgtEl>
                                          <p:spTgt spid="5">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5">
                                            <p:txEl>
                                              <p:pRg st="1" end="1"/>
                                            </p:txEl>
                                          </p:spTgt>
                                        </p:tgtEl>
                                        <p:attrNameLst>
                                          <p:attrName>style.visibility</p:attrName>
                                        </p:attrNameLst>
                                      </p:cBhvr>
                                      <p:to>
                                        <p:strVal val="visible"/>
                                      </p:to>
                                    </p:set>
                                    <p:animEffect transition="in" filter="blinds(horizontal)">
                                      <p:cBhvr>
                                        <p:cTn id="54" dur="500"/>
                                        <p:tgtEl>
                                          <p:spTgt spid="5">
                                            <p:txEl>
                                              <p:pRg st="1" end="1"/>
                                            </p:txEl>
                                          </p:spTgt>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5">
                                            <p:txEl>
                                              <p:pRg st="2" end="2"/>
                                            </p:txEl>
                                          </p:spTgt>
                                        </p:tgtEl>
                                        <p:attrNameLst>
                                          <p:attrName>style.visibility</p:attrName>
                                        </p:attrNameLst>
                                      </p:cBhvr>
                                      <p:to>
                                        <p:strVal val="visible"/>
                                      </p:to>
                                    </p:set>
                                    <p:animEffect transition="in" filter="blinds(horizontal)">
                                      <p:cBhvr>
                                        <p:cTn id="57" dur="500"/>
                                        <p:tgtEl>
                                          <p:spTgt spid="5">
                                            <p:txEl>
                                              <p:pRg st="2" end="2"/>
                                            </p:txEl>
                                          </p:spTgt>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5">
                                            <p:txEl>
                                              <p:pRg st="3" end="3"/>
                                            </p:txEl>
                                          </p:spTgt>
                                        </p:tgtEl>
                                        <p:attrNameLst>
                                          <p:attrName>style.visibility</p:attrName>
                                        </p:attrNameLst>
                                      </p:cBhvr>
                                      <p:to>
                                        <p:strVal val="visible"/>
                                      </p:to>
                                    </p:set>
                                    <p:animEffect transition="in" filter="blinds(horizontal)">
                                      <p:cBhvr>
                                        <p:cTn id="60" dur="500"/>
                                        <p:tgtEl>
                                          <p:spTgt spid="5">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5">
                                            <p:txEl>
                                              <p:pRg st="4" end="4"/>
                                            </p:txEl>
                                          </p:spTgt>
                                        </p:tgtEl>
                                        <p:attrNameLst>
                                          <p:attrName>style.visibility</p:attrName>
                                        </p:attrNameLst>
                                      </p:cBhvr>
                                      <p:to>
                                        <p:strVal val="visible"/>
                                      </p:to>
                                    </p:set>
                                    <p:animEffect transition="in" filter="blinds(horizontal)">
                                      <p:cBhvr>
                                        <p:cTn id="65" dur="500"/>
                                        <p:tgtEl>
                                          <p:spTgt spid="5">
                                            <p:txEl>
                                              <p:pRg st="4" end="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5">
                                            <p:txEl>
                                              <p:pRg st="5" end="5"/>
                                            </p:txEl>
                                          </p:spTgt>
                                        </p:tgtEl>
                                        <p:attrNameLst>
                                          <p:attrName>style.visibility</p:attrName>
                                        </p:attrNameLst>
                                      </p:cBhvr>
                                      <p:to>
                                        <p:strVal val="visible"/>
                                      </p:to>
                                    </p:set>
                                    <p:animEffect transition="in" filter="blinds(horizontal)">
                                      <p:cBhvr>
                                        <p:cTn id="70" dur="500"/>
                                        <p:tgtEl>
                                          <p:spTgt spid="5">
                                            <p:txEl>
                                              <p:pRg st="5" end="5"/>
                                            </p:txEl>
                                          </p:spTgt>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5">
                                            <p:txEl>
                                              <p:pRg st="6" end="6"/>
                                            </p:txEl>
                                          </p:spTgt>
                                        </p:tgtEl>
                                        <p:attrNameLst>
                                          <p:attrName>style.visibility</p:attrName>
                                        </p:attrNameLst>
                                      </p:cBhvr>
                                      <p:to>
                                        <p:strVal val="visible"/>
                                      </p:to>
                                    </p:set>
                                    <p:animEffect transition="in" filter="blinds(horizontal)">
                                      <p:cBhvr>
                                        <p:cTn id="73" dur="500"/>
                                        <p:tgtEl>
                                          <p:spTgt spid="5">
                                            <p:txEl>
                                              <p:pRg st="6" end="6"/>
                                            </p:txEl>
                                          </p:spTgt>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5">
                                            <p:txEl>
                                              <p:pRg st="7" end="7"/>
                                            </p:txEl>
                                          </p:spTgt>
                                        </p:tgtEl>
                                        <p:attrNameLst>
                                          <p:attrName>style.visibility</p:attrName>
                                        </p:attrNameLst>
                                      </p:cBhvr>
                                      <p:to>
                                        <p:strVal val="visible"/>
                                      </p:to>
                                    </p:set>
                                    <p:animEffect transition="in" filter="blinds(horizontal)">
                                      <p:cBhvr>
                                        <p:cTn id="7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uiExpand="1" build="p"/>
      <p:bldP spid="5"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3" name="Rectangle 2"/>
          <p:cNvSpPr>
            <a:spLocks noGrp="1"/>
          </p:cNvSpPr>
          <p:nvPr>
            <p:ph type="title"/>
          </p:nvPr>
        </p:nvSpPr>
        <p:spPr/>
        <p:txBody>
          <a:bodyPr wrap="square" anchor="ctr"/>
          <a:p>
            <a:pPr eaLnBrk="1" hangingPunct="1"/>
            <a:r>
              <a:rPr lang="zh-CN" altLang="en-US" dirty="0">
                <a:sym typeface="+mn-ea"/>
              </a:rPr>
              <a:t>聚集函数</a:t>
            </a:r>
            <a:r>
              <a:rPr lang="en-US" altLang="zh-CN" dirty="0">
                <a:sym typeface="+mn-ea"/>
              </a:rPr>
              <a:t> 6</a:t>
            </a:r>
            <a:endParaRPr lang="zh-CN" altLang="en-US" dirty="0"/>
          </a:p>
        </p:txBody>
      </p:sp>
      <p:sp>
        <p:nvSpPr>
          <p:cNvPr id="102404" name="Rectangle 3"/>
          <p:cNvSpPr>
            <a:spLocks noGrp="1"/>
          </p:cNvSpPr>
          <p:nvPr>
            <p:ph idx="1"/>
          </p:nvPr>
        </p:nvSpPr>
        <p:spPr>
          <a:xfrm>
            <a:off x="424180" y="687070"/>
            <a:ext cx="11343005" cy="2068195"/>
          </a:xfrm>
        </p:spPr>
        <p:txBody>
          <a:bodyPr wrap="square" anchor="t">
            <a:noAutofit/>
          </a:bodyPr>
          <a:p>
            <a:pPr eaLnBrk="1" hangingPunct="1"/>
            <a:r>
              <a:rPr lang="zh-CN" altLang="en-US" sz="2800" dirty="0"/>
              <a:t>可以在同一条</a:t>
            </a:r>
            <a:r>
              <a:rPr lang="en-US" altLang="x-none" sz="2800" dirty="0"/>
              <a:t>SQL</a:t>
            </a:r>
            <a:r>
              <a:rPr lang="zh-CN" altLang="en-US" sz="2800" dirty="0"/>
              <a:t>语句中同时执行多</a:t>
            </a:r>
            <a:r>
              <a:rPr lang="zh-CN" altLang="en-US" sz="2800" dirty="0"/>
              <a:t>种统计计算。</a:t>
            </a:r>
            <a:endParaRPr lang="zh-CN" altLang="en-US" sz="2800" dirty="0"/>
          </a:p>
          <a:p>
            <a:pPr>
              <a:lnSpc>
                <a:spcPct val="100000"/>
              </a:lnSpc>
              <a:spcBef>
                <a:spcPts val="5000"/>
              </a:spcBef>
            </a:pPr>
            <a:r>
              <a:rPr lang="zh-CN" altLang="en-US" sz="2800" dirty="0"/>
              <a:t>例如：</a:t>
            </a:r>
            <a:r>
              <a:rPr lang="zh-CN" altLang="en-US" sz="2800" dirty="0">
                <a:sym typeface="+mn-ea"/>
              </a:rPr>
              <a:t>查询学生</a:t>
            </a:r>
            <a:r>
              <a:rPr lang="en-US" altLang="zh-CN" sz="2800" dirty="0">
                <a:sym typeface="+mn-ea"/>
              </a:rPr>
              <a:t>201215012</a:t>
            </a:r>
            <a:r>
              <a:rPr lang="zh-CN" altLang="en-US" sz="2800" dirty="0">
                <a:sym typeface="+mn-ea"/>
              </a:rPr>
              <a:t>选修通过</a:t>
            </a:r>
            <a:r>
              <a:rPr lang="zh-CN" altLang="en-US" sz="2800" dirty="0">
                <a:sym typeface="+mn-ea"/>
              </a:rPr>
              <a:t>的课程的总学分数、选修课程的门数，平均成绩、最高成绩以及最低成绩。</a:t>
            </a:r>
            <a:endParaRPr lang="zh-CN" altLang="en-US" sz="2800" dirty="0"/>
          </a:p>
        </p:txBody>
      </p:sp>
      <p:sp>
        <p:nvSpPr>
          <p:cNvPr id="100358" name="Rectangle 4"/>
          <p:cNvSpPr/>
          <p:nvPr/>
        </p:nvSpPr>
        <p:spPr>
          <a:xfrm>
            <a:off x="941705" y="2957830"/>
            <a:ext cx="10314305" cy="3125470"/>
          </a:xfrm>
          <a:prstGeom prst="rect">
            <a:avLst/>
          </a:prstGeom>
          <a:solidFill>
            <a:schemeClr val="accent3">
              <a:lumMod val="20000"/>
              <a:lumOff val="80000"/>
              <a:alpha val="50000"/>
            </a:schemeClr>
          </a:solidFill>
          <a:ln w="9525">
            <a:noFill/>
          </a:ln>
        </p:spPr>
        <p:txBody>
          <a:bodyPr anchor="t">
            <a:noAutofit/>
          </a:bodyPr>
          <a:p>
            <a:pPr marL="228600" lvl="0" indent="457200" algn="l" eaLnBrk="1" hangingPunct="1">
              <a:lnSpc>
                <a:spcPct val="100000"/>
              </a:lnSpc>
              <a:spcBef>
                <a:spcPts val="500"/>
              </a:spcBef>
              <a:spcAft>
                <a:spcPts val="0"/>
              </a:spcAft>
              <a:buClr>
                <a:srgbClr val="FF0066"/>
              </a:buClr>
              <a:buFont typeface="Wingdings" panose="05000000000000000000" pitchFamily="2" charset="2"/>
              <a:buNone/>
            </a:pPr>
            <a:r>
              <a:rPr lang="en-US" altLang="x-none" sz="2800" b="1" dirty="0">
                <a:solidFill>
                  <a:srgbClr val="0000FF"/>
                </a:solidFill>
                <a:latin typeface="Calibri" panose="020F0502020204030204" charset="0"/>
                <a:ea typeface="宋体" pitchFamily="2" charset="-122"/>
                <a:cs typeface="Calibri" panose="020F0502020204030204" charset="0"/>
              </a:rPr>
              <a:t>SELECT    </a:t>
            </a:r>
            <a:r>
              <a:rPr lang="en-US" altLang="zh-CN" sz="2800" b="1" dirty="0">
                <a:solidFill>
                  <a:srgbClr val="0000FF"/>
                </a:solidFill>
                <a:latin typeface="Calibri" panose="020F0502020204030204" charset="0"/>
                <a:cs typeface="Calibri" panose="020F0502020204030204" charset="0"/>
                <a:sym typeface="+mn-ea"/>
              </a:rPr>
              <a:t>SUM</a:t>
            </a:r>
            <a:r>
              <a:rPr lang="zh-CN" altLang="en-US" sz="2800" b="1" dirty="0">
                <a:solidFill>
                  <a:srgbClr val="0000FF"/>
                </a:solidFill>
                <a:latin typeface="Calibri" panose="020F0502020204030204" charset="0"/>
                <a:cs typeface="Calibri" panose="020F0502020204030204" charset="0"/>
                <a:sym typeface="+mn-ea"/>
              </a:rPr>
              <a:t>(</a:t>
            </a:r>
            <a:r>
              <a:rPr lang="en-US" altLang="zh-CN" sz="2800" b="1" dirty="0" err="1">
                <a:solidFill>
                  <a:srgbClr val="0000FF"/>
                </a:solidFill>
                <a:latin typeface="Calibri" panose="020F0502020204030204" charset="0"/>
                <a:cs typeface="Calibri" panose="020F0502020204030204" charset="0"/>
                <a:sym typeface="+mn-ea"/>
              </a:rPr>
              <a:t>Ccredit</a:t>
            </a:r>
            <a:r>
              <a:rPr lang="zh-CN" altLang="en-US" sz="2800" b="1" dirty="0">
                <a:solidFill>
                  <a:srgbClr val="0000FF"/>
                </a:solidFill>
                <a:latin typeface="Calibri" panose="020F0502020204030204" charset="0"/>
                <a:cs typeface="Calibri" panose="020F0502020204030204" charset="0"/>
                <a:sym typeface="+mn-ea"/>
              </a:rPr>
              <a:t>)</a:t>
            </a:r>
            <a:r>
              <a:rPr lang="en-US" altLang="zh-CN" sz="2800" b="1" dirty="0">
                <a:solidFill>
                  <a:srgbClr val="0000FF"/>
                </a:solidFill>
                <a:latin typeface="Calibri" panose="020F0502020204030204" charset="0"/>
                <a:cs typeface="Calibri" panose="020F0502020204030204" charset="0"/>
                <a:sym typeface="+mn-ea"/>
              </a:rPr>
              <a:t>, </a:t>
            </a:r>
            <a:r>
              <a:rPr lang="en-US" altLang="x-none" sz="2800" b="1" dirty="0">
                <a:solidFill>
                  <a:srgbClr val="0000FF"/>
                </a:solidFill>
                <a:latin typeface="Calibri" panose="020F0502020204030204" charset="0"/>
                <a:ea typeface="宋体" pitchFamily="2" charset="-122"/>
                <a:cs typeface="Calibri" panose="020F0502020204030204" charset="0"/>
              </a:rPr>
              <a:t>COUNT(*), </a:t>
            </a:r>
            <a:endParaRPr lang="en-US" altLang="x-none" sz="2800" b="1" dirty="0">
              <a:solidFill>
                <a:srgbClr val="0000FF"/>
              </a:solidFill>
              <a:latin typeface="Calibri" panose="020F0502020204030204" charset="0"/>
              <a:ea typeface="宋体" pitchFamily="2" charset="-122"/>
              <a:cs typeface="Calibri" panose="020F0502020204030204" charset="0"/>
            </a:endParaRPr>
          </a:p>
          <a:p>
            <a:pPr marL="342900" indent="1701800">
              <a:lnSpc>
                <a:spcPct val="100000"/>
              </a:lnSpc>
              <a:spcBef>
                <a:spcPts val="500"/>
              </a:spcBef>
              <a:spcAft>
                <a:spcPts val="0"/>
              </a:spcAft>
              <a:buClr>
                <a:srgbClr val="FF0066"/>
              </a:buClr>
              <a:buFont typeface="Wingdings" panose="05000000000000000000" pitchFamily="2" charset="2"/>
              <a:buNone/>
            </a:pPr>
            <a:r>
              <a:rPr lang="en-US" altLang="x-none" sz="2800" b="1" dirty="0">
                <a:solidFill>
                  <a:srgbClr val="0000FF"/>
                </a:solidFill>
                <a:latin typeface="Calibri" panose="020F0502020204030204" charset="0"/>
                <a:ea typeface="宋体" pitchFamily="2" charset="-122"/>
                <a:cs typeface="Calibri" panose="020F0502020204030204" charset="0"/>
              </a:rPr>
              <a:t>AVG(</a:t>
            </a:r>
            <a:r>
              <a:rPr lang="en-US" altLang="zh-CN" sz="2800" b="1" dirty="0" err="1">
                <a:solidFill>
                  <a:srgbClr val="0000FF"/>
                </a:solidFill>
                <a:latin typeface="Calibri" panose="020F0502020204030204" charset="0"/>
                <a:cs typeface="Calibri" panose="020F0502020204030204" charset="0"/>
                <a:sym typeface="+mn-ea"/>
              </a:rPr>
              <a:t>grade</a:t>
            </a:r>
            <a:r>
              <a:rPr lang="en-US" altLang="x-none" sz="2800" b="1" dirty="0">
                <a:solidFill>
                  <a:srgbClr val="0000FF"/>
                </a:solidFill>
                <a:latin typeface="Calibri" panose="020F0502020204030204" charset="0"/>
                <a:ea typeface="宋体" pitchFamily="2" charset="-122"/>
                <a:cs typeface="Calibri" panose="020F0502020204030204" charset="0"/>
              </a:rPr>
              <a:t>), MAX(</a:t>
            </a:r>
            <a:r>
              <a:rPr lang="en-US" altLang="zh-CN" sz="2800" b="1" dirty="0" err="1">
                <a:solidFill>
                  <a:srgbClr val="0000FF"/>
                </a:solidFill>
                <a:latin typeface="Calibri" panose="020F0502020204030204" charset="0"/>
                <a:cs typeface="Calibri" panose="020F0502020204030204" charset="0"/>
                <a:sym typeface="+mn-ea"/>
              </a:rPr>
              <a:t>grade</a:t>
            </a:r>
            <a:r>
              <a:rPr lang="en-US" altLang="x-none" sz="2800" b="1" dirty="0">
                <a:solidFill>
                  <a:srgbClr val="0000FF"/>
                </a:solidFill>
                <a:latin typeface="Calibri" panose="020F0502020204030204" charset="0"/>
                <a:ea typeface="宋体" pitchFamily="2" charset="-122"/>
                <a:cs typeface="Calibri" panose="020F0502020204030204" charset="0"/>
              </a:rPr>
              <a:t>), MIN(</a:t>
            </a:r>
            <a:r>
              <a:rPr lang="en-US" altLang="zh-CN" sz="2800" b="1" dirty="0" err="1">
                <a:solidFill>
                  <a:srgbClr val="0000FF"/>
                </a:solidFill>
                <a:latin typeface="Calibri" panose="020F0502020204030204" charset="0"/>
                <a:cs typeface="Calibri" panose="020F0502020204030204" charset="0"/>
                <a:sym typeface="+mn-ea"/>
              </a:rPr>
              <a:t>grade</a:t>
            </a:r>
            <a:r>
              <a:rPr lang="en-US" altLang="x-none" sz="2800" b="1" dirty="0">
                <a:solidFill>
                  <a:srgbClr val="0000FF"/>
                </a:solidFill>
                <a:latin typeface="Calibri" panose="020F0502020204030204" charset="0"/>
                <a:ea typeface="宋体" pitchFamily="2" charset="-122"/>
                <a:cs typeface="Calibri" panose="020F0502020204030204" charset="0"/>
              </a:rPr>
              <a:t>)</a:t>
            </a:r>
            <a:endParaRPr lang="zh-CN" altLang="en-US" sz="2800" b="1" dirty="0">
              <a:solidFill>
                <a:srgbClr val="0000FF"/>
              </a:solidFill>
              <a:latin typeface="Calibri" panose="020F0502020204030204" charset="0"/>
              <a:cs typeface="Calibri" panose="020F0502020204030204" charset="0"/>
            </a:endParaRPr>
          </a:p>
          <a:p>
            <a:pPr marL="363855" lvl="1" indent="457200">
              <a:lnSpc>
                <a:spcPct val="100000"/>
              </a:lnSpc>
              <a:spcBef>
                <a:spcPts val="1000"/>
              </a:spcBef>
              <a:spcAft>
                <a:spcPts val="0"/>
              </a:spcAft>
              <a:buNone/>
            </a:pPr>
            <a:r>
              <a:rPr lang="en-US" altLang="zh-CN" sz="2800" b="1" dirty="0">
                <a:solidFill>
                  <a:srgbClr val="0000FF"/>
                </a:solidFill>
                <a:latin typeface="Calibri" panose="020F0502020204030204" charset="0"/>
                <a:cs typeface="Calibri" panose="020F0502020204030204" charset="0"/>
                <a:sym typeface="+mn-ea"/>
              </a:rPr>
              <a:t>FROM   </a:t>
            </a:r>
            <a:r>
              <a:rPr lang="en-US" altLang="zh-CN" sz="2800" b="1" dirty="0" err="1">
                <a:solidFill>
                  <a:srgbClr val="0000FF"/>
                </a:solidFill>
                <a:latin typeface="Calibri" panose="020F0502020204030204" charset="0"/>
                <a:cs typeface="Calibri" panose="020F0502020204030204" charset="0"/>
                <a:sym typeface="+mn-ea"/>
              </a:rPr>
              <a:t>SC,  Course  C</a:t>
            </a:r>
            <a:endParaRPr lang="en-US" altLang="zh-CN" sz="2800" b="1" dirty="0">
              <a:solidFill>
                <a:srgbClr val="0000FF"/>
              </a:solidFill>
              <a:latin typeface="Calibri" panose="020F0502020204030204" charset="0"/>
              <a:cs typeface="Calibri" panose="020F0502020204030204" charset="0"/>
            </a:endParaRPr>
          </a:p>
          <a:p>
            <a:pPr marL="363855" lvl="1" indent="457200">
              <a:lnSpc>
                <a:spcPct val="100000"/>
              </a:lnSpc>
              <a:spcBef>
                <a:spcPts val="1000"/>
              </a:spcBef>
              <a:spcAft>
                <a:spcPts val="0"/>
              </a:spcAft>
              <a:buNone/>
            </a:pPr>
            <a:r>
              <a:rPr lang="en-US" altLang="zh-CN" sz="2800" b="1" dirty="0">
                <a:solidFill>
                  <a:srgbClr val="0000FF"/>
                </a:solidFill>
                <a:latin typeface="Calibri" panose="020F0502020204030204" charset="0"/>
                <a:cs typeface="Calibri" panose="020F0502020204030204" charset="0"/>
                <a:sym typeface="+mn-ea"/>
              </a:rPr>
              <a:t>WHERE  SC.</a:t>
            </a:r>
            <a:r>
              <a:rPr lang="en-US" altLang="zh-CN" sz="2800" b="1" dirty="0" err="1">
                <a:solidFill>
                  <a:srgbClr val="0000FF"/>
                </a:solidFill>
                <a:latin typeface="Calibri" panose="020F0502020204030204" charset="0"/>
                <a:cs typeface="Calibri" panose="020F0502020204030204" charset="0"/>
                <a:sym typeface="+mn-ea"/>
              </a:rPr>
              <a:t>Sno </a:t>
            </a:r>
            <a:r>
              <a:rPr lang="en-US" altLang="zh-CN" sz="2800" b="1" dirty="0">
                <a:solidFill>
                  <a:srgbClr val="0000FF"/>
                </a:solidFill>
                <a:latin typeface="Calibri" panose="020F0502020204030204" charset="0"/>
                <a:cs typeface="Calibri" panose="020F0502020204030204" charset="0"/>
                <a:sym typeface="+mn-ea"/>
              </a:rPr>
              <a:t>= '201215012'   and</a:t>
            </a:r>
            <a:endParaRPr lang="en-US" altLang="zh-CN" sz="2800" b="1" dirty="0">
              <a:solidFill>
                <a:srgbClr val="0000FF"/>
              </a:solidFill>
              <a:latin typeface="Calibri" panose="020F0502020204030204" charset="0"/>
              <a:cs typeface="Calibri" panose="020F0502020204030204" charset="0"/>
              <a:sym typeface="+mn-ea"/>
            </a:endParaRPr>
          </a:p>
          <a:p>
            <a:pPr marL="363855" lvl="1" indent="457200">
              <a:lnSpc>
                <a:spcPct val="100000"/>
              </a:lnSpc>
              <a:spcBef>
                <a:spcPts val="500"/>
              </a:spcBef>
              <a:spcAft>
                <a:spcPts val="0"/>
              </a:spcAft>
              <a:buNone/>
            </a:pPr>
            <a:r>
              <a:rPr lang="en-US" altLang="zh-CN" sz="2800" b="1" dirty="0">
                <a:solidFill>
                  <a:srgbClr val="0000FF"/>
                </a:solidFill>
                <a:latin typeface="Calibri" panose="020F0502020204030204" charset="0"/>
                <a:cs typeface="Calibri" panose="020F0502020204030204" charset="0"/>
                <a:sym typeface="+mn-ea"/>
              </a:rPr>
              <a:t>             </a:t>
            </a:r>
            <a:r>
              <a:rPr lang="zh-CN" altLang="en-US" sz="2800" b="1" dirty="0">
                <a:solidFill>
                  <a:srgbClr val="0000FF"/>
                </a:solidFill>
                <a:latin typeface="Calibri" panose="020F0502020204030204" charset="0"/>
                <a:cs typeface="Calibri" panose="020F0502020204030204" charset="0"/>
                <a:sym typeface="+mn-ea"/>
              </a:rPr>
              <a:t>   </a:t>
            </a:r>
            <a:r>
              <a:rPr lang="en-US" altLang="zh-CN" sz="2800" b="1" dirty="0" err="1">
                <a:solidFill>
                  <a:srgbClr val="0000FF"/>
                </a:solidFill>
                <a:latin typeface="Calibri" panose="020F0502020204030204" charset="0"/>
                <a:cs typeface="Calibri" panose="020F0502020204030204" charset="0"/>
                <a:sym typeface="+mn-ea"/>
              </a:rPr>
              <a:t>SC.Cno </a:t>
            </a:r>
            <a:r>
              <a:rPr lang="en-US" altLang="zh-CN" sz="2800" b="1" dirty="0">
                <a:solidFill>
                  <a:srgbClr val="0000FF"/>
                </a:solidFill>
                <a:latin typeface="Calibri" panose="020F0502020204030204" charset="0"/>
                <a:cs typeface="Calibri" panose="020F0502020204030204" charset="0"/>
                <a:sym typeface="+mn-ea"/>
              </a:rPr>
              <a:t>= </a:t>
            </a:r>
            <a:r>
              <a:rPr lang="en-US" altLang="zh-CN" sz="2800" b="1" dirty="0" err="1">
                <a:solidFill>
                  <a:srgbClr val="0000FF"/>
                </a:solidFill>
                <a:latin typeface="Calibri" panose="020F0502020204030204" charset="0"/>
                <a:cs typeface="Calibri" panose="020F0502020204030204" charset="0"/>
                <a:sym typeface="+mn-ea"/>
              </a:rPr>
              <a:t>C.Cno  and  </a:t>
            </a:r>
            <a:endParaRPr lang="en-US" altLang="zh-CN" sz="2800" b="1" dirty="0" err="1">
              <a:solidFill>
                <a:srgbClr val="0000FF"/>
              </a:solidFill>
              <a:latin typeface="Calibri" panose="020F0502020204030204" charset="0"/>
              <a:cs typeface="Calibri" panose="020F0502020204030204" charset="0"/>
              <a:sym typeface="+mn-ea"/>
            </a:endParaRPr>
          </a:p>
          <a:p>
            <a:pPr marL="363855" lvl="1" indent="457200">
              <a:lnSpc>
                <a:spcPct val="100000"/>
              </a:lnSpc>
              <a:spcBef>
                <a:spcPts val="500"/>
              </a:spcBef>
              <a:spcAft>
                <a:spcPts val="0"/>
              </a:spcAft>
              <a:buNone/>
            </a:pPr>
            <a:r>
              <a:rPr lang="en-US" altLang="zh-CN" sz="2800" b="1" dirty="0" err="1">
                <a:solidFill>
                  <a:srgbClr val="0000FF"/>
                </a:solidFill>
                <a:latin typeface="Calibri" panose="020F0502020204030204" charset="0"/>
                <a:cs typeface="Calibri" panose="020F0502020204030204" charset="0"/>
                <a:sym typeface="+mn-ea"/>
              </a:rPr>
              <a:t>                SC.grade &gt;= 60 </a:t>
            </a:r>
            <a:r>
              <a:rPr lang="en-US" altLang="zh-CN" sz="2800" b="1" dirty="0">
                <a:solidFill>
                  <a:srgbClr val="0000FF"/>
                </a:solidFill>
                <a:latin typeface="Calibri" panose="020F0502020204030204" charset="0"/>
                <a:cs typeface="Calibri" panose="020F0502020204030204" charset="0"/>
                <a:sym typeface="+mn-ea"/>
              </a:rPr>
              <a:t>;</a:t>
            </a:r>
            <a:endParaRPr lang="en-US" altLang="zh-CN" sz="2800" b="1" baseline="30000" dirty="0">
              <a:solidFill>
                <a:srgbClr val="0000FF"/>
              </a:solidFill>
              <a:latin typeface="Calibri" panose="020F0502020204030204" charset="0"/>
              <a:ea typeface="宋体" pitchFamily="2" charset="-122"/>
              <a:cs typeface="Calibri" panose="020F0502020204030204" charset="0"/>
              <a:sym typeface="+mn-ea"/>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358"/>
                                        </p:tgtEl>
                                        <p:attrNameLst>
                                          <p:attrName>style.visibility</p:attrName>
                                        </p:attrNameLst>
                                      </p:cBhvr>
                                      <p:to>
                                        <p:strVal val="visible"/>
                                      </p:to>
                                    </p:set>
                                    <p:anim calcmode="lin" valueType="num">
                                      <p:cBhvr additive="base">
                                        <p:cTn id="7" dur="500" fill="hold"/>
                                        <p:tgtEl>
                                          <p:spTgt spid="100358"/>
                                        </p:tgtEl>
                                        <p:attrNameLst>
                                          <p:attrName>ppt_x</p:attrName>
                                        </p:attrNameLst>
                                      </p:cBhvr>
                                      <p:tavLst>
                                        <p:tav tm="0">
                                          <p:val>
                                            <p:strVal val="#ppt_x"/>
                                          </p:val>
                                        </p:tav>
                                        <p:tav tm="100000">
                                          <p:val>
                                            <p:strVal val="#ppt_x"/>
                                          </p:val>
                                        </p:tav>
                                      </p:tavLst>
                                    </p:anim>
                                    <p:anim calcmode="lin" valueType="num">
                                      <p:cBhvr additive="base">
                                        <p:cTn id="8" dur="500" fill="hold"/>
                                        <p:tgtEl>
                                          <p:spTgt spid="1003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8"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zh-CN" altLang="en-US" dirty="0"/>
              <a:t>对查询结果分组 </a:t>
            </a:r>
            <a:r>
              <a:rPr lang="en-US" altLang="zh-CN" dirty="0"/>
              <a:t>1</a:t>
            </a:r>
            <a:endParaRPr lang="zh-CN" altLang="en-US" dirty="0"/>
          </a:p>
        </p:txBody>
      </p:sp>
      <p:sp>
        <p:nvSpPr>
          <p:cNvPr id="98307" name="Rectangle 3"/>
          <p:cNvSpPr>
            <a:spLocks noGrp="1" noChangeArrowheads="1"/>
          </p:cNvSpPr>
          <p:nvPr>
            <p:ph idx="1"/>
          </p:nvPr>
        </p:nvSpPr>
        <p:spPr/>
        <p:txBody>
          <a:bodyPr/>
          <a:lstStyle/>
          <a:p>
            <a:pPr>
              <a:lnSpc>
                <a:spcPct val="110000"/>
              </a:lnSpc>
              <a:spcBef>
                <a:spcPts val="0"/>
              </a:spcBef>
            </a:pPr>
            <a:r>
              <a:rPr lang="en-US" altLang="zh-CN" sz="2400" dirty="0">
                <a:highlight>
                  <a:srgbClr val="FFFF00"/>
                </a:highlight>
                <a:latin typeface="Arial" panose="020B0604020202090204" pitchFamily="34" charset="0"/>
                <a:cs typeface="Arial" panose="020B0604020202090204" pitchFamily="34" charset="0"/>
              </a:rPr>
              <a:t>GROUP BY</a:t>
            </a:r>
            <a:r>
              <a:rPr lang="zh-CN" altLang="en-US" sz="2400" dirty="0">
                <a:highlight>
                  <a:srgbClr val="FFFF00"/>
                </a:highlight>
                <a:latin typeface="Arial" panose="020B0604020202090204" pitchFamily="34" charset="0"/>
                <a:cs typeface="Arial" panose="020B0604020202090204" pitchFamily="34" charset="0"/>
              </a:rPr>
              <a:t>子句</a:t>
            </a:r>
            <a:r>
              <a:rPr lang="en-US" altLang="zh-CN" sz="2400" dirty="0">
                <a:highlight>
                  <a:srgbClr val="FFFF00"/>
                </a:highlight>
                <a:latin typeface="Arial" panose="020B0604020202090204" pitchFamily="34" charset="0"/>
                <a:cs typeface="Arial" panose="020B0604020202090204" pitchFamily="34" charset="0"/>
              </a:rPr>
              <a:t> </a:t>
            </a:r>
            <a:r>
              <a:rPr lang="zh-CN" altLang="en-US" sz="2400" dirty="0">
                <a:highlight>
                  <a:srgbClr val="FFFF00"/>
                </a:highlight>
                <a:latin typeface="Arial" panose="020B0604020202090204" pitchFamily="34" charset="0"/>
                <a:cs typeface="Arial" panose="020B0604020202090204" pitchFamily="34" charset="0"/>
              </a:rPr>
              <a:t>分组</a:t>
            </a:r>
            <a:r>
              <a:rPr lang="zh-CN" altLang="en-US" sz="2400" dirty="0">
                <a:latin typeface="Arial" panose="020B0604020202090204" pitchFamily="34" charset="0"/>
                <a:cs typeface="Arial" panose="020B0604020202090204" pitchFamily="34" charset="0"/>
              </a:rPr>
              <a:t>：</a:t>
            </a:r>
            <a:r>
              <a:rPr lang="en-US" altLang="x-none" sz="2400" dirty="0">
                <a:solidFill>
                  <a:srgbClr val="FF0000"/>
                </a:solidFill>
                <a:latin typeface="Arial" panose="020B0604020202090204" pitchFamily="34" charset="0"/>
                <a:cs typeface="Arial" panose="020B0604020202090204" pitchFamily="34" charset="0"/>
                <a:sym typeface="+mn-ea"/>
              </a:rPr>
              <a:t>GROUP BY  colname { , colname ... }</a:t>
            </a:r>
            <a:endParaRPr lang="zh-CN" altLang="en-US" sz="2400" dirty="0">
              <a:latin typeface="Arial" panose="020B0604020202090204" pitchFamily="34" charset="0"/>
              <a:cs typeface="Arial" panose="020B0604020202090204" pitchFamily="34" charset="0"/>
            </a:endParaRPr>
          </a:p>
          <a:p>
            <a:pPr lvl="1">
              <a:lnSpc>
                <a:spcPct val="110000"/>
              </a:lnSpc>
              <a:spcBef>
                <a:spcPts val="0"/>
              </a:spcBef>
            </a:pPr>
            <a:r>
              <a:rPr lang="zh-CN" altLang="en-US" sz="2400" dirty="0">
                <a:latin typeface="Arial" panose="020B0604020202090204" pitchFamily="34" charset="0"/>
                <a:cs typeface="Arial" panose="020B0604020202090204" pitchFamily="34" charset="0"/>
              </a:rPr>
              <a:t>细化聚集函数的作用对象</a:t>
            </a:r>
            <a:endParaRPr lang="zh-CN" altLang="en-US" sz="2400" dirty="0">
              <a:latin typeface="Arial" panose="020B0604020202090204" pitchFamily="34" charset="0"/>
              <a:cs typeface="Arial" panose="020B0604020202090204" pitchFamily="34" charset="0"/>
            </a:endParaRPr>
          </a:p>
          <a:p>
            <a:pPr lvl="2">
              <a:lnSpc>
                <a:spcPct val="110000"/>
              </a:lnSpc>
              <a:spcBef>
                <a:spcPts val="0"/>
              </a:spcBef>
            </a:pPr>
            <a:r>
              <a:rPr lang="zh-CN" altLang="en-US" sz="2400" dirty="0">
                <a:latin typeface="Arial" panose="020B0604020202090204" pitchFamily="34" charset="0"/>
                <a:cs typeface="Arial" panose="020B0604020202090204" pitchFamily="34" charset="0"/>
                <a:sym typeface="+mn-ea"/>
              </a:rPr>
              <a:t>按指定的一列或多列值分组，值相等的为一</a:t>
            </a:r>
            <a:r>
              <a:rPr lang="en-US" altLang="zh-CN" sz="2400" dirty="0">
                <a:latin typeface="Arial" panose="020B0604020202090204" pitchFamily="34" charset="0"/>
                <a:cs typeface="Arial" panose="020B0604020202090204" pitchFamily="34" charset="0"/>
                <a:sym typeface="+mn-ea"/>
              </a:rPr>
              <a:t>‘</a:t>
            </a:r>
            <a:r>
              <a:rPr lang="zh-CN" altLang="en-US" sz="2400" dirty="0">
                <a:latin typeface="Arial" panose="020B0604020202090204" pitchFamily="34" charset="0"/>
                <a:cs typeface="Arial" panose="020B0604020202090204" pitchFamily="34" charset="0"/>
                <a:sym typeface="+mn-ea"/>
              </a:rPr>
              <a:t>组</a:t>
            </a:r>
            <a:r>
              <a:rPr lang="en-US" altLang="zh-CN" sz="2400" dirty="0">
                <a:latin typeface="Arial" panose="020B0604020202090204" pitchFamily="34" charset="0"/>
                <a:cs typeface="Arial" panose="020B0604020202090204" pitchFamily="34" charset="0"/>
                <a:sym typeface="+mn-ea"/>
              </a:rPr>
              <a:t>’</a:t>
            </a:r>
            <a:endParaRPr lang="zh-CN" altLang="en-US" sz="2400" dirty="0">
              <a:latin typeface="Arial" panose="020B0604020202090204" pitchFamily="34" charset="0"/>
              <a:cs typeface="Arial" panose="020B0604020202090204" pitchFamily="34" charset="0"/>
            </a:endParaRPr>
          </a:p>
          <a:p>
            <a:pPr lvl="2">
              <a:lnSpc>
                <a:spcPct val="110000"/>
              </a:lnSpc>
              <a:spcBef>
                <a:spcPts val="0"/>
              </a:spcBef>
            </a:pPr>
            <a:r>
              <a:rPr lang="zh-CN" altLang="en-US" sz="2400" dirty="0">
                <a:latin typeface="Arial" panose="020B0604020202090204" pitchFamily="34" charset="0"/>
                <a:cs typeface="Arial" panose="020B0604020202090204" pitchFamily="34" charset="0"/>
              </a:rPr>
              <a:t>对查询结果分组后，聚集函数将分别作用于每个</a:t>
            </a:r>
            <a:r>
              <a:rPr lang="en-US" altLang="zh-CN" sz="2400" dirty="0">
                <a:latin typeface="Arial" panose="020B0604020202090204" pitchFamily="34" charset="0"/>
                <a:cs typeface="Arial" panose="020B0604020202090204" pitchFamily="34" charset="0"/>
              </a:rPr>
              <a:t>‘</a:t>
            </a:r>
            <a:r>
              <a:rPr lang="zh-CN" altLang="en-US" sz="2400" dirty="0">
                <a:latin typeface="Arial" panose="020B0604020202090204" pitchFamily="34" charset="0"/>
                <a:cs typeface="Arial" panose="020B0604020202090204" pitchFamily="34" charset="0"/>
              </a:rPr>
              <a:t>组</a:t>
            </a:r>
            <a:r>
              <a:rPr lang="en-US" altLang="zh-CN" sz="2400" dirty="0">
                <a:latin typeface="Arial" panose="020B0604020202090204" pitchFamily="34" charset="0"/>
                <a:cs typeface="Arial" panose="020B0604020202090204" pitchFamily="34" charset="0"/>
              </a:rPr>
              <a:t>’</a:t>
            </a:r>
            <a:r>
              <a:rPr lang="zh-CN" altLang="en-US" sz="2400" dirty="0">
                <a:latin typeface="Arial" panose="020B0604020202090204" pitchFamily="34" charset="0"/>
                <a:cs typeface="Arial" panose="020B0604020202090204" pitchFamily="34" charset="0"/>
              </a:rPr>
              <a:t>，</a:t>
            </a:r>
            <a:r>
              <a:rPr lang="zh-CN" altLang="en-US" sz="2400" dirty="0">
                <a:latin typeface="Arial" panose="020B0604020202090204" pitchFamily="34" charset="0"/>
                <a:cs typeface="Arial" panose="020B0604020202090204" pitchFamily="34" charset="0"/>
                <a:sym typeface="+mn-ea"/>
              </a:rPr>
              <a:t>在</a:t>
            </a:r>
            <a:r>
              <a:rPr lang="en-US" altLang="x-none" sz="2400" dirty="0">
                <a:latin typeface="Arial" panose="020B0604020202090204" pitchFamily="34" charset="0"/>
                <a:cs typeface="Arial" panose="020B0604020202090204" pitchFamily="34" charset="0"/>
                <a:sym typeface="+mn-ea"/>
              </a:rPr>
              <a:t>SELECT</a:t>
            </a:r>
            <a:r>
              <a:rPr lang="zh-CN" altLang="en-US" sz="2400" dirty="0">
                <a:latin typeface="Arial" panose="020B0604020202090204" pitchFamily="34" charset="0"/>
                <a:cs typeface="Arial" panose="020B0604020202090204" pitchFamily="34" charset="0"/>
                <a:sym typeface="+mn-ea"/>
              </a:rPr>
              <a:t>子句中对每一个</a:t>
            </a:r>
            <a:r>
              <a:rPr lang="en-US" altLang="zh-CN" sz="2400" dirty="0">
                <a:latin typeface="Arial" panose="020B0604020202090204" pitchFamily="34" charset="0"/>
                <a:cs typeface="Arial" panose="020B0604020202090204" pitchFamily="34" charset="0"/>
                <a:sym typeface="+mn-ea"/>
              </a:rPr>
              <a:t>‘</a:t>
            </a:r>
            <a:r>
              <a:rPr lang="zh-CN" altLang="en-US" sz="2400" dirty="0">
                <a:latin typeface="Arial" panose="020B0604020202090204" pitchFamily="34" charset="0"/>
                <a:cs typeface="Arial" panose="020B0604020202090204" pitchFamily="34" charset="0"/>
                <a:sym typeface="+mn-ea"/>
              </a:rPr>
              <a:t>组</a:t>
            </a:r>
            <a:r>
              <a:rPr lang="en-US" altLang="zh-CN" sz="2400" dirty="0">
                <a:latin typeface="Arial" panose="020B0604020202090204" pitchFamily="34" charset="0"/>
                <a:cs typeface="Arial" panose="020B0604020202090204" pitchFamily="34" charset="0"/>
                <a:sym typeface="+mn-ea"/>
              </a:rPr>
              <a:t>’</a:t>
            </a:r>
            <a:r>
              <a:rPr lang="zh-CN" altLang="en-US" sz="2400" dirty="0">
                <a:latin typeface="Arial" panose="020B0604020202090204" pitchFamily="34" charset="0"/>
                <a:cs typeface="Arial" panose="020B0604020202090204" pitchFamily="34" charset="0"/>
                <a:sym typeface="+mn-ea"/>
              </a:rPr>
              <a:t>分别进行统计计算，实现分类统计查询</a:t>
            </a:r>
            <a:endParaRPr lang="zh-CN" altLang="en-US" sz="2400" dirty="0">
              <a:latin typeface="Arial" panose="020B0604020202090204" pitchFamily="34" charset="0"/>
              <a:cs typeface="Arial" panose="020B0604020202090204" pitchFamily="34" charset="0"/>
            </a:endParaRPr>
          </a:p>
          <a:p>
            <a:pPr lvl="1">
              <a:lnSpc>
                <a:spcPct val="110000"/>
              </a:lnSpc>
              <a:spcBef>
                <a:spcPts val="0"/>
              </a:spcBef>
            </a:pPr>
            <a:r>
              <a:rPr lang="zh-CN" altLang="en-US" sz="2400" dirty="0">
                <a:latin typeface="Arial" panose="020B0604020202090204" pitchFamily="34" charset="0"/>
                <a:cs typeface="Arial" panose="020B0604020202090204" pitchFamily="34" charset="0"/>
                <a:sym typeface="+mn-ea"/>
              </a:rPr>
              <a:t>如果未对查询结果分组，聚集函数将作用于整个查询结果</a:t>
            </a:r>
            <a:endParaRPr lang="zh-CN" altLang="en-US" sz="2400" dirty="0">
              <a:latin typeface="Arial" panose="020B0604020202090204" pitchFamily="34" charset="0"/>
              <a:cs typeface="Arial" panose="020B0604020202090204" pitchFamily="34" charset="0"/>
            </a:endParaRPr>
          </a:p>
          <a:p>
            <a:pPr eaLnBrk="1" hangingPunct="1">
              <a:lnSpc>
                <a:spcPct val="110000"/>
              </a:lnSpc>
              <a:spcBef>
                <a:spcPts val="2000"/>
              </a:spcBef>
            </a:pPr>
            <a:r>
              <a:rPr lang="en-US" altLang="zh-CN" sz="2400" dirty="0">
                <a:highlight>
                  <a:srgbClr val="FFFF00"/>
                </a:highlight>
                <a:latin typeface="Arial" panose="020B0604020202090204" pitchFamily="34" charset="0"/>
                <a:cs typeface="Arial" panose="020B0604020202090204" pitchFamily="34" charset="0"/>
                <a:sym typeface="+mn-ea"/>
              </a:rPr>
              <a:t>HAVING</a:t>
            </a:r>
            <a:r>
              <a:rPr lang="zh-CN" altLang="en-US" sz="2400" dirty="0">
                <a:highlight>
                  <a:srgbClr val="FFFF00"/>
                </a:highlight>
                <a:latin typeface="Arial" panose="020B0604020202090204" pitchFamily="34" charset="0"/>
                <a:cs typeface="Arial" panose="020B0604020202090204" pitchFamily="34" charset="0"/>
                <a:sym typeface="+mn-ea"/>
              </a:rPr>
              <a:t>子句</a:t>
            </a:r>
            <a:r>
              <a:rPr lang="en-US" altLang="zh-CN" sz="2400" dirty="0">
                <a:highlight>
                  <a:srgbClr val="FFFF00"/>
                </a:highlight>
                <a:latin typeface="Arial" panose="020B0604020202090204" pitchFamily="34" charset="0"/>
                <a:cs typeface="Arial" panose="020B0604020202090204" pitchFamily="34" charset="0"/>
                <a:sym typeface="+mn-ea"/>
              </a:rPr>
              <a:t> </a:t>
            </a:r>
            <a:r>
              <a:rPr lang="zh-CN" altLang="en-US" sz="2400" dirty="0">
                <a:highlight>
                  <a:srgbClr val="FFFF00"/>
                </a:highlight>
                <a:latin typeface="Arial" panose="020B0604020202090204" pitchFamily="34" charset="0"/>
                <a:cs typeface="Arial" panose="020B0604020202090204" pitchFamily="34" charset="0"/>
                <a:sym typeface="+mn-ea"/>
              </a:rPr>
              <a:t>分组选择</a:t>
            </a:r>
            <a:r>
              <a:rPr lang="zh-CN" altLang="en-US" sz="2400" dirty="0">
                <a:latin typeface="Arial" panose="020B0604020202090204" pitchFamily="34" charset="0"/>
                <a:cs typeface="Arial" panose="020B0604020202090204" pitchFamily="34" charset="0"/>
                <a:sym typeface="+mn-ea"/>
              </a:rPr>
              <a:t>： </a:t>
            </a:r>
            <a:r>
              <a:rPr lang="en-US" altLang="x-none" sz="2400" dirty="0">
                <a:solidFill>
                  <a:srgbClr val="FF0000"/>
                </a:solidFill>
                <a:latin typeface="Arial" panose="020B0604020202090204" pitchFamily="34" charset="0"/>
                <a:cs typeface="Arial" panose="020B0604020202090204" pitchFamily="34" charset="0"/>
                <a:sym typeface="+mn-ea"/>
              </a:rPr>
              <a:t>HAVING  group_condition</a:t>
            </a:r>
            <a:endParaRPr lang="en-US" altLang="x-none" sz="2400" dirty="0">
              <a:solidFill>
                <a:srgbClr val="FF0000"/>
              </a:solidFill>
              <a:latin typeface="Arial" panose="020B0604020202090204" pitchFamily="34" charset="0"/>
              <a:cs typeface="Arial" panose="020B0604020202090204" pitchFamily="34" charset="0"/>
            </a:endParaRPr>
          </a:p>
          <a:p>
            <a:pPr lvl="1" eaLnBrk="1" hangingPunct="1">
              <a:lnSpc>
                <a:spcPct val="110000"/>
              </a:lnSpc>
              <a:spcBef>
                <a:spcPts val="0"/>
              </a:spcBef>
            </a:pPr>
            <a:r>
              <a:rPr lang="zh-CN" altLang="en-US" sz="2400" dirty="0">
                <a:latin typeface="Arial" panose="020B0604020202090204" pitchFamily="34" charset="0"/>
                <a:cs typeface="Arial" panose="020B0604020202090204" pitchFamily="34" charset="0"/>
                <a:sym typeface="+mn-ea"/>
              </a:rPr>
              <a:t>根据</a:t>
            </a:r>
            <a:r>
              <a:rPr lang="en-US" altLang="x-none" sz="2400" dirty="0">
                <a:latin typeface="Arial" panose="020B0604020202090204" pitchFamily="34" charset="0"/>
                <a:cs typeface="Arial" panose="020B0604020202090204" pitchFamily="34" charset="0"/>
                <a:sym typeface="+mn-ea"/>
              </a:rPr>
              <a:t>GROUP BY</a:t>
            </a:r>
            <a:r>
              <a:rPr lang="zh-CN" altLang="en-US" sz="2400" dirty="0">
                <a:latin typeface="Arial" panose="020B0604020202090204" pitchFamily="34" charset="0"/>
                <a:cs typeface="Arial" panose="020B0604020202090204" pitchFamily="34" charset="0"/>
                <a:sym typeface="+mn-ea"/>
              </a:rPr>
              <a:t>子句的分组结果，定义分组选择条件</a:t>
            </a:r>
            <a:endParaRPr lang="zh-CN" altLang="en-US" sz="2400" dirty="0">
              <a:latin typeface="Arial" panose="020B0604020202090204" pitchFamily="34" charset="0"/>
              <a:cs typeface="Arial" panose="020B0604020202090204" pitchFamily="34" charset="0"/>
            </a:endParaRPr>
          </a:p>
          <a:p>
            <a:pPr lvl="2" eaLnBrk="1" hangingPunct="1">
              <a:lnSpc>
                <a:spcPct val="110000"/>
              </a:lnSpc>
              <a:spcBef>
                <a:spcPts val="0"/>
              </a:spcBef>
            </a:pPr>
            <a:r>
              <a:rPr lang="zh-CN" altLang="en-US" sz="2400" dirty="0">
                <a:latin typeface="Arial" panose="020B0604020202090204" pitchFamily="34" charset="0"/>
                <a:cs typeface="Arial" panose="020B0604020202090204" pitchFamily="34" charset="0"/>
                <a:sym typeface="+mn-ea"/>
              </a:rPr>
              <a:t>在</a:t>
            </a:r>
            <a:r>
              <a:rPr lang="en-US" altLang="x-none" sz="2400" dirty="0">
                <a:latin typeface="Arial" panose="020B0604020202090204" pitchFamily="34" charset="0"/>
                <a:cs typeface="Arial" panose="020B0604020202090204" pitchFamily="34" charset="0"/>
                <a:sym typeface="+mn-ea"/>
              </a:rPr>
              <a:t>HAVING</a:t>
            </a:r>
            <a:r>
              <a:rPr lang="zh-CN" altLang="en-US" sz="2400" dirty="0">
                <a:latin typeface="Arial" panose="020B0604020202090204" pitchFamily="34" charset="0"/>
                <a:cs typeface="Arial" panose="020B0604020202090204" pitchFamily="34" charset="0"/>
                <a:sym typeface="+mn-ea"/>
              </a:rPr>
              <a:t>子句中给出的查询条件是定义在分组后的</a:t>
            </a:r>
            <a:r>
              <a:rPr lang="en-US" altLang="zh-CN" sz="2400" dirty="0">
                <a:latin typeface="Arial" panose="020B0604020202090204" pitchFamily="34" charset="0"/>
                <a:cs typeface="Arial" panose="020B0604020202090204" pitchFamily="34" charset="0"/>
                <a:sym typeface="+mn-ea"/>
              </a:rPr>
              <a:t>‘</a:t>
            </a:r>
            <a:r>
              <a:rPr lang="zh-CN" altLang="en-US" sz="2400" dirty="0">
                <a:latin typeface="Arial" panose="020B0604020202090204" pitchFamily="34" charset="0"/>
                <a:cs typeface="Arial" panose="020B0604020202090204" pitchFamily="34" charset="0"/>
                <a:sym typeface="+mn-ea"/>
              </a:rPr>
              <a:t>组</a:t>
            </a:r>
            <a:r>
              <a:rPr lang="en-US" altLang="zh-CN" sz="2400" dirty="0">
                <a:latin typeface="Arial" panose="020B0604020202090204" pitchFamily="34" charset="0"/>
                <a:cs typeface="Arial" panose="020B0604020202090204" pitchFamily="34" charset="0"/>
                <a:sym typeface="+mn-ea"/>
              </a:rPr>
              <a:t>’</a:t>
            </a:r>
            <a:r>
              <a:rPr lang="zh-CN" altLang="en-US" sz="2400" dirty="0">
                <a:latin typeface="Arial" panose="020B0604020202090204" pitchFamily="34" charset="0"/>
                <a:cs typeface="Arial" panose="020B0604020202090204" pitchFamily="34" charset="0"/>
                <a:sym typeface="+mn-ea"/>
              </a:rPr>
              <a:t>（元组集合）上的，通常是根据某种统计计算的结果来定义</a:t>
            </a:r>
            <a:r>
              <a:rPr lang="en-US" altLang="zh-CN" sz="2400" dirty="0">
                <a:latin typeface="Arial" panose="020B0604020202090204" pitchFamily="34" charset="0"/>
                <a:cs typeface="Arial" panose="020B0604020202090204" pitchFamily="34" charset="0"/>
                <a:sym typeface="+mn-ea"/>
              </a:rPr>
              <a:t>‘</a:t>
            </a:r>
            <a:r>
              <a:rPr lang="zh-CN" altLang="en-US" sz="2400" dirty="0">
                <a:latin typeface="Arial" panose="020B0604020202090204" pitchFamily="34" charset="0"/>
                <a:cs typeface="Arial" panose="020B0604020202090204" pitchFamily="34" charset="0"/>
                <a:sym typeface="+mn-ea"/>
              </a:rPr>
              <a:t>组</a:t>
            </a:r>
            <a:r>
              <a:rPr lang="en-US" altLang="zh-CN" sz="2400" dirty="0">
                <a:latin typeface="Arial" panose="020B0604020202090204" pitchFamily="34" charset="0"/>
                <a:cs typeface="Arial" panose="020B0604020202090204" pitchFamily="34" charset="0"/>
                <a:sym typeface="+mn-ea"/>
              </a:rPr>
              <a:t>’</a:t>
            </a:r>
            <a:r>
              <a:rPr lang="zh-CN" altLang="en-US" sz="2400" dirty="0">
                <a:latin typeface="Arial" panose="020B0604020202090204" pitchFamily="34" charset="0"/>
                <a:cs typeface="Arial" panose="020B0604020202090204" pitchFamily="34" charset="0"/>
                <a:sym typeface="+mn-ea"/>
              </a:rPr>
              <a:t>的选择条件</a:t>
            </a:r>
            <a:endParaRPr lang="zh-CN" altLang="en-US" sz="2400" dirty="0">
              <a:latin typeface="Arial" panose="020B0604020202090204" pitchFamily="34" charset="0"/>
              <a:cs typeface="Arial" panose="020B0604020202090204" pitchFamily="34" charset="0"/>
            </a:endParaRPr>
          </a:p>
          <a:p>
            <a:pPr lvl="2" eaLnBrk="1" hangingPunct="1">
              <a:lnSpc>
                <a:spcPct val="110000"/>
              </a:lnSpc>
              <a:spcBef>
                <a:spcPts val="0"/>
              </a:spcBef>
            </a:pPr>
            <a:r>
              <a:rPr lang="zh-CN" altLang="en-US" sz="2400" dirty="0">
                <a:latin typeface="Arial" panose="020B0604020202090204" pitchFamily="34" charset="0"/>
                <a:cs typeface="Arial" panose="020B0604020202090204" pitchFamily="34" charset="0"/>
                <a:sym typeface="+mn-ea"/>
              </a:rPr>
              <a:t>只有满足条件</a:t>
            </a:r>
            <a:r>
              <a:rPr lang="en-US" altLang="x-none" sz="2400" dirty="0">
                <a:latin typeface="Arial" panose="020B0604020202090204" pitchFamily="34" charset="0"/>
                <a:cs typeface="Arial" panose="020B0604020202090204" pitchFamily="34" charset="0"/>
                <a:sym typeface="+mn-ea"/>
              </a:rPr>
              <a:t>group_condition</a:t>
            </a:r>
            <a:r>
              <a:rPr lang="zh-CN" altLang="en-US" sz="2400" dirty="0">
                <a:latin typeface="Arial" panose="020B0604020202090204" pitchFamily="34" charset="0"/>
                <a:cs typeface="Arial" panose="020B0604020202090204" pitchFamily="34" charset="0"/>
                <a:sym typeface="+mn-ea"/>
              </a:rPr>
              <a:t>的</a:t>
            </a:r>
            <a:r>
              <a:rPr lang="en-US" altLang="zh-CN" sz="2400" dirty="0">
                <a:latin typeface="Arial" panose="020B0604020202090204" pitchFamily="34" charset="0"/>
                <a:cs typeface="Arial" panose="020B0604020202090204" pitchFamily="34" charset="0"/>
                <a:sym typeface="+mn-ea"/>
              </a:rPr>
              <a:t>‘</a:t>
            </a:r>
            <a:r>
              <a:rPr lang="zh-CN" altLang="en-US" sz="2400" dirty="0">
                <a:latin typeface="Arial" panose="020B0604020202090204" pitchFamily="34" charset="0"/>
                <a:cs typeface="Arial" panose="020B0604020202090204" pitchFamily="34" charset="0"/>
                <a:sym typeface="+mn-ea"/>
              </a:rPr>
              <a:t>组</a:t>
            </a:r>
            <a:r>
              <a:rPr lang="en-US" altLang="zh-CN" sz="2400" dirty="0">
                <a:latin typeface="Arial" panose="020B0604020202090204" pitchFamily="34" charset="0"/>
                <a:cs typeface="Arial" panose="020B0604020202090204" pitchFamily="34" charset="0"/>
                <a:sym typeface="+mn-ea"/>
              </a:rPr>
              <a:t>’</a:t>
            </a:r>
            <a:r>
              <a:rPr lang="zh-CN" altLang="en-US" sz="2400" dirty="0">
                <a:latin typeface="Arial" panose="020B0604020202090204" pitchFamily="34" charset="0"/>
                <a:cs typeface="Arial" panose="020B0604020202090204" pitchFamily="34" charset="0"/>
                <a:sym typeface="+mn-ea"/>
              </a:rPr>
              <a:t>才会被保留下来，用于生成最终的查询结果</a:t>
            </a:r>
            <a:endParaRPr lang="zh-CN" altLang="en-US" sz="2400" dirty="0">
              <a:latin typeface="Arial" panose="020B0604020202090204" pitchFamily="34" charset="0"/>
              <a:cs typeface="Arial" panose="020B0604020202090204" pitchFamily="34" charset="0"/>
            </a:endParaRPr>
          </a:p>
          <a:p>
            <a:pPr lvl="2">
              <a:lnSpc>
                <a:spcPct val="110000"/>
              </a:lnSpc>
              <a:spcBef>
                <a:spcPts val="1000"/>
              </a:spcBef>
            </a:pPr>
            <a:endParaRPr lang="zh-CN" altLang="en-US" sz="2400" dirty="0">
              <a:latin typeface="Arial" panose="020B0604020202090204" pitchFamily="34" charset="0"/>
              <a:cs typeface="Arial" panose="020B0604020202090204" pitchFamily="34" charset="0"/>
            </a:endParaRPr>
          </a:p>
        </p:txBody>
      </p:sp>
      <p:sp>
        <p:nvSpPr>
          <p:cNvPr id="5" name="Rectangle 3"/>
          <p:cNvSpPr>
            <a:spLocks noGrp="1" noChangeArrowheads="1"/>
          </p:cNvSpPr>
          <p:nvPr/>
        </p:nvSpPr>
        <p:spPr>
          <a:xfrm>
            <a:off x="424180" y="5991860"/>
            <a:ext cx="11343005" cy="521970"/>
          </a:xfrm>
          <a:prstGeom prst="rect">
            <a:avLst/>
          </a:prstGeom>
          <a:solidFill>
            <a:schemeClr val="accent3">
              <a:lumMod val="20000"/>
              <a:lumOff val="80000"/>
            </a:schemeClr>
          </a:solid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fontAlgn="auto">
              <a:lnSpc>
                <a:spcPct val="100000"/>
              </a:lnSpc>
              <a:spcBef>
                <a:spcPts val="0"/>
              </a:spcBef>
            </a:pPr>
            <a:r>
              <a:rPr lang="zh-CN" altLang="en-US" sz="2800" dirty="0">
                <a:solidFill>
                  <a:srgbClr val="C00000"/>
                </a:solidFill>
              </a:rPr>
              <a:t>聚集函数的使用：</a:t>
            </a:r>
            <a:r>
              <a:rPr lang="zh-CN" altLang="en-US" sz="2800" dirty="0">
                <a:solidFill>
                  <a:srgbClr val="1F2DA8"/>
                </a:solidFill>
              </a:rPr>
              <a:t>只能用在</a:t>
            </a:r>
            <a:r>
              <a:rPr lang="en-US" altLang="zh-CN" sz="2800" dirty="0">
                <a:solidFill>
                  <a:srgbClr val="C00000"/>
                </a:solidFill>
              </a:rPr>
              <a:t> SELECT</a:t>
            </a:r>
            <a:r>
              <a:rPr lang="zh-CN" altLang="en-US" sz="2800" dirty="0">
                <a:solidFill>
                  <a:srgbClr val="C00000"/>
                </a:solidFill>
              </a:rPr>
              <a:t>子句</a:t>
            </a:r>
            <a:r>
              <a:rPr lang="en-US" altLang="zh-CN" sz="2800" dirty="0">
                <a:solidFill>
                  <a:srgbClr val="1F2DA8"/>
                </a:solidFill>
              </a:rPr>
              <a:t> </a:t>
            </a:r>
            <a:r>
              <a:rPr lang="zh-CN" altLang="en-US" sz="2800" dirty="0">
                <a:solidFill>
                  <a:srgbClr val="1F2DA8"/>
                </a:solidFill>
              </a:rPr>
              <a:t>或</a:t>
            </a:r>
            <a:r>
              <a:rPr lang="en-US" altLang="zh-CN" sz="2800" dirty="0">
                <a:solidFill>
                  <a:srgbClr val="1F2DA8"/>
                </a:solidFill>
              </a:rPr>
              <a:t> </a:t>
            </a:r>
            <a:r>
              <a:rPr lang="en-US" altLang="zh-CN" sz="2800" dirty="0">
                <a:solidFill>
                  <a:srgbClr val="C00000"/>
                </a:solidFill>
              </a:rPr>
              <a:t>HAVING</a:t>
            </a:r>
            <a:r>
              <a:rPr lang="zh-CN" altLang="en-US" sz="2800" dirty="0">
                <a:solidFill>
                  <a:srgbClr val="C00000"/>
                </a:solidFill>
              </a:rPr>
              <a:t>子句</a:t>
            </a:r>
            <a:r>
              <a:rPr lang="en-US" altLang="zh-CN" sz="2800" dirty="0">
                <a:solidFill>
                  <a:srgbClr val="1F2DA8"/>
                </a:solidFill>
              </a:rPr>
              <a:t> </a:t>
            </a:r>
            <a:r>
              <a:rPr lang="zh-CN" altLang="en-US" sz="2800" dirty="0">
                <a:solidFill>
                  <a:srgbClr val="1F2DA8"/>
                </a:solidFill>
              </a:rPr>
              <a:t>中</a:t>
            </a:r>
            <a:endParaRPr lang="zh-CN" altLang="en-US" sz="2800"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8307">
                                            <p:txEl>
                                              <p:pRg st="5" end="5"/>
                                            </p:txEl>
                                          </p:spTgt>
                                        </p:tgtEl>
                                        <p:attrNameLst>
                                          <p:attrName>style.visibility</p:attrName>
                                        </p:attrNameLst>
                                      </p:cBhvr>
                                      <p:to>
                                        <p:strVal val="visible"/>
                                      </p:to>
                                    </p:set>
                                    <p:animEffect transition="in" filter="blinds(horizontal)">
                                      <p:cBhvr>
                                        <p:cTn id="7" dur="500"/>
                                        <p:tgtEl>
                                          <p:spTgt spid="98307">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8307">
                                            <p:txEl>
                                              <p:pRg st="6" end="6"/>
                                            </p:txEl>
                                          </p:spTgt>
                                        </p:tgtEl>
                                        <p:attrNameLst>
                                          <p:attrName>style.visibility</p:attrName>
                                        </p:attrNameLst>
                                      </p:cBhvr>
                                      <p:to>
                                        <p:strVal val="visible"/>
                                      </p:to>
                                    </p:set>
                                    <p:animEffect transition="in" filter="blinds(horizontal)">
                                      <p:cBhvr>
                                        <p:cTn id="10" dur="500"/>
                                        <p:tgtEl>
                                          <p:spTgt spid="98307">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8307">
                                            <p:txEl>
                                              <p:pRg st="7" end="7"/>
                                            </p:txEl>
                                          </p:spTgt>
                                        </p:tgtEl>
                                        <p:attrNameLst>
                                          <p:attrName>style.visibility</p:attrName>
                                        </p:attrNameLst>
                                      </p:cBhvr>
                                      <p:to>
                                        <p:strVal val="visible"/>
                                      </p:to>
                                    </p:set>
                                    <p:animEffect transition="in" filter="blinds(horizontal)">
                                      <p:cBhvr>
                                        <p:cTn id="13" dur="500"/>
                                        <p:tgtEl>
                                          <p:spTgt spid="98307">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8307">
                                            <p:txEl>
                                              <p:pRg st="8" end="8"/>
                                            </p:txEl>
                                          </p:spTgt>
                                        </p:tgtEl>
                                        <p:attrNameLst>
                                          <p:attrName>style.visibility</p:attrName>
                                        </p:attrNameLst>
                                      </p:cBhvr>
                                      <p:to>
                                        <p:strVal val="visible"/>
                                      </p:to>
                                    </p:set>
                                    <p:animEffect transition="in" filter="blinds(horizontal)">
                                      <p:cBhvr>
                                        <p:cTn id="16" dur="500"/>
                                        <p:tgtEl>
                                          <p:spTgt spid="98307">
                                            <p:txEl>
                                              <p:pRg st="8" end="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zh-CN" altLang="en-US" dirty="0"/>
              <a:t>对查询结果分组 </a:t>
            </a:r>
            <a:r>
              <a:rPr lang="en-US" altLang="zh-CN" dirty="0"/>
              <a:t>2</a:t>
            </a:r>
            <a:endParaRPr lang="zh-CN" altLang="en-US" dirty="0"/>
          </a:p>
        </p:txBody>
      </p:sp>
      <p:sp>
        <p:nvSpPr>
          <p:cNvPr id="99331" name="Rectangle 3"/>
          <p:cNvSpPr>
            <a:spLocks noGrp="1" noChangeArrowheads="1"/>
          </p:cNvSpPr>
          <p:nvPr>
            <p:ph idx="4294967295"/>
          </p:nvPr>
        </p:nvSpPr>
        <p:spPr>
          <a:xfrm>
            <a:off x="360000" y="691515"/>
            <a:ext cx="5530215" cy="3101340"/>
          </a:xfrm>
        </p:spPr>
        <p:txBody>
          <a:bodyPr>
            <a:noAutofit/>
          </a:bodyPr>
          <a:lstStyle/>
          <a:p>
            <a:pPr>
              <a:lnSpc>
                <a:spcPct val="100000"/>
              </a:lnSpc>
              <a:spcBef>
                <a:spcPct val="0"/>
              </a:spcBef>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例</a:t>
            </a:r>
            <a:r>
              <a:rPr lang="en-US" altLang="zh-CN" sz="2800" dirty="0">
                <a:latin typeface="Arial" panose="020B0604020202090204" pitchFamily="34" charset="0"/>
                <a:cs typeface="Arial" panose="020B0604020202090204" pitchFamily="34" charset="0"/>
              </a:rPr>
              <a:t>3.46]  </a:t>
            </a:r>
            <a:r>
              <a:rPr lang="zh-CN" altLang="en-US" sz="2800" dirty="0">
                <a:latin typeface="Arial" panose="020B0604020202090204" pitchFamily="34" charset="0"/>
                <a:cs typeface="Arial" panose="020B0604020202090204" pitchFamily="34" charset="0"/>
              </a:rPr>
              <a:t>求各个课程号及相应的选课人数。</a:t>
            </a:r>
            <a:endParaRPr lang="zh-CN" altLang="en-US" sz="2800" dirty="0">
              <a:latin typeface="Arial" panose="020B0604020202090204" pitchFamily="34" charset="0"/>
              <a:cs typeface="Arial" panose="020B0604020202090204" pitchFamily="34" charset="0"/>
            </a:endParaRPr>
          </a:p>
          <a:p>
            <a:pPr marL="457200" lvl="1" indent="0">
              <a:lnSpc>
                <a:spcPct val="100000"/>
              </a:lnSpc>
              <a:spcBef>
                <a:spcPts val="1000"/>
              </a:spcBef>
              <a:buNone/>
            </a:pPr>
            <a:r>
              <a:rPr lang="en-US" altLang="zh-CN" sz="2610" dirty="0">
                <a:solidFill>
                  <a:srgbClr val="FF0000"/>
                </a:solidFill>
                <a:latin typeface="Arial" panose="020B0604020202090204" pitchFamily="34" charset="0"/>
                <a:cs typeface="Arial" panose="020B0604020202090204" pitchFamily="34" charset="0"/>
              </a:rPr>
              <a:t>SELECT </a:t>
            </a:r>
            <a:r>
              <a:rPr lang="en-US" altLang="zh-CN" sz="2610" dirty="0" err="1">
                <a:solidFill>
                  <a:srgbClr val="FF0000"/>
                </a:solidFill>
                <a:latin typeface="Arial" panose="020B0604020202090204" pitchFamily="34" charset="0"/>
                <a:cs typeface="Arial" panose="020B0604020202090204" pitchFamily="34" charset="0"/>
              </a:rPr>
              <a:t>Cno</a:t>
            </a:r>
            <a:r>
              <a:rPr lang="zh-CN" altLang="en-US" sz="2610" dirty="0">
                <a:solidFill>
                  <a:srgbClr val="FF0000"/>
                </a:solidFill>
                <a:latin typeface="Arial" panose="020B0604020202090204" pitchFamily="34" charset="0"/>
                <a:cs typeface="Arial" panose="020B0604020202090204" pitchFamily="34" charset="0"/>
              </a:rPr>
              <a:t>，</a:t>
            </a:r>
            <a:r>
              <a:rPr lang="en-US" altLang="zh-CN" sz="2610" dirty="0">
                <a:solidFill>
                  <a:srgbClr val="FF0000"/>
                </a:solidFill>
                <a:latin typeface="Arial" panose="020B0604020202090204" pitchFamily="34" charset="0"/>
                <a:cs typeface="Arial" panose="020B0604020202090204" pitchFamily="34" charset="0"/>
              </a:rPr>
              <a:t>COUNT</a:t>
            </a:r>
            <a:r>
              <a:rPr lang="zh-CN" altLang="en-US" sz="2610" dirty="0">
                <a:solidFill>
                  <a:srgbClr val="FF0000"/>
                </a:solidFill>
                <a:latin typeface="Arial" panose="020B0604020202090204" pitchFamily="34" charset="0"/>
                <a:cs typeface="Arial" panose="020B0604020202090204" pitchFamily="34" charset="0"/>
              </a:rPr>
              <a:t>(</a:t>
            </a:r>
            <a:r>
              <a:rPr lang="en-US" altLang="zh-CN" sz="2610" dirty="0" err="1">
                <a:solidFill>
                  <a:srgbClr val="FF0000"/>
                </a:solidFill>
                <a:latin typeface="Arial" panose="020B0604020202090204" pitchFamily="34" charset="0"/>
                <a:cs typeface="Arial" panose="020B0604020202090204" pitchFamily="34" charset="0"/>
              </a:rPr>
              <a:t>Sno</a:t>
            </a:r>
            <a:r>
              <a:rPr lang="zh-CN" altLang="en-US" sz="2610" dirty="0">
                <a:solidFill>
                  <a:srgbClr val="FF0000"/>
                </a:solidFill>
                <a:latin typeface="Arial" panose="020B0604020202090204" pitchFamily="34" charset="0"/>
                <a:cs typeface="Arial" panose="020B0604020202090204" pitchFamily="34" charset="0"/>
              </a:rPr>
              <a:t>)</a:t>
            </a:r>
            <a:endParaRPr lang="zh-CN" altLang="en-US" sz="2610" dirty="0">
              <a:solidFill>
                <a:srgbClr val="FF0000"/>
              </a:solidFill>
              <a:latin typeface="Arial" panose="020B0604020202090204" pitchFamily="34" charset="0"/>
              <a:cs typeface="Arial" panose="020B0604020202090204" pitchFamily="34" charset="0"/>
            </a:endParaRPr>
          </a:p>
          <a:p>
            <a:pPr marL="457200" lvl="1" indent="0">
              <a:lnSpc>
                <a:spcPct val="100000"/>
              </a:lnSpc>
              <a:spcBef>
                <a:spcPct val="0"/>
              </a:spcBef>
              <a:buNone/>
            </a:pPr>
            <a:r>
              <a:rPr lang="en-US" altLang="zh-CN" sz="2610" dirty="0">
                <a:solidFill>
                  <a:srgbClr val="FF0000"/>
                </a:solidFill>
                <a:latin typeface="Arial" panose="020B0604020202090204" pitchFamily="34" charset="0"/>
                <a:cs typeface="Arial" panose="020B0604020202090204" pitchFamily="34" charset="0"/>
              </a:rPr>
              <a:t>FROM    SC</a:t>
            </a:r>
            <a:endParaRPr lang="en-US" altLang="zh-CN" sz="2610" dirty="0">
              <a:solidFill>
                <a:srgbClr val="FF0000"/>
              </a:solidFill>
              <a:latin typeface="Arial" panose="020B0604020202090204" pitchFamily="34" charset="0"/>
              <a:cs typeface="Arial" panose="020B0604020202090204" pitchFamily="34" charset="0"/>
            </a:endParaRPr>
          </a:p>
          <a:p>
            <a:pPr marL="457200" lvl="1" indent="0">
              <a:lnSpc>
                <a:spcPct val="100000"/>
              </a:lnSpc>
              <a:spcBef>
                <a:spcPct val="0"/>
              </a:spcBef>
              <a:buNone/>
            </a:pPr>
            <a:r>
              <a:rPr lang="en-US" altLang="zh-CN" sz="2610" dirty="0">
                <a:solidFill>
                  <a:srgbClr val="FF0000"/>
                </a:solidFill>
                <a:latin typeface="Arial" panose="020B0604020202090204" pitchFamily="34" charset="0"/>
                <a:cs typeface="Arial" panose="020B0604020202090204" pitchFamily="34" charset="0"/>
              </a:rPr>
              <a:t>GROUP BY </a:t>
            </a:r>
            <a:r>
              <a:rPr lang="en-US" altLang="zh-CN" sz="2610" dirty="0" err="1">
                <a:solidFill>
                  <a:srgbClr val="FF0000"/>
                </a:solidFill>
                <a:latin typeface="Arial" panose="020B0604020202090204" pitchFamily="34" charset="0"/>
                <a:cs typeface="Arial" panose="020B0604020202090204" pitchFamily="34" charset="0"/>
              </a:rPr>
              <a:t>Cno</a:t>
            </a:r>
            <a:r>
              <a:rPr lang="zh-CN" altLang="en-US" sz="2610" dirty="0">
                <a:solidFill>
                  <a:srgbClr val="FF0000"/>
                </a:solidFill>
                <a:latin typeface="Arial" panose="020B0604020202090204" pitchFamily="34" charset="0"/>
                <a:cs typeface="Arial" panose="020B0604020202090204" pitchFamily="34" charset="0"/>
              </a:rPr>
              <a:t>; </a:t>
            </a:r>
            <a:endParaRPr lang="zh-CN" altLang="en-US" sz="2610" dirty="0">
              <a:solidFill>
                <a:srgbClr val="FF0000"/>
              </a:solidFill>
              <a:latin typeface="Arial" panose="020B0604020202090204" pitchFamily="34" charset="0"/>
              <a:cs typeface="Arial" panose="020B0604020202090204" pitchFamily="34" charset="0"/>
            </a:endParaRPr>
          </a:p>
          <a:p>
            <a:pPr>
              <a:lnSpc>
                <a:spcPct val="100000"/>
              </a:lnSpc>
              <a:spcBef>
                <a:spcPts val="3000"/>
              </a:spcBef>
            </a:pPr>
            <a:r>
              <a:rPr lang="zh-CN" altLang="en-US" sz="2800" dirty="0">
                <a:latin typeface="Arial" panose="020B0604020202090204" pitchFamily="34" charset="0"/>
                <a:cs typeface="Arial" panose="020B0604020202090204" pitchFamily="34" charset="0"/>
              </a:rPr>
              <a:t>查询结果可能为：</a:t>
            </a:r>
            <a:endParaRPr lang="zh-CN" altLang="en-US" sz="2800" dirty="0">
              <a:latin typeface="Arial" panose="020B0604020202090204" pitchFamily="34" charset="0"/>
              <a:cs typeface="Arial" panose="020B0604020202090204" pitchFamily="34" charset="0"/>
            </a:endParaRPr>
          </a:p>
        </p:txBody>
      </p:sp>
      <p:sp>
        <p:nvSpPr>
          <p:cNvPr id="2" name="内容占位符 1"/>
          <p:cNvSpPr>
            <a:spLocks noGrp="1"/>
          </p:cNvSpPr>
          <p:nvPr>
            <p:ph idx="4294967295"/>
          </p:nvPr>
        </p:nvSpPr>
        <p:spPr>
          <a:xfrm>
            <a:off x="6156000" y="691515"/>
            <a:ext cx="5524500" cy="2584450"/>
          </a:xfrm>
        </p:spPr>
        <p:txBody>
          <a:bodyPr>
            <a:noAutofit/>
          </a:bodyPr>
          <a:lstStyle/>
          <a:p>
            <a:pPr>
              <a:lnSpc>
                <a:spcPct val="100000"/>
              </a:lnSpc>
              <a:spcBef>
                <a:spcPct val="0"/>
              </a:spcBef>
            </a:pPr>
            <a:r>
              <a:rPr lang="en-US" altLang="zh-CN" sz="2700" dirty="0">
                <a:latin typeface="Arial" panose="020B0604020202090204" pitchFamily="34" charset="0"/>
                <a:cs typeface="Arial" panose="020B0604020202090204" pitchFamily="34" charset="0"/>
              </a:rPr>
              <a:t>[</a:t>
            </a:r>
            <a:r>
              <a:rPr lang="zh-CN" altLang="en-US" sz="2700" dirty="0">
                <a:latin typeface="Arial" panose="020B0604020202090204" pitchFamily="34" charset="0"/>
                <a:cs typeface="Arial" panose="020B0604020202090204" pitchFamily="34" charset="0"/>
              </a:rPr>
              <a:t>例</a:t>
            </a:r>
            <a:r>
              <a:rPr lang="en-US" altLang="zh-CN" sz="2700" dirty="0">
                <a:latin typeface="Arial" panose="020B0604020202090204" pitchFamily="34" charset="0"/>
                <a:cs typeface="Arial" panose="020B0604020202090204" pitchFamily="34" charset="0"/>
              </a:rPr>
              <a:t>3.47]  </a:t>
            </a:r>
            <a:r>
              <a:rPr lang="zh-CN" altLang="en-US" sz="2700" dirty="0">
                <a:latin typeface="Arial" panose="020B0604020202090204" pitchFamily="34" charset="0"/>
                <a:cs typeface="Arial" panose="020B0604020202090204" pitchFamily="34" charset="0"/>
              </a:rPr>
              <a:t>查询选修了</a:t>
            </a:r>
            <a:r>
              <a:rPr lang="en-US" altLang="zh-CN" sz="2700" dirty="0">
                <a:latin typeface="Arial" panose="020B0604020202090204" pitchFamily="34" charset="0"/>
                <a:cs typeface="Arial" panose="020B0604020202090204" pitchFamily="34" charset="0"/>
              </a:rPr>
              <a:t>3</a:t>
            </a:r>
            <a:r>
              <a:rPr lang="zh-CN" altLang="en-US" sz="2700" dirty="0">
                <a:latin typeface="Arial" panose="020B0604020202090204" pitchFamily="34" charset="0"/>
                <a:cs typeface="Arial" panose="020B0604020202090204" pitchFamily="34" charset="0"/>
              </a:rPr>
              <a:t>门以上课程的学生学号。</a:t>
            </a:r>
            <a:endParaRPr lang="zh-CN" altLang="en-US" sz="2700" dirty="0">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700" dirty="0">
                <a:solidFill>
                  <a:srgbClr val="FF0000"/>
                </a:solidFill>
                <a:latin typeface="Arial" panose="020B0604020202090204" pitchFamily="34" charset="0"/>
                <a:cs typeface="Arial" panose="020B0604020202090204" pitchFamily="34" charset="0"/>
              </a:rPr>
              <a:t>SELECT </a:t>
            </a:r>
            <a:r>
              <a:rPr lang="en-US" altLang="zh-CN" sz="2700" dirty="0" err="1">
                <a:solidFill>
                  <a:srgbClr val="FF0000"/>
                </a:solidFill>
                <a:latin typeface="Arial" panose="020B0604020202090204" pitchFamily="34" charset="0"/>
                <a:cs typeface="Arial" panose="020B0604020202090204" pitchFamily="34" charset="0"/>
              </a:rPr>
              <a:t>Sno</a:t>
            </a:r>
            <a:endParaRPr lang="en-US" altLang="zh-CN" sz="2700" dirty="0">
              <a:solidFill>
                <a:srgbClr val="FF0000"/>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700" dirty="0">
                <a:solidFill>
                  <a:srgbClr val="FF0000"/>
                </a:solidFill>
                <a:latin typeface="Arial" panose="020B0604020202090204" pitchFamily="34" charset="0"/>
                <a:cs typeface="Arial" panose="020B0604020202090204" pitchFamily="34" charset="0"/>
              </a:rPr>
              <a:t>FROM  SC</a:t>
            </a:r>
            <a:endParaRPr lang="en-US" altLang="zh-CN" sz="2700" dirty="0">
              <a:solidFill>
                <a:srgbClr val="FF0000"/>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700" dirty="0">
                <a:solidFill>
                  <a:srgbClr val="FF0000"/>
                </a:solidFill>
                <a:latin typeface="Arial" panose="020B0604020202090204" pitchFamily="34" charset="0"/>
                <a:cs typeface="Arial" panose="020B0604020202090204" pitchFamily="34" charset="0"/>
              </a:rPr>
              <a:t>GROUP BY </a:t>
            </a:r>
            <a:r>
              <a:rPr lang="en-US" altLang="zh-CN" sz="2700" dirty="0" err="1">
                <a:solidFill>
                  <a:srgbClr val="FF0000"/>
                </a:solidFill>
                <a:latin typeface="Arial" panose="020B0604020202090204" pitchFamily="34" charset="0"/>
                <a:cs typeface="Arial" panose="020B0604020202090204" pitchFamily="34" charset="0"/>
              </a:rPr>
              <a:t>Sno</a:t>
            </a:r>
            <a:endParaRPr lang="en-US" altLang="zh-CN" sz="2700" dirty="0">
              <a:solidFill>
                <a:srgbClr val="FF0000"/>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700" dirty="0">
                <a:solidFill>
                  <a:srgbClr val="FF0000"/>
                </a:solidFill>
                <a:latin typeface="Arial" panose="020B0604020202090204" pitchFamily="34" charset="0"/>
                <a:cs typeface="Arial" panose="020B0604020202090204" pitchFamily="34" charset="0"/>
              </a:rPr>
              <a:t>HAVING  COUNT</a:t>
            </a:r>
            <a:r>
              <a:rPr lang="zh-CN" altLang="en-US" sz="2700" dirty="0">
                <a:solidFill>
                  <a:srgbClr val="FF0000"/>
                </a:solidFill>
                <a:latin typeface="Arial" panose="020B0604020202090204" pitchFamily="34" charset="0"/>
                <a:cs typeface="Arial" panose="020B0604020202090204" pitchFamily="34" charset="0"/>
              </a:rPr>
              <a:t>(</a:t>
            </a:r>
            <a:r>
              <a:rPr lang="en-US" altLang="zh-CN" sz="2700" dirty="0">
                <a:solidFill>
                  <a:srgbClr val="FF0000"/>
                </a:solidFill>
                <a:latin typeface="Arial" panose="020B0604020202090204" pitchFamily="34" charset="0"/>
                <a:cs typeface="Arial" panose="020B0604020202090204" pitchFamily="34" charset="0"/>
              </a:rPr>
              <a:t>*</a:t>
            </a:r>
            <a:r>
              <a:rPr lang="zh-CN" altLang="en-US" sz="2700" dirty="0">
                <a:solidFill>
                  <a:srgbClr val="FF0000"/>
                </a:solidFill>
                <a:latin typeface="Arial" panose="020B0604020202090204" pitchFamily="34" charset="0"/>
                <a:cs typeface="Arial" panose="020B0604020202090204" pitchFamily="34" charset="0"/>
              </a:rPr>
              <a:t>)</a:t>
            </a:r>
            <a:r>
              <a:rPr lang="en-US" altLang="zh-CN" sz="2700" dirty="0">
                <a:solidFill>
                  <a:srgbClr val="FF0000"/>
                </a:solidFill>
                <a:latin typeface="Arial" panose="020B0604020202090204" pitchFamily="34" charset="0"/>
                <a:cs typeface="Arial" panose="020B0604020202090204" pitchFamily="34" charset="0"/>
              </a:rPr>
              <a:t> &gt;3</a:t>
            </a:r>
            <a:r>
              <a:rPr lang="zh-CN" altLang="en-US" sz="2700" dirty="0">
                <a:solidFill>
                  <a:srgbClr val="FF0000"/>
                </a:solidFill>
                <a:latin typeface="Arial" panose="020B0604020202090204" pitchFamily="34" charset="0"/>
                <a:cs typeface="Arial" panose="020B0604020202090204" pitchFamily="34" charset="0"/>
              </a:rPr>
              <a:t>; </a:t>
            </a:r>
            <a:endParaRPr lang="zh-CN" altLang="en-US" sz="2700" dirty="0">
              <a:latin typeface="Arial" panose="020B0604020202090204" pitchFamily="34" charset="0"/>
              <a:cs typeface="Arial" panose="020B0604020202090204" pitchFamily="34" charset="0"/>
            </a:endParaRPr>
          </a:p>
        </p:txBody>
      </p:sp>
      <p:graphicFrame>
        <p:nvGraphicFramePr>
          <p:cNvPr id="3" name="表格 3"/>
          <p:cNvGraphicFramePr>
            <a:graphicFrameLocks noGrp="1"/>
          </p:cNvGraphicFramePr>
          <p:nvPr>
            <p:custDataLst>
              <p:tags r:id="rId1"/>
            </p:custDataLst>
          </p:nvPr>
        </p:nvGraphicFramePr>
        <p:xfrm>
          <a:off x="832485" y="3898900"/>
          <a:ext cx="4559300" cy="2560320"/>
        </p:xfrm>
        <a:graphic>
          <a:graphicData uri="http://schemas.openxmlformats.org/drawingml/2006/table">
            <a:tbl>
              <a:tblPr firstRow="1" bandRow="1">
                <a:tableStyleId>{5C22544A-7EE6-4342-B048-85BDC9FD1C3A}</a:tableStyleId>
              </a:tblPr>
              <a:tblGrid>
                <a:gridCol w="1610360"/>
                <a:gridCol w="2948940"/>
              </a:tblGrid>
              <a:tr h="426720">
                <a:tc>
                  <a:txBody>
                    <a:bodyPr/>
                    <a:lstStyle/>
                    <a:p>
                      <a:pPr algn="ctr"/>
                      <a:r>
                        <a:rPr lang="en-US" altLang="zh-CN" sz="2800" dirty="0" err="1">
                          <a:solidFill>
                            <a:srgbClr val="C00000"/>
                          </a:solidFill>
                        </a:rPr>
                        <a:t>Cno</a:t>
                      </a:r>
                      <a:endParaRPr lang="en-US" altLang="zh-CN" sz="2800" dirty="0" err="1">
                        <a:solidFill>
                          <a:srgbClr val="C00000"/>
                        </a:solidFill>
                      </a:endParaRPr>
                    </a:p>
                  </a:txBody>
                  <a:tcPr marT="0" marB="0" anchor="ctr">
                    <a:solidFill>
                      <a:schemeClr val="accent3">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solidFill>
                            <a:srgbClr val="C00000"/>
                          </a:solidFill>
                        </a:rPr>
                        <a:t>COUNT</a:t>
                      </a:r>
                      <a:r>
                        <a:rPr lang="zh-CN" altLang="en-US" sz="2800" dirty="0">
                          <a:solidFill>
                            <a:srgbClr val="C00000"/>
                          </a:solidFill>
                        </a:rPr>
                        <a:t>(</a:t>
                      </a:r>
                      <a:r>
                        <a:rPr lang="en-US" altLang="zh-CN" sz="2800" dirty="0" err="1">
                          <a:solidFill>
                            <a:srgbClr val="C00000"/>
                          </a:solidFill>
                        </a:rPr>
                        <a:t>Sno</a:t>
                      </a:r>
                      <a:r>
                        <a:rPr lang="zh-CN" altLang="en-US" sz="2800" dirty="0">
                          <a:solidFill>
                            <a:srgbClr val="C00000"/>
                          </a:solidFill>
                        </a:rPr>
                        <a:t>)</a:t>
                      </a:r>
                      <a:endParaRPr lang="zh-CN" altLang="en-US" sz="2800" dirty="0">
                        <a:solidFill>
                          <a:srgbClr val="C00000"/>
                        </a:solidFill>
                      </a:endParaRPr>
                    </a:p>
                  </a:txBody>
                  <a:tcPr marT="0" marB="0" anchor="ctr">
                    <a:solidFill>
                      <a:schemeClr val="accent3">
                        <a:lumMod val="20000"/>
                        <a:lumOff val="80000"/>
                        <a:alpha val="50000"/>
                      </a:schemeClr>
                    </a:solidFill>
                  </a:tcPr>
                </a:tc>
              </a:tr>
              <a:tr h="426720">
                <a:tc>
                  <a:txBody>
                    <a:bodyPr/>
                    <a:lstStyle/>
                    <a:p>
                      <a:pPr algn="ctr"/>
                      <a:r>
                        <a:rPr lang="en-US" altLang="zh-CN" sz="2800" dirty="0"/>
                        <a:t>1</a:t>
                      </a:r>
                      <a:endParaRPr lang="en-US" altLang="zh-CN" sz="2800" dirty="0"/>
                    </a:p>
                  </a:txBody>
                  <a:tcPr marT="0" marB="0" anchor="ctr"/>
                </a:tc>
                <a:tc>
                  <a:txBody>
                    <a:bodyPr/>
                    <a:lstStyle/>
                    <a:p>
                      <a:pPr algn="ctr"/>
                      <a:r>
                        <a:rPr lang="en-US" altLang="zh-CN" sz="2800" dirty="0"/>
                        <a:t>22</a:t>
                      </a:r>
                      <a:endParaRPr lang="en-US" altLang="zh-CN" sz="2800" dirty="0"/>
                    </a:p>
                  </a:txBody>
                  <a:tcPr marT="0" marB="0" anchor="ctr"/>
                </a:tc>
              </a:tr>
              <a:tr h="426720">
                <a:tc>
                  <a:txBody>
                    <a:bodyPr/>
                    <a:lstStyle/>
                    <a:p>
                      <a:pPr algn="ctr"/>
                      <a:r>
                        <a:rPr lang="en-US" altLang="zh-CN" sz="2800" dirty="0"/>
                        <a:t>2</a:t>
                      </a:r>
                      <a:endParaRPr lang="en-US" altLang="zh-CN" sz="2800" dirty="0"/>
                    </a:p>
                  </a:txBody>
                  <a:tcPr marT="0" marB="0" anchor="ctr"/>
                </a:tc>
                <a:tc>
                  <a:txBody>
                    <a:bodyPr/>
                    <a:lstStyle/>
                    <a:p>
                      <a:pPr algn="ctr"/>
                      <a:r>
                        <a:rPr lang="en-US" altLang="zh-CN" sz="2800" dirty="0"/>
                        <a:t>34</a:t>
                      </a:r>
                      <a:endParaRPr lang="en-US" altLang="zh-CN" sz="2800" dirty="0"/>
                    </a:p>
                  </a:txBody>
                  <a:tcPr marT="0" marB="0" anchor="ctr"/>
                </a:tc>
              </a:tr>
              <a:tr h="426720">
                <a:tc>
                  <a:txBody>
                    <a:bodyPr/>
                    <a:lstStyle/>
                    <a:p>
                      <a:pPr algn="ctr"/>
                      <a:r>
                        <a:rPr lang="en-US" altLang="zh-CN" sz="2800" dirty="0"/>
                        <a:t>3</a:t>
                      </a:r>
                      <a:endParaRPr lang="en-US" altLang="zh-CN" sz="2800" dirty="0"/>
                    </a:p>
                  </a:txBody>
                  <a:tcPr marT="0" marB="0" anchor="ctr"/>
                </a:tc>
                <a:tc>
                  <a:txBody>
                    <a:bodyPr/>
                    <a:lstStyle/>
                    <a:p>
                      <a:pPr algn="ctr"/>
                      <a:r>
                        <a:rPr lang="en-US" altLang="zh-CN" sz="2800" dirty="0"/>
                        <a:t>44</a:t>
                      </a:r>
                      <a:endParaRPr lang="en-US" altLang="zh-CN" sz="2800" dirty="0"/>
                    </a:p>
                  </a:txBody>
                  <a:tcPr marT="0" marB="0" anchor="ctr"/>
                </a:tc>
              </a:tr>
              <a:tr h="426720">
                <a:tc>
                  <a:txBody>
                    <a:bodyPr/>
                    <a:lstStyle/>
                    <a:p>
                      <a:pPr algn="ctr"/>
                      <a:r>
                        <a:rPr lang="en-US" altLang="zh-CN" sz="2800" dirty="0"/>
                        <a:t>4</a:t>
                      </a:r>
                      <a:endParaRPr lang="en-US" altLang="zh-CN" sz="2800" dirty="0"/>
                    </a:p>
                  </a:txBody>
                  <a:tcPr marT="0" marB="0" anchor="ctr"/>
                </a:tc>
                <a:tc>
                  <a:txBody>
                    <a:bodyPr/>
                    <a:lstStyle/>
                    <a:p>
                      <a:pPr algn="ctr"/>
                      <a:r>
                        <a:rPr lang="en-US" altLang="zh-CN" sz="2800" dirty="0"/>
                        <a:t>33</a:t>
                      </a:r>
                      <a:endParaRPr lang="en-US" altLang="zh-CN" sz="2800" dirty="0"/>
                    </a:p>
                  </a:txBody>
                  <a:tcPr marT="0" marB="0" anchor="ctr"/>
                </a:tc>
              </a:tr>
              <a:tr h="426720">
                <a:tc>
                  <a:txBody>
                    <a:bodyPr/>
                    <a:lstStyle/>
                    <a:p>
                      <a:pPr algn="ctr"/>
                      <a:r>
                        <a:rPr lang="en-US" altLang="zh-CN" sz="2800" dirty="0"/>
                        <a:t>5</a:t>
                      </a:r>
                      <a:endParaRPr lang="en-US" altLang="zh-CN" sz="2800" dirty="0"/>
                    </a:p>
                  </a:txBody>
                  <a:tcPr marT="0" marB="0" anchor="ctr"/>
                </a:tc>
                <a:tc>
                  <a:txBody>
                    <a:bodyPr/>
                    <a:lstStyle/>
                    <a:p>
                      <a:pPr algn="ctr"/>
                      <a:r>
                        <a:rPr lang="en-US" altLang="zh-CN" sz="2800" dirty="0"/>
                        <a:t>48</a:t>
                      </a:r>
                      <a:endParaRPr lang="en-US" altLang="zh-CN" sz="2800" dirty="0"/>
                    </a:p>
                  </a:txBody>
                  <a:tcPr marT="0" marB="0" anchor="ctr"/>
                </a:tc>
              </a:tr>
            </a:tbl>
          </a:graphicData>
        </a:graphic>
      </p:graphicFrame>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
        <p:nvSpPr>
          <p:cNvPr id="6" name="内容占位符 1"/>
          <p:cNvSpPr>
            <a:spLocks noGrp="1"/>
          </p:cNvSpPr>
          <p:nvPr/>
        </p:nvSpPr>
        <p:spPr>
          <a:xfrm>
            <a:off x="6156000" y="3609975"/>
            <a:ext cx="5524500" cy="2825115"/>
          </a:xfrm>
          <a:prstGeom prst="rect">
            <a:avLst/>
          </a:prstGeom>
          <a:solidFill>
            <a:schemeClr val="accent3">
              <a:lumMod val="20000"/>
              <a:lumOff val="80000"/>
              <a:alpha val="50000"/>
            </a:schemeClr>
          </a:solid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eaLnBrk="1" hangingPunct="1">
              <a:lnSpc>
                <a:spcPct val="100000"/>
              </a:lnSpc>
              <a:spcBef>
                <a:spcPts val="500"/>
              </a:spcBef>
            </a:pPr>
            <a:r>
              <a:rPr lang="zh-CN" altLang="en-US" sz="2700" dirty="0">
                <a:solidFill>
                  <a:srgbClr val="C00000"/>
                </a:solidFill>
                <a:latin typeface="Arial" panose="020B0604020202090204" pitchFamily="34" charset="0"/>
                <a:cs typeface="Arial" panose="020B0604020202090204" pitchFamily="34" charset="0"/>
              </a:rPr>
              <a:t>注意：</a:t>
            </a:r>
            <a:r>
              <a:rPr lang="zh-CN" altLang="en-US" sz="2700">
                <a:latin typeface="+mn-lt"/>
                <a:sym typeface="+mn-ea"/>
              </a:rPr>
              <a:t>在用</a:t>
            </a:r>
            <a:r>
              <a:rPr lang="en-US" altLang="zh-CN" sz="2700">
                <a:latin typeface="+mn-lt"/>
                <a:sym typeface="+mn-ea"/>
              </a:rPr>
              <a:t>group by</a:t>
            </a:r>
            <a:r>
              <a:rPr lang="zh-CN" altLang="en-US" sz="2700">
                <a:latin typeface="+mn-lt"/>
                <a:sym typeface="+mn-ea"/>
              </a:rPr>
              <a:t>对查询结果进行分组</a:t>
            </a:r>
            <a:r>
              <a:rPr lang="zh-CN" altLang="en-US" sz="2700">
                <a:latin typeface="+mn-lt"/>
                <a:sym typeface="+mn-ea"/>
              </a:rPr>
              <a:t>时，目标属性</a:t>
            </a:r>
            <a:endParaRPr lang="zh-CN" altLang="en-US" sz="2700">
              <a:latin typeface="+mn-lt"/>
              <a:sym typeface="+mn-ea"/>
            </a:endParaRPr>
          </a:p>
          <a:p>
            <a:pPr lvl="1" algn="just" eaLnBrk="1" hangingPunct="1">
              <a:lnSpc>
                <a:spcPct val="100000"/>
              </a:lnSpc>
              <a:spcBef>
                <a:spcPts val="500"/>
              </a:spcBef>
            </a:pPr>
            <a:r>
              <a:rPr lang="zh-CN" altLang="en-US" sz="2520">
                <a:latin typeface="+mn-lt"/>
                <a:sym typeface="+mn-ea"/>
              </a:rPr>
              <a:t>必须包含所有的分组属性</a:t>
            </a:r>
            <a:endParaRPr lang="zh-CN" altLang="en-US" sz="2520">
              <a:latin typeface="+mn-lt"/>
              <a:sym typeface="+mn-ea"/>
            </a:endParaRPr>
          </a:p>
          <a:p>
            <a:pPr lvl="1" algn="just" eaLnBrk="1" hangingPunct="1">
              <a:lnSpc>
                <a:spcPct val="100000"/>
              </a:lnSpc>
              <a:spcBef>
                <a:spcPts val="800"/>
              </a:spcBef>
            </a:pPr>
            <a:r>
              <a:rPr lang="zh-CN" altLang="en-US" sz="2700" dirty="0">
                <a:latin typeface="Arial" panose="020B0604020202090204" pitchFamily="34" charset="0"/>
                <a:cs typeface="Arial" panose="020B0604020202090204" pitchFamily="34" charset="0"/>
              </a:rPr>
              <a:t>可以有、也可以</a:t>
            </a:r>
            <a:r>
              <a:rPr lang="zh-CN" altLang="en-US" sz="2700" dirty="0">
                <a:latin typeface="Arial" panose="020B0604020202090204" pitchFamily="34" charset="0"/>
                <a:cs typeface="Arial" panose="020B0604020202090204" pitchFamily="34" charset="0"/>
              </a:rPr>
              <a:t>没有聚集</a:t>
            </a:r>
            <a:r>
              <a:rPr lang="zh-CN" altLang="en-US" sz="2700" dirty="0">
                <a:latin typeface="Arial" panose="020B0604020202090204" pitchFamily="34" charset="0"/>
                <a:cs typeface="Arial" panose="020B0604020202090204" pitchFamily="34" charset="0"/>
              </a:rPr>
              <a:t>函数</a:t>
            </a:r>
            <a:endParaRPr lang="zh-CN" altLang="en-US" sz="2700" dirty="0">
              <a:latin typeface="Arial" panose="020B0604020202090204" pitchFamily="34" charset="0"/>
              <a:cs typeface="Arial" panose="020B0604020202090204" pitchFamily="34" charset="0"/>
            </a:endParaRPr>
          </a:p>
          <a:p>
            <a:pPr lvl="1" algn="just" eaLnBrk="1" hangingPunct="1">
              <a:lnSpc>
                <a:spcPct val="100000"/>
              </a:lnSpc>
              <a:spcBef>
                <a:spcPts val="800"/>
              </a:spcBef>
            </a:pPr>
            <a:r>
              <a:rPr lang="zh-CN" altLang="en-US" sz="2700" dirty="0">
                <a:latin typeface="Arial" panose="020B0604020202090204" pitchFamily="34" charset="0"/>
                <a:cs typeface="Arial" panose="020B0604020202090204" pitchFamily="34" charset="0"/>
              </a:rPr>
              <a:t>除了上述两种目标属性外，不能再有其他的目标</a:t>
            </a:r>
            <a:r>
              <a:rPr lang="zh-CN" altLang="en-US" sz="2700" dirty="0">
                <a:latin typeface="Arial" panose="020B0604020202090204" pitchFamily="34" charset="0"/>
                <a:cs typeface="Arial" panose="020B0604020202090204" pitchFamily="34" charset="0"/>
              </a:rPr>
              <a:t>属性</a:t>
            </a:r>
            <a:endParaRPr lang="zh-CN" altLang="en-US" sz="2700" dirty="0">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9331">
                                            <p:txEl>
                                              <p:pRg st="1" end="1"/>
                                            </p:txEl>
                                          </p:spTgt>
                                        </p:tgtEl>
                                        <p:attrNameLst>
                                          <p:attrName>style.visibility</p:attrName>
                                        </p:attrNameLst>
                                      </p:cBhvr>
                                      <p:to>
                                        <p:strVal val="visible"/>
                                      </p:to>
                                    </p:set>
                                    <p:animEffect transition="in" filter="blinds(horizontal)">
                                      <p:cBhvr>
                                        <p:cTn id="7" dur="500"/>
                                        <p:tgtEl>
                                          <p:spTgt spid="9933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9331">
                                            <p:txEl>
                                              <p:pRg st="2" end="2"/>
                                            </p:txEl>
                                          </p:spTgt>
                                        </p:tgtEl>
                                        <p:attrNameLst>
                                          <p:attrName>style.visibility</p:attrName>
                                        </p:attrNameLst>
                                      </p:cBhvr>
                                      <p:to>
                                        <p:strVal val="visible"/>
                                      </p:to>
                                    </p:set>
                                    <p:animEffect transition="in" filter="blinds(horizontal)">
                                      <p:cBhvr>
                                        <p:cTn id="10" dur="500"/>
                                        <p:tgtEl>
                                          <p:spTgt spid="9933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9331">
                                            <p:txEl>
                                              <p:pRg st="3" end="3"/>
                                            </p:txEl>
                                          </p:spTgt>
                                        </p:tgtEl>
                                        <p:attrNameLst>
                                          <p:attrName>style.visibility</p:attrName>
                                        </p:attrNameLst>
                                      </p:cBhvr>
                                      <p:to>
                                        <p:strVal val="visible"/>
                                      </p:to>
                                    </p:set>
                                    <p:animEffect transition="in" filter="blinds(horizontal)">
                                      <p:cBhvr>
                                        <p:cTn id="13" dur="500"/>
                                        <p:tgtEl>
                                          <p:spTgt spid="9933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99331">
                                            <p:txEl>
                                              <p:pRg st="4" end="4"/>
                                            </p:txEl>
                                          </p:spTgt>
                                        </p:tgtEl>
                                        <p:attrNameLst>
                                          <p:attrName>style.visibility</p:attrName>
                                        </p:attrNameLst>
                                      </p:cBhvr>
                                      <p:to>
                                        <p:strVal val="visible"/>
                                      </p:to>
                                    </p:set>
                                    <p:animEffect transition="in" filter="blinds(horizontal)">
                                      <p:cBhvr>
                                        <p:cTn id="18" dur="500"/>
                                        <p:tgtEl>
                                          <p:spTgt spid="99331">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
                                            <p:txEl>
                                              <p:pRg st="0" end="0"/>
                                            </p:txEl>
                                          </p:spTgt>
                                        </p:tgtEl>
                                        <p:attrNameLst>
                                          <p:attrName>style.visibility</p:attrName>
                                        </p:attrNameLst>
                                      </p:cBhvr>
                                      <p:to>
                                        <p:strVal val="visible"/>
                                      </p:to>
                                    </p:set>
                                    <p:animEffect transition="in" filter="blinds(horizontal)">
                                      <p:cBhvr>
                                        <p:cTn id="26" dur="500"/>
                                        <p:tgtEl>
                                          <p:spTgt spid="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animEffect transition="in" filter="blinds(horizontal)">
                                      <p:cBhvr>
                                        <p:cTn id="31" dur="500"/>
                                        <p:tgtEl>
                                          <p:spTgt spid="2">
                                            <p:txEl>
                                              <p:pRg st="1" end="1"/>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
                                            <p:txEl>
                                              <p:pRg st="2" end="2"/>
                                            </p:txEl>
                                          </p:spTgt>
                                        </p:tgtEl>
                                        <p:attrNameLst>
                                          <p:attrName>style.visibility</p:attrName>
                                        </p:attrNameLst>
                                      </p:cBhvr>
                                      <p:to>
                                        <p:strVal val="visible"/>
                                      </p:to>
                                    </p:set>
                                    <p:animEffect transition="in" filter="blinds(horizontal)">
                                      <p:cBhvr>
                                        <p:cTn id="34" dur="500"/>
                                        <p:tgtEl>
                                          <p:spTgt spid="2">
                                            <p:txEl>
                                              <p:pRg st="2" end="2"/>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
                                            <p:txEl>
                                              <p:pRg st="3" end="3"/>
                                            </p:txEl>
                                          </p:spTgt>
                                        </p:tgtEl>
                                        <p:attrNameLst>
                                          <p:attrName>style.visibility</p:attrName>
                                        </p:attrNameLst>
                                      </p:cBhvr>
                                      <p:to>
                                        <p:strVal val="visible"/>
                                      </p:to>
                                    </p:set>
                                    <p:animEffect transition="in" filter="blinds(horizontal)">
                                      <p:cBhvr>
                                        <p:cTn id="37" dur="500"/>
                                        <p:tgtEl>
                                          <p:spTgt spid="2">
                                            <p:txEl>
                                              <p:pRg st="3" end="3"/>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
                                            <p:txEl>
                                              <p:pRg st="4" end="4"/>
                                            </p:txEl>
                                          </p:spTgt>
                                        </p:tgtEl>
                                        <p:attrNameLst>
                                          <p:attrName>style.visibility</p:attrName>
                                        </p:attrNameLst>
                                      </p:cBhvr>
                                      <p:to>
                                        <p:strVal val="visible"/>
                                      </p:to>
                                    </p:set>
                                    <p:animEffect transition="in" filter="blinds(horizontal)">
                                      <p:cBhvr>
                                        <p:cTn id="40" dur="500"/>
                                        <p:tgtEl>
                                          <p:spTgt spid="2">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 calcmode="lin" valueType="num">
                                      <p:cBhvr additive="base">
                                        <p:cTn id="45" dur="500" fill="hold"/>
                                        <p:tgtEl>
                                          <p:spTgt spid="6"/>
                                        </p:tgtEl>
                                        <p:attrNameLst>
                                          <p:attrName>ppt_x</p:attrName>
                                        </p:attrNameLst>
                                      </p:cBhvr>
                                      <p:tavLst>
                                        <p:tav tm="0">
                                          <p:val>
                                            <p:strVal val="#ppt_x"/>
                                          </p:val>
                                        </p:tav>
                                        <p:tav tm="100000">
                                          <p:val>
                                            <p:strVal val="#ppt_x"/>
                                          </p:val>
                                        </p:tav>
                                      </p:tavLst>
                                    </p:anim>
                                    <p:anim calcmode="lin" valueType="num">
                                      <p:cBhvr additive="base">
                                        <p:cTn id="4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r>
              <a:rPr lang="zh-CN" altLang="en-US" dirty="0"/>
              <a:t>对查询结果分组 </a:t>
            </a:r>
            <a:r>
              <a:rPr lang="en-US" altLang="zh-CN" dirty="0"/>
              <a:t>3</a:t>
            </a:r>
            <a:endParaRPr lang="zh-CN" altLang="en-US" dirty="0"/>
          </a:p>
        </p:txBody>
      </p:sp>
      <p:sp>
        <p:nvSpPr>
          <p:cNvPr id="101379" name="内容占位符 2"/>
          <p:cNvSpPr>
            <a:spLocks noGrp="1"/>
          </p:cNvSpPr>
          <p:nvPr>
            <p:ph idx="1"/>
          </p:nvPr>
        </p:nvSpPr>
        <p:spPr>
          <a:xfrm>
            <a:off x="424180" y="687070"/>
            <a:ext cx="11343005" cy="521970"/>
          </a:xfrm>
          <a:solidFill>
            <a:schemeClr val="accent3">
              <a:lumMod val="20000"/>
              <a:lumOff val="80000"/>
              <a:alpha val="50000"/>
            </a:schemeClr>
          </a:solidFill>
        </p:spPr>
        <p:txBody>
          <a:bodyPr>
            <a:noAutofit/>
          </a:bodyPr>
          <a:lstStyle/>
          <a:p>
            <a:pPr marL="0" indent="0">
              <a:lnSpc>
                <a:spcPct val="100000"/>
              </a:lnSpc>
              <a:spcBef>
                <a:spcPct val="0"/>
              </a:spcBef>
              <a:buNone/>
            </a:pP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例</a:t>
            </a:r>
            <a:r>
              <a:rPr lang="en-US" altLang="zh-CN" dirty="0">
                <a:latin typeface="Arial" panose="020B0604020202090204" pitchFamily="34" charset="0"/>
                <a:cs typeface="Arial" panose="020B0604020202090204" pitchFamily="34" charset="0"/>
              </a:rPr>
              <a:t>3.48] </a:t>
            </a:r>
            <a:r>
              <a:rPr lang="zh-CN" altLang="en-US" dirty="0">
                <a:latin typeface="Arial" panose="020B0604020202090204" pitchFamily="34" charset="0"/>
                <a:cs typeface="Arial" panose="020B0604020202090204" pitchFamily="34" charset="0"/>
              </a:rPr>
              <a:t>查询平均成绩大于等于</a:t>
            </a:r>
            <a:r>
              <a:rPr lang="en-US" altLang="zh-CN" dirty="0">
                <a:latin typeface="Arial" panose="020B0604020202090204" pitchFamily="34" charset="0"/>
                <a:cs typeface="Arial" panose="020B0604020202090204" pitchFamily="34" charset="0"/>
              </a:rPr>
              <a:t>90</a:t>
            </a:r>
            <a:r>
              <a:rPr lang="zh-CN" altLang="en-US" dirty="0">
                <a:latin typeface="Arial" panose="020B0604020202090204" pitchFamily="34" charset="0"/>
                <a:cs typeface="Arial" panose="020B0604020202090204" pitchFamily="34" charset="0"/>
              </a:rPr>
              <a:t>分的学生学号和平均成绩</a:t>
            </a:r>
            <a:endParaRPr lang="zh-CN" altLang="en-US"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6" name="内容占位符 5"/>
          <p:cNvSpPr>
            <a:spLocks noGrp="1"/>
          </p:cNvSpPr>
          <p:nvPr>
            <p:ph idx="4294967295"/>
          </p:nvPr>
        </p:nvSpPr>
        <p:spPr>
          <a:xfrm>
            <a:off x="424180" y="4928870"/>
            <a:ext cx="11343005" cy="1593850"/>
          </a:xfrm>
          <a:solidFill>
            <a:schemeClr val="accent3">
              <a:lumMod val="20000"/>
              <a:lumOff val="80000"/>
              <a:alpha val="50000"/>
            </a:schemeClr>
          </a:solidFill>
        </p:spPr>
        <p:txBody>
          <a:bodyPr wrap="square">
            <a:noAutofit/>
          </a:bodyPr>
          <a:p>
            <a:pPr algn="just" eaLnBrk="1" hangingPunct="1">
              <a:lnSpc>
                <a:spcPct val="100000"/>
              </a:lnSpc>
              <a:spcBef>
                <a:spcPct val="0"/>
              </a:spcBef>
            </a:pPr>
            <a:r>
              <a:rPr lang="en-US" altLang="zh-CN" sz="2700" dirty="0">
                <a:solidFill>
                  <a:srgbClr val="C00000"/>
                </a:solidFill>
                <a:latin typeface="Arial" panose="020B0604020202090204" pitchFamily="34" charset="0"/>
                <a:cs typeface="Arial" panose="020B0604020202090204" pitchFamily="34" charset="0"/>
              </a:rPr>
              <a:t>HAVING</a:t>
            </a:r>
            <a:r>
              <a:rPr lang="zh-CN" altLang="en-US" sz="2700" dirty="0">
                <a:solidFill>
                  <a:srgbClr val="C00000"/>
                </a:solidFill>
                <a:latin typeface="Arial" panose="020B0604020202090204" pitchFamily="34" charset="0"/>
                <a:cs typeface="Arial" panose="020B0604020202090204" pitchFamily="34" charset="0"/>
              </a:rPr>
              <a:t>短语</a:t>
            </a:r>
            <a:r>
              <a:rPr lang="en-US" altLang="zh-CN" sz="2700" dirty="0">
                <a:latin typeface="Arial" panose="020B0604020202090204" pitchFamily="34" charset="0"/>
                <a:cs typeface="Arial" panose="020B0604020202090204" pitchFamily="34" charset="0"/>
              </a:rPr>
              <a:t> </a:t>
            </a:r>
            <a:r>
              <a:rPr lang="zh-CN" altLang="en-US" sz="2700" dirty="0">
                <a:latin typeface="Arial" panose="020B0604020202090204" pitchFamily="34" charset="0"/>
                <a:cs typeface="Arial" panose="020B0604020202090204" pitchFamily="34" charset="0"/>
              </a:rPr>
              <a:t>与</a:t>
            </a:r>
            <a:r>
              <a:rPr lang="en-US" altLang="zh-CN" sz="2700" dirty="0">
                <a:latin typeface="Arial" panose="020B0604020202090204" pitchFamily="34" charset="0"/>
                <a:cs typeface="Arial" panose="020B0604020202090204" pitchFamily="34" charset="0"/>
              </a:rPr>
              <a:t> </a:t>
            </a:r>
            <a:r>
              <a:rPr lang="en-US" altLang="zh-CN" sz="2700" dirty="0">
                <a:solidFill>
                  <a:srgbClr val="C00000"/>
                </a:solidFill>
                <a:latin typeface="Arial" panose="020B0604020202090204" pitchFamily="34" charset="0"/>
                <a:cs typeface="Arial" panose="020B0604020202090204" pitchFamily="34" charset="0"/>
              </a:rPr>
              <a:t>WHERE</a:t>
            </a:r>
            <a:r>
              <a:rPr lang="zh-CN" altLang="en-US" sz="2700" dirty="0">
                <a:solidFill>
                  <a:srgbClr val="C00000"/>
                </a:solidFill>
                <a:latin typeface="Arial" panose="020B0604020202090204" pitchFamily="34" charset="0"/>
                <a:cs typeface="Arial" panose="020B0604020202090204" pitchFamily="34" charset="0"/>
              </a:rPr>
              <a:t>子句</a:t>
            </a:r>
            <a:r>
              <a:rPr lang="en-US" altLang="zh-CN" sz="2700" dirty="0">
                <a:latin typeface="Arial" panose="020B0604020202090204" pitchFamily="34" charset="0"/>
                <a:cs typeface="Arial" panose="020B0604020202090204" pitchFamily="34" charset="0"/>
              </a:rPr>
              <a:t> </a:t>
            </a:r>
            <a:r>
              <a:rPr lang="zh-CN" altLang="en-US" sz="2700" dirty="0">
                <a:latin typeface="Arial" panose="020B0604020202090204" pitchFamily="34" charset="0"/>
                <a:cs typeface="Arial" panose="020B0604020202090204" pitchFamily="34" charset="0"/>
              </a:rPr>
              <a:t>的区别：作用对象不同</a:t>
            </a:r>
            <a:endParaRPr lang="zh-CN" altLang="en-US" sz="2700" dirty="0">
              <a:latin typeface="Arial" panose="020B0604020202090204" pitchFamily="34" charset="0"/>
              <a:cs typeface="Arial" panose="020B0604020202090204" pitchFamily="34" charset="0"/>
            </a:endParaRPr>
          </a:p>
          <a:p>
            <a:pPr lvl="1" algn="just" eaLnBrk="1" hangingPunct="1">
              <a:lnSpc>
                <a:spcPct val="100000"/>
              </a:lnSpc>
              <a:spcBef>
                <a:spcPts val="1000"/>
              </a:spcBef>
            </a:pPr>
            <a:r>
              <a:rPr lang="en-US" altLang="zh-CN" sz="2700" dirty="0">
                <a:latin typeface="Arial" panose="020B0604020202090204" pitchFamily="34" charset="0"/>
                <a:cs typeface="Arial" panose="020B0604020202090204" pitchFamily="34" charset="0"/>
              </a:rPr>
              <a:t>WHERE</a:t>
            </a:r>
            <a:r>
              <a:rPr lang="zh-CN" altLang="en-US" sz="2700" dirty="0">
                <a:latin typeface="Arial" panose="020B0604020202090204" pitchFamily="34" charset="0"/>
                <a:cs typeface="Arial" panose="020B0604020202090204" pitchFamily="34" charset="0"/>
              </a:rPr>
              <a:t>子句作用于基表或视图，从中选择满足条件的元组</a:t>
            </a:r>
            <a:endParaRPr lang="zh-CN" altLang="en-US" sz="2700" dirty="0">
              <a:latin typeface="Arial" panose="020B0604020202090204" pitchFamily="34" charset="0"/>
              <a:cs typeface="Arial" panose="020B0604020202090204" pitchFamily="34" charset="0"/>
            </a:endParaRPr>
          </a:p>
          <a:p>
            <a:pPr lvl="1" algn="just" eaLnBrk="1" hangingPunct="1">
              <a:lnSpc>
                <a:spcPct val="100000"/>
              </a:lnSpc>
              <a:spcBef>
                <a:spcPts val="1000"/>
              </a:spcBef>
            </a:pPr>
            <a:r>
              <a:rPr lang="en-US" altLang="zh-CN" sz="2700" dirty="0">
                <a:latin typeface="Arial" panose="020B0604020202090204" pitchFamily="34" charset="0"/>
                <a:cs typeface="Arial" panose="020B0604020202090204" pitchFamily="34" charset="0"/>
              </a:rPr>
              <a:t>HAVING</a:t>
            </a:r>
            <a:r>
              <a:rPr lang="zh-CN" altLang="en-US" sz="2700" dirty="0">
                <a:latin typeface="Arial" panose="020B0604020202090204" pitchFamily="34" charset="0"/>
                <a:cs typeface="Arial" panose="020B0604020202090204" pitchFamily="34" charset="0"/>
              </a:rPr>
              <a:t>短语作用于组，从中选择满足条件的组</a:t>
            </a:r>
            <a:endParaRPr lang="zh-CN" altLang="en-US" sz="2700" dirty="0">
              <a:latin typeface="Arial" panose="020B0604020202090204" pitchFamily="34" charset="0"/>
              <a:cs typeface="Arial" panose="020B0604020202090204" pitchFamily="34" charset="0"/>
            </a:endParaRPr>
          </a:p>
        </p:txBody>
      </p:sp>
      <p:sp>
        <p:nvSpPr>
          <p:cNvPr id="7" name="内容占位符 2"/>
          <p:cNvSpPr>
            <a:spLocks noGrp="1"/>
          </p:cNvSpPr>
          <p:nvPr/>
        </p:nvSpPr>
        <p:spPr>
          <a:xfrm>
            <a:off x="424180" y="1351280"/>
            <a:ext cx="5671820" cy="323596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2000"/>
              </a:spcBef>
            </a:pPr>
            <a:r>
              <a:rPr lang="zh-CN" altLang="en-US" dirty="0">
                <a:latin typeface="Arial" panose="020B0604020202090204" pitchFamily="34" charset="0"/>
                <a:cs typeface="Arial" panose="020B0604020202090204" pitchFamily="34" charset="0"/>
              </a:rPr>
              <a:t>因为</a:t>
            </a:r>
            <a:r>
              <a:rPr lang="en-US" altLang="zh-CN" dirty="0">
                <a:latin typeface="Arial" panose="020B0604020202090204" pitchFamily="34" charset="0"/>
                <a:cs typeface="Arial" panose="020B0604020202090204" pitchFamily="34" charset="0"/>
              </a:rPr>
              <a:t>WHERE</a:t>
            </a:r>
            <a:r>
              <a:rPr lang="zh-CN" altLang="en-US" dirty="0">
                <a:latin typeface="Arial" panose="020B0604020202090204" pitchFamily="34" charset="0"/>
                <a:cs typeface="Arial" panose="020B0604020202090204" pitchFamily="34" charset="0"/>
              </a:rPr>
              <a:t>子句中是不能用聚集函数作为</a:t>
            </a:r>
            <a:r>
              <a:rPr lang="zh-CN" altLang="en-US">
                <a:latin typeface="Arial" panose="020B0604020202090204" pitchFamily="34" charset="0"/>
                <a:cs typeface="Arial" panose="020B0604020202090204" pitchFamily="34" charset="0"/>
              </a:rPr>
              <a:t>条件表达式，下面</a:t>
            </a:r>
            <a:r>
              <a:rPr lang="zh-CN" altLang="en-US" dirty="0">
                <a:latin typeface="Arial" panose="020B0604020202090204" pitchFamily="34" charset="0"/>
                <a:cs typeface="Arial" panose="020B0604020202090204" pitchFamily="34" charset="0"/>
              </a:rPr>
              <a:t>的语句是不对的：</a:t>
            </a:r>
            <a:endParaRPr lang="zh-CN" altLang="en-US" dirty="0">
              <a:latin typeface="Arial" panose="020B0604020202090204" pitchFamily="34" charset="0"/>
              <a:cs typeface="Arial" panose="020B0604020202090204" pitchFamily="34" charset="0"/>
            </a:endParaRPr>
          </a:p>
          <a:p>
            <a:pPr marL="352425" lvl="1" indent="0">
              <a:lnSpc>
                <a:spcPct val="100000"/>
              </a:lnSpc>
              <a:spcBef>
                <a:spcPts val="1000"/>
              </a:spcBef>
              <a:buNone/>
            </a:pPr>
            <a:r>
              <a:rPr lang="en-US" altLang="zh-CN" dirty="0">
                <a:solidFill>
                  <a:srgbClr val="FF0000"/>
                </a:solidFill>
                <a:latin typeface="Arial" panose="020B0604020202090204" pitchFamily="34" charset="0"/>
                <a:cs typeface="Arial" panose="020B0604020202090204" pitchFamily="34" charset="0"/>
              </a:rPr>
              <a:t>SELECT </a:t>
            </a:r>
            <a:r>
              <a:rPr lang="en-US" altLang="zh-CN" dirty="0" err="1">
                <a:solidFill>
                  <a:srgbClr val="FF0000"/>
                </a:solidFill>
                <a:latin typeface="Arial" panose="020B0604020202090204" pitchFamily="34" charset="0"/>
                <a:cs typeface="Arial" panose="020B0604020202090204" pitchFamily="34" charset="0"/>
              </a:rPr>
              <a:t>Sno</a:t>
            </a:r>
            <a:r>
              <a:rPr lang="zh-CN" altLang="en-US" dirty="0">
                <a:solidFill>
                  <a:srgbClr val="FF0000"/>
                </a:solidFill>
                <a:latin typeface="Arial" panose="020B0604020202090204" pitchFamily="34" charset="0"/>
                <a:cs typeface="Arial" panose="020B0604020202090204" pitchFamily="34" charset="0"/>
              </a:rPr>
              <a:t>, </a:t>
            </a:r>
            <a:r>
              <a:rPr lang="en-US" altLang="zh-CN" dirty="0">
                <a:solidFill>
                  <a:srgbClr val="FF0000"/>
                </a:solidFill>
                <a:latin typeface="Arial" panose="020B0604020202090204" pitchFamily="34" charset="0"/>
                <a:cs typeface="Arial" panose="020B0604020202090204" pitchFamily="34" charset="0"/>
              </a:rPr>
              <a:t>AVG</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Grade</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a:p>
            <a:pPr marL="352425" lvl="1" indent="0">
              <a:lnSpc>
                <a:spcPct val="100000"/>
              </a:lnSpc>
              <a:spcBef>
                <a:spcPct val="0"/>
              </a:spcBef>
              <a:buNone/>
            </a:pPr>
            <a:r>
              <a:rPr lang="en-US" altLang="zh-CN" dirty="0">
                <a:solidFill>
                  <a:srgbClr val="FF0000"/>
                </a:solidFill>
                <a:latin typeface="Arial" panose="020B0604020202090204" pitchFamily="34" charset="0"/>
                <a:cs typeface="Arial" panose="020B0604020202090204" pitchFamily="34" charset="0"/>
              </a:rPr>
              <a:t>FROM  SC</a:t>
            </a:r>
            <a:endParaRPr lang="en-US" altLang="zh-CN" dirty="0">
              <a:solidFill>
                <a:srgbClr val="FF0000"/>
              </a:solidFill>
              <a:latin typeface="Arial" panose="020B0604020202090204" pitchFamily="34" charset="0"/>
              <a:cs typeface="Arial" panose="020B0604020202090204" pitchFamily="34" charset="0"/>
            </a:endParaRPr>
          </a:p>
          <a:p>
            <a:pPr marL="352425" lvl="1" indent="0">
              <a:lnSpc>
                <a:spcPct val="100000"/>
              </a:lnSpc>
              <a:spcBef>
                <a:spcPct val="0"/>
              </a:spcBef>
              <a:buNone/>
            </a:pPr>
            <a:r>
              <a:rPr lang="en-US" altLang="zh-CN" dirty="0">
                <a:solidFill>
                  <a:srgbClr val="FF0000"/>
                </a:solidFill>
                <a:latin typeface="Arial" panose="020B0604020202090204" pitchFamily="34" charset="0"/>
                <a:cs typeface="Arial" panose="020B0604020202090204" pitchFamily="34" charset="0"/>
              </a:rPr>
              <a:t>WHERE  AVG</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Grade</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&gt;=90</a:t>
            </a:r>
            <a:endParaRPr lang="en-US" altLang="zh-CN" dirty="0">
              <a:solidFill>
                <a:srgbClr val="FF0000"/>
              </a:solidFill>
              <a:latin typeface="Arial" panose="020B0604020202090204" pitchFamily="34" charset="0"/>
              <a:cs typeface="Arial" panose="020B0604020202090204" pitchFamily="34" charset="0"/>
            </a:endParaRPr>
          </a:p>
          <a:p>
            <a:pPr marL="352425" lvl="1" indent="0">
              <a:lnSpc>
                <a:spcPct val="100000"/>
              </a:lnSpc>
              <a:spcBef>
                <a:spcPct val="0"/>
              </a:spcBef>
              <a:buNone/>
            </a:pPr>
            <a:r>
              <a:rPr lang="en-US" altLang="zh-CN" dirty="0">
                <a:solidFill>
                  <a:srgbClr val="FF0000"/>
                </a:solidFill>
                <a:latin typeface="Arial" panose="020B0604020202090204" pitchFamily="34" charset="0"/>
                <a:cs typeface="Arial" panose="020B0604020202090204" pitchFamily="34" charset="0"/>
              </a:rPr>
              <a:t>GROUP BY </a:t>
            </a:r>
            <a:r>
              <a:rPr lang="en-US" altLang="zh-CN" dirty="0" err="1">
                <a:solidFill>
                  <a:srgbClr val="FF0000"/>
                </a:solidFill>
                <a:latin typeface="Arial" panose="020B0604020202090204" pitchFamily="34" charset="0"/>
                <a:cs typeface="Arial" panose="020B0604020202090204" pitchFamily="34" charset="0"/>
              </a:rPr>
              <a:t>Sno</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p:txBody>
      </p:sp>
      <p:sp>
        <p:nvSpPr>
          <p:cNvPr id="8" name="内容占位符 2"/>
          <p:cNvSpPr>
            <a:spLocks noGrp="1"/>
          </p:cNvSpPr>
          <p:nvPr/>
        </p:nvSpPr>
        <p:spPr>
          <a:xfrm>
            <a:off x="6096000" y="1352550"/>
            <a:ext cx="5671820" cy="25019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Calibri" panose="020F0502020204030204" charset="0"/>
                <a:ea typeface="楷体"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800" b="1" kern="1200">
                <a:solidFill>
                  <a:srgbClr val="1F2DA8"/>
                </a:solidFill>
                <a:latin typeface="Calibri" panose="020F0502020204030204" charset="0"/>
                <a:ea typeface="楷体"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90204" pitchFamily="34" charset="0"/>
              <a:buChar char="‒"/>
              <a:defRPr sz="2800" b="1" kern="1200">
                <a:solidFill>
                  <a:srgbClr val="1F2DA8"/>
                </a:solidFill>
                <a:latin typeface="Calibri" panose="020F0502020204030204" charset="0"/>
                <a:ea typeface="楷体"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
              <a:defRPr sz="2800" b="1" kern="1200">
                <a:solidFill>
                  <a:srgbClr val="1F2DA8"/>
                </a:solidFill>
                <a:latin typeface="Calibri" panose="020F0502020204030204" charset="0"/>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2000"/>
              </a:spcBef>
            </a:pPr>
            <a:r>
              <a:rPr lang="zh-CN" altLang="en-US" dirty="0">
                <a:latin typeface="Arial" panose="020B0604020202090204" pitchFamily="34" charset="0"/>
                <a:cs typeface="Arial" panose="020B0604020202090204" pitchFamily="34" charset="0"/>
              </a:rPr>
              <a:t>正确的查询语句应该是：</a:t>
            </a:r>
            <a:endParaRPr lang="zh-CN" altLang="en-US" dirty="0">
              <a:latin typeface="Arial" panose="020B0604020202090204" pitchFamily="34" charset="0"/>
              <a:cs typeface="Arial" panose="020B0604020202090204" pitchFamily="34" charset="0"/>
            </a:endParaRPr>
          </a:p>
          <a:p>
            <a:pPr marL="352425" lvl="1" indent="0">
              <a:lnSpc>
                <a:spcPct val="100000"/>
              </a:lnSpc>
              <a:spcBef>
                <a:spcPts val="2000"/>
              </a:spcBef>
              <a:buNone/>
            </a:pPr>
            <a:r>
              <a:rPr lang="en-US" altLang="zh-CN" dirty="0">
                <a:solidFill>
                  <a:srgbClr val="FF0000"/>
                </a:solidFill>
                <a:latin typeface="Arial" panose="020B0604020202090204" pitchFamily="34" charset="0"/>
                <a:cs typeface="Arial" panose="020B0604020202090204" pitchFamily="34" charset="0"/>
              </a:rPr>
              <a:t>SELECT  </a:t>
            </a:r>
            <a:r>
              <a:rPr lang="en-US" altLang="zh-CN" dirty="0" err="1">
                <a:solidFill>
                  <a:srgbClr val="FF0000"/>
                </a:solidFill>
                <a:latin typeface="Arial" panose="020B0604020202090204" pitchFamily="34" charset="0"/>
                <a:cs typeface="Arial" panose="020B0604020202090204" pitchFamily="34" charset="0"/>
              </a:rPr>
              <a:t>Sno</a:t>
            </a:r>
            <a:r>
              <a:rPr lang="zh-CN" altLang="en-US" dirty="0">
                <a:solidFill>
                  <a:srgbClr val="FF0000"/>
                </a:solidFill>
                <a:latin typeface="Arial" panose="020B0604020202090204" pitchFamily="34" charset="0"/>
                <a:cs typeface="Arial" panose="020B0604020202090204" pitchFamily="34" charset="0"/>
              </a:rPr>
              <a:t>, </a:t>
            </a:r>
            <a:r>
              <a:rPr lang="en-US" altLang="zh-CN" dirty="0">
                <a:solidFill>
                  <a:srgbClr val="FF0000"/>
                </a:solidFill>
                <a:latin typeface="Arial" panose="020B0604020202090204" pitchFamily="34" charset="0"/>
                <a:cs typeface="Arial" panose="020B0604020202090204" pitchFamily="34" charset="0"/>
              </a:rPr>
              <a:t>AVG</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Grade</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a:p>
            <a:pPr marL="352425" lvl="1" indent="0">
              <a:lnSpc>
                <a:spcPct val="100000"/>
              </a:lnSpc>
              <a:spcBef>
                <a:spcPct val="0"/>
              </a:spcBef>
              <a:buNone/>
            </a:pPr>
            <a:r>
              <a:rPr lang="en-US" altLang="zh-CN" dirty="0">
                <a:solidFill>
                  <a:srgbClr val="FF0000"/>
                </a:solidFill>
                <a:latin typeface="Arial" panose="020B0604020202090204" pitchFamily="34" charset="0"/>
                <a:cs typeface="Arial" panose="020B0604020202090204" pitchFamily="34" charset="0"/>
              </a:rPr>
              <a:t>FROM  SC</a:t>
            </a:r>
            <a:endParaRPr lang="en-US" altLang="zh-CN" dirty="0">
              <a:solidFill>
                <a:srgbClr val="FF0000"/>
              </a:solidFill>
              <a:latin typeface="Arial" panose="020B0604020202090204" pitchFamily="34" charset="0"/>
              <a:cs typeface="Arial" panose="020B0604020202090204" pitchFamily="34" charset="0"/>
            </a:endParaRPr>
          </a:p>
          <a:p>
            <a:pPr marL="352425" lvl="1" indent="0">
              <a:lnSpc>
                <a:spcPct val="100000"/>
              </a:lnSpc>
              <a:spcBef>
                <a:spcPct val="0"/>
              </a:spcBef>
              <a:buNone/>
            </a:pPr>
            <a:r>
              <a:rPr lang="en-US" altLang="zh-CN" dirty="0">
                <a:solidFill>
                  <a:srgbClr val="FF0000"/>
                </a:solidFill>
                <a:latin typeface="Arial" panose="020B0604020202090204" pitchFamily="34" charset="0"/>
                <a:cs typeface="Arial" panose="020B0604020202090204" pitchFamily="34" charset="0"/>
              </a:rPr>
              <a:t>GROUP BY </a:t>
            </a:r>
            <a:r>
              <a:rPr lang="en-US" altLang="zh-CN" dirty="0" err="1">
                <a:solidFill>
                  <a:srgbClr val="FF0000"/>
                </a:solidFill>
                <a:latin typeface="Arial" panose="020B0604020202090204" pitchFamily="34" charset="0"/>
                <a:cs typeface="Arial" panose="020B0604020202090204" pitchFamily="34" charset="0"/>
              </a:rPr>
              <a:t>Sno</a:t>
            </a:r>
            <a:endParaRPr lang="en-US" altLang="zh-CN" dirty="0">
              <a:solidFill>
                <a:srgbClr val="FF0000"/>
              </a:solidFill>
              <a:latin typeface="Arial" panose="020B0604020202090204" pitchFamily="34" charset="0"/>
              <a:cs typeface="Arial" panose="020B0604020202090204" pitchFamily="34" charset="0"/>
            </a:endParaRPr>
          </a:p>
          <a:p>
            <a:pPr marL="352425" lvl="1" indent="0">
              <a:lnSpc>
                <a:spcPct val="100000"/>
              </a:lnSpc>
              <a:spcBef>
                <a:spcPct val="0"/>
              </a:spcBef>
              <a:buNone/>
            </a:pPr>
            <a:r>
              <a:rPr lang="en-US" altLang="zh-CN" dirty="0">
                <a:solidFill>
                  <a:srgbClr val="FF0000"/>
                </a:solidFill>
                <a:latin typeface="Arial" panose="020B0604020202090204" pitchFamily="34" charset="0"/>
                <a:cs typeface="Arial" panose="020B0604020202090204" pitchFamily="34" charset="0"/>
              </a:rPr>
              <a:t>HAVING AVG</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Grade</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&gt;=90</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subTnLst>
                                    <p:animClr clrSpc="rgb" dir="cw">
                                      <p:cBhvr override="childStyle">
                                        <p:cTn dur="65" fill="hold" display="1" masterRel="nextClick" afterEffect="1"/>
                                        <p:tgtEl>
                                          <p:spTgt spid="7"/>
                                        </p:tgtEl>
                                        <p:attrNameLst>
                                          <p:attrName>ppt_c</p:attrName>
                                        </p:attrNameLst>
                                      </p:cBhvr>
                                      <p:to>
                                        <a:srgbClr val="1f2da8"/>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title"/>
          </p:nvPr>
        </p:nvSpPr>
        <p:spPr/>
        <p:txBody>
          <a:bodyPr vert="horz" wrap="square" anchor="ctr"/>
          <a:p>
            <a:pPr lvl="0" eaLnBrk="1" hangingPunct="1"/>
            <a:r>
              <a:rPr lang="en-US" altLang="x-none" sz="3600" dirty="0">
                <a:latin typeface="Verdana" panose="020B0804030504040204" pitchFamily="2" charset="0"/>
              </a:rPr>
              <a:t>Example of GROUP BY 1</a:t>
            </a:r>
            <a:endParaRPr lang="en-US" altLang="x-none" sz="3600" dirty="0">
              <a:latin typeface="Verdana" panose="020B0804030504040204" pitchFamily="2" charset="0"/>
            </a:endParaRPr>
          </a:p>
        </p:txBody>
      </p:sp>
      <p:sp>
        <p:nvSpPr>
          <p:cNvPr id="3075" name="Rectangle 3"/>
          <p:cNvSpPr>
            <a:spLocks noGrp="1"/>
          </p:cNvSpPr>
          <p:nvPr>
            <p:ph idx="1"/>
          </p:nvPr>
        </p:nvSpPr>
        <p:spPr>
          <a:ln w="19050">
            <a:noFill/>
            <a:miter/>
          </a:ln>
        </p:spPr>
        <p:txBody>
          <a:bodyPr vert="horz" wrap="square" anchor="t"/>
          <a:p>
            <a:pPr lvl="0" eaLnBrk="1" hangingPunct="1">
              <a:lnSpc>
                <a:spcPct val="130000"/>
              </a:lnSpc>
            </a:pPr>
            <a:r>
              <a:rPr lang="zh-CN" altLang="en-US" sz="2800" b="1" dirty="0">
                <a:solidFill>
                  <a:srgbClr val="0000C8"/>
                </a:solidFill>
                <a:latin typeface="Arial" panose="020B0604020202090204" pitchFamily="34" charset="0"/>
              </a:rPr>
              <a:t>下面，我们通过两个例子来分别演示分组统计、分组选择统计查询的执行过程</a:t>
            </a:r>
            <a:endParaRPr lang="zh-CN" altLang="en-US" sz="2800" b="1" dirty="0">
              <a:solidFill>
                <a:srgbClr val="0000C8"/>
              </a:solidFill>
              <a:latin typeface="Arial" panose="020B0604020202090204" pitchFamily="34" charset="0"/>
            </a:endParaRPr>
          </a:p>
          <a:p>
            <a:pPr lvl="0" eaLnBrk="1" hangingPunct="1">
              <a:lnSpc>
                <a:spcPct val="130000"/>
              </a:lnSpc>
            </a:pPr>
            <a:endParaRPr lang="en-US" altLang="x-none" sz="2800" b="1" dirty="0">
              <a:solidFill>
                <a:srgbClr val="C00000"/>
              </a:solidFill>
              <a:latin typeface="Arial" panose="020B0604020202090204" pitchFamily="34" charset="0"/>
            </a:endParaRPr>
          </a:p>
          <a:p>
            <a:pPr lvl="2" eaLnBrk="1" hangingPunct="1">
              <a:lnSpc>
                <a:spcPct val="130000"/>
              </a:lnSpc>
              <a:buNone/>
            </a:pPr>
            <a:r>
              <a:rPr lang="en-US" altLang="x-none" sz="2800" b="1" dirty="0">
                <a:solidFill>
                  <a:srgbClr val="C00000"/>
                </a:solidFill>
                <a:latin typeface="Arial" panose="020B0604020202090204" pitchFamily="34" charset="0"/>
              </a:rPr>
              <a:t>SELECT  DEP, JOB, AVG(SAL)</a:t>
            </a:r>
            <a:endParaRPr lang="en-US" altLang="x-none" sz="2800" b="1" dirty="0">
              <a:solidFill>
                <a:srgbClr val="C00000"/>
              </a:solidFill>
              <a:latin typeface="Arial" panose="020B0604020202090204" pitchFamily="34" charset="0"/>
            </a:endParaRPr>
          </a:p>
          <a:p>
            <a:pPr lvl="2" eaLnBrk="1" hangingPunct="1">
              <a:lnSpc>
                <a:spcPct val="130000"/>
              </a:lnSpc>
              <a:buNone/>
            </a:pPr>
            <a:r>
              <a:rPr lang="en-US" altLang="x-none" sz="2800" b="1" dirty="0">
                <a:solidFill>
                  <a:srgbClr val="C00000"/>
                </a:solidFill>
                <a:latin typeface="Arial" panose="020B0604020202090204" pitchFamily="34" charset="0"/>
              </a:rPr>
              <a:t>FROM  EMPL</a:t>
            </a:r>
            <a:endParaRPr lang="en-US" altLang="x-none" sz="2800" b="1" dirty="0">
              <a:solidFill>
                <a:srgbClr val="C00000"/>
              </a:solidFill>
              <a:latin typeface="Arial" panose="020B0604020202090204" pitchFamily="34" charset="0"/>
            </a:endParaRPr>
          </a:p>
          <a:p>
            <a:pPr lvl="2" eaLnBrk="1" hangingPunct="1">
              <a:lnSpc>
                <a:spcPct val="130000"/>
              </a:lnSpc>
              <a:buNone/>
            </a:pPr>
            <a:r>
              <a:rPr lang="en-US" altLang="x-none" sz="2800" b="1" dirty="0">
                <a:solidFill>
                  <a:srgbClr val="C00000"/>
                </a:solidFill>
                <a:latin typeface="Arial" panose="020B0604020202090204" pitchFamily="34" charset="0"/>
              </a:rPr>
              <a:t>WHERE  JOB &lt;&gt; 'M'</a:t>
            </a:r>
            <a:endParaRPr lang="en-US" altLang="x-none" sz="2800" b="1" dirty="0">
              <a:solidFill>
                <a:srgbClr val="C00000"/>
              </a:solidFill>
              <a:latin typeface="Arial" panose="020B0604020202090204" pitchFamily="34" charset="0"/>
            </a:endParaRPr>
          </a:p>
          <a:p>
            <a:pPr lvl="2" eaLnBrk="1" hangingPunct="1">
              <a:lnSpc>
                <a:spcPct val="130000"/>
              </a:lnSpc>
              <a:buNone/>
            </a:pPr>
            <a:r>
              <a:rPr lang="en-US" altLang="x-none" sz="2800" b="1" dirty="0">
                <a:solidFill>
                  <a:srgbClr val="C00000"/>
                </a:solidFill>
                <a:latin typeface="Arial" panose="020B0604020202090204" pitchFamily="34" charset="0"/>
              </a:rPr>
              <a:t>GROUP BY  DEP, JOB</a:t>
            </a:r>
            <a:endParaRPr lang="en-US" altLang="x-none" sz="2800" b="1" dirty="0">
              <a:solidFill>
                <a:srgbClr val="C00000"/>
              </a:solidFill>
              <a:latin typeface="Arial" panose="020B0604020202090204" pitchFamily="34" charset="0"/>
            </a:endParaRPr>
          </a:p>
          <a:p>
            <a:pPr lvl="2" eaLnBrk="1" hangingPunct="1">
              <a:lnSpc>
                <a:spcPct val="130000"/>
              </a:lnSpc>
              <a:buNone/>
            </a:pPr>
            <a:r>
              <a:rPr lang="en-US" altLang="x-none" sz="2800" b="1" dirty="0">
                <a:solidFill>
                  <a:srgbClr val="C00000"/>
                </a:solidFill>
                <a:latin typeface="Arial" panose="020B0604020202090204" pitchFamily="34" charset="0"/>
              </a:rPr>
              <a:t>ORDER BY  AVG(SAL)  DESC</a:t>
            </a:r>
            <a:endParaRPr lang="en-US" altLang="x-none" sz="2800" b="1" dirty="0">
              <a:solidFill>
                <a:srgbClr val="C00000"/>
              </a:solidFill>
              <a:latin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dirty="0">
                <a:latin typeface="Verdana" panose="020B0804030504040204" pitchFamily="2" charset="0"/>
                <a:sym typeface="+mn-ea"/>
              </a:rPr>
              <a:t>Example of GROUP BY 2</a:t>
            </a:r>
            <a:endParaRPr lang="zh-CN" altLang="en-US"/>
          </a:p>
        </p:txBody>
      </p:sp>
      <p:sp>
        <p:nvSpPr>
          <p:cNvPr id="4098" name="文本框 4097"/>
          <p:cNvSpPr txBox="1"/>
          <p:nvPr/>
        </p:nvSpPr>
        <p:spPr>
          <a:xfrm>
            <a:off x="607695" y="692785"/>
            <a:ext cx="4184650"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no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M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M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M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4099" name="文本框 4098"/>
          <p:cNvSpPr txBox="1"/>
          <p:nvPr/>
        </p:nvSpPr>
        <p:spPr>
          <a:xfrm>
            <a:off x="5442585" y="1268730"/>
            <a:ext cx="5679440" cy="2247900"/>
          </a:xfrm>
          <a:prstGeom prst="rect">
            <a:avLst/>
          </a:prstGeom>
          <a:solidFill>
            <a:schemeClr val="accent3">
              <a:lumMod val="20000"/>
              <a:lumOff val="80000"/>
              <a:alpha val="50000"/>
            </a:schemeClr>
          </a:solidFill>
          <a:ln w="12700" cap="flat" cmpd="sng">
            <a:noFill/>
            <a:prstDash val="solid"/>
            <a:miter/>
            <a:headEnd type="none" w="med" len="med"/>
            <a:tailEnd type="none" w="med" len="med"/>
          </a:ln>
        </p:spPr>
        <p:txBody>
          <a:bodyPr wrap="square" lIns="90170" tIns="46990" rIns="90170" bIns="46990">
            <a:spAutoFit/>
          </a:bodyPr>
          <a:p>
            <a:pPr marL="1905" lvl="0" indent="267970" eaLnBrk="1" latinLnBrk="0" hangingPunct="1"/>
            <a:r>
              <a:rPr lang="en-US" altLang="x-none" sz="2800" b="1" dirty="0">
                <a:solidFill>
                  <a:srgbClr val="0000C8"/>
                </a:solidFill>
                <a:latin typeface="Arial" panose="020B0604020202090204" pitchFamily="34" charset="0"/>
                <a:ea typeface="宋体" pitchFamily="2" charset="-122"/>
              </a:rPr>
              <a:t>SELECT  DEP, JOB, AVG(SAL)</a:t>
            </a:r>
            <a:endParaRPr lang="en-US" altLang="x-none" sz="28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800" b="1" dirty="0">
                <a:solidFill>
                  <a:srgbClr val="0000C8"/>
                </a:solidFill>
                <a:latin typeface="Arial" panose="020B0604020202090204" pitchFamily="34" charset="0"/>
                <a:ea typeface="宋体" pitchFamily="2" charset="-122"/>
              </a:rPr>
              <a:t>FROM  EMPL</a:t>
            </a:r>
            <a:endParaRPr lang="en-US" altLang="x-none" sz="28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800" b="1" dirty="0">
                <a:solidFill>
                  <a:srgbClr val="FF0000"/>
                </a:solidFill>
                <a:latin typeface="Arial" panose="020B0604020202090204" pitchFamily="34" charset="0"/>
                <a:ea typeface="宋体" pitchFamily="2" charset="-122"/>
              </a:rPr>
              <a:t>WHERE  JOB &lt;&gt; 'M'</a:t>
            </a:r>
            <a:endParaRPr lang="en-US" altLang="x-none" sz="2800" b="1" dirty="0">
              <a:solidFill>
                <a:srgbClr val="FF0000"/>
              </a:solidFill>
              <a:latin typeface="Arial" panose="020B0604020202090204" pitchFamily="34" charset="0"/>
              <a:ea typeface="宋体" pitchFamily="2" charset="-122"/>
            </a:endParaRPr>
          </a:p>
          <a:p>
            <a:pPr marL="1905" lvl="0" indent="267970" eaLnBrk="1" latinLnBrk="0" hangingPunct="1"/>
            <a:r>
              <a:rPr lang="en-US" altLang="x-none" sz="2800" b="1" dirty="0">
                <a:solidFill>
                  <a:srgbClr val="0000C8"/>
                </a:solidFill>
                <a:latin typeface="Arial" panose="020B0604020202090204" pitchFamily="34" charset="0"/>
                <a:ea typeface="宋体" pitchFamily="2" charset="-122"/>
              </a:rPr>
              <a:t>GROUP BY  DEP, JOB</a:t>
            </a:r>
            <a:endParaRPr lang="en-US" altLang="x-none" sz="28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800" b="1" dirty="0">
                <a:solidFill>
                  <a:srgbClr val="0000C8"/>
                </a:solidFill>
                <a:latin typeface="Arial" panose="020B0604020202090204" pitchFamily="34" charset="0"/>
                <a:ea typeface="宋体" pitchFamily="2" charset="-122"/>
              </a:rPr>
              <a:t>ORDER BY  AVG(SAL)  DESC</a:t>
            </a:r>
            <a:endParaRPr lang="en-US" altLang="x-none" sz="2800" b="1" dirty="0">
              <a:solidFill>
                <a:srgbClr val="0000C8"/>
              </a:solidFill>
              <a:latin typeface="Arial" panose="020B0604020202090204" pitchFamily="34" charset="0"/>
              <a:ea typeface="宋体" pitchFamily="2" charset="-122"/>
            </a:endParaRPr>
          </a:p>
        </p:txBody>
      </p:sp>
      <p:sp>
        <p:nvSpPr>
          <p:cNvPr id="3" name="文本框 2"/>
          <p:cNvSpPr txBox="1"/>
          <p:nvPr/>
        </p:nvSpPr>
        <p:spPr>
          <a:xfrm>
            <a:off x="5407660" y="3771265"/>
            <a:ext cx="6351270" cy="521970"/>
          </a:xfrm>
          <a:prstGeom prst="rect">
            <a:avLst/>
          </a:prstGeom>
          <a:noFill/>
        </p:spPr>
        <p:txBody>
          <a:bodyPr wrap="square" rtlCol="0">
            <a:spAutoFit/>
          </a:bodyPr>
          <a:p>
            <a:pPr algn="ctr"/>
            <a:r>
              <a:rPr lang="zh-CN" altLang="zh-CN" sz="2800" b="1">
                <a:solidFill>
                  <a:srgbClr val="0000C8"/>
                </a:solidFill>
                <a:latin typeface="楷体" charset="-122"/>
                <a:ea typeface="楷体" charset="-122"/>
              </a:rPr>
              <a:t>首先执行查询，得到待统计的元组集合</a:t>
            </a:r>
            <a:endParaRPr lang="zh-CN" altLang="zh-CN" sz="2800" b="1">
              <a:solidFill>
                <a:srgbClr val="0000C8"/>
              </a:solidFill>
              <a:latin typeface="楷体" charset="-122"/>
              <a:ea typeface="楷体" charset="-122"/>
            </a:endParaRPr>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blinds(horizontal)">
                                      <p:cBhvr>
                                        <p:cTn id="7" dur="500"/>
                                        <p:tgtEl>
                                          <p:spTgt spid="40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ldLvl="0" animBg="1"/>
      <p:bldP spid="3"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en-US" altLang="x-none" dirty="0">
                <a:latin typeface="Verdana" panose="020B0804030504040204" pitchFamily="2" charset="0"/>
                <a:sym typeface="+mn-ea"/>
              </a:rPr>
              <a:t>Example of GROUP BY 3</a:t>
            </a:r>
            <a:endParaRPr lang="zh-CN" altLang="en-US"/>
          </a:p>
        </p:txBody>
      </p:sp>
      <p:sp>
        <p:nvSpPr>
          <p:cNvPr id="4100" name="右箭头 4099"/>
          <p:cNvSpPr/>
          <p:nvPr/>
        </p:nvSpPr>
        <p:spPr>
          <a:xfrm>
            <a:off x="4870450" y="3575685"/>
            <a:ext cx="3103880" cy="793750"/>
          </a:xfrm>
          <a:prstGeom prst="rightArrow">
            <a:avLst>
              <a:gd name="adj1" fmla="val 59805"/>
              <a:gd name="adj2" fmla="val 29266"/>
            </a:avLst>
          </a:prstGeom>
          <a:solidFill>
            <a:srgbClr val="CCFFCC">
              <a:alpha val="47000"/>
            </a:srgbClr>
          </a:solidFill>
          <a:ln w="9525" cap="flat" cmpd="sng">
            <a:solidFill>
              <a:schemeClr val="tx1"/>
            </a:solidFill>
            <a:prstDash val="solid"/>
            <a:miter/>
            <a:headEnd type="none" w="med" len="med"/>
            <a:tailEnd type="none" w="med" len="med"/>
          </a:ln>
        </p:spPr>
        <p:txBody>
          <a:bodyPr wrap="none" lIns="90170" tIns="46990" rIns="90170" bIns="46990" anchor="ctr"/>
          <a:p>
            <a:pPr lvl="0" algn="ctr" eaLnBrk="1" latinLnBrk="0" hangingPunct="1"/>
            <a:r>
              <a:rPr lang="zh-CN" altLang="en-US" sz="2000" b="1" dirty="0">
                <a:latin typeface="Arial" panose="020B0604020202090204" pitchFamily="34" charset="0"/>
                <a:ea typeface="宋体" pitchFamily="2" charset="-122"/>
              </a:rPr>
              <a:t>WHERE </a:t>
            </a:r>
            <a:r>
              <a:rPr lang="zh-CN" altLang="en-US" sz="2400" b="1" dirty="0">
                <a:latin typeface="Arial" panose="020B0604020202090204" pitchFamily="34" charset="0"/>
                <a:ea typeface="宋体" pitchFamily="2" charset="-122"/>
              </a:rPr>
              <a:t>JOB</a:t>
            </a:r>
            <a:r>
              <a:rPr lang="zh-CN" altLang="en-US" sz="2000" b="1" dirty="0">
                <a:latin typeface="Arial" panose="020B0604020202090204" pitchFamily="34" charset="0"/>
                <a:ea typeface="宋体" pitchFamily="2" charset="-122"/>
              </a:rPr>
              <a:t>&lt;&gt;'M'</a:t>
            </a:r>
            <a:endParaRPr lang="zh-CN" altLang="en-US" sz="2000" b="1" dirty="0">
              <a:latin typeface="Arial" panose="020B0604020202090204" pitchFamily="34" charset="0"/>
              <a:ea typeface="宋体" pitchFamily="2" charset="-122"/>
            </a:endParaRPr>
          </a:p>
        </p:txBody>
      </p:sp>
      <p:sp>
        <p:nvSpPr>
          <p:cNvPr id="4101" name="文本框 4100"/>
          <p:cNvSpPr txBox="1"/>
          <p:nvPr/>
        </p:nvSpPr>
        <p:spPr>
          <a:xfrm>
            <a:off x="8093710" y="622618"/>
            <a:ext cx="3387725"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6" name="文本框 5"/>
          <p:cNvSpPr txBox="1"/>
          <p:nvPr/>
        </p:nvSpPr>
        <p:spPr>
          <a:xfrm>
            <a:off x="607695" y="692785"/>
            <a:ext cx="4184650"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no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M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M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M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7" name="灯片编号占位符 6"/>
          <p:cNvSpPr>
            <a:spLocks noGrp="1"/>
          </p:cNvSpPr>
          <p:nvPr>
            <p:ph type="sldNum" sz="quarter" idx="12"/>
          </p:nvPr>
        </p:nvSpPr>
        <p:spPr/>
        <p:txBody>
          <a:bodyPr/>
          <a:p>
            <a:fld id="{565CE74E-AB26-4998-AD42-012C4C1AD076}" type="slidenum">
              <a:rPr lang="zh-CN" altLang="en-US" smtClean="0"/>
            </a:fld>
            <a:endParaRPr lang="zh-CN" altLang="en-US"/>
          </a:p>
        </p:txBody>
      </p:sp>
      <p:sp>
        <p:nvSpPr>
          <p:cNvPr id="8" name="页脚占位符 7"/>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4100"/>
                                        </p:tgtEl>
                                        <p:attrNameLst>
                                          <p:attrName>style.visibility</p:attrName>
                                        </p:attrNameLst>
                                      </p:cBhvr>
                                      <p:to>
                                        <p:strVal val="visible"/>
                                      </p:to>
                                    </p:set>
                                    <p:anim calcmode="lin" valueType="num">
                                      <p:cBhvr>
                                        <p:cTn id="7" dur="500" fill="hold"/>
                                        <p:tgtEl>
                                          <p:spTgt spid="4100"/>
                                        </p:tgtEl>
                                        <p:attrNameLst>
                                          <p:attrName>ppt_x</p:attrName>
                                        </p:attrNameLst>
                                      </p:cBhvr>
                                      <p:tavLst>
                                        <p:tav tm="0">
                                          <p:val>
                                            <p:strVal val="#ppt_x-#ppt_w/2"/>
                                          </p:val>
                                        </p:tav>
                                        <p:tav tm="100000">
                                          <p:val>
                                            <p:strVal val="#ppt_x"/>
                                          </p:val>
                                        </p:tav>
                                      </p:tavLst>
                                    </p:anim>
                                    <p:anim calcmode="lin" valueType="num">
                                      <p:cBhvr>
                                        <p:cTn id="8" dur="500" fill="hold"/>
                                        <p:tgtEl>
                                          <p:spTgt spid="4100"/>
                                        </p:tgtEl>
                                        <p:attrNameLst>
                                          <p:attrName>ppt_y</p:attrName>
                                        </p:attrNameLst>
                                      </p:cBhvr>
                                      <p:tavLst>
                                        <p:tav tm="0">
                                          <p:val>
                                            <p:strVal val="#ppt_y"/>
                                          </p:val>
                                        </p:tav>
                                        <p:tav tm="100000">
                                          <p:val>
                                            <p:strVal val="#ppt_y"/>
                                          </p:val>
                                        </p:tav>
                                      </p:tavLst>
                                    </p:anim>
                                    <p:anim calcmode="lin" valueType="num">
                                      <p:cBhvr>
                                        <p:cTn id="9" dur="500" fill="hold"/>
                                        <p:tgtEl>
                                          <p:spTgt spid="4100"/>
                                        </p:tgtEl>
                                        <p:attrNameLst>
                                          <p:attrName>ppt_w</p:attrName>
                                        </p:attrNameLst>
                                      </p:cBhvr>
                                      <p:tavLst>
                                        <p:tav tm="0">
                                          <p:val>
                                            <p:fltVal val="0.000000"/>
                                          </p:val>
                                        </p:tav>
                                        <p:tav tm="100000">
                                          <p:val>
                                            <p:strVal val="#ppt_w"/>
                                          </p:val>
                                        </p:tav>
                                      </p:tavLst>
                                    </p:anim>
                                    <p:anim calcmode="lin" valueType="num">
                                      <p:cBhvr>
                                        <p:cTn id="10" dur="500" fill="hold"/>
                                        <p:tgtEl>
                                          <p:spTgt spid="4100"/>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4101"/>
                                        </p:tgtEl>
                                        <p:attrNameLst>
                                          <p:attrName>style.visibility</p:attrName>
                                        </p:attrNameLst>
                                      </p:cBhvr>
                                      <p:to>
                                        <p:strVal val="visible"/>
                                      </p:to>
                                    </p:set>
                                    <p:animEffect transition="in" filter="blinds(horizontal)">
                                      <p:cBhvr>
                                        <p:cTn id="14" dur="500"/>
                                        <p:tgtEl>
                                          <p:spTgt spid="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bldLvl="0" animBg="1"/>
      <p:bldP spid="4100"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dirty="0">
                <a:latin typeface="Verdana" panose="020B0804030504040204" pitchFamily="2" charset="0"/>
                <a:sym typeface="+mn-ea"/>
              </a:rPr>
              <a:t>Example of GROUP BY 4</a:t>
            </a:r>
            <a:endParaRPr lang="zh-CN" altLang="en-US"/>
          </a:p>
        </p:txBody>
      </p:sp>
      <p:sp>
        <p:nvSpPr>
          <p:cNvPr id="5124" name="文本框 5123"/>
          <p:cNvSpPr txBox="1"/>
          <p:nvPr/>
        </p:nvSpPr>
        <p:spPr>
          <a:xfrm>
            <a:off x="4857750" y="701675"/>
            <a:ext cx="5736590" cy="2094230"/>
          </a:xfrm>
          <a:prstGeom prst="rect">
            <a:avLst/>
          </a:prstGeom>
          <a:solidFill>
            <a:schemeClr val="accent3">
              <a:lumMod val="20000"/>
              <a:lumOff val="80000"/>
              <a:alpha val="50000"/>
            </a:schemeClr>
          </a:solidFill>
          <a:ln w="12700" cap="flat" cmpd="sng">
            <a:noFill/>
            <a:prstDash val="solid"/>
            <a:bevel/>
            <a:headEnd type="none" w="med" len="med"/>
            <a:tailEnd type="none" w="med" len="med"/>
          </a:ln>
        </p:spPr>
        <p:txBody>
          <a:bodyPr vert="horz" wrap="square" lIns="90170" tIns="46990" rIns="90170" bIns="46990" anchor="t">
            <a:spAutoFit/>
          </a:bodyPr>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SELECT  DEP, JOB, AVG(SAL)</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FROM  EMPL</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WHERE  JOB &lt;&gt; 'M'</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FF0000"/>
                </a:solidFill>
                <a:latin typeface="Arial" panose="020B0604020202090204" pitchFamily="34" charset="0"/>
                <a:ea typeface="宋体" pitchFamily="2" charset="-122"/>
              </a:rPr>
              <a:t>GROUP BY  DEP, JOB</a:t>
            </a:r>
            <a:endParaRPr lang="en-US" altLang="x-none" sz="2600" b="1" dirty="0">
              <a:solidFill>
                <a:srgbClr val="FF0000"/>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ORDER BY  AVG(SAL)  DESC</a:t>
            </a:r>
            <a:endParaRPr lang="en-US" altLang="x-none" sz="2600" b="1" dirty="0">
              <a:solidFill>
                <a:srgbClr val="0000C8"/>
              </a:solidFill>
              <a:latin typeface="Arial" panose="020B0604020202090204" pitchFamily="34" charset="0"/>
              <a:ea typeface="宋体" pitchFamily="2" charset="-122"/>
            </a:endParaRPr>
          </a:p>
        </p:txBody>
      </p:sp>
      <p:sp>
        <p:nvSpPr>
          <p:cNvPr id="5126" name="文本框 5125"/>
          <p:cNvSpPr txBox="1"/>
          <p:nvPr/>
        </p:nvSpPr>
        <p:spPr>
          <a:xfrm>
            <a:off x="4906010" y="2901950"/>
            <a:ext cx="6806565" cy="3038475"/>
          </a:xfrm>
          <a:prstGeom prst="rect">
            <a:avLst/>
          </a:prstGeom>
          <a:noFill/>
          <a:ln w="19050" cap="flat" cmpd="sng">
            <a:noFill/>
            <a:prstDash val="solid"/>
            <a:miter/>
            <a:headEnd type="none" w="med" len="med"/>
            <a:tailEnd type="none" w="med" len="med"/>
          </a:ln>
        </p:spPr>
        <p:txBody>
          <a:bodyPr wrap="square" lIns="90170" tIns="226695" rIns="90170" bIns="226695">
            <a:spAutoFit/>
          </a:bodyPr>
          <a:p>
            <a:pPr marL="342900" lvl="0" indent="-342900" algn="l" defTabSz="914400" eaLnBrk="1" latinLnBrk="0" hangingPunct="1">
              <a:buClr>
                <a:srgbClr val="C00000"/>
              </a:buClr>
              <a:buSzPct val="85000"/>
              <a:buFont typeface="Arial" panose="020B0604020202090204" pitchFamily="34" charset="0"/>
              <a:buChar char="•"/>
              <a:tabLst>
                <a:tab pos="268605" algn="l"/>
              </a:tabLst>
            </a:pPr>
            <a:r>
              <a:rPr lang="zh-CN" altLang="en-US" sz="2400" b="1" dirty="0">
                <a:solidFill>
                  <a:srgbClr val="0000C8"/>
                </a:solidFill>
                <a:latin typeface="+mn-lt"/>
                <a:ea typeface="楷体" charset="-122"/>
                <a:cs typeface="+mn-lt"/>
              </a:rPr>
              <a:t>根据GROUP属性上的取值，将元组集合划分成若干个小组（子集）；</a:t>
            </a:r>
            <a:endParaRPr lang="zh-CN" altLang="en-US" sz="2400" b="1" dirty="0">
              <a:solidFill>
                <a:srgbClr val="0000C8"/>
              </a:solidFill>
              <a:latin typeface="+mn-lt"/>
              <a:ea typeface="楷体" charset="-122"/>
              <a:cs typeface="+mn-lt"/>
            </a:endParaRPr>
          </a:p>
          <a:p>
            <a:pPr marL="342900" lvl="0" indent="-342900" algn="l" defTabSz="914400" eaLnBrk="1" latinLnBrk="0" hangingPunct="1">
              <a:spcBef>
                <a:spcPct val="50000"/>
              </a:spcBef>
              <a:buClr>
                <a:srgbClr val="C00000"/>
              </a:buClr>
              <a:buSzPct val="85000"/>
              <a:buFont typeface="Arial" panose="020B0604020202090204" pitchFamily="34" charset="0"/>
              <a:buChar char="•"/>
              <a:tabLst>
                <a:tab pos="268605" algn="l"/>
              </a:tabLst>
            </a:pPr>
            <a:r>
              <a:rPr lang="zh-CN" altLang="en-US" sz="2400" b="1" dirty="0">
                <a:solidFill>
                  <a:srgbClr val="0000C8"/>
                </a:solidFill>
                <a:latin typeface="+mn-lt"/>
                <a:ea typeface="楷体" charset="-122"/>
                <a:cs typeface="+mn-lt"/>
              </a:rPr>
              <a:t>在同一个小组中，分组属性上的取值都相同；不同小组之间，至少在某一个分组属性上的取值是不同的。</a:t>
            </a:r>
            <a:endParaRPr lang="zh-CN" altLang="en-US" sz="2400" b="1" dirty="0">
              <a:solidFill>
                <a:srgbClr val="0000C8"/>
              </a:solidFill>
              <a:latin typeface="+mn-lt"/>
              <a:ea typeface="楷体" charset="-122"/>
              <a:cs typeface="+mn-lt"/>
            </a:endParaRPr>
          </a:p>
          <a:p>
            <a:pPr marL="342900" lvl="0" indent="-342900" algn="l" defTabSz="914400" eaLnBrk="1" latinLnBrk="0" hangingPunct="1">
              <a:spcBef>
                <a:spcPct val="50000"/>
              </a:spcBef>
              <a:buClr>
                <a:srgbClr val="C00000"/>
              </a:buClr>
              <a:buSzPct val="85000"/>
              <a:buFont typeface="Arial" panose="020B0604020202090204" pitchFamily="34" charset="0"/>
              <a:buChar char="•"/>
              <a:tabLst>
                <a:tab pos="268605" algn="l"/>
              </a:tabLst>
            </a:pPr>
            <a:r>
              <a:rPr lang="zh-CN" altLang="en-US" sz="2400" b="1" dirty="0">
                <a:solidFill>
                  <a:srgbClr val="0000C8"/>
                </a:solidFill>
                <a:latin typeface="+mn-lt"/>
                <a:ea typeface="楷体" charset="-122"/>
                <a:cs typeface="+mn-lt"/>
              </a:rPr>
              <a:t>组与组之间依据它们的分组属性值进行了排序。</a:t>
            </a:r>
            <a:endParaRPr lang="zh-CN" altLang="en-US" sz="2400" b="1" dirty="0">
              <a:solidFill>
                <a:srgbClr val="0000C8"/>
              </a:solidFill>
              <a:latin typeface="+mn-lt"/>
              <a:ea typeface="楷体" charset="-122"/>
              <a:cs typeface="+mn-lt"/>
            </a:endParaRPr>
          </a:p>
        </p:txBody>
      </p:sp>
      <p:sp>
        <p:nvSpPr>
          <p:cNvPr id="4101" name="文本框 4100"/>
          <p:cNvSpPr txBox="1"/>
          <p:nvPr/>
        </p:nvSpPr>
        <p:spPr>
          <a:xfrm>
            <a:off x="938530" y="622618"/>
            <a:ext cx="3387725"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linds(horizontal)">
                                      <p:cBhvr>
                                        <p:cTn id="7" dur="500"/>
                                        <p:tgtEl>
                                          <p:spTgt spid="51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6"/>
                                        </p:tgtEl>
                                        <p:attrNameLst>
                                          <p:attrName>style.visibility</p:attrName>
                                        </p:attrNameLst>
                                      </p:cBhvr>
                                      <p:to>
                                        <p:strVal val="visible"/>
                                      </p:to>
                                    </p:set>
                                    <p:animEffect transition="in" filter="blinds(horizontal)">
                                      <p:cBhvr>
                                        <p:cTn id="12" dur="500"/>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bldLvl="0" animBg="1"/>
      <p:bldP spid="5126"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x-none" dirty="0">
                <a:latin typeface="Verdana" panose="020B0804030504040204" pitchFamily="2" charset="0"/>
                <a:sym typeface="+mn-ea"/>
              </a:rPr>
              <a:t>Example of GROUP BY 5</a:t>
            </a:r>
            <a:endParaRPr lang="zh-CN" altLang="en-US"/>
          </a:p>
        </p:txBody>
      </p:sp>
      <p:sp>
        <p:nvSpPr>
          <p:cNvPr id="5123" name="文本框 5122"/>
          <p:cNvSpPr txBox="1"/>
          <p:nvPr/>
        </p:nvSpPr>
        <p:spPr>
          <a:xfrm>
            <a:off x="7883525" y="622935"/>
            <a:ext cx="3387725" cy="612648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no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0000CC"/>
              </a:solidFill>
              <a:latin typeface="Arial" panose="020B0604020202090204" pitchFamily="34" charset="0"/>
              <a:ea typeface="宋体" pitchFamily="2" charset="-122"/>
            </a:endParaRPr>
          </a:p>
        </p:txBody>
      </p:sp>
      <p:sp>
        <p:nvSpPr>
          <p:cNvPr id="5125" name="右箭头 5124"/>
          <p:cNvSpPr/>
          <p:nvPr/>
        </p:nvSpPr>
        <p:spPr>
          <a:xfrm>
            <a:off x="4459605" y="2927350"/>
            <a:ext cx="3300095" cy="793750"/>
          </a:xfrm>
          <a:prstGeom prst="rightArrow">
            <a:avLst>
              <a:gd name="adj1" fmla="val 59805"/>
              <a:gd name="adj2" fmla="val 29266"/>
            </a:avLst>
          </a:prstGeom>
          <a:solidFill>
            <a:srgbClr val="CCFFCC">
              <a:alpha val="100000"/>
            </a:srgbClr>
          </a:solidFill>
          <a:ln w="9525" cap="flat" cmpd="sng">
            <a:solidFill>
              <a:schemeClr val="tx1"/>
            </a:solidFill>
            <a:prstDash val="solid"/>
            <a:bevel/>
            <a:headEnd type="none" w="med" len="med"/>
            <a:tailEnd type="none" w="med" len="med"/>
          </a:ln>
        </p:spPr>
        <p:txBody>
          <a:bodyPr vert="horz" wrap="none" lIns="90170" tIns="46990" rIns="90170" bIns="46990" anchor="ctr"/>
          <a:p>
            <a:pPr lvl="0" algn="ctr" eaLnBrk="1" latinLnBrk="0" hangingPunct="1"/>
            <a:r>
              <a:rPr lang="zh-CN" altLang="en-US" sz="2400" b="1" dirty="0">
                <a:latin typeface="Arial" panose="020B0604020202090204" pitchFamily="34" charset="0"/>
                <a:ea typeface="宋体" pitchFamily="2" charset="-122"/>
              </a:rPr>
              <a:t>GROUP BY DEP,JOB</a:t>
            </a:r>
            <a:endParaRPr lang="zh-CN" altLang="en-US" sz="2400" b="1" dirty="0">
              <a:latin typeface="Arial" panose="020B0604020202090204" pitchFamily="34" charset="0"/>
              <a:ea typeface="宋体" pitchFamily="2" charset="-122"/>
            </a:endParaRPr>
          </a:p>
        </p:txBody>
      </p:sp>
      <p:sp>
        <p:nvSpPr>
          <p:cNvPr id="4101" name="文本框 4100"/>
          <p:cNvSpPr txBox="1"/>
          <p:nvPr/>
        </p:nvSpPr>
        <p:spPr>
          <a:xfrm>
            <a:off x="938530" y="622618"/>
            <a:ext cx="3387725"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p:cTn id="7" dur="500" fill="hold"/>
                                        <p:tgtEl>
                                          <p:spTgt spid="5125"/>
                                        </p:tgtEl>
                                        <p:attrNameLst>
                                          <p:attrName>ppt_x</p:attrName>
                                        </p:attrNameLst>
                                      </p:cBhvr>
                                      <p:tavLst>
                                        <p:tav tm="0">
                                          <p:val>
                                            <p:strVal val="#ppt_x-#ppt_w/2"/>
                                          </p:val>
                                        </p:tav>
                                        <p:tav tm="100000">
                                          <p:val>
                                            <p:strVal val="#ppt_x"/>
                                          </p:val>
                                        </p:tav>
                                      </p:tavLst>
                                    </p:anim>
                                    <p:anim calcmode="lin" valueType="num">
                                      <p:cBhvr>
                                        <p:cTn id="8" dur="500" fill="hold"/>
                                        <p:tgtEl>
                                          <p:spTgt spid="5125"/>
                                        </p:tgtEl>
                                        <p:attrNameLst>
                                          <p:attrName>ppt_y</p:attrName>
                                        </p:attrNameLst>
                                      </p:cBhvr>
                                      <p:tavLst>
                                        <p:tav tm="0">
                                          <p:val>
                                            <p:strVal val="#ppt_y"/>
                                          </p:val>
                                        </p:tav>
                                        <p:tav tm="100000">
                                          <p:val>
                                            <p:strVal val="#ppt_y"/>
                                          </p:val>
                                        </p:tav>
                                      </p:tavLst>
                                    </p:anim>
                                    <p:anim calcmode="lin" valueType="num">
                                      <p:cBhvr>
                                        <p:cTn id="9" dur="500" fill="hold"/>
                                        <p:tgtEl>
                                          <p:spTgt spid="5125"/>
                                        </p:tgtEl>
                                        <p:attrNameLst>
                                          <p:attrName>ppt_w</p:attrName>
                                        </p:attrNameLst>
                                      </p:cBhvr>
                                      <p:tavLst>
                                        <p:tav tm="0">
                                          <p:val>
                                            <p:fltVal val="0.000000"/>
                                          </p:val>
                                        </p:tav>
                                        <p:tav tm="100000">
                                          <p:val>
                                            <p:strVal val="#ppt_w"/>
                                          </p:val>
                                        </p:tav>
                                      </p:tavLst>
                                    </p:anim>
                                    <p:anim calcmode="lin" valueType="num">
                                      <p:cBhvr>
                                        <p:cTn id="10" dur="500" fill="hold"/>
                                        <p:tgtEl>
                                          <p:spTgt spid="5125"/>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5123"/>
                                        </p:tgtEl>
                                        <p:attrNameLst>
                                          <p:attrName>style.visibility</p:attrName>
                                        </p:attrNameLst>
                                      </p:cBhvr>
                                      <p:to>
                                        <p:strVal val="visible"/>
                                      </p:to>
                                    </p:set>
                                    <p:animEffect transition="in" filter="blinds(horizontal)">
                                      <p:cBhvr>
                                        <p:cTn id="14" dur="500"/>
                                        <p:tgtEl>
                                          <p:spTgt spid="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ldLvl="0" animBg="1"/>
      <p:bldP spid="5125"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x-none" dirty="0">
                <a:latin typeface="Verdana" panose="020B0804030504040204" pitchFamily="2" charset="0"/>
                <a:sym typeface="+mn-ea"/>
              </a:rPr>
              <a:t>Example of GROUP BY 6</a:t>
            </a:r>
            <a:endParaRPr lang="zh-CN" altLang="en-US"/>
          </a:p>
        </p:txBody>
      </p:sp>
      <p:sp>
        <p:nvSpPr>
          <p:cNvPr id="6147" name="文本框 6146"/>
          <p:cNvSpPr txBox="1"/>
          <p:nvPr/>
        </p:nvSpPr>
        <p:spPr>
          <a:xfrm>
            <a:off x="5015230" y="890905"/>
            <a:ext cx="5682615" cy="2094230"/>
          </a:xfrm>
          <a:prstGeom prst="rect">
            <a:avLst/>
          </a:prstGeom>
          <a:solidFill>
            <a:schemeClr val="accent3">
              <a:lumMod val="20000"/>
              <a:lumOff val="80000"/>
              <a:alpha val="50000"/>
            </a:schemeClr>
          </a:solidFill>
          <a:ln w="12700" cap="flat" cmpd="sng">
            <a:noFill/>
            <a:prstDash val="solid"/>
            <a:miter/>
            <a:headEnd type="none" w="med" len="med"/>
            <a:tailEnd type="none" w="med" len="med"/>
          </a:ln>
        </p:spPr>
        <p:txBody>
          <a:bodyPr vert="horz" wrap="square" lIns="90170" tIns="46990" rIns="90170" bIns="46990" anchor="t">
            <a:spAutoFit/>
          </a:bodyPr>
          <a:p>
            <a:pPr marL="1905" lvl="0" indent="267970" eaLnBrk="1" latinLnBrk="0" hangingPunct="1"/>
            <a:r>
              <a:rPr lang="en-US" altLang="x-none" sz="2600" b="1" dirty="0">
                <a:solidFill>
                  <a:srgbClr val="FF0000"/>
                </a:solidFill>
                <a:latin typeface="Arial" panose="020B0604020202090204" pitchFamily="34" charset="0"/>
                <a:ea typeface="宋体" pitchFamily="2" charset="-122"/>
              </a:rPr>
              <a:t>SELECT  DEP, JOB, AVG(SAL)</a:t>
            </a:r>
            <a:endParaRPr lang="en-US" altLang="x-none" sz="2600" b="1" dirty="0">
              <a:solidFill>
                <a:srgbClr val="FF0000"/>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FROM  EMPL</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WHERE  JOB &lt;&gt; 'M'</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GROUP BY  DEP, JOB</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ORDER BY  AVG(SAL)  DESC</a:t>
            </a:r>
            <a:endParaRPr lang="en-US" altLang="x-none" sz="2600" b="1" dirty="0">
              <a:solidFill>
                <a:srgbClr val="0000C8"/>
              </a:solidFill>
              <a:latin typeface="Arial" panose="020B0604020202090204" pitchFamily="34" charset="0"/>
              <a:ea typeface="宋体" pitchFamily="2" charset="-122"/>
            </a:endParaRPr>
          </a:p>
        </p:txBody>
      </p:sp>
      <p:grpSp>
        <p:nvGrpSpPr>
          <p:cNvPr id="3" name="组合 2"/>
          <p:cNvGrpSpPr/>
          <p:nvPr/>
        </p:nvGrpSpPr>
        <p:grpSpPr>
          <a:xfrm>
            <a:off x="5015230" y="3854450"/>
            <a:ext cx="5565140" cy="1708785"/>
            <a:chOff x="5498" y="5023"/>
            <a:chExt cx="8764" cy="2691"/>
          </a:xfrm>
        </p:grpSpPr>
        <p:sp>
          <p:nvSpPr>
            <p:cNvPr id="6149" name="文本框 6148"/>
            <p:cNvSpPr txBox="1"/>
            <p:nvPr/>
          </p:nvSpPr>
          <p:spPr>
            <a:xfrm>
              <a:off x="5512" y="5856"/>
              <a:ext cx="8750" cy="1858"/>
            </a:xfrm>
            <a:prstGeom prst="rect">
              <a:avLst/>
            </a:prstGeom>
            <a:noFill/>
            <a:ln w="19050" cap="flat" cmpd="sng">
              <a:noFill/>
              <a:prstDash val="solid"/>
              <a:miter/>
              <a:headEnd type="none" w="med" len="med"/>
              <a:tailEnd type="none" w="med" len="med"/>
            </a:ln>
          </p:spPr>
          <p:txBody>
            <a:bodyPr wrap="square" lIns="0" tIns="36195" rIns="0" bIns="36195">
              <a:spAutoFit/>
            </a:bodyPr>
            <a:p>
              <a:pPr marL="342900" lvl="0" indent="-208915" algn="l" eaLnBrk="1" latinLnBrk="0" hangingPunct="1">
                <a:lnSpc>
                  <a:spcPct val="150000"/>
                </a:lnSpc>
                <a:buClr>
                  <a:srgbClr val="C00000"/>
                </a:buClr>
                <a:buSzPct val="85000"/>
                <a:buFont typeface="Arial" panose="020B0604020202090204" pitchFamily="34" charset="0"/>
                <a:buChar char="•"/>
              </a:pPr>
              <a:r>
                <a:rPr lang="zh-CN" altLang="en-US" sz="2400" b="1" dirty="0">
                  <a:solidFill>
                    <a:srgbClr val="0000C8"/>
                  </a:solidFill>
                  <a:latin typeface="+mn-lt"/>
                  <a:ea typeface="楷体" charset="-122"/>
                  <a:cs typeface="+mn-lt"/>
                </a:rPr>
                <a:t>每一个小组(group)都单独进行统计；</a:t>
              </a:r>
              <a:endParaRPr lang="zh-CN" altLang="en-US" sz="2400" b="1" dirty="0">
                <a:solidFill>
                  <a:srgbClr val="0000C8"/>
                </a:solidFill>
                <a:latin typeface="+mn-lt"/>
                <a:ea typeface="楷体" charset="-122"/>
                <a:cs typeface="+mn-lt"/>
              </a:endParaRPr>
            </a:p>
            <a:p>
              <a:pPr marL="342900" lvl="0" indent="-208915" algn="l" eaLnBrk="1" latinLnBrk="0" hangingPunct="1">
                <a:lnSpc>
                  <a:spcPct val="150000"/>
                </a:lnSpc>
                <a:buClr>
                  <a:srgbClr val="C00000"/>
                </a:buClr>
                <a:buSzPct val="85000"/>
                <a:buFont typeface="Arial" panose="020B0604020202090204" pitchFamily="34" charset="0"/>
                <a:buChar char="•"/>
              </a:pPr>
              <a:r>
                <a:rPr lang="zh-CN" altLang="en-US" sz="2400" b="1" dirty="0">
                  <a:solidFill>
                    <a:srgbClr val="0000C8"/>
                  </a:solidFill>
                  <a:latin typeface="+mn-lt"/>
                  <a:ea typeface="楷体" charset="-122"/>
                  <a:cs typeface="+mn-lt"/>
                </a:rPr>
                <a:t>一个小组产生一条结果元组；</a:t>
              </a:r>
              <a:endParaRPr lang="zh-CN" altLang="en-US" sz="2400" b="1" dirty="0">
                <a:solidFill>
                  <a:srgbClr val="0000C8"/>
                </a:solidFill>
                <a:latin typeface="+mn-lt"/>
                <a:ea typeface="楷体" charset="-122"/>
                <a:cs typeface="+mn-lt"/>
              </a:endParaRPr>
            </a:p>
          </p:txBody>
        </p:sp>
        <p:sp>
          <p:nvSpPr>
            <p:cNvPr id="2" name="文本框 1"/>
            <p:cNvSpPr txBox="1"/>
            <p:nvPr/>
          </p:nvSpPr>
          <p:spPr>
            <a:xfrm>
              <a:off x="5498" y="5023"/>
              <a:ext cx="7326" cy="725"/>
            </a:xfrm>
            <a:prstGeom prst="rect">
              <a:avLst/>
            </a:prstGeom>
            <a:noFill/>
          </p:spPr>
          <p:txBody>
            <a:bodyPr wrap="square" rtlCol="0">
              <a:spAutoFit/>
            </a:bodyPr>
            <a:p>
              <a:r>
                <a:rPr lang="zh-CN" altLang="en-US" sz="2400" b="1">
                  <a:solidFill>
                    <a:srgbClr val="0000C8"/>
                  </a:solidFill>
                  <a:latin typeface="+mn-lt"/>
                  <a:ea typeface="楷体" charset="-122"/>
                  <a:cs typeface="+mn-lt"/>
                </a:rPr>
                <a:t>根据</a:t>
              </a:r>
              <a:r>
                <a:rPr lang="en-US" altLang="zh-CN" sz="2400" b="1">
                  <a:solidFill>
                    <a:srgbClr val="0000C8"/>
                  </a:solidFill>
                  <a:latin typeface="+mn-lt"/>
                  <a:ea typeface="楷体" charset="-122"/>
                  <a:cs typeface="+mn-lt"/>
                </a:rPr>
                <a:t>SELECT</a:t>
              </a:r>
              <a:r>
                <a:rPr lang="zh-CN" altLang="en-US" sz="2400" b="1">
                  <a:solidFill>
                    <a:srgbClr val="0000C8"/>
                  </a:solidFill>
                  <a:latin typeface="+mn-lt"/>
                  <a:ea typeface="楷体" charset="-122"/>
                  <a:cs typeface="+mn-lt"/>
                </a:rPr>
                <a:t>子句进行如下统计：</a:t>
              </a:r>
              <a:endParaRPr lang="zh-CN" altLang="en-US" sz="2400" b="1">
                <a:solidFill>
                  <a:srgbClr val="0000C8"/>
                </a:solidFill>
                <a:latin typeface="+mn-lt"/>
                <a:ea typeface="楷体" charset="-122"/>
                <a:cs typeface="+mn-lt"/>
              </a:endParaRPr>
            </a:p>
          </p:txBody>
        </p:sp>
      </p:grpSp>
      <p:sp>
        <p:nvSpPr>
          <p:cNvPr id="5123" name="文本框 5122"/>
          <p:cNvSpPr txBox="1"/>
          <p:nvPr/>
        </p:nvSpPr>
        <p:spPr>
          <a:xfrm>
            <a:off x="1009650" y="624205"/>
            <a:ext cx="3387725" cy="612648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no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0000CC"/>
              </a:solidFill>
              <a:latin typeface="Arial" panose="020B0604020202090204" pitchFamily="34" charset="0"/>
              <a:ea typeface="宋体" pitchFamily="2" charset="-122"/>
            </a:endParaRPr>
          </a:p>
        </p:txBody>
      </p:sp>
      <p:sp>
        <p:nvSpPr>
          <p:cNvPr id="6" name="灯片编号占位符 5"/>
          <p:cNvSpPr>
            <a:spLocks noGrp="1"/>
          </p:cNvSpPr>
          <p:nvPr>
            <p:ph type="sldNum" sz="quarter" idx="12"/>
          </p:nvPr>
        </p:nvSpPr>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blinds(horizontal)">
                                      <p:cBhvr>
                                        <p:cTn id="7" dur="500"/>
                                        <p:tgtEl>
                                          <p:spTgt spid="61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x-none" dirty="0">
                <a:latin typeface="Verdana" panose="020B0804030504040204" pitchFamily="2" charset="0"/>
                <a:sym typeface="+mn-ea"/>
              </a:rPr>
              <a:t>Example of GROUP BY 7</a:t>
            </a:r>
            <a:endParaRPr lang="zh-CN" altLang="en-US"/>
          </a:p>
        </p:txBody>
      </p:sp>
      <p:sp>
        <p:nvSpPr>
          <p:cNvPr id="6148" name="右箭头 6147"/>
          <p:cNvSpPr/>
          <p:nvPr/>
        </p:nvSpPr>
        <p:spPr>
          <a:xfrm>
            <a:off x="4633595" y="2930525"/>
            <a:ext cx="2656205" cy="792480"/>
          </a:xfrm>
          <a:prstGeom prst="rightArrow">
            <a:avLst>
              <a:gd name="adj1" fmla="val 59805"/>
              <a:gd name="adj2" fmla="val 23080"/>
            </a:avLst>
          </a:prstGeom>
          <a:solidFill>
            <a:srgbClr val="CCFFCC">
              <a:alpha val="100000"/>
            </a:srgbClr>
          </a:solidFill>
          <a:ln w="9525" cap="flat" cmpd="sng">
            <a:solidFill>
              <a:schemeClr val="tx1"/>
            </a:solidFill>
            <a:prstDash val="solid"/>
            <a:miter/>
            <a:headEnd type="none" w="med" len="med"/>
            <a:tailEnd type="none" w="med" len="med"/>
          </a:ln>
        </p:spPr>
        <p:txBody>
          <a:bodyPr vert="horz" wrap="none" lIns="90170" tIns="46990" rIns="90170" bIns="46990" anchor="ctr"/>
          <a:p>
            <a:pPr lvl="0" algn="ctr" eaLnBrk="1" latinLnBrk="0" hangingPunct="1"/>
            <a:r>
              <a:rPr lang="zh-CN" altLang="en-US" sz="2400" b="1" dirty="0">
                <a:latin typeface="Arial" panose="020B0604020202090204" pitchFamily="34" charset="0"/>
                <a:ea typeface="宋体" pitchFamily="2" charset="-122"/>
              </a:rPr>
              <a:t>SELECT</a:t>
            </a:r>
            <a:endParaRPr lang="zh-CN" altLang="en-US" sz="2400" b="1" dirty="0">
              <a:latin typeface="Arial" panose="020B0604020202090204" pitchFamily="34" charset="0"/>
              <a:ea typeface="宋体" pitchFamily="2" charset="-122"/>
            </a:endParaRPr>
          </a:p>
        </p:txBody>
      </p:sp>
      <p:sp>
        <p:nvSpPr>
          <p:cNvPr id="6150" name="文本框 6149"/>
          <p:cNvSpPr txBox="1"/>
          <p:nvPr/>
        </p:nvSpPr>
        <p:spPr>
          <a:xfrm>
            <a:off x="7510463" y="624205"/>
            <a:ext cx="3703637" cy="595630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0" rIns="179705" bIns="46990" anchor="t">
            <a:sp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BLU    C          27000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BLU    S          30000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C          27500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RED</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FF0000"/>
                </a:solidFill>
                <a:latin typeface="Arial" panose="020B0604020202090204" pitchFamily="34" charset="0"/>
                <a:ea typeface="宋体" pitchFamily="2" charset="-122"/>
              </a:rPr>
              <a:t>S          30500</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dirty="0">
              <a:latin typeface="Times New Roman" panose="02020503050405090304" pitchFamily="2" charset="0"/>
              <a:ea typeface="宋体" pitchFamily="2" charset="-122"/>
            </a:endParaRPr>
          </a:p>
          <a:p>
            <a:pPr lvl="0" algn="l" eaLnBrk="1" hangingPunct="1">
              <a:lnSpc>
                <a:spcPct val="100000"/>
              </a:lnSpc>
              <a:spcBef>
                <a:spcPts val="0"/>
              </a:spcBef>
              <a:spcAft>
                <a:spcPts val="0"/>
              </a:spcAft>
            </a:pPr>
            <a:endParaRPr lang="zh-CN" altLang="en-US" sz="2400" dirty="0">
              <a:latin typeface="Times New Roman" panose="02020503050405090304" pitchFamily="2" charset="0"/>
              <a:ea typeface="宋体" pitchFamily="2" charset="-122"/>
            </a:endParaRPr>
          </a:p>
        </p:txBody>
      </p:sp>
      <p:sp>
        <p:nvSpPr>
          <p:cNvPr id="5123" name="文本框 5122"/>
          <p:cNvSpPr txBox="1"/>
          <p:nvPr/>
        </p:nvSpPr>
        <p:spPr>
          <a:xfrm>
            <a:off x="1009650" y="624205"/>
            <a:ext cx="3387725" cy="612648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no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0000CC"/>
              </a:solidFill>
              <a:latin typeface="Arial" panose="020B0604020202090204" pitchFamily="34" charset="0"/>
              <a:ea typeface="宋体" pitchFamily="2" charset="-122"/>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p:cTn id="7" dur="500" fill="hold"/>
                                        <p:tgtEl>
                                          <p:spTgt spid="6148"/>
                                        </p:tgtEl>
                                        <p:attrNameLst>
                                          <p:attrName>ppt_x</p:attrName>
                                        </p:attrNameLst>
                                      </p:cBhvr>
                                      <p:tavLst>
                                        <p:tav tm="0">
                                          <p:val>
                                            <p:strVal val="#ppt_x-#ppt_w/2"/>
                                          </p:val>
                                        </p:tav>
                                        <p:tav tm="100000">
                                          <p:val>
                                            <p:strVal val="#ppt_x"/>
                                          </p:val>
                                        </p:tav>
                                      </p:tavLst>
                                    </p:anim>
                                    <p:anim calcmode="lin" valueType="num">
                                      <p:cBhvr>
                                        <p:cTn id="8" dur="500" fill="hold"/>
                                        <p:tgtEl>
                                          <p:spTgt spid="6148"/>
                                        </p:tgtEl>
                                        <p:attrNameLst>
                                          <p:attrName>ppt_y</p:attrName>
                                        </p:attrNameLst>
                                      </p:cBhvr>
                                      <p:tavLst>
                                        <p:tav tm="0">
                                          <p:val>
                                            <p:strVal val="#ppt_y"/>
                                          </p:val>
                                        </p:tav>
                                        <p:tav tm="100000">
                                          <p:val>
                                            <p:strVal val="#ppt_y"/>
                                          </p:val>
                                        </p:tav>
                                      </p:tavLst>
                                    </p:anim>
                                    <p:anim calcmode="lin" valueType="num">
                                      <p:cBhvr>
                                        <p:cTn id="9" dur="500" fill="hold"/>
                                        <p:tgtEl>
                                          <p:spTgt spid="6148"/>
                                        </p:tgtEl>
                                        <p:attrNameLst>
                                          <p:attrName>ppt_w</p:attrName>
                                        </p:attrNameLst>
                                      </p:cBhvr>
                                      <p:tavLst>
                                        <p:tav tm="0">
                                          <p:val>
                                            <p:fltVal val="0.000000"/>
                                          </p:val>
                                        </p:tav>
                                        <p:tav tm="100000">
                                          <p:val>
                                            <p:strVal val="#ppt_w"/>
                                          </p:val>
                                        </p:tav>
                                      </p:tavLst>
                                    </p:anim>
                                    <p:anim calcmode="lin" valueType="num">
                                      <p:cBhvr>
                                        <p:cTn id="10" dur="500" fill="hold"/>
                                        <p:tgtEl>
                                          <p:spTgt spid="6148"/>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6150"/>
                                        </p:tgtEl>
                                        <p:attrNameLst>
                                          <p:attrName>style.visibility</p:attrName>
                                        </p:attrNameLst>
                                      </p:cBhvr>
                                      <p:to>
                                        <p:strVal val="visible"/>
                                      </p:to>
                                    </p:set>
                                    <p:animEffect transition="in" filter="blinds(horizontal)">
                                      <p:cBhvr>
                                        <p:cTn id="14"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ldLvl="0" animBg="1"/>
      <p:bldP spid="6150"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dirty="0">
                <a:latin typeface="Verdana" panose="020B0804030504040204" pitchFamily="2" charset="0"/>
                <a:sym typeface="+mn-ea"/>
              </a:rPr>
              <a:t>Example of GROUP BY 8</a:t>
            </a:r>
            <a:endParaRPr lang="zh-CN" altLang="en-US"/>
          </a:p>
        </p:txBody>
      </p:sp>
      <p:sp>
        <p:nvSpPr>
          <p:cNvPr id="7171" name="文本框 7170"/>
          <p:cNvSpPr txBox="1"/>
          <p:nvPr/>
        </p:nvSpPr>
        <p:spPr>
          <a:xfrm>
            <a:off x="5228590" y="809625"/>
            <a:ext cx="6374130" cy="2247900"/>
          </a:xfrm>
          <a:prstGeom prst="rect">
            <a:avLst/>
          </a:prstGeom>
          <a:solidFill>
            <a:schemeClr val="accent3">
              <a:lumMod val="20000"/>
              <a:lumOff val="80000"/>
              <a:alpha val="50000"/>
            </a:schemeClr>
          </a:solidFill>
          <a:ln w="12700" cap="flat" cmpd="sng">
            <a:noFill/>
            <a:prstDash val="solid"/>
            <a:miter/>
            <a:headEnd type="none" w="med" len="med"/>
            <a:tailEnd type="none" w="med" len="med"/>
          </a:ln>
        </p:spPr>
        <p:txBody>
          <a:bodyPr vert="horz" wrap="square" lIns="90170" tIns="46990" rIns="90170" bIns="46990" anchor="t">
            <a:spAutoFit/>
          </a:bodyPr>
          <a:p>
            <a:pPr marL="1905" lvl="0" indent="267970" eaLnBrk="1" latinLnBrk="0" hangingPunct="1"/>
            <a:r>
              <a:rPr lang="en-US" altLang="x-none" sz="2800" b="1" dirty="0">
                <a:solidFill>
                  <a:srgbClr val="0000C8"/>
                </a:solidFill>
                <a:latin typeface="Arial" panose="020B0604020202090204" pitchFamily="34" charset="0"/>
                <a:ea typeface="宋体" pitchFamily="2" charset="-122"/>
              </a:rPr>
              <a:t>SELECT  DEP, JOB, AVG(SAL)</a:t>
            </a:r>
            <a:endParaRPr lang="en-US" altLang="x-none" sz="28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800" b="1" dirty="0">
                <a:solidFill>
                  <a:srgbClr val="0000C8"/>
                </a:solidFill>
                <a:latin typeface="Arial" panose="020B0604020202090204" pitchFamily="34" charset="0"/>
                <a:ea typeface="宋体" pitchFamily="2" charset="-122"/>
              </a:rPr>
              <a:t>FROM  EMPL</a:t>
            </a:r>
            <a:endParaRPr lang="en-US" altLang="x-none" sz="28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800" b="1" dirty="0">
                <a:solidFill>
                  <a:srgbClr val="0000C8"/>
                </a:solidFill>
                <a:latin typeface="Arial" panose="020B0604020202090204" pitchFamily="34" charset="0"/>
                <a:ea typeface="宋体" pitchFamily="2" charset="-122"/>
              </a:rPr>
              <a:t>WHERE  JOB &lt;&gt; 'M'</a:t>
            </a:r>
            <a:endParaRPr lang="en-US" altLang="x-none" sz="28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800" b="1" dirty="0">
                <a:solidFill>
                  <a:srgbClr val="0000C8"/>
                </a:solidFill>
                <a:latin typeface="Arial" panose="020B0604020202090204" pitchFamily="34" charset="0"/>
                <a:ea typeface="宋体" pitchFamily="2" charset="-122"/>
              </a:rPr>
              <a:t>GROUP BY  DEP, JOB</a:t>
            </a:r>
            <a:endParaRPr lang="en-US" altLang="x-none" sz="28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800" b="1" dirty="0">
                <a:solidFill>
                  <a:srgbClr val="FF0000"/>
                </a:solidFill>
                <a:latin typeface="Arial" panose="020B0604020202090204" pitchFamily="34" charset="0"/>
                <a:ea typeface="宋体" pitchFamily="2" charset="-122"/>
              </a:rPr>
              <a:t>ORDER BY  AVG(SAL)  DESC</a:t>
            </a:r>
            <a:endParaRPr lang="en-US" altLang="x-none" sz="2800" dirty="0">
              <a:solidFill>
                <a:srgbClr val="FF0000"/>
              </a:solidFill>
              <a:latin typeface="Times New Roman" panose="02020503050405090304" pitchFamily="2" charset="0"/>
              <a:ea typeface="宋体" pitchFamily="2" charset="-122"/>
            </a:endParaRPr>
          </a:p>
        </p:txBody>
      </p:sp>
      <p:sp>
        <p:nvSpPr>
          <p:cNvPr id="6149" name="文本框 6148"/>
          <p:cNvSpPr txBox="1"/>
          <p:nvPr/>
        </p:nvSpPr>
        <p:spPr>
          <a:xfrm>
            <a:off x="5300345" y="3718560"/>
            <a:ext cx="5189220" cy="1436370"/>
          </a:xfrm>
          <a:prstGeom prst="rect">
            <a:avLst/>
          </a:prstGeom>
          <a:noFill/>
          <a:ln w="19050" cap="flat" cmpd="sng">
            <a:noFill/>
            <a:prstDash val="solid"/>
            <a:miter/>
            <a:headEnd type="none" w="med" len="med"/>
            <a:tailEnd type="none" w="med" len="med"/>
          </a:ln>
        </p:spPr>
        <p:txBody>
          <a:bodyPr wrap="square" lIns="179705" tIns="36195" rIns="71755" bIns="107950">
            <a:spAutoFit/>
          </a:bodyPr>
          <a:p>
            <a:pPr lvl="0" algn="l" eaLnBrk="1" latinLnBrk="0" hangingPunct="1">
              <a:lnSpc>
                <a:spcPct val="150000"/>
              </a:lnSpc>
              <a:buSzPct val="75000"/>
            </a:pPr>
            <a:r>
              <a:rPr lang="zh-CN" altLang="en-US" sz="2800" b="1" dirty="0">
                <a:solidFill>
                  <a:srgbClr val="0000C8"/>
                </a:solidFill>
                <a:latin typeface="Arial" panose="020B0604020202090204" pitchFamily="34" charset="0"/>
                <a:ea typeface="楷体" charset="-122"/>
                <a:cs typeface="Arial" panose="020B0604020202090204" pitchFamily="34" charset="0"/>
              </a:rPr>
              <a:t>根据</a:t>
            </a:r>
            <a:r>
              <a:rPr lang="en-US" altLang="zh-CN" sz="2800" b="1" dirty="0">
                <a:solidFill>
                  <a:srgbClr val="0000C8"/>
                </a:solidFill>
                <a:latin typeface="Arial" panose="020B0604020202090204" pitchFamily="34" charset="0"/>
                <a:ea typeface="楷体" charset="-122"/>
                <a:cs typeface="Arial" panose="020B0604020202090204" pitchFamily="34" charset="0"/>
              </a:rPr>
              <a:t>ORDER BY</a:t>
            </a:r>
            <a:r>
              <a:rPr lang="zh-CN" altLang="en-US" sz="2800" b="1" dirty="0">
                <a:solidFill>
                  <a:srgbClr val="0000C8"/>
                </a:solidFill>
                <a:latin typeface="Arial" panose="020B0604020202090204" pitchFamily="34" charset="0"/>
                <a:ea typeface="楷体" charset="-122"/>
                <a:cs typeface="Arial" panose="020B0604020202090204" pitchFamily="34" charset="0"/>
              </a:rPr>
              <a:t>子句的要求，对结果元组进行排序输出。</a:t>
            </a:r>
            <a:endParaRPr lang="zh-CN" altLang="en-US" sz="2800" b="1" dirty="0">
              <a:solidFill>
                <a:srgbClr val="0000C8"/>
              </a:solidFill>
              <a:latin typeface="Arial" panose="020B0604020202090204" pitchFamily="34" charset="0"/>
              <a:ea typeface="楷体" charset="-122"/>
              <a:cs typeface="Arial" panose="020B0604020202090204" pitchFamily="34" charset="0"/>
            </a:endParaRPr>
          </a:p>
        </p:txBody>
      </p:sp>
      <p:sp>
        <p:nvSpPr>
          <p:cNvPr id="6150" name="文本框 6149"/>
          <p:cNvSpPr txBox="1"/>
          <p:nvPr/>
        </p:nvSpPr>
        <p:spPr>
          <a:xfrm>
            <a:off x="888683" y="676275"/>
            <a:ext cx="3703637" cy="595630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0" rIns="179705" bIns="46990" anchor="t">
            <a:sp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BLU    C          27000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BLU    S          30000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C          27500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RED</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FF0000"/>
                </a:solidFill>
                <a:latin typeface="Arial" panose="020B0604020202090204" pitchFamily="34" charset="0"/>
                <a:ea typeface="宋体" pitchFamily="2" charset="-122"/>
              </a:rPr>
              <a:t>S          30500</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dirty="0">
              <a:latin typeface="Times New Roman" panose="02020503050405090304" pitchFamily="2" charset="0"/>
              <a:ea typeface="宋体" pitchFamily="2" charset="-122"/>
            </a:endParaRPr>
          </a:p>
          <a:p>
            <a:pPr lvl="0" algn="l" eaLnBrk="1" hangingPunct="1">
              <a:lnSpc>
                <a:spcPct val="100000"/>
              </a:lnSpc>
              <a:spcBef>
                <a:spcPts val="0"/>
              </a:spcBef>
              <a:spcAft>
                <a:spcPts val="0"/>
              </a:spcAft>
            </a:pPr>
            <a:endParaRPr lang="zh-CN" altLang="en-US" sz="2400" dirty="0">
              <a:latin typeface="Times New Roman" panose="02020503050405090304" pitchFamily="2" charset="0"/>
              <a:ea typeface="宋体" pitchFamily="2" charset="-122"/>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blinds(horizontal)">
                                      <p:cBhvr>
                                        <p:cTn id="7" dur="500"/>
                                        <p:tgtEl>
                                          <p:spTgt spid="71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blinds(horizontal)">
                                      <p:cBhvr>
                                        <p:cTn id="12"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ldLvl="0" animBg="1"/>
      <p:bldP spid="6149"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x-none" dirty="0">
                <a:latin typeface="Verdana" panose="020B0804030504040204" pitchFamily="2" charset="0"/>
                <a:sym typeface="+mn-ea"/>
              </a:rPr>
              <a:t>Example of GROUP BY 9</a:t>
            </a:r>
            <a:endParaRPr lang="zh-CN" altLang="en-US"/>
          </a:p>
        </p:txBody>
      </p:sp>
      <p:sp>
        <p:nvSpPr>
          <p:cNvPr id="7172" name="右箭头 7171"/>
          <p:cNvSpPr/>
          <p:nvPr/>
        </p:nvSpPr>
        <p:spPr>
          <a:xfrm>
            <a:off x="4669155" y="2930525"/>
            <a:ext cx="3005455" cy="1494155"/>
          </a:xfrm>
          <a:prstGeom prst="rightArrow">
            <a:avLst>
              <a:gd name="adj1" fmla="val 59805"/>
              <a:gd name="adj2" fmla="val 21256"/>
            </a:avLst>
          </a:prstGeom>
          <a:solidFill>
            <a:srgbClr val="CCFFCC">
              <a:alpha val="100000"/>
            </a:srgbClr>
          </a:solidFill>
          <a:ln w="9525" cap="flat" cmpd="sng">
            <a:solidFill>
              <a:schemeClr val="tx1"/>
            </a:solidFill>
            <a:prstDash val="solid"/>
            <a:miter/>
            <a:headEnd type="none" w="med" len="med"/>
            <a:tailEnd type="none" w="med" len="med"/>
          </a:ln>
        </p:spPr>
        <p:txBody>
          <a:bodyPr vert="horz" wrap="square" lIns="90170" tIns="46990" rIns="90170" bIns="46990" anchor="ctr"/>
          <a:p>
            <a:pPr lvl="0" algn="ctr" eaLnBrk="1" latinLnBrk="0" hangingPunct="1"/>
            <a:r>
              <a:rPr lang="zh-CN" altLang="en-US" sz="2400" b="1" dirty="0">
                <a:solidFill>
                  <a:srgbClr val="FF0000"/>
                </a:solidFill>
                <a:latin typeface="Arial" panose="020B0604020202090204" pitchFamily="34" charset="0"/>
                <a:ea typeface="宋体" pitchFamily="2" charset="-122"/>
              </a:rPr>
              <a:t>ORDER BY </a:t>
            </a:r>
            <a:r>
              <a:rPr lang="en-US" altLang="zh-CN" sz="2400" b="1" dirty="0">
                <a:solidFill>
                  <a:srgbClr val="FF0000"/>
                </a:solidFill>
                <a:latin typeface="Arial" panose="020B0604020202090204" pitchFamily="34" charset="0"/>
                <a:ea typeface="宋体" pitchFamily="2" charset="-122"/>
              </a:rPr>
              <a:t>AVG(SAL) DESC</a:t>
            </a:r>
            <a:endParaRPr lang="en-US" altLang="zh-CN" sz="2400" b="1" dirty="0">
              <a:solidFill>
                <a:srgbClr val="FF0000"/>
              </a:solidFill>
              <a:latin typeface="Arial" panose="020B0604020202090204" pitchFamily="34" charset="0"/>
              <a:ea typeface="宋体" pitchFamily="2" charset="-122"/>
            </a:endParaRPr>
          </a:p>
        </p:txBody>
      </p:sp>
      <p:sp>
        <p:nvSpPr>
          <p:cNvPr id="2" name="文本框 1"/>
          <p:cNvSpPr txBox="1"/>
          <p:nvPr/>
        </p:nvSpPr>
        <p:spPr>
          <a:xfrm>
            <a:off x="7755890" y="676275"/>
            <a:ext cx="3705225" cy="5746115"/>
          </a:xfrm>
          <a:prstGeom prst="rect">
            <a:avLst/>
          </a:prstGeom>
          <a:solidFill>
            <a:schemeClr val="bg1">
              <a:alpha val="100000"/>
            </a:schemeClr>
          </a:solidFill>
          <a:ln w="19050" cap="flat" cmpd="sng">
            <a:solidFill>
              <a:srgbClr val="000080"/>
            </a:solidFill>
            <a:prstDash val="solid"/>
            <a:bevel/>
            <a:headEnd type="none" w="med" len="med"/>
            <a:tailEnd type="none" w="med" len="med"/>
          </a:ln>
        </p:spPr>
        <p:txBody>
          <a:bodyPr vert="horz" wrap="square" lIns="179705" tIns="179705" rIns="179705" bIns="179705" anchor="t">
            <a:spAutoFit/>
          </a:bodyPr>
          <a:p>
            <a:pPr lvl="0" algn="l" eaLnBrk="1" hangingPunct="1">
              <a:lnSpc>
                <a:spcPct val="110000"/>
              </a:lnSpc>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10000"/>
              </a:lnSpc>
              <a:spcBef>
                <a:spcPct val="30000"/>
              </a:spcBef>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FF0000"/>
                </a:solidFill>
                <a:latin typeface="Arial" panose="020B0604020202090204" pitchFamily="34" charset="0"/>
                <a:sym typeface="+mn-ea"/>
              </a:rPr>
              <a:t>RED</a:t>
            </a:r>
            <a:r>
              <a:rPr lang="zh-CN" altLang="en-US" sz="2400" b="1" dirty="0">
                <a:solidFill>
                  <a:srgbClr val="0000CC"/>
                </a:solidFill>
                <a:latin typeface="Arial" panose="020B0604020202090204" pitchFamily="34" charset="0"/>
                <a:sym typeface="+mn-ea"/>
              </a:rPr>
              <a:t>    </a:t>
            </a:r>
            <a:r>
              <a:rPr lang="zh-CN" altLang="en-US" sz="2400" b="1" dirty="0">
                <a:solidFill>
                  <a:srgbClr val="FF0000"/>
                </a:solidFill>
                <a:latin typeface="Arial" panose="020B0604020202090204" pitchFamily="34" charset="0"/>
                <a:sym typeface="+mn-ea"/>
              </a:rPr>
              <a:t>S          30500</a:t>
            </a:r>
            <a:endParaRPr lang="zh-CN" altLang="en-US" sz="2400" b="1" dirty="0">
              <a:solidFill>
                <a:srgbClr val="FF0000"/>
              </a:solidFill>
              <a:latin typeface="Arial" panose="020B0604020202090204" pitchFamily="34" charset="0"/>
              <a:sym typeface="+mn-ea"/>
            </a:endParaRPr>
          </a:p>
          <a:p>
            <a:pPr lvl="0" algn="l" eaLnBrk="1" hangingPunct="1">
              <a:lnSpc>
                <a:spcPct val="110000"/>
              </a:lnSpc>
            </a:pPr>
            <a:r>
              <a:rPr lang="zh-CN" altLang="en-US" sz="2400" b="1" dirty="0">
                <a:solidFill>
                  <a:srgbClr val="0000CC"/>
                </a:solidFill>
                <a:latin typeface="Arial" panose="020B0604020202090204" pitchFamily="34" charset="0"/>
                <a:sym typeface="+mn-ea"/>
              </a:rPr>
              <a:t>BLU    S          30000</a:t>
            </a:r>
            <a:endParaRPr lang="zh-CN" altLang="en-US" sz="2400" b="1" dirty="0">
              <a:solidFill>
                <a:srgbClr val="0000CC"/>
              </a:solidFill>
              <a:latin typeface="Arial" panose="020B0604020202090204" pitchFamily="34" charset="0"/>
              <a:sym typeface="+mn-ea"/>
            </a:endParaRPr>
          </a:p>
          <a:p>
            <a:pPr lvl="0" algn="l" eaLnBrk="1" hangingPunct="1">
              <a:lnSpc>
                <a:spcPct val="110000"/>
              </a:lnSpc>
            </a:pPr>
            <a:r>
              <a:rPr lang="zh-CN" altLang="en-US" sz="2400" b="1" dirty="0">
                <a:solidFill>
                  <a:srgbClr val="009900"/>
                </a:solidFill>
                <a:latin typeface="Arial" panose="020B0604020202090204" pitchFamily="34" charset="0"/>
                <a:sym typeface="+mn-ea"/>
              </a:rPr>
              <a:t>GRE</a:t>
            </a:r>
            <a:r>
              <a:rPr lang="zh-CN" altLang="en-US" sz="2400" b="1" dirty="0">
                <a:solidFill>
                  <a:srgbClr val="0000CC"/>
                </a:solidFill>
                <a:latin typeface="Arial" panose="020B0604020202090204" pitchFamily="34" charset="0"/>
                <a:sym typeface="+mn-ea"/>
              </a:rPr>
              <a:t>    </a:t>
            </a:r>
            <a:r>
              <a:rPr lang="zh-CN" altLang="en-US" sz="2400" b="1" dirty="0">
                <a:solidFill>
                  <a:srgbClr val="009900"/>
                </a:solidFill>
                <a:latin typeface="Arial" panose="020B0604020202090204" pitchFamily="34" charset="0"/>
                <a:sym typeface="+mn-ea"/>
              </a:rPr>
              <a:t>C          27500</a:t>
            </a:r>
            <a:endParaRPr lang="zh-CN" altLang="en-US" sz="2400" b="1" dirty="0">
              <a:solidFill>
                <a:srgbClr val="009900"/>
              </a:solidFill>
              <a:latin typeface="Arial" panose="020B0604020202090204" pitchFamily="34" charset="0"/>
              <a:sym typeface="+mn-ea"/>
            </a:endParaRPr>
          </a:p>
          <a:p>
            <a:pPr lvl="0" algn="l" eaLnBrk="1" hangingPunct="1">
              <a:lnSpc>
                <a:spcPct val="110000"/>
              </a:lnSpc>
            </a:pPr>
            <a:r>
              <a:rPr lang="zh-CN" altLang="en-US" sz="2400" b="1" dirty="0">
                <a:solidFill>
                  <a:srgbClr val="0000CC"/>
                </a:solidFill>
                <a:latin typeface="Arial" panose="020B0604020202090204" pitchFamily="34" charset="0"/>
                <a:sym typeface="+mn-ea"/>
              </a:rPr>
              <a:t>BLU    C          27000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10000"/>
              </a:lnSpc>
            </a:pPr>
            <a:endParaRPr lang="zh-CN" altLang="en-US" sz="2400" b="1" dirty="0">
              <a:latin typeface="Times New Roman" panose="02020503050405090304" pitchFamily="2" charset="0"/>
              <a:ea typeface="宋体" pitchFamily="2" charset="-122"/>
            </a:endParaRPr>
          </a:p>
        </p:txBody>
      </p:sp>
      <p:sp>
        <p:nvSpPr>
          <p:cNvPr id="5" name="文本框 4"/>
          <p:cNvSpPr txBox="1"/>
          <p:nvPr/>
        </p:nvSpPr>
        <p:spPr>
          <a:xfrm>
            <a:off x="888683" y="676275"/>
            <a:ext cx="3703637" cy="595630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0" rIns="179705" bIns="46990" anchor="t">
            <a:sp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BLU    C          27000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BLU    S          30000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C          27500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RED</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FF0000"/>
                </a:solidFill>
                <a:latin typeface="Arial" panose="020B0604020202090204" pitchFamily="34" charset="0"/>
                <a:ea typeface="宋体" pitchFamily="2" charset="-122"/>
              </a:rPr>
              <a:t>S          30500</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dirty="0">
              <a:latin typeface="Times New Roman" panose="02020503050405090304" pitchFamily="2" charset="0"/>
              <a:ea typeface="宋体" pitchFamily="2" charset="-122"/>
            </a:endParaRPr>
          </a:p>
          <a:p>
            <a:pPr lvl="0" algn="l" eaLnBrk="1" hangingPunct="1">
              <a:lnSpc>
                <a:spcPct val="100000"/>
              </a:lnSpc>
              <a:spcBef>
                <a:spcPts val="0"/>
              </a:spcBef>
              <a:spcAft>
                <a:spcPts val="0"/>
              </a:spcAft>
            </a:pPr>
            <a:endParaRPr lang="zh-CN" altLang="en-US" sz="2400" dirty="0">
              <a:latin typeface="Times New Roman" panose="02020503050405090304" pitchFamily="2" charset="0"/>
              <a:ea typeface="宋体" pitchFamily="2" charset="-122"/>
            </a:endParaRPr>
          </a:p>
        </p:txBody>
      </p:sp>
      <p:sp>
        <p:nvSpPr>
          <p:cNvPr id="6" name="灯片编号占位符 5"/>
          <p:cNvSpPr>
            <a:spLocks noGrp="1"/>
          </p:cNvSpPr>
          <p:nvPr>
            <p:ph type="sldNum" sz="quarter" idx="12"/>
          </p:nvPr>
        </p:nvSpPr>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7172"/>
                                        </p:tgtEl>
                                        <p:attrNameLst>
                                          <p:attrName>style.visibility</p:attrName>
                                        </p:attrNameLst>
                                      </p:cBhvr>
                                      <p:to>
                                        <p:strVal val="visible"/>
                                      </p:to>
                                    </p:set>
                                    <p:anim calcmode="lin" valueType="num">
                                      <p:cBhvr>
                                        <p:cTn id="7" dur="500" fill="hold"/>
                                        <p:tgtEl>
                                          <p:spTgt spid="7172"/>
                                        </p:tgtEl>
                                        <p:attrNameLst>
                                          <p:attrName>ppt_x</p:attrName>
                                        </p:attrNameLst>
                                      </p:cBhvr>
                                      <p:tavLst>
                                        <p:tav tm="0">
                                          <p:val>
                                            <p:strVal val="#ppt_x-#ppt_w/2"/>
                                          </p:val>
                                        </p:tav>
                                        <p:tav tm="100000">
                                          <p:val>
                                            <p:strVal val="#ppt_x"/>
                                          </p:val>
                                        </p:tav>
                                      </p:tavLst>
                                    </p:anim>
                                    <p:anim calcmode="lin" valueType="num">
                                      <p:cBhvr>
                                        <p:cTn id="8" dur="500" fill="hold"/>
                                        <p:tgtEl>
                                          <p:spTgt spid="7172"/>
                                        </p:tgtEl>
                                        <p:attrNameLst>
                                          <p:attrName>ppt_y</p:attrName>
                                        </p:attrNameLst>
                                      </p:cBhvr>
                                      <p:tavLst>
                                        <p:tav tm="0">
                                          <p:val>
                                            <p:strVal val="#ppt_y"/>
                                          </p:val>
                                        </p:tav>
                                        <p:tav tm="100000">
                                          <p:val>
                                            <p:strVal val="#ppt_y"/>
                                          </p:val>
                                        </p:tav>
                                      </p:tavLst>
                                    </p:anim>
                                    <p:anim calcmode="lin" valueType="num">
                                      <p:cBhvr>
                                        <p:cTn id="9" dur="500" fill="hold"/>
                                        <p:tgtEl>
                                          <p:spTgt spid="7172"/>
                                        </p:tgtEl>
                                        <p:attrNameLst>
                                          <p:attrName>ppt_w</p:attrName>
                                        </p:attrNameLst>
                                      </p:cBhvr>
                                      <p:tavLst>
                                        <p:tav tm="0">
                                          <p:val>
                                            <p:fltVal val="0.000000"/>
                                          </p:val>
                                        </p:tav>
                                        <p:tav tm="100000">
                                          <p:val>
                                            <p:strVal val="#ppt_w"/>
                                          </p:val>
                                        </p:tav>
                                      </p:tavLst>
                                    </p:anim>
                                    <p:anim calcmode="lin" valueType="num">
                                      <p:cBhvr>
                                        <p:cTn id="10" dur="500" fill="hold"/>
                                        <p:tgtEl>
                                          <p:spTgt spid="7172"/>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linds(horizont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ldLvl="0" animBg="1"/>
      <p:bldP spid="2"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en-US" altLang="x-none" dirty="0">
                <a:latin typeface="Verdana" panose="020B0804030504040204" pitchFamily="2" charset="0"/>
                <a:sym typeface="+mn-ea"/>
              </a:rPr>
              <a:t>Example of GROUP BY 10</a:t>
            </a:r>
            <a:endParaRPr lang="zh-CN" altLang="en-US"/>
          </a:p>
        </p:txBody>
      </p:sp>
      <p:sp>
        <p:nvSpPr>
          <p:cNvPr id="7171" name="文本框 7170"/>
          <p:cNvSpPr txBox="1"/>
          <p:nvPr/>
        </p:nvSpPr>
        <p:spPr>
          <a:xfrm>
            <a:off x="5781040" y="774700"/>
            <a:ext cx="5404485" cy="2216150"/>
          </a:xfrm>
          <a:prstGeom prst="rect">
            <a:avLst/>
          </a:prstGeom>
          <a:solidFill>
            <a:schemeClr val="accent3">
              <a:lumMod val="20000"/>
              <a:lumOff val="80000"/>
              <a:alpha val="50000"/>
            </a:schemeClr>
          </a:solidFill>
          <a:ln w="12700" cap="flat" cmpd="sng">
            <a:noFill/>
            <a:prstDash val="solid"/>
            <a:miter/>
            <a:headEnd type="none" w="med" len="med"/>
            <a:tailEnd type="none" w="med" len="med"/>
          </a:ln>
        </p:spPr>
        <p:txBody>
          <a:bodyPr vert="horz" wrap="square" lIns="90170" tIns="107950" rIns="90170" bIns="107950" anchor="t">
            <a:spAutoFit/>
          </a:bodyPr>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SELECT  DEP, JOB, AVG(SAL)</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FROM  EMPL</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WHERE  JOB &lt;&gt; 'M'</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GROUP BY  DEP, JOB</a:t>
            </a:r>
            <a:endParaRPr lang="en-US" altLang="x-none" sz="2600" b="1" dirty="0">
              <a:solidFill>
                <a:srgbClr val="0000C8"/>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C8"/>
                </a:solidFill>
                <a:latin typeface="Arial" panose="020B0604020202090204" pitchFamily="34" charset="0"/>
                <a:ea typeface="宋体" pitchFamily="2" charset="-122"/>
              </a:rPr>
              <a:t>ORDER BY  AVG(SAL)  DESC</a:t>
            </a:r>
            <a:endParaRPr lang="en-US" altLang="x-none" sz="2600" b="1" dirty="0">
              <a:solidFill>
                <a:srgbClr val="0000C8"/>
              </a:solidFill>
              <a:latin typeface="Arial" panose="020B0604020202090204" pitchFamily="34" charset="0"/>
              <a:ea typeface="宋体" pitchFamily="2" charset="-122"/>
            </a:endParaRPr>
          </a:p>
        </p:txBody>
      </p:sp>
      <p:sp>
        <p:nvSpPr>
          <p:cNvPr id="3" name="圆角右箭头 2"/>
          <p:cNvSpPr/>
          <p:nvPr/>
        </p:nvSpPr>
        <p:spPr>
          <a:xfrm>
            <a:off x="5906770" y="847725"/>
            <a:ext cx="621030" cy="5038090"/>
          </a:xfrm>
          <a:prstGeom prst="bentArrow">
            <a:avLst/>
          </a:prstGeom>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 name="文本框 1"/>
          <p:cNvSpPr txBox="1"/>
          <p:nvPr/>
        </p:nvSpPr>
        <p:spPr>
          <a:xfrm>
            <a:off x="5681980" y="3856355"/>
            <a:ext cx="1515110" cy="460375"/>
          </a:xfrm>
          <a:prstGeom prst="rect">
            <a:avLst/>
          </a:prstGeom>
          <a:noFill/>
        </p:spPr>
        <p:txBody>
          <a:bodyPr wrap="square" rtlCol="0">
            <a:spAutoFit/>
          </a:bodyPr>
          <a:p>
            <a:pPr algn="r"/>
            <a:r>
              <a:rPr lang="zh-CN" altLang="zh-CN" sz="2400" b="1">
                <a:latin typeface="楷体" charset="-122"/>
                <a:ea typeface="楷体" charset="-122"/>
              </a:rPr>
              <a:t>查询结果</a:t>
            </a:r>
            <a:endParaRPr lang="zh-CN" altLang="zh-CN" sz="2400" b="1">
              <a:latin typeface="楷体" charset="-122"/>
              <a:ea typeface="楷体" charset="-122"/>
            </a:endParaRPr>
          </a:p>
        </p:txBody>
      </p:sp>
      <p:sp>
        <p:nvSpPr>
          <p:cNvPr id="7" name="文本框 6"/>
          <p:cNvSpPr txBox="1"/>
          <p:nvPr/>
        </p:nvSpPr>
        <p:spPr>
          <a:xfrm>
            <a:off x="607695" y="692785"/>
            <a:ext cx="4184650"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no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M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M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M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8" name="文本框 7"/>
          <p:cNvSpPr txBox="1"/>
          <p:nvPr/>
        </p:nvSpPr>
        <p:spPr>
          <a:xfrm>
            <a:off x="7259320" y="3715385"/>
            <a:ext cx="3705225" cy="2904490"/>
          </a:xfrm>
          <a:prstGeom prst="rect">
            <a:avLst/>
          </a:prstGeom>
          <a:solidFill>
            <a:schemeClr val="bg1">
              <a:alpha val="100000"/>
            </a:schemeClr>
          </a:solidFill>
          <a:ln w="19050" cap="flat" cmpd="sng">
            <a:solidFill>
              <a:srgbClr val="000080"/>
            </a:solidFill>
            <a:prstDash val="solid"/>
            <a:bevel/>
            <a:headEnd type="none" w="med" len="med"/>
            <a:tailEnd type="none" w="med" len="med"/>
          </a:ln>
        </p:spPr>
        <p:txBody>
          <a:bodyPr vert="horz" wrap="square" lIns="179705" tIns="179705" rIns="179705" bIns="179705" anchor="t">
            <a:spAutoFit/>
          </a:bodyPr>
          <a:p>
            <a:pPr lvl="0" algn="l" eaLnBrk="1" hangingPunct="1">
              <a:lnSpc>
                <a:spcPct val="110000"/>
              </a:lnSpc>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10000"/>
              </a:lnSpc>
              <a:spcBef>
                <a:spcPct val="30000"/>
              </a:spcBef>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FF0000"/>
                </a:solidFill>
                <a:latin typeface="Arial" panose="020B0604020202090204" pitchFamily="34" charset="0"/>
                <a:sym typeface="+mn-ea"/>
              </a:rPr>
              <a:t>RED</a:t>
            </a:r>
            <a:r>
              <a:rPr lang="zh-CN" altLang="en-US" sz="2400" b="1" dirty="0">
                <a:solidFill>
                  <a:srgbClr val="0000CC"/>
                </a:solidFill>
                <a:latin typeface="Arial" panose="020B0604020202090204" pitchFamily="34" charset="0"/>
                <a:sym typeface="+mn-ea"/>
              </a:rPr>
              <a:t>    </a:t>
            </a:r>
            <a:r>
              <a:rPr lang="zh-CN" altLang="en-US" sz="2400" b="1" dirty="0">
                <a:solidFill>
                  <a:srgbClr val="FF0000"/>
                </a:solidFill>
                <a:latin typeface="Arial" panose="020B0604020202090204" pitchFamily="34" charset="0"/>
                <a:sym typeface="+mn-ea"/>
              </a:rPr>
              <a:t>S          30500</a:t>
            </a:r>
            <a:endParaRPr lang="zh-CN" altLang="en-US" sz="2400" b="1" dirty="0">
              <a:solidFill>
                <a:srgbClr val="FF0000"/>
              </a:solidFill>
              <a:latin typeface="Arial" panose="020B0604020202090204" pitchFamily="34" charset="0"/>
              <a:sym typeface="+mn-ea"/>
            </a:endParaRPr>
          </a:p>
          <a:p>
            <a:pPr lvl="0" algn="l" eaLnBrk="1" hangingPunct="1">
              <a:lnSpc>
                <a:spcPct val="110000"/>
              </a:lnSpc>
            </a:pPr>
            <a:r>
              <a:rPr lang="zh-CN" altLang="en-US" sz="2400" b="1" dirty="0">
                <a:solidFill>
                  <a:srgbClr val="0000CC"/>
                </a:solidFill>
                <a:latin typeface="Arial" panose="020B0604020202090204" pitchFamily="34" charset="0"/>
                <a:sym typeface="+mn-ea"/>
              </a:rPr>
              <a:t>BLU    S          30000</a:t>
            </a:r>
            <a:endParaRPr lang="zh-CN" altLang="en-US" sz="2400" b="1" dirty="0">
              <a:solidFill>
                <a:srgbClr val="0000CC"/>
              </a:solidFill>
              <a:latin typeface="Arial" panose="020B0604020202090204" pitchFamily="34" charset="0"/>
              <a:sym typeface="+mn-ea"/>
            </a:endParaRPr>
          </a:p>
          <a:p>
            <a:pPr lvl="0" algn="l" eaLnBrk="1" hangingPunct="1">
              <a:lnSpc>
                <a:spcPct val="110000"/>
              </a:lnSpc>
            </a:pPr>
            <a:r>
              <a:rPr lang="zh-CN" altLang="en-US" sz="2400" b="1" dirty="0">
                <a:solidFill>
                  <a:srgbClr val="009900"/>
                </a:solidFill>
                <a:latin typeface="Arial" panose="020B0604020202090204" pitchFamily="34" charset="0"/>
                <a:sym typeface="+mn-ea"/>
              </a:rPr>
              <a:t>GRE</a:t>
            </a:r>
            <a:r>
              <a:rPr lang="zh-CN" altLang="en-US" sz="2400" b="1" dirty="0">
                <a:solidFill>
                  <a:srgbClr val="0000CC"/>
                </a:solidFill>
                <a:latin typeface="Arial" panose="020B0604020202090204" pitchFamily="34" charset="0"/>
                <a:sym typeface="+mn-ea"/>
              </a:rPr>
              <a:t>    </a:t>
            </a:r>
            <a:r>
              <a:rPr lang="zh-CN" altLang="en-US" sz="2400" b="1" dirty="0">
                <a:solidFill>
                  <a:srgbClr val="009900"/>
                </a:solidFill>
                <a:latin typeface="Arial" panose="020B0604020202090204" pitchFamily="34" charset="0"/>
                <a:sym typeface="+mn-ea"/>
              </a:rPr>
              <a:t>C          27500</a:t>
            </a:r>
            <a:endParaRPr lang="zh-CN" altLang="en-US" sz="2400" b="1" dirty="0">
              <a:solidFill>
                <a:srgbClr val="009900"/>
              </a:solidFill>
              <a:latin typeface="Arial" panose="020B0604020202090204" pitchFamily="34" charset="0"/>
              <a:sym typeface="+mn-ea"/>
            </a:endParaRPr>
          </a:p>
          <a:p>
            <a:pPr lvl="0" algn="l" eaLnBrk="1" hangingPunct="1">
              <a:lnSpc>
                <a:spcPct val="110000"/>
              </a:lnSpc>
            </a:pPr>
            <a:r>
              <a:rPr lang="zh-CN" altLang="en-US" sz="2400" b="1" dirty="0">
                <a:solidFill>
                  <a:srgbClr val="0000CC"/>
                </a:solidFill>
                <a:latin typeface="Arial" panose="020B0604020202090204" pitchFamily="34" charset="0"/>
                <a:sym typeface="+mn-ea"/>
              </a:rPr>
              <a:t>BLU    C          27000</a:t>
            </a:r>
            <a:endParaRPr lang="zh-CN" altLang="en-US" sz="2400" b="1" dirty="0">
              <a:latin typeface="Times New Roman" panose="02020503050405090304" pitchFamily="2" charset="0"/>
              <a:ea typeface="宋体" pitchFamily="2" charset="-122"/>
            </a:endParaRPr>
          </a:p>
        </p:txBody>
      </p:sp>
      <p:sp>
        <p:nvSpPr>
          <p:cNvPr id="9" name="灯片编号占位符 8"/>
          <p:cNvSpPr>
            <a:spLocks noGrp="1"/>
          </p:cNvSpPr>
          <p:nvPr>
            <p:ph type="sldNum" sz="quarter" idx="12"/>
          </p:nvPr>
        </p:nvSpPr>
        <p:spPr/>
        <p:txBody>
          <a:bodyPr/>
          <a:p>
            <a:fld id="{565CE74E-AB26-4998-AD42-012C4C1AD076}" type="slidenum">
              <a:rPr lang="zh-CN" altLang="en-US" smtClean="0"/>
            </a:fld>
            <a:endParaRPr lang="zh-CN" altLang="en-US"/>
          </a:p>
        </p:txBody>
      </p:sp>
      <p:sp>
        <p:nvSpPr>
          <p:cNvPr id="10" name="页脚占位符 9"/>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1" name="Rectangle 2"/>
          <p:cNvSpPr>
            <a:spLocks noGrp="1"/>
          </p:cNvSpPr>
          <p:nvPr>
            <p:ph type="title"/>
          </p:nvPr>
        </p:nvSpPr>
        <p:spPr/>
        <p:txBody>
          <a:bodyPr wrap="square" anchor="ctr"/>
          <a:p>
            <a:pPr eaLnBrk="1" hangingPunct="1"/>
            <a:r>
              <a:rPr lang="en-US" altLang="x-none" dirty="0">
                <a:latin typeface="Verdana" panose="020B0804030504040204" pitchFamily="2" charset="0"/>
                <a:sym typeface="+mn-ea"/>
              </a:rPr>
              <a:t>Example of GROUP BY+HAVING 1</a:t>
            </a:r>
            <a:endParaRPr lang="zh-CN" altLang="en-US" b="0" dirty="0"/>
          </a:p>
        </p:txBody>
      </p:sp>
      <p:sp>
        <p:nvSpPr>
          <p:cNvPr id="104452" name="Rectangle 3"/>
          <p:cNvSpPr>
            <a:spLocks noGrp="1"/>
          </p:cNvSpPr>
          <p:nvPr>
            <p:ph idx="1"/>
          </p:nvPr>
        </p:nvSpPr>
        <p:spPr/>
        <p:txBody>
          <a:bodyPr wrap="square" anchor="t"/>
          <a:p>
            <a:pPr eaLnBrk="1" hangingPunct="1">
              <a:lnSpc>
                <a:spcPct val="110000"/>
              </a:lnSpc>
              <a:spcBef>
                <a:spcPct val="0"/>
              </a:spcBef>
            </a:pPr>
            <a:r>
              <a:rPr lang="en-US" altLang="x-none" sz="2800" dirty="0"/>
              <a:t>GROUP BY &amp; HAVING</a:t>
            </a:r>
            <a:endParaRPr lang="en-US" altLang="x-none" sz="2800" dirty="0"/>
          </a:p>
          <a:p>
            <a:pPr lvl="1" eaLnBrk="1" hangingPunct="1">
              <a:lnSpc>
                <a:spcPct val="110000"/>
              </a:lnSpc>
              <a:spcBef>
                <a:spcPts val="1000"/>
              </a:spcBef>
            </a:pPr>
            <a:r>
              <a:rPr lang="zh-CN" altLang="en-US" sz="2800" dirty="0"/>
              <a:t>此两子句可以对映像语句所得到的集合元组</a:t>
            </a:r>
            <a:r>
              <a:rPr lang="zh-CN" altLang="en-US" sz="2800" dirty="0">
                <a:sym typeface="+mn-ea"/>
              </a:rPr>
              <a:t>（用</a:t>
            </a:r>
            <a:r>
              <a:rPr lang="en-US" altLang="x-none" sz="2800" dirty="0">
                <a:sym typeface="+mn-ea"/>
              </a:rPr>
              <a:t>GROUP BY</a:t>
            </a:r>
            <a:r>
              <a:rPr lang="zh-CN" altLang="en-US" sz="2800" dirty="0">
                <a:sym typeface="+mn-ea"/>
              </a:rPr>
              <a:t>子句）</a:t>
            </a:r>
            <a:r>
              <a:rPr lang="zh-CN" altLang="en-US" sz="2800" dirty="0"/>
              <a:t>分组，还可利用</a:t>
            </a:r>
            <a:r>
              <a:rPr lang="en-US" altLang="x-none" sz="2800" dirty="0"/>
              <a:t>HAVING</a:t>
            </a:r>
            <a:r>
              <a:rPr lang="zh-CN" altLang="en-US" sz="2800" dirty="0"/>
              <a:t>子句设置组选择条件</a:t>
            </a:r>
            <a:endParaRPr lang="zh-CN" altLang="en-US" sz="2800" dirty="0"/>
          </a:p>
          <a:p>
            <a:pPr eaLnBrk="1" hangingPunct="1">
              <a:lnSpc>
                <a:spcPct val="110000"/>
              </a:lnSpc>
              <a:spcBef>
                <a:spcPct val="0"/>
              </a:spcBef>
            </a:pPr>
            <a:endParaRPr lang="zh-CN" altLang="en-US" sz="1200" dirty="0"/>
          </a:p>
          <a:p>
            <a:pPr lvl="1" eaLnBrk="1" hangingPunct="1">
              <a:lnSpc>
                <a:spcPct val="110000"/>
              </a:lnSpc>
              <a:spcBef>
                <a:spcPct val="0"/>
              </a:spcBef>
              <a:buNone/>
            </a:pPr>
            <a:r>
              <a:rPr lang="en-US" altLang="x-none" sz="2800" dirty="0">
                <a:solidFill>
                  <a:schemeClr val="tx2"/>
                </a:solidFill>
              </a:rPr>
              <a:t>	</a:t>
            </a:r>
            <a:r>
              <a:rPr lang="en-US" altLang="x-none" sz="2800" dirty="0">
                <a:solidFill>
                  <a:schemeClr val="accent6"/>
                </a:solidFill>
              </a:rPr>
              <a:t>SELECT DEP, JOB, AVG(SAL)</a:t>
            </a:r>
            <a:endParaRPr lang="en-US" altLang="x-none" sz="2800" dirty="0">
              <a:solidFill>
                <a:schemeClr val="accent6"/>
              </a:solidFill>
            </a:endParaRPr>
          </a:p>
          <a:p>
            <a:pPr lvl="1" eaLnBrk="1" hangingPunct="1">
              <a:lnSpc>
                <a:spcPct val="110000"/>
              </a:lnSpc>
              <a:spcBef>
                <a:spcPct val="0"/>
              </a:spcBef>
              <a:buNone/>
            </a:pPr>
            <a:r>
              <a:rPr lang="en-US" altLang="x-none" sz="2800" dirty="0">
                <a:solidFill>
                  <a:schemeClr val="accent6"/>
                </a:solidFill>
              </a:rPr>
              <a:t>	FROM EMPL</a:t>
            </a:r>
            <a:endParaRPr lang="en-US" altLang="x-none" sz="2800" dirty="0">
              <a:solidFill>
                <a:schemeClr val="accent6"/>
              </a:solidFill>
            </a:endParaRPr>
          </a:p>
          <a:p>
            <a:pPr lvl="1" eaLnBrk="1" hangingPunct="1">
              <a:lnSpc>
                <a:spcPct val="110000"/>
              </a:lnSpc>
              <a:spcBef>
                <a:spcPct val="0"/>
              </a:spcBef>
              <a:buNone/>
            </a:pPr>
            <a:r>
              <a:rPr lang="en-US" altLang="x-none" sz="2800" dirty="0">
                <a:solidFill>
                  <a:schemeClr val="accent6"/>
                </a:solidFill>
              </a:rPr>
              <a:t>	WHERE JOB &lt;&gt; 'M'</a:t>
            </a:r>
            <a:endParaRPr lang="en-US" altLang="x-none" sz="2800" dirty="0">
              <a:solidFill>
                <a:schemeClr val="accent6"/>
              </a:solidFill>
            </a:endParaRPr>
          </a:p>
          <a:p>
            <a:pPr lvl="1" eaLnBrk="1" hangingPunct="1">
              <a:lnSpc>
                <a:spcPct val="110000"/>
              </a:lnSpc>
              <a:spcBef>
                <a:spcPct val="0"/>
              </a:spcBef>
              <a:buNone/>
            </a:pPr>
            <a:r>
              <a:rPr lang="en-US" altLang="x-none" sz="2800" dirty="0">
                <a:solidFill>
                  <a:schemeClr val="accent6"/>
                </a:solidFill>
              </a:rPr>
              <a:t>	GROUP BY DEP, JOB</a:t>
            </a:r>
            <a:endParaRPr lang="en-US" altLang="x-none" sz="2800" dirty="0">
              <a:solidFill>
                <a:schemeClr val="accent6"/>
              </a:solidFill>
            </a:endParaRPr>
          </a:p>
          <a:p>
            <a:pPr lvl="1" eaLnBrk="1" hangingPunct="1">
              <a:lnSpc>
                <a:spcPct val="110000"/>
              </a:lnSpc>
              <a:spcBef>
                <a:spcPct val="0"/>
              </a:spcBef>
              <a:buNone/>
            </a:pPr>
            <a:r>
              <a:rPr lang="en-US" altLang="x-none" sz="2800" dirty="0">
                <a:solidFill>
                  <a:schemeClr val="accent6"/>
                </a:solidFill>
              </a:rPr>
              <a:t>	HAVING AVG(SAL) &gt; 28000</a:t>
            </a:r>
            <a:endParaRPr lang="en-US" altLang="x-none" sz="2800" dirty="0">
              <a:solidFill>
                <a:schemeClr val="accent6"/>
              </a:solidFill>
            </a:endParaRPr>
          </a:p>
          <a:p>
            <a:pPr lvl="1" eaLnBrk="1" hangingPunct="1">
              <a:lnSpc>
                <a:spcPct val="110000"/>
              </a:lnSpc>
              <a:spcBef>
                <a:spcPct val="0"/>
              </a:spcBef>
              <a:buNone/>
            </a:pPr>
            <a:r>
              <a:rPr lang="en-US" altLang="x-none" sz="2800" dirty="0">
                <a:solidFill>
                  <a:schemeClr val="accent6"/>
                </a:solidFill>
              </a:rPr>
              <a:t>	ORDER BY AVG(SAL) DESC</a:t>
            </a:r>
            <a:endParaRPr lang="en-US" altLang="x-none" sz="2800" dirty="0">
              <a:solidFill>
                <a:schemeClr val="accent6"/>
              </a:solidFill>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dirty="0">
                <a:latin typeface="Verdana" panose="020B0804030504040204" pitchFamily="2" charset="0"/>
                <a:sym typeface="+mn-ea"/>
              </a:rPr>
              <a:t>Example of GROUP BY+HAVING 2</a:t>
            </a:r>
            <a:endParaRPr lang="zh-CN" altLang="en-US"/>
          </a:p>
        </p:txBody>
      </p:sp>
      <p:sp>
        <p:nvSpPr>
          <p:cNvPr id="4098" name="文本框 4097"/>
          <p:cNvSpPr txBox="1"/>
          <p:nvPr/>
        </p:nvSpPr>
        <p:spPr>
          <a:xfrm>
            <a:off x="861695" y="624205"/>
            <a:ext cx="3651250"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M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M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M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4099" name="文本框 4098"/>
          <p:cNvSpPr txBox="1"/>
          <p:nvPr/>
        </p:nvSpPr>
        <p:spPr>
          <a:xfrm>
            <a:off x="4953635" y="624205"/>
            <a:ext cx="5679440" cy="2494280"/>
          </a:xfrm>
          <a:prstGeom prst="rect">
            <a:avLst/>
          </a:prstGeom>
          <a:solidFill>
            <a:schemeClr val="accent3">
              <a:lumMod val="20000"/>
              <a:lumOff val="80000"/>
              <a:alpha val="50000"/>
            </a:schemeClr>
          </a:solidFill>
          <a:ln w="12700" cap="flat" cmpd="sng">
            <a:noFill/>
            <a:prstDash val="solid"/>
            <a:miter/>
            <a:headEnd type="none" w="med" len="med"/>
            <a:tailEnd type="none" w="med" len="med"/>
          </a:ln>
        </p:spPr>
        <p:txBody>
          <a:bodyPr wrap="square" lIns="90170" tIns="46990" rIns="90170" bIns="46990">
            <a:spAutoFit/>
          </a:bodyPr>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SELECT  DEP, JOB, AVG(SAL)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FROM  EMPL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FF0000"/>
                </a:solidFill>
                <a:latin typeface="Arial" panose="020B0604020202090204" pitchFamily="34" charset="0"/>
                <a:ea typeface="宋体" pitchFamily="2" charset="-122"/>
              </a:rPr>
              <a:t>WHERE  JOB &lt;&gt; 'M'</a:t>
            </a:r>
            <a:endParaRPr lang="en-US" altLang="x-none" sz="2600" b="1" dirty="0">
              <a:solidFill>
                <a:srgbClr val="FF0000"/>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GROUP BY  DEP, JOB</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HAVING AVG(SAL)&gt;28000</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ORDER BY  AVG(SAL)  DESC</a:t>
            </a:r>
            <a:endParaRPr lang="en-US" altLang="x-none" sz="2600" b="1" dirty="0">
              <a:solidFill>
                <a:srgbClr val="0000FF"/>
              </a:solidFill>
              <a:latin typeface="Arial" panose="020B0604020202090204" pitchFamily="34" charset="0"/>
              <a:ea typeface="宋体" pitchFamily="2" charset="-122"/>
            </a:endParaRPr>
          </a:p>
        </p:txBody>
      </p:sp>
      <p:sp>
        <p:nvSpPr>
          <p:cNvPr id="3" name="文本框 2"/>
          <p:cNvSpPr txBox="1"/>
          <p:nvPr/>
        </p:nvSpPr>
        <p:spPr>
          <a:xfrm>
            <a:off x="5159375" y="3789045"/>
            <a:ext cx="6196330" cy="953135"/>
          </a:xfrm>
          <a:prstGeom prst="rect">
            <a:avLst/>
          </a:prstGeom>
          <a:noFill/>
        </p:spPr>
        <p:txBody>
          <a:bodyPr wrap="square" rtlCol="0">
            <a:spAutoFit/>
          </a:bodyPr>
          <a:p>
            <a:pPr marL="457200" indent="-457200" algn="l">
              <a:buFont typeface="Arial" panose="020B0604020202090204" pitchFamily="34" charset="0"/>
              <a:buChar char="•"/>
            </a:pPr>
            <a:r>
              <a:rPr lang="zh-CN" altLang="zh-CN" sz="2800" b="1">
                <a:solidFill>
                  <a:srgbClr val="0000FF"/>
                </a:solidFill>
                <a:latin typeface="+mn-lt"/>
                <a:ea typeface="楷体" charset="-122"/>
                <a:cs typeface="+mn-lt"/>
              </a:rPr>
              <a:t>首先根据</a:t>
            </a:r>
            <a:r>
              <a:rPr lang="en-US" altLang="zh-CN" sz="2800" b="1">
                <a:solidFill>
                  <a:srgbClr val="0000FF"/>
                </a:solidFill>
                <a:latin typeface="+mn-lt"/>
                <a:ea typeface="楷体" charset="-122"/>
                <a:cs typeface="+mn-lt"/>
              </a:rPr>
              <a:t>WHERE</a:t>
            </a:r>
            <a:r>
              <a:rPr lang="zh-CN" altLang="zh-CN" sz="2800" b="1">
                <a:solidFill>
                  <a:srgbClr val="0000FF"/>
                </a:solidFill>
                <a:latin typeface="+mn-lt"/>
                <a:ea typeface="楷体" charset="-122"/>
                <a:cs typeface="+mn-lt"/>
              </a:rPr>
              <a:t>子句进行查询，得到待统计的元组集合</a:t>
            </a:r>
            <a:endParaRPr lang="zh-CN" altLang="zh-CN" sz="2800" b="1">
              <a:solidFill>
                <a:srgbClr val="0000FF"/>
              </a:solidFill>
              <a:latin typeface="+mn-lt"/>
              <a:ea typeface="楷体" charset="-122"/>
              <a:cs typeface="+mn-lt"/>
            </a:endParaRPr>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x-none" dirty="0">
                <a:latin typeface="Verdana" panose="020B0804030504040204" pitchFamily="2" charset="0"/>
                <a:sym typeface="+mn-ea"/>
              </a:rPr>
              <a:t>Example of GROUP BY+HAVING 3</a:t>
            </a:r>
            <a:endParaRPr lang="zh-CN" altLang="en-US"/>
          </a:p>
        </p:txBody>
      </p:sp>
      <p:sp>
        <p:nvSpPr>
          <p:cNvPr id="4100" name="右箭头 4099"/>
          <p:cNvSpPr/>
          <p:nvPr/>
        </p:nvSpPr>
        <p:spPr>
          <a:xfrm>
            <a:off x="4870450" y="2926080"/>
            <a:ext cx="2852420" cy="793750"/>
          </a:xfrm>
          <a:prstGeom prst="rightArrow">
            <a:avLst>
              <a:gd name="adj1" fmla="val 59805"/>
              <a:gd name="adj2" fmla="val 29266"/>
            </a:avLst>
          </a:prstGeom>
          <a:solidFill>
            <a:srgbClr val="CCFFCC">
              <a:alpha val="47000"/>
            </a:srgbClr>
          </a:solidFill>
          <a:ln w="9525" cap="flat" cmpd="sng">
            <a:solidFill>
              <a:schemeClr val="tx1"/>
            </a:solidFill>
            <a:prstDash val="solid"/>
            <a:miter/>
            <a:headEnd type="none" w="med" len="med"/>
            <a:tailEnd type="none" w="med" len="med"/>
          </a:ln>
        </p:spPr>
        <p:txBody>
          <a:bodyPr wrap="none" lIns="90170" tIns="46990" rIns="90170" bIns="46990" anchor="ctr"/>
          <a:p>
            <a:pPr lvl="0" algn="ctr" eaLnBrk="1" latinLnBrk="0" hangingPunct="1"/>
            <a:r>
              <a:rPr lang="zh-CN" altLang="en-US" sz="2000" b="1" dirty="0">
                <a:latin typeface="Arial" panose="020B0604020202090204" pitchFamily="34" charset="0"/>
                <a:ea typeface="宋体" pitchFamily="2" charset="-122"/>
              </a:rPr>
              <a:t>WHERE </a:t>
            </a:r>
            <a:r>
              <a:rPr lang="zh-CN" altLang="en-US" sz="2400" b="1" dirty="0">
                <a:latin typeface="Arial" panose="020B0604020202090204" pitchFamily="34" charset="0"/>
                <a:ea typeface="宋体" pitchFamily="2" charset="-122"/>
              </a:rPr>
              <a:t>JOB</a:t>
            </a:r>
            <a:r>
              <a:rPr lang="zh-CN" altLang="en-US" sz="2000" b="1" dirty="0">
                <a:latin typeface="Arial" panose="020B0604020202090204" pitchFamily="34" charset="0"/>
                <a:ea typeface="宋体" pitchFamily="2" charset="-122"/>
              </a:rPr>
              <a:t>&lt;&gt;'M'</a:t>
            </a:r>
            <a:endParaRPr lang="zh-CN" altLang="en-US" sz="2000" b="1" dirty="0">
              <a:latin typeface="Arial" panose="020B0604020202090204" pitchFamily="34" charset="0"/>
              <a:ea typeface="宋体" pitchFamily="2" charset="-122"/>
            </a:endParaRPr>
          </a:p>
        </p:txBody>
      </p:sp>
      <p:sp>
        <p:nvSpPr>
          <p:cNvPr id="4101" name="文本框 4100"/>
          <p:cNvSpPr txBox="1"/>
          <p:nvPr/>
        </p:nvSpPr>
        <p:spPr>
          <a:xfrm>
            <a:off x="8152765" y="623888"/>
            <a:ext cx="3387725"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4" name="文本框 3"/>
          <p:cNvSpPr txBox="1"/>
          <p:nvPr/>
        </p:nvSpPr>
        <p:spPr>
          <a:xfrm>
            <a:off x="861695" y="624205"/>
            <a:ext cx="3651250"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M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M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M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dirty="0">
                <a:latin typeface="Verdana" panose="020B0804030504040204" pitchFamily="2" charset="0"/>
                <a:sym typeface="+mn-ea"/>
              </a:rPr>
              <a:t>Example of GROUP BY+HAVING 4</a:t>
            </a:r>
            <a:endParaRPr lang="zh-CN" altLang="en-US"/>
          </a:p>
        </p:txBody>
      </p:sp>
      <p:sp>
        <p:nvSpPr>
          <p:cNvPr id="5124" name="文本框 5123"/>
          <p:cNvSpPr txBox="1"/>
          <p:nvPr/>
        </p:nvSpPr>
        <p:spPr>
          <a:xfrm>
            <a:off x="4896485" y="733425"/>
            <a:ext cx="5736590" cy="2494280"/>
          </a:xfrm>
          <a:prstGeom prst="rect">
            <a:avLst/>
          </a:prstGeom>
          <a:solidFill>
            <a:schemeClr val="accent3">
              <a:lumMod val="20000"/>
              <a:lumOff val="80000"/>
              <a:alpha val="50000"/>
            </a:schemeClr>
          </a:solidFill>
          <a:ln w="12700" cap="flat" cmpd="sng">
            <a:noFill/>
            <a:prstDash val="solid"/>
            <a:bevel/>
            <a:headEnd type="none" w="med" len="med"/>
            <a:tailEnd type="none" w="med" len="med"/>
          </a:ln>
        </p:spPr>
        <p:txBody>
          <a:bodyPr vert="horz" wrap="square" lIns="90170" tIns="46990" rIns="90170" bIns="46990" anchor="t">
            <a:spAutoFit/>
          </a:bodyPr>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SELECT  DEP, JOB, AVG(SAL)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FROM  EMPL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WHERE  JOB &lt;&gt; 'M'</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FF0000"/>
                </a:solidFill>
                <a:latin typeface="Arial" panose="020B0604020202090204" pitchFamily="34" charset="0"/>
                <a:ea typeface="宋体" pitchFamily="2" charset="-122"/>
              </a:rPr>
              <a:t>GROUP BY  DEP, JOB</a:t>
            </a:r>
            <a:endParaRPr lang="en-US" altLang="x-none" sz="2600" b="1" dirty="0">
              <a:solidFill>
                <a:srgbClr val="FF0000"/>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sym typeface="+mn-ea"/>
              </a:rPr>
              <a:t>HAVING AVG(SAL)&gt;28000</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ORDER BY  AVG(SAL)  DESC</a:t>
            </a:r>
            <a:endParaRPr lang="en-US" altLang="x-none" sz="2600" b="1" dirty="0">
              <a:solidFill>
                <a:srgbClr val="0000FF"/>
              </a:solidFill>
              <a:latin typeface="Arial" panose="020B0604020202090204" pitchFamily="34" charset="0"/>
              <a:ea typeface="宋体" pitchFamily="2" charset="-122"/>
            </a:endParaRPr>
          </a:p>
        </p:txBody>
      </p:sp>
      <p:sp>
        <p:nvSpPr>
          <p:cNvPr id="5126" name="文本框 5125"/>
          <p:cNvSpPr txBox="1"/>
          <p:nvPr/>
        </p:nvSpPr>
        <p:spPr>
          <a:xfrm>
            <a:off x="4906010" y="3369945"/>
            <a:ext cx="6740525" cy="3038475"/>
          </a:xfrm>
          <a:prstGeom prst="rect">
            <a:avLst/>
          </a:prstGeom>
          <a:noFill/>
          <a:ln w="19050" cap="flat" cmpd="sng">
            <a:noFill/>
            <a:prstDash val="solid"/>
            <a:miter/>
            <a:headEnd type="none" w="med" len="med"/>
            <a:tailEnd type="none" w="med" len="med"/>
          </a:ln>
        </p:spPr>
        <p:txBody>
          <a:bodyPr wrap="square" lIns="90170" tIns="226695" rIns="90170" bIns="226695">
            <a:spAutoFit/>
          </a:bodyPr>
          <a:p>
            <a:pPr marL="342900" lvl="0" indent="-342900" algn="l" defTabSz="914400" eaLnBrk="1" latinLnBrk="0" hangingPunct="1">
              <a:buClr>
                <a:srgbClr val="C00000"/>
              </a:buClr>
              <a:buSzPct val="100000"/>
              <a:buFont typeface="Arial" panose="020B0604020202090204" pitchFamily="34" charset="0"/>
              <a:buChar char="•"/>
              <a:tabLst>
                <a:tab pos="268605" algn="l"/>
              </a:tabLst>
            </a:pPr>
            <a:r>
              <a:rPr lang="zh-CN" altLang="en-US" sz="2400" b="1" dirty="0">
                <a:solidFill>
                  <a:srgbClr val="0000FF"/>
                </a:solidFill>
                <a:latin typeface="+mn-lt"/>
                <a:ea typeface="楷体" charset="-122"/>
                <a:cs typeface="+mn-lt"/>
              </a:rPr>
              <a:t>根据GROUP属性上的取值，将元组集合划分成若干个小组（子集）；</a:t>
            </a:r>
            <a:endParaRPr lang="zh-CN" altLang="en-US" sz="2400" b="1" dirty="0">
              <a:solidFill>
                <a:srgbClr val="0000FF"/>
              </a:solidFill>
              <a:latin typeface="+mn-lt"/>
              <a:ea typeface="楷体" charset="-122"/>
              <a:cs typeface="+mn-lt"/>
            </a:endParaRPr>
          </a:p>
          <a:p>
            <a:pPr marL="342900" lvl="0" indent="-342900" algn="l" defTabSz="914400" eaLnBrk="1" latinLnBrk="0" hangingPunct="1">
              <a:spcBef>
                <a:spcPct val="50000"/>
              </a:spcBef>
              <a:buClr>
                <a:srgbClr val="C00000"/>
              </a:buClr>
              <a:buSzPct val="100000"/>
              <a:buFont typeface="Arial" panose="020B0604020202090204" pitchFamily="34" charset="0"/>
              <a:buChar char="•"/>
              <a:tabLst>
                <a:tab pos="268605" algn="l"/>
              </a:tabLst>
            </a:pPr>
            <a:r>
              <a:rPr lang="zh-CN" altLang="en-US" sz="2400" b="1" dirty="0">
                <a:solidFill>
                  <a:srgbClr val="0000FF"/>
                </a:solidFill>
                <a:latin typeface="+mn-lt"/>
                <a:ea typeface="楷体" charset="-122"/>
                <a:cs typeface="+mn-lt"/>
              </a:rPr>
              <a:t>在同一个小组中，分组属性上的取值都相同；不同小组之间，至少在某一个分组属性上的取值是不同的。</a:t>
            </a:r>
            <a:endParaRPr lang="zh-CN" altLang="en-US" sz="2400" b="1" dirty="0">
              <a:solidFill>
                <a:srgbClr val="0000FF"/>
              </a:solidFill>
              <a:latin typeface="+mn-lt"/>
              <a:ea typeface="楷体" charset="-122"/>
              <a:cs typeface="+mn-lt"/>
            </a:endParaRPr>
          </a:p>
          <a:p>
            <a:pPr marL="342900" lvl="0" indent="-342900" algn="l" defTabSz="914400" eaLnBrk="1" latinLnBrk="0" hangingPunct="1">
              <a:spcBef>
                <a:spcPct val="50000"/>
              </a:spcBef>
              <a:buClr>
                <a:srgbClr val="C00000"/>
              </a:buClr>
              <a:buSzPct val="100000"/>
              <a:buFont typeface="Arial" panose="020B0604020202090204" pitchFamily="34" charset="0"/>
              <a:buChar char="•"/>
              <a:tabLst>
                <a:tab pos="268605" algn="l"/>
              </a:tabLst>
            </a:pPr>
            <a:r>
              <a:rPr lang="zh-CN" altLang="en-US" sz="2400" b="1" dirty="0">
                <a:solidFill>
                  <a:srgbClr val="0000FF"/>
                </a:solidFill>
                <a:latin typeface="+mn-lt"/>
                <a:ea typeface="楷体" charset="-122"/>
                <a:cs typeface="+mn-lt"/>
              </a:rPr>
              <a:t>组与组之间依据它们的分组属性值进行了排序。</a:t>
            </a:r>
            <a:endParaRPr lang="zh-CN" altLang="en-US" sz="2400" b="1" dirty="0">
              <a:solidFill>
                <a:srgbClr val="0000FF"/>
              </a:solidFill>
              <a:latin typeface="+mn-lt"/>
              <a:ea typeface="楷体" charset="-122"/>
              <a:cs typeface="+mn-lt"/>
            </a:endParaRPr>
          </a:p>
        </p:txBody>
      </p:sp>
      <p:sp>
        <p:nvSpPr>
          <p:cNvPr id="4101" name="文本框 4100"/>
          <p:cNvSpPr txBox="1"/>
          <p:nvPr/>
        </p:nvSpPr>
        <p:spPr>
          <a:xfrm>
            <a:off x="834390" y="624205"/>
            <a:ext cx="3512820"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x-none" dirty="0">
                <a:latin typeface="Verdana" panose="020B0804030504040204" pitchFamily="2" charset="0"/>
                <a:sym typeface="+mn-ea"/>
              </a:rPr>
              <a:t>Example of GROUP BY+HAVING 5</a:t>
            </a:r>
            <a:endParaRPr lang="zh-CN" altLang="en-US"/>
          </a:p>
        </p:txBody>
      </p:sp>
      <p:sp>
        <p:nvSpPr>
          <p:cNvPr id="5123" name="文本框 5122"/>
          <p:cNvSpPr txBox="1"/>
          <p:nvPr/>
        </p:nvSpPr>
        <p:spPr>
          <a:xfrm>
            <a:off x="8283258" y="644525"/>
            <a:ext cx="3387725" cy="612648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0000CC"/>
              </a:solidFill>
              <a:latin typeface="Arial" panose="020B0604020202090204" pitchFamily="34" charset="0"/>
              <a:ea typeface="宋体" pitchFamily="2" charset="-122"/>
            </a:endParaRPr>
          </a:p>
        </p:txBody>
      </p:sp>
      <p:sp>
        <p:nvSpPr>
          <p:cNvPr id="5125" name="右箭头 5124"/>
          <p:cNvSpPr/>
          <p:nvPr/>
        </p:nvSpPr>
        <p:spPr>
          <a:xfrm>
            <a:off x="4696460" y="2927350"/>
            <a:ext cx="3435350" cy="793750"/>
          </a:xfrm>
          <a:prstGeom prst="rightArrow">
            <a:avLst>
              <a:gd name="adj1" fmla="val 59805"/>
              <a:gd name="adj2" fmla="val 29266"/>
            </a:avLst>
          </a:prstGeom>
          <a:solidFill>
            <a:srgbClr val="CCFFCC">
              <a:alpha val="100000"/>
            </a:srgbClr>
          </a:solidFill>
          <a:ln w="9525" cap="flat" cmpd="sng">
            <a:solidFill>
              <a:schemeClr val="tx1"/>
            </a:solidFill>
            <a:prstDash val="solid"/>
            <a:bevel/>
            <a:headEnd type="none" w="med" len="med"/>
            <a:tailEnd type="none" w="med" len="med"/>
          </a:ln>
        </p:spPr>
        <p:txBody>
          <a:bodyPr vert="horz" wrap="none" lIns="90170" tIns="46990" rIns="90170" bIns="46990" anchor="ctr"/>
          <a:p>
            <a:pPr lvl="0" algn="ctr" eaLnBrk="1" latinLnBrk="0" hangingPunct="1"/>
            <a:r>
              <a:rPr lang="zh-CN" altLang="en-US" sz="2400" b="1" dirty="0">
                <a:latin typeface="Arial" panose="020B0604020202090204" pitchFamily="34" charset="0"/>
                <a:ea typeface="宋体" pitchFamily="2" charset="-122"/>
              </a:rPr>
              <a:t>GROUP BY DEP,JOB</a:t>
            </a:r>
            <a:endParaRPr lang="zh-CN" altLang="en-US" sz="2400" b="1" dirty="0">
              <a:latin typeface="Arial" panose="020B0604020202090204" pitchFamily="34" charset="0"/>
              <a:ea typeface="宋体" pitchFamily="2" charset="-122"/>
            </a:endParaRPr>
          </a:p>
        </p:txBody>
      </p:sp>
      <p:sp>
        <p:nvSpPr>
          <p:cNvPr id="4101" name="文本框 4100"/>
          <p:cNvSpPr txBox="1"/>
          <p:nvPr/>
        </p:nvSpPr>
        <p:spPr>
          <a:xfrm>
            <a:off x="834390" y="624205"/>
            <a:ext cx="3512820"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p:cTn id="7" dur="500" fill="hold"/>
                                        <p:tgtEl>
                                          <p:spTgt spid="5125"/>
                                        </p:tgtEl>
                                        <p:attrNameLst>
                                          <p:attrName>ppt_x</p:attrName>
                                        </p:attrNameLst>
                                      </p:cBhvr>
                                      <p:tavLst>
                                        <p:tav tm="0">
                                          <p:val>
                                            <p:strVal val="#ppt_x-#ppt_w/2"/>
                                          </p:val>
                                        </p:tav>
                                        <p:tav tm="100000">
                                          <p:val>
                                            <p:strVal val="#ppt_x"/>
                                          </p:val>
                                        </p:tav>
                                      </p:tavLst>
                                    </p:anim>
                                    <p:anim calcmode="lin" valueType="num">
                                      <p:cBhvr>
                                        <p:cTn id="8" dur="500" fill="hold"/>
                                        <p:tgtEl>
                                          <p:spTgt spid="5125"/>
                                        </p:tgtEl>
                                        <p:attrNameLst>
                                          <p:attrName>ppt_y</p:attrName>
                                        </p:attrNameLst>
                                      </p:cBhvr>
                                      <p:tavLst>
                                        <p:tav tm="0">
                                          <p:val>
                                            <p:strVal val="#ppt_y"/>
                                          </p:val>
                                        </p:tav>
                                        <p:tav tm="100000">
                                          <p:val>
                                            <p:strVal val="#ppt_y"/>
                                          </p:val>
                                        </p:tav>
                                      </p:tavLst>
                                    </p:anim>
                                    <p:anim calcmode="lin" valueType="num">
                                      <p:cBhvr>
                                        <p:cTn id="9" dur="500" fill="hold"/>
                                        <p:tgtEl>
                                          <p:spTgt spid="5125"/>
                                        </p:tgtEl>
                                        <p:attrNameLst>
                                          <p:attrName>ppt_w</p:attrName>
                                        </p:attrNameLst>
                                      </p:cBhvr>
                                      <p:tavLst>
                                        <p:tav tm="0">
                                          <p:val>
                                            <p:fltVal val="0.000000"/>
                                          </p:val>
                                        </p:tav>
                                        <p:tav tm="100000">
                                          <p:val>
                                            <p:strVal val="#ppt_w"/>
                                          </p:val>
                                        </p:tav>
                                      </p:tavLst>
                                    </p:anim>
                                    <p:anim calcmode="lin" valueType="num">
                                      <p:cBhvr>
                                        <p:cTn id="10" dur="500" fill="hold"/>
                                        <p:tgtEl>
                                          <p:spTgt spid="5125"/>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5123"/>
                                        </p:tgtEl>
                                        <p:attrNameLst>
                                          <p:attrName>style.visibility</p:attrName>
                                        </p:attrNameLst>
                                      </p:cBhvr>
                                      <p:to>
                                        <p:strVal val="visible"/>
                                      </p:to>
                                    </p:set>
                                    <p:animEffect transition="in" filter="blinds(horizontal)">
                                      <p:cBhvr>
                                        <p:cTn id="14" dur="500"/>
                                        <p:tgtEl>
                                          <p:spTgt spid="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ldLvl="0" animBg="1"/>
      <p:bldP spid="5125"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x-none" dirty="0">
                <a:latin typeface="Verdana" panose="020B0804030504040204" pitchFamily="2" charset="0"/>
                <a:sym typeface="+mn-ea"/>
              </a:rPr>
              <a:t>Example of GROUP BY+HAVING 6</a:t>
            </a:r>
            <a:endParaRPr lang="zh-CN" altLang="en-US"/>
          </a:p>
        </p:txBody>
      </p:sp>
      <p:sp>
        <p:nvSpPr>
          <p:cNvPr id="6147" name="文本框 6146"/>
          <p:cNvSpPr txBox="1"/>
          <p:nvPr/>
        </p:nvSpPr>
        <p:spPr>
          <a:xfrm>
            <a:off x="4950460" y="624205"/>
            <a:ext cx="5682615" cy="2494280"/>
          </a:xfrm>
          <a:prstGeom prst="rect">
            <a:avLst/>
          </a:prstGeom>
          <a:solidFill>
            <a:schemeClr val="accent3">
              <a:lumMod val="20000"/>
              <a:lumOff val="80000"/>
              <a:alpha val="50000"/>
            </a:schemeClr>
          </a:solidFill>
          <a:ln w="12700" cap="flat" cmpd="sng">
            <a:noFill/>
            <a:prstDash val="solid"/>
            <a:miter/>
            <a:headEnd type="none" w="med" len="med"/>
            <a:tailEnd type="none" w="med" len="med"/>
          </a:ln>
        </p:spPr>
        <p:txBody>
          <a:bodyPr vert="horz" wrap="square" lIns="90170" tIns="46990" rIns="90170" bIns="46990" anchor="t">
            <a:spAutoFit/>
          </a:bodyPr>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SELECT  DEP, JOB, AVG(SAL)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FROM  EMPL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WHERE  JOB &lt;&gt; 'M'</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GROUP BY  DEP, JOB</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gradFill>
                  <a:gsLst>
                    <a:gs pos="0">
                      <a:srgbClr val="FF0000"/>
                    </a:gs>
                    <a:gs pos="100000">
                      <a:srgbClr val="760303"/>
                    </a:gs>
                  </a:gsLst>
                  <a:lin ang="5400000" scaled="0"/>
                </a:gradFill>
                <a:latin typeface="Arial" panose="020B0604020202090204" pitchFamily="34" charset="0"/>
                <a:sym typeface="+mn-ea"/>
              </a:rPr>
              <a:t>HAVING AVG(SAL)&gt;28000</a:t>
            </a:r>
            <a:endParaRPr lang="en-US" altLang="x-none" sz="2600" b="1" dirty="0">
              <a:gradFill>
                <a:gsLst>
                  <a:gs pos="0">
                    <a:srgbClr val="FF0000"/>
                  </a:gs>
                  <a:gs pos="100000">
                    <a:srgbClr val="760303"/>
                  </a:gs>
                </a:gsLst>
                <a:lin ang="5400000" scaled="0"/>
              </a:gradFill>
              <a:latin typeface="Arial" panose="020B0604020202090204" pitchFamily="34" charset="0"/>
              <a:ea typeface="宋体" pitchFamily="2" charset="-122"/>
              <a:sym typeface="+mn-ea"/>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ORDER BY  AVG(SAL)  DESC</a:t>
            </a:r>
            <a:endParaRPr lang="en-US" altLang="x-none" sz="2600" b="1" dirty="0">
              <a:solidFill>
                <a:srgbClr val="0000FF"/>
              </a:solidFill>
              <a:latin typeface="Arial" panose="020B0604020202090204" pitchFamily="34" charset="0"/>
              <a:ea typeface="宋体" pitchFamily="2" charset="-122"/>
            </a:endParaRPr>
          </a:p>
        </p:txBody>
      </p:sp>
      <p:grpSp>
        <p:nvGrpSpPr>
          <p:cNvPr id="3" name="组合 2"/>
          <p:cNvGrpSpPr/>
          <p:nvPr/>
        </p:nvGrpSpPr>
        <p:grpSpPr>
          <a:xfrm>
            <a:off x="4748530" y="3429000"/>
            <a:ext cx="6446520" cy="2891790"/>
            <a:chOff x="5498" y="5051"/>
            <a:chExt cx="8621" cy="4554"/>
          </a:xfrm>
        </p:grpSpPr>
        <p:sp>
          <p:nvSpPr>
            <p:cNvPr id="6149" name="文本框 6148"/>
            <p:cNvSpPr txBox="1"/>
            <p:nvPr/>
          </p:nvSpPr>
          <p:spPr>
            <a:xfrm>
              <a:off x="5512" y="5856"/>
              <a:ext cx="8607" cy="3749"/>
            </a:xfrm>
            <a:prstGeom prst="rect">
              <a:avLst/>
            </a:prstGeom>
            <a:noFill/>
            <a:ln w="19050" cap="flat" cmpd="sng">
              <a:noFill/>
              <a:prstDash val="solid"/>
              <a:miter/>
              <a:headEnd type="none" w="med" len="med"/>
              <a:tailEnd type="none" w="med" len="med"/>
            </a:ln>
          </p:spPr>
          <p:txBody>
            <a:bodyPr wrap="square" lIns="36195" tIns="36195" rIns="71755" bIns="36195">
              <a:spAutoFit/>
            </a:bodyPr>
            <a:p>
              <a:pPr marL="342900" lvl="0" indent="-245110" algn="l" defTabSz="914400" eaLnBrk="1" latinLnBrk="0" hangingPunct="1">
                <a:lnSpc>
                  <a:spcPct val="100000"/>
                </a:lnSpc>
                <a:spcBef>
                  <a:spcPts val="0"/>
                </a:spcBef>
                <a:spcAft>
                  <a:spcPts val="1200"/>
                </a:spcAft>
                <a:buClr>
                  <a:srgbClr val="C00000"/>
                </a:buClr>
                <a:buSzPct val="100000"/>
                <a:buFont typeface="Arial" panose="020B0604020202090204" pitchFamily="34" charset="0"/>
                <a:buChar char="•"/>
                <a:tabLst>
                  <a:tab pos="268605" algn="l"/>
                </a:tabLst>
              </a:pPr>
              <a:r>
                <a:rPr lang="zh-CN" altLang="en-US" sz="2800" b="1" dirty="0">
                  <a:solidFill>
                    <a:srgbClr val="0000FF"/>
                  </a:solidFill>
                  <a:latin typeface="+mn-lt"/>
                  <a:ea typeface="楷体" charset="-122"/>
                  <a:cs typeface="+mn-lt"/>
                </a:rPr>
                <a:t>对每一个小组(group)，都按照</a:t>
              </a:r>
              <a:r>
                <a:rPr lang="en-US" altLang="zh-CN" sz="2800" b="1" dirty="0">
                  <a:solidFill>
                    <a:srgbClr val="0000FF"/>
                  </a:solidFill>
                  <a:latin typeface="+mn-lt"/>
                  <a:ea typeface="楷体" charset="-122"/>
                  <a:cs typeface="+mn-lt"/>
                </a:rPr>
                <a:t>HAVING</a:t>
              </a:r>
              <a:r>
                <a:rPr lang="zh-CN" altLang="en-US" sz="2800" b="1" dirty="0">
                  <a:solidFill>
                    <a:srgbClr val="0000FF"/>
                  </a:solidFill>
                  <a:latin typeface="+mn-lt"/>
                  <a:ea typeface="楷体" charset="-122"/>
                  <a:cs typeface="+mn-lt"/>
                </a:rPr>
                <a:t>子句的要求进行统计计算；</a:t>
              </a:r>
              <a:endParaRPr lang="zh-CN" altLang="en-US" sz="2800" b="1" dirty="0">
                <a:solidFill>
                  <a:srgbClr val="0000FF"/>
                </a:solidFill>
                <a:latin typeface="+mn-lt"/>
                <a:ea typeface="楷体" charset="-122"/>
                <a:cs typeface="+mn-lt"/>
              </a:endParaRPr>
            </a:p>
            <a:p>
              <a:pPr marL="342900" lvl="0" indent="-245110" algn="l" eaLnBrk="1" latinLnBrk="0" hangingPunct="1">
                <a:lnSpc>
                  <a:spcPct val="100000"/>
                </a:lnSpc>
                <a:spcBef>
                  <a:spcPts val="0"/>
                </a:spcBef>
                <a:spcAft>
                  <a:spcPts val="1200"/>
                </a:spcAft>
                <a:buClr>
                  <a:srgbClr val="C00000"/>
                </a:buClr>
                <a:buSzPct val="100000"/>
                <a:buFont typeface="Arial" panose="020B0604020202090204" pitchFamily="34" charset="0"/>
                <a:buChar char="•"/>
              </a:pPr>
              <a:r>
                <a:rPr lang="zh-CN" altLang="en-US" sz="2800" b="1" dirty="0">
                  <a:solidFill>
                    <a:srgbClr val="0000FF"/>
                  </a:solidFill>
                  <a:latin typeface="+mn-lt"/>
                  <a:ea typeface="楷体" charset="-122"/>
                  <a:cs typeface="+mn-lt"/>
                </a:rPr>
                <a:t>如果一个</a:t>
              </a:r>
              <a:r>
                <a:rPr lang="en-US" altLang="zh-CN" sz="2800" b="1" dirty="0">
                  <a:solidFill>
                    <a:srgbClr val="0000FF"/>
                  </a:solidFill>
                  <a:latin typeface="+mn-lt"/>
                  <a:ea typeface="楷体" charset="-122"/>
                  <a:cs typeface="+mn-lt"/>
                </a:rPr>
                <a:t>group</a:t>
              </a:r>
              <a:r>
                <a:rPr lang="zh-CN" altLang="en-US" sz="2800" b="1" dirty="0">
                  <a:solidFill>
                    <a:srgbClr val="0000FF"/>
                  </a:solidFill>
                  <a:latin typeface="+mn-lt"/>
                  <a:ea typeface="楷体" charset="-122"/>
                  <a:cs typeface="+mn-lt"/>
                </a:rPr>
                <a:t>的统计结果满足</a:t>
              </a:r>
              <a:r>
                <a:rPr lang="en-US" altLang="zh-CN" sz="2800" b="1" dirty="0">
                  <a:solidFill>
                    <a:srgbClr val="0000FF"/>
                  </a:solidFill>
                  <a:latin typeface="+mn-lt"/>
                  <a:ea typeface="楷体" charset="-122"/>
                  <a:cs typeface="+mn-lt"/>
                </a:rPr>
                <a:t>HAVING</a:t>
              </a:r>
              <a:r>
                <a:rPr lang="zh-CN" altLang="en-US" sz="2800" b="1" dirty="0">
                  <a:solidFill>
                    <a:srgbClr val="0000FF"/>
                  </a:solidFill>
                  <a:latin typeface="+mn-lt"/>
                  <a:ea typeface="楷体" charset="-122"/>
                  <a:cs typeface="+mn-lt"/>
                </a:rPr>
                <a:t>子句的要求，那么该</a:t>
              </a:r>
              <a:r>
                <a:rPr lang="en-US" altLang="zh-CN" sz="2800" b="1" dirty="0">
                  <a:solidFill>
                    <a:srgbClr val="0000FF"/>
                  </a:solidFill>
                  <a:latin typeface="+mn-lt"/>
                  <a:ea typeface="楷体" charset="-122"/>
                  <a:cs typeface="+mn-lt"/>
                </a:rPr>
                <a:t>group</a:t>
              </a:r>
              <a:r>
                <a:rPr lang="zh-CN" altLang="en-US" sz="2800" b="1" dirty="0">
                  <a:solidFill>
                    <a:srgbClr val="0000FF"/>
                  </a:solidFill>
                  <a:latin typeface="+mn-lt"/>
                  <a:ea typeface="楷体" charset="-122"/>
                  <a:cs typeface="+mn-lt"/>
                </a:rPr>
                <a:t>将被保留下来，否则整个</a:t>
              </a:r>
              <a:r>
                <a:rPr lang="en-US" altLang="zh-CN" sz="2800" b="1" dirty="0">
                  <a:solidFill>
                    <a:srgbClr val="0000FF"/>
                  </a:solidFill>
                  <a:latin typeface="+mn-lt"/>
                  <a:ea typeface="楷体" charset="-122"/>
                  <a:cs typeface="+mn-lt"/>
                </a:rPr>
                <a:t>group</a:t>
              </a:r>
              <a:r>
                <a:rPr lang="zh-CN" altLang="en-US" sz="2800" b="1" dirty="0">
                  <a:solidFill>
                    <a:srgbClr val="0000FF"/>
                  </a:solidFill>
                  <a:latin typeface="+mn-lt"/>
                  <a:ea typeface="楷体" charset="-122"/>
                  <a:cs typeface="+mn-lt"/>
                </a:rPr>
                <a:t>将被舍弃；</a:t>
              </a:r>
              <a:endParaRPr lang="zh-CN" altLang="en-US" sz="2800" b="1" dirty="0">
                <a:solidFill>
                  <a:srgbClr val="0000FF"/>
                </a:solidFill>
                <a:latin typeface="+mn-lt"/>
                <a:ea typeface="楷体" charset="-122"/>
                <a:cs typeface="+mn-lt"/>
              </a:endParaRPr>
            </a:p>
          </p:txBody>
        </p:sp>
        <p:sp>
          <p:nvSpPr>
            <p:cNvPr id="2" name="文本框 1"/>
            <p:cNvSpPr txBox="1"/>
            <p:nvPr/>
          </p:nvSpPr>
          <p:spPr>
            <a:xfrm>
              <a:off x="5498" y="5051"/>
              <a:ext cx="8621" cy="822"/>
            </a:xfrm>
            <a:prstGeom prst="rect">
              <a:avLst/>
            </a:prstGeom>
            <a:noFill/>
          </p:spPr>
          <p:txBody>
            <a:bodyPr wrap="square" rtlCol="0">
              <a:spAutoFit/>
            </a:bodyPr>
            <a:p>
              <a:r>
                <a:rPr lang="zh-CN" altLang="en-US" sz="2800" b="1">
                  <a:solidFill>
                    <a:srgbClr val="0000FF"/>
                  </a:solidFill>
                  <a:latin typeface="+mn-lt"/>
                  <a:ea typeface="楷体" charset="-122"/>
                  <a:cs typeface="+mn-lt"/>
                </a:rPr>
                <a:t>根据</a:t>
              </a:r>
              <a:r>
                <a:rPr lang="en-US" altLang="zh-CN" sz="2800" b="1">
                  <a:solidFill>
                    <a:srgbClr val="0000FF"/>
                  </a:solidFill>
                  <a:latin typeface="+mn-lt"/>
                  <a:ea typeface="楷体" charset="-122"/>
                  <a:cs typeface="+mn-lt"/>
                </a:rPr>
                <a:t>HAVING</a:t>
              </a:r>
              <a:r>
                <a:rPr lang="zh-CN" altLang="en-US" sz="2800" b="1">
                  <a:solidFill>
                    <a:srgbClr val="0000FF"/>
                  </a:solidFill>
                  <a:latin typeface="+mn-lt"/>
                  <a:ea typeface="楷体" charset="-122"/>
                  <a:cs typeface="+mn-lt"/>
                </a:rPr>
                <a:t>子句进行如下</a:t>
              </a:r>
              <a:r>
                <a:rPr lang="en-US" altLang="zh-CN" sz="2800" b="1">
                  <a:solidFill>
                    <a:srgbClr val="0000FF"/>
                  </a:solidFill>
                  <a:latin typeface="+mn-lt"/>
                  <a:ea typeface="楷体" charset="-122"/>
                  <a:cs typeface="+mn-lt"/>
                </a:rPr>
                <a:t>GROUP</a:t>
              </a:r>
              <a:r>
                <a:rPr lang="zh-CN" altLang="zh-CN" sz="2800" b="1">
                  <a:solidFill>
                    <a:srgbClr val="0000FF"/>
                  </a:solidFill>
                  <a:latin typeface="+mn-lt"/>
                  <a:ea typeface="楷体" charset="-122"/>
                  <a:cs typeface="+mn-lt"/>
                </a:rPr>
                <a:t>选择</a:t>
              </a:r>
              <a:r>
                <a:rPr lang="zh-CN" altLang="en-US" sz="2800" b="1">
                  <a:solidFill>
                    <a:srgbClr val="0000FF"/>
                  </a:solidFill>
                  <a:latin typeface="+mn-lt"/>
                  <a:ea typeface="楷体" charset="-122"/>
                  <a:cs typeface="+mn-lt"/>
                </a:rPr>
                <a:t>：</a:t>
              </a:r>
              <a:endParaRPr lang="zh-CN" altLang="en-US" sz="2800" b="1">
                <a:solidFill>
                  <a:srgbClr val="0000FF"/>
                </a:solidFill>
                <a:latin typeface="+mn-lt"/>
                <a:ea typeface="楷体" charset="-122"/>
                <a:cs typeface="+mn-lt"/>
              </a:endParaRPr>
            </a:p>
          </p:txBody>
        </p:sp>
      </p:grpSp>
      <p:sp>
        <p:nvSpPr>
          <p:cNvPr id="5123" name="文本框 5122"/>
          <p:cNvSpPr txBox="1"/>
          <p:nvPr/>
        </p:nvSpPr>
        <p:spPr>
          <a:xfrm>
            <a:off x="720408" y="644525"/>
            <a:ext cx="3387725" cy="612648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0000CC"/>
              </a:solidFill>
              <a:latin typeface="Arial" panose="020B0604020202090204" pitchFamily="34" charset="0"/>
              <a:ea typeface="宋体" pitchFamily="2" charset="-122"/>
            </a:endParaRPr>
          </a:p>
        </p:txBody>
      </p:sp>
      <p:sp>
        <p:nvSpPr>
          <p:cNvPr id="6" name="灯片编号占位符 5"/>
          <p:cNvSpPr>
            <a:spLocks noGrp="1"/>
          </p:cNvSpPr>
          <p:nvPr>
            <p:ph type="sldNum" sz="quarter" idx="12"/>
          </p:nvPr>
        </p:nvSpPr>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x-none" dirty="0">
                <a:latin typeface="Verdana" panose="020B0804030504040204" pitchFamily="2" charset="0"/>
                <a:sym typeface="+mn-ea"/>
              </a:rPr>
              <a:t>Example of GROUP BY+HAVING 7</a:t>
            </a:r>
            <a:endParaRPr lang="zh-CN" altLang="en-US"/>
          </a:p>
        </p:txBody>
      </p:sp>
      <p:sp>
        <p:nvSpPr>
          <p:cNvPr id="6148" name="右箭头 6147"/>
          <p:cNvSpPr/>
          <p:nvPr/>
        </p:nvSpPr>
        <p:spPr>
          <a:xfrm>
            <a:off x="4216400" y="2517140"/>
            <a:ext cx="3676015" cy="1779905"/>
          </a:xfrm>
          <a:prstGeom prst="rightArrow">
            <a:avLst>
              <a:gd name="adj1" fmla="val 59805"/>
              <a:gd name="adj2" fmla="val 23080"/>
            </a:avLst>
          </a:prstGeom>
          <a:solidFill>
            <a:srgbClr val="CCFFCC">
              <a:alpha val="100000"/>
            </a:srgbClr>
          </a:solidFill>
          <a:ln w="9525" cap="flat" cmpd="sng">
            <a:solidFill>
              <a:schemeClr val="tx1"/>
            </a:solidFill>
            <a:prstDash val="solid"/>
            <a:miter/>
            <a:headEnd type="none" w="med" len="med"/>
            <a:tailEnd type="none" w="med" len="med"/>
          </a:ln>
        </p:spPr>
        <p:txBody>
          <a:bodyPr vert="horz" wrap="square" lIns="90170" tIns="46990" rIns="90170" bIns="46990" anchor="ctr"/>
          <a:p>
            <a:pPr lvl="0" algn="ctr" eaLnBrk="1" latinLnBrk="0" hangingPunct="1"/>
            <a:r>
              <a:rPr lang="en-US" altLang="zh-CN" sz="2000" b="1" dirty="0">
                <a:latin typeface="Arial" panose="020B0604020202090204" pitchFamily="34" charset="0"/>
                <a:ea typeface="宋体" pitchFamily="2" charset="-122"/>
              </a:rPr>
              <a:t>HAVING AVG(SAL) &gt; 28000</a:t>
            </a:r>
            <a:endParaRPr lang="en-US" altLang="zh-CN" sz="2000" b="1" dirty="0">
              <a:latin typeface="Arial" panose="020B0604020202090204" pitchFamily="34" charset="0"/>
              <a:ea typeface="宋体" pitchFamily="2" charset="-122"/>
            </a:endParaRPr>
          </a:p>
        </p:txBody>
      </p:sp>
      <p:sp>
        <p:nvSpPr>
          <p:cNvPr id="6150" name="文本框 6149"/>
          <p:cNvSpPr txBox="1"/>
          <p:nvPr/>
        </p:nvSpPr>
        <p:spPr>
          <a:xfrm>
            <a:off x="7892098" y="644525"/>
            <a:ext cx="3703637" cy="5894705"/>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0" rIns="179705" bIns="46990" anchor="t">
            <a:spAutoFit/>
          </a:bodyPr>
          <a:p>
            <a:pPr lvl="0" algn="l" eaLnBrk="1" hangingPunct="1">
              <a:lnSpc>
                <a:spcPct val="100000"/>
              </a:lnSpc>
            </a:pPr>
            <a:r>
              <a:rPr lang="zh-CN" altLang="en-US" sz="2400" b="1" dirty="0">
                <a:latin typeface="Arial" panose="020B0604020202090204" pitchFamily="34" charset="0"/>
                <a:sym typeface="+mn-ea"/>
              </a:rPr>
              <a:t>JOB     SAL        DEP</a:t>
            </a:r>
            <a:endParaRPr lang="zh-CN" altLang="en-US" sz="2400" b="1" dirty="0">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sym typeface="+mn-ea"/>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sym typeface="+mn-ea"/>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sym typeface="+mn-ea"/>
              </a:rPr>
              <a:t>S          29000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sym typeface="+mn-ea"/>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sym typeface="+mn-ea"/>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sym typeface="+mn-ea"/>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sym typeface="+mn-ea"/>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sym typeface="+mn-ea"/>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31000     RED</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29000     RED</a:t>
            </a:r>
            <a:endParaRPr lang="zh-CN" altLang="en-US" sz="2400" dirty="0">
              <a:latin typeface="Times New Roman" panose="02020503050405090304" pitchFamily="2" charset="0"/>
              <a:ea typeface="宋体" pitchFamily="2" charset="-122"/>
            </a:endParaRPr>
          </a:p>
        </p:txBody>
      </p:sp>
      <p:sp>
        <p:nvSpPr>
          <p:cNvPr id="5123" name="文本框 5122"/>
          <p:cNvSpPr txBox="1"/>
          <p:nvPr/>
        </p:nvSpPr>
        <p:spPr>
          <a:xfrm>
            <a:off x="720408" y="644525"/>
            <a:ext cx="3387725" cy="612648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0000CC"/>
              </a:solidFill>
              <a:latin typeface="Arial" panose="020B0604020202090204" pitchFamily="34" charset="0"/>
              <a:ea typeface="宋体" pitchFamily="2" charset="-122"/>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p:cTn id="7" dur="500" fill="hold"/>
                                        <p:tgtEl>
                                          <p:spTgt spid="6148"/>
                                        </p:tgtEl>
                                        <p:attrNameLst>
                                          <p:attrName>ppt_x</p:attrName>
                                        </p:attrNameLst>
                                      </p:cBhvr>
                                      <p:tavLst>
                                        <p:tav tm="0">
                                          <p:val>
                                            <p:strVal val="#ppt_x-#ppt_w/2"/>
                                          </p:val>
                                        </p:tav>
                                        <p:tav tm="100000">
                                          <p:val>
                                            <p:strVal val="#ppt_x"/>
                                          </p:val>
                                        </p:tav>
                                      </p:tavLst>
                                    </p:anim>
                                    <p:anim calcmode="lin" valueType="num">
                                      <p:cBhvr>
                                        <p:cTn id="8" dur="500" fill="hold"/>
                                        <p:tgtEl>
                                          <p:spTgt spid="6148"/>
                                        </p:tgtEl>
                                        <p:attrNameLst>
                                          <p:attrName>ppt_y</p:attrName>
                                        </p:attrNameLst>
                                      </p:cBhvr>
                                      <p:tavLst>
                                        <p:tav tm="0">
                                          <p:val>
                                            <p:strVal val="#ppt_y"/>
                                          </p:val>
                                        </p:tav>
                                        <p:tav tm="100000">
                                          <p:val>
                                            <p:strVal val="#ppt_y"/>
                                          </p:val>
                                        </p:tav>
                                      </p:tavLst>
                                    </p:anim>
                                    <p:anim calcmode="lin" valueType="num">
                                      <p:cBhvr>
                                        <p:cTn id="9" dur="500" fill="hold"/>
                                        <p:tgtEl>
                                          <p:spTgt spid="6148"/>
                                        </p:tgtEl>
                                        <p:attrNameLst>
                                          <p:attrName>ppt_w</p:attrName>
                                        </p:attrNameLst>
                                      </p:cBhvr>
                                      <p:tavLst>
                                        <p:tav tm="0">
                                          <p:val>
                                            <p:fltVal val="0.000000"/>
                                          </p:val>
                                        </p:tav>
                                        <p:tav tm="100000">
                                          <p:val>
                                            <p:strVal val="#ppt_w"/>
                                          </p:val>
                                        </p:tav>
                                      </p:tavLst>
                                    </p:anim>
                                    <p:anim calcmode="lin" valueType="num">
                                      <p:cBhvr>
                                        <p:cTn id="10" dur="500" fill="hold"/>
                                        <p:tgtEl>
                                          <p:spTgt spid="6148"/>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6150"/>
                                        </p:tgtEl>
                                        <p:attrNameLst>
                                          <p:attrName>style.visibility</p:attrName>
                                        </p:attrNameLst>
                                      </p:cBhvr>
                                      <p:to>
                                        <p:strVal val="visible"/>
                                      </p:to>
                                    </p:set>
                                    <p:animEffect transition="in" filter="blinds(horizontal)">
                                      <p:cBhvr>
                                        <p:cTn id="14"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ldLvl="0" animBg="1"/>
      <p:bldP spid="6150"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x-none" dirty="0">
                <a:latin typeface="Verdana" panose="020B0804030504040204" pitchFamily="2" charset="0"/>
                <a:sym typeface="+mn-ea"/>
              </a:rPr>
              <a:t>Example of GROUP BY+HAVING 8</a:t>
            </a:r>
            <a:endParaRPr lang="zh-CN" altLang="en-US"/>
          </a:p>
        </p:txBody>
      </p:sp>
      <p:sp>
        <p:nvSpPr>
          <p:cNvPr id="6147" name="文本框 6146"/>
          <p:cNvSpPr txBox="1"/>
          <p:nvPr/>
        </p:nvSpPr>
        <p:spPr>
          <a:xfrm>
            <a:off x="4950460" y="624205"/>
            <a:ext cx="5682615" cy="2494280"/>
          </a:xfrm>
          <a:prstGeom prst="rect">
            <a:avLst/>
          </a:prstGeom>
          <a:solidFill>
            <a:schemeClr val="accent3">
              <a:lumMod val="20000"/>
              <a:lumOff val="80000"/>
              <a:alpha val="50000"/>
            </a:schemeClr>
          </a:solidFill>
          <a:ln w="12700" cap="flat" cmpd="sng">
            <a:noFill/>
            <a:prstDash val="solid"/>
            <a:miter/>
            <a:headEnd type="none" w="med" len="med"/>
            <a:tailEnd type="none" w="med" len="med"/>
          </a:ln>
        </p:spPr>
        <p:txBody>
          <a:bodyPr vert="horz" wrap="square" lIns="90170" tIns="46990" rIns="90170" bIns="46990" anchor="t">
            <a:spAutoFit/>
          </a:bodyPr>
          <a:p>
            <a:pPr marL="1905" lvl="0" indent="267970" eaLnBrk="1" latinLnBrk="0" hangingPunct="1"/>
            <a:r>
              <a:rPr lang="en-US" altLang="x-none" sz="2600" b="1" dirty="0">
                <a:solidFill>
                  <a:srgbClr val="FF0000"/>
                </a:solidFill>
                <a:latin typeface="Arial" panose="020B0604020202090204" pitchFamily="34" charset="0"/>
                <a:ea typeface="宋体" pitchFamily="2" charset="-122"/>
              </a:rPr>
              <a:t>SELECT  DEP, JOB, AVG(SAL)</a:t>
            </a:r>
            <a:endParaRPr lang="en-US" altLang="x-none" sz="2600" b="1" dirty="0">
              <a:solidFill>
                <a:srgbClr val="FF0000"/>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FROM  EMPL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WHERE  JOB &lt;&gt; 'M'</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GROUP BY  DEP, JOB</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sym typeface="+mn-ea"/>
              </a:rPr>
              <a:t>HAVING AVG(SAL)&gt;28000</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ORDER BY  AVG(SAL)  DESC</a:t>
            </a:r>
            <a:endParaRPr lang="en-US" altLang="x-none" sz="2600" b="1" dirty="0">
              <a:solidFill>
                <a:srgbClr val="0000FF"/>
              </a:solidFill>
              <a:latin typeface="Arial" panose="020B0604020202090204" pitchFamily="34" charset="0"/>
              <a:ea typeface="宋体" pitchFamily="2" charset="-122"/>
            </a:endParaRPr>
          </a:p>
        </p:txBody>
      </p:sp>
      <p:grpSp>
        <p:nvGrpSpPr>
          <p:cNvPr id="3" name="组合 2"/>
          <p:cNvGrpSpPr/>
          <p:nvPr/>
        </p:nvGrpSpPr>
        <p:grpSpPr>
          <a:xfrm>
            <a:off x="4950460" y="3796665"/>
            <a:ext cx="6711315" cy="1970405"/>
            <a:chOff x="5498" y="6492"/>
            <a:chExt cx="8621" cy="3103"/>
          </a:xfrm>
        </p:grpSpPr>
        <p:sp>
          <p:nvSpPr>
            <p:cNvPr id="6149" name="文本框 6148"/>
            <p:cNvSpPr txBox="1"/>
            <p:nvPr/>
          </p:nvSpPr>
          <p:spPr>
            <a:xfrm>
              <a:off x="5512" y="7325"/>
              <a:ext cx="8607" cy="2270"/>
            </a:xfrm>
            <a:prstGeom prst="rect">
              <a:avLst/>
            </a:prstGeom>
            <a:noFill/>
            <a:ln w="19050" cap="flat" cmpd="sng">
              <a:noFill/>
              <a:prstDash val="solid"/>
              <a:miter/>
              <a:headEnd type="none" w="med" len="med"/>
              <a:tailEnd type="none" w="med" len="med"/>
            </a:ln>
          </p:spPr>
          <p:txBody>
            <a:bodyPr wrap="square" lIns="0" tIns="36195" rIns="0" bIns="36195">
              <a:spAutoFit/>
            </a:bodyPr>
            <a:p>
              <a:pPr marL="457200" lvl="0" indent="-313055" algn="l" eaLnBrk="1" latinLnBrk="0" hangingPunct="1">
                <a:lnSpc>
                  <a:spcPct val="100000"/>
                </a:lnSpc>
                <a:spcBef>
                  <a:spcPts val="300"/>
                </a:spcBef>
                <a:spcAft>
                  <a:spcPts val="300"/>
                </a:spcAft>
                <a:buClr>
                  <a:srgbClr val="C00000"/>
                </a:buClr>
                <a:buSzPct val="100000"/>
                <a:buFont typeface="Arial" panose="020B0604020202090204" pitchFamily="34" charset="0"/>
                <a:buChar char="•"/>
              </a:pPr>
              <a:r>
                <a:rPr lang="zh-CN" altLang="en-US" sz="2800" b="1" dirty="0">
                  <a:gradFill>
                    <a:gsLst>
                      <a:gs pos="0">
                        <a:srgbClr val="E30000"/>
                      </a:gs>
                      <a:gs pos="100000">
                        <a:srgbClr val="760303"/>
                      </a:gs>
                    </a:gsLst>
                    <a:lin ang="5400000" scaled="0"/>
                  </a:gradFill>
                  <a:latin typeface="+mn-lt"/>
                  <a:ea typeface="楷体" charset="-122"/>
                  <a:cs typeface="+mn-lt"/>
                </a:rPr>
                <a:t>每一个小组(group)都单独进行统计；</a:t>
              </a:r>
              <a:endParaRPr lang="zh-CN" altLang="en-US" sz="2800" b="1" dirty="0">
                <a:gradFill>
                  <a:gsLst>
                    <a:gs pos="0">
                      <a:srgbClr val="E30000"/>
                    </a:gs>
                    <a:gs pos="100000">
                      <a:srgbClr val="760303"/>
                    </a:gs>
                  </a:gsLst>
                  <a:lin ang="5400000" scaled="0"/>
                </a:gradFill>
                <a:latin typeface="+mn-lt"/>
                <a:ea typeface="楷体" charset="-122"/>
                <a:cs typeface="+mn-lt"/>
              </a:endParaRPr>
            </a:p>
            <a:p>
              <a:pPr marL="457200" lvl="0" indent="-313055" algn="l" eaLnBrk="1" latinLnBrk="0" hangingPunct="1">
                <a:lnSpc>
                  <a:spcPct val="100000"/>
                </a:lnSpc>
                <a:spcBef>
                  <a:spcPts val="300"/>
                </a:spcBef>
                <a:spcAft>
                  <a:spcPts val="300"/>
                </a:spcAft>
                <a:buClr>
                  <a:srgbClr val="C00000"/>
                </a:buClr>
                <a:buSzPct val="100000"/>
                <a:buFont typeface="Arial" panose="020B0604020202090204" pitchFamily="34" charset="0"/>
                <a:buChar char="•"/>
              </a:pPr>
              <a:r>
                <a:rPr lang="zh-CN" altLang="en-US" sz="2800" b="1" dirty="0">
                  <a:gradFill>
                    <a:gsLst>
                      <a:gs pos="0">
                        <a:srgbClr val="E30000"/>
                      </a:gs>
                      <a:gs pos="100000">
                        <a:srgbClr val="760303"/>
                      </a:gs>
                    </a:gsLst>
                    <a:lin ang="5400000" scaled="0"/>
                  </a:gradFill>
                  <a:latin typeface="+mn-lt"/>
                  <a:ea typeface="楷体" charset="-122"/>
                  <a:cs typeface="+mn-lt"/>
                </a:rPr>
                <a:t>一个小组产生一条结果元组；</a:t>
              </a:r>
              <a:endParaRPr lang="zh-CN" altLang="en-US" sz="2800" b="1" dirty="0">
                <a:gradFill>
                  <a:gsLst>
                    <a:gs pos="0">
                      <a:srgbClr val="E30000"/>
                    </a:gs>
                    <a:gs pos="100000">
                      <a:srgbClr val="760303"/>
                    </a:gs>
                  </a:gsLst>
                  <a:lin ang="5400000" scaled="0"/>
                </a:gradFill>
                <a:latin typeface="+mn-lt"/>
                <a:ea typeface="楷体" charset="-122"/>
                <a:cs typeface="+mn-lt"/>
              </a:endParaRPr>
            </a:p>
          </p:txBody>
        </p:sp>
        <p:sp>
          <p:nvSpPr>
            <p:cNvPr id="2" name="文本框 1"/>
            <p:cNvSpPr txBox="1"/>
            <p:nvPr/>
          </p:nvSpPr>
          <p:spPr>
            <a:xfrm>
              <a:off x="5498" y="6492"/>
              <a:ext cx="7326" cy="1501"/>
            </a:xfrm>
            <a:prstGeom prst="rect">
              <a:avLst/>
            </a:prstGeom>
            <a:noFill/>
          </p:spPr>
          <p:txBody>
            <a:bodyPr wrap="square" rtlCol="0">
              <a:spAutoFit/>
            </a:bodyPr>
            <a:p>
              <a:r>
                <a:rPr lang="zh-CN" altLang="en-US" sz="2800" b="1">
                  <a:latin typeface="+mn-lt"/>
                  <a:ea typeface="楷体" charset="-122"/>
                  <a:cs typeface="+mn-lt"/>
                </a:rPr>
                <a:t>根据</a:t>
              </a:r>
              <a:r>
                <a:rPr lang="en-US" altLang="zh-CN" sz="2800" b="1">
                  <a:latin typeface="+mn-lt"/>
                  <a:ea typeface="楷体" charset="-122"/>
                  <a:cs typeface="+mn-lt"/>
                </a:rPr>
                <a:t>SELECT</a:t>
              </a:r>
              <a:r>
                <a:rPr lang="zh-CN" altLang="en-US" sz="2800" b="1">
                  <a:latin typeface="+mn-lt"/>
                  <a:ea typeface="楷体" charset="-122"/>
                  <a:cs typeface="+mn-lt"/>
                </a:rPr>
                <a:t>子句进行如下统计：</a:t>
              </a:r>
              <a:endParaRPr lang="zh-CN" altLang="en-US" sz="2800" b="1">
                <a:latin typeface="+mn-lt"/>
                <a:ea typeface="楷体" charset="-122"/>
                <a:cs typeface="+mn-lt"/>
              </a:endParaRPr>
            </a:p>
          </p:txBody>
        </p:sp>
      </p:grpSp>
      <p:sp>
        <p:nvSpPr>
          <p:cNvPr id="6150" name="文本框 6149"/>
          <p:cNvSpPr txBox="1"/>
          <p:nvPr/>
        </p:nvSpPr>
        <p:spPr>
          <a:xfrm>
            <a:off x="818833" y="644525"/>
            <a:ext cx="3703637" cy="5894705"/>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0" rIns="179705" bIns="46990" anchor="t">
            <a:spAutoFit/>
          </a:bodyPr>
          <a:p>
            <a:pPr lvl="0" algn="l" eaLnBrk="1" hangingPunct="1">
              <a:lnSpc>
                <a:spcPct val="100000"/>
              </a:lnSpc>
            </a:pPr>
            <a:r>
              <a:rPr lang="zh-CN" altLang="en-US" sz="2400" b="1" dirty="0">
                <a:latin typeface="Arial" panose="020B0604020202090204" pitchFamily="34" charset="0"/>
                <a:sym typeface="+mn-ea"/>
              </a:rPr>
              <a:t>JOB     SAL        DEP</a:t>
            </a:r>
            <a:endParaRPr lang="zh-CN" altLang="en-US" sz="2400" b="1" dirty="0">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sym typeface="+mn-ea"/>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sym typeface="+mn-ea"/>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sym typeface="+mn-ea"/>
              </a:rPr>
              <a:t>S          29000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sym typeface="+mn-ea"/>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sym typeface="+mn-ea"/>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sym typeface="+mn-ea"/>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sym typeface="+mn-ea"/>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sym typeface="+mn-ea"/>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31000     RED</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29000     RED</a:t>
            </a:r>
            <a:endParaRPr lang="zh-CN" altLang="en-US" sz="2400" dirty="0">
              <a:latin typeface="Times New Roman" panose="02020503050405090304" pitchFamily="2" charset="0"/>
              <a:ea typeface="宋体" pitchFamily="2" charset="-122"/>
            </a:endParaRPr>
          </a:p>
        </p:txBody>
      </p:sp>
      <p:sp>
        <p:nvSpPr>
          <p:cNvPr id="6" name="灯片编号占位符 5"/>
          <p:cNvSpPr>
            <a:spLocks noGrp="1"/>
          </p:cNvSpPr>
          <p:nvPr>
            <p:ph type="sldNum" sz="quarter" idx="12"/>
          </p:nvPr>
        </p:nvSpPr>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x-none" dirty="0">
                <a:latin typeface="Verdana" panose="020B0804030504040204" pitchFamily="2" charset="0"/>
                <a:sym typeface="+mn-ea"/>
              </a:rPr>
              <a:t>Example of GROUP BY+HAVING 9</a:t>
            </a:r>
            <a:endParaRPr lang="zh-CN" altLang="en-US"/>
          </a:p>
        </p:txBody>
      </p:sp>
      <p:sp>
        <p:nvSpPr>
          <p:cNvPr id="6148" name="右箭头 6147"/>
          <p:cNvSpPr/>
          <p:nvPr/>
        </p:nvSpPr>
        <p:spPr>
          <a:xfrm>
            <a:off x="5018405" y="2930525"/>
            <a:ext cx="2357755" cy="792480"/>
          </a:xfrm>
          <a:prstGeom prst="rightArrow">
            <a:avLst>
              <a:gd name="adj1" fmla="val 59805"/>
              <a:gd name="adj2" fmla="val 23080"/>
            </a:avLst>
          </a:prstGeom>
          <a:solidFill>
            <a:srgbClr val="CCFFCC">
              <a:alpha val="100000"/>
            </a:srgbClr>
          </a:solidFill>
          <a:ln w="9525" cap="flat" cmpd="sng">
            <a:solidFill>
              <a:schemeClr val="tx1"/>
            </a:solidFill>
            <a:prstDash val="solid"/>
            <a:miter/>
            <a:headEnd type="none" w="med" len="med"/>
            <a:tailEnd type="none" w="med" len="med"/>
          </a:ln>
        </p:spPr>
        <p:txBody>
          <a:bodyPr vert="horz" wrap="none" lIns="90170" tIns="46990" rIns="90170" bIns="46990" anchor="ctr"/>
          <a:p>
            <a:pPr lvl="0" algn="ctr" eaLnBrk="1" latinLnBrk="0" hangingPunct="1"/>
            <a:r>
              <a:rPr lang="zh-CN" altLang="en-US" sz="2400" b="1" dirty="0">
                <a:latin typeface="Arial" panose="020B0604020202090204" pitchFamily="34" charset="0"/>
                <a:ea typeface="宋体" pitchFamily="2" charset="-122"/>
              </a:rPr>
              <a:t>SELECT</a:t>
            </a:r>
            <a:endParaRPr lang="zh-CN" altLang="en-US" sz="2400" b="1" dirty="0">
              <a:latin typeface="Arial" panose="020B0604020202090204" pitchFamily="34" charset="0"/>
              <a:ea typeface="宋体" pitchFamily="2" charset="-122"/>
            </a:endParaRPr>
          </a:p>
        </p:txBody>
      </p:sp>
      <p:sp>
        <p:nvSpPr>
          <p:cNvPr id="6150" name="文本框 6149"/>
          <p:cNvSpPr txBox="1"/>
          <p:nvPr/>
        </p:nvSpPr>
        <p:spPr>
          <a:xfrm>
            <a:off x="7855268" y="644525"/>
            <a:ext cx="3703637" cy="5798185"/>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0" rIns="179705" bIns="46990" anchor="t">
            <a:spAutoFit/>
          </a:bodyPr>
          <a:p>
            <a:pPr lvl="0" algn="l" eaLnBrk="1" hangingPunct="1">
              <a:lnSpc>
                <a:spcPct val="110000"/>
              </a:lnSpc>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0000CC"/>
                </a:solidFill>
                <a:latin typeface="Arial" panose="020B0604020202090204" pitchFamily="34" charset="0"/>
                <a:ea typeface="宋体" pitchFamily="2" charset="-122"/>
              </a:rPr>
              <a:t>BLU    S          30000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FF0000"/>
                </a:solidFill>
                <a:latin typeface="Arial" panose="020B0604020202090204" pitchFamily="34" charset="0"/>
                <a:ea typeface="宋体" pitchFamily="2" charset="-122"/>
              </a:rPr>
              <a:t>RED</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FF0000"/>
                </a:solidFill>
                <a:latin typeface="Arial" panose="020B0604020202090204" pitchFamily="34" charset="0"/>
                <a:ea typeface="宋体" pitchFamily="2" charset="-122"/>
              </a:rPr>
              <a:t>S          30500</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10000"/>
              </a:lnSpc>
            </a:pPr>
            <a:endParaRPr lang="zh-CN" altLang="en-US" sz="2400" dirty="0">
              <a:latin typeface="Times New Roman" panose="02020503050405090304" pitchFamily="2" charset="0"/>
              <a:ea typeface="宋体" pitchFamily="2" charset="-122"/>
            </a:endParaRPr>
          </a:p>
          <a:p>
            <a:pPr lvl="0" algn="l" eaLnBrk="1" hangingPunct="1">
              <a:lnSpc>
                <a:spcPct val="110000"/>
              </a:lnSpc>
            </a:pPr>
            <a:endParaRPr lang="zh-CN" altLang="en-US" sz="2400" dirty="0">
              <a:latin typeface="Times New Roman" panose="02020503050405090304" pitchFamily="2" charset="0"/>
              <a:ea typeface="宋体" pitchFamily="2" charset="-122"/>
            </a:endParaRPr>
          </a:p>
        </p:txBody>
      </p:sp>
      <p:sp>
        <p:nvSpPr>
          <p:cNvPr id="4" name="文本框 3"/>
          <p:cNvSpPr txBox="1"/>
          <p:nvPr/>
        </p:nvSpPr>
        <p:spPr>
          <a:xfrm>
            <a:off x="818833" y="644525"/>
            <a:ext cx="3703637" cy="5894705"/>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0" rIns="179705" bIns="46990" anchor="t">
            <a:spAutoFit/>
          </a:bodyPr>
          <a:p>
            <a:pPr lvl="0" algn="l" eaLnBrk="1" hangingPunct="1">
              <a:lnSpc>
                <a:spcPct val="100000"/>
              </a:lnSpc>
            </a:pPr>
            <a:r>
              <a:rPr lang="zh-CN" altLang="en-US" sz="2400" b="1" dirty="0">
                <a:latin typeface="Arial" panose="020B0604020202090204" pitchFamily="34" charset="0"/>
                <a:sym typeface="+mn-ea"/>
              </a:rPr>
              <a:t>JOB     SAL        DEP</a:t>
            </a:r>
            <a:endParaRPr lang="zh-CN" altLang="en-US" sz="2400" b="1" dirty="0">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sym typeface="+mn-ea"/>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sym typeface="+mn-ea"/>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sym typeface="+mn-ea"/>
              </a:rPr>
              <a:t>S          29000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00CC"/>
                </a:solidFill>
                <a:latin typeface="Arial" panose="020B0604020202090204" pitchFamily="34" charset="0"/>
                <a:sym typeface="+mn-ea"/>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sym typeface="+mn-ea"/>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sym typeface="+mn-ea"/>
            </a:endParaRPr>
          </a:p>
          <a:p>
            <a:pPr lvl="0" algn="l" eaLnBrk="1" hangingPunct="1">
              <a:lnSpc>
                <a:spcPct val="10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sym typeface="+mn-ea"/>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009900"/>
                </a:solidFill>
                <a:latin typeface="Arial" panose="020B0604020202090204" pitchFamily="34" charset="0"/>
                <a:sym typeface="+mn-ea"/>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31000     RED</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pPr>
            <a:r>
              <a:rPr lang="zh-CN" altLang="en-US" sz="2400" b="1" dirty="0">
                <a:solidFill>
                  <a:srgbClr val="FF0000"/>
                </a:solidFill>
                <a:latin typeface="Arial" panose="020B0604020202090204" pitchFamily="34" charset="0"/>
                <a:sym typeface="+mn-ea"/>
              </a:rPr>
              <a:t>S          29000     RED</a:t>
            </a:r>
            <a:endParaRPr lang="zh-CN" altLang="en-US" sz="2400" dirty="0">
              <a:latin typeface="Times New Roman" panose="02020503050405090304" pitchFamily="2" charset="0"/>
              <a:ea typeface="宋体" pitchFamily="2" charset="-122"/>
            </a:endParaRPr>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p:cTn id="7" dur="500" fill="hold"/>
                                        <p:tgtEl>
                                          <p:spTgt spid="6148"/>
                                        </p:tgtEl>
                                        <p:attrNameLst>
                                          <p:attrName>ppt_x</p:attrName>
                                        </p:attrNameLst>
                                      </p:cBhvr>
                                      <p:tavLst>
                                        <p:tav tm="0">
                                          <p:val>
                                            <p:strVal val="#ppt_x-#ppt_w/2"/>
                                          </p:val>
                                        </p:tav>
                                        <p:tav tm="100000">
                                          <p:val>
                                            <p:strVal val="#ppt_x"/>
                                          </p:val>
                                        </p:tav>
                                      </p:tavLst>
                                    </p:anim>
                                    <p:anim calcmode="lin" valueType="num">
                                      <p:cBhvr>
                                        <p:cTn id="8" dur="500" fill="hold"/>
                                        <p:tgtEl>
                                          <p:spTgt spid="6148"/>
                                        </p:tgtEl>
                                        <p:attrNameLst>
                                          <p:attrName>ppt_y</p:attrName>
                                        </p:attrNameLst>
                                      </p:cBhvr>
                                      <p:tavLst>
                                        <p:tav tm="0">
                                          <p:val>
                                            <p:strVal val="#ppt_y"/>
                                          </p:val>
                                        </p:tav>
                                        <p:tav tm="100000">
                                          <p:val>
                                            <p:strVal val="#ppt_y"/>
                                          </p:val>
                                        </p:tav>
                                      </p:tavLst>
                                    </p:anim>
                                    <p:anim calcmode="lin" valueType="num">
                                      <p:cBhvr>
                                        <p:cTn id="9" dur="500" fill="hold"/>
                                        <p:tgtEl>
                                          <p:spTgt spid="6148"/>
                                        </p:tgtEl>
                                        <p:attrNameLst>
                                          <p:attrName>ppt_w</p:attrName>
                                        </p:attrNameLst>
                                      </p:cBhvr>
                                      <p:tavLst>
                                        <p:tav tm="0">
                                          <p:val>
                                            <p:fltVal val="0.000000"/>
                                          </p:val>
                                        </p:tav>
                                        <p:tav tm="100000">
                                          <p:val>
                                            <p:strVal val="#ppt_w"/>
                                          </p:val>
                                        </p:tav>
                                      </p:tavLst>
                                    </p:anim>
                                    <p:anim calcmode="lin" valueType="num">
                                      <p:cBhvr>
                                        <p:cTn id="10" dur="500" fill="hold"/>
                                        <p:tgtEl>
                                          <p:spTgt spid="6148"/>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6150"/>
                                        </p:tgtEl>
                                        <p:attrNameLst>
                                          <p:attrName>style.visibility</p:attrName>
                                        </p:attrNameLst>
                                      </p:cBhvr>
                                      <p:to>
                                        <p:strVal val="visible"/>
                                      </p:to>
                                    </p:set>
                                    <p:animEffect transition="in" filter="blinds(horizontal)">
                                      <p:cBhvr>
                                        <p:cTn id="14"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ldLvl="0" animBg="1"/>
      <p:bldP spid="6150"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dirty="0">
                <a:latin typeface="Verdana" panose="020B0804030504040204" pitchFamily="2" charset="0"/>
                <a:sym typeface="+mn-ea"/>
              </a:rPr>
              <a:t>Example of GROUP BY+HAVING 10</a:t>
            </a:r>
            <a:endParaRPr lang="zh-CN" altLang="en-US"/>
          </a:p>
        </p:txBody>
      </p:sp>
      <p:sp>
        <p:nvSpPr>
          <p:cNvPr id="7171" name="文本框 7170"/>
          <p:cNvSpPr txBox="1"/>
          <p:nvPr/>
        </p:nvSpPr>
        <p:spPr>
          <a:xfrm>
            <a:off x="5235575" y="934720"/>
            <a:ext cx="5404485" cy="2494280"/>
          </a:xfrm>
          <a:prstGeom prst="rect">
            <a:avLst/>
          </a:prstGeom>
          <a:solidFill>
            <a:schemeClr val="accent3">
              <a:lumMod val="20000"/>
              <a:lumOff val="80000"/>
              <a:alpha val="50000"/>
            </a:schemeClr>
          </a:solidFill>
          <a:ln w="12700" cap="flat" cmpd="sng">
            <a:noFill/>
            <a:prstDash val="solid"/>
            <a:miter/>
            <a:headEnd type="none" w="med" len="med"/>
            <a:tailEnd type="none" w="med" len="med"/>
          </a:ln>
        </p:spPr>
        <p:txBody>
          <a:bodyPr vert="horz" wrap="square" lIns="90170" tIns="46990" rIns="90170" bIns="46990" anchor="t">
            <a:spAutoFit/>
          </a:bodyPr>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SELECT  DEP, JOB, AVG(SAL)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FROM  EMPL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WHERE  JOB &lt;&gt; 'M'</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GROUP BY  DEP, JOB</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sym typeface="+mn-ea"/>
              </a:rPr>
              <a:t>HAVING AVG(SAL)&gt;28000</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FF0000"/>
                </a:solidFill>
                <a:latin typeface="Arial" panose="020B0604020202090204" pitchFamily="34" charset="0"/>
                <a:ea typeface="宋体" pitchFamily="2" charset="-122"/>
              </a:rPr>
              <a:t>ORDER BY  AVG(SAL)  DESC</a:t>
            </a:r>
            <a:endParaRPr lang="en-US" altLang="x-none" sz="2600" dirty="0">
              <a:solidFill>
                <a:srgbClr val="FF0000"/>
              </a:solidFill>
              <a:latin typeface="Times New Roman" panose="02020503050405090304" pitchFamily="2" charset="0"/>
              <a:ea typeface="宋体" pitchFamily="2" charset="-122"/>
            </a:endParaRPr>
          </a:p>
        </p:txBody>
      </p:sp>
      <p:sp>
        <p:nvSpPr>
          <p:cNvPr id="6149" name="文本框 6148"/>
          <p:cNvSpPr txBox="1"/>
          <p:nvPr/>
        </p:nvSpPr>
        <p:spPr>
          <a:xfrm>
            <a:off x="5300345" y="3718560"/>
            <a:ext cx="6351905" cy="1436370"/>
          </a:xfrm>
          <a:prstGeom prst="rect">
            <a:avLst/>
          </a:prstGeom>
          <a:noFill/>
          <a:ln w="19050" cap="flat" cmpd="sng">
            <a:noFill/>
            <a:prstDash val="solid"/>
            <a:miter/>
            <a:headEnd type="none" w="med" len="med"/>
            <a:tailEnd type="none" w="med" len="med"/>
          </a:ln>
        </p:spPr>
        <p:txBody>
          <a:bodyPr wrap="square" lIns="179705" tIns="36195" rIns="71755" bIns="107950">
            <a:spAutoFit/>
          </a:bodyPr>
          <a:p>
            <a:pPr lvl="0" algn="l" eaLnBrk="1" latinLnBrk="0" hangingPunct="1">
              <a:lnSpc>
                <a:spcPct val="150000"/>
              </a:lnSpc>
              <a:buSzPct val="75000"/>
            </a:pPr>
            <a:r>
              <a:rPr lang="zh-CN" altLang="en-US" sz="2800" b="1" dirty="0">
                <a:gradFill>
                  <a:gsLst>
                    <a:gs pos="0">
                      <a:srgbClr val="E30000"/>
                    </a:gs>
                    <a:gs pos="100000">
                      <a:srgbClr val="760303"/>
                    </a:gs>
                  </a:gsLst>
                  <a:lin ang="5400000" scaled="0"/>
                </a:gradFill>
                <a:latin typeface="+mn-lt"/>
                <a:ea typeface="楷体" charset="-122"/>
                <a:cs typeface="+mn-lt"/>
              </a:rPr>
              <a:t>根据</a:t>
            </a:r>
            <a:r>
              <a:rPr lang="en-US" altLang="zh-CN" sz="2800" b="1" dirty="0">
                <a:gradFill>
                  <a:gsLst>
                    <a:gs pos="0">
                      <a:srgbClr val="E30000"/>
                    </a:gs>
                    <a:gs pos="100000">
                      <a:srgbClr val="760303"/>
                    </a:gs>
                  </a:gsLst>
                  <a:lin ang="5400000" scaled="0"/>
                </a:gradFill>
                <a:latin typeface="+mn-lt"/>
                <a:ea typeface="楷体" charset="-122"/>
                <a:cs typeface="+mn-lt"/>
              </a:rPr>
              <a:t>ORDER BY</a:t>
            </a:r>
            <a:r>
              <a:rPr lang="zh-CN" altLang="en-US" sz="2800" b="1" dirty="0">
                <a:gradFill>
                  <a:gsLst>
                    <a:gs pos="0">
                      <a:srgbClr val="E30000"/>
                    </a:gs>
                    <a:gs pos="100000">
                      <a:srgbClr val="760303"/>
                    </a:gs>
                  </a:gsLst>
                  <a:lin ang="5400000" scaled="0"/>
                </a:gradFill>
                <a:latin typeface="+mn-lt"/>
                <a:ea typeface="楷体" charset="-122"/>
                <a:cs typeface="+mn-lt"/>
              </a:rPr>
              <a:t>子句的要求，对结果元组进行排序输出。</a:t>
            </a:r>
            <a:endParaRPr lang="zh-CN" altLang="en-US" sz="2800" b="1" dirty="0">
              <a:gradFill>
                <a:gsLst>
                  <a:gs pos="0">
                    <a:srgbClr val="E30000"/>
                  </a:gs>
                  <a:gs pos="100000">
                    <a:srgbClr val="760303"/>
                  </a:gs>
                </a:gsLst>
                <a:lin ang="5400000" scaled="0"/>
              </a:gradFill>
              <a:latin typeface="+mn-lt"/>
              <a:ea typeface="楷体" charset="-122"/>
              <a:cs typeface="+mn-lt"/>
            </a:endParaRPr>
          </a:p>
        </p:txBody>
      </p:sp>
      <p:sp>
        <p:nvSpPr>
          <p:cNvPr id="6150" name="文本框 6149"/>
          <p:cNvSpPr txBox="1"/>
          <p:nvPr/>
        </p:nvSpPr>
        <p:spPr>
          <a:xfrm>
            <a:off x="944563" y="733425"/>
            <a:ext cx="3703637" cy="5798185"/>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0" rIns="179705" bIns="46990" anchor="t">
            <a:spAutoFit/>
          </a:bodyPr>
          <a:p>
            <a:pPr lvl="0" algn="l" eaLnBrk="1" hangingPunct="1">
              <a:lnSpc>
                <a:spcPct val="110000"/>
              </a:lnSpc>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0000CC"/>
                </a:solidFill>
                <a:latin typeface="Arial" panose="020B0604020202090204" pitchFamily="34" charset="0"/>
                <a:ea typeface="宋体" pitchFamily="2" charset="-122"/>
              </a:rPr>
              <a:t>BLU    S          30000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FF0000"/>
                </a:solidFill>
                <a:latin typeface="Arial" panose="020B0604020202090204" pitchFamily="34" charset="0"/>
                <a:ea typeface="宋体" pitchFamily="2" charset="-122"/>
              </a:rPr>
              <a:t>RED</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FF0000"/>
                </a:solidFill>
                <a:latin typeface="Arial" panose="020B0604020202090204" pitchFamily="34" charset="0"/>
                <a:ea typeface="宋体" pitchFamily="2" charset="-122"/>
              </a:rPr>
              <a:t>S          30500</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10000"/>
              </a:lnSpc>
            </a:pPr>
            <a:endParaRPr lang="zh-CN" altLang="en-US" sz="2400" dirty="0">
              <a:latin typeface="Times New Roman" panose="02020503050405090304" pitchFamily="2" charset="0"/>
              <a:ea typeface="宋体" pitchFamily="2" charset="-122"/>
            </a:endParaRPr>
          </a:p>
          <a:p>
            <a:pPr lvl="0" algn="l" eaLnBrk="1" hangingPunct="1">
              <a:lnSpc>
                <a:spcPct val="110000"/>
              </a:lnSpc>
            </a:pPr>
            <a:endParaRPr lang="zh-CN" altLang="en-US" sz="2400" dirty="0">
              <a:latin typeface="Times New Roman" panose="02020503050405090304" pitchFamily="2" charset="0"/>
              <a:ea typeface="宋体" pitchFamily="2" charset="-122"/>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x-none" dirty="0">
                <a:latin typeface="Verdana" panose="020B0804030504040204" pitchFamily="2" charset="0"/>
                <a:sym typeface="+mn-ea"/>
              </a:rPr>
              <a:t>Example of GROUP BY+HAVING 11</a:t>
            </a:r>
            <a:endParaRPr lang="zh-CN" altLang="en-US"/>
          </a:p>
        </p:txBody>
      </p:sp>
      <p:sp>
        <p:nvSpPr>
          <p:cNvPr id="7172" name="右箭头 7171"/>
          <p:cNvSpPr/>
          <p:nvPr/>
        </p:nvSpPr>
        <p:spPr>
          <a:xfrm>
            <a:off x="4788535" y="1730375"/>
            <a:ext cx="3121025" cy="1494155"/>
          </a:xfrm>
          <a:prstGeom prst="rightArrow">
            <a:avLst>
              <a:gd name="adj1" fmla="val 59805"/>
              <a:gd name="adj2" fmla="val 21256"/>
            </a:avLst>
          </a:prstGeom>
          <a:solidFill>
            <a:srgbClr val="CCFFCC">
              <a:alpha val="100000"/>
            </a:srgbClr>
          </a:solidFill>
          <a:ln w="9525" cap="flat" cmpd="sng">
            <a:solidFill>
              <a:schemeClr val="tx1"/>
            </a:solidFill>
            <a:prstDash val="solid"/>
            <a:miter/>
            <a:headEnd type="none" w="med" len="med"/>
            <a:tailEnd type="none" w="med" len="med"/>
          </a:ln>
        </p:spPr>
        <p:txBody>
          <a:bodyPr vert="horz" wrap="square" lIns="90170" tIns="46990" rIns="90170" bIns="46990" anchor="ctr"/>
          <a:p>
            <a:pPr lvl="0" algn="ctr" eaLnBrk="1" latinLnBrk="0" hangingPunct="1"/>
            <a:r>
              <a:rPr lang="zh-CN" altLang="en-US" sz="2400" b="1" dirty="0">
                <a:solidFill>
                  <a:srgbClr val="FF0000"/>
                </a:solidFill>
                <a:latin typeface="Arial" panose="020B0604020202090204" pitchFamily="34" charset="0"/>
                <a:ea typeface="宋体" pitchFamily="2" charset="-122"/>
              </a:rPr>
              <a:t>ORDER BY </a:t>
            </a:r>
            <a:r>
              <a:rPr lang="en-US" altLang="zh-CN" sz="2400" b="1" dirty="0">
                <a:solidFill>
                  <a:srgbClr val="FF0000"/>
                </a:solidFill>
                <a:latin typeface="Arial" panose="020B0604020202090204" pitchFamily="34" charset="0"/>
                <a:ea typeface="宋体" pitchFamily="2" charset="-122"/>
              </a:rPr>
              <a:t>AVG(SAL) DESC</a:t>
            </a:r>
            <a:endParaRPr lang="en-US" altLang="zh-CN" sz="2400" b="1" dirty="0">
              <a:solidFill>
                <a:srgbClr val="FF0000"/>
              </a:solidFill>
              <a:latin typeface="Arial" panose="020B0604020202090204" pitchFamily="34" charset="0"/>
              <a:ea typeface="宋体" pitchFamily="2" charset="-122"/>
            </a:endParaRPr>
          </a:p>
        </p:txBody>
      </p:sp>
      <p:sp>
        <p:nvSpPr>
          <p:cNvPr id="2" name="文本框 1"/>
          <p:cNvSpPr txBox="1"/>
          <p:nvPr/>
        </p:nvSpPr>
        <p:spPr>
          <a:xfrm>
            <a:off x="8049895" y="673735"/>
            <a:ext cx="3705225" cy="5340350"/>
          </a:xfrm>
          <a:prstGeom prst="rect">
            <a:avLst/>
          </a:prstGeom>
          <a:solidFill>
            <a:schemeClr val="bg1">
              <a:alpha val="100000"/>
            </a:schemeClr>
          </a:solidFill>
          <a:ln w="19050" cap="flat" cmpd="sng">
            <a:solidFill>
              <a:srgbClr val="000080"/>
            </a:solidFill>
            <a:prstDash val="solid"/>
            <a:bevel/>
            <a:headEnd type="none" w="med" len="med"/>
            <a:tailEnd type="none" w="med" len="med"/>
          </a:ln>
        </p:spPr>
        <p:txBody>
          <a:bodyPr vert="horz" wrap="square" lIns="179705" tIns="179705" rIns="179705" bIns="179705" anchor="t">
            <a:spAutoFit/>
          </a:bodyPr>
          <a:p>
            <a:pPr lvl="0" algn="l" eaLnBrk="1" hangingPunct="1">
              <a:lnSpc>
                <a:spcPct val="110000"/>
              </a:lnSpc>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10000"/>
              </a:lnSpc>
              <a:spcBef>
                <a:spcPct val="30000"/>
              </a:spcBef>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FF0000"/>
                </a:solidFill>
                <a:latin typeface="Arial" panose="020B0604020202090204" pitchFamily="34" charset="0"/>
                <a:sym typeface="+mn-ea"/>
              </a:rPr>
              <a:t>RED</a:t>
            </a:r>
            <a:r>
              <a:rPr lang="zh-CN" altLang="en-US" sz="2400" b="1" dirty="0">
                <a:solidFill>
                  <a:srgbClr val="0000CC"/>
                </a:solidFill>
                <a:latin typeface="Arial" panose="020B0604020202090204" pitchFamily="34" charset="0"/>
                <a:sym typeface="+mn-ea"/>
              </a:rPr>
              <a:t>    </a:t>
            </a:r>
            <a:r>
              <a:rPr lang="zh-CN" altLang="en-US" sz="2400" b="1" dirty="0">
                <a:solidFill>
                  <a:srgbClr val="FF0000"/>
                </a:solidFill>
                <a:latin typeface="Arial" panose="020B0604020202090204" pitchFamily="34" charset="0"/>
                <a:sym typeface="+mn-ea"/>
              </a:rPr>
              <a:t>S          30500</a:t>
            </a:r>
            <a:endParaRPr lang="zh-CN" altLang="en-US" sz="2400" b="1" dirty="0">
              <a:solidFill>
                <a:srgbClr val="FF0000"/>
              </a:solidFill>
              <a:latin typeface="Arial" panose="020B0604020202090204" pitchFamily="34" charset="0"/>
              <a:sym typeface="+mn-ea"/>
            </a:endParaRPr>
          </a:p>
          <a:p>
            <a:pPr lvl="0" algn="l" eaLnBrk="1" hangingPunct="1">
              <a:lnSpc>
                <a:spcPct val="110000"/>
              </a:lnSpc>
            </a:pPr>
            <a:r>
              <a:rPr lang="zh-CN" altLang="en-US" sz="2400" b="1" dirty="0">
                <a:solidFill>
                  <a:srgbClr val="0000CC"/>
                </a:solidFill>
                <a:latin typeface="Arial" panose="020B0604020202090204" pitchFamily="34" charset="0"/>
                <a:sym typeface="+mn-ea"/>
              </a:rPr>
              <a:t>BLU    S          30000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10000"/>
              </a:lnSpc>
            </a:pPr>
            <a:endParaRPr lang="zh-CN" altLang="en-US" sz="2400" b="1" dirty="0">
              <a:latin typeface="Times New Roman" panose="02020503050405090304" pitchFamily="2" charset="0"/>
              <a:ea typeface="宋体" pitchFamily="2" charset="-122"/>
            </a:endParaRPr>
          </a:p>
        </p:txBody>
      </p:sp>
      <p:sp>
        <p:nvSpPr>
          <p:cNvPr id="6150" name="文本框 6149"/>
          <p:cNvSpPr txBox="1"/>
          <p:nvPr/>
        </p:nvSpPr>
        <p:spPr>
          <a:xfrm>
            <a:off x="944563" y="733425"/>
            <a:ext cx="3703637" cy="5798185"/>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0" rIns="179705" bIns="46990" anchor="t">
            <a:spAutoFit/>
          </a:bodyPr>
          <a:p>
            <a:pPr lvl="0" algn="l" eaLnBrk="1" hangingPunct="1">
              <a:lnSpc>
                <a:spcPct val="110000"/>
              </a:lnSpc>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0000CC"/>
                </a:solidFill>
                <a:latin typeface="Arial" panose="020B0604020202090204" pitchFamily="34" charset="0"/>
                <a:ea typeface="宋体" pitchFamily="2" charset="-122"/>
              </a:rPr>
              <a:t>BLU    S          30000</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000" b="1" dirty="0">
              <a:solidFill>
                <a:srgbClr val="0099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10000"/>
              </a:lnSpc>
            </a:pP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FF0000"/>
                </a:solidFill>
                <a:latin typeface="Arial" panose="020B0604020202090204" pitchFamily="34" charset="0"/>
                <a:ea typeface="宋体" pitchFamily="2" charset="-122"/>
              </a:rPr>
              <a:t>RED</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FF0000"/>
                </a:solidFill>
                <a:latin typeface="Arial" panose="020B0604020202090204" pitchFamily="34" charset="0"/>
                <a:ea typeface="宋体" pitchFamily="2" charset="-122"/>
              </a:rPr>
              <a:t>S          30500</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10000"/>
              </a:lnSpc>
            </a:pPr>
            <a:endParaRPr lang="zh-CN" altLang="en-US" sz="2400" dirty="0">
              <a:latin typeface="Times New Roman" panose="02020503050405090304" pitchFamily="2" charset="0"/>
              <a:ea typeface="宋体" pitchFamily="2" charset="-122"/>
            </a:endParaRPr>
          </a:p>
          <a:p>
            <a:pPr lvl="0" algn="l" eaLnBrk="1" hangingPunct="1">
              <a:lnSpc>
                <a:spcPct val="110000"/>
              </a:lnSpc>
            </a:pPr>
            <a:endParaRPr lang="zh-CN" altLang="en-US" sz="2400" dirty="0">
              <a:latin typeface="Times New Roman" panose="02020503050405090304" pitchFamily="2" charset="0"/>
              <a:ea typeface="宋体" pitchFamily="2" charset="-122"/>
            </a:endParaRPr>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7172"/>
                                        </p:tgtEl>
                                        <p:attrNameLst>
                                          <p:attrName>style.visibility</p:attrName>
                                        </p:attrNameLst>
                                      </p:cBhvr>
                                      <p:to>
                                        <p:strVal val="visible"/>
                                      </p:to>
                                    </p:set>
                                    <p:anim calcmode="lin" valueType="num">
                                      <p:cBhvr>
                                        <p:cTn id="7" dur="500" fill="hold"/>
                                        <p:tgtEl>
                                          <p:spTgt spid="7172"/>
                                        </p:tgtEl>
                                        <p:attrNameLst>
                                          <p:attrName>ppt_x</p:attrName>
                                        </p:attrNameLst>
                                      </p:cBhvr>
                                      <p:tavLst>
                                        <p:tav tm="0">
                                          <p:val>
                                            <p:strVal val="#ppt_x-#ppt_w/2"/>
                                          </p:val>
                                        </p:tav>
                                        <p:tav tm="100000">
                                          <p:val>
                                            <p:strVal val="#ppt_x"/>
                                          </p:val>
                                        </p:tav>
                                      </p:tavLst>
                                    </p:anim>
                                    <p:anim calcmode="lin" valueType="num">
                                      <p:cBhvr>
                                        <p:cTn id="8" dur="500" fill="hold"/>
                                        <p:tgtEl>
                                          <p:spTgt spid="7172"/>
                                        </p:tgtEl>
                                        <p:attrNameLst>
                                          <p:attrName>ppt_y</p:attrName>
                                        </p:attrNameLst>
                                      </p:cBhvr>
                                      <p:tavLst>
                                        <p:tav tm="0">
                                          <p:val>
                                            <p:strVal val="#ppt_y"/>
                                          </p:val>
                                        </p:tav>
                                        <p:tav tm="100000">
                                          <p:val>
                                            <p:strVal val="#ppt_y"/>
                                          </p:val>
                                        </p:tav>
                                      </p:tavLst>
                                    </p:anim>
                                    <p:anim calcmode="lin" valueType="num">
                                      <p:cBhvr>
                                        <p:cTn id="9" dur="500" fill="hold"/>
                                        <p:tgtEl>
                                          <p:spTgt spid="7172"/>
                                        </p:tgtEl>
                                        <p:attrNameLst>
                                          <p:attrName>ppt_w</p:attrName>
                                        </p:attrNameLst>
                                      </p:cBhvr>
                                      <p:tavLst>
                                        <p:tav tm="0">
                                          <p:val>
                                            <p:fltVal val="0.000000"/>
                                          </p:val>
                                        </p:tav>
                                        <p:tav tm="100000">
                                          <p:val>
                                            <p:strVal val="#ppt_w"/>
                                          </p:val>
                                        </p:tav>
                                      </p:tavLst>
                                    </p:anim>
                                    <p:anim calcmode="lin" valueType="num">
                                      <p:cBhvr>
                                        <p:cTn id="10" dur="500" fill="hold"/>
                                        <p:tgtEl>
                                          <p:spTgt spid="7172"/>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linds(horizont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ldLvl="0" animBg="1"/>
      <p:bldP spid="2"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en-US" altLang="x-none" dirty="0">
                <a:latin typeface="Verdana" panose="020B0804030504040204" pitchFamily="2" charset="0"/>
                <a:sym typeface="+mn-ea"/>
              </a:rPr>
              <a:t>Example of GROUP BY+HAVING 12</a:t>
            </a:r>
            <a:endParaRPr lang="zh-CN" altLang="en-US"/>
          </a:p>
        </p:txBody>
      </p:sp>
      <p:sp>
        <p:nvSpPr>
          <p:cNvPr id="7171" name="文本框 7170"/>
          <p:cNvSpPr txBox="1"/>
          <p:nvPr/>
        </p:nvSpPr>
        <p:spPr>
          <a:xfrm>
            <a:off x="5406390" y="832485"/>
            <a:ext cx="5404485" cy="2616200"/>
          </a:xfrm>
          <a:prstGeom prst="rect">
            <a:avLst/>
          </a:prstGeom>
          <a:solidFill>
            <a:schemeClr val="accent3">
              <a:lumMod val="20000"/>
              <a:lumOff val="80000"/>
              <a:alpha val="50000"/>
            </a:schemeClr>
          </a:solidFill>
          <a:ln w="12700" cap="flat" cmpd="sng">
            <a:noFill/>
            <a:prstDash val="solid"/>
            <a:miter/>
            <a:headEnd type="none" w="med" len="med"/>
            <a:tailEnd type="none" w="med" len="med"/>
          </a:ln>
        </p:spPr>
        <p:txBody>
          <a:bodyPr vert="horz" wrap="square" lIns="90170" tIns="107950" rIns="90170" bIns="107950" anchor="t">
            <a:spAutoFit/>
          </a:bodyPr>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SELECT  DEP, JOB, AVG(SAL)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FROM  EMPL</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WHERE  JOB &lt;&gt; 'M'</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GROUP BY  DEP, JOB</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sym typeface="+mn-ea"/>
              </a:rPr>
              <a:t>HAVING AVG(SAL)&gt;28000</a:t>
            </a:r>
            <a:endParaRPr lang="en-US" altLang="x-none" sz="2600" b="1" dirty="0">
              <a:solidFill>
                <a:srgbClr val="0000FF"/>
              </a:solidFill>
              <a:latin typeface="Arial" panose="020B0604020202090204" pitchFamily="34" charset="0"/>
              <a:ea typeface="宋体" pitchFamily="2" charset="-122"/>
            </a:endParaRPr>
          </a:p>
          <a:p>
            <a:pPr marL="1905" lvl="0" indent="267970" eaLnBrk="1" latinLnBrk="0" hangingPunct="1"/>
            <a:r>
              <a:rPr lang="en-US" altLang="x-none" sz="2600" b="1" dirty="0">
                <a:solidFill>
                  <a:srgbClr val="0000FF"/>
                </a:solidFill>
                <a:latin typeface="Arial" panose="020B0604020202090204" pitchFamily="34" charset="0"/>
                <a:ea typeface="宋体" pitchFamily="2" charset="-122"/>
              </a:rPr>
              <a:t>ORDER BY  AVG(SAL)  DESC</a:t>
            </a:r>
            <a:endParaRPr lang="en-US" altLang="x-none" sz="2600" b="1" dirty="0">
              <a:solidFill>
                <a:srgbClr val="0000FF"/>
              </a:solidFill>
              <a:latin typeface="Arial" panose="020B0604020202090204" pitchFamily="34" charset="0"/>
              <a:ea typeface="宋体" pitchFamily="2" charset="-122"/>
            </a:endParaRPr>
          </a:p>
        </p:txBody>
      </p:sp>
      <p:sp>
        <p:nvSpPr>
          <p:cNvPr id="3" name="圆角右箭头 2"/>
          <p:cNvSpPr/>
          <p:nvPr/>
        </p:nvSpPr>
        <p:spPr>
          <a:xfrm>
            <a:off x="6360160" y="1948180"/>
            <a:ext cx="540385" cy="3758565"/>
          </a:xfrm>
          <a:prstGeom prst="bentArrow">
            <a:avLst/>
          </a:prstGeom>
          <a:scene3d>
            <a:camera prst="orthographicFront">
              <a:rot lat="0" lon="0" rev="16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 name="文本框 1"/>
          <p:cNvSpPr txBox="1"/>
          <p:nvPr/>
        </p:nvSpPr>
        <p:spPr>
          <a:xfrm>
            <a:off x="6772275" y="6319520"/>
            <a:ext cx="3648075" cy="460375"/>
          </a:xfrm>
          <a:prstGeom prst="rect">
            <a:avLst/>
          </a:prstGeom>
          <a:noFill/>
        </p:spPr>
        <p:txBody>
          <a:bodyPr wrap="square" rtlCol="0">
            <a:spAutoFit/>
          </a:bodyPr>
          <a:p>
            <a:pPr algn="ctr"/>
            <a:r>
              <a:rPr lang="zh-CN" altLang="en-US" sz="2400" b="1">
                <a:latin typeface="楷体" charset="-122"/>
                <a:ea typeface="楷体" charset="-122"/>
              </a:rPr>
              <a:t>查询结果</a:t>
            </a:r>
            <a:endParaRPr lang="zh-CN" altLang="en-US" sz="2400" b="1">
              <a:latin typeface="楷体" charset="-122"/>
              <a:ea typeface="楷体" charset="-122"/>
            </a:endParaRPr>
          </a:p>
        </p:txBody>
      </p:sp>
      <p:sp>
        <p:nvSpPr>
          <p:cNvPr id="4" name="文本框 3"/>
          <p:cNvSpPr txBox="1"/>
          <p:nvPr/>
        </p:nvSpPr>
        <p:spPr>
          <a:xfrm>
            <a:off x="6772275" y="4226560"/>
            <a:ext cx="3705225" cy="2092960"/>
          </a:xfrm>
          <a:prstGeom prst="rect">
            <a:avLst/>
          </a:prstGeom>
          <a:solidFill>
            <a:schemeClr val="bg1">
              <a:alpha val="100000"/>
            </a:schemeClr>
          </a:solidFill>
          <a:ln w="19050" cap="flat" cmpd="sng">
            <a:solidFill>
              <a:srgbClr val="000080"/>
            </a:solidFill>
            <a:prstDash val="solid"/>
            <a:bevel/>
            <a:headEnd type="none" w="med" len="med"/>
            <a:tailEnd type="none" w="med" len="med"/>
          </a:ln>
        </p:spPr>
        <p:txBody>
          <a:bodyPr vert="horz" wrap="square" lIns="179705" tIns="179705" rIns="179705" bIns="179705" anchor="t">
            <a:spAutoFit/>
          </a:bodyPr>
          <a:p>
            <a:pPr lvl="0" algn="l" eaLnBrk="1" hangingPunct="1">
              <a:lnSpc>
                <a:spcPct val="110000"/>
              </a:lnSpc>
            </a:pPr>
            <a:r>
              <a:rPr lang="zh-CN" altLang="en-US" sz="2400" b="1" dirty="0">
                <a:latin typeface="Arial" panose="020B0604020202090204" pitchFamily="34" charset="0"/>
                <a:ea typeface="宋体" pitchFamily="2" charset="-122"/>
              </a:rPr>
              <a:t>DEP    JOB    AVG(SAL)        </a:t>
            </a:r>
            <a:endParaRPr lang="zh-CN" altLang="en-US" sz="2400" b="1" dirty="0">
              <a:latin typeface="Arial" panose="020B0604020202090204" pitchFamily="34" charset="0"/>
              <a:ea typeface="宋体" pitchFamily="2" charset="-122"/>
            </a:endParaRPr>
          </a:p>
          <a:p>
            <a:pPr lvl="0" algn="l" eaLnBrk="1" hangingPunct="1">
              <a:lnSpc>
                <a:spcPct val="110000"/>
              </a:lnSpc>
              <a:spcBef>
                <a:spcPct val="30000"/>
              </a:spcBef>
            </a:pPr>
            <a:r>
              <a:rPr lang="zh-CN" altLang="en-US" sz="2400" b="1" dirty="0">
                <a:solidFill>
                  <a:srgbClr val="009900"/>
                </a:solidFill>
                <a:latin typeface="Arial" panose="020B0604020202090204" pitchFamily="34" charset="0"/>
                <a:ea typeface="宋体" pitchFamily="2" charset="-122"/>
              </a:rPr>
              <a:t>GRE</a:t>
            </a:r>
            <a:r>
              <a:rPr lang="zh-CN" altLang="en-US" sz="2400" b="1" dirty="0">
                <a:solidFill>
                  <a:srgbClr val="0000CC"/>
                </a:solidFill>
                <a:latin typeface="Arial" panose="020B0604020202090204" pitchFamily="34" charset="0"/>
                <a:ea typeface="宋体" pitchFamily="2" charset="-122"/>
              </a:rPr>
              <a:t>    </a:t>
            </a:r>
            <a:r>
              <a:rPr lang="zh-CN" altLang="en-US" sz="2400" b="1" dirty="0">
                <a:solidFill>
                  <a:srgbClr val="009900"/>
                </a:solidFill>
                <a:latin typeface="Arial" panose="020B0604020202090204" pitchFamily="34" charset="0"/>
                <a:ea typeface="宋体" pitchFamily="2" charset="-122"/>
              </a:rPr>
              <a:t>S          34000</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10000"/>
              </a:lnSpc>
            </a:pPr>
            <a:r>
              <a:rPr lang="zh-CN" altLang="en-US" sz="2400" b="1" dirty="0">
                <a:solidFill>
                  <a:srgbClr val="FF0000"/>
                </a:solidFill>
                <a:latin typeface="Arial" panose="020B0604020202090204" pitchFamily="34" charset="0"/>
                <a:sym typeface="+mn-ea"/>
              </a:rPr>
              <a:t>RED</a:t>
            </a:r>
            <a:r>
              <a:rPr lang="zh-CN" altLang="en-US" sz="2400" b="1" dirty="0">
                <a:solidFill>
                  <a:srgbClr val="0000CC"/>
                </a:solidFill>
                <a:latin typeface="Arial" panose="020B0604020202090204" pitchFamily="34" charset="0"/>
                <a:sym typeface="+mn-ea"/>
              </a:rPr>
              <a:t>    </a:t>
            </a:r>
            <a:r>
              <a:rPr lang="zh-CN" altLang="en-US" sz="2400" b="1" dirty="0">
                <a:solidFill>
                  <a:srgbClr val="FF0000"/>
                </a:solidFill>
                <a:latin typeface="Arial" panose="020B0604020202090204" pitchFamily="34" charset="0"/>
                <a:sym typeface="+mn-ea"/>
              </a:rPr>
              <a:t>S          30500</a:t>
            </a:r>
            <a:endParaRPr lang="zh-CN" altLang="en-US" sz="2400" b="1" dirty="0">
              <a:solidFill>
                <a:srgbClr val="FF0000"/>
              </a:solidFill>
              <a:latin typeface="Arial" panose="020B0604020202090204" pitchFamily="34" charset="0"/>
              <a:sym typeface="+mn-ea"/>
            </a:endParaRPr>
          </a:p>
          <a:p>
            <a:pPr lvl="0" algn="l" eaLnBrk="1" hangingPunct="1">
              <a:lnSpc>
                <a:spcPct val="110000"/>
              </a:lnSpc>
            </a:pPr>
            <a:r>
              <a:rPr lang="zh-CN" altLang="en-US" sz="2400" b="1" dirty="0">
                <a:solidFill>
                  <a:srgbClr val="0000CC"/>
                </a:solidFill>
                <a:latin typeface="Arial" panose="020B0604020202090204" pitchFamily="34" charset="0"/>
                <a:sym typeface="+mn-ea"/>
              </a:rPr>
              <a:t>BLU    S          30000</a:t>
            </a:r>
            <a:endParaRPr lang="zh-CN" altLang="en-US" sz="2400" b="1" dirty="0">
              <a:latin typeface="Times New Roman" panose="02020503050405090304" pitchFamily="2" charset="0"/>
              <a:ea typeface="宋体" pitchFamily="2" charset="-122"/>
            </a:endParaRPr>
          </a:p>
        </p:txBody>
      </p:sp>
      <p:sp>
        <p:nvSpPr>
          <p:cNvPr id="7" name="文本框 6"/>
          <p:cNvSpPr txBox="1"/>
          <p:nvPr/>
        </p:nvSpPr>
        <p:spPr>
          <a:xfrm>
            <a:off x="861695" y="624205"/>
            <a:ext cx="3651250" cy="6003290"/>
          </a:xfrm>
          <a:prstGeom prst="rect">
            <a:avLst/>
          </a:prstGeom>
          <a:solidFill>
            <a:schemeClr val="bg1">
              <a:alpha val="100000"/>
            </a:schemeClr>
          </a:solidFill>
          <a:ln w="19050" cap="flat" cmpd="sng">
            <a:solidFill>
              <a:srgbClr val="000080"/>
            </a:solidFill>
            <a:prstDash val="solid"/>
            <a:miter/>
            <a:headEnd type="none" w="med" len="med"/>
            <a:tailEnd type="none" w="med" len="med"/>
          </a:ln>
        </p:spPr>
        <p:txBody>
          <a:bodyPr vert="horz" wrap="square" lIns="179705" tIns="46990" rIns="179705" bIns="46990" anchor="t">
            <a:spAutoFit/>
          </a:bodyPr>
          <a:p>
            <a:pPr lvl="0" algn="l" eaLnBrk="1" hangingPunct="1">
              <a:lnSpc>
                <a:spcPct val="100000"/>
              </a:lnSpc>
              <a:spcBef>
                <a:spcPts val="0"/>
              </a:spcBef>
              <a:spcAft>
                <a:spcPts val="0"/>
              </a:spcAft>
            </a:pPr>
            <a:r>
              <a:rPr lang="zh-CN" altLang="en-US" sz="2400" b="1" dirty="0">
                <a:latin typeface="Arial" panose="020B0604020202090204" pitchFamily="34" charset="0"/>
                <a:ea typeface="宋体" pitchFamily="2" charset="-122"/>
              </a:rPr>
              <a:t>JOB     SAL        DEP</a:t>
            </a:r>
            <a:endParaRPr lang="zh-CN" altLang="en-US" sz="2400" b="1" dirty="0">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M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30000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27000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M         31000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32000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C          28000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30000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M         33000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31000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9900"/>
                </a:solidFill>
                <a:latin typeface="Arial" panose="020B0604020202090204" pitchFamily="34" charset="0"/>
                <a:ea typeface="宋体" pitchFamily="2" charset="-122"/>
              </a:rPr>
              <a:t>S          35000     GRE</a:t>
            </a:r>
            <a:endParaRPr lang="zh-CN" altLang="en-US" sz="2400" b="1" dirty="0">
              <a:solidFill>
                <a:srgbClr val="0099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C          27000     BLU</a:t>
            </a:r>
            <a:endParaRPr lang="zh-CN" altLang="en-US" sz="2400" b="1" dirty="0">
              <a:solidFill>
                <a:srgbClr val="0000CC"/>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FF0000"/>
                </a:solidFill>
                <a:latin typeface="Arial" panose="020B0604020202090204" pitchFamily="34" charset="0"/>
                <a:ea typeface="宋体" pitchFamily="2" charset="-122"/>
              </a:rPr>
              <a:t>S          29000     RED</a:t>
            </a:r>
            <a:endParaRPr lang="zh-CN" altLang="en-US" sz="2400" b="1" dirty="0">
              <a:solidFill>
                <a:srgbClr val="FF0000"/>
              </a:solidFill>
              <a:latin typeface="Arial" panose="020B0604020202090204" pitchFamily="34" charset="0"/>
              <a:ea typeface="宋体" pitchFamily="2" charset="-122"/>
            </a:endParaRPr>
          </a:p>
          <a:p>
            <a:pPr lvl="0" algn="l" eaLnBrk="1" hangingPunct="1">
              <a:lnSpc>
                <a:spcPct val="100000"/>
              </a:lnSpc>
              <a:spcBef>
                <a:spcPts val="0"/>
              </a:spcBef>
              <a:spcAft>
                <a:spcPts val="0"/>
              </a:spcAft>
            </a:pPr>
            <a:r>
              <a:rPr lang="zh-CN" altLang="en-US" sz="2400" b="1" dirty="0">
                <a:solidFill>
                  <a:srgbClr val="0000CC"/>
                </a:solidFill>
                <a:latin typeface="Arial" panose="020B0604020202090204" pitchFamily="34" charset="0"/>
                <a:ea typeface="宋体" pitchFamily="2" charset="-122"/>
              </a:rPr>
              <a:t>S          29000     BLU</a:t>
            </a:r>
            <a:endParaRPr lang="zh-CN" altLang="en-US" sz="2400" b="1" dirty="0">
              <a:solidFill>
                <a:srgbClr val="0000CC"/>
              </a:solidFill>
              <a:latin typeface="Arial" panose="020B0604020202090204" pitchFamily="34" charset="0"/>
              <a:ea typeface="宋体" pitchFamily="2" charset="-122"/>
            </a:endParaRPr>
          </a:p>
        </p:txBody>
      </p:sp>
      <p:sp>
        <p:nvSpPr>
          <p:cNvPr id="8" name="灯片编号占位符 7"/>
          <p:cNvSpPr>
            <a:spLocks noGrp="1"/>
          </p:cNvSpPr>
          <p:nvPr>
            <p:ph type="sldNum" sz="quarter" idx="12"/>
          </p:nvPr>
        </p:nvSpPr>
        <p:spPr/>
        <p:txBody>
          <a:bodyPr/>
          <a:p>
            <a:fld id="{565CE74E-AB26-4998-AD42-012C4C1AD076}" type="slidenum">
              <a:rPr lang="zh-CN" altLang="en-US" smtClean="0"/>
            </a:fld>
            <a:endParaRPr lang="zh-CN" altLang="en-US"/>
          </a:p>
        </p:txBody>
      </p:sp>
      <p:sp>
        <p:nvSpPr>
          <p:cNvPr id="9" name="页脚占位符 8"/>
          <p:cNvSpPr>
            <a:spLocks noGrp="1"/>
          </p:cNvSpPr>
          <p:nvPr>
            <p:ph type="ftr" sz="quarter" idx="11"/>
          </p:nvPr>
        </p:nvSpPr>
        <p:spPr/>
        <p:txBody>
          <a:bodyPr/>
          <a:p>
            <a:r>
              <a:rPr lang="zh-CN" altLang="en-US"/>
              <a:t>ch03_2_SQL数据查询</a:t>
            </a:r>
            <a:endParaRPr lang="zh-CN" alt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3" name="Rectangle 2"/>
          <p:cNvSpPr>
            <a:spLocks noGrp="1"/>
          </p:cNvSpPr>
          <p:nvPr>
            <p:ph type="title"/>
          </p:nvPr>
        </p:nvSpPr>
        <p:spPr/>
        <p:txBody>
          <a:bodyPr wrap="square" anchor="ctr"/>
          <a:p>
            <a:pPr eaLnBrk="1" hangingPunct="1"/>
            <a:r>
              <a:rPr lang="en-US" altLang="x-none" u="sng" dirty="0">
                <a:solidFill>
                  <a:srgbClr val="0000FF"/>
                </a:solidFill>
              </a:rPr>
              <a:t>SELECT</a:t>
            </a:r>
            <a:r>
              <a:rPr lang="zh-CN" altLang="en-US" u="sng" dirty="0">
                <a:solidFill>
                  <a:srgbClr val="0000FF"/>
                </a:solidFill>
              </a:rPr>
              <a:t>语句执行的一般规则</a:t>
            </a:r>
            <a:endParaRPr lang="zh-CN" altLang="en-US" u="sng" dirty="0">
              <a:solidFill>
                <a:srgbClr val="0000FF"/>
              </a:solidFill>
            </a:endParaRPr>
          </a:p>
        </p:txBody>
      </p:sp>
      <p:sp>
        <p:nvSpPr>
          <p:cNvPr id="116740" name="Rectangle 3"/>
          <p:cNvSpPr>
            <a:spLocks noGrp="1"/>
          </p:cNvSpPr>
          <p:nvPr>
            <p:ph idx="1"/>
          </p:nvPr>
        </p:nvSpPr>
        <p:spPr/>
        <p:txBody>
          <a:bodyPr wrap="square" anchor="t"/>
          <a:p>
            <a:pPr marL="610235" lvl="1" indent="-357505" eaLnBrk="1" fontAlgn="base" hangingPunct="1">
              <a:lnSpc>
                <a:spcPct val="100000"/>
              </a:lnSpc>
              <a:spcBef>
                <a:spcPts val="0"/>
              </a:spcBef>
              <a:spcAft>
                <a:spcPts val="1500"/>
              </a:spcAft>
              <a:buClr>
                <a:srgbClr val="C00000"/>
              </a:buClr>
              <a:buFont typeface="+mj-lt"/>
              <a:buAutoNum type="arabicPeriod"/>
            </a:pPr>
            <a:r>
              <a:rPr lang="zh-CN" altLang="en-US" sz="2800" strike="noStrike" noProof="1" dirty="0">
                <a:solidFill>
                  <a:srgbClr val="0000FF"/>
                </a:solidFill>
              </a:rPr>
              <a:t>合并</a:t>
            </a:r>
            <a:r>
              <a:rPr lang="en-US" altLang="x-none" sz="2800" strike="noStrike" noProof="1" dirty="0">
                <a:solidFill>
                  <a:srgbClr val="0000FF"/>
                </a:solidFill>
              </a:rPr>
              <a:t>FROM</a:t>
            </a:r>
            <a:r>
              <a:rPr lang="zh-CN" altLang="en-US" sz="2800" strike="noStrike" noProof="1" dirty="0">
                <a:solidFill>
                  <a:srgbClr val="0000FF"/>
                </a:solidFill>
              </a:rPr>
              <a:t>子句中的表（笛卡儿乘积）；</a:t>
            </a:r>
            <a:endParaRPr lang="en-US" altLang="x-none" sz="2800" strike="noStrike" noProof="1" dirty="0">
              <a:solidFill>
                <a:srgbClr val="0000FF"/>
              </a:solidFill>
            </a:endParaRPr>
          </a:p>
          <a:p>
            <a:pPr marL="610235" lvl="1" indent="-357505" eaLnBrk="1" fontAlgn="base" hangingPunct="1">
              <a:lnSpc>
                <a:spcPct val="100000"/>
              </a:lnSpc>
              <a:spcBef>
                <a:spcPts val="0"/>
              </a:spcBef>
              <a:spcAft>
                <a:spcPts val="1500"/>
              </a:spcAft>
              <a:buClr>
                <a:srgbClr val="C00000"/>
              </a:buClr>
              <a:buFont typeface="+mj-lt"/>
              <a:buAutoNum type="arabicPeriod"/>
            </a:pPr>
            <a:r>
              <a:rPr lang="zh-CN" altLang="en-US" sz="2800" strike="noStrike" noProof="1" dirty="0">
                <a:solidFill>
                  <a:srgbClr val="0000FF"/>
                </a:solidFill>
              </a:rPr>
              <a:t>利用</a:t>
            </a:r>
            <a:r>
              <a:rPr lang="en-US" altLang="x-none" sz="2800" strike="noStrike" noProof="1" dirty="0">
                <a:solidFill>
                  <a:srgbClr val="0000FF"/>
                </a:solidFill>
              </a:rPr>
              <a:t>WHERE</a:t>
            </a:r>
            <a:r>
              <a:rPr lang="zh-CN" altLang="en-US" sz="2800" strike="noStrike" noProof="1" dirty="0">
                <a:solidFill>
                  <a:srgbClr val="0000FF"/>
                </a:solidFill>
              </a:rPr>
              <a:t>子句中的条件进行元组选择，抛弃不满足</a:t>
            </a:r>
            <a:r>
              <a:rPr lang="en-US" altLang="x-none" sz="2800" strike="noStrike" noProof="1" dirty="0">
                <a:solidFill>
                  <a:srgbClr val="0000FF"/>
                </a:solidFill>
              </a:rPr>
              <a:t>WHERE</a:t>
            </a:r>
            <a:r>
              <a:rPr lang="zh-CN" altLang="en-US" sz="2800" strike="noStrike" noProof="1" dirty="0">
                <a:solidFill>
                  <a:srgbClr val="0000FF"/>
                </a:solidFill>
              </a:rPr>
              <a:t>条件的那些元组；</a:t>
            </a:r>
            <a:endParaRPr lang="zh-CN" altLang="en-US" sz="2800" strike="noStrike" noProof="1" dirty="0">
              <a:solidFill>
                <a:srgbClr val="0000FF"/>
              </a:solidFill>
            </a:endParaRPr>
          </a:p>
          <a:p>
            <a:pPr marL="610235" lvl="1" indent="-357505" eaLnBrk="1" fontAlgn="base" hangingPunct="1">
              <a:lnSpc>
                <a:spcPct val="100000"/>
              </a:lnSpc>
              <a:spcBef>
                <a:spcPts val="0"/>
              </a:spcBef>
              <a:spcAft>
                <a:spcPts val="1500"/>
              </a:spcAft>
              <a:buClr>
                <a:srgbClr val="C00000"/>
              </a:buClr>
              <a:buFont typeface="+mj-lt"/>
              <a:buAutoNum type="arabicPeriod"/>
            </a:pPr>
            <a:r>
              <a:rPr lang="zh-CN" altLang="en-US" sz="2800" strike="noStrike" noProof="1" dirty="0">
                <a:solidFill>
                  <a:srgbClr val="0000FF"/>
                </a:solidFill>
              </a:rPr>
              <a:t>根据</a:t>
            </a:r>
            <a:r>
              <a:rPr lang="en-US" altLang="x-none" sz="2800" strike="noStrike" noProof="1" dirty="0">
                <a:solidFill>
                  <a:srgbClr val="0000FF"/>
                </a:solidFill>
              </a:rPr>
              <a:t>GROUP BY</a:t>
            </a:r>
            <a:r>
              <a:rPr lang="zh-CN" altLang="en-US" sz="2800" strike="noStrike" noProof="1" dirty="0">
                <a:solidFill>
                  <a:srgbClr val="0000FF"/>
                </a:solidFill>
              </a:rPr>
              <a:t>子句对保留下来的元组进行分组；</a:t>
            </a:r>
            <a:endParaRPr lang="zh-CN" altLang="en-US" sz="2800" strike="noStrike" noProof="1" dirty="0">
              <a:solidFill>
                <a:srgbClr val="0000FF"/>
              </a:solidFill>
            </a:endParaRPr>
          </a:p>
          <a:p>
            <a:pPr marL="610235" lvl="1" indent="-357505" eaLnBrk="1" fontAlgn="base" hangingPunct="1">
              <a:lnSpc>
                <a:spcPct val="100000"/>
              </a:lnSpc>
              <a:spcBef>
                <a:spcPts val="0"/>
              </a:spcBef>
              <a:spcAft>
                <a:spcPts val="1500"/>
              </a:spcAft>
              <a:buClr>
                <a:srgbClr val="C00000"/>
              </a:buClr>
              <a:buFont typeface="+mj-lt"/>
              <a:buAutoNum type="arabicPeriod"/>
            </a:pPr>
            <a:r>
              <a:rPr lang="zh-CN" altLang="en-US" sz="2800" strike="noStrike" noProof="1" dirty="0">
                <a:solidFill>
                  <a:srgbClr val="0000FF"/>
                </a:solidFill>
              </a:rPr>
              <a:t>利用</a:t>
            </a:r>
            <a:r>
              <a:rPr lang="en-US" altLang="x-none" sz="2800" strike="noStrike" noProof="1" dirty="0">
                <a:solidFill>
                  <a:srgbClr val="0000FF"/>
                </a:solidFill>
              </a:rPr>
              <a:t>HAVING</a:t>
            </a:r>
            <a:r>
              <a:rPr lang="zh-CN" altLang="en-US" sz="2800" strike="noStrike" noProof="1" dirty="0">
                <a:solidFill>
                  <a:srgbClr val="0000FF"/>
                </a:solidFill>
              </a:rPr>
              <a:t>子句中的条件对分组后的元组集合（</a:t>
            </a:r>
            <a:r>
              <a:rPr lang="en-US" altLang="x-none" sz="2800" strike="noStrike" noProof="1" dirty="0">
                <a:solidFill>
                  <a:srgbClr val="0000FF"/>
                </a:solidFill>
              </a:rPr>
              <a:t>group</a:t>
            </a:r>
            <a:r>
              <a:rPr lang="zh-CN" altLang="en-US" sz="2800" strike="noStrike" noProof="1" dirty="0">
                <a:solidFill>
                  <a:srgbClr val="0000FF"/>
                </a:solidFill>
              </a:rPr>
              <a:t>）进行选择，抛弃不满足</a:t>
            </a:r>
            <a:r>
              <a:rPr lang="en-US" altLang="x-none" sz="2800" strike="noStrike" noProof="1" dirty="0">
                <a:solidFill>
                  <a:srgbClr val="0000FF"/>
                </a:solidFill>
              </a:rPr>
              <a:t>HAVING</a:t>
            </a:r>
            <a:r>
              <a:rPr lang="zh-CN" altLang="en-US" sz="2800" strike="noStrike" noProof="1" dirty="0">
                <a:solidFill>
                  <a:srgbClr val="0000FF"/>
                </a:solidFill>
              </a:rPr>
              <a:t>条件的那些元组集合；</a:t>
            </a:r>
            <a:endParaRPr lang="zh-CN" altLang="en-US" sz="2800" strike="noStrike" noProof="1" dirty="0">
              <a:solidFill>
                <a:srgbClr val="0000FF"/>
              </a:solidFill>
            </a:endParaRPr>
          </a:p>
          <a:p>
            <a:pPr marL="610235" lvl="1" indent="-357505" eaLnBrk="1" fontAlgn="base" hangingPunct="1">
              <a:lnSpc>
                <a:spcPct val="100000"/>
              </a:lnSpc>
              <a:spcBef>
                <a:spcPts val="0"/>
              </a:spcBef>
              <a:spcAft>
                <a:spcPts val="1500"/>
              </a:spcAft>
              <a:buClr>
                <a:srgbClr val="C00000"/>
              </a:buClr>
              <a:buFont typeface="+mj-lt"/>
              <a:buAutoNum type="arabicPeriod"/>
            </a:pPr>
            <a:r>
              <a:rPr lang="zh-CN" altLang="en-US" sz="2800" strike="noStrike" noProof="1" dirty="0">
                <a:solidFill>
                  <a:srgbClr val="0000FF"/>
                </a:solidFill>
              </a:rPr>
              <a:t>根据</a:t>
            </a:r>
            <a:r>
              <a:rPr lang="en-US" altLang="x-none" sz="2800" strike="noStrike" noProof="1" dirty="0">
                <a:solidFill>
                  <a:srgbClr val="0000FF"/>
                </a:solidFill>
              </a:rPr>
              <a:t>SELECT</a:t>
            </a:r>
            <a:r>
              <a:rPr lang="zh-CN" altLang="en-US" sz="2800" strike="noStrike" noProof="1" dirty="0">
                <a:solidFill>
                  <a:srgbClr val="0000FF"/>
                </a:solidFill>
              </a:rPr>
              <a:t>子句进行统计计算，生成结果关系中的元组：</a:t>
            </a:r>
            <a:r>
              <a:rPr lang="en-US" altLang="x-none" sz="2800" strike="noStrike" noProof="1" dirty="0">
                <a:solidFill>
                  <a:srgbClr val="0000FF"/>
                </a:solidFill>
              </a:rPr>
              <a:t>a group </a:t>
            </a:r>
            <a:r>
              <a:rPr lang="en-US" altLang="x-none" sz="2800" strike="noStrike" noProof="1" dirty="0">
                <a:solidFill>
                  <a:srgbClr val="0000FF"/>
                </a:solidFill>
                <a:sym typeface="Wingdings" panose="05000000000000000000" pitchFamily="2" charset="2"/>
              </a:rPr>
              <a:t> a result row</a:t>
            </a:r>
            <a:endParaRPr lang="en-US" altLang="x-none" sz="2800" strike="noStrike" noProof="1" dirty="0">
              <a:solidFill>
                <a:srgbClr val="0000FF"/>
              </a:solidFill>
              <a:sym typeface="Wingdings" panose="05000000000000000000" pitchFamily="2" charset="2"/>
            </a:endParaRPr>
          </a:p>
          <a:p>
            <a:pPr marL="610235" lvl="1" indent="-357505" eaLnBrk="1" fontAlgn="base" hangingPunct="1">
              <a:lnSpc>
                <a:spcPct val="100000"/>
              </a:lnSpc>
              <a:spcBef>
                <a:spcPts val="0"/>
              </a:spcBef>
              <a:spcAft>
                <a:spcPts val="1500"/>
              </a:spcAft>
              <a:buClr>
                <a:srgbClr val="C00000"/>
              </a:buClr>
              <a:buFont typeface="+mj-lt"/>
              <a:buAutoNum type="arabicPeriod"/>
            </a:pPr>
            <a:r>
              <a:rPr lang="zh-CN" altLang="en-US" sz="2800" strike="noStrike" noProof="1" dirty="0">
                <a:solidFill>
                  <a:srgbClr val="0000FF"/>
                </a:solidFill>
                <a:sym typeface="Wingdings" panose="05000000000000000000" pitchFamily="2" charset="2"/>
              </a:rPr>
              <a:t>根据</a:t>
            </a:r>
            <a:r>
              <a:rPr lang="en-US" altLang="x-none" sz="2800" strike="noStrike" noProof="1" dirty="0">
                <a:solidFill>
                  <a:srgbClr val="0000FF"/>
                </a:solidFill>
                <a:sym typeface="Wingdings" panose="05000000000000000000" pitchFamily="2" charset="2"/>
              </a:rPr>
              <a:t>ORDER BY</a:t>
            </a:r>
            <a:r>
              <a:rPr lang="zh-CN" altLang="en-US" sz="2800" strike="noStrike" noProof="1" dirty="0">
                <a:solidFill>
                  <a:srgbClr val="0000FF"/>
                </a:solidFill>
                <a:sym typeface="Wingdings" panose="05000000000000000000" pitchFamily="2" charset="2"/>
              </a:rPr>
              <a:t>子句对查询结果进行排序。</a:t>
            </a:r>
            <a:endParaRPr lang="zh-CN" altLang="en-US" sz="2800" strike="noStrike" noProof="1" dirty="0">
              <a:solidFill>
                <a:srgbClr val="0000FF"/>
              </a:solidFill>
              <a:sym typeface="Wingdings" panose="05000000000000000000" pitchFamily="2" charset="2"/>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nchor="b" anchorCtr="0"/>
          <a:lstStyle/>
          <a:p>
            <a:pPr eaLnBrk="1" hangingPunct="1"/>
            <a:r>
              <a:rPr lang="zh-CN" altLang="en-US" sz="2000" dirty="0">
                <a:solidFill>
                  <a:srgbClr val="0000C8"/>
                </a:solidFill>
                <a:sym typeface="+mn-ea"/>
              </a:rPr>
              <a:t>（2025 春季）</a:t>
            </a:r>
            <a:endParaRPr lang="en-US" altLang="zh-CN" sz="2000" dirty="0">
              <a:solidFill>
                <a:schemeClr val="tx2">
                  <a:lumMod val="65000"/>
                  <a:lumOff val="35000"/>
                </a:schemeClr>
              </a:solidFill>
            </a:endParaRPr>
          </a:p>
        </p:txBody>
      </p:sp>
      <p:sp>
        <p:nvSpPr>
          <p:cNvPr id="3074" name="Rectangle 2"/>
          <p:cNvSpPr>
            <a:spLocks noGrp="1" noChangeArrowheads="1"/>
          </p:cNvSpPr>
          <p:nvPr>
            <p:ph type="ctrTitle" sz="quarter"/>
          </p:nvPr>
        </p:nvSpPr>
        <p:spPr/>
        <p:txBody>
          <a:bodyPr anchor="ctr" anchorCtr="0"/>
          <a:lstStyle/>
          <a:p>
            <a:pPr eaLnBrk="1" hangingPunct="1">
              <a:lnSpc>
                <a:spcPct val="200000"/>
              </a:lnSpc>
              <a:spcBef>
                <a:spcPts val="0"/>
              </a:spcBef>
              <a:spcAft>
                <a:spcPts val="0"/>
              </a:spcAft>
            </a:pPr>
            <a:r>
              <a:rPr lang="zh-CN" altLang="en-US" sz="3600" dirty="0"/>
              <a:t>第3章  关系数据库标准语言SQL</a:t>
            </a:r>
            <a:br>
              <a:rPr lang="en-US" altLang="zh-CN" sz="3600" dirty="0"/>
            </a:br>
            <a:r>
              <a:rPr lang="en-US" altLang="zh-CN" sz="3600" dirty="0">
                <a:solidFill>
                  <a:srgbClr val="0000C8"/>
                </a:solidFill>
              </a:rPr>
              <a:t>ch3.4.2  SQL</a:t>
            </a:r>
            <a:r>
              <a:rPr lang="zh-CN" altLang="en-US" sz="3600" dirty="0">
                <a:solidFill>
                  <a:srgbClr val="0000C8"/>
                </a:solidFill>
              </a:rPr>
              <a:t>数据查询（连接查询）</a:t>
            </a:r>
            <a:endParaRPr lang="zh-CN" altLang="en-US" sz="3600" dirty="0">
              <a:solidFill>
                <a:srgbClr val="0000C8"/>
              </a:solidFill>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zh-CN" altLang="en-US" dirty="0"/>
              <a:t>连接查询 </a:t>
            </a:r>
            <a:endParaRPr lang="zh-CN" altLang="en-US" dirty="0"/>
          </a:p>
        </p:txBody>
      </p:sp>
      <p:sp>
        <p:nvSpPr>
          <p:cNvPr id="7171" name="Rectangle 3"/>
          <p:cNvSpPr>
            <a:spLocks noGrp="1" noChangeArrowheads="1"/>
          </p:cNvSpPr>
          <p:nvPr>
            <p:ph idx="1"/>
          </p:nvPr>
        </p:nvSpPr>
        <p:spPr/>
        <p:txBody>
          <a:bodyPr>
            <a:normAutofit/>
          </a:bodyPr>
          <a:lstStyle/>
          <a:p>
            <a:pPr>
              <a:lnSpc>
                <a:spcPct val="120000"/>
              </a:lnSpc>
              <a:spcBef>
                <a:spcPct val="0"/>
              </a:spcBef>
            </a:pPr>
            <a:r>
              <a:rPr lang="zh-CN" altLang="en-US" dirty="0">
                <a:highlight>
                  <a:srgbClr val="FFFF00"/>
                </a:highlight>
              </a:rPr>
              <a:t>连接查询</a:t>
            </a:r>
            <a:r>
              <a:rPr lang="zh-CN" altLang="en-US" dirty="0"/>
              <a:t>：同时涉及两个或</a:t>
            </a:r>
            <a:r>
              <a:rPr lang="zh-CN" altLang="en-US" dirty="0"/>
              <a:t>两个以上的表的查询</a:t>
            </a:r>
            <a:endParaRPr lang="zh-CN" altLang="en-US" dirty="0"/>
          </a:p>
          <a:p>
            <a:pPr>
              <a:lnSpc>
                <a:spcPct val="120000"/>
              </a:lnSpc>
              <a:spcBef>
                <a:spcPts val="3000"/>
              </a:spcBef>
            </a:pPr>
            <a:r>
              <a:rPr lang="zh-CN" altLang="en-US" dirty="0">
                <a:highlight>
                  <a:srgbClr val="FFFF00"/>
                </a:highlight>
              </a:rPr>
              <a:t>连接条件</a:t>
            </a:r>
            <a:r>
              <a:rPr lang="zh-CN" altLang="en-US" dirty="0"/>
              <a:t>或</a:t>
            </a:r>
            <a:r>
              <a:rPr lang="zh-CN" altLang="en-US" dirty="0">
                <a:highlight>
                  <a:srgbClr val="FFFF00"/>
                </a:highlight>
              </a:rPr>
              <a:t>连接谓词</a:t>
            </a:r>
            <a:r>
              <a:rPr lang="zh-CN" altLang="en-US" dirty="0"/>
              <a:t>：用来连接两个表的条件</a:t>
            </a:r>
            <a:endParaRPr lang="zh-CN" altLang="en-US" dirty="0"/>
          </a:p>
          <a:p>
            <a:pPr lvl="1">
              <a:lnSpc>
                <a:spcPct val="120000"/>
              </a:lnSpc>
              <a:spcBef>
                <a:spcPct val="0"/>
              </a:spcBef>
            </a:pPr>
            <a:r>
              <a:rPr lang="zh-CN" altLang="en-US" dirty="0"/>
              <a:t>一般格式：</a:t>
            </a:r>
            <a:endParaRPr lang="zh-CN" altLang="en-US" dirty="0"/>
          </a:p>
          <a:p>
            <a:pPr lvl="2">
              <a:lnSpc>
                <a:spcPct val="120000"/>
              </a:lnSpc>
              <a:spcBef>
                <a:spcPct val="0"/>
              </a:spcBef>
            </a:pPr>
            <a:r>
              <a:rPr lang="en-US" altLang="zh-CN" sz="2400" dirty="0"/>
              <a:t>[&lt;</a:t>
            </a:r>
            <a:r>
              <a:rPr lang="zh-CN" altLang="en-US" sz="2400" dirty="0"/>
              <a:t>表名</a:t>
            </a:r>
            <a:r>
              <a:rPr lang="en-US" altLang="zh-CN" sz="2400" dirty="0"/>
              <a:t>1&gt;.]&lt;</a:t>
            </a:r>
            <a:r>
              <a:rPr lang="zh-CN" altLang="en-US" sz="2400" dirty="0"/>
              <a:t>列名</a:t>
            </a:r>
            <a:r>
              <a:rPr lang="en-US" altLang="zh-CN" sz="2400" dirty="0"/>
              <a:t>1&gt;  </a:t>
            </a:r>
            <a:r>
              <a:rPr lang="en-US" altLang="zh-CN" sz="2400" dirty="0">
                <a:solidFill>
                  <a:srgbClr val="FF0000"/>
                </a:solidFill>
              </a:rPr>
              <a:t>&lt;</a:t>
            </a:r>
            <a:r>
              <a:rPr lang="zh-CN" altLang="en-US" sz="2400" dirty="0">
                <a:solidFill>
                  <a:srgbClr val="FF0000"/>
                </a:solidFill>
              </a:rPr>
              <a:t>比较运算符</a:t>
            </a:r>
            <a:r>
              <a:rPr lang="en-US" altLang="zh-CN" sz="2400" dirty="0">
                <a:solidFill>
                  <a:srgbClr val="FF0000"/>
                </a:solidFill>
              </a:rPr>
              <a:t>&gt;</a:t>
            </a:r>
            <a:r>
              <a:rPr lang="en-US" altLang="zh-CN" sz="2400" dirty="0"/>
              <a:t>  [&lt;</a:t>
            </a:r>
            <a:r>
              <a:rPr lang="zh-CN" altLang="en-US" sz="2400" dirty="0"/>
              <a:t>表名</a:t>
            </a:r>
            <a:r>
              <a:rPr lang="en-US" altLang="zh-CN" sz="2400" dirty="0"/>
              <a:t>2&gt;.]&lt;</a:t>
            </a:r>
            <a:r>
              <a:rPr lang="zh-CN" altLang="en-US" sz="2400" dirty="0"/>
              <a:t>列名</a:t>
            </a:r>
            <a:r>
              <a:rPr lang="en-US" altLang="zh-CN" sz="2400" dirty="0"/>
              <a:t>2&gt;</a:t>
            </a:r>
            <a:endParaRPr lang="en-US" altLang="zh-CN" sz="2400" dirty="0"/>
          </a:p>
          <a:p>
            <a:pPr lvl="2">
              <a:lnSpc>
                <a:spcPct val="120000"/>
              </a:lnSpc>
              <a:spcBef>
                <a:spcPct val="0"/>
              </a:spcBef>
            </a:pPr>
            <a:r>
              <a:rPr lang="en-US" altLang="zh-CN" sz="2400" dirty="0"/>
              <a:t>[&lt;</a:t>
            </a:r>
            <a:r>
              <a:rPr lang="zh-CN" altLang="en-US" sz="2400" dirty="0"/>
              <a:t>表名</a:t>
            </a:r>
            <a:r>
              <a:rPr lang="en-US" altLang="zh-CN" sz="2400" dirty="0"/>
              <a:t>1&gt;.]&lt;</a:t>
            </a:r>
            <a:r>
              <a:rPr lang="zh-CN" altLang="en-US" sz="2400" dirty="0"/>
              <a:t>列名</a:t>
            </a:r>
            <a:r>
              <a:rPr lang="en-US" altLang="zh-CN" sz="2400" dirty="0"/>
              <a:t>1&gt; </a:t>
            </a:r>
            <a:r>
              <a:rPr lang="en-US" altLang="zh-CN" sz="2400" dirty="0">
                <a:solidFill>
                  <a:srgbClr val="FF0000"/>
                </a:solidFill>
              </a:rPr>
              <a:t>BETWEEN</a:t>
            </a:r>
            <a:r>
              <a:rPr lang="en-US" altLang="zh-CN" sz="2400" dirty="0"/>
              <a:t> [&lt;</a:t>
            </a:r>
            <a:r>
              <a:rPr lang="zh-CN" altLang="en-US" sz="2400" dirty="0"/>
              <a:t>表名</a:t>
            </a:r>
            <a:r>
              <a:rPr lang="en-US" altLang="zh-CN" sz="2400" dirty="0"/>
              <a:t>2&gt;.]&lt;</a:t>
            </a:r>
            <a:r>
              <a:rPr lang="zh-CN" altLang="en-US" sz="2400" dirty="0"/>
              <a:t>列名</a:t>
            </a:r>
            <a:r>
              <a:rPr lang="en-US" altLang="zh-CN" sz="2400" dirty="0"/>
              <a:t>2&gt; </a:t>
            </a:r>
            <a:r>
              <a:rPr lang="en-US" altLang="zh-CN" sz="2400" dirty="0">
                <a:solidFill>
                  <a:srgbClr val="FF0000"/>
                </a:solidFill>
              </a:rPr>
              <a:t>AND</a:t>
            </a:r>
            <a:r>
              <a:rPr lang="en-US" altLang="zh-CN" sz="2400" dirty="0"/>
              <a:t> [&lt;</a:t>
            </a:r>
            <a:r>
              <a:rPr lang="zh-CN" altLang="en-US" sz="2400" dirty="0"/>
              <a:t>表名</a:t>
            </a:r>
            <a:r>
              <a:rPr lang="en-US" altLang="zh-CN" sz="2400" dirty="0"/>
              <a:t>2&gt;.]&lt;</a:t>
            </a:r>
            <a:r>
              <a:rPr lang="zh-CN" altLang="en-US" sz="2400" dirty="0"/>
              <a:t>列名</a:t>
            </a:r>
            <a:r>
              <a:rPr lang="en-US" altLang="zh-CN" sz="2400" dirty="0"/>
              <a:t>3&gt;</a:t>
            </a:r>
            <a:endParaRPr lang="en-US" altLang="zh-CN" sz="2400" dirty="0"/>
          </a:p>
          <a:p>
            <a:pPr>
              <a:lnSpc>
                <a:spcPct val="120000"/>
              </a:lnSpc>
              <a:spcBef>
                <a:spcPts val="3000"/>
              </a:spcBef>
            </a:pPr>
            <a:r>
              <a:rPr lang="zh-CN" altLang="en-US" dirty="0">
                <a:highlight>
                  <a:srgbClr val="FFFF00"/>
                </a:highlight>
              </a:rPr>
              <a:t>连接字段</a:t>
            </a:r>
            <a:r>
              <a:rPr lang="zh-CN" altLang="en-US" dirty="0"/>
              <a:t>：连接谓词中的列名称</a:t>
            </a:r>
            <a:endParaRPr lang="zh-CN" altLang="en-US" dirty="0"/>
          </a:p>
          <a:p>
            <a:pPr lvl="1">
              <a:lnSpc>
                <a:spcPct val="120000"/>
              </a:lnSpc>
              <a:spcBef>
                <a:spcPct val="0"/>
              </a:spcBef>
            </a:pPr>
            <a:r>
              <a:rPr lang="zh-CN" altLang="en-US" dirty="0"/>
              <a:t>连接条件中的各连接字段类型必须是可比的，但名字不必相同</a:t>
            </a:r>
            <a:endParaRPr lang="zh-CN" altLang="en-US" dirty="0"/>
          </a:p>
          <a:p>
            <a:pPr lvl="0" fontAlgn="auto">
              <a:lnSpc>
                <a:spcPct val="120000"/>
              </a:lnSpc>
              <a:spcAft>
                <a:spcPts val="1000"/>
              </a:spcAft>
            </a:pPr>
            <a:r>
              <a:rPr lang="zh-CN" altLang="en-US" dirty="0">
                <a:highlight>
                  <a:srgbClr val="FFFF00"/>
                </a:highlight>
              </a:rPr>
              <a:t>自身连接</a:t>
            </a:r>
            <a:r>
              <a:rPr lang="zh-CN" altLang="en-US" dirty="0"/>
              <a:t>（自</a:t>
            </a:r>
            <a:r>
              <a:rPr lang="zh-CN" altLang="en-US" dirty="0"/>
              <a:t>连接）</a:t>
            </a:r>
            <a:endParaRPr lang="zh-CN" altLang="en-US" dirty="0"/>
          </a:p>
          <a:p>
            <a:pPr lvl="0">
              <a:lnSpc>
                <a:spcPct val="120000"/>
              </a:lnSpc>
              <a:spcBef>
                <a:spcPts val="0"/>
              </a:spcBef>
              <a:spcAft>
                <a:spcPts val="1000"/>
              </a:spcAft>
            </a:pPr>
            <a:r>
              <a:rPr lang="zh-CN" altLang="en-US" dirty="0">
                <a:highlight>
                  <a:srgbClr val="FFFF00"/>
                </a:highlight>
              </a:rPr>
              <a:t>外连接</a:t>
            </a:r>
            <a:endParaRPr lang="zh-CN" altLang="en-US" dirty="0">
              <a:highlight>
                <a:srgbClr val="FFFF00"/>
              </a:highlight>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a:t>等值连接</a:t>
            </a:r>
            <a:r>
              <a:rPr lang="en-US" altLang="zh-CN" dirty="0"/>
              <a:t>/</a:t>
            </a:r>
            <a:r>
              <a:rPr lang="zh-CN" altLang="en-US" dirty="0"/>
              <a:t>自然连接查询 </a:t>
            </a:r>
            <a:endParaRPr lang="zh-CN" altLang="en-US" dirty="0"/>
          </a:p>
        </p:txBody>
      </p:sp>
      <p:sp>
        <p:nvSpPr>
          <p:cNvPr id="9219" name="Rectangle 3"/>
          <p:cNvSpPr>
            <a:spLocks noGrp="1" noChangeArrowheads="1"/>
          </p:cNvSpPr>
          <p:nvPr>
            <p:ph sz="half" idx="1"/>
          </p:nvPr>
        </p:nvSpPr>
        <p:spPr/>
        <p:txBody>
          <a:bodyPr>
            <a:normAutofit/>
          </a:bodyPr>
          <a:lstStyle/>
          <a:p>
            <a:pPr>
              <a:lnSpc>
                <a:spcPct val="110000"/>
              </a:lnSpc>
              <a:spcBef>
                <a:spcPct val="0"/>
              </a:spcBef>
            </a:pPr>
            <a:r>
              <a:rPr lang="zh-CN" altLang="en-US" sz="2800" dirty="0">
                <a:solidFill>
                  <a:srgbClr val="FF0000"/>
                </a:solidFill>
                <a:highlight>
                  <a:srgbClr val="FFFF00"/>
                </a:highlight>
              </a:rPr>
              <a:t>等值连接</a:t>
            </a:r>
            <a:r>
              <a:rPr lang="zh-CN" altLang="en-US" sz="2800" dirty="0">
                <a:highlight>
                  <a:srgbClr val="FFFF00"/>
                </a:highlight>
              </a:rPr>
              <a:t>：连接运算符为</a:t>
            </a:r>
            <a:r>
              <a:rPr lang="en-US" altLang="zh-CN" sz="2800" dirty="0">
                <a:highlight>
                  <a:srgbClr val="FFFF00"/>
                </a:highlight>
              </a:rPr>
              <a:t> =</a:t>
            </a:r>
            <a:endParaRPr lang="en-US" altLang="zh-CN" sz="2800" dirty="0"/>
          </a:p>
          <a:p>
            <a:pPr>
              <a:lnSpc>
                <a:spcPct val="110000"/>
              </a:lnSpc>
              <a:spcBef>
                <a:spcPct val="0"/>
              </a:spcBef>
            </a:pPr>
            <a:r>
              <a:rPr lang="en-US" altLang="zh-CN" sz="2800" dirty="0"/>
              <a:t>[</a:t>
            </a:r>
            <a:r>
              <a:rPr lang="zh-CN" altLang="en-US" sz="2800" dirty="0"/>
              <a:t>例</a:t>
            </a:r>
            <a:r>
              <a:rPr lang="en-US" altLang="zh-CN" sz="2800" dirty="0"/>
              <a:t>3.49] </a:t>
            </a:r>
            <a:r>
              <a:rPr lang="zh-CN" altLang="en-US" sz="2800" dirty="0"/>
              <a:t>查询每个学生及其选修课程的情况</a:t>
            </a:r>
            <a:endParaRPr lang="zh-CN" altLang="en-US" sz="2800" dirty="0"/>
          </a:p>
          <a:p>
            <a:pPr marL="363855" lvl="1" indent="0">
              <a:lnSpc>
                <a:spcPct val="110000"/>
              </a:lnSpc>
              <a:spcBef>
                <a:spcPct val="0"/>
              </a:spcBef>
              <a:buNone/>
            </a:pPr>
            <a:r>
              <a:rPr lang="en-US" altLang="zh-CN" sz="2800" dirty="0">
                <a:solidFill>
                  <a:srgbClr val="0000C8"/>
                </a:solidFill>
              </a:rPr>
              <a:t>SELECT  Student.*</a:t>
            </a:r>
            <a:r>
              <a:rPr lang="zh-CN" altLang="en-US" sz="2800" dirty="0">
                <a:solidFill>
                  <a:srgbClr val="0000C8"/>
                </a:solidFill>
              </a:rPr>
              <a:t>, </a:t>
            </a:r>
            <a:r>
              <a:rPr lang="en-US" altLang="zh-CN" sz="2800" dirty="0">
                <a:solidFill>
                  <a:srgbClr val="0000C8"/>
                </a:solidFill>
              </a:rPr>
              <a:t>SC.*</a:t>
            </a:r>
            <a:endParaRPr lang="en-US" altLang="zh-CN" sz="2800" dirty="0">
              <a:solidFill>
                <a:srgbClr val="0000C8"/>
              </a:solidFill>
            </a:endParaRPr>
          </a:p>
          <a:p>
            <a:pPr marL="363855" lvl="1" indent="0">
              <a:lnSpc>
                <a:spcPct val="110000"/>
              </a:lnSpc>
              <a:spcBef>
                <a:spcPct val="0"/>
              </a:spcBef>
              <a:buNone/>
            </a:pPr>
            <a:r>
              <a:rPr lang="en-US" altLang="zh-CN" sz="2800" dirty="0">
                <a:solidFill>
                  <a:srgbClr val="0000C8"/>
                </a:solidFill>
              </a:rPr>
              <a:t>FROM     Student</a:t>
            </a:r>
            <a:r>
              <a:rPr lang="zh-CN" altLang="en-US" sz="2800" dirty="0">
                <a:solidFill>
                  <a:srgbClr val="0000C8"/>
                </a:solidFill>
              </a:rPr>
              <a:t>, </a:t>
            </a:r>
            <a:r>
              <a:rPr lang="en-US" altLang="zh-CN" sz="2800" dirty="0">
                <a:solidFill>
                  <a:srgbClr val="0000C8"/>
                </a:solidFill>
              </a:rPr>
              <a:t>SC</a:t>
            </a:r>
            <a:endParaRPr lang="en-US" altLang="zh-CN" sz="2800" dirty="0">
              <a:solidFill>
                <a:srgbClr val="0000C8"/>
              </a:solidFill>
            </a:endParaRPr>
          </a:p>
          <a:p>
            <a:pPr marL="363855" lvl="1" indent="0">
              <a:lnSpc>
                <a:spcPct val="110000"/>
              </a:lnSpc>
              <a:spcBef>
                <a:spcPct val="0"/>
              </a:spcBef>
              <a:buNone/>
            </a:pPr>
            <a:r>
              <a:rPr lang="en-US" altLang="zh-CN" sz="2800" dirty="0">
                <a:solidFill>
                  <a:srgbClr val="0000C8"/>
                </a:solidFill>
              </a:rPr>
              <a:t>WHERE  </a:t>
            </a:r>
            <a:r>
              <a:rPr lang="en-US" altLang="zh-CN" sz="2800" dirty="0" err="1">
                <a:solidFill>
                  <a:srgbClr val="0000C8"/>
                </a:solidFill>
              </a:rPr>
              <a:t>Student.Sno</a:t>
            </a:r>
            <a:r>
              <a:rPr lang="en-US" altLang="zh-CN" sz="2800" dirty="0">
                <a:solidFill>
                  <a:srgbClr val="0000C8"/>
                </a:solidFill>
              </a:rPr>
              <a:t> = </a:t>
            </a:r>
            <a:r>
              <a:rPr lang="en-US" altLang="zh-CN" sz="2800" dirty="0" err="1">
                <a:solidFill>
                  <a:srgbClr val="0000C8"/>
                </a:solidFill>
              </a:rPr>
              <a:t>SC.Sno</a:t>
            </a:r>
            <a:r>
              <a:rPr lang="zh-CN" altLang="en-US" sz="2800" dirty="0">
                <a:solidFill>
                  <a:srgbClr val="0000C8"/>
                </a:solidFill>
              </a:rPr>
              <a:t>;</a:t>
            </a:r>
            <a:endParaRPr lang="zh-CN" altLang="en-US" sz="2800" dirty="0">
              <a:solidFill>
                <a:srgbClr val="0000C8"/>
              </a:solidFill>
            </a:endParaRPr>
          </a:p>
        </p:txBody>
      </p:sp>
      <p:sp>
        <p:nvSpPr>
          <p:cNvPr id="4" name="内容占位符 3"/>
          <p:cNvSpPr>
            <a:spLocks noGrp="1"/>
          </p:cNvSpPr>
          <p:nvPr>
            <p:ph sz="half" idx="2"/>
          </p:nvPr>
        </p:nvSpPr>
        <p:spPr/>
        <p:txBody>
          <a:bodyPr>
            <a:normAutofit/>
          </a:bodyPr>
          <a:lstStyle/>
          <a:p>
            <a:pPr>
              <a:lnSpc>
                <a:spcPct val="100000"/>
              </a:lnSpc>
              <a:spcBef>
                <a:spcPts val="0"/>
              </a:spcBef>
            </a:pPr>
            <a:r>
              <a:rPr lang="zh-CN" altLang="en-US" sz="2800" dirty="0"/>
              <a:t>例</a:t>
            </a:r>
            <a:r>
              <a:rPr lang="en-US" altLang="zh-CN" sz="2800" dirty="0"/>
              <a:t>3.50: </a:t>
            </a:r>
            <a:r>
              <a:rPr lang="zh-CN" altLang="en-US" sz="2800" dirty="0"/>
              <a:t>对例</a:t>
            </a:r>
            <a:r>
              <a:rPr lang="en-US" altLang="zh-CN" sz="2800" dirty="0"/>
              <a:t>3.49</a:t>
            </a:r>
            <a:r>
              <a:rPr lang="zh-CN" altLang="en-US" sz="2800" dirty="0"/>
              <a:t>用</a:t>
            </a:r>
            <a:r>
              <a:rPr lang="zh-CN" altLang="en-US" sz="2800" dirty="0"/>
              <a:t>等值连接完成</a:t>
            </a:r>
            <a:endParaRPr lang="zh-CN" altLang="en-US" sz="2800" dirty="0"/>
          </a:p>
          <a:p>
            <a:pPr marL="363855" lvl="1" indent="0">
              <a:lnSpc>
                <a:spcPct val="100000"/>
              </a:lnSpc>
              <a:spcBef>
                <a:spcPts val="1000"/>
              </a:spcBef>
              <a:buNone/>
            </a:pPr>
            <a:r>
              <a:rPr lang="en-US" altLang="zh-CN" sz="2800" dirty="0">
                <a:solidFill>
                  <a:srgbClr val="0000C8"/>
                </a:solidFill>
              </a:rPr>
              <a:t>SELECT  </a:t>
            </a:r>
            <a:r>
              <a:rPr lang="en-US" altLang="zh-CN" sz="2800" dirty="0" err="1">
                <a:solidFill>
                  <a:srgbClr val="0000C8"/>
                </a:solidFill>
              </a:rPr>
              <a:t>Student.Sno</a:t>
            </a:r>
            <a:r>
              <a:rPr lang="zh-CN" altLang="en-US" sz="2800" dirty="0">
                <a:solidFill>
                  <a:srgbClr val="0000C8"/>
                </a:solidFill>
              </a:rPr>
              <a:t>,</a:t>
            </a:r>
            <a:endParaRPr lang="en-US" altLang="zh-CN" sz="2800" dirty="0">
              <a:solidFill>
                <a:srgbClr val="0000C8"/>
              </a:solidFill>
            </a:endParaRPr>
          </a:p>
          <a:p>
            <a:pPr marL="821055" lvl="2" indent="0">
              <a:lnSpc>
                <a:spcPct val="100000"/>
              </a:lnSpc>
              <a:spcBef>
                <a:spcPts val="0"/>
              </a:spcBef>
              <a:buNone/>
            </a:pPr>
            <a:r>
              <a:rPr lang="en-US" altLang="zh-CN" sz="2800" dirty="0" err="1">
                <a:solidFill>
                  <a:srgbClr val="0000C8"/>
                </a:solidFill>
              </a:rPr>
              <a:t>Sname</a:t>
            </a:r>
            <a:r>
              <a:rPr lang="zh-CN" altLang="en-US" sz="2800" dirty="0">
                <a:solidFill>
                  <a:srgbClr val="0000C8"/>
                </a:solidFill>
              </a:rPr>
              <a:t>,</a:t>
            </a:r>
            <a:r>
              <a:rPr lang="en-US" altLang="zh-CN" sz="2800" dirty="0" err="1">
                <a:solidFill>
                  <a:srgbClr val="0000C8"/>
                </a:solidFill>
              </a:rPr>
              <a:t>Ssex</a:t>
            </a:r>
            <a:r>
              <a:rPr lang="zh-CN" altLang="en-US" sz="2800" dirty="0">
                <a:solidFill>
                  <a:srgbClr val="0000C8"/>
                </a:solidFill>
              </a:rPr>
              <a:t>,</a:t>
            </a:r>
            <a:r>
              <a:rPr lang="en-US" altLang="zh-CN" sz="2800" dirty="0">
                <a:solidFill>
                  <a:srgbClr val="0000C8"/>
                </a:solidFill>
              </a:rPr>
              <a:t>Sage</a:t>
            </a:r>
            <a:r>
              <a:rPr lang="zh-CN" altLang="en-US" sz="2800" dirty="0">
                <a:solidFill>
                  <a:srgbClr val="0000C8"/>
                </a:solidFill>
              </a:rPr>
              <a:t>,</a:t>
            </a:r>
            <a:r>
              <a:rPr lang="en-US" altLang="zh-CN" sz="2800" dirty="0" err="1">
                <a:solidFill>
                  <a:srgbClr val="0000C8"/>
                </a:solidFill>
              </a:rPr>
              <a:t>Sdept</a:t>
            </a:r>
            <a:r>
              <a:rPr lang="zh-CN" altLang="en-US" sz="2800" dirty="0">
                <a:solidFill>
                  <a:srgbClr val="0000C8"/>
                </a:solidFill>
              </a:rPr>
              <a:t>,</a:t>
            </a:r>
            <a:endParaRPr lang="zh-CN" altLang="en-US" sz="2800" dirty="0">
              <a:solidFill>
                <a:srgbClr val="0000C8"/>
              </a:solidFill>
            </a:endParaRPr>
          </a:p>
          <a:p>
            <a:pPr marL="821055" lvl="2" indent="0">
              <a:lnSpc>
                <a:spcPct val="100000"/>
              </a:lnSpc>
              <a:spcBef>
                <a:spcPts val="0"/>
              </a:spcBef>
              <a:buNone/>
            </a:pPr>
            <a:r>
              <a:rPr lang="en-US" altLang="zh-CN" sz="2800" dirty="0">
                <a:solidFill>
                  <a:srgbClr val="0000C8"/>
                </a:solidFill>
              </a:rPr>
              <a:t>SC.Sno, </a:t>
            </a:r>
            <a:r>
              <a:rPr lang="en-US" altLang="zh-CN" sz="2800" dirty="0" err="1">
                <a:solidFill>
                  <a:srgbClr val="0000C8"/>
                </a:solidFill>
              </a:rPr>
              <a:t>Cno</a:t>
            </a:r>
            <a:r>
              <a:rPr lang="zh-CN" altLang="en-US" sz="2800" dirty="0">
                <a:solidFill>
                  <a:srgbClr val="0000C8"/>
                </a:solidFill>
              </a:rPr>
              <a:t>,</a:t>
            </a:r>
            <a:r>
              <a:rPr lang="en-US" altLang="zh-CN" sz="2800" dirty="0">
                <a:solidFill>
                  <a:srgbClr val="0000C8"/>
                </a:solidFill>
              </a:rPr>
              <a:t>Grade</a:t>
            </a:r>
            <a:endParaRPr lang="en-US" altLang="zh-CN" sz="2800" dirty="0">
              <a:solidFill>
                <a:srgbClr val="0000C8"/>
              </a:solidFill>
            </a:endParaRPr>
          </a:p>
          <a:p>
            <a:pPr marL="363855" lvl="1" indent="0">
              <a:lnSpc>
                <a:spcPct val="100000"/>
              </a:lnSpc>
              <a:spcBef>
                <a:spcPts val="0"/>
              </a:spcBef>
              <a:buNone/>
            </a:pPr>
            <a:r>
              <a:rPr lang="en-US" altLang="zh-CN" sz="2800" dirty="0">
                <a:solidFill>
                  <a:srgbClr val="0000C8"/>
                </a:solidFill>
              </a:rPr>
              <a:t>FROM   Student</a:t>
            </a:r>
            <a:r>
              <a:rPr lang="zh-CN" altLang="en-US" sz="2800" dirty="0">
                <a:solidFill>
                  <a:srgbClr val="0000C8"/>
                </a:solidFill>
              </a:rPr>
              <a:t>,</a:t>
            </a:r>
            <a:r>
              <a:rPr lang="en-US" altLang="zh-CN" sz="2800" dirty="0">
                <a:solidFill>
                  <a:srgbClr val="0000C8"/>
                </a:solidFill>
              </a:rPr>
              <a:t>SC</a:t>
            </a:r>
            <a:endParaRPr lang="en-US" altLang="zh-CN" sz="2800" dirty="0">
              <a:solidFill>
                <a:srgbClr val="0000C8"/>
              </a:solidFill>
            </a:endParaRPr>
          </a:p>
          <a:p>
            <a:pPr marL="363855" lvl="1" indent="0">
              <a:lnSpc>
                <a:spcPct val="100000"/>
              </a:lnSpc>
              <a:spcBef>
                <a:spcPts val="0"/>
              </a:spcBef>
              <a:buNone/>
            </a:pPr>
            <a:r>
              <a:rPr lang="en-US" altLang="zh-CN" sz="2800" dirty="0">
                <a:solidFill>
                  <a:srgbClr val="0000C8"/>
                </a:solidFill>
              </a:rPr>
              <a:t>WHERE  </a:t>
            </a:r>
            <a:r>
              <a:rPr lang="en-US" altLang="zh-CN" sz="2800" dirty="0" err="1">
                <a:solidFill>
                  <a:srgbClr val="0000C8"/>
                </a:solidFill>
              </a:rPr>
              <a:t>Student.Sno</a:t>
            </a:r>
            <a:r>
              <a:rPr lang="en-US" altLang="zh-CN" sz="2800" dirty="0">
                <a:solidFill>
                  <a:srgbClr val="0000C8"/>
                </a:solidFill>
              </a:rPr>
              <a:t> = </a:t>
            </a:r>
            <a:r>
              <a:rPr lang="en-US" altLang="zh-CN" sz="2800" dirty="0" err="1">
                <a:solidFill>
                  <a:srgbClr val="0000C8"/>
                </a:solidFill>
              </a:rPr>
              <a:t>SC.Sno</a:t>
            </a:r>
            <a:r>
              <a:rPr lang="zh-CN" altLang="en-US" sz="2800" dirty="0">
                <a:solidFill>
                  <a:srgbClr val="0000C8"/>
                </a:solidFill>
              </a:rPr>
              <a:t>;</a:t>
            </a:r>
            <a:endParaRPr lang="zh-CN" altLang="en-US" sz="2800" dirty="0">
              <a:solidFill>
                <a:srgbClr val="0000C8"/>
              </a:solidFill>
            </a:endParaRPr>
          </a:p>
        </p:txBody>
      </p:sp>
      <p:graphicFrame>
        <p:nvGraphicFramePr>
          <p:cNvPr id="8" name="表格 8"/>
          <p:cNvGraphicFramePr/>
          <p:nvPr>
            <p:custDataLst>
              <p:tags r:id="rId1"/>
            </p:custDataLst>
          </p:nvPr>
        </p:nvGraphicFramePr>
        <p:xfrm>
          <a:off x="424815" y="3740785"/>
          <a:ext cx="11336020" cy="2743200"/>
        </p:xfrm>
        <a:graphic>
          <a:graphicData uri="http://schemas.openxmlformats.org/drawingml/2006/table">
            <a:tbl>
              <a:tblPr firstRow="1" bandRow="1">
                <a:tableStyleId>{5C22544A-7EE6-4342-B048-85BDC9FD1C3A}</a:tableStyleId>
              </a:tblPr>
              <a:tblGrid>
                <a:gridCol w="2175510"/>
                <a:gridCol w="1371600"/>
                <a:gridCol w="1023620"/>
                <a:gridCol w="1062355"/>
                <a:gridCol w="1217295"/>
                <a:gridCol w="1932940"/>
                <a:gridCol w="985520"/>
                <a:gridCol w="1567180"/>
              </a:tblGrid>
              <a:tr h="4572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rPr>
                        <a:t>Student.Sno</a:t>
                      </a:r>
                      <a:endParaRPr kumimoji="0" lang="en-US" altLang="zh-CN" sz="24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Sname</a:t>
                      </a:r>
                      <a:endParaRPr kumimoji="0" lang="en-US" altLang="zh-CN" sz="2400" b="1" i="0" u="none" strike="noStrike" cap="none" normalizeH="0" baseline="0" dirty="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Ssex</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Sage</a:t>
                      </a:r>
                      <a:endParaRPr kumimoji="0" lang="en-US" altLang="zh-CN" sz="2400" b="1" i="0" u="none" strike="noStrike" cap="none" normalizeH="0" baseline="0" dirty="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Sdept</a:t>
                      </a:r>
                      <a:endParaRPr kumimoji="0" lang="en-US" altLang="zh-CN" sz="2400" b="1" i="0" u="none" strike="noStrike" cap="none" normalizeH="0" baseline="0" dirty="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SC.Sno</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Cno</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Grade</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alpha val="50000"/>
                      </a:schemeClr>
                    </a:solidFill>
                  </a:tcPr>
                </a:tc>
              </a:tr>
              <a:tr h="4572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rPr>
                        <a:t>李勇</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rPr>
                        <a:t>男</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1</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92</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李勇</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男</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85</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李勇</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男</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20</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3</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88</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201215122</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刘晨</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女</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19</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201215122</a:t>
                      </a:r>
                      <a:endPar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90</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572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201215122</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刘晨</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女</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19</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201215122</a:t>
                      </a:r>
                      <a:endParaRPr kumimoji="0" lang="en-US" altLang="zh-CN" sz="2400" b="1" i="0" u="none" strike="noStrike" kern="1200"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75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3</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80</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2" end="2"/>
                                            </p:txEl>
                                          </p:spTgt>
                                        </p:tgtEl>
                                        <p:attrNameLst>
                                          <p:attrName>style.visibility</p:attrName>
                                        </p:attrNameLst>
                                      </p:cBhvr>
                                      <p:to>
                                        <p:strVal val="visible"/>
                                      </p:to>
                                    </p:set>
                                    <p:animEffect transition="in" filter="blinds(horizontal)">
                                      <p:cBhvr>
                                        <p:cTn id="7" dur="500"/>
                                        <p:tgtEl>
                                          <p:spTgt spid="921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0" dur="500"/>
                                        <p:tgtEl>
                                          <p:spTgt spid="9219">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219">
                                            <p:txEl>
                                              <p:pRg st="4" end="4"/>
                                            </p:txEl>
                                          </p:spTgt>
                                        </p:tgtEl>
                                        <p:attrNameLst>
                                          <p:attrName>style.visibility</p:attrName>
                                        </p:attrNameLst>
                                      </p:cBhvr>
                                      <p:to>
                                        <p:strVal val="visible"/>
                                      </p:to>
                                    </p:set>
                                    <p:animEffect transition="in" filter="blinds(horizontal)">
                                      <p:cBhvr>
                                        <p:cTn id="13" dur="500"/>
                                        <p:tgtEl>
                                          <p:spTgt spid="9219">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blinds(horizontal)">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blinds(horizontal)">
                                      <p:cBhvr>
                                        <p:cTn id="23" dur="500"/>
                                        <p:tgtEl>
                                          <p:spTgt spid="4">
                                            <p:txEl>
                                              <p:pRg st="1" end="1"/>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blinds(horizontal)">
                                      <p:cBhvr>
                                        <p:cTn id="26" dur="500"/>
                                        <p:tgtEl>
                                          <p:spTgt spid="4">
                                            <p:txEl>
                                              <p:pRg st="2" end="2"/>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blinds(horizontal)">
                                      <p:cBhvr>
                                        <p:cTn id="29" dur="500"/>
                                        <p:tgtEl>
                                          <p:spTgt spid="4">
                                            <p:txEl>
                                              <p:pRg st="3" end="3"/>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blinds(horizontal)">
                                      <p:cBhvr>
                                        <p:cTn id="32" dur="500"/>
                                        <p:tgtEl>
                                          <p:spTgt spid="4">
                                            <p:txEl>
                                              <p:pRg st="4" end="4"/>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blinds(horizontal)">
                                      <p:cBhvr>
                                        <p:cTn id="35" dur="500"/>
                                        <p:tgtEl>
                                          <p:spTgt spid="4">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500" fill="hold"/>
                                        <p:tgtEl>
                                          <p:spTgt spid="8"/>
                                        </p:tgtEl>
                                        <p:attrNameLst>
                                          <p:attrName>ppt_x</p:attrName>
                                        </p:attrNameLst>
                                      </p:cBhvr>
                                      <p:tavLst>
                                        <p:tav tm="0">
                                          <p:val>
                                            <p:strVal val="#ppt_x"/>
                                          </p:val>
                                        </p:tav>
                                        <p:tav tm="100000">
                                          <p:val>
                                            <p:strVal val="#ppt_x"/>
                                          </p:val>
                                        </p:tav>
                                      </p:tavLst>
                                    </p:anim>
                                    <p:anim calcmode="lin" valueType="num">
                                      <p:cBhvr additive="base">
                                        <p:cTn id="4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dirty="0"/>
              <a:t>连接操作的执行过程 </a:t>
            </a:r>
            <a:r>
              <a:rPr lang="en-US" altLang="zh-CN" dirty="0"/>
              <a:t>1</a:t>
            </a:r>
            <a:endParaRPr lang="zh-CN" altLang="en-US" dirty="0"/>
          </a:p>
        </p:txBody>
      </p:sp>
      <p:sp>
        <p:nvSpPr>
          <p:cNvPr id="11267" name="Rectangle 3"/>
          <p:cNvSpPr>
            <a:spLocks noGrp="1" noChangeArrowheads="1"/>
          </p:cNvSpPr>
          <p:nvPr>
            <p:ph idx="1"/>
          </p:nvPr>
        </p:nvSpPr>
        <p:spPr/>
        <p:txBody>
          <a:bodyPr>
            <a:normAutofit/>
          </a:bodyPr>
          <a:lstStyle/>
          <a:p>
            <a:pPr>
              <a:lnSpc>
                <a:spcPct val="100000"/>
              </a:lnSpc>
            </a:pPr>
            <a:r>
              <a:rPr lang="zh-CN" altLang="en-US" dirty="0">
                <a:solidFill>
                  <a:srgbClr val="FF0000"/>
                </a:solidFill>
              </a:rPr>
              <a:t>嵌套循环法</a:t>
            </a:r>
            <a:r>
              <a:rPr lang="en-US" altLang="zh-CN" dirty="0"/>
              <a:t>（NESTED-LOOP）</a:t>
            </a:r>
            <a:endParaRPr lang="en-US" altLang="zh-CN" dirty="0"/>
          </a:p>
          <a:p>
            <a:pPr lvl="1">
              <a:lnSpc>
                <a:spcPct val="100000"/>
              </a:lnSpc>
              <a:spcAft>
                <a:spcPts val="600"/>
              </a:spcAft>
            </a:pPr>
            <a:r>
              <a:rPr lang="zh-CN" altLang="en-US" dirty="0"/>
              <a:t>首先在表</a:t>
            </a:r>
            <a:r>
              <a:rPr lang="en-US" altLang="zh-CN" dirty="0"/>
              <a:t>1</a:t>
            </a:r>
            <a:r>
              <a:rPr lang="zh-CN" altLang="en-US" dirty="0"/>
              <a:t>中找到第一个元组，然后从头开始扫描表</a:t>
            </a:r>
            <a:r>
              <a:rPr lang="en-US" altLang="zh-CN" dirty="0"/>
              <a:t>2</a:t>
            </a:r>
            <a:r>
              <a:rPr lang="zh-CN" altLang="en-US" dirty="0"/>
              <a:t>，逐一查找满足连接件的元组，找到后就将表</a:t>
            </a:r>
            <a:r>
              <a:rPr lang="en-US" altLang="zh-CN" dirty="0"/>
              <a:t>1</a:t>
            </a:r>
            <a:r>
              <a:rPr lang="zh-CN" altLang="en-US" dirty="0"/>
              <a:t>中的第一个元组与该元组拼接起来，形成结果表中一个元组。</a:t>
            </a:r>
            <a:endParaRPr lang="zh-CN" altLang="en-US" dirty="0"/>
          </a:p>
          <a:p>
            <a:pPr lvl="1">
              <a:lnSpc>
                <a:spcPct val="100000"/>
              </a:lnSpc>
              <a:spcAft>
                <a:spcPts val="600"/>
              </a:spcAft>
            </a:pPr>
            <a:r>
              <a:rPr lang="zh-CN" altLang="en-US" dirty="0"/>
              <a:t>表</a:t>
            </a:r>
            <a:r>
              <a:rPr lang="en-US" altLang="zh-CN" dirty="0"/>
              <a:t>2</a:t>
            </a:r>
            <a:r>
              <a:rPr lang="zh-CN" altLang="en-US" dirty="0"/>
              <a:t>全部查找完后，再找表</a:t>
            </a:r>
            <a:r>
              <a:rPr lang="en-US" altLang="zh-CN" dirty="0"/>
              <a:t>1</a:t>
            </a:r>
            <a:r>
              <a:rPr lang="zh-CN" altLang="en-US" dirty="0"/>
              <a:t>中第二个元组，然后再从头开始扫描表</a:t>
            </a:r>
            <a:r>
              <a:rPr lang="en-US" altLang="zh-CN" dirty="0"/>
              <a:t>2</a:t>
            </a:r>
            <a:r>
              <a:rPr lang="zh-CN" altLang="en-US" dirty="0"/>
              <a:t>，逐一查找满足连接条件的元组，找到后就将表</a:t>
            </a:r>
            <a:r>
              <a:rPr lang="en-US" altLang="zh-CN" dirty="0"/>
              <a:t>1</a:t>
            </a:r>
            <a:r>
              <a:rPr lang="zh-CN" altLang="en-US" dirty="0"/>
              <a:t>中的第二个元组与该元组拼接起来，形成结果表中一个元组。</a:t>
            </a:r>
            <a:endParaRPr lang="zh-CN" altLang="en-US" dirty="0"/>
          </a:p>
          <a:p>
            <a:pPr lvl="1">
              <a:lnSpc>
                <a:spcPct val="100000"/>
              </a:lnSpc>
              <a:spcAft>
                <a:spcPts val="600"/>
              </a:spcAft>
            </a:pPr>
            <a:r>
              <a:rPr lang="zh-CN" altLang="en-US" dirty="0"/>
              <a:t>重复上述操作，直到表</a:t>
            </a:r>
            <a:r>
              <a:rPr lang="en-US" altLang="zh-CN" dirty="0"/>
              <a:t>1</a:t>
            </a:r>
            <a:r>
              <a:rPr lang="zh-CN" altLang="en-US" dirty="0"/>
              <a:t>中的全部元组都处理完毕。</a:t>
            </a:r>
            <a:endParaRPr lang="en-US" altLang="zh-CN" dirty="0"/>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84575" y="4387215"/>
            <a:ext cx="5023485" cy="197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7" dur="500"/>
                                        <p:tgtEl>
                                          <p:spTgt spid="112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12" dur="500"/>
                                        <p:tgtEl>
                                          <p:spTgt spid="112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267">
                                            <p:txEl>
                                              <p:pRg st="3" end="3"/>
                                            </p:txEl>
                                          </p:spTgt>
                                        </p:tgtEl>
                                        <p:attrNameLst>
                                          <p:attrName>style.visibility</p:attrName>
                                        </p:attrNameLst>
                                      </p:cBhvr>
                                      <p:to>
                                        <p:strVal val="visible"/>
                                      </p:to>
                                    </p:set>
                                    <p:animEffect transition="in" filter="blinds(horizontal)">
                                      <p:cBhvr>
                                        <p:cTn id="17" dur="500"/>
                                        <p:tgtEl>
                                          <p:spTgt spid="11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连接操作的执行过程 </a:t>
            </a:r>
            <a:r>
              <a:rPr lang="en-US" altLang="zh-CN" dirty="0"/>
              <a:t>2</a:t>
            </a:r>
            <a:endParaRPr lang="zh-CN" altLang="en-US" dirty="0"/>
          </a:p>
        </p:txBody>
      </p:sp>
      <p:sp>
        <p:nvSpPr>
          <p:cNvPr id="3" name="内容占位符 2"/>
          <p:cNvSpPr>
            <a:spLocks noGrp="1"/>
          </p:cNvSpPr>
          <p:nvPr>
            <p:ph idx="1"/>
          </p:nvPr>
        </p:nvSpPr>
        <p:spPr/>
        <p:txBody>
          <a:bodyPr>
            <a:normAutofit/>
          </a:bodyPr>
          <a:lstStyle/>
          <a:p>
            <a:pPr>
              <a:lnSpc>
                <a:spcPct val="100000"/>
              </a:lnSpc>
              <a:spcBef>
                <a:spcPts val="0"/>
              </a:spcBef>
              <a:spcAft>
                <a:spcPts val="600"/>
              </a:spcAft>
            </a:pPr>
            <a:r>
              <a:rPr lang="zh-CN" altLang="en-US" dirty="0">
                <a:solidFill>
                  <a:srgbClr val="FF0000"/>
                </a:solidFill>
              </a:rPr>
              <a:t>索引连接</a:t>
            </a:r>
            <a:r>
              <a:rPr lang="zh-CN" altLang="en-US" dirty="0"/>
              <a:t>（</a:t>
            </a:r>
            <a:r>
              <a:rPr lang="en-US" altLang="zh-CN" dirty="0"/>
              <a:t>INDEX-JOIN</a:t>
            </a:r>
            <a:r>
              <a:rPr lang="zh-CN" altLang="en-US" dirty="0"/>
              <a:t>）</a:t>
            </a:r>
            <a:endParaRPr lang="en-US" altLang="zh-CN" dirty="0"/>
          </a:p>
          <a:p>
            <a:pPr marL="0" lvl="1" indent="457200">
              <a:lnSpc>
                <a:spcPct val="100000"/>
              </a:lnSpc>
              <a:spcBef>
                <a:spcPts val="0"/>
              </a:spcBef>
              <a:spcAft>
                <a:spcPts val="600"/>
              </a:spcAft>
              <a:buNone/>
            </a:pPr>
            <a:r>
              <a:rPr lang="zh-CN" altLang="en-US" dirty="0"/>
              <a:t>如果在其中一张表的连接字段上建有索引，那么可以用</a:t>
            </a:r>
            <a:r>
              <a:rPr lang="en-US" altLang="zh-CN" dirty="0"/>
              <a:t>‘</a:t>
            </a:r>
            <a:r>
              <a:rPr lang="zh-CN" altLang="en-US" dirty="0"/>
              <a:t>索引连接</a:t>
            </a:r>
            <a:r>
              <a:rPr lang="en-US" altLang="zh-CN" dirty="0"/>
              <a:t>’</a:t>
            </a:r>
            <a:r>
              <a:rPr lang="zh-CN" altLang="en-US" dirty="0"/>
              <a:t>加快连接操作的执行速度。</a:t>
            </a:r>
            <a:endParaRPr lang="zh-CN" altLang="en-US" dirty="0"/>
          </a:p>
          <a:p>
            <a:pPr marL="0" lvl="1" indent="457200">
              <a:lnSpc>
                <a:spcPct val="100000"/>
              </a:lnSpc>
              <a:spcBef>
                <a:spcPts val="0"/>
              </a:spcBef>
              <a:spcAft>
                <a:spcPts val="600"/>
              </a:spcAft>
              <a:buNone/>
            </a:pPr>
            <a:r>
              <a:rPr lang="zh-CN" altLang="en-US" dirty="0"/>
              <a:t>假设在表</a:t>
            </a:r>
            <a:r>
              <a:rPr lang="en-US" altLang="zh-CN" dirty="0"/>
              <a:t>2</a:t>
            </a:r>
            <a:r>
              <a:rPr lang="zh-CN" altLang="en-US" dirty="0"/>
              <a:t>中，连接字段上建有索引，那么基于连接字段的连接操作执行过程</a:t>
            </a:r>
            <a:r>
              <a:rPr lang="zh-CN" altLang="en-US" dirty="0"/>
              <a:t>如下：</a:t>
            </a:r>
            <a:endParaRPr lang="zh-CN" altLang="en-US" dirty="0"/>
          </a:p>
          <a:p>
            <a:pPr lvl="1">
              <a:lnSpc>
                <a:spcPct val="100000"/>
              </a:lnSpc>
              <a:spcBef>
                <a:spcPts val="0"/>
              </a:spcBef>
              <a:spcAft>
                <a:spcPts val="600"/>
              </a:spcAft>
            </a:pPr>
            <a:r>
              <a:rPr lang="zh-CN" altLang="en-US" dirty="0">
                <a:solidFill>
                  <a:srgbClr val="C00000"/>
                </a:solidFill>
              </a:rPr>
              <a:t>对表</a:t>
            </a:r>
            <a:r>
              <a:rPr lang="en-US" altLang="zh-CN" dirty="0">
                <a:solidFill>
                  <a:srgbClr val="C00000"/>
                </a:solidFill>
              </a:rPr>
              <a:t>1</a:t>
            </a:r>
            <a:r>
              <a:rPr lang="zh-CN" altLang="en-US" dirty="0">
                <a:solidFill>
                  <a:srgbClr val="C00000"/>
                </a:solidFill>
              </a:rPr>
              <a:t>中的每个元组，依次根据其连接字段值查询表</a:t>
            </a:r>
            <a:r>
              <a:rPr lang="en-US" altLang="zh-CN" dirty="0">
                <a:solidFill>
                  <a:srgbClr val="C00000"/>
                </a:solidFill>
              </a:rPr>
              <a:t>2</a:t>
            </a:r>
            <a:r>
              <a:rPr lang="zh-CN" altLang="en-US" dirty="0">
                <a:solidFill>
                  <a:srgbClr val="C00000"/>
                </a:solidFill>
              </a:rPr>
              <a:t>的索引，从中找到满足条件的元组，找到后就将表</a:t>
            </a:r>
            <a:r>
              <a:rPr lang="en-US" altLang="zh-CN" dirty="0">
                <a:solidFill>
                  <a:srgbClr val="C00000"/>
                </a:solidFill>
              </a:rPr>
              <a:t>1</a:t>
            </a:r>
            <a:r>
              <a:rPr lang="zh-CN" altLang="en-US" dirty="0">
                <a:solidFill>
                  <a:srgbClr val="C00000"/>
                </a:solidFill>
              </a:rPr>
              <a:t>中的第一个元组与该元组拼接起来，形成结果表中一个元组</a:t>
            </a:r>
            <a:endParaRPr lang="zh-CN" altLang="en-US" dirty="0">
              <a:solidFill>
                <a:srgbClr val="C00000"/>
              </a:solidFill>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84575" y="4493260"/>
            <a:ext cx="5023485" cy="197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连接操作的执行过程 </a:t>
            </a:r>
            <a:r>
              <a:rPr lang="en-US" altLang="zh-CN" dirty="0"/>
              <a:t>3</a:t>
            </a:r>
            <a:endParaRPr lang="zh-CN" altLang="en-US" dirty="0"/>
          </a:p>
        </p:txBody>
      </p:sp>
      <p:sp>
        <p:nvSpPr>
          <p:cNvPr id="3" name="内容占位符 2"/>
          <p:cNvSpPr>
            <a:spLocks noGrp="1"/>
          </p:cNvSpPr>
          <p:nvPr>
            <p:ph idx="1"/>
          </p:nvPr>
        </p:nvSpPr>
        <p:spPr/>
        <p:txBody>
          <a:bodyPr>
            <a:normAutofit/>
          </a:bodyPr>
          <a:lstStyle/>
          <a:p>
            <a:pPr>
              <a:lnSpc>
                <a:spcPct val="100000"/>
              </a:lnSpc>
              <a:spcBef>
                <a:spcPct val="0"/>
              </a:spcBef>
              <a:spcAft>
                <a:spcPts val="600"/>
              </a:spcAft>
            </a:pPr>
            <a:r>
              <a:rPr lang="zh-CN" altLang="en-US" dirty="0">
                <a:solidFill>
                  <a:srgbClr val="FF0000"/>
                </a:solidFill>
              </a:rPr>
              <a:t>排序合并法</a:t>
            </a:r>
            <a:r>
              <a:rPr lang="zh-CN" altLang="en-US" dirty="0"/>
              <a:t>（</a:t>
            </a:r>
            <a:r>
              <a:rPr lang="en-US" altLang="zh-CN" dirty="0"/>
              <a:t>SORT-MERGE</a:t>
            </a:r>
            <a:r>
              <a:rPr lang="zh-CN" altLang="en-US" dirty="0"/>
              <a:t>）</a:t>
            </a:r>
            <a:endParaRPr lang="en-US" altLang="zh-CN" dirty="0"/>
          </a:p>
          <a:p>
            <a:pPr lvl="1">
              <a:lnSpc>
                <a:spcPct val="100000"/>
              </a:lnSpc>
              <a:spcBef>
                <a:spcPct val="0"/>
              </a:spcBef>
              <a:spcAft>
                <a:spcPts val="600"/>
              </a:spcAft>
            </a:pPr>
            <a:r>
              <a:rPr lang="zh-CN" altLang="en-US" dirty="0"/>
              <a:t>常用于</a:t>
            </a:r>
            <a:r>
              <a:rPr lang="en-US" altLang="zh-CN" dirty="0"/>
              <a:t>“</a:t>
            </a:r>
            <a:r>
              <a:rPr lang="zh-CN" altLang="en-US" dirty="0"/>
              <a:t>等值连接</a:t>
            </a:r>
            <a:r>
              <a:rPr lang="en-US" altLang="zh-CN" dirty="0"/>
              <a:t>”</a:t>
            </a:r>
            <a:endParaRPr lang="zh-CN" altLang="en-US" dirty="0"/>
          </a:p>
          <a:p>
            <a:pPr marL="971550" lvl="1" indent="-514350">
              <a:lnSpc>
                <a:spcPct val="100000"/>
              </a:lnSpc>
              <a:spcBef>
                <a:spcPct val="0"/>
              </a:spcBef>
              <a:spcAft>
                <a:spcPts val="600"/>
              </a:spcAft>
              <a:buFont typeface="+mj-ea"/>
              <a:buAutoNum type="circleNumDbPlain"/>
            </a:pPr>
            <a:r>
              <a:rPr lang="zh-CN" altLang="en-US" dirty="0"/>
              <a:t>首先按连接</a:t>
            </a:r>
            <a:r>
              <a:rPr lang="zh-CN" altLang="en-US" dirty="0"/>
              <a:t>字段对表</a:t>
            </a:r>
            <a:r>
              <a:rPr lang="en-US" altLang="zh-CN" dirty="0"/>
              <a:t>1</a:t>
            </a:r>
            <a:r>
              <a:rPr lang="zh-CN" altLang="en-US" dirty="0"/>
              <a:t>和表</a:t>
            </a:r>
            <a:r>
              <a:rPr lang="en-US" altLang="zh-CN" dirty="0"/>
              <a:t>2</a:t>
            </a:r>
            <a:r>
              <a:rPr lang="zh-CN" altLang="en-US" dirty="0"/>
              <a:t>排序；</a:t>
            </a:r>
            <a:endParaRPr lang="zh-CN" altLang="en-US" dirty="0"/>
          </a:p>
          <a:p>
            <a:pPr marL="971550" lvl="1" indent="-514350">
              <a:lnSpc>
                <a:spcPct val="100000"/>
              </a:lnSpc>
              <a:spcBef>
                <a:spcPct val="0"/>
              </a:spcBef>
              <a:spcAft>
                <a:spcPts val="600"/>
              </a:spcAft>
              <a:buFont typeface="+mj-ea"/>
              <a:buAutoNum type="circleNumDbPlain"/>
            </a:pPr>
            <a:r>
              <a:rPr lang="zh-CN" altLang="en-US" dirty="0"/>
              <a:t>对表</a:t>
            </a:r>
            <a:r>
              <a:rPr lang="en-US" altLang="zh-CN" dirty="0"/>
              <a:t>1</a:t>
            </a:r>
            <a:r>
              <a:rPr lang="zh-CN" altLang="en-US" dirty="0"/>
              <a:t>的第一个元组，从头开始扫描表</a:t>
            </a:r>
            <a:r>
              <a:rPr lang="en-US" altLang="zh-CN" dirty="0"/>
              <a:t>2</a:t>
            </a:r>
            <a:r>
              <a:rPr lang="zh-CN" altLang="en-US" dirty="0"/>
              <a:t>，顺序查找满足连接条件的元组，找到后就将表</a:t>
            </a:r>
            <a:r>
              <a:rPr lang="en-US" altLang="zh-CN" dirty="0"/>
              <a:t>1</a:t>
            </a:r>
            <a:r>
              <a:rPr lang="zh-CN" altLang="en-US" dirty="0"/>
              <a:t>中的第一个元组与该元组拼接起来，形成结果表中一个元组。当遇到表</a:t>
            </a:r>
            <a:r>
              <a:rPr lang="en-US" altLang="zh-CN" dirty="0"/>
              <a:t>2</a:t>
            </a:r>
            <a:r>
              <a:rPr lang="zh-CN" altLang="en-US" dirty="0"/>
              <a:t>中第一条大于表</a:t>
            </a:r>
            <a:r>
              <a:rPr lang="en-US" altLang="zh-CN" dirty="0"/>
              <a:t>1</a:t>
            </a:r>
            <a:r>
              <a:rPr lang="zh-CN" altLang="en-US" dirty="0"/>
              <a:t>连接字段值的元组时，对表</a:t>
            </a:r>
            <a:r>
              <a:rPr lang="en-US" altLang="zh-CN" dirty="0"/>
              <a:t>2</a:t>
            </a:r>
            <a:r>
              <a:rPr lang="zh-CN" altLang="en-US" dirty="0"/>
              <a:t>的查询不再继续。</a:t>
            </a:r>
            <a:endParaRPr lang="en-US" altLang="zh-CN" dirty="0"/>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73350" y="4111625"/>
            <a:ext cx="660336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a:t>同时进行选择和连接</a:t>
            </a:r>
            <a:endParaRPr lang="zh-CN" altLang="en-US" dirty="0"/>
          </a:p>
        </p:txBody>
      </p:sp>
      <p:sp>
        <p:nvSpPr>
          <p:cNvPr id="16387" name="内容占位符 2"/>
          <p:cNvSpPr>
            <a:spLocks noGrp="1"/>
          </p:cNvSpPr>
          <p:nvPr>
            <p:ph idx="1"/>
          </p:nvPr>
        </p:nvSpPr>
        <p:spPr/>
        <p:txBody>
          <a:bodyPr>
            <a:noAutofit/>
          </a:bodyPr>
          <a:lstStyle/>
          <a:p>
            <a:pPr>
              <a:lnSpc>
                <a:spcPct val="100000"/>
              </a:lnSpc>
              <a:spcBef>
                <a:spcPct val="0"/>
              </a:spcBef>
            </a:pPr>
            <a:r>
              <a:rPr lang="zh-CN" altLang="en-US" dirty="0"/>
              <a:t>一条</a:t>
            </a:r>
            <a:r>
              <a:rPr lang="en-US" altLang="zh-CN" dirty="0"/>
              <a:t>SQL</a:t>
            </a:r>
            <a:r>
              <a:rPr lang="zh-CN" altLang="en-US" dirty="0"/>
              <a:t>语句可以同时完成选择和连接查询，这时</a:t>
            </a:r>
            <a:r>
              <a:rPr lang="en-US" altLang="zh-CN" dirty="0"/>
              <a:t>WHERE</a:t>
            </a:r>
            <a:r>
              <a:rPr lang="zh-CN" altLang="en-US" dirty="0"/>
              <a:t>子句是由</a:t>
            </a:r>
            <a:r>
              <a:rPr lang="zh-CN" altLang="en-US" dirty="0">
                <a:solidFill>
                  <a:srgbClr val="C00000"/>
                </a:solidFill>
              </a:rPr>
              <a:t>连接谓词</a:t>
            </a:r>
            <a:r>
              <a:rPr lang="zh-CN" altLang="en-US" dirty="0"/>
              <a:t>和</a:t>
            </a:r>
            <a:r>
              <a:rPr lang="zh-CN" altLang="en-US" dirty="0">
                <a:solidFill>
                  <a:srgbClr val="C00000"/>
                </a:solidFill>
              </a:rPr>
              <a:t>选择谓词</a:t>
            </a:r>
            <a:r>
              <a:rPr lang="zh-CN" altLang="en-US" dirty="0"/>
              <a:t>组成的复合条件。</a:t>
            </a:r>
            <a:endParaRPr lang="zh-CN" altLang="en-US" dirty="0"/>
          </a:p>
          <a:p>
            <a:pPr>
              <a:lnSpc>
                <a:spcPct val="100000"/>
              </a:lnSpc>
              <a:spcBef>
                <a:spcPts val="800"/>
              </a:spcBef>
            </a:pPr>
            <a:r>
              <a:rPr lang="en-US" altLang="zh-CN" dirty="0"/>
              <a:t>[</a:t>
            </a:r>
            <a:r>
              <a:rPr lang="zh-CN" altLang="en-US" dirty="0"/>
              <a:t>例</a:t>
            </a:r>
            <a:r>
              <a:rPr lang="en-US" altLang="zh-CN" dirty="0"/>
              <a:t>3.51]</a:t>
            </a:r>
            <a:r>
              <a:rPr lang="zh-CN" altLang="en-US" dirty="0"/>
              <a:t>查询选修</a:t>
            </a:r>
            <a:r>
              <a:rPr lang="en-US" altLang="zh-CN" dirty="0"/>
              <a:t>2</a:t>
            </a:r>
            <a:r>
              <a:rPr lang="zh-CN" altLang="en-US" dirty="0"/>
              <a:t>号课程且成绩在</a:t>
            </a:r>
            <a:r>
              <a:rPr lang="en-US" altLang="zh-CN" dirty="0"/>
              <a:t>90</a:t>
            </a:r>
            <a:r>
              <a:rPr lang="zh-CN" altLang="en-US" dirty="0"/>
              <a:t>分以上的所有学生的学号和姓名。</a:t>
            </a:r>
            <a:endParaRPr lang="zh-CN" altLang="en-US" dirty="0"/>
          </a:p>
          <a:p>
            <a:pPr marL="352425" lvl="1" indent="0">
              <a:lnSpc>
                <a:spcPct val="100000"/>
              </a:lnSpc>
              <a:spcBef>
                <a:spcPct val="0"/>
              </a:spcBef>
              <a:buNone/>
            </a:pPr>
            <a:r>
              <a:rPr lang="en-US" altLang="zh-CN" dirty="0"/>
              <a:t>    </a:t>
            </a:r>
            <a:r>
              <a:rPr lang="en-US" altLang="zh-CN" dirty="0">
                <a:solidFill>
                  <a:srgbClr val="FF0000"/>
                </a:solidFill>
              </a:rPr>
              <a:t>SELECT </a:t>
            </a:r>
            <a:r>
              <a:rPr lang="en-US" altLang="zh-CN" dirty="0" err="1">
                <a:solidFill>
                  <a:srgbClr val="FF0000"/>
                </a:solidFill>
              </a:rPr>
              <a:t>Student.Sno</a:t>
            </a:r>
            <a:r>
              <a:rPr lang="zh-CN" altLang="en-US" dirty="0">
                <a:solidFill>
                  <a:srgbClr val="FF0000"/>
                </a:solidFill>
              </a:rPr>
              <a:t>, </a:t>
            </a:r>
            <a:r>
              <a:rPr lang="en-US" altLang="zh-CN" dirty="0" err="1">
                <a:solidFill>
                  <a:srgbClr val="FF0000"/>
                </a:solidFill>
              </a:rPr>
              <a:t>Sname</a:t>
            </a:r>
            <a:endParaRPr lang="zh-CN" altLang="en-US" dirty="0">
              <a:solidFill>
                <a:srgbClr val="FF0000"/>
              </a:solidFill>
            </a:endParaRPr>
          </a:p>
          <a:p>
            <a:pPr marL="352425" lvl="1" indent="0">
              <a:lnSpc>
                <a:spcPct val="100000"/>
              </a:lnSpc>
              <a:spcBef>
                <a:spcPct val="0"/>
              </a:spcBef>
              <a:buNone/>
            </a:pPr>
            <a:r>
              <a:rPr lang="en-US" altLang="zh-CN" dirty="0">
                <a:solidFill>
                  <a:srgbClr val="FF0000"/>
                </a:solidFill>
              </a:rPr>
              <a:t>    FROM   Student</a:t>
            </a:r>
            <a:r>
              <a:rPr lang="zh-CN" altLang="en-US" dirty="0">
                <a:solidFill>
                  <a:srgbClr val="FF0000"/>
                </a:solidFill>
              </a:rPr>
              <a:t>, </a:t>
            </a:r>
            <a:r>
              <a:rPr lang="en-US" altLang="zh-CN" dirty="0">
                <a:solidFill>
                  <a:srgbClr val="FF0000"/>
                </a:solidFill>
              </a:rPr>
              <a:t>SC</a:t>
            </a:r>
            <a:endParaRPr lang="zh-CN" altLang="en-US" dirty="0">
              <a:solidFill>
                <a:srgbClr val="FF0000"/>
              </a:solidFill>
            </a:endParaRPr>
          </a:p>
          <a:p>
            <a:pPr marL="352425" lvl="1" indent="0">
              <a:lnSpc>
                <a:spcPct val="100000"/>
              </a:lnSpc>
              <a:spcBef>
                <a:spcPct val="0"/>
              </a:spcBef>
              <a:buNone/>
            </a:pPr>
            <a:r>
              <a:rPr lang="en-US" altLang="zh-CN" dirty="0">
                <a:solidFill>
                  <a:srgbClr val="FF0000"/>
                </a:solidFill>
              </a:rPr>
              <a:t>    WHERE  </a:t>
            </a:r>
            <a:r>
              <a:rPr lang="en-US" altLang="zh-CN" dirty="0" err="1">
                <a:solidFill>
                  <a:srgbClr val="FF0000"/>
                </a:solidFill>
              </a:rPr>
              <a:t>Student.Sno </a:t>
            </a:r>
            <a:r>
              <a:rPr lang="en-US" altLang="zh-CN" dirty="0">
                <a:solidFill>
                  <a:srgbClr val="FF0000"/>
                </a:solidFill>
              </a:rPr>
              <a:t>= </a:t>
            </a:r>
            <a:r>
              <a:rPr lang="en-US" altLang="zh-CN" dirty="0" err="1">
                <a:solidFill>
                  <a:srgbClr val="FF0000"/>
                </a:solidFill>
              </a:rPr>
              <a:t>SC.Sno</a:t>
            </a:r>
            <a:r>
              <a:rPr lang="en-US" altLang="zh-CN" dirty="0">
                <a:solidFill>
                  <a:srgbClr val="FF0000"/>
                </a:solidFill>
              </a:rPr>
              <a:t>  AND    		               </a:t>
            </a:r>
            <a:endParaRPr lang="en-US" altLang="zh-CN" dirty="0">
              <a:solidFill>
                <a:srgbClr val="FF0000"/>
              </a:solidFill>
            </a:endParaRPr>
          </a:p>
          <a:p>
            <a:pPr marL="352425" lvl="1" indent="0">
              <a:lnSpc>
                <a:spcPct val="100000"/>
              </a:lnSpc>
              <a:spcBef>
                <a:spcPct val="0"/>
              </a:spcBef>
              <a:buNone/>
            </a:pPr>
            <a:r>
              <a:rPr lang="en-US" altLang="zh-CN" dirty="0">
                <a:solidFill>
                  <a:srgbClr val="FF0000"/>
                </a:solidFill>
              </a:rPr>
              <a:t>           </a:t>
            </a:r>
            <a:r>
              <a:rPr lang="en-US" altLang="zh-CN" dirty="0" err="1">
                <a:solidFill>
                  <a:srgbClr val="FF0000"/>
                </a:solidFill>
              </a:rPr>
              <a:t>SC.Cno </a:t>
            </a:r>
            <a:r>
              <a:rPr lang="en-US" altLang="zh-CN" dirty="0">
                <a:solidFill>
                  <a:srgbClr val="FF0000"/>
                </a:solidFill>
              </a:rPr>
              <a:t>= '2' AND </a:t>
            </a:r>
            <a:r>
              <a:rPr lang="en-US" altLang="zh-CN" dirty="0" err="1">
                <a:solidFill>
                  <a:srgbClr val="FF0000"/>
                </a:solidFill>
              </a:rPr>
              <a:t>SC.Grade </a:t>
            </a:r>
            <a:r>
              <a:rPr lang="en-US" altLang="zh-CN" dirty="0">
                <a:solidFill>
                  <a:srgbClr val="FF0000"/>
                </a:solidFill>
              </a:rPr>
              <a:t>&gt; 90</a:t>
            </a:r>
            <a:r>
              <a:rPr lang="zh-CN" altLang="en-US" dirty="0">
                <a:solidFill>
                  <a:srgbClr val="FF0000"/>
                </a:solidFill>
              </a:rPr>
              <a:t>;</a:t>
            </a:r>
            <a:endParaRPr lang="en-US" altLang="zh-CN" dirty="0">
              <a:solidFill>
                <a:srgbClr val="FF0000"/>
              </a:solidFill>
            </a:endParaRPr>
          </a:p>
          <a:p>
            <a:pPr lvl="1">
              <a:lnSpc>
                <a:spcPct val="100000"/>
              </a:lnSpc>
              <a:spcBef>
                <a:spcPts val="800"/>
              </a:spcBef>
            </a:pPr>
            <a:r>
              <a:rPr lang="zh-CN" altLang="en-US" dirty="0"/>
              <a:t>执行过程：先从</a:t>
            </a:r>
            <a:r>
              <a:rPr lang="en-US" altLang="zh-CN" dirty="0"/>
              <a:t>SC</a:t>
            </a:r>
            <a:r>
              <a:rPr lang="zh-CN" altLang="en-US" dirty="0"/>
              <a:t>中挑选出</a:t>
            </a:r>
            <a:r>
              <a:rPr lang="en-US" altLang="zh-CN" dirty="0" err="1"/>
              <a:t>Cno</a:t>
            </a:r>
            <a:r>
              <a:rPr lang="en-US" altLang="zh-CN" dirty="0"/>
              <a:t>=</a:t>
            </a:r>
            <a:r>
              <a:rPr lang="zh-CN" altLang="en-US" dirty="0"/>
              <a:t>'</a:t>
            </a:r>
            <a:r>
              <a:rPr lang="en-US" altLang="zh-CN" dirty="0"/>
              <a:t>2</a:t>
            </a:r>
            <a:r>
              <a:rPr lang="zh-CN" altLang="en-US" dirty="0"/>
              <a:t>'且</a:t>
            </a:r>
            <a:r>
              <a:rPr lang="en-US" altLang="zh-CN" dirty="0"/>
              <a:t>Grade&gt;90</a:t>
            </a:r>
            <a:r>
              <a:rPr lang="zh-CN" altLang="en-US" dirty="0"/>
              <a:t>的元组形成一个中间表，再和</a:t>
            </a:r>
            <a:r>
              <a:rPr lang="en-US" altLang="zh-CN" dirty="0"/>
              <a:t>Student</a:t>
            </a:r>
            <a:r>
              <a:rPr lang="zh-CN" altLang="en-US" dirty="0"/>
              <a:t>中满足连接条件的元组进行连接得到最终结果</a:t>
            </a:r>
            <a:endParaRPr lang="zh-CN" altLang="en-US" dirty="0"/>
          </a:p>
          <a:p>
            <a:pPr lvl="1">
              <a:lnSpc>
                <a:spcPct val="100000"/>
              </a:lnSpc>
              <a:spcBef>
                <a:spcPct val="0"/>
              </a:spcBef>
            </a:pPr>
            <a:r>
              <a:rPr lang="zh-CN" altLang="en-US" dirty="0"/>
              <a:t>在实际执行过程中，会将上述两步组合形成</a:t>
            </a:r>
            <a:r>
              <a:rPr lang="en-US" altLang="zh-CN" dirty="0"/>
              <a:t>‘</a:t>
            </a:r>
            <a:r>
              <a:rPr lang="zh-CN" altLang="en-US" dirty="0"/>
              <a:t>嵌套循环</a:t>
            </a:r>
            <a:r>
              <a:rPr lang="en-US" altLang="zh-CN" dirty="0"/>
              <a:t>’</a:t>
            </a:r>
            <a:r>
              <a:rPr lang="zh-CN" altLang="en-US" dirty="0"/>
              <a:t>执行，并且以选课表</a:t>
            </a:r>
            <a:r>
              <a:rPr lang="en-US" altLang="zh-CN" dirty="0"/>
              <a:t>SC</a:t>
            </a:r>
            <a:r>
              <a:rPr lang="zh-CN" altLang="en-US" dirty="0"/>
              <a:t>作为外层循环表，对于满足条件的选课元组才会执行学生表</a:t>
            </a:r>
            <a:r>
              <a:rPr lang="en-US" altLang="zh-CN" dirty="0"/>
              <a:t>Student</a:t>
            </a:r>
            <a:r>
              <a:rPr lang="zh-CN" altLang="en-US" dirty="0"/>
              <a:t>上</a:t>
            </a:r>
            <a:r>
              <a:rPr lang="zh-CN" altLang="en-US" dirty="0"/>
              <a:t>的内层</a:t>
            </a:r>
            <a:r>
              <a:rPr lang="zh-CN" altLang="en-US" dirty="0"/>
              <a:t>循环</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blinds(horizontal)">
                                      <p:cBhvr>
                                        <p:cTn id="7" dur="500"/>
                                        <p:tgtEl>
                                          <p:spTgt spid="163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387">
                                            <p:txEl>
                                              <p:pRg st="2" end="2"/>
                                            </p:txEl>
                                          </p:spTgt>
                                        </p:tgtEl>
                                        <p:attrNameLst>
                                          <p:attrName>style.visibility</p:attrName>
                                        </p:attrNameLst>
                                      </p:cBhvr>
                                      <p:to>
                                        <p:strVal val="visible"/>
                                      </p:to>
                                    </p:set>
                                    <p:animEffect transition="in" filter="blinds(horizontal)">
                                      <p:cBhvr>
                                        <p:cTn id="12" dur="500"/>
                                        <p:tgtEl>
                                          <p:spTgt spid="16387">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6387">
                                            <p:txEl>
                                              <p:pRg st="3" end="3"/>
                                            </p:txEl>
                                          </p:spTgt>
                                        </p:tgtEl>
                                        <p:attrNameLst>
                                          <p:attrName>style.visibility</p:attrName>
                                        </p:attrNameLst>
                                      </p:cBhvr>
                                      <p:to>
                                        <p:strVal val="visible"/>
                                      </p:to>
                                    </p:set>
                                    <p:animEffect transition="in" filter="blinds(horizontal)">
                                      <p:cBhvr>
                                        <p:cTn id="15" dur="500"/>
                                        <p:tgtEl>
                                          <p:spTgt spid="16387">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6387">
                                            <p:txEl>
                                              <p:pRg st="4" end="4"/>
                                            </p:txEl>
                                          </p:spTgt>
                                        </p:tgtEl>
                                        <p:attrNameLst>
                                          <p:attrName>style.visibility</p:attrName>
                                        </p:attrNameLst>
                                      </p:cBhvr>
                                      <p:to>
                                        <p:strVal val="visible"/>
                                      </p:to>
                                    </p:set>
                                    <p:animEffect transition="in" filter="blinds(horizontal)">
                                      <p:cBhvr>
                                        <p:cTn id="18" dur="500"/>
                                        <p:tgtEl>
                                          <p:spTgt spid="16387">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6387">
                                            <p:txEl>
                                              <p:pRg st="5" end="5"/>
                                            </p:txEl>
                                          </p:spTgt>
                                        </p:tgtEl>
                                        <p:attrNameLst>
                                          <p:attrName>style.visibility</p:attrName>
                                        </p:attrNameLst>
                                      </p:cBhvr>
                                      <p:to>
                                        <p:strVal val="visible"/>
                                      </p:to>
                                    </p:set>
                                    <p:animEffect transition="in" filter="blinds(horizontal)">
                                      <p:cBhvr>
                                        <p:cTn id="21" dur="500"/>
                                        <p:tgtEl>
                                          <p:spTgt spid="16387">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6387">
                                            <p:txEl>
                                              <p:pRg st="6" end="6"/>
                                            </p:txEl>
                                          </p:spTgt>
                                        </p:tgtEl>
                                        <p:attrNameLst>
                                          <p:attrName>style.visibility</p:attrName>
                                        </p:attrNameLst>
                                      </p:cBhvr>
                                      <p:to>
                                        <p:strVal val="visible"/>
                                      </p:to>
                                    </p:set>
                                    <p:anim calcmode="lin" valueType="num">
                                      <p:cBhvr additive="base">
                                        <p:cTn id="26" dur="500" fill="hold"/>
                                        <p:tgtEl>
                                          <p:spTgt spid="16387">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638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6387">
                                            <p:txEl>
                                              <p:pRg st="7" end="7"/>
                                            </p:txEl>
                                          </p:spTgt>
                                        </p:tgtEl>
                                        <p:attrNameLst>
                                          <p:attrName>style.visibility</p:attrName>
                                        </p:attrNameLst>
                                      </p:cBhvr>
                                      <p:to>
                                        <p:strVal val="visible"/>
                                      </p:to>
                                    </p:set>
                                    <p:anim calcmode="lin" valueType="num">
                                      <p:cBhvr additive="base">
                                        <p:cTn id="32" dur="500" fill="hold"/>
                                        <p:tgtEl>
                                          <p:spTgt spid="16387">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638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自身连接 </a:t>
            </a:r>
            <a:r>
              <a:rPr lang="en-US" altLang="zh-CN" dirty="0"/>
              <a:t>1</a:t>
            </a:r>
            <a:r>
              <a:rPr lang="zh-CN" altLang="en-US" dirty="0"/>
              <a:t> </a:t>
            </a:r>
            <a:endParaRPr lang="zh-CN" altLang="en-US" dirty="0"/>
          </a:p>
        </p:txBody>
      </p:sp>
      <p:sp>
        <p:nvSpPr>
          <p:cNvPr id="18435" name="Rectangle 3"/>
          <p:cNvSpPr>
            <a:spLocks noGrp="1" noChangeArrowheads="1"/>
          </p:cNvSpPr>
          <p:nvPr>
            <p:ph idx="1"/>
          </p:nvPr>
        </p:nvSpPr>
        <p:spPr/>
        <p:txBody>
          <a:bodyPr>
            <a:noAutofit/>
          </a:bodyPr>
          <a:lstStyle/>
          <a:p>
            <a:pPr>
              <a:lnSpc>
                <a:spcPct val="120000"/>
              </a:lnSpc>
              <a:spcBef>
                <a:spcPct val="0"/>
              </a:spcBef>
            </a:pPr>
            <a:r>
              <a:rPr lang="zh-CN" altLang="en-US" dirty="0">
                <a:highlight>
                  <a:srgbClr val="FFFF00"/>
                </a:highlight>
              </a:rPr>
              <a:t>自身连接</a:t>
            </a:r>
            <a:r>
              <a:rPr lang="zh-CN" altLang="en-US" dirty="0"/>
              <a:t>：一个表与其自己进行连接</a:t>
            </a:r>
            <a:endParaRPr lang="zh-CN" altLang="en-US" dirty="0"/>
          </a:p>
          <a:p>
            <a:pPr lvl="1">
              <a:lnSpc>
                <a:spcPct val="120000"/>
              </a:lnSpc>
              <a:spcBef>
                <a:spcPct val="0"/>
              </a:spcBef>
            </a:pPr>
            <a:r>
              <a:rPr lang="zh-CN" altLang="en-US" dirty="0"/>
              <a:t>需要给表起别名以示区别</a:t>
            </a:r>
            <a:endParaRPr lang="zh-CN" altLang="en-US" dirty="0"/>
          </a:p>
          <a:p>
            <a:pPr lvl="1">
              <a:lnSpc>
                <a:spcPct val="120000"/>
              </a:lnSpc>
              <a:spcBef>
                <a:spcPct val="0"/>
              </a:spcBef>
            </a:pPr>
            <a:r>
              <a:rPr lang="zh-CN" altLang="en-US" dirty="0"/>
              <a:t>参与连接的两张表有不同的表名（或别名），但所有相应列的列名都是相同的，因此必须通过</a:t>
            </a:r>
            <a:r>
              <a:rPr lang="en-US" altLang="zh-CN" dirty="0">
                <a:solidFill>
                  <a:srgbClr val="C00000"/>
                </a:solidFill>
                <a:latin typeface="黑体" panose="02010609060101010101" pitchFamily="49" charset="-122"/>
                <a:ea typeface="黑体" panose="02010609060101010101" pitchFamily="49" charset="-122"/>
                <a:cs typeface="黑体" panose="02010609060101010101" pitchFamily="49" charset="-122"/>
              </a:rPr>
              <a:t>&lt;</a:t>
            </a:r>
            <a:r>
              <a:rPr lang="zh-CN" altLang="en-US" dirty="0">
                <a:solidFill>
                  <a:srgbClr val="C00000"/>
                </a:solidFill>
                <a:latin typeface="黑体" panose="02010609060101010101" pitchFamily="49" charset="-122"/>
                <a:ea typeface="黑体" panose="02010609060101010101" pitchFamily="49" charset="-122"/>
                <a:cs typeface="黑体" panose="02010609060101010101" pitchFamily="49" charset="-122"/>
              </a:rPr>
              <a:t>表名</a:t>
            </a:r>
            <a:r>
              <a:rPr lang="en-US" altLang="zh-CN" dirty="0">
                <a:solidFill>
                  <a:srgbClr val="C00000"/>
                </a:solidFill>
                <a:latin typeface="黑体" panose="02010609060101010101" pitchFamily="49" charset="-122"/>
                <a:ea typeface="黑体" panose="02010609060101010101" pitchFamily="49" charset="-122"/>
                <a:cs typeface="黑体" panose="02010609060101010101" pitchFamily="49" charset="-122"/>
              </a:rPr>
              <a:t>&gt;.&lt;</a:t>
            </a:r>
            <a:r>
              <a:rPr lang="zh-CN" altLang="en-US" dirty="0">
                <a:solidFill>
                  <a:srgbClr val="C00000"/>
                </a:solidFill>
                <a:latin typeface="黑体" panose="02010609060101010101" pitchFamily="49" charset="-122"/>
                <a:ea typeface="黑体" panose="02010609060101010101" pitchFamily="49" charset="-122"/>
                <a:cs typeface="黑体" panose="02010609060101010101" pitchFamily="49" charset="-122"/>
              </a:rPr>
              <a:t>列名</a:t>
            </a:r>
            <a:r>
              <a:rPr lang="en-US" altLang="zh-CN" dirty="0">
                <a:solidFill>
                  <a:srgbClr val="C00000"/>
                </a:solidFill>
                <a:latin typeface="黑体" panose="02010609060101010101" pitchFamily="49" charset="-122"/>
                <a:ea typeface="黑体" panose="02010609060101010101" pitchFamily="49" charset="-122"/>
                <a:cs typeface="黑体" panose="02010609060101010101" pitchFamily="49" charset="-122"/>
              </a:rPr>
              <a:t>&gt;</a:t>
            </a:r>
            <a:r>
              <a:rPr lang="zh-CN" altLang="en-US" dirty="0"/>
              <a:t>的方式</a:t>
            </a:r>
            <a:r>
              <a:rPr lang="zh-CN" altLang="en-US" dirty="0">
                <a:sym typeface="+mn-ea"/>
              </a:rPr>
              <a:t>指定需</a:t>
            </a:r>
            <a:r>
              <a:rPr lang="zh-CN" altLang="en-US" dirty="0"/>
              <a:t>访问的</a:t>
            </a:r>
            <a:r>
              <a:rPr lang="zh-CN" altLang="en-US" dirty="0"/>
              <a:t>列</a:t>
            </a:r>
            <a:endParaRPr lang="zh-CN" altLang="en-US" dirty="0"/>
          </a:p>
          <a:p>
            <a:pPr lvl="1"/>
            <a:endParaRPr lang="zh-CN" altLang="en-US" dirty="0"/>
          </a:p>
          <a:p>
            <a:pPr>
              <a:lnSpc>
                <a:spcPct val="120000"/>
              </a:lnSpc>
              <a:spcBef>
                <a:spcPct val="0"/>
              </a:spcBef>
            </a:pPr>
            <a:r>
              <a:rPr lang="en-US" altLang="zh-CN" dirty="0"/>
              <a:t>[</a:t>
            </a:r>
            <a:r>
              <a:rPr lang="zh-CN" altLang="en-US" dirty="0"/>
              <a:t>例</a:t>
            </a:r>
            <a:r>
              <a:rPr lang="en-US" altLang="zh-CN" dirty="0"/>
              <a:t>3.52]</a:t>
            </a:r>
            <a:r>
              <a:rPr lang="zh-CN" altLang="en-US" dirty="0"/>
              <a:t>查询每一门课的间接先修课（即先修课的先修课）</a:t>
            </a:r>
            <a:endParaRPr lang="zh-CN" altLang="en-US" dirty="0"/>
          </a:p>
          <a:p>
            <a:pPr marL="821055" lvl="2" indent="0">
              <a:lnSpc>
                <a:spcPct val="120000"/>
              </a:lnSpc>
              <a:spcBef>
                <a:spcPts val="2000"/>
              </a:spcBef>
              <a:buNone/>
            </a:pPr>
            <a:r>
              <a:rPr lang="en-US" altLang="zh-CN" dirty="0">
                <a:solidFill>
                  <a:srgbClr val="FF0000"/>
                </a:solidFill>
                <a:latin typeface="Arial" panose="020B0604020202090204" pitchFamily="34" charset="0"/>
                <a:cs typeface="Arial" panose="020B0604020202090204" pitchFamily="34" charset="0"/>
              </a:rPr>
              <a:t>SELECT  </a:t>
            </a:r>
            <a:r>
              <a:rPr lang="en-US" altLang="zh-CN" dirty="0" err="1">
                <a:solidFill>
                  <a:srgbClr val="FF0000"/>
                </a:solidFill>
                <a:latin typeface="Arial" panose="020B0604020202090204" pitchFamily="34" charset="0"/>
                <a:cs typeface="Arial" panose="020B0604020202090204" pitchFamily="34" charset="0"/>
              </a:rPr>
              <a:t>FIRST.Cno</a:t>
            </a:r>
            <a:r>
              <a:rPr lang="zh-CN" altLang="en-US" dirty="0">
                <a:solidFill>
                  <a:srgbClr val="FF0000"/>
                </a:solidFill>
                <a:latin typeface="Arial" panose="020B0604020202090204" pitchFamily="34" charset="0"/>
                <a:cs typeface="Arial" panose="020B0604020202090204" pitchFamily="34" charset="0"/>
              </a:rPr>
              <a:t>, </a:t>
            </a:r>
            <a:r>
              <a:rPr lang="en-US" altLang="zh-CN" dirty="0" err="1">
                <a:solidFill>
                  <a:srgbClr val="FF0000"/>
                </a:solidFill>
                <a:latin typeface="Arial" panose="020B0604020202090204" pitchFamily="34" charset="0"/>
                <a:cs typeface="Arial" panose="020B0604020202090204" pitchFamily="34" charset="0"/>
              </a:rPr>
              <a:t>SECOND.Cpno</a:t>
            </a:r>
            <a:endParaRPr lang="en-US" altLang="zh-CN" dirty="0">
              <a:solidFill>
                <a:srgbClr val="FF0000"/>
              </a:solidFill>
              <a:latin typeface="Arial" panose="020B0604020202090204" pitchFamily="34" charset="0"/>
              <a:cs typeface="Arial" panose="020B0604020202090204" pitchFamily="34" charset="0"/>
            </a:endParaRPr>
          </a:p>
          <a:p>
            <a:pPr marL="821055" lvl="2" indent="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FROM  Course  FIRST</a:t>
            </a:r>
            <a:r>
              <a:rPr lang="zh-CN" altLang="en-US" dirty="0">
                <a:solidFill>
                  <a:srgbClr val="FF0000"/>
                </a:solidFill>
                <a:latin typeface="Arial" panose="020B0604020202090204" pitchFamily="34" charset="0"/>
                <a:cs typeface="Arial" panose="020B0604020202090204" pitchFamily="34" charset="0"/>
              </a:rPr>
              <a:t>, </a:t>
            </a:r>
            <a:r>
              <a:rPr lang="en-US" altLang="zh-CN" dirty="0">
                <a:solidFill>
                  <a:srgbClr val="FF0000"/>
                </a:solidFill>
                <a:latin typeface="Arial" panose="020B0604020202090204" pitchFamily="34" charset="0"/>
                <a:cs typeface="Arial" panose="020B0604020202090204" pitchFamily="34" charset="0"/>
              </a:rPr>
              <a:t>Course  SECOND</a:t>
            </a:r>
            <a:endParaRPr lang="en-US" altLang="zh-CN" dirty="0">
              <a:solidFill>
                <a:srgbClr val="FF0000"/>
              </a:solidFill>
              <a:latin typeface="Arial" panose="020B0604020202090204" pitchFamily="34" charset="0"/>
              <a:cs typeface="Arial" panose="020B0604020202090204" pitchFamily="34" charset="0"/>
            </a:endParaRPr>
          </a:p>
          <a:p>
            <a:pPr marL="821055" lvl="2" indent="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WHERE </a:t>
            </a:r>
            <a:r>
              <a:rPr lang="en-US" altLang="zh-CN" dirty="0" err="1">
                <a:solidFill>
                  <a:srgbClr val="FF0000"/>
                </a:solidFill>
                <a:latin typeface="Arial" panose="020B0604020202090204" pitchFamily="34" charset="0"/>
                <a:cs typeface="Arial" panose="020B0604020202090204" pitchFamily="34" charset="0"/>
              </a:rPr>
              <a:t>FIRST.Cpno</a:t>
            </a:r>
            <a:r>
              <a:rPr lang="en-US" altLang="zh-CN" dirty="0">
                <a:solidFill>
                  <a:srgbClr val="FF0000"/>
                </a:solidFill>
                <a:latin typeface="Arial" panose="020B0604020202090204" pitchFamily="34" charset="0"/>
                <a:cs typeface="Arial" panose="020B0604020202090204" pitchFamily="34" charset="0"/>
              </a:rPr>
              <a:t> = </a:t>
            </a:r>
            <a:r>
              <a:rPr lang="en-US" altLang="zh-CN" dirty="0" err="1">
                <a:solidFill>
                  <a:srgbClr val="FF0000"/>
                </a:solidFill>
                <a:latin typeface="Arial" panose="020B0604020202090204" pitchFamily="34" charset="0"/>
                <a:cs typeface="Arial" panose="020B0604020202090204" pitchFamily="34" charset="0"/>
              </a:rPr>
              <a:t>SECOND.Cno</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7" dur="500"/>
                                        <p:tgtEl>
                                          <p:spTgt spid="1843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435">
                                            <p:txEl>
                                              <p:pRg st="5" end="5"/>
                                            </p:txEl>
                                          </p:spTgt>
                                        </p:tgtEl>
                                        <p:attrNameLst>
                                          <p:attrName>style.visibility</p:attrName>
                                        </p:attrNameLst>
                                      </p:cBhvr>
                                      <p:to>
                                        <p:strVal val="visible"/>
                                      </p:to>
                                    </p:set>
                                    <p:animEffect transition="in" filter="blinds(horizontal)">
                                      <p:cBhvr>
                                        <p:cTn id="12" dur="500"/>
                                        <p:tgtEl>
                                          <p:spTgt spid="18435">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8435">
                                            <p:txEl>
                                              <p:pRg st="6" end="6"/>
                                            </p:txEl>
                                          </p:spTgt>
                                        </p:tgtEl>
                                        <p:attrNameLst>
                                          <p:attrName>style.visibility</p:attrName>
                                        </p:attrNameLst>
                                      </p:cBhvr>
                                      <p:to>
                                        <p:strVal val="visible"/>
                                      </p:to>
                                    </p:set>
                                    <p:animEffect transition="in" filter="blinds(horizontal)">
                                      <p:cBhvr>
                                        <p:cTn id="15" dur="500"/>
                                        <p:tgtEl>
                                          <p:spTgt spid="18435">
                                            <p:txEl>
                                              <p:pRg st="6" end="6"/>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8435">
                                            <p:txEl>
                                              <p:pRg st="7" end="7"/>
                                            </p:txEl>
                                          </p:spTgt>
                                        </p:tgtEl>
                                        <p:attrNameLst>
                                          <p:attrName>style.visibility</p:attrName>
                                        </p:attrNameLst>
                                      </p:cBhvr>
                                      <p:to>
                                        <p:strVal val="visible"/>
                                      </p:to>
                                    </p:set>
                                    <p:animEffect transition="in" filter="blinds(horizontal)">
                                      <p:cBhvr>
                                        <p:cTn id="18" dur="500"/>
                                        <p:tgtEl>
                                          <p:spTgt spid="184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自身连接 </a:t>
            </a:r>
            <a:r>
              <a:rPr lang="en-US" altLang="zh-CN" dirty="0"/>
              <a:t>2</a:t>
            </a:r>
            <a:endParaRPr lang="zh-CN" altLang="en-US" dirty="0"/>
          </a:p>
        </p:txBody>
      </p:sp>
      <p:graphicFrame>
        <p:nvGraphicFramePr>
          <p:cNvPr id="5" name="表格 5"/>
          <p:cNvGraphicFramePr>
            <a:graphicFrameLocks noGrp="1"/>
          </p:cNvGraphicFramePr>
          <p:nvPr>
            <p:ph idx="1"/>
            <p:custDataLst>
              <p:tags r:id="rId1"/>
            </p:custDataLst>
          </p:nvPr>
        </p:nvGraphicFramePr>
        <p:xfrm>
          <a:off x="420370" y="1213485"/>
          <a:ext cx="4442460" cy="3580130"/>
        </p:xfrm>
        <a:graphic>
          <a:graphicData uri="http://schemas.openxmlformats.org/drawingml/2006/table">
            <a:tbl>
              <a:tblPr firstRow="1" bandRow="1">
                <a:tableStyleId>{5C22544A-7EE6-4342-B048-85BDC9FD1C3A}</a:tableStyleId>
              </a:tblPr>
              <a:tblGrid>
                <a:gridCol w="940435"/>
                <a:gridCol w="1498600"/>
                <a:gridCol w="931545"/>
                <a:gridCol w="1071880"/>
              </a:tblGrid>
              <a:tr h="79565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R="0" lvl="0" indent="0" algn="ctr" defTabSz="914400" rtl="0" eaLnBrk="1" fontAlgn="base" hangingPunct="1">
                        <a:lnSpc>
                          <a:spcPct val="100000"/>
                        </a:lnSpc>
                        <a:spcBef>
                          <a:spcPts val="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dirty="0">
                          <a:ln>
                            <a:noFill/>
                          </a:ln>
                          <a:solidFill>
                            <a:schemeClr val="tx1"/>
                          </a:solidFill>
                          <a:effectLst/>
                          <a:latin typeface="楷体" charset="-122"/>
                          <a:ea typeface="楷体" charset="-122"/>
                          <a:cs typeface="楷体" charset="-122"/>
                        </a:rPr>
                        <a:t>课程号</a:t>
                      </a:r>
                      <a:endParaRPr kumimoji="0" lang="zh-CN" altLang="en-US" sz="2200" b="1" i="0" u="none" strike="noStrike" cap="none" normalizeH="0" baseline="0" dirty="0">
                        <a:ln>
                          <a:noFill/>
                        </a:ln>
                        <a:solidFill>
                          <a:schemeClr val="tx1"/>
                        </a:solidFill>
                        <a:effectLst/>
                        <a:latin typeface="楷体" charset="-122"/>
                        <a:ea typeface="楷体" charset="-122"/>
                        <a:cs typeface="楷体" charset="-122"/>
                      </a:endParaRPr>
                    </a:p>
                    <a:p>
                      <a:pPr marR="0" lvl="0" indent="0" algn="ctr" defTabSz="914400" rtl="0" eaLnBrk="1" fontAlgn="base" hangingPunct="1">
                        <a:lnSpc>
                          <a:spcPct val="100000"/>
                        </a:lnSpc>
                        <a:spcBef>
                          <a:spcPts val="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dirty="0" err="1">
                          <a:ln>
                            <a:noFill/>
                          </a:ln>
                          <a:solidFill>
                            <a:schemeClr val="tx1"/>
                          </a:solidFill>
                          <a:effectLst/>
                          <a:latin typeface="楷体" charset="-122"/>
                          <a:ea typeface="楷体" charset="-122"/>
                          <a:cs typeface="楷体" charset="-122"/>
                        </a:rPr>
                        <a:t>Cno</a:t>
                      </a:r>
                      <a:endParaRPr kumimoji="0" lang="en-US" altLang="zh-CN" sz="2200" b="1" i="0" u="none" strike="noStrike" cap="none" normalizeH="0" baseline="0" dirty="0">
                        <a:ln>
                          <a:noFill/>
                        </a:ln>
                        <a:solidFill>
                          <a:schemeClr val="tx1"/>
                        </a:solidFill>
                        <a:effectLst/>
                        <a:latin typeface="楷体" charset="-122"/>
                        <a:ea typeface="楷体" charset="-122"/>
                        <a:cs typeface="楷体" charset="-122"/>
                      </a:endParaRPr>
                    </a:p>
                  </a:txBody>
                  <a:tcPr marL="36195" marR="36195" marT="0" marB="0" anchor="ctr" anchorCtr="0" horzOverflow="overflow">
                    <a:lnL>
                      <a:noFill/>
                    </a:lnL>
                    <a:lnT w="19050">
                      <a:solidFill>
                        <a:schemeClr val="tx1"/>
                      </a:solidFill>
                      <a:prstDash val="solid"/>
                    </a:lnT>
                    <a:lnB w="19050">
                      <a:solidFill>
                        <a:schemeClr val="tx1"/>
                      </a:solidFill>
                      <a:prstDash val="solid"/>
                    </a:lnB>
                    <a:solidFill>
                      <a:schemeClr val="accent3">
                        <a:lumMod val="20000"/>
                        <a:lumOff val="8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R="0" lvl="0" indent="0" algn="ctr" defTabSz="914400" rtl="0" eaLnBrk="1" fontAlgn="base" hangingPunct="1">
                        <a:lnSpc>
                          <a:spcPct val="100000"/>
                        </a:lnSpc>
                        <a:spcBef>
                          <a:spcPts val="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dirty="0">
                          <a:ln>
                            <a:noFill/>
                          </a:ln>
                          <a:solidFill>
                            <a:schemeClr val="tx1"/>
                          </a:solidFill>
                          <a:effectLst/>
                          <a:latin typeface="楷体" charset="-122"/>
                          <a:ea typeface="楷体" charset="-122"/>
                          <a:cs typeface="楷体" charset="-122"/>
                        </a:rPr>
                        <a:t>课程名</a:t>
                      </a:r>
                      <a:endParaRPr kumimoji="0" lang="zh-CN" altLang="en-US" sz="2200" b="1" i="0" u="none" strike="noStrike" cap="none" normalizeH="0" baseline="0" dirty="0">
                        <a:ln>
                          <a:noFill/>
                        </a:ln>
                        <a:solidFill>
                          <a:schemeClr val="tx1"/>
                        </a:solidFill>
                        <a:effectLst/>
                        <a:latin typeface="楷体" charset="-122"/>
                        <a:ea typeface="楷体" charset="-122"/>
                        <a:cs typeface="楷体" charset="-122"/>
                      </a:endParaRPr>
                    </a:p>
                    <a:p>
                      <a:pPr marR="0" lvl="0" indent="0" algn="ctr" defTabSz="914400" rtl="0" eaLnBrk="1" fontAlgn="base" hangingPunct="1">
                        <a:lnSpc>
                          <a:spcPct val="100000"/>
                        </a:lnSpc>
                        <a:spcBef>
                          <a:spcPts val="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dirty="0" err="1">
                          <a:ln>
                            <a:noFill/>
                          </a:ln>
                          <a:solidFill>
                            <a:schemeClr val="tx1"/>
                          </a:solidFill>
                          <a:effectLst/>
                          <a:latin typeface="楷体" charset="-122"/>
                          <a:ea typeface="楷体" charset="-122"/>
                          <a:cs typeface="楷体" charset="-122"/>
                        </a:rPr>
                        <a:t>Cname</a:t>
                      </a:r>
                      <a:endParaRPr kumimoji="0" lang="en-US" altLang="zh-CN" sz="2200" b="1" i="0" u="none" strike="noStrike" cap="none" normalizeH="0" baseline="0" dirty="0">
                        <a:ln>
                          <a:noFill/>
                        </a:ln>
                        <a:solidFill>
                          <a:schemeClr val="tx1"/>
                        </a:solidFill>
                        <a:effectLst/>
                        <a:latin typeface="楷体" charset="-122"/>
                        <a:ea typeface="楷体" charset="-122"/>
                        <a:cs typeface="楷体" charset="-122"/>
                      </a:endParaRPr>
                    </a:p>
                  </a:txBody>
                  <a:tcPr marL="36195" marR="36195" marT="0" marB="0" anchor="ctr" anchorCtr="0" horzOverflow="overflow">
                    <a:lnT w="19050">
                      <a:solidFill>
                        <a:schemeClr val="tx1"/>
                      </a:solidFill>
                      <a:prstDash val="solid"/>
                    </a:lnT>
                    <a:lnB w="19050">
                      <a:solidFill>
                        <a:schemeClr val="tx1"/>
                      </a:solidFill>
                      <a:prstDash val="solid"/>
                    </a:lnB>
                    <a:solidFill>
                      <a:schemeClr val="accent3">
                        <a:lumMod val="20000"/>
                        <a:lumOff val="8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R="0" lvl="0" indent="0" algn="ctr" defTabSz="914400" rtl="0" eaLnBrk="1" fontAlgn="base" hangingPunct="1">
                        <a:lnSpc>
                          <a:spcPct val="100000"/>
                        </a:lnSpc>
                        <a:spcBef>
                          <a:spcPts val="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楷体" charset="-122"/>
                          <a:ea typeface="楷体" charset="-122"/>
                          <a:cs typeface="楷体" charset="-122"/>
                        </a:rPr>
                        <a:t>先行课</a:t>
                      </a:r>
                      <a:endParaRPr kumimoji="0" lang="zh-CN" altLang="en-US" sz="2200" b="1" i="0" u="none" strike="noStrike" cap="none" normalizeH="0" baseline="0">
                        <a:ln>
                          <a:noFill/>
                        </a:ln>
                        <a:solidFill>
                          <a:schemeClr val="tx1"/>
                        </a:solidFill>
                        <a:effectLst/>
                        <a:latin typeface="楷体" charset="-122"/>
                        <a:ea typeface="楷体" charset="-122"/>
                        <a:cs typeface="楷体" charset="-122"/>
                      </a:endParaRPr>
                    </a:p>
                    <a:p>
                      <a:pPr marR="0" lvl="0" indent="0" algn="ctr" defTabSz="914400" rtl="0" eaLnBrk="1" fontAlgn="base" hangingPunct="1">
                        <a:lnSpc>
                          <a:spcPct val="100000"/>
                        </a:lnSpc>
                        <a:spcBef>
                          <a:spcPts val="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楷体" charset="-122"/>
                          <a:ea typeface="楷体" charset="-122"/>
                          <a:cs typeface="楷体" charset="-122"/>
                        </a:rPr>
                        <a:t>Cpno</a:t>
                      </a:r>
                      <a:endParaRPr kumimoji="0" lang="en-US" altLang="zh-CN" sz="2200" b="1" i="0" u="none" strike="noStrike" cap="none" normalizeH="0" baseline="0">
                        <a:ln>
                          <a:noFill/>
                        </a:ln>
                        <a:solidFill>
                          <a:schemeClr val="tx1"/>
                        </a:solidFill>
                        <a:effectLst/>
                        <a:latin typeface="楷体" charset="-122"/>
                        <a:ea typeface="楷体" charset="-122"/>
                        <a:cs typeface="楷体" charset="-122"/>
                      </a:endParaRPr>
                    </a:p>
                  </a:txBody>
                  <a:tcPr marL="36195" marR="36195" marT="0" marB="0" anchor="ctr" anchorCtr="0" horzOverflow="overflow">
                    <a:lnT w="19050">
                      <a:solidFill>
                        <a:schemeClr val="tx1"/>
                      </a:solidFill>
                      <a:prstDash val="solid"/>
                    </a:lnT>
                    <a:lnB w="19050">
                      <a:solidFill>
                        <a:schemeClr val="tx1"/>
                      </a:solidFill>
                      <a:prstDash val="solid"/>
                    </a:lnB>
                    <a:solidFill>
                      <a:schemeClr val="accent3">
                        <a:lumMod val="20000"/>
                        <a:lumOff val="8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R="0" lvl="0" indent="0" algn="ctr" defTabSz="914400" rtl="0" eaLnBrk="1" fontAlgn="base" hangingPunct="1">
                        <a:lnSpc>
                          <a:spcPct val="100000"/>
                        </a:lnSpc>
                        <a:spcBef>
                          <a:spcPts val="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楷体" charset="-122"/>
                          <a:ea typeface="楷体" charset="-122"/>
                          <a:cs typeface="楷体" charset="-122"/>
                        </a:rPr>
                        <a:t>学分</a:t>
                      </a:r>
                      <a:endParaRPr kumimoji="0" lang="zh-CN" altLang="en-US" sz="2200" b="1" i="0" u="none" strike="noStrike" cap="none" normalizeH="0" baseline="0">
                        <a:ln>
                          <a:noFill/>
                        </a:ln>
                        <a:solidFill>
                          <a:schemeClr val="tx1"/>
                        </a:solidFill>
                        <a:effectLst/>
                        <a:latin typeface="楷体" charset="-122"/>
                        <a:ea typeface="楷体" charset="-122"/>
                        <a:cs typeface="楷体" charset="-122"/>
                      </a:endParaRPr>
                    </a:p>
                    <a:p>
                      <a:pPr marR="0" lvl="0" indent="0" algn="ctr" defTabSz="914400" rtl="0" eaLnBrk="1" fontAlgn="base" hangingPunct="1">
                        <a:lnSpc>
                          <a:spcPct val="100000"/>
                        </a:lnSpc>
                        <a:spcBef>
                          <a:spcPts val="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楷体" charset="-122"/>
                          <a:ea typeface="楷体" charset="-122"/>
                          <a:cs typeface="楷体" charset="-122"/>
                        </a:rPr>
                        <a:t>Ccredit</a:t>
                      </a:r>
                      <a:endParaRPr kumimoji="0" lang="en-US" altLang="zh-CN" sz="2200" b="1" i="0" u="none" strike="noStrike" cap="none" normalizeH="0" baseline="0">
                        <a:ln>
                          <a:noFill/>
                        </a:ln>
                        <a:solidFill>
                          <a:schemeClr val="tx1"/>
                        </a:solidFill>
                        <a:effectLst/>
                        <a:latin typeface="楷体" charset="-122"/>
                        <a:ea typeface="楷体" charset="-122"/>
                        <a:cs typeface="楷体" charset="-122"/>
                      </a:endParaRPr>
                    </a:p>
                  </a:txBody>
                  <a:tcPr marL="36195" marR="36195" marT="0" marB="0" anchor="ctr" anchorCtr="0" horzOverflow="overflow">
                    <a:lnR>
                      <a:noFill/>
                    </a:lnR>
                    <a:lnT w="19050">
                      <a:solidFill>
                        <a:schemeClr val="tx1"/>
                      </a:solidFill>
                      <a:prstDash val="solid"/>
                    </a:lnT>
                    <a:lnB w="19050">
                      <a:solidFill>
                        <a:schemeClr val="tx1"/>
                      </a:solidFill>
                      <a:prstDash val="solid"/>
                    </a:lnB>
                    <a:solidFill>
                      <a:schemeClr val="accent3">
                        <a:lumMod val="20000"/>
                        <a:lumOff val="80000"/>
                      </a:schemeClr>
                    </a:solidFill>
                  </a:tcPr>
                </a:tc>
              </a:tr>
              <a:tr h="39751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1</a:t>
                      </a:r>
                      <a:endParaRPr kumimoji="0" lang="en-US" altLang="zh-CN" sz="2200" b="1" i="0" u="none" strike="noStrike" cap="none" normalizeH="0" baseline="0">
                        <a:ln>
                          <a:noFill/>
                        </a:ln>
                        <a:solidFill>
                          <a:srgbClr val="1F2DA8"/>
                        </a:solidFill>
                        <a:effectLst/>
                        <a:latin typeface="楷体" charset="-122"/>
                        <a:ea typeface="楷体" charset="-122"/>
                      </a:endParaRPr>
                    </a:p>
                  </a:txBody>
                  <a:tcPr marL="36195" marR="36195" marT="0" marB="0" anchor="ctr" anchorCtr="0" horzOverflow="overflow">
                    <a:lnL>
                      <a:noFill/>
                    </a:lnL>
                    <a:lnT w="19050">
                      <a:solidFill>
                        <a:schemeClr val="tx1"/>
                      </a:solidFill>
                      <a:prstDash val="solid"/>
                    </a:lnT>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dirty="0">
                          <a:ln>
                            <a:noFill/>
                          </a:ln>
                          <a:solidFill>
                            <a:srgbClr val="1F2DA8"/>
                          </a:solidFill>
                          <a:effectLst/>
                          <a:latin typeface="楷体" charset="-122"/>
                          <a:ea typeface="楷体" charset="-122"/>
                        </a:rPr>
                        <a:t>数据库</a:t>
                      </a:r>
                      <a:endParaRPr kumimoji="0" lang="zh-CN" altLang="en-US" sz="2200" b="1" i="0" u="none" strike="noStrike" cap="none" normalizeH="0" baseline="0" dirty="0">
                        <a:ln>
                          <a:noFill/>
                        </a:ln>
                        <a:solidFill>
                          <a:srgbClr val="1F2DA8"/>
                        </a:solidFill>
                        <a:effectLst/>
                        <a:latin typeface="楷体" charset="-122"/>
                        <a:ea typeface="楷体" charset="-122"/>
                      </a:endParaRPr>
                    </a:p>
                  </a:txBody>
                  <a:tcPr marL="36195" marR="36195" marT="0" marB="0" anchor="ctr" anchorCtr="0" horzOverflow="overflow">
                    <a:lnT w="19050">
                      <a:solidFill>
                        <a:schemeClr val="tx1"/>
                      </a:solidFill>
                      <a:prstDash val="solid"/>
                    </a:lnT>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5</a:t>
                      </a:r>
                      <a:endParaRPr kumimoji="0" lang="en-US" altLang="zh-CN" sz="2200" b="1" i="0" u="none" strike="noStrike" cap="none" normalizeH="0" baseline="0">
                        <a:ln>
                          <a:noFill/>
                        </a:ln>
                        <a:solidFill>
                          <a:srgbClr val="1F2DA8"/>
                        </a:solidFill>
                        <a:effectLst/>
                        <a:latin typeface="楷体" charset="-122"/>
                        <a:ea typeface="楷体" charset="-122"/>
                      </a:endParaRPr>
                    </a:p>
                  </a:txBody>
                  <a:tcPr marL="36195" marR="36195" marT="0" marB="0" anchor="ctr" anchorCtr="0" horzOverflow="overflow">
                    <a:lnT w="19050">
                      <a:solidFill>
                        <a:schemeClr val="tx1"/>
                      </a:solidFill>
                      <a:prstDash val="solid"/>
                    </a:lnT>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4</a:t>
                      </a:r>
                      <a:endParaRPr kumimoji="0" lang="en-US" altLang="zh-CN" sz="2200" b="1" i="0" u="none" strike="noStrike" cap="none" normalizeH="0" baseline="0">
                        <a:ln>
                          <a:noFill/>
                        </a:ln>
                        <a:solidFill>
                          <a:srgbClr val="1F2DA8"/>
                        </a:solidFill>
                        <a:effectLst/>
                        <a:latin typeface="楷体" charset="-122"/>
                        <a:ea typeface="楷体" charset="-122"/>
                      </a:endParaRPr>
                    </a:p>
                  </a:txBody>
                  <a:tcPr marL="36195" marR="36195" marT="0" marB="0" anchor="ctr" anchorCtr="0" horzOverflow="overflow">
                    <a:lnR>
                      <a:noFill/>
                    </a:lnR>
                    <a:lnT w="19050">
                      <a:solidFill>
                        <a:schemeClr val="tx1"/>
                      </a:solidFill>
                      <a:prstDash val="solid"/>
                    </a:lnT>
                  </a:tcPr>
                </a:tc>
              </a:tr>
              <a:tr h="39814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dirty="0">
                          <a:ln>
                            <a:noFill/>
                          </a:ln>
                          <a:solidFill>
                            <a:srgbClr val="1F2DA8"/>
                          </a:solidFill>
                          <a:effectLst/>
                          <a:latin typeface="楷体" charset="-122"/>
                          <a:ea typeface="楷体" charset="-122"/>
                        </a:rPr>
                        <a:t>2</a:t>
                      </a:r>
                      <a:endParaRPr kumimoji="0" lang="en-US" altLang="zh-CN" sz="2200" b="1" i="0" u="none" strike="noStrike" cap="none" normalizeH="0" baseline="0" dirty="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lnL>
                      <a:noFill/>
                    </a:ln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dirty="0">
                          <a:ln>
                            <a:noFill/>
                          </a:ln>
                          <a:solidFill>
                            <a:srgbClr val="1F2DA8"/>
                          </a:solidFill>
                          <a:effectLst/>
                          <a:latin typeface="楷体" charset="-122"/>
                          <a:ea typeface="楷体" charset="-122"/>
                        </a:rPr>
                        <a:t>数学</a:t>
                      </a:r>
                      <a:endParaRPr kumimoji="0" lang="zh-CN" altLang="en-US" sz="2200" b="1" i="0" u="none" strike="noStrike" cap="none" normalizeH="0" baseline="0" dirty="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Pct val="100000"/>
                        <a:buFont typeface="Arial" panose="020B0604020202090204" pitchFamily="34" charset="0"/>
                        <a:buNone/>
                      </a:pPr>
                      <a:endParaRPr kumimoji="0" lang="zh-CN" altLang="en-US" sz="2200" b="1" i="0" u="none" strike="noStrike" cap="none" normalizeH="0" baseline="0" dirty="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2</a:t>
                      </a:r>
                      <a:endParaRPr kumimoji="0" lang="en-US" altLang="zh-CN" sz="2200" b="1" i="0" u="none" strike="noStrike" cap="none" normalizeH="0" baseline="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lnR>
                      <a:noFill/>
                    </a:lnR>
                  </a:tcPr>
                </a:tc>
              </a:tr>
              <a:tr h="39751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3</a:t>
                      </a:r>
                      <a:endParaRPr kumimoji="0" lang="en-US" altLang="zh-CN" sz="2200" b="1" i="0" u="none" strike="noStrike" cap="none" normalizeH="0" baseline="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lnL>
                      <a:noFill/>
                    </a:ln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a:ln>
                            <a:noFill/>
                          </a:ln>
                          <a:solidFill>
                            <a:srgbClr val="1F2DA8"/>
                          </a:solidFill>
                          <a:effectLst/>
                          <a:latin typeface="楷体" charset="-122"/>
                          <a:ea typeface="楷体" charset="-122"/>
                        </a:rPr>
                        <a:t>信息系统</a:t>
                      </a:r>
                      <a:endParaRPr kumimoji="0" lang="zh-CN" altLang="en-US" sz="2200" b="1" i="0" u="none" strike="noStrike" cap="none" normalizeH="0" baseline="0">
                        <a:ln>
                          <a:noFill/>
                        </a:ln>
                        <a:solidFill>
                          <a:srgbClr val="1F2DA8"/>
                        </a:solidFill>
                        <a:effectLst/>
                        <a:latin typeface="楷体" charset="-122"/>
                        <a:ea typeface="楷体" charset="-122"/>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dirty="0">
                          <a:ln>
                            <a:noFill/>
                          </a:ln>
                          <a:solidFill>
                            <a:srgbClr val="1F2DA8"/>
                          </a:solidFill>
                          <a:effectLst/>
                          <a:latin typeface="楷体" charset="-122"/>
                          <a:ea typeface="楷体" charset="-122"/>
                        </a:rPr>
                        <a:t>1</a:t>
                      </a:r>
                      <a:endParaRPr kumimoji="0" lang="en-US" altLang="zh-CN" sz="2200" b="1" i="0" u="none" strike="noStrike" cap="none" normalizeH="0" baseline="0" dirty="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4</a:t>
                      </a:r>
                      <a:endParaRPr kumimoji="0" lang="en-US" altLang="zh-CN" sz="2200" b="1" i="0" u="none" strike="noStrike" cap="none" normalizeH="0" baseline="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lnR>
                      <a:noFill/>
                    </a:lnR>
                  </a:tcPr>
                </a:tc>
              </a:tr>
              <a:tr h="39814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4</a:t>
                      </a:r>
                      <a:endParaRPr kumimoji="0" lang="en-US" altLang="zh-CN" sz="2200" b="1" i="0" u="none" strike="noStrike" cap="none" normalizeH="0" baseline="0">
                        <a:ln>
                          <a:noFill/>
                        </a:ln>
                        <a:solidFill>
                          <a:srgbClr val="1F2DA8"/>
                        </a:solidFill>
                        <a:effectLst/>
                        <a:latin typeface="楷体" charset="-122"/>
                        <a:ea typeface="楷体" charset="-122"/>
                      </a:endParaRPr>
                    </a:p>
                  </a:txBody>
                  <a:tcPr marL="36195" marR="36195" marT="0" marB="0" anchor="ctr" anchorCtr="0" horzOverflow="overflow">
                    <a:lnL>
                      <a:noFill/>
                    </a:ln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dirty="0">
                          <a:ln>
                            <a:noFill/>
                          </a:ln>
                          <a:solidFill>
                            <a:srgbClr val="1F2DA8"/>
                          </a:solidFill>
                          <a:effectLst/>
                          <a:latin typeface="楷体" charset="-122"/>
                          <a:ea typeface="楷体" charset="-122"/>
                        </a:rPr>
                        <a:t>操作系统</a:t>
                      </a:r>
                      <a:endParaRPr kumimoji="0" lang="zh-CN" altLang="en-US" sz="2200" b="1" i="0" u="none" strike="noStrike" cap="none" normalizeH="0" baseline="0" dirty="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dirty="0">
                          <a:ln>
                            <a:noFill/>
                          </a:ln>
                          <a:solidFill>
                            <a:srgbClr val="1F2DA8"/>
                          </a:solidFill>
                          <a:effectLst/>
                          <a:latin typeface="楷体" charset="-122"/>
                          <a:ea typeface="楷体" charset="-122"/>
                        </a:rPr>
                        <a:t>6</a:t>
                      </a:r>
                      <a:endParaRPr kumimoji="0" lang="en-US" altLang="zh-CN" sz="2200" b="1" i="0" u="none" strike="noStrike" cap="none" normalizeH="0" baseline="0" dirty="0">
                        <a:ln>
                          <a:noFill/>
                        </a:ln>
                        <a:solidFill>
                          <a:srgbClr val="1F2DA8"/>
                        </a:solidFill>
                        <a:effectLst/>
                        <a:latin typeface="楷体" charset="-122"/>
                        <a:ea typeface="楷体" charset="-122"/>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3</a:t>
                      </a:r>
                      <a:endParaRPr kumimoji="0" lang="en-US" altLang="zh-CN" sz="2200" b="1" i="0" u="none" strike="noStrike" cap="none" normalizeH="0" baseline="0">
                        <a:ln>
                          <a:noFill/>
                        </a:ln>
                        <a:solidFill>
                          <a:srgbClr val="1F2DA8"/>
                        </a:solidFill>
                        <a:effectLst/>
                        <a:latin typeface="楷体" charset="-122"/>
                        <a:ea typeface="楷体" charset="-122"/>
                      </a:endParaRPr>
                    </a:p>
                  </a:txBody>
                  <a:tcPr marL="36195" marR="36195" marT="0" marB="0" anchor="ctr" anchorCtr="0" horzOverflow="overflow">
                    <a:lnR>
                      <a:noFill/>
                    </a:lnR>
                  </a:tcPr>
                </a:tc>
              </a:tr>
              <a:tr h="39751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5</a:t>
                      </a:r>
                      <a:endParaRPr kumimoji="0" lang="en-US" altLang="zh-CN" sz="2200" b="1" i="0" u="none" strike="noStrike" cap="none" normalizeH="0" baseline="0">
                        <a:ln>
                          <a:noFill/>
                        </a:ln>
                        <a:solidFill>
                          <a:srgbClr val="1F2DA8"/>
                        </a:solidFill>
                        <a:effectLst/>
                        <a:latin typeface="楷体" charset="-122"/>
                        <a:ea typeface="楷体" charset="-122"/>
                      </a:endParaRPr>
                    </a:p>
                  </a:txBody>
                  <a:tcPr marL="36195" marR="36195" marT="0" marB="0" anchor="ctr" anchorCtr="0" horzOverflow="overflow">
                    <a:lnL>
                      <a:noFill/>
                    </a:ln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a:ln>
                            <a:noFill/>
                          </a:ln>
                          <a:solidFill>
                            <a:srgbClr val="1F2DA8"/>
                          </a:solidFill>
                          <a:effectLst/>
                          <a:latin typeface="楷体" charset="-122"/>
                          <a:ea typeface="楷体" charset="-122"/>
                        </a:rPr>
                        <a:t>数据结构</a:t>
                      </a:r>
                      <a:endParaRPr kumimoji="0" lang="zh-CN" altLang="en-US" sz="2200" b="1" i="0" u="none" strike="noStrike" cap="none" normalizeH="0" baseline="0">
                        <a:ln>
                          <a:noFill/>
                        </a:ln>
                        <a:solidFill>
                          <a:srgbClr val="1F2DA8"/>
                        </a:solidFill>
                        <a:effectLst/>
                        <a:latin typeface="楷体" charset="-122"/>
                        <a:ea typeface="楷体" charset="-122"/>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dirty="0">
                          <a:ln>
                            <a:noFill/>
                          </a:ln>
                          <a:solidFill>
                            <a:srgbClr val="1F2DA8"/>
                          </a:solidFill>
                          <a:effectLst/>
                          <a:latin typeface="楷体" charset="-122"/>
                          <a:ea typeface="楷体" charset="-122"/>
                        </a:rPr>
                        <a:t>7</a:t>
                      </a:r>
                      <a:endParaRPr kumimoji="0" lang="en-US" altLang="zh-CN" sz="2200" b="1" i="0" u="none" strike="noStrike" cap="none" normalizeH="0" baseline="0" dirty="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4</a:t>
                      </a:r>
                      <a:endParaRPr kumimoji="0" lang="en-US" altLang="zh-CN" sz="2200" b="1" i="0" u="none" strike="noStrike" cap="none" normalizeH="0" baseline="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lnR>
                      <a:noFill/>
                    </a:lnR>
                  </a:tcPr>
                </a:tc>
              </a:tr>
              <a:tr h="39814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6</a:t>
                      </a:r>
                      <a:endParaRPr kumimoji="0" lang="en-US" altLang="zh-CN" sz="2200" b="1" i="0" u="none" strike="noStrike" cap="none" normalizeH="0" baseline="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lnL>
                      <a:noFill/>
                    </a:ln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zh-CN" altLang="en-US" sz="2200" b="1" i="0" u="none" strike="noStrike" cap="none" normalizeH="0" baseline="0">
                          <a:ln>
                            <a:noFill/>
                          </a:ln>
                          <a:solidFill>
                            <a:srgbClr val="1F2DA8"/>
                          </a:solidFill>
                          <a:effectLst/>
                          <a:latin typeface="楷体" charset="-122"/>
                          <a:ea typeface="楷体" charset="-122"/>
                        </a:rPr>
                        <a:t>数据处理</a:t>
                      </a:r>
                      <a:endParaRPr kumimoji="0" lang="zh-CN" altLang="en-US" sz="2200" b="1" i="0" u="none" strike="noStrike" cap="none" normalizeH="0" baseline="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Pct val="100000"/>
                        <a:buFont typeface="Arial" panose="020B0604020202090204" pitchFamily="34" charset="0"/>
                        <a:buNone/>
                      </a:pPr>
                      <a:endParaRPr kumimoji="0" lang="zh-CN" altLang="en-US" sz="2200" b="1" i="0" u="none" strike="noStrike" cap="none" normalizeH="0" baseline="0" dirty="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anose="05000000000000000000" pitchFamily="2" charset="2"/>
                        <a:buNone/>
                      </a:pPr>
                      <a:r>
                        <a:rPr kumimoji="0" lang="en-US" altLang="zh-CN" sz="2200" b="1" i="0" u="none" strike="noStrike" cap="none" normalizeH="0" baseline="0">
                          <a:ln>
                            <a:noFill/>
                          </a:ln>
                          <a:solidFill>
                            <a:srgbClr val="1F2DA8"/>
                          </a:solidFill>
                          <a:effectLst/>
                          <a:latin typeface="楷体" charset="-122"/>
                          <a:ea typeface="楷体" charset="-122"/>
                        </a:rPr>
                        <a:t>2</a:t>
                      </a:r>
                      <a:endParaRPr kumimoji="0" lang="en-US" altLang="zh-CN" sz="2200" b="1" i="0" u="none" strike="noStrike" cap="none" normalizeH="0" baseline="0">
                        <a:ln>
                          <a:noFill/>
                        </a:ln>
                        <a:solidFill>
                          <a:srgbClr val="1F2DA8"/>
                        </a:solidFill>
                        <a:effectLst/>
                        <a:latin typeface="楷体" charset="-122"/>
                        <a:ea typeface="楷体" charset="-122"/>
                      </a:endParaRPr>
                    </a:p>
                  </a:txBody>
                  <a:tcPr marL="36195" marR="36195" marT="0" marB="0" anchor="ctr" anchorCtr="0" horzOverflow="overflow">
                    <a:lnR>
                      <a:noFill/>
                    </a:lnR>
                  </a:tcPr>
                </a:tc>
              </a:tr>
              <a:tr h="39751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Pct val="100000"/>
                        <a:buFont typeface="Arial" panose="020B0604020202090204" pitchFamily="34" charset="0"/>
                        <a:buNone/>
                      </a:pPr>
                      <a:r>
                        <a:rPr kumimoji="0" lang="en-US" altLang="zh-CN" sz="2200" b="1" i="0" u="none" strike="noStrike" cap="none" normalizeH="0" baseline="0">
                          <a:ln>
                            <a:noFill/>
                          </a:ln>
                          <a:solidFill>
                            <a:srgbClr val="1F2DA8"/>
                          </a:solidFill>
                          <a:effectLst/>
                          <a:latin typeface="楷体" charset="-122"/>
                          <a:ea typeface="楷体" charset="-122"/>
                        </a:rPr>
                        <a:t>7</a:t>
                      </a:r>
                      <a:endParaRPr kumimoji="0" lang="en-US" altLang="zh-CN" sz="2200" b="1" i="0" u="none" strike="noStrike" cap="none" normalizeH="0" baseline="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lnL>
                      <a:noFill/>
                    </a:lnL>
                    <a:lnB w="19050">
                      <a:solidFill>
                        <a:schemeClr val="tx1"/>
                      </a:solidFill>
                      <a:prstDash val="solid"/>
                    </a:lnB>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Pct val="100000"/>
                        <a:buFont typeface="Arial" panose="020B0604020202090204" pitchFamily="34" charset="0"/>
                        <a:buNone/>
                      </a:pPr>
                      <a:r>
                        <a:rPr kumimoji="0" lang="en-US" altLang="zh-CN" sz="2200" b="1" i="0" u="none" strike="noStrike" cap="none" normalizeH="0" baseline="0" dirty="0">
                          <a:ln>
                            <a:noFill/>
                          </a:ln>
                          <a:solidFill>
                            <a:srgbClr val="1F2DA8"/>
                          </a:solidFill>
                          <a:effectLst/>
                          <a:latin typeface="楷体" charset="-122"/>
                          <a:ea typeface="楷体" charset="-122"/>
                          <a:cs typeface="楷体" charset="-122"/>
                        </a:rPr>
                        <a:t>PASCAL</a:t>
                      </a:r>
                      <a:r>
                        <a:rPr kumimoji="0" lang="zh-CN" altLang="en-US" sz="2200" b="1" i="0" u="none" strike="noStrike" cap="none" normalizeH="0" baseline="0" dirty="0">
                          <a:ln>
                            <a:noFill/>
                          </a:ln>
                          <a:solidFill>
                            <a:srgbClr val="1F2DA8"/>
                          </a:solidFill>
                          <a:effectLst/>
                          <a:latin typeface="楷体" charset="-122"/>
                          <a:ea typeface="楷体" charset="-122"/>
                          <a:cs typeface="楷体" charset="-122"/>
                        </a:rPr>
                        <a:t>语言</a:t>
                      </a:r>
                      <a:endParaRPr kumimoji="0" lang="zh-CN" altLang="en-US" sz="2200" b="1" i="0" u="none" strike="noStrike" cap="none" normalizeH="0" baseline="0" dirty="0">
                        <a:ln>
                          <a:noFill/>
                        </a:ln>
                        <a:solidFill>
                          <a:srgbClr val="1F2DA8"/>
                        </a:solidFill>
                        <a:effectLst/>
                        <a:latin typeface="楷体" charset="-122"/>
                        <a:ea typeface="楷体" charset="-122"/>
                        <a:cs typeface="楷体" charset="-122"/>
                      </a:endParaRPr>
                    </a:p>
                  </a:txBody>
                  <a:tcPr marL="36195" marR="36195" marT="0" marB="0" anchor="ctr" anchorCtr="0" horzOverflow="overflow">
                    <a:lnB w="19050">
                      <a:solidFill>
                        <a:schemeClr val="tx1"/>
                      </a:solidFill>
                      <a:prstDash val="solid"/>
                    </a:lnB>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Pct val="100000"/>
                        <a:buFont typeface="Arial" panose="020B0604020202090204" pitchFamily="34" charset="0"/>
                        <a:buNone/>
                      </a:pPr>
                      <a:r>
                        <a:rPr kumimoji="0" lang="en-US" altLang="zh-CN" sz="2200" b="1" i="0" u="none" strike="noStrike" cap="none" normalizeH="0" baseline="0" dirty="0">
                          <a:ln>
                            <a:noFill/>
                          </a:ln>
                          <a:solidFill>
                            <a:srgbClr val="1F2DA8"/>
                          </a:solidFill>
                          <a:effectLst/>
                          <a:latin typeface="楷体" charset="-122"/>
                          <a:ea typeface="楷体" charset="-122"/>
                        </a:rPr>
                        <a:t>6</a:t>
                      </a:r>
                      <a:endParaRPr kumimoji="0" lang="en-US" altLang="zh-CN" sz="2200" b="1" i="0" u="none" strike="noStrike" cap="none" normalizeH="0" baseline="0" dirty="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lnB w="19050">
                      <a:solidFill>
                        <a:schemeClr val="tx1"/>
                      </a:solidFill>
                      <a:prstDash val="solid"/>
                    </a:lnB>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Pct val="100000"/>
                        <a:buFont typeface="Arial" panose="020B0604020202090204" pitchFamily="34" charset="0"/>
                        <a:buNone/>
                      </a:pPr>
                      <a:r>
                        <a:rPr kumimoji="0" lang="en-US" altLang="zh-CN" sz="2200" b="1" i="0" u="none" strike="noStrike" cap="none" normalizeH="0" baseline="0" dirty="0">
                          <a:ln>
                            <a:noFill/>
                          </a:ln>
                          <a:solidFill>
                            <a:srgbClr val="1F2DA8"/>
                          </a:solidFill>
                          <a:effectLst/>
                          <a:latin typeface="楷体" charset="-122"/>
                          <a:ea typeface="楷体" charset="-122"/>
                        </a:rPr>
                        <a:t>4</a:t>
                      </a:r>
                      <a:endParaRPr kumimoji="0" lang="en-US" altLang="zh-CN" sz="2200" b="1" i="0" u="none" strike="noStrike" cap="none" normalizeH="0" baseline="0" dirty="0">
                        <a:ln>
                          <a:noFill/>
                        </a:ln>
                        <a:solidFill>
                          <a:srgbClr val="1F2DA8"/>
                        </a:solidFill>
                        <a:effectLst/>
                        <a:latin typeface="楷体" charset="-122"/>
                        <a:ea typeface="楷体" charset="-122"/>
                        <a:cs typeface="Times New Roman" panose="02020503050405090304" pitchFamily="2" charset="0"/>
                      </a:endParaRPr>
                    </a:p>
                  </a:txBody>
                  <a:tcPr marL="36195" marR="36195" marT="0" marB="0" anchor="ctr" anchorCtr="0" horzOverflow="overflow">
                    <a:lnR>
                      <a:noFill/>
                    </a:lnR>
                    <a:lnB w="19050">
                      <a:solidFill>
                        <a:schemeClr val="tx1"/>
                      </a:solidFill>
                      <a:prstDash val="solid"/>
                    </a:lnB>
                  </a:tcPr>
                </a:tc>
              </a:tr>
            </a:tbl>
          </a:graphicData>
        </a:graphic>
      </p:graphicFrame>
      <p:sp>
        <p:nvSpPr>
          <p:cNvPr id="7" name="Rectangle 3"/>
          <p:cNvSpPr txBox="1">
            <a:spLocks noChangeArrowheads="1"/>
          </p:cNvSpPr>
          <p:nvPr/>
        </p:nvSpPr>
        <p:spPr bwMode="auto">
          <a:xfrm>
            <a:off x="420370" y="717550"/>
            <a:ext cx="444246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spAutoFit/>
          </a:bodyPr>
          <a:lstStyle>
            <a:lvl1pPr marL="363855" indent="-363855" algn="l" rtl="0" eaLnBrk="1" fontAlgn="base" hangingPunct="1">
              <a:spcBef>
                <a:spcPct val="20000"/>
              </a:spcBef>
              <a:spcAft>
                <a:spcPct val="0"/>
              </a:spcAft>
              <a:buClr>
                <a:srgbClr val="00607A"/>
              </a:buClr>
              <a:buFont typeface="Wingdings" panose="05000000000000000000" pitchFamily="2" charset="2"/>
              <a:buChar char="l"/>
              <a:defRPr sz="3200">
                <a:solidFill>
                  <a:srgbClr val="00607A"/>
                </a:solidFill>
                <a:latin typeface="+mn-lt"/>
                <a:ea typeface="+mn-ea"/>
                <a:cs typeface="+mn-cs"/>
              </a:defRPr>
            </a:lvl1pPr>
            <a:lvl2pPr marL="716280" indent="-352425" algn="l" rtl="0" eaLnBrk="1" fontAlgn="base" hangingPunct="1">
              <a:spcBef>
                <a:spcPct val="20000"/>
              </a:spcBef>
              <a:spcAft>
                <a:spcPct val="0"/>
              </a:spcAft>
              <a:buClr>
                <a:srgbClr val="00607A"/>
              </a:buClr>
              <a:buFont typeface="Wingdings" panose="05000000000000000000" pitchFamily="2" charset="2"/>
              <a:buChar char="n"/>
              <a:defRPr sz="2800">
                <a:solidFill>
                  <a:srgbClr val="00607A"/>
                </a:solidFill>
                <a:latin typeface="+mn-lt"/>
              </a:defRPr>
            </a:lvl2pPr>
            <a:lvl3pPr marL="1079500" indent="-363855" algn="l" rtl="0" eaLnBrk="1" fontAlgn="base" hangingPunct="1">
              <a:spcBef>
                <a:spcPct val="20000"/>
              </a:spcBef>
              <a:spcAft>
                <a:spcPct val="0"/>
              </a:spcAft>
              <a:buClr>
                <a:srgbClr val="00607A"/>
              </a:buClr>
              <a:buFont typeface="Wingdings" panose="05000000000000000000"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780" indent="-363855" algn="l" rtl="0" eaLnBrk="1" fontAlgn="base" hangingPunct="1">
              <a:spcBef>
                <a:spcPct val="20000"/>
              </a:spcBef>
              <a:spcAft>
                <a:spcPct val="0"/>
              </a:spcAft>
              <a:buFont typeface="Wingdings" panose="05000000000000000000"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ctr">
              <a:buFont typeface="Wingdings" panose="05000000000000000000" pitchFamily="2" charset="2"/>
              <a:buNone/>
            </a:pPr>
            <a:r>
              <a:rPr lang="en-US" altLang="zh-CN" sz="2200" b="1" kern="0" dirty="0">
                <a:solidFill>
                  <a:srgbClr val="1F2DA8"/>
                </a:solidFill>
                <a:effectLst/>
              </a:rPr>
              <a:t>Course</a:t>
            </a:r>
            <a:r>
              <a:rPr lang="zh-CN" altLang="en-US" sz="2200" b="1" kern="0" dirty="0">
                <a:solidFill>
                  <a:srgbClr val="1F2DA8"/>
                </a:solidFill>
                <a:effectLst/>
              </a:rPr>
              <a:t>表 </a:t>
            </a:r>
            <a:endParaRPr lang="zh-CN" altLang="en-US" sz="2200" b="1" kern="0" dirty="0">
              <a:solidFill>
                <a:srgbClr val="1F2DA8"/>
              </a:solidFill>
              <a:effectLst/>
            </a:endParaRPr>
          </a:p>
        </p:txBody>
      </p:sp>
      <p:sp>
        <p:nvSpPr>
          <p:cNvPr id="8" name="内容占位符 2"/>
          <p:cNvSpPr txBox="1"/>
          <p:nvPr/>
        </p:nvSpPr>
        <p:spPr bwMode="auto">
          <a:xfrm>
            <a:off x="9719310" y="1281113"/>
            <a:ext cx="209740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marL="363855" indent="-363855" algn="l" rtl="0" eaLnBrk="1" fontAlgn="base" hangingPunct="1">
              <a:lnSpc>
                <a:spcPct val="150000"/>
              </a:lnSpc>
              <a:spcBef>
                <a:spcPct val="20000"/>
              </a:spcBef>
              <a:spcAft>
                <a:spcPct val="0"/>
              </a:spcAft>
              <a:buClr>
                <a:srgbClr val="00607A"/>
              </a:buClr>
              <a:buFont typeface="Wingdings" panose="05000000000000000000" pitchFamily="2" charset="2"/>
              <a:buChar char="l"/>
              <a:defRPr sz="3200">
                <a:solidFill>
                  <a:srgbClr val="00708E"/>
                </a:solidFill>
                <a:latin typeface="+mn-lt"/>
                <a:ea typeface="+mn-ea"/>
                <a:cs typeface="+mn-cs"/>
              </a:defRPr>
            </a:lvl1pPr>
            <a:lvl2pPr marL="716280" indent="-352425" algn="l" rtl="0" eaLnBrk="1" fontAlgn="base" hangingPunct="1">
              <a:lnSpc>
                <a:spcPct val="150000"/>
              </a:lnSpc>
              <a:spcBef>
                <a:spcPct val="20000"/>
              </a:spcBef>
              <a:spcAft>
                <a:spcPct val="0"/>
              </a:spcAft>
              <a:buClr>
                <a:srgbClr val="00607A"/>
              </a:buClr>
              <a:buFont typeface="Wingdings" panose="05000000000000000000" pitchFamily="2" charset="2"/>
              <a:buChar char="n"/>
              <a:defRPr sz="2800">
                <a:solidFill>
                  <a:srgbClr val="00708E"/>
                </a:solidFill>
                <a:latin typeface="+mn-ea"/>
                <a:ea typeface="+mn-ea"/>
              </a:defRPr>
            </a:lvl2pPr>
            <a:lvl3pPr marL="1079500" indent="-363855" algn="l" rtl="0" eaLnBrk="1" fontAlgn="base" hangingPunct="1">
              <a:lnSpc>
                <a:spcPct val="150000"/>
              </a:lnSpc>
              <a:spcBef>
                <a:spcPct val="20000"/>
              </a:spcBef>
              <a:spcAft>
                <a:spcPct val="0"/>
              </a:spcAft>
              <a:buClr>
                <a:srgbClr val="00607A"/>
              </a:buClr>
              <a:buFont typeface="Wingdings" panose="05000000000000000000" pitchFamily="2" charset="2"/>
              <a:buChar char="u"/>
              <a:defRPr sz="2400">
                <a:solidFill>
                  <a:srgbClr val="00708E"/>
                </a:solidFill>
                <a:latin typeface="+mn-ea"/>
                <a:ea typeface="+mn-ea"/>
              </a:defRPr>
            </a:lvl3pPr>
            <a:lvl4pPr marL="1431925" indent="-352425" algn="l" rtl="0" eaLnBrk="1" fontAlgn="base" hangingPunct="1">
              <a:lnSpc>
                <a:spcPct val="150000"/>
              </a:lnSpc>
              <a:spcBef>
                <a:spcPct val="20000"/>
              </a:spcBef>
              <a:spcAft>
                <a:spcPct val="0"/>
              </a:spcAft>
              <a:buChar char="–"/>
              <a:defRPr sz="2000">
                <a:solidFill>
                  <a:srgbClr val="00708E"/>
                </a:solidFill>
                <a:latin typeface="+mn-ea"/>
                <a:ea typeface="+mn-ea"/>
              </a:defRPr>
            </a:lvl4pPr>
            <a:lvl5pPr marL="1795780" indent="-363855" algn="l" rtl="0" eaLnBrk="1" fontAlgn="base" hangingPunct="1">
              <a:lnSpc>
                <a:spcPct val="150000"/>
              </a:lnSpc>
              <a:spcBef>
                <a:spcPct val="20000"/>
              </a:spcBef>
              <a:spcAft>
                <a:spcPct val="0"/>
              </a:spcAft>
              <a:buFont typeface="Wingdings" panose="05000000000000000000"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ctr">
              <a:lnSpc>
                <a:spcPct val="100000"/>
              </a:lnSpc>
              <a:buNone/>
            </a:pPr>
            <a:r>
              <a:rPr lang="zh-CN" altLang="en-US" sz="2400" b="1" kern="0" dirty="0">
                <a:solidFill>
                  <a:srgbClr val="C00000"/>
                </a:solidFill>
                <a:latin typeface="楷体" charset="-122"/>
                <a:ea typeface="楷体" charset="-122"/>
              </a:rPr>
              <a:t>查询结果</a:t>
            </a:r>
            <a:endParaRPr lang="zh-CN" altLang="en-US" sz="2400" b="1" kern="0" dirty="0">
              <a:solidFill>
                <a:srgbClr val="C00000"/>
              </a:solidFill>
              <a:latin typeface="楷体" charset="-122"/>
              <a:ea typeface="楷体" charset="-122"/>
            </a:endParaRPr>
          </a:p>
        </p:txBody>
      </p:sp>
      <p:graphicFrame>
        <p:nvGraphicFramePr>
          <p:cNvPr id="9" name="表格 9"/>
          <p:cNvGraphicFramePr>
            <a:graphicFrameLocks noGrp="1"/>
          </p:cNvGraphicFramePr>
          <p:nvPr>
            <p:custDataLst>
              <p:tags r:id="rId2"/>
            </p:custDataLst>
          </p:nvPr>
        </p:nvGraphicFramePr>
        <p:xfrm>
          <a:off x="9719310" y="1741805"/>
          <a:ext cx="2098040" cy="1828800"/>
        </p:xfrm>
        <a:graphic>
          <a:graphicData uri="http://schemas.openxmlformats.org/drawingml/2006/table">
            <a:tbl>
              <a:tblPr firstRow="1" bandRow="1">
                <a:tableStyleId>{5C22544A-7EE6-4342-B048-85BDC9FD1C3A}</a:tableStyleId>
              </a:tblPr>
              <a:tblGrid>
                <a:gridCol w="1029335"/>
                <a:gridCol w="1068705"/>
              </a:tblGrid>
              <a:tr h="37084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0" i="0" u="none" strike="noStrike" cap="none" normalizeH="0" baseline="0" dirty="0" err="1">
                          <a:ln>
                            <a:noFill/>
                          </a:ln>
                          <a:solidFill>
                            <a:schemeClr val="tx1"/>
                          </a:solidFill>
                          <a:effectLst/>
                          <a:latin typeface="+mj-ea"/>
                          <a:ea typeface="+mj-ea"/>
                          <a:cs typeface="Times New Roman" panose="02020503050405090304" pitchFamily="2" charset="0"/>
                        </a:rPr>
                        <a:t>Cno</a:t>
                      </a:r>
                      <a:endParaRPr kumimoji="0" lang="en-US" altLang="zh-CN" sz="2400" b="0" i="0" u="none" strike="noStrike" cap="none" normalizeH="0" baseline="0" dirty="0" err="1">
                        <a:ln>
                          <a:noFill/>
                        </a:ln>
                        <a:solidFill>
                          <a:schemeClr val="tx1"/>
                        </a:solidFill>
                        <a:effectLst/>
                        <a:latin typeface="+mj-ea"/>
                        <a:ea typeface="+mj-ea"/>
                        <a:cs typeface="Times New Roman" panose="02020503050405090304" pitchFamily="2" charset="0"/>
                      </a:endParaRPr>
                    </a:p>
                  </a:txBody>
                  <a:tcP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0" i="0" u="none" strike="noStrike" cap="none" normalizeH="0" baseline="0">
                          <a:ln>
                            <a:noFill/>
                          </a:ln>
                          <a:solidFill>
                            <a:schemeClr val="tx1"/>
                          </a:solidFill>
                          <a:effectLst/>
                          <a:latin typeface="+mj-ea"/>
                          <a:ea typeface="+mj-ea"/>
                          <a:cs typeface="Times New Roman" panose="02020503050405090304" pitchFamily="2" charset="0"/>
                        </a:rPr>
                        <a:t>Pcno</a:t>
                      </a:r>
                      <a:endParaRPr kumimoji="0" lang="en-US" altLang="zh-CN" sz="2400" b="0" i="0" u="none" strike="noStrike" cap="none" normalizeH="0" baseline="0">
                        <a:ln>
                          <a:noFill/>
                        </a:ln>
                        <a:solidFill>
                          <a:schemeClr val="tx1"/>
                        </a:solidFill>
                        <a:effectLst/>
                        <a:latin typeface="+mj-ea"/>
                        <a:ea typeface="+mj-ea"/>
                        <a:cs typeface="Times New Roman" panose="02020503050405090304" pitchFamily="2" charset="0"/>
                      </a:endParaRPr>
                    </a:p>
                  </a:txBody>
                  <a:tcP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r>
              <a:tr h="37084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1</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7</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tcPr>
                </a:tc>
              </a:tr>
              <a:tr h="37084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3</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5</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r>
              <a:tr h="37084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5</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B w="19050" cmpd="sng">
                      <a:solidFill>
                        <a:schemeClr val="tx1"/>
                      </a:solidFill>
                      <a:prstDash val="solid"/>
                    </a:lnB>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6</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B w="19050" cmpd="sng">
                      <a:solidFill>
                        <a:schemeClr val="tx1"/>
                      </a:solidFill>
                      <a:prstDash val="solid"/>
                    </a:lnB>
                  </a:tcPr>
                </a:tc>
              </a:tr>
            </a:tbl>
          </a:graphicData>
        </a:graphic>
      </p:graphicFrame>
      <p:pic>
        <p:nvPicPr>
          <p:cNvPr id="15" name="图片 14"/>
          <p:cNvPicPr>
            <a:picLocks noChangeAspect="1"/>
          </p:cNvPicPr>
          <p:nvPr/>
        </p:nvPicPr>
        <p:blipFill>
          <a:blip r:embed="rId3"/>
          <a:stretch>
            <a:fillRect/>
          </a:stretch>
        </p:blipFill>
        <p:spPr>
          <a:xfrm>
            <a:off x="5509260" y="595630"/>
            <a:ext cx="3763010" cy="2833370"/>
          </a:xfrm>
          <a:prstGeom prst="rect">
            <a:avLst/>
          </a:prstGeom>
        </p:spPr>
      </p:pic>
      <p:pic>
        <p:nvPicPr>
          <p:cNvPr id="16" name="图片 15"/>
          <p:cNvPicPr>
            <a:picLocks noChangeAspect="1"/>
          </p:cNvPicPr>
          <p:nvPr/>
        </p:nvPicPr>
        <p:blipFill>
          <a:blip r:embed="rId4"/>
          <a:stretch>
            <a:fillRect/>
          </a:stretch>
        </p:blipFill>
        <p:spPr>
          <a:xfrm>
            <a:off x="5509260" y="3631565"/>
            <a:ext cx="3762375" cy="2832735"/>
          </a:xfrm>
          <a:prstGeom prst="rect">
            <a:avLst/>
          </a:prstGeom>
        </p:spPr>
      </p:pic>
      <p:pic>
        <p:nvPicPr>
          <p:cNvPr id="17" name="图片 16"/>
          <p:cNvPicPr>
            <a:picLocks noChangeAspect="1"/>
          </p:cNvPicPr>
          <p:nvPr/>
        </p:nvPicPr>
        <p:blipFill>
          <a:blip r:embed="rId5"/>
          <a:stretch>
            <a:fillRect/>
          </a:stretch>
        </p:blipFill>
        <p:spPr>
          <a:xfrm>
            <a:off x="288290" y="5186045"/>
            <a:ext cx="5013960" cy="1005840"/>
          </a:xfrm>
          <a:prstGeom prst="rect">
            <a:avLst/>
          </a:prstGeom>
          <a:noFill/>
          <a:ln>
            <a:solidFill>
              <a:schemeClr val="accent1"/>
            </a:solidFill>
          </a:ln>
        </p:spPr>
      </p:pic>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linds(horizontal)">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linds(horizontal)">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par>
                                <p:cTn id="24" presetID="3" presetClass="entr" presetSubtype="1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ltLang="en-US" dirty="0"/>
              <a:t>外连接 </a:t>
            </a:r>
            <a:r>
              <a:rPr lang="en-US" altLang="zh-CN" dirty="0"/>
              <a:t>1</a:t>
            </a:r>
            <a:endParaRPr lang="zh-CN" altLang="en-US" dirty="0"/>
          </a:p>
        </p:txBody>
      </p:sp>
      <p:sp>
        <p:nvSpPr>
          <p:cNvPr id="22531" name="Rectangle 3"/>
          <p:cNvSpPr>
            <a:spLocks noGrp="1" noChangeArrowheads="1"/>
          </p:cNvSpPr>
          <p:nvPr>
            <p:ph idx="1"/>
          </p:nvPr>
        </p:nvSpPr>
        <p:spPr/>
        <p:txBody>
          <a:bodyPr>
            <a:normAutofit/>
          </a:bodyPr>
          <a:lstStyle/>
          <a:p>
            <a:pPr>
              <a:lnSpc>
                <a:spcPct val="110000"/>
              </a:lnSpc>
              <a:spcBef>
                <a:spcPts val="1000"/>
              </a:spcBef>
            </a:pPr>
            <a:r>
              <a:rPr lang="zh-CN" altLang="en-US" dirty="0"/>
              <a:t>外连接与普通连接的区别</a:t>
            </a:r>
            <a:endParaRPr lang="zh-CN" altLang="en-US" dirty="0"/>
          </a:p>
          <a:p>
            <a:pPr lvl="1">
              <a:lnSpc>
                <a:spcPct val="110000"/>
              </a:lnSpc>
              <a:spcBef>
                <a:spcPts val="1000"/>
              </a:spcBef>
            </a:pPr>
            <a:r>
              <a:rPr lang="zh-CN" altLang="en-US" dirty="0"/>
              <a:t>普通连接操作只输出满足连接条件的元组</a:t>
            </a:r>
            <a:endParaRPr lang="zh-CN" altLang="en-US" dirty="0"/>
          </a:p>
          <a:p>
            <a:pPr lvl="1">
              <a:lnSpc>
                <a:spcPct val="110000"/>
              </a:lnSpc>
              <a:spcBef>
                <a:spcPts val="1000"/>
              </a:spcBef>
            </a:pPr>
            <a:r>
              <a:rPr lang="zh-CN" altLang="en-US" dirty="0"/>
              <a:t>外连接操作以指定表为连接主体，将主体表中不满足连接条件的元组一并输出</a:t>
            </a:r>
            <a:endParaRPr lang="zh-CN" altLang="en-US" dirty="0"/>
          </a:p>
          <a:p>
            <a:pPr lvl="2">
              <a:lnSpc>
                <a:spcPct val="110000"/>
              </a:lnSpc>
              <a:spcBef>
                <a:spcPts val="1000"/>
              </a:spcBef>
            </a:pPr>
            <a:r>
              <a:rPr lang="en-US" altLang="zh-CN" dirty="0"/>
              <a:t> </a:t>
            </a:r>
            <a:r>
              <a:rPr lang="zh-CN" altLang="en-US" dirty="0"/>
              <a:t>左外连接</a:t>
            </a:r>
            <a:endParaRPr lang="zh-CN" altLang="en-US" dirty="0"/>
          </a:p>
          <a:p>
            <a:pPr lvl="3">
              <a:lnSpc>
                <a:spcPct val="110000"/>
              </a:lnSpc>
              <a:spcBef>
                <a:spcPts val="1000"/>
              </a:spcBef>
            </a:pPr>
            <a:r>
              <a:rPr lang="zh-CN" altLang="en-US" dirty="0"/>
              <a:t>列出左边表中所有的元组 </a:t>
            </a:r>
            <a:endParaRPr lang="zh-CN" altLang="en-US" dirty="0"/>
          </a:p>
          <a:p>
            <a:pPr lvl="2">
              <a:lnSpc>
                <a:spcPct val="110000"/>
              </a:lnSpc>
              <a:spcBef>
                <a:spcPts val="1000"/>
              </a:spcBef>
            </a:pPr>
            <a:r>
              <a:rPr lang="zh-CN" altLang="en-US" dirty="0"/>
              <a:t> 右外连接</a:t>
            </a:r>
            <a:endParaRPr lang="zh-CN" altLang="en-US" dirty="0"/>
          </a:p>
          <a:p>
            <a:pPr lvl="3">
              <a:lnSpc>
                <a:spcPct val="110000"/>
              </a:lnSpc>
              <a:spcBef>
                <a:spcPts val="1000"/>
              </a:spcBef>
            </a:pPr>
            <a:r>
              <a:rPr lang="zh-CN" altLang="en-US" dirty="0"/>
              <a:t>列出右边表中所有的元组 </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dirty="0"/>
              <a:t>外连接 </a:t>
            </a:r>
            <a:r>
              <a:rPr lang="en-US" altLang="zh-CN" dirty="0"/>
              <a:t>2</a:t>
            </a:r>
            <a:endParaRPr lang="zh-CN" altLang="en-US" dirty="0"/>
          </a:p>
        </p:txBody>
      </p:sp>
      <p:sp>
        <p:nvSpPr>
          <p:cNvPr id="23555" name="Rectangle 3"/>
          <p:cNvSpPr>
            <a:spLocks noGrp="1" noChangeArrowheads="1"/>
          </p:cNvSpPr>
          <p:nvPr>
            <p:ph idx="1"/>
          </p:nvPr>
        </p:nvSpPr>
        <p:spPr/>
        <p:txBody>
          <a:bodyPr>
            <a:normAutofit/>
          </a:bodyPr>
          <a:lstStyle/>
          <a:p>
            <a:r>
              <a:rPr lang="en-US" altLang="zh-CN" dirty="0"/>
              <a:t>[</a:t>
            </a:r>
            <a:r>
              <a:rPr lang="zh-CN" altLang="en-US" dirty="0"/>
              <a:t>例</a:t>
            </a:r>
            <a:r>
              <a:rPr lang="en-US" altLang="zh-CN" dirty="0"/>
              <a:t>3.53] </a:t>
            </a:r>
            <a:r>
              <a:rPr lang="zh-CN" altLang="en-US" dirty="0"/>
              <a:t>用外连接改写</a:t>
            </a:r>
            <a:r>
              <a:rPr lang="en-US" altLang="zh-CN" dirty="0"/>
              <a:t> </a:t>
            </a:r>
            <a:r>
              <a:rPr lang="en-US" altLang="zh-CN" dirty="0">
                <a:cs typeface="Calibri" panose="020F0502020204030204" charset="0"/>
                <a:sym typeface="+mn-ea"/>
              </a:rPr>
              <a:t>“[</a:t>
            </a:r>
            <a:r>
              <a:rPr lang="zh-CN" altLang="en-US" dirty="0">
                <a:cs typeface="Calibri" panose="020F0502020204030204" charset="0"/>
                <a:sym typeface="+mn-ea"/>
              </a:rPr>
              <a:t>例</a:t>
            </a:r>
            <a:r>
              <a:rPr lang="en-US" altLang="zh-CN" dirty="0">
                <a:cs typeface="Calibri" panose="020F0502020204030204" charset="0"/>
                <a:sym typeface="+mn-ea"/>
              </a:rPr>
              <a:t>3.49]</a:t>
            </a:r>
            <a:r>
              <a:rPr lang="zh-CN" altLang="en-US" dirty="0">
                <a:cs typeface="Calibri" panose="020F0502020204030204" charset="0"/>
                <a:sym typeface="+mn-ea"/>
              </a:rPr>
              <a:t>查询每个学生及其选修课程的情况</a:t>
            </a:r>
            <a:r>
              <a:rPr lang="en-US" altLang="zh-CN" dirty="0">
                <a:cs typeface="Calibri" panose="020F0502020204030204" charset="0"/>
                <a:sym typeface="+mn-ea"/>
              </a:rPr>
              <a:t>”</a:t>
            </a:r>
            <a:endParaRPr lang="en-US" altLang="zh-CN" dirty="0"/>
          </a:p>
          <a:p>
            <a:pPr marL="821055" lvl="2" indent="0">
              <a:lnSpc>
                <a:spcPct val="100000"/>
              </a:lnSpc>
              <a:spcBef>
                <a:spcPts val="1000"/>
              </a:spcBef>
              <a:buNone/>
            </a:pPr>
            <a:r>
              <a:rPr lang="en-US" altLang="zh-CN" dirty="0">
                <a:solidFill>
                  <a:srgbClr val="FF0000"/>
                </a:solidFill>
              </a:rPr>
              <a:t>SELECT </a:t>
            </a:r>
            <a:r>
              <a:rPr lang="en-US" altLang="zh-CN" dirty="0" err="1">
                <a:solidFill>
                  <a:srgbClr val="FF0000"/>
                </a:solidFill>
              </a:rPr>
              <a:t>Student.Sno,Sname,Ssex,Sage,Sdept,Cno,Grade</a:t>
            </a:r>
            <a:endParaRPr lang="en-US" altLang="zh-CN" dirty="0">
              <a:solidFill>
                <a:srgbClr val="FF0000"/>
              </a:solidFill>
            </a:endParaRPr>
          </a:p>
          <a:p>
            <a:pPr marL="821055" lvl="2" indent="0">
              <a:buNone/>
            </a:pPr>
            <a:r>
              <a:rPr lang="en-US" altLang="zh-CN" dirty="0">
                <a:solidFill>
                  <a:srgbClr val="FF0000"/>
                </a:solidFill>
              </a:rPr>
              <a:t>FROM  Student  LEFT OUTER JOIN SC ON </a:t>
            </a:r>
            <a:r>
              <a:rPr lang="zh-CN" altLang="en-US" dirty="0">
                <a:solidFill>
                  <a:srgbClr val="FF0000"/>
                </a:solidFill>
              </a:rPr>
              <a:t>(</a:t>
            </a:r>
            <a:r>
              <a:rPr lang="en-US" altLang="zh-CN" dirty="0" err="1">
                <a:solidFill>
                  <a:srgbClr val="FF0000"/>
                </a:solidFill>
              </a:rPr>
              <a:t>Student.Sno</a:t>
            </a:r>
            <a:r>
              <a:rPr lang="en-US" altLang="zh-CN" dirty="0">
                <a:solidFill>
                  <a:srgbClr val="FF0000"/>
                </a:solidFill>
              </a:rPr>
              <a:t>=</a:t>
            </a:r>
            <a:r>
              <a:rPr lang="en-US" altLang="zh-CN" dirty="0" err="1">
                <a:solidFill>
                  <a:srgbClr val="FF0000"/>
                </a:solidFill>
              </a:rPr>
              <a:t>SC.Sno</a:t>
            </a:r>
            <a:r>
              <a:rPr lang="zh-CN" altLang="en-US" dirty="0">
                <a:solidFill>
                  <a:srgbClr val="FF0000"/>
                </a:solidFill>
              </a:rPr>
              <a:t>);</a:t>
            </a:r>
            <a:r>
              <a:rPr lang="zh-CN" altLang="en-US" dirty="0"/>
              <a:t> </a:t>
            </a:r>
            <a:endParaRPr lang="zh-CN" altLang="en-US" dirty="0"/>
          </a:p>
        </p:txBody>
      </p:sp>
      <p:graphicFrame>
        <p:nvGraphicFramePr>
          <p:cNvPr id="8" name="表格 5"/>
          <p:cNvGraphicFramePr/>
          <p:nvPr>
            <p:custDataLst>
              <p:tags r:id="rId1"/>
            </p:custDataLst>
          </p:nvPr>
        </p:nvGraphicFramePr>
        <p:xfrm>
          <a:off x="1203960" y="2446020"/>
          <a:ext cx="9189085" cy="3901440"/>
        </p:xfrm>
        <a:graphic>
          <a:graphicData uri="http://schemas.openxmlformats.org/drawingml/2006/table">
            <a:tbl>
              <a:tblPr firstRow="1" bandRow="1">
                <a:tableStyleId>{5C22544A-7EE6-4342-B048-85BDC9FD1C3A}</a:tableStyleId>
              </a:tblPr>
              <a:tblGrid>
                <a:gridCol w="2049145"/>
                <a:gridCol w="1282065"/>
                <a:gridCol w="949960"/>
                <a:gridCol w="986790"/>
                <a:gridCol w="1134110"/>
                <a:gridCol w="1249045"/>
                <a:gridCol w="1537970"/>
              </a:tblGrid>
              <a:tr h="48768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rPr>
                        <a:t>Student.Sno</a:t>
                      </a:r>
                      <a:endParaRPr kumimoji="0" lang="en-US" altLang="zh-CN" sz="24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Sname</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Ssex</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Sage</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Sdept</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Cno</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Grade</a:t>
                      </a:r>
                      <a:endParaRPr kumimoji="0" lang="en-US" altLang="zh-CN" sz="24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r>
              <a:tr h="48768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rPr>
                        <a:t>李勇</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lnT w="19050" cmpd="sng">
                      <a:solidFill>
                        <a:schemeClr val="tx1"/>
                      </a:solidFill>
                      <a:prstDash val="solid"/>
                    </a:lnT>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rPr>
                        <a:t>男</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lnT w="19050" cmpd="sng">
                      <a:solidFill>
                        <a:schemeClr val="tx1"/>
                      </a:solidFill>
                      <a:prstDash val="solid"/>
                    </a:lnT>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20</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1</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92</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lnT w="19050" cmpd="sng">
                      <a:solidFill>
                        <a:schemeClr val="tx1"/>
                      </a:solidFill>
                      <a:prstDash val="solid"/>
                    </a:lnT>
                  </a:tcPr>
                </a:tc>
              </a:tr>
              <a:tr h="48768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李勇</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rPr>
                        <a:t>男</a:t>
                      </a:r>
                      <a:endParaRPr kumimoji="0" lang="zh-CN" altLang="en-US" sz="24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20</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85</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r>
              <a:tr h="48768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李勇</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男</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3</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88</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r>
              <a:tr h="48768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201215122</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刘晨</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女</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19</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90</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r>
              <a:tr h="48768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201215122</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刘晨</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rPr>
                        <a:t>女</a:t>
                      </a:r>
                      <a:endParaRPr kumimoji="0" lang="zh-CN" altLang="en-US" sz="24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19</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3</a:t>
                      </a:r>
                      <a:endParaRPr kumimoji="0" lang="en-US" altLang="zh-CN" sz="24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rPr>
                        <a:t>80</a:t>
                      </a:r>
                      <a:endParaRPr kumimoji="0" lang="en-US" altLang="zh-CN" sz="2400" b="1" i="0" u="none" strike="noStrike" cap="none" normalizeH="0" baseline="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horzOverflow="overflow"/>
                </a:tc>
              </a:tr>
              <a:tr h="48768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rPr>
                        <a:t>201215123</a:t>
                      </a:r>
                      <a:endPar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dirty="0">
                          <a:ln>
                            <a:noFill/>
                          </a:ln>
                          <a:solidFill>
                            <a:schemeClr val="tx1"/>
                          </a:solidFill>
                          <a:effectLst/>
                          <a:latin typeface="楷体" charset="-122"/>
                          <a:ea typeface="楷体" charset="-122"/>
                          <a:cs typeface="Times New Roman" panose="02020503050405090304" pitchFamily="2" charset="0"/>
                        </a:rPr>
                        <a:t>王敏</a:t>
                      </a:r>
                      <a:endParaRPr kumimoji="0" lang="zh-CN" altLang="en-US" sz="2400" b="1" i="0" u="none" strike="noStrike" cap="none" normalizeH="0" baseline="0" dirty="0">
                        <a:ln>
                          <a:noFill/>
                        </a:ln>
                        <a:solidFill>
                          <a:schemeClr val="tx1"/>
                        </a:solidFill>
                        <a:effectLst/>
                        <a:latin typeface="楷体" charset="-122"/>
                        <a:ea typeface="楷体" charset="-122"/>
                        <a:cs typeface="Times New Roman" panose="02020503050405090304" pitchFamily="2" charset="0"/>
                      </a:endParaRPr>
                    </a:p>
                  </a:txBody>
                  <a:tcPr horzOverflow="overflow">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dirty="0">
                          <a:ln>
                            <a:noFill/>
                          </a:ln>
                          <a:solidFill>
                            <a:schemeClr val="tx1"/>
                          </a:solidFill>
                          <a:effectLst/>
                          <a:latin typeface="楷体" charset="-122"/>
                          <a:ea typeface="楷体" charset="-122"/>
                          <a:cs typeface="Times New Roman" panose="02020503050405090304" pitchFamily="2" charset="0"/>
                        </a:rPr>
                        <a:t>女</a:t>
                      </a:r>
                      <a:endParaRPr kumimoji="0" lang="zh-CN" altLang="en-US" sz="2400" b="1" i="0" u="none" strike="noStrike" cap="none" normalizeH="0" baseline="0" dirty="0">
                        <a:ln>
                          <a:noFill/>
                        </a:ln>
                        <a:solidFill>
                          <a:schemeClr val="tx1"/>
                        </a:solidFill>
                        <a:effectLst/>
                        <a:latin typeface="楷体" charset="-122"/>
                        <a:ea typeface="楷体" charset="-122"/>
                        <a:cs typeface="Times New Roman" panose="02020503050405090304" pitchFamily="2" charset="0"/>
                      </a:endParaRPr>
                    </a:p>
                  </a:txBody>
                  <a:tcPr horzOverflow="overflow">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rPr>
                        <a:t>18</a:t>
                      </a:r>
                      <a:endPar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chemeClr val="tx1"/>
                          </a:solidFill>
                          <a:effectLst/>
                          <a:latin typeface="Times New Roman" panose="02020503050405090304" pitchFamily="2" charset="0"/>
                          <a:ea typeface="宋体" pitchFamily="2" charset="-122"/>
                          <a:cs typeface="Times New Roman" panose="02020503050405090304" pitchFamily="2" charset="0"/>
                        </a:rPr>
                        <a:t>MA</a:t>
                      </a:r>
                      <a:endParaRPr kumimoji="0" lang="en-US" altLang="zh-CN" sz="2400" b="1" i="0" u="none" strike="noStrike" cap="none" normalizeH="0" baseline="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rPr>
                        <a:t>NULL</a:t>
                      </a:r>
                      <a:endPar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rPr>
                        <a:t>NULL</a:t>
                      </a:r>
                      <a:endPar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solidFill>
                      <a:schemeClr val="bg2">
                        <a:lumMod val="75000"/>
                        <a:alpha val="70000"/>
                      </a:schemeClr>
                    </a:solidFill>
                  </a:tcPr>
                </a:tc>
              </a:tr>
              <a:tr h="48768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a:ln>
                            <a:noFill/>
                          </a:ln>
                          <a:solidFill>
                            <a:schemeClr val="tx1"/>
                          </a:solidFill>
                          <a:effectLst/>
                          <a:latin typeface="Times New Roman" panose="02020503050405090304" pitchFamily="2" charset="0"/>
                          <a:ea typeface="宋体" pitchFamily="2" charset="-122"/>
                          <a:cs typeface="Times New Roman" panose="02020503050405090304" pitchFamily="2" charset="0"/>
                        </a:rPr>
                        <a:t>201215125</a:t>
                      </a:r>
                      <a:endParaRPr kumimoji="0" lang="en-US" altLang="zh-CN" sz="2400" b="1" i="0" u="none" strike="noStrike" cap="none" normalizeH="0" baseline="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lnB w="19050" cmpd="sng">
                      <a:solidFill>
                        <a:schemeClr val="tx1"/>
                      </a:solidFill>
                      <a:prstDash val="solid"/>
                    </a:lnB>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dirty="0">
                          <a:ln>
                            <a:noFill/>
                          </a:ln>
                          <a:solidFill>
                            <a:schemeClr val="tx1"/>
                          </a:solidFill>
                          <a:effectLst/>
                          <a:latin typeface="楷体" charset="-122"/>
                          <a:ea typeface="楷体" charset="-122"/>
                          <a:cs typeface="Times New Roman" panose="02020503050405090304" pitchFamily="2" charset="0"/>
                        </a:rPr>
                        <a:t>张立</a:t>
                      </a:r>
                      <a:endParaRPr kumimoji="0" lang="zh-CN" altLang="en-US" sz="2400" b="1" i="0" u="none" strike="noStrike" cap="none" normalizeH="0" baseline="0" dirty="0">
                        <a:ln>
                          <a:noFill/>
                        </a:ln>
                        <a:solidFill>
                          <a:schemeClr val="tx1"/>
                        </a:solidFill>
                        <a:effectLst/>
                        <a:latin typeface="楷体" charset="-122"/>
                        <a:ea typeface="楷体" charset="-122"/>
                        <a:cs typeface="Times New Roman" panose="02020503050405090304" pitchFamily="2" charset="0"/>
                      </a:endParaRPr>
                    </a:p>
                  </a:txBody>
                  <a:tcPr horzOverflow="overflow">
                    <a:lnB w="19050" cmpd="sng">
                      <a:solidFill>
                        <a:schemeClr val="tx1"/>
                      </a:solidFill>
                      <a:prstDash val="solid"/>
                    </a:lnB>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400" b="1" i="0" u="none" strike="noStrike" cap="none" normalizeH="0" baseline="0">
                          <a:ln>
                            <a:noFill/>
                          </a:ln>
                          <a:solidFill>
                            <a:schemeClr val="tx1"/>
                          </a:solidFill>
                          <a:effectLst/>
                          <a:latin typeface="楷体" charset="-122"/>
                          <a:ea typeface="楷体" charset="-122"/>
                          <a:cs typeface="Times New Roman" panose="02020503050405090304" pitchFamily="2" charset="0"/>
                        </a:rPr>
                        <a:t>男</a:t>
                      </a:r>
                      <a:endParaRPr kumimoji="0" lang="zh-CN" altLang="en-US" sz="2400" b="1" i="0" u="none" strike="noStrike" cap="none" normalizeH="0" baseline="0">
                        <a:ln>
                          <a:noFill/>
                        </a:ln>
                        <a:solidFill>
                          <a:schemeClr val="tx1"/>
                        </a:solidFill>
                        <a:effectLst/>
                        <a:latin typeface="楷体" charset="-122"/>
                        <a:ea typeface="楷体" charset="-122"/>
                        <a:cs typeface="Times New Roman" panose="02020503050405090304" pitchFamily="2" charset="0"/>
                      </a:endParaRPr>
                    </a:p>
                  </a:txBody>
                  <a:tcPr horzOverflow="overflow">
                    <a:lnB w="19050" cmpd="sng">
                      <a:solidFill>
                        <a:schemeClr val="tx1"/>
                      </a:solidFill>
                      <a:prstDash val="solid"/>
                    </a:lnB>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rPr>
                        <a:t>19</a:t>
                      </a:r>
                      <a:endPar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lnB w="19050" cmpd="sng">
                      <a:solidFill>
                        <a:schemeClr val="tx1"/>
                      </a:solidFill>
                      <a:prstDash val="solid"/>
                    </a:lnB>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rPr>
                        <a:t>IS</a:t>
                      </a:r>
                      <a:endPar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lnB w="19050" cmpd="sng">
                      <a:solidFill>
                        <a:schemeClr val="tx1"/>
                      </a:solidFill>
                      <a:prstDash val="solid"/>
                    </a:lnB>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rPr>
                        <a:t>NULL</a:t>
                      </a:r>
                      <a:endPar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lnB w="19050" cmpd="sng">
                      <a:solidFill>
                        <a:schemeClr val="tx1"/>
                      </a:solidFill>
                      <a:prstDash val="solid"/>
                    </a:lnB>
                    <a:solidFill>
                      <a:schemeClr val="bg2">
                        <a:lumMod val="75000"/>
                        <a:alpha val="70000"/>
                      </a:schemeClr>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90204" pitchFamily="34" charset="0"/>
                          <a:ea typeface="宋体"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90204" pitchFamily="34" charset="0"/>
                          <a:ea typeface="宋体" pitchFamily="2" charset="-122"/>
                        </a:defRPr>
                      </a:lvl2pPr>
                      <a:lvl3pPr marL="1143000" indent="-228600" eaLnBrk="0" hangingPunct="0">
                        <a:spcBef>
                          <a:spcPct val="20000"/>
                        </a:spcBef>
                        <a:defRPr b="1">
                          <a:solidFill>
                            <a:schemeClr val="tx1"/>
                          </a:solidFill>
                          <a:latin typeface="Arial" panose="020B0604020202090204" pitchFamily="34" charset="0"/>
                          <a:ea typeface="宋体" pitchFamily="2" charset="-122"/>
                        </a:defRPr>
                      </a:lvl3pPr>
                      <a:lvl4pPr marL="1600200" indent="-228600" eaLnBrk="0" hangingPunct="0">
                        <a:spcBef>
                          <a:spcPct val="20000"/>
                        </a:spcBef>
                        <a:defRPr b="1">
                          <a:solidFill>
                            <a:schemeClr val="tx1"/>
                          </a:solidFill>
                          <a:latin typeface="Arial" panose="020B0604020202090204" pitchFamily="34" charset="0"/>
                          <a:ea typeface="宋体" pitchFamily="2" charset="-122"/>
                        </a:defRPr>
                      </a:lvl4pPr>
                      <a:lvl5pPr marL="2057400" indent="-228600" eaLnBrk="0" hangingPunct="0">
                        <a:spcBef>
                          <a:spcPct val="20000"/>
                        </a:spcBef>
                        <a:defRPr b="1">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Font typeface="Arial" panose="020B0604020202090204" pitchFamily="34" charset="0"/>
                        <a:defRPr b="1">
                          <a:solidFill>
                            <a:schemeClr val="tx1"/>
                          </a:solidFill>
                          <a:latin typeface="Arial" panose="020B060402020209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rPr>
                        <a:t>NULL</a:t>
                      </a:r>
                      <a:endParaRPr kumimoji="0" lang="en-US" altLang="zh-CN" sz="2400" b="1" i="0" u="none" strike="noStrike" cap="none" normalizeH="0" baseline="0" dirty="0">
                        <a:ln>
                          <a:noFill/>
                        </a:ln>
                        <a:solidFill>
                          <a:schemeClr val="tx1"/>
                        </a:solidFill>
                        <a:effectLst/>
                        <a:latin typeface="Times New Roman" panose="02020503050405090304" pitchFamily="2" charset="0"/>
                        <a:ea typeface="宋体" pitchFamily="2" charset="-122"/>
                        <a:cs typeface="Times New Roman" panose="02020503050405090304" pitchFamily="2" charset="0"/>
                      </a:endParaRPr>
                    </a:p>
                  </a:txBody>
                  <a:tcPr horzOverflow="overflow">
                    <a:lnB w="19050" cmpd="sng">
                      <a:solidFill>
                        <a:schemeClr val="tx1"/>
                      </a:solidFill>
                      <a:prstDash val="solid"/>
                    </a:lnB>
                    <a:solidFill>
                      <a:schemeClr val="bg2">
                        <a:lumMod val="75000"/>
                        <a:alpha val="70000"/>
                      </a:schemeClr>
                    </a:solidFill>
                  </a:tcPr>
                </a:tc>
              </a:tr>
            </a:tbl>
          </a:graphicData>
        </a:graphic>
      </p:graphicFrame>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7" dur="500"/>
                                        <p:tgtEl>
                                          <p:spTgt spid="2355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0" dur="500"/>
                                        <p:tgtEl>
                                          <p:spTgt spid="2355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dirty="0"/>
              <a:t>多表连接</a:t>
            </a:r>
            <a:endParaRPr lang="zh-CN" altLang="en-US" dirty="0"/>
          </a:p>
        </p:txBody>
      </p:sp>
      <p:sp>
        <p:nvSpPr>
          <p:cNvPr id="26627" name="Rectangle 3"/>
          <p:cNvSpPr>
            <a:spLocks noGrp="1" noChangeArrowheads="1"/>
          </p:cNvSpPr>
          <p:nvPr>
            <p:ph idx="1"/>
          </p:nvPr>
        </p:nvSpPr>
        <p:spPr/>
        <p:txBody>
          <a:bodyPr>
            <a:normAutofit/>
          </a:bodyPr>
          <a:lstStyle/>
          <a:p>
            <a:r>
              <a:rPr lang="zh-CN" altLang="en-US" dirty="0">
                <a:solidFill>
                  <a:srgbClr val="FF0000"/>
                </a:solidFill>
                <a:highlight>
                  <a:srgbClr val="FFFF00"/>
                </a:highlight>
              </a:rPr>
              <a:t>多表连接</a:t>
            </a:r>
            <a:r>
              <a:rPr lang="zh-CN" altLang="en-US" dirty="0">
                <a:highlight>
                  <a:srgbClr val="FFFF00"/>
                </a:highlight>
              </a:rPr>
              <a:t>：两个以上的表进行连接</a:t>
            </a:r>
            <a:endParaRPr lang="zh-CN" altLang="en-US" dirty="0"/>
          </a:p>
          <a:p>
            <a:pPr>
              <a:lnSpc>
                <a:spcPct val="110000"/>
              </a:lnSpc>
              <a:spcBef>
                <a:spcPts val="3000"/>
              </a:spcBef>
            </a:pPr>
            <a:r>
              <a:rPr lang="en-US" altLang="zh-CN" dirty="0"/>
              <a:t>[</a:t>
            </a:r>
            <a:r>
              <a:rPr lang="zh-CN" altLang="en-US" dirty="0"/>
              <a:t>例</a:t>
            </a:r>
            <a:r>
              <a:rPr lang="en-US" altLang="zh-CN" dirty="0"/>
              <a:t>3.54]</a:t>
            </a:r>
            <a:r>
              <a:rPr lang="zh-CN" altLang="en-US" dirty="0"/>
              <a:t>查询每个学生的学号、姓名、选修的课程名及成绩</a:t>
            </a:r>
            <a:endParaRPr lang="zh-CN" altLang="en-US" dirty="0"/>
          </a:p>
          <a:p>
            <a:pPr marL="821055" lvl="2" indent="0">
              <a:lnSpc>
                <a:spcPct val="110000"/>
              </a:lnSpc>
              <a:spcBef>
                <a:spcPts val="2000"/>
              </a:spcBef>
              <a:buNone/>
            </a:pPr>
            <a:r>
              <a:rPr lang="en-US" altLang="zh-CN" sz="2800" b="1" dirty="0">
                <a:solidFill>
                  <a:srgbClr val="FF0000"/>
                </a:solidFill>
                <a:ea typeface="楷体" charset="-122"/>
                <a:cs typeface="Arial" panose="020B0604020202090204" pitchFamily="34" charset="0"/>
              </a:rPr>
              <a:t>SELECT </a:t>
            </a:r>
            <a:r>
              <a:rPr lang="en-US" altLang="zh-CN" sz="2800" b="1" dirty="0" err="1">
                <a:solidFill>
                  <a:srgbClr val="FF0000"/>
                </a:solidFill>
                <a:ea typeface="楷体" charset="-122"/>
                <a:cs typeface="Arial" panose="020B0604020202090204" pitchFamily="34" charset="0"/>
              </a:rPr>
              <a:t>Student.Sno</a:t>
            </a:r>
            <a:r>
              <a:rPr lang="zh-CN" altLang="en-US" sz="2800" b="1" dirty="0">
                <a:solidFill>
                  <a:srgbClr val="FF0000"/>
                </a:solidFill>
                <a:ea typeface="楷体" charset="-122"/>
                <a:cs typeface="Arial" panose="020B0604020202090204" pitchFamily="34" charset="0"/>
              </a:rPr>
              <a:t>, </a:t>
            </a:r>
            <a:r>
              <a:rPr lang="en-US" altLang="zh-CN" sz="2800" b="1" dirty="0" err="1">
                <a:solidFill>
                  <a:srgbClr val="FF0000"/>
                </a:solidFill>
                <a:ea typeface="楷体" charset="-122"/>
                <a:cs typeface="Arial" panose="020B0604020202090204" pitchFamily="34" charset="0"/>
              </a:rPr>
              <a:t>Sname</a:t>
            </a:r>
            <a:r>
              <a:rPr lang="zh-CN" altLang="en-US" sz="2800" b="1" dirty="0">
                <a:solidFill>
                  <a:srgbClr val="FF0000"/>
                </a:solidFill>
                <a:ea typeface="楷体" charset="-122"/>
                <a:cs typeface="Arial" panose="020B0604020202090204" pitchFamily="34" charset="0"/>
              </a:rPr>
              <a:t>, </a:t>
            </a:r>
            <a:r>
              <a:rPr lang="en-US" altLang="zh-CN" sz="2800" b="1" dirty="0" err="1">
                <a:solidFill>
                  <a:srgbClr val="FF0000"/>
                </a:solidFill>
                <a:ea typeface="楷体" charset="-122"/>
                <a:cs typeface="Arial" panose="020B0604020202090204" pitchFamily="34" charset="0"/>
              </a:rPr>
              <a:t>Cname</a:t>
            </a:r>
            <a:r>
              <a:rPr lang="zh-CN" altLang="en-US" sz="2800" b="1" dirty="0">
                <a:solidFill>
                  <a:srgbClr val="FF0000"/>
                </a:solidFill>
                <a:ea typeface="楷体" charset="-122"/>
                <a:cs typeface="Arial" panose="020B0604020202090204" pitchFamily="34" charset="0"/>
              </a:rPr>
              <a:t>, </a:t>
            </a:r>
            <a:r>
              <a:rPr lang="en-US" altLang="zh-CN" sz="2800" b="1" dirty="0">
                <a:solidFill>
                  <a:srgbClr val="FF0000"/>
                </a:solidFill>
                <a:ea typeface="楷体" charset="-122"/>
                <a:cs typeface="Arial" panose="020B0604020202090204" pitchFamily="34" charset="0"/>
              </a:rPr>
              <a:t>Grade</a:t>
            </a:r>
            <a:endParaRPr lang="en-US" altLang="zh-CN" sz="2800" b="1" dirty="0">
              <a:solidFill>
                <a:srgbClr val="FF0000"/>
              </a:solidFill>
              <a:ea typeface="楷体" charset="-122"/>
              <a:cs typeface="Arial" panose="020B0604020202090204" pitchFamily="34" charset="0"/>
            </a:endParaRPr>
          </a:p>
          <a:p>
            <a:pPr marL="821055" lvl="2" indent="0">
              <a:buNone/>
            </a:pPr>
            <a:r>
              <a:rPr lang="en-US" altLang="zh-CN" sz="2800" b="1" dirty="0">
                <a:solidFill>
                  <a:srgbClr val="FF0000"/>
                </a:solidFill>
                <a:ea typeface="楷体" charset="-122"/>
                <a:cs typeface="Arial" panose="020B0604020202090204" pitchFamily="34" charset="0"/>
              </a:rPr>
              <a:t>FROM    Student</a:t>
            </a:r>
            <a:r>
              <a:rPr lang="zh-CN" altLang="en-US" sz="2800" b="1" dirty="0">
                <a:solidFill>
                  <a:srgbClr val="FF0000"/>
                </a:solidFill>
                <a:ea typeface="楷体" charset="-122"/>
                <a:cs typeface="Arial" panose="020B0604020202090204" pitchFamily="34" charset="0"/>
              </a:rPr>
              <a:t>, </a:t>
            </a:r>
            <a:r>
              <a:rPr lang="en-US" altLang="zh-CN" sz="2800" b="1" dirty="0">
                <a:solidFill>
                  <a:srgbClr val="FF0000"/>
                </a:solidFill>
                <a:ea typeface="楷体" charset="-122"/>
                <a:cs typeface="Arial" panose="020B0604020202090204" pitchFamily="34" charset="0"/>
              </a:rPr>
              <a:t>SC</a:t>
            </a:r>
            <a:r>
              <a:rPr lang="zh-CN" altLang="en-US" sz="2800" b="1" dirty="0">
                <a:solidFill>
                  <a:srgbClr val="FF0000"/>
                </a:solidFill>
                <a:ea typeface="楷体" charset="-122"/>
                <a:cs typeface="Arial" panose="020B0604020202090204" pitchFamily="34" charset="0"/>
              </a:rPr>
              <a:t>, </a:t>
            </a:r>
            <a:r>
              <a:rPr lang="en-US" altLang="zh-CN" sz="2800" b="1" dirty="0">
                <a:solidFill>
                  <a:srgbClr val="FF0000"/>
                </a:solidFill>
                <a:ea typeface="楷体" charset="-122"/>
                <a:cs typeface="Arial" panose="020B0604020202090204" pitchFamily="34" charset="0"/>
              </a:rPr>
              <a:t>Course    </a:t>
            </a:r>
            <a:r>
              <a:rPr lang="en-US" altLang="zh-CN" sz="2800" b="1" dirty="0">
                <a:solidFill>
                  <a:srgbClr val="0000C8"/>
                </a:solidFill>
                <a:ea typeface="楷体" charset="-122"/>
                <a:cs typeface="Arial" panose="020B0604020202090204" pitchFamily="34" charset="0"/>
              </a:rPr>
              <a:t>/*</a:t>
            </a:r>
            <a:r>
              <a:rPr lang="zh-CN" altLang="en-US" sz="2800" b="1" dirty="0">
                <a:solidFill>
                  <a:srgbClr val="0000C8"/>
                </a:solidFill>
                <a:ea typeface="楷体" charset="-122"/>
                <a:cs typeface="Arial" panose="020B0604020202090204" pitchFamily="34" charset="0"/>
              </a:rPr>
              <a:t>多表连接*</a:t>
            </a:r>
            <a:r>
              <a:rPr lang="en-US" altLang="zh-CN" sz="2800" b="1" dirty="0">
                <a:solidFill>
                  <a:srgbClr val="0000C8"/>
                </a:solidFill>
                <a:ea typeface="楷体" charset="-122"/>
                <a:cs typeface="Arial" panose="020B0604020202090204" pitchFamily="34" charset="0"/>
              </a:rPr>
              <a:t>/</a:t>
            </a:r>
            <a:endParaRPr lang="en-US" altLang="zh-CN" sz="2800" b="1" dirty="0">
              <a:solidFill>
                <a:srgbClr val="0000C8"/>
              </a:solidFill>
              <a:ea typeface="楷体" charset="-122"/>
              <a:cs typeface="Arial" panose="020B0604020202090204" pitchFamily="34" charset="0"/>
            </a:endParaRPr>
          </a:p>
          <a:p>
            <a:pPr marL="821055" lvl="2" indent="0">
              <a:buNone/>
            </a:pPr>
            <a:r>
              <a:rPr lang="en-US" altLang="zh-CN" sz="2800" b="1" dirty="0">
                <a:solidFill>
                  <a:srgbClr val="FF0000"/>
                </a:solidFill>
                <a:ea typeface="楷体" charset="-122"/>
                <a:cs typeface="Arial" panose="020B0604020202090204" pitchFamily="34" charset="0"/>
              </a:rPr>
              <a:t>WHERE </a:t>
            </a:r>
            <a:r>
              <a:rPr lang="en-US" altLang="zh-CN" sz="2800" b="1" dirty="0" err="1">
                <a:solidFill>
                  <a:srgbClr val="FF0000"/>
                </a:solidFill>
                <a:ea typeface="楷体" charset="-122"/>
                <a:cs typeface="Arial" panose="020B0604020202090204" pitchFamily="34" charset="0"/>
              </a:rPr>
              <a:t>Student.Sno</a:t>
            </a:r>
            <a:r>
              <a:rPr lang="en-US" altLang="zh-CN" sz="2800" b="1" dirty="0">
                <a:solidFill>
                  <a:srgbClr val="FF0000"/>
                </a:solidFill>
                <a:ea typeface="楷体" charset="-122"/>
                <a:cs typeface="Arial" panose="020B0604020202090204" pitchFamily="34" charset="0"/>
              </a:rPr>
              <a:t> = </a:t>
            </a:r>
            <a:r>
              <a:rPr lang="en-US" altLang="zh-CN" sz="2800" b="1" dirty="0" err="1">
                <a:solidFill>
                  <a:srgbClr val="FF0000"/>
                </a:solidFill>
                <a:ea typeface="楷体" charset="-122"/>
                <a:cs typeface="Arial" panose="020B0604020202090204" pitchFamily="34" charset="0"/>
              </a:rPr>
              <a:t>SC.Sno</a:t>
            </a:r>
            <a:r>
              <a:rPr lang="en-US" altLang="zh-CN" sz="2800" b="1" dirty="0">
                <a:solidFill>
                  <a:srgbClr val="FF0000"/>
                </a:solidFill>
                <a:ea typeface="楷体" charset="-122"/>
                <a:cs typeface="Arial" panose="020B0604020202090204" pitchFamily="34" charset="0"/>
              </a:rPr>
              <a:t> </a:t>
            </a:r>
            <a:endParaRPr lang="en-US" altLang="zh-CN" sz="2800" b="1" dirty="0">
              <a:solidFill>
                <a:srgbClr val="FF0000"/>
              </a:solidFill>
              <a:ea typeface="楷体" charset="-122"/>
              <a:cs typeface="Arial" panose="020B0604020202090204" pitchFamily="34" charset="0"/>
            </a:endParaRPr>
          </a:p>
          <a:p>
            <a:pPr marL="2192655" lvl="5" indent="0">
              <a:buNone/>
            </a:pPr>
            <a:r>
              <a:rPr lang="en-US" altLang="zh-CN" sz="2800" b="1" dirty="0">
                <a:solidFill>
                  <a:srgbClr val="FF0000"/>
                </a:solidFill>
                <a:ea typeface="楷体" charset="-122"/>
                <a:cs typeface="Arial" panose="020B0604020202090204" pitchFamily="34" charset="0"/>
              </a:rPr>
              <a:t>AND </a:t>
            </a:r>
            <a:r>
              <a:rPr lang="en-US" altLang="zh-CN" sz="2800" b="1" dirty="0" err="1">
                <a:solidFill>
                  <a:srgbClr val="FF0000"/>
                </a:solidFill>
                <a:ea typeface="楷体" charset="-122"/>
                <a:cs typeface="Arial" panose="020B0604020202090204" pitchFamily="34" charset="0"/>
              </a:rPr>
              <a:t>SC.Cno</a:t>
            </a:r>
            <a:r>
              <a:rPr lang="en-US" altLang="zh-CN" sz="2800" b="1" dirty="0">
                <a:solidFill>
                  <a:srgbClr val="FF0000"/>
                </a:solidFill>
                <a:ea typeface="楷体" charset="-122"/>
                <a:cs typeface="Arial" panose="020B0604020202090204" pitchFamily="34" charset="0"/>
              </a:rPr>
              <a:t> = </a:t>
            </a:r>
            <a:r>
              <a:rPr lang="en-US" altLang="zh-CN" sz="2800" b="1" dirty="0" err="1">
                <a:solidFill>
                  <a:srgbClr val="FF0000"/>
                </a:solidFill>
                <a:ea typeface="楷体" charset="-122"/>
                <a:cs typeface="Arial" panose="020B0604020202090204" pitchFamily="34" charset="0"/>
              </a:rPr>
              <a:t>Course.Cno</a:t>
            </a:r>
            <a:r>
              <a:rPr lang="zh-CN" altLang="en-US" sz="2800" b="1" dirty="0">
                <a:solidFill>
                  <a:srgbClr val="FF0000"/>
                </a:solidFill>
                <a:ea typeface="楷体" charset="-122"/>
                <a:cs typeface="Arial" panose="020B0604020202090204" pitchFamily="34" charset="0"/>
              </a:rPr>
              <a:t>;</a:t>
            </a:r>
            <a:endParaRPr lang="zh-CN" altLang="en-US" sz="2800" b="1" dirty="0">
              <a:solidFill>
                <a:srgbClr val="FF0000"/>
              </a:solidFill>
              <a:ea typeface="楷体" charset="-122"/>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7" dur="500"/>
                                        <p:tgtEl>
                                          <p:spTgt spid="266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627">
                                            <p:txEl>
                                              <p:pRg st="2" end="2"/>
                                            </p:txEl>
                                          </p:spTgt>
                                        </p:tgtEl>
                                        <p:attrNameLst>
                                          <p:attrName>style.visibility</p:attrName>
                                        </p:attrNameLst>
                                      </p:cBhvr>
                                      <p:to>
                                        <p:strVal val="visible"/>
                                      </p:to>
                                    </p:set>
                                    <p:anim calcmode="lin" valueType="num">
                                      <p:cBhvr additive="base">
                                        <p:cTn id="12"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627">
                                            <p:txEl>
                                              <p:pRg st="2" end="2"/>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6627">
                                            <p:txEl>
                                              <p:pRg st="3" end="3"/>
                                            </p:txEl>
                                          </p:spTgt>
                                        </p:tgtEl>
                                        <p:attrNameLst>
                                          <p:attrName>style.visibility</p:attrName>
                                        </p:attrNameLst>
                                      </p:cBhvr>
                                      <p:to>
                                        <p:strVal val="visible"/>
                                      </p:to>
                                    </p:set>
                                    <p:anim calcmode="lin" valueType="num">
                                      <p:cBhvr additive="base">
                                        <p:cTn id="16"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6627">
                                            <p:txEl>
                                              <p:pRg st="3" end="3"/>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6627">
                                            <p:txEl>
                                              <p:pRg st="4" end="4"/>
                                            </p:txEl>
                                          </p:spTgt>
                                        </p:tgtEl>
                                        <p:attrNameLst>
                                          <p:attrName>style.visibility</p:attrName>
                                        </p:attrNameLst>
                                      </p:cBhvr>
                                      <p:to>
                                        <p:strVal val="visible"/>
                                      </p:to>
                                    </p:set>
                                    <p:anim calcmode="lin" valueType="num">
                                      <p:cBhvr additive="base">
                                        <p:cTn id="20" dur="5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6627">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6627">
                                            <p:txEl>
                                              <p:pRg st="5" end="5"/>
                                            </p:txEl>
                                          </p:spTgt>
                                        </p:tgtEl>
                                        <p:attrNameLst>
                                          <p:attrName>style.visibility</p:attrName>
                                        </p:attrNameLst>
                                      </p:cBhvr>
                                      <p:to>
                                        <p:strVal val="visible"/>
                                      </p:to>
                                    </p:set>
                                    <p:anim calcmode="lin" valueType="num">
                                      <p:cBhvr additive="base">
                                        <p:cTn id="24" dur="500" fill="hold"/>
                                        <p:tgtEl>
                                          <p:spTgt spid="26627">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662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nchor="b" anchorCtr="0"/>
          <a:lstStyle/>
          <a:p>
            <a:pPr eaLnBrk="1" hangingPunct="1"/>
            <a:r>
              <a:rPr lang="zh-CN" altLang="en-US" dirty="0">
                <a:solidFill>
                  <a:srgbClr val="0000C8"/>
                </a:solidFill>
                <a:sym typeface="+mn-ea"/>
              </a:rPr>
              <a:t>（2025 春季）</a:t>
            </a:r>
            <a:endParaRPr lang="zh-CN" altLang="en-US" dirty="0">
              <a:solidFill>
                <a:srgbClr val="0000C8"/>
              </a:solidFill>
              <a:sym typeface="+mn-ea"/>
            </a:endParaRPr>
          </a:p>
        </p:txBody>
      </p:sp>
      <p:sp>
        <p:nvSpPr>
          <p:cNvPr id="3074" name="Rectangle 2"/>
          <p:cNvSpPr>
            <a:spLocks noGrp="1" noChangeArrowheads="1"/>
          </p:cNvSpPr>
          <p:nvPr>
            <p:ph type="ctrTitle" sz="quarter"/>
          </p:nvPr>
        </p:nvSpPr>
        <p:spPr/>
        <p:txBody>
          <a:bodyPr anchor="ctr" anchorCtr="0"/>
          <a:lstStyle/>
          <a:p>
            <a:pPr eaLnBrk="1" hangingPunct="1">
              <a:lnSpc>
                <a:spcPct val="150000"/>
              </a:lnSpc>
              <a:spcBef>
                <a:spcPts val="0"/>
              </a:spcBef>
              <a:spcAft>
                <a:spcPts val="0"/>
              </a:spcAft>
            </a:pPr>
            <a:r>
              <a:rPr lang="en-US" altLang="zh-CN" sz="3600" dirty="0">
                <a:solidFill>
                  <a:srgbClr val="0000C8"/>
                </a:solidFill>
              </a:rPr>
              <a:t>ch3.4.3  SQL</a:t>
            </a:r>
            <a:r>
              <a:rPr lang="zh-CN" altLang="en-US" sz="3600" dirty="0">
                <a:solidFill>
                  <a:srgbClr val="0000C8"/>
                </a:solidFill>
              </a:rPr>
              <a:t>数据查询</a:t>
            </a:r>
            <a:br>
              <a:rPr lang="zh-CN" altLang="en-US" sz="3600" dirty="0">
                <a:solidFill>
                  <a:srgbClr val="0000C8"/>
                </a:solidFill>
              </a:rPr>
            </a:br>
            <a:r>
              <a:rPr lang="zh-CN" altLang="en-US" sz="3600" dirty="0">
                <a:solidFill>
                  <a:srgbClr val="0000C8"/>
                </a:solidFill>
              </a:rPr>
              <a:t>（嵌套查询）</a:t>
            </a:r>
            <a:endParaRPr lang="zh-CN" altLang="en-US" sz="3600" dirty="0">
              <a:solidFill>
                <a:srgbClr val="0000C8"/>
              </a:solidFill>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dirty="0"/>
              <a:t>嵌套查询概述 </a:t>
            </a:r>
            <a:r>
              <a:rPr lang="en-US" altLang="zh-CN" dirty="0"/>
              <a:t>1</a:t>
            </a:r>
            <a:endParaRPr lang="zh-CN" altLang="en-US" dirty="0"/>
          </a:p>
        </p:txBody>
      </p:sp>
      <p:sp>
        <p:nvSpPr>
          <p:cNvPr id="28675" name="Rectangle 3"/>
          <p:cNvSpPr>
            <a:spLocks noGrp="1" noChangeArrowheads="1"/>
          </p:cNvSpPr>
          <p:nvPr>
            <p:ph idx="1"/>
          </p:nvPr>
        </p:nvSpPr>
        <p:spPr/>
        <p:txBody>
          <a:bodyPr>
            <a:noAutofit/>
          </a:bodyPr>
          <a:lstStyle/>
          <a:p>
            <a:r>
              <a:rPr lang="zh-CN" altLang="en-US" dirty="0"/>
              <a:t>一个</a:t>
            </a:r>
            <a:r>
              <a:rPr lang="en-US" altLang="zh-CN" dirty="0"/>
              <a:t> SELECT-FROM</a:t>
            </a:r>
            <a:r>
              <a:rPr lang="zh-CN" altLang="en-US" dirty="0"/>
              <a:t>语句</a:t>
            </a:r>
            <a:r>
              <a:rPr lang="en-US" altLang="zh-CN" dirty="0"/>
              <a:t> </a:t>
            </a:r>
            <a:r>
              <a:rPr lang="zh-CN" altLang="en-US" dirty="0"/>
              <a:t>称为一个</a:t>
            </a:r>
            <a:r>
              <a:rPr lang="en-US" altLang="zh-CN" dirty="0"/>
              <a:t> </a:t>
            </a:r>
            <a:r>
              <a:rPr lang="zh-CN" altLang="en-US" dirty="0">
                <a:solidFill>
                  <a:srgbClr val="C00000"/>
                </a:solidFill>
              </a:rPr>
              <a:t>查询块</a:t>
            </a:r>
            <a:endParaRPr lang="zh-CN" altLang="en-US" dirty="0"/>
          </a:p>
          <a:p>
            <a:r>
              <a:rPr lang="zh-CN" altLang="en-US" dirty="0"/>
              <a:t>将一个查询块嵌套在另一个查询块中的查询称为嵌套查询（一个查询块成为另一个查询块的组成</a:t>
            </a:r>
            <a:r>
              <a:rPr lang="zh-CN" altLang="en-US" dirty="0"/>
              <a:t>成分）</a:t>
            </a:r>
            <a:endParaRPr lang="en-US" altLang="zh-CN" dirty="0"/>
          </a:p>
          <a:p>
            <a:pPr marL="715645" lvl="2" indent="0">
              <a:lnSpc>
                <a:spcPct val="100000"/>
              </a:lnSpc>
              <a:spcBef>
                <a:spcPct val="0"/>
              </a:spcBef>
              <a:spcAft>
                <a:spcPct val="0"/>
              </a:spcAft>
              <a:buNone/>
            </a:pPr>
            <a:r>
              <a:rPr lang="en-US" altLang="zh-CN" sz="2800" b="1" dirty="0">
                <a:solidFill>
                  <a:srgbClr val="FF0000"/>
                </a:solidFill>
                <a:latin typeface="楷体" charset="-122"/>
                <a:ea typeface="楷体" charset="-122"/>
                <a:cs typeface="楷体" charset="-122"/>
              </a:rPr>
              <a:t>SELECT </a:t>
            </a:r>
            <a:r>
              <a:rPr lang="en-US" altLang="zh-CN" sz="2800" b="1" dirty="0" err="1">
                <a:solidFill>
                  <a:srgbClr val="FF0000"/>
                </a:solidFill>
                <a:latin typeface="楷体" charset="-122"/>
                <a:ea typeface="楷体" charset="-122"/>
                <a:cs typeface="楷体" charset="-122"/>
              </a:rPr>
              <a:t>Sname</a:t>
            </a:r>
            <a:r>
              <a:rPr lang="en-US" altLang="zh-CN" sz="2800" b="1" dirty="0">
                <a:solidFill>
                  <a:srgbClr val="0000C8"/>
                </a:solidFill>
                <a:latin typeface="楷体" charset="-122"/>
                <a:ea typeface="楷体" charset="-122"/>
                <a:cs typeface="楷体" charset="-122"/>
              </a:rPr>
              <a:t>	           /*</a:t>
            </a:r>
            <a:r>
              <a:rPr lang="zh-CN" altLang="en-US" sz="2800" b="1" dirty="0">
                <a:solidFill>
                  <a:srgbClr val="0000C8"/>
                </a:solidFill>
                <a:latin typeface="楷体" charset="-122"/>
                <a:ea typeface="楷体" charset="-122"/>
                <a:cs typeface="楷体" charset="-122"/>
              </a:rPr>
              <a:t>外层查询</a:t>
            </a:r>
            <a:r>
              <a:rPr lang="en-US" altLang="zh-CN" sz="2800" b="1" dirty="0">
                <a:solidFill>
                  <a:srgbClr val="0000C8"/>
                </a:solidFill>
                <a:latin typeface="楷体" charset="-122"/>
                <a:ea typeface="楷体" charset="-122"/>
                <a:cs typeface="楷体" charset="-122"/>
              </a:rPr>
              <a:t>/</a:t>
            </a:r>
            <a:r>
              <a:rPr lang="zh-CN" altLang="en-US" sz="2800" b="1" dirty="0">
                <a:solidFill>
                  <a:srgbClr val="0000C8"/>
                </a:solidFill>
                <a:latin typeface="楷体" charset="-122"/>
                <a:ea typeface="楷体" charset="-122"/>
                <a:cs typeface="楷体" charset="-122"/>
              </a:rPr>
              <a:t>父查询*</a:t>
            </a:r>
            <a:r>
              <a:rPr lang="en-US" altLang="zh-CN" sz="2800" b="1" dirty="0">
                <a:solidFill>
                  <a:srgbClr val="0000C8"/>
                </a:solidFill>
                <a:latin typeface="楷体" charset="-122"/>
                <a:ea typeface="楷体" charset="-122"/>
                <a:cs typeface="楷体" charset="-122"/>
              </a:rPr>
              <a:t>/</a:t>
            </a:r>
            <a:endParaRPr lang="en-US" altLang="zh-CN" sz="2800" b="1" dirty="0">
              <a:solidFill>
                <a:srgbClr val="0000C8"/>
              </a:solidFill>
              <a:latin typeface="楷体" charset="-122"/>
              <a:ea typeface="楷体" charset="-122"/>
              <a:cs typeface="楷体" charset="-122"/>
            </a:endParaRPr>
          </a:p>
          <a:p>
            <a:pPr marL="715645" lvl="2" indent="0">
              <a:lnSpc>
                <a:spcPct val="100000"/>
              </a:lnSpc>
              <a:spcBef>
                <a:spcPct val="0"/>
              </a:spcBef>
              <a:spcAft>
                <a:spcPct val="0"/>
              </a:spcAft>
              <a:buNone/>
            </a:pPr>
            <a:r>
              <a:rPr lang="en-US" altLang="zh-CN" sz="2800" b="1" dirty="0">
                <a:solidFill>
                  <a:srgbClr val="FF0000"/>
                </a:solidFill>
                <a:latin typeface="楷体" charset="-122"/>
                <a:ea typeface="楷体" charset="-122"/>
                <a:cs typeface="楷体" charset="-122"/>
              </a:rPr>
              <a:t>FROM Student</a:t>
            </a:r>
            <a:endParaRPr lang="en-US" altLang="zh-CN" sz="2800" b="1" dirty="0">
              <a:solidFill>
                <a:srgbClr val="FF0000"/>
              </a:solidFill>
              <a:latin typeface="楷体" charset="-122"/>
              <a:ea typeface="楷体" charset="-122"/>
              <a:cs typeface="楷体" charset="-122"/>
            </a:endParaRPr>
          </a:p>
          <a:p>
            <a:pPr marL="715645" lvl="2" indent="0">
              <a:lnSpc>
                <a:spcPct val="100000"/>
              </a:lnSpc>
              <a:spcBef>
                <a:spcPct val="0"/>
              </a:spcBef>
              <a:spcAft>
                <a:spcPct val="0"/>
              </a:spcAft>
              <a:buNone/>
            </a:pPr>
            <a:r>
              <a:rPr lang="en-US" altLang="zh-CN" sz="2800" b="1" dirty="0">
                <a:solidFill>
                  <a:srgbClr val="FF0000"/>
                </a:solidFill>
                <a:latin typeface="楷体" charset="-122"/>
                <a:ea typeface="楷体" charset="-122"/>
                <a:cs typeface="楷体" charset="-122"/>
              </a:rPr>
              <a:t>WHERE </a:t>
            </a:r>
            <a:r>
              <a:rPr lang="en-US" altLang="zh-CN" sz="2800" b="1" dirty="0" err="1">
                <a:solidFill>
                  <a:srgbClr val="FF0000"/>
                </a:solidFill>
                <a:latin typeface="楷体" charset="-122"/>
                <a:ea typeface="楷体" charset="-122"/>
                <a:cs typeface="楷体" charset="-122"/>
              </a:rPr>
              <a:t>Sno</a:t>
            </a:r>
            <a:r>
              <a:rPr lang="en-US" altLang="zh-CN" sz="2800" b="1" dirty="0">
                <a:solidFill>
                  <a:srgbClr val="FF0000"/>
                </a:solidFill>
                <a:latin typeface="楷体" charset="-122"/>
                <a:ea typeface="楷体" charset="-122"/>
                <a:cs typeface="楷体" charset="-122"/>
              </a:rPr>
              <a:t> IN</a:t>
            </a:r>
            <a:endParaRPr lang="en-US" altLang="zh-CN" sz="2800" b="1" dirty="0">
              <a:solidFill>
                <a:srgbClr val="FF0000"/>
              </a:solidFill>
              <a:latin typeface="楷体" charset="-122"/>
              <a:ea typeface="楷体" charset="-122"/>
              <a:cs typeface="楷体" charset="-122"/>
            </a:endParaRPr>
          </a:p>
          <a:p>
            <a:pPr marL="2087245" lvl="5" indent="0">
              <a:lnSpc>
                <a:spcPct val="100000"/>
              </a:lnSpc>
              <a:spcBef>
                <a:spcPct val="0"/>
              </a:spcBef>
              <a:spcAft>
                <a:spcPct val="0"/>
              </a:spcAft>
              <a:buNone/>
            </a:pPr>
            <a:r>
              <a:rPr lang="zh-CN" altLang="en-US" sz="2800" b="1" dirty="0">
                <a:solidFill>
                  <a:srgbClr val="FF0000"/>
                </a:solidFill>
                <a:latin typeface="楷体" charset="-122"/>
                <a:ea typeface="楷体" charset="-122"/>
                <a:cs typeface="楷体" charset="-122"/>
              </a:rPr>
              <a:t>( </a:t>
            </a:r>
            <a:r>
              <a:rPr lang="en-US" altLang="zh-CN" sz="2800" b="1" dirty="0">
                <a:solidFill>
                  <a:srgbClr val="FF0000"/>
                </a:solidFill>
                <a:latin typeface="楷体" charset="-122"/>
                <a:ea typeface="楷体" charset="-122"/>
                <a:cs typeface="楷体" charset="-122"/>
              </a:rPr>
              <a:t>SELECT </a:t>
            </a:r>
            <a:r>
              <a:rPr lang="en-US" altLang="zh-CN" sz="2800" b="1" dirty="0" err="1">
                <a:solidFill>
                  <a:srgbClr val="FF0000"/>
                </a:solidFill>
                <a:latin typeface="楷体" charset="-122"/>
                <a:ea typeface="楷体" charset="-122"/>
                <a:cs typeface="楷体" charset="-122"/>
              </a:rPr>
              <a:t>Sno</a:t>
            </a:r>
            <a:r>
              <a:rPr lang="en-US" altLang="zh-CN" sz="2800" b="1" dirty="0">
                <a:solidFill>
                  <a:srgbClr val="FF0000"/>
                </a:solidFill>
                <a:latin typeface="楷体" charset="-122"/>
                <a:ea typeface="楷体" charset="-122"/>
                <a:cs typeface="楷体" charset="-122"/>
              </a:rPr>
              <a:t> </a:t>
            </a:r>
            <a:r>
              <a:rPr lang="en-US" altLang="zh-CN" sz="2800" b="1" dirty="0">
                <a:solidFill>
                  <a:srgbClr val="0000C8"/>
                </a:solidFill>
                <a:latin typeface="楷体" charset="-122"/>
                <a:ea typeface="楷体" charset="-122"/>
                <a:cs typeface="楷体" charset="-122"/>
              </a:rPr>
              <a:t>       /*</a:t>
            </a:r>
            <a:r>
              <a:rPr lang="zh-CN" altLang="en-US" sz="2800" b="1" dirty="0">
                <a:solidFill>
                  <a:srgbClr val="0000C8"/>
                </a:solidFill>
                <a:latin typeface="楷体" charset="-122"/>
                <a:ea typeface="楷体" charset="-122"/>
                <a:cs typeface="楷体" charset="-122"/>
              </a:rPr>
              <a:t>内层查询</a:t>
            </a:r>
            <a:r>
              <a:rPr lang="en-US" altLang="zh-CN" sz="2800" b="1" dirty="0">
                <a:solidFill>
                  <a:srgbClr val="0000C8"/>
                </a:solidFill>
                <a:latin typeface="楷体" charset="-122"/>
                <a:ea typeface="楷体" charset="-122"/>
                <a:cs typeface="楷体" charset="-122"/>
              </a:rPr>
              <a:t>/</a:t>
            </a:r>
            <a:r>
              <a:rPr lang="zh-CN" altLang="en-US" sz="2800" b="1" dirty="0">
                <a:solidFill>
                  <a:srgbClr val="0000C8"/>
                </a:solidFill>
                <a:latin typeface="楷体" charset="-122"/>
                <a:ea typeface="楷体" charset="-122"/>
                <a:cs typeface="楷体" charset="-122"/>
              </a:rPr>
              <a:t>子查询*</a:t>
            </a:r>
            <a:r>
              <a:rPr lang="en-US" altLang="zh-CN" sz="2800" b="1" dirty="0">
                <a:solidFill>
                  <a:srgbClr val="0000C8"/>
                </a:solidFill>
                <a:latin typeface="楷体" charset="-122"/>
                <a:ea typeface="楷体" charset="-122"/>
                <a:cs typeface="楷体" charset="-122"/>
              </a:rPr>
              <a:t>/</a:t>
            </a:r>
            <a:endParaRPr lang="en-US" altLang="zh-CN" sz="2800" b="1" dirty="0">
              <a:solidFill>
                <a:srgbClr val="0000C8"/>
              </a:solidFill>
              <a:latin typeface="楷体" charset="-122"/>
              <a:ea typeface="楷体" charset="-122"/>
              <a:cs typeface="楷体" charset="-122"/>
            </a:endParaRPr>
          </a:p>
          <a:p>
            <a:pPr marL="2087245" lvl="5" indent="0">
              <a:lnSpc>
                <a:spcPct val="100000"/>
              </a:lnSpc>
              <a:spcBef>
                <a:spcPct val="0"/>
              </a:spcBef>
              <a:spcAft>
                <a:spcPct val="0"/>
              </a:spcAft>
              <a:buNone/>
            </a:pPr>
            <a:r>
              <a:rPr lang="en-US" altLang="zh-CN" sz="2800" b="1" dirty="0">
                <a:solidFill>
                  <a:srgbClr val="0000C8"/>
                </a:solidFill>
                <a:latin typeface="楷体" charset="-122"/>
                <a:ea typeface="楷体" charset="-122"/>
                <a:cs typeface="楷体" charset="-122"/>
              </a:rPr>
              <a:t>  </a:t>
            </a:r>
            <a:r>
              <a:rPr lang="en-US" altLang="zh-CN" sz="2800" b="1" dirty="0">
                <a:solidFill>
                  <a:srgbClr val="FF0000"/>
                </a:solidFill>
                <a:latin typeface="楷体" charset="-122"/>
                <a:ea typeface="楷体" charset="-122"/>
                <a:cs typeface="楷体" charset="-122"/>
              </a:rPr>
              <a:t>FROM SC</a:t>
            </a:r>
            <a:endParaRPr lang="en-US" altLang="zh-CN" sz="2800" b="1" dirty="0">
              <a:solidFill>
                <a:srgbClr val="FF0000"/>
              </a:solidFill>
              <a:latin typeface="楷体" charset="-122"/>
              <a:ea typeface="楷体" charset="-122"/>
              <a:cs typeface="楷体" charset="-122"/>
            </a:endParaRPr>
          </a:p>
          <a:p>
            <a:pPr marL="2087245" lvl="5" indent="0">
              <a:lnSpc>
                <a:spcPct val="100000"/>
              </a:lnSpc>
              <a:spcBef>
                <a:spcPct val="0"/>
              </a:spcBef>
              <a:spcAft>
                <a:spcPct val="0"/>
              </a:spcAft>
              <a:buNone/>
            </a:pPr>
            <a:r>
              <a:rPr lang="en-US" altLang="zh-CN" sz="2800" b="1" dirty="0">
                <a:solidFill>
                  <a:srgbClr val="FF0000"/>
                </a:solidFill>
                <a:latin typeface="楷体" charset="-122"/>
                <a:ea typeface="楷体" charset="-122"/>
                <a:cs typeface="楷体" charset="-122"/>
              </a:rPr>
              <a:t>  WHERE </a:t>
            </a:r>
            <a:r>
              <a:rPr lang="en-US" altLang="zh-CN" sz="2800" b="1" dirty="0" err="1">
                <a:solidFill>
                  <a:srgbClr val="FF0000"/>
                </a:solidFill>
                <a:latin typeface="楷体" charset="-122"/>
                <a:ea typeface="楷体" charset="-122"/>
                <a:cs typeface="楷体" charset="-122"/>
              </a:rPr>
              <a:t>Cno </a:t>
            </a:r>
            <a:r>
              <a:rPr lang="en-US" altLang="zh-CN" sz="2800" b="1" dirty="0">
                <a:solidFill>
                  <a:srgbClr val="FF0000"/>
                </a:solidFill>
                <a:latin typeface="楷体" charset="-122"/>
                <a:ea typeface="楷体" charset="-122"/>
                <a:cs typeface="楷体" charset="-122"/>
              </a:rPr>
              <a:t>= '2'</a:t>
            </a:r>
            <a:r>
              <a:rPr lang="zh-CN" altLang="en-US" sz="2800" b="1" dirty="0">
                <a:solidFill>
                  <a:srgbClr val="FF0000"/>
                </a:solidFill>
                <a:latin typeface="楷体" charset="-122"/>
                <a:ea typeface="楷体" charset="-122"/>
                <a:cs typeface="楷体" charset="-122"/>
              </a:rPr>
              <a:t>);</a:t>
            </a:r>
            <a:endParaRPr lang="zh-CN" altLang="en-US" sz="2800" b="1" dirty="0">
              <a:solidFill>
                <a:srgbClr val="FF0000"/>
              </a:solidFill>
              <a:latin typeface="楷体" charset="-122"/>
              <a:ea typeface="楷体" charset="-122"/>
              <a:cs typeface="楷体" charset="-122"/>
            </a:endParaRPr>
          </a:p>
          <a:p>
            <a:pPr lvl="1">
              <a:lnSpc>
                <a:spcPct val="110000"/>
              </a:lnSpc>
              <a:spcBef>
                <a:spcPts val="1000"/>
              </a:spcBef>
            </a:pPr>
            <a:r>
              <a:rPr lang="zh-CN" altLang="en-US" b="1" dirty="0">
                <a:solidFill>
                  <a:srgbClr val="1F2DA8"/>
                </a:solidFill>
                <a:latin typeface="楷体" charset="-122"/>
                <a:ea typeface="楷体" charset="-122"/>
                <a:cs typeface="楷体" charset="-122"/>
              </a:rPr>
              <a:t>最常见的是在</a:t>
            </a:r>
            <a:r>
              <a:rPr lang="en-US" altLang="zh-CN" b="1" dirty="0">
                <a:solidFill>
                  <a:srgbClr val="1F2DA8"/>
                </a:solidFill>
                <a:latin typeface="楷体" charset="-122"/>
                <a:ea typeface="楷体" charset="-122"/>
                <a:cs typeface="楷体" charset="-122"/>
              </a:rPr>
              <a:t>WHERE</a:t>
            </a:r>
            <a:r>
              <a:rPr lang="zh-CN" altLang="en-US" b="1" dirty="0">
                <a:solidFill>
                  <a:srgbClr val="1F2DA8"/>
                </a:solidFill>
                <a:latin typeface="楷体" charset="-122"/>
                <a:ea typeface="楷体" charset="-122"/>
                <a:cs typeface="楷体" charset="-122"/>
              </a:rPr>
              <a:t>子句、</a:t>
            </a:r>
            <a:r>
              <a:rPr lang="en-US" altLang="zh-CN" b="1" dirty="0">
                <a:solidFill>
                  <a:srgbClr val="1F2DA8"/>
                </a:solidFill>
                <a:latin typeface="楷体" charset="-122"/>
                <a:ea typeface="楷体" charset="-122"/>
                <a:cs typeface="楷体" charset="-122"/>
              </a:rPr>
              <a:t>FROM</a:t>
            </a:r>
            <a:r>
              <a:rPr lang="zh-CN" altLang="en-US" b="1" dirty="0">
                <a:solidFill>
                  <a:srgbClr val="1F2DA8"/>
                </a:solidFill>
                <a:latin typeface="楷体" charset="-122"/>
                <a:ea typeface="楷体" charset="-122"/>
                <a:cs typeface="楷体" charset="-122"/>
              </a:rPr>
              <a:t>子句中嵌入子查询</a:t>
            </a:r>
            <a:endParaRPr lang="zh-CN" altLang="en-US" b="1" dirty="0">
              <a:solidFill>
                <a:srgbClr val="1F2DA8"/>
              </a:solidFill>
              <a:latin typeface="楷体" charset="-122"/>
              <a:ea typeface="楷体" charset="-122"/>
              <a:cs typeface="楷体" charset="-122"/>
            </a:endParaRPr>
          </a:p>
          <a:p>
            <a:pPr lvl="1"/>
            <a:r>
              <a:rPr lang="zh-CN" altLang="en-US" b="1" dirty="0">
                <a:solidFill>
                  <a:srgbClr val="1F2DA8"/>
                </a:solidFill>
                <a:latin typeface="楷体" charset="-122"/>
                <a:ea typeface="楷体" charset="-122"/>
                <a:cs typeface="楷体" charset="-122"/>
              </a:rPr>
              <a:t>有些数据管理系统也</a:t>
            </a:r>
            <a:r>
              <a:rPr lang="zh-CN" altLang="en-US" b="1" dirty="0">
                <a:solidFill>
                  <a:srgbClr val="1F2DA8"/>
                </a:solidFill>
                <a:latin typeface="楷体" charset="-122"/>
                <a:ea typeface="楷体" charset="-122"/>
                <a:cs typeface="楷体" charset="-122"/>
              </a:rPr>
              <a:t>允许在</a:t>
            </a:r>
            <a:r>
              <a:rPr lang="en-US" altLang="zh-CN" b="1" dirty="0">
                <a:solidFill>
                  <a:srgbClr val="1F2DA8"/>
                </a:solidFill>
                <a:latin typeface="楷体" charset="-122"/>
                <a:ea typeface="楷体" charset="-122"/>
                <a:cs typeface="楷体" charset="-122"/>
              </a:rPr>
              <a:t>SELECT</a:t>
            </a:r>
            <a:r>
              <a:rPr lang="zh-CN" altLang="en-US" b="1" dirty="0">
                <a:solidFill>
                  <a:srgbClr val="1F2DA8"/>
                </a:solidFill>
                <a:latin typeface="楷体" charset="-122"/>
                <a:ea typeface="楷体" charset="-122"/>
                <a:cs typeface="楷体" charset="-122"/>
              </a:rPr>
              <a:t>子句、</a:t>
            </a:r>
            <a:r>
              <a:rPr lang="en-US" altLang="zh-CN" b="1" dirty="0">
                <a:solidFill>
                  <a:srgbClr val="1F2DA8"/>
                </a:solidFill>
                <a:latin typeface="楷体" charset="-122"/>
                <a:ea typeface="楷体" charset="-122"/>
                <a:cs typeface="楷体" charset="-122"/>
              </a:rPr>
              <a:t>HAVING</a:t>
            </a:r>
            <a:r>
              <a:rPr lang="zh-CN" altLang="en-US" b="1" dirty="0">
                <a:solidFill>
                  <a:srgbClr val="1F2DA8"/>
                </a:solidFill>
                <a:latin typeface="楷体" charset="-122"/>
                <a:ea typeface="楷体" charset="-122"/>
                <a:cs typeface="楷体" charset="-122"/>
              </a:rPr>
              <a:t>子句中嵌入</a:t>
            </a:r>
            <a:r>
              <a:rPr lang="zh-CN" altLang="en-US" b="1" dirty="0">
                <a:solidFill>
                  <a:srgbClr val="1F2DA8"/>
                </a:solidFill>
                <a:latin typeface="楷体" charset="-122"/>
                <a:ea typeface="楷体" charset="-122"/>
                <a:cs typeface="楷体" charset="-122"/>
              </a:rPr>
              <a:t>子查询</a:t>
            </a:r>
            <a:endParaRPr lang="zh-CN" altLang="en-US" b="1" dirty="0">
              <a:solidFill>
                <a:srgbClr val="1F2DA8"/>
              </a:solidFill>
              <a:latin typeface="楷体" charset="-122"/>
              <a:ea typeface="楷体" charset="-122"/>
              <a:cs typeface="楷体" charset="-122"/>
            </a:endParaRPr>
          </a:p>
          <a:p>
            <a:pPr lvl="1"/>
            <a:r>
              <a:rPr lang="zh-CN" altLang="en-US" b="1" dirty="0">
                <a:solidFill>
                  <a:srgbClr val="1F2DA8"/>
                </a:solidFill>
                <a:latin typeface="楷体" charset="-122"/>
                <a:ea typeface="楷体" charset="-122"/>
                <a:cs typeface="楷体" charset="-122"/>
              </a:rPr>
              <a:t>可以用创建的视图来代替</a:t>
            </a:r>
            <a:r>
              <a:rPr lang="en-US" altLang="zh-CN" b="1" dirty="0">
                <a:solidFill>
                  <a:srgbClr val="1F2DA8"/>
                </a:solidFill>
                <a:latin typeface="楷体" charset="-122"/>
                <a:ea typeface="楷体" charset="-122"/>
                <a:cs typeface="楷体" charset="-122"/>
              </a:rPr>
              <a:t>FROM</a:t>
            </a:r>
            <a:r>
              <a:rPr lang="zh-CN" altLang="en-US" b="1" dirty="0">
                <a:solidFill>
                  <a:srgbClr val="1F2DA8"/>
                </a:solidFill>
                <a:latin typeface="楷体" charset="-122"/>
                <a:ea typeface="楷体" charset="-122"/>
                <a:cs typeface="楷体" charset="-122"/>
              </a:rPr>
              <a:t>子句中</a:t>
            </a:r>
            <a:r>
              <a:rPr lang="zh-CN" altLang="en-US" b="1" dirty="0">
                <a:solidFill>
                  <a:srgbClr val="1F2DA8"/>
                </a:solidFill>
                <a:latin typeface="楷体" charset="-122"/>
                <a:ea typeface="楷体" charset="-122"/>
                <a:cs typeface="楷体" charset="-122"/>
              </a:rPr>
              <a:t>的子查询</a:t>
            </a:r>
            <a:endParaRPr lang="zh-CN" altLang="en-US" b="1" dirty="0">
              <a:solidFill>
                <a:srgbClr val="1F2DA8"/>
              </a:solidFill>
              <a:latin typeface="楷体" charset="-122"/>
              <a:ea typeface="楷体" charset="-122"/>
              <a:cs typeface="楷体" charset="-122"/>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Effect transition="in" filter="blinds(horizontal)">
                                      <p:cBhvr>
                                        <p:cTn id="7" dur="500"/>
                                        <p:tgtEl>
                                          <p:spTgt spid="286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5">
                                            <p:txEl>
                                              <p:pRg st="2" end="2"/>
                                            </p:txEl>
                                          </p:spTgt>
                                        </p:tgtEl>
                                        <p:attrNameLst>
                                          <p:attrName>style.visibility</p:attrName>
                                        </p:attrNameLst>
                                      </p:cBhvr>
                                      <p:to>
                                        <p:strVal val="visible"/>
                                      </p:to>
                                    </p:set>
                                    <p:animEffect transition="in" filter="blinds(horizontal)">
                                      <p:cBhvr>
                                        <p:cTn id="12" dur="500"/>
                                        <p:tgtEl>
                                          <p:spTgt spid="28675">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animEffect transition="in" filter="blinds(horizontal)">
                                      <p:cBhvr>
                                        <p:cTn id="15" dur="500"/>
                                        <p:tgtEl>
                                          <p:spTgt spid="2867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8675">
                                            <p:txEl>
                                              <p:pRg st="4" end="4"/>
                                            </p:txEl>
                                          </p:spTgt>
                                        </p:tgtEl>
                                        <p:attrNameLst>
                                          <p:attrName>style.visibility</p:attrName>
                                        </p:attrNameLst>
                                      </p:cBhvr>
                                      <p:to>
                                        <p:strVal val="visible"/>
                                      </p:to>
                                    </p:set>
                                    <p:animEffect transition="in" filter="blinds(horizontal)">
                                      <p:cBhvr>
                                        <p:cTn id="18" dur="500"/>
                                        <p:tgtEl>
                                          <p:spTgt spid="28675">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8675">
                                            <p:txEl>
                                              <p:pRg st="5" end="5"/>
                                            </p:txEl>
                                          </p:spTgt>
                                        </p:tgtEl>
                                        <p:attrNameLst>
                                          <p:attrName>style.visibility</p:attrName>
                                        </p:attrNameLst>
                                      </p:cBhvr>
                                      <p:to>
                                        <p:strVal val="visible"/>
                                      </p:to>
                                    </p:set>
                                    <p:animEffect transition="in" filter="blinds(horizontal)">
                                      <p:cBhvr>
                                        <p:cTn id="21" dur="500"/>
                                        <p:tgtEl>
                                          <p:spTgt spid="28675">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28675">
                                            <p:txEl>
                                              <p:pRg st="6" end="6"/>
                                            </p:txEl>
                                          </p:spTgt>
                                        </p:tgtEl>
                                        <p:attrNameLst>
                                          <p:attrName>style.visibility</p:attrName>
                                        </p:attrNameLst>
                                      </p:cBhvr>
                                      <p:to>
                                        <p:strVal val="visible"/>
                                      </p:to>
                                    </p:set>
                                    <p:animEffect transition="in" filter="blinds(horizontal)">
                                      <p:cBhvr>
                                        <p:cTn id="24" dur="500"/>
                                        <p:tgtEl>
                                          <p:spTgt spid="28675">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28675">
                                            <p:txEl>
                                              <p:pRg st="7" end="7"/>
                                            </p:txEl>
                                          </p:spTgt>
                                        </p:tgtEl>
                                        <p:attrNameLst>
                                          <p:attrName>style.visibility</p:attrName>
                                        </p:attrNameLst>
                                      </p:cBhvr>
                                      <p:to>
                                        <p:strVal val="visible"/>
                                      </p:to>
                                    </p:set>
                                    <p:animEffect transition="in" filter="blinds(horizontal)">
                                      <p:cBhvr>
                                        <p:cTn id="27" dur="500"/>
                                        <p:tgtEl>
                                          <p:spTgt spid="28675">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8675">
                                            <p:txEl>
                                              <p:pRg st="8" end="8"/>
                                            </p:txEl>
                                          </p:spTgt>
                                        </p:tgtEl>
                                        <p:attrNameLst>
                                          <p:attrName>style.visibility</p:attrName>
                                        </p:attrNameLst>
                                      </p:cBhvr>
                                      <p:to>
                                        <p:strVal val="visible"/>
                                      </p:to>
                                    </p:set>
                                    <p:animEffect transition="in" filter="blinds(horizontal)">
                                      <p:cBhvr>
                                        <p:cTn id="32" dur="500"/>
                                        <p:tgtEl>
                                          <p:spTgt spid="28675">
                                            <p:txEl>
                                              <p:pRg st="8" end="8"/>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28675">
                                            <p:txEl>
                                              <p:pRg st="9" end="9"/>
                                            </p:txEl>
                                          </p:spTgt>
                                        </p:tgtEl>
                                        <p:attrNameLst>
                                          <p:attrName>style.visibility</p:attrName>
                                        </p:attrNameLst>
                                      </p:cBhvr>
                                      <p:to>
                                        <p:strVal val="visible"/>
                                      </p:to>
                                    </p:set>
                                    <p:animEffect transition="in" filter="blinds(horizontal)">
                                      <p:cBhvr>
                                        <p:cTn id="35" dur="500"/>
                                        <p:tgtEl>
                                          <p:spTgt spid="28675">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8675">
                                            <p:txEl>
                                              <p:pRg st="10" end="10"/>
                                            </p:txEl>
                                          </p:spTgt>
                                        </p:tgtEl>
                                        <p:attrNameLst>
                                          <p:attrName>style.visibility</p:attrName>
                                        </p:attrNameLst>
                                      </p:cBhvr>
                                      <p:to>
                                        <p:strVal val="visible"/>
                                      </p:to>
                                    </p:set>
                                    <p:animEffect transition="in" filter="blinds(horizontal)">
                                      <p:cBhvr>
                                        <p:cTn id="40" dur="500"/>
                                        <p:tgtEl>
                                          <p:spTgt spid="2867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zh-CN" altLang="en-US" dirty="0"/>
              <a:t>嵌套查询概述 </a:t>
            </a:r>
            <a:r>
              <a:rPr lang="en-US" altLang="zh-CN" dirty="0"/>
              <a:t>2</a:t>
            </a:r>
            <a:endParaRPr lang="zh-CN" altLang="en-US" dirty="0"/>
          </a:p>
        </p:txBody>
      </p:sp>
      <p:sp>
        <p:nvSpPr>
          <p:cNvPr id="29699" name="Rectangle 1027"/>
          <p:cNvSpPr>
            <a:spLocks noGrp="1" noChangeArrowheads="1"/>
          </p:cNvSpPr>
          <p:nvPr>
            <p:ph idx="1"/>
          </p:nvPr>
        </p:nvSpPr>
        <p:spPr/>
        <p:txBody>
          <a:bodyPr>
            <a:noAutofit/>
          </a:bodyPr>
          <a:lstStyle/>
          <a:p>
            <a:pPr lvl="0">
              <a:lnSpc>
                <a:spcPct val="100000"/>
              </a:lnSpc>
              <a:spcBef>
                <a:spcPts val="1000"/>
              </a:spcBef>
            </a:pPr>
            <a:r>
              <a:rPr lang="zh-CN" altLang="en-US" sz="2800" dirty="0"/>
              <a:t>上层的查询块称为</a:t>
            </a:r>
            <a:r>
              <a:rPr lang="zh-CN" altLang="en-US" sz="2800" dirty="0">
                <a:solidFill>
                  <a:srgbClr val="FF0000"/>
                </a:solidFill>
              </a:rPr>
              <a:t>外层查询</a:t>
            </a:r>
            <a:r>
              <a:rPr lang="zh-CN" altLang="en-US" sz="2800" dirty="0"/>
              <a:t>或</a:t>
            </a:r>
            <a:r>
              <a:rPr lang="zh-CN" altLang="en-US" sz="2800" dirty="0">
                <a:solidFill>
                  <a:srgbClr val="FF0000"/>
                </a:solidFill>
              </a:rPr>
              <a:t>父查询</a:t>
            </a:r>
            <a:endParaRPr lang="en-US" altLang="zh-CN" sz="2800" dirty="0"/>
          </a:p>
          <a:p>
            <a:pPr lvl="0">
              <a:lnSpc>
                <a:spcPct val="100000"/>
              </a:lnSpc>
              <a:spcBef>
                <a:spcPts val="2000"/>
              </a:spcBef>
            </a:pPr>
            <a:r>
              <a:rPr lang="zh-CN" altLang="en-US" sz="2800" dirty="0"/>
              <a:t>下层查询块称为</a:t>
            </a:r>
            <a:r>
              <a:rPr lang="zh-CN" altLang="en-US" sz="2800" dirty="0">
                <a:solidFill>
                  <a:srgbClr val="FF0000"/>
                </a:solidFill>
              </a:rPr>
              <a:t>内层查询</a:t>
            </a:r>
            <a:r>
              <a:rPr lang="zh-CN" altLang="en-US" sz="2800" dirty="0"/>
              <a:t>或</a:t>
            </a:r>
            <a:r>
              <a:rPr lang="zh-CN" altLang="en-US" sz="2800" dirty="0">
                <a:solidFill>
                  <a:srgbClr val="FF0000"/>
                </a:solidFill>
              </a:rPr>
              <a:t>子查询</a:t>
            </a:r>
            <a:endParaRPr lang="en-US" altLang="zh-CN" sz="2800" dirty="0"/>
          </a:p>
          <a:p>
            <a:pPr lvl="0">
              <a:lnSpc>
                <a:spcPct val="100000"/>
              </a:lnSpc>
              <a:spcBef>
                <a:spcPts val="5000"/>
              </a:spcBef>
            </a:pPr>
            <a:r>
              <a:rPr lang="en-US" altLang="zh-CN" sz="2800" dirty="0"/>
              <a:t>SQL</a:t>
            </a:r>
            <a:r>
              <a:rPr lang="zh-CN" altLang="en-US" sz="2800" dirty="0"/>
              <a:t>语言允许</a:t>
            </a:r>
            <a:r>
              <a:rPr lang="zh-CN" altLang="en-US" sz="2800" dirty="0">
                <a:solidFill>
                  <a:srgbClr val="FF0000"/>
                </a:solidFill>
              </a:rPr>
              <a:t>多层嵌套查询</a:t>
            </a:r>
            <a:endParaRPr lang="en-US" altLang="zh-CN" sz="2800" dirty="0"/>
          </a:p>
          <a:p>
            <a:pPr lvl="1">
              <a:lnSpc>
                <a:spcPct val="100000"/>
              </a:lnSpc>
              <a:spcBef>
                <a:spcPts val="1000"/>
              </a:spcBef>
            </a:pPr>
            <a:r>
              <a:rPr lang="zh-CN" altLang="en-US" sz="2800" dirty="0"/>
              <a:t>即一个子查询中还可以嵌套其他子查询</a:t>
            </a:r>
            <a:endParaRPr lang="zh-CN" altLang="en-US" sz="2800" dirty="0"/>
          </a:p>
          <a:p>
            <a:pPr lvl="0">
              <a:lnSpc>
                <a:spcPct val="100000"/>
              </a:lnSpc>
              <a:spcBef>
                <a:spcPts val="3000"/>
              </a:spcBef>
            </a:pPr>
            <a:r>
              <a:rPr lang="zh-CN" altLang="en-US" sz="2800" dirty="0"/>
              <a:t>子查询的限制</a:t>
            </a:r>
            <a:endParaRPr lang="zh-CN" altLang="en-US" sz="2800" dirty="0"/>
          </a:p>
          <a:p>
            <a:pPr lvl="1">
              <a:lnSpc>
                <a:spcPct val="100000"/>
              </a:lnSpc>
              <a:spcBef>
                <a:spcPts val="1000"/>
              </a:spcBef>
            </a:pPr>
            <a:r>
              <a:rPr lang="zh-CN" altLang="en-US" sz="2800" dirty="0">
                <a:solidFill>
                  <a:srgbClr val="FF0000"/>
                </a:solidFill>
              </a:rPr>
              <a:t>不能使用</a:t>
            </a:r>
            <a:r>
              <a:rPr lang="en-US" altLang="zh-CN" sz="2800" dirty="0">
                <a:solidFill>
                  <a:srgbClr val="FF0000"/>
                </a:solidFill>
              </a:rPr>
              <a:t>ORDER BY</a:t>
            </a:r>
            <a:r>
              <a:rPr lang="zh-CN" altLang="en-US" sz="2800" dirty="0">
                <a:solidFill>
                  <a:srgbClr val="FF0000"/>
                </a:solidFill>
              </a:rPr>
              <a:t>子句</a:t>
            </a:r>
            <a:endParaRPr lang="en-US" altLang="zh-CN" sz="2800" dirty="0"/>
          </a:p>
          <a:p>
            <a:pPr lvl="0">
              <a:lnSpc>
                <a:spcPct val="100000"/>
              </a:lnSpc>
              <a:spcBef>
                <a:spcPts val="3000"/>
              </a:spcBef>
            </a:pPr>
            <a:r>
              <a:rPr lang="zh-CN" altLang="en-US" sz="2800" dirty="0"/>
              <a:t>有些嵌套查询可以用连接运算替代</a:t>
            </a:r>
            <a:endParaRPr lang="en-US" altLang="zh-CN" sz="2800" dirty="0"/>
          </a:p>
          <a:p>
            <a:pPr lvl="1">
              <a:lnSpc>
                <a:spcPct val="100000"/>
              </a:lnSpc>
              <a:spcBef>
                <a:spcPts val="1000"/>
              </a:spcBef>
            </a:pPr>
            <a:r>
              <a:rPr lang="zh-CN" altLang="en-US" sz="2800" dirty="0">
                <a:solidFill>
                  <a:srgbClr val="FF0000"/>
                </a:solidFill>
              </a:rPr>
              <a:t>谨慎使用嵌套查询</a:t>
            </a:r>
            <a:endParaRPr lang="zh-CN" altLang="en-US" sz="2800" dirty="0">
              <a:solidFill>
                <a:srgbClr val="FF0000"/>
              </a:solidFill>
            </a:endParaRPr>
          </a:p>
        </p:txBody>
      </p:sp>
      <p:pic>
        <p:nvPicPr>
          <p:cNvPr id="5" name="图片 4"/>
          <p:cNvPicPr>
            <a:picLocks noChangeAspect="1"/>
          </p:cNvPicPr>
          <p:nvPr/>
        </p:nvPicPr>
        <p:blipFill>
          <a:blip r:embed="rId1"/>
          <a:stretch>
            <a:fillRect/>
          </a:stretch>
        </p:blipFill>
        <p:spPr>
          <a:xfrm>
            <a:off x="7287260" y="595630"/>
            <a:ext cx="4724400" cy="2004060"/>
          </a:xfrm>
          <a:prstGeom prst="rect">
            <a:avLst/>
          </a:prstGeom>
          <a:ln>
            <a:solidFill>
              <a:schemeClr val="accent1"/>
            </a:solidFill>
          </a:ln>
        </p:spPr>
      </p:pic>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699">
                                            <p:txEl>
                                              <p:pRg st="2" end="2"/>
                                            </p:txEl>
                                          </p:spTgt>
                                        </p:tgtEl>
                                        <p:attrNameLst>
                                          <p:attrName>style.visibility</p:attrName>
                                        </p:attrNameLst>
                                      </p:cBhvr>
                                      <p:to>
                                        <p:strVal val="visible"/>
                                      </p:to>
                                    </p:set>
                                    <p:animEffect transition="in" filter="blinds(horizontal)">
                                      <p:cBhvr>
                                        <p:cTn id="7" dur="500"/>
                                        <p:tgtEl>
                                          <p:spTgt spid="2969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9699">
                                            <p:txEl>
                                              <p:pRg st="3" end="3"/>
                                            </p:txEl>
                                          </p:spTgt>
                                        </p:tgtEl>
                                        <p:attrNameLst>
                                          <p:attrName>style.visibility</p:attrName>
                                        </p:attrNameLst>
                                      </p:cBhvr>
                                      <p:to>
                                        <p:strVal val="visible"/>
                                      </p:to>
                                    </p:set>
                                    <p:animEffect transition="in" filter="blinds(horizontal)">
                                      <p:cBhvr>
                                        <p:cTn id="10" dur="500"/>
                                        <p:tgtEl>
                                          <p:spTgt spid="29699">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9699">
                                            <p:txEl>
                                              <p:pRg st="4" end="4"/>
                                            </p:txEl>
                                          </p:spTgt>
                                        </p:tgtEl>
                                        <p:attrNameLst>
                                          <p:attrName>style.visibility</p:attrName>
                                        </p:attrNameLst>
                                      </p:cBhvr>
                                      <p:to>
                                        <p:strVal val="visible"/>
                                      </p:to>
                                    </p:set>
                                    <p:animEffect transition="in" filter="blinds(horizontal)">
                                      <p:cBhvr>
                                        <p:cTn id="15" dur="500"/>
                                        <p:tgtEl>
                                          <p:spTgt spid="29699">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9699">
                                            <p:txEl>
                                              <p:pRg st="5" end="5"/>
                                            </p:txEl>
                                          </p:spTgt>
                                        </p:tgtEl>
                                        <p:attrNameLst>
                                          <p:attrName>style.visibility</p:attrName>
                                        </p:attrNameLst>
                                      </p:cBhvr>
                                      <p:to>
                                        <p:strVal val="visible"/>
                                      </p:to>
                                    </p:set>
                                    <p:animEffect transition="in" filter="blinds(horizontal)">
                                      <p:cBhvr>
                                        <p:cTn id="18" dur="500"/>
                                        <p:tgtEl>
                                          <p:spTgt spid="29699">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9699">
                                            <p:txEl>
                                              <p:pRg st="6" end="6"/>
                                            </p:txEl>
                                          </p:spTgt>
                                        </p:tgtEl>
                                        <p:attrNameLst>
                                          <p:attrName>style.visibility</p:attrName>
                                        </p:attrNameLst>
                                      </p:cBhvr>
                                      <p:to>
                                        <p:strVal val="visible"/>
                                      </p:to>
                                    </p:set>
                                    <p:animEffect transition="in" filter="blinds(horizontal)">
                                      <p:cBhvr>
                                        <p:cTn id="23" dur="500"/>
                                        <p:tgtEl>
                                          <p:spTgt spid="29699">
                                            <p:txEl>
                                              <p:pRg st="6" end="6"/>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9699">
                                            <p:txEl>
                                              <p:pRg st="7" end="7"/>
                                            </p:txEl>
                                          </p:spTgt>
                                        </p:tgtEl>
                                        <p:attrNameLst>
                                          <p:attrName>style.visibility</p:attrName>
                                        </p:attrNameLst>
                                      </p:cBhvr>
                                      <p:to>
                                        <p:strVal val="visible"/>
                                      </p:to>
                                    </p:set>
                                    <p:animEffect transition="in" filter="blinds(horizontal)">
                                      <p:cBhvr>
                                        <p:cTn id="26" dur="500"/>
                                        <p:tgtEl>
                                          <p:spTgt spid="296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a:t>嵌套查询求解方法</a:t>
            </a:r>
            <a:endParaRPr lang="zh-CN" altLang="en-US"/>
          </a:p>
        </p:txBody>
      </p:sp>
      <p:sp>
        <p:nvSpPr>
          <p:cNvPr id="3" name="文本占位符 2"/>
          <p:cNvSpPr>
            <a:spLocks noGrp="1"/>
          </p:cNvSpPr>
          <p:nvPr>
            <p:ph type="body" idx="1"/>
          </p:nvPr>
        </p:nvSpPr>
        <p:spPr>
          <a:solidFill>
            <a:schemeClr val="accent1">
              <a:lumMod val="20000"/>
              <a:lumOff val="80000"/>
              <a:alpha val="50000"/>
            </a:schemeClr>
          </a:solidFill>
        </p:spPr>
        <p:txBody>
          <a:bodyPr anchor="ctr" anchorCtr="0"/>
          <a:p>
            <a:r>
              <a:rPr lang="zh-CN" altLang="en-US" dirty="0">
                <a:solidFill>
                  <a:srgbClr val="FF0000"/>
                </a:solidFill>
                <a:sym typeface="+mn-ea"/>
              </a:rPr>
              <a:t>不相关子查询</a:t>
            </a:r>
            <a:endParaRPr lang="zh-CN" altLang="en-US" dirty="0">
              <a:solidFill>
                <a:srgbClr val="FF0000"/>
              </a:solidFill>
              <a:sym typeface="+mn-ea"/>
            </a:endParaRPr>
          </a:p>
        </p:txBody>
      </p:sp>
      <p:sp>
        <p:nvSpPr>
          <p:cNvPr id="30723" name="Rectangle 3"/>
          <p:cNvSpPr>
            <a:spLocks noGrp="1" noChangeArrowheads="1"/>
          </p:cNvSpPr>
          <p:nvPr>
            <p:ph sz="half" idx="2"/>
          </p:nvPr>
        </p:nvSpPr>
        <p:spPr/>
        <p:txBody>
          <a:bodyPr>
            <a:noAutofit/>
          </a:bodyPr>
          <a:lstStyle/>
          <a:p>
            <a:pPr>
              <a:lnSpc>
                <a:spcPct val="100000"/>
              </a:lnSpc>
              <a:spcBef>
                <a:spcPct val="0"/>
              </a:spcBef>
            </a:pPr>
            <a:r>
              <a:rPr lang="zh-CN" altLang="en-US" sz="2800" dirty="0"/>
              <a:t>子查询的查询条件不依赖于父查询</a:t>
            </a:r>
            <a:endParaRPr lang="zh-CN" altLang="en-US" sz="2800" dirty="0"/>
          </a:p>
          <a:p>
            <a:pPr>
              <a:lnSpc>
                <a:spcPct val="100000"/>
              </a:lnSpc>
              <a:spcBef>
                <a:spcPct val="0"/>
              </a:spcBef>
            </a:pPr>
            <a:r>
              <a:rPr lang="zh-CN" altLang="en-US" sz="2800" dirty="0">
                <a:latin typeface="Arial" panose="020B0604020202090204" pitchFamily="34" charset="0"/>
                <a:cs typeface="Arial" panose="020B0604020202090204" pitchFamily="34" charset="0"/>
              </a:rPr>
              <a:t>又被称为</a:t>
            </a:r>
            <a:r>
              <a:rPr lang="en-US" altLang="zh-CN" sz="2800" dirty="0">
                <a:latin typeface="Arial" panose="020B0604020202090204" pitchFamily="34" charset="0"/>
                <a:cs typeface="Arial" panose="020B0604020202090204" pitchFamily="34" charset="0"/>
              </a:rPr>
              <a:t> ‘</a:t>
            </a:r>
            <a:r>
              <a:rPr lang="zh-CN" altLang="en-US" sz="2800" dirty="0">
                <a:solidFill>
                  <a:srgbClr val="C00000"/>
                </a:solidFill>
                <a:latin typeface="Arial" panose="020B0604020202090204" pitchFamily="34" charset="0"/>
                <a:cs typeface="Arial" panose="020B0604020202090204" pitchFamily="34" charset="0"/>
              </a:rPr>
              <a:t>独立子查询</a:t>
            </a:r>
            <a:r>
              <a:rPr lang="en-US" altLang="zh-CN" sz="2800" dirty="0">
                <a:latin typeface="Arial" panose="020B0604020202090204" pitchFamily="34" charset="0"/>
                <a:cs typeface="Arial" panose="020B0604020202090204" pitchFamily="34" charset="0"/>
              </a:rPr>
              <a:t>’</a:t>
            </a:r>
            <a:endParaRPr lang="zh-CN" altLang="en-US" sz="2800" dirty="0"/>
          </a:p>
          <a:p>
            <a:pPr lvl="0">
              <a:lnSpc>
                <a:spcPct val="100000"/>
              </a:lnSpc>
            </a:pPr>
            <a:r>
              <a:rPr lang="zh-CN" altLang="en-US" sz="2800" dirty="0"/>
              <a:t>执行过程：</a:t>
            </a:r>
            <a:r>
              <a:rPr lang="zh-CN" altLang="en-US" sz="2800" dirty="0">
                <a:solidFill>
                  <a:srgbClr val="C00000"/>
                </a:solidFill>
              </a:rPr>
              <a:t>由里向外，逐层处理</a:t>
            </a:r>
            <a:endParaRPr lang="zh-CN" altLang="en-US" sz="2800" dirty="0"/>
          </a:p>
          <a:p>
            <a:pPr lvl="1">
              <a:lnSpc>
                <a:spcPct val="100000"/>
              </a:lnSpc>
              <a:spcBef>
                <a:spcPts val="800"/>
              </a:spcBef>
            </a:pPr>
            <a:r>
              <a:rPr lang="zh-CN" altLang="en-US" sz="2400" dirty="0"/>
              <a:t>每个不相关子查询在上一级查询处理之前求解，其执行结果与</a:t>
            </a:r>
            <a:r>
              <a:rPr lang="zh-CN" altLang="en-US" sz="2400" dirty="0"/>
              <a:t>父查询无关；</a:t>
            </a:r>
            <a:endParaRPr lang="zh-CN" altLang="en-US" sz="2400" dirty="0"/>
          </a:p>
          <a:p>
            <a:pPr lvl="1">
              <a:lnSpc>
                <a:spcPct val="100000"/>
              </a:lnSpc>
              <a:spcBef>
                <a:spcPts val="800"/>
              </a:spcBef>
            </a:pPr>
            <a:r>
              <a:rPr lang="zh-CN" altLang="en-US" sz="2400" dirty="0"/>
              <a:t>不相关子查询的执行结果被用于建立其父查询的查找条件；</a:t>
            </a:r>
            <a:endParaRPr lang="zh-CN" altLang="en-US" sz="2400" dirty="0"/>
          </a:p>
          <a:p>
            <a:pPr lvl="1">
              <a:lnSpc>
                <a:spcPct val="100000"/>
              </a:lnSpc>
              <a:spcBef>
                <a:spcPts val="800"/>
              </a:spcBef>
            </a:pPr>
            <a:r>
              <a:rPr lang="zh-CN" altLang="en-US" sz="2400" dirty="0"/>
              <a:t>在父查询的执行过程中，不需要再去执行它的不相关子查询。</a:t>
            </a:r>
            <a:endParaRPr lang="zh-CN" altLang="en-US" sz="2400" dirty="0"/>
          </a:p>
        </p:txBody>
      </p:sp>
      <p:sp>
        <p:nvSpPr>
          <p:cNvPr id="4" name="文本占位符 3"/>
          <p:cNvSpPr>
            <a:spLocks noGrp="1"/>
          </p:cNvSpPr>
          <p:nvPr>
            <p:ph type="body" sz="quarter" idx="3"/>
          </p:nvPr>
        </p:nvSpPr>
        <p:spPr>
          <a:solidFill>
            <a:schemeClr val="accent1">
              <a:lumMod val="20000"/>
              <a:lumOff val="80000"/>
              <a:alpha val="50000"/>
            </a:schemeClr>
          </a:solidFill>
        </p:spPr>
        <p:txBody>
          <a:bodyPr anchor="ctr" anchorCtr="0"/>
          <a:p>
            <a:r>
              <a:rPr lang="zh-CN" altLang="en-US" dirty="0">
                <a:solidFill>
                  <a:srgbClr val="FF0000"/>
                </a:solidFill>
                <a:sym typeface="+mn-ea"/>
              </a:rPr>
              <a:t>相关子查询</a:t>
            </a:r>
            <a:endParaRPr lang="zh-CN" altLang="en-US" dirty="0">
              <a:solidFill>
                <a:srgbClr val="FF0000"/>
              </a:solidFill>
              <a:sym typeface="+mn-ea"/>
            </a:endParaRPr>
          </a:p>
        </p:txBody>
      </p:sp>
      <p:sp>
        <p:nvSpPr>
          <p:cNvPr id="5" name="内容占位符 4"/>
          <p:cNvSpPr>
            <a:spLocks noGrp="1"/>
          </p:cNvSpPr>
          <p:nvPr>
            <p:ph sz="quarter" idx="4"/>
          </p:nvPr>
        </p:nvSpPr>
        <p:spPr/>
        <p:txBody>
          <a:bodyPr>
            <a:noAutofit/>
          </a:bodyPr>
          <a:lstStyle/>
          <a:p>
            <a:pPr eaLnBrk="1" hangingPunct="1">
              <a:lnSpc>
                <a:spcPct val="100000"/>
              </a:lnSpc>
              <a:spcBef>
                <a:spcPct val="0"/>
              </a:spcBef>
            </a:pPr>
            <a:r>
              <a:rPr lang="zh-CN" altLang="en-US" sz="2800" dirty="0"/>
              <a:t>子查询的查询条件依赖于父查询</a:t>
            </a:r>
            <a:endParaRPr lang="zh-CN" altLang="en-US" sz="2800" dirty="0"/>
          </a:p>
          <a:p>
            <a:pPr eaLnBrk="1" hangingPunct="1">
              <a:lnSpc>
                <a:spcPct val="100000"/>
              </a:lnSpc>
              <a:spcBef>
                <a:spcPts val="2000"/>
              </a:spcBef>
            </a:pPr>
            <a:r>
              <a:rPr lang="zh-CN" altLang="en-US" sz="2800" dirty="0"/>
              <a:t>执行过程：</a:t>
            </a:r>
            <a:r>
              <a:rPr lang="zh-CN" altLang="en-US" sz="2800" dirty="0">
                <a:solidFill>
                  <a:srgbClr val="C00000"/>
                </a:solidFill>
              </a:rPr>
              <a:t>由外向里，嵌套循环</a:t>
            </a:r>
            <a:endParaRPr lang="zh-CN" altLang="en-US" sz="2800" dirty="0"/>
          </a:p>
          <a:p>
            <a:pPr lvl="1">
              <a:lnSpc>
                <a:spcPct val="100000"/>
              </a:lnSpc>
              <a:spcBef>
                <a:spcPts val="800"/>
              </a:spcBef>
            </a:pPr>
            <a:r>
              <a:rPr lang="zh-CN" altLang="en-US" sz="2400" dirty="0"/>
              <a:t>首先取外层父查询中表的第一个元组</a:t>
            </a:r>
            <a:r>
              <a:rPr lang="en-US" altLang="zh-CN" sz="2400" dirty="0"/>
              <a:t>t</a:t>
            </a:r>
            <a:r>
              <a:rPr lang="zh-CN" altLang="en-US" sz="2400" dirty="0"/>
              <a:t>，根据它与内层子查询相关的列的值去处理内层的子查询。若内层子查询的执行结果能够使得外层父查询的</a:t>
            </a:r>
            <a:r>
              <a:rPr lang="en-US" altLang="zh-CN" sz="2400" dirty="0"/>
              <a:t>WHERE</a:t>
            </a:r>
            <a:r>
              <a:rPr lang="zh-CN" altLang="en-US" sz="2400" dirty="0"/>
              <a:t>条件表达式成立，则将此</a:t>
            </a:r>
            <a:r>
              <a:rPr lang="zh-CN" altLang="en-US" sz="2400" dirty="0">
                <a:sym typeface="+mn-ea"/>
              </a:rPr>
              <a:t>元组</a:t>
            </a:r>
            <a:r>
              <a:rPr lang="en-US" altLang="zh-CN" sz="2400" dirty="0">
                <a:sym typeface="+mn-ea"/>
              </a:rPr>
              <a:t>t</a:t>
            </a:r>
            <a:r>
              <a:rPr lang="zh-CN" altLang="en-US" sz="2400" dirty="0">
                <a:sym typeface="+mn-ea"/>
              </a:rPr>
              <a:t>放入结果表（用于投影生成最终的查询结果表</a:t>
            </a:r>
            <a:r>
              <a:rPr lang="zh-CN" altLang="en-US" sz="2400" dirty="0"/>
              <a:t>）；</a:t>
            </a:r>
            <a:endParaRPr lang="zh-CN" altLang="en-US" sz="2400" dirty="0"/>
          </a:p>
          <a:p>
            <a:pPr lvl="1">
              <a:lnSpc>
                <a:spcPct val="100000"/>
              </a:lnSpc>
              <a:spcBef>
                <a:spcPts val="800"/>
              </a:spcBef>
            </a:pPr>
            <a:r>
              <a:rPr lang="zh-CN" altLang="en-US" sz="2400" dirty="0"/>
              <a:t>然后再取父查询</a:t>
            </a:r>
            <a:r>
              <a:rPr lang="zh-CN" altLang="en-US" sz="2400" dirty="0"/>
              <a:t>中表的下一个元组；</a:t>
            </a:r>
            <a:endParaRPr lang="zh-CN" altLang="en-US" sz="2400" dirty="0"/>
          </a:p>
          <a:p>
            <a:pPr lvl="1">
              <a:lnSpc>
                <a:spcPct val="100000"/>
              </a:lnSpc>
              <a:spcBef>
                <a:spcPts val="800"/>
              </a:spcBef>
            </a:pPr>
            <a:r>
              <a:rPr lang="zh-CN" altLang="en-US" sz="2400" dirty="0"/>
              <a:t>重复上述过程，直至外层</a:t>
            </a:r>
            <a:r>
              <a:rPr lang="zh-CN" altLang="en-US" sz="2400" dirty="0">
                <a:sym typeface="+mn-ea"/>
              </a:rPr>
              <a:t>查询中</a:t>
            </a:r>
            <a:r>
              <a:rPr lang="zh-CN" altLang="en-US" sz="2400" dirty="0"/>
              <a:t>表的</a:t>
            </a:r>
            <a:r>
              <a:rPr lang="zh-CN" altLang="en-US" sz="2400" dirty="0"/>
              <a:t>元组全部检查完为止。</a:t>
            </a:r>
            <a:endParaRPr lang="zh-CN" altLang="en-US" sz="2400"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blinds(horizontal)">
                                      <p:cBhvr>
                                        <p:cTn id="7" dur="500"/>
                                        <p:tgtEl>
                                          <p:spTgt spid="30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blinds(horizontal)">
                                      <p:cBhvr>
                                        <p:cTn id="12" dur="500"/>
                                        <p:tgtEl>
                                          <p:spTgt spid="307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23">
                                            <p:txEl>
                                              <p:pRg st="2" end="2"/>
                                            </p:txEl>
                                          </p:spTgt>
                                        </p:tgtEl>
                                        <p:attrNameLst>
                                          <p:attrName>style.visibility</p:attrName>
                                        </p:attrNameLst>
                                      </p:cBhvr>
                                      <p:to>
                                        <p:strVal val="visible"/>
                                      </p:to>
                                    </p:set>
                                    <p:animEffect transition="in" filter="blinds(horizontal)">
                                      <p:cBhvr>
                                        <p:cTn id="17" dur="500"/>
                                        <p:tgtEl>
                                          <p:spTgt spid="3072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0723">
                                            <p:txEl>
                                              <p:pRg st="3" end="3"/>
                                            </p:txEl>
                                          </p:spTgt>
                                        </p:tgtEl>
                                        <p:attrNameLst>
                                          <p:attrName>style.visibility</p:attrName>
                                        </p:attrNameLst>
                                      </p:cBhvr>
                                      <p:to>
                                        <p:strVal val="visible"/>
                                      </p:to>
                                    </p:set>
                                    <p:animEffect transition="in" filter="blinds(horizontal)">
                                      <p:cBhvr>
                                        <p:cTn id="20" dur="500"/>
                                        <p:tgtEl>
                                          <p:spTgt spid="3072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0723">
                                            <p:txEl>
                                              <p:pRg st="4" end="4"/>
                                            </p:txEl>
                                          </p:spTgt>
                                        </p:tgtEl>
                                        <p:attrNameLst>
                                          <p:attrName>style.visibility</p:attrName>
                                        </p:attrNameLst>
                                      </p:cBhvr>
                                      <p:to>
                                        <p:strVal val="visible"/>
                                      </p:to>
                                    </p:set>
                                    <p:animEffect transition="in" filter="blinds(horizontal)">
                                      <p:cBhvr>
                                        <p:cTn id="23" dur="500"/>
                                        <p:tgtEl>
                                          <p:spTgt spid="3072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0723">
                                            <p:txEl>
                                              <p:pRg st="5" end="5"/>
                                            </p:txEl>
                                          </p:spTgt>
                                        </p:tgtEl>
                                        <p:attrNameLst>
                                          <p:attrName>style.visibility</p:attrName>
                                        </p:attrNameLst>
                                      </p:cBhvr>
                                      <p:to>
                                        <p:strVal val="visible"/>
                                      </p:to>
                                    </p:set>
                                    <p:animEffect transition="in" filter="blinds(horizontal)">
                                      <p:cBhvr>
                                        <p:cTn id="26" dur="500"/>
                                        <p:tgtEl>
                                          <p:spTgt spid="3072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animEffect transition="in" filter="blinds(horizontal)">
                                      <p:cBhvr>
                                        <p:cTn id="31" dur="500"/>
                                        <p:tgtEl>
                                          <p:spTgt spid="5">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animEffect transition="in" filter="blinds(horizontal)">
                                      <p:cBhvr>
                                        <p:cTn id="36" dur="500"/>
                                        <p:tgtEl>
                                          <p:spTgt spid="5">
                                            <p:txEl>
                                              <p:pRg st="1" end="1"/>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animEffect transition="in" filter="blinds(horizontal)">
                                      <p:cBhvr>
                                        <p:cTn id="39" dur="500"/>
                                        <p:tgtEl>
                                          <p:spTgt spid="5">
                                            <p:txEl>
                                              <p:pRg st="2" end="2"/>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5">
                                            <p:txEl>
                                              <p:pRg st="3" end="3"/>
                                            </p:txEl>
                                          </p:spTgt>
                                        </p:tgtEl>
                                        <p:attrNameLst>
                                          <p:attrName>style.visibility</p:attrName>
                                        </p:attrNameLst>
                                      </p:cBhvr>
                                      <p:to>
                                        <p:strVal val="visible"/>
                                      </p:to>
                                    </p:set>
                                    <p:animEffect transition="in" filter="blinds(horizontal)">
                                      <p:cBhvr>
                                        <p:cTn id="42" dur="500"/>
                                        <p:tgtEl>
                                          <p:spTgt spid="5">
                                            <p:txEl>
                                              <p:pRg st="3" end="3"/>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5">
                                            <p:txEl>
                                              <p:pRg st="4" end="4"/>
                                            </p:txEl>
                                          </p:spTgt>
                                        </p:tgtEl>
                                        <p:attrNameLst>
                                          <p:attrName>style.visibility</p:attrName>
                                        </p:attrNameLst>
                                      </p:cBhvr>
                                      <p:to>
                                        <p:strVal val="visible"/>
                                      </p:to>
                                    </p:set>
                                    <p:animEffect transition="in" filter="blinds(horizontal)">
                                      <p:cBhvr>
                                        <p:cTn id="45"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P spid="5"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5" name="Rectangle 2"/>
          <p:cNvSpPr>
            <a:spLocks noGrp="1"/>
          </p:cNvSpPr>
          <p:nvPr>
            <p:ph type="title"/>
          </p:nvPr>
        </p:nvSpPr>
        <p:spPr/>
        <p:txBody>
          <a:bodyPr wrap="square" anchor="ctr"/>
          <a:p>
            <a:pPr eaLnBrk="1" hangingPunct="1"/>
            <a:r>
              <a:rPr lang="zh-CN" altLang="en-US" dirty="0">
                <a:solidFill>
                  <a:schemeClr val="tx1"/>
                </a:solidFill>
              </a:rPr>
              <a:t>与嵌套查询有关的</a:t>
            </a:r>
            <a:r>
              <a:rPr lang="zh-CN" altLang="en-US" dirty="0">
                <a:solidFill>
                  <a:schemeClr val="tx1"/>
                </a:solidFill>
              </a:rPr>
              <a:t>查询谓词</a:t>
            </a:r>
            <a:endParaRPr lang="zh-CN" altLang="en-US" dirty="0">
              <a:solidFill>
                <a:schemeClr val="tx1"/>
              </a:solidFill>
            </a:endParaRPr>
          </a:p>
        </p:txBody>
      </p:sp>
      <p:sp>
        <p:nvSpPr>
          <p:cNvPr id="69636" name="Rectangle 3"/>
          <p:cNvSpPr>
            <a:spLocks noGrp="1"/>
          </p:cNvSpPr>
          <p:nvPr>
            <p:ph idx="1"/>
          </p:nvPr>
        </p:nvSpPr>
        <p:spPr/>
        <p:txBody>
          <a:bodyPr wrap="square" anchor="t"/>
          <a:p>
            <a:pPr eaLnBrk="1" hangingPunct="1">
              <a:lnSpc>
                <a:spcPct val="125000"/>
              </a:lnSpc>
              <a:spcBef>
                <a:spcPts val="0"/>
              </a:spcBef>
            </a:pPr>
            <a:r>
              <a:rPr lang="zh-CN" altLang="en-US" sz="2800" dirty="0"/>
              <a:t>嵌套查询通常被用在</a:t>
            </a:r>
            <a:r>
              <a:rPr lang="en-US" altLang="zh-CN" sz="2800" dirty="0"/>
              <a:t>WHERE</a:t>
            </a:r>
            <a:r>
              <a:rPr lang="zh-CN" altLang="en-US" sz="2800" dirty="0"/>
              <a:t>子句中，构造查询条件</a:t>
            </a:r>
            <a:endParaRPr lang="en-US" altLang="x-none" sz="2800" dirty="0"/>
          </a:p>
          <a:p>
            <a:pPr eaLnBrk="1" hangingPunct="1">
              <a:lnSpc>
                <a:spcPct val="125000"/>
              </a:lnSpc>
            </a:pPr>
            <a:r>
              <a:rPr lang="en-US" altLang="x-none" sz="2800" dirty="0"/>
              <a:t>WHERE</a:t>
            </a:r>
            <a:r>
              <a:rPr lang="zh-CN" altLang="en-US" sz="2800" dirty="0"/>
              <a:t>子句中</a:t>
            </a:r>
            <a:r>
              <a:rPr lang="zh-CN" altLang="en-US" sz="2800" dirty="0">
                <a:sym typeface="+mn-ea"/>
              </a:rPr>
              <a:t>与嵌套查询有关的</a:t>
            </a:r>
            <a:r>
              <a:rPr lang="zh-CN" altLang="en-US" sz="2800" dirty="0"/>
              <a:t>查询谓词主要有：</a:t>
            </a:r>
            <a:endParaRPr lang="zh-CN" altLang="en-US" sz="2800" dirty="0"/>
          </a:p>
          <a:p>
            <a:pPr lvl="1" eaLnBrk="1" hangingPunct="1">
              <a:lnSpc>
                <a:spcPct val="125000"/>
              </a:lnSpc>
            </a:pPr>
            <a:r>
              <a:rPr lang="en-US" altLang="x-none" dirty="0">
                <a:highlight>
                  <a:srgbClr val="FFFF00"/>
                </a:highlight>
              </a:rPr>
              <a:t>IN</a:t>
            </a:r>
            <a:r>
              <a:rPr lang="zh-CN" altLang="en-US" dirty="0">
                <a:highlight>
                  <a:srgbClr val="FFFF00"/>
                </a:highlight>
              </a:rPr>
              <a:t>谓词</a:t>
            </a:r>
            <a:r>
              <a:rPr lang="zh-CN" altLang="en-US" dirty="0"/>
              <a:t>：标量与集合量之间的属于比较</a:t>
            </a:r>
            <a:endParaRPr lang="zh-CN" altLang="en-US" dirty="0"/>
          </a:p>
          <a:p>
            <a:pPr lvl="2" eaLnBrk="1" hangingPunct="1">
              <a:lnSpc>
                <a:spcPct val="125000"/>
              </a:lnSpc>
              <a:spcBef>
                <a:spcPts val="0"/>
              </a:spcBef>
              <a:buNone/>
            </a:pPr>
            <a:r>
              <a:rPr lang="en-US" altLang="x-none" dirty="0">
                <a:solidFill>
                  <a:srgbClr val="FF0000"/>
                </a:solidFill>
              </a:rPr>
              <a:t>expr  [ NOT </a:t>
            </a:r>
            <a:r>
              <a:rPr lang="en-US" altLang="x-none" dirty="0">
                <a:solidFill>
                  <a:srgbClr val="FF0000"/>
                </a:solidFill>
              </a:rPr>
              <a:t>] IN ( subquery )</a:t>
            </a:r>
            <a:endParaRPr lang="en-US" altLang="x-none" dirty="0"/>
          </a:p>
          <a:p>
            <a:pPr lvl="2" eaLnBrk="1" hangingPunct="1">
              <a:lnSpc>
                <a:spcPct val="125000"/>
              </a:lnSpc>
              <a:spcBef>
                <a:spcPts val="0"/>
              </a:spcBef>
              <a:buNone/>
            </a:pPr>
            <a:endParaRPr lang="en-US" altLang="x-none" dirty="0"/>
          </a:p>
          <a:p>
            <a:pPr lvl="1" eaLnBrk="1" hangingPunct="1">
              <a:lnSpc>
                <a:spcPct val="125000"/>
              </a:lnSpc>
              <a:spcBef>
                <a:spcPts val="0"/>
              </a:spcBef>
            </a:pPr>
            <a:r>
              <a:rPr lang="zh-CN" altLang="en-US" dirty="0">
                <a:highlight>
                  <a:srgbClr val="FFFF00"/>
                </a:highlight>
              </a:rPr>
              <a:t>限定比较谓词</a:t>
            </a:r>
            <a:r>
              <a:rPr lang="zh-CN" altLang="en-US" dirty="0"/>
              <a:t>：标量与集合中元素之间的量化比较</a:t>
            </a:r>
            <a:endParaRPr lang="zh-CN" altLang="en-US" dirty="0"/>
          </a:p>
          <a:p>
            <a:pPr lvl="2" eaLnBrk="1" hangingPunct="1">
              <a:lnSpc>
                <a:spcPct val="125000"/>
              </a:lnSpc>
              <a:spcBef>
                <a:spcPts val="0"/>
              </a:spcBef>
              <a:buNone/>
            </a:pPr>
            <a:r>
              <a:rPr lang="en-US" altLang="x-none" dirty="0">
                <a:solidFill>
                  <a:srgbClr val="FF0000"/>
                </a:solidFill>
              </a:rPr>
              <a:t>expr  </a:t>
            </a:r>
            <a:r>
              <a:rPr lang="en-US" altLang="x-none" dirty="0">
                <a:solidFill>
                  <a:srgbClr val="FF0000"/>
                </a:solidFill>
                <a:sym typeface="Symbol" panose="05050102010706020507" pitchFamily="18" charset="2"/>
              </a:rPr>
              <a:t>  </a:t>
            </a:r>
            <a:r>
              <a:rPr lang="zh-CN" altLang="en-US" dirty="0">
                <a:solidFill>
                  <a:srgbClr val="FF0000"/>
                </a:solidFill>
                <a:sym typeface="Symbol" panose="05050102010706020507" pitchFamily="18" charset="2"/>
              </a:rPr>
              <a:t>SOME</a:t>
            </a:r>
            <a:r>
              <a:rPr lang="en-US" altLang="x-none" dirty="0">
                <a:solidFill>
                  <a:srgbClr val="FF0000"/>
                </a:solidFill>
                <a:sym typeface="Symbol" panose="05050102010706020507" pitchFamily="18" charset="2"/>
              </a:rPr>
              <a:t>|ANY</a:t>
            </a:r>
            <a:r>
              <a:rPr lang="en-US" altLang="x-none" dirty="0">
                <a:solidFill>
                  <a:srgbClr val="FF0000"/>
                </a:solidFill>
                <a:sym typeface="Symbol" panose="05050102010706020507" pitchFamily="18" charset="2"/>
              </a:rPr>
              <a:t>|ALL ( subquery )</a:t>
            </a:r>
            <a:endParaRPr lang="en-US" altLang="x-none" dirty="0">
              <a:solidFill>
                <a:srgbClr val="FF0000"/>
              </a:solidFill>
              <a:sym typeface="Symbol" panose="05050102010706020507" pitchFamily="18" charset="2"/>
            </a:endParaRPr>
          </a:p>
          <a:p>
            <a:pPr lvl="2" eaLnBrk="1" hangingPunct="1">
              <a:lnSpc>
                <a:spcPct val="125000"/>
              </a:lnSpc>
              <a:spcBef>
                <a:spcPts val="0"/>
              </a:spcBef>
              <a:buNone/>
            </a:pPr>
            <a:endParaRPr lang="en-US" altLang="x-none" dirty="0">
              <a:sym typeface="Symbol" panose="05050102010706020507" pitchFamily="18" charset="2"/>
            </a:endParaRPr>
          </a:p>
          <a:p>
            <a:pPr lvl="1" eaLnBrk="1" hangingPunct="1">
              <a:lnSpc>
                <a:spcPct val="125000"/>
              </a:lnSpc>
              <a:spcBef>
                <a:spcPts val="0"/>
              </a:spcBef>
            </a:pPr>
            <a:r>
              <a:rPr lang="en-US" altLang="x-none" dirty="0">
                <a:highlight>
                  <a:srgbClr val="FFFF00"/>
                </a:highlight>
              </a:rPr>
              <a:t>EXISTS</a:t>
            </a:r>
            <a:r>
              <a:rPr lang="zh-CN" altLang="en-US" dirty="0">
                <a:highlight>
                  <a:srgbClr val="FFFF00"/>
                </a:highlight>
              </a:rPr>
              <a:t>谓词</a:t>
            </a:r>
            <a:r>
              <a:rPr lang="zh-CN" altLang="en-US" dirty="0"/>
              <a:t>：是否为空集的判断谓词</a:t>
            </a:r>
            <a:endParaRPr lang="zh-CN" altLang="en-US" dirty="0"/>
          </a:p>
          <a:p>
            <a:pPr lvl="2" eaLnBrk="1" hangingPunct="1">
              <a:lnSpc>
                <a:spcPct val="125000"/>
              </a:lnSpc>
              <a:spcBef>
                <a:spcPts val="0"/>
              </a:spcBef>
              <a:buNone/>
            </a:pPr>
            <a:r>
              <a:rPr lang="en-US" altLang="x-none" dirty="0">
                <a:solidFill>
                  <a:srgbClr val="FF0000"/>
                </a:solidFill>
              </a:rPr>
              <a:t>[ NOT </a:t>
            </a:r>
            <a:r>
              <a:rPr lang="en-US" altLang="x-none" dirty="0">
                <a:solidFill>
                  <a:srgbClr val="FF0000"/>
                </a:solidFill>
              </a:rPr>
              <a:t>] EXISTS ( subquery )</a:t>
            </a:r>
            <a:endParaRPr lang="en-US" altLang="x-none" dirty="0">
              <a:solidFill>
                <a:srgbClr val="FF0000"/>
              </a:solidFill>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dirty="0"/>
              <a:t>带有</a:t>
            </a:r>
            <a:r>
              <a:rPr lang="en-US" altLang="zh-CN" dirty="0"/>
              <a:t>IN</a:t>
            </a:r>
            <a:r>
              <a:rPr lang="zh-CN" altLang="en-US" dirty="0"/>
              <a:t>谓词的子查询 </a:t>
            </a:r>
            <a:r>
              <a:rPr lang="en-US" altLang="zh-CN" dirty="0"/>
              <a:t>1</a:t>
            </a:r>
            <a:endParaRPr lang="zh-CN" altLang="en-US" dirty="0"/>
          </a:p>
        </p:txBody>
      </p:sp>
      <p:sp>
        <p:nvSpPr>
          <p:cNvPr id="33795" name="Rectangle 3"/>
          <p:cNvSpPr>
            <a:spLocks noGrp="1" noChangeArrowheads="1"/>
          </p:cNvSpPr>
          <p:nvPr>
            <p:ph idx="1"/>
          </p:nvPr>
        </p:nvSpPr>
        <p:spPr/>
        <p:txBody>
          <a:bodyPr>
            <a:noAutofit/>
          </a:bodyPr>
          <a:lstStyle/>
          <a:p>
            <a:pPr>
              <a:lnSpc>
                <a:spcPct val="100000"/>
              </a:lnSpc>
              <a:spcBef>
                <a:spcPct val="0"/>
              </a:spcBef>
            </a:pPr>
            <a:r>
              <a:rPr lang="en-US" altLang="zh-CN" sz="2800" dirty="0"/>
              <a:t>[</a:t>
            </a:r>
            <a:r>
              <a:rPr lang="zh-CN" altLang="en-US" sz="2800" dirty="0"/>
              <a:t>例</a:t>
            </a:r>
            <a:r>
              <a:rPr lang="en-US" altLang="zh-CN" sz="2800" dirty="0"/>
              <a:t>3.55] </a:t>
            </a:r>
            <a:r>
              <a:rPr lang="zh-CN" altLang="en-US" sz="2800" dirty="0"/>
              <a:t>查询与“刘晨”在同一个系学习的学生。</a:t>
            </a:r>
            <a:endParaRPr lang="en-US" altLang="zh-CN" sz="2800" dirty="0"/>
          </a:p>
          <a:p>
            <a:pPr lvl="1" fontAlgn="auto">
              <a:lnSpc>
                <a:spcPct val="100000"/>
              </a:lnSpc>
              <a:spcBef>
                <a:spcPts val="1000"/>
              </a:spcBef>
            </a:pPr>
            <a:r>
              <a:rPr lang="zh-CN" altLang="en-US" sz="2800" dirty="0"/>
              <a:t>根据对查询语义的分析，可以先分步来完成（</a:t>
            </a:r>
            <a:r>
              <a:rPr lang="zh-CN" altLang="en-US" sz="2800" dirty="0"/>
              <a:t>理解）此查询</a:t>
            </a:r>
            <a:endParaRPr lang="en-US" altLang="zh-CN" sz="2800" dirty="0"/>
          </a:p>
          <a:p>
            <a:pPr lvl="1" fontAlgn="auto">
              <a:lnSpc>
                <a:spcPct val="100000"/>
              </a:lnSpc>
              <a:spcBef>
                <a:spcPts val="1000"/>
              </a:spcBef>
            </a:pPr>
            <a:r>
              <a:rPr lang="zh-CN" altLang="en-US" sz="2800" dirty="0"/>
              <a:t>第一步：确定</a:t>
            </a:r>
            <a:r>
              <a:rPr lang="en-US" altLang="zh-CN" sz="2800" dirty="0">
                <a:latin typeface="Times New Roman" panose="02020503050405090304" pitchFamily="2" charset="0"/>
                <a:cs typeface="Times New Roman" panose="02020503050405090304" pitchFamily="2" charset="0"/>
              </a:rPr>
              <a:t>“</a:t>
            </a:r>
            <a:r>
              <a:rPr lang="zh-CN" altLang="en-US" sz="2800" dirty="0">
                <a:latin typeface="Times New Roman" panose="02020503050405090304" pitchFamily="2" charset="0"/>
                <a:cs typeface="Times New Roman" panose="02020503050405090304" pitchFamily="2" charset="0"/>
              </a:rPr>
              <a:t>刘晨</a:t>
            </a:r>
            <a:r>
              <a:rPr lang="en-US" altLang="zh-CN" sz="2800" dirty="0">
                <a:latin typeface="Times New Roman" panose="02020503050405090304" pitchFamily="2" charset="0"/>
                <a:cs typeface="Times New Roman" panose="02020503050405090304" pitchFamily="2" charset="0"/>
              </a:rPr>
              <a:t>”</a:t>
            </a:r>
            <a:r>
              <a:rPr lang="zh-CN" altLang="en-US" sz="2800" dirty="0"/>
              <a:t>所在系名             </a:t>
            </a:r>
            <a:endParaRPr lang="zh-CN" altLang="en-US" sz="2800" dirty="0"/>
          </a:p>
          <a:p>
            <a:pPr marL="715645" lvl="2" indent="0">
              <a:lnSpc>
                <a:spcPct val="100000"/>
              </a:lnSpc>
              <a:spcBef>
                <a:spcPct val="0"/>
              </a:spcBef>
              <a:buNone/>
            </a:pPr>
            <a:r>
              <a:rPr lang="en-US" altLang="zh-CN" sz="2800" b="0" dirty="0">
                <a:solidFill>
                  <a:srgbClr val="FF0000"/>
                </a:solidFill>
                <a:latin typeface="Arial" panose="020B0604020202090204" pitchFamily="34" charset="0"/>
                <a:cs typeface="Arial" panose="020B0604020202090204" pitchFamily="34" charset="0"/>
              </a:rPr>
              <a:t>SELECT  </a:t>
            </a:r>
            <a:r>
              <a:rPr lang="en-US" altLang="zh-CN" sz="2800" b="0" dirty="0" err="1">
                <a:solidFill>
                  <a:srgbClr val="FF0000"/>
                </a:solidFill>
                <a:latin typeface="Arial" panose="020B0604020202090204" pitchFamily="34" charset="0"/>
                <a:cs typeface="Arial" panose="020B0604020202090204" pitchFamily="34" charset="0"/>
              </a:rPr>
              <a:t>Sdept</a:t>
            </a:r>
            <a:r>
              <a:rPr lang="en-US" altLang="zh-CN" sz="2800" b="0" dirty="0">
                <a:solidFill>
                  <a:srgbClr val="FF0000"/>
                </a:solidFill>
                <a:latin typeface="Arial" panose="020B0604020202090204" pitchFamily="34" charset="0"/>
                <a:cs typeface="Arial" panose="020B0604020202090204" pitchFamily="34" charset="0"/>
              </a:rPr>
              <a:t>  </a:t>
            </a:r>
            <a:endParaRPr lang="en-US" altLang="zh-CN" sz="2800" b="0" dirty="0">
              <a:solidFill>
                <a:srgbClr val="FF0000"/>
              </a:solidFill>
              <a:latin typeface="Arial" panose="020B0604020202090204" pitchFamily="34" charset="0"/>
              <a:cs typeface="Arial" panose="020B0604020202090204" pitchFamily="34" charset="0"/>
            </a:endParaRPr>
          </a:p>
          <a:p>
            <a:pPr marL="715645" lvl="2" indent="0">
              <a:lnSpc>
                <a:spcPct val="100000"/>
              </a:lnSpc>
              <a:spcBef>
                <a:spcPct val="0"/>
              </a:spcBef>
              <a:buNone/>
            </a:pPr>
            <a:r>
              <a:rPr lang="en-US" altLang="zh-CN" sz="2800" b="0" dirty="0">
                <a:solidFill>
                  <a:srgbClr val="FF0000"/>
                </a:solidFill>
                <a:latin typeface="Arial" panose="020B0604020202090204" pitchFamily="34" charset="0"/>
                <a:cs typeface="Arial" panose="020B0604020202090204" pitchFamily="34" charset="0"/>
              </a:rPr>
              <a:t>FROM    Student                            </a:t>
            </a:r>
            <a:endParaRPr lang="en-US" altLang="zh-CN" sz="2800" b="0" dirty="0">
              <a:solidFill>
                <a:srgbClr val="FF0000"/>
              </a:solidFill>
              <a:latin typeface="Arial" panose="020B0604020202090204" pitchFamily="34" charset="0"/>
              <a:cs typeface="Arial" panose="020B0604020202090204" pitchFamily="34" charset="0"/>
            </a:endParaRPr>
          </a:p>
          <a:p>
            <a:pPr marL="715645" lvl="2" indent="0">
              <a:lnSpc>
                <a:spcPct val="100000"/>
              </a:lnSpc>
              <a:spcBef>
                <a:spcPct val="0"/>
              </a:spcBef>
              <a:buNone/>
            </a:pPr>
            <a:r>
              <a:rPr lang="en-US" altLang="zh-CN" sz="2800" b="0" dirty="0">
                <a:solidFill>
                  <a:srgbClr val="FF0000"/>
                </a:solidFill>
                <a:latin typeface="Arial" panose="020B0604020202090204" pitchFamily="34" charset="0"/>
                <a:cs typeface="Arial" panose="020B0604020202090204" pitchFamily="34" charset="0"/>
              </a:rPr>
              <a:t>WHERE  </a:t>
            </a:r>
            <a:r>
              <a:rPr lang="en-US" altLang="zh-CN" sz="2800" b="0" dirty="0" err="1">
                <a:solidFill>
                  <a:srgbClr val="FF0000"/>
                </a:solidFill>
                <a:latin typeface="Arial" panose="020B0604020202090204" pitchFamily="34" charset="0"/>
                <a:cs typeface="Arial" panose="020B0604020202090204" pitchFamily="34" charset="0"/>
              </a:rPr>
              <a:t>Sname </a:t>
            </a:r>
            <a:r>
              <a:rPr lang="en-US" altLang="zh-CN" sz="2800" b="0" dirty="0">
                <a:solidFill>
                  <a:srgbClr val="FF0000"/>
                </a:solidFill>
                <a:latin typeface="Arial" panose="020B0604020202090204" pitchFamily="34" charset="0"/>
                <a:cs typeface="Arial" panose="020B0604020202090204" pitchFamily="34" charset="0"/>
              </a:rPr>
              <a:t>= '</a:t>
            </a:r>
            <a:r>
              <a:rPr lang="zh-CN" altLang="en-US" sz="2800" b="0" dirty="0">
                <a:solidFill>
                  <a:srgbClr val="FF0000"/>
                </a:solidFill>
                <a:latin typeface="Arial" panose="020B0604020202090204" pitchFamily="34" charset="0"/>
                <a:cs typeface="Arial" panose="020B0604020202090204" pitchFamily="34" charset="0"/>
              </a:rPr>
              <a:t>刘晨</a:t>
            </a:r>
            <a:r>
              <a:rPr lang="en-US" altLang="zh-CN" sz="2800" b="0" dirty="0">
                <a:solidFill>
                  <a:srgbClr val="FF0000"/>
                </a:solidFill>
                <a:latin typeface="Arial" panose="020B0604020202090204" pitchFamily="34" charset="0"/>
                <a:cs typeface="Arial" panose="020B0604020202090204" pitchFamily="34" charset="0"/>
              </a:rPr>
              <a:t>'</a:t>
            </a:r>
            <a:r>
              <a:rPr lang="zh-CN" altLang="en-US" sz="2800" b="0" dirty="0">
                <a:solidFill>
                  <a:srgbClr val="FF0000"/>
                </a:solidFill>
                <a:latin typeface="Arial" panose="020B0604020202090204" pitchFamily="34" charset="0"/>
                <a:cs typeface="Arial" panose="020B0604020202090204" pitchFamily="34" charset="0"/>
              </a:rPr>
              <a:t>;</a:t>
            </a:r>
            <a:endParaRPr lang="zh-CN" altLang="en-US" sz="2800" b="0" dirty="0">
              <a:solidFill>
                <a:srgbClr val="FF0000"/>
              </a:solidFill>
              <a:latin typeface="Arial" panose="020B0604020202090204" pitchFamily="34" charset="0"/>
              <a:cs typeface="Arial" panose="020B0604020202090204" pitchFamily="34" charset="0"/>
            </a:endParaRPr>
          </a:p>
          <a:p>
            <a:pPr lvl="1" fontAlgn="auto">
              <a:lnSpc>
                <a:spcPct val="100000"/>
              </a:lnSpc>
              <a:spcBef>
                <a:spcPts val="2000"/>
              </a:spcBef>
            </a:pPr>
            <a:r>
              <a:rPr lang="zh-CN" altLang="en-US" dirty="0">
                <a:sym typeface="+mn-ea"/>
              </a:rPr>
              <a:t>第二步：查找所有在</a:t>
            </a:r>
            <a:r>
              <a:rPr lang="en-US" altLang="zh-CN" dirty="0">
                <a:sym typeface="+mn-ea"/>
              </a:rPr>
              <a:t>CS</a:t>
            </a:r>
            <a:r>
              <a:rPr lang="zh-CN" altLang="en-US" dirty="0">
                <a:sym typeface="+mn-ea"/>
              </a:rPr>
              <a:t>系学习的学生    </a:t>
            </a:r>
            <a:endParaRPr lang="zh-CN" altLang="en-US" dirty="0"/>
          </a:p>
          <a:p>
            <a:pPr marL="727075" lvl="2" indent="0">
              <a:lnSpc>
                <a:spcPct val="100000"/>
              </a:lnSpc>
              <a:buNone/>
            </a:pPr>
            <a:r>
              <a:rPr lang="en-US" altLang="zh-CN" b="0" dirty="0">
                <a:solidFill>
                  <a:srgbClr val="FF0000"/>
                </a:solidFill>
                <a:latin typeface="Arial" panose="020B0604020202090204" pitchFamily="34" charset="0"/>
                <a:cs typeface="Arial" panose="020B0604020202090204" pitchFamily="34" charset="0"/>
                <a:sym typeface="+mn-ea"/>
              </a:rPr>
              <a:t>SELECT  </a:t>
            </a:r>
            <a:r>
              <a:rPr lang="en-US" altLang="zh-CN" b="0" dirty="0" err="1">
                <a:solidFill>
                  <a:srgbClr val="FF0000"/>
                </a:solidFill>
                <a:latin typeface="Arial" panose="020B0604020202090204" pitchFamily="34" charset="0"/>
                <a:cs typeface="Arial" panose="020B0604020202090204" pitchFamily="34" charset="0"/>
                <a:sym typeface="+mn-ea"/>
              </a:rPr>
              <a:t>Sno</a:t>
            </a:r>
            <a:r>
              <a:rPr lang="en-US" altLang="zh-CN" b="0" dirty="0">
                <a:solidFill>
                  <a:srgbClr val="FF0000"/>
                </a:solidFill>
                <a:latin typeface="Arial" panose="020B0604020202090204" pitchFamily="34" charset="0"/>
                <a:cs typeface="Arial" panose="020B0604020202090204" pitchFamily="34" charset="0"/>
                <a:sym typeface="+mn-ea"/>
              </a:rPr>
              <a:t>, </a:t>
            </a:r>
            <a:r>
              <a:rPr lang="en-US" altLang="zh-CN" b="0" dirty="0" err="1">
                <a:solidFill>
                  <a:srgbClr val="FF0000"/>
                </a:solidFill>
                <a:latin typeface="Arial" panose="020B0604020202090204" pitchFamily="34" charset="0"/>
                <a:cs typeface="Arial" panose="020B0604020202090204" pitchFamily="34" charset="0"/>
                <a:sym typeface="+mn-ea"/>
              </a:rPr>
              <a:t>Sname</a:t>
            </a:r>
            <a:r>
              <a:rPr lang="en-US" altLang="zh-CN" b="0" dirty="0">
                <a:solidFill>
                  <a:srgbClr val="FF0000"/>
                </a:solidFill>
                <a:latin typeface="Arial" panose="020B0604020202090204" pitchFamily="34" charset="0"/>
                <a:cs typeface="Arial" panose="020B0604020202090204" pitchFamily="34" charset="0"/>
                <a:sym typeface="+mn-ea"/>
              </a:rPr>
              <a:t>, </a:t>
            </a:r>
            <a:r>
              <a:rPr lang="en-US" altLang="zh-CN" b="0" dirty="0" err="1">
                <a:solidFill>
                  <a:srgbClr val="FF0000"/>
                </a:solidFill>
                <a:latin typeface="Arial" panose="020B0604020202090204" pitchFamily="34" charset="0"/>
                <a:cs typeface="Arial" panose="020B0604020202090204" pitchFamily="34" charset="0"/>
                <a:sym typeface="+mn-ea"/>
              </a:rPr>
              <a:t>Sdept</a:t>
            </a:r>
            <a:r>
              <a:rPr lang="en-US" altLang="zh-CN" b="0" dirty="0">
                <a:solidFill>
                  <a:srgbClr val="FF0000"/>
                </a:solidFill>
                <a:latin typeface="Arial" panose="020B0604020202090204" pitchFamily="34" charset="0"/>
                <a:cs typeface="Arial" panose="020B0604020202090204" pitchFamily="34" charset="0"/>
                <a:sym typeface="+mn-ea"/>
              </a:rPr>
              <a:t>     </a:t>
            </a:r>
            <a:endParaRPr lang="en-US" altLang="zh-CN" b="0" dirty="0">
              <a:solidFill>
                <a:srgbClr val="FF0000"/>
              </a:solidFill>
              <a:latin typeface="Arial" panose="020B0604020202090204" pitchFamily="34" charset="0"/>
              <a:cs typeface="Arial" panose="020B0604020202090204" pitchFamily="34" charset="0"/>
            </a:endParaRPr>
          </a:p>
          <a:p>
            <a:pPr marL="727075" lvl="2" indent="0">
              <a:lnSpc>
                <a:spcPct val="100000"/>
              </a:lnSpc>
              <a:buNone/>
            </a:pPr>
            <a:r>
              <a:rPr lang="en-US" altLang="zh-CN" b="0" dirty="0">
                <a:solidFill>
                  <a:srgbClr val="FF0000"/>
                </a:solidFill>
                <a:latin typeface="Arial" panose="020B0604020202090204" pitchFamily="34" charset="0"/>
                <a:cs typeface="Arial" panose="020B0604020202090204" pitchFamily="34" charset="0"/>
                <a:sym typeface="+mn-ea"/>
              </a:rPr>
              <a:t>FROM    Student                 </a:t>
            </a:r>
            <a:endParaRPr lang="en-US" altLang="zh-CN" b="0" dirty="0">
              <a:solidFill>
                <a:srgbClr val="FF0000"/>
              </a:solidFill>
              <a:latin typeface="Arial" panose="020B0604020202090204" pitchFamily="34" charset="0"/>
              <a:cs typeface="Arial" panose="020B0604020202090204" pitchFamily="34" charset="0"/>
            </a:endParaRPr>
          </a:p>
          <a:p>
            <a:pPr marL="727075" lvl="2" indent="0">
              <a:lnSpc>
                <a:spcPct val="100000"/>
              </a:lnSpc>
              <a:buNone/>
            </a:pPr>
            <a:r>
              <a:rPr lang="en-US" altLang="zh-CN" b="0" dirty="0">
                <a:solidFill>
                  <a:srgbClr val="FF0000"/>
                </a:solidFill>
                <a:latin typeface="Arial" panose="020B0604020202090204" pitchFamily="34" charset="0"/>
                <a:cs typeface="Arial" panose="020B0604020202090204" pitchFamily="34" charset="0"/>
                <a:sym typeface="+mn-ea"/>
              </a:rPr>
              <a:t>WHERE   </a:t>
            </a:r>
            <a:r>
              <a:rPr lang="en-US" altLang="zh-CN" b="0" dirty="0" err="1">
                <a:solidFill>
                  <a:srgbClr val="FF0000"/>
                </a:solidFill>
                <a:latin typeface="Arial" panose="020B0604020202090204" pitchFamily="34" charset="0"/>
                <a:cs typeface="Arial" panose="020B0604020202090204" pitchFamily="34" charset="0"/>
                <a:sym typeface="+mn-ea"/>
              </a:rPr>
              <a:t>Sdept </a:t>
            </a:r>
            <a:r>
              <a:rPr lang="en-US" altLang="zh-CN" b="0" dirty="0">
                <a:solidFill>
                  <a:srgbClr val="FF0000"/>
                </a:solidFill>
                <a:latin typeface="Arial" panose="020B0604020202090204" pitchFamily="34" charset="0"/>
                <a:cs typeface="Arial" panose="020B0604020202090204" pitchFamily="34" charset="0"/>
                <a:sym typeface="+mn-ea"/>
              </a:rPr>
              <a:t>= 'CS';</a:t>
            </a:r>
            <a:endParaRPr lang="en-US" altLang="zh-CN" sz="2800" dirty="0">
              <a:solidFill>
                <a:srgbClr val="0000C8"/>
              </a:solidFill>
            </a:endParaRPr>
          </a:p>
        </p:txBody>
      </p:sp>
      <p:sp>
        <p:nvSpPr>
          <p:cNvPr id="5" name="内容占位符 4"/>
          <p:cNvSpPr>
            <a:spLocks noGrp="1"/>
          </p:cNvSpPr>
          <p:nvPr>
            <p:ph sz="half" idx="4294967295"/>
          </p:nvPr>
        </p:nvSpPr>
        <p:spPr>
          <a:xfrm>
            <a:off x="424180" y="5922645"/>
            <a:ext cx="11343005" cy="521970"/>
          </a:xfrm>
        </p:spPr>
        <p:txBody>
          <a:bodyPr>
            <a:spAutoFit/>
          </a:bodyPr>
          <a:lstStyle/>
          <a:p>
            <a:pPr lvl="0">
              <a:lnSpc>
                <a:spcPct val="100000"/>
              </a:lnSpc>
            </a:pPr>
            <a:r>
              <a:rPr lang="en-US" altLang="zh-CN" sz="2800" dirty="0">
                <a:latin typeface="Times New Roman" panose="02020503050405090304" pitchFamily="2" charset="0"/>
                <a:cs typeface="Times New Roman" panose="02020503050405090304" pitchFamily="2" charset="0"/>
              </a:rPr>
              <a:t>‘</a:t>
            </a:r>
            <a:r>
              <a:rPr lang="zh-CN" altLang="en-US" sz="2800" dirty="0">
                <a:latin typeface="Times New Roman" panose="02020503050405090304" pitchFamily="2" charset="0"/>
                <a:cs typeface="Times New Roman" panose="02020503050405090304" pitchFamily="2" charset="0"/>
              </a:rPr>
              <a:t>分步完成</a:t>
            </a:r>
            <a:r>
              <a:rPr lang="en-US" altLang="zh-CN" sz="2800" dirty="0">
                <a:latin typeface="Times New Roman" panose="02020503050405090304" pitchFamily="2" charset="0"/>
                <a:cs typeface="Times New Roman" panose="02020503050405090304" pitchFamily="2" charset="0"/>
              </a:rPr>
              <a:t>’</a:t>
            </a:r>
            <a:r>
              <a:rPr lang="zh-CN" altLang="en-US" sz="2800" dirty="0">
                <a:latin typeface="Times New Roman" panose="02020503050405090304" pitchFamily="2" charset="0"/>
                <a:cs typeface="Times New Roman" panose="02020503050405090304" pitchFamily="2" charset="0"/>
              </a:rPr>
              <a:t>查询不是数据库系统的方法！</a:t>
            </a:r>
            <a:endParaRPr lang="zh-CN" altLang="en-US" sz="2800" dirty="0">
              <a:latin typeface="Times New Roman" panose="02020503050405090304" pitchFamily="2" charset="0"/>
              <a:cs typeface="Times New Roman" panose="02020503050405090304" pitchFamily="2" charset="0"/>
            </a:endParaRPr>
          </a:p>
        </p:txBody>
      </p:sp>
      <p:graphicFrame>
        <p:nvGraphicFramePr>
          <p:cNvPr id="2" name="表格 2"/>
          <p:cNvGraphicFramePr>
            <a:graphicFrameLocks noGrp="1"/>
          </p:cNvGraphicFramePr>
          <p:nvPr>
            <p:custDataLst>
              <p:tags r:id="rId1"/>
            </p:custDataLst>
          </p:nvPr>
        </p:nvGraphicFramePr>
        <p:xfrm>
          <a:off x="8025130" y="2155825"/>
          <a:ext cx="5484495" cy="1642110"/>
        </p:xfrm>
        <a:graphic>
          <a:graphicData uri="http://schemas.openxmlformats.org/drawingml/2006/table">
            <a:tbl>
              <a:tblPr firstRow="1" bandRow="1">
                <a:tableStyleId>{5C22544A-7EE6-4342-B048-85BDC9FD1C3A}</a:tableStyleId>
              </a:tblPr>
              <a:tblGrid>
                <a:gridCol w="1906270"/>
              </a:tblGrid>
              <a:tr h="54737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Sdept</a:t>
                      </a:r>
                      <a:endParaRPr kumimoji="0" lang="en-US" sz="28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anchor="ct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r>
              <a:tr h="54737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anchor="ctr" horzOverflow="overflow">
                    <a:lnT w="19050" cmpd="sng">
                      <a:solidFill>
                        <a:schemeClr val="tx1"/>
                      </a:solidFill>
                      <a:prstDash val="solid"/>
                    </a:lnT>
                  </a:tcPr>
                </a:tc>
              </a:tr>
            </a:tbl>
          </a:graphicData>
        </a:graphic>
      </p:graphicFrame>
      <p:graphicFrame>
        <p:nvGraphicFramePr>
          <p:cNvPr id="4" name="表格 2"/>
          <p:cNvGraphicFramePr>
            <a:graphicFrameLocks noGrp="1"/>
          </p:cNvGraphicFramePr>
          <p:nvPr>
            <p:custDataLst>
              <p:tags r:id="rId2"/>
            </p:custDataLst>
          </p:nvPr>
        </p:nvGraphicFramePr>
        <p:xfrm>
          <a:off x="7067550" y="4229735"/>
          <a:ext cx="4699635" cy="1642110"/>
        </p:xfrm>
        <a:graphic>
          <a:graphicData uri="http://schemas.openxmlformats.org/drawingml/2006/table">
            <a:tbl>
              <a:tblPr firstRow="1" bandRow="1">
                <a:tableStyleId>{5C22544A-7EE6-4342-B048-85BDC9FD1C3A}</a:tableStyleId>
              </a:tblPr>
              <a:tblGrid>
                <a:gridCol w="2077720"/>
                <a:gridCol w="1310957"/>
                <a:gridCol w="1310957"/>
              </a:tblGrid>
              <a:tr h="547370">
                <a:tc>
                  <a:txBody>
                    <a:bodyPr/>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rPr>
                        <a:t>Sno</a:t>
                      </a:r>
                      <a:endParaRPr kumimoji="0" lang="en-US" sz="28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anchor="ct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rPr>
                        <a:t>Sname</a:t>
                      </a:r>
                      <a:endParaRPr kumimoji="0" lang="en-US" sz="28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anchor="ct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rPr>
                        <a:t>Sdept</a:t>
                      </a:r>
                      <a:endParaRPr kumimoji="0" lang="en-US" sz="2800" b="1" i="0" u="none" strike="noStrike" cap="none" normalizeH="0" baseline="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anchor="ctr" horzOverflow="overflow">
                    <a:lnT w="19050" cmpd="sng">
                      <a:solidFill>
                        <a:schemeClr val="tx1"/>
                      </a:solidFill>
                      <a:prstDash val="solid"/>
                    </a:lnT>
                    <a:lnB w="19050" cmpd="sng">
                      <a:solidFill>
                        <a:schemeClr val="tx1"/>
                      </a:solidFill>
                      <a:prstDash val="solid"/>
                    </a:lnB>
                    <a:solidFill>
                      <a:schemeClr val="accent3">
                        <a:lumMod val="20000"/>
                        <a:lumOff val="80000"/>
                      </a:schemeClr>
                    </a:solidFill>
                  </a:tcPr>
                </a:tc>
              </a:tr>
              <a:tr h="547370">
                <a:tc>
                  <a:txBody>
                    <a:bodyPr/>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201215121</a:t>
                      </a:r>
                      <a:endPar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anchor="ctr" horzOverflow="overflow">
                    <a:lnT w="19050" cmpd="sng">
                      <a:solidFill>
                        <a:schemeClr val="tx1"/>
                      </a:solidFill>
                      <a:prstDash val="solid"/>
                    </a:lnT>
                  </a:tcPr>
                </a:tc>
                <a:tc>
                  <a:txBody>
                    <a:bodyPr/>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dirty="0">
                          <a:ln>
                            <a:noFill/>
                          </a:ln>
                          <a:solidFill>
                            <a:srgbClr val="0000C8"/>
                          </a:solidFill>
                          <a:effectLst/>
                          <a:latin typeface="楷体" charset="-122"/>
                          <a:ea typeface="楷体" charset="-122"/>
                          <a:cs typeface="Times New Roman" panose="02020503050405090304" pitchFamily="2" charset="0"/>
                        </a:rPr>
                        <a:t>李勇</a:t>
                      </a:r>
                      <a:endParaRPr kumimoji="0" lang="zh-CN" altLang="en-US" sz="2800" b="1" i="0" u="none" strike="noStrike" cap="none" normalizeH="0" baseline="0" dirty="0">
                        <a:ln>
                          <a:noFill/>
                        </a:ln>
                        <a:solidFill>
                          <a:srgbClr val="0000C8"/>
                        </a:solidFill>
                        <a:effectLst/>
                        <a:latin typeface="楷体" charset="-122"/>
                        <a:ea typeface="楷体" charset="-122"/>
                        <a:cs typeface="Times New Roman" panose="02020503050405090304" pitchFamily="2" charset="0"/>
                      </a:endParaRPr>
                    </a:p>
                  </a:txBody>
                  <a:tcPr anchor="ctr" horzOverflow="overflow">
                    <a:lnT w="19050" cmpd="sng">
                      <a:solidFill>
                        <a:schemeClr val="tx1"/>
                      </a:solidFill>
                      <a:prstDash val="solid"/>
                    </a:lnT>
                  </a:tcPr>
                </a:tc>
                <a:tc>
                  <a:txBody>
                    <a:bodyPr/>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CS</a:t>
                      </a:r>
                      <a:endPar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anchor="ctr" horzOverflow="overflow">
                    <a:lnT w="19050" cmpd="sng">
                      <a:solidFill>
                        <a:schemeClr val="tx1"/>
                      </a:solidFill>
                      <a:prstDash val="solid"/>
                    </a:lnT>
                  </a:tcPr>
                </a:tc>
              </a:tr>
              <a:tr h="547370">
                <a:tc>
                  <a:txBody>
                    <a:bodyPr/>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a:ln>
                            <a:noFill/>
                          </a:ln>
                          <a:solidFill>
                            <a:srgbClr val="0000C8"/>
                          </a:solidFill>
                          <a:effectLst/>
                          <a:latin typeface="Times New Roman" panose="02020503050405090304" pitchFamily="2" charset="0"/>
                          <a:ea typeface="宋体" pitchFamily="2" charset="-122"/>
                        </a:rPr>
                        <a:t>201215122</a:t>
                      </a:r>
                      <a:endParaRPr kumimoji="0" lang="en-US" sz="2800" b="1" i="0" u="none" strike="noStrike" cap="none" normalizeH="0" baseline="0">
                        <a:ln>
                          <a:noFill/>
                        </a:ln>
                        <a:solidFill>
                          <a:srgbClr val="0000C8"/>
                        </a:solidFill>
                        <a:effectLst/>
                        <a:latin typeface="Times New Roman" panose="02020503050405090304" pitchFamily="2" charset="0"/>
                        <a:ea typeface="宋体" pitchFamily="2" charset="-122"/>
                      </a:endParaRPr>
                    </a:p>
                  </a:txBody>
                  <a:tcPr anchor="ctr" horzOverflow="overflow">
                    <a:lnB w="19050" cmpd="sng">
                      <a:solidFill>
                        <a:schemeClr val="tx1"/>
                      </a:solidFill>
                      <a:prstDash val="solid"/>
                    </a:lnB>
                  </a:tcPr>
                </a:tc>
                <a:tc>
                  <a:txBody>
                    <a:bodyPr/>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a:ln>
                            <a:noFill/>
                          </a:ln>
                          <a:solidFill>
                            <a:srgbClr val="0000C8"/>
                          </a:solidFill>
                          <a:effectLst/>
                          <a:latin typeface="楷体" charset="-122"/>
                          <a:ea typeface="楷体" charset="-122"/>
                        </a:rPr>
                        <a:t>刘晨</a:t>
                      </a:r>
                      <a:endParaRPr kumimoji="0" lang="zh-CN" altLang="en-US" sz="2800" b="1" i="0" u="none" strike="noStrike" cap="none" normalizeH="0" baseline="0">
                        <a:ln>
                          <a:noFill/>
                        </a:ln>
                        <a:solidFill>
                          <a:srgbClr val="0000C8"/>
                        </a:solidFill>
                        <a:effectLst/>
                        <a:latin typeface="楷体" charset="-122"/>
                        <a:ea typeface="楷体" charset="-122"/>
                      </a:endParaRPr>
                    </a:p>
                  </a:txBody>
                  <a:tcPr anchor="ctr" horzOverflow="overflow">
                    <a:lnB w="19050" cmpd="sng">
                      <a:solidFill>
                        <a:schemeClr val="tx1"/>
                      </a:solidFill>
                      <a:prstDash val="solid"/>
                    </a:lnB>
                  </a:tcPr>
                </a:tc>
                <a:tc>
                  <a:txBody>
                    <a:bodyPr/>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rPr>
                        <a:t>CS</a:t>
                      </a:r>
                      <a:endPar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endParaRPr>
                    </a:p>
                  </a:txBody>
                  <a:tcPr anchor="ctr" horzOverflow="overflow">
                    <a:lnB w="19050" cmpd="sng">
                      <a:solidFill>
                        <a:schemeClr val="tx1"/>
                      </a:solidFill>
                      <a:prstDash val="solid"/>
                    </a:lnB>
                  </a:tcPr>
                </a:tc>
              </a:tr>
            </a:tbl>
          </a:graphicData>
        </a:graphic>
      </p:graphicFrame>
      <p:sp>
        <p:nvSpPr>
          <p:cNvPr id="6" name="右箭头 5"/>
          <p:cNvSpPr/>
          <p:nvPr/>
        </p:nvSpPr>
        <p:spPr>
          <a:xfrm>
            <a:off x="6391910" y="2308965"/>
            <a:ext cx="1370965" cy="789095"/>
          </a:xfrm>
          <a:prstGeom prst="rightArrow">
            <a:avLst/>
          </a:prstGeom>
          <a:solidFill>
            <a:schemeClr val="bg1">
              <a:lumMod val="95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wrap="square" tIns="0" bIns="0" rtlCol="0" anchor="ctr">
            <a:spAutoFit/>
          </a:bodyPr>
          <a:p>
            <a:pPr algn="ctr"/>
            <a:r>
              <a:rPr lang="zh-CN" altLang="en-US" sz="2400" b="1">
                <a:solidFill>
                  <a:schemeClr val="tx1"/>
                </a:solidFill>
                <a:latin typeface="楷体" charset="-122"/>
                <a:ea typeface="楷体" charset="-122"/>
              </a:rPr>
              <a:t>结果为</a:t>
            </a:r>
            <a:endParaRPr lang="zh-CN" altLang="en-US" sz="2400" b="1">
              <a:solidFill>
                <a:schemeClr val="tx1"/>
              </a:solidFill>
              <a:latin typeface="楷体" charset="-122"/>
              <a:ea typeface="楷体" charset="-122"/>
            </a:endParaRPr>
          </a:p>
        </p:txBody>
      </p:sp>
      <p:sp>
        <p:nvSpPr>
          <p:cNvPr id="7" name="右箭头 6"/>
          <p:cNvSpPr/>
          <p:nvPr/>
        </p:nvSpPr>
        <p:spPr>
          <a:xfrm>
            <a:off x="5676265" y="4655925"/>
            <a:ext cx="1370965" cy="789095"/>
          </a:xfrm>
          <a:prstGeom prst="rightArrow">
            <a:avLst/>
          </a:prstGeom>
          <a:solidFill>
            <a:schemeClr val="bg1">
              <a:lumMod val="95000"/>
            </a:schemeClr>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wrap="square" tIns="0" bIns="0" rtlCol="0" anchor="ctr">
            <a:spAutoFit/>
          </a:bodyPr>
          <a:p>
            <a:pPr algn="ctr"/>
            <a:r>
              <a:rPr lang="zh-CN" altLang="en-US" sz="2400" b="1">
                <a:solidFill>
                  <a:schemeClr val="tx1"/>
                </a:solidFill>
                <a:latin typeface="楷体" charset="-122"/>
                <a:ea typeface="楷体" charset="-122"/>
              </a:rPr>
              <a:t>结果为</a:t>
            </a:r>
            <a:endParaRPr lang="zh-CN" altLang="en-US" sz="2400" b="1">
              <a:solidFill>
                <a:schemeClr val="tx1"/>
              </a:solidFill>
              <a:latin typeface="楷体" charset="-122"/>
              <a:ea typeface="楷体" charset="-122"/>
            </a:endParaRPr>
          </a:p>
        </p:txBody>
      </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8" name="页脚占位符 7"/>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7" dur="500"/>
                                        <p:tgtEl>
                                          <p:spTgt spid="337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3795">
                                            <p:txEl>
                                              <p:pRg st="2" end="2"/>
                                            </p:txEl>
                                          </p:spTgt>
                                        </p:tgtEl>
                                        <p:attrNameLst>
                                          <p:attrName>style.visibility</p:attrName>
                                        </p:attrNameLst>
                                      </p:cBhvr>
                                      <p:to>
                                        <p:strVal val="visible"/>
                                      </p:to>
                                    </p:set>
                                    <p:anim calcmode="lin" valueType="num">
                                      <p:cBhvr additive="base">
                                        <p:cTn id="12" dur="5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3795">
                                            <p:txEl>
                                              <p:pRg st="2" end="2"/>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3795">
                                            <p:txEl>
                                              <p:pRg st="3" end="3"/>
                                            </p:txEl>
                                          </p:spTgt>
                                        </p:tgtEl>
                                        <p:attrNameLst>
                                          <p:attrName>style.visibility</p:attrName>
                                        </p:attrNameLst>
                                      </p:cBhvr>
                                      <p:to>
                                        <p:strVal val="visible"/>
                                      </p:to>
                                    </p:set>
                                    <p:anim calcmode="lin" valueType="num">
                                      <p:cBhvr additive="base">
                                        <p:cTn id="16"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3795">
                                            <p:txEl>
                                              <p:pRg st="3" end="3"/>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3795">
                                            <p:txEl>
                                              <p:pRg st="4" end="4"/>
                                            </p:txEl>
                                          </p:spTgt>
                                        </p:tgtEl>
                                        <p:attrNameLst>
                                          <p:attrName>style.visibility</p:attrName>
                                        </p:attrNameLst>
                                      </p:cBhvr>
                                      <p:to>
                                        <p:strVal val="visible"/>
                                      </p:to>
                                    </p:set>
                                    <p:anim calcmode="lin" valueType="num">
                                      <p:cBhvr additive="base">
                                        <p:cTn id="20" dur="500" fill="hold"/>
                                        <p:tgtEl>
                                          <p:spTgt spid="33795">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3795">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3795">
                                            <p:txEl>
                                              <p:pRg st="5" end="5"/>
                                            </p:txEl>
                                          </p:spTgt>
                                        </p:tgtEl>
                                        <p:attrNameLst>
                                          <p:attrName>style.visibility</p:attrName>
                                        </p:attrNameLst>
                                      </p:cBhvr>
                                      <p:to>
                                        <p:strVal val="visible"/>
                                      </p:to>
                                    </p:set>
                                    <p:anim calcmode="lin" valueType="num">
                                      <p:cBhvr additive="base">
                                        <p:cTn id="24" dur="500" fill="hold"/>
                                        <p:tgtEl>
                                          <p:spTgt spid="33795">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37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8" fill="hold" grpId="0" nodeType="clickEffect">
                                  <p:stCondLst>
                                    <p:cond delay="0"/>
                                  </p:stCondLst>
                                  <p:childTnLst>
                                    <p:set>
                                      <p:cBhvr additive="base">
                                        <p:cTn id="29" dur="500"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fmla="">
                                          <p:val>
                                            <p:strVal val="#ppt_x-#ppt_w/2"/>
                                          </p:val>
                                        </p:tav>
                                        <p:tav tm="100000" fmla="">
                                          <p:val>
                                            <p:strVal val="#ppt_x"/>
                                          </p:val>
                                        </p:tav>
                                      </p:tavLst>
                                    </p:anim>
                                    <p:anim calcmode="lin" valueType="num">
                                      <p:cBhvr additive="base">
                                        <p:cTn id="31" dur="500" fill="hold"/>
                                        <p:tgtEl>
                                          <p:spTgt spid="6"/>
                                        </p:tgtEl>
                                        <p:attrNameLst>
                                          <p:attrName>ppt_y</p:attrName>
                                        </p:attrNameLst>
                                      </p:cBhvr>
                                      <p:tavLst>
                                        <p:tav tm="0" fmla="">
                                          <p:val>
                                            <p:strVal val="#ppt_y"/>
                                          </p:val>
                                        </p:tav>
                                        <p:tav tm="100000" fmla="">
                                          <p:val>
                                            <p:strVal val="#ppt_y"/>
                                          </p:val>
                                        </p:tav>
                                      </p:tavLst>
                                    </p:anim>
                                    <p:anim calcmode="lin" valueType="num">
                                      <p:cBhvr additive="base">
                                        <p:cTn id="32" dur="500" fill="hold"/>
                                        <p:tgtEl>
                                          <p:spTgt spid="6"/>
                                        </p:tgtEl>
                                        <p:attrNameLst>
                                          <p:attrName>ppt_w</p:attrName>
                                        </p:attrNameLst>
                                      </p:cBhvr>
                                      <p:tavLst>
                                        <p:tav tm="0" fmla="">
                                          <p:val>
                                            <p:fltVal val="0.000000"/>
                                          </p:val>
                                        </p:tav>
                                        <p:tav tm="100000" fmla="">
                                          <p:val>
                                            <p:strVal val="#ppt_w"/>
                                          </p:val>
                                        </p:tav>
                                      </p:tavLst>
                                    </p:anim>
                                    <p:anim calcmode="lin" valueType="num">
                                      <p:cBhvr additive="base">
                                        <p:cTn id="33" dur="500" fill="hold"/>
                                        <p:tgtEl>
                                          <p:spTgt spid="6"/>
                                        </p:tgtEl>
                                        <p:attrNameLst>
                                          <p:attrName>ppt_h</p:attrName>
                                        </p:attrNameLst>
                                      </p:cBhvr>
                                      <p:tavLst>
                                        <p:tav tm="0" fmla="">
                                          <p:val>
                                            <p:strVal val="#ppt_h"/>
                                          </p:val>
                                        </p:tav>
                                        <p:tav tm="100000" fmla="">
                                          <p:val>
                                            <p:strVal val="#ppt_h"/>
                                          </p:val>
                                        </p:tav>
                                      </p:tavLst>
                                    </p:anim>
                                  </p:childTnLst>
                                </p:cTn>
                              </p:par>
                            </p:childTnLst>
                          </p:cTn>
                        </p:par>
                        <p:par>
                          <p:cTn id="34" fill="hold">
                            <p:stCondLst>
                              <p:cond delay="500"/>
                            </p:stCondLst>
                            <p:childTnLst>
                              <p:par>
                                <p:cTn id="35" presetID="17" presetClass="entr" presetSubtype="8" fill="hold" nodeType="afterEffect">
                                  <p:stCondLst>
                                    <p:cond delay="0"/>
                                  </p:stCondLst>
                                  <p:childTnLst>
                                    <p:set>
                                      <p:cBhvr additive="base">
                                        <p:cTn id="36" dur="500"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fmla="">
                                          <p:val>
                                            <p:strVal val="#ppt_x-#ppt_w/2"/>
                                          </p:val>
                                        </p:tav>
                                        <p:tav tm="100000" fmla="">
                                          <p:val>
                                            <p:strVal val="#ppt_x"/>
                                          </p:val>
                                        </p:tav>
                                      </p:tavLst>
                                    </p:anim>
                                    <p:anim calcmode="lin" valueType="num">
                                      <p:cBhvr additive="base">
                                        <p:cTn id="38" dur="500" fill="hold"/>
                                        <p:tgtEl>
                                          <p:spTgt spid="2"/>
                                        </p:tgtEl>
                                        <p:attrNameLst>
                                          <p:attrName>ppt_y</p:attrName>
                                        </p:attrNameLst>
                                      </p:cBhvr>
                                      <p:tavLst>
                                        <p:tav tm="0" fmla="">
                                          <p:val>
                                            <p:strVal val="#ppt_y"/>
                                          </p:val>
                                        </p:tav>
                                        <p:tav tm="100000" fmla="">
                                          <p:val>
                                            <p:strVal val="#ppt_y"/>
                                          </p:val>
                                        </p:tav>
                                      </p:tavLst>
                                    </p:anim>
                                    <p:anim calcmode="lin" valueType="num">
                                      <p:cBhvr additive="base">
                                        <p:cTn id="39" dur="500" fill="hold"/>
                                        <p:tgtEl>
                                          <p:spTgt spid="2"/>
                                        </p:tgtEl>
                                        <p:attrNameLst>
                                          <p:attrName>ppt_w</p:attrName>
                                        </p:attrNameLst>
                                      </p:cBhvr>
                                      <p:tavLst>
                                        <p:tav tm="0" fmla="">
                                          <p:val>
                                            <p:fltVal val="0.000000"/>
                                          </p:val>
                                        </p:tav>
                                        <p:tav tm="100000" fmla="">
                                          <p:val>
                                            <p:strVal val="#ppt_w"/>
                                          </p:val>
                                        </p:tav>
                                      </p:tavLst>
                                    </p:anim>
                                    <p:anim calcmode="lin" valueType="num">
                                      <p:cBhvr additive="base">
                                        <p:cTn id="40" dur="500" fill="hold"/>
                                        <p:tgtEl>
                                          <p:spTgt spid="2"/>
                                        </p:tgtEl>
                                        <p:attrNameLst>
                                          <p:attrName>ppt_h</p:attrName>
                                        </p:attrNameLst>
                                      </p:cBhvr>
                                      <p:tavLst>
                                        <p:tav tm="0" fmla="">
                                          <p:val>
                                            <p:strVal val="#ppt_h"/>
                                          </p:val>
                                        </p:tav>
                                        <p:tav tm="100000" fmla="">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3795">
                                            <p:txEl>
                                              <p:pRg st="6" end="6"/>
                                            </p:txEl>
                                          </p:spTgt>
                                        </p:tgtEl>
                                        <p:attrNameLst>
                                          <p:attrName>style.visibility</p:attrName>
                                        </p:attrNameLst>
                                      </p:cBhvr>
                                      <p:to>
                                        <p:strVal val="visible"/>
                                      </p:to>
                                    </p:set>
                                    <p:anim calcmode="lin" valueType="num">
                                      <p:cBhvr additive="base">
                                        <p:cTn id="45" dur="500" fill="hold"/>
                                        <p:tgtEl>
                                          <p:spTgt spid="33795">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3795">
                                            <p:txEl>
                                              <p:pRg st="6" end="6"/>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3795">
                                            <p:txEl>
                                              <p:pRg st="7" end="7"/>
                                            </p:txEl>
                                          </p:spTgt>
                                        </p:tgtEl>
                                        <p:attrNameLst>
                                          <p:attrName>style.visibility</p:attrName>
                                        </p:attrNameLst>
                                      </p:cBhvr>
                                      <p:to>
                                        <p:strVal val="visible"/>
                                      </p:to>
                                    </p:set>
                                    <p:anim calcmode="lin" valueType="num">
                                      <p:cBhvr additive="base">
                                        <p:cTn id="49" dur="500" fill="hold"/>
                                        <p:tgtEl>
                                          <p:spTgt spid="3379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3795">
                                            <p:txEl>
                                              <p:pRg st="7" end="7"/>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3795">
                                            <p:txEl>
                                              <p:pRg st="8" end="8"/>
                                            </p:txEl>
                                          </p:spTgt>
                                        </p:tgtEl>
                                        <p:attrNameLst>
                                          <p:attrName>style.visibility</p:attrName>
                                        </p:attrNameLst>
                                      </p:cBhvr>
                                      <p:to>
                                        <p:strVal val="visible"/>
                                      </p:to>
                                    </p:set>
                                    <p:anim calcmode="lin" valueType="num">
                                      <p:cBhvr additive="base">
                                        <p:cTn id="53" dur="500" fill="hold"/>
                                        <p:tgtEl>
                                          <p:spTgt spid="33795">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3795">
                                            <p:txEl>
                                              <p:pRg st="8" end="8"/>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3795">
                                            <p:txEl>
                                              <p:pRg st="9" end="9"/>
                                            </p:txEl>
                                          </p:spTgt>
                                        </p:tgtEl>
                                        <p:attrNameLst>
                                          <p:attrName>style.visibility</p:attrName>
                                        </p:attrNameLst>
                                      </p:cBhvr>
                                      <p:to>
                                        <p:strVal val="visible"/>
                                      </p:to>
                                    </p:set>
                                    <p:anim calcmode="lin" valueType="num">
                                      <p:cBhvr additive="base">
                                        <p:cTn id="57" dur="500" fill="hold"/>
                                        <p:tgtEl>
                                          <p:spTgt spid="33795">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379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8" fill="hold" grpId="0" nodeType="clickEffect">
                                  <p:stCondLst>
                                    <p:cond delay="0"/>
                                  </p:stCondLst>
                                  <p:childTnLst>
                                    <p:set>
                                      <p:cBhvr additive="base">
                                        <p:cTn id="62" dur="500" fill="hold">
                                          <p:stCondLst>
                                            <p:cond delay="0"/>
                                          </p:stCondLst>
                                        </p:cTn>
                                        <p:tgtEl>
                                          <p:spTgt spid="7"/>
                                        </p:tgtEl>
                                        <p:attrNameLst>
                                          <p:attrName>style.visibility</p:attrName>
                                        </p:attrNameLst>
                                      </p:cBhvr>
                                      <p:to>
                                        <p:strVal val="visible"/>
                                      </p:to>
                                    </p:set>
                                    <p:anim calcmode="lin" valueType="num">
                                      <p:cBhvr additive="base">
                                        <p:cTn id="63" dur="500" fill="hold"/>
                                        <p:tgtEl>
                                          <p:spTgt spid="7"/>
                                        </p:tgtEl>
                                        <p:attrNameLst>
                                          <p:attrName>ppt_x</p:attrName>
                                        </p:attrNameLst>
                                      </p:cBhvr>
                                      <p:tavLst>
                                        <p:tav tm="0" fmla="">
                                          <p:val>
                                            <p:strVal val="#ppt_x-#ppt_w/2"/>
                                          </p:val>
                                        </p:tav>
                                        <p:tav tm="100000" fmla="">
                                          <p:val>
                                            <p:strVal val="#ppt_x"/>
                                          </p:val>
                                        </p:tav>
                                      </p:tavLst>
                                    </p:anim>
                                    <p:anim calcmode="lin" valueType="num">
                                      <p:cBhvr additive="base">
                                        <p:cTn id="64" dur="500" fill="hold"/>
                                        <p:tgtEl>
                                          <p:spTgt spid="7"/>
                                        </p:tgtEl>
                                        <p:attrNameLst>
                                          <p:attrName>ppt_y</p:attrName>
                                        </p:attrNameLst>
                                      </p:cBhvr>
                                      <p:tavLst>
                                        <p:tav tm="0" fmla="">
                                          <p:val>
                                            <p:strVal val="#ppt_y"/>
                                          </p:val>
                                        </p:tav>
                                        <p:tav tm="100000" fmla="">
                                          <p:val>
                                            <p:strVal val="#ppt_y"/>
                                          </p:val>
                                        </p:tav>
                                      </p:tavLst>
                                    </p:anim>
                                    <p:anim calcmode="lin" valueType="num">
                                      <p:cBhvr additive="base">
                                        <p:cTn id="65" dur="500" fill="hold"/>
                                        <p:tgtEl>
                                          <p:spTgt spid="7"/>
                                        </p:tgtEl>
                                        <p:attrNameLst>
                                          <p:attrName>ppt_w</p:attrName>
                                        </p:attrNameLst>
                                      </p:cBhvr>
                                      <p:tavLst>
                                        <p:tav tm="0" fmla="">
                                          <p:val>
                                            <p:fltVal val="0.000000"/>
                                          </p:val>
                                        </p:tav>
                                        <p:tav tm="100000" fmla="">
                                          <p:val>
                                            <p:strVal val="#ppt_w"/>
                                          </p:val>
                                        </p:tav>
                                      </p:tavLst>
                                    </p:anim>
                                    <p:anim calcmode="lin" valueType="num">
                                      <p:cBhvr additive="base">
                                        <p:cTn id="66" dur="500" fill="hold"/>
                                        <p:tgtEl>
                                          <p:spTgt spid="7"/>
                                        </p:tgtEl>
                                        <p:attrNameLst>
                                          <p:attrName>ppt_h</p:attrName>
                                        </p:attrNameLst>
                                      </p:cBhvr>
                                      <p:tavLst>
                                        <p:tav tm="0" fmla="">
                                          <p:val>
                                            <p:strVal val="#ppt_h"/>
                                          </p:val>
                                        </p:tav>
                                        <p:tav tm="100000" fmla="">
                                          <p:val>
                                            <p:strVal val="#ppt_h"/>
                                          </p:val>
                                        </p:tav>
                                      </p:tavLst>
                                    </p:anim>
                                  </p:childTnLst>
                                </p:cTn>
                              </p:par>
                            </p:childTnLst>
                          </p:cTn>
                        </p:par>
                        <p:par>
                          <p:cTn id="67" fill="hold">
                            <p:stCondLst>
                              <p:cond delay="500"/>
                            </p:stCondLst>
                            <p:childTnLst>
                              <p:par>
                                <p:cTn id="68" presetID="17" presetClass="entr" presetSubtype="8" fill="hold" nodeType="afterEffect">
                                  <p:stCondLst>
                                    <p:cond delay="0"/>
                                  </p:stCondLst>
                                  <p:childTnLst>
                                    <p:set>
                                      <p:cBhvr additive="base">
                                        <p:cTn id="69" dur="500" fill="hold">
                                          <p:stCondLst>
                                            <p:cond delay="0"/>
                                          </p:stCondLst>
                                        </p:cTn>
                                        <p:tgtEl>
                                          <p:spTgt spid="4"/>
                                        </p:tgtEl>
                                        <p:attrNameLst>
                                          <p:attrName>style.visibility</p:attrName>
                                        </p:attrNameLst>
                                      </p:cBhvr>
                                      <p:to>
                                        <p:strVal val="visible"/>
                                      </p:to>
                                    </p:set>
                                    <p:anim calcmode="lin" valueType="num">
                                      <p:cBhvr additive="base">
                                        <p:cTn id="70" dur="500" fill="hold"/>
                                        <p:tgtEl>
                                          <p:spTgt spid="4"/>
                                        </p:tgtEl>
                                        <p:attrNameLst>
                                          <p:attrName>ppt_x</p:attrName>
                                        </p:attrNameLst>
                                      </p:cBhvr>
                                      <p:tavLst>
                                        <p:tav tm="0" fmla="">
                                          <p:val>
                                            <p:strVal val="#ppt_x-#ppt_w/2"/>
                                          </p:val>
                                        </p:tav>
                                        <p:tav tm="100000" fmla="">
                                          <p:val>
                                            <p:strVal val="#ppt_x"/>
                                          </p:val>
                                        </p:tav>
                                      </p:tavLst>
                                    </p:anim>
                                    <p:anim calcmode="lin" valueType="num">
                                      <p:cBhvr additive="base">
                                        <p:cTn id="71" dur="500" fill="hold"/>
                                        <p:tgtEl>
                                          <p:spTgt spid="4"/>
                                        </p:tgtEl>
                                        <p:attrNameLst>
                                          <p:attrName>ppt_y</p:attrName>
                                        </p:attrNameLst>
                                      </p:cBhvr>
                                      <p:tavLst>
                                        <p:tav tm="0" fmla="">
                                          <p:val>
                                            <p:strVal val="#ppt_y"/>
                                          </p:val>
                                        </p:tav>
                                        <p:tav tm="100000" fmla="">
                                          <p:val>
                                            <p:strVal val="#ppt_y"/>
                                          </p:val>
                                        </p:tav>
                                      </p:tavLst>
                                    </p:anim>
                                    <p:anim calcmode="lin" valueType="num">
                                      <p:cBhvr additive="base">
                                        <p:cTn id="72" dur="500" fill="hold"/>
                                        <p:tgtEl>
                                          <p:spTgt spid="4"/>
                                        </p:tgtEl>
                                        <p:attrNameLst>
                                          <p:attrName>ppt_w</p:attrName>
                                        </p:attrNameLst>
                                      </p:cBhvr>
                                      <p:tavLst>
                                        <p:tav tm="0" fmla="">
                                          <p:val>
                                            <p:fltVal val="0.000000"/>
                                          </p:val>
                                        </p:tav>
                                        <p:tav tm="100000" fmla="">
                                          <p:val>
                                            <p:strVal val="#ppt_w"/>
                                          </p:val>
                                        </p:tav>
                                      </p:tavLst>
                                    </p:anim>
                                    <p:anim calcmode="lin" valueType="num">
                                      <p:cBhvr additive="base">
                                        <p:cTn id="73" dur="500" fill="hold"/>
                                        <p:tgtEl>
                                          <p:spTgt spid="4"/>
                                        </p:tgtEl>
                                        <p:attrNameLst>
                                          <p:attrName>ppt_h</p:attrName>
                                        </p:attrNameLst>
                                      </p:cBhvr>
                                      <p:tavLst>
                                        <p:tav tm="0" fmla="">
                                          <p:val>
                                            <p:strVal val="#ppt_h"/>
                                          </p:val>
                                        </p:tav>
                                        <p:tav tm="100000" fmla="">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5">
                                            <p:txEl>
                                              <p:pRg st="0" end="0"/>
                                            </p:txEl>
                                          </p:spTgt>
                                        </p:tgtEl>
                                        <p:attrNameLst>
                                          <p:attrName>style.visibility</p:attrName>
                                        </p:attrNameLst>
                                      </p:cBhvr>
                                      <p:to>
                                        <p:strVal val="visible"/>
                                      </p:to>
                                    </p:set>
                                    <p:anim calcmode="lin" valueType="num">
                                      <p:cBhvr additive="base">
                                        <p:cTn id="78"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5"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带有</a:t>
            </a:r>
            <a:r>
              <a:rPr lang="en-US" altLang="zh-CN" dirty="0"/>
              <a:t>IN</a:t>
            </a:r>
            <a:r>
              <a:rPr lang="zh-CN" altLang="en-US" dirty="0"/>
              <a:t>谓词的子查询 </a:t>
            </a:r>
            <a:r>
              <a:rPr lang="en-US" altLang="zh-CN" dirty="0"/>
              <a:t>2</a:t>
            </a:r>
            <a:endParaRPr lang="zh-CN" altLang="en-US" dirty="0"/>
          </a:p>
        </p:txBody>
      </p:sp>
      <p:sp>
        <p:nvSpPr>
          <p:cNvPr id="2" name="文本占位符 1"/>
          <p:cNvSpPr>
            <a:spLocks noGrp="1"/>
          </p:cNvSpPr>
          <p:nvPr>
            <p:ph type="body" idx="1"/>
          </p:nvPr>
        </p:nvSpPr>
        <p:spPr>
          <a:xfrm>
            <a:off x="424800" y="1401445"/>
            <a:ext cx="5580000" cy="565150"/>
          </a:xfrm>
          <a:solidFill>
            <a:schemeClr val="accent3">
              <a:lumMod val="40000"/>
              <a:lumOff val="60000"/>
              <a:alpha val="50000"/>
            </a:schemeClr>
          </a:solidFill>
        </p:spPr>
        <p:txBody>
          <a:bodyPr>
            <a:spAutoFit/>
          </a:bodyPr>
          <a:p>
            <a:pPr marL="457200" indent="-457200">
              <a:buFont typeface="Wingdings" panose="05000000000000000000" charset="0"/>
              <a:buChar char="q"/>
            </a:pPr>
            <a:r>
              <a:rPr lang="zh-CN" altLang="en-US" sz="2800" dirty="0">
                <a:latin typeface="Arial" panose="020B0604020202090204" pitchFamily="34" charset="0"/>
                <a:cs typeface="Arial" panose="020B0604020202090204" pitchFamily="34" charset="0"/>
                <a:sym typeface="+mn-ea"/>
              </a:rPr>
              <a:t>用</a:t>
            </a:r>
            <a:r>
              <a:rPr lang="en-US" altLang="zh-CN" sz="2800" dirty="0">
                <a:latin typeface="Arial" panose="020B0604020202090204" pitchFamily="34" charset="0"/>
                <a:cs typeface="Arial" panose="020B0604020202090204" pitchFamily="34" charset="0"/>
                <a:sym typeface="+mn-ea"/>
              </a:rPr>
              <a:t>‘IN+</a:t>
            </a:r>
            <a:r>
              <a:rPr lang="zh-CN" altLang="en-US" sz="2800" dirty="0">
                <a:latin typeface="Arial" panose="020B0604020202090204" pitchFamily="34" charset="0"/>
                <a:cs typeface="Arial" panose="020B0604020202090204" pitchFamily="34" charset="0"/>
                <a:sym typeface="+mn-ea"/>
              </a:rPr>
              <a:t>嵌套子查询</a:t>
            </a:r>
            <a:r>
              <a:rPr lang="en-US" altLang="zh-CN" sz="2800" dirty="0">
                <a:latin typeface="Arial" panose="020B0604020202090204" pitchFamily="34" charset="0"/>
                <a:cs typeface="Arial" panose="020B0604020202090204" pitchFamily="34" charset="0"/>
                <a:sym typeface="+mn-ea"/>
              </a:rPr>
              <a:t>’</a:t>
            </a:r>
            <a:r>
              <a:rPr lang="zh-CN" altLang="en-US" sz="2800" dirty="0">
                <a:latin typeface="Arial" panose="020B0604020202090204" pitchFamily="34" charset="0"/>
                <a:cs typeface="Arial" panose="020B0604020202090204" pitchFamily="34" charset="0"/>
                <a:sym typeface="+mn-ea"/>
              </a:rPr>
              <a:t>完成此查询</a:t>
            </a:r>
            <a:endParaRPr lang="en-US" altLang="zh-CN" sz="2800" dirty="0">
              <a:latin typeface="Arial" panose="020B0604020202090204" pitchFamily="34" charset="0"/>
              <a:cs typeface="Arial" panose="020B0604020202090204" pitchFamily="34" charset="0"/>
              <a:sym typeface="+mn-ea"/>
            </a:endParaRPr>
          </a:p>
        </p:txBody>
      </p:sp>
      <p:sp>
        <p:nvSpPr>
          <p:cNvPr id="7" name="内容占位符 6"/>
          <p:cNvSpPr>
            <a:spLocks noGrp="1"/>
          </p:cNvSpPr>
          <p:nvPr>
            <p:ph sz="half" idx="2"/>
          </p:nvPr>
        </p:nvSpPr>
        <p:spPr>
          <a:xfrm>
            <a:off x="424815" y="2105025"/>
            <a:ext cx="5579745" cy="4337050"/>
          </a:xfrm>
        </p:spPr>
        <p:txBody>
          <a:bodyPr>
            <a:noAutofit/>
          </a:bodyPr>
          <a:lstStyle/>
          <a:p>
            <a:pPr marL="0" lvl="0"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rPr>
              <a:t>SELECT </a:t>
            </a:r>
            <a:r>
              <a:rPr lang="en-US" altLang="zh-CN" sz="2800" b="0" dirty="0" err="1">
                <a:solidFill>
                  <a:srgbClr val="FF0000"/>
                </a:solidFill>
                <a:latin typeface="Arial" panose="020B0604020202090204" pitchFamily="34" charset="0"/>
                <a:cs typeface="Arial" panose="020B0604020202090204" pitchFamily="34" charset="0"/>
              </a:rPr>
              <a:t>Sno</a:t>
            </a:r>
            <a:r>
              <a:rPr lang="en-US" altLang="zh-CN" sz="2800" b="0" dirty="0">
                <a:solidFill>
                  <a:srgbClr val="FF0000"/>
                </a:solidFill>
                <a:latin typeface="Arial" panose="020B0604020202090204" pitchFamily="34" charset="0"/>
                <a:cs typeface="Arial" panose="020B0604020202090204" pitchFamily="34" charset="0"/>
              </a:rPr>
              <a:t>, </a:t>
            </a:r>
            <a:r>
              <a:rPr lang="en-US" altLang="zh-CN" sz="2800" b="0" dirty="0" err="1">
                <a:solidFill>
                  <a:srgbClr val="FF0000"/>
                </a:solidFill>
                <a:latin typeface="Arial" panose="020B0604020202090204" pitchFamily="34" charset="0"/>
                <a:cs typeface="Arial" panose="020B0604020202090204" pitchFamily="34" charset="0"/>
              </a:rPr>
              <a:t>Sname</a:t>
            </a:r>
            <a:r>
              <a:rPr lang="en-US" altLang="zh-CN" sz="2800" b="0" dirty="0">
                <a:solidFill>
                  <a:srgbClr val="FF0000"/>
                </a:solidFill>
                <a:latin typeface="Arial" panose="020B0604020202090204" pitchFamily="34" charset="0"/>
                <a:cs typeface="Arial" panose="020B0604020202090204" pitchFamily="34" charset="0"/>
              </a:rPr>
              <a:t>, </a:t>
            </a:r>
            <a:r>
              <a:rPr lang="en-US" altLang="zh-CN" sz="2800" b="0" dirty="0" err="1">
                <a:solidFill>
                  <a:srgbClr val="FF0000"/>
                </a:solidFill>
                <a:latin typeface="Arial" panose="020B0604020202090204" pitchFamily="34" charset="0"/>
                <a:cs typeface="Arial" panose="020B0604020202090204" pitchFamily="34" charset="0"/>
              </a:rPr>
              <a:t>Sdept</a:t>
            </a:r>
            <a:endParaRPr lang="en-US" altLang="zh-CN" sz="2800" b="0" dirty="0">
              <a:solidFill>
                <a:srgbClr val="FF0000"/>
              </a:solidFill>
              <a:latin typeface="Arial" panose="020B0604020202090204" pitchFamily="34" charset="0"/>
              <a:cs typeface="Arial" panose="020B0604020202090204" pitchFamily="34" charset="0"/>
            </a:endParaRPr>
          </a:p>
          <a:p>
            <a:pPr marL="0" lvl="0"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rPr>
              <a:t>FROM Student</a:t>
            </a:r>
            <a:endParaRPr lang="en-US" altLang="zh-CN" sz="2800" b="0" dirty="0">
              <a:solidFill>
                <a:srgbClr val="FF0000"/>
              </a:solidFill>
              <a:latin typeface="Arial" panose="020B0604020202090204" pitchFamily="34" charset="0"/>
              <a:cs typeface="Arial" panose="020B0604020202090204" pitchFamily="34" charset="0"/>
            </a:endParaRPr>
          </a:p>
          <a:p>
            <a:pPr marL="0" lvl="0"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rPr>
              <a:t>WHERE </a:t>
            </a:r>
            <a:r>
              <a:rPr lang="en-US" altLang="zh-CN" sz="2800" b="0" dirty="0" err="1">
                <a:solidFill>
                  <a:srgbClr val="FF0000"/>
                </a:solidFill>
                <a:latin typeface="Arial" panose="020B0604020202090204" pitchFamily="34" charset="0"/>
                <a:cs typeface="Arial" panose="020B0604020202090204" pitchFamily="34" charset="0"/>
              </a:rPr>
              <a:t>Sdept</a:t>
            </a:r>
            <a:r>
              <a:rPr lang="en-US" altLang="zh-CN" sz="2800" b="0" dirty="0">
                <a:solidFill>
                  <a:srgbClr val="FF0000"/>
                </a:solidFill>
                <a:latin typeface="Arial" panose="020B0604020202090204" pitchFamily="34" charset="0"/>
                <a:cs typeface="Arial" panose="020B0604020202090204" pitchFamily="34" charset="0"/>
              </a:rPr>
              <a:t>  IN (</a:t>
            </a:r>
            <a:endParaRPr lang="en-US" altLang="zh-CN" sz="2800" b="0" dirty="0">
              <a:solidFill>
                <a:srgbClr val="FF0000"/>
              </a:solidFill>
              <a:latin typeface="Arial" panose="020B0604020202090204" pitchFamily="34" charset="0"/>
              <a:cs typeface="Arial" panose="020B0604020202090204" pitchFamily="34" charset="0"/>
            </a:endParaRPr>
          </a:p>
          <a:p>
            <a:pPr marL="821055" lvl="2"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rPr>
              <a:t>SELECT </a:t>
            </a:r>
            <a:r>
              <a:rPr lang="en-US" altLang="zh-CN" sz="2800" b="0" dirty="0" err="1">
                <a:solidFill>
                  <a:srgbClr val="FF0000"/>
                </a:solidFill>
                <a:latin typeface="Arial" panose="020B0604020202090204" pitchFamily="34" charset="0"/>
                <a:cs typeface="Arial" panose="020B0604020202090204" pitchFamily="34" charset="0"/>
              </a:rPr>
              <a:t>Sdept</a:t>
            </a:r>
            <a:endParaRPr lang="en-US" altLang="zh-CN" sz="2800" b="0" dirty="0">
              <a:solidFill>
                <a:srgbClr val="FF0000"/>
              </a:solidFill>
              <a:latin typeface="Arial" panose="020B0604020202090204" pitchFamily="34" charset="0"/>
              <a:cs typeface="Arial" panose="020B0604020202090204" pitchFamily="34" charset="0"/>
            </a:endParaRPr>
          </a:p>
          <a:p>
            <a:pPr marL="821055" lvl="2"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rPr>
              <a:t>FROM Student</a:t>
            </a:r>
            <a:endParaRPr lang="en-US" altLang="zh-CN" sz="2800" b="0" dirty="0">
              <a:solidFill>
                <a:srgbClr val="FF0000"/>
              </a:solidFill>
              <a:latin typeface="Arial" panose="020B0604020202090204" pitchFamily="34" charset="0"/>
              <a:cs typeface="Arial" panose="020B0604020202090204" pitchFamily="34" charset="0"/>
            </a:endParaRPr>
          </a:p>
          <a:p>
            <a:pPr marL="821055" lvl="2"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rPr>
              <a:t>WHERE </a:t>
            </a:r>
            <a:r>
              <a:rPr lang="en-US" altLang="zh-CN" sz="2800" b="0" dirty="0" err="1">
                <a:solidFill>
                  <a:srgbClr val="FF0000"/>
                </a:solidFill>
                <a:latin typeface="Arial" panose="020B0604020202090204" pitchFamily="34" charset="0"/>
                <a:cs typeface="Arial" panose="020B0604020202090204" pitchFamily="34" charset="0"/>
              </a:rPr>
              <a:t>Sname</a:t>
            </a:r>
            <a:r>
              <a:rPr lang="en-US" altLang="zh-CN" sz="2800" b="0" dirty="0">
                <a:solidFill>
                  <a:srgbClr val="FF0000"/>
                </a:solidFill>
                <a:latin typeface="Arial" panose="020B0604020202090204" pitchFamily="34" charset="0"/>
                <a:cs typeface="Arial" panose="020B0604020202090204" pitchFamily="34" charset="0"/>
              </a:rPr>
              <a:t>='</a:t>
            </a:r>
            <a:r>
              <a:rPr lang="zh-CN" altLang="en-US" sz="2800" b="0" dirty="0">
                <a:solidFill>
                  <a:srgbClr val="FF0000"/>
                </a:solidFill>
                <a:latin typeface="Arial" panose="020B0604020202090204" pitchFamily="34" charset="0"/>
                <a:cs typeface="Arial" panose="020B0604020202090204" pitchFamily="34" charset="0"/>
              </a:rPr>
              <a:t>刘晨</a:t>
            </a:r>
            <a:r>
              <a:rPr lang="en-US" altLang="zh-CN" sz="2800" b="0" dirty="0">
                <a:solidFill>
                  <a:srgbClr val="FF0000"/>
                </a:solidFill>
                <a:latin typeface="Arial" panose="020B0604020202090204" pitchFamily="34" charset="0"/>
                <a:cs typeface="Arial" panose="020B0604020202090204" pitchFamily="34" charset="0"/>
              </a:rPr>
              <a:t>');</a:t>
            </a:r>
            <a:endParaRPr lang="en-US" altLang="zh-CN" sz="2800" dirty="0"/>
          </a:p>
          <a:p>
            <a:pPr marL="457200" lvl="1" indent="0">
              <a:lnSpc>
                <a:spcPct val="130000"/>
              </a:lnSpc>
              <a:spcBef>
                <a:spcPts val="0"/>
              </a:spcBef>
              <a:buNone/>
            </a:pPr>
            <a:r>
              <a:rPr lang="en-US" altLang="zh-CN" dirty="0"/>
              <a:t>/* </a:t>
            </a:r>
            <a:r>
              <a:rPr lang="zh-CN" altLang="en-US" dirty="0"/>
              <a:t>此处为不相关子查询</a:t>
            </a:r>
            <a:r>
              <a:rPr lang="en-US" altLang="zh-CN" dirty="0"/>
              <a:t> */</a:t>
            </a:r>
            <a:endParaRPr lang="zh-CN" altLang="en-US" dirty="0"/>
          </a:p>
        </p:txBody>
      </p:sp>
      <p:sp>
        <p:nvSpPr>
          <p:cNvPr id="3" name="文本占位符 2"/>
          <p:cNvSpPr>
            <a:spLocks noGrp="1"/>
          </p:cNvSpPr>
          <p:nvPr>
            <p:ph type="body" sz="quarter" idx="3"/>
          </p:nvPr>
        </p:nvSpPr>
        <p:spPr>
          <a:xfrm>
            <a:off x="6172200" y="1401445"/>
            <a:ext cx="5589270" cy="565150"/>
          </a:xfrm>
          <a:solidFill>
            <a:schemeClr val="accent3">
              <a:lumMod val="40000"/>
              <a:lumOff val="60000"/>
              <a:alpha val="50000"/>
            </a:schemeClr>
          </a:solidFill>
        </p:spPr>
        <p:txBody>
          <a:bodyPr>
            <a:spAutoFit/>
          </a:bodyPr>
          <a:p>
            <a:pPr marL="457200" indent="-457200">
              <a:buFont typeface="Wingdings" panose="05000000000000000000" charset="0"/>
              <a:buChar char="q"/>
            </a:pPr>
            <a:r>
              <a:rPr lang="zh-CN" altLang="en-US" sz="2800" dirty="0">
                <a:sym typeface="+mn-ea"/>
              </a:rPr>
              <a:t>用</a:t>
            </a:r>
            <a:r>
              <a:rPr lang="en-US" altLang="zh-CN" sz="2800" dirty="0">
                <a:latin typeface="Arial" panose="020B0604020202090204" pitchFamily="34" charset="0"/>
                <a:cs typeface="Arial" panose="020B0604020202090204" pitchFamily="34" charset="0"/>
                <a:sym typeface="+mn-ea"/>
              </a:rPr>
              <a:t>‘</a:t>
            </a:r>
            <a:r>
              <a:rPr lang="zh-CN" altLang="en-US" sz="2800" dirty="0">
                <a:latin typeface="Arial" panose="020B0604020202090204" pitchFamily="34" charset="0"/>
                <a:cs typeface="Arial" panose="020B0604020202090204" pitchFamily="34" charset="0"/>
                <a:sym typeface="+mn-ea"/>
              </a:rPr>
              <a:t>自身连接</a:t>
            </a:r>
            <a:r>
              <a:rPr lang="en-US" altLang="zh-CN" sz="2800" dirty="0">
                <a:latin typeface="Arial" panose="020B0604020202090204" pitchFamily="34" charset="0"/>
                <a:cs typeface="Arial" panose="020B0604020202090204" pitchFamily="34" charset="0"/>
                <a:sym typeface="+mn-ea"/>
              </a:rPr>
              <a:t>’</a:t>
            </a:r>
            <a:r>
              <a:rPr lang="zh-CN" altLang="en-US" sz="2800" dirty="0">
                <a:sym typeface="+mn-ea"/>
              </a:rPr>
              <a:t>完成此查询</a:t>
            </a:r>
            <a:endParaRPr lang="zh-CN" altLang="en-US" sz="2800"/>
          </a:p>
        </p:txBody>
      </p:sp>
      <p:sp>
        <p:nvSpPr>
          <p:cNvPr id="8" name="内容占位符 7"/>
          <p:cNvSpPr>
            <a:spLocks noGrp="1"/>
          </p:cNvSpPr>
          <p:nvPr>
            <p:ph sz="quarter" idx="4"/>
          </p:nvPr>
        </p:nvSpPr>
        <p:spPr>
          <a:xfrm>
            <a:off x="6172200" y="2105025"/>
            <a:ext cx="5886450" cy="4337050"/>
          </a:xfrm>
        </p:spPr>
        <p:txBody>
          <a:bodyPr>
            <a:noAutofit/>
          </a:bodyPr>
          <a:lstStyle/>
          <a:p>
            <a:pPr marL="0" lvl="0" indent="0">
              <a:lnSpc>
                <a:spcPct val="130000"/>
              </a:lnSpc>
              <a:spcBef>
                <a:spcPts val="0"/>
              </a:spcBef>
              <a:buNone/>
            </a:pPr>
            <a:r>
              <a:rPr lang="en-US" altLang="zh-CN" sz="2800" b="0" spc="-100" dirty="0">
                <a:solidFill>
                  <a:srgbClr val="FF0000"/>
                </a:solidFill>
                <a:uFillTx/>
                <a:latin typeface="Arial" panose="020B0604020202090204" pitchFamily="34" charset="0"/>
                <a:cs typeface="Arial" panose="020B0604020202090204" pitchFamily="34" charset="0"/>
              </a:rPr>
              <a:t>SELECT  S1.Sno</a:t>
            </a:r>
            <a:r>
              <a:rPr lang="zh-CN" altLang="en-US" sz="2800" b="0" spc="-100" dirty="0">
                <a:solidFill>
                  <a:srgbClr val="FF0000"/>
                </a:solidFill>
                <a:uFillTx/>
                <a:latin typeface="Arial" panose="020B0604020202090204" pitchFamily="34" charset="0"/>
                <a:cs typeface="Arial" panose="020B0604020202090204" pitchFamily="34" charset="0"/>
              </a:rPr>
              <a:t>,</a:t>
            </a:r>
            <a:r>
              <a:rPr lang="en-US" altLang="zh-CN" sz="2800" b="0" spc="-100" dirty="0">
                <a:solidFill>
                  <a:srgbClr val="FF0000"/>
                </a:solidFill>
                <a:uFillTx/>
                <a:latin typeface="Arial" panose="020B0604020202090204" pitchFamily="34" charset="0"/>
                <a:cs typeface="Arial" panose="020B0604020202090204" pitchFamily="34" charset="0"/>
              </a:rPr>
              <a:t>S1.Sname</a:t>
            </a:r>
            <a:r>
              <a:rPr lang="zh-CN" altLang="en-US" sz="2800" b="0" spc="-100" dirty="0">
                <a:solidFill>
                  <a:srgbClr val="FF0000"/>
                </a:solidFill>
                <a:uFillTx/>
                <a:latin typeface="Arial" panose="020B0604020202090204" pitchFamily="34" charset="0"/>
                <a:cs typeface="Arial" panose="020B0604020202090204" pitchFamily="34" charset="0"/>
              </a:rPr>
              <a:t>,</a:t>
            </a:r>
            <a:r>
              <a:rPr lang="en-US" altLang="zh-CN" sz="2800" b="0" spc="-100" dirty="0">
                <a:solidFill>
                  <a:srgbClr val="FF0000"/>
                </a:solidFill>
                <a:uFillTx/>
                <a:latin typeface="Arial" panose="020B0604020202090204" pitchFamily="34" charset="0"/>
                <a:cs typeface="Arial" panose="020B0604020202090204" pitchFamily="34" charset="0"/>
              </a:rPr>
              <a:t>S1.Sdept</a:t>
            </a:r>
            <a:endParaRPr lang="en-US" altLang="zh-CN" sz="2800" b="0" spc="-100" dirty="0">
              <a:solidFill>
                <a:srgbClr val="FF0000"/>
              </a:solidFill>
              <a:uFillTx/>
              <a:latin typeface="Arial" panose="020B0604020202090204" pitchFamily="34" charset="0"/>
              <a:cs typeface="Arial" panose="020B0604020202090204" pitchFamily="34" charset="0"/>
            </a:endParaRPr>
          </a:p>
          <a:p>
            <a:pPr marL="0" lvl="0" indent="0">
              <a:lnSpc>
                <a:spcPct val="130000"/>
              </a:lnSpc>
              <a:spcBef>
                <a:spcPts val="0"/>
              </a:spcBef>
              <a:buNone/>
            </a:pPr>
            <a:r>
              <a:rPr lang="en-US" altLang="zh-CN" sz="2800" b="0" spc="-100" dirty="0">
                <a:solidFill>
                  <a:srgbClr val="FF0000"/>
                </a:solidFill>
                <a:uFillTx/>
                <a:latin typeface="Arial" panose="020B0604020202090204" pitchFamily="34" charset="0"/>
                <a:cs typeface="Arial" panose="020B0604020202090204" pitchFamily="34" charset="0"/>
              </a:rPr>
              <a:t>FROM     Student  S1</a:t>
            </a:r>
            <a:r>
              <a:rPr lang="zh-CN" altLang="en-US" sz="2800" b="0" spc="-100" dirty="0">
                <a:solidFill>
                  <a:srgbClr val="FF0000"/>
                </a:solidFill>
                <a:uFillTx/>
                <a:latin typeface="Arial" panose="020B0604020202090204" pitchFamily="34" charset="0"/>
                <a:cs typeface="Arial" panose="020B0604020202090204" pitchFamily="34" charset="0"/>
              </a:rPr>
              <a:t>,</a:t>
            </a:r>
            <a:r>
              <a:rPr lang="en-US" altLang="zh-CN" sz="2800" b="0" spc="-100" dirty="0">
                <a:solidFill>
                  <a:srgbClr val="FF0000"/>
                </a:solidFill>
                <a:uFillTx/>
                <a:latin typeface="Arial" panose="020B0604020202090204" pitchFamily="34" charset="0"/>
                <a:cs typeface="Arial" panose="020B0604020202090204" pitchFamily="34" charset="0"/>
              </a:rPr>
              <a:t> Student  S2</a:t>
            </a:r>
            <a:endParaRPr lang="en-US" altLang="zh-CN" sz="2800" b="0" spc="-100" dirty="0">
              <a:solidFill>
                <a:srgbClr val="FF0000"/>
              </a:solidFill>
              <a:uFillTx/>
              <a:latin typeface="Arial" panose="020B0604020202090204" pitchFamily="34" charset="0"/>
              <a:cs typeface="Arial" panose="020B0604020202090204" pitchFamily="34" charset="0"/>
            </a:endParaRPr>
          </a:p>
          <a:p>
            <a:pPr marL="0" lvl="0" indent="0">
              <a:lnSpc>
                <a:spcPct val="130000"/>
              </a:lnSpc>
              <a:spcBef>
                <a:spcPts val="0"/>
              </a:spcBef>
              <a:buNone/>
            </a:pPr>
            <a:r>
              <a:rPr lang="en-US" altLang="zh-CN" sz="2800" b="0" spc="-100" dirty="0">
                <a:solidFill>
                  <a:srgbClr val="FF0000"/>
                </a:solidFill>
                <a:uFillTx/>
                <a:latin typeface="Arial" panose="020B0604020202090204" pitchFamily="34" charset="0"/>
                <a:cs typeface="Arial" panose="020B0604020202090204" pitchFamily="34" charset="0"/>
              </a:rPr>
              <a:t>WHERE  S1.Sdept=S2.Sdept  AND</a:t>
            </a:r>
            <a:endParaRPr lang="en-US" altLang="zh-CN" sz="2800" b="0" spc="-100" dirty="0">
              <a:solidFill>
                <a:srgbClr val="FF0000"/>
              </a:solidFill>
              <a:uFillTx/>
              <a:latin typeface="Arial" panose="020B0604020202090204" pitchFamily="34" charset="0"/>
              <a:cs typeface="Arial" panose="020B0604020202090204" pitchFamily="34" charset="0"/>
            </a:endParaRPr>
          </a:p>
          <a:p>
            <a:pPr marL="1371600" lvl="3" indent="0">
              <a:lnSpc>
                <a:spcPct val="130000"/>
              </a:lnSpc>
              <a:spcBef>
                <a:spcPts val="0"/>
              </a:spcBef>
              <a:buNone/>
            </a:pPr>
            <a:r>
              <a:rPr lang="en-US" altLang="zh-CN" sz="2800" b="0" spc="-100" dirty="0">
                <a:solidFill>
                  <a:srgbClr val="FF0000"/>
                </a:solidFill>
                <a:uFillTx/>
                <a:latin typeface="Arial" panose="020B0604020202090204" pitchFamily="34" charset="0"/>
                <a:cs typeface="Arial" panose="020B0604020202090204" pitchFamily="34" charset="0"/>
              </a:rPr>
              <a:t>S2.Sname='</a:t>
            </a:r>
            <a:r>
              <a:rPr lang="zh-CN" altLang="en-US" sz="2800" b="0" spc="-100" dirty="0">
                <a:solidFill>
                  <a:srgbClr val="FF0000"/>
                </a:solidFill>
                <a:uFillTx/>
                <a:latin typeface="Arial" panose="020B0604020202090204" pitchFamily="34" charset="0"/>
                <a:cs typeface="Arial" panose="020B0604020202090204" pitchFamily="34" charset="0"/>
              </a:rPr>
              <a:t>刘晨</a:t>
            </a:r>
            <a:r>
              <a:rPr lang="en-US" altLang="zh-CN" sz="2800" b="0" spc="-100" dirty="0">
                <a:solidFill>
                  <a:srgbClr val="FF0000"/>
                </a:solidFill>
                <a:uFillTx/>
                <a:latin typeface="Arial" panose="020B0604020202090204" pitchFamily="34" charset="0"/>
                <a:cs typeface="Arial" panose="020B0604020202090204" pitchFamily="34" charset="0"/>
              </a:rPr>
              <a:t>'</a:t>
            </a:r>
            <a:r>
              <a:rPr lang="zh-CN" altLang="en-US" sz="2800" b="0" spc="-100" dirty="0">
                <a:solidFill>
                  <a:srgbClr val="FF0000"/>
                </a:solidFill>
                <a:uFillTx/>
                <a:latin typeface="Arial" panose="020B0604020202090204" pitchFamily="34" charset="0"/>
                <a:cs typeface="Arial" panose="020B0604020202090204" pitchFamily="34" charset="0"/>
              </a:rPr>
              <a:t>;</a:t>
            </a:r>
            <a:endParaRPr lang="zh-CN" altLang="en-US" sz="2800" b="0" spc="-100" dirty="0">
              <a:solidFill>
                <a:srgbClr val="FF0000"/>
              </a:solidFill>
              <a:uFillTx/>
              <a:latin typeface="Arial" panose="020B0604020202090204" pitchFamily="34" charset="0"/>
              <a:cs typeface="Arial" panose="020B0604020202090204" pitchFamily="34" charset="0"/>
            </a:endParaRPr>
          </a:p>
        </p:txBody>
      </p:sp>
      <p:sp>
        <p:nvSpPr>
          <p:cNvPr id="33795" name="Rectangle 3"/>
          <p:cNvSpPr>
            <a:spLocks noGrp="1" noChangeArrowheads="1"/>
          </p:cNvSpPr>
          <p:nvPr/>
        </p:nvSpPr>
        <p:spPr>
          <a:xfrm>
            <a:off x="424180" y="636270"/>
            <a:ext cx="11343005" cy="521970"/>
          </a:xfrm>
          <a:prstGeom prst="rect">
            <a:avLst/>
          </a:prstGeom>
          <a:no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ct val="0"/>
              </a:spcBef>
            </a:pPr>
            <a:r>
              <a:rPr lang="en-US" altLang="zh-CN" sz="2800" dirty="0"/>
              <a:t>[</a:t>
            </a:r>
            <a:r>
              <a:rPr lang="zh-CN" altLang="en-US" sz="2800" dirty="0"/>
              <a:t>例</a:t>
            </a:r>
            <a:r>
              <a:rPr lang="en-US" altLang="zh-CN" sz="2800" dirty="0"/>
              <a:t>3.55] </a:t>
            </a:r>
            <a:r>
              <a:rPr lang="zh-CN" altLang="en-US" sz="2800" dirty="0"/>
              <a:t>查询与“刘晨”在同一个系学习的学生。</a:t>
            </a:r>
            <a:endParaRPr lang="en-US" altLang="zh-CN" sz="2800" dirty="0">
              <a:solidFill>
                <a:srgbClr val="0000C8"/>
              </a:solidFill>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blinds(horizontal)">
                                      <p:cBhvr>
                                        <p:cTn id="7" dur="500"/>
                                        <p:tgtEl>
                                          <p:spTgt spid="2">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blinds(horizontal)">
                                      <p:cBhvr>
                                        <p:cTn id="10" dur="5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blinds(horizontal)">
                                      <p:cBhvr>
                                        <p:cTn id="15" dur="500"/>
                                        <p:tgtEl>
                                          <p:spTgt spid="7">
                                            <p:txEl>
                                              <p:pRg st="0" end="0"/>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blinds(horizontal)">
                                      <p:cBhvr>
                                        <p:cTn id="18" dur="500"/>
                                        <p:tgtEl>
                                          <p:spTgt spid="7">
                                            <p:txEl>
                                              <p:pRg st="1" end="1"/>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blinds(horizontal)">
                                      <p:cBhvr>
                                        <p:cTn id="21" dur="500"/>
                                        <p:tgtEl>
                                          <p:spTgt spid="7">
                                            <p:txEl>
                                              <p:pRg st="2" end="2"/>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blinds(horizontal)">
                                      <p:cBhvr>
                                        <p:cTn id="24" dur="500"/>
                                        <p:tgtEl>
                                          <p:spTgt spid="7">
                                            <p:txEl>
                                              <p:pRg st="3" end="3"/>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blinds(horizontal)">
                                      <p:cBhvr>
                                        <p:cTn id="30" dur="500"/>
                                        <p:tgtEl>
                                          <p:spTgt spid="7">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blinds(horizontal)">
                                      <p:cBhvr>
                                        <p:cTn id="33" dur="500"/>
                                        <p:tgtEl>
                                          <p:spTgt spid="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
                                            <p:bg/>
                                          </p:spTgt>
                                        </p:tgtEl>
                                        <p:attrNameLst>
                                          <p:attrName>style.visibility</p:attrName>
                                        </p:attrNameLst>
                                      </p:cBhvr>
                                      <p:to>
                                        <p:strVal val="visible"/>
                                      </p:to>
                                    </p:set>
                                    <p:animEffect transition="in" filter="blinds(horizontal)">
                                      <p:cBhvr>
                                        <p:cTn id="38" dur="500"/>
                                        <p:tgtEl>
                                          <p:spTgt spid="3">
                                            <p:bg/>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animEffect transition="in" filter="blinds(horizontal)">
                                      <p:cBhvr>
                                        <p:cTn id="41" dur="500"/>
                                        <p:tgtEl>
                                          <p:spTgt spid="3">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8">
                                            <p:txEl>
                                              <p:pRg st="0" end="0"/>
                                            </p:txEl>
                                          </p:spTgt>
                                        </p:tgtEl>
                                        <p:attrNameLst>
                                          <p:attrName>style.visibility</p:attrName>
                                        </p:attrNameLst>
                                      </p:cBhvr>
                                      <p:to>
                                        <p:strVal val="visible"/>
                                      </p:to>
                                    </p:set>
                                    <p:animEffect transition="in" filter="blinds(horizontal)">
                                      <p:cBhvr>
                                        <p:cTn id="46" dur="500"/>
                                        <p:tgtEl>
                                          <p:spTgt spid="8">
                                            <p:txEl>
                                              <p:pRg st="0" end="0"/>
                                            </p:txEl>
                                          </p:spTgt>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8">
                                            <p:txEl>
                                              <p:pRg st="1" end="1"/>
                                            </p:txEl>
                                          </p:spTgt>
                                        </p:tgtEl>
                                        <p:attrNameLst>
                                          <p:attrName>style.visibility</p:attrName>
                                        </p:attrNameLst>
                                      </p:cBhvr>
                                      <p:to>
                                        <p:strVal val="visible"/>
                                      </p:to>
                                    </p:set>
                                    <p:animEffect transition="in" filter="blinds(horizontal)">
                                      <p:cBhvr>
                                        <p:cTn id="49" dur="500"/>
                                        <p:tgtEl>
                                          <p:spTgt spid="8">
                                            <p:txEl>
                                              <p:pRg st="1" end="1"/>
                                            </p:txEl>
                                          </p:spTgt>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8">
                                            <p:txEl>
                                              <p:pRg st="2" end="2"/>
                                            </p:txEl>
                                          </p:spTgt>
                                        </p:tgtEl>
                                        <p:attrNameLst>
                                          <p:attrName>style.visibility</p:attrName>
                                        </p:attrNameLst>
                                      </p:cBhvr>
                                      <p:to>
                                        <p:strVal val="visible"/>
                                      </p:to>
                                    </p:set>
                                    <p:animEffect transition="in" filter="blinds(horizontal)">
                                      <p:cBhvr>
                                        <p:cTn id="52" dur="500"/>
                                        <p:tgtEl>
                                          <p:spTgt spid="8">
                                            <p:txEl>
                                              <p:pRg st="2" end="2"/>
                                            </p:txEl>
                                          </p:spTgt>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8">
                                            <p:txEl>
                                              <p:pRg st="3" end="3"/>
                                            </p:txEl>
                                          </p:spTgt>
                                        </p:tgtEl>
                                        <p:attrNameLst>
                                          <p:attrName>style.visibility</p:attrName>
                                        </p:attrNameLst>
                                      </p:cBhvr>
                                      <p:to>
                                        <p:strVal val="visible"/>
                                      </p:to>
                                    </p:set>
                                    <p:animEffect transition="in" filter="blinds(horizontal)">
                                      <p:cBhvr>
                                        <p:cTn id="55"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build="allAtOnce"/>
      <p:bldP spid="3" grpId="0" bldLvl="0" animBg="1" build="allAtOnce"/>
      <p:bldP spid="8" grpId="0" bldLvl="0" build="allAtOnce"/>
      <p:bldP spid="2" grpId="0" bldLvl="0" animBg="1" build="allAtOnce"/>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带有</a:t>
            </a:r>
            <a:r>
              <a:rPr lang="en-US" altLang="zh-CN" dirty="0"/>
              <a:t>IN</a:t>
            </a:r>
            <a:r>
              <a:rPr lang="zh-CN" altLang="en-US" dirty="0"/>
              <a:t>谓词的子查询 </a:t>
            </a:r>
            <a:r>
              <a:rPr lang="en-US" altLang="zh-CN" dirty="0"/>
              <a:t>3</a:t>
            </a:r>
            <a:endParaRPr lang="zh-CN" altLang="en-US" dirty="0"/>
          </a:p>
        </p:txBody>
      </p:sp>
      <p:sp>
        <p:nvSpPr>
          <p:cNvPr id="2" name="文本占位符 1"/>
          <p:cNvSpPr>
            <a:spLocks noGrp="1"/>
          </p:cNvSpPr>
          <p:nvPr>
            <p:ph type="body" idx="1"/>
          </p:nvPr>
        </p:nvSpPr>
        <p:spPr>
          <a:xfrm>
            <a:off x="424800" y="1401445"/>
            <a:ext cx="5580000" cy="565150"/>
          </a:xfrm>
          <a:solidFill>
            <a:schemeClr val="accent3">
              <a:lumMod val="40000"/>
              <a:lumOff val="60000"/>
              <a:alpha val="50000"/>
            </a:schemeClr>
          </a:solidFill>
        </p:spPr>
        <p:txBody>
          <a:bodyPr>
            <a:spAutoFit/>
          </a:bodyPr>
          <a:p>
            <a:pPr marL="457200" indent="-457200">
              <a:buFont typeface="Wingdings" panose="05000000000000000000" charset="0"/>
              <a:buChar char="q"/>
            </a:pPr>
            <a:r>
              <a:rPr lang="zh-CN" altLang="en-US" sz="2800" dirty="0">
                <a:solidFill>
                  <a:srgbClr val="0000C8"/>
                </a:solidFill>
                <a:latin typeface="Arial" panose="020B0604020202090204" pitchFamily="34" charset="0"/>
                <a:cs typeface="Arial" panose="020B0604020202090204" pitchFamily="34" charset="0"/>
                <a:sym typeface="+mn-ea"/>
              </a:rPr>
              <a:t>使用</a:t>
            </a:r>
            <a:r>
              <a:rPr lang="en-US" altLang="zh-CN" sz="2800" dirty="0">
                <a:solidFill>
                  <a:srgbClr val="0000C8"/>
                </a:solidFill>
                <a:latin typeface="Arial" panose="020B0604020202090204" pitchFamily="34" charset="0"/>
                <a:cs typeface="Arial" panose="020B0604020202090204" pitchFamily="34" charset="0"/>
                <a:sym typeface="+mn-ea"/>
              </a:rPr>
              <a:t> ‘IN + </a:t>
            </a:r>
            <a:r>
              <a:rPr lang="zh-CN" altLang="en-US" sz="2800" dirty="0">
                <a:solidFill>
                  <a:srgbClr val="0000C8"/>
                </a:solidFill>
                <a:latin typeface="Arial" panose="020B0604020202090204" pitchFamily="34" charset="0"/>
                <a:cs typeface="Arial" panose="020B0604020202090204" pitchFamily="34" charset="0"/>
                <a:sym typeface="+mn-ea"/>
              </a:rPr>
              <a:t>不相关子查询</a:t>
            </a:r>
            <a:r>
              <a:rPr lang="en-US" altLang="zh-CN" sz="2800" dirty="0">
                <a:solidFill>
                  <a:srgbClr val="0000C8"/>
                </a:solidFill>
                <a:latin typeface="Arial" panose="020B0604020202090204" pitchFamily="34" charset="0"/>
                <a:cs typeface="Arial" panose="020B0604020202090204" pitchFamily="34" charset="0"/>
                <a:sym typeface="+mn-ea"/>
              </a:rPr>
              <a:t>’</a:t>
            </a:r>
            <a:endParaRPr lang="en-US" altLang="zh-CN" sz="2800" dirty="0">
              <a:solidFill>
                <a:srgbClr val="0000C8"/>
              </a:solidFill>
              <a:latin typeface="Arial" panose="020B0604020202090204" pitchFamily="34" charset="0"/>
              <a:cs typeface="Arial" panose="020B0604020202090204" pitchFamily="34" charset="0"/>
              <a:sym typeface="+mn-ea"/>
            </a:endParaRPr>
          </a:p>
        </p:txBody>
      </p:sp>
      <p:sp>
        <p:nvSpPr>
          <p:cNvPr id="7" name="内容占位符 6"/>
          <p:cNvSpPr>
            <a:spLocks noGrp="1"/>
          </p:cNvSpPr>
          <p:nvPr>
            <p:ph sz="half" idx="2"/>
          </p:nvPr>
        </p:nvSpPr>
        <p:spPr>
          <a:xfrm>
            <a:off x="424815" y="2105025"/>
            <a:ext cx="5579745" cy="3449955"/>
          </a:xfrm>
          <a:ln>
            <a:solidFill>
              <a:schemeClr val="accent1"/>
            </a:solidFill>
          </a:ln>
        </p:spPr>
        <p:txBody>
          <a:bodyPr>
            <a:spAutoFit/>
          </a:bodyPr>
          <a:lstStyle/>
          <a:p>
            <a:pPr marL="0" lvl="0" indent="0">
              <a:lnSpc>
                <a:spcPct val="130000"/>
              </a:lnSpc>
              <a:spcBef>
                <a:spcPts val="0"/>
              </a:spcBef>
              <a:buNone/>
            </a:pPr>
            <a:r>
              <a:rPr lang="en-US" altLang="zh-CN" sz="2800" b="0" dirty="0">
                <a:solidFill>
                  <a:srgbClr val="0000C8"/>
                </a:solidFill>
                <a:latin typeface="Arial" panose="020B0604020202090204" pitchFamily="34" charset="0"/>
                <a:cs typeface="Arial" panose="020B0604020202090204" pitchFamily="34" charset="0"/>
              </a:rPr>
              <a:t>SELECT  </a:t>
            </a:r>
            <a:r>
              <a:rPr lang="en-US" altLang="zh-CN" sz="2800" b="0" dirty="0" err="1">
                <a:solidFill>
                  <a:srgbClr val="0000C8"/>
                </a:solidFill>
                <a:latin typeface="Arial" panose="020B0604020202090204" pitchFamily="34" charset="0"/>
                <a:cs typeface="Arial" panose="020B0604020202090204" pitchFamily="34" charset="0"/>
              </a:rPr>
              <a:t>Sno</a:t>
            </a:r>
            <a:r>
              <a:rPr lang="en-US" altLang="zh-CN" sz="2800" b="0" dirty="0">
                <a:solidFill>
                  <a:srgbClr val="0000C8"/>
                </a:solidFill>
                <a:latin typeface="Arial" panose="020B0604020202090204" pitchFamily="34" charset="0"/>
                <a:cs typeface="Arial" panose="020B0604020202090204" pitchFamily="34" charset="0"/>
              </a:rPr>
              <a:t>, </a:t>
            </a:r>
            <a:r>
              <a:rPr lang="en-US" altLang="zh-CN" sz="2800" b="0" dirty="0" err="1">
                <a:solidFill>
                  <a:srgbClr val="0000C8"/>
                </a:solidFill>
                <a:latin typeface="Arial" panose="020B0604020202090204" pitchFamily="34" charset="0"/>
                <a:cs typeface="Arial" panose="020B0604020202090204" pitchFamily="34" charset="0"/>
              </a:rPr>
              <a:t>Sname</a:t>
            </a:r>
            <a:r>
              <a:rPr lang="en-US" altLang="zh-CN" sz="2800" b="0" dirty="0">
                <a:solidFill>
                  <a:srgbClr val="0000C8"/>
                </a:solidFill>
                <a:latin typeface="Arial" panose="020B0604020202090204" pitchFamily="34" charset="0"/>
                <a:cs typeface="Arial" panose="020B0604020202090204" pitchFamily="34" charset="0"/>
              </a:rPr>
              <a:t>, </a:t>
            </a:r>
            <a:r>
              <a:rPr lang="en-US" altLang="zh-CN" sz="2800" b="0" dirty="0" err="1">
                <a:solidFill>
                  <a:srgbClr val="0000C8"/>
                </a:solidFill>
                <a:latin typeface="Arial" panose="020B0604020202090204" pitchFamily="34" charset="0"/>
                <a:cs typeface="Arial" panose="020B0604020202090204" pitchFamily="34" charset="0"/>
              </a:rPr>
              <a:t>Sdept</a:t>
            </a:r>
            <a:endParaRPr lang="en-US" altLang="zh-CN" sz="2800" b="0" dirty="0">
              <a:solidFill>
                <a:srgbClr val="0000C8"/>
              </a:solidFill>
              <a:latin typeface="Arial" panose="020B0604020202090204" pitchFamily="34" charset="0"/>
              <a:cs typeface="Arial" panose="020B0604020202090204" pitchFamily="34" charset="0"/>
            </a:endParaRPr>
          </a:p>
          <a:p>
            <a:pPr marL="0" lvl="0" indent="0">
              <a:lnSpc>
                <a:spcPct val="130000"/>
              </a:lnSpc>
              <a:spcBef>
                <a:spcPts val="0"/>
              </a:spcBef>
              <a:buNone/>
            </a:pPr>
            <a:r>
              <a:rPr lang="en-US" altLang="zh-CN" sz="2800" b="0" dirty="0">
                <a:solidFill>
                  <a:srgbClr val="0000C8"/>
                </a:solidFill>
                <a:latin typeface="Arial" panose="020B0604020202090204" pitchFamily="34" charset="0"/>
                <a:cs typeface="Arial" panose="020B0604020202090204" pitchFamily="34" charset="0"/>
              </a:rPr>
              <a:t>FROM  Student</a:t>
            </a:r>
            <a:endParaRPr lang="en-US" altLang="zh-CN" sz="2800" b="0" dirty="0">
              <a:solidFill>
                <a:srgbClr val="0000C8"/>
              </a:solidFill>
              <a:latin typeface="Arial" panose="020B0604020202090204" pitchFamily="34" charset="0"/>
              <a:cs typeface="Arial" panose="020B0604020202090204" pitchFamily="34" charset="0"/>
            </a:endParaRPr>
          </a:p>
          <a:p>
            <a:pPr marL="0" lvl="0" indent="0">
              <a:lnSpc>
                <a:spcPct val="130000"/>
              </a:lnSpc>
              <a:spcBef>
                <a:spcPts val="0"/>
              </a:spcBef>
              <a:buNone/>
            </a:pPr>
            <a:r>
              <a:rPr lang="en-US" altLang="zh-CN" sz="2800" b="0" dirty="0">
                <a:solidFill>
                  <a:srgbClr val="0000C8"/>
                </a:solidFill>
                <a:latin typeface="Arial" panose="020B0604020202090204" pitchFamily="34" charset="0"/>
                <a:cs typeface="Arial" panose="020B0604020202090204" pitchFamily="34" charset="0"/>
              </a:rPr>
              <a:t>WHERE  </a:t>
            </a:r>
            <a:r>
              <a:rPr lang="en-US" altLang="zh-CN" sz="2800" b="0" dirty="0" err="1">
                <a:solidFill>
                  <a:srgbClr val="0000C8"/>
                </a:solidFill>
                <a:latin typeface="Arial" panose="020B0604020202090204" pitchFamily="34" charset="0"/>
                <a:cs typeface="Arial" panose="020B0604020202090204" pitchFamily="34" charset="0"/>
              </a:rPr>
              <a:t>Sdept</a:t>
            </a:r>
            <a:r>
              <a:rPr lang="en-US" altLang="zh-CN" sz="2800" b="0" dirty="0">
                <a:solidFill>
                  <a:srgbClr val="0000C8"/>
                </a:solidFill>
                <a:latin typeface="Arial" panose="020B0604020202090204" pitchFamily="34" charset="0"/>
                <a:cs typeface="Arial" panose="020B0604020202090204" pitchFamily="34" charset="0"/>
              </a:rPr>
              <a:t>  IN (</a:t>
            </a:r>
            <a:endParaRPr lang="en-US" altLang="zh-CN" sz="2800" b="0" dirty="0">
              <a:solidFill>
                <a:srgbClr val="0000C8"/>
              </a:solidFill>
              <a:latin typeface="Arial" panose="020B0604020202090204" pitchFamily="34" charset="0"/>
              <a:cs typeface="Arial" panose="020B0604020202090204" pitchFamily="34" charset="0"/>
            </a:endParaRPr>
          </a:p>
          <a:p>
            <a:pPr marL="821055" lvl="2"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rPr>
              <a:t>SELECT  </a:t>
            </a:r>
            <a:r>
              <a:rPr lang="en-US" altLang="zh-CN" sz="2800" b="0" dirty="0" err="1">
                <a:solidFill>
                  <a:srgbClr val="FF0000"/>
                </a:solidFill>
                <a:latin typeface="Arial" panose="020B0604020202090204" pitchFamily="34" charset="0"/>
                <a:cs typeface="Arial" panose="020B0604020202090204" pitchFamily="34" charset="0"/>
              </a:rPr>
              <a:t>Sdept</a:t>
            </a:r>
            <a:endParaRPr lang="en-US" altLang="zh-CN" sz="2800" b="0" dirty="0">
              <a:solidFill>
                <a:srgbClr val="FF0000"/>
              </a:solidFill>
              <a:latin typeface="Arial" panose="020B0604020202090204" pitchFamily="34" charset="0"/>
              <a:cs typeface="Arial" panose="020B0604020202090204" pitchFamily="34" charset="0"/>
            </a:endParaRPr>
          </a:p>
          <a:p>
            <a:pPr marL="821055" lvl="2"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rPr>
              <a:t>FROM  Student</a:t>
            </a:r>
            <a:endParaRPr lang="en-US" altLang="zh-CN" sz="2800" b="0" dirty="0">
              <a:solidFill>
                <a:srgbClr val="FF0000"/>
              </a:solidFill>
              <a:latin typeface="Arial" panose="020B0604020202090204" pitchFamily="34" charset="0"/>
              <a:cs typeface="Arial" panose="020B0604020202090204" pitchFamily="34" charset="0"/>
            </a:endParaRPr>
          </a:p>
          <a:p>
            <a:pPr marL="821055" lvl="2"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rPr>
              <a:t>WHERE  </a:t>
            </a:r>
            <a:r>
              <a:rPr lang="en-US" altLang="zh-CN" sz="2800" b="0" dirty="0" err="1">
                <a:solidFill>
                  <a:srgbClr val="FF0000"/>
                </a:solidFill>
                <a:latin typeface="Arial" panose="020B0604020202090204" pitchFamily="34" charset="0"/>
                <a:cs typeface="Arial" panose="020B0604020202090204" pitchFamily="34" charset="0"/>
              </a:rPr>
              <a:t>Sname</a:t>
            </a:r>
            <a:r>
              <a:rPr lang="en-US" altLang="zh-CN" sz="2800" b="0" dirty="0">
                <a:solidFill>
                  <a:srgbClr val="FF0000"/>
                </a:solidFill>
                <a:latin typeface="Arial" panose="020B0604020202090204" pitchFamily="34" charset="0"/>
                <a:cs typeface="Arial" panose="020B0604020202090204" pitchFamily="34" charset="0"/>
              </a:rPr>
              <a:t>='</a:t>
            </a:r>
            <a:r>
              <a:rPr lang="zh-CN" altLang="en-US" sz="2800" b="0" dirty="0">
                <a:solidFill>
                  <a:srgbClr val="FF0000"/>
                </a:solidFill>
                <a:latin typeface="Arial" panose="020B0604020202090204" pitchFamily="34" charset="0"/>
                <a:cs typeface="Arial" panose="020B0604020202090204" pitchFamily="34" charset="0"/>
              </a:rPr>
              <a:t>刘晨</a:t>
            </a:r>
            <a:r>
              <a:rPr lang="en-US" altLang="zh-CN" sz="2800" b="0" dirty="0">
                <a:solidFill>
                  <a:srgbClr val="FF0000"/>
                </a:solidFill>
                <a:latin typeface="Arial" panose="020B0604020202090204" pitchFamily="34" charset="0"/>
                <a:cs typeface="Arial" panose="020B0604020202090204" pitchFamily="34" charset="0"/>
              </a:rPr>
              <a:t>'</a:t>
            </a:r>
            <a:r>
              <a:rPr lang="en-US" altLang="zh-CN" sz="2800" b="0" dirty="0">
                <a:solidFill>
                  <a:srgbClr val="0000C8"/>
                </a:solidFill>
                <a:latin typeface="Arial" panose="020B0604020202090204" pitchFamily="34" charset="0"/>
                <a:cs typeface="Arial" panose="020B0604020202090204" pitchFamily="34" charset="0"/>
              </a:rPr>
              <a:t>);</a:t>
            </a:r>
            <a:endParaRPr lang="en-US" altLang="zh-CN" sz="2800" b="0" dirty="0">
              <a:solidFill>
                <a:srgbClr val="0000C8"/>
              </a:solidFill>
              <a:latin typeface="Arial" panose="020B0604020202090204" pitchFamily="34" charset="0"/>
              <a:cs typeface="Arial" panose="020B0604020202090204" pitchFamily="34" charset="0"/>
            </a:endParaRPr>
          </a:p>
        </p:txBody>
      </p:sp>
      <p:sp>
        <p:nvSpPr>
          <p:cNvPr id="3" name="文本占位符 2"/>
          <p:cNvSpPr>
            <a:spLocks noGrp="1"/>
          </p:cNvSpPr>
          <p:nvPr>
            <p:ph type="body" sz="quarter" idx="3"/>
          </p:nvPr>
        </p:nvSpPr>
        <p:spPr>
          <a:xfrm>
            <a:off x="6172200" y="1401445"/>
            <a:ext cx="5589270" cy="565150"/>
          </a:xfrm>
          <a:solidFill>
            <a:schemeClr val="accent3">
              <a:lumMod val="40000"/>
              <a:lumOff val="60000"/>
              <a:alpha val="50000"/>
            </a:schemeClr>
          </a:solidFill>
        </p:spPr>
        <p:txBody>
          <a:bodyPr>
            <a:spAutoFit/>
          </a:bodyPr>
          <a:p>
            <a:pPr marL="457200" indent="-457200">
              <a:buFont typeface="Wingdings" panose="05000000000000000000" charset="0"/>
              <a:buChar char="q"/>
            </a:pPr>
            <a:r>
              <a:rPr lang="zh-CN" altLang="en-US" sz="2800" dirty="0">
                <a:latin typeface="Arial" panose="020B0604020202090204" pitchFamily="34" charset="0"/>
                <a:cs typeface="Arial" panose="020B0604020202090204" pitchFamily="34" charset="0"/>
                <a:sym typeface="+mn-ea"/>
              </a:rPr>
              <a:t>使用</a:t>
            </a:r>
            <a:r>
              <a:rPr lang="en-US" altLang="zh-CN" sz="2800" dirty="0">
                <a:latin typeface="Arial" panose="020B0604020202090204" pitchFamily="34" charset="0"/>
                <a:cs typeface="Arial" panose="020B0604020202090204" pitchFamily="34" charset="0"/>
                <a:sym typeface="+mn-ea"/>
              </a:rPr>
              <a:t> ‘IN + </a:t>
            </a:r>
            <a:r>
              <a:rPr lang="zh-CN" altLang="en-US" sz="2800" dirty="0">
                <a:latin typeface="Arial" panose="020B0604020202090204" pitchFamily="34" charset="0"/>
                <a:cs typeface="Arial" panose="020B0604020202090204" pitchFamily="34" charset="0"/>
                <a:sym typeface="+mn-ea"/>
              </a:rPr>
              <a:t>相关子查询</a:t>
            </a:r>
            <a:r>
              <a:rPr lang="en-US" altLang="zh-CN" sz="2800" dirty="0">
                <a:latin typeface="Arial" panose="020B0604020202090204" pitchFamily="34" charset="0"/>
                <a:cs typeface="Arial" panose="020B0604020202090204" pitchFamily="34" charset="0"/>
                <a:sym typeface="+mn-ea"/>
              </a:rPr>
              <a:t>’</a:t>
            </a:r>
            <a:endParaRPr lang="zh-CN" altLang="en-US" sz="2800"/>
          </a:p>
        </p:txBody>
      </p:sp>
      <p:sp>
        <p:nvSpPr>
          <p:cNvPr id="8" name="内容占位符 7"/>
          <p:cNvSpPr>
            <a:spLocks noGrp="1"/>
          </p:cNvSpPr>
          <p:nvPr>
            <p:ph sz="quarter" idx="4"/>
          </p:nvPr>
        </p:nvSpPr>
        <p:spPr>
          <a:xfrm>
            <a:off x="6172200" y="2105025"/>
            <a:ext cx="5886450" cy="3449955"/>
          </a:xfrm>
          <a:ln>
            <a:solidFill>
              <a:schemeClr val="accent1"/>
            </a:solidFill>
          </a:ln>
        </p:spPr>
        <p:txBody>
          <a:bodyPr>
            <a:spAutoFit/>
          </a:bodyPr>
          <a:lstStyle/>
          <a:p>
            <a:pPr marL="0" lvl="0" indent="0">
              <a:lnSpc>
                <a:spcPct val="130000"/>
              </a:lnSpc>
              <a:spcBef>
                <a:spcPts val="0"/>
              </a:spcBef>
              <a:buNone/>
            </a:pPr>
            <a:r>
              <a:rPr lang="en-US" altLang="zh-CN" sz="2800" b="0" dirty="0">
                <a:solidFill>
                  <a:srgbClr val="0000C8"/>
                </a:solidFill>
                <a:latin typeface="Arial" panose="020B0604020202090204" pitchFamily="34" charset="0"/>
                <a:cs typeface="Arial" panose="020B0604020202090204" pitchFamily="34" charset="0"/>
                <a:sym typeface="+mn-ea"/>
              </a:rPr>
              <a:t>SELECT  x.</a:t>
            </a:r>
            <a:r>
              <a:rPr lang="en-US" altLang="zh-CN" sz="2800" b="0" dirty="0" err="1">
                <a:solidFill>
                  <a:srgbClr val="0000C8"/>
                </a:solidFill>
                <a:latin typeface="Arial" panose="020B0604020202090204" pitchFamily="34" charset="0"/>
                <a:cs typeface="Arial" panose="020B0604020202090204" pitchFamily="34" charset="0"/>
                <a:sym typeface="+mn-ea"/>
              </a:rPr>
              <a:t>Sno</a:t>
            </a:r>
            <a:r>
              <a:rPr lang="en-US" altLang="zh-CN" sz="2800" b="0" dirty="0">
                <a:solidFill>
                  <a:srgbClr val="0000C8"/>
                </a:solidFill>
                <a:latin typeface="Arial" panose="020B0604020202090204" pitchFamily="34" charset="0"/>
                <a:cs typeface="Arial" panose="020B0604020202090204" pitchFamily="34" charset="0"/>
                <a:sym typeface="+mn-ea"/>
              </a:rPr>
              <a:t>, </a:t>
            </a:r>
            <a:r>
              <a:rPr lang="en-US" altLang="zh-CN" sz="2800" b="0" dirty="0">
                <a:solidFill>
                  <a:srgbClr val="0000C8"/>
                </a:solidFill>
                <a:latin typeface="Arial" panose="020B0604020202090204" pitchFamily="34" charset="0"/>
                <a:cs typeface="Arial" panose="020B0604020202090204" pitchFamily="34" charset="0"/>
                <a:sym typeface="+mn-ea"/>
              </a:rPr>
              <a:t>x.</a:t>
            </a:r>
            <a:r>
              <a:rPr lang="en-US" altLang="zh-CN" sz="2800" b="0" dirty="0" err="1">
                <a:solidFill>
                  <a:srgbClr val="0000C8"/>
                </a:solidFill>
                <a:latin typeface="Arial" panose="020B0604020202090204" pitchFamily="34" charset="0"/>
                <a:cs typeface="Arial" panose="020B0604020202090204" pitchFamily="34" charset="0"/>
                <a:sym typeface="+mn-ea"/>
              </a:rPr>
              <a:t>Sname</a:t>
            </a:r>
            <a:r>
              <a:rPr lang="en-US" altLang="zh-CN" sz="2800" b="0" dirty="0">
                <a:solidFill>
                  <a:srgbClr val="0000C8"/>
                </a:solidFill>
                <a:latin typeface="Arial" panose="020B0604020202090204" pitchFamily="34" charset="0"/>
                <a:cs typeface="Arial" panose="020B0604020202090204" pitchFamily="34" charset="0"/>
                <a:sym typeface="+mn-ea"/>
              </a:rPr>
              <a:t>, </a:t>
            </a:r>
            <a:r>
              <a:rPr lang="en-US" altLang="zh-CN" sz="2800" b="0" dirty="0">
                <a:solidFill>
                  <a:srgbClr val="0000C8"/>
                </a:solidFill>
                <a:latin typeface="Arial" panose="020B0604020202090204" pitchFamily="34" charset="0"/>
                <a:cs typeface="Arial" panose="020B0604020202090204" pitchFamily="34" charset="0"/>
                <a:sym typeface="+mn-ea"/>
              </a:rPr>
              <a:t>x.</a:t>
            </a:r>
            <a:r>
              <a:rPr lang="en-US" altLang="zh-CN" sz="2800" b="0" dirty="0" err="1">
                <a:solidFill>
                  <a:srgbClr val="0000C8"/>
                </a:solidFill>
                <a:latin typeface="Arial" panose="020B0604020202090204" pitchFamily="34" charset="0"/>
                <a:cs typeface="Arial" panose="020B0604020202090204" pitchFamily="34" charset="0"/>
                <a:sym typeface="+mn-ea"/>
              </a:rPr>
              <a:t>Sdept</a:t>
            </a:r>
            <a:endParaRPr lang="en-US" altLang="zh-CN" sz="2800" b="0" dirty="0">
              <a:solidFill>
                <a:srgbClr val="0000C8"/>
              </a:solidFill>
              <a:latin typeface="Arial" panose="020B0604020202090204" pitchFamily="34" charset="0"/>
              <a:cs typeface="Arial" panose="020B0604020202090204" pitchFamily="34" charset="0"/>
            </a:endParaRPr>
          </a:p>
          <a:p>
            <a:pPr marL="0" lvl="0" indent="0">
              <a:lnSpc>
                <a:spcPct val="130000"/>
              </a:lnSpc>
              <a:spcBef>
                <a:spcPts val="0"/>
              </a:spcBef>
              <a:buNone/>
            </a:pPr>
            <a:r>
              <a:rPr lang="en-US" altLang="zh-CN" sz="2800" b="0" dirty="0">
                <a:solidFill>
                  <a:srgbClr val="0000C8"/>
                </a:solidFill>
                <a:latin typeface="Arial" panose="020B0604020202090204" pitchFamily="34" charset="0"/>
                <a:cs typeface="Arial" panose="020B0604020202090204" pitchFamily="34" charset="0"/>
                <a:sym typeface="+mn-ea"/>
              </a:rPr>
              <a:t>FROM  Student  x</a:t>
            </a:r>
            <a:endParaRPr lang="en-US" altLang="zh-CN" sz="2800" b="0" dirty="0">
              <a:solidFill>
                <a:srgbClr val="0000C8"/>
              </a:solidFill>
              <a:latin typeface="Arial" panose="020B0604020202090204" pitchFamily="34" charset="0"/>
              <a:cs typeface="Arial" panose="020B0604020202090204" pitchFamily="34" charset="0"/>
            </a:endParaRPr>
          </a:p>
          <a:p>
            <a:pPr marL="0" lvl="0" indent="0">
              <a:lnSpc>
                <a:spcPct val="130000"/>
              </a:lnSpc>
              <a:spcBef>
                <a:spcPts val="0"/>
              </a:spcBef>
              <a:buNone/>
            </a:pPr>
            <a:r>
              <a:rPr lang="en-US" altLang="zh-CN" sz="2800" b="0" dirty="0">
                <a:solidFill>
                  <a:srgbClr val="0000C8"/>
                </a:solidFill>
                <a:latin typeface="Arial" panose="020B0604020202090204" pitchFamily="34" charset="0"/>
                <a:cs typeface="Arial" panose="020B0604020202090204" pitchFamily="34" charset="0"/>
                <a:sym typeface="+mn-ea"/>
              </a:rPr>
              <a:t>WHERE  </a:t>
            </a:r>
            <a:r>
              <a:rPr lang="en-US" altLang="zh-CN" sz="2800" b="0" dirty="0">
                <a:solidFill>
                  <a:srgbClr val="0000C8"/>
                </a:solidFill>
                <a:latin typeface="Arial" panose="020B0604020202090204" pitchFamily="34" charset="0"/>
                <a:cs typeface="Arial" panose="020B0604020202090204" pitchFamily="34" charset="0"/>
                <a:sym typeface="+mn-ea"/>
              </a:rPr>
              <a:t>'</a:t>
            </a:r>
            <a:r>
              <a:rPr lang="zh-CN" altLang="en-US" sz="2800" b="0" dirty="0">
                <a:solidFill>
                  <a:srgbClr val="0000C8"/>
                </a:solidFill>
                <a:latin typeface="Arial" panose="020B0604020202090204" pitchFamily="34" charset="0"/>
                <a:cs typeface="Arial" panose="020B0604020202090204" pitchFamily="34" charset="0"/>
                <a:sym typeface="+mn-ea"/>
              </a:rPr>
              <a:t>刘晨</a:t>
            </a:r>
            <a:r>
              <a:rPr lang="en-US" altLang="zh-CN" sz="2800" b="0" dirty="0">
                <a:solidFill>
                  <a:srgbClr val="0000C8"/>
                </a:solidFill>
                <a:latin typeface="Arial" panose="020B0604020202090204" pitchFamily="34" charset="0"/>
                <a:cs typeface="Arial" panose="020B0604020202090204" pitchFamily="34" charset="0"/>
                <a:sym typeface="+mn-ea"/>
              </a:rPr>
              <a:t>'</a:t>
            </a:r>
            <a:r>
              <a:rPr lang="en-US" altLang="zh-CN" sz="2800" b="0" dirty="0">
                <a:solidFill>
                  <a:srgbClr val="0000C8"/>
                </a:solidFill>
                <a:latin typeface="Arial" panose="020B0604020202090204" pitchFamily="34" charset="0"/>
                <a:cs typeface="Arial" panose="020B0604020202090204" pitchFamily="34" charset="0"/>
                <a:sym typeface="+mn-ea"/>
              </a:rPr>
              <a:t>  IN (</a:t>
            </a:r>
            <a:endParaRPr lang="en-US" altLang="zh-CN" sz="2800" b="0" dirty="0">
              <a:solidFill>
                <a:srgbClr val="0000C8"/>
              </a:solidFill>
              <a:latin typeface="Arial" panose="020B0604020202090204" pitchFamily="34" charset="0"/>
              <a:cs typeface="Arial" panose="020B0604020202090204" pitchFamily="34" charset="0"/>
            </a:endParaRPr>
          </a:p>
          <a:p>
            <a:pPr marL="821055" lvl="2"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sym typeface="+mn-ea"/>
              </a:rPr>
              <a:t>SELECT  y.</a:t>
            </a:r>
            <a:r>
              <a:rPr lang="en-US" altLang="zh-CN" sz="2800" b="0" dirty="0" err="1">
                <a:solidFill>
                  <a:srgbClr val="FF0000"/>
                </a:solidFill>
                <a:latin typeface="Arial" panose="020B0604020202090204" pitchFamily="34" charset="0"/>
                <a:cs typeface="Arial" panose="020B0604020202090204" pitchFamily="34" charset="0"/>
                <a:sym typeface="+mn-ea"/>
              </a:rPr>
              <a:t>Sname</a:t>
            </a:r>
            <a:endParaRPr lang="en-US" altLang="zh-CN" sz="2800" b="0" dirty="0">
              <a:solidFill>
                <a:srgbClr val="FF0000"/>
              </a:solidFill>
              <a:latin typeface="Arial" panose="020B0604020202090204" pitchFamily="34" charset="0"/>
              <a:cs typeface="Arial" panose="020B0604020202090204" pitchFamily="34" charset="0"/>
            </a:endParaRPr>
          </a:p>
          <a:p>
            <a:pPr marL="821055" lvl="2"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sym typeface="+mn-ea"/>
              </a:rPr>
              <a:t>FROM  Student  y</a:t>
            </a:r>
            <a:endParaRPr lang="en-US" altLang="zh-CN" sz="2800" b="0" dirty="0">
              <a:solidFill>
                <a:srgbClr val="FF0000"/>
              </a:solidFill>
              <a:latin typeface="Arial" panose="020B0604020202090204" pitchFamily="34" charset="0"/>
              <a:cs typeface="Arial" panose="020B0604020202090204" pitchFamily="34" charset="0"/>
            </a:endParaRPr>
          </a:p>
          <a:p>
            <a:pPr marL="821055" lvl="2" indent="0">
              <a:lnSpc>
                <a:spcPct val="130000"/>
              </a:lnSpc>
              <a:spcBef>
                <a:spcPts val="0"/>
              </a:spcBef>
              <a:buNone/>
            </a:pPr>
            <a:r>
              <a:rPr lang="en-US" altLang="zh-CN" sz="2800" b="0" dirty="0">
                <a:solidFill>
                  <a:srgbClr val="FF0000"/>
                </a:solidFill>
                <a:latin typeface="Arial" panose="020B0604020202090204" pitchFamily="34" charset="0"/>
                <a:cs typeface="Arial" panose="020B0604020202090204" pitchFamily="34" charset="0"/>
                <a:sym typeface="+mn-ea"/>
              </a:rPr>
              <a:t>WHERE </a:t>
            </a:r>
            <a:r>
              <a:rPr lang="en-US" sz="2800" b="0" dirty="0" err="1">
                <a:solidFill>
                  <a:srgbClr val="FF0000"/>
                </a:solidFill>
                <a:latin typeface="Arial" panose="020B0604020202090204" pitchFamily="34" charset="0"/>
                <a:cs typeface="Arial" panose="020B0604020202090204" pitchFamily="34" charset="0"/>
                <a:sym typeface="+mn-ea"/>
              </a:rPr>
              <a:t>y.Sdept=x.Sdept</a:t>
            </a:r>
            <a:r>
              <a:rPr lang="en-US" altLang="zh-CN" sz="2800" b="0" dirty="0">
                <a:solidFill>
                  <a:srgbClr val="0000C8"/>
                </a:solidFill>
                <a:latin typeface="Arial" panose="020B0604020202090204" pitchFamily="34" charset="0"/>
                <a:cs typeface="Arial" panose="020B0604020202090204" pitchFamily="34" charset="0"/>
                <a:sym typeface="+mn-ea"/>
              </a:rPr>
              <a:t>);</a:t>
            </a:r>
            <a:endParaRPr lang="en-US" altLang="zh-CN" sz="2800" b="0" spc="-100" dirty="0">
              <a:solidFill>
                <a:srgbClr val="0000C8"/>
              </a:solidFill>
              <a:uFillTx/>
              <a:latin typeface="Arial" panose="020B0604020202090204" pitchFamily="34" charset="0"/>
              <a:cs typeface="Arial" panose="020B0604020202090204" pitchFamily="34" charset="0"/>
              <a:sym typeface="+mn-ea"/>
            </a:endParaRPr>
          </a:p>
        </p:txBody>
      </p:sp>
      <p:sp>
        <p:nvSpPr>
          <p:cNvPr id="33795" name="Rectangle 3"/>
          <p:cNvSpPr>
            <a:spLocks noGrp="1" noChangeArrowheads="1"/>
          </p:cNvSpPr>
          <p:nvPr/>
        </p:nvSpPr>
        <p:spPr>
          <a:xfrm>
            <a:off x="424180" y="636270"/>
            <a:ext cx="11343005" cy="521970"/>
          </a:xfrm>
          <a:prstGeom prst="rect">
            <a:avLst/>
          </a:prstGeom>
          <a:no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ct val="0"/>
              </a:spcBef>
            </a:pPr>
            <a:r>
              <a:rPr lang="en-US" altLang="zh-CN" sz="2800" dirty="0"/>
              <a:t>[</a:t>
            </a:r>
            <a:r>
              <a:rPr lang="zh-CN" altLang="en-US" sz="2800" dirty="0"/>
              <a:t>例</a:t>
            </a:r>
            <a:r>
              <a:rPr lang="en-US" altLang="zh-CN" sz="2800" dirty="0"/>
              <a:t>3.55] </a:t>
            </a:r>
            <a:r>
              <a:rPr lang="zh-CN" altLang="en-US" sz="2800" dirty="0"/>
              <a:t>查询与“刘晨”在同一个系学习的学生。</a:t>
            </a:r>
            <a:endParaRPr lang="en-US" altLang="zh-CN" sz="2800" dirty="0">
              <a:solidFill>
                <a:srgbClr val="0000C8"/>
              </a:solidFill>
            </a:endParaRPr>
          </a:p>
        </p:txBody>
      </p:sp>
      <p:sp>
        <p:nvSpPr>
          <p:cNvPr id="5" name="内容占位符 4"/>
          <p:cNvSpPr>
            <a:spLocks noGrp="1"/>
          </p:cNvSpPr>
          <p:nvPr/>
        </p:nvSpPr>
        <p:spPr>
          <a:xfrm>
            <a:off x="424180" y="5831205"/>
            <a:ext cx="11343005" cy="521970"/>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pPr>
            <a:r>
              <a:rPr lang="zh-CN" altLang="en-US" sz="2800" dirty="0"/>
              <a:t>也可以用</a:t>
            </a:r>
            <a:r>
              <a:rPr lang="en-US" altLang="zh-CN" sz="2800" dirty="0"/>
              <a:t>‘</a:t>
            </a:r>
            <a:r>
              <a:rPr lang="zh-CN" altLang="en-US" sz="2800" dirty="0"/>
              <a:t>相关子查询</a:t>
            </a:r>
            <a:r>
              <a:rPr lang="en-US" altLang="zh-CN" sz="2800" dirty="0"/>
              <a:t>’</a:t>
            </a:r>
            <a:r>
              <a:rPr lang="zh-CN" altLang="en-US" sz="2800" dirty="0"/>
              <a:t>来表示查询</a:t>
            </a:r>
            <a:r>
              <a:rPr lang="en-US" altLang="zh-CN" sz="2800" dirty="0">
                <a:sym typeface="+mn-ea"/>
              </a:rPr>
              <a:t>[</a:t>
            </a:r>
            <a:r>
              <a:rPr lang="zh-CN" altLang="en-US" sz="2800" dirty="0">
                <a:sym typeface="+mn-ea"/>
              </a:rPr>
              <a:t>例</a:t>
            </a:r>
            <a:r>
              <a:rPr lang="en-US" altLang="zh-CN" sz="2800" dirty="0">
                <a:sym typeface="+mn-ea"/>
              </a:rPr>
              <a:t>3.55]</a:t>
            </a:r>
            <a:r>
              <a:rPr lang="zh-CN" altLang="en-US" sz="2800" dirty="0"/>
              <a:t>！</a:t>
            </a:r>
            <a:endParaRPr lang="zh-CN" altLang="en-US" sz="2800" dirty="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9" name="页脚占位符 8"/>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blinds(horizontal)">
                                      <p:cBhvr>
                                        <p:cTn id="7" dur="500"/>
                                        <p:tgtEl>
                                          <p:spTgt spid="3">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linds(horizontal)">
                                      <p:cBhvr>
                                        <p:cTn id="10" dur="500"/>
                                        <p:tgtEl>
                                          <p:spTgt spid="3">
                                            <p:txEl>
                                              <p:pRg st="0" end="0"/>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
                                            <p:txEl>
                                              <p:pRg st="4294967295" end="4294967295"/>
                                            </p:txEl>
                                          </p:spTgt>
                                        </p:tgtEl>
                                        <p:attrNameLst>
                                          <p:attrName>style.visibility</p:attrName>
                                        </p:attrNameLst>
                                      </p:cBhvr>
                                      <p:to>
                                        <p:strVal val="visible"/>
                                      </p:to>
                                    </p:set>
                                    <p:animEffect transition="in" filter="blinds(horizontal)">
                                      <p:cBhvr>
                                        <p:cTn id="13" dur="500"/>
                                        <p:tgtEl>
                                          <p:spTgt spid="8">
                                            <p:txEl>
                                              <p:pRg st="4294967295" end="4294967295"/>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
                                            <p:txEl>
                                              <p:pRg st="4294967295" end="4294967295"/>
                                            </p:txEl>
                                          </p:spTgt>
                                        </p:tgtEl>
                                        <p:attrNameLst>
                                          <p:attrName>style.visibility</p:attrName>
                                        </p:attrNameLst>
                                      </p:cBhvr>
                                      <p:to>
                                        <p:strVal val="visible"/>
                                      </p:to>
                                    </p:set>
                                    <p:animEffect transition="in" filter="blinds(horizontal)">
                                      <p:cBhvr>
                                        <p:cTn id="16" dur="500"/>
                                        <p:tgtEl>
                                          <p:spTgt spid="8">
                                            <p:txEl>
                                              <p:pRg st="4294967295" end="4294967295"/>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blinds(horizontal)">
                                      <p:cBhvr>
                                        <p:cTn id="19" dur="500"/>
                                        <p:tgtEl>
                                          <p:spTgt spid="8">
                                            <p:txEl>
                                              <p:pRg st="0" end="0"/>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8">
                                            <p:txEl>
                                              <p:pRg st="1" end="1"/>
                                            </p:txEl>
                                          </p:spTgt>
                                        </p:tgtEl>
                                        <p:attrNameLst>
                                          <p:attrName>style.visibility</p:attrName>
                                        </p:attrNameLst>
                                      </p:cBhvr>
                                      <p:to>
                                        <p:strVal val="visible"/>
                                      </p:to>
                                    </p:set>
                                    <p:animEffect transition="in" filter="blinds(horizontal)">
                                      <p:cBhvr>
                                        <p:cTn id="22" dur="500"/>
                                        <p:tgtEl>
                                          <p:spTgt spid="8">
                                            <p:txEl>
                                              <p:pRg st="1" end="1"/>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Effect transition="in" filter="blinds(horizontal)">
                                      <p:cBhvr>
                                        <p:cTn id="25" dur="500"/>
                                        <p:tgtEl>
                                          <p:spTgt spid="8">
                                            <p:txEl>
                                              <p:pRg st="2" end="2"/>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blinds(horizontal)">
                                      <p:cBhvr>
                                        <p:cTn id="28" dur="500"/>
                                        <p:tgtEl>
                                          <p:spTgt spid="8">
                                            <p:txEl>
                                              <p:pRg st="3" end="3"/>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Effect transition="in" filter="blinds(horizontal)">
                                      <p:cBhvr>
                                        <p:cTn id="31" dur="500"/>
                                        <p:tgtEl>
                                          <p:spTgt spid="8">
                                            <p:txEl>
                                              <p:pRg st="4" end="4"/>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8">
                                            <p:txEl>
                                              <p:pRg st="5" end="5"/>
                                            </p:txEl>
                                          </p:spTgt>
                                        </p:tgtEl>
                                        <p:attrNameLst>
                                          <p:attrName>style.visibility</p:attrName>
                                        </p:attrNameLst>
                                      </p:cBhvr>
                                      <p:to>
                                        <p:strVal val="visible"/>
                                      </p:to>
                                    </p:set>
                                    <p:animEffect transition="in" filter="blinds(horizontal)">
                                      <p:cBhvr>
                                        <p:cTn id="34"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build="allAtOnce"/>
      <p:bldP spid="8" grpId="0" bldLvl="0" build="allAtOnce"/>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zh-CN" altLang="en-US" dirty="0"/>
              <a:t>带有</a:t>
            </a:r>
            <a:r>
              <a:rPr lang="en-US" altLang="zh-CN" dirty="0"/>
              <a:t>IN</a:t>
            </a:r>
            <a:r>
              <a:rPr lang="zh-CN" altLang="en-US" dirty="0"/>
              <a:t>谓词的子查询 </a:t>
            </a:r>
            <a:r>
              <a:rPr lang="en-US" altLang="zh-CN" dirty="0"/>
              <a:t>4</a:t>
            </a:r>
            <a:endParaRPr lang="zh-CN" altLang="en-US" dirty="0"/>
          </a:p>
        </p:txBody>
      </p:sp>
      <p:sp>
        <p:nvSpPr>
          <p:cNvPr id="37891" name="Rectangle 3"/>
          <p:cNvSpPr>
            <a:spLocks noGrp="1" noChangeArrowheads="1"/>
          </p:cNvSpPr>
          <p:nvPr>
            <p:ph idx="1"/>
          </p:nvPr>
        </p:nvSpPr>
        <p:spPr/>
        <p:txBody>
          <a:bodyPr>
            <a:noAutofit/>
          </a:bodyPr>
          <a:lstStyle/>
          <a:p>
            <a:pPr>
              <a:lnSpc>
                <a:spcPct val="110000"/>
              </a:lnSpc>
              <a:spcBef>
                <a:spcPts val="0"/>
              </a:spcBef>
            </a:pPr>
            <a:r>
              <a:rPr lang="en-US" altLang="zh-CN" sz="2800" b="1" dirty="0">
                <a:solidFill>
                  <a:srgbClr val="0000C8"/>
                </a:solidFill>
                <a:cs typeface="Arial" panose="020B0604020202090204" pitchFamily="34" charset="0"/>
              </a:rPr>
              <a:t>[</a:t>
            </a:r>
            <a:r>
              <a:rPr lang="zh-CN" altLang="en-US" sz="2800" b="1" dirty="0">
                <a:solidFill>
                  <a:srgbClr val="0000C8"/>
                </a:solidFill>
                <a:cs typeface="Arial" panose="020B0604020202090204" pitchFamily="34" charset="0"/>
              </a:rPr>
              <a:t>例</a:t>
            </a:r>
            <a:r>
              <a:rPr lang="en-US" altLang="zh-CN" sz="2800" b="1" dirty="0">
                <a:solidFill>
                  <a:srgbClr val="0000C8"/>
                </a:solidFill>
                <a:cs typeface="Arial" panose="020B0604020202090204" pitchFamily="34" charset="0"/>
              </a:rPr>
              <a:t>3.56]</a:t>
            </a:r>
            <a:r>
              <a:rPr lang="zh-CN" altLang="en-US" sz="2800" b="1" dirty="0">
                <a:solidFill>
                  <a:srgbClr val="0000C8"/>
                </a:solidFill>
                <a:cs typeface="Arial" panose="020B0604020202090204" pitchFamily="34" charset="0"/>
              </a:rPr>
              <a:t>查询选修了课程名为“信息系统”的学生学号和姓名</a:t>
            </a:r>
            <a:endParaRPr lang="zh-CN" altLang="en-US" sz="2800" b="1" dirty="0">
              <a:solidFill>
                <a:srgbClr val="0000C8"/>
              </a:solidFill>
              <a:cs typeface="Arial" panose="020B0604020202090204" pitchFamily="34" charset="0"/>
            </a:endParaRPr>
          </a:p>
          <a:p>
            <a:pPr marL="457200" lvl="1" indent="0">
              <a:lnSpc>
                <a:spcPct val="110000"/>
              </a:lnSpc>
              <a:spcBef>
                <a:spcPts val="2000"/>
              </a:spcBef>
              <a:buNone/>
            </a:pPr>
            <a:r>
              <a:rPr lang="en-US" altLang="zh-CN" sz="2800" b="1" dirty="0">
                <a:solidFill>
                  <a:srgbClr val="FF0000"/>
                </a:solidFill>
                <a:latin typeface="楷体" charset="-122"/>
                <a:ea typeface="楷体" charset="-122"/>
                <a:cs typeface="楷体" charset="-122"/>
              </a:rPr>
              <a:t>SELECT  </a:t>
            </a:r>
            <a:r>
              <a:rPr lang="en-US" altLang="zh-CN" sz="2800" b="1" dirty="0" err="1">
                <a:solidFill>
                  <a:srgbClr val="FF0000"/>
                </a:solidFill>
                <a:latin typeface="楷体" charset="-122"/>
                <a:ea typeface="楷体" charset="-122"/>
                <a:cs typeface="楷体" charset="-122"/>
              </a:rPr>
              <a:t>Sno</a:t>
            </a:r>
            <a:r>
              <a:rPr lang="zh-CN" altLang="en-US" sz="2800" b="1" dirty="0">
                <a:solidFill>
                  <a:srgbClr val="FF0000"/>
                </a:solidFill>
                <a:latin typeface="楷体" charset="-122"/>
                <a:ea typeface="楷体" charset="-122"/>
                <a:cs typeface="楷体" charset="-122"/>
              </a:rPr>
              <a:t>,</a:t>
            </a:r>
            <a:r>
              <a:rPr lang="en-US" altLang="zh-CN" sz="2800" b="1" dirty="0" err="1">
                <a:solidFill>
                  <a:srgbClr val="FF0000"/>
                </a:solidFill>
                <a:latin typeface="楷体" charset="-122"/>
                <a:ea typeface="楷体" charset="-122"/>
                <a:cs typeface="楷体" charset="-122"/>
              </a:rPr>
              <a:t>Sname</a:t>
            </a:r>
            <a:endParaRPr lang="en-US" altLang="zh-CN" sz="2800" b="1" dirty="0">
              <a:solidFill>
                <a:srgbClr val="FF0000"/>
              </a:solidFill>
              <a:latin typeface="楷体" charset="-122"/>
              <a:ea typeface="楷体" charset="-122"/>
              <a:cs typeface="楷体" charset="-122"/>
            </a:endParaRPr>
          </a:p>
          <a:p>
            <a:pPr marL="457200" lvl="1" indent="0">
              <a:lnSpc>
                <a:spcPct val="110000"/>
              </a:lnSpc>
              <a:spcBef>
                <a:spcPts val="0"/>
              </a:spcBef>
              <a:buNone/>
            </a:pPr>
            <a:r>
              <a:rPr lang="en-US" altLang="zh-CN" sz="2800" b="1" dirty="0">
                <a:solidFill>
                  <a:srgbClr val="FF0000"/>
                </a:solidFill>
                <a:latin typeface="楷体" charset="-122"/>
                <a:ea typeface="楷体" charset="-122"/>
                <a:cs typeface="楷体" charset="-122"/>
              </a:rPr>
              <a:t>FROM    Student</a:t>
            </a:r>
            <a:endParaRPr lang="en-US" altLang="zh-CN" sz="2800" b="1" dirty="0">
              <a:solidFill>
                <a:srgbClr val="FF0000"/>
              </a:solidFill>
              <a:latin typeface="楷体" charset="-122"/>
              <a:ea typeface="楷体" charset="-122"/>
              <a:cs typeface="楷体" charset="-122"/>
            </a:endParaRPr>
          </a:p>
          <a:p>
            <a:pPr marL="457200" lvl="1" indent="0">
              <a:lnSpc>
                <a:spcPct val="110000"/>
              </a:lnSpc>
              <a:spcBef>
                <a:spcPts val="0"/>
              </a:spcBef>
              <a:buNone/>
            </a:pPr>
            <a:r>
              <a:rPr lang="en-US" altLang="zh-CN" sz="2800" b="1" dirty="0">
                <a:solidFill>
                  <a:srgbClr val="FF0000"/>
                </a:solidFill>
                <a:latin typeface="楷体" charset="-122"/>
                <a:ea typeface="楷体" charset="-122"/>
                <a:cs typeface="楷体" charset="-122"/>
              </a:rPr>
              <a:t>WHERE  </a:t>
            </a:r>
            <a:r>
              <a:rPr lang="en-US" altLang="zh-CN" sz="2800" b="1" dirty="0" err="1">
                <a:solidFill>
                  <a:srgbClr val="FF0000"/>
                </a:solidFill>
                <a:latin typeface="楷体" charset="-122"/>
                <a:ea typeface="楷体" charset="-122"/>
                <a:cs typeface="楷体" charset="-122"/>
              </a:rPr>
              <a:t>Sno</a:t>
            </a:r>
            <a:r>
              <a:rPr lang="en-US" altLang="zh-CN" sz="2800" b="1" dirty="0">
                <a:solidFill>
                  <a:srgbClr val="FF0000"/>
                </a:solidFill>
                <a:latin typeface="楷体" charset="-122"/>
                <a:ea typeface="楷体" charset="-122"/>
                <a:cs typeface="楷体" charset="-122"/>
              </a:rPr>
              <a:t>  </a:t>
            </a:r>
            <a:r>
              <a:rPr lang="en-US" altLang="zh-CN" sz="2800" b="1" dirty="0">
                <a:solidFill>
                  <a:srgbClr val="FF0000"/>
                </a:solidFill>
                <a:latin typeface="楷体" charset="-122"/>
                <a:ea typeface="楷体" charset="-122"/>
                <a:cs typeface="楷体" charset="-122"/>
              </a:rPr>
              <a:t>IN (</a:t>
            </a:r>
            <a:endParaRPr lang="en-US" altLang="zh-CN" sz="2800" b="1" dirty="0">
              <a:solidFill>
                <a:srgbClr val="FF0000"/>
              </a:solidFill>
              <a:latin typeface="楷体" charset="-122"/>
              <a:ea typeface="楷体" charset="-122"/>
              <a:cs typeface="楷体" charset="-122"/>
            </a:endParaRPr>
          </a:p>
          <a:p>
            <a:pPr marL="1371600" lvl="3" indent="0">
              <a:lnSpc>
                <a:spcPct val="110000"/>
              </a:lnSpc>
              <a:spcBef>
                <a:spcPts val="0"/>
              </a:spcBef>
              <a:buNone/>
            </a:pPr>
            <a:r>
              <a:rPr lang="en-US" altLang="zh-CN" sz="2800" b="1" dirty="0">
                <a:solidFill>
                  <a:srgbClr val="FF0000"/>
                </a:solidFill>
                <a:latin typeface="楷体" charset="-122"/>
                <a:ea typeface="楷体" charset="-122"/>
                <a:cs typeface="楷体" charset="-122"/>
              </a:rPr>
              <a:t>SELECT </a:t>
            </a:r>
            <a:r>
              <a:rPr lang="en-US" altLang="zh-CN" sz="2800" b="1" dirty="0" err="1">
                <a:solidFill>
                  <a:srgbClr val="FF0000"/>
                </a:solidFill>
                <a:latin typeface="楷体" charset="-122"/>
                <a:ea typeface="楷体" charset="-122"/>
                <a:cs typeface="楷体" charset="-122"/>
              </a:rPr>
              <a:t>Sno</a:t>
            </a:r>
            <a:endParaRPr lang="en-US" altLang="zh-CN" sz="2800" b="1" dirty="0">
              <a:solidFill>
                <a:srgbClr val="FF0000"/>
              </a:solidFill>
              <a:latin typeface="楷体" charset="-122"/>
              <a:ea typeface="楷体" charset="-122"/>
              <a:cs typeface="楷体" charset="-122"/>
            </a:endParaRPr>
          </a:p>
          <a:p>
            <a:pPr marL="1371600" lvl="3" indent="0">
              <a:lnSpc>
                <a:spcPct val="110000"/>
              </a:lnSpc>
              <a:spcBef>
                <a:spcPts val="0"/>
              </a:spcBef>
              <a:buNone/>
            </a:pPr>
            <a:r>
              <a:rPr lang="en-US" altLang="zh-CN" sz="2800" b="1" dirty="0">
                <a:solidFill>
                  <a:srgbClr val="FF0000"/>
                </a:solidFill>
                <a:latin typeface="楷体" charset="-122"/>
                <a:ea typeface="楷体" charset="-122"/>
                <a:cs typeface="楷体" charset="-122"/>
              </a:rPr>
              <a:t>FROM   SC</a:t>
            </a:r>
            <a:endParaRPr lang="en-US" altLang="zh-CN" sz="2800" b="1" dirty="0">
              <a:solidFill>
                <a:srgbClr val="FF0000"/>
              </a:solidFill>
              <a:latin typeface="楷体" charset="-122"/>
              <a:ea typeface="楷体" charset="-122"/>
              <a:cs typeface="楷体" charset="-122"/>
            </a:endParaRPr>
          </a:p>
          <a:p>
            <a:pPr marL="1371600" lvl="3" indent="0">
              <a:lnSpc>
                <a:spcPct val="110000"/>
              </a:lnSpc>
              <a:spcBef>
                <a:spcPts val="0"/>
              </a:spcBef>
              <a:buNone/>
            </a:pPr>
            <a:r>
              <a:rPr lang="en-US" altLang="zh-CN" sz="2800" b="1" dirty="0">
                <a:solidFill>
                  <a:srgbClr val="FF0000"/>
                </a:solidFill>
                <a:latin typeface="楷体" charset="-122"/>
                <a:ea typeface="楷体" charset="-122"/>
                <a:cs typeface="楷体" charset="-122"/>
              </a:rPr>
              <a:t>WHERE  </a:t>
            </a:r>
            <a:r>
              <a:rPr lang="en-US" altLang="zh-CN" sz="2800" b="1" dirty="0" err="1">
                <a:solidFill>
                  <a:srgbClr val="FF0000"/>
                </a:solidFill>
                <a:latin typeface="楷体" charset="-122"/>
                <a:ea typeface="楷体" charset="-122"/>
                <a:cs typeface="楷体" charset="-122"/>
              </a:rPr>
              <a:t>Cno</a:t>
            </a:r>
            <a:r>
              <a:rPr lang="en-US" altLang="zh-CN" sz="2800" b="1" dirty="0">
                <a:solidFill>
                  <a:srgbClr val="FF0000"/>
                </a:solidFill>
                <a:latin typeface="楷体" charset="-122"/>
                <a:ea typeface="楷体" charset="-122"/>
                <a:cs typeface="楷体" charset="-122"/>
              </a:rPr>
              <a:t> </a:t>
            </a:r>
            <a:r>
              <a:rPr lang="en-US" altLang="zh-CN" sz="2800" b="1" dirty="0">
                <a:solidFill>
                  <a:srgbClr val="FF0000"/>
                </a:solidFill>
                <a:latin typeface="楷体" charset="-122"/>
                <a:ea typeface="楷体" charset="-122"/>
                <a:cs typeface="楷体" charset="-122"/>
              </a:rPr>
              <a:t>IN (</a:t>
            </a:r>
            <a:endParaRPr lang="en-US" altLang="zh-CN" sz="2800" b="1" dirty="0">
              <a:solidFill>
                <a:srgbClr val="FF0000"/>
              </a:solidFill>
              <a:latin typeface="楷体" charset="-122"/>
              <a:ea typeface="楷体" charset="-122"/>
              <a:cs typeface="楷体" charset="-122"/>
            </a:endParaRPr>
          </a:p>
          <a:p>
            <a:pPr marL="2286000" lvl="5" indent="0">
              <a:lnSpc>
                <a:spcPct val="110000"/>
              </a:lnSpc>
              <a:spcBef>
                <a:spcPts val="0"/>
              </a:spcBef>
              <a:buNone/>
            </a:pPr>
            <a:r>
              <a:rPr lang="en-US" altLang="zh-CN" sz="2800" b="1" dirty="0">
                <a:solidFill>
                  <a:srgbClr val="FF0000"/>
                </a:solidFill>
                <a:latin typeface="楷体" charset="-122"/>
                <a:ea typeface="楷体" charset="-122"/>
                <a:cs typeface="楷体" charset="-122"/>
              </a:rPr>
              <a:t>SELECT </a:t>
            </a:r>
            <a:r>
              <a:rPr lang="en-US" altLang="zh-CN" sz="2800" b="1" dirty="0" err="1">
                <a:solidFill>
                  <a:srgbClr val="FF0000"/>
                </a:solidFill>
                <a:latin typeface="楷体" charset="-122"/>
                <a:ea typeface="楷体" charset="-122"/>
                <a:cs typeface="楷体" charset="-122"/>
              </a:rPr>
              <a:t>Cno</a:t>
            </a:r>
            <a:endParaRPr lang="en-US" altLang="zh-CN" sz="2800" b="1" dirty="0">
              <a:solidFill>
                <a:srgbClr val="FF0000"/>
              </a:solidFill>
              <a:latin typeface="楷体" charset="-122"/>
              <a:ea typeface="楷体" charset="-122"/>
              <a:cs typeface="楷体" charset="-122"/>
            </a:endParaRPr>
          </a:p>
          <a:p>
            <a:pPr marL="2286000" lvl="5" indent="0">
              <a:lnSpc>
                <a:spcPct val="110000"/>
              </a:lnSpc>
              <a:spcBef>
                <a:spcPts val="0"/>
              </a:spcBef>
              <a:buNone/>
            </a:pPr>
            <a:r>
              <a:rPr lang="en-US" altLang="zh-CN" sz="2800" b="1" dirty="0">
                <a:solidFill>
                  <a:srgbClr val="FF0000"/>
                </a:solidFill>
                <a:latin typeface="楷体" charset="-122"/>
                <a:ea typeface="楷体" charset="-122"/>
                <a:cs typeface="楷体" charset="-122"/>
              </a:rPr>
              <a:t>FROM   Course</a:t>
            </a:r>
            <a:endParaRPr lang="en-US" altLang="zh-CN" sz="2800" b="1" dirty="0">
              <a:solidFill>
                <a:srgbClr val="FF0000"/>
              </a:solidFill>
              <a:latin typeface="楷体" charset="-122"/>
              <a:ea typeface="楷体" charset="-122"/>
              <a:cs typeface="楷体" charset="-122"/>
            </a:endParaRPr>
          </a:p>
          <a:p>
            <a:pPr marL="2286000" lvl="5" indent="0">
              <a:lnSpc>
                <a:spcPct val="110000"/>
              </a:lnSpc>
              <a:spcBef>
                <a:spcPts val="0"/>
              </a:spcBef>
              <a:buNone/>
            </a:pPr>
            <a:r>
              <a:rPr lang="en-US" altLang="zh-CN" sz="2800" b="1" dirty="0">
                <a:solidFill>
                  <a:srgbClr val="FF0000"/>
                </a:solidFill>
                <a:latin typeface="楷体" charset="-122"/>
                <a:ea typeface="楷体" charset="-122"/>
                <a:cs typeface="楷体" charset="-122"/>
              </a:rPr>
              <a:t>WHERE  </a:t>
            </a:r>
            <a:r>
              <a:rPr lang="en-US" altLang="zh-CN" sz="2800" b="1" dirty="0" err="1">
                <a:solidFill>
                  <a:srgbClr val="FF0000"/>
                </a:solidFill>
                <a:latin typeface="楷体" charset="-122"/>
                <a:ea typeface="楷体" charset="-122"/>
                <a:cs typeface="楷体" charset="-122"/>
              </a:rPr>
              <a:t>Cname</a:t>
            </a:r>
            <a:r>
              <a:rPr lang="en-US" altLang="zh-CN" sz="2800" b="1" dirty="0">
                <a:solidFill>
                  <a:srgbClr val="FF0000"/>
                </a:solidFill>
                <a:latin typeface="楷体" charset="-122"/>
                <a:ea typeface="楷体" charset="-122"/>
                <a:cs typeface="楷体" charset="-122"/>
              </a:rPr>
              <a:t>=</a:t>
            </a:r>
            <a:r>
              <a:rPr lang="zh-CN" altLang="en-US" sz="2800" b="1" dirty="0">
                <a:solidFill>
                  <a:srgbClr val="FF0000"/>
                </a:solidFill>
                <a:latin typeface="楷体" charset="-122"/>
                <a:ea typeface="楷体" charset="-122"/>
                <a:cs typeface="楷体" charset="-122"/>
              </a:rPr>
              <a:t>'</a:t>
            </a:r>
            <a:r>
              <a:rPr lang="zh-CN" altLang="en-US" sz="2800" b="1" dirty="0">
                <a:solidFill>
                  <a:srgbClr val="FF0000"/>
                </a:solidFill>
                <a:latin typeface="楷体" charset="-122"/>
                <a:ea typeface="楷体" charset="-122"/>
                <a:cs typeface="楷体" charset="-122"/>
              </a:rPr>
              <a:t>信息系统')</a:t>
            </a:r>
            <a:endParaRPr lang="zh-CN" altLang="en-US" sz="2800" b="1" dirty="0">
              <a:solidFill>
                <a:srgbClr val="FF0000"/>
              </a:solidFill>
              <a:latin typeface="楷体" charset="-122"/>
              <a:ea typeface="楷体" charset="-122"/>
              <a:cs typeface="楷体" charset="-122"/>
            </a:endParaRPr>
          </a:p>
          <a:p>
            <a:pPr marL="457200" lvl="1" indent="0">
              <a:lnSpc>
                <a:spcPct val="110000"/>
              </a:lnSpc>
              <a:spcBef>
                <a:spcPts val="0"/>
              </a:spcBef>
              <a:buNone/>
            </a:pPr>
            <a:r>
              <a:rPr lang="zh-CN" altLang="en-US" sz="2800" b="1" dirty="0">
                <a:solidFill>
                  <a:srgbClr val="FF0000"/>
                </a:solidFill>
                <a:latin typeface="楷体" charset="-122"/>
                <a:ea typeface="楷体" charset="-122"/>
                <a:cs typeface="楷体" charset="-122"/>
              </a:rPr>
              <a:t>)</a:t>
            </a:r>
            <a:r>
              <a:rPr lang="en-US" altLang="zh-CN" sz="2800" b="1" dirty="0">
                <a:solidFill>
                  <a:srgbClr val="FF0000"/>
                </a:solidFill>
                <a:latin typeface="楷体" charset="-122"/>
                <a:ea typeface="楷体" charset="-122"/>
                <a:cs typeface="楷体" charset="-122"/>
              </a:rPr>
              <a:t>;</a:t>
            </a:r>
            <a:endParaRPr lang="en-US" altLang="zh-CN" sz="2800" b="1" dirty="0">
              <a:solidFill>
                <a:srgbClr val="FF0000"/>
              </a:solidFill>
              <a:latin typeface="楷体" charset="-122"/>
              <a:ea typeface="楷体" charset="-122"/>
              <a:cs typeface="楷体" charset="-122"/>
            </a:endParaRPr>
          </a:p>
          <a:p>
            <a:pPr marL="457200" lvl="1" indent="0">
              <a:lnSpc>
                <a:spcPct val="110000"/>
              </a:lnSpc>
              <a:spcBef>
                <a:spcPts val="0"/>
              </a:spcBef>
              <a:buNone/>
            </a:pPr>
            <a:r>
              <a:rPr lang="en-US" altLang="zh-CN" sz="2800" b="1" dirty="0">
                <a:solidFill>
                  <a:srgbClr val="0000C8"/>
                </a:solidFill>
                <a:cs typeface="Arial" panose="020B0604020202090204" pitchFamily="34" charset="0"/>
              </a:rPr>
              <a:t>/* </a:t>
            </a:r>
            <a:r>
              <a:rPr lang="zh-CN" altLang="en-US" sz="2800" b="1" dirty="0">
                <a:solidFill>
                  <a:srgbClr val="0000C8"/>
                </a:solidFill>
                <a:cs typeface="Arial" panose="020B0604020202090204" pitchFamily="34" charset="0"/>
              </a:rPr>
              <a:t>使用</a:t>
            </a:r>
            <a:r>
              <a:rPr lang="zh-CN" altLang="en-US" dirty="0">
                <a:solidFill>
                  <a:srgbClr val="0000C8"/>
                </a:solidFill>
                <a:cs typeface="Arial" panose="020B0604020202090204" pitchFamily="34" charset="0"/>
                <a:sym typeface="+mn-ea"/>
              </a:rPr>
              <a:t>嵌套</a:t>
            </a:r>
            <a:r>
              <a:rPr lang="zh-CN" altLang="en-US" sz="2800" b="1" dirty="0">
                <a:solidFill>
                  <a:srgbClr val="0000C8"/>
                </a:solidFill>
                <a:cs typeface="Arial" panose="020B0604020202090204" pitchFamily="34" charset="0"/>
              </a:rPr>
              <a:t>不相关子查询的执行过程</a:t>
            </a:r>
            <a:r>
              <a:rPr lang="en-US" altLang="zh-CN" sz="2800" b="1" dirty="0">
                <a:solidFill>
                  <a:srgbClr val="0000C8"/>
                </a:solidFill>
                <a:cs typeface="Arial" panose="020B0604020202090204" pitchFamily="34" charset="0"/>
              </a:rPr>
              <a:t> */</a:t>
            </a:r>
            <a:endParaRPr lang="en-US" altLang="zh-CN" sz="2800" b="1" dirty="0">
              <a:solidFill>
                <a:srgbClr val="0000C8"/>
              </a:solidFill>
              <a:cs typeface="Arial" panose="020B0604020202090204" pitchFamily="34" charset="0"/>
            </a:endParaRPr>
          </a:p>
        </p:txBody>
      </p:sp>
      <p:sp>
        <p:nvSpPr>
          <p:cNvPr id="3" name="文本框 2"/>
          <p:cNvSpPr txBox="1"/>
          <p:nvPr/>
        </p:nvSpPr>
        <p:spPr>
          <a:xfrm>
            <a:off x="6361430" y="4330700"/>
            <a:ext cx="5406390" cy="953135"/>
          </a:xfrm>
          <a:prstGeom prst="rect">
            <a:avLst/>
          </a:prstGeom>
          <a:noFill/>
        </p:spPr>
        <p:txBody>
          <a:bodyPr wrap="square" rtlCol="0">
            <a:spAutoFit/>
          </a:bodyPr>
          <a:p>
            <a:pPr marL="514350" indent="-514350">
              <a:buClr>
                <a:srgbClr val="C00000"/>
              </a:buClr>
              <a:buSzPct val="85000"/>
              <a:buFont typeface="+mj-ea"/>
              <a:buAutoNum type="circleNumDbPlain"/>
            </a:pP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首先在</a:t>
            </a: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Course</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表</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中找出</a:t>
            </a: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信息系统”的课程号，为</a:t>
            </a: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3</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号</a:t>
            </a:r>
            <a:endParaRPr lang="zh-CN" altLang="en-US" sz="2800" b="1" dirty="0">
              <a:solidFill>
                <a:srgbClr val="0000C8"/>
              </a:solidFill>
              <a:latin typeface="Arial" panose="020B0604020202090204" pitchFamily="34" charset="0"/>
              <a:ea typeface="楷体" charset="-122"/>
              <a:cs typeface="Arial" panose="020B0604020202090204" pitchFamily="34" charset="0"/>
              <a:sym typeface="+mn-ea"/>
            </a:endParaRPr>
          </a:p>
        </p:txBody>
      </p:sp>
      <p:sp>
        <p:nvSpPr>
          <p:cNvPr id="4" name="文本框 3"/>
          <p:cNvSpPr txBox="1"/>
          <p:nvPr/>
        </p:nvSpPr>
        <p:spPr>
          <a:xfrm>
            <a:off x="5461000" y="3009900"/>
            <a:ext cx="6306185" cy="953135"/>
          </a:xfrm>
          <a:prstGeom prst="rect">
            <a:avLst/>
          </a:prstGeom>
          <a:noFill/>
        </p:spPr>
        <p:txBody>
          <a:bodyPr wrap="square" rtlCol="0">
            <a:spAutoFit/>
          </a:bodyPr>
          <a:p>
            <a:pPr marL="514350" indent="-514350">
              <a:buClr>
                <a:srgbClr val="C00000"/>
              </a:buClr>
              <a:buSzPct val="85000"/>
              <a:buFont typeface="+mj-ea"/>
              <a:buAutoNum type="circleNumDbPlain" startAt="2"/>
            </a:pP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然后在</a:t>
            </a: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SC</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表</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中找出选修了</a:t>
            </a: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3</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号课程的学生学号</a:t>
            </a:r>
            <a:endParaRPr lang="zh-CN" altLang="en-US" sz="2800" b="1" dirty="0">
              <a:solidFill>
                <a:srgbClr val="0000C8"/>
              </a:solidFill>
              <a:latin typeface="Arial" panose="020B0604020202090204" pitchFamily="34" charset="0"/>
              <a:ea typeface="楷体" charset="-122"/>
              <a:cs typeface="Arial" panose="020B0604020202090204" pitchFamily="34" charset="0"/>
              <a:sym typeface="+mn-ea"/>
            </a:endParaRPr>
          </a:p>
        </p:txBody>
      </p:sp>
      <p:sp>
        <p:nvSpPr>
          <p:cNvPr id="5" name="文本框 4"/>
          <p:cNvSpPr txBox="1"/>
          <p:nvPr/>
        </p:nvSpPr>
        <p:spPr>
          <a:xfrm>
            <a:off x="4561205" y="1643380"/>
            <a:ext cx="7205980" cy="953135"/>
          </a:xfrm>
          <a:prstGeom prst="rect">
            <a:avLst/>
          </a:prstGeom>
          <a:noFill/>
        </p:spPr>
        <p:txBody>
          <a:bodyPr wrap="square" rtlCol="0">
            <a:spAutoFit/>
          </a:bodyPr>
          <a:p>
            <a:pPr marL="514350" indent="-514350">
              <a:buClr>
                <a:srgbClr val="C00000"/>
              </a:buClr>
              <a:buSzPct val="85000"/>
              <a:buFont typeface="+mj-ea"/>
              <a:buAutoNum type="circleNumDbPlain" startAt="3"/>
            </a:pP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最后在</a:t>
            </a: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Student</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表</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中取出</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选修了</a:t>
            </a: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3</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号课程的学生的</a:t>
            </a:r>
            <a:r>
              <a:rPr lang="en-US" altLang="zh-CN" sz="2800" b="1" dirty="0" err="1">
                <a:solidFill>
                  <a:srgbClr val="0000C8"/>
                </a:solidFill>
                <a:latin typeface="Arial" panose="020B0604020202090204" pitchFamily="34" charset="0"/>
                <a:ea typeface="楷体" charset="-122"/>
                <a:cs typeface="Arial" panose="020B0604020202090204" pitchFamily="34" charset="0"/>
                <a:sym typeface="+mn-ea"/>
              </a:rPr>
              <a:t>Sno</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和</a:t>
            </a:r>
            <a:r>
              <a:rPr lang="en-US" altLang="zh-CN" sz="2800" b="1" dirty="0" err="1">
                <a:solidFill>
                  <a:srgbClr val="0000C8"/>
                </a:solidFill>
                <a:latin typeface="Arial" panose="020B0604020202090204" pitchFamily="34" charset="0"/>
                <a:ea typeface="楷体" charset="-122"/>
                <a:cs typeface="Arial" panose="020B0604020202090204" pitchFamily="34" charset="0"/>
                <a:sym typeface="+mn-ea"/>
              </a:rPr>
              <a:t>Sname</a:t>
            </a:r>
            <a:endParaRPr lang="en-US" altLang="zh-CN" sz="2800" b="1" dirty="0" err="1">
              <a:solidFill>
                <a:srgbClr val="0000C8"/>
              </a:solidFill>
              <a:latin typeface="Arial" panose="020B0604020202090204" pitchFamily="34" charset="0"/>
              <a:ea typeface="楷体" charset="-122"/>
              <a:cs typeface="Arial" panose="020B0604020202090204" pitchFamily="34" charset="0"/>
              <a:sym typeface="+mn-ea"/>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dirty="0"/>
              <a:t>用表连接查询</a:t>
            </a:r>
            <a:r>
              <a:rPr lang="en-US" altLang="zh-CN" dirty="0"/>
              <a:t> </a:t>
            </a:r>
            <a:r>
              <a:rPr lang="zh-CN" altLang="en-US" dirty="0"/>
              <a:t>代替</a:t>
            </a:r>
            <a:r>
              <a:rPr lang="en-US" altLang="zh-CN" dirty="0"/>
              <a:t> IN</a:t>
            </a:r>
            <a:r>
              <a:rPr lang="zh-CN" altLang="en-US" dirty="0"/>
              <a:t>谓词</a:t>
            </a:r>
            <a:r>
              <a:rPr lang="en-US" altLang="zh-CN" dirty="0"/>
              <a:t>+</a:t>
            </a:r>
            <a:r>
              <a:rPr lang="zh-CN" altLang="en-US" dirty="0"/>
              <a:t>子查询</a:t>
            </a:r>
            <a:endParaRPr lang="zh-CN" altLang="en-US" dirty="0"/>
          </a:p>
        </p:txBody>
      </p:sp>
      <p:sp>
        <p:nvSpPr>
          <p:cNvPr id="38915" name="Rectangle 3"/>
          <p:cNvSpPr>
            <a:spLocks noGrp="1" noChangeArrowheads="1"/>
          </p:cNvSpPr>
          <p:nvPr>
            <p:ph idx="1"/>
          </p:nvPr>
        </p:nvSpPr>
        <p:spPr/>
        <p:txBody>
          <a:bodyPr/>
          <a:lstStyle/>
          <a:p>
            <a:pPr>
              <a:lnSpc>
                <a:spcPct val="100000"/>
              </a:lnSpc>
              <a:spcBef>
                <a:spcPts val="0"/>
              </a:spcBef>
              <a:spcAft>
                <a:spcPts val="0"/>
              </a:spcAft>
            </a:pPr>
            <a:r>
              <a:rPr lang="zh-CN" altLang="en-US" sz="2800" dirty="0"/>
              <a:t>用连接查询实现</a:t>
            </a:r>
            <a:r>
              <a:rPr lang="en-US" altLang="zh-CN" sz="2800" dirty="0"/>
              <a:t>[</a:t>
            </a:r>
            <a:r>
              <a:rPr lang="zh-CN" altLang="en-US" sz="2800" dirty="0"/>
              <a:t>例</a:t>
            </a:r>
            <a:r>
              <a:rPr lang="en-US" altLang="zh-CN" sz="2800" dirty="0"/>
              <a:t>3.56]</a:t>
            </a:r>
            <a:endParaRPr lang="en-US" altLang="zh-CN" sz="2800" dirty="0"/>
          </a:p>
          <a:p>
            <a:pPr marL="363855" lvl="1" indent="0">
              <a:lnSpc>
                <a:spcPct val="100000"/>
              </a:lnSpc>
              <a:spcBef>
                <a:spcPts val="0"/>
              </a:spcBef>
              <a:spcAft>
                <a:spcPts val="0"/>
              </a:spcAft>
              <a:buNone/>
            </a:pPr>
            <a:r>
              <a:rPr lang="en-US" altLang="zh-CN" sz="2800" b="1" dirty="0">
                <a:solidFill>
                  <a:srgbClr val="FF0000"/>
                </a:solidFill>
                <a:latin typeface="楷体" charset="-122"/>
                <a:ea typeface="楷体" charset="-122"/>
                <a:cs typeface="楷体" charset="-122"/>
              </a:rPr>
              <a:t>SELECT Student.</a:t>
            </a:r>
            <a:r>
              <a:rPr lang="en-US" altLang="zh-CN" sz="2800" b="1" dirty="0" err="1">
                <a:solidFill>
                  <a:srgbClr val="FF0000"/>
                </a:solidFill>
                <a:latin typeface="楷体" charset="-122"/>
                <a:ea typeface="楷体" charset="-122"/>
                <a:cs typeface="楷体" charset="-122"/>
              </a:rPr>
              <a:t>Sno</a:t>
            </a:r>
            <a:r>
              <a:rPr lang="zh-CN" altLang="en-US" sz="2800" b="1" dirty="0">
                <a:solidFill>
                  <a:srgbClr val="FF0000"/>
                </a:solidFill>
                <a:latin typeface="楷体" charset="-122"/>
                <a:ea typeface="楷体" charset="-122"/>
                <a:cs typeface="楷体" charset="-122"/>
              </a:rPr>
              <a:t>,</a:t>
            </a:r>
            <a:r>
              <a:rPr lang="en-US" altLang="zh-CN" sz="2800" b="1" dirty="0">
                <a:solidFill>
                  <a:srgbClr val="FF0000"/>
                </a:solidFill>
                <a:latin typeface="楷体" charset="-122"/>
                <a:ea typeface="楷体" charset="-122"/>
                <a:cs typeface="楷体" charset="-122"/>
              </a:rPr>
              <a:t> </a:t>
            </a:r>
            <a:r>
              <a:rPr lang="en-US" altLang="zh-CN" dirty="0">
                <a:solidFill>
                  <a:srgbClr val="FF0000"/>
                </a:solidFill>
                <a:cs typeface="楷体" charset="-122"/>
                <a:sym typeface="+mn-ea"/>
              </a:rPr>
              <a:t>Student.</a:t>
            </a:r>
            <a:r>
              <a:rPr lang="en-US" altLang="zh-CN" sz="2800" b="1" dirty="0" err="1">
                <a:solidFill>
                  <a:srgbClr val="FF0000"/>
                </a:solidFill>
                <a:latin typeface="楷体" charset="-122"/>
                <a:ea typeface="楷体" charset="-122"/>
                <a:cs typeface="楷体" charset="-122"/>
              </a:rPr>
              <a:t>Sname</a:t>
            </a:r>
            <a:endParaRPr lang="en-US" altLang="zh-CN" sz="2800" b="1" dirty="0">
              <a:solidFill>
                <a:srgbClr val="FF0000"/>
              </a:solidFill>
              <a:latin typeface="楷体" charset="-122"/>
              <a:ea typeface="楷体" charset="-122"/>
              <a:cs typeface="楷体" charset="-122"/>
            </a:endParaRPr>
          </a:p>
          <a:p>
            <a:pPr marL="363855" lvl="1" indent="0">
              <a:lnSpc>
                <a:spcPct val="100000"/>
              </a:lnSpc>
              <a:spcBef>
                <a:spcPts val="0"/>
              </a:spcBef>
              <a:spcAft>
                <a:spcPts val="0"/>
              </a:spcAft>
              <a:buNone/>
            </a:pPr>
            <a:r>
              <a:rPr lang="en-US" altLang="zh-CN" sz="2800" b="1" dirty="0">
                <a:solidFill>
                  <a:srgbClr val="FF0000"/>
                </a:solidFill>
                <a:latin typeface="楷体" charset="-122"/>
                <a:ea typeface="楷体" charset="-122"/>
                <a:cs typeface="楷体" charset="-122"/>
              </a:rPr>
              <a:t>FROM   Student</a:t>
            </a:r>
            <a:r>
              <a:rPr lang="zh-CN" altLang="en-US" sz="2800" b="1" dirty="0">
                <a:solidFill>
                  <a:srgbClr val="FF0000"/>
                </a:solidFill>
                <a:latin typeface="楷体" charset="-122"/>
                <a:ea typeface="楷体" charset="-122"/>
                <a:cs typeface="楷体" charset="-122"/>
              </a:rPr>
              <a:t>,</a:t>
            </a:r>
            <a:r>
              <a:rPr lang="en-US" altLang="zh-CN" sz="2800" b="1" dirty="0">
                <a:solidFill>
                  <a:srgbClr val="FF0000"/>
                </a:solidFill>
                <a:latin typeface="楷体" charset="-122"/>
                <a:ea typeface="楷体" charset="-122"/>
                <a:cs typeface="楷体" charset="-122"/>
              </a:rPr>
              <a:t> SC</a:t>
            </a:r>
            <a:r>
              <a:rPr lang="zh-CN" altLang="en-US" sz="2800" b="1" dirty="0">
                <a:solidFill>
                  <a:srgbClr val="FF0000"/>
                </a:solidFill>
                <a:latin typeface="楷体" charset="-122"/>
                <a:ea typeface="楷体" charset="-122"/>
                <a:cs typeface="楷体" charset="-122"/>
              </a:rPr>
              <a:t>,</a:t>
            </a:r>
            <a:r>
              <a:rPr lang="en-US" altLang="zh-CN" sz="2800" b="1" dirty="0">
                <a:solidFill>
                  <a:srgbClr val="FF0000"/>
                </a:solidFill>
                <a:latin typeface="楷体" charset="-122"/>
                <a:ea typeface="楷体" charset="-122"/>
                <a:cs typeface="楷体" charset="-122"/>
              </a:rPr>
              <a:t> Course</a:t>
            </a:r>
            <a:endParaRPr lang="en-US" altLang="zh-CN" sz="2800" b="1" dirty="0">
              <a:solidFill>
                <a:srgbClr val="FF0000"/>
              </a:solidFill>
              <a:latin typeface="楷体" charset="-122"/>
              <a:ea typeface="楷体" charset="-122"/>
              <a:cs typeface="楷体" charset="-122"/>
            </a:endParaRPr>
          </a:p>
          <a:p>
            <a:pPr marL="363855" lvl="1" indent="0">
              <a:lnSpc>
                <a:spcPct val="100000"/>
              </a:lnSpc>
              <a:spcBef>
                <a:spcPts val="0"/>
              </a:spcBef>
              <a:spcAft>
                <a:spcPts val="0"/>
              </a:spcAft>
              <a:buNone/>
            </a:pPr>
            <a:r>
              <a:rPr lang="en-US" altLang="zh-CN" sz="2800" b="1" dirty="0">
                <a:solidFill>
                  <a:srgbClr val="FF0000"/>
                </a:solidFill>
                <a:latin typeface="楷体" charset="-122"/>
                <a:ea typeface="楷体" charset="-122"/>
                <a:cs typeface="楷体" charset="-122"/>
              </a:rPr>
              <a:t>WHERE  </a:t>
            </a:r>
            <a:r>
              <a:rPr lang="en-US" altLang="zh-CN" sz="2800" b="1" dirty="0" err="1">
                <a:solidFill>
                  <a:srgbClr val="FF0000"/>
                </a:solidFill>
                <a:latin typeface="楷体" charset="-122"/>
                <a:ea typeface="楷体" charset="-122"/>
                <a:cs typeface="楷体" charset="-122"/>
              </a:rPr>
              <a:t>Student.Sno </a:t>
            </a:r>
            <a:r>
              <a:rPr lang="en-US" altLang="zh-CN" sz="2800" b="1" dirty="0">
                <a:solidFill>
                  <a:srgbClr val="FF0000"/>
                </a:solidFill>
                <a:latin typeface="楷体" charset="-122"/>
                <a:ea typeface="楷体" charset="-122"/>
                <a:cs typeface="楷体" charset="-122"/>
              </a:rPr>
              <a:t>= </a:t>
            </a:r>
            <a:r>
              <a:rPr lang="en-US" altLang="zh-CN" sz="2800" b="1" dirty="0" err="1">
                <a:solidFill>
                  <a:srgbClr val="FF0000"/>
                </a:solidFill>
                <a:latin typeface="楷体" charset="-122"/>
                <a:ea typeface="楷体" charset="-122"/>
                <a:cs typeface="楷体" charset="-122"/>
              </a:rPr>
              <a:t>SC.Sno</a:t>
            </a:r>
            <a:r>
              <a:rPr lang="en-US" altLang="zh-CN" sz="2800" b="1" dirty="0">
                <a:solidFill>
                  <a:srgbClr val="FF0000"/>
                </a:solidFill>
                <a:latin typeface="楷体" charset="-122"/>
                <a:ea typeface="楷体" charset="-122"/>
                <a:cs typeface="楷体" charset="-122"/>
              </a:rPr>
              <a:t>  AND</a:t>
            </a:r>
            <a:endParaRPr lang="en-US" altLang="zh-CN" sz="2800" b="1" dirty="0">
              <a:solidFill>
                <a:srgbClr val="FF0000"/>
              </a:solidFill>
              <a:latin typeface="楷体" charset="-122"/>
              <a:ea typeface="楷体" charset="-122"/>
              <a:cs typeface="楷体" charset="-122"/>
            </a:endParaRPr>
          </a:p>
          <a:p>
            <a:pPr marL="1735455" lvl="4" indent="0">
              <a:lnSpc>
                <a:spcPct val="100000"/>
              </a:lnSpc>
              <a:spcBef>
                <a:spcPts val="0"/>
              </a:spcBef>
              <a:spcAft>
                <a:spcPts val="0"/>
              </a:spcAft>
              <a:buNone/>
            </a:pPr>
            <a:r>
              <a:rPr lang="en-US" altLang="zh-CN" sz="2800" b="1" dirty="0" err="1">
                <a:solidFill>
                  <a:srgbClr val="FF0000"/>
                </a:solidFill>
                <a:latin typeface="楷体" charset="-122"/>
                <a:ea typeface="楷体" charset="-122"/>
                <a:cs typeface="楷体" charset="-122"/>
              </a:rPr>
              <a:t>SC.Cno </a:t>
            </a:r>
            <a:r>
              <a:rPr lang="en-US" altLang="zh-CN" sz="2800" b="1" dirty="0">
                <a:solidFill>
                  <a:srgbClr val="FF0000"/>
                </a:solidFill>
                <a:latin typeface="楷体" charset="-122"/>
                <a:ea typeface="楷体" charset="-122"/>
                <a:cs typeface="楷体" charset="-122"/>
              </a:rPr>
              <a:t>= </a:t>
            </a:r>
            <a:r>
              <a:rPr lang="en-US" altLang="zh-CN" sz="2800" b="1" dirty="0" err="1">
                <a:solidFill>
                  <a:srgbClr val="FF0000"/>
                </a:solidFill>
                <a:latin typeface="楷体" charset="-122"/>
                <a:ea typeface="楷体" charset="-122"/>
                <a:cs typeface="楷体" charset="-122"/>
              </a:rPr>
              <a:t>Course.Cno</a:t>
            </a:r>
            <a:r>
              <a:rPr lang="en-US" altLang="zh-CN" sz="2800" b="1" dirty="0">
                <a:solidFill>
                  <a:srgbClr val="FF0000"/>
                </a:solidFill>
                <a:latin typeface="楷体" charset="-122"/>
                <a:ea typeface="楷体" charset="-122"/>
                <a:cs typeface="楷体" charset="-122"/>
              </a:rPr>
              <a:t>  AND</a:t>
            </a:r>
            <a:endParaRPr lang="en-US" altLang="zh-CN" sz="2800" b="1" dirty="0">
              <a:solidFill>
                <a:srgbClr val="FF0000"/>
              </a:solidFill>
              <a:latin typeface="楷体" charset="-122"/>
              <a:ea typeface="楷体" charset="-122"/>
              <a:cs typeface="楷体" charset="-122"/>
            </a:endParaRPr>
          </a:p>
          <a:p>
            <a:pPr marL="1735455" lvl="4" indent="0">
              <a:lnSpc>
                <a:spcPct val="100000"/>
              </a:lnSpc>
              <a:spcBef>
                <a:spcPts val="0"/>
              </a:spcBef>
              <a:spcAft>
                <a:spcPts val="0"/>
              </a:spcAft>
              <a:buNone/>
            </a:pPr>
            <a:r>
              <a:rPr lang="en-US" altLang="zh-CN" sz="2800" b="1" dirty="0" err="1">
                <a:solidFill>
                  <a:srgbClr val="FF0000"/>
                </a:solidFill>
                <a:latin typeface="楷体" charset="-122"/>
                <a:ea typeface="楷体" charset="-122"/>
                <a:cs typeface="楷体" charset="-122"/>
              </a:rPr>
              <a:t>Course.Cname </a:t>
            </a:r>
            <a:r>
              <a:rPr lang="en-US" altLang="zh-CN" sz="2800" b="1" dirty="0">
                <a:solidFill>
                  <a:srgbClr val="FF0000"/>
                </a:solidFill>
                <a:latin typeface="楷体" charset="-122"/>
                <a:ea typeface="楷体" charset="-122"/>
                <a:cs typeface="楷体" charset="-122"/>
              </a:rPr>
              <a:t>= </a:t>
            </a:r>
            <a:r>
              <a:rPr lang="zh-CN" altLang="en-US" sz="2800" b="1" dirty="0">
                <a:solidFill>
                  <a:srgbClr val="FF0000"/>
                </a:solidFill>
                <a:latin typeface="楷体" charset="-122"/>
                <a:ea typeface="楷体" charset="-122"/>
                <a:cs typeface="楷体" charset="-122"/>
              </a:rPr>
              <a:t>'信息系统'</a:t>
            </a:r>
            <a:r>
              <a:rPr lang="en-US" altLang="zh-CN" sz="2800" b="1" dirty="0">
                <a:solidFill>
                  <a:srgbClr val="FF0000"/>
                </a:solidFill>
                <a:latin typeface="楷体" charset="-122"/>
                <a:ea typeface="楷体" charset="-122"/>
                <a:cs typeface="楷体" charset="-122"/>
              </a:rPr>
              <a:t>;</a:t>
            </a:r>
            <a:endParaRPr lang="en-US" altLang="zh-CN" sz="2800" b="1" dirty="0">
              <a:solidFill>
                <a:srgbClr val="FF0000"/>
              </a:solidFill>
              <a:latin typeface="楷体" charset="-122"/>
              <a:ea typeface="楷体" charset="-122"/>
              <a:cs typeface="楷体" charset="-122"/>
            </a:endParaRPr>
          </a:p>
          <a:p>
            <a:pPr marL="2192655" lvl="5" indent="0">
              <a:lnSpc>
                <a:spcPct val="100000"/>
              </a:lnSpc>
              <a:spcBef>
                <a:spcPts val="0"/>
              </a:spcBef>
              <a:spcAft>
                <a:spcPts val="0"/>
              </a:spcAft>
              <a:buNone/>
            </a:pPr>
            <a:endParaRPr lang="en-US" altLang="zh-CN" sz="2800" b="1" dirty="0">
              <a:solidFill>
                <a:srgbClr val="FF0000"/>
              </a:solidFill>
              <a:latin typeface="楷体" charset="-122"/>
              <a:ea typeface="楷体" charset="-122"/>
              <a:cs typeface="楷体" charset="-122"/>
            </a:endParaRPr>
          </a:p>
          <a:p>
            <a:pPr lvl="0">
              <a:lnSpc>
                <a:spcPct val="100000"/>
              </a:lnSpc>
              <a:spcBef>
                <a:spcPts val="0"/>
              </a:spcBef>
              <a:spcAft>
                <a:spcPts val="0"/>
              </a:spcAft>
            </a:pPr>
            <a:r>
              <a:rPr lang="zh-CN" altLang="en-US" sz="2800" b="1" dirty="0">
                <a:solidFill>
                  <a:srgbClr val="1F2DA8"/>
                </a:solidFill>
                <a:latin typeface="楷体" charset="-122"/>
                <a:ea typeface="楷体" charset="-122"/>
                <a:cs typeface="楷体" charset="-122"/>
              </a:rPr>
              <a:t>巧用表的换名，可将该查询简写如下：</a:t>
            </a:r>
            <a:endParaRPr lang="zh-CN" altLang="en-US" sz="2800" b="1" dirty="0">
              <a:solidFill>
                <a:srgbClr val="1F2DA8"/>
              </a:solidFill>
              <a:latin typeface="楷体" charset="-122"/>
              <a:ea typeface="楷体" charset="-122"/>
              <a:cs typeface="楷体" charset="-122"/>
            </a:endParaRPr>
          </a:p>
          <a:p>
            <a:pPr marL="363855" lvl="1" indent="0">
              <a:lnSpc>
                <a:spcPct val="100000"/>
              </a:lnSpc>
              <a:spcBef>
                <a:spcPts val="0"/>
              </a:spcBef>
              <a:spcAft>
                <a:spcPts val="0"/>
              </a:spcAft>
              <a:buNone/>
            </a:pPr>
            <a:r>
              <a:rPr lang="en-US" altLang="zh-CN" sz="2800" b="1" dirty="0">
                <a:solidFill>
                  <a:srgbClr val="FF0000"/>
                </a:solidFill>
                <a:latin typeface="楷体" charset="-122"/>
                <a:ea typeface="楷体" charset="-122"/>
                <a:cs typeface="楷体" charset="-122"/>
                <a:sym typeface="+mn-ea"/>
              </a:rPr>
              <a:t>SELECT </a:t>
            </a:r>
            <a:r>
              <a:rPr lang="en-US" altLang="zh-CN" sz="2800" b="1" dirty="0" err="1">
                <a:solidFill>
                  <a:srgbClr val="FF0000"/>
                </a:solidFill>
                <a:latin typeface="楷体" charset="-122"/>
                <a:ea typeface="楷体" charset="-122"/>
                <a:cs typeface="楷体" charset="-122"/>
                <a:sym typeface="+mn-ea"/>
              </a:rPr>
              <a:t>S.Sno</a:t>
            </a:r>
            <a:r>
              <a:rPr lang="zh-CN" altLang="en-US" sz="2800" b="1" dirty="0">
                <a:solidFill>
                  <a:srgbClr val="FF0000"/>
                </a:solidFill>
                <a:latin typeface="楷体" charset="-122"/>
                <a:ea typeface="楷体" charset="-122"/>
                <a:cs typeface="楷体" charset="-122"/>
                <a:sym typeface="+mn-ea"/>
              </a:rPr>
              <a:t>,</a:t>
            </a:r>
            <a:r>
              <a:rPr lang="en-US" altLang="zh-CN" sz="2800" b="1" dirty="0">
                <a:solidFill>
                  <a:srgbClr val="FF0000"/>
                </a:solidFill>
                <a:latin typeface="楷体" charset="-122"/>
                <a:ea typeface="楷体" charset="-122"/>
                <a:cs typeface="楷体" charset="-122"/>
                <a:sym typeface="+mn-ea"/>
              </a:rPr>
              <a:t> </a:t>
            </a:r>
            <a:r>
              <a:rPr lang="en-US" altLang="zh-CN" sz="2800" b="1" dirty="0" err="1">
                <a:solidFill>
                  <a:srgbClr val="FF0000"/>
                </a:solidFill>
                <a:latin typeface="楷体" charset="-122"/>
                <a:ea typeface="楷体" charset="-122"/>
                <a:cs typeface="楷体" charset="-122"/>
                <a:sym typeface="+mn-ea"/>
              </a:rPr>
              <a:t>S.Sname</a:t>
            </a:r>
            <a:endParaRPr lang="en-US" altLang="zh-CN" sz="2800" b="1" dirty="0">
              <a:solidFill>
                <a:srgbClr val="FF0000"/>
              </a:solidFill>
              <a:latin typeface="楷体" charset="-122"/>
              <a:ea typeface="楷体" charset="-122"/>
              <a:cs typeface="楷体" charset="-122"/>
            </a:endParaRPr>
          </a:p>
          <a:p>
            <a:pPr marL="363855" lvl="1" indent="0">
              <a:lnSpc>
                <a:spcPct val="100000"/>
              </a:lnSpc>
              <a:spcBef>
                <a:spcPts val="0"/>
              </a:spcBef>
              <a:spcAft>
                <a:spcPts val="0"/>
              </a:spcAft>
              <a:buNone/>
            </a:pPr>
            <a:r>
              <a:rPr lang="en-US" altLang="zh-CN" sz="2800" b="1" dirty="0">
                <a:solidFill>
                  <a:srgbClr val="FF0000"/>
                </a:solidFill>
                <a:latin typeface="楷体" charset="-122"/>
                <a:ea typeface="楷体" charset="-122"/>
                <a:cs typeface="楷体" charset="-122"/>
                <a:sym typeface="+mn-ea"/>
              </a:rPr>
              <a:t>FROM   Student S</a:t>
            </a:r>
            <a:r>
              <a:rPr lang="zh-CN" altLang="en-US" sz="2800" b="1" dirty="0">
                <a:solidFill>
                  <a:srgbClr val="FF0000"/>
                </a:solidFill>
                <a:latin typeface="楷体" charset="-122"/>
                <a:ea typeface="楷体" charset="-122"/>
                <a:cs typeface="楷体" charset="-122"/>
                <a:sym typeface="+mn-ea"/>
              </a:rPr>
              <a:t>,</a:t>
            </a:r>
            <a:r>
              <a:rPr lang="en-US" altLang="zh-CN" sz="2800" b="1" dirty="0">
                <a:solidFill>
                  <a:srgbClr val="FF0000"/>
                </a:solidFill>
                <a:latin typeface="楷体" charset="-122"/>
                <a:ea typeface="楷体" charset="-122"/>
                <a:cs typeface="楷体" charset="-122"/>
                <a:sym typeface="+mn-ea"/>
              </a:rPr>
              <a:t> SC</a:t>
            </a:r>
            <a:r>
              <a:rPr lang="zh-CN" altLang="en-US" sz="2800" b="1" dirty="0">
                <a:solidFill>
                  <a:srgbClr val="FF0000"/>
                </a:solidFill>
                <a:latin typeface="楷体" charset="-122"/>
                <a:ea typeface="楷体" charset="-122"/>
                <a:cs typeface="楷体" charset="-122"/>
                <a:sym typeface="+mn-ea"/>
              </a:rPr>
              <a:t>,</a:t>
            </a:r>
            <a:r>
              <a:rPr lang="en-US" altLang="zh-CN" sz="2800" b="1" dirty="0">
                <a:solidFill>
                  <a:srgbClr val="FF0000"/>
                </a:solidFill>
                <a:latin typeface="楷体" charset="-122"/>
                <a:ea typeface="楷体" charset="-122"/>
                <a:cs typeface="楷体" charset="-122"/>
                <a:sym typeface="+mn-ea"/>
              </a:rPr>
              <a:t> Course C</a:t>
            </a:r>
            <a:endParaRPr lang="en-US" altLang="zh-CN" sz="2800" b="1" dirty="0">
              <a:solidFill>
                <a:srgbClr val="FF0000"/>
              </a:solidFill>
              <a:latin typeface="楷体" charset="-122"/>
              <a:ea typeface="楷体" charset="-122"/>
              <a:cs typeface="楷体" charset="-122"/>
            </a:endParaRPr>
          </a:p>
          <a:p>
            <a:pPr marL="363855" lvl="1" indent="0">
              <a:lnSpc>
                <a:spcPct val="100000"/>
              </a:lnSpc>
              <a:spcBef>
                <a:spcPts val="0"/>
              </a:spcBef>
              <a:spcAft>
                <a:spcPts val="0"/>
              </a:spcAft>
              <a:buNone/>
            </a:pPr>
            <a:r>
              <a:rPr lang="en-US" altLang="zh-CN" sz="2800" b="1" dirty="0">
                <a:solidFill>
                  <a:srgbClr val="FF0000"/>
                </a:solidFill>
                <a:latin typeface="楷体" charset="-122"/>
                <a:ea typeface="楷体" charset="-122"/>
                <a:cs typeface="楷体" charset="-122"/>
                <a:sym typeface="+mn-ea"/>
              </a:rPr>
              <a:t>WHERE  </a:t>
            </a:r>
            <a:r>
              <a:rPr lang="en-US" altLang="zh-CN" sz="2800" b="1" dirty="0" err="1">
                <a:solidFill>
                  <a:srgbClr val="FF0000"/>
                </a:solidFill>
                <a:latin typeface="楷体" charset="-122"/>
                <a:ea typeface="楷体" charset="-122"/>
                <a:cs typeface="楷体" charset="-122"/>
                <a:sym typeface="+mn-ea"/>
              </a:rPr>
              <a:t>S.Sno</a:t>
            </a:r>
            <a:r>
              <a:rPr lang="en-US" altLang="zh-CN" sz="2800" b="1" dirty="0">
                <a:solidFill>
                  <a:srgbClr val="FF0000"/>
                </a:solidFill>
                <a:latin typeface="楷体" charset="-122"/>
                <a:ea typeface="楷体" charset="-122"/>
                <a:cs typeface="楷体" charset="-122"/>
                <a:sym typeface="+mn-ea"/>
              </a:rPr>
              <a:t>=</a:t>
            </a:r>
            <a:r>
              <a:rPr lang="en-US" altLang="zh-CN" sz="2800" b="1" dirty="0" err="1">
                <a:solidFill>
                  <a:srgbClr val="FF0000"/>
                </a:solidFill>
                <a:latin typeface="楷体" charset="-122"/>
                <a:ea typeface="楷体" charset="-122"/>
                <a:cs typeface="楷体" charset="-122"/>
                <a:sym typeface="+mn-ea"/>
              </a:rPr>
              <a:t>SC.Sno</a:t>
            </a:r>
            <a:r>
              <a:rPr lang="en-US" altLang="zh-CN" sz="2800" b="1" dirty="0">
                <a:solidFill>
                  <a:srgbClr val="FF0000"/>
                </a:solidFill>
                <a:latin typeface="楷体" charset="-122"/>
                <a:ea typeface="楷体" charset="-122"/>
                <a:cs typeface="楷体" charset="-122"/>
                <a:sym typeface="+mn-ea"/>
              </a:rPr>
              <a:t> AND </a:t>
            </a:r>
            <a:r>
              <a:rPr lang="en-US" altLang="zh-CN" sz="2800" b="1" dirty="0" err="1">
                <a:solidFill>
                  <a:srgbClr val="FF0000"/>
                </a:solidFill>
                <a:latin typeface="楷体" charset="-122"/>
                <a:ea typeface="楷体" charset="-122"/>
                <a:cs typeface="楷体" charset="-122"/>
                <a:sym typeface="+mn-ea"/>
              </a:rPr>
              <a:t>SC.Cno</a:t>
            </a:r>
            <a:r>
              <a:rPr lang="en-US" altLang="zh-CN" sz="2800" b="1" dirty="0">
                <a:solidFill>
                  <a:srgbClr val="FF0000"/>
                </a:solidFill>
                <a:latin typeface="楷体" charset="-122"/>
                <a:ea typeface="楷体" charset="-122"/>
                <a:cs typeface="楷体" charset="-122"/>
                <a:sym typeface="+mn-ea"/>
              </a:rPr>
              <a:t>=</a:t>
            </a:r>
            <a:r>
              <a:rPr lang="en-US" altLang="zh-CN" sz="2800" b="1" dirty="0" err="1">
                <a:solidFill>
                  <a:srgbClr val="FF0000"/>
                </a:solidFill>
                <a:latin typeface="楷体" charset="-122"/>
                <a:ea typeface="楷体" charset="-122"/>
                <a:cs typeface="楷体" charset="-122"/>
                <a:sym typeface="+mn-ea"/>
              </a:rPr>
              <a:t>C.Cno</a:t>
            </a:r>
            <a:r>
              <a:rPr lang="en-US" altLang="zh-CN" sz="2800" b="1" dirty="0">
                <a:solidFill>
                  <a:srgbClr val="FF0000"/>
                </a:solidFill>
                <a:latin typeface="楷体" charset="-122"/>
                <a:ea typeface="楷体" charset="-122"/>
                <a:cs typeface="楷体" charset="-122"/>
                <a:sym typeface="+mn-ea"/>
              </a:rPr>
              <a:t> AND </a:t>
            </a:r>
            <a:r>
              <a:rPr lang="en-US" altLang="zh-CN" sz="2800" b="1" dirty="0" err="1">
                <a:solidFill>
                  <a:srgbClr val="FF0000"/>
                </a:solidFill>
                <a:latin typeface="楷体" charset="-122"/>
                <a:ea typeface="楷体" charset="-122"/>
                <a:cs typeface="楷体" charset="-122"/>
                <a:sym typeface="+mn-ea"/>
              </a:rPr>
              <a:t>C.Cname</a:t>
            </a:r>
            <a:r>
              <a:rPr lang="en-US" altLang="zh-CN" sz="2800" b="1" dirty="0">
                <a:solidFill>
                  <a:srgbClr val="FF0000"/>
                </a:solidFill>
                <a:latin typeface="楷体" charset="-122"/>
                <a:ea typeface="楷体" charset="-122"/>
                <a:cs typeface="楷体" charset="-122"/>
                <a:sym typeface="+mn-ea"/>
              </a:rPr>
              <a:t>=</a:t>
            </a:r>
            <a:r>
              <a:rPr lang="zh-CN" altLang="en-US" sz="2800" b="1" dirty="0">
                <a:solidFill>
                  <a:srgbClr val="FF0000"/>
                </a:solidFill>
                <a:latin typeface="楷体" charset="-122"/>
                <a:ea typeface="楷体" charset="-122"/>
                <a:cs typeface="楷体" charset="-122"/>
                <a:sym typeface="+mn-ea"/>
              </a:rPr>
              <a:t>'信息系统'</a:t>
            </a:r>
            <a:r>
              <a:rPr lang="en-US" altLang="zh-CN" sz="2800" b="1" dirty="0">
                <a:solidFill>
                  <a:srgbClr val="FF0000"/>
                </a:solidFill>
                <a:latin typeface="楷体" charset="-122"/>
                <a:ea typeface="楷体" charset="-122"/>
                <a:cs typeface="楷体" charset="-122"/>
                <a:sym typeface="+mn-ea"/>
              </a:rPr>
              <a:t>;</a:t>
            </a:r>
            <a:endParaRPr lang="en-US" altLang="zh-CN" sz="2800" b="1" dirty="0">
              <a:solidFill>
                <a:srgbClr val="FF0000"/>
              </a:solidFill>
              <a:latin typeface="楷体" charset="-122"/>
              <a:ea typeface="楷体" charset="-122"/>
              <a:cs typeface="楷体" charset="-122"/>
              <a:sym typeface="+mn-ea"/>
            </a:endParaRPr>
          </a:p>
          <a:p>
            <a:pPr marL="363855" lvl="0" indent="-457200">
              <a:lnSpc>
                <a:spcPct val="100000"/>
              </a:lnSpc>
              <a:spcBef>
                <a:spcPts val="0"/>
              </a:spcBef>
              <a:spcAft>
                <a:spcPts val="0"/>
              </a:spcAft>
            </a:pPr>
            <a:endParaRPr lang="zh-CN" altLang="en-US" sz="3000" b="1" dirty="0">
              <a:solidFill>
                <a:srgbClr val="1F2DA8"/>
              </a:solidFill>
              <a:latin typeface="楷体" charset="-122"/>
              <a:ea typeface="楷体" charset="-122"/>
              <a:cs typeface="楷体" charset="-122"/>
            </a:endParaRPr>
          </a:p>
          <a:p>
            <a:pPr marL="363855" lvl="0" indent="-457200">
              <a:lnSpc>
                <a:spcPct val="100000"/>
              </a:lnSpc>
              <a:spcBef>
                <a:spcPts val="0"/>
              </a:spcBef>
              <a:spcAft>
                <a:spcPts val="0"/>
              </a:spcAft>
            </a:pPr>
            <a:r>
              <a:rPr lang="zh-CN" altLang="en-US" sz="3000" b="1" dirty="0">
                <a:solidFill>
                  <a:srgbClr val="1F2DA8"/>
                </a:solidFill>
                <a:latin typeface="楷体" charset="-122"/>
                <a:ea typeface="楷体" charset="-122"/>
                <a:cs typeface="楷体" charset="-122"/>
              </a:rPr>
              <a:t>三张表之间的连接查询，常见的执行过程是三层</a:t>
            </a:r>
            <a:r>
              <a:rPr lang="zh-CN" altLang="en-US" sz="3000" b="1" u="sng" dirty="0">
                <a:solidFill>
                  <a:srgbClr val="1F2DA8"/>
                </a:solidFill>
                <a:latin typeface="楷体" charset="-122"/>
                <a:ea typeface="楷体" charset="-122"/>
                <a:cs typeface="楷体" charset="-122"/>
              </a:rPr>
              <a:t>嵌套循环连接</a:t>
            </a:r>
            <a:r>
              <a:rPr lang="zh-CN" altLang="en-US" sz="3000" b="1" dirty="0">
                <a:solidFill>
                  <a:srgbClr val="1F2DA8"/>
                </a:solidFill>
                <a:latin typeface="楷体" charset="-122"/>
                <a:ea typeface="楷体" charset="-122"/>
                <a:cs typeface="楷体" charset="-122"/>
              </a:rPr>
              <a:t>！</a:t>
            </a:r>
            <a:endParaRPr lang="zh-CN" altLang="en-US" sz="3000" b="1" dirty="0">
              <a:solidFill>
                <a:srgbClr val="1F2DA8"/>
              </a:solidFill>
              <a:latin typeface="楷体" charset="-122"/>
              <a:ea typeface="楷体" charset="-122"/>
              <a:cs typeface="楷体" charset="-122"/>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15">
                                            <p:txEl>
                                              <p:pRg st="7" end="7"/>
                                            </p:txEl>
                                          </p:spTgt>
                                        </p:tgtEl>
                                        <p:attrNameLst>
                                          <p:attrName>style.visibility</p:attrName>
                                        </p:attrNameLst>
                                      </p:cBhvr>
                                      <p:to>
                                        <p:strVal val="visible"/>
                                      </p:to>
                                    </p:set>
                                    <p:anim calcmode="lin" valueType="num">
                                      <p:cBhvr additive="base">
                                        <p:cTn id="7" dur="500" fill="hold"/>
                                        <p:tgtEl>
                                          <p:spTgt spid="38915">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915">
                                            <p:txEl>
                                              <p:pRg st="8" end="8"/>
                                            </p:txEl>
                                          </p:spTgt>
                                        </p:tgtEl>
                                        <p:attrNameLst>
                                          <p:attrName>style.visibility</p:attrName>
                                        </p:attrNameLst>
                                      </p:cBhvr>
                                      <p:to>
                                        <p:strVal val="visible"/>
                                      </p:to>
                                    </p:set>
                                    <p:anim calcmode="lin" valueType="num">
                                      <p:cBhvr additive="base">
                                        <p:cTn id="11" dur="500" fill="hold"/>
                                        <p:tgtEl>
                                          <p:spTgt spid="38915">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915">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915">
                                            <p:txEl>
                                              <p:pRg st="9" end="9"/>
                                            </p:txEl>
                                          </p:spTgt>
                                        </p:tgtEl>
                                        <p:attrNameLst>
                                          <p:attrName>style.visibility</p:attrName>
                                        </p:attrNameLst>
                                      </p:cBhvr>
                                      <p:to>
                                        <p:strVal val="visible"/>
                                      </p:to>
                                    </p:set>
                                    <p:anim calcmode="lin" valueType="num">
                                      <p:cBhvr additive="base">
                                        <p:cTn id="15" dur="500" fill="hold"/>
                                        <p:tgtEl>
                                          <p:spTgt spid="38915">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8915">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915">
                                            <p:txEl>
                                              <p:pRg st="10" end="10"/>
                                            </p:txEl>
                                          </p:spTgt>
                                        </p:tgtEl>
                                        <p:attrNameLst>
                                          <p:attrName>style.visibility</p:attrName>
                                        </p:attrNameLst>
                                      </p:cBhvr>
                                      <p:to>
                                        <p:strVal val="visible"/>
                                      </p:to>
                                    </p:set>
                                    <p:anim calcmode="lin" valueType="num">
                                      <p:cBhvr additive="base">
                                        <p:cTn id="19" dur="500" fill="hold"/>
                                        <p:tgtEl>
                                          <p:spTgt spid="38915">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915">
                                            <p:txEl>
                                              <p:pRg st="12" end="12"/>
                                            </p:txEl>
                                          </p:spTgt>
                                        </p:tgtEl>
                                        <p:attrNameLst>
                                          <p:attrName>style.visibility</p:attrName>
                                        </p:attrNameLst>
                                      </p:cBhvr>
                                      <p:to>
                                        <p:strVal val="visible"/>
                                      </p:to>
                                    </p:set>
                                    <p:anim calcmode="lin" valueType="num">
                                      <p:cBhvr additive="base">
                                        <p:cTn id="25" dur="500" fill="hold"/>
                                        <p:tgtEl>
                                          <p:spTgt spid="38915">
                                            <p:txEl>
                                              <p:pRg st="12" end="1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91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dirty="0"/>
              <a:t>多表连接操作的执行过程</a:t>
            </a:r>
            <a:endParaRPr lang="zh-CN" altLang="en-US" dirty="0"/>
          </a:p>
        </p:txBody>
      </p:sp>
      <p:sp>
        <p:nvSpPr>
          <p:cNvPr id="11267" name="Rectangle 3"/>
          <p:cNvSpPr>
            <a:spLocks noGrp="1" noChangeArrowheads="1"/>
          </p:cNvSpPr>
          <p:nvPr>
            <p:ph idx="1"/>
          </p:nvPr>
        </p:nvSpPr>
        <p:spPr/>
        <p:txBody>
          <a:bodyPr>
            <a:normAutofit/>
          </a:bodyPr>
          <a:lstStyle/>
          <a:p>
            <a:pPr lvl="0">
              <a:lnSpc>
                <a:spcPct val="100000"/>
              </a:lnSpc>
              <a:spcBef>
                <a:spcPts val="600"/>
              </a:spcBef>
              <a:spcAft>
                <a:spcPts val="0"/>
              </a:spcAft>
              <a:buFont typeface="Wingdings" panose="05000000000000000000" charset="0"/>
              <a:buChar char="q"/>
            </a:pPr>
            <a:r>
              <a:rPr lang="zh-CN" altLang="en-US" sz="2800" dirty="0">
                <a:solidFill>
                  <a:srgbClr val="1F2DA8"/>
                </a:solidFill>
                <a:cs typeface="Times New Roman" panose="02020503050405090304" pitchFamily="2" charset="0"/>
                <a:sym typeface="+mn-ea"/>
              </a:rPr>
              <a:t>嵌套顺序由</a:t>
            </a:r>
            <a:r>
              <a:rPr lang="en-US" altLang="zh-CN" sz="2800" dirty="0">
                <a:cs typeface="Times New Roman" panose="02020503050405090304" pitchFamily="2" charset="0"/>
                <a:sym typeface="+mn-ea"/>
              </a:rPr>
              <a:t>DBMS</a:t>
            </a:r>
            <a:r>
              <a:rPr lang="zh-CN" altLang="en-US" sz="2800" dirty="0">
                <a:solidFill>
                  <a:srgbClr val="1F2DA8"/>
                </a:solidFill>
                <a:cs typeface="Times New Roman" panose="02020503050405090304" pitchFamily="2" charset="0"/>
                <a:sym typeface="+mn-ea"/>
              </a:rPr>
              <a:t>来决定，与在</a:t>
            </a:r>
            <a:r>
              <a:rPr lang="en-US" altLang="zh-CN" sz="2800" dirty="0">
                <a:solidFill>
                  <a:srgbClr val="1F2DA8"/>
                </a:solidFill>
                <a:cs typeface="Times New Roman" panose="02020503050405090304" pitchFamily="2" charset="0"/>
                <a:sym typeface="+mn-ea"/>
              </a:rPr>
              <a:t>FROM</a:t>
            </a:r>
            <a:r>
              <a:rPr lang="zh-CN" altLang="en-US" sz="2800" dirty="0">
                <a:solidFill>
                  <a:srgbClr val="1F2DA8"/>
                </a:solidFill>
                <a:cs typeface="Times New Roman" panose="02020503050405090304" pitchFamily="2" charset="0"/>
                <a:sym typeface="+mn-ea"/>
              </a:rPr>
              <a:t>子句中的书写顺序无关，与</a:t>
            </a:r>
            <a:r>
              <a:rPr lang="en-US" altLang="zh-CN" sz="2800" dirty="0">
                <a:solidFill>
                  <a:srgbClr val="1F2DA8"/>
                </a:solidFill>
                <a:cs typeface="Times New Roman" panose="02020503050405090304" pitchFamily="2" charset="0"/>
                <a:sym typeface="+mn-ea"/>
              </a:rPr>
              <a:t>WHERE</a:t>
            </a:r>
            <a:r>
              <a:rPr lang="zh-CN" altLang="en-US" sz="2800" dirty="0">
                <a:solidFill>
                  <a:srgbClr val="1F2DA8"/>
                </a:solidFill>
                <a:cs typeface="Times New Roman" panose="02020503050405090304" pitchFamily="2" charset="0"/>
                <a:sym typeface="+mn-ea"/>
              </a:rPr>
              <a:t>子句中的条件定义顺序也无关</a:t>
            </a:r>
            <a:endParaRPr lang="en-US" altLang="zh-CN" sz="2800" dirty="0"/>
          </a:p>
        </p:txBody>
      </p:sp>
      <p:grpSp>
        <p:nvGrpSpPr>
          <p:cNvPr id="7" name="组合 6"/>
          <p:cNvGrpSpPr/>
          <p:nvPr/>
        </p:nvGrpSpPr>
        <p:grpSpPr>
          <a:xfrm>
            <a:off x="424180" y="1673225"/>
            <a:ext cx="11343005" cy="1201420"/>
            <a:chOff x="668" y="3598"/>
            <a:chExt cx="17863" cy="1892"/>
          </a:xfrm>
        </p:grpSpPr>
        <p:sp>
          <p:nvSpPr>
            <p:cNvPr id="31748" name="Rectangle 3"/>
            <p:cNvSpPr>
              <a:spLocks noGrp="1"/>
            </p:cNvSpPr>
            <p:nvPr/>
          </p:nvSpPr>
          <p:spPr>
            <a:xfrm>
              <a:off x="2847" y="3598"/>
              <a:ext cx="15684" cy="1892"/>
            </a:xfrm>
            <a:prstGeom prst="rect">
              <a:avLst/>
            </a:prstGeom>
            <a:solidFill>
              <a:schemeClr val="accent3">
                <a:lumMod val="20000"/>
                <a:lumOff val="80000"/>
              </a:schemeClr>
            </a:solidFill>
            <a:ln w="9525">
              <a:noFill/>
              <a:miter/>
            </a:ln>
          </p:spPr>
          <p:txBody>
            <a:bodyPr wrap="square" lIns="90170" tIns="46990" rIns="90170" bIns="46990" anchor="t">
              <a:spAutoFit/>
            </a:bodyPr>
            <a:lstStyle>
              <a:lvl1pPr marL="342900" lvl="0" indent="-342900" algn="l" defTabSz="914400" eaLnBrk="0" fontAlgn="base" latinLnBrk="0" hangingPunct="0">
                <a:lnSpc>
                  <a:spcPct val="100000"/>
                </a:lnSpc>
                <a:spcBef>
                  <a:spcPts val="1000"/>
                </a:spcBef>
                <a:spcAft>
                  <a:spcPts val="0"/>
                </a:spcAft>
                <a:buClr>
                  <a:srgbClr val="A34A50"/>
                </a:buClr>
                <a:buSzPct val="85000"/>
                <a:buFont typeface="Wingdings" panose="05000000000000000000" pitchFamily="2" charset="2"/>
                <a:buChar char="q"/>
                <a:defRPr sz="2400" b="1" u="none" kern="1200" baseline="0">
                  <a:solidFill>
                    <a:srgbClr val="FF0000"/>
                  </a:solidFill>
                  <a:latin typeface="Times New Roman" panose="02020503050405090304" pitchFamily="2" charset="0"/>
                  <a:ea typeface="楷体" charset="-122"/>
                  <a:cs typeface="+mn-cs"/>
                </a:defRPr>
              </a:lvl1pPr>
              <a:lvl2pPr marL="742950" lvl="1" indent="-285750" algn="l" defTabSz="914400" eaLnBrk="0" fontAlgn="base" latinLnBrk="0" hangingPunct="0">
                <a:lnSpc>
                  <a:spcPct val="100000"/>
                </a:lnSpc>
                <a:spcBef>
                  <a:spcPts val="0"/>
                </a:spcBef>
                <a:spcAft>
                  <a:spcPts val="0"/>
                </a:spcAft>
                <a:buClr>
                  <a:srgbClr val="A34A50"/>
                </a:buClr>
                <a:buSzPct val="85000"/>
                <a:buFont typeface="Wingdings" panose="05000000000000000000" charset="0"/>
                <a:buChar char="Ø"/>
                <a:defRPr sz="2400" b="1" u="none" kern="1200" baseline="0">
                  <a:solidFill>
                    <a:schemeClr val="accent2"/>
                  </a:solidFill>
                  <a:latin typeface="Times New Roman" panose="02020503050405090304" pitchFamily="2" charset="0"/>
                  <a:ea typeface="楷体" charset="-122"/>
                  <a:cs typeface="+mn-cs"/>
                </a:defRPr>
              </a:lvl2pPr>
              <a:lvl3pPr marL="1143000" lvl="2" indent="-228600" algn="l" defTabSz="914400" eaLnBrk="0" fontAlgn="base" latinLnBrk="0" hangingPunct="0">
                <a:lnSpc>
                  <a:spcPct val="100000"/>
                </a:lnSpc>
                <a:spcBef>
                  <a:spcPts val="0"/>
                </a:spcBef>
                <a:spcAft>
                  <a:spcPts val="0"/>
                </a:spcAft>
                <a:buClr>
                  <a:srgbClr val="A34A50"/>
                </a:buClr>
                <a:buSzPct val="85000"/>
                <a:buFont typeface="Wingdings" panose="05000000000000000000" pitchFamily="2" charset="2"/>
                <a:buChar char="§"/>
                <a:defRPr sz="2400" b="1" u="none" kern="1200" baseline="0">
                  <a:solidFill>
                    <a:schemeClr val="tx2"/>
                  </a:solidFill>
                  <a:latin typeface="Times New Roman" panose="02020503050405090304" pitchFamily="2" charset="0"/>
                  <a:ea typeface="楷体" charset="-122"/>
                  <a:cs typeface="+mn-cs"/>
                </a:defRPr>
              </a:lvl3pPr>
              <a:lvl4pPr marL="1600200" lvl="3" indent="-228600" algn="l" defTabSz="914400" eaLnBrk="0" fontAlgn="base" latinLnBrk="0" hangingPunct="0">
                <a:lnSpc>
                  <a:spcPct val="100000"/>
                </a:lnSpc>
                <a:spcBef>
                  <a:spcPts val="0"/>
                </a:spcBef>
                <a:spcAft>
                  <a:spcPts val="0"/>
                </a:spcAft>
                <a:buClr>
                  <a:srgbClr val="A34A50"/>
                </a:buClr>
                <a:buSzPct val="85000"/>
                <a:buFont typeface="Arial" panose="020B0604020202090204" pitchFamily="34" charset="0"/>
                <a:buChar char="•"/>
                <a:defRPr sz="2400" b="1" u="none" kern="1200" baseline="0">
                  <a:solidFill>
                    <a:schemeClr val="accent2"/>
                  </a:solidFill>
                  <a:latin typeface="Times New Roman" panose="02020503050405090304" pitchFamily="2" charset="0"/>
                  <a:ea typeface="楷体" charset="-122"/>
                  <a:cs typeface="+mn-cs"/>
                </a:defRPr>
              </a:lvl4pPr>
              <a:lvl5pPr marL="2057400" lvl="4" indent="-228600" algn="l" defTabSz="914400" eaLnBrk="0" fontAlgn="base" latinLnBrk="0" hangingPunct="0">
                <a:lnSpc>
                  <a:spcPct val="100000"/>
                </a:lnSpc>
                <a:spcBef>
                  <a:spcPts val="0"/>
                </a:spcBef>
                <a:spcAft>
                  <a:spcPts val="0"/>
                </a:spcAft>
                <a:buClr>
                  <a:srgbClr val="A34A50"/>
                </a:buClr>
                <a:buSzPct val="85000"/>
                <a:buFont typeface="Arial" panose="020B0604020202090204" pitchFamily="34" charset="0"/>
                <a:buChar char="•"/>
                <a:defRPr sz="2400" b="1" u="none" kern="1200" baseline="0">
                  <a:solidFill>
                    <a:schemeClr val="tx2"/>
                  </a:solidFill>
                  <a:latin typeface="Times New Roman" panose="02020503050405090304" pitchFamily="2" charset="0"/>
                  <a:ea typeface="楷体" charset="-122"/>
                  <a:cs typeface="+mn-cs"/>
                </a:defRPr>
              </a:lvl5pPr>
              <a:lvl6pPr marL="2514600" lvl="5"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
                <a:defRPr sz="2400" b="1" u="none" kern="1200" baseline="0">
                  <a:solidFill>
                    <a:schemeClr val="tx2"/>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
                <a:defRPr sz="2400" b="1" u="none" kern="1200" baseline="0">
                  <a:solidFill>
                    <a:schemeClr val="tx2"/>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
                <a:defRPr sz="2400" b="1" u="none" kern="1200" baseline="0">
                  <a:solidFill>
                    <a:schemeClr val="tx2"/>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
                <a:defRPr sz="2400" b="1" u="none" kern="1200" baseline="0">
                  <a:solidFill>
                    <a:schemeClr val="tx2"/>
                  </a:solidFill>
                  <a:latin typeface="+mn-lt"/>
                  <a:ea typeface="+mn-ea"/>
                  <a:cs typeface="+mn-cs"/>
                </a:defRPr>
              </a:lvl9pPr>
            </a:lstStyle>
            <a:p>
              <a:pPr marL="0" lvl="0" indent="0">
                <a:lnSpc>
                  <a:spcPct val="100000"/>
                </a:lnSpc>
                <a:spcBef>
                  <a:spcPts val="0"/>
                </a:spcBef>
                <a:spcAft>
                  <a:spcPts val="0"/>
                </a:spcAft>
                <a:buNone/>
              </a:pPr>
              <a:r>
                <a:rPr lang="en-US" altLang="zh-CN" dirty="0">
                  <a:solidFill>
                    <a:srgbClr val="0000FF"/>
                  </a:solidFill>
                  <a:cs typeface="Times New Roman" panose="02020503050405090304" pitchFamily="2" charset="0"/>
                  <a:sym typeface="+mn-ea"/>
                </a:rPr>
                <a:t>SELECT </a:t>
              </a:r>
              <a:r>
                <a:rPr lang="en-US" altLang="zh-CN" dirty="0" err="1">
                  <a:solidFill>
                    <a:srgbClr val="0000FF"/>
                  </a:solidFill>
                  <a:cs typeface="Times New Roman" panose="02020503050405090304" pitchFamily="2" charset="0"/>
                  <a:sym typeface="+mn-ea"/>
                </a:rPr>
                <a:t>S.Sno</a:t>
              </a:r>
              <a:r>
                <a:rPr lang="zh-CN" altLang="en-US" dirty="0">
                  <a:solidFill>
                    <a:srgbClr val="0000FF"/>
                  </a:solidFill>
                  <a:cs typeface="Times New Roman" panose="02020503050405090304" pitchFamily="2" charset="0"/>
                  <a:sym typeface="+mn-ea"/>
                </a:rPr>
                <a:t>,</a:t>
              </a:r>
              <a:r>
                <a:rPr lang="en-US" altLang="zh-CN" dirty="0">
                  <a:solidFill>
                    <a:srgbClr val="0000FF"/>
                  </a:solidFill>
                  <a:cs typeface="Times New Roman" panose="02020503050405090304" pitchFamily="2" charset="0"/>
                  <a:sym typeface="+mn-ea"/>
                </a:rPr>
                <a:t> </a:t>
              </a:r>
              <a:r>
                <a:rPr lang="en-US" altLang="zh-CN" dirty="0" err="1">
                  <a:solidFill>
                    <a:srgbClr val="0000FF"/>
                  </a:solidFill>
                  <a:cs typeface="Times New Roman" panose="02020503050405090304" pitchFamily="2" charset="0"/>
                  <a:sym typeface="+mn-ea"/>
                </a:rPr>
                <a:t>S.Sname</a:t>
              </a:r>
              <a:endParaRPr lang="en-US" altLang="zh-CN" dirty="0">
                <a:solidFill>
                  <a:srgbClr val="0000FF"/>
                </a:solidFill>
                <a:ea typeface="楷体" charset="-122"/>
                <a:cs typeface="Times New Roman" panose="02020503050405090304" pitchFamily="2" charset="0"/>
              </a:endParaRPr>
            </a:p>
            <a:p>
              <a:pPr marL="0" lvl="0" indent="0">
                <a:lnSpc>
                  <a:spcPct val="100000"/>
                </a:lnSpc>
                <a:spcBef>
                  <a:spcPts val="0"/>
                </a:spcBef>
                <a:spcAft>
                  <a:spcPts val="0"/>
                </a:spcAft>
                <a:buNone/>
              </a:pPr>
              <a:r>
                <a:rPr lang="en-US" altLang="zh-CN" dirty="0">
                  <a:solidFill>
                    <a:srgbClr val="0000FF"/>
                  </a:solidFill>
                  <a:cs typeface="Times New Roman" panose="02020503050405090304" pitchFamily="2" charset="0"/>
                  <a:sym typeface="+mn-ea"/>
                </a:rPr>
                <a:t>FROM   Student S</a:t>
              </a:r>
              <a:r>
                <a:rPr lang="zh-CN" altLang="en-US" dirty="0">
                  <a:solidFill>
                    <a:srgbClr val="0000FF"/>
                  </a:solidFill>
                  <a:cs typeface="Times New Roman" panose="02020503050405090304" pitchFamily="2" charset="0"/>
                  <a:sym typeface="+mn-ea"/>
                </a:rPr>
                <a:t>,</a:t>
              </a:r>
              <a:r>
                <a:rPr lang="en-US" altLang="zh-CN" dirty="0">
                  <a:solidFill>
                    <a:srgbClr val="0000FF"/>
                  </a:solidFill>
                  <a:cs typeface="Times New Roman" panose="02020503050405090304" pitchFamily="2" charset="0"/>
                  <a:sym typeface="+mn-ea"/>
                </a:rPr>
                <a:t> SC</a:t>
              </a:r>
              <a:r>
                <a:rPr lang="zh-CN" altLang="en-US" dirty="0">
                  <a:solidFill>
                    <a:srgbClr val="0000FF"/>
                  </a:solidFill>
                  <a:cs typeface="Times New Roman" panose="02020503050405090304" pitchFamily="2" charset="0"/>
                  <a:sym typeface="+mn-ea"/>
                </a:rPr>
                <a:t>,</a:t>
              </a:r>
              <a:r>
                <a:rPr lang="en-US" altLang="zh-CN" dirty="0">
                  <a:solidFill>
                    <a:srgbClr val="0000FF"/>
                  </a:solidFill>
                  <a:cs typeface="Times New Roman" panose="02020503050405090304" pitchFamily="2" charset="0"/>
                  <a:sym typeface="+mn-ea"/>
                </a:rPr>
                <a:t> Course C</a:t>
              </a:r>
              <a:endParaRPr lang="en-US" altLang="zh-CN" dirty="0">
                <a:solidFill>
                  <a:srgbClr val="0000FF"/>
                </a:solidFill>
                <a:ea typeface="楷体" charset="-122"/>
                <a:cs typeface="Times New Roman" panose="02020503050405090304" pitchFamily="2" charset="0"/>
              </a:endParaRPr>
            </a:p>
            <a:p>
              <a:pPr marL="0" lvl="0" indent="0">
                <a:lnSpc>
                  <a:spcPct val="100000"/>
                </a:lnSpc>
                <a:spcBef>
                  <a:spcPts val="0"/>
                </a:spcBef>
                <a:spcAft>
                  <a:spcPts val="0"/>
                </a:spcAft>
                <a:buNone/>
              </a:pPr>
              <a:r>
                <a:rPr lang="en-US" altLang="zh-CN" dirty="0">
                  <a:solidFill>
                    <a:srgbClr val="0000FF"/>
                  </a:solidFill>
                  <a:cs typeface="Times New Roman" panose="02020503050405090304" pitchFamily="2" charset="0"/>
                  <a:sym typeface="+mn-ea"/>
                </a:rPr>
                <a:t>WHERE  </a:t>
              </a:r>
              <a:r>
                <a:rPr lang="en-US" altLang="zh-CN" dirty="0" err="1">
                  <a:solidFill>
                    <a:srgbClr val="0000FF"/>
                  </a:solidFill>
                  <a:cs typeface="Times New Roman" panose="02020503050405090304" pitchFamily="2" charset="0"/>
                  <a:sym typeface="+mn-ea"/>
                </a:rPr>
                <a:t>S.Sno</a:t>
              </a:r>
              <a:r>
                <a:rPr lang="en-US" altLang="zh-CN" dirty="0">
                  <a:solidFill>
                    <a:srgbClr val="0000FF"/>
                  </a:solidFill>
                  <a:cs typeface="Times New Roman" panose="02020503050405090304" pitchFamily="2" charset="0"/>
                  <a:sym typeface="+mn-ea"/>
                </a:rPr>
                <a:t>=</a:t>
              </a:r>
              <a:r>
                <a:rPr lang="en-US" altLang="zh-CN" dirty="0" err="1">
                  <a:solidFill>
                    <a:srgbClr val="0000FF"/>
                  </a:solidFill>
                  <a:cs typeface="Times New Roman" panose="02020503050405090304" pitchFamily="2" charset="0"/>
                  <a:sym typeface="+mn-ea"/>
                </a:rPr>
                <a:t>SC.Sno</a:t>
              </a:r>
              <a:r>
                <a:rPr lang="en-US" altLang="zh-CN" dirty="0">
                  <a:solidFill>
                    <a:srgbClr val="0000FF"/>
                  </a:solidFill>
                  <a:cs typeface="Times New Roman" panose="02020503050405090304" pitchFamily="2" charset="0"/>
                  <a:sym typeface="+mn-ea"/>
                </a:rPr>
                <a:t> AND </a:t>
              </a:r>
              <a:r>
                <a:rPr lang="en-US" altLang="zh-CN" dirty="0" err="1">
                  <a:solidFill>
                    <a:srgbClr val="0000FF"/>
                  </a:solidFill>
                  <a:cs typeface="Times New Roman" panose="02020503050405090304" pitchFamily="2" charset="0"/>
                  <a:sym typeface="+mn-ea"/>
                </a:rPr>
                <a:t>SC.Cno</a:t>
              </a:r>
              <a:r>
                <a:rPr lang="en-US" altLang="zh-CN" dirty="0">
                  <a:solidFill>
                    <a:srgbClr val="0000FF"/>
                  </a:solidFill>
                  <a:cs typeface="Times New Roman" panose="02020503050405090304" pitchFamily="2" charset="0"/>
                  <a:sym typeface="+mn-ea"/>
                </a:rPr>
                <a:t>=</a:t>
              </a:r>
              <a:r>
                <a:rPr lang="en-US" altLang="zh-CN" dirty="0" err="1">
                  <a:solidFill>
                    <a:srgbClr val="0000FF"/>
                  </a:solidFill>
                  <a:cs typeface="Times New Roman" panose="02020503050405090304" pitchFamily="2" charset="0"/>
                  <a:sym typeface="+mn-ea"/>
                </a:rPr>
                <a:t>C.Cno</a:t>
              </a:r>
              <a:r>
                <a:rPr lang="en-US" altLang="zh-CN" dirty="0">
                  <a:solidFill>
                    <a:srgbClr val="0000FF"/>
                  </a:solidFill>
                  <a:cs typeface="Times New Roman" panose="02020503050405090304" pitchFamily="2" charset="0"/>
                  <a:sym typeface="+mn-ea"/>
                </a:rPr>
                <a:t> AND </a:t>
              </a:r>
              <a:r>
                <a:rPr lang="en-US" altLang="zh-CN" dirty="0" err="1">
                  <a:solidFill>
                    <a:srgbClr val="0000FF"/>
                  </a:solidFill>
                  <a:cs typeface="Times New Roman" panose="02020503050405090304" pitchFamily="2" charset="0"/>
                  <a:sym typeface="+mn-ea"/>
                </a:rPr>
                <a:t>C.Cname</a:t>
              </a:r>
              <a:r>
                <a:rPr lang="en-US" altLang="zh-CN" dirty="0">
                  <a:solidFill>
                    <a:srgbClr val="0000FF"/>
                  </a:solidFill>
                  <a:cs typeface="Times New Roman" panose="02020503050405090304" pitchFamily="2" charset="0"/>
                  <a:sym typeface="+mn-ea"/>
                </a:rPr>
                <a:t>=</a:t>
              </a:r>
              <a:r>
                <a:rPr lang="zh-CN" altLang="en-US" dirty="0">
                  <a:solidFill>
                    <a:srgbClr val="0000FF"/>
                  </a:solidFill>
                  <a:cs typeface="Times New Roman" panose="02020503050405090304" pitchFamily="2" charset="0"/>
                  <a:sym typeface="+mn-ea"/>
                </a:rPr>
                <a:t>'信息系统'</a:t>
              </a:r>
              <a:r>
                <a:rPr lang="en-US" altLang="zh-CN" dirty="0">
                  <a:solidFill>
                    <a:srgbClr val="0000FF"/>
                  </a:solidFill>
                  <a:cs typeface="Times New Roman" panose="02020503050405090304" pitchFamily="2" charset="0"/>
                  <a:sym typeface="+mn-ea"/>
                </a:rPr>
                <a:t>;</a:t>
              </a:r>
              <a:endParaRPr lang="en-US" altLang="zh-CN" dirty="0">
                <a:solidFill>
                  <a:srgbClr val="0000FF"/>
                </a:solidFill>
                <a:ea typeface="宋体" pitchFamily="2" charset="-122"/>
                <a:cs typeface="Times New Roman" panose="02020503050405090304" pitchFamily="2" charset="0"/>
                <a:sym typeface="+mn-ea"/>
              </a:endParaRPr>
            </a:p>
          </p:txBody>
        </p:sp>
        <p:sp>
          <p:nvSpPr>
            <p:cNvPr id="4" name="文本框 3"/>
            <p:cNvSpPr txBox="1"/>
            <p:nvPr/>
          </p:nvSpPr>
          <p:spPr>
            <a:xfrm>
              <a:off x="668" y="3685"/>
              <a:ext cx="2417" cy="1501"/>
            </a:xfrm>
            <a:prstGeom prst="rect">
              <a:avLst/>
            </a:prstGeom>
            <a:noFill/>
          </p:spPr>
          <p:txBody>
            <a:bodyPr wrap="square" rtlCol="0">
              <a:spAutoFit/>
            </a:bodyPr>
            <a:p>
              <a:pPr marL="285750" indent="-285750">
                <a:buClr>
                  <a:srgbClr val="C00000"/>
                </a:buClr>
                <a:buSzPct val="85000"/>
                <a:buFont typeface="Wingdings" panose="05000000000000000000" charset="0"/>
                <a:buChar char="q"/>
              </a:pPr>
              <a:r>
                <a:rPr lang="zh-CN" altLang="en-US" sz="2800" b="1">
                  <a:solidFill>
                    <a:srgbClr val="1F2DA8"/>
                  </a:solidFill>
                  <a:latin typeface="楷体" charset="-122"/>
                  <a:ea typeface="楷体" charset="-122"/>
                </a:rPr>
                <a:t>连接查询</a:t>
              </a:r>
              <a:endParaRPr lang="zh-CN" altLang="en-US" sz="2800" b="1">
                <a:solidFill>
                  <a:srgbClr val="1F2DA8"/>
                </a:solidFill>
                <a:latin typeface="楷体" charset="-122"/>
                <a:ea typeface="楷体" charset="-122"/>
              </a:endParaRPr>
            </a:p>
          </p:txBody>
        </p:sp>
      </p:grpSp>
      <p:grpSp>
        <p:nvGrpSpPr>
          <p:cNvPr id="8" name="组合 7"/>
          <p:cNvGrpSpPr/>
          <p:nvPr/>
        </p:nvGrpSpPr>
        <p:grpSpPr>
          <a:xfrm>
            <a:off x="424180" y="2886075"/>
            <a:ext cx="11343005" cy="3810000"/>
            <a:chOff x="668" y="4545"/>
            <a:chExt cx="17863" cy="6000"/>
          </a:xfrm>
        </p:grpSpPr>
        <p:sp>
          <p:nvSpPr>
            <p:cNvPr id="32774" name="Text Box 4"/>
            <p:cNvSpPr txBox="1"/>
            <p:nvPr/>
          </p:nvSpPr>
          <p:spPr>
            <a:xfrm>
              <a:off x="2846" y="4545"/>
              <a:ext cx="15685" cy="6000"/>
            </a:xfrm>
            <a:prstGeom prst="rect">
              <a:avLst/>
            </a:prstGeom>
            <a:solidFill>
              <a:schemeClr val="bg1"/>
            </a:solidFill>
            <a:ln w="12700" cap="flat" cmpd="sng">
              <a:solidFill>
                <a:schemeClr val="accent1"/>
              </a:solidFill>
              <a:prstDash val="solid"/>
              <a:miter/>
              <a:headEnd type="none" w="med" len="med"/>
              <a:tailEnd type="none" w="med" len="med"/>
            </a:ln>
          </p:spPr>
          <p:txBody>
            <a:bodyPr wrap="square" lIns="90170" tIns="46990" rIns="90170" bIns="46990" anchor="t">
              <a:spAutoFit/>
            </a:bodyPr>
            <a:p>
              <a:pPr lvl="1">
                <a:lnSpc>
                  <a:spcPct val="100000"/>
                </a:lnSpc>
                <a:spcBef>
                  <a:spcPts val="20"/>
                </a:spcBef>
                <a:spcAft>
                  <a:spcPts val="0"/>
                </a:spcAft>
              </a:pP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FOR </a:t>
              </a:r>
              <a:r>
                <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rPr>
                <a:t>c</a:t>
              </a: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 FROM ROWS 1 TO LAST OF </a:t>
              </a:r>
              <a:r>
                <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sym typeface="+mn-ea"/>
                </a:rPr>
                <a:t>Course</a:t>
              </a:r>
              <a:endPar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sym typeface="+mn-ea"/>
              </a:endParaRPr>
            </a:p>
            <a:p>
              <a:pPr lvl="2">
                <a:lnSpc>
                  <a:spcPct val="100000"/>
                </a:lnSpc>
                <a:spcBef>
                  <a:spcPts val="20"/>
                </a:spcBef>
                <a:spcAft>
                  <a:spcPts val="0"/>
                </a:spcAft>
              </a:pP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if  (c.Cname = </a:t>
              </a:r>
              <a:r>
                <a:rPr lang="zh-CN" altLang="en-US" sz="2400" dirty="0">
                  <a:solidFill>
                    <a:srgbClr val="0000FF"/>
                  </a:solidFill>
                  <a:cs typeface="Times New Roman" panose="02020503050405090304" pitchFamily="2" charset="0"/>
                  <a:sym typeface="+mn-ea"/>
                </a:rPr>
                <a:t>'</a:t>
              </a:r>
              <a:r>
                <a:rPr lang="zh-CN" altLang="en-US" sz="2400" b="1" dirty="0">
                  <a:solidFill>
                    <a:srgbClr val="0000FF"/>
                  </a:solidFill>
                  <a:latin typeface="楷体" charset="-122"/>
                  <a:ea typeface="楷体" charset="-122"/>
                  <a:cs typeface="Times New Roman" panose="02020503050405090304" pitchFamily="2" charset="0"/>
                  <a:sym typeface="+mn-ea"/>
                </a:rPr>
                <a:t>信息系统</a:t>
              </a:r>
              <a:r>
                <a:rPr lang="zh-CN" altLang="en-US" sz="2400" dirty="0">
                  <a:solidFill>
                    <a:srgbClr val="0000FF"/>
                  </a:solidFill>
                  <a:cs typeface="Times New Roman" panose="02020503050405090304" pitchFamily="2" charset="0"/>
                  <a:sym typeface="+mn-ea"/>
                </a:rPr>
                <a:t>'</a:t>
              </a: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  {</a:t>
              </a:r>
              <a:endPar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endParaRPr>
            </a:p>
            <a:p>
              <a:pPr lvl="3" indent="0">
                <a:lnSpc>
                  <a:spcPct val="100000"/>
                </a:lnSpc>
                <a:spcBef>
                  <a:spcPts val="20"/>
                </a:spcBef>
                <a:spcAft>
                  <a:spcPts val="0"/>
                </a:spcAft>
              </a:pP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FOR</a:t>
              </a:r>
              <a:r>
                <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rPr>
                <a:t> sc</a:t>
              </a: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 FROM ROWS 1 TO LAST OF </a:t>
              </a:r>
              <a:r>
                <a:rPr lang="en-US" altLang="zh-CN" sz="2400" b="1" spc="100" dirty="0">
                  <a:solidFill>
                    <a:srgbClr val="FF0000"/>
                  </a:solidFill>
                  <a:uFillTx/>
                  <a:latin typeface="Times New Roman" panose="02020503050405090304" pitchFamily="2" charset="0"/>
                  <a:ea typeface="宋体" pitchFamily="2" charset="-122"/>
                  <a:cs typeface="Times New Roman" panose="02020503050405090304" pitchFamily="2" charset="0"/>
                </a:rPr>
                <a:t>SC</a:t>
              </a:r>
              <a:endParaRPr lang="en-US" altLang="zh-CN" sz="2400" b="1" spc="100" dirty="0">
                <a:solidFill>
                  <a:srgbClr val="0000C8"/>
                </a:solidFill>
                <a:uFillTx/>
                <a:latin typeface="Times New Roman" panose="02020503050405090304" pitchFamily="2" charset="0"/>
                <a:ea typeface="宋体" pitchFamily="2" charset="-122"/>
                <a:cs typeface="Times New Roman" panose="02020503050405090304" pitchFamily="2" charset="0"/>
              </a:endParaRPr>
            </a:p>
            <a:p>
              <a:pPr lvl="4" indent="0">
                <a:lnSpc>
                  <a:spcPct val="100000"/>
                </a:lnSpc>
                <a:spcBef>
                  <a:spcPts val="20"/>
                </a:spcBef>
                <a:spcAft>
                  <a:spcPts val="0"/>
                </a:spcAft>
              </a:pP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sym typeface="+mn-ea"/>
                </a:rPr>
                <a:t>FOR </a:t>
              </a:r>
              <a:r>
                <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sym typeface="+mn-ea"/>
                </a:rPr>
                <a:t>s</a:t>
              </a: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sym typeface="+mn-ea"/>
                </a:rPr>
                <a:t> FROM ROWS 1 TO LAST OF </a:t>
              </a:r>
              <a:r>
                <a:rPr lang="en-US" altLang="zh-CN" sz="2400" b="1" spc="100" dirty="0">
                  <a:solidFill>
                    <a:srgbClr val="FF0000"/>
                  </a:solidFill>
                  <a:uFillTx/>
                  <a:latin typeface="Times New Roman" panose="02020503050405090304" pitchFamily="2" charset="0"/>
                  <a:ea typeface="宋体" pitchFamily="2" charset="-122"/>
                  <a:cs typeface="Times New Roman" panose="02020503050405090304" pitchFamily="2" charset="0"/>
                  <a:sym typeface="+mn-ea"/>
                </a:rPr>
                <a:t>Student</a:t>
              </a:r>
              <a:endPar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sym typeface="+mn-ea"/>
              </a:endParaRPr>
            </a:p>
            <a:p>
              <a:pPr lvl="5" indent="0">
                <a:lnSpc>
                  <a:spcPct val="100000"/>
                </a:lnSpc>
                <a:spcBef>
                  <a:spcPts val="20"/>
                </a:spcBef>
                <a:spcAft>
                  <a:spcPts val="0"/>
                </a:spcAft>
              </a:pPr>
              <a:r>
                <a:rPr lang="en-US" altLang="zh-CN"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if (s.Sno=sc.Sno  and  sc.Cno=c.Cno)</a:t>
              </a:r>
              <a:endParaRPr lang="en-US" altLang="zh-CN" sz="2400" b="1" spc="100" dirty="0">
                <a:solidFill>
                  <a:srgbClr val="0000C8"/>
                </a:solidFill>
                <a:uFillTx/>
                <a:latin typeface="Times New Roman" panose="02020503050405090304" pitchFamily="2" charset="0"/>
                <a:ea typeface="宋体" pitchFamily="2" charset="-122"/>
                <a:cs typeface="Times New Roman" panose="02020503050405090304" pitchFamily="2" charset="0"/>
              </a:endParaRPr>
            </a:p>
            <a:p>
              <a:pPr lvl="5" indent="0">
                <a:lnSpc>
                  <a:spcPct val="100000"/>
                </a:lnSpc>
                <a:spcBef>
                  <a:spcPts val="20"/>
                </a:spcBef>
                <a:spcAft>
                  <a:spcPts val="0"/>
                </a:spcAft>
              </a:pPr>
              <a:r>
                <a:rPr lang="en-US" altLang="zh-CN"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    /* </a:t>
              </a:r>
              <a:r>
                <a:rPr lang="zh-CN" altLang="en-US" sz="2400" b="1" spc="100" dirty="0">
                  <a:solidFill>
                    <a:srgbClr val="0000C8"/>
                  </a:solidFill>
                  <a:uFillTx/>
                  <a:latin typeface="Times New Roman" panose="02020503050405090304" pitchFamily="2" charset="0"/>
                  <a:ea typeface="楷体" charset="-122"/>
                  <a:cs typeface="Times New Roman" panose="02020503050405090304" pitchFamily="2" charset="0"/>
                </a:rPr>
                <a:t>投影产生一条结果元组</a:t>
              </a:r>
              <a:r>
                <a:rPr lang="en-US" altLang="zh-CN"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 */</a:t>
              </a:r>
              <a:r>
                <a:rPr lang="zh-CN" altLang="en-US"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                   </a:t>
              </a:r>
              <a:r>
                <a:rPr lang="en-US" altLang="zh-CN"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a:t>
              </a:r>
              <a:endParaRPr lang="en-US" altLang="zh-CN" sz="2400" b="1" spc="100" dirty="0">
                <a:solidFill>
                  <a:srgbClr val="0000C8"/>
                </a:solidFill>
                <a:uFillTx/>
                <a:latin typeface="Times New Roman" panose="02020503050405090304" pitchFamily="2" charset="0"/>
                <a:ea typeface="宋体" pitchFamily="2" charset="-122"/>
                <a:cs typeface="Times New Roman" panose="02020503050405090304" pitchFamily="2" charset="0"/>
              </a:endParaRPr>
            </a:p>
            <a:p>
              <a:pPr lvl="4" indent="0">
                <a:lnSpc>
                  <a:spcPct val="100000"/>
                </a:lnSpc>
                <a:spcBef>
                  <a:spcPts val="20"/>
                </a:spcBef>
                <a:spcAft>
                  <a:spcPts val="0"/>
                </a:spcAft>
              </a:pP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sym typeface="+mn-ea"/>
                </a:rPr>
                <a:t>END FOR </a:t>
              </a:r>
              <a:r>
                <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sym typeface="+mn-ea"/>
                </a:rPr>
                <a:t>p</a:t>
              </a:r>
              <a:endParaRPr lang="zh-CN" altLang="en-US" sz="2400" b="1" spc="100" dirty="0">
                <a:solidFill>
                  <a:srgbClr val="0000C8"/>
                </a:solidFill>
                <a:uFillTx/>
                <a:latin typeface="Times New Roman" panose="02020503050405090304" pitchFamily="2" charset="0"/>
                <a:ea typeface="宋体" pitchFamily="2" charset="-122"/>
                <a:cs typeface="Times New Roman" panose="02020503050405090304" pitchFamily="2" charset="0"/>
              </a:endParaRPr>
            </a:p>
            <a:p>
              <a:pPr lvl="3" indent="0">
                <a:lnSpc>
                  <a:spcPct val="100000"/>
                </a:lnSpc>
                <a:spcBef>
                  <a:spcPts val="20"/>
                </a:spcBef>
                <a:spcAft>
                  <a:spcPts val="0"/>
                </a:spcAft>
              </a:pP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END FOR </a:t>
              </a:r>
              <a:r>
                <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rPr>
                <a:t>o</a:t>
              </a:r>
              <a:endPar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endParaRPr>
            </a:p>
            <a:p>
              <a:pPr lvl="2" indent="0">
                <a:lnSpc>
                  <a:spcPct val="100000"/>
                </a:lnSpc>
                <a:spcBef>
                  <a:spcPts val="20"/>
                </a:spcBef>
                <a:spcAft>
                  <a:spcPts val="0"/>
                </a:spcAft>
              </a:pPr>
              <a:r>
                <a:rPr lang="en-US" altLang="x-none" sz="2400" b="1" spc="100" dirty="0">
                  <a:solidFill>
                    <a:srgbClr val="0000FF"/>
                  </a:solidFill>
                  <a:uFillTx/>
                  <a:latin typeface="Times New Roman" panose="02020503050405090304" pitchFamily="2" charset="0"/>
                  <a:ea typeface="宋体" pitchFamily="2" charset="-122"/>
                  <a:cs typeface="Times New Roman" panose="02020503050405090304" pitchFamily="2" charset="0"/>
                </a:rPr>
                <a:t>}</a:t>
              </a:r>
              <a:endPar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endParaRPr>
            </a:p>
            <a:p>
              <a:pPr lvl="1">
                <a:lnSpc>
                  <a:spcPct val="100000"/>
                </a:lnSpc>
                <a:spcBef>
                  <a:spcPts val="20"/>
                </a:spcBef>
                <a:spcAft>
                  <a:spcPts val="0"/>
                </a:spcAft>
              </a:pPr>
              <a:r>
                <a:rPr lang="en-US" altLang="x-none" sz="2400" b="1" spc="100" dirty="0">
                  <a:solidFill>
                    <a:srgbClr val="0000C8"/>
                  </a:solidFill>
                  <a:uFillTx/>
                  <a:latin typeface="Times New Roman" panose="02020503050405090304" pitchFamily="2" charset="0"/>
                  <a:ea typeface="宋体" pitchFamily="2" charset="-122"/>
                  <a:cs typeface="Times New Roman" panose="02020503050405090304" pitchFamily="2" charset="0"/>
                </a:rPr>
                <a:t>END FOR </a:t>
              </a:r>
              <a:r>
                <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rPr>
                <a:t>c</a:t>
              </a:r>
              <a:endParaRPr lang="en-US" altLang="x-none" sz="2400" b="1" spc="100" dirty="0">
                <a:solidFill>
                  <a:srgbClr val="FF0000"/>
                </a:solidFill>
                <a:uFillTx/>
                <a:latin typeface="Times New Roman" panose="02020503050405090304" pitchFamily="2" charset="0"/>
                <a:ea typeface="宋体" pitchFamily="2" charset="-122"/>
                <a:cs typeface="Times New Roman" panose="02020503050405090304" pitchFamily="2" charset="0"/>
              </a:endParaRPr>
            </a:p>
          </p:txBody>
        </p:sp>
        <p:sp>
          <p:nvSpPr>
            <p:cNvPr id="6" name="文本框 5"/>
            <p:cNvSpPr txBox="1"/>
            <p:nvPr/>
          </p:nvSpPr>
          <p:spPr>
            <a:xfrm>
              <a:off x="668" y="5647"/>
              <a:ext cx="2180" cy="2179"/>
            </a:xfrm>
            <a:prstGeom prst="rect">
              <a:avLst/>
            </a:prstGeom>
            <a:noFill/>
          </p:spPr>
          <p:txBody>
            <a:bodyPr wrap="square" rtlCol="0">
              <a:spAutoFit/>
            </a:bodyPr>
            <a:p>
              <a:pPr marL="285750" indent="-285750">
                <a:buClr>
                  <a:srgbClr val="C00000"/>
                </a:buClr>
                <a:buSzPct val="85000"/>
                <a:buFont typeface="Wingdings" panose="05000000000000000000" charset="0"/>
                <a:buChar char="q"/>
              </a:pPr>
              <a:r>
                <a:rPr lang="zh-CN" altLang="en-US" sz="2800" b="1">
                  <a:solidFill>
                    <a:srgbClr val="1F2DA8"/>
                  </a:solidFill>
                  <a:latin typeface="楷体" charset="-122"/>
                  <a:ea typeface="楷体" charset="-122"/>
                </a:rPr>
                <a:t>可能执行</a:t>
              </a:r>
              <a:r>
                <a:rPr lang="zh-CN" altLang="en-US" sz="2800" b="1">
                  <a:solidFill>
                    <a:srgbClr val="1F2DA8"/>
                  </a:solidFill>
                  <a:latin typeface="楷体" charset="-122"/>
                  <a:ea typeface="楷体" charset="-122"/>
                </a:rPr>
                <a:t>过程</a:t>
              </a:r>
              <a:endParaRPr lang="zh-CN" altLang="en-US" sz="2800" b="1">
                <a:solidFill>
                  <a:srgbClr val="1F2DA8"/>
                </a:solidFill>
                <a:latin typeface="楷体" charset="-122"/>
                <a:ea typeface="楷体" charset="-122"/>
              </a:endParaRPr>
            </a:p>
          </p:txBody>
        </p:sp>
      </p:gr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dirty="0"/>
              <a:t>带有比较运算符的子查询 </a:t>
            </a:r>
            <a:r>
              <a:rPr lang="en-US" altLang="zh-CN" dirty="0"/>
              <a:t>1</a:t>
            </a:r>
            <a:endParaRPr lang="zh-CN" altLang="en-US" dirty="0"/>
          </a:p>
        </p:txBody>
      </p:sp>
      <p:sp>
        <p:nvSpPr>
          <p:cNvPr id="40963" name="Rectangle 3"/>
          <p:cNvSpPr>
            <a:spLocks noGrp="1" noChangeArrowheads="1"/>
          </p:cNvSpPr>
          <p:nvPr>
            <p:ph idx="1"/>
          </p:nvPr>
        </p:nvSpPr>
        <p:spPr/>
        <p:txBody>
          <a:bodyPr>
            <a:normAutofit/>
          </a:bodyPr>
          <a:lstStyle/>
          <a:p>
            <a:r>
              <a:rPr lang="en-US" altLang="zh-CN" sz="2800" b="1">
                <a:solidFill>
                  <a:srgbClr val="0000C8"/>
                </a:solidFill>
                <a:latin typeface="楷体" charset="-122"/>
                <a:ea typeface="楷体" charset="-122"/>
                <a:cs typeface="楷体" charset="-122"/>
              </a:rPr>
              <a:t> </a:t>
            </a:r>
            <a:r>
              <a:rPr lang="zh-CN" altLang="en-US" sz="2800" b="1">
                <a:solidFill>
                  <a:srgbClr val="0000C8"/>
                </a:solidFill>
                <a:latin typeface="楷体" charset="-122"/>
                <a:ea typeface="楷体" charset="-122"/>
                <a:cs typeface="楷体" charset="-122"/>
              </a:rPr>
              <a:t>当能确切知道内层查询返回单值时，可用比较运算符</a:t>
            </a:r>
            <a:r>
              <a:rPr lang="en-US" altLang="zh-CN" sz="2800" b="1">
                <a:solidFill>
                  <a:srgbClr val="0000C8"/>
                </a:solidFill>
                <a:latin typeface="楷体" charset="-122"/>
                <a:ea typeface="楷体" charset="-122"/>
                <a:cs typeface="楷体" charset="-122"/>
              </a:rPr>
              <a:t>&gt;</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&lt;</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&gt;=</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&lt;=</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a:t>
            </a:r>
            <a:r>
              <a:rPr lang="zh-CN" altLang="en-US" sz="2800" b="1">
                <a:solidFill>
                  <a:srgbClr val="0000C8"/>
                </a:solidFill>
                <a:latin typeface="楷体" charset="-122"/>
                <a:ea typeface="楷体" charset="-122"/>
                <a:cs typeface="楷体" charset="-122"/>
              </a:rPr>
              <a:t>或</a:t>
            </a:r>
            <a:r>
              <a:rPr lang="en-US" altLang="zh-CN" sz="2800" b="1">
                <a:solidFill>
                  <a:srgbClr val="0000C8"/>
                </a:solidFill>
                <a:latin typeface="楷体" charset="-122"/>
                <a:ea typeface="楷体" charset="-122"/>
                <a:cs typeface="楷体" charset="-122"/>
              </a:rPr>
              <a:t>&lt; &gt;</a:t>
            </a:r>
            <a:r>
              <a:rPr lang="zh-CN" altLang="en-US" sz="2800" b="1">
                <a:solidFill>
                  <a:srgbClr val="0000C8"/>
                </a:solidFill>
                <a:latin typeface="楷体" charset="-122"/>
                <a:ea typeface="楷体" charset="-122"/>
                <a:cs typeface="楷体" charset="-122"/>
              </a:rPr>
              <a:t>来代替</a:t>
            </a:r>
            <a:r>
              <a:rPr lang="en-US" altLang="zh-CN" sz="2800" b="1">
                <a:solidFill>
                  <a:srgbClr val="0000C8"/>
                </a:solidFill>
                <a:latin typeface="楷体" charset="-122"/>
                <a:ea typeface="楷体" charset="-122"/>
                <a:cs typeface="楷体" charset="-122"/>
              </a:rPr>
              <a:t>IN</a:t>
            </a:r>
            <a:r>
              <a:rPr lang="zh-CN" altLang="en-US" sz="2800" b="1">
                <a:solidFill>
                  <a:srgbClr val="0000C8"/>
                </a:solidFill>
                <a:latin typeface="楷体" charset="-122"/>
                <a:ea typeface="楷体" charset="-122"/>
                <a:cs typeface="楷体" charset="-122"/>
              </a:rPr>
              <a:t>谓词</a:t>
            </a:r>
            <a:r>
              <a:rPr lang="zh-CN" altLang="en-US" sz="2800" b="1">
                <a:solidFill>
                  <a:srgbClr val="0000C8"/>
                </a:solidFill>
                <a:latin typeface="楷体" charset="-122"/>
                <a:ea typeface="楷体" charset="-122"/>
                <a:cs typeface="楷体" charset="-122"/>
                <a:sym typeface="+mn-ea"/>
              </a:rPr>
              <a:t>。（但该用法不是通用的！</a:t>
            </a:r>
            <a:r>
              <a:rPr lang="zh-CN" altLang="en-US" sz="2800" b="1">
                <a:solidFill>
                  <a:srgbClr val="0000C8"/>
                </a:solidFill>
                <a:latin typeface="楷体" charset="-122"/>
                <a:ea typeface="楷体" charset="-122"/>
                <a:cs typeface="楷体" charset="-122"/>
              </a:rPr>
              <a:t>）</a:t>
            </a:r>
            <a:endParaRPr lang="zh-CN" altLang="en-US" sz="2800" b="1">
              <a:solidFill>
                <a:srgbClr val="0000C8"/>
              </a:solidFill>
              <a:latin typeface="楷体" charset="-122"/>
              <a:ea typeface="楷体" charset="-122"/>
              <a:cs typeface="楷体" charset="-122"/>
            </a:endParaRPr>
          </a:p>
          <a:p>
            <a:r>
              <a:rPr lang="zh-CN" altLang="en-US" sz="2800" b="1">
                <a:solidFill>
                  <a:srgbClr val="0000C8"/>
                </a:solidFill>
                <a:latin typeface="楷体" charset="-122"/>
                <a:ea typeface="楷体" charset="-122"/>
                <a:cs typeface="楷体" charset="-122"/>
              </a:rPr>
              <a:t>在</a:t>
            </a:r>
            <a:r>
              <a:rPr lang="en-US" altLang="zh-CN" sz="2800" b="1">
                <a:solidFill>
                  <a:srgbClr val="0000C8"/>
                </a:solidFill>
                <a:latin typeface="楷体" charset="-122"/>
                <a:ea typeface="楷体" charset="-122"/>
                <a:cs typeface="楷体" charset="-122"/>
              </a:rPr>
              <a:t>[</a:t>
            </a:r>
            <a:r>
              <a:rPr lang="zh-CN" altLang="en-US" sz="2800" b="1">
                <a:solidFill>
                  <a:srgbClr val="0000C8"/>
                </a:solidFill>
                <a:latin typeface="楷体" charset="-122"/>
                <a:ea typeface="楷体" charset="-122"/>
                <a:cs typeface="楷体" charset="-122"/>
              </a:rPr>
              <a:t>例</a:t>
            </a:r>
            <a:r>
              <a:rPr lang="en-US" altLang="zh-CN" sz="2800" b="1">
                <a:solidFill>
                  <a:srgbClr val="0000C8"/>
                </a:solidFill>
                <a:latin typeface="楷体" charset="-122"/>
                <a:ea typeface="楷体" charset="-122"/>
                <a:cs typeface="楷体" charset="-122"/>
              </a:rPr>
              <a:t>3.55]</a:t>
            </a:r>
            <a:r>
              <a:rPr lang="zh-CN" altLang="en-US" sz="2800" b="1">
                <a:solidFill>
                  <a:srgbClr val="0000C8"/>
                </a:solidFill>
                <a:latin typeface="楷体" charset="-122"/>
                <a:ea typeface="楷体" charset="-122"/>
                <a:cs typeface="楷体" charset="-122"/>
              </a:rPr>
              <a:t>中，由于一个学生只可能在一个系学习，则可以用 </a:t>
            </a:r>
            <a:r>
              <a:rPr lang="en-US" altLang="zh-CN" sz="2800" b="1">
                <a:solidFill>
                  <a:srgbClr val="0000C8"/>
                </a:solidFill>
                <a:latin typeface="楷体" charset="-122"/>
                <a:ea typeface="楷体" charset="-122"/>
                <a:cs typeface="楷体" charset="-122"/>
              </a:rPr>
              <a:t>= </a:t>
            </a:r>
            <a:r>
              <a:rPr lang="zh-CN" altLang="en-US" sz="2800" b="1">
                <a:solidFill>
                  <a:srgbClr val="0000C8"/>
                </a:solidFill>
                <a:latin typeface="楷体" charset="-122"/>
                <a:ea typeface="楷体" charset="-122"/>
                <a:cs typeface="楷体" charset="-122"/>
              </a:rPr>
              <a:t>代替</a:t>
            </a:r>
            <a:r>
              <a:rPr lang="en-US" altLang="zh-CN" sz="2800" b="1">
                <a:solidFill>
                  <a:srgbClr val="0000C8"/>
                </a:solidFill>
                <a:latin typeface="楷体" charset="-122"/>
                <a:ea typeface="楷体" charset="-122"/>
                <a:cs typeface="楷体" charset="-122"/>
              </a:rPr>
              <a:t>IN </a:t>
            </a:r>
            <a:r>
              <a:rPr lang="zh-CN" altLang="en-US" sz="2800" b="1">
                <a:solidFill>
                  <a:srgbClr val="0000C8"/>
                </a:solidFill>
                <a:latin typeface="楷体" charset="-122"/>
                <a:ea typeface="楷体" charset="-122"/>
                <a:cs typeface="楷体" charset="-122"/>
              </a:rPr>
              <a:t>：</a:t>
            </a:r>
            <a:endParaRPr lang="zh-CN" altLang="en-US" sz="2800" b="1">
              <a:solidFill>
                <a:srgbClr val="0000C8"/>
              </a:solidFill>
              <a:latin typeface="楷体" charset="-122"/>
              <a:ea typeface="楷体" charset="-122"/>
              <a:cs typeface="楷体" charset="-122"/>
            </a:endParaRPr>
          </a:p>
          <a:p>
            <a:pPr marL="821055" lvl="2" indent="0">
              <a:lnSpc>
                <a:spcPct val="110000"/>
              </a:lnSpc>
              <a:spcBef>
                <a:spcPts val="1000"/>
              </a:spcBef>
              <a:buNone/>
            </a:pPr>
            <a:r>
              <a:rPr lang="en-US" altLang="zh-CN" sz="2800" b="1">
                <a:solidFill>
                  <a:srgbClr val="0000C8"/>
                </a:solidFill>
                <a:latin typeface="楷体" charset="-122"/>
                <a:ea typeface="楷体" charset="-122"/>
                <a:cs typeface="楷体" charset="-122"/>
              </a:rPr>
              <a:t>SELECT Sno</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Sname</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Sdept</a:t>
            </a:r>
            <a:endParaRPr lang="en-US" altLang="zh-CN" sz="2800" b="1">
              <a:solidFill>
                <a:srgbClr val="0000C8"/>
              </a:solidFill>
              <a:latin typeface="楷体" charset="-122"/>
              <a:ea typeface="楷体" charset="-122"/>
              <a:cs typeface="楷体" charset="-122"/>
            </a:endParaRPr>
          </a:p>
          <a:p>
            <a:pPr marL="821055" lvl="2" indent="0">
              <a:buNone/>
            </a:pPr>
            <a:r>
              <a:rPr lang="en-US" altLang="zh-CN" sz="2800" b="1">
                <a:solidFill>
                  <a:srgbClr val="0000C8"/>
                </a:solidFill>
                <a:latin typeface="楷体" charset="-122"/>
                <a:ea typeface="楷体" charset="-122"/>
                <a:cs typeface="楷体" charset="-122"/>
              </a:rPr>
              <a:t>FROM    Student</a:t>
            </a:r>
            <a:endParaRPr lang="en-US" altLang="zh-CN" sz="2800" b="1">
              <a:solidFill>
                <a:srgbClr val="0000C8"/>
              </a:solidFill>
              <a:latin typeface="楷体" charset="-122"/>
              <a:ea typeface="楷体" charset="-122"/>
              <a:cs typeface="楷体" charset="-122"/>
            </a:endParaRPr>
          </a:p>
          <a:p>
            <a:pPr marL="821055" lvl="2" indent="0">
              <a:buNone/>
            </a:pPr>
            <a:r>
              <a:rPr lang="en-US" altLang="zh-CN" sz="2800" b="1">
                <a:solidFill>
                  <a:srgbClr val="0000C8"/>
                </a:solidFill>
                <a:latin typeface="楷体" charset="-122"/>
                <a:ea typeface="楷体" charset="-122"/>
                <a:cs typeface="楷体" charset="-122"/>
              </a:rPr>
              <a:t>WHERE Sdept = </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SELECT Sdept</a:t>
            </a:r>
            <a:endParaRPr lang="en-US" altLang="zh-CN" sz="2800" b="1">
              <a:solidFill>
                <a:srgbClr val="0000C8"/>
              </a:solidFill>
              <a:latin typeface="楷体" charset="-122"/>
              <a:ea typeface="楷体" charset="-122"/>
              <a:cs typeface="楷体" charset="-122"/>
            </a:endParaRPr>
          </a:p>
          <a:p>
            <a:pPr marL="3564255" lvl="8" indent="0">
              <a:buNone/>
            </a:pPr>
            <a:r>
              <a:rPr lang="en-US" altLang="zh-CN" sz="2800" b="1">
                <a:solidFill>
                  <a:srgbClr val="0000C8"/>
                </a:solidFill>
                <a:latin typeface="楷体" charset="-122"/>
                <a:ea typeface="楷体" charset="-122"/>
                <a:cs typeface="楷体" charset="-122"/>
              </a:rPr>
              <a:t>FROM   Student</a:t>
            </a:r>
            <a:endParaRPr lang="en-US" altLang="zh-CN" sz="2800" b="1">
              <a:solidFill>
                <a:srgbClr val="0000C8"/>
              </a:solidFill>
              <a:latin typeface="楷体" charset="-122"/>
              <a:ea typeface="楷体" charset="-122"/>
              <a:cs typeface="楷体" charset="-122"/>
            </a:endParaRPr>
          </a:p>
          <a:p>
            <a:pPr marL="3564255" lvl="8" indent="0">
              <a:buNone/>
            </a:pPr>
            <a:r>
              <a:rPr lang="en-US" altLang="zh-CN" sz="2800" b="1">
                <a:solidFill>
                  <a:srgbClr val="0000C8"/>
                </a:solidFill>
                <a:latin typeface="楷体" charset="-122"/>
                <a:ea typeface="楷体" charset="-122"/>
                <a:cs typeface="楷体" charset="-122"/>
              </a:rPr>
              <a:t>WHERE  Sname = </a:t>
            </a:r>
            <a:r>
              <a:rPr lang="zh-CN" altLang="en-US" sz="2800" b="1">
                <a:solidFill>
                  <a:srgbClr val="0000C8"/>
                </a:solidFill>
                <a:latin typeface="楷体" charset="-122"/>
                <a:ea typeface="楷体" charset="-122"/>
                <a:cs typeface="楷体" charset="-122"/>
              </a:rPr>
              <a:t>'刘晨');</a:t>
            </a:r>
            <a:endParaRPr lang="zh-CN" altLang="en-US" sz="2800" b="1" dirty="0">
              <a:solidFill>
                <a:srgbClr val="0000C8"/>
              </a:solidFill>
              <a:latin typeface="楷体" charset="-122"/>
              <a:ea typeface="楷体" charset="-122"/>
              <a:cs typeface="楷体" charset="-122"/>
            </a:endParaRPr>
          </a:p>
        </p:txBody>
      </p:sp>
      <p:sp>
        <p:nvSpPr>
          <p:cNvPr id="3" name="文本框 2"/>
          <p:cNvSpPr txBox="1"/>
          <p:nvPr/>
        </p:nvSpPr>
        <p:spPr>
          <a:xfrm>
            <a:off x="424815" y="5476875"/>
            <a:ext cx="11342370" cy="953135"/>
          </a:xfrm>
          <a:prstGeom prst="rect">
            <a:avLst/>
          </a:prstGeom>
          <a:noFill/>
        </p:spPr>
        <p:txBody>
          <a:bodyPr wrap="square" rtlCol="0">
            <a:spAutoFit/>
          </a:bodyPr>
          <a:p>
            <a:pPr marL="457200" indent="-457200">
              <a:buClr>
                <a:srgbClr val="C00000"/>
              </a:buClr>
              <a:buSzPct val="85000"/>
              <a:buFont typeface="Wingdings" panose="05000000000000000000" charset="0"/>
              <a:buChar char="q"/>
            </a:pPr>
            <a:r>
              <a:rPr lang="zh-CN" altLang="en-US" sz="2800" b="1">
                <a:solidFill>
                  <a:srgbClr val="C00000"/>
                </a:solidFill>
                <a:latin typeface="楷体" charset="-122"/>
                <a:ea typeface="楷体" charset="-122"/>
                <a:cs typeface="楷体" charset="-122"/>
              </a:rPr>
              <a:t>说明：由于姓名</a:t>
            </a:r>
            <a:r>
              <a:rPr lang="en-US" altLang="zh-CN" sz="2800" b="1">
                <a:solidFill>
                  <a:srgbClr val="C00000"/>
                </a:solidFill>
                <a:latin typeface="楷体" charset="-122"/>
                <a:ea typeface="楷体" charset="-122"/>
                <a:cs typeface="楷体" charset="-122"/>
              </a:rPr>
              <a:t>Sname</a:t>
            </a:r>
            <a:r>
              <a:rPr lang="zh-CN" altLang="en-US" sz="2800" b="1">
                <a:solidFill>
                  <a:srgbClr val="C00000"/>
                </a:solidFill>
                <a:latin typeface="楷体" charset="-122"/>
                <a:ea typeface="楷体" charset="-122"/>
                <a:cs typeface="楷体" charset="-122"/>
              </a:rPr>
              <a:t>不是学生表</a:t>
            </a:r>
            <a:r>
              <a:rPr lang="en-US" altLang="zh-CN" sz="2800" b="1">
                <a:solidFill>
                  <a:srgbClr val="C00000"/>
                </a:solidFill>
                <a:latin typeface="楷体" charset="-122"/>
                <a:ea typeface="楷体" charset="-122"/>
                <a:cs typeface="楷体" charset="-122"/>
              </a:rPr>
              <a:t>Student</a:t>
            </a:r>
            <a:r>
              <a:rPr lang="zh-CN" altLang="en-US" sz="2800" b="1">
                <a:solidFill>
                  <a:srgbClr val="C00000"/>
                </a:solidFill>
                <a:latin typeface="楷体" charset="-122"/>
                <a:ea typeface="楷体" charset="-122"/>
                <a:cs typeface="楷体" charset="-122"/>
              </a:rPr>
              <a:t>的码，并不能保证此子查询一定返回单值，所以要慎用列与子查询之间的直接比较！</a:t>
            </a:r>
            <a:endParaRPr lang="zh-CN" altLang="en-US" sz="2800" b="1">
              <a:solidFill>
                <a:srgbClr val="C00000"/>
              </a:solidFill>
              <a:latin typeface="楷体" charset="-122"/>
              <a:ea typeface="楷体" charset="-122"/>
              <a:cs typeface="楷体" charset="-122"/>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Effect transition="in" filter="blinds(horizontal)">
                                      <p:cBhvr>
                                        <p:cTn id="7" dur="500"/>
                                        <p:tgtEl>
                                          <p:spTgt spid="4096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963">
                                            <p:txEl>
                                              <p:pRg st="2" end="2"/>
                                            </p:txEl>
                                          </p:spTgt>
                                        </p:tgtEl>
                                        <p:attrNameLst>
                                          <p:attrName>style.visibility</p:attrName>
                                        </p:attrNameLst>
                                      </p:cBhvr>
                                      <p:to>
                                        <p:strVal val="visible"/>
                                      </p:to>
                                    </p:set>
                                    <p:animEffect transition="in" filter="blinds(horizontal)">
                                      <p:cBhvr>
                                        <p:cTn id="10" dur="500"/>
                                        <p:tgtEl>
                                          <p:spTgt spid="4096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0963">
                                            <p:txEl>
                                              <p:pRg st="3" end="3"/>
                                            </p:txEl>
                                          </p:spTgt>
                                        </p:tgtEl>
                                        <p:attrNameLst>
                                          <p:attrName>style.visibility</p:attrName>
                                        </p:attrNameLst>
                                      </p:cBhvr>
                                      <p:to>
                                        <p:strVal val="visible"/>
                                      </p:to>
                                    </p:set>
                                    <p:animEffect transition="in" filter="blinds(horizontal)">
                                      <p:cBhvr>
                                        <p:cTn id="13" dur="500"/>
                                        <p:tgtEl>
                                          <p:spTgt spid="4096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0963">
                                            <p:txEl>
                                              <p:pRg st="4" end="4"/>
                                            </p:txEl>
                                          </p:spTgt>
                                        </p:tgtEl>
                                        <p:attrNameLst>
                                          <p:attrName>style.visibility</p:attrName>
                                        </p:attrNameLst>
                                      </p:cBhvr>
                                      <p:to>
                                        <p:strVal val="visible"/>
                                      </p:to>
                                    </p:set>
                                    <p:animEffect transition="in" filter="blinds(horizontal)">
                                      <p:cBhvr>
                                        <p:cTn id="16" dur="500"/>
                                        <p:tgtEl>
                                          <p:spTgt spid="4096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0963">
                                            <p:txEl>
                                              <p:pRg st="5" end="5"/>
                                            </p:txEl>
                                          </p:spTgt>
                                        </p:tgtEl>
                                        <p:attrNameLst>
                                          <p:attrName>style.visibility</p:attrName>
                                        </p:attrNameLst>
                                      </p:cBhvr>
                                      <p:to>
                                        <p:strVal val="visible"/>
                                      </p:to>
                                    </p:set>
                                    <p:animEffect transition="in" filter="blinds(horizontal)">
                                      <p:cBhvr>
                                        <p:cTn id="19" dur="500"/>
                                        <p:tgtEl>
                                          <p:spTgt spid="4096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0963">
                                            <p:txEl>
                                              <p:pRg st="6" end="6"/>
                                            </p:txEl>
                                          </p:spTgt>
                                        </p:tgtEl>
                                        <p:attrNameLst>
                                          <p:attrName>style.visibility</p:attrName>
                                        </p:attrNameLst>
                                      </p:cBhvr>
                                      <p:to>
                                        <p:strVal val="visible"/>
                                      </p:to>
                                    </p:set>
                                    <p:animEffect transition="in" filter="blinds(horizontal)">
                                      <p:cBhvr>
                                        <p:cTn id="22" dur="500"/>
                                        <p:tgtEl>
                                          <p:spTgt spid="4096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en-US" dirty="0"/>
              <a:t>带有比较运算符的子查询 </a:t>
            </a:r>
            <a:r>
              <a:rPr lang="en-US" altLang="zh-CN" dirty="0"/>
              <a:t>2</a:t>
            </a:r>
            <a:endParaRPr lang="zh-CN" altLang="en-US" dirty="0"/>
          </a:p>
        </p:txBody>
      </p:sp>
      <p:sp>
        <p:nvSpPr>
          <p:cNvPr id="41987" name="Rectangle 3"/>
          <p:cNvSpPr>
            <a:spLocks noGrp="1" noChangeArrowheads="1"/>
          </p:cNvSpPr>
          <p:nvPr>
            <p:ph idx="1"/>
          </p:nvPr>
        </p:nvSpPr>
        <p:spPr/>
        <p:txBody>
          <a:bodyPr>
            <a:normAutofit/>
          </a:bodyPr>
          <a:lstStyle/>
          <a:p>
            <a:r>
              <a:rPr lang="en-US" altLang="zh-CN" dirty="0"/>
              <a:t>[</a:t>
            </a:r>
            <a:r>
              <a:rPr lang="zh-CN" altLang="en-US" dirty="0"/>
              <a:t>例</a:t>
            </a:r>
            <a:r>
              <a:rPr lang="en-US" altLang="zh-CN" dirty="0"/>
              <a:t>3.57]</a:t>
            </a:r>
            <a:r>
              <a:rPr lang="zh-CN" altLang="en-US" dirty="0"/>
              <a:t>找出每个学生超过他选修课程平均成绩的课程号。</a:t>
            </a:r>
            <a:endParaRPr lang="zh-CN" altLang="en-US" dirty="0"/>
          </a:p>
          <a:p>
            <a:pPr marL="727075" lvl="2" indent="0">
              <a:lnSpc>
                <a:spcPct val="110000"/>
              </a:lnSpc>
              <a:spcBef>
                <a:spcPts val="2000"/>
              </a:spcBef>
              <a:buNone/>
            </a:pPr>
            <a:r>
              <a:rPr lang="en-US" altLang="zh-CN" dirty="0"/>
              <a:t>SELECT  </a:t>
            </a:r>
            <a:r>
              <a:rPr lang="en-US" altLang="zh-CN" dirty="0" err="1"/>
              <a:t>Sno</a:t>
            </a:r>
            <a:r>
              <a:rPr lang="zh-CN" altLang="en-US" dirty="0"/>
              <a:t>, </a:t>
            </a:r>
            <a:r>
              <a:rPr lang="en-US" altLang="zh-CN" dirty="0" err="1"/>
              <a:t>Cno</a:t>
            </a:r>
            <a:endParaRPr lang="en-US" altLang="zh-CN" dirty="0"/>
          </a:p>
          <a:p>
            <a:pPr marL="727075" lvl="2" indent="0">
              <a:buNone/>
            </a:pPr>
            <a:r>
              <a:rPr lang="en-US" altLang="zh-CN" dirty="0"/>
              <a:t>FROM    </a:t>
            </a:r>
            <a:r>
              <a:rPr lang="en-US" altLang="zh-CN" dirty="0">
                <a:solidFill>
                  <a:srgbClr val="FF0000"/>
                </a:solidFill>
              </a:rPr>
              <a:t>SC</a:t>
            </a:r>
            <a:r>
              <a:rPr lang="en-US" altLang="zh-CN" dirty="0"/>
              <a:t>  </a:t>
            </a:r>
            <a:r>
              <a:rPr lang="en-US" altLang="zh-CN" dirty="0">
                <a:solidFill>
                  <a:srgbClr val="FF0000"/>
                </a:solidFill>
              </a:rPr>
              <a:t>x</a:t>
            </a:r>
            <a:endParaRPr lang="en-US" altLang="zh-CN" dirty="0">
              <a:solidFill>
                <a:srgbClr val="FF0000"/>
              </a:solidFill>
            </a:endParaRPr>
          </a:p>
          <a:p>
            <a:pPr marL="727075" lvl="2" indent="0">
              <a:buNone/>
            </a:pPr>
            <a:r>
              <a:rPr lang="en-US" altLang="zh-CN" dirty="0"/>
              <a:t>WHERE   Grade &gt;= </a:t>
            </a:r>
            <a:r>
              <a:rPr lang="zh-CN" altLang="en-US" dirty="0"/>
              <a:t>(</a:t>
            </a:r>
            <a:r>
              <a:rPr lang="en-US" altLang="zh-CN" dirty="0"/>
              <a:t> SELECT </a:t>
            </a:r>
            <a:r>
              <a:rPr lang="en-US" altLang="zh-CN" dirty="0" err="1"/>
              <a:t>AVG(Grade</a:t>
            </a:r>
            <a:r>
              <a:rPr lang="en-US" altLang="zh-CN" dirty="0"/>
              <a:t>)</a:t>
            </a:r>
            <a:r>
              <a:rPr lang="en-US" altLang="zh-CN" dirty="0"/>
              <a:t> </a:t>
            </a:r>
            <a:endParaRPr lang="en-US" altLang="zh-CN" dirty="0"/>
          </a:p>
          <a:p>
            <a:pPr marL="727075" lvl="2" indent="3418840">
              <a:buNone/>
            </a:pPr>
            <a:r>
              <a:rPr lang="en-US" altLang="zh-CN" dirty="0"/>
              <a:t>FROM   SC y</a:t>
            </a:r>
            <a:endParaRPr lang="en-US" altLang="zh-CN" dirty="0"/>
          </a:p>
          <a:p>
            <a:pPr marL="727075" lvl="2" indent="3418840">
              <a:buNone/>
            </a:pPr>
            <a:r>
              <a:rPr lang="en-US" altLang="zh-CN" dirty="0"/>
              <a:t>WHERE  </a:t>
            </a:r>
            <a:r>
              <a:rPr lang="en-US" altLang="zh-CN" dirty="0" err="1"/>
              <a:t>y.Sno </a:t>
            </a:r>
            <a:r>
              <a:rPr lang="en-US" altLang="zh-CN" dirty="0"/>
              <a:t>= </a:t>
            </a:r>
            <a:r>
              <a:rPr lang="en-US" altLang="zh-CN" dirty="0" err="1">
                <a:solidFill>
                  <a:srgbClr val="FF0000"/>
                </a:solidFill>
              </a:rPr>
              <a:t>x</a:t>
            </a:r>
            <a:r>
              <a:rPr lang="en-US" altLang="zh-CN" dirty="0" err="1"/>
              <a:t>.Sno </a:t>
            </a:r>
            <a:r>
              <a:rPr lang="zh-CN" altLang="en-US" dirty="0"/>
              <a:t>)</a:t>
            </a:r>
            <a:r>
              <a:rPr lang="en-US" altLang="zh-CN" dirty="0"/>
              <a:t>;</a:t>
            </a:r>
            <a:endParaRPr lang="en-US" altLang="zh-CN" dirty="0"/>
          </a:p>
        </p:txBody>
      </p:sp>
      <p:sp>
        <p:nvSpPr>
          <p:cNvPr id="41988" name="AutoShape 4"/>
          <p:cNvSpPr>
            <a:spLocks noChangeArrowheads="1"/>
          </p:cNvSpPr>
          <p:nvPr/>
        </p:nvSpPr>
        <p:spPr bwMode="auto">
          <a:xfrm>
            <a:off x="8822690" y="1663065"/>
            <a:ext cx="2308860" cy="791845"/>
          </a:xfrm>
          <a:prstGeom prst="wedgeRoundRectCallout">
            <a:avLst>
              <a:gd name="adj1" fmla="val -84417"/>
              <a:gd name="adj2" fmla="val 73648"/>
              <a:gd name="adj3" fmla="val 16667"/>
            </a:avLst>
          </a:prstGeom>
          <a:gradFill rotWithShape="1">
            <a:gsLst>
              <a:gs pos="0">
                <a:srgbClr val="CC99FF"/>
              </a:gs>
              <a:gs pos="100000">
                <a:srgbClr val="F4E8FF"/>
              </a:gs>
            </a:gsLst>
            <a:lin ang="5400000" scaled="1"/>
          </a:gradFill>
          <a:ln w="25400">
            <a:solidFill>
              <a:srgbClr val="00CCFF"/>
            </a:solidFill>
            <a:miter lim="800000"/>
          </a:ln>
        </p:spPr>
        <p:txBody>
          <a:bodyPr anchor="ctr"/>
          <a:lstStyle>
            <a:lvl1pPr marL="342900" indent="-342900"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r>
              <a:rPr lang="zh-CN" altLang="en-US" sz="2800" b="1">
                <a:latin typeface="楷体" charset="-122"/>
                <a:ea typeface="楷体" charset="-122"/>
                <a:cs typeface="楷体" charset="-122"/>
              </a:rPr>
              <a:t>相关子查询 </a:t>
            </a:r>
            <a:endParaRPr lang="zh-CN" altLang="en-US" sz="2800" b="1">
              <a:latin typeface="楷体" charset="-122"/>
              <a:ea typeface="楷体" charset="-122"/>
              <a:cs typeface="楷体" charset="-122"/>
            </a:endParaRPr>
          </a:p>
        </p:txBody>
      </p:sp>
      <p:sp>
        <p:nvSpPr>
          <p:cNvPr id="3" name="文本框 2"/>
          <p:cNvSpPr txBox="1"/>
          <p:nvPr/>
        </p:nvSpPr>
        <p:spPr>
          <a:xfrm>
            <a:off x="424180" y="4157980"/>
            <a:ext cx="11342370" cy="2245360"/>
          </a:xfrm>
          <a:prstGeom prst="rect">
            <a:avLst/>
          </a:prstGeom>
          <a:noFill/>
        </p:spPr>
        <p:txBody>
          <a:bodyPr wrap="square" rtlCol="0">
            <a:spAutoFit/>
          </a:bodyPr>
          <a:p>
            <a:pPr marL="457200" indent="-457200">
              <a:buClr>
                <a:srgbClr val="C00000"/>
              </a:buClr>
              <a:buSzPct val="85000"/>
              <a:buFont typeface="Wingdings" panose="05000000000000000000" charset="0"/>
              <a:buChar char="q"/>
            </a:pPr>
            <a:r>
              <a:rPr lang="zh-CN" altLang="en-US" sz="2800" b="1">
                <a:solidFill>
                  <a:srgbClr val="C00000"/>
                </a:solidFill>
                <a:latin typeface="楷体" charset="-122"/>
                <a:ea typeface="楷体" charset="-122"/>
                <a:cs typeface="楷体" charset="-122"/>
              </a:rPr>
              <a:t>说明：</a:t>
            </a:r>
            <a:endParaRPr lang="zh-CN" altLang="en-US" sz="2800" b="1">
              <a:solidFill>
                <a:srgbClr val="C00000"/>
              </a:solidFill>
              <a:latin typeface="楷体" charset="-122"/>
              <a:ea typeface="楷体" charset="-122"/>
              <a:cs typeface="楷体" charset="-122"/>
            </a:endParaRPr>
          </a:p>
          <a:p>
            <a:pPr marL="914400" lvl="1" indent="-457200">
              <a:buClr>
                <a:srgbClr val="C00000"/>
              </a:buClr>
              <a:buSzPct val="85000"/>
              <a:buFont typeface="Wingdings" panose="05000000000000000000" charset="0"/>
              <a:buChar char="Ø"/>
            </a:pPr>
            <a:r>
              <a:rPr lang="zh-CN" altLang="en-US" sz="2800" b="1">
                <a:solidFill>
                  <a:srgbClr val="0000C8"/>
                </a:solidFill>
                <a:latin typeface="楷体" charset="-122"/>
                <a:ea typeface="楷体" charset="-122"/>
                <a:cs typeface="楷体" charset="-122"/>
              </a:rPr>
              <a:t>在本例中，子查询肯定只返回一个统计结果（单值），可放心直接比较；</a:t>
            </a:r>
            <a:endParaRPr lang="zh-CN" altLang="en-US" sz="2800" b="1">
              <a:solidFill>
                <a:srgbClr val="0000C8"/>
              </a:solidFill>
              <a:latin typeface="楷体" charset="-122"/>
              <a:ea typeface="楷体" charset="-122"/>
              <a:cs typeface="楷体" charset="-122"/>
            </a:endParaRPr>
          </a:p>
          <a:p>
            <a:pPr marL="914400" lvl="1" indent="-457200">
              <a:buClr>
                <a:srgbClr val="C00000"/>
              </a:buClr>
              <a:buSzPct val="85000"/>
              <a:buFont typeface="Wingdings" panose="05000000000000000000" charset="0"/>
              <a:buChar char="Ø"/>
            </a:pPr>
            <a:r>
              <a:rPr lang="zh-CN" altLang="en-US" sz="2800" b="1">
                <a:solidFill>
                  <a:srgbClr val="0000C8"/>
                </a:solidFill>
                <a:latin typeface="楷体" charset="-122"/>
                <a:ea typeface="楷体" charset="-122"/>
                <a:cs typeface="楷体" charset="-122"/>
              </a:rPr>
              <a:t>即使子查询仅返回单值，也不是所有数据库系统都支持这种类型的表示方式，建议使用</a:t>
            </a:r>
            <a:r>
              <a:rPr lang="en-US" altLang="zh-CN" sz="2800" b="1">
                <a:solidFill>
                  <a:srgbClr val="0000C8"/>
                </a:solidFill>
                <a:latin typeface="楷体" charset="-122"/>
                <a:ea typeface="楷体" charset="-122"/>
                <a:cs typeface="楷体" charset="-122"/>
              </a:rPr>
              <a:t>IN</a:t>
            </a:r>
            <a:r>
              <a:rPr lang="zh-CN" altLang="en-US" sz="2800" b="1">
                <a:solidFill>
                  <a:srgbClr val="0000C8"/>
                </a:solidFill>
                <a:latin typeface="楷体" charset="-122"/>
                <a:ea typeface="楷体" charset="-122"/>
                <a:cs typeface="楷体" charset="-122"/>
              </a:rPr>
              <a:t>或带有</a:t>
            </a:r>
            <a:r>
              <a:rPr lang="en-US" altLang="zh-CN" sz="2800" b="1">
                <a:solidFill>
                  <a:srgbClr val="0000C8"/>
                </a:solidFill>
                <a:latin typeface="楷体" charset="-122"/>
                <a:ea typeface="楷体" charset="-122"/>
                <a:cs typeface="楷体" charset="-122"/>
              </a:rPr>
              <a:t>SOME</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ANY</a:t>
            </a:r>
            <a:r>
              <a:rPr lang="zh-CN" altLang="en-US" sz="2800" b="1">
                <a:solidFill>
                  <a:srgbClr val="0000C8"/>
                </a:solidFill>
                <a:latin typeface="楷体" charset="-122"/>
                <a:ea typeface="楷体" charset="-122"/>
                <a:cs typeface="楷体" charset="-122"/>
              </a:rPr>
              <a:t>、</a:t>
            </a:r>
            <a:r>
              <a:rPr lang="en-US" altLang="zh-CN" sz="2800" b="1">
                <a:solidFill>
                  <a:srgbClr val="0000C8"/>
                </a:solidFill>
                <a:latin typeface="楷体" charset="-122"/>
                <a:ea typeface="楷体" charset="-122"/>
                <a:cs typeface="楷体" charset="-122"/>
              </a:rPr>
              <a:t>ALL</a:t>
            </a:r>
            <a:r>
              <a:rPr lang="zh-CN" altLang="en-US" sz="2800" b="1">
                <a:solidFill>
                  <a:srgbClr val="0000C8"/>
                </a:solidFill>
                <a:latin typeface="楷体" charset="-122"/>
                <a:ea typeface="楷体" charset="-122"/>
                <a:cs typeface="楷体" charset="-122"/>
              </a:rPr>
              <a:t>量词的量化</a:t>
            </a:r>
            <a:r>
              <a:rPr lang="zh-CN" altLang="en-US" sz="2800" b="1">
                <a:solidFill>
                  <a:srgbClr val="0000C8"/>
                </a:solidFill>
                <a:latin typeface="楷体" charset="-122"/>
                <a:ea typeface="楷体" charset="-122"/>
                <a:cs typeface="楷体" charset="-122"/>
              </a:rPr>
              <a:t>比较！</a:t>
            </a:r>
            <a:endParaRPr lang="zh-CN" altLang="en-US" sz="2800" b="1">
              <a:solidFill>
                <a:srgbClr val="0000C8"/>
              </a:solidFill>
              <a:latin typeface="楷体" charset="-122"/>
              <a:ea typeface="楷体" charset="-122"/>
              <a:cs typeface="楷体" charset="-122"/>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slide(fromBottom)">
                                      <p:cBhvr>
                                        <p:cTn id="7" dur="500"/>
                                        <p:tgtEl>
                                          <p:spTgt spid="4198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ldLvl="0" animBg="1" autoUpdateAnimBg="0"/>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6"/>
          <p:cNvSpPr>
            <a:spLocks noGrp="1" noChangeArrowheads="1"/>
          </p:cNvSpPr>
          <p:nvPr>
            <p:ph type="title"/>
          </p:nvPr>
        </p:nvSpPr>
        <p:spPr/>
        <p:txBody>
          <a:bodyPr/>
          <a:lstStyle/>
          <a:p>
            <a:r>
              <a:rPr lang="en-US" altLang="zh-CN" dirty="0">
                <a:sym typeface="+mn-ea"/>
              </a:rPr>
              <a:t>[</a:t>
            </a:r>
            <a:r>
              <a:rPr lang="zh-CN" altLang="en-US" dirty="0">
                <a:sym typeface="+mn-ea"/>
              </a:rPr>
              <a:t>例</a:t>
            </a:r>
            <a:r>
              <a:rPr lang="en-US" altLang="zh-CN" dirty="0">
                <a:sym typeface="+mn-ea"/>
              </a:rPr>
              <a:t>3.57] </a:t>
            </a:r>
            <a:r>
              <a:rPr lang="zh-CN" altLang="en-US" dirty="0"/>
              <a:t>可能的执行过程</a:t>
            </a:r>
            <a:endParaRPr lang="zh-CN" altLang="en-US" dirty="0"/>
          </a:p>
        </p:txBody>
      </p:sp>
      <p:sp>
        <p:nvSpPr>
          <p:cNvPr id="43011" name="Rectangle 1027"/>
          <p:cNvSpPr>
            <a:spLocks noGrp="1" noChangeArrowheads="1"/>
          </p:cNvSpPr>
          <p:nvPr>
            <p:ph sz="half" idx="1"/>
          </p:nvPr>
        </p:nvSpPr>
        <p:spPr/>
        <p:txBody>
          <a:bodyPr>
            <a:noAutofit/>
          </a:bodyPr>
          <a:lstStyle/>
          <a:p>
            <a:pPr marL="514350" indent="-514350">
              <a:lnSpc>
                <a:spcPct val="100000"/>
              </a:lnSpc>
              <a:spcBef>
                <a:spcPct val="0"/>
              </a:spcBef>
              <a:buFont typeface="+mj-ea"/>
              <a:buAutoNum type="circleNumDbPlain"/>
            </a:pPr>
            <a:r>
              <a:rPr lang="zh-CN" altLang="en-US" sz="2800" dirty="0"/>
              <a:t>从外层查询中取出</a:t>
            </a:r>
            <a:r>
              <a:rPr lang="en-US" altLang="zh-CN" sz="2800" dirty="0"/>
              <a:t>SC</a:t>
            </a:r>
            <a:r>
              <a:rPr lang="zh-CN" altLang="en-US" sz="2800" dirty="0"/>
              <a:t>的一个元组</a:t>
            </a:r>
            <a:r>
              <a:rPr lang="en-US" altLang="zh-CN" sz="2800" dirty="0"/>
              <a:t>x(201215121,1,92)</a:t>
            </a:r>
            <a:r>
              <a:rPr lang="zh-CN" altLang="en-US" sz="2800" dirty="0"/>
              <a:t>，将元组</a:t>
            </a:r>
            <a:r>
              <a:rPr lang="en-US" altLang="zh-CN" sz="2800" dirty="0"/>
              <a:t>x</a:t>
            </a:r>
            <a:r>
              <a:rPr lang="zh-CN" altLang="en-US" sz="2800" dirty="0"/>
              <a:t>的</a:t>
            </a:r>
            <a:r>
              <a:rPr lang="en-US" altLang="zh-CN" sz="2800" dirty="0" err="1"/>
              <a:t>Sno</a:t>
            </a:r>
            <a:r>
              <a:rPr lang="zh-CN" altLang="en-US" sz="2800" dirty="0"/>
              <a:t>值传送给内层查询（用</a:t>
            </a:r>
            <a:r>
              <a:rPr lang="en-US" altLang="zh-CN" sz="2800" dirty="0"/>
              <a:t>201215121</a:t>
            </a:r>
            <a:r>
              <a:rPr lang="zh-CN" altLang="en-US" sz="2800" dirty="0"/>
              <a:t>代替内层查询中的</a:t>
            </a:r>
            <a:r>
              <a:rPr lang="en-US" altLang="zh-CN" sz="2800" dirty="0"/>
              <a:t>x.Sno)</a:t>
            </a:r>
            <a:endParaRPr lang="zh-CN" altLang="en-US" sz="2800" dirty="0"/>
          </a:p>
          <a:p>
            <a:pPr marL="715645" lvl="2" indent="-330200">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SELECT  AVG</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Grade</a:t>
            </a:r>
            <a:r>
              <a:rPr lang="zh-CN" altLang="en-US" sz="2800" dirty="0">
                <a:solidFill>
                  <a:srgbClr val="C00000"/>
                </a:solidFill>
                <a:latin typeface="Arial" panose="020B0604020202090204" pitchFamily="34" charset="0"/>
                <a:cs typeface="Arial" panose="020B0604020202090204" pitchFamily="34" charset="0"/>
              </a:rPr>
              <a:t>)</a:t>
            </a:r>
            <a:endParaRPr lang="zh-CN" altLang="en-US" sz="2800" dirty="0">
              <a:solidFill>
                <a:srgbClr val="C00000"/>
              </a:solidFill>
              <a:latin typeface="Arial" panose="020B0604020202090204" pitchFamily="34" charset="0"/>
              <a:cs typeface="Arial" panose="020B0604020202090204" pitchFamily="34" charset="0"/>
            </a:endParaRPr>
          </a:p>
          <a:p>
            <a:pPr marL="715645" lvl="2" indent="-330200">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FROM     SC  y</a:t>
            </a:r>
            <a:endParaRPr lang="en-US" altLang="zh-CN" sz="2800" dirty="0">
              <a:solidFill>
                <a:srgbClr val="C00000"/>
              </a:solidFill>
              <a:latin typeface="Arial" panose="020B0604020202090204" pitchFamily="34" charset="0"/>
              <a:cs typeface="Arial" panose="020B0604020202090204" pitchFamily="34" charset="0"/>
            </a:endParaRPr>
          </a:p>
          <a:p>
            <a:pPr marL="715645" lvl="2" indent="-330200">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WHERE  </a:t>
            </a:r>
            <a:r>
              <a:rPr lang="en-US" altLang="zh-CN" sz="2800" dirty="0" err="1">
                <a:solidFill>
                  <a:srgbClr val="C00000"/>
                </a:solidFill>
                <a:latin typeface="Arial" panose="020B0604020202090204" pitchFamily="34" charset="0"/>
                <a:cs typeface="Arial" panose="020B0604020202090204" pitchFamily="34" charset="0"/>
              </a:rPr>
              <a:t>y.Sno</a:t>
            </a:r>
            <a:r>
              <a:rPr lang="en-US" altLang="zh-CN" sz="2800" dirty="0">
                <a:solidFill>
                  <a:srgbClr val="C00000"/>
                </a:solidFill>
                <a:latin typeface="Arial" panose="020B0604020202090204" pitchFamily="34" charset="0"/>
                <a:cs typeface="Arial" panose="020B0604020202090204" pitchFamily="34" charset="0"/>
              </a:rPr>
              <a:t>='201215121</a:t>
            </a:r>
            <a:r>
              <a:rPr lang="en-US" altLang="zh-CN" sz="2800" dirty="0">
                <a:solidFill>
                  <a:srgbClr val="C00000"/>
                </a:solidFill>
                <a:latin typeface="Arial" panose="020B0604020202090204" pitchFamily="34" charset="0"/>
                <a:cs typeface="Arial" panose="020B0604020202090204" pitchFamily="34" charset="0"/>
                <a:sym typeface="+mn-ea"/>
              </a:rPr>
              <a:t>'</a:t>
            </a:r>
            <a:r>
              <a:rPr lang="en-US" altLang="zh-CN" sz="2800" dirty="0">
                <a:solidFill>
                  <a:srgbClr val="C00000"/>
                </a:solidFill>
                <a:latin typeface="Arial" panose="020B0604020202090204" pitchFamily="34" charset="0"/>
                <a:cs typeface="Arial" panose="020B0604020202090204" pitchFamily="34" charset="0"/>
              </a:rPr>
              <a:t>;</a:t>
            </a:r>
            <a:endParaRPr lang="en-US" altLang="zh-CN" sz="2800" dirty="0"/>
          </a:p>
          <a:p>
            <a:pPr marL="514350" lvl="0" indent="-514350" fontAlgn="auto">
              <a:lnSpc>
                <a:spcPct val="100000"/>
              </a:lnSpc>
              <a:spcBef>
                <a:spcPts val="2000"/>
              </a:spcBef>
              <a:buFont typeface="+mj-ea"/>
              <a:buAutoNum type="circleNumDbPlain"/>
            </a:pPr>
            <a:r>
              <a:rPr lang="zh-CN" altLang="en-US" sz="2800" dirty="0"/>
              <a:t>执行</a:t>
            </a:r>
            <a:r>
              <a:rPr lang="zh-CN" altLang="en-US" sz="2800" dirty="0"/>
              <a:t>这个内层查询，得到值</a:t>
            </a:r>
            <a:r>
              <a:rPr lang="en-US" altLang="zh-CN" sz="2800" dirty="0"/>
              <a:t> 88</a:t>
            </a:r>
            <a:endParaRPr lang="zh-CN" altLang="en-US" sz="2800" dirty="0"/>
          </a:p>
          <a:p>
            <a:pPr marL="514350" indent="-514350" fontAlgn="auto">
              <a:lnSpc>
                <a:spcPct val="100000"/>
              </a:lnSpc>
              <a:spcBef>
                <a:spcPts val="2000"/>
              </a:spcBef>
              <a:buFont typeface="+mj-ea"/>
              <a:buAutoNum type="circleNumDbPlain"/>
            </a:pPr>
            <a:r>
              <a:rPr lang="zh-CN" altLang="en-US" sz="2800" dirty="0"/>
              <a:t>用该值代替内层查询，得到外层查询的</a:t>
            </a:r>
            <a:r>
              <a:rPr lang="en-US" altLang="zh-CN" sz="2800" dirty="0"/>
              <a:t>WHERE</a:t>
            </a:r>
            <a:r>
              <a:rPr lang="zh-CN" altLang="en-US" sz="2800" dirty="0"/>
              <a:t>子句：</a:t>
            </a:r>
            <a:endParaRPr lang="zh-CN" altLang="en-US" sz="2800" dirty="0"/>
          </a:p>
          <a:p>
            <a:pPr marL="715645" lvl="2" indent="-308610">
              <a:lnSpc>
                <a:spcPct val="100000"/>
              </a:lnSpc>
              <a:spcBef>
                <a:spcPct val="0"/>
              </a:spcBef>
              <a:buNone/>
            </a:pPr>
            <a:r>
              <a:rPr lang="en-US" altLang="zh-CN" sz="2800" dirty="0">
                <a:latin typeface="Arial" panose="020B0604020202090204" pitchFamily="34" charset="0"/>
                <a:cs typeface="Arial" panose="020B0604020202090204" pitchFamily="34" charset="0"/>
              </a:rPr>
              <a:t>WHERE   Grade &gt;= 88</a:t>
            </a:r>
            <a:r>
              <a:rPr lang="zh-CN" altLang="en-US" sz="2800" dirty="0">
                <a:latin typeface="Arial" panose="020B0604020202090204" pitchFamily="34" charset="0"/>
                <a:cs typeface="Arial" panose="020B0604020202090204" pitchFamily="34" charset="0"/>
              </a:rPr>
              <a:t>;</a:t>
            </a:r>
            <a:endParaRPr lang="zh-CN" altLang="en-US" sz="2800" dirty="0">
              <a:latin typeface="Arial" panose="020B0604020202090204" pitchFamily="34" charset="0"/>
              <a:cs typeface="Arial" panose="020B0604020202090204" pitchFamily="34" charset="0"/>
            </a:endParaRPr>
          </a:p>
        </p:txBody>
      </p:sp>
      <p:sp>
        <p:nvSpPr>
          <p:cNvPr id="2" name="内容占位符 1"/>
          <p:cNvSpPr>
            <a:spLocks noGrp="1"/>
          </p:cNvSpPr>
          <p:nvPr>
            <p:ph sz="half" idx="2"/>
          </p:nvPr>
        </p:nvSpPr>
        <p:spPr/>
        <p:txBody>
          <a:bodyPr>
            <a:noAutofit/>
          </a:bodyPr>
          <a:lstStyle/>
          <a:p>
            <a:pPr marL="514350" lvl="0" indent="-514350">
              <a:lnSpc>
                <a:spcPct val="100000"/>
              </a:lnSpc>
              <a:spcBef>
                <a:spcPct val="0"/>
              </a:spcBef>
              <a:buFont typeface="+mj-ea"/>
              <a:buAutoNum type="circleNumDbPlain" startAt="4"/>
            </a:pPr>
            <a:r>
              <a:rPr lang="zh-CN" altLang="en-US" sz="2800" dirty="0">
                <a:latin typeface="Arial" panose="020B0604020202090204" pitchFamily="34" charset="0"/>
                <a:cs typeface="Arial" panose="020B0604020202090204" pitchFamily="34" charset="0"/>
                <a:sym typeface="+mn-ea"/>
              </a:rPr>
              <a:t>将元组</a:t>
            </a:r>
            <a:r>
              <a:rPr lang="en-US" altLang="zh-CN" sz="2800" dirty="0">
                <a:latin typeface="Arial" panose="020B0604020202090204" pitchFamily="34" charset="0"/>
                <a:cs typeface="Arial" panose="020B0604020202090204" pitchFamily="34" charset="0"/>
                <a:sym typeface="+mn-ea"/>
              </a:rPr>
              <a:t>x</a:t>
            </a:r>
            <a:r>
              <a:rPr lang="zh-CN" altLang="en-US" sz="2800" dirty="0">
                <a:latin typeface="Arial" panose="020B0604020202090204" pitchFamily="34" charset="0"/>
                <a:cs typeface="Arial" panose="020B0604020202090204" pitchFamily="34" charset="0"/>
                <a:sym typeface="+mn-ea"/>
              </a:rPr>
              <a:t>的</a:t>
            </a:r>
            <a:r>
              <a:rPr lang="en-US" altLang="zh-CN" sz="2800" dirty="0">
                <a:latin typeface="Arial" panose="020B0604020202090204" pitchFamily="34" charset="0"/>
                <a:cs typeface="Arial" panose="020B0604020202090204" pitchFamily="34" charset="0"/>
                <a:sym typeface="+mn-ea"/>
              </a:rPr>
              <a:t>Grade</a:t>
            </a:r>
            <a:r>
              <a:rPr lang="zh-CN" altLang="en-US" sz="2800" dirty="0">
                <a:latin typeface="Arial" panose="020B0604020202090204" pitchFamily="34" charset="0"/>
                <a:cs typeface="Arial" panose="020B0604020202090204" pitchFamily="34" charset="0"/>
                <a:sym typeface="+mn-ea"/>
              </a:rPr>
              <a:t>列</a:t>
            </a:r>
            <a:r>
              <a:rPr lang="zh-CN" altLang="en-US" sz="2800" dirty="0">
                <a:latin typeface="Arial" panose="020B0604020202090204" pitchFamily="34" charset="0"/>
                <a:cs typeface="Arial" panose="020B0604020202090204" pitchFamily="34" charset="0"/>
                <a:sym typeface="+mn-ea"/>
              </a:rPr>
              <a:t>值</a:t>
            </a:r>
            <a:r>
              <a:rPr lang="en-US" altLang="zh-CN" sz="2800" dirty="0">
                <a:latin typeface="Arial" panose="020B0604020202090204" pitchFamily="34" charset="0"/>
                <a:cs typeface="Arial" panose="020B0604020202090204" pitchFamily="34" charset="0"/>
                <a:sym typeface="+mn-ea"/>
              </a:rPr>
              <a:t>92</a:t>
            </a:r>
            <a:r>
              <a:rPr lang="zh-CN" altLang="en-US" sz="2800" dirty="0">
                <a:latin typeface="Arial" panose="020B0604020202090204" pitchFamily="34" charset="0"/>
                <a:cs typeface="Arial" panose="020B0604020202090204" pitchFamily="34" charset="0"/>
                <a:sym typeface="+mn-ea"/>
              </a:rPr>
              <a:t>代入上述的条件表达式进行判断。</a:t>
            </a:r>
            <a:endParaRPr lang="zh-CN" altLang="en-US" sz="2800" dirty="0">
              <a:latin typeface="Arial" panose="020B0604020202090204" pitchFamily="34" charset="0"/>
              <a:cs typeface="Arial" panose="020B0604020202090204" pitchFamily="34" charset="0"/>
              <a:sym typeface="+mn-ea"/>
            </a:endParaRPr>
          </a:p>
          <a:p>
            <a:pPr lvl="1">
              <a:lnSpc>
                <a:spcPct val="100000"/>
              </a:lnSpc>
              <a:spcBef>
                <a:spcPct val="0"/>
              </a:spcBef>
            </a:pPr>
            <a:r>
              <a:rPr lang="zh-CN" altLang="en-US" sz="2610" dirty="0">
                <a:latin typeface="Arial" panose="020B0604020202090204" pitchFamily="34" charset="0"/>
                <a:cs typeface="Arial" panose="020B0604020202090204" pitchFamily="34" charset="0"/>
                <a:sym typeface="+mn-ea"/>
              </a:rPr>
              <a:t>条件成立，则按照</a:t>
            </a:r>
            <a:r>
              <a:rPr lang="en-US" altLang="zh-CN" sz="2610" dirty="0">
                <a:latin typeface="Arial" panose="020B0604020202090204" pitchFamily="34" charset="0"/>
                <a:cs typeface="Arial" panose="020B0604020202090204" pitchFamily="34" charset="0"/>
                <a:sym typeface="+mn-ea"/>
              </a:rPr>
              <a:t>SELECT</a:t>
            </a:r>
            <a:r>
              <a:rPr lang="zh-CN" altLang="en-US" sz="2610" dirty="0">
                <a:latin typeface="Arial" panose="020B0604020202090204" pitchFamily="34" charset="0"/>
                <a:cs typeface="Arial" panose="020B0604020202090204" pitchFamily="34" charset="0"/>
                <a:sym typeface="+mn-ea"/>
              </a:rPr>
              <a:t>子句的要求对元组</a:t>
            </a:r>
            <a:r>
              <a:rPr lang="en-US" altLang="zh-CN" sz="2610" dirty="0">
                <a:latin typeface="Arial" panose="020B0604020202090204" pitchFamily="34" charset="0"/>
                <a:cs typeface="Arial" panose="020B0604020202090204" pitchFamily="34" charset="0"/>
                <a:sym typeface="+mn-ea"/>
              </a:rPr>
              <a:t>x</a:t>
            </a:r>
            <a:r>
              <a:rPr lang="zh-CN" altLang="en-US" sz="2610" dirty="0">
                <a:latin typeface="Arial" panose="020B0604020202090204" pitchFamily="34" charset="0"/>
                <a:cs typeface="Arial" panose="020B0604020202090204" pitchFamily="34" charset="0"/>
                <a:sym typeface="+mn-ea"/>
              </a:rPr>
              <a:t>进行投影，得到一条结果元组</a:t>
            </a:r>
            <a:r>
              <a:rPr lang="en-US" altLang="zh-CN" sz="2610" dirty="0">
                <a:latin typeface="Arial" panose="020B0604020202090204" pitchFamily="34" charset="0"/>
                <a:cs typeface="Arial" panose="020B0604020202090204" pitchFamily="34" charset="0"/>
                <a:sym typeface="+mn-ea"/>
              </a:rPr>
              <a:t>(201215121, 1)</a:t>
            </a:r>
            <a:endParaRPr lang="en-US" altLang="zh-CN" sz="2610" dirty="0">
              <a:latin typeface="Arial" panose="020B0604020202090204" pitchFamily="34" charset="0"/>
              <a:cs typeface="Arial" panose="020B0604020202090204" pitchFamily="34" charset="0"/>
              <a:sym typeface="+mn-ea"/>
            </a:endParaRPr>
          </a:p>
          <a:p>
            <a:pPr lvl="1">
              <a:lnSpc>
                <a:spcPct val="100000"/>
              </a:lnSpc>
              <a:spcBef>
                <a:spcPct val="0"/>
              </a:spcBef>
            </a:pPr>
            <a:r>
              <a:rPr lang="zh-CN" altLang="en-US" sz="2610" dirty="0">
                <a:latin typeface="Arial" panose="020B0604020202090204" pitchFamily="34" charset="0"/>
                <a:cs typeface="Arial" panose="020B0604020202090204" pitchFamily="34" charset="0"/>
                <a:sym typeface="+mn-ea"/>
              </a:rPr>
              <a:t>如果条件不成立，则忽略外层查询的当前元组</a:t>
            </a:r>
            <a:r>
              <a:rPr lang="en-US" altLang="zh-CN" sz="2610" dirty="0">
                <a:latin typeface="Arial" panose="020B0604020202090204" pitchFamily="34" charset="0"/>
                <a:cs typeface="Arial" panose="020B0604020202090204" pitchFamily="34" charset="0"/>
                <a:sym typeface="+mn-ea"/>
              </a:rPr>
              <a:t>x</a:t>
            </a:r>
            <a:endParaRPr lang="zh-CN" altLang="en-US" sz="2610" dirty="0"/>
          </a:p>
          <a:p>
            <a:pPr>
              <a:lnSpc>
                <a:spcPct val="100000"/>
              </a:lnSpc>
              <a:spcBef>
                <a:spcPts val="2000"/>
              </a:spcBef>
            </a:pPr>
            <a:r>
              <a:rPr lang="zh-CN" altLang="en-US" sz="2800" dirty="0"/>
              <a:t>不断重复上述步骤①至步骤④的过程，直到外层的</a:t>
            </a:r>
            <a:r>
              <a:rPr lang="en-US" altLang="zh-CN" sz="2800" dirty="0"/>
              <a:t>SC</a:t>
            </a:r>
            <a:r>
              <a:rPr lang="zh-CN" altLang="en-US" sz="2800" dirty="0"/>
              <a:t>元组全部处理完毕。最终的</a:t>
            </a:r>
            <a:r>
              <a:rPr lang="zh-CN" altLang="en-US" sz="2800" dirty="0"/>
              <a:t>查询结果为</a:t>
            </a:r>
            <a:r>
              <a:rPr lang="en-US" altLang="zh-CN" sz="2800" dirty="0"/>
              <a:t>:</a:t>
            </a:r>
            <a:endParaRPr lang="zh-CN" altLang="en-US" sz="2800" dirty="0"/>
          </a:p>
        </p:txBody>
      </p:sp>
      <p:graphicFrame>
        <p:nvGraphicFramePr>
          <p:cNvPr id="4" name="表格 3"/>
          <p:cNvGraphicFramePr/>
          <p:nvPr>
            <p:custDataLst>
              <p:tags r:id="rId1"/>
            </p:custDataLst>
          </p:nvPr>
        </p:nvGraphicFramePr>
        <p:xfrm>
          <a:off x="6878320" y="5022850"/>
          <a:ext cx="4175760" cy="2072640"/>
        </p:xfrm>
        <a:graphic>
          <a:graphicData uri="http://schemas.openxmlformats.org/drawingml/2006/table">
            <a:tbl>
              <a:tblPr firstRow="1" bandRow="1">
                <a:tableStyleId>{5C22544A-7EE6-4342-B048-85BDC9FD1C3A}</a:tableStyleId>
              </a:tblPr>
              <a:tblGrid>
                <a:gridCol w="2087880"/>
                <a:gridCol w="2087880"/>
              </a:tblGrid>
              <a:tr h="381000">
                <a:tc>
                  <a:txBody>
                    <a:bodyPr/>
                    <a:p>
                      <a:pPr algn="ctr">
                        <a:buNone/>
                      </a:pPr>
                      <a:r>
                        <a:rPr lang="en-US" altLang="zh-CN" sz="2400">
                          <a:solidFill>
                            <a:srgbClr val="C00000"/>
                          </a:solidFill>
                        </a:rPr>
                        <a:t>Sno</a:t>
                      </a:r>
                      <a:endParaRPr lang="en-US" altLang="zh-CN" sz="2400">
                        <a:solidFill>
                          <a:srgbClr val="C00000"/>
                        </a:solidFill>
                      </a:endParaRPr>
                    </a:p>
                  </a:txBody>
                  <a:tcPr marT="0" marB="0" anchor="ctr" anchorCtr="0">
                    <a:lnT w="19050" cmpd="sng">
                      <a:solidFill>
                        <a:schemeClr val="tx1"/>
                      </a:solidFill>
                      <a:prstDash val="solid"/>
                    </a:lnT>
                    <a:lnB w="19050" cmpd="sng">
                      <a:solidFill>
                        <a:schemeClr val="tx1"/>
                      </a:solidFill>
                      <a:prstDash val="solid"/>
                    </a:lnB>
                    <a:solidFill>
                      <a:schemeClr val="accent3">
                        <a:lumMod val="20000"/>
                        <a:lumOff val="80000"/>
                      </a:schemeClr>
                    </a:solidFill>
                  </a:tcPr>
                </a:tc>
                <a:tc>
                  <a:txBody>
                    <a:bodyPr/>
                    <a:p>
                      <a:pPr algn="ctr">
                        <a:buNone/>
                      </a:pPr>
                      <a:r>
                        <a:rPr lang="en-US" altLang="zh-CN" sz="2400">
                          <a:solidFill>
                            <a:srgbClr val="C00000"/>
                          </a:solidFill>
                        </a:rPr>
                        <a:t>Cno</a:t>
                      </a:r>
                      <a:endParaRPr lang="en-US" altLang="zh-CN" sz="2400">
                        <a:solidFill>
                          <a:srgbClr val="C00000"/>
                        </a:solidFill>
                      </a:endParaRPr>
                    </a:p>
                  </a:txBody>
                  <a:tcPr marT="0" marB="0" anchor="ctr" anchorCtr="0">
                    <a:lnT w="19050" cmpd="sng">
                      <a:solidFill>
                        <a:schemeClr val="tx1"/>
                      </a:solidFill>
                      <a:prstDash val="solid"/>
                    </a:lnT>
                    <a:lnB w="19050" cmpd="sng">
                      <a:solidFill>
                        <a:schemeClr val="tx1"/>
                      </a:solidFill>
                      <a:prstDash val="solid"/>
                    </a:lnB>
                    <a:solidFill>
                      <a:schemeClr val="accent3">
                        <a:lumMod val="20000"/>
                        <a:lumOff val="80000"/>
                      </a:schemeClr>
                    </a:solidFill>
                  </a:tcPr>
                </a:tc>
              </a:tr>
              <a:tr h="381000">
                <a:tc>
                  <a:txBody>
                    <a:bodyPr/>
                    <a:p>
                      <a:pPr algn="ctr">
                        <a:buNone/>
                      </a:pPr>
                      <a:r>
                        <a:rPr lang="en-US" altLang="zh-CN" sz="2400">
                          <a:solidFill>
                            <a:srgbClr val="0000C8"/>
                          </a:solidFill>
                        </a:rPr>
                        <a:t>201215121</a:t>
                      </a:r>
                      <a:endParaRPr lang="en-US" altLang="zh-CN" sz="2400">
                        <a:solidFill>
                          <a:srgbClr val="0000C8"/>
                        </a:solidFill>
                      </a:endParaRPr>
                    </a:p>
                  </a:txBody>
                  <a:tcPr marT="0" marB="0" anchor="ctr" anchorCtr="0">
                    <a:lnT w="19050" cmpd="sng">
                      <a:solidFill>
                        <a:schemeClr val="tx1"/>
                      </a:solidFill>
                      <a:prstDash val="solid"/>
                    </a:lnT>
                  </a:tcPr>
                </a:tc>
                <a:tc>
                  <a:txBody>
                    <a:bodyPr/>
                    <a:p>
                      <a:pPr algn="ctr">
                        <a:buNone/>
                      </a:pPr>
                      <a:r>
                        <a:rPr lang="en-US" altLang="zh-CN" sz="2400">
                          <a:solidFill>
                            <a:srgbClr val="0000C8"/>
                          </a:solidFill>
                        </a:rPr>
                        <a:t>1</a:t>
                      </a:r>
                      <a:endParaRPr lang="en-US" altLang="zh-CN" sz="2400">
                        <a:solidFill>
                          <a:srgbClr val="0000C8"/>
                        </a:solidFill>
                      </a:endParaRPr>
                    </a:p>
                  </a:txBody>
                  <a:tcPr marT="0" marB="0" anchor="ctr" anchorCtr="0">
                    <a:lnT w="19050" cmpd="sng">
                      <a:solidFill>
                        <a:schemeClr val="tx1"/>
                      </a:solidFill>
                      <a:prstDash val="solid"/>
                    </a:lnT>
                  </a:tcPr>
                </a:tc>
              </a:tr>
              <a:tr h="381000">
                <a:tc>
                  <a:txBody>
                    <a:bodyPr/>
                    <a:p>
                      <a:pPr algn="ctr">
                        <a:buNone/>
                      </a:pPr>
                      <a:r>
                        <a:rPr lang="en-US" altLang="zh-CN" sz="2400">
                          <a:solidFill>
                            <a:srgbClr val="0000C8"/>
                          </a:solidFill>
                          <a:sym typeface="+mn-ea"/>
                        </a:rPr>
                        <a:t>201215121</a:t>
                      </a:r>
                      <a:endParaRPr lang="en-US" altLang="zh-CN" sz="2400">
                        <a:solidFill>
                          <a:srgbClr val="0000C8"/>
                        </a:solidFill>
                        <a:sym typeface="+mn-ea"/>
                      </a:endParaRPr>
                    </a:p>
                  </a:txBody>
                  <a:tcPr marT="0" marB="0" anchor="ctr" anchorCtr="0"/>
                </a:tc>
                <a:tc>
                  <a:txBody>
                    <a:bodyPr/>
                    <a:p>
                      <a:pPr algn="ctr">
                        <a:buNone/>
                      </a:pPr>
                      <a:r>
                        <a:rPr lang="en-US" altLang="zh-CN" sz="2400">
                          <a:solidFill>
                            <a:srgbClr val="0000C8"/>
                          </a:solidFill>
                        </a:rPr>
                        <a:t>3</a:t>
                      </a:r>
                      <a:endParaRPr lang="en-US" altLang="zh-CN" sz="2400">
                        <a:solidFill>
                          <a:srgbClr val="0000C8"/>
                        </a:solidFill>
                      </a:endParaRPr>
                    </a:p>
                  </a:txBody>
                  <a:tcPr marT="0" marB="0" anchor="ctr" anchorCtr="0"/>
                </a:tc>
              </a:tr>
              <a:tr h="381000">
                <a:tc>
                  <a:txBody>
                    <a:bodyPr/>
                    <a:p>
                      <a:pPr algn="ctr">
                        <a:buNone/>
                      </a:pPr>
                      <a:r>
                        <a:rPr lang="en-US" altLang="zh-CN" sz="2400">
                          <a:solidFill>
                            <a:srgbClr val="0000C8"/>
                          </a:solidFill>
                          <a:sym typeface="+mn-ea"/>
                        </a:rPr>
                        <a:t>201215122</a:t>
                      </a:r>
                      <a:endParaRPr lang="en-US" altLang="zh-CN" sz="2400">
                        <a:solidFill>
                          <a:srgbClr val="0000C8"/>
                        </a:solidFill>
                        <a:sym typeface="+mn-ea"/>
                      </a:endParaRPr>
                    </a:p>
                  </a:txBody>
                  <a:tcPr marT="0" marB="0" anchor="ctr" anchorCtr="0">
                    <a:lnB w="19050" cmpd="sng">
                      <a:solidFill>
                        <a:schemeClr val="tx1"/>
                      </a:solidFill>
                      <a:prstDash val="solid"/>
                    </a:lnB>
                  </a:tcPr>
                </a:tc>
                <a:tc>
                  <a:txBody>
                    <a:bodyPr/>
                    <a:p>
                      <a:pPr algn="ctr">
                        <a:buNone/>
                      </a:pPr>
                      <a:r>
                        <a:rPr lang="en-US" altLang="zh-CN" sz="2400">
                          <a:solidFill>
                            <a:srgbClr val="0000C8"/>
                          </a:solidFill>
                        </a:rPr>
                        <a:t>2</a:t>
                      </a:r>
                      <a:endParaRPr lang="en-US" altLang="zh-CN" sz="2400">
                        <a:solidFill>
                          <a:srgbClr val="0000C8"/>
                        </a:solidFill>
                      </a:endParaRPr>
                    </a:p>
                  </a:txBody>
                  <a:tcPr marT="0" marB="0" anchor="ctr" anchorCtr="0">
                    <a:lnB w="19050" cmpd="sng">
                      <a:solidFill>
                        <a:schemeClr val="tx1"/>
                      </a:solidFill>
                      <a:prstDash val="solid"/>
                    </a:lnB>
                  </a:tcPr>
                </a:tc>
              </a:tr>
            </a:tbl>
          </a:graphicData>
        </a:graphic>
      </p:graphicFrame>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blinds(horizontal)">
                                      <p:cBhvr>
                                        <p:cTn id="7" dur="500"/>
                                        <p:tgtEl>
                                          <p:spTgt spid="4301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3011">
                                            <p:txEl>
                                              <p:pRg st="1" end="1"/>
                                            </p:txEl>
                                          </p:spTgt>
                                        </p:tgtEl>
                                        <p:attrNameLst>
                                          <p:attrName>style.visibility</p:attrName>
                                        </p:attrNameLst>
                                      </p:cBhvr>
                                      <p:to>
                                        <p:strVal val="visible"/>
                                      </p:to>
                                    </p:set>
                                    <p:animEffect transition="in" filter="blinds(horizontal)">
                                      <p:cBhvr>
                                        <p:cTn id="10" dur="500"/>
                                        <p:tgtEl>
                                          <p:spTgt spid="4301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3011">
                                            <p:txEl>
                                              <p:pRg st="2" end="2"/>
                                            </p:txEl>
                                          </p:spTgt>
                                        </p:tgtEl>
                                        <p:attrNameLst>
                                          <p:attrName>style.visibility</p:attrName>
                                        </p:attrNameLst>
                                      </p:cBhvr>
                                      <p:to>
                                        <p:strVal val="visible"/>
                                      </p:to>
                                    </p:set>
                                    <p:animEffect transition="in" filter="blinds(horizontal)">
                                      <p:cBhvr>
                                        <p:cTn id="13" dur="500"/>
                                        <p:tgtEl>
                                          <p:spTgt spid="43011">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3011">
                                            <p:txEl>
                                              <p:pRg st="3" end="3"/>
                                            </p:txEl>
                                          </p:spTgt>
                                        </p:tgtEl>
                                        <p:attrNameLst>
                                          <p:attrName>style.visibility</p:attrName>
                                        </p:attrNameLst>
                                      </p:cBhvr>
                                      <p:to>
                                        <p:strVal val="visible"/>
                                      </p:to>
                                    </p:set>
                                    <p:animEffect transition="in" filter="blinds(horizontal)">
                                      <p:cBhvr>
                                        <p:cTn id="16" dur="500"/>
                                        <p:tgtEl>
                                          <p:spTgt spid="43011">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3011">
                                            <p:txEl>
                                              <p:pRg st="4" end="4"/>
                                            </p:txEl>
                                          </p:spTgt>
                                        </p:tgtEl>
                                        <p:attrNameLst>
                                          <p:attrName>style.visibility</p:attrName>
                                        </p:attrNameLst>
                                      </p:cBhvr>
                                      <p:to>
                                        <p:strVal val="visible"/>
                                      </p:to>
                                    </p:set>
                                    <p:animEffect transition="in" filter="blinds(horizontal)">
                                      <p:cBhvr>
                                        <p:cTn id="21" dur="500"/>
                                        <p:tgtEl>
                                          <p:spTgt spid="4301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43011">
                                            <p:txEl>
                                              <p:pRg st="5" end="5"/>
                                            </p:txEl>
                                          </p:spTgt>
                                        </p:tgtEl>
                                        <p:attrNameLst>
                                          <p:attrName>style.visibility</p:attrName>
                                        </p:attrNameLst>
                                      </p:cBhvr>
                                      <p:to>
                                        <p:strVal val="visible"/>
                                      </p:to>
                                    </p:set>
                                    <p:animEffect transition="in" filter="blinds(horizontal)">
                                      <p:cBhvr>
                                        <p:cTn id="26" dur="500"/>
                                        <p:tgtEl>
                                          <p:spTgt spid="43011">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43011">
                                            <p:txEl>
                                              <p:pRg st="6" end="6"/>
                                            </p:txEl>
                                          </p:spTgt>
                                        </p:tgtEl>
                                        <p:attrNameLst>
                                          <p:attrName>style.visibility</p:attrName>
                                        </p:attrNameLst>
                                      </p:cBhvr>
                                      <p:to>
                                        <p:strVal val="visible"/>
                                      </p:to>
                                    </p:set>
                                    <p:animEffect transition="in" filter="blinds(horizontal)">
                                      <p:cBhvr>
                                        <p:cTn id="29" dur="500"/>
                                        <p:tgtEl>
                                          <p:spTgt spid="43011">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
                                            <p:txEl>
                                              <p:pRg st="0" end="0"/>
                                            </p:txEl>
                                          </p:spTgt>
                                        </p:tgtEl>
                                        <p:attrNameLst>
                                          <p:attrName>style.visibility</p:attrName>
                                        </p:attrNameLst>
                                      </p:cBhvr>
                                      <p:to>
                                        <p:strVal val="visible"/>
                                      </p:to>
                                    </p:set>
                                    <p:animEffect transition="in" filter="blinds(horizontal)">
                                      <p:cBhvr>
                                        <p:cTn id="34" dur="500"/>
                                        <p:tgtEl>
                                          <p:spTgt spid="2">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
                                            <p:txEl>
                                              <p:pRg st="1" end="1"/>
                                            </p:txEl>
                                          </p:spTgt>
                                        </p:tgtEl>
                                        <p:attrNameLst>
                                          <p:attrName>style.visibility</p:attrName>
                                        </p:attrNameLst>
                                      </p:cBhvr>
                                      <p:to>
                                        <p:strVal val="visible"/>
                                      </p:to>
                                    </p:set>
                                    <p:animEffect transition="in" filter="blinds(horizontal)">
                                      <p:cBhvr>
                                        <p:cTn id="39" dur="500"/>
                                        <p:tgtEl>
                                          <p:spTgt spid="2">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
                                            <p:txEl>
                                              <p:pRg st="2" end="2"/>
                                            </p:txEl>
                                          </p:spTgt>
                                        </p:tgtEl>
                                        <p:attrNameLst>
                                          <p:attrName>style.visibility</p:attrName>
                                        </p:attrNameLst>
                                      </p:cBhvr>
                                      <p:to>
                                        <p:strVal val="visible"/>
                                      </p:to>
                                    </p:set>
                                    <p:animEffect transition="in" filter="blinds(horizontal)">
                                      <p:cBhvr>
                                        <p:cTn id="44" dur="500"/>
                                        <p:tgtEl>
                                          <p:spTgt spid="2">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
                                            <p:txEl>
                                              <p:pRg st="3" end="3"/>
                                            </p:txEl>
                                          </p:spTgt>
                                        </p:tgtEl>
                                        <p:attrNameLst>
                                          <p:attrName>style.visibility</p:attrName>
                                        </p:attrNameLst>
                                      </p:cBhvr>
                                      <p:to>
                                        <p:strVal val="visible"/>
                                      </p:to>
                                    </p:set>
                                    <p:animEffect transition="in" filter="blinds(horizontal)">
                                      <p:cBhvr>
                                        <p:cTn id="4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2"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fontScale="90000"/>
          </a:bodyPr>
          <a:lstStyle/>
          <a:p>
            <a:r>
              <a:rPr lang="zh-CN" altLang="en-US" dirty="0"/>
              <a:t>带有</a:t>
            </a:r>
            <a:r>
              <a:rPr lang="en-US" altLang="zh-CN" dirty="0"/>
              <a:t> ANY</a:t>
            </a:r>
            <a:r>
              <a:rPr lang="zh-CN" altLang="en-US" dirty="0"/>
              <a:t>（</a:t>
            </a:r>
            <a:r>
              <a:rPr lang="en-US" altLang="zh-CN" dirty="0"/>
              <a:t>SOME</a:t>
            </a:r>
            <a:r>
              <a:rPr lang="zh-CN" altLang="en-US" dirty="0"/>
              <a:t>）或</a:t>
            </a:r>
            <a:r>
              <a:rPr lang="en-US" altLang="zh-CN" dirty="0"/>
              <a:t> ALL </a:t>
            </a:r>
            <a:r>
              <a:rPr lang="zh-CN" altLang="en-US" dirty="0"/>
              <a:t>谓词的子查询 </a:t>
            </a:r>
            <a:r>
              <a:rPr lang="en-US" altLang="zh-CN" dirty="0"/>
              <a:t>1</a:t>
            </a:r>
            <a:endParaRPr lang="zh-CN" altLang="en-US" dirty="0"/>
          </a:p>
        </p:txBody>
      </p:sp>
      <p:sp>
        <p:nvSpPr>
          <p:cNvPr id="47107" name="Rectangle 3"/>
          <p:cNvSpPr>
            <a:spLocks noGrp="1" noChangeArrowheads="1"/>
          </p:cNvSpPr>
          <p:nvPr>
            <p:ph idx="1"/>
          </p:nvPr>
        </p:nvSpPr>
        <p:spPr/>
        <p:txBody>
          <a:bodyPr>
            <a:noAutofit/>
          </a:bodyPr>
          <a:lstStyle/>
          <a:p>
            <a:pPr>
              <a:lnSpc>
                <a:spcPct val="100000"/>
              </a:lnSpc>
              <a:spcBef>
                <a:spcPct val="0"/>
              </a:spcBef>
            </a:pPr>
            <a:r>
              <a:rPr lang="zh-CN" altLang="en-US" sz="2800" dirty="0"/>
              <a:t>使用</a:t>
            </a:r>
            <a:r>
              <a:rPr lang="en-US" altLang="zh-CN" sz="2800" dirty="0"/>
              <a:t>ANY</a:t>
            </a:r>
            <a:r>
              <a:rPr lang="zh-CN" altLang="en-US" sz="2800" dirty="0"/>
              <a:t>或</a:t>
            </a:r>
            <a:r>
              <a:rPr lang="en-US" altLang="zh-CN" sz="2800" dirty="0"/>
              <a:t>ALL</a:t>
            </a:r>
            <a:r>
              <a:rPr lang="zh-CN" altLang="en-US" sz="2800" dirty="0"/>
              <a:t>谓词时必须同时使用比较运算（</a:t>
            </a:r>
            <a:r>
              <a:rPr lang="en-US" altLang="zh-CN" sz="2800" dirty="0"/>
              <a:t>SOME</a:t>
            </a:r>
            <a:r>
              <a:rPr lang="zh-CN" altLang="en-US" sz="2800" dirty="0"/>
              <a:t>与</a:t>
            </a:r>
            <a:r>
              <a:rPr lang="en-US" altLang="zh-CN" sz="2800" dirty="0"/>
              <a:t>ANY</a:t>
            </a:r>
            <a:r>
              <a:rPr lang="zh-CN" altLang="en-US" sz="2800" dirty="0"/>
              <a:t>是同义词）</a:t>
            </a: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endParaRPr lang="zh-CN" altLang="en-US" sz="2800" dirty="0"/>
          </a:p>
          <a:p>
            <a:pPr>
              <a:lnSpc>
                <a:spcPct val="100000"/>
              </a:lnSpc>
              <a:spcBef>
                <a:spcPct val="0"/>
              </a:spcBef>
            </a:pPr>
            <a:r>
              <a:rPr lang="en-US" altLang="zh-CN" sz="2800" dirty="0">
                <a:latin typeface="Arial" panose="020B0604020202090204" pitchFamily="34" charset="0"/>
                <a:cs typeface="Arial" panose="020B0604020202090204" pitchFamily="34" charset="0"/>
              </a:rPr>
              <a:t>‘ </a:t>
            </a:r>
            <a:r>
              <a:rPr lang="en-US" altLang="zh-CN" sz="2800" dirty="0">
                <a:solidFill>
                  <a:srgbClr val="0000C8"/>
                </a:solidFill>
                <a:latin typeface="Arial" panose="020B0604020202090204" pitchFamily="34" charset="0"/>
                <a:cs typeface="Arial" panose="020B0604020202090204" pitchFamily="34" charset="0"/>
                <a:sym typeface="+mn-ea"/>
              </a:rPr>
              <a:t>= ALL </a:t>
            </a:r>
            <a:r>
              <a:rPr lang="en-US" altLang="zh-CN" sz="2800" dirty="0">
                <a:latin typeface="Arial" panose="020B0604020202090204" pitchFamily="34" charset="0"/>
                <a:cs typeface="Arial" panose="020B0604020202090204" pitchFamily="34" charset="0"/>
              </a:rPr>
              <a:t>’ </a:t>
            </a:r>
            <a:r>
              <a:rPr lang="zh-CN" altLang="en-US" sz="2800" dirty="0">
                <a:latin typeface="Arial" panose="020B0604020202090204" pitchFamily="34" charset="0"/>
                <a:cs typeface="Arial" panose="020B0604020202090204" pitchFamily="34" charset="0"/>
              </a:rPr>
              <a:t>与</a:t>
            </a:r>
            <a:r>
              <a:rPr lang="en-US" altLang="zh-CN" sz="2800" dirty="0">
                <a:latin typeface="Arial" panose="020B0604020202090204" pitchFamily="34" charset="0"/>
                <a:cs typeface="Arial" panose="020B0604020202090204" pitchFamily="34" charset="0"/>
              </a:rPr>
              <a:t> ‘ </a:t>
            </a:r>
            <a:r>
              <a:rPr lang="en-US" altLang="zh-CN" sz="2800" dirty="0">
                <a:solidFill>
                  <a:srgbClr val="0000C8"/>
                </a:solidFill>
                <a:latin typeface="Arial" panose="020B0604020202090204" pitchFamily="34" charset="0"/>
                <a:cs typeface="Arial" panose="020B0604020202090204" pitchFamily="34" charset="0"/>
                <a:sym typeface="+mn-ea"/>
              </a:rPr>
              <a:t>!= ANY </a:t>
            </a:r>
            <a:r>
              <a:rPr lang="en-US" altLang="zh-CN" sz="2800" dirty="0">
                <a:latin typeface="Arial" panose="020B0604020202090204" pitchFamily="34" charset="0"/>
                <a:cs typeface="Arial" panose="020B0604020202090204" pitchFamily="34" charset="0"/>
              </a:rPr>
              <a:t>’ </a:t>
            </a:r>
            <a:r>
              <a:rPr lang="zh-CN" altLang="en-US" sz="2800" dirty="0">
                <a:solidFill>
                  <a:srgbClr val="0000C8"/>
                </a:solidFill>
                <a:latin typeface="Arial" panose="020B0604020202090204" pitchFamily="34" charset="0"/>
                <a:cs typeface="Arial" panose="020B0604020202090204" pitchFamily="34" charset="0"/>
                <a:sym typeface="+mn-ea"/>
              </a:rPr>
              <a:t>通常没有实际使用价值。</a:t>
            </a:r>
            <a:endParaRPr lang="zh-CN" altLang="en-US" sz="2800" dirty="0">
              <a:solidFill>
                <a:srgbClr val="0000C8"/>
              </a:solidFill>
              <a:latin typeface="Arial" panose="020B0604020202090204" pitchFamily="34" charset="0"/>
              <a:cs typeface="Arial" panose="020B0604020202090204" pitchFamily="34" charset="0"/>
              <a:sym typeface="+mn-ea"/>
            </a:endParaRPr>
          </a:p>
        </p:txBody>
      </p:sp>
      <p:graphicFrame>
        <p:nvGraphicFramePr>
          <p:cNvPr id="4" name="表格 3"/>
          <p:cNvGraphicFramePr/>
          <p:nvPr>
            <p:custDataLst>
              <p:tags r:id="rId1"/>
            </p:custDataLst>
          </p:nvPr>
        </p:nvGraphicFramePr>
        <p:xfrm>
          <a:off x="424180" y="1281430"/>
          <a:ext cx="11343005" cy="4277360"/>
        </p:xfrm>
        <a:graphic>
          <a:graphicData uri="http://schemas.openxmlformats.org/drawingml/2006/table">
            <a:tbl>
              <a:tblPr firstRow="1" bandRow="1">
                <a:tableStyleId>{5C22544A-7EE6-4342-B048-85BDC9FD1C3A}</a:tableStyleId>
              </a:tblPr>
              <a:tblGrid>
                <a:gridCol w="1259840"/>
                <a:gridCol w="4401185"/>
                <a:gridCol w="1270000"/>
                <a:gridCol w="4411980"/>
              </a:tblGrid>
              <a:tr h="534670">
                <a:tc>
                  <a:txBody>
                    <a:bodyPr/>
                    <a:p>
                      <a:pPr algn="ctr">
                        <a:buNone/>
                      </a:pPr>
                      <a:r>
                        <a:rPr lang="zh-CN" altLang="en-US" sz="2400" b="1">
                          <a:solidFill>
                            <a:srgbClr val="C00000"/>
                          </a:solidFill>
                          <a:latin typeface="Arial" panose="020B0604020202090204" pitchFamily="34" charset="0"/>
                          <a:ea typeface="楷体" charset="-122"/>
                        </a:rPr>
                        <a:t>谓词</a:t>
                      </a:r>
                      <a:endParaRPr lang="zh-CN" altLang="en-US" sz="2400" b="1">
                        <a:solidFill>
                          <a:srgbClr val="C00000"/>
                        </a:solidFill>
                        <a:latin typeface="Arial" panose="020B0604020202090204" pitchFamily="34" charset="0"/>
                        <a:ea typeface="楷体" charset="-122"/>
                      </a:endParaRPr>
                    </a:p>
                  </a:txBody>
                  <a:tcPr marL="36195" marR="36195" anchor="ctr" anchorCtr="0">
                    <a:lnL w="19050" cmpd="sng">
                      <a:solidFill>
                        <a:schemeClr val="tx1"/>
                      </a:solidFill>
                      <a:prstDash val="solid"/>
                    </a:lnL>
                    <a:lnR w="9525" cmpd="sng">
                      <a:solidFill>
                        <a:schemeClr val="tx1"/>
                      </a:solidFill>
                      <a:prstDash val="solid"/>
                    </a:lnR>
                    <a:lnT w="19050" cmpd="sng">
                      <a:solidFill>
                        <a:schemeClr val="tx1"/>
                      </a:solidFill>
                      <a:prstDash val="solid"/>
                    </a:lnT>
                    <a:lnB w="9525" cmpd="sng">
                      <a:solidFill>
                        <a:schemeClr val="tx1"/>
                      </a:solidFill>
                      <a:prstDash val="solid"/>
                    </a:lnB>
                    <a:solidFill>
                      <a:schemeClr val="accent3">
                        <a:lumMod val="20000"/>
                        <a:lumOff val="80000"/>
                      </a:schemeClr>
                    </a:solidFill>
                  </a:tcPr>
                </a:tc>
                <a:tc>
                  <a:txBody>
                    <a:bodyPr/>
                    <a:p>
                      <a:pPr algn="ctr">
                        <a:buNone/>
                      </a:pPr>
                      <a:r>
                        <a:rPr lang="zh-CN" altLang="en-US" sz="2400" b="1">
                          <a:solidFill>
                            <a:srgbClr val="C00000"/>
                          </a:solidFill>
                          <a:latin typeface="Arial" panose="020B0604020202090204" pitchFamily="34" charset="0"/>
                          <a:ea typeface="楷体" charset="-122"/>
                        </a:rPr>
                        <a:t>语义</a:t>
                      </a:r>
                      <a:endParaRPr lang="zh-CN" altLang="en-US" sz="2400" b="1">
                        <a:solidFill>
                          <a:srgbClr val="C00000"/>
                        </a:solidFill>
                        <a:latin typeface="Arial" panose="020B0604020202090204" pitchFamily="34" charset="0"/>
                        <a:ea typeface="楷体" charset="-122"/>
                      </a:endParaRPr>
                    </a:p>
                  </a:txBody>
                  <a:tcPr marL="36195" marR="36195" anchor="ctr" anchorCtr="0">
                    <a:lnL w="9525" cmpd="sng">
                      <a:solidFill>
                        <a:schemeClr val="tx1"/>
                      </a:solidFill>
                      <a:prstDash val="solid"/>
                    </a:lnL>
                    <a:lnR w="9525" cmpd="sng">
                      <a:solidFill>
                        <a:schemeClr val="tx1"/>
                      </a:solidFill>
                      <a:prstDash val="solid"/>
                    </a:lnR>
                    <a:lnT w="19050" cmpd="sng">
                      <a:solidFill>
                        <a:schemeClr val="tx1"/>
                      </a:solidFill>
                      <a:prstDash val="solid"/>
                    </a:lnT>
                    <a:lnB w="9525" cmpd="sng">
                      <a:solidFill>
                        <a:schemeClr val="tx1"/>
                      </a:solidFill>
                      <a:prstDash val="solid"/>
                    </a:lnB>
                    <a:solidFill>
                      <a:schemeClr val="accent3">
                        <a:lumMod val="20000"/>
                        <a:lumOff val="80000"/>
                      </a:schemeClr>
                    </a:solidFill>
                  </a:tcPr>
                </a:tc>
                <a:tc>
                  <a:txBody>
                    <a:bodyPr/>
                    <a:p>
                      <a:pPr algn="ctr">
                        <a:buNone/>
                      </a:pPr>
                      <a:r>
                        <a:rPr lang="zh-CN" altLang="en-US" sz="2400" b="1">
                          <a:solidFill>
                            <a:srgbClr val="C00000"/>
                          </a:solidFill>
                          <a:latin typeface="Arial" panose="020B0604020202090204" pitchFamily="34" charset="0"/>
                          <a:ea typeface="楷体" charset="-122"/>
                        </a:rPr>
                        <a:t>谓词</a:t>
                      </a:r>
                      <a:endParaRPr lang="zh-CN" altLang="en-US" sz="2400" b="1">
                        <a:solidFill>
                          <a:srgbClr val="C00000"/>
                        </a:solidFill>
                        <a:latin typeface="Arial" panose="020B0604020202090204" pitchFamily="34" charset="0"/>
                        <a:ea typeface="楷体" charset="-122"/>
                      </a:endParaRPr>
                    </a:p>
                  </a:txBody>
                  <a:tcPr marL="36195" marR="36195" anchor="ctr" anchorCtr="0">
                    <a:lnL w="9525" cmpd="sng">
                      <a:solidFill>
                        <a:schemeClr val="tx1"/>
                      </a:solidFill>
                      <a:prstDash val="solid"/>
                    </a:lnL>
                    <a:lnR w="9525" cmpd="sng">
                      <a:solidFill>
                        <a:schemeClr val="tx1"/>
                      </a:solidFill>
                      <a:prstDash val="solid"/>
                    </a:lnR>
                    <a:lnT w="19050" cmpd="sng">
                      <a:solidFill>
                        <a:schemeClr val="tx1"/>
                      </a:solidFill>
                      <a:prstDash val="solid"/>
                    </a:lnT>
                    <a:lnB w="9525" cmpd="sng">
                      <a:solidFill>
                        <a:schemeClr val="tx1"/>
                      </a:solidFill>
                      <a:prstDash val="solid"/>
                    </a:lnB>
                    <a:solidFill>
                      <a:schemeClr val="accent3">
                        <a:lumMod val="20000"/>
                        <a:lumOff val="80000"/>
                      </a:schemeClr>
                    </a:solidFill>
                  </a:tcPr>
                </a:tc>
                <a:tc>
                  <a:txBody>
                    <a:bodyPr/>
                    <a:p>
                      <a:pPr algn="ctr">
                        <a:buNone/>
                      </a:pPr>
                      <a:r>
                        <a:rPr lang="zh-CN" altLang="en-US" sz="2400" b="1">
                          <a:solidFill>
                            <a:srgbClr val="C00000"/>
                          </a:solidFill>
                          <a:latin typeface="Arial" panose="020B0604020202090204" pitchFamily="34" charset="0"/>
                          <a:ea typeface="楷体" charset="-122"/>
                        </a:rPr>
                        <a:t>语义</a:t>
                      </a:r>
                      <a:endParaRPr lang="zh-CN" altLang="en-US" sz="2400" b="1">
                        <a:solidFill>
                          <a:srgbClr val="C00000"/>
                        </a:solidFill>
                        <a:latin typeface="Arial" panose="020B0604020202090204" pitchFamily="34" charset="0"/>
                        <a:ea typeface="楷体" charset="-122"/>
                      </a:endParaRPr>
                    </a:p>
                  </a:txBody>
                  <a:tcPr marL="36195" marR="36195" anchor="ctr" anchorCtr="0">
                    <a:lnL w="9525" cmpd="sng">
                      <a:solidFill>
                        <a:schemeClr val="tx1"/>
                      </a:solidFill>
                      <a:prstDash val="solid"/>
                    </a:lnL>
                    <a:lnR w="19050" cmpd="sng">
                      <a:solidFill>
                        <a:schemeClr val="tx1"/>
                      </a:solidFill>
                      <a:prstDash val="solid"/>
                    </a:lnR>
                    <a:lnT w="19050" cmpd="sng">
                      <a:solidFill>
                        <a:schemeClr val="tx1"/>
                      </a:solidFill>
                      <a:prstDash val="solid"/>
                    </a:lnT>
                    <a:lnB w="9525" cmpd="sng">
                      <a:solidFill>
                        <a:schemeClr val="tx1"/>
                      </a:solidFill>
                      <a:prstDash val="solid"/>
                    </a:lnB>
                    <a:solidFill>
                      <a:schemeClr val="accent3">
                        <a:lumMod val="20000"/>
                        <a:lumOff val="80000"/>
                      </a:schemeClr>
                    </a:solidFill>
                  </a:tcPr>
                </a:tc>
              </a:tr>
              <a:tr h="534670">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&gt; ANY</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19050"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p>
                      <a:pPr>
                        <a:buNone/>
                      </a:pPr>
                      <a:r>
                        <a:rPr lang="zh-CN" altLang="en-US" sz="2400" b="1" dirty="0">
                          <a:solidFill>
                            <a:srgbClr val="0000C8"/>
                          </a:solidFill>
                          <a:latin typeface="Arial" panose="020B0604020202090204" pitchFamily="34" charset="0"/>
                          <a:ea typeface="楷体" charset="-122"/>
                          <a:sym typeface="+mn-ea"/>
                        </a:rPr>
                        <a:t>大于子查询结果中的某个值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&gt; ALL</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p>
                      <a:pPr>
                        <a:buNone/>
                      </a:pPr>
                      <a:r>
                        <a:rPr lang="zh-CN" altLang="en-US" sz="2400" b="1" dirty="0">
                          <a:solidFill>
                            <a:srgbClr val="0000C8"/>
                          </a:solidFill>
                          <a:latin typeface="Arial" panose="020B0604020202090204" pitchFamily="34" charset="0"/>
                          <a:ea typeface="楷体" charset="-122"/>
                          <a:sym typeface="+mn-ea"/>
                        </a:rPr>
                        <a:t>大于子查询结果中的所有值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19050" cmpd="sng">
                      <a:solidFill>
                        <a:schemeClr val="tx1"/>
                      </a:solidFill>
                      <a:prstDash val="solid"/>
                    </a:lnR>
                    <a:lnT w="9525" cmpd="sng">
                      <a:solidFill>
                        <a:schemeClr val="tx1"/>
                      </a:solidFill>
                      <a:prstDash val="solid"/>
                    </a:lnT>
                    <a:lnB w="9525" cmpd="sng">
                      <a:solidFill>
                        <a:schemeClr val="tx1"/>
                      </a:solidFill>
                      <a:prstDash val="solid"/>
                    </a:lnB>
                    <a:noFill/>
                  </a:tcPr>
                </a:tc>
              </a:tr>
              <a:tr h="534670">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&lt; ANY</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19050"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c>
                  <a:txBody>
                    <a:bodyPr/>
                    <a:p>
                      <a:pPr>
                        <a:buNone/>
                      </a:pPr>
                      <a:r>
                        <a:rPr lang="zh-CN" altLang="en-US" sz="2400" b="1" dirty="0">
                          <a:solidFill>
                            <a:srgbClr val="0000C8"/>
                          </a:solidFill>
                          <a:latin typeface="Arial" panose="020B0604020202090204" pitchFamily="34" charset="0"/>
                          <a:ea typeface="楷体" charset="-122"/>
                          <a:sym typeface="+mn-ea"/>
                        </a:rPr>
                        <a:t>小于子查询结果中的某个值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&lt; ALL</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c>
                  <a:txBody>
                    <a:bodyPr/>
                    <a:p>
                      <a:pPr>
                        <a:buNone/>
                      </a:pPr>
                      <a:r>
                        <a:rPr lang="zh-CN" altLang="en-US" sz="2400" b="1" dirty="0">
                          <a:solidFill>
                            <a:srgbClr val="0000C8"/>
                          </a:solidFill>
                          <a:latin typeface="Arial" panose="020B0604020202090204" pitchFamily="34" charset="0"/>
                          <a:ea typeface="楷体" charset="-122"/>
                          <a:sym typeface="+mn-ea"/>
                        </a:rPr>
                        <a:t>小于子查询结果中的所有值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19050"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r>
              <a:tr h="534670">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&gt;= ANY</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19050"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p>
                      <a:pPr marL="0" lvl="1">
                        <a:buNone/>
                      </a:pPr>
                      <a:r>
                        <a:rPr lang="zh-CN" altLang="en-US" sz="2400" b="1" dirty="0">
                          <a:solidFill>
                            <a:srgbClr val="0000C8"/>
                          </a:solidFill>
                          <a:latin typeface="Arial" panose="020B0604020202090204" pitchFamily="34" charset="0"/>
                          <a:ea typeface="楷体" charset="-122"/>
                          <a:cs typeface="Arial" panose="020B0604020202090204" pitchFamily="34" charset="0"/>
                          <a:sym typeface="+mn-ea"/>
                        </a:rPr>
                        <a:t>大于等于子查询结果中的某个值</a:t>
                      </a:r>
                      <a:endParaRPr lang="zh-CN" altLang="en-US" sz="2400" b="1" dirty="0">
                        <a:solidFill>
                          <a:srgbClr val="0000C8"/>
                        </a:solidFill>
                        <a:latin typeface="Arial" panose="020B0604020202090204" pitchFamily="34" charset="0"/>
                        <a:ea typeface="楷体" charset="-122"/>
                        <a:cs typeface="Arial" panose="020B0604020202090204" pitchFamily="34" charset="0"/>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&gt;= ALL</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p>
                      <a:pPr>
                        <a:buNone/>
                      </a:pPr>
                      <a:r>
                        <a:rPr lang="zh-CN" altLang="en-US" sz="2400" b="1" dirty="0">
                          <a:solidFill>
                            <a:srgbClr val="0000C8"/>
                          </a:solidFill>
                          <a:latin typeface="Arial" panose="020B0604020202090204" pitchFamily="34" charset="0"/>
                          <a:ea typeface="楷体" charset="-122"/>
                          <a:sym typeface="+mn-ea"/>
                        </a:rPr>
                        <a:t>大于等于子查询结果中的所有值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19050" cmpd="sng">
                      <a:solidFill>
                        <a:schemeClr val="tx1"/>
                      </a:solidFill>
                      <a:prstDash val="solid"/>
                    </a:lnR>
                    <a:lnT w="9525" cmpd="sng">
                      <a:solidFill>
                        <a:schemeClr val="tx1"/>
                      </a:solidFill>
                      <a:prstDash val="solid"/>
                    </a:lnT>
                    <a:lnB w="9525" cmpd="sng">
                      <a:solidFill>
                        <a:schemeClr val="tx1"/>
                      </a:solidFill>
                      <a:prstDash val="solid"/>
                    </a:lnB>
                    <a:noFill/>
                  </a:tcPr>
                </a:tc>
              </a:tr>
              <a:tr h="534670">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&lt;= ANY</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19050"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c>
                  <a:txBody>
                    <a:bodyPr/>
                    <a:p>
                      <a:pPr>
                        <a:buNone/>
                      </a:pPr>
                      <a:r>
                        <a:rPr lang="zh-CN" altLang="en-US" sz="2400" b="1" dirty="0">
                          <a:solidFill>
                            <a:srgbClr val="0000C8"/>
                          </a:solidFill>
                          <a:latin typeface="Arial" panose="020B0604020202090204" pitchFamily="34" charset="0"/>
                          <a:ea typeface="楷体" charset="-122"/>
                          <a:sym typeface="+mn-ea"/>
                        </a:rPr>
                        <a:t>小于等于子查询结果中的某个值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&lt;= ALL</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c>
                  <a:txBody>
                    <a:bodyPr/>
                    <a:p>
                      <a:pPr>
                        <a:buNone/>
                      </a:pPr>
                      <a:r>
                        <a:rPr lang="zh-CN" altLang="en-US" sz="2400" b="1" dirty="0">
                          <a:solidFill>
                            <a:srgbClr val="0000C8"/>
                          </a:solidFill>
                          <a:latin typeface="Arial" panose="020B0604020202090204" pitchFamily="34" charset="0"/>
                          <a:ea typeface="楷体" charset="-122"/>
                          <a:sym typeface="+mn-ea"/>
                        </a:rPr>
                        <a:t>小于等于子查询结果中的所有值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19050"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r>
              <a:tr h="534670">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 ANY</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19050"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p>
                      <a:pPr>
                        <a:buNone/>
                      </a:pPr>
                      <a:r>
                        <a:rPr lang="zh-CN" altLang="en-US" sz="2400" b="1" dirty="0">
                          <a:solidFill>
                            <a:srgbClr val="0000C8"/>
                          </a:solidFill>
                          <a:latin typeface="Arial" panose="020B0604020202090204" pitchFamily="34" charset="0"/>
                          <a:ea typeface="楷体" charset="-122"/>
                          <a:sym typeface="+mn-ea"/>
                        </a:rPr>
                        <a:t>等于子查询结果中的某个值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 ALL</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p>
                      <a:pPr>
                        <a:buNone/>
                      </a:pPr>
                      <a:r>
                        <a:rPr lang="zh-CN" altLang="en-US" sz="2400" b="1" dirty="0">
                          <a:solidFill>
                            <a:srgbClr val="0000C8"/>
                          </a:solidFill>
                          <a:latin typeface="Arial" panose="020B0604020202090204" pitchFamily="34" charset="0"/>
                          <a:ea typeface="楷体" charset="-122"/>
                          <a:sym typeface="+mn-ea"/>
                        </a:rPr>
                        <a:t>等于子查询结果中的所有值（）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19050" cmpd="sng">
                      <a:solidFill>
                        <a:schemeClr val="tx1"/>
                      </a:solidFill>
                      <a:prstDash val="solid"/>
                    </a:lnR>
                    <a:lnT w="9525" cmpd="sng">
                      <a:solidFill>
                        <a:schemeClr val="tx1"/>
                      </a:solidFill>
                      <a:prstDash val="solid"/>
                    </a:lnT>
                    <a:lnB w="9525" cmpd="sng">
                      <a:solidFill>
                        <a:schemeClr val="tx1"/>
                      </a:solidFill>
                      <a:prstDash val="solid"/>
                    </a:lnB>
                    <a:noFill/>
                  </a:tcPr>
                </a:tc>
              </a:tr>
              <a:tr h="534670">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 ANY</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19050"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c rowSpan="2">
                  <a:txBody>
                    <a:bodyPr/>
                    <a:p>
                      <a:pPr>
                        <a:buNone/>
                      </a:pPr>
                      <a:r>
                        <a:rPr lang="zh-CN" altLang="en-US" sz="2400" b="1" dirty="0">
                          <a:solidFill>
                            <a:srgbClr val="0000C8"/>
                          </a:solidFill>
                          <a:latin typeface="Arial" panose="020B0604020202090204" pitchFamily="34" charset="0"/>
                          <a:ea typeface="楷体" charset="-122"/>
                          <a:sym typeface="+mn-ea"/>
                        </a:rPr>
                        <a:t>不等于子查询结果中的某个值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19050" cmpd="sng">
                      <a:solidFill>
                        <a:schemeClr val="tx1"/>
                      </a:solidFill>
                      <a:prstDash val="solid"/>
                    </a:lnB>
                    <a:solidFill>
                      <a:schemeClr val="accent4">
                        <a:lumMod val="20000"/>
                        <a:lumOff val="80000"/>
                        <a:alpha val="50000"/>
                      </a:schemeClr>
                    </a:solidFill>
                  </a:tcPr>
                </a:tc>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 ALL</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4">
                        <a:lumMod val="20000"/>
                        <a:lumOff val="80000"/>
                        <a:alpha val="50000"/>
                      </a:schemeClr>
                    </a:solidFill>
                  </a:tcPr>
                </a:tc>
                <a:tc rowSpan="2">
                  <a:txBody>
                    <a:bodyPr/>
                    <a:p>
                      <a:pPr>
                        <a:buNone/>
                      </a:pPr>
                      <a:r>
                        <a:rPr lang="zh-CN" altLang="en-US" sz="2400" b="1" dirty="0">
                          <a:solidFill>
                            <a:srgbClr val="0000C8"/>
                          </a:solidFill>
                          <a:latin typeface="Arial" panose="020B0604020202090204" pitchFamily="34" charset="0"/>
                          <a:ea typeface="楷体" charset="-122"/>
                          <a:sym typeface="+mn-ea"/>
                        </a:rPr>
                        <a:t>不等于子查询结果中的任何一个值</a:t>
                      </a:r>
                      <a:endParaRPr lang="zh-CN" altLang="en-US" sz="2400" b="1" dirty="0">
                        <a:solidFill>
                          <a:srgbClr val="0000C8"/>
                        </a:solidFill>
                        <a:latin typeface="Arial" panose="020B0604020202090204" pitchFamily="34" charset="0"/>
                        <a:ea typeface="楷体" charset="-122"/>
                        <a:sym typeface="+mn-ea"/>
                      </a:endParaRPr>
                    </a:p>
                  </a:txBody>
                  <a:tcPr marL="36195" marR="36195" anchor="ctr" anchorCtr="0">
                    <a:lnL w="9525" cmpd="sng">
                      <a:solidFill>
                        <a:schemeClr val="tx1"/>
                      </a:solidFill>
                      <a:prstDash val="solid"/>
                    </a:lnL>
                    <a:lnR w="19050" cmpd="sng">
                      <a:solidFill>
                        <a:schemeClr val="tx1"/>
                      </a:solidFill>
                      <a:prstDash val="solid"/>
                    </a:lnR>
                    <a:lnT w="9525" cmpd="sng">
                      <a:solidFill>
                        <a:schemeClr val="tx1"/>
                      </a:solidFill>
                      <a:prstDash val="solid"/>
                    </a:lnT>
                    <a:lnB w="19050" cmpd="sng">
                      <a:solidFill>
                        <a:schemeClr val="tx1"/>
                      </a:solidFill>
                      <a:prstDash val="solid"/>
                    </a:lnB>
                    <a:solidFill>
                      <a:schemeClr val="accent4">
                        <a:lumMod val="20000"/>
                        <a:lumOff val="80000"/>
                        <a:alpha val="50000"/>
                      </a:schemeClr>
                    </a:solidFill>
                  </a:tcPr>
                </a:tc>
              </a:tr>
              <a:tr h="534670">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&lt;&gt; ANY</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19050" cmpd="sng">
                      <a:solidFill>
                        <a:schemeClr val="tx1"/>
                      </a:solidFill>
                      <a:prstDash val="solid"/>
                    </a:lnL>
                    <a:lnR w="9525" cmpd="sng">
                      <a:solidFill>
                        <a:schemeClr val="tx1"/>
                      </a:solidFill>
                      <a:prstDash val="solid"/>
                    </a:lnR>
                    <a:lnT w="9525" cmpd="sng">
                      <a:solidFill>
                        <a:schemeClr val="tx1"/>
                      </a:solidFill>
                      <a:prstDash val="solid"/>
                    </a:lnT>
                    <a:lnB w="19050" cmpd="sng">
                      <a:solidFill>
                        <a:schemeClr val="tx1"/>
                      </a:solidFill>
                      <a:prstDash val="solid"/>
                    </a:lnB>
                    <a:solidFill>
                      <a:schemeClr val="accent4">
                        <a:lumMod val="20000"/>
                        <a:lumOff val="80000"/>
                        <a:alpha val="50000"/>
                      </a:schemeClr>
                    </a:solidFill>
                  </a:tcPr>
                </a:tc>
                <a:tc vMerge="1">
                  <a:tcPr>
                    <a:lnL w="9525" cmpd="sng">
                      <a:solidFill>
                        <a:schemeClr val="tx1"/>
                      </a:solidFill>
                      <a:prstDash val="solid"/>
                    </a:lnL>
                    <a:lnR w="9525" cmpd="sng">
                      <a:solidFill>
                        <a:schemeClr val="tx1"/>
                      </a:solidFill>
                      <a:prstDash val="solid"/>
                    </a:lnR>
                    <a:lnB w="19050" cmpd="sng">
                      <a:solidFill>
                        <a:schemeClr val="tx1"/>
                      </a:solidFill>
                      <a:prstDash val="solid"/>
                    </a:lnB>
                  </a:tcPr>
                </a:tc>
                <a:tc>
                  <a:txBody>
                    <a:bodyPr/>
                    <a:p>
                      <a:pPr algn="ctr">
                        <a:buNone/>
                      </a:pPr>
                      <a:r>
                        <a:rPr lang="en-US" altLang="zh-CN" sz="2400" b="1" dirty="0">
                          <a:solidFill>
                            <a:srgbClr val="0000C8"/>
                          </a:solidFill>
                          <a:latin typeface="Arial" panose="020B0604020202090204" pitchFamily="34" charset="0"/>
                          <a:ea typeface="楷体" charset="-122"/>
                          <a:cs typeface="Arial" panose="020B0604020202090204" pitchFamily="34" charset="0"/>
                          <a:sym typeface="+mn-ea"/>
                        </a:rPr>
                        <a:t>&lt;&gt; ALL</a:t>
                      </a:r>
                      <a:endParaRPr lang="en-US" altLang="zh-CN" sz="2400" b="1" dirty="0">
                        <a:solidFill>
                          <a:srgbClr val="0000C8"/>
                        </a:solidFill>
                        <a:latin typeface="Arial" panose="020B0604020202090204" pitchFamily="34" charset="0"/>
                        <a:ea typeface="楷体" charset="-122"/>
                        <a:cs typeface="Arial" panose="020B0604020202090204" pitchFamily="34" charset="0"/>
                        <a:sym typeface="+mn-ea"/>
                      </a:endParaRPr>
                    </a:p>
                  </a:txBody>
                  <a:tcPr marL="36195" marR="36195" anchor="ctr" anchorCtr="0">
                    <a:lnL w="9525" cmpd="sng">
                      <a:solidFill>
                        <a:schemeClr val="tx1"/>
                      </a:solidFill>
                      <a:prstDash val="solid"/>
                    </a:lnL>
                    <a:lnR w="9525" cmpd="sng">
                      <a:solidFill>
                        <a:schemeClr val="tx1"/>
                      </a:solidFill>
                      <a:prstDash val="solid"/>
                    </a:lnR>
                    <a:lnT w="9525" cmpd="sng">
                      <a:solidFill>
                        <a:schemeClr val="tx1"/>
                      </a:solidFill>
                      <a:prstDash val="solid"/>
                    </a:lnT>
                    <a:lnB w="19050" cmpd="sng">
                      <a:solidFill>
                        <a:schemeClr val="tx1"/>
                      </a:solidFill>
                      <a:prstDash val="solid"/>
                    </a:lnB>
                    <a:solidFill>
                      <a:schemeClr val="accent4">
                        <a:lumMod val="20000"/>
                        <a:lumOff val="80000"/>
                        <a:alpha val="50000"/>
                      </a:schemeClr>
                    </a:solidFill>
                  </a:tcPr>
                </a:tc>
                <a:tc vMerge="1">
                  <a:tcPr>
                    <a:lnL w="9525" cmpd="sng">
                      <a:solidFill>
                        <a:schemeClr val="tx1"/>
                      </a:solidFill>
                      <a:prstDash val="solid"/>
                    </a:lnL>
                    <a:lnR w="19050" cmpd="sng">
                      <a:solidFill>
                        <a:schemeClr val="tx1"/>
                      </a:solidFill>
                      <a:prstDash val="solid"/>
                    </a:lnR>
                    <a:lnB w="19050" cmpd="sng">
                      <a:solidFill>
                        <a:schemeClr val="tx1"/>
                      </a:solidFill>
                      <a:prstDash val="solid"/>
                    </a:lnB>
                  </a:tcPr>
                </a:tc>
              </a:tr>
            </a:tbl>
          </a:graphicData>
        </a:graphic>
      </p:graphicFrame>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7">
                                            <p:txEl>
                                              <p:pRg st="12" end="12"/>
                                            </p:txEl>
                                          </p:spTgt>
                                        </p:tgtEl>
                                        <p:attrNameLst>
                                          <p:attrName>style.visibility</p:attrName>
                                        </p:attrNameLst>
                                      </p:cBhvr>
                                      <p:to>
                                        <p:strVal val="visible"/>
                                      </p:to>
                                    </p:set>
                                    <p:anim calcmode="lin" valueType="num">
                                      <p:cBhvr additive="base">
                                        <p:cTn id="7" dur="500" fill="hold"/>
                                        <p:tgtEl>
                                          <p:spTgt spid="47107">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fontScale="90000"/>
          </a:bodyPr>
          <a:lstStyle/>
          <a:p>
            <a:r>
              <a:rPr lang="zh-CN" altLang="en-US" sz="3110" dirty="0"/>
              <a:t>带有</a:t>
            </a:r>
            <a:r>
              <a:rPr lang="en-US" altLang="zh-CN" sz="3110" dirty="0"/>
              <a:t> ANY</a:t>
            </a:r>
            <a:r>
              <a:rPr lang="zh-CN" altLang="en-US" sz="3110" dirty="0"/>
              <a:t>（</a:t>
            </a:r>
            <a:r>
              <a:rPr lang="en-US" altLang="zh-CN" sz="3110" dirty="0"/>
              <a:t>SOME</a:t>
            </a:r>
            <a:r>
              <a:rPr lang="zh-CN" altLang="en-US" sz="3110" dirty="0"/>
              <a:t>）或</a:t>
            </a:r>
            <a:r>
              <a:rPr lang="en-US" altLang="zh-CN" sz="3110" dirty="0"/>
              <a:t> ALL </a:t>
            </a:r>
            <a:r>
              <a:rPr lang="zh-CN" altLang="en-US" sz="3110" dirty="0"/>
              <a:t>谓词的子查询 </a:t>
            </a:r>
            <a:r>
              <a:rPr lang="en-US" altLang="zh-CN" sz="3110" dirty="0"/>
              <a:t>2</a:t>
            </a:r>
            <a:endParaRPr lang="zh-CN" altLang="en-US" sz="3110" dirty="0"/>
          </a:p>
        </p:txBody>
      </p:sp>
      <p:sp>
        <p:nvSpPr>
          <p:cNvPr id="49155" name="Rectangle 3"/>
          <p:cNvSpPr>
            <a:spLocks noGrp="1" noChangeArrowheads="1"/>
          </p:cNvSpPr>
          <p:nvPr>
            <p:ph sz="half" idx="1"/>
          </p:nvPr>
        </p:nvSpPr>
        <p:spPr/>
        <p:txBody>
          <a:bodyPr>
            <a:noAutofit/>
          </a:bodyPr>
          <a:lstStyle/>
          <a:p>
            <a:pPr>
              <a:lnSpc>
                <a:spcPct val="100000"/>
              </a:lnSpc>
              <a:spcBef>
                <a:spcPct val="0"/>
              </a:spcBef>
            </a:pPr>
            <a:r>
              <a:rPr lang="en-US" altLang="zh-CN" sz="2800" dirty="0"/>
              <a:t>[</a:t>
            </a:r>
            <a:r>
              <a:rPr lang="zh-CN" altLang="en-US" sz="2800" dirty="0"/>
              <a:t>例</a:t>
            </a:r>
            <a:r>
              <a:rPr lang="en-US" altLang="zh-CN" sz="2800" dirty="0"/>
              <a:t>3.58]</a:t>
            </a:r>
            <a:r>
              <a:rPr lang="zh-CN" altLang="en-US" sz="2800" dirty="0"/>
              <a:t>查询非计算机科学系中比计算机科学系任意一个学生年龄小的学生姓名和年龄</a:t>
            </a:r>
            <a:endParaRPr lang="zh-CN" altLang="en-US" sz="2800" dirty="0"/>
          </a:p>
          <a:p>
            <a:pPr marL="363855" lvl="1" indent="0">
              <a:lnSpc>
                <a:spcPct val="100000"/>
              </a:lnSpc>
              <a:spcBef>
                <a:spcPts val="2000"/>
              </a:spcBef>
              <a:buNone/>
            </a:pPr>
            <a:r>
              <a:rPr lang="en-US" altLang="zh-CN" sz="2800" dirty="0">
                <a:latin typeface="Arial" panose="020B0604020202090204" pitchFamily="34" charset="0"/>
                <a:cs typeface="Arial" panose="020B0604020202090204" pitchFamily="34" charset="0"/>
              </a:rPr>
              <a:t>SELECT  </a:t>
            </a:r>
            <a:r>
              <a:rPr lang="en-US" altLang="zh-CN" sz="2800" dirty="0" err="1">
                <a:latin typeface="Arial" panose="020B0604020202090204" pitchFamily="34" charset="0"/>
                <a:cs typeface="Arial" panose="020B0604020202090204" pitchFamily="34" charset="0"/>
              </a:rPr>
              <a:t>Sname</a:t>
            </a:r>
            <a:r>
              <a:rPr lang="zh-CN" altLang="en-US" sz="2800" dirty="0">
                <a:latin typeface="Arial" panose="020B0604020202090204" pitchFamily="34" charset="0"/>
                <a:cs typeface="Arial" panose="020B0604020202090204" pitchFamily="34" charset="0"/>
              </a:rPr>
              <a:t>,</a:t>
            </a:r>
            <a:r>
              <a:rPr lang="en-US" altLang="zh-CN" sz="2800" dirty="0">
                <a:latin typeface="Arial" panose="020B0604020202090204" pitchFamily="34" charset="0"/>
                <a:cs typeface="Arial" panose="020B0604020202090204" pitchFamily="34" charset="0"/>
              </a:rPr>
              <a:t>Sage</a:t>
            </a:r>
            <a:endParaRPr lang="en-US" altLang="zh-CN" sz="2800" dirty="0">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800" dirty="0">
                <a:latin typeface="Arial" panose="020B0604020202090204" pitchFamily="34" charset="0"/>
                <a:cs typeface="Arial" panose="020B0604020202090204" pitchFamily="34" charset="0"/>
              </a:rPr>
              <a:t>FROM     Student</a:t>
            </a:r>
            <a:endParaRPr lang="en-US" altLang="zh-CN" sz="2800" dirty="0">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800" dirty="0">
                <a:latin typeface="Arial" panose="020B0604020202090204" pitchFamily="34" charset="0"/>
                <a:cs typeface="Arial" panose="020B0604020202090204" pitchFamily="34" charset="0"/>
              </a:rPr>
              <a:t>WHERE  </a:t>
            </a:r>
            <a:r>
              <a:rPr lang="en-US" altLang="zh-CN" sz="2800" dirty="0">
                <a:solidFill>
                  <a:srgbClr val="FF0000"/>
                </a:solidFill>
                <a:latin typeface="Arial" panose="020B0604020202090204" pitchFamily="34" charset="0"/>
                <a:cs typeface="Arial" panose="020B0604020202090204" pitchFamily="34" charset="0"/>
              </a:rPr>
              <a:t>Sage &lt; ANY </a:t>
            </a:r>
            <a:r>
              <a:rPr lang="zh-CN" altLang="en-US" sz="2800" dirty="0">
                <a:solidFill>
                  <a:srgbClr val="FF0000"/>
                </a:solidFill>
                <a:latin typeface="Arial" panose="020B0604020202090204" pitchFamily="34" charset="0"/>
                <a:cs typeface="Arial" panose="020B0604020202090204" pitchFamily="34" charset="0"/>
              </a:rPr>
              <a:t>(</a:t>
            </a:r>
            <a:endParaRPr lang="zh-CN" altLang="en-US" sz="2800" dirty="0">
              <a:solidFill>
                <a:srgbClr val="FF0000"/>
              </a:solidFill>
              <a:latin typeface="Arial" panose="020B0604020202090204" pitchFamily="34" charset="0"/>
              <a:cs typeface="Arial" panose="020B0604020202090204" pitchFamily="34" charset="0"/>
            </a:endParaRPr>
          </a:p>
          <a:p>
            <a:pPr marL="1735455" lvl="4"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SELECT  Sage</a:t>
            </a:r>
            <a:endParaRPr lang="en-US" altLang="zh-CN" sz="2800" dirty="0">
              <a:solidFill>
                <a:srgbClr val="FF0000"/>
              </a:solidFill>
              <a:latin typeface="Arial" panose="020B0604020202090204" pitchFamily="34" charset="0"/>
              <a:cs typeface="Arial" panose="020B0604020202090204" pitchFamily="34" charset="0"/>
            </a:endParaRPr>
          </a:p>
          <a:p>
            <a:pPr marL="1735455" lvl="4"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FROM    Student</a:t>
            </a:r>
            <a:endParaRPr lang="en-US" altLang="zh-CN" sz="2800" dirty="0">
              <a:solidFill>
                <a:srgbClr val="FF0000"/>
              </a:solidFill>
              <a:latin typeface="Arial" panose="020B0604020202090204" pitchFamily="34" charset="0"/>
              <a:cs typeface="Arial" panose="020B0604020202090204" pitchFamily="34" charset="0"/>
            </a:endParaRPr>
          </a:p>
          <a:p>
            <a:pPr marL="1735455" lvl="4"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WHERE </a:t>
            </a:r>
            <a:r>
              <a:rPr lang="en-US" altLang="zh-CN" sz="2800" dirty="0" err="1">
                <a:solidFill>
                  <a:srgbClr val="FF0000"/>
                </a:solidFill>
                <a:latin typeface="Arial" panose="020B0604020202090204" pitchFamily="34" charset="0"/>
                <a:cs typeface="Arial" panose="020B0604020202090204" pitchFamily="34" charset="0"/>
              </a:rPr>
              <a:t>Sdept </a:t>
            </a:r>
            <a:r>
              <a:rPr lang="en-US" altLang="zh-CN" sz="2800" dirty="0">
                <a:solidFill>
                  <a:srgbClr val="FF0000"/>
                </a:solidFill>
                <a:latin typeface="Arial" panose="020B0604020202090204" pitchFamily="34" charset="0"/>
                <a:cs typeface="Arial" panose="020B0604020202090204" pitchFamily="34" charset="0"/>
              </a:rPr>
              <a:t>= 'CS'</a:t>
            </a:r>
            <a:r>
              <a:rPr lang="zh-CN" altLang="en-US" sz="2800" dirty="0">
                <a:solidFill>
                  <a:srgbClr val="FF0000"/>
                </a:solidFill>
                <a:latin typeface="Arial" panose="020B0604020202090204" pitchFamily="34" charset="0"/>
                <a:cs typeface="Arial" panose="020B0604020202090204" pitchFamily="34" charset="0"/>
              </a:rPr>
              <a:t>)</a:t>
            </a:r>
            <a:endParaRPr lang="zh-CN" altLang="en-US" sz="2800" dirty="0">
              <a:latin typeface="Arial" panose="020B0604020202090204" pitchFamily="34" charset="0"/>
              <a:cs typeface="Arial" panose="020B0604020202090204" pitchFamily="34" charset="0"/>
            </a:endParaRPr>
          </a:p>
          <a:p>
            <a:pPr marL="1278255" lvl="3" indent="0">
              <a:lnSpc>
                <a:spcPct val="100000"/>
              </a:lnSpc>
              <a:spcBef>
                <a:spcPts val="1000"/>
              </a:spcBef>
              <a:buNone/>
            </a:pPr>
            <a:r>
              <a:rPr lang="en-US" altLang="zh-CN" sz="2800" dirty="0">
                <a:latin typeface="Arial" panose="020B0604020202090204" pitchFamily="34" charset="0"/>
                <a:cs typeface="Arial" panose="020B0604020202090204" pitchFamily="34" charset="0"/>
              </a:rPr>
              <a:t>AND </a:t>
            </a:r>
            <a:r>
              <a:rPr lang="en-US" altLang="zh-CN" sz="2800" dirty="0" err="1">
                <a:latin typeface="Arial" panose="020B0604020202090204" pitchFamily="34" charset="0"/>
                <a:cs typeface="Arial" panose="020B0604020202090204" pitchFamily="34" charset="0"/>
              </a:rPr>
              <a:t>Sdept</a:t>
            </a:r>
            <a:r>
              <a:rPr lang="en-US" altLang="zh-CN" sz="2800" dirty="0">
                <a:latin typeface="Arial" panose="020B0604020202090204" pitchFamily="34" charset="0"/>
                <a:cs typeface="Arial" panose="020B0604020202090204" pitchFamily="34" charset="0"/>
              </a:rPr>
              <a:t> &lt;&gt; </a:t>
            </a:r>
            <a:r>
              <a:rPr lang="en-US" altLang="zh-CN" dirty="0">
                <a:latin typeface="Arial" panose="020B0604020202090204" pitchFamily="34" charset="0"/>
                <a:cs typeface="Arial" panose="020B0604020202090204" pitchFamily="34" charset="0"/>
                <a:sym typeface="+mn-ea"/>
              </a:rPr>
              <a:t>'</a:t>
            </a:r>
            <a:r>
              <a:rPr lang="en-US" altLang="zh-CN" sz="2800" dirty="0">
                <a:latin typeface="Arial" panose="020B0604020202090204" pitchFamily="34" charset="0"/>
                <a:cs typeface="Arial" panose="020B0604020202090204" pitchFamily="34" charset="0"/>
              </a:rPr>
              <a:t>CS</a:t>
            </a:r>
            <a:r>
              <a:rPr lang="en-US" altLang="zh-CN" dirty="0">
                <a:latin typeface="Arial" panose="020B0604020202090204" pitchFamily="34" charset="0"/>
                <a:cs typeface="Arial" panose="020B0604020202090204" pitchFamily="34" charset="0"/>
                <a:sym typeface="+mn-ea"/>
              </a:rPr>
              <a:t>' </a:t>
            </a:r>
            <a:r>
              <a:rPr lang="en-US" altLang="zh-CN" sz="2800" dirty="0">
                <a:latin typeface="Arial" panose="020B0604020202090204" pitchFamily="34" charset="0"/>
                <a:cs typeface="Arial" panose="020B0604020202090204" pitchFamily="34" charset="0"/>
              </a:rPr>
              <a:t>;</a:t>
            </a:r>
            <a:endParaRPr lang="en-US" altLang="zh-CN" sz="2800" dirty="0"/>
          </a:p>
          <a:p>
            <a:pPr marL="363855" lvl="1" indent="0">
              <a:lnSpc>
                <a:spcPct val="100000"/>
              </a:lnSpc>
              <a:spcBef>
                <a:spcPts val="1000"/>
              </a:spcBef>
              <a:buNone/>
            </a:pPr>
            <a:r>
              <a:rPr lang="en-US" altLang="zh-CN" sz="2800" dirty="0"/>
              <a:t>   /*</a:t>
            </a:r>
            <a:r>
              <a:rPr lang="zh-CN" altLang="en-US" sz="2800" dirty="0"/>
              <a:t>父查询块中的条件 *</a:t>
            </a:r>
            <a:r>
              <a:rPr lang="en-US" altLang="zh-CN" sz="2800" dirty="0"/>
              <a:t>/</a:t>
            </a:r>
            <a:endParaRPr lang="en-US" altLang="zh-CN" sz="2800" dirty="0"/>
          </a:p>
        </p:txBody>
      </p:sp>
      <p:sp>
        <p:nvSpPr>
          <p:cNvPr id="2" name="内容占位符 1"/>
          <p:cNvSpPr>
            <a:spLocks noGrp="1"/>
          </p:cNvSpPr>
          <p:nvPr>
            <p:ph sz="half" idx="2"/>
          </p:nvPr>
        </p:nvSpPr>
        <p:spPr/>
        <p:txBody>
          <a:bodyPr>
            <a:noAutofit/>
          </a:bodyPr>
          <a:lstStyle/>
          <a:p>
            <a:pPr marL="354330" indent="-342900">
              <a:lnSpc>
                <a:spcPct val="100000"/>
              </a:lnSpc>
              <a:spcBef>
                <a:spcPct val="0"/>
              </a:spcBef>
            </a:pPr>
            <a:r>
              <a:rPr lang="zh-CN" altLang="en-US" sz="2800" dirty="0"/>
              <a:t>结果：</a:t>
            </a:r>
            <a:endParaRPr lang="en-US" altLang="zh-CN" sz="2800" dirty="0"/>
          </a:p>
          <a:p>
            <a:pPr marL="354330" indent="-342900">
              <a:lnSpc>
                <a:spcPct val="100000"/>
              </a:lnSpc>
              <a:spcBef>
                <a:spcPct val="0"/>
              </a:spcBef>
            </a:pPr>
            <a:endParaRPr lang="zh-CN" altLang="en-US" sz="2800" dirty="0"/>
          </a:p>
          <a:p>
            <a:pPr marL="727075" lvl="2" indent="0">
              <a:lnSpc>
                <a:spcPct val="100000"/>
              </a:lnSpc>
              <a:spcBef>
                <a:spcPct val="0"/>
              </a:spcBef>
              <a:buNone/>
            </a:pPr>
            <a:r>
              <a:rPr lang="zh-CN" altLang="en-US" sz="2800" dirty="0"/>
              <a:t>	</a:t>
            </a:r>
            <a:endParaRPr lang="zh-CN" altLang="en-US" sz="2800" dirty="0"/>
          </a:p>
          <a:p>
            <a:pPr marL="727075" lvl="2" indent="0">
              <a:lnSpc>
                <a:spcPct val="100000"/>
              </a:lnSpc>
              <a:spcBef>
                <a:spcPct val="0"/>
              </a:spcBef>
              <a:buNone/>
            </a:pPr>
            <a:endParaRPr lang="zh-CN" altLang="en-US" sz="2800" dirty="0"/>
          </a:p>
          <a:p>
            <a:pPr marL="727075" lvl="2" indent="0">
              <a:lnSpc>
                <a:spcPct val="100000"/>
              </a:lnSpc>
              <a:spcBef>
                <a:spcPct val="0"/>
              </a:spcBef>
              <a:buNone/>
            </a:pPr>
            <a:endParaRPr lang="zh-CN" altLang="en-US" sz="2800" dirty="0"/>
          </a:p>
          <a:p>
            <a:pPr marL="727075" lvl="2" indent="0">
              <a:lnSpc>
                <a:spcPct val="100000"/>
              </a:lnSpc>
              <a:spcBef>
                <a:spcPct val="0"/>
              </a:spcBef>
              <a:buNone/>
            </a:pPr>
            <a:endParaRPr lang="zh-CN" altLang="en-US" sz="2800" dirty="0"/>
          </a:p>
          <a:p>
            <a:pPr marL="354330" indent="-342900">
              <a:lnSpc>
                <a:spcPct val="100000"/>
              </a:lnSpc>
              <a:spcBef>
                <a:spcPct val="0"/>
              </a:spcBef>
            </a:pPr>
            <a:r>
              <a:rPr lang="zh-CN" altLang="en-US" sz="2800" dirty="0"/>
              <a:t>执行过程：</a:t>
            </a:r>
            <a:endParaRPr lang="zh-CN" altLang="en-US" sz="2800" dirty="0"/>
          </a:p>
          <a:p>
            <a:pPr marL="706755" lvl="1" indent="-342900">
              <a:lnSpc>
                <a:spcPct val="100000"/>
              </a:lnSpc>
              <a:spcBef>
                <a:spcPct val="0"/>
              </a:spcBef>
            </a:pPr>
            <a:r>
              <a:rPr lang="zh-CN" altLang="en-US" sz="2800" dirty="0"/>
              <a:t>首先处理子查询，找出</a:t>
            </a:r>
            <a:r>
              <a:rPr lang="en-US" altLang="zh-CN" sz="2800" dirty="0"/>
              <a:t>CS</a:t>
            </a:r>
            <a:r>
              <a:rPr lang="zh-CN" altLang="en-US" sz="2800" dirty="0"/>
              <a:t>系中所有学生的年龄，构成一个集合</a:t>
            </a:r>
            <a:r>
              <a:rPr lang="en-US" altLang="zh-CN" sz="2800" dirty="0"/>
              <a:t> </a:t>
            </a:r>
            <a:r>
              <a:rPr lang="en-US" altLang="zh-CN" sz="2800" dirty="0">
                <a:latin typeface="Arial" panose="020B0604020202090204" pitchFamily="34" charset="0"/>
                <a:cs typeface="Arial" panose="020B0604020202090204" pitchFamily="34" charset="0"/>
              </a:rPr>
              <a:t>{ 20, 19 }</a:t>
            </a:r>
            <a:endParaRPr lang="zh-CN" altLang="en-US" sz="2800" dirty="0"/>
          </a:p>
          <a:p>
            <a:pPr marL="706755" lvl="1" indent="-342900">
              <a:lnSpc>
                <a:spcPct val="100000"/>
              </a:lnSpc>
              <a:spcBef>
                <a:spcPts val="1000"/>
              </a:spcBef>
            </a:pPr>
            <a:r>
              <a:rPr lang="zh-CN" altLang="en-US" sz="2800" dirty="0"/>
              <a:t>再处理父查询，找所有不是</a:t>
            </a:r>
            <a:r>
              <a:rPr lang="en-US" altLang="zh-CN" sz="2800" dirty="0"/>
              <a:t>CS</a:t>
            </a:r>
            <a:r>
              <a:rPr lang="zh-CN" altLang="en-US" sz="2800" dirty="0"/>
              <a:t>系且年龄</a:t>
            </a:r>
            <a:r>
              <a:rPr lang="en-US" altLang="zh-CN" sz="2800" dirty="0"/>
              <a:t> </a:t>
            </a:r>
            <a:r>
              <a:rPr lang="zh-CN" altLang="en-US" sz="2800" dirty="0"/>
              <a:t>小于</a:t>
            </a:r>
            <a:r>
              <a:rPr lang="en-US" altLang="zh-CN" sz="2800" dirty="0"/>
              <a:t>20 </a:t>
            </a:r>
            <a:r>
              <a:rPr lang="zh-CN" altLang="en-US" sz="2800" dirty="0">
                <a:solidFill>
                  <a:srgbClr val="FF0000"/>
                </a:solidFill>
              </a:rPr>
              <a:t>或</a:t>
            </a:r>
            <a:r>
              <a:rPr lang="en-US" altLang="zh-CN" sz="2800" dirty="0">
                <a:solidFill>
                  <a:srgbClr val="FF0000"/>
                </a:solidFill>
              </a:rPr>
              <a:t> </a:t>
            </a:r>
            <a:r>
              <a:rPr lang="zh-CN" altLang="en-US" dirty="0">
                <a:sym typeface="+mn-ea"/>
              </a:rPr>
              <a:t>小于</a:t>
            </a:r>
            <a:r>
              <a:rPr lang="en-US" altLang="zh-CN" sz="2800" dirty="0"/>
              <a:t>19 </a:t>
            </a:r>
            <a:r>
              <a:rPr lang="zh-CN" altLang="en-US" sz="2800" dirty="0"/>
              <a:t>的学生</a:t>
            </a:r>
            <a:endParaRPr lang="zh-CN" altLang="en-US" sz="2800" dirty="0"/>
          </a:p>
        </p:txBody>
      </p:sp>
      <p:graphicFrame>
        <p:nvGraphicFramePr>
          <p:cNvPr id="8" name="表格 3"/>
          <p:cNvGraphicFramePr>
            <a:graphicFrameLocks noGrp="1"/>
          </p:cNvGraphicFramePr>
          <p:nvPr>
            <p:custDataLst>
              <p:tags r:id="rId1"/>
            </p:custDataLst>
          </p:nvPr>
        </p:nvGraphicFramePr>
        <p:xfrm>
          <a:off x="7275195" y="1156335"/>
          <a:ext cx="3580765" cy="1554480"/>
        </p:xfrm>
        <a:graphic>
          <a:graphicData uri="http://schemas.openxmlformats.org/drawingml/2006/table">
            <a:tbl>
              <a:tblPr firstRow="1" bandRow="1">
                <a:tableStyleId>{5C22544A-7EE6-4342-B048-85BDC9FD1C3A}</a:tableStyleId>
              </a:tblPr>
              <a:tblGrid>
                <a:gridCol w="1713230"/>
                <a:gridCol w="1867535"/>
              </a:tblGrid>
              <a:tr h="49530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rPr>
                        <a:t>Sname</a:t>
                      </a:r>
                      <a:endParaRPr kumimoji="0" lang="en-US" sz="2800" b="1" i="0" u="none" strike="noStrike" cap="none" normalizeH="0" baseline="0" dirty="0" err="1">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marT="45679" marB="45679" horzOverflow="overflow">
                    <a:solidFill>
                      <a:schemeClr val="accent3">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rgbClr val="C00000"/>
                          </a:solidFill>
                          <a:effectLst/>
                          <a:latin typeface="Times New Roman" panose="02020503050405090304" pitchFamily="2" charset="0"/>
                          <a:ea typeface="宋体" pitchFamily="2" charset="-122"/>
                          <a:cs typeface="Times New Roman" panose="02020503050405090304" pitchFamily="2" charset="0"/>
                        </a:rPr>
                        <a:t>Sage</a:t>
                      </a:r>
                      <a:endParaRPr kumimoji="0" lang="en-US" sz="2800" b="1" i="0" u="none" strike="noStrike" cap="none" normalizeH="0" baseline="0" dirty="0">
                        <a:ln>
                          <a:noFill/>
                        </a:ln>
                        <a:solidFill>
                          <a:srgbClr val="C00000"/>
                        </a:solidFill>
                        <a:effectLst/>
                        <a:latin typeface="Times New Roman" panose="02020503050405090304" pitchFamily="2" charset="0"/>
                        <a:ea typeface="宋体" pitchFamily="2" charset="-122"/>
                        <a:cs typeface="Times New Roman" panose="02020503050405090304" pitchFamily="2" charset="0"/>
                      </a:endParaRPr>
                    </a:p>
                  </a:txBody>
                  <a:tcPr marT="45679" marB="45679" horzOverflow="overflow">
                    <a:solidFill>
                      <a:schemeClr val="accent3">
                        <a:lumMod val="20000"/>
                        <a:lumOff val="80000"/>
                      </a:schemeClr>
                    </a:solidFill>
                  </a:tcPr>
                </a:tc>
              </a:tr>
              <a:tr h="51816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a:ln>
                            <a:noFill/>
                          </a:ln>
                          <a:solidFill>
                            <a:srgbClr val="0000C8"/>
                          </a:solidFill>
                          <a:effectLst/>
                          <a:latin typeface="楷体" charset="-122"/>
                          <a:ea typeface="楷体" charset="-122"/>
                          <a:cs typeface="Times New Roman" panose="02020503050405090304" pitchFamily="2" charset="0"/>
                        </a:rPr>
                        <a:t>王敏</a:t>
                      </a:r>
                      <a:endParaRPr kumimoji="0" lang="zh-CN" altLang="en-US" sz="2800" b="1" i="0" u="none" strike="noStrike" cap="none" normalizeH="0" baseline="0">
                        <a:ln>
                          <a:noFill/>
                        </a:ln>
                        <a:solidFill>
                          <a:srgbClr val="0000C8"/>
                        </a:solidFill>
                        <a:effectLst/>
                        <a:latin typeface="楷体" charset="-122"/>
                        <a:ea typeface="楷体" charset="-122"/>
                        <a:cs typeface="Times New Roman" panose="02020503050405090304" pitchFamily="2" charset="0"/>
                      </a:endParaRPr>
                    </a:p>
                  </a:txBody>
                  <a:tcPr marT="45679" marB="45679" horzOverflow="overflow"/>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rPr>
                        <a:t>18</a:t>
                      </a:r>
                      <a:endPar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cs typeface="Times New Roman" panose="02020503050405090304" pitchFamily="2" charset="0"/>
                      </a:endParaRPr>
                    </a:p>
                  </a:txBody>
                  <a:tcPr marT="45679" marB="45679" horzOverflow="overflow"/>
                </a:tc>
              </a:tr>
              <a:tr h="51816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zh-CN" altLang="en-US" sz="2800" b="1" i="0" u="none" strike="noStrike" cap="none" normalizeH="0" baseline="0">
                          <a:ln>
                            <a:noFill/>
                          </a:ln>
                          <a:solidFill>
                            <a:srgbClr val="0000C8"/>
                          </a:solidFill>
                          <a:effectLst/>
                          <a:latin typeface="楷体" charset="-122"/>
                          <a:ea typeface="楷体" charset="-122"/>
                        </a:rPr>
                        <a:t>张立</a:t>
                      </a:r>
                      <a:endParaRPr kumimoji="0" lang="zh-CN" altLang="en-US" sz="2800" b="1" i="0" u="none" strike="noStrike" cap="none" normalizeH="0" baseline="0">
                        <a:ln>
                          <a:noFill/>
                        </a:ln>
                        <a:solidFill>
                          <a:srgbClr val="0000C8"/>
                        </a:solidFill>
                        <a:effectLst/>
                        <a:latin typeface="楷体" charset="-122"/>
                        <a:ea typeface="楷体" charset="-122"/>
                      </a:endParaRPr>
                    </a:p>
                  </a:txBody>
                  <a:tcPr marT="45679" marB="45679" horzOverflow="overflow"/>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90204" pitchFamily="34" charset="0"/>
                        <a:buNone/>
                      </a:pPr>
                      <a:r>
                        <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rPr>
                        <a:t>19</a:t>
                      </a:r>
                      <a:endParaRPr kumimoji="0" lang="en-US" sz="2800" b="1" i="0" u="none" strike="noStrike" cap="none" normalizeH="0" baseline="0" dirty="0">
                        <a:ln>
                          <a:noFill/>
                        </a:ln>
                        <a:solidFill>
                          <a:srgbClr val="0000C8"/>
                        </a:solidFill>
                        <a:effectLst/>
                        <a:latin typeface="Times New Roman" panose="02020503050405090304" pitchFamily="2" charset="0"/>
                        <a:ea typeface="宋体" pitchFamily="2" charset="-122"/>
                      </a:endParaRPr>
                    </a:p>
                  </a:txBody>
                  <a:tcPr marT="45679" marB="45679" horzOverflow="overflow"/>
                </a:tc>
              </a:tr>
            </a:tbl>
          </a:graphicData>
        </a:graphic>
      </p:graphicFrame>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Effect transition="in" filter="blinds(horizontal)">
                                      <p:cBhvr>
                                        <p:cTn id="7" dur="500"/>
                                        <p:tgtEl>
                                          <p:spTgt spid="4915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9155">
                                            <p:txEl>
                                              <p:pRg st="2" end="2"/>
                                            </p:txEl>
                                          </p:spTgt>
                                        </p:tgtEl>
                                        <p:attrNameLst>
                                          <p:attrName>style.visibility</p:attrName>
                                        </p:attrNameLst>
                                      </p:cBhvr>
                                      <p:to>
                                        <p:strVal val="visible"/>
                                      </p:to>
                                    </p:set>
                                    <p:animEffect transition="in" filter="blinds(horizontal)">
                                      <p:cBhvr>
                                        <p:cTn id="10" dur="500"/>
                                        <p:tgtEl>
                                          <p:spTgt spid="4915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9155">
                                            <p:txEl>
                                              <p:pRg st="3" end="3"/>
                                            </p:txEl>
                                          </p:spTgt>
                                        </p:tgtEl>
                                        <p:attrNameLst>
                                          <p:attrName>style.visibility</p:attrName>
                                        </p:attrNameLst>
                                      </p:cBhvr>
                                      <p:to>
                                        <p:strVal val="visible"/>
                                      </p:to>
                                    </p:set>
                                    <p:animEffect transition="in" filter="blinds(horizontal)">
                                      <p:cBhvr>
                                        <p:cTn id="13" dur="500"/>
                                        <p:tgtEl>
                                          <p:spTgt spid="4915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9155">
                                            <p:txEl>
                                              <p:pRg st="4" end="4"/>
                                            </p:txEl>
                                          </p:spTgt>
                                        </p:tgtEl>
                                        <p:attrNameLst>
                                          <p:attrName>style.visibility</p:attrName>
                                        </p:attrNameLst>
                                      </p:cBhvr>
                                      <p:to>
                                        <p:strVal val="visible"/>
                                      </p:to>
                                    </p:set>
                                    <p:animEffect transition="in" filter="blinds(horizontal)">
                                      <p:cBhvr>
                                        <p:cTn id="16" dur="500"/>
                                        <p:tgtEl>
                                          <p:spTgt spid="49155">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9155">
                                            <p:txEl>
                                              <p:pRg st="5" end="5"/>
                                            </p:txEl>
                                          </p:spTgt>
                                        </p:tgtEl>
                                        <p:attrNameLst>
                                          <p:attrName>style.visibility</p:attrName>
                                        </p:attrNameLst>
                                      </p:cBhvr>
                                      <p:to>
                                        <p:strVal val="visible"/>
                                      </p:to>
                                    </p:set>
                                    <p:animEffect transition="in" filter="blinds(horizontal)">
                                      <p:cBhvr>
                                        <p:cTn id="19" dur="500"/>
                                        <p:tgtEl>
                                          <p:spTgt spid="49155">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9155">
                                            <p:txEl>
                                              <p:pRg st="6" end="6"/>
                                            </p:txEl>
                                          </p:spTgt>
                                        </p:tgtEl>
                                        <p:attrNameLst>
                                          <p:attrName>style.visibility</p:attrName>
                                        </p:attrNameLst>
                                      </p:cBhvr>
                                      <p:to>
                                        <p:strVal val="visible"/>
                                      </p:to>
                                    </p:set>
                                    <p:animEffect transition="in" filter="blinds(horizontal)">
                                      <p:cBhvr>
                                        <p:cTn id="22" dur="500"/>
                                        <p:tgtEl>
                                          <p:spTgt spid="49155">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9155">
                                            <p:txEl>
                                              <p:pRg st="7" end="7"/>
                                            </p:txEl>
                                          </p:spTgt>
                                        </p:tgtEl>
                                        <p:attrNameLst>
                                          <p:attrName>style.visibility</p:attrName>
                                        </p:attrNameLst>
                                      </p:cBhvr>
                                      <p:to>
                                        <p:strVal val="visible"/>
                                      </p:to>
                                    </p:set>
                                    <p:animEffect transition="in" filter="blinds(horizontal)">
                                      <p:cBhvr>
                                        <p:cTn id="25" dur="500"/>
                                        <p:tgtEl>
                                          <p:spTgt spid="49155">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9155">
                                            <p:txEl>
                                              <p:pRg st="8" end="8"/>
                                            </p:txEl>
                                          </p:spTgt>
                                        </p:tgtEl>
                                        <p:attrNameLst>
                                          <p:attrName>style.visibility</p:attrName>
                                        </p:attrNameLst>
                                      </p:cBhvr>
                                      <p:to>
                                        <p:strVal val="visible"/>
                                      </p:to>
                                    </p:set>
                                    <p:animEffect transition="in" filter="blinds(horizontal)">
                                      <p:cBhvr>
                                        <p:cTn id="28" dur="500"/>
                                        <p:tgtEl>
                                          <p:spTgt spid="49155">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
                                            <p:txEl>
                                              <p:pRg st="0" end="0"/>
                                            </p:txEl>
                                          </p:spTgt>
                                        </p:tgtEl>
                                        <p:attrNameLst>
                                          <p:attrName>style.visibility</p:attrName>
                                        </p:attrNameLst>
                                      </p:cBhvr>
                                      <p:to>
                                        <p:strVal val="visible"/>
                                      </p:to>
                                    </p:set>
                                    <p:animEffect transition="in" filter="blinds(horizontal)">
                                      <p:cBhvr>
                                        <p:cTn id="33" dur="500"/>
                                        <p:tgtEl>
                                          <p:spTgt spid="2">
                                            <p:txEl>
                                              <p:pRg st="0" end="0"/>
                                            </p:txEl>
                                          </p:spTgt>
                                        </p:tgtEl>
                                      </p:cBhvr>
                                    </p:animEffect>
                                  </p:childTnLst>
                                </p:cTn>
                              </p:par>
                            </p:childTnLst>
                          </p:cTn>
                        </p:par>
                        <p:par>
                          <p:cTn id="34" fill="hold">
                            <p:stCondLst>
                              <p:cond delay="500"/>
                            </p:stCondLst>
                            <p:childTnLst>
                              <p:par>
                                <p:cTn id="35" presetID="3" presetClass="entr" presetSubtype="10"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blinds(horizontal)">
                                      <p:cBhvr>
                                        <p:cTn id="42" dur="500"/>
                                        <p:tgtEl>
                                          <p:spTgt spid="2">
                                            <p:txEl>
                                              <p:pRg st="6" end="6"/>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2">
                                            <p:txEl>
                                              <p:pRg st="7" end="7"/>
                                            </p:txEl>
                                          </p:spTgt>
                                        </p:tgtEl>
                                        <p:attrNameLst>
                                          <p:attrName>style.visibility</p:attrName>
                                        </p:attrNameLst>
                                      </p:cBhvr>
                                      <p:to>
                                        <p:strVal val="visible"/>
                                      </p:to>
                                    </p:set>
                                    <p:animEffect transition="in" filter="blinds(horizontal)">
                                      <p:cBhvr>
                                        <p:cTn id="45" dur="500"/>
                                        <p:tgtEl>
                                          <p:spTgt spid="2">
                                            <p:txEl>
                                              <p:pRg st="7" end="7"/>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2">
                                            <p:txEl>
                                              <p:pRg st="8" end="8"/>
                                            </p:txEl>
                                          </p:spTgt>
                                        </p:tgtEl>
                                        <p:attrNameLst>
                                          <p:attrName>style.visibility</p:attrName>
                                        </p:attrNameLst>
                                      </p:cBhvr>
                                      <p:to>
                                        <p:strVal val="visible"/>
                                      </p:to>
                                    </p:set>
                                    <p:animEffect transition="in" filter="blinds(horizontal)">
                                      <p:cBhvr>
                                        <p:cTn id="48"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26"/>
          <p:cNvSpPr>
            <a:spLocks noGrp="1" noChangeArrowheads="1"/>
          </p:cNvSpPr>
          <p:nvPr>
            <p:ph type="title"/>
          </p:nvPr>
        </p:nvSpPr>
        <p:spPr/>
        <p:txBody>
          <a:bodyPr>
            <a:normAutofit fontScale="90000"/>
          </a:bodyPr>
          <a:lstStyle/>
          <a:p>
            <a:r>
              <a:rPr lang="zh-CN" altLang="en-US" sz="3110" dirty="0"/>
              <a:t>带有</a:t>
            </a:r>
            <a:r>
              <a:rPr lang="en-US" altLang="zh-CN" sz="3110" dirty="0"/>
              <a:t> ANY</a:t>
            </a:r>
            <a:r>
              <a:rPr lang="zh-CN" altLang="en-US" sz="3110" dirty="0"/>
              <a:t>（</a:t>
            </a:r>
            <a:r>
              <a:rPr lang="en-US" altLang="zh-CN" sz="3110" dirty="0"/>
              <a:t>SOME</a:t>
            </a:r>
            <a:r>
              <a:rPr lang="zh-CN" altLang="en-US" sz="3110" dirty="0"/>
              <a:t>）或</a:t>
            </a:r>
            <a:r>
              <a:rPr lang="en-US" altLang="zh-CN" sz="3110" dirty="0"/>
              <a:t> ALL </a:t>
            </a:r>
            <a:r>
              <a:rPr lang="zh-CN" altLang="en-US" sz="3110" dirty="0"/>
              <a:t>谓词的子查询 </a:t>
            </a:r>
            <a:r>
              <a:rPr lang="en-US" altLang="zh-CN" sz="3110" dirty="0"/>
              <a:t>3</a:t>
            </a:r>
            <a:endParaRPr lang="zh-CN" altLang="en-US" sz="3110" dirty="0"/>
          </a:p>
        </p:txBody>
      </p:sp>
      <p:sp>
        <p:nvSpPr>
          <p:cNvPr id="51203" name="Rectangle 1027"/>
          <p:cNvSpPr>
            <a:spLocks noGrp="1" noChangeArrowheads="1"/>
          </p:cNvSpPr>
          <p:nvPr>
            <p:ph idx="1"/>
          </p:nvPr>
        </p:nvSpPr>
        <p:spPr/>
        <p:txBody>
          <a:bodyPr>
            <a:normAutofit/>
          </a:bodyPr>
          <a:lstStyle/>
          <a:p>
            <a:r>
              <a:rPr lang="zh-CN" altLang="en-US" dirty="0">
                <a:latin typeface="Arial" panose="020B0604020202090204" pitchFamily="34" charset="0"/>
                <a:cs typeface="Arial" panose="020B0604020202090204" pitchFamily="34" charset="0"/>
              </a:rPr>
              <a:t>用聚集函数实现</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例 </a:t>
            </a:r>
            <a:r>
              <a:rPr lang="en-US" altLang="zh-CN" dirty="0">
                <a:latin typeface="Arial" panose="020B0604020202090204" pitchFamily="34" charset="0"/>
                <a:cs typeface="Arial" panose="020B0604020202090204" pitchFamily="34" charset="0"/>
              </a:rPr>
              <a:t>3.58] </a:t>
            </a:r>
            <a:endParaRPr lang="en-US" altLang="zh-CN" dirty="0">
              <a:latin typeface="Arial" panose="020B0604020202090204" pitchFamily="34" charset="0"/>
              <a:cs typeface="Arial" panose="020B0604020202090204" pitchFamily="34" charset="0"/>
            </a:endParaRPr>
          </a:p>
          <a:p>
            <a:pPr marL="821055" lvl="2" indent="0">
              <a:lnSpc>
                <a:spcPct val="110000"/>
              </a:lnSpc>
              <a:spcBef>
                <a:spcPts val="2000"/>
              </a:spcBef>
              <a:buNone/>
            </a:pPr>
            <a:r>
              <a:rPr lang="en-US" altLang="zh-CN" dirty="0">
                <a:latin typeface="Arial" panose="020B0604020202090204" pitchFamily="34" charset="0"/>
                <a:cs typeface="Arial" panose="020B0604020202090204" pitchFamily="34" charset="0"/>
              </a:rPr>
              <a:t>SELECT  </a:t>
            </a:r>
            <a:r>
              <a:rPr lang="en-US" altLang="zh-CN" dirty="0" err="1">
                <a:latin typeface="Arial" panose="020B0604020202090204" pitchFamily="34" charset="0"/>
                <a:cs typeface="Arial" panose="020B0604020202090204" pitchFamily="34" charset="0"/>
              </a:rPr>
              <a:t>Sname</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Sage</a:t>
            </a:r>
            <a:endParaRPr lang="en-US" altLang="zh-CN"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FROM     Student</a:t>
            </a:r>
            <a:endParaRPr lang="en-US" altLang="zh-CN"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WHERE  </a:t>
            </a:r>
            <a:r>
              <a:rPr lang="en-US" altLang="zh-CN" dirty="0">
                <a:solidFill>
                  <a:srgbClr val="FF0000"/>
                </a:solidFill>
                <a:latin typeface="Arial" panose="020B0604020202090204" pitchFamily="34" charset="0"/>
                <a:cs typeface="Arial" panose="020B0604020202090204" pitchFamily="34" charset="0"/>
              </a:rPr>
              <a:t>Sage &lt; (</a:t>
            </a:r>
            <a:endParaRPr lang="en-US" altLang="zh-CN" dirty="0">
              <a:solidFill>
                <a:srgbClr val="FF0000"/>
              </a:solidFill>
              <a:latin typeface="Arial" panose="020B0604020202090204" pitchFamily="34" charset="0"/>
              <a:cs typeface="Arial" panose="020B0604020202090204" pitchFamily="34" charset="0"/>
            </a:endParaRPr>
          </a:p>
          <a:p>
            <a:pPr marL="1735455" lvl="4" indent="2102485">
              <a:buNone/>
            </a:pPr>
            <a:r>
              <a:rPr lang="en-US" altLang="zh-CN" dirty="0">
                <a:solidFill>
                  <a:srgbClr val="FF0000"/>
                </a:solidFill>
                <a:latin typeface="Arial" panose="020B0604020202090204" pitchFamily="34" charset="0"/>
                <a:cs typeface="Arial" panose="020B0604020202090204" pitchFamily="34" charset="0"/>
              </a:rPr>
              <a:t>SELECT </a:t>
            </a:r>
            <a:r>
              <a:rPr lang="en-US" altLang="zh-CN" dirty="0" err="1">
                <a:solidFill>
                  <a:srgbClr val="FF0000"/>
                </a:solidFill>
                <a:latin typeface="Arial" panose="020B0604020202090204" pitchFamily="34" charset="0"/>
                <a:cs typeface="Arial" panose="020B0604020202090204" pitchFamily="34" charset="0"/>
              </a:rPr>
              <a:t>MAX（Sage</a:t>
            </a:r>
            <a:r>
              <a:rPr lang="en-US" altLang="zh-CN" dirty="0">
                <a:solidFill>
                  <a:srgbClr val="FF0000"/>
                </a:solidFill>
                <a:latin typeface="Arial" panose="020B0604020202090204" pitchFamily="34" charset="0"/>
                <a:cs typeface="Arial" panose="020B0604020202090204" pitchFamily="34" charset="0"/>
              </a:rPr>
              <a:t>）</a:t>
            </a:r>
            <a:endParaRPr lang="en-US" altLang="zh-CN" dirty="0">
              <a:solidFill>
                <a:srgbClr val="FF0000"/>
              </a:solidFill>
              <a:latin typeface="Arial" panose="020B0604020202090204" pitchFamily="34" charset="0"/>
              <a:cs typeface="Arial" panose="020B0604020202090204" pitchFamily="34" charset="0"/>
            </a:endParaRPr>
          </a:p>
          <a:p>
            <a:pPr marL="1735455" lvl="4" indent="2102485">
              <a:buNone/>
            </a:pPr>
            <a:r>
              <a:rPr lang="en-US" altLang="zh-CN" dirty="0">
                <a:solidFill>
                  <a:srgbClr val="FF0000"/>
                </a:solidFill>
                <a:latin typeface="Arial" panose="020B0604020202090204" pitchFamily="34" charset="0"/>
                <a:cs typeface="Arial" panose="020B0604020202090204" pitchFamily="34" charset="0"/>
              </a:rPr>
              <a:t>FROM Student</a:t>
            </a:r>
            <a:endParaRPr lang="en-US" altLang="zh-CN" dirty="0">
              <a:solidFill>
                <a:srgbClr val="FF0000"/>
              </a:solidFill>
              <a:latin typeface="Arial" panose="020B0604020202090204" pitchFamily="34" charset="0"/>
              <a:cs typeface="Arial" panose="020B0604020202090204" pitchFamily="34" charset="0"/>
            </a:endParaRPr>
          </a:p>
          <a:p>
            <a:pPr marL="1735455" lvl="4" indent="2102485">
              <a:buNone/>
            </a:pPr>
            <a:r>
              <a:rPr lang="en-US" altLang="zh-CN" dirty="0">
                <a:solidFill>
                  <a:srgbClr val="FF0000"/>
                </a:solidFill>
                <a:latin typeface="Arial" panose="020B0604020202090204" pitchFamily="34" charset="0"/>
                <a:cs typeface="Arial" panose="020B0604020202090204" pitchFamily="34" charset="0"/>
              </a:rPr>
              <a:t>WHERE </a:t>
            </a:r>
            <a:r>
              <a:rPr lang="en-US" altLang="zh-CN" dirty="0" err="1">
                <a:solidFill>
                  <a:srgbClr val="FF0000"/>
                </a:solidFill>
                <a:latin typeface="Arial" panose="020B0604020202090204" pitchFamily="34" charset="0"/>
                <a:cs typeface="Arial" panose="020B0604020202090204" pitchFamily="34" charset="0"/>
              </a:rPr>
              <a:t>Sdept</a:t>
            </a:r>
            <a:r>
              <a:rPr lang="en-US" altLang="zh-CN" dirty="0">
                <a:solidFill>
                  <a:srgbClr val="FF0000"/>
                </a:solidFill>
                <a:latin typeface="Arial" panose="020B0604020202090204" pitchFamily="34" charset="0"/>
                <a:cs typeface="Arial" panose="020B0604020202090204" pitchFamily="34" charset="0"/>
              </a:rPr>
              <a:t>= </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CS ' </a:t>
            </a:r>
            <a:r>
              <a:rPr lang="zh-CN" altLang="en-US" dirty="0">
                <a:solidFill>
                  <a:srgbClr val="FF0000"/>
                </a:solidFill>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1735455" lvl="4" indent="0">
              <a:lnSpc>
                <a:spcPct val="110000"/>
              </a:lnSpc>
              <a:spcBef>
                <a:spcPts val="1000"/>
              </a:spcBef>
              <a:buNone/>
            </a:pPr>
            <a:r>
              <a:rPr lang="en-US" altLang="zh-CN" dirty="0">
                <a:latin typeface="Arial" panose="020B0604020202090204" pitchFamily="34" charset="0"/>
                <a:cs typeface="Arial" panose="020B0604020202090204" pitchFamily="34" charset="0"/>
              </a:rPr>
              <a:t>AND </a:t>
            </a:r>
            <a:r>
              <a:rPr lang="en-US" altLang="zh-CN" dirty="0" err="1">
                <a:latin typeface="Arial" panose="020B0604020202090204" pitchFamily="34" charset="0"/>
                <a:cs typeface="Arial" panose="020B0604020202090204" pitchFamily="34" charset="0"/>
              </a:rPr>
              <a:t>Sdept</a:t>
            </a:r>
            <a:r>
              <a:rPr lang="en-US" altLang="zh-CN" dirty="0">
                <a:latin typeface="Arial" panose="020B0604020202090204" pitchFamily="34" charset="0"/>
                <a:cs typeface="Arial" panose="020B0604020202090204" pitchFamily="34" charset="0"/>
              </a:rPr>
              <a:t> &lt;&gt; 'CS</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a:t>
            </a:r>
            <a:endParaRPr lang="en-US" altLang="zh-CN"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fontScale="90000"/>
          </a:bodyPr>
          <a:lstStyle/>
          <a:p>
            <a:r>
              <a:rPr lang="zh-CN" altLang="en-US" sz="3110" dirty="0"/>
              <a:t>带有</a:t>
            </a:r>
            <a:r>
              <a:rPr lang="en-US" altLang="zh-CN" sz="3110" dirty="0"/>
              <a:t> ANY</a:t>
            </a:r>
            <a:r>
              <a:rPr lang="zh-CN" altLang="en-US" sz="3110" dirty="0"/>
              <a:t>（</a:t>
            </a:r>
            <a:r>
              <a:rPr lang="en-US" altLang="zh-CN" sz="3110" dirty="0"/>
              <a:t>SOME</a:t>
            </a:r>
            <a:r>
              <a:rPr lang="zh-CN" altLang="en-US" sz="3110" dirty="0"/>
              <a:t>）或</a:t>
            </a:r>
            <a:r>
              <a:rPr lang="en-US" altLang="zh-CN" sz="3110" dirty="0"/>
              <a:t> ALL </a:t>
            </a:r>
            <a:r>
              <a:rPr lang="zh-CN" altLang="en-US" sz="3110" dirty="0"/>
              <a:t>谓词的子查询 </a:t>
            </a:r>
            <a:r>
              <a:rPr lang="en-US" altLang="zh-CN" sz="3110" dirty="0"/>
              <a:t>4</a:t>
            </a:r>
            <a:endParaRPr lang="zh-CN" altLang="en-US" sz="3110" dirty="0"/>
          </a:p>
        </p:txBody>
      </p:sp>
      <p:sp>
        <p:nvSpPr>
          <p:cNvPr id="3" name="文本占位符 2"/>
          <p:cNvSpPr>
            <a:spLocks noGrp="1"/>
          </p:cNvSpPr>
          <p:nvPr>
            <p:ph type="body" idx="1"/>
          </p:nvPr>
        </p:nvSpPr>
        <p:spPr>
          <a:xfrm>
            <a:off x="424800" y="1593215"/>
            <a:ext cx="5580000" cy="565150"/>
          </a:xfrm>
          <a:solidFill>
            <a:schemeClr val="accent3">
              <a:lumMod val="20000"/>
              <a:lumOff val="80000"/>
              <a:alpha val="50000"/>
            </a:schemeClr>
          </a:solidFill>
        </p:spPr>
        <p:txBody>
          <a:bodyPr>
            <a:spAutoFit/>
          </a:bodyPr>
          <a:p>
            <a:r>
              <a:rPr lang="zh-CN" altLang="en-US" sz="2800" dirty="0">
                <a:sym typeface="+mn-ea"/>
              </a:rPr>
              <a:t>方法一：用</a:t>
            </a:r>
            <a:r>
              <a:rPr lang="en-US" altLang="zh-CN" sz="2800" dirty="0">
                <a:sym typeface="+mn-ea"/>
              </a:rPr>
              <a:t>ALL</a:t>
            </a:r>
            <a:r>
              <a:rPr lang="zh-CN" altLang="en-US" sz="2800" dirty="0">
                <a:sym typeface="+mn-ea"/>
              </a:rPr>
              <a:t>谓词</a:t>
            </a:r>
            <a:endParaRPr lang="zh-CN" altLang="en-US" sz="2800"/>
          </a:p>
        </p:txBody>
      </p:sp>
      <p:sp>
        <p:nvSpPr>
          <p:cNvPr id="52227" name="Rectangle 3"/>
          <p:cNvSpPr>
            <a:spLocks noGrp="1" noChangeArrowheads="1"/>
          </p:cNvSpPr>
          <p:nvPr>
            <p:ph sz="half" idx="2"/>
          </p:nvPr>
        </p:nvSpPr>
        <p:spPr>
          <a:xfrm>
            <a:off x="424815" y="2205355"/>
            <a:ext cx="5579745" cy="4114800"/>
          </a:xfrm>
        </p:spPr>
        <p:txBody>
          <a:bodyPr>
            <a:noAutofit/>
          </a:bodyPr>
          <a:lstStyle/>
          <a:p>
            <a:pPr marL="363855" lvl="1" indent="0">
              <a:lnSpc>
                <a:spcPct val="110000"/>
              </a:lnSpc>
              <a:spcBef>
                <a:spcPts val="500"/>
              </a:spcBef>
              <a:buNone/>
            </a:pPr>
            <a:r>
              <a:rPr lang="en-US" altLang="zh-CN" dirty="0">
                <a:latin typeface="Arial" panose="020B0604020202090204" pitchFamily="34" charset="0"/>
                <a:cs typeface="Arial" panose="020B0604020202090204" pitchFamily="34" charset="0"/>
              </a:rPr>
              <a:t>SELECT  </a:t>
            </a:r>
            <a:r>
              <a:rPr lang="en-US" altLang="zh-CN" dirty="0" err="1">
                <a:latin typeface="Arial" panose="020B0604020202090204" pitchFamily="34" charset="0"/>
                <a:cs typeface="Arial" panose="020B0604020202090204" pitchFamily="34" charset="0"/>
              </a:rPr>
              <a:t>Sname</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Sage</a:t>
            </a:r>
            <a:endParaRPr lang="en-US" altLang="zh-CN" dirty="0">
              <a:latin typeface="Arial" panose="020B0604020202090204" pitchFamily="34" charset="0"/>
              <a:cs typeface="Arial" panose="020B0604020202090204" pitchFamily="34" charset="0"/>
            </a:endParaRPr>
          </a:p>
          <a:p>
            <a:pPr marL="363855" lvl="1" indent="0">
              <a:lnSpc>
                <a:spcPct val="110000"/>
              </a:lnSpc>
              <a:spcBef>
                <a:spcPts val="500"/>
              </a:spcBef>
              <a:buNone/>
            </a:pPr>
            <a:r>
              <a:rPr lang="en-US" altLang="zh-CN" dirty="0">
                <a:latin typeface="Arial" panose="020B0604020202090204" pitchFamily="34" charset="0"/>
                <a:cs typeface="Arial" panose="020B0604020202090204" pitchFamily="34" charset="0"/>
              </a:rPr>
              <a:t>FROM      Student</a:t>
            </a:r>
            <a:endParaRPr lang="en-US" altLang="zh-CN" dirty="0">
              <a:latin typeface="Arial" panose="020B0604020202090204" pitchFamily="34" charset="0"/>
              <a:cs typeface="Arial" panose="020B0604020202090204" pitchFamily="34" charset="0"/>
            </a:endParaRPr>
          </a:p>
          <a:p>
            <a:pPr marL="363855" lvl="1" indent="0">
              <a:lnSpc>
                <a:spcPct val="110000"/>
              </a:lnSpc>
              <a:spcBef>
                <a:spcPts val="500"/>
              </a:spcBef>
              <a:buNone/>
            </a:pPr>
            <a:r>
              <a:rPr lang="en-US" altLang="zh-CN" dirty="0">
                <a:latin typeface="Arial" panose="020B0604020202090204" pitchFamily="34" charset="0"/>
                <a:cs typeface="Arial" panose="020B0604020202090204" pitchFamily="34" charset="0"/>
              </a:rPr>
              <a:t>WHERE  Sage &lt; </a:t>
            </a:r>
            <a:r>
              <a:rPr lang="en-US" altLang="zh-CN" dirty="0">
                <a:solidFill>
                  <a:srgbClr val="FF0000"/>
                </a:solidFill>
                <a:latin typeface="Arial" panose="020B0604020202090204" pitchFamily="34" charset="0"/>
                <a:cs typeface="Arial" panose="020B0604020202090204" pitchFamily="34" charset="0"/>
              </a:rPr>
              <a:t>ALL </a:t>
            </a:r>
            <a:r>
              <a:rPr lang="en-US" altLang="zh-CN" dirty="0">
                <a:latin typeface="Arial" panose="020B0604020202090204" pitchFamily="34" charset="0"/>
                <a:cs typeface="Arial" panose="020B0604020202090204" pitchFamily="34" charset="0"/>
              </a:rPr>
              <a:t>(</a:t>
            </a:r>
            <a:endParaRPr lang="en-US" altLang="zh-CN" dirty="0">
              <a:latin typeface="Arial" panose="020B0604020202090204" pitchFamily="34" charset="0"/>
              <a:cs typeface="Arial" panose="020B0604020202090204" pitchFamily="34" charset="0"/>
            </a:endParaRPr>
          </a:p>
          <a:p>
            <a:pPr marL="1278255" lvl="3" indent="0">
              <a:lnSpc>
                <a:spcPct val="110000"/>
              </a:lnSpc>
              <a:spcBef>
                <a:spcPts val="500"/>
              </a:spcBef>
              <a:buNone/>
            </a:pPr>
            <a:r>
              <a:rPr lang="en-US" altLang="zh-CN" dirty="0">
                <a:latin typeface="Arial" panose="020B0604020202090204" pitchFamily="34" charset="0"/>
                <a:cs typeface="Arial" panose="020B0604020202090204" pitchFamily="34" charset="0"/>
              </a:rPr>
              <a:t>SELECT  Sage</a:t>
            </a:r>
            <a:endParaRPr lang="en-US" altLang="zh-CN" dirty="0">
              <a:latin typeface="Arial" panose="020B0604020202090204" pitchFamily="34" charset="0"/>
              <a:cs typeface="Arial" panose="020B0604020202090204" pitchFamily="34" charset="0"/>
            </a:endParaRPr>
          </a:p>
          <a:p>
            <a:pPr marL="1278255" lvl="3" indent="0">
              <a:lnSpc>
                <a:spcPct val="110000"/>
              </a:lnSpc>
              <a:spcBef>
                <a:spcPts val="500"/>
              </a:spcBef>
              <a:buNone/>
            </a:pPr>
            <a:r>
              <a:rPr lang="en-US" altLang="zh-CN" dirty="0">
                <a:latin typeface="Arial" panose="020B0604020202090204" pitchFamily="34" charset="0"/>
                <a:cs typeface="Arial" panose="020B0604020202090204" pitchFamily="34" charset="0"/>
              </a:rPr>
              <a:t>FROM  Student</a:t>
            </a:r>
            <a:endParaRPr lang="en-US" altLang="zh-CN" dirty="0">
              <a:latin typeface="Arial" panose="020B0604020202090204" pitchFamily="34" charset="0"/>
              <a:cs typeface="Arial" panose="020B0604020202090204" pitchFamily="34" charset="0"/>
            </a:endParaRPr>
          </a:p>
          <a:p>
            <a:pPr marL="1278255" lvl="3" indent="0">
              <a:lnSpc>
                <a:spcPct val="110000"/>
              </a:lnSpc>
              <a:spcBef>
                <a:spcPts val="500"/>
              </a:spcBef>
              <a:buNone/>
            </a:pPr>
            <a:r>
              <a:rPr lang="en-US" altLang="zh-CN" dirty="0">
                <a:latin typeface="Arial" panose="020B0604020202090204" pitchFamily="34" charset="0"/>
                <a:cs typeface="Arial" panose="020B0604020202090204" pitchFamily="34" charset="0"/>
              </a:rPr>
              <a:t>WHERE  </a:t>
            </a:r>
            <a:r>
              <a:rPr lang="en-US" altLang="zh-CN" dirty="0" err="1">
                <a:latin typeface="Arial" panose="020B0604020202090204" pitchFamily="34" charset="0"/>
                <a:cs typeface="Arial" panose="020B0604020202090204" pitchFamily="34" charset="0"/>
              </a:rPr>
              <a:t>Sdept </a:t>
            </a:r>
            <a:r>
              <a:rPr lang="en-US" altLang="zh-CN" dirty="0">
                <a:latin typeface="Arial" panose="020B0604020202090204" pitchFamily="34" charset="0"/>
                <a:cs typeface="Arial" panose="020B0604020202090204" pitchFamily="34" charset="0"/>
              </a:rPr>
              <a:t>= 'CS'</a:t>
            </a:r>
            <a:r>
              <a:rPr lang="zh-CN" altLang="en-US"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821055" lvl="2" indent="0">
              <a:lnSpc>
                <a:spcPct val="110000"/>
              </a:lnSpc>
              <a:spcBef>
                <a:spcPts val="500"/>
              </a:spcBef>
              <a:buNone/>
            </a:pPr>
            <a:r>
              <a:rPr lang="en-US" altLang="zh-CN" dirty="0">
                <a:latin typeface="Arial" panose="020B0604020202090204" pitchFamily="34" charset="0"/>
                <a:cs typeface="Arial" panose="020B0604020202090204" pitchFamily="34" charset="0"/>
              </a:rPr>
              <a:t>AND </a:t>
            </a:r>
            <a:r>
              <a:rPr lang="en-US" altLang="zh-CN" dirty="0" err="1">
                <a:latin typeface="Arial" panose="020B0604020202090204" pitchFamily="34" charset="0"/>
                <a:cs typeface="Arial" panose="020B0604020202090204" pitchFamily="34" charset="0"/>
              </a:rPr>
              <a:t>Sdept</a:t>
            </a:r>
            <a:r>
              <a:rPr lang="en-US" altLang="zh-CN" dirty="0">
                <a:latin typeface="Arial" panose="020B0604020202090204" pitchFamily="34" charset="0"/>
                <a:cs typeface="Arial" panose="020B0604020202090204" pitchFamily="34" charset="0"/>
              </a:rPr>
              <a:t> &lt;&gt; 'CS</a:t>
            </a:r>
            <a:r>
              <a:rPr lang="en-US" altLang="zh-CN" dirty="0">
                <a:latin typeface="Arial" panose="020B0604020202090204" pitchFamily="34" charset="0"/>
                <a:cs typeface="Arial" panose="020B0604020202090204" pitchFamily="34" charset="0"/>
                <a:sym typeface="+mn-ea"/>
              </a:rPr>
              <a:t>'</a:t>
            </a:r>
            <a:r>
              <a:rPr lang="en-US" altLang="zh-CN" dirty="0">
                <a:latin typeface="Arial" panose="020B0604020202090204" pitchFamily="34" charset="0"/>
                <a:cs typeface="Arial" panose="020B0604020202090204" pitchFamily="34" charset="0"/>
              </a:rPr>
              <a:t>;</a:t>
            </a:r>
            <a:endParaRPr lang="en-US" altLang="zh-CN" dirty="0">
              <a:latin typeface="Arial" panose="020B0604020202090204" pitchFamily="34" charset="0"/>
              <a:cs typeface="Arial" panose="020B0604020202090204" pitchFamily="34" charset="0"/>
            </a:endParaRPr>
          </a:p>
        </p:txBody>
      </p:sp>
      <p:sp>
        <p:nvSpPr>
          <p:cNvPr id="5" name="文本占位符 4"/>
          <p:cNvSpPr>
            <a:spLocks noGrp="1"/>
          </p:cNvSpPr>
          <p:nvPr>
            <p:ph type="body" sz="quarter" idx="3"/>
          </p:nvPr>
        </p:nvSpPr>
        <p:spPr>
          <a:xfrm>
            <a:off x="6172200" y="1593215"/>
            <a:ext cx="5589270" cy="565150"/>
          </a:xfrm>
          <a:solidFill>
            <a:schemeClr val="accent3">
              <a:lumMod val="20000"/>
              <a:lumOff val="80000"/>
              <a:alpha val="50000"/>
            </a:schemeClr>
          </a:solidFill>
        </p:spPr>
        <p:txBody>
          <a:bodyPr>
            <a:spAutoFit/>
          </a:bodyPr>
          <a:p>
            <a:r>
              <a:rPr lang="zh-CN" altLang="en-US" sz="2800" dirty="0">
                <a:sym typeface="+mn-ea"/>
              </a:rPr>
              <a:t>方法二：用聚集函数</a:t>
            </a:r>
            <a:endParaRPr lang="zh-CN" altLang="en-US" sz="2800" dirty="0">
              <a:sym typeface="+mn-ea"/>
            </a:endParaRPr>
          </a:p>
        </p:txBody>
      </p:sp>
      <p:sp>
        <p:nvSpPr>
          <p:cNvPr id="4" name="内容占位符 3"/>
          <p:cNvSpPr>
            <a:spLocks noGrp="1"/>
          </p:cNvSpPr>
          <p:nvPr>
            <p:ph sz="quarter" idx="4"/>
          </p:nvPr>
        </p:nvSpPr>
        <p:spPr>
          <a:xfrm>
            <a:off x="6172200" y="2205355"/>
            <a:ext cx="5589270" cy="4114800"/>
          </a:xfrm>
        </p:spPr>
        <p:txBody>
          <a:bodyPr>
            <a:noAutofit/>
          </a:bodyPr>
          <a:lstStyle/>
          <a:p>
            <a:pPr marL="457200" lvl="1" indent="-83185" defTabSz="914400">
              <a:lnSpc>
                <a:spcPct val="110000"/>
              </a:lnSpc>
              <a:spcBef>
                <a:spcPts val="500"/>
              </a:spcBef>
              <a:buNone/>
              <a:tabLst>
                <a:tab pos="358140" algn="l"/>
              </a:tabLst>
            </a:pPr>
            <a:r>
              <a:rPr lang="en-US" altLang="zh-CN" dirty="0">
                <a:latin typeface="Arial" panose="020B0604020202090204" pitchFamily="34" charset="0"/>
                <a:cs typeface="Arial" panose="020B0604020202090204" pitchFamily="34" charset="0"/>
              </a:rPr>
              <a:t>SELECT  </a:t>
            </a:r>
            <a:r>
              <a:rPr lang="en-US" altLang="zh-CN" dirty="0" err="1">
                <a:latin typeface="Arial" panose="020B0604020202090204" pitchFamily="34" charset="0"/>
                <a:cs typeface="Arial" panose="020B0604020202090204" pitchFamily="34" charset="0"/>
              </a:rPr>
              <a:t>Sname</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Sage</a:t>
            </a:r>
            <a:endParaRPr lang="en-US" altLang="zh-CN" dirty="0">
              <a:latin typeface="Arial" panose="020B0604020202090204" pitchFamily="34" charset="0"/>
              <a:cs typeface="Arial" panose="020B0604020202090204" pitchFamily="34" charset="0"/>
            </a:endParaRPr>
          </a:p>
          <a:p>
            <a:pPr marL="363855" lvl="1" indent="0">
              <a:lnSpc>
                <a:spcPct val="110000"/>
              </a:lnSpc>
              <a:spcBef>
                <a:spcPts val="500"/>
              </a:spcBef>
              <a:buNone/>
            </a:pPr>
            <a:r>
              <a:rPr lang="en-US" altLang="zh-CN" dirty="0">
                <a:latin typeface="Arial" panose="020B0604020202090204" pitchFamily="34" charset="0"/>
                <a:cs typeface="Arial" panose="020B0604020202090204" pitchFamily="34" charset="0"/>
              </a:rPr>
              <a:t>FROM      Student</a:t>
            </a:r>
            <a:endParaRPr lang="en-US" altLang="zh-CN" dirty="0">
              <a:latin typeface="Arial" panose="020B0604020202090204" pitchFamily="34" charset="0"/>
              <a:cs typeface="Arial" panose="020B0604020202090204" pitchFamily="34" charset="0"/>
            </a:endParaRPr>
          </a:p>
          <a:p>
            <a:pPr marL="363855" lvl="1" indent="0">
              <a:lnSpc>
                <a:spcPct val="110000"/>
              </a:lnSpc>
              <a:spcBef>
                <a:spcPts val="500"/>
              </a:spcBef>
              <a:buNone/>
            </a:pPr>
            <a:r>
              <a:rPr lang="en-US" altLang="zh-CN" dirty="0">
                <a:latin typeface="Arial" panose="020B0604020202090204" pitchFamily="34" charset="0"/>
                <a:cs typeface="Arial" panose="020B0604020202090204" pitchFamily="34" charset="0"/>
              </a:rPr>
              <a:t>WHERE  Sage &lt; (</a:t>
            </a:r>
            <a:endParaRPr lang="en-US" altLang="zh-CN" dirty="0">
              <a:latin typeface="Arial" panose="020B0604020202090204" pitchFamily="34" charset="0"/>
              <a:cs typeface="Arial" panose="020B0604020202090204" pitchFamily="34" charset="0"/>
            </a:endParaRPr>
          </a:p>
          <a:p>
            <a:pPr marL="1278255" lvl="3" indent="0">
              <a:lnSpc>
                <a:spcPct val="110000"/>
              </a:lnSpc>
              <a:spcBef>
                <a:spcPts val="500"/>
              </a:spcBef>
              <a:buNone/>
            </a:pPr>
            <a:r>
              <a:rPr lang="en-US" altLang="zh-CN" dirty="0">
                <a:latin typeface="Arial" panose="020B0604020202090204" pitchFamily="34" charset="0"/>
                <a:cs typeface="Arial" panose="020B0604020202090204" pitchFamily="34" charset="0"/>
              </a:rPr>
              <a:t>SELECT  </a:t>
            </a:r>
            <a:r>
              <a:rPr lang="en-US" altLang="zh-CN" dirty="0">
                <a:solidFill>
                  <a:srgbClr val="FF0000"/>
                </a:solidFill>
                <a:latin typeface="Arial" panose="020B0604020202090204" pitchFamily="34" charset="0"/>
                <a:cs typeface="Arial" panose="020B0604020202090204" pitchFamily="34" charset="0"/>
              </a:rPr>
              <a:t>MIN</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Sage</a:t>
            </a:r>
            <a:r>
              <a:rPr lang="zh-CN" altLang="en-US" dirty="0">
                <a:solidFill>
                  <a:srgbClr val="FF0000"/>
                </a:solidFill>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1278255" lvl="3" indent="0">
              <a:lnSpc>
                <a:spcPct val="110000"/>
              </a:lnSpc>
              <a:spcBef>
                <a:spcPts val="500"/>
              </a:spcBef>
              <a:buNone/>
            </a:pPr>
            <a:r>
              <a:rPr lang="en-US" altLang="zh-CN" dirty="0">
                <a:latin typeface="Arial" panose="020B0604020202090204" pitchFamily="34" charset="0"/>
                <a:cs typeface="Arial" panose="020B0604020202090204" pitchFamily="34" charset="0"/>
              </a:rPr>
              <a:t>FROM  Student</a:t>
            </a:r>
            <a:endParaRPr lang="en-US" altLang="zh-CN" dirty="0">
              <a:latin typeface="Arial" panose="020B0604020202090204" pitchFamily="34" charset="0"/>
              <a:cs typeface="Arial" panose="020B0604020202090204" pitchFamily="34" charset="0"/>
            </a:endParaRPr>
          </a:p>
          <a:p>
            <a:pPr marL="1278255" lvl="3" indent="0">
              <a:lnSpc>
                <a:spcPct val="110000"/>
              </a:lnSpc>
              <a:spcBef>
                <a:spcPts val="500"/>
              </a:spcBef>
              <a:buNone/>
            </a:pPr>
            <a:r>
              <a:rPr lang="en-US" altLang="zh-CN" dirty="0">
                <a:latin typeface="Arial" panose="020B0604020202090204" pitchFamily="34" charset="0"/>
                <a:cs typeface="Arial" panose="020B0604020202090204" pitchFamily="34" charset="0"/>
              </a:rPr>
              <a:t>WHERE  </a:t>
            </a:r>
            <a:r>
              <a:rPr lang="en-US" altLang="zh-CN" dirty="0" err="1">
                <a:latin typeface="Arial" panose="020B0604020202090204" pitchFamily="34" charset="0"/>
                <a:cs typeface="Arial" panose="020B0604020202090204" pitchFamily="34" charset="0"/>
              </a:rPr>
              <a:t>Sdept </a:t>
            </a:r>
            <a:r>
              <a:rPr lang="en-US" altLang="zh-CN" dirty="0">
                <a:latin typeface="Arial" panose="020B0604020202090204" pitchFamily="34" charset="0"/>
                <a:cs typeface="Arial" panose="020B0604020202090204" pitchFamily="34" charset="0"/>
              </a:rPr>
              <a:t>= 'CS'</a:t>
            </a:r>
            <a:r>
              <a:rPr lang="zh-CN" altLang="en-US"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821055" lvl="2" indent="0">
              <a:lnSpc>
                <a:spcPct val="110000"/>
              </a:lnSpc>
              <a:spcBef>
                <a:spcPts val="500"/>
              </a:spcBef>
              <a:buNone/>
            </a:pPr>
            <a:r>
              <a:rPr lang="en-US" altLang="zh-CN" dirty="0">
                <a:latin typeface="Arial" panose="020B0604020202090204" pitchFamily="34" charset="0"/>
                <a:cs typeface="Arial" panose="020B0604020202090204" pitchFamily="34" charset="0"/>
              </a:rPr>
              <a:t>AND </a:t>
            </a:r>
            <a:r>
              <a:rPr lang="en-US" altLang="zh-CN" dirty="0" err="1">
                <a:latin typeface="Arial" panose="020B0604020202090204" pitchFamily="34" charset="0"/>
                <a:cs typeface="Arial" panose="020B0604020202090204" pitchFamily="34" charset="0"/>
              </a:rPr>
              <a:t>Sdept</a:t>
            </a:r>
            <a:r>
              <a:rPr lang="en-US" altLang="zh-CN" dirty="0">
                <a:latin typeface="Arial" panose="020B0604020202090204" pitchFamily="34" charset="0"/>
                <a:cs typeface="Arial" panose="020B0604020202090204" pitchFamily="34" charset="0"/>
              </a:rPr>
              <a:t> &lt;&gt; 'CS</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p:txBody>
      </p:sp>
      <p:sp>
        <p:nvSpPr>
          <p:cNvPr id="33795" name="Rectangle 3"/>
          <p:cNvSpPr>
            <a:spLocks noGrp="1" noChangeArrowheads="1"/>
          </p:cNvSpPr>
          <p:nvPr/>
        </p:nvSpPr>
        <p:spPr>
          <a:xfrm>
            <a:off x="424180" y="636270"/>
            <a:ext cx="11343005" cy="953135"/>
          </a:xfrm>
          <a:prstGeom prst="rect">
            <a:avLst/>
          </a:prstGeom>
          <a:no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ct val="0"/>
              </a:spcBef>
            </a:pPr>
            <a:r>
              <a:rPr lang="en-US" altLang="zh-CN" sz="2800" dirty="0">
                <a:sym typeface="+mn-ea"/>
              </a:rPr>
              <a:t>[</a:t>
            </a:r>
            <a:r>
              <a:rPr lang="zh-CN" altLang="en-US" sz="2800" dirty="0">
                <a:sym typeface="+mn-ea"/>
              </a:rPr>
              <a:t>例</a:t>
            </a:r>
            <a:r>
              <a:rPr lang="en-US" altLang="zh-CN" sz="2800" dirty="0">
                <a:sym typeface="+mn-ea"/>
              </a:rPr>
              <a:t>3.59]</a:t>
            </a:r>
            <a:r>
              <a:rPr lang="zh-CN" altLang="en-US" sz="2800" dirty="0">
                <a:sym typeface="+mn-ea"/>
              </a:rPr>
              <a:t>查询非计算机科学系中</a:t>
            </a:r>
            <a:r>
              <a:rPr lang="zh-CN" altLang="en-US" sz="2800" dirty="0">
                <a:solidFill>
                  <a:srgbClr val="C00000"/>
                </a:solidFill>
                <a:sym typeface="+mn-ea"/>
              </a:rPr>
              <a:t>比计算机科学系所有学生年龄都小</a:t>
            </a:r>
            <a:r>
              <a:rPr lang="zh-CN" altLang="en-US" sz="2800" dirty="0">
                <a:sym typeface="+mn-ea"/>
              </a:rPr>
              <a:t>的学生姓名及年龄。</a:t>
            </a:r>
            <a:endParaRPr lang="en-US" altLang="zh-CN" sz="2800" dirty="0">
              <a:solidFill>
                <a:srgbClr val="0000C8"/>
              </a:solidFill>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blinds(horizontal)">
                                      <p:cBhvr>
                                        <p:cTn id="7" dur="500"/>
                                        <p:tgtEl>
                                          <p:spTgt spid="3">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linds(horizontal)">
                                      <p:cBhvr>
                                        <p:cTn id="10" dur="500"/>
                                        <p:tgtEl>
                                          <p:spTgt spid="3">
                                            <p:txEl>
                                              <p:pRg st="0" end="0"/>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2227">
                                            <p:txEl>
                                              <p:pRg st="0" end="0"/>
                                            </p:txEl>
                                          </p:spTgt>
                                        </p:tgtEl>
                                        <p:attrNameLst>
                                          <p:attrName>style.visibility</p:attrName>
                                        </p:attrNameLst>
                                      </p:cBhvr>
                                      <p:to>
                                        <p:strVal val="visible"/>
                                      </p:to>
                                    </p:set>
                                    <p:animEffect transition="in" filter="blinds(horizontal)">
                                      <p:cBhvr>
                                        <p:cTn id="13" dur="500"/>
                                        <p:tgtEl>
                                          <p:spTgt spid="52227">
                                            <p:txEl>
                                              <p:pRg st="0" end="0"/>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2227">
                                            <p:txEl>
                                              <p:pRg st="1" end="1"/>
                                            </p:txEl>
                                          </p:spTgt>
                                        </p:tgtEl>
                                        <p:attrNameLst>
                                          <p:attrName>style.visibility</p:attrName>
                                        </p:attrNameLst>
                                      </p:cBhvr>
                                      <p:to>
                                        <p:strVal val="visible"/>
                                      </p:to>
                                    </p:set>
                                    <p:animEffect transition="in" filter="blinds(horizontal)">
                                      <p:cBhvr>
                                        <p:cTn id="16" dur="500"/>
                                        <p:tgtEl>
                                          <p:spTgt spid="52227">
                                            <p:txEl>
                                              <p:pRg st="1" end="1"/>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Effect transition="in" filter="blinds(horizontal)">
                                      <p:cBhvr>
                                        <p:cTn id="19" dur="500"/>
                                        <p:tgtEl>
                                          <p:spTgt spid="52227">
                                            <p:txEl>
                                              <p:pRg st="2" end="2"/>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2227">
                                            <p:txEl>
                                              <p:pRg st="3" end="3"/>
                                            </p:txEl>
                                          </p:spTgt>
                                        </p:tgtEl>
                                        <p:attrNameLst>
                                          <p:attrName>style.visibility</p:attrName>
                                        </p:attrNameLst>
                                      </p:cBhvr>
                                      <p:to>
                                        <p:strVal val="visible"/>
                                      </p:to>
                                    </p:set>
                                    <p:animEffect transition="in" filter="blinds(horizontal)">
                                      <p:cBhvr>
                                        <p:cTn id="22" dur="500"/>
                                        <p:tgtEl>
                                          <p:spTgt spid="52227">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2227">
                                            <p:txEl>
                                              <p:pRg st="4" end="4"/>
                                            </p:txEl>
                                          </p:spTgt>
                                        </p:tgtEl>
                                        <p:attrNameLst>
                                          <p:attrName>style.visibility</p:attrName>
                                        </p:attrNameLst>
                                      </p:cBhvr>
                                      <p:to>
                                        <p:strVal val="visible"/>
                                      </p:to>
                                    </p:set>
                                    <p:animEffect transition="in" filter="blinds(horizontal)">
                                      <p:cBhvr>
                                        <p:cTn id="25" dur="500"/>
                                        <p:tgtEl>
                                          <p:spTgt spid="52227">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2227">
                                            <p:txEl>
                                              <p:pRg st="5" end="5"/>
                                            </p:txEl>
                                          </p:spTgt>
                                        </p:tgtEl>
                                        <p:attrNameLst>
                                          <p:attrName>style.visibility</p:attrName>
                                        </p:attrNameLst>
                                      </p:cBhvr>
                                      <p:to>
                                        <p:strVal val="visible"/>
                                      </p:to>
                                    </p:set>
                                    <p:animEffect transition="in" filter="blinds(horizontal)">
                                      <p:cBhvr>
                                        <p:cTn id="28" dur="500"/>
                                        <p:tgtEl>
                                          <p:spTgt spid="52227">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2227">
                                            <p:txEl>
                                              <p:pRg st="6" end="6"/>
                                            </p:txEl>
                                          </p:spTgt>
                                        </p:tgtEl>
                                        <p:attrNameLst>
                                          <p:attrName>style.visibility</p:attrName>
                                        </p:attrNameLst>
                                      </p:cBhvr>
                                      <p:to>
                                        <p:strVal val="visible"/>
                                      </p:to>
                                    </p:set>
                                    <p:animEffect transition="in" filter="blinds(horizontal)">
                                      <p:cBhvr>
                                        <p:cTn id="31" dur="500"/>
                                        <p:tgtEl>
                                          <p:spTgt spid="52227">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
                                            <p:bg/>
                                          </p:spTgt>
                                        </p:tgtEl>
                                        <p:attrNameLst>
                                          <p:attrName>style.visibility</p:attrName>
                                        </p:attrNameLst>
                                      </p:cBhvr>
                                      <p:to>
                                        <p:strVal val="visible"/>
                                      </p:to>
                                    </p:set>
                                    <p:animEffect transition="in" filter="blinds(horizontal)">
                                      <p:cBhvr>
                                        <p:cTn id="36" dur="500"/>
                                        <p:tgtEl>
                                          <p:spTgt spid="5">
                                            <p:bg/>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
                                            <p:txEl>
                                              <p:pRg st="0" end="0"/>
                                            </p:txEl>
                                          </p:spTgt>
                                        </p:tgtEl>
                                        <p:attrNameLst>
                                          <p:attrName>style.visibility</p:attrName>
                                        </p:attrNameLst>
                                      </p:cBhvr>
                                      <p:to>
                                        <p:strVal val="visible"/>
                                      </p:to>
                                    </p:set>
                                    <p:animEffect transition="in" filter="blinds(horizontal)">
                                      <p:cBhvr>
                                        <p:cTn id="39" dur="500"/>
                                        <p:tgtEl>
                                          <p:spTgt spid="5">
                                            <p:txEl>
                                              <p:pRg st="0" end="0"/>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Effect transition="in" filter="blinds(horizontal)">
                                      <p:cBhvr>
                                        <p:cTn id="42" dur="500"/>
                                        <p:tgtEl>
                                          <p:spTgt spid="4">
                                            <p:txEl>
                                              <p:pRg st="0" end="0"/>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4">
                                            <p:txEl>
                                              <p:pRg st="1" end="1"/>
                                            </p:txEl>
                                          </p:spTgt>
                                        </p:tgtEl>
                                        <p:attrNameLst>
                                          <p:attrName>style.visibility</p:attrName>
                                        </p:attrNameLst>
                                      </p:cBhvr>
                                      <p:to>
                                        <p:strVal val="visible"/>
                                      </p:to>
                                    </p:set>
                                    <p:animEffect transition="in" filter="blinds(horizontal)">
                                      <p:cBhvr>
                                        <p:cTn id="45" dur="500"/>
                                        <p:tgtEl>
                                          <p:spTgt spid="4">
                                            <p:txEl>
                                              <p:pRg st="1" end="1"/>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4">
                                            <p:txEl>
                                              <p:pRg st="2" end="2"/>
                                            </p:txEl>
                                          </p:spTgt>
                                        </p:tgtEl>
                                        <p:attrNameLst>
                                          <p:attrName>style.visibility</p:attrName>
                                        </p:attrNameLst>
                                      </p:cBhvr>
                                      <p:to>
                                        <p:strVal val="visible"/>
                                      </p:to>
                                    </p:set>
                                    <p:animEffect transition="in" filter="blinds(horizontal)">
                                      <p:cBhvr>
                                        <p:cTn id="48" dur="500"/>
                                        <p:tgtEl>
                                          <p:spTgt spid="4">
                                            <p:txEl>
                                              <p:pRg st="2" end="2"/>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4">
                                            <p:txEl>
                                              <p:pRg st="3" end="3"/>
                                            </p:txEl>
                                          </p:spTgt>
                                        </p:tgtEl>
                                        <p:attrNameLst>
                                          <p:attrName>style.visibility</p:attrName>
                                        </p:attrNameLst>
                                      </p:cBhvr>
                                      <p:to>
                                        <p:strVal val="visible"/>
                                      </p:to>
                                    </p:set>
                                    <p:animEffect transition="in" filter="blinds(horizontal)">
                                      <p:cBhvr>
                                        <p:cTn id="51" dur="500"/>
                                        <p:tgtEl>
                                          <p:spTgt spid="4">
                                            <p:txEl>
                                              <p:pRg st="3" end="3"/>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Effect transition="in" filter="blinds(horizontal)">
                                      <p:cBhvr>
                                        <p:cTn id="54" dur="500"/>
                                        <p:tgtEl>
                                          <p:spTgt spid="4">
                                            <p:txEl>
                                              <p:pRg st="4" end="4"/>
                                            </p:txEl>
                                          </p:spTgt>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4">
                                            <p:txEl>
                                              <p:pRg st="5" end="5"/>
                                            </p:txEl>
                                          </p:spTgt>
                                        </p:tgtEl>
                                        <p:attrNameLst>
                                          <p:attrName>style.visibility</p:attrName>
                                        </p:attrNameLst>
                                      </p:cBhvr>
                                      <p:to>
                                        <p:strVal val="visible"/>
                                      </p:to>
                                    </p:set>
                                    <p:animEffect transition="in" filter="blinds(horizontal)">
                                      <p:cBhvr>
                                        <p:cTn id="57" dur="500"/>
                                        <p:tgtEl>
                                          <p:spTgt spid="4">
                                            <p:txEl>
                                              <p:pRg st="5" end="5"/>
                                            </p:txEl>
                                          </p:spTgt>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4">
                                            <p:txEl>
                                              <p:pRg st="6" end="6"/>
                                            </p:txEl>
                                          </p:spTgt>
                                        </p:tgtEl>
                                        <p:attrNameLst>
                                          <p:attrName>style.visibility</p:attrName>
                                        </p:attrNameLst>
                                      </p:cBhvr>
                                      <p:to>
                                        <p:strVal val="visible"/>
                                      </p:to>
                                    </p:set>
                                    <p:animEffect transition="in" filter="blinds(horizontal)">
                                      <p:cBhvr>
                                        <p:cTn id="60"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build="allAtOnce"/>
      <p:bldP spid="52227" grpId="0" build="p"/>
      <p:bldP spid="5" grpId="0" bldLvl="0" animBg="1" build="allAtOnce"/>
      <p:bldP spid="4" grpId="0" bldLvl="0" build="allAtOnce"/>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ormAutofit fontScale="90000"/>
          </a:bodyPr>
          <a:lstStyle/>
          <a:p>
            <a:r>
              <a:rPr lang="zh-CN" altLang="en-US" sz="3110" dirty="0"/>
              <a:t>带有</a:t>
            </a:r>
            <a:r>
              <a:rPr lang="en-US" altLang="zh-CN" sz="3110" dirty="0"/>
              <a:t> ANY</a:t>
            </a:r>
            <a:r>
              <a:rPr lang="zh-CN" altLang="en-US" sz="3110" dirty="0"/>
              <a:t>（</a:t>
            </a:r>
            <a:r>
              <a:rPr lang="en-US" altLang="zh-CN" sz="3110" dirty="0"/>
              <a:t>SOME</a:t>
            </a:r>
            <a:r>
              <a:rPr lang="zh-CN" altLang="en-US" sz="3110" dirty="0"/>
              <a:t>）或</a:t>
            </a:r>
            <a:r>
              <a:rPr lang="en-US" altLang="zh-CN" sz="3110" dirty="0"/>
              <a:t> ALL </a:t>
            </a:r>
            <a:r>
              <a:rPr lang="zh-CN" altLang="en-US" sz="3110" dirty="0"/>
              <a:t>谓词的子查询 </a:t>
            </a:r>
            <a:r>
              <a:rPr lang="en-US" altLang="zh-CN" sz="3110" dirty="0"/>
              <a:t>5</a:t>
            </a:r>
            <a:endParaRPr lang="zh-CN" altLang="en-US" sz="3110" dirty="0"/>
          </a:p>
        </p:txBody>
      </p:sp>
      <p:sp>
        <p:nvSpPr>
          <p:cNvPr id="54275" name="Rectangle 3"/>
          <p:cNvSpPr>
            <a:spLocks noGrp="1" noChangeArrowheads="1"/>
          </p:cNvSpPr>
          <p:nvPr>
            <p:ph idx="1"/>
          </p:nvPr>
        </p:nvSpPr>
        <p:spPr/>
        <p:txBody>
          <a:bodyPr>
            <a:normAutofit/>
          </a:bodyPr>
          <a:lstStyle/>
          <a:p>
            <a:pPr marL="0" indent="0" algn="ctr">
              <a:lnSpc>
                <a:spcPct val="170000"/>
              </a:lnSpc>
              <a:buNone/>
            </a:pPr>
            <a:r>
              <a:rPr lang="zh-CN" altLang="en-US" sz="2800" dirty="0"/>
              <a:t>表</a:t>
            </a:r>
            <a:r>
              <a:rPr lang="en-US" altLang="zh-CN" sz="2800" dirty="0"/>
              <a:t>3.7 ANY(</a:t>
            </a:r>
            <a:r>
              <a:rPr lang="zh-CN" altLang="en-US" sz="2800" dirty="0"/>
              <a:t>或</a:t>
            </a:r>
            <a:r>
              <a:rPr lang="en-US" altLang="zh-CN" sz="2800" dirty="0"/>
              <a:t>SOME)</a:t>
            </a:r>
            <a:r>
              <a:rPr lang="zh-CN" altLang="en-US" sz="2800" dirty="0"/>
              <a:t>、</a:t>
            </a:r>
            <a:r>
              <a:rPr lang="en-US" altLang="zh-CN" sz="2800" dirty="0"/>
              <a:t>ALL</a:t>
            </a:r>
            <a:r>
              <a:rPr lang="zh-CN" altLang="en-US" sz="2800" dirty="0"/>
              <a:t>谓词与聚集函数、</a:t>
            </a:r>
            <a:r>
              <a:rPr lang="en-US" altLang="zh-CN" sz="2800" dirty="0"/>
              <a:t>IN</a:t>
            </a:r>
            <a:r>
              <a:rPr lang="zh-CN" altLang="en-US" sz="2800" dirty="0"/>
              <a:t>谓词的等价转换 </a:t>
            </a:r>
            <a:endParaRPr lang="zh-CN" altLang="en-US" sz="2800" dirty="0"/>
          </a:p>
        </p:txBody>
      </p:sp>
      <p:graphicFrame>
        <p:nvGraphicFramePr>
          <p:cNvPr id="3" name="表格 2"/>
          <p:cNvGraphicFramePr/>
          <p:nvPr>
            <p:custDataLst>
              <p:tags r:id="rId1"/>
            </p:custDataLst>
          </p:nvPr>
        </p:nvGraphicFramePr>
        <p:xfrm>
          <a:off x="424180" y="2146300"/>
          <a:ext cx="11343640" cy="2225040"/>
        </p:xfrm>
        <a:graphic>
          <a:graphicData uri="http://schemas.openxmlformats.org/drawingml/2006/table">
            <a:tbl>
              <a:tblPr firstRow="1" bandRow="1">
                <a:tableStyleId>{5C22544A-7EE6-4342-B048-85BDC9FD1C3A}</a:tableStyleId>
              </a:tblPr>
              <a:tblGrid>
                <a:gridCol w="1620520"/>
                <a:gridCol w="1620520"/>
                <a:gridCol w="1620520"/>
                <a:gridCol w="1620520"/>
                <a:gridCol w="1620520"/>
                <a:gridCol w="1620520"/>
                <a:gridCol w="1620520"/>
              </a:tblGrid>
              <a:tr h="741680">
                <a:tc>
                  <a:txBody>
                    <a:bodyPr/>
                    <a:p>
                      <a:pPr algn="ctr">
                        <a:buNone/>
                      </a:pPr>
                      <a:endParaRPr lang="zh-CN" altLang="en-US" sz="2800">
                        <a:solidFill>
                          <a:srgbClr val="C00000"/>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20000"/>
                        <a:lumOff val="80000"/>
                      </a:schemeClr>
                    </a:solidFill>
                  </a:tcPr>
                </a:tc>
                <a:tc>
                  <a:txBody>
                    <a:bodyPr/>
                    <a:p>
                      <a:pPr algn="ctr">
                        <a:buNone/>
                      </a:pPr>
                      <a:r>
                        <a:rPr lang="en-US" altLang="zh-CN" sz="2800">
                          <a:solidFill>
                            <a:srgbClr val="C00000"/>
                          </a:solidFill>
                        </a:rPr>
                        <a:t>=</a:t>
                      </a:r>
                      <a:endParaRPr lang="en-US" altLang="zh-CN" sz="2800">
                        <a:solidFill>
                          <a:srgbClr val="C00000"/>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20000"/>
                        <a:lumOff val="80000"/>
                      </a:schemeClr>
                    </a:solidFill>
                  </a:tcPr>
                </a:tc>
                <a:tc>
                  <a:txBody>
                    <a:bodyPr/>
                    <a:p>
                      <a:pPr algn="ctr">
                        <a:buNone/>
                      </a:pPr>
                      <a:r>
                        <a:rPr lang="en-US" altLang="zh-CN" sz="2800">
                          <a:solidFill>
                            <a:srgbClr val="C00000"/>
                          </a:solidFill>
                        </a:rPr>
                        <a:t>&lt;&gt; </a:t>
                      </a:r>
                      <a:r>
                        <a:rPr lang="zh-CN" altLang="en-US" sz="2800">
                          <a:solidFill>
                            <a:srgbClr val="C00000"/>
                          </a:solidFill>
                          <a:latin typeface="楷体" charset="-122"/>
                          <a:ea typeface="楷体" charset="-122"/>
                        </a:rPr>
                        <a:t>或</a:t>
                      </a:r>
                      <a:r>
                        <a:rPr lang="en-US" altLang="zh-CN" sz="2800">
                          <a:solidFill>
                            <a:srgbClr val="C00000"/>
                          </a:solidFill>
                          <a:latin typeface="楷体" charset="-122"/>
                          <a:ea typeface="楷体" charset="-122"/>
                        </a:rPr>
                        <a:t> </a:t>
                      </a:r>
                      <a:r>
                        <a:rPr lang="en-US" altLang="zh-CN" sz="2800">
                          <a:solidFill>
                            <a:srgbClr val="C00000"/>
                          </a:solidFill>
                        </a:rPr>
                        <a:t>!=</a:t>
                      </a:r>
                      <a:endParaRPr lang="en-US" altLang="zh-CN" sz="2800">
                        <a:solidFill>
                          <a:srgbClr val="C00000"/>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20000"/>
                        <a:lumOff val="80000"/>
                      </a:schemeClr>
                    </a:solidFill>
                  </a:tcPr>
                </a:tc>
                <a:tc>
                  <a:txBody>
                    <a:bodyPr/>
                    <a:p>
                      <a:pPr algn="ctr">
                        <a:buNone/>
                      </a:pPr>
                      <a:r>
                        <a:rPr lang="en-US" altLang="zh-CN" sz="2800">
                          <a:solidFill>
                            <a:srgbClr val="C00000"/>
                          </a:solidFill>
                        </a:rPr>
                        <a:t>&lt;</a:t>
                      </a:r>
                      <a:endParaRPr lang="en-US" altLang="zh-CN" sz="2800">
                        <a:solidFill>
                          <a:srgbClr val="C00000"/>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20000"/>
                        <a:lumOff val="80000"/>
                      </a:schemeClr>
                    </a:solidFill>
                  </a:tcPr>
                </a:tc>
                <a:tc>
                  <a:txBody>
                    <a:bodyPr/>
                    <a:p>
                      <a:pPr algn="ctr">
                        <a:buNone/>
                      </a:pPr>
                      <a:r>
                        <a:rPr lang="en-US" altLang="zh-CN" sz="2800">
                          <a:solidFill>
                            <a:srgbClr val="C00000"/>
                          </a:solidFill>
                        </a:rPr>
                        <a:t>&lt;=</a:t>
                      </a:r>
                      <a:endParaRPr lang="en-US" altLang="zh-CN" sz="2800">
                        <a:solidFill>
                          <a:srgbClr val="C00000"/>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20000"/>
                        <a:lumOff val="80000"/>
                      </a:schemeClr>
                    </a:solidFill>
                  </a:tcPr>
                </a:tc>
                <a:tc>
                  <a:txBody>
                    <a:bodyPr/>
                    <a:p>
                      <a:pPr algn="ctr">
                        <a:buNone/>
                      </a:pPr>
                      <a:r>
                        <a:rPr lang="en-US" altLang="zh-CN" sz="2800">
                          <a:solidFill>
                            <a:srgbClr val="C00000"/>
                          </a:solidFill>
                        </a:rPr>
                        <a:t>&gt;</a:t>
                      </a:r>
                      <a:endParaRPr lang="en-US" altLang="zh-CN" sz="2800">
                        <a:solidFill>
                          <a:srgbClr val="C00000"/>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20000"/>
                        <a:lumOff val="80000"/>
                      </a:schemeClr>
                    </a:solidFill>
                  </a:tcPr>
                </a:tc>
                <a:tc>
                  <a:txBody>
                    <a:bodyPr/>
                    <a:p>
                      <a:pPr algn="ctr">
                        <a:buNone/>
                      </a:pPr>
                      <a:r>
                        <a:rPr lang="en-US" altLang="zh-CN" sz="2800">
                          <a:solidFill>
                            <a:srgbClr val="C00000"/>
                          </a:solidFill>
                        </a:rPr>
                        <a:t>&gt;=</a:t>
                      </a:r>
                      <a:endParaRPr lang="en-US" altLang="zh-CN" sz="2800">
                        <a:solidFill>
                          <a:srgbClr val="C00000"/>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20000"/>
                        <a:lumOff val="80000"/>
                      </a:schemeClr>
                    </a:solidFill>
                  </a:tcPr>
                </a:tc>
              </a:tr>
              <a:tr h="741680">
                <a:tc>
                  <a:txBody>
                    <a:bodyPr/>
                    <a:p>
                      <a:pPr algn="ctr">
                        <a:buNone/>
                      </a:pPr>
                      <a:r>
                        <a:rPr lang="en-US" altLang="zh-CN" sz="2800" b="1">
                          <a:solidFill>
                            <a:srgbClr val="0000C8"/>
                          </a:solidFill>
                        </a:rPr>
                        <a:t>ANY</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IN</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endParaRPr lang="zh-CN" altLang="en-US"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&lt; MAX</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&lt;= MAX</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&gt; MIN</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&gt;= MIN</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741680">
                <a:tc>
                  <a:txBody>
                    <a:bodyPr/>
                    <a:p>
                      <a:pPr algn="ctr">
                        <a:buNone/>
                      </a:pPr>
                      <a:r>
                        <a:rPr lang="en-US" altLang="zh-CN" sz="2800" b="1">
                          <a:solidFill>
                            <a:srgbClr val="0000C8"/>
                          </a:solidFill>
                        </a:rPr>
                        <a:t>ALL</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endParaRPr lang="zh-CN" altLang="en-US"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NOT IN</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&lt; MIN</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&lt;= MIN</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&gt; MAX</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p>
                      <a:pPr algn="ctr">
                        <a:buNone/>
                      </a:pPr>
                      <a:r>
                        <a:rPr lang="en-US" altLang="zh-CN" sz="2800" b="1">
                          <a:solidFill>
                            <a:srgbClr val="0000C8"/>
                          </a:solidFill>
                        </a:rPr>
                        <a:t>&gt;= MAX</a:t>
                      </a:r>
                      <a:endParaRPr lang="en-US" altLang="zh-CN" sz="2800" b="1">
                        <a:solidFill>
                          <a:srgbClr val="0000C8"/>
                        </a:solidFill>
                      </a:endParaRPr>
                    </a:p>
                  </a:txBody>
                  <a:tcPr anchor="ctr" anchorCtr="0">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bl>
          </a:graphicData>
        </a:graphic>
      </p:graphicFrame>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fontScale="90000"/>
          </a:bodyPr>
          <a:lstStyle/>
          <a:p>
            <a:r>
              <a:rPr lang="zh-CN" altLang="en-US" sz="3110" dirty="0"/>
              <a:t>带有</a:t>
            </a:r>
            <a:r>
              <a:rPr lang="en-US" altLang="zh-CN" sz="3110" dirty="0"/>
              <a:t>EXISTS</a:t>
            </a:r>
            <a:r>
              <a:rPr lang="zh-CN" altLang="en-US" sz="3110" dirty="0"/>
              <a:t>谓词的子查询 </a:t>
            </a:r>
            <a:r>
              <a:rPr lang="en-US" altLang="zh-CN" sz="3110" dirty="0"/>
              <a:t>1</a:t>
            </a:r>
            <a:endParaRPr lang="zh-CN" altLang="en-US" sz="3110" dirty="0"/>
          </a:p>
        </p:txBody>
      </p:sp>
      <p:sp>
        <p:nvSpPr>
          <p:cNvPr id="56323" name="Rectangle 3"/>
          <p:cNvSpPr>
            <a:spLocks noGrp="1" noChangeArrowheads="1"/>
          </p:cNvSpPr>
          <p:nvPr>
            <p:ph idx="1"/>
          </p:nvPr>
        </p:nvSpPr>
        <p:spPr/>
        <p:txBody>
          <a:bodyPr>
            <a:noAutofit/>
          </a:bodyPr>
          <a:lstStyle/>
          <a:p>
            <a:pPr>
              <a:lnSpc>
                <a:spcPct val="100000"/>
              </a:lnSpc>
            </a:pPr>
            <a:r>
              <a:rPr lang="en-US" altLang="zh-CN" dirty="0"/>
              <a:t> </a:t>
            </a:r>
            <a:r>
              <a:rPr lang="en-US" altLang="zh-CN" dirty="0">
                <a:solidFill>
                  <a:srgbClr val="FF0000"/>
                </a:solidFill>
              </a:rPr>
              <a:t>EXISTS</a:t>
            </a:r>
            <a:r>
              <a:rPr lang="zh-CN" altLang="en-US" dirty="0">
                <a:solidFill>
                  <a:srgbClr val="FF0000"/>
                </a:solidFill>
              </a:rPr>
              <a:t>谓词</a:t>
            </a:r>
            <a:endParaRPr lang="zh-CN" altLang="en-US" dirty="0"/>
          </a:p>
          <a:p>
            <a:pPr lvl="1">
              <a:lnSpc>
                <a:spcPct val="100000"/>
              </a:lnSpc>
            </a:pPr>
            <a:r>
              <a:rPr lang="zh-CN" altLang="en-US" dirty="0"/>
              <a:t>存在量词 </a:t>
            </a:r>
            <a:r>
              <a:rPr lang="zh-CN" altLang="en-US" dirty="0">
                <a:sym typeface="Symbol" panose="05050102010706020507" pitchFamily="18" charset="2"/>
              </a:rPr>
              <a:t></a:t>
            </a:r>
            <a:r>
              <a:rPr lang="zh-CN" altLang="en-US" dirty="0"/>
              <a:t> </a:t>
            </a:r>
            <a:endParaRPr lang="zh-CN" altLang="en-US" dirty="0"/>
          </a:p>
          <a:p>
            <a:pPr lvl="1">
              <a:lnSpc>
                <a:spcPct val="100000"/>
              </a:lnSpc>
              <a:spcBef>
                <a:spcPts val="1000"/>
              </a:spcBef>
            </a:pPr>
            <a:r>
              <a:rPr lang="zh-CN" altLang="en-US" dirty="0"/>
              <a:t>带有</a:t>
            </a:r>
            <a:r>
              <a:rPr lang="en-US" altLang="zh-CN" dirty="0"/>
              <a:t>EXISTS</a:t>
            </a:r>
            <a:r>
              <a:rPr lang="zh-CN" altLang="en-US" dirty="0"/>
              <a:t>谓词的子查询不返回任何数据，只产生逻辑真值“</a:t>
            </a:r>
            <a:r>
              <a:rPr lang="en-US" altLang="zh-CN" dirty="0"/>
              <a:t>true”</a:t>
            </a:r>
            <a:r>
              <a:rPr lang="zh-CN" altLang="en-US" dirty="0"/>
              <a:t>或逻辑假值“</a:t>
            </a:r>
            <a:r>
              <a:rPr lang="en-US" altLang="zh-CN" dirty="0"/>
              <a:t>false”</a:t>
            </a:r>
            <a:r>
              <a:rPr lang="zh-CN" altLang="en-US" dirty="0"/>
              <a:t>。</a:t>
            </a:r>
            <a:endParaRPr lang="zh-CN" altLang="en-US" dirty="0"/>
          </a:p>
          <a:p>
            <a:pPr lvl="2">
              <a:lnSpc>
                <a:spcPct val="100000"/>
              </a:lnSpc>
            </a:pPr>
            <a:r>
              <a:rPr lang="zh-CN" altLang="en-US" dirty="0"/>
              <a:t>若内层查询结果非空，则外层的</a:t>
            </a:r>
            <a:r>
              <a:rPr lang="en-US" altLang="zh-CN" dirty="0"/>
              <a:t>WHERE</a:t>
            </a:r>
            <a:r>
              <a:rPr lang="zh-CN" altLang="en-US" dirty="0"/>
              <a:t>子句返回真值</a:t>
            </a:r>
            <a:endParaRPr lang="zh-CN" altLang="en-US" dirty="0"/>
          </a:p>
          <a:p>
            <a:pPr lvl="2">
              <a:lnSpc>
                <a:spcPct val="100000"/>
              </a:lnSpc>
            </a:pPr>
            <a:r>
              <a:rPr lang="zh-CN" altLang="en-US" dirty="0"/>
              <a:t>若内层查询结果为空，则外层的</a:t>
            </a:r>
            <a:r>
              <a:rPr lang="en-US" altLang="zh-CN" dirty="0"/>
              <a:t>WHERE</a:t>
            </a:r>
            <a:r>
              <a:rPr lang="zh-CN" altLang="en-US" dirty="0"/>
              <a:t>子句返回假值</a:t>
            </a:r>
            <a:endParaRPr lang="zh-CN" altLang="en-US" dirty="0"/>
          </a:p>
          <a:p>
            <a:pPr lvl="1">
              <a:lnSpc>
                <a:spcPct val="100000"/>
              </a:lnSpc>
              <a:spcBef>
                <a:spcPts val="1000"/>
              </a:spcBef>
            </a:pPr>
            <a:r>
              <a:rPr lang="zh-CN" altLang="en-US" dirty="0"/>
              <a:t>由</a:t>
            </a:r>
            <a:r>
              <a:rPr lang="en-US" altLang="zh-CN" dirty="0"/>
              <a:t>EXISTS</a:t>
            </a:r>
            <a:r>
              <a:rPr lang="zh-CN" altLang="en-US" dirty="0"/>
              <a:t>引出的子查询，其目标列表达式通常都用 * ，因为带</a:t>
            </a:r>
            <a:r>
              <a:rPr lang="en-US" altLang="zh-CN" dirty="0"/>
              <a:t>EXISTS</a:t>
            </a:r>
            <a:r>
              <a:rPr lang="zh-CN" altLang="en-US" dirty="0"/>
              <a:t>的子查询只返回真值或假值，给出列名无实际意义。</a:t>
            </a:r>
            <a:endParaRPr lang="en-US" altLang="zh-CN" dirty="0"/>
          </a:p>
          <a:p>
            <a:pPr>
              <a:lnSpc>
                <a:spcPct val="100000"/>
              </a:lnSpc>
              <a:spcBef>
                <a:spcPts val="2000"/>
              </a:spcBef>
            </a:pPr>
            <a:r>
              <a:rPr lang="en-US" altLang="zh-CN" dirty="0">
                <a:solidFill>
                  <a:srgbClr val="FF0000"/>
                </a:solidFill>
              </a:rPr>
              <a:t>NOT EXISTS</a:t>
            </a:r>
            <a:r>
              <a:rPr lang="zh-CN" altLang="en-US" dirty="0">
                <a:solidFill>
                  <a:srgbClr val="FF0000"/>
                </a:solidFill>
              </a:rPr>
              <a:t>谓词</a:t>
            </a:r>
            <a:endParaRPr lang="zh-CN" altLang="en-US" dirty="0">
              <a:solidFill>
                <a:srgbClr val="FF0000"/>
              </a:solidFill>
            </a:endParaRPr>
          </a:p>
          <a:p>
            <a:pPr lvl="1">
              <a:lnSpc>
                <a:spcPct val="100000"/>
              </a:lnSpc>
              <a:spcBef>
                <a:spcPts val="1000"/>
              </a:spcBef>
            </a:pPr>
            <a:r>
              <a:rPr lang="zh-CN" altLang="en-US" dirty="0"/>
              <a:t>若内层查询结果非空，则外层的</a:t>
            </a:r>
            <a:r>
              <a:rPr lang="en-US" altLang="zh-CN" dirty="0"/>
              <a:t>WHERE</a:t>
            </a:r>
            <a:r>
              <a:rPr lang="zh-CN" altLang="en-US" dirty="0"/>
              <a:t>子句返回假值</a:t>
            </a:r>
            <a:endParaRPr lang="zh-CN" altLang="en-US" dirty="0"/>
          </a:p>
          <a:p>
            <a:pPr lvl="1">
              <a:lnSpc>
                <a:spcPct val="100000"/>
              </a:lnSpc>
              <a:spcBef>
                <a:spcPts val="1000"/>
              </a:spcBef>
            </a:pPr>
            <a:r>
              <a:rPr lang="zh-CN" altLang="en-US" dirty="0"/>
              <a:t>若内层查询结果为空，则外层的</a:t>
            </a:r>
            <a:r>
              <a:rPr lang="en-US" altLang="zh-CN" dirty="0"/>
              <a:t>WHERE</a:t>
            </a:r>
            <a:r>
              <a:rPr lang="zh-CN" altLang="en-US" dirty="0"/>
              <a:t>子句返回真值</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fontScale="90000"/>
          </a:bodyPr>
          <a:lstStyle/>
          <a:p>
            <a:pPr eaLnBrk="1" hangingPunct="1"/>
            <a:r>
              <a:rPr kumimoji="0" lang="zh-CN" altLang="en-US" sz="3110" i="0" u="none" strike="noStrike" kern="0" cap="none" spc="0" normalizeH="0" baseline="0" noProof="0" dirty="0">
                <a:ln>
                  <a:noFill/>
                </a:ln>
                <a:solidFill>
                  <a:schemeClr val="tx1"/>
                </a:solidFill>
                <a:effectLst/>
                <a:uLnTx/>
                <a:uFillTx/>
                <a:latin typeface="Verdana" panose="020B0804030504040204"/>
                <a:ea typeface="+mj-ea"/>
                <a:cs typeface="+mj-cs"/>
              </a:rPr>
              <a:t>带有</a:t>
            </a:r>
            <a:r>
              <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rPr>
              <a:t>EXISTS</a:t>
            </a:r>
            <a:r>
              <a:rPr kumimoji="0" lang="zh-CN" altLang="en-US" sz="3110" i="0" u="none" strike="noStrike" kern="0" cap="none" spc="0" normalizeH="0" baseline="0" noProof="0" dirty="0">
                <a:ln>
                  <a:noFill/>
                </a:ln>
                <a:solidFill>
                  <a:schemeClr val="tx1"/>
                </a:solidFill>
                <a:effectLst/>
                <a:uLnTx/>
                <a:uFillTx/>
                <a:latin typeface="Verdana" panose="020B0804030504040204"/>
                <a:ea typeface="+mj-ea"/>
                <a:cs typeface="+mj-cs"/>
              </a:rPr>
              <a:t>谓词的子查询 </a:t>
            </a:r>
            <a:r>
              <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rPr>
              <a:t>2</a:t>
            </a:r>
            <a:endPar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endParaRPr>
          </a:p>
        </p:txBody>
      </p:sp>
      <p:sp>
        <p:nvSpPr>
          <p:cNvPr id="58371" name="Rectangle 3"/>
          <p:cNvSpPr>
            <a:spLocks noGrp="1" noChangeArrowheads="1"/>
          </p:cNvSpPr>
          <p:nvPr>
            <p:ph idx="1"/>
          </p:nvPr>
        </p:nvSpPr>
        <p:spPr/>
        <p:txBody>
          <a:bodyPr>
            <a:noAutofit/>
          </a:bodyPr>
          <a:lstStyle/>
          <a:p>
            <a:pPr>
              <a:lnSpc>
                <a:spcPct val="100000"/>
              </a:lnSpc>
              <a:spcBef>
                <a:spcPct val="0"/>
              </a:spcBef>
            </a:pPr>
            <a:r>
              <a:rPr lang="en-US" altLang="zh-CN" sz="2800" b="1" dirty="0"/>
              <a:t>[</a:t>
            </a:r>
            <a:r>
              <a:rPr lang="zh-CN" altLang="en-US" sz="2800" b="1" dirty="0"/>
              <a:t>例</a:t>
            </a:r>
            <a:r>
              <a:rPr lang="en-US" altLang="zh-CN" sz="2800" b="1" dirty="0"/>
              <a:t>3.60]</a:t>
            </a:r>
            <a:r>
              <a:rPr lang="zh-CN" altLang="en-US" sz="2800" b="1" dirty="0"/>
              <a:t>查询所有选修了</a:t>
            </a:r>
            <a:r>
              <a:rPr lang="en-US" altLang="zh-CN" sz="2800" b="1" dirty="0"/>
              <a:t>1</a:t>
            </a:r>
            <a:r>
              <a:rPr lang="zh-CN" altLang="en-US" sz="2800" b="1" dirty="0"/>
              <a:t>号课程的学生姓名。</a:t>
            </a:r>
            <a:endParaRPr lang="zh-CN" altLang="en-US" sz="2800" b="1" dirty="0"/>
          </a:p>
          <a:p>
            <a:pPr>
              <a:lnSpc>
                <a:spcPct val="100000"/>
              </a:lnSpc>
              <a:spcBef>
                <a:spcPct val="0"/>
              </a:spcBef>
            </a:pPr>
            <a:endParaRPr lang="zh-CN" altLang="en-US" sz="2800" b="1" dirty="0"/>
          </a:p>
          <a:p>
            <a:pPr>
              <a:lnSpc>
                <a:spcPct val="100000"/>
              </a:lnSpc>
              <a:spcBef>
                <a:spcPct val="0"/>
              </a:spcBef>
            </a:pPr>
            <a:r>
              <a:rPr lang="zh-CN" altLang="en-US" sz="2800" b="1" dirty="0"/>
              <a:t>思路分析：</a:t>
            </a:r>
            <a:endParaRPr lang="zh-CN" altLang="en-US" sz="2800" b="1" dirty="0"/>
          </a:p>
          <a:p>
            <a:pPr lvl="1">
              <a:lnSpc>
                <a:spcPct val="100000"/>
              </a:lnSpc>
              <a:spcBef>
                <a:spcPct val="0"/>
              </a:spcBef>
            </a:pPr>
            <a:r>
              <a:rPr lang="zh-CN" altLang="en-US" sz="2800" b="1" dirty="0"/>
              <a:t>本查询涉及</a:t>
            </a:r>
            <a:r>
              <a:rPr lang="en-US" altLang="zh-CN" sz="2800" b="1" dirty="0"/>
              <a:t>Student</a:t>
            </a:r>
            <a:r>
              <a:rPr lang="zh-CN" altLang="en-US" sz="2800" b="1" dirty="0"/>
              <a:t>和</a:t>
            </a:r>
            <a:r>
              <a:rPr lang="en-US" altLang="zh-CN" sz="2800" b="1" dirty="0"/>
              <a:t>SC</a:t>
            </a:r>
            <a:r>
              <a:rPr lang="zh-CN" altLang="en-US" sz="2800" b="1" dirty="0"/>
              <a:t>表</a:t>
            </a:r>
            <a:endParaRPr lang="zh-CN" altLang="en-US" sz="2800" b="1" dirty="0"/>
          </a:p>
          <a:p>
            <a:pPr lvl="1">
              <a:lnSpc>
                <a:spcPct val="100000"/>
              </a:lnSpc>
              <a:spcBef>
                <a:spcPct val="0"/>
              </a:spcBef>
            </a:pPr>
            <a:r>
              <a:rPr lang="zh-CN" altLang="en-US" sz="2800" b="1" dirty="0"/>
              <a:t>在</a:t>
            </a:r>
            <a:r>
              <a:rPr lang="en-US" altLang="zh-CN" sz="2800" b="1" dirty="0"/>
              <a:t>Student</a:t>
            </a:r>
            <a:r>
              <a:rPr lang="zh-CN" altLang="en-US" sz="2800" b="1" dirty="0"/>
              <a:t>中依次取每个元组的</a:t>
            </a:r>
            <a:r>
              <a:rPr lang="en-US" altLang="zh-CN" sz="2800" b="1" dirty="0" err="1"/>
              <a:t>Sno</a:t>
            </a:r>
            <a:r>
              <a:rPr lang="zh-CN" altLang="en-US" sz="2800" b="1" dirty="0"/>
              <a:t>值，用此值去检查</a:t>
            </a:r>
            <a:r>
              <a:rPr lang="en-US" altLang="zh-CN" sz="2800" b="1" dirty="0"/>
              <a:t>SC</a:t>
            </a:r>
            <a:r>
              <a:rPr lang="zh-CN" altLang="en-US" sz="2800" b="1" dirty="0"/>
              <a:t>表</a:t>
            </a:r>
            <a:endParaRPr lang="zh-CN" altLang="en-US" sz="2800" b="1" dirty="0"/>
          </a:p>
          <a:p>
            <a:pPr lvl="1">
              <a:lnSpc>
                <a:spcPct val="100000"/>
              </a:lnSpc>
              <a:spcBef>
                <a:spcPct val="0"/>
              </a:spcBef>
            </a:pPr>
            <a:r>
              <a:rPr lang="zh-CN" altLang="en-US" sz="2800" b="1" dirty="0"/>
              <a:t>若</a:t>
            </a:r>
            <a:r>
              <a:rPr lang="en-US" altLang="zh-CN" sz="2800" b="1" dirty="0"/>
              <a:t>SC</a:t>
            </a:r>
            <a:r>
              <a:rPr lang="zh-CN" altLang="en-US" sz="2800" b="1" dirty="0"/>
              <a:t>中存在这样的元组，其</a:t>
            </a:r>
            <a:r>
              <a:rPr lang="en-US" altLang="zh-CN" sz="2800" b="1" dirty="0" err="1"/>
              <a:t>Sno</a:t>
            </a:r>
            <a:r>
              <a:rPr lang="zh-CN" altLang="en-US" sz="2800" b="1" dirty="0"/>
              <a:t>值等于此</a:t>
            </a:r>
            <a:r>
              <a:rPr lang="en-US" altLang="zh-CN" sz="2800" b="1" dirty="0" err="1"/>
              <a:t>Student.Sno</a:t>
            </a:r>
            <a:r>
              <a:rPr lang="zh-CN" altLang="en-US" sz="2800" b="1" dirty="0"/>
              <a:t>值，并且其</a:t>
            </a:r>
            <a:r>
              <a:rPr lang="en-US" altLang="zh-CN" sz="2800" b="1" dirty="0" err="1"/>
              <a:t>Cno</a:t>
            </a:r>
            <a:r>
              <a:rPr lang="en-US" altLang="zh-CN" sz="2800" b="1" dirty="0"/>
              <a:t>=</a:t>
            </a:r>
            <a:r>
              <a:rPr lang="en-US" altLang="zh-CN" sz="2800" b="1" dirty="0">
                <a:latin typeface="Arial" panose="020B0604020202090204" pitchFamily="34" charset="0"/>
                <a:cs typeface="Arial" panose="020B0604020202090204" pitchFamily="34" charset="0"/>
              </a:rPr>
              <a:t>‘1’</a:t>
            </a:r>
            <a:r>
              <a:rPr lang="zh-CN" altLang="en-US" sz="2800" b="1" dirty="0"/>
              <a:t>，则取此</a:t>
            </a:r>
            <a:r>
              <a:rPr lang="en-US" altLang="zh-CN" sz="2800" b="1" dirty="0" err="1"/>
              <a:t>Student.Sname</a:t>
            </a:r>
            <a:r>
              <a:rPr lang="zh-CN" altLang="en-US" sz="2800" b="1" dirty="0"/>
              <a:t>送入结果表</a:t>
            </a:r>
            <a:endParaRPr lang="zh-CN" altLang="en-US" sz="2800" b="1" dirty="0"/>
          </a:p>
          <a:p>
            <a:pPr lvl="1">
              <a:lnSpc>
                <a:spcPct val="100000"/>
              </a:lnSpc>
              <a:spcBef>
                <a:spcPct val="0"/>
              </a:spcBef>
            </a:pPr>
            <a:endParaRPr lang="en-US" altLang="zh-CN" sz="2800" b="1" dirty="0"/>
          </a:p>
          <a:p>
            <a:pPr lvl="1" eaLnBrk="1" hangingPunct="1">
              <a:lnSpc>
                <a:spcPct val="100000"/>
              </a:lnSpc>
              <a:spcBef>
                <a:spcPct val="0"/>
              </a:spcBef>
              <a:buFont typeface="Wingdings" panose="05000000000000000000" pitchFamily="2" charset="2"/>
              <a:buNone/>
            </a:pPr>
            <a:r>
              <a:rPr lang="en-US" altLang="zh-CN" sz="2800" b="1" dirty="0">
                <a:latin typeface="Arial" panose="020B0604020202090204" pitchFamily="34" charset="0"/>
                <a:cs typeface="Arial" panose="020B0604020202090204" pitchFamily="34" charset="0"/>
              </a:rPr>
              <a:t>SELECT  </a:t>
            </a:r>
            <a:r>
              <a:rPr lang="en-US" altLang="zh-CN" sz="2800" b="1" dirty="0" err="1">
                <a:latin typeface="Arial" panose="020B0604020202090204" pitchFamily="34" charset="0"/>
                <a:cs typeface="Arial" panose="020B0604020202090204" pitchFamily="34" charset="0"/>
              </a:rPr>
              <a:t>Sname</a:t>
            </a:r>
            <a:endParaRPr lang="en-US" altLang="zh-CN" sz="2800" b="1" dirty="0">
              <a:latin typeface="Arial" panose="020B0604020202090204" pitchFamily="34" charset="0"/>
              <a:cs typeface="Arial" panose="020B0604020202090204" pitchFamily="34" charset="0"/>
            </a:endParaRPr>
          </a:p>
          <a:p>
            <a:pPr lvl="1" eaLnBrk="1" hangingPunct="1">
              <a:lnSpc>
                <a:spcPct val="100000"/>
              </a:lnSpc>
              <a:spcBef>
                <a:spcPct val="0"/>
              </a:spcBef>
              <a:buFont typeface="Wingdings" panose="05000000000000000000" pitchFamily="2" charset="2"/>
              <a:buNone/>
            </a:pPr>
            <a:r>
              <a:rPr lang="en-US" altLang="zh-CN" sz="2800" b="1" dirty="0">
                <a:latin typeface="Arial" panose="020B0604020202090204" pitchFamily="34" charset="0"/>
                <a:cs typeface="Arial" panose="020B0604020202090204" pitchFamily="34" charset="0"/>
              </a:rPr>
              <a:t>FROM</a:t>
            </a:r>
            <a:r>
              <a:rPr lang="en-US" altLang="zh-CN" sz="2800" b="1" dirty="0">
                <a:solidFill>
                  <a:srgbClr val="FF00FF"/>
                </a:solidFill>
                <a:latin typeface="Arial" panose="020B0604020202090204" pitchFamily="34" charset="0"/>
                <a:cs typeface="Arial" panose="020B0604020202090204" pitchFamily="34" charset="0"/>
              </a:rPr>
              <a:t>     </a:t>
            </a:r>
            <a:r>
              <a:rPr lang="en-US" altLang="zh-CN" sz="2800" b="1" dirty="0">
                <a:solidFill>
                  <a:srgbClr val="FF0000"/>
                </a:solidFill>
                <a:latin typeface="Arial" panose="020B0604020202090204" pitchFamily="34" charset="0"/>
                <a:cs typeface="Arial" panose="020B0604020202090204" pitchFamily="34" charset="0"/>
              </a:rPr>
              <a:t>Student  S</a:t>
            </a:r>
            <a:endParaRPr lang="en-US" altLang="zh-CN" sz="2800" b="1" dirty="0">
              <a:solidFill>
                <a:srgbClr val="FF0000"/>
              </a:solidFill>
              <a:latin typeface="Arial" panose="020B0604020202090204" pitchFamily="34" charset="0"/>
              <a:cs typeface="Arial" panose="020B0604020202090204" pitchFamily="34" charset="0"/>
            </a:endParaRPr>
          </a:p>
          <a:p>
            <a:pPr lvl="1" eaLnBrk="1" hangingPunct="1">
              <a:lnSpc>
                <a:spcPct val="100000"/>
              </a:lnSpc>
              <a:spcBef>
                <a:spcPct val="0"/>
              </a:spcBef>
              <a:buFont typeface="Wingdings" panose="05000000000000000000" pitchFamily="2" charset="2"/>
              <a:buNone/>
            </a:pPr>
            <a:r>
              <a:rPr lang="en-US" altLang="zh-CN" sz="2800" b="1" dirty="0">
                <a:latin typeface="Arial" panose="020B0604020202090204" pitchFamily="34" charset="0"/>
                <a:cs typeface="Arial" panose="020B0604020202090204" pitchFamily="34" charset="0"/>
              </a:rPr>
              <a:t>WHERE  EXISTS (  </a:t>
            </a:r>
            <a:r>
              <a:rPr lang="en-US" altLang="zh-CN" sz="2800" b="1" dirty="0">
                <a:solidFill>
                  <a:srgbClr val="0000C8"/>
                </a:solidFill>
                <a:latin typeface="Arial" panose="020B0604020202090204" pitchFamily="34" charset="0"/>
                <a:cs typeface="Arial" panose="020B0604020202090204" pitchFamily="34" charset="0"/>
              </a:rPr>
              <a:t>SELECT  *</a:t>
            </a:r>
            <a:endParaRPr lang="en-US" altLang="zh-CN" sz="2800" b="1" dirty="0">
              <a:solidFill>
                <a:srgbClr val="0000C8"/>
              </a:solidFill>
              <a:latin typeface="Arial" panose="020B0604020202090204" pitchFamily="34" charset="0"/>
              <a:cs typeface="Arial" panose="020B0604020202090204" pitchFamily="34" charset="0"/>
            </a:endParaRPr>
          </a:p>
          <a:p>
            <a:pPr lvl="5" indent="1111250" eaLnBrk="1" hangingPunct="1">
              <a:lnSpc>
                <a:spcPct val="100000"/>
              </a:lnSpc>
              <a:spcBef>
                <a:spcPct val="0"/>
              </a:spcBef>
              <a:buFont typeface="Wingdings" panose="05000000000000000000" pitchFamily="2" charset="2"/>
              <a:buNone/>
            </a:pPr>
            <a:r>
              <a:rPr lang="en-US" altLang="zh-CN" sz="2800" b="1" dirty="0">
                <a:solidFill>
                  <a:srgbClr val="0000C8"/>
                </a:solidFill>
                <a:latin typeface="Arial" panose="020B0604020202090204" pitchFamily="34" charset="0"/>
                <a:cs typeface="Arial" panose="020B0604020202090204" pitchFamily="34" charset="0"/>
              </a:rPr>
              <a:t>FROM  SC</a:t>
            </a:r>
            <a:endParaRPr lang="en-US" altLang="zh-CN" sz="2800" b="1" dirty="0">
              <a:solidFill>
                <a:srgbClr val="0000C8"/>
              </a:solidFill>
              <a:latin typeface="Arial" panose="020B0604020202090204" pitchFamily="34" charset="0"/>
              <a:cs typeface="Arial" panose="020B0604020202090204" pitchFamily="34" charset="0"/>
            </a:endParaRPr>
          </a:p>
          <a:p>
            <a:pPr lvl="5" indent="1111250" eaLnBrk="1" hangingPunct="1">
              <a:lnSpc>
                <a:spcPct val="100000"/>
              </a:lnSpc>
              <a:spcBef>
                <a:spcPct val="0"/>
              </a:spcBef>
              <a:buFont typeface="Wingdings" panose="05000000000000000000" pitchFamily="2" charset="2"/>
              <a:buNone/>
            </a:pPr>
            <a:r>
              <a:rPr lang="en-US" altLang="zh-CN" sz="2800" b="1" dirty="0">
                <a:solidFill>
                  <a:srgbClr val="0000C8"/>
                </a:solidFill>
                <a:latin typeface="Arial" panose="020B0604020202090204" pitchFamily="34" charset="0"/>
                <a:cs typeface="Arial" panose="020B0604020202090204" pitchFamily="34" charset="0"/>
              </a:rPr>
              <a:t>WHERE  SC.</a:t>
            </a:r>
            <a:r>
              <a:rPr lang="en-US" altLang="zh-CN" sz="2800" b="1" dirty="0" err="1">
                <a:solidFill>
                  <a:srgbClr val="0000C8"/>
                </a:solidFill>
                <a:latin typeface="Arial" panose="020B0604020202090204" pitchFamily="34" charset="0"/>
                <a:cs typeface="Arial" panose="020B0604020202090204" pitchFamily="34" charset="0"/>
              </a:rPr>
              <a:t>Sno </a:t>
            </a:r>
            <a:r>
              <a:rPr lang="en-US" altLang="zh-CN" sz="2800" b="1" dirty="0">
                <a:solidFill>
                  <a:srgbClr val="0000C8"/>
                </a:solidFill>
                <a:latin typeface="Arial" panose="020B0604020202090204" pitchFamily="34" charset="0"/>
                <a:cs typeface="Arial" panose="020B0604020202090204" pitchFamily="34" charset="0"/>
              </a:rPr>
              <a:t>= </a:t>
            </a:r>
            <a:r>
              <a:rPr lang="en-US" altLang="zh-CN" sz="2800" b="1" dirty="0" err="1">
                <a:solidFill>
                  <a:srgbClr val="0000C8"/>
                </a:solidFill>
                <a:latin typeface="Arial" panose="020B0604020202090204" pitchFamily="34" charset="0"/>
                <a:cs typeface="Arial" panose="020B0604020202090204" pitchFamily="34" charset="0"/>
              </a:rPr>
              <a:t>S.Sno </a:t>
            </a:r>
            <a:r>
              <a:rPr lang="en-US" altLang="zh-CN" sz="2800" b="1" dirty="0">
                <a:solidFill>
                  <a:srgbClr val="0000C8"/>
                </a:solidFill>
                <a:latin typeface="Arial" panose="020B0604020202090204" pitchFamily="34" charset="0"/>
                <a:cs typeface="Arial" panose="020B0604020202090204" pitchFamily="34" charset="0"/>
              </a:rPr>
              <a:t> AND  </a:t>
            </a:r>
            <a:r>
              <a:rPr lang="en-US" altLang="zh-CN" sz="2800" b="1" dirty="0" err="1">
                <a:solidFill>
                  <a:srgbClr val="0000C8"/>
                </a:solidFill>
                <a:latin typeface="Arial" panose="020B0604020202090204" pitchFamily="34" charset="0"/>
                <a:cs typeface="Arial" panose="020B0604020202090204" pitchFamily="34" charset="0"/>
              </a:rPr>
              <a:t>Cno </a:t>
            </a:r>
            <a:r>
              <a:rPr lang="en-US" altLang="zh-CN" sz="2800" b="1" dirty="0">
                <a:solidFill>
                  <a:srgbClr val="0000C8"/>
                </a:solidFill>
                <a:latin typeface="Arial" panose="020B0604020202090204" pitchFamily="34" charset="0"/>
                <a:cs typeface="Arial" panose="020B0604020202090204" pitchFamily="34" charset="0"/>
              </a:rPr>
              <a:t>= '1'</a:t>
            </a:r>
            <a:r>
              <a:rPr lang="zh-CN" altLang="en-US" sz="2800" b="1" dirty="0">
                <a:solidFill>
                  <a:srgbClr val="0000C8"/>
                </a:solidFill>
                <a:latin typeface="Arial" panose="020B0604020202090204" pitchFamily="34" charset="0"/>
                <a:cs typeface="Arial" panose="020B0604020202090204" pitchFamily="34" charset="0"/>
              </a:rPr>
              <a:t>);</a:t>
            </a:r>
            <a:endParaRPr lang="zh-CN" altLang="en-US" sz="2800" b="1" dirty="0">
              <a:solidFill>
                <a:srgbClr val="0000C8"/>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8371">
                                            <p:txEl>
                                              <p:pRg st="2" end="2"/>
                                            </p:txEl>
                                          </p:spTgt>
                                        </p:tgtEl>
                                        <p:attrNameLst>
                                          <p:attrName>style.visibility</p:attrName>
                                        </p:attrNameLst>
                                      </p:cBhvr>
                                      <p:to>
                                        <p:strVal val="visible"/>
                                      </p:to>
                                    </p:set>
                                    <p:animEffect transition="in" filter="blinds(horizontal)">
                                      <p:cBhvr>
                                        <p:cTn id="7" dur="500"/>
                                        <p:tgtEl>
                                          <p:spTgt spid="5837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8371">
                                            <p:txEl>
                                              <p:pRg st="3" end="3"/>
                                            </p:txEl>
                                          </p:spTgt>
                                        </p:tgtEl>
                                        <p:attrNameLst>
                                          <p:attrName>style.visibility</p:attrName>
                                        </p:attrNameLst>
                                      </p:cBhvr>
                                      <p:to>
                                        <p:strVal val="visible"/>
                                      </p:to>
                                    </p:set>
                                    <p:animEffect transition="in" filter="blinds(horizontal)">
                                      <p:cBhvr>
                                        <p:cTn id="10" dur="500"/>
                                        <p:tgtEl>
                                          <p:spTgt spid="5837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8371">
                                            <p:txEl>
                                              <p:pRg st="4" end="4"/>
                                            </p:txEl>
                                          </p:spTgt>
                                        </p:tgtEl>
                                        <p:attrNameLst>
                                          <p:attrName>style.visibility</p:attrName>
                                        </p:attrNameLst>
                                      </p:cBhvr>
                                      <p:to>
                                        <p:strVal val="visible"/>
                                      </p:to>
                                    </p:set>
                                    <p:animEffect transition="in" filter="blinds(horizontal)">
                                      <p:cBhvr>
                                        <p:cTn id="13" dur="500"/>
                                        <p:tgtEl>
                                          <p:spTgt spid="58371">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8371">
                                            <p:txEl>
                                              <p:pRg st="5" end="5"/>
                                            </p:txEl>
                                          </p:spTgt>
                                        </p:tgtEl>
                                        <p:attrNameLst>
                                          <p:attrName>style.visibility</p:attrName>
                                        </p:attrNameLst>
                                      </p:cBhvr>
                                      <p:to>
                                        <p:strVal val="visible"/>
                                      </p:to>
                                    </p:set>
                                    <p:animEffect transition="in" filter="blinds(horizontal)">
                                      <p:cBhvr>
                                        <p:cTn id="16" dur="500"/>
                                        <p:tgtEl>
                                          <p:spTgt spid="58371">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8371">
                                            <p:txEl>
                                              <p:pRg st="7" end="7"/>
                                            </p:txEl>
                                          </p:spTgt>
                                        </p:tgtEl>
                                        <p:attrNameLst>
                                          <p:attrName>style.visibility</p:attrName>
                                        </p:attrNameLst>
                                      </p:cBhvr>
                                      <p:to>
                                        <p:strVal val="visible"/>
                                      </p:to>
                                    </p:set>
                                    <p:anim calcmode="lin" valueType="num">
                                      <p:cBhvr additive="base">
                                        <p:cTn id="21" dur="500" fill="hold"/>
                                        <p:tgtEl>
                                          <p:spTgt spid="58371">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8371">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8371">
                                            <p:txEl>
                                              <p:pRg st="8" end="8"/>
                                            </p:txEl>
                                          </p:spTgt>
                                        </p:tgtEl>
                                        <p:attrNameLst>
                                          <p:attrName>style.visibility</p:attrName>
                                        </p:attrNameLst>
                                      </p:cBhvr>
                                      <p:to>
                                        <p:strVal val="visible"/>
                                      </p:to>
                                    </p:set>
                                    <p:anim calcmode="lin" valueType="num">
                                      <p:cBhvr additive="base">
                                        <p:cTn id="25" dur="500" fill="hold"/>
                                        <p:tgtEl>
                                          <p:spTgt spid="58371">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8371">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8371">
                                            <p:txEl>
                                              <p:pRg st="9" end="9"/>
                                            </p:txEl>
                                          </p:spTgt>
                                        </p:tgtEl>
                                        <p:attrNameLst>
                                          <p:attrName>style.visibility</p:attrName>
                                        </p:attrNameLst>
                                      </p:cBhvr>
                                      <p:to>
                                        <p:strVal val="visible"/>
                                      </p:to>
                                    </p:set>
                                    <p:anim calcmode="lin" valueType="num">
                                      <p:cBhvr additive="base">
                                        <p:cTn id="29" dur="500" fill="hold"/>
                                        <p:tgtEl>
                                          <p:spTgt spid="58371">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8371">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8371">
                                            <p:txEl>
                                              <p:pRg st="10" end="10"/>
                                            </p:txEl>
                                          </p:spTgt>
                                        </p:tgtEl>
                                        <p:attrNameLst>
                                          <p:attrName>style.visibility</p:attrName>
                                        </p:attrNameLst>
                                      </p:cBhvr>
                                      <p:to>
                                        <p:strVal val="visible"/>
                                      </p:to>
                                    </p:set>
                                    <p:anim calcmode="lin" valueType="num">
                                      <p:cBhvr additive="base">
                                        <p:cTn id="33" dur="500" fill="hold"/>
                                        <p:tgtEl>
                                          <p:spTgt spid="58371">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8371">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8371">
                                            <p:txEl>
                                              <p:pRg st="11" end="11"/>
                                            </p:txEl>
                                          </p:spTgt>
                                        </p:tgtEl>
                                        <p:attrNameLst>
                                          <p:attrName>style.visibility</p:attrName>
                                        </p:attrNameLst>
                                      </p:cBhvr>
                                      <p:to>
                                        <p:strVal val="visible"/>
                                      </p:to>
                                    </p:set>
                                    <p:anim calcmode="lin" valueType="num">
                                      <p:cBhvr additive="base">
                                        <p:cTn id="37" dur="500" fill="hold"/>
                                        <p:tgtEl>
                                          <p:spTgt spid="58371">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837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rmAutofit fontScale="90000"/>
          </a:bodyPr>
          <a:lstStyle/>
          <a:p>
            <a:pPr eaLnBrk="1" hangingPunct="1"/>
            <a:r>
              <a:rPr kumimoji="0" lang="zh-CN" altLang="en-US" sz="3110" i="0" u="none" strike="noStrike" kern="0" cap="none" spc="0" normalizeH="0" baseline="0" noProof="0" dirty="0">
                <a:ln>
                  <a:noFill/>
                </a:ln>
                <a:solidFill>
                  <a:schemeClr val="tx1"/>
                </a:solidFill>
                <a:effectLst/>
                <a:uLnTx/>
                <a:uFillTx/>
                <a:latin typeface="Verdana" panose="020B0804030504040204"/>
                <a:ea typeface="+mj-ea"/>
                <a:cs typeface="+mj-cs"/>
              </a:rPr>
              <a:t>带有</a:t>
            </a:r>
            <a:r>
              <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rPr>
              <a:t>EXISTS</a:t>
            </a:r>
            <a:r>
              <a:rPr kumimoji="0" lang="zh-CN" altLang="en-US" sz="3110" i="0" u="none" strike="noStrike" kern="0" cap="none" spc="0" normalizeH="0" baseline="0" noProof="0" dirty="0">
                <a:ln>
                  <a:noFill/>
                </a:ln>
                <a:solidFill>
                  <a:schemeClr val="tx1"/>
                </a:solidFill>
                <a:effectLst/>
                <a:uLnTx/>
                <a:uFillTx/>
                <a:latin typeface="Verdana" panose="020B0804030504040204"/>
                <a:ea typeface="+mj-ea"/>
                <a:cs typeface="+mj-cs"/>
              </a:rPr>
              <a:t>谓词的子查询 </a:t>
            </a:r>
            <a:r>
              <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rPr>
              <a:t>3</a:t>
            </a:r>
            <a:endPar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endParaRPr>
          </a:p>
        </p:txBody>
      </p:sp>
      <p:sp>
        <p:nvSpPr>
          <p:cNvPr id="59395" name="Rectangle 3"/>
          <p:cNvSpPr>
            <a:spLocks noGrp="1" noChangeArrowheads="1"/>
          </p:cNvSpPr>
          <p:nvPr>
            <p:ph idx="1"/>
          </p:nvPr>
        </p:nvSpPr>
        <p:spPr/>
        <p:txBody>
          <a:bodyPr/>
          <a:lstStyle/>
          <a:p>
            <a:pPr algn="just">
              <a:lnSpc>
                <a:spcPct val="130000"/>
              </a:lnSpc>
              <a:spcBef>
                <a:spcPct val="0"/>
              </a:spcBef>
            </a:pPr>
            <a:r>
              <a:rPr lang="en-US" altLang="zh-CN" sz="2800" dirty="0"/>
              <a:t>[</a:t>
            </a:r>
            <a:r>
              <a:rPr lang="zh-CN" altLang="en-US" sz="2800" dirty="0">
                <a:ea typeface="黑体" panose="02010609060101010101" pitchFamily="49" charset="-122"/>
              </a:rPr>
              <a:t>例</a:t>
            </a:r>
            <a:r>
              <a:rPr lang="en-US" altLang="zh-CN" sz="2800" dirty="0">
                <a:ea typeface="黑体" panose="02010609060101010101" pitchFamily="49" charset="-122"/>
              </a:rPr>
              <a:t>3.61]</a:t>
            </a:r>
            <a:r>
              <a:rPr lang="zh-CN" altLang="en-US" sz="2800" dirty="0"/>
              <a:t>查询没有选修</a:t>
            </a:r>
            <a:r>
              <a:rPr lang="en-US" altLang="zh-CN" sz="2800" dirty="0"/>
              <a:t>1</a:t>
            </a:r>
            <a:r>
              <a:rPr lang="zh-CN" altLang="en-US" sz="2800" dirty="0"/>
              <a:t>号课程的学生姓名。</a:t>
            </a:r>
            <a:endParaRPr lang="zh-CN" altLang="en-US" sz="2800" dirty="0"/>
          </a:p>
          <a:p>
            <a:pPr algn="just">
              <a:lnSpc>
                <a:spcPct val="130000"/>
              </a:lnSpc>
              <a:spcBef>
                <a:spcPct val="0"/>
              </a:spcBef>
            </a:pPr>
            <a:endParaRPr lang="zh-CN" altLang="en-US" sz="2800" dirty="0">
              <a:latin typeface="宋体" pitchFamily="2" charset="-122"/>
            </a:endParaRPr>
          </a:p>
          <a:p>
            <a:pPr lvl="2" algn="just" eaLnBrk="1" hangingPunct="1">
              <a:lnSpc>
                <a:spcPct val="130000"/>
              </a:lnSpc>
              <a:spcBef>
                <a:spcPct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SELECT  </a:t>
            </a:r>
            <a:r>
              <a:rPr lang="en-US" altLang="zh-CN" sz="2610" dirty="0" err="1">
                <a:latin typeface="Arial" panose="020B0604020202090204" pitchFamily="34" charset="0"/>
                <a:cs typeface="Arial" panose="020B0604020202090204" pitchFamily="34" charset="0"/>
              </a:rPr>
              <a:t>Sname</a:t>
            </a:r>
            <a:endParaRPr lang="en-US" altLang="zh-CN" sz="2610" dirty="0">
              <a:latin typeface="Arial" panose="020B0604020202090204" pitchFamily="34" charset="0"/>
              <a:cs typeface="Arial" panose="020B0604020202090204" pitchFamily="34" charset="0"/>
            </a:endParaRPr>
          </a:p>
          <a:p>
            <a:pPr lvl="2" algn="just" eaLnBrk="1" hangingPunct="1">
              <a:lnSpc>
                <a:spcPct val="130000"/>
              </a:lnSpc>
              <a:spcBef>
                <a:spcPct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FROM      </a:t>
            </a:r>
            <a:r>
              <a:rPr lang="en-US" altLang="zh-CN" sz="2610" dirty="0">
                <a:solidFill>
                  <a:srgbClr val="FF0000"/>
                </a:solidFill>
                <a:latin typeface="Arial" panose="020B0604020202090204" pitchFamily="34" charset="0"/>
                <a:cs typeface="Arial" panose="020B0604020202090204" pitchFamily="34" charset="0"/>
              </a:rPr>
              <a:t>Student  S</a:t>
            </a:r>
            <a:endParaRPr lang="en-US" altLang="zh-CN" sz="2610" dirty="0">
              <a:solidFill>
                <a:srgbClr val="FF0000"/>
              </a:solidFill>
              <a:latin typeface="Arial" panose="020B0604020202090204" pitchFamily="34" charset="0"/>
              <a:cs typeface="Arial" panose="020B0604020202090204" pitchFamily="34" charset="0"/>
            </a:endParaRPr>
          </a:p>
          <a:p>
            <a:pPr lvl="2" algn="just" eaLnBrk="1" hangingPunct="1">
              <a:lnSpc>
                <a:spcPct val="130000"/>
              </a:lnSpc>
              <a:spcBef>
                <a:spcPct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WHERE NOT EXISTS (</a:t>
            </a:r>
            <a:endParaRPr lang="en-US" altLang="zh-CN" sz="2610" dirty="0">
              <a:latin typeface="Arial" panose="020B0604020202090204" pitchFamily="34" charset="0"/>
              <a:cs typeface="Arial" panose="020B0604020202090204" pitchFamily="34" charset="0"/>
            </a:endParaRPr>
          </a:p>
          <a:p>
            <a:pPr lvl="2" indent="3204845" algn="just" eaLnBrk="1" hangingPunct="1">
              <a:lnSpc>
                <a:spcPct val="130000"/>
              </a:lnSpc>
              <a:spcBef>
                <a:spcPct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SELECT  *</a:t>
            </a:r>
            <a:endParaRPr lang="en-US" altLang="zh-CN" sz="2610" dirty="0">
              <a:latin typeface="Arial" panose="020B0604020202090204" pitchFamily="34" charset="0"/>
              <a:cs typeface="Arial" panose="020B0604020202090204" pitchFamily="34" charset="0"/>
            </a:endParaRPr>
          </a:p>
          <a:p>
            <a:pPr lvl="2" indent="3204845" algn="just" eaLnBrk="1" hangingPunct="1">
              <a:lnSpc>
                <a:spcPct val="130000"/>
              </a:lnSpc>
              <a:spcBef>
                <a:spcPct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FROM    SC</a:t>
            </a:r>
            <a:endParaRPr lang="en-US" altLang="zh-CN" sz="2610" dirty="0">
              <a:latin typeface="Arial" panose="020B0604020202090204" pitchFamily="34" charset="0"/>
              <a:cs typeface="Arial" panose="020B0604020202090204" pitchFamily="34" charset="0"/>
            </a:endParaRPr>
          </a:p>
          <a:p>
            <a:pPr lvl="2" indent="3204845" eaLnBrk="1" hangingPunct="1">
              <a:lnSpc>
                <a:spcPct val="130000"/>
              </a:lnSpc>
              <a:spcBef>
                <a:spcPct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WHERE SC.</a:t>
            </a:r>
            <a:r>
              <a:rPr lang="en-US" altLang="zh-CN" sz="2610" dirty="0" err="1">
                <a:latin typeface="Arial" panose="020B0604020202090204" pitchFamily="34" charset="0"/>
                <a:cs typeface="Arial" panose="020B0604020202090204" pitchFamily="34" charset="0"/>
              </a:rPr>
              <a:t>Sno</a:t>
            </a:r>
            <a:r>
              <a:rPr lang="en-US" altLang="zh-CN" sz="2610" dirty="0">
                <a:latin typeface="Arial" panose="020B0604020202090204" pitchFamily="34" charset="0"/>
                <a:cs typeface="Arial" panose="020B0604020202090204" pitchFamily="34" charset="0"/>
              </a:rPr>
              <a:t>=</a:t>
            </a:r>
            <a:r>
              <a:rPr lang="en-US" altLang="zh-CN" sz="2610" dirty="0" err="1">
                <a:solidFill>
                  <a:srgbClr val="FF0000"/>
                </a:solidFill>
                <a:latin typeface="Arial" panose="020B0604020202090204" pitchFamily="34" charset="0"/>
                <a:cs typeface="Arial" panose="020B0604020202090204" pitchFamily="34" charset="0"/>
              </a:rPr>
              <a:t>S.Sno</a:t>
            </a:r>
            <a:r>
              <a:rPr lang="en-US" altLang="zh-CN" sz="2610" dirty="0">
                <a:solidFill>
                  <a:srgbClr val="FF0000"/>
                </a:solidFill>
                <a:latin typeface="Arial" panose="020B0604020202090204" pitchFamily="34" charset="0"/>
                <a:cs typeface="Arial" panose="020B0604020202090204" pitchFamily="34" charset="0"/>
              </a:rPr>
              <a:t>  </a:t>
            </a:r>
            <a:r>
              <a:rPr lang="en-US" altLang="zh-CN" sz="2610" dirty="0">
                <a:latin typeface="Arial" panose="020B0604020202090204" pitchFamily="34" charset="0"/>
                <a:cs typeface="Arial" panose="020B0604020202090204" pitchFamily="34" charset="0"/>
              </a:rPr>
              <a:t>AND  </a:t>
            </a:r>
            <a:r>
              <a:rPr lang="en-US" altLang="zh-CN" sz="2610" dirty="0" err="1">
                <a:latin typeface="Arial" panose="020B0604020202090204" pitchFamily="34" charset="0"/>
                <a:cs typeface="Arial" panose="020B0604020202090204" pitchFamily="34" charset="0"/>
              </a:rPr>
              <a:t>Cno</a:t>
            </a:r>
            <a:r>
              <a:rPr lang="en-US" altLang="zh-CN" sz="2610" dirty="0">
                <a:latin typeface="Arial" panose="020B0604020202090204" pitchFamily="34" charset="0"/>
                <a:cs typeface="Arial" panose="020B0604020202090204" pitchFamily="34" charset="0"/>
              </a:rPr>
              <a:t>='1'</a:t>
            </a:r>
            <a:r>
              <a:rPr lang="zh-CN" altLang="en-US" sz="2610" dirty="0">
                <a:latin typeface="Arial" panose="020B0604020202090204" pitchFamily="34" charset="0"/>
                <a:cs typeface="Arial" panose="020B0604020202090204" pitchFamily="34" charset="0"/>
              </a:rPr>
              <a:t>);</a:t>
            </a:r>
            <a:endParaRPr lang="zh-CN" altLang="en-US" sz="2610" dirty="0">
              <a:latin typeface="Arial" panose="020B0604020202090204" pitchFamily="34" charset="0"/>
              <a:cs typeface="Arial" panose="020B0604020202090204" pitchFamily="34" charset="0"/>
            </a:endParaRPr>
          </a:p>
        </p:txBody>
      </p:sp>
      <p:sp>
        <p:nvSpPr>
          <p:cNvPr id="5" name="文本框 4"/>
          <p:cNvSpPr txBox="1"/>
          <p:nvPr/>
        </p:nvSpPr>
        <p:spPr>
          <a:xfrm>
            <a:off x="744855" y="5653405"/>
            <a:ext cx="10808335" cy="521970"/>
          </a:xfrm>
          <a:prstGeom prst="rect">
            <a:avLst/>
          </a:prstGeom>
          <a:noFill/>
        </p:spPr>
        <p:txBody>
          <a:bodyPr wrap="square" rtlCol="0">
            <a:spAutoFit/>
          </a:bodyPr>
          <a:p>
            <a:pPr marL="285750" indent="-285750">
              <a:buClr>
                <a:srgbClr val="C00000"/>
              </a:buClr>
              <a:buSzPct val="85000"/>
              <a:buFont typeface="Wingdings" panose="05000000000000000000" charset="0"/>
              <a:buChar char="q"/>
            </a:pPr>
            <a:r>
              <a:rPr lang="zh-CN" altLang="en-US" sz="2800">
                <a:solidFill>
                  <a:srgbClr val="0000FF"/>
                </a:solidFill>
              </a:rPr>
              <a:t>例</a:t>
            </a:r>
            <a:r>
              <a:rPr lang="en-US" altLang="zh-CN" sz="2800">
                <a:solidFill>
                  <a:srgbClr val="0000FF"/>
                </a:solidFill>
              </a:rPr>
              <a:t>3.60</a:t>
            </a:r>
            <a:r>
              <a:rPr lang="zh-CN" altLang="en-US" sz="2800">
                <a:solidFill>
                  <a:srgbClr val="0000FF"/>
                </a:solidFill>
              </a:rPr>
              <a:t>也可以用表连接查询来表示，但例</a:t>
            </a:r>
            <a:r>
              <a:rPr lang="en-US" altLang="zh-CN" sz="2800">
                <a:solidFill>
                  <a:srgbClr val="0000FF"/>
                </a:solidFill>
              </a:rPr>
              <a:t>3.61</a:t>
            </a:r>
            <a:r>
              <a:rPr lang="zh-CN" altLang="en-US" sz="2800">
                <a:solidFill>
                  <a:srgbClr val="0000FF"/>
                </a:solidFill>
              </a:rPr>
              <a:t>必须使用到子查询！</a:t>
            </a:r>
            <a:endParaRPr lang="zh-CN" altLang="en-US" sz="2800">
              <a:solidFill>
                <a:srgbClr val="0000FF"/>
              </a:solidFill>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5">
                                            <p:txEl>
                                              <p:pRg st="2" end="2"/>
                                            </p:txEl>
                                          </p:spTgt>
                                        </p:tgtEl>
                                        <p:attrNameLst>
                                          <p:attrName>style.visibility</p:attrName>
                                        </p:attrNameLst>
                                      </p:cBhvr>
                                      <p:to>
                                        <p:strVal val="visible"/>
                                      </p:to>
                                    </p:set>
                                    <p:animEffect transition="in" filter="blinds(horizontal)">
                                      <p:cBhvr>
                                        <p:cTn id="7" dur="500"/>
                                        <p:tgtEl>
                                          <p:spTgt spid="59395">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9395">
                                            <p:txEl>
                                              <p:pRg st="3" end="3"/>
                                            </p:txEl>
                                          </p:spTgt>
                                        </p:tgtEl>
                                        <p:attrNameLst>
                                          <p:attrName>style.visibility</p:attrName>
                                        </p:attrNameLst>
                                      </p:cBhvr>
                                      <p:to>
                                        <p:strVal val="visible"/>
                                      </p:to>
                                    </p:set>
                                    <p:animEffect transition="in" filter="blinds(horizontal)">
                                      <p:cBhvr>
                                        <p:cTn id="10" dur="500"/>
                                        <p:tgtEl>
                                          <p:spTgt spid="59395">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9395">
                                            <p:txEl>
                                              <p:pRg st="4" end="4"/>
                                            </p:txEl>
                                          </p:spTgt>
                                        </p:tgtEl>
                                        <p:attrNameLst>
                                          <p:attrName>style.visibility</p:attrName>
                                        </p:attrNameLst>
                                      </p:cBhvr>
                                      <p:to>
                                        <p:strVal val="visible"/>
                                      </p:to>
                                    </p:set>
                                    <p:animEffect transition="in" filter="blinds(horizontal)">
                                      <p:cBhvr>
                                        <p:cTn id="13" dur="500"/>
                                        <p:tgtEl>
                                          <p:spTgt spid="59395">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9395">
                                            <p:txEl>
                                              <p:pRg st="5" end="5"/>
                                            </p:txEl>
                                          </p:spTgt>
                                        </p:tgtEl>
                                        <p:attrNameLst>
                                          <p:attrName>style.visibility</p:attrName>
                                        </p:attrNameLst>
                                      </p:cBhvr>
                                      <p:to>
                                        <p:strVal val="visible"/>
                                      </p:to>
                                    </p:set>
                                    <p:animEffect transition="in" filter="blinds(horizontal)">
                                      <p:cBhvr>
                                        <p:cTn id="16" dur="500"/>
                                        <p:tgtEl>
                                          <p:spTgt spid="59395">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9395">
                                            <p:txEl>
                                              <p:pRg st="6" end="6"/>
                                            </p:txEl>
                                          </p:spTgt>
                                        </p:tgtEl>
                                        <p:attrNameLst>
                                          <p:attrName>style.visibility</p:attrName>
                                        </p:attrNameLst>
                                      </p:cBhvr>
                                      <p:to>
                                        <p:strVal val="visible"/>
                                      </p:to>
                                    </p:set>
                                    <p:animEffect transition="in" filter="blinds(horizontal)">
                                      <p:cBhvr>
                                        <p:cTn id="19" dur="500"/>
                                        <p:tgtEl>
                                          <p:spTgt spid="59395">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9395">
                                            <p:txEl>
                                              <p:pRg st="7" end="7"/>
                                            </p:txEl>
                                          </p:spTgt>
                                        </p:tgtEl>
                                        <p:attrNameLst>
                                          <p:attrName>style.visibility</p:attrName>
                                        </p:attrNameLst>
                                      </p:cBhvr>
                                      <p:to>
                                        <p:strVal val="visible"/>
                                      </p:to>
                                    </p:set>
                                    <p:animEffect transition="in" filter="blinds(horizontal)">
                                      <p:cBhvr>
                                        <p:cTn id="22" dur="500"/>
                                        <p:tgtEl>
                                          <p:spTgt spid="59395">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fontScale="90000"/>
          </a:bodyPr>
          <a:lstStyle/>
          <a:p>
            <a:pPr eaLnBrk="1" hangingPunct="1"/>
            <a:r>
              <a:rPr kumimoji="0" lang="zh-CN" altLang="en-US" sz="3110" i="0" u="none" strike="noStrike" kern="0" cap="none" spc="0" normalizeH="0" baseline="0" noProof="0" dirty="0">
                <a:ln>
                  <a:noFill/>
                </a:ln>
                <a:solidFill>
                  <a:schemeClr val="tx1"/>
                </a:solidFill>
                <a:effectLst/>
                <a:uLnTx/>
                <a:uFillTx/>
                <a:latin typeface="Verdana" panose="020B0804030504040204"/>
                <a:ea typeface="+mj-ea"/>
                <a:cs typeface="+mj-cs"/>
              </a:rPr>
              <a:t>带有</a:t>
            </a:r>
            <a:r>
              <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rPr>
              <a:t>EXISTS</a:t>
            </a:r>
            <a:r>
              <a:rPr kumimoji="0" lang="zh-CN" altLang="en-US" sz="3110" i="0" u="none" strike="noStrike" kern="0" cap="none" spc="0" normalizeH="0" baseline="0" noProof="0" dirty="0">
                <a:ln>
                  <a:noFill/>
                </a:ln>
                <a:solidFill>
                  <a:schemeClr val="tx1"/>
                </a:solidFill>
                <a:effectLst/>
                <a:uLnTx/>
                <a:uFillTx/>
                <a:latin typeface="Verdana" panose="020B0804030504040204"/>
                <a:ea typeface="+mj-ea"/>
                <a:cs typeface="+mj-cs"/>
              </a:rPr>
              <a:t>谓词的子查询 </a:t>
            </a:r>
            <a:r>
              <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rPr>
              <a:t>4</a:t>
            </a:r>
            <a:endPar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endParaRPr>
          </a:p>
        </p:txBody>
      </p:sp>
      <mc:AlternateContent xmlns:mc="http://schemas.openxmlformats.org/markup-compatibility/2006">
        <mc:Choice xmlns:a14="http://schemas.microsoft.com/office/drawing/2010/main" Requires="a14">
          <p:sp>
            <p:nvSpPr>
              <p:cNvPr id="60419" name="Rectangle 3"/>
              <p:cNvSpPr>
                <a:spLocks noGrp="1" noChangeArrowheads="1"/>
              </p:cNvSpPr>
              <p:nvPr>
                <p:ph idx="1"/>
              </p:nvPr>
            </p:nvSpPr>
            <p:spPr/>
            <p:txBody>
              <a:bodyPr>
                <a:noAutofit/>
              </a:bodyPr>
              <a:lstStyle/>
              <a:p>
                <a:pPr eaLnBrk="1" hangingPunct="1">
                  <a:lnSpc>
                    <a:spcPct val="110000"/>
                  </a:lnSpc>
                  <a:spcBef>
                    <a:spcPts val="1000"/>
                  </a:spcBef>
                </a:pPr>
                <a:r>
                  <a:rPr lang="zh-CN" altLang="en-US" dirty="0">
                    <a:solidFill>
                      <a:srgbClr val="FF0000"/>
                    </a:solidFill>
                    <a:latin typeface="Arial" panose="020B0604020202090204" pitchFamily="34" charset="0"/>
                    <a:cs typeface="Arial" panose="020B0604020202090204" pitchFamily="34" charset="0"/>
                  </a:rPr>
                  <a:t>不同形式的查询间的替换</a:t>
                </a:r>
                <a:endParaRPr lang="zh-CN" altLang="en-US" dirty="0">
                  <a:solidFill>
                    <a:srgbClr val="FF0000"/>
                  </a:solidFill>
                  <a:latin typeface="Arial" panose="020B0604020202090204" pitchFamily="34" charset="0"/>
                  <a:cs typeface="Arial" panose="020B0604020202090204" pitchFamily="34" charset="0"/>
                </a:endParaRPr>
              </a:p>
              <a:p>
                <a:pPr lvl="1" eaLnBrk="1" hangingPunct="1">
                  <a:lnSpc>
                    <a:spcPct val="110000"/>
                  </a:lnSpc>
                  <a:spcBef>
                    <a:spcPts val="1000"/>
                  </a:spcBef>
                </a:pPr>
                <a:r>
                  <a:rPr lang="zh-CN" altLang="en-US" dirty="0">
                    <a:latin typeface="Arial" panose="020B0604020202090204" pitchFamily="34" charset="0"/>
                    <a:cs typeface="Arial" panose="020B0604020202090204" pitchFamily="34" charset="0"/>
                  </a:rPr>
                  <a:t>一些带</a:t>
                </a:r>
                <a:r>
                  <a:rPr lang="en-US" altLang="zh-CN" dirty="0">
                    <a:latin typeface="Arial" panose="020B0604020202090204" pitchFamily="34" charset="0"/>
                    <a:cs typeface="Arial" panose="020B0604020202090204" pitchFamily="34" charset="0"/>
                  </a:rPr>
                  <a:t>EXISTS</a:t>
                </a:r>
                <a:r>
                  <a:rPr lang="zh-CN" altLang="en-US" dirty="0">
                    <a:latin typeface="Arial" panose="020B0604020202090204" pitchFamily="34" charset="0"/>
                    <a:cs typeface="Arial" panose="020B0604020202090204" pitchFamily="34" charset="0"/>
                  </a:rPr>
                  <a:t>或</a:t>
                </a:r>
                <a:r>
                  <a:rPr lang="en-US" altLang="zh-CN" dirty="0">
                    <a:latin typeface="Arial" panose="020B0604020202090204" pitchFamily="34" charset="0"/>
                    <a:cs typeface="Arial" panose="020B0604020202090204" pitchFamily="34" charset="0"/>
                  </a:rPr>
                  <a:t>NOT EXISTS</a:t>
                </a:r>
                <a:r>
                  <a:rPr lang="zh-CN" altLang="en-US" dirty="0">
                    <a:latin typeface="Arial" panose="020B0604020202090204" pitchFamily="34" charset="0"/>
                    <a:cs typeface="Arial" panose="020B0604020202090204" pitchFamily="34" charset="0"/>
                  </a:rPr>
                  <a:t>谓词的子查询不能被其他形式的子查询等价替换</a:t>
                </a:r>
                <a:endParaRPr lang="zh-CN" altLang="en-US" dirty="0">
                  <a:latin typeface="Arial" panose="020B0604020202090204" pitchFamily="34" charset="0"/>
                  <a:cs typeface="Arial" panose="020B0604020202090204" pitchFamily="34" charset="0"/>
                </a:endParaRPr>
              </a:p>
              <a:p>
                <a:pPr lvl="1" eaLnBrk="1" hangingPunct="1">
                  <a:lnSpc>
                    <a:spcPct val="110000"/>
                  </a:lnSpc>
                  <a:spcBef>
                    <a:spcPts val="1000"/>
                  </a:spcBef>
                </a:pPr>
                <a:r>
                  <a:rPr lang="zh-CN" altLang="en-US" dirty="0">
                    <a:latin typeface="Arial" panose="020B0604020202090204" pitchFamily="34" charset="0"/>
                    <a:cs typeface="Arial" panose="020B0604020202090204" pitchFamily="34" charset="0"/>
                  </a:rPr>
                  <a:t>所有带</a:t>
                </a:r>
                <a:r>
                  <a:rPr lang="en-US" altLang="zh-CN" dirty="0">
                    <a:latin typeface="Arial" panose="020B0604020202090204" pitchFamily="34" charset="0"/>
                    <a:cs typeface="Arial" panose="020B0604020202090204" pitchFamily="34" charset="0"/>
                  </a:rPr>
                  <a:t>IN</a:t>
                </a:r>
                <a:r>
                  <a:rPr lang="zh-CN" altLang="en-US" dirty="0">
                    <a:latin typeface="Arial" panose="020B0604020202090204" pitchFamily="34" charset="0"/>
                    <a:cs typeface="Arial" panose="020B0604020202090204" pitchFamily="34" charset="0"/>
                  </a:rPr>
                  <a:t>谓词、比较运算符、</a:t>
                </a:r>
                <a:r>
                  <a:rPr lang="en-US" altLang="zh-CN" dirty="0">
                    <a:latin typeface="Arial" panose="020B0604020202090204" pitchFamily="34" charset="0"/>
                    <a:cs typeface="Arial" panose="020B0604020202090204" pitchFamily="34" charset="0"/>
                  </a:rPr>
                  <a:t>ANY</a:t>
                </a:r>
                <a:r>
                  <a:rPr lang="zh-CN" altLang="en-US" dirty="0">
                    <a:latin typeface="Arial" panose="020B0604020202090204" pitchFamily="34" charset="0"/>
                    <a:cs typeface="Arial" panose="020B0604020202090204" pitchFamily="34" charset="0"/>
                  </a:rPr>
                  <a:t>和</a:t>
                </a:r>
                <a:r>
                  <a:rPr lang="en-US" altLang="zh-CN" dirty="0">
                    <a:latin typeface="Arial" panose="020B0604020202090204" pitchFamily="34" charset="0"/>
                    <a:cs typeface="Arial" panose="020B0604020202090204" pitchFamily="34" charset="0"/>
                  </a:rPr>
                  <a:t>ALL</a:t>
                </a:r>
                <a:r>
                  <a:rPr lang="zh-CN" altLang="en-US" dirty="0">
                    <a:latin typeface="Arial" panose="020B0604020202090204" pitchFamily="34" charset="0"/>
                    <a:cs typeface="Arial" panose="020B0604020202090204" pitchFamily="34" charset="0"/>
                  </a:rPr>
                  <a:t>谓词的子查询都能用带</a:t>
                </a:r>
                <a:r>
                  <a:rPr lang="en-US" altLang="zh-CN" dirty="0">
                    <a:latin typeface="Arial" panose="020B0604020202090204" pitchFamily="34" charset="0"/>
                    <a:cs typeface="Arial" panose="020B0604020202090204" pitchFamily="34" charset="0"/>
                  </a:rPr>
                  <a:t>EXISTS</a:t>
                </a:r>
                <a:r>
                  <a:rPr lang="zh-CN" altLang="en-US" dirty="0">
                    <a:latin typeface="Arial" panose="020B0604020202090204" pitchFamily="34" charset="0"/>
                    <a:cs typeface="Arial" panose="020B0604020202090204" pitchFamily="34" charset="0"/>
                  </a:rPr>
                  <a:t>谓词的子查询等价替换</a:t>
                </a:r>
                <a:endParaRPr lang="zh-CN" altLang="en-US" dirty="0">
                  <a:latin typeface="Arial" panose="020B0604020202090204" pitchFamily="34" charset="0"/>
                  <a:cs typeface="Arial" panose="020B0604020202090204" pitchFamily="34" charset="0"/>
                </a:endParaRPr>
              </a:p>
              <a:p>
                <a:pPr lvl="1" eaLnBrk="1" hangingPunct="1">
                  <a:lnSpc>
                    <a:spcPct val="110000"/>
                  </a:lnSpc>
                  <a:spcBef>
                    <a:spcPts val="1000"/>
                  </a:spcBef>
                </a:pPr>
                <a:endParaRPr lang="zh-CN" altLang="en-US" dirty="0">
                  <a:latin typeface="Arial" panose="020B0604020202090204" pitchFamily="34" charset="0"/>
                  <a:cs typeface="Arial" panose="020B0604020202090204" pitchFamily="34" charset="0"/>
                </a:endParaRPr>
              </a:p>
              <a:p>
                <a:pPr eaLnBrk="1" hangingPunct="1">
                  <a:lnSpc>
                    <a:spcPct val="110000"/>
                  </a:lnSpc>
                  <a:spcBef>
                    <a:spcPts val="1000"/>
                  </a:spcBef>
                </a:pPr>
                <a:r>
                  <a:rPr lang="zh-CN" altLang="en-US" dirty="0">
                    <a:solidFill>
                      <a:srgbClr val="FF0000"/>
                    </a:solidFill>
                    <a:latin typeface="Arial" panose="020B0604020202090204" pitchFamily="34" charset="0"/>
                    <a:cs typeface="Arial" panose="020B0604020202090204" pitchFamily="34" charset="0"/>
                  </a:rPr>
                  <a:t>用</a:t>
                </a:r>
                <a:r>
                  <a:rPr lang="en-US" altLang="zh-CN" dirty="0">
                    <a:solidFill>
                      <a:srgbClr val="FF0000"/>
                    </a:solidFill>
                    <a:latin typeface="Arial" panose="020B0604020202090204" pitchFamily="34" charset="0"/>
                    <a:cs typeface="Arial" panose="020B0604020202090204" pitchFamily="34" charset="0"/>
                  </a:rPr>
                  <a:t>EXISTS/NOT EXISTS</a:t>
                </a:r>
                <a:r>
                  <a:rPr lang="zh-CN" altLang="en-US" dirty="0">
                    <a:solidFill>
                      <a:srgbClr val="FF0000"/>
                    </a:solidFill>
                    <a:latin typeface="Arial" panose="020B0604020202090204" pitchFamily="34" charset="0"/>
                    <a:cs typeface="Arial" panose="020B0604020202090204" pitchFamily="34" charset="0"/>
                  </a:rPr>
                  <a:t>实现全称量词</a:t>
                </a:r>
                <a:endParaRPr lang="zh-CN" altLang="en-US" dirty="0">
                  <a:latin typeface="Arial" panose="020B0604020202090204" pitchFamily="34" charset="0"/>
                  <a:cs typeface="Arial" panose="020B0604020202090204" pitchFamily="34" charset="0"/>
                </a:endParaRPr>
              </a:p>
              <a:p>
                <a:pPr lvl="1" eaLnBrk="1" hangingPunct="1">
                  <a:lnSpc>
                    <a:spcPct val="110000"/>
                  </a:lnSpc>
                  <a:spcBef>
                    <a:spcPts val="1000"/>
                  </a:spcBef>
                </a:pPr>
                <a:r>
                  <a:rPr lang="en-US" altLang="zh-CN" dirty="0">
                    <a:latin typeface="Arial" panose="020B0604020202090204" pitchFamily="34" charset="0"/>
                    <a:cs typeface="Arial" panose="020B0604020202090204" pitchFamily="34" charset="0"/>
                  </a:rPr>
                  <a:t>SQL</a:t>
                </a:r>
                <a:r>
                  <a:rPr lang="zh-CN" altLang="en-US" dirty="0">
                    <a:latin typeface="Arial" panose="020B0604020202090204" pitchFamily="34" charset="0"/>
                    <a:cs typeface="Arial" panose="020B0604020202090204" pitchFamily="34" charset="0"/>
                  </a:rPr>
                  <a:t>语言中没有全称量词</a:t>
                </a:r>
                <a:r>
                  <a:rPr lang="zh-CN" altLang="en-US" dirty="0">
                    <a:latin typeface="Arial" panose="020B0604020202090204" pitchFamily="34" charset="0"/>
                    <a:cs typeface="Arial" panose="020B0604020202090204" pitchFamily="34" charset="0"/>
                    <a:sym typeface="Symbol" panose="05050102010706020507" pitchFamily="18" charset="2"/>
                  </a:rPr>
                  <a:t></a:t>
                </a:r>
                <a:r>
                  <a:rPr lang="zh-CN" altLang="en-US" dirty="0">
                    <a:latin typeface="Arial" panose="020B0604020202090204" pitchFamily="34" charset="0"/>
                    <a:cs typeface="Arial" panose="020B0604020202090204" pitchFamily="34" charset="0"/>
                  </a:rPr>
                  <a:t> （</a:t>
                </a:r>
                <a:r>
                  <a:rPr lang="en-US" altLang="zh-CN" dirty="0">
                    <a:latin typeface="Arial" panose="020B0604020202090204" pitchFamily="34" charset="0"/>
                    <a:cs typeface="Arial" panose="020B0604020202090204" pitchFamily="34" charset="0"/>
                  </a:rPr>
                  <a:t>For all</a:t>
                </a:r>
                <a:r>
                  <a:rPr lang="zh-CN" altLang="en-US"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lvl="1" eaLnBrk="1" hangingPunct="1">
                  <a:lnSpc>
                    <a:spcPct val="110000"/>
                  </a:lnSpc>
                  <a:spcBef>
                    <a:spcPts val="1000"/>
                  </a:spcBef>
                </a:pPr>
                <a:r>
                  <a:rPr lang="zh-CN" altLang="en-US" dirty="0">
                    <a:latin typeface="Arial" panose="020B0604020202090204" pitchFamily="34" charset="0"/>
                    <a:cs typeface="Arial" panose="020B0604020202090204" pitchFamily="34" charset="0"/>
                  </a:rPr>
                  <a:t>可以把带有全称量词的谓词转换为等价的带有存在量词的谓词：</a:t>
                </a:r>
                <a:endParaRPr lang="zh-CN" altLang="en-US" dirty="0">
                  <a:latin typeface="Arial" panose="020B0604020202090204" pitchFamily="34" charset="0"/>
                  <a:cs typeface="Arial" panose="020B0604020202090204" pitchFamily="34" charset="0"/>
                </a:endParaRPr>
              </a:p>
              <a:p>
                <a:pPr eaLnBrk="1" hangingPunct="1">
                  <a:lnSpc>
                    <a:spcPct val="110000"/>
                  </a:lnSpc>
                  <a:spcBef>
                    <a:spcPts val="1000"/>
                  </a:spcBef>
                  <a:buFont typeface="Wingdings" panose="05000000000000000000" pitchFamily="2" charset="2"/>
                  <a:buNone/>
                </a:pPr>
                <a:r>
                  <a:rPr lang="zh-CN" altLang="en-US" sz="2400" dirty="0">
                    <a:latin typeface="Arial" panose="020B0604020202090204" pitchFamily="34" charset="0"/>
                    <a:cs typeface="Arial" panose="020B0604020202090204" pitchFamily="34" charset="0"/>
                  </a:rPr>
                  <a:t>        </a:t>
                </a:r>
                <a14:m>
                  <m:oMath xmlns:m="http://schemas.openxmlformats.org/officeDocument/2006/math">
                    <m:d>
                      <m:dPr>
                        <m:ctrlPr>
                          <a:rPr lang="en-US" altLang="zh-CN" sz="2400" i="1" spc="100" dirty="0" err="1">
                            <a:solidFill>
                              <a:srgbClr val="1F2DA8"/>
                            </a:solidFill>
                            <a:uFillTx/>
                            <a:latin typeface="Cambria Math" panose="02040503050406030204" charset="0"/>
                            <a:cs typeface="Cambria Math" panose="02040503050406030204" charset="0"/>
                          </a:rPr>
                        </m:ctrlPr>
                      </m:dPr>
                      <m:e>
                        <m:r>
                          <a:rPr lang="en-US" altLang="zh-CN" sz="2400" b="1" i="1" spc="100" dirty="0" err="1">
                            <a:solidFill>
                              <a:srgbClr val="1F2DA8"/>
                            </a:solidFill>
                            <a:uFillTx/>
                            <a:latin typeface="Cambria Math" panose="02040503050406030204" charset="0"/>
                            <a:cs typeface="Cambria Math" panose="02040503050406030204" charset="0"/>
                          </a:rPr>
                          <m:t>∀</m:t>
                        </m:r>
                        <m:r>
                          <a:rPr lang="en-US" altLang="zh-CN" sz="2400" b="1" i="1" spc="100" dirty="0" err="1">
                            <a:solidFill>
                              <a:srgbClr val="1F2DA8"/>
                            </a:solidFill>
                            <a:uFillTx/>
                            <a:latin typeface="Cambria Math" panose="02040503050406030204" charset="0"/>
                            <a:cs typeface="Cambria Math" panose="02040503050406030204" charset="0"/>
                          </a:rPr>
                          <m:t>𝒙</m:t>
                        </m:r>
                      </m:e>
                    </m:d>
                    <m:r>
                      <a:rPr lang="en-US" altLang="zh-CN" sz="2400" i="1" spc="100" dirty="0" err="1">
                        <a:solidFill>
                          <a:srgbClr val="1F2DA8"/>
                        </a:solidFill>
                        <a:uFillTx/>
                        <a:latin typeface="Cambria Math" panose="02040503050406030204" charset="0"/>
                        <a:cs typeface="Cambria Math" panose="02040503050406030204" charset="0"/>
                      </a:rPr>
                      <m:t> </m:t>
                    </m:r>
                    <m:r>
                      <a:rPr lang="en-US" altLang="zh-CN" sz="2400" i="1" spc="100" dirty="0" err="1">
                        <a:solidFill>
                          <a:srgbClr val="1F2DA8"/>
                        </a:solidFill>
                        <a:uFillTx/>
                        <a:latin typeface="Cambria Math" panose="02040503050406030204" charset="0"/>
                        <a:cs typeface="Cambria Math" panose="02040503050406030204" charset="0"/>
                      </a:rPr>
                      <m:t>𝑷</m:t>
                    </m:r>
                    <m:r>
                      <a:rPr lang="en-US" altLang="zh-CN" sz="2400" i="1" spc="100" dirty="0">
                        <a:solidFill>
                          <a:srgbClr val="1F2DA8"/>
                        </a:solidFill>
                        <a:uFillTx/>
                        <a:latin typeface="Cambria Math" panose="02040503050406030204" charset="0"/>
                        <a:cs typeface="Cambria Math" panose="02040503050406030204" charset="0"/>
                      </a:rPr>
                      <m:t> </m:t>
                    </m:r>
                    <m:r>
                      <a:rPr lang="en-US" altLang="zh-CN" sz="2400" i="1" spc="100" dirty="0">
                        <a:solidFill>
                          <a:srgbClr val="1F2DA8"/>
                        </a:solidFill>
                        <a:uFillTx/>
                        <a:latin typeface="Cambria Math" panose="02040503050406030204" charset="0"/>
                        <a:cs typeface="Cambria Math" panose="02040503050406030204" charset="0"/>
                      </a:rPr>
                      <m:t> </m:t>
                    </m:r>
                    <m:r>
                      <a:rPr lang="en-US" altLang="zh-CN" sz="2400" b="1" i="1" spc="100" dirty="0">
                        <a:solidFill>
                          <a:srgbClr val="1F2DA8"/>
                        </a:solidFill>
                        <a:uFillTx/>
                        <a:latin typeface="Cambria Math" panose="02040503050406030204" charset="0"/>
                        <a:cs typeface="Cambria Math" panose="02040503050406030204" charset="0"/>
                      </a:rPr>
                      <m:t>≡</m:t>
                    </m:r>
                    <m:r>
                      <a:rPr lang="en-US" altLang="zh-CN" sz="2400" i="1" spc="100" dirty="0">
                        <a:solidFill>
                          <a:srgbClr val="1F2DA8"/>
                        </a:solidFill>
                        <a:uFillTx/>
                        <a:latin typeface="Cambria Math" panose="02040503050406030204" charset="0"/>
                        <a:cs typeface="Cambria Math" panose="02040503050406030204" charset="0"/>
                      </a:rPr>
                      <m:t> </m:t>
                    </m:r>
                    <m:r>
                      <a:rPr lang="en-US" altLang="zh-CN" sz="2400" i="1" spc="100" dirty="0">
                        <a:solidFill>
                          <a:srgbClr val="1F2DA8"/>
                        </a:solidFill>
                        <a:uFillTx/>
                        <a:latin typeface="Cambria Math" panose="02040503050406030204" charset="0"/>
                        <a:cs typeface="Cambria Math" panose="02040503050406030204" charset="0"/>
                      </a:rPr>
                      <m:t> </m:t>
                    </m:r>
                    <m:r>
                      <a:rPr lang="en-US" altLang="zh-CN" sz="2400" b="1" i="1" spc="100" dirty="0">
                        <a:solidFill>
                          <a:srgbClr val="1F2DA8"/>
                        </a:solidFill>
                        <a:uFillTx/>
                        <a:latin typeface="Cambria Math" panose="02040503050406030204" charset="0"/>
                        <a:cs typeface="Cambria Math" panose="02040503050406030204" charset="0"/>
                      </a:rPr>
                      <m:t>¬ </m:t>
                    </m:r>
                    <m:d>
                      <m:dPr>
                        <m:ctrlPr>
                          <a:rPr lang="en-US" altLang="zh-CN" sz="2400" i="1" spc="100" dirty="0">
                            <a:solidFill>
                              <a:srgbClr val="1F2DA8"/>
                            </a:solidFill>
                            <a:uFillTx/>
                            <a:latin typeface="Cambria Math" panose="02040503050406030204" charset="0"/>
                            <a:cs typeface="Cambria Math" panose="02040503050406030204" charset="0"/>
                          </a:rPr>
                        </m:ctrlPr>
                      </m:dPr>
                      <m:e>
                        <m:r>
                          <a:rPr lang="en-US" altLang="zh-CN" sz="2400" b="1" i="1" spc="100" dirty="0">
                            <a:solidFill>
                              <a:srgbClr val="1F2DA8"/>
                            </a:solidFill>
                            <a:uFillTx/>
                            <a:latin typeface="Cambria Math" panose="02040503050406030204" charset="0"/>
                            <a:cs typeface="Cambria Math" panose="02040503050406030204" charset="0"/>
                          </a:rPr>
                          <m:t>∃</m:t>
                        </m:r>
                        <m:r>
                          <a:rPr lang="en-US" altLang="zh-CN" sz="2400" b="1" i="1" spc="100" dirty="0">
                            <a:solidFill>
                              <a:srgbClr val="1F2DA8"/>
                            </a:solidFill>
                            <a:uFillTx/>
                            <a:latin typeface="Cambria Math" panose="02040503050406030204" charset="0"/>
                            <a:cs typeface="Cambria Math" panose="02040503050406030204" charset="0"/>
                          </a:rPr>
                          <m:t>𝒙</m:t>
                        </m:r>
                        <m:r>
                          <a:rPr lang="en-US" altLang="zh-CN" sz="2400" b="1" i="1" spc="100" dirty="0">
                            <a:solidFill>
                              <a:srgbClr val="1F2DA8"/>
                            </a:solidFill>
                            <a:uFillTx/>
                            <a:latin typeface="Cambria Math" panose="02040503050406030204" charset="0"/>
                            <a:cs typeface="Cambria Math" panose="02040503050406030204" charset="0"/>
                          </a:rPr>
                          <m:t> </m:t>
                        </m:r>
                        <m:d>
                          <m:dPr>
                            <m:ctrlPr>
                              <a:rPr lang="en-US" altLang="zh-CN" sz="2400" b="1" i="1" spc="100" dirty="0">
                                <a:solidFill>
                                  <a:srgbClr val="1F2DA8"/>
                                </a:solidFill>
                                <a:uFillTx/>
                                <a:latin typeface="Cambria Math" panose="02040503050406030204" charset="0"/>
                                <a:cs typeface="Cambria Math" panose="02040503050406030204" charset="0"/>
                              </a:rPr>
                            </m:ctrlPr>
                          </m:dPr>
                          <m:e>
                            <m:r>
                              <a:rPr lang="en-US" altLang="zh-CN" sz="2400" b="1" i="1" spc="100" dirty="0">
                                <a:solidFill>
                                  <a:srgbClr val="1F2DA8"/>
                                </a:solidFill>
                                <a:uFillTx/>
                                <a:latin typeface="Cambria Math" panose="02040503050406030204" charset="0"/>
                                <a:cs typeface="Cambria Math" panose="02040503050406030204" charset="0"/>
                              </a:rPr>
                              <m:t>¬ </m:t>
                            </m:r>
                            <m:r>
                              <a:rPr lang="en-US" altLang="zh-CN" sz="2400" b="1" i="1" spc="100" dirty="0">
                                <a:solidFill>
                                  <a:srgbClr val="1F2DA8"/>
                                </a:solidFill>
                                <a:uFillTx/>
                                <a:latin typeface="Cambria Math" panose="02040503050406030204" charset="0"/>
                                <a:cs typeface="Cambria Math" panose="02040503050406030204" charset="0"/>
                              </a:rPr>
                              <m:t>𝑷</m:t>
                            </m:r>
                          </m:e>
                        </m:d>
                      </m:e>
                    </m:d>
                  </m:oMath>
                </a14:m>
                <a:endParaRPr lang="en-US" altLang="zh-CN" sz="2400" i="1" spc="100" dirty="0">
                  <a:solidFill>
                    <a:srgbClr val="1F2DA8"/>
                  </a:solidFill>
                  <a:uFillTx/>
                  <a:latin typeface="Cambria Math" panose="02040503050406030204" charset="0"/>
                  <a:cs typeface="Cambria Math" panose="02040503050406030204" charset="0"/>
                </a:endParaRPr>
              </a:p>
            </p:txBody>
          </p:sp>
        </mc:Choice>
        <mc:Fallback>
          <p:sp>
            <p:nvSpPr>
              <p:cNvPr id="60419" name="Rectangle 3"/>
              <p:cNvSpPr>
                <a:spLocks noRot="1" noChangeAspect="1" noMove="1" noResize="1" noEditPoints="1" noAdjustHandles="1" noChangeArrowheads="1" noChangeShapeType="1" noTextEdit="1"/>
              </p:cNvSpPr>
              <p:nvPr>
                <p:ph idx="1"/>
              </p:nvPr>
            </p:nvSpPr>
            <p:spPr>
              <a:blipFill rotWithShape="1">
                <a:blip r:embed="rId1"/>
                <a:stretch>
                  <a:fillRect/>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7" dur="500"/>
                                        <p:tgtEl>
                                          <p:spTgt spid="60419">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10" dur="500"/>
                                        <p:tgtEl>
                                          <p:spTgt spid="60419">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0419">
                                            <p:txEl>
                                              <p:pRg st="6" end="6"/>
                                            </p:txEl>
                                          </p:spTgt>
                                        </p:tgtEl>
                                        <p:attrNameLst>
                                          <p:attrName>style.visibility</p:attrName>
                                        </p:attrNameLst>
                                      </p:cBhvr>
                                      <p:to>
                                        <p:strVal val="visible"/>
                                      </p:to>
                                    </p:set>
                                    <p:animEffect transition="in" filter="blinds(horizontal)">
                                      <p:cBhvr>
                                        <p:cTn id="13" dur="500"/>
                                        <p:tgtEl>
                                          <p:spTgt spid="60419">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0419">
                                            <p:txEl>
                                              <p:pRg st="7" end="7"/>
                                            </p:txEl>
                                          </p:spTgt>
                                        </p:tgtEl>
                                        <p:attrNameLst>
                                          <p:attrName>style.visibility</p:attrName>
                                        </p:attrNameLst>
                                      </p:cBhvr>
                                      <p:to>
                                        <p:strVal val="visible"/>
                                      </p:to>
                                    </p:set>
                                    <p:animEffect transition="in" filter="blinds(horizontal)">
                                      <p:cBhvr>
                                        <p:cTn id="16" dur="500"/>
                                        <p:tgtEl>
                                          <p:spTgt spid="604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kumimoji="0" lang="zh-CN" altLang="en-US" i="0" u="none" strike="noStrike" kern="0" cap="none" spc="0" normalizeH="0" baseline="0" noProof="0" dirty="0">
                <a:ln>
                  <a:noFill/>
                </a:ln>
                <a:solidFill>
                  <a:schemeClr val="tx1"/>
                </a:solidFill>
                <a:effectLst/>
                <a:uLnTx/>
                <a:uFillTx/>
                <a:latin typeface="Verdana" panose="020B0804030504040204"/>
                <a:ea typeface="+mj-ea"/>
                <a:cs typeface="+mj-cs"/>
              </a:rPr>
              <a:t>带有</a:t>
            </a:r>
            <a:r>
              <a:rPr kumimoji="0" lang="en-US" altLang="zh-CN" i="0" u="none" strike="noStrike" kern="0" cap="none" spc="0" normalizeH="0" baseline="0" noProof="0" dirty="0">
                <a:ln>
                  <a:noFill/>
                </a:ln>
                <a:solidFill>
                  <a:schemeClr val="tx1"/>
                </a:solidFill>
                <a:effectLst/>
                <a:uLnTx/>
                <a:uFillTx/>
                <a:latin typeface="Verdana" panose="020B0804030504040204"/>
                <a:ea typeface="+mj-ea"/>
                <a:cs typeface="+mj-cs"/>
              </a:rPr>
              <a:t>EXISTS</a:t>
            </a:r>
            <a:r>
              <a:rPr kumimoji="0" lang="zh-CN" altLang="en-US" i="0" u="none" strike="noStrike" kern="0" cap="none" spc="0" normalizeH="0" baseline="0" noProof="0" dirty="0">
                <a:ln>
                  <a:noFill/>
                </a:ln>
                <a:solidFill>
                  <a:schemeClr val="tx1"/>
                </a:solidFill>
                <a:effectLst/>
                <a:uLnTx/>
                <a:uFillTx/>
                <a:latin typeface="Verdana" panose="020B0804030504040204"/>
                <a:ea typeface="+mj-ea"/>
                <a:cs typeface="+mj-cs"/>
              </a:rPr>
              <a:t>谓词的子查询 </a:t>
            </a:r>
            <a:r>
              <a:rPr kumimoji="0" lang="en-US" altLang="zh-CN" i="0" u="none" strike="noStrike" kern="0" cap="none" spc="0" normalizeH="0" baseline="0" noProof="0" dirty="0">
                <a:ln>
                  <a:noFill/>
                </a:ln>
                <a:solidFill>
                  <a:schemeClr val="tx1"/>
                </a:solidFill>
                <a:effectLst/>
                <a:uLnTx/>
                <a:uFillTx/>
                <a:latin typeface="Verdana" panose="020B0804030504040204"/>
                <a:ea typeface="+mj-ea"/>
                <a:cs typeface="+mj-cs"/>
              </a:rPr>
              <a:t>5</a:t>
            </a:r>
            <a:endParaRPr kumimoji="0" lang="en-US" altLang="zh-CN" i="0" u="none" strike="noStrike" kern="0" cap="none" spc="0" normalizeH="0" baseline="0" noProof="0" dirty="0">
              <a:ln>
                <a:noFill/>
              </a:ln>
              <a:solidFill>
                <a:schemeClr val="tx1"/>
              </a:solidFill>
              <a:effectLst/>
              <a:uLnTx/>
              <a:uFillTx/>
              <a:latin typeface="Verdana" panose="020B0804030504040204"/>
              <a:ea typeface="+mj-ea"/>
              <a:cs typeface="+mj-cs"/>
            </a:endParaRPr>
          </a:p>
        </p:txBody>
      </p:sp>
      <p:sp>
        <p:nvSpPr>
          <p:cNvPr id="4" name="文本占位符 3"/>
          <p:cNvSpPr>
            <a:spLocks noGrp="1"/>
          </p:cNvSpPr>
          <p:nvPr>
            <p:ph type="body" idx="1"/>
          </p:nvPr>
        </p:nvSpPr>
        <p:spPr>
          <a:xfrm>
            <a:off x="424800" y="1337310"/>
            <a:ext cx="5580000" cy="598805"/>
          </a:xfrm>
          <a:solidFill>
            <a:schemeClr val="accent3">
              <a:lumMod val="20000"/>
              <a:lumOff val="80000"/>
            </a:schemeClr>
          </a:solidFill>
        </p:spPr>
        <p:txBody>
          <a:bodyPr>
            <a:spAutoFit/>
          </a:bodyPr>
          <a:p>
            <a:pPr marL="457200" indent="-457200">
              <a:buFont typeface="Wingdings" panose="05000000000000000000" charset="0"/>
              <a:buChar char="q"/>
            </a:pPr>
            <a:r>
              <a:rPr lang="en-US" altLang="zh-CN"/>
              <a:t>IN + </a:t>
            </a:r>
            <a:r>
              <a:rPr lang="zh-CN" altLang="en-US"/>
              <a:t>子查询</a:t>
            </a:r>
            <a:endParaRPr lang="zh-CN" altLang="en-US"/>
          </a:p>
        </p:txBody>
      </p:sp>
      <p:sp>
        <p:nvSpPr>
          <p:cNvPr id="61443" name="Rectangle 3"/>
          <p:cNvSpPr>
            <a:spLocks noGrp="1" noChangeArrowheads="1"/>
          </p:cNvSpPr>
          <p:nvPr>
            <p:ph sz="half" idx="2"/>
          </p:nvPr>
        </p:nvSpPr>
        <p:spPr>
          <a:xfrm>
            <a:off x="424815" y="2058035"/>
            <a:ext cx="5579745" cy="3086100"/>
          </a:xfrm>
        </p:spPr>
        <p:txBody>
          <a:bodyPr>
            <a:spAutoFit/>
          </a:bodyPr>
          <a:lstStyle/>
          <a:p>
            <a:pPr marL="0" lvl="0" indent="386080">
              <a:lnSpc>
                <a:spcPct val="120000"/>
              </a:lnSpc>
              <a:spcBef>
                <a:spcPts val="0"/>
              </a:spcBef>
              <a:buNone/>
            </a:pPr>
            <a:r>
              <a:rPr lang="en-US" altLang="zh-CN" sz="2795" dirty="0">
                <a:latin typeface="Arial" panose="020B0604020202090204" pitchFamily="34" charset="0"/>
                <a:cs typeface="Arial" panose="020B0604020202090204" pitchFamily="34" charset="0"/>
              </a:rPr>
              <a:t>SELECT  </a:t>
            </a:r>
            <a:r>
              <a:rPr lang="en-US" altLang="zh-CN" sz="2795" dirty="0" err="1">
                <a:latin typeface="Arial" panose="020B0604020202090204" pitchFamily="34" charset="0"/>
                <a:cs typeface="Arial" panose="020B0604020202090204" pitchFamily="34" charset="0"/>
              </a:rPr>
              <a:t>Sno</a:t>
            </a:r>
            <a:r>
              <a:rPr lang="en-US" altLang="zh-CN" sz="2795" dirty="0">
                <a:latin typeface="Arial" panose="020B0604020202090204" pitchFamily="34" charset="0"/>
                <a:cs typeface="Arial" panose="020B0604020202090204" pitchFamily="34" charset="0"/>
              </a:rPr>
              <a:t>, </a:t>
            </a:r>
            <a:r>
              <a:rPr lang="en-US" altLang="zh-CN" sz="2795" dirty="0" err="1">
                <a:latin typeface="Arial" panose="020B0604020202090204" pitchFamily="34" charset="0"/>
                <a:cs typeface="Arial" panose="020B0604020202090204" pitchFamily="34" charset="0"/>
              </a:rPr>
              <a:t>Sname</a:t>
            </a:r>
            <a:r>
              <a:rPr lang="en-US" altLang="zh-CN" sz="2795" dirty="0">
                <a:latin typeface="Arial" panose="020B0604020202090204" pitchFamily="34" charset="0"/>
                <a:cs typeface="Arial" panose="020B0604020202090204" pitchFamily="34" charset="0"/>
              </a:rPr>
              <a:t>, </a:t>
            </a:r>
            <a:r>
              <a:rPr lang="en-US" altLang="zh-CN" sz="2795" dirty="0" err="1">
                <a:latin typeface="Arial" panose="020B0604020202090204" pitchFamily="34" charset="0"/>
                <a:cs typeface="Arial" panose="020B0604020202090204" pitchFamily="34" charset="0"/>
              </a:rPr>
              <a:t>Sdept</a:t>
            </a:r>
            <a:endParaRPr lang="en-US" altLang="zh-CN" sz="2795" dirty="0">
              <a:latin typeface="Arial" panose="020B0604020202090204" pitchFamily="34" charset="0"/>
              <a:cs typeface="Arial" panose="020B0604020202090204" pitchFamily="34" charset="0"/>
            </a:endParaRPr>
          </a:p>
          <a:p>
            <a:pPr marL="0" lvl="0" indent="386080">
              <a:lnSpc>
                <a:spcPct val="120000"/>
              </a:lnSpc>
              <a:spcBef>
                <a:spcPts val="0"/>
              </a:spcBef>
              <a:buNone/>
            </a:pPr>
            <a:r>
              <a:rPr lang="en-US" altLang="zh-CN" sz="2795" dirty="0">
                <a:latin typeface="Arial" panose="020B0604020202090204" pitchFamily="34" charset="0"/>
                <a:cs typeface="Arial" panose="020B0604020202090204" pitchFamily="34" charset="0"/>
              </a:rPr>
              <a:t>FROM  Student</a:t>
            </a:r>
            <a:endParaRPr lang="en-US" altLang="zh-CN" sz="2795" dirty="0">
              <a:latin typeface="Arial" panose="020B0604020202090204" pitchFamily="34" charset="0"/>
              <a:cs typeface="Arial" panose="020B0604020202090204" pitchFamily="34" charset="0"/>
            </a:endParaRPr>
          </a:p>
          <a:p>
            <a:pPr marL="0" lvl="0" indent="386080">
              <a:lnSpc>
                <a:spcPct val="120000"/>
              </a:lnSpc>
              <a:spcBef>
                <a:spcPts val="0"/>
              </a:spcBef>
              <a:buNone/>
            </a:pPr>
            <a:r>
              <a:rPr lang="en-US" altLang="zh-CN" sz="2795" dirty="0">
                <a:latin typeface="Arial" panose="020B0604020202090204" pitchFamily="34" charset="0"/>
                <a:cs typeface="Arial" panose="020B0604020202090204" pitchFamily="34" charset="0"/>
              </a:rPr>
              <a:t>WHERE  </a:t>
            </a:r>
            <a:r>
              <a:rPr lang="en-US" altLang="zh-CN" sz="2795" dirty="0" err="1">
                <a:latin typeface="Arial" panose="020B0604020202090204" pitchFamily="34" charset="0"/>
                <a:cs typeface="Arial" panose="020B0604020202090204" pitchFamily="34" charset="0"/>
              </a:rPr>
              <a:t>Sdept</a:t>
            </a:r>
            <a:r>
              <a:rPr lang="en-US" altLang="zh-CN" sz="2795" dirty="0">
                <a:latin typeface="Arial" panose="020B0604020202090204" pitchFamily="34" charset="0"/>
                <a:cs typeface="Arial" panose="020B0604020202090204" pitchFamily="34" charset="0"/>
              </a:rPr>
              <a:t>  </a:t>
            </a:r>
            <a:r>
              <a:rPr lang="en-US" altLang="zh-CN" sz="2795" dirty="0">
                <a:solidFill>
                  <a:srgbClr val="FF0000"/>
                </a:solidFill>
                <a:latin typeface="Arial" panose="020B0604020202090204" pitchFamily="34" charset="0"/>
                <a:cs typeface="Arial" panose="020B0604020202090204" pitchFamily="34" charset="0"/>
              </a:rPr>
              <a:t>IN</a:t>
            </a:r>
            <a:r>
              <a:rPr lang="en-US" altLang="zh-CN" sz="2795" dirty="0">
                <a:latin typeface="Arial" panose="020B0604020202090204" pitchFamily="34" charset="0"/>
                <a:cs typeface="Arial" panose="020B0604020202090204" pitchFamily="34" charset="0"/>
              </a:rPr>
              <a:t> (</a:t>
            </a:r>
            <a:endParaRPr lang="en-US" altLang="zh-CN" sz="2795" dirty="0">
              <a:latin typeface="Arial" panose="020B0604020202090204" pitchFamily="34" charset="0"/>
              <a:cs typeface="Arial" panose="020B0604020202090204" pitchFamily="34" charset="0"/>
            </a:endParaRPr>
          </a:p>
          <a:p>
            <a:pPr marL="914400" lvl="2" indent="0">
              <a:lnSpc>
                <a:spcPct val="120000"/>
              </a:lnSpc>
              <a:spcBef>
                <a:spcPts val="0"/>
              </a:spcBef>
              <a:buNone/>
            </a:pPr>
            <a:r>
              <a:rPr lang="en-US" altLang="zh-CN" sz="2610" dirty="0">
                <a:latin typeface="Arial" panose="020B0604020202090204" pitchFamily="34" charset="0"/>
                <a:cs typeface="Arial" panose="020B0604020202090204" pitchFamily="34" charset="0"/>
              </a:rPr>
              <a:t>SELECT  </a:t>
            </a:r>
            <a:r>
              <a:rPr lang="en-US" altLang="zh-CN" sz="2610" dirty="0" err="1">
                <a:latin typeface="Arial" panose="020B0604020202090204" pitchFamily="34" charset="0"/>
                <a:cs typeface="Arial" panose="020B0604020202090204" pitchFamily="34" charset="0"/>
              </a:rPr>
              <a:t>Sdept</a:t>
            </a:r>
            <a:endParaRPr lang="en-US" altLang="zh-CN" sz="2610" dirty="0">
              <a:latin typeface="Arial" panose="020B0604020202090204" pitchFamily="34" charset="0"/>
              <a:cs typeface="Arial" panose="020B0604020202090204" pitchFamily="34" charset="0"/>
            </a:endParaRPr>
          </a:p>
          <a:p>
            <a:pPr marL="914400" lvl="2" indent="0">
              <a:lnSpc>
                <a:spcPct val="120000"/>
              </a:lnSpc>
              <a:spcBef>
                <a:spcPts val="0"/>
              </a:spcBef>
              <a:buNone/>
            </a:pPr>
            <a:r>
              <a:rPr lang="en-US" altLang="zh-CN" sz="2610" dirty="0">
                <a:latin typeface="Arial" panose="020B0604020202090204" pitchFamily="34" charset="0"/>
                <a:cs typeface="Arial" panose="020B0604020202090204" pitchFamily="34" charset="0"/>
              </a:rPr>
              <a:t>FROM      Student</a:t>
            </a:r>
            <a:endParaRPr lang="en-US" altLang="zh-CN" sz="2610" dirty="0">
              <a:latin typeface="Arial" panose="020B0604020202090204" pitchFamily="34" charset="0"/>
              <a:cs typeface="Arial" panose="020B0604020202090204" pitchFamily="34" charset="0"/>
            </a:endParaRPr>
          </a:p>
          <a:p>
            <a:pPr marL="914400" lvl="2" indent="0">
              <a:lnSpc>
                <a:spcPct val="120000"/>
              </a:lnSpc>
              <a:spcBef>
                <a:spcPts val="0"/>
              </a:spcBef>
              <a:buNone/>
            </a:pPr>
            <a:r>
              <a:rPr lang="en-US" altLang="zh-CN" sz="2610" dirty="0">
                <a:latin typeface="Arial" panose="020B0604020202090204" pitchFamily="34" charset="0"/>
                <a:cs typeface="Arial" panose="020B0604020202090204" pitchFamily="34" charset="0"/>
              </a:rPr>
              <a:t>WHERE  </a:t>
            </a:r>
            <a:r>
              <a:rPr lang="en-US" altLang="zh-CN" sz="2610" dirty="0" err="1">
                <a:latin typeface="Arial" panose="020B0604020202090204" pitchFamily="34" charset="0"/>
                <a:cs typeface="Arial" panose="020B0604020202090204" pitchFamily="34" charset="0"/>
              </a:rPr>
              <a:t>Sname </a:t>
            </a:r>
            <a:r>
              <a:rPr lang="en-US" altLang="zh-CN" sz="2610" dirty="0">
                <a:latin typeface="Arial" panose="020B0604020202090204" pitchFamily="34" charset="0"/>
                <a:cs typeface="Arial" panose="020B0604020202090204" pitchFamily="34" charset="0"/>
              </a:rPr>
              <a:t>= ‘</a:t>
            </a:r>
            <a:r>
              <a:rPr lang="zh-CN" altLang="en-US" sz="2610" dirty="0">
                <a:latin typeface="Arial" panose="020B0604020202090204" pitchFamily="34" charset="0"/>
                <a:cs typeface="Arial" panose="020B0604020202090204" pitchFamily="34" charset="0"/>
              </a:rPr>
              <a:t>刘晨</a:t>
            </a:r>
            <a:r>
              <a:rPr lang="en-US" altLang="zh-CN" sz="2610" dirty="0">
                <a:latin typeface="Arial" panose="020B0604020202090204" pitchFamily="34" charset="0"/>
                <a:cs typeface="Arial" panose="020B0604020202090204" pitchFamily="34" charset="0"/>
              </a:rPr>
              <a:t>’ )</a:t>
            </a:r>
            <a:r>
              <a:rPr lang="zh-CN" altLang="en-US" sz="2610" dirty="0">
                <a:latin typeface="Arial" panose="020B0604020202090204" pitchFamily="34" charset="0"/>
                <a:cs typeface="Arial" panose="020B0604020202090204" pitchFamily="34" charset="0"/>
              </a:rPr>
              <a:t>；</a:t>
            </a:r>
            <a:endParaRPr lang="zh-CN" altLang="en-US" sz="2610" dirty="0">
              <a:latin typeface="Arial" panose="020B0604020202090204" pitchFamily="34" charset="0"/>
              <a:cs typeface="Arial" panose="020B0604020202090204" pitchFamily="34" charset="0"/>
            </a:endParaRPr>
          </a:p>
        </p:txBody>
      </p:sp>
      <p:sp>
        <p:nvSpPr>
          <p:cNvPr id="5" name="文本占位符 4"/>
          <p:cNvSpPr>
            <a:spLocks noGrp="1"/>
          </p:cNvSpPr>
          <p:nvPr>
            <p:ph type="body" sz="quarter" idx="3"/>
          </p:nvPr>
        </p:nvSpPr>
        <p:spPr>
          <a:xfrm>
            <a:off x="6172200" y="1337310"/>
            <a:ext cx="5589270" cy="598805"/>
          </a:xfrm>
          <a:solidFill>
            <a:schemeClr val="accent3">
              <a:lumMod val="20000"/>
              <a:lumOff val="80000"/>
            </a:schemeClr>
          </a:solidFill>
        </p:spPr>
        <p:txBody>
          <a:bodyPr>
            <a:spAutoFit/>
          </a:bodyPr>
          <a:p>
            <a:r>
              <a:rPr lang="zh-CN" altLang="en-US" dirty="0">
                <a:latin typeface="Arial" panose="020B0604020202090204" pitchFamily="34" charset="0"/>
                <a:cs typeface="Arial" panose="020B0604020202090204" pitchFamily="34" charset="0"/>
                <a:sym typeface="+mn-ea"/>
              </a:rPr>
              <a:t>可以用</a:t>
            </a:r>
            <a:r>
              <a:rPr lang="en-US" altLang="zh-CN" dirty="0">
                <a:latin typeface="Arial" panose="020B0604020202090204" pitchFamily="34" charset="0"/>
                <a:cs typeface="Arial" panose="020B0604020202090204" pitchFamily="34" charset="0"/>
                <a:sym typeface="+mn-ea"/>
              </a:rPr>
              <a:t>‘EXISTS+</a:t>
            </a:r>
            <a:r>
              <a:rPr lang="zh-CN" altLang="en-US" dirty="0">
                <a:latin typeface="Arial" panose="020B0604020202090204" pitchFamily="34" charset="0"/>
                <a:cs typeface="Arial" panose="020B0604020202090204" pitchFamily="34" charset="0"/>
                <a:sym typeface="+mn-ea"/>
              </a:rPr>
              <a:t>子查询</a:t>
            </a:r>
            <a:r>
              <a:rPr lang="en-US" altLang="zh-CN" dirty="0">
                <a:latin typeface="Arial" panose="020B0604020202090204" pitchFamily="34" charset="0"/>
                <a:cs typeface="Arial" panose="020B0604020202090204" pitchFamily="34" charset="0"/>
                <a:sym typeface="+mn-ea"/>
              </a:rPr>
              <a:t>’</a:t>
            </a:r>
            <a:r>
              <a:rPr lang="zh-CN" altLang="en-US" dirty="0">
                <a:latin typeface="Arial" panose="020B0604020202090204" pitchFamily="34" charset="0"/>
                <a:cs typeface="Arial" panose="020B0604020202090204" pitchFamily="34" charset="0"/>
                <a:sym typeface="+mn-ea"/>
              </a:rPr>
              <a:t>替换</a:t>
            </a:r>
            <a:endParaRPr lang="zh-CN" altLang="en-US">
              <a:latin typeface="Arial" panose="020B0604020202090204" pitchFamily="34" charset="0"/>
              <a:cs typeface="Arial" panose="020B0604020202090204" pitchFamily="34" charset="0"/>
            </a:endParaRPr>
          </a:p>
        </p:txBody>
      </p:sp>
      <p:sp>
        <p:nvSpPr>
          <p:cNvPr id="2" name="内容占位符 1"/>
          <p:cNvSpPr>
            <a:spLocks noGrp="1"/>
          </p:cNvSpPr>
          <p:nvPr>
            <p:ph sz="quarter" idx="4"/>
          </p:nvPr>
        </p:nvSpPr>
        <p:spPr>
          <a:xfrm>
            <a:off x="6172200" y="2058035"/>
            <a:ext cx="5833110" cy="3568065"/>
          </a:xfrm>
        </p:spPr>
        <p:txBody>
          <a:bodyPr>
            <a:spAutoFit/>
          </a:bodyPr>
          <a:lstStyle/>
          <a:p>
            <a:pPr lvl="0" indent="145415" eaLnBrk="1" hangingPunct="1">
              <a:lnSpc>
                <a:spcPct val="120000"/>
              </a:lnSpc>
              <a:spcBef>
                <a:spcPts val="0"/>
              </a:spcBef>
              <a:buFont typeface="Wingdings" panose="05000000000000000000" pitchFamily="2" charset="2"/>
              <a:buNone/>
            </a:pPr>
            <a:r>
              <a:rPr lang="en-US" altLang="zh-CN" sz="2795" dirty="0">
                <a:latin typeface="Arial" panose="020B0604020202090204" pitchFamily="34" charset="0"/>
                <a:cs typeface="Arial" panose="020B0604020202090204" pitchFamily="34" charset="0"/>
              </a:rPr>
              <a:t>SELECT  </a:t>
            </a:r>
            <a:r>
              <a:rPr lang="en-US" altLang="zh-CN" sz="2795" dirty="0" err="1">
                <a:latin typeface="Arial" panose="020B0604020202090204" pitchFamily="34" charset="0"/>
                <a:cs typeface="Arial" panose="020B0604020202090204" pitchFamily="34" charset="0"/>
              </a:rPr>
              <a:t>Sno</a:t>
            </a:r>
            <a:r>
              <a:rPr lang="zh-CN" altLang="en-US" sz="2795" dirty="0">
                <a:latin typeface="Arial" panose="020B0604020202090204" pitchFamily="34" charset="0"/>
                <a:cs typeface="Arial" panose="020B0604020202090204" pitchFamily="34" charset="0"/>
              </a:rPr>
              <a:t>,</a:t>
            </a:r>
            <a:r>
              <a:rPr lang="en-US" altLang="zh-CN" sz="2795" dirty="0">
                <a:latin typeface="Arial" panose="020B0604020202090204" pitchFamily="34" charset="0"/>
                <a:cs typeface="Arial" panose="020B0604020202090204" pitchFamily="34" charset="0"/>
              </a:rPr>
              <a:t> </a:t>
            </a:r>
            <a:r>
              <a:rPr lang="en-US" altLang="zh-CN" sz="2795" dirty="0" err="1">
                <a:latin typeface="Arial" panose="020B0604020202090204" pitchFamily="34" charset="0"/>
                <a:cs typeface="Arial" panose="020B0604020202090204" pitchFamily="34" charset="0"/>
              </a:rPr>
              <a:t>Sname</a:t>
            </a:r>
            <a:r>
              <a:rPr lang="zh-CN" altLang="en-US" sz="2795" dirty="0">
                <a:latin typeface="Arial" panose="020B0604020202090204" pitchFamily="34" charset="0"/>
                <a:cs typeface="Arial" panose="020B0604020202090204" pitchFamily="34" charset="0"/>
              </a:rPr>
              <a:t>,</a:t>
            </a:r>
            <a:r>
              <a:rPr lang="en-US" altLang="zh-CN" sz="2795" dirty="0">
                <a:latin typeface="Arial" panose="020B0604020202090204" pitchFamily="34" charset="0"/>
                <a:cs typeface="Arial" panose="020B0604020202090204" pitchFamily="34" charset="0"/>
              </a:rPr>
              <a:t> </a:t>
            </a:r>
            <a:r>
              <a:rPr lang="en-US" altLang="zh-CN" sz="2795" dirty="0" err="1">
                <a:latin typeface="Arial" panose="020B0604020202090204" pitchFamily="34" charset="0"/>
                <a:cs typeface="Arial" panose="020B0604020202090204" pitchFamily="34" charset="0"/>
              </a:rPr>
              <a:t>Sdept</a:t>
            </a:r>
            <a:endParaRPr lang="en-US" altLang="zh-CN" sz="2795" dirty="0">
              <a:latin typeface="Arial" panose="020B0604020202090204" pitchFamily="34" charset="0"/>
              <a:cs typeface="Arial" panose="020B0604020202090204" pitchFamily="34" charset="0"/>
            </a:endParaRPr>
          </a:p>
          <a:p>
            <a:pPr lvl="0" indent="145415" eaLnBrk="1" hangingPunct="1">
              <a:lnSpc>
                <a:spcPct val="120000"/>
              </a:lnSpc>
              <a:spcBef>
                <a:spcPts val="0"/>
              </a:spcBef>
              <a:buFont typeface="Wingdings" panose="05000000000000000000" pitchFamily="2" charset="2"/>
              <a:buNone/>
            </a:pPr>
            <a:r>
              <a:rPr lang="en-US" altLang="zh-CN" sz="2795" dirty="0">
                <a:latin typeface="Arial" panose="020B0604020202090204" pitchFamily="34" charset="0"/>
                <a:cs typeface="Arial" panose="020B0604020202090204" pitchFamily="34" charset="0"/>
              </a:rPr>
              <a:t>FROM     Student S1</a:t>
            </a:r>
            <a:endParaRPr lang="en-US" altLang="zh-CN" sz="2795" dirty="0">
              <a:latin typeface="Arial" panose="020B0604020202090204" pitchFamily="34" charset="0"/>
              <a:cs typeface="Arial" panose="020B0604020202090204" pitchFamily="34" charset="0"/>
            </a:endParaRPr>
          </a:p>
          <a:p>
            <a:pPr lvl="0" indent="145415" eaLnBrk="1" hangingPunct="1">
              <a:lnSpc>
                <a:spcPct val="120000"/>
              </a:lnSpc>
              <a:spcBef>
                <a:spcPts val="0"/>
              </a:spcBef>
              <a:buFont typeface="Wingdings" panose="05000000000000000000" pitchFamily="2" charset="2"/>
              <a:buNone/>
            </a:pPr>
            <a:r>
              <a:rPr lang="en-US" altLang="zh-CN" sz="2795" dirty="0">
                <a:latin typeface="Arial" panose="020B0604020202090204" pitchFamily="34" charset="0"/>
                <a:cs typeface="Arial" panose="020B0604020202090204" pitchFamily="34" charset="0"/>
              </a:rPr>
              <a:t>WHERE  </a:t>
            </a:r>
            <a:r>
              <a:rPr lang="en-US" altLang="zh-CN" sz="2795" dirty="0">
                <a:solidFill>
                  <a:srgbClr val="FF0000"/>
                </a:solidFill>
                <a:latin typeface="Arial" panose="020B0604020202090204" pitchFamily="34" charset="0"/>
                <a:cs typeface="Arial" panose="020B0604020202090204" pitchFamily="34" charset="0"/>
              </a:rPr>
              <a:t>EXISTS</a:t>
            </a:r>
            <a:r>
              <a:rPr lang="en-US" altLang="zh-CN" sz="2795" dirty="0">
                <a:latin typeface="Arial" panose="020B0604020202090204" pitchFamily="34" charset="0"/>
                <a:cs typeface="Arial" panose="020B0604020202090204" pitchFamily="34" charset="0"/>
              </a:rPr>
              <a:t> (</a:t>
            </a:r>
            <a:endParaRPr lang="en-US" altLang="zh-CN" sz="2795" dirty="0">
              <a:latin typeface="Arial" panose="020B0604020202090204" pitchFamily="34" charset="0"/>
              <a:cs typeface="Arial" panose="020B0604020202090204" pitchFamily="34" charset="0"/>
            </a:endParaRPr>
          </a:p>
          <a:p>
            <a:pPr lvl="2" eaLnBrk="1" hangingPunct="1">
              <a:lnSpc>
                <a:spcPct val="120000"/>
              </a:lnSpc>
              <a:spcBef>
                <a:spcPts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SELECT  *</a:t>
            </a:r>
            <a:endParaRPr lang="en-US" altLang="zh-CN" sz="2610" dirty="0">
              <a:latin typeface="Arial" panose="020B0604020202090204" pitchFamily="34" charset="0"/>
              <a:cs typeface="Arial" panose="020B0604020202090204" pitchFamily="34" charset="0"/>
            </a:endParaRPr>
          </a:p>
          <a:p>
            <a:pPr lvl="2" eaLnBrk="1" hangingPunct="1">
              <a:lnSpc>
                <a:spcPct val="120000"/>
              </a:lnSpc>
              <a:spcBef>
                <a:spcPts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FROM  Student S2</a:t>
            </a:r>
            <a:endParaRPr lang="en-US" altLang="zh-CN" sz="2610" dirty="0">
              <a:latin typeface="Arial" panose="020B0604020202090204" pitchFamily="34" charset="0"/>
              <a:cs typeface="Arial" panose="020B0604020202090204" pitchFamily="34" charset="0"/>
            </a:endParaRPr>
          </a:p>
          <a:p>
            <a:pPr lvl="2" eaLnBrk="1" hangingPunct="1">
              <a:lnSpc>
                <a:spcPct val="120000"/>
              </a:lnSpc>
              <a:spcBef>
                <a:spcPts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WHERE  S2.Sdept=S1.Sdept </a:t>
            </a:r>
            <a:endParaRPr lang="en-US" altLang="zh-CN" sz="2610" dirty="0">
              <a:latin typeface="Arial" panose="020B0604020202090204" pitchFamily="34" charset="0"/>
              <a:cs typeface="Arial" panose="020B0604020202090204" pitchFamily="34" charset="0"/>
            </a:endParaRPr>
          </a:p>
          <a:p>
            <a:pPr lvl="2" indent="537210" eaLnBrk="1" hangingPunct="1">
              <a:lnSpc>
                <a:spcPct val="120000"/>
              </a:lnSpc>
              <a:spcBef>
                <a:spcPts val="0"/>
              </a:spcBef>
              <a:buFont typeface="Wingdings" panose="05000000000000000000" pitchFamily="2" charset="2"/>
              <a:buNone/>
            </a:pPr>
            <a:r>
              <a:rPr lang="en-US" altLang="zh-CN" sz="2610" dirty="0">
                <a:latin typeface="Arial" panose="020B0604020202090204" pitchFamily="34" charset="0"/>
                <a:cs typeface="Arial" panose="020B0604020202090204" pitchFamily="34" charset="0"/>
              </a:rPr>
              <a:t>AND S2.Sname = </a:t>
            </a:r>
            <a:r>
              <a:rPr lang="zh-CN" altLang="en-US" sz="2610" dirty="0">
                <a:latin typeface="Arial" panose="020B0604020202090204" pitchFamily="34" charset="0"/>
                <a:cs typeface="Arial" panose="020B0604020202090204" pitchFamily="34" charset="0"/>
              </a:rPr>
              <a:t>'刘晨');</a:t>
            </a:r>
            <a:endParaRPr lang="zh-CN" altLang="en-US" sz="2610" dirty="0">
              <a:latin typeface="Arial" panose="020B0604020202090204" pitchFamily="34" charset="0"/>
              <a:cs typeface="Arial" panose="020B0604020202090204" pitchFamily="34" charset="0"/>
            </a:endParaRPr>
          </a:p>
        </p:txBody>
      </p:sp>
      <p:sp>
        <p:nvSpPr>
          <p:cNvPr id="33795" name="Rectangle 3"/>
          <p:cNvSpPr>
            <a:spLocks noGrp="1" noChangeArrowheads="1"/>
          </p:cNvSpPr>
          <p:nvPr/>
        </p:nvSpPr>
        <p:spPr>
          <a:xfrm>
            <a:off x="424180" y="636270"/>
            <a:ext cx="11343005" cy="521970"/>
          </a:xfrm>
          <a:prstGeom prst="rect">
            <a:avLst/>
          </a:prstGeom>
          <a:no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ct val="0"/>
              </a:spcBef>
            </a:pPr>
            <a:r>
              <a:rPr lang="en-US" altLang="zh-CN" sz="2800" dirty="0">
                <a:sym typeface="+mn-ea"/>
              </a:rPr>
              <a:t>[</a:t>
            </a:r>
            <a:r>
              <a:rPr lang="zh-CN" altLang="en-US" sz="2800" dirty="0">
                <a:sym typeface="+mn-ea"/>
              </a:rPr>
              <a:t>例</a:t>
            </a:r>
            <a:r>
              <a:rPr lang="en-US" altLang="zh-CN" sz="2800" dirty="0">
                <a:sym typeface="+mn-ea"/>
              </a:rPr>
              <a:t>3.55]</a:t>
            </a:r>
            <a:r>
              <a:rPr lang="zh-CN" altLang="en-US" sz="2800" dirty="0">
                <a:sym typeface="+mn-ea"/>
              </a:rPr>
              <a:t>查询与“刘晨”在同一个系学习的学生</a:t>
            </a:r>
            <a:r>
              <a:rPr lang="zh-CN" altLang="en-US" sz="2800" dirty="0">
                <a:sym typeface="+mn-ea"/>
              </a:rPr>
              <a:t>。</a:t>
            </a:r>
            <a:endParaRPr lang="en-US" altLang="zh-CN" sz="2800" dirty="0">
              <a:solidFill>
                <a:srgbClr val="0000C8"/>
              </a:solidFill>
            </a:endParaRPr>
          </a:p>
        </p:txBody>
      </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blinds(horizontal)">
                                      <p:cBhvr>
                                        <p:cTn id="7" dur="500"/>
                                        <p:tgtEl>
                                          <p:spTgt spid="4">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blinds(horizontal)">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1443">
                                            <p:txEl>
                                              <p:pRg st="0" end="0"/>
                                            </p:txEl>
                                          </p:spTgt>
                                        </p:tgtEl>
                                        <p:attrNameLst>
                                          <p:attrName>style.visibility</p:attrName>
                                        </p:attrNameLst>
                                      </p:cBhvr>
                                      <p:to>
                                        <p:strVal val="visible"/>
                                      </p:to>
                                    </p:set>
                                    <p:animEffect transition="in" filter="blinds(horizontal)">
                                      <p:cBhvr>
                                        <p:cTn id="15" dur="500"/>
                                        <p:tgtEl>
                                          <p:spTgt spid="61443">
                                            <p:txEl>
                                              <p:pRg st="0" end="0"/>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1443">
                                            <p:txEl>
                                              <p:pRg st="1" end="1"/>
                                            </p:txEl>
                                          </p:spTgt>
                                        </p:tgtEl>
                                        <p:attrNameLst>
                                          <p:attrName>style.visibility</p:attrName>
                                        </p:attrNameLst>
                                      </p:cBhvr>
                                      <p:to>
                                        <p:strVal val="visible"/>
                                      </p:to>
                                    </p:set>
                                    <p:animEffect transition="in" filter="blinds(horizontal)">
                                      <p:cBhvr>
                                        <p:cTn id="18" dur="500"/>
                                        <p:tgtEl>
                                          <p:spTgt spid="61443">
                                            <p:txEl>
                                              <p:pRg st="1" end="1"/>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1443">
                                            <p:txEl>
                                              <p:pRg st="2" end="2"/>
                                            </p:txEl>
                                          </p:spTgt>
                                        </p:tgtEl>
                                        <p:attrNameLst>
                                          <p:attrName>style.visibility</p:attrName>
                                        </p:attrNameLst>
                                      </p:cBhvr>
                                      <p:to>
                                        <p:strVal val="visible"/>
                                      </p:to>
                                    </p:set>
                                    <p:animEffect transition="in" filter="blinds(horizontal)">
                                      <p:cBhvr>
                                        <p:cTn id="21" dur="500"/>
                                        <p:tgtEl>
                                          <p:spTgt spid="61443">
                                            <p:txEl>
                                              <p:pRg st="2" end="2"/>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1443">
                                            <p:txEl>
                                              <p:pRg st="3" end="3"/>
                                            </p:txEl>
                                          </p:spTgt>
                                        </p:tgtEl>
                                        <p:attrNameLst>
                                          <p:attrName>style.visibility</p:attrName>
                                        </p:attrNameLst>
                                      </p:cBhvr>
                                      <p:to>
                                        <p:strVal val="visible"/>
                                      </p:to>
                                    </p:set>
                                    <p:animEffect transition="in" filter="blinds(horizontal)">
                                      <p:cBhvr>
                                        <p:cTn id="24" dur="500"/>
                                        <p:tgtEl>
                                          <p:spTgt spid="61443">
                                            <p:txEl>
                                              <p:pRg st="3" end="3"/>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1443">
                                            <p:txEl>
                                              <p:pRg st="4" end="4"/>
                                            </p:txEl>
                                          </p:spTgt>
                                        </p:tgtEl>
                                        <p:attrNameLst>
                                          <p:attrName>style.visibility</p:attrName>
                                        </p:attrNameLst>
                                      </p:cBhvr>
                                      <p:to>
                                        <p:strVal val="visible"/>
                                      </p:to>
                                    </p:set>
                                    <p:animEffect transition="in" filter="blinds(horizontal)">
                                      <p:cBhvr>
                                        <p:cTn id="27" dur="500"/>
                                        <p:tgtEl>
                                          <p:spTgt spid="61443">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1443">
                                            <p:txEl>
                                              <p:pRg st="5" end="5"/>
                                            </p:txEl>
                                          </p:spTgt>
                                        </p:tgtEl>
                                        <p:attrNameLst>
                                          <p:attrName>style.visibility</p:attrName>
                                        </p:attrNameLst>
                                      </p:cBhvr>
                                      <p:to>
                                        <p:strVal val="visible"/>
                                      </p:to>
                                    </p:set>
                                    <p:animEffect transition="in" filter="blinds(horizontal)">
                                      <p:cBhvr>
                                        <p:cTn id="30" dur="500"/>
                                        <p:tgtEl>
                                          <p:spTgt spid="6144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
                                            <p:bg/>
                                          </p:spTgt>
                                        </p:tgtEl>
                                        <p:attrNameLst>
                                          <p:attrName>style.visibility</p:attrName>
                                        </p:attrNameLst>
                                      </p:cBhvr>
                                      <p:to>
                                        <p:strVal val="visible"/>
                                      </p:to>
                                    </p:set>
                                    <p:animEffect transition="in" filter="blinds(horizontal)">
                                      <p:cBhvr>
                                        <p:cTn id="35" dur="500"/>
                                        <p:tgtEl>
                                          <p:spTgt spid="5">
                                            <p:bg/>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Effect transition="in" filter="blinds(horizontal)">
                                      <p:cBhvr>
                                        <p:cTn id="38" dur="500"/>
                                        <p:tgtEl>
                                          <p:spTgt spid="5">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
                                            <p:txEl>
                                              <p:pRg st="0" end="0"/>
                                            </p:txEl>
                                          </p:spTgt>
                                        </p:tgtEl>
                                        <p:attrNameLst>
                                          <p:attrName>style.visibility</p:attrName>
                                        </p:attrNameLst>
                                      </p:cBhvr>
                                      <p:to>
                                        <p:strVal val="visible"/>
                                      </p:to>
                                    </p:set>
                                    <p:animEffect transition="in" filter="blinds(horizontal)">
                                      <p:cBhvr>
                                        <p:cTn id="43" dur="500"/>
                                        <p:tgtEl>
                                          <p:spTgt spid="2">
                                            <p:txEl>
                                              <p:pRg st="0" end="0"/>
                                            </p:txEl>
                                          </p:spTgt>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
                                            <p:txEl>
                                              <p:pRg st="1" end="1"/>
                                            </p:txEl>
                                          </p:spTgt>
                                        </p:tgtEl>
                                        <p:attrNameLst>
                                          <p:attrName>style.visibility</p:attrName>
                                        </p:attrNameLst>
                                      </p:cBhvr>
                                      <p:to>
                                        <p:strVal val="visible"/>
                                      </p:to>
                                    </p:set>
                                    <p:animEffect transition="in" filter="blinds(horizontal)">
                                      <p:cBhvr>
                                        <p:cTn id="46" dur="500"/>
                                        <p:tgtEl>
                                          <p:spTgt spid="2">
                                            <p:txEl>
                                              <p:pRg st="1" end="1"/>
                                            </p:txEl>
                                          </p:spTgt>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
                                            <p:txEl>
                                              <p:pRg st="2" end="2"/>
                                            </p:txEl>
                                          </p:spTgt>
                                        </p:tgtEl>
                                        <p:attrNameLst>
                                          <p:attrName>style.visibility</p:attrName>
                                        </p:attrNameLst>
                                      </p:cBhvr>
                                      <p:to>
                                        <p:strVal val="visible"/>
                                      </p:to>
                                    </p:set>
                                    <p:animEffect transition="in" filter="blinds(horizontal)">
                                      <p:cBhvr>
                                        <p:cTn id="49" dur="500"/>
                                        <p:tgtEl>
                                          <p:spTgt spid="2">
                                            <p:txEl>
                                              <p:pRg st="2" end="2"/>
                                            </p:txEl>
                                          </p:spTgt>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2">
                                            <p:txEl>
                                              <p:pRg st="3" end="3"/>
                                            </p:txEl>
                                          </p:spTgt>
                                        </p:tgtEl>
                                        <p:attrNameLst>
                                          <p:attrName>style.visibility</p:attrName>
                                        </p:attrNameLst>
                                      </p:cBhvr>
                                      <p:to>
                                        <p:strVal val="visible"/>
                                      </p:to>
                                    </p:set>
                                    <p:animEffect transition="in" filter="blinds(horizontal)">
                                      <p:cBhvr>
                                        <p:cTn id="52" dur="500"/>
                                        <p:tgtEl>
                                          <p:spTgt spid="2">
                                            <p:txEl>
                                              <p:pRg st="3" end="3"/>
                                            </p:txEl>
                                          </p:spTgt>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
                                            <p:txEl>
                                              <p:pRg st="4" end="4"/>
                                            </p:txEl>
                                          </p:spTgt>
                                        </p:tgtEl>
                                        <p:attrNameLst>
                                          <p:attrName>style.visibility</p:attrName>
                                        </p:attrNameLst>
                                      </p:cBhvr>
                                      <p:to>
                                        <p:strVal val="visible"/>
                                      </p:to>
                                    </p:set>
                                    <p:animEffect transition="in" filter="blinds(horizontal)">
                                      <p:cBhvr>
                                        <p:cTn id="55" dur="500"/>
                                        <p:tgtEl>
                                          <p:spTgt spid="2">
                                            <p:txEl>
                                              <p:pRg st="4" end="4"/>
                                            </p:txEl>
                                          </p:spTgt>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
                                            <p:txEl>
                                              <p:pRg st="5" end="5"/>
                                            </p:txEl>
                                          </p:spTgt>
                                        </p:tgtEl>
                                        <p:attrNameLst>
                                          <p:attrName>style.visibility</p:attrName>
                                        </p:attrNameLst>
                                      </p:cBhvr>
                                      <p:to>
                                        <p:strVal val="visible"/>
                                      </p:to>
                                    </p:set>
                                    <p:animEffect transition="in" filter="blinds(horizontal)">
                                      <p:cBhvr>
                                        <p:cTn id="58" dur="500"/>
                                        <p:tgtEl>
                                          <p:spTgt spid="2">
                                            <p:txEl>
                                              <p:pRg st="5" end="5"/>
                                            </p:txEl>
                                          </p:spTgt>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
                                            <p:txEl>
                                              <p:pRg st="6" end="6"/>
                                            </p:txEl>
                                          </p:spTgt>
                                        </p:tgtEl>
                                        <p:attrNameLst>
                                          <p:attrName>style.visibility</p:attrName>
                                        </p:attrNameLst>
                                      </p:cBhvr>
                                      <p:to>
                                        <p:strVal val="visible"/>
                                      </p:to>
                                    </p:set>
                                    <p:animEffect transition="in" filter="blinds(horizontal)">
                                      <p:cBhvr>
                                        <p:cTn id="61"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build="allAtOnce"/>
      <p:bldP spid="61443" grpId="0" bldLvl="0" build="allAtOnce"/>
      <p:bldP spid="5" grpId="0" bldLvl="0" animBg="1" build="allAtOnce"/>
      <p:bldP spid="2" grpId="0" bldLvl="0" build="allAtOnce"/>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5" name="Rectangle 2"/>
          <p:cNvSpPr>
            <a:spLocks noGrp="1"/>
          </p:cNvSpPr>
          <p:nvPr>
            <p:ph type="title"/>
          </p:nvPr>
        </p:nvSpPr>
        <p:spPr/>
        <p:txBody>
          <a:bodyPr wrap="square" anchor="ctr"/>
          <a:p>
            <a:pPr eaLnBrk="1" hangingPunct="1"/>
            <a:r>
              <a:rPr lang="zh-CN" altLang="en-US" dirty="0"/>
              <a:t>谓词</a:t>
            </a:r>
            <a:r>
              <a:rPr lang="en-US" altLang="x-none" dirty="0"/>
              <a:t>EXISTS</a:t>
            </a:r>
            <a:r>
              <a:rPr lang="zh-CN" altLang="en-US" dirty="0"/>
              <a:t>的使用</a:t>
            </a:r>
            <a:endParaRPr lang="zh-CN" altLang="en-US" dirty="0"/>
          </a:p>
        </p:txBody>
      </p:sp>
      <p:sp>
        <p:nvSpPr>
          <p:cNvPr id="2" name="内容占位符 1"/>
          <p:cNvSpPr>
            <a:spLocks noGrp="1"/>
          </p:cNvSpPr>
          <p:nvPr>
            <p:ph idx="1"/>
          </p:nvPr>
        </p:nvSpPr>
        <p:spPr/>
        <p:txBody>
          <a:bodyPr/>
          <a:p>
            <a:pPr>
              <a:spcBef>
                <a:spcPts val="1000"/>
              </a:spcBef>
            </a:pPr>
            <a:r>
              <a:rPr lang="zh-CN" altLang="en-US" sz="2800"/>
              <a:t>在关系代数中使用</a:t>
            </a:r>
            <a:r>
              <a:rPr lang="en-US" altLang="zh-CN" sz="2800"/>
              <a:t> ‘</a:t>
            </a:r>
            <a:r>
              <a:rPr lang="zh-CN" altLang="en-US" sz="2800"/>
              <a:t>连接</a:t>
            </a:r>
            <a:r>
              <a:rPr lang="en-US" altLang="zh-CN" sz="2800"/>
              <a:t>’ </a:t>
            </a:r>
            <a:r>
              <a:rPr lang="zh-CN" altLang="en-US" sz="2800"/>
              <a:t>或</a:t>
            </a:r>
            <a:r>
              <a:rPr lang="en-US" altLang="zh-CN" sz="2800"/>
              <a:t> ‘</a:t>
            </a:r>
            <a:r>
              <a:rPr lang="zh-CN" altLang="en-US" sz="2800"/>
              <a:t>自然连接</a:t>
            </a:r>
            <a:r>
              <a:rPr lang="en-US" altLang="zh-CN" sz="2800"/>
              <a:t>’ </a:t>
            </a:r>
            <a:r>
              <a:rPr lang="zh-CN" altLang="en-US" sz="2800"/>
              <a:t>来实现的关系连接查询，在</a:t>
            </a:r>
            <a:r>
              <a:rPr lang="en-US" altLang="zh-CN" sz="2800"/>
              <a:t>SQL</a:t>
            </a:r>
            <a:r>
              <a:rPr lang="zh-CN" altLang="en-US" sz="2800"/>
              <a:t>语言中可以使用</a:t>
            </a:r>
            <a:r>
              <a:rPr lang="en-US" altLang="zh-CN" sz="2800"/>
              <a:t> “IN</a:t>
            </a:r>
            <a:r>
              <a:rPr lang="zh-CN" altLang="en-US" sz="2800"/>
              <a:t>或</a:t>
            </a:r>
            <a:r>
              <a:rPr lang="en-US" altLang="zh-CN" sz="2800"/>
              <a:t>EXISTS + </a:t>
            </a:r>
            <a:r>
              <a:rPr lang="zh-CN" altLang="en-US" sz="2800"/>
              <a:t>嵌套子查询</a:t>
            </a:r>
            <a:r>
              <a:rPr lang="en-US" altLang="zh-CN" sz="2800"/>
              <a:t>” </a:t>
            </a:r>
            <a:r>
              <a:rPr lang="zh-CN" altLang="en-US" sz="2800"/>
              <a:t>来</a:t>
            </a:r>
            <a:r>
              <a:rPr lang="zh-CN" altLang="en-US" sz="2800"/>
              <a:t>表示；</a:t>
            </a:r>
            <a:endParaRPr lang="zh-CN" altLang="en-US" sz="2800"/>
          </a:p>
          <a:p>
            <a:pPr>
              <a:spcBef>
                <a:spcPts val="1000"/>
              </a:spcBef>
            </a:pPr>
            <a:r>
              <a:rPr lang="zh-CN" altLang="en-US" sz="2800"/>
              <a:t>在关系代数中需要使用</a:t>
            </a:r>
            <a:r>
              <a:rPr lang="en-US" altLang="zh-CN" sz="2800"/>
              <a:t> ‘</a:t>
            </a:r>
            <a:r>
              <a:rPr lang="zh-CN" altLang="en-US" sz="2800"/>
              <a:t>差</a:t>
            </a:r>
            <a:r>
              <a:rPr lang="en-US" altLang="zh-CN" sz="2800"/>
              <a:t>’ </a:t>
            </a:r>
            <a:r>
              <a:rPr lang="zh-CN" altLang="en-US" sz="2800"/>
              <a:t>运算来表示的查询，在</a:t>
            </a:r>
            <a:r>
              <a:rPr lang="en-US" altLang="zh-CN" sz="2800"/>
              <a:t>SQL</a:t>
            </a:r>
            <a:r>
              <a:rPr lang="zh-CN" altLang="en-US" sz="2800"/>
              <a:t>语言中一般需要使用</a:t>
            </a:r>
            <a:r>
              <a:rPr lang="en-US" altLang="zh-CN" sz="2800"/>
              <a:t> “NOT IN</a:t>
            </a:r>
            <a:r>
              <a:rPr lang="zh-CN" altLang="en-US" sz="2800"/>
              <a:t>或</a:t>
            </a:r>
            <a:r>
              <a:rPr lang="en-US" altLang="zh-CN" sz="2800"/>
              <a:t>NOT EXISTS + </a:t>
            </a:r>
            <a:r>
              <a:rPr lang="zh-CN" altLang="en-US" sz="2800"/>
              <a:t>嵌套子查询</a:t>
            </a:r>
            <a:r>
              <a:rPr lang="en-US" altLang="zh-CN" sz="2800"/>
              <a:t>” </a:t>
            </a:r>
            <a:r>
              <a:rPr lang="zh-CN" altLang="en-US" sz="2800"/>
              <a:t>来</a:t>
            </a:r>
            <a:r>
              <a:rPr lang="zh-CN" altLang="en-US" sz="2800"/>
              <a:t>表示。</a:t>
            </a:r>
            <a:endParaRPr lang="zh-CN" altLang="en-US" sz="2800"/>
          </a:p>
        </p:txBody>
      </p:sp>
      <p:sp>
        <p:nvSpPr>
          <p:cNvPr id="3" name="Rectangle 3"/>
          <p:cNvSpPr/>
          <p:nvPr>
            <p:custDataLst>
              <p:tags r:id="rId1"/>
            </p:custDataLst>
          </p:nvPr>
        </p:nvSpPr>
        <p:spPr>
          <a:xfrm>
            <a:off x="424815" y="5803265"/>
            <a:ext cx="11341735" cy="457200"/>
          </a:xfrm>
          <a:prstGeom prst="rect">
            <a:avLst/>
          </a:prstGeom>
          <a:noFill/>
          <a:ln w="9525">
            <a:noFill/>
          </a:ln>
        </p:spPr>
        <p:txBody>
          <a:bodyPr anchor="t"/>
          <a:p>
            <a:pPr marL="342900" indent="-342900">
              <a:buClr>
                <a:srgbClr val="C00000"/>
              </a:buClr>
              <a:buSzPct val="85000"/>
              <a:buFont typeface="Wingdings" panose="05000000000000000000" charset="0"/>
              <a:buChar char="q"/>
            </a:pPr>
            <a:r>
              <a:rPr lang="zh-CN" sz="2800" b="1" dirty="0">
                <a:solidFill>
                  <a:srgbClr val="1F2DA8"/>
                </a:solidFill>
                <a:latin typeface="+mn-lt"/>
                <a:ea typeface="楷体" charset="-122"/>
                <a:cs typeface="+mn-lt"/>
              </a:rPr>
              <a:t>有了</a:t>
            </a:r>
            <a:r>
              <a:rPr lang="en-US" altLang="zh-CN" sz="2800" b="1" dirty="0">
                <a:solidFill>
                  <a:srgbClr val="1F2DA8"/>
                </a:solidFill>
                <a:latin typeface="+mn-lt"/>
                <a:ea typeface="楷体" charset="-122"/>
                <a:cs typeface="+mn-lt"/>
              </a:rPr>
              <a:t>EXISTS</a:t>
            </a:r>
            <a:r>
              <a:rPr lang="zh-CN" altLang="en-US" sz="2800" b="1" dirty="0">
                <a:solidFill>
                  <a:srgbClr val="1F2DA8"/>
                </a:solidFill>
                <a:latin typeface="+mn-lt"/>
                <a:ea typeface="楷体" charset="-122"/>
                <a:cs typeface="+mn-lt"/>
              </a:rPr>
              <a:t>谓词后，也便于表示另外一类特殊的查询。</a:t>
            </a:r>
            <a:r>
              <a:rPr lang="en-US" altLang="zh-CN" sz="2800" b="1" dirty="0">
                <a:solidFill>
                  <a:srgbClr val="1F2DA8"/>
                </a:solidFill>
                <a:latin typeface="+mn-lt"/>
                <a:ea typeface="楷体" charset="-122"/>
                <a:cs typeface="+mn-lt"/>
              </a:rPr>
              <a:t>(next slides)</a:t>
            </a:r>
            <a:endParaRPr lang="en-US" altLang="zh-CN" sz="2800" b="1" dirty="0">
              <a:solidFill>
                <a:srgbClr val="1F2DA8"/>
              </a:solidFill>
              <a:latin typeface="+mn-lt"/>
              <a:ea typeface="楷体" charset="-122"/>
              <a:cs typeface="+mn-lt"/>
            </a:endParaRPr>
          </a:p>
        </p:txBody>
      </p:sp>
      <p:sp>
        <p:nvSpPr>
          <p:cNvPr id="6" name="灯片编号占位符 5"/>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graphicFrame>
        <p:nvGraphicFramePr>
          <p:cNvPr id="5" name="表格 4"/>
          <p:cNvGraphicFramePr/>
          <p:nvPr/>
        </p:nvGraphicFramePr>
        <p:xfrm>
          <a:off x="1673860" y="2879725"/>
          <a:ext cx="8533765" cy="1905000"/>
        </p:xfrm>
        <a:graphic>
          <a:graphicData uri="http://schemas.openxmlformats.org/drawingml/2006/table">
            <a:tbl>
              <a:tblPr firstRow="1" bandRow="1">
                <a:tableStyleId>{5C22544A-7EE6-4342-B048-85BDC9FD1C3A}</a:tableStyleId>
              </a:tblPr>
              <a:tblGrid>
                <a:gridCol w="4266565"/>
                <a:gridCol w="4266565"/>
              </a:tblGrid>
              <a:tr h="381000">
                <a:tc>
                  <a:txBody>
                    <a:bodyPr/>
                    <a:p>
                      <a:pPr algn="ctr">
                        <a:buNone/>
                      </a:pPr>
                      <a:r>
                        <a:rPr lang="zh-CN" altLang="en-US" sz="2800" b="1">
                          <a:solidFill>
                            <a:srgbClr val="C00000"/>
                          </a:solidFill>
                          <a:latin typeface="Arial" panose="020B0604020202090204" pitchFamily="34" charset="0"/>
                          <a:ea typeface="楷体" charset="-122"/>
                        </a:rPr>
                        <a:t>关系代数</a:t>
                      </a:r>
                      <a:endParaRPr lang="zh-CN" altLang="en-US" sz="2800" b="1">
                        <a:solidFill>
                          <a:srgbClr val="C00000"/>
                        </a:solidFill>
                        <a:latin typeface="Arial" panose="020B0604020202090204" pitchFamily="34" charset="0"/>
                        <a:ea typeface="楷体"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lgn="ctr">
                        <a:buNone/>
                      </a:pPr>
                      <a:r>
                        <a:rPr lang="en-US" altLang="zh-CN" sz="2800" b="1">
                          <a:solidFill>
                            <a:srgbClr val="C00000"/>
                          </a:solidFill>
                          <a:latin typeface="Arial" panose="020B0604020202090204" pitchFamily="34" charset="0"/>
                          <a:ea typeface="楷体" charset="-122"/>
                          <a:cs typeface="Arial" panose="020B0604020202090204" pitchFamily="34" charset="0"/>
                        </a:rPr>
                        <a:t>SQL</a:t>
                      </a:r>
                      <a:r>
                        <a:rPr lang="zh-CN" altLang="en-US" sz="2800" b="1">
                          <a:solidFill>
                            <a:srgbClr val="C00000"/>
                          </a:solidFill>
                          <a:latin typeface="Arial" panose="020B0604020202090204" pitchFamily="34" charset="0"/>
                          <a:ea typeface="楷体" charset="-122"/>
                          <a:cs typeface="Arial" panose="020B0604020202090204" pitchFamily="34" charset="0"/>
                        </a:rPr>
                        <a:t>谓词</a:t>
                      </a:r>
                      <a:endParaRPr lang="zh-CN" altLang="en-US" sz="2800" b="1">
                        <a:solidFill>
                          <a:srgbClr val="C00000"/>
                        </a:solidFill>
                        <a:latin typeface="Arial" panose="020B0604020202090204" pitchFamily="34" charset="0"/>
                        <a:ea typeface="楷体" charset="-122"/>
                        <a:cs typeface="Arial" panose="020B0604020202090204" pitchFamily="3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381000">
                <a:tc rowSpan="2">
                  <a:txBody>
                    <a:bodyPr/>
                    <a:p>
                      <a:pPr algn="ctr">
                        <a:buNone/>
                      </a:pPr>
                      <a:r>
                        <a:rPr lang="zh-CN" altLang="en-US" sz="2800" b="1">
                          <a:solidFill>
                            <a:srgbClr val="1F2DA8"/>
                          </a:solidFill>
                          <a:latin typeface="Arial" panose="020B0604020202090204" pitchFamily="34" charset="0"/>
                          <a:ea typeface="楷体" charset="-122"/>
                        </a:rPr>
                        <a:t>自然连接</a:t>
                      </a:r>
                      <a:endParaRPr lang="zh-CN" altLang="en-US" sz="2800" b="1">
                        <a:solidFill>
                          <a:srgbClr val="1F2DA8"/>
                        </a:solidFill>
                        <a:latin typeface="Arial" panose="020B0604020202090204" pitchFamily="34" charset="0"/>
                        <a:ea typeface="楷体"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2800" b="1">
                          <a:solidFill>
                            <a:srgbClr val="1F2DA8"/>
                          </a:solidFill>
                          <a:latin typeface="Arial" panose="020B0604020202090204" pitchFamily="34" charset="0"/>
                          <a:ea typeface="楷体" charset="-122"/>
                          <a:cs typeface="Arial" panose="020B0604020202090204" pitchFamily="34" charset="0"/>
                        </a:rPr>
                        <a:t>IN</a:t>
                      </a:r>
                      <a:endParaRPr lang="en-US" altLang="zh-CN" sz="2800" b="1">
                        <a:solidFill>
                          <a:srgbClr val="1F2DA8"/>
                        </a:solidFill>
                        <a:latin typeface="Arial" panose="020B0604020202090204" pitchFamily="34" charset="0"/>
                        <a:ea typeface="楷体" charset="-122"/>
                        <a:cs typeface="Arial" panose="020B0604020202090204" pitchFamily="3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vMerge="1">
                  <a:tcPr anchor="ctr" anchorCtr="0">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p>
                      <a:pPr algn="ctr">
                        <a:buNone/>
                      </a:pPr>
                      <a:r>
                        <a:rPr lang="en-US" altLang="zh-CN" sz="2800" b="1">
                          <a:solidFill>
                            <a:srgbClr val="1F2DA8"/>
                          </a:solidFill>
                          <a:latin typeface="Arial" panose="020B0604020202090204" pitchFamily="34" charset="0"/>
                          <a:ea typeface="楷体" charset="-122"/>
                          <a:cs typeface="Arial" panose="020B0604020202090204" pitchFamily="34" charset="0"/>
                        </a:rPr>
                        <a:t>EXISTS</a:t>
                      </a:r>
                      <a:endParaRPr lang="en-US" altLang="zh-CN" sz="2800" b="1">
                        <a:solidFill>
                          <a:srgbClr val="1F2DA8"/>
                        </a:solidFill>
                        <a:latin typeface="Arial" panose="020B0604020202090204" pitchFamily="34" charset="0"/>
                        <a:ea typeface="楷体" charset="-122"/>
                        <a:cs typeface="Arial" panose="020B0604020202090204" pitchFamily="3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rowSpan="2">
                  <a:txBody>
                    <a:bodyPr/>
                    <a:p>
                      <a:pPr algn="ctr">
                        <a:buNone/>
                      </a:pPr>
                      <a:r>
                        <a:rPr lang="zh-CN" altLang="en-US" sz="2800" b="1">
                          <a:solidFill>
                            <a:srgbClr val="1F2DA8"/>
                          </a:solidFill>
                          <a:latin typeface="Arial" panose="020B0604020202090204" pitchFamily="34" charset="0"/>
                          <a:ea typeface="楷体" charset="-122"/>
                        </a:rPr>
                        <a:t>差运算</a:t>
                      </a:r>
                      <a:endParaRPr lang="zh-CN" altLang="en-US" sz="2800" b="1">
                        <a:solidFill>
                          <a:srgbClr val="1F2DA8"/>
                        </a:solidFill>
                        <a:latin typeface="Arial" panose="020B0604020202090204" pitchFamily="34" charset="0"/>
                        <a:ea typeface="楷体"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2800" b="1">
                          <a:solidFill>
                            <a:srgbClr val="1F2DA8"/>
                          </a:solidFill>
                          <a:latin typeface="Arial" panose="020B0604020202090204" pitchFamily="34" charset="0"/>
                          <a:ea typeface="楷体" charset="-122"/>
                          <a:cs typeface="Arial" panose="020B0604020202090204" pitchFamily="34" charset="0"/>
                        </a:rPr>
                        <a:t>NOT  IN</a:t>
                      </a:r>
                      <a:endParaRPr lang="en-US" altLang="zh-CN" sz="2800" b="1">
                        <a:solidFill>
                          <a:srgbClr val="1F2DA8"/>
                        </a:solidFill>
                        <a:latin typeface="Arial" panose="020B0604020202090204" pitchFamily="34" charset="0"/>
                        <a:ea typeface="楷体" charset="-122"/>
                        <a:cs typeface="Arial" panose="020B0604020202090204" pitchFamily="3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vMerge="1">
                  <a:tcPr anchor="ctr" anchorCtr="0">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p>
                      <a:pPr algn="ctr">
                        <a:buNone/>
                      </a:pPr>
                      <a:r>
                        <a:rPr lang="en-US" altLang="zh-CN" sz="2800" b="1">
                          <a:solidFill>
                            <a:srgbClr val="1F2DA8"/>
                          </a:solidFill>
                          <a:latin typeface="Arial" panose="020B0604020202090204" pitchFamily="34" charset="0"/>
                          <a:ea typeface="楷体" charset="-122"/>
                          <a:cs typeface="Arial" panose="020B0604020202090204" pitchFamily="34" charset="0"/>
                        </a:rPr>
                        <a:t>NOT  EXISTS</a:t>
                      </a:r>
                      <a:endParaRPr lang="en-US" altLang="zh-CN" sz="2800" b="1">
                        <a:solidFill>
                          <a:srgbClr val="1F2DA8"/>
                        </a:solidFill>
                        <a:latin typeface="Arial" panose="020B0604020202090204" pitchFamily="34" charset="0"/>
                        <a:ea typeface="楷体" charset="-122"/>
                        <a:cs typeface="Arial" panose="020B0604020202090204" pitchFamily="3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9" name="Rectangle 2"/>
          <p:cNvSpPr>
            <a:spLocks noGrp="1"/>
          </p:cNvSpPr>
          <p:nvPr>
            <p:ph type="title"/>
          </p:nvPr>
        </p:nvSpPr>
        <p:spPr/>
        <p:txBody>
          <a:bodyPr wrap="square" anchor="ctr"/>
          <a:p>
            <a:pPr eaLnBrk="1" hangingPunct="1"/>
            <a:r>
              <a:rPr lang="zh-CN" altLang="en-US" dirty="0"/>
              <a:t>谓词</a:t>
            </a:r>
            <a:r>
              <a:rPr lang="en-US" altLang="x-none" dirty="0"/>
              <a:t>EXISTS</a:t>
            </a:r>
            <a:r>
              <a:rPr lang="zh-CN" altLang="en-US" dirty="0"/>
              <a:t>在复杂查询中的使用</a:t>
            </a:r>
            <a:r>
              <a:rPr lang="zh-CN" altLang="en-US" dirty="0">
                <a:sym typeface="+mn-ea"/>
              </a:rPr>
              <a:t>（</a:t>
            </a:r>
            <a:r>
              <a:rPr lang="en-US" altLang="zh-CN" dirty="0">
                <a:sym typeface="+mn-ea"/>
              </a:rPr>
              <a:t>1</a:t>
            </a:r>
            <a:r>
              <a:rPr lang="zh-CN" altLang="en-US" dirty="0">
                <a:sym typeface="+mn-ea"/>
              </a:rPr>
              <a:t>）</a:t>
            </a:r>
            <a:endParaRPr lang="zh-CN" altLang="en-US" dirty="0">
              <a:sym typeface="+mn-ea"/>
            </a:endParaRPr>
          </a:p>
        </p:txBody>
      </p:sp>
      <p:sp>
        <p:nvSpPr>
          <p:cNvPr id="80900" name="Rectangle 3"/>
          <p:cNvSpPr>
            <a:spLocks noGrp="1"/>
          </p:cNvSpPr>
          <p:nvPr>
            <p:ph idx="1"/>
          </p:nvPr>
        </p:nvSpPr>
        <p:spPr>
          <a:xfrm>
            <a:off x="424180" y="687070"/>
            <a:ext cx="11343005" cy="565150"/>
          </a:xfrm>
          <a:solidFill>
            <a:schemeClr val="accent3">
              <a:lumMod val="20000"/>
              <a:lumOff val="80000"/>
            </a:schemeClr>
          </a:solidFill>
        </p:spPr>
        <p:txBody>
          <a:bodyPr wrap="square" anchor="t">
            <a:spAutoFit/>
          </a:bodyPr>
          <a:p>
            <a:pPr eaLnBrk="1" hangingPunct="1"/>
            <a:r>
              <a:rPr lang="zh-CN" altLang="en-US" sz="2800" dirty="0"/>
              <a:t>查询至少修读了学号为</a:t>
            </a:r>
            <a:r>
              <a:rPr lang="en-US" altLang="x-none" sz="2800" dirty="0"/>
              <a:t>S4</a:t>
            </a:r>
            <a:r>
              <a:rPr lang="zh-CN" altLang="en-US" sz="2800" dirty="0"/>
              <a:t>的学生所修读</a:t>
            </a:r>
            <a:r>
              <a:rPr lang="zh-CN" altLang="en-US" sz="2800" dirty="0"/>
              <a:t>过的所有课程的学生的学号</a:t>
            </a:r>
            <a:endParaRPr lang="zh-CN" altLang="en-US" sz="2800" dirty="0"/>
          </a:p>
        </p:txBody>
      </p:sp>
      <p:graphicFrame>
        <p:nvGraphicFramePr>
          <p:cNvPr id="2" name="对象 1">
            <a:hlinkClick r:id="" action="ppaction://ole?verb="/>
          </p:cNvPr>
          <p:cNvGraphicFramePr>
            <a:graphicFrameLocks noChangeAspect="1"/>
          </p:cNvGraphicFramePr>
          <p:nvPr/>
        </p:nvGraphicFramePr>
        <p:xfrm>
          <a:off x="2944495" y="1877695"/>
          <a:ext cx="5535295" cy="636905"/>
        </p:xfrm>
        <a:graphic>
          <a:graphicData uri="http://schemas.openxmlformats.org/presentationml/2006/ole">
            <mc:AlternateContent xmlns:mc="http://schemas.openxmlformats.org/markup-compatibility/2006">
              <mc:Choice xmlns:v="urn:schemas-microsoft-com:vml" Requires="v">
                <p:oleObj spid="_x0000_s1025" name="" r:id="rId1" imgW="1765300" imgH="203200" progId="Equation.KSEE3">
                  <p:embed/>
                </p:oleObj>
              </mc:Choice>
              <mc:Fallback>
                <p:oleObj name="" r:id="rId1" imgW="1765300" imgH="203200" progId="Equation.KSEE3">
                  <p:embed/>
                  <p:pic>
                    <p:nvPicPr>
                      <p:cNvPr id="0" name="图片 1024"/>
                      <p:cNvPicPr/>
                      <p:nvPr/>
                    </p:nvPicPr>
                    <p:blipFill>
                      <a:blip r:embed="rId2"/>
                      <a:stretch>
                        <a:fillRect/>
                      </a:stretch>
                    </p:blipFill>
                    <p:spPr>
                      <a:xfrm>
                        <a:off x="2944495" y="1877695"/>
                        <a:ext cx="5535295" cy="636905"/>
                      </a:xfrm>
                      <a:prstGeom prst="rect">
                        <a:avLst/>
                      </a:prstGeom>
                    </p:spPr>
                  </p:pic>
                </p:oleObj>
              </mc:Fallback>
            </mc:AlternateContent>
          </a:graphicData>
        </a:graphic>
      </p:graphicFrame>
      <p:sp>
        <p:nvSpPr>
          <p:cNvPr id="3" name="文本框 2"/>
          <p:cNvSpPr txBox="1"/>
          <p:nvPr/>
        </p:nvSpPr>
        <p:spPr>
          <a:xfrm>
            <a:off x="424180" y="1412875"/>
            <a:ext cx="11343005" cy="521970"/>
          </a:xfrm>
          <a:prstGeom prst="rect">
            <a:avLst/>
          </a:prstGeom>
          <a:noFill/>
        </p:spPr>
        <p:txBody>
          <a:bodyPr wrap="square" rtlCol="0">
            <a:spAutoFit/>
          </a:bodyPr>
          <a:p>
            <a:pPr marL="342900" indent="-342900">
              <a:buClr>
                <a:srgbClr val="C00000"/>
              </a:buClr>
              <a:buSzPct val="85000"/>
              <a:buFont typeface="Wingdings" panose="05000000000000000000" charset="0"/>
              <a:buChar char="q"/>
            </a:pPr>
            <a:r>
              <a:rPr lang="zh-CN" altLang="en-US" sz="2800" b="1">
                <a:solidFill>
                  <a:srgbClr val="0000FF"/>
                </a:solidFill>
                <a:latin typeface="+mn-lt"/>
                <a:ea typeface="楷体" charset="-122"/>
              </a:rPr>
              <a:t>在关系代数中，该查询通常用除法来表示如下：</a:t>
            </a:r>
            <a:endParaRPr lang="zh-CN" altLang="en-US" sz="2800" b="1">
              <a:solidFill>
                <a:srgbClr val="0000FF"/>
              </a:solidFill>
              <a:latin typeface="+mn-lt"/>
              <a:ea typeface="楷体" charset="-122"/>
            </a:endParaRPr>
          </a:p>
        </p:txBody>
      </p:sp>
      <p:sp>
        <p:nvSpPr>
          <p:cNvPr id="4" name="矩形 5125"/>
          <p:cNvSpPr/>
          <p:nvPr/>
        </p:nvSpPr>
        <p:spPr>
          <a:xfrm>
            <a:off x="437515" y="2675255"/>
            <a:ext cx="11231245" cy="521970"/>
          </a:xfrm>
          <a:prstGeom prst="rect">
            <a:avLst/>
          </a:prstGeom>
          <a:noFill/>
          <a:ln w="9525">
            <a:noFill/>
          </a:ln>
        </p:spPr>
        <p:txBody>
          <a:bodyPr wrap="square" anchor="t">
            <a:spAutoFit/>
          </a:bodyPr>
          <a:p>
            <a:pPr marL="358140" indent="-358140">
              <a:spcBef>
                <a:spcPct val="20000"/>
              </a:spcBef>
              <a:buClr>
                <a:srgbClr val="C00000"/>
              </a:buClr>
              <a:buSzPct val="85000"/>
              <a:buFont typeface="Wingdings" panose="05000000000000000000" charset="0"/>
              <a:buChar char="q"/>
            </a:pPr>
            <a:r>
              <a:rPr lang="en-US" altLang="x-none" sz="2800" b="1" dirty="0">
                <a:solidFill>
                  <a:srgbClr val="0000FF"/>
                </a:solidFill>
                <a:latin typeface="+mn-lt"/>
                <a:ea typeface="楷体" charset="-122"/>
                <a:cs typeface="+mn-lt"/>
              </a:rPr>
              <a:t>SQL</a:t>
            </a:r>
            <a:r>
              <a:rPr lang="zh-CN" altLang="en-US" sz="2800" b="1" dirty="0">
                <a:solidFill>
                  <a:srgbClr val="0000FF"/>
                </a:solidFill>
                <a:latin typeface="+mn-lt"/>
                <a:ea typeface="楷体" charset="-122"/>
                <a:cs typeface="+mn-lt"/>
              </a:rPr>
              <a:t>语言没有提供除法运算符，经分析该查询的语义如下</a:t>
            </a:r>
            <a:r>
              <a:rPr lang="en-US" altLang="x-none" sz="2800" b="1" dirty="0">
                <a:solidFill>
                  <a:srgbClr val="0000FF"/>
                </a:solidFill>
                <a:latin typeface="+mn-lt"/>
                <a:ea typeface="楷体" charset="-122"/>
                <a:cs typeface="+mn-lt"/>
              </a:rPr>
              <a:t>:</a:t>
            </a:r>
            <a:endParaRPr lang="en-US" altLang="x-none" sz="2800" b="1" dirty="0">
              <a:solidFill>
                <a:srgbClr val="0000FF"/>
              </a:solidFill>
              <a:latin typeface="+mn-lt"/>
              <a:ea typeface="楷体" charset="-122"/>
              <a:cs typeface="+mn-lt"/>
            </a:endParaRPr>
          </a:p>
        </p:txBody>
      </p:sp>
      <p:sp>
        <p:nvSpPr>
          <p:cNvPr id="5126" name="矩形 5126"/>
          <p:cNvSpPr/>
          <p:nvPr/>
        </p:nvSpPr>
        <p:spPr>
          <a:xfrm>
            <a:off x="785495" y="3370580"/>
            <a:ext cx="10890250" cy="2673985"/>
          </a:xfrm>
          <a:prstGeom prst="rect">
            <a:avLst/>
          </a:prstGeom>
          <a:noFill/>
          <a:ln w="19050" cap="flat" cmpd="sng">
            <a:noFill/>
            <a:prstDash val="solid"/>
            <a:miter/>
            <a:headEnd type="none" w="med" len="med"/>
            <a:tailEnd type="none" w="med" len="med"/>
          </a:ln>
        </p:spPr>
        <p:txBody>
          <a:bodyPr wrap="square" anchor="t">
            <a:spAutoFit/>
          </a:bodyPr>
          <a:p>
            <a:pPr marL="342900" lvl="0" indent="-342900">
              <a:spcBef>
                <a:spcPct val="20000"/>
              </a:spcBef>
              <a:buClr>
                <a:srgbClr val="C00000"/>
              </a:buClr>
              <a:buSzPct val="85000"/>
              <a:buFont typeface="Wingdings" panose="05000000000000000000" charset="0"/>
              <a:buChar char=""/>
            </a:pPr>
            <a:r>
              <a:rPr lang="zh-CN" altLang="en-US" sz="2800" b="1" dirty="0">
                <a:solidFill>
                  <a:srgbClr val="0000FF"/>
                </a:solidFill>
                <a:latin typeface="+mn-lt"/>
                <a:ea typeface="楷体" charset="-122"/>
                <a:cs typeface="+mn-lt"/>
              </a:rPr>
              <a:t>如果一个学生</a:t>
            </a:r>
            <a:r>
              <a:rPr lang="en-US" altLang="zh-CN" sz="2800" b="1" dirty="0">
                <a:solidFill>
                  <a:srgbClr val="0000FF"/>
                </a:solidFill>
                <a:latin typeface="+mn-lt"/>
                <a:ea typeface="楷体" charset="-122"/>
                <a:cs typeface="+mn-lt"/>
              </a:rPr>
              <a:t>S</a:t>
            </a:r>
            <a:r>
              <a:rPr lang="zh-CN" altLang="en-US" sz="2800" b="1" dirty="0">
                <a:solidFill>
                  <a:srgbClr val="0000FF"/>
                </a:solidFill>
                <a:latin typeface="+mn-lt"/>
                <a:ea typeface="楷体" charset="-122"/>
                <a:cs typeface="+mn-lt"/>
              </a:rPr>
              <a:t>是符合查询要求的，那么：</a:t>
            </a:r>
            <a:endParaRPr lang="zh-CN" altLang="en-US" sz="2800" b="1" dirty="0">
              <a:solidFill>
                <a:srgbClr val="0000FF"/>
              </a:solidFill>
              <a:latin typeface="+mn-lt"/>
              <a:ea typeface="楷体" charset="-122"/>
              <a:cs typeface="+mn-lt"/>
            </a:endParaRPr>
          </a:p>
          <a:p>
            <a:pPr marL="821690" lvl="1" indent="-364490">
              <a:spcBef>
                <a:spcPct val="20000"/>
              </a:spcBef>
              <a:buClr>
                <a:srgbClr val="C00000"/>
              </a:buClr>
              <a:buSzPct val="85000"/>
              <a:buFont typeface="Wingdings" panose="05000000000000000000" charset="0"/>
              <a:buChar char="§"/>
            </a:pPr>
            <a:r>
              <a:rPr lang="zh-CN" altLang="en-US" sz="2800" b="1" dirty="0">
                <a:solidFill>
                  <a:srgbClr val="0000FF"/>
                </a:solidFill>
                <a:highlight>
                  <a:srgbClr val="FFFF00"/>
                </a:highlight>
                <a:latin typeface="+mn-lt"/>
                <a:ea typeface="楷体" charset="-122"/>
                <a:cs typeface="+mn-lt"/>
              </a:rPr>
              <a:t>对学生</a:t>
            </a:r>
            <a:r>
              <a:rPr lang="en-US" altLang="zh-CN" sz="2800" b="1" dirty="0">
                <a:solidFill>
                  <a:srgbClr val="0000FF"/>
                </a:solidFill>
                <a:highlight>
                  <a:srgbClr val="FFFF00"/>
                </a:highlight>
                <a:latin typeface="+mn-lt"/>
                <a:ea typeface="楷体" charset="-122"/>
                <a:cs typeface="+mn-lt"/>
              </a:rPr>
              <a:t>S4</a:t>
            </a:r>
            <a:r>
              <a:rPr lang="zh-CN" altLang="en-US" sz="2800" b="1" dirty="0">
                <a:solidFill>
                  <a:srgbClr val="0000FF"/>
                </a:solidFill>
                <a:highlight>
                  <a:srgbClr val="FFFF00"/>
                </a:highlight>
                <a:latin typeface="+mn-lt"/>
                <a:ea typeface="楷体" charset="-122"/>
                <a:cs typeface="+mn-lt"/>
              </a:rPr>
              <a:t>选修过的任意一门课</a:t>
            </a:r>
            <a:r>
              <a:rPr lang="en-US" altLang="zh-CN" sz="2800" b="1" dirty="0">
                <a:solidFill>
                  <a:srgbClr val="0000FF"/>
                </a:solidFill>
                <a:highlight>
                  <a:srgbClr val="FFFF00"/>
                </a:highlight>
                <a:latin typeface="+mn-lt"/>
                <a:ea typeface="楷体" charset="-122"/>
                <a:cs typeface="+mn-lt"/>
              </a:rPr>
              <a:t>C</a:t>
            </a:r>
            <a:r>
              <a:rPr lang="zh-CN" altLang="en-US" sz="2800" b="1" dirty="0">
                <a:solidFill>
                  <a:srgbClr val="0000FF"/>
                </a:solidFill>
                <a:highlight>
                  <a:srgbClr val="FFFF00"/>
                </a:highlight>
                <a:latin typeface="+mn-lt"/>
                <a:ea typeface="楷体" charset="-122"/>
                <a:cs typeface="+mn-lt"/>
              </a:rPr>
              <a:t>，学生</a:t>
            </a:r>
            <a:r>
              <a:rPr lang="en-US" altLang="zh-CN" sz="2800" b="1" dirty="0">
                <a:solidFill>
                  <a:srgbClr val="0000FF"/>
                </a:solidFill>
                <a:highlight>
                  <a:srgbClr val="FFFF00"/>
                </a:highlight>
                <a:latin typeface="+mn-lt"/>
                <a:ea typeface="楷体" charset="-122"/>
                <a:cs typeface="+mn-lt"/>
              </a:rPr>
              <a:t>S</a:t>
            </a:r>
            <a:r>
              <a:rPr lang="zh-CN" altLang="en-US" sz="2800" b="1" dirty="0">
                <a:solidFill>
                  <a:srgbClr val="0000FF"/>
                </a:solidFill>
                <a:highlight>
                  <a:srgbClr val="FFFF00"/>
                </a:highlight>
                <a:latin typeface="+mn-lt"/>
                <a:ea typeface="楷体" charset="-122"/>
                <a:cs typeface="+mn-lt"/>
              </a:rPr>
              <a:t>都应该选修过课程</a:t>
            </a:r>
            <a:r>
              <a:rPr lang="en-US" altLang="zh-CN" sz="2800" b="1" dirty="0">
                <a:solidFill>
                  <a:srgbClr val="0000FF"/>
                </a:solidFill>
                <a:highlight>
                  <a:srgbClr val="FFFF00"/>
                </a:highlight>
                <a:latin typeface="+mn-lt"/>
                <a:ea typeface="楷体" charset="-122"/>
                <a:cs typeface="+mn-lt"/>
              </a:rPr>
              <a:t>C</a:t>
            </a:r>
            <a:endParaRPr lang="en-US" altLang="zh-CN" sz="2800" b="1" dirty="0">
              <a:solidFill>
                <a:srgbClr val="0000FF"/>
              </a:solidFill>
              <a:latin typeface="+mn-lt"/>
              <a:ea typeface="楷体" charset="-122"/>
              <a:cs typeface="+mn-lt"/>
            </a:endParaRPr>
          </a:p>
          <a:p>
            <a:pPr marL="364490" indent="-364490">
              <a:lnSpc>
                <a:spcPct val="100000"/>
              </a:lnSpc>
              <a:spcBef>
                <a:spcPts val="2000"/>
              </a:spcBef>
              <a:spcAft>
                <a:spcPts val="0"/>
              </a:spcAft>
              <a:buClr>
                <a:srgbClr val="C00000"/>
              </a:buClr>
              <a:buSzPct val="85000"/>
              <a:buFont typeface="Wingdings" panose="05000000000000000000" charset="0"/>
              <a:buChar char=""/>
            </a:pPr>
            <a:r>
              <a:rPr lang="zh-CN" altLang="en-US" sz="2800" b="1" dirty="0">
                <a:solidFill>
                  <a:srgbClr val="0000FF"/>
                </a:solidFill>
                <a:latin typeface="+mn-lt"/>
                <a:ea typeface="楷体" charset="-122"/>
                <a:cs typeface="+mn-lt"/>
              </a:rPr>
              <a:t>即：对于选课关系中的任意一条</a:t>
            </a:r>
            <a:r>
              <a:rPr lang="en-US" altLang="zh-CN" sz="2800" b="1" dirty="0">
                <a:solidFill>
                  <a:srgbClr val="0000FF"/>
                </a:solidFill>
                <a:latin typeface="+mn-lt"/>
                <a:ea typeface="楷体" charset="-122"/>
                <a:cs typeface="+mn-lt"/>
              </a:rPr>
              <a:t> “</a:t>
            </a:r>
            <a:r>
              <a:rPr lang="zh-CN" altLang="en-US" sz="2800" b="1" dirty="0">
                <a:solidFill>
                  <a:srgbClr val="0000FF"/>
                </a:solidFill>
                <a:highlight>
                  <a:srgbClr val="FFFF00"/>
                </a:highlight>
                <a:latin typeface="+mn-lt"/>
                <a:ea typeface="楷体" charset="-122"/>
                <a:cs typeface="+mn-lt"/>
              </a:rPr>
              <a:t>学号为</a:t>
            </a:r>
            <a:r>
              <a:rPr lang="en-US" altLang="zh-CN" sz="2800" b="1" dirty="0">
                <a:solidFill>
                  <a:srgbClr val="0000FF"/>
                </a:solidFill>
                <a:highlight>
                  <a:srgbClr val="FFFF00"/>
                </a:highlight>
                <a:latin typeface="+mn-lt"/>
                <a:ea typeface="楷体" charset="-122"/>
                <a:cs typeface="+mn-lt"/>
              </a:rPr>
              <a:t>S4</a:t>
            </a:r>
            <a:r>
              <a:rPr lang="zh-CN" altLang="en-US" sz="2800" b="1" dirty="0">
                <a:solidFill>
                  <a:srgbClr val="0000FF"/>
                </a:solidFill>
                <a:highlight>
                  <a:srgbClr val="FFFF00"/>
                </a:highlight>
                <a:latin typeface="+mn-lt"/>
                <a:ea typeface="楷体" charset="-122"/>
                <a:cs typeface="+mn-lt"/>
              </a:rPr>
              <a:t>的元组</a:t>
            </a:r>
            <a:r>
              <a:rPr lang="en-US" altLang="zh-CN" sz="2800" b="1" dirty="0">
                <a:solidFill>
                  <a:srgbClr val="0000FF"/>
                </a:solidFill>
                <a:highlight>
                  <a:srgbClr val="FFFF00"/>
                </a:highlight>
                <a:latin typeface="+mn-lt"/>
                <a:ea typeface="楷体" charset="-122"/>
                <a:cs typeface="+mn-lt"/>
              </a:rPr>
              <a:t>x</a:t>
            </a:r>
            <a:r>
              <a:rPr lang="en-US" altLang="zh-CN" sz="2800" b="1" dirty="0">
                <a:solidFill>
                  <a:srgbClr val="0000FF"/>
                </a:solidFill>
                <a:latin typeface="+mn-lt"/>
                <a:ea typeface="楷体" charset="-122"/>
                <a:cs typeface="+mn-lt"/>
              </a:rPr>
              <a:t>” (</a:t>
            </a:r>
            <a:r>
              <a:rPr lang="zh-CN" altLang="en-US" sz="2800" b="1" dirty="0">
                <a:solidFill>
                  <a:srgbClr val="0000FF"/>
                </a:solidFill>
                <a:latin typeface="+mn-lt"/>
                <a:ea typeface="楷体" charset="-122"/>
                <a:cs typeface="+mn-lt"/>
              </a:rPr>
              <a:t>即 </a:t>
            </a:r>
            <a:r>
              <a:rPr lang="en-US" altLang="zh-CN" sz="2800" b="1" dirty="0">
                <a:solidFill>
                  <a:srgbClr val="0000FF"/>
                </a:solidFill>
                <a:latin typeface="+mn-lt"/>
                <a:ea typeface="楷体" charset="-122"/>
                <a:cs typeface="+mn-lt"/>
              </a:rPr>
              <a:t>x.sno='S4')</a:t>
            </a:r>
            <a:r>
              <a:rPr lang="zh-CN" altLang="en-US" sz="2800" b="1" dirty="0">
                <a:solidFill>
                  <a:srgbClr val="0000FF"/>
                </a:solidFill>
                <a:latin typeface="+mn-lt"/>
                <a:ea typeface="楷体" charset="-122"/>
                <a:cs typeface="+mn-lt"/>
              </a:rPr>
              <a:t>，我们都能在选课关系中找到一条</a:t>
            </a:r>
            <a:r>
              <a:rPr lang="zh-CN" altLang="en-US" sz="2800" b="1" dirty="0">
                <a:solidFill>
                  <a:srgbClr val="0000FF"/>
                </a:solidFill>
                <a:latin typeface="+mn-lt"/>
                <a:ea typeface="楷体" charset="-122"/>
                <a:cs typeface="+mn-lt"/>
                <a:sym typeface="+mn-ea"/>
              </a:rPr>
              <a:t>满足以下条件的</a:t>
            </a:r>
            <a:r>
              <a:rPr lang="zh-CN" altLang="en-US" sz="2800" b="1" dirty="0">
                <a:solidFill>
                  <a:srgbClr val="0000FF"/>
                </a:solidFill>
                <a:latin typeface="+mn-lt"/>
                <a:ea typeface="楷体" charset="-122"/>
                <a:cs typeface="+mn-lt"/>
              </a:rPr>
              <a:t>元组</a:t>
            </a:r>
            <a:r>
              <a:rPr lang="en-US" altLang="zh-CN" sz="2800" b="1" dirty="0">
                <a:solidFill>
                  <a:srgbClr val="0000FF"/>
                </a:solidFill>
                <a:latin typeface="+mn-lt"/>
                <a:ea typeface="楷体" charset="-122"/>
                <a:cs typeface="+mn-lt"/>
              </a:rPr>
              <a:t>y</a:t>
            </a:r>
            <a:r>
              <a:rPr lang="zh-CN" altLang="en-US" sz="2800" b="1" dirty="0">
                <a:solidFill>
                  <a:srgbClr val="0000FF"/>
                </a:solidFill>
                <a:latin typeface="+mn-lt"/>
                <a:ea typeface="楷体" charset="-122"/>
                <a:cs typeface="+mn-lt"/>
              </a:rPr>
              <a:t>：</a:t>
            </a:r>
            <a:endParaRPr lang="zh-CN" altLang="en-US" sz="2800" b="1" dirty="0">
              <a:solidFill>
                <a:srgbClr val="0000FF"/>
              </a:solidFill>
              <a:latin typeface="+mn-lt"/>
              <a:ea typeface="楷体" charset="-122"/>
              <a:cs typeface="+mn-lt"/>
            </a:endParaRPr>
          </a:p>
          <a:p>
            <a:pPr lvl="2">
              <a:spcBef>
                <a:spcPct val="20000"/>
              </a:spcBef>
              <a:buClr>
                <a:srgbClr val="C00000"/>
              </a:buClr>
              <a:buSzPct val="85000"/>
            </a:pPr>
            <a:r>
              <a:rPr lang="en-US" altLang="x-none" sz="2800" b="1" dirty="0">
                <a:solidFill>
                  <a:srgbClr val="0000FF"/>
                </a:solidFill>
                <a:latin typeface="+mn-lt"/>
                <a:ea typeface="楷体" charset="-122"/>
                <a:cs typeface="+mn-lt"/>
              </a:rPr>
              <a:t>y.sno = S.sno   and   y.cno = x.cno</a:t>
            </a:r>
            <a:endParaRPr lang="en-US" altLang="x-none" sz="2800" b="1" dirty="0">
              <a:solidFill>
                <a:srgbClr val="0000FF"/>
              </a:solidFill>
              <a:latin typeface="+mn-lt"/>
              <a:ea typeface="楷体" charset="-122"/>
              <a:cs typeface="+mn-lt"/>
            </a:endParaRPr>
          </a:p>
        </p:txBody>
      </p:sp>
      <p:sp>
        <p:nvSpPr>
          <p:cNvPr id="6" name="灯片编号占位符 5"/>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126">
                                            <p:txEl>
                                              <p:pRg st="0" end="0"/>
                                            </p:txEl>
                                          </p:spTgt>
                                        </p:tgtEl>
                                        <p:attrNameLst>
                                          <p:attrName>style.visibility</p:attrName>
                                        </p:attrNameLst>
                                      </p:cBhvr>
                                      <p:to>
                                        <p:strVal val="visible"/>
                                      </p:to>
                                    </p:set>
                                    <p:animEffect transition="in" filter="blinds(horizontal)">
                                      <p:cBhvr>
                                        <p:cTn id="20" dur="500"/>
                                        <p:tgtEl>
                                          <p:spTgt spid="5126">
                                            <p:txEl>
                                              <p:pRg st="0" end="0"/>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5126">
                                            <p:txEl>
                                              <p:pRg st="1" end="1"/>
                                            </p:txEl>
                                          </p:spTgt>
                                        </p:tgtEl>
                                        <p:attrNameLst>
                                          <p:attrName>style.visibility</p:attrName>
                                        </p:attrNameLst>
                                      </p:cBhvr>
                                      <p:to>
                                        <p:strVal val="visible"/>
                                      </p:to>
                                    </p:set>
                                    <p:animEffect transition="in" filter="blinds(horizontal)">
                                      <p:cBhvr>
                                        <p:cTn id="23" dur="500"/>
                                        <p:tgtEl>
                                          <p:spTgt spid="5126">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126">
                                            <p:txEl>
                                              <p:pRg st="2" end="2"/>
                                            </p:txEl>
                                          </p:spTgt>
                                        </p:tgtEl>
                                        <p:attrNameLst>
                                          <p:attrName>style.visibility</p:attrName>
                                        </p:attrNameLst>
                                      </p:cBhvr>
                                      <p:to>
                                        <p:strVal val="visible"/>
                                      </p:to>
                                    </p:set>
                                    <p:animEffect transition="in" filter="blinds(horizontal)">
                                      <p:cBhvr>
                                        <p:cTn id="28" dur="500"/>
                                        <p:tgtEl>
                                          <p:spTgt spid="5126">
                                            <p:txEl>
                                              <p:pRg st="2" end="2"/>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5126">
                                            <p:txEl>
                                              <p:pRg st="3" end="3"/>
                                            </p:txEl>
                                          </p:spTgt>
                                        </p:tgtEl>
                                        <p:attrNameLst>
                                          <p:attrName>style.visibility</p:attrName>
                                        </p:attrNameLst>
                                      </p:cBhvr>
                                      <p:to>
                                        <p:strVal val="visible"/>
                                      </p:to>
                                    </p:set>
                                    <p:animEffect transition="in" filter="blinds(horizontal)">
                                      <p:cBhvr>
                                        <p:cTn id="31" dur="500"/>
                                        <p:tgtEl>
                                          <p:spTgt spid="51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标题 10"/>
          <p:cNvSpPr>
            <a:spLocks noGrp="1"/>
          </p:cNvSpPr>
          <p:nvPr>
            <p:ph type="title"/>
          </p:nvPr>
        </p:nvSpPr>
        <p:spPr/>
        <p:txBody>
          <a:bodyPr/>
          <a:p>
            <a:r>
              <a:rPr lang="zh-CN" altLang="en-US" dirty="0">
                <a:sym typeface="+mn-ea"/>
              </a:rPr>
              <a:t>谓词</a:t>
            </a:r>
            <a:r>
              <a:rPr lang="en-US" altLang="x-none" dirty="0">
                <a:sym typeface="+mn-ea"/>
              </a:rPr>
              <a:t>EXISTS</a:t>
            </a:r>
            <a:r>
              <a:rPr lang="zh-CN" altLang="en-US" dirty="0">
                <a:sym typeface="+mn-ea"/>
              </a:rPr>
              <a:t>在复杂查询中的使用</a:t>
            </a:r>
            <a:r>
              <a:rPr lang="zh-CN" altLang="en-US" dirty="0">
                <a:sym typeface="+mn-ea"/>
              </a:rPr>
              <a:t>（</a:t>
            </a:r>
            <a:r>
              <a:rPr lang="en-US" altLang="zh-CN" dirty="0">
                <a:sym typeface="+mn-ea"/>
              </a:rPr>
              <a:t>2</a:t>
            </a:r>
            <a:r>
              <a:rPr lang="zh-CN" altLang="en-US" dirty="0">
                <a:sym typeface="+mn-ea"/>
              </a:rPr>
              <a:t>）</a:t>
            </a:r>
            <a:endParaRPr lang="zh-CN" altLang="en-US"/>
          </a:p>
        </p:txBody>
      </p:sp>
      <p:sp>
        <p:nvSpPr>
          <p:cNvPr id="6148" name="矩形 6147"/>
          <p:cNvSpPr/>
          <p:nvPr/>
        </p:nvSpPr>
        <p:spPr>
          <a:xfrm>
            <a:off x="424815" y="1314450"/>
            <a:ext cx="11341735" cy="1251585"/>
          </a:xfrm>
          <a:prstGeom prst="rect">
            <a:avLst/>
          </a:prstGeom>
          <a:noFill/>
          <a:ln w="12700" cap="flat" cmpd="sng">
            <a:solidFill>
              <a:schemeClr val="accent4"/>
            </a:solidFill>
            <a:prstDash val="sysDot"/>
            <a:miter/>
            <a:headEnd type="none" w="med" len="med"/>
            <a:tailEnd type="none" w="med" len="med"/>
          </a:ln>
        </p:spPr>
        <p:txBody>
          <a:bodyPr wrap="square" tIns="107950" bIns="107950" anchor="t">
            <a:spAutoFit/>
          </a:bodyPr>
          <a:p>
            <a:pPr marL="342900" indent="-342900">
              <a:lnSpc>
                <a:spcPct val="120000"/>
              </a:lnSpc>
              <a:spcBef>
                <a:spcPts val="20"/>
              </a:spcBef>
              <a:spcAft>
                <a:spcPts val="0"/>
              </a:spcAft>
              <a:buClr>
                <a:srgbClr val="C00000"/>
              </a:buClr>
              <a:buSzPct val="85000"/>
              <a:buFont typeface="Wingdings" panose="05000000000000000000" charset="0"/>
              <a:buChar char=""/>
            </a:pPr>
            <a:r>
              <a:rPr lang="zh-CN" altLang="en-US" sz="2800" b="1" dirty="0">
                <a:solidFill>
                  <a:srgbClr val="0000FF"/>
                </a:solidFill>
                <a:latin typeface="+mn-lt"/>
                <a:ea typeface="楷体" charset="-122"/>
                <a:cs typeface="+mn-lt"/>
              </a:rPr>
              <a:t>如果学生</a:t>
            </a:r>
            <a:r>
              <a:rPr lang="en-US" altLang="zh-CN" sz="2800" b="1" dirty="0">
                <a:solidFill>
                  <a:srgbClr val="0000FF"/>
                </a:solidFill>
                <a:latin typeface="+mn-lt"/>
                <a:ea typeface="楷体" charset="-122"/>
                <a:cs typeface="+mn-lt"/>
              </a:rPr>
              <a:t>S</a:t>
            </a:r>
            <a:r>
              <a:rPr lang="zh-CN" altLang="en-US" sz="2800" b="1" dirty="0">
                <a:solidFill>
                  <a:srgbClr val="0000FF"/>
                </a:solidFill>
                <a:latin typeface="+mn-lt"/>
                <a:ea typeface="楷体" charset="-122"/>
                <a:cs typeface="+mn-lt"/>
              </a:rPr>
              <a:t>是符合查询要求的，则：</a:t>
            </a:r>
            <a:endParaRPr lang="zh-CN" altLang="en-US" sz="2800" b="1" dirty="0">
              <a:solidFill>
                <a:srgbClr val="0000FF"/>
              </a:solidFill>
              <a:latin typeface="+mn-lt"/>
              <a:ea typeface="楷体" charset="-122"/>
              <a:cs typeface="+mn-lt"/>
            </a:endParaRPr>
          </a:p>
          <a:p>
            <a:pPr marL="751205" lvl="1" indent="-294005">
              <a:lnSpc>
                <a:spcPct val="120000"/>
              </a:lnSpc>
              <a:spcBef>
                <a:spcPts val="20"/>
              </a:spcBef>
              <a:spcAft>
                <a:spcPts val="0"/>
              </a:spcAft>
              <a:buClr>
                <a:srgbClr val="C00000"/>
              </a:buClr>
              <a:buSzPct val="85000"/>
              <a:buFont typeface="Wingdings" panose="05000000000000000000" pitchFamily="2" charset="2"/>
              <a:buChar char="§"/>
            </a:pPr>
            <a:r>
              <a:rPr lang="zh-CN" altLang="en-US" sz="2800" b="1" dirty="0">
                <a:solidFill>
                  <a:srgbClr val="0000FF"/>
                </a:solidFill>
                <a:highlight>
                  <a:srgbClr val="FFFF00"/>
                </a:highlight>
                <a:latin typeface="+mn-lt"/>
                <a:ea typeface="楷体" charset="-122"/>
                <a:cs typeface="+mn-lt"/>
              </a:rPr>
              <a:t>不存在 </a:t>
            </a:r>
            <a:r>
              <a:rPr lang="en-US" altLang="zh-CN" sz="2800" b="1" dirty="0">
                <a:solidFill>
                  <a:srgbClr val="0000FF"/>
                </a:solidFill>
                <a:highlight>
                  <a:srgbClr val="FFFF00"/>
                </a:highlight>
                <a:latin typeface="+mn-lt"/>
                <a:ea typeface="楷体" charset="-122"/>
                <a:cs typeface="+mn-lt"/>
              </a:rPr>
              <a:t>“S4</a:t>
            </a:r>
            <a:r>
              <a:rPr lang="zh-CN" altLang="en-US" sz="2800" b="1" dirty="0">
                <a:solidFill>
                  <a:srgbClr val="0000FF"/>
                </a:solidFill>
                <a:highlight>
                  <a:srgbClr val="FFFF00"/>
                </a:highlight>
                <a:latin typeface="+mn-lt"/>
                <a:ea typeface="楷体" charset="-122"/>
                <a:cs typeface="+mn-lt"/>
              </a:rPr>
              <a:t>选修过但学生</a:t>
            </a:r>
            <a:r>
              <a:rPr lang="en-US" altLang="zh-CN" sz="2800" b="1" dirty="0">
                <a:solidFill>
                  <a:srgbClr val="0000FF"/>
                </a:solidFill>
                <a:highlight>
                  <a:srgbClr val="FFFF00"/>
                </a:highlight>
                <a:latin typeface="+mn-lt"/>
                <a:ea typeface="楷体" charset="-122"/>
                <a:cs typeface="+mn-lt"/>
              </a:rPr>
              <a:t>S</a:t>
            </a:r>
            <a:r>
              <a:rPr lang="zh-CN" altLang="en-US" sz="2800" b="1" dirty="0">
                <a:solidFill>
                  <a:srgbClr val="0000FF"/>
                </a:solidFill>
                <a:highlight>
                  <a:srgbClr val="FFFF00"/>
                </a:highlight>
                <a:latin typeface="+mn-lt"/>
                <a:ea typeface="楷体" charset="-122"/>
                <a:cs typeface="+mn-lt"/>
              </a:rPr>
              <a:t>没有选修过</a:t>
            </a:r>
            <a:r>
              <a:rPr lang="en-US" altLang="zh-CN" sz="2800" b="1" dirty="0">
                <a:solidFill>
                  <a:srgbClr val="0000FF"/>
                </a:solidFill>
                <a:highlight>
                  <a:srgbClr val="FFFF00"/>
                </a:highlight>
                <a:latin typeface="+mn-lt"/>
                <a:ea typeface="楷体" charset="-122"/>
                <a:cs typeface="+mn-lt"/>
              </a:rPr>
              <a:t>” </a:t>
            </a:r>
            <a:r>
              <a:rPr lang="zh-CN" altLang="en-US" sz="2800" b="1" dirty="0">
                <a:solidFill>
                  <a:srgbClr val="0000FF"/>
                </a:solidFill>
                <a:highlight>
                  <a:srgbClr val="FFFF00"/>
                </a:highlight>
                <a:latin typeface="+mn-lt"/>
                <a:ea typeface="楷体" charset="-122"/>
                <a:cs typeface="+mn-lt"/>
              </a:rPr>
              <a:t>的课程</a:t>
            </a:r>
            <a:endParaRPr lang="zh-CN" altLang="en-US" sz="2800" b="1" dirty="0">
              <a:solidFill>
                <a:srgbClr val="0000FF"/>
              </a:solidFill>
              <a:highlight>
                <a:srgbClr val="FFFF00"/>
              </a:highlight>
              <a:latin typeface="+mn-lt"/>
              <a:ea typeface="楷体" charset="-122"/>
              <a:cs typeface="+mn-lt"/>
            </a:endParaRPr>
          </a:p>
        </p:txBody>
      </p:sp>
      <p:sp>
        <p:nvSpPr>
          <p:cNvPr id="4" name="矩形 3"/>
          <p:cNvSpPr/>
          <p:nvPr/>
        </p:nvSpPr>
        <p:spPr>
          <a:xfrm>
            <a:off x="424815" y="2733040"/>
            <a:ext cx="11341735" cy="1771015"/>
          </a:xfrm>
          <a:prstGeom prst="rect">
            <a:avLst/>
          </a:prstGeom>
          <a:noFill/>
          <a:ln w="12700" cap="flat" cmpd="sng">
            <a:solidFill>
              <a:schemeClr val="accent4"/>
            </a:solidFill>
            <a:prstDash val="sysDot"/>
            <a:miter/>
            <a:headEnd type="none" w="med" len="med"/>
            <a:tailEnd type="none" w="med" len="med"/>
          </a:ln>
        </p:spPr>
        <p:txBody>
          <a:bodyPr wrap="square" tIns="107950" bIns="107950" anchor="t">
            <a:spAutoFit/>
          </a:bodyPr>
          <a:p>
            <a:pPr marL="342900" indent="-342900">
              <a:lnSpc>
                <a:spcPct val="120000"/>
              </a:lnSpc>
              <a:spcBef>
                <a:spcPts val="20"/>
              </a:spcBef>
              <a:spcAft>
                <a:spcPts val="0"/>
              </a:spcAft>
              <a:buClr>
                <a:srgbClr val="C00000"/>
              </a:buClr>
              <a:buSzPct val="85000"/>
              <a:buFont typeface="Wingdings" panose="05000000000000000000" charset="0"/>
              <a:buChar char=""/>
            </a:pPr>
            <a:r>
              <a:rPr lang="zh-CN" altLang="en-US" sz="2800" b="1" dirty="0">
                <a:solidFill>
                  <a:srgbClr val="0000FF"/>
                </a:solidFill>
                <a:latin typeface="+mn-lt"/>
                <a:ea typeface="楷体" charset="-122"/>
                <a:cs typeface="+mn-lt"/>
              </a:rPr>
              <a:t>即：在选课表中</a:t>
            </a:r>
            <a:r>
              <a:rPr lang="en-US" altLang="zh-CN" sz="2800" b="1" dirty="0">
                <a:solidFill>
                  <a:srgbClr val="0000FF"/>
                </a:solidFill>
                <a:latin typeface="+mn-lt"/>
                <a:ea typeface="楷体" charset="-122"/>
                <a:cs typeface="+mn-lt"/>
              </a:rPr>
              <a:t>‘</a:t>
            </a:r>
            <a:r>
              <a:rPr lang="zh-CN" altLang="en-US" sz="2800" b="1" dirty="0">
                <a:solidFill>
                  <a:srgbClr val="0000FF"/>
                </a:solidFill>
                <a:latin typeface="+mn-lt"/>
                <a:ea typeface="楷体" charset="-122"/>
                <a:cs typeface="+mn-lt"/>
              </a:rPr>
              <a:t>不存在</a:t>
            </a:r>
            <a:r>
              <a:rPr lang="en-US" altLang="zh-CN" sz="2800" b="1" dirty="0">
                <a:solidFill>
                  <a:srgbClr val="0000FF"/>
                </a:solidFill>
                <a:latin typeface="+mn-lt"/>
                <a:ea typeface="楷体" charset="-122"/>
                <a:cs typeface="+mn-lt"/>
              </a:rPr>
              <a:t>’</a:t>
            </a:r>
            <a:r>
              <a:rPr lang="zh-CN" altLang="en-US" sz="2800" b="1" dirty="0">
                <a:solidFill>
                  <a:srgbClr val="0000FF"/>
                </a:solidFill>
                <a:latin typeface="+mn-lt"/>
                <a:ea typeface="楷体" charset="-122"/>
                <a:cs typeface="+mn-lt"/>
              </a:rPr>
              <a:t>符合以下要求的选课元组</a:t>
            </a:r>
            <a:r>
              <a:rPr lang="en-US" altLang="zh-CN" sz="2800" b="1" dirty="0">
                <a:solidFill>
                  <a:srgbClr val="0000FF"/>
                </a:solidFill>
                <a:latin typeface="+mn-lt"/>
                <a:ea typeface="楷体" charset="-122"/>
                <a:cs typeface="+mn-lt"/>
              </a:rPr>
              <a:t>x</a:t>
            </a:r>
            <a:endParaRPr lang="en-US" altLang="zh-CN" sz="2800" b="1" dirty="0">
              <a:solidFill>
                <a:srgbClr val="0000FF"/>
              </a:solidFill>
              <a:latin typeface="+mn-lt"/>
              <a:ea typeface="楷体" charset="-122"/>
              <a:cs typeface="+mn-lt"/>
            </a:endParaRPr>
          </a:p>
          <a:p>
            <a:pPr marL="1031875" lvl="1" indent="-457200" algn="l">
              <a:lnSpc>
                <a:spcPct val="120000"/>
              </a:lnSpc>
              <a:spcBef>
                <a:spcPts val="20"/>
              </a:spcBef>
              <a:spcAft>
                <a:spcPts val="0"/>
              </a:spcAft>
              <a:buClr>
                <a:srgbClr val="C00000"/>
              </a:buClr>
              <a:buSzPct val="85000"/>
              <a:buFont typeface="Wingdings" panose="05000000000000000000" pitchFamily="2" charset="2"/>
              <a:buChar char="§"/>
            </a:pPr>
            <a:r>
              <a:rPr lang="en-US" altLang="zh-CN" sz="2800" b="1" dirty="0">
                <a:solidFill>
                  <a:srgbClr val="0000FF"/>
                </a:solidFill>
                <a:latin typeface="+mn-lt"/>
                <a:ea typeface="楷体" charset="-122"/>
                <a:cs typeface="+mn-lt"/>
              </a:rPr>
              <a:t>x</a:t>
            </a:r>
            <a:r>
              <a:rPr lang="zh-CN" altLang="en-US" sz="2800" b="1" dirty="0">
                <a:solidFill>
                  <a:srgbClr val="0000FF"/>
                </a:solidFill>
                <a:latin typeface="+mn-lt"/>
                <a:ea typeface="楷体" charset="-122"/>
                <a:cs typeface="+mn-lt"/>
              </a:rPr>
              <a:t>是学生</a:t>
            </a:r>
            <a:r>
              <a:rPr lang="en-US" altLang="zh-CN" sz="2800" b="1" dirty="0">
                <a:solidFill>
                  <a:srgbClr val="0000FF"/>
                </a:solidFill>
                <a:latin typeface="+mn-lt"/>
                <a:ea typeface="楷体" charset="-122"/>
                <a:cs typeface="+mn-lt"/>
              </a:rPr>
              <a:t>S4</a:t>
            </a:r>
            <a:r>
              <a:rPr lang="zh-CN" altLang="en-US" sz="2800" b="1" dirty="0">
                <a:solidFill>
                  <a:srgbClr val="0000FF"/>
                </a:solidFill>
                <a:latin typeface="+mn-lt"/>
                <a:ea typeface="楷体" charset="-122"/>
                <a:cs typeface="+mn-lt"/>
              </a:rPr>
              <a:t>的选课记录（即 </a:t>
            </a:r>
            <a:r>
              <a:rPr lang="en-US" altLang="zh-CN" sz="2800" b="1" dirty="0">
                <a:solidFill>
                  <a:srgbClr val="0000FF"/>
                </a:solidFill>
                <a:latin typeface="+mn-lt"/>
                <a:ea typeface="楷体" charset="-122"/>
                <a:cs typeface="+mn-lt"/>
              </a:rPr>
              <a:t>x.sno='S4' </a:t>
            </a:r>
            <a:r>
              <a:rPr lang="zh-CN" altLang="zh-CN" sz="2800" b="1" dirty="0">
                <a:solidFill>
                  <a:srgbClr val="0000FF"/>
                </a:solidFill>
                <a:latin typeface="+mn-lt"/>
                <a:ea typeface="楷体" charset="-122"/>
                <a:cs typeface="+mn-lt"/>
              </a:rPr>
              <a:t>）</a:t>
            </a:r>
            <a:endParaRPr lang="zh-CN" altLang="zh-CN" sz="2800" b="1" dirty="0">
              <a:solidFill>
                <a:srgbClr val="0000FF"/>
              </a:solidFill>
              <a:latin typeface="+mn-lt"/>
              <a:ea typeface="楷体" charset="-122"/>
              <a:cs typeface="+mn-lt"/>
            </a:endParaRPr>
          </a:p>
          <a:p>
            <a:pPr marL="1031875" lvl="1" indent="-457200" algn="l">
              <a:lnSpc>
                <a:spcPct val="120000"/>
              </a:lnSpc>
              <a:spcBef>
                <a:spcPts val="20"/>
              </a:spcBef>
              <a:spcAft>
                <a:spcPts val="0"/>
              </a:spcAft>
              <a:buClr>
                <a:srgbClr val="C00000"/>
              </a:buClr>
              <a:buSzPct val="85000"/>
              <a:buFont typeface="Wingdings" panose="05000000000000000000" pitchFamily="2" charset="2"/>
              <a:buChar char="§"/>
            </a:pPr>
            <a:r>
              <a:rPr lang="zh-CN" altLang="en-US" sz="2800" b="1" dirty="0">
                <a:solidFill>
                  <a:srgbClr val="0000FF"/>
                </a:solidFill>
                <a:latin typeface="+mn-lt"/>
                <a:ea typeface="楷体" charset="-122"/>
                <a:cs typeface="+mn-lt"/>
              </a:rPr>
              <a:t>且</a:t>
            </a:r>
            <a:r>
              <a:rPr lang="en-US" altLang="zh-CN" sz="2800" b="1" dirty="0">
                <a:solidFill>
                  <a:srgbClr val="0000FF"/>
                </a:solidFill>
                <a:latin typeface="+mn-lt"/>
                <a:ea typeface="楷体" charset="-122"/>
                <a:cs typeface="+mn-lt"/>
              </a:rPr>
              <a:t> </a:t>
            </a:r>
            <a:r>
              <a:rPr lang="zh-CN" altLang="en-US" sz="2800" b="1" dirty="0">
                <a:solidFill>
                  <a:srgbClr val="0000FF"/>
                </a:solidFill>
                <a:highlight>
                  <a:srgbClr val="FFFF00"/>
                </a:highlight>
                <a:latin typeface="+mn-lt"/>
                <a:ea typeface="楷体" charset="-122"/>
                <a:cs typeface="+mn-lt"/>
              </a:rPr>
              <a:t>学生</a:t>
            </a:r>
            <a:r>
              <a:rPr lang="en-US" altLang="zh-CN" sz="2800" b="1" dirty="0">
                <a:solidFill>
                  <a:srgbClr val="0000FF"/>
                </a:solidFill>
                <a:highlight>
                  <a:srgbClr val="FFFF00"/>
                </a:highlight>
                <a:latin typeface="+mn-lt"/>
                <a:ea typeface="楷体" charset="-122"/>
                <a:cs typeface="+mn-lt"/>
              </a:rPr>
              <a:t>S</a:t>
            </a:r>
            <a:r>
              <a:rPr lang="zh-CN" altLang="en-US" sz="2800" b="1" dirty="0">
                <a:solidFill>
                  <a:srgbClr val="0000FF"/>
                </a:solidFill>
                <a:highlight>
                  <a:srgbClr val="FFFF00"/>
                </a:highlight>
                <a:latin typeface="+mn-lt"/>
                <a:ea typeface="楷体" charset="-122"/>
                <a:cs typeface="+mn-lt"/>
              </a:rPr>
              <a:t>没有选修过其中的课程 </a:t>
            </a:r>
            <a:r>
              <a:rPr lang="en-US" altLang="zh-CN" sz="2800" b="1" dirty="0">
                <a:solidFill>
                  <a:srgbClr val="0000FF"/>
                </a:solidFill>
                <a:highlight>
                  <a:srgbClr val="FFFF00"/>
                </a:highlight>
                <a:latin typeface="+mn-lt"/>
                <a:ea typeface="楷体" charset="-122"/>
                <a:cs typeface="+mn-lt"/>
              </a:rPr>
              <a:t>x.cno</a:t>
            </a:r>
            <a:endParaRPr lang="en-US" altLang="zh-CN" sz="2800" b="1" dirty="0">
              <a:solidFill>
                <a:srgbClr val="0000FF"/>
              </a:solidFill>
              <a:highlight>
                <a:srgbClr val="FFFF00"/>
              </a:highlight>
              <a:latin typeface="+mn-lt"/>
              <a:ea typeface="楷体" charset="-122"/>
              <a:cs typeface="+mn-lt"/>
            </a:endParaRPr>
          </a:p>
        </p:txBody>
      </p:sp>
      <p:sp>
        <p:nvSpPr>
          <p:cNvPr id="5" name="矩形 4"/>
          <p:cNvSpPr/>
          <p:nvPr/>
        </p:nvSpPr>
        <p:spPr>
          <a:xfrm>
            <a:off x="424815" y="4653915"/>
            <a:ext cx="11341735" cy="1768475"/>
          </a:xfrm>
          <a:prstGeom prst="rect">
            <a:avLst/>
          </a:prstGeom>
          <a:noFill/>
          <a:ln w="12700" cap="flat" cmpd="sng">
            <a:solidFill>
              <a:schemeClr val="accent4"/>
            </a:solidFill>
            <a:prstDash val="sysDot"/>
            <a:miter/>
            <a:headEnd type="none" w="med" len="med"/>
            <a:tailEnd type="none" w="med" len="med"/>
          </a:ln>
        </p:spPr>
        <p:txBody>
          <a:bodyPr wrap="square" tIns="107950" bIns="107950" anchor="t">
            <a:spAutoFit/>
          </a:bodyPr>
          <a:p>
            <a:pPr marL="1489075" lvl="2" indent="-457200" algn="l">
              <a:lnSpc>
                <a:spcPct val="120000"/>
              </a:lnSpc>
              <a:spcBef>
                <a:spcPts val="20"/>
              </a:spcBef>
              <a:spcAft>
                <a:spcPts val="0"/>
              </a:spcAft>
              <a:buClr>
                <a:srgbClr val="C00000"/>
              </a:buClr>
              <a:buSzPct val="85000"/>
              <a:buFont typeface="Arial" panose="020B0604020202090204" pitchFamily="34" charset="0"/>
              <a:buChar char="–"/>
            </a:pPr>
            <a:r>
              <a:rPr lang="zh-CN" altLang="en-US" sz="2800" b="1" dirty="0">
                <a:solidFill>
                  <a:srgbClr val="0000FF"/>
                </a:solidFill>
                <a:latin typeface="+mn-lt"/>
                <a:ea typeface="楷体" charset="-122"/>
                <a:cs typeface="+mn-lt"/>
              </a:rPr>
              <a:t>即：</a:t>
            </a:r>
            <a:r>
              <a:rPr lang="zh-CN" altLang="en-US" sz="2800" b="1" dirty="0">
                <a:solidFill>
                  <a:srgbClr val="0000FF"/>
                </a:solidFill>
                <a:latin typeface="+mn-lt"/>
                <a:ea typeface="楷体" charset="-122"/>
                <a:cs typeface="+mn-lt"/>
                <a:sym typeface="+mn-ea"/>
              </a:rPr>
              <a:t>不存在</a:t>
            </a:r>
            <a:r>
              <a:rPr lang="en-US" altLang="zh-CN" sz="2800" b="1" dirty="0">
                <a:solidFill>
                  <a:srgbClr val="0000FF"/>
                </a:solidFill>
                <a:latin typeface="+mn-lt"/>
                <a:ea typeface="楷体" charset="-122"/>
                <a:cs typeface="+mn-lt"/>
                <a:sym typeface="+mn-ea"/>
              </a:rPr>
              <a:t>“</a:t>
            </a:r>
            <a:r>
              <a:rPr lang="zh-CN" altLang="en-US" sz="2800" b="1" dirty="0">
                <a:solidFill>
                  <a:srgbClr val="0000FF"/>
                </a:solidFill>
                <a:latin typeface="+mn-lt"/>
                <a:ea typeface="楷体" charset="-122"/>
                <a:cs typeface="+mn-lt"/>
                <a:sym typeface="+mn-ea"/>
              </a:rPr>
              <a:t>学生</a:t>
            </a:r>
            <a:r>
              <a:rPr lang="en-US" altLang="zh-CN" sz="2800" b="1" dirty="0">
                <a:solidFill>
                  <a:srgbClr val="0000FF"/>
                </a:solidFill>
                <a:latin typeface="+mn-lt"/>
                <a:ea typeface="楷体" charset="-122"/>
                <a:cs typeface="+mn-lt"/>
                <a:sym typeface="+mn-ea"/>
              </a:rPr>
              <a:t>S</a:t>
            </a:r>
            <a:r>
              <a:rPr lang="zh-CN" altLang="en-US" sz="2800" b="1" dirty="0">
                <a:solidFill>
                  <a:srgbClr val="0000FF"/>
                </a:solidFill>
                <a:latin typeface="+mn-lt"/>
                <a:ea typeface="楷体" charset="-122"/>
                <a:cs typeface="+mn-lt"/>
                <a:sym typeface="+mn-ea"/>
              </a:rPr>
              <a:t>关于课程</a:t>
            </a:r>
            <a:r>
              <a:rPr lang="en-US" altLang="zh-CN" sz="2800" b="1" dirty="0">
                <a:solidFill>
                  <a:srgbClr val="0000FF"/>
                </a:solidFill>
                <a:latin typeface="+mn-lt"/>
                <a:ea typeface="楷体" charset="-122"/>
                <a:cs typeface="+mn-lt"/>
                <a:sym typeface="+mn-ea"/>
              </a:rPr>
              <a:t>x.cno</a:t>
            </a:r>
            <a:r>
              <a:rPr lang="zh-CN" altLang="en-US" sz="2800" b="1" dirty="0">
                <a:solidFill>
                  <a:srgbClr val="0000FF"/>
                </a:solidFill>
                <a:latin typeface="+mn-lt"/>
                <a:ea typeface="楷体" charset="-122"/>
                <a:cs typeface="+mn-lt"/>
                <a:sym typeface="+mn-ea"/>
              </a:rPr>
              <a:t>的选课记录</a:t>
            </a:r>
            <a:r>
              <a:rPr lang="en-US" altLang="zh-CN" sz="2800" b="1" dirty="0">
                <a:solidFill>
                  <a:srgbClr val="0000FF"/>
                </a:solidFill>
                <a:latin typeface="+mn-lt"/>
                <a:ea typeface="楷体" charset="-122"/>
                <a:cs typeface="+mn-lt"/>
                <a:sym typeface="+mn-ea"/>
              </a:rPr>
              <a:t>”</a:t>
            </a:r>
            <a:endParaRPr lang="en-US" altLang="zh-CN" sz="2800" b="1" dirty="0">
              <a:solidFill>
                <a:srgbClr val="0000FF"/>
              </a:solidFill>
              <a:latin typeface="+mn-lt"/>
              <a:ea typeface="楷体" charset="-122"/>
              <a:cs typeface="+mn-lt"/>
              <a:sym typeface="+mn-ea"/>
            </a:endParaRPr>
          </a:p>
          <a:p>
            <a:pPr marL="1489075" lvl="2" indent="-457200" algn="l">
              <a:lnSpc>
                <a:spcPct val="120000"/>
              </a:lnSpc>
              <a:spcBef>
                <a:spcPts val="20"/>
              </a:spcBef>
              <a:spcAft>
                <a:spcPts val="0"/>
              </a:spcAft>
              <a:buClr>
                <a:srgbClr val="C00000"/>
              </a:buClr>
              <a:buSzPct val="85000"/>
              <a:buFont typeface="Arial" panose="020B0604020202090204" pitchFamily="34" charset="0"/>
              <a:buChar char="–"/>
            </a:pPr>
            <a:r>
              <a:rPr lang="zh-CN" altLang="en-US" sz="2800" b="1" dirty="0">
                <a:solidFill>
                  <a:srgbClr val="0000FF"/>
                </a:solidFill>
                <a:latin typeface="+mn-lt"/>
                <a:ea typeface="楷体" charset="-122"/>
                <a:cs typeface="+mn-lt"/>
                <a:sym typeface="+mn-ea"/>
              </a:rPr>
              <a:t>也就是</a:t>
            </a:r>
            <a:r>
              <a:rPr lang="zh-CN" altLang="en-US" sz="2800" b="1" dirty="0">
                <a:solidFill>
                  <a:srgbClr val="0000FF"/>
                </a:solidFill>
                <a:latin typeface="+mn-lt"/>
                <a:ea typeface="楷体" charset="-122"/>
                <a:cs typeface="+mn-lt"/>
              </a:rPr>
              <a:t>在选课表中，找不到能够满足以下要求的选课元组</a:t>
            </a:r>
            <a:r>
              <a:rPr lang="en-US" altLang="zh-CN" sz="2800" b="1" dirty="0">
                <a:solidFill>
                  <a:srgbClr val="0000FF"/>
                </a:solidFill>
                <a:latin typeface="+mn-lt"/>
                <a:ea typeface="楷体" charset="-122"/>
                <a:cs typeface="+mn-lt"/>
              </a:rPr>
              <a:t>y</a:t>
            </a:r>
            <a:r>
              <a:rPr lang="en-US" altLang="x-none" sz="2800" b="1" dirty="0">
                <a:solidFill>
                  <a:srgbClr val="0000FF"/>
                </a:solidFill>
                <a:latin typeface="+mn-lt"/>
                <a:ea typeface="楷体" charset="-122"/>
                <a:cs typeface="+mn-lt"/>
              </a:rPr>
              <a:t>:  y.sno = S.sno   and   y.cno=x.cno</a:t>
            </a:r>
            <a:endParaRPr lang="en-US" altLang="x-none" sz="2800" b="1" dirty="0">
              <a:solidFill>
                <a:srgbClr val="0000FF"/>
              </a:solidFill>
              <a:latin typeface="+mn-lt"/>
              <a:ea typeface="楷体" charset="-122"/>
              <a:cs typeface="+mn-lt"/>
            </a:endParaRPr>
          </a:p>
        </p:txBody>
      </p:sp>
      <p:sp>
        <p:nvSpPr>
          <p:cNvPr id="7" name="右弧形箭头 6"/>
          <p:cNvSpPr/>
          <p:nvPr/>
        </p:nvSpPr>
        <p:spPr>
          <a:xfrm>
            <a:off x="9624695" y="2132330"/>
            <a:ext cx="216002" cy="792006"/>
          </a:xfrm>
          <a:prstGeom prst="curvedLeftArrow">
            <a:avLst>
              <a:gd name="adj1" fmla="val 19904"/>
              <a:gd name="adj2" fmla="val 8571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a typeface="楷体" charset="-122"/>
              <a:cs typeface="+mn-lt"/>
            </a:endParaRPr>
          </a:p>
        </p:txBody>
      </p:sp>
      <p:sp>
        <p:nvSpPr>
          <p:cNvPr id="8" name="右弧形箭头 7"/>
          <p:cNvSpPr/>
          <p:nvPr/>
        </p:nvSpPr>
        <p:spPr>
          <a:xfrm>
            <a:off x="8524875" y="3979545"/>
            <a:ext cx="216002" cy="792006"/>
          </a:xfrm>
          <a:prstGeom prst="curvedLeftArrow">
            <a:avLst>
              <a:gd name="adj1" fmla="val 19904"/>
              <a:gd name="adj2" fmla="val 8571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a typeface="楷体" charset="-122"/>
              <a:cs typeface="+mn-lt"/>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
        <p:nvSpPr>
          <p:cNvPr id="12" name="Rectangle 3"/>
          <p:cNvSpPr>
            <a:spLocks noGrp="1"/>
          </p:cNvSpPr>
          <p:nvPr>
            <p:ph idx="1"/>
          </p:nvPr>
        </p:nvSpPr>
        <p:spPr>
          <a:xfrm>
            <a:off x="424180" y="687070"/>
            <a:ext cx="11343005" cy="565150"/>
          </a:xfrm>
          <a:solidFill>
            <a:schemeClr val="accent3">
              <a:lumMod val="20000"/>
              <a:lumOff val="80000"/>
            </a:schemeClr>
          </a:solidFill>
        </p:spPr>
        <p:txBody>
          <a:bodyPr wrap="square" anchor="t">
            <a:spAutoFit/>
          </a:bodyPr>
          <a:p>
            <a:pPr eaLnBrk="1" hangingPunct="1"/>
            <a:r>
              <a:rPr lang="zh-CN" altLang="en-US" sz="2800" dirty="0"/>
              <a:t>查询至少修读了学号为</a:t>
            </a:r>
            <a:r>
              <a:rPr lang="en-US" altLang="x-none" sz="2800" dirty="0"/>
              <a:t>S4</a:t>
            </a:r>
            <a:r>
              <a:rPr lang="zh-CN" altLang="en-US" sz="2800" dirty="0"/>
              <a:t>的学生所修读</a:t>
            </a:r>
            <a:r>
              <a:rPr lang="zh-CN" altLang="en-US" sz="2800" dirty="0"/>
              <a:t>过的所有课程的学生的学号</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par>
                          <p:cTn id="15" fill="hold">
                            <p:stCondLst>
                              <p:cond delay="0"/>
                            </p:stCondLst>
                            <p:childTnLst>
                              <p:par>
                                <p:cTn id="16" presetID="3" presetClass="entr" presetSubtype="1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4" grpId="0" bldLvl="0" animBg="1"/>
      <p:bldP spid="8" grpId="0" bldLvl="0" animBg="1"/>
      <p:bldP spid="5"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dirty="0">
                <a:sym typeface="+mn-ea"/>
              </a:rPr>
              <a:t>谓词</a:t>
            </a:r>
            <a:r>
              <a:rPr lang="en-US" altLang="x-none" dirty="0">
                <a:sym typeface="+mn-ea"/>
              </a:rPr>
              <a:t>EXISTS</a:t>
            </a:r>
            <a:r>
              <a:rPr lang="zh-CN" altLang="en-US" dirty="0">
                <a:sym typeface="+mn-ea"/>
              </a:rPr>
              <a:t>在复杂查询中的使用</a:t>
            </a:r>
            <a:r>
              <a:rPr lang="zh-CN" altLang="en-US" dirty="0">
                <a:sym typeface="+mn-ea"/>
              </a:rPr>
              <a:t>（</a:t>
            </a:r>
            <a:r>
              <a:rPr lang="en-US" altLang="zh-CN" dirty="0">
                <a:sym typeface="+mn-ea"/>
              </a:rPr>
              <a:t>3</a:t>
            </a:r>
            <a:r>
              <a:rPr lang="zh-CN" altLang="en-US" dirty="0">
                <a:sym typeface="+mn-ea"/>
              </a:rPr>
              <a:t>）</a:t>
            </a:r>
            <a:endParaRPr lang="zh-CN" altLang="en-US"/>
          </a:p>
        </p:txBody>
      </p:sp>
      <p:sp>
        <p:nvSpPr>
          <p:cNvPr id="7170" name="文本占位符 7170"/>
          <p:cNvSpPr>
            <a:spLocks noGrp="1"/>
          </p:cNvSpPr>
          <p:nvPr>
            <p:ph idx="4294967295"/>
          </p:nvPr>
        </p:nvSpPr>
        <p:spPr>
          <a:xfrm>
            <a:off x="424815" y="2388235"/>
            <a:ext cx="11341735" cy="1383665"/>
          </a:xfrm>
        </p:spPr>
        <p:txBody>
          <a:bodyPr wrap="square" anchor="t">
            <a:spAutoFit/>
          </a:bodyPr>
          <a:p>
            <a:pPr>
              <a:lnSpc>
                <a:spcPct val="100000"/>
              </a:lnSpc>
              <a:spcBef>
                <a:spcPts val="0"/>
              </a:spcBef>
            </a:pPr>
            <a:r>
              <a:rPr lang="zh-CN" altLang="en-US" sz="2800" dirty="0">
                <a:solidFill>
                  <a:srgbClr val="0000FF"/>
                </a:solidFill>
                <a:cs typeface="+mn-lt"/>
              </a:rPr>
              <a:t>首先，我们构造最内层的第一个子查询：</a:t>
            </a:r>
            <a:endParaRPr lang="zh-CN" altLang="en-US" sz="2800" dirty="0">
              <a:solidFill>
                <a:srgbClr val="0000FF"/>
              </a:solidFill>
              <a:cs typeface="+mn-lt"/>
            </a:endParaRPr>
          </a:p>
          <a:p>
            <a:pPr lvl="1">
              <a:lnSpc>
                <a:spcPct val="100000"/>
              </a:lnSpc>
              <a:spcBef>
                <a:spcPts val="0"/>
              </a:spcBef>
              <a:buFont typeface="Wingdings" panose="05000000000000000000" charset="0"/>
              <a:buChar char="Ø"/>
            </a:pPr>
            <a:r>
              <a:rPr lang="zh-CN" altLang="en-US" sz="2800" dirty="0">
                <a:solidFill>
                  <a:srgbClr val="0000FF"/>
                </a:solidFill>
                <a:cs typeface="+mn-lt"/>
                <a:sym typeface="+mn-ea"/>
              </a:rPr>
              <a:t>查询学生</a:t>
            </a:r>
            <a:r>
              <a:rPr lang="en-US" altLang="zh-CN" sz="2800" dirty="0">
                <a:solidFill>
                  <a:srgbClr val="0000FF"/>
                </a:solidFill>
                <a:cs typeface="+mn-lt"/>
                <a:sym typeface="+mn-ea"/>
              </a:rPr>
              <a:t>S</a:t>
            </a:r>
            <a:r>
              <a:rPr lang="zh-CN" altLang="en-US" sz="2800" dirty="0">
                <a:solidFill>
                  <a:srgbClr val="0000FF"/>
                </a:solidFill>
                <a:cs typeface="+mn-lt"/>
                <a:sym typeface="+mn-ea"/>
              </a:rPr>
              <a:t>关于课程</a:t>
            </a:r>
            <a:r>
              <a:rPr lang="en-US" altLang="zh-CN" sz="2800" dirty="0">
                <a:solidFill>
                  <a:srgbClr val="0000FF"/>
                </a:solidFill>
                <a:cs typeface="+mn-lt"/>
                <a:sym typeface="+mn-ea"/>
              </a:rPr>
              <a:t>x.cno</a:t>
            </a:r>
            <a:r>
              <a:rPr lang="zh-CN" altLang="zh-CN" sz="2800" dirty="0">
                <a:solidFill>
                  <a:srgbClr val="0000FF"/>
                </a:solidFill>
                <a:cs typeface="+mn-lt"/>
                <a:sym typeface="+mn-ea"/>
              </a:rPr>
              <a:t>的选课记录，即查找</a:t>
            </a:r>
            <a:r>
              <a:rPr lang="zh-CN" altLang="en-US" sz="2800" dirty="0">
                <a:solidFill>
                  <a:srgbClr val="0000FF"/>
                </a:solidFill>
                <a:cs typeface="+mn-lt"/>
                <a:sym typeface="+mn-ea"/>
              </a:rPr>
              <a:t>满足下述条件的选课元组</a:t>
            </a:r>
            <a:r>
              <a:rPr lang="en-US" altLang="zh-CN" sz="2800" dirty="0">
                <a:solidFill>
                  <a:srgbClr val="0000FF"/>
                </a:solidFill>
                <a:cs typeface="+mn-lt"/>
                <a:sym typeface="+mn-ea"/>
              </a:rPr>
              <a:t>y</a:t>
            </a:r>
            <a:r>
              <a:rPr lang="en-US" altLang="x-none" sz="2800" dirty="0">
                <a:solidFill>
                  <a:srgbClr val="0000FF"/>
                </a:solidFill>
                <a:cs typeface="+mn-lt"/>
                <a:sym typeface="+mn-ea"/>
              </a:rPr>
              <a:t>:  y.sno=S.sno  and  y.cno=x.cno</a:t>
            </a:r>
            <a:endParaRPr lang="en-US" altLang="x-none" sz="2800" dirty="0">
              <a:solidFill>
                <a:srgbClr val="0000FF"/>
              </a:solidFill>
              <a:cs typeface="+mn-lt"/>
              <a:sym typeface="+mn-ea"/>
            </a:endParaRPr>
          </a:p>
        </p:txBody>
      </p:sp>
      <p:sp>
        <p:nvSpPr>
          <p:cNvPr id="7172" name="矩形 7171"/>
          <p:cNvSpPr/>
          <p:nvPr/>
        </p:nvSpPr>
        <p:spPr>
          <a:xfrm>
            <a:off x="1981200" y="3840480"/>
            <a:ext cx="8229600" cy="1383665"/>
          </a:xfrm>
          <a:prstGeom prst="rect">
            <a:avLst/>
          </a:prstGeom>
          <a:noFill/>
          <a:ln w="9525" cap="flat" cmpd="sng">
            <a:solidFill>
              <a:schemeClr val="tx1"/>
            </a:solidFill>
            <a:prstDash val="solid"/>
            <a:miter/>
            <a:headEnd type="none" w="med" len="med"/>
            <a:tailEnd type="none" w="med" len="med"/>
          </a:ln>
        </p:spPr>
        <p:txBody>
          <a:bodyPr anchor="t">
            <a:spAutoFit/>
          </a:bodyPr>
          <a:p>
            <a:pPr marL="285750" lvl="0" indent="-285750" algn="l">
              <a:lnSpc>
                <a:spcPct val="100000"/>
              </a:lnSpc>
              <a:spcBef>
                <a:spcPts val="0"/>
              </a:spcBef>
              <a:buClr>
                <a:schemeClr val="accent1"/>
              </a:buClr>
              <a:buFont typeface="Arial" panose="020B0604020202090204" pitchFamily="34" charset="0"/>
              <a:buNone/>
            </a:pPr>
            <a:r>
              <a:rPr lang="en-US" altLang="x-none" sz="2800" i="1" dirty="0">
                <a:solidFill>
                  <a:srgbClr val="0000FF"/>
                </a:solidFill>
                <a:latin typeface="+mn-lt"/>
                <a:ea typeface="楷体" charset="-122"/>
                <a:cs typeface="+mn-lt"/>
              </a:rPr>
              <a:t>q</a:t>
            </a:r>
            <a:r>
              <a:rPr lang="en-US" altLang="x-none" sz="2800" i="1" baseline="-25000" dirty="0">
                <a:solidFill>
                  <a:srgbClr val="0000FF"/>
                </a:solidFill>
                <a:latin typeface="+mn-lt"/>
                <a:ea typeface="楷体" charset="-122"/>
                <a:cs typeface="+mn-lt"/>
              </a:rPr>
              <a:t>1</a:t>
            </a:r>
            <a:r>
              <a:rPr lang="en-US" altLang="x-none" sz="2800" dirty="0">
                <a:solidFill>
                  <a:srgbClr val="0000FF"/>
                </a:solidFill>
                <a:latin typeface="+mn-lt"/>
                <a:ea typeface="楷体" charset="-122"/>
                <a:cs typeface="+mn-lt"/>
              </a:rPr>
              <a:t>: 	</a:t>
            </a:r>
            <a:r>
              <a:rPr lang="en-US" altLang="x-none" sz="2800" dirty="0">
                <a:solidFill>
                  <a:srgbClr val="FF0000"/>
                </a:solidFill>
                <a:latin typeface="+mn-lt"/>
                <a:ea typeface="楷体" charset="-122"/>
                <a:cs typeface="+mn-lt"/>
              </a:rPr>
              <a:t>select  *</a:t>
            </a:r>
            <a:endParaRPr lang="en-US" altLang="x-none" sz="2800" dirty="0">
              <a:solidFill>
                <a:srgbClr val="FF0000"/>
              </a:solidFill>
              <a:latin typeface="+mn-lt"/>
              <a:ea typeface="楷体" charset="-122"/>
              <a:cs typeface="+mn-lt"/>
            </a:endParaRPr>
          </a:p>
          <a:p>
            <a:pPr marL="285750" lvl="0" indent="-285750" algn="l">
              <a:lnSpc>
                <a:spcPct val="100000"/>
              </a:lnSpc>
              <a:spcBef>
                <a:spcPts val="0"/>
              </a:spcBef>
              <a:buClr>
                <a:schemeClr val="accent1"/>
              </a:buClr>
              <a:buFont typeface="Arial" panose="020B0604020202090204" pitchFamily="34" charset="0"/>
              <a:buNone/>
            </a:pPr>
            <a:r>
              <a:rPr lang="en-US" altLang="x-none" sz="2800" dirty="0">
                <a:solidFill>
                  <a:srgbClr val="FF0000"/>
                </a:solidFill>
                <a:latin typeface="+mn-lt"/>
                <a:ea typeface="楷体" charset="-122"/>
                <a:cs typeface="+mn-lt"/>
              </a:rPr>
              <a:t>		from  SC  </a:t>
            </a:r>
            <a:r>
              <a:rPr lang="en-US" altLang="zh-CN" sz="2800" dirty="0">
                <a:solidFill>
                  <a:srgbClr val="FF0000"/>
                </a:solidFill>
                <a:latin typeface="+mn-lt"/>
                <a:ea typeface="楷体" charset="-122"/>
                <a:cs typeface="+mn-lt"/>
              </a:rPr>
              <a:t>y</a:t>
            </a:r>
            <a:endParaRPr lang="en-US" altLang="zh-CN" sz="2800" dirty="0">
              <a:solidFill>
                <a:srgbClr val="FF0000"/>
              </a:solidFill>
              <a:latin typeface="+mn-lt"/>
              <a:ea typeface="楷体" charset="-122"/>
              <a:cs typeface="+mn-lt"/>
            </a:endParaRPr>
          </a:p>
          <a:p>
            <a:pPr marL="285750" lvl="0" indent="-285750" algn="l">
              <a:lnSpc>
                <a:spcPct val="100000"/>
              </a:lnSpc>
              <a:spcBef>
                <a:spcPts val="0"/>
              </a:spcBef>
              <a:buClr>
                <a:schemeClr val="accent1"/>
              </a:buClr>
              <a:buFont typeface="Arial" panose="020B0604020202090204" pitchFamily="34" charset="0"/>
              <a:buNone/>
            </a:pPr>
            <a:r>
              <a:rPr lang="en-US" altLang="x-none" sz="2800" dirty="0">
                <a:solidFill>
                  <a:srgbClr val="FF0000"/>
                </a:solidFill>
                <a:latin typeface="+mn-lt"/>
                <a:ea typeface="楷体" charset="-122"/>
                <a:cs typeface="+mn-lt"/>
              </a:rPr>
              <a:t>		where  y.sno=S.sno  and  y.cno=x.cno</a:t>
            </a:r>
            <a:endParaRPr lang="en-US" altLang="x-none" sz="2800" dirty="0">
              <a:solidFill>
                <a:srgbClr val="FF0000"/>
              </a:solidFill>
              <a:latin typeface="+mn-lt"/>
              <a:ea typeface="楷体" charset="-122"/>
              <a:cs typeface="+mn-lt"/>
            </a:endParaRPr>
          </a:p>
        </p:txBody>
      </p:sp>
      <p:sp>
        <p:nvSpPr>
          <p:cNvPr id="3" name="文本占位符 7170"/>
          <p:cNvSpPr>
            <a:spLocks noGrp="1"/>
          </p:cNvSpPr>
          <p:nvPr/>
        </p:nvSpPr>
        <p:spPr>
          <a:xfrm>
            <a:off x="424815" y="5448300"/>
            <a:ext cx="11341735" cy="953135"/>
          </a:xfrm>
          <a:prstGeom prst="rect">
            <a:avLst/>
          </a:prstGeom>
          <a:noFill/>
          <a:ln w="9525">
            <a:noFill/>
          </a:ln>
        </p:spPr>
        <p:txBody>
          <a:bodyPr wrap="square" anchor="t">
            <a:sp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a:lnSpc>
                <a:spcPct val="100000"/>
              </a:lnSpc>
              <a:spcBef>
                <a:spcPts val="0"/>
              </a:spcBef>
              <a:buClr>
                <a:srgbClr val="C00000"/>
              </a:buClr>
              <a:buSzPct val="85000"/>
            </a:pPr>
            <a:r>
              <a:rPr lang="zh-CN" altLang="en-US" sz="2800" dirty="0">
                <a:solidFill>
                  <a:srgbClr val="0000FF"/>
                </a:solidFill>
                <a:ea typeface="楷体" charset="-122"/>
                <a:cs typeface="+mn-lt"/>
                <a:sym typeface="+mn-ea"/>
              </a:rPr>
              <a:t>然后，</a:t>
            </a:r>
            <a:r>
              <a:rPr lang="en-US" altLang="zh-CN" sz="2800" dirty="0">
                <a:solidFill>
                  <a:srgbClr val="0000FF"/>
                </a:solidFill>
                <a:ea typeface="楷体" charset="-122"/>
                <a:cs typeface="+mn-lt"/>
                <a:sym typeface="+mn-ea"/>
              </a:rPr>
              <a:t>“</a:t>
            </a:r>
            <a:r>
              <a:rPr lang="zh-CN" altLang="en-US" sz="2800" dirty="0">
                <a:solidFill>
                  <a:srgbClr val="0000FF"/>
                </a:solidFill>
                <a:highlight>
                  <a:srgbClr val="FFFF00"/>
                </a:highlight>
                <a:ea typeface="楷体" charset="-122"/>
                <a:cs typeface="+mn-lt"/>
                <a:sym typeface="+mn-ea"/>
              </a:rPr>
              <a:t>学生</a:t>
            </a:r>
            <a:r>
              <a:rPr lang="en-US" altLang="zh-CN" sz="2800" dirty="0">
                <a:solidFill>
                  <a:srgbClr val="0000FF"/>
                </a:solidFill>
                <a:highlight>
                  <a:srgbClr val="FFFF00"/>
                </a:highlight>
                <a:ea typeface="楷体" charset="-122"/>
                <a:cs typeface="+mn-lt"/>
                <a:sym typeface="+mn-ea"/>
              </a:rPr>
              <a:t>S</a:t>
            </a:r>
            <a:r>
              <a:rPr lang="zh-CN" altLang="en-US" sz="2800" dirty="0">
                <a:solidFill>
                  <a:srgbClr val="0000FF"/>
                </a:solidFill>
                <a:highlight>
                  <a:srgbClr val="FFFF00"/>
                </a:highlight>
                <a:ea typeface="楷体" charset="-122"/>
                <a:cs typeface="+mn-lt"/>
                <a:sym typeface="+mn-ea"/>
              </a:rPr>
              <a:t>没有选修过课程 </a:t>
            </a:r>
            <a:r>
              <a:rPr lang="en-US" altLang="zh-CN" sz="2800" dirty="0">
                <a:solidFill>
                  <a:srgbClr val="0000FF"/>
                </a:solidFill>
                <a:highlight>
                  <a:srgbClr val="FFFF00"/>
                </a:highlight>
                <a:ea typeface="楷体" charset="-122"/>
                <a:cs typeface="+mn-lt"/>
                <a:sym typeface="+mn-ea"/>
              </a:rPr>
              <a:t>x.cno</a:t>
            </a:r>
            <a:r>
              <a:rPr lang="en-US" altLang="zh-CN" sz="2800" dirty="0">
                <a:solidFill>
                  <a:srgbClr val="0000FF"/>
                </a:solidFill>
                <a:ea typeface="楷体" charset="-122"/>
                <a:cs typeface="+mn-lt"/>
                <a:sym typeface="+mn-ea"/>
              </a:rPr>
              <a:t>” </a:t>
            </a:r>
            <a:r>
              <a:rPr lang="zh-CN" altLang="en-US" sz="2800" dirty="0">
                <a:solidFill>
                  <a:srgbClr val="0000FF"/>
                </a:solidFill>
                <a:ea typeface="楷体" charset="-122"/>
                <a:cs typeface="+mn-lt"/>
                <a:sym typeface="+mn-ea"/>
              </a:rPr>
              <a:t>就可以被表示为：</a:t>
            </a:r>
            <a:endParaRPr lang="zh-CN" altLang="en-US" sz="2800" dirty="0">
              <a:solidFill>
                <a:srgbClr val="0000FF"/>
              </a:solidFill>
              <a:ea typeface="楷体" charset="-122"/>
              <a:cs typeface="+mn-lt"/>
              <a:sym typeface="+mn-ea"/>
            </a:endParaRPr>
          </a:p>
          <a:p>
            <a:pPr marL="914400" lvl="2" indent="0">
              <a:lnSpc>
                <a:spcPct val="100000"/>
              </a:lnSpc>
              <a:spcBef>
                <a:spcPts val="0"/>
              </a:spcBef>
              <a:buNone/>
            </a:pPr>
            <a:r>
              <a:rPr lang="en-US" sz="2800" dirty="0">
                <a:solidFill>
                  <a:srgbClr val="FF0000"/>
                </a:solidFill>
                <a:ea typeface="楷体" charset="-122"/>
                <a:cs typeface="+mn-lt"/>
                <a:sym typeface="+mn-ea"/>
              </a:rPr>
              <a:t>NOT EXISTS ( </a:t>
            </a:r>
            <a:r>
              <a:rPr lang="en-US" sz="2800" i="1" dirty="0">
                <a:solidFill>
                  <a:srgbClr val="FF0000"/>
                </a:solidFill>
                <a:ea typeface="楷体" charset="-122"/>
                <a:cs typeface="+mn-lt"/>
                <a:sym typeface="+mn-ea"/>
              </a:rPr>
              <a:t>q</a:t>
            </a:r>
            <a:r>
              <a:rPr lang="en-US" sz="2800" i="1" baseline="-25000" dirty="0">
                <a:solidFill>
                  <a:srgbClr val="FF0000"/>
                </a:solidFill>
                <a:ea typeface="楷体" charset="-122"/>
                <a:cs typeface="+mn-lt"/>
                <a:sym typeface="+mn-ea"/>
              </a:rPr>
              <a:t>1</a:t>
            </a:r>
            <a:r>
              <a:rPr lang="en-US" sz="2800" dirty="0">
                <a:solidFill>
                  <a:srgbClr val="FF0000"/>
                </a:solidFill>
                <a:ea typeface="楷体" charset="-122"/>
                <a:cs typeface="+mn-lt"/>
                <a:sym typeface="+mn-ea"/>
              </a:rPr>
              <a:t> )</a:t>
            </a:r>
            <a:endParaRPr lang="en-US" altLang="en-US" sz="2800" u="sng" dirty="0">
              <a:solidFill>
                <a:srgbClr val="FF0000"/>
              </a:solidFill>
              <a:ea typeface="楷体" charset="-122"/>
              <a:cs typeface="+mn-lt"/>
              <a:sym typeface="+mn-ea"/>
            </a:endParaRPr>
          </a:p>
        </p:txBody>
      </p:sp>
      <p:sp>
        <p:nvSpPr>
          <p:cNvPr id="2" name="文本占位符 7170"/>
          <p:cNvSpPr>
            <a:spLocks noGrp="1"/>
          </p:cNvSpPr>
          <p:nvPr>
            <p:custDataLst>
              <p:tags r:id="rId1"/>
            </p:custDataLst>
          </p:nvPr>
        </p:nvSpPr>
        <p:spPr>
          <a:xfrm>
            <a:off x="424815" y="1343660"/>
            <a:ext cx="11343005" cy="953135"/>
          </a:xfrm>
          <a:prstGeom prst="rect">
            <a:avLst/>
          </a:prstGeom>
          <a:noFill/>
          <a:ln w="9525">
            <a:noFill/>
          </a:ln>
        </p:spPr>
        <p:txBody>
          <a:bodyPr wrap="square" anchor="t">
            <a:spAutoFit/>
          </a:bodyPr>
          <a:lstStyle>
            <a:lvl1pPr marL="342900" lvl="0" indent="-342900" algn="l" defTabSz="914400" eaLnBrk="0" fontAlgn="base" latinLnBrk="0" hangingPunct="0">
              <a:lnSpc>
                <a:spcPct val="110000"/>
              </a:lnSpc>
              <a:spcBef>
                <a:spcPts val="0"/>
              </a:spcBef>
              <a:spcAft>
                <a:spcPts val="0"/>
              </a:spcAft>
              <a:buClr>
                <a:srgbClr val="C00000"/>
              </a:buClr>
              <a:buSzPct val="85000"/>
              <a:buFont typeface="Wingdings" panose="05000000000000000000" pitchFamily="2" charset="2"/>
              <a:buChar char="q"/>
              <a:defRPr sz="2400" b="1" i="0" u="none" kern="1200" baseline="0">
                <a:solidFill>
                  <a:schemeClr val="accent6"/>
                </a:solidFill>
                <a:latin typeface="+mn-lt"/>
                <a:ea typeface="楷体" charset="-122"/>
                <a:cs typeface="+mn-cs"/>
              </a:defRPr>
            </a:lvl1pPr>
            <a:lvl2pPr marL="742950" lvl="1" indent="-285750" algn="l" defTabSz="914400" eaLnBrk="0" fontAlgn="base" latinLnBrk="0" hangingPunct="0">
              <a:lnSpc>
                <a:spcPct val="110000"/>
              </a:lnSpc>
              <a:spcBef>
                <a:spcPts val="1000"/>
              </a:spcBef>
              <a:spcAft>
                <a:spcPts val="0"/>
              </a:spcAft>
              <a:buClr>
                <a:srgbClr val="C00000"/>
              </a:buClr>
              <a:buSzPct val="85000"/>
              <a:buFont typeface="Wingdings" panose="05000000000000000000" pitchFamily="2" charset="2"/>
              <a:buChar char="Ø"/>
              <a:defRPr sz="2400" b="1" i="0" u="none" kern="1200" baseline="0">
                <a:solidFill>
                  <a:schemeClr val="accent6"/>
                </a:solidFill>
                <a:latin typeface="+mn-lt"/>
                <a:ea typeface="楷体" charset="-122"/>
                <a:cs typeface="+mn-cs"/>
              </a:defRPr>
            </a:lvl2pPr>
            <a:lvl3pPr marL="1143000" lvl="2" indent="-228600" algn="l" defTabSz="914400" eaLnBrk="0" fontAlgn="base" latinLnBrk="0" hangingPunct="0">
              <a:lnSpc>
                <a:spcPct val="110000"/>
              </a:lnSpc>
              <a:spcBef>
                <a:spcPts val="0"/>
              </a:spcBef>
              <a:spcAft>
                <a:spcPts val="0"/>
              </a:spcAft>
              <a:buClr>
                <a:srgbClr val="C00000"/>
              </a:buClr>
              <a:buSzPct val="85000"/>
              <a:buFont typeface="Wingdings" panose="05000000000000000000" charset="0"/>
              <a:buChar char="§"/>
              <a:defRPr sz="2400" b="1" i="0" u="none" kern="1200" baseline="0">
                <a:solidFill>
                  <a:schemeClr val="accent6"/>
                </a:solidFill>
                <a:latin typeface="+mn-lt"/>
                <a:ea typeface="楷体" charset="-122"/>
                <a:cs typeface="+mn-cs"/>
              </a:defRPr>
            </a:lvl3pPr>
            <a:lvl4pPr marL="1600200" lvl="3" indent="-228600" algn="l" defTabSz="914400" eaLnBrk="0" fontAlgn="base" latinLnBrk="0" hangingPunct="0">
              <a:lnSpc>
                <a:spcPct val="110000"/>
              </a:lnSpc>
              <a:spcBef>
                <a:spcPts val="0"/>
              </a:spcBef>
              <a:spcAft>
                <a:spcPts val="0"/>
              </a:spcAft>
              <a:buClr>
                <a:srgbClr val="C00000"/>
              </a:buClr>
              <a:buSzPct val="85000"/>
              <a:buFont typeface="Arial" panose="020B0604020202090204" pitchFamily="34" charset="0"/>
              <a:buChar char="‒"/>
              <a:defRPr sz="2400" b="1" i="0" u="none" kern="1200" baseline="0">
                <a:solidFill>
                  <a:schemeClr val="accent6"/>
                </a:solidFill>
                <a:latin typeface="+mn-lt"/>
                <a:ea typeface="楷体" charset="-122"/>
                <a:cs typeface="+mn-cs"/>
              </a:defRPr>
            </a:lvl4pPr>
            <a:lvl5pPr marL="2057400" lvl="4" indent="-228600" algn="l" defTabSz="914400" eaLnBrk="0" fontAlgn="base" latinLnBrk="0" hangingPunct="0">
              <a:lnSpc>
                <a:spcPct val="110000"/>
              </a:lnSpc>
              <a:spcBef>
                <a:spcPts val="0"/>
              </a:spcBef>
              <a:spcAft>
                <a:spcPts val="0"/>
              </a:spcAft>
              <a:buClr>
                <a:srgbClr val="C00000"/>
              </a:buClr>
              <a:buSzPct val="85000"/>
              <a:buFont typeface="Wingdings" panose="05000000000000000000" charset="0"/>
              <a:buChar char=""/>
              <a:defRPr sz="2400" b="1" i="0" u="none" kern="1200" baseline="0">
                <a:solidFill>
                  <a:schemeClr val="accent6"/>
                </a:solidFill>
                <a:latin typeface="+mn-lt"/>
                <a:ea typeface="楷体" charset="-122"/>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a:lnSpc>
                <a:spcPct val="100000"/>
              </a:lnSpc>
            </a:pPr>
            <a:r>
              <a:rPr lang="zh-CN" altLang="en-US" sz="2800" dirty="0">
                <a:solidFill>
                  <a:srgbClr val="0000FF"/>
                </a:solidFill>
                <a:cs typeface="+mn-lt"/>
              </a:rPr>
              <a:t>根据前一页的分析，我们可以构造出一个三层的嵌套查询，来表示本题的查询要求。</a:t>
            </a:r>
            <a:endParaRPr lang="zh-CN" altLang="en-US" sz="2800" dirty="0">
              <a:solidFill>
                <a:srgbClr val="0000FF"/>
              </a:solidFill>
              <a:cs typeface="+mn-lt"/>
            </a:endParaRPr>
          </a:p>
        </p:txBody>
      </p:sp>
      <p:sp>
        <p:nvSpPr>
          <p:cNvPr id="5" name="灯片编号占位符 4"/>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
        <p:nvSpPr>
          <p:cNvPr id="12" name="Rectangle 3"/>
          <p:cNvSpPr>
            <a:spLocks noGrp="1"/>
          </p:cNvSpPr>
          <p:nvPr>
            <p:ph idx="1"/>
          </p:nvPr>
        </p:nvSpPr>
        <p:spPr>
          <a:xfrm>
            <a:off x="424180" y="687070"/>
            <a:ext cx="11343005" cy="565150"/>
          </a:xfrm>
          <a:solidFill>
            <a:schemeClr val="accent3">
              <a:lumMod val="20000"/>
              <a:lumOff val="80000"/>
            </a:schemeClr>
          </a:solidFill>
        </p:spPr>
        <p:txBody>
          <a:bodyPr wrap="square" anchor="t">
            <a:spAutoFit/>
          </a:bodyPr>
          <a:p>
            <a:pPr eaLnBrk="1" hangingPunct="1"/>
            <a:r>
              <a:rPr lang="zh-CN" altLang="en-US" sz="2800" dirty="0"/>
              <a:t>查询至少修读了学号为</a:t>
            </a:r>
            <a:r>
              <a:rPr lang="en-US" altLang="x-none" sz="2800" dirty="0"/>
              <a:t>S4</a:t>
            </a:r>
            <a:r>
              <a:rPr lang="zh-CN" altLang="en-US" sz="2800" dirty="0"/>
              <a:t>的学生所修读</a:t>
            </a:r>
            <a:r>
              <a:rPr lang="zh-CN" altLang="en-US" sz="2800" dirty="0"/>
              <a:t>过的所有课程的学生的学号</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blinds(horizontal)">
                                      <p:cBhvr>
                                        <p:cTn id="7" dur="500"/>
                                        <p:tgtEl>
                                          <p:spTgt spid="7170">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170">
                                            <p:txEl>
                                              <p:pRg st="1" end="1"/>
                                            </p:txEl>
                                          </p:spTgt>
                                        </p:tgtEl>
                                        <p:attrNameLst>
                                          <p:attrName>style.visibility</p:attrName>
                                        </p:attrNameLst>
                                      </p:cBhvr>
                                      <p:to>
                                        <p:strVal val="visible"/>
                                      </p:to>
                                    </p:set>
                                    <p:animEffect transition="in" filter="blinds(horizontal)">
                                      <p:cBhvr>
                                        <p:cTn id="10" dur="500"/>
                                        <p:tgtEl>
                                          <p:spTgt spid="717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172"/>
                                        </p:tgtEl>
                                        <p:attrNameLst>
                                          <p:attrName>style.visibility</p:attrName>
                                        </p:attrNameLst>
                                      </p:cBhvr>
                                      <p:to>
                                        <p:strVal val="visible"/>
                                      </p:to>
                                    </p:set>
                                    <p:animEffect transition="in" filter="blinds(horizontal)">
                                      <p:cBhvr>
                                        <p:cTn id="15" dur="500"/>
                                        <p:tgtEl>
                                          <p:spTgt spid="717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ldLvl="0" animBg="1"/>
      <p:bldP spid="3" grpId="0"/>
      <p:bldP spid="7170"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谓词</a:t>
            </a:r>
            <a:r>
              <a:rPr lang="en-US" altLang="x-none" dirty="0">
                <a:sym typeface="+mn-ea"/>
              </a:rPr>
              <a:t>EXISTS</a:t>
            </a:r>
            <a:r>
              <a:rPr lang="zh-CN" altLang="en-US" dirty="0">
                <a:sym typeface="+mn-ea"/>
              </a:rPr>
              <a:t>在复杂查询中的使用</a:t>
            </a:r>
            <a:r>
              <a:rPr lang="zh-CN" altLang="en-US" dirty="0">
                <a:sym typeface="+mn-ea"/>
              </a:rPr>
              <a:t>（</a:t>
            </a:r>
            <a:r>
              <a:rPr lang="en-US" altLang="zh-CN" dirty="0">
                <a:sym typeface="+mn-ea"/>
              </a:rPr>
              <a:t>4</a:t>
            </a:r>
            <a:r>
              <a:rPr lang="zh-CN" altLang="en-US" dirty="0">
                <a:sym typeface="+mn-ea"/>
              </a:rPr>
              <a:t>）</a:t>
            </a:r>
            <a:endParaRPr lang="zh-CN" altLang="en-US"/>
          </a:p>
        </p:txBody>
      </p:sp>
      <p:sp>
        <p:nvSpPr>
          <p:cNvPr id="8194" name="文本占位符 8194"/>
          <p:cNvSpPr>
            <a:spLocks noGrp="1"/>
          </p:cNvSpPr>
          <p:nvPr>
            <p:ph idx="4294967295"/>
          </p:nvPr>
        </p:nvSpPr>
        <p:spPr>
          <a:xfrm>
            <a:off x="424180" y="1397000"/>
            <a:ext cx="11342370" cy="2163445"/>
          </a:xfrm>
        </p:spPr>
        <p:txBody>
          <a:bodyPr wrap="square" anchor="t">
            <a:spAutoFit/>
          </a:bodyPr>
          <a:p>
            <a:pPr>
              <a:lnSpc>
                <a:spcPct val="120000"/>
              </a:lnSpc>
            </a:pPr>
            <a:r>
              <a:rPr lang="zh-CN" altLang="en-US" sz="2800" dirty="0">
                <a:solidFill>
                  <a:srgbClr val="0000FF"/>
                </a:solidFill>
                <a:cs typeface="+mn-lt"/>
              </a:rPr>
              <a:t>其次，利用子查询</a:t>
            </a:r>
            <a:r>
              <a:rPr lang="en-US" altLang="x-none" sz="2800" i="1" dirty="0">
                <a:solidFill>
                  <a:srgbClr val="0000FF"/>
                </a:solidFill>
                <a:cs typeface="+mn-lt"/>
              </a:rPr>
              <a:t>q</a:t>
            </a:r>
            <a:r>
              <a:rPr lang="en-US" altLang="x-none" sz="2800" i="1" baseline="-25000" dirty="0">
                <a:solidFill>
                  <a:srgbClr val="0000FF"/>
                </a:solidFill>
                <a:cs typeface="+mn-lt"/>
              </a:rPr>
              <a:t>1</a:t>
            </a:r>
            <a:r>
              <a:rPr lang="zh-CN" altLang="en-US" sz="2800" dirty="0">
                <a:solidFill>
                  <a:srgbClr val="0000FF"/>
                </a:solidFill>
                <a:cs typeface="+mn-lt"/>
              </a:rPr>
              <a:t>可以构造出第二个子查询：</a:t>
            </a:r>
            <a:endParaRPr lang="zh-CN" altLang="en-US" sz="2800" dirty="0">
              <a:solidFill>
                <a:srgbClr val="0000FF"/>
              </a:solidFill>
              <a:cs typeface="+mn-lt"/>
            </a:endParaRPr>
          </a:p>
          <a:p>
            <a:pPr lvl="1">
              <a:lnSpc>
                <a:spcPct val="120000"/>
              </a:lnSpc>
              <a:buFont typeface="Wingdings" panose="05000000000000000000" charset="0"/>
              <a:buChar char="Ø"/>
            </a:pPr>
            <a:r>
              <a:rPr lang="zh-CN" altLang="zh-CN" sz="2800" dirty="0">
                <a:solidFill>
                  <a:srgbClr val="0000FF"/>
                </a:solidFill>
                <a:cs typeface="+mn-lt"/>
              </a:rPr>
              <a:t>查询满足以下条件的选课元组</a:t>
            </a:r>
            <a:r>
              <a:rPr lang="en-US" altLang="zh-CN" sz="2800" dirty="0">
                <a:solidFill>
                  <a:srgbClr val="0000FF"/>
                </a:solidFill>
                <a:cs typeface="+mn-lt"/>
              </a:rPr>
              <a:t>x</a:t>
            </a:r>
            <a:r>
              <a:rPr lang="zh-CN" altLang="en-US" sz="2800" dirty="0">
                <a:solidFill>
                  <a:srgbClr val="0000FF"/>
                </a:solidFill>
                <a:cs typeface="+mn-lt"/>
              </a:rPr>
              <a:t>：</a:t>
            </a:r>
            <a:endParaRPr lang="zh-CN" altLang="en-US" sz="2800" dirty="0">
              <a:solidFill>
                <a:srgbClr val="0000FF"/>
              </a:solidFill>
              <a:cs typeface="+mn-lt"/>
            </a:endParaRPr>
          </a:p>
          <a:p>
            <a:pPr marL="1489075" lvl="2" indent="-457200" algn="l">
              <a:lnSpc>
                <a:spcPct val="120000"/>
              </a:lnSpc>
              <a:spcBef>
                <a:spcPts val="20"/>
              </a:spcBef>
              <a:spcAft>
                <a:spcPts val="0"/>
              </a:spcAft>
              <a:buClr>
                <a:srgbClr val="C00000"/>
              </a:buClr>
              <a:buFont typeface="Wingdings" panose="05000000000000000000" charset="0"/>
              <a:buChar char="§"/>
            </a:pPr>
            <a:r>
              <a:rPr lang="en-US" altLang="zh-CN" sz="2800" dirty="0">
                <a:solidFill>
                  <a:srgbClr val="0000FF"/>
                </a:solidFill>
                <a:cs typeface="+mn-lt"/>
                <a:sym typeface="+mn-ea"/>
              </a:rPr>
              <a:t>x</a:t>
            </a:r>
            <a:r>
              <a:rPr lang="zh-CN" altLang="en-US" sz="2800" dirty="0">
                <a:solidFill>
                  <a:srgbClr val="0000FF"/>
                </a:solidFill>
                <a:cs typeface="+mn-lt"/>
                <a:sym typeface="+mn-ea"/>
              </a:rPr>
              <a:t>是学生</a:t>
            </a:r>
            <a:r>
              <a:rPr lang="en-US" altLang="zh-CN" sz="2800" dirty="0">
                <a:solidFill>
                  <a:srgbClr val="0000FF"/>
                </a:solidFill>
                <a:cs typeface="+mn-lt"/>
                <a:sym typeface="+mn-ea"/>
              </a:rPr>
              <a:t>S4</a:t>
            </a:r>
            <a:r>
              <a:rPr lang="zh-CN" altLang="en-US" sz="2800" dirty="0">
                <a:solidFill>
                  <a:srgbClr val="0000FF"/>
                </a:solidFill>
                <a:cs typeface="+mn-lt"/>
                <a:sym typeface="+mn-ea"/>
              </a:rPr>
              <a:t>的选课记录</a:t>
            </a:r>
            <a:endParaRPr lang="zh-CN" altLang="zh-CN" sz="2800" dirty="0">
              <a:solidFill>
                <a:srgbClr val="0000FF"/>
              </a:solidFill>
              <a:cs typeface="+mn-lt"/>
            </a:endParaRPr>
          </a:p>
          <a:p>
            <a:pPr marL="1489075" lvl="2" indent="-457200" algn="l">
              <a:lnSpc>
                <a:spcPct val="120000"/>
              </a:lnSpc>
              <a:spcBef>
                <a:spcPts val="20"/>
              </a:spcBef>
              <a:spcAft>
                <a:spcPts val="0"/>
              </a:spcAft>
              <a:buClr>
                <a:srgbClr val="C00000"/>
              </a:buClr>
              <a:buFont typeface="Wingdings" panose="05000000000000000000" charset="0"/>
              <a:buChar char="§"/>
            </a:pPr>
            <a:r>
              <a:rPr lang="zh-CN" altLang="en-US" sz="2800" dirty="0">
                <a:solidFill>
                  <a:srgbClr val="0000FF"/>
                </a:solidFill>
                <a:cs typeface="+mn-lt"/>
                <a:sym typeface="+mn-ea"/>
              </a:rPr>
              <a:t>且</a:t>
            </a:r>
            <a:r>
              <a:rPr lang="en-US" altLang="zh-CN" sz="2800" dirty="0">
                <a:solidFill>
                  <a:srgbClr val="0000FF"/>
                </a:solidFill>
                <a:cs typeface="+mn-lt"/>
                <a:sym typeface="+mn-ea"/>
              </a:rPr>
              <a:t>  </a:t>
            </a:r>
            <a:r>
              <a:rPr lang="zh-CN" altLang="en-US" sz="2800" dirty="0">
                <a:solidFill>
                  <a:srgbClr val="0000FF"/>
                </a:solidFill>
                <a:cs typeface="+mn-lt"/>
                <a:sym typeface="+mn-ea"/>
              </a:rPr>
              <a:t>学生</a:t>
            </a:r>
            <a:r>
              <a:rPr lang="en-US" altLang="zh-CN" sz="2800" dirty="0">
                <a:solidFill>
                  <a:srgbClr val="0000FF"/>
                </a:solidFill>
                <a:cs typeface="+mn-lt"/>
                <a:sym typeface="+mn-ea"/>
              </a:rPr>
              <a:t>S</a:t>
            </a:r>
            <a:r>
              <a:rPr lang="zh-CN" altLang="en-US" sz="2800" dirty="0">
                <a:solidFill>
                  <a:srgbClr val="0000FF"/>
                </a:solidFill>
                <a:cs typeface="+mn-lt"/>
                <a:sym typeface="+mn-ea"/>
              </a:rPr>
              <a:t>没有选修过其中的课程 </a:t>
            </a:r>
            <a:r>
              <a:rPr lang="en-US" altLang="zh-CN" sz="2800" dirty="0">
                <a:solidFill>
                  <a:srgbClr val="0000FF"/>
                </a:solidFill>
                <a:cs typeface="+mn-lt"/>
                <a:sym typeface="+mn-ea"/>
              </a:rPr>
              <a:t>x.cno</a:t>
            </a:r>
            <a:endParaRPr lang="en-US" altLang="zh-CN" sz="2800" dirty="0">
              <a:solidFill>
                <a:srgbClr val="0000FF"/>
              </a:solidFill>
              <a:cs typeface="+mn-lt"/>
              <a:sym typeface="+mn-ea"/>
            </a:endParaRPr>
          </a:p>
        </p:txBody>
      </p:sp>
      <p:sp>
        <p:nvSpPr>
          <p:cNvPr id="8196" name="矩形 8195"/>
          <p:cNvSpPr/>
          <p:nvPr/>
        </p:nvSpPr>
        <p:spPr>
          <a:xfrm>
            <a:off x="1812290" y="3742690"/>
            <a:ext cx="8229600" cy="1511935"/>
          </a:xfrm>
          <a:prstGeom prst="rect">
            <a:avLst/>
          </a:prstGeom>
          <a:noFill/>
          <a:ln w="9525" cap="flat" cmpd="sng">
            <a:solidFill>
              <a:schemeClr val="tx1"/>
            </a:solidFill>
            <a:prstDash val="solid"/>
            <a:miter/>
            <a:headEnd type="none" w="med" len="med"/>
            <a:tailEnd type="none" w="med" len="med"/>
          </a:ln>
        </p:spPr>
        <p:txBody>
          <a:bodyPr anchor="t">
            <a:spAutoFit/>
          </a:bodyPr>
          <a:p>
            <a:pPr marL="285750" lvl="0" indent="-285750" algn="l">
              <a:spcBef>
                <a:spcPct val="20000"/>
              </a:spcBef>
              <a:buClr>
                <a:schemeClr val="accent1"/>
              </a:buClr>
              <a:buFont typeface="Arial" panose="020B0604020202090204" pitchFamily="34" charset="0"/>
              <a:buNone/>
            </a:pPr>
            <a:r>
              <a:rPr lang="en-US" altLang="x-none" sz="2800" b="1" i="1" dirty="0">
                <a:solidFill>
                  <a:srgbClr val="0000FF"/>
                </a:solidFill>
                <a:latin typeface="+mn-lt"/>
                <a:ea typeface="楷体" charset="-122"/>
                <a:cs typeface="+mn-lt"/>
              </a:rPr>
              <a:t>q</a:t>
            </a:r>
            <a:r>
              <a:rPr lang="en-US" altLang="x-none" sz="2800" b="1" i="1" baseline="-25000" dirty="0">
                <a:solidFill>
                  <a:srgbClr val="0000FF"/>
                </a:solidFill>
                <a:latin typeface="+mn-lt"/>
                <a:ea typeface="楷体" charset="-122"/>
                <a:cs typeface="+mn-lt"/>
              </a:rPr>
              <a:t>2</a:t>
            </a:r>
            <a:r>
              <a:rPr lang="en-US" altLang="x-none" sz="2800" b="1" dirty="0">
                <a:solidFill>
                  <a:srgbClr val="0000FF"/>
                </a:solidFill>
                <a:latin typeface="+mn-lt"/>
                <a:ea typeface="楷体" charset="-122"/>
                <a:cs typeface="+mn-lt"/>
              </a:rPr>
              <a:t>: 	</a:t>
            </a:r>
            <a:r>
              <a:rPr lang="en-US" altLang="x-none" sz="2800" b="1" dirty="0">
                <a:solidFill>
                  <a:srgbClr val="FF0000"/>
                </a:solidFill>
                <a:latin typeface="+mn-lt"/>
                <a:ea typeface="楷体" charset="-122"/>
                <a:cs typeface="+mn-lt"/>
              </a:rPr>
              <a:t>select  *</a:t>
            </a:r>
            <a:endParaRPr lang="en-US" altLang="x-none" sz="2800" b="1" dirty="0">
              <a:solidFill>
                <a:srgbClr val="FF0000"/>
              </a:solidFill>
              <a:latin typeface="+mn-lt"/>
              <a:ea typeface="楷体" charset="-122"/>
              <a:cs typeface="+mn-lt"/>
            </a:endParaRPr>
          </a:p>
          <a:p>
            <a:pPr marL="285750" lvl="0" indent="-285750" algn="l">
              <a:spcBef>
                <a:spcPct val="20000"/>
              </a:spcBef>
              <a:buClr>
                <a:schemeClr val="accent1"/>
              </a:buClr>
              <a:buFont typeface="Arial" panose="020B0604020202090204" pitchFamily="34" charset="0"/>
              <a:buNone/>
            </a:pPr>
            <a:r>
              <a:rPr lang="en-US" altLang="x-none" sz="2800" b="1" dirty="0">
                <a:solidFill>
                  <a:srgbClr val="FF0000"/>
                </a:solidFill>
                <a:latin typeface="+mn-lt"/>
                <a:ea typeface="楷体" charset="-122"/>
                <a:cs typeface="+mn-lt"/>
              </a:rPr>
              <a:t>		from  SC  x</a:t>
            </a:r>
            <a:endParaRPr lang="en-US" altLang="x-none" sz="2800" b="1" dirty="0">
              <a:solidFill>
                <a:srgbClr val="FF0000"/>
              </a:solidFill>
              <a:latin typeface="+mn-lt"/>
              <a:ea typeface="楷体" charset="-122"/>
              <a:cs typeface="+mn-lt"/>
            </a:endParaRPr>
          </a:p>
          <a:p>
            <a:pPr marL="285750" lvl="0" indent="-285750" algn="l">
              <a:lnSpc>
                <a:spcPct val="90000"/>
              </a:lnSpc>
              <a:spcBef>
                <a:spcPct val="20000"/>
              </a:spcBef>
              <a:buClr>
                <a:schemeClr val="accent1"/>
              </a:buClr>
              <a:buFont typeface="Arial" panose="020B0604020202090204" pitchFamily="34" charset="0"/>
              <a:buNone/>
            </a:pPr>
            <a:r>
              <a:rPr lang="en-US" altLang="x-none" sz="2800" b="1" dirty="0">
                <a:solidFill>
                  <a:srgbClr val="FF0000"/>
                </a:solidFill>
                <a:latin typeface="+mn-lt"/>
                <a:ea typeface="楷体" charset="-122"/>
                <a:cs typeface="+mn-lt"/>
              </a:rPr>
              <a:t>		where  </a:t>
            </a:r>
            <a:r>
              <a:rPr lang="en-US" altLang="zh-CN" sz="2800" b="1" dirty="0">
                <a:solidFill>
                  <a:srgbClr val="FF0000"/>
                </a:solidFill>
                <a:latin typeface="+mn-lt"/>
                <a:ea typeface="楷体" charset="-122"/>
                <a:cs typeface="+mn-lt"/>
              </a:rPr>
              <a:t>x.sno='S4'  and  </a:t>
            </a:r>
            <a:r>
              <a:rPr lang="en-US" altLang="x-none" sz="2800" b="1" dirty="0">
                <a:solidFill>
                  <a:srgbClr val="FF0000"/>
                </a:solidFill>
                <a:latin typeface="+mn-lt"/>
                <a:ea typeface="楷体" charset="-122"/>
                <a:cs typeface="+mn-lt"/>
              </a:rPr>
              <a:t>NOT EXISTS ( </a:t>
            </a:r>
            <a:r>
              <a:rPr lang="en-US" altLang="x-none" sz="2800" b="1" i="1" dirty="0">
                <a:solidFill>
                  <a:srgbClr val="FF0000"/>
                </a:solidFill>
                <a:latin typeface="+mn-lt"/>
                <a:ea typeface="楷体" charset="-122"/>
                <a:cs typeface="+mn-lt"/>
              </a:rPr>
              <a:t>q</a:t>
            </a:r>
            <a:r>
              <a:rPr lang="en-US" altLang="x-none" sz="2800" b="1" i="1" baseline="-25000" dirty="0">
                <a:solidFill>
                  <a:srgbClr val="FF0000"/>
                </a:solidFill>
                <a:latin typeface="+mn-lt"/>
                <a:ea typeface="楷体" charset="-122"/>
                <a:cs typeface="+mn-lt"/>
              </a:rPr>
              <a:t>1</a:t>
            </a:r>
            <a:r>
              <a:rPr lang="en-US" altLang="x-none" sz="2800" b="1" dirty="0">
                <a:solidFill>
                  <a:srgbClr val="FF0000"/>
                </a:solidFill>
                <a:latin typeface="+mn-lt"/>
                <a:ea typeface="楷体" charset="-122"/>
                <a:cs typeface="+mn-lt"/>
              </a:rPr>
              <a:t> )</a:t>
            </a:r>
            <a:endParaRPr lang="en-US" altLang="x-none" sz="2800" b="1" dirty="0">
              <a:solidFill>
                <a:srgbClr val="FF0000"/>
              </a:solidFill>
              <a:latin typeface="+mn-lt"/>
              <a:ea typeface="楷体" charset="-122"/>
              <a:cs typeface="+mn-lt"/>
            </a:endParaRPr>
          </a:p>
        </p:txBody>
      </p:sp>
      <p:sp>
        <p:nvSpPr>
          <p:cNvPr id="3" name="文本占位符 7170"/>
          <p:cNvSpPr>
            <a:spLocks noGrp="1"/>
          </p:cNvSpPr>
          <p:nvPr/>
        </p:nvSpPr>
        <p:spPr>
          <a:xfrm>
            <a:off x="423545" y="5370195"/>
            <a:ext cx="11343005" cy="1210945"/>
          </a:xfrm>
          <a:prstGeom prst="rect">
            <a:avLst/>
          </a:prstGeom>
          <a:noFill/>
          <a:ln w="9525">
            <a:noFill/>
          </a:ln>
        </p:spPr>
        <p:txBody>
          <a:bodyPr wrap="square" anchor="t">
            <a:sp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a:lnSpc>
                <a:spcPct val="120000"/>
              </a:lnSpc>
              <a:buClr>
                <a:srgbClr val="C00000"/>
              </a:buClr>
              <a:buSzPct val="85000"/>
            </a:pPr>
            <a:r>
              <a:rPr lang="en-US" altLang="zh-CN" sz="2800" dirty="0">
                <a:solidFill>
                  <a:srgbClr val="0000FF"/>
                </a:solidFill>
                <a:ea typeface="楷体" charset="-122"/>
                <a:cs typeface="+mn-lt"/>
                <a:sym typeface="+mn-ea"/>
              </a:rPr>
              <a:t>“</a:t>
            </a:r>
            <a:r>
              <a:rPr lang="zh-CN" altLang="zh-CN" sz="2800" dirty="0">
                <a:solidFill>
                  <a:srgbClr val="0000FF"/>
                </a:solidFill>
                <a:highlight>
                  <a:srgbClr val="FFFF00"/>
                </a:highlight>
                <a:ea typeface="楷体" charset="-122"/>
                <a:cs typeface="+mn-lt"/>
                <a:sym typeface="+mn-ea"/>
              </a:rPr>
              <a:t>不存在这样的选课元组</a:t>
            </a:r>
            <a:r>
              <a:rPr lang="en-US" altLang="zh-CN" sz="2800" dirty="0">
                <a:solidFill>
                  <a:srgbClr val="0000FF"/>
                </a:solidFill>
                <a:highlight>
                  <a:srgbClr val="FFFF00"/>
                </a:highlight>
                <a:ea typeface="楷体" charset="-122"/>
                <a:cs typeface="+mn-lt"/>
                <a:sym typeface="+mn-ea"/>
              </a:rPr>
              <a:t>x</a:t>
            </a:r>
            <a:r>
              <a:rPr lang="en-US" altLang="zh-CN" sz="2800" dirty="0">
                <a:solidFill>
                  <a:srgbClr val="0000FF"/>
                </a:solidFill>
                <a:ea typeface="楷体" charset="-122"/>
                <a:cs typeface="+mn-lt"/>
                <a:sym typeface="+mn-ea"/>
              </a:rPr>
              <a:t>” </a:t>
            </a:r>
            <a:r>
              <a:rPr lang="zh-CN" altLang="en-US" sz="2800" dirty="0">
                <a:solidFill>
                  <a:srgbClr val="0000FF"/>
                </a:solidFill>
                <a:ea typeface="楷体" charset="-122"/>
                <a:cs typeface="+mn-lt"/>
                <a:sym typeface="+mn-ea"/>
              </a:rPr>
              <a:t>可以被表示为：</a:t>
            </a:r>
            <a:endParaRPr lang="zh-CN" altLang="en-US" sz="2800" dirty="0">
              <a:solidFill>
                <a:srgbClr val="0000FF"/>
              </a:solidFill>
              <a:ea typeface="楷体" charset="-122"/>
              <a:cs typeface="+mn-lt"/>
              <a:sym typeface="+mn-ea"/>
            </a:endParaRPr>
          </a:p>
          <a:p>
            <a:pPr marL="914400" lvl="2" indent="0">
              <a:lnSpc>
                <a:spcPct val="120000"/>
              </a:lnSpc>
              <a:buNone/>
            </a:pPr>
            <a:r>
              <a:rPr lang="en-US" sz="2800" dirty="0">
                <a:solidFill>
                  <a:srgbClr val="FF0000"/>
                </a:solidFill>
                <a:ea typeface="楷体" charset="-122"/>
                <a:cs typeface="+mn-lt"/>
                <a:sym typeface="+mn-ea"/>
              </a:rPr>
              <a:t>NOT EXISTS ( </a:t>
            </a:r>
            <a:r>
              <a:rPr lang="en-US" sz="2800" i="1" dirty="0">
                <a:solidFill>
                  <a:srgbClr val="FF0000"/>
                </a:solidFill>
                <a:ea typeface="楷体" charset="-122"/>
                <a:cs typeface="+mn-lt"/>
                <a:sym typeface="+mn-ea"/>
              </a:rPr>
              <a:t>q</a:t>
            </a:r>
            <a:r>
              <a:rPr lang="en-US" sz="2800" i="1" baseline="-25000" dirty="0">
                <a:solidFill>
                  <a:srgbClr val="FF0000"/>
                </a:solidFill>
                <a:ea typeface="楷体" charset="-122"/>
                <a:cs typeface="+mn-lt"/>
                <a:sym typeface="+mn-ea"/>
              </a:rPr>
              <a:t>2</a:t>
            </a:r>
            <a:r>
              <a:rPr lang="en-US" sz="2800" dirty="0">
                <a:solidFill>
                  <a:srgbClr val="FF0000"/>
                </a:solidFill>
                <a:ea typeface="楷体" charset="-122"/>
                <a:cs typeface="+mn-lt"/>
                <a:sym typeface="+mn-ea"/>
              </a:rPr>
              <a:t> )</a:t>
            </a:r>
            <a:endParaRPr lang="en-US" altLang="en-US" sz="2800" u="sng" dirty="0">
              <a:solidFill>
                <a:srgbClr val="FF0000"/>
              </a:solidFill>
              <a:ea typeface="楷体" charset="-122"/>
              <a:cs typeface="+mn-lt"/>
              <a:sym typeface="+mn-ea"/>
            </a:endParaRPr>
          </a:p>
        </p:txBody>
      </p:sp>
      <p:sp>
        <p:nvSpPr>
          <p:cNvPr id="4" name="灯片编号占位符 3"/>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
        <p:nvSpPr>
          <p:cNvPr id="12" name="Rectangle 3"/>
          <p:cNvSpPr>
            <a:spLocks noGrp="1"/>
          </p:cNvSpPr>
          <p:nvPr>
            <p:ph idx="1"/>
          </p:nvPr>
        </p:nvSpPr>
        <p:spPr>
          <a:xfrm>
            <a:off x="424180" y="687070"/>
            <a:ext cx="11343005" cy="565150"/>
          </a:xfrm>
          <a:solidFill>
            <a:schemeClr val="accent3">
              <a:lumMod val="20000"/>
              <a:lumOff val="80000"/>
            </a:schemeClr>
          </a:solidFill>
        </p:spPr>
        <p:txBody>
          <a:bodyPr wrap="square" anchor="t">
            <a:spAutoFit/>
          </a:bodyPr>
          <a:p>
            <a:pPr eaLnBrk="1" hangingPunct="1"/>
            <a:r>
              <a:rPr lang="zh-CN" altLang="en-US" sz="2800" dirty="0"/>
              <a:t>查询至少修读了学号为</a:t>
            </a:r>
            <a:r>
              <a:rPr lang="en-US" altLang="x-none" sz="2800" dirty="0"/>
              <a:t>S4</a:t>
            </a:r>
            <a:r>
              <a:rPr lang="zh-CN" altLang="en-US" sz="2800" dirty="0"/>
              <a:t>的学生所修读</a:t>
            </a:r>
            <a:r>
              <a:rPr lang="zh-CN" altLang="en-US" sz="2800" dirty="0"/>
              <a:t>过的所有课程的学生的学号</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blinds(horizontal)">
                                      <p:cBhvr>
                                        <p:cTn id="7" dur="500"/>
                                        <p:tgtEl>
                                          <p:spTgt spid="81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ldLvl="0" animBg="1"/>
      <p:bldP spid="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谓词</a:t>
            </a:r>
            <a:r>
              <a:rPr lang="en-US" altLang="x-none" dirty="0">
                <a:sym typeface="+mn-ea"/>
              </a:rPr>
              <a:t>EXISTS</a:t>
            </a:r>
            <a:r>
              <a:rPr lang="zh-CN" altLang="en-US" dirty="0">
                <a:sym typeface="+mn-ea"/>
              </a:rPr>
              <a:t>在复杂查询中的使用</a:t>
            </a:r>
            <a:r>
              <a:rPr lang="zh-CN" altLang="en-US" dirty="0">
                <a:sym typeface="+mn-ea"/>
              </a:rPr>
              <a:t>（</a:t>
            </a:r>
            <a:r>
              <a:rPr lang="en-US" altLang="zh-CN" dirty="0">
                <a:sym typeface="+mn-ea"/>
              </a:rPr>
              <a:t>5</a:t>
            </a:r>
            <a:r>
              <a:rPr lang="zh-CN" altLang="en-US" dirty="0">
                <a:sym typeface="+mn-ea"/>
              </a:rPr>
              <a:t>）</a:t>
            </a:r>
            <a:endParaRPr lang="zh-CN" altLang="en-US"/>
          </a:p>
        </p:txBody>
      </p:sp>
      <p:sp>
        <p:nvSpPr>
          <p:cNvPr id="9218" name="文本占位符 9218"/>
          <p:cNvSpPr>
            <a:spLocks noGrp="1"/>
          </p:cNvSpPr>
          <p:nvPr>
            <p:ph idx="4294967295"/>
          </p:nvPr>
        </p:nvSpPr>
        <p:spPr>
          <a:xfrm>
            <a:off x="424180" y="1478915"/>
            <a:ext cx="11342370" cy="607695"/>
          </a:xfrm>
        </p:spPr>
        <p:txBody>
          <a:bodyPr wrap="square" anchor="t">
            <a:spAutoFit/>
          </a:bodyPr>
          <a:p>
            <a:pPr>
              <a:lnSpc>
                <a:spcPct val="120000"/>
              </a:lnSpc>
            </a:pPr>
            <a:r>
              <a:rPr lang="zh-CN" altLang="en-US" sz="2800" dirty="0">
                <a:solidFill>
                  <a:srgbClr val="0000FF"/>
                </a:solidFill>
                <a:cs typeface="+mn-lt"/>
              </a:rPr>
              <a:t>最后，利用子查询 </a:t>
            </a:r>
            <a:r>
              <a:rPr lang="en-US" altLang="x-none" sz="2800" dirty="0">
                <a:solidFill>
                  <a:srgbClr val="0000FF"/>
                </a:solidFill>
                <a:cs typeface="+mn-lt"/>
              </a:rPr>
              <a:t>q</a:t>
            </a:r>
            <a:r>
              <a:rPr lang="en-US" altLang="x-none" sz="2800" baseline="-25000" dirty="0">
                <a:solidFill>
                  <a:srgbClr val="0000FF"/>
                </a:solidFill>
                <a:cs typeface="+mn-lt"/>
              </a:rPr>
              <a:t>2</a:t>
            </a:r>
            <a:r>
              <a:rPr lang="en-US" altLang="x-none" sz="2800" dirty="0">
                <a:solidFill>
                  <a:srgbClr val="0000FF"/>
                </a:solidFill>
                <a:cs typeface="+mn-lt"/>
              </a:rPr>
              <a:t> </a:t>
            </a:r>
            <a:r>
              <a:rPr lang="zh-CN" altLang="en-US" sz="2800" dirty="0">
                <a:solidFill>
                  <a:srgbClr val="0000FF"/>
                </a:solidFill>
                <a:cs typeface="+mn-lt"/>
              </a:rPr>
              <a:t>作为条件来构造最终的查询命令：</a:t>
            </a:r>
            <a:endParaRPr lang="zh-CN" altLang="en-US" sz="2800" dirty="0">
              <a:solidFill>
                <a:srgbClr val="0000FF"/>
              </a:solidFill>
              <a:cs typeface="+mn-lt"/>
            </a:endParaRPr>
          </a:p>
        </p:txBody>
      </p:sp>
      <p:sp>
        <p:nvSpPr>
          <p:cNvPr id="9220" name="矩形 9219"/>
          <p:cNvSpPr/>
          <p:nvPr/>
        </p:nvSpPr>
        <p:spPr>
          <a:xfrm>
            <a:off x="1825625" y="2313305"/>
            <a:ext cx="8229600" cy="1511935"/>
          </a:xfrm>
          <a:prstGeom prst="rect">
            <a:avLst/>
          </a:prstGeom>
          <a:noFill/>
          <a:ln w="9525" cap="flat" cmpd="sng">
            <a:solidFill>
              <a:schemeClr val="tx1"/>
            </a:solidFill>
            <a:prstDash val="solid"/>
            <a:miter/>
            <a:headEnd type="none" w="med" len="med"/>
            <a:tailEnd type="none" w="med" len="med"/>
          </a:ln>
        </p:spPr>
        <p:txBody>
          <a:bodyPr anchor="t">
            <a:spAutoFit/>
          </a:bodyPr>
          <a:p>
            <a:pPr marL="742950" lvl="1" indent="-285750" algn="l">
              <a:spcBef>
                <a:spcPct val="20000"/>
              </a:spcBef>
              <a:buClr>
                <a:schemeClr val="accent1"/>
              </a:buClr>
              <a:buFont typeface="Arial" panose="020B0604020202090204" pitchFamily="34" charset="0"/>
              <a:buNone/>
            </a:pPr>
            <a:r>
              <a:rPr lang="en-US" altLang="x-none" sz="2800" dirty="0">
                <a:solidFill>
                  <a:srgbClr val="0000FF"/>
                </a:solidFill>
                <a:latin typeface="+mn-lt"/>
                <a:ea typeface="楷体" charset="-122"/>
                <a:cs typeface="+mn-lt"/>
              </a:rPr>
              <a:t>			</a:t>
            </a:r>
            <a:r>
              <a:rPr lang="en-US" altLang="x-none" sz="2800" dirty="0">
                <a:solidFill>
                  <a:srgbClr val="FF0000"/>
                </a:solidFill>
                <a:latin typeface="+mn-lt"/>
                <a:ea typeface="楷体" charset="-122"/>
                <a:cs typeface="+mn-lt"/>
              </a:rPr>
              <a:t>select  S.sno</a:t>
            </a:r>
            <a:endParaRPr lang="en-US" altLang="x-none" sz="2800" dirty="0">
              <a:solidFill>
                <a:srgbClr val="FF0000"/>
              </a:solidFill>
              <a:latin typeface="+mn-lt"/>
              <a:ea typeface="楷体" charset="-122"/>
              <a:cs typeface="+mn-lt"/>
            </a:endParaRPr>
          </a:p>
          <a:p>
            <a:pPr marL="742950" lvl="1" indent="-285750" algn="l">
              <a:spcBef>
                <a:spcPct val="20000"/>
              </a:spcBef>
              <a:buClr>
                <a:schemeClr val="accent1"/>
              </a:buClr>
              <a:buFont typeface="Arial" panose="020B0604020202090204" pitchFamily="34" charset="0"/>
              <a:buNone/>
            </a:pPr>
            <a:r>
              <a:rPr lang="en-US" altLang="x-none" sz="2800" dirty="0">
                <a:solidFill>
                  <a:srgbClr val="FF0000"/>
                </a:solidFill>
                <a:latin typeface="+mn-lt"/>
                <a:ea typeface="楷体" charset="-122"/>
                <a:cs typeface="+mn-lt"/>
              </a:rPr>
              <a:t>			from  S</a:t>
            </a:r>
            <a:endParaRPr lang="en-US" altLang="x-none" sz="2800" dirty="0">
              <a:solidFill>
                <a:srgbClr val="FF0000"/>
              </a:solidFill>
              <a:latin typeface="+mn-lt"/>
              <a:ea typeface="楷体" charset="-122"/>
              <a:cs typeface="+mn-lt"/>
            </a:endParaRPr>
          </a:p>
          <a:p>
            <a:pPr marL="742950" lvl="1" indent="-285750" algn="l">
              <a:lnSpc>
                <a:spcPct val="90000"/>
              </a:lnSpc>
              <a:spcBef>
                <a:spcPct val="20000"/>
              </a:spcBef>
              <a:buClr>
                <a:schemeClr val="accent1"/>
              </a:buClr>
              <a:buFont typeface="Arial" panose="020B0604020202090204" pitchFamily="34" charset="0"/>
              <a:buNone/>
            </a:pPr>
            <a:r>
              <a:rPr lang="en-US" altLang="x-none" sz="2800" dirty="0">
                <a:solidFill>
                  <a:srgbClr val="FF0000"/>
                </a:solidFill>
                <a:latin typeface="+mn-lt"/>
                <a:ea typeface="楷体" charset="-122"/>
                <a:cs typeface="+mn-lt"/>
              </a:rPr>
              <a:t>			where  NOT EXISTS (  </a:t>
            </a:r>
            <a:r>
              <a:rPr lang="en-US" altLang="x-none" sz="2800" i="1" dirty="0">
                <a:solidFill>
                  <a:srgbClr val="FF0000"/>
                </a:solidFill>
                <a:latin typeface="+mn-lt"/>
                <a:ea typeface="楷体" charset="-122"/>
                <a:cs typeface="+mn-lt"/>
              </a:rPr>
              <a:t>q</a:t>
            </a:r>
            <a:r>
              <a:rPr lang="en-US" altLang="x-none" sz="2800" i="1" baseline="-25000" dirty="0">
                <a:solidFill>
                  <a:srgbClr val="FF0000"/>
                </a:solidFill>
                <a:latin typeface="+mn-lt"/>
                <a:ea typeface="楷体" charset="-122"/>
                <a:cs typeface="+mn-lt"/>
              </a:rPr>
              <a:t>2</a:t>
            </a:r>
            <a:r>
              <a:rPr lang="en-US" altLang="x-none" sz="2800" dirty="0">
                <a:solidFill>
                  <a:srgbClr val="FF0000"/>
                </a:solidFill>
                <a:latin typeface="+mn-lt"/>
                <a:ea typeface="楷体" charset="-122"/>
                <a:cs typeface="+mn-lt"/>
              </a:rPr>
              <a:t>  )</a:t>
            </a:r>
            <a:endParaRPr lang="en-US" altLang="x-none" sz="2800" dirty="0">
              <a:solidFill>
                <a:srgbClr val="FF0000"/>
              </a:solidFill>
              <a:latin typeface="+mn-lt"/>
              <a:ea typeface="楷体" charset="-122"/>
              <a:cs typeface="+mn-lt"/>
            </a:endParaRPr>
          </a:p>
        </p:txBody>
      </p:sp>
      <p:sp>
        <p:nvSpPr>
          <p:cNvPr id="10241" name="矩形 10241"/>
          <p:cNvSpPr/>
          <p:nvPr/>
        </p:nvSpPr>
        <p:spPr>
          <a:xfrm>
            <a:off x="424815" y="4076065"/>
            <a:ext cx="11341735" cy="607695"/>
          </a:xfrm>
          <a:prstGeom prst="rect">
            <a:avLst/>
          </a:prstGeom>
          <a:noFill/>
          <a:ln w="9525">
            <a:noFill/>
          </a:ln>
        </p:spPr>
        <p:txBody>
          <a:bodyPr wrap="square" anchor="t">
            <a:spAutoFit/>
          </a:bodyPr>
          <a:p>
            <a:pPr marL="342900" indent="-342900">
              <a:lnSpc>
                <a:spcPct val="120000"/>
              </a:lnSpc>
              <a:spcBef>
                <a:spcPct val="20000"/>
              </a:spcBef>
              <a:buClr>
                <a:srgbClr val="C00000"/>
              </a:buClr>
              <a:buSzPct val="85000"/>
              <a:buFont typeface="Wingdings" panose="05000000000000000000" pitchFamily="2" charset="2"/>
              <a:buChar char="q"/>
            </a:pPr>
            <a:r>
              <a:rPr lang="zh-CN" altLang="en-US" sz="2800" dirty="0">
                <a:solidFill>
                  <a:srgbClr val="0000FF"/>
                </a:solidFill>
                <a:latin typeface="+mn-lt"/>
                <a:ea typeface="楷体" charset="-122"/>
                <a:cs typeface="+mn-lt"/>
              </a:rPr>
              <a:t>将子查询</a:t>
            </a:r>
            <a:r>
              <a:rPr lang="en-US" altLang="x-none" sz="2800" dirty="0">
                <a:solidFill>
                  <a:srgbClr val="0000FF"/>
                </a:solidFill>
                <a:latin typeface="+mn-lt"/>
                <a:ea typeface="楷体" charset="-122"/>
                <a:cs typeface="+mn-lt"/>
              </a:rPr>
              <a:t>q</a:t>
            </a:r>
            <a:r>
              <a:rPr lang="en-US" altLang="x-none" sz="2800" baseline="-25000" dirty="0">
                <a:solidFill>
                  <a:srgbClr val="0000FF"/>
                </a:solidFill>
                <a:latin typeface="+mn-lt"/>
                <a:ea typeface="楷体" charset="-122"/>
                <a:cs typeface="+mn-lt"/>
              </a:rPr>
              <a:t>1</a:t>
            </a:r>
            <a:r>
              <a:rPr lang="zh-CN" altLang="en-US" sz="2800" dirty="0">
                <a:solidFill>
                  <a:srgbClr val="0000FF"/>
                </a:solidFill>
                <a:latin typeface="+mn-lt"/>
                <a:ea typeface="楷体" charset="-122"/>
                <a:cs typeface="+mn-lt"/>
              </a:rPr>
              <a:t>和</a:t>
            </a:r>
            <a:r>
              <a:rPr lang="en-US" altLang="x-none" sz="2800" dirty="0">
                <a:solidFill>
                  <a:srgbClr val="0000FF"/>
                </a:solidFill>
                <a:latin typeface="+mn-lt"/>
                <a:ea typeface="楷体" charset="-122"/>
                <a:cs typeface="+mn-lt"/>
              </a:rPr>
              <a:t>q</a:t>
            </a:r>
            <a:r>
              <a:rPr lang="en-US" altLang="x-none" sz="2800" baseline="-25000" dirty="0">
                <a:solidFill>
                  <a:srgbClr val="0000FF"/>
                </a:solidFill>
                <a:latin typeface="+mn-lt"/>
                <a:ea typeface="楷体" charset="-122"/>
                <a:cs typeface="+mn-lt"/>
              </a:rPr>
              <a:t>2</a:t>
            </a:r>
            <a:r>
              <a:rPr lang="zh-CN" altLang="en-US" sz="2800" dirty="0">
                <a:solidFill>
                  <a:srgbClr val="0000FF"/>
                </a:solidFill>
                <a:latin typeface="+mn-lt"/>
                <a:ea typeface="楷体" charset="-122"/>
                <a:cs typeface="+mn-lt"/>
              </a:rPr>
              <a:t>代入后得到如下的查询命令</a:t>
            </a:r>
            <a:r>
              <a:rPr lang="en-US" altLang="zh-CN" sz="2800" dirty="0">
                <a:solidFill>
                  <a:srgbClr val="0000FF"/>
                </a:solidFill>
                <a:latin typeface="+mn-lt"/>
                <a:ea typeface="楷体" charset="-122"/>
                <a:cs typeface="+mn-lt"/>
              </a:rPr>
              <a:t>(next slide)</a:t>
            </a:r>
            <a:endParaRPr lang="en-US" altLang="zh-CN" sz="2800" dirty="0">
              <a:solidFill>
                <a:srgbClr val="0000FF"/>
              </a:solidFill>
              <a:latin typeface="+mn-lt"/>
              <a:ea typeface="楷体" charset="-122"/>
              <a:cs typeface="+mn-lt"/>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
        <p:nvSpPr>
          <p:cNvPr id="12" name="Rectangle 3"/>
          <p:cNvSpPr>
            <a:spLocks noGrp="1"/>
          </p:cNvSpPr>
          <p:nvPr>
            <p:ph idx="1"/>
          </p:nvPr>
        </p:nvSpPr>
        <p:spPr>
          <a:xfrm>
            <a:off x="424180" y="687070"/>
            <a:ext cx="11343005" cy="565150"/>
          </a:xfrm>
          <a:solidFill>
            <a:schemeClr val="accent3">
              <a:lumMod val="20000"/>
              <a:lumOff val="80000"/>
            </a:schemeClr>
          </a:solidFill>
        </p:spPr>
        <p:txBody>
          <a:bodyPr wrap="square" anchor="t">
            <a:spAutoFit/>
          </a:bodyPr>
          <a:p>
            <a:pPr eaLnBrk="1" hangingPunct="1"/>
            <a:r>
              <a:rPr lang="zh-CN" altLang="en-US" sz="2800" dirty="0"/>
              <a:t>查询至少修读了学号为</a:t>
            </a:r>
            <a:r>
              <a:rPr lang="en-US" altLang="x-none" sz="2800" dirty="0"/>
              <a:t>S4</a:t>
            </a:r>
            <a:r>
              <a:rPr lang="zh-CN" altLang="en-US" sz="2800" dirty="0"/>
              <a:t>的学生所修读</a:t>
            </a:r>
            <a:r>
              <a:rPr lang="zh-CN" altLang="en-US" sz="2800" dirty="0"/>
              <a:t>过的所有课程的学生的学号</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linds(horizontal)">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1"/>
                                        </p:tgtEl>
                                        <p:attrNameLst>
                                          <p:attrName>style.visibility</p:attrName>
                                        </p:attrNameLst>
                                      </p:cBhvr>
                                      <p:to>
                                        <p:strVal val="visible"/>
                                      </p:to>
                                    </p:set>
                                    <p:animEffect transition="in" filter="blinds(horizontal)">
                                      <p:cBhvr>
                                        <p:cTn id="12" dur="500"/>
                                        <p:tgtEl>
                                          <p:spTgt spid="10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ldLvl="0" animBg="1"/>
      <p:bldP spid="10241"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谓词</a:t>
            </a:r>
            <a:r>
              <a:rPr lang="en-US" altLang="x-none" dirty="0">
                <a:sym typeface="+mn-ea"/>
              </a:rPr>
              <a:t>EXISTS</a:t>
            </a:r>
            <a:r>
              <a:rPr lang="zh-CN" altLang="en-US" dirty="0">
                <a:sym typeface="+mn-ea"/>
              </a:rPr>
              <a:t>在复杂查询中的使用</a:t>
            </a:r>
            <a:r>
              <a:rPr lang="zh-CN" altLang="en-US" dirty="0">
                <a:sym typeface="+mn-ea"/>
              </a:rPr>
              <a:t>（</a:t>
            </a:r>
            <a:r>
              <a:rPr lang="en-US" altLang="zh-CN" dirty="0">
                <a:sym typeface="+mn-ea"/>
              </a:rPr>
              <a:t>6</a:t>
            </a:r>
            <a:r>
              <a:rPr lang="zh-CN" altLang="en-US" dirty="0">
                <a:sym typeface="+mn-ea"/>
              </a:rPr>
              <a:t>）</a:t>
            </a:r>
            <a:endParaRPr lang="zh-CN" altLang="en-US"/>
          </a:p>
        </p:txBody>
      </p:sp>
      <p:sp>
        <p:nvSpPr>
          <p:cNvPr id="10243" name="矩形 10243"/>
          <p:cNvSpPr/>
          <p:nvPr/>
        </p:nvSpPr>
        <p:spPr>
          <a:xfrm>
            <a:off x="1685290" y="2023745"/>
            <a:ext cx="8803005" cy="4648200"/>
          </a:xfrm>
          <a:prstGeom prst="rect">
            <a:avLst/>
          </a:prstGeom>
          <a:noFill/>
          <a:ln w="19050" cap="flat" cmpd="sng">
            <a:solidFill>
              <a:schemeClr val="tx1"/>
            </a:solidFill>
            <a:prstDash val="solid"/>
            <a:miter/>
            <a:headEnd type="none" w="med" len="med"/>
            <a:tailEnd type="none" w="med" len="med"/>
          </a:ln>
        </p:spPr>
        <p:txBody>
          <a:bodyPr anchor="t"/>
          <a:p>
            <a:pPr marL="914400" lvl="1" indent="-457200" algn="l">
              <a:spcBef>
                <a:spcPct val="20000"/>
              </a:spcBef>
              <a:buClr>
                <a:schemeClr val="accent2"/>
              </a:buClr>
              <a:buFont typeface="Wingdings" panose="05000000000000000000" pitchFamily="2" charset="2"/>
              <a:buNone/>
            </a:pPr>
            <a:r>
              <a:rPr lang="en-US" altLang="x-none" sz="2800" dirty="0">
                <a:solidFill>
                  <a:srgbClr val="0000FF"/>
                </a:solidFill>
                <a:latin typeface="Arial" panose="020B0604020202090204" pitchFamily="34" charset="0"/>
                <a:ea typeface="宋体" pitchFamily="2" charset="-122"/>
                <a:sym typeface="Symbol" panose="05050102010706020507" pitchFamily="18" charset="2"/>
              </a:rPr>
              <a:t>SELECT  S.sno</a:t>
            </a:r>
            <a:endParaRPr lang="en-US" altLang="x-none" sz="2800" dirty="0">
              <a:solidFill>
                <a:srgbClr val="0000FF"/>
              </a:solidFill>
              <a:latin typeface="Arial" panose="020B0604020202090204" pitchFamily="34" charset="0"/>
              <a:ea typeface="宋体" pitchFamily="2" charset="-122"/>
              <a:sym typeface="Symbol" panose="05050102010706020507" pitchFamily="18" charset="2"/>
            </a:endParaRPr>
          </a:p>
          <a:p>
            <a:pPr marL="914400" lvl="1" indent="-457200" algn="l">
              <a:spcBef>
                <a:spcPct val="20000"/>
              </a:spcBef>
              <a:buClr>
                <a:schemeClr val="accent2"/>
              </a:buClr>
              <a:buFont typeface="Wingdings" panose="05000000000000000000" pitchFamily="2" charset="2"/>
              <a:buNone/>
            </a:pPr>
            <a:r>
              <a:rPr lang="en-US" altLang="x-none" sz="2800" dirty="0">
                <a:solidFill>
                  <a:srgbClr val="0000FF"/>
                </a:solidFill>
                <a:latin typeface="Arial" panose="020B0604020202090204" pitchFamily="34" charset="0"/>
                <a:ea typeface="宋体" pitchFamily="2" charset="-122"/>
                <a:sym typeface="Symbol" panose="05050102010706020507" pitchFamily="18" charset="2"/>
              </a:rPr>
              <a:t>FROM    S</a:t>
            </a:r>
            <a:endParaRPr lang="en-US" altLang="x-none" sz="2800" dirty="0">
              <a:solidFill>
                <a:srgbClr val="0000FF"/>
              </a:solidFill>
              <a:latin typeface="Arial" panose="020B0604020202090204" pitchFamily="34" charset="0"/>
              <a:ea typeface="宋体" pitchFamily="2" charset="-122"/>
              <a:sym typeface="Symbol" panose="05050102010706020507" pitchFamily="18" charset="2"/>
            </a:endParaRPr>
          </a:p>
          <a:p>
            <a:pPr marL="914400" lvl="1" indent="-457200" algn="l">
              <a:spcBef>
                <a:spcPct val="20000"/>
              </a:spcBef>
              <a:buClr>
                <a:schemeClr val="accent2"/>
              </a:buClr>
              <a:buFont typeface="Wingdings" panose="05000000000000000000" pitchFamily="2" charset="2"/>
              <a:buNone/>
            </a:pPr>
            <a:r>
              <a:rPr lang="en-US" altLang="x-none" sz="2800" dirty="0">
                <a:solidFill>
                  <a:srgbClr val="0000FF"/>
                </a:solidFill>
                <a:latin typeface="Arial" panose="020B0604020202090204" pitchFamily="34" charset="0"/>
                <a:ea typeface="宋体" pitchFamily="2" charset="-122"/>
                <a:sym typeface="Symbol" panose="05050102010706020507" pitchFamily="18" charset="2"/>
              </a:rPr>
              <a:t>WHERE  NOT EXISTS (</a:t>
            </a:r>
            <a:endParaRPr lang="en-US" altLang="x-none" sz="2800" dirty="0">
              <a:solidFill>
                <a:srgbClr val="0000FF"/>
              </a:solidFill>
              <a:latin typeface="Arial" panose="020B0604020202090204" pitchFamily="34" charset="0"/>
              <a:ea typeface="宋体" pitchFamily="2" charset="-122"/>
              <a:sym typeface="Symbol" panose="05050102010706020507" pitchFamily="18" charset="2"/>
            </a:endParaRPr>
          </a:p>
          <a:p>
            <a:pPr marL="1371600" lvl="2" indent="-457200" algn="l">
              <a:spcBef>
                <a:spcPct val="20000"/>
              </a:spcBef>
              <a:buClr>
                <a:schemeClr val="accent2"/>
              </a:buClr>
              <a:buFont typeface="Wingdings" panose="05000000000000000000" pitchFamily="2" charset="2"/>
              <a:buNone/>
            </a:pPr>
            <a:r>
              <a:rPr lang="en-US" altLang="x-none" sz="2800" dirty="0">
                <a:solidFill>
                  <a:srgbClr val="0000FF"/>
                </a:solidFill>
                <a:latin typeface="Arial" panose="020B0604020202090204" pitchFamily="34" charset="0"/>
                <a:ea typeface="宋体" pitchFamily="2" charset="-122"/>
                <a:sym typeface="Symbol" panose="05050102010706020507" pitchFamily="18" charset="2"/>
              </a:rPr>
              <a:t>SELECT  *</a:t>
            </a:r>
            <a:endParaRPr lang="en-US" altLang="x-none" sz="2800" dirty="0">
              <a:solidFill>
                <a:srgbClr val="0000FF"/>
              </a:solidFill>
              <a:latin typeface="Arial" panose="020B0604020202090204" pitchFamily="34" charset="0"/>
              <a:ea typeface="宋体" pitchFamily="2" charset="-122"/>
              <a:sym typeface="Symbol" panose="05050102010706020507" pitchFamily="18" charset="2"/>
            </a:endParaRPr>
          </a:p>
          <a:p>
            <a:pPr marL="1371600" lvl="2" indent="-457200" algn="l">
              <a:spcBef>
                <a:spcPct val="20000"/>
              </a:spcBef>
              <a:buClr>
                <a:schemeClr val="accent2"/>
              </a:buClr>
              <a:buFont typeface="Wingdings" panose="05000000000000000000" pitchFamily="2" charset="2"/>
              <a:buNone/>
            </a:pPr>
            <a:r>
              <a:rPr lang="en-US" altLang="x-none" sz="2800" dirty="0">
                <a:solidFill>
                  <a:srgbClr val="0000FF"/>
                </a:solidFill>
                <a:latin typeface="Arial" panose="020B0604020202090204" pitchFamily="34" charset="0"/>
                <a:ea typeface="宋体" pitchFamily="2" charset="-122"/>
                <a:sym typeface="Symbol" panose="05050102010706020507" pitchFamily="18" charset="2"/>
              </a:rPr>
              <a:t>FROM  SC  x</a:t>
            </a:r>
            <a:endParaRPr lang="en-US" altLang="x-none" sz="2800" dirty="0">
              <a:solidFill>
                <a:srgbClr val="0000FF"/>
              </a:solidFill>
              <a:latin typeface="Arial" panose="020B0604020202090204" pitchFamily="34" charset="0"/>
              <a:ea typeface="宋体" pitchFamily="2" charset="-122"/>
              <a:sym typeface="Symbol" panose="05050102010706020507" pitchFamily="18" charset="2"/>
            </a:endParaRPr>
          </a:p>
          <a:p>
            <a:pPr marL="1371600" lvl="2" indent="-457200" algn="l">
              <a:spcBef>
                <a:spcPct val="20000"/>
              </a:spcBef>
              <a:buClr>
                <a:schemeClr val="accent2"/>
              </a:buClr>
              <a:buFont typeface="Wingdings" panose="05000000000000000000" pitchFamily="2" charset="2"/>
              <a:buNone/>
            </a:pPr>
            <a:r>
              <a:rPr lang="en-US" altLang="x-none" sz="2800" dirty="0">
                <a:solidFill>
                  <a:srgbClr val="0000FF"/>
                </a:solidFill>
                <a:latin typeface="Arial" panose="020B0604020202090204" pitchFamily="34" charset="0"/>
                <a:ea typeface="宋体" pitchFamily="2" charset="-122"/>
                <a:sym typeface="Symbol" panose="05050102010706020507" pitchFamily="18" charset="2"/>
              </a:rPr>
              <a:t>WHERE  x.sno='S4'  and  NOT EXISTS (</a:t>
            </a:r>
            <a:endParaRPr lang="en-US" altLang="x-none" sz="2800" dirty="0">
              <a:solidFill>
                <a:srgbClr val="0000FF"/>
              </a:solidFill>
              <a:latin typeface="Arial" panose="020B0604020202090204" pitchFamily="34" charset="0"/>
              <a:ea typeface="宋体" pitchFamily="2" charset="-122"/>
              <a:sym typeface="Symbol" panose="05050102010706020507" pitchFamily="18" charset="2"/>
            </a:endParaRPr>
          </a:p>
          <a:p>
            <a:pPr marL="1828800" lvl="3" indent="-457200" algn="l">
              <a:spcBef>
                <a:spcPct val="20000"/>
              </a:spcBef>
              <a:buClr>
                <a:schemeClr val="accent2"/>
              </a:buClr>
              <a:buFont typeface="Wingdings" panose="05000000000000000000" pitchFamily="2" charset="2"/>
              <a:buNone/>
            </a:pPr>
            <a:r>
              <a:rPr lang="en-US" altLang="x-none" sz="2800" dirty="0">
                <a:solidFill>
                  <a:srgbClr val="0000FF"/>
                </a:solidFill>
                <a:latin typeface="Arial" panose="020B0604020202090204" pitchFamily="34" charset="0"/>
                <a:ea typeface="宋体" pitchFamily="2" charset="-122"/>
                <a:sym typeface="Symbol" panose="05050102010706020507" pitchFamily="18" charset="2"/>
              </a:rPr>
              <a:t>SELECT  *</a:t>
            </a:r>
            <a:endParaRPr lang="en-US" altLang="x-none" sz="2800" dirty="0">
              <a:solidFill>
                <a:srgbClr val="0000FF"/>
              </a:solidFill>
              <a:latin typeface="Arial" panose="020B0604020202090204" pitchFamily="34" charset="0"/>
              <a:ea typeface="宋体" pitchFamily="2" charset="-122"/>
              <a:sym typeface="Symbol" panose="05050102010706020507" pitchFamily="18" charset="2"/>
            </a:endParaRPr>
          </a:p>
          <a:p>
            <a:pPr marL="1828800" lvl="3" indent="-457200" algn="l">
              <a:spcBef>
                <a:spcPct val="20000"/>
              </a:spcBef>
              <a:buClr>
                <a:schemeClr val="accent2"/>
              </a:buClr>
              <a:buFont typeface="Wingdings" panose="05000000000000000000" pitchFamily="2" charset="2"/>
              <a:buNone/>
            </a:pPr>
            <a:r>
              <a:rPr lang="en-US" altLang="x-none" sz="2800" dirty="0">
                <a:solidFill>
                  <a:srgbClr val="0000FF"/>
                </a:solidFill>
                <a:latin typeface="Arial" panose="020B0604020202090204" pitchFamily="34" charset="0"/>
                <a:ea typeface="宋体" pitchFamily="2" charset="-122"/>
                <a:sym typeface="Symbol" panose="05050102010706020507" pitchFamily="18" charset="2"/>
              </a:rPr>
              <a:t>FROM  SC  y</a:t>
            </a:r>
            <a:endParaRPr lang="en-US" altLang="x-none" sz="2800" dirty="0">
              <a:solidFill>
                <a:srgbClr val="0000FF"/>
              </a:solidFill>
              <a:latin typeface="Arial" panose="020B0604020202090204" pitchFamily="34" charset="0"/>
              <a:ea typeface="宋体" pitchFamily="2" charset="-122"/>
              <a:sym typeface="Symbol" panose="05050102010706020507" pitchFamily="18" charset="2"/>
            </a:endParaRPr>
          </a:p>
          <a:p>
            <a:pPr marL="1828800" lvl="3" indent="-457200" algn="l">
              <a:spcBef>
                <a:spcPct val="20000"/>
              </a:spcBef>
              <a:buClr>
                <a:schemeClr val="accent2"/>
              </a:buClr>
              <a:buFont typeface="Wingdings" panose="05000000000000000000" pitchFamily="2" charset="2"/>
              <a:buNone/>
            </a:pPr>
            <a:r>
              <a:rPr lang="en-US" altLang="x-none" sz="2800" dirty="0">
                <a:solidFill>
                  <a:srgbClr val="0000FF"/>
                </a:solidFill>
                <a:latin typeface="Arial" panose="020B0604020202090204" pitchFamily="34" charset="0"/>
                <a:ea typeface="宋体" pitchFamily="2" charset="-122"/>
                <a:sym typeface="Symbol" panose="05050102010706020507" pitchFamily="18" charset="2"/>
              </a:rPr>
              <a:t>WHERE  y.sno=S.sno  and  y.cno=x.cno ) )</a:t>
            </a:r>
            <a:endParaRPr lang="en-US" altLang="x-none" sz="2800" dirty="0">
              <a:solidFill>
                <a:srgbClr val="0000FF"/>
              </a:solidFill>
              <a:latin typeface="Arial" panose="020B0604020202090204" pitchFamily="34" charset="0"/>
              <a:ea typeface="宋体" pitchFamily="2" charset="-122"/>
              <a:sym typeface="Symbol" panose="05050102010706020507" pitchFamily="18" charset="2"/>
            </a:endParaRPr>
          </a:p>
        </p:txBody>
      </p:sp>
      <p:sp>
        <p:nvSpPr>
          <p:cNvPr id="10246" name="未知"/>
          <p:cNvSpPr/>
          <p:nvPr/>
        </p:nvSpPr>
        <p:spPr>
          <a:xfrm>
            <a:off x="5379085" y="1823720"/>
            <a:ext cx="2184400" cy="3960813"/>
          </a:xfrm>
          <a:custGeom>
            <a:avLst/>
            <a:gdLst/>
            <a:ahLst/>
            <a:cxnLst/>
            <a:pathLst>
              <a:path w="1376" h="2495">
                <a:moveTo>
                  <a:pt x="635" y="0"/>
                </a:moveTo>
                <a:cubicBezTo>
                  <a:pt x="1005" y="336"/>
                  <a:pt x="1376" y="673"/>
                  <a:pt x="1270" y="1089"/>
                </a:cubicBezTo>
                <a:cubicBezTo>
                  <a:pt x="1164" y="1505"/>
                  <a:pt x="144" y="2261"/>
                  <a:pt x="0" y="2495"/>
                </a:cubicBezTo>
              </a:path>
            </a:pathLst>
          </a:custGeom>
          <a:noFill/>
          <a:ln w="25400" cap="flat" cmpd="sng">
            <a:solidFill>
              <a:srgbClr val="FF0066"/>
            </a:solidFill>
            <a:prstDash val="solid"/>
            <a:round/>
            <a:headEnd type="none" w="med" len="med"/>
            <a:tailEnd type="arrow" w="lg" len="lg"/>
          </a:ln>
        </p:spPr>
        <p:txBody>
          <a:bodyPr/>
          <a:p>
            <a:endParaRPr lang="zh-CN" altLang="en-US"/>
          </a:p>
        </p:txBody>
      </p:sp>
      <p:sp>
        <p:nvSpPr>
          <p:cNvPr id="10247" name="未知"/>
          <p:cNvSpPr/>
          <p:nvPr/>
        </p:nvSpPr>
        <p:spPr>
          <a:xfrm>
            <a:off x="5305108" y="1823720"/>
            <a:ext cx="3913187" cy="2520950"/>
          </a:xfrm>
          <a:custGeom>
            <a:avLst/>
            <a:gdLst/>
            <a:ahLst/>
            <a:cxnLst/>
            <a:pathLst>
              <a:path w="2465" h="1588">
                <a:moveTo>
                  <a:pt x="2268" y="0"/>
                </a:moveTo>
                <a:cubicBezTo>
                  <a:pt x="2366" y="412"/>
                  <a:pt x="2465" y="824"/>
                  <a:pt x="2087" y="1089"/>
                </a:cubicBezTo>
                <a:cubicBezTo>
                  <a:pt x="1709" y="1354"/>
                  <a:pt x="469" y="1505"/>
                  <a:pt x="0" y="1588"/>
                </a:cubicBezTo>
              </a:path>
            </a:pathLst>
          </a:custGeom>
          <a:noFill/>
          <a:ln w="19050" cap="flat" cmpd="sng">
            <a:solidFill>
              <a:srgbClr val="0000FF"/>
            </a:solidFill>
            <a:prstDash val="dash"/>
            <a:round/>
            <a:headEnd type="none" w="med" len="med"/>
            <a:tailEnd type="arrow" w="lg" len="lg"/>
          </a:ln>
        </p:spPr>
        <p:txBody>
          <a:bodyPr/>
          <a:p>
            <a:endParaRPr lang="zh-CN" altLang="en-US"/>
          </a:p>
        </p:txBody>
      </p:sp>
      <p:graphicFrame>
        <p:nvGraphicFramePr>
          <p:cNvPr id="3" name="对象 2">
            <a:hlinkClick r:id="" action="ppaction://ole?verb="/>
          </p:cNvPr>
          <p:cNvGraphicFramePr>
            <a:graphicFrameLocks noChangeAspect="1"/>
          </p:cNvGraphicFramePr>
          <p:nvPr/>
        </p:nvGraphicFramePr>
        <p:xfrm>
          <a:off x="5168900" y="1255395"/>
          <a:ext cx="5319207" cy="612005"/>
        </p:xfrm>
        <a:graphic>
          <a:graphicData uri="http://schemas.openxmlformats.org/presentationml/2006/ole">
            <mc:AlternateContent xmlns:mc="http://schemas.openxmlformats.org/markup-compatibility/2006">
              <mc:Choice xmlns:v="urn:schemas-microsoft-com:vml" Requires="v">
                <p:oleObj spid="_x0000_s1025" name="" r:id="rId1" imgW="1765300" imgH="203200" progId="Equation.KSEE3">
                  <p:embed/>
                </p:oleObj>
              </mc:Choice>
              <mc:Fallback>
                <p:oleObj name="" r:id="rId1" imgW="1765300" imgH="203200" progId="Equation.KSEE3">
                  <p:embed/>
                  <p:pic>
                    <p:nvPicPr>
                      <p:cNvPr id="0" name="图片 1024"/>
                      <p:cNvPicPr/>
                      <p:nvPr/>
                    </p:nvPicPr>
                    <p:blipFill>
                      <a:blip r:embed="rId2"/>
                      <a:stretch>
                        <a:fillRect/>
                      </a:stretch>
                    </p:blipFill>
                    <p:spPr>
                      <a:xfrm>
                        <a:off x="5168900" y="1255395"/>
                        <a:ext cx="5319207" cy="612005"/>
                      </a:xfrm>
                      <a:prstGeom prst="rect">
                        <a:avLst/>
                      </a:prstGeom>
                    </p:spPr>
                  </p:pic>
                </p:oleObj>
              </mc:Fallback>
            </mc:AlternateContent>
          </a:graphicData>
        </a:graphic>
      </p:graphicFrame>
      <p:sp>
        <p:nvSpPr>
          <p:cNvPr id="4" name="灯片编号占位符 3"/>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
        <p:nvSpPr>
          <p:cNvPr id="12" name="Rectangle 3"/>
          <p:cNvSpPr>
            <a:spLocks noGrp="1"/>
          </p:cNvSpPr>
          <p:nvPr>
            <p:ph idx="1"/>
          </p:nvPr>
        </p:nvSpPr>
        <p:spPr>
          <a:xfrm>
            <a:off x="424180" y="687070"/>
            <a:ext cx="11343005" cy="565150"/>
          </a:xfrm>
          <a:solidFill>
            <a:schemeClr val="accent3">
              <a:lumMod val="20000"/>
              <a:lumOff val="80000"/>
            </a:schemeClr>
          </a:solidFill>
        </p:spPr>
        <p:txBody>
          <a:bodyPr wrap="square" anchor="t">
            <a:spAutoFit/>
          </a:bodyPr>
          <a:p>
            <a:pPr eaLnBrk="1" hangingPunct="1"/>
            <a:r>
              <a:rPr lang="zh-CN" altLang="en-US" sz="2800" dirty="0"/>
              <a:t>查询至少修读了学号为</a:t>
            </a:r>
            <a:r>
              <a:rPr lang="en-US" altLang="x-none" sz="2800" dirty="0"/>
              <a:t>S4</a:t>
            </a:r>
            <a:r>
              <a:rPr lang="zh-CN" altLang="en-US" sz="2800" dirty="0"/>
              <a:t>的学生所修读</a:t>
            </a:r>
            <a:r>
              <a:rPr lang="zh-CN" altLang="en-US" sz="2800" dirty="0"/>
              <a:t>过的所有课程的学生的学号</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24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标题 8"/>
          <p:cNvSpPr>
            <a:spLocks noGrp="1"/>
          </p:cNvSpPr>
          <p:nvPr>
            <p:ph type="title"/>
          </p:nvPr>
        </p:nvSpPr>
        <p:spPr/>
        <p:txBody>
          <a:bodyPr/>
          <a:p>
            <a:r>
              <a:rPr lang="zh-CN" altLang="en-US" dirty="0">
                <a:sym typeface="+mn-ea"/>
              </a:rPr>
              <a:t>谓词</a:t>
            </a:r>
            <a:r>
              <a:rPr lang="en-US" altLang="x-none" dirty="0">
                <a:sym typeface="+mn-ea"/>
              </a:rPr>
              <a:t>EXISTS</a:t>
            </a:r>
            <a:r>
              <a:rPr lang="zh-CN" altLang="en-US" dirty="0">
                <a:sym typeface="+mn-ea"/>
              </a:rPr>
              <a:t>在复杂查询中的使用</a:t>
            </a:r>
            <a:r>
              <a:rPr lang="zh-CN" altLang="en-US" dirty="0">
                <a:sym typeface="+mn-ea"/>
              </a:rPr>
              <a:t>（</a:t>
            </a:r>
            <a:r>
              <a:rPr lang="en-US" altLang="zh-CN" dirty="0">
                <a:sym typeface="+mn-ea"/>
              </a:rPr>
              <a:t>7</a:t>
            </a:r>
            <a:r>
              <a:rPr lang="zh-CN" altLang="en-US" dirty="0">
                <a:sym typeface="+mn-ea"/>
              </a:rPr>
              <a:t>）</a:t>
            </a:r>
            <a:endParaRPr lang="zh-CN" altLang="en-US"/>
          </a:p>
        </p:txBody>
      </p:sp>
      <p:sp>
        <p:nvSpPr>
          <p:cNvPr id="6148" name="矩形 6147"/>
          <p:cNvSpPr/>
          <p:nvPr/>
        </p:nvSpPr>
        <p:spPr>
          <a:xfrm>
            <a:off x="424815" y="1370965"/>
            <a:ext cx="11343005" cy="1251585"/>
          </a:xfrm>
          <a:prstGeom prst="rect">
            <a:avLst/>
          </a:prstGeom>
          <a:noFill/>
          <a:ln w="12700" cap="flat" cmpd="sng">
            <a:solidFill>
              <a:schemeClr val="accent4"/>
            </a:solidFill>
            <a:prstDash val="sysDot"/>
            <a:miter/>
            <a:headEnd type="none" w="med" len="med"/>
            <a:tailEnd type="none" w="med" len="med"/>
          </a:ln>
        </p:spPr>
        <p:txBody>
          <a:bodyPr wrap="square" tIns="107950" bIns="107950" anchor="t">
            <a:spAutoFit/>
          </a:bodyPr>
          <a:p>
            <a:pPr marL="342900" indent="-342900">
              <a:lnSpc>
                <a:spcPct val="120000"/>
              </a:lnSpc>
              <a:spcBef>
                <a:spcPts val="20"/>
              </a:spcBef>
              <a:spcAft>
                <a:spcPts val="0"/>
              </a:spcAft>
              <a:buClr>
                <a:srgbClr val="C00000"/>
              </a:buClr>
              <a:buSzPct val="85000"/>
              <a:buFont typeface="Wingdings" panose="05000000000000000000" charset="0"/>
              <a:buChar char=""/>
            </a:pPr>
            <a:r>
              <a:rPr lang="zh-CN" altLang="en-US" sz="2800" b="1" dirty="0">
                <a:solidFill>
                  <a:srgbClr val="0000FF"/>
                </a:solidFill>
                <a:latin typeface="+mn-lt"/>
                <a:ea typeface="楷体" charset="-122"/>
                <a:cs typeface="+mn-lt"/>
              </a:rPr>
              <a:t>如果学生</a:t>
            </a:r>
            <a:r>
              <a:rPr lang="en-US" altLang="zh-CN" sz="2800" b="1" dirty="0">
                <a:solidFill>
                  <a:srgbClr val="0000FF"/>
                </a:solidFill>
                <a:latin typeface="+mn-lt"/>
                <a:ea typeface="楷体" charset="-122"/>
                <a:cs typeface="+mn-lt"/>
              </a:rPr>
              <a:t>S</a:t>
            </a:r>
            <a:r>
              <a:rPr lang="zh-CN" altLang="en-US" sz="2800" b="1" dirty="0">
                <a:solidFill>
                  <a:srgbClr val="0000FF"/>
                </a:solidFill>
                <a:latin typeface="+mn-lt"/>
                <a:ea typeface="楷体" charset="-122"/>
                <a:cs typeface="+mn-lt"/>
              </a:rPr>
              <a:t>是符合查询要求的，则：</a:t>
            </a:r>
            <a:endParaRPr lang="zh-CN" altLang="en-US" sz="2800" b="1" dirty="0">
              <a:solidFill>
                <a:srgbClr val="0000FF"/>
              </a:solidFill>
              <a:latin typeface="+mn-lt"/>
              <a:ea typeface="楷体" charset="-122"/>
              <a:cs typeface="+mn-lt"/>
            </a:endParaRPr>
          </a:p>
          <a:p>
            <a:pPr marL="751205" lvl="1" indent="-294005">
              <a:lnSpc>
                <a:spcPct val="120000"/>
              </a:lnSpc>
              <a:spcBef>
                <a:spcPts val="20"/>
              </a:spcBef>
              <a:spcAft>
                <a:spcPts val="0"/>
              </a:spcAft>
              <a:buClr>
                <a:srgbClr val="C00000"/>
              </a:buClr>
              <a:buSzPct val="85000"/>
              <a:buFont typeface="Wingdings" panose="05000000000000000000" pitchFamily="2" charset="2"/>
              <a:buChar char="§"/>
            </a:pPr>
            <a:r>
              <a:rPr lang="zh-CN" altLang="en-US" sz="2800" b="1" u="sng" dirty="0">
                <a:solidFill>
                  <a:srgbClr val="C00000"/>
                </a:solidFill>
                <a:latin typeface="+mn-lt"/>
                <a:ea typeface="楷体" charset="-122"/>
                <a:cs typeface="+mn-lt"/>
              </a:rPr>
              <a:t>不存在</a:t>
            </a:r>
            <a:r>
              <a:rPr lang="zh-CN" altLang="en-US" sz="2800" b="1" u="sng" dirty="0">
                <a:solidFill>
                  <a:srgbClr val="0000FF"/>
                </a:solidFill>
                <a:latin typeface="+mn-lt"/>
                <a:ea typeface="楷体" charset="-122"/>
                <a:cs typeface="+mn-lt"/>
              </a:rPr>
              <a:t> </a:t>
            </a:r>
            <a:r>
              <a:rPr lang="en-US" altLang="zh-CN" sz="2800" b="1" u="sng" dirty="0">
                <a:solidFill>
                  <a:srgbClr val="0000FF"/>
                </a:solidFill>
                <a:latin typeface="+mn-lt"/>
                <a:ea typeface="楷体" charset="-122"/>
                <a:cs typeface="+mn-lt"/>
              </a:rPr>
              <a:t>“S4</a:t>
            </a:r>
            <a:r>
              <a:rPr lang="zh-CN" altLang="en-US" sz="2800" b="1" u="sng" dirty="0">
                <a:solidFill>
                  <a:srgbClr val="0000FF"/>
                </a:solidFill>
                <a:latin typeface="+mn-lt"/>
                <a:ea typeface="楷体" charset="-122"/>
                <a:cs typeface="+mn-lt"/>
              </a:rPr>
              <a:t>选修过但学生</a:t>
            </a:r>
            <a:r>
              <a:rPr lang="en-US" altLang="zh-CN" sz="2800" b="1" u="sng" dirty="0">
                <a:solidFill>
                  <a:srgbClr val="0000FF"/>
                </a:solidFill>
                <a:latin typeface="+mn-lt"/>
                <a:ea typeface="楷体" charset="-122"/>
                <a:cs typeface="+mn-lt"/>
              </a:rPr>
              <a:t>S</a:t>
            </a:r>
            <a:r>
              <a:rPr lang="zh-CN" altLang="en-US" sz="2800" b="1" u="sng" dirty="0">
                <a:solidFill>
                  <a:srgbClr val="0000FF"/>
                </a:solidFill>
                <a:latin typeface="+mn-lt"/>
                <a:ea typeface="楷体" charset="-122"/>
                <a:cs typeface="+mn-lt"/>
              </a:rPr>
              <a:t>没有选修过</a:t>
            </a:r>
            <a:r>
              <a:rPr lang="en-US" altLang="zh-CN" sz="2800" b="1" u="sng" dirty="0">
                <a:solidFill>
                  <a:srgbClr val="0000FF"/>
                </a:solidFill>
                <a:latin typeface="+mn-lt"/>
                <a:ea typeface="楷体" charset="-122"/>
                <a:cs typeface="+mn-lt"/>
              </a:rPr>
              <a:t>” </a:t>
            </a:r>
            <a:r>
              <a:rPr lang="zh-CN" altLang="en-US" sz="2800" b="1" u="sng" dirty="0">
                <a:solidFill>
                  <a:srgbClr val="0000FF"/>
                </a:solidFill>
                <a:latin typeface="+mn-lt"/>
                <a:ea typeface="楷体" charset="-122"/>
                <a:cs typeface="+mn-lt"/>
              </a:rPr>
              <a:t>的课程</a:t>
            </a:r>
            <a:endParaRPr lang="zh-CN" altLang="en-US" sz="2800" b="1" u="sng" dirty="0">
              <a:solidFill>
                <a:srgbClr val="0000FF"/>
              </a:solidFill>
              <a:latin typeface="+mn-lt"/>
              <a:ea typeface="楷体" charset="-122"/>
              <a:cs typeface="+mn-lt"/>
            </a:endParaRPr>
          </a:p>
        </p:txBody>
      </p:sp>
      <p:sp>
        <p:nvSpPr>
          <p:cNvPr id="4" name="矩形 3"/>
          <p:cNvSpPr/>
          <p:nvPr/>
        </p:nvSpPr>
        <p:spPr>
          <a:xfrm>
            <a:off x="424815" y="2789555"/>
            <a:ext cx="11343005" cy="1771015"/>
          </a:xfrm>
          <a:prstGeom prst="rect">
            <a:avLst/>
          </a:prstGeom>
          <a:noFill/>
          <a:ln w="12700" cap="flat" cmpd="sng">
            <a:solidFill>
              <a:schemeClr val="accent4"/>
            </a:solidFill>
            <a:prstDash val="sysDot"/>
            <a:miter/>
            <a:headEnd type="none" w="med" len="med"/>
            <a:tailEnd type="none" w="med" len="med"/>
          </a:ln>
        </p:spPr>
        <p:txBody>
          <a:bodyPr wrap="square" tIns="107950" bIns="107950" anchor="t">
            <a:spAutoFit/>
          </a:bodyPr>
          <a:p>
            <a:pPr marL="342900" indent="-342900">
              <a:lnSpc>
                <a:spcPct val="120000"/>
              </a:lnSpc>
              <a:spcBef>
                <a:spcPts val="20"/>
              </a:spcBef>
              <a:spcAft>
                <a:spcPts val="0"/>
              </a:spcAft>
              <a:buClr>
                <a:srgbClr val="C00000"/>
              </a:buClr>
              <a:buSzPct val="85000"/>
              <a:buFont typeface="Wingdings" panose="05000000000000000000" charset="0"/>
              <a:buChar char=""/>
            </a:pPr>
            <a:r>
              <a:rPr lang="zh-CN" altLang="en-US" sz="2800" b="1" dirty="0">
                <a:solidFill>
                  <a:srgbClr val="0000FF"/>
                </a:solidFill>
                <a:latin typeface="+mn-lt"/>
                <a:ea typeface="楷体" charset="-122"/>
                <a:cs typeface="+mn-lt"/>
              </a:rPr>
              <a:t>即：在选课表中</a:t>
            </a:r>
            <a:r>
              <a:rPr lang="en-US" altLang="zh-CN" sz="2800" b="1" dirty="0">
                <a:solidFill>
                  <a:srgbClr val="0000FF"/>
                </a:solidFill>
                <a:latin typeface="+mn-lt"/>
                <a:ea typeface="楷体" charset="-122"/>
                <a:cs typeface="+mn-lt"/>
              </a:rPr>
              <a:t>‘</a:t>
            </a:r>
            <a:r>
              <a:rPr lang="zh-CN" altLang="en-US" sz="2800" b="1" dirty="0">
                <a:solidFill>
                  <a:srgbClr val="0000FF"/>
                </a:solidFill>
                <a:latin typeface="+mn-lt"/>
                <a:ea typeface="楷体" charset="-122"/>
                <a:cs typeface="+mn-lt"/>
              </a:rPr>
              <a:t>不存在</a:t>
            </a:r>
            <a:r>
              <a:rPr lang="en-US" altLang="zh-CN" sz="2800" b="1" dirty="0">
                <a:solidFill>
                  <a:srgbClr val="0000FF"/>
                </a:solidFill>
                <a:latin typeface="+mn-lt"/>
                <a:ea typeface="楷体" charset="-122"/>
                <a:cs typeface="+mn-lt"/>
              </a:rPr>
              <a:t>’</a:t>
            </a:r>
            <a:r>
              <a:rPr lang="zh-CN" altLang="en-US" sz="2800" b="1" dirty="0">
                <a:solidFill>
                  <a:srgbClr val="0000FF"/>
                </a:solidFill>
                <a:latin typeface="+mn-lt"/>
                <a:ea typeface="楷体" charset="-122"/>
                <a:cs typeface="+mn-lt"/>
              </a:rPr>
              <a:t>符合以下要求的选课元组</a:t>
            </a:r>
            <a:r>
              <a:rPr lang="en-US" altLang="zh-CN" sz="2800" b="1" dirty="0">
                <a:solidFill>
                  <a:srgbClr val="0000FF"/>
                </a:solidFill>
                <a:latin typeface="+mn-lt"/>
                <a:ea typeface="楷体" charset="-122"/>
                <a:cs typeface="+mn-lt"/>
              </a:rPr>
              <a:t>x</a:t>
            </a:r>
            <a:endParaRPr lang="en-US" altLang="zh-CN" sz="2800" b="1" dirty="0">
              <a:solidFill>
                <a:srgbClr val="0000FF"/>
              </a:solidFill>
              <a:latin typeface="+mn-lt"/>
              <a:ea typeface="楷体" charset="-122"/>
              <a:cs typeface="+mn-lt"/>
            </a:endParaRPr>
          </a:p>
          <a:p>
            <a:pPr marL="1031875" lvl="1" indent="-457200" algn="l">
              <a:lnSpc>
                <a:spcPct val="120000"/>
              </a:lnSpc>
              <a:spcBef>
                <a:spcPts val="20"/>
              </a:spcBef>
              <a:spcAft>
                <a:spcPts val="0"/>
              </a:spcAft>
              <a:buClr>
                <a:srgbClr val="C00000"/>
              </a:buClr>
              <a:buSzPct val="85000"/>
              <a:buFont typeface="Wingdings" panose="05000000000000000000" pitchFamily="2" charset="2"/>
              <a:buChar char="§"/>
            </a:pPr>
            <a:r>
              <a:rPr lang="en-US" altLang="zh-CN" sz="2800" b="1" dirty="0">
                <a:solidFill>
                  <a:srgbClr val="0000FF"/>
                </a:solidFill>
                <a:latin typeface="+mn-lt"/>
                <a:ea typeface="楷体" charset="-122"/>
                <a:cs typeface="+mn-lt"/>
              </a:rPr>
              <a:t>x</a:t>
            </a:r>
            <a:r>
              <a:rPr lang="zh-CN" altLang="en-US" sz="2800" b="1" dirty="0">
                <a:solidFill>
                  <a:srgbClr val="0000FF"/>
                </a:solidFill>
                <a:latin typeface="+mn-lt"/>
                <a:ea typeface="楷体" charset="-122"/>
                <a:cs typeface="+mn-lt"/>
              </a:rPr>
              <a:t>是学生</a:t>
            </a:r>
            <a:r>
              <a:rPr lang="en-US" altLang="zh-CN" sz="2800" b="1" dirty="0">
                <a:solidFill>
                  <a:srgbClr val="0000FF"/>
                </a:solidFill>
                <a:latin typeface="+mn-lt"/>
                <a:ea typeface="楷体" charset="-122"/>
                <a:cs typeface="+mn-lt"/>
              </a:rPr>
              <a:t>S4</a:t>
            </a:r>
            <a:r>
              <a:rPr lang="zh-CN" altLang="en-US" sz="2800" b="1" dirty="0">
                <a:solidFill>
                  <a:srgbClr val="0000FF"/>
                </a:solidFill>
                <a:latin typeface="+mn-lt"/>
                <a:ea typeface="楷体" charset="-122"/>
                <a:cs typeface="+mn-lt"/>
              </a:rPr>
              <a:t>的选课记录（即 </a:t>
            </a:r>
            <a:r>
              <a:rPr lang="en-US" altLang="zh-CN" sz="2800" b="1" dirty="0">
                <a:solidFill>
                  <a:srgbClr val="0000FF"/>
                </a:solidFill>
                <a:latin typeface="+mn-lt"/>
                <a:ea typeface="楷体" charset="-122"/>
                <a:cs typeface="+mn-lt"/>
              </a:rPr>
              <a:t>x.sno='S4' </a:t>
            </a:r>
            <a:r>
              <a:rPr lang="zh-CN" altLang="zh-CN" sz="2800" b="1" dirty="0">
                <a:solidFill>
                  <a:srgbClr val="0000FF"/>
                </a:solidFill>
                <a:latin typeface="+mn-lt"/>
                <a:ea typeface="楷体" charset="-122"/>
                <a:cs typeface="+mn-lt"/>
              </a:rPr>
              <a:t>）</a:t>
            </a:r>
            <a:endParaRPr lang="zh-CN" altLang="zh-CN" sz="2800" b="1" dirty="0">
              <a:solidFill>
                <a:srgbClr val="0000FF"/>
              </a:solidFill>
              <a:latin typeface="+mn-lt"/>
              <a:ea typeface="楷体" charset="-122"/>
              <a:cs typeface="+mn-lt"/>
            </a:endParaRPr>
          </a:p>
          <a:p>
            <a:pPr marL="1031875" lvl="1" indent="-457200" algn="l">
              <a:lnSpc>
                <a:spcPct val="120000"/>
              </a:lnSpc>
              <a:spcBef>
                <a:spcPts val="20"/>
              </a:spcBef>
              <a:spcAft>
                <a:spcPts val="0"/>
              </a:spcAft>
              <a:buClr>
                <a:srgbClr val="C00000"/>
              </a:buClr>
              <a:buSzPct val="85000"/>
              <a:buFont typeface="Wingdings" panose="05000000000000000000" pitchFamily="2" charset="2"/>
              <a:buChar char="§"/>
            </a:pPr>
            <a:r>
              <a:rPr lang="zh-CN" altLang="en-US" sz="2800" b="1" dirty="0">
                <a:solidFill>
                  <a:srgbClr val="0000FF"/>
                </a:solidFill>
                <a:latin typeface="+mn-lt"/>
                <a:ea typeface="楷体" charset="-122"/>
                <a:cs typeface="+mn-lt"/>
              </a:rPr>
              <a:t>且</a:t>
            </a:r>
            <a:r>
              <a:rPr lang="en-US" altLang="zh-CN" sz="2800" b="1" dirty="0">
                <a:solidFill>
                  <a:srgbClr val="0000FF"/>
                </a:solidFill>
                <a:latin typeface="+mn-lt"/>
                <a:ea typeface="楷体" charset="-122"/>
                <a:cs typeface="+mn-lt"/>
              </a:rPr>
              <a:t> </a:t>
            </a:r>
            <a:r>
              <a:rPr lang="zh-CN" altLang="en-US" sz="2800" b="1" dirty="0">
                <a:solidFill>
                  <a:srgbClr val="0000FF"/>
                </a:solidFill>
                <a:latin typeface="+mn-lt"/>
                <a:ea typeface="楷体" charset="-122"/>
                <a:cs typeface="+mn-lt"/>
              </a:rPr>
              <a:t>学生</a:t>
            </a:r>
            <a:r>
              <a:rPr lang="en-US" altLang="zh-CN" sz="2800" b="1" dirty="0">
                <a:solidFill>
                  <a:srgbClr val="0000FF"/>
                </a:solidFill>
                <a:latin typeface="+mn-lt"/>
                <a:ea typeface="楷体" charset="-122"/>
                <a:cs typeface="+mn-lt"/>
              </a:rPr>
              <a:t>S</a:t>
            </a:r>
            <a:r>
              <a:rPr lang="zh-CN" altLang="en-US" sz="2800" b="1" dirty="0">
                <a:solidFill>
                  <a:srgbClr val="0000FF"/>
                </a:solidFill>
                <a:latin typeface="+mn-lt"/>
                <a:ea typeface="楷体" charset="-122"/>
                <a:cs typeface="+mn-lt"/>
              </a:rPr>
              <a:t>没有选修过其中的课程 </a:t>
            </a:r>
            <a:r>
              <a:rPr lang="en-US" altLang="zh-CN" sz="2800" b="1" dirty="0">
                <a:solidFill>
                  <a:srgbClr val="0000FF"/>
                </a:solidFill>
                <a:latin typeface="+mn-lt"/>
                <a:ea typeface="楷体" charset="-122"/>
                <a:cs typeface="+mn-lt"/>
              </a:rPr>
              <a:t>x.cno</a:t>
            </a:r>
            <a:endParaRPr lang="en-US" altLang="zh-CN" sz="2800" b="1" dirty="0">
              <a:solidFill>
                <a:srgbClr val="0000FF"/>
              </a:solidFill>
              <a:latin typeface="+mn-lt"/>
              <a:ea typeface="楷体" charset="-122"/>
              <a:cs typeface="+mn-lt"/>
            </a:endParaRPr>
          </a:p>
        </p:txBody>
      </p:sp>
      <p:sp>
        <p:nvSpPr>
          <p:cNvPr id="5" name="矩形 4"/>
          <p:cNvSpPr/>
          <p:nvPr/>
        </p:nvSpPr>
        <p:spPr>
          <a:xfrm>
            <a:off x="424815" y="4710430"/>
            <a:ext cx="11343005" cy="1765935"/>
          </a:xfrm>
          <a:prstGeom prst="rect">
            <a:avLst/>
          </a:prstGeom>
          <a:noFill/>
          <a:ln w="12700" cap="flat" cmpd="sng">
            <a:noFill/>
            <a:prstDash val="sysDot"/>
            <a:miter/>
            <a:headEnd type="none" w="med" len="med"/>
            <a:tailEnd type="none" w="med" len="med"/>
          </a:ln>
        </p:spPr>
        <p:txBody>
          <a:bodyPr wrap="square" tIns="107950" bIns="107950" anchor="t">
            <a:spAutoFit/>
          </a:bodyPr>
          <a:p>
            <a:pPr marL="356870" lvl="0" indent="-342265" algn="l">
              <a:lnSpc>
                <a:spcPct val="120000"/>
              </a:lnSpc>
              <a:spcBef>
                <a:spcPts val="20"/>
              </a:spcBef>
              <a:spcAft>
                <a:spcPts val="0"/>
              </a:spcAft>
              <a:buClr>
                <a:srgbClr val="C00000"/>
              </a:buClr>
              <a:buSzPct val="85000"/>
              <a:buFont typeface="Wingdings" panose="05000000000000000000" charset="0"/>
              <a:buChar char=""/>
            </a:pPr>
            <a:r>
              <a:rPr lang="en-US" altLang="zh-CN" sz="2800" b="1" dirty="0">
                <a:solidFill>
                  <a:srgbClr val="0000FF"/>
                </a:solidFill>
                <a:latin typeface="+mn-lt"/>
                <a:ea typeface="楷体" charset="-122"/>
                <a:cs typeface="+mn-lt"/>
                <a:sym typeface="+mn-ea"/>
              </a:rPr>
              <a:t>“</a:t>
            </a:r>
            <a:r>
              <a:rPr lang="zh-CN" altLang="en-US" sz="2800" b="1" dirty="0">
                <a:solidFill>
                  <a:srgbClr val="0000FF"/>
                </a:solidFill>
                <a:highlight>
                  <a:srgbClr val="FFFF00"/>
                </a:highlight>
                <a:latin typeface="+mn-lt"/>
                <a:ea typeface="楷体" charset="-122"/>
                <a:cs typeface="+mn-lt"/>
                <a:sym typeface="+mn-ea"/>
              </a:rPr>
              <a:t>学生</a:t>
            </a:r>
            <a:r>
              <a:rPr lang="en-US" altLang="zh-CN" sz="2800" b="1" dirty="0">
                <a:solidFill>
                  <a:srgbClr val="0000FF"/>
                </a:solidFill>
                <a:highlight>
                  <a:srgbClr val="FFFF00"/>
                </a:highlight>
                <a:latin typeface="+mn-lt"/>
                <a:ea typeface="楷体" charset="-122"/>
                <a:cs typeface="+mn-lt"/>
                <a:sym typeface="+mn-ea"/>
              </a:rPr>
              <a:t>S</a:t>
            </a:r>
            <a:r>
              <a:rPr lang="zh-CN" altLang="en-US" sz="2800" b="1" dirty="0">
                <a:solidFill>
                  <a:srgbClr val="0000FF"/>
                </a:solidFill>
                <a:highlight>
                  <a:srgbClr val="FFFF00"/>
                </a:highlight>
                <a:latin typeface="+mn-lt"/>
                <a:ea typeface="楷体" charset="-122"/>
                <a:cs typeface="+mn-lt"/>
                <a:sym typeface="+mn-ea"/>
              </a:rPr>
              <a:t>没有选修过课程</a:t>
            </a:r>
            <a:r>
              <a:rPr lang="en-US" altLang="zh-CN" sz="2800" b="1" dirty="0">
                <a:solidFill>
                  <a:srgbClr val="0000FF"/>
                </a:solidFill>
                <a:highlight>
                  <a:srgbClr val="FFFF00"/>
                </a:highlight>
                <a:latin typeface="+mn-lt"/>
                <a:ea typeface="楷体" charset="-122"/>
                <a:cs typeface="+mn-lt"/>
                <a:sym typeface="+mn-ea"/>
              </a:rPr>
              <a:t>x.cno</a:t>
            </a:r>
            <a:r>
              <a:rPr lang="en-US" altLang="zh-CN" sz="2800" b="1" dirty="0">
                <a:solidFill>
                  <a:srgbClr val="0000FF"/>
                </a:solidFill>
                <a:latin typeface="+mn-lt"/>
                <a:ea typeface="楷体" charset="-122"/>
                <a:cs typeface="+mn-lt"/>
                <a:sym typeface="+mn-ea"/>
              </a:rPr>
              <a:t>” </a:t>
            </a:r>
            <a:r>
              <a:rPr lang="zh-CN" altLang="en-US" sz="2800" b="1" dirty="0">
                <a:solidFill>
                  <a:srgbClr val="0000FF"/>
                </a:solidFill>
                <a:latin typeface="+mn-lt"/>
                <a:ea typeface="楷体" charset="-122"/>
                <a:cs typeface="+mn-lt"/>
                <a:sym typeface="+mn-ea"/>
              </a:rPr>
              <a:t>也可以被解释为 </a:t>
            </a:r>
            <a:r>
              <a:rPr lang="en-US" altLang="zh-CN" sz="2800" b="1" dirty="0">
                <a:solidFill>
                  <a:srgbClr val="0000FF"/>
                </a:solidFill>
                <a:latin typeface="+mn-lt"/>
                <a:ea typeface="楷体" charset="-122"/>
                <a:cs typeface="+mn-lt"/>
                <a:sym typeface="+mn-ea"/>
              </a:rPr>
              <a:t>“</a:t>
            </a:r>
            <a:r>
              <a:rPr lang="zh-CN" altLang="en-US" sz="2800" b="1" dirty="0">
                <a:solidFill>
                  <a:srgbClr val="0000FF"/>
                </a:solidFill>
                <a:highlight>
                  <a:srgbClr val="FFFF00"/>
                </a:highlight>
                <a:latin typeface="+mn-lt"/>
                <a:ea typeface="楷体" charset="-122"/>
                <a:cs typeface="+mn-lt"/>
                <a:sym typeface="+mn-ea"/>
              </a:rPr>
              <a:t>课程</a:t>
            </a:r>
            <a:r>
              <a:rPr lang="en-US" altLang="zh-CN" sz="2800" b="1" dirty="0">
                <a:solidFill>
                  <a:srgbClr val="0000FF"/>
                </a:solidFill>
                <a:highlight>
                  <a:srgbClr val="FFFF00"/>
                </a:highlight>
                <a:latin typeface="+mn-lt"/>
                <a:ea typeface="楷体" charset="-122"/>
                <a:cs typeface="+mn-lt"/>
                <a:sym typeface="+mn-ea"/>
              </a:rPr>
              <a:t>x.cno</a:t>
            </a:r>
            <a:r>
              <a:rPr lang="zh-CN" altLang="en-US" sz="2800" b="1" dirty="0">
                <a:solidFill>
                  <a:srgbClr val="0000FF"/>
                </a:solidFill>
                <a:highlight>
                  <a:srgbClr val="FFFF00"/>
                </a:highlight>
                <a:latin typeface="+mn-lt"/>
                <a:ea typeface="楷体" charset="-122"/>
                <a:cs typeface="+mn-lt"/>
                <a:sym typeface="+mn-ea"/>
              </a:rPr>
              <a:t>不在学生</a:t>
            </a:r>
            <a:r>
              <a:rPr lang="en-US" altLang="zh-CN" sz="2800" b="1" dirty="0">
                <a:solidFill>
                  <a:srgbClr val="0000FF"/>
                </a:solidFill>
                <a:highlight>
                  <a:srgbClr val="FFFF00"/>
                </a:highlight>
                <a:latin typeface="+mn-lt"/>
                <a:ea typeface="楷体" charset="-122"/>
                <a:cs typeface="+mn-lt"/>
                <a:sym typeface="+mn-ea"/>
              </a:rPr>
              <a:t>S</a:t>
            </a:r>
            <a:r>
              <a:rPr lang="zh-CN" altLang="en-US" sz="2800" b="1" dirty="0">
                <a:solidFill>
                  <a:srgbClr val="0000FF"/>
                </a:solidFill>
                <a:highlight>
                  <a:srgbClr val="FFFF00"/>
                </a:highlight>
                <a:latin typeface="+mn-lt"/>
                <a:ea typeface="楷体" charset="-122"/>
                <a:cs typeface="+mn-lt"/>
                <a:sym typeface="+mn-ea"/>
              </a:rPr>
              <a:t>所选课程集合中</a:t>
            </a:r>
            <a:r>
              <a:rPr lang="en-US" altLang="zh-CN" sz="2800" b="1" dirty="0">
                <a:solidFill>
                  <a:srgbClr val="0000FF"/>
                </a:solidFill>
                <a:latin typeface="+mn-lt"/>
                <a:ea typeface="楷体" charset="-122"/>
                <a:cs typeface="+mn-lt"/>
                <a:sym typeface="+mn-ea"/>
              </a:rPr>
              <a:t>”</a:t>
            </a:r>
            <a:r>
              <a:rPr lang="zh-CN" altLang="en-US" sz="2800" b="1" dirty="0">
                <a:solidFill>
                  <a:srgbClr val="0000FF"/>
                </a:solidFill>
                <a:latin typeface="+mn-lt"/>
                <a:ea typeface="楷体" charset="-122"/>
                <a:cs typeface="+mn-lt"/>
                <a:sym typeface="+mn-ea"/>
              </a:rPr>
              <a:t>，因此我们可以把第二层的</a:t>
            </a:r>
            <a:r>
              <a:rPr lang="en-US" altLang="zh-CN" sz="2800" b="1" dirty="0">
                <a:solidFill>
                  <a:srgbClr val="0000FF"/>
                </a:solidFill>
                <a:latin typeface="+mn-lt"/>
                <a:ea typeface="楷体" charset="-122"/>
                <a:cs typeface="+mn-lt"/>
                <a:sym typeface="+mn-ea"/>
              </a:rPr>
              <a:t>NOT EXISTS(......)</a:t>
            </a:r>
            <a:r>
              <a:rPr lang="zh-CN" altLang="en-US" sz="2800" b="1" dirty="0">
                <a:solidFill>
                  <a:srgbClr val="0000FF"/>
                </a:solidFill>
                <a:latin typeface="+mn-lt"/>
                <a:ea typeface="楷体" charset="-122"/>
                <a:cs typeface="+mn-lt"/>
                <a:sym typeface="+mn-ea"/>
              </a:rPr>
              <a:t>改用</a:t>
            </a:r>
            <a:r>
              <a:rPr lang="en-US" altLang="zh-CN" sz="2800" b="1" dirty="0">
                <a:solidFill>
                  <a:srgbClr val="0000FF"/>
                </a:solidFill>
                <a:latin typeface="+mn-lt"/>
                <a:ea typeface="楷体" charset="-122"/>
                <a:cs typeface="+mn-lt"/>
                <a:sym typeface="+mn-ea"/>
              </a:rPr>
              <a:t>NOT IN</a:t>
            </a:r>
            <a:r>
              <a:rPr lang="zh-CN" altLang="en-US" sz="2800" b="1" dirty="0">
                <a:solidFill>
                  <a:srgbClr val="0000FF"/>
                </a:solidFill>
                <a:latin typeface="+mn-lt"/>
                <a:ea typeface="楷体" charset="-122"/>
                <a:cs typeface="+mn-lt"/>
                <a:sym typeface="+mn-ea"/>
              </a:rPr>
              <a:t>谓词来表示</a:t>
            </a:r>
            <a:r>
              <a:rPr lang="en-US" altLang="zh-CN" sz="2800" b="1" dirty="0">
                <a:solidFill>
                  <a:srgbClr val="0000FF"/>
                </a:solidFill>
                <a:latin typeface="+mn-lt"/>
                <a:ea typeface="楷体" charset="-122"/>
                <a:cs typeface="+mn-lt"/>
                <a:sym typeface="+mn-ea"/>
              </a:rPr>
              <a:t> (next slide)</a:t>
            </a:r>
            <a:endParaRPr lang="en-US" altLang="zh-CN" sz="2800" b="1" u="sng" dirty="0">
              <a:solidFill>
                <a:srgbClr val="0000FF"/>
              </a:solidFill>
              <a:latin typeface="+mn-lt"/>
              <a:ea typeface="楷体" charset="-122"/>
              <a:cs typeface="+mn-lt"/>
              <a:sym typeface="+mn-ea"/>
            </a:endParaRPr>
          </a:p>
        </p:txBody>
      </p:sp>
      <p:sp>
        <p:nvSpPr>
          <p:cNvPr id="7" name="右弧形箭头 6"/>
          <p:cNvSpPr/>
          <p:nvPr/>
        </p:nvSpPr>
        <p:spPr>
          <a:xfrm>
            <a:off x="9624695" y="2188845"/>
            <a:ext cx="216002" cy="792006"/>
          </a:xfrm>
          <a:prstGeom prst="curvedLeftArrow">
            <a:avLst>
              <a:gd name="adj1" fmla="val 19904"/>
              <a:gd name="adj2" fmla="val 8571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a typeface="楷体" charset="-122"/>
              <a:cs typeface="+mn-lt"/>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
        <p:nvSpPr>
          <p:cNvPr id="12" name="Rectangle 3"/>
          <p:cNvSpPr>
            <a:spLocks noGrp="1"/>
          </p:cNvSpPr>
          <p:nvPr>
            <p:ph idx="1"/>
          </p:nvPr>
        </p:nvSpPr>
        <p:spPr>
          <a:xfrm>
            <a:off x="424180" y="687070"/>
            <a:ext cx="11343005" cy="565150"/>
          </a:xfrm>
          <a:solidFill>
            <a:schemeClr val="accent3">
              <a:lumMod val="20000"/>
              <a:lumOff val="80000"/>
            </a:schemeClr>
          </a:solidFill>
        </p:spPr>
        <p:txBody>
          <a:bodyPr wrap="square" anchor="t">
            <a:spAutoFit/>
          </a:bodyPr>
          <a:p>
            <a:pPr eaLnBrk="1" hangingPunct="1"/>
            <a:r>
              <a:rPr lang="zh-CN" altLang="en-US" sz="2800" dirty="0"/>
              <a:t>查询至少修读了学号为</a:t>
            </a:r>
            <a:r>
              <a:rPr lang="en-US" altLang="x-none" sz="2800" dirty="0"/>
              <a:t>S4</a:t>
            </a:r>
            <a:r>
              <a:rPr lang="zh-CN" altLang="en-US" sz="2800" dirty="0"/>
              <a:t>的学生所修读</a:t>
            </a:r>
            <a:r>
              <a:rPr lang="zh-CN" altLang="en-US" sz="2800" dirty="0"/>
              <a:t>过的所有课程的学生的学号</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dirty="0">
                <a:sym typeface="+mn-ea"/>
              </a:rPr>
              <a:t>谓词</a:t>
            </a:r>
            <a:r>
              <a:rPr lang="en-US" altLang="x-none" dirty="0">
                <a:sym typeface="+mn-ea"/>
              </a:rPr>
              <a:t>EXISTS</a:t>
            </a:r>
            <a:r>
              <a:rPr lang="zh-CN" altLang="en-US" dirty="0">
                <a:sym typeface="+mn-ea"/>
              </a:rPr>
              <a:t>在复杂查询中的使用</a:t>
            </a:r>
            <a:r>
              <a:rPr lang="zh-CN" altLang="en-US" dirty="0">
                <a:sym typeface="+mn-ea"/>
              </a:rPr>
              <a:t>（</a:t>
            </a:r>
            <a:r>
              <a:rPr lang="en-US" altLang="zh-CN" dirty="0">
                <a:sym typeface="+mn-ea"/>
              </a:rPr>
              <a:t>8</a:t>
            </a:r>
            <a:r>
              <a:rPr lang="zh-CN" altLang="en-US" dirty="0">
                <a:sym typeface="+mn-ea"/>
              </a:rPr>
              <a:t>）</a:t>
            </a:r>
            <a:endParaRPr lang="zh-CN" altLang="en-US"/>
          </a:p>
        </p:txBody>
      </p:sp>
      <p:sp>
        <p:nvSpPr>
          <p:cNvPr id="10243" name="矩形 10243"/>
          <p:cNvSpPr/>
          <p:nvPr/>
        </p:nvSpPr>
        <p:spPr>
          <a:xfrm>
            <a:off x="1058545" y="1897380"/>
            <a:ext cx="9944100" cy="4656455"/>
          </a:xfrm>
          <a:prstGeom prst="rect">
            <a:avLst/>
          </a:prstGeom>
          <a:noFill/>
          <a:ln w="19050" cap="flat" cmpd="sng">
            <a:solidFill>
              <a:schemeClr val="tx1"/>
            </a:solidFill>
            <a:prstDash val="solid"/>
            <a:miter/>
            <a:headEnd type="none" w="med" len="med"/>
            <a:tailEnd type="none" w="med" len="med"/>
          </a:ln>
        </p:spPr>
        <p:txBody>
          <a:bodyPr wrap="square" anchor="t">
            <a:spAutoFit/>
          </a:bodyPr>
          <a:p>
            <a:pPr marL="914400" lvl="1" indent="-457200" algn="l">
              <a:spcBef>
                <a:spcPct val="20000"/>
              </a:spcBef>
              <a:buClr>
                <a:schemeClr val="accent2"/>
              </a:buClr>
              <a:buFont typeface="Wingdings" panose="05000000000000000000" pitchFamily="2" charset="2"/>
              <a:buNone/>
            </a:pPr>
            <a:r>
              <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rPr>
              <a:t>SELECT  S.sno</a:t>
            </a:r>
            <a:endPar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endParaRPr>
          </a:p>
          <a:p>
            <a:pPr marL="914400" lvl="1" indent="-457200" algn="l">
              <a:spcBef>
                <a:spcPct val="20000"/>
              </a:spcBef>
              <a:buClr>
                <a:schemeClr val="accent2"/>
              </a:buClr>
              <a:buFont typeface="Wingdings" panose="05000000000000000000" pitchFamily="2" charset="2"/>
              <a:buNone/>
            </a:pPr>
            <a:r>
              <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rPr>
              <a:t>FROM    S</a:t>
            </a:r>
            <a:endPar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endParaRPr>
          </a:p>
          <a:p>
            <a:pPr marL="914400" lvl="1" indent="-457200" algn="l">
              <a:spcBef>
                <a:spcPct val="20000"/>
              </a:spcBef>
              <a:buClr>
                <a:schemeClr val="accent2"/>
              </a:buClr>
              <a:buFont typeface="Wingdings" panose="05000000000000000000" pitchFamily="2" charset="2"/>
              <a:buNone/>
            </a:pPr>
            <a:r>
              <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rPr>
              <a:t>WHERE  NOT EXISTS (</a:t>
            </a:r>
            <a:endPar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endParaRPr>
          </a:p>
          <a:p>
            <a:pPr marL="1371600" lvl="2" indent="-457200" algn="l">
              <a:spcBef>
                <a:spcPct val="20000"/>
              </a:spcBef>
              <a:buClr>
                <a:schemeClr val="accent2"/>
              </a:buClr>
              <a:buFont typeface="Wingdings" panose="05000000000000000000" pitchFamily="2" charset="2"/>
              <a:buNone/>
            </a:pPr>
            <a:r>
              <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rPr>
              <a:t>SELECT  *</a:t>
            </a:r>
            <a:endPar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endParaRPr>
          </a:p>
          <a:p>
            <a:pPr marL="1371600" lvl="2" indent="-457200" algn="l">
              <a:spcBef>
                <a:spcPct val="20000"/>
              </a:spcBef>
              <a:buClr>
                <a:schemeClr val="accent2"/>
              </a:buClr>
              <a:buFont typeface="Wingdings" panose="05000000000000000000" pitchFamily="2" charset="2"/>
              <a:buNone/>
            </a:pPr>
            <a:r>
              <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rPr>
              <a:t>FROM  SC  x</a:t>
            </a:r>
            <a:endPar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endParaRPr>
          </a:p>
          <a:p>
            <a:pPr marL="1371600" lvl="2" indent="-457200" algn="l">
              <a:spcBef>
                <a:spcPct val="20000"/>
              </a:spcBef>
              <a:buClr>
                <a:schemeClr val="accent2"/>
              </a:buClr>
              <a:buFont typeface="Wingdings" panose="05000000000000000000" pitchFamily="2" charset="2"/>
              <a:buNone/>
            </a:pPr>
            <a:r>
              <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rPr>
              <a:t>WHERE  x.sno='S4'  and  </a:t>
            </a:r>
            <a:endPar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endParaRPr>
          </a:p>
          <a:p>
            <a:pPr marL="1371600" lvl="2" indent="-457200" algn="l">
              <a:spcBef>
                <a:spcPct val="20000"/>
              </a:spcBef>
              <a:buClr>
                <a:schemeClr val="accent2"/>
              </a:buClr>
              <a:buFont typeface="Wingdings" panose="05000000000000000000" pitchFamily="2" charset="2"/>
              <a:buNone/>
            </a:pPr>
            <a:r>
              <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rPr>
              <a:t>     </a:t>
            </a:r>
            <a:r>
              <a:rPr lang="en-US" altLang="zh-CN" sz="2800" b="1" dirty="0">
                <a:solidFill>
                  <a:srgbClr val="C00000"/>
                </a:solidFill>
                <a:latin typeface="Calibri" panose="020F0502020204030204" charset="0"/>
                <a:ea typeface="宋体" pitchFamily="2" charset="-122"/>
                <a:cs typeface="Calibri" panose="020F0502020204030204" charset="0"/>
                <a:sym typeface="Symbol" panose="05050102010706020507" pitchFamily="18" charset="2"/>
              </a:rPr>
              <a:t>x.cno  </a:t>
            </a:r>
            <a:r>
              <a:rPr lang="en-US" altLang="x-none" sz="2800" b="1" dirty="0">
                <a:solidFill>
                  <a:srgbClr val="C00000"/>
                </a:solidFill>
                <a:latin typeface="Calibri" panose="020F0502020204030204" charset="0"/>
                <a:ea typeface="宋体" pitchFamily="2" charset="-122"/>
                <a:cs typeface="Calibri" panose="020F0502020204030204" charset="0"/>
                <a:sym typeface="Symbol" panose="05050102010706020507" pitchFamily="18" charset="2"/>
              </a:rPr>
              <a:t>NOT IN ( SELECT  y.cno</a:t>
            </a:r>
            <a:endParaRPr lang="en-US" altLang="x-none" sz="2800" b="1" dirty="0">
              <a:solidFill>
                <a:srgbClr val="C00000"/>
              </a:solidFill>
              <a:latin typeface="Calibri" panose="020F0502020204030204" charset="0"/>
              <a:ea typeface="宋体" pitchFamily="2" charset="-122"/>
              <a:cs typeface="Calibri" panose="020F0502020204030204" charset="0"/>
              <a:sym typeface="Symbol" panose="05050102010706020507" pitchFamily="18" charset="2"/>
            </a:endParaRPr>
          </a:p>
          <a:p>
            <a:pPr marL="4114800" lvl="8" indent="-457200" algn="l">
              <a:spcBef>
                <a:spcPct val="20000"/>
              </a:spcBef>
              <a:buClr>
                <a:schemeClr val="accent2"/>
              </a:buClr>
              <a:buFont typeface="Wingdings" panose="05000000000000000000" pitchFamily="2" charset="2"/>
              <a:buNone/>
            </a:pPr>
            <a:r>
              <a:rPr lang="en-US" altLang="x-none" sz="2800" b="1" dirty="0">
                <a:solidFill>
                  <a:srgbClr val="C00000"/>
                </a:solidFill>
                <a:latin typeface="Calibri" panose="020F0502020204030204" charset="0"/>
                <a:ea typeface="宋体" pitchFamily="2" charset="-122"/>
                <a:cs typeface="Calibri" panose="020F0502020204030204" charset="0"/>
                <a:sym typeface="Symbol" panose="05050102010706020507" pitchFamily="18" charset="2"/>
              </a:rPr>
              <a:t>FROM  SC  y</a:t>
            </a:r>
            <a:endParaRPr lang="en-US" altLang="x-none" sz="2800" b="1" dirty="0">
              <a:solidFill>
                <a:srgbClr val="C00000"/>
              </a:solidFill>
              <a:latin typeface="Calibri" panose="020F0502020204030204" charset="0"/>
              <a:ea typeface="宋体" pitchFamily="2" charset="-122"/>
              <a:cs typeface="Calibri" panose="020F0502020204030204" charset="0"/>
              <a:sym typeface="Symbol" panose="05050102010706020507" pitchFamily="18" charset="2"/>
            </a:endParaRPr>
          </a:p>
          <a:p>
            <a:pPr marL="4114800" lvl="8" indent="-457200" algn="l">
              <a:spcBef>
                <a:spcPct val="20000"/>
              </a:spcBef>
              <a:buClr>
                <a:schemeClr val="accent2"/>
              </a:buClr>
              <a:buFont typeface="Wingdings" panose="05000000000000000000" pitchFamily="2" charset="2"/>
              <a:buNone/>
            </a:pPr>
            <a:r>
              <a:rPr lang="en-US" altLang="x-none" sz="2800" b="1" dirty="0">
                <a:solidFill>
                  <a:srgbClr val="C00000"/>
                </a:solidFill>
                <a:latin typeface="Calibri" panose="020F0502020204030204" charset="0"/>
                <a:ea typeface="宋体" pitchFamily="2" charset="-122"/>
                <a:cs typeface="Calibri" panose="020F0502020204030204" charset="0"/>
                <a:sym typeface="Symbol" panose="05050102010706020507" pitchFamily="18" charset="2"/>
              </a:rPr>
              <a:t>WHERE  y.sno=S.sno )</a:t>
            </a:r>
            <a:r>
              <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rPr>
              <a:t> )</a:t>
            </a:r>
            <a:endParaRPr lang="en-US" altLang="x-none" sz="2800" b="1" dirty="0">
              <a:solidFill>
                <a:srgbClr val="0000FF"/>
              </a:solidFill>
              <a:latin typeface="Calibri" panose="020F0502020204030204" charset="0"/>
              <a:ea typeface="宋体" pitchFamily="2" charset="-122"/>
              <a:cs typeface="Calibri" panose="020F0502020204030204" charset="0"/>
              <a:sym typeface="Symbol" panose="05050102010706020507" pitchFamily="18" charset="2"/>
            </a:endParaRPr>
          </a:p>
        </p:txBody>
      </p:sp>
      <p:sp>
        <p:nvSpPr>
          <p:cNvPr id="2" name="文本框 1"/>
          <p:cNvSpPr txBox="1"/>
          <p:nvPr/>
        </p:nvSpPr>
        <p:spPr>
          <a:xfrm>
            <a:off x="949325" y="1358900"/>
            <a:ext cx="3944620" cy="521970"/>
          </a:xfrm>
          <a:prstGeom prst="rect">
            <a:avLst/>
          </a:prstGeom>
          <a:noFill/>
        </p:spPr>
        <p:txBody>
          <a:bodyPr wrap="square" rtlCol="0">
            <a:spAutoFit/>
          </a:bodyPr>
          <a:p>
            <a:r>
              <a:rPr lang="en-US" altLang="zh-CN" sz="2800">
                <a:solidFill>
                  <a:srgbClr val="0000FF"/>
                </a:solidFill>
                <a:latin typeface="+mn-lt"/>
                <a:ea typeface="楷体" charset="-122"/>
                <a:cs typeface="+mn-lt"/>
              </a:rPr>
              <a:t>(</a:t>
            </a:r>
            <a:r>
              <a:rPr lang="zh-CN" altLang="zh-CN" sz="2800">
                <a:solidFill>
                  <a:srgbClr val="0000FF"/>
                </a:solidFill>
                <a:latin typeface="+mn-lt"/>
                <a:ea typeface="楷体" charset="-122"/>
                <a:cs typeface="+mn-lt"/>
              </a:rPr>
              <a:t>第二种表示方法</a:t>
            </a:r>
            <a:r>
              <a:rPr lang="en-US" altLang="zh-CN" sz="2800">
                <a:solidFill>
                  <a:srgbClr val="0000FF"/>
                </a:solidFill>
                <a:latin typeface="+mn-lt"/>
                <a:ea typeface="楷体" charset="-122"/>
                <a:cs typeface="+mn-lt"/>
              </a:rPr>
              <a:t>)</a:t>
            </a:r>
            <a:endParaRPr lang="en-US" altLang="zh-CN" sz="2800">
              <a:solidFill>
                <a:srgbClr val="0000FF"/>
              </a:solidFill>
              <a:latin typeface="+mn-lt"/>
              <a:ea typeface="楷体" charset="-122"/>
              <a:cs typeface="+mn-lt"/>
            </a:endParaRPr>
          </a:p>
        </p:txBody>
      </p:sp>
      <p:sp>
        <p:nvSpPr>
          <p:cNvPr id="4" name="灯片编号占位符 3"/>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pitchFamily="2" charset="0"/>
                <a:ea typeface="宋体" pitchFamily="2" charset="-122"/>
                <a:cs typeface="+mn-ea"/>
              </a:rPr>
            </a:fld>
            <a:endParaRPr lang="en-US" altLang="x-none" strike="noStrike" noProof="1" dirty="0"/>
          </a:p>
        </p:txBody>
      </p:sp>
      <p:sp>
        <p:nvSpPr>
          <p:cNvPr id="12" name="Rectangle 3"/>
          <p:cNvSpPr>
            <a:spLocks noGrp="1"/>
          </p:cNvSpPr>
          <p:nvPr>
            <p:ph idx="1"/>
          </p:nvPr>
        </p:nvSpPr>
        <p:spPr>
          <a:xfrm>
            <a:off x="424180" y="687070"/>
            <a:ext cx="11343005" cy="565150"/>
          </a:xfrm>
          <a:solidFill>
            <a:schemeClr val="accent3">
              <a:lumMod val="20000"/>
              <a:lumOff val="80000"/>
            </a:schemeClr>
          </a:solidFill>
        </p:spPr>
        <p:txBody>
          <a:bodyPr wrap="square" anchor="t">
            <a:spAutoFit/>
          </a:bodyPr>
          <a:p>
            <a:pPr eaLnBrk="1" hangingPunct="1"/>
            <a:r>
              <a:rPr lang="zh-CN" altLang="en-US" sz="2800" dirty="0"/>
              <a:t>查询至少修读了学号为</a:t>
            </a:r>
            <a:r>
              <a:rPr lang="en-US" altLang="x-none" sz="2800" dirty="0"/>
              <a:t>S4</a:t>
            </a:r>
            <a:r>
              <a:rPr lang="zh-CN" altLang="en-US" sz="2800" dirty="0"/>
              <a:t>的学生所修读</a:t>
            </a:r>
            <a:r>
              <a:rPr lang="zh-CN" altLang="en-US" sz="2800" dirty="0"/>
              <a:t>过的所有课程的学生的学号</a:t>
            </a:r>
            <a:endParaRPr lang="zh-CN" altLang="en-US" sz="2800"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dirty="0">
                <a:sym typeface="+mn-ea"/>
              </a:rPr>
              <a:t>谓词</a:t>
            </a:r>
            <a:r>
              <a:rPr lang="en-US" altLang="x-none" dirty="0">
                <a:sym typeface="+mn-ea"/>
              </a:rPr>
              <a:t>EXISTS</a:t>
            </a:r>
            <a:r>
              <a:rPr lang="zh-CN" altLang="en-US" dirty="0">
                <a:sym typeface="+mn-ea"/>
              </a:rPr>
              <a:t>在复杂查询中的使用（</a:t>
            </a:r>
            <a:r>
              <a:rPr lang="en-US" altLang="zh-CN" dirty="0">
                <a:sym typeface="+mn-ea"/>
              </a:rPr>
              <a:t>9</a:t>
            </a:r>
            <a:r>
              <a:rPr lang="zh-CN" altLang="en-US" dirty="0">
                <a:sym typeface="+mn-ea"/>
              </a:rPr>
              <a:t>）</a:t>
            </a:r>
            <a:endParaRPr kumimoji="0" lang="en-US" altLang="zh-CN" i="0" u="none" strike="noStrike" kern="0" cap="none" spc="0" normalizeH="0" baseline="0" noProof="0" dirty="0">
              <a:ln>
                <a:noFill/>
              </a:ln>
              <a:solidFill>
                <a:schemeClr val="tx1"/>
              </a:solidFill>
              <a:effectLst/>
              <a:uLnTx/>
              <a:uFillTx/>
              <a:latin typeface="Verdana" panose="020B0804030504040204"/>
              <a:ea typeface="+mj-ea"/>
              <a:cs typeface="+mj-cs"/>
            </a:endParaRPr>
          </a:p>
        </p:txBody>
      </p:sp>
      <p:sp>
        <p:nvSpPr>
          <p:cNvPr id="65539" name="Rectangle 3"/>
          <p:cNvSpPr>
            <a:spLocks noGrp="1" noChangeArrowheads="1"/>
          </p:cNvSpPr>
          <p:nvPr>
            <p:ph idx="1"/>
          </p:nvPr>
        </p:nvSpPr>
        <p:spPr/>
        <p:txBody>
          <a:bodyPr>
            <a:noAutofit/>
          </a:bodyPr>
          <a:lstStyle/>
          <a:p>
            <a:pPr>
              <a:lnSpc>
                <a:spcPct val="100000"/>
              </a:lnSpc>
              <a:spcBef>
                <a:spcPct val="0"/>
              </a:spcBef>
            </a:pPr>
            <a:r>
              <a:rPr lang="en-US" altLang="zh-CN" sz="2800" dirty="0"/>
              <a:t>[</a:t>
            </a:r>
            <a:r>
              <a:rPr lang="zh-CN" altLang="en-US" sz="2800" dirty="0"/>
              <a:t>例</a:t>
            </a:r>
            <a:r>
              <a:rPr lang="en-US" altLang="zh-CN" sz="2800" dirty="0"/>
              <a:t>3.63]</a:t>
            </a:r>
            <a:r>
              <a:rPr lang="zh-CN" altLang="en-US" sz="2800" dirty="0"/>
              <a:t>查询至少选修了学生</a:t>
            </a:r>
            <a:r>
              <a:rPr lang="en-US" altLang="zh-CN" sz="2800" dirty="0"/>
              <a:t>201215122</a:t>
            </a:r>
            <a:r>
              <a:rPr lang="zh-CN" altLang="en-US" sz="2800" dirty="0"/>
              <a:t>选修的全部课程的学生号码。</a:t>
            </a:r>
            <a:endParaRPr lang="zh-CN" altLang="en-US" sz="2800" dirty="0"/>
          </a:p>
          <a:p>
            <a:pPr>
              <a:lnSpc>
                <a:spcPct val="100000"/>
              </a:lnSpc>
            </a:pPr>
            <a:r>
              <a:rPr lang="zh-CN" altLang="en-US" sz="2800" dirty="0"/>
              <a:t>解题思路：</a:t>
            </a:r>
            <a:endParaRPr lang="zh-CN" altLang="en-US" sz="2800" dirty="0"/>
          </a:p>
          <a:p>
            <a:pPr lvl="1">
              <a:lnSpc>
                <a:spcPct val="100000"/>
              </a:lnSpc>
              <a:spcBef>
                <a:spcPct val="0"/>
              </a:spcBef>
            </a:pPr>
            <a:r>
              <a:rPr lang="zh-CN" altLang="en-US" sz="2800" dirty="0"/>
              <a:t>查询语义的解析：如果学号为</a:t>
            </a:r>
            <a:r>
              <a:rPr lang="en-US" altLang="zh-CN" sz="2800" dirty="0"/>
              <a:t>x</a:t>
            </a:r>
            <a:r>
              <a:rPr lang="zh-CN" altLang="en-US" sz="2800" dirty="0"/>
              <a:t>的学生满足查询条件，</a:t>
            </a:r>
            <a:r>
              <a:rPr lang="zh-CN" altLang="en-US" sz="2800" dirty="0"/>
              <a:t>那么对所有的课程</a:t>
            </a:r>
            <a:r>
              <a:rPr lang="en-US" altLang="zh-CN" sz="2800" dirty="0"/>
              <a:t>y</a:t>
            </a:r>
            <a:r>
              <a:rPr lang="zh-CN" altLang="en-US" sz="2800" dirty="0"/>
              <a:t>，只要</a:t>
            </a:r>
            <a:r>
              <a:rPr lang="en-US" altLang="zh-CN" sz="2800" dirty="0"/>
              <a:t>201215122</a:t>
            </a:r>
            <a:r>
              <a:rPr lang="zh-CN" altLang="en-US" sz="2800" dirty="0"/>
              <a:t>学生选修了课程</a:t>
            </a:r>
            <a:r>
              <a:rPr lang="en-US" altLang="zh-CN" sz="2800" dirty="0"/>
              <a:t>y</a:t>
            </a:r>
            <a:r>
              <a:rPr lang="zh-CN" altLang="en-US" sz="2800" dirty="0"/>
              <a:t>，则</a:t>
            </a:r>
            <a:r>
              <a:rPr lang="en-US" altLang="zh-CN" sz="2800" dirty="0"/>
              <a:t>x</a:t>
            </a:r>
            <a:r>
              <a:rPr lang="zh-CN" altLang="en-US" sz="2800" dirty="0"/>
              <a:t>也选修了</a:t>
            </a:r>
            <a:r>
              <a:rPr lang="en-US" altLang="zh-CN" sz="2800" dirty="0"/>
              <a:t>y</a:t>
            </a:r>
            <a:r>
              <a:rPr lang="zh-CN" altLang="en-US" sz="2800" dirty="0"/>
              <a:t>。</a:t>
            </a:r>
            <a:endParaRPr lang="zh-CN" altLang="en-US" sz="2800" dirty="0"/>
          </a:p>
          <a:p>
            <a:pPr lvl="1">
              <a:lnSpc>
                <a:spcPct val="100000"/>
              </a:lnSpc>
              <a:spcBef>
                <a:spcPct val="0"/>
              </a:spcBef>
            </a:pPr>
            <a:r>
              <a:rPr lang="zh-CN" altLang="en-US" sz="2800" dirty="0"/>
              <a:t>形式化表示：</a:t>
            </a:r>
            <a:endParaRPr lang="zh-CN" altLang="en-US" sz="2800" dirty="0"/>
          </a:p>
          <a:p>
            <a:pPr lvl="2">
              <a:lnSpc>
                <a:spcPct val="100000"/>
              </a:lnSpc>
              <a:spcBef>
                <a:spcPct val="0"/>
              </a:spcBef>
            </a:pPr>
            <a:r>
              <a:rPr lang="zh-CN" altLang="en-US" sz="2400" dirty="0"/>
              <a:t>用</a:t>
            </a:r>
            <a:r>
              <a:rPr lang="en-US" altLang="zh-CN" sz="2400" dirty="0"/>
              <a:t>p</a:t>
            </a:r>
            <a:r>
              <a:rPr lang="zh-CN" altLang="en-US" sz="2400" dirty="0"/>
              <a:t>表示谓词 “学生</a:t>
            </a:r>
            <a:r>
              <a:rPr lang="en-US" altLang="zh-CN" sz="2400" dirty="0"/>
              <a:t>201215122</a:t>
            </a:r>
            <a:r>
              <a:rPr lang="zh-CN" altLang="en-US" sz="2400" dirty="0"/>
              <a:t>选修了课程</a:t>
            </a:r>
            <a:r>
              <a:rPr lang="en-US" altLang="zh-CN" sz="2400" dirty="0"/>
              <a:t>y”</a:t>
            </a:r>
            <a:endParaRPr lang="en-US" altLang="zh-CN" sz="2400" dirty="0"/>
          </a:p>
          <a:p>
            <a:pPr lvl="2">
              <a:lnSpc>
                <a:spcPct val="100000"/>
              </a:lnSpc>
              <a:spcBef>
                <a:spcPct val="0"/>
              </a:spcBef>
            </a:pPr>
            <a:r>
              <a:rPr lang="zh-CN" altLang="en-US" sz="2400" dirty="0"/>
              <a:t>用</a:t>
            </a:r>
            <a:r>
              <a:rPr lang="en-US" altLang="zh-CN" sz="2400" dirty="0"/>
              <a:t>q</a:t>
            </a:r>
            <a:r>
              <a:rPr lang="zh-CN" altLang="en-US" sz="2400" dirty="0"/>
              <a:t>表示谓词 “学生</a:t>
            </a:r>
            <a:r>
              <a:rPr lang="en-US" altLang="zh-CN" sz="2400" dirty="0"/>
              <a:t>x</a:t>
            </a:r>
            <a:r>
              <a:rPr lang="zh-CN" altLang="en-US" sz="2400" dirty="0"/>
              <a:t>选修了课程</a:t>
            </a:r>
            <a:r>
              <a:rPr lang="en-US" altLang="zh-CN" sz="2400" dirty="0"/>
              <a:t>y”</a:t>
            </a:r>
            <a:endParaRPr lang="en-US" altLang="zh-CN" sz="2400" dirty="0"/>
          </a:p>
          <a:p>
            <a:pPr lvl="2">
              <a:lnSpc>
                <a:spcPct val="100000"/>
              </a:lnSpc>
              <a:spcBef>
                <a:spcPct val="0"/>
              </a:spcBef>
            </a:pPr>
            <a:r>
              <a:rPr lang="zh-CN" altLang="en-US" sz="2400" dirty="0"/>
              <a:t>则上述查询为</a:t>
            </a:r>
            <a:r>
              <a:rPr lang="en-US" altLang="zh-CN" sz="2400" dirty="0"/>
              <a:t>: （</a:t>
            </a:r>
            <a:r>
              <a:rPr lang="en-US" altLang="zh-CN" sz="2400" dirty="0">
                <a:sym typeface="Symbol" panose="05050102010706020507" pitchFamily="18" charset="2"/>
              </a:rPr>
              <a:t></a:t>
            </a:r>
            <a:r>
              <a:rPr lang="en-US" altLang="zh-CN" sz="2400" dirty="0"/>
              <a:t>y） p </a:t>
            </a:r>
            <a:r>
              <a:rPr lang="en-US" altLang="zh-CN" sz="2400" dirty="0">
                <a:sym typeface="Symbol" panose="05050102010706020507" pitchFamily="18" charset="2"/>
              </a:rPr>
              <a:t></a:t>
            </a:r>
            <a:r>
              <a:rPr lang="en-US" altLang="zh-CN" sz="2400" dirty="0"/>
              <a:t> q </a:t>
            </a:r>
            <a:endParaRPr lang="en-US" altLang="zh-CN" sz="2400" dirty="0"/>
          </a:p>
          <a:p>
            <a:pPr lvl="2">
              <a:lnSpc>
                <a:spcPct val="100000"/>
              </a:lnSpc>
              <a:spcBef>
                <a:spcPct val="0"/>
              </a:spcBef>
            </a:pPr>
            <a:r>
              <a:rPr lang="zh-CN" altLang="en-US" sz="2400" dirty="0"/>
              <a:t>等价变换：</a:t>
            </a:r>
            <a:endParaRPr lang="en-US" altLang="zh-CN" sz="2400" dirty="0"/>
          </a:p>
          <a:p>
            <a:pPr marL="1172845" lvl="3" indent="0">
              <a:lnSpc>
                <a:spcPct val="100000"/>
              </a:lnSpc>
              <a:spcBef>
                <a:spcPct val="0"/>
              </a:spcBef>
              <a:buNone/>
            </a:pPr>
            <a:r>
              <a:rPr lang="en-US" altLang="zh-CN" sz="2400" dirty="0"/>
              <a:t>（</a:t>
            </a:r>
            <a:r>
              <a:rPr lang="en-US" altLang="zh-CN" sz="2400" dirty="0">
                <a:sym typeface="Symbol" panose="05050102010706020507" pitchFamily="18" charset="2"/>
              </a:rPr>
              <a:t></a:t>
            </a:r>
            <a:r>
              <a:rPr lang="en-US" altLang="zh-CN" sz="2400" dirty="0" err="1"/>
              <a:t>y）</a:t>
            </a:r>
            <a:r>
              <a:rPr lang="en-US" altLang="zh-CN" sz="2400" dirty="0" err="1">
                <a:solidFill>
                  <a:srgbClr val="FF3399"/>
                </a:solidFill>
              </a:rPr>
              <a:t>p</a:t>
            </a:r>
            <a:r>
              <a:rPr lang="en-US" altLang="zh-CN" sz="2400" dirty="0">
                <a:solidFill>
                  <a:srgbClr val="FF3399"/>
                </a:solidFill>
              </a:rPr>
              <a:t> </a:t>
            </a:r>
            <a:r>
              <a:rPr lang="en-US" altLang="zh-CN" sz="2400" dirty="0">
                <a:solidFill>
                  <a:srgbClr val="FF3399"/>
                </a:solidFill>
                <a:sym typeface="Symbol" panose="05050102010706020507" pitchFamily="18" charset="2"/>
              </a:rPr>
              <a:t></a:t>
            </a:r>
            <a:r>
              <a:rPr lang="en-US" altLang="zh-CN" sz="2400" dirty="0">
                <a:solidFill>
                  <a:srgbClr val="FF3399"/>
                </a:solidFill>
              </a:rPr>
              <a:t> q</a:t>
            </a:r>
            <a:r>
              <a:rPr lang="en-US" altLang="zh-CN" sz="2400" dirty="0"/>
              <a:t>  ≡  </a:t>
            </a:r>
            <a:r>
              <a:rPr lang="en-US" altLang="zh-CN" sz="2400" dirty="0">
                <a:sym typeface="Symbol" panose="05050102010706020507" pitchFamily="18" charset="2"/>
              </a:rPr>
              <a:t></a:t>
            </a:r>
            <a:r>
              <a:rPr lang="en-US" altLang="zh-CN" sz="2400" dirty="0"/>
              <a:t> （</a:t>
            </a:r>
            <a:r>
              <a:rPr lang="en-US" altLang="zh-CN" sz="2400" dirty="0">
                <a:sym typeface="Symbol" panose="05050102010706020507" pitchFamily="18" charset="2"/>
              </a:rPr>
              <a:t></a:t>
            </a:r>
            <a:r>
              <a:rPr lang="en-US" altLang="zh-CN" sz="2400" dirty="0"/>
              <a:t>y （</a:t>
            </a:r>
            <a:r>
              <a:rPr lang="en-US" altLang="zh-CN" sz="2400" dirty="0">
                <a:sym typeface="Symbol" panose="05050102010706020507" pitchFamily="18" charset="2"/>
              </a:rPr>
              <a:t></a:t>
            </a:r>
            <a:r>
              <a:rPr lang="en-US" altLang="zh-CN" sz="2400" dirty="0"/>
              <a:t>（</a:t>
            </a:r>
            <a:r>
              <a:rPr lang="en-US" altLang="zh-CN" sz="2400" dirty="0">
                <a:solidFill>
                  <a:srgbClr val="FF3399"/>
                </a:solidFill>
              </a:rPr>
              <a:t>p </a:t>
            </a:r>
            <a:r>
              <a:rPr lang="en-US" altLang="zh-CN" sz="2400" dirty="0">
                <a:solidFill>
                  <a:srgbClr val="FF3399"/>
                </a:solidFill>
                <a:sym typeface="Symbol" panose="05050102010706020507" pitchFamily="18" charset="2"/>
              </a:rPr>
              <a:t></a:t>
            </a:r>
            <a:r>
              <a:rPr lang="en-US" altLang="zh-CN" sz="2400" dirty="0">
                <a:solidFill>
                  <a:srgbClr val="FF3399"/>
                </a:solidFill>
              </a:rPr>
              <a:t> q</a:t>
            </a:r>
            <a:r>
              <a:rPr lang="en-US" altLang="zh-CN" sz="2400" dirty="0"/>
              <a:t> ））</a:t>
            </a:r>
            <a:endParaRPr lang="en-US" altLang="zh-CN" sz="2400" dirty="0"/>
          </a:p>
          <a:p>
            <a:pPr marL="1172845" lvl="3" indent="2186940">
              <a:lnSpc>
                <a:spcPct val="100000"/>
              </a:lnSpc>
              <a:spcBef>
                <a:spcPct val="0"/>
              </a:spcBef>
              <a:buNone/>
            </a:pPr>
            <a:r>
              <a:rPr lang="en-US" altLang="zh-CN" sz="2400" dirty="0"/>
              <a:t>≡  </a:t>
            </a:r>
            <a:r>
              <a:rPr lang="en-US" altLang="zh-CN" sz="2400" dirty="0">
                <a:sym typeface="Symbol" panose="05050102010706020507" pitchFamily="18" charset="2"/>
              </a:rPr>
              <a:t></a:t>
            </a:r>
            <a:r>
              <a:rPr lang="en-US" altLang="zh-CN" sz="2400" dirty="0"/>
              <a:t> （</a:t>
            </a:r>
            <a:r>
              <a:rPr lang="en-US" altLang="zh-CN" sz="2400" dirty="0">
                <a:sym typeface="Symbol" panose="05050102010706020507" pitchFamily="18" charset="2"/>
              </a:rPr>
              <a:t></a:t>
            </a:r>
            <a:r>
              <a:rPr lang="en-US" altLang="zh-CN" sz="2400" dirty="0"/>
              <a:t>y （</a:t>
            </a:r>
            <a:r>
              <a:rPr lang="en-US" altLang="zh-CN" sz="2400" dirty="0">
                <a:sym typeface="Symbol" panose="05050102010706020507" pitchFamily="18" charset="2"/>
              </a:rPr>
              <a:t></a:t>
            </a:r>
            <a:r>
              <a:rPr lang="en-US" altLang="zh-CN" sz="2400" dirty="0"/>
              <a:t>（</a:t>
            </a:r>
            <a:r>
              <a:rPr lang="en-US" altLang="zh-CN" sz="2400" dirty="0">
                <a:sym typeface="Symbol" panose="05050102010706020507" pitchFamily="18" charset="2"/>
              </a:rPr>
              <a:t></a:t>
            </a:r>
            <a:r>
              <a:rPr lang="en-US" altLang="zh-CN" sz="2400" dirty="0"/>
              <a:t> p∨ q） ））</a:t>
            </a:r>
            <a:endParaRPr lang="en-US" altLang="zh-CN" sz="2400" dirty="0"/>
          </a:p>
          <a:p>
            <a:pPr marL="1172845" lvl="3" indent="2186940">
              <a:lnSpc>
                <a:spcPct val="100000"/>
              </a:lnSpc>
              <a:spcBef>
                <a:spcPct val="0"/>
              </a:spcBef>
              <a:buNone/>
            </a:pPr>
            <a:r>
              <a:rPr lang="en-US" altLang="zh-CN" sz="2400" dirty="0"/>
              <a:t>≡  </a:t>
            </a:r>
            <a:r>
              <a:rPr lang="en-US" altLang="zh-CN" sz="2400" dirty="0">
                <a:sym typeface="Symbol" panose="05050102010706020507" pitchFamily="18" charset="2"/>
              </a:rPr>
              <a:t></a:t>
            </a:r>
            <a:r>
              <a:rPr lang="en-US" altLang="zh-CN" sz="2400" dirty="0"/>
              <a:t> </a:t>
            </a:r>
            <a:r>
              <a:rPr lang="en-US" altLang="zh-CN" sz="2400" dirty="0">
                <a:sym typeface="Symbol" panose="05050102010706020507" pitchFamily="18" charset="2"/>
              </a:rPr>
              <a:t></a:t>
            </a:r>
            <a:r>
              <a:rPr lang="en-US" altLang="zh-CN" sz="2400" dirty="0" err="1"/>
              <a:t>y（p</a:t>
            </a:r>
            <a:r>
              <a:rPr lang="en-US" altLang="zh-CN" sz="2400" dirty="0"/>
              <a:t>∧</a:t>
            </a:r>
            <a:r>
              <a:rPr lang="en-US" altLang="zh-CN" sz="2400" dirty="0">
                <a:sym typeface="Symbol" panose="05050102010706020507" pitchFamily="18" charset="2"/>
              </a:rPr>
              <a:t></a:t>
            </a:r>
            <a:r>
              <a:rPr lang="en-US" altLang="zh-CN" sz="2400" dirty="0"/>
              <a:t>q）</a:t>
            </a:r>
            <a:endParaRPr lang="en-US" altLang="zh-CN" sz="2400" dirty="0"/>
          </a:p>
          <a:p>
            <a:pPr lvl="1">
              <a:lnSpc>
                <a:spcPct val="100000"/>
              </a:lnSpc>
              <a:spcBef>
                <a:spcPts val="1000"/>
              </a:spcBef>
            </a:pPr>
            <a:r>
              <a:rPr lang="zh-CN" altLang="en-US" sz="2800" dirty="0"/>
              <a:t>变换后语义</a:t>
            </a:r>
            <a:r>
              <a:rPr lang="zh-CN" altLang="en-US" sz="2800" dirty="0"/>
              <a:t>如下：</a:t>
            </a:r>
            <a:endParaRPr lang="zh-CN" altLang="en-US" sz="2800" dirty="0"/>
          </a:p>
          <a:p>
            <a:pPr marL="914400" lvl="2" indent="0">
              <a:lnSpc>
                <a:spcPct val="100000"/>
              </a:lnSpc>
              <a:spcBef>
                <a:spcPct val="0"/>
              </a:spcBef>
              <a:buNone/>
            </a:pPr>
            <a:r>
              <a:rPr lang="zh-CN" altLang="en-US" sz="2800" dirty="0"/>
              <a:t>不存在这样的课程</a:t>
            </a:r>
            <a:r>
              <a:rPr lang="en-US" altLang="zh-CN" sz="2800" dirty="0"/>
              <a:t>y</a:t>
            </a:r>
            <a:r>
              <a:rPr lang="zh-CN" altLang="en-US" sz="2800" dirty="0"/>
              <a:t>，学生</a:t>
            </a:r>
            <a:r>
              <a:rPr lang="en-US" altLang="zh-CN" sz="2800" dirty="0">
                <a:latin typeface="宋体" pitchFamily="2" charset="-122"/>
              </a:rPr>
              <a:t>201215122</a:t>
            </a:r>
            <a:r>
              <a:rPr lang="zh-CN" altLang="en-US" sz="2800" dirty="0"/>
              <a:t>选修了</a:t>
            </a:r>
            <a:r>
              <a:rPr lang="en-US" altLang="zh-CN" sz="2800" dirty="0"/>
              <a:t>y</a:t>
            </a:r>
            <a:r>
              <a:rPr lang="zh-CN" altLang="en-US" sz="2800" dirty="0"/>
              <a:t>，而学生</a:t>
            </a:r>
            <a:r>
              <a:rPr lang="en-US" altLang="zh-CN" sz="2800" dirty="0"/>
              <a:t>x</a:t>
            </a:r>
            <a:r>
              <a:rPr lang="zh-CN" altLang="en-US" sz="2800" dirty="0"/>
              <a:t>没有选。</a:t>
            </a:r>
            <a:endParaRPr lang="en-US" altLang="zh-CN" sz="2800"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39">
                                            <p:txEl>
                                              <p:pRg st="1" end="1"/>
                                            </p:txEl>
                                          </p:spTgt>
                                        </p:tgtEl>
                                        <p:attrNameLst>
                                          <p:attrName>style.visibility</p:attrName>
                                        </p:attrNameLst>
                                      </p:cBhvr>
                                      <p:to>
                                        <p:strVal val="visible"/>
                                      </p:to>
                                    </p:set>
                                    <p:animEffect transition="in" filter="blinds(horizontal)">
                                      <p:cBhvr>
                                        <p:cTn id="7" dur="500"/>
                                        <p:tgtEl>
                                          <p:spTgt spid="6553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5539">
                                            <p:txEl>
                                              <p:pRg st="2" end="2"/>
                                            </p:txEl>
                                          </p:spTgt>
                                        </p:tgtEl>
                                        <p:attrNameLst>
                                          <p:attrName>style.visibility</p:attrName>
                                        </p:attrNameLst>
                                      </p:cBhvr>
                                      <p:to>
                                        <p:strVal val="visible"/>
                                      </p:to>
                                    </p:set>
                                    <p:animEffect transition="in" filter="blinds(horizontal)">
                                      <p:cBhvr>
                                        <p:cTn id="10" dur="500"/>
                                        <p:tgtEl>
                                          <p:spTgt spid="6553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5539">
                                            <p:txEl>
                                              <p:pRg st="3" end="3"/>
                                            </p:txEl>
                                          </p:spTgt>
                                        </p:tgtEl>
                                        <p:attrNameLst>
                                          <p:attrName>style.visibility</p:attrName>
                                        </p:attrNameLst>
                                      </p:cBhvr>
                                      <p:to>
                                        <p:strVal val="visible"/>
                                      </p:to>
                                    </p:set>
                                    <p:animEffect transition="in" filter="blinds(horizontal)">
                                      <p:cBhvr>
                                        <p:cTn id="15" dur="500"/>
                                        <p:tgtEl>
                                          <p:spTgt spid="65539">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5539">
                                            <p:txEl>
                                              <p:pRg st="4" end="4"/>
                                            </p:txEl>
                                          </p:spTgt>
                                        </p:tgtEl>
                                        <p:attrNameLst>
                                          <p:attrName>style.visibility</p:attrName>
                                        </p:attrNameLst>
                                      </p:cBhvr>
                                      <p:to>
                                        <p:strVal val="visible"/>
                                      </p:to>
                                    </p:set>
                                    <p:animEffect transition="in" filter="blinds(horizontal)">
                                      <p:cBhvr>
                                        <p:cTn id="18" dur="500"/>
                                        <p:tgtEl>
                                          <p:spTgt spid="65539">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5539">
                                            <p:txEl>
                                              <p:pRg st="5" end="5"/>
                                            </p:txEl>
                                          </p:spTgt>
                                        </p:tgtEl>
                                        <p:attrNameLst>
                                          <p:attrName>style.visibility</p:attrName>
                                        </p:attrNameLst>
                                      </p:cBhvr>
                                      <p:to>
                                        <p:strVal val="visible"/>
                                      </p:to>
                                    </p:set>
                                    <p:animEffect transition="in" filter="blinds(horizontal)">
                                      <p:cBhvr>
                                        <p:cTn id="21" dur="500"/>
                                        <p:tgtEl>
                                          <p:spTgt spid="65539">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5539">
                                            <p:txEl>
                                              <p:pRg st="6" end="6"/>
                                            </p:txEl>
                                          </p:spTgt>
                                        </p:tgtEl>
                                        <p:attrNameLst>
                                          <p:attrName>style.visibility</p:attrName>
                                        </p:attrNameLst>
                                      </p:cBhvr>
                                      <p:to>
                                        <p:strVal val="visible"/>
                                      </p:to>
                                    </p:set>
                                    <p:animEffect transition="in" filter="blinds(horizontal)">
                                      <p:cBhvr>
                                        <p:cTn id="24" dur="500"/>
                                        <p:tgtEl>
                                          <p:spTgt spid="65539">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65539">
                                            <p:txEl>
                                              <p:pRg st="7" end="7"/>
                                            </p:txEl>
                                          </p:spTgt>
                                        </p:tgtEl>
                                        <p:attrNameLst>
                                          <p:attrName>style.visibility</p:attrName>
                                        </p:attrNameLst>
                                      </p:cBhvr>
                                      <p:to>
                                        <p:strVal val="visible"/>
                                      </p:to>
                                    </p:set>
                                    <p:animEffect transition="in" filter="blinds(horizontal)">
                                      <p:cBhvr>
                                        <p:cTn id="27" dur="500"/>
                                        <p:tgtEl>
                                          <p:spTgt spid="65539">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65539">
                                            <p:txEl>
                                              <p:pRg st="8" end="8"/>
                                            </p:txEl>
                                          </p:spTgt>
                                        </p:tgtEl>
                                        <p:attrNameLst>
                                          <p:attrName>style.visibility</p:attrName>
                                        </p:attrNameLst>
                                      </p:cBhvr>
                                      <p:to>
                                        <p:strVal val="visible"/>
                                      </p:to>
                                    </p:set>
                                    <p:animEffect transition="in" filter="blinds(horizontal)">
                                      <p:cBhvr>
                                        <p:cTn id="30" dur="500"/>
                                        <p:tgtEl>
                                          <p:spTgt spid="65539">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65539">
                                            <p:txEl>
                                              <p:pRg st="9" end="9"/>
                                            </p:txEl>
                                          </p:spTgt>
                                        </p:tgtEl>
                                        <p:attrNameLst>
                                          <p:attrName>style.visibility</p:attrName>
                                        </p:attrNameLst>
                                      </p:cBhvr>
                                      <p:to>
                                        <p:strVal val="visible"/>
                                      </p:to>
                                    </p:set>
                                    <p:animEffect transition="in" filter="blinds(horizontal)">
                                      <p:cBhvr>
                                        <p:cTn id="33" dur="500"/>
                                        <p:tgtEl>
                                          <p:spTgt spid="65539">
                                            <p:txEl>
                                              <p:pRg st="9" end="9"/>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65539">
                                            <p:txEl>
                                              <p:pRg st="10" end="10"/>
                                            </p:txEl>
                                          </p:spTgt>
                                        </p:tgtEl>
                                        <p:attrNameLst>
                                          <p:attrName>style.visibility</p:attrName>
                                        </p:attrNameLst>
                                      </p:cBhvr>
                                      <p:to>
                                        <p:strVal val="visible"/>
                                      </p:to>
                                    </p:set>
                                    <p:animEffect transition="in" filter="blinds(horizontal)">
                                      <p:cBhvr>
                                        <p:cTn id="36" dur="500"/>
                                        <p:tgtEl>
                                          <p:spTgt spid="65539">
                                            <p:txEl>
                                              <p:pRg st="10" end="1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5539">
                                            <p:txEl>
                                              <p:pRg st="11" end="11"/>
                                            </p:txEl>
                                          </p:spTgt>
                                        </p:tgtEl>
                                        <p:attrNameLst>
                                          <p:attrName>style.visibility</p:attrName>
                                        </p:attrNameLst>
                                      </p:cBhvr>
                                      <p:to>
                                        <p:strVal val="visible"/>
                                      </p:to>
                                    </p:set>
                                    <p:anim calcmode="lin" valueType="num">
                                      <p:cBhvr additive="base">
                                        <p:cTn id="41" dur="500" fill="hold"/>
                                        <p:tgtEl>
                                          <p:spTgt spid="65539">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5539">
                                            <p:txEl>
                                              <p:pRg st="11" end="1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5539">
                                            <p:txEl>
                                              <p:pRg st="12" end="12"/>
                                            </p:txEl>
                                          </p:spTgt>
                                        </p:tgtEl>
                                        <p:attrNameLst>
                                          <p:attrName>style.visibility</p:attrName>
                                        </p:attrNameLst>
                                      </p:cBhvr>
                                      <p:to>
                                        <p:strVal val="visible"/>
                                      </p:to>
                                    </p:set>
                                    <p:anim calcmode="lin" valueType="num">
                                      <p:cBhvr additive="base">
                                        <p:cTn id="45" dur="500" fill="hold"/>
                                        <p:tgtEl>
                                          <p:spTgt spid="65539">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5539">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dirty="0">
                <a:sym typeface="+mn-ea"/>
              </a:rPr>
              <a:t>谓词</a:t>
            </a:r>
            <a:r>
              <a:rPr lang="en-US" altLang="x-none" dirty="0">
                <a:sym typeface="+mn-ea"/>
              </a:rPr>
              <a:t>EXISTS</a:t>
            </a:r>
            <a:r>
              <a:rPr lang="zh-CN" altLang="en-US" dirty="0">
                <a:sym typeface="+mn-ea"/>
              </a:rPr>
              <a:t>在复杂查询中的使用（</a:t>
            </a:r>
            <a:r>
              <a:rPr lang="en-US" altLang="zh-CN" dirty="0">
                <a:sym typeface="+mn-ea"/>
              </a:rPr>
              <a:t>10</a:t>
            </a:r>
            <a:r>
              <a:rPr lang="zh-CN" altLang="en-US" dirty="0">
                <a:sym typeface="+mn-ea"/>
              </a:rPr>
              <a:t>）</a:t>
            </a:r>
            <a:endParaRPr kumimoji="0" lang="en-US" altLang="zh-CN" i="0" u="none" strike="noStrike" kern="0" cap="none" spc="0" normalizeH="0" baseline="0" noProof="0" dirty="0">
              <a:ln>
                <a:noFill/>
              </a:ln>
              <a:solidFill>
                <a:schemeClr val="tx1"/>
              </a:solidFill>
              <a:effectLst/>
              <a:uLnTx/>
              <a:uFillTx/>
              <a:latin typeface="Verdana" panose="020B0804030504040204"/>
              <a:ea typeface="+mj-ea"/>
              <a:cs typeface="+mj-cs"/>
            </a:endParaRPr>
          </a:p>
        </p:txBody>
      </p:sp>
      <p:sp>
        <p:nvSpPr>
          <p:cNvPr id="65539" name="Rectangle 3"/>
          <p:cNvSpPr>
            <a:spLocks noGrp="1" noChangeArrowheads="1"/>
          </p:cNvSpPr>
          <p:nvPr>
            <p:ph idx="1"/>
          </p:nvPr>
        </p:nvSpPr>
        <p:spPr>
          <a:xfrm>
            <a:off x="424180" y="687070"/>
            <a:ext cx="11343005" cy="565150"/>
          </a:xfrm>
          <a:solidFill>
            <a:schemeClr val="accent3">
              <a:lumMod val="20000"/>
              <a:lumOff val="80000"/>
            </a:schemeClr>
          </a:solidFill>
        </p:spPr>
        <p:txBody>
          <a:bodyPr>
            <a:spAutoFit/>
          </a:bodyPr>
          <a:lstStyle/>
          <a:p>
            <a:r>
              <a:rPr lang="en-US" altLang="zh-CN" sz="2800" dirty="0"/>
              <a:t>[</a:t>
            </a:r>
            <a:r>
              <a:rPr lang="zh-CN" altLang="en-US" sz="2800" dirty="0"/>
              <a:t>例</a:t>
            </a:r>
            <a:r>
              <a:rPr lang="en-US" altLang="zh-CN" sz="2800" dirty="0"/>
              <a:t>3.63]</a:t>
            </a:r>
            <a:r>
              <a:rPr lang="zh-CN" altLang="en-US" sz="2800" dirty="0"/>
              <a:t>查询至少选修了学生</a:t>
            </a:r>
            <a:r>
              <a:rPr lang="en-US" altLang="zh-CN" sz="2800" dirty="0"/>
              <a:t>201215122</a:t>
            </a:r>
            <a:r>
              <a:rPr lang="zh-CN" altLang="en-US" sz="2800" dirty="0"/>
              <a:t>选修的全部课程的学生号码。</a:t>
            </a:r>
            <a:endParaRPr lang="en-US" altLang="zh-CN" sz="2800" dirty="0"/>
          </a:p>
        </p:txBody>
      </p:sp>
      <p:sp>
        <p:nvSpPr>
          <p:cNvPr id="2" name="内容占位符 1"/>
          <p:cNvSpPr>
            <a:spLocks noGrp="1"/>
          </p:cNvSpPr>
          <p:nvPr>
            <p:ph idx="4294967295"/>
          </p:nvPr>
        </p:nvSpPr>
        <p:spPr>
          <a:xfrm>
            <a:off x="424180" y="1350645"/>
            <a:ext cx="11343005" cy="5066030"/>
          </a:xfrm>
        </p:spPr>
        <p:txBody>
          <a:bodyPr>
            <a:spAutoFit/>
          </a:bodyPr>
          <a:lstStyle/>
          <a:p>
            <a:pPr algn="just" eaLnBrk="1" hangingPunct="1">
              <a:lnSpc>
                <a:spcPct val="100000"/>
              </a:lnSpc>
              <a:spcBef>
                <a:spcPts val="0"/>
              </a:spcBef>
              <a:spcAft>
                <a:spcPts val="1000"/>
              </a:spcAft>
              <a:buFont typeface="Wingdings" panose="05000000000000000000" charset="0"/>
              <a:buChar char="q"/>
            </a:pPr>
            <a:r>
              <a:rPr lang="zh-CN" altLang="en-US" sz="2800" dirty="0">
                <a:latin typeface="Arial" panose="020B0604020202090204" pitchFamily="34" charset="0"/>
                <a:cs typeface="Arial" panose="020B0604020202090204" pitchFamily="34" charset="0"/>
              </a:rPr>
              <a:t>用</a:t>
            </a:r>
            <a:r>
              <a:rPr lang="en-US" altLang="zh-CN" sz="2800" dirty="0">
                <a:latin typeface="Arial" panose="020B0604020202090204" pitchFamily="34" charset="0"/>
                <a:cs typeface="Arial" panose="020B0604020202090204" pitchFamily="34" charset="0"/>
              </a:rPr>
              <a:t>NOT EXISTS</a:t>
            </a:r>
            <a:r>
              <a:rPr lang="zh-CN" altLang="en-US" sz="2800" dirty="0">
                <a:latin typeface="Arial" panose="020B0604020202090204" pitchFamily="34" charset="0"/>
                <a:cs typeface="Arial" panose="020B0604020202090204" pitchFamily="34" charset="0"/>
              </a:rPr>
              <a:t>谓词表示</a:t>
            </a:r>
            <a:r>
              <a:rPr lang="zh-CN" altLang="en-US" sz="2800" dirty="0">
                <a:latin typeface="Arial" panose="020B0604020202090204" pitchFamily="34" charset="0"/>
                <a:cs typeface="Arial" panose="020B0604020202090204" pitchFamily="34" charset="0"/>
              </a:rPr>
              <a:t>如下：     </a:t>
            </a:r>
            <a:endParaRPr lang="zh-CN" altLang="en-US" sz="2800" dirty="0">
              <a:latin typeface="Arial" panose="020B0604020202090204" pitchFamily="34" charset="0"/>
              <a:cs typeface="Arial" panose="020B0604020202090204" pitchFamily="34" charset="0"/>
            </a:endParaRPr>
          </a:p>
          <a:p>
            <a:pPr lvl="1"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SELECT  DISTINCT  </a:t>
            </a:r>
            <a:r>
              <a:rPr lang="en-US" altLang="zh-CN" sz="2610" dirty="0" err="1">
                <a:latin typeface="Arial" panose="020B0604020202090204" pitchFamily="34" charset="0"/>
                <a:cs typeface="Arial" panose="020B0604020202090204" pitchFamily="34" charset="0"/>
              </a:rPr>
              <a:t>Sno</a:t>
            </a:r>
            <a:endParaRPr lang="en-US" altLang="zh-CN" sz="2610" dirty="0">
              <a:latin typeface="Arial" panose="020B0604020202090204" pitchFamily="34" charset="0"/>
              <a:cs typeface="Arial" panose="020B0604020202090204" pitchFamily="34" charset="0"/>
            </a:endParaRPr>
          </a:p>
          <a:p>
            <a:pPr lvl="1"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FROM  SC  </a:t>
            </a:r>
            <a:r>
              <a:rPr lang="en-US" altLang="zh-CN" sz="2610" dirty="0">
                <a:solidFill>
                  <a:srgbClr val="FF0000"/>
                </a:solidFill>
                <a:latin typeface="Arial" panose="020B0604020202090204" pitchFamily="34" charset="0"/>
                <a:cs typeface="Arial" panose="020B0604020202090204" pitchFamily="34" charset="0"/>
              </a:rPr>
              <a:t>SCX</a:t>
            </a:r>
            <a:endParaRPr lang="en-US" altLang="zh-CN" sz="2610" dirty="0">
              <a:latin typeface="Arial" panose="020B0604020202090204" pitchFamily="34" charset="0"/>
              <a:cs typeface="Arial" panose="020B0604020202090204" pitchFamily="34" charset="0"/>
            </a:endParaRPr>
          </a:p>
          <a:p>
            <a:pPr lvl="1"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WHERE  NOT  EXISTS (</a:t>
            </a:r>
            <a:endParaRPr lang="en-US" altLang="zh-CN" sz="2610" dirty="0">
              <a:latin typeface="Arial" panose="020B0604020202090204" pitchFamily="34" charset="0"/>
              <a:cs typeface="Arial" panose="020B0604020202090204" pitchFamily="34" charset="0"/>
            </a:endParaRPr>
          </a:p>
          <a:p>
            <a:pPr lvl="2" indent="252095"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SELECT  *</a:t>
            </a:r>
            <a:endParaRPr lang="en-US" altLang="zh-CN" sz="2610" dirty="0">
              <a:latin typeface="Arial" panose="020B0604020202090204" pitchFamily="34" charset="0"/>
              <a:cs typeface="Arial" panose="020B0604020202090204" pitchFamily="34" charset="0"/>
            </a:endParaRPr>
          </a:p>
          <a:p>
            <a:pPr lvl="2" indent="252095"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FROM  SC  </a:t>
            </a:r>
            <a:r>
              <a:rPr lang="en-US" altLang="zh-CN" sz="2610" dirty="0">
                <a:solidFill>
                  <a:srgbClr val="FF0000"/>
                </a:solidFill>
                <a:latin typeface="Arial" panose="020B0604020202090204" pitchFamily="34" charset="0"/>
                <a:cs typeface="Arial" panose="020B0604020202090204" pitchFamily="34" charset="0"/>
              </a:rPr>
              <a:t>SCY</a:t>
            </a:r>
            <a:endParaRPr lang="en-US" altLang="zh-CN" sz="2610" dirty="0">
              <a:latin typeface="Arial" panose="020B0604020202090204" pitchFamily="34" charset="0"/>
              <a:cs typeface="Arial" panose="020B0604020202090204" pitchFamily="34" charset="0"/>
            </a:endParaRPr>
          </a:p>
          <a:p>
            <a:pPr lvl="2" indent="252095"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WHERE  </a:t>
            </a:r>
            <a:r>
              <a:rPr lang="en-US" altLang="zh-CN" sz="2610" dirty="0" err="1">
                <a:latin typeface="Arial" panose="020B0604020202090204" pitchFamily="34" charset="0"/>
                <a:cs typeface="Arial" panose="020B0604020202090204" pitchFamily="34" charset="0"/>
              </a:rPr>
              <a:t>SCY.Sno</a:t>
            </a:r>
            <a:r>
              <a:rPr lang="en-US" altLang="zh-CN" sz="2610" dirty="0">
                <a:latin typeface="Arial" panose="020B0604020202090204" pitchFamily="34" charset="0"/>
                <a:cs typeface="Arial" panose="020B0604020202090204" pitchFamily="34" charset="0"/>
              </a:rPr>
              <a:t>='201215122</a:t>
            </a:r>
            <a:r>
              <a:rPr lang="en-US" altLang="zh-CN" sz="2610">
                <a:latin typeface="Arial" panose="020B0604020202090204" pitchFamily="34" charset="0"/>
                <a:cs typeface="Arial" panose="020B0604020202090204" pitchFamily="34" charset="0"/>
              </a:rPr>
              <a:t>'  AND </a:t>
            </a:r>
            <a:endParaRPr lang="en-US" altLang="zh-CN" sz="2610" dirty="0">
              <a:latin typeface="Arial" panose="020B0604020202090204" pitchFamily="34" charset="0"/>
              <a:cs typeface="Arial" panose="020B0604020202090204" pitchFamily="34" charset="0"/>
            </a:endParaRPr>
          </a:p>
          <a:p>
            <a:pPr marL="2057400" lvl="3" indent="240665"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NOT  EXISTS (</a:t>
            </a:r>
            <a:endParaRPr lang="en-US" altLang="zh-CN" sz="2610" dirty="0">
              <a:latin typeface="Arial" panose="020B0604020202090204" pitchFamily="34" charset="0"/>
              <a:cs typeface="Arial" panose="020B0604020202090204" pitchFamily="34" charset="0"/>
            </a:endParaRPr>
          </a:p>
          <a:p>
            <a:pPr marL="2057400" lvl="4" indent="1260475"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SELECT  *</a:t>
            </a:r>
            <a:endParaRPr lang="en-US" altLang="zh-CN" sz="2610" dirty="0">
              <a:latin typeface="Arial" panose="020B0604020202090204" pitchFamily="34" charset="0"/>
              <a:cs typeface="Arial" panose="020B0604020202090204" pitchFamily="34" charset="0"/>
            </a:endParaRPr>
          </a:p>
          <a:p>
            <a:pPr marL="2057400" lvl="4" indent="1260475"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FROM  SC  </a:t>
            </a:r>
            <a:r>
              <a:rPr lang="en-US" altLang="zh-CN" sz="2610" dirty="0">
                <a:solidFill>
                  <a:srgbClr val="FF0000"/>
                </a:solidFill>
                <a:latin typeface="Arial" panose="020B0604020202090204" pitchFamily="34" charset="0"/>
                <a:cs typeface="Arial" panose="020B0604020202090204" pitchFamily="34" charset="0"/>
              </a:rPr>
              <a:t>SCZ</a:t>
            </a:r>
            <a:endParaRPr lang="en-US" altLang="zh-CN" sz="2610" dirty="0">
              <a:latin typeface="Arial" panose="020B0604020202090204" pitchFamily="34" charset="0"/>
              <a:cs typeface="Arial" panose="020B0604020202090204" pitchFamily="34" charset="0"/>
            </a:endParaRPr>
          </a:p>
          <a:p>
            <a:pPr marL="2057400" lvl="4" indent="1260475" algn="just" eaLnBrk="1" hangingPunct="1">
              <a:lnSpc>
                <a:spcPct val="100000"/>
              </a:lnSpc>
              <a:spcBef>
                <a:spcPts val="0"/>
              </a:spcBef>
              <a:buSzPct val="50000"/>
              <a:buFont typeface="宋体" pitchFamily="2" charset="-122"/>
              <a:buNone/>
            </a:pPr>
            <a:r>
              <a:rPr lang="en-US" altLang="zh-CN" sz="2610" dirty="0">
                <a:latin typeface="Arial" panose="020B0604020202090204" pitchFamily="34" charset="0"/>
                <a:cs typeface="Arial" panose="020B0604020202090204" pitchFamily="34" charset="0"/>
              </a:rPr>
              <a:t>WHERE  </a:t>
            </a:r>
            <a:r>
              <a:rPr lang="en-US" altLang="zh-CN" sz="2610" dirty="0" err="1">
                <a:solidFill>
                  <a:srgbClr val="FF0000"/>
                </a:solidFill>
                <a:latin typeface="Arial" panose="020B0604020202090204" pitchFamily="34" charset="0"/>
                <a:cs typeface="Arial" panose="020B0604020202090204" pitchFamily="34" charset="0"/>
              </a:rPr>
              <a:t>SCZ</a:t>
            </a:r>
            <a:r>
              <a:rPr lang="en-US" altLang="zh-CN" sz="2610" dirty="0" err="1">
                <a:latin typeface="Arial" panose="020B0604020202090204" pitchFamily="34" charset="0"/>
                <a:cs typeface="Arial" panose="020B0604020202090204" pitchFamily="34" charset="0"/>
              </a:rPr>
              <a:t>.Sno</a:t>
            </a:r>
            <a:r>
              <a:rPr lang="en-US" altLang="zh-CN" sz="2610" dirty="0">
                <a:latin typeface="Arial" panose="020B0604020202090204" pitchFamily="34" charset="0"/>
                <a:cs typeface="Arial" panose="020B0604020202090204" pitchFamily="34" charset="0"/>
              </a:rPr>
              <a:t>=</a:t>
            </a:r>
            <a:r>
              <a:rPr lang="en-US" altLang="zh-CN" sz="2610" dirty="0" err="1">
                <a:solidFill>
                  <a:srgbClr val="FF0000"/>
                </a:solidFill>
                <a:latin typeface="Arial" panose="020B0604020202090204" pitchFamily="34" charset="0"/>
                <a:cs typeface="Arial" panose="020B0604020202090204" pitchFamily="34" charset="0"/>
              </a:rPr>
              <a:t>SCX</a:t>
            </a:r>
            <a:r>
              <a:rPr lang="en-US" altLang="zh-CN" sz="2610" dirty="0" err="1">
                <a:latin typeface="Arial" panose="020B0604020202090204" pitchFamily="34" charset="0"/>
                <a:cs typeface="Arial" panose="020B0604020202090204" pitchFamily="34" charset="0"/>
              </a:rPr>
              <a:t>.Sno</a:t>
            </a:r>
            <a:r>
              <a:rPr lang="en-US" altLang="zh-CN" sz="2610" dirty="0">
                <a:latin typeface="Arial" panose="020B0604020202090204" pitchFamily="34" charset="0"/>
                <a:cs typeface="Arial" panose="020B0604020202090204" pitchFamily="34" charset="0"/>
              </a:rPr>
              <a:t>  </a:t>
            </a:r>
            <a:r>
              <a:rPr lang="en-US" altLang="zh-CN" sz="2610" dirty="0">
                <a:latin typeface="Arial" panose="020B0604020202090204" pitchFamily="34" charset="0"/>
                <a:cs typeface="Arial" panose="020B0604020202090204" pitchFamily="34" charset="0"/>
              </a:rPr>
              <a:t>AND</a:t>
            </a:r>
            <a:endParaRPr lang="en-US" altLang="zh-CN" sz="2610" dirty="0">
              <a:latin typeface="Arial" panose="020B0604020202090204" pitchFamily="34" charset="0"/>
              <a:cs typeface="Arial" panose="020B0604020202090204" pitchFamily="34" charset="0"/>
            </a:endParaRPr>
          </a:p>
          <a:p>
            <a:pPr marL="2057400" lvl="4" indent="2672715" eaLnBrk="1" hangingPunct="1">
              <a:lnSpc>
                <a:spcPct val="100000"/>
              </a:lnSpc>
              <a:spcBef>
                <a:spcPts val="0"/>
              </a:spcBef>
              <a:buSzPct val="50000"/>
              <a:buFont typeface="宋体" pitchFamily="2" charset="-122"/>
              <a:buNone/>
            </a:pPr>
            <a:r>
              <a:rPr lang="en-US" altLang="zh-CN" sz="2610" dirty="0" err="1">
                <a:solidFill>
                  <a:srgbClr val="FF0000"/>
                </a:solidFill>
                <a:latin typeface="Arial" panose="020B0604020202090204" pitchFamily="34" charset="0"/>
                <a:cs typeface="Arial" panose="020B0604020202090204" pitchFamily="34" charset="0"/>
              </a:rPr>
              <a:t>SCZ</a:t>
            </a:r>
            <a:r>
              <a:rPr lang="en-US" altLang="zh-CN" sz="2610" dirty="0" err="1">
                <a:latin typeface="Arial" panose="020B0604020202090204" pitchFamily="34" charset="0"/>
                <a:cs typeface="Arial" panose="020B0604020202090204" pitchFamily="34" charset="0"/>
              </a:rPr>
              <a:t>.Cno</a:t>
            </a:r>
            <a:r>
              <a:rPr lang="en-US" altLang="zh-CN" sz="2610" dirty="0">
                <a:latin typeface="Arial" panose="020B0604020202090204" pitchFamily="34" charset="0"/>
                <a:cs typeface="Arial" panose="020B0604020202090204" pitchFamily="34" charset="0"/>
              </a:rPr>
              <a:t>=</a:t>
            </a:r>
            <a:r>
              <a:rPr lang="en-US" altLang="zh-CN" sz="2610" dirty="0" err="1">
                <a:solidFill>
                  <a:srgbClr val="FF0000"/>
                </a:solidFill>
                <a:latin typeface="Arial" panose="020B0604020202090204" pitchFamily="34" charset="0"/>
                <a:cs typeface="Arial" panose="020B0604020202090204" pitchFamily="34" charset="0"/>
              </a:rPr>
              <a:t>SCY</a:t>
            </a:r>
            <a:r>
              <a:rPr lang="en-US" altLang="zh-CN" sz="2610" dirty="0" err="1">
                <a:latin typeface="Arial" panose="020B0604020202090204" pitchFamily="34" charset="0"/>
                <a:cs typeface="Arial" panose="020B0604020202090204" pitchFamily="34" charset="0"/>
              </a:rPr>
              <a:t>.Cno </a:t>
            </a:r>
            <a:r>
              <a:rPr lang="zh-CN" altLang="en-US" sz="2610" dirty="0">
                <a:latin typeface="Arial" panose="020B0604020202090204" pitchFamily="34" charset="0"/>
                <a:cs typeface="Arial" panose="020B0604020202090204" pitchFamily="34" charset="0"/>
              </a:rPr>
              <a:t>)</a:t>
            </a:r>
            <a:r>
              <a:rPr lang="en-US" altLang="zh-CN" sz="2610" dirty="0">
                <a:latin typeface="Arial" panose="020B0604020202090204" pitchFamily="34" charset="0"/>
                <a:cs typeface="Arial" panose="020B0604020202090204" pitchFamily="34" charset="0"/>
              </a:rPr>
              <a:t> </a:t>
            </a:r>
            <a:r>
              <a:rPr lang="zh-CN" altLang="en-US" sz="2610" dirty="0">
                <a:latin typeface="Arial" panose="020B0604020202090204" pitchFamily="34" charset="0"/>
                <a:cs typeface="Arial" panose="020B0604020202090204" pitchFamily="34" charset="0"/>
              </a:rPr>
              <a:t>);</a:t>
            </a:r>
            <a:endParaRPr lang="zh-CN" altLang="en-US" sz="2610" dirty="0">
              <a:latin typeface="Arial" panose="020B0604020202090204" pitchFamily="34" charset="0"/>
              <a:cs typeface="Arial" panose="020B0604020202090204" pitchFamily="34" charset="0"/>
            </a:endParaRPr>
          </a:p>
        </p:txBody>
      </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blinds(horizontal)">
                                      <p:cBhvr>
                                        <p:cTn id="19" dur="500"/>
                                        <p:tgtEl>
                                          <p:spTgt spid="2">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blinds(horizontal)">
                                      <p:cBhvr>
                                        <p:cTn id="25" dur="500"/>
                                        <p:tgtEl>
                                          <p:spTgt spid="2">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blinds(horizontal)">
                                      <p:cBhvr>
                                        <p:cTn id="28" dur="500"/>
                                        <p:tgtEl>
                                          <p:spTgt spid="2">
                                            <p:txEl>
                                              <p:pRg st="7" end="7"/>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blinds(horizontal)">
                                      <p:cBhvr>
                                        <p:cTn id="31" dur="500"/>
                                        <p:tgtEl>
                                          <p:spTgt spid="2">
                                            <p:txEl>
                                              <p:pRg st="8" end="8"/>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
                                            <p:txEl>
                                              <p:pRg st="9" end="9"/>
                                            </p:txEl>
                                          </p:spTgt>
                                        </p:tgtEl>
                                        <p:attrNameLst>
                                          <p:attrName>style.visibility</p:attrName>
                                        </p:attrNameLst>
                                      </p:cBhvr>
                                      <p:to>
                                        <p:strVal val="visible"/>
                                      </p:to>
                                    </p:set>
                                    <p:animEffect transition="in" filter="blinds(horizontal)">
                                      <p:cBhvr>
                                        <p:cTn id="34" dur="500"/>
                                        <p:tgtEl>
                                          <p:spTgt spid="2">
                                            <p:txEl>
                                              <p:pRg st="9" end="9"/>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Effect transition="in" filter="blinds(horizontal)">
                                      <p:cBhvr>
                                        <p:cTn id="37" dur="500"/>
                                        <p:tgtEl>
                                          <p:spTgt spid="2">
                                            <p:txEl>
                                              <p:pRg st="10" end="10"/>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
                                            <p:txEl>
                                              <p:pRg st="11" end="11"/>
                                            </p:txEl>
                                          </p:spTgt>
                                        </p:tgtEl>
                                        <p:attrNameLst>
                                          <p:attrName>style.visibility</p:attrName>
                                        </p:attrNameLst>
                                      </p:cBhvr>
                                      <p:to>
                                        <p:strVal val="visible"/>
                                      </p:to>
                                    </p:set>
                                    <p:animEffect transition="in" filter="blinds(horizontal)">
                                      <p:cBhvr>
                                        <p:cTn id="40"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zh-CN" altLang="en-US" dirty="0">
                <a:sym typeface="+mn-ea"/>
              </a:rPr>
              <a:t>谓词</a:t>
            </a:r>
            <a:r>
              <a:rPr lang="en-US" altLang="x-none" dirty="0">
                <a:sym typeface="+mn-ea"/>
              </a:rPr>
              <a:t>EXISTS</a:t>
            </a:r>
            <a:r>
              <a:rPr lang="zh-CN" altLang="en-US" dirty="0">
                <a:sym typeface="+mn-ea"/>
              </a:rPr>
              <a:t>在复杂查询中的使用</a:t>
            </a:r>
            <a:r>
              <a:rPr lang="zh-CN" altLang="en-US" dirty="0">
                <a:sym typeface="+mn-ea"/>
              </a:rPr>
              <a:t>（</a:t>
            </a:r>
            <a:r>
              <a:rPr lang="en-US" altLang="zh-CN" dirty="0">
                <a:sym typeface="+mn-ea"/>
              </a:rPr>
              <a:t>11</a:t>
            </a:r>
            <a:r>
              <a:rPr lang="zh-CN" altLang="en-US" dirty="0">
                <a:sym typeface="+mn-ea"/>
              </a:rPr>
              <a:t>）</a:t>
            </a:r>
            <a:endParaRPr kumimoji="0" lang="en-US" altLang="zh-CN" i="0" u="none" strike="noStrike" kern="0" cap="none" spc="0" normalizeH="0" baseline="0" noProof="0" dirty="0">
              <a:ln>
                <a:noFill/>
              </a:ln>
              <a:solidFill>
                <a:schemeClr val="tx1"/>
              </a:solidFill>
              <a:effectLst/>
              <a:uLnTx/>
              <a:uFillTx/>
              <a:latin typeface="Verdana" panose="020B0804030504040204"/>
              <a:ea typeface="+mj-ea"/>
              <a:cs typeface="+mj-cs"/>
            </a:endParaRPr>
          </a:p>
        </p:txBody>
      </p:sp>
      <p:sp>
        <p:nvSpPr>
          <p:cNvPr id="59395" name="Rectangle 3"/>
          <p:cNvSpPr>
            <a:spLocks noGrp="1" noChangeArrowheads="1"/>
          </p:cNvSpPr>
          <p:nvPr>
            <p:ph idx="1"/>
          </p:nvPr>
        </p:nvSpPr>
        <p:spPr>
          <a:xfrm>
            <a:off x="424180" y="687070"/>
            <a:ext cx="11343005" cy="1081405"/>
          </a:xfrm>
          <a:solidFill>
            <a:schemeClr val="accent3">
              <a:lumMod val="20000"/>
              <a:lumOff val="80000"/>
              <a:alpha val="50000"/>
            </a:schemeClr>
          </a:solidFill>
        </p:spPr>
        <p:txBody>
          <a:bodyPr>
            <a:noAutofit/>
          </a:bodyPr>
          <a:lstStyle/>
          <a:p>
            <a:pPr algn="just">
              <a:lnSpc>
                <a:spcPct val="100000"/>
              </a:lnSpc>
              <a:spcBef>
                <a:spcPts val="0"/>
              </a:spcBef>
              <a:defRPr/>
            </a:pPr>
            <a:r>
              <a:rPr lang="en-US" altLang="zh-CN" sz="2800" dirty="0"/>
              <a:t>[</a:t>
            </a:r>
            <a:r>
              <a:rPr lang="zh-CN" altLang="en-US" sz="2800" dirty="0">
                <a:ea typeface="黑体" panose="02010609060101010101" pitchFamily="49" charset="-122"/>
              </a:rPr>
              <a:t>例</a:t>
            </a:r>
            <a:r>
              <a:rPr lang="en-US" altLang="zh-CN" sz="2800" dirty="0">
                <a:ea typeface="黑体" panose="02010609060101010101" pitchFamily="49" charset="-122"/>
              </a:rPr>
              <a:t>3.62</a:t>
            </a:r>
            <a:r>
              <a:rPr lang="en-US" altLang="zh-CN" sz="2800" dirty="0"/>
              <a:t>] </a:t>
            </a:r>
            <a:r>
              <a:rPr lang="zh-CN" altLang="en-US" sz="2800" dirty="0"/>
              <a:t>查询选修了全部课程的学生姓名。</a:t>
            </a:r>
            <a:endParaRPr lang="en-US" altLang="zh-CN" sz="2800" dirty="0"/>
          </a:p>
          <a:p>
            <a:pPr lvl="1" algn="just">
              <a:lnSpc>
                <a:spcPct val="100000"/>
              </a:lnSpc>
              <a:spcBef>
                <a:spcPts val="1000"/>
              </a:spcBef>
              <a:defRPr/>
            </a:pPr>
            <a:r>
              <a:rPr lang="en-US" altLang="zh-CN" sz="2800" dirty="0"/>
              <a:t>“</a:t>
            </a:r>
            <a:r>
              <a:rPr lang="zh-CN" altLang="en-US" sz="2800" dirty="0"/>
              <a:t>选修了全部课程</a:t>
            </a:r>
            <a:r>
              <a:rPr lang="en-US" altLang="zh-CN" sz="2800" dirty="0"/>
              <a:t>”</a:t>
            </a:r>
            <a:r>
              <a:rPr lang="zh-CN" altLang="en-US" sz="2800" dirty="0"/>
              <a:t>等价于</a:t>
            </a:r>
            <a:r>
              <a:rPr lang="en-US" altLang="zh-CN" sz="2800" dirty="0"/>
              <a:t>“</a:t>
            </a:r>
            <a:r>
              <a:rPr lang="zh-CN" altLang="en-US" sz="2800" dirty="0"/>
              <a:t>不存在一门课程是该学生不选修的</a:t>
            </a:r>
            <a:r>
              <a:rPr lang="en-US" altLang="zh-CN" sz="2800" dirty="0"/>
              <a:t>”</a:t>
            </a:r>
            <a:endParaRPr lang="en-US" altLang="zh-CN" sz="2800"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
        <p:nvSpPr>
          <p:cNvPr id="6" name="Rectangle 3"/>
          <p:cNvSpPr>
            <a:spLocks noGrp="1" noChangeArrowheads="1"/>
          </p:cNvSpPr>
          <p:nvPr/>
        </p:nvSpPr>
        <p:spPr>
          <a:xfrm>
            <a:off x="424180" y="1925320"/>
            <a:ext cx="11343005" cy="439991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2" algn="just">
              <a:lnSpc>
                <a:spcPct val="100000"/>
              </a:lnSpc>
              <a:spcBef>
                <a:spcPts val="100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SELECT  </a:t>
            </a:r>
            <a:r>
              <a:rPr lang="en-US" altLang="zh-CN" sz="2800" dirty="0" err="1">
                <a:latin typeface="Arial" panose="020B0604020202090204" pitchFamily="34" charset="0"/>
                <a:cs typeface="Arial" panose="020B0604020202090204" pitchFamily="34" charset="0"/>
              </a:rPr>
              <a:t>Sname</a:t>
            </a:r>
            <a:endParaRPr lang="en-US" altLang="zh-CN" sz="2800" dirty="0">
              <a:latin typeface="Arial" panose="020B0604020202090204" pitchFamily="34" charset="0"/>
              <a:cs typeface="Arial" panose="020B0604020202090204" pitchFamily="34" charset="0"/>
            </a:endParaRPr>
          </a:p>
          <a:p>
            <a:pPr lvl="2" algn="just">
              <a:lnSpc>
                <a:spcPct val="100000"/>
              </a:lnSpc>
              <a:spcBef>
                <a:spcPts val="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FROM  </a:t>
            </a:r>
            <a:r>
              <a:rPr lang="en-US" altLang="zh-CN" sz="2800" dirty="0">
                <a:solidFill>
                  <a:srgbClr val="FF0000"/>
                </a:solidFill>
                <a:latin typeface="Arial" panose="020B0604020202090204" pitchFamily="34" charset="0"/>
                <a:cs typeface="Arial" panose="020B0604020202090204" pitchFamily="34" charset="0"/>
              </a:rPr>
              <a:t>Student</a:t>
            </a:r>
            <a:endParaRPr lang="en-US" altLang="zh-CN" sz="2800" dirty="0">
              <a:solidFill>
                <a:srgbClr val="FF0000"/>
              </a:solidFill>
              <a:latin typeface="Arial" panose="020B0604020202090204" pitchFamily="34" charset="0"/>
              <a:cs typeface="Arial" panose="020B0604020202090204" pitchFamily="34" charset="0"/>
            </a:endParaRPr>
          </a:p>
          <a:p>
            <a:pPr lvl="2" algn="just">
              <a:lnSpc>
                <a:spcPct val="100000"/>
              </a:lnSpc>
              <a:spcBef>
                <a:spcPts val="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WHERE  NOT EXISTS (</a:t>
            </a:r>
            <a:endParaRPr lang="en-US" altLang="zh-CN" sz="2800" dirty="0">
              <a:latin typeface="Arial" panose="020B0604020202090204" pitchFamily="34" charset="0"/>
              <a:cs typeface="Arial" panose="020B0604020202090204" pitchFamily="34" charset="0"/>
            </a:endParaRPr>
          </a:p>
          <a:p>
            <a:pPr lvl="4" algn="just">
              <a:lnSpc>
                <a:spcPct val="100000"/>
              </a:lnSpc>
              <a:spcBef>
                <a:spcPts val="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SELECT  *</a:t>
            </a:r>
            <a:endParaRPr lang="en-US" altLang="zh-CN" sz="2800" dirty="0">
              <a:latin typeface="Arial" panose="020B0604020202090204" pitchFamily="34" charset="0"/>
              <a:cs typeface="Arial" panose="020B0604020202090204" pitchFamily="34" charset="0"/>
            </a:endParaRPr>
          </a:p>
          <a:p>
            <a:pPr lvl="4" algn="just">
              <a:lnSpc>
                <a:spcPct val="100000"/>
              </a:lnSpc>
              <a:spcBef>
                <a:spcPts val="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FROM  </a:t>
            </a:r>
            <a:r>
              <a:rPr lang="en-US" altLang="zh-CN" sz="2800" dirty="0">
                <a:solidFill>
                  <a:schemeClr val="accent6">
                    <a:lumMod val="75000"/>
                  </a:schemeClr>
                </a:solidFill>
                <a:latin typeface="Arial" panose="020B0604020202090204" pitchFamily="34" charset="0"/>
                <a:cs typeface="Arial" panose="020B0604020202090204" pitchFamily="34" charset="0"/>
              </a:rPr>
              <a:t>Course</a:t>
            </a:r>
            <a:endParaRPr lang="en-US" altLang="zh-CN" sz="2800" dirty="0">
              <a:solidFill>
                <a:srgbClr val="7030A0"/>
              </a:solidFill>
              <a:latin typeface="Arial" panose="020B0604020202090204" pitchFamily="34" charset="0"/>
              <a:cs typeface="Arial" panose="020B0604020202090204" pitchFamily="34" charset="0"/>
            </a:endParaRPr>
          </a:p>
          <a:p>
            <a:pPr lvl="4" algn="just">
              <a:lnSpc>
                <a:spcPct val="100000"/>
              </a:lnSpc>
              <a:spcBef>
                <a:spcPts val="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WHERE  NOT EXISTS (</a:t>
            </a:r>
            <a:endParaRPr lang="en-US" altLang="zh-CN" sz="2800" dirty="0">
              <a:latin typeface="Arial" panose="020B0604020202090204" pitchFamily="34" charset="0"/>
              <a:cs typeface="Arial" panose="020B0604020202090204" pitchFamily="34" charset="0"/>
            </a:endParaRPr>
          </a:p>
          <a:p>
            <a:pPr lvl="4" indent="814070" algn="just">
              <a:lnSpc>
                <a:spcPct val="100000"/>
              </a:lnSpc>
              <a:spcBef>
                <a:spcPts val="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SELECT  *</a:t>
            </a:r>
            <a:endParaRPr lang="en-US" altLang="zh-CN" sz="2800" dirty="0">
              <a:latin typeface="Arial" panose="020B0604020202090204" pitchFamily="34" charset="0"/>
              <a:cs typeface="Arial" panose="020B0604020202090204" pitchFamily="34" charset="0"/>
            </a:endParaRPr>
          </a:p>
          <a:p>
            <a:pPr lvl="4" indent="814070" algn="just">
              <a:lnSpc>
                <a:spcPct val="100000"/>
              </a:lnSpc>
              <a:spcBef>
                <a:spcPts val="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FROM  SC</a:t>
            </a:r>
            <a:endParaRPr lang="en-US" altLang="zh-CN" sz="2800" dirty="0">
              <a:latin typeface="Arial" panose="020B0604020202090204" pitchFamily="34" charset="0"/>
              <a:cs typeface="Arial" panose="020B0604020202090204" pitchFamily="34" charset="0"/>
            </a:endParaRPr>
          </a:p>
          <a:p>
            <a:pPr lvl="4" indent="814070" algn="just">
              <a:lnSpc>
                <a:spcPct val="100000"/>
              </a:lnSpc>
              <a:spcBef>
                <a:spcPts val="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WHERE  SC.</a:t>
            </a:r>
            <a:r>
              <a:rPr lang="en-US" altLang="zh-CN" sz="2800" dirty="0" err="1">
                <a:latin typeface="Arial" panose="020B0604020202090204" pitchFamily="34" charset="0"/>
                <a:cs typeface="Arial" panose="020B0604020202090204" pitchFamily="34" charset="0"/>
              </a:rPr>
              <a:t>Sno </a:t>
            </a:r>
            <a:r>
              <a:rPr lang="en-US" altLang="zh-CN" sz="2800" dirty="0">
                <a:latin typeface="Arial" panose="020B0604020202090204" pitchFamily="34" charset="0"/>
                <a:cs typeface="Arial" panose="020B0604020202090204" pitchFamily="34" charset="0"/>
              </a:rPr>
              <a:t>= </a:t>
            </a:r>
            <a:r>
              <a:rPr lang="en-US" altLang="zh-CN" sz="2800" dirty="0" err="1">
                <a:solidFill>
                  <a:srgbClr val="FF0000"/>
                </a:solidFill>
                <a:latin typeface="Arial" panose="020B0604020202090204" pitchFamily="34" charset="0"/>
                <a:cs typeface="Arial" panose="020B0604020202090204" pitchFamily="34" charset="0"/>
              </a:rPr>
              <a:t>Student</a:t>
            </a:r>
            <a:r>
              <a:rPr lang="en-US" altLang="zh-CN" sz="2800" dirty="0" err="1">
                <a:latin typeface="Arial" panose="020B0604020202090204" pitchFamily="34" charset="0"/>
                <a:cs typeface="Arial" panose="020B0604020202090204" pitchFamily="34" charset="0"/>
              </a:rPr>
              <a:t>.Sno</a:t>
            </a:r>
            <a:endParaRPr lang="en-US" altLang="zh-CN" sz="2800" dirty="0">
              <a:latin typeface="Arial" panose="020B0604020202090204" pitchFamily="34" charset="0"/>
              <a:cs typeface="Arial" panose="020B0604020202090204" pitchFamily="34" charset="0"/>
            </a:endParaRPr>
          </a:p>
          <a:p>
            <a:pPr lvl="4" indent="1812290" algn="just">
              <a:lnSpc>
                <a:spcPct val="100000"/>
              </a:lnSpc>
              <a:spcBef>
                <a:spcPts val="0"/>
              </a:spcBef>
              <a:buFont typeface="Wingdings" panose="05000000000000000000" pitchFamily="2" charset="2"/>
              <a:buNone/>
              <a:defRPr/>
            </a:pPr>
            <a:r>
              <a:rPr lang="en-US" altLang="zh-CN" sz="2800" dirty="0">
                <a:latin typeface="Arial" panose="020B0604020202090204" pitchFamily="34" charset="0"/>
                <a:cs typeface="Arial" panose="020B0604020202090204" pitchFamily="34" charset="0"/>
              </a:rPr>
              <a:t>AND  SC.</a:t>
            </a:r>
            <a:r>
              <a:rPr lang="en-US" altLang="zh-CN" sz="2800" dirty="0" err="1">
                <a:latin typeface="Arial" panose="020B0604020202090204" pitchFamily="34" charset="0"/>
                <a:cs typeface="Arial" panose="020B0604020202090204" pitchFamily="34" charset="0"/>
              </a:rPr>
              <a:t>Cno </a:t>
            </a:r>
            <a:r>
              <a:rPr lang="en-US" altLang="zh-CN" sz="2800" dirty="0">
                <a:latin typeface="Arial" panose="020B0604020202090204" pitchFamily="34" charset="0"/>
                <a:cs typeface="Arial" panose="020B0604020202090204" pitchFamily="34" charset="0"/>
              </a:rPr>
              <a:t>= </a:t>
            </a:r>
            <a:r>
              <a:rPr lang="en-US" altLang="zh-CN" sz="2800" dirty="0" err="1">
                <a:solidFill>
                  <a:schemeClr val="accent6">
                    <a:lumMod val="75000"/>
                  </a:schemeClr>
                </a:solidFill>
                <a:latin typeface="Arial" panose="020B0604020202090204" pitchFamily="34" charset="0"/>
                <a:cs typeface="Arial" panose="020B0604020202090204" pitchFamily="34" charset="0"/>
              </a:rPr>
              <a:t>Course</a:t>
            </a:r>
            <a:r>
              <a:rPr lang="en-US" altLang="zh-CN" sz="2800" dirty="0" err="1">
                <a:latin typeface="Arial" panose="020B0604020202090204" pitchFamily="34" charset="0"/>
                <a:cs typeface="Arial" panose="020B0604020202090204" pitchFamily="34" charset="0"/>
              </a:rPr>
              <a:t>.Cno  </a:t>
            </a:r>
            <a:r>
              <a:rPr lang="zh-CN" altLang="en-US" sz="2800" dirty="0">
                <a:latin typeface="Arial" panose="020B0604020202090204" pitchFamily="34" charset="0"/>
                <a:cs typeface="Arial" panose="020B0604020202090204" pitchFamily="34" charset="0"/>
              </a:rPr>
              <a:t>)</a:t>
            </a:r>
            <a:r>
              <a:rPr lang="en-US" altLang="zh-CN" sz="2800" dirty="0">
                <a:latin typeface="Arial" panose="020B0604020202090204" pitchFamily="34" charset="0"/>
                <a:cs typeface="Arial" panose="020B0604020202090204" pitchFamily="34" charset="0"/>
              </a:rPr>
              <a:t> </a:t>
            </a:r>
            <a:r>
              <a:rPr lang="zh-CN" altLang="en-US" sz="2800" dirty="0">
                <a:latin typeface="Arial" panose="020B0604020202090204" pitchFamily="34" charset="0"/>
                <a:cs typeface="Arial" panose="020B0604020202090204" pitchFamily="34" charset="0"/>
              </a:rPr>
              <a:t>);</a:t>
            </a:r>
            <a:endParaRPr lang="en-US" altLang="zh-CN" sz="2800" dirty="0">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animEffect transition="in" filter="blinds(horizontal)">
                                      <p:cBhvr>
                                        <p:cTn id="7" dur="500"/>
                                        <p:tgtEl>
                                          <p:spTgt spid="593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dirty="0">
                <a:sym typeface="+mn-ea"/>
              </a:rPr>
              <a:t>谓词</a:t>
            </a:r>
            <a:r>
              <a:rPr lang="en-US" altLang="x-none" dirty="0">
                <a:sym typeface="+mn-ea"/>
              </a:rPr>
              <a:t>EXISTS</a:t>
            </a:r>
            <a:r>
              <a:rPr lang="zh-CN" altLang="en-US" dirty="0">
                <a:sym typeface="+mn-ea"/>
              </a:rPr>
              <a:t>在复杂查询中的使用（</a:t>
            </a:r>
            <a:r>
              <a:rPr lang="en-US" altLang="zh-CN" dirty="0">
                <a:sym typeface="+mn-ea"/>
              </a:rPr>
              <a:t>12</a:t>
            </a:r>
            <a:r>
              <a:rPr lang="zh-CN" altLang="en-US" dirty="0">
                <a:sym typeface="+mn-ea"/>
              </a:rPr>
              <a:t>）</a:t>
            </a:r>
            <a:endParaRPr kumimoji="0" lang="en-US" altLang="zh-CN" i="0" u="none" strike="noStrike" kern="0" cap="none" spc="0" normalizeH="0" baseline="0" noProof="0" dirty="0">
              <a:ln>
                <a:noFill/>
              </a:ln>
              <a:solidFill>
                <a:schemeClr val="tx1"/>
              </a:solidFill>
              <a:effectLst/>
              <a:uLnTx/>
              <a:uFillTx/>
              <a:latin typeface="Verdana" panose="020B0804030504040204"/>
              <a:ea typeface="+mj-ea"/>
              <a:cs typeface="+mj-cs"/>
            </a:endParaRPr>
          </a:p>
        </p:txBody>
      </p:sp>
      <p:sp>
        <p:nvSpPr>
          <p:cNvPr id="4" name="文本占位符 3"/>
          <p:cNvSpPr>
            <a:spLocks noGrp="1"/>
          </p:cNvSpPr>
          <p:nvPr>
            <p:ph type="body" idx="1"/>
          </p:nvPr>
        </p:nvSpPr>
        <p:spPr>
          <a:xfrm>
            <a:off x="424815" y="1190625"/>
            <a:ext cx="11342370" cy="521970"/>
          </a:xfrm>
          <a:solidFill>
            <a:schemeClr val="accent3">
              <a:lumMod val="20000"/>
              <a:lumOff val="80000"/>
            </a:schemeClr>
          </a:solidFill>
        </p:spPr>
        <p:txBody>
          <a:bodyPr wrap="square">
            <a:spAutoFit/>
          </a:bodyPr>
          <a:p>
            <a:pPr marL="457200" indent="-457200">
              <a:lnSpc>
                <a:spcPct val="100000"/>
              </a:lnSpc>
              <a:buFont typeface="Wingdings" panose="05000000000000000000" charset="0"/>
              <a:buChar char="q"/>
            </a:pPr>
            <a:r>
              <a:rPr lang="zh-CN" altLang="en-US" sz="2800"/>
              <a:t>最里面的</a:t>
            </a:r>
            <a:r>
              <a:rPr lang="en-US" altLang="zh-CN" sz="2800"/>
              <a:t> NOT EXISTS </a:t>
            </a:r>
            <a:r>
              <a:rPr lang="zh-CN" altLang="en-US" sz="2800"/>
              <a:t>谓词可以改用</a:t>
            </a:r>
            <a:r>
              <a:rPr lang="en-US" altLang="zh-CN" sz="2800"/>
              <a:t> NOT IN </a:t>
            </a:r>
            <a:r>
              <a:rPr lang="zh-CN" altLang="en-US" sz="2800"/>
              <a:t>谓词</a:t>
            </a:r>
            <a:endParaRPr lang="zh-CN" altLang="en-US" sz="2800"/>
          </a:p>
        </p:txBody>
      </p:sp>
      <p:sp>
        <p:nvSpPr>
          <p:cNvPr id="61443" name="Rectangle 3"/>
          <p:cNvSpPr>
            <a:spLocks noGrp="1" noChangeArrowheads="1"/>
          </p:cNvSpPr>
          <p:nvPr>
            <p:ph sz="half" idx="2"/>
          </p:nvPr>
        </p:nvSpPr>
        <p:spPr>
          <a:xfrm>
            <a:off x="424815" y="1743075"/>
            <a:ext cx="5579745" cy="4739005"/>
          </a:xfrm>
          <a:ln>
            <a:solidFill>
              <a:schemeClr val="accent1"/>
            </a:solidFill>
          </a:ln>
        </p:spPr>
        <p:txBody>
          <a:bodyPr>
            <a:spAutoFit/>
          </a:bodyPr>
          <a:lstStyle/>
          <a:p>
            <a:pPr lvl="0"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SELECT  </a:t>
            </a:r>
            <a:r>
              <a:rPr lang="en-US" altLang="zh-CN" sz="2400" dirty="0" err="1">
                <a:solidFill>
                  <a:srgbClr val="0000C8"/>
                </a:solidFill>
                <a:latin typeface="Arial" panose="020B0604020202090204" pitchFamily="34" charset="0"/>
                <a:cs typeface="Arial" panose="020B0604020202090204" pitchFamily="34" charset="0"/>
                <a:sym typeface="+mn-ea"/>
              </a:rPr>
              <a:t>Sname</a:t>
            </a:r>
            <a:endParaRPr lang="en-US" altLang="zh-CN" sz="2400" dirty="0">
              <a:solidFill>
                <a:srgbClr val="0000C8"/>
              </a:solidFill>
              <a:latin typeface="Arial" panose="020B0604020202090204" pitchFamily="34" charset="0"/>
              <a:cs typeface="Arial" panose="020B0604020202090204" pitchFamily="34" charset="0"/>
            </a:endParaRPr>
          </a:p>
          <a:p>
            <a:pPr lvl="0"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FROM  Student  S</a:t>
            </a:r>
            <a:endParaRPr lang="en-US" altLang="zh-CN" sz="2400" dirty="0">
              <a:solidFill>
                <a:srgbClr val="0000C8"/>
              </a:solidFill>
              <a:latin typeface="Arial" panose="020B0604020202090204" pitchFamily="34" charset="0"/>
              <a:cs typeface="Arial" panose="020B0604020202090204" pitchFamily="34" charset="0"/>
            </a:endParaRPr>
          </a:p>
          <a:p>
            <a:pPr lvl="0"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WHERE  NOT EXISTS (</a:t>
            </a:r>
            <a:endParaRPr lang="en-US" altLang="zh-CN" sz="2400" dirty="0">
              <a:solidFill>
                <a:srgbClr val="0000C8"/>
              </a:solidFill>
              <a:latin typeface="Arial" panose="020B0604020202090204" pitchFamily="34" charset="0"/>
              <a:cs typeface="Arial" panose="020B0604020202090204" pitchFamily="34" charset="0"/>
            </a:endParaRPr>
          </a:p>
          <a:p>
            <a:pPr lvl="1"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SELECT  *</a:t>
            </a:r>
            <a:endParaRPr lang="en-US" altLang="zh-CN" sz="2400" dirty="0">
              <a:solidFill>
                <a:srgbClr val="0000C8"/>
              </a:solidFill>
              <a:latin typeface="Arial" panose="020B0604020202090204" pitchFamily="34" charset="0"/>
              <a:cs typeface="Arial" panose="020B0604020202090204" pitchFamily="34" charset="0"/>
            </a:endParaRPr>
          </a:p>
          <a:p>
            <a:pPr lvl="1"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FROM  Course  C</a:t>
            </a:r>
            <a:endParaRPr lang="en-US" altLang="zh-CN" sz="2400" dirty="0">
              <a:solidFill>
                <a:srgbClr val="0000C8"/>
              </a:solidFill>
              <a:latin typeface="Arial" panose="020B0604020202090204" pitchFamily="34" charset="0"/>
              <a:cs typeface="Arial" panose="020B0604020202090204" pitchFamily="34" charset="0"/>
            </a:endParaRPr>
          </a:p>
          <a:p>
            <a:pPr lvl="1"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WHERE  </a:t>
            </a:r>
            <a:r>
              <a:rPr lang="en-US" altLang="zh-CN" sz="2400" dirty="0">
                <a:solidFill>
                  <a:srgbClr val="FF0000"/>
                </a:solidFill>
                <a:latin typeface="Arial" panose="020B0604020202090204" pitchFamily="34" charset="0"/>
                <a:cs typeface="Arial" panose="020B0604020202090204" pitchFamily="34" charset="0"/>
                <a:sym typeface="+mn-ea"/>
              </a:rPr>
              <a:t>NOT EXISTS (</a:t>
            </a:r>
            <a:endParaRPr lang="en-US" altLang="zh-CN" sz="2400" dirty="0">
              <a:solidFill>
                <a:srgbClr val="FF0000"/>
              </a:solidFill>
              <a:latin typeface="Arial" panose="020B0604020202090204" pitchFamily="34" charset="0"/>
              <a:cs typeface="Arial" panose="020B0604020202090204" pitchFamily="34" charset="0"/>
            </a:endParaRPr>
          </a:p>
          <a:p>
            <a:pPr lvl="0" indent="814070" algn="just">
              <a:lnSpc>
                <a:spcPct val="105000"/>
              </a:lnSpc>
              <a:spcBef>
                <a:spcPts val="0"/>
              </a:spcBef>
              <a:buFont typeface="Wingdings" panose="05000000000000000000" pitchFamily="2" charset="2"/>
              <a:buNone/>
              <a:defRPr/>
            </a:pPr>
            <a:r>
              <a:rPr lang="en-US" altLang="zh-CN" sz="2400" dirty="0">
                <a:solidFill>
                  <a:srgbClr val="FF0000"/>
                </a:solidFill>
                <a:latin typeface="Arial" panose="020B0604020202090204" pitchFamily="34" charset="0"/>
                <a:cs typeface="Arial" panose="020B0604020202090204" pitchFamily="34" charset="0"/>
                <a:sym typeface="+mn-ea"/>
              </a:rPr>
              <a:t>SELECT  *</a:t>
            </a:r>
            <a:endParaRPr lang="en-US" altLang="zh-CN" sz="2400" dirty="0">
              <a:solidFill>
                <a:srgbClr val="FF0000"/>
              </a:solidFill>
              <a:latin typeface="Arial" panose="020B0604020202090204" pitchFamily="34" charset="0"/>
              <a:cs typeface="Arial" panose="020B0604020202090204" pitchFamily="34" charset="0"/>
            </a:endParaRPr>
          </a:p>
          <a:p>
            <a:pPr lvl="0" indent="814070" algn="just">
              <a:lnSpc>
                <a:spcPct val="105000"/>
              </a:lnSpc>
              <a:spcBef>
                <a:spcPts val="0"/>
              </a:spcBef>
              <a:buFont typeface="Wingdings" panose="05000000000000000000" pitchFamily="2" charset="2"/>
              <a:buNone/>
              <a:defRPr/>
            </a:pPr>
            <a:r>
              <a:rPr lang="en-US" altLang="zh-CN" sz="2400" dirty="0">
                <a:solidFill>
                  <a:srgbClr val="FF0000"/>
                </a:solidFill>
                <a:latin typeface="Arial" panose="020B0604020202090204" pitchFamily="34" charset="0"/>
                <a:cs typeface="Arial" panose="020B0604020202090204" pitchFamily="34" charset="0"/>
                <a:sym typeface="+mn-ea"/>
              </a:rPr>
              <a:t>FROM  SC</a:t>
            </a:r>
            <a:endParaRPr lang="en-US" altLang="zh-CN" sz="2400" dirty="0">
              <a:solidFill>
                <a:srgbClr val="FF0000"/>
              </a:solidFill>
              <a:latin typeface="Arial" panose="020B0604020202090204" pitchFamily="34" charset="0"/>
              <a:cs typeface="Arial" panose="020B0604020202090204" pitchFamily="34" charset="0"/>
            </a:endParaRPr>
          </a:p>
          <a:p>
            <a:pPr lvl="0" indent="814070" algn="just">
              <a:lnSpc>
                <a:spcPct val="105000"/>
              </a:lnSpc>
              <a:spcBef>
                <a:spcPts val="0"/>
              </a:spcBef>
              <a:buFont typeface="Wingdings" panose="05000000000000000000" pitchFamily="2" charset="2"/>
              <a:buNone/>
              <a:defRPr/>
            </a:pPr>
            <a:r>
              <a:rPr lang="en-US" altLang="zh-CN" sz="2400" dirty="0">
                <a:solidFill>
                  <a:srgbClr val="FF0000"/>
                </a:solidFill>
                <a:latin typeface="Arial" panose="020B0604020202090204" pitchFamily="34" charset="0"/>
                <a:cs typeface="Arial" panose="020B0604020202090204" pitchFamily="34" charset="0"/>
                <a:sym typeface="+mn-ea"/>
              </a:rPr>
              <a:t>WHERE  SC.</a:t>
            </a:r>
            <a:r>
              <a:rPr lang="en-US" altLang="zh-CN" sz="2400" dirty="0" err="1">
                <a:solidFill>
                  <a:srgbClr val="FF0000"/>
                </a:solidFill>
                <a:latin typeface="Arial" panose="020B0604020202090204" pitchFamily="34" charset="0"/>
                <a:cs typeface="Arial" panose="020B0604020202090204" pitchFamily="34" charset="0"/>
                <a:sym typeface="+mn-ea"/>
              </a:rPr>
              <a:t>Sno </a:t>
            </a:r>
            <a:r>
              <a:rPr lang="en-US" altLang="zh-CN" sz="2400" dirty="0">
                <a:solidFill>
                  <a:srgbClr val="FF0000"/>
                </a:solidFill>
                <a:latin typeface="Arial" panose="020B0604020202090204" pitchFamily="34" charset="0"/>
                <a:cs typeface="Arial" panose="020B0604020202090204" pitchFamily="34" charset="0"/>
                <a:sym typeface="+mn-ea"/>
              </a:rPr>
              <a:t>= </a:t>
            </a:r>
            <a:r>
              <a:rPr lang="en-US" altLang="zh-CN" sz="2400" dirty="0" err="1">
                <a:solidFill>
                  <a:srgbClr val="FF0000"/>
                </a:solidFill>
                <a:latin typeface="Arial" panose="020B0604020202090204" pitchFamily="34" charset="0"/>
                <a:cs typeface="Arial" panose="020B0604020202090204" pitchFamily="34" charset="0"/>
                <a:sym typeface="+mn-ea"/>
              </a:rPr>
              <a:t>S.Sno</a:t>
            </a:r>
            <a:endParaRPr lang="en-US" altLang="zh-CN" sz="2400" dirty="0">
              <a:solidFill>
                <a:srgbClr val="FF0000"/>
              </a:solidFill>
              <a:latin typeface="Arial" panose="020B0604020202090204" pitchFamily="34" charset="0"/>
              <a:cs typeface="Arial" panose="020B0604020202090204" pitchFamily="34" charset="0"/>
            </a:endParaRPr>
          </a:p>
          <a:p>
            <a:pPr lvl="0" indent="1548765" algn="just">
              <a:lnSpc>
                <a:spcPct val="105000"/>
              </a:lnSpc>
              <a:spcBef>
                <a:spcPts val="0"/>
              </a:spcBef>
              <a:buFont typeface="Wingdings" panose="05000000000000000000" pitchFamily="2" charset="2"/>
              <a:buNone/>
              <a:defRPr/>
            </a:pPr>
            <a:r>
              <a:rPr lang="en-US" altLang="zh-CN" sz="2400" dirty="0">
                <a:solidFill>
                  <a:srgbClr val="FF0000"/>
                </a:solidFill>
                <a:latin typeface="Arial" panose="020B0604020202090204" pitchFamily="34" charset="0"/>
                <a:cs typeface="Arial" panose="020B0604020202090204" pitchFamily="34" charset="0"/>
                <a:sym typeface="+mn-ea"/>
              </a:rPr>
              <a:t>AND  SC.</a:t>
            </a:r>
            <a:r>
              <a:rPr lang="en-US" altLang="zh-CN" sz="2400" dirty="0" err="1">
                <a:solidFill>
                  <a:srgbClr val="FF0000"/>
                </a:solidFill>
                <a:latin typeface="Arial" panose="020B0604020202090204" pitchFamily="34" charset="0"/>
                <a:cs typeface="Arial" panose="020B0604020202090204" pitchFamily="34" charset="0"/>
                <a:sym typeface="+mn-ea"/>
              </a:rPr>
              <a:t>Cno </a:t>
            </a:r>
            <a:r>
              <a:rPr lang="en-US" altLang="zh-CN" sz="2400" dirty="0">
                <a:solidFill>
                  <a:srgbClr val="FF0000"/>
                </a:solidFill>
                <a:latin typeface="Arial" panose="020B0604020202090204" pitchFamily="34" charset="0"/>
                <a:cs typeface="Arial" panose="020B0604020202090204" pitchFamily="34" charset="0"/>
                <a:sym typeface="+mn-ea"/>
              </a:rPr>
              <a:t>= </a:t>
            </a:r>
            <a:r>
              <a:rPr lang="en-US" altLang="zh-CN" sz="2400" dirty="0" err="1">
                <a:solidFill>
                  <a:srgbClr val="FF0000"/>
                </a:solidFill>
                <a:latin typeface="Arial" panose="020B0604020202090204" pitchFamily="34" charset="0"/>
                <a:cs typeface="Arial" panose="020B0604020202090204" pitchFamily="34" charset="0"/>
                <a:sym typeface="+mn-ea"/>
              </a:rPr>
              <a:t>C.Cno</a:t>
            </a:r>
            <a:endParaRPr lang="en-US" altLang="zh-CN" sz="2400" dirty="0">
              <a:solidFill>
                <a:srgbClr val="FF0000"/>
              </a:solidFill>
              <a:latin typeface="Arial" panose="020B0604020202090204" pitchFamily="34" charset="0"/>
              <a:cs typeface="Arial" panose="020B0604020202090204" pitchFamily="34" charset="0"/>
            </a:endParaRPr>
          </a:p>
          <a:p>
            <a:pPr lvl="1" algn="just">
              <a:lnSpc>
                <a:spcPct val="105000"/>
              </a:lnSpc>
              <a:spcBef>
                <a:spcPts val="0"/>
              </a:spcBef>
              <a:buFont typeface="Wingdings" panose="05000000000000000000" pitchFamily="2" charset="2"/>
              <a:buNone/>
              <a:defRPr/>
            </a:pPr>
            <a:r>
              <a:rPr lang="zh-CN" altLang="en-US" sz="2400" dirty="0">
                <a:solidFill>
                  <a:srgbClr val="FF0000"/>
                </a:solidFill>
                <a:latin typeface="Arial" panose="020B0604020202090204" pitchFamily="34" charset="0"/>
                <a:cs typeface="Arial" panose="020B0604020202090204" pitchFamily="34" charset="0"/>
                <a:sym typeface="+mn-ea"/>
              </a:rPr>
              <a:t>)</a:t>
            </a:r>
            <a:endParaRPr lang="zh-CN" altLang="en-US" sz="2400" dirty="0">
              <a:solidFill>
                <a:srgbClr val="FF0000"/>
              </a:solidFill>
              <a:latin typeface="Arial" panose="020B0604020202090204" pitchFamily="34" charset="0"/>
              <a:cs typeface="Arial" panose="020B0604020202090204" pitchFamily="34" charset="0"/>
            </a:endParaRPr>
          </a:p>
          <a:p>
            <a:pPr lvl="0" algn="just">
              <a:lnSpc>
                <a:spcPct val="105000"/>
              </a:lnSpc>
              <a:spcBef>
                <a:spcPts val="0"/>
              </a:spcBef>
              <a:buFont typeface="Wingdings" panose="05000000000000000000" pitchFamily="2" charset="2"/>
              <a:buNone/>
              <a:defRPr/>
            </a:pPr>
            <a:r>
              <a:rPr lang="zh-CN" altLang="en-US" sz="2400" dirty="0">
                <a:solidFill>
                  <a:srgbClr val="0000C8"/>
                </a:solidFill>
                <a:latin typeface="Arial" panose="020B0604020202090204" pitchFamily="34" charset="0"/>
                <a:cs typeface="Arial" panose="020B0604020202090204" pitchFamily="34" charset="0"/>
                <a:sym typeface="+mn-ea"/>
              </a:rPr>
              <a:t>);</a:t>
            </a:r>
            <a:endParaRPr lang="zh-CN" altLang="en-US" sz="2400" dirty="0">
              <a:solidFill>
                <a:srgbClr val="0000C8"/>
              </a:solidFill>
              <a:latin typeface="Arial" panose="020B0604020202090204" pitchFamily="34" charset="0"/>
              <a:cs typeface="Arial" panose="020B0604020202090204" pitchFamily="34" charset="0"/>
              <a:sym typeface="+mn-ea"/>
            </a:endParaRPr>
          </a:p>
        </p:txBody>
      </p:sp>
      <p:sp>
        <p:nvSpPr>
          <p:cNvPr id="2" name="内容占位符 1"/>
          <p:cNvSpPr>
            <a:spLocks noGrp="1"/>
          </p:cNvSpPr>
          <p:nvPr>
            <p:ph sz="quarter" idx="4"/>
          </p:nvPr>
        </p:nvSpPr>
        <p:spPr>
          <a:xfrm>
            <a:off x="6172200" y="1743075"/>
            <a:ext cx="5833110" cy="4739005"/>
          </a:xfrm>
          <a:ln>
            <a:solidFill>
              <a:schemeClr val="accent1"/>
            </a:solidFill>
          </a:ln>
        </p:spPr>
        <p:txBody>
          <a:bodyPr>
            <a:spAutoFit/>
          </a:bodyPr>
          <a:lstStyle/>
          <a:p>
            <a:pPr lvl="0"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SELECT  </a:t>
            </a:r>
            <a:r>
              <a:rPr lang="en-US" altLang="zh-CN" sz="2400" dirty="0" err="1">
                <a:solidFill>
                  <a:srgbClr val="0000C8"/>
                </a:solidFill>
                <a:latin typeface="Arial" panose="020B0604020202090204" pitchFamily="34" charset="0"/>
                <a:cs typeface="Arial" panose="020B0604020202090204" pitchFamily="34" charset="0"/>
                <a:sym typeface="+mn-ea"/>
              </a:rPr>
              <a:t>Sname</a:t>
            </a:r>
            <a:endParaRPr lang="en-US" altLang="zh-CN" sz="2400" dirty="0">
              <a:solidFill>
                <a:srgbClr val="0000C8"/>
              </a:solidFill>
              <a:latin typeface="Arial" panose="020B0604020202090204" pitchFamily="34" charset="0"/>
              <a:cs typeface="Arial" panose="020B0604020202090204" pitchFamily="34" charset="0"/>
            </a:endParaRPr>
          </a:p>
          <a:p>
            <a:pPr lvl="0"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FROM  Student  S</a:t>
            </a:r>
            <a:endParaRPr lang="en-US" altLang="zh-CN" sz="2400" dirty="0">
              <a:solidFill>
                <a:srgbClr val="0000C8"/>
              </a:solidFill>
              <a:latin typeface="Arial" panose="020B0604020202090204" pitchFamily="34" charset="0"/>
              <a:cs typeface="Arial" panose="020B0604020202090204" pitchFamily="34" charset="0"/>
            </a:endParaRPr>
          </a:p>
          <a:p>
            <a:pPr lvl="0"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WHERE  NOT EXISTS (</a:t>
            </a:r>
            <a:endParaRPr lang="en-US" altLang="zh-CN" sz="2400" dirty="0">
              <a:solidFill>
                <a:srgbClr val="0000C8"/>
              </a:solidFill>
              <a:latin typeface="Arial" panose="020B0604020202090204" pitchFamily="34" charset="0"/>
              <a:cs typeface="Arial" panose="020B0604020202090204" pitchFamily="34" charset="0"/>
            </a:endParaRPr>
          </a:p>
          <a:p>
            <a:pPr lvl="1"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SELECT  *</a:t>
            </a:r>
            <a:endParaRPr lang="en-US" altLang="zh-CN" sz="2400" dirty="0">
              <a:solidFill>
                <a:srgbClr val="0000C8"/>
              </a:solidFill>
              <a:latin typeface="Arial" panose="020B0604020202090204" pitchFamily="34" charset="0"/>
              <a:cs typeface="Arial" panose="020B0604020202090204" pitchFamily="34" charset="0"/>
            </a:endParaRPr>
          </a:p>
          <a:p>
            <a:pPr lvl="1"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FROM  Course  C</a:t>
            </a:r>
            <a:endParaRPr lang="en-US" altLang="zh-CN" sz="2400" dirty="0">
              <a:solidFill>
                <a:srgbClr val="0000C8"/>
              </a:solidFill>
              <a:latin typeface="Arial" panose="020B0604020202090204" pitchFamily="34" charset="0"/>
              <a:cs typeface="Arial" panose="020B0604020202090204" pitchFamily="34" charset="0"/>
            </a:endParaRPr>
          </a:p>
          <a:p>
            <a:pPr lvl="1" algn="just">
              <a:lnSpc>
                <a:spcPct val="105000"/>
              </a:lnSpc>
              <a:spcBef>
                <a:spcPts val="0"/>
              </a:spcBef>
              <a:buFont typeface="Wingdings" panose="05000000000000000000" pitchFamily="2" charset="2"/>
              <a:buNone/>
              <a:defRPr/>
            </a:pPr>
            <a:r>
              <a:rPr lang="en-US" altLang="zh-CN" sz="2400" dirty="0">
                <a:solidFill>
                  <a:srgbClr val="0000C8"/>
                </a:solidFill>
                <a:latin typeface="Arial" panose="020B0604020202090204" pitchFamily="34" charset="0"/>
                <a:cs typeface="Arial" panose="020B0604020202090204" pitchFamily="34" charset="0"/>
                <a:sym typeface="+mn-ea"/>
              </a:rPr>
              <a:t>WHERE  </a:t>
            </a:r>
            <a:r>
              <a:rPr lang="en-US" altLang="zh-CN" sz="2400" dirty="0">
                <a:solidFill>
                  <a:srgbClr val="FF0000"/>
                </a:solidFill>
                <a:latin typeface="Arial" panose="020B0604020202090204" pitchFamily="34" charset="0"/>
                <a:cs typeface="Arial" panose="020B0604020202090204" pitchFamily="34" charset="0"/>
                <a:sym typeface="+mn-ea"/>
              </a:rPr>
              <a:t>C.Cno  NOT  IN (</a:t>
            </a:r>
            <a:endParaRPr lang="en-US" altLang="zh-CN" sz="2400" dirty="0">
              <a:solidFill>
                <a:srgbClr val="FF0000"/>
              </a:solidFill>
              <a:latin typeface="Arial" panose="020B0604020202090204" pitchFamily="34" charset="0"/>
              <a:cs typeface="Arial" panose="020B0604020202090204" pitchFamily="34" charset="0"/>
            </a:endParaRPr>
          </a:p>
          <a:p>
            <a:pPr lvl="0" indent="814070" algn="just">
              <a:lnSpc>
                <a:spcPct val="105000"/>
              </a:lnSpc>
              <a:spcBef>
                <a:spcPts val="0"/>
              </a:spcBef>
              <a:buFont typeface="Wingdings" panose="05000000000000000000" pitchFamily="2" charset="2"/>
              <a:buNone/>
              <a:defRPr/>
            </a:pPr>
            <a:r>
              <a:rPr lang="en-US" altLang="zh-CN" sz="2400" dirty="0">
                <a:solidFill>
                  <a:srgbClr val="FF0000"/>
                </a:solidFill>
                <a:latin typeface="Arial" panose="020B0604020202090204" pitchFamily="34" charset="0"/>
                <a:cs typeface="Arial" panose="020B0604020202090204" pitchFamily="34" charset="0"/>
                <a:sym typeface="+mn-ea"/>
              </a:rPr>
              <a:t>SELECT  SC.Cno</a:t>
            </a:r>
            <a:endParaRPr lang="en-US" altLang="zh-CN" sz="2400" dirty="0">
              <a:solidFill>
                <a:srgbClr val="FF0000"/>
              </a:solidFill>
              <a:latin typeface="Arial" panose="020B0604020202090204" pitchFamily="34" charset="0"/>
              <a:cs typeface="Arial" panose="020B0604020202090204" pitchFamily="34" charset="0"/>
            </a:endParaRPr>
          </a:p>
          <a:p>
            <a:pPr lvl="0" indent="814070" algn="just">
              <a:lnSpc>
                <a:spcPct val="105000"/>
              </a:lnSpc>
              <a:spcBef>
                <a:spcPts val="0"/>
              </a:spcBef>
              <a:buFont typeface="Wingdings" panose="05000000000000000000" pitchFamily="2" charset="2"/>
              <a:buNone/>
              <a:defRPr/>
            </a:pPr>
            <a:r>
              <a:rPr lang="en-US" altLang="zh-CN" sz="2400" dirty="0">
                <a:solidFill>
                  <a:srgbClr val="FF0000"/>
                </a:solidFill>
                <a:latin typeface="Arial" panose="020B0604020202090204" pitchFamily="34" charset="0"/>
                <a:cs typeface="Arial" panose="020B0604020202090204" pitchFamily="34" charset="0"/>
                <a:sym typeface="+mn-ea"/>
              </a:rPr>
              <a:t>FROM  SC</a:t>
            </a:r>
            <a:endParaRPr lang="en-US" altLang="zh-CN" sz="2400" dirty="0">
              <a:solidFill>
                <a:srgbClr val="FF0000"/>
              </a:solidFill>
              <a:latin typeface="Arial" panose="020B0604020202090204" pitchFamily="34" charset="0"/>
              <a:cs typeface="Arial" panose="020B0604020202090204" pitchFamily="34" charset="0"/>
            </a:endParaRPr>
          </a:p>
          <a:p>
            <a:pPr lvl="0" indent="814070" algn="just">
              <a:lnSpc>
                <a:spcPct val="105000"/>
              </a:lnSpc>
              <a:spcBef>
                <a:spcPts val="0"/>
              </a:spcBef>
              <a:buFont typeface="Wingdings" panose="05000000000000000000" pitchFamily="2" charset="2"/>
              <a:buNone/>
              <a:defRPr/>
            </a:pPr>
            <a:r>
              <a:rPr lang="en-US" altLang="zh-CN" sz="2400" dirty="0">
                <a:solidFill>
                  <a:srgbClr val="FF0000"/>
                </a:solidFill>
                <a:latin typeface="Arial" panose="020B0604020202090204" pitchFamily="34" charset="0"/>
                <a:cs typeface="Arial" panose="020B0604020202090204" pitchFamily="34" charset="0"/>
                <a:sym typeface="+mn-ea"/>
              </a:rPr>
              <a:t>WHERE  SC.</a:t>
            </a:r>
            <a:r>
              <a:rPr lang="en-US" altLang="zh-CN" sz="2400" dirty="0" err="1">
                <a:solidFill>
                  <a:srgbClr val="FF0000"/>
                </a:solidFill>
                <a:latin typeface="Arial" panose="020B0604020202090204" pitchFamily="34" charset="0"/>
                <a:cs typeface="Arial" panose="020B0604020202090204" pitchFamily="34" charset="0"/>
                <a:sym typeface="+mn-ea"/>
              </a:rPr>
              <a:t>Sno </a:t>
            </a:r>
            <a:r>
              <a:rPr lang="en-US" altLang="zh-CN" sz="2400" dirty="0">
                <a:solidFill>
                  <a:srgbClr val="FF0000"/>
                </a:solidFill>
                <a:latin typeface="Arial" panose="020B0604020202090204" pitchFamily="34" charset="0"/>
                <a:cs typeface="Arial" panose="020B0604020202090204" pitchFamily="34" charset="0"/>
                <a:sym typeface="+mn-ea"/>
              </a:rPr>
              <a:t>= </a:t>
            </a:r>
            <a:r>
              <a:rPr lang="en-US" altLang="zh-CN" sz="2400" dirty="0" err="1">
                <a:solidFill>
                  <a:srgbClr val="FF0000"/>
                </a:solidFill>
                <a:latin typeface="Arial" panose="020B0604020202090204" pitchFamily="34" charset="0"/>
                <a:cs typeface="Arial" panose="020B0604020202090204" pitchFamily="34" charset="0"/>
                <a:sym typeface="+mn-ea"/>
              </a:rPr>
              <a:t>S.Sno</a:t>
            </a:r>
            <a:endParaRPr lang="en-US" altLang="zh-CN" sz="2400" dirty="0">
              <a:solidFill>
                <a:srgbClr val="FF0000"/>
              </a:solidFill>
              <a:latin typeface="Arial" panose="020B0604020202090204" pitchFamily="34" charset="0"/>
              <a:cs typeface="Arial" panose="020B0604020202090204" pitchFamily="34" charset="0"/>
            </a:endParaRPr>
          </a:p>
          <a:p>
            <a:pPr lvl="1" algn="just">
              <a:lnSpc>
                <a:spcPct val="105000"/>
              </a:lnSpc>
              <a:spcBef>
                <a:spcPts val="0"/>
              </a:spcBef>
              <a:buFont typeface="Wingdings" panose="05000000000000000000" pitchFamily="2" charset="2"/>
              <a:buNone/>
              <a:defRPr/>
            </a:pPr>
            <a:r>
              <a:rPr lang="zh-CN" altLang="en-US" sz="2400" dirty="0">
                <a:solidFill>
                  <a:srgbClr val="FF0000"/>
                </a:solidFill>
                <a:latin typeface="Arial" panose="020B0604020202090204" pitchFamily="34" charset="0"/>
                <a:cs typeface="Arial" panose="020B0604020202090204" pitchFamily="34" charset="0"/>
                <a:sym typeface="+mn-ea"/>
              </a:rPr>
              <a:t>)</a:t>
            </a:r>
            <a:endParaRPr lang="zh-CN" altLang="en-US" sz="2400" dirty="0">
              <a:solidFill>
                <a:srgbClr val="FF0000"/>
              </a:solidFill>
              <a:latin typeface="Arial" panose="020B0604020202090204" pitchFamily="34" charset="0"/>
              <a:cs typeface="Arial" panose="020B0604020202090204" pitchFamily="34" charset="0"/>
            </a:endParaRPr>
          </a:p>
          <a:p>
            <a:pPr lvl="0" algn="just">
              <a:lnSpc>
                <a:spcPct val="105000"/>
              </a:lnSpc>
              <a:spcBef>
                <a:spcPts val="0"/>
              </a:spcBef>
              <a:buFont typeface="Wingdings" panose="05000000000000000000" pitchFamily="2" charset="2"/>
              <a:buNone/>
              <a:defRPr/>
            </a:pPr>
            <a:r>
              <a:rPr lang="zh-CN" altLang="en-US" sz="2400" dirty="0">
                <a:solidFill>
                  <a:srgbClr val="0000C8"/>
                </a:solidFill>
                <a:latin typeface="Arial" panose="020B0604020202090204" pitchFamily="34" charset="0"/>
                <a:cs typeface="Arial" panose="020B0604020202090204" pitchFamily="34" charset="0"/>
                <a:sym typeface="+mn-ea"/>
              </a:rPr>
              <a:t>);</a:t>
            </a:r>
            <a:endParaRPr lang="zh-CN" altLang="en-US" sz="2400" dirty="0">
              <a:solidFill>
                <a:srgbClr val="0000C8"/>
              </a:solidFill>
              <a:latin typeface="Arial" panose="020B0604020202090204" pitchFamily="34" charset="0"/>
              <a:cs typeface="Arial" panose="020B0604020202090204" pitchFamily="34" charset="0"/>
              <a:sym typeface="+mn-ea"/>
            </a:endParaRPr>
          </a:p>
          <a:p>
            <a:pPr lvl="0" algn="just">
              <a:lnSpc>
                <a:spcPct val="105000"/>
              </a:lnSpc>
              <a:spcBef>
                <a:spcPts val="0"/>
              </a:spcBef>
              <a:buFont typeface="Wingdings" panose="05000000000000000000" pitchFamily="2" charset="2"/>
              <a:buNone/>
              <a:defRPr/>
            </a:pPr>
            <a:endParaRPr lang="zh-CN" altLang="en-US" sz="2400" dirty="0">
              <a:latin typeface="Arial" panose="020B0604020202090204" pitchFamily="34" charset="0"/>
              <a:cs typeface="Arial" panose="020B0604020202090204" pitchFamily="34" charset="0"/>
            </a:endParaRPr>
          </a:p>
        </p:txBody>
      </p:sp>
      <p:sp>
        <p:nvSpPr>
          <p:cNvPr id="33795" name="Rectangle 3"/>
          <p:cNvSpPr>
            <a:spLocks noGrp="1" noChangeArrowheads="1"/>
          </p:cNvSpPr>
          <p:nvPr/>
        </p:nvSpPr>
        <p:spPr>
          <a:xfrm>
            <a:off x="424180" y="636270"/>
            <a:ext cx="11343005" cy="521970"/>
          </a:xfrm>
          <a:prstGeom prst="rect">
            <a:avLst/>
          </a:prstGeom>
          <a:no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ct val="0"/>
              </a:spcBef>
            </a:pPr>
            <a:r>
              <a:rPr lang="en-US" altLang="zh-CN" sz="2800" dirty="0">
                <a:sym typeface="+mn-ea"/>
              </a:rPr>
              <a:t>[</a:t>
            </a:r>
            <a:r>
              <a:rPr lang="zh-CN" altLang="en-US" sz="2800" dirty="0">
                <a:ea typeface="黑体" panose="02010609060101010101" pitchFamily="49" charset="-122"/>
                <a:sym typeface="+mn-ea"/>
              </a:rPr>
              <a:t>例</a:t>
            </a:r>
            <a:r>
              <a:rPr lang="en-US" altLang="zh-CN" sz="2800" dirty="0">
                <a:ea typeface="黑体" panose="02010609060101010101" pitchFamily="49" charset="-122"/>
                <a:sym typeface="+mn-ea"/>
              </a:rPr>
              <a:t>3.62</a:t>
            </a:r>
            <a:r>
              <a:rPr lang="en-US" altLang="zh-CN" sz="2800" dirty="0">
                <a:sym typeface="+mn-ea"/>
              </a:rPr>
              <a:t>] </a:t>
            </a:r>
            <a:r>
              <a:rPr lang="zh-CN" altLang="en-US" sz="2800" dirty="0">
                <a:sym typeface="+mn-ea"/>
              </a:rPr>
              <a:t>查询选修了全部课程的学生姓名</a:t>
            </a:r>
            <a:r>
              <a:rPr lang="zh-CN" altLang="en-US" sz="2800" dirty="0">
                <a:sym typeface="+mn-ea"/>
              </a:rPr>
              <a:t>。</a:t>
            </a:r>
            <a:endParaRPr lang="en-US" altLang="zh-CN" sz="2800" dirty="0">
              <a:solidFill>
                <a:srgbClr val="0000C8"/>
              </a:solidFill>
            </a:endParaRPr>
          </a:p>
        </p:txBody>
      </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4294967295" end="4294967295"/>
                                            </p:txEl>
                                          </p:spTgt>
                                        </p:tgtEl>
                                        <p:attrNameLst>
                                          <p:attrName>style.visibility</p:attrName>
                                        </p:attrNameLst>
                                      </p:cBhvr>
                                      <p:to>
                                        <p:strVal val="visible"/>
                                      </p:to>
                                    </p:set>
                                    <p:animEffect transition="in" filter="blinds(horizontal)">
                                      <p:cBhvr>
                                        <p:cTn id="7" dur="500"/>
                                        <p:tgtEl>
                                          <p:spTgt spid="2">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4294967295" end="4294967295"/>
                                            </p:txEl>
                                          </p:spTgt>
                                        </p:tgtEl>
                                        <p:attrNameLst>
                                          <p:attrName>style.visibility</p:attrName>
                                        </p:attrNameLst>
                                      </p:cBhvr>
                                      <p:to>
                                        <p:strVal val="visible"/>
                                      </p:to>
                                    </p:set>
                                    <p:animEffect transition="in" filter="blinds(horizontal)">
                                      <p:cBhvr>
                                        <p:cTn id="12" dur="500"/>
                                        <p:tgtEl>
                                          <p:spTgt spid="2">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blinds(horizontal)">
                                      <p:cBhvr>
                                        <p:cTn id="17" dur="500"/>
                                        <p:tgtEl>
                                          <p:spTgt spid="2">
                                            <p:txEl>
                                              <p:pRg st="0" end="0"/>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blinds(horizontal)">
                                      <p:cBhvr>
                                        <p:cTn id="20" dur="500"/>
                                        <p:tgtEl>
                                          <p:spTgt spid="2">
                                            <p:txEl>
                                              <p:pRg st="1" end="1"/>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blinds(horizontal)">
                                      <p:cBhvr>
                                        <p:cTn id="23" dur="500"/>
                                        <p:tgtEl>
                                          <p:spTgt spid="2">
                                            <p:txEl>
                                              <p:pRg st="2" end="2"/>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blinds(horizontal)">
                                      <p:cBhvr>
                                        <p:cTn id="26" dur="500"/>
                                        <p:tgtEl>
                                          <p:spTgt spid="2">
                                            <p:txEl>
                                              <p:pRg st="3" end="3"/>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Effect transition="in" filter="blinds(horizontal)">
                                      <p:cBhvr>
                                        <p:cTn id="29" dur="500"/>
                                        <p:tgtEl>
                                          <p:spTgt spid="2">
                                            <p:txEl>
                                              <p:pRg st="4" end="4"/>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blinds(horizontal)">
                                      <p:cBhvr>
                                        <p:cTn id="35" dur="500"/>
                                        <p:tgtEl>
                                          <p:spTgt spid="2">
                                            <p:txEl>
                                              <p:pRg st="6" end="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animEffect transition="in" filter="blinds(horizontal)">
                                      <p:cBhvr>
                                        <p:cTn id="38" dur="500"/>
                                        <p:tgtEl>
                                          <p:spTgt spid="2">
                                            <p:txEl>
                                              <p:pRg st="7" end="7"/>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animEffect transition="in" filter="blinds(horizontal)">
                                      <p:cBhvr>
                                        <p:cTn id="41" dur="500"/>
                                        <p:tgtEl>
                                          <p:spTgt spid="2">
                                            <p:txEl>
                                              <p:pRg st="8" end="8"/>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
                                            <p:txEl>
                                              <p:pRg st="9" end="9"/>
                                            </p:txEl>
                                          </p:spTgt>
                                        </p:tgtEl>
                                        <p:attrNameLst>
                                          <p:attrName>style.visibility</p:attrName>
                                        </p:attrNameLst>
                                      </p:cBhvr>
                                      <p:to>
                                        <p:strVal val="visible"/>
                                      </p:to>
                                    </p:set>
                                    <p:animEffect transition="in" filter="blinds(horizontal)">
                                      <p:cBhvr>
                                        <p:cTn id="44" dur="500"/>
                                        <p:tgtEl>
                                          <p:spTgt spid="2">
                                            <p:txEl>
                                              <p:pRg st="9" end="9"/>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animEffect transition="in" filter="blinds(horizontal)">
                                      <p:cBhvr>
                                        <p:cTn id="4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build="allAtOnce"/>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nchor="b" anchorCtr="0"/>
          <a:lstStyle/>
          <a:p>
            <a:pPr eaLnBrk="1" hangingPunct="1"/>
            <a:r>
              <a:rPr lang="zh-CN" altLang="en-US" dirty="0">
                <a:solidFill>
                  <a:srgbClr val="0000C8"/>
                </a:solidFill>
                <a:sym typeface="+mn-ea"/>
              </a:rPr>
              <a:t>（2025 春季）</a:t>
            </a:r>
            <a:endParaRPr lang="zh-CN" altLang="en-US" dirty="0">
              <a:solidFill>
                <a:srgbClr val="0000C8"/>
              </a:solidFill>
              <a:sym typeface="+mn-ea"/>
            </a:endParaRPr>
          </a:p>
        </p:txBody>
      </p:sp>
      <p:sp>
        <p:nvSpPr>
          <p:cNvPr id="3074" name="Rectangle 2"/>
          <p:cNvSpPr>
            <a:spLocks noGrp="1" noChangeArrowheads="1"/>
          </p:cNvSpPr>
          <p:nvPr>
            <p:ph type="ctrTitle" sz="quarter"/>
          </p:nvPr>
        </p:nvSpPr>
        <p:spPr/>
        <p:txBody>
          <a:bodyPr anchor="ctr" anchorCtr="0"/>
          <a:lstStyle/>
          <a:p>
            <a:pPr eaLnBrk="1" hangingPunct="1">
              <a:lnSpc>
                <a:spcPct val="150000"/>
              </a:lnSpc>
              <a:spcBef>
                <a:spcPts val="0"/>
              </a:spcBef>
              <a:spcAft>
                <a:spcPts val="0"/>
              </a:spcAft>
            </a:pPr>
            <a:r>
              <a:rPr lang="en-US" altLang="zh-CN" sz="3600" dirty="0">
                <a:solidFill>
                  <a:srgbClr val="0000C8"/>
                </a:solidFill>
              </a:rPr>
              <a:t>ch3.4.4  SQL</a:t>
            </a:r>
            <a:r>
              <a:rPr lang="zh-CN" altLang="en-US" sz="3600" dirty="0">
                <a:solidFill>
                  <a:srgbClr val="0000C8"/>
                </a:solidFill>
              </a:rPr>
              <a:t>数据查询</a:t>
            </a:r>
            <a:br>
              <a:rPr lang="zh-CN" altLang="en-US" sz="3600" dirty="0">
                <a:solidFill>
                  <a:srgbClr val="0000C8"/>
                </a:solidFill>
              </a:rPr>
            </a:br>
            <a:r>
              <a:rPr lang="zh-CN" altLang="en-US" sz="3600" dirty="0">
                <a:solidFill>
                  <a:srgbClr val="0000C8"/>
                </a:solidFill>
              </a:rPr>
              <a:t>（集合</a:t>
            </a:r>
            <a:r>
              <a:rPr lang="zh-CN" altLang="en-US" sz="3600" dirty="0">
                <a:solidFill>
                  <a:srgbClr val="0000C8"/>
                </a:solidFill>
              </a:rPr>
              <a:t>操作）</a:t>
            </a:r>
            <a:endParaRPr lang="zh-CN" altLang="en-US" sz="3600" dirty="0">
              <a:solidFill>
                <a:srgbClr val="0000C8"/>
              </a:solidFill>
            </a:endParaRPr>
          </a:p>
        </p:txBody>
      </p:sp>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zh-CN" altLang="en-US" dirty="0"/>
              <a:t>集合查询</a:t>
            </a:r>
            <a:endParaRPr lang="zh-CN" altLang="en-US" dirty="0"/>
          </a:p>
        </p:txBody>
      </p:sp>
      <p:sp>
        <p:nvSpPr>
          <p:cNvPr id="68611" name="Rectangle 3"/>
          <p:cNvSpPr>
            <a:spLocks noGrp="1" noChangeArrowheads="1"/>
          </p:cNvSpPr>
          <p:nvPr>
            <p:ph idx="1"/>
          </p:nvPr>
        </p:nvSpPr>
        <p:spPr/>
        <p:txBody>
          <a:bodyPr/>
          <a:lstStyle/>
          <a:p>
            <a:pPr>
              <a:lnSpc>
                <a:spcPct val="140000"/>
              </a:lnSpc>
              <a:spcBef>
                <a:spcPct val="0"/>
              </a:spcBef>
            </a:pPr>
            <a:r>
              <a:rPr lang="zh-CN" altLang="en-US" dirty="0"/>
              <a:t>集合操作的种类</a:t>
            </a:r>
            <a:endParaRPr lang="zh-CN" altLang="en-US" dirty="0"/>
          </a:p>
          <a:p>
            <a:pPr lvl="1">
              <a:lnSpc>
                <a:spcPct val="140000"/>
              </a:lnSpc>
              <a:spcBef>
                <a:spcPct val="0"/>
              </a:spcBef>
            </a:pPr>
            <a:r>
              <a:rPr lang="zh-CN" altLang="en-US" dirty="0"/>
              <a:t>并操作</a:t>
            </a:r>
            <a:r>
              <a:rPr lang="en-US" altLang="zh-CN" dirty="0"/>
              <a:t> UNION  [ ALL ]</a:t>
            </a:r>
            <a:endParaRPr lang="en-US" altLang="zh-CN" dirty="0"/>
          </a:p>
          <a:p>
            <a:pPr lvl="1">
              <a:lnSpc>
                <a:spcPct val="140000"/>
              </a:lnSpc>
              <a:spcBef>
                <a:spcPct val="0"/>
              </a:spcBef>
            </a:pPr>
            <a:r>
              <a:rPr lang="zh-CN" altLang="en-US" dirty="0"/>
              <a:t>交操作</a:t>
            </a:r>
            <a:r>
              <a:rPr lang="en-US" altLang="zh-CN" dirty="0"/>
              <a:t> INTERSECT</a:t>
            </a:r>
            <a:r>
              <a:rPr lang="en-US" altLang="zh-CN" dirty="0">
                <a:sym typeface="+mn-ea"/>
              </a:rPr>
              <a:t>  [ ALL ]</a:t>
            </a:r>
            <a:endParaRPr lang="en-US" altLang="zh-CN" dirty="0"/>
          </a:p>
          <a:p>
            <a:pPr lvl="1">
              <a:lnSpc>
                <a:spcPct val="140000"/>
              </a:lnSpc>
              <a:spcBef>
                <a:spcPct val="0"/>
              </a:spcBef>
            </a:pPr>
            <a:r>
              <a:rPr lang="zh-CN" altLang="en-US" dirty="0"/>
              <a:t>差操作</a:t>
            </a:r>
            <a:r>
              <a:rPr lang="en-US" altLang="zh-CN" dirty="0"/>
              <a:t> EXCEPT</a:t>
            </a:r>
            <a:r>
              <a:rPr lang="en-US" altLang="zh-CN" dirty="0">
                <a:sym typeface="+mn-ea"/>
              </a:rPr>
              <a:t>  [ ALL ]</a:t>
            </a:r>
            <a:endParaRPr lang="en-US" altLang="zh-CN" dirty="0"/>
          </a:p>
          <a:p>
            <a:pPr lvl="1">
              <a:lnSpc>
                <a:spcPct val="140000"/>
              </a:lnSpc>
              <a:spcBef>
                <a:spcPct val="0"/>
              </a:spcBef>
            </a:pPr>
            <a:endParaRPr lang="en-US" altLang="zh-CN" dirty="0"/>
          </a:p>
          <a:p>
            <a:pPr>
              <a:lnSpc>
                <a:spcPct val="140000"/>
              </a:lnSpc>
              <a:spcBef>
                <a:spcPct val="0"/>
              </a:spcBef>
            </a:pPr>
            <a:r>
              <a:rPr lang="zh-CN" altLang="en-US" dirty="0"/>
              <a:t>参加集合操作的各个子查询需要</a:t>
            </a:r>
            <a:r>
              <a:rPr lang="zh-CN" altLang="en-US" dirty="0"/>
              <a:t>满足</a:t>
            </a:r>
            <a:endParaRPr lang="zh-CN" altLang="en-US" dirty="0"/>
          </a:p>
          <a:p>
            <a:pPr lvl="1">
              <a:lnSpc>
                <a:spcPct val="140000"/>
              </a:lnSpc>
              <a:spcBef>
                <a:spcPct val="0"/>
              </a:spcBef>
            </a:pPr>
            <a:r>
              <a:rPr lang="zh-CN" altLang="en-US" dirty="0"/>
              <a:t>结果的列数必须相同</a:t>
            </a:r>
            <a:endParaRPr lang="zh-CN" altLang="en-US" dirty="0"/>
          </a:p>
          <a:p>
            <a:pPr lvl="1">
              <a:lnSpc>
                <a:spcPct val="140000"/>
              </a:lnSpc>
              <a:spcBef>
                <a:spcPct val="0"/>
              </a:spcBef>
            </a:pPr>
            <a:r>
              <a:rPr lang="zh-CN" altLang="en-US" dirty="0"/>
              <a:t>对应</a:t>
            </a:r>
            <a:r>
              <a:rPr lang="zh-CN" altLang="en-US" dirty="0"/>
              <a:t>列的数据类型也必须相同 </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dirty="0"/>
              <a:t>并操作</a:t>
            </a:r>
            <a:endParaRPr lang="zh-CN" altLang="en-US" dirty="0"/>
          </a:p>
        </p:txBody>
      </p:sp>
      <p:sp>
        <p:nvSpPr>
          <p:cNvPr id="69635" name="Rectangle 3"/>
          <p:cNvSpPr>
            <a:spLocks noGrp="1" noChangeArrowheads="1"/>
          </p:cNvSpPr>
          <p:nvPr>
            <p:ph idx="1"/>
          </p:nvPr>
        </p:nvSpPr>
        <p:spPr/>
        <p:txBody>
          <a:bodyPr>
            <a:normAutofit/>
          </a:bodyPr>
          <a:lstStyle/>
          <a:p>
            <a:r>
              <a:rPr lang="en-US" altLang="zh-CN" dirty="0"/>
              <a:t>UNION</a:t>
            </a:r>
            <a:r>
              <a:rPr lang="zh-CN" altLang="en-US" dirty="0"/>
              <a:t>：将多个查询结果合并起来时，系统自动去掉重复元组</a:t>
            </a:r>
            <a:endParaRPr lang="zh-CN" altLang="en-US" dirty="0"/>
          </a:p>
          <a:p>
            <a:r>
              <a:rPr lang="en-US" altLang="zh-CN" dirty="0"/>
              <a:t>UNION ALL</a:t>
            </a:r>
            <a:r>
              <a:rPr lang="zh-CN" altLang="en-US" dirty="0"/>
              <a:t>：将多个查询结果合并起来时，保留重复元组 </a:t>
            </a:r>
            <a:endParaRPr lang="en-US" altLang="zh-CN" dirty="0"/>
          </a:p>
          <a:p>
            <a:endParaRPr lang="en-US" altLang="zh-CN" dirty="0"/>
          </a:p>
        </p:txBody>
      </p:sp>
      <p:sp>
        <p:nvSpPr>
          <p:cNvPr id="2" name="内容占位符 1"/>
          <p:cNvSpPr>
            <a:spLocks noGrp="1"/>
          </p:cNvSpPr>
          <p:nvPr>
            <p:ph idx="4294967295"/>
          </p:nvPr>
        </p:nvSpPr>
        <p:spPr>
          <a:xfrm>
            <a:off x="424180" y="2072005"/>
            <a:ext cx="5438140" cy="3969385"/>
          </a:xfrm>
        </p:spPr>
        <p:txBody>
          <a:bodyPr wrap="square">
            <a:spAutoFit/>
          </a:bodyPr>
          <a:lstStyle/>
          <a:p>
            <a:pPr>
              <a:lnSpc>
                <a:spcPct val="100000"/>
              </a:lnSpc>
              <a:spcBef>
                <a:spcPct val="0"/>
              </a:spcBef>
            </a:pPr>
            <a:r>
              <a:rPr lang="en-US" altLang="zh-CN" sz="2800" dirty="0">
                <a:sym typeface="+mn-ea"/>
              </a:rPr>
              <a:t>[</a:t>
            </a:r>
            <a:r>
              <a:rPr lang="zh-CN" altLang="en-US" sz="2800" dirty="0">
                <a:sym typeface="+mn-ea"/>
              </a:rPr>
              <a:t>例</a:t>
            </a:r>
            <a:r>
              <a:rPr lang="en-US" altLang="zh-CN" sz="2800" dirty="0">
                <a:sym typeface="+mn-ea"/>
              </a:rPr>
              <a:t>3.64]</a:t>
            </a:r>
            <a:r>
              <a:rPr lang="zh-CN" altLang="en-US" sz="2800" dirty="0">
                <a:sym typeface="+mn-ea"/>
              </a:rPr>
              <a:t>查询计算机科学系的学生及年龄不大于</a:t>
            </a:r>
            <a:r>
              <a:rPr lang="en-US" altLang="zh-CN" sz="2800" dirty="0">
                <a:sym typeface="+mn-ea"/>
              </a:rPr>
              <a:t>19</a:t>
            </a:r>
            <a:r>
              <a:rPr lang="zh-CN" altLang="en-US" sz="2800" dirty="0">
                <a:sym typeface="+mn-ea"/>
              </a:rPr>
              <a:t>岁的学生。</a:t>
            </a:r>
            <a:endParaRPr lang="zh-CN" altLang="en-US" sz="2800" dirty="0"/>
          </a:p>
          <a:p>
            <a:pPr marL="457200" lvl="1" indent="0">
              <a:lnSpc>
                <a:spcPct val="100000"/>
              </a:lnSpc>
              <a:spcBef>
                <a:spcPct val="0"/>
              </a:spcBef>
              <a:buNone/>
            </a:pPr>
            <a:r>
              <a:rPr lang="en-US" altLang="zh-CN" dirty="0">
                <a:latin typeface="Arial" panose="020B0604020202090204" pitchFamily="34" charset="0"/>
                <a:cs typeface="Arial" panose="020B0604020202090204" pitchFamily="34" charset="0"/>
                <a:sym typeface="+mn-ea"/>
              </a:rPr>
              <a:t>SELECT *</a:t>
            </a:r>
            <a:endParaRPr lang="en-US" altLang="zh-CN" dirty="0">
              <a:latin typeface="Arial" panose="020B0604020202090204" pitchFamily="34" charset="0"/>
              <a:cs typeface="Arial" panose="020B0604020202090204" pitchFamily="34" charset="0"/>
            </a:endParaRPr>
          </a:p>
          <a:p>
            <a:pPr marL="457200" lvl="1" indent="0">
              <a:lnSpc>
                <a:spcPct val="100000"/>
              </a:lnSpc>
              <a:spcBef>
                <a:spcPct val="0"/>
              </a:spcBef>
              <a:buNone/>
            </a:pPr>
            <a:r>
              <a:rPr lang="en-US" altLang="zh-CN" dirty="0">
                <a:latin typeface="Arial" panose="020B0604020202090204" pitchFamily="34" charset="0"/>
                <a:cs typeface="Arial" panose="020B0604020202090204" pitchFamily="34" charset="0"/>
                <a:sym typeface="+mn-ea"/>
              </a:rPr>
              <a:t>FROM Student</a:t>
            </a:r>
            <a:endParaRPr lang="en-US" altLang="zh-CN" dirty="0">
              <a:latin typeface="Arial" panose="020B0604020202090204" pitchFamily="34" charset="0"/>
              <a:cs typeface="Arial" panose="020B0604020202090204" pitchFamily="34" charset="0"/>
            </a:endParaRPr>
          </a:p>
          <a:p>
            <a:pPr marL="457200" lvl="1" indent="0">
              <a:lnSpc>
                <a:spcPct val="100000"/>
              </a:lnSpc>
              <a:spcBef>
                <a:spcPct val="0"/>
              </a:spcBef>
              <a:buNone/>
            </a:pPr>
            <a:r>
              <a:rPr lang="en-US" altLang="zh-CN" dirty="0">
                <a:latin typeface="Arial" panose="020B0604020202090204" pitchFamily="34" charset="0"/>
                <a:cs typeface="Arial" panose="020B0604020202090204" pitchFamily="34" charset="0"/>
                <a:sym typeface="+mn-ea"/>
              </a:rPr>
              <a:t>WHERE </a:t>
            </a:r>
            <a:r>
              <a:rPr lang="en-US" altLang="zh-CN" dirty="0" err="1">
                <a:latin typeface="Arial" panose="020B0604020202090204" pitchFamily="34" charset="0"/>
                <a:cs typeface="Arial" panose="020B0604020202090204" pitchFamily="34" charset="0"/>
                <a:sym typeface="+mn-ea"/>
              </a:rPr>
              <a:t>Sdept </a:t>
            </a:r>
            <a:r>
              <a:rPr lang="en-US" altLang="zh-CN" dirty="0">
                <a:latin typeface="Arial" panose="020B0604020202090204" pitchFamily="34" charset="0"/>
                <a:cs typeface="Arial" panose="020B0604020202090204" pitchFamily="34" charset="0"/>
                <a:sym typeface="+mn-ea"/>
              </a:rPr>
              <a:t>= 'CS'</a:t>
            </a:r>
            <a:endParaRPr lang="en-US" altLang="zh-CN" dirty="0">
              <a:latin typeface="Arial" panose="020B0604020202090204" pitchFamily="34" charset="0"/>
              <a:cs typeface="Arial" panose="020B0604020202090204" pitchFamily="34" charset="0"/>
            </a:endParaRPr>
          </a:p>
          <a:p>
            <a:pPr marL="914400" lvl="2" indent="0">
              <a:lnSpc>
                <a:spcPct val="100000"/>
              </a:lnSpc>
              <a:spcBef>
                <a:spcPct val="0"/>
              </a:spcBef>
              <a:buNone/>
            </a:pPr>
            <a:r>
              <a:rPr lang="en-US" altLang="zh-CN" dirty="0">
                <a:solidFill>
                  <a:srgbClr val="FF0000"/>
                </a:solidFill>
                <a:latin typeface="Arial" panose="020B0604020202090204" pitchFamily="34" charset="0"/>
                <a:cs typeface="Arial" panose="020B0604020202090204" pitchFamily="34" charset="0"/>
                <a:sym typeface="+mn-ea"/>
              </a:rPr>
              <a:t>UNION</a:t>
            </a:r>
            <a:endParaRPr lang="en-US" altLang="zh-CN" dirty="0">
              <a:latin typeface="Arial" panose="020B0604020202090204" pitchFamily="34" charset="0"/>
              <a:cs typeface="Arial" panose="020B0604020202090204" pitchFamily="34" charset="0"/>
            </a:endParaRPr>
          </a:p>
          <a:p>
            <a:pPr marL="457200" lvl="1" indent="0">
              <a:lnSpc>
                <a:spcPct val="100000"/>
              </a:lnSpc>
              <a:spcBef>
                <a:spcPct val="0"/>
              </a:spcBef>
              <a:buNone/>
            </a:pPr>
            <a:r>
              <a:rPr lang="en-US" altLang="zh-CN" dirty="0">
                <a:latin typeface="Arial" panose="020B0604020202090204" pitchFamily="34" charset="0"/>
                <a:cs typeface="Arial" panose="020B0604020202090204" pitchFamily="34" charset="0"/>
                <a:sym typeface="+mn-ea"/>
              </a:rPr>
              <a:t>SELECT *</a:t>
            </a:r>
            <a:endParaRPr lang="en-US" altLang="zh-CN" dirty="0">
              <a:latin typeface="Arial" panose="020B0604020202090204" pitchFamily="34" charset="0"/>
              <a:cs typeface="Arial" panose="020B0604020202090204" pitchFamily="34" charset="0"/>
            </a:endParaRPr>
          </a:p>
          <a:p>
            <a:pPr marL="457200" lvl="1" indent="0">
              <a:lnSpc>
                <a:spcPct val="100000"/>
              </a:lnSpc>
              <a:spcBef>
                <a:spcPct val="0"/>
              </a:spcBef>
              <a:buNone/>
            </a:pPr>
            <a:r>
              <a:rPr lang="en-US" altLang="zh-CN" dirty="0">
                <a:latin typeface="Arial" panose="020B0604020202090204" pitchFamily="34" charset="0"/>
                <a:cs typeface="Arial" panose="020B0604020202090204" pitchFamily="34" charset="0"/>
                <a:sym typeface="+mn-ea"/>
              </a:rPr>
              <a:t>FROM Student</a:t>
            </a:r>
            <a:endParaRPr lang="en-US" altLang="zh-CN" dirty="0">
              <a:latin typeface="Arial" panose="020B0604020202090204" pitchFamily="34" charset="0"/>
              <a:cs typeface="Arial" panose="020B0604020202090204" pitchFamily="34" charset="0"/>
            </a:endParaRPr>
          </a:p>
          <a:p>
            <a:pPr marL="457200" lvl="1" indent="0">
              <a:lnSpc>
                <a:spcPct val="100000"/>
              </a:lnSpc>
              <a:spcBef>
                <a:spcPct val="0"/>
              </a:spcBef>
              <a:buNone/>
            </a:pPr>
            <a:r>
              <a:rPr lang="en-US" altLang="zh-CN" dirty="0">
                <a:latin typeface="Arial" panose="020B0604020202090204" pitchFamily="34" charset="0"/>
                <a:cs typeface="Arial" panose="020B0604020202090204" pitchFamily="34" charset="0"/>
                <a:sym typeface="+mn-ea"/>
              </a:rPr>
              <a:t>WHERE Sage &lt;= 19</a:t>
            </a:r>
            <a:r>
              <a:rPr lang="zh-CN" altLang="en-US" dirty="0">
                <a:latin typeface="Arial" panose="020B0604020202090204" pitchFamily="34" charset="0"/>
                <a:cs typeface="Arial" panose="020B0604020202090204" pitchFamily="34" charset="0"/>
                <a:sym typeface="+mn-ea"/>
              </a:rPr>
              <a:t>;</a:t>
            </a:r>
            <a:endParaRPr lang="zh-CN" altLang="en-US" dirty="0">
              <a:latin typeface="Arial" panose="020B0604020202090204" pitchFamily="34" charset="0"/>
              <a:cs typeface="Arial" panose="020B0604020202090204" pitchFamily="34" charset="0"/>
            </a:endParaRPr>
          </a:p>
        </p:txBody>
      </p:sp>
      <p:sp>
        <p:nvSpPr>
          <p:cNvPr id="4" name="内容占位符 1"/>
          <p:cNvSpPr>
            <a:spLocks noGrp="1"/>
          </p:cNvSpPr>
          <p:nvPr/>
        </p:nvSpPr>
        <p:spPr>
          <a:xfrm>
            <a:off x="6328410" y="2072005"/>
            <a:ext cx="5438775" cy="3969385"/>
          </a:xfrm>
          <a:prstGeom prst="rect">
            <a:avLst/>
          </a:prstGeom>
        </p:spPr>
        <p:txBody>
          <a:bodyPr vert="horz" wrap="square"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ct val="0"/>
              </a:spcBef>
            </a:pPr>
            <a:r>
              <a:rPr lang="en-US" altLang="zh-CN" sz="2800" dirty="0"/>
              <a:t>[</a:t>
            </a:r>
            <a:r>
              <a:rPr lang="zh-CN" altLang="en-US" sz="2800" dirty="0"/>
              <a:t>例</a:t>
            </a:r>
            <a:r>
              <a:rPr lang="en-US" altLang="zh-CN" sz="2800" dirty="0"/>
              <a:t>3.65]</a:t>
            </a:r>
            <a:r>
              <a:rPr lang="zh-CN" altLang="en-US" sz="2800" dirty="0"/>
              <a:t>查询选修了课程</a:t>
            </a:r>
            <a:r>
              <a:rPr lang="en-US" altLang="zh-CN" sz="2800" dirty="0"/>
              <a:t>1</a:t>
            </a:r>
            <a:r>
              <a:rPr lang="zh-CN" altLang="en-US" sz="2800" dirty="0"/>
              <a:t>或者选修了课程</a:t>
            </a:r>
            <a:r>
              <a:rPr lang="en-US" altLang="zh-CN" sz="2800" dirty="0"/>
              <a:t>2</a:t>
            </a:r>
            <a:r>
              <a:rPr lang="zh-CN" altLang="en-US" sz="2800" dirty="0"/>
              <a:t>的学生。</a:t>
            </a:r>
            <a:endParaRPr lang="zh-CN" altLang="en-US" sz="2800" dirty="0"/>
          </a:p>
          <a:p>
            <a:pPr marL="715645" lvl="2" indent="-243840">
              <a:lnSpc>
                <a:spcPct val="100000"/>
              </a:lnSpc>
              <a:spcBef>
                <a:spcPct val="0"/>
              </a:spcBef>
              <a:buNone/>
            </a:pPr>
            <a:r>
              <a:rPr lang="en-US" altLang="zh-CN" sz="2800" dirty="0">
                <a:latin typeface="Arial" panose="020B0604020202090204" pitchFamily="34" charset="0"/>
                <a:cs typeface="Arial" panose="020B0604020202090204" pitchFamily="34" charset="0"/>
              </a:rPr>
              <a:t>SELECT </a:t>
            </a:r>
            <a:r>
              <a:rPr lang="en-US" altLang="zh-CN" sz="2800" dirty="0" err="1">
                <a:latin typeface="Arial" panose="020B0604020202090204" pitchFamily="34" charset="0"/>
                <a:cs typeface="Arial" panose="020B0604020202090204" pitchFamily="34" charset="0"/>
              </a:rPr>
              <a:t>Sno</a:t>
            </a:r>
            <a:endParaRPr lang="en-US" altLang="zh-CN" sz="2800" dirty="0">
              <a:latin typeface="Arial" panose="020B0604020202090204" pitchFamily="34" charset="0"/>
              <a:cs typeface="Arial" panose="020B0604020202090204" pitchFamily="34" charset="0"/>
            </a:endParaRPr>
          </a:p>
          <a:p>
            <a:pPr marL="715645" lvl="2" indent="-243840">
              <a:lnSpc>
                <a:spcPct val="100000"/>
              </a:lnSpc>
              <a:spcBef>
                <a:spcPct val="0"/>
              </a:spcBef>
              <a:buNone/>
            </a:pPr>
            <a:r>
              <a:rPr lang="en-US" altLang="zh-CN" sz="2800" dirty="0">
                <a:latin typeface="Arial" panose="020B0604020202090204" pitchFamily="34" charset="0"/>
                <a:cs typeface="Arial" panose="020B0604020202090204" pitchFamily="34" charset="0"/>
              </a:rPr>
              <a:t>FROM SC</a:t>
            </a:r>
            <a:endParaRPr lang="en-US" altLang="zh-CN" sz="2800" dirty="0">
              <a:latin typeface="Arial" panose="020B0604020202090204" pitchFamily="34" charset="0"/>
              <a:cs typeface="Arial" panose="020B0604020202090204" pitchFamily="34" charset="0"/>
            </a:endParaRPr>
          </a:p>
          <a:p>
            <a:pPr marL="715645" lvl="2" indent="-243840">
              <a:lnSpc>
                <a:spcPct val="100000"/>
              </a:lnSpc>
              <a:spcBef>
                <a:spcPct val="0"/>
              </a:spcBef>
              <a:buNone/>
            </a:pPr>
            <a:r>
              <a:rPr lang="en-US" altLang="zh-CN" sz="2800" dirty="0">
                <a:latin typeface="Arial" panose="020B0604020202090204" pitchFamily="34" charset="0"/>
                <a:cs typeface="Arial" panose="020B0604020202090204" pitchFamily="34" charset="0"/>
              </a:rPr>
              <a:t>WHERE </a:t>
            </a:r>
            <a:r>
              <a:rPr lang="en-US" altLang="zh-CN" sz="2800" dirty="0" err="1">
                <a:latin typeface="Arial" panose="020B0604020202090204" pitchFamily="34" charset="0"/>
                <a:cs typeface="Arial" panose="020B0604020202090204" pitchFamily="34" charset="0"/>
              </a:rPr>
              <a:t>Cno </a:t>
            </a:r>
            <a:r>
              <a:rPr lang="en-US" altLang="zh-CN" sz="2800" dirty="0">
                <a:latin typeface="Arial" panose="020B0604020202090204" pitchFamily="34" charset="0"/>
                <a:cs typeface="Arial" panose="020B0604020202090204" pitchFamily="34" charset="0"/>
              </a:rPr>
              <a:t>= '1'</a:t>
            </a:r>
            <a:endParaRPr lang="en-US" altLang="zh-CN" sz="2800" dirty="0">
              <a:latin typeface="Arial" panose="020B0604020202090204" pitchFamily="34" charset="0"/>
              <a:cs typeface="Arial" panose="020B0604020202090204" pitchFamily="34" charset="0"/>
            </a:endParaRPr>
          </a:p>
          <a:p>
            <a:pPr marL="1172845" lvl="3" indent="-24384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UNION</a:t>
            </a:r>
            <a:endParaRPr lang="en-US" altLang="zh-CN" sz="2800" dirty="0">
              <a:latin typeface="Arial" panose="020B0604020202090204" pitchFamily="34" charset="0"/>
              <a:cs typeface="Arial" panose="020B0604020202090204" pitchFamily="34" charset="0"/>
            </a:endParaRPr>
          </a:p>
          <a:p>
            <a:pPr marL="715645" lvl="2" indent="-243840">
              <a:lnSpc>
                <a:spcPct val="100000"/>
              </a:lnSpc>
              <a:spcBef>
                <a:spcPct val="0"/>
              </a:spcBef>
              <a:buNone/>
            </a:pPr>
            <a:r>
              <a:rPr lang="en-US" altLang="zh-CN" sz="2800" dirty="0">
                <a:latin typeface="Arial" panose="020B0604020202090204" pitchFamily="34" charset="0"/>
                <a:cs typeface="Arial" panose="020B0604020202090204" pitchFamily="34" charset="0"/>
              </a:rPr>
              <a:t>SELECT </a:t>
            </a:r>
            <a:r>
              <a:rPr lang="en-US" altLang="zh-CN" sz="2800" dirty="0" err="1">
                <a:latin typeface="Arial" panose="020B0604020202090204" pitchFamily="34" charset="0"/>
                <a:cs typeface="Arial" panose="020B0604020202090204" pitchFamily="34" charset="0"/>
              </a:rPr>
              <a:t>Sno</a:t>
            </a:r>
            <a:endParaRPr lang="en-US" altLang="zh-CN" sz="2800" dirty="0">
              <a:latin typeface="Arial" panose="020B0604020202090204" pitchFamily="34" charset="0"/>
              <a:cs typeface="Arial" panose="020B0604020202090204" pitchFamily="34" charset="0"/>
            </a:endParaRPr>
          </a:p>
          <a:p>
            <a:pPr marL="715645" lvl="2" indent="-243840">
              <a:lnSpc>
                <a:spcPct val="100000"/>
              </a:lnSpc>
              <a:spcBef>
                <a:spcPct val="0"/>
              </a:spcBef>
              <a:buNone/>
            </a:pPr>
            <a:r>
              <a:rPr lang="en-US" altLang="zh-CN" sz="2800" dirty="0">
                <a:latin typeface="Arial" panose="020B0604020202090204" pitchFamily="34" charset="0"/>
                <a:cs typeface="Arial" panose="020B0604020202090204" pitchFamily="34" charset="0"/>
              </a:rPr>
              <a:t>FROM SC</a:t>
            </a:r>
            <a:endParaRPr lang="en-US" altLang="zh-CN" sz="2800" dirty="0">
              <a:latin typeface="Arial" panose="020B0604020202090204" pitchFamily="34" charset="0"/>
              <a:cs typeface="Arial" panose="020B0604020202090204" pitchFamily="34" charset="0"/>
            </a:endParaRPr>
          </a:p>
          <a:p>
            <a:pPr marL="715645" lvl="2" indent="-243840">
              <a:lnSpc>
                <a:spcPct val="100000"/>
              </a:lnSpc>
              <a:spcBef>
                <a:spcPct val="0"/>
              </a:spcBef>
              <a:buNone/>
            </a:pPr>
            <a:r>
              <a:rPr lang="en-US" altLang="zh-CN" sz="2800" dirty="0">
                <a:latin typeface="Arial" panose="020B0604020202090204" pitchFamily="34" charset="0"/>
                <a:cs typeface="Arial" panose="020B0604020202090204" pitchFamily="34" charset="0"/>
              </a:rPr>
              <a:t>WHERE </a:t>
            </a:r>
            <a:r>
              <a:rPr lang="en-US" altLang="zh-CN" sz="2800" dirty="0" err="1">
                <a:latin typeface="Arial" panose="020B0604020202090204" pitchFamily="34" charset="0"/>
                <a:cs typeface="Arial" panose="020B0604020202090204" pitchFamily="34" charset="0"/>
              </a:rPr>
              <a:t>Cno </a:t>
            </a:r>
            <a:r>
              <a:rPr lang="en-US" altLang="zh-CN" sz="2800" dirty="0">
                <a:latin typeface="Arial" panose="020B0604020202090204" pitchFamily="34" charset="0"/>
                <a:cs typeface="Arial" panose="020B0604020202090204" pitchFamily="34" charset="0"/>
              </a:rPr>
              <a:t>= '2'</a:t>
            </a:r>
            <a:r>
              <a:rPr lang="zh-CN" altLang="en-US" sz="2800" dirty="0">
                <a:latin typeface="Arial" panose="020B0604020202090204" pitchFamily="34" charset="0"/>
                <a:cs typeface="Arial" panose="020B0604020202090204" pitchFamily="34" charset="0"/>
              </a:rPr>
              <a:t>;</a:t>
            </a:r>
            <a:endParaRPr lang="zh-CN" altLang="en-US" sz="2800" dirty="0">
              <a:latin typeface="Arial" panose="020B0604020202090204" pitchFamily="34" charset="0"/>
              <a:cs typeface="Arial" panose="020B0604020202090204" pitchFamily="34" charset="0"/>
            </a:endParaRPr>
          </a:p>
        </p:txBody>
      </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blinds(horizontal)">
                                      <p:cBhvr>
                                        <p:cTn id="19" dur="500"/>
                                        <p:tgtEl>
                                          <p:spTgt spid="2">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blinds(horizontal)">
                                      <p:cBhvr>
                                        <p:cTn id="25" dur="500"/>
                                        <p:tgtEl>
                                          <p:spTgt spid="2">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blinds(horizontal)">
                                      <p:cBhvr>
                                        <p:cTn id="28" dur="500"/>
                                        <p:tgtEl>
                                          <p:spTgt spid="2">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blinds(horizontal)">
                                      <p:cBhvr>
                                        <p:cTn id="33" dur="500"/>
                                        <p:tgtEl>
                                          <p:spTgt spid="4">
                                            <p:txEl>
                                              <p:pRg st="0" end="0"/>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animEffect transition="in" filter="blinds(horizontal)">
                                      <p:cBhvr>
                                        <p:cTn id="36" dur="500"/>
                                        <p:tgtEl>
                                          <p:spTgt spid="4">
                                            <p:txEl>
                                              <p:pRg st="1" end="1"/>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animEffect transition="in" filter="blinds(horizontal)">
                                      <p:cBhvr>
                                        <p:cTn id="39" dur="500"/>
                                        <p:tgtEl>
                                          <p:spTgt spid="4">
                                            <p:txEl>
                                              <p:pRg st="2" end="2"/>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4">
                                            <p:txEl>
                                              <p:pRg st="3" end="3"/>
                                            </p:txEl>
                                          </p:spTgt>
                                        </p:tgtEl>
                                        <p:attrNameLst>
                                          <p:attrName>style.visibility</p:attrName>
                                        </p:attrNameLst>
                                      </p:cBhvr>
                                      <p:to>
                                        <p:strVal val="visible"/>
                                      </p:to>
                                    </p:set>
                                    <p:animEffect transition="in" filter="blinds(horizontal)">
                                      <p:cBhvr>
                                        <p:cTn id="42" dur="500"/>
                                        <p:tgtEl>
                                          <p:spTgt spid="4">
                                            <p:txEl>
                                              <p:pRg st="3" end="3"/>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4">
                                            <p:txEl>
                                              <p:pRg st="4" end="4"/>
                                            </p:txEl>
                                          </p:spTgt>
                                        </p:tgtEl>
                                        <p:attrNameLst>
                                          <p:attrName>style.visibility</p:attrName>
                                        </p:attrNameLst>
                                      </p:cBhvr>
                                      <p:to>
                                        <p:strVal val="visible"/>
                                      </p:to>
                                    </p:set>
                                    <p:animEffect transition="in" filter="blinds(horizontal)">
                                      <p:cBhvr>
                                        <p:cTn id="45" dur="500"/>
                                        <p:tgtEl>
                                          <p:spTgt spid="4">
                                            <p:txEl>
                                              <p:pRg st="4" end="4"/>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4">
                                            <p:txEl>
                                              <p:pRg st="5" end="5"/>
                                            </p:txEl>
                                          </p:spTgt>
                                        </p:tgtEl>
                                        <p:attrNameLst>
                                          <p:attrName>style.visibility</p:attrName>
                                        </p:attrNameLst>
                                      </p:cBhvr>
                                      <p:to>
                                        <p:strVal val="visible"/>
                                      </p:to>
                                    </p:set>
                                    <p:animEffect transition="in" filter="blinds(horizontal)">
                                      <p:cBhvr>
                                        <p:cTn id="48" dur="500"/>
                                        <p:tgtEl>
                                          <p:spTgt spid="4">
                                            <p:txEl>
                                              <p:pRg st="5" end="5"/>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4">
                                            <p:txEl>
                                              <p:pRg st="6" end="6"/>
                                            </p:txEl>
                                          </p:spTgt>
                                        </p:tgtEl>
                                        <p:attrNameLst>
                                          <p:attrName>style.visibility</p:attrName>
                                        </p:attrNameLst>
                                      </p:cBhvr>
                                      <p:to>
                                        <p:strVal val="visible"/>
                                      </p:to>
                                    </p:set>
                                    <p:animEffect transition="in" filter="blinds(horizontal)">
                                      <p:cBhvr>
                                        <p:cTn id="51" dur="500"/>
                                        <p:tgtEl>
                                          <p:spTgt spid="4">
                                            <p:txEl>
                                              <p:pRg st="6" end="6"/>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4">
                                            <p:txEl>
                                              <p:pRg st="7" end="7"/>
                                            </p:txEl>
                                          </p:spTgt>
                                        </p:tgtEl>
                                        <p:attrNameLst>
                                          <p:attrName>style.visibility</p:attrName>
                                        </p:attrNameLst>
                                      </p:cBhvr>
                                      <p:to>
                                        <p:strVal val="visible"/>
                                      </p:to>
                                    </p:set>
                                    <p:animEffect transition="in" filter="blinds(horizontal)">
                                      <p:cBhvr>
                                        <p:cTn id="54"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build="allAtOnce"/>
      <p:bldP spid="4" grpId="0" bldLvl="0" build="allAtOnce"/>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zh-CN" altLang="en-US" dirty="0"/>
              <a:t>交操作</a:t>
            </a:r>
            <a:r>
              <a:rPr lang="en-US" altLang="zh-CN" dirty="0"/>
              <a:t> 1</a:t>
            </a:r>
            <a:endParaRPr lang="en-US" altLang="zh-CN" dirty="0"/>
          </a:p>
        </p:txBody>
      </p:sp>
      <p:sp>
        <p:nvSpPr>
          <p:cNvPr id="70659" name="Rectangle 3"/>
          <p:cNvSpPr>
            <a:spLocks noGrp="1" noChangeArrowheads="1"/>
          </p:cNvSpPr>
          <p:nvPr>
            <p:ph idx="1"/>
          </p:nvPr>
        </p:nvSpPr>
        <p:spPr/>
        <p:txBody>
          <a:bodyPr>
            <a:noAutofit/>
          </a:bodyPr>
          <a:lstStyle/>
          <a:p>
            <a:pPr>
              <a:lnSpc>
                <a:spcPct val="100000"/>
              </a:lnSpc>
              <a:spcBef>
                <a:spcPct val="0"/>
              </a:spcBef>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例</a:t>
            </a:r>
            <a:r>
              <a:rPr lang="en-US" altLang="zh-CN" sz="2800" dirty="0">
                <a:latin typeface="Arial" panose="020B0604020202090204" pitchFamily="34" charset="0"/>
                <a:cs typeface="Arial" panose="020B0604020202090204" pitchFamily="34" charset="0"/>
              </a:rPr>
              <a:t>3.66]  </a:t>
            </a:r>
            <a:r>
              <a:rPr lang="zh-CN" altLang="en-US" sz="2800" dirty="0">
                <a:latin typeface="Arial" panose="020B0604020202090204" pitchFamily="34" charset="0"/>
                <a:cs typeface="Arial" panose="020B0604020202090204" pitchFamily="34" charset="0"/>
              </a:rPr>
              <a:t>查询计算机科学系的学生与年龄不大于</a:t>
            </a:r>
            <a:r>
              <a:rPr lang="en-US" altLang="zh-CN" sz="2800" dirty="0">
                <a:latin typeface="Arial" panose="020B0604020202090204" pitchFamily="34" charset="0"/>
                <a:cs typeface="Arial" panose="020B0604020202090204" pitchFamily="34" charset="0"/>
              </a:rPr>
              <a:t>19</a:t>
            </a:r>
            <a:r>
              <a:rPr lang="zh-CN" altLang="en-US" sz="2800" dirty="0">
                <a:latin typeface="Arial" panose="020B0604020202090204" pitchFamily="34" charset="0"/>
                <a:cs typeface="Arial" panose="020B0604020202090204" pitchFamily="34" charset="0"/>
              </a:rPr>
              <a:t>岁的学生的交集。</a:t>
            </a:r>
            <a:endParaRPr lang="zh-CN" altLang="en-US" sz="2800" dirty="0">
              <a:latin typeface="Arial" panose="020B0604020202090204" pitchFamily="34" charset="0"/>
              <a:cs typeface="Arial" panose="020B0604020202090204" pitchFamily="34" charset="0"/>
            </a:endParaRPr>
          </a:p>
          <a:p>
            <a:pPr marL="727075" lvl="2" indent="0">
              <a:lnSpc>
                <a:spcPct val="100000"/>
              </a:lnSpc>
              <a:spcBef>
                <a:spcPct val="0"/>
              </a:spcBef>
              <a:buNone/>
            </a:pPr>
            <a:r>
              <a:rPr lang="en-US" altLang="zh-CN" sz="2800" dirty="0">
                <a:latin typeface="Arial" panose="020B0604020202090204" pitchFamily="34" charset="0"/>
                <a:cs typeface="Arial" panose="020B0604020202090204" pitchFamily="34" charset="0"/>
              </a:rPr>
              <a:t>SELECT  *</a:t>
            </a:r>
            <a:endParaRPr lang="en-US" altLang="zh-CN" sz="2800" dirty="0">
              <a:latin typeface="Arial" panose="020B0604020202090204" pitchFamily="34" charset="0"/>
              <a:cs typeface="Arial" panose="020B0604020202090204" pitchFamily="34" charset="0"/>
            </a:endParaRPr>
          </a:p>
          <a:p>
            <a:pPr marL="727075" lvl="2" indent="0">
              <a:lnSpc>
                <a:spcPct val="100000"/>
              </a:lnSpc>
              <a:spcBef>
                <a:spcPct val="0"/>
              </a:spcBef>
              <a:buNone/>
            </a:pPr>
            <a:r>
              <a:rPr lang="en-US" altLang="zh-CN" sz="2800" dirty="0">
                <a:latin typeface="Arial" panose="020B0604020202090204" pitchFamily="34" charset="0"/>
                <a:cs typeface="Arial" panose="020B0604020202090204" pitchFamily="34" charset="0"/>
              </a:rPr>
              <a:t>FROM  Student</a:t>
            </a:r>
            <a:endParaRPr lang="en-US" altLang="zh-CN" sz="2800" dirty="0">
              <a:latin typeface="Arial" panose="020B0604020202090204" pitchFamily="34" charset="0"/>
              <a:cs typeface="Arial" panose="020B0604020202090204" pitchFamily="34" charset="0"/>
            </a:endParaRPr>
          </a:p>
          <a:p>
            <a:pPr marL="727075" lvl="2" indent="0">
              <a:lnSpc>
                <a:spcPct val="100000"/>
              </a:lnSpc>
              <a:spcBef>
                <a:spcPct val="0"/>
              </a:spcBef>
              <a:buNone/>
            </a:pPr>
            <a:r>
              <a:rPr lang="en-US" altLang="zh-CN" sz="2800" dirty="0">
                <a:latin typeface="Arial" panose="020B0604020202090204" pitchFamily="34" charset="0"/>
                <a:cs typeface="Arial" panose="020B0604020202090204" pitchFamily="34" charset="0"/>
              </a:rPr>
              <a:t>WHERE  </a:t>
            </a:r>
            <a:r>
              <a:rPr lang="en-US" altLang="zh-CN" sz="2800" dirty="0" err="1">
                <a:latin typeface="Arial" panose="020B0604020202090204" pitchFamily="34" charset="0"/>
                <a:cs typeface="Arial" panose="020B0604020202090204" pitchFamily="34" charset="0"/>
              </a:rPr>
              <a:t>Sdept</a:t>
            </a:r>
            <a:r>
              <a:rPr lang="en-US" altLang="zh-CN" sz="2800" dirty="0">
                <a:latin typeface="Arial" panose="020B0604020202090204" pitchFamily="34" charset="0"/>
                <a:cs typeface="Arial" panose="020B0604020202090204" pitchFamily="34" charset="0"/>
              </a:rPr>
              <a:t>='CS' </a:t>
            </a:r>
            <a:endParaRPr lang="en-US" altLang="zh-CN" sz="2800" dirty="0">
              <a:latin typeface="Arial" panose="020B0604020202090204" pitchFamily="34" charset="0"/>
              <a:cs typeface="Arial" panose="020B0604020202090204" pitchFamily="34" charset="0"/>
            </a:endParaRPr>
          </a:p>
          <a:p>
            <a:pPr marL="1184275" lvl="3" indent="0">
              <a:lnSpc>
                <a:spcPct val="100000"/>
              </a:lnSpc>
              <a:spcBef>
                <a:spcPct val="0"/>
              </a:spcBef>
              <a:buNone/>
            </a:pPr>
            <a:r>
              <a:rPr lang="en-US" altLang="zh-CN" sz="2800" dirty="0">
                <a:solidFill>
                  <a:srgbClr val="FF0000"/>
                </a:solidFill>
                <a:latin typeface="Arial" panose="020B0604020202090204" pitchFamily="34" charset="0"/>
                <a:cs typeface="Arial" panose="020B0604020202090204" pitchFamily="34" charset="0"/>
              </a:rPr>
              <a:t>INTERSECT</a:t>
            </a:r>
            <a:endParaRPr lang="en-US" altLang="zh-CN" sz="2800" dirty="0">
              <a:solidFill>
                <a:srgbClr val="FF0000"/>
              </a:solidFill>
              <a:latin typeface="Arial" panose="020B0604020202090204" pitchFamily="34" charset="0"/>
              <a:cs typeface="Arial" panose="020B0604020202090204" pitchFamily="34" charset="0"/>
            </a:endParaRPr>
          </a:p>
          <a:p>
            <a:pPr marL="727075" lvl="2" indent="0">
              <a:lnSpc>
                <a:spcPct val="100000"/>
              </a:lnSpc>
              <a:spcBef>
                <a:spcPct val="0"/>
              </a:spcBef>
              <a:buNone/>
            </a:pPr>
            <a:r>
              <a:rPr lang="en-US" altLang="zh-CN" sz="2800" dirty="0">
                <a:latin typeface="Arial" panose="020B0604020202090204" pitchFamily="34" charset="0"/>
                <a:cs typeface="Arial" panose="020B0604020202090204" pitchFamily="34" charset="0"/>
              </a:rPr>
              <a:t>SELECT  *</a:t>
            </a:r>
            <a:endParaRPr lang="en-US" altLang="zh-CN" sz="2800" dirty="0">
              <a:latin typeface="Arial" panose="020B0604020202090204" pitchFamily="34" charset="0"/>
              <a:cs typeface="Arial" panose="020B0604020202090204" pitchFamily="34" charset="0"/>
            </a:endParaRPr>
          </a:p>
          <a:p>
            <a:pPr marL="727075" lvl="2" indent="0">
              <a:lnSpc>
                <a:spcPct val="100000"/>
              </a:lnSpc>
              <a:spcBef>
                <a:spcPct val="0"/>
              </a:spcBef>
              <a:buNone/>
            </a:pPr>
            <a:r>
              <a:rPr lang="en-US" altLang="zh-CN" sz="2800" dirty="0">
                <a:latin typeface="Arial" panose="020B0604020202090204" pitchFamily="34" charset="0"/>
                <a:cs typeface="Arial" panose="020B0604020202090204" pitchFamily="34" charset="0"/>
              </a:rPr>
              <a:t>FROM  Student</a:t>
            </a:r>
            <a:endParaRPr lang="en-US" altLang="zh-CN" sz="2800" dirty="0">
              <a:latin typeface="Arial" panose="020B0604020202090204" pitchFamily="34" charset="0"/>
              <a:cs typeface="Arial" panose="020B0604020202090204" pitchFamily="34" charset="0"/>
            </a:endParaRPr>
          </a:p>
          <a:p>
            <a:pPr marL="727075" lvl="2" indent="0">
              <a:lnSpc>
                <a:spcPct val="100000"/>
              </a:lnSpc>
              <a:spcBef>
                <a:spcPct val="0"/>
              </a:spcBef>
              <a:buNone/>
            </a:pPr>
            <a:r>
              <a:rPr lang="en-US" altLang="zh-CN" sz="2800" dirty="0">
                <a:latin typeface="Arial" panose="020B0604020202090204" pitchFamily="34" charset="0"/>
                <a:cs typeface="Arial" panose="020B0604020202090204" pitchFamily="34" charset="0"/>
              </a:rPr>
              <a:t>WHERE  Sage&lt;=19;</a:t>
            </a:r>
            <a:endParaRPr lang="en-US" altLang="zh-CN" sz="2800" dirty="0">
              <a:latin typeface="Arial" panose="020B0604020202090204" pitchFamily="34" charset="0"/>
              <a:cs typeface="Arial" panose="020B0604020202090204" pitchFamily="34" charset="0"/>
            </a:endParaRPr>
          </a:p>
          <a:p>
            <a:pPr marL="727075" lvl="2" indent="0">
              <a:lnSpc>
                <a:spcPct val="100000"/>
              </a:lnSpc>
              <a:spcBef>
                <a:spcPct val="0"/>
              </a:spcBef>
              <a:buNone/>
            </a:pPr>
            <a:endParaRPr lang="en-US" altLang="zh-CN" sz="2800" dirty="0">
              <a:latin typeface="Arial" panose="020B0604020202090204" pitchFamily="34" charset="0"/>
              <a:cs typeface="Arial" panose="020B0604020202090204" pitchFamily="34" charset="0"/>
            </a:endParaRPr>
          </a:p>
          <a:p>
            <a:pPr>
              <a:lnSpc>
                <a:spcPct val="100000"/>
              </a:lnSpc>
              <a:spcBef>
                <a:spcPct val="0"/>
              </a:spcBef>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例 </a:t>
            </a:r>
            <a:r>
              <a:rPr lang="en-US" altLang="zh-CN" sz="2800" dirty="0">
                <a:latin typeface="Arial" panose="020B0604020202090204" pitchFamily="34" charset="0"/>
                <a:cs typeface="Arial" panose="020B0604020202090204" pitchFamily="34" charset="0"/>
              </a:rPr>
              <a:t>3.66] </a:t>
            </a:r>
            <a:r>
              <a:rPr lang="zh-CN" altLang="en-US" sz="2800" dirty="0">
                <a:latin typeface="Arial" panose="020B0604020202090204" pitchFamily="34" charset="0"/>
                <a:cs typeface="Arial" panose="020B0604020202090204" pitchFamily="34" charset="0"/>
              </a:rPr>
              <a:t>实际上就是查询计算机科学系中年龄不大于</a:t>
            </a:r>
            <a:r>
              <a:rPr lang="en-US" altLang="zh-CN" sz="2800" dirty="0">
                <a:latin typeface="Arial" panose="020B0604020202090204" pitchFamily="34" charset="0"/>
                <a:cs typeface="Arial" panose="020B0604020202090204" pitchFamily="34" charset="0"/>
              </a:rPr>
              <a:t>19</a:t>
            </a:r>
            <a:r>
              <a:rPr lang="zh-CN" altLang="en-US" sz="2800" dirty="0">
                <a:latin typeface="Arial" panose="020B0604020202090204" pitchFamily="34" charset="0"/>
                <a:cs typeface="Arial" panose="020B0604020202090204" pitchFamily="34" charset="0"/>
              </a:rPr>
              <a:t>岁的学生。</a:t>
            </a:r>
            <a:endParaRPr lang="zh-CN" altLang="en-US" sz="2800" dirty="0">
              <a:latin typeface="Arial" panose="020B0604020202090204" pitchFamily="34" charset="0"/>
              <a:cs typeface="Arial" panose="020B0604020202090204" pitchFamily="34" charset="0"/>
            </a:endParaRPr>
          </a:p>
          <a:p>
            <a:pPr marL="727075" lvl="2" indent="0">
              <a:lnSpc>
                <a:spcPct val="100000"/>
              </a:lnSpc>
              <a:spcBef>
                <a:spcPct val="0"/>
              </a:spcBef>
              <a:buNone/>
            </a:pPr>
            <a:r>
              <a:rPr lang="en-US" altLang="zh-CN" sz="2800" dirty="0">
                <a:latin typeface="Arial" panose="020B0604020202090204" pitchFamily="34" charset="0"/>
                <a:cs typeface="Arial" panose="020B0604020202090204" pitchFamily="34" charset="0"/>
              </a:rPr>
              <a:t>SELECT  *</a:t>
            </a:r>
            <a:endParaRPr lang="en-US" altLang="zh-CN" sz="2800" dirty="0">
              <a:latin typeface="Arial" panose="020B0604020202090204" pitchFamily="34" charset="0"/>
              <a:cs typeface="Arial" panose="020B0604020202090204" pitchFamily="34" charset="0"/>
            </a:endParaRPr>
          </a:p>
          <a:p>
            <a:pPr marL="727075" lvl="2" indent="0">
              <a:lnSpc>
                <a:spcPct val="100000"/>
              </a:lnSpc>
              <a:spcBef>
                <a:spcPct val="0"/>
              </a:spcBef>
              <a:buNone/>
            </a:pPr>
            <a:r>
              <a:rPr lang="en-US" altLang="zh-CN" sz="2800" dirty="0">
                <a:latin typeface="Arial" panose="020B0604020202090204" pitchFamily="34" charset="0"/>
                <a:cs typeface="Arial" panose="020B0604020202090204" pitchFamily="34" charset="0"/>
              </a:rPr>
              <a:t>FROM  Student</a:t>
            </a:r>
            <a:endParaRPr lang="en-US" altLang="zh-CN" sz="2800" dirty="0">
              <a:latin typeface="Arial" panose="020B0604020202090204" pitchFamily="34" charset="0"/>
              <a:cs typeface="Arial" panose="020B0604020202090204" pitchFamily="34" charset="0"/>
            </a:endParaRPr>
          </a:p>
          <a:p>
            <a:pPr marL="1967865" lvl="2" indent="-1240790">
              <a:lnSpc>
                <a:spcPct val="100000"/>
              </a:lnSpc>
              <a:spcBef>
                <a:spcPct val="0"/>
              </a:spcBef>
              <a:buNone/>
            </a:pPr>
            <a:r>
              <a:rPr lang="en-US" altLang="zh-CN" sz="2800" dirty="0">
                <a:latin typeface="Arial" panose="020B0604020202090204" pitchFamily="34" charset="0"/>
                <a:cs typeface="Arial" panose="020B0604020202090204" pitchFamily="34" charset="0"/>
              </a:rPr>
              <a:t>WHERE </a:t>
            </a:r>
            <a:r>
              <a:rPr lang="en-US" altLang="zh-CN" sz="2800" dirty="0" err="1">
                <a:latin typeface="Arial" panose="020B0604020202090204" pitchFamily="34" charset="0"/>
                <a:cs typeface="Arial" panose="020B0604020202090204" pitchFamily="34" charset="0"/>
              </a:rPr>
              <a:t>Sdept </a:t>
            </a:r>
            <a:r>
              <a:rPr lang="en-US" altLang="zh-CN" sz="2800" dirty="0">
                <a:latin typeface="Arial" panose="020B0604020202090204" pitchFamily="34" charset="0"/>
                <a:cs typeface="Arial" panose="020B0604020202090204" pitchFamily="34" charset="0"/>
              </a:rPr>
              <a:t>= 'CS' AND  Sage&lt;=19</a:t>
            </a:r>
            <a:r>
              <a:rPr lang="zh-CN" altLang="en-US" sz="2800" dirty="0">
                <a:latin typeface="Arial" panose="020B0604020202090204" pitchFamily="34" charset="0"/>
                <a:cs typeface="Arial" panose="020B0604020202090204" pitchFamily="34" charset="0"/>
              </a:rPr>
              <a:t>;</a:t>
            </a:r>
            <a:endParaRPr lang="zh-CN" altLang="en-US" sz="2800"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59">
                                            <p:txEl>
                                              <p:pRg st="9" end="9"/>
                                            </p:txEl>
                                          </p:spTgt>
                                        </p:tgtEl>
                                        <p:attrNameLst>
                                          <p:attrName>style.visibility</p:attrName>
                                        </p:attrNameLst>
                                      </p:cBhvr>
                                      <p:to>
                                        <p:strVal val="visible"/>
                                      </p:to>
                                    </p:set>
                                    <p:anim calcmode="lin" valueType="num">
                                      <p:cBhvr additive="base">
                                        <p:cTn id="7" dur="500" fill="hold"/>
                                        <p:tgtEl>
                                          <p:spTgt spid="70659">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9">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0659">
                                            <p:txEl>
                                              <p:pRg st="10" end="10"/>
                                            </p:txEl>
                                          </p:spTgt>
                                        </p:tgtEl>
                                        <p:attrNameLst>
                                          <p:attrName>style.visibility</p:attrName>
                                        </p:attrNameLst>
                                      </p:cBhvr>
                                      <p:to>
                                        <p:strVal val="visible"/>
                                      </p:to>
                                    </p:set>
                                    <p:anim calcmode="lin" valueType="num">
                                      <p:cBhvr additive="base">
                                        <p:cTn id="11" dur="500" fill="hold"/>
                                        <p:tgtEl>
                                          <p:spTgt spid="70659">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0659">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0659">
                                            <p:txEl>
                                              <p:pRg st="11" end="11"/>
                                            </p:txEl>
                                          </p:spTgt>
                                        </p:tgtEl>
                                        <p:attrNameLst>
                                          <p:attrName>style.visibility</p:attrName>
                                        </p:attrNameLst>
                                      </p:cBhvr>
                                      <p:to>
                                        <p:strVal val="visible"/>
                                      </p:to>
                                    </p:set>
                                    <p:anim calcmode="lin" valueType="num">
                                      <p:cBhvr additive="base">
                                        <p:cTn id="15" dur="500" fill="hold"/>
                                        <p:tgtEl>
                                          <p:spTgt spid="70659">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0659">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0659">
                                            <p:txEl>
                                              <p:pRg st="12" end="12"/>
                                            </p:txEl>
                                          </p:spTgt>
                                        </p:tgtEl>
                                        <p:attrNameLst>
                                          <p:attrName>style.visibility</p:attrName>
                                        </p:attrNameLst>
                                      </p:cBhvr>
                                      <p:to>
                                        <p:strVal val="visible"/>
                                      </p:to>
                                    </p:set>
                                    <p:anim calcmode="lin" valueType="num">
                                      <p:cBhvr additive="base">
                                        <p:cTn id="19" dur="500" fill="hold"/>
                                        <p:tgtEl>
                                          <p:spTgt spid="70659">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659">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zh-CN" altLang="en-US" dirty="0"/>
              <a:t>交操作</a:t>
            </a:r>
            <a:r>
              <a:rPr lang="en-US" altLang="zh-CN" dirty="0"/>
              <a:t> 2</a:t>
            </a:r>
            <a:endParaRPr lang="en-US" altLang="zh-CN" dirty="0"/>
          </a:p>
        </p:txBody>
      </p:sp>
      <p:sp>
        <p:nvSpPr>
          <p:cNvPr id="4" name="内容占位符 3"/>
          <p:cNvSpPr>
            <a:spLocks noGrp="1"/>
          </p:cNvSpPr>
          <p:nvPr>
            <p:ph sz="half" idx="1"/>
          </p:nvPr>
        </p:nvSpPr>
        <p:spPr>
          <a:xfrm>
            <a:off x="424815" y="615950"/>
            <a:ext cx="5579745" cy="5818505"/>
          </a:xfrm>
        </p:spPr>
        <p:txBody>
          <a:bodyPr>
            <a:spAutoFit/>
          </a:bodyPr>
          <a:lstStyle/>
          <a:p>
            <a:pPr>
              <a:lnSpc>
                <a:spcPct val="120000"/>
              </a:lnSpc>
              <a:spcBef>
                <a:spcPct val="0"/>
              </a:spcBef>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例 </a:t>
            </a:r>
            <a:r>
              <a:rPr lang="en-US" altLang="zh-CN" sz="2800" dirty="0">
                <a:latin typeface="Arial" panose="020B0604020202090204" pitchFamily="34" charset="0"/>
                <a:cs typeface="Arial" panose="020B0604020202090204" pitchFamily="34" charset="0"/>
              </a:rPr>
              <a:t>3.67]</a:t>
            </a:r>
            <a:r>
              <a:rPr lang="zh-CN" altLang="en-US" sz="2800" dirty="0">
                <a:latin typeface="Arial" panose="020B0604020202090204" pitchFamily="34" charset="0"/>
                <a:cs typeface="Arial" panose="020B0604020202090204" pitchFamily="34" charset="0"/>
              </a:rPr>
              <a:t>查询既选修了课程</a:t>
            </a:r>
            <a:r>
              <a:rPr lang="en-US" altLang="zh-CN" sz="2800" dirty="0">
                <a:latin typeface="Arial" panose="020B0604020202090204" pitchFamily="34" charset="0"/>
                <a:cs typeface="Arial" panose="020B0604020202090204" pitchFamily="34" charset="0"/>
              </a:rPr>
              <a:t>1</a:t>
            </a:r>
            <a:r>
              <a:rPr lang="zh-CN" altLang="en-US" sz="2800" dirty="0">
                <a:latin typeface="Arial" panose="020B0604020202090204" pitchFamily="34" charset="0"/>
                <a:cs typeface="Arial" panose="020B0604020202090204" pitchFamily="34" charset="0"/>
              </a:rPr>
              <a:t>又选修了课程</a:t>
            </a:r>
            <a:r>
              <a:rPr lang="en-US" altLang="zh-CN" sz="2800" dirty="0">
                <a:latin typeface="Arial" panose="020B0604020202090204" pitchFamily="34" charset="0"/>
                <a:cs typeface="Arial" panose="020B0604020202090204" pitchFamily="34" charset="0"/>
              </a:rPr>
              <a:t>2</a:t>
            </a:r>
            <a:r>
              <a:rPr lang="zh-CN" altLang="en-US" sz="2800" dirty="0">
                <a:latin typeface="Arial" panose="020B0604020202090204" pitchFamily="34" charset="0"/>
                <a:cs typeface="Arial" panose="020B0604020202090204" pitchFamily="34" charset="0"/>
              </a:rPr>
              <a:t>的学生。</a:t>
            </a:r>
            <a:endParaRPr lang="zh-CN" altLang="en-US" sz="2800" dirty="0">
              <a:latin typeface="Arial" panose="020B0604020202090204" pitchFamily="34" charset="0"/>
              <a:cs typeface="Arial" panose="020B0604020202090204" pitchFamily="34" charset="0"/>
            </a:endParaRPr>
          </a:p>
          <a:p>
            <a:pPr>
              <a:lnSpc>
                <a:spcPct val="120000"/>
              </a:lnSpc>
              <a:spcBef>
                <a:spcPct val="0"/>
              </a:spcBef>
            </a:pPr>
            <a:endParaRPr lang="zh-CN" altLang="en-US" sz="2800" dirty="0">
              <a:latin typeface="Arial" panose="020B0604020202090204" pitchFamily="34" charset="0"/>
              <a:cs typeface="Arial" panose="020B0604020202090204" pitchFamily="34" charset="0"/>
            </a:endParaRPr>
          </a:p>
          <a:p>
            <a:pPr marL="363855" lvl="1" indent="0">
              <a:lnSpc>
                <a:spcPct val="120000"/>
              </a:lnSpc>
              <a:spcBef>
                <a:spcPct val="0"/>
              </a:spcBef>
              <a:buNone/>
            </a:pPr>
            <a:r>
              <a:rPr lang="zh-CN" altLang="en-US" sz="2800" dirty="0">
                <a:latin typeface="Arial" panose="020B0604020202090204" pitchFamily="34" charset="0"/>
                <a:cs typeface="Arial" panose="020B0604020202090204" pitchFamily="34" charset="0"/>
              </a:rPr>
              <a:t>    </a:t>
            </a:r>
            <a:r>
              <a:rPr lang="en-US" altLang="zh-CN" sz="2800" dirty="0">
                <a:latin typeface="Arial" panose="020B0604020202090204" pitchFamily="34" charset="0"/>
                <a:cs typeface="Arial" panose="020B0604020202090204" pitchFamily="34" charset="0"/>
              </a:rPr>
              <a:t>SELECT  </a:t>
            </a:r>
            <a:r>
              <a:rPr lang="en-US" altLang="zh-CN" sz="2800" dirty="0" err="1">
                <a:latin typeface="Arial" panose="020B0604020202090204" pitchFamily="34" charset="0"/>
                <a:cs typeface="Arial" panose="020B0604020202090204" pitchFamily="34" charset="0"/>
              </a:rPr>
              <a:t>Sno</a:t>
            </a:r>
            <a:endParaRPr lang="en-US" altLang="zh-CN" sz="2800" dirty="0">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sz="2800" dirty="0">
                <a:latin typeface="Arial" panose="020B0604020202090204" pitchFamily="34" charset="0"/>
                <a:cs typeface="Arial" panose="020B0604020202090204" pitchFamily="34" charset="0"/>
              </a:rPr>
              <a:t>    FROM  SC</a:t>
            </a:r>
            <a:endParaRPr lang="en-US" altLang="zh-CN" sz="2800" dirty="0">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sz="2800" dirty="0">
                <a:latin typeface="Arial" panose="020B0604020202090204" pitchFamily="34" charset="0"/>
                <a:cs typeface="Arial" panose="020B0604020202090204" pitchFamily="34" charset="0"/>
              </a:rPr>
              <a:t>    WHERE  </a:t>
            </a:r>
            <a:r>
              <a:rPr lang="en-US" altLang="zh-CN" sz="2800" dirty="0" err="1">
                <a:latin typeface="Arial" panose="020B0604020202090204" pitchFamily="34" charset="0"/>
                <a:cs typeface="Arial" panose="020B0604020202090204" pitchFamily="34" charset="0"/>
              </a:rPr>
              <a:t>Cno</a:t>
            </a:r>
            <a:r>
              <a:rPr lang="en-US" altLang="zh-CN" sz="2800" dirty="0">
                <a:latin typeface="Arial" panose="020B0604020202090204" pitchFamily="34" charset="0"/>
                <a:cs typeface="Arial" panose="020B0604020202090204" pitchFamily="34" charset="0"/>
              </a:rPr>
              <a:t>='1' </a:t>
            </a:r>
            <a:endParaRPr lang="en-US" altLang="zh-CN" sz="2800" dirty="0">
              <a:latin typeface="Arial" panose="020B0604020202090204" pitchFamily="34" charset="0"/>
              <a:cs typeface="Arial" panose="020B0604020202090204" pitchFamily="34" charset="0"/>
            </a:endParaRPr>
          </a:p>
          <a:p>
            <a:pPr marL="821055" lvl="2" indent="0">
              <a:lnSpc>
                <a:spcPct val="120000"/>
              </a:lnSpc>
              <a:spcBef>
                <a:spcPct val="0"/>
              </a:spcBef>
              <a:buNone/>
            </a:pPr>
            <a:r>
              <a:rPr lang="en-US" altLang="zh-CN" sz="2800" dirty="0">
                <a:latin typeface="Arial" panose="020B0604020202090204" pitchFamily="34" charset="0"/>
                <a:cs typeface="Arial" panose="020B0604020202090204" pitchFamily="34" charset="0"/>
              </a:rPr>
              <a:t>   </a:t>
            </a:r>
            <a:r>
              <a:rPr lang="en-US" altLang="zh-CN" sz="2800" dirty="0">
                <a:solidFill>
                  <a:srgbClr val="FF0000"/>
                </a:solidFill>
                <a:latin typeface="Arial" panose="020B0604020202090204" pitchFamily="34" charset="0"/>
                <a:cs typeface="Arial" panose="020B0604020202090204" pitchFamily="34" charset="0"/>
              </a:rPr>
              <a:t> INTERSECT</a:t>
            </a:r>
            <a:endParaRPr lang="en-US" altLang="zh-CN" sz="2800" dirty="0">
              <a:solidFill>
                <a:srgbClr val="FF0000"/>
              </a:solidFill>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sz="2800" dirty="0">
                <a:latin typeface="Arial" panose="020B0604020202090204" pitchFamily="34" charset="0"/>
                <a:cs typeface="Arial" panose="020B0604020202090204" pitchFamily="34" charset="0"/>
              </a:rPr>
              <a:t>    SELECT  </a:t>
            </a:r>
            <a:r>
              <a:rPr lang="en-US" altLang="zh-CN" sz="2800" dirty="0" err="1">
                <a:latin typeface="Arial" panose="020B0604020202090204" pitchFamily="34" charset="0"/>
                <a:cs typeface="Arial" panose="020B0604020202090204" pitchFamily="34" charset="0"/>
              </a:rPr>
              <a:t>Sno</a:t>
            </a:r>
            <a:endParaRPr lang="en-US" altLang="zh-CN" sz="2800" dirty="0">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sz="2800" dirty="0">
                <a:latin typeface="Arial" panose="020B0604020202090204" pitchFamily="34" charset="0"/>
                <a:cs typeface="Arial" panose="020B0604020202090204" pitchFamily="34" charset="0"/>
              </a:rPr>
              <a:t>    FROM  SC</a:t>
            </a:r>
            <a:endParaRPr lang="en-US" altLang="zh-CN" sz="2800" dirty="0">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sz="2800" dirty="0">
                <a:latin typeface="Arial" panose="020B0604020202090204" pitchFamily="34" charset="0"/>
                <a:cs typeface="Arial" panose="020B0604020202090204" pitchFamily="34" charset="0"/>
              </a:rPr>
              <a:t>    WHERE  </a:t>
            </a:r>
            <a:r>
              <a:rPr lang="en-US" altLang="zh-CN" sz="2800" dirty="0" err="1">
                <a:latin typeface="Arial" panose="020B0604020202090204" pitchFamily="34" charset="0"/>
                <a:cs typeface="Arial" panose="020B0604020202090204" pitchFamily="34" charset="0"/>
              </a:rPr>
              <a:t>Cno</a:t>
            </a:r>
            <a:r>
              <a:rPr lang="en-US" altLang="zh-CN" sz="2800" dirty="0">
                <a:latin typeface="Arial" panose="020B0604020202090204" pitchFamily="34" charset="0"/>
                <a:cs typeface="Arial" panose="020B0604020202090204" pitchFamily="34" charset="0"/>
              </a:rPr>
              <a:t>='2</a:t>
            </a:r>
            <a:r>
              <a:rPr lang="en-US" altLang="zh-CN" sz="2800" dirty="0">
                <a:latin typeface="Arial" panose="020B0604020202090204" pitchFamily="34" charset="0"/>
                <a:cs typeface="Arial" panose="020B0604020202090204" pitchFamily="34" charset="0"/>
                <a:sym typeface="+mn-ea"/>
              </a:rPr>
              <a:t>'</a:t>
            </a:r>
            <a:r>
              <a:rPr lang="zh-CN" altLang="en-US" sz="2800" dirty="0">
                <a:latin typeface="Arial" panose="020B0604020202090204" pitchFamily="34" charset="0"/>
                <a:cs typeface="Arial" panose="020B0604020202090204" pitchFamily="34" charset="0"/>
              </a:rPr>
              <a:t>;</a:t>
            </a:r>
            <a:endParaRPr lang="en-US" altLang="zh-CN" sz="2800" dirty="0">
              <a:latin typeface="Arial" panose="020B0604020202090204" pitchFamily="34" charset="0"/>
              <a:cs typeface="Arial" panose="020B0604020202090204" pitchFamily="34" charset="0"/>
            </a:endParaRPr>
          </a:p>
          <a:p>
            <a:pPr>
              <a:lnSpc>
                <a:spcPct val="100000"/>
              </a:lnSpc>
            </a:pPr>
            <a:endParaRPr lang="zh-CN" altLang="en-US" sz="2800" dirty="0">
              <a:latin typeface="Arial" panose="020B0604020202090204" pitchFamily="34" charset="0"/>
              <a:cs typeface="Arial" panose="020B0604020202090204" pitchFamily="34" charset="0"/>
            </a:endParaRPr>
          </a:p>
        </p:txBody>
      </p:sp>
      <p:sp>
        <p:nvSpPr>
          <p:cNvPr id="5" name="内容占位符 4"/>
          <p:cNvSpPr>
            <a:spLocks noGrp="1"/>
          </p:cNvSpPr>
          <p:nvPr>
            <p:ph sz="half" idx="2"/>
          </p:nvPr>
        </p:nvSpPr>
        <p:spPr>
          <a:xfrm>
            <a:off x="6172200" y="615950"/>
            <a:ext cx="5818505" cy="5981700"/>
          </a:xfrm>
        </p:spPr>
        <p:txBody>
          <a:bodyPr/>
          <a:p>
            <a:pPr>
              <a:lnSpc>
                <a:spcPct val="120000"/>
              </a:lnSpc>
              <a:spcBef>
                <a:spcPct val="0"/>
              </a:spcBef>
            </a:pPr>
            <a:r>
              <a:rPr lang="en-US" altLang="zh-CN" sz="2800" dirty="0">
                <a:latin typeface="Arial" panose="020B0604020202090204" pitchFamily="34" charset="0"/>
                <a:cs typeface="Arial" panose="020B0604020202090204" pitchFamily="34" charset="0"/>
                <a:sym typeface="+mn-ea"/>
              </a:rPr>
              <a:t>[</a:t>
            </a:r>
            <a:r>
              <a:rPr lang="zh-CN" altLang="en-US" sz="2800" dirty="0">
                <a:latin typeface="Arial" panose="020B0604020202090204" pitchFamily="34" charset="0"/>
                <a:cs typeface="Arial" panose="020B0604020202090204" pitchFamily="34" charset="0"/>
                <a:sym typeface="+mn-ea"/>
              </a:rPr>
              <a:t>例</a:t>
            </a:r>
            <a:r>
              <a:rPr lang="en-US" altLang="zh-CN" sz="2800" dirty="0">
                <a:latin typeface="Arial" panose="020B0604020202090204" pitchFamily="34" charset="0"/>
                <a:cs typeface="Arial" panose="020B0604020202090204" pitchFamily="34" charset="0"/>
                <a:sym typeface="+mn-ea"/>
              </a:rPr>
              <a:t>3.67]</a:t>
            </a:r>
            <a:r>
              <a:rPr lang="zh-CN" altLang="en-US" sz="2800" dirty="0">
                <a:latin typeface="Arial" panose="020B0604020202090204" pitchFamily="34" charset="0"/>
                <a:cs typeface="Arial" panose="020B0604020202090204" pitchFamily="34" charset="0"/>
                <a:sym typeface="+mn-ea"/>
              </a:rPr>
              <a:t>也可以表示为：</a:t>
            </a:r>
            <a:endParaRPr lang="zh-CN" altLang="en-US" sz="2800" dirty="0">
              <a:latin typeface="Arial" panose="020B0604020202090204" pitchFamily="34" charset="0"/>
              <a:cs typeface="Arial" panose="020B0604020202090204" pitchFamily="34" charset="0"/>
              <a:sym typeface="+mn-ea"/>
            </a:endParaRPr>
          </a:p>
          <a:p>
            <a:pPr>
              <a:lnSpc>
                <a:spcPct val="120000"/>
              </a:lnSpc>
              <a:spcBef>
                <a:spcPct val="0"/>
              </a:spcBef>
            </a:pPr>
            <a:endParaRPr lang="zh-CN" altLang="en-US" sz="2800" dirty="0">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sz="2800" dirty="0">
                <a:latin typeface="Arial" panose="020B0604020202090204" pitchFamily="34" charset="0"/>
                <a:cs typeface="Arial" panose="020B0604020202090204" pitchFamily="34" charset="0"/>
                <a:sym typeface="+mn-ea"/>
              </a:rPr>
              <a:t>SELECT  </a:t>
            </a:r>
            <a:r>
              <a:rPr lang="en-US" altLang="zh-CN" sz="2800" dirty="0" err="1">
                <a:latin typeface="Arial" panose="020B0604020202090204" pitchFamily="34" charset="0"/>
                <a:cs typeface="Arial" panose="020B0604020202090204" pitchFamily="34" charset="0"/>
                <a:sym typeface="+mn-ea"/>
              </a:rPr>
              <a:t>Sno</a:t>
            </a:r>
            <a:endParaRPr lang="en-US" altLang="zh-CN" sz="2800" dirty="0">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sz="2800" dirty="0">
                <a:latin typeface="Arial" panose="020B0604020202090204" pitchFamily="34" charset="0"/>
                <a:cs typeface="Arial" panose="020B0604020202090204" pitchFamily="34" charset="0"/>
                <a:sym typeface="+mn-ea"/>
              </a:rPr>
              <a:t>FROM     SC</a:t>
            </a:r>
            <a:endParaRPr lang="en-US" altLang="zh-CN" sz="2800" dirty="0">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sz="2800" dirty="0">
                <a:latin typeface="Arial" panose="020B0604020202090204" pitchFamily="34" charset="0"/>
                <a:cs typeface="Arial" panose="020B0604020202090204" pitchFamily="34" charset="0"/>
                <a:sym typeface="+mn-ea"/>
              </a:rPr>
              <a:t>WHERE  </a:t>
            </a:r>
            <a:r>
              <a:rPr lang="en-US" altLang="zh-CN" sz="2800" dirty="0" err="1">
                <a:latin typeface="Arial" panose="020B0604020202090204" pitchFamily="34" charset="0"/>
                <a:cs typeface="Arial" panose="020B0604020202090204" pitchFamily="34" charset="0"/>
                <a:sym typeface="+mn-ea"/>
              </a:rPr>
              <a:t>Cno</a:t>
            </a:r>
            <a:r>
              <a:rPr lang="en-US" altLang="zh-CN" sz="2800" dirty="0">
                <a:latin typeface="Arial" panose="020B0604020202090204" pitchFamily="34" charset="0"/>
                <a:cs typeface="Arial" panose="020B0604020202090204" pitchFamily="34" charset="0"/>
                <a:sym typeface="+mn-ea"/>
              </a:rPr>
              <a:t>='1' AND </a:t>
            </a:r>
            <a:r>
              <a:rPr lang="en-US" altLang="zh-CN" sz="2800" dirty="0" err="1">
                <a:latin typeface="Arial" panose="020B0604020202090204" pitchFamily="34" charset="0"/>
                <a:cs typeface="Arial" panose="020B0604020202090204" pitchFamily="34" charset="0"/>
                <a:sym typeface="+mn-ea"/>
              </a:rPr>
              <a:t>Sno</a:t>
            </a:r>
            <a:r>
              <a:rPr lang="en-US" altLang="zh-CN" sz="2800" dirty="0">
                <a:latin typeface="Arial" panose="020B0604020202090204" pitchFamily="34" charset="0"/>
                <a:cs typeface="Arial" panose="020B0604020202090204" pitchFamily="34" charset="0"/>
                <a:sym typeface="+mn-ea"/>
              </a:rPr>
              <a:t> IN (</a:t>
            </a:r>
            <a:endParaRPr lang="en-US" altLang="zh-CN" sz="2800" dirty="0">
              <a:latin typeface="Arial" panose="020B0604020202090204" pitchFamily="34" charset="0"/>
              <a:cs typeface="Arial" panose="020B0604020202090204" pitchFamily="34" charset="0"/>
            </a:endParaRPr>
          </a:p>
          <a:p>
            <a:pPr marL="1278255" lvl="3" indent="0">
              <a:lnSpc>
                <a:spcPct val="120000"/>
              </a:lnSpc>
              <a:spcBef>
                <a:spcPct val="0"/>
              </a:spcBef>
              <a:buNone/>
            </a:pPr>
            <a:r>
              <a:rPr lang="en-US" altLang="zh-CN" sz="2800" dirty="0">
                <a:latin typeface="Arial" panose="020B0604020202090204" pitchFamily="34" charset="0"/>
                <a:cs typeface="Arial" panose="020B0604020202090204" pitchFamily="34" charset="0"/>
                <a:sym typeface="+mn-ea"/>
              </a:rPr>
              <a:t>SELECT </a:t>
            </a:r>
            <a:r>
              <a:rPr lang="en-US" altLang="zh-CN" sz="2800" dirty="0" err="1">
                <a:latin typeface="Arial" panose="020B0604020202090204" pitchFamily="34" charset="0"/>
                <a:cs typeface="Arial" panose="020B0604020202090204" pitchFamily="34" charset="0"/>
                <a:sym typeface="+mn-ea"/>
              </a:rPr>
              <a:t>Sno</a:t>
            </a:r>
            <a:endParaRPr lang="en-US" altLang="zh-CN" sz="2800" dirty="0">
              <a:latin typeface="Arial" panose="020B0604020202090204" pitchFamily="34" charset="0"/>
              <a:cs typeface="Arial" panose="020B0604020202090204" pitchFamily="34" charset="0"/>
            </a:endParaRPr>
          </a:p>
          <a:p>
            <a:pPr marL="1278255" lvl="3" indent="0">
              <a:lnSpc>
                <a:spcPct val="120000"/>
              </a:lnSpc>
              <a:spcBef>
                <a:spcPct val="0"/>
              </a:spcBef>
              <a:buNone/>
            </a:pPr>
            <a:r>
              <a:rPr lang="en-US" altLang="zh-CN" sz="2800" dirty="0">
                <a:latin typeface="Arial" panose="020B0604020202090204" pitchFamily="34" charset="0"/>
                <a:cs typeface="Arial" panose="020B0604020202090204" pitchFamily="34" charset="0"/>
                <a:sym typeface="+mn-ea"/>
              </a:rPr>
              <a:t>FROM SC</a:t>
            </a:r>
            <a:endParaRPr lang="en-US" altLang="zh-CN" sz="2800" dirty="0">
              <a:latin typeface="Arial" panose="020B0604020202090204" pitchFamily="34" charset="0"/>
              <a:cs typeface="Arial" panose="020B0604020202090204" pitchFamily="34" charset="0"/>
            </a:endParaRPr>
          </a:p>
          <a:p>
            <a:pPr marL="1278255" lvl="3" indent="0">
              <a:lnSpc>
                <a:spcPct val="120000"/>
              </a:lnSpc>
              <a:spcBef>
                <a:spcPct val="0"/>
              </a:spcBef>
              <a:buNone/>
            </a:pPr>
            <a:r>
              <a:rPr lang="en-US" altLang="zh-CN" sz="2800" dirty="0">
                <a:latin typeface="Arial" panose="020B0604020202090204" pitchFamily="34" charset="0"/>
                <a:cs typeface="Arial" panose="020B0604020202090204" pitchFamily="34" charset="0"/>
                <a:sym typeface="+mn-ea"/>
              </a:rPr>
              <a:t>WHERE </a:t>
            </a:r>
            <a:r>
              <a:rPr lang="en-US" altLang="zh-CN" sz="2800" dirty="0" err="1">
                <a:latin typeface="Arial" panose="020B0604020202090204" pitchFamily="34" charset="0"/>
                <a:cs typeface="Arial" panose="020B0604020202090204" pitchFamily="34" charset="0"/>
                <a:sym typeface="+mn-ea"/>
              </a:rPr>
              <a:t>Cno</a:t>
            </a:r>
            <a:r>
              <a:rPr lang="en-US" altLang="zh-CN" sz="2800" dirty="0">
                <a:latin typeface="Arial" panose="020B0604020202090204" pitchFamily="34" charset="0"/>
                <a:cs typeface="Arial" panose="020B0604020202090204" pitchFamily="34" charset="0"/>
                <a:sym typeface="+mn-ea"/>
              </a:rPr>
              <a:t>='2');</a:t>
            </a:r>
            <a:endParaRPr lang="zh-CN" altLang="en-US" sz="280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blinds(horizontal)">
                                      <p:cBhvr>
                                        <p:cTn id="10" dur="500"/>
                                        <p:tgtEl>
                                          <p:spTgt spid="5">
                                            <p:txEl>
                                              <p:pRg st="2" end="2"/>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blinds(horizontal)">
                                      <p:cBhvr>
                                        <p:cTn id="13" dur="500"/>
                                        <p:tgtEl>
                                          <p:spTgt spid="5">
                                            <p:txEl>
                                              <p:pRg st="3" end="3"/>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blinds(horizontal)">
                                      <p:cBhvr>
                                        <p:cTn id="16" dur="500"/>
                                        <p:tgtEl>
                                          <p:spTgt spid="5">
                                            <p:txEl>
                                              <p:pRg st="4" end="4"/>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Effect transition="in" filter="blinds(horizontal)">
                                      <p:cBhvr>
                                        <p:cTn id="19" dur="500"/>
                                        <p:tgtEl>
                                          <p:spTgt spid="5">
                                            <p:txEl>
                                              <p:pRg st="5" end="5"/>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blinds(horizontal)">
                                      <p:cBhvr>
                                        <p:cTn id="22" dur="500"/>
                                        <p:tgtEl>
                                          <p:spTgt spid="5">
                                            <p:txEl>
                                              <p:pRg st="6" end="6"/>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animEffect transition="in" filter="blinds(horizontal)">
                                      <p:cBhvr>
                                        <p:cTn id="25"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a:t>差操作</a:t>
            </a:r>
            <a:endParaRPr lang="zh-CN" altLang="en-US" dirty="0"/>
          </a:p>
        </p:txBody>
      </p:sp>
      <p:sp>
        <p:nvSpPr>
          <p:cNvPr id="75779" name="Rectangle 3"/>
          <p:cNvSpPr>
            <a:spLocks noGrp="1" noChangeArrowheads="1"/>
          </p:cNvSpPr>
          <p:nvPr>
            <p:ph sz="half" idx="1"/>
          </p:nvPr>
        </p:nvSpPr>
        <p:spPr/>
        <p:txBody>
          <a:bodyPr>
            <a:noAutofit/>
          </a:bodyPr>
          <a:lstStyle/>
          <a:p>
            <a:pPr fontAlgn="auto">
              <a:spcBef>
                <a:spcPts val="0"/>
              </a:spcBef>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例 </a:t>
            </a:r>
            <a:r>
              <a:rPr lang="en-US" altLang="zh-CN" sz="2800" dirty="0">
                <a:latin typeface="Arial" panose="020B0604020202090204" pitchFamily="34" charset="0"/>
                <a:cs typeface="Arial" panose="020B0604020202090204" pitchFamily="34" charset="0"/>
              </a:rPr>
              <a:t>3.68]  </a:t>
            </a:r>
            <a:r>
              <a:rPr lang="zh-CN" altLang="en-US" sz="2800" dirty="0">
                <a:latin typeface="Arial" panose="020B0604020202090204" pitchFamily="34" charset="0"/>
                <a:cs typeface="Arial" panose="020B0604020202090204" pitchFamily="34" charset="0"/>
              </a:rPr>
              <a:t>查询计算机科学系的学生与年龄不大于</a:t>
            </a:r>
            <a:r>
              <a:rPr lang="en-US" altLang="zh-CN" sz="2800" dirty="0">
                <a:latin typeface="Arial" panose="020B0604020202090204" pitchFamily="34" charset="0"/>
                <a:cs typeface="Arial" panose="020B0604020202090204" pitchFamily="34" charset="0"/>
              </a:rPr>
              <a:t>19</a:t>
            </a:r>
            <a:r>
              <a:rPr lang="zh-CN" altLang="en-US" sz="2800" dirty="0">
                <a:latin typeface="Arial" panose="020B0604020202090204" pitchFamily="34" charset="0"/>
                <a:cs typeface="Arial" panose="020B0604020202090204" pitchFamily="34" charset="0"/>
              </a:rPr>
              <a:t>岁的学生的差集。</a:t>
            </a:r>
            <a:endParaRPr lang="zh-CN" altLang="en-US" sz="2800" dirty="0">
              <a:latin typeface="Arial" panose="020B0604020202090204" pitchFamily="34" charset="0"/>
              <a:cs typeface="Arial" panose="020B0604020202090204" pitchFamily="34" charset="0"/>
            </a:endParaRPr>
          </a:p>
          <a:p>
            <a:pPr fontAlgn="auto">
              <a:spcBef>
                <a:spcPts val="0"/>
              </a:spcBef>
            </a:pPr>
            <a:endParaRPr lang="zh-CN" altLang="en-US" sz="2800" dirty="0">
              <a:latin typeface="Arial" panose="020B0604020202090204" pitchFamily="34" charset="0"/>
              <a:cs typeface="Arial" panose="020B0604020202090204" pitchFamily="34" charset="0"/>
            </a:endParaRPr>
          </a:p>
          <a:p>
            <a:pPr marL="363855" lvl="1" indent="0" fontAlgn="auto">
              <a:spcBef>
                <a:spcPts val="0"/>
              </a:spcBef>
              <a:buNone/>
            </a:pPr>
            <a:r>
              <a:rPr lang="zh-CN" altLang="en-US" sz="2800" dirty="0">
                <a:latin typeface="Arial" panose="020B0604020202090204" pitchFamily="34" charset="0"/>
                <a:cs typeface="Arial" panose="020B0604020202090204" pitchFamily="34" charset="0"/>
              </a:rPr>
              <a:t>    </a:t>
            </a:r>
            <a:r>
              <a:rPr lang="en-US" altLang="zh-CN" sz="2800" dirty="0">
                <a:latin typeface="Arial" panose="020B0604020202090204" pitchFamily="34" charset="0"/>
                <a:cs typeface="Arial" panose="020B0604020202090204" pitchFamily="34" charset="0"/>
              </a:rPr>
              <a:t>SELECT  *</a:t>
            </a:r>
            <a:endParaRPr lang="en-US" altLang="zh-CN" sz="2800" dirty="0">
              <a:latin typeface="Arial" panose="020B0604020202090204" pitchFamily="34" charset="0"/>
              <a:cs typeface="Arial" panose="020B0604020202090204" pitchFamily="34" charset="0"/>
            </a:endParaRPr>
          </a:p>
          <a:p>
            <a:pPr marL="363855" lvl="1" indent="0" fontAlgn="auto">
              <a:spcBef>
                <a:spcPts val="0"/>
              </a:spcBef>
              <a:buNone/>
            </a:pPr>
            <a:r>
              <a:rPr lang="en-US" altLang="zh-CN" sz="2800" dirty="0">
                <a:latin typeface="Arial" panose="020B0604020202090204" pitchFamily="34" charset="0"/>
                <a:cs typeface="Arial" panose="020B0604020202090204" pitchFamily="34" charset="0"/>
              </a:rPr>
              <a:t>    FROM  Student</a:t>
            </a:r>
            <a:endParaRPr lang="en-US" altLang="zh-CN" sz="2800" dirty="0">
              <a:latin typeface="Arial" panose="020B0604020202090204" pitchFamily="34" charset="0"/>
              <a:cs typeface="Arial" panose="020B0604020202090204" pitchFamily="34" charset="0"/>
            </a:endParaRPr>
          </a:p>
          <a:p>
            <a:pPr marL="363855" lvl="1" indent="0" fontAlgn="auto">
              <a:spcBef>
                <a:spcPts val="0"/>
              </a:spcBef>
              <a:buNone/>
            </a:pPr>
            <a:r>
              <a:rPr lang="en-US" altLang="zh-CN" sz="2800" dirty="0">
                <a:latin typeface="Arial" panose="020B0604020202090204" pitchFamily="34" charset="0"/>
                <a:cs typeface="Arial" panose="020B0604020202090204" pitchFamily="34" charset="0"/>
              </a:rPr>
              <a:t>    WHERE  </a:t>
            </a:r>
            <a:r>
              <a:rPr lang="en-US" altLang="zh-CN" sz="2800" dirty="0" err="1">
                <a:latin typeface="Arial" panose="020B0604020202090204" pitchFamily="34" charset="0"/>
                <a:cs typeface="Arial" panose="020B0604020202090204" pitchFamily="34" charset="0"/>
              </a:rPr>
              <a:t>Sdept</a:t>
            </a:r>
            <a:r>
              <a:rPr lang="en-US" altLang="zh-CN" sz="2800" dirty="0">
                <a:latin typeface="Arial" panose="020B0604020202090204" pitchFamily="34" charset="0"/>
                <a:cs typeface="Arial" panose="020B0604020202090204" pitchFamily="34" charset="0"/>
              </a:rPr>
              <a:t>='CS'</a:t>
            </a:r>
            <a:endParaRPr lang="en-US" altLang="zh-CN" sz="2800" dirty="0">
              <a:latin typeface="Arial" panose="020B0604020202090204" pitchFamily="34" charset="0"/>
              <a:cs typeface="Arial" panose="020B0604020202090204" pitchFamily="34" charset="0"/>
            </a:endParaRPr>
          </a:p>
          <a:p>
            <a:pPr marL="821055" lvl="2" indent="0" fontAlgn="auto">
              <a:spcBef>
                <a:spcPts val="0"/>
              </a:spcBef>
              <a:buNone/>
            </a:pPr>
            <a:r>
              <a:rPr lang="en-US" altLang="zh-CN" sz="2800" dirty="0">
                <a:solidFill>
                  <a:srgbClr val="FF0000"/>
                </a:solidFill>
                <a:latin typeface="Arial" panose="020B0604020202090204" pitchFamily="34" charset="0"/>
                <a:cs typeface="Arial" panose="020B0604020202090204" pitchFamily="34" charset="0"/>
              </a:rPr>
              <a:t>    EXCEPT</a:t>
            </a:r>
            <a:endParaRPr lang="en-US" altLang="zh-CN" sz="2800" dirty="0">
              <a:solidFill>
                <a:srgbClr val="FF0000"/>
              </a:solidFill>
              <a:latin typeface="Arial" panose="020B0604020202090204" pitchFamily="34" charset="0"/>
              <a:cs typeface="Arial" panose="020B0604020202090204" pitchFamily="34" charset="0"/>
            </a:endParaRPr>
          </a:p>
          <a:p>
            <a:pPr marL="363855" lvl="1" indent="0" fontAlgn="auto">
              <a:spcBef>
                <a:spcPts val="0"/>
              </a:spcBef>
              <a:buNone/>
            </a:pPr>
            <a:r>
              <a:rPr lang="en-US" altLang="zh-CN" sz="2800" dirty="0">
                <a:latin typeface="Arial" panose="020B0604020202090204" pitchFamily="34" charset="0"/>
                <a:cs typeface="Arial" panose="020B0604020202090204" pitchFamily="34" charset="0"/>
              </a:rPr>
              <a:t>    SELECT  *</a:t>
            </a:r>
            <a:endParaRPr lang="en-US" altLang="zh-CN" sz="2800" dirty="0">
              <a:latin typeface="Arial" panose="020B0604020202090204" pitchFamily="34" charset="0"/>
              <a:cs typeface="Arial" panose="020B0604020202090204" pitchFamily="34" charset="0"/>
            </a:endParaRPr>
          </a:p>
          <a:p>
            <a:pPr marL="363855" lvl="1" indent="0" fontAlgn="auto">
              <a:spcBef>
                <a:spcPts val="0"/>
              </a:spcBef>
              <a:buNone/>
            </a:pPr>
            <a:r>
              <a:rPr lang="en-US" altLang="zh-CN" sz="2800" dirty="0">
                <a:latin typeface="Arial" panose="020B0604020202090204" pitchFamily="34" charset="0"/>
                <a:cs typeface="Arial" panose="020B0604020202090204" pitchFamily="34" charset="0"/>
              </a:rPr>
              <a:t>    FROM  Student</a:t>
            </a:r>
            <a:endParaRPr lang="en-US" altLang="zh-CN" sz="2800" dirty="0">
              <a:latin typeface="Arial" panose="020B0604020202090204" pitchFamily="34" charset="0"/>
              <a:cs typeface="Arial" panose="020B0604020202090204" pitchFamily="34" charset="0"/>
            </a:endParaRPr>
          </a:p>
          <a:p>
            <a:pPr marL="363855" lvl="1" indent="0" fontAlgn="auto">
              <a:spcBef>
                <a:spcPts val="0"/>
              </a:spcBef>
              <a:buNone/>
            </a:pPr>
            <a:r>
              <a:rPr lang="en-US" altLang="zh-CN" sz="2800" dirty="0">
                <a:latin typeface="Arial" panose="020B0604020202090204" pitchFamily="34" charset="0"/>
                <a:cs typeface="Arial" panose="020B0604020202090204" pitchFamily="34" charset="0"/>
              </a:rPr>
              <a:t>    WHERE  Sage &lt;= 19;</a:t>
            </a:r>
            <a:endParaRPr lang="en-US" altLang="zh-CN" sz="2800" dirty="0">
              <a:latin typeface="Arial" panose="020B0604020202090204" pitchFamily="34" charset="0"/>
              <a:cs typeface="Arial" panose="020B0604020202090204" pitchFamily="34" charset="0"/>
            </a:endParaRPr>
          </a:p>
        </p:txBody>
      </p:sp>
      <p:sp>
        <p:nvSpPr>
          <p:cNvPr id="2" name="内容占位符 1"/>
          <p:cNvSpPr>
            <a:spLocks noGrp="1"/>
          </p:cNvSpPr>
          <p:nvPr>
            <p:ph sz="half" idx="2"/>
          </p:nvPr>
        </p:nvSpPr>
        <p:spPr/>
        <p:txBody>
          <a:bodyPr>
            <a:noAutofit/>
          </a:bodyPr>
          <a:lstStyle/>
          <a:p>
            <a:pPr fontAlgn="auto">
              <a:spcBef>
                <a:spcPts val="0"/>
              </a:spcBef>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例</a:t>
            </a:r>
            <a:r>
              <a:rPr lang="en-US" altLang="zh-CN" sz="2800" dirty="0">
                <a:latin typeface="Arial" panose="020B0604020202090204" pitchFamily="34" charset="0"/>
                <a:cs typeface="Arial" panose="020B0604020202090204" pitchFamily="34" charset="0"/>
              </a:rPr>
              <a:t>3.68]</a:t>
            </a:r>
            <a:r>
              <a:rPr lang="zh-CN" altLang="en-US" sz="2800" dirty="0">
                <a:latin typeface="Arial" panose="020B0604020202090204" pitchFamily="34" charset="0"/>
                <a:cs typeface="Arial" panose="020B0604020202090204" pitchFamily="34" charset="0"/>
              </a:rPr>
              <a:t>实际上是查询计算机科学系中年龄大于</a:t>
            </a:r>
            <a:r>
              <a:rPr lang="en-US" altLang="zh-CN" sz="2800" dirty="0">
                <a:latin typeface="Arial" panose="020B0604020202090204" pitchFamily="34" charset="0"/>
                <a:cs typeface="Arial" panose="020B0604020202090204" pitchFamily="34" charset="0"/>
              </a:rPr>
              <a:t>19</a:t>
            </a:r>
            <a:r>
              <a:rPr lang="zh-CN" altLang="en-US" sz="2800" dirty="0">
                <a:latin typeface="Arial" panose="020B0604020202090204" pitchFamily="34" charset="0"/>
                <a:cs typeface="Arial" panose="020B0604020202090204" pitchFamily="34" charset="0"/>
              </a:rPr>
              <a:t>岁的学生</a:t>
            </a:r>
            <a:endParaRPr lang="zh-CN" altLang="en-US" sz="2800" dirty="0">
              <a:latin typeface="Arial" panose="020B0604020202090204" pitchFamily="34" charset="0"/>
              <a:cs typeface="Arial" panose="020B0604020202090204" pitchFamily="34" charset="0"/>
            </a:endParaRPr>
          </a:p>
          <a:p>
            <a:pPr fontAlgn="auto">
              <a:spcBef>
                <a:spcPts val="0"/>
              </a:spcBef>
            </a:pPr>
            <a:endParaRPr lang="zh-CN" altLang="en-US" sz="2800" dirty="0">
              <a:latin typeface="Arial" panose="020B0604020202090204" pitchFamily="34" charset="0"/>
              <a:cs typeface="Arial" panose="020B0604020202090204" pitchFamily="34" charset="0"/>
            </a:endParaRPr>
          </a:p>
          <a:p>
            <a:pPr marL="715645" lvl="2" indent="0" fontAlgn="auto">
              <a:spcBef>
                <a:spcPts val="0"/>
              </a:spcBef>
              <a:buNone/>
            </a:pPr>
            <a:r>
              <a:rPr lang="en-US" altLang="zh-CN" sz="2800" dirty="0">
                <a:latin typeface="Arial" panose="020B0604020202090204" pitchFamily="34" charset="0"/>
                <a:cs typeface="Arial" panose="020B0604020202090204" pitchFamily="34" charset="0"/>
              </a:rPr>
              <a:t>SELECT  *</a:t>
            </a:r>
            <a:endParaRPr lang="en-US" altLang="zh-CN" sz="2800" dirty="0">
              <a:latin typeface="Arial" panose="020B0604020202090204" pitchFamily="34" charset="0"/>
              <a:cs typeface="Arial" panose="020B0604020202090204" pitchFamily="34" charset="0"/>
            </a:endParaRPr>
          </a:p>
          <a:p>
            <a:pPr marL="715645" lvl="2" indent="0" fontAlgn="auto">
              <a:spcBef>
                <a:spcPts val="0"/>
              </a:spcBef>
              <a:buNone/>
            </a:pPr>
            <a:r>
              <a:rPr lang="en-US" altLang="zh-CN" sz="2800" dirty="0">
                <a:latin typeface="Arial" panose="020B0604020202090204" pitchFamily="34" charset="0"/>
                <a:cs typeface="Arial" panose="020B0604020202090204" pitchFamily="34" charset="0"/>
              </a:rPr>
              <a:t>FROM  Student</a:t>
            </a:r>
            <a:endParaRPr lang="en-US" altLang="zh-CN" sz="2800" dirty="0">
              <a:latin typeface="Arial" panose="020B0604020202090204" pitchFamily="34" charset="0"/>
              <a:cs typeface="Arial" panose="020B0604020202090204" pitchFamily="34" charset="0"/>
            </a:endParaRPr>
          </a:p>
          <a:p>
            <a:pPr marL="2242185" lvl="2" indent="-1526540" fontAlgn="auto">
              <a:spcBef>
                <a:spcPts val="0"/>
              </a:spcBef>
              <a:buNone/>
            </a:pPr>
            <a:r>
              <a:rPr lang="en-US" altLang="zh-CN" sz="2800" dirty="0">
                <a:latin typeface="Arial" panose="020B0604020202090204" pitchFamily="34" charset="0"/>
                <a:cs typeface="Arial" panose="020B0604020202090204" pitchFamily="34" charset="0"/>
              </a:rPr>
              <a:t>WHERE  </a:t>
            </a:r>
            <a:r>
              <a:rPr lang="en-US" altLang="zh-CN" sz="2800" dirty="0" err="1">
                <a:latin typeface="Arial" panose="020B0604020202090204" pitchFamily="34" charset="0"/>
                <a:cs typeface="Arial" panose="020B0604020202090204" pitchFamily="34" charset="0"/>
              </a:rPr>
              <a:t>Sdept </a:t>
            </a:r>
            <a:r>
              <a:rPr lang="en-US" altLang="zh-CN" sz="2800" dirty="0">
                <a:latin typeface="Arial" panose="020B0604020202090204" pitchFamily="34" charset="0"/>
                <a:cs typeface="Arial" panose="020B0604020202090204" pitchFamily="34" charset="0"/>
              </a:rPr>
              <a:t>= 'CS' AND  Sage&gt;19</a:t>
            </a:r>
            <a:r>
              <a:rPr lang="zh-CN" altLang="en-US" sz="2800" dirty="0">
                <a:latin typeface="Arial" panose="020B0604020202090204" pitchFamily="34" charset="0"/>
                <a:cs typeface="Arial" panose="020B0604020202090204" pitchFamily="34" charset="0"/>
              </a:rPr>
              <a:t>;</a:t>
            </a:r>
            <a:endParaRPr lang="zh-CN" altLang="en-US" sz="2800" dirty="0">
              <a:latin typeface="Arial" panose="020B0604020202090204" pitchFamily="34" charset="0"/>
              <a:cs typeface="Arial" panose="020B0604020202090204" pitchFamily="34" charset="0"/>
            </a:endParaRPr>
          </a:p>
        </p:txBody>
      </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blinds(horizontal)">
                                      <p:cBhvr>
                                        <p:cTn id="10" dur="500"/>
                                        <p:tgtEl>
                                          <p:spTgt spid="2">
                                            <p:txEl>
                                              <p:pRg st="2" end="2"/>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blinds(horizontal)">
                                      <p:cBhvr>
                                        <p:cTn id="13" dur="500"/>
                                        <p:tgtEl>
                                          <p:spTgt spid="2">
                                            <p:txEl>
                                              <p:pRg st="3" end="3"/>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blinds(horizontal)">
                                      <p:cBhvr>
                                        <p:cTn id="16"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nchor="b" anchorCtr="0"/>
          <a:lstStyle/>
          <a:p>
            <a:pPr eaLnBrk="1" hangingPunct="1"/>
            <a:r>
              <a:rPr lang="zh-CN" altLang="en-US" dirty="0">
                <a:solidFill>
                  <a:srgbClr val="0000C8"/>
                </a:solidFill>
                <a:sym typeface="+mn-ea"/>
              </a:rPr>
              <a:t>（2025 春季）</a:t>
            </a:r>
            <a:endParaRPr lang="zh-CN" altLang="en-US" dirty="0">
              <a:solidFill>
                <a:srgbClr val="0000C8"/>
              </a:solidFill>
              <a:sym typeface="+mn-ea"/>
            </a:endParaRPr>
          </a:p>
        </p:txBody>
      </p:sp>
      <p:sp>
        <p:nvSpPr>
          <p:cNvPr id="3074" name="Rectangle 2"/>
          <p:cNvSpPr>
            <a:spLocks noGrp="1" noChangeArrowheads="1"/>
          </p:cNvSpPr>
          <p:nvPr>
            <p:ph type="ctrTitle" sz="quarter"/>
          </p:nvPr>
        </p:nvSpPr>
        <p:spPr/>
        <p:txBody>
          <a:bodyPr anchor="ctr" anchorCtr="0"/>
          <a:lstStyle/>
          <a:p>
            <a:pPr eaLnBrk="1" hangingPunct="1">
              <a:lnSpc>
                <a:spcPct val="150000"/>
              </a:lnSpc>
              <a:spcBef>
                <a:spcPts val="0"/>
              </a:spcBef>
              <a:spcAft>
                <a:spcPts val="0"/>
              </a:spcAft>
            </a:pPr>
            <a:r>
              <a:rPr lang="en-US" altLang="zh-CN" sz="3600" dirty="0">
                <a:solidFill>
                  <a:srgbClr val="0000C8"/>
                </a:solidFill>
              </a:rPr>
              <a:t>ch3.4.5  SQL</a:t>
            </a:r>
            <a:r>
              <a:rPr lang="zh-CN" altLang="en-US" sz="3600" dirty="0">
                <a:solidFill>
                  <a:srgbClr val="0000C8"/>
                </a:solidFill>
              </a:rPr>
              <a:t>数据查询（基于派生表的查询）</a:t>
            </a:r>
            <a:endParaRPr lang="zh-CN" altLang="en-US" sz="3600" dirty="0">
              <a:solidFill>
                <a:srgbClr val="0000C8"/>
              </a:solidFill>
            </a:endParaRPr>
          </a:p>
        </p:txBody>
      </p:sp>
    </p:spTree>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normAutofit fontScale="90000"/>
          </a:bodyPr>
          <a:lstStyle/>
          <a:p>
            <a:r>
              <a:rPr lang="zh-CN" altLang="en-US" dirty="0"/>
              <a:t>基于派生表的查询</a:t>
            </a:r>
            <a:r>
              <a:rPr lang="en-US" altLang="zh-CN" dirty="0"/>
              <a:t>1</a:t>
            </a:r>
            <a:endParaRPr lang="zh-CN" altLang="en-US" dirty="0"/>
          </a:p>
        </p:txBody>
      </p:sp>
      <p:sp>
        <p:nvSpPr>
          <p:cNvPr id="78851" name="内容占位符 2"/>
          <p:cNvSpPr>
            <a:spLocks noGrp="1"/>
          </p:cNvSpPr>
          <p:nvPr>
            <p:ph idx="1"/>
          </p:nvPr>
        </p:nvSpPr>
        <p:spPr/>
        <p:txBody>
          <a:bodyPr>
            <a:normAutofit/>
          </a:bodyPr>
          <a:lstStyle/>
          <a:p>
            <a:r>
              <a:rPr lang="zh-CN" altLang="en-US" dirty="0">
                <a:latin typeface="Arial" panose="020B0604020202090204" pitchFamily="34" charset="0"/>
                <a:cs typeface="Arial" panose="020B0604020202090204" pitchFamily="34" charset="0"/>
              </a:rPr>
              <a:t>子查询不仅可以出现在</a:t>
            </a:r>
            <a:r>
              <a:rPr lang="en-US" altLang="zh-CN" dirty="0">
                <a:latin typeface="Arial" panose="020B0604020202090204" pitchFamily="34" charset="0"/>
                <a:cs typeface="Arial" panose="020B0604020202090204" pitchFamily="34" charset="0"/>
              </a:rPr>
              <a:t>WHERE</a:t>
            </a:r>
            <a:r>
              <a:rPr lang="zh-CN" altLang="en-US" dirty="0">
                <a:latin typeface="Arial" panose="020B0604020202090204" pitchFamily="34" charset="0"/>
                <a:cs typeface="Arial" panose="020B0604020202090204" pitchFamily="34" charset="0"/>
              </a:rPr>
              <a:t>子句中，还可以出现在</a:t>
            </a:r>
            <a:r>
              <a:rPr lang="en-US" altLang="zh-CN" dirty="0">
                <a:latin typeface="Arial" panose="020B0604020202090204" pitchFamily="34" charset="0"/>
                <a:cs typeface="Arial" panose="020B0604020202090204" pitchFamily="34" charset="0"/>
              </a:rPr>
              <a:t>FROM</a:t>
            </a:r>
            <a:r>
              <a:rPr lang="zh-CN" altLang="en-US" dirty="0">
                <a:latin typeface="Arial" panose="020B0604020202090204" pitchFamily="34" charset="0"/>
                <a:cs typeface="Arial" panose="020B0604020202090204" pitchFamily="34" charset="0"/>
              </a:rPr>
              <a:t>子句中，这时子查询生成的临时派生表</a:t>
            </a:r>
            <a:r>
              <a:rPr lang="en-US" altLang="zh-CN"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Derived Table)</a:t>
            </a:r>
            <a:r>
              <a:rPr lang="zh-CN" altLang="en-US" dirty="0">
                <a:latin typeface="Arial" panose="020B0604020202090204" pitchFamily="34" charset="0"/>
                <a:cs typeface="Arial" panose="020B0604020202090204" pitchFamily="34" charset="0"/>
              </a:rPr>
              <a:t>成为主查询的查询对象</a:t>
            </a:r>
            <a:endParaRPr lang="en-US" altLang="zh-CN" dirty="0">
              <a:latin typeface="Arial" panose="020B0604020202090204" pitchFamily="34" charset="0"/>
              <a:cs typeface="Arial" panose="020B0604020202090204" pitchFamily="34" charset="0"/>
            </a:endParaRPr>
          </a:p>
          <a:p>
            <a:pPr>
              <a:lnSpc>
                <a:spcPct val="100000"/>
              </a:lnSpc>
              <a:spcBef>
                <a:spcPts val="2000"/>
              </a:spcBef>
              <a:spcAft>
                <a:spcPts val="1000"/>
              </a:spcAft>
            </a:pP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例</a:t>
            </a:r>
            <a:r>
              <a:rPr lang="en-US" altLang="zh-CN" dirty="0">
                <a:latin typeface="Arial" panose="020B0604020202090204" pitchFamily="34" charset="0"/>
                <a:cs typeface="Arial" panose="020B0604020202090204" pitchFamily="34" charset="0"/>
              </a:rPr>
              <a:t>3.57]</a:t>
            </a:r>
            <a:r>
              <a:rPr lang="zh-CN" altLang="en-US" dirty="0">
                <a:latin typeface="Arial" panose="020B0604020202090204" pitchFamily="34" charset="0"/>
                <a:cs typeface="Arial" panose="020B0604020202090204" pitchFamily="34" charset="0"/>
              </a:rPr>
              <a:t>找出每个学生超过他自己选修课程平均成绩的课程号</a:t>
            </a:r>
            <a:endParaRPr lang="en-US" altLang="zh-CN" dirty="0">
              <a:latin typeface="Arial" panose="020B0604020202090204" pitchFamily="34" charset="0"/>
              <a:cs typeface="Arial" panose="020B0604020202090204" pitchFamily="34" charset="0"/>
            </a:endParaRPr>
          </a:p>
          <a:p>
            <a:pPr marL="363855" lvl="1" indent="0">
              <a:lnSpc>
                <a:spcPct val="110000"/>
              </a:lnSpc>
              <a:spcBef>
                <a:spcPts val="1000"/>
              </a:spcBef>
              <a:buNone/>
            </a:pPr>
            <a:r>
              <a:rPr lang="en-US" altLang="zh-CN" dirty="0">
                <a:latin typeface="Arial" panose="020B0604020202090204" pitchFamily="34" charset="0"/>
                <a:cs typeface="Arial" panose="020B0604020202090204" pitchFamily="34" charset="0"/>
              </a:rPr>
              <a:t>SELECT  </a:t>
            </a:r>
            <a:r>
              <a:rPr lang="en-US" altLang="zh-CN" dirty="0" err="1">
                <a:latin typeface="Arial" panose="020B0604020202090204" pitchFamily="34" charset="0"/>
                <a:cs typeface="Arial" panose="020B0604020202090204" pitchFamily="34" charset="0"/>
              </a:rPr>
              <a:t>Sno</a:t>
            </a:r>
            <a:r>
              <a:rPr lang="en-US" altLang="zh-CN" dirty="0">
                <a:latin typeface="Arial" panose="020B0604020202090204" pitchFamily="34" charset="0"/>
                <a:cs typeface="Arial" panose="020B0604020202090204" pitchFamily="34" charset="0"/>
              </a:rPr>
              <a:t>, </a:t>
            </a:r>
            <a:r>
              <a:rPr lang="en-US" altLang="zh-CN" dirty="0" err="1">
                <a:latin typeface="Arial" panose="020B0604020202090204" pitchFamily="34" charset="0"/>
                <a:cs typeface="Arial" panose="020B0604020202090204" pitchFamily="34" charset="0"/>
              </a:rPr>
              <a:t>Cno</a:t>
            </a:r>
            <a:endParaRPr lang="en-US" altLang="zh-CN" dirty="0">
              <a:latin typeface="Arial" panose="020B0604020202090204" pitchFamily="34" charset="0"/>
              <a:cs typeface="Arial" panose="020B0604020202090204" pitchFamily="34" charset="0"/>
            </a:endParaRPr>
          </a:p>
          <a:p>
            <a:pPr marL="363855" lvl="1" indent="0">
              <a:buNone/>
            </a:pPr>
            <a:r>
              <a:rPr lang="en-US" altLang="zh-CN" dirty="0">
                <a:latin typeface="Arial" panose="020B0604020202090204" pitchFamily="34" charset="0"/>
                <a:cs typeface="Arial" panose="020B0604020202090204" pitchFamily="34" charset="0"/>
              </a:rPr>
              <a:t>FROM  SC,  </a:t>
            </a:r>
            <a:r>
              <a:rPr lang="zh-CN" altLang="en-US" dirty="0">
                <a:solidFill>
                  <a:srgbClr val="C00000"/>
                </a:solidFill>
                <a:latin typeface="Arial" panose="020B0604020202090204" pitchFamily="34" charset="0"/>
                <a:cs typeface="Arial" panose="020B0604020202090204" pitchFamily="34" charset="0"/>
              </a:rPr>
              <a:t>(</a:t>
            </a:r>
            <a:r>
              <a:rPr lang="en-US" altLang="zh-CN" dirty="0">
                <a:solidFill>
                  <a:srgbClr val="C00000"/>
                </a:solidFill>
                <a:latin typeface="Arial" panose="020B0604020202090204" pitchFamily="34" charset="0"/>
                <a:cs typeface="Arial" panose="020B0604020202090204" pitchFamily="34" charset="0"/>
              </a:rPr>
              <a:t>SELECT </a:t>
            </a:r>
            <a:r>
              <a:rPr lang="en-US" altLang="zh-CN" dirty="0" err="1">
                <a:solidFill>
                  <a:srgbClr val="C00000"/>
                </a:solidFill>
                <a:latin typeface="Arial" panose="020B0604020202090204" pitchFamily="34" charset="0"/>
                <a:cs typeface="Arial" panose="020B0604020202090204" pitchFamily="34" charset="0"/>
              </a:rPr>
              <a:t>Sno</a:t>
            </a:r>
            <a:r>
              <a:rPr lang="en-US" altLang="zh-CN" dirty="0">
                <a:solidFill>
                  <a:srgbClr val="C00000"/>
                </a:solidFill>
                <a:latin typeface="Arial" panose="020B0604020202090204" pitchFamily="34" charset="0"/>
                <a:cs typeface="Arial" panose="020B0604020202090204" pitchFamily="34" charset="0"/>
              </a:rPr>
              <a:t>, Avg</a:t>
            </a:r>
            <a:r>
              <a:rPr lang="zh-CN" altLang="en-US" dirty="0">
                <a:solidFill>
                  <a:srgbClr val="C00000"/>
                </a:solidFill>
                <a:latin typeface="Arial" panose="020B0604020202090204" pitchFamily="34" charset="0"/>
                <a:cs typeface="Arial" panose="020B0604020202090204" pitchFamily="34" charset="0"/>
              </a:rPr>
              <a:t>(</a:t>
            </a:r>
            <a:r>
              <a:rPr lang="en-US" altLang="zh-CN" dirty="0">
                <a:solidFill>
                  <a:srgbClr val="C00000"/>
                </a:solidFill>
                <a:latin typeface="Arial" panose="020B0604020202090204" pitchFamily="34" charset="0"/>
                <a:cs typeface="Arial" panose="020B0604020202090204" pitchFamily="34" charset="0"/>
              </a:rPr>
              <a:t>Grade</a:t>
            </a:r>
            <a:r>
              <a:rPr lang="zh-CN" altLang="en-US" dirty="0">
                <a:solidFill>
                  <a:srgbClr val="C00000"/>
                </a:solidFill>
                <a:latin typeface="Arial" panose="020B0604020202090204" pitchFamily="34" charset="0"/>
                <a:cs typeface="Arial" panose="020B0604020202090204" pitchFamily="34" charset="0"/>
              </a:rPr>
              <a:t>)</a:t>
            </a:r>
            <a:r>
              <a:rPr lang="en-US" altLang="zh-CN" dirty="0">
                <a:solidFill>
                  <a:srgbClr val="C00000"/>
                </a:solidFill>
                <a:latin typeface="Arial" panose="020B0604020202090204" pitchFamily="34" charset="0"/>
                <a:cs typeface="Arial" panose="020B0604020202090204" pitchFamily="34" charset="0"/>
              </a:rPr>
              <a:t> </a:t>
            </a:r>
            <a:endParaRPr lang="en-US" altLang="zh-CN" dirty="0">
              <a:solidFill>
                <a:srgbClr val="C00000"/>
              </a:solidFill>
              <a:latin typeface="Arial" panose="020B0604020202090204" pitchFamily="34" charset="0"/>
              <a:cs typeface="Arial" panose="020B0604020202090204" pitchFamily="34" charset="0"/>
            </a:endParaRPr>
          </a:p>
          <a:p>
            <a:pPr marL="821055" lvl="2" indent="1721485">
              <a:buNone/>
            </a:pPr>
            <a:r>
              <a:rPr lang="en-US" altLang="zh-CN" dirty="0">
                <a:solidFill>
                  <a:srgbClr val="C00000"/>
                </a:solidFill>
                <a:latin typeface="Arial" panose="020B0604020202090204" pitchFamily="34" charset="0"/>
                <a:cs typeface="Arial" panose="020B0604020202090204" pitchFamily="34" charset="0"/>
              </a:rPr>
              <a:t>FROM SC</a:t>
            </a:r>
            <a:endParaRPr lang="en-US" altLang="zh-CN" dirty="0">
              <a:solidFill>
                <a:srgbClr val="C00000"/>
              </a:solidFill>
              <a:latin typeface="Arial" panose="020B0604020202090204" pitchFamily="34" charset="0"/>
              <a:cs typeface="Arial" panose="020B0604020202090204" pitchFamily="34" charset="0"/>
            </a:endParaRPr>
          </a:p>
          <a:p>
            <a:pPr marL="821055" lvl="2" indent="1721485">
              <a:buNone/>
            </a:pPr>
            <a:r>
              <a:rPr lang="en-US" altLang="zh-CN" dirty="0">
                <a:solidFill>
                  <a:srgbClr val="C00000"/>
                </a:solidFill>
                <a:latin typeface="Arial" panose="020B0604020202090204" pitchFamily="34" charset="0"/>
                <a:cs typeface="Arial" panose="020B0604020202090204" pitchFamily="34" charset="0"/>
              </a:rPr>
              <a:t>GROUP BY </a:t>
            </a:r>
            <a:r>
              <a:rPr lang="en-US" altLang="zh-CN" dirty="0" err="1">
                <a:solidFill>
                  <a:srgbClr val="C00000"/>
                </a:solidFill>
                <a:latin typeface="Arial" panose="020B0604020202090204" pitchFamily="34" charset="0"/>
                <a:cs typeface="Arial" panose="020B0604020202090204" pitchFamily="34" charset="0"/>
              </a:rPr>
              <a:t>Sno</a:t>
            </a:r>
            <a:r>
              <a:rPr lang="zh-CN" altLang="en-US" dirty="0">
                <a:solidFill>
                  <a:srgbClr val="C00000"/>
                </a:solidFill>
                <a:latin typeface="Arial" panose="020B0604020202090204" pitchFamily="34" charset="0"/>
                <a:cs typeface="Arial" panose="020B0604020202090204" pitchFamily="34" charset="0"/>
              </a:rPr>
              <a:t>)</a:t>
            </a:r>
            <a:endParaRPr lang="zh-CN" altLang="en-US" dirty="0">
              <a:solidFill>
                <a:srgbClr val="C00000"/>
              </a:solidFill>
              <a:latin typeface="Arial" panose="020B0604020202090204" pitchFamily="34" charset="0"/>
              <a:cs typeface="Arial" panose="020B0604020202090204" pitchFamily="34" charset="0"/>
            </a:endParaRPr>
          </a:p>
          <a:p>
            <a:pPr marL="821055" lvl="2" indent="1721485">
              <a:buNone/>
            </a:pPr>
            <a:r>
              <a:rPr lang="en-US" altLang="zh-CN" dirty="0">
                <a:solidFill>
                  <a:srgbClr val="C00000"/>
                </a:solidFill>
                <a:latin typeface="Arial" panose="020B0604020202090204" pitchFamily="34" charset="0"/>
                <a:cs typeface="Arial" panose="020B0604020202090204" pitchFamily="34" charset="0"/>
              </a:rPr>
              <a:t>AS   </a:t>
            </a:r>
            <a:r>
              <a:rPr lang="en-US" altLang="zh-CN" dirty="0" err="1">
                <a:solidFill>
                  <a:srgbClr val="C00000"/>
                </a:solidFill>
                <a:latin typeface="Arial" panose="020B0604020202090204" pitchFamily="34" charset="0"/>
                <a:cs typeface="Arial" panose="020B0604020202090204" pitchFamily="34" charset="0"/>
              </a:rPr>
              <a:t>Avg_sc</a:t>
            </a:r>
            <a:r>
              <a:rPr lang="zh-CN" altLang="en-US" dirty="0">
                <a:solidFill>
                  <a:srgbClr val="C00000"/>
                </a:solidFill>
                <a:latin typeface="Arial" panose="020B0604020202090204" pitchFamily="34" charset="0"/>
                <a:cs typeface="Arial" panose="020B0604020202090204" pitchFamily="34" charset="0"/>
              </a:rPr>
              <a:t>(</a:t>
            </a:r>
            <a:r>
              <a:rPr lang="en-US" altLang="zh-CN" dirty="0" err="1">
                <a:solidFill>
                  <a:srgbClr val="C00000"/>
                </a:solidFill>
                <a:latin typeface="Arial" panose="020B0604020202090204" pitchFamily="34" charset="0"/>
                <a:cs typeface="Arial" panose="020B0604020202090204" pitchFamily="34" charset="0"/>
              </a:rPr>
              <a:t>avg_sno, avg_grade</a:t>
            </a:r>
            <a:r>
              <a:rPr lang="zh-CN" altLang="en-US" dirty="0">
                <a:solidFill>
                  <a:srgbClr val="C00000"/>
                </a:solidFill>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363855" lvl="1" indent="0">
              <a:buNone/>
            </a:pPr>
            <a:r>
              <a:rPr lang="en-US" altLang="zh-CN" dirty="0">
                <a:latin typeface="Arial" panose="020B0604020202090204" pitchFamily="34" charset="0"/>
                <a:cs typeface="Arial" panose="020B0604020202090204" pitchFamily="34" charset="0"/>
              </a:rPr>
              <a:t>WHERE  </a:t>
            </a:r>
            <a:r>
              <a:rPr lang="en-US" altLang="zh-CN" dirty="0" err="1">
                <a:latin typeface="Arial" panose="020B0604020202090204" pitchFamily="34" charset="0"/>
                <a:cs typeface="Arial" panose="020B0604020202090204" pitchFamily="34" charset="0"/>
              </a:rPr>
              <a:t>SC.Sno</a:t>
            </a:r>
            <a:r>
              <a:rPr lang="en-US" altLang="zh-CN" dirty="0">
                <a:latin typeface="Arial" panose="020B0604020202090204" pitchFamily="34" charset="0"/>
                <a:cs typeface="Arial" panose="020B0604020202090204" pitchFamily="34" charset="0"/>
              </a:rPr>
              <a:t> =</a:t>
            </a:r>
            <a:r>
              <a:rPr lang="en-US" altLang="zh-CN" dirty="0">
                <a:solidFill>
                  <a:srgbClr val="1F2DA8"/>
                </a:solidFill>
                <a:latin typeface="Arial" panose="020B0604020202090204" pitchFamily="34" charset="0"/>
                <a:cs typeface="Arial" panose="020B0604020202090204" pitchFamily="34" charset="0"/>
              </a:rPr>
              <a:t> </a:t>
            </a:r>
            <a:r>
              <a:rPr lang="en-US" altLang="zh-CN" dirty="0" err="1">
                <a:solidFill>
                  <a:srgbClr val="1F2DA8"/>
                </a:solidFill>
                <a:latin typeface="Arial" panose="020B0604020202090204" pitchFamily="34" charset="0"/>
                <a:cs typeface="Arial" panose="020B0604020202090204" pitchFamily="34" charset="0"/>
              </a:rPr>
              <a:t>Avg_sc.avg_sno</a:t>
            </a:r>
            <a:endParaRPr lang="en-US" altLang="zh-CN" dirty="0">
              <a:solidFill>
                <a:srgbClr val="1F2DA8"/>
              </a:solidFill>
              <a:latin typeface="Arial" panose="020B0604020202090204" pitchFamily="34" charset="0"/>
              <a:cs typeface="Arial" panose="020B0604020202090204" pitchFamily="34" charset="0"/>
            </a:endParaRPr>
          </a:p>
          <a:p>
            <a:pPr marL="363855" lvl="1" indent="1509395">
              <a:buNone/>
            </a:pPr>
            <a:r>
              <a:rPr lang="en-US" altLang="zh-CN" dirty="0">
                <a:solidFill>
                  <a:srgbClr val="1F2DA8"/>
                </a:solidFill>
                <a:latin typeface="Arial" panose="020B0604020202090204" pitchFamily="34" charset="0"/>
                <a:cs typeface="Arial" panose="020B0604020202090204" pitchFamily="34" charset="0"/>
              </a:rPr>
              <a:t>and  </a:t>
            </a:r>
            <a:r>
              <a:rPr lang="en-US" altLang="zh-CN" dirty="0" err="1">
                <a:solidFill>
                  <a:srgbClr val="1F2DA8"/>
                </a:solidFill>
                <a:latin typeface="Arial" panose="020B0604020202090204" pitchFamily="34" charset="0"/>
                <a:cs typeface="Arial" panose="020B0604020202090204" pitchFamily="34" charset="0"/>
              </a:rPr>
              <a:t>SC.Grade</a:t>
            </a:r>
            <a:r>
              <a:rPr lang="en-US" altLang="zh-CN" dirty="0">
                <a:solidFill>
                  <a:srgbClr val="1F2DA8"/>
                </a:solidFill>
                <a:latin typeface="Arial" panose="020B0604020202090204" pitchFamily="34" charset="0"/>
                <a:cs typeface="Arial" panose="020B0604020202090204" pitchFamily="34" charset="0"/>
              </a:rPr>
              <a:t> &gt;= </a:t>
            </a:r>
            <a:r>
              <a:rPr lang="en-US" altLang="zh-CN" dirty="0" err="1">
                <a:solidFill>
                  <a:srgbClr val="1F2DA8"/>
                </a:solidFill>
                <a:latin typeface="Arial" panose="020B0604020202090204" pitchFamily="34" charset="0"/>
                <a:cs typeface="Arial" panose="020B0604020202090204" pitchFamily="34" charset="0"/>
              </a:rPr>
              <a:t>Avg_sc.avg_grade ;</a:t>
            </a:r>
            <a:endParaRPr lang="en-US" altLang="zh-CN" dirty="0" err="1">
              <a:solidFill>
                <a:srgbClr val="1F2DA8"/>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8851">
                                            <p:txEl>
                                              <p:pRg st="1" end="1"/>
                                            </p:txEl>
                                          </p:spTgt>
                                        </p:tgtEl>
                                        <p:attrNameLst>
                                          <p:attrName>style.visibility</p:attrName>
                                        </p:attrNameLst>
                                      </p:cBhvr>
                                      <p:to>
                                        <p:strVal val="visible"/>
                                      </p:to>
                                    </p:set>
                                    <p:animEffect transition="in" filter="blinds(horizontal)">
                                      <p:cBhvr>
                                        <p:cTn id="7" dur="500"/>
                                        <p:tgtEl>
                                          <p:spTgt spid="788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8851">
                                            <p:txEl>
                                              <p:pRg st="2" end="2"/>
                                            </p:txEl>
                                          </p:spTgt>
                                        </p:tgtEl>
                                        <p:attrNameLst>
                                          <p:attrName>style.visibility</p:attrName>
                                        </p:attrNameLst>
                                      </p:cBhvr>
                                      <p:to>
                                        <p:strVal val="visible"/>
                                      </p:to>
                                    </p:set>
                                    <p:animEffect transition="in" filter="blinds(horizontal)">
                                      <p:cBhvr>
                                        <p:cTn id="12" dur="500"/>
                                        <p:tgtEl>
                                          <p:spTgt spid="78851">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8851">
                                            <p:txEl>
                                              <p:pRg st="3" end="3"/>
                                            </p:txEl>
                                          </p:spTgt>
                                        </p:tgtEl>
                                        <p:attrNameLst>
                                          <p:attrName>style.visibility</p:attrName>
                                        </p:attrNameLst>
                                      </p:cBhvr>
                                      <p:to>
                                        <p:strVal val="visible"/>
                                      </p:to>
                                    </p:set>
                                    <p:animEffect transition="in" filter="blinds(horizontal)">
                                      <p:cBhvr>
                                        <p:cTn id="15" dur="500"/>
                                        <p:tgtEl>
                                          <p:spTgt spid="78851">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8851">
                                            <p:txEl>
                                              <p:pRg st="4" end="4"/>
                                            </p:txEl>
                                          </p:spTgt>
                                        </p:tgtEl>
                                        <p:attrNameLst>
                                          <p:attrName>style.visibility</p:attrName>
                                        </p:attrNameLst>
                                      </p:cBhvr>
                                      <p:to>
                                        <p:strVal val="visible"/>
                                      </p:to>
                                    </p:set>
                                    <p:animEffect transition="in" filter="blinds(horizontal)">
                                      <p:cBhvr>
                                        <p:cTn id="18" dur="500"/>
                                        <p:tgtEl>
                                          <p:spTgt spid="78851">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8851">
                                            <p:txEl>
                                              <p:pRg st="5" end="5"/>
                                            </p:txEl>
                                          </p:spTgt>
                                        </p:tgtEl>
                                        <p:attrNameLst>
                                          <p:attrName>style.visibility</p:attrName>
                                        </p:attrNameLst>
                                      </p:cBhvr>
                                      <p:to>
                                        <p:strVal val="visible"/>
                                      </p:to>
                                    </p:set>
                                    <p:animEffect transition="in" filter="blinds(horizontal)">
                                      <p:cBhvr>
                                        <p:cTn id="21" dur="500"/>
                                        <p:tgtEl>
                                          <p:spTgt spid="78851">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8851">
                                            <p:txEl>
                                              <p:pRg st="6" end="6"/>
                                            </p:txEl>
                                          </p:spTgt>
                                        </p:tgtEl>
                                        <p:attrNameLst>
                                          <p:attrName>style.visibility</p:attrName>
                                        </p:attrNameLst>
                                      </p:cBhvr>
                                      <p:to>
                                        <p:strVal val="visible"/>
                                      </p:to>
                                    </p:set>
                                    <p:animEffect transition="in" filter="blinds(horizontal)">
                                      <p:cBhvr>
                                        <p:cTn id="24" dur="500"/>
                                        <p:tgtEl>
                                          <p:spTgt spid="78851">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8851">
                                            <p:txEl>
                                              <p:pRg st="7" end="7"/>
                                            </p:txEl>
                                          </p:spTgt>
                                        </p:tgtEl>
                                        <p:attrNameLst>
                                          <p:attrName>style.visibility</p:attrName>
                                        </p:attrNameLst>
                                      </p:cBhvr>
                                      <p:to>
                                        <p:strVal val="visible"/>
                                      </p:to>
                                    </p:set>
                                    <p:animEffect transition="in" filter="blinds(horizontal)">
                                      <p:cBhvr>
                                        <p:cTn id="27" dur="500"/>
                                        <p:tgtEl>
                                          <p:spTgt spid="78851">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8851">
                                            <p:txEl>
                                              <p:pRg st="8" end="8"/>
                                            </p:txEl>
                                          </p:spTgt>
                                        </p:tgtEl>
                                        <p:attrNameLst>
                                          <p:attrName>style.visibility</p:attrName>
                                        </p:attrNameLst>
                                      </p:cBhvr>
                                      <p:to>
                                        <p:strVal val="visible"/>
                                      </p:to>
                                    </p:set>
                                    <p:animEffect transition="in" filter="blinds(horizontal)">
                                      <p:cBhvr>
                                        <p:cTn id="30" dur="500"/>
                                        <p:tgtEl>
                                          <p:spTgt spid="7885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a:normAutofit fontScale="90000"/>
          </a:bodyPr>
          <a:lstStyle/>
          <a:p>
            <a:r>
              <a:rPr lang="zh-CN" altLang="en-US" dirty="0"/>
              <a:t>基于派生表的查询</a:t>
            </a:r>
            <a:r>
              <a:rPr lang="en-US" altLang="zh-CN" dirty="0"/>
              <a:t> 2</a:t>
            </a:r>
            <a:endParaRPr lang="zh-CN" altLang="en-US" dirty="0"/>
          </a:p>
        </p:txBody>
      </p:sp>
      <p:sp>
        <p:nvSpPr>
          <p:cNvPr id="79875" name="内容占位符 2"/>
          <p:cNvSpPr>
            <a:spLocks noGrp="1"/>
          </p:cNvSpPr>
          <p:nvPr>
            <p:ph idx="1"/>
          </p:nvPr>
        </p:nvSpPr>
        <p:spPr/>
        <p:txBody>
          <a:bodyPr>
            <a:normAutofit lnSpcReduction="10000"/>
          </a:bodyPr>
          <a:lstStyle/>
          <a:p>
            <a:r>
              <a:rPr lang="zh-CN" altLang="en-US" dirty="0">
                <a:latin typeface="Arial" panose="020B0604020202090204" pitchFamily="34" charset="0"/>
                <a:cs typeface="Arial" panose="020B0604020202090204" pitchFamily="34" charset="0"/>
              </a:rPr>
              <a:t>在</a:t>
            </a:r>
            <a:r>
              <a:rPr lang="en-US" altLang="zh-CN" dirty="0">
                <a:latin typeface="Arial" panose="020B0604020202090204" pitchFamily="34" charset="0"/>
                <a:cs typeface="Arial" panose="020B0604020202090204" pitchFamily="34" charset="0"/>
              </a:rPr>
              <a:t>FROM</a:t>
            </a:r>
            <a:r>
              <a:rPr lang="zh-CN" altLang="en-US" dirty="0">
                <a:latin typeface="Arial" panose="020B0604020202090204" pitchFamily="34" charset="0"/>
                <a:cs typeface="Arial" panose="020B0604020202090204" pitchFamily="34" charset="0"/>
              </a:rPr>
              <a:t>子句中，如果子查询的结果列都有列名且不存在同名现象，那么可以不用为该子查询对应的派生表指定列名，而是</a:t>
            </a:r>
            <a:r>
              <a:rPr lang="zh-CN" altLang="en-US" dirty="0">
                <a:latin typeface="Arial" panose="020B0604020202090204" pitchFamily="34" charset="0"/>
                <a:cs typeface="Arial" panose="020B0604020202090204" pitchFamily="34" charset="0"/>
              </a:rPr>
              <a:t>将子查询</a:t>
            </a:r>
            <a:r>
              <a:rPr lang="en-US" altLang="zh-CN" dirty="0">
                <a:latin typeface="Arial" panose="020B0604020202090204" pitchFamily="34" charset="0"/>
                <a:cs typeface="Arial" panose="020B0604020202090204" pitchFamily="34" charset="0"/>
              </a:rPr>
              <a:t>SELECT</a:t>
            </a:r>
            <a:r>
              <a:rPr lang="zh-CN" altLang="en-US" dirty="0">
                <a:latin typeface="Arial" panose="020B0604020202090204" pitchFamily="34" charset="0"/>
                <a:cs typeface="Arial" panose="020B0604020202090204" pitchFamily="34" charset="0"/>
              </a:rPr>
              <a:t>子句中结果列的列名作为派生表的缺省列名。</a:t>
            </a:r>
            <a:endParaRPr lang="zh-CN" altLang="en-US" dirty="0">
              <a:latin typeface="Arial" panose="020B0604020202090204" pitchFamily="34" charset="0"/>
              <a:cs typeface="Arial" panose="020B0604020202090204" pitchFamily="34" charset="0"/>
            </a:endParaRPr>
          </a:p>
          <a:p>
            <a:endParaRPr lang="en-US" altLang="zh-CN" dirty="0">
              <a:latin typeface="Arial" panose="020B0604020202090204" pitchFamily="34" charset="0"/>
              <a:cs typeface="Arial" panose="020B0604020202090204" pitchFamily="34" charset="0"/>
            </a:endParaRPr>
          </a:p>
          <a:p>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例</a:t>
            </a:r>
            <a:r>
              <a:rPr lang="en-US" altLang="zh-CN" dirty="0">
                <a:latin typeface="Arial" panose="020B0604020202090204" pitchFamily="34" charset="0"/>
                <a:cs typeface="Arial" panose="020B0604020202090204" pitchFamily="34" charset="0"/>
              </a:rPr>
              <a:t>3.60] </a:t>
            </a:r>
            <a:r>
              <a:rPr lang="zh-CN" altLang="en-US" dirty="0">
                <a:latin typeface="Arial" panose="020B0604020202090204" pitchFamily="34" charset="0"/>
                <a:cs typeface="Arial" panose="020B0604020202090204" pitchFamily="34" charset="0"/>
              </a:rPr>
              <a:t>查询所有选修了</a:t>
            </a:r>
            <a:r>
              <a:rPr lang="en-US" altLang="zh-CN" dirty="0">
                <a:latin typeface="Arial" panose="020B0604020202090204" pitchFamily="34" charset="0"/>
                <a:cs typeface="Arial" panose="020B0604020202090204" pitchFamily="34" charset="0"/>
              </a:rPr>
              <a:t>1</a:t>
            </a:r>
            <a:r>
              <a:rPr lang="zh-CN" altLang="en-US" dirty="0">
                <a:latin typeface="Arial" panose="020B0604020202090204" pitchFamily="34" charset="0"/>
                <a:cs typeface="Arial" panose="020B0604020202090204" pitchFamily="34" charset="0"/>
              </a:rPr>
              <a:t>号课程的学生姓名</a:t>
            </a:r>
            <a:endParaRPr lang="zh-CN" altLang="en-US" dirty="0">
              <a:latin typeface="Arial" panose="020B0604020202090204" pitchFamily="34" charset="0"/>
              <a:cs typeface="Arial" panose="020B0604020202090204" pitchFamily="34" charset="0"/>
            </a:endParaRPr>
          </a:p>
          <a:p>
            <a:pPr>
              <a:lnSpc>
                <a:spcPct val="110000"/>
              </a:lnSpc>
              <a:spcBef>
                <a:spcPts val="2000"/>
              </a:spcBef>
            </a:pPr>
            <a:r>
              <a:rPr lang="zh-CN" altLang="en-US" dirty="0">
                <a:latin typeface="Arial" panose="020B0604020202090204" pitchFamily="34" charset="0"/>
                <a:cs typeface="Arial" panose="020B0604020202090204" pitchFamily="34" charset="0"/>
              </a:rPr>
              <a:t>可以用如下查询完成：</a:t>
            </a:r>
            <a:endParaRPr lang="en-US" altLang="zh-CN" dirty="0">
              <a:latin typeface="Arial" panose="020B0604020202090204" pitchFamily="34" charset="0"/>
              <a:cs typeface="Arial" panose="020B0604020202090204" pitchFamily="34" charset="0"/>
            </a:endParaRPr>
          </a:p>
          <a:p>
            <a:pPr marL="821055" lvl="2" indent="0">
              <a:lnSpc>
                <a:spcPct val="110000"/>
              </a:lnSpc>
              <a:spcBef>
                <a:spcPts val="2000"/>
              </a:spcBef>
              <a:buNone/>
            </a:pPr>
            <a:r>
              <a:rPr lang="en-US" altLang="zh-CN" dirty="0">
                <a:latin typeface="Arial" panose="020B0604020202090204" pitchFamily="34" charset="0"/>
                <a:cs typeface="Arial" panose="020B0604020202090204" pitchFamily="34" charset="0"/>
              </a:rPr>
              <a:t>SELECT  </a:t>
            </a:r>
            <a:r>
              <a:rPr lang="en-US" altLang="zh-CN" dirty="0" err="1">
                <a:latin typeface="Arial" panose="020B0604020202090204" pitchFamily="34" charset="0"/>
                <a:cs typeface="Arial" panose="020B0604020202090204" pitchFamily="34" charset="0"/>
              </a:rPr>
              <a:t>Sname</a:t>
            </a:r>
            <a:endParaRPr lang="zh-CN" altLang="en-US"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FROM     Student,  </a:t>
            </a:r>
            <a:endParaRPr lang="en-US" altLang="zh-CN" dirty="0">
              <a:latin typeface="Arial" panose="020B0604020202090204" pitchFamily="34" charset="0"/>
              <a:cs typeface="Arial" panose="020B0604020202090204" pitchFamily="34" charset="0"/>
            </a:endParaRPr>
          </a:p>
          <a:p>
            <a:pPr marL="1735455" lvl="4" indent="392430">
              <a:buNone/>
            </a:pPr>
            <a:r>
              <a:rPr lang="zh-CN" altLang="en-US" dirty="0">
                <a:solidFill>
                  <a:srgbClr val="C00000"/>
                </a:solidFill>
                <a:latin typeface="Arial" panose="020B0604020202090204" pitchFamily="34" charset="0"/>
                <a:cs typeface="Arial" panose="020B0604020202090204" pitchFamily="34" charset="0"/>
              </a:rPr>
              <a:t>(</a:t>
            </a:r>
            <a:r>
              <a:rPr lang="en-US" altLang="zh-CN" dirty="0">
                <a:solidFill>
                  <a:srgbClr val="C00000"/>
                </a:solidFill>
                <a:latin typeface="Arial" panose="020B0604020202090204" pitchFamily="34" charset="0"/>
                <a:cs typeface="Arial" panose="020B0604020202090204" pitchFamily="34" charset="0"/>
              </a:rPr>
              <a:t>SELECT </a:t>
            </a:r>
            <a:r>
              <a:rPr lang="en-US" altLang="zh-CN" dirty="0" err="1">
                <a:solidFill>
                  <a:srgbClr val="C00000"/>
                </a:solidFill>
                <a:latin typeface="Arial" panose="020B0604020202090204" pitchFamily="34" charset="0"/>
                <a:cs typeface="Arial" panose="020B0604020202090204" pitchFamily="34" charset="0"/>
              </a:rPr>
              <a:t>Sno</a:t>
            </a:r>
            <a:r>
              <a:rPr lang="en-US" altLang="zh-CN" dirty="0">
                <a:solidFill>
                  <a:srgbClr val="C00000"/>
                </a:solidFill>
                <a:latin typeface="Arial" panose="020B0604020202090204" pitchFamily="34" charset="0"/>
                <a:cs typeface="Arial" panose="020B0604020202090204" pitchFamily="34" charset="0"/>
              </a:rPr>
              <a:t> FROM SC WHERE </a:t>
            </a:r>
            <a:r>
              <a:rPr lang="en-US" altLang="zh-CN" dirty="0" err="1">
                <a:solidFill>
                  <a:srgbClr val="C00000"/>
                </a:solidFill>
                <a:latin typeface="Arial" panose="020B0604020202090204" pitchFamily="34" charset="0"/>
                <a:cs typeface="Arial" panose="020B0604020202090204" pitchFamily="34" charset="0"/>
              </a:rPr>
              <a:t>Cno</a:t>
            </a:r>
            <a:r>
              <a:rPr lang="en-US" altLang="zh-CN" dirty="0">
                <a:solidFill>
                  <a:srgbClr val="C00000"/>
                </a:solidFill>
                <a:latin typeface="Arial" panose="020B0604020202090204" pitchFamily="34" charset="0"/>
                <a:cs typeface="Arial" panose="020B0604020202090204" pitchFamily="34" charset="0"/>
              </a:rPr>
              <a:t>=' 1 '</a:t>
            </a:r>
            <a:r>
              <a:rPr lang="zh-CN" altLang="en-US" dirty="0">
                <a:solidFill>
                  <a:srgbClr val="C00000"/>
                </a:solidFill>
                <a:latin typeface="Arial" panose="020B0604020202090204" pitchFamily="34" charset="0"/>
                <a:cs typeface="Arial" panose="020B0604020202090204" pitchFamily="34" charset="0"/>
              </a:rPr>
              <a:t>)</a:t>
            </a:r>
            <a:r>
              <a:rPr lang="en-US" altLang="zh-CN" dirty="0">
                <a:solidFill>
                  <a:srgbClr val="C00000"/>
                </a:solidFill>
                <a:latin typeface="Arial" panose="020B0604020202090204" pitchFamily="34" charset="0"/>
                <a:cs typeface="Arial" panose="020B0604020202090204" pitchFamily="34" charset="0"/>
              </a:rPr>
              <a:t>  AS  SC1</a:t>
            </a:r>
            <a:endParaRPr lang="zh-CN" altLang="en-US"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WHERE  </a:t>
            </a:r>
            <a:r>
              <a:rPr lang="en-US" altLang="zh-CN" dirty="0" err="1">
                <a:latin typeface="Arial" panose="020B0604020202090204" pitchFamily="34" charset="0"/>
                <a:cs typeface="Arial" panose="020B0604020202090204" pitchFamily="34" charset="0"/>
              </a:rPr>
              <a:t>Student.Sno </a:t>
            </a:r>
            <a:r>
              <a:rPr lang="en-US" altLang="zh-CN" dirty="0">
                <a:latin typeface="Arial" panose="020B0604020202090204" pitchFamily="34" charset="0"/>
                <a:cs typeface="Arial" panose="020B0604020202090204" pitchFamily="34" charset="0"/>
              </a:rPr>
              <a:t>= </a:t>
            </a:r>
            <a:r>
              <a:rPr lang="en-US" altLang="zh-CN" dirty="0">
                <a:solidFill>
                  <a:srgbClr val="C00000"/>
                </a:solidFill>
                <a:latin typeface="Arial" panose="020B0604020202090204" pitchFamily="34" charset="0"/>
                <a:cs typeface="Arial" panose="020B0604020202090204" pitchFamily="34" charset="0"/>
              </a:rPr>
              <a:t>SC1.Sno</a:t>
            </a:r>
            <a:r>
              <a:rPr lang="en-US" altLang="zh-CN" dirty="0">
                <a:latin typeface="Arial" panose="020B0604020202090204" pitchFamily="34" charset="0"/>
                <a:cs typeface="Arial" panose="020B0604020202090204" pitchFamily="34" charset="0"/>
              </a:rPr>
              <a:t>;</a:t>
            </a:r>
            <a:endParaRPr lang="en-US" altLang="zh-CN"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ch03_2_SQL数据查询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875">
                                            <p:txEl>
                                              <p:pRg st="2" end="2"/>
                                            </p:txEl>
                                          </p:spTgt>
                                        </p:tgtEl>
                                        <p:attrNameLst>
                                          <p:attrName>style.visibility</p:attrName>
                                        </p:attrNameLst>
                                      </p:cBhvr>
                                      <p:to>
                                        <p:strVal val="visible"/>
                                      </p:to>
                                    </p:set>
                                    <p:animEffect transition="in" filter="blinds(horizontal)">
                                      <p:cBhvr>
                                        <p:cTn id="7" dur="500"/>
                                        <p:tgtEl>
                                          <p:spTgt spid="7987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9875">
                                            <p:txEl>
                                              <p:pRg st="3" end="3"/>
                                            </p:txEl>
                                          </p:spTgt>
                                        </p:tgtEl>
                                        <p:attrNameLst>
                                          <p:attrName>style.visibility</p:attrName>
                                        </p:attrNameLst>
                                      </p:cBhvr>
                                      <p:to>
                                        <p:strVal val="visible"/>
                                      </p:to>
                                    </p:set>
                                    <p:animEffect transition="in" filter="blinds(horizontal)">
                                      <p:cBhvr>
                                        <p:cTn id="12" dur="500"/>
                                        <p:tgtEl>
                                          <p:spTgt spid="7987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9875">
                                            <p:txEl>
                                              <p:pRg st="4" end="4"/>
                                            </p:txEl>
                                          </p:spTgt>
                                        </p:tgtEl>
                                        <p:attrNameLst>
                                          <p:attrName>style.visibility</p:attrName>
                                        </p:attrNameLst>
                                      </p:cBhvr>
                                      <p:to>
                                        <p:strVal val="visible"/>
                                      </p:to>
                                    </p:set>
                                    <p:animEffect transition="in" filter="blinds(horizontal)">
                                      <p:cBhvr>
                                        <p:cTn id="17" dur="500"/>
                                        <p:tgtEl>
                                          <p:spTgt spid="79875">
                                            <p:txEl>
                                              <p:pRg st="4" end="4"/>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79875">
                                            <p:txEl>
                                              <p:pRg st="5" end="5"/>
                                            </p:txEl>
                                          </p:spTgt>
                                        </p:tgtEl>
                                        <p:attrNameLst>
                                          <p:attrName>style.visibility</p:attrName>
                                        </p:attrNameLst>
                                      </p:cBhvr>
                                      <p:to>
                                        <p:strVal val="visible"/>
                                      </p:to>
                                    </p:set>
                                    <p:animEffect transition="in" filter="blinds(horizontal)">
                                      <p:cBhvr>
                                        <p:cTn id="20" dur="500"/>
                                        <p:tgtEl>
                                          <p:spTgt spid="79875">
                                            <p:txEl>
                                              <p:pRg st="5" end="5"/>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9875">
                                            <p:txEl>
                                              <p:pRg st="6" end="6"/>
                                            </p:txEl>
                                          </p:spTgt>
                                        </p:tgtEl>
                                        <p:attrNameLst>
                                          <p:attrName>style.visibility</p:attrName>
                                        </p:attrNameLst>
                                      </p:cBhvr>
                                      <p:to>
                                        <p:strVal val="visible"/>
                                      </p:to>
                                    </p:set>
                                    <p:animEffect transition="in" filter="blinds(horizontal)">
                                      <p:cBhvr>
                                        <p:cTn id="23" dur="500"/>
                                        <p:tgtEl>
                                          <p:spTgt spid="79875">
                                            <p:txEl>
                                              <p:pRg st="6" end="6"/>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9875">
                                            <p:txEl>
                                              <p:pRg st="7" end="7"/>
                                            </p:txEl>
                                          </p:spTgt>
                                        </p:tgtEl>
                                        <p:attrNameLst>
                                          <p:attrName>style.visibility</p:attrName>
                                        </p:attrNameLst>
                                      </p:cBhvr>
                                      <p:to>
                                        <p:strVal val="visible"/>
                                      </p:to>
                                    </p:set>
                                    <p:animEffect transition="in" filter="blinds(horizontal)">
                                      <p:cBhvr>
                                        <p:cTn id="26" dur="500"/>
                                        <p:tgtEl>
                                          <p:spTgt spid="798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wm#"/>
  <p:tag name="KSO_WM_TEMPLATE_CATEGORY" val="custom"/>
  <p:tag name="KSO_WM_TEMPLATE_INDEX" val="20205081"/>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TABLE_ENDDRAG_ORIGIN_RECT" val="311*182"/>
  <p:tag name="TABLE_ENDDRAG_RECT" val="310*311*311*182"/>
</p:tagLst>
</file>

<file path=ppt/tags/tag16.xml><?xml version="1.0" encoding="utf-8"?>
<p:tagLst xmlns:p="http://schemas.openxmlformats.org/presentationml/2006/main">
  <p:tag name="TABLE_ENDDRAG_ORIGIN_RECT" val="667*222"/>
  <p:tag name="TABLE_ENDDRAG_RECT" val="202*256*667*222"/>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TABLE_ENDDRAG_ORIGIN_RECT" val="642*271"/>
  <p:tag name="TABLE_ENDDRAG_RECT" val="225*270*642*271"/>
</p:tagLst>
</file>

<file path=ppt/tags/tag22.xml><?xml version="1.0" encoding="utf-8"?>
<p:tagLst xmlns:p="http://schemas.openxmlformats.org/presentationml/2006/main">
  <p:tag name="TABLE_ENDDRAG_ORIGIN_RECT" val="893*413"/>
  <p:tag name="TABLE_ENDDRAG_RECT" val="33*54*893*413"/>
</p:tagLst>
</file>

<file path=ppt/tags/tag23.xml><?xml version="1.0" encoding="utf-8"?>
<p:tagLst xmlns:p="http://schemas.openxmlformats.org/presentationml/2006/main">
  <p:tag name="TABLE_ENDDRAG_ORIGIN_RECT" val="853*391"/>
  <p:tag name="TABLE_ENDDRAG_RECT" val="48*52*853*391"/>
</p:tagLst>
</file>

<file path=ppt/tags/tag24.xml><?xml version="1.0" encoding="utf-8"?>
<p:tagLst xmlns:p="http://schemas.openxmlformats.org/presentationml/2006/main">
  <p:tag name="TABLE_ENDDRAG_ORIGIN_RECT" val="359*168"/>
  <p:tag name="TABLE_ENDDRAG_RECT" val="65*339*359*168"/>
</p:tagLst>
</file>

<file path=ppt/tags/tag25.xml><?xml version="1.0" encoding="utf-8"?>
<p:tagLst xmlns:p="http://schemas.openxmlformats.org/presentationml/2006/main">
  <p:tag name="TABLE_ENDDRAG_ORIGIN_RECT" val="892*185"/>
  <p:tag name="TABLE_ENDDRAG_RECT" val="33*324*892*185"/>
</p:tagLst>
</file>

<file path=ppt/tags/tag26.xml><?xml version="1.0" encoding="utf-8"?>
<p:tagLst xmlns:p="http://schemas.openxmlformats.org/presentationml/2006/main">
  <p:tag name="TABLE_ENDDRAG_ORIGIN_RECT" val="349*210"/>
  <p:tag name="TABLE_ENDDRAG_RECT" val="22*160*349*210"/>
</p:tagLst>
</file>

<file path=ppt/tags/tag27.xml><?xml version="1.0" encoding="utf-8"?>
<p:tagLst xmlns:p="http://schemas.openxmlformats.org/presentationml/2006/main">
  <p:tag name="TABLE_ENDDRAG_ORIGIN_RECT" val="165*144"/>
  <p:tag name="TABLE_ENDDRAG_RECT" val="750*265*165*144"/>
</p:tagLst>
</file>

<file path=ppt/tags/tag28.xml><?xml version="1.0" encoding="utf-8"?>
<p:tagLst xmlns:p="http://schemas.openxmlformats.org/presentationml/2006/main">
  <p:tag name="TABLE_ENDDRAG_ORIGIN_RECT" val="723*307"/>
  <p:tag name="TABLE_ENDDRAG_RECT" val="94*192*723*307"/>
</p:tagLst>
</file>

<file path=ppt/tags/tag29.xml><?xml version="1.0" encoding="utf-8"?>
<p:tagLst xmlns:p="http://schemas.openxmlformats.org/presentationml/2006/main">
  <p:tag name="TABLE_ENDDRAG_ORIGIN_RECT" val="431*129"/>
  <p:tag name="TABLE_ENDDRAG_RECT" val="494*331*431*129"/>
</p:tagLst>
</file>

<file path=ppt/tags/tag30.xml><?xml version="1.0" encoding="utf-8"?>
<p:tagLst xmlns:p="http://schemas.openxmlformats.org/presentationml/2006/main">
  <p:tag name="TABLE_ENDDRAG_ORIGIN_RECT" val="370*129"/>
  <p:tag name="TABLE_ENDDRAG_RECT" val="556*351*370*129"/>
</p:tagLst>
</file>

<file path=ppt/tags/tag31.xml><?xml version="1.0" encoding="utf-8"?>
<p:tagLst xmlns:p="http://schemas.openxmlformats.org/presentationml/2006/main">
  <p:tag name="TABLE_ENDDRAG_ORIGIN_RECT" val="328*163"/>
  <p:tag name="TABLE_ENDDRAG_RECT" val="144*210*328*163"/>
</p:tagLst>
</file>

<file path=ppt/tags/tag32.xml><?xml version="1.0" encoding="utf-8"?>
<p:tagLst xmlns:p="http://schemas.openxmlformats.org/presentationml/2006/main">
  <p:tag name="TABLE_ENDDRAG_ORIGIN_RECT" val="893*193"/>
  <p:tag name="TABLE_ENDDRAG_RECT" val="33*96*893*193"/>
</p:tagLst>
</file>

<file path=ppt/tags/tag33.xml><?xml version="1.0" encoding="utf-8"?>
<p:tagLst xmlns:p="http://schemas.openxmlformats.org/presentationml/2006/main">
  <p:tag name="TABLE_ENDDRAG_ORIGIN_RECT" val="281*66"/>
  <p:tag name="TABLE_ENDDRAG_RECT" val="572*91*281*66"/>
</p:tagLst>
</file>

<file path=ppt/tags/tag34.xml><?xml version="1.0" encoding="utf-8"?>
<p:tagLst xmlns:p="http://schemas.openxmlformats.org/presentationml/2006/main">
  <p:tag name="TABLE_ENDDRAG_ORIGIN_RECT" val="893*175"/>
  <p:tag name="TABLE_ENDDRAG_RECT" val="33*169*893*175"/>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commondata" val="eyJoZGlkIjoiNDM3MTJmZWYzNGY4YmRiNTYxOWVmNTczZTFmNjFmODMifQ=="/>
  <p:tag name="resource_record_key" val="{&quot;70&quot;:[33145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38026</Words>
  <Application>WPS 演示</Application>
  <PresentationFormat>宽屏</PresentationFormat>
  <Paragraphs>3277</Paragraphs>
  <Slides>129</Slides>
  <Notes>0</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2</vt:i4>
      </vt:variant>
      <vt:variant>
        <vt:lpstr>幻灯片标题</vt:lpstr>
      </vt:variant>
      <vt:variant>
        <vt:i4>129</vt:i4>
      </vt:variant>
    </vt:vector>
  </HeadingPairs>
  <TitlesOfParts>
    <vt:vector size="158" baseType="lpstr">
      <vt:lpstr>Arial</vt:lpstr>
      <vt:lpstr>宋体</vt:lpstr>
      <vt:lpstr>Wingdings</vt:lpstr>
      <vt:lpstr>楷体</vt:lpstr>
      <vt:lpstr>Wingdings</vt:lpstr>
      <vt:lpstr>Calibri</vt:lpstr>
      <vt:lpstr>微软雅黑</vt:lpstr>
      <vt:lpstr>汉仪书宋二KW</vt:lpstr>
      <vt:lpstr>Times New Roman</vt:lpstr>
      <vt:lpstr>Symbol</vt:lpstr>
      <vt:lpstr>Cambria Math</vt:lpstr>
      <vt:lpstr>Kingsoft Sign</vt:lpstr>
      <vt:lpstr>MS Mincho</vt:lpstr>
      <vt:lpstr>宋体</vt:lpstr>
      <vt:lpstr>Arial Unicode MS</vt:lpstr>
      <vt:lpstr>Hiragino Sans</vt:lpstr>
      <vt:lpstr>Verdana</vt:lpstr>
      <vt:lpstr>黑体</vt:lpstr>
      <vt:lpstr>汉仪中黑KW</vt:lpstr>
      <vt:lpstr>Verdana</vt:lpstr>
      <vt:lpstr>Symbol</vt:lpstr>
      <vt:lpstr>微软雅黑</vt:lpstr>
      <vt:lpstr>楷体</vt:lpstr>
      <vt:lpstr>黑体</vt:lpstr>
      <vt:lpstr>DejaVu Math TeX Gyre</vt:lpstr>
      <vt:lpstr>宋体-简</vt:lpstr>
      <vt:lpstr>WPS</vt:lpstr>
      <vt:lpstr>Equation.KSEE3</vt:lpstr>
      <vt:lpstr>Equation.KSEE3</vt:lpstr>
      <vt:lpstr>PowerPoint 演示文稿</vt:lpstr>
      <vt:lpstr>SQL数据查询语句概述 1</vt:lpstr>
      <vt:lpstr>SQL数据查询语句概述 2</vt:lpstr>
      <vt:lpstr>基本映像语句的组成 1</vt:lpstr>
      <vt:lpstr>基本映像语句的组成 2</vt:lpstr>
      <vt:lpstr>SELECT &amp; FROM 子句总结</vt:lpstr>
      <vt:lpstr>基本映像语句的组成 3</vt:lpstr>
      <vt:lpstr>3.4  SQL数据查询</vt:lpstr>
      <vt:lpstr>关系数据查询：关系代数 vs. SQL语言</vt:lpstr>
      <vt:lpstr>关系数据查询：关系代数 vs. SQL语言</vt:lpstr>
      <vt:lpstr>关系数据查询：关系代数 vs. SQL语言</vt:lpstr>
      <vt:lpstr>关系数据查询：关系代数 vs. SQL语言</vt:lpstr>
      <vt:lpstr>关系数据查询：关系代数 vs. SQL语言</vt:lpstr>
      <vt:lpstr>关系数据查询：关系代数 vs. SQL语言</vt:lpstr>
      <vt:lpstr>3.4  SQL数据查询</vt:lpstr>
      <vt:lpstr>3.4  SQL数据查询</vt:lpstr>
      <vt:lpstr>第3章  关系数据库标准语言SQL ch3.4.1  SQL数据查询（单表）</vt:lpstr>
      <vt:lpstr>数据查询</vt:lpstr>
      <vt:lpstr>基本的数据查询功能</vt:lpstr>
      <vt:lpstr>选择表中的若干列</vt:lpstr>
      <vt:lpstr>查询经过计算的值 1</vt:lpstr>
      <vt:lpstr>查询经过计算的值 2</vt:lpstr>
      <vt:lpstr>查询经过计算的值 3</vt:lpstr>
      <vt:lpstr>查询经过计算的值 4</vt:lpstr>
      <vt:lpstr>消除取值重复的行（1）</vt:lpstr>
      <vt:lpstr>消除取值重复的行（2）</vt:lpstr>
      <vt:lpstr>消除取值重复的行（3）</vt:lpstr>
      <vt:lpstr>查询满足条件的元组</vt:lpstr>
      <vt:lpstr>① 比较大小</vt:lpstr>
      <vt:lpstr>② 确定范围</vt:lpstr>
      <vt:lpstr>③ 确定集合</vt:lpstr>
      <vt:lpstr>④ 字符匹配 1</vt:lpstr>
      <vt:lpstr>④ 字符匹配 2</vt:lpstr>
      <vt:lpstr>④ 字符匹配 3</vt:lpstr>
      <vt:lpstr>④ 字符匹配 4</vt:lpstr>
      <vt:lpstr>⑤ 涉及空值的查询</vt:lpstr>
      <vt:lpstr>⑥多重条件查询</vt:lpstr>
      <vt:lpstr>对查询结果排序</vt:lpstr>
      <vt:lpstr>聚集函数 1</vt:lpstr>
      <vt:lpstr>聚集函数 2</vt:lpstr>
      <vt:lpstr>聚集函数 3</vt:lpstr>
      <vt:lpstr>聚集函数 4</vt:lpstr>
      <vt:lpstr>① 统计查询</vt:lpstr>
      <vt:lpstr>聚集函数 5</vt:lpstr>
      <vt:lpstr>聚集函数 6</vt:lpstr>
      <vt:lpstr>对查询结果分组 1</vt:lpstr>
      <vt:lpstr>对查询结果分组 2</vt:lpstr>
      <vt:lpstr>对查询结果分组 3</vt:lpstr>
      <vt:lpstr>Example of GROUP BY 1</vt:lpstr>
      <vt:lpstr>Example of GROUP BY 2</vt:lpstr>
      <vt:lpstr>Example of GROUP BY 3</vt:lpstr>
      <vt:lpstr>Example of GROUP BY 4</vt:lpstr>
      <vt:lpstr>Example of GROUP BY 5</vt:lpstr>
      <vt:lpstr>Example of GROUP BY 6</vt:lpstr>
      <vt:lpstr>Example of GROUP BY 7</vt:lpstr>
      <vt:lpstr>Example of GROUP BY 8</vt:lpstr>
      <vt:lpstr>Example of GROUP BY 9</vt:lpstr>
      <vt:lpstr>Example of GROUP BY 10</vt:lpstr>
      <vt:lpstr>Example of GROUP BY+HAVING 1</vt:lpstr>
      <vt:lpstr>Example of GROUP BY+HAVING 2</vt:lpstr>
      <vt:lpstr>Example of GROUP BY+HAVING 3</vt:lpstr>
      <vt:lpstr>Example of GROUP BY+HAVING 4</vt:lpstr>
      <vt:lpstr>Example of GROUP BY+HAVING 5</vt:lpstr>
      <vt:lpstr>Example of GROUP BY+HAVING 6</vt:lpstr>
      <vt:lpstr>Example of GROUP BY+HAVING 7</vt:lpstr>
      <vt:lpstr>Example of GROUP BY+HAVING 8</vt:lpstr>
      <vt:lpstr>Example of GROUP BY+HAVING 9</vt:lpstr>
      <vt:lpstr>Example of GROUP BY+HAVING 10</vt:lpstr>
      <vt:lpstr>Example of GROUP BY+HAVING 11</vt:lpstr>
      <vt:lpstr>Example of GROUP BY+HAVING 12</vt:lpstr>
      <vt:lpstr>SELECT语句执行的一般规则</vt:lpstr>
      <vt:lpstr>第3章  关系数据库标准语言SQL ch3.4.2  SQL数据查询（连接查询）</vt:lpstr>
      <vt:lpstr>连接查询 </vt:lpstr>
      <vt:lpstr>等值连接/自然连接查询 </vt:lpstr>
      <vt:lpstr>连接操作的执行过程 1</vt:lpstr>
      <vt:lpstr>连接操作的执行过程 2</vt:lpstr>
      <vt:lpstr>连接操作的执行过程 3</vt:lpstr>
      <vt:lpstr>同时进行选择和连接</vt:lpstr>
      <vt:lpstr>自身连接 1 </vt:lpstr>
      <vt:lpstr>自身连接 2</vt:lpstr>
      <vt:lpstr>外连接 1</vt:lpstr>
      <vt:lpstr>外连接 2</vt:lpstr>
      <vt:lpstr>多表连接</vt:lpstr>
      <vt:lpstr>ch3.4.3  SQL数据查询 （嵌套查询）</vt:lpstr>
      <vt:lpstr>嵌套查询概述 1</vt:lpstr>
      <vt:lpstr>嵌套查询概述 2</vt:lpstr>
      <vt:lpstr>嵌套查询求解方法</vt:lpstr>
      <vt:lpstr>与嵌套查询有关的查询谓词</vt:lpstr>
      <vt:lpstr>带有IN谓词的子查询 1</vt:lpstr>
      <vt:lpstr>带有IN谓词的子查询 2</vt:lpstr>
      <vt:lpstr>带有IN谓词的子查询 3</vt:lpstr>
      <vt:lpstr>带有IN谓词的子查询 4</vt:lpstr>
      <vt:lpstr>用表连接查询 代替 IN谓词+子查询</vt:lpstr>
      <vt:lpstr>多表连接操作的执行过程</vt:lpstr>
      <vt:lpstr>带有比较运算符的子查询 1</vt:lpstr>
      <vt:lpstr>带有比较运算符的子查询 2</vt:lpstr>
      <vt:lpstr>[例3.57] 可能的执行过程</vt:lpstr>
      <vt:lpstr>带有 ANY（SOME）或 ALL 谓词的子查询 1</vt:lpstr>
      <vt:lpstr>带有 ANY（SOME）或 ALL 谓词的子查询 2</vt:lpstr>
      <vt:lpstr>带有 ANY（SOME）或 ALL 谓词的子查询 3</vt:lpstr>
      <vt:lpstr>带有 ANY（SOME）或 ALL 谓词的子查询 4</vt:lpstr>
      <vt:lpstr>带有 ANY（SOME）或 ALL 谓词的子查询 5</vt:lpstr>
      <vt:lpstr>带有EXISTS谓词的子查询 1</vt:lpstr>
      <vt:lpstr>带有EXISTS谓词的子查询 2</vt:lpstr>
      <vt:lpstr>带有EXISTS谓词的子查询 3</vt:lpstr>
      <vt:lpstr>带有EXISTS谓词的子查询 4</vt:lpstr>
      <vt:lpstr>带有EXISTS谓词的子查询 5</vt:lpstr>
      <vt:lpstr>谓词EXISTS的使用</vt:lpstr>
      <vt:lpstr>谓词EXISTS在复杂查询中的使用（1）</vt:lpstr>
      <vt:lpstr>谓词EXISTS在复杂查询中的使用（2）</vt:lpstr>
      <vt:lpstr>谓词EXISTS在复杂查询中的使用（3）</vt:lpstr>
      <vt:lpstr>谓词EXISTS在复杂查询中的使用（4）</vt:lpstr>
      <vt:lpstr>谓词EXISTS在复杂查询中的使用（5）</vt:lpstr>
      <vt:lpstr>谓词EXISTS在复杂查询中的使用（6）</vt:lpstr>
      <vt:lpstr>谓词EXISTS在复杂查询中的使用（7）</vt:lpstr>
      <vt:lpstr>谓词EXISTS在复杂查询中的使用（8）</vt:lpstr>
      <vt:lpstr>谓词EXISTS在复杂查询中的使用（9）</vt:lpstr>
      <vt:lpstr>谓词EXISTS在复杂查询中的使用（10）</vt:lpstr>
      <vt:lpstr>谓词EXISTS在复杂查询中的使用（11）</vt:lpstr>
      <vt:lpstr>谓词EXISTS在复杂查询中的使用（12）</vt:lpstr>
      <vt:lpstr>ch3.4.4  SQL数据查询 （集合操作）</vt:lpstr>
      <vt:lpstr>集合查询</vt:lpstr>
      <vt:lpstr>并操作</vt:lpstr>
      <vt:lpstr>交操作 1</vt:lpstr>
      <vt:lpstr>交操作 2</vt:lpstr>
      <vt:lpstr>差操作</vt:lpstr>
      <vt:lpstr>ch3.4.5  SQL数据查询（基于派生表的查询）</vt:lpstr>
      <vt:lpstr>基于派生表的查询1</vt:lpstr>
      <vt:lpstr>基于派生表的查询 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胡伟</cp:lastModifiedBy>
  <cp:revision>296</cp:revision>
  <dcterms:created xsi:type="dcterms:W3CDTF">2026-04-19T00:55:56Z</dcterms:created>
  <dcterms:modified xsi:type="dcterms:W3CDTF">2026-04-19T00:55:56Z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50D7D88063F146849076913D5E14BABD_13</vt:lpwstr>
  </property>
  <property fmtid="{D5CDD505-2E9C-101B-9397-08002B2CF9AE}" pid="3" name="KSOProductBuildVer">
    <vt:lpwstr>2052-12.1.24031.24031</vt:lpwstr>
  </property>
</Properties>
</file>