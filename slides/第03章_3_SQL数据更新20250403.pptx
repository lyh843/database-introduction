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4"/>
  </p:notesMasterIdLst>
  <p:handoutMasterIdLst>
    <p:handoutMasterId r:id="rId61"/>
  </p:handoutMasterIdLst>
  <p:sldIdLst>
    <p:sldId id="687" r:id="rId3"/>
    <p:sldId id="997" r:id="rId5"/>
    <p:sldId id="998" r:id="rId6"/>
    <p:sldId id="1334" r:id="rId7"/>
    <p:sldId id="999" r:id="rId8"/>
    <p:sldId id="1232" r:id="rId9"/>
    <p:sldId id="1000" r:id="rId10"/>
    <p:sldId id="1001" r:id="rId11"/>
    <p:sldId id="1003" r:id="rId12"/>
    <p:sldId id="1004" r:id="rId13"/>
    <p:sldId id="1006" r:id="rId14"/>
    <p:sldId id="1007" r:id="rId15"/>
    <p:sldId id="1009" r:id="rId16"/>
    <p:sldId id="1010" r:id="rId17"/>
    <p:sldId id="1012" r:id="rId18"/>
    <p:sldId id="1013" r:id="rId19"/>
    <p:sldId id="1014" r:id="rId20"/>
    <p:sldId id="1015" r:id="rId21"/>
    <p:sldId id="1016" r:id="rId22"/>
    <p:sldId id="1017" r:id="rId23"/>
    <p:sldId id="1018" r:id="rId24"/>
    <p:sldId id="1019" r:id="rId25"/>
    <p:sldId id="1021" r:id="rId26"/>
    <p:sldId id="1276" r:id="rId27"/>
    <p:sldId id="1023" r:id="rId28"/>
    <p:sldId id="1024" r:id="rId29"/>
    <p:sldId id="1025" r:id="rId30"/>
    <p:sldId id="1026" r:id="rId31"/>
    <p:sldId id="1027" r:id="rId32"/>
    <p:sldId id="1028" r:id="rId33"/>
    <p:sldId id="1379" r:id="rId34"/>
    <p:sldId id="1380" r:id="rId35"/>
    <p:sldId id="1029" r:id="rId36"/>
    <p:sldId id="1317" r:id="rId37"/>
    <p:sldId id="1301" r:id="rId38"/>
    <p:sldId id="1032" r:id="rId39"/>
    <p:sldId id="1033" r:id="rId40"/>
    <p:sldId id="1381" r:id="rId41"/>
    <p:sldId id="1034" r:id="rId42"/>
    <p:sldId id="1035" r:id="rId43"/>
    <p:sldId id="1382" r:id="rId44"/>
    <p:sldId id="1037" r:id="rId45"/>
    <p:sldId id="1038" r:id="rId46"/>
    <p:sldId id="1039" r:id="rId47"/>
    <p:sldId id="1040" r:id="rId48"/>
    <p:sldId id="1041" r:id="rId49"/>
    <p:sldId id="1042" r:id="rId50"/>
    <p:sldId id="1043" r:id="rId51"/>
    <p:sldId id="1044" r:id="rId52"/>
    <p:sldId id="1045" r:id="rId53"/>
    <p:sldId id="1046" r:id="rId54"/>
    <p:sldId id="1402" r:id="rId55"/>
    <p:sldId id="1403" r:id="rId56"/>
    <p:sldId id="1404" r:id="rId57"/>
    <p:sldId id="1405" r:id="rId58"/>
    <p:sldId id="1406" r:id="rId59"/>
    <p:sldId id="1407" r:id="rId60"/>
  </p:sldIdLst>
  <p:sldSz cx="12192000" cy="6858000"/>
  <p:notesSz cx="6858000" cy="9144000"/>
  <p:embeddedFontLst>
    <p:embeddedFont>
      <p:font typeface="楷体" charset="-122"/>
      <p:regular r:id="rId66"/>
    </p:embeddedFont>
    <p:embeddedFont>
      <p:font typeface="微软雅黑" charset="-122"/>
      <p:regular r:id="rId67"/>
    </p:embeddedFont>
    <p:embeddedFont>
      <p:font typeface="Calibri" panose="020F0502020204030204" charset="0"/>
      <p:regular r:id="rId68"/>
    </p:embeddedFont>
    <p:embeddedFont>
      <p:font typeface="华文楷体" panose="02010600040101010101" charset="-122"/>
      <p:regular r:id="rId69"/>
    </p:embeddedFont>
  </p:embeddedFontLst>
  <p:custDataLst>
    <p:tags r:id="rId7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 initials="W"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C8"/>
    <a:srgbClr val="1F2DA8"/>
    <a:srgbClr val="E9EC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0" Type="http://schemas.openxmlformats.org/officeDocument/2006/relationships/tags" Target="tags/tag9.xml"/><Relationship Id="rId7" Type="http://schemas.openxmlformats.org/officeDocument/2006/relationships/slide" Target="slides/slide4.xml"/><Relationship Id="rId69" Type="http://schemas.openxmlformats.org/officeDocument/2006/relationships/font" Target="fonts/font4.fntdata"/><Relationship Id="rId68" Type="http://schemas.openxmlformats.org/officeDocument/2006/relationships/font" Target="fonts/font3.fntdata"/><Relationship Id="rId67" Type="http://schemas.openxmlformats.org/officeDocument/2006/relationships/font" Target="fonts/font2.fntdata"/><Relationship Id="rId66" Type="http://schemas.openxmlformats.org/officeDocument/2006/relationships/font" Target="fonts/font1.fntdata"/><Relationship Id="rId65" Type="http://schemas.openxmlformats.org/officeDocument/2006/relationships/commentAuthors" Target="commentAuthors.xml"/><Relationship Id="rId64" Type="http://schemas.openxmlformats.org/officeDocument/2006/relationships/tableStyles" Target="tableStyles.xml"/><Relationship Id="rId63" Type="http://schemas.openxmlformats.org/officeDocument/2006/relationships/viewProps" Target="viewProps.xml"/><Relationship Id="rId62" Type="http://schemas.openxmlformats.org/officeDocument/2006/relationships/presProps" Target="presProps.xml"/><Relationship Id="rId61" Type="http://schemas.openxmlformats.org/officeDocument/2006/relationships/handoutMaster" Target="handoutMasters/handoutMaster1.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2024.04.09  12:58</a:t>
            </a:r>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p:sp>
      <p:sp>
        <p:nvSpPr>
          <p:cNvPr id="2969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pitchFamily="2" charset="-122"/>
            </a:endParaRPr>
          </a:p>
        </p:txBody>
      </p:sp>
      <p:sp>
        <p:nvSpPr>
          <p:cNvPr id="2970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fld id="{4DE72BCE-0FFC-42E3-B712-40EAEAFBF266}"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p:sp>
      <p:sp>
        <p:nvSpPr>
          <p:cNvPr id="2969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pitchFamily="2" charset="-122"/>
            </a:endParaRPr>
          </a:p>
        </p:txBody>
      </p:sp>
      <p:sp>
        <p:nvSpPr>
          <p:cNvPr id="2970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fld id="{4DE72BCE-0FFC-42E3-B712-40EAEAFBF266}"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p:sp>
      <p:sp>
        <p:nvSpPr>
          <p:cNvPr id="2969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pitchFamily="2" charset="-122"/>
            </a:endParaRPr>
          </a:p>
        </p:txBody>
      </p:sp>
      <p:sp>
        <p:nvSpPr>
          <p:cNvPr id="2970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fld id="{4DE72BCE-0FFC-42E3-B712-40EAEAFBF266}"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5" name="页脚占位符 4"/>
          <p:cNvSpPr>
            <a:spLocks noGrp="1"/>
          </p:cNvSpPr>
          <p:nvPr>
            <p:ph type="ftr" sz="quarter" idx="11"/>
          </p:nvPr>
        </p:nvSpPr>
        <p:spPr/>
        <p:txBody>
          <a:bodyPr/>
          <a:lstStyle/>
          <a:p>
            <a:r>
              <a:rPr lang="zh-CN" altLang="en-US"/>
              <a:t>ch03_3_SQL数据更新</a:t>
            </a:r>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ctr">
              <a:defRPr/>
            </a:lvl1p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页脚占位符 4"/>
          <p:cNvSpPr>
            <a:spLocks noGrp="1"/>
          </p:cNvSpPr>
          <p:nvPr>
            <p:ph type="ftr" sz="quarter" idx="11"/>
          </p:nvPr>
        </p:nvSpPr>
        <p:spPr/>
        <p:txBody>
          <a:bodyPr/>
          <a:lstStyle/>
          <a:p>
            <a:r>
              <a:rPr lang="zh-CN" altLang="en-US"/>
              <a:t>ch03_3_SQL数据更新</a:t>
            </a:r>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24815" y="615950"/>
            <a:ext cx="5579745" cy="59817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615950"/>
            <a:ext cx="5588635" cy="59817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11"/>
          </p:nvPr>
        </p:nvSpPr>
        <p:spPr/>
        <p:txBody>
          <a:bodyPr/>
          <a:lstStyle/>
          <a:p>
            <a:r>
              <a:rPr lang="zh-CN" altLang="en-US"/>
              <a:t>ch03_3_SQL数据更新</a:t>
            </a:r>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2192000" cy="521970"/>
          </a:xfrm>
        </p:spPr>
        <p:txBody>
          <a:bodyPr wrap="square"/>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24800" y="604203"/>
            <a:ext cx="5580000" cy="823912"/>
          </a:xfrm>
        </p:spPr>
        <p:txBody>
          <a:bodyPr anchor="b"/>
          <a:lstStyle>
            <a:lvl1pPr marL="0" indent="0">
              <a:buNone/>
              <a:defRPr sz="3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24815" y="1428115"/>
            <a:ext cx="5579745" cy="518668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604520"/>
            <a:ext cx="5589270" cy="823595"/>
          </a:xfrm>
        </p:spPr>
        <p:txBody>
          <a:bodyPr anchor="b"/>
          <a:lstStyle>
            <a:lvl1pPr marL="0" indent="0">
              <a:buNone/>
              <a:defRPr sz="3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1428115"/>
            <a:ext cx="5589270" cy="518668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8" name="页脚占位符 7"/>
          <p:cNvSpPr>
            <a:spLocks noGrp="1"/>
          </p:cNvSpPr>
          <p:nvPr>
            <p:ph type="ftr" sz="quarter" idx="11"/>
          </p:nvPr>
        </p:nvSpPr>
        <p:spPr/>
        <p:txBody>
          <a:bodyPr/>
          <a:lstStyle/>
          <a:p>
            <a:r>
              <a:rPr lang="zh-CN" altLang="en-US"/>
              <a:t>ch03_3_SQL数据更新</a:t>
            </a:r>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4" name="页脚占位符 3"/>
          <p:cNvSpPr>
            <a:spLocks noGrp="1"/>
          </p:cNvSpPr>
          <p:nvPr>
            <p:ph type="ftr" sz="quarter" idx="11"/>
          </p:nvPr>
        </p:nvSpPr>
        <p:spPr/>
        <p:txBody>
          <a:bodyPr/>
          <a:lstStyle/>
          <a:p>
            <a:r>
              <a:rPr lang="zh-CN" altLang="en-US"/>
              <a:t>ch03_3_SQL数据更新</a:t>
            </a:r>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r>
              <a:rPr lang="zh-CN" altLang="en-US"/>
              <a:t>ch03_3_SQL数据更新</a:t>
            </a:r>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horz"/>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页脚占位符 5"/>
          <p:cNvSpPr>
            <a:spLocks noGrp="1"/>
          </p:cNvSpPr>
          <p:nvPr>
            <p:ph type="ftr" sz="quarter" idx="11"/>
            <p:custDataLst>
              <p:tags r:id="rId2"/>
            </p:custDataLst>
          </p:nvPr>
        </p:nvSpPr>
        <p:spPr/>
        <p:txBody>
          <a:bodyPr/>
          <a:p>
            <a:r>
              <a:rPr lang="zh-CN" altLang="en-US"/>
              <a:t>ch03_3_SQL数据更新</a:t>
            </a:r>
            <a:endParaRPr lang="zh-CN" altLang="en-US"/>
          </a:p>
        </p:txBody>
      </p:sp>
      <p:sp>
        <p:nvSpPr>
          <p:cNvPr id="7" name="灯片编号占位符 6"/>
          <p:cNvSpPr>
            <a:spLocks noGrp="1"/>
          </p:cNvSpPr>
          <p:nvPr>
            <p:ph type="sldNum" sz="quarter" idx="12"/>
            <p:custDataLst>
              <p:tags r:id="rId3"/>
            </p:custDataLst>
          </p:nvPr>
        </p:nvSpPr>
        <p:spPr/>
        <p:txBody>
          <a:bodyPr/>
          <a:p>
            <a:fld id="{565CE74E-AB26-4998-AD42-012C4C1AD076}" type="slidenum">
              <a:rPr lang="zh-CN" altLang="en-US" smtClean="0"/>
            </a:fld>
            <a:endParaRPr lang="zh-CN" altLang="en-US"/>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35" y="0"/>
            <a:ext cx="12192635" cy="595630"/>
          </a:xfrm>
          <a:prstGeom prst="rect">
            <a:avLst/>
          </a:prstGeom>
          <a:solidFill>
            <a:schemeClr val="accent1">
              <a:lumMod val="20000"/>
              <a:lumOff val="80000"/>
              <a:alpha val="50000"/>
            </a:schemeClr>
          </a:solidFill>
        </p:spPr>
        <p:txBody>
          <a:bodyPr vert="horz" wrap="square" lIns="91440" tIns="82550" rIns="91440" bIns="82550" rtlCol="0" anchor="ctr">
            <a:no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24180" y="687070"/>
            <a:ext cx="11343005" cy="5897880"/>
          </a:xfrm>
          <a:prstGeom prst="rect">
            <a:avLst/>
          </a:prstGeom>
        </p:spPr>
        <p:txBody>
          <a:bodyPr vert="horz" lIns="91440" tIns="45720" rIns="91440" bIns="45720" rtlCol="0">
            <a:no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页脚占位符 4"/>
          <p:cNvSpPr>
            <a:spLocks noGrp="1"/>
          </p:cNvSpPr>
          <p:nvPr>
            <p:ph type="ftr" sz="quarter" idx="3"/>
          </p:nvPr>
        </p:nvSpPr>
        <p:spPr>
          <a:xfrm>
            <a:off x="0" y="6696000"/>
            <a:ext cx="4114800" cy="152400"/>
          </a:xfrm>
          <a:prstGeom prst="rect">
            <a:avLst/>
          </a:prstGeom>
        </p:spPr>
        <p:txBody>
          <a:bodyPr vert="horz" lIns="91440" tIns="0" rIns="91440" bIns="0" rtlCol="0" anchor="ctr">
            <a:spAutoFit/>
          </a:bodyPr>
          <a:lstStyle>
            <a:lvl1pPr algn="l">
              <a:defRPr sz="1000" b="1" i="1">
                <a:solidFill>
                  <a:schemeClr val="tx1">
                    <a:tint val="75000"/>
                  </a:schemeClr>
                </a:solidFill>
                <a:latin typeface="楷体" charset="-122"/>
                <a:ea typeface="楷体" charset="-122"/>
              </a:defRPr>
            </a:lvl1pPr>
          </a:lstStyle>
          <a:p>
            <a:r>
              <a:rPr lang="zh-CN" altLang="en-US"/>
              <a:t>ch03_3_SQL数据更新</a:t>
            </a:r>
            <a:endParaRPr lang="zh-CN" altLang="en-US"/>
          </a:p>
        </p:txBody>
      </p:sp>
      <p:sp>
        <p:nvSpPr>
          <p:cNvPr id="6" name="灯片编号占位符 5"/>
          <p:cNvSpPr>
            <a:spLocks noGrp="1"/>
          </p:cNvSpPr>
          <p:nvPr>
            <p:ph type="sldNum" sz="quarter" idx="4"/>
          </p:nvPr>
        </p:nvSpPr>
        <p:spPr>
          <a:xfrm>
            <a:off x="11461115" y="6696000"/>
            <a:ext cx="730885" cy="153670"/>
          </a:xfrm>
          <a:prstGeom prst="rect">
            <a:avLst/>
          </a:prstGeom>
        </p:spPr>
        <p:txBody>
          <a:bodyPr vert="horz" wrap="square" lIns="91440" tIns="0" rIns="91440" bIns="0" rtlCol="0" anchor="ctr">
            <a:spAutoFit/>
          </a:bodyPr>
          <a:lstStyle>
            <a:lvl1pPr algn="r">
              <a:defRPr sz="1000" b="1" i="1">
                <a:solidFill>
                  <a:schemeClr val="tx1">
                    <a:tint val="75000"/>
                  </a:schemeClr>
                </a:solidFill>
                <a:latin typeface="楷体" charset="-122"/>
                <a:ea typeface="楷体" charset="-122"/>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dt="0"/>
  <p:txStyles>
    <p:titleStyle>
      <a:lvl1pPr algn="ctr" defTabSz="914400" rtl="0" eaLnBrk="1" latinLnBrk="0" hangingPunct="1">
        <a:lnSpc>
          <a:spcPct val="100000"/>
        </a:lnSpc>
        <a:spcBef>
          <a:spcPts val="0"/>
        </a:spcBef>
        <a:spcAft>
          <a:spcPts val="0"/>
        </a:spcAft>
        <a:buNone/>
        <a:defRPr sz="2800" b="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charset="-122"/>
          <a:ea typeface="楷体"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charset="-122"/>
          <a:ea typeface="楷体"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charset="-122"/>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tags" Target="../tags/tag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6" name="文本框 5"/>
          <p:cNvSpPr txBox="1"/>
          <p:nvPr>
            <p:custDataLst>
              <p:tags r:id="rId2"/>
            </p:custDataLst>
          </p:nvPr>
        </p:nvSpPr>
        <p:spPr>
          <a:xfrm>
            <a:off x="4021200" y="5412105"/>
            <a:ext cx="4151630" cy="398780"/>
          </a:xfrm>
          <a:prstGeom prst="rect">
            <a:avLst/>
          </a:prstGeom>
          <a:noFill/>
        </p:spPr>
        <p:txBody>
          <a:bodyPr wrap="square" rtlCol="0" anchor="t">
            <a:noAutofit/>
          </a:bodyPr>
          <a:p>
            <a:pPr algn="ctr"/>
            <a:r>
              <a:rPr kumimoji="1" lang="zh-CN" altLang="en-US" sz="2000" dirty="0">
                <a:solidFill>
                  <a:schemeClr val="bg1"/>
                </a:solidFill>
                <a:effectLst>
                  <a:outerShdw blurRad="38100" dist="38100" dir="2700000" algn="tl">
                    <a:srgbClr val="000000">
                      <a:alpha val="43137"/>
                    </a:srgbClr>
                  </a:outerShdw>
                </a:effectLst>
                <a:latin typeface="微软雅黑" charset="-122"/>
                <a:ea typeface="微软雅黑" charset="-122"/>
                <a:sym typeface="+mn-ea"/>
              </a:rPr>
              <a:t>（202</a:t>
            </a:r>
            <a:r>
              <a:rPr kumimoji="1" lang="en-US" altLang="zh-CN" sz="2000" dirty="0">
                <a:solidFill>
                  <a:schemeClr val="bg1"/>
                </a:solidFill>
                <a:effectLst>
                  <a:outerShdw blurRad="38100" dist="38100" dir="2700000" algn="tl">
                    <a:srgbClr val="000000">
                      <a:alpha val="43137"/>
                    </a:srgbClr>
                  </a:outerShdw>
                </a:effectLst>
                <a:latin typeface="微软雅黑" charset="-122"/>
                <a:ea typeface="微软雅黑" charset="-122"/>
                <a:sym typeface="+mn-ea"/>
              </a:rPr>
              <a:t>6</a:t>
            </a:r>
            <a:r>
              <a:rPr kumimoji="1" lang="zh-CN" altLang="en-US" sz="2000" dirty="0">
                <a:solidFill>
                  <a:schemeClr val="bg1"/>
                </a:solidFill>
                <a:effectLst>
                  <a:outerShdw blurRad="38100" dist="38100" dir="2700000" algn="tl">
                    <a:srgbClr val="000000">
                      <a:alpha val="43137"/>
                    </a:srgbClr>
                  </a:outerShdw>
                </a:effectLst>
                <a:latin typeface="微软雅黑" charset="-122"/>
                <a:ea typeface="微软雅黑" charset="-122"/>
                <a:sym typeface="+mn-ea"/>
              </a:rPr>
              <a:t> 春季）</a:t>
            </a:r>
            <a:endParaRPr kumimoji="1" lang="zh-CN" altLang="en-US" sz="2000" dirty="0">
              <a:solidFill>
                <a:schemeClr val="bg1"/>
              </a:solidFill>
              <a:effectLst>
                <a:outerShdw blurRad="38100" dist="38100" dir="2700000" algn="tl">
                  <a:srgbClr val="000000">
                    <a:alpha val="43137"/>
                  </a:srgbClr>
                </a:outerShdw>
              </a:effectLst>
              <a:latin typeface="微软雅黑" charset="-122"/>
              <a:ea typeface="微软雅黑" charset="-122"/>
              <a:sym typeface="+mn-ea"/>
            </a:endParaRPr>
          </a:p>
        </p:txBody>
      </p:sp>
      <p:sp>
        <p:nvSpPr>
          <p:cNvPr id="8" name="文本框 7"/>
          <p:cNvSpPr txBox="1"/>
          <p:nvPr>
            <p:custDataLst>
              <p:tags r:id="rId3"/>
            </p:custDataLst>
          </p:nvPr>
        </p:nvSpPr>
        <p:spPr>
          <a:xfrm>
            <a:off x="0" y="1924685"/>
            <a:ext cx="12192635" cy="829945"/>
          </a:xfrm>
          <a:prstGeom prst="rect">
            <a:avLst/>
          </a:prstGeom>
          <a:noFill/>
        </p:spPr>
        <p:txBody>
          <a:bodyPr wrap="square" rtlCol="0">
            <a:noAutofit/>
          </a:bodyPr>
          <a:p>
            <a:pPr algn="ctr"/>
            <a:r>
              <a:rPr lang="zh-CN" altLang="en-US" sz="4800" b="1" dirty="0">
                <a:solidFill>
                  <a:schemeClr val="bg1"/>
                </a:solidFill>
                <a:effectLst>
                  <a:outerShdw blurRad="38100" dist="38100" dir="2700000" algn="tl">
                    <a:srgbClr val="000000">
                      <a:alpha val="43137"/>
                    </a:srgbClr>
                  </a:outerShdw>
                </a:effectLst>
                <a:latin typeface="微软雅黑" charset="-122"/>
                <a:ea typeface="微软雅黑" charset="-122"/>
                <a:cs typeface="微软雅黑" charset="-122"/>
              </a:rPr>
              <a:t>第3章  关系数据库标准语言SQL</a:t>
            </a:r>
            <a:endParaRPr lang="zh-CN" altLang="en-US" sz="4800" b="1" dirty="0">
              <a:solidFill>
                <a:schemeClr val="bg1"/>
              </a:solidFill>
              <a:effectLst>
                <a:outerShdw blurRad="38100" dist="38100" dir="2700000" algn="tl">
                  <a:srgbClr val="000000">
                    <a:alpha val="43137"/>
                  </a:srgbClr>
                </a:outerShdw>
              </a:effectLst>
              <a:latin typeface="微软雅黑" charset="-122"/>
              <a:ea typeface="微软雅黑" charset="-122"/>
              <a:cs typeface="微软雅黑" charset="-122"/>
            </a:endParaRPr>
          </a:p>
        </p:txBody>
      </p:sp>
      <p:sp>
        <p:nvSpPr>
          <p:cNvPr id="12" name="矩形 11"/>
          <p:cNvSpPr/>
          <p:nvPr>
            <p:custDataLst>
              <p:tags r:id="rId4"/>
            </p:custDataLst>
          </p:nvPr>
        </p:nvSpPr>
        <p:spPr>
          <a:xfrm>
            <a:off x="2511425" y="3335655"/>
            <a:ext cx="7144385" cy="460375"/>
          </a:xfrm>
          <a:prstGeom prst="rect">
            <a:avLst/>
          </a:prstGeom>
        </p:spPr>
        <p:txBody>
          <a:bodyPr wrap="square">
            <a:noAutofit/>
          </a:bodyPr>
          <a:p>
            <a:pPr algn="ctr">
              <a:lnSpc>
                <a:spcPct val="100000"/>
              </a:lnSpc>
              <a:spcBef>
                <a:spcPts val="2000"/>
              </a:spcBef>
              <a:spcAft>
                <a:spcPts val="0"/>
              </a:spcAft>
            </a:pPr>
            <a:r>
              <a:rPr lang="zh-CN" altLang="en-US" sz="2400" b="1" spc="300" dirty="0">
                <a:solidFill>
                  <a:schemeClr val="bg1"/>
                </a:solidFill>
                <a:effectLst>
                  <a:outerShdw blurRad="38100" dist="38100" dir="2700000" algn="tl">
                    <a:srgbClr val="000000">
                      <a:alpha val="43137"/>
                    </a:srgbClr>
                  </a:outerShdw>
                </a:effectLst>
                <a:uFillTx/>
                <a:latin typeface="+mj-lt"/>
                <a:ea typeface="微软雅黑" charset="-122"/>
                <a:cs typeface="+mj-lt"/>
              </a:rPr>
              <a:t>（数据更新</a:t>
            </a:r>
            <a:r>
              <a:rPr lang="en-US" altLang="zh-CN" sz="2400" b="1" spc="300" dirty="0">
                <a:solidFill>
                  <a:schemeClr val="bg1"/>
                </a:solidFill>
                <a:effectLst>
                  <a:outerShdw blurRad="38100" dist="38100" dir="2700000" algn="tl">
                    <a:srgbClr val="000000">
                      <a:alpha val="43137"/>
                    </a:srgbClr>
                  </a:outerShdw>
                </a:effectLst>
                <a:uFillTx/>
                <a:latin typeface="+mj-lt"/>
                <a:ea typeface="微软雅黑" charset="-122"/>
                <a:cs typeface="+mj-lt"/>
              </a:rPr>
              <a:t> &amp; </a:t>
            </a:r>
            <a:r>
              <a:rPr lang="zh-CN" altLang="en-US" sz="2400" b="1" spc="300" dirty="0">
                <a:solidFill>
                  <a:schemeClr val="bg1"/>
                </a:solidFill>
                <a:effectLst>
                  <a:outerShdw blurRad="38100" dist="38100" dir="2700000" algn="tl">
                    <a:srgbClr val="000000">
                      <a:alpha val="43137"/>
                    </a:srgbClr>
                  </a:outerShdw>
                </a:effectLst>
                <a:uFillTx/>
                <a:latin typeface="+mj-lt"/>
                <a:ea typeface="微软雅黑" charset="-122"/>
                <a:cs typeface="+mj-lt"/>
              </a:rPr>
              <a:t>视图）</a:t>
            </a:r>
            <a:endParaRPr lang="zh-CN" altLang="en-US" sz="2400" b="1" spc="300" dirty="0">
              <a:solidFill>
                <a:schemeClr val="bg1"/>
              </a:solidFill>
              <a:effectLst>
                <a:outerShdw blurRad="38100" dist="38100" dir="2700000" algn="tl">
                  <a:srgbClr val="000000">
                    <a:alpha val="43137"/>
                  </a:srgbClr>
                </a:outerShdw>
              </a:effectLst>
              <a:uFillTx/>
              <a:latin typeface="+mj-lt"/>
              <a:ea typeface="微软雅黑" charset="-122"/>
              <a:cs typeface="+mj-lt"/>
            </a:endParaRPr>
          </a:p>
        </p:txBody>
      </p:sp>
    </p:spTree>
    <p:custDataLst>
      <p:tags r:id="rId5"/>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p:txBody>
          <a:bodyPr anchor="b" anchorCtr="0"/>
          <a:lstStyle/>
          <a:p>
            <a:pPr eaLnBrk="1" hangingPunct="1"/>
            <a:r>
              <a:rPr lang="zh-CN" altLang="en-US" dirty="0">
                <a:solidFill>
                  <a:srgbClr val="0000C8"/>
                </a:solidFill>
                <a:sym typeface="+mn-ea"/>
              </a:rPr>
              <a:t>（202</a:t>
            </a:r>
            <a:r>
              <a:rPr lang="en-US" altLang="zh-CN" dirty="0">
                <a:solidFill>
                  <a:srgbClr val="0000C8"/>
                </a:solidFill>
                <a:sym typeface="+mn-ea"/>
              </a:rPr>
              <a:t>6</a:t>
            </a:r>
            <a:r>
              <a:rPr lang="zh-CN" altLang="en-US" dirty="0">
                <a:solidFill>
                  <a:srgbClr val="0000C8"/>
                </a:solidFill>
                <a:sym typeface="+mn-ea"/>
              </a:rPr>
              <a:t> 春季）</a:t>
            </a:r>
            <a:endParaRPr lang="en-US" altLang="zh-CN" dirty="0">
              <a:solidFill>
                <a:schemeClr val="tx2">
                  <a:lumMod val="65000"/>
                  <a:lumOff val="35000"/>
                </a:schemeClr>
              </a:solidFill>
            </a:endParaRPr>
          </a:p>
        </p:txBody>
      </p:sp>
      <p:sp>
        <p:nvSpPr>
          <p:cNvPr id="3074" name="Rectangle 2"/>
          <p:cNvSpPr>
            <a:spLocks noGrp="1" noChangeArrowheads="1"/>
          </p:cNvSpPr>
          <p:nvPr>
            <p:ph type="ctrTitle" sz="quarter"/>
          </p:nvPr>
        </p:nvSpPr>
        <p:spPr>
          <a:xfrm>
            <a:off x="1524000" y="994728"/>
            <a:ext cx="9144000" cy="3488690"/>
          </a:xfrm>
        </p:spPr>
        <p:txBody>
          <a:bodyPr anchor="ctr" anchorCtr="0">
            <a:noAutofit/>
          </a:bodyPr>
          <a:lstStyle/>
          <a:p>
            <a:pPr eaLnBrk="1" hangingPunct="1">
              <a:lnSpc>
                <a:spcPct val="150000"/>
              </a:lnSpc>
              <a:spcBef>
                <a:spcPts val="0"/>
              </a:spcBef>
              <a:spcAft>
                <a:spcPts val="0"/>
              </a:spcAft>
            </a:pPr>
            <a:r>
              <a:rPr lang="zh-CN" altLang="en-US" sz="3600" dirty="0">
                <a:solidFill>
                  <a:srgbClr val="0000C8"/>
                </a:solidFill>
              </a:rPr>
              <a:t>数据更新</a:t>
            </a:r>
            <a:r>
              <a:rPr lang="en-US" altLang="zh-CN" sz="3600" dirty="0">
                <a:solidFill>
                  <a:srgbClr val="0000C8"/>
                </a:solidFill>
              </a:rPr>
              <a:t> -- </a:t>
            </a:r>
            <a:r>
              <a:rPr lang="zh-CN" altLang="en-US" sz="3600" dirty="0">
                <a:solidFill>
                  <a:srgbClr val="0000C8"/>
                </a:solidFill>
              </a:rPr>
              <a:t>插入、修改、删除</a:t>
            </a:r>
            <a:br>
              <a:rPr lang="zh-CN" altLang="en-US" sz="3600" dirty="0">
                <a:solidFill>
                  <a:srgbClr val="0000C8"/>
                </a:solidFill>
              </a:rPr>
            </a:br>
            <a:r>
              <a:rPr lang="zh-CN" altLang="en-US" sz="3600" dirty="0">
                <a:solidFill>
                  <a:srgbClr val="0000C8"/>
                </a:solidFill>
              </a:rPr>
              <a:t>事务处理的基本</a:t>
            </a:r>
            <a:r>
              <a:rPr lang="zh-CN" altLang="en-US" sz="3600" dirty="0">
                <a:solidFill>
                  <a:srgbClr val="0000C8"/>
                </a:solidFill>
              </a:rPr>
              <a:t>概念</a:t>
            </a:r>
            <a:br>
              <a:rPr lang="zh-CN" altLang="en-US" sz="3600" dirty="0">
                <a:solidFill>
                  <a:srgbClr val="0000C8"/>
                </a:solidFill>
              </a:rPr>
            </a:br>
            <a:r>
              <a:rPr lang="zh-CN" altLang="en-US" sz="3600" dirty="0">
                <a:solidFill>
                  <a:srgbClr val="0000C8"/>
                </a:solidFill>
              </a:rPr>
              <a:t>空值的处理</a:t>
            </a:r>
            <a:br>
              <a:rPr lang="zh-CN" altLang="en-US" sz="3600" dirty="0">
                <a:solidFill>
                  <a:srgbClr val="0000C8"/>
                </a:solidFill>
              </a:rPr>
            </a:br>
            <a:r>
              <a:rPr lang="zh-CN" altLang="en-US" sz="3600" dirty="0">
                <a:solidFill>
                  <a:srgbClr val="0000C8"/>
                </a:solidFill>
              </a:rPr>
              <a:t>视图</a:t>
            </a:r>
            <a:endParaRPr lang="zh-CN" altLang="en-US" sz="3600" dirty="0">
              <a:solidFill>
                <a:srgbClr val="0000C8"/>
              </a:solidFill>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zh-CN" altLang="en-US" dirty="0"/>
              <a:t>插入元组 </a:t>
            </a:r>
            <a:r>
              <a:rPr lang="en-US" altLang="zh-CN" dirty="0"/>
              <a:t>1</a:t>
            </a:r>
            <a:endParaRPr lang="zh-CN" altLang="en-US" dirty="0"/>
          </a:p>
        </p:txBody>
      </p:sp>
      <p:sp>
        <p:nvSpPr>
          <p:cNvPr id="6147" name="Rectangle 3"/>
          <p:cNvSpPr>
            <a:spLocks noGrp="1" noChangeArrowheads="1"/>
          </p:cNvSpPr>
          <p:nvPr>
            <p:ph idx="1"/>
          </p:nvPr>
        </p:nvSpPr>
        <p:spPr>
          <a:xfrm>
            <a:off x="424180" y="687070"/>
            <a:ext cx="11343005" cy="521970"/>
          </a:xfrm>
        </p:spPr>
        <p:txBody>
          <a:bodyPr>
            <a:spAutoFit/>
          </a:bodyPr>
          <a:lstStyle/>
          <a:p>
            <a:pPr>
              <a:lnSpc>
                <a:spcPct val="100000"/>
              </a:lnSpc>
              <a:spcBef>
                <a:spcPct val="0"/>
              </a:spcBef>
            </a:pPr>
            <a:r>
              <a:rPr lang="zh-CN" altLang="en-US" sz="2800" dirty="0">
                <a:latin typeface="Calibri" panose="020F0502020204030204" charset="0"/>
              </a:rPr>
              <a:t>将新元组插入指定表中，语句格式</a:t>
            </a:r>
            <a:endParaRPr lang="zh-CN" altLang="en-US" sz="2800" dirty="0">
              <a:latin typeface="Calibri" panose="020F0502020204030204" charset="0"/>
            </a:endParaRPr>
          </a:p>
        </p:txBody>
      </p:sp>
      <p:sp>
        <p:nvSpPr>
          <p:cNvPr id="2" name="灯片编号占位符 1"/>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ch03_3_SQL数据更新</a:t>
            </a:r>
            <a:endParaRPr lang="zh-CN" altLang="en-US"/>
          </a:p>
        </p:txBody>
      </p:sp>
      <p:sp>
        <p:nvSpPr>
          <p:cNvPr id="5" name="Rectangle 3"/>
          <p:cNvSpPr>
            <a:spLocks noGrp="1" noChangeArrowheads="1"/>
          </p:cNvSpPr>
          <p:nvPr/>
        </p:nvSpPr>
        <p:spPr>
          <a:xfrm>
            <a:off x="424180" y="1223010"/>
            <a:ext cx="11343005" cy="1383665"/>
          </a:xfrm>
          <a:prstGeom prst="rect">
            <a:avLst/>
          </a:prstGeom>
          <a:solidFill>
            <a:schemeClr val="accent3">
              <a:lumMod val="20000"/>
              <a:lumOff val="80000"/>
              <a:alpha val="50000"/>
            </a:schemeClr>
          </a:solidFill>
          <a:ln>
            <a:solidFill>
              <a:schemeClr val="tx1"/>
            </a:solidFill>
          </a:ln>
        </p:spPr>
        <p:txBody>
          <a:bodyPr vert="horz"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charset="-122"/>
                <a:ea typeface="楷体"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charset="-122"/>
                <a:ea typeface="楷体"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charset="-122"/>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914400" lvl="2" indent="0">
              <a:lnSpc>
                <a:spcPct val="100000"/>
              </a:lnSpc>
              <a:spcBef>
                <a:spcPct val="0"/>
              </a:spcBef>
              <a:buNone/>
            </a:pPr>
            <a:r>
              <a:rPr lang="en-US" altLang="zh-CN" dirty="0">
                <a:solidFill>
                  <a:srgbClr val="FF0000"/>
                </a:solidFill>
                <a:latin typeface="Calibri" panose="020F0502020204030204" charset="0"/>
                <a:cs typeface="Calibri" panose="020F0502020204030204" charset="0"/>
              </a:rPr>
              <a:t>INSERT</a:t>
            </a:r>
            <a:endParaRPr lang="en-US" altLang="zh-CN" dirty="0">
              <a:solidFill>
                <a:srgbClr val="FF0000"/>
              </a:solidFill>
              <a:latin typeface="Calibri" panose="020F0502020204030204" charset="0"/>
              <a:cs typeface="Calibri" panose="020F0502020204030204" charset="0"/>
            </a:endParaRPr>
          </a:p>
          <a:p>
            <a:pPr marL="914400" lvl="2" indent="0">
              <a:lnSpc>
                <a:spcPct val="100000"/>
              </a:lnSpc>
              <a:spcBef>
                <a:spcPct val="0"/>
              </a:spcBef>
              <a:buNone/>
            </a:pPr>
            <a:r>
              <a:rPr lang="en-US" altLang="zh-CN" dirty="0">
                <a:solidFill>
                  <a:srgbClr val="FF0000"/>
                </a:solidFill>
                <a:latin typeface="Calibri" panose="020F0502020204030204" charset="0"/>
                <a:cs typeface="Calibri" panose="020F0502020204030204" charset="0"/>
              </a:rPr>
              <a:t>INTO  &lt;</a:t>
            </a:r>
            <a:r>
              <a:rPr lang="zh-CN" altLang="en-US" dirty="0">
                <a:solidFill>
                  <a:srgbClr val="FF0000"/>
                </a:solidFill>
                <a:latin typeface="Calibri" panose="020F0502020204030204" charset="0"/>
                <a:cs typeface="Calibri" panose="020F0502020204030204" charset="0"/>
              </a:rPr>
              <a:t>表名</a:t>
            </a:r>
            <a:r>
              <a:rPr lang="en-US" altLang="zh-CN" dirty="0">
                <a:solidFill>
                  <a:srgbClr val="FF0000"/>
                </a:solidFill>
                <a:latin typeface="Calibri" panose="020F0502020204030204" charset="0"/>
                <a:cs typeface="Calibri" panose="020F0502020204030204" charset="0"/>
              </a:rPr>
              <a:t>&gt; [</a:t>
            </a:r>
            <a:r>
              <a:rPr lang="zh-CN" altLang="en-US" dirty="0">
                <a:solidFill>
                  <a:srgbClr val="FF0000"/>
                </a:solidFill>
                <a:latin typeface="Calibri" panose="020F0502020204030204" charset="0"/>
                <a:cs typeface="Calibri" panose="020F0502020204030204" charset="0"/>
              </a:rPr>
              <a:t>(</a:t>
            </a:r>
            <a:r>
              <a:rPr lang="en-US" altLang="zh-CN" dirty="0">
                <a:solidFill>
                  <a:srgbClr val="FF0000"/>
                </a:solidFill>
                <a:latin typeface="Calibri" panose="020F0502020204030204" charset="0"/>
                <a:cs typeface="Calibri" panose="020F0502020204030204" charset="0"/>
              </a:rPr>
              <a:t>&lt;</a:t>
            </a:r>
            <a:r>
              <a:rPr lang="zh-CN" altLang="en-US" dirty="0">
                <a:solidFill>
                  <a:srgbClr val="FF0000"/>
                </a:solidFill>
                <a:latin typeface="Calibri" panose="020F0502020204030204" charset="0"/>
                <a:cs typeface="Calibri" panose="020F0502020204030204" charset="0"/>
              </a:rPr>
              <a:t>属性列</a:t>
            </a:r>
            <a:r>
              <a:rPr lang="en-US" altLang="zh-CN" dirty="0">
                <a:solidFill>
                  <a:srgbClr val="FF0000"/>
                </a:solidFill>
                <a:latin typeface="Calibri" panose="020F0502020204030204" charset="0"/>
                <a:cs typeface="Calibri" panose="020F0502020204030204" charset="0"/>
              </a:rPr>
              <a:t>1&gt;[</a:t>
            </a:r>
            <a:r>
              <a:rPr lang="zh-CN" altLang="en-US" dirty="0">
                <a:solidFill>
                  <a:srgbClr val="FF0000"/>
                </a:solidFill>
                <a:latin typeface="Calibri" panose="020F0502020204030204" charset="0"/>
                <a:cs typeface="Calibri" panose="020F0502020204030204" charset="0"/>
              </a:rPr>
              <a:t>,</a:t>
            </a:r>
            <a:r>
              <a:rPr lang="en-US" altLang="zh-CN" dirty="0">
                <a:solidFill>
                  <a:srgbClr val="FF0000"/>
                </a:solidFill>
                <a:latin typeface="Calibri" panose="020F0502020204030204" charset="0"/>
                <a:cs typeface="Calibri" panose="020F0502020204030204" charset="0"/>
              </a:rPr>
              <a:t>&lt;</a:t>
            </a:r>
            <a:r>
              <a:rPr lang="zh-CN" altLang="en-US" dirty="0">
                <a:solidFill>
                  <a:srgbClr val="FF0000"/>
                </a:solidFill>
                <a:latin typeface="Calibri" panose="020F0502020204030204" charset="0"/>
                <a:cs typeface="Calibri" panose="020F0502020204030204" charset="0"/>
              </a:rPr>
              <a:t>属性列</a:t>
            </a:r>
            <a:r>
              <a:rPr lang="en-US" altLang="zh-CN" dirty="0">
                <a:solidFill>
                  <a:srgbClr val="FF0000"/>
                </a:solidFill>
                <a:latin typeface="Calibri" panose="020F0502020204030204" charset="0"/>
                <a:cs typeface="Calibri" panose="020F0502020204030204" charset="0"/>
              </a:rPr>
              <a:t>2 &gt;…</a:t>
            </a:r>
            <a:r>
              <a:rPr lang="zh-CN" altLang="en-US" dirty="0">
                <a:solidFill>
                  <a:srgbClr val="FF0000"/>
                </a:solidFill>
                <a:latin typeface="Calibri" panose="020F0502020204030204" charset="0"/>
                <a:cs typeface="Calibri" panose="020F0502020204030204" charset="0"/>
              </a:rPr>
              <a:t>)</a:t>
            </a:r>
            <a:r>
              <a:rPr lang="en-US" altLang="zh-CN" dirty="0">
                <a:solidFill>
                  <a:srgbClr val="FF0000"/>
                </a:solidFill>
                <a:latin typeface="Calibri" panose="020F0502020204030204" charset="0"/>
                <a:cs typeface="Calibri" panose="020F0502020204030204" charset="0"/>
              </a:rPr>
              <a:t>]</a:t>
            </a:r>
            <a:endParaRPr lang="en-US" altLang="zh-CN" dirty="0">
              <a:solidFill>
                <a:srgbClr val="FF0000"/>
              </a:solidFill>
              <a:latin typeface="Calibri" panose="020F0502020204030204" charset="0"/>
              <a:cs typeface="Calibri" panose="020F0502020204030204" charset="0"/>
            </a:endParaRPr>
          </a:p>
          <a:p>
            <a:pPr marL="914400" lvl="2" indent="0">
              <a:lnSpc>
                <a:spcPct val="100000"/>
              </a:lnSpc>
              <a:spcBef>
                <a:spcPct val="0"/>
              </a:spcBef>
              <a:buNone/>
            </a:pPr>
            <a:r>
              <a:rPr lang="en-US" altLang="zh-CN" dirty="0">
                <a:solidFill>
                  <a:srgbClr val="FF0000"/>
                </a:solidFill>
                <a:latin typeface="Calibri" panose="020F0502020204030204" charset="0"/>
                <a:cs typeface="Calibri" panose="020F0502020204030204" charset="0"/>
              </a:rPr>
              <a:t>VALUES  </a:t>
            </a:r>
            <a:r>
              <a:rPr lang="zh-CN" altLang="en-US" dirty="0">
                <a:solidFill>
                  <a:srgbClr val="FF0000"/>
                </a:solidFill>
                <a:latin typeface="Calibri" panose="020F0502020204030204" charset="0"/>
                <a:cs typeface="Calibri" panose="020F0502020204030204" charset="0"/>
              </a:rPr>
              <a:t>(</a:t>
            </a:r>
            <a:r>
              <a:rPr lang="en-US" altLang="zh-CN" dirty="0">
                <a:solidFill>
                  <a:srgbClr val="FF0000"/>
                </a:solidFill>
                <a:latin typeface="Calibri" panose="020F0502020204030204" charset="0"/>
                <a:cs typeface="Calibri" panose="020F0502020204030204" charset="0"/>
              </a:rPr>
              <a:t>&lt;</a:t>
            </a:r>
            <a:r>
              <a:rPr lang="zh-CN" altLang="en-US" dirty="0">
                <a:solidFill>
                  <a:srgbClr val="FF0000"/>
                </a:solidFill>
                <a:latin typeface="Calibri" panose="020F0502020204030204" charset="0"/>
                <a:cs typeface="Calibri" panose="020F0502020204030204" charset="0"/>
              </a:rPr>
              <a:t>常量</a:t>
            </a:r>
            <a:r>
              <a:rPr lang="en-US" altLang="zh-CN" dirty="0">
                <a:solidFill>
                  <a:srgbClr val="FF0000"/>
                </a:solidFill>
                <a:latin typeface="Calibri" panose="020F0502020204030204" charset="0"/>
                <a:cs typeface="Calibri" panose="020F0502020204030204" charset="0"/>
              </a:rPr>
              <a:t>1&gt; [</a:t>
            </a:r>
            <a:r>
              <a:rPr lang="zh-CN" altLang="en-US" dirty="0">
                <a:solidFill>
                  <a:srgbClr val="FF0000"/>
                </a:solidFill>
                <a:latin typeface="Calibri" panose="020F0502020204030204" charset="0"/>
                <a:cs typeface="Calibri" panose="020F0502020204030204" charset="0"/>
              </a:rPr>
              <a:t>,</a:t>
            </a:r>
            <a:r>
              <a:rPr lang="en-US" altLang="zh-CN" dirty="0">
                <a:solidFill>
                  <a:srgbClr val="FF0000"/>
                </a:solidFill>
                <a:latin typeface="Calibri" panose="020F0502020204030204" charset="0"/>
                <a:cs typeface="Calibri" panose="020F0502020204030204" charset="0"/>
              </a:rPr>
              <a:t>&lt;</a:t>
            </a:r>
            <a:r>
              <a:rPr lang="zh-CN" altLang="en-US" dirty="0">
                <a:solidFill>
                  <a:srgbClr val="FF0000"/>
                </a:solidFill>
                <a:latin typeface="Calibri" panose="020F0502020204030204" charset="0"/>
                <a:cs typeface="Calibri" panose="020F0502020204030204" charset="0"/>
              </a:rPr>
              <a:t>常量</a:t>
            </a:r>
            <a:r>
              <a:rPr lang="en-US" altLang="zh-CN" dirty="0">
                <a:solidFill>
                  <a:srgbClr val="FF0000"/>
                </a:solidFill>
                <a:latin typeface="Calibri" panose="020F0502020204030204" charset="0"/>
                <a:cs typeface="Calibri" panose="020F0502020204030204" charset="0"/>
              </a:rPr>
              <a:t>2&gt;]… </a:t>
            </a:r>
            <a:r>
              <a:rPr lang="zh-CN" altLang="en-US" dirty="0">
                <a:solidFill>
                  <a:srgbClr val="FF0000"/>
                </a:solidFill>
                <a:latin typeface="Calibri" panose="020F0502020204030204" charset="0"/>
                <a:cs typeface="Calibri" panose="020F0502020204030204" charset="0"/>
              </a:rPr>
              <a:t>)</a:t>
            </a:r>
            <a:r>
              <a:rPr lang="en-US" altLang="zh-CN" dirty="0">
                <a:solidFill>
                  <a:srgbClr val="FF0000"/>
                </a:solidFill>
                <a:latin typeface="Calibri" panose="020F0502020204030204" charset="0"/>
                <a:cs typeface="Calibri" panose="020F0502020204030204" charset="0"/>
              </a:rPr>
              <a:t>;</a:t>
            </a:r>
            <a:endParaRPr lang="zh-CN" altLang="en-US" dirty="0">
              <a:latin typeface="Calibri" panose="020F0502020204030204" charset="0"/>
              <a:cs typeface="Calibri" panose="020F0502020204030204" charset="0"/>
            </a:endParaRPr>
          </a:p>
        </p:txBody>
      </p:sp>
      <p:sp>
        <p:nvSpPr>
          <p:cNvPr id="6" name="Rectangle 3"/>
          <p:cNvSpPr>
            <a:spLocks noGrp="1" noChangeArrowheads="1"/>
          </p:cNvSpPr>
          <p:nvPr/>
        </p:nvSpPr>
        <p:spPr>
          <a:xfrm>
            <a:off x="424180" y="2820035"/>
            <a:ext cx="11343005" cy="3794760"/>
          </a:xfrm>
          <a:prstGeom prst="rect">
            <a:avLst/>
          </a:prstGeom>
        </p:spPr>
        <p:txBody>
          <a:bodyPr vert="horz"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charset="-122"/>
                <a:ea typeface="楷体"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charset="-122"/>
                <a:ea typeface="楷体"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charset="-122"/>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00000"/>
              </a:lnSpc>
              <a:spcBef>
                <a:spcPts val="2000"/>
              </a:spcBef>
            </a:pPr>
            <a:r>
              <a:rPr lang="en-US" altLang="zh-CN" sz="2800" dirty="0">
                <a:latin typeface="Calibri" panose="020F0502020204030204" charset="0"/>
                <a:cs typeface="Calibri" panose="020F0502020204030204" charset="0"/>
              </a:rPr>
              <a:t>INTO</a:t>
            </a:r>
            <a:r>
              <a:rPr lang="zh-CN" altLang="en-US" sz="2800" dirty="0">
                <a:latin typeface="Calibri" panose="020F0502020204030204" charset="0"/>
                <a:cs typeface="Calibri" panose="020F0502020204030204" charset="0"/>
              </a:rPr>
              <a:t>子句</a:t>
            </a:r>
            <a:endParaRPr lang="zh-CN" altLang="en-US" sz="2800" dirty="0">
              <a:latin typeface="Calibri" panose="020F0502020204030204" charset="0"/>
              <a:cs typeface="Calibri" panose="020F0502020204030204" charset="0"/>
            </a:endParaRPr>
          </a:p>
          <a:p>
            <a:pPr lvl="1">
              <a:lnSpc>
                <a:spcPct val="100000"/>
              </a:lnSpc>
              <a:spcBef>
                <a:spcPct val="0"/>
              </a:spcBef>
            </a:pPr>
            <a:r>
              <a:rPr lang="zh-CN" altLang="en-US" sz="2800" dirty="0">
                <a:latin typeface="Calibri" panose="020F0502020204030204" charset="0"/>
                <a:cs typeface="Calibri" panose="020F0502020204030204" charset="0"/>
              </a:rPr>
              <a:t>指定要插入数据的表名及属性列</a:t>
            </a:r>
            <a:endParaRPr lang="zh-CN" altLang="en-US" sz="2800" dirty="0">
              <a:latin typeface="Calibri" panose="020F0502020204030204" charset="0"/>
              <a:cs typeface="Calibri" panose="020F0502020204030204" charset="0"/>
            </a:endParaRPr>
          </a:p>
          <a:p>
            <a:pPr lvl="1">
              <a:lnSpc>
                <a:spcPct val="100000"/>
              </a:lnSpc>
              <a:spcBef>
                <a:spcPct val="0"/>
              </a:spcBef>
            </a:pPr>
            <a:r>
              <a:rPr lang="zh-CN" altLang="en-US" sz="2800" dirty="0">
                <a:latin typeface="Calibri" panose="020F0502020204030204" charset="0"/>
                <a:cs typeface="Calibri" panose="020F0502020204030204" charset="0"/>
              </a:rPr>
              <a:t>属性列的顺序可与表定义中的顺序不一致</a:t>
            </a:r>
            <a:endParaRPr lang="zh-CN" altLang="en-US" sz="2800" dirty="0">
              <a:latin typeface="Calibri" panose="020F0502020204030204" charset="0"/>
              <a:cs typeface="Calibri" panose="020F0502020204030204" charset="0"/>
            </a:endParaRPr>
          </a:p>
          <a:p>
            <a:pPr lvl="1">
              <a:lnSpc>
                <a:spcPct val="100000"/>
              </a:lnSpc>
              <a:spcBef>
                <a:spcPct val="0"/>
              </a:spcBef>
            </a:pPr>
            <a:r>
              <a:rPr lang="zh-CN" altLang="en-US" sz="2800" dirty="0">
                <a:latin typeface="Calibri" panose="020F0502020204030204" charset="0"/>
                <a:cs typeface="Calibri" panose="020F0502020204030204" charset="0"/>
              </a:rPr>
              <a:t>没有指定属性列：表示要插入的是一条完整的元组，且属性列属性与表定义中的顺序一致</a:t>
            </a:r>
            <a:endParaRPr lang="zh-CN" altLang="en-US" sz="2800" dirty="0">
              <a:latin typeface="Calibri" panose="020F0502020204030204" charset="0"/>
              <a:cs typeface="Calibri" panose="020F0502020204030204" charset="0"/>
            </a:endParaRPr>
          </a:p>
          <a:p>
            <a:pPr lvl="1">
              <a:lnSpc>
                <a:spcPct val="100000"/>
              </a:lnSpc>
              <a:spcBef>
                <a:spcPct val="0"/>
              </a:spcBef>
            </a:pPr>
            <a:r>
              <a:rPr lang="zh-CN" altLang="en-US" sz="2800" dirty="0">
                <a:latin typeface="Calibri" panose="020F0502020204030204" charset="0"/>
                <a:cs typeface="Calibri" panose="020F0502020204030204" charset="0"/>
              </a:rPr>
              <a:t>指定部分属性列：插入的元组在其余属性列上取空值</a:t>
            </a:r>
            <a:endParaRPr lang="en-US" altLang="zh-CN" sz="2800" dirty="0">
              <a:latin typeface="Calibri" panose="020F0502020204030204" charset="0"/>
              <a:cs typeface="Calibri" panose="020F0502020204030204" charset="0"/>
            </a:endParaRPr>
          </a:p>
          <a:p>
            <a:pPr>
              <a:lnSpc>
                <a:spcPct val="100000"/>
              </a:lnSpc>
              <a:spcBef>
                <a:spcPts val="2000"/>
              </a:spcBef>
            </a:pPr>
            <a:r>
              <a:rPr lang="en-US" altLang="zh-CN" sz="2800" dirty="0">
                <a:latin typeface="Calibri" panose="020F0502020204030204" charset="0"/>
                <a:cs typeface="Calibri" panose="020F0502020204030204" charset="0"/>
              </a:rPr>
              <a:t>VALUES</a:t>
            </a:r>
            <a:r>
              <a:rPr lang="zh-CN" altLang="en-US" sz="2800" dirty="0">
                <a:latin typeface="Calibri" panose="020F0502020204030204" charset="0"/>
                <a:cs typeface="Calibri" panose="020F0502020204030204" charset="0"/>
              </a:rPr>
              <a:t>子句</a:t>
            </a:r>
            <a:endParaRPr lang="zh-CN" altLang="en-US" sz="2800" dirty="0">
              <a:latin typeface="Calibri" panose="020F0502020204030204" charset="0"/>
              <a:cs typeface="Calibri" panose="020F0502020204030204" charset="0"/>
            </a:endParaRPr>
          </a:p>
          <a:p>
            <a:pPr lvl="1">
              <a:lnSpc>
                <a:spcPct val="100000"/>
              </a:lnSpc>
              <a:spcBef>
                <a:spcPct val="0"/>
              </a:spcBef>
            </a:pPr>
            <a:r>
              <a:rPr lang="zh-CN" altLang="en-US" sz="2800" dirty="0">
                <a:latin typeface="Calibri" panose="020F0502020204030204" charset="0"/>
                <a:cs typeface="Calibri" panose="020F0502020204030204" charset="0"/>
              </a:rPr>
              <a:t> 提供的值必须与</a:t>
            </a:r>
            <a:r>
              <a:rPr lang="en-US" altLang="zh-CN" sz="2800" dirty="0">
                <a:latin typeface="Calibri" panose="020F0502020204030204" charset="0"/>
                <a:cs typeface="Calibri" panose="020F0502020204030204" charset="0"/>
              </a:rPr>
              <a:t>INTO</a:t>
            </a:r>
            <a:r>
              <a:rPr lang="zh-CN" altLang="en-US" sz="2800" dirty="0">
                <a:latin typeface="Calibri" panose="020F0502020204030204" charset="0"/>
                <a:cs typeface="Calibri" panose="020F0502020204030204" charset="0"/>
              </a:rPr>
              <a:t>子句匹配：值的个数</a:t>
            </a:r>
            <a:r>
              <a:rPr lang="en-US" altLang="zh-CN" sz="2800" dirty="0">
                <a:latin typeface="Calibri" panose="020F0502020204030204" charset="0"/>
                <a:cs typeface="Calibri" panose="020F0502020204030204" charset="0"/>
              </a:rPr>
              <a:t> &amp; </a:t>
            </a:r>
            <a:r>
              <a:rPr lang="zh-CN" altLang="en-US" sz="2800" dirty="0">
                <a:latin typeface="Calibri" panose="020F0502020204030204" charset="0"/>
                <a:cs typeface="Calibri" panose="020F0502020204030204" charset="0"/>
              </a:rPr>
              <a:t>值的类型</a:t>
            </a:r>
            <a:endParaRPr lang="zh-CN" altLang="en-US" sz="2800" dirty="0">
              <a:latin typeface="Calibri" panose="020F0502020204030204" charset="0"/>
              <a:cs typeface="Calibri" panose="020F050202020403020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blinds(horizontal)">
                                      <p:cBhvr>
                                        <p:cTn id="10" dur="500"/>
                                        <p:tgtEl>
                                          <p:spTgt spid="6">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blinds(horizontal)">
                                      <p:cBhvr>
                                        <p:cTn id="13" dur="500"/>
                                        <p:tgtEl>
                                          <p:spTgt spid="6">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6">
                                            <p:txEl>
                                              <p:pRg st="3" end="3"/>
                                            </p:txEl>
                                          </p:spTgt>
                                        </p:tgtEl>
                                        <p:attrNameLst>
                                          <p:attrName>style.visibility</p:attrName>
                                        </p:attrNameLst>
                                      </p:cBhvr>
                                      <p:to>
                                        <p:strVal val="visible"/>
                                      </p:to>
                                    </p:set>
                                    <p:animEffect transition="in" filter="blinds(horizontal)">
                                      <p:cBhvr>
                                        <p:cTn id="16" dur="500"/>
                                        <p:tgtEl>
                                          <p:spTgt spid="6">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animEffect transition="in" filter="blinds(horizontal)">
                                      <p:cBhvr>
                                        <p:cTn id="19" dur="500"/>
                                        <p:tgtEl>
                                          <p:spTgt spid="6">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6">
                                            <p:txEl>
                                              <p:pRg st="5" end="5"/>
                                            </p:txEl>
                                          </p:spTgt>
                                        </p:tgtEl>
                                        <p:attrNameLst>
                                          <p:attrName>style.visibility</p:attrName>
                                        </p:attrNameLst>
                                      </p:cBhvr>
                                      <p:to>
                                        <p:strVal val="visible"/>
                                      </p:to>
                                    </p:set>
                                    <p:animEffect transition="in" filter="blinds(horizontal)">
                                      <p:cBhvr>
                                        <p:cTn id="24" dur="500"/>
                                        <p:tgtEl>
                                          <p:spTgt spid="6">
                                            <p:txEl>
                                              <p:pRg st="5" end="5"/>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animEffect transition="in" filter="blinds(horizontal)">
                                      <p:cBhvr>
                                        <p:cTn id="27"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4" name="Rectangle 3"/>
          <p:cNvSpPr/>
          <p:nvPr/>
        </p:nvSpPr>
        <p:spPr>
          <a:xfrm>
            <a:off x="1003300" y="1516698"/>
            <a:ext cx="8982075" cy="2331085"/>
          </a:xfrm>
          <a:prstGeom prst="rect">
            <a:avLst/>
          </a:prstGeom>
          <a:solidFill>
            <a:srgbClr val="CCFFFF"/>
          </a:solidFill>
          <a:ln w="9525">
            <a:noFill/>
          </a:ln>
        </p:spPr>
        <p:txBody>
          <a:bodyPr wrap="none" anchor="ctr">
            <a:spAutoFit/>
          </a:bodyPr>
          <a:p>
            <a:pPr>
              <a:lnSpc>
                <a:spcPct val="160000"/>
              </a:lnSpc>
              <a:spcBef>
                <a:spcPct val="20000"/>
              </a:spcBef>
            </a:pPr>
            <a:r>
              <a:rPr lang="en-US" altLang="x-none" sz="2800" dirty="0">
                <a:latin typeface="Arial" panose="020B0604020202090204" pitchFamily="34" charset="0"/>
                <a:ea typeface="宋体" pitchFamily="2" charset="-122"/>
              </a:rPr>
              <a:t>INSERT</a:t>
            </a:r>
            <a:endParaRPr lang="en-US" altLang="x-none" sz="2800" dirty="0">
              <a:latin typeface="Arial" panose="020B0604020202090204" pitchFamily="34" charset="0"/>
              <a:ea typeface="宋体" pitchFamily="2" charset="-122"/>
            </a:endParaRPr>
          </a:p>
          <a:p>
            <a:pPr>
              <a:lnSpc>
                <a:spcPct val="160000"/>
              </a:lnSpc>
              <a:spcBef>
                <a:spcPct val="20000"/>
              </a:spcBef>
            </a:pPr>
            <a:r>
              <a:rPr lang="en-US" altLang="x-none" sz="2800" dirty="0">
                <a:latin typeface="Arial" panose="020B0604020202090204" pitchFamily="34" charset="0"/>
                <a:ea typeface="宋体" pitchFamily="2" charset="-122"/>
              </a:rPr>
              <a:t>INTO  tabname </a:t>
            </a:r>
            <a:r>
              <a:rPr lang="en-US" altLang="x-none" sz="2800" dirty="0">
                <a:solidFill>
                  <a:srgbClr val="FF0000"/>
                </a:solidFill>
                <a:latin typeface="Arial" panose="020B0604020202090204" pitchFamily="34" charset="0"/>
                <a:ea typeface="宋体" pitchFamily="2" charset="-122"/>
              </a:rPr>
              <a:t>[</a:t>
            </a:r>
            <a:r>
              <a:rPr lang="en-US" altLang="x-none" sz="2800" dirty="0">
                <a:latin typeface="Arial" panose="020B0604020202090204" pitchFamily="34" charset="0"/>
                <a:ea typeface="宋体" pitchFamily="2" charset="-122"/>
              </a:rPr>
              <a:t> ( colname </a:t>
            </a:r>
            <a:r>
              <a:rPr lang="en-US" altLang="x-none" sz="2800" dirty="0">
                <a:solidFill>
                  <a:srgbClr val="FF0000"/>
                </a:solidFill>
                <a:latin typeface="Arial" panose="020B0604020202090204" pitchFamily="34" charset="0"/>
                <a:ea typeface="宋体" pitchFamily="2" charset="-122"/>
              </a:rPr>
              <a:t>{ </a:t>
            </a:r>
            <a:r>
              <a:rPr lang="en-US" altLang="x-none" sz="2800" dirty="0">
                <a:latin typeface="Arial" panose="020B0604020202090204" pitchFamily="34" charset="0"/>
                <a:ea typeface="宋体" pitchFamily="2" charset="-122"/>
              </a:rPr>
              <a:t>, colname … </a:t>
            </a:r>
            <a:r>
              <a:rPr lang="en-US" altLang="x-none" sz="2800" dirty="0">
                <a:solidFill>
                  <a:srgbClr val="FF0000"/>
                </a:solidFill>
                <a:latin typeface="Arial" panose="020B0604020202090204" pitchFamily="34" charset="0"/>
                <a:ea typeface="宋体" pitchFamily="2" charset="-122"/>
              </a:rPr>
              <a:t>}</a:t>
            </a:r>
            <a:r>
              <a:rPr lang="en-US" altLang="x-none" sz="2800" dirty="0">
                <a:latin typeface="Arial" panose="020B0604020202090204" pitchFamily="34" charset="0"/>
                <a:ea typeface="宋体" pitchFamily="2" charset="-122"/>
              </a:rPr>
              <a:t> ) </a:t>
            </a:r>
            <a:r>
              <a:rPr lang="en-US" altLang="x-none" sz="2800" dirty="0">
                <a:solidFill>
                  <a:srgbClr val="FF0000"/>
                </a:solidFill>
                <a:latin typeface="Arial" panose="020B0604020202090204" pitchFamily="34" charset="0"/>
                <a:ea typeface="宋体" pitchFamily="2" charset="-122"/>
              </a:rPr>
              <a:t>]</a:t>
            </a:r>
            <a:endParaRPr lang="en-US" altLang="x-none" sz="2800" dirty="0">
              <a:solidFill>
                <a:srgbClr val="FF0000"/>
              </a:solidFill>
              <a:latin typeface="Arial" panose="020B0604020202090204" pitchFamily="34" charset="0"/>
              <a:ea typeface="宋体" pitchFamily="2" charset="-122"/>
            </a:endParaRPr>
          </a:p>
          <a:p>
            <a:pPr>
              <a:lnSpc>
                <a:spcPct val="160000"/>
              </a:lnSpc>
              <a:spcBef>
                <a:spcPct val="20000"/>
              </a:spcBef>
            </a:pPr>
            <a:r>
              <a:rPr lang="en-US" altLang="x-none" sz="2800" dirty="0">
                <a:latin typeface="Arial" panose="020B0604020202090204" pitchFamily="34" charset="0"/>
                <a:ea typeface="宋体" pitchFamily="2" charset="-122"/>
              </a:rPr>
              <a:t>VALUES  ( expr</a:t>
            </a:r>
            <a:r>
              <a:rPr lang="en-US" altLang="x-none" sz="2800" dirty="0">
                <a:solidFill>
                  <a:srgbClr val="FF0000"/>
                </a:solidFill>
                <a:latin typeface="Arial" panose="020B0604020202090204" pitchFamily="34" charset="0"/>
                <a:ea typeface="宋体" pitchFamily="2" charset="-122"/>
              </a:rPr>
              <a:t> |</a:t>
            </a:r>
            <a:r>
              <a:rPr lang="en-US" altLang="x-none" sz="2800" dirty="0">
                <a:latin typeface="Arial" panose="020B0604020202090204" pitchFamily="34" charset="0"/>
                <a:ea typeface="宋体" pitchFamily="2" charset="-122"/>
              </a:rPr>
              <a:t> NULL </a:t>
            </a:r>
            <a:r>
              <a:rPr lang="en-US" altLang="x-none" sz="2800" dirty="0">
                <a:solidFill>
                  <a:srgbClr val="FF0000"/>
                </a:solidFill>
                <a:latin typeface="Arial" panose="020B0604020202090204" pitchFamily="34" charset="0"/>
                <a:ea typeface="宋体" pitchFamily="2" charset="-122"/>
              </a:rPr>
              <a:t>{</a:t>
            </a:r>
            <a:r>
              <a:rPr lang="en-US" altLang="x-none" sz="2800" dirty="0">
                <a:latin typeface="Arial" panose="020B0604020202090204" pitchFamily="34" charset="0"/>
                <a:ea typeface="宋体" pitchFamily="2" charset="-122"/>
              </a:rPr>
              <a:t> , expr</a:t>
            </a:r>
            <a:r>
              <a:rPr lang="en-US" altLang="x-none" sz="2800" dirty="0">
                <a:solidFill>
                  <a:srgbClr val="FF0000"/>
                </a:solidFill>
                <a:latin typeface="Arial" panose="020B0604020202090204" pitchFamily="34" charset="0"/>
                <a:ea typeface="宋体" pitchFamily="2" charset="-122"/>
              </a:rPr>
              <a:t> |</a:t>
            </a:r>
            <a:r>
              <a:rPr lang="en-US" altLang="x-none" sz="2800" dirty="0">
                <a:latin typeface="Arial" panose="020B0604020202090204" pitchFamily="34" charset="0"/>
                <a:ea typeface="宋体" pitchFamily="2" charset="-122"/>
              </a:rPr>
              <a:t> NULL … </a:t>
            </a:r>
            <a:r>
              <a:rPr lang="en-US" altLang="x-none" sz="2800" dirty="0">
                <a:solidFill>
                  <a:srgbClr val="FF0000"/>
                </a:solidFill>
                <a:latin typeface="Arial" panose="020B0604020202090204" pitchFamily="34" charset="0"/>
                <a:ea typeface="宋体" pitchFamily="2" charset="-122"/>
              </a:rPr>
              <a:t>}</a:t>
            </a:r>
            <a:r>
              <a:rPr lang="en-US" altLang="x-none" sz="2800" dirty="0">
                <a:latin typeface="Arial" panose="020B0604020202090204" pitchFamily="34" charset="0"/>
                <a:ea typeface="宋体" pitchFamily="2" charset="-122"/>
              </a:rPr>
              <a:t> ) </a:t>
            </a:r>
            <a:r>
              <a:rPr lang="en-US" altLang="x-none" sz="2800" dirty="0">
                <a:solidFill>
                  <a:srgbClr val="FF0000"/>
                </a:solidFill>
                <a:latin typeface="Arial" panose="020B0604020202090204" pitchFamily="34" charset="0"/>
                <a:ea typeface="宋体" pitchFamily="2" charset="-122"/>
              </a:rPr>
              <a:t>|</a:t>
            </a:r>
            <a:r>
              <a:rPr lang="en-US" altLang="x-none" sz="2800" dirty="0">
                <a:latin typeface="Arial" panose="020B0604020202090204" pitchFamily="34" charset="0"/>
                <a:ea typeface="宋体" pitchFamily="2" charset="-122"/>
              </a:rPr>
              <a:t> subquery;</a:t>
            </a:r>
            <a:endParaRPr lang="en-US" altLang="x-none" sz="2800" dirty="0">
              <a:latin typeface="Arial" panose="020B0604020202090204" pitchFamily="34" charset="0"/>
              <a:ea typeface="宋体" pitchFamily="2" charset="-122"/>
            </a:endParaRPr>
          </a:p>
        </p:txBody>
      </p:sp>
      <p:sp>
        <p:nvSpPr>
          <p:cNvPr id="122885" name="Rectangle 4"/>
          <p:cNvSpPr>
            <a:spLocks noGrp="1"/>
          </p:cNvSpPr>
          <p:nvPr>
            <p:ph type="title"/>
          </p:nvPr>
        </p:nvSpPr>
        <p:spPr/>
        <p:txBody>
          <a:bodyPr wrap="square" anchor="ctr"/>
          <a:p>
            <a:pPr eaLnBrk="1" hangingPunct="1"/>
            <a:r>
              <a:rPr lang="zh-CN" altLang="en-US" dirty="0">
                <a:sym typeface="+mn-ea"/>
              </a:rPr>
              <a:t>插入元组 </a:t>
            </a:r>
            <a:r>
              <a:rPr lang="en-US" altLang="zh-CN" dirty="0">
                <a:sym typeface="+mn-ea"/>
              </a:rPr>
              <a:t>2</a:t>
            </a:r>
            <a:endParaRPr lang="en-US" altLang="zh-CN" dirty="0">
              <a:sym typeface="+mn-ea"/>
            </a:endParaRPr>
          </a:p>
        </p:txBody>
      </p:sp>
      <p:grpSp>
        <p:nvGrpSpPr>
          <p:cNvPr id="119815" name="组合 119814"/>
          <p:cNvGrpSpPr/>
          <p:nvPr/>
        </p:nvGrpSpPr>
        <p:grpSpPr>
          <a:xfrm>
            <a:off x="2232025" y="614229"/>
            <a:ext cx="8567738" cy="2544261"/>
            <a:chOff x="-1094" y="-18"/>
            <a:chExt cx="5397" cy="1544"/>
          </a:xfrm>
        </p:grpSpPr>
        <p:sp>
          <p:nvSpPr>
            <p:cNvPr id="122887" name="Line 6"/>
            <p:cNvSpPr/>
            <p:nvPr/>
          </p:nvSpPr>
          <p:spPr>
            <a:xfrm flipV="1">
              <a:off x="48" y="1430"/>
              <a:ext cx="2448" cy="0"/>
            </a:xfrm>
            <a:prstGeom prst="line">
              <a:avLst/>
            </a:prstGeom>
            <a:ln w="38100" cap="flat" cmpd="sng">
              <a:solidFill>
                <a:schemeClr val="accent2"/>
              </a:solidFill>
              <a:prstDash val="solid"/>
              <a:round/>
              <a:headEnd type="none" w="med" len="med"/>
              <a:tailEnd type="none" w="med" len="med"/>
            </a:ln>
          </p:spPr>
          <p:txBody>
            <a:bodyPr anchor="t"/>
            <a:p>
              <a:pPr algn="ctr"/>
              <a:endParaRPr lang="zh-CN" altLang="en-US">
                <a:latin typeface="Times New Roman" panose="02020503050405090304" charset="0"/>
                <a:ea typeface="宋体" pitchFamily="2" charset="-122"/>
              </a:endParaRPr>
            </a:p>
          </p:txBody>
        </p:sp>
        <p:sp>
          <p:nvSpPr>
            <p:cNvPr id="122888" name="Line 7"/>
            <p:cNvSpPr/>
            <p:nvPr/>
          </p:nvSpPr>
          <p:spPr>
            <a:xfrm>
              <a:off x="2256" y="1430"/>
              <a:ext cx="0" cy="96"/>
            </a:xfrm>
            <a:prstGeom prst="line">
              <a:avLst/>
            </a:prstGeom>
            <a:ln w="38100" cap="flat" cmpd="sng">
              <a:solidFill>
                <a:schemeClr val="accent2"/>
              </a:solidFill>
              <a:prstDash val="solid"/>
              <a:round/>
              <a:headEnd type="none" w="med" len="med"/>
              <a:tailEnd type="none" w="med" len="med"/>
            </a:ln>
          </p:spPr>
          <p:txBody>
            <a:bodyPr anchor="t"/>
            <a:p>
              <a:pPr algn="ctr"/>
              <a:endParaRPr lang="zh-CN" altLang="en-US">
                <a:latin typeface="Times New Roman" panose="02020503050405090304" charset="0"/>
                <a:ea typeface="宋体" pitchFamily="2" charset="-122"/>
              </a:endParaRPr>
            </a:p>
          </p:txBody>
        </p:sp>
        <p:sp>
          <p:nvSpPr>
            <p:cNvPr id="122889" name="Line 8"/>
            <p:cNvSpPr/>
            <p:nvPr/>
          </p:nvSpPr>
          <p:spPr>
            <a:xfrm flipH="1">
              <a:off x="2640" y="518"/>
              <a:ext cx="336" cy="1008"/>
            </a:xfrm>
            <a:prstGeom prst="line">
              <a:avLst/>
            </a:prstGeom>
            <a:ln w="38100" cap="flat" cmpd="sng">
              <a:solidFill>
                <a:schemeClr val="accent2"/>
              </a:solidFill>
              <a:prstDash val="solid"/>
              <a:round/>
              <a:headEnd type="arrow" w="med" len="med"/>
              <a:tailEnd type="none" w="med" len="med"/>
            </a:ln>
          </p:spPr>
          <p:txBody>
            <a:bodyPr anchor="t"/>
            <a:p>
              <a:pPr algn="ctr"/>
              <a:endParaRPr lang="zh-CN" altLang="en-US">
                <a:latin typeface="Times New Roman" panose="02020503050405090304" charset="0"/>
                <a:ea typeface="宋体" pitchFamily="2" charset="-122"/>
              </a:endParaRPr>
            </a:p>
          </p:txBody>
        </p:sp>
        <p:sp>
          <p:nvSpPr>
            <p:cNvPr id="122890" name="Line 9"/>
            <p:cNvSpPr/>
            <p:nvPr/>
          </p:nvSpPr>
          <p:spPr>
            <a:xfrm flipV="1">
              <a:off x="2256" y="1526"/>
              <a:ext cx="384" cy="0"/>
            </a:xfrm>
            <a:prstGeom prst="line">
              <a:avLst/>
            </a:prstGeom>
            <a:ln w="38100" cap="flat" cmpd="sng">
              <a:solidFill>
                <a:schemeClr val="accent2"/>
              </a:solidFill>
              <a:prstDash val="solid"/>
              <a:round/>
              <a:headEnd type="none" w="med" len="med"/>
              <a:tailEnd type="none" w="med" len="med"/>
            </a:ln>
          </p:spPr>
          <p:txBody>
            <a:bodyPr anchor="t"/>
            <a:p>
              <a:pPr algn="ctr"/>
              <a:endParaRPr lang="zh-CN" altLang="en-US">
                <a:latin typeface="Times New Roman" panose="02020503050405090304" charset="0"/>
                <a:ea typeface="宋体" pitchFamily="2" charset="-122"/>
              </a:endParaRPr>
            </a:p>
          </p:txBody>
        </p:sp>
        <p:sp>
          <p:nvSpPr>
            <p:cNvPr id="122891" name="Text Box 10"/>
            <p:cNvSpPr txBox="1"/>
            <p:nvPr/>
          </p:nvSpPr>
          <p:spPr>
            <a:xfrm>
              <a:off x="-1094" y="-18"/>
              <a:ext cx="5397" cy="504"/>
            </a:xfrm>
            <a:prstGeom prst="rect">
              <a:avLst/>
            </a:prstGeom>
            <a:noFill/>
            <a:ln w="9525" cap="flat" cmpd="sng">
              <a:solidFill>
                <a:schemeClr val="accent2"/>
              </a:solidFill>
              <a:prstDash val="solid"/>
              <a:miter/>
              <a:headEnd type="none" w="med" len="med"/>
              <a:tailEnd type="none" w="med" len="med"/>
            </a:ln>
          </p:spPr>
          <p:txBody>
            <a:bodyPr wrap="square" anchor="t">
              <a:spAutoFit/>
            </a:bodyPr>
            <a:p>
              <a:pPr>
                <a:spcBef>
                  <a:spcPct val="50000"/>
                </a:spcBef>
              </a:pPr>
              <a:r>
                <a:rPr lang="zh-CN" altLang="en-US" sz="2400" dirty="0">
                  <a:latin typeface="+mn-lt"/>
                  <a:ea typeface="楷体" charset="-122"/>
                </a:rPr>
                <a:t>属性名列表可以被省略。在此情况下，属性的排列顺序采用基表定义中的顺序</a:t>
              </a:r>
              <a:endParaRPr lang="zh-CN" altLang="en-US" sz="2400" dirty="0">
                <a:latin typeface="+mn-lt"/>
                <a:ea typeface="楷体" charset="-122"/>
              </a:endParaRPr>
            </a:p>
          </p:txBody>
        </p:sp>
      </p:grpSp>
      <p:grpSp>
        <p:nvGrpSpPr>
          <p:cNvPr id="119821" name="组合 119820"/>
          <p:cNvGrpSpPr/>
          <p:nvPr/>
        </p:nvGrpSpPr>
        <p:grpSpPr>
          <a:xfrm>
            <a:off x="922020" y="3810000"/>
            <a:ext cx="3733800" cy="905657"/>
            <a:chOff x="0" y="0"/>
            <a:chExt cx="2352" cy="488"/>
          </a:xfrm>
        </p:grpSpPr>
        <p:sp>
          <p:nvSpPr>
            <p:cNvPr id="122893" name="Line 12"/>
            <p:cNvSpPr/>
            <p:nvPr/>
          </p:nvSpPr>
          <p:spPr>
            <a:xfrm flipV="1">
              <a:off x="1296" y="0"/>
              <a:ext cx="1056" cy="0"/>
            </a:xfrm>
            <a:prstGeom prst="line">
              <a:avLst/>
            </a:prstGeom>
            <a:ln w="38100" cap="flat" cmpd="sng">
              <a:solidFill>
                <a:schemeClr val="accent2"/>
              </a:solidFill>
              <a:prstDash val="solid"/>
              <a:round/>
              <a:headEnd type="none" w="med" len="med"/>
              <a:tailEnd type="none" w="med" len="med"/>
            </a:ln>
          </p:spPr>
          <p:txBody>
            <a:bodyPr anchor="t"/>
            <a:p>
              <a:pPr algn="ctr"/>
              <a:endParaRPr lang="zh-CN" altLang="en-US">
                <a:latin typeface="Times New Roman" panose="02020503050405090304" charset="0"/>
                <a:ea typeface="宋体" pitchFamily="2" charset="-122"/>
              </a:endParaRPr>
            </a:p>
          </p:txBody>
        </p:sp>
        <p:sp>
          <p:nvSpPr>
            <p:cNvPr id="122894" name="Line 13"/>
            <p:cNvSpPr/>
            <p:nvPr/>
          </p:nvSpPr>
          <p:spPr>
            <a:xfrm flipV="1">
              <a:off x="1344" y="0"/>
              <a:ext cx="384" cy="240"/>
            </a:xfrm>
            <a:prstGeom prst="line">
              <a:avLst/>
            </a:prstGeom>
            <a:ln w="38100" cap="flat" cmpd="sng">
              <a:solidFill>
                <a:schemeClr val="accent2"/>
              </a:solidFill>
              <a:prstDash val="solid"/>
              <a:round/>
              <a:headEnd type="arrow" w="med" len="med"/>
              <a:tailEnd type="none" w="med" len="med"/>
            </a:ln>
          </p:spPr>
          <p:txBody>
            <a:bodyPr anchor="t"/>
            <a:p>
              <a:pPr algn="ctr"/>
              <a:endParaRPr lang="zh-CN" altLang="en-US">
                <a:latin typeface="Times New Roman" panose="02020503050405090304" charset="0"/>
                <a:ea typeface="宋体" pitchFamily="2" charset="-122"/>
              </a:endParaRPr>
            </a:p>
          </p:txBody>
        </p:sp>
        <p:sp>
          <p:nvSpPr>
            <p:cNvPr id="122895" name="Text Box 14"/>
            <p:cNvSpPr txBox="1"/>
            <p:nvPr/>
          </p:nvSpPr>
          <p:spPr>
            <a:xfrm>
              <a:off x="0" y="240"/>
              <a:ext cx="2256" cy="248"/>
            </a:xfrm>
            <a:prstGeom prst="rect">
              <a:avLst/>
            </a:prstGeom>
            <a:noFill/>
            <a:ln w="9525" cap="flat" cmpd="sng">
              <a:solidFill>
                <a:schemeClr val="accent2"/>
              </a:solidFill>
              <a:prstDash val="solid"/>
              <a:miter/>
              <a:headEnd type="none" w="med" len="med"/>
              <a:tailEnd type="none" w="med" len="med"/>
            </a:ln>
          </p:spPr>
          <p:txBody>
            <a:bodyPr anchor="t">
              <a:spAutoFit/>
            </a:bodyPr>
            <a:p>
              <a:pPr>
                <a:spcBef>
                  <a:spcPct val="50000"/>
                </a:spcBef>
              </a:pPr>
              <a:r>
                <a:rPr lang="zh-CN" altLang="en-US" sz="2400" dirty="0">
                  <a:latin typeface="+mn-lt"/>
                  <a:ea typeface="楷体" charset="-122"/>
                  <a:cs typeface="+mn-lt"/>
                </a:rPr>
                <a:t>属性值，</a:t>
              </a:r>
              <a:r>
                <a:rPr lang="en-US" altLang="x-none" sz="2400" dirty="0">
                  <a:latin typeface="+mn-lt"/>
                  <a:ea typeface="楷体" charset="-122"/>
                  <a:cs typeface="+mn-lt"/>
                </a:rPr>
                <a:t>NULL</a:t>
              </a:r>
              <a:r>
                <a:rPr lang="zh-CN" altLang="en-US" sz="2400" dirty="0">
                  <a:latin typeface="+mn-lt"/>
                  <a:ea typeface="楷体" charset="-122"/>
                  <a:cs typeface="+mn-lt"/>
                </a:rPr>
                <a:t>表示空值</a:t>
              </a:r>
              <a:endParaRPr lang="zh-CN" altLang="en-US" sz="2400" dirty="0">
                <a:latin typeface="+mn-lt"/>
                <a:ea typeface="楷体" charset="-122"/>
                <a:cs typeface="+mn-lt"/>
              </a:endParaRPr>
            </a:p>
          </p:txBody>
        </p:sp>
      </p:grpSp>
      <p:grpSp>
        <p:nvGrpSpPr>
          <p:cNvPr id="119825" name="组合 119824"/>
          <p:cNvGrpSpPr/>
          <p:nvPr/>
        </p:nvGrpSpPr>
        <p:grpSpPr>
          <a:xfrm>
            <a:off x="3177540" y="3883025"/>
            <a:ext cx="8281988" cy="1236663"/>
            <a:chOff x="0" y="0"/>
            <a:chExt cx="5217" cy="779"/>
          </a:xfrm>
        </p:grpSpPr>
        <p:sp>
          <p:nvSpPr>
            <p:cNvPr id="122897" name="Line 16"/>
            <p:cNvSpPr/>
            <p:nvPr/>
          </p:nvSpPr>
          <p:spPr>
            <a:xfrm flipV="1">
              <a:off x="0" y="0"/>
              <a:ext cx="2880" cy="16"/>
            </a:xfrm>
            <a:prstGeom prst="line">
              <a:avLst/>
            </a:prstGeom>
            <a:ln w="38100" cap="flat" cmpd="sng">
              <a:solidFill>
                <a:schemeClr val="accent2"/>
              </a:solidFill>
              <a:prstDash val="solid"/>
              <a:round/>
              <a:headEnd type="none" w="med" len="med"/>
              <a:tailEnd type="none" w="med" len="med"/>
            </a:ln>
          </p:spPr>
          <p:txBody>
            <a:bodyPr anchor="t"/>
            <a:p>
              <a:pPr algn="ctr"/>
              <a:endParaRPr lang="zh-CN" altLang="en-US">
                <a:latin typeface="Times New Roman" panose="02020503050405090304" charset="0"/>
                <a:ea typeface="宋体" pitchFamily="2" charset="-122"/>
              </a:endParaRPr>
            </a:p>
          </p:txBody>
        </p:sp>
        <p:sp>
          <p:nvSpPr>
            <p:cNvPr id="122898" name="Line 17"/>
            <p:cNvSpPr/>
            <p:nvPr/>
          </p:nvSpPr>
          <p:spPr>
            <a:xfrm flipH="1" flipV="1">
              <a:off x="1488" y="0"/>
              <a:ext cx="432" cy="256"/>
            </a:xfrm>
            <a:prstGeom prst="line">
              <a:avLst/>
            </a:prstGeom>
            <a:ln w="38100" cap="flat" cmpd="sng">
              <a:solidFill>
                <a:schemeClr val="accent2"/>
              </a:solidFill>
              <a:prstDash val="solid"/>
              <a:round/>
              <a:headEnd type="arrow" w="med" len="med"/>
              <a:tailEnd type="none" w="med" len="med"/>
            </a:ln>
          </p:spPr>
          <p:txBody>
            <a:bodyPr anchor="t"/>
            <a:p>
              <a:pPr algn="ctr"/>
              <a:endParaRPr lang="zh-CN" altLang="en-US">
                <a:latin typeface="Times New Roman" panose="02020503050405090304" charset="0"/>
                <a:ea typeface="宋体" pitchFamily="2" charset="-122"/>
              </a:endParaRPr>
            </a:p>
          </p:txBody>
        </p:sp>
        <p:sp>
          <p:nvSpPr>
            <p:cNvPr id="122899" name="Text Box 18"/>
            <p:cNvSpPr txBox="1"/>
            <p:nvPr/>
          </p:nvSpPr>
          <p:spPr>
            <a:xfrm>
              <a:off x="1248" y="256"/>
              <a:ext cx="3969" cy="523"/>
            </a:xfrm>
            <a:prstGeom prst="rect">
              <a:avLst/>
            </a:prstGeom>
            <a:noFill/>
            <a:ln w="9525" cap="flat" cmpd="sng">
              <a:solidFill>
                <a:schemeClr val="accent2"/>
              </a:solidFill>
              <a:prstDash val="solid"/>
              <a:miter/>
              <a:headEnd type="none" w="med" len="med"/>
              <a:tailEnd type="none" w="med" len="med"/>
            </a:ln>
          </p:spPr>
          <p:txBody>
            <a:bodyPr wrap="square" anchor="t">
              <a:spAutoFit/>
            </a:bodyPr>
            <a:p>
              <a:pPr>
                <a:spcBef>
                  <a:spcPct val="50000"/>
                </a:spcBef>
              </a:pPr>
              <a:r>
                <a:rPr lang="zh-CN" altLang="en-US" sz="2400" dirty="0">
                  <a:latin typeface="+mn-lt"/>
                  <a:ea typeface="楷体" charset="-122"/>
                  <a:cs typeface="+mn-lt"/>
                </a:rPr>
                <a:t>被插入的常量元组值。其中属性值的数量及其排列顺序必须与</a:t>
              </a:r>
              <a:r>
                <a:rPr lang="en-US" altLang="x-none" sz="2400" dirty="0">
                  <a:latin typeface="+mn-lt"/>
                  <a:ea typeface="楷体" charset="-122"/>
                  <a:cs typeface="+mn-lt"/>
                </a:rPr>
                <a:t>INTO</a:t>
              </a:r>
              <a:r>
                <a:rPr lang="zh-CN" altLang="en-US" sz="2400" dirty="0">
                  <a:latin typeface="+mn-lt"/>
                  <a:ea typeface="楷体" charset="-122"/>
                  <a:cs typeface="+mn-lt"/>
                </a:rPr>
                <a:t>子句中的属性名列表一致</a:t>
              </a:r>
              <a:endParaRPr lang="zh-CN" altLang="en-US" sz="2400" dirty="0">
                <a:latin typeface="+mn-lt"/>
                <a:ea typeface="楷体" charset="-122"/>
                <a:cs typeface="+mn-lt"/>
              </a:endParaRPr>
            </a:p>
          </p:txBody>
        </p:sp>
      </p:grpSp>
      <p:grpSp>
        <p:nvGrpSpPr>
          <p:cNvPr id="119829" name="组合 119828"/>
          <p:cNvGrpSpPr/>
          <p:nvPr/>
        </p:nvGrpSpPr>
        <p:grpSpPr>
          <a:xfrm>
            <a:off x="845820" y="3825298"/>
            <a:ext cx="7229475" cy="2251513"/>
            <a:chOff x="0" y="56"/>
            <a:chExt cx="4554" cy="1378"/>
          </a:xfrm>
        </p:grpSpPr>
        <p:sp>
          <p:nvSpPr>
            <p:cNvPr id="122901" name="Line 20"/>
            <p:cNvSpPr/>
            <p:nvPr/>
          </p:nvSpPr>
          <p:spPr>
            <a:xfrm flipV="1">
              <a:off x="192" y="56"/>
              <a:ext cx="4362" cy="13"/>
            </a:xfrm>
            <a:prstGeom prst="line">
              <a:avLst/>
            </a:prstGeom>
            <a:ln w="38100" cap="flat" cmpd="sng">
              <a:solidFill>
                <a:srgbClr val="FF0000"/>
              </a:solidFill>
              <a:prstDash val="solid"/>
              <a:round/>
              <a:headEnd type="none" w="med" len="med"/>
              <a:tailEnd type="none" w="med" len="med"/>
            </a:ln>
          </p:spPr>
          <p:txBody>
            <a:bodyPr anchor="t"/>
            <a:p>
              <a:pPr algn="ctr"/>
              <a:endParaRPr lang="zh-CN" altLang="en-US">
                <a:latin typeface="Times New Roman" panose="02020503050405090304" charset="0"/>
                <a:ea typeface="宋体" pitchFamily="2" charset="-122"/>
              </a:endParaRPr>
            </a:p>
          </p:txBody>
        </p:sp>
        <p:sp>
          <p:nvSpPr>
            <p:cNvPr id="122902" name="Line 21"/>
            <p:cNvSpPr/>
            <p:nvPr/>
          </p:nvSpPr>
          <p:spPr>
            <a:xfrm flipV="1">
              <a:off x="844" y="73"/>
              <a:ext cx="19" cy="1079"/>
            </a:xfrm>
            <a:prstGeom prst="line">
              <a:avLst/>
            </a:prstGeom>
            <a:ln w="38100" cap="flat" cmpd="sng">
              <a:solidFill>
                <a:srgbClr val="FF0000"/>
              </a:solidFill>
              <a:prstDash val="solid"/>
              <a:round/>
              <a:headEnd type="arrow" w="med" len="med"/>
              <a:tailEnd type="none" w="med" len="med"/>
            </a:ln>
          </p:spPr>
          <p:txBody>
            <a:bodyPr anchor="t"/>
            <a:p>
              <a:pPr algn="ctr"/>
              <a:endParaRPr lang="zh-CN" altLang="en-US">
                <a:latin typeface="Times New Roman" panose="02020503050405090304" charset="0"/>
                <a:ea typeface="宋体" pitchFamily="2" charset="-122"/>
              </a:endParaRPr>
            </a:p>
          </p:txBody>
        </p:sp>
        <p:sp>
          <p:nvSpPr>
            <p:cNvPr id="122903" name="Text Box 22"/>
            <p:cNvSpPr txBox="1"/>
            <p:nvPr/>
          </p:nvSpPr>
          <p:spPr>
            <a:xfrm>
              <a:off x="0" y="1152"/>
              <a:ext cx="1680" cy="282"/>
            </a:xfrm>
            <a:prstGeom prst="rect">
              <a:avLst/>
            </a:prstGeom>
            <a:noFill/>
            <a:ln w="9525" cap="flat" cmpd="sng">
              <a:solidFill>
                <a:srgbClr val="FF0000"/>
              </a:solidFill>
              <a:prstDash val="solid"/>
              <a:miter/>
              <a:headEnd type="none" w="med" len="med"/>
              <a:tailEnd type="none" w="med" len="med"/>
            </a:ln>
          </p:spPr>
          <p:txBody>
            <a:bodyPr anchor="t">
              <a:spAutoFit/>
            </a:bodyPr>
            <a:p>
              <a:pPr>
                <a:spcBef>
                  <a:spcPct val="50000"/>
                </a:spcBef>
              </a:pPr>
              <a:r>
                <a:rPr lang="zh-CN" altLang="en-US" sz="2400" dirty="0">
                  <a:latin typeface="+mn-lt"/>
                  <a:ea typeface="楷体" charset="-122"/>
                </a:rPr>
                <a:t>插入单个常量元组</a:t>
              </a:r>
              <a:endParaRPr lang="zh-CN" altLang="en-US" sz="2400" dirty="0">
                <a:latin typeface="+mn-lt"/>
                <a:ea typeface="楷体" charset="-122"/>
              </a:endParaRPr>
            </a:p>
          </p:txBody>
        </p:sp>
      </p:grpSp>
      <p:grpSp>
        <p:nvGrpSpPr>
          <p:cNvPr id="119833" name="组合 119832"/>
          <p:cNvGrpSpPr/>
          <p:nvPr/>
        </p:nvGrpSpPr>
        <p:grpSpPr>
          <a:xfrm>
            <a:off x="5199698" y="3733800"/>
            <a:ext cx="6278563" cy="3027363"/>
            <a:chOff x="285" y="0"/>
            <a:chExt cx="3955" cy="1907"/>
          </a:xfrm>
        </p:grpSpPr>
        <p:sp>
          <p:nvSpPr>
            <p:cNvPr id="122905" name="Line 24"/>
            <p:cNvSpPr/>
            <p:nvPr/>
          </p:nvSpPr>
          <p:spPr>
            <a:xfrm flipV="1">
              <a:off x="2304" y="0"/>
              <a:ext cx="816" cy="0"/>
            </a:xfrm>
            <a:prstGeom prst="line">
              <a:avLst/>
            </a:prstGeom>
            <a:ln w="38100" cap="flat" cmpd="sng">
              <a:solidFill>
                <a:srgbClr val="FF0000"/>
              </a:solidFill>
              <a:prstDash val="solid"/>
              <a:round/>
              <a:headEnd type="none" w="med" len="med"/>
              <a:tailEnd type="none" w="med" len="med"/>
            </a:ln>
          </p:spPr>
          <p:txBody>
            <a:bodyPr anchor="t"/>
            <a:p>
              <a:pPr algn="ctr"/>
              <a:endParaRPr lang="zh-CN" altLang="en-US">
                <a:latin typeface="Times New Roman" panose="02020503050405090304" charset="0"/>
                <a:ea typeface="宋体" pitchFamily="2" charset="-122"/>
              </a:endParaRPr>
            </a:p>
          </p:txBody>
        </p:sp>
        <p:sp>
          <p:nvSpPr>
            <p:cNvPr id="122906" name="Line 25"/>
            <p:cNvSpPr/>
            <p:nvPr/>
          </p:nvSpPr>
          <p:spPr>
            <a:xfrm flipH="1" flipV="1">
              <a:off x="2640" y="0"/>
              <a:ext cx="0" cy="1152"/>
            </a:xfrm>
            <a:prstGeom prst="line">
              <a:avLst/>
            </a:prstGeom>
            <a:ln w="38100" cap="flat" cmpd="sng">
              <a:solidFill>
                <a:srgbClr val="FF0000"/>
              </a:solidFill>
              <a:prstDash val="solid"/>
              <a:round/>
              <a:headEnd type="arrow" w="med" len="med"/>
              <a:tailEnd type="none" w="med" len="med"/>
            </a:ln>
          </p:spPr>
          <p:txBody>
            <a:bodyPr anchor="t"/>
            <a:p>
              <a:pPr algn="ctr"/>
              <a:endParaRPr lang="zh-CN" altLang="en-US">
                <a:latin typeface="Times New Roman" panose="02020503050405090304" charset="0"/>
                <a:ea typeface="宋体" pitchFamily="2" charset="-122"/>
              </a:endParaRPr>
            </a:p>
          </p:txBody>
        </p:sp>
        <p:sp>
          <p:nvSpPr>
            <p:cNvPr id="122907" name="Text Box 26"/>
            <p:cNvSpPr txBox="1"/>
            <p:nvPr/>
          </p:nvSpPr>
          <p:spPr>
            <a:xfrm>
              <a:off x="285" y="1152"/>
              <a:ext cx="3955" cy="755"/>
            </a:xfrm>
            <a:prstGeom prst="rect">
              <a:avLst/>
            </a:prstGeom>
            <a:noFill/>
            <a:ln w="9525" cap="flat" cmpd="sng">
              <a:solidFill>
                <a:srgbClr val="FF0000"/>
              </a:solidFill>
              <a:prstDash val="solid"/>
              <a:miter/>
              <a:headEnd type="none" w="med" len="med"/>
              <a:tailEnd type="none" w="med" len="med"/>
            </a:ln>
          </p:spPr>
          <p:txBody>
            <a:bodyPr wrap="square" anchor="t">
              <a:spAutoFit/>
            </a:bodyPr>
            <a:p>
              <a:pPr>
                <a:spcBef>
                  <a:spcPct val="50000"/>
                </a:spcBef>
              </a:pPr>
              <a:r>
                <a:rPr lang="zh-CN" altLang="en-US" sz="2400" dirty="0">
                  <a:latin typeface="+mn-lt"/>
                  <a:ea typeface="楷体" charset="-122"/>
                  <a:cs typeface="+mn-lt"/>
                </a:rPr>
                <a:t>将子查询的查询结果插入到表</a:t>
              </a:r>
              <a:r>
                <a:rPr lang="en-US" altLang="x-none" sz="2400" dirty="0">
                  <a:latin typeface="+mn-lt"/>
                  <a:ea typeface="楷体" charset="-122"/>
                  <a:cs typeface="+mn-lt"/>
                </a:rPr>
                <a:t>tabname</a:t>
              </a:r>
              <a:r>
                <a:rPr lang="zh-CN" altLang="en-US" sz="2400" dirty="0">
                  <a:latin typeface="+mn-lt"/>
                  <a:ea typeface="楷体" charset="-122"/>
                  <a:cs typeface="+mn-lt"/>
                </a:rPr>
                <a:t>中。子查询结果属性的排列顺序必须与</a:t>
              </a:r>
              <a:r>
                <a:rPr lang="en-US" altLang="x-none" sz="2400" dirty="0">
                  <a:latin typeface="+mn-lt"/>
                  <a:ea typeface="楷体" charset="-122"/>
                  <a:cs typeface="+mn-lt"/>
                </a:rPr>
                <a:t>INTO</a:t>
              </a:r>
              <a:r>
                <a:rPr lang="zh-CN" altLang="en-US" sz="2400" dirty="0">
                  <a:latin typeface="+mn-lt"/>
                  <a:ea typeface="楷体" charset="-122"/>
                  <a:cs typeface="+mn-lt"/>
                </a:rPr>
                <a:t>子句中的顺序一致</a:t>
              </a:r>
              <a:endParaRPr lang="zh-CN" altLang="en-US" sz="2400" dirty="0">
                <a:latin typeface="+mn-lt"/>
                <a:ea typeface="楷体" charset="-122"/>
                <a:cs typeface="+mn-lt"/>
              </a:endParaRPr>
            </a:p>
          </p:txBody>
        </p:sp>
      </p:grpSp>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en-US" altLang="x-none" strike="noStrike" noProof="1" dirty="0">
                <a:latin typeface="Times New Roman" panose="02020503050405090304" charset="0"/>
                <a:ea typeface="宋体" pitchFamily="2" charset="-122"/>
                <a:cs typeface="+mn-ea"/>
              </a:rPr>
            </a:fld>
            <a:endParaRPr lang="en-US" altLang="x-none" strike="noStrike" noProof="1" dirty="0"/>
          </a:p>
        </p:txBody>
      </p:sp>
      <p:sp>
        <p:nvSpPr>
          <p:cNvPr id="4" name="页脚占位符 3"/>
          <p:cNvSpPr>
            <a:spLocks noGrp="1"/>
          </p:cNvSpPr>
          <p:nvPr>
            <p:ph type="ftr" sz="quarter" idx="11"/>
          </p:nvPr>
        </p:nvSpPr>
        <p:spPr/>
        <p:txBody>
          <a:bodyPr/>
          <a:p>
            <a:r>
              <a:rPr lang="zh-CN" altLang="en-US"/>
              <a:t>ch03_3_SQL数据更新</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9815"/>
                                        </p:tgtEl>
                                        <p:attrNameLst>
                                          <p:attrName>style.visibility</p:attrName>
                                        </p:attrNameLst>
                                      </p:cBhvr>
                                      <p:to>
                                        <p:strVal val="visible"/>
                                      </p:to>
                                    </p:set>
                                    <p:animEffect transition="in" filter="blinds(horizontal)">
                                      <p:cBhvr>
                                        <p:cTn id="7" dur="500"/>
                                        <p:tgtEl>
                                          <p:spTgt spid="119815"/>
                                        </p:tgtEl>
                                      </p:cBhvr>
                                    </p:animEffect>
                                  </p:childTnLst>
                                  <p:subTnLst>
                                    <p:set>
                                      <p:cBhvr override="childStyle">
                                        <p:cTn dur="1" fill="hold" display="0" masterRel="nextClick" afterEffect="1"/>
                                        <p:tgtEl>
                                          <p:spTgt spid="119815"/>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9821"/>
                                        </p:tgtEl>
                                        <p:attrNameLst>
                                          <p:attrName>style.visibility</p:attrName>
                                        </p:attrNameLst>
                                      </p:cBhvr>
                                      <p:to>
                                        <p:strVal val="visible"/>
                                      </p:to>
                                    </p:set>
                                    <p:animEffect transition="in" filter="blinds(horizontal)">
                                      <p:cBhvr>
                                        <p:cTn id="12" dur="500"/>
                                        <p:tgtEl>
                                          <p:spTgt spid="119821"/>
                                        </p:tgtEl>
                                      </p:cBhvr>
                                    </p:animEffect>
                                  </p:childTnLst>
                                  <p:subTnLst>
                                    <p:set>
                                      <p:cBhvr override="childStyle">
                                        <p:cTn dur="1" fill="hold" display="0" masterRel="nextClick" afterEffect="1"/>
                                        <p:tgtEl>
                                          <p:spTgt spid="119821"/>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19825"/>
                                        </p:tgtEl>
                                        <p:attrNameLst>
                                          <p:attrName>style.visibility</p:attrName>
                                        </p:attrNameLst>
                                      </p:cBhvr>
                                      <p:to>
                                        <p:strVal val="visible"/>
                                      </p:to>
                                    </p:set>
                                    <p:animEffect transition="in" filter="blinds(horizontal)">
                                      <p:cBhvr>
                                        <p:cTn id="17" dur="500"/>
                                        <p:tgtEl>
                                          <p:spTgt spid="119825"/>
                                        </p:tgtEl>
                                      </p:cBhvr>
                                    </p:animEffect>
                                  </p:childTnLst>
                                  <p:subTnLst>
                                    <p:set>
                                      <p:cBhvr override="childStyle">
                                        <p:cTn dur="1" fill="hold" display="0" masterRel="nextClick" afterEffect="1"/>
                                        <p:tgtEl>
                                          <p:spTgt spid="119825"/>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2" presetClass="entr" presetSubtype="12" fill="hold" nodeType="clickEffect">
                                  <p:stCondLst>
                                    <p:cond delay="0"/>
                                  </p:stCondLst>
                                  <p:childTnLst>
                                    <p:set>
                                      <p:cBhvr>
                                        <p:cTn id="21" dur="1" fill="hold">
                                          <p:stCondLst>
                                            <p:cond delay="0"/>
                                          </p:stCondLst>
                                        </p:cTn>
                                        <p:tgtEl>
                                          <p:spTgt spid="119829"/>
                                        </p:tgtEl>
                                        <p:attrNameLst>
                                          <p:attrName>style.visibility</p:attrName>
                                        </p:attrNameLst>
                                      </p:cBhvr>
                                      <p:to>
                                        <p:strVal val="visible"/>
                                      </p:to>
                                    </p:set>
                                    <p:anim calcmode="lin" valueType="num">
                                      <p:cBhvr additive="base">
                                        <p:cTn id="22" dur="500" fill="hold"/>
                                        <p:tgtEl>
                                          <p:spTgt spid="119829"/>
                                        </p:tgtEl>
                                        <p:attrNameLst>
                                          <p:attrName>ppt_x</p:attrName>
                                        </p:attrNameLst>
                                      </p:cBhvr>
                                      <p:tavLst>
                                        <p:tav tm="0">
                                          <p:val>
                                            <p:strVal val="0-#ppt_w/2"/>
                                          </p:val>
                                        </p:tav>
                                        <p:tav tm="100000">
                                          <p:val>
                                            <p:strVal val="#ppt_x"/>
                                          </p:val>
                                        </p:tav>
                                      </p:tavLst>
                                    </p:anim>
                                    <p:anim calcmode="lin" valueType="num">
                                      <p:cBhvr additive="base">
                                        <p:cTn id="23" dur="500" fill="hold"/>
                                        <p:tgtEl>
                                          <p:spTgt spid="119829"/>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6" fill="hold" nodeType="clickEffect">
                                  <p:stCondLst>
                                    <p:cond delay="0"/>
                                  </p:stCondLst>
                                  <p:childTnLst>
                                    <p:set>
                                      <p:cBhvr>
                                        <p:cTn id="27" dur="1" fill="hold">
                                          <p:stCondLst>
                                            <p:cond delay="0"/>
                                          </p:stCondLst>
                                        </p:cTn>
                                        <p:tgtEl>
                                          <p:spTgt spid="119833"/>
                                        </p:tgtEl>
                                        <p:attrNameLst>
                                          <p:attrName>style.visibility</p:attrName>
                                        </p:attrNameLst>
                                      </p:cBhvr>
                                      <p:to>
                                        <p:strVal val="visible"/>
                                      </p:to>
                                    </p:set>
                                    <p:anim calcmode="lin" valueType="num">
                                      <p:cBhvr additive="base">
                                        <p:cTn id="28" dur="500" fill="hold"/>
                                        <p:tgtEl>
                                          <p:spTgt spid="119833"/>
                                        </p:tgtEl>
                                        <p:attrNameLst>
                                          <p:attrName>ppt_x</p:attrName>
                                        </p:attrNameLst>
                                      </p:cBhvr>
                                      <p:tavLst>
                                        <p:tav tm="0">
                                          <p:val>
                                            <p:strVal val="1+#ppt_w/2"/>
                                          </p:val>
                                        </p:tav>
                                        <p:tav tm="100000">
                                          <p:val>
                                            <p:strVal val="#ppt_x"/>
                                          </p:val>
                                        </p:tav>
                                      </p:tavLst>
                                    </p:anim>
                                    <p:anim calcmode="lin" valueType="num">
                                      <p:cBhvr additive="base">
                                        <p:cTn id="29" dur="500" fill="hold"/>
                                        <p:tgtEl>
                                          <p:spTgt spid="1198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zh-CN" altLang="en-US" dirty="0"/>
              <a:t>插入元组 </a:t>
            </a:r>
            <a:r>
              <a:rPr lang="en-US" altLang="zh-CN" dirty="0"/>
              <a:t>3</a:t>
            </a:r>
            <a:endParaRPr lang="zh-CN" altLang="en-US" dirty="0"/>
          </a:p>
        </p:txBody>
      </p:sp>
      <p:sp>
        <p:nvSpPr>
          <p:cNvPr id="9219" name="Rectangle 3"/>
          <p:cNvSpPr>
            <a:spLocks noGrp="1" noChangeArrowheads="1"/>
          </p:cNvSpPr>
          <p:nvPr>
            <p:ph idx="1"/>
          </p:nvPr>
        </p:nvSpPr>
        <p:spPr>
          <a:xfrm>
            <a:off x="424180" y="687070"/>
            <a:ext cx="11343005" cy="1106805"/>
          </a:xfrm>
        </p:spPr>
        <p:txBody>
          <a:bodyPr>
            <a:spAutoFit/>
          </a:bodyPr>
          <a:lstStyle/>
          <a:p>
            <a:pPr>
              <a:lnSpc>
                <a:spcPct val="110000"/>
              </a:lnSpc>
              <a:spcBef>
                <a:spcPct val="0"/>
              </a:spcBef>
            </a:pPr>
            <a:r>
              <a:rPr lang="en-US" altLang="zh-CN" dirty="0">
                <a:latin typeface="Calibri" panose="020F0502020204030204" charset="0"/>
                <a:cs typeface="Calibri" panose="020F0502020204030204" charset="0"/>
              </a:rPr>
              <a:t>[</a:t>
            </a:r>
            <a:r>
              <a:rPr lang="zh-CN" altLang="en-US" dirty="0">
                <a:latin typeface="Calibri" panose="020F0502020204030204" charset="0"/>
                <a:cs typeface="Calibri" panose="020F0502020204030204" charset="0"/>
              </a:rPr>
              <a:t>例</a:t>
            </a:r>
            <a:r>
              <a:rPr lang="en-US" altLang="zh-CN" dirty="0">
                <a:latin typeface="Calibri" panose="020F0502020204030204" charset="0"/>
                <a:cs typeface="Calibri" panose="020F0502020204030204" charset="0"/>
              </a:rPr>
              <a:t>3.69]</a:t>
            </a:r>
            <a:r>
              <a:rPr lang="zh-CN" altLang="en-US" dirty="0">
                <a:latin typeface="Calibri" panose="020F0502020204030204" charset="0"/>
                <a:cs typeface="Calibri" panose="020F0502020204030204" charset="0"/>
              </a:rPr>
              <a:t>将一个新学生元组</a:t>
            </a:r>
            <a:r>
              <a:rPr lang="en-US" altLang="zh-CN" dirty="0">
                <a:latin typeface="Calibri" panose="020F0502020204030204" charset="0"/>
                <a:cs typeface="Calibri" panose="020F0502020204030204" charset="0"/>
              </a:rPr>
              <a:t>（</a:t>
            </a:r>
            <a:r>
              <a:rPr lang="zh-CN" altLang="en-US" dirty="0">
                <a:latin typeface="Calibri" panose="020F0502020204030204" charset="0"/>
                <a:cs typeface="Calibri" panose="020F0502020204030204" charset="0"/>
              </a:rPr>
              <a:t>学号：</a:t>
            </a:r>
            <a:r>
              <a:rPr lang="en-US" altLang="zh-CN" dirty="0">
                <a:latin typeface="Calibri" panose="020F0502020204030204" charset="0"/>
                <a:cs typeface="Calibri" panose="020F0502020204030204" charset="0"/>
              </a:rPr>
              <a:t>201215128</a:t>
            </a:r>
            <a:r>
              <a:rPr lang="zh-CN" altLang="en-US" dirty="0">
                <a:latin typeface="Calibri" panose="020F0502020204030204" charset="0"/>
                <a:cs typeface="Calibri" panose="020F0502020204030204" charset="0"/>
              </a:rPr>
              <a:t>;姓名：陈冬;性别：男;所在系：</a:t>
            </a:r>
            <a:r>
              <a:rPr lang="en-US" altLang="zh-CN" dirty="0">
                <a:latin typeface="Calibri" panose="020F0502020204030204" charset="0"/>
                <a:cs typeface="Calibri" panose="020F0502020204030204" charset="0"/>
              </a:rPr>
              <a:t>IS</a:t>
            </a:r>
            <a:r>
              <a:rPr lang="zh-CN" altLang="en-US" dirty="0">
                <a:latin typeface="Calibri" panose="020F0502020204030204" charset="0"/>
                <a:cs typeface="Calibri" panose="020F0502020204030204" charset="0"/>
              </a:rPr>
              <a:t>;年龄：</a:t>
            </a:r>
            <a:r>
              <a:rPr lang="en-US" altLang="zh-CN" dirty="0">
                <a:latin typeface="Calibri" panose="020F0502020204030204" charset="0"/>
                <a:cs typeface="Calibri" panose="020F0502020204030204" charset="0"/>
              </a:rPr>
              <a:t>18</a:t>
            </a:r>
            <a:r>
              <a:rPr lang="zh-CN" altLang="en-US" dirty="0">
                <a:latin typeface="Calibri" panose="020F0502020204030204" charset="0"/>
                <a:cs typeface="Calibri" panose="020F0502020204030204" charset="0"/>
              </a:rPr>
              <a:t>岁</a:t>
            </a:r>
            <a:r>
              <a:rPr lang="en-US" altLang="zh-CN" dirty="0">
                <a:latin typeface="Calibri" panose="020F0502020204030204" charset="0"/>
                <a:cs typeface="Calibri" panose="020F0502020204030204" charset="0"/>
              </a:rPr>
              <a:t>）</a:t>
            </a:r>
            <a:r>
              <a:rPr lang="zh-CN" altLang="en-US" dirty="0">
                <a:latin typeface="Calibri" panose="020F0502020204030204" charset="0"/>
                <a:cs typeface="Calibri" panose="020F0502020204030204" charset="0"/>
              </a:rPr>
              <a:t>插入到</a:t>
            </a:r>
            <a:r>
              <a:rPr lang="en-US" altLang="zh-CN" dirty="0">
                <a:latin typeface="Calibri" panose="020F0502020204030204" charset="0"/>
                <a:cs typeface="Calibri" panose="020F0502020204030204" charset="0"/>
              </a:rPr>
              <a:t>Student</a:t>
            </a:r>
            <a:r>
              <a:rPr lang="zh-CN" altLang="en-US" dirty="0">
                <a:latin typeface="Calibri" panose="020F0502020204030204" charset="0"/>
                <a:cs typeface="Calibri" panose="020F0502020204030204" charset="0"/>
              </a:rPr>
              <a:t>表中。</a:t>
            </a:r>
            <a:endParaRPr lang="en-US" altLang="zh-CN" dirty="0">
              <a:solidFill>
                <a:srgbClr val="FF0000"/>
              </a:solidFill>
              <a:latin typeface="Calibri" panose="020F0502020204030204" charset="0"/>
              <a:cs typeface="Calibri" panose="020F0502020204030204" charset="0"/>
            </a:endParaRPr>
          </a:p>
        </p:txBody>
      </p:sp>
      <p:sp>
        <p:nvSpPr>
          <p:cNvPr id="2" name="灯片编号占位符 1"/>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ch03_3_SQL数据更新</a:t>
            </a:r>
            <a:endParaRPr lang="zh-CN" altLang="en-US"/>
          </a:p>
        </p:txBody>
      </p:sp>
      <p:sp>
        <p:nvSpPr>
          <p:cNvPr id="3" name="Rectangle 3"/>
          <p:cNvSpPr>
            <a:spLocks noGrp="1" noChangeArrowheads="1"/>
          </p:cNvSpPr>
          <p:nvPr/>
        </p:nvSpPr>
        <p:spPr>
          <a:xfrm>
            <a:off x="424180" y="1957705"/>
            <a:ext cx="11343005" cy="1512570"/>
          </a:xfrm>
          <a:prstGeom prst="rect">
            <a:avLst/>
          </a:prstGeom>
          <a:solidFill>
            <a:schemeClr val="accent3">
              <a:lumMod val="20000"/>
              <a:lumOff val="80000"/>
              <a:alpha val="50000"/>
            </a:schemeClr>
          </a:solidFill>
        </p:spPr>
        <p:txBody>
          <a:bodyPr vert="horz"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charset="-122"/>
                <a:ea typeface="楷体"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charset="-122"/>
                <a:ea typeface="楷体"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charset="-122"/>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363855" lvl="1" indent="0">
              <a:lnSpc>
                <a:spcPct val="110000"/>
              </a:lnSpc>
              <a:spcBef>
                <a:spcPts val="2000"/>
              </a:spcBef>
              <a:buNone/>
            </a:pPr>
            <a:r>
              <a:rPr lang="en-US" altLang="zh-CN" dirty="0">
                <a:solidFill>
                  <a:srgbClr val="FF0000"/>
                </a:solidFill>
                <a:latin typeface="Calibri" panose="020F0502020204030204" charset="0"/>
                <a:cs typeface="Calibri" panose="020F0502020204030204" charset="0"/>
              </a:rPr>
              <a:t>INSERT</a:t>
            </a:r>
            <a:endParaRPr lang="en-US" altLang="zh-CN" dirty="0">
              <a:solidFill>
                <a:srgbClr val="FF0000"/>
              </a:solidFill>
              <a:latin typeface="Calibri" panose="020F0502020204030204" charset="0"/>
              <a:cs typeface="Calibri" panose="020F0502020204030204" charset="0"/>
            </a:endParaRPr>
          </a:p>
          <a:p>
            <a:pPr marL="363855" lvl="1" indent="0">
              <a:lnSpc>
                <a:spcPct val="110000"/>
              </a:lnSpc>
              <a:spcBef>
                <a:spcPct val="0"/>
              </a:spcBef>
              <a:buNone/>
            </a:pPr>
            <a:r>
              <a:rPr lang="en-US" altLang="zh-CN" dirty="0">
                <a:solidFill>
                  <a:srgbClr val="FF0000"/>
                </a:solidFill>
                <a:latin typeface="Calibri" panose="020F0502020204030204" charset="0"/>
                <a:cs typeface="Calibri" panose="020F0502020204030204" charset="0"/>
              </a:rPr>
              <a:t>INTO  Student </a:t>
            </a:r>
            <a:r>
              <a:rPr lang="zh-CN" altLang="en-US" dirty="0">
                <a:solidFill>
                  <a:srgbClr val="FF0000"/>
                </a:solidFill>
                <a:latin typeface="Calibri" panose="020F0502020204030204" charset="0"/>
                <a:cs typeface="Calibri" panose="020F0502020204030204" charset="0"/>
              </a:rPr>
              <a:t>(</a:t>
            </a:r>
            <a:r>
              <a:rPr lang="en-US" altLang="zh-CN" dirty="0" err="1">
                <a:solidFill>
                  <a:srgbClr val="FF0000"/>
                </a:solidFill>
                <a:latin typeface="Calibri" panose="020F0502020204030204" charset="0"/>
                <a:cs typeface="Calibri" panose="020F0502020204030204" charset="0"/>
              </a:rPr>
              <a:t>Sno</a:t>
            </a:r>
            <a:r>
              <a:rPr lang="zh-CN" altLang="en-US" dirty="0">
                <a:solidFill>
                  <a:srgbClr val="FF0000"/>
                </a:solidFill>
                <a:latin typeface="Calibri" panose="020F0502020204030204" charset="0"/>
                <a:cs typeface="Calibri" panose="020F0502020204030204" charset="0"/>
              </a:rPr>
              <a:t>,</a:t>
            </a:r>
            <a:r>
              <a:rPr lang="en-US" altLang="zh-CN" dirty="0" err="1">
                <a:solidFill>
                  <a:srgbClr val="FF0000"/>
                </a:solidFill>
                <a:latin typeface="Calibri" panose="020F0502020204030204" charset="0"/>
                <a:cs typeface="Calibri" panose="020F0502020204030204" charset="0"/>
              </a:rPr>
              <a:t>Sname</a:t>
            </a:r>
            <a:r>
              <a:rPr lang="zh-CN" altLang="en-US" dirty="0">
                <a:solidFill>
                  <a:srgbClr val="FF0000"/>
                </a:solidFill>
                <a:latin typeface="Calibri" panose="020F0502020204030204" charset="0"/>
                <a:cs typeface="Calibri" panose="020F0502020204030204" charset="0"/>
              </a:rPr>
              <a:t>,</a:t>
            </a:r>
            <a:r>
              <a:rPr lang="en-US" altLang="zh-CN" dirty="0" err="1">
                <a:solidFill>
                  <a:srgbClr val="FF0000"/>
                </a:solidFill>
                <a:latin typeface="Calibri" panose="020F0502020204030204" charset="0"/>
                <a:cs typeface="Calibri" panose="020F0502020204030204" charset="0"/>
              </a:rPr>
              <a:t>Ssex</a:t>
            </a:r>
            <a:r>
              <a:rPr lang="zh-CN" altLang="en-US" dirty="0">
                <a:solidFill>
                  <a:srgbClr val="FF0000"/>
                </a:solidFill>
                <a:latin typeface="Calibri" panose="020F0502020204030204" charset="0"/>
                <a:cs typeface="Calibri" panose="020F0502020204030204" charset="0"/>
              </a:rPr>
              <a:t>,</a:t>
            </a:r>
            <a:r>
              <a:rPr lang="en-US" altLang="zh-CN" dirty="0" err="1">
                <a:solidFill>
                  <a:srgbClr val="FF0000"/>
                </a:solidFill>
                <a:latin typeface="Calibri" panose="020F0502020204030204" charset="0"/>
                <a:cs typeface="Calibri" panose="020F0502020204030204" charset="0"/>
              </a:rPr>
              <a:t>Sdept</a:t>
            </a:r>
            <a:r>
              <a:rPr lang="zh-CN" altLang="en-US" dirty="0">
                <a:solidFill>
                  <a:srgbClr val="FF0000"/>
                </a:solidFill>
                <a:latin typeface="Calibri" panose="020F0502020204030204" charset="0"/>
                <a:cs typeface="Calibri" panose="020F0502020204030204" charset="0"/>
              </a:rPr>
              <a:t>,</a:t>
            </a:r>
            <a:r>
              <a:rPr lang="en-US" altLang="zh-CN" dirty="0">
                <a:solidFill>
                  <a:srgbClr val="FF0000"/>
                </a:solidFill>
                <a:latin typeface="Calibri" panose="020F0502020204030204" charset="0"/>
                <a:cs typeface="Calibri" panose="020F0502020204030204" charset="0"/>
              </a:rPr>
              <a:t>Sage</a:t>
            </a:r>
            <a:r>
              <a:rPr lang="zh-CN" altLang="en-US" dirty="0">
                <a:solidFill>
                  <a:srgbClr val="FF0000"/>
                </a:solidFill>
                <a:latin typeface="Calibri" panose="020F0502020204030204" charset="0"/>
                <a:cs typeface="Calibri" panose="020F0502020204030204" charset="0"/>
              </a:rPr>
              <a:t>)</a:t>
            </a:r>
            <a:endParaRPr lang="zh-CN" altLang="en-US" dirty="0">
              <a:solidFill>
                <a:srgbClr val="FF0000"/>
              </a:solidFill>
              <a:latin typeface="Calibri" panose="020F0502020204030204" charset="0"/>
              <a:cs typeface="Calibri" panose="020F0502020204030204" charset="0"/>
            </a:endParaRPr>
          </a:p>
          <a:p>
            <a:pPr marL="363855" lvl="1" indent="0">
              <a:lnSpc>
                <a:spcPct val="110000"/>
              </a:lnSpc>
              <a:spcBef>
                <a:spcPct val="0"/>
              </a:spcBef>
              <a:buNone/>
            </a:pPr>
            <a:r>
              <a:rPr lang="en-US" altLang="zh-CN" dirty="0">
                <a:solidFill>
                  <a:srgbClr val="FF0000"/>
                </a:solidFill>
                <a:latin typeface="Calibri" panose="020F0502020204030204" charset="0"/>
                <a:cs typeface="Calibri" panose="020F0502020204030204" charset="0"/>
              </a:rPr>
              <a:t>VALUES </a:t>
            </a:r>
            <a:r>
              <a:rPr lang="zh-CN" altLang="en-US" dirty="0">
                <a:solidFill>
                  <a:srgbClr val="FF0000"/>
                </a:solidFill>
                <a:latin typeface="Calibri" panose="020F0502020204030204" charset="0"/>
                <a:cs typeface="Calibri" panose="020F0502020204030204" charset="0"/>
              </a:rPr>
              <a:t>(</a:t>
            </a:r>
            <a:r>
              <a:rPr lang="en-US" altLang="zh-CN" dirty="0">
                <a:solidFill>
                  <a:srgbClr val="FF0000"/>
                </a:solidFill>
                <a:latin typeface="Calibri" panose="020F0502020204030204" charset="0"/>
                <a:cs typeface="Calibri" panose="020F0502020204030204" charset="0"/>
              </a:rPr>
              <a:t>'201215128'</a:t>
            </a:r>
            <a:r>
              <a:rPr lang="zh-CN" altLang="en-US" dirty="0">
                <a:solidFill>
                  <a:srgbClr val="FF0000"/>
                </a:solidFill>
                <a:latin typeface="Calibri" panose="020F0502020204030204" charset="0"/>
                <a:cs typeface="Calibri" panose="020F0502020204030204" charset="0"/>
              </a:rPr>
              <a:t>,</a:t>
            </a:r>
            <a:r>
              <a:rPr lang="en-US" altLang="zh-CN" dirty="0">
                <a:solidFill>
                  <a:srgbClr val="FF0000"/>
                </a:solidFill>
                <a:latin typeface="Calibri" panose="020F0502020204030204" charset="0"/>
                <a:cs typeface="Calibri" panose="020F0502020204030204" charset="0"/>
              </a:rPr>
              <a:t>'</a:t>
            </a:r>
            <a:r>
              <a:rPr lang="zh-CN" altLang="en-US" dirty="0">
                <a:solidFill>
                  <a:srgbClr val="FF0000"/>
                </a:solidFill>
                <a:latin typeface="Calibri" panose="020F0502020204030204" charset="0"/>
                <a:cs typeface="Calibri" panose="020F0502020204030204" charset="0"/>
              </a:rPr>
              <a:t>陈冬</a:t>
            </a:r>
            <a:r>
              <a:rPr lang="en-US" altLang="zh-CN" dirty="0">
                <a:solidFill>
                  <a:srgbClr val="FF0000"/>
                </a:solidFill>
                <a:latin typeface="Calibri" panose="020F0502020204030204" charset="0"/>
                <a:cs typeface="Calibri" panose="020F0502020204030204" charset="0"/>
              </a:rPr>
              <a:t>'</a:t>
            </a:r>
            <a:r>
              <a:rPr lang="zh-CN" altLang="en-US" dirty="0">
                <a:solidFill>
                  <a:srgbClr val="FF0000"/>
                </a:solidFill>
                <a:latin typeface="Calibri" panose="020F0502020204030204" charset="0"/>
                <a:cs typeface="Calibri" panose="020F0502020204030204" charset="0"/>
              </a:rPr>
              <a:t>,</a:t>
            </a:r>
            <a:r>
              <a:rPr lang="en-US" altLang="zh-CN" dirty="0">
                <a:solidFill>
                  <a:srgbClr val="FF0000"/>
                </a:solidFill>
                <a:latin typeface="Calibri" panose="020F0502020204030204" charset="0"/>
                <a:cs typeface="Calibri" panose="020F0502020204030204" charset="0"/>
              </a:rPr>
              <a:t>'</a:t>
            </a:r>
            <a:r>
              <a:rPr lang="zh-CN" altLang="en-US" dirty="0">
                <a:solidFill>
                  <a:srgbClr val="FF0000"/>
                </a:solidFill>
                <a:latin typeface="Calibri" panose="020F0502020204030204" charset="0"/>
                <a:cs typeface="Calibri" panose="020F0502020204030204" charset="0"/>
              </a:rPr>
              <a:t>男</a:t>
            </a:r>
            <a:r>
              <a:rPr lang="en-US" altLang="zh-CN" dirty="0">
                <a:solidFill>
                  <a:srgbClr val="FF0000"/>
                </a:solidFill>
                <a:latin typeface="Calibri" panose="020F0502020204030204" charset="0"/>
                <a:cs typeface="Calibri" panose="020F0502020204030204" charset="0"/>
              </a:rPr>
              <a:t>'</a:t>
            </a:r>
            <a:r>
              <a:rPr lang="zh-CN" altLang="en-US" dirty="0">
                <a:solidFill>
                  <a:srgbClr val="FF0000"/>
                </a:solidFill>
                <a:latin typeface="Calibri" panose="020F0502020204030204" charset="0"/>
                <a:cs typeface="Calibri" panose="020F0502020204030204" charset="0"/>
              </a:rPr>
              <a:t>,</a:t>
            </a:r>
            <a:r>
              <a:rPr lang="en-US" altLang="zh-CN" dirty="0">
                <a:solidFill>
                  <a:srgbClr val="FF0000"/>
                </a:solidFill>
                <a:latin typeface="Calibri" panose="020F0502020204030204" charset="0"/>
                <a:cs typeface="Calibri" panose="020F0502020204030204" charset="0"/>
              </a:rPr>
              <a:t>'IS'</a:t>
            </a:r>
            <a:r>
              <a:rPr lang="zh-CN" altLang="en-US" dirty="0">
                <a:solidFill>
                  <a:srgbClr val="FF0000"/>
                </a:solidFill>
                <a:latin typeface="Calibri" panose="020F0502020204030204" charset="0"/>
                <a:cs typeface="Calibri" panose="020F0502020204030204" charset="0"/>
              </a:rPr>
              <a:t>,</a:t>
            </a:r>
            <a:r>
              <a:rPr lang="en-US" altLang="zh-CN" dirty="0">
                <a:solidFill>
                  <a:srgbClr val="FF0000"/>
                </a:solidFill>
                <a:latin typeface="Calibri" panose="020F0502020204030204" charset="0"/>
                <a:cs typeface="Calibri" panose="020F0502020204030204" charset="0"/>
              </a:rPr>
              <a:t>18</a:t>
            </a:r>
            <a:r>
              <a:rPr lang="zh-CN" altLang="en-US" dirty="0">
                <a:solidFill>
                  <a:srgbClr val="FF0000"/>
                </a:solidFill>
                <a:latin typeface="Calibri" panose="020F0502020204030204" charset="0"/>
                <a:cs typeface="Calibri" panose="020F0502020204030204" charset="0"/>
              </a:rPr>
              <a:t>);</a:t>
            </a:r>
            <a:endParaRPr lang="en-US" altLang="zh-CN" dirty="0">
              <a:solidFill>
                <a:srgbClr val="FF0000"/>
              </a:solidFill>
              <a:latin typeface="Calibri" panose="020F0502020204030204" charset="0"/>
              <a:cs typeface="Calibri" panose="020F0502020204030204" charset="0"/>
            </a:endParaRPr>
          </a:p>
        </p:txBody>
      </p:sp>
      <p:sp>
        <p:nvSpPr>
          <p:cNvPr id="5" name="Rectangle 3"/>
          <p:cNvSpPr>
            <a:spLocks noGrp="1" noChangeArrowheads="1"/>
          </p:cNvSpPr>
          <p:nvPr/>
        </p:nvSpPr>
        <p:spPr>
          <a:xfrm>
            <a:off x="424180" y="3911600"/>
            <a:ext cx="11343005" cy="598805"/>
          </a:xfrm>
          <a:prstGeom prst="rect">
            <a:avLst/>
          </a:prstGeom>
        </p:spPr>
        <p:txBody>
          <a:bodyPr vert="horz"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charset="-122"/>
                <a:ea typeface="楷体"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charset="-122"/>
                <a:ea typeface="楷体"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charset="-122"/>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10000"/>
              </a:lnSpc>
              <a:spcBef>
                <a:spcPct val="0"/>
              </a:spcBef>
            </a:pPr>
            <a:r>
              <a:rPr lang="en-US" altLang="zh-CN" dirty="0">
                <a:latin typeface="Calibri" panose="020F0502020204030204" charset="0"/>
                <a:cs typeface="Calibri" panose="020F0502020204030204" charset="0"/>
              </a:rPr>
              <a:t>[</a:t>
            </a:r>
            <a:r>
              <a:rPr lang="zh-CN" altLang="en-US" dirty="0">
                <a:latin typeface="Calibri" panose="020F0502020204030204" charset="0"/>
                <a:cs typeface="Calibri" panose="020F0502020204030204" charset="0"/>
              </a:rPr>
              <a:t>例</a:t>
            </a:r>
            <a:r>
              <a:rPr lang="en-US" altLang="zh-CN" dirty="0">
                <a:latin typeface="Calibri" panose="020F0502020204030204" charset="0"/>
                <a:cs typeface="Calibri" panose="020F0502020204030204" charset="0"/>
              </a:rPr>
              <a:t>3.70]</a:t>
            </a:r>
            <a:r>
              <a:rPr lang="zh-CN" altLang="en-US" dirty="0">
                <a:latin typeface="Calibri" panose="020F0502020204030204" charset="0"/>
                <a:cs typeface="Calibri" panose="020F0502020204030204" charset="0"/>
              </a:rPr>
              <a:t>将学生张成民的信息插入到</a:t>
            </a:r>
            <a:r>
              <a:rPr lang="en-US" altLang="zh-CN" dirty="0">
                <a:latin typeface="Calibri" panose="020F0502020204030204" charset="0"/>
                <a:cs typeface="Calibri" panose="020F0502020204030204" charset="0"/>
              </a:rPr>
              <a:t>Student</a:t>
            </a:r>
            <a:r>
              <a:rPr lang="zh-CN" altLang="en-US" dirty="0">
                <a:latin typeface="Calibri" panose="020F0502020204030204" charset="0"/>
                <a:cs typeface="Calibri" panose="020F0502020204030204" charset="0"/>
              </a:rPr>
              <a:t>表中。</a:t>
            </a:r>
            <a:endParaRPr lang="en-US" altLang="zh-CN" dirty="0">
              <a:solidFill>
                <a:srgbClr val="FF0000"/>
              </a:solidFill>
              <a:latin typeface="Calibri" panose="020F0502020204030204" charset="0"/>
              <a:cs typeface="Calibri" panose="020F0502020204030204" charset="0"/>
            </a:endParaRPr>
          </a:p>
        </p:txBody>
      </p:sp>
      <p:sp>
        <p:nvSpPr>
          <p:cNvPr id="6" name="Rectangle 3"/>
          <p:cNvSpPr>
            <a:spLocks noGrp="1" noChangeArrowheads="1"/>
          </p:cNvSpPr>
          <p:nvPr/>
        </p:nvSpPr>
        <p:spPr>
          <a:xfrm>
            <a:off x="424180" y="4709795"/>
            <a:ext cx="11343005" cy="1512570"/>
          </a:xfrm>
          <a:prstGeom prst="rect">
            <a:avLst/>
          </a:prstGeom>
          <a:solidFill>
            <a:schemeClr val="accent3">
              <a:lumMod val="20000"/>
              <a:lumOff val="80000"/>
              <a:alpha val="50000"/>
            </a:schemeClr>
          </a:solidFill>
        </p:spPr>
        <p:txBody>
          <a:bodyPr vert="horz"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charset="-122"/>
                <a:ea typeface="楷体"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charset="-122"/>
                <a:ea typeface="楷体"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charset="-122"/>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363855" lvl="1" indent="0">
              <a:lnSpc>
                <a:spcPct val="110000"/>
              </a:lnSpc>
              <a:spcBef>
                <a:spcPts val="2000"/>
              </a:spcBef>
              <a:buNone/>
            </a:pPr>
            <a:r>
              <a:rPr lang="en-US" altLang="zh-CN" dirty="0">
                <a:solidFill>
                  <a:srgbClr val="FF0000"/>
                </a:solidFill>
                <a:latin typeface="Calibri" panose="020F0502020204030204" charset="0"/>
                <a:cs typeface="Calibri" panose="020F0502020204030204" charset="0"/>
              </a:rPr>
              <a:t>INSERT</a:t>
            </a:r>
            <a:endParaRPr lang="en-US" altLang="zh-CN" dirty="0">
              <a:solidFill>
                <a:srgbClr val="FF0000"/>
              </a:solidFill>
              <a:latin typeface="Calibri" panose="020F0502020204030204" charset="0"/>
              <a:cs typeface="Calibri" panose="020F0502020204030204" charset="0"/>
            </a:endParaRPr>
          </a:p>
          <a:p>
            <a:pPr marL="363855" lvl="1" indent="0">
              <a:lnSpc>
                <a:spcPct val="110000"/>
              </a:lnSpc>
              <a:spcBef>
                <a:spcPct val="0"/>
              </a:spcBef>
              <a:buNone/>
            </a:pPr>
            <a:r>
              <a:rPr lang="en-US" altLang="zh-CN" dirty="0">
                <a:solidFill>
                  <a:srgbClr val="FF0000"/>
                </a:solidFill>
                <a:latin typeface="Calibri" panose="020F0502020204030204" charset="0"/>
                <a:cs typeface="Calibri" panose="020F0502020204030204" charset="0"/>
              </a:rPr>
              <a:t>INTO  Student</a:t>
            </a:r>
            <a:endParaRPr lang="en-US" altLang="zh-CN" dirty="0">
              <a:solidFill>
                <a:srgbClr val="FF0000"/>
              </a:solidFill>
              <a:latin typeface="Calibri" panose="020F0502020204030204" charset="0"/>
              <a:cs typeface="Calibri" panose="020F0502020204030204" charset="0"/>
            </a:endParaRPr>
          </a:p>
          <a:p>
            <a:pPr marL="363855" lvl="1" indent="0">
              <a:lnSpc>
                <a:spcPct val="110000"/>
              </a:lnSpc>
              <a:spcBef>
                <a:spcPct val="0"/>
              </a:spcBef>
              <a:buNone/>
            </a:pPr>
            <a:r>
              <a:rPr lang="en-US" altLang="zh-CN" dirty="0">
                <a:solidFill>
                  <a:srgbClr val="FF0000"/>
                </a:solidFill>
                <a:latin typeface="Calibri" panose="020F0502020204030204" charset="0"/>
                <a:cs typeface="Calibri" panose="020F0502020204030204" charset="0"/>
              </a:rPr>
              <a:t>VALUES </a:t>
            </a:r>
            <a:r>
              <a:rPr lang="zh-CN" altLang="en-US" dirty="0">
                <a:solidFill>
                  <a:srgbClr val="FF0000"/>
                </a:solidFill>
                <a:latin typeface="Calibri" panose="020F0502020204030204" charset="0"/>
                <a:cs typeface="Calibri" panose="020F0502020204030204" charset="0"/>
              </a:rPr>
              <a:t>('</a:t>
            </a:r>
            <a:r>
              <a:rPr lang="en-US" altLang="zh-CN" dirty="0">
                <a:solidFill>
                  <a:srgbClr val="FF0000"/>
                </a:solidFill>
                <a:latin typeface="Calibri" panose="020F0502020204030204" charset="0"/>
                <a:cs typeface="Calibri" panose="020F0502020204030204" charset="0"/>
              </a:rPr>
              <a:t>201215126</a:t>
            </a:r>
            <a:r>
              <a:rPr lang="zh-CN" altLang="en-US" dirty="0">
                <a:solidFill>
                  <a:srgbClr val="FF0000"/>
                </a:solidFill>
                <a:latin typeface="Calibri" panose="020F0502020204030204" charset="0"/>
                <a:cs typeface="Calibri" panose="020F0502020204030204" charset="0"/>
              </a:rPr>
              <a:t>'</a:t>
            </a:r>
            <a:r>
              <a:rPr lang="en-US" altLang="zh-CN" dirty="0">
                <a:solidFill>
                  <a:srgbClr val="FF0000"/>
                </a:solidFill>
                <a:latin typeface="Calibri" panose="020F0502020204030204" charset="0"/>
                <a:cs typeface="Calibri" panose="020F0502020204030204" charset="0"/>
              </a:rPr>
              <a:t>,</a:t>
            </a:r>
            <a:r>
              <a:rPr lang="zh-CN" altLang="en-US" dirty="0">
                <a:solidFill>
                  <a:srgbClr val="FF0000"/>
                </a:solidFill>
                <a:latin typeface="Calibri" panose="020F0502020204030204" charset="0"/>
                <a:cs typeface="Calibri" panose="020F0502020204030204" charset="0"/>
              </a:rPr>
              <a:t>'张成民'</a:t>
            </a:r>
            <a:r>
              <a:rPr lang="en-US" altLang="zh-CN" dirty="0">
                <a:solidFill>
                  <a:srgbClr val="FF0000"/>
                </a:solidFill>
                <a:latin typeface="Calibri" panose="020F0502020204030204" charset="0"/>
                <a:cs typeface="Calibri" panose="020F0502020204030204" charset="0"/>
              </a:rPr>
              <a:t>,</a:t>
            </a:r>
            <a:r>
              <a:rPr lang="zh-CN" altLang="en-US" dirty="0">
                <a:solidFill>
                  <a:srgbClr val="FF0000"/>
                </a:solidFill>
                <a:latin typeface="Calibri" panose="020F0502020204030204" charset="0"/>
                <a:cs typeface="Calibri" panose="020F0502020204030204" charset="0"/>
              </a:rPr>
              <a:t>'男</a:t>
            </a:r>
            <a:r>
              <a:rPr lang="en-US" altLang="zh-CN" dirty="0">
                <a:solidFill>
                  <a:srgbClr val="FF0000"/>
                </a:solidFill>
                <a:latin typeface="Calibri" panose="020F0502020204030204" charset="0"/>
                <a:cs typeface="Calibri" panose="020F0502020204030204" charset="0"/>
                <a:sym typeface="+mn-ea"/>
              </a:rPr>
              <a:t>'</a:t>
            </a:r>
            <a:r>
              <a:rPr lang="en-US" altLang="zh-CN" dirty="0">
                <a:solidFill>
                  <a:srgbClr val="FF0000"/>
                </a:solidFill>
                <a:latin typeface="Calibri" panose="020F0502020204030204" charset="0"/>
                <a:cs typeface="Calibri" panose="020F0502020204030204" charset="0"/>
              </a:rPr>
              <a:t>,18,'CS'</a:t>
            </a:r>
            <a:r>
              <a:rPr lang="zh-CN" altLang="en-US" dirty="0">
                <a:solidFill>
                  <a:srgbClr val="FF0000"/>
                </a:solidFill>
                <a:latin typeface="Calibri" panose="020F0502020204030204" charset="0"/>
                <a:cs typeface="Calibri" panose="020F0502020204030204" charset="0"/>
              </a:rPr>
              <a:t>)</a:t>
            </a:r>
            <a:r>
              <a:rPr lang="en-US" altLang="zh-CN" dirty="0">
                <a:solidFill>
                  <a:srgbClr val="FF0000"/>
                </a:solidFill>
                <a:latin typeface="Calibri" panose="020F0502020204030204" charset="0"/>
                <a:cs typeface="Calibri" panose="020F0502020204030204" charset="0"/>
              </a:rPr>
              <a:t>;</a:t>
            </a:r>
            <a:endParaRPr lang="en-US" altLang="zh-CN" dirty="0">
              <a:solidFill>
                <a:srgbClr val="FF0000"/>
              </a:solidFill>
              <a:latin typeface="Calibri" panose="020F0502020204030204" charset="0"/>
              <a:cs typeface="Calibri" panose="020F050202020403020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5" grpId="0"/>
      <p:bldP spid="6"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zh-CN" altLang="en-US" dirty="0"/>
              <a:t>插入元组 </a:t>
            </a:r>
            <a:r>
              <a:rPr lang="en-US" altLang="zh-CN" dirty="0"/>
              <a:t>4</a:t>
            </a:r>
            <a:endParaRPr lang="zh-CN" altLang="en-US" dirty="0"/>
          </a:p>
        </p:txBody>
      </p:sp>
      <p:sp>
        <p:nvSpPr>
          <p:cNvPr id="6" name="内容占位符 5"/>
          <p:cNvSpPr>
            <a:spLocks noGrp="1"/>
          </p:cNvSpPr>
          <p:nvPr>
            <p:ph idx="1"/>
          </p:nvPr>
        </p:nvSpPr>
        <p:spPr>
          <a:xfrm>
            <a:off x="424180" y="687070"/>
            <a:ext cx="11343005" cy="565150"/>
          </a:xfrm>
        </p:spPr>
        <p:txBody>
          <a:bodyPr>
            <a:spAutoFit/>
          </a:bodyPr>
          <a:lstStyle/>
          <a:p>
            <a:r>
              <a:rPr lang="en-US" altLang="zh-CN" sz="2800" dirty="0">
                <a:latin typeface="Calibri" panose="020F0502020204030204" charset="0"/>
                <a:cs typeface="Calibri" panose="020F0502020204030204" charset="0"/>
              </a:rPr>
              <a:t>[</a:t>
            </a:r>
            <a:r>
              <a:rPr lang="zh-CN" altLang="en-US" sz="2800" dirty="0">
                <a:latin typeface="Calibri" panose="020F0502020204030204" charset="0"/>
                <a:cs typeface="Calibri" panose="020F0502020204030204" charset="0"/>
              </a:rPr>
              <a:t>例</a:t>
            </a:r>
            <a:r>
              <a:rPr lang="en-US" altLang="zh-CN" sz="2800" dirty="0">
                <a:latin typeface="Calibri" panose="020F0502020204030204" charset="0"/>
                <a:cs typeface="Calibri" panose="020F0502020204030204" charset="0"/>
              </a:rPr>
              <a:t>3.71] </a:t>
            </a:r>
            <a:r>
              <a:rPr lang="zh-CN" altLang="en-US" sz="2800" dirty="0">
                <a:latin typeface="Calibri" panose="020F0502020204030204" charset="0"/>
                <a:cs typeface="Calibri" panose="020F0502020204030204" charset="0"/>
              </a:rPr>
              <a:t>插入一条选课记录</a:t>
            </a:r>
            <a:r>
              <a:rPr lang="en-US" altLang="zh-CN" sz="2800" dirty="0">
                <a:latin typeface="Calibri" panose="020F0502020204030204" charset="0"/>
                <a:cs typeface="Calibri" panose="020F0502020204030204" charset="0"/>
              </a:rPr>
              <a:t>（ '200215128'</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 '1' ）</a:t>
            </a:r>
            <a:endParaRPr lang="zh-CN" altLang="en-US" sz="2800" dirty="0">
              <a:solidFill>
                <a:srgbClr val="FF0000"/>
              </a:solidFill>
              <a:latin typeface="Calibri" panose="020F0502020204030204" charset="0"/>
              <a:cs typeface="Calibri" panose="020F0502020204030204" charset="0"/>
            </a:endParaRPr>
          </a:p>
        </p:txBody>
      </p:sp>
      <p:sp>
        <p:nvSpPr>
          <p:cNvPr id="2" name="灯片编号占位符 1"/>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ch03_3_SQL数据更新</a:t>
            </a:r>
            <a:endParaRPr lang="zh-CN" altLang="en-US"/>
          </a:p>
        </p:txBody>
      </p:sp>
      <p:sp>
        <p:nvSpPr>
          <p:cNvPr id="3" name="内容占位符 5"/>
          <p:cNvSpPr>
            <a:spLocks noGrp="1"/>
          </p:cNvSpPr>
          <p:nvPr/>
        </p:nvSpPr>
        <p:spPr>
          <a:xfrm>
            <a:off x="424180" y="1343660"/>
            <a:ext cx="11343005" cy="1512570"/>
          </a:xfrm>
          <a:prstGeom prst="rect">
            <a:avLst/>
          </a:prstGeom>
          <a:solidFill>
            <a:schemeClr val="accent3">
              <a:lumMod val="20000"/>
              <a:lumOff val="80000"/>
              <a:alpha val="50000"/>
            </a:schemeClr>
          </a:solidFill>
          <a:ln>
            <a:solidFill>
              <a:schemeClr val="tx1"/>
            </a:solidFill>
          </a:ln>
        </p:spPr>
        <p:txBody>
          <a:bodyPr vert="horz"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charset="-122"/>
                <a:ea typeface="楷体"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charset="-122"/>
                <a:ea typeface="楷体"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charset="-122"/>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821055" lvl="2" indent="0">
              <a:lnSpc>
                <a:spcPct val="110000"/>
              </a:lnSpc>
              <a:spcBef>
                <a:spcPts val="1000"/>
              </a:spcBef>
              <a:buNone/>
            </a:pPr>
            <a:r>
              <a:rPr lang="en-US" altLang="zh-CN" sz="2800" dirty="0">
                <a:solidFill>
                  <a:srgbClr val="FF0000"/>
                </a:solidFill>
                <a:latin typeface="Calibri" panose="020F0502020204030204" charset="0"/>
                <a:cs typeface="Calibri" panose="020F0502020204030204" charset="0"/>
              </a:rPr>
              <a:t>INSERT</a:t>
            </a:r>
            <a:endParaRPr lang="en-US" altLang="zh-CN" sz="2800" dirty="0">
              <a:solidFill>
                <a:srgbClr val="FF0000"/>
              </a:solidFill>
              <a:latin typeface="Calibri" panose="020F0502020204030204" charset="0"/>
              <a:cs typeface="Calibri" panose="020F0502020204030204" charset="0"/>
            </a:endParaRPr>
          </a:p>
          <a:p>
            <a:pPr marL="821055" lvl="2" indent="0">
              <a:buNone/>
            </a:pPr>
            <a:r>
              <a:rPr lang="en-US" altLang="zh-CN" sz="2800" dirty="0">
                <a:solidFill>
                  <a:srgbClr val="FF0000"/>
                </a:solidFill>
                <a:latin typeface="Calibri" panose="020F0502020204030204" charset="0"/>
                <a:cs typeface="Calibri" panose="020F0502020204030204" charset="0"/>
              </a:rPr>
              <a:t>INTO SC</a:t>
            </a:r>
            <a:r>
              <a:rPr lang="zh-CN" altLang="en-US" sz="2800" dirty="0">
                <a:solidFill>
                  <a:srgbClr val="FF0000"/>
                </a:solidFill>
                <a:latin typeface="Calibri" panose="020F0502020204030204" charset="0"/>
                <a:cs typeface="Calibri" panose="020F0502020204030204" charset="0"/>
              </a:rPr>
              <a:t>(</a:t>
            </a:r>
            <a:r>
              <a:rPr lang="en-US" altLang="zh-CN" sz="2800" dirty="0" err="1">
                <a:solidFill>
                  <a:srgbClr val="FF0000"/>
                </a:solidFill>
                <a:latin typeface="Calibri" panose="020F0502020204030204" charset="0"/>
                <a:cs typeface="Calibri" panose="020F0502020204030204" charset="0"/>
              </a:rPr>
              <a:t>Sno</a:t>
            </a:r>
            <a:r>
              <a:rPr lang="zh-CN" altLang="en-US" sz="2800" dirty="0">
                <a:solidFill>
                  <a:srgbClr val="FF0000"/>
                </a:solidFill>
                <a:latin typeface="Calibri" panose="020F0502020204030204" charset="0"/>
                <a:cs typeface="Calibri" panose="020F0502020204030204" charset="0"/>
              </a:rPr>
              <a:t>,</a:t>
            </a:r>
            <a:r>
              <a:rPr lang="en-US" altLang="zh-CN" sz="2800" dirty="0" err="1">
                <a:solidFill>
                  <a:srgbClr val="FF0000"/>
                </a:solidFill>
                <a:latin typeface="Calibri" panose="020F0502020204030204" charset="0"/>
                <a:cs typeface="Calibri" panose="020F0502020204030204" charset="0"/>
              </a:rPr>
              <a:t>Cno</a:t>
            </a:r>
            <a:r>
              <a:rPr lang="zh-CN" altLang="en-US" sz="2800" dirty="0">
                <a:solidFill>
                  <a:srgbClr val="FF0000"/>
                </a:solidFill>
                <a:latin typeface="Calibri" panose="020F0502020204030204" charset="0"/>
                <a:cs typeface="Calibri" panose="020F0502020204030204" charset="0"/>
              </a:rPr>
              <a:t>)</a:t>
            </a:r>
            <a:endParaRPr lang="zh-CN" altLang="en-US" sz="2800" dirty="0">
              <a:solidFill>
                <a:srgbClr val="FF0000"/>
              </a:solidFill>
              <a:latin typeface="Calibri" panose="020F0502020204030204" charset="0"/>
              <a:cs typeface="Calibri" panose="020F0502020204030204" charset="0"/>
            </a:endParaRPr>
          </a:p>
          <a:p>
            <a:pPr marL="821055" lvl="2" indent="0">
              <a:buNone/>
            </a:pPr>
            <a:r>
              <a:rPr lang="en-US" altLang="zh-CN" sz="2800" dirty="0">
                <a:solidFill>
                  <a:srgbClr val="FF0000"/>
                </a:solidFill>
                <a:latin typeface="Calibri" panose="020F0502020204030204" charset="0"/>
                <a:cs typeface="Calibri" panose="020F0502020204030204" charset="0"/>
              </a:rPr>
              <a:t>VALUES </a:t>
            </a:r>
            <a:r>
              <a:rPr lang="zh-CN" altLang="en-US" sz="2800" dirty="0">
                <a:solidFill>
                  <a:srgbClr val="FF0000"/>
                </a:solidFill>
                <a:latin typeface="Calibri" panose="020F0502020204030204" charset="0"/>
                <a:cs typeface="Calibri" panose="020F0502020204030204" charset="0"/>
              </a:rPr>
              <a:t>('</a:t>
            </a:r>
            <a:r>
              <a:rPr lang="en-US" altLang="zh-CN" sz="2800" dirty="0">
                <a:solidFill>
                  <a:srgbClr val="FF0000"/>
                </a:solidFill>
                <a:latin typeface="Calibri" panose="020F0502020204030204" charset="0"/>
                <a:cs typeface="Calibri" panose="020F0502020204030204" charset="0"/>
              </a:rPr>
              <a:t>201215128</a:t>
            </a:r>
            <a:r>
              <a:rPr lang="zh-CN" altLang="en-US" sz="2800" dirty="0">
                <a:solidFill>
                  <a:srgbClr val="FF0000"/>
                </a:solidFill>
                <a:latin typeface="Calibri" panose="020F0502020204030204" charset="0"/>
                <a:cs typeface="Calibri" panose="020F0502020204030204" charset="0"/>
              </a:rPr>
              <a:t>',</a:t>
            </a:r>
            <a:r>
              <a:rPr lang="en-US" altLang="zh-CN" sz="2800" dirty="0">
                <a:solidFill>
                  <a:srgbClr val="FF0000"/>
                </a:solidFill>
                <a:latin typeface="Calibri" panose="020F0502020204030204" charset="0"/>
                <a:cs typeface="Calibri" panose="020F0502020204030204" charset="0"/>
              </a:rPr>
              <a:t> </a:t>
            </a:r>
            <a:r>
              <a:rPr lang="zh-CN" altLang="en-US" sz="2800" dirty="0">
                <a:solidFill>
                  <a:srgbClr val="FF0000"/>
                </a:solidFill>
                <a:latin typeface="Calibri" panose="020F0502020204030204" charset="0"/>
                <a:cs typeface="Calibri" panose="020F0502020204030204" charset="0"/>
              </a:rPr>
              <a:t>'</a:t>
            </a:r>
            <a:r>
              <a:rPr lang="en-US" altLang="zh-CN" sz="2800" dirty="0">
                <a:solidFill>
                  <a:srgbClr val="FF0000"/>
                </a:solidFill>
                <a:latin typeface="Calibri" panose="020F0502020204030204" charset="0"/>
                <a:cs typeface="Calibri" panose="020F0502020204030204" charset="0"/>
              </a:rPr>
              <a:t>1</a:t>
            </a:r>
            <a:r>
              <a:rPr lang="zh-CN" altLang="en-US" sz="2800" dirty="0">
                <a:solidFill>
                  <a:srgbClr val="FF0000"/>
                </a:solidFill>
                <a:latin typeface="Calibri" panose="020F0502020204030204" charset="0"/>
                <a:cs typeface="Calibri" panose="020F0502020204030204" charset="0"/>
              </a:rPr>
              <a:t>');</a:t>
            </a:r>
            <a:endParaRPr lang="zh-CN" altLang="en-US" sz="2800" dirty="0">
              <a:solidFill>
                <a:srgbClr val="FF0000"/>
              </a:solidFill>
              <a:latin typeface="Calibri" panose="020F0502020204030204" charset="0"/>
              <a:cs typeface="Calibri" panose="020F0502020204030204" charset="0"/>
            </a:endParaRPr>
          </a:p>
        </p:txBody>
      </p:sp>
      <p:sp>
        <p:nvSpPr>
          <p:cNvPr id="5" name="内容占位符 5"/>
          <p:cNvSpPr>
            <a:spLocks noGrp="1"/>
          </p:cNvSpPr>
          <p:nvPr/>
        </p:nvSpPr>
        <p:spPr>
          <a:xfrm>
            <a:off x="472440" y="3061335"/>
            <a:ext cx="11343005" cy="565150"/>
          </a:xfrm>
          <a:prstGeom prst="rect">
            <a:avLst/>
          </a:prstGeom>
        </p:spPr>
        <p:txBody>
          <a:bodyPr vert="horz"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charset="-122"/>
                <a:ea typeface="楷体"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charset="-122"/>
                <a:ea typeface="楷体"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charset="-122"/>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1">
              <a:lnSpc>
                <a:spcPct val="110000"/>
              </a:lnSpc>
              <a:spcBef>
                <a:spcPts val="2000"/>
              </a:spcBef>
            </a:pPr>
            <a:r>
              <a:rPr lang="zh-CN" altLang="en-US" sz="2800" dirty="0">
                <a:latin typeface="Calibri" panose="020F0502020204030204" charset="0"/>
                <a:cs typeface="Calibri" panose="020F0502020204030204" charset="0"/>
              </a:rPr>
              <a:t>关系数据库管理系统将在新插入记录的</a:t>
            </a:r>
            <a:r>
              <a:rPr lang="en-US" altLang="zh-CN" sz="2800" dirty="0">
                <a:latin typeface="Calibri" panose="020F0502020204030204" charset="0"/>
                <a:cs typeface="Calibri" panose="020F0502020204030204" charset="0"/>
              </a:rPr>
              <a:t>Grade</a:t>
            </a:r>
            <a:r>
              <a:rPr lang="zh-CN" altLang="en-US" sz="2800" dirty="0">
                <a:latin typeface="Calibri" panose="020F0502020204030204" charset="0"/>
                <a:cs typeface="Calibri" panose="020F0502020204030204" charset="0"/>
              </a:rPr>
              <a:t>列上自动地赋空值。</a:t>
            </a:r>
            <a:endParaRPr lang="zh-CN" altLang="en-US" sz="2800" dirty="0">
              <a:solidFill>
                <a:srgbClr val="FF0000"/>
              </a:solidFill>
              <a:latin typeface="Calibri" panose="020F0502020204030204" charset="0"/>
              <a:cs typeface="Calibri" panose="020F0502020204030204" charset="0"/>
            </a:endParaRPr>
          </a:p>
        </p:txBody>
      </p:sp>
      <p:sp>
        <p:nvSpPr>
          <p:cNvPr id="7" name="内容占位符 5"/>
          <p:cNvSpPr>
            <a:spLocks noGrp="1"/>
          </p:cNvSpPr>
          <p:nvPr/>
        </p:nvSpPr>
        <p:spPr>
          <a:xfrm>
            <a:off x="424180" y="3845560"/>
            <a:ext cx="11343005" cy="565150"/>
          </a:xfrm>
          <a:prstGeom prst="rect">
            <a:avLst/>
          </a:prstGeom>
        </p:spPr>
        <p:txBody>
          <a:bodyPr vert="horz"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charset="-122"/>
                <a:ea typeface="楷体"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charset="-122"/>
                <a:ea typeface="楷体"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charset="-122"/>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1">
              <a:lnSpc>
                <a:spcPct val="110000"/>
              </a:lnSpc>
              <a:spcBef>
                <a:spcPts val="2000"/>
              </a:spcBef>
            </a:pPr>
            <a:r>
              <a:rPr lang="zh-CN" altLang="en-US" sz="2800" dirty="0">
                <a:latin typeface="Calibri" panose="020F0502020204030204" charset="0"/>
                <a:cs typeface="Calibri" panose="020F0502020204030204" charset="0"/>
              </a:rPr>
              <a:t>或者：</a:t>
            </a:r>
            <a:endParaRPr lang="zh-CN" altLang="en-US" sz="2800" dirty="0">
              <a:solidFill>
                <a:srgbClr val="FF0000"/>
              </a:solidFill>
              <a:latin typeface="Calibri" panose="020F0502020204030204" charset="0"/>
              <a:cs typeface="Calibri" panose="020F0502020204030204" charset="0"/>
            </a:endParaRPr>
          </a:p>
        </p:txBody>
      </p:sp>
      <p:sp>
        <p:nvSpPr>
          <p:cNvPr id="8" name="内容占位符 5"/>
          <p:cNvSpPr>
            <a:spLocks noGrp="1"/>
          </p:cNvSpPr>
          <p:nvPr/>
        </p:nvSpPr>
        <p:spPr>
          <a:xfrm>
            <a:off x="424180" y="4548505"/>
            <a:ext cx="11343005" cy="1512570"/>
          </a:xfrm>
          <a:prstGeom prst="rect">
            <a:avLst/>
          </a:prstGeom>
          <a:solidFill>
            <a:schemeClr val="accent3">
              <a:lumMod val="20000"/>
              <a:lumOff val="80000"/>
              <a:alpha val="50000"/>
            </a:schemeClr>
          </a:solidFill>
          <a:ln>
            <a:solidFill>
              <a:schemeClr val="tx1"/>
            </a:solidFill>
          </a:ln>
        </p:spPr>
        <p:txBody>
          <a:bodyPr vert="horz"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charset="-122"/>
                <a:ea typeface="楷体"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charset="-122"/>
                <a:ea typeface="楷体"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charset="-122"/>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821055" lvl="2" indent="0">
              <a:lnSpc>
                <a:spcPct val="110000"/>
              </a:lnSpc>
              <a:spcBef>
                <a:spcPts val="2000"/>
              </a:spcBef>
              <a:buNone/>
            </a:pPr>
            <a:r>
              <a:rPr lang="en-US" altLang="zh-CN" sz="2800" dirty="0">
                <a:solidFill>
                  <a:srgbClr val="FF0000"/>
                </a:solidFill>
                <a:latin typeface="Calibri" panose="020F0502020204030204" charset="0"/>
                <a:cs typeface="Calibri" panose="020F0502020204030204" charset="0"/>
              </a:rPr>
              <a:t>INSERT</a:t>
            </a:r>
            <a:endParaRPr lang="en-US" altLang="zh-CN" sz="2800" dirty="0">
              <a:solidFill>
                <a:srgbClr val="FF0000"/>
              </a:solidFill>
              <a:latin typeface="Calibri" panose="020F0502020204030204" charset="0"/>
              <a:cs typeface="Calibri" panose="020F0502020204030204" charset="0"/>
            </a:endParaRPr>
          </a:p>
          <a:p>
            <a:pPr marL="821055" lvl="2" indent="0">
              <a:buNone/>
            </a:pPr>
            <a:r>
              <a:rPr lang="en-US" altLang="zh-CN" sz="2800" dirty="0">
                <a:solidFill>
                  <a:srgbClr val="FF0000"/>
                </a:solidFill>
                <a:latin typeface="Calibri" panose="020F0502020204030204" charset="0"/>
                <a:cs typeface="Calibri" panose="020F0502020204030204" charset="0"/>
              </a:rPr>
              <a:t>INTO SC</a:t>
            </a:r>
            <a:endParaRPr lang="en-US" altLang="zh-CN" sz="2800" dirty="0">
              <a:solidFill>
                <a:srgbClr val="FF0000"/>
              </a:solidFill>
              <a:latin typeface="Calibri" panose="020F0502020204030204" charset="0"/>
              <a:cs typeface="Calibri" panose="020F0502020204030204" charset="0"/>
            </a:endParaRPr>
          </a:p>
          <a:p>
            <a:pPr marL="821055" lvl="2" indent="0">
              <a:buNone/>
            </a:pPr>
            <a:r>
              <a:rPr lang="en-US" altLang="zh-CN" sz="2800" dirty="0">
                <a:solidFill>
                  <a:srgbClr val="FF0000"/>
                </a:solidFill>
                <a:latin typeface="Calibri" panose="020F0502020204030204" charset="0"/>
                <a:cs typeface="Calibri" panose="020F0502020204030204" charset="0"/>
              </a:rPr>
              <a:t>VALUES </a:t>
            </a:r>
            <a:r>
              <a:rPr lang="zh-CN" altLang="en-US" sz="2800" dirty="0">
                <a:solidFill>
                  <a:srgbClr val="FF0000"/>
                </a:solidFill>
                <a:latin typeface="Calibri" panose="020F0502020204030204" charset="0"/>
                <a:cs typeface="Calibri" panose="020F0502020204030204" charset="0"/>
              </a:rPr>
              <a:t>(</a:t>
            </a:r>
            <a:r>
              <a:rPr lang="en-US" altLang="zh-CN" sz="2800" dirty="0">
                <a:solidFill>
                  <a:srgbClr val="FF0000"/>
                </a:solidFill>
                <a:latin typeface="Calibri" panose="020F0502020204030204" charset="0"/>
                <a:cs typeface="Calibri" panose="020F0502020204030204" charset="0"/>
              </a:rPr>
              <a:t>'201215128'</a:t>
            </a:r>
            <a:r>
              <a:rPr lang="zh-CN" altLang="en-US" sz="2800" dirty="0">
                <a:solidFill>
                  <a:srgbClr val="FF0000"/>
                </a:solidFill>
                <a:latin typeface="Calibri" panose="020F0502020204030204" charset="0"/>
                <a:cs typeface="Calibri" panose="020F0502020204030204" charset="0"/>
              </a:rPr>
              <a:t>,</a:t>
            </a:r>
            <a:r>
              <a:rPr lang="en-US" altLang="zh-CN" sz="2800" dirty="0">
                <a:solidFill>
                  <a:srgbClr val="FF0000"/>
                </a:solidFill>
                <a:latin typeface="Calibri" panose="020F0502020204030204" charset="0"/>
                <a:cs typeface="Calibri" panose="020F0502020204030204" charset="0"/>
              </a:rPr>
              <a:t> '1'</a:t>
            </a:r>
            <a:r>
              <a:rPr lang="zh-CN" altLang="en-US" sz="2800" dirty="0">
                <a:solidFill>
                  <a:srgbClr val="FF0000"/>
                </a:solidFill>
                <a:latin typeface="Calibri" panose="020F0502020204030204" charset="0"/>
                <a:cs typeface="Calibri" panose="020F0502020204030204" charset="0"/>
              </a:rPr>
              <a:t>,</a:t>
            </a:r>
            <a:r>
              <a:rPr lang="en-US" altLang="zh-CN" sz="2800" dirty="0">
                <a:solidFill>
                  <a:srgbClr val="FF0000"/>
                </a:solidFill>
                <a:latin typeface="Calibri" panose="020F0502020204030204" charset="0"/>
                <a:cs typeface="Calibri" panose="020F0502020204030204" charset="0"/>
              </a:rPr>
              <a:t> NULL</a:t>
            </a:r>
            <a:r>
              <a:rPr lang="zh-CN" altLang="en-US" sz="2800" dirty="0">
                <a:solidFill>
                  <a:srgbClr val="FF0000"/>
                </a:solidFill>
                <a:latin typeface="Calibri" panose="020F0502020204030204" charset="0"/>
                <a:cs typeface="Calibri" panose="020F0502020204030204" charset="0"/>
              </a:rPr>
              <a:t>);</a:t>
            </a:r>
            <a:endParaRPr lang="zh-CN" altLang="en-US" sz="2800" dirty="0">
              <a:solidFill>
                <a:srgbClr val="FF0000"/>
              </a:solidFill>
              <a:latin typeface="Calibri" panose="020F0502020204030204" charset="0"/>
              <a:cs typeface="Calibri" panose="020F050202020403020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500" fill="hold"/>
                                        <p:tgtEl>
                                          <p:spTgt spid="8"/>
                                        </p:tgtEl>
                                        <p:attrNameLst>
                                          <p:attrName>ppt_x</p:attrName>
                                        </p:attrNameLst>
                                      </p:cBhvr>
                                      <p:tavLst>
                                        <p:tav tm="0">
                                          <p:val>
                                            <p:strVal val="#ppt_x"/>
                                          </p:val>
                                        </p:tav>
                                        <p:tav tm="100000">
                                          <p:val>
                                            <p:strVal val="#ppt_x"/>
                                          </p:val>
                                        </p:tav>
                                      </p:tavLst>
                                    </p:anim>
                                    <p:anim calcmode="lin" valueType="num">
                                      <p:cBhvr additive="base">
                                        <p:cTn id="2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7" grpId="0"/>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zh-CN" altLang="en-US" dirty="0"/>
              <a:t>插入子查询结果 </a:t>
            </a:r>
            <a:r>
              <a:rPr lang="en-US" altLang="zh-CN" dirty="0"/>
              <a:t>1</a:t>
            </a:r>
            <a:endParaRPr lang="zh-CN" altLang="en-US" dirty="0"/>
          </a:p>
        </p:txBody>
      </p:sp>
      <p:sp>
        <p:nvSpPr>
          <p:cNvPr id="12291" name="Rectangle 3"/>
          <p:cNvSpPr>
            <a:spLocks noGrp="1" noChangeArrowheads="1"/>
          </p:cNvSpPr>
          <p:nvPr>
            <p:ph idx="1"/>
          </p:nvPr>
        </p:nvSpPr>
        <p:spPr>
          <a:xfrm>
            <a:off x="424180" y="687070"/>
            <a:ext cx="11343005" cy="565150"/>
          </a:xfrm>
        </p:spPr>
        <p:txBody>
          <a:bodyPr>
            <a:spAutoFit/>
          </a:bodyPr>
          <a:lstStyle/>
          <a:p>
            <a:r>
              <a:rPr lang="zh-CN" altLang="en-US" sz="2800" dirty="0">
                <a:latin typeface="Calibri" panose="020F0502020204030204" charset="0"/>
                <a:cs typeface="Calibri" panose="020F0502020204030204" charset="0"/>
              </a:rPr>
              <a:t>语句格式</a:t>
            </a:r>
            <a:endParaRPr lang="zh-CN" altLang="en-US" sz="2800" dirty="0">
              <a:latin typeface="Calibri" panose="020F0502020204030204" charset="0"/>
              <a:cs typeface="Calibri" panose="020F0502020204030204" charset="0"/>
            </a:endParaRPr>
          </a:p>
        </p:txBody>
      </p:sp>
      <p:sp>
        <p:nvSpPr>
          <p:cNvPr id="2" name="灯片编号占位符 1"/>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ch03_3_SQL数据更新</a:t>
            </a:r>
            <a:endParaRPr lang="zh-CN" altLang="en-US"/>
          </a:p>
        </p:txBody>
      </p:sp>
      <p:sp>
        <p:nvSpPr>
          <p:cNvPr id="3" name="Rectangle 3"/>
          <p:cNvSpPr>
            <a:spLocks noGrp="1" noChangeArrowheads="1"/>
          </p:cNvSpPr>
          <p:nvPr/>
        </p:nvSpPr>
        <p:spPr>
          <a:xfrm>
            <a:off x="424180" y="1366520"/>
            <a:ext cx="11343005" cy="1512570"/>
          </a:xfrm>
          <a:prstGeom prst="rect">
            <a:avLst/>
          </a:prstGeom>
          <a:solidFill>
            <a:schemeClr val="accent3">
              <a:lumMod val="20000"/>
              <a:lumOff val="80000"/>
              <a:alpha val="50000"/>
            </a:schemeClr>
          </a:solidFill>
          <a:ln>
            <a:solidFill>
              <a:schemeClr val="tx1"/>
            </a:solidFill>
          </a:ln>
        </p:spPr>
        <p:txBody>
          <a:bodyPr vert="horz"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charset="-122"/>
                <a:ea typeface="楷体"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charset="-122"/>
                <a:ea typeface="楷体"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charset="-122"/>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363855" lvl="1" indent="0">
              <a:buNone/>
            </a:pPr>
            <a:r>
              <a:rPr lang="zh-CN" altLang="en-US" sz="2800" dirty="0">
                <a:latin typeface="Calibri" panose="020F0502020204030204" charset="0"/>
                <a:cs typeface="Calibri" panose="020F0502020204030204" charset="0"/>
              </a:rPr>
              <a:t> </a:t>
            </a:r>
            <a:r>
              <a:rPr lang="en-US" altLang="zh-CN" sz="2800" dirty="0">
                <a:solidFill>
                  <a:srgbClr val="FF0000"/>
                </a:solidFill>
                <a:latin typeface="Calibri" panose="020F0502020204030204" charset="0"/>
                <a:cs typeface="Calibri" panose="020F0502020204030204" charset="0"/>
              </a:rPr>
              <a:t>INSERT </a:t>
            </a:r>
            <a:endParaRPr lang="en-US" altLang="zh-CN" sz="2800" dirty="0">
              <a:solidFill>
                <a:srgbClr val="FF0000"/>
              </a:solidFill>
              <a:latin typeface="Calibri" panose="020F0502020204030204" charset="0"/>
              <a:cs typeface="Calibri" panose="020F0502020204030204" charset="0"/>
            </a:endParaRPr>
          </a:p>
          <a:p>
            <a:pPr marL="363855" lvl="1" indent="0">
              <a:buNone/>
            </a:pPr>
            <a:r>
              <a:rPr lang="en-US" altLang="zh-CN" sz="2800" dirty="0">
                <a:solidFill>
                  <a:srgbClr val="FF0000"/>
                </a:solidFill>
                <a:latin typeface="Calibri" panose="020F0502020204030204" charset="0"/>
                <a:cs typeface="Calibri" panose="020F0502020204030204" charset="0"/>
              </a:rPr>
              <a:t> INTO &lt;</a:t>
            </a:r>
            <a:r>
              <a:rPr lang="zh-CN" altLang="en-US" sz="2800" dirty="0">
                <a:solidFill>
                  <a:srgbClr val="FF0000"/>
                </a:solidFill>
                <a:latin typeface="Calibri" panose="020F0502020204030204" charset="0"/>
                <a:cs typeface="Calibri" panose="020F0502020204030204" charset="0"/>
              </a:rPr>
              <a:t>表名</a:t>
            </a:r>
            <a:r>
              <a:rPr lang="en-US" altLang="zh-CN" sz="2800" dirty="0">
                <a:solidFill>
                  <a:srgbClr val="FF0000"/>
                </a:solidFill>
                <a:latin typeface="Calibri" panose="020F0502020204030204" charset="0"/>
                <a:cs typeface="Calibri" panose="020F0502020204030204" charset="0"/>
              </a:rPr>
              <a:t>&gt;  [</a:t>
            </a:r>
            <a:r>
              <a:rPr lang="zh-CN" altLang="en-US" sz="2800" dirty="0">
                <a:solidFill>
                  <a:srgbClr val="FF0000"/>
                </a:solidFill>
                <a:latin typeface="Calibri" panose="020F0502020204030204" charset="0"/>
                <a:cs typeface="Calibri" panose="020F0502020204030204" charset="0"/>
              </a:rPr>
              <a:t>(</a:t>
            </a:r>
            <a:r>
              <a:rPr lang="en-US" altLang="zh-CN" sz="2800" dirty="0">
                <a:solidFill>
                  <a:srgbClr val="FF0000"/>
                </a:solidFill>
                <a:latin typeface="Calibri" panose="020F0502020204030204" charset="0"/>
                <a:cs typeface="Calibri" panose="020F0502020204030204" charset="0"/>
              </a:rPr>
              <a:t>&lt;</a:t>
            </a:r>
            <a:r>
              <a:rPr lang="zh-CN" altLang="en-US" sz="2800" dirty="0">
                <a:solidFill>
                  <a:srgbClr val="FF0000"/>
                </a:solidFill>
                <a:latin typeface="Calibri" panose="020F0502020204030204" charset="0"/>
                <a:cs typeface="Calibri" panose="020F0502020204030204" charset="0"/>
              </a:rPr>
              <a:t>属性列</a:t>
            </a:r>
            <a:r>
              <a:rPr lang="en-US" altLang="zh-CN" sz="2800" dirty="0">
                <a:solidFill>
                  <a:srgbClr val="FF0000"/>
                </a:solidFill>
                <a:latin typeface="Calibri" panose="020F0502020204030204" charset="0"/>
                <a:cs typeface="Calibri" panose="020F0502020204030204" charset="0"/>
              </a:rPr>
              <a:t>1&gt; [</a:t>
            </a:r>
            <a:r>
              <a:rPr lang="zh-CN" altLang="en-US" sz="2800" dirty="0">
                <a:solidFill>
                  <a:srgbClr val="FF0000"/>
                </a:solidFill>
                <a:latin typeface="Calibri" panose="020F0502020204030204" charset="0"/>
                <a:cs typeface="Calibri" panose="020F0502020204030204" charset="0"/>
              </a:rPr>
              <a:t>,</a:t>
            </a:r>
            <a:r>
              <a:rPr lang="en-US" altLang="zh-CN" sz="2800" dirty="0">
                <a:solidFill>
                  <a:srgbClr val="FF0000"/>
                </a:solidFill>
                <a:latin typeface="Calibri" panose="020F0502020204030204" charset="0"/>
                <a:cs typeface="Calibri" panose="020F0502020204030204" charset="0"/>
              </a:rPr>
              <a:t>&lt;</a:t>
            </a:r>
            <a:r>
              <a:rPr lang="zh-CN" altLang="en-US" sz="2800" dirty="0">
                <a:solidFill>
                  <a:srgbClr val="FF0000"/>
                </a:solidFill>
                <a:latin typeface="Calibri" panose="020F0502020204030204" charset="0"/>
                <a:cs typeface="Calibri" panose="020F0502020204030204" charset="0"/>
              </a:rPr>
              <a:t>属性列</a:t>
            </a:r>
            <a:r>
              <a:rPr lang="en-US" altLang="zh-CN" sz="2800" dirty="0">
                <a:solidFill>
                  <a:srgbClr val="FF0000"/>
                </a:solidFill>
                <a:latin typeface="Calibri" panose="020F0502020204030204" charset="0"/>
                <a:cs typeface="Calibri" panose="020F0502020204030204" charset="0"/>
              </a:rPr>
              <a:t>2&gt;…  </a:t>
            </a:r>
            <a:r>
              <a:rPr lang="zh-CN" altLang="en-US" sz="2800" dirty="0">
                <a:solidFill>
                  <a:srgbClr val="FF0000"/>
                </a:solidFill>
                <a:latin typeface="Calibri" panose="020F0502020204030204" charset="0"/>
                <a:cs typeface="Calibri" panose="020F0502020204030204" charset="0"/>
              </a:rPr>
              <a:t>)</a:t>
            </a:r>
            <a:r>
              <a:rPr lang="en-US" altLang="zh-CN" sz="2800" dirty="0">
                <a:solidFill>
                  <a:srgbClr val="FF0000"/>
                </a:solidFill>
                <a:latin typeface="Calibri" panose="020F0502020204030204" charset="0"/>
                <a:cs typeface="Calibri" panose="020F0502020204030204" charset="0"/>
              </a:rPr>
              <a:t>]</a:t>
            </a:r>
            <a:endParaRPr lang="en-US" altLang="zh-CN" sz="2800" dirty="0">
              <a:solidFill>
                <a:srgbClr val="FF0000"/>
              </a:solidFill>
              <a:latin typeface="Calibri" panose="020F0502020204030204" charset="0"/>
              <a:cs typeface="Calibri" panose="020F0502020204030204" charset="0"/>
            </a:endParaRPr>
          </a:p>
          <a:p>
            <a:pPr marL="363855" lvl="1" indent="0">
              <a:buNone/>
            </a:pPr>
            <a:r>
              <a:rPr lang="en-US" altLang="zh-CN" sz="2800" dirty="0">
                <a:solidFill>
                  <a:srgbClr val="FF0000"/>
                </a:solidFill>
                <a:latin typeface="Calibri" panose="020F0502020204030204" charset="0"/>
                <a:cs typeface="Calibri" panose="020F0502020204030204" charset="0"/>
              </a:rPr>
              <a:t> </a:t>
            </a:r>
            <a:r>
              <a:rPr lang="zh-CN" altLang="en-US" sz="2800" dirty="0">
                <a:solidFill>
                  <a:srgbClr val="FF0000"/>
                </a:solidFill>
                <a:latin typeface="Calibri" panose="020F0502020204030204" charset="0"/>
                <a:cs typeface="Calibri" panose="020F0502020204030204" charset="0"/>
              </a:rPr>
              <a:t>子查询;</a:t>
            </a:r>
            <a:endParaRPr lang="zh-CN" altLang="en-US" sz="2800" dirty="0">
              <a:solidFill>
                <a:srgbClr val="FF0000"/>
              </a:solidFill>
              <a:latin typeface="Calibri" panose="020F0502020204030204" charset="0"/>
              <a:cs typeface="Calibri" panose="020F0502020204030204" charset="0"/>
            </a:endParaRPr>
          </a:p>
        </p:txBody>
      </p:sp>
      <p:sp>
        <p:nvSpPr>
          <p:cNvPr id="5" name="Rectangle 3"/>
          <p:cNvSpPr>
            <a:spLocks noGrp="1" noChangeArrowheads="1"/>
          </p:cNvSpPr>
          <p:nvPr/>
        </p:nvSpPr>
        <p:spPr>
          <a:xfrm>
            <a:off x="424180" y="3561715"/>
            <a:ext cx="11343005" cy="2242820"/>
          </a:xfrm>
          <a:prstGeom prst="rect">
            <a:avLst/>
          </a:prstGeom>
        </p:spPr>
        <p:txBody>
          <a:bodyPr vert="horz"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charset="-122"/>
                <a:ea typeface="楷体"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charset="-122"/>
                <a:ea typeface="楷体"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charset="-122"/>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10000"/>
              </a:lnSpc>
              <a:spcBef>
                <a:spcPts val="2000"/>
              </a:spcBef>
            </a:pPr>
            <a:r>
              <a:rPr lang="en-US" altLang="zh-CN" sz="2800" dirty="0">
                <a:latin typeface="Calibri" panose="020F0502020204030204" charset="0"/>
                <a:cs typeface="Calibri" panose="020F0502020204030204" charset="0"/>
              </a:rPr>
              <a:t>INTO</a:t>
            </a:r>
            <a:r>
              <a:rPr lang="zh-CN" altLang="en-US" sz="2800" dirty="0">
                <a:latin typeface="Calibri" panose="020F0502020204030204" charset="0"/>
                <a:cs typeface="Calibri" panose="020F0502020204030204" charset="0"/>
              </a:rPr>
              <a:t>子句</a:t>
            </a:r>
            <a:endParaRPr lang="en-US" altLang="zh-CN" sz="2800" dirty="0">
              <a:latin typeface="Calibri" panose="020F0502020204030204" charset="0"/>
              <a:cs typeface="Calibri" panose="020F0502020204030204" charset="0"/>
            </a:endParaRPr>
          </a:p>
          <a:p>
            <a:pPr>
              <a:lnSpc>
                <a:spcPct val="110000"/>
              </a:lnSpc>
              <a:spcBef>
                <a:spcPts val="2000"/>
              </a:spcBef>
            </a:pPr>
            <a:r>
              <a:rPr lang="zh-CN" altLang="en-US" sz="2800" dirty="0">
                <a:latin typeface="Calibri" panose="020F0502020204030204" charset="0"/>
                <a:cs typeface="Calibri" panose="020F0502020204030204" charset="0"/>
              </a:rPr>
              <a:t>子查询</a:t>
            </a:r>
            <a:endParaRPr lang="zh-CN" altLang="en-US" sz="2800" dirty="0">
              <a:latin typeface="Calibri" panose="020F0502020204030204" charset="0"/>
              <a:cs typeface="Calibri" panose="020F0502020204030204" charset="0"/>
            </a:endParaRPr>
          </a:p>
          <a:p>
            <a:pPr lvl="1"/>
            <a:r>
              <a:rPr lang="en-US" altLang="zh-CN" sz="2800" dirty="0">
                <a:latin typeface="Calibri" panose="020F0502020204030204" charset="0"/>
                <a:cs typeface="Calibri" panose="020F0502020204030204" charset="0"/>
              </a:rPr>
              <a:t>SELECT</a:t>
            </a:r>
            <a:r>
              <a:rPr lang="zh-CN" altLang="en-US" sz="2800" dirty="0">
                <a:latin typeface="Calibri" panose="020F0502020204030204" charset="0"/>
                <a:cs typeface="Calibri" panose="020F0502020204030204" charset="0"/>
              </a:rPr>
              <a:t>子句目标列必须与</a:t>
            </a:r>
            <a:r>
              <a:rPr lang="en-US" altLang="zh-CN" sz="2800" dirty="0">
                <a:latin typeface="Calibri" panose="020F0502020204030204" charset="0"/>
                <a:cs typeface="Calibri" panose="020F0502020204030204" charset="0"/>
              </a:rPr>
              <a:t>INTO</a:t>
            </a:r>
            <a:r>
              <a:rPr lang="zh-CN" altLang="en-US" sz="2800" dirty="0">
                <a:latin typeface="Calibri" panose="020F0502020204030204" charset="0"/>
                <a:cs typeface="Calibri" panose="020F0502020204030204" charset="0"/>
              </a:rPr>
              <a:t>子句匹配</a:t>
            </a:r>
            <a:endParaRPr lang="zh-CN" altLang="en-US" sz="2800" dirty="0">
              <a:latin typeface="Calibri" panose="020F0502020204030204" charset="0"/>
              <a:cs typeface="Calibri" panose="020F0502020204030204" charset="0"/>
            </a:endParaRPr>
          </a:p>
          <a:p>
            <a:pPr lvl="2"/>
            <a:r>
              <a:rPr lang="zh-CN" altLang="en-US" sz="2800" dirty="0">
                <a:latin typeface="Calibri" panose="020F0502020204030204" charset="0"/>
                <a:cs typeface="Calibri" panose="020F0502020204030204" charset="0"/>
              </a:rPr>
              <a:t>值的个数</a:t>
            </a:r>
            <a:r>
              <a:rPr lang="en-US" altLang="zh-CN" sz="2800" dirty="0">
                <a:latin typeface="Calibri" panose="020F0502020204030204" charset="0"/>
                <a:cs typeface="Calibri" panose="020F0502020204030204" charset="0"/>
              </a:rPr>
              <a:t> &amp; </a:t>
            </a:r>
            <a:r>
              <a:rPr lang="zh-CN" altLang="en-US" sz="2800" dirty="0">
                <a:latin typeface="Calibri" panose="020F0502020204030204" charset="0"/>
                <a:cs typeface="Calibri" panose="020F0502020204030204" charset="0"/>
              </a:rPr>
              <a:t>值的类型</a:t>
            </a:r>
            <a:endParaRPr lang="zh-CN" altLang="en-US" sz="2800" dirty="0">
              <a:latin typeface="Calibri" panose="020F0502020204030204" charset="0"/>
              <a:cs typeface="Calibri" panose="020F050202020403020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zh-CN" altLang="en-US" dirty="0"/>
              <a:t>插入子查询结果 </a:t>
            </a:r>
            <a:r>
              <a:rPr lang="en-US" altLang="zh-CN" dirty="0"/>
              <a:t>2</a:t>
            </a:r>
            <a:endParaRPr lang="zh-CN" altLang="en-US" dirty="0"/>
          </a:p>
        </p:txBody>
      </p:sp>
      <p:sp>
        <p:nvSpPr>
          <p:cNvPr id="13315" name="Rectangle 3"/>
          <p:cNvSpPr>
            <a:spLocks noGrp="1" noChangeArrowheads="1"/>
          </p:cNvSpPr>
          <p:nvPr>
            <p:ph idx="1"/>
          </p:nvPr>
        </p:nvSpPr>
        <p:spPr/>
        <p:txBody>
          <a:bodyPr>
            <a:noAutofit/>
          </a:bodyPr>
          <a:lstStyle/>
          <a:p>
            <a:pPr marL="0" indent="0">
              <a:lnSpc>
                <a:spcPct val="110000"/>
              </a:lnSpc>
              <a:spcBef>
                <a:spcPts val="0"/>
              </a:spcBef>
              <a:buNone/>
            </a:pPr>
            <a:r>
              <a:rPr lang="en-US" altLang="zh-CN" sz="2800" dirty="0"/>
              <a:t>[</a:t>
            </a:r>
            <a:r>
              <a:rPr lang="zh-CN" altLang="en-US" sz="2800" dirty="0"/>
              <a:t>例</a:t>
            </a:r>
            <a:r>
              <a:rPr lang="en-US" altLang="zh-CN" sz="2800" dirty="0"/>
              <a:t>3.72]</a:t>
            </a:r>
            <a:r>
              <a:rPr lang="zh-CN" altLang="en-US" sz="2800" dirty="0"/>
              <a:t>对每一个系，求学生的平均年龄，并把结果存入数据库</a:t>
            </a:r>
            <a:endParaRPr lang="en-US" altLang="zh-CN" sz="2800" dirty="0"/>
          </a:p>
          <a:p>
            <a:pPr>
              <a:lnSpc>
                <a:spcPct val="110000"/>
              </a:lnSpc>
              <a:spcBef>
                <a:spcPts val="1000"/>
              </a:spcBef>
            </a:pPr>
            <a:r>
              <a:rPr lang="zh-CN" altLang="en-US" sz="2800" dirty="0"/>
              <a:t>第一步：建表</a:t>
            </a:r>
            <a:endParaRPr lang="zh-CN" altLang="en-US" sz="2800" dirty="0"/>
          </a:p>
          <a:p>
            <a:pPr marL="809625" lvl="2" indent="0">
              <a:lnSpc>
                <a:spcPct val="110000"/>
              </a:lnSpc>
              <a:spcBef>
                <a:spcPts val="1000"/>
              </a:spcBef>
              <a:buNone/>
            </a:pPr>
            <a:r>
              <a:rPr lang="en-US" altLang="zh-CN" dirty="0">
                <a:solidFill>
                  <a:srgbClr val="FF0000"/>
                </a:solidFill>
                <a:latin typeface="Arial" panose="020B0604020202090204" pitchFamily="34" charset="0"/>
                <a:cs typeface="Arial" panose="020B0604020202090204" pitchFamily="34" charset="0"/>
              </a:rPr>
              <a:t>CREATE  TABLE  </a:t>
            </a:r>
            <a:r>
              <a:rPr lang="en-US" altLang="zh-CN" dirty="0" err="1">
                <a:solidFill>
                  <a:srgbClr val="FF0000"/>
                </a:solidFill>
                <a:latin typeface="Arial" panose="020B0604020202090204" pitchFamily="34" charset="0"/>
                <a:cs typeface="Arial" panose="020B0604020202090204" pitchFamily="34" charset="0"/>
              </a:rPr>
              <a:t>Dept_age (</a:t>
            </a:r>
            <a:endParaRPr lang="en-US" altLang="zh-CN" dirty="0">
              <a:solidFill>
                <a:srgbClr val="FF0000"/>
              </a:solidFill>
              <a:latin typeface="Arial" panose="020B0604020202090204" pitchFamily="34" charset="0"/>
              <a:cs typeface="Arial" panose="020B0604020202090204" pitchFamily="34" charset="0"/>
            </a:endParaRPr>
          </a:p>
          <a:p>
            <a:pPr marL="1266825" lvl="3" indent="0">
              <a:lnSpc>
                <a:spcPct val="110000"/>
              </a:lnSpc>
              <a:spcBef>
                <a:spcPts val="0"/>
              </a:spcBef>
              <a:buNone/>
            </a:pPr>
            <a:r>
              <a:rPr lang="en-US" altLang="zh-CN" dirty="0" err="1">
                <a:solidFill>
                  <a:srgbClr val="FF0000"/>
                </a:solidFill>
                <a:latin typeface="Arial" panose="020B0604020202090204" pitchFamily="34" charset="0"/>
                <a:cs typeface="Arial" panose="020B0604020202090204" pitchFamily="34" charset="0"/>
              </a:rPr>
              <a:t>Sdept</a:t>
            </a:r>
            <a:r>
              <a:rPr lang="en-US" altLang="zh-CN" dirty="0">
                <a:solidFill>
                  <a:srgbClr val="FF0000"/>
                </a:solidFill>
                <a:latin typeface="Arial" panose="020B0604020202090204" pitchFamily="34" charset="0"/>
                <a:cs typeface="Arial" panose="020B0604020202090204" pitchFamily="34" charset="0"/>
              </a:rPr>
              <a:t>  CHAR</a:t>
            </a:r>
            <a:r>
              <a:rPr lang="zh-CN" altLang="en-US" dirty="0">
                <a:solidFill>
                  <a:srgbClr val="FF0000"/>
                </a:solidFill>
                <a:latin typeface="Arial" panose="020B0604020202090204" pitchFamily="34" charset="0"/>
                <a:cs typeface="Arial" panose="020B0604020202090204" pitchFamily="34" charset="0"/>
              </a:rPr>
              <a:t>(</a:t>
            </a:r>
            <a:r>
              <a:rPr lang="en-US" altLang="zh-CN" dirty="0">
                <a:solidFill>
                  <a:srgbClr val="FF0000"/>
                </a:solidFill>
                <a:latin typeface="Arial" panose="020B0604020202090204" pitchFamily="34" charset="0"/>
                <a:cs typeface="Arial" panose="020B0604020202090204" pitchFamily="34" charset="0"/>
              </a:rPr>
              <a:t>15</a:t>
            </a:r>
            <a:r>
              <a:rPr lang="zh-CN" altLang="en-US" dirty="0">
                <a:solidFill>
                  <a:srgbClr val="FF0000"/>
                </a:solidFill>
                <a:latin typeface="Arial" panose="020B0604020202090204" pitchFamily="34" charset="0"/>
                <a:cs typeface="Arial" panose="020B0604020202090204" pitchFamily="34" charset="0"/>
              </a:rPr>
              <a:t>)</a:t>
            </a:r>
            <a:r>
              <a:rPr lang="en-US" altLang="zh-CN">
                <a:solidFill>
                  <a:srgbClr val="FF0000"/>
                </a:solidFill>
                <a:latin typeface="Arial" panose="020B0604020202090204" pitchFamily="34" charset="0"/>
                <a:cs typeface="Arial" panose="020B0604020202090204" pitchFamily="34" charset="0"/>
              </a:rPr>
              <a:t>             </a:t>
            </a:r>
            <a:r>
              <a:rPr lang="en-US" altLang="zh-CN">
                <a:latin typeface="Arial" panose="020B0604020202090204" pitchFamily="34" charset="0"/>
                <a:cs typeface="Arial" panose="020B0604020202090204" pitchFamily="34" charset="0"/>
              </a:rPr>
              <a:t>          /* </a:t>
            </a:r>
            <a:r>
              <a:rPr lang="zh-CN" altLang="en-US" dirty="0">
                <a:latin typeface="Arial" panose="020B0604020202090204" pitchFamily="34" charset="0"/>
                <a:cs typeface="Arial" panose="020B0604020202090204" pitchFamily="34" charset="0"/>
              </a:rPr>
              <a:t>系名</a:t>
            </a:r>
            <a:r>
              <a:rPr lang="en-US" altLang="zh-CN" dirty="0">
                <a:latin typeface="Arial" panose="020B0604020202090204" pitchFamily="34" charset="0"/>
                <a:cs typeface="Arial" panose="020B0604020202090204" pitchFamily="34" charset="0"/>
              </a:rPr>
              <a:t> </a:t>
            </a:r>
            <a:r>
              <a:rPr lang="zh-CN" altLang="en-US" dirty="0">
                <a:latin typeface="Arial" panose="020B0604020202090204" pitchFamily="34" charset="0"/>
                <a:cs typeface="Arial" panose="020B0604020202090204" pitchFamily="34" charset="0"/>
              </a:rPr>
              <a:t>*</a:t>
            </a:r>
            <a:r>
              <a:rPr lang="en-US" altLang="zh-CN" dirty="0">
                <a:latin typeface="Arial" panose="020B0604020202090204" pitchFamily="34" charset="0"/>
                <a:cs typeface="Arial" panose="020B0604020202090204" pitchFamily="34" charset="0"/>
              </a:rPr>
              <a:t>/</a:t>
            </a:r>
            <a:endParaRPr lang="en-US" altLang="zh-CN" dirty="0">
              <a:latin typeface="Arial" panose="020B0604020202090204" pitchFamily="34" charset="0"/>
              <a:cs typeface="Arial" panose="020B0604020202090204" pitchFamily="34" charset="0"/>
            </a:endParaRPr>
          </a:p>
          <a:p>
            <a:pPr marL="1266825" lvl="3" indent="0">
              <a:lnSpc>
                <a:spcPct val="110000"/>
              </a:lnSpc>
              <a:spcBef>
                <a:spcPts val="0"/>
              </a:spcBef>
              <a:buNone/>
            </a:pPr>
            <a:r>
              <a:rPr lang="en-US" altLang="zh-CN" dirty="0" err="1">
                <a:solidFill>
                  <a:srgbClr val="FF0000"/>
                </a:solidFill>
                <a:latin typeface="Arial" panose="020B0604020202090204" pitchFamily="34" charset="0"/>
                <a:cs typeface="Arial" panose="020B0604020202090204" pitchFamily="34" charset="0"/>
              </a:rPr>
              <a:t>Avg_age</a:t>
            </a:r>
            <a:r>
              <a:rPr lang="en-US" altLang="zh-CN" dirty="0">
                <a:solidFill>
                  <a:srgbClr val="FF0000"/>
                </a:solidFill>
                <a:latin typeface="Arial" panose="020B0604020202090204" pitchFamily="34" charset="0"/>
                <a:cs typeface="Arial" panose="020B0604020202090204" pitchFamily="34" charset="0"/>
              </a:rPr>
              <a:t>  SMALLINT </a:t>
            </a:r>
            <a:r>
              <a:rPr lang="zh-CN" altLang="en-US" dirty="0">
                <a:solidFill>
                  <a:srgbClr val="FF0000"/>
                </a:solidFill>
                <a:latin typeface="Arial" panose="020B0604020202090204" pitchFamily="34" charset="0"/>
                <a:cs typeface="Arial" panose="020B0604020202090204" pitchFamily="34" charset="0"/>
              </a:rPr>
              <a:t>);  </a:t>
            </a:r>
            <a:r>
              <a:rPr lang="zh-CN" altLang="en-US" dirty="0">
                <a:latin typeface="Arial" panose="020B0604020202090204" pitchFamily="34" charset="0"/>
                <a:cs typeface="Arial" panose="020B0604020202090204" pitchFamily="34" charset="0"/>
              </a:rPr>
              <a:t>        	</a:t>
            </a:r>
            <a:r>
              <a:rPr lang="en-US" altLang="zh-CN" dirty="0">
                <a:latin typeface="Arial" panose="020B0604020202090204" pitchFamily="34" charset="0"/>
                <a:cs typeface="Arial" panose="020B0604020202090204" pitchFamily="34" charset="0"/>
              </a:rPr>
              <a:t>/* </a:t>
            </a:r>
            <a:r>
              <a:rPr lang="zh-CN" altLang="en-US" dirty="0">
                <a:latin typeface="Arial" panose="020B0604020202090204" pitchFamily="34" charset="0"/>
                <a:cs typeface="Arial" panose="020B0604020202090204" pitchFamily="34" charset="0"/>
              </a:rPr>
              <a:t>学生平均年龄</a:t>
            </a:r>
            <a:r>
              <a:rPr lang="en-US" altLang="zh-CN" dirty="0">
                <a:latin typeface="Arial" panose="020B0604020202090204" pitchFamily="34" charset="0"/>
                <a:cs typeface="Arial" panose="020B0604020202090204" pitchFamily="34" charset="0"/>
              </a:rPr>
              <a:t> </a:t>
            </a:r>
            <a:r>
              <a:rPr lang="zh-CN" altLang="en-US" dirty="0">
                <a:latin typeface="Arial" panose="020B0604020202090204" pitchFamily="34" charset="0"/>
                <a:cs typeface="Arial" panose="020B0604020202090204" pitchFamily="34" charset="0"/>
              </a:rPr>
              <a:t>*</a:t>
            </a:r>
            <a:r>
              <a:rPr lang="en-US" altLang="zh-CN" dirty="0">
                <a:latin typeface="Arial" panose="020B0604020202090204" pitchFamily="34" charset="0"/>
                <a:cs typeface="Arial" panose="020B0604020202090204" pitchFamily="34" charset="0"/>
              </a:rPr>
              <a:t>/</a:t>
            </a:r>
            <a:endParaRPr lang="en-US" altLang="zh-CN" dirty="0">
              <a:latin typeface="Arial" panose="020B0604020202090204" pitchFamily="34" charset="0"/>
              <a:cs typeface="Arial" panose="020B0604020202090204" pitchFamily="34" charset="0"/>
            </a:endParaRPr>
          </a:p>
          <a:p>
            <a:pPr>
              <a:lnSpc>
                <a:spcPct val="110000"/>
              </a:lnSpc>
              <a:spcBef>
                <a:spcPts val="1000"/>
              </a:spcBef>
            </a:pPr>
            <a:r>
              <a:rPr lang="zh-CN" altLang="en-US" sz="2800" dirty="0"/>
              <a:t>第二步：插入数据</a:t>
            </a:r>
            <a:endParaRPr lang="zh-CN" altLang="en-US" sz="2800" dirty="0"/>
          </a:p>
          <a:p>
            <a:pPr marL="809625" lvl="2" indent="0">
              <a:lnSpc>
                <a:spcPct val="110000"/>
              </a:lnSpc>
              <a:spcBef>
                <a:spcPts val="1000"/>
              </a:spcBef>
              <a:buNone/>
            </a:pPr>
            <a:r>
              <a:rPr lang="en-US" altLang="zh-CN" dirty="0">
                <a:solidFill>
                  <a:srgbClr val="FF0000"/>
                </a:solidFill>
                <a:latin typeface="Arial" panose="020B0604020202090204" pitchFamily="34" charset="0"/>
                <a:cs typeface="Arial" panose="020B0604020202090204" pitchFamily="34" charset="0"/>
              </a:rPr>
              <a:t>INSERT</a:t>
            </a:r>
            <a:endParaRPr lang="en-US" altLang="zh-CN" dirty="0">
              <a:solidFill>
                <a:srgbClr val="FF0000"/>
              </a:solidFill>
              <a:latin typeface="Arial" panose="020B0604020202090204" pitchFamily="34" charset="0"/>
              <a:cs typeface="Arial" panose="020B0604020202090204" pitchFamily="34" charset="0"/>
            </a:endParaRPr>
          </a:p>
          <a:p>
            <a:pPr marL="809625" lvl="2" indent="0">
              <a:lnSpc>
                <a:spcPct val="110000"/>
              </a:lnSpc>
              <a:spcBef>
                <a:spcPts val="0"/>
              </a:spcBef>
              <a:buNone/>
            </a:pPr>
            <a:r>
              <a:rPr lang="en-US" altLang="zh-CN" dirty="0">
                <a:solidFill>
                  <a:srgbClr val="FF0000"/>
                </a:solidFill>
                <a:latin typeface="Arial" panose="020B0604020202090204" pitchFamily="34" charset="0"/>
                <a:cs typeface="Arial" panose="020B0604020202090204" pitchFamily="34" charset="0"/>
              </a:rPr>
              <a:t>INTO  </a:t>
            </a:r>
            <a:r>
              <a:rPr lang="en-US" altLang="zh-CN" dirty="0" err="1">
                <a:solidFill>
                  <a:srgbClr val="FF0000"/>
                </a:solidFill>
                <a:latin typeface="Arial" panose="020B0604020202090204" pitchFamily="34" charset="0"/>
                <a:cs typeface="Arial" panose="020B0604020202090204" pitchFamily="34" charset="0"/>
              </a:rPr>
              <a:t>Dept_age</a:t>
            </a:r>
            <a:r>
              <a:rPr lang="zh-CN" altLang="en-US" dirty="0">
                <a:solidFill>
                  <a:srgbClr val="FF0000"/>
                </a:solidFill>
                <a:latin typeface="Arial" panose="020B0604020202090204" pitchFamily="34" charset="0"/>
                <a:cs typeface="Arial" panose="020B0604020202090204" pitchFamily="34" charset="0"/>
              </a:rPr>
              <a:t>(</a:t>
            </a:r>
            <a:r>
              <a:rPr lang="en-US" altLang="zh-CN" dirty="0" err="1">
                <a:solidFill>
                  <a:srgbClr val="FF0000"/>
                </a:solidFill>
                <a:latin typeface="Arial" panose="020B0604020202090204" pitchFamily="34" charset="0"/>
                <a:cs typeface="Arial" panose="020B0604020202090204" pitchFamily="34" charset="0"/>
              </a:rPr>
              <a:t>Sdept</a:t>
            </a:r>
            <a:r>
              <a:rPr lang="zh-CN" altLang="en-US" dirty="0">
                <a:solidFill>
                  <a:srgbClr val="FF0000"/>
                </a:solidFill>
                <a:latin typeface="Arial" panose="020B0604020202090204" pitchFamily="34" charset="0"/>
                <a:cs typeface="Arial" panose="020B0604020202090204" pitchFamily="34" charset="0"/>
              </a:rPr>
              <a:t>,</a:t>
            </a:r>
            <a:r>
              <a:rPr lang="en-US" altLang="zh-CN" dirty="0">
                <a:solidFill>
                  <a:srgbClr val="FF0000"/>
                </a:solidFill>
                <a:latin typeface="Arial" panose="020B0604020202090204" pitchFamily="34" charset="0"/>
                <a:cs typeface="Arial" panose="020B0604020202090204" pitchFamily="34" charset="0"/>
              </a:rPr>
              <a:t>  </a:t>
            </a:r>
            <a:r>
              <a:rPr lang="en-US" altLang="zh-CN" dirty="0" err="1">
                <a:solidFill>
                  <a:srgbClr val="FF0000"/>
                </a:solidFill>
                <a:latin typeface="Arial" panose="020B0604020202090204" pitchFamily="34" charset="0"/>
                <a:cs typeface="Arial" panose="020B0604020202090204" pitchFamily="34" charset="0"/>
              </a:rPr>
              <a:t>Avg_age</a:t>
            </a:r>
            <a:r>
              <a:rPr lang="zh-CN" altLang="en-US" dirty="0">
                <a:solidFill>
                  <a:srgbClr val="FF0000"/>
                </a:solidFill>
                <a:latin typeface="Arial" panose="020B0604020202090204" pitchFamily="34" charset="0"/>
                <a:cs typeface="Arial" panose="020B0604020202090204" pitchFamily="34" charset="0"/>
              </a:rPr>
              <a:t>)</a:t>
            </a:r>
            <a:endParaRPr lang="zh-CN" altLang="en-US" dirty="0">
              <a:solidFill>
                <a:srgbClr val="FF0000"/>
              </a:solidFill>
              <a:latin typeface="Arial" panose="020B0604020202090204" pitchFamily="34" charset="0"/>
              <a:cs typeface="Arial" panose="020B0604020202090204" pitchFamily="34" charset="0"/>
            </a:endParaRPr>
          </a:p>
          <a:p>
            <a:pPr marL="1724025" lvl="4" indent="0">
              <a:lnSpc>
                <a:spcPct val="110000"/>
              </a:lnSpc>
              <a:spcBef>
                <a:spcPts val="0"/>
              </a:spcBef>
              <a:buNone/>
            </a:pPr>
            <a:r>
              <a:rPr lang="en-US" altLang="zh-CN" dirty="0">
                <a:solidFill>
                  <a:srgbClr val="FF0000"/>
                </a:solidFill>
                <a:latin typeface="Arial" panose="020B0604020202090204" pitchFamily="34" charset="0"/>
                <a:cs typeface="Arial" panose="020B0604020202090204" pitchFamily="34" charset="0"/>
              </a:rPr>
              <a:t>SELECT  </a:t>
            </a:r>
            <a:r>
              <a:rPr lang="en-US" altLang="zh-CN" dirty="0" err="1">
                <a:solidFill>
                  <a:srgbClr val="FF0000"/>
                </a:solidFill>
                <a:latin typeface="Arial" panose="020B0604020202090204" pitchFamily="34" charset="0"/>
                <a:cs typeface="Arial" panose="020B0604020202090204" pitchFamily="34" charset="0"/>
              </a:rPr>
              <a:t>Sdept,  </a:t>
            </a:r>
            <a:r>
              <a:rPr lang="en-US" altLang="zh-CN" dirty="0">
                <a:solidFill>
                  <a:srgbClr val="FF0000"/>
                </a:solidFill>
                <a:latin typeface="Arial" panose="020B0604020202090204" pitchFamily="34" charset="0"/>
                <a:cs typeface="Arial" panose="020B0604020202090204" pitchFamily="34" charset="0"/>
              </a:rPr>
              <a:t>AVG</a:t>
            </a:r>
            <a:r>
              <a:rPr lang="zh-CN" altLang="en-US" dirty="0">
                <a:solidFill>
                  <a:srgbClr val="FF0000"/>
                </a:solidFill>
                <a:latin typeface="Arial" panose="020B0604020202090204" pitchFamily="34" charset="0"/>
                <a:cs typeface="Arial" panose="020B0604020202090204" pitchFamily="34" charset="0"/>
              </a:rPr>
              <a:t>(</a:t>
            </a:r>
            <a:r>
              <a:rPr lang="en-US" altLang="zh-CN" dirty="0">
                <a:solidFill>
                  <a:srgbClr val="FF0000"/>
                </a:solidFill>
                <a:latin typeface="Arial" panose="020B0604020202090204" pitchFamily="34" charset="0"/>
                <a:cs typeface="Arial" panose="020B0604020202090204" pitchFamily="34" charset="0"/>
              </a:rPr>
              <a:t>Sage</a:t>
            </a:r>
            <a:r>
              <a:rPr lang="zh-CN" altLang="en-US" dirty="0">
                <a:solidFill>
                  <a:srgbClr val="FF0000"/>
                </a:solidFill>
                <a:latin typeface="Arial" panose="020B0604020202090204" pitchFamily="34" charset="0"/>
                <a:cs typeface="Arial" panose="020B0604020202090204" pitchFamily="34" charset="0"/>
              </a:rPr>
              <a:t>)</a:t>
            </a:r>
            <a:endParaRPr lang="zh-CN" altLang="en-US" dirty="0">
              <a:solidFill>
                <a:srgbClr val="FF0000"/>
              </a:solidFill>
              <a:latin typeface="Arial" panose="020B0604020202090204" pitchFamily="34" charset="0"/>
              <a:cs typeface="Arial" panose="020B0604020202090204" pitchFamily="34" charset="0"/>
            </a:endParaRPr>
          </a:p>
          <a:p>
            <a:pPr marL="1724025" lvl="4" indent="0">
              <a:lnSpc>
                <a:spcPct val="110000"/>
              </a:lnSpc>
              <a:spcBef>
                <a:spcPts val="0"/>
              </a:spcBef>
              <a:buNone/>
            </a:pPr>
            <a:r>
              <a:rPr lang="en-US" altLang="zh-CN" dirty="0">
                <a:solidFill>
                  <a:srgbClr val="FF0000"/>
                </a:solidFill>
                <a:latin typeface="Arial" panose="020B0604020202090204" pitchFamily="34" charset="0"/>
                <a:cs typeface="Arial" panose="020B0604020202090204" pitchFamily="34" charset="0"/>
              </a:rPr>
              <a:t>FROM     Student</a:t>
            </a:r>
            <a:endParaRPr lang="en-US" altLang="zh-CN" dirty="0">
              <a:solidFill>
                <a:srgbClr val="FF0000"/>
              </a:solidFill>
              <a:latin typeface="Arial" panose="020B0604020202090204" pitchFamily="34" charset="0"/>
              <a:cs typeface="Arial" panose="020B0604020202090204" pitchFamily="34" charset="0"/>
            </a:endParaRPr>
          </a:p>
          <a:p>
            <a:pPr marL="1724025" lvl="4" indent="0">
              <a:lnSpc>
                <a:spcPct val="110000"/>
              </a:lnSpc>
              <a:spcBef>
                <a:spcPts val="0"/>
              </a:spcBef>
              <a:buNone/>
            </a:pPr>
            <a:r>
              <a:rPr lang="en-US" altLang="zh-CN" dirty="0">
                <a:solidFill>
                  <a:srgbClr val="FF0000"/>
                </a:solidFill>
                <a:latin typeface="Arial" panose="020B0604020202090204" pitchFamily="34" charset="0"/>
                <a:cs typeface="Arial" panose="020B0604020202090204" pitchFamily="34" charset="0"/>
              </a:rPr>
              <a:t>GROUP BY  </a:t>
            </a:r>
            <a:r>
              <a:rPr lang="en-US" altLang="zh-CN" dirty="0" err="1">
                <a:solidFill>
                  <a:srgbClr val="FF0000"/>
                </a:solidFill>
                <a:latin typeface="Arial" panose="020B0604020202090204" pitchFamily="34" charset="0"/>
                <a:cs typeface="Arial" panose="020B0604020202090204" pitchFamily="34" charset="0"/>
              </a:rPr>
              <a:t>Sdept</a:t>
            </a:r>
            <a:r>
              <a:rPr lang="zh-CN" altLang="en-US" dirty="0">
                <a:solidFill>
                  <a:srgbClr val="FF0000"/>
                </a:solidFill>
                <a:latin typeface="Arial" panose="020B0604020202090204" pitchFamily="34" charset="0"/>
                <a:cs typeface="Arial" panose="020B0604020202090204" pitchFamily="34" charset="0"/>
              </a:rPr>
              <a:t>;</a:t>
            </a:r>
            <a:endParaRPr lang="zh-CN" altLang="en-US" dirty="0">
              <a:solidFill>
                <a:srgbClr val="FF0000"/>
              </a:solidFill>
              <a:latin typeface="Arial" panose="020B0604020202090204" pitchFamily="34" charset="0"/>
              <a:cs typeface="Arial" panose="020B0604020202090204" pitchFamily="34" charset="0"/>
            </a:endParaRPr>
          </a:p>
        </p:txBody>
      </p:sp>
      <p:sp>
        <p:nvSpPr>
          <p:cNvPr id="2" name="灯片编号占位符 1"/>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ch03_3_SQL数据更新</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315">
                                            <p:txEl>
                                              <p:pRg st="1" end="1"/>
                                            </p:txEl>
                                          </p:spTgt>
                                        </p:tgtEl>
                                        <p:attrNameLst>
                                          <p:attrName>style.visibility</p:attrName>
                                        </p:attrNameLst>
                                      </p:cBhvr>
                                      <p:to>
                                        <p:strVal val="visible"/>
                                      </p:to>
                                    </p:set>
                                    <p:animEffect transition="in" filter="blinds(horizontal)">
                                      <p:cBhvr>
                                        <p:cTn id="7" dur="500"/>
                                        <p:tgtEl>
                                          <p:spTgt spid="13315">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3315">
                                            <p:txEl>
                                              <p:pRg st="2" end="2"/>
                                            </p:txEl>
                                          </p:spTgt>
                                        </p:tgtEl>
                                        <p:attrNameLst>
                                          <p:attrName>style.visibility</p:attrName>
                                        </p:attrNameLst>
                                      </p:cBhvr>
                                      <p:to>
                                        <p:strVal val="visible"/>
                                      </p:to>
                                    </p:set>
                                    <p:animEffect transition="in" filter="blinds(horizontal)">
                                      <p:cBhvr>
                                        <p:cTn id="10" dur="500"/>
                                        <p:tgtEl>
                                          <p:spTgt spid="13315">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3315">
                                            <p:txEl>
                                              <p:pRg st="3" end="3"/>
                                            </p:txEl>
                                          </p:spTgt>
                                        </p:tgtEl>
                                        <p:attrNameLst>
                                          <p:attrName>style.visibility</p:attrName>
                                        </p:attrNameLst>
                                      </p:cBhvr>
                                      <p:to>
                                        <p:strVal val="visible"/>
                                      </p:to>
                                    </p:set>
                                    <p:animEffect transition="in" filter="blinds(horizontal)">
                                      <p:cBhvr>
                                        <p:cTn id="13" dur="500"/>
                                        <p:tgtEl>
                                          <p:spTgt spid="13315">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3315">
                                            <p:txEl>
                                              <p:pRg st="4" end="4"/>
                                            </p:txEl>
                                          </p:spTgt>
                                        </p:tgtEl>
                                        <p:attrNameLst>
                                          <p:attrName>style.visibility</p:attrName>
                                        </p:attrNameLst>
                                      </p:cBhvr>
                                      <p:to>
                                        <p:strVal val="visible"/>
                                      </p:to>
                                    </p:set>
                                    <p:animEffect transition="in" filter="blinds(horizontal)">
                                      <p:cBhvr>
                                        <p:cTn id="16" dur="500"/>
                                        <p:tgtEl>
                                          <p:spTgt spid="13315">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13315">
                                            <p:txEl>
                                              <p:pRg st="5" end="5"/>
                                            </p:txEl>
                                          </p:spTgt>
                                        </p:tgtEl>
                                        <p:attrNameLst>
                                          <p:attrName>style.visibility</p:attrName>
                                        </p:attrNameLst>
                                      </p:cBhvr>
                                      <p:to>
                                        <p:strVal val="visible"/>
                                      </p:to>
                                    </p:set>
                                    <p:animEffect transition="in" filter="blinds(horizontal)">
                                      <p:cBhvr>
                                        <p:cTn id="21" dur="500"/>
                                        <p:tgtEl>
                                          <p:spTgt spid="13315">
                                            <p:txEl>
                                              <p:pRg st="5" end="5"/>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13315">
                                            <p:txEl>
                                              <p:pRg st="6" end="6"/>
                                            </p:txEl>
                                          </p:spTgt>
                                        </p:tgtEl>
                                        <p:attrNameLst>
                                          <p:attrName>style.visibility</p:attrName>
                                        </p:attrNameLst>
                                      </p:cBhvr>
                                      <p:to>
                                        <p:strVal val="visible"/>
                                      </p:to>
                                    </p:set>
                                    <p:animEffect transition="in" filter="blinds(horizontal)">
                                      <p:cBhvr>
                                        <p:cTn id="24" dur="500"/>
                                        <p:tgtEl>
                                          <p:spTgt spid="13315">
                                            <p:txEl>
                                              <p:pRg st="6" end="6"/>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13315">
                                            <p:txEl>
                                              <p:pRg st="7" end="7"/>
                                            </p:txEl>
                                          </p:spTgt>
                                        </p:tgtEl>
                                        <p:attrNameLst>
                                          <p:attrName>style.visibility</p:attrName>
                                        </p:attrNameLst>
                                      </p:cBhvr>
                                      <p:to>
                                        <p:strVal val="visible"/>
                                      </p:to>
                                    </p:set>
                                    <p:animEffect transition="in" filter="blinds(horizontal)">
                                      <p:cBhvr>
                                        <p:cTn id="27" dur="500"/>
                                        <p:tgtEl>
                                          <p:spTgt spid="13315">
                                            <p:txEl>
                                              <p:pRg st="7" end="7"/>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13315">
                                            <p:txEl>
                                              <p:pRg st="8" end="8"/>
                                            </p:txEl>
                                          </p:spTgt>
                                        </p:tgtEl>
                                        <p:attrNameLst>
                                          <p:attrName>style.visibility</p:attrName>
                                        </p:attrNameLst>
                                      </p:cBhvr>
                                      <p:to>
                                        <p:strVal val="visible"/>
                                      </p:to>
                                    </p:set>
                                    <p:animEffect transition="in" filter="blinds(horizontal)">
                                      <p:cBhvr>
                                        <p:cTn id="30" dur="500"/>
                                        <p:tgtEl>
                                          <p:spTgt spid="13315">
                                            <p:txEl>
                                              <p:pRg st="8" end="8"/>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13315">
                                            <p:txEl>
                                              <p:pRg st="9" end="9"/>
                                            </p:txEl>
                                          </p:spTgt>
                                        </p:tgtEl>
                                        <p:attrNameLst>
                                          <p:attrName>style.visibility</p:attrName>
                                        </p:attrNameLst>
                                      </p:cBhvr>
                                      <p:to>
                                        <p:strVal val="visible"/>
                                      </p:to>
                                    </p:set>
                                    <p:animEffect transition="in" filter="blinds(horizontal)">
                                      <p:cBhvr>
                                        <p:cTn id="33" dur="500"/>
                                        <p:tgtEl>
                                          <p:spTgt spid="13315">
                                            <p:txEl>
                                              <p:pRg st="9" end="9"/>
                                            </p:txEl>
                                          </p:spTgt>
                                        </p:tgtEl>
                                      </p:cBhvr>
                                    </p:animEffect>
                                  </p:childTnLst>
                                </p:cTn>
                              </p:par>
                              <p:par>
                                <p:cTn id="34" presetID="3" presetClass="entr" presetSubtype="10" fill="hold" nodeType="withEffect">
                                  <p:stCondLst>
                                    <p:cond delay="0"/>
                                  </p:stCondLst>
                                  <p:childTnLst>
                                    <p:set>
                                      <p:cBhvr>
                                        <p:cTn id="35" dur="1" fill="hold">
                                          <p:stCondLst>
                                            <p:cond delay="0"/>
                                          </p:stCondLst>
                                        </p:cTn>
                                        <p:tgtEl>
                                          <p:spTgt spid="13315">
                                            <p:txEl>
                                              <p:pRg st="10" end="10"/>
                                            </p:txEl>
                                          </p:spTgt>
                                        </p:tgtEl>
                                        <p:attrNameLst>
                                          <p:attrName>style.visibility</p:attrName>
                                        </p:attrNameLst>
                                      </p:cBhvr>
                                      <p:to>
                                        <p:strVal val="visible"/>
                                      </p:to>
                                    </p:set>
                                    <p:animEffect transition="in" filter="blinds(horizontal)">
                                      <p:cBhvr>
                                        <p:cTn id="36" dur="500"/>
                                        <p:tgtEl>
                                          <p:spTgt spid="1331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rmAutofit fontScale="90000"/>
          </a:bodyPr>
          <a:lstStyle/>
          <a:p>
            <a:r>
              <a:rPr lang="zh-CN" altLang="en-US" dirty="0"/>
              <a:t>修改数据 </a:t>
            </a:r>
            <a:r>
              <a:rPr lang="en-US" altLang="zh-CN" dirty="0"/>
              <a:t>1</a:t>
            </a:r>
            <a:endParaRPr lang="zh-CN" altLang="en-US" dirty="0"/>
          </a:p>
        </p:txBody>
      </p:sp>
      <p:sp>
        <p:nvSpPr>
          <p:cNvPr id="16387" name="Rectangle 3"/>
          <p:cNvSpPr>
            <a:spLocks noGrp="1" noChangeArrowheads="1"/>
          </p:cNvSpPr>
          <p:nvPr>
            <p:ph idx="1"/>
          </p:nvPr>
        </p:nvSpPr>
        <p:spPr>
          <a:xfrm>
            <a:off x="424180" y="687070"/>
            <a:ext cx="11343005" cy="598805"/>
          </a:xfrm>
        </p:spPr>
        <p:txBody>
          <a:bodyPr>
            <a:spAutoFit/>
          </a:bodyPr>
          <a:lstStyle/>
          <a:p>
            <a:pPr>
              <a:lnSpc>
                <a:spcPct val="110000"/>
              </a:lnSpc>
              <a:spcBef>
                <a:spcPts val="1000"/>
              </a:spcBef>
            </a:pPr>
            <a:r>
              <a:rPr lang="zh-CN" altLang="en-US" dirty="0"/>
              <a:t>语句格式</a:t>
            </a:r>
            <a:endParaRPr lang="en-US" altLang="zh-CN" sz="2945" dirty="0"/>
          </a:p>
        </p:txBody>
      </p:sp>
      <p:sp>
        <p:nvSpPr>
          <p:cNvPr id="2" name="灯片编号占位符 1"/>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ch03_3_SQL数据更新</a:t>
            </a:r>
            <a:endParaRPr lang="zh-CN" altLang="en-US"/>
          </a:p>
        </p:txBody>
      </p:sp>
      <p:sp>
        <p:nvSpPr>
          <p:cNvPr id="3" name="Rectangle 3"/>
          <p:cNvSpPr>
            <a:spLocks noGrp="1" noChangeArrowheads="1"/>
          </p:cNvSpPr>
          <p:nvPr/>
        </p:nvSpPr>
        <p:spPr>
          <a:xfrm>
            <a:off x="424180" y="1314450"/>
            <a:ext cx="11343005" cy="1512570"/>
          </a:xfrm>
          <a:prstGeom prst="rect">
            <a:avLst/>
          </a:prstGeom>
          <a:solidFill>
            <a:schemeClr val="accent3">
              <a:lumMod val="20000"/>
              <a:lumOff val="80000"/>
              <a:alpha val="50000"/>
            </a:schemeClr>
          </a:solidFill>
          <a:ln>
            <a:solidFill>
              <a:schemeClr val="tx1"/>
            </a:solidFill>
          </a:ln>
        </p:spPr>
        <p:txBody>
          <a:bodyPr vert="horz"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charset="-122"/>
                <a:ea typeface="楷体"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charset="-122"/>
                <a:ea typeface="楷体"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charset="-122"/>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809625" lvl="2" indent="0">
              <a:lnSpc>
                <a:spcPct val="110000"/>
              </a:lnSpc>
              <a:spcBef>
                <a:spcPts val="1000"/>
              </a:spcBef>
              <a:buNone/>
            </a:pPr>
            <a:r>
              <a:rPr lang="en-US" altLang="zh-CN" dirty="0">
                <a:solidFill>
                  <a:srgbClr val="FF0000"/>
                </a:solidFill>
                <a:latin typeface="Arial" panose="020B0604020202090204" pitchFamily="34" charset="0"/>
                <a:cs typeface="Arial" panose="020B0604020202090204" pitchFamily="34" charset="0"/>
              </a:rPr>
              <a:t>UPDATE  &lt;</a:t>
            </a:r>
            <a:r>
              <a:rPr lang="zh-CN" altLang="en-US" dirty="0">
                <a:solidFill>
                  <a:srgbClr val="FF0000"/>
                </a:solidFill>
                <a:latin typeface="Arial" panose="020B0604020202090204" pitchFamily="34" charset="0"/>
                <a:cs typeface="Arial" panose="020B0604020202090204" pitchFamily="34" charset="0"/>
              </a:rPr>
              <a:t>表名</a:t>
            </a:r>
            <a:r>
              <a:rPr lang="en-US" altLang="zh-CN" dirty="0">
                <a:solidFill>
                  <a:srgbClr val="FF0000"/>
                </a:solidFill>
                <a:latin typeface="Arial" panose="020B0604020202090204" pitchFamily="34" charset="0"/>
                <a:cs typeface="Arial" panose="020B0604020202090204" pitchFamily="34" charset="0"/>
              </a:rPr>
              <a:t>&gt;</a:t>
            </a:r>
            <a:endParaRPr lang="en-US" altLang="zh-CN" dirty="0">
              <a:solidFill>
                <a:srgbClr val="FF0000"/>
              </a:solidFill>
              <a:latin typeface="Arial" panose="020B0604020202090204" pitchFamily="34" charset="0"/>
              <a:cs typeface="Arial" panose="020B0604020202090204" pitchFamily="34" charset="0"/>
            </a:endParaRPr>
          </a:p>
          <a:p>
            <a:pPr marL="809625" lvl="2" indent="0">
              <a:lnSpc>
                <a:spcPct val="110000"/>
              </a:lnSpc>
              <a:buNone/>
            </a:pPr>
            <a:r>
              <a:rPr lang="en-US" altLang="zh-CN" dirty="0">
                <a:solidFill>
                  <a:srgbClr val="FF0000"/>
                </a:solidFill>
                <a:latin typeface="Arial" panose="020B0604020202090204" pitchFamily="34" charset="0"/>
                <a:cs typeface="Arial" panose="020B0604020202090204" pitchFamily="34" charset="0"/>
              </a:rPr>
              <a:t>SET  &lt;</a:t>
            </a:r>
            <a:r>
              <a:rPr lang="zh-CN" altLang="en-US" dirty="0">
                <a:solidFill>
                  <a:srgbClr val="FF0000"/>
                </a:solidFill>
                <a:latin typeface="Arial" panose="020B0604020202090204" pitchFamily="34" charset="0"/>
                <a:cs typeface="Arial" panose="020B0604020202090204" pitchFamily="34" charset="0"/>
              </a:rPr>
              <a:t>列名</a:t>
            </a:r>
            <a:r>
              <a:rPr lang="en-US" altLang="zh-CN" dirty="0">
                <a:solidFill>
                  <a:srgbClr val="FF0000"/>
                </a:solidFill>
                <a:latin typeface="Arial" panose="020B0604020202090204" pitchFamily="34" charset="0"/>
                <a:cs typeface="Arial" panose="020B0604020202090204" pitchFamily="34" charset="0"/>
              </a:rPr>
              <a:t>&gt; = &lt;</a:t>
            </a:r>
            <a:r>
              <a:rPr lang="zh-CN" altLang="en-US" dirty="0">
                <a:solidFill>
                  <a:srgbClr val="FF0000"/>
                </a:solidFill>
                <a:latin typeface="Arial" panose="020B0604020202090204" pitchFamily="34" charset="0"/>
                <a:cs typeface="Arial" panose="020B0604020202090204" pitchFamily="34" charset="0"/>
              </a:rPr>
              <a:t>表达式</a:t>
            </a:r>
            <a:r>
              <a:rPr lang="en-US" altLang="zh-CN" dirty="0">
                <a:solidFill>
                  <a:srgbClr val="FF0000"/>
                </a:solidFill>
                <a:latin typeface="Arial" panose="020B0604020202090204" pitchFamily="34" charset="0"/>
                <a:cs typeface="Arial" panose="020B0604020202090204" pitchFamily="34" charset="0"/>
              </a:rPr>
              <a:t>&gt;  [ , &lt;</a:t>
            </a:r>
            <a:r>
              <a:rPr lang="zh-CN" altLang="en-US" dirty="0">
                <a:solidFill>
                  <a:srgbClr val="FF0000"/>
                </a:solidFill>
                <a:latin typeface="Arial" panose="020B0604020202090204" pitchFamily="34" charset="0"/>
                <a:cs typeface="Arial" panose="020B0604020202090204" pitchFamily="34" charset="0"/>
              </a:rPr>
              <a:t>列名</a:t>
            </a:r>
            <a:r>
              <a:rPr lang="en-US" altLang="zh-CN" dirty="0">
                <a:solidFill>
                  <a:srgbClr val="FF0000"/>
                </a:solidFill>
                <a:latin typeface="Arial" panose="020B0604020202090204" pitchFamily="34" charset="0"/>
                <a:cs typeface="Arial" panose="020B0604020202090204" pitchFamily="34" charset="0"/>
              </a:rPr>
              <a:t>&gt; = &lt;</a:t>
            </a:r>
            <a:r>
              <a:rPr lang="zh-CN" altLang="en-US" dirty="0">
                <a:solidFill>
                  <a:srgbClr val="FF0000"/>
                </a:solidFill>
                <a:latin typeface="Arial" panose="020B0604020202090204" pitchFamily="34" charset="0"/>
                <a:cs typeface="Arial" panose="020B0604020202090204" pitchFamily="34" charset="0"/>
              </a:rPr>
              <a:t>表达式</a:t>
            </a:r>
            <a:r>
              <a:rPr lang="en-US" altLang="zh-CN" dirty="0">
                <a:solidFill>
                  <a:srgbClr val="FF0000"/>
                </a:solidFill>
                <a:latin typeface="Arial" panose="020B0604020202090204" pitchFamily="34" charset="0"/>
                <a:cs typeface="Arial" panose="020B0604020202090204" pitchFamily="34" charset="0"/>
              </a:rPr>
              <a:t>&gt; ] …</a:t>
            </a:r>
            <a:endParaRPr lang="en-US" altLang="zh-CN" dirty="0">
              <a:solidFill>
                <a:srgbClr val="FF0000"/>
              </a:solidFill>
              <a:latin typeface="Arial" panose="020B0604020202090204" pitchFamily="34" charset="0"/>
              <a:cs typeface="Arial" panose="020B0604020202090204" pitchFamily="34" charset="0"/>
            </a:endParaRPr>
          </a:p>
          <a:p>
            <a:pPr marL="809625" lvl="2" indent="0">
              <a:lnSpc>
                <a:spcPct val="110000"/>
              </a:lnSpc>
              <a:buNone/>
            </a:pPr>
            <a:r>
              <a:rPr lang="en-US" altLang="zh-CN" dirty="0">
                <a:solidFill>
                  <a:srgbClr val="FF0000"/>
                </a:solidFill>
                <a:latin typeface="Arial" panose="020B0604020202090204" pitchFamily="34" charset="0"/>
                <a:cs typeface="Arial" panose="020B0604020202090204" pitchFamily="34" charset="0"/>
              </a:rPr>
              <a:t>[WHERE  &lt;</a:t>
            </a:r>
            <a:r>
              <a:rPr lang="zh-CN" altLang="en-US" dirty="0">
                <a:solidFill>
                  <a:srgbClr val="FF0000"/>
                </a:solidFill>
                <a:latin typeface="Arial" panose="020B0604020202090204" pitchFamily="34" charset="0"/>
                <a:cs typeface="Arial" panose="020B0604020202090204" pitchFamily="34" charset="0"/>
              </a:rPr>
              <a:t>条件</a:t>
            </a:r>
            <a:r>
              <a:rPr lang="en-US" altLang="zh-CN" dirty="0">
                <a:solidFill>
                  <a:srgbClr val="FF0000"/>
                </a:solidFill>
                <a:latin typeface="Arial" panose="020B0604020202090204" pitchFamily="34" charset="0"/>
                <a:cs typeface="Arial" panose="020B0604020202090204" pitchFamily="34" charset="0"/>
              </a:rPr>
              <a:t>&gt;] </a:t>
            </a:r>
            <a:r>
              <a:rPr lang="zh-CN" altLang="en-US" dirty="0">
                <a:solidFill>
                  <a:srgbClr val="FF0000"/>
                </a:solidFill>
                <a:latin typeface="Arial" panose="020B0604020202090204" pitchFamily="34" charset="0"/>
                <a:cs typeface="Arial" panose="020B0604020202090204" pitchFamily="34" charset="0"/>
              </a:rPr>
              <a:t>;</a:t>
            </a:r>
            <a:endParaRPr lang="en-US" altLang="zh-CN" sz="2945" dirty="0"/>
          </a:p>
        </p:txBody>
      </p:sp>
      <p:sp>
        <p:nvSpPr>
          <p:cNvPr id="5" name="Rectangle 3"/>
          <p:cNvSpPr>
            <a:spLocks noGrp="1" noChangeArrowheads="1"/>
          </p:cNvSpPr>
          <p:nvPr/>
        </p:nvSpPr>
        <p:spPr>
          <a:xfrm>
            <a:off x="424180" y="3352165"/>
            <a:ext cx="11343005" cy="2480310"/>
          </a:xfrm>
          <a:prstGeom prst="rect">
            <a:avLst/>
          </a:prstGeom>
        </p:spPr>
        <p:txBody>
          <a:bodyPr vert="horz"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charset="-122"/>
                <a:ea typeface="楷体"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charset="-122"/>
                <a:ea typeface="楷体"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charset="-122"/>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10000"/>
              </a:lnSpc>
              <a:spcBef>
                <a:spcPts val="1000"/>
              </a:spcBef>
            </a:pPr>
            <a:r>
              <a:rPr lang="zh-CN" altLang="en-US" dirty="0"/>
              <a:t>功能</a:t>
            </a:r>
            <a:endParaRPr lang="zh-CN" altLang="en-US" sz="2945" dirty="0"/>
          </a:p>
          <a:p>
            <a:pPr lvl="1">
              <a:lnSpc>
                <a:spcPct val="110000"/>
              </a:lnSpc>
              <a:spcBef>
                <a:spcPts val="1000"/>
              </a:spcBef>
            </a:pPr>
            <a:r>
              <a:rPr lang="zh-CN" altLang="en-US" sz="2945" dirty="0"/>
              <a:t>修改指定表中满足</a:t>
            </a:r>
            <a:r>
              <a:rPr lang="en-US" altLang="zh-CN" sz="2945" dirty="0"/>
              <a:t>WHERE</a:t>
            </a:r>
            <a:r>
              <a:rPr lang="zh-CN" altLang="en-US" sz="2945" dirty="0"/>
              <a:t>子句条件的元组</a:t>
            </a:r>
            <a:endParaRPr lang="en-US" altLang="zh-CN" sz="2945" dirty="0"/>
          </a:p>
          <a:p>
            <a:pPr lvl="1">
              <a:lnSpc>
                <a:spcPct val="110000"/>
              </a:lnSpc>
              <a:spcBef>
                <a:spcPts val="1000"/>
              </a:spcBef>
            </a:pPr>
            <a:r>
              <a:rPr lang="en-US" altLang="zh-CN" sz="2945" dirty="0"/>
              <a:t>SET</a:t>
            </a:r>
            <a:r>
              <a:rPr lang="zh-CN" altLang="en-US" sz="2945" dirty="0"/>
              <a:t>子句给出</a:t>
            </a:r>
            <a:r>
              <a:rPr lang="en-US" altLang="zh-CN" sz="2945" dirty="0"/>
              <a:t>&lt;</a:t>
            </a:r>
            <a:r>
              <a:rPr lang="zh-CN" altLang="en-US" sz="2945" dirty="0"/>
              <a:t>表达式</a:t>
            </a:r>
            <a:r>
              <a:rPr lang="en-US" altLang="zh-CN" sz="2945" dirty="0"/>
              <a:t>&gt;</a:t>
            </a:r>
            <a:r>
              <a:rPr lang="zh-CN" altLang="en-US" sz="2945" dirty="0"/>
              <a:t>的值用于取代相应的属性列</a:t>
            </a:r>
            <a:endParaRPr lang="en-US" altLang="zh-CN" sz="2945" dirty="0"/>
          </a:p>
          <a:p>
            <a:pPr lvl="1">
              <a:lnSpc>
                <a:spcPct val="110000"/>
              </a:lnSpc>
              <a:spcBef>
                <a:spcPts val="1000"/>
              </a:spcBef>
            </a:pPr>
            <a:r>
              <a:rPr lang="zh-CN" altLang="en-US" sz="2945" dirty="0"/>
              <a:t>如果省略</a:t>
            </a:r>
            <a:r>
              <a:rPr lang="en-US" altLang="zh-CN" sz="2945" dirty="0"/>
              <a:t>WHERE</a:t>
            </a:r>
            <a:r>
              <a:rPr lang="zh-CN" altLang="en-US" sz="2945" dirty="0"/>
              <a:t>子句，表示要修改表中的所有元组</a:t>
            </a:r>
            <a:endParaRPr lang="en-US" altLang="zh-CN" sz="2945"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zh-CN" altLang="en-US" dirty="0">
                <a:sym typeface="+mn-ea"/>
              </a:rPr>
              <a:t>修改数据 </a:t>
            </a:r>
            <a:r>
              <a:rPr lang="en-US" altLang="zh-CN" dirty="0">
                <a:sym typeface="+mn-ea"/>
              </a:rPr>
              <a:t>2</a:t>
            </a:r>
            <a:endParaRPr lang="en-US" altLang="zh-CN" dirty="0">
              <a:sym typeface="+mn-ea"/>
            </a:endParaRPr>
          </a:p>
        </p:txBody>
      </p:sp>
      <p:sp>
        <p:nvSpPr>
          <p:cNvPr id="3" name="文本占位符 2"/>
          <p:cNvSpPr>
            <a:spLocks noGrp="1"/>
          </p:cNvSpPr>
          <p:nvPr>
            <p:ph type="body" idx="1"/>
          </p:nvPr>
        </p:nvSpPr>
        <p:spPr>
          <a:solidFill>
            <a:schemeClr val="accent3">
              <a:lumMod val="20000"/>
              <a:lumOff val="80000"/>
            </a:schemeClr>
          </a:solidFill>
        </p:spPr>
        <p:txBody>
          <a:bodyPr anchor="ctr" anchorCtr="0"/>
          <a:p>
            <a:r>
              <a:rPr lang="zh-CN" altLang="en-US" dirty="0">
                <a:sym typeface="+mn-ea"/>
              </a:rPr>
              <a:t>修改某一个元组的值</a:t>
            </a:r>
            <a:endParaRPr lang="zh-CN" altLang="en-US"/>
          </a:p>
        </p:txBody>
      </p:sp>
      <p:sp>
        <p:nvSpPr>
          <p:cNvPr id="18435" name="Rectangle 3"/>
          <p:cNvSpPr>
            <a:spLocks noGrp="1" noChangeArrowheads="1"/>
          </p:cNvSpPr>
          <p:nvPr>
            <p:ph sz="half" idx="2"/>
          </p:nvPr>
        </p:nvSpPr>
        <p:spPr/>
        <p:txBody>
          <a:bodyPr/>
          <a:lstStyle/>
          <a:p>
            <a:pPr marL="0" indent="0">
              <a:lnSpc>
                <a:spcPct val="120000"/>
              </a:lnSpc>
              <a:spcBef>
                <a:spcPct val="0"/>
              </a:spcBef>
              <a:buNone/>
            </a:pPr>
            <a:r>
              <a:rPr lang="en-US" altLang="zh-CN" dirty="0"/>
              <a:t>[</a:t>
            </a:r>
            <a:r>
              <a:rPr lang="zh-CN" altLang="en-US" dirty="0"/>
              <a:t>例</a:t>
            </a:r>
            <a:r>
              <a:rPr lang="en-US" altLang="zh-CN" dirty="0"/>
              <a:t>3.73]</a:t>
            </a:r>
            <a:r>
              <a:rPr lang="zh-CN" altLang="en-US" dirty="0"/>
              <a:t>将学生</a:t>
            </a:r>
            <a:r>
              <a:rPr lang="en-US" altLang="zh-CN" dirty="0"/>
              <a:t>201215121</a:t>
            </a:r>
            <a:r>
              <a:rPr lang="zh-CN" altLang="en-US" dirty="0"/>
              <a:t>的年龄改为</a:t>
            </a:r>
            <a:r>
              <a:rPr lang="en-US" altLang="zh-CN" dirty="0"/>
              <a:t>22</a:t>
            </a:r>
            <a:r>
              <a:rPr lang="zh-CN" altLang="en-US" dirty="0"/>
              <a:t>岁</a:t>
            </a:r>
            <a:endParaRPr lang="zh-CN" altLang="en-US" dirty="0"/>
          </a:p>
          <a:p>
            <a:pPr>
              <a:lnSpc>
                <a:spcPct val="120000"/>
              </a:lnSpc>
              <a:spcBef>
                <a:spcPct val="0"/>
              </a:spcBef>
            </a:pPr>
            <a:endParaRPr lang="zh-CN" altLang="en-US" dirty="0"/>
          </a:p>
          <a:p>
            <a:pPr marL="363855" lvl="1" indent="0">
              <a:lnSpc>
                <a:spcPct val="120000"/>
              </a:lnSpc>
              <a:spcBef>
                <a:spcPct val="0"/>
              </a:spcBef>
              <a:buNone/>
            </a:pPr>
            <a:r>
              <a:rPr lang="en-US" altLang="zh-CN" dirty="0">
                <a:solidFill>
                  <a:srgbClr val="FF0000"/>
                </a:solidFill>
                <a:latin typeface="Arial" panose="020B0604020202090204" pitchFamily="34" charset="0"/>
                <a:cs typeface="Arial" panose="020B0604020202090204" pitchFamily="34" charset="0"/>
              </a:rPr>
              <a:t>UPDATE  Student</a:t>
            </a:r>
            <a:endParaRPr lang="en-US" altLang="zh-CN" dirty="0">
              <a:solidFill>
                <a:srgbClr val="FF0000"/>
              </a:solidFill>
              <a:latin typeface="Arial" panose="020B0604020202090204" pitchFamily="34" charset="0"/>
              <a:cs typeface="Arial" panose="020B0604020202090204" pitchFamily="34" charset="0"/>
            </a:endParaRPr>
          </a:p>
          <a:p>
            <a:pPr marL="363855" lvl="1" indent="0">
              <a:lnSpc>
                <a:spcPct val="120000"/>
              </a:lnSpc>
              <a:spcBef>
                <a:spcPct val="0"/>
              </a:spcBef>
              <a:buNone/>
            </a:pPr>
            <a:r>
              <a:rPr lang="en-US" altLang="zh-CN" dirty="0">
                <a:solidFill>
                  <a:srgbClr val="FF0000"/>
                </a:solidFill>
                <a:latin typeface="Arial" panose="020B0604020202090204" pitchFamily="34" charset="0"/>
                <a:cs typeface="Arial" panose="020B0604020202090204" pitchFamily="34" charset="0"/>
              </a:rPr>
              <a:t>SET  Sage=22</a:t>
            </a:r>
            <a:endParaRPr lang="en-US" altLang="zh-CN" dirty="0">
              <a:solidFill>
                <a:srgbClr val="FF0000"/>
              </a:solidFill>
              <a:latin typeface="Arial" panose="020B0604020202090204" pitchFamily="34" charset="0"/>
              <a:cs typeface="Arial" panose="020B0604020202090204" pitchFamily="34" charset="0"/>
            </a:endParaRPr>
          </a:p>
          <a:p>
            <a:pPr marL="363855" lvl="1" indent="0">
              <a:lnSpc>
                <a:spcPct val="120000"/>
              </a:lnSpc>
              <a:spcBef>
                <a:spcPct val="0"/>
              </a:spcBef>
              <a:buNone/>
            </a:pPr>
            <a:r>
              <a:rPr lang="en-US" altLang="zh-CN" dirty="0">
                <a:solidFill>
                  <a:srgbClr val="FF0000"/>
                </a:solidFill>
                <a:latin typeface="Arial" panose="020B0604020202090204" pitchFamily="34" charset="0"/>
                <a:cs typeface="Arial" panose="020B0604020202090204" pitchFamily="34" charset="0"/>
              </a:rPr>
              <a:t>WHERE  </a:t>
            </a:r>
            <a:r>
              <a:rPr lang="en-US" altLang="zh-CN" dirty="0" err="1">
                <a:solidFill>
                  <a:srgbClr val="FF0000"/>
                </a:solidFill>
                <a:latin typeface="Arial" panose="020B0604020202090204" pitchFamily="34" charset="0"/>
                <a:cs typeface="Arial" panose="020B0604020202090204" pitchFamily="34" charset="0"/>
              </a:rPr>
              <a:t>Sno </a:t>
            </a:r>
            <a:r>
              <a:rPr lang="en-US" altLang="zh-CN" dirty="0">
                <a:solidFill>
                  <a:srgbClr val="FF0000"/>
                </a:solidFill>
                <a:latin typeface="Arial" panose="020B0604020202090204" pitchFamily="34" charset="0"/>
                <a:cs typeface="Arial" panose="020B0604020202090204" pitchFamily="34" charset="0"/>
              </a:rPr>
              <a:t>= '201215121'</a:t>
            </a:r>
            <a:r>
              <a:rPr lang="zh-CN" altLang="en-US" dirty="0">
                <a:solidFill>
                  <a:srgbClr val="FF0000"/>
                </a:solidFill>
                <a:latin typeface="Arial" panose="020B0604020202090204" pitchFamily="34" charset="0"/>
                <a:cs typeface="Arial" panose="020B0604020202090204" pitchFamily="34" charset="0"/>
              </a:rPr>
              <a:t>;</a:t>
            </a:r>
            <a:endParaRPr lang="zh-CN" altLang="en-US" dirty="0">
              <a:solidFill>
                <a:srgbClr val="FF0000"/>
              </a:solidFill>
              <a:latin typeface="Arial" panose="020B0604020202090204" pitchFamily="34" charset="0"/>
              <a:cs typeface="Arial" panose="020B0604020202090204" pitchFamily="34" charset="0"/>
            </a:endParaRPr>
          </a:p>
        </p:txBody>
      </p:sp>
      <p:sp>
        <p:nvSpPr>
          <p:cNvPr id="4" name="文本占位符 3"/>
          <p:cNvSpPr>
            <a:spLocks noGrp="1"/>
          </p:cNvSpPr>
          <p:nvPr>
            <p:ph type="body" sz="quarter" idx="3"/>
          </p:nvPr>
        </p:nvSpPr>
        <p:spPr>
          <a:solidFill>
            <a:schemeClr val="accent3">
              <a:lumMod val="20000"/>
              <a:lumOff val="80000"/>
            </a:schemeClr>
          </a:solidFill>
        </p:spPr>
        <p:txBody>
          <a:bodyPr anchor="ctr" anchorCtr="0"/>
          <a:p>
            <a:r>
              <a:rPr lang="zh-CN" altLang="en-US" dirty="0">
                <a:sym typeface="+mn-ea"/>
              </a:rPr>
              <a:t>修改多个元组的值</a:t>
            </a:r>
            <a:endParaRPr lang="zh-CN" altLang="en-US"/>
          </a:p>
        </p:txBody>
      </p:sp>
      <p:sp>
        <p:nvSpPr>
          <p:cNvPr id="5" name="内容占位符 4"/>
          <p:cNvSpPr>
            <a:spLocks noGrp="1"/>
          </p:cNvSpPr>
          <p:nvPr>
            <p:ph sz="quarter" idx="4"/>
          </p:nvPr>
        </p:nvSpPr>
        <p:spPr/>
        <p:txBody>
          <a:bodyPr/>
          <a:p>
            <a:pPr marL="0" indent="0">
              <a:lnSpc>
                <a:spcPct val="120000"/>
              </a:lnSpc>
              <a:spcBef>
                <a:spcPct val="0"/>
              </a:spcBef>
              <a:buNone/>
            </a:pPr>
            <a:r>
              <a:rPr lang="en-US" altLang="zh-CN" sz="3000" dirty="0">
                <a:sym typeface="+mn-ea"/>
              </a:rPr>
              <a:t>[</a:t>
            </a:r>
            <a:r>
              <a:rPr lang="zh-CN" altLang="en-US" sz="3000" dirty="0">
                <a:sym typeface="+mn-ea"/>
              </a:rPr>
              <a:t>例</a:t>
            </a:r>
            <a:r>
              <a:rPr lang="en-US" altLang="zh-CN" sz="3000" dirty="0">
                <a:sym typeface="+mn-ea"/>
              </a:rPr>
              <a:t>3.74]</a:t>
            </a:r>
            <a:r>
              <a:rPr lang="zh-CN" altLang="en-US" sz="3000" dirty="0">
                <a:sym typeface="+mn-ea"/>
              </a:rPr>
              <a:t>将所有学生的年龄增加</a:t>
            </a:r>
            <a:r>
              <a:rPr lang="en-US" altLang="zh-CN" sz="3000" dirty="0">
                <a:sym typeface="+mn-ea"/>
              </a:rPr>
              <a:t>1</a:t>
            </a:r>
            <a:r>
              <a:rPr lang="zh-CN" altLang="en-US" sz="3000" dirty="0">
                <a:sym typeface="+mn-ea"/>
              </a:rPr>
              <a:t>岁。</a:t>
            </a:r>
            <a:endParaRPr lang="zh-CN" altLang="en-US" sz="3000" dirty="0">
              <a:sym typeface="+mn-ea"/>
            </a:endParaRPr>
          </a:p>
          <a:p>
            <a:pPr>
              <a:lnSpc>
                <a:spcPct val="120000"/>
              </a:lnSpc>
              <a:spcBef>
                <a:spcPct val="0"/>
              </a:spcBef>
            </a:pPr>
            <a:endParaRPr lang="zh-CN" altLang="en-US" sz="3000" dirty="0"/>
          </a:p>
          <a:p>
            <a:pPr marL="363855" lvl="1" indent="0">
              <a:lnSpc>
                <a:spcPct val="120000"/>
              </a:lnSpc>
              <a:spcBef>
                <a:spcPct val="0"/>
              </a:spcBef>
              <a:buNone/>
            </a:pPr>
            <a:r>
              <a:rPr lang="en-US" altLang="zh-CN" dirty="0">
                <a:solidFill>
                  <a:srgbClr val="FF0000"/>
                </a:solidFill>
                <a:latin typeface="Arial" panose="020B0604020202090204" pitchFamily="34" charset="0"/>
                <a:cs typeface="Arial" panose="020B0604020202090204" pitchFamily="34" charset="0"/>
                <a:sym typeface="+mn-ea"/>
              </a:rPr>
              <a:t>UPDATE Student</a:t>
            </a:r>
            <a:endParaRPr lang="en-US" altLang="zh-CN" dirty="0">
              <a:solidFill>
                <a:srgbClr val="FF0000"/>
              </a:solidFill>
              <a:latin typeface="Arial" panose="020B0604020202090204" pitchFamily="34" charset="0"/>
              <a:cs typeface="Arial" panose="020B0604020202090204" pitchFamily="34" charset="0"/>
            </a:endParaRPr>
          </a:p>
          <a:p>
            <a:pPr marL="363855" lvl="1" indent="0">
              <a:lnSpc>
                <a:spcPct val="120000"/>
              </a:lnSpc>
              <a:spcBef>
                <a:spcPct val="0"/>
              </a:spcBef>
              <a:buNone/>
            </a:pPr>
            <a:r>
              <a:rPr lang="en-US" altLang="zh-CN" dirty="0">
                <a:solidFill>
                  <a:srgbClr val="FF0000"/>
                </a:solidFill>
                <a:latin typeface="Arial" panose="020B0604020202090204" pitchFamily="34" charset="0"/>
                <a:cs typeface="Arial" panose="020B0604020202090204" pitchFamily="34" charset="0"/>
                <a:sym typeface="+mn-ea"/>
              </a:rPr>
              <a:t>SET Sage = Sage + 1</a:t>
            </a:r>
            <a:r>
              <a:rPr lang="zh-CN" altLang="en-US" dirty="0">
                <a:solidFill>
                  <a:srgbClr val="FF0000"/>
                </a:solidFill>
                <a:latin typeface="Arial" panose="020B0604020202090204" pitchFamily="34" charset="0"/>
                <a:cs typeface="Arial" panose="020B0604020202090204" pitchFamily="34" charset="0"/>
                <a:sym typeface="+mn-ea"/>
              </a:rPr>
              <a:t>;</a:t>
            </a:r>
            <a:endParaRPr lang="zh-CN" altLang="en-US" dirty="0">
              <a:solidFill>
                <a:srgbClr val="FF0000"/>
              </a:solidFill>
              <a:latin typeface="Arial" panose="020B0604020202090204" pitchFamily="34" charset="0"/>
              <a:cs typeface="Arial" panose="020B0604020202090204" pitchFamily="34" charset="0"/>
              <a:sym typeface="+mn-ea"/>
            </a:endParaRPr>
          </a:p>
        </p:txBody>
      </p:sp>
      <p:sp>
        <p:nvSpPr>
          <p:cNvPr id="2" name="灯片编号占位符 1"/>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7" name="页脚占位符 6"/>
          <p:cNvSpPr>
            <a:spLocks noGrp="1"/>
          </p:cNvSpPr>
          <p:nvPr>
            <p:ph type="ftr" sz="quarter" idx="11"/>
          </p:nvPr>
        </p:nvSpPr>
        <p:spPr/>
        <p:txBody>
          <a:bodyPr/>
          <a:p>
            <a:r>
              <a:rPr lang="zh-CN" altLang="en-US"/>
              <a:t>ch03_3_SQL数据更新</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blinds(horizontal)">
                                      <p:cBhvr>
                                        <p:cTn id="7" dur="500"/>
                                        <p:tgtEl>
                                          <p:spTgt spid="184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435">
                                            <p:txEl>
                                              <p:pRg st="2" end="2"/>
                                            </p:txEl>
                                          </p:spTgt>
                                        </p:tgtEl>
                                        <p:attrNameLst>
                                          <p:attrName>style.visibility</p:attrName>
                                        </p:attrNameLst>
                                      </p:cBhvr>
                                      <p:to>
                                        <p:strVal val="visible"/>
                                      </p:to>
                                    </p:set>
                                    <p:animEffect transition="in" filter="blinds(horizontal)">
                                      <p:cBhvr>
                                        <p:cTn id="12" dur="500"/>
                                        <p:tgtEl>
                                          <p:spTgt spid="18435">
                                            <p:txEl>
                                              <p:pRg st="2" end="2"/>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8435">
                                            <p:txEl>
                                              <p:pRg st="3" end="3"/>
                                            </p:txEl>
                                          </p:spTgt>
                                        </p:tgtEl>
                                        <p:attrNameLst>
                                          <p:attrName>style.visibility</p:attrName>
                                        </p:attrNameLst>
                                      </p:cBhvr>
                                      <p:to>
                                        <p:strVal val="visible"/>
                                      </p:to>
                                    </p:set>
                                    <p:animEffect transition="in" filter="blinds(horizontal)">
                                      <p:cBhvr>
                                        <p:cTn id="15" dur="500"/>
                                        <p:tgtEl>
                                          <p:spTgt spid="18435">
                                            <p:txEl>
                                              <p:pRg st="3" end="3"/>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8435">
                                            <p:txEl>
                                              <p:pRg st="4" end="4"/>
                                            </p:txEl>
                                          </p:spTgt>
                                        </p:tgtEl>
                                        <p:attrNameLst>
                                          <p:attrName>style.visibility</p:attrName>
                                        </p:attrNameLst>
                                      </p:cBhvr>
                                      <p:to>
                                        <p:strVal val="visible"/>
                                      </p:to>
                                    </p:set>
                                    <p:animEffect transition="in" filter="blinds(horizontal)">
                                      <p:cBhvr>
                                        <p:cTn id="18" dur="500"/>
                                        <p:tgtEl>
                                          <p:spTgt spid="18435">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animEffect transition="in" filter="blinds(horizontal)">
                                      <p:cBhvr>
                                        <p:cTn id="23" dur="500"/>
                                        <p:tgtEl>
                                          <p:spTgt spid="5">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5">
                                            <p:txEl>
                                              <p:pRg st="2" end="2"/>
                                            </p:txEl>
                                          </p:spTgt>
                                        </p:tgtEl>
                                        <p:attrNameLst>
                                          <p:attrName>style.visibility</p:attrName>
                                        </p:attrNameLst>
                                      </p:cBhvr>
                                      <p:to>
                                        <p:strVal val="visible"/>
                                      </p:to>
                                    </p:set>
                                    <p:animEffect transition="in" filter="blinds(horizontal)">
                                      <p:cBhvr>
                                        <p:cTn id="28" dur="500"/>
                                        <p:tgtEl>
                                          <p:spTgt spid="5">
                                            <p:txEl>
                                              <p:pRg st="2" end="2"/>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5">
                                            <p:txEl>
                                              <p:pRg st="3" end="3"/>
                                            </p:txEl>
                                          </p:spTgt>
                                        </p:tgtEl>
                                        <p:attrNameLst>
                                          <p:attrName>style.visibility</p:attrName>
                                        </p:attrNameLst>
                                      </p:cBhvr>
                                      <p:to>
                                        <p:strVal val="visible"/>
                                      </p:to>
                                    </p:set>
                                    <p:animEffect transition="in" filter="blinds(horizontal)">
                                      <p:cBhvr>
                                        <p:cTn id="31"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P spid="5"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zh-CN" altLang="en-US" dirty="0"/>
              <a:t>修改数据</a:t>
            </a:r>
            <a:r>
              <a:rPr lang="en-US" altLang="zh-CN" dirty="0"/>
              <a:t> 3 -- </a:t>
            </a:r>
            <a:r>
              <a:rPr lang="zh-CN" altLang="en-US" dirty="0"/>
              <a:t>带子查询的修改语句</a:t>
            </a:r>
            <a:endParaRPr lang="zh-CN" altLang="en-US" dirty="0"/>
          </a:p>
        </p:txBody>
      </p:sp>
      <p:sp>
        <p:nvSpPr>
          <p:cNvPr id="20483" name="Rectangle 3"/>
          <p:cNvSpPr>
            <a:spLocks noGrp="1" noChangeArrowheads="1"/>
          </p:cNvSpPr>
          <p:nvPr>
            <p:ph idx="1"/>
          </p:nvPr>
        </p:nvSpPr>
        <p:spPr/>
        <p:txBody>
          <a:bodyPr>
            <a:normAutofit/>
          </a:bodyPr>
          <a:lstStyle/>
          <a:p>
            <a:pPr>
              <a:lnSpc>
                <a:spcPct val="120000"/>
              </a:lnSpc>
              <a:spcBef>
                <a:spcPct val="0"/>
              </a:spcBef>
            </a:pPr>
            <a:r>
              <a:rPr lang="en-US" altLang="zh-CN" dirty="0"/>
              <a:t>[</a:t>
            </a:r>
            <a:r>
              <a:rPr lang="zh-CN" altLang="en-US" dirty="0"/>
              <a:t>例</a:t>
            </a:r>
            <a:r>
              <a:rPr lang="en-US" altLang="zh-CN" dirty="0"/>
              <a:t>3.75] </a:t>
            </a:r>
            <a:r>
              <a:rPr lang="zh-CN" altLang="en-US" dirty="0"/>
              <a:t>将计算机科学系全体学生的成绩置零。</a:t>
            </a:r>
            <a:endParaRPr lang="zh-CN" altLang="en-US" dirty="0"/>
          </a:p>
          <a:p>
            <a:pPr marL="914400" lvl="2" indent="0">
              <a:lnSpc>
                <a:spcPct val="120000"/>
              </a:lnSpc>
              <a:spcBef>
                <a:spcPts val="2000"/>
              </a:spcBef>
              <a:buNone/>
            </a:pPr>
            <a:r>
              <a:rPr lang="en-US" altLang="zh-CN" dirty="0">
                <a:solidFill>
                  <a:srgbClr val="FF0000"/>
                </a:solidFill>
                <a:latin typeface="Arial" panose="020B0604020202090204" pitchFamily="34" charset="0"/>
                <a:cs typeface="Arial" panose="020B0604020202090204" pitchFamily="34" charset="0"/>
              </a:rPr>
              <a:t>UPDATE  SC</a:t>
            </a:r>
            <a:endParaRPr lang="en-US" altLang="zh-CN" dirty="0">
              <a:solidFill>
                <a:srgbClr val="FF0000"/>
              </a:solidFill>
              <a:latin typeface="Arial" panose="020B0604020202090204" pitchFamily="34" charset="0"/>
              <a:cs typeface="Arial" panose="020B0604020202090204" pitchFamily="34" charset="0"/>
            </a:endParaRPr>
          </a:p>
          <a:p>
            <a:pPr marL="914400" lvl="2" indent="0">
              <a:lnSpc>
                <a:spcPct val="120000"/>
              </a:lnSpc>
              <a:spcBef>
                <a:spcPct val="0"/>
              </a:spcBef>
              <a:buNone/>
            </a:pPr>
            <a:r>
              <a:rPr lang="en-US" altLang="zh-CN" dirty="0">
                <a:solidFill>
                  <a:srgbClr val="FF0000"/>
                </a:solidFill>
                <a:latin typeface="Arial" panose="020B0604020202090204" pitchFamily="34" charset="0"/>
                <a:cs typeface="Arial" panose="020B0604020202090204" pitchFamily="34" charset="0"/>
              </a:rPr>
              <a:t>SET    Grade=0</a:t>
            </a:r>
            <a:endParaRPr lang="en-US" altLang="zh-CN" dirty="0">
              <a:solidFill>
                <a:srgbClr val="FF0000"/>
              </a:solidFill>
              <a:latin typeface="Arial" panose="020B0604020202090204" pitchFamily="34" charset="0"/>
              <a:cs typeface="Arial" panose="020B0604020202090204" pitchFamily="34" charset="0"/>
            </a:endParaRPr>
          </a:p>
          <a:p>
            <a:pPr marL="914400" lvl="2" indent="0">
              <a:lnSpc>
                <a:spcPct val="120000"/>
              </a:lnSpc>
              <a:spcBef>
                <a:spcPct val="0"/>
              </a:spcBef>
              <a:buNone/>
            </a:pPr>
            <a:r>
              <a:rPr lang="en-US" altLang="zh-CN" dirty="0">
                <a:solidFill>
                  <a:srgbClr val="FF0000"/>
                </a:solidFill>
                <a:latin typeface="Arial" panose="020B0604020202090204" pitchFamily="34" charset="0"/>
                <a:cs typeface="Arial" panose="020B0604020202090204" pitchFamily="34" charset="0"/>
              </a:rPr>
              <a:t>WHERE  </a:t>
            </a:r>
            <a:r>
              <a:rPr lang="en-US" altLang="zh-CN" dirty="0" err="1">
                <a:solidFill>
                  <a:srgbClr val="FF0000"/>
                </a:solidFill>
                <a:latin typeface="Arial" panose="020B0604020202090204" pitchFamily="34" charset="0"/>
                <a:cs typeface="Arial" panose="020B0604020202090204" pitchFamily="34" charset="0"/>
              </a:rPr>
              <a:t>Sno</a:t>
            </a:r>
            <a:r>
              <a:rPr lang="en-US" altLang="zh-CN" dirty="0">
                <a:solidFill>
                  <a:srgbClr val="FF0000"/>
                </a:solidFill>
                <a:latin typeface="Arial" panose="020B0604020202090204" pitchFamily="34" charset="0"/>
                <a:cs typeface="Arial" panose="020B0604020202090204" pitchFamily="34" charset="0"/>
              </a:rPr>
              <a:t>  IN </a:t>
            </a:r>
            <a:r>
              <a:rPr lang="zh-CN" altLang="en-US" dirty="0">
                <a:solidFill>
                  <a:srgbClr val="FF0000"/>
                </a:solidFill>
                <a:latin typeface="Arial" panose="020B0604020202090204" pitchFamily="34" charset="0"/>
                <a:cs typeface="Arial" panose="020B0604020202090204" pitchFamily="34" charset="0"/>
              </a:rPr>
              <a:t>(</a:t>
            </a:r>
            <a:endParaRPr lang="zh-CN" altLang="en-US" dirty="0">
              <a:solidFill>
                <a:srgbClr val="FF0000"/>
              </a:solidFill>
              <a:latin typeface="Arial" panose="020B0604020202090204" pitchFamily="34" charset="0"/>
              <a:cs typeface="Arial" panose="020B0604020202090204" pitchFamily="34" charset="0"/>
            </a:endParaRPr>
          </a:p>
          <a:p>
            <a:pPr marL="1371600" lvl="3" indent="2585720">
              <a:lnSpc>
                <a:spcPct val="120000"/>
              </a:lnSpc>
              <a:spcBef>
                <a:spcPct val="0"/>
              </a:spcBef>
              <a:buNone/>
            </a:pPr>
            <a:r>
              <a:rPr lang="en-US" altLang="zh-CN" dirty="0">
                <a:solidFill>
                  <a:srgbClr val="FF0000"/>
                </a:solidFill>
                <a:latin typeface="Arial" panose="020B0604020202090204" pitchFamily="34" charset="0"/>
                <a:cs typeface="Arial" panose="020B0604020202090204" pitchFamily="34" charset="0"/>
              </a:rPr>
              <a:t>SELETE  </a:t>
            </a:r>
            <a:r>
              <a:rPr lang="en-US" altLang="zh-CN" dirty="0" err="1">
                <a:solidFill>
                  <a:srgbClr val="FF0000"/>
                </a:solidFill>
                <a:latin typeface="Arial" panose="020B0604020202090204" pitchFamily="34" charset="0"/>
                <a:cs typeface="Arial" panose="020B0604020202090204" pitchFamily="34" charset="0"/>
              </a:rPr>
              <a:t>Sno</a:t>
            </a:r>
            <a:endParaRPr lang="en-US" altLang="zh-CN" dirty="0" err="1">
              <a:solidFill>
                <a:srgbClr val="FF0000"/>
              </a:solidFill>
              <a:latin typeface="Arial" panose="020B0604020202090204" pitchFamily="34" charset="0"/>
              <a:cs typeface="Arial" panose="020B0604020202090204" pitchFamily="34" charset="0"/>
            </a:endParaRPr>
          </a:p>
          <a:p>
            <a:pPr marL="1371600" lvl="3" indent="2585720">
              <a:lnSpc>
                <a:spcPct val="120000"/>
              </a:lnSpc>
              <a:spcBef>
                <a:spcPct val="0"/>
              </a:spcBef>
              <a:buNone/>
            </a:pPr>
            <a:r>
              <a:rPr lang="en-US" altLang="zh-CN" dirty="0">
                <a:solidFill>
                  <a:srgbClr val="FF0000"/>
                </a:solidFill>
                <a:latin typeface="Arial" panose="020B0604020202090204" pitchFamily="34" charset="0"/>
                <a:cs typeface="Arial" panose="020B0604020202090204" pitchFamily="34" charset="0"/>
              </a:rPr>
              <a:t>FROM   Student</a:t>
            </a:r>
            <a:endParaRPr lang="en-US" altLang="zh-CN" dirty="0">
              <a:solidFill>
                <a:srgbClr val="FF0000"/>
              </a:solidFill>
              <a:latin typeface="Arial" panose="020B0604020202090204" pitchFamily="34" charset="0"/>
              <a:cs typeface="Arial" panose="020B0604020202090204" pitchFamily="34" charset="0"/>
            </a:endParaRPr>
          </a:p>
          <a:p>
            <a:pPr marL="1371600" lvl="3" indent="2585720">
              <a:lnSpc>
                <a:spcPct val="120000"/>
              </a:lnSpc>
              <a:spcBef>
                <a:spcPct val="0"/>
              </a:spcBef>
              <a:buNone/>
            </a:pPr>
            <a:r>
              <a:rPr lang="en-US" altLang="zh-CN" dirty="0">
                <a:solidFill>
                  <a:srgbClr val="FF0000"/>
                </a:solidFill>
                <a:latin typeface="Arial" panose="020B0604020202090204" pitchFamily="34" charset="0"/>
                <a:cs typeface="Arial" panose="020B0604020202090204" pitchFamily="34" charset="0"/>
              </a:rPr>
              <a:t>WHERE  </a:t>
            </a:r>
            <a:r>
              <a:rPr lang="en-US" altLang="zh-CN" dirty="0" err="1">
                <a:solidFill>
                  <a:srgbClr val="FF0000"/>
                </a:solidFill>
                <a:latin typeface="Arial" panose="020B0604020202090204" pitchFamily="34" charset="0"/>
                <a:cs typeface="Arial" panose="020B0604020202090204" pitchFamily="34" charset="0"/>
              </a:rPr>
              <a:t>Sdept </a:t>
            </a:r>
            <a:r>
              <a:rPr lang="en-US" altLang="zh-CN" dirty="0">
                <a:solidFill>
                  <a:srgbClr val="FF0000"/>
                </a:solidFill>
                <a:latin typeface="Arial" panose="020B0604020202090204" pitchFamily="34" charset="0"/>
                <a:cs typeface="Arial" panose="020B0604020202090204" pitchFamily="34" charset="0"/>
              </a:rPr>
              <a:t>= 'CS' </a:t>
            </a:r>
            <a:r>
              <a:rPr lang="zh-CN" altLang="en-US" dirty="0">
                <a:solidFill>
                  <a:srgbClr val="FF0000"/>
                </a:solidFill>
                <a:latin typeface="Arial" panose="020B0604020202090204" pitchFamily="34" charset="0"/>
                <a:cs typeface="Arial" panose="020B0604020202090204" pitchFamily="34" charset="0"/>
              </a:rPr>
              <a:t>);</a:t>
            </a:r>
            <a:endParaRPr lang="zh-CN" altLang="en-US" dirty="0">
              <a:solidFill>
                <a:srgbClr val="FF0000"/>
              </a:solidFill>
              <a:latin typeface="Arial" panose="020B0604020202090204" pitchFamily="34" charset="0"/>
              <a:cs typeface="Arial" panose="020B0604020202090204" pitchFamily="34" charset="0"/>
            </a:endParaRPr>
          </a:p>
        </p:txBody>
      </p:sp>
      <p:sp>
        <p:nvSpPr>
          <p:cNvPr id="2" name="灯片编号占位符 1"/>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ch03_3_SQL数据更新</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483">
                                            <p:txEl>
                                              <p:pRg st="1" end="1"/>
                                            </p:txEl>
                                          </p:spTgt>
                                        </p:tgtEl>
                                        <p:attrNameLst>
                                          <p:attrName>style.visibility</p:attrName>
                                        </p:attrNameLst>
                                      </p:cBhvr>
                                      <p:to>
                                        <p:strVal val="visible"/>
                                      </p:to>
                                    </p:set>
                                    <p:animEffect transition="in" filter="blinds(horizontal)">
                                      <p:cBhvr>
                                        <p:cTn id="7" dur="500"/>
                                        <p:tgtEl>
                                          <p:spTgt spid="2048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0483">
                                            <p:txEl>
                                              <p:pRg st="2" end="2"/>
                                            </p:txEl>
                                          </p:spTgt>
                                        </p:tgtEl>
                                        <p:attrNameLst>
                                          <p:attrName>style.visibility</p:attrName>
                                        </p:attrNameLst>
                                      </p:cBhvr>
                                      <p:to>
                                        <p:strVal val="visible"/>
                                      </p:to>
                                    </p:set>
                                    <p:animEffect transition="in" filter="blinds(horizontal)">
                                      <p:cBhvr>
                                        <p:cTn id="10" dur="500"/>
                                        <p:tgtEl>
                                          <p:spTgt spid="20483">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0483">
                                            <p:txEl>
                                              <p:pRg st="3" end="3"/>
                                            </p:txEl>
                                          </p:spTgt>
                                        </p:tgtEl>
                                        <p:attrNameLst>
                                          <p:attrName>style.visibility</p:attrName>
                                        </p:attrNameLst>
                                      </p:cBhvr>
                                      <p:to>
                                        <p:strVal val="visible"/>
                                      </p:to>
                                    </p:set>
                                    <p:animEffect transition="in" filter="blinds(horizontal)">
                                      <p:cBhvr>
                                        <p:cTn id="13" dur="500"/>
                                        <p:tgtEl>
                                          <p:spTgt spid="20483">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20483">
                                            <p:txEl>
                                              <p:pRg st="4" end="4"/>
                                            </p:txEl>
                                          </p:spTgt>
                                        </p:tgtEl>
                                        <p:attrNameLst>
                                          <p:attrName>style.visibility</p:attrName>
                                        </p:attrNameLst>
                                      </p:cBhvr>
                                      <p:to>
                                        <p:strVal val="visible"/>
                                      </p:to>
                                    </p:set>
                                    <p:animEffect transition="in" filter="blinds(horizontal)">
                                      <p:cBhvr>
                                        <p:cTn id="16" dur="500"/>
                                        <p:tgtEl>
                                          <p:spTgt spid="20483">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20483">
                                            <p:txEl>
                                              <p:pRg st="5" end="5"/>
                                            </p:txEl>
                                          </p:spTgt>
                                        </p:tgtEl>
                                        <p:attrNameLst>
                                          <p:attrName>style.visibility</p:attrName>
                                        </p:attrNameLst>
                                      </p:cBhvr>
                                      <p:to>
                                        <p:strVal val="visible"/>
                                      </p:to>
                                    </p:set>
                                    <p:animEffect transition="in" filter="blinds(horizontal)">
                                      <p:cBhvr>
                                        <p:cTn id="19" dur="500"/>
                                        <p:tgtEl>
                                          <p:spTgt spid="20483">
                                            <p:txEl>
                                              <p:pRg st="5" end="5"/>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20483">
                                            <p:txEl>
                                              <p:pRg st="6" end="6"/>
                                            </p:txEl>
                                          </p:spTgt>
                                        </p:tgtEl>
                                        <p:attrNameLst>
                                          <p:attrName>style.visibility</p:attrName>
                                        </p:attrNameLst>
                                      </p:cBhvr>
                                      <p:to>
                                        <p:strVal val="visible"/>
                                      </p:to>
                                    </p:set>
                                    <p:animEffect transition="in" filter="blinds(horizontal)">
                                      <p:cBhvr>
                                        <p:cTn id="22" dur="500"/>
                                        <p:tgtEl>
                                          <p:spTgt spid="2048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zh-CN" altLang="en-US" dirty="0">
                <a:sym typeface="+mn-ea"/>
              </a:rPr>
              <a:t>修改数据</a:t>
            </a:r>
            <a:r>
              <a:rPr lang="en-US" altLang="zh-CN" dirty="0">
                <a:sym typeface="+mn-ea"/>
              </a:rPr>
              <a:t> 4 -- </a:t>
            </a:r>
            <a:r>
              <a:rPr lang="zh-CN" altLang="en-US"/>
              <a:t>修改数据与完整性</a:t>
            </a:r>
            <a:endParaRPr lang="zh-CN" altLang="en-US" dirty="0"/>
          </a:p>
        </p:txBody>
      </p:sp>
      <p:sp>
        <p:nvSpPr>
          <p:cNvPr id="21507" name="Rectangle 3"/>
          <p:cNvSpPr>
            <a:spLocks noGrp="1" noChangeArrowheads="1"/>
          </p:cNvSpPr>
          <p:nvPr>
            <p:ph idx="1"/>
          </p:nvPr>
        </p:nvSpPr>
        <p:spPr/>
        <p:txBody>
          <a:bodyPr>
            <a:noAutofit/>
          </a:bodyPr>
          <a:lstStyle/>
          <a:p>
            <a:pPr eaLnBrk="1" hangingPunct="1">
              <a:lnSpc>
                <a:spcPct val="110000"/>
              </a:lnSpc>
              <a:spcBef>
                <a:spcPts val="1000"/>
              </a:spcBef>
            </a:pPr>
            <a:r>
              <a:rPr lang="zh-CN" altLang="en-US" dirty="0"/>
              <a:t>关系数据库管理系统在执行修改语句时会检查修改操作是否破坏表上已定义的完整性规则</a:t>
            </a:r>
            <a:endParaRPr lang="zh-CN" altLang="en-US" dirty="0"/>
          </a:p>
          <a:p>
            <a:pPr lvl="1">
              <a:lnSpc>
                <a:spcPct val="110000"/>
              </a:lnSpc>
              <a:spcBef>
                <a:spcPts val="1000"/>
              </a:spcBef>
            </a:pPr>
            <a:r>
              <a:rPr lang="zh-CN" altLang="en-US" dirty="0"/>
              <a:t>实体完整性</a:t>
            </a:r>
            <a:endParaRPr lang="zh-CN" altLang="en-US" dirty="0"/>
          </a:p>
          <a:p>
            <a:pPr lvl="1">
              <a:lnSpc>
                <a:spcPct val="110000"/>
              </a:lnSpc>
              <a:spcBef>
                <a:spcPts val="1000"/>
              </a:spcBef>
            </a:pPr>
            <a:r>
              <a:rPr lang="zh-CN" altLang="en-US" dirty="0"/>
              <a:t>参照完整性</a:t>
            </a:r>
            <a:endParaRPr lang="zh-CN" altLang="en-US" dirty="0"/>
          </a:p>
          <a:p>
            <a:pPr lvl="1">
              <a:lnSpc>
                <a:spcPct val="110000"/>
              </a:lnSpc>
              <a:spcBef>
                <a:spcPts val="1000"/>
              </a:spcBef>
            </a:pPr>
            <a:r>
              <a:rPr lang="zh-CN" altLang="en-US"/>
              <a:t>用户</a:t>
            </a:r>
            <a:r>
              <a:rPr lang="zh-CN" altLang="en-US" dirty="0"/>
              <a:t>定义的完整性</a:t>
            </a:r>
            <a:endParaRPr lang="zh-CN" altLang="en-US" dirty="0"/>
          </a:p>
          <a:p>
            <a:pPr lvl="2">
              <a:lnSpc>
                <a:spcPct val="110000"/>
              </a:lnSpc>
              <a:spcBef>
                <a:spcPts val="1000"/>
              </a:spcBef>
              <a:buSzPct val="87000"/>
            </a:pPr>
            <a:r>
              <a:rPr lang="zh-CN" altLang="en-US" dirty="0"/>
              <a:t> </a:t>
            </a:r>
            <a:r>
              <a:rPr lang="en-US" altLang="zh-CN" dirty="0"/>
              <a:t>NOT NULL</a:t>
            </a:r>
            <a:r>
              <a:rPr lang="zh-CN" altLang="en-US" dirty="0"/>
              <a:t>约束</a:t>
            </a:r>
            <a:endParaRPr lang="zh-CN" altLang="en-US" dirty="0"/>
          </a:p>
          <a:p>
            <a:pPr lvl="2">
              <a:lnSpc>
                <a:spcPct val="110000"/>
              </a:lnSpc>
              <a:spcBef>
                <a:spcPts val="1000"/>
              </a:spcBef>
              <a:buSzPct val="87000"/>
            </a:pPr>
            <a:r>
              <a:rPr lang="zh-CN" altLang="en-US" dirty="0"/>
              <a:t> </a:t>
            </a:r>
            <a:r>
              <a:rPr lang="en-US" altLang="zh-CN" dirty="0"/>
              <a:t>UNIQUE</a:t>
            </a:r>
            <a:r>
              <a:rPr lang="zh-CN" altLang="en-US" dirty="0"/>
              <a:t>约束</a:t>
            </a:r>
            <a:endParaRPr lang="zh-CN" altLang="en-US" dirty="0"/>
          </a:p>
          <a:p>
            <a:pPr lvl="2">
              <a:lnSpc>
                <a:spcPct val="110000"/>
              </a:lnSpc>
              <a:spcBef>
                <a:spcPts val="1000"/>
              </a:spcBef>
              <a:buSzPct val="87000"/>
            </a:pPr>
            <a:r>
              <a:rPr lang="zh-CN" altLang="en-US" dirty="0"/>
              <a:t> 值域约束</a:t>
            </a:r>
            <a:endParaRPr lang="zh-CN" altLang="en-US" dirty="0"/>
          </a:p>
        </p:txBody>
      </p:sp>
      <p:sp>
        <p:nvSpPr>
          <p:cNvPr id="2" name="灯片编号占位符 1"/>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ch03_3_SQL数据更新</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zh-CN" altLang="en-US" dirty="0"/>
              <a:t>删除数据</a:t>
            </a:r>
            <a:r>
              <a:rPr lang="en-US" altLang="zh-CN" dirty="0"/>
              <a:t>  1</a:t>
            </a:r>
            <a:endParaRPr lang="en-US" altLang="zh-CN" dirty="0"/>
          </a:p>
        </p:txBody>
      </p:sp>
      <p:sp>
        <p:nvSpPr>
          <p:cNvPr id="23555" name="Rectangle 3"/>
          <p:cNvSpPr>
            <a:spLocks noGrp="1" noChangeArrowheads="1"/>
          </p:cNvSpPr>
          <p:nvPr>
            <p:ph idx="1"/>
          </p:nvPr>
        </p:nvSpPr>
        <p:spPr>
          <a:xfrm>
            <a:off x="424180" y="687070"/>
            <a:ext cx="11343005" cy="598805"/>
          </a:xfrm>
        </p:spPr>
        <p:txBody>
          <a:bodyPr>
            <a:spAutoFit/>
          </a:bodyPr>
          <a:lstStyle/>
          <a:p>
            <a:pPr>
              <a:lnSpc>
                <a:spcPct val="110000"/>
              </a:lnSpc>
              <a:spcBef>
                <a:spcPct val="0"/>
              </a:spcBef>
            </a:pPr>
            <a:r>
              <a:rPr lang="zh-CN" altLang="en-US" dirty="0"/>
              <a:t>语句格式</a:t>
            </a:r>
            <a:endParaRPr lang="zh-CN" altLang="en-US" dirty="0"/>
          </a:p>
        </p:txBody>
      </p:sp>
      <p:sp>
        <p:nvSpPr>
          <p:cNvPr id="2" name="灯片编号占位符 1"/>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ch03_3_SQL数据更新</a:t>
            </a:r>
            <a:endParaRPr lang="zh-CN" altLang="en-US"/>
          </a:p>
        </p:txBody>
      </p:sp>
      <p:sp>
        <p:nvSpPr>
          <p:cNvPr id="5" name="Rectangle 3"/>
          <p:cNvSpPr>
            <a:spLocks noGrp="1" noChangeArrowheads="1"/>
          </p:cNvSpPr>
          <p:nvPr/>
        </p:nvSpPr>
        <p:spPr>
          <a:xfrm>
            <a:off x="551180" y="1335405"/>
            <a:ext cx="11343005" cy="1512570"/>
          </a:xfrm>
          <a:prstGeom prst="rect">
            <a:avLst/>
          </a:prstGeom>
          <a:solidFill>
            <a:schemeClr val="accent3">
              <a:lumMod val="20000"/>
              <a:lumOff val="80000"/>
              <a:alpha val="50000"/>
            </a:schemeClr>
          </a:solidFill>
          <a:ln>
            <a:solidFill>
              <a:schemeClr val="tx1"/>
            </a:solidFill>
          </a:ln>
        </p:spPr>
        <p:txBody>
          <a:bodyPr vert="horz"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charset="-122"/>
                <a:ea typeface="楷体"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charset="-122"/>
                <a:ea typeface="楷体"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charset="-122"/>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914400" lvl="2" indent="0">
              <a:lnSpc>
                <a:spcPct val="110000"/>
              </a:lnSpc>
              <a:spcBef>
                <a:spcPct val="0"/>
              </a:spcBef>
              <a:buNone/>
            </a:pPr>
            <a:r>
              <a:rPr lang="en-US" altLang="zh-CN" dirty="0">
                <a:solidFill>
                  <a:srgbClr val="FF0000"/>
                </a:solidFill>
                <a:latin typeface="Arial" panose="020B0604020202090204" pitchFamily="34" charset="0"/>
                <a:cs typeface="Arial" panose="020B0604020202090204" pitchFamily="34" charset="0"/>
              </a:rPr>
              <a:t>DELETE</a:t>
            </a:r>
            <a:endParaRPr lang="en-US" altLang="zh-CN" dirty="0">
              <a:solidFill>
                <a:srgbClr val="FF0000"/>
              </a:solidFill>
              <a:latin typeface="Arial" panose="020B0604020202090204" pitchFamily="34" charset="0"/>
              <a:cs typeface="Arial" panose="020B0604020202090204" pitchFamily="34" charset="0"/>
            </a:endParaRPr>
          </a:p>
          <a:p>
            <a:pPr marL="914400" lvl="2" indent="0">
              <a:lnSpc>
                <a:spcPct val="110000"/>
              </a:lnSpc>
              <a:spcBef>
                <a:spcPct val="0"/>
              </a:spcBef>
              <a:buNone/>
            </a:pPr>
            <a:r>
              <a:rPr lang="en-US" altLang="zh-CN" dirty="0">
                <a:solidFill>
                  <a:srgbClr val="FF0000"/>
                </a:solidFill>
                <a:latin typeface="Arial" panose="020B0604020202090204" pitchFamily="34" charset="0"/>
                <a:cs typeface="Arial" panose="020B0604020202090204" pitchFamily="34" charset="0"/>
              </a:rPr>
              <a:t>FROM     &lt;</a:t>
            </a:r>
            <a:r>
              <a:rPr lang="zh-CN" altLang="en-US" dirty="0">
                <a:solidFill>
                  <a:srgbClr val="FF0000"/>
                </a:solidFill>
                <a:latin typeface="Arial" panose="020B0604020202090204" pitchFamily="34" charset="0"/>
                <a:cs typeface="Arial" panose="020B0604020202090204" pitchFamily="34" charset="0"/>
              </a:rPr>
              <a:t>表名</a:t>
            </a:r>
            <a:r>
              <a:rPr lang="en-US" altLang="zh-CN" dirty="0">
                <a:solidFill>
                  <a:srgbClr val="FF0000"/>
                </a:solidFill>
                <a:latin typeface="Arial" panose="020B0604020202090204" pitchFamily="34" charset="0"/>
                <a:cs typeface="Arial" panose="020B0604020202090204" pitchFamily="34" charset="0"/>
              </a:rPr>
              <a:t>&gt;</a:t>
            </a:r>
            <a:endParaRPr lang="en-US" altLang="zh-CN" dirty="0">
              <a:solidFill>
                <a:srgbClr val="FF0000"/>
              </a:solidFill>
              <a:latin typeface="Arial" panose="020B0604020202090204" pitchFamily="34" charset="0"/>
              <a:cs typeface="Arial" panose="020B0604020202090204" pitchFamily="34" charset="0"/>
            </a:endParaRPr>
          </a:p>
          <a:p>
            <a:pPr marL="914400" lvl="2" indent="0">
              <a:lnSpc>
                <a:spcPct val="110000"/>
              </a:lnSpc>
              <a:spcBef>
                <a:spcPct val="0"/>
              </a:spcBef>
              <a:buNone/>
            </a:pPr>
            <a:r>
              <a:rPr lang="en-US" altLang="zh-CN" dirty="0">
                <a:solidFill>
                  <a:srgbClr val="FF0000"/>
                </a:solidFill>
                <a:latin typeface="Arial" panose="020B0604020202090204" pitchFamily="34" charset="0"/>
                <a:cs typeface="Arial" panose="020B0604020202090204" pitchFamily="34" charset="0"/>
              </a:rPr>
              <a:t>[ WHERE &lt;</a:t>
            </a:r>
            <a:r>
              <a:rPr lang="zh-CN" altLang="en-US" dirty="0">
                <a:solidFill>
                  <a:srgbClr val="FF0000"/>
                </a:solidFill>
                <a:latin typeface="Arial" panose="020B0604020202090204" pitchFamily="34" charset="0"/>
                <a:cs typeface="Arial" panose="020B0604020202090204" pitchFamily="34" charset="0"/>
              </a:rPr>
              <a:t>条件</a:t>
            </a:r>
            <a:r>
              <a:rPr lang="en-US" altLang="zh-CN" dirty="0">
                <a:solidFill>
                  <a:srgbClr val="FF0000"/>
                </a:solidFill>
                <a:latin typeface="Arial" panose="020B0604020202090204" pitchFamily="34" charset="0"/>
                <a:cs typeface="Arial" panose="020B0604020202090204" pitchFamily="34" charset="0"/>
              </a:rPr>
              <a:t>&gt; ] </a:t>
            </a:r>
            <a:r>
              <a:rPr lang="zh-CN" altLang="en-US" dirty="0">
                <a:solidFill>
                  <a:srgbClr val="FF0000"/>
                </a:solidFill>
                <a:latin typeface="Arial" panose="020B0604020202090204" pitchFamily="34" charset="0"/>
                <a:cs typeface="Arial" panose="020B0604020202090204" pitchFamily="34" charset="0"/>
              </a:rPr>
              <a:t>;</a:t>
            </a:r>
            <a:endParaRPr lang="zh-CN" altLang="en-US" dirty="0"/>
          </a:p>
        </p:txBody>
      </p:sp>
      <p:sp>
        <p:nvSpPr>
          <p:cNvPr id="6" name="Rectangle 3"/>
          <p:cNvSpPr>
            <a:spLocks noGrp="1" noChangeArrowheads="1"/>
          </p:cNvSpPr>
          <p:nvPr/>
        </p:nvSpPr>
        <p:spPr>
          <a:xfrm>
            <a:off x="424180" y="3089275"/>
            <a:ext cx="11343005" cy="3002280"/>
          </a:xfrm>
          <a:prstGeom prst="rect">
            <a:avLst/>
          </a:prstGeom>
        </p:spPr>
        <p:txBody>
          <a:bodyPr vert="horz"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charset="-122"/>
                <a:ea typeface="楷体"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charset="-122"/>
                <a:ea typeface="楷体"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charset="-122"/>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10000"/>
              </a:lnSpc>
              <a:spcBef>
                <a:spcPct val="0"/>
              </a:spcBef>
            </a:pPr>
            <a:r>
              <a:rPr lang="zh-CN" altLang="en-US" dirty="0"/>
              <a:t>功能</a:t>
            </a:r>
            <a:endParaRPr lang="zh-CN" altLang="en-US" dirty="0"/>
          </a:p>
          <a:p>
            <a:pPr lvl="1">
              <a:lnSpc>
                <a:spcPct val="110000"/>
              </a:lnSpc>
              <a:spcBef>
                <a:spcPct val="0"/>
              </a:spcBef>
            </a:pPr>
            <a:r>
              <a:rPr lang="zh-CN" altLang="en-US" dirty="0"/>
              <a:t>删除指定表中满足</a:t>
            </a:r>
            <a:r>
              <a:rPr lang="en-US" altLang="zh-CN" dirty="0"/>
              <a:t>WHERE</a:t>
            </a:r>
            <a:r>
              <a:rPr lang="zh-CN" altLang="en-US" dirty="0"/>
              <a:t>子句条件的元组</a:t>
            </a:r>
            <a:endParaRPr lang="zh-CN" altLang="en-US" dirty="0"/>
          </a:p>
          <a:p>
            <a:pPr lvl="1">
              <a:lnSpc>
                <a:spcPct val="110000"/>
              </a:lnSpc>
              <a:spcBef>
                <a:spcPct val="0"/>
              </a:spcBef>
            </a:pPr>
            <a:endParaRPr lang="zh-CN" altLang="en-US" dirty="0"/>
          </a:p>
          <a:p>
            <a:pPr>
              <a:lnSpc>
                <a:spcPct val="110000"/>
              </a:lnSpc>
              <a:spcBef>
                <a:spcPct val="0"/>
              </a:spcBef>
            </a:pPr>
            <a:r>
              <a:rPr lang="en-US" altLang="zh-CN" dirty="0"/>
              <a:t>WHERE</a:t>
            </a:r>
            <a:r>
              <a:rPr lang="zh-CN" altLang="en-US" dirty="0"/>
              <a:t>子句</a:t>
            </a:r>
            <a:endParaRPr lang="zh-CN" altLang="en-US" dirty="0"/>
          </a:p>
          <a:p>
            <a:pPr lvl="1">
              <a:lnSpc>
                <a:spcPct val="110000"/>
              </a:lnSpc>
              <a:spcBef>
                <a:spcPct val="0"/>
              </a:spcBef>
            </a:pPr>
            <a:r>
              <a:rPr lang="zh-CN" altLang="en-US" dirty="0"/>
              <a:t>指定要删除的元组</a:t>
            </a:r>
            <a:endParaRPr lang="zh-CN" altLang="en-US" dirty="0"/>
          </a:p>
          <a:p>
            <a:pPr lvl="1">
              <a:lnSpc>
                <a:spcPct val="110000"/>
              </a:lnSpc>
              <a:spcBef>
                <a:spcPct val="0"/>
              </a:spcBef>
            </a:pPr>
            <a:r>
              <a:rPr lang="zh-CN" altLang="en-US" dirty="0"/>
              <a:t>缺省表示要删除表中的全部元组，表的定义仍在字典中</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zh-CN" altLang="en-US" dirty="0">
                <a:sym typeface="+mn-ea"/>
              </a:rPr>
              <a:t>删除数据</a:t>
            </a:r>
            <a:r>
              <a:rPr lang="en-US" altLang="zh-CN" dirty="0">
                <a:sym typeface="+mn-ea"/>
              </a:rPr>
              <a:t>  2</a:t>
            </a:r>
            <a:endParaRPr lang="zh-CN" altLang="en-US" dirty="0"/>
          </a:p>
        </p:txBody>
      </p:sp>
      <p:sp>
        <p:nvSpPr>
          <p:cNvPr id="3" name="文本占位符 2"/>
          <p:cNvSpPr>
            <a:spLocks noGrp="1"/>
          </p:cNvSpPr>
          <p:nvPr>
            <p:ph type="body" idx="1"/>
          </p:nvPr>
        </p:nvSpPr>
        <p:spPr>
          <a:solidFill>
            <a:schemeClr val="accent3">
              <a:lumMod val="20000"/>
              <a:lumOff val="80000"/>
            </a:schemeClr>
          </a:solidFill>
        </p:spPr>
        <p:txBody>
          <a:bodyPr anchor="ctr" anchorCtr="0"/>
          <a:p>
            <a:pPr>
              <a:lnSpc>
                <a:spcPct val="100000"/>
              </a:lnSpc>
            </a:pPr>
            <a:r>
              <a:rPr lang="zh-CN" altLang="en-US" dirty="0">
                <a:sym typeface="+mn-ea"/>
              </a:rPr>
              <a:t>删除某一个元组的值</a:t>
            </a:r>
            <a:endParaRPr lang="zh-CN" altLang="en-US"/>
          </a:p>
        </p:txBody>
      </p:sp>
      <p:sp>
        <p:nvSpPr>
          <p:cNvPr id="25603" name="Rectangle 3"/>
          <p:cNvSpPr>
            <a:spLocks noGrp="1" noChangeArrowheads="1"/>
          </p:cNvSpPr>
          <p:nvPr>
            <p:ph sz="half" idx="2"/>
          </p:nvPr>
        </p:nvSpPr>
        <p:spPr/>
        <p:txBody>
          <a:bodyPr/>
          <a:lstStyle/>
          <a:p>
            <a:pPr marL="0" indent="0">
              <a:buNone/>
            </a:pPr>
            <a:r>
              <a:rPr lang="en-US" altLang="zh-CN"/>
              <a:t>[</a:t>
            </a:r>
            <a:r>
              <a:rPr lang="zh-CN" altLang="en-US"/>
              <a:t>例</a:t>
            </a:r>
            <a:r>
              <a:rPr lang="en-US" altLang="zh-CN"/>
              <a:t>3.76] </a:t>
            </a:r>
            <a:r>
              <a:rPr lang="zh-CN" altLang="en-US"/>
              <a:t>删除学号为</a:t>
            </a:r>
            <a:r>
              <a:rPr lang="en-US" altLang="zh-CN"/>
              <a:t>201215128</a:t>
            </a:r>
            <a:r>
              <a:rPr lang="zh-CN" altLang="en-US"/>
              <a:t>的学生记录。</a:t>
            </a:r>
            <a:endParaRPr lang="zh-CN" altLang="en-US"/>
          </a:p>
          <a:p>
            <a:pPr marL="914400" lvl="2" indent="0">
              <a:buNone/>
            </a:pPr>
            <a:endParaRPr lang="en-US" altLang="zh-CN"/>
          </a:p>
          <a:p>
            <a:pPr marL="457200" lvl="1" indent="0">
              <a:buNone/>
            </a:pPr>
            <a:r>
              <a:rPr lang="en-US" altLang="zh-CN">
                <a:solidFill>
                  <a:srgbClr val="FF0000"/>
                </a:solidFill>
              </a:rPr>
              <a:t>DELETE</a:t>
            </a:r>
            <a:endParaRPr lang="en-US" altLang="zh-CN">
              <a:solidFill>
                <a:srgbClr val="FF0000"/>
              </a:solidFill>
            </a:endParaRPr>
          </a:p>
          <a:p>
            <a:pPr marL="457200" lvl="1" indent="0">
              <a:buNone/>
            </a:pPr>
            <a:r>
              <a:rPr lang="en-US" altLang="zh-CN">
                <a:solidFill>
                  <a:srgbClr val="FF0000"/>
                </a:solidFill>
              </a:rPr>
              <a:t>FROM Student</a:t>
            </a:r>
            <a:endParaRPr lang="en-US" altLang="zh-CN">
              <a:solidFill>
                <a:srgbClr val="FF0000"/>
              </a:solidFill>
            </a:endParaRPr>
          </a:p>
          <a:p>
            <a:pPr marL="457200" lvl="1" indent="0">
              <a:buNone/>
            </a:pPr>
            <a:r>
              <a:rPr lang="en-US" altLang="zh-CN">
                <a:solidFill>
                  <a:srgbClr val="FF0000"/>
                </a:solidFill>
              </a:rPr>
              <a:t>WHERE Sno = </a:t>
            </a:r>
            <a:r>
              <a:rPr lang="en-US" altLang="zh-CN">
                <a:solidFill>
                  <a:srgbClr val="FF0000"/>
                </a:solidFill>
                <a:sym typeface="+mn-ea"/>
              </a:rPr>
              <a:t>'</a:t>
            </a:r>
            <a:r>
              <a:rPr lang="en-US" altLang="zh-CN">
                <a:solidFill>
                  <a:srgbClr val="FF0000"/>
                </a:solidFill>
              </a:rPr>
              <a:t>201215128'</a:t>
            </a:r>
            <a:r>
              <a:rPr lang="zh-CN" altLang="en-US">
                <a:solidFill>
                  <a:srgbClr val="FF0000"/>
                </a:solidFill>
              </a:rPr>
              <a:t>;</a:t>
            </a:r>
            <a:endParaRPr lang="zh-CN" altLang="en-US">
              <a:solidFill>
                <a:srgbClr val="FF0000"/>
              </a:solidFill>
            </a:endParaRPr>
          </a:p>
          <a:p>
            <a:endParaRPr lang="zh-CN" altLang="en-US" dirty="0">
              <a:solidFill>
                <a:srgbClr val="FF0000"/>
              </a:solidFill>
            </a:endParaRPr>
          </a:p>
        </p:txBody>
      </p:sp>
      <p:sp>
        <p:nvSpPr>
          <p:cNvPr id="4" name="文本占位符 3"/>
          <p:cNvSpPr>
            <a:spLocks noGrp="1"/>
          </p:cNvSpPr>
          <p:nvPr>
            <p:ph type="body" sz="quarter" idx="3"/>
          </p:nvPr>
        </p:nvSpPr>
        <p:spPr>
          <a:solidFill>
            <a:schemeClr val="accent3">
              <a:lumMod val="20000"/>
              <a:lumOff val="80000"/>
            </a:schemeClr>
          </a:solidFill>
        </p:spPr>
        <p:txBody>
          <a:bodyPr anchor="ctr" anchorCtr="0"/>
          <a:p>
            <a:pPr>
              <a:lnSpc>
                <a:spcPct val="100000"/>
              </a:lnSpc>
            </a:pPr>
            <a:r>
              <a:rPr lang="zh-CN" altLang="en-US" dirty="0">
                <a:sym typeface="+mn-ea"/>
              </a:rPr>
              <a:t>删除多个元组的值</a:t>
            </a:r>
            <a:endParaRPr lang="zh-CN" altLang="en-US"/>
          </a:p>
        </p:txBody>
      </p:sp>
      <p:sp>
        <p:nvSpPr>
          <p:cNvPr id="5" name="内容占位符 4"/>
          <p:cNvSpPr>
            <a:spLocks noGrp="1"/>
          </p:cNvSpPr>
          <p:nvPr>
            <p:ph sz="quarter" idx="4"/>
          </p:nvPr>
        </p:nvSpPr>
        <p:spPr/>
        <p:txBody>
          <a:bodyPr/>
          <a:p>
            <a:pPr marL="0" indent="0">
              <a:lnSpc>
                <a:spcPct val="110000"/>
              </a:lnSpc>
              <a:spcBef>
                <a:spcPct val="0"/>
              </a:spcBef>
              <a:buNone/>
            </a:pPr>
            <a:r>
              <a:rPr lang="en-US" altLang="zh-CN" sz="3000" dirty="0">
                <a:sym typeface="+mn-ea"/>
              </a:rPr>
              <a:t>[</a:t>
            </a:r>
            <a:r>
              <a:rPr lang="zh-CN" altLang="en-US" sz="3000" dirty="0">
                <a:sym typeface="+mn-ea"/>
              </a:rPr>
              <a:t>例</a:t>
            </a:r>
            <a:r>
              <a:rPr lang="en-US" altLang="zh-CN" sz="3000" dirty="0">
                <a:sym typeface="+mn-ea"/>
              </a:rPr>
              <a:t>3.77] </a:t>
            </a:r>
            <a:r>
              <a:rPr lang="zh-CN" altLang="en-US" sz="3000" dirty="0">
                <a:sym typeface="+mn-ea"/>
              </a:rPr>
              <a:t>删除所有的学生选课记录。</a:t>
            </a:r>
            <a:endParaRPr lang="zh-CN" altLang="en-US" sz="3000" dirty="0"/>
          </a:p>
          <a:p>
            <a:pPr marL="0" indent="0">
              <a:lnSpc>
                <a:spcPct val="110000"/>
              </a:lnSpc>
              <a:spcBef>
                <a:spcPct val="0"/>
              </a:spcBef>
              <a:buNone/>
            </a:pPr>
            <a:endParaRPr lang="en-US" altLang="zh-CN" sz="3000" dirty="0"/>
          </a:p>
          <a:p>
            <a:pPr marL="457200" lvl="1" indent="0">
              <a:lnSpc>
                <a:spcPct val="110000"/>
              </a:lnSpc>
              <a:spcBef>
                <a:spcPct val="0"/>
              </a:spcBef>
              <a:buNone/>
            </a:pPr>
            <a:r>
              <a:rPr lang="en-US" altLang="zh-CN" sz="3000" dirty="0">
                <a:solidFill>
                  <a:srgbClr val="FF0000"/>
                </a:solidFill>
                <a:sym typeface="+mn-ea"/>
              </a:rPr>
              <a:t>DELETE</a:t>
            </a:r>
            <a:endParaRPr lang="en-US" altLang="zh-CN" sz="3000" dirty="0">
              <a:solidFill>
                <a:srgbClr val="FF0000"/>
              </a:solidFill>
            </a:endParaRPr>
          </a:p>
          <a:p>
            <a:pPr marL="457200" lvl="1" indent="0">
              <a:lnSpc>
                <a:spcPct val="110000"/>
              </a:lnSpc>
              <a:spcBef>
                <a:spcPct val="0"/>
              </a:spcBef>
              <a:buNone/>
            </a:pPr>
            <a:r>
              <a:rPr lang="en-US" altLang="zh-CN" sz="3000" dirty="0">
                <a:solidFill>
                  <a:srgbClr val="FF0000"/>
                </a:solidFill>
                <a:sym typeface="+mn-ea"/>
              </a:rPr>
              <a:t>FROM SC</a:t>
            </a:r>
            <a:r>
              <a:rPr lang="zh-CN" altLang="en-US" sz="3000" dirty="0">
                <a:solidFill>
                  <a:srgbClr val="FF0000"/>
                </a:solidFill>
                <a:sym typeface="+mn-ea"/>
              </a:rPr>
              <a:t>;</a:t>
            </a:r>
            <a:endParaRPr lang="zh-CN" altLang="en-US" sz="3000" dirty="0">
              <a:solidFill>
                <a:srgbClr val="FF0000"/>
              </a:solidFill>
            </a:endParaRPr>
          </a:p>
          <a:p>
            <a:endParaRPr lang="zh-CN" altLang="en-US"/>
          </a:p>
        </p:txBody>
      </p:sp>
      <p:sp>
        <p:nvSpPr>
          <p:cNvPr id="2" name="灯片编号占位符 1"/>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7" name="页脚占位符 6"/>
          <p:cNvSpPr>
            <a:spLocks noGrp="1"/>
          </p:cNvSpPr>
          <p:nvPr>
            <p:ph type="ftr" sz="quarter" idx="11"/>
          </p:nvPr>
        </p:nvSpPr>
        <p:spPr/>
        <p:txBody>
          <a:bodyPr/>
          <a:p>
            <a:r>
              <a:rPr lang="zh-CN" altLang="en-US"/>
              <a:t>ch03_3_SQL数据更新</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Effect transition="in" filter="blinds(horizontal)">
                                      <p:cBhvr>
                                        <p:cTn id="7" dur="500"/>
                                        <p:tgtEl>
                                          <p:spTgt spid="256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603">
                                            <p:txEl>
                                              <p:pRg st="2" end="2"/>
                                            </p:txEl>
                                          </p:spTgt>
                                        </p:tgtEl>
                                        <p:attrNameLst>
                                          <p:attrName>style.visibility</p:attrName>
                                        </p:attrNameLst>
                                      </p:cBhvr>
                                      <p:to>
                                        <p:strVal val="visible"/>
                                      </p:to>
                                    </p:set>
                                    <p:animEffect transition="in" filter="blinds(horizontal)">
                                      <p:cBhvr>
                                        <p:cTn id="12" dur="500"/>
                                        <p:tgtEl>
                                          <p:spTgt spid="25603">
                                            <p:txEl>
                                              <p:pRg st="2" end="2"/>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5603">
                                            <p:txEl>
                                              <p:pRg st="3" end="3"/>
                                            </p:txEl>
                                          </p:spTgt>
                                        </p:tgtEl>
                                        <p:attrNameLst>
                                          <p:attrName>style.visibility</p:attrName>
                                        </p:attrNameLst>
                                      </p:cBhvr>
                                      <p:to>
                                        <p:strVal val="visible"/>
                                      </p:to>
                                    </p:set>
                                    <p:animEffect transition="in" filter="blinds(horizontal)">
                                      <p:cBhvr>
                                        <p:cTn id="15" dur="500"/>
                                        <p:tgtEl>
                                          <p:spTgt spid="25603">
                                            <p:txEl>
                                              <p:pRg st="3" end="3"/>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5603">
                                            <p:txEl>
                                              <p:pRg st="4" end="4"/>
                                            </p:txEl>
                                          </p:spTgt>
                                        </p:tgtEl>
                                        <p:attrNameLst>
                                          <p:attrName>style.visibility</p:attrName>
                                        </p:attrNameLst>
                                      </p:cBhvr>
                                      <p:to>
                                        <p:strVal val="visible"/>
                                      </p:to>
                                    </p:set>
                                    <p:animEffect transition="in" filter="blinds(horizontal)">
                                      <p:cBhvr>
                                        <p:cTn id="18" dur="500"/>
                                        <p:tgtEl>
                                          <p:spTgt spid="2560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animEffect transition="in" filter="blinds(horizontal)">
                                      <p:cBhvr>
                                        <p:cTn id="23" dur="500"/>
                                        <p:tgtEl>
                                          <p:spTgt spid="5">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5">
                                            <p:txEl>
                                              <p:pRg st="2" end="2"/>
                                            </p:txEl>
                                          </p:spTgt>
                                        </p:tgtEl>
                                        <p:attrNameLst>
                                          <p:attrName>style.visibility</p:attrName>
                                        </p:attrNameLst>
                                      </p:cBhvr>
                                      <p:to>
                                        <p:strVal val="visible"/>
                                      </p:to>
                                    </p:set>
                                    <p:animEffect transition="in" filter="blinds(horizontal)">
                                      <p:cBhvr>
                                        <p:cTn id="28" dur="500"/>
                                        <p:tgtEl>
                                          <p:spTgt spid="5">
                                            <p:txEl>
                                              <p:pRg st="2" end="2"/>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5">
                                            <p:txEl>
                                              <p:pRg st="3" end="3"/>
                                            </p:txEl>
                                          </p:spTgt>
                                        </p:tgtEl>
                                        <p:attrNameLst>
                                          <p:attrName>style.visibility</p:attrName>
                                        </p:attrNameLst>
                                      </p:cBhvr>
                                      <p:to>
                                        <p:strVal val="visible"/>
                                      </p:to>
                                    </p:set>
                                    <p:animEffect transition="in" filter="blinds(horizontal)">
                                      <p:cBhvr>
                                        <p:cTn id="31"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uiExpand="1" build="p"/>
      <p:bldP spid="5"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zh-CN" altLang="en-US" dirty="0">
                <a:sym typeface="+mn-ea"/>
              </a:rPr>
              <a:t>删除数据</a:t>
            </a:r>
            <a:r>
              <a:rPr lang="en-US" altLang="zh-CN" dirty="0">
                <a:sym typeface="+mn-ea"/>
              </a:rPr>
              <a:t>  3 -- </a:t>
            </a:r>
            <a:r>
              <a:rPr lang="zh-CN" altLang="en-US" dirty="0"/>
              <a:t>带子查询的删除语句</a:t>
            </a:r>
            <a:endParaRPr lang="zh-CN" altLang="en-US" dirty="0"/>
          </a:p>
        </p:txBody>
      </p:sp>
      <p:sp>
        <p:nvSpPr>
          <p:cNvPr id="27651" name="Rectangle 3"/>
          <p:cNvSpPr>
            <a:spLocks noGrp="1" noChangeArrowheads="1"/>
          </p:cNvSpPr>
          <p:nvPr>
            <p:ph idx="1"/>
          </p:nvPr>
        </p:nvSpPr>
        <p:spPr/>
        <p:txBody>
          <a:bodyPr>
            <a:normAutofit/>
          </a:bodyPr>
          <a:lstStyle/>
          <a:p>
            <a:pPr marL="0" indent="0">
              <a:buNone/>
            </a:pPr>
            <a:r>
              <a:rPr lang="en-US" altLang="zh-CN" sz="2800" dirty="0"/>
              <a:t>[</a:t>
            </a:r>
            <a:r>
              <a:rPr lang="zh-CN" altLang="en-US" sz="2800" dirty="0"/>
              <a:t>例</a:t>
            </a:r>
            <a:r>
              <a:rPr lang="en-US" altLang="zh-CN" sz="2800" dirty="0"/>
              <a:t>3.78] </a:t>
            </a:r>
            <a:r>
              <a:rPr lang="zh-CN" altLang="en-US" sz="2800" dirty="0"/>
              <a:t>删除计算机科学系所有学生的选课记录。</a:t>
            </a:r>
            <a:endParaRPr lang="zh-CN" altLang="en-US" sz="2800" dirty="0"/>
          </a:p>
          <a:p>
            <a:pPr marL="457200" lvl="1" indent="0">
              <a:buNone/>
            </a:pPr>
            <a:endParaRPr lang="en-US" altLang="zh-CN" sz="2610" dirty="0"/>
          </a:p>
          <a:p>
            <a:pPr marL="457200" lvl="1" indent="0">
              <a:buNone/>
            </a:pPr>
            <a:r>
              <a:rPr lang="en-US" altLang="zh-CN" sz="2610" dirty="0">
                <a:solidFill>
                  <a:srgbClr val="FF0000"/>
                </a:solidFill>
              </a:rPr>
              <a:t>DELETE</a:t>
            </a:r>
            <a:endParaRPr lang="zh-CN" altLang="en-US" sz="2610" dirty="0">
              <a:solidFill>
                <a:srgbClr val="FF0000"/>
              </a:solidFill>
            </a:endParaRPr>
          </a:p>
          <a:p>
            <a:pPr marL="457200" lvl="1" indent="0">
              <a:buNone/>
            </a:pPr>
            <a:r>
              <a:rPr lang="en-US" altLang="zh-CN" sz="2610" dirty="0">
                <a:solidFill>
                  <a:srgbClr val="FF0000"/>
                </a:solidFill>
              </a:rPr>
              <a:t>FROM  SC</a:t>
            </a:r>
            <a:endParaRPr lang="zh-CN" altLang="en-US" sz="2610" dirty="0">
              <a:solidFill>
                <a:srgbClr val="FF0000"/>
              </a:solidFill>
            </a:endParaRPr>
          </a:p>
          <a:p>
            <a:pPr marL="457200" lvl="1" indent="0">
              <a:buNone/>
            </a:pPr>
            <a:r>
              <a:rPr lang="en-US" altLang="zh-CN" sz="2610" dirty="0">
                <a:solidFill>
                  <a:srgbClr val="FF0000"/>
                </a:solidFill>
              </a:rPr>
              <a:t>WHERE  </a:t>
            </a:r>
            <a:r>
              <a:rPr lang="en-US" altLang="zh-CN" sz="2610" dirty="0" err="1">
                <a:solidFill>
                  <a:srgbClr val="FF0000"/>
                </a:solidFill>
              </a:rPr>
              <a:t>Sno</a:t>
            </a:r>
            <a:r>
              <a:rPr lang="en-US" altLang="zh-CN" sz="2610" dirty="0">
                <a:solidFill>
                  <a:srgbClr val="FF0000"/>
                </a:solidFill>
              </a:rPr>
              <a:t>  IN (</a:t>
            </a:r>
            <a:endParaRPr lang="zh-CN" altLang="en-US" sz="2610" dirty="0">
              <a:solidFill>
                <a:srgbClr val="FF0000"/>
              </a:solidFill>
            </a:endParaRPr>
          </a:p>
          <a:p>
            <a:pPr marL="457200" lvl="1" indent="2830830">
              <a:buNone/>
            </a:pPr>
            <a:r>
              <a:rPr lang="en-US" altLang="zh-CN" sz="2610" dirty="0">
                <a:solidFill>
                  <a:srgbClr val="FF0000"/>
                </a:solidFill>
              </a:rPr>
              <a:t>SELETE  </a:t>
            </a:r>
            <a:r>
              <a:rPr lang="en-US" altLang="zh-CN" sz="2610" dirty="0" err="1">
                <a:solidFill>
                  <a:srgbClr val="FF0000"/>
                </a:solidFill>
              </a:rPr>
              <a:t>Sno</a:t>
            </a:r>
            <a:endParaRPr lang="zh-CN" altLang="en-US" sz="2610" dirty="0">
              <a:solidFill>
                <a:srgbClr val="FF0000"/>
              </a:solidFill>
            </a:endParaRPr>
          </a:p>
          <a:p>
            <a:pPr marL="457200" lvl="1" indent="2830830">
              <a:buNone/>
            </a:pPr>
            <a:r>
              <a:rPr lang="en-US" altLang="zh-CN" sz="2610" dirty="0">
                <a:solidFill>
                  <a:srgbClr val="FF0000"/>
                </a:solidFill>
              </a:rPr>
              <a:t>FROM   Student</a:t>
            </a:r>
            <a:endParaRPr lang="zh-CN" altLang="en-US" sz="2610" dirty="0">
              <a:solidFill>
                <a:srgbClr val="FF0000"/>
              </a:solidFill>
            </a:endParaRPr>
          </a:p>
          <a:p>
            <a:pPr marL="457200" lvl="1" indent="2830830">
              <a:buNone/>
            </a:pPr>
            <a:r>
              <a:rPr lang="en-US" altLang="zh-CN" sz="2610" dirty="0">
                <a:solidFill>
                  <a:srgbClr val="FF0000"/>
                </a:solidFill>
              </a:rPr>
              <a:t>WHERE  </a:t>
            </a:r>
            <a:r>
              <a:rPr lang="en-US" altLang="zh-CN" sz="2610" dirty="0" err="1">
                <a:solidFill>
                  <a:srgbClr val="FF0000"/>
                </a:solidFill>
              </a:rPr>
              <a:t>Sdept</a:t>
            </a:r>
            <a:r>
              <a:rPr lang="en-US" altLang="zh-CN" sz="2610" dirty="0">
                <a:solidFill>
                  <a:srgbClr val="FF0000"/>
                </a:solidFill>
              </a:rPr>
              <a:t>= 'CS'</a:t>
            </a:r>
            <a:r>
              <a:rPr lang="zh-CN" altLang="en-US" sz="2610" dirty="0">
                <a:solidFill>
                  <a:srgbClr val="FF0000"/>
                </a:solidFill>
              </a:rPr>
              <a:t>)</a:t>
            </a:r>
            <a:r>
              <a:rPr lang="en-US" altLang="zh-CN" sz="2610" dirty="0">
                <a:solidFill>
                  <a:srgbClr val="FF0000"/>
                </a:solidFill>
              </a:rPr>
              <a:t> </a:t>
            </a:r>
            <a:r>
              <a:rPr lang="zh-CN" altLang="en-US" sz="2610" dirty="0">
                <a:solidFill>
                  <a:srgbClr val="FF0000"/>
                </a:solidFill>
              </a:rPr>
              <a:t>;</a:t>
            </a:r>
            <a:endParaRPr lang="zh-CN" altLang="en-US" sz="2610" dirty="0">
              <a:solidFill>
                <a:srgbClr val="FF0000"/>
              </a:solidFill>
            </a:endParaRPr>
          </a:p>
        </p:txBody>
      </p:sp>
      <p:sp>
        <p:nvSpPr>
          <p:cNvPr id="2" name="灯片编号占位符 1"/>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ch03_3_SQL数据更新</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7651">
                                            <p:txEl>
                                              <p:pRg st="2" end="2"/>
                                            </p:txEl>
                                          </p:spTgt>
                                        </p:tgtEl>
                                        <p:attrNameLst>
                                          <p:attrName>style.visibility</p:attrName>
                                        </p:attrNameLst>
                                      </p:cBhvr>
                                      <p:to>
                                        <p:strVal val="visible"/>
                                      </p:to>
                                    </p:set>
                                    <p:animEffect transition="in" filter="blinds(horizontal)">
                                      <p:cBhvr>
                                        <p:cTn id="7" dur="500"/>
                                        <p:tgtEl>
                                          <p:spTgt spid="27651">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7651">
                                            <p:txEl>
                                              <p:pRg st="3" end="3"/>
                                            </p:txEl>
                                          </p:spTgt>
                                        </p:tgtEl>
                                        <p:attrNameLst>
                                          <p:attrName>style.visibility</p:attrName>
                                        </p:attrNameLst>
                                      </p:cBhvr>
                                      <p:to>
                                        <p:strVal val="visible"/>
                                      </p:to>
                                    </p:set>
                                    <p:animEffect transition="in" filter="blinds(horizontal)">
                                      <p:cBhvr>
                                        <p:cTn id="10" dur="500"/>
                                        <p:tgtEl>
                                          <p:spTgt spid="27651">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7651">
                                            <p:txEl>
                                              <p:pRg st="4" end="4"/>
                                            </p:txEl>
                                          </p:spTgt>
                                        </p:tgtEl>
                                        <p:attrNameLst>
                                          <p:attrName>style.visibility</p:attrName>
                                        </p:attrNameLst>
                                      </p:cBhvr>
                                      <p:to>
                                        <p:strVal val="visible"/>
                                      </p:to>
                                    </p:set>
                                    <p:animEffect transition="in" filter="blinds(horizontal)">
                                      <p:cBhvr>
                                        <p:cTn id="13" dur="500"/>
                                        <p:tgtEl>
                                          <p:spTgt spid="27651">
                                            <p:txEl>
                                              <p:pRg st="4" end="4"/>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27651">
                                            <p:txEl>
                                              <p:pRg st="5" end="5"/>
                                            </p:txEl>
                                          </p:spTgt>
                                        </p:tgtEl>
                                        <p:attrNameLst>
                                          <p:attrName>style.visibility</p:attrName>
                                        </p:attrNameLst>
                                      </p:cBhvr>
                                      <p:to>
                                        <p:strVal val="visible"/>
                                      </p:to>
                                    </p:set>
                                    <p:animEffect transition="in" filter="blinds(horizontal)">
                                      <p:cBhvr>
                                        <p:cTn id="16" dur="500"/>
                                        <p:tgtEl>
                                          <p:spTgt spid="27651">
                                            <p:txEl>
                                              <p:pRg st="5" end="5"/>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27651">
                                            <p:txEl>
                                              <p:pRg st="6" end="6"/>
                                            </p:txEl>
                                          </p:spTgt>
                                        </p:tgtEl>
                                        <p:attrNameLst>
                                          <p:attrName>style.visibility</p:attrName>
                                        </p:attrNameLst>
                                      </p:cBhvr>
                                      <p:to>
                                        <p:strVal val="visible"/>
                                      </p:to>
                                    </p:set>
                                    <p:animEffect transition="in" filter="blinds(horizontal)">
                                      <p:cBhvr>
                                        <p:cTn id="19" dur="500"/>
                                        <p:tgtEl>
                                          <p:spTgt spid="27651">
                                            <p:txEl>
                                              <p:pRg st="6" end="6"/>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27651">
                                            <p:txEl>
                                              <p:pRg st="7" end="7"/>
                                            </p:txEl>
                                          </p:spTgt>
                                        </p:tgtEl>
                                        <p:attrNameLst>
                                          <p:attrName>style.visibility</p:attrName>
                                        </p:attrNameLst>
                                      </p:cBhvr>
                                      <p:to>
                                        <p:strVal val="visible"/>
                                      </p:to>
                                    </p:set>
                                    <p:animEffect transition="in" filter="blinds(horizontal)">
                                      <p:cBhvr>
                                        <p:cTn id="22" dur="500"/>
                                        <p:tgtEl>
                                          <p:spTgt spid="2765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p:txBody>
          <a:bodyPr anchor="b" anchorCtr="0"/>
          <a:lstStyle/>
          <a:p>
            <a:pPr eaLnBrk="1" hangingPunct="1"/>
            <a:r>
              <a:rPr lang="zh-CN" altLang="en-US" dirty="0">
                <a:solidFill>
                  <a:srgbClr val="0000C8"/>
                </a:solidFill>
                <a:sym typeface="+mn-ea"/>
              </a:rPr>
              <a:t>（202</a:t>
            </a:r>
            <a:r>
              <a:rPr lang="en-US" altLang="zh-CN" dirty="0">
                <a:solidFill>
                  <a:srgbClr val="0000C8"/>
                </a:solidFill>
                <a:sym typeface="+mn-ea"/>
              </a:rPr>
              <a:t>6</a:t>
            </a:r>
            <a:r>
              <a:rPr lang="zh-CN" altLang="en-US" dirty="0">
                <a:solidFill>
                  <a:srgbClr val="0000C8"/>
                </a:solidFill>
                <a:sym typeface="+mn-ea"/>
              </a:rPr>
              <a:t> 春季）</a:t>
            </a:r>
            <a:endParaRPr lang="en-US" altLang="zh-CN" dirty="0">
              <a:solidFill>
                <a:schemeClr val="tx2">
                  <a:lumMod val="65000"/>
                  <a:lumOff val="35000"/>
                </a:schemeClr>
              </a:solidFill>
            </a:endParaRPr>
          </a:p>
        </p:txBody>
      </p:sp>
      <p:sp>
        <p:nvSpPr>
          <p:cNvPr id="3074" name="Rectangle 2"/>
          <p:cNvSpPr>
            <a:spLocks noGrp="1" noChangeArrowheads="1"/>
          </p:cNvSpPr>
          <p:nvPr>
            <p:ph type="ctrTitle" sz="quarter"/>
          </p:nvPr>
        </p:nvSpPr>
        <p:spPr/>
        <p:txBody>
          <a:bodyPr anchor="ctr" anchorCtr="0"/>
          <a:lstStyle/>
          <a:p>
            <a:pPr marL="0" indent="0" fontAlgn="auto">
              <a:lnSpc>
                <a:spcPct val="100000"/>
              </a:lnSpc>
              <a:spcBef>
                <a:spcPts val="0"/>
              </a:spcBef>
            </a:pPr>
            <a:r>
              <a:rPr lang="en-US" altLang="zh-CN" sz="3600" dirty="0">
                <a:solidFill>
                  <a:srgbClr val="0000C8"/>
                </a:solidFill>
              </a:rPr>
              <a:t>3.6  SQL</a:t>
            </a:r>
            <a:r>
              <a:rPr lang="zh-CN" altLang="en-US" sz="3600" dirty="0">
                <a:solidFill>
                  <a:srgbClr val="0000C8"/>
                </a:solidFill>
              </a:rPr>
              <a:t>中的空值</a:t>
            </a:r>
            <a:endParaRPr lang="zh-CN" altLang="en-US" sz="3600" dirty="0">
              <a:solidFill>
                <a:srgbClr val="0000C8"/>
              </a:solidFill>
            </a:endParaRP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a:normAutofit fontScale="90000"/>
          </a:bodyPr>
          <a:lstStyle/>
          <a:p>
            <a:r>
              <a:rPr lang="zh-CN" altLang="en-US" dirty="0"/>
              <a:t>空值的处理</a:t>
            </a:r>
            <a:endParaRPr lang="zh-CN" altLang="en-US" dirty="0"/>
          </a:p>
        </p:txBody>
      </p:sp>
      <p:sp>
        <p:nvSpPr>
          <p:cNvPr id="29699" name="内容占位符 2"/>
          <p:cNvSpPr>
            <a:spLocks noGrp="1"/>
          </p:cNvSpPr>
          <p:nvPr>
            <p:ph idx="1"/>
          </p:nvPr>
        </p:nvSpPr>
        <p:spPr/>
        <p:txBody>
          <a:bodyPr/>
          <a:lstStyle/>
          <a:p>
            <a:r>
              <a:rPr lang="zh-CN" altLang="en-US" dirty="0"/>
              <a:t>空值就是“不知道</a:t>
            </a:r>
            <a:r>
              <a:rPr lang="en-US" altLang="zh-CN" dirty="0"/>
              <a:t>”</a:t>
            </a:r>
            <a:r>
              <a:rPr lang="zh-CN" altLang="en-US" dirty="0"/>
              <a:t>或“不存在</a:t>
            </a:r>
            <a:r>
              <a:rPr lang="en-US" altLang="zh-CN" dirty="0"/>
              <a:t>”</a:t>
            </a:r>
            <a:r>
              <a:rPr lang="zh-CN" altLang="en-US" dirty="0"/>
              <a:t>或“无意义</a:t>
            </a:r>
            <a:r>
              <a:rPr lang="en-US" altLang="zh-CN" dirty="0"/>
              <a:t>”</a:t>
            </a:r>
            <a:r>
              <a:rPr lang="zh-CN" altLang="en-US" dirty="0"/>
              <a:t>的值。</a:t>
            </a:r>
            <a:endParaRPr lang="zh-CN" altLang="en-US" dirty="0"/>
          </a:p>
          <a:p>
            <a:endParaRPr lang="en-US" altLang="zh-CN" dirty="0"/>
          </a:p>
          <a:p>
            <a:r>
              <a:rPr lang="zh-CN" altLang="en-US" dirty="0"/>
              <a:t>一般有以下几种情况：</a:t>
            </a:r>
            <a:endParaRPr lang="en-US" altLang="zh-CN" dirty="0"/>
          </a:p>
          <a:p>
            <a:pPr lvl="1">
              <a:lnSpc>
                <a:spcPct val="110000"/>
              </a:lnSpc>
              <a:spcBef>
                <a:spcPts val="1000"/>
              </a:spcBef>
            </a:pPr>
            <a:r>
              <a:rPr lang="zh-CN" altLang="en-US" dirty="0"/>
              <a:t>该属性应该有一个值，但目前不知道它的具体值</a:t>
            </a:r>
            <a:endParaRPr lang="en-US" altLang="zh-CN" dirty="0"/>
          </a:p>
          <a:p>
            <a:pPr lvl="1">
              <a:lnSpc>
                <a:spcPct val="110000"/>
              </a:lnSpc>
              <a:spcBef>
                <a:spcPts val="1000"/>
              </a:spcBef>
            </a:pPr>
            <a:r>
              <a:rPr lang="zh-CN" altLang="en-US" dirty="0"/>
              <a:t>该属性不应该有值</a:t>
            </a:r>
            <a:endParaRPr lang="en-US" altLang="zh-CN" dirty="0"/>
          </a:p>
          <a:p>
            <a:pPr lvl="1">
              <a:lnSpc>
                <a:spcPct val="110000"/>
              </a:lnSpc>
              <a:spcBef>
                <a:spcPts val="1000"/>
              </a:spcBef>
            </a:pPr>
            <a:r>
              <a:rPr lang="zh-CN" altLang="en-US" dirty="0"/>
              <a:t>由于某种原因不便于填写</a:t>
            </a:r>
            <a:endParaRPr lang="zh-CN" altLang="en-US" dirty="0"/>
          </a:p>
          <a:p>
            <a:pPr lvl="1">
              <a:lnSpc>
                <a:spcPct val="110000"/>
              </a:lnSpc>
              <a:spcBef>
                <a:spcPts val="1000"/>
              </a:spcBef>
            </a:pPr>
            <a:endParaRPr lang="zh-CN" altLang="en-US" dirty="0"/>
          </a:p>
          <a:p>
            <a:pPr lvl="0">
              <a:lnSpc>
                <a:spcPct val="110000"/>
              </a:lnSpc>
              <a:spcBef>
                <a:spcPts val="1000"/>
              </a:spcBef>
            </a:pPr>
            <a:r>
              <a:rPr lang="zh-CN" altLang="en-US" dirty="0">
                <a:sym typeface="+mn-ea"/>
              </a:rPr>
              <a:t>空值是一个很特殊的值，含有不确定性。对关系运算带来特殊的问题，需要做特殊的处理。下面从空值的产生、判断、完整性约束、运算等方面来阐述空值处理</a:t>
            </a:r>
            <a:r>
              <a:rPr lang="zh-CN" altLang="en-US" dirty="0">
                <a:sym typeface="+mn-ea"/>
              </a:rPr>
              <a:t>规则。</a:t>
            </a:r>
            <a:endParaRPr lang="zh-CN" altLang="en-US" dirty="0">
              <a:sym typeface="+mn-ea"/>
            </a:endParaRPr>
          </a:p>
        </p:txBody>
      </p:sp>
      <p:sp>
        <p:nvSpPr>
          <p:cNvPr id="2" name="灯片编号占位符 1"/>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ch03_3_SQL数据更新</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9699">
                                            <p:txEl>
                                              <p:pRg st="2" end="2"/>
                                            </p:txEl>
                                          </p:spTgt>
                                        </p:tgtEl>
                                        <p:attrNameLst>
                                          <p:attrName>style.visibility</p:attrName>
                                        </p:attrNameLst>
                                      </p:cBhvr>
                                      <p:to>
                                        <p:strVal val="visible"/>
                                      </p:to>
                                    </p:set>
                                    <p:animEffect transition="in" filter="blinds(horizontal)">
                                      <p:cBhvr>
                                        <p:cTn id="7" dur="500"/>
                                        <p:tgtEl>
                                          <p:spTgt spid="29699">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9699">
                                            <p:txEl>
                                              <p:pRg st="3" end="3"/>
                                            </p:txEl>
                                          </p:spTgt>
                                        </p:tgtEl>
                                        <p:attrNameLst>
                                          <p:attrName>style.visibility</p:attrName>
                                        </p:attrNameLst>
                                      </p:cBhvr>
                                      <p:to>
                                        <p:strVal val="visible"/>
                                      </p:to>
                                    </p:set>
                                    <p:animEffect transition="in" filter="blinds(horizontal)">
                                      <p:cBhvr>
                                        <p:cTn id="10" dur="500"/>
                                        <p:tgtEl>
                                          <p:spTgt spid="29699">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9699">
                                            <p:txEl>
                                              <p:pRg st="4" end="4"/>
                                            </p:txEl>
                                          </p:spTgt>
                                        </p:tgtEl>
                                        <p:attrNameLst>
                                          <p:attrName>style.visibility</p:attrName>
                                        </p:attrNameLst>
                                      </p:cBhvr>
                                      <p:to>
                                        <p:strVal val="visible"/>
                                      </p:to>
                                    </p:set>
                                    <p:animEffect transition="in" filter="blinds(horizontal)">
                                      <p:cBhvr>
                                        <p:cTn id="13" dur="500"/>
                                        <p:tgtEl>
                                          <p:spTgt spid="29699">
                                            <p:txEl>
                                              <p:pRg st="4" end="4"/>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29699">
                                            <p:txEl>
                                              <p:pRg st="5" end="5"/>
                                            </p:txEl>
                                          </p:spTgt>
                                        </p:tgtEl>
                                        <p:attrNameLst>
                                          <p:attrName>style.visibility</p:attrName>
                                        </p:attrNameLst>
                                      </p:cBhvr>
                                      <p:to>
                                        <p:strVal val="visible"/>
                                      </p:to>
                                    </p:set>
                                    <p:animEffect transition="in" filter="blinds(horizontal)">
                                      <p:cBhvr>
                                        <p:cTn id="16" dur="500"/>
                                        <p:tgtEl>
                                          <p:spTgt spid="29699">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9699">
                                            <p:txEl>
                                              <p:pRg st="7" end="7"/>
                                            </p:txEl>
                                          </p:spTgt>
                                        </p:tgtEl>
                                        <p:attrNameLst>
                                          <p:attrName>style.visibility</p:attrName>
                                        </p:attrNameLst>
                                      </p:cBhvr>
                                      <p:to>
                                        <p:strVal val="visible"/>
                                      </p:to>
                                    </p:set>
                                    <p:anim calcmode="lin" valueType="num">
                                      <p:cBhvr additive="base">
                                        <p:cTn id="21" dur="500" fill="hold"/>
                                        <p:tgtEl>
                                          <p:spTgt spid="29699">
                                            <p:txEl>
                                              <p:pRg st="7" end="7"/>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969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a:lstStyle/>
          <a:p>
            <a:r>
              <a:rPr lang="zh-CN" altLang="en-US" dirty="0"/>
              <a:t>空值的产生 </a:t>
            </a:r>
            <a:r>
              <a:rPr lang="en-US" altLang="zh-CN" dirty="0"/>
              <a:t>1</a:t>
            </a:r>
            <a:endParaRPr lang="zh-CN" altLang="en-US" dirty="0"/>
          </a:p>
        </p:txBody>
      </p:sp>
      <p:sp>
        <p:nvSpPr>
          <p:cNvPr id="30723" name="内容占位符 2"/>
          <p:cNvSpPr>
            <a:spLocks noGrp="1"/>
          </p:cNvSpPr>
          <p:nvPr>
            <p:ph idx="1"/>
          </p:nvPr>
        </p:nvSpPr>
        <p:spPr/>
        <p:txBody>
          <a:bodyPr>
            <a:normAutofit lnSpcReduction="10000"/>
          </a:bodyPr>
          <a:lstStyle/>
          <a:p>
            <a:pPr>
              <a:lnSpc>
                <a:spcPct val="110000"/>
              </a:lnSpc>
              <a:spcBef>
                <a:spcPts val="1000"/>
              </a:spcBef>
            </a:pPr>
            <a:r>
              <a:rPr lang="en-US" altLang="zh-CN" sz="2800" dirty="0"/>
              <a:t>[</a:t>
            </a:r>
            <a:r>
              <a:rPr lang="zh-CN" altLang="en-US" sz="2800" dirty="0"/>
              <a:t>例</a:t>
            </a:r>
            <a:r>
              <a:rPr lang="en-US" altLang="zh-CN" sz="2800" dirty="0"/>
              <a:t>3.79]</a:t>
            </a:r>
            <a:r>
              <a:rPr lang="zh-CN" altLang="en-US" sz="2800" dirty="0"/>
              <a:t>向</a:t>
            </a:r>
            <a:r>
              <a:rPr lang="en-US" altLang="zh-CN" sz="2800" dirty="0"/>
              <a:t>SC</a:t>
            </a:r>
            <a:r>
              <a:rPr lang="zh-CN" altLang="en-US" sz="2800" dirty="0"/>
              <a:t>表中插入一个元组，学生的学号是</a:t>
            </a:r>
            <a:r>
              <a:rPr lang="en-US" altLang="zh-CN" sz="2800" dirty="0"/>
              <a:t>“201215126”</a:t>
            </a:r>
            <a:r>
              <a:rPr lang="zh-CN" altLang="en-US" sz="2800" dirty="0"/>
              <a:t>，课程号是</a:t>
            </a:r>
            <a:r>
              <a:rPr lang="en-US" altLang="zh-CN" sz="2800" dirty="0"/>
              <a:t>“1”</a:t>
            </a:r>
            <a:r>
              <a:rPr lang="zh-CN" altLang="en-US" sz="2800" dirty="0"/>
              <a:t>，成绩为空。</a:t>
            </a:r>
            <a:endParaRPr lang="en-US" altLang="zh-CN" sz="2800" dirty="0"/>
          </a:p>
          <a:p>
            <a:pPr marL="457200" lvl="1" indent="0">
              <a:lnSpc>
                <a:spcPct val="110000"/>
              </a:lnSpc>
              <a:spcBef>
                <a:spcPts val="1000"/>
              </a:spcBef>
              <a:buNone/>
            </a:pPr>
            <a:r>
              <a:rPr lang="en-US" altLang="zh-CN" sz="2800" dirty="0">
                <a:solidFill>
                  <a:srgbClr val="FF0000"/>
                </a:solidFill>
                <a:latin typeface="Arial" panose="020B0604020202090204" pitchFamily="34" charset="0"/>
                <a:cs typeface="Arial" panose="020B0604020202090204" pitchFamily="34" charset="0"/>
              </a:rPr>
              <a:t>INSERT  INTO SC</a:t>
            </a:r>
            <a:r>
              <a:rPr lang="zh-CN" altLang="en-US" sz="2800" dirty="0">
                <a:solidFill>
                  <a:srgbClr val="FF0000"/>
                </a:solidFill>
                <a:latin typeface="Arial" panose="020B0604020202090204" pitchFamily="34" charset="0"/>
                <a:cs typeface="Arial" panose="020B0604020202090204" pitchFamily="34" charset="0"/>
              </a:rPr>
              <a:t>(</a:t>
            </a:r>
            <a:r>
              <a:rPr lang="en-US" altLang="zh-CN" sz="2800" dirty="0" err="1">
                <a:solidFill>
                  <a:srgbClr val="FF0000"/>
                </a:solidFill>
                <a:latin typeface="Arial" panose="020B0604020202090204" pitchFamily="34" charset="0"/>
                <a:cs typeface="Arial" panose="020B0604020202090204" pitchFamily="34" charset="0"/>
              </a:rPr>
              <a:t>Sno, Cno, Grade</a:t>
            </a:r>
            <a:r>
              <a:rPr lang="zh-CN" altLang="en-US" sz="2800" dirty="0">
                <a:solidFill>
                  <a:srgbClr val="FF0000"/>
                </a:solidFill>
                <a:latin typeface="Arial" panose="020B0604020202090204" pitchFamily="34" charset="0"/>
                <a:cs typeface="Arial" panose="020B0604020202090204" pitchFamily="34" charset="0"/>
              </a:rPr>
              <a:t>)</a:t>
            </a:r>
            <a:endParaRPr lang="zh-CN" altLang="en-US" sz="2800" dirty="0">
              <a:solidFill>
                <a:srgbClr val="FF0000"/>
              </a:solidFill>
              <a:latin typeface="Arial" panose="020B0604020202090204" pitchFamily="34" charset="0"/>
              <a:cs typeface="Arial" panose="020B0604020202090204" pitchFamily="34" charset="0"/>
            </a:endParaRPr>
          </a:p>
          <a:p>
            <a:pPr marL="457200" lvl="1" indent="0">
              <a:lnSpc>
                <a:spcPct val="110000"/>
              </a:lnSpc>
              <a:spcBef>
                <a:spcPts val="1000"/>
              </a:spcBef>
              <a:buNone/>
            </a:pPr>
            <a:r>
              <a:rPr lang="en-US" altLang="zh-CN" sz="2800" dirty="0">
                <a:solidFill>
                  <a:srgbClr val="FF0000"/>
                </a:solidFill>
                <a:latin typeface="Arial" panose="020B0604020202090204" pitchFamily="34" charset="0"/>
                <a:cs typeface="Arial" panose="020B0604020202090204" pitchFamily="34" charset="0"/>
              </a:rPr>
              <a:t>VALUES</a:t>
            </a:r>
            <a:r>
              <a:rPr lang="zh-CN" altLang="en-US" sz="2800" dirty="0">
                <a:solidFill>
                  <a:srgbClr val="FF0000"/>
                </a:solidFill>
                <a:latin typeface="Arial" panose="020B0604020202090204" pitchFamily="34" charset="0"/>
                <a:cs typeface="Arial" panose="020B0604020202090204" pitchFamily="34" charset="0"/>
              </a:rPr>
              <a:t>('</a:t>
            </a:r>
            <a:r>
              <a:rPr lang="en-US" altLang="zh-CN" sz="2800" dirty="0">
                <a:solidFill>
                  <a:srgbClr val="FF0000"/>
                </a:solidFill>
                <a:latin typeface="Arial" panose="020B0604020202090204" pitchFamily="34" charset="0"/>
                <a:cs typeface="Arial" panose="020B0604020202090204" pitchFamily="34" charset="0"/>
              </a:rPr>
              <a:t>201215126</a:t>
            </a:r>
            <a:r>
              <a:rPr lang="zh-CN" altLang="en-US" sz="2800" dirty="0">
                <a:solidFill>
                  <a:srgbClr val="FF0000"/>
                </a:solidFill>
                <a:latin typeface="Arial" panose="020B0604020202090204" pitchFamily="34" charset="0"/>
                <a:cs typeface="Arial" panose="020B0604020202090204" pitchFamily="34" charset="0"/>
              </a:rPr>
              <a:t>',</a:t>
            </a:r>
            <a:r>
              <a:rPr lang="en-US" altLang="zh-CN" sz="2800" dirty="0">
                <a:solidFill>
                  <a:srgbClr val="FF0000"/>
                </a:solidFill>
                <a:latin typeface="Arial" panose="020B0604020202090204" pitchFamily="34" charset="0"/>
                <a:cs typeface="Arial" panose="020B0604020202090204" pitchFamily="34" charset="0"/>
              </a:rPr>
              <a:t> </a:t>
            </a:r>
            <a:r>
              <a:rPr lang="zh-CN" altLang="en-US" sz="2800" dirty="0">
                <a:solidFill>
                  <a:srgbClr val="FF0000"/>
                </a:solidFill>
                <a:latin typeface="Arial" panose="020B0604020202090204" pitchFamily="34" charset="0"/>
                <a:cs typeface="Arial" panose="020B0604020202090204" pitchFamily="34" charset="0"/>
              </a:rPr>
              <a:t>'</a:t>
            </a:r>
            <a:r>
              <a:rPr lang="en-US" altLang="zh-CN" sz="2800" dirty="0">
                <a:solidFill>
                  <a:srgbClr val="FF0000"/>
                </a:solidFill>
                <a:latin typeface="Arial" panose="020B0604020202090204" pitchFamily="34" charset="0"/>
                <a:cs typeface="Arial" panose="020B0604020202090204" pitchFamily="34" charset="0"/>
              </a:rPr>
              <a:t>1</a:t>
            </a:r>
            <a:r>
              <a:rPr lang="zh-CN" altLang="en-US" sz="2800" dirty="0">
                <a:solidFill>
                  <a:srgbClr val="FF0000"/>
                </a:solidFill>
                <a:latin typeface="Arial" panose="020B0604020202090204" pitchFamily="34" charset="0"/>
                <a:cs typeface="Arial" panose="020B0604020202090204" pitchFamily="34" charset="0"/>
              </a:rPr>
              <a:t>',</a:t>
            </a:r>
            <a:r>
              <a:rPr lang="en-US" altLang="zh-CN" sz="2800" dirty="0">
                <a:solidFill>
                  <a:srgbClr val="FF0000"/>
                </a:solidFill>
                <a:latin typeface="Arial" panose="020B0604020202090204" pitchFamily="34" charset="0"/>
                <a:cs typeface="Arial" panose="020B0604020202090204" pitchFamily="34" charset="0"/>
              </a:rPr>
              <a:t> NULL</a:t>
            </a:r>
            <a:r>
              <a:rPr lang="zh-CN" altLang="en-US" sz="2800" dirty="0">
                <a:solidFill>
                  <a:srgbClr val="FF0000"/>
                </a:solidFill>
                <a:latin typeface="Arial" panose="020B0604020202090204" pitchFamily="34" charset="0"/>
                <a:cs typeface="Arial" panose="020B0604020202090204" pitchFamily="34" charset="0"/>
              </a:rPr>
              <a:t>)</a:t>
            </a:r>
            <a:r>
              <a:rPr lang="en-US" altLang="zh-CN" sz="2800" dirty="0">
                <a:solidFill>
                  <a:srgbClr val="FF0000"/>
                </a:solidFill>
                <a:latin typeface="Arial" panose="020B0604020202090204" pitchFamily="34" charset="0"/>
                <a:cs typeface="Arial" panose="020B0604020202090204" pitchFamily="34" charset="0"/>
              </a:rPr>
              <a:t>;</a:t>
            </a:r>
            <a:endParaRPr lang="en-US" altLang="zh-CN" sz="2800" dirty="0">
              <a:solidFill>
                <a:srgbClr val="FF0000"/>
              </a:solidFill>
              <a:latin typeface="Arial" panose="020B0604020202090204" pitchFamily="34" charset="0"/>
              <a:cs typeface="Arial" panose="020B0604020202090204" pitchFamily="34" charset="0"/>
            </a:endParaRPr>
          </a:p>
          <a:p>
            <a:pPr marL="457200" lvl="1" indent="0">
              <a:lnSpc>
                <a:spcPct val="110000"/>
              </a:lnSpc>
              <a:spcBef>
                <a:spcPts val="1000"/>
              </a:spcBef>
              <a:buNone/>
            </a:pPr>
            <a:r>
              <a:rPr lang="en-US" altLang="zh-CN" sz="2800" dirty="0">
                <a:latin typeface="Arial" panose="020B0604020202090204" pitchFamily="34" charset="0"/>
                <a:cs typeface="Arial" panose="020B0604020202090204" pitchFamily="34" charset="0"/>
              </a:rPr>
              <a:t>/* </a:t>
            </a:r>
            <a:r>
              <a:rPr lang="zh-CN" altLang="en-US" sz="2800" dirty="0">
                <a:latin typeface="Arial" panose="020B0604020202090204" pitchFamily="34" charset="0"/>
                <a:cs typeface="Arial" panose="020B0604020202090204" pitchFamily="34" charset="0"/>
              </a:rPr>
              <a:t>该学生还没有考试成绩，故在成绩字段上写入的是空值</a:t>
            </a:r>
            <a:r>
              <a:rPr lang="en-US" altLang="zh-CN" sz="2800" dirty="0">
                <a:latin typeface="Arial" panose="020B0604020202090204" pitchFamily="34" charset="0"/>
                <a:cs typeface="Arial" panose="020B0604020202090204" pitchFamily="34" charset="0"/>
              </a:rPr>
              <a:t>NULL */</a:t>
            </a:r>
            <a:endParaRPr lang="en-US" altLang="zh-CN" sz="2800" dirty="0">
              <a:latin typeface="Arial" panose="020B0604020202090204" pitchFamily="34" charset="0"/>
              <a:cs typeface="Arial" panose="020B0604020202090204" pitchFamily="34" charset="0"/>
            </a:endParaRPr>
          </a:p>
          <a:p>
            <a:pPr marL="0" indent="0">
              <a:lnSpc>
                <a:spcPct val="110000"/>
              </a:lnSpc>
              <a:spcBef>
                <a:spcPts val="1000"/>
              </a:spcBef>
              <a:buNone/>
            </a:pPr>
            <a:endParaRPr lang="en-US" altLang="zh-CN" sz="2800" dirty="0"/>
          </a:p>
          <a:p>
            <a:pPr>
              <a:lnSpc>
                <a:spcPct val="110000"/>
              </a:lnSpc>
              <a:spcBef>
                <a:spcPts val="1000"/>
              </a:spcBef>
            </a:pPr>
            <a:r>
              <a:rPr lang="zh-CN" altLang="en-US" sz="2800" dirty="0"/>
              <a:t>或</a:t>
            </a:r>
            <a:endParaRPr lang="zh-CN" altLang="en-US" sz="2800" dirty="0"/>
          </a:p>
          <a:p>
            <a:pPr marL="457200" lvl="1" indent="0">
              <a:lnSpc>
                <a:spcPct val="110000"/>
              </a:lnSpc>
              <a:spcBef>
                <a:spcPts val="1000"/>
              </a:spcBef>
              <a:buNone/>
            </a:pPr>
            <a:r>
              <a:rPr lang="en-US" altLang="zh-CN" sz="2800" dirty="0">
                <a:solidFill>
                  <a:srgbClr val="FF0000"/>
                </a:solidFill>
                <a:latin typeface="Arial" panose="020B0604020202090204" pitchFamily="34" charset="0"/>
                <a:cs typeface="Arial" panose="020B0604020202090204" pitchFamily="34" charset="0"/>
              </a:rPr>
              <a:t>INSERT  INTO  SC</a:t>
            </a:r>
            <a:r>
              <a:rPr lang="zh-CN" altLang="en-US" sz="2800" dirty="0">
                <a:solidFill>
                  <a:srgbClr val="FF0000"/>
                </a:solidFill>
                <a:latin typeface="Arial" panose="020B0604020202090204" pitchFamily="34" charset="0"/>
                <a:cs typeface="Arial" panose="020B0604020202090204" pitchFamily="34" charset="0"/>
              </a:rPr>
              <a:t>(</a:t>
            </a:r>
            <a:r>
              <a:rPr lang="en-US" altLang="zh-CN" sz="2800" dirty="0" err="1">
                <a:solidFill>
                  <a:srgbClr val="FF0000"/>
                </a:solidFill>
                <a:latin typeface="Arial" panose="020B0604020202090204" pitchFamily="34" charset="0"/>
                <a:cs typeface="Arial" panose="020B0604020202090204" pitchFamily="34" charset="0"/>
              </a:rPr>
              <a:t>Sno, Cno</a:t>
            </a:r>
            <a:r>
              <a:rPr lang="zh-CN" altLang="en-US" sz="2800" dirty="0">
                <a:solidFill>
                  <a:srgbClr val="FF0000"/>
                </a:solidFill>
                <a:latin typeface="Arial" panose="020B0604020202090204" pitchFamily="34" charset="0"/>
                <a:cs typeface="Arial" panose="020B0604020202090204" pitchFamily="34" charset="0"/>
              </a:rPr>
              <a:t>)</a:t>
            </a:r>
            <a:endParaRPr lang="zh-CN" altLang="en-US" sz="2800" dirty="0">
              <a:solidFill>
                <a:srgbClr val="FF0000"/>
              </a:solidFill>
              <a:latin typeface="Arial" panose="020B0604020202090204" pitchFamily="34" charset="0"/>
              <a:cs typeface="Arial" panose="020B0604020202090204" pitchFamily="34" charset="0"/>
            </a:endParaRPr>
          </a:p>
          <a:p>
            <a:pPr marL="457200" lvl="1" indent="0">
              <a:lnSpc>
                <a:spcPct val="110000"/>
              </a:lnSpc>
              <a:spcBef>
                <a:spcPts val="1000"/>
              </a:spcBef>
              <a:buNone/>
            </a:pPr>
            <a:r>
              <a:rPr lang="en-US" altLang="zh-CN" sz="2800" dirty="0">
                <a:solidFill>
                  <a:srgbClr val="FF0000"/>
                </a:solidFill>
                <a:latin typeface="Arial" panose="020B0604020202090204" pitchFamily="34" charset="0"/>
                <a:cs typeface="Arial" panose="020B0604020202090204" pitchFamily="34" charset="0"/>
              </a:rPr>
              <a:t>VALUES</a:t>
            </a:r>
            <a:r>
              <a:rPr lang="zh-CN" altLang="en-US" sz="2800" dirty="0">
                <a:solidFill>
                  <a:srgbClr val="FF0000"/>
                </a:solidFill>
                <a:latin typeface="Arial" panose="020B0604020202090204" pitchFamily="34" charset="0"/>
                <a:cs typeface="Arial" panose="020B0604020202090204" pitchFamily="34" charset="0"/>
              </a:rPr>
              <a:t>(</a:t>
            </a:r>
            <a:r>
              <a:rPr lang="en-US" altLang="zh-CN" sz="2800" dirty="0">
                <a:solidFill>
                  <a:srgbClr val="FF0000"/>
                </a:solidFill>
                <a:latin typeface="Arial" panose="020B0604020202090204" pitchFamily="34" charset="0"/>
                <a:cs typeface="Arial" panose="020B0604020202090204" pitchFamily="34" charset="0"/>
              </a:rPr>
              <a:t>'201215126'</a:t>
            </a:r>
            <a:r>
              <a:rPr lang="zh-CN" altLang="en-US" sz="2800" dirty="0">
                <a:solidFill>
                  <a:srgbClr val="FF0000"/>
                </a:solidFill>
                <a:latin typeface="Arial" panose="020B0604020202090204" pitchFamily="34" charset="0"/>
                <a:cs typeface="Arial" panose="020B0604020202090204" pitchFamily="34" charset="0"/>
              </a:rPr>
              <a:t>,</a:t>
            </a:r>
            <a:r>
              <a:rPr lang="en-US" altLang="zh-CN" sz="2800" dirty="0">
                <a:solidFill>
                  <a:srgbClr val="FF0000"/>
                </a:solidFill>
                <a:latin typeface="Arial" panose="020B0604020202090204" pitchFamily="34" charset="0"/>
                <a:cs typeface="Arial" panose="020B0604020202090204" pitchFamily="34" charset="0"/>
              </a:rPr>
              <a:t> </a:t>
            </a:r>
            <a:r>
              <a:rPr lang="zh-CN" altLang="en-US" sz="2800" dirty="0">
                <a:solidFill>
                  <a:srgbClr val="FF0000"/>
                </a:solidFill>
                <a:latin typeface="Arial" panose="020B0604020202090204" pitchFamily="34" charset="0"/>
                <a:cs typeface="Arial" panose="020B0604020202090204" pitchFamily="34" charset="0"/>
              </a:rPr>
              <a:t>'</a:t>
            </a:r>
            <a:r>
              <a:rPr lang="en-US" altLang="zh-CN" sz="2800" dirty="0">
                <a:solidFill>
                  <a:srgbClr val="FF0000"/>
                </a:solidFill>
                <a:latin typeface="Arial" panose="020B0604020202090204" pitchFamily="34" charset="0"/>
                <a:cs typeface="Arial" panose="020B0604020202090204" pitchFamily="34" charset="0"/>
              </a:rPr>
              <a:t>1'</a:t>
            </a:r>
            <a:r>
              <a:rPr lang="zh-CN" altLang="en-US" sz="2800" dirty="0">
                <a:solidFill>
                  <a:srgbClr val="FF0000"/>
                </a:solidFill>
                <a:latin typeface="Arial" panose="020B0604020202090204" pitchFamily="34" charset="0"/>
                <a:cs typeface="Arial" panose="020B0604020202090204" pitchFamily="34" charset="0"/>
              </a:rPr>
              <a:t>)</a:t>
            </a:r>
            <a:r>
              <a:rPr lang="en-US" altLang="zh-CN" sz="2800" dirty="0">
                <a:solidFill>
                  <a:srgbClr val="FF0000"/>
                </a:solidFill>
                <a:latin typeface="Arial" panose="020B0604020202090204" pitchFamily="34" charset="0"/>
                <a:cs typeface="Arial" panose="020B0604020202090204" pitchFamily="34" charset="0"/>
              </a:rPr>
              <a:t>;</a:t>
            </a:r>
            <a:endParaRPr lang="en-US" altLang="zh-CN" sz="2800" dirty="0">
              <a:solidFill>
                <a:srgbClr val="FF0000"/>
              </a:solidFill>
              <a:latin typeface="Arial" panose="020B0604020202090204" pitchFamily="34" charset="0"/>
              <a:cs typeface="Arial" panose="020B0604020202090204" pitchFamily="34" charset="0"/>
            </a:endParaRPr>
          </a:p>
          <a:p>
            <a:pPr marL="457200" lvl="1" indent="0">
              <a:lnSpc>
                <a:spcPct val="110000"/>
              </a:lnSpc>
              <a:spcBef>
                <a:spcPts val="1000"/>
              </a:spcBef>
              <a:buNone/>
            </a:pPr>
            <a:r>
              <a:rPr lang="en-US" altLang="zh-CN" sz="2800" dirty="0">
                <a:latin typeface="Arial" panose="020B0604020202090204" pitchFamily="34" charset="0"/>
                <a:cs typeface="Arial" panose="020B0604020202090204" pitchFamily="34" charset="0"/>
              </a:rPr>
              <a:t>/* </a:t>
            </a:r>
            <a:r>
              <a:rPr lang="zh-CN" altLang="en-US" sz="2800" dirty="0">
                <a:latin typeface="Arial" panose="020B0604020202090204" pitchFamily="34" charset="0"/>
                <a:cs typeface="Arial" panose="020B0604020202090204" pitchFamily="34" charset="0"/>
              </a:rPr>
              <a:t>在插入元组时没有赋值的属性，</a:t>
            </a:r>
            <a:r>
              <a:rPr lang="en-US" altLang="zh-CN" sz="2800" dirty="0">
                <a:latin typeface="Arial" panose="020B0604020202090204" pitchFamily="34" charset="0"/>
                <a:cs typeface="Arial" panose="020B0604020202090204" pitchFamily="34" charset="0"/>
              </a:rPr>
              <a:t>DBMS</a:t>
            </a:r>
            <a:r>
              <a:rPr lang="zh-CN" altLang="en-US" sz="2800" dirty="0">
                <a:latin typeface="Arial" panose="020B0604020202090204" pitchFamily="34" charset="0"/>
                <a:cs typeface="Arial" panose="020B0604020202090204" pitchFamily="34" charset="0"/>
              </a:rPr>
              <a:t>自动将该属性</a:t>
            </a:r>
            <a:r>
              <a:rPr lang="zh-CN" altLang="en-US" sz="2800" dirty="0">
                <a:latin typeface="Arial" panose="020B0604020202090204" pitchFamily="34" charset="0"/>
                <a:cs typeface="Arial" panose="020B0604020202090204" pitchFamily="34" charset="0"/>
              </a:rPr>
              <a:t>赋为空值</a:t>
            </a:r>
            <a:r>
              <a:rPr lang="en-US" altLang="zh-CN" sz="2800" dirty="0">
                <a:latin typeface="Arial" panose="020B0604020202090204" pitchFamily="34" charset="0"/>
                <a:cs typeface="Arial" panose="020B0604020202090204" pitchFamily="34" charset="0"/>
              </a:rPr>
              <a:t> */</a:t>
            </a:r>
            <a:endParaRPr lang="zh-CN" altLang="en-US" sz="2800" dirty="0">
              <a:latin typeface="Arial" panose="020B0604020202090204" pitchFamily="34" charset="0"/>
              <a:cs typeface="Arial" panose="020B0604020202090204" pitchFamily="34" charset="0"/>
            </a:endParaRPr>
          </a:p>
        </p:txBody>
      </p:sp>
      <p:sp>
        <p:nvSpPr>
          <p:cNvPr id="2" name="灯片编号占位符 1"/>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ch03_3_SQL数据更新</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0723">
                                            <p:txEl>
                                              <p:pRg st="1" end="1"/>
                                            </p:txEl>
                                          </p:spTgt>
                                        </p:tgtEl>
                                        <p:attrNameLst>
                                          <p:attrName>style.visibility</p:attrName>
                                        </p:attrNameLst>
                                      </p:cBhvr>
                                      <p:to>
                                        <p:strVal val="visible"/>
                                      </p:to>
                                    </p:set>
                                    <p:animEffect transition="in" filter="blinds(horizontal)">
                                      <p:cBhvr>
                                        <p:cTn id="7" dur="500"/>
                                        <p:tgtEl>
                                          <p:spTgt spid="3072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0723">
                                            <p:txEl>
                                              <p:pRg st="2" end="2"/>
                                            </p:txEl>
                                          </p:spTgt>
                                        </p:tgtEl>
                                        <p:attrNameLst>
                                          <p:attrName>style.visibility</p:attrName>
                                        </p:attrNameLst>
                                      </p:cBhvr>
                                      <p:to>
                                        <p:strVal val="visible"/>
                                      </p:to>
                                    </p:set>
                                    <p:animEffect transition="in" filter="blinds(horizontal)">
                                      <p:cBhvr>
                                        <p:cTn id="10" dur="500"/>
                                        <p:tgtEl>
                                          <p:spTgt spid="30723">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0723">
                                            <p:txEl>
                                              <p:pRg st="3" end="3"/>
                                            </p:txEl>
                                          </p:spTgt>
                                        </p:tgtEl>
                                        <p:attrNameLst>
                                          <p:attrName>style.visibility</p:attrName>
                                        </p:attrNameLst>
                                      </p:cBhvr>
                                      <p:to>
                                        <p:strVal val="visible"/>
                                      </p:to>
                                    </p:set>
                                    <p:animEffect transition="in" filter="blinds(horizontal)">
                                      <p:cBhvr>
                                        <p:cTn id="13" dur="500"/>
                                        <p:tgtEl>
                                          <p:spTgt spid="3072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0723">
                                            <p:txEl>
                                              <p:pRg st="5" end="5"/>
                                            </p:txEl>
                                          </p:spTgt>
                                        </p:tgtEl>
                                        <p:attrNameLst>
                                          <p:attrName>style.visibility</p:attrName>
                                        </p:attrNameLst>
                                      </p:cBhvr>
                                      <p:to>
                                        <p:strVal val="visible"/>
                                      </p:to>
                                    </p:set>
                                    <p:anim calcmode="lin" valueType="num">
                                      <p:cBhvr additive="base">
                                        <p:cTn id="18" dur="500" fill="hold"/>
                                        <p:tgtEl>
                                          <p:spTgt spid="30723">
                                            <p:txEl>
                                              <p:pRg st="5" end="5"/>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0723">
                                            <p:txEl>
                                              <p:pRg st="5" end="5"/>
                                            </p:txEl>
                                          </p:spTgt>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30723">
                                            <p:txEl>
                                              <p:pRg st="6" end="6"/>
                                            </p:txEl>
                                          </p:spTgt>
                                        </p:tgtEl>
                                        <p:attrNameLst>
                                          <p:attrName>style.visibility</p:attrName>
                                        </p:attrNameLst>
                                      </p:cBhvr>
                                      <p:to>
                                        <p:strVal val="visible"/>
                                      </p:to>
                                    </p:set>
                                    <p:anim calcmode="lin" valueType="num">
                                      <p:cBhvr additive="base">
                                        <p:cTn id="22" dur="500" fill="hold"/>
                                        <p:tgtEl>
                                          <p:spTgt spid="30723">
                                            <p:txEl>
                                              <p:pRg st="6" end="6"/>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0723">
                                            <p:txEl>
                                              <p:pRg st="6" end="6"/>
                                            </p:txEl>
                                          </p:spTgt>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30723">
                                            <p:txEl>
                                              <p:pRg st="7" end="7"/>
                                            </p:txEl>
                                          </p:spTgt>
                                        </p:tgtEl>
                                        <p:attrNameLst>
                                          <p:attrName>style.visibility</p:attrName>
                                        </p:attrNameLst>
                                      </p:cBhvr>
                                      <p:to>
                                        <p:strVal val="visible"/>
                                      </p:to>
                                    </p:set>
                                    <p:anim calcmode="lin" valueType="num">
                                      <p:cBhvr additive="base">
                                        <p:cTn id="26" dur="500" fill="hold"/>
                                        <p:tgtEl>
                                          <p:spTgt spid="30723">
                                            <p:txEl>
                                              <p:pRg st="7" end="7"/>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0723">
                                            <p:txEl>
                                              <p:pRg st="7" end="7"/>
                                            </p:txEl>
                                          </p:spTgt>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30723">
                                            <p:txEl>
                                              <p:pRg st="8" end="8"/>
                                            </p:txEl>
                                          </p:spTgt>
                                        </p:tgtEl>
                                        <p:attrNameLst>
                                          <p:attrName>style.visibility</p:attrName>
                                        </p:attrNameLst>
                                      </p:cBhvr>
                                      <p:to>
                                        <p:strVal val="visible"/>
                                      </p:to>
                                    </p:set>
                                    <p:anim calcmode="lin" valueType="num">
                                      <p:cBhvr additive="base">
                                        <p:cTn id="30" dur="500" fill="hold"/>
                                        <p:tgtEl>
                                          <p:spTgt spid="30723">
                                            <p:txEl>
                                              <p:pRg st="8" end="8"/>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072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p:txBody>
          <a:bodyPr/>
          <a:lstStyle/>
          <a:p>
            <a:r>
              <a:rPr lang="zh-CN" altLang="en-US" dirty="0"/>
              <a:t>空值的产生 </a:t>
            </a:r>
            <a:r>
              <a:rPr lang="en-US" altLang="zh-CN" dirty="0"/>
              <a:t>2</a:t>
            </a:r>
            <a:endParaRPr lang="zh-CN" altLang="en-US" dirty="0"/>
          </a:p>
        </p:txBody>
      </p:sp>
      <p:sp>
        <p:nvSpPr>
          <p:cNvPr id="31747" name="内容占位符 2"/>
          <p:cNvSpPr>
            <a:spLocks noGrp="1"/>
          </p:cNvSpPr>
          <p:nvPr>
            <p:ph idx="1"/>
          </p:nvPr>
        </p:nvSpPr>
        <p:spPr/>
        <p:txBody>
          <a:bodyPr/>
          <a:lstStyle/>
          <a:p>
            <a:r>
              <a:rPr lang="en-US" altLang="zh-CN" dirty="0"/>
              <a:t>[</a:t>
            </a:r>
            <a:r>
              <a:rPr lang="zh-CN" altLang="en-US" dirty="0"/>
              <a:t>例</a:t>
            </a:r>
            <a:r>
              <a:rPr lang="en-US" altLang="zh-CN" dirty="0"/>
              <a:t>3.80]</a:t>
            </a:r>
            <a:r>
              <a:rPr lang="zh-CN" altLang="en-US" dirty="0"/>
              <a:t>将</a:t>
            </a:r>
            <a:r>
              <a:rPr lang="en-US" altLang="zh-CN" dirty="0"/>
              <a:t>Student</a:t>
            </a:r>
            <a:r>
              <a:rPr lang="zh-CN" altLang="en-US" dirty="0"/>
              <a:t>表中学生号为</a:t>
            </a:r>
            <a:r>
              <a:rPr lang="en-US" altLang="zh-CN" dirty="0"/>
              <a:t>“</a:t>
            </a:r>
            <a:r>
              <a:rPr lang="en-US" altLang="zh-CN" dirty="0"/>
              <a:t>201215200”</a:t>
            </a:r>
            <a:r>
              <a:rPr lang="zh-CN" altLang="en-US" dirty="0"/>
              <a:t>的学生所属的系改为空值。</a:t>
            </a:r>
            <a:endParaRPr lang="zh-CN" altLang="en-US" dirty="0"/>
          </a:p>
          <a:p>
            <a:pPr marL="457200" lvl="1" indent="0">
              <a:lnSpc>
                <a:spcPct val="110000"/>
              </a:lnSpc>
              <a:spcBef>
                <a:spcPts val="1600"/>
              </a:spcBef>
              <a:buNone/>
            </a:pPr>
            <a:r>
              <a:rPr lang="en-US" altLang="zh-CN" dirty="0">
                <a:solidFill>
                  <a:srgbClr val="FF0000"/>
                </a:solidFill>
              </a:rPr>
              <a:t>UPDATE Student</a:t>
            </a:r>
            <a:endParaRPr lang="zh-CN" altLang="en-US" dirty="0">
              <a:solidFill>
                <a:srgbClr val="FF0000"/>
              </a:solidFill>
            </a:endParaRPr>
          </a:p>
          <a:p>
            <a:pPr marL="457200" lvl="1" indent="0">
              <a:lnSpc>
                <a:spcPct val="110000"/>
              </a:lnSpc>
              <a:spcBef>
                <a:spcPts val="600"/>
              </a:spcBef>
              <a:buNone/>
            </a:pPr>
            <a:r>
              <a:rPr lang="en-US" altLang="zh-CN" dirty="0">
                <a:solidFill>
                  <a:srgbClr val="FF0000"/>
                </a:solidFill>
              </a:rPr>
              <a:t>SET </a:t>
            </a:r>
            <a:r>
              <a:rPr lang="en-US" altLang="zh-CN" dirty="0" err="1">
                <a:solidFill>
                  <a:srgbClr val="FF0000"/>
                </a:solidFill>
              </a:rPr>
              <a:t>Sdept</a:t>
            </a:r>
            <a:r>
              <a:rPr lang="en-US" altLang="zh-CN" dirty="0">
                <a:solidFill>
                  <a:srgbClr val="FF0000"/>
                </a:solidFill>
              </a:rPr>
              <a:t> = NULL</a:t>
            </a:r>
            <a:endParaRPr lang="zh-CN" altLang="en-US" dirty="0">
              <a:solidFill>
                <a:srgbClr val="FF0000"/>
              </a:solidFill>
            </a:endParaRPr>
          </a:p>
          <a:p>
            <a:pPr marL="457200" lvl="1" indent="0">
              <a:lnSpc>
                <a:spcPct val="110000"/>
              </a:lnSpc>
              <a:spcBef>
                <a:spcPts val="600"/>
              </a:spcBef>
              <a:buNone/>
            </a:pPr>
            <a:r>
              <a:rPr lang="en-US" altLang="zh-CN" dirty="0">
                <a:solidFill>
                  <a:srgbClr val="FF0000"/>
                </a:solidFill>
              </a:rPr>
              <a:t>WHERE </a:t>
            </a:r>
            <a:r>
              <a:rPr lang="en-US" altLang="zh-CN" dirty="0" err="1">
                <a:solidFill>
                  <a:srgbClr val="FF0000"/>
                </a:solidFill>
              </a:rPr>
              <a:t>Sno</a:t>
            </a:r>
            <a:r>
              <a:rPr lang="en-US" altLang="zh-CN" dirty="0">
                <a:solidFill>
                  <a:srgbClr val="FF0000"/>
                </a:solidFill>
              </a:rPr>
              <a:t>='201215200';</a:t>
            </a:r>
            <a:endParaRPr lang="en-US" altLang="zh-CN" dirty="0">
              <a:solidFill>
                <a:srgbClr val="FF0000"/>
              </a:solidFill>
            </a:endParaRPr>
          </a:p>
        </p:txBody>
      </p:sp>
      <p:sp>
        <p:nvSpPr>
          <p:cNvPr id="2" name="灯片编号占位符 1"/>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ch03_3_SQL数据更新</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1747">
                                            <p:txEl>
                                              <p:pRg st="1" end="1"/>
                                            </p:txEl>
                                          </p:spTgt>
                                        </p:tgtEl>
                                        <p:attrNameLst>
                                          <p:attrName>style.visibility</p:attrName>
                                        </p:attrNameLst>
                                      </p:cBhvr>
                                      <p:to>
                                        <p:strVal val="visible"/>
                                      </p:to>
                                    </p:set>
                                    <p:animEffect transition="in" filter="blinds(horizontal)">
                                      <p:cBhvr>
                                        <p:cTn id="7" dur="500"/>
                                        <p:tgtEl>
                                          <p:spTgt spid="31747">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1747">
                                            <p:txEl>
                                              <p:pRg st="2" end="2"/>
                                            </p:txEl>
                                          </p:spTgt>
                                        </p:tgtEl>
                                        <p:attrNameLst>
                                          <p:attrName>style.visibility</p:attrName>
                                        </p:attrNameLst>
                                      </p:cBhvr>
                                      <p:to>
                                        <p:strVal val="visible"/>
                                      </p:to>
                                    </p:set>
                                    <p:animEffect transition="in" filter="blinds(horizontal)">
                                      <p:cBhvr>
                                        <p:cTn id="10" dur="500"/>
                                        <p:tgtEl>
                                          <p:spTgt spid="31747">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1747">
                                            <p:txEl>
                                              <p:pRg st="3" end="3"/>
                                            </p:txEl>
                                          </p:spTgt>
                                        </p:tgtEl>
                                        <p:attrNameLst>
                                          <p:attrName>style.visibility</p:attrName>
                                        </p:attrNameLst>
                                      </p:cBhvr>
                                      <p:to>
                                        <p:strVal val="visible"/>
                                      </p:to>
                                    </p:set>
                                    <p:animEffect transition="in" filter="blinds(horizontal)">
                                      <p:cBhvr>
                                        <p:cTn id="13" dur="500"/>
                                        <p:tgtEl>
                                          <p:spTgt spid="3174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p:txBody>
          <a:bodyPr/>
          <a:lstStyle/>
          <a:p>
            <a:r>
              <a:rPr lang="zh-CN" altLang="en-US" dirty="0"/>
              <a:t>空值的判断</a:t>
            </a:r>
            <a:endParaRPr lang="zh-CN" altLang="en-US" dirty="0"/>
          </a:p>
        </p:txBody>
      </p:sp>
      <p:sp>
        <p:nvSpPr>
          <p:cNvPr id="32771" name="内容占位符 2"/>
          <p:cNvSpPr>
            <a:spLocks noGrp="1"/>
          </p:cNvSpPr>
          <p:nvPr>
            <p:ph idx="1"/>
          </p:nvPr>
        </p:nvSpPr>
        <p:spPr/>
        <p:txBody>
          <a:bodyPr>
            <a:normAutofit/>
          </a:bodyPr>
          <a:lstStyle/>
          <a:p>
            <a:r>
              <a:rPr lang="zh-CN" altLang="en-US" dirty="0"/>
              <a:t>判断一个属性的值是否为空值，用</a:t>
            </a:r>
            <a:r>
              <a:rPr lang="en-US" altLang="zh-CN" dirty="0"/>
              <a:t>IS NULL</a:t>
            </a:r>
            <a:r>
              <a:rPr lang="zh-CN" altLang="en-US" dirty="0"/>
              <a:t>或</a:t>
            </a:r>
            <a:r>
              <a:rPr lang="en-US" altLang="zh-CN" dirty="0"/>
              <a:t>IS NOT NULL</a:t>
            </a:r>
            <a:r>
              <a:rPr lang="zh-CN" altLang="en-US" dirty="0"/>
              <a:t>来表示。</a:t>
            </a:r>
            <a:endParaRPr lang="zh-CN" altLang="en-US" dirty="0"/>
          </a:p>
          <a:p>
            <a:endParaRPr lang="en-US" altLang="zh-CN" dirty="0"/>
          </a:p>
          <a:p>
            <a:r>
              <a:rPr lang="en-US" altLang="zh-CN" dirty="0"/>
              <a:t>[</a:t>
            </a:r>
            <a:r>
              <a:rPr lang="zh-CN" altLang="en-US" dirty="0"/>
              <a:t>例</a:t>
            </a:r>
            <a:r>
              <a:rPr lang="en-US" altLang="zh-CN" dirty="0"/>
              <a:t>3.81]</a:t>
            </a:r>
            <a:r>
              <a:rPr lang="zh-CN" altLang="en-US" dirty="0"/>
              <a:t>从</a:t>
            </a:r>
            <a:r>
              <a:rPr lang="en-US" altLang="zh-CN" dirty="0"/>
              <a:t>Student</a:t>
            </a:r>
            <a:r>
              <a:rPr lang="zh-CN" altLang="en-US" dirty="0"/>
              <a:t>表中找出漏填了数据的学生信息</a:t>
            </a:r>
            <a:endParaRPr lang="zh-CN" altLang="en-US" dirty="0"/>
          </a:p>
          <a:p>
            <a:pPr marL="352425" lvl="1" indent="0">
              <a:lnSpc>
                <a:spcPct val="110000"/>
              </a:lnSpc>
              <a:spcBef>
                <a:spcPts val="2000"/>
              </a:spcBef>
              <a:buNone/>
            </a:pPr>
            <a:r>
              <a:rPr lang="en-US" altLang="zh-CN" dirty="0">
                <a:solidFill>
                  <a:srgbClr val="FF0000"/>
                </a:solidFill>
                <a:latin typeface="Arial" panose="020B0604020202090204" pitchFamily="34" charset="0"/>
                <a:cs typeface="Arial" panose="020B0604020202090204" pitchFamily="34" charset="0"/>
              </a:rPr>
              <a:t>SELECT  *</a:t>
            </a:r>
            <a:endParaRPr lang="zh-CN" altLang="en-US" dirty="0">
              <a:solidFill>
                <a:srgbClr val="FF0000"/>
              </a:solidFill>
              <a:latin typeface="Arial" panose="020B0604020202090204" pitchFamily="34" charset="0"/>
              <a:cs typeface="Arial" panose="020B0604020202090204" pitchFamily="34" charset="0"/>
            </a:endParaRPr>
          </a:p>
          <a:p>
            <a:pPr marL="352425" lvl="1" indent="0">
              <a:buNone/>
            </a:pPr>
            <a:r>
              <a:rPr lang="en-US" altLang="zh-CN" dirty="0">
                <a:solidFill>
                  <a:srgbClr val="FF0000"/>
                </a:solidFill>
                <a:latin typeface="Arial" panose="020B0604020202090204" pitchFamily="34" charset="0"/>
                <a:cs typeface="Arial" panose="020B0604020202090204" pitchFamily="34" charset="0"/>
              </a:rPr>
              <a:t>FROM   Student</a:t>
            </a:r>
            <a:endParaRPr lang="zh-CN" altLang="en-US" dirty="0">
              <a:solidFill>
                <a:srgbClr val="FF0000"/>
              </a:solidFill>
              <a:latin typeface="Arial" panose="020B0604020202090204" pitchFamily="34" charset="0"/>
              <a:cs typeface="Arial" panose="020B0604020202090204" pitchFamily="34" charset="0"/>
            </a:endParaRPr>
          </a:p>
          <a:p>
            <a:pPr marL="352425" lvl="1" indent="0">
              <a:buNone/>
            </a:pPr>
            <a:r>
              <a:rPr lang="en-US" altLang="zh-CN" dirty="0">
                <a:solidFill>
                  <a:srgbClr val="FF0000"/>
                </a:solidFill>
                <a:latin typeface="Arial" panose="020B0604020202090204" pitchFamily="34" charset="0"/>
                <a:cs typeface="Arial" panose="020B0604020202090204" pitchFamily="34" charset="0"/>
              </a:rPr>
              <a:t>WHERE  </a:t>
            </a:r>
            <a:r>
              <a:rPr lang="en-US" altLang="zh-CN" dirty="0" err="1">
                <a:solidFill>
                  <a:srgbClr val="FF0000"/>
                </a:solidFill>
                <a:latin typeface="Arial" panose="020B0604020202090204" pitchFamily="34" charset="0"/>
                <a:cs typeface="Arial" panose="020B0604020202090204" pitchFamily="34" charset="0"/>
              </a:rPr>
              <a:t>Sname</a:t>
            </a:r>
            <a:r>
              <a:rPr lang="en-US" altLang="zh-CN" dirty="0">
                <a:solidFill>
                  <a:srgbClr val="FF0000"/>
                </a:solidFill>
                <a:latin typeface="Arial" panose="020B0604020202090204" pitchFamily="34" charset="0"/>
                <a:cs typeface="Arial" panose="020B0604020202090204" pitchFamily="34" charset="0"/>
              </a:rPr>
              <a:t>  IS NULL  or </a:t>
            </a:r>
            <a:endParaRPr lang="en-US" altLang="zh-CN" dirty="0">
              <a:solidFill>
                <a:srgbClr val="FF0000"/>
              </a:solidFill>
              <a:latin typeface="Arial" panose="020B0604020202090204" pitchFamily="34" charset="0"/>
              <a:cs typeface="Arial" panose="020B0604020202090204" pitchFamily="34" charset="0"/>
            </a:endParaRPr>
          </a:p>
          <a:p>
            <a:pPr marL="352425" lvl="1" indent="1522095">
              <a:buNone/>
            </a:pPr>
            <a:r>
              <a:rPr lang="en-US" altLang="zh-CN" dirty="0" err="1">
                <a:solidFill>
                  <a:srgbClr val="FF0000"/>
                </a:solidFill>
                <a:latin typeface="Arial" panose="020B0604020202090204" pitchFamily="34" charset="0"/>
                <a:cs typeface="Arial" panose="020B0604020202090204" pitchFamily="34" charset="0"/>
              </a:rPr>
              <a:t>Ssex</a:t>
            </a:r>
            <a:r>
              <a:rPr lang="en-US" altLang="zh-CN" dirty="0">
                <a:solidFill>
                  <a:srgbClr val="FF0000"/>
                </a:solidFill>
                <a:latin typeface="Arial" panose="020B0604020202090204" pitchFamily="34" charset="0"/>
                <a:cs typeface="Arial" panose="020B0604020202090204" pitchFamily="34" charset="0"/>
              </a:rPr>
              <a:t>  </a:t>
            </a:r>
            <a:r>
              <a:rPr lang="en-US" altLang="zh-CN" dirty="0">
                <a:solidFill>
                  <a:srgbClr val="FF0000"/>
                </a:solidFill>
                <a:latin typeface="Arial" panose="020B0604020202090204" pitchFamily="34" charset="0"/>
                <a:cs typeface="Arial" panose="020B0604020202090204" pitchFamily="34" charset="0"/>
              </a:rPr>
              <a:t>IS NULL  or </a:t>
            </a:r>
            <a:endParaRPr lang="en-US" altLang="zh-CN" dirty="0">
              <a:solidFill>
                <a:srgbClr val="FF0000"/>
              </a:solidFill>
              <a:latin typeface="Arial" panose="020B0604020202090204" pitchFamily="34" charset="0"/>
              <a:cs typeface="Arial" panose="020B0604020202090204" pitchFamily="34" charset="0"/>
            </a:endParaRPr>
          </a:p>
          <a:p>
            <a:pPr marL="352425" lvl="1" indent="1522095">
              <a:buNone/>
            </a:pPr>
            <a:r>
              <a:rPr lang="en-US" altLang="zh-CN" dirty="0">
                <a:solidFill>
                  <a:srgbClr val="FF0000"/>
                </a:solidFill>
                <a:latin typeface="Arial" panose="020B0604020202090204" pitchFamily="34" charset="0"/>
                <a:cs typeface="Arial" panose="020B0604020202090204" pitchFamily="34" charset="0"/>
              </a:rPr>
              <a:t>Sage  IS NULL</a:t>
            </a:r>
            <a:r>
              <a:rPr lang="en-US" altLang="zh-CN" dirty="0">
                <a:solidFill>
                  <a:srgbClr val="FF0000"/>
                </a:solidFill>
                <a:latin typeface="Arial" panose="020B0604020202090204" pitchFamily="34" charset="0"/>
                <a:cs typeface="Arial" panose="020B0604020202090204" pitchFamily="34" charset="0"/>
                <a:sym typeface="+mn-ea"/>
              </a:rPr>
              <a:t>  or </a:t>
            </a:r>
            <a:endParaRPr lang="en-US" altLang="zh-CN" dirty="0">
              <a:solidFill>
                <a:srgbClr val="FF0000"/>
              </a:solidFill>
              <a:latin typeface="Arial" panose="020B0604020202090204" pitchFamily="34" charset="0"/>
              <a:cs typeface="Arial" panose="020B0604020202090204" pitchFamily="34" charset="0"/>
              <a:sym typeface="+mn-ea"/>
            </a:endParaRPr>
          </a:p>
          <a:p>
            <a:pPr marL="352425" lvl="1" indent="1522095">
              <a:buNone/>
            </a:pPr>
            <a:r>
              <a:rPr lang="en-US" altLang="zh-CN" dirty="0" err="1">
                <a:solidFill>
                  <a:srgbClr val="FF0000"/>
                </a:solidFill>
                <a:latin typeface="Arial" panose="020B0604020202090204" pitchFamily="34" charset="0"/>
                <a:cs typeface="Arial" panose="020B0604020202090204" pitchFamily="34" charset="0"/>
              </a:rPr>
              <a:t>Sdept</a:t>
            </a:r>
            <a:r>
              <a:rPr lang="en-US" altLang="zh-CN" dirty="0">
                <a:solidFill>
                  <a:srgbClr val="FF0000"/>
                </a:solidFill>
                <a:latin typeface="Arial" panose="020B0604020202090204" pitchFamily="34" charset="0"/>
                <a:cs typeface="Arial" panose="020B0604020202090204" pitchFamily="34" charset="0"/>
              </a:rPr>
              <a:t>  </a:t>
            </a:r>
            <a:r>
              <a:rPr lang="en-US" altLang="zh-CN" dirty="0">
                <a:solidFill>
                  <a:srgbClr val="FF0000"/>
                </a:solidFill>
                <a:latin typeface="Arial" panose="020B0604020202090204" pitchFamily="34" charset="0"/>
                <a:cs typeface="Arial" panose="020B0604020202090204" pitchFamily="34" charset="0"/>
              </a:rPr>
              <a:t>IS NULL;</a:t>
            </a:r>
            <a:endParaRPr lang="en-US" altLang="zh-CN" dirty="0">
              <a:solidFill>
                <a:srgbClr val="FF0000"/>
              </a:solidFill>
              <a:latin typeface="Arial" panose="020B0604020202090204" pitchFamily="34" charset="0"/>
              <a:cs typeface="Arial" panose="020B0604020202090204" pitchFamily="34" charset="0"/>
            </a:endParaRPr>
          </a:p>
        </p:txBody>
      </p:sp>
      <p:sp>
        <p:nvSpPr>
          <p:cNvPr id="2" name="灯片编号占位符 1"/>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ch03_3_SQL数据更新</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a:lstStyle/>
          <a:p>
            <a:r>
              <a:rPr lang="zh-CN" altLang="en-US" dirty="0"/>
              <a:t>空值相关的</a:t>
            </a:r>
            <a:r>
              <a:rPr lang="zh-CN" altLang="en-US" dirty="0"/>
              <a:t>完整性约束</a:t>
            </a:r>
            <a:endParaRPr lang="zh-CN" altLang="en-US" dirty="0"/>
          </a:p>
        </p:txBody>
      </p:sp>
      <p:sp>
        <p:nvSpPr>
          <p:cNvPr id="33795" name="内容占位符 2"/>
          <p:cNvSpPr>
            <a:spLocks noGrp="1"/>
          </p:cNvSpPr>
          <p:nvPr>
            <p:ph idx="1"/>
          </p:nvPr>
        </p:nvSpPr>
        <p:spPr/>
        <p:txBody>
          <a:bodyPr/>
          <a:lstStyle/>
          <a:p>
            <a:pPr>
              <a:lnSpc>
                <a:spcPct val="120000"/>
              </a:lnSpc>
              <a:spcBef>
                <a:spcPts val="1000"/>
              </a:spcBef>
            </a:pPr>
            <a:r>
              <a:rPr lang="zh-CN" altLang="en-US" dirty="0"/>
              <a:t>属性定义（或者域定义）中</a:t>
            </a:r>
            <a:endParaRPr lang="en-US" altLang="zh-CN" dirty="0"/>
          </a:p>
          <a:p>
            <a:pPr lvl="1">
              <a:lnSpc>
                <a:spcPct val="120000"/>
              </a:lnSpc>
              <a:spcBef>
                <a:spcPts val="1000"/>
              </a:spcBef>
            </a:pPr>
            <a:r>
              <a:rPr lang="zh-CN" altLang="en-US" dirty="0">
                <a:solidFill>
                  <a:srgbClr val="C00000"/>
                </a:solidFill>
              </a:rPr>
              <a:t>有</a:t>
            </a:r>
            <a:r>
              <a:rPr lang="en-US" altLang="zh-CN" dirty="0">
                <a:solidFill>
                  <a:srgbClr val="C00000"/>
                </a:solidFill>
              </a:rPr>
              <a:t> NOT NULL </a:t>
            </a:r>
            <a:r>
              <a:rPr lang="zh-CN" altLang="en-US" dirty="0">
                <a:solidFill>
                  <a:srgbClr val="C00000"/>
                </a:solidFill>
              </a:rPr>
              <a:t>约束条件的不能取空值</a:t>
            </a:r>
            <a:endParaRPr lang="zh-CN" altLang="en-US" dirty="0">
              <a:solidFill>
                <a:srgbClr val="C00000"/>
              </a:solidFill>
            </a:endParaRPr>
          </a:p>
          <a:p>
            <a:pPr lvl="1">
              <a:lnSpc>
                <a:spcPct val="120000"/>
              </a:lnSpc>
              <a:spcBef>
                <a:spcPts val="1000"/>
              </a:spcBef>
            </a:pPr>
            <a:r>
              <a:rPr lang="zh-CN" altLang="en-US" dirty="0">
                <a:solidFill>
                  <a:srgbClr val="C00000"/>
                </a:solidFill>
                <a:sym typeface="+mn-ea"/>
              </a:rPr>
              <a:t>主码（</a:t>
            </a:r>
            <a:r>
              <a:rPr lang="en-US" altLang="zh-CN" dirty="0">
                <a:solidFill>
                  <a:srgbClr val="C00000"/>
                </a:solidFill>
                <a:sym typeface="+mn-ea"/>
              </a:rPr>
              <a:t>primary key</a:t>
            </a:r>
            <a:r>
              <a:rPr lang="zh-CN" altLang="en-US" dirty="0">
                <a:solidFill>
                  <a:srgbClr val="C00000"/>
                </a:solidFill>
                <a:sym typeface="+mn-ea"/>
              </a:rPr>
              <a:t>）属性不能取空值</a:t>
            </a:r>
            <a:endParaRPr lang="en-US" altLang="zh-CN" dirty="0">
              <a:solidFill>
                <a:srgbClr val="0000C8"/>
              </a:solidFill>
            </a:endParaRPr>
          </a:p>
          <a:p>
            <a:pPr lvl="1">
              <a:lnSpc>
                <a:spcPct val="120000"/>
              </a:lnSpc>
              <a:spcBef>
                <a:spcPts val="1000"/>
              </a:spcBef>
            </a:pPr>
            <a:r>
              <a:rPr lang="en-US" altLang="zh-CN" dirty="0">
                <a:solidFill>
                  <a:srgbClr val="C00000"/>
                </a:solidFill>
              </a:rPr>
              <a:t>UNIQUE</a:t>
            </a:r>
            <a:r>
              <a:rPr lang="zh-CN" altLang="en-US" dirty="0">
                <a:solidFill>
                  <a:srgbClr val="C00000"/>
                </a:solidFill>
              </a:rPr>
              <a:t>唯一性约束：当属性值非空时，其值在表中具有唯一性</a:t>
            </a:r>
            <a:endParaRPr lang="zh-CN" altLang="en-US" dirty="0">
              <a:solidFill>
                <a:srgbClr val="0000C8"/>
              </a:solidFill>
            </a:endParaRPr>
          </a:p>
          <a:p>
            <a:pPr lvl="1">
              <a:lnSpc>
                <a:spcPct val="120000"/>
              </a:lnSpc>
              <a:spcBef>
                <a:spcPts val="1000"/>
              </a:spcBef>
            </a:pPr>
            <a:endParaRPr lang="zh-CN" altLang="en-US" dirty="0">
              <a:solidFill>
                <a:srgbClr val="0000C8"/>
              </a:solidFill>
            </a:endParaRPr>
          </a:p>
          <a:p>
            <a:pPr lvl="1">
              <a:lnSpc>
                <a:spcPct val="120000"/>
              </a:lnSpc>
              <a:spcBef>
                <a:spcPts val="1000"/>
              </a:spcBef>
            </a:pPr>
            <a:endParaRPr lang="zh-CN" altLang="en-US" dirty="0">
              <a:solidFill>
                <a:srgbClr val="0000C8"/>
              </a:solidFill>
            </a:endParaRPr>
          </a:p>
          <a:p>
            <a:pPr lvl="0">
              <a:lnSpc>
                <a:spcPct val="120000"/>
              </a:lnSpc>
              <a:spcBef>
                <a:spcPts val="1000"/>
              </a:spcBef>
            </a:pPr>
            <a:r>
              <a:rPr lang="zh-CN" altLang="en-US" dirty="0">
                <a:solidFill>
                  <a:srgbClr val="0000C8"/>
                </a:solidFill>
              </a:rPr>
              <a:t>可以通过</a:t>
            </a:r>
            <a:r>
              <a:rPr lang="en-US" altLang="zh-CN" dirty="0">
                <a:solidFill>
                  <a:srgbClr val="0000C8"/>
                </a:solidFill>
              </a:rPr>
              <a:t> UNIQUE + NOT NULL </a:t>
            </a:r>
            <a:r>
              <a:rPr lang="zh-CN" altLang="en-US" dirty="0">
                <a:solidFill>
                  <a:srgbClr val="0000C8"/>
                </a:solidFill>
              </a:rPr>
              <a:t>约束来确保表中元组的</a:t>
            </a:r>
            <a:r>
              <a:rPr lang="zh-CN" altLang="en-US" dirty="0">
                <a:solidFill>
                  <a:srgbClr val="0000C8"/>
                </a:solidFill>
              </a:rPr>
              <a:t>唯一性</a:t>
            </a:r>
            <a:endParaRPr lang="zh-CN" altLang="en-US" dirty="0">
              <a:solidFill>
                <a:srgbClr val="0000C8"/>
              </a:solidFill>
            </a:endParaRPr>
          </a:p>
        </p:txBody>
      </p:sp>
      <p:sp>
        <p:nvSpPr>
          <p:cNvPr id="2" name="灯片编号占位符 1"/>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ch03_3_SQL数据更新</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3795">
                                            <p:txEl>
                                              <p:pRg st="6" end="6"/>
                                            </p:txEl>
                                          </p:spTgt>
                                        </p:tgtEl>
                                        <p:attrNameLst>
                                          <p:attrName>style.visibility</p:attrName>
                                        </p:attrNameLst>
                                      </p:cBhvr>
                                      <p:to>
                                        <p:strVal val="visible"/>
                                      </p:to>
                                    </p:set>
                                    <p:anim calcmode="lin" valueType="num">
                                      <p:cBhvr additive="base">
                                        <p:cTn id="7" dur="500" fill="hold"/>
                                        <p:tgtEl>
                                          <p:spTgt spid="33795">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379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a:normAutofit fontScale="90000"/>
          </a:bodyPr>
          <a:lstStyle/>
          <a:p>
            <a:r>
              <a:rPr lang="zh-CN" altLang="en-US" dirty="0"/>
              <a:t>空值的算术运算、比较运算和逻辑运算 </a:t>
            </a:r>
            <a:r>
              <a:rPr lang="en-US" altLang="zh-CN" dirty="0"/>
              <a:t>1</a:t>
            </a:r>
            <a:endParaRPr lang="zh-CN" altLang="en-US" dirty="0"/>
          </a:p>
        </p:txBody>
      </p:sp>
      <p:sp>
        <p:nvSpPr>
          <p:cNvPr id="34819" name="内容占位符 2"/>
          <p:cNvSpPr>
            <a:spLocks noGrp="1"/>
          </p:cNvSpPr>
          <p:nvPr>
            <p:ph idx="1"/>
          </p:nvPr>
        </p:nvSpPr>
        <p:spPr/>
        <p:txBody>
          <a:bodyPr/>
          <a:lstStyle/>
          <a:p>
            <a:r>
              <a:rPr lang="zh-CN" altLang="en-US" dirty="0"/>
              <a:t>运算</a:t>
            </a:r>
            <a:r>
              <a:rPr lang="zh-CN" altLang="en-US" dirty="0"/>
              <a:t>规则</a:t>
            </a:r>
            <a:endParaRPr lang="zh-CN" altLang="en-US" dirty="0"/>
          </a:p>
          <a:p>
            <a:pPr lvl="1"/>
            <a:r>
              <a:rPr lang="zh-CN" altLang="en-US" dirty="0"/>
              <a:t>空值与另一个值（包括另一个空值）的算术运算的结果为空值</a:t>
            </a:r>
            <a:endParaRPr lang="zh-CN" altLang="en-US" dirty="0"/>
          </a:p>
          <a:p>
            <a:pPr lvl="1"/>
            <a:r>
              <a:rPr lang="zh-CN" altLang="en-US" dirty="0"/>
              <a:t>空值与另一个值（包括另一个空值）的比较运算的结果为</a:t>
            </a:r>
            <a:r>
              <a:rPr lang="en-US" altLang="zh-CN" dirty="0"/>
              <a:t>UNKNOWN</a:t>
            </a:r>
            <a:endParaRPr lang="zh-CN" altLang="en-US" dirty="0"/>
          </a:p>
          <a:p>
            <a:pPr lvl="1"/>
            <a:r>
              <a:rPr lang="zh-CN" altLang="en-US" dirty="0"/>
              <a:t>有</a:t>
            </a:r>
            <a:r>
              <a:rPr lang="en-US" altLang="zh-CN" dirty="0"/>
              <a:t>UNKNOWN</a:t>
            </a:r>
            <a:r>
              <a:rPr lang="zh-CN" altLang="en-US" dirty="0"/>
              <a:t>后，传统二值（</a:t>
            </a:r>
            <a:r>
              <a:rPr lang="en-US" altLang="zh-CN" dirty="0"/>
              <a:t>TRUE</a:t>
            </a:r>
            <a:r>
              <a:rPr lang="zh-CN" altLang="en-US" dirty="0"/>
              <a:t>，</a:t>
            </a:r>
            <a:r>
              <a:rPr lang="en-US" altLang="zh-CN" dirty="0"/>
              <a:t>FALSE</a:t>
            </a:r>
            <a:r>
              <a:rPr lang="zh-CN" altLang="en-US" dirty="0"/>
              <a:t>）逻辑就扩展成了三值逻辑</a:t>
            </a:r>
            <a:endParaRPr lang="zh-CN" altLang="en-US" dirty="0"/>
          </a:p>
          <a:p>
            <a:pPr lvl="1"/>
            <a:endParaRPr lang="zh-CN" altLang="en-US" dirty="0"/>
          </a:p>
          <a:p>
            <a:pPr lvl="0"/>
            <a:r>
              <a:rPr lang="zh-CN" altLang="en-US" dirty="0"/>
              <a:t>在数据查询语句的</a:t>
            </a:r>
            <a:r>
              <a:rPr lang="en-US" altLang="zh-CN" dirty="0"/>
              <a:t>WHERE</a:t>
            </a:r>
            <a:r>
              <a:rPr lang="zh-CN" altLang="en-US" dirty="0"/>
              <a:t>子句和</a:t>
            </a:r>
            <a:r>
              <a:rPr lang="en-US" altLang="zh-CN" dirty="0"/>
              <a:t>HAVING</a:t>
            </a:r>
            <a:r>
              <a:rPr lang="zh-CN" altLang="en-US" dirty="0"/>
              <a:t>子句中，只有条件表达式的判断结果为</a:t>
            </a:r>
            <a:r>
              <a:rPr lang="en-US" altLang="zh-CN" dirty="0"/>
              <a:t>TRUE</a:t>
            </a:r>
            <a:r>
              <a:rPr lang="zh-CN" altLang="en-US" dirty="0"/>
              <a:t>时，当前元组（或组</a:t>
            </a:r>
            <a:r>
              <a:rPr lang="en-US" altLang="zh-CN" dirty="0"/>
              <a:t>GROUP</a:t>
            </a:r>
            <a:r>
              <a:rPr lang="zh-CN" altLang="en-US" dirty="0"/>
              <a:t>）才被作为结果输出。</a:t>
            </a:r>
            <a:endParaRPr lang="zh-CN" altLang="en-US" dirty="0"/>
          </a:p>
          <a:p>
            <a:pPr lvl="0"/>
            <a:endParaRPr lang="zh-CN" altLang="en-US" dirty="0"/>
          </a:p>
          <a:p>
            <a:pPr lvl="0"/>
            <a:r>
              <a:rPr lang="zh-CN" altLang="en-US" dirty="0"/>
              <a:t>因此，在关系数据库管理系统中，一般不支持三值逻辑，统一规定：</a:t>
            </a:r>
            <a:r>
              <a:rPr lang="zh-CN" altLang="en-US" dirty="0">
                <a:solidFill>
                  <a:srgbClr val="C00000"/>
                </a:solidFill>
              </a:rPr>
              <a:t>空值参与比较运算的结果为逻辑假</a:t>
            </a:r>
            <a:r>
              <a:rPr lang="en-US" altLang="zh-CN" dirty="0">
                <a:solidFill>
                  <a:srgbClr val="C00000"/>
                </a:solidFill>
              </a:rPr>
              <a:t>FALSE</a:t>
            </a:r>
            <a:r>
              <a:rPr lang="zh-CN" altLang="en-US" dirty="0">
                <a:solidFill>
                  <a:srgbClr val="C00000"/>
                </a:solidFill>
              </a:rPr>
              <a:t>！</a:t>
            </a:r>
            <a:endParaRPr lang="zh-CN" altLang="en-US" dirty="0">
              <a:solidFill>
                <a:srgbClr val="C00000"/>
              </a:solidFill>
            </a:endParaRPr>
          </a:p>
        </p:txBody>
      </p:sp>
      <p:sp>
        <p:nvSpPr>
          <p:cNvPr id="2" name="灯片编号占位符 1"/>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ch03_3_SQL数据更新</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4819">
                                            <p:txEl>
                                              <p:pRg st="5" end="5"/>
                                            </p:txEl>
                                          </p:spTgt>
                                        </p:tgtEl>
                                        <p:attrNameLst>
                                          <p:attrName>style.visibility</p:attrName>
                                        </p:attrNameLst>
                                      </p:cBhvr>
                                      <p:to>
                                        <p:strVal val="visible"/>
                                      </p:to>
                                    </p:set>
                                    <p:animEffect transition="in" filter="blinds(horizontal)">
                                      <p:cBhvr>
                                        <p:cTn id="7" dur="500"/>
                                        <p:tgtEl>
                                          <p:spTgt spid="34819">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4819">
                                            <p:txEl>
                                              <p:pRg st="7" end="7"/>
                                            </p:txEl>
                                          </p:spTgt>
                                        </p:tgtEl>
                                        <p:attrNameLst>
                                          <p:attrName>style.visibility</p:attrName>
                                        </p:attrNameLst>
                                      </p:cBhvr>
                                      <p:to>
                                        <p:strVal val="visible"/>
                                      </p:to>
                                    </p:set>
                                    <p:anim calcmode="lin" valueType="num">
                                      <p:cBhvr additive="base">
                                        <p:cTn id="12" dur="500" fill="hold"/>
                                        <p:tgtEl>
                                          <p:spTgt spid="34819">
                                            <p:txEl>
                                              <p:pRg st="7" end="7"/>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481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p:txBody>
          <a:bodyPr>
            <a:normAutofit fontScale="90000"/>
          </a:bodyPr>
          <a:lstStyle/>
          <a:p>
            <a:r>
              <a:rPr kumimoji="0" lang="zh-CN" altLang="en-US" sz="3110" i="0" u="none" strike="noStrike" kern="0" cap="none" spc="0" normalizeH="0" baseline="0" noProof="0" dirty="0">
                <a:ln>
                  <a:noFill/>
                </a:ln>
                <a:solidFill>
                  <a:schemeClr val="tx1"/>
                </a:solidFill>
                <a:effectLst/>
                <a:uLnTx/>
                <a:uFillTx/>
                <a:latin typeface="Verdana" panose="020B0804030504040204"/>
                <a:ea typeface="+mj-ea"/>
                <a:cs typeface="+mj-cs"/>
              </a:rPr>
              <a:t>空值的算术运算、比较运算和逻辑运算 </a:t>
            </a:r>
            <a:r>
              <a:rPr kumimoji="0" lang="en-US" altLang="zh-CN" sz="3110" i="0" u="none" strike="noStrike" kern="0" cap="none" spc="0" normalizeH="0" baseline="0" noProof="0" dirty="0">
                <a:ln>
                  <a:noFill/>
                </a:ln>
                <a:solidFill>
                  <a:schemeClr val="tx1"/>
                </a:solidFill>
                <a:effectLst/>
                <a:uLnTx/>
                <a:uFillTx/>
                <a:latin typeface="Verdana" panose="020B0804030504040204"/>
                <a:ea typeface="+mj-ea"/>
                <a:cs typeface="+mj-cs"/>
              </a:rPr>
              <a:t>2</a:t>
            </a:r>
            <a:endParaRPr kumimoji="0" lang="en-US" altLang="zh-CN" sz="3110" i="0" u="none" strike="noStrike" kern="0" cap="none" spc="0" normalizeH="0" baseline="0" noProof="0" dirty="0">
              <a:ln>
                <a:noFill/>
              </a:ln>
              <a:solidFill>
                <a:schemeClr val="tx1"/>
              </a:solidFill>
              <a:effectLst/>
              <a:uLnTx/>
              <a:uFillTx/>
              <a:latin typeface="Verdana" panose="020B0804030504040204"/>
              <a:ea typeface="+mj-ea"/>
              <a:cs typeface="+mj-cs"/>
            </a:endParaRPr>
          </a:p>
        </p:txBody>
      </p:sp>
      <p:sp>
        <p:nvSpPr>
          <p:cNvPr id="36867" name="内容占位符 2"/>
          <p:cNvSpPr>
            <a:spLocks noGrp="1"/>
          </p:cNvSpPr>
          <p:nvPr>
            <p:ph idx="1"/>
          </p:nvPr>
        </p:nvSpPr>
        <p:spPr/>
        <p:txBody>
          <a:bodyPr>
            <a:normAutofit/>
          </a:bodyPr>
          <a:lstStyle/>
          <a:p>
            <a:r>
              <a:rPr lang="en-US" altLang="zh-CN" dirty="0"/>
              <a:t>[</a:t>
            </a:r>
            <a:r>
              <a:rPr lang="zh-CN" altLang="en-US" dirty="0"/>
              <a:t>例</a:t>
            </a:r>
            <a:r>
              <a:rPr lang="en-US" altLang="zh-CN" dirty="0"/>
              <a:t>3.82] </a:t>
            </a:r>
            <a:r>
              <a:rPr lang="zh-CN" altLang="en-US" dirty="0"/>
              <a:t>找出选修</a:t>
            </a:r>
            <a:r>
              <a:rPr lang="en-US" altLang="zh-CN" dirty="0"/>
              <a:t>1</a:t>
            </a:r>
            <a:r>
              <a:rPr lang="zh-CN" altLang="en-US" dirty="0"/>
              <a:t>号课程不及格的学生。</a:t>
            </a:r>
            <a:endParaRPr lang="zh-CN" altLang="en-US" dirty="0"/>
          </a:p>
          <a:p>
            <a:pPr marL="821055" lvl="2" indent="0">
              <a:lnSpc>
                <a:spcPct val="110000"/>
              </a:lnSpc>
              <a:spcBef>
                <a:spcPts val="1000"/>
              </a:spcBef>
              <a:buNone/>
            </a:pPr>
            <a:r>
              <a:rPr lang="en-US" altLang="zh-CN" dirty="0">
                <a:solidFill>
                  <a:srgbClr val="FF0000"/>
                </a:solidFill>
                <a:latin typeface="Arial" panose="020B0604020202090204" pitchFamily="34" charset="0"/>
                <a:cs typeface="Arial" panose="020B0604020202090204" pitchFamily="34" charset="0"/>
              </a:rPr>
              <a:t>SELECT  </a:t>
            </a:r>
            <a:r>
              <a:rPr lang="en-US" altLang="zh-CN" dirty="0" err="1">
                <a:solidFill>
                  <a:srgbClr val="FF0000"/>
                </a:solidFill>
                <a:latin typeface="Arial" panose="020B0604020202090204" pitchFamily="34" charset="0"/>
                <a:cs typeface="Arial" panose="020B0604020202090204" pitchFamily="34" charset="0"/>
              </a:rPr>
              <a:t>Sno</a:t>
            </a:r>
            <a:endParaRPr lang="en-US" altLang="zh-CN" dirty="0">
              <a:solidFill>
                <a:srgbClr val="FF0000"/>
              </a:solidFill>
              <a:latin typeface="Arial" panose="020B0604020202090204" pitchFamily="34" charset="0"/>
              <a:cs typeface="Arial" panose="020B0604020202090204" pitchFamily="34" charset="0"/>
            </a:endParaRPr>
          </a:p>
          <a:p>
            <a:pPr marL="821055" lvl="2" indent="0">
              <a:buNone/>
            </a:pPr>
            <a:r>
              <a:rPr lang="en-US" altLang="zh-CN" dirty="0">
                <a:solidFill>
                  <a:srgbClr val="FF0000"/>
                </a:solidFill>
                <a:latin typeface="Arial" panose="020B0604020202090204" pitchFamily="34" charset="0"/>
                <a:cs typeface="Arial" panose="020B0604020202090204" pitchFamily="34" charset="0"/>
              </a:rPr>
              <a:t>FROM      SC</a:t>
            </a:r>
            <a:endParaRPr lang="en-US" altLang="zh-CN" dirty="0">
              <a:solidFill>
                <a:srgbClr val="FF0000"/>
              </a:solidFill>
              <a:latin typeface="Arial" panose="020B0604020202090204" pitchFamily="34" charset="0"/>
              <a:cs typeface="Arial" panose="020B0604020202090204" pitchFamily="34" charset="0"/>
            </a:endParaRPr>
          </a:p>
          <a:p>
            <a:pPr marL="821055" lvl="2" indent="0">
              <a:buNone/>
            </a:pPr>
            <a:r>
              <a:rPr lang="en-US" altLang="zh-CN" dirty="0">
                <a:solidFill>
                  <a:srgbClr val="FF0000"/>
                </a:solidFill>
                <a:latin typeface="Arial" panose="020B0604020202090204" pitchFamily="34" charset="0"/>
                <a:cs typeface="Arial" panose="020B0604020202090204" pitchFamily="34" charset="0"/>
              </a:rPr>
              <a:t>WHERE   Grade &lt; 60  AND  </a:t>
            </a:r>
            <a:r>
              <a:rPr lang="en-US" altLang="zh-CN" dirty="0" err="1">
                <a:solidFill>
                  <a:srgbClr val="FF0000"/>
                </a:solidFill>
                <a:latin typeface="Arial" panose="020B0604020202090204" pitchFamily="34" charset="0"/>
                <a:cs typeface="Arial" panose="020B0604020202090204" pitchFamily="34" charset="0"/>
              </a:rPr>
              <a:t>Cno </a:t>
            </a:r>
            <a:r>
              <a:rPr lang="en-US" altLang="zh-CN" dirty="0">
                <a:solidFill>
                  <a:srgbClr val="FF0000"/>
                </a:solidFill>
                <a:latin typeface="Arial" panose="020B0604020202090204" pitchFamily="34" charset="0"/>
                <a:cs typeface="Arial" panose="020B0604020202090204" pitchFamily="34" charset="0"/>
              </a:rPr>
              <a:t>= '1' ;</a:t>
            </a:r>
            <a:endParaRPr lang="en-US" altLang="zh-CN" dirty="0">
              <a:solidFill>
                <a:srgbClr val="FF0000"/>
              </a:solidFill>
              <a:latin typeface="Arial" panose="020B0604020202090204" pitchFamily="34" charset="0"/>
              <a:cs typeface="Arial" panose="020B0604020202090204" pitchFamily="34" charset="0"/>
            </a:endParaRPr>
          </a:p>
          <a:p>
            <a:pPr marL="363855" lvl="1" indent="0">
              <a:buNone/>
            </a:pPr>
            <a:endParaRPr lang="en-US" altLang="zh-CN" dirty="0"/>
          </a:p>
          <a:p>
            <a:r>
              <a:rPr lang="en-US" altLang="zh-CN" dirty="0"/>
              <a:t> </a:t>
            </a:r>
            <a:r>
              <a:rPr lang="zh-CN" altLang="en-US" dirty="0"/>
              <a:t>查询结果不包括缺考的学生，因为他们的</a:t>
            </a:r>
            <a:r>
              <a:rPr lang="en-US" altLang="zh-CN" dirty="0"/>
              <a:t>Grade</a:t>
            </a:r>
            <a:r>
              <a:rPr lang="zh-CN" altLang="en-US" dirty="0"/>
              <a:t>值为</a:t>
            </a:r>
            <a:r>
              <a:rPr lang="en-US" altLang="zh-CN" dirty="0"/>
              <a:t>NULL</a:t>
            </a:r>
            <a:r>
              <a:rPr lang="zh-CN" altLang="en-US" dirty="0"/>
              <a:t>。</a:t>
            </a:r>
            <a:endParaRPr lang="en-US" altLang="zh-CN" dirty="0"/>
          </a:p>
        </p:txBody>
      </p:sp>
      <p:sp>
        <p:nvSpPr>
          <p:cNvPr id="2" name="灯片编号占位符 1"/>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ch03_3_SQL数据更新</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6867">
                                            <p:txEl>
                                              <p:pRg st="1" end="1"/>
                                            </p:txEl>
                                          </p:spTgt>
                                        </p:tgtEl>
                                        <p:attrNameLst>
                                          <p:attrName>style.visibility</p:attrName>
                                        </p:attrNameLst>
                                      </p:cBhvr>
                                      <p:to>
                                        <p:strVal val="visible"/>
                                      </p:to>
                                    </p:set>
                                    <p:animEffect transition="in" filter="blinds(horizontal)">
                                      <p:cBhvr>
                                        <p:cTn id="7" dur="500"/>
                                        <p:tgtEl>
                                          <p:spTgt spid="36867">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6867">
                                            <p:txEl>
                                              <p:pRg st="2" end="2"/>
                                            </p:txEl>
                                          </p:spTgt>
                                        </p:tgtEl>
                                        <p:attrNameLst>
                                          <p:attrName>style.visibility</p:attrName>
                                        </p:attrNameLst>
                                      </p:cBhvr>
                                      <p:to>
                                        <p:strVal val="visible"/>
                                      </p:to>
                                    </p:set>
                                    <p:animEffect transition="in" filter="blinds(horizontal)">
                                      <p:cBhvr>
                                        <p:cTn id="10" dur="500"/>
                                        <p:tgtEl>
                                          <p:spTgt spid="36867">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6867">
                                            <p:txEl>
                                              <p:pRg st="3" end="3"/>
                                            </p:txEl>
                                          </p:spTgt>
                                        </p:tgtEl>
                                        <p:attrNameLst>
                                          <p:attrName>style.visibility</p:attrName>
                                        </p:attrNameLst>
                                      </p:cBhvr>
                                      <p:to>
                                        <p:strVal val="visible"/>
                                      </p:to>
                                    </p:set>
                                    <p:animEffect transition="in" filter="blinds(horizontal)">
                                      <p:cBhvr>
                                        <p:cTn id="13" dur="500"/>
                                        <p:tgtEl>
                                          <p:spTgt spid="36867">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6867">
                                            <p:txEl>
                                              <p:pRg st="5" end="5"/>
                                            </p:txEl>
                                          </p:spTgt>
                                        </p:tgtEl>
                                        <p:attrNameLst>
                                          <p:attrName>style.visibility</p:attrName>
                                        </p:attrNameLst>
                                      </p:cBhvr>
                                      <p:to>
                                        <p:strVal val="visible"/>
                                      </p:to>
                                    </p:set>
                                    <p:anim calcmode="lin" valueType="num">
                                      <p:cBhvr additive="base">
                                        <p:cTn id="18" dur="500" fill="hold"/>
                                        <p:tgtEl>
                                          <p:spTgt spid="36867">
                                            <p:txEl>
                                              <p:pRg st="5" end="5"/>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686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空值的算术运算、比较运算和逻辑运算 </a:t>
            </a:r>
            <a:r>
              <a:rPr lang="en-US" altLang="zh-CN" dirty="0"/>
              <a:t>3</a:t>
            </a:r>
            <a:endParaRPr lang="zh-CN" altLang="en-US" dirty="0"/>
          </a:p>
        </p:txBody>
      </p:sp>
      <p:sp>
        <p:nvSpPr>
          <p:cNvPr id="3" name="内容占位符 2"/>
          <p:cNvSpPr>
            <a:spLocks noGrp="1"/>
          </p:cNvSpPr>
          <p:nvPr>
            <p:ph sz="half" idx="1"/>
          </p:nvPr>
        </p:nvSpPr>
        <p:spPr>
          <a:xfrm>
            <a:off x="424815" y="1274445"/>
            <a:ext cx="5579745" cy="5323205"/>
          </a:xfrm>
        </p:spPr>
        <p:txBody>
          <a:bodyPr>
            <a:noAutofit/>
          </a:bodyPr>
          <a:lstStyle/>
          <a:p>
            <a:pPr marL="352425" lvl="0" indent="-457200" fontAlgn="auto">
              <a:lnSpc>
                <a:spcPct val="100000"/>
              </a:lnSpc>
              <a:spcBef>
                <a:spcPct val="0"/>
              </a:spcBef>
            </a:pPr>
            <a:r>
              <a:rPr lang="en-US" altLang="zh-CN" sz="2800" dirty="0">
                <a:solidFill>
                  <a:srgbClr val="C00000"/>
                </a:solidFill>
                <a:latin typeface="Arial" panose="020B0604020202090204" pitchFamily="34" charset="0"/>
                <a:cs typeface="Arial" panose="020B0604020202090204" pitchFamily="34" charset="0"/>
              </a:rPr>
              <a:t>(</a:t>
            </a:r>
            <a:r>
              <a:rPr lang="zh-CN" altLang="en-US" sz="2800" dirty="0">
                <a:solidFill>
                  <a:srgbClr val="C00000"/>
                </a:solidFill>
                <a:latin typeface="Arial" panose="020B0604020202090204" pitchFamily="34" charset="0"/>
                <a:cs typeface="Arial" panose="020B0604020202090204" pitchFamily="34" charset="0"/>
              </a:rPr>
              <a:t>解</a:t>
            </a:r>
            <a:r>
              <a:rPr lang="en-US" altLang="zh-CN" sz="2800" dirty="0">
                <a:solidFill>
                  <a:srgbClr val="C00000"/>
                </a:solidFill>
                <a:latin typeface="Arial" panose="020B0604020202090204" pitchFamily="34" charset="0"/>
                <a:cs typeface="Arial" panose="020B0604020202090204" pitchFamily="34" charset="0"/>
              </a:rPr>
              <a:t>1)</a:t>
            </a:r>
            <a:endParaRPr lang="en-US" altLang="zh-CN" sz="2800" dirty="0">
              <a:solidFill>
                <a:srgbClr val="C00000"/>
              </a:solidFill>
              <a:latin typeface="Arial" panose="020B0604020202090204" pitchFamily="34" charset="0"/>
              <a:cs typeface="Arial" panose="020B0604020202090204" pitchFamily="34" charset="0"/>
            </a:endParaRPr>
          </a:p>
          <a:p>
            <a:pPr marL="352425" lvl="1" indent="0" fontAlgn="auto">
              <a:lnSpc>
                <a:spcPct val="100000"/>
              </a:lnSpc>
              <a:spcBef>
                <a:spcPts val="1000"/>
              </a:spcBef>
              <a:buNone/>
            </a:pPr>
            <a:r>
              <a:rPr lang="en-US" altLang="zh-CN" sz="2400" dirty="0">
                <a:latin typeface="Arial" panose="020B0604020202090204" pitchFamily="34" charset="0"/>
                <a:cs typeface="Arial" panose="020B0604020202090204" pitchFamily="34" charset="0"/>
              </a:rPr>
              <a:t>SELECT  </a:t>
            </a:r>
            <a:r>
              <a:rPr lang="en-US" altLang="zh-CN" sz="2400" dirty="0" err="1">
                <a:latin typeface="Arial" panose="020B0604020202090204" pitchFamily="34" charset="0"/>
                <a:cs typeface="Arial" panose="020B0604020202090204" pitchFamily="34" charset="0"/>
              </a:rPr>
              <a:t>Sno</a:t>
            </a:r>
            <a:endParaRPr lang="en-US" altLang="zh-CN" sz="2400" dirty="0">
              <a:latin typeface="Arial" panose="020B0604020202090204" pitchFamily="34" charset="0"/>
              <a:cs typeface="Arial" panose="020B0604020202090204" pitchFamily="34" charset="0"/>
            </a:endParaRPr>
          </a:p>
          <a:p>
            <a:pPr marL="352425" lvl="1" indent="0" fontAlgn="auto">
              <a:lnSpc>
                <a:spcPct val="100000"/>
              </a:lnSpc>
              <a:spcBef>
                <a:spcPct val="0"/>
              </a:spcBef>
              <a:buNone/>
            </a:pPr>
            <a:r>
              <a:rPr lang="en-US" altLang="zh-CN" sz="2400" dirty="0">
                <a:latin typeface="Arial" panose="020B0604020202090204" pitchFamily="34" charset="0"/>
                <a:cs typeface="Arial" panose="020B0604020202090204" pitchFamily="34" charset="0"/>
              </a:rPr>
              <a:t>FROM     SC</a:t>
            </a:r>
            <a:endParaRPr lang="en-US" altLang="zh-CN" sz="2400" dirty="0">
              <a:latin typeface="Arial" panose="020B0604020202090204" pitchFamily="34" charset="0"/>
              <a:cs typeface="Arial" panose="020B0604020202090204" pitchFamily="34" charset="0"/>
            </a:endParaRPr>
          </a:p>
          <a:p>
            <a:pPr marL="352425" lvl="1" indent="0" fontAlgn="auto">
              <a:lnSpc>
                <a:spcPct val="100000"/>
              </a:lnSpc>
              <a:spcBef>
                <a:spcPct val="0"/>
              </a:spcBef>
              <a:buNone/>
            </a:pPr>
            <a:r>
              <a:rPr lang="en-US" altLang="zh-CN" sz="2400" dirty="0">
                <a:latin typeface="Arial" panose="020B0604020202090204" pitchFamily="34" charset="0"/>
                <a:cs typeface="Arial" panose="020B0604020202090204" pitchFamily="34" charset="0"/>
              </a:rPr>
              <a:t>WHERE  Grade &lt; 60  AND </a:t>
            </a:r>
            <a:endParaRPr lang="en-US" altLang="zh-CN" sz="2400" dirty="0">
              <a:latin typeface="Arial" panose="020B0604020202090204" pitchFamily="34" charset="0"/>
              <a:cs typeface="Arial" panose="020B0604020202090204" pitchFamily="34" charset="0"/>
            </a:endParaRPr>
          </a:p>
          <a:p>
            <a:pPr marL="352425" lvl="1" indent="1339850" fontAlgn="auto">
              <a:lnSpc>
                <a:spcPct val="100000"/>
              </a:lnSpc>
              <a:spcBef>
                <a:spcPct val="0"/>
              </a:spcBef>
              <a:buNone/>
            </a:pPr>
            <a:r>
              <a:rPr lang="en-US" altLang="zh-CN" sz="2400" dirty="0" err="1">
                <a:latin typeface="Arial" panose="020B0604020202090204" pitchFamily="34" charset="0"/>
                <a:cs typeface="Arial" panose="020B0604020202090204" pitchFamily="34" charset="0"/>
              </a:rPr>
              <a:t>Cno </a:t>
            </a:r>
            <a:r>
              <a:rPr lang="en-US" altLang="zh-CN" sz="2400" dirty="0">
                <a:latin typeface="Arial" panose="020B0604020202090204" pitchFamily="34" charset="0"/>
                <a:cs typeface="Arial" panose="020B0604020202090204" pitchFamily="34" charset="0"/>
              </a:rPr>
              <a:t>= '1'</a:t>
            </a:r>
            <a:endParaRPr lang="en-US" altLang="zh-CN" sz="2400" dirty="0">
              <a:latin typeface="Arial" panose="020B0604020202090204" pitchFamily="34" charset="0"/>
              <a:cs typeface="Arial" panose="020B0604020202090204" pitchFamily="34" charset="0"/>
            </a:endParaRPr>
          </a:p>
          <a:p>
            <a:pPr marL="809625" lvl="2" indent="0" fontAlgn="auto">
              <a:lnSpc>
                <a:spcPct val="100000"/>
              </a:lnSpc>
              <a:spcBef>
                <a:spcPts val="1000"/>
              </a:spcBef>
              <a:spcAft>
                <a:spcPts val="1000"/>
              </a:spcAft>
              <a:buNone/>
            </a:pPr>
            <a:r>
              <a:rPr lang="en-US" altLang="zh-CN" sz="2400" dirty="0">
                <a:solidFill>
                  <a:srgbClr val="C00000"/>
                </a:solidFill>
                <a:latin typeface="Arial" panose="020B0604020202090204" pitchFamily="34" charset="0"/>
                <a:cs typeface="Arial" panose="020B0604020202090204" pitchFamily="34" charset="0"/>
              </a:rPr>
              <a:t>UNION</a:t>
            </a:r>
            <a:endParaRPr lang="en-US" altLang="zh-CN" sz="2400" dirty="0">
              <a:solidFill>
                <a:srgbClr val="C00000"/>
              </a:solidFill>
              <a:latin typeface="Arial" panose="020B0604020202090204" pitchFamily="34" charset="0"/>
              <a:cs typeface="Arial" panose="020B0604020202090204" pitchFamily="34" charset="0"/>
            </a:endParaRPr>
          </a:p>
          <a:p>
            <a:pPr marL="352425" lvl="1" indent="0" fontAlgn="auto">
              <a:lnSpc>
                <a:spcPct val="100000"/>
              </a:lnSpc>
              <a:spcBef>
                <a:spcPct val="0"/>
              </a:spcBef>
              <a:buNone/>
            </a:pPr>
            <a:r>
              <a:rPr lang="en-US" altLang="zh-CN" sz="2400" dirty="0">
                <a:latin typeface="Arial" panose="020B0604020202090204" pitchFamily="34" charset="0"/>
                <a:cs typeface="Arial" panose="020B0604020202090204" pitchFamily="34" charset="0"/>
              </a:rPr>
              <a:t>SELECT  </a:t>
            </a:r>
            <a:r>
              <a:rPr lang="en-US" altLang="zh-CN" sz="2400" dirty="0" err="1">
                <a:latin typeface="Arial" panose="020B0604020202090204" pitchFamily="34" charset="0"/>
                <a:cs typeface="Arial" panose="020B0604020202090204" pitchFamily="34" charset="0"/>
              </a:rPr>
              <a:t>Sno</a:t>
            </a:r>
            <a:endParaRPr lang="en-US" altLang="zh-CN" sz="2400" dirty="0">
              <a:latin typeface="Arial" panose="020B0604020202090204" pitchFamily="34" charset="0"/>
              <a:cs typeface="Arial" panose="020B0604020202090204" pitchFamily="34" charset="0"/>
            </a:endParaRPr>
          </a:p>
          <a:p>
            <a:pPr marL="352425" lvl="1" indent="0" fontAlgn="auto">
              <a:lnSpc>
                <a:spcPct val="100000"/>
              </a:lnSpc>
              <a:spcBef>
                <a:spcPct val="0"/>
              </a:spcBef>
              <a:buNone/>
            </a:pPr>
            <a:r>
              <a:rPr lang="en-US" altLang="zh-CN" sz="2400" dirty="0">
                <a:latin typeface="Arial" panose="020B0604020202090204" pitchFamily="34" charset="0"/>
                <a:cs typeface="Arial" panose="020B0604020202090204" pitchFamily="34" charset="0"/>
              </a:rPr>
              <a:t>FROM     SC</a:t>
            </a:r>
            <a:endParaRPr lang="en-US" altLang="zh-CN" sz="2400" dirty="0">
              <a:latin typeface="Arial" panose="020B0604020202090204" pitchFamily="34" charset="0"/>
              <a:cs typeface="Arial" panose="020B0604020202090204" pitchFamily="34" charset="0"/>
            </a:endParaRPr>
          </a:p>
          <a:p>
            <a:pPr marL="352425" lvl="1" indent="0" fontAlgn="auto">
              <a:lnSpc>
                <a:spcPct val="100000"/>
              </a:lnSpc>
              <a:spcBef>
                <a:spcPct val="0"/>
              </a:spcBef>
              <a:buNone/>
            </a:pPr>
            <a:r>
              <a:rPr lang="en-US" altLang="zh-CN" sz="2400" dirty="0">
                <a:latin typeface="Arial" panose="020B0604020202090204" pitchFamily="34" charset="0"/>
                <a:cs typeface="Arial" panose="020B0604020202090204" pitchFamily="34" charset="0"/>
              </a:rPr>
              <a:t>WHERE  Grade IS NULL  AND </a:t>
            </a:r>
            <a:endParaRPr lang="en-US" altLang="zh-CN" sz="2400" dirty="0">
              <a:latin typeface="Arial" panose="020B0604020202090204" pitchFamily="34" charset="0"/>
              <a:cs typeface="Arial" panose="020B0604020202090204" pitchFamily="34" charset="0"/>
            </a:endParaRPr>
          </a:p>
          <a:p>
            <a:pPr marL="352425" lvl="1" indent="1339850" fontAlgn="auto">
              <a:lnSpc>
                <a:spcPct val="100000"/>
              </a:lnSpc>
              <a:spcBef>
                <a:spcPct val="0"/>
              </a:spcBef>
              <a:buNone/>
            </a:pPr>
            <a:r>
              <a:rPr lang="en-US" altLang="zh-CN" sz="2400" dirty="0" err="1">
                <a:latin typeface="Arial" panose="020B0604020202090204" pitchFamily="34" charset="0"/>
                <a:cs typeface="Arial" panose="020B0604020202090204" pitchFamily="34" charset="0"/>
              </a:rPr>
              <a:t>Cno </a:t>
            </a:r>
            <a:r>
              <a:rPr lang="en-US" altLang="zh-CN" sz="2400" dirty="0">
                <a:latin typeface="Arial" panose="020B0604020202090204" pitchFamily="34" charset="0"/>
                <a:cs typeface="Arial" panose="020B0604020202090204" pitchFamily="34" charset="0"/>
              </a:rPr>
              <a:t>= '1';</a:t>
            </a:r>
            <a:endParaRPr lang="en-US" altLang="zh-CN" sz="2400" dirty="0">
              <a:latin typeface="Arial" panose="020B0604020202090204" pitchFamily="34" charset="0"/>
              <a:cs typeface="Arial" panose="020B0604020202090204" pitchFamily="34" charset="0"/>
            </a:endParaRPr>
          </a:p>
          <a:p>
            <a:pPr marL="457200" indent="-457200">
              <a:lnSpc>
                <a:spcPct val="100000"/>
              </a:lnSpc>
              <a:spcBef>
                <a:spcPct val="0"/>
              </a:spcBef>
            </a:pPr>
            <a:endParaRPr lang="zh-CN" altLang="en-US" sz="2400" dirty="0">
              <a:latin typeface="Arial" panose="020B0604020202090204" pitchFamily="34" charset="0"/>
              <a:cs typeface="Arial" panose="020B0604020202090204" pitchFamily="34" charset="0"/>
            </a:endParaRPr>
          </a:p>
        </p:txBody>
      </p:sp>
      <p:sp>
        <p:nvSpPr>
          <p:cNvPr id="7" name="内容占位符 6"/>
          <p:cNvSpPr>
            <a:spLocks noGrp="1"/>
          </p:cNvSpPr>
          <p:nvPr>
            <p:ph sz="half" idx="2"/>
          </p:nvPr>
        </p:nvSpPr>
        <p:spPr>
          <a:xfrm>
            <a:off x="6172200" y="1274445"/>
            <a:ext cx="5588635" cy="2496820"/>
          </a:xfrm>
        </p:spPr>
        <p:txBody>
          <a:bodyPr>
            <a:noAutofit/>
          </a:bodyPr>
          <a:p>
            <a:pPr marL="457200" indent="-457200" fontAlgn="auto">
              <a:lnSpc>
                <a:spcPct val="100000"/>
              </a:lnSpc>
              <a:spcBef>
                <a:spcPct val="0"/>
              </a:spcBef>
            </a:pPr>
            <a:r>
              <a:rPr lang="en-US" altLang="zh-CN" sz="2800" dirty="0">
                <a:solidFill>
                  <a:srgbClr val="C00000"/>
                </a:solidFill>
                <a:latin typeface="Arial" panose="020B0604020202090204" pitchFamily="34" charset="0"/>
                <a:cs typeface="Arial" panose="020B0604020202090204" pitchFamily="34" charset="0"/>
                <a:sym typeface="+mn-ea"/>
              </a:rPr>
              <a:t>(</a:t>
            </a:r>
            <a:r>
              <a:rPr lang="zh-CN" altLang="en-US" sz="2800" dirty="0">
                <a:solidFill>
                  <a:srgbClr val="C00000"/>
                </a:solidFill>
                <a:latin typeface="Arial" panose="020B0604020202090204" pitchFamily="34" charset="0"/>
                <a:cs typeface="Arial" panose="020B0604020202090204" pitchFamily="34" charset="0"/>
                <a:sym typeface="+mn-ea"/>
              </a:rPr>
              <a:t>解</a:t>
            </a:r>
            <a:r>
              <a:rPr lang="en-US" altLang="zh-CN" sz="2800" dirty="0">
                <a:solidFill>
                  <a:srgbClr val="C00000"/>
                </a:solidFill>
                <a:latin typeface="Arial" panose="020B0604020202090204" pitchFamily="34" charset="0"/>
                <a:cs typeface="Arial" panose="020B0604020202090204" pitchFamily="34" charset="0"/>
                <a:sym typeface="+mn-ea"/>
              </a:rPr>
              <a:t>2</a:t>
            </a:r>
            <a:r>
              <a:rPr lang="en-US" altLang="zh-CN" sz="2800" dirty="0">
                <a:solidFill>
                  <a:srgbClr val="C00000"/>
                </a:solidFill>
                <a:latin typeface="Arial" panose="020B0604020202090204" pitchFamily="34" charset="0"/>
                <a:cs typeface="Arial" panose="020B0604020202090204" pitchFamily="34" charset="0"/>
                <a:sym typeface="+mn-ea"/>
              </a:rPr>
              <a:t>) </a:t>
            </a:r>
            <a:r>
              <a:rPr lang="zh-CN" altLang="en-US" sz="2800" dirty="0">
                <a:sym typeface="+mn-ea"/>
              </a:rPr>
              <a:t>或者</a:t>
            </a:r>
            <a:endParaRPr lang="zh-CN" altLang="en-US" sz="2800" dirty="0"/>
          </a:p>
          <a:p>
            <a:pPr marL="352425" lvl="1" indent="0" fontAlgn="auto">
              <a:lnSpc>
                <a:spcPct val="100000"/>
              </a:lnSpc>
              <a:spcBef>
                <a:spcPts val="1000"/>
              </a:spcBef>
              <a:buNone/>
            </a:pPr>
            <a:r>
              <a:rPr lang="en-US" altLang="zh-CN" sz="2400" dirty="0">
                <a:latin typeface="Arial" panose="020B0604020202090204" pitchFamily="34" charset="0"/>
                <a:cs typeface="Arial" panose="020B0604020202090204" pitchFamily="34" charset="0"/>
                <a:sym typeface="+mn-ea"/>
              </a:rPr>
              <a:t>SELECT  </a:t>
            </a:r>
            <a:r>
              <a:rPr lang="en-US" altLang="zh-CN" sz="2400" dirty="0" err="1">
                <a:latin typeface="Arial" panose="020B0604020202090204" pitchFamily="34" charset="0"/>
                <a:cs typeface="Arial" panose="020B0604020202090204" pitchFamily="34" charset="0"/>
                <a:sym typeface="+mn-ea"/>
              </a:rPr>
              <a:t>Sno</a:t>
            </a:r>
            <a:endParaRPr lang="en-US" altLang="zh-CN" sz="2400" dirty="0">
              <a:latin typeface="Arial" panose="020B0604020202090204" pitchFamily="34" charset="0"/>
              <a:cs typeface="Arial" panose="020B0604020202090204" pitchFamily="34" charset="0"/>
            </a:endParaRPr>
          </a:p>
          <a:p>
            <a:pPr marL="352425" lvl="1" indent="0" fontAlgn="auto">
              <a:lnSpc>
                <a:spcPct val="100000"/>
              </a:lnSpc>
              <a:spcBef>
                <a:spcPct val="0"/>
              </a:spcBef>
              <a:buNone/>
            </a:pPr>
            <a:r>
              <a:rPr lang="en-US" altLang="zh-CN" sz="2400" dirty="0">
                <a:latin typeface="Arial" panose="020B0604020202090204" pitchFamily="34" charset="0"/>
                <a:cs typeface="Arial" panose="020B0604020202090204" pitchFamily="34" charset="0"/>
                <a:sym typeface="+mn-ea"/>
              </a:rPr>
              <a:t>FROM     SC</a:t>
            </a:r>
            <a:endParaRPr lang="en-US" altLang="zh-CN" sz="2400" dirty="0">
              <a:latin typeface="Arial" panose="020B0604020202090204" pitchFamily="34" charset="0"/>
              <a:cs typeface="Arial" panose="020B0604020202090204" pitchFamily="34" charset="0"/>
            </a:endParaRPr>
          </a:p>
          <a:p>
            <a:pPr marL="352425" lvl="1" indent="0" fontAlgn="auto">
              <a:lnSpc>
                <a:spcPct val="100000"/>
              </a:lnSpc>
              <a:spcBef>
                <a:spcPct val="0"/>
              </a:spcBef>
              <a:buNone/>
            </a:pPr>
            <a:r>
              <a:rPr lang="en-US" altLang="zh-CN" sz="2400" dirty="0">
                <a:latin typeface="Arial" panose="020B0604020202090204" pitchFamily="34" charset="0"/>
                <a:cs typeface="Arial" panose="020B0604020202090204" pitchFamily="34" charset="0"/>
                <a:sym typeface="+mn-ea"/>
              </a:rPr>
              <a:t>WHERE  </a:t>
            </a:r>
            <a:r>
              <a:rPr lang="en-US" altLang="zh-CN" sz="2400" dirty="0" err="1">
                <a:latin typeface="Arial" panose="020B0604020202090204" pitchFamily="34" charset="0"/>
                <a:cs typeface="Arial" panose="020B0604020202090204" pitchFamily="34" charset="0"/>
                <a:sym typeface="+mn-ea"/>
              </a:rPr>
              <a:t>Cno </a:t>
            </a:r>
            <a:r>
              <a:rPr lang="en-US" altLang="zh-CN" sz="2400" dirty="0">
                <a:latin typeface="Arial" panose="020B0604020202090204" pitchFamily="34" charset="0"/>
                <a:cs typeface="Arial" panose="020B0604020202090204" pitchFamily="34" charset="0"/>
                <a:sym typeface="+mn-ea"/>
              </a:rPr>
              <a:t>= '1'  AND  </a:t>
            </a:r>
            <a:endParaRPr lang="en-US" altLang="zh-CN" sz="2400" dirty="0">
              <a:latin typeface="Arial" panose="020B0604020202090204" pitchFamily="34" charset="0"/>
              <a:cs typeface="Arial" panose="020B0604020202090204" pitchFamily="34" charset="0"/>
              <a:sym typeface="+mn-ea"/>
            </a:endParaRPr>
          </a:p>
          <a:p>
            <a:pPr marL="352425" lvl="1" indent="657860" fontAlgn="auto">
              <a:lnSpc>
                <a:spcPct val="100000"/>
              </a:lnSpc>
              <a:spcBef>
                <a:spcPct val="0"/>
              </a:spcBef>
              <a:buNone/>
            </a:pPr>
            <a:r>
              <a:rPr lang="zh-CN" altLang="en-US" sz="2400" dirty="0">
                <a:latin typeface="Arial" panose="020B0604020202090204" pitchFamily="34" charset="0"/>
                <a:cs typeface="Arial" panose="020B0604020202090204" pitchFamily="34" charset="0"/>
                <a:sym typeface="+mn-ea"/>
              </a:rPr>
              <a:t>(</a:t>
            </a:r>
            <a:r>
              <a:rPr lang="en-US" altLang="zh-CN" sz="2400" dirty="0">
                <a:latin typeface="Arial" panose="020B0604020202090204" pitchFamily="34" charset="0"/>
                <a:cs typeface="Arial" panose="020B0604020202090204" pitchFamily="34" charset="0"/>
                <a:sym typeface="+mn-ea"/>
              </a:rPr>
              <a:t> </a:t>
            </a:r>
            <a:r>
              <a:rPr lang="en-US" altLang="zh-CN" sz="2400" dirty="0">
                <a:solidFill>
                  <a:srgbClr val="FF0000"/>
                </a:solidFill>
                <a:latin typeface="Arial" panose="020B0604020202090204" pitchFamily="34" charset="0"/>
                <a:cs typeface="Arial" panose="020B0604020202090204" pitchFamily="34" charset="0"/>
                <a:sym typeface="+mn-ea"/>
              </a:rPr>
              <a:t>Grade &lt; 60  OR  </a:t>
            </a:r>
            <a:endParaRPr lang="en-US" altLang="zh-CN" sz="2400" dirty="0">
              <a:solidFill>
                <a:srgbClr val="FF0000"/>
              </a:solidFill>
              <a:latin typeface="Arial" panose="020B0604020202090204" pitchFamily="34" charset="0"/>
              <a:cs typeface="Arial" panose="020B0604020202090204" pitchFamily="34" charset="0"/>
              <a:sym typeface="+mn-ea"/>
            </a:endParaRPr>
          </a:p>
          <a:p>
            <a:pPr marL="352425" lvl="1" indent="1348105" fontAlgn="auto">
              <a:lnSpc>
                <a:spcPct val="100000"/>
              </a:lnSpc>
              <a:spcBef>
                <a:spcPct val="0"/>
              </a:spcBef>
              <a:buNone/>
            </a:pPr>
            <a:r>
              <a:rPr lang="en-US" altLang="zh-CN" sz="2400" dirty="0">
                <a:solidFill>
                  <a:srgbClr val="FF0000"/>
                </a:solidFill>
                <a:latin typeface="Arial" panose="020B0604020202090204" pitchFamily="34" charset="0"/>
                <a:cs typeface="Arial" panose="020B0604020202090204" pitchFamily="34" charset="0"/>
                <a:sym typeface="+mn-ea"/>
              </a:rPr>
              <a:t>  Grade IS NULL </a:t>
            </a:r>
            <a:r>
              <a:rPr lang="zh-CN" altLang="en-US" sz="2400" dirty="0">
                <a:latin typeface="Arial" panose="020B0604020202090204" pitchFamily="34" charset="0"/>
                <a:cs typeface="Arial" panose="020B0604020202090204" pitchFamily="34" charset="0"/>
                <a:sym typeface="+mn-ea"/>
              </a:rPr>
              <a:t>)</a:t>
            </a:r>
            <a:r>
              <a:rPr lang="en-US" altLang="zh-CN" sz="2400" dirty="0">
                <a:latin typeface="Arial" panose="020B0604020202090204" pitchFamily="34" charset="0"/>
                <a:cs typeface="Arial" panose="020B0604020202090204" pitchFamily="34" charset="0"/>
                <a:sym typeface="+mn-ea"/>
              </a:rPr>
              <a:t>;</a:t>
            </a:r>
            <a:endParaRPr lang="zh-CN" altLang="en-US" sz="2400"/>
          </a:p>
        </p:txBody>
      </p:sp>
      <p:sp>
        <p:nvSpPr>
          <p:cNvPr id="4" name="灯片编号占位符 3"/>
          <p:cNvSpPr>
            <a:spLocks noGrp="1"/>
          </p:cNvSpPr>
          <p:nvPr>
            <p:ph type="sldNum" sz="quarter" idx="12"/>
          </p:nvPr>
        </p:nvSpPr>
        <p:spPr>
          <a:xfrm>
            <a:off x="11461115" y="6696000"/>
            <a:ext cx="730885" cy="153670"/>
          </a:xfrm>
        </p:spPr>
        <p:txBody>
          <a:bodyPr/>
          <a:lstStyle/>
          <a:p>
            <a:pPr>
              <a:defRPr/>
            </a:pPr>
            <a:fld id="{759762E9-AABD-478B-B116-8B8B54DC7F1E}" type="slidenum">
              <a:rPr lang="en-US" altLang="zh-CN" smtClean="0"/>
            </a:fld>
            <a:endParaRPr lang="en-US" altLang="zh-CN" dirty="0"/>
          </a:p>
        </p:txBody>
      </p:sp>
      <p:sp>
        <p:nvSpPr>
          <p:cNvPr id="8" name="文本框 7"/>
          <p:cNvSpPr txBox="1"/>
          <p:nvPr/>
        </p:nvSpPr>
        <p:spPr>
          <a:xfrm>
            <a:off x="424180" y="673735"/>
            <a:ext cx="11337290" cy="521970"/>
          </a:xfrm>
          <a:prstGeom prst="rect">
            <a:avLst/>
          </a:prstGeom>
          <a:solidFill>
            <a:schemeClr val="accent3">
              <a:lumMod val="20000"/>
              <a:lumOff val="80000"/>
            </a:schemeClr>
          </a:solidFill>
        </p:spPr>
        <p:txBody>
          <a:bodyPr wrap="square" rtlCol="0">
            <a:spAutoFit/>
          </a:bodyPr>
          <a:p>
            <a:pPr marL="285750" indent="-285750">
              <a:buClr>
                <a:srgbClr val="C00000"/>
              </a:buClr>
              <a:buSzPct val="85000"/>
              <a:buFont typeface="Wingdings" panose="05000000000000000000" charset="0"/>
              <a:buChar char="q"/>
            </a:pPr>
            <a:r>
              <a:rPr lang="en-US" altLang="zh-CN" sz="2800" b="1" dirty="0">
                <a:solidFill>
                  <a:srgbClr val="0000C8"/>
                </a:solidFill>
                <a:latin typeface="Arial" panose="020B0604020202090204" pitchFamily="34" charset="0"/>
                <a:ea typeface="楷体" charset="-122"/>
                <a:cs typeface="Arial" panose="020B0604020202090204" pitchFamily="34" charset="0"/>
                <a:sym typeface="+mn-ea"/>
              </a:rPr>
              <a:t>[</a:t>
            </a:r>
            <a:r>
              <a:rPr lang="zh-CN" altLang="en-US" sz="2800" b="1" dirty="0">
                <a:solidFill>
                  <a:srgbClr val="0000C8"/>
                </a:solidFill>
                <a:latin typeface="Arial" panose="020B0604020202090204" pitchFamily="34" charset="0"/>
                <a:ea typeface="楷体" charset="-122"/>
                <a:cs typeface="Arial" panose="020B0604020202090204" pitchFamily="34" charset="0"/>
                <a:sym typeface="+mn-ea"/>
              </a:rPr>
              <a:t>例</a:t>
            </a:r>
            <a:r>
              <a:rPr lang="en-US" altLang="zh-CN" sz="2800" b="1" dirty="0">
                <a:solidFill>
                  <a:srgbClr val="0000C8"/>
                </a:solidFill>
                <a:latin typeface="Arial" panose="020B0604020202090204" pitchFamily="34" charset="0"/>
                <a:ea typeface="楷体" charset="-122"/>
                <a:cs typeface="Arial" panose="020B0604020202090204" pitchFamily="34" charset="0"/>
                <a:sym typeface="+mn-ea"/>
              </a:rPr>
              <a:t>3.83] </a:t>
            </a:r>
            <a:r>
              <a:rPr lang="zh-CN" altLang="en-US" sz="2800" b="1" dirty="0">
                <a:solidFill>
                  <a:srgbClr val="0000C8"/>
                </a:solidFill>
                <a:latin typeface="Arial" panose="020B0604020202090204" pitchFamily="34" charset="0"/>
                <a:ea typeface="楷体" charset="-122"/>
                <a:cs typeface="Arial" panose="020B0604020202090204" pitchFamily="34" charset="0"/>
                <a:sym typeface="+mn-ea"/>
              </a:rPr>
              <a:t>选出选修</a:t>
            </a:r>
            <a:r>
              <a:rPr lang="en-US" altLang="zh-CN" sz="2800" b="1" dirty="0">
                <a:solidFill>
                  <a:srgbClr val="0000C8"/>
                </a:solidFill>
                <a:latin typeface="Arial" panose="020B0604020202090204" pitchFamily="34" charset="0"/>
                <a:ea typeface="楷体" charset="-122"/>
                <a:cs typeface="Arial" panose="020B0604020202090204" pitchFamily="34" charset="0"/>
                <a:sym typeface="+mn-ea"/>
              </a:rPr>
              <a:t>1</a:t>
            </a:r>
            <a:r>
              <a:rPr lang="zh-CN" altLang="en-US" sz="2800" b="1" dirty="0">
                <a:solidFill>
                  <a:srgbClr val="0000C8"/>
                </a:solidFill>
                <a:latin typeface="Arial" panose="020B0604020202090204" pitchFamily="34" charset="0"/>
                <a:ea typeface="楷体" charset="-122"/>
                <a:cs typeface="Arial" panose="020B0604020202090204" pitchFamily="34" charset="0"/>
                <a:sym typeface="+mn-ea"/>
              </a:rPr>
              <a:t>号课程的不及格的学生以及缺考的学生。</a:t>
            </a:r>
            <a:endParaRPr lang="zh-CN" altLang="en-US" sz="2800" b="1" dirty="0">
              <a:solidFill>
                <a:srgbClr val="0000C8"/>
              </a:solidFill>
              <a:latin typeface="Arial" panose="020B0604020202090204" pitchFamily="34" charset="0"/>
              <a:ea typeface="楷体" charset="-122"/>
              <a:cs typeface="Arial" panose="020B0604020202090204" pitchFamily="34" charset="0"/>
              <a:sym typeface="+mn-ea"/>
            </a:endParaRPr>
          </a:p>
        </p:txBody>
      </p:sp>
      <p:sp>
        <p:nvSpPr>
          <p:cNvPr id="6" name="页脚占位符 5"/>
          <p:cNvSpPr>
            <a:spLocks noGrp="1"/>
          </p:cNvSpPr>
          <p:nvPr>
            <p:ph type="ftr" sz="quarter" idx="11"/>
          </p:nvPr>
        </p:nvSpPr>
        <p:spPr/>
        <p:txBody>
          <a:bodyPr/>
          <a:p>
            <a:r>
              <a:rPr lang="zh-CN" altLang="en-US"/>
              <a:t>ch03_3_SQL数据更新</a:t>
            </a:r>
            <a:endParaRPr lang="zh-CN" altLang="en-US"/>
          </a:p>
        </p:txBody>
      </p:sp>
      <p:sp>
        <p:nvSpPr>
          <p:cNvPr id="5" name="内容占位符 6"/>
          <p:cNvSpPr>
            <a:spLocks noGrp="1"/>
          </p:cNvSpPr>
          <p:nvPr/>
        </p:nvSpPr>
        <p:spPr>
          <a:xfrm>
            <a:off x="6172835" y="3952875"/>
            <a:ext cx="5588635" cy="2644775"/>
          </a:xfrm>
          <a:prstGeom prst="rect">
            <a:avLst/>
          </a:prstGeom>
          <a:solidFill>
            <a:schemeClr val="accent3">
              <a:lumMod val="20000"/>
              <a:lumOff val="80000"/>
              <a:alpha val="50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charset="-122"/>
                <a:ea typeface="楷体"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charset="-122"/>
                <a:ea typeface="楷体"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charset="-122"/>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sz="2800"/>
              <a:t>[</a:t>
            </a:r>
            <a:r>
              <a:rPr lang="zh-CN" altLang="en-US" sz="2800"/>
              <a:t>思考</a:t>
            </a:r>
            <a:r>
              <a:rPr lang="en-US" altLang="zh-CN" sz="2800"/>
              <a:t>]</a:t>
            </a:r>
            <a:r>
              <a:rPr lang="zh-CN" altLang="en-US" sz="2800"/>
              <a:t>能否用下述语句来实现查询</a:t>
            </a:r>
            <a:r>
              <a:rPr lang="en-US" altLang="zh-CN" sz="2800"/>
              <a:t>3.83</a:t>
            </a:r>
            <a:r>
              <a:rPr lang="zh-CN" altLang="en-US" sz="2800"/>
              <a:t>？</a:t>
            </a:r>
            <a:endParaRPr lang="zh-CN" altLang="en-US" sz="2800"/>
          </a:p>
          <a:p>
            <a:pPr marL="352425" lvl="1" indent="0" fontAlgn="auto">
              <a:lnSpc>
                <a:spcPct val="100000"/>
              </a:lnSpc>
              <a:spcBef>
                <a:spcPts val="1000"/>
              </a:spcBef>
              <a:buNone/>
            </a:pPr>
            <a:r>
              <a:rPr lang="en-US" altLang="zh-CN" sz="2400" dirty="0">
                <a:latin typeface="Arial" panose="020B0604020202090204" pitchFamily="34" charset="0"/>
                <a:cs typeface="Arial" panose="020B0604020202090204" pitchFamily="34" charset="0"/>
                <a:sym typeface="+mn-ea"/>
              </a:rPr>
              <a:t>SELECT  </a:t>
            </a:r>
            <a:r>
              <a:rPr lang="en-US" altLang="zh-CN" sz="2400" dirty="0" err="1">
                <a:latin typeface="Arial" panose="020B0604020202090204" pitchFamily="34" charset="0"/>
                <a:cs typeface="Arial" panose="020B0604020202090204" pitchFamily="34" charset="0"/>
                <a:sym typeface="+mn-ea"/>
              </a:rPr>
              <a:t>Sno</a:t>
            </a:r>
            <a:endParaRPr lang="en-US" altLang="zh-CN" sz="2400" dirty="0">
              <a:latin typeface="Arial" panose="020B0604020202090204" pitchFamily="34" charset="0"/>
              <a:cs typeface="Arial" panose="020B0604020202090204" pitchFamily="34" charset="0"/>
            </a:endParaRPr>
          </a:p>
          <a:p>
            <a:pPr marL="352425" lvl="1" indent="0" fontAlgn="auto">
              <a:lnSpc>
                <a:spcPct val="100000"/>
              </a:lnSpc>
              <a:spcBef>
                <a:spcPct val="0"/>
              </a:spcBef>
              <a:buNone/>
            </a:pPr>
            <a:r>
              <a:rPr lang="en-US" altLang="zh-CN" sz="2400" dirty="0">
                <a:latin typeface="Arial" panose="020B0604020202090204" pitchFamily="34" charset="0"/>
                <a:cs typeface="Arial" panose="020B0604020202090204" pitchFamily="34" charset="0"/>
                <a:sym typeface="+mn-ea"/>
              </a:rPr>
              <a:t>FROM     SC</a:t>
            </a:r>
            <a:endParaRPr lang="en-US" altLang="zh-CN" sz="2400" dirty="0">
              <a:latin typeface="Arial" panose="020B0604020202090204" pitchFamily="34" charset="0"/>
              <a:cs typeface="Arial" panose="020B0604020202090204" pitchFamily="34" charset="0"/>
            </a:endParaRPr>
          </a:p>
          <a:p>
            <a:pPr marL="352425" lvl="1" indent="0" fontAlgn="auto">
              <a:lnSpc>
                <a:spcPct val="100000"/>
              </a:lnSpc>
              <a:spcBef>
                <a:spcPct val="0"/>
              </a:spcBef>
              <a:buNone/>
            </a:pPr>
            <a:r>
              <a:rPr lang="en-US" altLang="zh-CN" sz="2400" dirty="0">
                <a:latin typeface="Arial" panose="020B0604020202090204" pitchFamily="34" charset="0"/>
                <a:cs typeface="Arial" panose="020B0604020202090204" pitchFamily="34" charset="0"/>
                <a:sym typeface="+mn-ea"/>
              </a:rPr>
              <a:t>WHERE  </a:t>
            </a:r>
            <a:r>
              <a:rPr lang="en-US" altLang="zh-CN" sz="2400" dirty="0" err="1">
                <a:latin typeface="Arial" panose="020B0604020202090204" pitchFamily="34" charset="0"/>
                <a:cs typeface="Arial" panose="020B0604020202090204" pitchFamily="34" charset="0"/>
                <a:sym typeface="+mn-ea"/>
              </a:rPr>
              <a:t>Cno </a:t>
            </a:r>
            <a:r>
              <a:rPr lang="en-US" altLang="zh-CN" sz="2400" dirty="0">
                <a:latin typeface="Arial" panose="020B0604020202090204" pitchFamily="34" charset="0"/>
                <a:cs typeface="Arial" panose="020B0604020202090204" pitchFamily="34" charset="0"/>
                <a:sym typeface="+mn-ea"/>
              </a:rPr>
              <a:t>= '1'  AND  </a:t>
            </a:r>
            <a:endParaRPr lang="en-US" altLang="zh-CN" sz="2400" dirty="0">
              <a:latin typeface="Arial" panose="020B0604020202090204" pitchFamily="34" charset="0"/>
              <a:cs typeface="Arial" panose="020B0604020202090204" pitchFamily="34" charset="0"/>
              <a:sym typeface="+mn-ea"/>
            </a:endParaRPr>
          </a:p>
          <a:p>
            <a:pPr marL="352425" lvl="1" indent="657860" fontAlgn="auto">
              <a:lnSpc>
                <a:spcPct val="100000"/>
              </a:lnSpc>
              <a:spcBef>
                <a:spcPct val="0"/>
              </a:spcBef>
              <a:buNone/>
            </a:pPr>
            <a:r>
              <a:rPr lang="en-US" altLang="zh-CN" sz="2400" dirty="0">
                <a:solidFill>
                  <a:srgbClr val="FF0000"/>
                </a:solidFill>
                <a:latin typeface="Arial" panose="020B0604020202090204" pitchFamily="34" charset="0"/>
                <a:cs typeface="Arial" panose="020B0604020202090204" pitchFamily="34" charset="0"/>
                <a:sym typeface="+mn-ea"/>
              </a:rPr>
              <a:t>NOT </a:t>
            </a:r>
            <a:r>
              <a:rPr lang="zh-CN" altLang="en-US" sz="2400" dirty="0">
                <a:solidFill>
                  <a:srgbClr val="FF0000"/>
                </a:solidFill>
                <a:latin typeface="Arial" panose="020B0604020202090204" pitchFamily="34" charset="0"/>
                <a:cs typeface="Arial" panose="020B0604020202090204" pitchFamily="34" charset="0"/>
                <a:sym typeface="+mn-ea"/>
              </a:rPr>
              <a:t>(</a:t>
            </a:r>
            <a:r>
              <a:rPr lang="en-US" altLang="zh-CN" sz="2400" dirty="0">
                <a:solidFill>
                  <a:srgbClr val="FF0000"/>
                </a:solidFill>
                <a:latin typeface="Arial" panose="020B0604020202090204" pitchFamily="34" charset="0"/>
                <a:cs typeface="Arial" panose="020B0604020202090204" pitchFamily="34" charset="0"/>
                <a:sym typeface="+mn-ea"/>
              </a:rPr>
              <a:t> Grade &gt;= 60 </a:t>
            </a:r>
            <a:r>
              <a:rPr lang="zh-CN" altLang="en-US" sz="2400" dirty="0">
                <a:solidFill>
                  <a:srgbClr val="FF0000"/>
                </a:solidFill>
                <a:latin typeface="Arial" panose="020B0604020202090204" pitchFamily="34" charset="0"/>
                <a:cs typeface="Arial" panose="020B0604020202090204" pitchFamily="34" charset="0"/>
                <a:sym typeface="+mn-ea"/>
              </a:rPr>
              <a:t>)</a:t>
            </a:r>
            <a:r>
              <a:rPr lang="en-US" altLang="zh-CN" sz="2400" dirty="0">
                <a:latin typeface="Arial" panose="020B0604020202090204" pitchFamily="34" charset="0"/>
                <a:cs typeface="Arial" panose="020B0604020202090204" pitchFamily="34" charset="0"/>
                <a:sym typeface="+mn-ea"/>
              </a:rPr>
              <a:t>;</a:t>
            </a:r>
            <a:endParaRPr lang="zh-CN" altLang="en-US" sz="240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linds(horizontal)">
                                      <p:cBhvr>
                                        <p:cTn id="13" dur="500"/>
                                        <p:tgtEl>
                                          <p:spTgt spid="3">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blinds(horizontal)">
                                      <p:cBhvr>
                                        <p:cTn id="16" dur="500"/>
                                        <p:tgtEl>
                                          <p:spTgt spid="3">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blinds(horizontal)">
                                      <p:cBhvr>
                                        <p:cTn id="19" dur="500"/>
                                        <p:tgtEl>
                                          <p:spTgt spid="3">
                                            <p:txEl>
                                              <p:pRg st="4" end="4"/>
                                            </p:txEl>
                                          </p:spTgt>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blinds(horizontal)">
                                      <p:cBhvr>
                                        <p:cTn id="22" dur="500"/>
                                        <p:tgtEl>
                                          <p:spTgt spid="3">
                                            <p:txEl>
                                              <p:pRg st="5" end="5"/>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blinds(horizontal)">
                                      <p:cBhvr>
                                        <p:cTn id="25" dur="500"/>
                                        <p:tgtEl>
                                          <p:spTgt spid="3">
                                            <p:txEl>
                                              <p:pRg st="6" end="6"/>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blinds(horizontal)">
                                      <p:cBhvr>
                                        <p:cTn id="28" dur="500"/>
                                        <p:tgtEl>
                                          <p:spTgt spid="3">
                                            <p:txEl>
                                              <p:pRg st="7" end="7"/>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blinds(horizontal)">
                                      <p:cBhvr>
                                        <p:cTn id="31" dur="500"/>
                                        <p:tgtEl>
                                          <p:spTgt spid="3">
                                            <p:txEl>
                                              <p:pRg st="8" end="8"/>
                                            </p:txEl>
                                          </p:spTgt>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3">
                                            <p:txEl>
                                              <p:pRg st="9" end="9"/>
                                            </p:txEl>
                                          </p:spTgt>
                                        </p:tgtEl>
                                        <p:attrNameLst>
                                          <p:attrName>style.visibility</p:attrName>
                                        </p:attrNameLst>
                                      </p:cBhvr>
                                      <p:to>
                                        <p:strVal val="visible"/>
                                      </p:to>
                                    </p:set>
                                    <p:animEffect transition="in" filter="blinds(horizontal)">
                                      <p:cBhvr>
                                        <p:cTn id="34" dur="500"/>
                                        <p:tgtEl>
                                          <p:spTgt spid="3">
                                            <p:txEl>
                                              <p:pRg st="9" end="9"/>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7">
                                            <p:txEl>
                                              <p:pRg st="0" end="0"/>
                                            </p:txEl>
                                          </p:spTgt>
                                        </p:tgtEl>
                                        <p:attrNameLst>
                                          <p:attrName>style.visibility</p:attrName>
                                        </p:attrNameLst>
                                      </p:cBhvr>
                                      <p:to>
                                        <p:strVal val="visible"/>
                                      </p:to>
                                    </p:set>
                                    <p:animEffect transition="in" filter="blinds(horizontal)">
                                      <p:cBhvr>
                                        <p:cTn id="39" dur="500"/>
                                        <p:tgtEl>
                                          <p:spTgt spid="7">
                                            <p:txEl>
                                              <p:pRg st="0" end="0"/>
                                            </p:txEl>
                                          </p:spTgt>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7">
                                            <p:txEl>
                                              <p:pRg st="1" end="1"/>
                                            </p:txEl>
                                          </p:spTgt>
                                        </p:tgtEl>
                                        <p:attrNameLst>
                                          <p:attrName>style.visibility</p:attrName>
                                        </p:attrNameLst>
                                      </p:cBhvr>
                                      <p:to>
                                        <p:strVal val="visible"/>
                                      </p:to>
                                    </p:set>
                                    <p:animEffect transition="in" filter="blinds(horizontal)">
                                      <p:cBhvr>
                                        <p:cTn id="42" dur="500"/>
                                        <p:tgtEl>
                                          <p:spTgt spid="7">
                                            <p:txEl>
                                              <p:pRg st="1" end="1"/>
                                            </p:txEl>
                                          </p:spTgt>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7">
                                            <p:txEl>
                                              <p:pRg st="2" end="2"/>
                                            </p:txEl>
                                          </p:spTgt>
                                        </p:tgtEl>
                                        <p:attrNameLst>
                                          <p:attrName>style.visibility</p:attrName>
                                        </p:attrNameLst>
                                      </p:cBhvr>
                                      <p:to>
                                        <p:strVal val="visible"/>
                                      </p:to>
                                    </p:set>
                                    <p:animEffect transition="in" filter="blinds(horizontal)">
                                      <p:cBhvr>
                                        <p:cTn id="45" dur="500"/>
                                        <p:tgtEl>
                                          <p:spTgt spid="7">
                                            <p:txEl>
                                              <p:pRg st="2" end="2"/>
                                            </p:txEl>
                                          </p:spTgt>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7">
                                            <p:txEl>
                                              <p:pRg st="3" end="3"/>
                                            </p:txEl>
                                          </p:spTgt>
                                        </p:tgtEl>
                                        <p:attrNameLst>
                                          <p:attrName>style.visibility</p:attrName>
                                        </p:attrNameLst>
                                      </p:cBhvr>
                                      <p:to>
                                        <p:strVal val="visible"/>
                                      </p:to>
                                    </p:set>
                                    <p:animEffect transition="in" filter="blinds(horizontal)">
                                      <p:cBhvr>
                                        <p:cTn id="48" dur="500"/>
                                        <p:tgtEl>
                                          <p:spTgt spid="7">
                                            <p:txEl>
                                              <p:pRg st="3" end="3"/>
                                            </p:txEl>
                                          </p:spTgt>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7">
                                            <p:txEl>
                                              <p:pRg st="4" end="4"/>
                                            </p:txEl>
                                          </p:spTgt>
                                        </p:tgtEl>
                                        <p:attrNameLst>
                                          <p:attrName>style.visibility</p:attrName>
                                        </p:attrNameLst>
                                      </p:cBhvr>
                                      <p:to>
                                        <p:strVal val="visible"/>
                                      </p:to>
                                    </p:set>
                                    <p:animEffect transition="in" filter="blinds(horizontal)">
                                      <p:cBhvr>
                                        <p:cTn id="51" dur="500"/>
                                        <p:tgtEl>
                                          <p:spTgt spid="7">
                                            <p:txEl>
                                              <p:pRg st="4" end="4"/>
                                            </p:txEl>
                                          </p:spTgt>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7">
                                            <p:txEl>
                                              <p:pRg st="5" end="5"/>
                                            </p:txEl>
                                          </p:spTgt>
                                        </p:tgtEl>
                                        <p:attrNameLst>
                                          <p:attrName>style.visibility</p:attrName>
                                        </p:attrNameLst>
                                      </p:cBhvr>
                                      <p:to>
                                        <p:strVal val="visible"/>
                                      </p:to>
                                    </p:set>
                                    <p:animEffect transition="in" filter="blinds(horizontal)">
                                      <p:cBhvr>
                                        <p:cTn id="54" dur="500"/>
                                        <p:tgtEl>
                                          <p:spTgt spid="7">
                                            <p:txEl>
                                              <p:pRg st="5" end="5"/>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5">
                                            <p:txEl>
                                              <p:pRg st="4294967295" end="4294967295"/>
                                            </p:txEl>
                                          </p:spTgt>
                                        </p:tgtEl>
                                        <p:attrNameLst>
                                          <p:attrName>style.visibility</p:attrName>
                                        </p:attrNameLst>
                                      </p:cBhvr>
                                      <p:to>
                                        <p:strVal val="visible"/>
                                      </p:to>
                                    </p:set>
                                    <p:animEffect transition="in" filter="blinds(horizontal)">
                                      <p:cBhvr>
                                        <p:cTn id="59" dur="500"/>
                                        <p:tgtEl>
                                          <p:spTgt spid="5">
                                            <p:txEl>
                                              <p:pRg st="4294967295" end="4294967295"/>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5">
                                            <p:txEl>
                                              <p:pRg st="0" end="0"/>
                                            </p:txEl>
                                          </p:spTgt>
                                        </p:tgtEl>
                                        <p:attrNameLst>
                                          <p:attrName>style.visibility</p:attrName>
                                        </p:attrNameLst>
                                      </p:cBhvr>
                                      <p:to>
                                        <p:strVal val="visible"/>
                                      </p:to>
                                    </p:set>
                                    <p:animEffect transition="in" filter="blinds(horizontal)">
                                      <p:cBhvr>
                                        <p:cTn id="64" dur="500"/>
                                        <p:tgtEl>
                                          <p:spTgt spid="5">
                                            <p:txEl>
                                              <p:pRg st="0" end="0"/>
                                            </p:txEl>
                                          </p:spTgt>
                                        </p:tgtEl>
                                      </p:cBhvr>
                                    </p:animEffect>
                                  </p:childTnLst>
                                </p:cTn>
                              </p:par>
                              <p:par>
                                <p:cTn id="65" presetID="3" presetClass="entr" presetSubtype="10" fill="hold" grpId="0" nodeType="withEffect">
                                  <p:stCondLst>
                                    <p:cond delay="0"/>
                                  </p:stCondLst>
                                  <p:childTnLst>
                                    <p:set>
                                      <p:cBhvr>
                                        <p:cTn id="66" dur="1" fill="hold">
                                          <p:stCondLst>
                                            <p:cond delay="0"/>
                                          </p:stCondLst>
                                        </p:cTn>
                                        <p:tgtEl>
                                          <p:spTgt spid="5">
                                            <p:txEl>
                                              <p:pRg st="1" end="1"/>
                                            </p:txEl>
                                          </p:spTgt>
                                        </p:tgtEl>
                                        <p:attrNameLst>
                                          <p:attrName>style.visibility</p:attrName>
                                        </p:attrNameLst>
                                      </p:cBhvr>
                                      <p:to>
                                        <p:strVal val="visible"/>
                                      </p:to>
                                    </p:set>
                                    <p:animEffect transition="in" filter="blinds(horizontal)">
                                      <p:cBhvr>
                                        <p:cTn id="67" dur="500"/>
                                        <p:tgtEl>
                                          <p:spTgt spid="5">
                                            <p:txEl>
                                              <p:pRg st="1" end="1"/>
                                            </p:txEl>
                                          </p:spTgt>
                                        </p:tgtEl>
                                      </p:cBhvr>
                                    </p:animEffect>
                                  </p:childTnLst>
                                </p:cTn>
                              </p:par>
                              <p:par>
                                <p:cTn id="68" presetID="3" presetClass="entr" presetSubtype="10" fill="hold" grpId="0" nodeType="withEffect">
                                  <p:stCondLst>
                                    <p:cond delay="0"/>
                                  </p:stCondLst>
                                  <p:childTnLst>
                                    <p:set>
                                      <p:cBhvr>
                                        <p:cTn id="69" dur="1" fill="hold">
                                          <p:stCondLst>
                                            <p:cond delay="0"/>
                                          </p:stCondLst>
                                        </p:cTn>
                                        <p:tgtEl>
                                          <p:spTgt spid="5">
                                            <p:txEl>
                                              <p:pRg st="2" end="2"/>
                                            </p:txEl>
                                          </p:spTgt>
                                        </p:tgtEl>
                                        <p:attrNameLst>
                                          <p:attrName>style.visibility</p:attrName>
                                        </p:attrNameLst>
                                      </p:cBhvr>
                                      <p:to>
                                        <p:strVal val="visible"/>
                                      </p:to>
                                    </p:set>
                                    <p:animEffect transition="in" filter="blinds(horizontal)">
                                      <p:cBhvr>
                                        <p:cTn id="70" dur="500"/>
                                        <p:tgtEl>
                                          <p:spTgt spid="5">
                                            <p:txEl>
                                              <p:pRg st="2" end="2"/>
                                            </p:txEl>
                                          </p:spTgt>
                                        </p:tgtEl>
                                      </p:cBhvr>
                                    </p:animEffect>
                                  </p:childTnLst>
                                </p:cTn>
                              </p:par>
                              <p:par>
                                <p:cTn id="71" presetID="3" presetClass="entr" presetSubtype="10" fill="hold" grpId="0" nodeType="withEffect">
                                  <p:stCondLst>
                                    <p:cond delay="0"/>
                                  </p:stCondLst>
                                  <p:childTnLst>
                                    <p:set>
                                      <p:cBhvr>
                                        <p:cTn id="72" dur="1" fill="hold">
                                          <p:stCondLst>
                                            <p:cond delay="0"/>
                                          </p:stCondLst>
                                        </p:cTn>
                                        <p:tgtEl>
                                          <p:spTgt spid="5">
                                            <p:txEl>
                                              <p:pRg st="3" end="3"/>
                                            </p:txEl>
                                          </p:spTgt>
                                        </p:tgtEl>
                                        <p:attrNameLst>
                                          <p:attrName>style.visibility</p:attrName>
                                        </p:attrNameLst>
                                      </p:cBhvr>
                                      <p:to>
                                        <p:strVal val="visible"/>
                                      </p:to>
                                    </p:set>
                                    <p:animEffect transition="in" filter="blinds(horizontal)">
                                      <p:cBhvr>
                                        <p:cTn id="73" dur="500"/>
                                        <p:tgtEl>
                                          <p:spTgt spid="5">
                                            <p:txEl>
                                              <p:pRg st="3" end="3"/>
                                            </p:txEl>
                                          </p:spTgt>
                                        </p:tgtEl>
                                      </p:cBhvr>
                                    </p:animEffect>
                                  </p:childTnLst>
                                </p:cTn>
                              </p:par>
                              <p:par>
                                <p:cTn id="74" presetID="3" presetClass="entr" presetSubtype="10" fill="hold" grpId="0" nodeType="withEffect">
                                  <p:stCondLst>
                                    <p:cond delay="0"/>
                                  </p:stCondLst>
                                  <p:childTnLst>
                                    <p:set>
                                      <p:cBhvr>
                                        <p:cTn id="75" dur="1" fill="hold">
                                          <p:stCondLst>
                                            <p:cond delay="0"/>
                                          </p:stCondLst>
                                        </p:cTn>
                                        <p:tgtEl>
                                          <p:spTgt spid="5">
                                            <p:txEl>
                                              <p:pRg st="4" end="4"/>
                                            </p:txEl>
                                          </p:spTgt>
                                        </p:tgtEl>
                                        <p:attrNameLst>
                                          <p:attrName>style.visibility</p:attrName>
                                        </p:attrNameLst>
                                      </p:cBhvr>
                                      <p:to>
                                        <p:strVal val="visible"/>
                                      </p:to>
                                    </p:set>
                                    <p:animEffect transition="in" filter="blinds(horizontal)">
                                      <p:cBhvr>
                                        <p:cTn id="76"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uiExpand="1" build="p"/>
      <p:bldP spid="5"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p:txBody>
          <a:bodyPr anchor="b" anchorCtr="0"/>
          <a:lstStyle/>
          <a:p>
            <a:pPr eaLnBrk="1" hangingPunct="1"/>
            <a:r>
              <a:rPr lang="zh-CN" altLang="en-US" dirty="0">
                <a:solidFill>
                  <a:srgbClr val="0000C8"/>
                </a:solidFill>
                <a:sym typeface="+mn-ea"/>
              </a:rPr>
              <a:t>（2025 春季）</a:t>
            </a:r>
            <a:endParaRPr lang="zh-CN" altLang="en-US" dirty="0">
              <a:solidFill>
                <a:srgbClr val="0000C8"/>
              </a:solidFill>
              <a:sym typeface="+mn-ea"/>
            </a:endParaRPr>
          </a:p>
        </p:txBody>
      </p:sp>
      <p:sp>
        <p:nvSpPr>
          <p:cNvPr id="3074" name="Rectangle 2"/>
          <p:cNvSpPr>
            <a:spLocks noGrp="1" noChangeArrowheads="1"/>
          </p:cNvSpPr>
          <p:nvPr>
            <p:ph type="ctrTitle" sz="quarter"/>
          </p:nvPr>
        </p:nvSpPr>
        <p:spPr/>
        <p:txBody>
          <a:bodyPr anchor="ctr" anchorCtr="0"/>
          <a:lstStyle/>
          <a:p>
            <a:pPr eaLnBrk="1" hangingPunct="1">
              <a:lnSpc>
                <a:spcPct val="100000"/>
              </a:lnSpc>
              <a:spcBef>
                <a:spcPts val="0"/>
              </a:spcBef>
              <a:spcAft>
                <a:spcPts val="0"/>
              </a:spcAft>
            </a:pPr>
            <a:r>
              <a:rPr lang="en-US" altLang="zh-CN" sz="3600" dirty="0">
                <a:solidFill>
                  <a:srgbClr val="0000C8"/>
                </a:solidFill>
              </a:rPr>
              <a:t>3.7  </a:t>
            </a:r>
            <a:r>
              <a:rPr lang="zh-CN" altLang="en-US" sz="3600" dirty="0">
                <a:solidFill>
                  <a:srgbClr val="0000C8"/>
                </a:solidFill>
              </a:rPr>
              <a:t>视图</a:t>
            </a:r>
            <a:endParaRPr lang="zh-CN" altLang="en-US" sz="3600" dirty="0">
              <a:solidFill>
                <a:srgbClr val="0000C8"/>
              </a:solidFill>
            </a:endParaRP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zh-CN" altLang="en-US" dirty="0"/>
              <a:t>视图</a:t>
            </a:r>
            <a:endParaRPr lang="zh-CN" altLang="en-US" dirty="0"/>
          </a:p>
        </p:txBody>
      </p:sp>
      <p:sp>
        <p:nvSpPr>
          <p:cNvPr id="39939" name="Rectangle 3"/>
          <p:cNvSpPr>
            <a:spLocks noGrp="1" noChangeArrowheads="1"/>
          </p:cNvSpPr>
          <p:nvPr>
            <p:ph idx="1"/>
          </p:nvPr>
        </p:nvSpPr>
        <p:spPr/>
        <p:txBody>
          <a:bodyPr/>
          <a:lstStyle/>
          <a:p>
            <a:pPr>
              <a:lnSpc>
                <a:spcPct val="150000"/>
              </a:lnSpc>
            </a:pPr>
            <a:r>
              <a:rPr lang="zh-CN" altLang="en-US" dirty="0"/>
              <a:t>视图的特点</a:t>
            </a:r>
            <a:endParaRPr lang="zh-CN" altLang="en-US" dirty="0"/>
          </a:p>
          <a:p>
            <a:pPr lvl="1">
              <a:lnSpc>
                <a:spcPct val="150000"/>
              </a:lnSpc>
            </a:pPr>
            <a:r>
              <a:rPr lang="zh-CN" altLang="en-US" dirty="0"/>
              <a:t>虚表，是从一个或几个基本表（或视图）导出的表</a:t>
            </a:r>
            <a:endParaRPr lang="zh-CN" altLang="en-US" dirty="0"/>
          </a:p>
          <a:p>
            <a:pPr lvl="1">
              <a:lnSpc>
                <a:spcPct val="150000"/>
              </a:lnSpc>
            </a:pPr>
            <a:r>
              <a:rPr lang="zh-CN" altLang="en-US" dirty="0"/>
              <a:t>只存放视图的定义，不存放视图对应的数据</a:t>
            </a:r>
            <a:endParaRPr lang="zh-CN" altLang="en-US" dirty="0"/>
          </a:p>
          <a:p>
            <a:pPr lvl="1">
              <a:lnSpc>
                <a:spcPct val="150000"/>
              </a:lnSpc>
            </a:pPr>
            <a:r>
              <a:rPr lang="zh-CN" altLang="en-US" dirty="0"/>
              <a:t>基表中的数据发生变化，从视图中查询出的数据也随之改变</a:t>
            </a:r>
            <a:endParaRPr lang="zh-CN" altLang="en-US" dirty="0"/>
          </a:p>
        </p:txBody>
      </p:sp>
      <p:sp>
        <p:nvSpPr>
          <p:cNvPr id="2" name="灯片编号占位符 1"/>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ch03_3_SQL数据更新</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zh-CN" altLang="en-US" dirty="0"/>
              <a:t>定义视图</a:t>
            </a:r>
            <a:r>
              <a:rPr lang="en-US" altLang="zh-CN" dirty="0"/>
              <a:t>-</a:t>
            </a:r>
            <a:r>
              <a:rPr lang="zh-CN" altLang="en-US" dirty="0"/>
              <a:t>建立视图 </a:t>
            </a:r>
            <a:r>
              <a:rPr lang="en-US" altLang="zh-CN" dirty="0"/>
              <a:t>1</a:t>
            </a:r>
            <a:endParaRPr lang="zh-CN" altLang="en-US" dirty="0"/>
          </a:p>
        </p:txBody>
      </p:sp>
      <p:sp>
        <p:nvSpPr>
          <p:cNvPr id="43011" name="Rectangle 3"/>
          <p:cNvSpPr>
            <a:spLocks noGrp="1" noChangeArrowheads="1"/>
          </p:cNvSpPr>
          <p:nvPr>
            <p:ph idx="1"/>
          </p:nvPr>
        </p:nvSpPr>
        <p:spPr>
          <a:xfrm>
            <a:off x="424180" y="687070"/>
            <a:ext cx="11343005" cy="565150"/>
          </a:xfrm>
        </p:spPr>
        <p:txBody>
          <a:bodyPr>
            <a:spAutoFit/>
          </a:bodyPr>
          <a:lstStyle/>
          <a:p>
            <a:r>
              <a:rPr lang="zh-CN" altLang="en-US" sz="2800" dirty="0">
                <a:latin typeface="Calibri" panose="020F0502020204030204" charset="0"/>
              </a:rPr>
              <a:t>语句格式</a:t>
            </a:r>
            <a:endParaRPr lang="zh-CN" altLang="en-US" sz="2800" dirty="0">
              <a:solidFill>
                <a:srgbClr val="FF0000"/>
              </a:solidFill>
              <a:latin typeface="Calibri" panose="020F0502020204030204" charset="0"/>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ch03_3_SQL数据更新</a:t>
            </a:r>
            <a:endParaRPr lang="zh-CN" altLang="en-US"/>
          </a:p>
        </p:txBody>
      </p:sp>
      <p:sp>
        <p:nvSpPr>
          <p:cNvPr id="3" name="Rectangle 3"/>
          <p:cNvSpPr>
            <a:spLocks noGrp="1" noChangeArrowheads="1"/>
          </p:cNvSpPr>
          <p:nvPr/>
        </p:nvSpPr>
        <p:spPr>
          <a:xfrm>
            <a:off x="424180" y="1285875"/>
            <a:ext cx="11343005" cy="1512570"/>
          </a:xfrm>
          <a:prstGeom prst="rect">
            <a:avLst/>
          </a:prstGeom>
          <a:solidFill>
            <a:schemeClr val="accent3">
              <a:lumMod val="20000"/>
              <a:lumOff val="80000"/>
              <a:alpha val="50000"/>
            </a:schemeClr>
          </a:solidFill>
          <a:ln>
            <a:solidFill>
              <a:schemeClr val="tx1"/>
            </a:solidFill>
          </a:ln>
        </p:spPr>
        <p:txBody>
          <a:bodyPr vert="horz"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charset="-122"/>
                <a:ea typeface="楷体"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charset="-122"/>
                <a:ea typeface="楷体"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charset="-122"/>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821055" lvl="2" indent="0">
              <a:buNone/>
            </a:pPr>
            <a:r>
              <a:rPr lang="en-US" altLang="zh-CN" dirty="0">
                <a:solidFill>
                  <a:srgbClr val="FF0000"/>
                </a:solidFill>
                <a:latin typeface="Calibri" panose="020F0502020204030204" charset="0"/>
                <a:cs typeface="Calibri" panose="020F0502020204030204" charset="0"/>
              </a:rPr>
              <a:t>CREATE  VIEW  &lt;</a:t>
            </a:r>
            <a:r>
              <a:rPr lang="zh-CN" altLang="en-US" dirty="0">
                <a:solidFill>
                  <a:srgbClr val="FF0000"/>
                </a:solidFill>
                <a:latin typeface="Calibri" panose="020F0502020204030204" charset="0"/>
                <a:cs typeface="Calibri" panose="020F0502020204030204" charset="0"/>
              </a:rPr>
              <a:t>视图名</a:t>
            </a:r>
            <a:r>
              <a:rPr lang="en-US" altLang="zh-CN" dirty="0">
                <a:solidFill>
                  <a:srgbClr val="FF0000"/>
                </a:solidFill>
                <a:latin typeface="Calibri" panose="020F0502020204030204" charset="0"/>
                <a:cs typeface="Calibri" panose="020F0502020204030204" charset="0"/>
              </a:rPr>
              <a:t>&gt;  [</a:t>
            </a:r>
            <a:r>
              <a:rPr lang="zh-CN" altLang="en-US" dirty="0">
                <a:solidFill>
                  <a:srgbClr val="FF0000"/>
                </a:solidFill>
                <a:latin typeface="Calibri" panose="020F0502020204030204" charset="0"/>
                <a:cs typeface="Calibri" panose="020F0502020204030204" charset="0"/>
              </a:rPr>
              <a:t>(</a:t>
            </a:r>
            <a:r>
              <a:rPr lang="en-US" altLang="zh-CN" dirty="0">
                <a:solidFill>
                  <a:srgbClr val="FF0000"/>
                </a:solidFill>
                <a:latin typeface="Calibri" panose="020F0502020204030204" charset="0"/>
                <a:cs typeface="Calibri" panose="020F0502020204030204" charset="0"/>
              </a:rPr>
              <a:t>&lt;</a:t>
            </a:r>
            <a:r>
              <a:rPr lang="zh-CN" altLang="en-US" dirty="0">
                <a:solidFill>
                  <a:srgbClr val="FF0000"/>
                </a:solidFill>
                <a:latin typeface="Calibri" panose="020F0502020204030204" charset="0"/>
                <a:cs typeface="Calibri" panose="020F0502020204030204" charset="0"/>
              </a:rPr>
              <a:t>列名</a:t>
            </a:r>
            <a:r>
              <a:rPr lang="en-US" altLang="zh-CN" dirty="0">
                <a:solidFill>
                  <a:srgbClr val="FF0000"/>
                </a:solidFill>
                <a:latin typeface="Calibri" panose="020F0502020204030204" charset="0"/>
                <a:cs typeface="Calibri" panose="020F0502020204030204" charset="0"/>
              </a:rPr>
              <a:t>&gt;  [</a:t>
            </a:r>
            <a:r>
              <a:rPr lang="zh-CN" altLang="en-US" dirty="0">
                <a:solidFill>
                  <a:srgbClr val="FF0000"/>
                </a:solidFill>
                <a:latin typeface="Calibri" panose="020F0502020204030204" charset="0"/>
                <a:cs typeface="Calibri" panose="020F0502020204030204" charset="0"/>
              </a:rPr>
              <a:t>,</a:t>
            </a:r>
            <a:r>
              <a:rPr lang="en-US" altLang="zh-CN" dirty="0">
                <a:solidFill>
                  <a:srgbClr val="FF0000"/>
                </a:solidFill>
                <a:latin typeface="Calibri" panose="020F0502020204030204" charset="0"/>
                <a:cs typeface="Calibri" panose="020F0502020204030204" charset="0"/>
              </a:rPr>
              <a:t>&lt;</a:t>
            </a:r>
            <a:r>
              <a:rPr lang="zh-CN" altLang="en-US" dirty="0">
                <a:solidFill>
                  <a:srgbClr val="FF0000"/>
                </a:solidFill>
                <a:latin typeface="Calibri" panose="020F0502020204030204" charset="0"/>
                <a:cs typeface="Calibri" panose="020F0502020204030204" charset="0"/>
              </a:rPr>
              <a:t>列名</a:t>
            </a:r>
            <a:r>
              <a:rPr lang="en-US" altLang="zh-CN" dirty="0">
                <a:solidFill>
                  <a:srgbClr val="FF0000"/>
                </a:solidFill>
                <a:latin typeface="Calibri" panose="020F0502020204030204" charset="0"/>
                <a:cs typeface="Calibri" panose="020F0502020204030204" charset="0"/>
              </a:rPr>
              <a:t>&gt;]…</a:t>
            </a:r>
            <a:r>
              <a:rPr lang="zh-CN" altLang="en-US" dirty="0">
                <a:solidFill>
                  <a:srgbClr val="FF0000"/>
                </a:solidFill>
                <a:latin typeface="Calibri" panose="020F0502020204030204" charset="0"/>
                <a:cs typeface="Calibri" panose="020F0502020204030204" charset="0"/>
              </a:rPr>
              <a:t>)</a:t>
            </a:r>
            <a:r>
              <a:rPr lang="en-US" altLang="zh-CN" dirty="0">
                <a:solidFill>
                  <a:srgbClr val="FF0000"/>
                </a:solidFill>
                <a:latin typeface="Calibri" panose="020F0502020204030204" charset="0"/>
                <a:cs typeface="Calibri" panose="020F0502020204030204" charset="0"/>
              </a:rPr>
              <a:t>]</a:t>
            </a:r>
            <a:endParaRPr lang="en-US" altLang="zh-CN" dirty="0">
              <a:solidFill>
                <a:srgbClr val="FF0000"/>
              </a:solidFill>
              <a:latin typeface="Calibri" panose="020F0502020204030204" charset="0"/>
              <a:cs typeface="Calibri" panose="020F0502020204030204" charset="0"/>
            </a:endParaRPr>
          </a:p>
          <a:p>
            <a:pPr marL="1278255" lvl="3" indent="0">
              <a:buNone/>
            </a:pPr>
            <a:r>
              <a:rPr lang="en-US" altLang="zh-CN" dirty="0">
                <a:solidFill>
                  <a:srgbClr val="FF0000"/>
                </a:solidFill>
                <a:latin typeface="Calibri" panose="020F0502020204030204" charset="0"/>
                <a:cs typeface="Calibri" panose="020F0502020204030204" charset="0"/>
              </a:rPr>
              <a:t>AS  &lt;</a:t>
            </a:r>
            <a:r>
              <a:rPr lang="zh-CN" altLang="en-US" dirty="0">
                <a:solidFill>
                  <a:srgbClr val="FF0000"/>
                </a:solidFill>
                <a:latin typeface="Calibri" panose="020F0502020204030204" charset="0"/>
                <a:cs typeface="Calibri" panose="020F0502020204030204" charset="0"/>
              </a:rPr>
              <a:t>子查询</a:t>
            </a:r>
            <a:r>
              <a:rPr lang="en-US" altLang="zh-CN" dirty="0">
                <a:solidFill>
                  <a:srgbClr val="FF0000"/>
                </a:solidFill>
                <a:latin typeface="Calibri" panose="020F0502020204030204" charset="0"/>
                <a:cs typeface="Calibri" panose="020F0502020204030204" charset="0"/>
              </a:rPr>
              <a:t>&gt;</a:t>
            </a:r>
            <a:endParaRPr lang="en-US" altLang="zh-CN" dirty="0">
              <a:solidFill>
                <a:srgbClr val="FF0000"/>
              </a:solidFill>
              <a:latin typeface="Calibri" panose="020F0502020204030204" charset="0"/>
              <a:cs typeface="Calibri" panose="020F0502020204030204" charset="0"/>
            </a:endParaRPr>
          </a:p>
          <a:p>
            <a:pPr marL="1278255" lvl="3" indent="0">
              <a:buNone/>
            </a:pPr>
            <a:r>
              <a:rPr lang="en-US" altLang="zh-CN" dirty="0">
                <a:solidFill>
                  <a:srgbClr val="FF0000"/>
                </a:solidFill>
                <a:latin typeface="Calibri" panose="020F0502020204030204" charset="0"/>
                <a:cs typeface="Calibri" panose="020F0502020204030204" charset="0"/>
              </a:rPr>
              <a:t>[WITH  CHECK  OPTION]</a:t>
            </a:r>
            <a:r>
              <a:rPr lang="zh-CN" altLang="en-US" dirty="0">
                <a:solidFill>
                  <a:srgbClr val="FF0000"/>
                </a:solidFill>
                <a:latin typeface="Calibri" panose="020F0502020204030204" charset="0"/>
                <a:cs typeface="Calibri" panose="020F0502020204030204" charset="0"/>
              </a:rPr>
              <a:t>;</a:t>
            </a:r>
            <a:endParaRPr lang="zh-CN" altLang="en-US" dirty="0">
              <a:solidFill>
                <a:srgbClr val="FF0000"/>
              </a:solidFill>
              <a:latin typeface="Calibri" panose="020F0502020204030204" charset="0"/>
              <a:cs typeface="Calibri" panose="020F0502020204030204" charset="0"/>
            </a:endParaRPr>
          </a:p>
        </p:txBody>
      </p:sp>
      <p:sp>
        <p:nvSpPr>
          <p:cNvPr id="5" name="Rectangle 3"/>
          <p:cNvSpPr>
            <a:spLocks noGrp="1" noChangeArrowheads="1"/>
          </p:cNvSpPr>
          <p:nvPr/>
        </p:nvSpPr>
        <p:spPr>
          <a:xfrm>
            <a:off x="424180" y="2907030"/>
            <a:ext cx="11343005" cy="3664585"/>
          </a:xfrm>
          <a:prstGeom prst="rect">
            <a:avLst/>
          </a:prstGeom>
        </p:spPr>
        <p:txBody>
          <a:bodyPr vert="horz"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charset="-122"/>
                <a:ea typeface="楷体"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charset="-122"/>
                <a:ea typeface="楷体"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charset="-122"/>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10000"/>
              </a:lnSpc>
              <a:spcBef>
                <a:spcPts val="2000"/>
              </a:spcBef>
            </a:pPr>
            <a:r>
              <a:rPr lang="en-US" altLang="zh-CN" sz="2800" dirty="0">
                <a:latin typeface="Calibri" panose="020F0502020204030204" charset="0"/>
                <a:cs typeface="Calibri" panose="020F0502020204030204" charset="0"/>
              </a:rPr>
              <a:t>WITH CHECK OPTION</a:t>
            </a:r>
            <a:endParaRPr lang="en-US" altLang="zh-CN" sz="2800" dirty="0">
              <a:latin typeface="Calibri" panose="020F0502020204030204" charset="0"/>
              <a:cs typeface="Calibri" panose="020F0502020204030204" charset="0"/>
            </a:endParaRPr>
          </a:p>
          <a:p>
            <a:pPr lvl="1"/>
            <a:r>
              <a:rPr lang="zh-CN" altLang="en-US" sz="2800" dirty="0">
                <a:latin typeface="Calibri" panose="020F0502020204030204" charset="0"/>
                <a:cs typeface="Calibri" panose="020F0502020204030204" charset="0"/>
              </a:rPr>
              <a:t>对视图进行</a:t>
            </a:r>
            <a:r>
              <a:rPr lang="en-US" altLang="zh-CN" sz="2800" dirty="0">
                <a:latin typeface="Calibri" panose="020F0502020204030204" charset="0"/>
                <a:cs typeface="Calibri" panose="020F0502020204030204" charset="0"/>
              </a:rPr>
              <a:t>UPDATE</a:t>
            </a:r>
            <a:r>
              <a:rPr lang="zh-CN" altLang="en-US" sz="2800" dirty="0">
                <a:latin typeface="Calibri" panose="020F0502020204030204" charset="0"/>
                <a:cs typeface="Calibri" panose="020F0502020204030204" charset="0"/>
              </a:rPr>
              <a:t>，</a:t>
            </a:r>
            <a:r>
              <a:rPr lang="en-US" altLang="zh-CN" sz="2800" dirty="0">
                <a:latin typeface="Calibri" panose="020F0502020204030204" charset="0"/>
                <a:cs typeface="Calibri" panose="020F0502020204030204" charset="0"/>
              </a:rPr>
              <a:t>INSERT</a:t>
            </a:r>
            <a:r>
              <a:rPr lang="zh-CN" altLang="en-US" sz="2800" dirty="0">
                <a:latin typeface="Calibri" panose="020F0502020204030204" charset="0"/>
                <a:cs typeface="Calibri" panose="020F0502020204030204" charset="0"/>
              </a:rPr>
              <a:t>和</a:t>
            </a:r>
            <a:r>
              <a:rPr lang="en-US" altLang="zh-CN" sz="2800" dirty="0">
                <a:latin typeface="Calibri" panose="020F0502020204030204" charset="0"/>
                <a:cs typeface="Calibri" panose="020F0502020204030204" charset="0"/>
              </a:rPr>
              <a:t>DELETE</a:t>
            </a:r>
            <a:r>
              <a:rPr lang="zh-CN" altLang="en-US" sz="2800" dirty="0">
                <a:latin typeface="Calibri" panose="020F0502020204030204" charset="0"/>
                <a:cs typeface="Calibri" panose="020F0502020204030204" charset="0"/>
              </a:rPr>
              <a:t>操作时要保证更新、插入或删除的行满足视图定义中的谓词条件（即子查询中的条件表达式）</a:t>
            </a:r>
            <a:endParaRPr lang="zh-CN" altLang="en-US" sz="2800" dirty="0">
              <a:latin typeface="Calibri" panose="020F0502020204030204" charset="0"/>
              <a:cs typeface="Calibri" panose="020F0502020204030204" charset="0"/>
            </a:endParaRPr>
          </a:p>
          <a:p>
            <a:pPr>
              <a:lnSpc>
                <a:spcPct val="110000"/>
              </a:lnSpc>
              <a:spcBef>
                <a:spcPts val="2000"/>
              </a:spcBef>
            </a:pPr>
            <a:r>
              <a:rPr lang="zh-CN" altLang="en-US" sz="2800" dirty="0">
                <a:latin typeface="Calibri" panose="020F0502020204030204" charset="0"/>
                <a:cs typeface="Calibri" panose="020F0502020204030204" charset="0"/>
              </a:rPr>
              <a:t>子查询可以是任意的</a:t>
            </a:r>
            <a:r>
              <a:rPr lang="en-US" altLang="zh-CN" sz="2800" dirty="0">
                <a:latin typeface="Calibri" panose="020F0502020204030204" charset="0"/>
                <a:cs typeface="Calibri" panose="020F0502020204030204" charset="0"/>
              </a:rPr>
              <a:t>SELECT</a:t>
            </a:r>
            <a:r>
              <a:rPr lang="zh-CN" altLang="en-US" sz="2800" dirty="0">
                <a:latin typeface="Calibri" panose="020F0502020204030204" charset="0"/>
                <a:cs typeface="Calibri" panose="020F0502020204030204" charset="0"/>
              </a:rPr>
              <a:t>语句，是否可以含有</a:t>
            </a:r>
            <a:r>
              <a:rPr lang="en-US" altLang="zh-CN" sz="2800" dirty="0">
                <a:latin typeface="Calibri" panose="020F0502020204030204" charset="0"/>
                <a:cs typeface="Calibri" panose="020F0502020204030204" charset="0"/>
              </a:rPr>
              <a:t>ORDER BY</a:t>
            </a:r>
            <a:r>
              <a:rPr lang="zh-CN" altLang="en-US" sz="2800" dirty="0">
                <a:latin typeface="Calibri" panose="020F0502020204030204" charset="0"/>
                <a:cs typeface="Calibri" panose="020F0502020204030204" charset="0"/>
              </a:rPr>
              <a:t>子句和</a:t>
            </a:r>
            <a:r>
              <a:rPr lang="en-US" altLang="zh-CN" sz="2800" dirty="0">
                <a:latin typeface="Calibri" panose="020F0502020204030204" charset="0"/>
                <a:cs typeface="Calibri" panose="020F0502020204030204" charset="0"/>
              </a:rPr>
              <a:t>DISTINCT</a:t>
            </a:r>
            <a:r>
              <a:rPr lang="zh-CN" altLang="en-US" sz="2800" dirty="0">
                <a:latin typeface="Calibri" panose="020F0502020204030204" charset="0"/>
                <a:cs typeface="Calibri" panose="020F0502020204030204" charset="0"/>
              </a:rPr>
              <a:t>短语，取决于具体系统的实现。</a:t>
            </a:r>
            <a:endParaRPr lang="zh-CN" altLang="en-US" sz="2800" dirty="0">
              <a:latin typeface="Calibri" panose="020F0502020204030204" charset="0"/>
              <a:cs typeface="Calibri" panose="020F0502020204030204" charset="0"/>
            </a:endParaRPr>
          </a:p>
          <a:p>
            <a:pPr lvl="1">
              <a:lnSpc>
                <a:spcPct val="110000"/>
              </a:lnSpc>
            </a:pPr>
            <a:r>
              <a:rPr lang="zh-CN" altLang="en-US" sz="2800" dirty="0">
                <a:solidFill>
                  <a:srgbClr val="FF0000"/>
                </a:solidFill>
                <a:latin typeface="Calibri" panose="020F0502020204030204" charset="0"/>
                <a:cs typeface="Calibri" panose="020F0502020204030204" charset="0"/>
              </a:rPr>
              <a:t>在标准</a:t>
            </a:r>
            <a:r>
              <a:rPr lang="en-US" altLang="zh-CN" sz="2800" dirty="0">
                <a:solidFill>
                  <a:srgbClr val="FF0000"/>
                </a:solidFill>
                <a:latin typeface="Calibri" panose="020F0502020204030204" charset="0"/>
                <a:cs typeface="Calibri" panose="020F0502020204030204" charset="0"/>
              </a:rPr>
              <a:t>SQL</a:t>
            </a:r>
            <a:r>
              <a:rPr lang="zh-CN" altLang="en-US" sz="2800" dirty="0">
                <a:solidFill>
                  <a:srgbClr val="FF0000"/>
                </a:solidFill>
                <a:latin typeface="Calibri" panose="020F0502020204030204" charset="0"/>
                <a:cs typeface="Calibri" panose="020F0502020204030204" charset="0"/>
              </a:rPr>
              <a:t>中，视图对应的子查询中不允许有</a:t>
            </a:r>
            <a:r>
              <a:rPr lang="en-US" altLang="zh-CN" sz="2800" dirty="0">
                <a:solidFill>
                  <a:srgbClr val="FF0000"/>
                </a:solidFill>
                <a:latin typeface="Calibri" panose="020F0502020204030204" charset="0"/>
                <a:cs typeface="Calibri" panose="020F0502020204030204" charset="0"/>
              </a:rPr>
              <a:t>ORDER BY</a:t>
            </a:r>
            <a:r>
              <a:rPr lang="zh-CN" altLang="en-US" sz="2800" dirty="0">
                <a:solidFill>
                  <a:srgbClr val="FF0000"/>
                </a:solidFill>
                <a:latin typeface="Calibri" panose="020F0502020204030204" charset="0"/>
                <a:cs typeface="Calibri" panose="020F0502020204030204" charset="0"/>
              </a:rPr>
              <a:t>子句，但可以使用</a:t>
            </a:r>
            <a:r>
              <a:rPr lang="en-US" altLang="zh-CN" sz="2800" dirty="0">
                <a:solidFill>
                  <a:srgbClr val="FF0000"/>
                </a:solidFill>
                <a:latin typeface="Calibri" panose="020F0502020204030204" charset="0"/>
                <a:cs typeface="Calibri" panose="020F0502020204030204" charset="0"/>
              </a:rPr>
              <a:t>DISTINCT</a:t>
            </a:r>
            <a:r>
              <a:rPr lang="zh-CN" altLang="en-US" sz="2800" dirty="0">
                <a:solidFill>
                  <a:srgbClr val="FF0000"/>
                </a:solidFill>
                <a:latin typeface="Calibri" panose="020F0502020204030204" charset="0"/>
                <a:cs typeface="Calibri" panose="020F0502020204030204" charset="0"/>
              </a:rPr>
              <a:t>短语</a:t>
            </a:r>
            <a:endParaRPr lang="zh-CN" altLang="en-US" sz="2800" dirty="0">
              <a:solidFill>
                <a:srgbClr val="FF0000"/>
              </a:solidFill>
              <a:latin typeface="Calibri" panose="020F0502020204030204" charset="0"/>
              <a:cs typeface="Calibri" panose="020F050202020403020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blinds(horizontal)">
                                      <p:cBhvr>
                                        <p:cTn id="10" dur="500"/>
                                        <p:tgtEl>
                                          <p:spTgt spid="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blinds(horizontal)">
                                      <p:cBhvr>
                                        <p:cTn id="15" dur="500"/>
                                        <p:tgtEl>
                                          <p:spTgt spid="5">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blinds(horizontal)">
                                      <p:cBhvr>
                                        <p:cTn id="18"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p:txBody>
          <a:bodyPr/>
          <a:lstStyle/>
          <a:p>
            <a:r>
              <a:rPr lang="zh-CN" altLang="en-US" dirty="0"/>
              <a:t>定义视图</a:t>
            </a:r>
            <a:r>
              <a:rPr lang="en-US" altLang="zh-CN" dirty="0"/>
              <a:t>-</a:t>
            </a:r>
            <a:r>
              <a:rPr lang="zh-CN" altLang="en-US" dirty="0"/>
              <a:t>建立视图 </a:t>
            </a:r>
            <a:r>
              <a:rPr lang="en-US" altLang="zh-CN" dirty="0"/>
              <a:t>2</a:t>
            </a:r>
            <a:endParaRPr lang="zh-CN" altLang="en-US" dirty="0"/>
          </a:p>
        </p:txBody>
      </p:sp>
      <p:sp>
        <p:nvSpPr>
          <p:cNvPr id="45059" name="内容占位符 2"/>
          <p:cNvSpPr>
            <a:spLocks noGrp="1"/>
          </p:cNvSpPr>
          <p:nvPr>
            <p:ph idx="1"/>
          </p:nvPr>
        </p:nvSpPr>
        <p:spPr/>
        <p:txBody>
          <a:bodyPr>
            <a:normAutofit/>
          </a:bodyPr>
          <a:lstStyle/>
          <a:p>
            <a:r>
              <a:rPr lang="zh-CN" altLang="en-US" sz="2800" dirty="0"/>
              <a:t>组成视图的属性列名：</a:t>
            </a:r>
            <a:r>
              <a:rPr lang="zh-CN" altLang="en-US" sz="2800" dirty="0">
                <a:solidFill>
                  <a:srgbClr val="FF0000"/>
                </a:solidFill>
              </a:rPr>
              <a:t>全部省略</a:t>
            </a:r>
            <a:r>
              <a:rPr lang="en-US" altLang="zh-CN" sz="2800" dirty="0"/>
              <a:t> </a:t>
            </a:r>
            <a:r>
              <a:rPr lang="zh-CN" altLang="en-US" sz="2800" dirty="0"/>
              <a:t>或</a:t>
            </a:r>
            <a:r>
              <a:rPr lang="en-US" altLang="zh-CN" sz="2800" dirty="0"/>
              <a:t> </a:t>
            </a:r>
            <a:r>
              <a:rPr lang="zh-CN" altLang="en-US" sz="2800" dirty="0">
                <a:solidFill>
                  <a:srgbClr val="FF0000"/>
                </a:solidFill>
              </a:rPr>
              <a:t>全部指定</a:t>
            </a:r>
            <a:endParaRPr lang="zh-CN" altLang="en-US" sz="2800" dirty="0"/>
          </a:p>
          <a:p>
            <a:pPr lvl="1">
              <a:lnSpc>
                <a:spcPct val="110000"/>
              </a:lnSpc>
              <a:spcBef>
                <a:spcPts val="1000"/>
              </a:spcBef>
            </a:pPr>
            <a:r>
              <a:rPr lang="zh-CN" altLang="en-US" dirty="0">
                <a:solidFill>
                  <a:srgbClr val="FF0000"/>
                </a:solidFill>
              </a:rPr>
              <a:t>全部省略</a:t>
            </a:r>
            <a:endParaRPr lang="en-US" altLang="zh-CN" dirty="0"/>
          </a:p>
          <a:p>
            <a:pPr lvl="2"/>
            <a:r>
              <a:rPr lang="zh-CN" altLang="en-US" dirty="0"/>
              <a:t>由子查询中</a:t>
            </a:r>
            <a:r>
              <a:rPr lang="en-US" altLang="zh-CN" dirty="0"/>
              <a:t>SELECT</a:t>
            </a:r>
            <a:r>
              <a:rPr lang="zh-CN" altLang="en-US" dirty="0"/>
              <a:t>目标列中的诸字段的名字作为视图</a:t>
            </a:r>
            <a:r>
              <a:rPr lang="zh-CN" altLang="en-US" dirty="0"/>
              <a:t>中对应列的列</a:t>
            </a:r>
            <a:r>
              <a:rPr lang="zh-CN" altLang="en-US" dirty="0"/>
              <a:t>名</a:t>
            </a:r>
            <a:endParaRPr lang="zh-CN" altLang="en-US" dirty="0"/>
          </a:p>
          <a:p>
            <a:pPr lvl="1">
              <a:lnSpc>
                <a:spcPct val="110000"/>
              </a:lnSpc>
              <a:spcBef>
                <a:spcPts val="2000"/>
              </a:spcBef>
            </a:pPr>
            <a:r>
              <a:rPr lang="zh-CN" altLang="en-US" dirty="0">
                <a:solidFill>
                  <a:srgbClr val="FF0000"/>
                </a:solidFill>
              </a:rPr>
              <a:t>明确指定视图的所有列名</a:t>
            </a:r>
            <a:endParaRPr lang="zh-CN" altLang="en-US" dirty="0"/>
          </a:p>
          <a:p>
            <a:pPr lvl="2"/>
            <a:r>
              <a:rPr lang="zh-CN" altLang="en-US" dirty="0"/>
              <a:t>具体到每一列，可以继续沿用子查询中对应目标列的列名，也可以启用一个新的更合适的列名，但必须保证视图中列名的</a:t>
            </a:r>
            <a:r>
              <a:rPr lang="zh-CN" altLang="en-US" dirty="0"/>
              <a:t>唯一性</a:t>
            </a:r>
            <a:endParaRPr lang="zh-CN" altLang="en-US" dirty="0"/>
          </a:p>
          <a:p>
            <a:pPr lvl="2">
              <a:lnSpc>
                <a:spcPct val="110000"/>
              </a:lnSpc>
              <a:spcBef>
                <a:spcPts val="2000"/>
              </a:spcBef>
            </a:pPr>
            <a:r>
              <a:rPr lang="zh-CN" altLang="en-US" dirty="0"/>
              <a:t>当出现下列情况时，必须明确指定视图的所有列名</a:t>
            </a:r>
            <a:endParaRPr lang="en-US" altLang="zh-CN" dirty="0"/>
          </a:p>
          <a:p>
            <a:pPr lvl="3"/>
            <a:r>
              <a:rPr lang="zh-CN" altLang="en-US" dirty="0"/>
              <a:t>某个目标列是聚集函数或列表达式</a:t>
            </a:r>
            <a:endParaRPr lang="zh-CN" altLang="en-US" dirty="0"/>
          </a:p>
          <a:p>
            <a:pPr lvl="3"/>
            <a:r>
              <a:rPr lang="zh-CN" altLang="en-US" dirty="0"/>
              <a:t>多表连接时选出了几个同名列作为视图的字段</a:t>
            </a:r>
            <a:endParaRPr lang="zh-CN" altLang="en-US" dirty="0"/>
          </a:p>
          <a:p>
            <a:pPr lvl="3"/>
            <a:r>
              <a:rPr lang="zh-CN" altLang="en-US" dirty="0"/>
              <a:t>需要在视图中为某个列启用新的更合适的名字</a:t>
            </a:r>
            <a:endParaRPr lang="zh-CN" altLang="en-US"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ch03_3_SQL数据更新</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5059">
                                            <p:txEl>
                                              <p:pRg st="2" end="2"/>
                                            </p:txEl>
                                          </p:spTgt>
                                        </p:tgtEl>
                                        <p:attrNameLst>
                                          <p:attrName>style.visibility</p:attrName>
                                        </p:attrNameLst>
                                      </p:cBhvr>
                                      <p:to>
                                        <p:strVal val="visible"/>
                                      </p:to>
                                    </p:set>
                                    <p:animEffect transition="in" filter="blinds(horizontal)">
                                      <p:cBhvr>
                                        <p:cTn id="7" dur="500"/>
                                        <p:tgtEl>
                                          <p:spTgt spid="45059">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5059">
                                            <p:txEl>
                                              <p:pRg st="4" end="4"/>
                                            </p:txEl>
                                          </p:spTgt>
                                        </p:tgtEl>
                                        <p:attrNameLst>
                                          <p:attrName>style.visibility</p:attrName>
                                        </p:attrNameLst>
                                      </p:cBhvr>
                                      <p:to>
                                        <p:strVal val="visible"/>
                                      </p:to>
                                    </p:set>
                                    <p:animEffect transition="in" filter="blinds(horizontal)">
                                      <p:cBhvr>
                                        <p:cTn id="12" dur="500"/>
                                        <p:tgtEl>
                                          <p:spTgt spid="45059">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5059">
                                            <p:txEl>
                                              <p:pRg st="5" end="5"/>
                                            </p:txEl>
                                          </p:spTgt>
                                        </p:tgtEl>
                                        <p:attrNameLst>
                                          <p:attrName>style.visibility</p:attrName>
                                        </p:attrNameLst>
                                      </p:cBhvr>
                                      <p:to>
                                        <p:strVal val="visible"/>
                                      </p:to>
                                    </p:set>
                                    <p:animEffect transition="in" filter="blinds(horizontal)">
                                      <p:cBhvr>
                                        <p:cTn id="17" dur="500"/>
                                        <p:tgtEl>
                                          <p:spTgt spid="45059">
                                            <p:txEl>
                                              <p:pRg st="5" end="5"/>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45059">
                                            <p:txEl>
                                              <p:pRg st="6" end="6"/>
                                            </p:txEl>
                                          </p:spTgt>
                                        </p:tgtEl>
                                        <p:attrNameLst>
                                          <p:attrName>style.visibility</p:attrName>
                                        </p:attrNameLst>
                                      </p:cBhvr>
                                      <p:to>
                                        <p:strVal val="visible"/>
                                      </p:to>
                                    </p:set>
                                    <p:animEffect transition="in" filter="blinds(horizontal)">
                                      <p:cBhvr>
                                        <p:cTn id="20" dur="500"/>
                                        <p:tgtEl>
                                          <p:spTgt spid="45059">
                                            <p:txEl>
                                              <p:pRg st="6" end="6"/>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45059">
                                            <p:txEl>
                                              <p:pRg st="7" end="7"/>
                                            </p:txEl>
                                          </p:spTgt>
                                        </p:tgtEl>
                                        <p:attrNameLst>
                                          <p:attrName>style.visibility</p:attrName>
                                        </p:attrNameLst>
                                      </p:cBhvr>
                                      <p:to>
                                        <p:strVal val="visible"/>
                                      </p:to>
                                    </p:set>
                                    <p:animEffect transition="in" filter="blinds(horizontal)">
                                      <p:cBhvr>
                                        <p:cTn id="23" dur="500"/>
                                        <p:tgtEl>
                                          <p:spTgt spid="45059">
                                            <p:txEl>
                                              <p:pRg st="7" end="7"/>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45059">
                                            <p:txEl>
                                              <p:pRg st="8" end="8"/>
                                            </p:txEl>
                                          </p:spTgt>
                                        </p:tgtEl>
                                        <p:attrNameLst>
                                          <p:attrName>style.visibility</p:attrName>
                                        </p:attrNameLst>
                                      </p:cBhvr>
                                      <p:to>
                                        <p:strVal val="visible"/>
                                      </p:to>
                                    </p:set>
                                    <p:animEffect transition="in" filter="blinds(horizontal)">
                                      <p:cBhvr>
                                        <p:cTn id="26" dur="500"/>
                                        <p:tgtEl>
                                          <p:spTgt spid="4505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zh-CN" altLang="en-US" dirty="0"/>
              <a:t>定义视图</a:t>
            </a:r>
            <a:r>
              <a:rPr lang="en-US" altLang="zh-CN" dirty="0"/>
              <a:t>-</a:t>
            </a:r>
            <a:r>
              <a:rPr lang="zh-CN" altLang="en-US" dirty="0"/>
              <a:t>建立视图 </a:t>
            </a:r>
            <a:r>
              <a:rPr lang="en-US" altLang="zh-CN" dirty="0"/>
              <a:t>3</a:t>
            </a:r>
            <a:endParaRPr lang="zh-CN" altLang="en-US" dirty="0"/>
          </a:p>
        </p:txBody>
      </p:sp>
      <p:sp>
        <p:nvSpPr>
          <p:cNvPr id="46083" name="Rectangle 3"/>
          <p:cNvSpPr>
            <a:spLocks noGrp="1" noChangeArrowheads="1"/>
          </p:cNvSpPr>
          <p:nvPr>
            <p:ph idx="1"/>
          </p:nvPr>
        </p:nvSpPr>
        <p:spPr/>
        <p:txBody>
          <a:bodyPr>
            <a:normAutofit/>
          </a:bodyPr>
          <a:lstStyle/>
          <a:p>
            <a:r>
              <a:rPr lang="zh-CN" altLang="en-US" dirty="0"/>
              <a:t>关系数据库管理系统执行</a:t>
            </a:r>
            <a:r>
              <a:rPr lang="en-US" altLang="zh-CN" dirty="0"/>
              <a:t>CREATE VIEW</a:t>
            </a:r>
            <a:r>
              <a:rPr lang="zh-CN" altLang="en-US" dirty="0"/>
              <a:t>语句时只是把视图定义存入数据字典，并不执行其中的</a:t>
            </a:r>
            <a:r>
              <a:rPr lang="en-US" altLang="zh-CN" dirty="0"/>
              <a:t>SELECT</a:t>
            </a:r>
            <a:r>
              <a:rPr lang="zh-CN" altLang="en-US" dirty="0"/>
              <a:t>语句。</a:t>
            </a:r>
            <a:endParaRPr lang="zh-CN" altLang="en-US" dirty="0"/>
          </a:p>
          <a:p>
            <a:r>
              <a:rPr lang="zh-CN" altLang="en-US" dirty="0"/>
              <a:t>在对视图查询时，按视图的定义从基本表中将数据查出。</a:t>
            </a:r>
            <a:endParaRPr lang="zh-CN" altLang="en-US" dirty="0"/>
          </a:p>
          <a:p>
            <a:endParaRPr lang="en-US" altLang="zh-CN" dirty="0"/>
          </a:p>
          <a:p>
            <a:r>
              <a:rPr lang="en-US" altLang="zh-CN" dirty="0"/>
              <a:t> [</a:t>
            </a:r>
            <a:r>
              <a:rPr lang="zh-CN" altLang="en-US" dirty="0"/>
              <a:t>例</a:t>
            </a:r>
            <a:r>
              <a:rPr lang="en-US" altLang="zh-CN" dirty="0"/>
              <a:t>3.84]  </a:t>
            </a:r>
            <a:r>
              <a:rPr lang="zh-CN" altLang="en-US" dirty="0"/>
              <a:t>建立信息系学生的视图。</a:t>
            </a:r>
            <a:endParaRPr lang="zh-CN" altLang="en-US" dirty="0"/>
          </a:p>
          <a:p>
            <a:pPr marL="914400" lvl="2" indent="0">
              <a:lnSpc>
                <a:spcPct val="110000"/>
              </a:lnSpc>
              <a:spcBef>
                <a:spcPts val="2000"/>
              </a:spcBef>
              <a:buNone/>
            </a:pPr>
            <a:r>
              <a:rPr lang="en-US" altLang="zh-CN" dirty="0">
                <a:solidFill>
                  <a:srgbClr val="FF0000"/>
                </a:solidFill>
                <a:latin typeface="Arial" panose="020B0604020202090204" pitchFamily="34" charset="0"/>
                <a:cs typeface="Arial" panose="020B0604020202090204" pitchFamily="34" charset="0"/>
              </a:rPr>
              <a:t>CREATE  VIEW  </a:t>
            </a:r>
            <a:r>
              <a:rPr lang="en-US" altLang="zh-CN" dirty="0" err="1">
                <a:solidFill>
                  <a:srgbClr val="FF0000"/>
                </a:solidFill>
                <a:latin typeface="Arial" panose="020B0604020202090204" pitchFamily="34" charset="0"/>
                <a:cs typeface="Arial" panose="020B0604020202090204" pitchFamily="34" charset="0"/>
              </a:rPr>
              <a:t>IS_Student</a:t>
            </a:r>
            <a:endParaRPr lang="en-US" altLang="zh-CN" dirty="0">
              <a:solidFill>
                <a:srgbClr val="FF0000"/>
              </a:solidFill>
              <a:latin typeface="Arial" panose="020B0604020202090204" pitchFamily="34" charset="0"/>
              <a:cs typeface="Arial" panose="020B0604020202090204" pitchFamily="34" charset="0"/>
            </a:endParaRPr>
          </a:p>
          <a:p>
            <a:pPr marL="914400" lvl="2" indent="0">
              <a:buNone/>
            </a:pPr>
            <a:r>
              <a:rPr lang="en-US" altLang="zh-CN" dirty="0">
                <a:solidFill>
                  <a:srgbClr val="FF0000"/>
                </a:solidFill>
                <a:latin typeface="Arial" panose="020B0604020202090204" pitchFamily="34" charset="0"/>
                <a:cs typeface="Arial" panose="020B0604020202090204" pitchFamily="34" charset="0"/>
              </a:rPr>
              <a:t>AS </a:t>
            </a:r>
            <a:endParaRPr lang="en-US" altLang="zh-CN" dirty="0">
              <a:solidFill>
                <a:srgbClr val="FF0000"/>
              </a:solidFill>
              <a:latin typeface="Arial" panose="020B0604020202090204" pitchFamily="34" charset="0"/>
              <a:cs typeface="Arial" panose="020B0604020202090204" pitchFamily="34" charset="0"/>
            </a:endParaRPr>
          </a:p>
          <a:p>
            <a:pPr marL="914400" lvl="2" indent="756920">
              <a:buNone/>
            </a:pPr>
            <a:r>
              <a:rPr lang="en-US" altLang="zh-CN" dirty="0">
                <a:solidFill>
                  <a:srgbClr val="FF0000"/>
                </a:solidFill>
                <a:latin typeface="Arial" panose="020B0604020202090204" pitchFamily="34" charset="0"/>
                <a:cs typeface="Arial" panose="020B0604020202090204" pitchFamily="34" charset="0"/>
              </a:rPr>
              <a:t>SELECT  </a:t>
            </a:r>
            <a:r>
              <a:rPr lang="en-US" altLang="zh-CN" dirty="0" err="1">
                <a:solidFill>
                  <a:srgbClr val="FF0000"/>
                </a:solidFill>
                <a:latin typeface="Arial" panose="020B0604020202090204" pitchFamily="34" charset="0"/>
                <a:cs typeface="Arial" panose="020B0604020202090204" pitchFamily="34" charset="0"/>
              </a:rPr>
              <a:t>Sno</a:t>
            </a:r>
            <a:r>
              <a:rPr lang="zh-CN" altLang="en-US" dirty="0">
                <a:solidFill>
                  <a:srgbClr val="FF0000"/>
                </a:solidFill>
                <a:latin typeface="Arial" panose="020B0604020202090204" pitchFamily="34" charset="0"/>
                <a:cs typeface="Arial" panose="020B0604020202090204" pitchFamily="34" charset="0"/>
              </a:rPr>
              <a:t>,</a:t>
            </a:r>
            <a:r>
              <a:rPr lang="en-US" altLang="zh-CN" dirty="0">
                <a:solidFill>
                  <a:srgbClr val="FF0000"/>
                </a:solidFill>
                <a:latin typeface="Arial" panose="020B0604020202090204" pitchFamily="34" charset="0"/>
                <a:cs typeface="Arial" panose="020B0604020202090204" pitchFamily="34" charset="0"/>
              </a:rPr>
              <a:t> </a:t>
            </a:r>
            <a:r>
              <a:rPr lang="en-US" altLang="zh-CN" dirty="0" err="1">
                <a:solidFill>
                  <a:srgbClr val="FF0000"/>
                </a:solidFill>
                <a:latin typeface="Arial" panose="020B0604020202090204" pitchFamily="34" charset="0"/>
                <a:cs typeface="Arial" panose="020B0604020202090204" pitchFamily="34" charset="0"/>
              </a:rPr>
              <a:t>Sname</a:t>
            </a:r>
            <a:r>
              <a:rPr lang="zh-CN" altLang="en-US" dirty="0">
                <a:solidFill>
                  <a:srgbClr val="FF0000"/>
                </a:solidFill>
                <a:latin typeface="Arial" panose="020B0604020202090204" pitchFamily="34" charset="0"/>
                <a:cs typeface="Arial" panose="020B0604020202090204" pitchFamily="34" charset="0"/>
              </a:rPr>
              <a:t>,</a:t>
            </a:r>
            <a:r>
              <a:rPr lang="en-US" altLang="zh-CN" dirty="0">
                <a:solidFill>
                  <a:srgbClr val="FF0000"/>
                </a:solidFill>
                <a:latin typeface="Arial" panose="020B0604020202090204" pitchFamily="34" charset="0"/>
                <a:cs typeface="Arial" panose="020B0604020202090204" pitchFamily="34" charset="0"/>
              </a:rPr>
              <a:t> Sage</a:t>
            </a:r>
            <a:endParaRPr lang="en-US" altLang="zh-CN" dirty="0">
              <a:solidFill>
                <a:srgbClr val="FF0000"/>
              </a:solidFill>
              <a:latin typeface="Arial" panose="020B0604020202090204" pitchFamily="34" charset="0"/>
              <a:cs typeface="Arial" panose="020B0604020202090204" pitchFamily="34" charset="0"/>
            </a:endParaRPr>
          </a:p>
          <a:p>
            <a:pPr marL="914400" lvl="2" indent="756920">
              <a:buNone/>
            </a:pPr>
            <a:r>
              <a:rPr lang="en-US" altLang="zh-CN" dirty="0">
                <a:solidFill>
                  <a:srgbClr val="FF0000"/>
                </a:solidFill>
                <a:latin typeface="Arial" panose="020B0604020202090204" pitchFamily="34" charset="0"/>
                <a:cs typeface="Arial" panose="020B0604020202090204" pitchFamily="34" charset="0"/>
              </a:rPr>
              <a:t>FROM     Student</a:t>
            </a:r>
            <a:endParaRPr lang="en-US" altLang="zh-CN" dirty="0">
              <a:solidFill>
                <a:srgbClr val="FF0000"/>
              </a:solidFill>
              <a:latin typeface="Arial" panose="020B0604020202090204" pitchFamily="34" charset="0"/>
              <a:cs typeface="Arial" panose="020B0604020202090204" pitchFamily="34" charset="0"/>
            </a:endParaRPr>
          </a:p>
          <a:p>
            <a:pPr marL="914400" lvl="2" indent="756920">
              <a:buNone/>
            </a:pPr>
            <a:r>
              <a:rPr lang="en-US" altLang="zh-CN" dirty="0">
                <a:solidFill>
                  <a:srgbClr val="FF0000"/>
                </a:solidFill>
                <a:latin typeface="Arial" panose="020B0604020202090204" pitchFamily="34" charset="0"/>
                <a:cs typeface="Arial" panose="020B0604020202090204" pitchFamily="34" charset="0"/>
              </a:rPr>
              <a:t>WHERE  </a:t>
            </a:r>
            <a:r>
              <a:rPr lang="en-US" altLang="zh-CN" dirty="0" err="1">
                <a:solidFill>
                  <a:srgbClr val="FF0000"/>
                </a:solidFill>
                <a:latin typeface="Arial" panose="020B0604020202090204" pitchFamily="34" charset="0"/>
                <a:cs typeface="Arial" panose="020B0604020202090204" pitchFamily="34" charset="0"/>
              </a:rPr>
              <a:t>Sdept </a:t>
            </a:r>
            <a:r>
              <a:rPr lang="en-US" altLang="zh-CN" dirty="0">
                <a:solidFill>
                  <a:srgbClr val="FF0000"/>
                </a:solidFill>
                <a:latin typeface="Arial" panose="020B0604020202090204" pitchFamily="34" charset="0"/>
                <a:cs typeface="Arial" panose="020B0604020202090204" pitchFamily="34" charset="0"/>
              </a:rPr>
              <a:t>= 'IS'</a:t>
            </a:r>
            <a:r>
              <a:rPr lang="zh-CN" altLang="en-US" dirty="0">
                <a:solidFill>
                  <a:srgbClr val="FF0000"/>
                </a:solidFill>
                <a:latin typeface="Arial" panose="020B0604020202090204" pitchFamily="34" charset="0"/>
                <a:cs typeface="Arial" panose="020B0604020202090204" pitchFamily="34" charset="0"/>
              </a:rPr>
              <a:t>;</a:t>
            </a:r>
            <a:endParaRPr lang="zh-CN" altLang="en-US" dirty="0">
              <a:solidFill>
                <a:srgbClr val="FF0000"/>
              </a:solidFill>
              <a:latin typeface="Arial" panose="020B0604020202090204" pitchFamily="34" charset="0"/>
              <a:cs typeface="Arial" panose="020B0604020202090204" pitchFamily="34" charset="0"/>
            </a:endParaRPr>
          </a:p>
        </p:txBody>
      </p:sp>
      <p:sp>
        <p:nvSpPr>
          <p:cNvPr id="2" name="灯片编号占位符 1"/>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ch03_3_SQL数据更新</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6083">
                                            <p:txEl>
                                              <p:pRg st="3" end="3"/>
                                            </p:txEl>
                                          </p:spTgt>
                                        </p:tgtEl>
                                        <p:attrNameLst>
                                          <p:attrName>style.visibility</p:attrName>
                                        </p:attrNameLst>
                                      </p:cBhvr>
                                      <p:to>
                                        <p:strVal val="visible"/>
                                      </p:to>
                                    </p:set>
                                    <p:animEffect transition="in" filter="blinds(horizontal)">
                                      <p:cBhvr>
                                        <p:cTn id="7" dur="500"/>
                                        <p:tgtEl>
                                          <p:spTgt spid="4608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6083">
                                            <p:txEl>
                                              <p:pRg st="4" end="4"/>
                                            </p:txEl>
                                          </p:spTgt>
                                        </p:tgtEl>
                                        <p:attrNameLst>
                                          <p:attrName>style.visibility</p:attrName>
                                        </p:attrNameLst>
                                      </p:cBhvr>
                                      <p:to>
                                        <p:strVal val="visible"/>
                                      </p:to>
                                    </p:set>
                                    <p:anim calcmode="lin" valueType="num">
                                      <p:cBhvr additive="base">
                                        <p:cTn id="12" dur="500" fill="hold"/>
                                        <p:tgtEl>
                                          <p:spTgt spid="46083">
                                            <p:txEl>
                                              <p:pRg st="4" end="4"/>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46083">
                                            <p:txEl>
                                              <p:pRg st="4" end="4"/>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46083">
                                            <p:txEl>
                                              <p:pRg st="5" end="5"/>
                                            </p:txEl>
                                          </p:spTgt>
                                        </p:tgtEl>
                                        <p:attrNameLst>
                                          <p:attrName>style.visibility</p:attrName>
                                        </p:attrNameLst>
                                      </p:cBhvr>
                                      <p:to>
                                        <p:strVal val="visible"/>
                                      </p:to>
                                    </p:set>
                                    <p:anim calcmode="lin" valueType="num">
                                      <p:cBhvr additive="base">
                                        <p:cTn id="16" dur="500" fill="hold"/>
                                        <p:tgtEl>
                                          <p:spTgt spid="46083">
                                            <p:txEl>
                                              <p:pRg st="5" end="5"/>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46083">
                                            <p:txEl>
                                              <p:pRg st="5" end="5"/>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46083">
                                            <p:txEl>
                                              <p:pRg st="6" end="6"/>
                                            </p:txEl>
                                          </p:spTgt>
                                        </p:tgtEl>
                                        <p:attrNameLst>
                                          <p:attrName>style.visibility</p:attrName>
                                        </p:attrNameLst>
                                      </p:cBhvr>
                                      <p:to>
                                        <p:strVal val="visible"/>
                                      </p:to>
                                    </p:set>
                                    <p:anim calcmode="lin" valueType="num">
                                      <p:cBhvr additive="base">
                                        <p:cTn id="20" dur="500" fill="hold"/>
                                        <p:tgtEl>
                                          <p:spTgt spid="46083">
                                            <p:txEl>
                                              <p:pRg st="6" end="6"/>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46083">
                                            <p:txEl>
                                              <p:pRg st="6" end="6"/>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46083">
                                            <p:txEl>
                                              <p:pRg st="7" end="7"/>
                                            </p:txEl>
                                          </p:spTgt>
                                        </p:tgtEl>
                                        <p:attrNameLst>
                                          <p:attrName>style.visibility</p:attrName>
                                        </p:attrNameLst>
                                      </p:cBhvr>
                                      <p:to>
                                        <p:strVal val="visible"/>
                                      </p:to>
                                    </p:set>
                                    <p:anim calcmode="lin" valueType="num">
                                      <p:cBhvr additive="base">
                                        <p:cTn id="24" dur="500" fill="hold"/>
                                        <p:tgtEl>
                                          <p:spTgt spid="46083">
                                            <p:txEl>
                                              <p:pRg st="7" end="7"/>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46083">
                                            <p:txEl>
                                              <p:pRg st="7" end="7"/>
                                            </p:txEl>
                                          </p:spTgt>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46083">
                                            <p:txEl>
                                              <p:pRg st="8" end="8"/>
                                            </p:txEl>
                                          </p:spTgt>
                                        </p:tgtEl>
                                        <p:attrNameLst>
                                          <p:attrName>style.visibility</p:attrName>
                                        </p:attrNameLst>
                                      </p:cBhvr>
                                      <p:to>
                                        <p:strVal val="visible"/>
                                      </p:to>
                                    </p:set>
                                    <p:anim calcmode="lin" valueType="num">
                                      <p:cBhvr additive="base">
                                        <p:cTn id="28" dur="500" fill="hold"/>
                                        <p:tgtEl>
                                          <p:spTgt spid="46083">
                                            <p:txEl>
                                              <p:pRg st="8" end="8"/>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4608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zh-CN" altLang="en-US" dirty="0"/>
              <a:t>定义视图</a:t>
            </a:r>
            <a:r>
              <a:rPr lang="en-US" altLang="zh-CN" dirty="0"/>
              <a:t>-</a:t>
            </a:r>
            <a:r>
              <a:rPr lang="zh-CN" altLang="en-US" dirty="0"/>
              <a:t>建立视图 </a:t>
            </a:r>
            <a:r>
              <a:rPr lang="en-US" altLang="zh-CN" dirty="0"/>
              <a:t>4</a:t>
            </a:r>
            <a:endParaRPr lang="zh-CN" altLang="en-US" dirty="0"/>
          </a:p>
        </p:txBody>
      </p:sp>
      <p:sp>
        <p:nvSpPr>
          <p:cNvPr id="48131" name="Rectangle 3"/>
          <p:cNvSpPr>
            <a:spLocks noGrp="1" noChangeArrowheads="1"/>
          </p:cNvSpPr>
          <p:nvPr>
            <p:ph sz="half" idx="1"/>
          </p:nvPr>
        </p:nvSpPr>
        <p:spPr/>
        <p:txBody>
          <a:bodyPr>
            <a:noAutofit/>
          </a:bodyPr>
          <a:lstStyle/>
          <a:p>
            <a:pPr>
              <a:lnSpc>
                <a:spcPct val="110000"/>
              </a:lnSpc>
              <a:spcBef>
                <a:spcPts val="0"/>
              </a:spcBef>
            </a:pPr>
            <a:r>
              <a:rPr lang="en-US" altLang="zh-CN" sz="2800" dirty="0"/>
              <a:t>[</a:t>
            </a:r>
            <a:r>
              <a:rPr lang="zh-CN" altLang="en-US" sz="2800" dirty="0"/>
              <a:t>例</a:t>
            </a:r>
            <a:r>
              <a:rPr lang="en-US" altLang="zh-CN" sz="2800" dirty="0"/>
              <a:t>3.85]</a:t>
            </a:r>
            <a:r>
              <a:rPr lang="zh-CN" altLang="en-US" sz="2800" dirty="0"/>
              <a:t>建立信息系学生的视图，并要求进行修改和插入操作时仍需保证该视图只有信息系的学生。</a:t>
            </a:r>
            <a:endParaRPr lang="zh-CN" altLang="en-US" sz="2800" dirty="0"/>
          </a:p>
          <a:p>
            <a:pPr marL="352425" lvl="1" indent="0">
              <a:lnSpc>
                <a:spcPct val="110000"/>
              </a:lnSpc>
              <a:spcBef>
                <a:spcPts val="0"/>
              </a:spcBef>
              <a:buNone/>
            </a:pPr>
            <a:endParaRPr lang="en-US" altLang="zh-CN" sz="2800" dirty="0">
              <a:latin typeface="Arial" panose="020B0604020202090204" pitchFamily="34" charset="0"/>
              <a:cs typeface="Arial" panose="020B0604020202090204" pitchFamily="34" charset="0"/>
            </a:endParaRPr>
          </a:p>
          <a:p>
            <a:pPr marL="352425" lvl="1" indent="0">
              <a:lnSpc>
                <a:spcPct val="110000"/>
              </a:lnSpc>
              <a:spcBef>
                <a:spcPts val="0"/>
              </a:spcBef>
              <a:buNone/>
            </a:pPr>
            <a:r>
              <a:rPr lang="en-US" altLang="zh-CN" sz="2800" dirty="0">
                <a:solidFill>
                  <a:srgbClr val="FF0000"/>
                </a:solidFill>
                <a:latin typeface="Arial" panose="020B0604020202090204" pitchFamily="34" charset="0"/>
                <a:cs typeface="Arial" panose="020B0604020202090204" pitchFamily="34" charset="0"/>
              </a:rPr>
              <a:t>CREATE  VIEW  </a:t>
            </a:r>
            <a:r>
              <a:rPr lang="en-US" altLang="zh-CN" sz="2800" dirty="0" err="1">
                <a:solidFill>
                  <a:srgbClr val="FF0000"/>
                </a:solidFill>
                <a:latin typeface="Arial" panose="020B0604020202090204" pitchFamily="34" charset="0"/>
                <a:cs typeface="Arial" panose="020B0604020202090204" pitchFamily="34" charset="0"/>
              </a:rPr>
              <a:t>IS_Student</a:t>
            </a:r>
            <a:endParaRPr lang="en-US" altLang="zh-CN" sz="2800" dirty="0">
              <a:solidFill>
                <a:srgbClr val="FF0000"/>
              </a:solidFill>
              <a:latin typeface="Arial" panose="020B0604020202090204" pitchFamily="34" charset="0"/>
              <a:cs typeface="Arial" panose="020B0604020202090204" pitchFamily="34" charset="0"/>
            </a:endParaRPr>
          </a:p>
          <a:p>
            <a:pPr marL="352425" lvl="1" indent="0">
              <a:lnSpc>
                <a:spcPct val="110000"/>
              </a:lnSpc>
              <a:spcBef>
                <a:spcPts val="0"/>
              </a:spcBef>
              <a:buNone/>
            </a:pPr>
            <a:r>
              <a:rPr lang="en-US" altLang="zh-CN" sz="2800" dirty="0">
                <a:solidFill>
                  <a:srgbClr val="FF0000"/>
                </a:solidFill>
                <a:latin typeface="Arial" panose="020B0604020202090204" pitchFamily="34" charset="0"/>
                <a:cs typeface="Arial" panose="020B0604020202090204" pitchFamily="34" charset="0"/>
              </a:rPr>
              <a:t>AS </a:t>
            </a:r>
            <a:endParaRPr lang="en-US" altLang="zh-CN" sz="2800" dirty="0">
              <a:solidFill>
                <a:srgbClr val="FF0000"/>
              </a:solidFill>
              <a:latin typeface="Arial" panose="020B0604020202090204" pitchFamily="34" charset="0"/>
              <a:cs typeface="Arial" panose="020B0604020202090204" pitchFamily="34" charset="0"/>
            </a:endParaRPr>
          </a:p>
          <a:p>
            <a:pPr marL="352425" lvl="1" indent="490220">
              <a:lnSpc>
                <a:spcPct val="110000"/>
              </a:lnSpc>
              <a:spcBef>
                <a:spcPts val="0"/>
              </a:spcBef>
              <a:buNone/>
            </a:pPr>
            <a:r>
              <a:rPr lang="en-US" altLang="zh-CN" sz="2800" dirty="0">
                <a:solidFill>
                  <a:srgbClr val="FF0000"/>
                </a:solidFill>
                <a:latin typeface="Arial" panose="020B0604020202090204" pitchFamily="34" charset="0"/>
                <a:cs typeface="Arial" panose="020B0604020202090204" pitchFamily="34" charset="0"/>
              </a:rPr>
              <a:t>SELECT </a:t>
            </a:r>
            <a:r>
              <a:rPr lang="en-US" altLang="zh-CN" sz="2800" dirty="0" err="1">
                <a:solidFill>
                  <a:srgbClr val="FF0000"/>
                </a:solidFill>
                <a:latin typeface="Arial" panose="020B0604020202090204" pitchFamily="34" charset="0"/>
                <a:cs typeface="Arial" panose="020B0604020202090204" pitchFamily="34" charset="0"/>
              </a:rPr>
              <a:t>Sno</a:t>
            </a:r>
            <a:r>
              <a:rPr lang="zh-CN" altLang="en-US" sz="2800" dirty="0">
                <a:solidFill>
                  <a:srgbClr val="FF0000"/>
                </a:solidFill>
                <a:latin typeface="Arial" panose="020B0604020202090204" pitchFamily="34" charset="0"/>
                <a:cs typeface="Arial" panose="020B0604020202090204" pitchFamily="34" charset="0"/>
              </a:rPr>
              <a:t>,</a:t>
            </a:r>
            <a:r>
              <a:rPr lang="en-US" altLang="zh-CN" sz="2800" dirty="0" err="1">
                <a:solidFill>
                  <a:srgbClr val="FF0000"/>
                </a:solidFill>
                <a:latin typeface="Arial" panose="020B0604020202090204" pitchFamily="34" charset="0"/>
                <a:cs typeface="Arial" panose="020B0604020202090204" pitchFamily="34" charset="0"/>
              </a:rPr>
              <a:t>Sname</a:t>
            </a:r>
            <a:r>
              <a:rPr lang="zh-CN" altLang="en-US" sz="2800" dirty="0">
                <a:solidFill>
                  <a:srgbClr val="FF0000"/>
                </a:solidFill>
                <a:latin typeface="Arial" panose="020B0604020202090204" pitchFamily="34" charset="0"/>
                <a:cs typeface="Arial" panose="020B0604020202090204" pitchFamily="34" charset="0"/>
              </a:rPr>
              <a:t>,</a:t>
            </a:r>
            <a:r>
              <a:rPr lang="en-US" altLang="zh-CN" sz="2800" dirty="0">
                <a:solidFill>
                  <a:srgbClr val="FF0000"/>
                </a:solidFill>
                <a:latin typeface="Arial" panose="020B0604020202090204" pitchFamily="34" charset="0"/>
                <a:cs typeface="Arial" panose="020B0604020202090204" pitchFamily="34" charset="0"/>
              </a:rPr>
              <a:t>Sage</a:t>
            </a:r>
            <a:endParaRPr lang="en-US" altLang="zh-CN" sz="2800" dirty="0">
              <a:solidFill>
                <a:srgbClr val="FF0000"/>
              </a:solidFill>
              <a:latin typeface="Arial" panose="020B0604020202090204" pitchFamily="34" charset="0"/>
              <a:cs typeface="Arial" panose="020B0604020202090204" pitchFamily="34" charset="0"/>
            </a:endParaRPr>
          </a:p>
          <a:p>
            <a:pPr marL="352425" lvl="1" indent="490220">
              <a:lnSpc>
                <a:spcPct val="110000"/>
              </a:lnSpc>
              <a:spcBef>
                <a:spcPts val="0"/>
              </a:spcBef>
              <a:buNone/>
            </a:pPr>
            <a:r>
              <a:rPr lang="en-US" altLang="zh-CN" sz="2800" dirty="0">
                <a:solidFill>
                  <a:srgbClr val="FF0000"/>
                </a:solidFill>
                <a:latin typeface="Arial" panose="020B0604020202090204" pitchFamily="34" charset="0"/>
                <a:cs typeface="Arial" panose="020B0604020202090204" pitchFamily="34" charset="0"/>
              </a:rPr>
              <a:t>FROM  Student</a:t>
            </a:r>
            <a:endParaRPr lang="en-US" altLang="zh-CN" sz="2800" dirty="0">
              <a:solidFill>
                <a:srgbClr val="FF0000"/>
              </a:solidFill>
              <a:latin typeface="Arial" panose="020B0604020202090204" pitchFamily="34" charset="0"/>
              <a:cs typeface="Arial" panose="020B0604020202090204" pitchFamily="34" charset="0"/>
            </a:endParaRPr>
          </a:p>
          <a:p>
            <a:pPr marL="352425" lvl="1" indent="490220">
              <a:lnSpc>
                <a:spcPct val="110000"/>
              </a:lnSpc>
              <a:spcBef>
                <a:spcPts val="0"/>
              </a:spcBef>
              <a:buNone/>
            </a:pPr>
            <a:r>
              <a:rPr lang="en-US" altLang="zh-CN" sz="2800" dirty="0">
                <a:solidFill>
                  <a:srgbClr val="FF0000"/>
                </a:solidFill>
                <a:latin typeface="Arial" panose="020B0604020202090204" pitchFamily="34" charset="0"/>
                <a:cs typeface="Arial" panose="020B0604020202090204" pitchFamily="34" charset="0"/>
              </a:rPr>
              <a:t>WHERE  </a:t>
            </a:r>
            <a:r>
              <a:rPr lang="en-US" altLang="zh-CN" sz="2800" dirty="0" err="1">
                <a:solidFill>
                  <a:srgbClr val="FF0000"/>
                </a:solidFill>
                <a:latin typeface="Arial" panose="020B0604020202090204" pitchFamily="34" charset="0"/>
                <a:cs typeface="Arial" panose="020B0604020202090204" pitchFamily="34" charset="0"/>
              </a:rPr>
              <a:t>Sdept </a:t>
            </a:r>
            <a:r>
              <a:rPr lang="en-US" altLang="zh-CN" sz="2800" dirty="0">
                <a:solidFill>
                  <a:srgbClr val="FF0000"/>
                </a:solidFill>
                <a:latin typeface="Arial" panose="020B0604020202090204" pitchFamily="34" charset="0"/>
                <a:cs typeface="Arial" panose="020B0604020202090204" pitchFamily="34" charset="0"/>
              </a:rPr>
              <a:t>= 'IS'</a:t>
            </a:r>
            <a:endParaRPr lang="en-US" altLang="zh-CN" sz="2800" dirty="0">
              <a:solidFill>
                <a:srgbClr val="FF0000"/>
              </a:solidFill>
              <a:latin typeface="Arial" panose="020B0604020202090204" pitchFamily="34" charset="0"/>
              <a:cs typeface="Arial" panose="020B0604020202090204" pitchFamily="34" charset="0"/>
            </a:endParaRPr>
          </a:p>
          <a:p>
            <a:pPr marL="352425" lvl="1" indent="490220">
              <a:lnSpc>
                <a:spcPct val="110000"/>
              </a:lnSpc>
              <a:spcBef>
                <a:spcPts val="0"/>
              </a:spcBef>
              <a:buNone/>
            </a:pPr>
            <a:r>
              <a:rPr lang="en-US" altLang="zh-CN" sz="2800" dirty="0">
                <a:solidFill>
                  <a:srgbClr val="FF0000"/>
                </a:solidFill>
                <a:latin typeface="Arial" panose="020B0604020202090204" pitchFamily="34" charset="0"/>
                <a:cs typeface="Arial" panose="020B0604020202090204" pitchFamily="34" charset="0"/>
              </a:rPr>
              <a:t>WITH CHECK OPTION</a:t>
            </a:r>
            <a:r>
              <a:rPr lang="zh-CN" altLang="en-US" sz="2800" dirty="0">
                <a:solidFill>
                  <a:srgbClr val="FF0000"/>
                </a:solidFill>
                <a:latin typeface="Arial" panose="020B0604020202090204" pitchFamily="34" charset="0"/>
                <a:cs typeface="Arial" panose="020B0604020202090204" pitchFamily="34" charset="0"/>
              </a:rPr>
              <a:t>;</a:t>
            </a:r>
            <a:endParaRPr lang="zh-CN" altLang="en-US" sz="2800" dirty="0">
              <a:solidFill>
                <a:srgbClr val="FF0000"/>
              </a:solidFill>
              <a:latin typeface="Arial" panose="020B0604020202090204" pitchFamily="34" charset="0"/>
              <a:cs typeface="Arial" panose="020B0604020202090204" pitchFamily="34" charset="0"/>
            </a:endParaRPr>
          </a:p>
        </p:txBody>
      </p:sp>
      <p:sp>
        <p:nvSpPr>
          <p:cNvPr id="4" name="内容占位符 3"/>
          <p:cNvSpPr>
            <a:spLocks noGrp="1"/>
          </p:cNvSpPr>
          <p:nvPr>
            <p:ph sz="half" idx="2"/>
          </p:nvPr>
        </p:nvSpPr>
        <p:spPr/>
        <p:txBody>
          <a:bodyPr>
            <a:noAutofit/>
          </a:bodyPr>
          <a:lstStyle/>
          <a:p>
            <a:pPr>
              <a:lnSpc>
                <a:spcPct val="100000"/>
              </a:lnSpc>
              <a:spcBef>
                <a:spcPct val="0"/>
              </a:spcBef>
            </a:pPr>
            <a:r>
              <a:rPr lang="zh-CN" altLang="en-US" sz="2800" dirty="0">
                <a:latin typeface="Arial" panose="020B0604020202090204" pitchFamily="34" charset="0"/>
                <a:cs typeface="Arial" panose="020B0604020202090204" pitchFamily="34" charset="0"/>
              </a:rPr>
              <a:t>定义</a:t>
            </a:r>
            <a:r>
              <a:rPr lang="en-US" altLang="zh-CN" sz="2800" dirty="0" err="1">
                <a:latin typeface="Arial" panose="020B0604020202090204" pitchFamily="34" charset="0"/>
                <a:cs typeface="Arial" panose="020B0604020202090204" pitchFamily="34" charset="0"/>
              </a:rPr>
              <a:t>IS_Student</a:t>
            </a:r>
            <a:r>
              <a:rPr lang="zh-CN" altLang="en-US" sz="2800" dirty="0">
                <a:latin typeface="Arial" panose="020B0604020202090204" pitchFamily="34" charset="0"/>
                <a:cs typeface="Arial" panose="020B0604020202090204" pitchFamily="34" charset="0"/>
              </a:rPr>
              <a:t>视图时加上了</a:t>
            </a:r>
            <a:r>
              <a:rPr lang="en-US" altLang="zh-CN" sz="2800" dirty="0">
                <a:latin typeface="Arial" panose="020B0604020202090204" pitchFamily="34" charset="0"/>
                <a:cs typeface="Arial" panose="020B0604020202090204" pitchFamily="34" charset="0"/>
              </a:rPr>
              <a:t>WITH CHECK OPTION</a:t>
            </a:r>
            <a:r>
              <a:rPr lang="zh-CN" altLang="en-US" sz="2800" dirty="0">
                <a:latin typeface="Arial" panose="020B0604020202090204" pitchFamily="34" charset="0"/>
                <a:cs typeface="Arial" panose="020B0604020202090204" pitchFamily="34" charset="0"/>
              </a:rPr>
              <a:t>子句，其作用是：</a:t>
            </a:r>
            <a:r>
              <a:rPr lang="zh-CN" altLang="en-US" sz="2800" dirty="0">
                <a:solidFill>
                  <a:srgbClr val="FF0000"/>
                </a:solidFill>
                <a:latin typeface="华文楷体" panose="02010600040101010101" charset="-122"/>
                <a:ea typeface="华文楷体" panose="02010600040101010101" charset="-122"/>
                <a:cs typeface="华文楷体" panose="02010600040101010101" charset="-122"/>
                <a:sym typeface="+mn-ea"/>
              </a:rPr>
              <a:t>如果允许在该视图上执行更新操作，则其更新后的结果元组仍然必需满足视图的定义条件。即通过该视图插入或修改后的新元组能够通过该视图上的查询操作查出来</a:t>
            </a:r>
            <a:r>
              <a:rPr lang="zh-CN" altLang="en-US" sz="2800" dirty="0">
                <a:solidFill>
                  <a:srgbClr val="C00000"/>
                </a:solidFill>
                <a:latin typeface="Arial" panose="020B0604020202090204" pitchFamily="34" charset="0"/>
                <a:cs typeface="Arial" panose="020B0604020202090204" pitchFamily="34" charset="0"/>
              </a:rPr>
              <a:t>。</a:t>
            </a:r>
            <a:endParaRPr lang="zh-CN" altLang="en-US" sz="2800" dirty="0">
              <a:solidFill>
                <a:srgbClr val="C00000"/>
              </a:solidFill>
              <a:latin typeface="Arial" panose="020B0604020202090204" pitchFamily="34" charset="0"/>
              <a:cs typeface="Arial" panose="020B0604020202090204" pitchFamily="34" charset="0"/>
            </a:endParaRPr>
          </a:p>
          <a:p>
            <a:pPr>
              <a:lnSpc>
                <a:spcPct val="100000"/>
              </a:lnSpc>
              <a:spcBef>
                <a:spcPct val="0"/>
              </a:spcBef>
            </a:pPr>
            <a:endParaRPr lang="zh-CN" altLang="en-US" sz="2800" dirty="0"/>
          </a:p>
          <a:p>
            <a:pPr>
              <a:lnSpc>
                <a:spcPct val="100000"/>
              </a:lnSpc>
              <a:spcBef>
                <a:spcPct val="0"/>
              </a:spcBef>
            </a:pPr>
            <a:r>
              <a:rPr lang="zh-CN" altLang="en-US" sz="2800" dirty="0"/>
              <a:t>视图定义中的</a:t>
            </a:r>
            <a:r>
              <a:rPr lang="en-US" altLang="zh-CN" sz="2800" dirty="0">
                <a:latin typeface="Arial" panose="020B0604020202090204" pitchFamily="34" charset="0"/>
                <a:cs typeface="Arial" panose="020B0604020202090204" pitchFamily="34" charset="0"/>
                <a:sym typeface="+mn-ea"/>
              </a:rPr>
              <a:t>WITH CHECK OPTION</a:t>
            </a:r>
            <a:r>
              <a:rPr lang="zh-CN" altLang="en-US" sz="2800" dirty="0">
                <a:latin typeface="Arial" panose="020B0604020202090204" pitchFamily="34" charset="0"/>
                <a:cs typeface="Arial" panose="020B0604020202090204" pitchFamily="34" charset="0"/>
                <a:sym typeface="+mn-ea"/>
              </a:rPr>
              <a:t>子句，不影响直接在基本表</a:t>
            </a:r>
            <a:r>
              <a:rPr lang="en-US" altLang="zh-CN" sz="2800" dirty="0">
                <a:latin typeface="Arial" panose="020B0604020202090204" pitchFamily="34" charset="0"/>
                <a:cs typeface="Arial" panose="020B0604020202090204" pitchFamily="34" charset="0"/>
                <a:sym typeface="+mn-ea"/>
              </a:rPr>
              <a:t>Student</a:t>
            </a:r>
            <a:r>
              <a:rPr lang="zh-CN" altLang="en-US" sz="2800" dirty="0">
                <a:latin typeface="Arial" panose="020B0604020202090204" pitchFamily="34" charset="0"/>
                <a:cs typeface="Arial" panose="020B0604020202090204" pitchFamily="34" charset="0"/>
                <a:sym typeface="+mn-ea"/>
              </a:rPr>
              <a:t>上的元组插入和修改操作的执行。</a:t>
            </a:r>
            <a:endParaRPr lang="zh-CN" altLang="en-US" sz="2800" dirty="0"/>
          </a:p>
        </p:txBody>
      </p:sp>
      <p:sp>
        <p:nvSpPr>
          <p:cNvPr id="2" name="灯片编号占位符 1"/>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5" name="页脚占位符 4"/>
          <p:cNvSpPr>
            <a:spLocks noGrp="1"/>
          </p:cNvSpPr>
          <p:nvPr>
            <p:ph type="ftr" sz="quarter" idx="11"/>
          </p:nvPr>
        </p:nvSpPr>
        <p:spPr/>
        <p:txBody>
          <a:bodyPr/>
          <a:p>
            <a:r>
              <a:rPr lang="zh-CN" altLang="en-US"/>
              <a:t>ch03_3_SQL数据更新</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blinds(horizontal)">
                                      <p:cBhvr>
                                        <p:cTn id="12"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US" dirty="0"/>
              <a:t>WITH CHECK OPTION </a:t>
            </a:r>
            <a:r>
              <a:rPr lang="zh-CN" altLang="en-US" dirty="0"/>
              <a:t>示例</a:t>
            </a:r>
            <a:endParaRPr lang="zh-CN" altLang="en-US" dirty="0"/>
          </a:p>
        </p:txBody>
      </p:sp>
      <p:sp>
        <p:nvSpPr>
          <p:cNvPr id="48131" name="Rectangle 3"/>
          <p:cNvSpPr>
            <a:spLocks noGrp="1" noChangeArrowheads="1"/>
          </p:cNvSpPr>
          <p:nvPr>
            <p:ph sz="half" idx="1"/>
          </p:nvPr>
        </p:nvSpPr>
        <p:spPr/>
        <p:txBody>
          <a:bodyPr>
            <a:noAutofit/>
          </a:bodyPr>
          <a:lstStyle/>
          <a:p>
            <a:pPr>
              <a:lnSpc>
                <a:spcPct val="110000"/>
              </a:lnSpc>
              <a:spcBef>
                <a:spcPts val="0"/>
              </a:spcBef>
            </a:pPr>
            <a:r>
              <a:rPr lang="zh-CN" altLang="en-US" sz="2800" dirty="0"/>
              <a:t>例：有如下</a:t>
            </a:r>
            <a:r>
              <a:rPr lang="zh-CN" altLang="en-US" sz="2800" dirty="0"/>
              <a:t>的信息系学生视图。</a:t>
            </a:r>
            <a:endParaRPr lang="zh-CN" altLang="en-US" sz="2800" dirty="0"/>
          </a:p>
          <a:p>
            <a:pPr marL="352425" lvl="1" indent="0">
              <a:lnSpc>
                <a:spcPct val="110000"/>
              </a:lnSpc>
              <a:spcBef>
                <a:spcPts val="0"/>
              </a:spcBef>
              <a:buNone/>
            </a:pPr>
            <a:endParaRPr lang="en-US" altLang="zh-CN" sz="2800" dirty="0">
              <a:latin typeface="Arial" panose="020B0604020202090204" pitchFamily="34" charset="0"/>
              <a:cs typeface="Arial" panose="020B0604020202090204" pitchFamily="34" charset="0"/>
            </a:endParaRPr>
          </a:p>
          <a:p>
            <a:pPr marL="0" lvl="0" indent="0">
              <a:lnSpc>
                <a:spcPct val="110000"/>
              </a:lnSpc>
              <a:spcBef>
                <a:spcPts val="0"/>
              </a:spcBef>
              <a:buNone/>
            </a:pPr>
            <a:r>
              <a:rPr lang="en-US" altLang="zh-CN" sz="2800" dirty="0">
                <a:solidFill>
                  <a:srgbClr val="FF0000"/>
                </a:solidFill>
                <a:latin typeface="Arial" panose="020B0604020202090204" pitchFamily="34" charset="0"/>
                <a:cs typeface="Arial" panose="020B0604020202090204" pitchFamily="34" charset="0"/>
              </a:rPr>
              <a:t>CREATE  VIEW  </a:t>
            </a:r>
            <a:r>
              <a:rPr lang="en-US" altLang="zh-CN" sz="2800" dirty="0" err="1">
                <a:solidFill>
                  <a:srgbClr val="FF0000"/>
                </a:solidFill>
                <a:latin typeface="Arial" panose="020B0604020202090204" pitchFamily="34" charset="0"/>
                <a:cs typeface="Arial" panose="020B0604020202090204" pitchFamily="34" charset="0"/>
              </a:rPr>
              <a:t>IS_Stud</a:t>
            </a:r>
            <a:endParaRPr lang="en-US" altLang="zh-CN" sz="2800" dirty="0">
              <a:solidFill>
                <a:srgbClr val="FF0000"/>
              </a:solidFill>
              <a:latin typeface="Arial" panose="020B0604020202090204" pitchFamily="34" charset="0"/>
              <a:cs typeface="Arial" panose="020B0604020202090204" pitchFamily="34" charset="0"/>
            </a:endParaRPr>
          </a:p>
          <a:p>
            <a:pPr marL="0" lvl="0" indent="0">
              <a:lnSpc>
                <a:spcPct val="110000"/>
              </a:lnSpc>
              <a:spcBef>
                <a:spcPts val="0"/>
              </a:spcBef>
              <a:buNone/>
            </a:pPr>
            <a:r>
              <a:rPr lang="en-US" altLang="zh-CN" sz="2800" dirty="0">
                <a:solidFill>
                  <a:srgbClr val="FF0000"/>
                </a:solidFill>
                <a:latin typeface="Arial" panose="020B0604020202090204" pitchFamily="34" charset="0"/>
                <a:cs typeface="Arial" panose="020B0604020202090204" pitchFamily="34" charset="0"/>
              </a:rPr>
              <a:t>AS </a:t>
            </a:r>
            <a:endParaRPr lang="en-US" altLang="zh-CN" sz="2800" dirty="0">
              <a:solidFill>
                <a:srgbClr val="FF0000"/>
              </a:solidFill>
              <a:latin typeface="Arial" panose="020B0604020202090204" pitchFamily="34" charset="0"/>
              <a:cs typeface="Arial" panose="020B0604020202090204" pitchFamily="34" charset="0"/>
            </a:endParaRPr>
          </a:p>
          <a:p>
            <a:pPr marL="0" lvl="0" indent="490220">
              <a:lnSpc>
                <a:spcPct val="110000"/>
              </a:lnSpc>
              <a:spcBef>
                <a:spcPts val="0"/>
              </a:spcBef>
              <a:buNone/>
            </a:pPr>
            <a:r>
              <a:rPr lang="en-US" altLang="zh-CN" sz="2800" dirty="0">
                <a:solidFill>
                  <a:srgbClr val="FF0000"/>
                </a:solidFill>
                <a:latin typeface="Arial" panose="020B0604020202090204" pitchFamily="34" charset="0"/>
                <a:cs typeface="Arial" panose="020B0604020202090204" pitchFamily="34" charset="0"/>
              </a:rPr>
              <a:t>SELECT </a:t>
            </a:r>
            <a:r>
              <a:rPr lang="en-US" altLang="zh-CN" sz="2800" dirty="0" err="1">
                <a:solidFill>
                  <a:srgbClr val="FF0000"/>
                </a:solidFill>
                <a:latin typeface="Arial" panose="020B0604020202090204" pitchFamily="34" charset="0"/>
                <a:cs typeface="Arial" panose="020B0604020202090204" pitchFamily="34" charset="0"/>
              </a:rPr>
              <a:t>Sno</a:t>
            </a:r>
            <a:r>
              <a:rPr lang="zh-CN" altLang="en-US" sz="2800" dirty="0">
                <a:solidFill>
                  <a:srgbClr val="FF0000"/>
                </a:solidFill>
                <a:latin typeface="Arial" panose="020B0604020202090204" pitchFamily="34" charset="0"/>
                <a:cs typeface="Arial" panose="020B0604020202090204" pitchFamily="34" charset="0"/>
              </a:rPr>
              <a:t>,</a:t>
            </a:r>
            <a:r>
              <a:rPr lang="en-US" altLang="zh-CN" sz="2800" dirty="0" err="1">
                <a:solidFill>
                  <a:srgbClr val="FF0000"/>
                </a:solidFill>
                <a:latin typeface="Arial" panose="020B0604020202090204" pitchFamily="34" charset="0"/>
                <a:cs typeface="Arial" panose="020B0604020202090204" pitchFamily="34" charset="0"/>
              </a:rPr>
              <a:t>Sname</a:t>
            </a:r>
            <a:r>
              <a:rPr lang="zh-CN" altLang="en-US" sz="2800" dirty="0">
                <a:solidFill>
                  <a:srgbClr val="FF0000"/>
                </a:solidFill>
                <a:latin typeface="Arial" panose="020B0604020202090204" pitchFamily="34" charset="0"/>
                <a:cs typeface="Arial" panose="020B0604020202090204" pitchFamily="34" charset="0"/>
              </a:rPr>
              <a:t>,</a:t>
            </a:r>
            <a:r>
              <a:rPr lang="en-US" altLang="zh-CN" sz="2800" dirty="0">
                <a:solidFill>
                  <a:srgbClr val="FF0000"/>
                </a:solidFill>
                <a:latin typeface="Arial" panose="020B0604020202090204" pitchFamily="34" charset="0"/>
                <a:cs typeface="Arial" panose="020B0604020202090204" pitchFamily="34" charset="0"/>
              </a:rPr>
              <a:t>Sdept</a:t>
            </a:r>
            <a:endParaRPr lang="en-US" altLang="zh-CN" sz="2800" dirty="0">
              <a:solidFill>
                <a:srgbClr val="FF0000"/>
              </a:solidFill>
              <a:latin typeface="Arial" panose="020B0604020202090204" pitchFamily="34" charset="0"/>
              <a:cs typeface="Arial" panose="020B0604020202090204" pitchFamily="34" charset="0"/>
            </a:endParaRPr>
          </a:p>
          <a:p>
            <a:pPr marL="0" lvl="0" indent="490220">
              <a:lnSpc>
                <a:spcPct val="110000"/>
              </a:lnSpc>
              <a:spcBef>
                <a:spcPts val="0"/>
              </a:spcBef>
              <a:buNone/>
            </a:pPr>
            <a:r>
              <a:rPr lang="en-US" altLang="zh-CN" sz="2800" dirty="0">
                <a:solidFill>
                  <a:srgbClr val="FF0000"/>
                </a:solidFill>
                <a:latin typeface="Arial" panose="020B0604020202090204" pitchFamily="34" charset="0"/>
                <a:cs typeface="Arial" panose="020B0604020202090204" pitchFamily="34" charset="0"/>
              </a:rPr>
              <a:t>FROM  Student</a:t>
            </a:r>
            <a:endParaRPr lang="en-US" altLang="zh-CN" sz="2800" dirty="0">
              <a:solidFill>
                <a:srgbClr val="FF0000"/>
              </a:solidFill>
              <a:latin typeface="Arial" panose="020B0604020202090204" pitchFamily="34" charset="0"/>
              <a:cs typeface="Arial" panose="020B0604020202090204" pitchFamily="34" charset="0"/>
            </a:endParaRPr>
          </a:p>
          <a:p>
            <a:pPr marL="0" lvl="0" indent="490220">
              <a:lnSpc>
                <a:spcPct val="110000"/>
              </a:lnSpc>
              <a:spcBef>
                <a:spcPts val="0"/>
              </a:spcBef>
              <a:buNone/>
            </a:pPr>
            <a:r>
              <a:rPr lang="en-US" altLang="zh-CN" sz="2800" dirty="0">
                <a:solidFill>
                  <a:srgbClr val="FF0000"/>
                </a:solidFill>
                <a:latin typeface="Arial" panose="020B0604020202090204" pitchFamily="34" charset="0"/>
                <a:cs typeface="Arial" panose="020B0604020202090204" pitchFamily="34" charset="0"/>
              </a:rPr>
              <a:t>WHERE  </a:t>
            </a:r>
            <a:r>
              <a:rPr lang="en-US" altLang="zh-CN" sz="2800" dirty="0" err="1">
                <a:solidFill>
                  <a:srgbClr val="FF0000"/>
                </a:solidFill>
                <a:latin typeface="Arial" panose="020B0604020202090204" pitchFamily="34" charset="0"/>
                <a:cs typeface="Arial" panose="020B0604020202090204" pitchFamily="34" charset="0"/>
              </a:rPr>
              <a:t>Sdept </a:t>
            </a:r>
            <a:r>
              <a:rPr lang="en-US" altLang="zh-CN" sz="2800" dirty="0">
                <a:solidFill>
                  <a:srgbClr val="FF0000"/>
                </a:solidFill>
                <a:latin typeface="Arial" panose="020B0604020202090204" pitchFamily="34" charset="0"/>
                <a:cs typeface="Arial" panose="020B0604020202090204" pitchFamily="34" charset="0"/>
              </a:rPr>
              <a:t>= 'IS'</a:t>
            </a:r>
            <a:endParaRPr lang="en-US" altLang="zh-CN" sz="2800" dirty="0">
              <a:solidFill>
                <a:srgbClr val="FF0000"/>
              </a:solidFill>
              <a:latin typeface="Arial" panose="020B0604020202090204" pitchFamily="34" charset="0"/>
              <a:cs typeface="Arial" panose="020B0604020202090204" pitchFamily="34" charset="0"/>
            </a:endParaRPr>
          </a:p>
          <a:p>
            <a:pPr marL="0" lvl="0" indent="490220">
              <a:lnSpc>
                <a:spcPct val="110000"/>
              </a:lnSpc>
              <a:spcBef>
                <a:spcPts val="0"/>
              </a:spcBef>
              <a:buNone/>
            </a:pPr>
            <a:r>
              <a:rPr lang="en-US" altLang="zh-CN" sz="2800" dirty="0">
                <a:solidFill>
                  <a:srgbClr val="FF0000"/>
                </a:solidFill>
                <a:latin typeface="Arial" panose="020B0604020202090204" pitchFamily="34" charset="0"/>
                <a:cs typeface="Arial" panose="020B0604020202090204" pitchFamily="34" charset="0"/>
              </a:rPr>
              <a:t>WITH CHECK OPTION</a:t>
            </a:r>
            <a:r>
              <a:rPr lang="zh-CN" altLang="en-US" sz="2800" dirty="0">
                <a:solidFill>
                  <a:srgbClr val="FF0000"/>
                </a:solidFill>
                <a:latin typeface="Arial" panose="020B0604020202090204" pitchFamily="34" charset="0"/>
                <a:cs typeface="Arial" panose="020B0604020202090204" pitchFamily="34" charset="0"/>
              </a:rPr>
              <a:t>;</a:t>
            </a:r>
            <a:endParaRPr lang="zh-CN" altLang="en-US" sz="2800" dirty="0">
              <a:solidFill>
                <a:srgbClr val="FF0000"/>
              </a:solidFill>
              <a:latin typeface="Arial" panose="020B0604020202090204" pitchFamily="34" charset="0"/>
              <a:cs typeface="Arial" panose="020B0604020202090204" pitchFamily="34" charset="0"/>
            </a:endParaRPr>
          </a:p>
        </p:txBody>
      </p:sp>
      <p:sp>
        <p:nvSpPr>
          <p:cNvPr id="4" name="内容占位符 3"/>
          <p:cNvSpPr>
            <a:spLocks noGrp="1"/>
          </p:cNvSpPr>
          <p:nvPr>
            <p:ph sz="half" idx="2"/>
          </p:nvPr>
        </p:nvSpPr>
        <p:spPr/>
        <p:txBody>
          <a:bodyPr>
            <a:noAutofit/>
          </a:bodyPr>
          <a:lstStyle/>
          <a:p>
            <a:pPr>
              <a:lnSpc>
                <a:spcPct val="100000"/>
              </a:lnSpc>
              <a:spcBef>
                <a:spcPct val="0"/>
              </a:spcBef>
            </a:pPr>
            <a:r>
              <a:rPr lang="zh-CN" altLang="en-US" sz="2800" dirty="0">
                <a:latin typeface="Arial" panose="020B0604020202090204" pitchFamily="34" charset="0"/>
                <a:cs typeface="Arial" panose="020B0604020202090204" pitchFamily="34" charset="0"/>
              </a:rPr>
              <a:t>例：下述元组插入和修改操作都</a:t>
            </a:r>
            <a:r>
              <a:rPr lang="zh-CN" altLang="en-US" sz="2800" dirty="0">
                <a:solidFill>
                  <a:srgbClr val="C00000"/>
                </a:solidFill>
                <a:latin typeface="Arial" panose="020B0604020202090204" pitchFamily="34" charset="0"/>
                <a:cs typeface="Arial" panose="020B0604020202090204" pitchFamily="34" charset="0"/>
              </a:rPr>
              <a:t>不会得到执行</a:t>
            </a:r>
            <a:r>
              <a:rPr lang="zh-CN" altLang="en-US" sz="2800" dirty="0">
                <a:latin typeface="Arial" panose="020B0604020202090204" pitchFamily="34" charset="0"/>
                <a:cs typeface="Arial" panose="020B0604020202090204" pitchFamily="34" charset="0"/>
              </a:rPr>
              <a:t>：</a:t>
            </a:r>
            <a:endParaRPr lang="zh-CN" altLang="en-US" sz="2800" dirty="0"/>
          </a:p>
          <a:p>
            <a:pPr marL="0" lvl="0" indent="321945">
              <a:lnSpc>
                <a:spcPct val="100000"/>
              </a:lnSpc>
              <a:buNone/>
            </a:pPr>
            <a:r>
              <a:rPr lang="en-US" altLang="zh-CN" sz="2400" dirty="0">
                <a:latin typeface="Arial" panose="020B0604020202090204" pitchFamily="34" charset="0"/>
                <a:cs typeface="Arial" panose="020B0604020202090204" pitchFamily="34" charset="0"/>
              </a:rPr>
              <a:t>INSERT  INTO  IS_Stud</a:t>
            </a:r>
            <a:endParaRPr lang="en-US" altLang="zh-CN" sz="2400" dirty="0">
              <a:latin typeface="Arial" panose="020B0604020202090204" pitchFamily="34" charset="0"/>
              <a:cs typeface="Arial" panose="020B0604020202090204" pitchFamily="34" charset="0"/>
            </a:endParaRPr>
          </a:p>
          <a:p>
            <a:pPr marL="0" lvl="0" indent="321945">
              <a:lnSpc>
                <a:spcPct val="100000"/>
              </a:lnSpc>
              <a:spcBef>
                <a:spcPct val="0"/>
              </a:spcBef>
              <a:buNone/>
            </a:pPr>
            <a:r>
              <a:rPr lang="en-US" altLang="zh-CN" sz="2400" dirty="0">
                <a:latin typeface="Arial" panose="020B0604020202090204" pitchFamily="34" charset="0"/>
                <a:cs typeface="Arial" panose="020B0604020202090204" pitchFamily="34" charset="0"/>
              </a:rPr>
              <a:t>VALUES(</a:t>
            </a:r>
            <a:r>
              <a:rPr lang="en-US" altLang="zh-CN" sz="2400" dirty="0">
                <a:latin typeface="Arial" panose="020B0604020202090204" pitchFamily="34" charset="0"/>
                <a:cs typeface="Arial" panose="020B0604020202090204" pitchFamily="34" charset="0"/>
                <a:sym typeface="+mn-ea"/>
              </a:rPr>
              <a:t>231215101,‘</a:t>
            </a:r>
            <a:r>
              <a:rPr lang="zh-CN" altLang="en-US" sz="2400" dirty="0">
                <a:latin typeface="Arial" panose="020B0604020202090204" pitchFamily="34" charset="0"/>
                <a:cs typeface="Arial" panose="020B0604020202090204" pitchFamily="34" charset="0"/>
                <a:sym typeface="+mn-ea"/>
              </a:rPr>
              <a:t>王海</a:t>
            </a:r>
            <a:r>
              <a:rPr lang="en-US" altLang="zh-CN" sz="2400" dirty="0">
                <a:latin typeface="Arial" panose="020B0604020202090204" pitchFamily="34" charset="0"/>
                <a:cs typeface="Arial" panose="020B0604020202090204" pitchFamily="34" charset="0"/>
                <a:sym typeface="+mn-ea"/>
              </a:rPr>
              <a:t>’,‘CS’);</a:t>
            </a:r>
            <a:endParaRPr lang="en-US" altLang="zh-CN" sz="2400" dirty="0">
              <a:latin typeface="Arial" panose="020B0604020202090204" pitchFamily="34" charset="0"/>
              <a:cs typeface="Arial" panose="020B0604020202090204" pitchFamily="34" charset="0"/>
              <a:sym typeface="+mn-ea"/>
            </a:endParaRPr>
          </a:p>
          <a:p>
            <a:pPr marL="0" lvl="0" indent="321945">
              <a:lnSpc>
                <a:spcPct val="100000"/>
              </a:lnSpc>
              <a:buNone/>
            </a:pPr>
            <a:r>
              <a:rPr lang="en-US" altLang="zh-CN" sz="2400" dirty="0">
                <a:latin typeface="Arial" panose="020B0604020202090204" pitchFamily="34" charset="0"/>
                <a:cs typeface="Arial" panose="020B0604020202090204" pitchFamily="34" charset="0"/>
                <a:sym typeface="+mn-ea"/>
              </a:rPr>
              <a:t>UPDATE  </a:t>
            </a:r>
            <a:r>
              <a:rPr lang="en-US" altLang="zh-CN" sz="2400" dirty="0">
                <a:latin typeface="Arial" panose="020B0604020202090204" pitchFamily="34" charset="0"/>
                <a:cs typeface="Arial" panose="020B0604020202090204" pitchFamily="34" charset="0"/>
                <a:sym typeface="+mn-ea"/>
              </a:rPr>
              <a:t>IS_Stud</a:t>
            </a:r>
            <a:endParaRPr lang="en-US" altLang="zh-CN" sz="2400" dirty="0">
              <a:latin typeface="Arial" panose="020B0604020202090204" pitchFamily="34" charset="0"/>
              <a:cs typeface="Arial" panose="020B0604020202090204" pitchFamily="34" charset="0"/>
              <a:sym typeface="+mn-ea"/>
            </a:endParaRPr>
          </a:p>
          <a:p>
            <a:pPr marL="0" lvl="0" indent="321945">
              <a:lnSpc>
                <a:spcPct val="100000"/>
              </a:lnSpc>
              <a:spcBef>
                <a:spcPct val="0"/>
              </a:spcBef>
              <a:buNone/>
            </a:pPr>
            <a:r>
              <a:rPr lang="en-US" altLang="zh-CN" sz="2400" dirty="0">
                <a:latin typeface="Arial" panose="020B0604020202090204" pitchFamily="34" charset="0"/>
                <a:cs typeface="Arial" panose="020B0604020202090204" pitchFamily="34" charset="0"/>
                <a:sym typeface="+mn-ea"/>
              </a:rPr>
              <a:t>SET  Sdept = ‘CS’</a:t>
            </a:r>
            <a:endParaRPr lang="en-US" altLang="zh-CN" sz="2400" dirty="0">
              <a:latin typeface="Arial" panose="020B0604020202090204" pitchFamily="34" charset="0"/>
              <a:cs typeface="Arial" panose="020B0604020202090204" pitchFamily="34" charset="0"/>
              <a:sym typeface="+mn-ea"/>
            </a:endParaRPr>
          </a:p>
          <a:p>
            <a:pPr marL="0" lvl="0" indent="321945">
              <a:lnSpc>
                <a:spcPct val="100000"/>
              </a:lnSpc>
              <a:spcBef>
                <a:spcPct val="0"/>
              </a:spcBef>
              <a:buNone/>
            </a:pPr>
            <a:r>
              <a:rPr lang="en-US" altLang="zh-CN" sz="2400" dirty="0">
                <a:latin typeface="Arial" panose="020B0604020202090204" pitchFamily="34" charset="0"/>
                <a:cs typeface="Arial" panose="020B0604020202090204" pitchFamily="34" charset="0"/>
                <a:sym typeface="+mn-ea"/>
              </a:rPr>
              <a:t>WHERE  Sno = ‘</a:t>
            </a:r>
            <a:r>
              <a:rPr lang="en-US" altLang="zh-CN" sz="2400" dirty="0">
                <a:latin typeface="Arial" panose="020B0604020202090204" pitchFamily="34" charset="0"/>
                <a:cs typeface="Arial" panose="020B0604020202090204" pitchFamily="34" charset="0"/>
                <a:sym typeface="+mn-ea"/>
              </a:rPr>
              <a:t>201215121</a:t>
            </a:r>
            <a:r>
              <a:rPr lang="en-US" altLang="zh-CN" sz="2400" dirty="0">
                <a:latin typeface="Arial" panose="020B0604020202090204" pitchFamily="34" charset="0"/>
                <a:cs typeface="Arial" panose="020B0604020202090204" pitchFamily="34" charset="0"/>
                <a:sym typeface="+mn-ea"/>
              </a:rPr>
              <a:t>’;</a:t>
            </a:r>
            <a:endParaRPr lang="zh-CN" altLang="en-US" sz="2400" dirty="0">
              <a:latin typeface="Arial" panose="020B0604020202090204" pitchFamily="34" charset="0"/>
              <a:cs typeface="Arial" panose="020B0604020202090204" pitchFamily="34" charset="0"/>
              <a:sym typeface="+mn-ea"/>
            </a:endParaRPr>
          </a:p>
          <a:p>
            <a:pPr marL="342900" lvl="0" indent="-342900">
              <a:lnSpc>
                <a:spcPct val="100000"/>
              </a:lnSpc>
            </a:pPr>
            <a:r>
              <a:rPr lang="zh-CN" altLang="en-US" sz="2400" dirty="0">
                <a:latin typeface="Arial" panose="020B0604020202090204" pitchFamily="34" charset="0"/>
                <a:cs typeface="Arial" panose="020B0604020202090204" pitchFamily="34" charset="0"/>
                <a:sym typeface="+mn-ea"/>
              </a:rPr>
              <a:t>但是，在基本表</a:t>
            </a:r>
            <a:r>
              <a:rPr lang="en-US" altLang="zh-CN" sz="2400" dirty="0">
                <a:latin typeface="Arial" panose="020B0604020202090204" pitchFamily="34" charset="0"/>
                <a:cs typeface="Arial" panose="020B0604020202090204" pitchFamily="34" charset="0"/>
                <a:sym typeface="+mn-ea"/>
              </a:rPr>
              <a:t>Student</a:t>
            </a:r>
            <a:r>
              <a:rPr lang="zh-CN" altLang="en-US" sz="2400" dirty="0">
                <a:latin typeface="Arial" panose="020B0604020202090204" pitchFamily="34" charset="0"/>
                <a:cs typeface="Arial" panose="020B0604020202090204" pitchFamily="34" charset="0"/>
                <a:sym typeface="+mn-ea"/>
              </a:rPr>
              <a:t>上可以执行</a:t>
            </a:r>
            <a:endParaRPr lang="zh-CN" altLang="en-US" sz="2400" dirty="0">
              <a:latin typeface="Arial" panose="020B0604020202090204" pitchFamily="34" charset="0"/>
              <a:cs typeface="Arial" panose="020B0604020202090204" pitchFamily="34" charset="0"/>
              <a:sym typeface="+mn-ea"/>
            </a:endParaRPr>
          </a:p>
          <a:p>
            <a:pPr marL="0" lvl="0" indent="321945">
              <a:lnSpc>
                <a:spcPct val="100000"/>
              </a:lnSpc>
              <a:spcBef>
                <a:spcPts val="0"/>
              </a:spcBef>
              <a:buNone/>
            </a:pPr>
            <a:r>
              <a:rPr lang="en-US" altLang="zh-CN" sz="2400" dirty="0">
                <a:latin typeface="Arial" panose="020B0604020202090204" pitchFamily="34" charset="0"/>
                <a:cs typeface="Arial" panose="020B0604020202090204" pitchFamily="34" charset="0"/>
                <a:sym typeface="+mn-ea"/>
              </a:rPr>
              <a:t>INSERT  </a:t>
            </a:r>
            <a:endParaRPr lang="en-US" altLang="zh-CN" sz="2400" dirty="0">
              <a:latin typeface="Arial" panose="020B0604020202090204" pitchFamily="34" charset="0"/>
              <a:cs typeface="Arial" panose="020B0604020202090204" pitchFamily="34" charset="0"/>
              <a:sym typeface="+mn-ea"/>
            </a:endParaRPr>
          </a:p>
          <a:p>
            <a:pPr marL="0" lvl="0" indent="321945">
              <a:lnSpc>
                <a:spcPct val="100000"/>
              </a:lnSpc>
              <a:spcBef>
                <a:spcPts val="0"/>
              </a:spcBef>
              <a:buNone/>
            </a:pPr>
            <a:r>
              <a:rPr lang="en-US" altLang="zh-CN" sz="2400" dirty="0">
                <a:latin typeface="Arial" panose="020B0604020202090204" pitchFamily="34" charset="0"/>
                <a:cs typeface="Arial" panose="020B0604020202090204" pitchFamily="34" charset="0"/>
                <a:sym typeface="+mn-ea"/>
              </a:rPr>
              <a:t>INTO  Student(Sno,Sname,Sdept)</a:t>
            </a:r>
            <a:endParaRPr lang="en-US" altLang="zh-CN" sz="2400" dirty="0">
              <a:latin typeface="Arial" panose="020B0604020202090204" pitchFamily="34" charset="0"/>
              <a:cs typeface="Arial" panose="020B0604020202090204" pitchFamily="34" charset="0"/>
            </a:endParaRPr>
          </a:p>
          <a:p>
            <a:pPr marL="0" lvl="0" indent="321945">
              <a:lnSpc>
                <a:spcPct val="100000"/>
              </a:lnSpc>
              <a:spcBef>
                <a:spcPct val="0"/>
              </a:spcBef>
              <a:buNone/>
            </a:pPr>
            <a:r>
              <a:rPr lang="en-US" altLang="zh-CN" sz="2400" dirty="0">
                <a:latin typeface="Arial" panose="020B0604020202090204" pitchFamily="34" charset="0"/>
                <a:cs typeface="Arial" panose="020B0604020202090204" pitchFamily="34" charset="0"/>
                <a:sym typeface="+mn-ea"/>
              </a:rPr>
              <a:t>VALUES(</a:t>
            </a:r>
            <a:r>
              <a:rPr lang="en-US" altLang="zh-CN" sz="2400" dirty="0">
                <a:latin typeface="Arial" panose="020B0604020202090204" pitchFamily="34" charset="0"/>
                <a:cs typeface="Arial" panose="020B0604020202090204" pitchFamily="34" charset="0"/>
                <a:sym typeface="+mn-ea"/>
              </a:rPr>
              <a:t>231215101,‘</a:t>
            </a:r>
            <a:r>
              <a:rPr lang="zh-CN" altLang="en-US" sz="2400" dirty="0">
                <a:latin typeface="Arial" panose="020B0604020202090204" pitchFamily="34" charset="0"/>
                <a:cs typeface="Arial" panose="020B0604020202090204" pitchFamily="34" charset="0"/>
                <a:sym typeface="+mn-ea"/>
              </a:rPr>
              <a:t>王海</a:t>
            </a:r>
            <a:r>
              <a:rPr lang="en-US" altLang="zh-CN" sz="2400" dirty="0">
                <a:latin typeface="Arial" panose="020B0604020202090204" pitchFamily="34" charset="0"/>
                <a:cs typeface="Arial" panose="020B0604020202090204" pitchFamily="34" charset="0"/>
                <a:sym typeface="+mn-ea"/>
              </a:rPr>
              <a:t>’,‘CS’);</a:t>
            </a:r>
            <a:endParaRPr lang="en-US" altLang="zh-CN" sz="2400" dirty="0">
              <a:latin typeface="Arial" panose="020B0604020202090204" pitchFamily="34" charset="0"/>
              <a:cs typeface="Arial" panose="020B0604020202090204" pitchFamily="34" charset="0"/>
              <a:sym typeface="+mn-ea"/>
            </a:endParaRPr>
          </a:p>
          <a:p>
            <a:pPr marL="0" lvl="0" indent="321945">
              <a:lnSpc>
                <a:spcPct val="100000"/>
              </a:lnSpc>
              <a:buNone/>
            </a:pPr>
            <a:r>
              <a:rPr lang="en-US" altLang="zh-CN" sz="2400" dirty="0">
                <a:latin typeface="Arial" panose="020B0604020202090204" pitchFamily="34" charset="0"/>
                <a:cs typeface="Arial" panose="020B0604020202090204" pitchFamily="34" charset="0"/>
                <a:sym typeface="+mn-ea"/>
              </a:rPr>
              <a:t>UPDATE  Student</a:t>
            </a:r>
            <a:endParaRPr lang="en-US" altLang="zh-CN" sz="2400" dirty="0">
              <a:latin typeface="Arial" panose="020B0604020202090204" pitchFamily="34" charset="0"/>
              <a:cs typeface="Arial" panose="020B0604020202090204" pitchFamily="34" charset="0"/>
              <a:sym typeface="+mn-ea"/>
            </a:endParaRPr>
          </a:p>
          <a:p>
            <a:pPr marL="0" lvl="0" indent="321945">
              <a:lnSpc>
                <a:spcPct val="100000"/>
              </a:lnSpc>
              <a:spcBef>
                <a:spcPct val="0"/>
              </a:spcBef>
              <a:buNone/>
            </a:pPr>
            <a:r>
              <a:rPr lang="en-US" altLang="zh-CN" sz="2400" dirty="0">
                <a:latin typeface="Arial" panose="020B0604020202090204" pitchFamily="34" charset="0"/>
                <a:cs typeface="Arial" panose="020B0604020202090204" pitchFamily="34" charset="0"/>
                <a:sym typeface="+mn-ea"/>
              </a:rPr>
              <a:t>SET  Sdept = ‘CS’</a:t>
            </a:r>
            <a:endParaRPr lang="en-US" altLang="zh-CN" sz="2400" dirty="0">
              <a:latin typeface="Arial" panose="020B0604020202090204" pitchFamily="34" charset="0"/>
              <a:cs typeface="Arial" panose="020B0604020202090204" pitchFamily="34" charset="0"/>
              <a:sym typeface="+mn-ea"/>
            </a:endParaRPr>
          </a:p>
          <a:p>
            <a:pPr marL="0" lvl="0" indent="321945">
              <a:lnSpc>
                <a:spcPct val="100000"/>
              </a:lnSpc>
              <a:spcBef>
                <a:spcPct val="0"/>
              </a:spcBef>
              <a:buNone/>
            </a:pPr>
            <a:r>
              <a:rPr lang="en-US" altLang="zh-CN" sz="2400" dirty="0">
                <a:latin typeface="Arial" panose="020B0604020202090204" pitchFamily="34" charset="0"/>
                <a:cs typeface="Arial" panose="020B0604020202090204" pitchFamily="34" charset="0"/>
                <a:sym typeface="+mn-ea"/>
              </a:rPr>
              <a:t>WHERE  Sno = ‘201215121’;</a:t>
            </a:r>
            <a:endParaRPr lang="zh-CN" altLang="en-US" sz="2400" dirty="0">
              <a:latin typeface="Arial" panose="020B0604020202090204" pitchFamily="34" charset="0"/>
              <a:cs typeface="Arial" panose="020B0604020202090204" pitchFamily="34" charset="0"/>
              <a:sym typeface="+mn-ea"/>
            </a:endParaRPr>
          </a:p>
        </p:txBody>
      </p:sp>
      <p:sp>
        <p:nvSpPr>
          <p:cNvPr id="2" name="灯片编号占位符 1"/>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5" name="页脚占位符 4"/>
          <p:cNvSpPr>
            <a:spLocks noGrp="1"/>
          </p:cNvSpPr>
          <p:nvPr>
            <p:ph type="ftr" sz="quarter" idx="11"/>
          </p:nvPr>
        </p:nvSpPr>
        <p:spPr/>
        <p:txBody>
          <a:bodyPr/>
          <a:p>
            <a:r>
              <a:rPr lang="zh-CN" altLang="en-US"/>
              <a:t>ch03_3_SQL数据更新</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blinds(horizontal)">
                                      <p:cBhvr>
                                        <p:cTn id="10" dur="500"/>
                                        <p:tgtEl>
                                          <p:spTgt spid="4">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blinds(horizontal)">
                                      <p:cBhvr>
                                        <p:cTn id="13" dur="500"/>
                                        <p:tgtEl>
                                          <p:spTgt spid="4">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blinds(horizontal)">
                                      <p:cBhvr>
                                        <p:cTn id="18" dur="500"/>
                                        <p:tgtEl>
                                          <p:spTgt spid="4">
                                            <p:txEl>
                                              <p:pRg st="3" end="3"/>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blinds(horizontal)">
                                      <p:cBhvr>
                                        <p:cTn id="21" dur="500"/>
                                        <p:tgtEl>
                                          <p:spTgt spid="4">
                                            <p:txEl>
                                              <p:pRg st="4" end="4"/>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blinds(horizontal)">
                                      <p:cBhvr>
                                        <p:cTn id="24" dur="500"/>
                                        <p:tgtEl>
                                          <p:spTgt spid="4">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animEffect transition="in" filter="blinds(horizontal)">
                                      <p:cBhvr>
                                        <p:cTn id="29" dur="500"/>
                                        <p:tgtEl>
                                          <p:spTgt spid="4">
                                            <p:txEl>
                                              <p:pRg st="6" end="6"/>
                                            </p:txEl>
                                          </p:spTgt>
                                        </p:tgtEl>
                                      </p:cBhvr>
                                    </p:animEffect>
                                  </p:childTnLst>
                                </p:cTn>
                              </p:par>
                              <p:par>
                                <p:cTn id="30" presetID="3" presetClass="entr" presetSubtype="10" fill="hold" nodeType="with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blinds(horizontal)">
                                      <p:cBhvr>
                                        <p:cTn id="32" dur="500"/>
                                        <p:tgtEl>
                                          <p:spTgt spid="4">
                                            <p:txEl>
                                              <p:pRg st="7" end="7"/>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animEffect transition="in" filter="blinds(horizontal)">
                                      <p:cBhvr>
                                        <p:cTn id="35" dur="500"/>
                                        <p:tgtEl>
                                          <p:spTgt spid="4">
                                            <p:txEl>
                                              <p:pRg st="8" end="8"/>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4">
                                            <p:txEl>
                                              <p:pRg st="9" end="9"/>
                                            </p:txEl>
                                          </p:spTgt>
                                        </p:tgtEl>
                                        <p:attrNameLst>
                                          <p:attrName>style.visibility</p:attrName>
                                        </p:attrNameLst>
                                      </p:cBhvr>
                                      <p:to>
                                        <p:strVal val="visible"/>
                                      </p:to>
                                    </p:set>
                                    <p:animEffect transition="in" filter="blinds(horizontal)">
                                      <p:cBhvr>
                                        <p:cTn id="38" dur="500"/>
                                        <p:tgtEl>
                                          <p:spTgt spid="4">
                                            <p:txEl>
                                              <p:pRg st="9" end="9"/>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4">
                                            <p:txEl>
                                              <p:pRg st="10" end="10"/>
                                            </p:txEl>
                                          </p:spTgt>
                                        </p:tgtEl>
                                        <p:attrNameLst>
                                          <p:attrName>style.visibility</p:attrName>
                                        </p:attrNameLst>
                                      </p:cBhvr>
                                      <p:to>
                                        <p:strVal val="visible"/>
                                      </p:to>
                                    </p:set>
                                    <p:animEffect transition="in" filter="blinds(horizontal)">
                                      <p:cBhvr>
                                        <p:cTn id="43" dur="500"/>
                                        <p:tgtEl>
                                          <p:spTgt spid="4">
                                            <p:txEl>
                                              <p:pRg st="10" end="10"/>
                                            </p:txEl>
                                          </p:spTgt>
                                        </p:tgtEl>
                                      </p:cBhvr>
                                    </p:animEffect>
                                  </p:childTnLst>
                                </p:cTn>
                              </p:par>
                              <p:par>
                                <p:cTn id="44" presetID="3" presetClass="entr" presetSubtype="10" fill="hold" nodeType="withEffect">
                                  <p:stCondLst>
                                    <p:cond delay="0"/>
                                  </p:stCondLst>
                                  <p:childTnLst>
                                    <p:set>
                                      <p:cBhvr>
                                        <p:cTn id="45" dur="1" fill="hold">
                                          <p:stCondLst>
                                            <p:cond delay="0"/>
                                          </p:stCondLst>
                                        </p:cTn>
                                        <p:tgtEl>
                                          <p:spTgt spid="4">
                                            <p:txEl>
                                              <p:pRg st="11" end="11"/>
                                            </p:txEl>
                                          </p:spTgt>
                                        </p:tgtEl>
                                        <p:attrNameLst>
                                          <p:attrName>style.visibility</p:attrName>
                                        </p:attrNameLst>
                                      </p:cBhvr>
                                      <p:to>
                                        <p:strVal val="visible"/>
                                      </p:to>
                                    </p:set>
                                    <p:animEffect transition="in" filter="blinds(horizontal)">
                                      <p:cBhvr>
                                        <p:cTn id="46" dur="500"/>
                                        <p:tgtEl>
                                          <p:spTgt spid="4">
                                            <p:txEl>
                                              <p:pRg st="11" end="11"/>
                                            </p:txEl>
                                          </p:spTgt>
                                        </p:tgtEl>
                                      </p:cBhvr>
                                    </p:animEffect>
                                  </p:childTnLst>
                                </p:cTn>
                              </p:par>
                              <p:par>
                                <p:cTn id="47" presetID="3" presetClass="entr" presetSubtype="10" fill="hold" nodeType="withEffect">
                                  <p:stCondLst>
                                    <p:cond delay="0"/>
                                  </p:stCondLst>
                                  <p:childTnLst>
                                    <p:set>
                                      <p:cBhvr>
                                        <p:cTn id="48" dur="1" fill="hold">
                                          <p:stCondLst>
                                            <p:cond delay="0"/>
                                          </p:stCondLst>
                                        </p:cTn>
                                        <p:tgtEl>
                                          <p:spTgt spid="4">
                                            <p:txEl>
                                              <p:pRg st="12" end="12"/>
                                            </p:txEl>
                                          </p:spTgt>
                                        </p:tgtEl>
                                        <p:attrNameLst>
                                          <p:attrName>style.visibility</p:attrName>
                                        </p:attrNameLst>
                                      </p:cBhvr>
                                      <p:to>
                                        <p:strVal val="visible"/>
                                      </p:to>
                                    </p:set>
                                    <p:animEffect transition="in" filter="blinds(horizontal)">
                                      <p:cBhvr>
                                        <p:cTn id="49" dur="500"/>
                                        <p:tgtEl>
                                          <p:spTgt spid="4">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zh-CN" altLang="en-US" dirty="0"/>
              <a:t>定义视图</a:t>
            </a:r>
            <a:r>
              <a:rPr lang="en-US" altLang="zh-CN" dirty="0"/>
              <a:t> - </a:t>
            </a:r>
            <a:r>
              <a:rPr lang="zh-CN" altLang="en-US" dirty="0"/>
              <a:t>行列子集</a:t>
            </a:r>
            <a:r>
              <a:rPr lang="zh-CN" altLang="en-US" dirty="0"/>
              <a:t>视图</a:t>
            </a:r>
            <a:endParaRPr lang="zh-CN" altLang="en-US" dirty="0"/>
          </a:p>
        </p:txBody>
      </p:sp>
      <p:sp>
        <p:nvSpPr>
          <p:cNvPr id="48131" name="Rectangle 3"/>
          <p:cNvSpPr>
            <a:spLocks noGrp="1" noChangeArrowheads="1"/>
          </p:cNvSpPr>
          <p:nvPr>
            <p:ph sz="half" idx="1"/>
          </p:nvPr>
        </p:nvSpPr>
        <p:spPr/>
        <p:txBody>
          <a:bodyPr>
            <a:noAutofit/>
          </a:bodyPr>
          <a:lstStyle/>
          <a:p>
            <a:pPr>
              <a:lnSpc>
                <a:spcPct val="110000"/>
              </a:lnSpc>
              <a:spcBef>
                <a:spcPts val="0"/>
              </a:spcBef>
            </a:pPr>
            <a:r>
              <a:rPr lang="en-US" altLang="zh-CN" sz="2800" dirty="0"/>
              <a:t>[</a:t>
            </a:r>
            <a:r>
              <a:rPr lang="zh-CN" altLang="en-US" sz="2800" dirty="0"/>
              <a:t>例</a:t>
            </a:r>
            <a:r>
              <a:rPr lang="en-US" altLang="zh-CN" sz="2800" dirty="0"/>
              <a:t>3.85]</a:t>
            </a:r>
            <a:r>
              <a:rPr lang="zh-CN" altLang="en-US" sz="2800" dirty="0"/>
              <a:t>信息系学生视图</a:t>
            </a:r>
            <a:endParaRPr lang="zh-CN" altLang="en-US" sz="2800" dirty="0"/>
          </a:p>
          <a:p>
            <a:pPr marL="352425" lvl="1" indent="0">
              <a:lnSpc>
                <a:spcPct val="110000"/>
              </a:lnSpc>
              <a:spcBef>
                <a:spcPts val="2000"/>
              </a:spcBef>
              <a:buNone/>
            </a:pPr>
            <a:r>
              <a:rPr lang="en-US" altLang="zh-CN" sz="2800" dirty="0">
                <a:solidFill>
                  <a:srgbClr val="FF0000"/>
                </a:solidFill>
                <a:latin typeface="Arial" panose="020B0604020202090204" pitchFamily="34" charset="0"/>
                <a:cs typeface="Arial" panose="020B0604020202090204" pitchFamily="34" charset="0"/>
              </a:rPr>
              <a:t>CREATE  VIEW  </a:t>
            </a:r>
            <a:r>
              <a:rPr lang="en-US" altLang="zh-CN" sz="2800" dirty="0" err="1">
                <a:solidFill>
                  <a:srgbClr val="FF0000"/>
                </a:solidFill>
                <a:latin typeface="Arial" panose="020B0604020202090204" pitchFamily="34" charset="0"/>
                <a:cs typeface="Arial" panose="020B0604020202090204" pitchFamily="34" charset="0"/>
              </a:rPr>
              <a:t>IS_Student</a:t>
            </a:r>
            <a:endParaRPr lang="en-US" altLang="zh-CN" sz="2800" dirty="0">
              <a:solidFill>
                <a:srgbClr val="FF0000"/>
              </a:solidFill>
              <a:latin typeface="Arial" panose="020B0604020202090204" pitchFamily="34" charset="0"/>
              <a:cs typeface="Arial" panose="020B0604020202090204" pitchFamily="34" charset="0"/>
            </a:endParaRPr>
          </a:p>
          <a:p>
            <a:pPr marL="352425" lvl="1" indent="0">
              <a:lnSpc>
                <a:spcPct val="110000"/>
              </a:lnSpc>
              <a:spcBef>
                <a:spcPts val="0"/>
              </a:spcBef>
              <a:buNone/>
            </a:pPr>
            <a:r>
              <a:rPr lang="en-US" altLang="zh-CN" sz="2800" dirty="0">
                <a:solidFill>
                  <a:srgbClr val="FF0000"/>
                </a:solidFill>
                <a:latin typeface="Arial" panose="020B0604020202090204" pitchFamily="34" charset="0"/>
                <a:cs typeface="Arial" panose="020B0604020202090204" pitchFamily="34" charset="0"/>
              </a:rPr>
              <a:t>AS </a:t>
            </a:r>
            <a:endParaRPr lang="en-US" altLang="zh-CN" sz="2800" dirty="0">
              <a:solidFill>
                <a:srgbClr val="FF0000"/>
              </a:solidFill>
              <a:latin typeface="Arial" panose="020B0604020202090204" pitchFamily="34" charset="0"/>
              <a:cs typeface="Arial" panose="020B0604020202090204" pitchFamily="34" charset="0"/>
            </a:endParaRPr>
          </a:p>
          <a:p>
            <a:pPr marL="352425" lvl="1" indent="490220">
              <a:lnSpc>
                <a:spcPct val="110000"/>
              </a:lnSpc>
              <a:spcBef>
                <a:spcPts val="0"/>
              </a:spcBef>
              <a:buNone/>
            </a:pPr>
            <a:r>
              <a:rPr lang="en-US" altLang="zh-CN" sz="2800" dirty="0">
                <a:solidFill>
                  <a:srgbClr val="FF0000"/>
                </a:solidFill>
                <a:latin typeface="Arial" panose="020B0604020202090204" pitchFamily="34" charset="0"/>
                <a:cs typeface="Arial" panose="020B0604020202090204" pitchFamily="34" charset="0"/>
              </a:rPr>
              <a:t>SELECT </a:t>
            </a:r>
            <a:r>
              <a:rPr lang="en-US" altLang="zh-CN" sz="2800" dirty="0" err="1">
                <a:solidFill>
                  <a:srgbClr val="FF0000"/>
                </a:solidFill>
                <a:latin typeface="Arial" panose="020B0604020202090204" pitchFamily="34" charset="0"/>
                <a:cs typeface="Arial" panose="020B0604020202090204" pitchFamily="34" charset="0"/>
              </a:rPr>
              <a:t>Sno</a:t>
            </a:r>
            <a:r>
              <a:rPr lang="zh-CN" altLang="en-US" sz="2800" dirty="0">
                <a:solidFill>
                  <a:srgbClr val="FF0000"/>
                </a:solidFill>
                <a:latin typeface="Arial" panose="020B0604020202090204" pitchFamily="34" charset="0"/>
                <a:cs typeface="Arial" panose="020B0604020202090204" pitchFamily="34" charset="0"/>
              </a:rPr>
              <a:t>,</a:t>
            </a:r>
            <a:r>
              <a:rPr lang="en-US" altLang="zh-CN" sz="2800" dirty="0" err="1">
                <a:solidFill>
                  <a:srgbClr val="FF0000"/>
                </a:solidFill>
                <a:latin typeface="Arial" panose="020B0604020202090204" pitchFamily="34" charset="0"/>
                <a:cs typeface="Arial" panose="020B0604020202090204" pitchFamily="34" charset="0"/>
              </a:rPr>
              <a:t>Sname</a:t>
            </a:r>
            <a:r>
              <a:rPr lang="zh-CN" altLang="en-US" sz="2800" dirty="0">
                <a:solidFill>
                  <a:srgbClr val="FF0000"/>
                </a:solidFill>
                <a:latin typeface="Arial" panose="020B0604020202090204" pitchFamily="34" charset="0"/>
                <a:cs typeface="Arial" panose="020B0604020202090204" pitchFamily="34" charset="0"/>
              </a:rPr>
              <a:t>,</a:t>
            </a:r>
            <a:r>
              <a:rPr lang="en-US" altLang="zh-CN" sz="2800" dirty="0">
                <a:solidFill>
                  <a:srgbClr val="FF0000"/>
                </a:solidFill>
                <a:latin typeface="Arial" panose="020B0604020202090204" pitchFamily="34" charset="0"/>
                <a:cs typeface="Arial" panose="020B0604020202090204" pitchFamily="34" charset="0"/>
              </a:rPr>
              <a:t>Sage</a:t>
            </a:r>
            <a:endParaRPr lang="en-US" altLang="zh-CN" sz="2800" dirty="0">
              <a:solidFill>
                <a:srgbClr val="FF0000"/>
              </a:solidFill>
              <a:latin typeface="Arial" panose="020B0604020202090204" pitchFamily="34" charset="0"/>
              <a:cs typeface="Arial" panose="020B0604020202090204" pitchFamily="34" charset="0"/>
            </a:endParaRPr>
          </a:p>
          <a:p>
            <a:pPr marL="352425" lvl="1" indent="490220">
              <a:lnSpc>
                <a:spcPct val="110000"/>
              </a:lnSpc>
              <a:spcBef>
                <a:spcPts val="0"/>
              </a:spcBef>
              <a:buNone/>
            </a:pPr>
            <a:r>
              <a:rPr lang="en-US" altLang="zh-CN" sz="2800" dirty="0">
                <a:solidFill>
                  <a:srgbClr val="FF0000"/>
                </a:solidFill>
                <a:latin typeface="Arial" panose="020B0604020202090204" pitchFamily="34" charset="0"/>
                <a:cs typeface="Arial" panose="020B0604020202090204" pitchFamily="34" charset="0"/>
              </a:rPr>
              <a:t>FROM  Student</a:t>
            </a:r>
            <a:endParaRPr lang="en-US" altLang="zh-CN" sz="2800" dirty="0">
              <a:solidFill>
                <a:srgbClr val="FF0000"/>
              </a:solidFill>
              <a:latin typeface="Arial" panose="020B0604020202090204" pitchFamily="34" charset="0"/>
              <a:cs typeface="Arial" panose="020B0604020202090204" pitchFamily="34" charset="0"/>
            </a:endParaRPr>
          </a:p>
          <a:p>
            <a:pPr marL="352425" lvl="1" indent="490220">
              <a:lnSpc>
                <a:spcPct val="110000"/>
              </a:lnSpc>
              <a:spcBef>
                <a:spcPts val="0"/>
              </a:spcBef>
              <a:buNone/>
            </a:pPr>
            <a:r>
              <a:rPr lang="en-US" altLang="zh-CN" sz="2800" dirty="0">
                <a:solidFill>
                  <a:srgbClr val="FF0000"/>
                </a:solidFill>
                <a:latin typeface="Arial" panose="020B0604020202090204" pitchFamily="34" charset="0"/>
                <a:cs typeface="Arial" panose="020B0604020202090204" pitchFamily="34" charset="0"/>
              </a:rPr>
              <a:t>WHERE  </a:t>
            </a:r>
            <a:r>
              <a:rPr lang="en-US" altLang="zh-CN" sz="2800" dirty="0" err="1">
                <a:solidFill>
                  <a:srgbClr val="FF0000"/>
                </a:solidFill>
                <a:latin typeface="Arial" panose="020B0604020202090204" pitchFamily="34" charset="0"/>
                <a:cs typeface="Arial" panose="020B0604020202090204" pitchFamily="34" charset="0"/>
              </a:rPr>
              <a:t>Sdept </a:t>
            </a:r>
            <a:r>
              <a:rPr lang="en-US" altLang="zh-CN" sz="2800" dirty="0">
                <a:solidFill>
                  <a:srgbClr val="FF0000"/>
                </a:solidFill>
                <a:latin typeface="Arial" panose="020B0604020202090204" pitchFamily="34" charset="0"/>
                <a:cs typeface="Arial" panose="020B0604020202090204" pitchFamily="34" charset="0"/>
              </a:rPr>
              <a:t>= 'IS'</a:t>
            </a:r>
            <a:endParaRPr lang="en-US" altLang="zh-CN" sz="2800" dirty="0">
              <a:solidFill>
                <a:srgbClr val="FF0000"/>
              </a:solidFill>
              <a:latin typeface="Arial" panose="020B0604020202090204" pitchFamily="34" charset="0"/>
              <a:cs typeface="Arial" panose="020B0604020202090204" pitchFamily="34" charset="0"/>
            </a:endParaRPr>
          </a:p>
          <a:p>
            <a:pPr marL="352425" lvl="1" indent="490220">
              <a:lnSpc>
                <a:spcPct val="110000"/>
              </a:lnSpc>
              <a:spcBef>
                <a:spcPts val="0"/>
              </a:spcBef>
              <a:buNone/>
            </a:pPr>
            <a:r>
              <a:rPr lang="en-US" altLang="zh-CN" sz="2800" dirty="0">
                <a:solidFill>
                  <a:srgbClr val="FF0000"/>
                </a:solidFill>
                <a:latin typeface="Arial" panose="020B0604020202090204" pitchFamily="34" charset="0"/>
                <a:cs typeface="Arial" panose="020B0604020202090204" pitchFamily="34" charset="0"/>
              </a:rPr>
              <a:t>WITH CHECK OPTION</a:t>
            </a:r>
            <a:r>
              <a:rPr lang="zh-CN" altLang="en-US" sz="2800" dirty="0">
                <a:solidFill>
                  <a:srgbClr val="FF0000"/>
                </a:solidFill>
                <a:latin typeface="Arial" panose="020B0604020202090204" pitchFamily="34" charset="0"/>
                <a:cs typeface="Arial" panose="020B0604020202090204" pitchFamily="34" charset="0"/>
              </a:rPr>
              <a:t>;</a:t>
            </a:r>
            <a:endParaRPr lang="zh-CN" altLang="en-US" sz="2800" dirty="0">
              <a:solidFill>
                <a:srgbClr val="FF0000"/>
              </a:solidFill>
              <a:latin typeface="Arial" panose="020B0604020202090204" pitchFamily="34" charset="0"/>
              <a:cs typeface="Arial" panose="020B0604020202090204" pitchFamily="34" charset="0"/>
            </a:endParaRPr>
          </a:p>
        </p:txBody>
      </p:sp>
      <p:sp>
        <p:nvSpPr>
          <p:cNvPr id="4" name="内容占位符 3"/>
          <p:cNvSpPr>
            <a:spLocks noGrp="1"/>
          </p:cNvSpPr>
          <p:nvPr>
            <p:ph sz="half" idx="2"/>
          </p:nvPr>
        </p:nvSpPr>
        <p:spPr>
          <a:xfrm>
            <a:off x="424815" y="4782820"/>
            <a:ext cx="11336020" cy="1383665"/>
          </a:xfrm>
        </p:spPr>
        <p:txBody>
          <a:bodyPr>
            <a:spAutoFit/>
          </a:bodyPr>
          <a:lstStyle/>
          <a:p>
            <a:pPr>
              <a:lnSpc>
                <a:spcPct val="100000"/>
              </a:lnSpc>
              <a:spcBef>
                <a:spcPct val="0"/>
              </a:spcBef>
            </a:pPr>
            <a:r>
              <a:rPr lang="zh-CN" altLang="en-US" sz="2800" dirty="0"/>
              <a:t>若一个视图是从单个基本表导出的，并且只是去掉了基本表的某些行和某些列，但保留了主码，我们称这类视图为</a:t>
            </a:r>
            <a:r>
              <a:rPr lang="zh-CN" altLang="en-US" sz="2800" dirty="0">
                <a:solidFill>
                  <a:srgbClr val="FF0000"/>
                </a:solidFill>
              </a:rPr>
              <a:t>行列子集视图</a:t>
            </a:r>
            <a:r>
              <a:rPr lang="zh-CN" altLang="en-US" sz="2800" dirty="0"/>
              <a:t>。</a:t>
            </a:r>
            <a:endParaRPr lang="zh-CN" altLang="en-US" sz="2800" dirty="0"/>
          </a:p>
          <a:p>
            <a:pPr lvl="1">
              <a:lnSpc>
                <a:spcPct val="100000"/>
              </a:lnSpc>
              <a:spcBef>
                <a:spcPct val="0"/>
              </a:spcBef>
            </a:pPr>
            <a:r>
              <a:rPr lang="en-US" altLang="zh-CN" sz="2800" dirty="0" err="1"/>
              <a:t>IS_Student</a:t>
            </a:r>
            <a:r>
              <a:rPr lang="zh-CN" altLang="en-US" sz="2800" dirty="0"/>
              <a:t>视图就是一个行列子集视图。</a:t>
            </a:r>
            <a:endParaRPr lang="zh-CN" altLang="en-US" sz="2800" dirty="0"/>
          </a:p>
        </p:txBody>
      </p:sp>
      <p:sp>
        <p:nvSpPr>
          <p:cNvPr id="2" name="灯片编号占位符 1"/>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5" name="页脚占位符 4"/>
          <p:cNvSpPr>
            <a:spLocks noGrp="1"/>
          </p:cNvSpPr>
          <p:nvPr>
            <p:ph type="ftr" sz="quarter" idx="11"/>
          </p:nvPr>
        </p:nvSpPr>
        <p:spPr/>
        <p:txBody>
          <a:bodyPr/>
          <a:p>
            <a:r>
              <a:rPr lang="zh-CN" altLang="en-US"/>
              <a:t>ch03_3_SQL数据更新</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zh-CN" altLang="en-US" dirty="0"/>
              <a:t>定义视图</a:t>
            </a:r>
            <a:r>
              <a:rPr lang="en-US" altLang="zh-CN" dirty="0"/>
              <a:t>-</a:t>
            </a:r>
            <a:r>
              <a:rPr lang="zh-CN" altLang="en-US" dirty="0"/>
              <a:t>建立视图 </a:t>
            </a:r>
            <a:r>
              <a:rPr lang="en-US" altLang="zh-CN" dirty="0"/>
              <a:t>5</a:t>
            </a:r>
            <a:endParaRPr lang="zh-CN" altLang="en-US" dirty="0"/>
          </a:p>
        </p:txBody>
      </p:sp>
      <p:sp>
        <p:nvSpPr>
          <p:cNvPr id="3" name="文本占位符 2"/>
          <p:cNvSpPr>
            <a:spLocks noGrp="1"/>
          </p:cNvSpPr>
          <p:nvPr>
            <p:ph type="body" idx="1"/>
          </p:nvPr>
        </p:nvSpPr>
        <p:spPr>
          <a:solidFill>
            <a:schemeClr val="accent3">
              <a:lumMod val="20000"/>
              <a:lumOff val="80000"/>
            </a:schemeClr>
          </a:solidFill>
        </p:spPr>
        <p:txBody>
          <a:bodyPr anchor="ctr" anchorCtr="0"/>
          <a:p>
            <a:pPr>
              <a:lnSpc>
                <a:spcPct val="100000"/>
              </a:lnSpc>
            </a:pPr>
            <a:r>
              <a:rPr lang="zh-CN" altLang="en-US" dirty="0">
                <a:sym typeface="+mn-ea"/>
              </a:rPr>
              <a:t>基于多个基表的视图</a:t>
            </a:r>
            <a:endParaRPr lang="zh-CN" altLang="en-US"/>
          </a:p>
        </p:txBody>
      </p:sp>
      <p:sp>
        <p:nvSpPr>
          <p:cNvPr id="50179" name="Rectangle 3"/>
          <p:cNvSpPr>
            <a:spLocks noGrp="1" noChangeArrowheads="1"/>
          </p:cNvSpPr>
          <p:nvPr>
            <p:ph sz="half" idx="2"/>
          </p:nvPr>
        </p:nvSpPr>
        <p:spPr/>
        <p:txBody>
          <a:bodyPr>
            <a:noAutofit/>
          </a:bodyPr>
          <a:lstStyle/>
          <a:p>
            <a:pPr marL="0" indent="0">
              <a:lnSpc>
                <a:spcPct val="100000"/>
              </a:lnSpc>
              <a:buNone/>
            </a:pPr>
            <a:r>
              <a:rPr lang="en-US" altLang="zh-CN" dirty="0"/>
              <a:t>[</a:t>
            </a:r>
            <a:r>
              <a:rPr lang="zh-CN" altLang="en-US" dirty="0"/>
              <a:t>例</a:t>
            </a:r>
            <a:r>
              <a:rPr lang="en-US" altLang="zh-CN" dirty="0"/>
              <a:t>3.86]</a:t>
            </a:r>
            <a:r>
              <a:rPr lang="zh-CN" altLang="en-US" dirty="0"/>
              <a:t>建立信息系选修了</a:t>
            </a:r>
            <a:r>
              <a:rPr lang="en-US" altLang="zh-CN" dirty="0"/>
              <a:t>1</a:t>
            </a:r>
            <a:r>
              <a:rPr lang="zh-CN" altLang="en-US" dirty="0"/>
              <a:t>号课程的学生的视图（包括学号、姓名、成绩）。</a:t>
            </a:r>
            <a:endParaRPr lang="zh-CN" altLang="en-US" dirty="0"/>
          </a:p>
          <a:p>
            <a:pPr marL="0" lvl="0" indent="173990">
              <a:lnSpc>
                <a:spcPct val="100000"/>
              </a:lnSpc>
              <a:spcBef>
                <a:spcPts val="2000"/>
              </a:spcBef>
              <a:buNone/>
            </a:pPr>
            <a:r>
              <a:rPr lang="en-US" altLang="zh-CN" sz="2000" dirty="0">
                <a:latin typeface="Arial" panose="020B0604020202090204" pitchFamily="34" charset="0"/>
                <a:cs typeface="Arial" panose="020B0604020202090204" pitchFamily="34" charset="0"/>
              </a:rPr>
              <a:t>CREATE  VIEW  </a:t>
            </a:r>
            <a:r>
              <a:rPr lang="en-US" altLang="zh-CN" sz="2000" dirty="0">
                <a:solidFill>
                  <a:srgbClr val="FF0000"/>
                </a:solidFill>
                <a:latin typeface="Arial" panose="020B0604020202090204" pitchFamily="34" charset="0"/>
                <a:cs typeface="Arial" panose="020B0604020202090204" pitchFamily="34" charset="0"/>
              </a:rPr>
              <a:t>IS_S1</a:t>
            </a:r>
            <a:r>
              <a:rPr lang="zh-CN" altLang="en-US" sz="2000" dirty="0">
                <a:latin typeface="Arial" panose="020B0604020202090204" pitchFamily="34" charset="0"/>
                <a:cs typeface="Arial" panose="020B0604020202090204" pitchFamily="34" charset="0"/>
              </a:rPr>
              <a:t>(</a:t>
            </a:r>
            <a:r>
              <a:rPr lang="en-US" altLang="zh-CN" sz="2000" dirty="0" err="1">
                <a:latin typeface="Arial" panose="020B0604020202090204" pitchFamily="34" charset="0"/>
                <a:cs typeface="Arial" panose="020B0604020202090204" pitchFamily="34" charset="0"/>
              </a:rPr>
              <a:t>Sno</a:t>
            </a:r>
            <a:r>
              <a:rPr lang="zh-CN" altLang="en-US" sz="2000" dirty="0">
                <a:latin typeface="Arial" panose="020B0604020202090204" pitchFamily="34" charset="0"/>
                <a:cs typeface="Arial" panose="020B0604020202090204" pitchFamily="34" charset="0"/>
              </a:rPr>
              <a:t>,</a:t>
            </a:r>
            <a:r>
              <a:rPr lang="en-US" altLang="zh-CN" sz="2000" dirty="0">
                <a:latin typeface="Arial" panose="020B0604020202090204" pitchFamily="34" charset="0"/>
                <a:cs typeface="Arial" panose="020B0604020202090204" pitchFamily="34" charset="0"/>
              </a:rPr>
              <a:t> </a:t>
            </a:r>
            <a:r>
              <a:rPr lang="en-US" altLang="zh-CN" sz="2000" dirty="0" err="1">
                <a:latin typeface="Arial" panose="020B0604020202090204" pitchFamily="34" charset="0"/>
                <a:cs typeface="Arial" panose="020B0604020202090204" pitchFamily="34" charset="0"/>
              </a:rPr>
              <a:t>Sname</a:t>
            </a:r>
            <a:r>
              <a:rPr lang="zh-CN" altLang="en-US" sz="2000" dirty="0">
                <a:latin typeface="Arial" panose="020B0604020202090204" pitchFamily="34" charset="0"/>
                <a:cs typeface="Arial" panose="020B0604020202090204" pitchFamily="34" charset="0"/>
              </a:rPr>
              <a:t>,</a:t>
            </a:r>
            <a:r>
              <a:rPr lang="en-US" altLang="zh-CN" sz="2000" dirty="0">
                <a:latin typeface="Arial" panose="020B0604020202090204" pitchFamily="34" charset="0"/>
                <a:cs typeface="Arial" panose="020B0604020202090204" pitchFamily="34" charset="0"/>
              </a:rPr>
              <a:t> Grade</a:t>
            </a:r>
            <a:r>
              <a:rPr lang="zh-CN" altLang="en-US" sz="2000" dirty="0">
                <a:latin typeface="Arial" panose="020B0604020202090204" pitchFamily="34" charset="0"/>
                <a:cs typeface="Arial" panose="020B0604020202090204" pitchFamily="34" charset="0"/>
              </a:rPr>
              <a:t>)</a:t>
            </a:r>
            <a:endParaRPr lang="zh-CN" altLang="en-US" sz="2000" dirty="0">
              <a:latin typeface="Arial" panose="020B0604020202090204" pitchFamily="34" charset="0"/>
              <a:cs typeface="Arial" panose="020B0604020202090204" pitchFamily="34" charset="0"/>
            </a:endParaRPr>
          </a:p>
          <a:p>
            <a:pPr marL="0" lvl="0" indent="173990">
              <a:lnSpc>
                <a:spcPct val="100000"/>
              </a:lnSpc>
              <a:buNone/>
            </a:pPr>
            <a:r>
              <a:rPr lang="en-US" altLang="zh-CN" sz="2000" dirty="0">
                <a:latin typeface="Arial" panose="020B0604020202090204" pitchFamily="34" charset="0"/>
                <a:cs typeface="Arial" panose="020B0604020202090204" pitchFamily="34" charset="0"/>
              </a:rPr>
              <a:t>AS </a:t>
            </a:r>
            <a:endParaRPr lang="en-US" altLang="zh-CN" sz="2000" dirty="0">
              <a:latin typeface="Arial" panose="020B0604020202090204" pitchFamily="34" charset="0"/>
              <a:cs typeface="Arial" panose="020B0604020202090204" pitchFamily="34" charset="0"/>
            </a:endParaRPr>
          </a:p>
          <a:p>
            <a:pPr marL="0" lvl="0" indent="630555">
              <a:lnSpc>
                <a:spcPct val="100000"/>
              </a:lnSpc>
              <a:buNone/>
            </a:pPr>
            <a:r>
              <a:rPr lang="en-US" altLang="zh-CN" sz="2000" dirty="0">
                <a:latin typeface="Arial" panose="020B0604020202090204" pitchFamily="34" charset="0"/>
                <a:cs typeface="Arial" panose="020B0604020202090204" pitchFamily="34" charset="0"/>
              </a:rPr>
              <a:t>SELECT  </a:t>
            </a:r>
            <a:r>
              <a:rPr lang="en-US" altLang="zh-CN" sz="2000" dirty="0" err="1">
                <a:latin typeface="Arial" panose="020B0604020202090204" pitchFamily="34" charset="0"/>
                <a:cs typeface="Arial" panose="020B0604020202090204" pitchFamily="34" charset="0"/>
              </a:rPr>
              <a:t>Student.Sno, Sname, Grade</a:t>
            </a:r>
            <a:endParaRPr lang="en-US" altLang="zh-CN" sz="2000" dirty="0">
              <a:latin typeface="Arial" panose="020B0604020202090204" pitchFamily="34" charset="0"/>
              <a:cs typeface="Arial" panose="020B0604020202090204" pitchFamily="34" charset="0"/>
            </a:endParaRPr>
          </a:p>
          <a:p>
            <a:pPr marL="0" lvl="0" indent="630555">
              <a:lnSpc>
                <a:spcPct val="100000"/>
              </a:lnSpc>
              <a:buNone/>
            </a:pPr>
            <a:r>
              <a:rPr lang="en-US" altLang="zh-CN" sz="2000" dirty="0">
                <a:latin typeface="Arial" panose="020B0604020202090204" pitchFamily="34" charset="0"/>
                <a:cs typeface="Arial" panose="020B0604020202090204" pitchFamily="34" charset="0"/>
              </a:rPr>
              <a:t>FROM  </a:t>
            </a:r>
            <a:r>
              <a:rPr lang="en-US" altLang="zh-CN" sz="2000" dirty="0" err="1">
                <a:latin typeface="Arial" panose="020B0604020202090204" pitchFamily="34" charset="0"/>
                <a:cs typeface="Arial" panose="020B0604020202090204" pitchFamily="34" charset="0"/>
              </a:rPr>
              <a:t>Student,  SC</a:t>
            </a:r>
            <a:endParaRPr lang="en-US" altLang="zh-CN" sz="2000" dirty="0">
              <a:latin typeface="Arial" panose="020B0604020202090204" pitchFamily="34" charset="0"/>
              <a:cs typeface="Arial" panose="020B0604020202090204" pitchFamily="34" charset="0"/>
            </a:endParaRPr>
          </a:p>
          <a:p>
            <a:pPr marL="0" lvl="0" indent="630555">
              <a:lnSpc>
                <a:spcPct val="100000"/>
              </a:lnSpc>
              <a:buNone/>
            </a:pPr>
            <a:r>
              <a:rPr lang="en-US" altLang="zh-CN" sz="2000" dirty="0">
                <a:latin typeface="Arial" panose="020B0604020202090204" pitchFamily="34" charset="0"/>
                <a:cs typeface="Arial" panose="020B0604020202090204" pitchFamily="34" charset="0"/>
              </a:rPr>
              <a:t>WHERE  </a:t>
            </a:r>
            <a:r>
              <a:rPr lang="en-US" altLang="zh-CN" sz="2000" dirty="0" err="1">
                <a:latin typeface="Arial" panose="020B0604020202090204" pitchFamily="34" charset="0"/>
                <a:cs typeface="Arial" panose="020B0604020202090204" pitchFamily="34" charset="0"/>
              </a:rPr>
              <a:t>Sdept </a:t>
            </a:r>
            <a:r>
              <a:rPr lang="en-US" altLang="zh-CN" sz="2000" dirty="0">
                <a:latin typeface="Arial" panose="020B0604020202090204" pitchFamily="34" charset="0"/>
                <a:cs typeface="Arial" panose="020B0604020202090204" pitchFamily="34" charset="0"/>
              </a:rPr>
              <a:t>= 'IS'  AND  </a:t>
            </a:r>
            <a:endParaRPr lang="en-US" altLang="zh-CN" sz="2000" dirty="0">
              <a:latin typeface="Arial" panose="020B0604020202090204" pitchFamily="34" charset="0"/>
              <a:cs typeface="Arial" panose="020B0604020202090204" pitchFamily="34" charset="0"/>
            </a:endParaRPr>
          </a:p>
          <a:p>
            <a:pPr marL="0" lvl="0" indent="1713865">
              <a:lnSpc>
                <a:spcPct val="100000"/>
              </a:lnSpc>
              <a:buNone/>
            </a:pPr>
            <a:r>
              <a:rPr lang="en-US" altLang="zh-CN" sz="2000" dirty="0" err="1">
                <a:latin typeface="Arial" panose="020B0604020202090204" pitchFamily="34" charset="0"/>
                <a:cs typeface="Arial" panose="020B0604020202090204" pitchFamily="34" charset="0"/>
              </a:rPr>
              <a:t>Student.Sno </a:t>
            </a:r>
            <a:r>
              <a:rPr lang="en-US" altLang="zh-CN" sz="2000" dirty="0">
                <a:latin typeface="Arial" panose="020B0604020202090204" pitchFamily="34" charset="0"/>
                <a:cs typeface="Arial" panose="020B0604020202090204" pitchFamily="34" charset="0"/>
              </a:rPr>
              <a:t>= </a:t>
            </a:r>
            <a:r>
              <a:rPr lang="en-US" altLang="zh-CN" sz="2000" dirty="0" err="1">
                <a:latin typeface="Arial" panose="020B0604020202090204" pitchFamily="34" charset="0"/>
                <a:cs typeface="Arial" panose="020B0604020202090204" pitchFamily="34" charset="0"/>
              </a:rPr>
              <a:t>SC.Sno</a:t>
            </a:r>
            <a:r>
              <a:rPr lang="en-US" altLang="zh-CN" sz="2000" dirty="0">
                <a:latin typeface="Arial" panose="020B0604020202090204" pitchFamily="34" charset="0"/>
                <a:cs typeface="Arial" panose="020B0604020202090204" pitchFamily="34" charset="0"/>
              </a:rPr>
              <a:t>  AND</a:t>
            </a:r>
            <a:endParaRPr lang="en-US" altLang="zh-CN" sz="2000" dirty="0">
              <a:latin typeface="Arial" panose="020B0604020202090204" pitchFamily="34" charset="0"/>
              <a:cs typeface="Arial" panose="020B0604020202090204" pitchFamily="34" charset="0"/>
            </a:endParaRPr>
          </a:p>
          <a:p>
            <a:pPr marL="0" lvl="0" indent="1713865">
              <a:lnSpc>
                <a:spcPct val="100000"/>
              </a:lnSpc>
              <a:buNone/>
            </a:pPr>
            <a:r>
              <a:rPr lang="en-US" altLang="zh-CN" sz="2000" dirty="0" err="1">
                <a:latin typeface="Arial" panose="020B0604020202090204" pitchFamily="34" charset="0"/>
                <a:cs typeface="Arial" panose="020B0604020202090204" pitchFamily="34" charset="0"/>
              </a:rPr>
              <a:t>SC.Cno </a:t>
            </a:r>
            <a:r>
              <a:rPr lang="en-US" altLang="zh-CN" sz="2000" dirty="0">
                <a:latin typeface="Arial" panose="020B0604020202090204" pitchFamily="34" charset="0"/>
                <a:cs typeface="Arial" panose="020B0604020202090204" pitchFamily="34" charset="0"/>
              </a:rPr>
              <a:t>= '1'</a:t>
            </a:r>
            <a:r>
              <a:rPr lang="zh-CN" altLang="en-US" sz="2000" dirty="0">
                <a:latin typeface="Arial" panose="020B0604020202090204" pitchFamily="34" charset="0"/>
                <a:cs typeface="Arial" panose="020B0604020202090204" pitchFamily="34" charset="0"/>
              </a:rPr>
              <a:t>;</a:t>
            </a:r>
            <a:endParaRPr lang="zh-CN" altLang="en-US" sz="2000" dirty="0">
              <a:latin typeface="Arial" panose="020B0604020202090204" pitchFamily="34" charset="0"/>
              <a:cs typeface="Arial" panose="020B0604020202090204" pitchFamily="34" charset="0"/>
            </a:endParaRPr>
          </a:p>
        </p:txBody>
      </p:sp>
      <p:sp>
        <p:nvSpPr>
          <p:cNvPr id="4" name="文本占位符 3"/>
          <p:cNvSpPr>
            <a:spLocks noGrp="1"/>
          </p:cNvSpPr>
          <p:nvPr>
            <p:ph type="body" sz="quarter" idx="3"/>
          </p:nvPr>
        </p:nvSpPr>
        <p:spPr>
          <a:xfrm>
            <a:off x="6172200" y="604520"/>
            <a:ext cx="5915660" cy="823595"/>
          </a:xfrm>
          <a:solidFill>
            <a:schemeClr val="accent3">
              <a:lumMod val="20000"/>
              <a:lumOff val="80000"/>
            </a:schemeClr>
          </a:solidFill>
        </p:spPr>
        <p:txBody>
          <a:bodyPr anchor="ctr" anchorCtr="0"/>
          <a:p>
            <a:pPr>
              <a:lnSpc>
                <a:spcPct val="100000"/>
              </a:lnSpc>
            </a:pPr>
            <a:r>
              <a:rPr lang="zh-CN" altLang="en-US" dirty="0">
                <a:sym typeface="+mn-ea"/>
              </a:rPr>
              <a:t>基于视图的视图</a:t>
            </a:r>
            <a:r>
              <a:rPr lang="en-US" altLang="zh-CN" dirty="0">
                <a:sym typeface="+mn-ea"/>
              </a:rPr>
              <a:t>(</a:t>
            </a:r>
            <a:r>
              <a:rPr lang="zh-CN" altLang="en-US" dirty="0">
                <a:solidFill>
                  <a:srgbClr val="C00000"/>
                </a:solidFill>
                <a:sym typeface="+mn-ea"/>
              </a:rPr>
              <a:t>视图的嵌套定义</a:t>
            </a:r>
            <a:r>
              <a:rPr lang="en-US" altLang="zh-CN" dirty="0">
                <a:sym typeface="+mn-ea"/>
              </a:rPr>
              <a:t>)</a:t>
            </a:r>
            <a:endParaRPr lang="en-US" altLang="zh-CN" dirty="0">
              <a:sym typeface="+mn-ea"/>
            </a:endParaRPr>
          </a:p>
        </p:txBody>
      </p:sp>
      <p:sp>
        <p:nvSpPr>
          <p:cNvPr id="5" name="内容占位符 4"/>
          <p:cNvSpPr>
            <a:spLocks noGrp="1"/>
          </p:cNvSpPr>
          <p:nvPr>
            <p:ph sz="quarter" idx="4"/>
          </p:nvPr>
        </p:nvSpPr>
        <p:spPr/>
        <p:txBody>
          <a:bodyPr/>
          <a:p>
            <a:pPr marL="0" indent="0">
              <a:lnSpc>
                <a:spcPct val="100000"/>
              </a:lnSpc>
              <a:spcBef>
                <a:spcPts val="1000"/>
              </a:spcBef>
              <a:buNone/>
            </a:pPr>
            <a:r>
              <a:rPr lang="en-US" altLang="zh-CN" sz="3000" dirty="0">
                <a:sym typeface="+mn-ea"/>
              </a:rPr>
              <a:t>[</a:t>
            </a:r>
            <a:r>
              <a:rPr lang="zh-CN" altLang="en-US" sz="3000" dirty="0">
                <a:sym typeface="+mn-ea"/>
              </a:rPr>
              <a:t>例</a:t>
            </a:r>
            <a:r>
              <a:rPr lang="en-US" altLang="zh-CN" sz="3000" dirty="0">
                <a:sym typeface="+mn-ea"/>
              </a:rPr>
              <a:t>3.87]</a:t>
            </a:r>
            <a:r>
              <a:rPr lang="zh-CN" altLang="en-US" sz="3000" dirty="0">
                <a:sym typeface="+mn-ea"/>
              </a:rPr>
              <a:t>建立信息系选修了</a:t>
            </a:r>
            <a:r>
              <a:rPr lang="en-US" altLang="zh-CN" sz="3000" dirty="0">
                <a:sym typeface="+mn-ea"/>
              </a:rPr>
              <a:t>1</a:t>
            </a:r>
            <a:r>
              <a:rPr lang="zh-CN" altLang="en-US" sz="3000" dirty="0">
                <a:sym typeface="+mn-ea"/>
              </a:rPr>
              <a:t>号课程且成绩在</a:t>
            </a:r>
            <a:r>
              <a:rPr lang="en-US" altLang="zh-CN" sz="3000" dirty="0">
                <a:sym typeface="+mn-ea"/>
              </a:rPr>
              <a:t>90</a:t>
            </a:r>
            <a:r>
              <a:rPr lang="zh-CN" altLang="en-US" sz="3000" dirty="0">
                <a:sym typeface="+mn-ea"/>
              </a:rPr>
              <a:t>分以上的学生的视图。</a:t>
            </a:r>
            <a:endParaRPr lang="zh-CN" altLang="en-US" sz="3000" dirty="0"/>
          </a:p>
          <a:p>
            <a:pPr marL="352425" lvl="1" indent="0">
              <a:lnSpc>
                <a:spcPct val="100000"/>
              </a:lnSpc>
              <a:spcBef>
                <a:spcPts val="2000"/>
              </a:spcBef>
              <a:buNone/>
            </a:pPr>
            <a:r>
              <a:rPr lang="en-US" altLang="zh-CN" sz="2000" dirty="0">
                <a:latin typeface="Arial" panose="020B0604020202090204" pitchFamily="34" charset="0"/>
                <a:cs typeface="Arial" panose="020B0604020202090204" pitchFamily="34" charset="0"/>
                <a:sym typeface="+mn-ea"/>
              </a:rPr>
              <a:t>CREATE  VIEW  </a:t>
            </a:r>
            <a:r>
              <a:rPr lang="en-US" altLang="zh-CN" sz="2000" dirty="0">
                <a:solidFill>
                  <a:srgbClr val="FF0000"/>
                </a:solidFill>
                <a:latin typeface="Arial" panose="020B0604020202090204" pitchFamily="34" charset="0"/>
                <a:cs typeface="Arial" panose="020B0604020202090204" pitchFamily="34" charset="0"/>
                <a:sym typeface="+mn-ea"/>
              </a:rPr>
              <a:t>IS_S2</a:t>
            </a:r>
            <a:endParaRPr lang="en-US" altLang="zh-CN" sz="2000" dirty="0">
              <a:latin typeface="Arial" panose="020B0604020202090204" pitchFamily="34" charset="0"/>
              <a:cs typeface="Arial" panose="020B0604020202090204" pitchFamily="34" charset="0"/>
            </a:endParaRPr>
          </a:p>
          <a:p>
            <a:pPr marL="352425" lvl="1" indent="0">
              <a:lnSpc>
                <a:spcPct val="100000"/>
              </a:lnSpc>
              <a:spcBef>
                <a:spcPts val="1000"/>
              </a:spcBef>
              <a:buNone/>
            </a:pPr>
            <a:r>
              <a:rPr lang="en-US" altLang="zh-CN" sz="2000" dirty="0">
                <a:latin typeface="Arial" panose="020B0604020202090204" pitchFamily="34" charset="0"/>
                <a:cs typeface="Arial" panose="020B0604020202090204" pitchFamily="34" charset="0"/>
                <a:sym typeface="+mn-ea"/>
              </a:rPr>
              <a:t>AS</a:t>
            </a:r>
            <a:endParaRPr lang="en-US" altLang="zh-CN" sz="2000" dirty="0">
              <a:latin typeface="Arial" panose="020B0604020202090204" pitchFamily="34" charset="0"/>
              <a:cs typeface="Arial" panose="020B0604020202090204" pitchFamily="34" charset="0"/>
            </a:endParaRPr>
          </a:p>
          <a:p>
            <a:pPr marL="352425" lvl="1" indent="480060">
              <a:lnSpc>
                <a:spcPct val="100000"/>
              </a:lnSpc>
              <a:spcBef>
                <a:spcPts val="1000"/>
              </a:spcBef>
              <a:buNone/>
            </a:pPr>
            <a:r>
              <a:rPr lang="en-US" altLang="zh-CN" sz="2000" dirty="0">
                <a:latin typeface="Arial" panose="020B0604020202090204" pitchFamily="34" charset="0"/>
                <a:cs typeface="Arial" panose="020B0604020202090204" pitchFamily="34" charset="0"/>
                <a:sym typeface="+mn-ea"/>
              </a:rPr>
              <a:t>SELECT  </a:t>
            </a:r>
            <a:r>
              <a:rPr lang="en-US" altLang="zh-CN" sz="2000" dirty="0" err="1">
                <a:latin typeface="Arial" panose="020B0604020202090204" pitchFamily="34" charset="0"/>
                <a:cs typeface="Arial" panose="020B0604020202090204" pitchFamily="34" charset="0"/>
                <a:sym typeface="+mn-ea"/>
              </a:rPr>
              <a:t>Sno, Sname, Grade</a:t>
            </a:r>
            <a:endParaRPr lang="en-US" altLang="zh-CN" sz="2000" dirty="0">
              <a:latin typeface="Arial" panose="020B0604020202090204" pitchFamily="34" charset="0"/>
              <a:cs typeface="Arial" panose="020B0604020202090204" pitchFamily="34" charset="0"/>
            </a:endParaRPr>
          </a:p>
          <a:p>
            <a:pPr marL="352425" lvl="1" indent="480060">
              <a:lnSpc>
                <a:spcPct val="100000"/>
              </a:lnSpc>
              <a:spcBef>
                <a:spcPts val="1000"/>
              </a:spcBef>
              <a:buNone/>
            </a:pPr>
            <a:r>
              <a:rPr lang="en-US" altLang="zh-CN" sz="2000" dirty="0">
                <a:latin typeface="Arial" panose="020B0604020202090204" pitchFamily="34" charset="0"/>
                <a:cs typeface="Arial" panose="020B0604020202090204" pitchFamily="34" charset="0"/>
                <a:sym typeface="+mn-ea"/>
              </a:rPr>
              <a:t>FROM   </a:t>
            </a:r>
            <a:r>
              <a:rPr lang="en-US" altLang="zh-CN" sz="2000" dirty="0">
                <a:solidFill>
                  <a:srgbClr val="FF0000"/>
                </a:solidFill>
                <a:latin typeface="Arial" panose="020B0604020202090204" pitchFamily="34" charset="0"/>
                <a:cs typeface="Arial" panose="020B0604020202090204" pitchFamily="34" charset="0"/>
                <a:sym typeface="+mn-ea"/>
              </a:rPr>
              <a:t>IS_S1</a:t>
            </a:r>
            <a:endParaRPr lang="en-US" altLang="zh-CN" sz="2000" dirty="0">
              <a:latin typeface="Arial" panose="020B0604020202090204" pitchFamily="34" charset="0"/>
              <a:cs typeface="Arial" panose="020B0604020202090204" pitchFamily="34" charset="0"/>
            </a:endParaRPr>
          </a:p>
          <a:p>
            <a:pPr marL="352425" lvl="1" indent="480060">
              <a:lnSpc>
                <a:spcPct val="100000"/>
              </a:lnSpc>
              <a:spcBef>
                <a:spcPts val="1000"/>
              </a:spcBef>
              <a:buNone/>
            </a:pPr>
            <a:r>
              <a:rPr lang="en-US" altLang="zh-CN" sz="2000" dirty="0">
                <a:latin typeface="Arial" panose="020B0604020202090204" pitchFamily="34" charset="0"/>
                <a:cs typeface="Arial" panose="020B0604020202090204" pitchFamily="34" charset="0"/>
                <a:sym typeface="+mn-ea"/>
              </a:rPr>
              <a:t>WHERE  Grade &gt;= 90</a:t>
            </a:r>
            <a:r>
              <a:rPr lang="zh-CN" altLang="en-US" sz="2000" dirty="0">
                <a:latin typeface="Arial" panose="020B0604020202090204" pitchFamily="34" charset="0"/>
                <a:cs typeface="Arial" panose="020B0604020202090204" pitchFamily="34" charset="0"/>
                <a:sym typeface="+mn-ea"/>
              </a:rPr>
              <a:t>;</a:t>
            </a:r>
            <a:endParaRPr lang="zh-CN" altLang="en-US" sz="2000" dirty="0">
              <a:latin typeface="Arial" panose="020B0604020202090204" pitchFamily="34" charset="0"/>
              <a:cs typeface="Arial" panose="020B0604020202090204" pitchFamily="34" charset="0"/>
            </a:endParaRPr>
          </a:p>
          <a:p>
            <a:endParaRPr lang="zh-CN" altLang="en-US" sz="2000"/>
          </a:p>
        </p:txBody>
      </p:sp>
      <p:sp>
        <p:nvSpPr>
          <p:cNvPr id="2" name="灯片编号占位符 1"/>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7" name="页脚占位符 6"/>
          <p:cNvSpPr>
            <a:spLocks noGrp="1"/>
          </p:cNvSpPr>
          <p:nvPr>
            <p:ph type="ftr" sz="quarter" idx="11"/>
          </p:nvPr>
        </p:nvSpPr>
        <p:spPr/>
        <p:txBody>
          <a:bodyPr/>
          <a:p>
            <a:r>
              <a:rPr lang="zh-CN" altLang="en-US"/>
              <a:t>ch03_3_SQL数据更新</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0179">
                                            <p:txEl>
                                              <p:pRg st="0" end="0"/>
                                            </p:txEl>
                                          </p:spTgt>
                                        </p:tgtEl>
                                        <p:attrNameLst>
                                          <p:attrName>style.visibility</p:attrName>
                                        </p:attrNameLst>
                                      </p:cBhvr>
                                      <p:to>
                                        <p:strVal val="visible"/>
                                      </p:to>
                                    </p:set>
                                    <p:animEffect transition="in" filter="blinds(horizontal)">
                                      <p:cBhvr>
                                        <p:cTn id="7" dur="500"/>
                                        <p:tgtEl>
                                          <p:spTgt spid="50179">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0179">
                                            <p:txEl>
                                              <p:pRg st="1" end="1"/>
                                            </p:txEl>
                                          </p:spTgt>
                                        </p:tgtEl>
                                        <p:attrNameLst>
                                          <p:attrName>style.visibility</p:attrName>
                                        </p:attrNameLst>
                                      </p:cBhvr>
                                      <p:to>
                                        <p:strVal val="visible"/>
                                      </p:to>
                                    </p:set>
                                    <p:animEffect transition="in" filter="blinds(horizontal)">
                                      <p:cBhvr>
                                        <p:cTn id="10" dur="500"/>
                                        <p:tgtEl>
                                          <p:spTgt spid="50179">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50179">
                                            <p:txEl>
                                              <p:pRg st="2" end="2"/>
                                            </p:txEl>
                                          </p:spTgt>
                                        </p:tgtEl>
                                        <p:attrNameLst>
                                          <p:attrName>style.visibility</p:attrName>
                                        </p:attrNameLst>
                                      </p:cBhvr>
                                      <p:to>
                                        <p:strVal val="visible"/>
                                      </p:to>
                                    </p:set>
                                    <p:animEffect transition="in" filter="blinds(horizontal)">
                                      <p:cBhvr>
                                        <p:cTn id="13" dur="500"/>
                                        <p:tgtEl>
                                          <p:spTgt spid="50179">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50179">
                                            <p:txEl>
                                              <p:pRg st="3" end="3"/>
                                            </p:txEl>
                                          </p:spTgt>
                                        </p:tgtEl>
                                        <p:attrNameLst>
                                          <p:attrName>style.visibility</p:attrName>
                                        </p:attrNameLst>
                                      </p:cBhvr>
                                      <p:to>
                                        <p:strVal val="visible"/>
                                      </p:to>
                                    </p:set>
                                    <p:animEffect transition="in" filter="blinds(horizontal)">
                                      <p:cBhvr>
                                        <p:cTn id="16" dur="500"/>
                                        <p:tgtEl>
                                          <p:spTgt spid="50179">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50179">
                                            <p:txEl>
                                              <p:pRg st="4" end="4"/>
                                            </p:txEl>
                                          </p:spTgt>
                                        </p:tgtEl>
                                        <p:attrNameLst>
                                          <p:attrName>style.visibility</p:attrName>
                                        </p:attrNameLst>
                                      </p:cBhvr>
                                      <p:to>
                                        <p:strVal val="visible"/>
                                      </p:to>
                                    </p:set>
                                    <p:animEffect transition="in" filter="blinds(horizontal)">
                                      <p:cBhvr>
                                        <p:cTn id="19" dur="500"/>
                                        <p:tgtEl>
                                          <p:spTgt spid="50179">
                                            <p:txEl>
                                              <p:pRg st="4" end="4"/>
                                            </p:txEl>
                                          </p:spTgt>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50179">
                                            <p:txEl>
                                              <p:pRg st="5" end="5"/>
                                            </p:txEl>
                                          </p:spTgt>
                                        </p:tgtEl>
                                        <p:attrNameLst>
                                          <p:attrName>style.visibility</p:attrName>
                                        </p:attrNameLst>
                                      </p:cBhvr>
                                      <p:to>
                                        <p:strVal val="visible"/>
                                      </p:to>
                                    </p:set>
                                    <p:animEffect transition="in" filter="blinds(horizontal)">
                                      <p:cBhvr>
                                        <p:cTn id="22" dur="500"/>
                                        <p:tgtEl>
                                          <p:spTgt spid="50179">
                                            <p:txEl>
                                              <p:pRg st="5" end="5"/>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50179">
                                            <p:txEl>
                                              <p:pRg st="6" end="6"/>
                                            </p:txEl>
                                          </p:spTgt>
                                        </p:tgtEl>
                                        <p:attrNameLst>
                                          <p:attrName>style.visibility</p:attrName>
                                        </p:attrNameLst>
                                      </p:cBhvr>
                                      <p:to>
                                        <p:strVal val="visible"/>
                                      </p:to>
                                    </p:set>
                                    <p:animEffect transition="in" filter="blinds(horizontal)">
                                      <p:cBhvr>
                                        <p:cTn id="25" dur="500"/>
                                        <p:tgtEl>
                                          <p:spTgt spid="50179">
                                            <p:txEl>
                                              <p:pRg st="6" end="6"/>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50179">
                                            <p:txEl>
                                              <p:pRg st="7" end="7"/>
                                            </p:txEl>
                                          </p:spTgt>
                                        </p:tgtEl>
                                        <p:attrNameLst>
                                          <p:attrName>style.visibility</p:attrName>
                                        </p:attrNameLst>
                                      </p:cBhvr>
                                      <p:to>
                                        <p:strVal val="visible"/>
                                      </p:to>
                                    </p:set>
                                    <p:animEffect transition="in" filter="blinds(horizontal)">
                                      <p:cBhvr>
                                        <p:cTn id="28" dur="500"/>
                                        <p:tgtEl>
                                          <p:spTgt spid="50179">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4">
                                            <p:bg/>
                                          </p:spTgt>
                                        </p:tgtEl>
                                        <p:attrNameLst>
                                          <p:attrName>style.visibility</p:attrName>
                                        </p:attrNameLst>
                                      </p:cBhvr>
                                      <p:to>
                                        <p:strVal val="visible"/>
                                      </p:to>
                                    </p:set>
                                    <p:animEffect transition="in" filter="blinds(horizontal)">
                                      <p:cBhvr>
                                        <p:cTn id="33" dur="500"/>
                                        <p:tgtEl>
                                          <p:spTgt spid="4">
                                            <p:bg/>
                                          </p:spTgt>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4">
                                            <p:txEl>
                                              <p:pRg st="0" end="0"/>
                                            </p:txEl>
                                          </p:spTgt>
                                        </p:tgtEl>
                                        <p:attrNameLst>
                                          <p:attrName>style.visibility</p:attrName>
                                        </p:attrNameLst>
                                      </p:cBhvr>
                                      <p:to>
                                        <p:strVal val="visible"/>
                                      </p:to>
                                    </p:set>
                                    <p:animEffect transition="in" filter="blinds(horizontal)">
                                      <p:cBhvr>
                                        <p:cTn id="36" dur="500"/>
                                        <p:tgtEl>
                                          <p:spTgt spid="4">
                                            <p:txEl>
                                              <p:pRg st="0" end="0"/>
                                            </p:txEl>
                                          </p:spTgt>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5">
                                            <p:txEl>
                                              <p:pRg st="0" end="0"/>
                                            </p:txEl>
                                          </p:spTgt>
                                        </p:tgtEl>
                                        <p:attrNameLst>
                                          <p:attrName>style.visibility</p:attrName>
                                        </p:attrNameLst>
                                      </p:cBhvr>
                                      <p:to>
                                        <p:strVal val="visible"/>
                                      </p:to>
                                    </p:set>
                                    <p:animEffect transition="in" filter="blinds(horizontal)">
                                      <p:cBhvr>
                                        <p:cTn id="39" dur="500"/>
                                        <p:tgtEl>
                                          <p:spTgt spid="5">
                                            <p:txEl>
                                              <p:pRg st="0" end="0"/>
                                            </p:txEl>
                                          </p:spTgt>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5">
                                            <p:txEl>
                                              <p:pRg st="1" end="1"/>
                                            </p:txEl>
                                          </p:spTgt>
                                        </p:tgtEl>
                                        <p:attrNameLst>
                                          <p:attrName>style.visibility</p:attrName>
                                        </p:attrNameLst>
                                      </p:cBhvr>
                                      <p:to>
                                        <p:strVal val="visible"/>
                                      </p:to>
                                    </p:set>
                                    <p:animEffect transition="in" filter="blinds(horizontal)">
                                      <p:cBhvr>
                                        <p:cTn id="42" dur="500"/>
                                        <p:tgtEl>
                                          <p:spTgt spid="5">
                                            <p:txEl>
                                              <p:pRg st="1" end="1"/>
                                            </p:txEl>
                                          </p:spTgt>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5">
                                            <p:txEl>
                                              <p:pRg st="2" end="2"/>
                                            </p:txEl>
                                          </p:spTgt>
                                        </p:tgtEl>
                                        <p:attrNameLst>
                                          <p:attrName>style.visibility</p:attrName>
                                        </p:attrNameLst>
                                      </p:cBhvr>
                                      <p:to>
                                        <p:strVal val="visible"/>
                                      </p:to>
                                    </p:set>
                                    <p:animEffect transition="in" filter="blinds(horizontal)">
                                      <p:cBhvr>
                                        <p:cTn id="45" dur="500"/>
                                        <p:tgtEl>
                                          <p:spTgt spid="5">
                                            <p:txEl>
                                              <p:pRg st="2" end="2"/>
                                            </p:txEl>
                                          </p:spTgt>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5">
                                            <p:txEl>
                                              <p:pRg st="3" end="3"/>
                                            </p:txEl>
                                          </p:spTgt>
                                        </p:tgtEl>
                                        <p:attrNameLst>
                                          <p:attrName>style.visibility</p:attrName>
                                        </p:attrNameLst>
                                      </p:cBhvr>
                                      <p:to>
                                        <p:strVal val="visible"/>
                                      </p:to>
                                    </p:set>
                                    <p:animEffect transition="in" filter="blinds(horizontal)">
                                      <p:cBhvr>
                                        <p:cTn id="48" dur="500"/>
                                        <p:tgtEl>
                                          <p:spTgt spid="5">
                                            <p:txEl>
                                              <p:pRg st="3" end="3"/>
                                            </p:txEl>
                                          </p:spTgt>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5">
                                            <p:txEl>
                                              <p:pRg st="4" end="4"/>
                                            </p:txEl>
                                          </p:spTgt>
                                        </p:tgtEl>
                                        <p:attrNameLst>
                                          <p:attrName>style.visibility</p:attrName>
                                        </p:attrNameLst>
                                      </p:cBhvr>
                                      <p:to>
                                        <p:strVal val="visible"/>
                                      </p:to>
                                    </p:set>
                                    <p:animEffect transition="in" filter="blinds(horizontal)">
                                      <p:cBhvr>
                                        <p:cTn id="51" dur="500"/>
                                        <p:tgtEl>
                                          <p:spTgt spid="5">
                                            <p:txEl>
                                              <p:pRg st="4" end="4"/>
                                            </p:txEl>
                                          </p:spTgt>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5">
                                            <p:txEl>
                                              <p:pRg st="5" end="5"/>
                                            </p:txEl>
                                          </p:spTgt>
                                        </p:tgtEl>
                                        <p:attrNameLst>
                                          <p:attrName>style.visibility</p:attrName>
                                        </p:attrNameLst>
                                      </p:cBhvr>
                                      <p:to>
                                        <p:strVal val="visible"/>
                                      </p:to>
                                    </p:set>
                                    <p:animEffect transition="in" filter="blinds(horizontal)">
                                      <p:cBhvr>
                                        <p:cTn id="54"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bldLvl="0" build="allAtOnce"/>
      <p:bldP spid="4" grpId="0" bldLvl="0" animBg="1" build="allAtOnce"/>
      <p:bldP spid="5"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zh-CN" altLang="en-US" dirty="0"/>
              <a:t>定义视图</a:t>
            </a:r>
            <a:r>
              <a:rPr lang="en-US" altLang="zh-CN" dirty="0"/>
              <a:t>-</a:t>
            </a:r>
            <a:r>
              <a:rPr lang="zh-CN" altLang="en-US" dirty="0"/>
              <a:t>建立视图 </a:t>
            </a:r>
            <a:r>
              <a:rPr lang="en-US" altLang="zh-CN" dirty="0"/>
              <a:t>6</a:t>
            </a:r>
            <a:endParaRPr lang="zh-CN" altLang="en-US" dirty="0"/>
          </a:p>
        </p:txBody>
      </p:sp>
      <p:sp>
        <p:nvSpPr>
          <p:cNvPr id="3" name="文本占位符 2"/>
          <p:cNvSpPr>
            <a:spLocks noGrp="1"/>
          </p:cNvSpPr>
          <p:nvPr>
            <p:ph type="body" idx="1"/>
          </p:nvPr>
        </p:nvSpPr>
        <p:spPr>
          <a:solidFill>
            <a:schemeClr val="accent3">
              <a:lumMod val="20000"/>
              <a:lumOff val="80000"/>
            </a:schemeClr>
          </a:solidFill>
        </p:spPr>
        <p:txBody>
          <a:bodyPr anchor="ctr" anchorCtr="0"/>
          <a:p>
            <a:pPr>
              <a:lnSpc>
                <a:spcPct val="100000"/>
              </a:lnSpc>
            </a:pPr>
            <a:r>
              <a:rPr lang="zh-CN" altLang="en-US" dirty="0">
                <a:sym typeface="+mn-ea"/>
              </a:rPr>
              <a:t>带表达式的视图</a:t>
            </a:r>
            <a:endParaRPr lang="zh-CN" altLang="en-US"/>
          </a:p>
        </p:txBody>
      </p:sp>
      <mc:AlternateContent xmlns:mc="http://schemas.openxmlformats.org/markup-compatibility/2006">
        <mc:Choice xmlns:a14="http://schemas.microsoft.com/office/drawing/2010/main" Requires="a14">
          <p:sp>
            <p:nvSpPr>
              <p:cNvPr id="50179" name="Rectangle 3"/>
              <p:cNvSpPr>
                <a:spLocks noGrp="1" noChangeArrowheads="1"/>
              </p:cNvSpPr>
              <p:nvPr>
                <p:ph sz="half" idx="2"/>
              </p:nvPr>
            </p:nvSpPr>
            <p:spPr/>
            <p:txBody>
              <a:bodyPr>
                <a:noAutofit/>
              </a:bodyPr>
              <a:lstStyle/>
              <a:p>
                <a:pPr marL="0" indent="0">
                  <a:lnSpc>
                    <a:spcPct val="110000"/>
                  </a:lnSpc>
                  <a:spcBef>
                    <a:spcPts val="1000"/>
                  </a:spcBef>
                  <a:buNone/>
                </a:pPr>
                <a:r>
                  <a:rPr lang="en-US" altLang="zh-CN" sz="2800" dirty="0">
                    <a:sym typeface="+mn-ea"/>
                  </a:rPr>
                  <a:t>[</a:t>
                </a:r>
                <a:r>
                  <a:rPr lang="zh-CN" altLang="en-US" sz="2800" dirty="0">
                    <a:sym typeface="+mn-ea"/>
                  </a:rPr>
                  <a:t>例</a:t>
                </a:r>
                <a:r>
                  <a:rPr lang="en-US" altLang="zh-CN" sz="2800" dirty="0">
                    <a:sym typeface="+mn-ea"/>
                  </a:rPr>
                  <a:t>3.88]</a:t>
                </a:r>
                <a:r>
                  <a:rPr lang="zh-CN" altLang="en-US" sz="2800" dirty="0">
                    <a:sym typeface="+mn-ea"/>
                  </a:rPr>
                  <a:t>定义一个反映学生出生年份的视图。</a:t>
                </a:r>
                <a:endParaRPr lang="zh-CN" altLang="en-US" sz="2800" dirty="0"/>
              </a:p>
              <a:p>
                <a:pPr marL="0" lvl="0" indent="173990">
                  <a:lnSpc>
                    <a:spcPct val="110000"/>
                  </a:lnSpc>
                  <a:spcBef>
                    <a:spcPts val="2000"/>
                  </a:spcBef>
                  <a:buNone/>
                </a:pPr>
                <a:r>
                  <a:rPr lang="en-US" altLang="zh-CN" sz="1995" dirty="0">
                    <a:latin typeface="Arial" panose="020B0604020202090204" pitchFamily="34" charset="0"/>
                    <a:cs typeface="Arial" panose="020B0604020202090204" pitchFamily="34" charset="0"/>
                    <a:sym typeface="+mn-ea"/>
                  </a:rPr>
                  <a:t>CREATE  VIEW BT_S</a:t>
                </a:r>
                <a:r>
                  <a:rPr lang="zh-CN" altLang="en-US" sz="1995" dirty="0">
                    <a:latin typeface="Arial" panose="020B0604020202090204" pitchFamily="34" charset="0"/>
                    <a:cs typeface="Arial" panose="020B0604020202090204" pitchFamily="34" charset="0"/>
                    <a:sym typeface="+mn-ea"/>
                  </a:rPr>
                  <a:t>(</a:t>
                </a:r>
                <a:r>
                  <a:rPr lang="en-US" altLang="zh-CN" sz="1995" dirty="0" err="1">
                    <a:latin typeface="Arial" panose="020B0604020202090204" pitchFamily="34" charset="0"/>
                    <a:cs typeface="Arial" panose="020B0604020202090204" pitchFamily="34" charset="0"/>
                    <a:sym typeface="+mn-ea"/>
                  </a:rPr>
                  <a:t>Sno, Sname, Sbirth</a:t>
                </a:r>
                <a:r>
                  <a:rPr lang="zh-CN" altLang="en-US" sz="1995" dirty="0">
                    <a:latin typeface="Arial" panose="020B0604020202090204" pitchFamily="34" charset="0"/>
                    <a:cs typeface="Arial" panose="020B0604020202090204" pitchFamily="34" charset="0"/>
                    <a:sym typeface="+mn-ea"/>
                  </a:rPr>
                  <a:t>)</a:t>
                </a:r>
                <a:endParaRPr lang="zh-CN" altLang="en-US" sz="1995" dirty="0">
                  <a:latin typeface="Arial" panose="020B0604020202090204" pitchFamily="34" charset="0"/>
                  <a:cs typeface="Arial" panose="020B0604020202090204" pitchFamily="34" charset="0"/>
                </a:endParaRPr>
              </a:p>
              <a:p>
                <a:pPr marL="0" lvl="0" indent="173990">
                  <a:lnSpc>
                    <a:spcPct val="110000"/>
                  </a:lnSpc>
                  <a:spcBef>
                    <a:spcPts val="1000"/>
                  </a:spcBef>
                  <a:buNone/>
                </a:pPr>
                <a:r>
                  <a:rPr lang="en-US" altLang="zh-CN" sz="1995" dirty="0">
                    <a:latin typeface="Arial" panose="020B0604020202090204" pitchFamily="34" charset="0"/>
                    <a:cs typeface="Arial" panose="020B0604020202090204" pitchFamily="34" charset="0"/>
                    <a:sym typeface="+mn-ea"/>
                  </a:rPr>
                  <a:t>AS </a:t>
                </a:r>
                <a:endParaRPr lang="en-US" altLang="zh-CN" sz="1995" dirty="0">
                  <a:latin typeface="Arial" panose="020B0604020202090204" pitchFamily="34" charset="0"/>
                  <a:cs typeface="Arial" panose="020B0604020202090204" pitchFamily="34" charset="0"/>
                </a:endParaRPr>
              </a:p>
              <a:p>
                <a:pPr marL="363855" lvl="1" indent="255905">
                  <a:lnSpc>
                    <a:spcPct val="110000"/>
                  </a:lnSpc>
                  <a:spcBef>
                    <a:spcPts val="1000"/>
                  </a:spcBef>
                  <a:buNone/>
                </a:pPr>
                <a:r>
                  <a:rPr lang="en-US" altLang="zh-CN" sz="2000" dirty="0">
                    <a:latin typeface="Arial" panose="020B0604020202090204" pitchFamily="34" charset="0"/>
                    <a:cs typeface="Arial" panose="020B0604020202090204" pitchFamily="34" charset="0"/>
                    <a:sym typeface="+mn-ea"/>
                  </a:rPr>
                  <a:t>SELECT  Sno,  Sname, </a:t>
                </a:r>
                <a14:m>
                  <m:oMath xmlns:m="http://schemas.openxmlformats.org/officeDocument/2006/math">
                    <m:r>
                      <a:rPr lang="en-US" altLang="zh-CN" sz="2000" dirty="0">
                        <a:latin typeface="Cambria Math" panose="02040503050406030204" charset="0"/>
                        <a:cs typeface="Cambria Math" panose="02040503050406030204" charset="0"/>
                        <a:sym typeface="+mn-ea"/>
                      </a:rPr>
                      <m:t> </m:t>
                    </m:r>
                    <m:r>
                      <a:rPr lang="en-US" altLang="zh-CN" sz="2000" dirty="0">
                        <a:latin typeface="Cambria Math" panose="02040503050406030204" charset="0"/>
                        <a:cs typeface="Cambria Math" panose="02040503050406030204" charset="0"/>
                        <a:sym typeface="+mn-ea"/>
                      </a:rPr>
                      <m:t>2014</m:t>
                    </m:r>
                    <m:r>
                      <a:rPr lang="en-US" altLang="zh-CN" sz="2000" dirty="0">
                        <a:latin typeface="Cambria Math" panose="02040503050406030204" charset="0"/>
                        <a:cs typeface="Cambria Math" panose="02040503050406030204" charset="0"/>
                        <a:sym typeface="+mn-ea"/>
                      </a:rPr>
                      <m:t>−</m:t>
                    </m:r>
                    <m:r>
                      <m:rPr>
                        <m:sty m:val="p"/>
                      </m:rPr>
                      <a:rPr lang="en-US" altLang="zh-CN" sz="2000" dirty="0">
                        <a:latin typeface="Cambria Math" panose="02040503050406030204" charset="0"/>
                        <a:cs typeface="Cambria Math" panose="02040503050406030204" charset="0"/>
                        <a:sym typeface="+mn-ea"/>
                      </a:rPr>
                      <m:t>Sage</m:t>
                    </m:r>
                  </m:oMath>
                </a14:m>
                <a:endParaRPr lang="en-US" altLang="zh-CN" sz="2000" dirty="0">
                  <a:latin typeface="Arial" panose="020B0604020202090204" pitchFamily="34" charset="0"/>
                  <a:cs typeface="Arial" panose="020B0604020202090204" pitchFamily="34" charset="0"/>
                </a:endParaRPr>
              </a:p>
              <a:p>
                <a:pPr marL="363855" lvl="1" indent="255905">
                  <a:lnSpc>
                    <a:spcPct val="110000"/>
                  </a:lnSpc>
                  <a:spcBef>
                    <a:spcPts val="1000"/>
                  </a:spcBef>
                  <a:buNone/>
                </a:pPr>
                <a:r>
                  <a:rPr lang="en-US" altLang="zh-CN" sz="2000" dirty="0">
                    <a:latin typeface="Arial" panose="020B0604020202090204" pitchFamily="34" charset="0"/>
                    <a:cs typeface="Arial" panose="020B0604020202090204" pitchFamily="34" charset="0"/>
                    <a:sym typeface="+mn-ea"/>
                  </a:rPr>
                  <a:t>FROM  Student</a:t>
                </a:r>
                <a:r>
                  <a:rPr lang="zh-CN" altLang="en-US" sz="2000" dirty="0">
                    <a:latin typeface="Arial" panose="020B0604020202090204" pitchFamily="34" charset="0"/>
                    <a:cs typeface="Arial" panose="020B0604020202090204" pitchFamily="34" charset="0"/>
                    <a:sym typeface="+mn-ea"/>
                  </a:rPr>
                  <a:t>;</a:t>
                </a:r>
                <a:endParaRPr lang="zh-CN" altLang="en-US" sz="2000" dirty="0">
                  <a:latin typeface="Arial" panose="020B0604020202090204" pitchFamily="34" charset="0"/>
                  <a:cs typeface="Arial" panose="020B0604020202090204" pitchFamily="34" charset="0"/>
                </a:endParaRPr>
              </a:p>
            </p:txBody>
          </p:sp>
        </mc:Choice>
        <mc:Fallback>
          <p:sp>
            <p:nvSpPr>
              <p:cNvPr id="50179" name="Rectangle 3"/>
              <p:cNvSpPr>
                <a:spLocks noRot="1" noChangeAspect="1" noMove="1" noResize="1" noEditPoints="1" noAdjustHandles="1" noChangeArrowheads="1" noChangeShapeType="1" noTextEdit="1"/>
              </p:cNvSpPr>
              <p:nvPr>
                <p:ph sz="half" idx="2"/>
              </p:nvPr>
            </p:nvSpPr>
            <p:spPr>
              <a:blipFill rotWithShape="1">
                <a:blip r:embed="rId1"/>
                <a:stretch>
                  <a:fillRect/>
                </a:stretch>
              </a:blipFill>
            </p:spPr>
            <p:txBody>
              <a:bodyPr/>
              <a:lstStyle/>
              <a:p>
                <a:r>
                  <a:rPr lang="zh-CN" altLang="en-US">
                    <a:noFill/>
                  </a:rPr>
                  <a:t> </a:t>
                </a:r>
              </a:p>
            </p:txBody>
          </p:sp>
        </mc:Fallback>
      </mc:AlternateContent>
      <p:sp>
        <p:nvSpPr>
          <p:cNvPr id="4" name="文本占位符 3"/>
          <p:cNvSpPr>
            <a:spLocks noGrp="1"/>
          </p:cNvSpPr>
          <p:nvPr>
            <p:ph type="body" sz="quarter" idx="3"/>
          </p:nvPr>
        </p:nvSpPr>
        <p:spPr>
          <a:solidFill>
            <a:schemeClr val="accent3">
              <a:lumMod val="20000"/>
              <a:lumOff val="80000"/>
            </a:schemeClr>
          </a:solidFill>
        </p:spPr>
        <p:txBody>
          <a:bodyPr anchor="ctr" anchorCtr="0"/>
          <a:p>
            <a:pPr>
              <a:lnSpc>
                <a:spcPct val="100000"/>
              </a:lnSpc>
            </a:pPr>
            <a:r>
              <a:rPr lang="zh-CN" altLang="en-US">
                <a:sym typeface="+mn-ea"/>
              </a:rPr>
              <a:t>分组视图</a:t>
            </a:r>
            <a:endParaRPr lang="zh-CN" altLang="en-US"/>
          </a:p>
        </p:txBody>
      </p:sp>
      <p:sp>
        <p:nvSpPr>
          <p:cNvPr id="5" name="内容占位符 4"/>
          <p:cNvSpPr>
            <a:spLocks noGrp="1"/>
          </p:cNvSpPr>
          <p:nvPr>
            <p:ph sz="quarter" idx="4"/>
          </p:nvPr>
        </p:nvSpPr>
        <p:spPr/>
        <p:txBody>
          <a:bodyPr/>
          <a:p>
            <a:pPr marL="0" indent="0">
              <a:lnSpc>
                <a:spcPct val="110000"/>
              </a:lnSpc>
              <a:spcBef>
                <a:spcPts val="1000"/>
              </a:spcBef>
              <a:buNone/>
            </a:pPr>
            <a:r>
              <a:rPr lang="en-US" altLang="zh-CN" sz="2800">
                <a:sym typeface="+mn-ea"/>
              </a:rPr>
              <a:t>[</a:t>
            </a:r>
            <a:r>
              <a:rPr lang="zh-CN" altLang="en-US" sz="2800">
                <a:sym typeface="+mn-ea"/>
              </a:rPr>
              <a:t>例</a:t>
            </a:r>
            <a:r>
              <a:rPr lang="en-US" altLang="zh-CN" sz="2800">
                <a:sym typeface="+mn-ea"/>
              </a:rPr>
              <a:t>3.89]</a:t>
            </a:r>
            <a:r>
              <a:rPr lang="zh-CN" altLang="en-US" sz="2800">
                <a:sym typeface="+mn-ea"/>
              </a:rPr>
              <a:t>将学生的学号及平均成绩定义为一个视图。</a:t>
            </a:r>
            <a:endParaRPr lang="en-US" altLang="zh-CN" sz="3000"/>
          </a:p>
          <a:p>
            <a:pPr marL="193675" lvl="1" indent="10160" defTabSz="914400">
              <a:lnSpc>
                <a:spcPct val="110000"/>
              </a:lnSpc>
              <a:spcBef>
                <a:spcPts val="2000"/>
              </a:spcBef>
              <a:buNone/>
              <a:tabLst>
                <a:tab pos="268605" algn="l"/>
              </a:tabLst>
            </a:pPr>
            <a:r>
              <a:rPr lang="en-US" altLang="zh-CN" sz="2000">
                <a:latin typeface="Arial" panose="020B0604020202090204" pitchFamily="34" charset="0"/>
                <a:cs typeface="Arial" panose="020B0604020202090204" pitchFamily="34" charset="0"/>
                <a:sym typeface="+mn-ea"/>
              </a:rPr>
              <a:t>CREAT  VIEW     S_G</a:t>
            </a:r>
            <a:r>
              <a:rPr lang="zh-CN" altLang="en-US" sz="2000">
                <a:latin typeface="Arial" panose="020B0604020202090204" pitchFamily="34" charset="0"/>
                <a:cs typeface="Arial" panose="020B0604020202090204" pitchFamily="34" charset="0"/>
                <a:sym typeface="+mn-ea"/>
              </a:rPr>
              <a:t>(</a:t>
            </a:r>
            <a:r>
              <a:rPr lang="en-US" altLang="zh-CN" sz="2000">
                <a:latin typeface="Arial" panose="020B0604020202090204" pitchFamily="34" charset="0"/>
                <a:cs typeface="Arial" panose="020B0604020202090204" pitchFamily="34" charset="0"/>
                <a:sym typeface="+mn-ea"/>
              </a:rPr>
              <a:t>Sno, Gavg</a:t>
            </a:r>
            <a:r>
              <a:rPr lang="zh-CN" altLang="en-US" sz="2000">
                <a:latin typeface="Arial" panose="020B0604020202090204" pitchFamily="34" charset="0"/>
                <a:cs typeface="Arial" panose="020B0604020202090204" pitchFamily="34" charset="0"/>
                <a:sym typeface="+mn-ea"/>
              </a:rPr>
              <a:t>)</a:t>
            </a:r>
            <a:endParaRPr lang="zh-CN" altLang="en-US" sz="2000">
              <a:latin typeface="Arial" panose="020B0604020202090204" pitchFamily="34" charset="0"/>
              <a:cs typeface="Arial" panose="020B0604020202090204" pitchFamily="34" charset="0"/>
            </a:endParaRPr>
          </a:p>
          <a:p>
            <a:pPr marL="193675" lvl="1" indent="10160" defTabSz="914400">
              <a:lnSpc>
                <a:spcPct val="110000"/>
              </a:lnSpc>
              <a:spcBef>
                <a:spcPts val="1000"/>
              </a:spcBef>
              <a:buNone/>
              <a:tabLst>
                <a:tab pos="268605" algn="l"/>
              </a:tabLst>
            </a:pPr>
            <a:r>
              <a:rPr lang="en-US" altLang="zh-CN" sz="2000">
                <a:latin typeface="Arial" panose="020B0604020202090204" pitchFamily="34" charset="0"/>
                <a:cs typeface="Arial" panose="020B0604020202090204" pitchFamily="34" charset="0"/>
                <a:sym typeface="+mn-ea"/>
              </a:rPr>
              <a:t>AS  </a:t>
            </a:r>
            <a:endParaRPr lang="en-US" altLang="zh-CN" sz="2000">
              <a:latin typeface="Arial" panose="020B0604020202090204" pitchFamily="34" charset="0"/>
              <a:cs typeface="Arial" panose="020B0604020202090204" pitchFamily="34" charset="0"/>
            </a:endParaRPr>
          </a:p>
          <a:p>
            <a:pPr marL="734695" lvl="3" indent="-20320" defTabSz="914400">
              <a:lnSpc>
                <a:spcPct val="110000"/>
              </a:lnSpc>
              <a:spcBef>
                <a:spcPts val="1000"/>
              </a:spcBef>
              <a:buNone/>
              <a:tabLst>
                <a:tab pos="1163955" algn="l"/>
              </a:tabLst>
            </a:pPr>
            <a:r>
              <a:rPr lang="en-US" altLang="zh-CN" sz="2000">
                <a:latin typeface="Arial" panose="020B0604020202090204" pitchFamily="34" charset="0"/>
                <a:cs typeface="Arial" panose="020B0604020202090204" pitchFamily="34" charset="0"/>
                <a:sym typeface="+mn-ea"/>
              </a:rPr>
              <a:t>SELECT  Sno, AVG</a:t>
            </a:r>
            <a:r>
              <a:rPr lang="zh-CN" altLang="en-US" sz="2000">
                <a:latin typeface="Arial" panose="020B0604020202090204" pitchFamily="34" charset="0"/>
                <a:cs typeface="Arial" panose="020B0604020202090204" pitchFamily="34" charset="0"/>
                <a:sym typeface="+mn-ea"/>
              </a:rPr>
              <a:t>(</a:t>
            </a:r>
            <a:r>
              <a:rPr lang="en-US" altLang="zh-CN" sz="2000">
                <a:latin typeface="Arial" panose="020B0604020202090204" pitchFamily="34" charset="0"/>
                <a:cs typeface="Arial" panose="020B0604020202090204" pitchFamily="34" charset="0"/>
                <a:sym typeface="+mn-ea"/>
              </a:rPr>
              <a:t>Grade</a:t>
            </a:r>
            <a:r>
              <a:rPr lang="zh-CN" altLang="en-US" sz="2000">
                <a:latin typeface="Arial" panose="020B0604020202090204" pitchFamily="34" charset="0"/>
                <a:cs typeface="Arial" panose="020B0604020202090204" pitchFamily="34" charset="0"/>
                <a:sym typeface="+mn-ea"/>
              </a:rPr>
              <a:t>)</a:t>
            </a:r>
            <a:endParaRPr lang="zh-CN" altLang="en-US" sz="2000">
              <a:latin typeface="Arial" panose="020B0604020202090204" pitchFamily="34" charset="0"/>
              <a:cs typeface="Arial" panose="020B0604020202090204" pitchFamily="34" charset="0"/>
            </a:endParaRPr>
          </a:p>
          <a:p>
            <a:pPr marL="734695" lvl="3" indent="-20320" defTabSz="914400">
              <a:lnSpc>
                <a:spcPct val="110000"/>
              </a:lnSpc>
              <a:spcBef>
                <a:spcPts val="1000"/>
              </a:spcBef>
              <a:buNone/>
              <a:tabLst>
                <a:tab pos="1163955" algn="l"/>
              </a:tabLst>
            </a:pPr>
            <a:r>
              <a:rPr lang="en-US" altLang="zh-CN" sz="2000">
                <a:latin typeface="Arial" panose="020B0604020202090204" pitchFamily="34" charset="0"/>
                <a:cs typeface="Arial" panose="020B0604020202090204" pitchFamily="34" charset="0"/>
                <a:sym typeface="+mn-ea"/>
              </a:rPr>
              <a:t>FROM      SC</a:t>
            </a:r>
            <a:endParaRPr lang="en-US" altLang="zh-CN" sz="2000">
              <a:latin typeface="Arial" panose="020B0604020202090204" pitchFamily="34" charset="0"/>
              <a:cs typeface="Arial" panose="020B0604020202090204" pitchFamily="34" charset="0"/>
            </a:endParaRPr>
          </a:p>
          <a:p>
            <a:pPr marL="734695" lvl="3" indent="-20320" defTabSz="914400">
              <a:lnSpc>
                <a:spcPct val="110000"/>
              </a:lnSpc>
              <a:spcBef>
                <a:spcPts val="1000"/>
              </a:spcBef>
              <a:buNone/>
              <a:tabLst>
                <a:tab pos="1163955" algn="l"/>
              </a:tabLst>
            </a:pPr>
            <a:r>
              <a:rPr lang="en-US" altLang="zh-CN" sz="2000">
                <a:latin typeface="Arial" panose="020B0604020202090204" pitchFamily="34" charset="0"/>
                <a:cs typeface="Arial" panose="020B0604020202090204" pitchFamily="34" charset="0"/>
                <a:sym typeface="+mn-ea"/>
              </a:rPr>
              <a:t>GROUP BY  Sno</a:t>
            </a:r>
            <a:r>
              <a:rPr lang="zh-CN" altLang="en-US" sz="2000">
                <a:latin typeface="Arial" panose="020B0604020202090204" pitchFamily="34" charset="0"/>
                <a:cs typeface="Arial" panose="020B0604020202090204" pitchFamily="34" charset="0"/>
                <a:sym typeface="+mn-ea"/>
              </a:rPr>
              <a:t>;</a:t>
            </a:r>
            <a:endParaRPr lang="zh-CN" altLang="en-US" sz="2000">
              <a:latin typeface="Arial" panose="020B0604020202090204" pitchFamily="34" charset="0"/>
              <a:cs typeface="Arial" panose="020B0604020202090204" pitchFamily="34" charset="0"/>
            </a:endParaRPr>
          </a:p>
        </p:txBody>
      </p:sp>
      <p:sp>
        <p:nvSpPr>
          <p:cNvPr id="2" name="灯片编号占位符 1"/>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7" name="页脚占位符 6"/>
          <p:cNvSpPr>
            <a:spLocks noGrp="1"/>
          </p:cNvSpPr>
          <p:nvPr>
            <p:ph type="ftr" sz="quarter" idx="11"/>
          </p:nvPr>
        </p:nvSpPr>
        <p:spPr/>
        <p:txBody>
          <a:bodyPr/>
          <a:p>
            <a:r>
              <a:rPr lang="zh-CN" altLang="en-US"/>
              <a:t>ch03_3_SQL数据更新</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blinds(horizontal)">
                                      <p:cBhvr>
                                        <p:cTn id="7" dur="500"/>
                                        <p:tgtEl>
                                          <p:spTgt spid="4">
                                            <p:bg/>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blinds(horizontal)">
                                      <p:cBhvr>
                                        <p:cTn id="10" dur="500"/>
                                        <p:tgtEl>
                                          <p:spTgt spid="4">
                                            <p:txEl>
                                              <p:pRg st="0" end="0"/>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Effect transition="in" filter="blinds(horizontal)">
                                      <p:cBhvr>
                                        <p:cTn id="13" dur="500"/>
                                        <p:tgtEl>
                                          <p:spTgt spid="5">
                                            <p:txEl>
                                              <p:pRg st="0" end="0"/>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5">
                                            <p:txEl>
                                              <p:pRg st="1" end="1"/>
                                            </p:txEl>
                                          </p:spTgt>
                                        </p:tgtEl>
                                        <p:attrNameLst>
                                          <p:attrName>style.visibility</p:attrName>
                                        </p:attrNameLst>
                                      </p:cBhvr>
                                      <p:to>
                                        <p:strVal val="visible"/>
                                      </p:to>
                                    </p:set>
                                    <p:animEffect transition="in" filter="blinds(horizontal)">
                                      <p:cBhvr>
                                        <p:cTn id="16" dur="500"/>
                                        <p:tgtEl>
                                          <p:spTgt spid="5">
                                            <p:txEl>
                                              <p:pRg st="1" end="1"/>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Effect transition="in" filter="blinds(horizontal)">
                                      <p:cBhvr>
                                        <p:cTn id="19" dur="500"/>
                                        <p:tgtEl>
                                          <p:spTgt spid="5">
                                            <p:txEl>
                                              <p:pRg st="2" end="2"/>
                                            </p:txEl>
                                          </p:spTgt>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blinds(horizontal)">
                                      <p:cBhvr>
                                        <p:cTn id="22" dur="500"/>
                                        <p:tgtEl>
                                          <p:spTgt spid="5">
                                            <p:txEl>
                                              <p:pRg st="3" end="3"/>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Effect transition="in" filter="blinds(horizontal)">
                                      <p:cBhvr>
                                        <p:cTn id="25" dur="500"/>
                                        <p:tgtEl>
                                          <p:spTgt spid="5">
                                            <p:txEl>
                                              <p:pRg st="4" end="4"/>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5">
                                            <p:txEl>
                                              <p:pRg st="5" end="5"/>
                                            </p:txEl>
                                          </p:spTgt>
                                        </p:tgtEl>
                                        <p:attrNameLst>
                                          <p:attrName>style.visibility</p:attrName>
                                        </p:attrNameLst>
                                      </p:cBhvr>
                                      <p:to>
                                        <p:strVal val="visible"/>
                                      </p:to>
                                    </p:set>
                                    <p:animEffect transition="in" filter="blinds(horizontal)">
                                      <p:cBhvr>
                                        <p:cTn id="28"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build="allAtOnce"/>
      <p:bldP spid="5" grpId="0" bldLvl="0" build="allAtOnce"/>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zh-CN" altLang="en-US"/>
              <a:t>定义视图</a:t>
            </a:r>
            <a:r>
              <a:rPr lang="en-US" altLang="zh-CN"/>
              <a:t>-</a:t>
            </a:r>
            <a:r>
              <a:rPr lang="zh-CN" altLang="en-US"/>
              <a:t>建立视图 </a:t>
            </a:r>
            <a:r>
              <a:rPr lang="en-US" altLang="zh-CN"/>
              <a:t>7</a:t>
            </a:r>
            <a:endParaRPr lang="zh-CN" altLang="en-US" dirty="0"/>
          </a:p>
        </p:txBody>
      </p:sp>
      <p:sp>
        <p:nvSpPr>
          <p:cNvPr id="5" name="内容占位符 4"/>
          <p:cNvSpPr>
            <a:spLocks noGrp="1"/>
          </p:cNvSpPr>
          <p:nvPr>
            <p:ph idx="1"/>
          </p:nvPr>
        </p:nvSpPr>
        <p:spPr/>
        <p:txBody>
          <a:bodyPr>
            <a:noAutofit/>
          </a:bodyPr>
          <a:lstStyle/>
          <a:p>
            <a:r>
              <a:rPr lang="en-US" altLang="zh-CN" dirty="0"/>
              <a:t>[</a:t>
            </a:r>
            <a:r>
              <a:rPr lang="zh-CN" altLang="en-US" dirty="0"/>
              <a:t>例</a:t>
            </a:r>
            <a:r>
              <a:rPr lang="en-US" altLang="zh-CN" dirty="0"/>
              <a:t>3.90] </a:t>
            </a:r>
            <a:r>
              <a:rPr lang="zh-CN" altLang="en-US" dirty="0"/>
              <a:t>将</a:t>
            </a:r>
            <a:r>
              <a:rPr lang="en-US" altLang="zh-CN" dirty="0"/>
              <a:t>Student</a:t>
            </a:r>
            <a:r>
              <a:rPr lang="zh-CN" altLang="en-US" dirty="0"/>
              <a:t>表中所有女生记录定义为一个视图</a:t>
            </a:r>
            <a:endParaRPr lang="zh-CN" altLang="en-US" dirty="0"/>
          </a:p>
          <a:p>
            <a:pPr marL="914400" lvl="2" indent="0">
              <a:buNone/>
            </a:pPr>
            <a:endParaRPr lang="en-US" altLang="zh-CN" dirty="0">
              <a:latin typeface="Arial" panose="020B0604020202090204" pitchFamily="34" charset="0"/>
              <a:cs typeface="Arial" panose="020B0604020202090204" pitchFamily="34" charset="0"/>
            </a:endParaRPr>
          </a:p>
          <a:p>
            <a:pPr marL="914400" lvl="2" indent="0">
              <a:buNone/>
            </a:pPr>
            <a:r>
              <a:rPr lang="en-US" altLang="zh-CN" dirty="0">
                <a:solidFill>
                  <a:srgbClr val="FF0000"/>
                </a:solidFill>
                <a:latin typeface="Arial" panose="020B0604020202090204" pitchFamily="34" charset="0"/>
                <a:cs typeface="Arial" panose="020B0604020202090204" pitchFamily="34" charset="0"/>
              </a:rPr>
              <a:t>CREATE VIEW </a:t>
            </a:r>
            <a:r>
              <a:rPr lang="en-US" altLang="zh-CN" dirty="0" err="1">
                <a:solidFill>
                  <a:srgbClr val="FF0000"/>
                </a:solidFill>
                <a:latin typeface="Arial" panose="020B0604020202090204" pitchFamily="34" charset="0"/>
                <a:cs typeface="Arial" panose="020B0604020202090204" pitchFamily="34" charset="0"/>
              </a:rPr>
              <a:t>F_Student</a:t>
            </a:r>
            <a:r>
              <a:rPr lang="zh-CN" altLang="en-US" dirty="0">
                <a:solidFill>
                  <a:srgbClr val="FF0000"/>
                </a:solidFill>
                <a:latin typeface="Arial" panose="020B0604020202090204" pitchFamily="34" charset="0"/>
                <a:cs typeface="Arial" panose="020B0604020202090204" pitchFamily="34" charset="0"/>
              </a:rPr>
              <a:t>(</a:t>
            </a:r>
            <a:r>
              <a:rPr lang="en-US" altLang="zh-CN" dirty="0" err="1">
                <a:solidFill>
                  <a:srgbClr val="FF0000"/>
                </a:solidFill>
                <a:latin typeface="Arial" panose="020B0604020202090204" pitchFamily="34" charset="0"/>
                <a:cs typeface="Arial" panose="020B0604020202090204" pitchFamily="34" charset="0"/>
              </a:rPr>
              <a:t>F_Sno,name,sex,age,dept</a:t>
            </a:r>
            <a:r>
              <a:rPr lang="zh-CN" altLang="en-US" dirty="0">
                <a:solidFill>
                  <a:srgbClr val="FF0000"/>
                </a:solidFill>
                <a:latin typeface="Arial" panose="020B0604020202090204" pitchFamily="34" charset="0"/>
                <a:cs typeface="Arial" panose="020B0604020202090204" pitchFamily="34" charset="0"/>
              </a:rPr>
              <a:t>)</a:t>
            </a:r>
            <a:endParaRPr lang="zh-CN" altLang="en-US" dirty="0">
              <a:solidFill>
                <a:srgbClr val="FF0000"/>
              </a:solidFill>
              <a:latin typeface="Arial" panose="020B0604020202090204" pitchFamily="34" charset="0"/>
              <a:cs typeface="Arial" panose="020B0604020202090204" pitchFamily="34" charset="0"/>
            </a:endParaRPr>
          </a:p>
          <a:p>
            <a:pPr marL="914400" lvl="2" indent="0">
              <a:buNone/>
            </a:pPr>
            <a:r>
              <a:rPr lang="en-US" altLang="zh-CN" dirty="0">
                <a:solidFill>
                  <a:srgbClr val="FF0000"/>
                </a:solidFill>
                <a:latin typeface="Arial" panose="020B0604020202090204" pitchFamily="34" charset="0"/>
                <a:cs typeface="Arial" panose="020B0604020202090204" pitchFamily="34" charset="0"/>
              </a:rPr>
              <a:t>AS</a:t>
            </a:r>
            <a:endParaRPr lang="en-US" altLang="zh-CN" dirty="0">
              <a:solidFill>
                <a:srgbClr val="FF0000"/>
              </a:solidFill>
              <a:latin typeface="Arial" panose="020B0604020202090204" pitchFamily="34" charset="0"/>
              <a:cs typeface="Arial" panose="020B0604020202090204" pitchFamily="34" charset="0"/>
            </a:endParaRPr>
          </a:p>
          <a:p>
            <a:pPr marL="1828800" lvl="4" indent="0">
              <a:buNone/>
            </a:pPr>
            <a:r>
              <a:rPr lang="en-US" altLang="zh-CN" dirty="0">
                <a:solidFill>
                  <a:srgbClr val="FF0000"/>
                </a:solidFill>
                <a:latin typeface="Arial" panose="020B0604020202090204" pitchFamily="34" charset="0"/>
                <a:cs typeface="Arial" panose="020B0604020202090204" pitchFamily="34" charset="0"/>
              </a:rPr>
              <a:t>SELECT  *                                 </a:t>
            </a:r>
            <a:r>
              <a:rPr lang="en-US" altLang="zh-CN" dirty="0">
                <a:solidFill>
                  <a:srgbClr val="0000C8"/>
                </a:solidFill>
                <a:latin typeface="Arial" panose="020B0604020202090204" pitchFamily="34" charset="0"/>
                <a:cs typeface="Arial" panose="020B0604020202090204" pitchFamily="34" charset="0"/>
              </a:rPr>
              <a:t> /*</a:t>
            </a:r>
            <a:r>
              <a:rPr lang="zh-CN" altLang="en-US" dirty="0">
                <a:solidFill>
                  <a:srgbClr val="0000C8"/>
                </a:solidFill>
                <a:latin typeface="Arial" panose="020B0604020202090204" pitchFamily="34" charset="0"/>
                <a:cs typeface="Arial" panose="020B0604020202090204" pitchFamily="34" charset="0"/>
              </a:rPr>
              <a:t>不指定属性列</a:t>
            </a:r>
            <a:r>
              <a:rPr lang="en-US" altLang="zh-CN" dirty="0">
                <a:solidFill>
                  <a:srgbClr val="0000C8"/>
                </a:solidFill>
                <a:latin typeface="Arial" panose="020B0604020202090204" pitchFamily="34" charset="0"/>
                <a:cs typeface="Arial" panose="020B0604020202090204" pitchFamily="34" charset="0"/>
              </a:rPr>
              <a:t>*/</a:t>
            </a:r>
            <a:endParaRPr lang="en-US" altLang="zh-CN" dirty="0">
              <a:solidFill>
                <a:srgbClr val="FF0000"/>
              </a:solidFill>
              <a:latin typeface="Arial" panose="020B0604020202090204" pitchFamily="34" charset="0"/>
              <a:cs typeface="Arial" panose="020B0604020202090204" pitchFamily="34" charset="0"/>
            </a:endParaRPr>
          </a:p>
          <a:p>
            <a:pPr marL="1828800" lvl="4" indent="0">
              <a:buNone/>
            </a:pPr>
            <a:r>
              <a:rPr lang="en-US" altLang="zh-CN" dirty="0">
                <a:solidFill>
                  <a:srgbClr val="FF0000"/>
                </a:solidFill>
                <a:latin typeface="Arial" panose="020B0604020202090204" pitchFamily="34" charset="0"/>
                <a:cs typeface="Arial" panose="020B0604020202090204" pitchFamily="34" charset="0"/>
              </a:rPr>
              <a:t>FROM     Student</a:t>
            </a:r>
            <a:endParaRPr lang="en-US" altLang="zh-CN" dirty="0">
              <a:solidFill>
                <a:srgbClr val="FF0000"/>
              </a:solidFill>
              <a:latin typeface="Arial" panose="020B0604020202090204" pitchFamily="34" charset="0"/>
              <a:cs typeface="Arial" panose="020B0604020202090204" pitchFamily="34" charset="0"/>
            </a:endParaRPr>
          </a:p>
          <a:p>
            <a:pPr marL="1828800" lvl="4" indent="0">
              <a:buNone/>
            </a:pPr>
            <a:r>
              <a:rPr lang="en-US" altLang="zh-CN" dirty="0">
                <a:solidFill>
                  <a:srgbClr val="FF0000"/>
                </a:solidFill>
                <a:latin typeface="Arial" panose="020B0604020202090204" pitchFamily="34" charset="0"/>
                <a:cs typeface="Arial" panose="020B0604020202090204" pitchFamily="34" charset="0"/>
              </a:rPr>
              <a:t>WHERE  </a:t>
            </a:r>
            <a:r>
              <a:rPr lang="en-US" altLang="zh-CN" dirty="0" err="1">
                <a:solidFill>
                  <a:srgbClr val="FF0000"/>
                </a:solidFill>
                <a:latin typeface="Arial" panose="020B0604020202090204" pitchFamily="34" charset="0"/>
                <a:cs typeface="Arial" panose="020B0604020202090204" pitchFamily="34" charset="0"/>
              </a:rPr>
              <a:t>Ssex </a:t>
            </a:r>
            <a:r>
              <a:rPr lang="en-US" altLang="zh-CN" dirty="0">
                <a:solidFill>
                  <a:srgbClr val="FF0000"/>
                </a:solidFill>
                <a:latin typeface="Arial" panose="020B0604020202090204" pitchFamily="34" charset="0"/>
                <a:cs typeface="Arial" panose="020B0604020202090204" pitchFamily="34" charset="0"/>
              </a:rPr>
              <a:t>= ‘</a:t>
            </a:r>
            <a:r>
              <a:rPr lang="zh-CN" altLang="en-US" dirty="0">
                <a:solidFill>
                  <a:srgbClr val="FF0000"/>
                </a:solidFill>
                <a:latin typeface="Arial" panose="020B0604020202090204" pitchFamily="34" charset="0"/>
                <a:cs typeface="Arial" panose="020B0604020202090204" pitchFamily="34" charset="0"/>
              </a:rPr>
              <a:t>女</a:t>
            </a:r>
            <a:r>
              <a:rPr lang="en-US" altLang="zh-CN" dirty="0">
                <a:solidFill>
                  <a:srgbClr val="FF0000"/>
                </a:solidFill>
                <a:latin typeface="Arial" panose="020B0604020202090204" pitchFamily="34" charset="0"/>
                <a:cs typeface="Arial" panose="020B0604020202090204" pitchFamily="34" charset="0"/>
              </a:rPr>
              <a:t>’</a:t>
            </a:r>
            <a:r>
              <a:rPr lang="zh-CN" altLang="en-US" dirty="0">
                <a:solidFill>
                  <a:srgbClr val="FF0000"/>
                </a:solidFill>
                <a:latin typeface="Arial" panose="020B0604020202090204" pitchFamily="34" charset="0"/>
                <a:cs typeface="Arial" panose="020B0604020202090204" pitchFamily="34" charset="0"/>
              </a:rPr>
              <a:t>;</a:t>
            </a:r>
            <a:endParaRPr lang="zh-CN" altLang="en-US" dirty="0">
              <a:solidFill>
                <a:srgbClr val="FF0000"/>
              </a:solidFill>
              <a:latin typeface="Arial" panose="020B0604020202090204" pitchFamily="34" charset="0"/>
              <a:cs typeface="Arial" panose="020B0604020202090204" pitchFamily="34" charset="0"/>
            </a:endParaRPr>
          </a:p>
          <a:p>
            <a:pPr marL="1828800" lvl="4" indent="0">
              <a:buNone/>
            </a:pPr>
            <a:endParaRPr lang="zh-CN" altLang="en-US" dirty="0">
              <a:latin typeface="Arial" panose="020B0604020202090204" pitchFamily="34" charset="0"/>
              <a:cs typeface="Arial" panose="020B0604020202090204" pitchFamily="34" charset="0"/>
            </a:endParaRPr>
          </a:p>
          <a:p>
            <a:r>
              <a:rPr lang="zh-CN" altLang="en-US" dirty="0"/>
              <a:t>缺点：</a:t>
            </a:r>
            <a:endParaRPr lang="zh-CN" altLang="en-US" dirty="0"/>
          </a:p>
          <a:p>
            <a:pPr lvl="1"/>
            <a:r>
              <a:rPr lang="zh-CN" altLang="en-US" sz="2800" dirty="0"/>
              <a:t>修改基表</a:t>
            </a:r>
            <a:r>
              <a:rPr lang="en-US" altLang="zh-CN" sz="2800" dirty="0"/>
              <a:t>Student</a:t>
            </a:r>
            <a:r>
              <a:rPr lang="zh-CN" altLang="en-US" sz="2800" dirty="0"/>
              <a:t>的结构后，</a:t>
            </a:r>
            <a:r>
              <a:rPr lang="en-US" altLang="zh-CN" sz="2800" dirty="0"/>
              <a:t>Student</a:t>
            </a:r>
            <a:r>
              <a:rPr lang="zh-CN" altLang="en-US" sz="2800" dirty="0"/>
              <a:t>表与</a:t>
            </a:r>
            <a:r>
              <a:rPr lang="en-US" altLang="zh-CN" sz="2800" dirty="0"/>
              <a:t> </a:t>
            </a:r>
            <a:r>
              <a:rPr lang="en-US" altLang="zh-CN" sz="2800" dirty="0" err="1"/>
              <a:t>F_Student</a:t>
            </a:r>
            <a:r>
              <a:rPr lang="zh-CN" altLang="en-US" sz="2800" dirty="0"/>
              <a:t>视图</a:t>
            </a:r>
            <a:r>
              <a:rPr lang="en-US" altLang="zh-CN" sz="2800" dirty="0"/>
              <a:t> </a:t>
            </a:r>
            <a:r>
              <a:rPr lang="zh-CN" altLang="en-US" sz="2800" dirty="0"/>
              <a:t>的映象关系被破坏，导致该视图不能正确工作。</a:t>
            </a:r>
            <a:endParaRPr lang="zh-CN" altLang="en-US" sz="2800" dirty="0"/>
          </a:p>
        </p:txBody>
      </p:sp>
      <p:sp>
        <p:nvSpPr>
          <p:cNvPr id="2" name="灯片编号占位符 1"/>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ch03_3_SQL数据更新</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blinds(horizontal)">
                                      <p:cBhvr>
                                        <p:cTn id="7" dur="500"/>
                                        <p:tgtEl>
                                          <p:spTgt spid="5">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
                                            <p:txEl>
                                              <p:pRg st="3" end="3"/>
                                            </p:txEl>
                                          </p:spTgt>
                                        </p:tgtEl>
                                        <p:attrNameLst>
                                          <p:attrName>style.visibility</p:attrName>
                                        </p:attrNameLst>
                                      </p:cBhvr>
                                      <p:to>
                                        <p:strVal val="visible"/>
                                      </p:to>
                                    </p:set>
                                    <p:animEffect transition="in" filter="blinds(horizontal)">
                                      <p:cBhvr>
                                        <p:cTn id="10" dur="500"/>
                                        <p:tgtEl>
                                          <p:spTgt spid="5">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animEffect transition="in" filter="blinds(horizontal)">
                                      <p:cBhvr>
                                        <p:cTn id="13" dur="500"/>
                                        <p:tgtEl>
                                          <p:spTgt spid="5">
                                            <p:txEl>
                                              <p:pRg st="4" end="4"/>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5">
                                            <p:txEl>
                                              <p:pRg st="5" end="5"/>
                                            </p:txEl>
                                          </p:spTgt>
                                        </p:tgtEl>
                                        <p:attrNameLst>
                                          <p:attrName>style.visibility</p:attrName>
                                        </p:attrNameLst>
                                      </p:cBhvr>
                                      <p:to>
                                        <p:strVal val="visible"/>
                                      </p:to>
                                    </p:set>
                                    <p:animEffect transition="in" filter="blinds(horizontal)">
                                      <p:cBhvr>
                                        <p:cTn id="16" dur="500"/>
                                        <p:tgtEl>
                                          <p:spTgt spid="5">
                                            <p:txEl>
                                              <p:pRg st="5" end="5"/>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animEffect transition="in" filter="blinds(horizontal)">
                                      <p:cBhvr>
                                        <p:cTn id="19" dur="500"/>
                                        <p:tgtEl>
                                          <p:spTgt spid="5">
                                            <p:txEl>
                                              <p:pRg st="6" end="6"/>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5">
                                            <p:txEl>
                                              <p:pRg st="8" end="8"/>
                                            </p:txEl>
                                          </p:spTgt>
                                        </p:tgtEl>
                                        <p:attrNameLst>
                                          <p:attrName>style.visibility</p:attrName>
                                        </p:attrNameLst>
                                      </p:cBhvr>
                                      <p:to>
                                        <p:strVal val="visible"/>
                                      </p:to>
                                    </p:set>
                                    <p:anim calcmode="lin" valueType="num">
                                      <p:cBhvr additive="base">
                                        <p:cTn id="24"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5">
                                            <p:txEl>
                                              <p:pRg st="8" end="8"/>
                                            </p:txEl>
                                          </p:spTgt>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5">
                                            <p:txEl>
                                              <p:pRg st="9" end="9"/>
                                            </p:txEl>
                                          </p:spTgt>
                                        </p:tgtEl>
                                        <p:attrNameLst>
                                          <p:attrName>style.visibility</p:attrName>
                                        </p:attrNameLst>
                                      </p:cBhvr>
                                      <p:to>
                                        <p:strVal val="visible"/>
                                      </p:to>
                                    </p:set>
                                    <p:anim calcmode="lin" valueType="num">
                                      <p:cBhvr additive="base">
                                        <p:cTn id="28"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5">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zh-CN" altLang="en-US" dirty="0"/>
              <a:t>定义视图</a:t>
            </a:r>
            <a:r>
              <a:rPr lang="en-US" altLang="zh-CN" dirty="0"/>
              <a:t>-</a:t>
            </a:r>
            <a:r>
              <a:rPr lang="zh-CN" altLang="en-US" dirty="0"/>
              <a:t>删除视图 </a:t>
            </a:r>
            <a:r>
              <a:rPr lang="en-US" altLang="zh-CN" dirty="0"/>
              <a:t>1</a:t>
            </a:r>
            <a:endParaRPr lang="zh-CN" altLang="en-US" dirty="0"/>
          </a:p>
        </p:txBody>
      </p:sp>
      <p:sp>
        <p:nvSpPr>
          <p:cNvPr id="55299" name="Rectangle 3"/>
          <p:cNvSpPr>
            <a:spLocks noGrp="1" noChangeArrowheads="1"/>
          </p:cNvSpPr>
          <p:nvPr>
            <p:ph idx="1"/>
          </p:nvPr>
        </p:nvSpPr>
        <p:spPr>
          <a:xfrm>
            <a:off x="424180" y="687070"/>
            <a:ext cx="11343005" cy="645160"/>
          </a:xfrm>
        </p:spPr>
        <p:txBody>
          <a:bodyPr>
            <a:spAutoFit/>
          </a:bodyPr>
          <a:lstStyle/>
          <a:p>
            <a:pPr>
              <a:lnSpc>
                <a:spcPct val="120000"/>
              </a:lnSpc>
              <a:spcBef>
                <a:spcPts val="1000"/>
              </a:spcBef>
            </a:pPr>
            <a:r>
              <a:rPr lang="zh-CN" altLang="en-US" dirty="0"/>
              <a:t>语句的格式</a:t>
            </a:r>
            <a:endParaRPr lang="zh-CN" altLang="en-US" dirty="0"/>
          </a:p>
        </p:txBody>
      </p:sp>
      <p:sp>
        <p:nvSpPr>
          <p:cNvPr id="2" name="灯片编号占位符 1"/>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ch03_3_SQL数据更新</a:t>
            </a:r>
            <a:endParaRPr lang="zh-CN" altLang="en-US"/>
          </a:p>
        </p:txBody>
      </p:sp>
      <p:sp>
        <p:nvSpPr>
          <p:cNvPr id="3" name="Rectangle 3"/>
          <p:cNvSpPr>
            <a:spLocks noGrp="1" noChangeArrowheads="1"/>
          </p:cNvSpPr>
          <p:nvPr/>
        </p:nvSpPr>
        <p:spPr>
          <a:xfrm>
            <a:off x="424180" y="1332230"/>
            <a:ext cx="11343005" cy="607695"/>
          </a:xfrm>
          <a:prstGeom prst="rect">
            <a:avLst/>
          </a:prstGeom>
          <a:solidFill>
            <a:schemeClr val="accent3">
              <a:lumMod val="20000"/>
              <a:lumOff val="80000"/>
              <a:alpha val="50000"/>
            </a:schemeClr>
          </a:solidFill>
          <a:ln>
            <a:solidFill>
              <a:schemeClr val="tx1"/>
            </a:solidFill>
          </a:ln>
        </p:spPr>
        <p:txBody>
          <a:bodyPr vert="horz"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charset="-122"/>
                <a:ea typeface="楷体"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charset="-122"/>
                <a:ea typeface="楷体"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charset="-122"/>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914400" lvl="2" indent="0">
              <a:lnSpc>
                <a:spcPct val="120000"/>
              </a:lnSpc>
              <a:spcBef>
                <a:spcPts val="1000"/>
              </a:spcBef>
              <a:buNone/>
            </a:pPr>
            <a:r>
              <a:rPr lang="en-US" altLang="zh-CN" dirty="0">
                <a:solidFill>
                  <a:srgbClr val="FF0000"/>
                </a:solidFill>
                <a:latin typeface="Arial" panose="020B0604020202090204" pitchFamily="34" charset="0"/>
                <a:cs typeface="Arial" panose="020B0604020202090204" pitchFamily="34" charset="0"/>
              </a:rPr>
              <a:t>DROP  VIEW  &lt;</a:t>
            </a:r>
            <a:r>
              <a:rPr lang="zh-CN" altLang="en-US" dirty="0">
                <a:solidFill>
                  <a:srgbClr val="FF0000"/>
                </a:solidFill>
                <a:latin typeface="Arial" panose="020B0604020202090204" pitchFamily="34" charset="0"/>
                <a:cs typeface="Arial" panose="020B0604020202090204" pitchFamily="34" charset="0"/>
              </a:rPr>
              <a:t>视图名</a:t>
            </a:r>
            <a:r>
              <a:rPr lang="en-US" altLang="zh-CN" dirty="0">
                <a:solidFill>
                  <a:srgbClr val="FF0000"/>
                </a:solidFill>
                <a:latin typeface="Arial" panose="020B0604020202090204" pitchFamily="34" charset="0"/>
                <a:cs typeface="Arial" panose="020B0604020202090204" pitchFamily="34" charset="0"/>
              </a:rPr>
              <a:t>&gt;  [CASCADE]</a:t>
            </a:r>
            <a:r>
              <a:rPr lang="zh-CN" altLang="en-US" dirty="0">
                <a:solidFill>
                  <a:srgbClr val="FF0000"/>
                </a:solidFill>
                <a:latin typeface="Arial" panose="020B0604020202090204" pitchFamily="34" charset="0"/>
                <a:cs typeface="Arial" panose="020B0604020202090204" pitchFamily="34" charset="0"/>
              </a:rPr>
              <a:t>;</a:t>
            </a:r>
            <a:endParaRPr lang="zh-CN" altLang="en-US" dirty="0"/>
          </a:p>
        </p:txBody>
      </p:sp>
      <p:sp>
        <p:nvSpPr>
          <p:cNvPr id="5" name="Rectangle 3"/>
          <p:cNvSpPr>
            <a:spLocks noGrp="1" noChangeArrowheads="1"/>
          </p:cNvSpPr>
          <p:nvPr/>
        </p:nvSpPr>
        <p:spPr>
          <a:xfrm>
            <a:off x="424180" y="2095500"/>
            <a:ext cx="11343005" cy="4135755"/>
          </a:xfrm>
          <a:prstGeom prst="rect">
            <a:avLst/>
          </a:prstGeom>
        </p:spPr>
        <p:txBody>
          <a:bodyPr vert="horz" lIns="91440" tIns="45720" rIns="91440" bIns="45720" rtlCol="0">
            <a:spAutoFit/>
          </a:bodyPr>
          <a:lstStyle>
            <a:lvl1pPr marL="228600" indent="-22860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3000" b="1" kern="1200">
                <a:solidFill>
                  <a:srgbClr val="1F2DA8"/>
                </a:solidFill>
                <a:latin typeface="楷体" charset="-122"/>
                <a:ea typeface="楷体" charset="-122"/>
                <a:cs typeface="+mn-cs"/>
              </a:defRPr>
            </a:lvl1pPr>
            <a:lvl2pPr marL="6858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charset="-122"/>
                <a:ea typeface="楷体" charset="-122"/>
                <a:cs typeface="+mn-cs"/>
              </a:defRPr>
            </a:lvl2pPr>
            <a:lvl3pPr marL="11430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3pPr>
            <a:lvl4pPr marL="1600200" indent="-228600" algn="l" defTabSz="914400" rtl="0" eaLnBrk="1" latinLnBrk="0" hangingPunct="1">
              <a:lnSpc>
                <a:spcPct val="110000"/>
              </a:lnSpc>
              <a:spcBef>
                <a:spcPts val="0"/>
              </a:spcBef>
              <a:spcAft>
                <a:spcPts val="0"/>
              </a:spcAft>
              <a:buClr>
                <a:srgbClr val="C00000"/>
              </a:buClr>
              <a:buSzPct val="85000"/>
              <a:buFont typeface="Arial" panose="020B0604020202090204" pitchFamily="34" charset="0"/>
              <a:buChar char="‒"/>
              <a:defRPr sz="2800" b="1" kern="1200">
                <a:solidFill>
                  <a:srgbClr val="1F2DA8"/>
                </a:solidFill>
                <a:latin typeface="楷体" charset="-122"/>
                <a:ea typeface="楷体" charset="-122"/>
                <a:cs typeface="+mn-cs"/>
              </a:defRPr>
            </a:lvl4pPr>
            <a:lvl5pPr marL="2057400" indent="-228600" algn="l" defTabSz="914400" rtl="0" eaLnBrk="1" latinLnBrk="0" hangingPunct="1">
              <a:lnSpc>
                <a:spcPct val="110000"/>
              </a:lnSpc>
              <a:spcBef>
                <a:spcPts val="0"/>
              </a:spcBef>
              <a:spcAft>
                <a:spcPts val="0"/>
              </a:spcAft>
              <a:buClr>
                <a:srgbClr val="C00000"/>
              </a:buClr>
              <a:buSzPct val="85000"/>
              <a:buFont typeface="Wingdings" panose="05000000000000000000" charset="0"/>
              <a:buChar char=""/>
              <a:defRPr sz="2800" b="1" kern="1200">
                <a:solidFill>
                  <a:srgbClr val="1F2DA8"/>
                </a:solidFill>
                <a:latin typeface="楷体" charset="-122"/>
                <a:ea typeface="楷体"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1">
              <a:lnSpc>
                <a:spcPct val="120000"/>
              </a:lnSpc>
              <a:spcBef>
                <a:spcPts val="1000"/>
              </a:spcBef>
            </a:pPr>
            <a:r>
              <a:rPr lang="zh-CN" altLang="en-US" dirty="0"/>
              <a:t>该语句从数据字典中删除指定的视图定义</a:t>
            </a:r>
            <a:endParaRPr lang="zh-CN" altLang="en-US" dirty="0"/>
          </a:p>
          <a:p>
            <a:pPr lvl="1">
              <a:lnSpc>
                <a:spcPct val="110000"/>
              </a:lnSpc>
              <a:spcBef>
                <a:spcPts val="2000"/>
              </a:spcBef>
            </a:pPr>
            <a:r>
              <a:rPr lang="zh-CN" altLang="en-US" dirty="0"/>
              <a:t>如果该视图上还导出了其他视图，使用</a:t>
            </a:r>
            <a:r>
              <a:rPr lang="en-US" altLang="zh-CN" dirty="0"/>
              <a:t>CASCADE</a:t>
            </a:r>
            <a:r>
              <a:rPr lang="zh-CN" altLang="en-US" dirty="0"/>
              <a:t>级联删除语句，把该视图和由它导出的所有视图一起删除。</a:t>
            </a:r>
            <a:endParaRPr lang="zh-CN" altLang="en-US" dirty="0"/>
          </a:p>
          <a:p>
            <a:pPr lvl="2">
              <a:lnSpc>
                <a:spcPct val="120000"/>
              </a:lnSpc>
              <a:spcBef>
                <a:spcPts val="1000"/>
              </a:spcBef>
            </a:pPr>
            <a:r>
              <a:rPr lang="zh-CN" altLang="en-US" dirty="0"/>
              <a:t>否则，系统将拒绝当前的</a:t>
            </a:r>
            <a:r>
              <a:rPr lang="zh-CN" altLang="en-US" dirty="0"/>
              <a:t>视图删除</a:t>
            </a:r>
            <a:r>
              <a:rPr lang="zh-CN" altLang="en-US" dirty="0"/>
              <a:t>操作。</a:t>
            </a:r>
            <a:endParaRPr lang="zh-CN" altLang="en-US" dirty="0"/>
          </a:p>
          <a:p>
            <a:pPr lvl="1">
              <a:lnSpc>
                <a:spcPct val="120000"/>
              </a:lnSpc>
              <a:spcBef>
                <a:spcPts val="1000"/>
              </a:spcBef>
            </a:pPr>
            <a:r>
              <a:rPr lang="zh-CN" altLang="en-US" dirty="0"/>
              <a:t>在删除基本表时如果使用了</a:t>
            </a:r>
            <a:r>
              <a:rPr lang="en-US" altLang="zh-CN" dirty="0"/>
              <a:t>CASCADE</a:t>
            </a:r>
            <a:r>
              <a:rPr lang="zh-CN" altLang="en-US" dirty="0"/>
              <a:t>选项，由该基本表导出的所有视图定义都会被连带一起删除；否则，必须先显式地使用</a:t>
            </a:r>
            <a:r>
              <a:rPr lang="en-US" altLang="zh-CN" dirty="0"/>
              <a:t>DROP VIEW</a:t>
            </a:r>
            <a:r>
              <a:rPr lang="zh-CN" altLang="en-US" dirty="0"/>
              <a:t>语句删除所有相关的视图，然后才能再删除</a:t>
            </a:r>
            <a:r>
              <a:rPr lang="zh-CN" altLang="en-US" dirty="0"/>
              <a:t>基本表。</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blinds(horizontal)">
                                      <p:cBhvr>
                                        <p:cTn id="15" dur="500"/>
                                        <p:tgtEl>
                                          <p:spTgt spid="5">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5">
                                            <p:txEl>
                                              <p:pRg st="3" end="3"/>
                                            </p:txEl>
                                          </p:spTgt>
                                        </p:tgtEl>
                                        <p:attrNameLst>
                                          <p:attrName>style.visibility</p:attrName>
                                        </p:attrNameLst>
                                      </p:cBhvr>
                                      <p:to>
                                        <p:strVal val="visible"/>
                                      </p:to>
                                    </p:set>
                                    <p:animEffect transition="in" filter="blinds(horizontal)">
                                      <p:cBhvr>
                                        <p:cTn id="20"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2"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zh-CN" altLang="en-US" dirty="0"/>
              <a:t>定义视图</a:t>
            </a:r>
            <a:r>
              <a:rPr lang="en-US" altLang="zh-CN" dirty="0"/>
              <a:t>-</a:t>
            </a:r>
            <a:r>
              <a:rPr lang="zh-CN" altLang="en-US" dirty="0"/>
              <a:t>删除视图 </a:t>
            </a:r>
            <a:r>
              <a:rPr lang="en-US" altLang="zh-CN" dirty="0"/>
              <a:t>2</a:t>
            </a:r>
            <a:endParaRPr lang="zh-CN" altLang="en-US" dirty="0"/>
          </a:p>
        </p:txBody>
      </p:sp>
      <p:sp>
        <p:nvSpPr>
          <p:cNvPr id="56323" name="Rectangle 3"/>
          <p:cNvSpPr>
            <a:spLocks noGrp="1" noChangeArrowheads="1"/>
          </p:cNvSpPr>
          <p:nvPr>
            <p:ph idx="1"/>
          </p:nvPr>
        </p:nvSpPr>
        <p:spPr/>
        <p:txBody>
          <a:bodyPr>
            <a:normAutofit/>
          </a:bodyPr>
          <a:lstStyle/>
          <a:p>
            <a:pPr>
              <a:lnSpc>
                <a:spcPct val="120000"/>
              </a:lnSpc>
              <a:spcBef>
                <a:spcPts val="1000"/>
              </a:spcBef>
            </a:pPr>
            <a:r>
              <a:rPr lang="en-US" altLang="zh-CN" dirty="0">
                <a:latin typeface="Arial" panose="020B0604020202090204" pitchFamily="34" charset="0"/>
                <a:cs typeface="Arial" panose="020B0604020202090204" pitchFamily="34" charset="0"/>
              </a:rPr>
              <a:t>[</a:t>
            </a:r>
            <a:r>
              <a:rPr lang="zh-CN" altLang="en-US" dirty="0">
                <a:latin typeface="Arial" panose="020B0604020202090204" pitchFamily="34" charset="0"/>
                <a:cs typeface="Arial" panose="020B0604020202090204" pitchFamily="34" charset="0"/>
              </a:rPr>
              <a:t>例</a:t>
            </a:r>
            <a:r>
              <a:rPr lang="en-US" altLang="zh-CN" dirty="0">
                <a:latin typeface="Arial" panose="020B0604020202090204" pitchFamily="34" charset="0"/>
                <a:cs typeface="Arial" panose="020B0604020202090204" pitchFamily="34" charset="0"/>
              </a:rPr>
              <a:t>3.91] </a:t>
            </a:r>
            <a:r>
              <a:rPr lang="zh-CN" altLang="en-US" dirty="0">
                <a:latin typeface="Arial" panose="020B0604020202090204" pitchFamily="34" charset="0"/>
                <a:cs typeface="Arial" panose="020B0604020202090204" pitchFamily="34" charset="0"/>
              </a:rPr>
              <a:t>删除视图</a:t>
            </a:r>
            <a:r>
              <a:rPr lang="en-US" altLang="zh-CN" dirty="0">
                <a:latin typeface="Arial" panose="020B0604020202090204" pitchFamily="34" charset="0"/>
                <a:cs typeface="Arial" panose="020B0604020202090204" pitchFamily="34" charset="0"/>
              </a:rPr>
              <a:t>BT_S</a:t>
            </a:r>
            <a:r>
              <a:rPr lang="zh-CN" altLang="en-US" dirty="0">
                <a:latin typeface="Arial" panose="020B0604020202090204" pitchFamily="34" charset="0"/>
                <a:cs typeface="Arial" panose="020B0604020202090204" pitchFamily="34" charset="0"/>
              </a:rPr>
              <a:t>和</a:t>
            </a:r>
            <a:r>
              <a:rPr lang="en-US" altLang="zh-CN" dirty="0">
                <a:latin typeface="Arial" panose="020B0604020202090204" pitchFamily="34" charset="0"/>
                <a:cs typeface="Arial" panose="020B0604020202090204" pitchFamily="34" charset="0"/>
              </a:rPr>
              <a:t>IS_S1</a:t>
            </a:r>
            <a:endParaRPr lang="en-US" altLang="zh-CN" dirty="0">
              <a:latin typeface="Arial" panose="020B0604020202090204" pitchFamily="34" charset="0"/>
              <a:cs typeface="Arial" panose="020B0604020202090204" pitchFamily="34" charset="0"/>
            </a:endParaRPr>
          </a:p>
          <a:p>
            <a:pPr marL="352425" lvl="1" indent="385445">
              <a:lnSpc>
                <a:spcPct val="120000"/>
              </a:lnSpc>
              <a:spcBef>
                <a:spcPts val="1000"/>
              </a:spcBef>
              <a:buNone/>
            </a:pPr>
            <a:r>
              <a:rPr lang="en-US" altLang="zh-CN" dirty="0">
                <a:solidFill>
                  <a:srgbClr val="FF0000"/>
                </a:solidFill>
                <a:latin typeface="Arial" panose="020B0604020202090204" pitchFamily="34" charset="0"/>
                <a:cs typeface="Arial" panose="020B0604020202090204" pitchFamily="34" charset="0"/>
              </a:rPr>
              <a:t>DROP VIEW BT_S</a:t>
            </a:r>
            <a:r>
              <a:rPr lang="zh-CN" altLang="en-US" dirty="0">
                <a:solidFill>
                  <a:srgbClr val="FF0000"/>
                </a:solidFill>
                <a:latin typeface="Arial" panose="020B0604020202090204" pitchFamily="34" charset="0"/>
                <a:cs typeface="Arial" panose="020B0604020202090204" pitchFamily="34" charset="0"/>
              </a:rPr>
              <a:t>;</a:t>
            </a:r>
            <a:r>
              <a:rPr lang="en-US" altLang="zh-CN" dirty="0">
                <a:latin typeface="Arial" panose="020B0604020202090204" pitchFamily="34" charset="0"/>
                <a:cs typeface="Arial" panose="020B0604020202090204" pitchFamily="34" charset="0"/>
              </a:rPr>
              <a:t>       /*</a:t>
            </a:r>
            <a:r>
              <a:rPr lang="zh-CN" altLang="en-US" dirty="0">
                <a:latin typeface="Arial" panose="020B0604020202090204" pitchFamily="34" charset="0"/>
                <a:cs typeface="Arial" panose="020B0604020202090204" pitchFamily="34" charset="0"/>
              </a:rPr>
              <a:t>成功执行</a:t>
            </a:r>
            <a:r>
              <a:rPr lang="en-US" altLang="zh-CN" dirty="0">
                <a:latin typeface="Arial" panose="020B0604020202090204" pitchFamily="34" charset="0"/>
                <a:cs typeface="Arial" panose="020B0604020202090204" pitchFamily="34" charset="0"/>
              </a:rPr>
              <a:t>*/</a:t>
            </a:r>
            <a:endParaRPr lang="zh-CN" altLang="en-US" dirty="0">
              <a:latin typeface="Arial" panose="020B0604020202090204" pitchFamily="34" charset="0"/>
              <a:cs typeface="Arial" panose="020B0604020202090204" pitchFamily="34" charset="0"/>
            </a:endParaRPr>
          </a:p>
          <a:p>
            <a:pPr marL="352425" lvl="1" indent="385445">
              <a:lnSpc>
                <a:spcPct val="120000"/>
              </a:lnSpc>
              <a:spcBef>
                <a:spcPts val="1000"/>
              </a:spcBef>
              <a:buNone/>
            </a:pPr>
            <a:r>
              <a:rPr lang="en-US" altLang="zh-CN" dirty="0">
                <a:solidFill>
                  <a:srgbClr val="FF0000"/>
                </a:solidFill>
                <a:latin typeface="Arial" panose="020B0604020202090204" pitchFamily="34" charset="0"/>
                <a:cs typeface="Arial" panose="020B0604020202090204" pitchFamily="34" charset="0"/>
              </a:rPr>
              <a:t>DROP VIEW IS_S1</a:t>
            </a:r>
            <a:r>
              <a:rPr lang="zh-CN" altLang="en-US" dirty="0">
                <a:solidFill>
                  <a:srgbClr val="FF0000"/>
                </a:solidFill>
                <a:latin typeface="Arial" panose="020B0604020202090204" pitchFamily="34" charset="0"/>
                <a:cs typeface="Arial" panose="020B0604020202090204" pitchFamily="34" charset="0"/>
              </a:rPr>
              <a:t>;</a:t>
            </a:r>
            <a:r>
              <a:rPr lang="en-US" altLang="zh-CN" dirty="0">
                <a:solidFill>
                  <a:srgbClr val="FF0000"/>
                </a:solidFill>
                <a:latin typeface="Arial" panose="020B0604020202090204" pitchFamily="34" charset="0"/>
                <a:cs typeface="Arial" panose="020B0604020202090204" pitchFamily="34" charset="0"/>
              </a:rPr>
              <a:t>      </a:t>
            </a:r>
            <a:r>
              <a:rPr lang="en-US" altLang="zh-CN" dirty="0">
                <a:latin typeface="Arial" panose="020B0604020202090204" pitchFamily="34" charset="0"/>
                <a:cs typeface="Arial" panose="020B0604020202090204" pitchFamily="34" charset="0"/>
              </a:rPr>
              <a:t>/*</a:t>
            </a:r>
            <a:r>
              <a:rPr lang="zh-CN" altLang="en-US" dirty="0">
                <a:latin typeface="Arial" panose="020B0604020202090204" pitchFamily="34" charset="0"/>
                <a:cs typeface="Arial" panose="020B0604020202090204" pitchFamily="34" charset="0"/>
              </a:rPr>
              <a:t>拒绝执行</a:t>
            </a:r>
            <a:r>
              <a:rPr lang="en-US" altLang="zh-CN" dirty="0">
                <a:latin typeface="Arial" panose="020B0604020202090204" pitchFamily="34" charset="0"/>
                <a:cs typeface="Arial" panose="020B0604020202090204" pitchFamily="34" charset="0"/>
              </a:rPr>
              <a:t>*/</a:t>
            </a:r>
            <a:r>
              <a:rPr lang="zh-CN" altLang="en-US" dirty="0">
                <a:latin typeface="Arial" panose="020B0604020202090204" pitchFamily="34" charset="0"/>
                <a:cs typeface="Arial" panose="020B0604020202090204" pitchFamily="34" charset="0"/>
              </a:rPr>
              <a:t>    </a:t>
            </a:r>
            <a:endParaRPr lang="zh-CN" altLang="en-US" dirty="0">
              <a:latin typeface="Arial" panose="020B0604020202090204" pitchFamily="34" charset="0"/>
              <a:cs typeface="Arial" panose="020B0604020202090204" pitchFamily="34" charset="0"/>
            </a:endParaRPr>
          </a:p>
          <a:p>
            <a:pPr marL="352425" lvl="1" indent="0">
              <a:lnSpc>
                <a:spcPct val="120000"/>
              </a:lnSpc>
              <a:spcBef>
                <a:spcPts val="1000"/>
              </a:spcBef>
              <a:buNone/>
            </a:pPr>
            <a:endParaRPr lang="en-US" altLang="zh-CN" dirty="0">
              <a:latin typeface="Arial" panose="020B0604020202090204" pitchFamily="34" charset="0"/>
              <a:cs typeface="Arial" panose="020B0604020202090204" pitchFamily="34" charset="0"/>
            </a:endParaRPr>
          </a:p>
          <a:p>
            <a:pPr marL="352425" lvl="1" indent="0">
              <a:lnSpc>
                <a:spcPct val="120000"/>
              </a:lnSpc>
              <a:spcBef>
                <a:spcPts val="1000"/>
              </a:spcBef>
              <a:buNone/>
            </a:pPr>
            <a:endParaRPr lang="en-US" altLang="zh-CN" dirty="0">
              <a:latin typeface="Arial" panose="020B0604020202090204" pitchFamily="34" charset="0"/>
              <a:cs typeface="Arial" panose="020B0604020202090204" pitchFamily="34" charset="0"/>
            </a:endParaRPr>
          </a:p>
          <a:p>
            <a:pPr>
              <a:lnSpc>
                <a:spcPct val="120000"/>
              </a:lnSpc>
              <a:spcBef>
                <a:spcPts val="1000"/>
              </a:spcBef>
            </a:pPr>
            <a:r>
              <a:rPr lang="zh-CN" altLang="en-US" dirty="0">
                <a:latin typeface="Arial" panose="020B0604020202090204" pitchFamily="34" charset="0"/>
                <a:cs typeface="Arial" panose="020B0604020202090204" pitchFamily="34" charset="0"/>
              </a:rPr>
              <a:t>要删除</a:t>
            </a:r>
            <a:r>
              <a:rPr lang="en-US" altLang="zh-CN" dirty="0">
                <a:latin typeface="Arial" panose="020B0604020202090204" pitchFamily="34" charset="0"/>
                <a:cs typeface="Arial" panose="020B0604020202090204" pitchFamily="34" charset="0"/>
              </a:rPr>
              <a:t>IS_S1</a:t>
            </a:r>
            <a:r>
              <a:rPr lang="zh-CN" altLang="en-US" dirty="0">
                <a:latin typeface="Arial" panose="020B0604020202090204" pitchFamily="34" charset="0"/>
                <a:cs typeface="Arial" panose="020B0604020202090204" pitchFamily="34" charset="0"/>
              </a:rPr>
              <a:t>，需使用级联删除：</a:t>
            </a:r>
            <a:endParaRPr lang="zh-CN" altLang="en-US" dirty="0">
              <a:latin typeface="Arial" panose="020B0604020202090204" pitchFamily="34" charset="0"/>
              <a:cs typeface="Arial" panose="020B0604020202090204" pitchFamily="34" charset="0"/>
            </a:endParaRPr>
          </a:p>
          <a:p>
            <a:pPr marL="363855" lvl="1" indent="367665">
              <a:lnSpc>
                <a:spcPct val="120000"/>
              </a:lnSpc>
              <a:spcBef>
                <a:spcPts val="1000"/>
              </a:spcBef>
              <a:buNone/>
            </a:pPr>
            <a:r>
              <a:rPr lang="en-US" altLang="zh-CN" dirty="0">
                <a:solidFill>
                  <a:srgbClr val="FF0000"/>
                </a:solidFill>
                <a:latin typeface="Arial" panose="020B0604020202090204" pitchFamily="34" charset="0"/>
                <a:cs typeface="Arial" panose="020B0604020202090204" pitchFamily="34" charset="0"/>
              </a:rPr>
              <a:t>DROP VIEW IS_S1 CASCADE;</a:t>
            </a:r>
            <a:r>
              <a:rPr lang="en-US" altLang="zh-CN" dirty="0">
                <a:latin typeface="Arial" panose="020B0604020202090204" pitchFamily="34" charset="0"/>
                <a:cs typeface="Arial" panose="020B0604020202090204" pitchFamily="34" charset="0"/>
              </a:rPr>
              <a:t>            </a:t>
            </a:r>
            <a:endParaRPr lang="en-US" altLang="zh-CN" dirty="0">
              <a:latin typeface="Arial" panose="020B0604020202090204" pitchFamily="34" charset="0"/>
              <a:cs typeface="Arial" panose="020B0604020202090204" pitchFamily="34" charset="0"/>
            </a:endParaRPr>
          </a:p>
        </p:txBody>
      </p:sp>
      <p:sp>
        <p:nvSpPr>
          <p:cNvPr id="2" name="灯片编号占位符 1"/>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4" name="文本框 3"/>
          <p:cNvSpPr txBox="1"/>
          <p:nvPr/>
        </p:nvSpPr>
        <p:spPr>
          <a:xfrm>
            <a:off x="4986655" y="2650490"/>
            <a:ext cx="6781165" cy="521970"/>
          </a:xfrm>
          <a:prstGeom prst="rect">
            <a:avLst/>
          </a:prstGeom>
          <a:noFill/>
        </p:spPr>
        <p:txBody>
          <a:bodyPr wrap="square" rtlCol="0">
            <a:spAutoFit/>
          </a:bodyPr>
          <a:p>
            <a:r>
              <a:rPr lang="en-US" altLang="zh-CN" sz="2800" b="1">
                <a:solidFill>
                  <a:srgbClr val="1F2DA8"/>
                </a:solidFill>
                <a:latin typeface="Arial" panose="020B0604020202090204" pitchFamily="34" charset="0"/>
                <a:ea typeface="楷体" charset="-122"/>
                <a:cs typeface="Arial" panose="020B0604020202090204" pitchFamily="34" charset="0"/>
              </a:rPr>
              <a:t>/* </a:t>
            </a:r>
            <a:r>
              <a:rPr lang="zh-CN" altLang="en-US" sz="2800" b="1">
                <a:solidFill>
                  <a:srgbClr val="1F2DA8"/>
                </a:solidFill>
                <a:latin typeface="Arial" panose="020B0604020202090204" pitchFamily="34" charset="0"/>
                <a:ea typeface="楷体" charset="-122"/>
                <a:cs typeface="Arial" panose="020B0604020202090204" pitchFamily="34" charset="0"/>
              </a:rPr>
              <a:t>原因：在</a:t>
            </a:r>
            <a:r>
              <a:rPr lang="en-US" altLang="zh-CN" sz="2800" b="1">
                <a:solidFill>
                  <a:srgbClr val="1F2DA8"/>
                </a:solidFill>
                <a:latin typeface="Arial" panose="020B0604020202090204" pitchFamily="34" charset="0"/>
                <a:ea typeface="楷体" charset="-122"/>
                <a:cs typeface="Arial" panose="020B0604020202090204" pitchFamily="34" charset="0"/>
              </a:rPr>
              <a:t>IS_S1</a:t>
            </a:r>
            <a:r>
              <a:rPr lang="zh-CN" altLang="en-US" sz="2800" b="1">
                <a:solidFill>
                  <a:srgbClr val="1F2DA8"/>
                </a:solidFill>
                <a:latin typeface="Arial" panose="020B0604020202090204" pitchFamily="34" charset="0"/>
                <a:ea typeface="楷体" charset="-122"/>
                <a:cs typeface="Arial" panose="020B0604020202090204" pitchFamily="34" charset="0"/>
              </a:rPr>
              <a:t>上建有视图</a:t>
            </a:r>
            <a:r>
              <a:rPr lang="en-US" altLang="zh-CN" sz="2800" b="1">
                <a:solidFill>
                  <a:srgbClr val="1F2DA8"/>
                </a:solidFill>
                <a:latin typeface="Arial" panose="020B0604020202090204" pitchFamily="34" charset="0"/>
                <a:ea typeface="楷体" charset="-122"/>
                <a:cs typeface="Arial" panose="020B0604020202090204" pitchFamily="34" charset="0"/>
              </a:rPr>
              <a:t>IS_S2 */</a:t>
            </a:r>
            <a:endParaRPr lang="en-US" altLang="zh-CN" sz="2800" b="1">
              <a:solidFill>
                <a:srgbClr val="1F2DA8"/>
              </a:solidFill>
              <a:latin typeface="Arial" panose="020B0604020202090204" pitchFamily="34" charset="0"/>
              <a:ea typeface="楷体" charset="-122"/>
              <a:cs typeface="Arial" panose="020B0604020202090204" pitchFamily="34" charset="0"/>
            </a:endParaRPr>
          </a:p>
        </p:txBody>
      </p:sp>
      <p:sp>
        <p:nvSpPr>
          <p:cNvPr id="5" name="文本框 4"/>
          <p:cNvSpPr txBox="1"/>
          <p:nvPr/>
        </p:nvSpPr>
        <p:spPr>
          <a:xfrm>
            <a:off x="1879600" y="5227320"/>
            <a:ext cx="9300210" cy="521970"/>
          </a:xfrm>
          <a:prstGeom prst="rect">
            <a:avLst/>
          </a:prstGeom>
          <a:noFill/>
        </p:spPr>
        <p:txBody>
          <a:bodyPr wrap="square" rtlCol="0">
            <a:spAutoFit/>
          </a:bodyPr>
          <a:p>
            <a:r>
              <a:rPr lang="en-US" altLang="zh-CN" sz="2800" b="1">
                <a:solidFill>
                  <a:srgbClr val="1F2DA8"/>
                </a:solidFill>
                <a:latin typeface="Arial" panose="020B0604020202090204" pitchFamily="34" charset="0"/>
                <a:ea typeface="楷体" charset="-122"/>
                <a:cs typeface="Arial" panose="020B0604020202090204" pitchFamily="34" charset="0"/>
              </a:rPr>
              <a:t>/* </a:t>
            </a:r>
            <a:r>
              <a:rPr lang="zh-CN" altLang="en-US" sz="2800" b="1">
                <a:solidFill>
                  <a:srgbClr val="1F2DA8"/>
                </a:solidFill>
                <a:latin typeface="Arial" panose="020B0604020202090204" pitchFamily="34" charset="0"/>
                <a:ea typeface="楷体" charset="-122"/>
                <a:cs typeface="Arial" panose="020B0604020202090204" pitchFamily="34" charset="0"/>
              </a:rPr>
              <a:t>成功执行，并且连带删除掉视图</a:t>
            </a:r>
            <a:r>
              <a:rPr lang="en-US" altLang="zh-CN" sz="2800" b="1">
                <a:solidFill>
                  <a:srgbClr val="1F2DA8"/>
                </a:solidFill>
                <a:latin typeface="Arial" panose="020B0604020202090204" pitchFamily="34" charset="0"/>
                <a:ea typeface="楷体" charset="-122"/>
                <a:cs typeface="Arial" panose="020B0604020202090204" pitchFamily="34" charset="0"/>
              </a:rPr>
              <a:t> IS_S1 </a:t>
            </a:r>
            <a:r>
              <a:rPr lang="zh-CN" altLang="en-US" sz="2800" b="1">
                <a:solidFill>
                  <a:srgbClr val="1F2DA8"/>
                </a:solidFill>
                <a:latin typeface="Arial" panose="020B0604020202090204" pitchFamily="34" charset="0"/>
                <a:ea typeface="楷体" charset="-122"/>
                <a:cs typeface="Arial" panose="020B0604020202090204" pitchFamily="34" charset="0"/>
              </a:rPr>
              <a:t>和</a:t>
            </a:r>
            <a:r>
              <a:rPr lang="en-US" altLang="zh-CN" sz="2800" b="1">
                <a:solidFill>
                  <a:srgbClr val="1F2DA8"/>
                </a:solidFill>
                <a:latin typeface="Arial" panose="020B0604020202090204" pitchFamily="34" charset="0"/>
                <a:ea typeface="楷体" charset="-122"/>
                <a:cs typeface="Arial" panose="020B0604020202090204" pitchFamily="34" charset="0"/>
              </a:rPr>
              <a:t> IS_S2 */</a:t>
            </a:r>
            <a:endParaRPr lang="en-US" altLang="zh-CN" sz="2800" b="1">
              <a:solidFill>
                <a:srgbClr val="1F2DA8"/>
              </a:solidFill>
              <a:latin typeface="Arial" panose="020B0604020202090204" pitchFamily="34" charset="0"/>
              <a:ea typeface="楷体" charset="-122"/>
              <a:cs typeface="Arial" panose="020B0604020202090204" pitchFamily="34" charset="0"/>
            </a:endParaRPr>
          </a:p>
        </p:txBody>
      </p:sp>
      <p:sp>
        <p:nvSpPr>
          <p:cNvPr id="6" name="页脚占位符 5"/>
          <p:cNvSpPr>
            <a:spLocks noGrp="1"/>
          </p:cNvSpPr>
          <p:nvPr>
            <p:ph type="ftr" sz="quarter" idx="11"/>
          </p:nvPr>
        </p:nvSpPr>
        <p:spPr/>
        <p:txBody>
          <a:bodyPr/>
          <a:p>
            <a:r>
              <a:rPr lang="zh-CN" altLang="en-US"/>
              <a:t>ch03_3_SQL数据更新</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6323">
                                            <p:txEl>
                                              <p:pRg st="5" end="5"/>
                                            </p:txEl>
                                          </p:spTgt>
                                        </p:tgtEl>
                                        <p:attrNameLst>
                                          <p:attrName>style.visibility</p:attrName>
                                        </p:attrNameLst>
                                      </p:cBhvr>
                                      <p:to>
                                        <p:strVal val="visible"/>
                                      </p:to>
                                    </p:set>
                                    <p:animEffect transition="in" filter="blinds(horizontal)">
                                      <p:cBhvr>
                                        <p:cTn id="12" dur="500"/>
                                        <p:tgtEl>
                                          <p:spTgt spid="56323">
                                            <p:txEl>
                                              <p:pRg st="5" end="5"/>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56323">
                                            <p:txEl>
                                              <p:pRg st="6" end="6"/>
                                            </p:txEl>
                                          </p:spTgt>
                                        </p:tgtEl>
                                        <p:attrNameLst>
                                          <p:attrName>style.visibility</p:attrName>
                                        </p:attrNameLst>
                                      </p:cBhvr>
                                      <p:to>
                                        <p:strVal val="visible"/>
                                      </p:to>
                                    </p:set>
                                    <p:animEffect transition="in" filter="blinds(horizontal)">
                                      <p:cBhvr>
                                        <p:cTn id="15" dur="500"/>
                                        <p:tgtEl>
                                          <p:spTgt spid="56323">
                                            <p:txEl>
                                              <p:pRg st="6" end="6"/>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blinds(horizontal)">
                                      <p:cBhvr>
                                        <p:cTn id="2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p:bldP spid="5" grpId="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5" name="Rectangle 2"/>
          <p:cNvSpPr>
            <a:spLocks noGrp="1"/>
          </p:cNvSpPr>
          <p:nvPr>
            <p:ph type="title"/>
          </p:nvPr>
        </p:nvSpPr>
        <p:spPr/>
        <p:txBody>
          <a:bodyPr wrap="square" anchor="ctr"/>
          <a:p>
            <a:pPr eaLnBrk="1" hangingPunct="1"/>
            <a:r>
              <a:rPr lang="zh-CN" altLang="en-US" dirty="0"/>
              <a:t>视图上的</a:t>
            </a:r>
            <a:r>
              <a:rPr lang="zh-CN" altLang="en-US" dirty="0"/>
              <a:t>操作</a:t>
            </a:r>
            <a:endParaRPr lang="zh-CN" altLang="en-US" dirty="0"/>
          </a:p>
        </p:txBody>
      </p:sp>
      <p:sp>
        <p:nvSpPr>
          <p:cNvPr id="136196" name="Rectangle 3"/>
          <p:cNvSpPr>
            <a:spLocks noGrp="1"/>
          </p:cNvSpPr>
          <p:nvPr>
            <p:ph idx="1"/>
          </p:nvPr>
        </p:nvSpPr>
        <p:spPr/>
        <p:txBody>
          <a:bodyPr wrap="square" anchor="t"/>
          <a:p>
            <a:pPr lvl="0" eaLnBrk="1" hangingPunct="1">
              <a:lnSpc>
                <a:spcPct val="100000"/>
              </a:lnSpc>
            </a:pPr>
            <a:r>
              <a:rPr lang="zh-CN" altLang="en-US" dirty="0">
                <a:solidFill>
                  <a:srgbClr val="C00000"/>
                </a:solidFill>
                <a:latin typeface="Arial" panose="020B0604020202090204" pitchFamily="34" charset="0"/>
                <a:cs typeface="Arial" panose="020B0604020202090204" pitchFamily="34" charset="0"/>
              </a:rPr>
              <a:t>对视图可以作查询操作</a:t>
            </a:r>
            <a:endParaRPr lang="zh-CN" altLang="en-US" dirty="0">
              <a:solidFill>
                <a:srgbClr val="C00000"/>
              </a:solidFill>
              <a:latin typeface="Arial" panose="020B0604020202090204" pitchFamily="34" charset="0"/>
              <a:cs typeface="Arial" panose="020B0604020202090204" pitchFamily="34" charset="0"/>
            </a:endParaRPr>
          </a:p>
          <a:p>
            <a:pPr lvl="1" eaLnBrk="1" hangingPunct="1">
              <a:lnSpc>
                <a:spcPct val="100000"/>
              </a:lnSpc>
              <a:buFont typeface="Wingdings" panose="05000000000000000000" charset="0"/>
              <a:buChar char="§"/>
            </a:pPr>
            <a:r>
              <a:rPr lang="zh-CN" altLang="en-US" dirty="0">
                <a:latin typeface="Arial" panose="020B0604020202090204" pitchFamily="34" charset="0"/>
                <a:cs typeface="Arial" panose="020B0604020202090204" pitchFamily="34" charset="0"/>
              </a:rPr>
              <a:t>视图上的查询操作将首先被改写为基表上的查询操作，然后才能得到执行</a:t>
            </a:r>
            <a:endParaRPr lang="zh-CN" altLang="en-US" dirty="0">
              <a:latin typeface="Arial" panose="020B0604020202090204" pitchFamily="34" charset="0"/>
              <a:cs typeface="Arial" panose="020B0604020202090204" pitchFamily="34" charset="0"/>
            </a:endParaRPr>
          </a:p>
          <a:p>
            <a:pPr lvl="0" eaLnBrk="1" hangingPunct="1">
              <a:lnSpc>
                <a:spcPct val="100000"/>
              </a:lnSpc>
            </a:pPr>
            <a:r>
              <a:rPr lang="zh-CN" altLang="en-US" dirty="0">
                <a:solidFill>
                  <a:srgbClr val="C00000"/>
                </a:solidFill>
                <a:latin typeface="Arial" panose="020B0604020202090204" pitchFamily="34" charset="0"/>
                <a:cs typeface="Arial" panose="020B0604020202090204" pitchFamily="34" charset="0"/>
              </a:rPr>
              <a:t>一般不允许执行视图上的更新操作，只有满足以下条件才可以： </a:t>
            </a:r>
            <a:endParaRPr lang="zh-CN" altLang="en-US" dirty="0">
              <a:solidFill>
                <a:srgbClr val="C00000"/>
              </a:solidFill>
              <a:latin typeface="Arial" panose="020B0604020202090204" pitchFamily="34" charset="0"/>
              <a:cs typeface="Arial" panose="020B0604020202090204" pitchFamily="34" charset="0"/>
            </a:endParaRPr>
          </a:p>
          <a:p>
            <a:pPr marL="914400" lvl="1" indent="-457200" eaLnBrk="1" hangingPunct="1">
              <a:lnSpc>
                <a:spcPct val="100000"/>
              </a:lnSpc>
              <a:buFont typeface="+mj-ea"/>
              <a:buAutoNum type="circleNumDbPlain"/>
            </a:pPr>
            <a:r>
              <a:rPr lang="zh-CN" altLang="en-US" dirty="0">
                <a:latin typeface="Arial" panose="020B0604020202090204" pitchFamily="34" charset="0"/>
                <a:cs typeface="Arial" panose="020B0604020202090204" pitchFamily="34" charset="0"/>
              </a:rPr>
              <a:t>视图的每一行必须对应基表的惟一一行</a:t>
            </a:r>
            <a:endParaRPr lang="zh-CN" altLang="en-US" dirty="0">
              <a:latin typeface="Arial" panose="020B0604020202090204" pitchFamily="34" charset="0"/>
              <a:cs typeface="Arial" panose="020B0604020202090204" pitchFamily="34" charset="0"/>
            </a:endParaRPr>
          </a:p>
          <a:p>
            <a:pPr marL="914400" lvl="1" indent="-457200" eaLnBrk="1" hangingPunct="1">
              <a:lnSpc>
                <a:spcPct val="100000"/>
              </a:lnSpc>
              <a:buFont typeface="+mj-ea"/>
              <a:buAutoNum type="circleNumDbPlain"/>
            </a:pPr>
            <a:r>
              <a:rPr lang="zh-CN" altLang="en-US" dirty="0">
                <a:latin typeface="Arial" panose="020B0604020202090204" pitchFamily="34" charset="0"/>
                <a:cs typeface="Arial" panose="020B0604020202090204" pitchFamily="34" charset="0"/>
              </a:rPr>
              <a:t>视图的每一列必须对应基表的惟一一列</a:t>
            </a:r>
            <a:endParaRPr lang="zh-CN" altLang="en-US" dirty="0">
              <a:latin typeface="Arial" panose="020B0604020202090204" pitchFamily="34" charset="0"/>
              <a:cs typeface="Arial" panose="020B0604020202090204" pitchFamily="34" charset="0"/>
            </a:endParaRPr>
          </a:p>
          <a:p>
            <a:pPr lvl="0" eaLnBrk="1" hangingPunct="1">
              <a:lnSpc>
                <a:spcPct val="100000"/>
              </a:lnSpc>
              <a:spcBef>
                <a:spcPts val="2000"/>
              </a:spcBef>
            </a:pPr>
            <a:r>
              <a:rPr lang="zh-CN" altLang="en-US" dirty="0">
                <a:latin typeface="Arial" panose="020B0604020202090204" pitchFamily="34" charset="0"/>
                <a:cs typeface="Arial" panose="020B0604020202090204" pitchFamily="34" charset="0"/>
              </a:rPr>
              <a:t>同时满足上述两个条件的视图被称为</a:t>
            </a:r>
            <a:r>
              <a:rPr lang="en-US" altLang="zh-CN" dirty="0">
                <a:latin typeface="Arial" panose="020B0604020202090204" pitchFamily="34" charset="0"/>
                <a:cs typeface="Arial" panose="020B0604020202090204" pitchFamily="34" charset="0"/>
              </a:rPr>
              <a:t>‘</a:t>
            </a:r>
            <a:r>
              <a:rPr lang="zh-CN" altLang="en-US" dirty="0">
                <a:solidFill>
                  <a:srgbClr val="C00000"/>
                </a:solidFill>
                <a:latin typeface="Arial" panose="020B0604020202090204" pitchFamily="34" charset="0"/>
                <a:cs typeface="Arial" panose="020B0604020202090204" pitchFamily="34" charset="0"/>
              </a:rPr>
              <a:t>可更新视图</a:t>
            </a:r>
            <a:r>
              <a:rPr lang="en-US" altLang="zh-CN" dirty="0">
                <a:latin typeface="Arial" panose="020B0604020202090204" pitchFamily="34" charset="0"/>
                <a:cs typeface="Arial" panose="020B0604020202090204" pitchFamily="34" charset="0"/>
              </a:rPr>
              <a:t>’ (updateable view)</a:t>
            </a:r>
            <a:r>
              <a:rPr lang="zh-CN" altLang="en-US" dirty="0">
                <a:latin typeface="Arial" panose="020B0604020202090204" pitchFamily="34" charset="0"/>
                <a:cs typeface="Arial" panose="020B0604020202090204" pitchFamily="34" charset="0"/>
              </a:rPr>
              <a:t>。</a:t>
            </a:r>
            <a:endParaRPr lang="zh-CN" altLang="en-US" dirty="0">
              <a:latin typeface="Arial" panose="020B0604020202090204" pitchFamily="34" charset="0"/>
              <a:cs typeface="Arial" panose="020B0604020202090204" pitchFamily="34" charset="0"/>
            </a:endParaRPr>
          </a:p>
          <a:p>
            <a:pPr lvl="0" eaLnBrk="1" hangingPunct="1">
              <a:lnSpc>
                <a:spcPct val="100000"/>
              </a:lnSpc>
              <a:spcBef>
                <a:spcPts val="2000"/>
              </a:spcBef>
            </a:pPr>
            <a:r>
              <a:rPr lang="zh-CN" altLang="en-US" dirty="0">
                <a:latin typeface="Arial" panose="020B0604020202090204" pitchFamily="34" charset="0"/>
                <a:cs typeface="Arial" panose="020B0604020202090204" pitchFamily="34" charset="0"/>
              </a:rPr>
              <a:t>视图上的数据更新操作需要被转化为基表上的数据更新操作，只有在可更新视图上才允许执行数据更新操作</a:t>
            </a:r>
            <a:r>
              <a:rPr lang="en-US" altLang="zh-CN" dirty="0">
                <a:latin typeface="Arial" panose="020B0604020202090204" pitchFamily="34" charset="0"/>
                <a:cs typeface="Arial" panose="020B0604020202090204" pitchFamily="34" charset="0"/>
              </a:rPr>
              <a:t>(insert, update, delete)</a:t>
            </a:r>
            <a:r>
              <a:rPr lang="zh-CN" altLang="en-US" dirty="0">
                <a:latin typeface="Arial" panose="020B0604020202090204" pitchFamily="34" charset="0"/>
                <a:cs typeface="Arial" panose="020B0604020202090204" pitchFamily="34" charset="0"/>
              </a:rPr>
              <a:t>。</a:t>
            </a:r>
            <a:endParaRPr lang="zh-CN" altLang="en-US" dirty="0">
              <a:latin typeface="Arial" panose="020B0604020202090204" pitchFamily="34" charset="0"/>
              <a:cs typeface="Arial" panose="020B0604020202090204" pitchFamily="34" charset="0"/>
            </a:endParaRPr>
          </a:p>
        </p:txBody>
      </p:sp>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en-US" altLang="x-none" strike="noStrike" noProof="1" dirty="0">
                <a:latin typeface="Times New Roman" panose="02020503050405090304" charset="0"/>
                <a:ea typeface="宋体" pitchFamily="2" charset="-122"/>
                <a:cs typeface="+mn-ea"/>
              </a:rPr>
            </a:fld>
            <a:endParaRPr lang="en-US" altLang="x-none" strike="noStrike" noProof="1" dirty="0"/>
          </a:p>
        </p:txBody>
      </p:sp>
      <p:sp>
        <p:nvSpPr>
          <p:cNvPr id="4" name="页脚占位符 3"/>
          <p:cNvSpPr>
            <a:spLocks noGrp="1"/>
          </p:cNvSpPr>
          <p:nvPr>
            <p:ph type="ftr" sz="quarter" idx="11"/>
          </p:nvPr>
        </p:nvSpPr>
        <p:spPr/>
        <p:txBody>
          <a:bodyPr/>
          <a:p>
            <a:r>
              <a:rPr lang="zh-CN" altLang="en-US"/>
              <a:t>ch03_3_SQL数据更新</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6196">
                                            <p:txEl>
                                              <p:pRg st="5" end="5"/>
                                            </p:txEl>
                                          </p:spTgt>
                                        </p:tgtEl>
                                        <p:attrNameLst>
                                          <p:attrName>style.visibility</p:attrName>
                                        </p:attrNameLst>
                                      </p:cBhvr>
                                      <p:to>
                                        <p:strVal val="visible"/>
                                      </p:to>
                                    </p:set>
                                    <p:anim calcmode="lin" valueType="num">
                                      <p:cBhvr additive="base">
                                        <p:cTn id="7" dur="500" fill="hold"/>
                                        <p:tgtEl>
                                          <p:spTgt spid="136196">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619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6196">
                                            <p:txEl>
                                              <p:pRg st="6" end="6"/>
                                            </p:txEl>
                                          </p:spTgt>
                                        </p:tgtEl>
                                        <p:attrNameLst>
                                          <p:attrName>style.visibility</p:attrName>
                                        </p:attrNameLst>
                                      </p:cBhvr>
                                      <p:to>
                                        <p:strVal val="visible"/>
                                      </p:to>
                                    </p:set>
                                    <p:anim calcmode="lin" valueType="num">
                                      <p:cBhvr additive="base">
                                        <p:cTn id="13" dur="500" fill="hold"/>
                                        <p:tgtEl>
                                          <p:spTgt spid="136196">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6196">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zh-CN" altLang="en-US" dirty="0"/>
              <a:t>查询视图 </a:t>
            </a:r>
            <a:r>
              <a:rPr lang="en-US" altLang="zh-CN" dirty="0"/>
              <a:t>1</a:t>
            </a:r>
            <a:endParaRPr lang="zh-CN" altLang="en-US" dirty="0"/>
          </a:p>
        </p:txBody>
      </p:sp>
      <p:sp>
        <p:nvSpPr>
          <p:cNvPr id="58371" name="Rectangle 3"/>
          <p:cNvSpPr>
            <a:spLocks noGrp="1" noChangeArrowheads="1"/>
          </p:cNvSpPr>
          <p:nvPr>
            <p:ph idx="1"/>
          </p:nvPr>
        </p:nvSpPr>
        <p:spPr/>
        <p:txBody>
          <a:bodyPr/>
          <a:lstStyle/>
          <a:p>
            <a:pPr>
              <a:lnSpc>
                <a:spcPct val="110000"/>
              </a:lnSpc>
              <a:spcBef>
                <a:spcPts val="1000"/>
              </a:spcBef>
            </a:pPr>
            <a:r>
              <a:rPr lang="zh-CN" altLang="en-US" dirty="0"/>
              <a:t>用户角度：查询视图与查询基本表相同</a:t>
            </a:r>
            <a:endParaRPr lang="zh-CN" altLang="en-US" dirty="0"/>
          </a:p>
          <a:p>
            <a:pPr>
              <a:lnSpc>
                <a:spcPct val="110000"/>
              </a:lnSpc>
              <a:spcBef>
                <a:spcPts val="1000"/>
              </a:spcBef>
            </a:pPr>
            <a:endParaRPr lang="zh-CN" altLang="en-US" dirty="0"/>
          </a:p>
          <a:p>
            <a:pPr>
              <a:lnSpc>
                <a:spcPct val="110000"/>
              </a:lnSpc>
              <a:spcBef>
                <a:spcPts val="1000"/>
              </a:spcBef>
            </a:pPr>
            <a:r>
              <a:rPr lang="zh-CN" altLang="en-US" dirty="0"/>
              <a:t>关系数据库管理系统实现视图查询的方法</a:t>
            </a:r>
            <a:endParaRPr lang="zh-CN" altLang="en-US" dirty="0"/>
          </a:p>
          <a:p>
            <a:pPr lvl="1">
              <a:lnSpc>
                <a:spcPct val="110000"/>
              </a:lnSpc>
              <a:spcBef>
                <a:spcPts val="1000"/>
              </a:spcBef>
            </a:pPr>
            <a:r>
              <a:rPr lang="zh-CN" altLang="en-US" dirty="0">
                <a:solidFill>
                  <a:srgbClr val="FF0000"/>
                </a:solidFill>
              </a:rPr>
              <a:t>视图消解法</a:t>
            </a:r>
            <a:r>
              <a:rPr lang="zh-CN" altLang="en-US" dirty="0"/>
              <a:t>（</a:t>
            </a:r>
            <a:r>
              <a:rPr lang="en-US" altLang="zh-CN" dirty="0"/>
              <a:t>View Resolution</a:t>
            </a:r>
            <a:r>
              <a:rPr lang="zh-CN" altLang="en-US" dirty="0"/>
              <a:t>）</a:t>
            </a:r>
            <a:endParaRPr lang="zh-CN" altLang="en-US" dirty="0"/>
          </a:p>
          <a:p>
            <a:pPr lvl="2">
              <a:lnSpc>
                <a:spcPct val="110000"/>
              </a:lnSpc>
              <a:spcBef>
                <a:spcPts val="1000"/>
              </a:spcBef>
            </a:pPr>
            <a:r>
              <a:rPr lang="zh-CN" altLang="en-US" dirty="0"/>
              <a:t>进行有效性检查</a:t>
            </a:r>
            <a:endParaRPr lang="zh-CN" altLang="en-US" dirty="0"/>
          </a:p>
          <a:p>
            <a:pPr lvl="2">
              <a:lnSpc>
                <a:spcPct val="110000"/>
              </a:lnSpc>
              <a:spcBef>
                <a:spcPts val="1000"/>
              </a:spcBef>
            </a:pPr>
            <a:r>
              <a:rPr lang="zh-CN" altLang="en-US" dirty="0"/>
              <a:t>转换成等价的对基本表的查询</a:t>
            </a:r>
            <a:endParaRPr lang="zh-CN" altLang="en-US" dirty="0"/>
          </a:p>
          <a:p>
            <a:pPr lvl="2">
              <a:lnSpc>
                <a:spcPct val="110000"/>
              </a:lnSpc>
              <a:spcBef>
                <a:spcPts val="1000"/>
              </a:spcBef>
            </a:pPr>
            <a:r>
              <a:rPr lang="zh-CN" altLang="en-US" dirty="0"/>
              <a:t>执行修正后的查询</a:t>
            </a:r>
            <a:endParaRPr lang="zh-CN" altLang="en-US" dirty="0"/>
          </a:p>
        </p:txBody>
      </p:sp>
      <p:sp>
        <p:nvSpPr>
          <p:cNvPr id="2" name="灯片编号占位符 1"/>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ch03_3_SQL数据更新</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8371">
                                            <p:txEl>
                                              <p:pRg st="2" end="2"/>
                                            </p:txEl>
                                          </p:spTgt>
                                        </p:tgtEl>
                                        <p:attrNameLst>
                                          <p:attrName>style.visibility</p:attrName>
                                        </p:attrNameLst>
                                      </p:cBhvr>
                                      <p:to>
                                        <p:strVal val="visible"/>
                                      </p:to>
                                    </p:set>
                                    <p:animEffect transition="in" filter="blinds(horizontal)">
                                      <p:cBhvr>
                                        <p:cTn id="7" dur="500"/>
                                        <p:tgtEl>
                                          <p:spTgt spid="58371">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8371">
                                            <p:txEl>
                                              <p:pRg st="3" end="3"/>
                                            </p:txEl>
                                          </p:spTgt>
                                        </p:tgtEl>
                                        <p:attrNameLst>
                                          <p:attrName>style.visibility</p:attrName>
                                        </p:attrNameLst>
                                      </p:cBhvr>
                                      <p:to>
                                        <p:strVal val="visible"/>
                                      </p:to>
                                    </p:set>
                                    <p:animEffect transition="in" filter="blinds(horizontal)">
                                      <p:cBhvr>
                                        <p:cTn id="10" dur="500"/>
                                        <p:tgtEl>
                                          <p:spTgt spid="58371">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8371">
                                            <p:txEl>
                                              <p:pRg st="4" end="4"/>
                                            </p:txEl>
                                          </p:spTgt>
                                        </p:tgtEl>
                                        <p:attrNameLst>
                                          <p:attrName>style.visibility</p:attrName>
                                        </p:attrNameLst>
                                      </p:cBhvr>
                                      <p:to>
                                        <p:strVal val="visible"/>
                                      </p:to>
                                    </p:set>
                                    <p:animEffect transition="in" filter="blinds(horizontal)">
                                      <p:cBhvr>
                                        <p:cTn id="13" dur="500"/>
                                        <p:tgtEl>
                                          <p:spTgt spid="58371">
                                            <p:txEl>
                                              <p:pRg st="4" end="4"/>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58371">
                                            <p:txEl>
                                              <p:pRg st="5" end="5"/>
                                            </p:txEl>
                                          </p:spTgt>
                                        </p:tgtEl>
                                        <p:attrNameLst>
                                          <p:attrName>style.visibility</p:attrName>
                                        </p:attrNameLst>
                                      </p:cBhvr>
                                      <p:to>
                                        <p:strVal val="visible"/>
                                      </p:to>
                                    </p:set>
                                    <p:animEffect transition="in" filter="blinds(horizontal)">
                                      <p:cBhvr>
                                        <p:cTn id="16" dur="500"/>
                                        <p:tgtEl>
                                          <p:spTgt spid="58371">
                                            <p:txEl>
                                              <p:pRg st="5" end="5"/>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58371">
                                            <p:txEl>
                                              <p:pRg st="6" end="6"/>
                                            </p:txEl>
                                          </p:spTgt>
                                        </p:tgtEl>
                                        <p:attrNameLst>
                                          <p:attrName>style.visibility</p:attrName>
                                        </p:attrNameLst>
                                      </p:cBhvr>
                                      <p:to>
                                        <p:strVal val="visible"/>
                                      </p:to>
                                    </p:set>
                                    <p:animEffect transition="in" filter="blinds(horizontal)">
                                      <p:cBhvr>
                                        <p:cTn id="19" dur="500"/>
                                        <p:tgtEl>
                                          <p:spTgt spid="5837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zh-CN" altLang="en-US" dirty="0"/>
              <a:t>查询视图 </a:t>
            </a:r>
            <a:r>
              <a:rPr lang="en-US" altLang="zh-CN" dirty="0"/>
              <a:t>2</a:t>
            </a:r>
            <a:endParaRPr lang="zh-CN" altLang="en-US" dirty="0"/>
          </a:p>
        </p:txBody>
      </p:sp>
      <p:sp>
        <p:nvSpPr>
          <p:cNvPr id="59395" name="Rectangle 3"/>
          <p:cNvSpPr>
            <a:spLocks noGrp="1" noChangeArrowheads="1"/>
          </p:cNvSpPr>
          <p:nvPr>
            <p:ph sz="half" idx="1"/>
          </p:nvPr>
        </p:nvSpPr>
        <p:spPr/>
        <p:txBody>
          <a:bodyPr>
            <a:noAutofit/>
          </a:bodyPr>
          <a:lstStyle/>
          <a:p>
            <a:pPr>
              <a:lnSpc>
                <a:spcPct val="110000"/>
              </a:lnSpc>
              <a:spcBef>
                <a:spcPct val="0"/>
              </a:spcBef>
            </a:pPr>
            <a:r>
              <a:rPr lang="en-US" altLang="zh-CN" sz="2800" dirty="0"/>
              <a:t>[</a:t>
            </a:r>
            <a:r>
              <a:rPr lang="zh-CN" altLang="en-US" sz="2800" dirty="0"/>
              <a:t>例</a:t>
            </a:r>
            <a:r>
              <a:rPr lang="en-US" altLang="zh-CN" sz="2800" dirty="0"/>
              <a:t>3.92]</a:t>
            </a:r>
            <a:r>
              <a:rPr lang="zh-CN" altLang="en-US" sz="2800" dirty="0"/>
              <a:t>在信息系学生的视图中找出年龄小于</a:t>
            </a:r>
            <a:r>
              <a:rPr lang="en-US" altLang="zh-CN" sz="2800" dirty="0"/>
              <a:t>20</a:t>
            </a:r>
            <a:r>
              <a:rPr lang="zh-CN" altLang="en-US" sz="2800" dirty="0"/>
              <a:t>岁的学生。</a:t>
            </a:r>
            <a:endParaRPr lang="zh-CN" altLang="en-US" sz="2800" dirty="0"/>
          </a:p>
          <a:p>
            <a:pPr marL="363855" lvl="1" indent="0">
              <a:lnSpc>
                <a:spcPct val="110000"/>
              </a:lnSpc>
              <a:spcBef>
                <a:spcPts val="1000"/>
              </a:spcBef>
              <a:buNone/>
            </a:pPr>
            <a:r>
              <a:rPr lang="en-US" altLang="zh-CN" sz="2800" dirty="0">
                <a:latin typeface="Times New Roman" panose="02020503050405090304" charset="0"/>
                <a:cs typeface="Times New Roman" panose="02020503050405090304" charset="0"/>
              </a:rPr>
              <a:t>SELECT   </a:t>
            </a:r>
            <a:r>
              <a:rPr lang="en-US" altLang="zh-CN" sz="2800" dirty="0" err="1">
                <a:latin typeface="Times New Roman" panose="02020503050405090304" charset="0"/>
                <a:cs typeface="Times New Roman" panose="02020503050405090304" charset="0"/>
              </a:rPr>
              <a:t>Sno</a:t>
            </a:r>
            <a:r>
              <a:rPr lang="zh-CN" altLang="en-US" sz="2800" dirty="0">
                <a:latin typeface="Times New Roman" panose="02020503050405090304" charset="0"/>
                <a:cs typeface="Times New Roman" panose="02020503050405090304" charset="0"/>
              </a:rPr>
              <a:t>,</a:t>
            </a:r>
            <a:r>
              <a:rPr lang="en-US" altLang="zh-CN" sz="2800" dirty="0">
                <a:latin typeface="Times New Roman" panose="02020503050405090304" charset="0"/>
                <a:cs typeface="Times New Roman" panose="02020503050405090304" charset="0"/>
              </a:rPr>
              <a:t>Sage</a:t>
            </a:r>
            <a:endParaRPr lang="en-US" altLang="zh-CN" sz="2800" dirty="0">
              <a:latin typeface="Times New Roman" panose="02020503050405090304" charset="0"/>
              <a:cs typeface="Times New Roman" panose="02020503050405090304" charset="0"/>
            </a:endParaRPr>
          </a:p>
          <a:p>
            <a:pPr marL="363855" lvl="1" indent="0">
              <a:lnSpc>
                <a:spcPct val="110000"/>
              </a:lnSpc>
              <a:spcBef>
                <a:spcPct val="0"/>
              </a:spcBef>
              <a:buNone/>
            </a:pPr>
            <a:r>
              <a:rPr lang="en-US" altLang="zh-CN" sz="2800" dirty="0">
                <a:latin typeface="Times New Roman" panose="02020503050405090304" charset="0"/>
                <a:cs typeface="Times New Roman" panose="02020503050405090304" charset="0"/>
              </a:rPr>
              <a:t>FROM      </a:t>
            </a:r>
            <a:r>
              <a:rPr lang="en-US" altLang="zh-CN" sz="2800" dirty="0" err="1">
                <a:latin typeface="Times New Roman" panose="02020503050405090304" charset="0"/>
                <a:cs typeface="Times New Roman" panose="02020503050405090304" charset="0"/>
              </a:rPr>
              <a:t>IS_Student</a:t>
            </a:r>
            <a:endParaRPr lang="en-US" altLang="zh-CN" sz="2800" dirty="0">
              <a:latin typeface="Times New Roman" panose="02020503050405090304" charset="0"/>
              <a:cs typeface="Times New Roman" panose="02020503050405090304" charset="0"/>
            </a:endParaRPr>
          </a:p>
          <a:p>
            <a:pPr marL="363855" lvl="1" indent="0">
              <a:lnSpc>
                <a:spcPct val="110000"/>
              </a:lnSpc>
              <a:spcBef>
                <a:spcPct val="0"/>
              </a:spcBef>
              <a:buNone/>
            </a:pPr>
            <a:r>
              <a:rPr lang="en-US" altLang="zh-CN" sz="2800" dirty="0">
                <a:latin typeface="Times New Roman" panose="02020503050405090304" charset="0"/>
                <a:cs typeface="Times New Roman" panose="02020503050405090304" charset="0"/>
              </a:rPr>
              <a:t>WHERE   Sage&lt;20</a:t>
            </a:r>
            <a:r>
              <a:rPr lang="zh-CN" altLang="en-US" sz="2800" dirty="0">
                <a:latin typeface="Times New Roman" panose="02020503050405090304" charset="0"/>
                <a:cs typeface="Times New Roman" panose="02020503050405090304" charset="0"/>
              </a:rPr>
              <a:t>;</a:t>
            </a:r>
            <a:endParaRPr lang="zh-CN" altLang="en-US" sz="2800" dirty="0">
              <a:latin typeface="Times New Roman" panose="02020503050405090304" charset="0"/>
              <a:cs typeface="Times New Roman" panose="02020503050405090304" charset="0"/>
            </a:endParaRPr>
          </a:p>
          <a:p>
            <a:pPr marL="363855" lvl="1" indent="0">
              <a:lnSpc>
                <a:spcPct val="110000"/>
              </a:lnSpc>
              <a:spcBef>
                <a:spcPct val="0"/>
              </a:spcBef>
              <a:buNone/>
            </a:pPr>
            <a:endParaRPr lang="zh-CN" altLang="en-US" sz="2800" dirty="0">
              <a:latin typeface="Arial" panose="020B0604020202090204" pitchFamily="34" charset="0"/>
              <a:cs typeface="Arial" panose="020B0604020202090204" pitchFamily="34" charset="0"/>
            </a:endParaRPr>
          </a:p>
          <a:p>
            <a:pPr lvl="0">
              <a:lnSpc>
                <a:spcPct val="110000"/>
              </a:lnSpc>
              <a:spcBef>
                <a:spcPts val="2000"/>
              </a:spcBef>
              <a:spcAft>
                <a:spcPts val="1000"/>
              </a:spcAft>
            </a:pPr>
            <a:r>
              <a:rPr lang="zh-CN" altLang="en-US" sz="2800" dirty="0"/>
              <a:t>视图消解转换后的查询语句为：</a:t>
            </a:r>
            <a:endParaRPr lang="zh-CN" altLang="en-US" sz="2800" dirty="0"/>
          </a:p>
          <a:p>
            <a:pPr marL="363855" lvl="1" indent="0">
              <a:lnSpc>
                <a:spcPct val="110000"/>
              </a:lnSpc>
              <a:spcBef>
                <a:spcPct val="0"/>
              </a:spcBef>
              <a:buNone/>
            </a:pPr>
            <a:r>
              <a:rPr lang="en-US" altLang="zh-CN" sz="2800" dirty="0">
                <a:latin typeface="Times New Roman" panose="02020503050405090304" charset="0"/>
                <a:cs typeface="Times New Roman" panose="02020503050405090304" charset="0"/>
              </a:rPr>
              <a:t>SELECT  </a:t>
            </a:r>
            <a:r>
              <a:rPr lang="en-US" altLang="zh-CN" sz="2800" dirty="0" err="1">
                <a:latin typeface="Times New Roman" panose="02020503050405090304" charset="0"/>
                <a:cs typeface="Times New Roman" panose="02020503050405090304" charset="0"/>
              </a:rPr>
              <a:t>Sno</a:t>
            </a:r>
            <a:r>
              <a:rPr lang="zh-CN" altLang="en-US" sz="2800" dirty="0">
                <a:latin typeface="Times New Roman" panose="02020503050405090304" charset="0"/>
                <a:cs typeface="Times New Roman" panose="02020503050405090304" charset="0"/>
              </a:rPr>
              <a:t>,</a:t>
            </a:r>
            <a:r>
              <a:rPr lang="en-US" altLang="zh-CN" sz="2800" dirty="0">
                <a:latin typeface="Times New Roman" panose="02020503050405090304" charset="0"/>
                <a:cs typeface="Times New Roman" panose="02020503050405090304" charset="0"/>
              </a:rPr>
              <a:t>Sage       </a:t>
            </a:r>
            <a:endParaRPr lang="en-US" altLang="zh-CN" sz="2800" dirty="0">
              <a:latin typeface="Times New Roman" panose="02020503050405090304" charset="0"/>
              <a:cs typeface="Times New Roman" panose="02020503050405090304" charset="0"/>
            </a:endParaRPr>
          </a:p>
          <a:p>
            <a:pPr marL="363855" lvl="1" indent="0">
              <a:lnSpc>
                <a:spcPct val="110000"/>
              </a:lnSpc>
              <a:spcBef>
                <a:spcPct val="0"/>
              </a:spcBef>
              <a:buNone/>
            </a:pPr>
            <a:r>
              <a:rPr lang="en-US" altLang="zh-CN" sz="2800" dirty="0">
                <a:latin typeface="Times New Roman" panose="02020503050405090304" charset="0"/>
                <a:cs typeface="Times New Roman" panose="02020503050405090304" charset="0"/>
              </a:rPr>
              <a:t>FROM  Student</a:t>
            </a:r>
            <a:endParaRPr lang="en-US" altLang="zh-CN" sz="2800" dirty="0">
              <a:latin typeface="Times New Roman" panose="02020503050405090304" charset="0"/>
              <a:cs typeface="Times New Roman" panose="02020503050405090304" charset="0"/>
            </a:endParaRPr>
          </a:p>
          <a:p>
            <a:pPr marL="363855" lvl="1" indent="0">
              <a:lnSpc>
                <a:spcPct val="110000"/>
              </a:lnSpc>
              <a:spcBef>
                <a:spcPct val="0"/>
              </a:spcBef>
              <a:buNone/>
            </a:pPr>
            <a:r>
              <a:rPr lang="en-US" altLang="zh-CN" sz="2800" dirty="0">
                <a:latin typeface="Times New Roman" panose="02020503050405090304" charset="0"/>
                <a:cs typeface="Times New Roman" panose="02020503050405090304" charset="0"/>
              </a:rPr>
              <a:t>WHERE  </a:t>
            </a:r>
            <a:r>
              <a:rPr lang="en-US" altLang="zh-CN" sz="2800" dirty="0" err="1">
                <a:latin typeface="Times New Roman" panose="02020503050405090304" charset="0"/>
                <a:cs typeface="Times New Roman" panose="02020503050405090304" charset="0"/>
              </a:rPr>
              <a:t>Sdept</a:t>
            </a:r>
            <a:r>
              <a:rPr lang="en-US" altLang="zh-CN" sz="2800" dirty="0">
                <a:latin typeface="Times New Roman" panose="02020503050405090304" charset="0"/>
                <a:cs typeface="Times New Roman" panose="02020503050405090304" charset="0"/>
              </a:rPr>
              <a:t>= 'IS'  AND  </a:t>
            </a:r>
            <a:endParaRPr lang="en-US" altLang="zh-CN" sz="2800" dirty="0">
              <a:latin typeface="Times New Roman" panose="02020503050405090304" charset="0"/>
              <a:cs typeface="Times New Roman" panose="02020503050405090304" charset="0"/>
            </a:endParaRPr>
          </a:p>
          <a:p>
            <a:pPr marL="363855" lvl="1" indent="1540510">
              <a:lnSpc>
                <a:spcPct val="110000"/>
              </a:lnSpc>
              <a:spcBef>
                <a:spcPct val="0"/>
              </a:spcBef>
              <a:buNone/>
            </a:pPr>
            <a:r>
              <a:rPr lang="en-US" altLang="zh-CN" sz="2800" dirty="0">
                <a:latin typeface="Times New Roman" panose="02020503050405090304" charset="0"/>
                <a:cs typeface="Times New Roman" panose="02020503050405090304" charset="0"/>
              </a:rPr>
              <a:t>Sage&lt;20</a:t>
            </a:r>
            <a:r>
              <a:rPr lang="zh-CN" altLang="en-US" sz="2800" dirty="0">
                <a:latin typeface="Times New Roman" panose="02020503050405090304" charset="0"/>
                <a:cs typeface="Times New Roman" panose="02020503050405090304" charset="0"/>
              </a:rPr>
              <a:t>;</a:t>
            </a:r>
            <a:endParaRPr lang="en-US" altLang="zh-CN" sz="2800" dirty="0">
              <a:latin typeface="Times New Roman" panose="02020503050405090304" charset="0"/>
              <a:cs typeface="Times New Roman" panose="02020503050405090304" charset="0"/>
            </a:endParaRPr>
          </a:p>
        </p:txBody>
      </p:sp>
      <p:sp>
        <p:nvSpPr>
          <p:cNvPr id="2" name="内容占位符 1"/>
          <p:cNvSpPr>
            <a:spLocks noGrp="1"/>
          </p:cNvSpPr>
          <p:nvPr>
            <p:ph sz="half" idx="2"/>
          </p:nvPr>
        </p:nvSpPr>
        <p:spPr/>
        <p:txBody>
          <a:bodyPr>
            <a:noAutofit/>
          </a:bodyPr>
          <a:lstStyle/>
          <a:p>
            <a:pPr>
              <a:lnSpc>
                <a:spcPct val="110000"/>
              </a:lnSpc>
              <a:spcBef>
                <a:spcPct val="0"/>
              </a:spcBef>
            </a:pPr>
            <a:r>
              <a:rPr lang="en-US" altLang="zh-CN" sz="2800" dirty="0"/>
              <a:t>[</a:t>
            </a:r>
            <a:r>
              <a:rPr lang="zh-CN" altLang="en-US" sz="2800" dirty="0"/>
              <a:t>例</a:t>
            </a:r>
            <a:r>
              <a:rPr lang="en-US" altLang="zh-CN" sz="2800" dirty="0"/>
              <a:t>3.93]</a:t>
            </a:r>
            <a:r>
              <a:rPr lang="zh-CN" altLang="en-US" sz="2800" dirty="0"/>
              <a:t>查询选修了</a:t>
            </a:r>
            <a:r>
              <a:rPr lang="en-US" altLang="zh-CN" sz="2800" dirty="0"/>
              <a:t>1</a:t>
            </a:r>
            <a:r>
              <a:rPr lang="zh-CN" altLang="en-US" sz="2800" dirty="0"/>
              <a:t>号课程的信息系学生</a:t>
            </a:r>
            <a:endParaRPr lang="zh-CN" altLang="en-US" sz="2800" dirty="0"/>
          </a:p>
          <a:p>
            <a:pPr marL="363855" lvl="1" indent="0">
              <a:lnSpc>
                <a:spcPct val="110000"/>
              </a:lnSpc>
              <a:spcBef>
                <a:spcPts val="1000"/>
              </a:spcBef>
              <a:buNone/>
            </a:pPr>
            <a:r>
              <a:rPr lang="en-US" altLang="zh-CN" sz="2800" b="0" dirty="0">
                <a:latin typeface="Times New Roman" panose="02020503050405090304" charset="0"/>
                <a:cs typeface="Times New Roman" panose="02020503050405090304" charset="0"/>
              </a:rPr>
              <a:t>SELECT  </a:t>
            </a:r>
            <a:r>
              <a:rPr lang="en-US" altLang="zh-CN" sz="2800" b="0" dirty="0" err="1">
                <a:latin typeface="Times New Roman" panose="02020503050405090304" charset="0"/>
                <a:cs typeface="Times New Roman" panose="02020503050405090304" charset="0"/>
              </a:rPr>
              <a:t>IS_Student.Sno, Sname</a:t>
            </a:r>
            <a:endParaRPr lang="en-US" altLang="zh-CN" sz="2800" b="0" dirty="0">
              <a:latin typeface="Times New Roman" panose="02020503050405090304" charset="0"/>
              <a:cs typeface="Times New Roman" panose="02020503050405090304" charset="0"/>
            </a:endParaRPr>
          </a:p>
          <a:p>
            <a:pPr marL="363855" lvl="1" indent="0">
              <a:lnSpc>
                <a:spcPct val="110000"/>
              </a:lnSpc>
              <a:spcBef>
                <a:spcPct val="0"/>
              </a:spcBef>
              <a:buNone/>
            </a:pPr>
            <a:r>
              <a:rPr lang="en-US" altLang="zh-CN" sz="2800" b="0" dirty="0">
                <a:latin typeface="Times New Roman" panose="02020503050405090304" charset="0"/>
                <a:cs typeface="Times New Roman" panose="02020503050405090304" charset="0"/>
              </a:rPr>
              <a:t>FROM     </a:t>
            </a:r>
            <a:r>
              <a:rPr lang="en-US" altLang="zh-CN" sz="2800" b="0" dirty="0" err="1">
                <a:latin typeface="Times New Roman" panose="02020503050405090304" charset="0"/>
                <a:cs typeface="Times New Roman" panose="02020503050405090304" charset="0"/>
              </a:rPr>
              <a:t>IS_Student, SC</a:t>
            </a:r>
            <a:endParaRPr lang="en-US" altLang="zh-CN" sz="2800" b="0" dirty="0">
              <a:latin typeface="Times New Roman" panose="02020503050405090304" charset="0"/>
              <a:cs typeface="Times New Roman" panose="02020503050405090304" charset="0"/>
            </a:endParaRPr>
          </a:p>
          <a:p>
            <a:pPr marL="363855" lvl="1" indent="0">
              <a:lnSpc>
                <a:spcPct val="110000"/>
              </a:lnSpc>
              <a:spcBef>
                <a:spcPct val="0"/>
              </a:spcBef>
              <a:buNone/>
            </a:pPr>
            <a:r>
              <a:rPr lang="en-US" altLang="zh-CN" sz="2800" b="0" dirty="0">
                <a:latin typeface="Times New Roman" panose="02020503050405090304" charset="0"/>
                <a:cs typeface="Times New Roman" panose="02020503050405090304" charset="0"/>
              </a:rPr>
              <a:t>WHERE  </a:t>
            </a:r>
            <a:r>
              <a:rPr lang="en-US" altLang="zh-CN" sz="2800" b="0" dirty="0" err="1">
                <a:latin typeface="Times New Roman" panose="02020503050405090304" charset="0"/>
                <a:cs typeface="Times New Roman" panose="02020503050405090304" charset="0"/>
              </a:rPr>
              <a:t>IS_Student.Sno</a:t>
            </a:r>
            <a:r>
              <a:rPr lang="en-US" altLang="zh-CN" sz="2800" b="0" dirty="0">
                <a:latin typeface="Times New Roman" panose="02020503050405090304" charset="0"/>
                <a:cs typeface="Times New Roman" panose="02020503050405090304" charset="0"/>
              </a:rPr>
              <a:t>=</a:t>
            </a:r>
            <a:r>
              <a:rPr lang="en-US" altLang="zh-CN" sz="2800" b="0" dirty="0" err="1">
                <a:latin typeface="Times New Roman" panose="02020503050405090304" charset="0"/>
                <a:cs typeface="Times New Roman" panose="02020503050405090304" charset="0"/>
              </a:rPr>
              <a:t>SC.Sno</a:t>
            </a:r>
            <a:r>
              <a:rPr lang="en-US" altLang="zh-CN" sz="2800" b="0" dirty="0">
                <a:latin typeface="Times New Roman" panose="02020503050405090304" charset="0"/>
                <a:cs typeface="Times New Roman" panose="02020503050405090304" charset="0"/>
              </a:rPr>
              <a:t> </a:t>
            </a:r>
            <a:endParaRPr lang="en-US" altLang="zh-CN" sz="2800" b="0" dirty="0">
              <a:latin typeface="Times New Roman" panose="02020503050405090304" charset="0"/>
              <a:cs typeface="Times New Roman" panose="02020503050405090304" charset="0"/>
            </a:endParaRPr>
          </a:p>
          <a:p>
            <a:pPr marL="363855" lvl="1" indent="1464310">
              <a:lnSpc>
                <a:spcPct val="110000"/>
              </a:lnSpc>
              <a:spcBef>
                <a:spcPct val="0"/>
              </a:spcBef>
              <a:buNone/>
            </a:pPr>
            <a:r>
              <a:rPr lang="en-US" altLang="zh-CN" sz="2800" b="0" dirty="0">
                <a:latin typeface="Times New Roman" panose="02020503050405090304" charset="0"/>
                <a:cs typeface="Times New Roman" panose="02020503050405090304" charset="0"/>
              </a:rPr>
              <a:t>AND </a:t>
            </a:r>
            <a:r>
              <a:rPr lang="en-US" altLang="zh-CN" sz="2800" b="0" dirty="0" err="1">
                <a:latin typeface="Times New Roman" panose="02020503050405090304" charset="0"/>
                <a:cs typeface="Times New Roman" panose="02020503050405090304" charset="0"/>
              </a:rPr>
              <a:t>SC.Cno</a:t>
            </a:r>
            <a:r>
              <a:rPr lang="en-US" altLang="zh-CN" sz="2800" b="0" dirty="0">
                <a:latin typeface="Times New Roman" panose="02020503050405090304" charset="0"/>
                <a:cs typeface="Times New Roman" panose="02020503050405090304" charset="0"/>
              </a:rPr>
              <a:t>= '1'</a:t>
            </a:r>
            <a:r>
              <a:rPr lang="zh-CN" altLang="en-US" sz="2800" b="0" dirty="0">
                <a:latin typeface="Times New Roman" panose="02020503050405090304" charset="0"/>
                <a:cs typeface="Times New Roman" panose="02020503050405090304" charset="0"/>
              </a:rPr>
              <a:t>;</a:t>
            </a:r>
            <a:endParaRPr lang="zh-CN" altLang="en-US" sz="2800" b="0" dirty="0">
              <a:latin typeface="Times New Roman" panose="02020503050405090304" charset="0"/>
              <a:cs typeface="Times New Roman" panose="02020503050405090304" charset="0"/>
            </a:endParaRPr>
          </a:p>
        </p:txBody>
      </p:sp>
      <p:sp>
        <p:nvSpPr>
          <p:cNvPr id="3" name="灯片编号占位符 2"/>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5" name="页脚占位符 4"/>
          <p:cNvSpPr>
            <a:spLocks noGrp="1"/>
          </p:cNvSpPr>
          <p:nvPr>
            <p:ph type="ftr" sz="quarter" idx="11"/>
          </p:nvPr>
        </p:nvSpPr>
        <p:spPr/>
        <p:txBody>
          <a:bodyPr/>
          <a:p>
            <a:r>
              <a:rPr lang="zh-CN" altLang="en-US"/>
              <a:t>ch03_3_SQL数据更新</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9395">
                                            <p:txEl>
                                              <p:pRg st="5" end="5"/>
                                            </p:txEl>
                                          </p:spTgt>
                                        </p:tgtEl>
                                        <p:attrNameLst>
                                          <p:attrName>style.visibility</p:attrName>
                                        </p:attrNameLst>
                                      </p:cBhvr>
                                      <p:to>
                                        <p:strVal val="visible"/>
                                      </p:to>
                                    </p:set>
                                    <p:animEffect transition="in" filter="blinds(horizontal)">
                                      <p:cBhvr>
                                        <p:cTn id="7" dur="500"/>
                                        <p:tgtEl>
                                          <p:spTgt spid="59395">
                                            <p:txEl>
                                              <p:pRg st="5" end="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9395">
                                            <p:txEl>
                                              <p:pRg st="6" end="6"/>
                                            </p:txEl>
                                          </p:spTgt>
                                        </p:tgtEl>
                                        <p:attrNameLst>
                                          <p:attrName>style.visibility</p:attrName>
                                        </p:attrNameLst>
                                      </p:cBhvr>
                                      <p:to>
                                        <p:strVal val="visible"/>
                                      </p:to>
                                    </p:set>
                                    <p:animEffect transition="in" filter="blinds(horizontal)">
                                      <p:cBhvr>
                                        <p:cTn id="10" dur="500"/>
                                        <p:tgtEl>
                                          <p:spTgt spid="59395">
                                            <p:txEl>
                                              <p:pRg st="6" end="6"/>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9395">
                                            <p:txEl>
                                              <p:pRg st="7" end="7"/>
                                            </p:txEl>
                                          </p:spTgt>
                                        </p:tgtEl>
                                        <p:attrNameLst>
                                          <p:attrName>style.visibility</p:attrName>
                                        </p:attrNameLst>
                                      </p:cBhvr>
                                      <p:to>
                                        <p:strVal val="visible"/>
                                      </p:to>
                                    </p:set>
                                    <p:animEffect transition="in" filter="blinds(horizontal)">
                                      <p:cBhvr>
                                        <p:cTn id="13" dur="500"/>
                                        <p:tgtEl>
                                          <p:spTgt spid="59395">
                                            <p:txEl>
                                              <p:pRg st="7" end="7"/>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59395">
                                            <p:txEl>
                                              <p:pRg st="8" end="8"/>
                                            </p:txEl>
                                          </p:spTgt>
                                        </p:tgtEl>
                                        <p:attrNameLst>
                                          <p:attrName>style.visibility</p:attrName>
                                        </p:attrNameLst>
                                      </p:cBhvr>
                                      <p:to>
                                        <p:strVal val="visible"/>
                                      </p:to>
                                    </p:set>
                                    <p:animEffect transition="in" filter="blinds(horizontal)">
                                      <p:cBhvr>
                                        <p:cTn id="16" dur="500"/>
                                        <p:tgtEl>
                                          <p:spTgt spid="59395">
                                            <p:txEl>
                                              <p:pRg st="8" end="8"/>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59395">
                                            <p:txEl>
                                              <p:pRg st="9" end="9"/>
                                            </p:txEl>
                                          </p:spTgt>
                                        </p:tgtEl>
                                        <p:attrNameLst>
                                          <p:attrName>style.visibility</p:attrName>
                                        </p:attrNameLst>
                                      </p:cBhvr>
                                      <p:to>
                                        <p:strVal val="visible"/>
                                      </p:to>
                                    </p:set>
                                    <p:animEffect transition="in" filter="blinds(horizontal)">
                                      <p:cBhvr>
                                        <p:cTn id="19" dur="500"/>
                                        <p:tgtEl>
                                          <p:spTgt spid="59395">
                                            <p:txEl>
                                              <p:pRg st="9" end="9"/>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2">
                                            <p:txEl>
                                              <p:pRg st="0" end="0"/>
                                            </p:txEl>
                                          </p:spTgt>
                                        </p:tgtEl>
                                        <p:attrNameLst>
                                          <p:attrName>style.visibility</p:attrName>
                                        </p:attrNameLst>
                                      </p:cBhvr>
                                      <p:to>
                                        <p:strVal val="visible"/>
                                      </p:to>
                                    </p:set>
                                    <p:animEffect transition="in" filter="blinds(horizontal)">
                                      <p:cBhvr>
                                        <p:cTn id="24" dur="500"/>
                                        <p:tgtEl>
                                          <p:spTgt spid="2">
                                            <p:txEl>
                                              <p:pRg st="0" end="0"/>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2">
                                            <p:txEl>
                                              <p:pRg st="1" end="1"/>
                                            </p:txEl>
                                          </p:spTgt>
                                        </p:tgtEl>
                                        <p:attrNameLst>
                                          <p:attrName>style.visibility</p:attrName>
                                        </p:attrNameLst>
                                      </p:cBhvr>
                                      <p:to>
                                        <p:strVal val="visible"/>
                                      </p:to>
                                    </p:set>
                                    <p:animEffect transition="in" filter="blinds(horizontal)">
                                      <p:cBhvr>
                                        <p:cTn id="27" dur="500"/>
                                        <p:tgtEl>
                                          <p:spTgt spid="2">
                                            <p:txEl>
                                              <p:pRg st="1" end="1"/>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2">
                                            <p:txEl>
                                              <p:pRg st="2" end="2"/>
                                            </p:txEl>
                                          </p:spTgt>
                                        </p:tgtEl>
                                        <p:attrNameLst>
                                          <p:attrName>style.visibility</p:attrName>
                                        </p:attrNameLst>
                                      </p:cBhvr>
                                      <p:to>
                                        <p:strVal val="visible"/>
                                      </p:to>
                                    </p:set>
                                    <p:animEffect transition="in" filter="blinds(horizontal)">
                                      <p:cBhvr>
                                        <p:cTn id="30" dur="500"/>
                                        <p:tgtEl>
                                          <p:spTgt spid="2">
                                            <p:txEl>
                                              <p:pRg st="2" end="2"/>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2">
                                            <p:txEl>
                                              <p:pRg st="3" end="3"/>
                                            </p:txEl>
                                          </p:spTgt>
                                        </p:tgtEl>
                                        <p:attrNameLst>
                                          <p:attrName>style.visibility</p:attrName>
                                        </p:attrNameLst>
                                      </p:cBhvr>
                                      <p:to>
                                        <p:strVal val="visible"/>
                                      </p:to>
                                    </p:set>
                                    <p:animEffect transition="in" filter="blinds(horizontal)">
                                      <p:cBhvr>
                                        <p:cTn id="33" dur="500"/>
                                        <p:tgtEl>
                                          <p:spTgt spid="2">
                                            <p:txEl>
                                              <p:pRg st="3" end="3"/>
                                            </p:txEl>
                                          </p:spTgt>
                                        </p:tgtEl>
                                      </p:cBhvr>
                                    </p:animEffect>
                                  </p:childTnLst>
                                </p:cTn>
                              </p:par>
                              <p:par>
                                <p:cTn id="34" presetID="3" presetClass="entr" presetSubtype="10" fill="hold" nodeType="withEffect">
                                  <p:stCondLst>
                                    <p:cond delay="0"/>
                                  </p:stCondLst>
                                  <p:childTnLst>
                                    <p:set>
                                      <p:cBhvr>
                                        <p:cTn id="35" dur="1" fill="hold">
                                          <p:stCondLst>
                                            <p:cond delay="0"/>
                                          </p:stCondLst>
                                        </p:cTn>
                                        <p:tgtEl>
                                          <p:spTgt spid="2">
                                            <p:txEl>
                                              <p:pRg st="4" end="4"/>
                                            </p:txEl>
                                          </p:spTgt>
                                        </p:tgtEl>
                                        <p:attrNameLst>
                                          <p:attrName>style.visibility</p:attrName>
                                        </p:attrNameLst>
                                      </p:cBhvr>
                                      <p:to>
                                        <p:strVal val="visible"/>
                                      </p:to>
                                    </p:set>
                                    <p:animEffect transition="in" filter="blinds(horizontal)">
                                      <p:cBhvr>
                                        <p:cTn id="36"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zh-CN" altLang="en-US" dirty="0"/>
              <a:t>查询视图 </a:t>
            </a:r>
            <a:r>
              <a:rPr lang="en-US" altLang="zh-CN" dirty="0"/>
              <a:t>3</a:t>
            </a:r>
            <a:endParaRPr lang="zh-CN" altLang="en-US" dirty="0"/>
          </a:p>
        </p:txBody>
      </p:sp>
      <p:sp>
        <p:nvSpPr>
          <p:cNvPr id="61443" name="Rectangle 3"/>
          <p:cNvSpPr>
            <a:spLocks noGrp="1" noChangeArrowheads="1"/>
          </p:cNvSpPr>
          <p:nvPr>
            <p:ph sz="half" idx="1"/>
          </p:nvPr>
        </p:nvSpPr>
        <p:spPr/>
        <p:txBody>
          <a:bodyPr>
            <a:noAutofit/>
          </a:bodyPr>
          <a:lstStyle/>
          <a:p>
            <a:pPr>
              <a:lnSpc>
                <a:spcPct val="100000"/>
              </a:lnSpc>
              <a:spcBef>
                <a:spcPct val="0"/>
              </a:spcBef>
            </a:pPr>
            <a:r>
              <a:rPr lang="en-US" altLang="zh-CN" sz="2400" dirty="0"/>
              <a:t>[</a:t>
            </a:r>
            <a:r>
              <a:rPr lang="zh-CN" altLang="en-US" sz="2400" dirty="0"/>
              <a:t>例</a:t>
            </a:r>
            <a:r>
              <a:rPr lang="en-US" altLang="zh-CN" sz="2400" dirty="0"/>
              <a:t>3.94]</a:t>
            </a:r>
            <a:r>
              <a:rPr lang="zh-CN" altLang="en-US" sz="2400" dirty="0"/>
              <a:t>在</a:t>
            </a:r>
            <a:r>
              <a:rPr lang="en-US" altLang="zh-CN" sz="2400" dirty="0"/>
              <a:t>S_G</a:t>
            </a:r>
            <a:r>
              <a:rPr lang="zh-CN" altLang="en-US" sz="2400" dirty="0"/>
              <a:t>视图中查询平均成绩在</a:t>
            </a:r>
            <a:r>
              <a:rPr lang="en-US" altLang="zh-CN" sz="2400" dirty="0"/>
              <a:t>90</a:t>
            </a:r>
            <a:r>
              <a:rPr lang="zh-CN" altLang="en-US" sz="2400" dirty="0"/>
              <a:t>分以上的学生学号和平均成绩</a:t>
            </a:r>
            <a:endParaRPr lang="zh-CN" altLang="en-US" sz="2400" dirty="0"/>
          </a:p>
          <a:p>
            <a:pPr marL="715645" lvl="2" indent="0">
              <a:lnSpc>
                <a:spcPct val="100000"/>
              </a:lnSpc>
              <a:spcBef>
                <a:spcPts val="1000"/>
              </a:spcBef>
              <a:buNone/>
            </a:pPr>
            <a:r>
              <a:rPr lang="en-US" altLang="zh-CN" sz="2400" dirty="0">
                <a:latin typeface="Arial" panose="020B0604020202090204" pitchFamily="34" charset="0"/>
                <a:cs typeface="Arial" panose="020B0604020202090204" pitchFamily="34" charset="0"/>
              </a:rPr>
              <a:t>SELECT  *</a:t>
            </a:r>
            <a:endParaRPr lang="en-US" altLang="zh-CN" sz="2400" dirty="0">
              <a:latin typeface="Arial" panose="020B0604020202090204" pitchFamily="34" charset="0"/>
              <a:cs typeface="Arial" panose="020B0604020202090204" pitchFamily="34" charset="0"/>
            </a:endParaRPr>
          </a:p>
          <a:p>
            <a:pPr marL="715645" lvl="2" indent="0">
              <a:lnSpc>
                <a:spcPct val="100000"/>
              </a:lnSpc>
              <a:spcBef>
                <a:spcPct val="0"/>
              </a:spcBef>
              <a:buNone/>
            </a:pPr>
            <a:r>
              <a:rPr lang="en-US" altLang="zh-CN" sz="2400" dirty="0">
                <a:latin typeface="Arial" panose="020B0604020202090204" pitchFamily="34" charset="0"/>
                <a:cs typeface="Arial" panose="020B0604020202090204" pitchFamily="34" charset="0"/>
              </a:rPr>
              <a:t>FROM     S_G</a:t>
            </a:r>
            <a:endParaRPr lang="en-US" altLang="zh-CN" sz="2400" dirty="0">
              <a:latin typeface="Arial" panose="020B0604020202090204" pitchFamily="34" charset="0"/>
              <a:cs typeface="Arial" panose="020B0604020202090204" pitchFamily="34" charset="0"/>
            </a:endParaRPr>
          </a:p>
          <a:p>
            <a:pPr marL="715645" lvl="2" indent="0">
              <a:lnSpc>
                <a:spcPct val="100000"/>
              </a:lnSpc>
              <a:spcBef>
                <a:spcPct val="0"/>
              </a:spcBef>
              <a:buNone/>
            </a:pPr>
            <a:r>
              <a:rPr lang="en-US" altLang="zh-CN" sz="2400" dirty="0">
                <a:latin typeface="Arial" panose="020B0604020202090204" pitchFamily="34" charset="0"/>
                <a:cs typeface="Arial" panose="020B0604020202090204" pitchFamily="34" charset="0"/>
              </a:rPr>
              <a:t>WHERE  </a:t>
            </a:r>
            <a:r>
              <a:rPr lang="en-US" altLang="zh-CN" sz="2400" dirty="0" err="1">
                <a:latin typeface="Arial" panose="020B0604020202090204" pitchFamily="34" charset="0"/>
                <a:cs typeface="Arial" panose="020B0604020202090204" pitchFamily="34" charset="0"/>
              </a:rPr>
              <a:t>Gavg</a:t>
            </a:r>
            <a:r>
              <a:rPr lang="en-US" altLang="zh-CN" sz="2400" dirty="0">
                <a:latin typeface="Arial" panose="020B0604020202090204" pitchFamily="34" charset="0"/>
                <a:cs typeface="Arial" panose="020B0604020202090204" pitchFamily="34" charset="0"/>
              </a:rPr>
              <a:t>&gt;=90</a:t>
            </a:r>
            <a:r>
              <a:rPr lang="zh-CN" altLang="en-US" sz="2400" dirty="0">
                <a:latin typeface="Arial" panose="020B0604020202090204" pitchFamily="34" charset="0"/>
                <a:cs typeface="Arial" panose="020B0604020202090204" pitchFamily="34" charset="0"/>
              </a:rPr>
              <a:t>;</a:t>
            </a:r>
            <a:endParaRPr lang="zh-CN" altLang="en-US" sz="2400" dirty="0">
              <a:latin typeface="Arial" panose="020B0604020202090204" pitchFamily="34" charset="0"/>
              <a:cs typeface="Arial" panose="020B0604020202090204" pitchFamily="34" charset="0"/>
            </a:endParaRPr>
          </a:p>
          <a:p>
            <a:pPr marL="715645" lvl="2" indent="0">
              <a:lnSpc>
                <a:spcPct val="100000"/>
              </a:lnSpc>
              <a:spcBef>
                <a:spcPct val="0"/>
              </a:spcBef>
              <a:buNone/>
            </a:pPr>
            <a:endParaRPr lang="zh-CN" altLang="en-US" sz="2400" dirty="0">
              <a:latin typeface="Arial" panose="020B0604020202090204" pitchFamily="34" charset="0"/>
              <a:cs typeface="Arial" panose="020B0604020202090204" pitchFamily="34" charset="0"/>
            </a:endParaRPr>
          </a:p>
          <a:p>
            <a:pPr>
              <a:lnSpc>
                <a:spcPct val="100000"/>
              </a:lnSpc>
              <a:spcBef>
                <a:spcPct val="0"/>
              </a:spcBef>
            </a:pPr>
            <a:r>
              <a:rPr lang="en-US" altLang="zh-CN" sz="2400" dirty="0"/>
              <a:t>S_G</a:t>
            </a:r>
            <a:r>
              <a:rPr lang="zh-CN" altLang="en-US" sz="2400" dirty="0"/>
              <a:t>视图的子查询定义： </a:t>
            </a:r>
            <a:endParaRPr lang="zh-CN" altLang="en-US" sz="2400" dirty="0"/>
          </a:p>
          <a:p>
            <a:pPr marL="715645" lvl="2" indent="0">
              <a:lnSpc>
                <a:spcPct val="100000"/>
              </a:lnSpc>
              <a:spcBef>
                <a:spcPts val="1000"/>
              </a:spcBef>
              <a:buNone/>
            </a:pPr>
            <a:r>
              <a:rPr lang="en-US" altLang="zh-CN" sz="2400" dirty="0">
                <a:latin typeface="Arial" panose="020B0604020202090204" pitchFamily="34" charset="0"/>
                <a:cs typeface="Arial" panose="020B0604020202090204" pitchFamily="34" charset="0"/>
              </a:rPr>
              <a:t>CREATE VIEW  S_G </a:t>
            </a:r>
            <a:r>
              <a:rPr lang="zh-CN" altLang="en-US" sz="2400" dirty="0">
                <a:latin typeface="Arial" panose="020B0604020202090204" pitchFamily="34" charset="0"/>
                <a:cs typeface="Arial" panose="020B0604020202090204" pitchFamily="34" charset="0"/>
              </a:rPr>
              <a:t>(</a:t>
            </a:r>
            <a:r>
              <a:rPr lang="en-US" altLang="zh-CN" sz="2400" dirty="0" err="1">
                <a:latin typeface="Arial" panose="020B0604020202090204" pitchFamily="34" charset="0"/>
                <a:cs typeface="Arial" panose="020B0604020202090204" pitchFamily="34" charset="0"/>
              </a:rPr>
              <a:t>Sno</a:t>
            </a:r>
            <a:r>
              <a:rPr lang="zh-CN" altLang="en-US" sz="2400" dirty="0">
                <a:latin typeface="Arial" panose="020B0604020202090204" pitchFamily="34" charset="0"/>
                <a:cs typeface="Arial" panose="020B0604020202090204" pitchFamily="34" charset="0"/>
              </a:rPr>
              <a:t>,</a:t>
            </a:r>
            <a:r>
              <a:rPr lang="en-US" altLang="zh-CN" sz="2400" dirty="0" err="1">
                <a:latin typeface="Arial" panose="020B0604020202090204" pitchFamily="34" charset="0"/>
                <a:cs typeface="Arial" panose="020B0604020202090204" pitchFamily="34" charset="0"/>
              </a:rPr>
              <a:t>Gavg</a:t>
            </a:r>
            <a:r>
              <a:rPr lang="zh-CN" altLang="en-US" sz="2400" dirty="0">
                <a:latin typeface="Arial" panose="020B0604020202090204" pitchFamily="34" charset="0"/>
                <a:cs typeface="Arial" panose="020B0604020202090204" pitchFamily="34" charset="0"/>
              </a:rPr>
              <a:t>)</a:t>
            </a:r>
            <a:endParaRPr lang="zh-CN" altLang="en-US" sz="2400" dirty="0">
              <a:latin typeface="Arial" panose="020B0604020202090204" pitchFamily="34" charset="0"/>
              <a:cs typeface="Arial" panose="020B0604020202090204" pitchFamily="34" charset="0"/>
            </a:endParaRPr>
          </a:p>
          <a:p>
            <a:pPr marL="715645" lvl="2" indent="0">
              <a:lnSpc>
                <a:spcPct val="100000"/>
              </a:lnSpc>
              <a:spcBef>
                <a:spcPct val="0"/>
              </a:spcBef>
              <a:buNone/>
            </a:pPr>
            <a:r>
              <a:rPr lang="en-US" altLang="zh-CN" sz="2400" dirty="0">
                <a:latin typeface="Arial" panose="020B0604020202090204" pitchFamily="34" charset="0"/>
                <a:cs typeface="Arial" panose="020B0604020202090204" pitchFamily="34" charset="0"/>
              </a:rPr>
              <a:t>AS </a:t>
            </a:r>
            <a:endParaRPr lang="en-US" altLang="zh-CN" sz="2400" dirty="0">
              <a:latin typeface="Arial" panose="020B0604020202090204" pitchFamily="34" charset="0"/>
              <a:cs typeface="Arial" panose="020B0604020202090204" pitchFamily="34" charset="0"/>
            </a:endParaRPr>
          </a:p>
          <a:p>
            <a:pPr marL="715645" lvl="2" indent="541020">
              <a:lnSpc>
                <a:spcPct val="100000"/>
              </a:lnSpc>
              <a:spcBef>
                <a:spcPct val="0"/>
              </a:spcBef>
              <a:buNone/>
            </a:pPr>
            <a:r>
              <a:rPr lang="en-US" altLang="zh-CN" sz="2400" dirty="0">
                <a:latin typeface="Arial" panose="020B0604020202090204" pitchFamily="34" charset="0"/>
                <a:cs typeface="Arial" panose="020B0604020202090204" pitchFamily="34" charset="0"/>
              </a:rPr>
              <a:t>SELECT  </a:t>
            </a:r>
            <a:r>
              <a:rPr lang="en-US" altLang="zh-CN" sz="2400" dirty="0" err="1">
                <a:latin typeface="Arial" panose="020B0604020202090204" pitchFamily="34" charset="0"/>
                <a:cs typeface="Arial" panose="020B0604020202090204" pitchFamily="34" charset="0"/>
              </a:rPr>
              <a:t>Sno</a:t>
            </a:r>
            <a:r>
              <a:rPr lang="zh-CN" altLang="en-US" sz="2400" dirty="0">
                <a:latin typeface="Arial" panose="020B0604020202090204" pitchFamily="34" charset="0"/>
                <a:cs typeface="Arial" panose="020B0604020202090204" pitchFamily="34" charset="0"/>
              </a:rPr>
              <a:t>,</a:t>
            </a:r>
            <a:r>
              <a:rPr lang="en-US" altLang="zh-CN" sz="2400" dirty="0">
                <a:latin typeface="Arial" panose="020B0604020202090204" pitchFamily="34" charset="0"/>
                <a:cs typeface="Arial" panose="020B0604020202090204" pitchFamily="34" charset="0"/>
              </a:rPr>
              <a:t> AVG</a:t>
            </a:r>
            <a:r>
              <a:rPr lang="zh-CN" altLang="en-US" sz="2400" dirty="0">
                <a:latin typeface="Arial" panose="020B0604020202090204" pitchFamily="34" charset="0"/>
                <a:cs typeface="Arial" panose="020B0604020202090204" pitchFamily="34" charset="0"/>
              </a:rPr>
              <a:t>(</a:t>
            </a:r>
            <a:r>
              <a:rPr lang="en-US" altLang="zh-CN" sz="2400" dirty="0">
                <a:latin typeface="Arial" panose="020B0604020202090204" pitchFamily="34" charset="0"/>
                <a:cs typeface="Arial" panose="020B0604020202090204" pitchFamily="34" charset="0"/>
              </a:rPr>
              <a:t>Grade</a:t>
            </a:r>
            <a:r>
              <a:rPr lang="zh-CN" altLang="en-US" sz="2400" dirty="0">
                <a:latin typeface="Arial" panose="020B0604020202090204" pitchFamily="34" charset="0"/>
                <a:cs typeface="Arial" panose="020B0604020202090204" pitchFamily="34" charset="0"/>
              </a:rPr>
              <a:t>)</a:t>
            </a:r>
            <a:endParaRPr lang="zh-CN" altLang="en-US" sz="2400" dirty="0">
              <a:latin typeface="Arial" panose="020B0604020202090204" pitchFamily="34" charset="0"/>
              <a:cs typeface="Arial" panose="020B0604020202090204" pitchFamily="34" charset="0"/>
            </a:endParaRPr>
          </a:p>
          <a:p>
            <a:pPr marL="715645" lvl="2" indent="541020">
              <a:lnSpc>
                <a:spcPct val="100000"/>
              </a:lnSpc>
              <a:spcBef>
                <a:spcPct val="0"/>
              </a:spcBef>
              <a:buNone/>
            </a:pPr>
            <a:r>
              <a:rPr lang="en-US" altLang="zh-CN" sz="2400" dirty="0">
                <a:latin typeface="Arial" panose="020B0604020202090204" pitchFamily="34" charset="0"/>
                <a:cs typeface="Arial" panose="020B0604020202090204" pitchFamily="34" charset="0"/>
              </a:rPr>
              <a:t>FROM   SC</a:t>
            </a:r>
            <a:endParaRPr lang="en-US" altLang="zh-CN" sz="2400" dirty="0">
              <a:latin typeface="Arial" panose="020B0604020202090204" pitchFamily="34" charset="0"/>
              <a:cs typeface="Arial" panose="020B0604020202090204" pitchFamily="34" charset="0"/>
            </a:endParaRPr>
          </a:p>
          <a:p>
            <a:pPr marL="715645" lvl="2" indent="541020">
              <a:lnSpc>
                <a:spcPct val="100000"/>
              </a:lnSpc>
              <a:spcBef>
                <a:spcPct val="0"/>
              </a:spcBef>
              <a:buNone/>
            </a:pPr>
            <a:r>
              <a:rPr lang="en-US" altLang="zh-CN" sz="2400" dirty="0">
                <a:latin typeface="Arial" panose="020B0604020202090204" pitchFamily="34" charset="0"/>
                <a:cs typeface="Arial" panose="020B0604020202090204" pitchFamily="34" charset="0"/>
              </a:rPr>
              <a:t>GROUP BY  </a:t>
            </a:r>
            <a:r>
              <a:rPr lang="en-US" altLang="zh-CN" sz="2400" dirty="0" err="1">
                <a:latin typeface="Arial" panose="020B0604020202090204" pitchFamily="34" charset="0"/>
                <a:cs typeface="Arial" panose="020B0604020202090204" pitchFamily="34" charset="0"/>
              </a:rPr>
              <a:t>Sno</a:t>
            </a:r>
            <a:r>
              <a:rPr lang="zh-CN" altLang="en-US" sz="2400" dirty="0">
                <a:latin typeface="Arial" panose="020B0604020202090204" pitchFamily="34" charset="0"/>
                <a:cs typeface="Arial" panose="020B0604020202090204" pitchFamily="34" charset="0"/>
              </a:rPr>
              <a:t>;</a:t>
            </a:r>
            <a:endParaRPr lang="zh-CN" altLang="en-US" sz="2400" dirty="0">
              <a:latin typeface="Arial" panose="020B0604020202090204" pitchFamily="34" charset="0"/>
              <a:cs typeface="Arial" panose="020B0604020202090204" pitchFamily="34" charset="0"/>
            </a:endParaRPr>
          </a:p>
        </p:txBody>
      </p:sp>
      <p:sp>
        <p:nvSpPr>
          <p:cNvPr id="2" name="内容占位符 1"/>
          <p:cNvSpPr>
            <a:spLocks noGrp="1"/>
          </p:cNvSpPr>
          <p:nvPr>
            <p:ph sz="half" idx="2"/>
          </p:nvPr>
        </p:nvSpPr>
        <p:spPr/>
        <p:txBody>
          <a:bodyPr>
            <a:noAutofit/>
          </a:bodyPr>
          <a:lstStyle/>
          <a:p>
            <a:pPr>
              <a:lnSpc>
                <a:spcPct val="100000"/>
              </a:lnSpc>
              <a:spcBef>
                <a:spcPct val="0"/>
              </a:spcBef>
            </a:pPr>
            <a:r>
              <a:rPr lang="zh-CN" altLang="en-US" sz="2400" dirty="0"/>
              <a:t>视图消解后得到的</a:t>
            </a:r>
            <a:r>
              <a:rPr lang="zh-CN" altLang="en-US" sz="2400" dirty="0"/>
              <a:t>查询：</a:t>
            </a:r>
            <a:endParaRPr lang="zh-CN" altLang="en-US" sz="2400" dirty="0"/>
          </a:p>
          <a:p>
            <a:pPr marL="363855" lvl="1" indent="0">
              <a:lnSpc>
                <a:spcPct val="100000"/>
              </a:lnSpc>
              <a:spcBef>
                <a:spcPts val="1000"/>
              </a:spcBef>
              <a:buNone/>
            </a:pPr>
            <a:r>
              <a:rPr lang="en-US" altLang="zh-CN" sz="2400" dirty="0">
                <a:solidFill>
                  <a:srgbClr val="C00000"/>
                </a:solidFill>
                <a:latin typeface="Arial" panose="020B0604020202090204" pitchFamily="34" charset="0"/>
                <a:cs typeface="Arial" panose="020B0604020202090204" pitchFamily="34" charset="0"/>
              </a:rPr>
              <a:t>SELECT  </a:t>
            </a:r>
            <a:r>
              <a:rPr lang="en-US" altLang="zh-CN" sz="2400" dirty="0" err="1">
                <a:solidFill>
                  <a:srgbClr val="C00000"/>
                </a:solidFill>
                <a:latin typeface="Arial" panose="020B0604020202090204" pitchFamily="34" charset="0"/>
                <a:cs typeface="Arial" panose="020B0604020202090204" pitchFamily="34" charset="0"/>
              </a:rPr>
              <a:t>Sno</a:t>
            </a:r>
            <a:r>
              <a:rPr lang="zh-CN" altLang="en-US" sz="2400" dirty="0">
                <a:solidFill>
                  <a:srgbClr val="C00000"/>
                </a:solidFill>
                <a:latin typeface="Arial" panose="020B0604020202090204" pitchFamily="34" charset="0"/>
                <a:cs typeface="Arial" panose="020B0604020202090204" pitchFamily="34" charset="0"/>
              </a:rPr>
              <a:t>,</a:t>
            </a:r>
            <a:r>
              <a:rPr lang="en-US" altLang="zh-CN" sz="2400" dirty="0">
                <a:solidFill>
                  <a:srgbClr val="C00000"/>
                </a:solidFill>
                <a:latin typeface="Arial" panose="020B0604020202090204" pitchFamily="34" charset="0"/>
                <a:cs typeface="Arial" panose="020B0604020202090204" pitchFamily="34" charset="0"/>
              </a:rPr>
              <a:t>AVG</a:t>
            </a:r>
            <a:r>
              <a:rPr lang="zh-CN" altLang="en-US" sz="2400" dirty="0">
                <a:solidFill>
                  <a:srgbClr val="C00000"/>
                </a:solidFill>
                <a:latin typeface="Arial" panose="020B0604020202090204" pitchFamily="34" charset="0"/>
                <a:cs typeface="Arial" panose="020B0604020202090204" pitchFamily="34" charset="0"/>
              </a:rPr>
              <a:t>(</a:t>
            </a:r>
            <a:r>
              <a:rPr lang="en-US" altLang="zh-CN" sz="2400" dirty="0">
                <a:solidFill>
                  <a:srgbClr val="C00000"/>
                </a:solidFill>
                <a:latin typeface="Arial" panose="020B0604020202090204" pitchFamily="34" charset="0"/>
                <a:cs typeface="Arial" panose="020B0604020202090204" pitchFamily="34" charset="0"/>
              </a:rPr>
              <a:t>Grade</a:t>
            </a:r>
            <a:r>
              <a:rPr lang="zh-CN" altLang="en-US" sz="2400" dirty="0">
                <a:solidFill>
                  <a:srgbClr val="C00000"/>
                </a:solidFill>
                <a:latin typeface="Arial" panose="020B0604020202090204" pitchFamily="34" charset="0"/>
                <a:cs typeface="Arial" panose="020B0604020202090204" pitchFamily="34" charset="0"/>
              </a:rPr>
              <a:t>)</a:t>
            </a:r>
            <a:endParaRPr lang="zh-CN" altLang="en-US" sz="2400" dirty="0">
              <a:solidFill>
                <a:srgbClr val="C00000"/>
              </a:solidFill>
              <a:latin typeface="Arial" panose="020B0604020202090204" pitchFamily="34" charset="0"/>
              <a:cs typeface="Arial" panose="020B0604020202090204" pitchFamily="34" charset="0"/>
            </a:endParaRPr>
          </a:p>
          <a:p>
            <a:pPr marL="363855" lvl="1" indent="0">
              <a:lnSpc>
                <a:spcPct val="100000"/>
              </a:lnSpc>
              <a:spcBef>
                <a:spcPct val="0"/>
              </a:spcBef>
              <a:buNone/>
            </a:pPr>
            <a:r>
              <a:rPr lang="en-US" altLang="zh-CN" sz="2400" dirty="0">
                <a:solidFill>
                  <a:srgbClr val="C00000"/>
                </a:solidFill>
                <a:latin typeface="Arial" panose="020B0604020202090204" pitchFamily="34" charset="0"/>
                <a:cs typeface="Arial" panose="020B0604020202090204" pitchFamily="34" charset="0"/>
              </a:rPr>
              <a:t>FROM  SC</a:t>
            </a:r>
            <a:endParaRPr lang="en-US" altLang="zh-CN" sz="2400" dirty="0">
              <a:solidFill>
                <a:srgbClr val="C00000"/>
              </a:solidFill>
              <a:latin typeface="Arial" panose="020B0604020202090204" pitchFamily="34" charset="0"/>
              <a:cs typeface="Arial" panose="020B0604020202090204" pitchFamily="34" charset="0"/>
            </a:endParaRPr>
          </a:p>
          <a:p>
            <a:pPr marL="363855" lvl="1" indent="0">
              <a:lnSpc>
                <a:spcPct val="100000"/>
              </a:lnSpc>
              <a:spcBef>
                <a:spcPct val="0"/>
              </a:spcBef>
              <a:buNone/>
            </a:pPr>
            <a:r>
              <a:rPr lang="en-US" altLang="zh-CN" sz="2400" dirty="0">
                <a:solidFill>
                  <a:srgbClr val="C00000"/>
                </a:solidFill>
                <a:latin typeface="Arial" panose="020B0604020202090204" pitchFamily="34" charset="0"/>
                <a:cs typeface="Arial" panose="020B0604020202090204" pitchFamily="34" charset="0"/>
              </a:rPr>
              <a:t>GROUP BY </a:t>
            </a:r>
            <a:r>
              <a:rPr lang="en-US" altLang="zh-CN" sz="2400" dirty="0" err="1">
                <a:solidFill>
                  <a:srgbClr val="C00000"/>
                </a:solidFill>
                <a:latin typeface="Arial" panose="020B0604020202090204" pitchFamily="34" charset="0"/>
                <a:cs typeface="Arial" panose="020B0604020202090204" pitchFamily="34" charset="0"/>
              </a:rPr>
              <a:t>Sno</a:t>
            </a:r>
            <a:endParaRPr lang="en-US" altLang="zh-CN" sz="2400" dirty="0">
              <a:solidFill>
                <a:srgbClr val="C00000"/>
              </a:solidFill>
              <a:latin typeface="Arial" panose="020B0604020202090204" pitchFamily="34" charset="0"/>
              <a:cs typeface="Arial" panose="020B0604020202090204" pitchFamily="34" charset="0"/>
            </a:endParaRPr>
          </a:p>
          <a:p>
            <a:pPr marL="363855" lvl="1" indent="0">
              <a:lnSpc>
                <a:spcPct val="100000"/>
              </a:lnSpc>
              <a:spcBef>
                <a:spcPct val="0"/>
              </a:spcBef>
              <a:buNone/>
            </a:pPr>
            <a:r>
              <a:rPr lang="en-US" altLang="zh-CN" sz="2400" dirty="0">
                <a:solidFill>
                  <a:srgbClr val="C00000"/>
                </a:solidFill>
                <a:latin typeface="Arial" panose="020B0604020202090204" pitchFamily="34" charset="0"/>
                <a:cs typeface="Arial" panose="020B0604020202090204" pitchFamily="34" charset="0"/>
              </a:rPr>
              <a:t>HAVING AVG</a:t>
            </a:r>
            <a:r>
              <a:rPr lang="zh-CN" altLang="en-US" sz="2400" dirty="0">
                <a:solidFill>
                  <a:srgbClr val="C00000"/>
                </a:solidFill>
                <a:latin typeface="Arial" panose="020B0604020202090204" pitchFamily="34" charset="0"/>
                <a:cs typeface="Arial" panose="020B0604020202090204" pitchFamily="34" charset="0"/>
              </a:rPr>
              <a:t>(</a:t>
            </a:r>
            <a:r>
              <a:rPr lang="en-US" altLang="zh-CN" sz="2400" dirty="0">
                <a:solidFill>
                  <a:srgbClr val="C00000"/>
                </a:solidFill>
                <a:latin typeface="Arial" panose="020B0604020202090204" pitchFamily="34" charset="0"/>
                <a:cs typeface="Arial" panose="020B0604020202090204" pitchFamily="34" charset="0"/>
              </a:rPr>
              <a:t>Grade</a:t>
            </a:r>
            <a:r>
              <a:rPr lang="zh-CN" altLang="en-US" sz="2400" dirty="0">
                <a:solidFill>
                  <a:srgbClr val="C00000"/>
                </a:solidFill>
                <a:latin typeface="Arial" panose="020B0604020202090204" pitchFamily="34" charset="0"/>
                <a:cs typeface="Arial" panose="020B0604020202090204" pitchFamily="34" charset="0"/>
              </a:rPr>
              <a:t>)</a:t>
            </a:r>
            <a:r>
              <a:rPr lang="en-US" altLang="zh-CN" sz="2400" dirty="0">
                <a:solidFill>
                  <a:srgbClr val="C00000"/>
                </a:solidFill>
                <a:latin typeface="Arial" panose="020B0604020202090204" pitchFamily="34" charset="0"/>
                <a:cs typeface="Arial" panose="020B0604020202090204" pitchFamily="34" charset="0"/>
              </a:rPr>
              <a:t>&gt;=90</a:t>
            </a:r>
            <a:r>
              <a:rPr lang="zh-CN" altLang="en-US" sz="2400" dirty="0">
                <a:solidFill>
                  <a:srgbClr val="C00000"/>
                </a:solidFill>
                <a:latin typeface="Arial" panose="020B0604020202090204" pitchFamily="34" charset="0"/>
                <a:cs typeface="Arial" panose="020B0604020202090204" pitchFamily="34" charset="0"/>
              </a:rPr>
              <a:t>;</a:t>
            </a:r>
            <a:endParaRPr lang="zh-CN" altLang="en-US" sz="2400" dirty="0">
              <a:solidFill>
                <a:srgbClr val="C00000"/>
              </a:solidFill>
              <a:latin typeface="Arial" panose="020B0604020202090204" pitchFamily="34" charset="0"/>
              <a:cs typeface="Arial" panose="020B0604020202090204" pitchFamily="34" charset="0"/>
            </a:endParaRPr>
          </a:p>
          <a:p>
            <a:pPr marL="363855" lvl="1" indent="0">
              <a:lnSpc>
                <a:spcPct val="100000"/>
              </a:lnSpc>
              <a:spcBef>
                <a:spcPct val="0"/>
              </a:spcBef>
              <a:buNone/>
            </a:pPr>
            <a:endParaRPr lang="en-US" altLang="zh-CN" sz="2400" dirty="0">
              <a:latin typeface="Arial" panose="020B0604020202090204" pitchFamily="34" charset="0"/>
              <a:cs typeface="Arial" panose="020B0604020202090204" pitchFamily="34" charset="0"/>
            </a:endParaRPr>
          </a:p>
          <a:p>
            <a:pPr lvl="0">
              <a:lnSpc>
                <a:spcPct val="100000"/>
              </a:lnSpc>
              <a:spcBef>
                <a:spcPct val="0"/>
              </a:spcBef>
            </a:pPr>
            <a:r>
              <a:rPr lang="zh-CN" altLang="en-US" sz="2570" dirty="0"/>
              <a:t>或者，直接在基本表上</a:t>
            </a:r>
            <a:r>
              <a:rPr lang="zh-CN" altLang="en-US" sz="2570" dirty="0"/>
              <a:t>组织查询</a:t>
            </a:r>
            <a:endParaRPr lang="en-US" altLang="zh-CN" sz="2570" dirty="0"/>
          </a:p>
          <a:p>
            <a:pPr marL="363855" lvl="1" indent="0">
              <a:lnSpc>
                <a:spcPct val="100000"/>
              </a:lnSpc>
              <a:spcBef>
                <a:spcPts val="1000"/>
              </a:spcBef>
              <a:buNone/>
            </a:pPr>
            <a:r>
              <a:rPr lang="en-US" altLang="zh-CN" sz="2400" dirty="0">
                <a:solidFill>
                  <a:srgbClr val="C00000"/>
                </a:solidFill>
                <a:latin typeface="Arial" panose="020B0604020202090204" pitchFamily="34" charset="0"/>
                <a:cs typeface="Arial" panose="020B0604020202090204" pitchFamily="34" charset="0"/>
              </a:rPr>
              <a:t>SELECT *</a:t>
            </a:r>
            <a:endParaRPr lang="zh-CN" altLang="en-US" sz="2400" dirty="0">
              <a:solidFill>
                <a:srgbClr val="C00000"/>
              </a:solidFill>
              <a:latin typeface="Arial" panose="020B0604020202090204" pitchFamily="34" charset="0"/>
              <a:cs typeface="Arial" panose="020B0604020202090204" pitchFamily="34" charset="0"/>
            </a:endParaRPr>
          </a:p>
          <a:p>
            <a:pPr marL="363855" lvl="1" indent="0">
              <a:lnSpc>
                <a:spcPct val="100000"/>
              </a:lnSpc>
              <a:spcBef>
                <a:spcPts val="800"/>
              </a:spcBef>
              <a:buNone/>
            </a:pPr>
            <a:r>
              <a:rPr lang="en-US" altLang="zh-CN" sz="2400" dirty="0">
                <a:solidFill>
                  <a:srgbClr val="C00000"/>
                </a:solidFill>
                <a:latin typeface="Arial" panose="020B0604020202090204" pitchFamily="34" charset="0"/>
                <a:cs typeface="Arial" panose="020B0604020202090204" pitchFamily="34" charset="0"/>
              </a:rPr>
              <a:t>FROM  </a:t>
            </a:r>
            <a:r>
              <a:rPr lang="zh-CN" altLang="en-US" sz="2400" dirty="0">
                <a:solidFill>
                  <a:srgbClr val="C00000"/>
                </a:solidFill>
                <a:latin typeface="Arial" panose="020B0604020202090204" pitchFamily="34" charset="0"/>
                <a:cs typeface="Arial" panose="020B0604020202090204" pitchFamily="34" charset="0"/>
              </a:rPr>
              <a:t>(</a:t>
            </a:r>
            <a:r>
              <a:rPr lang="en-US" altLang="zh-CN" sz="2400" dirty="0">
                <a:solidFill>
                  <a:srgbClr val="C00000"/>
                </a:solidFill>
                <a:latin typeface="Arial" panose="020B0604020202090204" pitchFamily="34" charset="0"/>
                <a:cs typeface="Arial" panose="020B0604020202090204" pitchFamily="34" charset="0"/>
              </a:rPr>
              <a:t>SELECT </a:t>
            </a:r>
            <a:r>
              <a:rPr lang="en-US" altLang="zh-CN" sz="2400" dirty="0" err="1">
                <a:solidFill>
                  <a:srgbClr val="C00000"/>
                </a:solidFill>
                <a:latin typeface="Arial" panose="020B0604020202090204" pitchFamily="34" charset="0"/>
                <a:cs typeface="Arial" panose="020B0604020202090204" pitchFamily="34" charset="0"/>
              </a:rPr>
              <a:t>Sno</a:t>
            </a:r>
            <a:r>
              <a:rPr lang="zh-CN" altLang="en-US" sz="2400" dirty="0">
                <a:solidFill>
                  <a:srgbClr val="C00000"/>
                </a:solidFill>
                <a:latin typeface="Arial" panose="020B0604020202090204" pitchFamily="34" charset="0"/>
                <a:cs typeface="Arial" panose="020B0604020202090204" pitchFamily="34" charset="0"/>
              </a:rPr>
              <a:t>,</a:t>
            </a:r>
            <a:r>
              <a:rPr lang="en-US" altLang="zh-CN" sz="2400" dirty="0">
                <a:solidFill>
                  <a:srgbClr val="C00000"/>
                </a:solidFill>
                <a:latin typeface="Arial" panose="020B0604020202090204" pitchFamily="34" charset="0"/>
                <a:cs typeface="Arial" panose="020B0604020202090204" pitchFamily="34" charset="0"/>
              </a:rPr>
              <a:t>AVG</a:t>
            </a:r>
            <a:r>
              <a:rPr lang="zh-CN" altLang="en-US" sz="2400" dirty="0">
                <a:solidFill>
                  <a:srgbClr val="C00000"/>
                </a:solidFill>
                <a:latin typeface="Arial" panose="020B0604020202090204" pitchFamily="34" charset="0"/>
                <a:cs typeface="Arial" panose="020B0604020202090204" pitchFamily="34" charset="0"/>
              </a:rPr>
              <a:t>(</a:t>
            </a:r>
            <a:r>
              <a:rPr lang="en-US" altLang="zh-CN" sz="2400" dirty="0">
                <a:solidFill>
                  <a:srgbClr val="C00000"/>
                </a:solidFill>
                <a:latin typeface="Arial" panose="020B0604020202090204" pitchFamily="34" charset="0"/>
                <a:cs typeface="Arial" panose="020B0604020202090204" pitchFamily="34" charset="0"/>
              </a:rPr>
              <a:t>Grade</a:t>
            </a:r>
            <a:r>
              <a:rPr lang="zh-CN" altLang="en-US" sz="2400" dirty="0">
                <a:solidFill>
                  <a:srgbClr val="C00000"/>
                </a:solidFill>
                <a:latin typeface="Arial" panose="020B0604020202090204" pitchFamily="34" charset="0"/>
                <a:cs typeface="Arial" panose="020B0604020202090204" pitchFamily="34" charset="0"/>
              </a:rPr>
              <a:t>)</a:t>
            </a:r>
            <a:endParaRPr lang="zh-CN" altLang="en-US" sz="2400" dirty="0">
              <a:solidFill>
                <a:srgbClr val="C00000"/>
              </a:solidFill>
              <a:latin typeface="Arial" panose="020B0604020202090204" pitchFamily="34" charset="0"/>
              <a:cs typeface="Arial" panose="020B0604020202090204" pitchFamily="34" charset="0"/>
            </a:endParaRPr>
          </a:p>
          <a:p>
            <a:pPr marL="363855" lvl="1" indent="0">
              <a:lnSpc>
                <a:spcPct val="100000"/>
              </a:lnSpc>
              <a:spcBef>
                <a:spcPct val="0"/>
              </a:spcBef>
              <a:buNone/>
            </a:pPr>
            <a:r>
              <a:rPr lang="en-US" altLang="zh-CN" sz="2400" dirty="0">
                <a:solidFill>
                  <a:srgbClr val="C00000"/>
                </a:solidFill>
                <a:latin typeface="Arial" panose="020B0604020202090204" pitchFamily="34" charset="0"/>
                <a:cs typeface="Arial" panose="020B0604020202090204" pitchFamily="34" charset="0"/>
              </a:rPr>
              <a:t>	       FROM  SC </a:t>
            </a:r>
            <a:endParaRPr lang="zh-CN" altLang="en-US" sz="2400" dirty="0">
              <a:solidFill>
                <a:srgbClr val="C00000"/>
              </a:solidFill>
              <a:latin typeface="Arial" panose="020B0604020202090204" pitchFamily="34" charset="0"/>
              <a:cs typeface="Arial" panose="020B0604020202090204" pitchFamily="34" charset="0"/>
            </a:endParaRPr>
          </a:p>
          <a:p>
            <a:pPr marL="363855" lvl="1" indent="0">
              <a:lnSpc>
                <a:spcPct val="100000"/>
              </a:lnSpc>
              <a:spcBef>
                <a:spcPct val="0"/>
              </a:spcBef>
              <a:buNone/>
            </a:pPr>
            <a:r>
              <a:rPr lang="en-US" altLang="zh-CN" sz="2400" dirty="0">
                <a:solidFill>
                  <a:srgbClr val="C00000"/>
                </a:solidFill>
                <a:latin typeface="Arial" panose="020B0604020202090204" pitchFamily="34" charset="0"/>
                <a:cs typeface="Arial" panose="020B0604020202090204" pitchFamily="34" charset="0"/>
              </a:rPr>
              <a:t>	       GROUP BY </a:t>
            </a:r>
            <a:r>
              <a:rPr lang="en-US" altLang="zh-CN" sz="2400" dirty="0" err="1">
                <a:solidFill>
                  <a:srgbClr val="C00000"/>
                </a:solidFill>
                <a:latin typeface="Arial" panose="020B0604020202090204" pitchFamily="34" charset="0"/>
                <a:cs typeface="Arial" panose="020B0604020202090204" pitchFamily="34" charset="0"/>
              </a:rPr>
              <a:t>Sno</a:t>
            </a:r>
            <a:r>
              <a:rPr lang="zh-CN" altLang="en-US" sz="2400" dirty="0">
                <a:solidFill>
                  <a:srgbClr val="C00000"/>
                </a:solidFill>
                <a:latin typeface="Arial" panose="020B0604020202090204" pitchFamily="34" charset="0"/>
                <a:cs typeface="Arial" panose="020B0604020202090204" pitchFamily="34" charset="0"/>
              </a:rPr>
              <a:t>)</a:t>
            </a:r>
            <a:r>
              <a:rPr lang="en-US" altLang="zh-CN" sz="2400" dirty="0">
                <a:solidFill>
                  <a:srgbClr val="C00000"/>
                </a:solidFill>
                <a:latin typeface="Arial" panose="020B0604020202090204" pitchFamily="34" charset="0"/>
                <a:cs typeface="Arial" panose="020B0604020202090204" pitchFamily="34" charset="0"/>
              </a:rPr>
              <a:t> </a:t>
            </a:r>
            <a:endParaRPr lang="en-US" altLang="zh-CN" sz="2400" dirty="0">
              <a:solidFill>
                <a:srgbClr val="C00000"/>
              </a:solidFill>
              <a:latin typeface="Arial" panose="020B0604020202090204" pitchFamily="34" charset="0"/>
              <a:cs typeface="Arial" panose="020B0604020202090204" pitchFamily="34" charset="0"/>
            </a:endParaRPr>
          </a:p>
          <a:p>
            <a:pPr marL="363855" lvl="1" indent="1112520">
              <a:lnSpc>
                <a:spcPct val="100000"/>
              </a:lnSpc>
              <a:spcBef>
                <a:spcPct val="0"/>
              </a:spcBef>
              <a:buNone/>
            </a:pPr>
            <a:r>
              <a:rPr lang="en-US" altLang="zh-CN" sz="2400" dirty="0">
                <a:solidFill>
                  <a:srgbClr val="C00000"/>
                </a:solidFill>
                <a:latin typeface="Arial" panose="020B0604020202090204" pitchFamily="34" charset="0"/>
                <a:cs typeface="Arial" panose="020B0604020202090204" pitchFamily="34" charset="0"/>
              </a:rPr>
              <a:t>AS S_G</a:t>
            </a:r>
            <a:r>
              <a:rPr lang="zh-CN" altLang="en-US" sz="2400" dirty="0">
                <a:solidFill>
                  <a:srgbClr val="C00000"/>
                </a:solidFill>
                <a:latin typeface="Arial" panose="020B0604020202090204" pitchFamily="34" charset="0"/>
                <a:cs typeface="Arial" panose="020B0604020202090204" pitchFamily="34" charset="0"/>
              </a:rPr>
              <a:t>(</a:t>
            </a:r>
            <a:r>
              <a:rPr lang="en-US" altLang="zh-CN" sz="2400" dirty="0" err="1">
                <a:solidFill>
                  <a:srgbClr val="C00000"/>
                </a:solidFill>
                <a:latin typeface="Arial" panose="020B0604020202090204" pitchFamily="34" charset="0"/>
                <a:cs typeface="Arial" panose="020B0604020202090204" pitchFamily="34" charset="0"/>
              </a:rPr>
              <a:t>Sno,Gavg</a:t>
            </a:r>
            <a:r>
              <a:rPr lang="zh-CN" altLang="en-US" sz="2400" dirty="0">
                <a:solidFill>
                  <a:srgbClr val="C00000"/>
                </a:solidFill>
                <a:latin typeface="Arial" panose="020B0604020202090204" pitchFamily="34" charset="0"/>
                <a:cs typeface="Arial" panose="020B0604020202090204" pitchFamily="34" charset="0"/>
              </a:rPr>
              <a:t>)</a:t>
            </a:r>
            <a:endParaRPr lang="zh-CN" altLang="en-US" sz="2400" dirty="0">
              <a:solidFill>
                <a:srgbClr val="C00000"/>
              </a:solidFill>
              <a:latin typeface="Arial" panose="020B0604020202090204" pitchFamily="34" charset="0"/>
              <a:cs typeface="Arial" panose="020B0604020202090204" pitchFamily="34" charset="0"/>
            </a:endParaRPr>
          </a:p>
          <a:p>
            <a:pPr marL="363855" lvl="1" indent="0">
              <a:lnSpc>
                <a:spcPct val="100000"/>
              </a:lnSpc>
              <a:spcBef>
                <a:spcPts val="800"/>
              </a:spcBef>
              <a:buNone/>
            </a:pPr>
            <a:r>
              <a:rPr lang="en-US" altLang="zh-CN" sz="2400" dirty="0">
                <a:solidFill>
                  <a:srgbClr val="C00000"/>
                </a:solidFill>
                <a:latin typeface="Arial" panose="020B0604020202090204" pitchFamily="34" charset="0"/>
                <a:cs typeface="Arial" panose="020B0604020202090204" pitchFamily="34" charset="0"/>
              </a:rPr>
              <a:t>WHERE </a:t>
            </a:r>
            <a:r>
              <a:rPr lang="en-US" altLang="zh-CN" sz="2400" dirty="0" err="1">
                <a:solidFill>
                  <a:srgbClr val="C00000"/>
                </a:solidFill>
                <a:latin typeface="Arial" panose="020B0604020202090204" pitchFamily="34" charset="0"/>
                <a:cs typeface="Arial" panose="020B0604020202090204" pitchFamily="34" charset="0"/>
              </a:rPr>
              <a:t>Gavg</a:t>
            </a:r>
            <a:r>
              <a:rPr lang="en-US" altLang="zh-CN" sz="2400" dirty="0">
                <a:solidFill>
                  <a:srgbClr val="C00000"/>
                </a:solidFill>
                <a:latin typeface="Arial" panose="020B0604020202090204" pitchFamily="34" charset="0"/>
                <a:cs typeface="Arial" panose="020B0604020202090204" pitchFamily="34" charset="0"/>
              </a:rPr>
              <a:t>&gt;=90</a:t>
            </a:r>
            <a:r>
              <a:rPr lang="zh-CN" altLang="en-US" sz="2400" dirty="0">
                <a:solidFill>
                  <a:srgbClr val="C00000"/>
                </a:solidFill>
                <a:latin typeface="Arial" panose="020B0604020202090204" pitchFamily="34" charset="0"/>
                <a:cs typeface="Arial" panose="020B0604020202090204" pitchFamily="34" charset="0"/>
              </a:rPr>
              <a:t>;</a:t>
            </a:r>
            <a:endParaRPr lang="zh-CN" altLang="en-US" sz="2400" dirty="0">
              <a:solidFill>
                <a:srgbClr val="C00000"/>
              </a:solidFill>
              <a:latin typeface="Arial" panose="020B0604020202090204" pitchFamily="34" charset="0"/>
              <a:cs typeface="Arial" panose="020B0604020202090204" pitchFamily="34" charset="0"/>
            </a:endParaRPr>
          </a:p>
        </p:txBody>
      </p:sp>
      <p:sp>
        <p:nvSpPr>
          <p:cNvPr id="3" name="灯片编号占位符 2"/>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5" name="页脚占位符 4"/>
          <p:cNvSpPr>
            <a:spLocks noGrp="1"/>
          </p:cNvSpPr>
          <p:nvPr>
            <p:ph type="ftr" sz="quarter" idx="11"/>
          </p:nvPr>
        </p:nvSpPr>
        <p:spPr/>
        <p:txBody>
          <a:bodyPr/>
          <a:p>
            <a:r>
              <a:rPr lang="zh-CN" altLang="en-US"/>
              <a:t>ch03_3_SQL数据更新</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1443">
                                            <p:txEl>
                                              <p:pRg st="5" end="5"/>
                                            </p:txEl>
                                          </p:spTgt>
                                        </p:tgtEl>
                                        <p:attrNameLst>
                                          <p:attrName>style.visibility</p:attrName>
                                        </p:attrNameLst>
                                      </p:cBhvr>
                                      <p:to>
                                        <p:strVal val="visible"/>
                                      </p:to>
                                    </p:set>
                                    <p:animEffect transition="in" filter="blinds(horizontal)">
                                      <p:cBhvr>
                                        <p:cTn id="7" dur="500"/>
                                        <p:tgtEl>
                                          <p:spTgt spid="61443">
                                            <p:txEl>
                                              <p:pRg st="5" end="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1443">
                                            <p:txEl>
                                              <p:pRg st="6" end="6"/>
                                            </p:txEl>
                                          </p:spTgt>
                                        </p:tgtEl>
                                        <p:attrNameLst>
                                          <p:attrName>style.visibility</p:attrName>
                                        </p:attrNameLst>
                                      </p:cBhvr>
                                      <p:to>
                                        <p:strVal val="visible"/>
                                      </p:to>
                                    </p:set>
                                    <p:animEffect transition="in" filter="blinds(horizontal)">
                                      <p:cBhvr>
                                        <p:cTn id="10" dur="500"/>
                                        <p:tgtEl>
                                          <p:spTgt spid="61443">
                                            <p:txEl>
                                              <p:pRg st="6" end="6"/>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1443">
                                            <p:txEl>
                                              <p:pRg st="7" end="7"/>
                                            </p:txEl>
                                          </p:spTgt>
                                        </p:tgtEl>
                                        <p:attrNameLst>
                                          <p:attrName>style.visibility</p:attrName>
                                        </p:attrNameLst>
                                      </p:cBhvr>
                                      <p:to>
                                        <p:strVal val="visible"/>
                                      </p:to>
                                    </p:set>
                                    <p:animEffect transition="in" filter="blinds(horizontal)">
                                      <p:cBhvr>
                                        <p:cTn id="13" dur="500"/>
                                        <p:tgtEl>
                                          <p:spTgt spid="61443">
                                            <p:txEl>
                                              <p:pRg st="7" end="7"/>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61443">
                                            <p:txEl>
                                              <p:pRg st="8" end="8"/>
                                            </p:txEl>
                                          </p:spTgt>
                                        </p:tgtEl>
                                        <p:attrNameLst>
                                          <p:attrName>style.visibility</p:attrName>
                                        </p:attrNameLst>
                                      </p:cBhvr>
                                      <p:to>
                                        <p:strVal val="visible"/>
                                      </p:to>
                                    </p:set>
                                    <p:animEffect transition="in" filter="blinds(horizontal)">
                                      <p:cBhvr>
                                        <p:cTn id="16" dur="500"/>
                                        <p:tgtEl>
                                          <p:spTgt spid="61443">
                                            <p:txEl>
                                              <p:pRg st="8" end="8"/>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61443">
                                            <p:txEl>
                                              <p:pRg st="9" end="9"/>
                                            </p:txEl>
                                          </p:spTgt>
                                        </p:tgtEl>
                                        <p:attrNameLst>
                                          <p:attrName>style.visibility</p:attrName>
                                        </p:attrNameLst>
                                      </p:cBhvr>
                                      <p:to>
                                        <p:strVal val="visible"/>
                                      </p:to>
                                    </p:set>
                                    <p:animEffect transition="in" filter="blinds(horizontal)">
                                      <p:cBhvr>
                                        <p:cTn id="19" dur="500"/>
                                        <p:tgtEl>
                                          <p:spTgt spid="61443">
                                            <p:txEl>
                                              <p:pRg st="9" end="9"/>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61443">
                                            <p:txEl>
                                              <p:pRg st="10" end="10"/>
                                            </p:txEl>
                                          </p:spTgt>
                                        </p:tgtEl>
                                        <p:attrNameLst>
                                          <p:attrName>style.visibility</p:attrName>
                                        </p:attrNameLst>
                                      </p:cBhvr>
                                      <p:to>
                                        <p:strVal val="visible"/>
                                      </p:to>
                                    </p:set>
                                    <p:animEffect transition="in" filter="blinds(horizontal)">
                                      <p:cBhvr>
                                        <p:cTn id="22" dur="500"/>
                                        <p:tgtEl>
                                          <p:spTgt spid="61443">
                                            <p:txEl>
                                              <p:pRg st="10" end="1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
                                            <p:txEl>
                                              <p:pRg st="0" end="0"/>
                                            </p:txEl>
                                          </p:spTgt>
                                        </p:tgtEl>
                                        <p:attrNameLst>
                                          <p:attrName>style.visibility</p:attrName>
                                        </p:attrNameLst>
                                      </p:cBhvr>
                                      <p:to>
                                        <p:strVal val="visible"/>
                                      </p:to>
                                    </p:set>
                                    <p:animEffect transition="in" filter="blinds(horizontal)">
                                      <p:cBhvr>
                                        <p:cTn id="27" dur="500"/>
                                        <p:tgtEl>
                                          <p:spTgt spid="2">
                                            <p:txEl>
                                              <p:pRg st="0" end="0"/>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2">
                                            <p:txEl>
                                              <p:pRg st="1" end="1"/>
                                            </p:txEl>
                                          </p:spTgt>
                                        </p:tgtEl>
                                        <p:attrNameLst>
                                          <p:attrName>style.visibility</p:attrName>
                                        </p:attrNameLst>
                                      </p:cBhvr>
                                      <p:to>
                                        <p:strVal val="visible"/>
                                      </p:to>
                                    </p:set>
                                    <p:animEffect transition="in" filter="blinds(horizontal)">
                                      <p:cBhvr>
                                        <p:cTn id="30" dur="500"/>
                                        <p:tgtEl>
                                          <p:spTgt spid="2">
                                            <p:txEl>
                                              <p:pRg st="1" end="1"/>
                                            </p:txEl>
                                          </p:spTgt>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2">
                                            <p:txEl>
                                              <p:pRg st="2" end="2"/>
                                            </p:txEl>
                                          </p:spTgt>
                                        </p:tgtEl>
                                        <p:attrNameLst>
                                          <p:attrName>style.visibility</p:attrName>
                                        </p:attrNameLst>
                                      </p:cBhvr>
                                      <p:to>
                                        <p:strVal val="visible"/>
                                      </p:to>
                                    </p:set>
                                    <p:animEffect transition="in" filter="blinds(horizontal)">
                                      <p:cBhvr>
                                        <p:cTn id="33" dur="500"/>
                                        <p:tgtEl>
                                          <p:spTgt spid="2">
                                            <p:txEl>
                                              <p:pRg st="2" end="2"/>
                                            </p:txEl>
                                          </p:spTgt>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2">
                                            <p:txEl>
                                              <p:pRg st="3" end="3"/>
                                            </p:txEl>
                                          </p:spTgt>
                                        </p:tgtEl>
                                        <p:attrNameLst>
                                          <p:attrName>style.visibility</p:attrName>
                                        </p:attrNameLst>
                                      </p:cBhvr>
                                      <p:to>
                                        <p:strVal val="visible"/>
                                      </p:to>
                                    </p:set>
                                    <p:animEffect transition="in" filter="blinds(horizontal)">
                                      <p:cBhvr>
                                        <p:cTn id="36" dur="500"/>
                                        <p:tgtEl>
                                          <p:spTgt spid="2">
                                            <p:txEl>
                                              <p:pRg st="3" end="3"/>
                                            </p:txEl>
                                          </p:spTgt>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2">
                                            <p:txEl>
                                              <p:pRg st="4" end="4"/>
                                            </p:txEl>
                                          </p:spTgt>
                                        </p:tgtEl>
                                        <p:attrNameLst>
                                          <p:attrName>style.visibility</p:attrName>
                                        </p:attrNameLst>
                                      </p:cBhvr>
                                      <p:to>
                                        <p:strVal val="visible"/>
                                      </p:to>
                                    </p:set>
                                    <p:animEffect transition="in" filter="blinds(horizontal)">
                                      <p:cBhvr>
                                        <p:cTn id="39" dur="500"/>
                                        <p:tgtEl>
                                          <p:spTgt spid="2">
                                            <p:txEl>
                                              <p:pRg st="4" end="4"/>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2">
                                            <p:txEl>
                                              <p:pRg st="6" end="6"/>
                                            </p:txEl>
                                          </p:spTgt>
                                        </p:tgtEl>
                                        <p:attrNameLst>
                                          <p:attrName>style.visibility</p:attrName>
                                        </p:attrNameLst>
                                      </p:cBhvr>
                                      <p:to>
                                        <p:strVal val="visible"/>
                                      </p:to>
                                    </p:set>
                                    <p:animEffect transition="in" filter="blinds(horizontal)">
                                      <p:cBhvr>
                                        <p:cTn id="44" dur="500"/>
                                        <p:tgtEl>
                                          <p:spTgt spid="2">
                                            <p:txEl>
                                              <p:pRg st="6" end="6"/>
                                            </p:txEl>
                                          </p:spTgt>
                                        </p:tgtEl>
                                      </p:cBhvr>
                                    </p:animEffect>
                                  </p:childTnLst>
                                </p:cTn>
                              </p:par>
                              <p:par>
                                <p:cTn id="45" presetID="3" presetClass="entr" presetSubtype="10" fill="hold" grpId="0" nodeType="withEffect">
                                  <p:stCondLst>
                                    <p:cond delay="0"/>
                                  </p:stCondLst>
                                  <p:childTnLst>
                                    <p:set>
                                      <p:cBhvr>
                                        <p:cTn id="46" dur="1" fill="hold">
                                          <p:stCondLst>
                                            <p:cond delay="0"/>
                                          </p:stCondLst>
                                        </p:cTn>
                                        <p:tgtEl>
                                          <p:spTgt spid="2">
                                            <p:txEl>
                                              <p:pRg st="7" end="7"/>
                                            </p:txEl>
                                          </p:spTgt>
                                        </p:tgtEl>
                                        <p:attrNameLst>
                                          <p:attrName>style.visibility</p:attrName>
                                        </p:attrNameLst>
                                      </p:cBhvr>
                                      <p:to>
                                        <p:strVal val="visible"/>
                                      </p:to>
                                    </p:set>
                                    <p:animEffect transition="in" filter="blinds(horizontal)">
                                      <p:cBhvr>
                                        <p:cTn id="47" dur="500"/>
                                        <p:tgtEl>
                                          <p:spTgt spid="2">
                                            <p:txEl>
                                              <p:pRg st="7" end="7"/>
                                            </p:txEl>
                                          </p:spTgt>
                                        </p:tgtEl>
                                      </p:cBhvr>
                                    </p:animEffect>
                                  </p:childTnLst>
                                </p:cTn>
                              </p:par>
                              <p:par>
                                <p:cTn id="48" presetID="3" presetClass="entr" presetSubtype="10" fill="hold" grpId="0" nodeType="withEffect">
                                  <p:stCondLst>
                                    <p:cond delay="0"/>
                                  </p:stCondLst>
                                  <p:childTnLst>
                                    <p:set>
                                      <p:cBhvr>
                                        <p:cTn id="49" dur="1" fill="hold">
                                          <p:stCondLst>
                                            <p:cond delay="0"/>
                                          </p:stCondLst>
                                        </p:cTn>
                                        <p:tgtEl>
                                          <p:spTgt spid="2">
                                            <p:txEl>
                                              <p:pRg st="8" end="8"/>
                                            </p:txEl>
                                          </p:spTgt>
                                        </p:tgtEl>
                                        <p:attrNameLst>
                                          <p:attrName>style.visibility</p:attrName>
                                        </p:attrNameLst>
                                      </p:cBhvr>
                                      <p:to>
                                        <p:strVal val="visible"/>
                                      </p:to>
                                    </p:set>
                                    <p:animEffect transition="in" filter="blinds(horizontal)">
                                      <p:cBhvr>
                                        <p:cTn id="50" dur="500"/>
                                        <p:tgtEl>
                                          <p:spTgt spid="2">
                                            <p:txEl>
                                              <p:pRg st="8" end="8"/>
                                            </p:txEl>
                                          </p:spTgt>
                                        </p:tgtEl>
                                      </p:cBhvr>
                                    </p:animEffect>
                                  </p:childTnLst>
                                </p:cTn>
                              </p:par>
                              <p:par>
                                <p:cTn id="51" presetID="3" presetClass="entr" presetSubtype="10" fill="hold" grpId="0" nodeType="withEffect">
                                  <p:stCondLst>
                                    <p:cond delay="0"/>
                                  </p:stCondLst>
                                  <p:childTnLst>
                                    <p:set>
                                      <p:cBhvr>
                                        <p:cTn id="52" dur="1" fill="hold">
                                          <p:stCondLst>
                                            <p:cond delay="0"/>
                                          </p:stCondLst>
                                        </p:cTn>
                                        <p:tgtEl>
                                          <p:spTgt spid="2">
                                            <p:txEl>
                                              <p:pRg st="9" end="9"/>
                                            </p:txEl>
                                          </p:spTgt>
                                        </p:tgtEl>
                                        <p:attrNameLst>
                                          <p:attrName>style.visibility</p:attrName>
                                        </p:attrNameLst>
                                      </p:cBhvr>
                                      <p:to>
                                        <p:strVal val="visible"/>
                                      </p:to>
                                    </p:set>
                                    <p:animEffect transition="in" filter="blinds(horizontal)">
                                      <p:cBhvr>
                                        <p:cTn id="53" dur="500"/>
                                        <p:tgtEl>
                                          <p:spTgt spid="2">
                                            <p:txEl>
                                              <p:pRg st="9" end="9"/>
                                            </p:txEl>
                                          </p:spTgt>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2">
                                            <p:txEl>
                                              <p:pRg st="10" end="10"/>
                                            </p:txEl>
                                          </p:spTgt>
                                        </p:tgtEl>
                                        <p:attrNameLst>
                                          <p:attrName>style.visibility</p:attrName>
                                        </p:attrNameLst>
                                      </p:cBhvr>
                                      <p:to>
                                        <p:strVal val="visible"/>
                                      </p:to>
                                    </p:set>
                                    <p:animEffect transition="in" filter="blinds(horizontal)">
                                      <p:cBhvr>
                                        <p:cTn id="56" dur="500"/>
                                        <p:tgtEl>
                                          <p:spTgt spid="2">
                                            <p:txEl>
                                              <p:pRg st="10" end="10"/>
                                            </p:txEl>
                                          </p:spTgt>
                                        </p:tgtEl>
                                      </p:cBhvr>
                                    </p:animEffect>
                                  </p:childTnLst>
                                </p:cTn>
                              </p:par>
                              <p:par>
                                <p:cTn id="57" presetID="3" presetClass="entr" presetSubtype="10" fill="hold" grpId="0" nodeType="withEffect">
                                  <p:stCondLst>
                                    <p:cond delay="0"/>
                                  </p:stCondLst>
                                  <p:childTnLst>
                                    <p:set>
                                      <p:cBhvr>
                                        <p:cTn id="58" dur="1" fill="hold">
                                          <p:stCondLst>
                                            <p:cond delay="0"/>
                                          </p:stCondLst>
                                        </p:cTn>
                                        <p:tgtEl>
                                          <p:spTgt spid="2">
                                            <p:txEl>
                                              <p:pRg st="11" end="11"/>
                                            </p:txEl>
                                          </p:spTgt>
                                        </p:tgtEl>
                                        <p:attrNameLst>
                                          <p:attrName>style.visibility</p:attrName>
                                        </p:attrNameLst>
                                      </p:cBhvr>
                                      <p:to>
                                        <p:strVal val="visible"/>
                                      </p:to>
                                    </p:set>
                                    <p:animEffect transition="in" filter="blinds(horizontal)">
                                      <p:cBhvr>
                                        <p:cTn id="59" dur="500"/>
                                        <p:tgtEl>
                                          <p:spTgt spid="2">
                                            <p:txEl>
                                              <p:pRg st="11" end="11"/>
                                            </p:txEl>
                                          </p:spTgt>
                                        </p:tgtEl>
                                      </p:cBhvr>
                                    </p:animEffect>
                                  </p:childTnLst>
                                </p:cTn>
                              </p:par>
                              <p:par>
                                <p:cTn id="60" presetID="3" presetClass="entr" presetSubtype="10" fill="hold" grpId="0" nodeType="withEffect">
                                  <p:stCondLst>
                                    <p:cond delay="0"/>
                                  </p:stCondLst>
                                  <p:childTnLst>
                                    <p:set>
                                      <p:cBhvr>
                                        <p:cTn id="61" dur="1" fill="hold">
                                          <p:stCondLst>
                                            <p:cond delay="0"/>
                                          </p:stCondLst>
                                        </p:cTn>
                                        <p:tgtEl>
                                          <p:spTgt spid="2">
                                            <p:txEl>
                                              <p:pRg st="12" end="12"/>
                                            </p:txEl>
                                          </p:spTgt>
                                        </p:tgtEl>
                                        <p:attrNameLst>
                                          <p:attrName>style.visibility</p:attrName>
                                        </p:attrNameLst>
                                      </p:cBhvr>
                                      <p:to>
                                        <p:strVal val="visible"/>
                                      </p:to>
                                    </p:set>
                                    <p:animEffect transition="in" filter="blinds(horizontal)">
                                      <p:cBhvr>
                                        <p:cTn id="62" dur="500"/>
                                        <p:tgtEl>
                                          <p:spTgt spid="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r>
              <a:rPr lang="zh-CN" altLang="en-US" dirty="0"/>
              <a:t>更新视图 </a:t>
            </a:r>
            <a:r>
              <a:rPr lang="en-US" altLang="zh-CN" dirty="0"/>
              <a:t>1</a:t>
            </a:r>
            <a:endParaRPr lang="zh-CN" altLang="en-US" dirty="0"/>
          </a:p>
        </p:txBody>
      </p:sp>
      <p:sp>
        <p:nvSpPr>
          <p:cNvPr id="65539" name="Rectangle 3"/>
          <p:cNvSpPr>
            <a:spLocks noGrp="1" noChangeArrowheads="1"/>
          </p:cNvSpPr>
          <p:nvPr>
            <p:ph idx="1"/>
          </p:nvPr>
        </p:nvSpPr>
        <p:spPr/>
        <p:txBody>
          <a:bodyPr>
            <a:normAutofit/>
          </a:bodyPr>
          <a:lstStyle/>
          <a:p>
            <a:r>
              <a:rPr lang="en-US" altLang="zh-CN" dirty="0"/>
              <a:t>[</a:t>
            </a:r>
            <a:r>
              <a:rPr lang="zh-CN" altLang="en-US" dirty="0"/>
              <a:t>例</a:t>
            </a:r>
            <a:r>
              <a:rPr lang="en-US" altLang="zh-CN" dirty="0"/>
              <a:t>3.95] </a:t>
            </a:r>
            <a:r>
              <a:rPr lang="zh-CN" altLang="en-US" dirty="0"/>
              <a:t>将信息系学生视图</a:t>
            </a:r>
            <a:r>
              <a:rPr lang="en-US" altLang="zh-CN" dirty="0" err="1"/>
              <a:t>IS_Student</a:t>
            </a:r>
            <a:r>
              <a:rPr lang="zh-CN" altLang="en-US" dirty="0"/>
              <a:t>中学号</a:t>
            </a:r>
            <a:r>
              <a:rPr lang="en-US" altLang="zh-CN" dirty="0"/>
              <a:t>“</a:t>
            </a:r>
            <a:r>
              <a:rPr lang="en-US" altLang="zh-CN" dirty="0"/>
              <a:t>201215122”</a:t>
            </a:r>
            <a:r>
              <a:rPr lang="zh-CN" altLang="en-US" dirty="0"/>
              <a:t>的学生姓名改为</a:t>
            </a:r>
            <a:r>
              <a:rPr lang="en-US" altLang="zh-CN" dirty="0"/>
              <a:t>“</a:t>
            </a:r>
            <a:r>
              <a:rPr lang="zh-CN" altLang="en-US" dirty="0"/>
              <a:t>刘辰</a:t>
            </a:r>
            <a:r>
              <a:rPr lang="en-US" altLang="zh-CN" dirty="0"/>
              <a:t>”</a:t>
            </a:r>
            <a:r>
              <a:rPr lang="zh-CN" altLang="en-US" dirty="0"/>
              <a:t>。</a:t>
            </a:r>
            <a:endParaRPr lang="zh-CN" altLang="en-US" dirty="0"/>
          </a:p>
          <a:p>
            <a:pPr marL="715645" lvl="2" indent="0">
              <a:buNone/>
            </a:pPr>
            <a:r>
              <a:rPr lang="en-US" altLang="zh-CN" dirty="0">
                <a:latin typeface="Arial" panose="020B0604020202090204" pitchFamily="34" charset="0"/>
                <a:cs typeface="Arial" panose="020B0604020202090204" pitchFamily="34" charset="0"/>
              </a:rPr>
              <a:t>UPDATE  </a:t>
            </a:r>
            <a:r>
              <a:rPr lang="en-US" altLang="zh-CN" dirty="0" err="1">
                <a:latin typeface="Arial" panose="020B0604020202090204" pitchFamily="34" charset="0"/>
                <a:cs typeface="Arial" panose="020B0604020202090204" pitchFamily="34" charset="0"/>
              </a:rPr>
              <a:t>IS_Student</a:t>
            </a:r>
            <a:endParaRPr lang="en-US" altLang="zh-CN" dirty="0">
              <a:latin typeface="Arial" panose="020B0604020202090204" pitchFamily="34" charset="0"/>
              <a:cs typeface="Arial" panose="020B0604020202090204" pitchFamily="34" charset="0"/>
            </a:endParaRPr>
          </a:p>
          <a:p>
            <a:pPr marL="715645" lvl="2" indent="0">
              <a:buNone/>
            </a:pPr>
            <a:r>
              <a:rPr lang="en-US" altLang="zh-CN" dirty="0">
                <a:latin typeface="Arial" panose="020B0604020202090204" pitchFamily="34" charset="0"/>
                <a:cs typeface="Arial" panose="020B0604020202090204" pitchFamily="34" charset="0"/>
              </a:rPr>
              <a:t>SET  </a:t>
            </a:r>
            <a:r>
              <a:rPr lang="en-US" altLang="zh-CN" dirty="0" err="1">
                <a:latin typeface="Arial" panose="020B0604020202090204" pitchFamily="34" charset="0"/>
                <a:cs typeface="Arial" panose="020B0604020202090204" pitchFamily="34" charset="0"/>
              </a:rPr>
              <a:t>Sname </a:t>
            </a:r>
            <a:r>
              <a:rPr lang="en-US" altLang="zh-CN" dirty="0">
                <a:latin typeface="Arial" panose="020B0604020202090204" pitchFamily="34" charset="0"/>
                <a:cs typeface="Arial" panose="020B0604020202090204" pitchFamily="34" charset="0"/>
              </a:rPr>
              <a:t>= '</a:t>
            </a:r>
            <a:r>
              <a:rPr lang="zh-CN" altLang="en-US" dirty="0">
                <a:latin typeface="Arial" panose="020B0604020202090204" pitchFamily="34" charset="0"/>
                <a:cs typeface="Arial" panose="020B0604020202090204" pitchFamily="34" charset="0"/>
              </a:rPr>
              <a:t>刘辰</a:t>
            </a:r>
            <a:r>
              <a:rPr lang="en-US" altLang="zh-CN" dirty="0">
                <a:latin typeface="Arial" panose="020B0604020202090204" pitchFamily="34" charset="0"/>
                <a:cs typeface="Arial" panose="020B0604020202090204" pitchFamily="34" charset="0"/>
              </a:rPr>
              <a:t>'</a:t>
            </a:r>
            <a:endParaRPr lang="en-US" altLang="zh-CN" dirty="0">
              <a:latin typeface="Arial" panose="020B0604020202090204" pitchFamily="34" charset="0"/>
              <a:cs typeface="Arial" panose="020B0604020202090204" pitchFamily="34" charset="0"/>
            </a:endParaRPr>
          </a:p>
          <a:p>
            <a:pPr marL="715645" lvl="2" indent="0">
              <a:buNone/>
            </a:pPr>
            <a:r>
              <a:rPr lang="en-US" altLang="zh-CN" dirty="0">
                <a:latin typeface="Arial" panose="020B0604020202090204" pitchFamily="34" charset="0"/>
                <a:cs typeface="Arial" panose="020B0604020202090204" pitchFamily="34" charset="0"/>
              </a:rPr>
              <a:t>WHERE  </a:t>
            </a:r>
            <a:r>
              <a:rPr lang="en-US" altLang="zh-CN" dirty="0" err="1">
                <a:latin typeface="Arial" panose="020B0604020202090204" pitchFamily="34" charset="0"/>
                <a:cs typeface="Arial" panose="020B0604020202090204" pitchFamily="34" charset="0"/>
              </a:rPr>
              <a:t>Sno </a:t>
            </a:r>
            <a:r>
              <a:rPr lang="en-US" altLang="zh-CN" dirty="0">
                <a:latin typeface="Arial" panose="020B0604020202090204" pitchFamily="34" charset="0"/>
                <a:cs typeface="Arial" panose="020B0604020202090204" pitchFamily="34" charset="0"/>
              </a:rPr>
              <a:t>= '201215122'</a:t>
            </a:r>
            <a:r>
              <a:rPr lang="zh-CN" altLang="en-US" dirty="0">
                <a:latin typeface="Arial" panose="020B0604020202090204" pitchFamily="34" charset="0"/>
                <a:cs typeface="Arial" panose="020B0604020202090204" pitchFamily="34" charset="0"/>
              </a:rPr>
              <a:t>;</a:t>
            </a:r>
            <a:endParaRPr lang="zh-CN" altLang="en-US" dirty="0"/>
          </a:p>
          <a:p>
            <a:pPr marL="715645" lvl="2" indent="0">
              <a:buNone/>
            </a:pPr>
            <a:endParaRPr lang="zh-CN" altLang="en-US" dirty="0"/>
          </a:p>
          <a:p>
            <a:pPr lvl="1"/>
            <a:r>
              <a:rPr lang="zh-CN" altLang="en-US" dirty="0"/>
              <a:t>转换后的语句：</a:t>
            </a:r>
            <a:endParaRPr lang="zh-CN" altLang="en-US" dirty="0"/>
          </a:p>
          <a:p>
            <a:pPr marL="715645" lvl="2" indent="0">
              <a:buNone/>
            </a:pPr>
            <a:r>
              <a:rPr lang="en-US" altLang="zh-CN" dirty="0">
                <a:solidFill>
                  <a:srgbClr val="C00000"/>
                </a:solidFill>
                <a:latin typeface="Arial" panose="020B0604020202090204" pitchFamily="34" charset="0"/>
                <a:cs typeface="Arial" panose="020B0604020202090204" pitchFamily="34" charset="0"/>
              </a:rPr>
              <a:t>UPDATE  Student</a:t>
            </a:r>
            <a:endParaRPr lang="en-US" altLang="zh-CN" dirty="0">
              <a:solidFill>
                <a:srgbClr val="C00000"/>
              </a:solidFill>
              <a:latin typeface="Arial" panose="020B0604020202090204" pitchFamily="34" charset="0"/>
              <a:cs typeface="Arial" panose="020B0604020202090204" pitchFamily="34" charset="0"/>
            </a:endParaRPr>
          </a:p>
          <a:p>
            <a:pPr marL="715645" lvl="2" indent="0">
              <a:buNone/>
            </a:pPr>
            <a:r>
              <a:rPr lang="en-US" altLang="zh-CN" dirty="0">
                <a:solidFill>
                  <a:srgbClr val="C00000"/>
                </a:solidFill>
                <a:latin typeface="Arial" panose="020B0604020202090204" pitchFamily="34" charset="0"/>
                <a:cs typeface="Arial" panose="020B0604020202090204" pitchFamily="34" charset="0"/>
              </a:rPr>
              <a:t>SET  </a:t>
            </a:r>
            <a:r>
              <a:rPr lang="en-US" altLang="zh-CN" dirty="0" err="1">
                <a:solidFill>
                  <a:srgbClr val="C00000"/>
                </a:solidFill>
                <a:latin typeface="Arial" panose="020B0604020202090204" pitchFamily="34" charset="0"/>
                <a:cs typeface="Arial" panose="020B0604020202090204" pitchFamily="34" charset="0"/>
              </a:rPr>
              <a:t>Sname </a:t>
            </a:r>
            <a:r>
              <a:rPr lang="en-US" altLang="zh-CN" dirty="0">
                <a:solidFill>
                  <a:srgbClr val="C00000"/>
                </a:solidFill>
                <a:latin typeface="Arial" panose="020B0604020202090204" pitchFamily="34" charset="0"/>
                <a:cs typeface="Arial" panose="020B0604020202090204" pitchFamily="34" charset="0"/>
              </a:rPr>
              <a:t>= '</a:t>
            </a:r>
            <a:r>
              <a:rPr lang="zh-CN" altLang="en-US" dirty="0">
                <a:solidFill>
                  <a:srgbClr val="C00000"/>
                </a:solidFill>
                <a:latin typeface="Arial" panose="020B0604020202090204" pitchFamily="34" charset="0"/>
                <a:cs typeface="Arial" panose="020B0604020202090204" pitchFamily="34" charset="0"/>
              </a:rPr>
              <a:t>刘辰</a:t>
            </a:r>
            <a:r>
              <a:rPr lang="en-US" altLang="zh-CN" dirty="0">
                <a:solidFill>
                  <a:srgbClr val="C00000"/>
                </a:solidFill>
                <a:latin typeface="Arial" panose="020B0604020202090204" pitchFamily="34" charset="0"/>
                <a:cs typeface="Arial" panose="020B0604020202090204" pitchFamily="34" charset="0"/>
              </a:rPr>
              <a:t>'</a:t>
            </a:r>
            <a:endParaRPr lang="en-US" altLang="zh-CN" dirty="0">
              <a:solidFill>
                <a:srgbClr val="C00000"/>
              </a:solidFill>
              <a:latin typeface="Arial" panose="020B0604020202090204" pitchFamily="34" charset="0"/>
              <a:cs typeface="Arial" panose="020B0604020202090204" pitchFamily="34" charset="0"/>
            </a:endParaRPr>
          </a:p>
          <a:p>
            <a:pPr marL="715645" lvl="2" indent="0">
              <a:buNone/>
            </a:pPr>
            <a:r>
              <a:rPr lang="en-US" altLang="zh-CN" dirty="0">
                <a:solidFill>
                  <a:srgbClr val="C00000"/>
                </a:solidFill>
                <a:latin typeface="Arial" panose="020B0604020202090204" pitchFamily="34" charset="0"/>
                <a:cs typeface="Arial" panose="020B0604020202090204" pitchFamily="34" charset="0"/>
              </a:rPr>
              <a:t>WHERE  </a:t>
            </a:r>
            <a:r>
              <a:rPr lang="en-US" altLang="zh-CN" dirty="0" err="1">
                <a:solidFill>
                  <a:srgbClr val="C00000"/>
                </a:solidFill>
                <a:latin typeface="Arial" panose="020B0604020202090204" pitchFamily="34" charset="0"/>
                <a:cs typeface="Arial" panose="020B0604020202090204" pitchFamily="34" charset="0"/>
              </a:rPr>
              <a:t>Sno </a:t>
            </a:r>
            <a:r>
              <a:rPr lang="en-US" altLang="zh-CN" dirty="0">
                <a:solidFill>
                  <a:srgbClr val="C00000"/>
                </a:solidFill>
                <a:latin typeface="Arial" panose="020B0604020202090204" pitchFamily="34" charset="0"/>
                <a:cs typeface="Arial" panose="020B0604020202090204" pitchFamily="34" charset="0"/>
              </a:rPr>
              <a:t>= '201215122'  AND  </a:t>
            </a:r>
            <a:r>
              <a:rPr lang="en-US" altLang="zh-CN" dirty="0" err="1">
                <a:solidFill>
                  <a:srgbClr val="C00000"/>
                </a:solidFill>
                <a:latin typeface="Arial" panose="020B0604020202090204" pitchFamily="34" charset="0"/>
                <a:cs typeface="Arial" panose="020B0604020202090204" pitchFamily="34" charset="0"/>
              </a:rPr>
              <a:t>Sdept </a:t>
            </a:r>
            <a:r>
              <a:rPr lang="en-US" altLang="zh-CN" dirty="0">
                <a:solidFill>
                  <a:srgbClr val="C00000"/>
                </a:solidFill>
                <a:latin typeface="Arial" panose="020B0604020202090204" pitchFamily="34" charset="0"/>
                <a:cs typeface="Arial" panose="020B0604020202090204" pitchFamily="34" charset="0"/>
              </a:rPr>
              <a:t>= 'IS'</a:t>
            </a:r>
            <a:r>
              <a:rPr lang="zh-CN" altLang="en-US" dirty="0">
                <a:solidFill>
                  <a:srgbClr val="C00000"/>
                </a:solidFill>
                <a:latin typeface="Arial" panose="020B0604020202090204" pitchFamily="34" charset="0"/>
                <a:cs typeface="Arial" panose="020B0604020202090204" pitchFamily="34" charset="0"/>
              </a:rPr>
              <a:t>;</a:t>
            </a:r>
            <a:endParaRPr lang="zh-CN" altLang="en-US" dirty="0">
              <a:solidFill>
                <a:srgbClr val="C00000"/>
              </a:solidFill>
              <a:latin typeface="Arial" panose="020B0604020202090204" pitchFamily="34" charset="0"/>
              <a:cs typeface="Arial" panose="020B0604020202090204" pitchFamily="34" charset="0"/>
            </a:endParaRPr>
          </a:p>
        </p:txBody>
      </p:sp>
      <p:sp>
        <p:nvSpPr>
          <p:cNvPr id="2" name="灯片编号占位符 1"/>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ch03_3_SQL数据更新</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5539">
                                            <p:txEl>
                                              <p:pRg st="5" end="5"/>
                                            </p:txEl>
                                          </p:spTgt>
                                        </p:tgtEl>
                                        <p:attrNameLst>
                                          <p:attrName>style.visibility</p:attrName>
                                        </p:attrNameLst>
                                      </p:cBhvr>
                                      <p:to>
                                        <p:strVal val="visible"/>
                                      </p:to>
                                    </p:set>
                                    <p:animEffect transition="in" filter="blinds(horizontal)">
                                      <p:cBhvr>
                                        <p:cTn id="7" dur="500"/>
                                        <p:tgtEl>
                                          <p:spTgt spid="65539">
                                            <p:txEl>
                                              <p:pRg st="5" end="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5539">
                                            <p:txEl>
                                              <p:pRg st="6" end="6"/>
                                            </p:txEl>
                                          </p:spTgt>
                                        </p:tgtEl>
                                        <p:attrNameLst>
                                          <p:attrName>style.visibility</p:attrName>
                                        </p:attrNameLst>
                                      </p:cBhvr>
                                      <p:to>
                                        <p:strVal val="visible"/>
                                      </p:to>
                                    </p:set>
                                    <p:animEffect transition="in" filter="blinds(horizontal)">
                                      <p:cBhvr>
                                        <p:cTn id="10" dur="500"/>
                                        <p:tgtEl>
                                          <p:spTgt spid="65539">
                                            <p:txEl>
                                              <p:pRg st="6" end="6"/>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5539">
                                            <p:txEl>
                                              <p:pRg st="7" end="7"/>
                                            </p:txEl>
                                          </p:spTgt>
                                        </p:tgtEl>
                                        <p:attrNameLst>
                                          <p:attrName>style.visibility</p:attrName>
                                        </p:attrNameLst>
                                      </p:cBhvr>
                                      <p:to>
                                        <p:strVal val="visible"/>
                                      </p:to>
                                    </p:set>
                                    <p:animEffect transition="in" filter="blinds(horizontal)">
                                      <p:cBhvr>
                                        <p:cTn id="13" dur="500"/>
                                        <p:tgtEl>
                                          <p:spTgt spid="65539">
                                            <p:txEl>
                                              <p:pRg st="7" end="7"/>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65539">
                                            <p:txEl>
                                              <p:pRg st="8" end="8"/>
                                            </p:txEl>
                                          </p:spTgt>
                                        </p:tgtEl>
                                        <p:attrNameLst>
                                          <p:attrName>style.visibility</p:attrName>
                                        </p:attrNameLst>
                                      </p:cBhvr>
                                      <p:to>
                                        <p:strVal val="visible"/>
                                      </p:to>
                                    </p:set>
                                    <p:animEffect transition="in" filter="blinds(horizontal)">
                                      <p:cBhvr>
                                        <p:cTn id="16" dur="500"/>
                                        <p:tgtEl>
                                          <p:spTgt spid="6553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r>
              <a:rPr lang="zh-CN" altLang="en-US" dirty="0"/>
              <a:t>更新视图 </a:t>
            </a:r>
            <a:r>
              <a:rPr lang="en-US" altLang="zh-CN" dirty="0"/>
              <a:t>2</a:t>
            </a:r>
            <a:endParaRPr lang="zh-CN" altLang="en-US" dirty="0"/>
          </a:p>
        </p:txBody>
      </p:sp>
      <p:sp>
        <p:nvSpPr>
          <p:cNvPr id="66563" name="Rectangle 3"/>
          <p:cNvSpPr>
            <a:spLocks noGrp="1" noChangeArrowheads="1"/>
          </p:cNvSpPr>
          <p:nvPr>
            <p:ph idx="1"/>
          </p:nvPr>
        </p:nvSpPr>
        <p:spPr/>
        <p:txBody>
          <a:bodyPr>
            <a:normAutofit/>
          </a:bodyPr>
          <a:lstStyle/>
          <a:p>
            <a:r>
              <a:rPr lang="en-US" altLang="zh-CN" dirty="0">
                <a:latin typeface="Arial" panose="020B0604020202090204" pitchFamily="34" charset="0"/>
                <a:cs typeface="Arial" panose="020B0604020202090204" pitchFamily="34" charset="0"/>
              </a:rPr>
              <a:t>[</a:t>
            </a:r>
            <a:r>
              <a:rPr lang="zh-CN" altLang="en-US" dirty="0">
                <a:latin typeface="Arial" panose="020B0604020202090204" pitchFamily="34" charset="0"/>
                <a:cs typeface="Arial" panose="020B0604020202090204" pitchFamily="34" charset="0"/>
              </a:rPr>
              <a:t>例</a:t>
            </a:r>
            <a:r>
              <a:rPr lang="en-US" altLang="zh-CN" dirty="0">
                <a:latin typeface="Arial" panose="020B0604020202090204" pitchFamily="34" charset="0"/>
                <a:cs typeface="Arial" panose="020B0604020202090204" pitchFamily="34" charset="0"/>
              </a:rPr>
              <a:t>3.96] </a:t>
            </a:r>
            <a:r>
              <a:rPr lang="zh-CN" altLang="en-US" dirty="0">
                <a:latin typeface="Arial" panose="020B0604020202090204" pitchFamily="34" charset="0"/>
                <a:cs typeface="Arial" panose="020B0604020202090204" pitchFamily="34" charset="0"/>
              </a:rPr>
              <a:t>向信息系学生视图</a:t>
            </a:r>
            <a:r>
              <a:rPr lang="en-US" altLang="zh-CN" dirty="0">
                <a:latin typeface="Arial" panose="020B0604020202090204" pitchFamily="34" charset="0"/>
                <a:cs typeface="Arial" panose="020B0604020202090204" pitchFamily="34" charset="0"/>
              </a:rPr>
              <a:t>IS_S</a:t>
            </a:r>
            <a:r>
              <a:rPr lang="zh-CN" altLang="en-US" dirty="0">
                <a:latin typeface="Arial" panose="020B0604020202090204" pitchFamily="34" charset="0"/>
                <a:cs typeface="Arial" panose="020B0604020202090204" pitchFamily="34" charset="0"/>
              </a:rPr>
              <a:t>中插入一个新的学生记录，其中学号为</a:t>
            </a:r>
            <a:r>
              <a:rPr lang="en-US" altLang="zh-CN" dirty="0">
                <a:latin typeface="Arial" panose="020B0604020202090204" pitchFamily="34" charset="0"/>
                <a:cs typeface="Arial" panose="020B0604020202090204" pitchFamily="34" charset="0"/>
              </a:rPr>
              <a:t>“201215129”</a:t>
            </a:r>
            <a:r>
              <a:rPr lang="zh-CN" altLang="en-US" dirty="0">
                <a:latin typeface="Arial" panose="020B0604020202090204" pitchFamily="34" charset="0"/>
                <a:cs typeface="Arial" panose="020B0604020202090204" pitchFamily="34" charset="0"/>
              </a:rPr>
              <a:t>，姓名为</a:t>
            </a:r>
            <a:r>
              <a:rPr lang="en-US" altLang="zh-CN" dirty="0">
                <a:latin typeface="Arial" panose="020B0604020202090204" pitchFamily="34" charset="0"/>
                <a:cs typeface="Arial" panose="020B0604020202090204" pitchFamily="34" charset="0"/>
              </a:rPr>
              <a:t>“</a:t>
            </a:r>
            <a:r>
              <a:rPr lang="zh-CN" altLang="en-US" dirty="0">
                <a:latin typeface="Arial" panose="020B0604020202090204" pitchFamily="34" charset="0"/>
                <a:cs typeface="Arial" panose="020B0604020202090204" pitchFamily="34" charset="0"/>
              </a:rPr>
              <a:t>赵新</a:t>
            </a:r>
            <a:r>
              <a:rPr lang="en-US" altLang="zh-CN" dirty="0">
                <a:latin typeface="Arial" panose="020B0604020202090204" pitchFamily="34" charset="0"/>
                <a:cs typeface="Arial" panose="020B0604020202090204" pitchFamily="34" charset="0"/>
              </a:rPr>
              <a:t>”</a:t>
            </a:r>
            <a:r>
              <a:rPr lang="zh-CN" altLang="en-US" dirty="0">
                <a:latin typeface="Arial" panose="020B0604020202090204" pitchFamily="34" charset="0"/>
                <a:cs typeface="Arial" panose="020B0604020202090204" pitchFamily="34" charset="0"/>
              </a:rPr>
              <a:t>，年龄为</a:t>
            </a:r>
            <a:r>
              <a:rPr lang="en-US" altLang="zh-CN" dirty="0">
                <a:latin typeface="Arial" panose="020B0604020202090204" pitchFamily="34" charset="0"/>
                <a:cs typeface="Arial" panose="020B0604020202090204" pitchFamily="34" charset="0"/>
              </a:rPr>
              <a:t>20</a:t>
            </a:r>
            <a:r>
              <a:rPr lang="zh-CN" altLang="en-US" dirty="0">
                <a:latin typeface="Arial" panose="020B0604020202090204" pitchFamily="34" charset="0"/>
                <a:cs typeface="Arial" panose="020B0604020202090204" pitchFamily="34" charset="0"/>
              </a:rPr>
              <a:t>岁</a:t>
            </a:r>
            <a:endParaRPr lang="zh-CN" altLang="en-US" dirty="0">
              <a:latin typeface="Arial" panose="020B0604020202090204" pitchFamily="34" charset="0"/>
              <a:cs typeface="Arial" panose="020B0604020202090204" pitchFamily="34" charset="0"/>
            </a:endParaRPr>
          </a:p>
          <a:p>
            <a:pPr marL="821055" lvl="2" indent="0">
              <a:buNone/>
            </a:pPr>
            <a:r>
              <a:rPr lang="en-US" altLang="zh-CN" dirty="0">
                <a:latin typeface="Arial" panose="020B0604020202090204" pitchFamily="34" charset="0"/>
                <a:cs typeface="Arial" panose="020B0604020202090204" pitchFamily="34" charset="0"/>
              </a:rPr>
              <a:t>INSERT</a:t>
            </a:r>
            <a:endParaRPr lang="en-US" altLang="zh-CN" dirty="0">
              <a:latin typeface="Arial" panose="020B0604020202090204" pitchFamily="34" charset="0"/>
              <a:cs typeface="Arial" panose="020B0604020202090204" pitchFamily="34" charset="0"/>
            </a:endParaRPr>
          </a:p>
          <a:p>
            <a:pPr marL="821055" lvl="2" indent="0">
              <a:buNone/>
            </a:pPr>
            <a:r>
              <a:rPr lang="en-US" altLang="zh-CN" dirty="0">
                <a:latin typeface="Arial" panose="020B0604020202090204" pitchFamily="34" charset="0"/>
                <a:cs typeface="Arial" panose="020B0604020202090204" pitchFamily="34" charset="0"/>
              </a:rPr>
              <a:t>INTO  </a:t>
            </a:r>
            <a:r>
              <a:rPr lang="en-US" altLang="zh-CN" dirty="0" err="1">
                <a:latin typeface="Arial" panose="020B0604020202090204" pitchFamily="34" charset="0"/>
                <a:cs typeface="Arial" panose="020B0604020202090204" pitchFamily="34" charset="0"/>
              </a:rPr>
              <a:t>IS_Student</a:t>
            </a:r>
            <a:endParaRPr lang="en-US" altLang="zh-CN" dirty="0">
              <a:latin typeface="Arial" panose="020B0604020202090204" pitchFamily="34" charset="0"/>
              <a:cs typeface="Arial" panose="020B0604020202090204" pitchFamily="34" charset="0"/>
            </a:endParaRPr>
          </a:p>
          <a:p>
            <a:pPr marL="821055" lvl="2" indent="0">
              <a:buNone/>
            </a:pPr>
            <a:r>
              <a:rPr lang="en-US" altLang="zh-CN" dirty="0">
                <a:latin typeface="Arial" panose="020B0604020202090204" pitchFamily="34" charset="0"/>
                <a:cs typeface="Arial" panose="020B0604020202090204" pitchFamily="34" charset="0"/>
              </a:rPr>
              <a:t>VALUES</a:t>
            </a:r>
            <a:r>
              <a:rPr lang="zh-CN" altLang="en-US" dirty="0">
                <a:latin typeface="Arial" panose="020B0604020202090204" pitchFamily="34" charset="0"/>
                <a:cs typeface="Arial" panose="020B0604020202090204" pitchFamily="34" charset="0"/>
              </a:rPr>
              <a:t>(</a:t>
            </a:r>
            <a:r>
              <a:rPr lang="en-US" altLang="zh-CN" dirty="0">
                <a:latin typeface="Arial" panose="020B0604020202090204" pitchFamily="34" charset="0"/>
                <a:cs typeface="Arial" panose="020B0604020202090204" pitchFamily="34" charset="0"/>
              </a:rPr>
              <a:t>‘201215129’, ’</a:t>
            </a:r>
            <a:r>
              <a:rPr lang="zh-CN" altLang="en-US" dirty="0">
                <a:latin typeface="Arial" panose="020B0604020202090204" pitchFamily="34" charset="0"/>
                <a:cs typeface="Arial" panose="020B0604020202090204" pitchFamily="34" charset="0"/>
              </a:rPr>
              <a:t>赵新</a:t>
            </a:r>
            <a:r>
              <a:rPr lang="en-US" altLang="zh-CN" dirty="0">
                <a:latin typeface="Arial" panose="020B0604020202090204" pitchFamily="34" charset="0"/>
                <a:cs typeface="Arial" panose="020B0604020202090204" pitchFamily="34" charset="0"/>
              </a:rPr>
              <a:t>’, 20</a:t>
            </a:r>
            <a:r>
              <a:rPr lang="zh-CN" altLang="en-US" dirty="0">
                <a:latin typeface="Arial" panose="020B0604020202090204" pitchFamily="34" charset="0"/>
                <a:cs typeface="Arial" panose="020B0604020202090204" pitchFamily="34" charset="0"/>
              </a:rPr>
              <a:t>);</a:t>
            </a:r>
            <a:endParaRPr lang="zh-CN" altLang="en-US" dirty="0">
              <a:latin typeface="Arial" panose="020B0604020202090204" pitchFamily="34" charset="0"/>
              <a:cs typeface="Arial" panose="020B0604020202090204" pitchFamily="34" charset="0"/>
            </a:endParaRPr>
          </a:p>
          <a:p>
            <a:pPr marL="821055" lvl="2" indent="0">
              <a:buNone/>
            </a:pPr>
            <a:endParaRPr lang="zh-CN" altLang="en-US" dirty="0">
              <a:latin typeface="Arial" panose="020B0604020202090204" pitchFamily="34" charset="0"/>
              <a:cs typeface="Arial" panose="020B0604020202090204" pitchFamily="34" charset="0"/>
            </a:endParaRPr>
          </a:p>
          <a:p>
            <a:r>
              <a:rPr lang="zh-CN" altLang="en-US" dirty="0">
                <a:latin typeface="Arial" panose="020B0604020202090204" pitchFamily="34" charset="0"/>
                <a:cs typeface="Arial" panose="020B0604020202090204" pitchFamily="34" charset="0"/>
              </a:rPr>
              <a:t>转换为对基本表的更新：</a:t>
            </a:r>
            <a:endParaRPr lang="zh-CN" altLang="en-US" dirty="0">
              <a:latin typeface="Arial" panose="020B0604020202090204" pitchFamily="34" charset="0"/>
              <a:cs typeface="Arial" panose="020B0604020202090204" pitchFamily="34" charset="0"/>
            </a:endParaRPr>
          </a:p>
          <a:p>
            <a:pPr marL="821055" lvl="2" indent="0">
              <a:buNone/>
            </a:pPr>
            <a:r>
              <a:rPr lang="en-US" altLang="zh-CN" dirty="0">
                <a:solidFill>
                  <a:srgbClr val="C00000"/>
                </a:solidFill>
                <a:latin typeface="Arial" panose="020B0604020202090204" pitchFamily="34" charset="0"/>
                <a:cs typeface="Arial" panose="020B0604020202090204" pitchFamily="34" charset="0"/>
              </a:rPr>
              <a:t>INSERT</a:t>
            </a:r>
            <a:endParaRPr lang="en-US" altLang="zh-CN" dirty="0">
              <a:solidFill>
                <a:srgbClr val="C00000"/>
              </a:solidFill>
              <a:latin typeface="Arial" panose="020B0604020202090204" pitchFamily="34" charset="0"/>
              <a:cs typeface="Arial" panose="020B0604020202090204" pitchFamily="34" charset="0"/>
            </a:endParaRPr>
          </a:p>
          <a:p>
            <a:pPr marL="821055" lvl="2" indent="0">
              <a:buNone/>
            </a:pPr>
            <a:r>
              <a:rPr lang="en-US" altLang="zh-CN" dirty="0">
                <a:solidFill>
                  <a:srgbClr val="C00000"/>
                </a:solidFill>
                <a:latin typeface="Arial" panose="020B0604020202090204" pitchFamily="34" charset="0"/>
                <a:cs typeface="Arial" panose="020B0604020202090204" pitchFamily="34" charset="0"/>
              </a:rPr>
              <a:t>INTO  Student</a:t>
            </a:r>
            <a:r>
              <a:rPr lang="zh-CN" altLang="en-US" dirty="0">
                <a:solidFill>
                  <a:srgbClr val="C00000"/>
                </a:solidFill>
                <a:latin typeface="Arial" panose="020B0604020202090204" pitchFamily="34" charset="0"/>
                <a:cs typeface="Arial" panose="020B0604020202090204" pitchFamily="34" charset="0"/>
              </a:rPr>
              <a:t>(</a:t>
            </a:r>
            <a:r>
              <a:rPr lang="en-US" altLang="zh-CN" dirty="0" err="1">
                <a:solidFill>
                  <a:srgbClr val="C00000"/>
                </a:solidFill>
                <a:latin typeface="Arial" panose="020B0604020202090204" pitchFamily="34" charset="0"/>
                <a:cs typeface="Arial" panose="020B0604020202090204" pitchFamily="34" charset="0"/>
              </a:rPr>
              <a:t>Sno, Sname, Sage, Sdept</a:t>
            </a:r>
            <a:r>
              <a:rPr lang="zh-CN" altLang="en-US" dirty="0">
                <a:solidFill>
                  <a:srgbClr val="C00000"/>
                </a:solidFill>
                <a:latin typeface="Arial" panose="020B0604020202090204" pitchFamily="34" charset="0"/>
                <a:cs typeface="Arial" panose="020B0604020202090204" pitchFamily="34" charset="0"/>
              </a:rPr>
              <a:t>)</a:t>
            </a:r>
            <a:endParaRPr lang="zh-CN" altLang="en-US" dirty="0">
              <a:solidFill>
                <a:srgbClr val="C00000"/>
              </a:solidFill>
              <a:latin typeface="Arial" panose="020B0604020202090204" pitchFamily="34" charset="0"/>
              <a:cs typeface="Arial" panose="020B0604020202090204" pitchFamily="34" charset="0"/>
            </a:endParaRPr>
          </a:p>
          <a:p>
            <a:pPr marL="821055" lvl="2" indent="0">
              <a:buNone/>
            </a:pPr>
            <a:r>
              <a:rPr lang="en-US" altLang="zh-CN" dirty="0">
                <a:solidFill>
                  <a:srgbClr val="C00000"/>
                </a:solidFill>
                <a:latin typeface="Arial" panose="020B0604020202090204" pitchFamily="34" charset="0"/>
                <a:cs typeface="Arial" panose="020B0604020202090204" pitchFamily="34" charset="0"/>
              </a:rPr>
              <a:t>VALUES</a:t>
            </a:r>
            <a:r>
              <a:rPr lang="zh-CN" altLang="en-US" dirty="0">
                <a:solidFill>
                  <a:srgbClr val="C00000"/>
                </a:solidFill>
                <a:latin typeface="Arial" panose="020B0604020202090204" pitchFamily="34" charset="0"/>
                <a:cs typeface="Arial" panose="020B0604020202090204" pitchFamily="34" charset="0"/>
              </a:rPr>
              <a:t>(</a:t>
            </a:r>
            <a:r>
              <a:rPr lang="en-US" altLang="zh-CN" dirty="0">
                <a:solidFill>
                  <a:srgbClr val="C00000"/>
                </a:solidFill>
                <a:latin typeface="Arial" panose="020B0604020202090204" pitchFamily="34" charset="0"/>
                <a:cs typeface="Arial" panose="020B0604020202090204" pitchFamily="34" charset="0"/>
              </a:rPr>
              <a:t>‘200215129 ', '</a:t>
            </a:r>
            <a:r>
              <a:rPr lang="zh-CN" altLang="en-US" dirty="0">
                <a:solidFill>
                  <a:srgbClr val="C00000"/>
                </a:solidFill>
                <a:latin typeface="Arial" panose="020B0604020202090204" pitchFamily="34" charset="0"/>
                <a:cs typeface="Arial" panose="020B0604020202090204" pitchFamily="34" charset="0"/>
              </a:rPr>
              <a:t>赵新</a:t>
            </a:r>
            <a:r>
              <a:rPr lang="en-US" altLang="zh-CN" dirty="0">
                <a:solidFill>
                  <a:srgbClr val="C00000"/>
                </a:solidFill>
                <a:latin typeface="Arial" panose="020B0604020202090204" pitchFamily="34" charset="0"/>
                <a:cs typeface="Arial" panose="020B0604020202090204" pitchFamily="34" charset="0"/>
              </a:rPr>
              <a:t>', 20, 'IS' </a:t>
            </a:r>
            <a:r>
              <a:rPr lang="zh-CN" altLang="en-US" dirty="0">
                <a:solidFill>
                  <a:srgbClr val="C00000"/>
                </a:solidFill>
                <a:latin typeface="Arial" panose="020B0604020202090204" pitchFamily="34" charset="0"/>
                <a:cs typeface="Arial" panose="020B0604020202090204" pitchFamily="34" charset="0"/>
              </a:rPr>
              <a:t>);</a:t>
            </a:r>
            <a:endParaRPr lang="zh-CN" altLang="en-US" dirty="0">
              <a:solidFill>
                <a:srgbClr val="C00000"/>
              </a:solidFill>
              <a:latin typeface="Arial" panose="020B0604020202090204" pitchFamily="34" charset="0"/>
              <a:cs typeface="Arial" panose="020B0604020202090204" pitchFamily="34" charset="0"/>
            </a:endParaRPr>
          </a:p>
        </p:txBody>
      </p:sp>
      <p:sp>
        <p:nvSpPr>
          <p:cNvPr id="2" name="灯片编号占位符 1"/>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ch03_3_SQL数据更新</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6563">
                                            <p:txEl>
                                              <p:pRg st="5" end="5"/>
                                            </p:txEl>
                                          </p:spTgt>
                                        </p:tgtEl>
                                        <p:attrNameLst>
                                          <p:attrName>style.visibility</p:attrName>
                                        </p:attrNameLst>
                                      </p:cBhvr>
                                      <p:to>
                                        <p:strVal val="visible"/>
                                      </p:to>
                                    </p:set>
                                    <p:animEffect transition="in" filter="blinds(horizontal)">
                                      <p:cBhvr>
                                        <p:cTn id="7" dur="500"/>
                                        <p:tgtEl>
                                          <p:spTgt spid="66563">
                                            <p:txEl>
                                              <p:pRg st="5" end="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6563">
                                            <p:txEl>
                                              <p:pRg st="6" end="6"/>
                                            </p:txEl>
                                          </p:spTgt>
                                        </p:tgtEl>
                                        <p:attrNameLst>
                                          <p:attrName>style.visibility</p:attrName>
                                        </p:attrNameLst>
                                      </p:cBhvr>
                                      <p:to>
                                        <p:strVal val="visible"/>
                                      </p:to>
                                    </p:set>
                                    <p:animEffect transition="in" filter="blinds(horizontal)">
                                      <p:cBhvr>
                                        <p:cTn id="10" dur="500"/>
                                        <p:tgtEl>
                                          <p:spTgt spid="66563">
                                            <p:txEl>
                                              <p:pRg st="6" end="6"/>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6563">
                                            <p:txEl>
                                              <p:pRg st="7" end="7"/>
                                            </p:txEl>
                                          </p:spTgt>
                                        </p:tgtEl>
                                        <p:attrNameLst>
                                          <p:attrName>style.visibility</p:attrName>
                                        </p:attrNameLst>
                                      </p:cBhvr>
                                      <p:to>
                                        <p:strVal val="visible"/>
                                      </p:to>
                                    </p:set>
                                    <p:animEffect transition="in" filter="blinds(horizontal)">
                                      <p:cBhvr>
                                        <p:cTn id="13" dur="500"/>
                                        <p:tgtEl>
                                          <p:spTgt spid="66563">
                                            <p:txEl>
                                              <p:pRg st="7" end="7"/>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66563">
                                            <p:txEl>
                                              <p:pRg st="8" end="8"/>
                                            </p:txEl>
                                          </p:spTgt>
                                        </p:tgtEl>
                                        <p:attrNameLst>
                                          <p:attrName>style.visibility</p:attrName>
                                        </p:attrNameLst>
                                      </p:cBhvr>
                                      <p:to>
                                        <p:strVal val="visible"/>
                                      </p:to>
                                    </p:set>
                                    <p:animEffect transition="in" filter="blinds(horizontal)">
                                      <p:cBhvr>
                                        <p:cTn id="16" dur="500"/>
                                        <p:tgtEl>
                                          <p:spTgt spid="6656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zh-CN" altLang="en-US" dirty="0"/>
              <a:t>更新视图 </a:t>
            </a:r>
            <a:r>
              <a:rPr lang="en-US" altLang="zh-CN" dirty="0"/>
              <a:t>3</a:t>
            </a:r>
            <a:endParaRPr lang="zh-CN" altLang="en-US" dirty="0"/>
          </a:p>
        </p:txBody>
      </p:sp>
      <p:sp>
        <p:nvSpPr>
          <p:cNvPr id="67587" name="Rectangle 3"/>
          <p:cNvSpPr>
            <a:spLocks noGrp="1" noChangeArrowheads="1"/>
          </p:cNvSpPr>
          <p:nvPr>
            <p:ph idx="1"/>
          </p:nvPr>
        </p:nvSpPr>
        <p:spPr/>
        <p:txBody>
          <a:bodyPr>
            <a:normAutofit/>
          </a:bodyPr>
          <a:lstStyle/>
          <a:p>
            <a:r>
              <a:rPr lang="en-US" altLang="zh-CN" dirty="0">
                <a:latin typeface="Arial" panose="020B0604020202090204" pitchFamily="34" charset="0"/>
                <a:cs typeface="Arial" panose="020B0604020202090204" pitchFamily="34" charset="0"/>
              </a:rPr>
              <a:t>[</a:t>
            </a:r>
            <a:r>
              <a:rPr lang="zh-CN" altLang="en-US" dirty="0">
                <a:latin typeface="Arial" panose="020B0604020202090204" pitchFamily="34" charset="0"/>
                <a:cs typeface="Arial" panose="020B0604020202090204" pitchFamily="34" charset="0"/>
              </a:rPr>
              <a:t>例</a:t>
            </a:r>
            <a:r>
              <a:rPr lang="en-US" altLang="zh-CN" dirty="0">
                <a:latin typeface="Arial" panose="020B0604020202090204" pitchFamily="34" charset="0"/>
                <a:cs typeface="Arial" panose="020B0604020202090204" pitchFamily="34" charset="0"/>
              </a:rPr>
              <a:t>3.97]</a:t>
            </a:r>
            <a:r>
              <a:rPr lang="zh-CN" altLang="en-US" dirty="0">
                <a:latin typeface="Arial" panose="020B0604020202090204" pitchFamily="34" charset="0"/>
                <a:cs typeface="Arial" panose="020B0604020202090204" pitchFamily="34" charset="0"/>
              </a:rPr>
              <a:t>删除信息系学生视图</a:t>
            </a:r>
            <a:r>
              <a:rPr lang="en-US" altLang="zh-CN" dirty="0" err="1">
                <a:latin typeface="Arial" panose="020B0604020202090204" pitchFamily="34" charset="0"/>
                <a:cs typeface="Arial" panose="020B0604020202090204" pitchFamily="34" charset="0"/>
              </a:rPr>
              <a:t>IS_Student</a:t>
            </a:r>
            <a:r>
              <a:rPr lang="zh-CN" altLang="en-US" dirty="0">
                <a:latin typeface="Arial" panose="020B0604020202090204" pitchFamily="34" charset="0"/>
                <a:cs typeface="Arial" panose="020B0604020202090204" pitchFamily="34" charset="0"/>
              </a:rPr>
              <a:t>中学号为</a:t>
            </a:r>
            <a:r>
              <a:rPr lang="en-US" altLang="zh-CN" dirty="0">
                <a:latin typeface="Arial" panose="020B0604020202090204" pitchFamily="34" charset="0"/>
                <a:cs typeface="Arial" panose="020B0604020202090204" pitchFamily="34" charset="0"/>
              </a:rPr>
              <a:t>“</a:t>
            </a:r>
            <a:r>
              <a:rPr lang="en-US" altLang="zh-CN" dirty="0">
                <a:latin typeface="Arial" panose="020B0604020202090204" pitchFamily="34" charset="0"/>
                <a:cs typeface="Arial" panose="020B0604020202090204" pitchFamily="34" charset="0"/>
              </a:rPr>
              <a:t>201215129”</a:t>
            </a:r>
            <a:r>
              <a:rPr lang="zh-CN" altLang="en-US" dirty="0">
                <a:latin typeface="Arial" panose="020B0604020202090204" pitchFamily="34" charset="0"/>
                <a:cs typeface="Arial" panose="020B0604020202090204" pitchFamily="34" charset="0"/>
              </a:rPr>
              <a:t>的记录 </a:t>
            </a:r>
            <a:endParaRPr lang="zh-CN" altLang="en-US" dirty="0">
              <a:latin typeface="Arial" panose="020B0604020202090204" pitchFamily="34" charset="0"/>
              <a:cs typeface="Arial" panose="020B0604020202090204" pitchFamily="34" charset="0"/>
            </a:endParaRPr>
          </a:p>
          <a:p>
            <a:pPr marL="821055" lvl="2" indent="0">
              <a:buNone/>
            </a:pPr>
            <a:r>
              <a:rPr lang="en-US" altLang="zh-CN" dirty="0">
                <a:latin typeface="Arial" panose="020B0604020202090204" pitchFamily="34" charset="0"/>
                <a:cs typeface="Arial" panose="020B0604020202090204" pitchFamily="34" charset="0"/>
              </a:rPr>
              <a:t>DELETE</a:t>
            </a:r>
            <a:endParaRPr lang="en-US" altLang="zh-CN" dirty="0">
              <a:latin typeface="Arial" panose="020B0604020202090204" pitchFamily="34" charset="0"/>
              <a:cs typeface="Arial" panose="020B0604020202090204" pitchFamily="34" charset="0"/>
            </a:endParaRPr>
          </a:p>
          <a:p>
            <a:pPr marL="821055" lvl="2" indent="0">
              <a:buNone/>
            </a:pPr>
            <a:r>
              <a:rPr lang="en-US" altLang="zh-CN" dirty="0">
                <a:latin typeface="Arial" panose="020B0604020202090204" pitchFamily="34" charset="0"/>
                <a:cs typeface="Arial" panose="020B0604020202090204" pitchFamily="34" charset="0"/>
              </a:rPr>
              <a:t>FROM  </a:t>
            </a:r>
            <a:r>
              <a:rPr lang="en-US" altLang="zh-CN" dirty="0" err="1">
                <a:latin typeface="Arial" panose="020B0604020202090204" pitchFamily="34" charset="0"/>
                <a:cs typeface="Arial" panose="020B0604020202090204" pitchFamily="34" charset="0"/>
              </a:rPr>
              <a:t>IS_Student</a:t>
            </a:r>
            <a:endParaRPr lang="en-US" altLang="zh-CN" dirty="0">
              <a:latin typeface="Arial" panose="020B0604020202090204" pitchFamily="34" charset="0"/>
              <a:cs typeface="Arial" panose="020B0604020202090204" pitchFamily="34" charset="0"/>
            </a:endParaRPr>
          </a:p>
          <a:p>
            <a:pPr marL="821055" lvl="2" indent="0">
              <a:buNone/>
            </a:pPr>
            <a:r>
              <a:rPr lang="en-US" altLang="zh-CN" dirty="0">
                <a:latin typeface="Arial" panose="020B0604020202090204" pitchFamily="34" charset="0"/>
                <a:cs typeface="Arial" panose="020B0604020202090204" pitchFamily="34" charset="0"/>
              </a:rPr>
              <a:t>WHERE  </a:t>
            </a:r>
            <a:r>
              <a:rPr lang="en-US" altLang="zh-CN" dirty="0" err="1">
                <a:latin typeface="Arial" panose="020B0604020202090204" pitchFamily="34" charset="0"/>
                <a:cs typeface="Arial" panose="020B0604020202090204" pitchFamily="34" charset="0"/>
              </a:rPr>
              <a:t>Sno </a:t>
            </a:r>
            <a:r>
              <a:rPr lang="en-US" altLang="zh-CN" dirty="0">
                <a:latin typeface="Arial" panose="020B0604020202090204" pitchFamily="34" charset="0"/>
                <a:cs typeface="Arial" panose="020B0604020202090204" pitchFamily="34" charset="0"/>
              </a:rPr>
              <a:t>= '201215129'</a:t>
            </a:r>
            <a:r>
              <a:rPr lang="zh-CN" altLang="en-US" dirty="0">
                <a:latin typeface="Arial" panose="020B0604020202090204" pitchFamily="34" charset="0"/>
                <a:cs typeface="Arial" panose="020B0604020202090204" pitchFamily="34" charset="0"/>
              </a:rPr>
              <a:t>;</a:t>
            </a:r>
            <a:endParaRPr lang="zh-CN" altLang="en-US" dirty="0">
              <a:latin typeface="Arial" panose="020B0604020202090204" pitchFamily="34" charset="0"/>
              <a:cs typeface="Arial" panose="020B0604020202090204" pitchFamily="34" charset="0"/>
            </a:endParaRPr>
          </a:p>
          <a:p>
            <a:pPr marL="821055" lvl="2" indent="0">
              <a:buNone/>
            </a:pPr>
            <a:endParaRPr lang="zh-CN" altLang="en-US" dirty="0">
              <a:latin typeface="Arial" panose="020B0604020202090204" pitchFamily="34" charset="0"/>
              <a:cs typeface="Arial" panose="020B0604020202090204" pitchFamily="34" charset="0"/>
            </a:endParaRPr>
          </a:p>
          <a:p>
            <a:r>
              <a:rPr lang="zh-CN" altLang="en-US" dirty="0">
                <a:latin typeface="Arial" panose="020B0604020202090204" pitchFamily="34" charset="0"/>
                <a:cs typeface="Arial" panose="020B0604020202090204" pitchFamily="34" charset="0"/>
              </a:rPr>
              <a:t>转换为对基本表的更新：</a:t>
            </a:r>
            <a:endParaRPr lang="zh-CN" altLang="en-US" dirty="0">
              <a:latin typeface="Arial" panose="020B0604020202090204" pitchFamily="34" charset="0"/>
              <a:cs typeface="Arial" panose="020B0604020202090204" pitchFamily="34" charset="0"/>
            </a:endParaRPr>
          </a:p>
          <a:p>
            <a:pPr marL="821055" lvl="2" indent="0">
              <a:buNone/>
            </a:pPr>
            <a:r>
              <a:rPr lang="en-US" altLang="zh-CN" dirty="0">
                <a:solidFill>
                  <a:srgbClr val="C00000"/>
                </a:solidFill>
                <a:latin typeface="Arial" panose="020B0604020202090204" pitchFamily="34" charset="0"/>
                <a:cs typeface="Arial" panose="020B0604020202090204" pitchFamily="34" charset="0"/>
              </a:rPr>
              <a:t>DELETE</a:t>
            </a:r>
            <a:endParaRPr lang="en-US" altLang="zh-CN" dirty="0">
              <a:solidFill>
                <a:srgbClr val="C00000"/>
              </a:solidFill>
              <a:latin typeface="Arial" panose="020B0604020202090204" pitchFamily="34" charset="0"/>
              <a:cs typeface="Arial" panose="020B0604020202090204" pitchFamily="34" charset="0"/>
            </a:endParaRPr>
          </a:p>
          <a:p>
            <a:pPr marL="821055" lvl="2" indent="0">
              <a:buNone/>
            </a:pPr>
            <a:r>
              <a:rPr lang="en-US" altLang="zh-CN" dirty="0">
                <a:solidFill>
                  <a:srgbClr val="C00000"/>
                </a:solidFill>
                <a:latin typeface="Arial" panose="020B0604020202090204" pitchFamily="34" charset="0"/>
                <a:cs typeface="Arial" panose="020B0604020202090204" pitchFamily="34" charset="0"/>
              </a:rPr>
              <a:t>FROM  Student</a:t>
            </a:r>
            <a:endParaRPr lang="en-US" altLang="zh-CN" dirty="0">
              <a:solidFill>
                <a:srgbClr val="C00000"/>
              </a:solidFill>
              <a:latin typeface="Arial" panose="020B0604020202090204" pitchFamily="34" charset="0"/>
              <a:cs typeface="Arial" panose="020B0604020202090204" pitchFamily="34" charset="0"/>
            </a:endParaRPr>
          </a:p>
          <a:p>
            <a:pPr marL="821055" lvl="2" indent="0">
              <a:buNone/>
            </a:pPr>
            <a:r>
              <a:rPr lang="en-US" altLang="zh-CN" dirty="0">
                <a:solidFill>
                  <a:srgbClr val="C00000"/>
                </a:solidFill>
                <a:latin typeface="Arial" panose="020B0604020202090204" pitchFamily="34" charset="0"/>
                <a:cs typeface="Arial" panose="020B0604020202090204" pitchFamily="34" charset="0"/>
              </a:rPr>
              <a:t>WHERE  </a:t>
            </a:r>
            <a:r>
              <a:rPr lang="en-US" altLang="zh-CN" dirty="0" err="1">
                <a:solidFill>
                  <a:srgbClr val="C00000"/>
                </a:solidFill>
                <a:latin typeface="Arial" panose="020B0604020202090204" pitchFamily="34" charset="0"/>
                <a:cs typeface="Arial" panose="020B0604020202090204" pitchFamily="34" charset="0"/>
              </a:rPr>
              <a:t>Sno </a:t>
            </a:r>
            <a:r>
              <a:rPr lang="en-US" altLang="zh-CN" dirty="0">
                <a:solidFill>
                  <a:srgbClr val="C00000"/>
                </a:solidFill>
                <a:latin typeface="Arial" panose="020B0604020202090204" pitchFamily="34" charset="0"/>
                <a:cs typeface="Arial" panose="020B0604020202090204" pitchFamily="34" charset="0"/>
              </a:rPr>
              <a:t>= '201215129'  AND  </a:t>
            </a:r>
            <a:r>
              <a:rPr lang="en-US" altLang="zh-CN" dirty="0" err="1">
                <a:solidFill>
                  <a:srgbClr val="C00000"/>
                </a:solidFill>
                <a:latin typeface="Arial" panose="020B0604020202090204" pitchFamily="34" charset="0"/>
                <a:cs typeface="Arial" panose="020B0604020202090204" pitchFamily="34" charset="0"/>
              </a:rPr>
              <a:t>Sdept </a:t>
            </a:r>
            <a:r>
              <a:rPr lang="en-US" altLang="zh-CN" dirty="0">
                <a:solidFill>
                  <a:srgbClr val="C00000"/>
                </a:solidFill>
                <a:latin typeface="Arial" panose="020B0604020202090204" pitchFamily="34" charset="0"/>
                <a:cs typeface="Arial" panose="020B0604020202090204" pitchFamily="34" charset="0"/>
              </a:rPr>
              <a:t>= 'IS'</a:t>
            </a:r>
            <a:r>
              <a:rPr lang="zh-CN" altLang="en-US" dirty="0">
                <a:solidFill>
                  <a:srgbClr val="C00000"/>
                </a:solidFill>
                <a:latin typeface="Arial" panose="020B0604020202090204" pitchFamily="34" charset="0"/>
                <a:cs typeface="Arial" panose="020B0604020202090204" pitchFamily="34" charset="0"/>
              </a:rPr>
              <a:t>;</a:t>
            </a:r>
            <a:endParaRPr lang="zh-CN" altLang="en-US" dirty="0">
              <a:solidFill>
                <a:srgbClr val="C00000"/>
              </a:solidFill>
              <a:latin typeface="Arial" panose="020B0604020202090204" pitchFamily="34" charset="0"/>
              <a:cs typeface="Arial" panose="020B0604020202090204" pitchFamily="34" charset="0"/>
            </a:endParaRPr>
          </a:p>
        </p:txBody>
      </p:sp>
      <p:sp>
        <p:nvSpPr>
          <p:cNvPr id="2" name="灯片编号占位符 1"/>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ch03_3_SQL数据更新</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7587">
                                            <p:txEl>
                                              <p:pRg st="5" end="5"/>
                                            </p:txEl>
                                          </p:spTgt>
                                        </p:tgtEl>
                                        <p:attrNameLst>
                                          <p:attrName>style.visibility</p:attrName>
                                        </p:attrNameLst>
                                      </p:cBhvr>
                                      <p:to>
                                        <p:strVal val="visible"/>
                                      </p:to>
                                    </p:set>
                                    <p:anim calcmode="lin" valueType="num">
                                      <p:cBhvr additive="base">
                                        <p:cTn id="7" dur="500" fill="hold"/>
                                        <p:tgtEl>
                                          <p:spTgt spid="67587">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7587">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7587">
                                            <p:txEl>
                                              <p:pRg st="6" end="6"/>
                                            </p:txEl>
                                          </p:spTgt>
                                        </p:tgtEl>
                                        <p:attrNameLst>
                                          <p:attrName>style.visibility</p:attrName>
                                        </p:attrNameLst>
                                      </p:cBhvr>
                                      <p:to>
                                        <p:strVal val="visible"/>
                                      </p:to>
                                    </p:set>
                                    <p:anim calcmode="lin" valueType="num">
                                      <p:cBhvr additive="base">
                                        <p:cTn id="11" dur="500" fill="hold"/>
                                        <p:tgtEl>
                                          <p:spTgt spid="67587">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7587">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7587">
                                            <p:txEl>
                                              <p:pRg st="7" end="7"/>
                                            </p:txEl>
                                          </p:spTgt>
                                        </p:tgtEl>
                                        <p:attrNameLst>
                                          <p:attrName>style.visibility</p:attrName>
                                        </p:attrNameLst>
                                      </p:cBhvr>
                                      <p:to>
                                        <p:strVal val="visible"/>
                                      </p:to>
                                    </p:set>
                                    <p:anim calcmode="lin" valueType="num">
                                      <p:cBhvr additive="base">
                                        <p:cTn id="15" dur="500" fill="hold"/>
                                        <p:tgtEl>
                                          <p:spTgt spid="67587">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7587">
                                            <p:txEl>
                                              <p:pRg st="7" end="7"/>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7587">
                                            <p:txEl>
                                              <p:pRg st="8" end="8"/>
                                            </p:txEl>
                                          </p:spTgt>
                                        </p:tgtEl>
                                        <p:attrNameLst>
                                          <p:attrName>style.visibility</p:attrName>
                                        </p:attrNameLst>
                                      </p:cBhvr>
                                      <p:to>
                                        <p:strVal val="visible"/>
                                      </p:to>
                                    </p:set>
                                    <p:anim calcmode="lin" valueType="num">
                                      <p:cBhvr additive="base">
                                        <p:cTn id="19" dur="500" fill="hold"/>
                                        <p:tgtEl>
                                          <p:spTgt spid="67587">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7587">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r>
              <a:rPr lang="zh-CN" altLang="en-US" dirty="0"/>
              <a:t>更新视图 </a:t>
            </a:r>
            <a:r>
              <a:rPr lang="en-US" altLang="zh-CN" dirty="0"/>
              <a:t>4</a:t>
            </a:r>
            <a:endParaRPr lang="zh-CN" altLang="en-US" dirty="0"/>
          </a:p>
        </p:txBody>
      </p:sp>
      <p:sp>
        <p:nvSpPr>
          <p:cNvPr id="68611" name="Rectangle 3"/>
          <p:cNvSpPr>
            <a:spLocks noGrp="1" noChangeArrowheads="1"/>
          </p:cNvSpPr>
          <p:nvPr>
            <p:ph idx="1"/>
          </p:nvPr>
        </p:nvSpPr>
        <p:spPr/>
        <p:txBody>
          <a:bodyPr>
            <a:normAutofit/>
          </a:bodyPr>
          <a:lstStyle/>
          <a:p>
            <a:r>
              <a:rPr lang="zh-CN" altLang="en-US" dirty="0"/>
              <a:t>允许对行列子集视图进行更新</a:t>
            </a:r>
            <a:endParaRPr lang="zh-CN" altLang="en-US" dirty="0"/>
          </a:p>
          <a:p>
            <a:r>
              <a:rPr lang="zh-CN" altLang="en-US" dirty="0"/>
              <a:t>对其他类型视图的更新不同系统有不同限制</a:t>
            </a:r>
            <a:endParaRPr lang="en-US" altLang="zh-CN" dirty="0"/>
          </a:p>
          <a:p>
            <a:pPr lvl="1"/>
            <a:r>
              <a:rPr lang="zh-CN" altLang="en-US" dirty="0"/>
              <a:t>更新视图的限制：一些视图是不可更新的，因为对这些视图的更新不能唯一地有意义地转换成对相应基本表的更新</a:t>
            </a:r>
            <a:endParaRPr lang="zh-CN" altLang="en-US" dirty="0"/>
          </a:p>
          <a:p>
            <a:pPr lvl="1"/>
            <a:endParaRPr lang="zh-CN" altLang="en-US" dirty="0"/>
          </a:p>
          <a:p>
            <a:r>
              <a:rPr lang="zh-CN" altLang="en-US" dirty="0"/>
              <a:t>例：例</a:t>
            </a:r>
            <a:r>
              <a:rPr lang="en-US" altLang="zh-CN" dirty="0"/>
              <a:t>3.89</a:t>
            </a:r>
            <a:r>
              <a:rPr lang="zh-CN" altLang="en-US" dirty="0"/>
              <a:t>定义的视图</a:t>
            </a:r>
            <a:r>
              <a:rPr lang="en-US" altLang="zh-CN" dirty="0"/>
              <a:t>S_G</a:t>
            </a:r>
            <a:r>
              <a:rPr lang="zh-CN" altLang="en-US" dirty="0"/>
              <a:t>为不可更新视图。</a:t>
            </a:r>
            <a:endParaRPr lang="zh-CN" altLang="en-US" dirty="0"/>
          </a:p>
          <a:p>
            <a:pPr marL="715645" lvl="2" indent="0">
              <a:lnSpc>
                <a:spcPct val="110000"/>
              </a:lnSpc>
              <a:spcBef>
                <a:spcPts val="1000"/>
              </a:spcBef>
              <a:buNone/>
            </a:pPr>
            <a:r>
              <a:rPr lang="en-US" altLang="zh-CN" dirty="0">
                <a:solidFill>
                  <a:srgbClr val="C00000"/>
                </a:solidFill>
                <a:latin typeface="Arial" panose="020B0604020202090204" pitchFamily="34" charset="0"/>
                <a:cs typeface="Arial" panose="020B0604020202090204" pitchFamily="34" charset="0"/>
              </a:rPr>
              <a:t>UPDATE  S_G</a:t>
            </a:r>
            <a:endParaRPr lang="en-US" altLang="zh-CN" dirty="0">
              <a:solidFill>
                <a:srgbClr val="C00000"/>
              </a:solidFill>
              <a:latin typeface="Arial" panose="020B0604020202090204" pitchFamily="34" charset="0"/>
              <a:cs typeface="Arial" panose="020B0604020202090204" pitchFamily="34" charset="0"/>
            </a:endParaRPr>
          </a:p>
          <a:p>
            <a:pPr marL="715645" lvl="2" indent="0">
              <a:buNone/>
            </a:pPr>
            <a:r>
              <a:rPr lang="en-US" altLang="zh-CN" dirty="0">
                <a:solidFill>
                  <a:srgbClr val="C00000"/>
                </a:solidFill>
                <a:latin typeface="Arial" panose="020B0604020202090204" pitchFamily="34" charset="0"/>
                <a:cs typeface="Arial" panose="020B0604020202090204" pitchFamily="34" charset="0"/>
              </a:rPr>
              <a:t>SET     </a:t>
            </a:r>
            <a:r>
              <a:rPr lang="en-US" altLang="zh-CN" dirty="0" err="1">
                <a:solidFill>
                  <a:srgbClr val="C00000"/>
                </a:solidFill>
                <a:latin typeface="Arial" panose="020B0604020202090204" pitchFamily="34" charset="0"/>
                <a:cs typeface="Arial" panose="020B0604020202090204" pitchFamily="34" charset="0"/>
              </a:rPr>
              <a:t>Gavg </a:t>
            </a:r>
            <a:r>
              <a:rPr lang="en-US" altLang="zh-CN" dirty="0">
                <a:solidFill>
                  <a:srgbClr val="C00000"/>
                </a:solidFill>
                <a:latin typeface="Arial" panose="020B0604020202090204" pitchFamily="34" charset="0"/>
                <a:cs typeface="Arial" panose="020B0604020202090204" pitchFamily="34" charset="0"/>
              </a:rPr>
              <a:t>= 90</a:t>
            </a:r>
            <a:endParaRPr lang="en-US" altLang="zh-CN" dirty="0">
              <a:solidFill>
                <a:srgbClr val="C00000"/>
              </a:solidFill>
              <a:latin typeface="Arial" panose="020B0604020202090204" pitchFamily="34" charset="0"/>
              <a:cs typeface="Arial" panose="020B0604020202090204" pitchFamily="34" charset="0"/>
            </a:endParaRPr>
          </a:p>
          <a:p>
            <a:pPr marL="715645" lvl="2" indent="0">
              <a:buNone/>
            </a:pPr>
            <a:r>
              <a:rPr lang="en-US" altLang="zh-CN" dirty="0">
                <a:solidFill>
                  <a:srgbClr val="C00000"/>
                </a:solidFill>
                <a:latin typeface="Arial" panose="020B0604020202090204" pitchFamily="34" charset="0"/>
                <a:cs typeface="Arial" panose="020B0604020202090204" pitchFamily="34" charset="0"/>
              </a:rPr>
              <a:t>WHERE  </a:t>
            </a:r>
            <a:r>
              <a:rPr lang="en-US" altLang="zh-CN" dirty="0" err="1">
                <a:solidFill>
                  <a:srgbClr val="C00000"/>
                </a:solidFill>
                <a:latin typeface="Arial" panose="020B0604020202090204" pitchFamily="34" charset="0"/>
                <a:cs typeface="Arial" panose="020B0604020202090204" pitchFamily="34" charset="0"/>
              </a:rPr>
              <a:t>Sno </a:t>
            </a:r>
            <a:r>
              <a:rPr lang="en-US" altLang="zh-CN" dirty="0">
                <a:solidFill>
                  <a:srgbClr val="C00000"/>
                </a:solidFill>
                <a:latin typeface="Arial" panose="020B0604020202090204" pitchFamily="34" charset="0"/>
                <a:cs typeface="Arial" panose="020B0604020202090204" pitchFamily="34" charset="0"/>
              </a:rPr>
              <a:t>= </a:t>
            </a:r>
            <a:r>
              <a:rPr lang="zh-CN" altLang="en-US" dirty="0">
                <a:solidFill>
                  <a:srgbClr val="C00000"/>
                </a:solidFill>
                <a:latin typeface="Arial" panose="020B0604020202090204" pitchFamily="34" charset="0"/>
                <a:cs typeface="Arial" panose="020B0604020202090204" pitchFamily="34" charset="0"/>
              </a:rPr>
              <a:t>'</a:t>
            </a:r>
            <a:r>
              <a:rPr lang="en-US" altLang="zh-CN" dirty="0">
                <a:solidFill>
                  <a:srgbClr val="C00000"/>
                </a:solidFill>
                <a:latin typeface="Arial" panose="020B0604020202090204" pitchFamily="34" charset="0"/>
                <a:cs typeface="Arial" panose="020B0604020202090204" pitchFamily="34" charset="0"/>
              </a:rPr>
              <a:t>201215121</a:t>
            </a:r>
            <a:r>
              <a:rPr lang="zh-CN" altLang="en-US" dirty="0">
                <a:solidFill>
                  <a:srgbClr val="C00000"/>
                </a:solidFill>
                <a:latin typeface="Arial" panose="020B0604020202090204" pitchFamily="34" charset="0"/>
                <a:cs typeface="Arial" panose="020B0604020202090204" pitchFamily="34" charset="0"/>
              </a:rPr>
              <a:t>';</a:t>
            </a:r>
            <a:endParaRPr lang="zh-CN" altLang="en-US" dirty="0">
              <a:solidFill>
                <a:srgbClr val="C00000"/>
              </a:solidFill>
              <a:latin typeface="Arial" panose="020B0604020202090204" pitchFamily="34" charset="0"/>
              <a:cs typeface="Arial" panose="020B0604020202090204" pitchFamily="34" charset="0"/>
            </a:endParaRPr>
          </a:p>
          <a:p>
            <a:pPr>
              <a:lnSpc>
                <a:spcPct val="110000"/>
              </a:lnSpc>
              <a:spcBef>
                <a:spcPts val="2000"/>
              </a:spcBef>
            </a:pPr>
            <a:r>
              <a:rPr lang="zh-CN" altLang="en-US" dirty="0"/>
              <a:t>这个对视图的更新无法转换成对基本表</a:t>
            </a:r>
            <a:r>
              <a:rPr lang="en-US" altLang="zh-CN" dirty="0"/>
              <a:t>SC</a:t>
            </a:r>
            <a:r>
              <a:rPr lang="zh-CN" altLang="en-US" dirty="0"/>
              <a:t>的更新</a:t>
            </a:r>
            <a:endParaRPr lang="zh-CN" altLang="en-US" dirty="0"/>
          </a:p>
        </p:txBody>
      </p:sp>
      <p:sp>
        <p:nvSpPr>
          <p:cNvPr id="2" name="灯片编号占位符 1"/>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ch03_3_SQL数据更新</a:t>
            </a:r>
            <a:endParaRPr lang="zh-CN" altLang="en-US"/>
          </a:p>
        </p:txBody>
      </p:sp>
      <p:pic>
        <p:nvPicPr>
          <p:cNvPr id="6" name="图片 5"/>
          <p:cNvPicPr>
            <a:picLocks noChangeAspect="1"/>
          </p:cNvPicPr>
          <p:nvPr/>
        </p:nvPicPr>
        <p:blipFill>
          <a:blip r:embed="rId1"/>
          <a:stretch>
            <a:fillRect/>
          </a:stretch>
        </p:blipFill>
        <p:spPr>
          <a:xfrm>
            <a:off x="8143875" y="3013710"/>
            <a:ext cx="3934460" cy="2448560"/>
          </a:xfrm>
          <a:prstGeom prst="rect">
            <a:avLst/>
          </a:prstGeom>
          <a:ln>
            <a:solidFill>
              <a:srgbClr val="C00000"/>
            </a:solidFill>
          </a:ln>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8611">
                                            <p:txEl>
                                              <p:pRg st="4" end="4"/>
                                            </p:txEl>
                                          </p:spTgt>
                                        </p:tgtEl>
                                        <p:attrNameLst>
                                          <p:attrName>style.visibility</p:attrName>
                                        </p:attrNameLst>
                                      </p:cBhvr>
                                      <p:to>
                                        <p:strVal val="visible"/>
                                      </p:to>
                                    </p:set>
                                    <p:animEffect transition="in" filter="blinds(horizontal)">
                                      <p:cBhvr>
                                        <p:cTn id="7" dur="500"/>
                                        <p:tgtEl>
                                          <p:spTgt spid="68611">
                                            <p:txEl>
                                              <p:pRg st="4" end="4"/>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8611">
                                            <p:txEl>
                                              <p:pRg st="5" end="5"/>
                                            </p:txEl>
                                          </p:spTgt>
                                        </p:tgtEl>
                                        <p:attrNameLst>
                                          <p:attrName>style.visibility</p:attrName>
                                        </p:attrNameLst>
                                      </p:cBhvr>
                                      <p:to>
                                        <p:strVal val="visible"/>
                                      </p:to>
                                    </p:set>
                                    <p:animEffect transition="in" filter="blinds(horizontal)">
                                      <p:cBhvr>
                                        <p:cTn id="10" dur="500"/>
                                        <p:tgtEl>
                                          <p:spTgt spid="68611">
                                            <p:txEl>
                                              <p:pRg st="5" end="5"/>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8611">
                                            <p:txEl>
                                              <p:pRg st="6" end="6"/>
                                            </p:txEl>
                                          </p:spTgt>
                                        </p:tgtEl>
                                        <p:attrNameLst>
                                          <p:attrName>style.visibility</p:attrName>
                                        </p:attrNameLst>
                                      </p:cBhvr>
                                      <p:to>
                                        <p:strVal val="visible"/>
                                      </p:to>
                                    </p:set>
                                    <p:animEffect transition="in" filter="blinds(horizontal)">
                                      <p:cBhvr>
                                        <p:cTn id="13" dur="500"/>
                                        <p:tgtEl>
                                          <p:spTgt spid="68611">
                                            <p:txEl>
                                              <p:pRg st="6" end="6"/>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68611">
                                            <p:txEl>
                                              <p:pRg st="7" end="7"/>
                                            </p:txEl>
                                          </p:spTgt>
                                        </p:tgtEl>
                                        <p:attrNameLst>
                                          <p:attrName>style.visibility</p:attrName>
                                        </p:attrNameLst>
                                      </p:cBhvr>
                                      <p:to>
                                        <p:strVal val="visible"/>
                                      </p:to>
                                    </p:set>
                                    <p:animEffect transition="in" filter="blinds(horizontal)">
                                      <p:cBhvr>
                                        <p:cTn id="16" dur="500"/>
                                        <p:tgtEl>
                                          <p:spTgt spid="68611">
                                            <p:txEl>
                                              <p:pRg st="7" end="7"/>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68611">
                                            <p:txEl>
                                              <p:pRg st="8" end="8"/>
                                            </p:txEl>
                                          </p:spTgt>
                                        </p:tgtEl>
                                        <p:attrNameLst>
                                          <p:attrName>style.visibility</p:attrName>
                                        </p:attrNameLst>
                                      </p:cBhvr>
                                      <p:to>
                                        <p:strVal val="visible"/>
                                      </p:to>
                                    </p:set>
                                    <p:animEffect transition="in" filter="blinds(horizontal)">
                                      <p:cBhvr>
                                        <p:cTn id="21" dur="500"/>
                                        <p:tgtEl>
                                          <p:spTgt spid="68611">
                                            <p:txEl>
                                              <p:pRg st="8" end="8"/>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2"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1+#ppt_w/2"/>
                                          </p:val>
                                        </p:tav>
                                        <p:tav tm="100000">
                                          <p:val>
                                            <p:strVal val="#ppt_x"/>
                                          </p:val>
                                        </p:tav>
                                      </p:tavLst>
                                    </p:anim>
                                    <p:anim calcmode="lin" valueType="num">
                                      <p:cBhvr additive="base">
                                        <p:cTn id="27"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p:cNvSpPr>
            <a:spLocks noGrp="1"/>
          </p:cNvSpPr>
          <p:nvPr>
            <p:ph type="title"/>
          </p:nvPr>
        </p:nvSpPr>
        <p:spPr/>
        <p:txBody>
          <a:bodyPr/>
          <a:lstStyle/>
          <a:p>
            <a:r>
              <a:rPr lang="zh-CN" altLang="en-US" dirty="0"/>
              <a:t>更新视图 </a:t>
            </a:r>
            <a:r>
              <a:rPr lang="en-US" altLang="zh-CN" dirty="0"/>
              <a:t>5</a:t>
            </a:r>
            <a:endParaRPr lang="zh-CN" altLang="en-US" dirty="0"/>
          </a:p>
        </p:txBody>
      </p:sp>
      <p:sp>
        <p:nvSpPr>
          <p:cNvPr id="71683" name="内容占位符 2"/>
          <p:cNvSpPr>
            <a:spLocks noGrp="1"/>
          </p:cNvSpPr>
          <p:nvPr>
            <p:ph idx="1"/>
          </p:nvPr>
        </p:nvSpPr>
        <p:spPr/>
        <p:txBody>
          <a:bodyPr>
            <a:normAutofit/>
          </a:bodyPr>
          <a:lstStyle/>
          <a:p>
            <a:r>
              <a:rPr lang="zh-CN" altLang="en-US" dirty="0">
                <a:latin typeface="Arial" panose="020B0604020202090204" pitchFamily="34" charset="0"/>
                <a:cs typeface="Arial" panose="020B0604020202090204" pitchFamily="34" charset="0"/>
              </a:rPr>
              <a:t>例：将</a:t>
            </a:r>
            <a:r>
              <a:rPr lang="en-US" altLang="zh-CN" dirty="0">
                <a:latin typeface="Arial" panose="020B0604020202090204" pitchFamily="34" charset="0"/>
                <a:cs typeface="Arial" panose="020B0604020202090204" pitchFamily="34" charset="0"/>
              </a:rPr>
              <a:t>SC</a:t>
            </a:r>
            <a:r>
              <a:rPr lang="zh-CN" altLang="en-US" dirty="0">
                <a:latin typeface="Arial" panose="020B0604020202090204" pitchFamily="34" charset="0"/>
                <a:cs typeface="Arial" panose="020B0604020202090204" pitchFamily="34" charset="0"/>
              </a:rPr>
              <a:t>中成绩在平均成绩之上的元组定义成一个视图</a:t>
            </a:r>
            <a:endParaRPr lang="en-US" altLang="zh-CN" dirty="0">
              <a:latin typeface="Arial" panose="020B0604020202090204" pitchFamily="34" charset="0"/>
              <a:cs typeface="Arial" panose="020B0604020202090204" pitchFamily="34" charset="0"/>
            </a:endParaRPr>
          </a:p>
          <a:p>
            <a:pPr marL="914400" lvl="2" indent="0">
              <a:buNone/>
            </a:pPr>
            <a:r>
              <a:rPr lang="en-US" altLang="zh-CN" dirty="0">
                <a:latin typeface="Arial" panose="020B0604020202090204" pitchFamily="34" charset="0"/>
                <a:cs typeface="Arial" panose="020B0604020202090204" pitchFamily="34" charset="0"/>
              </a:rPr>
              <a:t>CREATE VIEW  GOOD_SC</a:t>
            </a:r>
            <a:endParaRPr lang="en-US" altLang="zh-CN" dirty="0">
              <a:latin typeface="Arial" panose="020B0604020202090204" pitchFamily="34" charset="0"/>
              <a:cs typeface="Arial" panose="020B0604020202090204" pitchFamily="34" charset="0"/>
            </a:endParaRPr>
          </a:p>
          <a:p>
            <a:pPr marL="914400" lvl="2" indent="0">
              <a:buNone/>
            </a:pPr>
            <a:r>
              <a:rPr lang="en-US" altLang="zh-CN" dirty="0">
                <a:latin typeface="Arial" panose="020B0604020202090204" pitchFamily="34" charset="0"/>
                <a:cs typeface="Arial" panose="020B0604020202090204" pitchFamily="34" charset="0"/>
              </a:rPr>
              <a:t>AS </a:t>
            </a:r>
            <a:endParaRPr lang="en-US" altLang="zh-CN" dirty="0">
              <a:latin typeface="Arial" panose="020B0604020202090204" pitchFamily="34" charset="0"/>
              <a:cs typeface="Arial" panose="020B0604020202090204" pitchFamily="34" charset="0"/>
            </a:endParaRPr>
          </a:p>
          <a:p>
            <a:pPr marL="914400" lvl="2" indent="619125">
              <a:buNone/>
            </a:pPr>
            <a:r>
              <a:rPr lang="en-US" altLang="zh-CN" dirty="0">
                <a:latin typeface="Arial" panose="020B0604020202090204" pitchFamily="34" charset="0"/>
                <a:cs typeface="Arial" panose="020B0604020202090204" pitchFamily="34" charset="0"/>
              </a:rPr>
              <a:t>SELECT  </a:t>
            </a:r>
            <a:r>
              <a:rPr lang="en-US" altLang="zh-CN" dirty="0" err="1">
                <a:latin typeface="Arial" panose="020B0604020202090204" pitchFamily="34" charset="0"/>
                <a:cs typeface="Arial" panose="020B0604020202090204" pitchFamily="34" charset="0"/>
              </a:rPr>
              <a:t>Sno</a:t>
            </a:r>
            <a:r>
              <a:rPr lang="zh-CN" altLang="en-US" dirty="0">
                <a:latin typeface="Arial" panose="020B0604020202090204" pitchFamily="34" charset="0"/>
                <a:cs typeface="Arial" panose="020B0604020202090204" pitchFamily="34" charset="0"/>
              </a:rPr>
              <a:t>,</a:t>
            </a:r>
            <a:r>
              <a:rPr lang="en-US" altLang="zh-CN" dirty="0" err="1">
                <a:latin typeface="Arial" panose="020B0604020202090204" pitchFamily="34" charset="0"/>
                <a:cs typeface="Arial" panose="020B0604020202090204" pitchFamily="34" charset="0"/>
              </a:rPr>
              <a:t>Cno</a:t>
            </a:r>
            <a:r>
              <a:rPr lang="zh-CN" altLang="en-US" dirty="0">
                <a:latin typeface="Arial" panose="020B0604020202090204" pitchFamily="34" charset="0"/>
                <a:cs typeface="Arial" panose="020B0604020202090204" pitchFamily="34" charset="0"/>
              </a:rPr>
              <a:t>,</a:t>
            </a:r>
            <a:r>
              <a:rPr lang="en-US" altLang="zh-CN" dirty="0">
                <a:latin typeface="Arial" panose="020B0604020202090204" pitchFamily="34" charset="0"/>
                <a:cs typeface="Arial" panose="020B0604020202090204" pitchFamily="34" charset="0"/>
              </a:rPr>
              <a:t>Grade</a:t>
            </a:r>
            <a:endParaRPr lang="en-US" altLang="zh-CN" dirty="0">
              <a:latin typeface="Arial" panose="020B0604020202090204" pitchFamily="34" charset="0"/>
              <a:cs typeface="Arial" panose="020B0604020202090204" pitchFamily="34" charset="0"/>
            </a:endParaRPr>
          </a:p>
          <a:p>
            <a:pPr marL="914400" lvl="2" indent="619125">
              <a:buNone/>
            </a:pPr>
            <a:r>
              <a:rPr lang="en-US" altLang="zh-CN" dirty="0">
                <a:latin typeface="Arial" panose="020B0604020202090204" pitchFamily="34" charset="0"/>
                <a:cs typeface="Arial" panose="020B0604020202090204" pitchFamily="34" charset="0"/>
              </a:rPr>
              <a:t>FROM     SC</a:t>
            </a:r>
            <a:endParaRPr lang="en-US" altLang="zh-CN" dirty="0">
              <a:latin typeface="Arial" panose="020B0604020202090204" pitchFamily="34" charset="0"/>
              <a:cs typeface="Arial" panose="020B0604020202090204" pitchFamily="34" charset="0"/>
            </a:endParaRPr>
          </a:p>
          <a:p>
            <a:pPr marL="914400" lvl="2" indent="619125">
              <a:buNone/>
            </a:pPr>
            <a:r>
              <a:rPr lang="en-US" altLang="zh-CN" dirty="0">
                <a:latin typeface="Arial" panose="020B0604020202090204" pitchFamily="34" charset="0"/>
                <a:cs typeface="Arial" panose="020B0604020202090204" pitchFamily="34" charset="0"/>
              </a:rPr>
              <a:t>WHERE  Grade &gt; (</a:t>
            </a:r>
            <a:endParaRPr lang="en-US" altLang="zh-CN" dirty="0">
              <a:latin typeface="Arial" panose="020B0604020202090204" pitchFamily="34" charset="0"/>
              <a:cs typeface="Arial" panose="020B0604020202090204" pitchFamily="34" charset="0"/>
            </a:endParaRPr>
          </a:p>
          <a:p>
            <a:pPr marL="914400" lvl="2" indent="3677285">
              <a:buNone/>
            </a:pPr>
            <a:r>
              <a:rPr lang="en-US" altLang="zh-CN" dirty="0">
                <a:latin typeface="Arial" panose="020B0604020202090204" pitchFamily="34" charset="0"/>
                <a:cs typeface="Arial" panose="020B0604020202090204" pitchFamily="34" charset="0"/>
              </a:rPr>
              <a:t>SELECT  AVG</a:t>
            </a:r>
            <a:r>
              <a:rPr lang="zh-CN" altLang="en-US" dirty="0">
                <a:latin typeface="Arial" panose="020B0604020202090204" pitchFamily="34" charset="0"/>
                <a:cs typeface="Arial" panose="020B0604020202090204" pitchFamily="34" charset="0"/>
              </a:rPr>
              <a:t>(</a:t>
            </a:r>
            <a:r>
              <a:rPr lang="en-US" altLang="zh-CN" dirty="0">
                <a:latin typeface="Arial" panose="020B0604020202090204" pitchFamily="34" charset="0"/>
                <a:cs typeface="Arial" panose="020B0604020202090204" pitchFamily="34" charset="0"/>
              </a:rPr>
              <a:t>Grade</a:t>
            </a:r>
            <a:r>
              <a:rPr lang="zh-CN" altLang="en-US" dirty="0">
                <a:latin typeface="Arial" panose="020B0604020202090204" pitchFamily="34" charset="0"/>
                <a:cs typeface="Arial" panose="020B0604020202090204" pitchFamily="34" charset="0"/>
              </a:rPr>
              <a:t>)</a:t>
            </a:r>
            <a:endParaRPr lang="zh-CN" altLang="en-US" dirty="0">
              <a:latin typeface="Arial" panose="020B0604020202090204" pitchFamily="34" charset="0"/>
              <a:cs typeface="Arial" panose="020B0604020202090204" pitchFamily="34" charset="0"/>
            </a:endParaRPr>
          </a:p>
          <a:p>
            <a:pPr marL="914400" lvl="2" indent="3677285">
              <a:buNone/>
            </a:pPr>
            <a:r>
              <a:rPr lang="en-US" altLang="zh-CN" dirty="0">
                <a:latin typeface="Arial" panose="020B0604020202090204" pitchFamily="34" charset="0"/>
                <a:cs typeface="Arial" panose="020B0604020202090204" pitchFamily="34" charset="0"/>
              </a:rPr>
              <a:t>FROM     SC                  </a:t>
            </a:r>
            <a:r>
              <a:rPr lang="zh-CN" altLang="en-US" dirty="0">
                <a:latin typeface="Arial" panose="020B0604020202090204" pitchFamily="34" charset="0"/>
                <a:cs typeface="Arial" panose="020B0604020202090204" pitchFamily="34" charset="0"/>
              </a:rPr>
              <a:t>);</a:t>
            </a:r>
            <a:endParaRPr lang="zh-CN" altLang="en-US" dirty="0">
              <a:latin typeface="Arial" panose="020B0604020202090204" pitchFamily="34" charset="0"/>
              <a:cs typeface="Arial" panose="020B0604020202090204" pitchFamily="34" charset="0"/>
            </a:endParaRPr>
          </a:p>
          <a:p>
            <a:pPr marL="914400" lvl="2" indent="3677285">
              <a:buNone/>
            </a:pPr>
            <a:endParaRPr lang="zh-CN" altLang="en-US" dirty="0">
              <a:latin typeface="Arial" panose="020B0604020202090204" pitchFamily="34" charset="0"/>
              <a:cs typeface="Arial" panose="020B0604020202090204" pitchFamily="34" charset="0"/>
            </a:endParaRPr>
          </a:p>
          <a:p>
            <a:r>
              <a:rPr lang="en-US" altLang="zh-CN" dirty="0">
                <a:latin typeface="Arial" panose="020B0604020202090204" pitchFamily="34" charset="0"/>
                <a:cs typeface="Arial" panose="020B0604020202090204" pitchFamily="34" charset="0"/>
              </a:rPr>
              <a:t> </a:t>
            </a:r>
            <a:r>
              <a:rPr lang="zh-CN" altLang="en-US" dirty="0">
                <a:latin typeface="Arial" panose="020B0604020202090204" pitchFamily="34" charset="0"/>
                <a:cs typeface="Arial" panose="020B0604020202090204" pitchFamily="34" charset="0"/>
              </a:rPr>
              <a:t>在一个不允许更新的视图上定义的</a:t>
            </a:r>
            <a:r>
              <a:rPr lang="zh-CN" altLang="en-US" dirty="0">
                <a:latin typeface="Arial" panose="020B0604020202090204" pitchFamily="34" charset="0"/>
                <a:cs typeface="Arial" panose="020B0604020202090204" pitchFamily="34" charset="0"/>
              </a:rPr>
              <a:t>新视图也不允许更新。</a:t>
            </a:r>
            <a:endParaRPr lang="zh-CN" altLang="en-US" dirty="0">
              <a:latin typeface="Arial" panose="020B0604020202090204" pitchFamily="34" charset="0"/>
              <a:cs typeface="Arial" panose="020B0604020202090204" pitchFamily="34" charset="0"/>
            </a:endParaRPr>
          </a:p>
        </p:txBody>
      </p:sp>
      <p:sp>
        <p:nvSpPr>
          <p:cNvPr id="2" name="灯片编号占位符 1"/>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ch03_3_SQL数据更新</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683">
                                            <p:txEl>
                                              <p:pRg st="9" end="9"/>
                                            </p:txEl>
                                          </p:spTgt>
                                        </p:tgtEl>
                                        <p:attrNameLst>
                                          <p:attrName>style.visibility</p:attrName>
                                        </p:attrNameLst>
                                      </p:cBhvr>
                                      <p:to>
                                        <p:strVal val="visible"/>
                                      </p:to>
                                    </p:set>
                                    <p:anim calcmode="lin" valueType="num">
                                      <p:cBhvr additive="base">
                                        <p:cTn id="7" dur="500" fill="hold"/>
                                        <p:tgtEl>
                                          <p:spTgt spid="71683">
                                            <p:txEl>
                                              <p:pRg st="9" end="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68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normAutofit fontScale="90000"/>
          </a:bodyPr>
          <a:lstStyle/>
          <a:p>
            <a:r>
              <a:rPr lang="zh-CN" altLang="en-US" dirty="0"/>
              <a:t>视图的作用</a:t>
            </a:r>
            <a:r>
              <a:rPr lang="en-US" altLang="zh-CN" dirty="0"/>
              <a:t> - </a:t>
            </a:r>
            <a:r>
              <a:rPr lang="zh-CN" altLang="en-US" dirty="0"/>
              <a:t>视图能够简化用户的操作</a:t>
            </a:r>
            <a:endParaRPr lang="zh-CN" altLang="en-US" dirty="0"/>
          </a:p>
        </p:txBody>
      </p:sp>
      <p:sp>
        <p:nvSpPr>
          <p:cNvPr id="74755" name="Rectangle 3"/>
          <p:cNvSpPr>
            <a:spLocks noGrp="1" noChangeArrowheads="1"/>
          </p:cNvSpPr>
          <p:nvPr>
            <p:ph idx="1"/>
          </p:nvPr>
        </p:nvSpPr>
        <p:spPr/>
        <p:txBody>
          <a:bodyPr/>
          <a:lstStyle/>
          <a:p>
            <a:pPr>
              <a:lnSpc>
                <a:spcPct val="110000"/>
              </a:lnSpc>
              <a:spcBef>
                <a:spcPts val="2000"/>
              </a:spcBef>
            </a:pPr>
            <a:r>
              <a:rPr lang="zh-CN" altLang="en-US" dirty="0"/>
              <a:t>当视图中数据不是直接来自基本表时，定义视图能够简化用户的操作</a:t>
            </a:r>
            <a:endParaRPr lang="zh-CN" altLang="en-US" dirty="0"/>
          </a:p>
          <a:p>
            <a:pPr lvl="1">
              <a:lnSpc>
                <a:spcPct val="110000"/>
              </a:lnSpc>
              <a:spcBef>
                <a:spcPts val="2000"/>
              </a:spcBef>
            </a:pPr>
            <a:r>
              <a:rPr lang="zh-CN" altLang="en-US" dirty="0"/>
              <a:t>基于多张表连接形成的视图</a:t>
            </a:r>
            <a:endParaRPr lang="zh-CN" altLang="en-US" dirty="0"/>
          </a:p>
          <a:p>
            <a:pPr lvl="1">
              <a:lnSpc>
                <a:spcPct val="110000"/>
              </a:lnSpc>
              <a:spcBef>
                <a:spcPts val="2000"/>
              </a:spcBef>
            </a:pPr>
            <a:r>
              <a:rPr lang="zh-CN" altLang="en-US" dirty="0"/>
              <a:t>基于复杂嵌套查询的视图</a:t>
            </a:r>
            <a:endParaRPr lang="zh-CN" altLang="en-US" dirty="0"/>
          </a:p>
          <a:p>
            <a:pPr lvl="1">
              <a:lnSpc>
                <a:spcPct val="110000"/>
              </a:lnSpc>
              <a:spcBef>
                <a:spcPts val="2000"/>
              </a:spcBef>
            </a:pPr>
            <a:r>
              <a:rPr lang="zh-CN" altLang="en-US" dirty="0"/>
              <a:t>含导出属性的视图</a:t>
            </a:r>
            <a:endParaRPr lang="en-US" altLang="zh-CN" dirty="0"/>
          </a:p>
        </p:txBody>
      </p:sp>
      <p:sp>
        <p:nvSpPr>
          <p:cNvPr id="2" name="灯片编号占位符 1"/>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ch03_3_SQL数据更新</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p:cNvSpPr>
            <a:spLocks noGrp="1"/>
          </p:cNvSpPr>
          <p:nvPr>
            <p:ph type="title"/>
          </p:nvPr>
        </p:nvSpPr>
        <p:spPr/>
        <p:txBody>
          <a:bodyPr>
            <a:normAutofit fontScale="90000"/>
          </a:bodyPr>
          <a:lstStyle/>
          <a:p>
            <a:r>
              <a:rPr lang="zh-CN" altLang="en-US" dirty="0"/>
              <a:t>视图的作用</a:t>
            </a:r>
            <a:r>
              <a:rPr lang="en-US" altLang="zh-CN" dirty="0"/>
              <a:t> - </a:t>
            </a:r>
            <a:r>
              <a:rPr lang="zh-CN" altLang="en-US" dirty="0"/>
              <a:t>视图使用户能以多种角度看待同一数据</a:t>
            </a:r>
            <a:endParaRPr lang="zh-CN" altLang="en-US" dirty="0"/>
          </a:p>
        </p:txBody>
      </p:sp>
      <p:sp>
        <p:nvSpPr>
          <p:cNvPr id="75779" name="内容占位符 2"/>
          <p:cNvSpPr>
            <a:spLocks noGrp="1"/>
          </p:cNvSpPr>
          <p:nvPr>
            <p:ph idx="1"/>
          </p:nvPr>
        </p:nvSpPr>
        <p:spPr/>
        <p:txBody>
          <a:bodyPr/>
          <a:lstStyle/>
          <a:p>
            <a:r>
              <a:rPr lang="zh-CN" altLang="en-US" dirty="0"/>
              <a:t>视图机制能使不同用户以不同方式看待同一数据，</a:t>
            </a:r>
            <a:endParaRPr lang="en-US" altLang="zh-CN" dirty="0"/>
          </a:p>
          <a:p>
            <a:r>
              <a:rPr lang="zh-CN" altLang="en-US" dirty="0"/>
              <a:t>适应数据库共享的需要</a:t>
            </a:r>
            <a:endParaRPr lang="zh-CN" altLang="en-US" dirty="0"/>
          </a:p>
          <a:p>
            <a:endParaRPr lang="zh-CN" altLang="en-US" dirty="0"/>
          </a:p>
        </p:txBody>
      </p:sp>
      <p:sp>
        <p:nvSpPr>
          <p:cNvPr id="2" name="灯片编号占位符 1"/>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ch03_3_SQL数据更新</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normAutofit fontScale="90000"/>
          </a:bodyPr>
          <a:lstStyle/>
          <a:p>
            <a:r>
              <a:rPr lang="zh-CN" altLang="en-US" dirty="0"/>
              <a:t>视图的作用</a:t>
            </a:r>
            <a:r>
              <a:rPr lang="en-US" altLang="zh-CN" dirty="0"/>
              <a:t> - </a:t>
            </a:r>
            <a:r>
              <a:rPr lang="zh-CN" altLang="en-US" dirty="0"/>
              <a:t>视图对重构数据库提供了一定程度的逻辑独立性</a:t>
            </a:r>
            <a:endParaRPr lang="zh-CN" altLang="en-US" dirty="0"/>
          </a:p>
        </p:txBody>
      </p:sp>
      <p:sp>
        <p:nvSpPr>
          <p:cNvPr id="76803" name="Rectangle 3"/>
          <p:cNvSpPr>
            <a:spLocks noGrp="1" noChangeArrowheads="1"/>
          </p:cNvSpPr>
          <p:nvPr>
            <p:ph idx="1"/>
          </p:nvPr>
        </p:nvSpPr>
        <p:spPr>
          <a:xfrm>
            <a:off x="424180" y="687070"/>
            <a:ext cx="11343005" cy="5902960"/>
          </a:xfrm>
        </p:spPr>
        <p:txBody>
          <a:bodyPr>
            <a:spAutoFit/>
          </a:bodyPr>
          <a:lstStyle/>
          <a:p>
            <a:pPr>
              <a:lnSpc>
                <a:spcPct val="100000"/>
              </a:lnSpc>
            </a:pPr>
            <a:r>
              <a:rPr lang="zh-CN" altLang="en-US" sz="2800" dirty="0">
                <a:latin typeface="Arial" panose="020B0604020202090204" pitchFamily="34" charset="0"/>
                <a:cs typeface="Arial" panose="020B0604020202090204" pitchFamily="34" charset="0"/>
              </a:rPr>
              <a:t>例：学生关系</a:t>
            </a:r>
            <a:r>
              <a:rPr lang="en-US" altLang="zh-CN" sz="2800" dirty="0">
                <a:latin typeface="Arial" panose="020B0604020202090204" pitchFamily="34" charset="0"/>
                <a:cs typeface="Arial" panose="020B0604020202090204" pitchFamily="34" charset="0"/>
              </a:rPr>
              <a:t>Student</a:t>
            </a:r>
            <a:r>
              <a:rPr lang="zh-CN" altLang="en-US" sz="2800" dirty="0">
                <a:latin typeface="Arial" panose="020B0604020202090204" pitchFamily="34" charset="0"/>
                <a:cs typeface="Arial" panose="020B0604020202090204" pitchFamily="34" charset="0"/>
              </a:rPr>
              <a:t>(</a:t>
            </a:r>
            <a:r>
              <a:rPr lang="en-US" altLang="zh-CN" sz="2800" dirty="0" err="1">
                <a:latin typeface="Arial" panose="020B0604020202090204" pitchFamily="34" charset="0"/>
                <a:cs typeface="Arial" panose="020B0604020202090204" pitchFamily="34" charset="0"/>
              </a:rPr>
              <a:t>Sno</a:t>
            </a:r>
            <a:r>
              <a:rPr lang="zh-CN" altLang="en-US" sz="2800" dirty="0">
                <a:latin typeface="Arial" panose="020B0604020202090204" pitchFamily="34" charset="0"/>
                <a:cs typeface="Arial" panose="020B0604020202090204" pitchFamily="34" charset="0"/>
              </a:rPr>
              <a:t>,</a:t>
            </a:r>
            <a:r>
              <a:rPr lang="en-US" altLang="zh-CN" sz="2800" dirty="0" err="1">
                <a:latin typeface="Arial" panose="020B0604020202090204" pitchFamily="34" charset="0"/>
                <a:cs typeface="Arial" panose="020B0604020202090204" pitchFamily="34" charset="0"/>
              </a:rPr>
              <a:t>Sname</a:t>
            </a:r>
            <a:r>
              <a:rPr lang="zh-CN" altLang="en-US" sz="2800" dirty="0">
                <a:latin typeface="Arial" panose="020B0604020202090204" pitchFamily="34" charset="0"/>
                <a:cs typeface="Arial" panose="020B0604020202090204" pitchFamily="34" charset="0"/>
              </a:rPr>
              <a:t>,</a:t>
            </a:r>
            <a:r>
              <a:rPr lang="en-US" altLang="zh-CN" sz="2800" dirty="0" err="1">
                <a:latin typeface="Arial" panose="020B0604020202090204" pitchFamily="34" charset="0"/>
                <a:cs typeface="Arial" panose="020B0604020202090204" pitchFamily="34" charset="0"/>
              </a:rPr>
              <a:t>Ssex</a:t>
            </a:r>
            <a:r>
              <a:rPr lang="zh-CN" altLang="en-US" sz="2800" dirty="0">
                <a:latin typeface="Arial" panose="020B0604020202090204" pitchFamily="34" charset="0"/>
                <a:cs typeface="Arial" panose="020B0604020202090204" pitchFamily="34" charset="0"/>
              </a:rPr>
              <a:t>,</a:t>
            </a:r>
            <a:r>
              <a:rPr lang="en-US" altLang="zh-CN" sz="2800" dirty="0">
                <a:latin typeface="Arial" panose="020B0604020202090204" pitchFamily="34" charset="0"/>
                <a:cs typeface="Arial" panose="020B0604020202090204" pitchFamily="34" charset="0"/>
              </a:rPr>
              <a:t>Sage</a:t>
            </a:r>
            <a:r>
              <a:rPr lang="zh-CN" altLang="en-US" sz="2800" dirty="0">
                <a:latin typeface="Arial" panose="020B0604020202090204" pitchFamily="34" charset="0"/>
                <a:cs typeface="Arial" panose="020B0604020202090204" pitchFamily="34" charset="0"/>
              </a:rPr>
              <a:t>,</a:t>
            </a:r>
            <a:r>
              <a:rPr lang="en-US" altLang="zh-CN" sz="2800" dirty="0" err="1">
                <a:latin typeface="Arial" panose="020B0604020202090204" pitchFamily="34" charset="0"/>
                <a:cs typeface="Arial" panose="020B0604020202090204" pitchFamily="34" charset="0"/>
              </a:rPr>
              <a:t>Sdept</a:t>
            </a:r>
            <a:r>
              <a:rPr lang="zh-CN" altLang="en-US" sz="2800" dirty="0">
                <a:latin typeface="Arial" panose="020B0604020202090204" pitchFamily="34" charset="0"/>
                <a:cs typeface="Arial" panose="020B0604020202090204" pitchFamily="34" charset="0"/>
              </a:rPr>
              <a:t>)</a:t>
            </a:r>
            <a:r>
              <a:rPr lang="en-US" altLang="zh-CN" sz="2800" dirty="0">
                <a:latin typeface="Arial" panose="020B0604020202090204" pitchFamily="34" charset="0"/>
                <a:cs typeface="Arial" panose="020B0604020202090204" pitchFamily="34" charset="0"/>
              </a:rPr>
              <a:t> </a:t>
            </a:r>
            <a:endParaRPr lang="en-US" altLang="zh-CN" sz="2800" dirty="0">
              <a:latin typeface="Arial" panose="020B0604020202090204" pitchFamily="34" charset="0"/>
              <a:cs typeface="Arial" panose="020B0604020202090204" pitchFamily="34" charset="0"/>
            </a:endParaRPr>
          </a:p>
          <a:p>
            <a:pPr lvl="1">
              <a:lnSpc>
                <a:spcPct val="100000"/>
              </a:lnSpc>
            </a:pPr>
            <a:r>
              <a:rPr lang="en-US" altLang="zh-CN" sz="2800" dirty="0">
                <a:latin typeface="Arial" panose="020B0604020202090204" pitchFamily="34" charset="0"/>
                <a:cs typeface="Arial" panose="020B0604020202090204" pitchFamily="34" charset="0"/>
              </a:rPr>
              <a:t>“</a:t>
            </a:r>
            <a:r>
              <a:rPr lang="zh-CN" altLang="en-US" sz="2800" dirty="0">
                <a:latin typeface="Arial" panose="020B0604020202090204" pitchFamily="34" charset="0"/>
                <a:cs typeface="Arial" panose="020B0604020202090204" pitchFamily="34" charset="0"/>
              </a:rPr>
              <a:t>垂直”地分成两个基本表：</a:t>
            </a:r>
            <a:endParaRPr lang="zh-CN" altLang="en-US" sz="2800" dirty="0">
              <a:latin typeface="Arial" panose="020B0604020202090204" pitchFamily="34" charset="0"/>
              <a:cs typeface="Arial" panose="020B0604020202090204" pitchFamily="34" charset="0"/>
            </a:endParaRPr>
          </a:p>
          <a:p>
            <a:pPr marL="715645" lvl="2" indent="5080">
              <a:lnSpc>
                <a:spcPct val="100000"/>
              </a:lnSpc>
              <a:buNone/>
            </a:pPr>
            <a:r>
              <a:rPr lang="en-US" altLang="zh-CN" sz="2800" dirty="0">
                <a:solidFill>
                  <a:srgbClr val="C00000"/>
                </a:solidFill>
                <a:latin typeface="Arial" panose="020B0604020202090204" pitchFamily="34" charset="0"/>
                <a:cs typeface="Arial" panose="020B0604020202090204" pitchFamily="34" charset="0"/>
              </a:rPr>
              <a:t>SX</a:t>
            </a:r>
            <a:r>
              <a:rPr lang="zh-CN" altLang="en-US" sz="2800" dirty="0">
                <a:solidFill>
                  <a:srgbClr val="C00000"/>
                </a:solidFill>
                <a:latin typeface="Arial" panose="020B0604020202090204" pitchFamily="34" charset="0"/>
                <a:cs typeface="Arial" panose="020B0604020202090204" pitchFamily="34" charset="0"/>
              </a:rPr>
              <a:t>(</a:t>
            </a:r>
            <a:r>
              <a:rPr lang="en-US" altLang="zh-CN" sz="2800" dirty="0" err="1">
                <a:solidFill>
                  <a:srgbClr val="C00000"/>
                </a:solidFill>
                <a:latin typeface="Arial" panose="020B0604020202090204" pitchFamily="34" charset="0"/>
                <a:cs typeface="Arial" panose="020B0604020202090204" pitchFamily="34" charset="0"/>
              </a:rPr>
              <a:t>Sno</a:t>
            </a:r>
            <a:r>
              <a:rPr lang="zh-CN" altLang="en-US" sz="2800" dirty="0">
                <a:solidFill>
                  <a:srgbClr val="C00000"/>
                </a:solidFill>
                <a:latin typeface="Arial" panose="020B0604020202090204" pitchFamily="34" charset="0"/>
                <a:cs typeface="Arial" panose="020B0604020202090204" pitchFamily="34" charset="0"/>
              </a:rPr>
              <a:t>,</a:t>
            </a:r>
            <a:r>
              <a:rPr lang="en-US" altLang="zh-CN" sz="2800" dirty="0">
                <a:solidFill>
                  <a:srgbClr val="C00000"/>
                </a:solidFill>
                <a:latin typeface="Arial" panose="020B0604020202090204" pitchFamily="34" charset="0"/>
                <a:cs typeface="Arial" panose="020B0604020202090204" pitchFamily="34" charset="0"/>
              </a:rPr>
              <a:t> </a:t>
            </a:r>
            <a:r>
              <a:rPr lang="en-US" altLang="zh-CN" sz="2800" dirty="0" err="1">
                <a:solidFill>
                  <a:srgbClr val="C00000"/>
                </a:solidFill>
                <a:latin typeface="Arial" panose="020B0604020202090204" pitchFamily="34" charset="0"/>
                <a:cs typeface="Arial" panose="020B0604020202090204" pitchFamily="34" charset="0"/>
              </a:rPr>
              <a:t>Sname</a:t>
            </a:r>
            <a:r>
              <a:rPr lang="zh-CN" altLang="en-US" sz="2800" dirty="0">
                <a:solidFill>
                  <a:srgbClr val="C00000"/>
                </a:solidFill>
                <a:latin typeface="Arial" panose="020B0604020202090204" pitchFamily="34" charset="0"/>
                <a:cs typeface="Arial" panose="020B0604020202090204" pitchFamily="34" charset="0"/>
              </a:rPr>
              <a:t>,</a:t>
            </a:r>
            <a:r>
              <a:rPr lang="en-US" altLang="zh-CN" sz="2800" dirty="0">
                <a:solidFill>
                  <a:srgbClr val="C00000"/>
                </a:solidFill>
                <a:latin typeface="Arial" panose="020B0604020202090204" pitchFamily="34" charset="0"/>
                <a:cs typeface="Arial" panose="020B0604020202090204" pitchFamily="34" charset="0"/>
              </a:rPr>
              <a:t> Sage</a:t>
            </a:r>
            <a:r>
              <a:rPr lang="zh-CN" altLang="en-US" sz="2800" dirty="0">
                <a:solidFill>
                  <a:srgbClr val="C00000"/>
                </a:solidFill>
                <a:latin typeface="Arial" panose="020B0604020202090204" pitchFamily="34" charset="0"/>
                <a:cs typeface="Arial" panose="020B0604020202090204" pitchFamily="34" charset="0"/>
              </a:rPr>
              <a:t>)</a:t>
            </a:r>
            <a:r>
              <a:rPr lang="en-US" altLang="zh-CN" sz="2800" dirty="0">
                <a:solidFill>
                  <a:srgbClr val="C00000"/>
                </a:solidFill>
                <a:latin typeface="Arial" panose="020B0604020202090204" pitchFamily="34" charset="0"/>
                <a:cs typeface="Arial" panose="020B0604020202090204" pitchFamily="34" charset="0"/>
              </a:rPr>
              <a:t>     </a:t>
            </a:r>
            <a:r>
              <a:rPr lang="zh-CN" altLang="en-US" sz="2800" dirty="0">
                <a:solidFill>
                  <a:srgbClr val="0000C8"/>
                </a:solidFill>
                <a:latin typeface="Arial" panose="020B0604020202090204" pitchFamily="34" charset="0"/>
                <a:cs typeface="Arial" panose="020B0604020202090204" pitchFamily="34" charset="0"/>
              </a:rPr>
              <a:t>和</a:t>
            </a:r>
            <a:r>
              <a:rPr lang="en-US" altLang="zh-CN" sz="2800" dirty="0">
                <a:solidFill>
                  <a:srgbClr val="C00000"/>
                </a:solidFill>
                <a:latin typeface="Arial" panose="020B0604020202090204" pitchFamily="34" charset="0"/>
                <a:cs typeface="Arial" panose="020B0604020202090204" pitchFamily="34" charset="0"/>
              </a:rPr>
              <a:t>    SY</a:t>
            </a:r>
            <a:r>
              <a:rPr lang="zh-CN" altLang="en-US" sz="2800" dirty="0">
                <a:solidFill>
                  <a:srgbClr val="C00000"/>
                </a:solidFill>
                <a:latin typeface="Arial" panose="020B0604020202090204" pitchFamily="34" charset="0"/>
                <a:cs typeface="Arial" panose="020B0604020202090204" pitchFamily="34" charset="0"/>
              </a:rPr>
              <a:t>(</a:t>
            </a:r>
            <a:r>
              <a:rPr lang="en-US" altLang="zh-CN" sz="2800" dirty="0" err="1">
                <a:solidFill>
                  <a:srgbClr val="C00000"/>
                </a:solidFill>
                <a:latin typeface="Arial" panose="020B0604020202090204" pitchFamily="34" charset="0"/>
                <a:cs typeface="Arial" panose="020B0604020202090204" pitchFamily="34" charset="0"/>
              </a:rPr>
              <a:t>Sno</a:t>
            </a:r>
            <a:r>
              <a:rPr lang="zh-CN" altLang="en-US" sz="2800" dirty="0">
                <a:solidFill>
                  <a:srgbClr val="C00000"/>
                </a:solidFill>
                <a:latin typeface="Arial" panose="020B0604020202090204" pitchFamily="34" charset="0"/>
                <a:cs typeface="Arial" panose="020B0604020202090204" pitchFamily="34" charset="0"/>
              </a:rPr>
              <a:t>,</a:t>
            </a:r>
            <a:r>
              <a:rPr lang="en-US" altLang="zh-CN" sz="2800" dirty="0">
                <a:solidFill>
                  <a:srgbClr val="C00000"/>
                </a:solidFill>
                <a:latin typeface="Arial" panose="020B0604020202090204" pitchFamily="34" charset="0"/>
                <a:cs typeface="Arial" panose="020B0604020202090204" pitchFamily="34" charset="0"/>
              </a:rPr>
              <a:t> </a:t>
            </a:r>
            <a:r>
              <a:rPr lang="en-US" altLang="zh-CN" sz="2800" dirty="0" err="1">
                <a:solidFill>
                  <a:srgbClr val="C00000"/>
                </a:solidFill>
                <a:latin typeface="Arial" panose="020B0604020202090204" pitchFamily="34" charset="0"/>
                <a:cs typeface="Arial" panose="020B0604020202090204" pitchFamily="34" charset="0"/>
              </a:rPr>
              <a:t>Ssex</a:t>
            </a:r>
            <a:r>
              <a:rPr lang="zh-CN" altLang="en-US" sz="2800" dirty="0">
                <a:solidFill>
                  <a:srgbClr val="C00000"/>
                </a:solidFill>
                <a:latin typeface="Arial" panose="020B0604020202090204" pitchFamily="34" charset="0"/>
                <a:cs typeface="Arial" panose="020B0604020202090204" pitchFamily="34" charset="0"/>
              </a:rPr>
              <a:t>,</a:t>
            </a:r>
            <a:r>
              <a:rPr lang="en-US" altLang="zh-CN" sz="2800" dirty="0">
                <a:solidFill>
                  <a:srgbClr val="C00000"/>
                </a:solidFill>
                <a:latin typeface="Arial" panose="020B0604020202090204" pitchFamily="34" charset="0"/>
                <a:cs typeface="Arial" panose="020B0604020202090204" pitchFamily="34" charset="0"/>
              </a:rPr>
              <a:t> </a:t>
            </a:r>
            <a:r>
              <a:rPr lang="en-US" altLang="zh-CN" sz="2800" dirty="0" err="1">
                <a:solidFill>
                  <a:srgbClr val="C00000"/>
                </a:solidFill>
                <a:latin typeface="Arial" panose="020B0604020202090204" pitchFamily="34" charset="0"/>
                <a:cs typeface="Arial" panose="020B0604020202090204" pitchFamily="34" charset="0"/>
              </a:rPr>
              <a:t>Sdept</a:t>
            </a:r>
            <a:r>
              <a:rPr lang="zh-CN" altLang="en-US" sz="2800" dirty="0">
                <a:solidFill>
                  <a:srgbClr val="C00000"/>
                </a:solidFill>
                <a:latin typeface="Arial" panose="020B0604020202090204" pitchFamily="34" charset="0"/>
                <a:cs typeface="Arial" panose="020B0604020202090204" pitchFamily="34" charset="0"/>
              </a:rPr>
              <a:t>)</a:t>
            </a:r>
            <a:endParaRPr lang="en-US" altLang="zh-CN" sz="2800" dirty="0">
              <a:solidFill>
                <a:srgbClr val="C00000"/>
              </a:solidFill>
              <a:latin typeface="Arial" panose="020B0604020202090204" pitchFamily="34" charset="0"/>
              <a:cs typeface="Arial" panose="020B0604020202090204" pitchFamily="34" charset="0"/>
            </a:endParaRPr>
          </a:p>
          <a:p>
            <a:pPr>
              <a:lnSpc>
                <a:spcPct val="100000"/>
              </a:lnSpc>
              <a:spcBef>
                <a:spcPts val="2000"/>
              </a:spcBef>
            </a:pPr>
            <a:r>
              <a:rPr lang="zh-CN" altLang="en-US" sz="2800" dirty="0">
                <a:latin typeface="Arial" panose="020B0604020202090204" pitchFamily="34" charset="0"/>
                <a:cs typeface="Arial" panose="020B0604020202090204" pitchFamily="34" charset="0"/>
              </a:rPr>
              <a:t>通过建立一个视图</a:t>
            </a:r>
            <a:r>
              <a:rPr lang="en-US" altLang="zh-CN" sz="2800" dirty="0">
                <a:latin typeface="Arial" panose="020B0604020202090204" pitchFamily="34" charset="0"/>
                <a:cs typeface="Arial" panose="020B0604020202090204" pitchFamily="34" charset="0"/>
              </a:rPr>
              <a:t>Student</a:t>
            </a:r>
            <a:r>
              <a:rPr lang="zh-CN" altLang="en-US" sz="2800" dirty="0">
                <a:latin typeface="Arial" panose="020B0604020202090204" pitchFamily="34" charset="0"/>
                <a:cs typeface="Arial" panose="020B0604020202090204" pitchFamily="34" charset="0"/>
              </a:rPr>
              <a:t>：</a:t>
            </a:r>
            <a:endParaRPr lang="zh-CN" altLang="en-US" sz="2800" dirty="0">
              <a:latin typeface="Arial" panose="020B0604020202090204" pitchFamily="34" charset="0"/>
              <a:cs typeface="Arial" panose="020B0604020202090204" pitchFamily="34" charset="0"/>
            </a:endParaRPr>
          </a:p>
          <a:p>
            <a:pPr marL="821055" lvl="2" indent="0">
              <a:lnSpc>
                <a:spcPct val="100000"/>
              </a:lnSpc>
              <a:buNone/>
            </a:pPr>
            <a:r>
              <a:rPr lang="en-US" altLang="zh-CN" sz="2800" dirty="0">
                <a:solidFill>
                  <a:srgbClr val="C00000"/>
                </a:solidFill>
                <a:latin typeface="Arial" panose="020B0604020202090204" pitchFamily="34" charset="0"/>
                <a:cs typeface="Arial" panose="020B0604020202090204" pitchFamily="34" charset="0"/>
              </a:rPr>
              <a:t>CREATE VIEW  Student</a:t>
            </a:r>
            <a:r>
              <a:rPr lang="zh-CN" altLang="en-US" sz="2800" dirty="0">
                <a:solidFill>
                  <a:srgbClr val="C00000"/>
                </a:solidFill>
                <a:latin typeface="Arial" panose="020B0604020202090204" pitchFamily="34" charset="0"/>
                <a:cs typeface="Arial" panose="020B0604020202090204" pitchFamily="34" charset="0"/>
              </a:rPr>
              <a:t>(</a:t>
            </a:r>
            <a:r>
              <a:rPr lang="en-US" altLang="zh-CN" sz="2800" dirty="0" err="1">
                <a:solidFill>
                  <a:srgbClr val="C00000"/>
                </a:solidFill>
                <a:latin typeface="Arial" panose="020B0604020202090204" pitchFamily="34" charset="0"/>
                <a:cs typeface="Arial" panose="020B0604020202090204" pitchFamily="34" charset="0"/>
              </a:rPr>
              <a:t>Sno,Sname,Ssex,Sage</a:t>
            </a:r>
            <a:r>
              <a:rPr lang="zh-CN" altLang="en-US" sz="2800" dirty="0">
                <a:solidFill>
                  <a:srgbClr val="C00000"/>
                </a:solidFill>
                <a:latin typeface="Arial" panose="020B0604020202090204" pitchFamily="34" charset="0"/>
                <a:cs typeface="Arial" panose="020B0604020202090204" pitchFamily="34" charset="0"/>
              </a:rPr>
              <a:t>,</a:t>
            </a:r>
            <a:r>
              <a:rPr lang="en-US" altLang="zh-CN" sz="2800" dirty="0" err="1">
                <a:solidFill>
                  <a:srgbClr val="C00000"/>
                </a:solidFill>
                <a:latin typeface="Arial" panose="020B0604020202090204" pitchFamily="34" charset="0"/>
                <a:cs typeface="Arial" panose="020B0604020202090204" pitchFamily="34" charset="0"/>
              </a:rPr>
              <a:t>Sdept</a:t>
            </a:r>
            <a:r>
              <a:rPr lang="zh-CN" altLang="en-US" sz="2800" dirty="0">
                <a:solidFill>
                  <a:srgbClr val="C00000"/>
                </a:solidFill>
                <a:latin typeface="Arial" panose="020B0604020202090204" pitchFamily="34" charset="0"/>
                <a:cs typeface="Arial" panose="020B0604020202090204" pitchFamily="34" charset="0"/>
              </a:rPr>
              <a:t>)</a:t>
            </a:r>
            <a:endParaRPr lang="zh-CN" altLang="en-US" sz="2800" dirty="0">
              <a:solidFill>
                <a:srgbClr val="C00000"/>
              </a:solidFill>
              <a:latin typeface="Arial" panose="020B0604020202090204" pitchFamily="34" charset="0"/>
              <a:cs typeface="Arial" panose="020B0604020202090204" pitchFamily="34" charset="0"/>
            </a:endParaRPr>
          </a:p>
          <a:p>
            <a:pPr marL="821055" lvl="2" indent="0">
              <a:lnSpc>
                <a:spcPct val="100000"/>
              </a:lnSpc>
              <a:buNone/>
            </a:pPr>
            <a:r>
              <a:rPr lang="en-US" altLang="zh-CN" sz="2800" dirty="0">
                <a:solidFill>
                  <a:srgbClr val="C00000"/>
                </a:solidFill>
                <a:latin typeface="Arial" panose="020B0604020202090204" pitchFamily="34" charset="0"/>
                <a:cs typeface="Arial" panose="020B0604020202090204" pitchFamily="34" charset="0"/>
              </a:rPr>
              <a:t>AS  </a:t>
            </a:r>
            <a:endParaRPr lang="en-US" altLang="zh-CN" sz="2800" dirty="0">
              <a:solidFill>
                <a:srgbClr val="C00000"/>
              </a:solidFill>
              <a:latin typeface="Arial" panose="020B0604020202090204" pitchFamily="34" charset="0"/>
              <a:cs typeface="Arial" panose="020B0604020202090204" pitchFamily="34" charset="0"/>
            </a:endParaRPr>
          </a:p>
          <a:p>
            <a:pPr marL="821055" lvl="2" indent="730250">
              <a:lnSpc>
                <a:spcPct val="100000"/>
              </a:lnSpc>
              <a:buNone/>
            </a:pPr>
            <a:r>
              <a:rPr lang="en-US" altLang="zh-CN" sz="2800" dirty="0">
                <a:solidFill>
                  <a:srgbClr val="C00000"/>
                </a:solidFill>
                <a:latin typeface="Arial" panose="020B0604020202090204" pitchFamily="34" charset="0"/>
                <a:cs typeface="Arial" panose="020B0604020202090204" pitchFamily="34" charset="0"/>
              </a:rPr>
              <a:t>SELECT  </a:t>
            </a:r>
            <a:r>
              <a:rPr lang="en-US" altLang="zh-CN" sz="2800" dirty="0" err="1">
                <a:solidFill>
                  <a:srgbClr val="C00000"/>
                </a:solidFill>
                <a:latin typeface="Arial" panose="020B0604020202090204" pitchFamily="34" charset="0"/>
                <a:cs typeface="Arial" panose="020B0604020202090204" pitchFamily="34" charset="0"/>
              </a:rPr>
              <a:t>SX.Sno</a:t>
            </a:r>
            <a:r>
              <a:rPr lang="zh-CN" altLang="en-US" sz="2800" dirty="0">
                <a:solidFill>
                  <a:srgbClr val="C00000"/>
                </a:solidFill>
                <a:latin typeface="Arial" panose="020B0604020202090204" pitchFamily="34" charset="0"/>
                <a:cs typeface="Arial" panose="020B0604020202090204" pitchFamily="34" charset="0"/>
              </a:rPr>
              <a:t>,</a:t>
            </a:r>
            <a:r>
              <a:rPr lang="en-US" altLang="zh-CN" sz="2800" dirty="0" err="1">
                <a:solidFill>
                  <a:srgbClr val="C00000"/>
                </a:solidFill>
                <a:latin typeface="Arial" panose="020B0604020202090204" pitchFamily="34" charset="0"/>
                <a:cs typeface="Arial" panose="020B0604020202090204" pitchFamily="34" charset="0"/>
              </a:rPr>
              <a:t>SX.Sname</a:t>
            </a:r>
            <a:r>
              <a:rPr lang="zh-CN" altLang="en-US" sz="2800" dirty="0">
                <a:solidFill>
                  <a:srgbClr val="C00000"/>
                </a:solidFill>
                <a:latin typeface="Arial" panose="020B0604020202090204" pitchFamily="34" charset="0"/>
                <a:cs typeface="Arial" panose="020B0604020202090204" pitchFamily="34" charset="0"/>
              </a:rPr>
              <a:t>,</a:t>
            </a:r>
            <a:r>
              <a:rPr lang="en-US" altLang="zh-CN" sz="2800" dirty="0" err="1">
                <a:solidFill>
                  <a:srgbClr val="C00000"/>
                </a:solidFill>
                <a:latin typeface="Arial" panose="020B0604020202090204" pitchFamily="34" charset="0"/>
                <a:cs typeface="Arial" panose="020B0604020202090204" pitchFamily="34" charset="0"/>
              </a:rPr>
              <a:t>SY.Ssex</a:t>
            </a:r>
            <a:r>
              <a:rPr lang="zh-CN" altLang="en-US" sz="2800" dirty="0">
                <a:solidFill>
                  <a:srgbClr val="C00000"/>
                </a:solidFill>
                <a:latin typeface="Arial" panose="020B0604020202090204" pitchFamily="34" charset="0"/>
                <a:cs typeface="Arial" panose="020B0604020202090204" pitchFamily="34" charset="0"/>
              </a:rPr>
              <a:t>,</a:t>
            </a:r>
            <a:r>
              <a:rPr lang="en-US" altLang="zh-CN" sz="2800" dirty="0" err="1">
                <a:solidFill>
                  <a:srgbClr val="C00000"/>
                </a:solidFill>
                <a:latin typeface="Arial" panose="020B0604020202090204" pitchFamily="34" charset="0"/>
                <a:cs typeface="Arial" panose="020B0604020202090204" pitchFamily="34" charset="0"/>
              </a:rPr>
              <a:t>SX.Sage</a:t>
            </a:r>
            <a:r>
              <a:rPr lang="zh-CN" altLang="en-US" sz="2800" dirty="0">
                <a:solidFill>
                  <a:srgbClr val="C00000"/>
                </a:solidFill>
                <a:latin typeface="Arial" panose="020B0604020202090204" pitchFamily="34" charset="0"/>
                <a:cs typeface="Arial" panose="020B0604020202090204" pitchFamily="34" charset="0"/>
              </a:rPr>
              <a:t>,</a:t>
            </a:r>
            <a:r>
              <a:rPr lang="en-US" altLang="zh-CN" sz="2800" dirty="0" err="1">
                <a:solidFill>
                  <a:srgbClr val="C00000"/>
                </a:solidFill>
                <a:latin typeface="Arial" panose="020B0604020202090204" pitchFamily="34" charset="0"/>
                <a:cs typeface="Arial" panose="020B0604020202090204" pitchFamily="34" charset="0"/>
              </a:rPr>
              <a:t>SY.Sdept</a:t>
            </a:r>
            <a:endParaRPr lang="en-US" altLang="zh-CN" sz="2800" dirty="0">
              <a:solidFill>
                <a:srgbClr val="C00000"/>
              </a:solidFill>
              <a:latin typeface="Arial" panose="020B0604020202090204" pitchFamily="34" charset="0"/>
              <a:cs typeface="Arial" panose="020B0604020202090204" pitchFamily="34" charset="0"/>
            </a:endParaRPr>
          </a:p>
          <a:p>
            <a:pPr marL="821055" lvl="2" indent="730250">
              <a:lnSpc>
                <a:spcPct val="100000"/>
              </a:lnSpc>
              <a:buNone/>
            </a:pPr>
            <a:r>
              <a:rPr lang="en-US" altLang="zh-CN" sz="2800" dirty="0">
                <a:solidFill>
                  <a:srgbClr val="C00000"/>
                </a:solidFill>
                <a:latin typeface="Arial" panose="020B0604020202090204" pitchFamily="34" charset="0"/>
                <a:cs typeface="Arial" panose="020B0604020202090204" pitchFamily="34" charset="0"/>
              </a:rPr>
              <a:t>FROM  SX</a:t>
            </a:r>
            <a:r>
              <a:rPr lang="zh-CN" altLang="en-US" sz="2800" dirty="0">
                <a:solidFill>
                  <a:srgbClr val="C00000"/>
                </a:solidFill>
                <a:latin typeface="Arial" panose="020B0604020202090204" pitchFamily="34" charset="0"/>
                <a:cs typeface="Arial" panose="020B0604020202090204" pitchFamily="34" charset="0"/>
              </a:rPr>
              <a:t>,</a:t>
            </a:r>
            <a:r>
              <a:rPr lang="en-US" altLang="zh-CN" sz="2800" dirty="0">
                <a:solidFill>
                  <a:srgbClr val="C00000"/>
                </a:solidFill>
                <a:latin typeface="Arial" panose="020B0604020202090204" pitchFamily="34" charset="0"/>
                <a:cs typeface="Arial" panose="020B0604020202090204" pitchFamily="34" charset="0"/>
              </a:rPr>
              <a:t>SY</a:t>
            </a:r>
            <a:endParaRPr lang="en-US" altLang="zh-CN" sz="2800" dirty="0">
              <a:solidFill>
                <a:srgbClr val="C00000"/>
              </a:solidFill>
              <a:latin typeface="Arial" panose="020B0604020202090204" pitchFamily="34" charset="0"/>
              <a:cs typeface="Arial" panose="020B0604020202090204" pitchFamily="34" charset="0"/>
            </a:endParaRPr>
          </a:p>
          <a:p>
            <a:pPr marL="821055" lvl="2" indent="730250">
              <a:lnSpc>
                <a:spcPct val="100000"/>
              </a:lnSpc>
              <a:buNone/>
            </a:pPr>
            <a:r>
              <a:rPr lang="en-US" altLang="zh-CN" sz="2800" dirty="0">
                <a:solidFill>
                  <a:srgbClr val="C00000"/>
                </a:solidFill>
                <a:latin typeface="Arial" panose="020B0604020202090204" pitchFamily="34" charset="0"/>
                <a:cs typeface="Arial" panose="020B0604020202090204" pitchFamily="34" charset="0"/>
              </a:rPr>
              <a:t>WHERE  </a:t>
            </a:r>
            <a:r>
              <a:rPr lang="en-US" altLang="zh-CN" sz="2800" dirty="0" err="1">
                <a:solidFill>
                  <a:srgbClr val="C00000"/>
                </a:solidFill>
                <a:latin typeface="Arial" panose="020B0604020202090204" pitchFamily="34" charset="0"/>
                <a:cs typeface="Arial" panose="020B0604020202090204" pitchFamily="34" charset="0"/>
              </a:rPr>
              <a:t>SX.Sno </a:t>
            </a:r>
            <a:r>
              <a:rPr lang="en-US" altLang="zh-CN" sz="2800" dirty="0">
                <a:solidFill>
                  <a:srgbClr val="C00000"/>
                </a:solidFill>
                <a:latin typeface="Arial" panose="020B0604020202090204" pitchFamily="34" charset="0"/>
                <a:cs typeface="Arial" panose="020B0604020202090204" pitchFamily="34" charset="0"/>
              </a:rPr>
              <a:t>= </a:t>
            </a:r>
            <a:r>
              <a:rPr lang="en-US" altLang="zh-CN" sz="2800" dirty="0" err="1">
                <a:solidFill>
                  <a:srgbClr val="C00000"/>
                </a:solidFill>
                <a:latin typeface="Arial" panose="020B0604020202090204" pitchFamily="34" charset="0"/>
                <a:cs typeface="Arial" panose="020B0604020202090204" pitchFamily="34" charset="0"/>
              </a:rPr>
              <a:t>SY.Sno</a:t>
            </a:r>
            <a:r>
              <a:rPr lang="zh-CN" altLang="en-US" sz="2800" dirty="0">
                <a:solidFill>
                  <a:srgbClr val="C00000"/>
                </a:solidFill>
                <a:latin typeface="Arial" panose="020B0604020202090204" pitchFamily="34" charset="0"/>
                <a:cs typeface="Arial" panose="020B0604020202090204" pitchFamily="34" charset="0"/>
              </a:rPr>
              <a:t>;</a:t>
            </a:r>
            <a:endParaRPr lang="zh-CN" altLang="en-US" sz="2800" dirty="0">
              <a:solidFill>
                <a:srgbClr val="C00000"/>
              </a:solidFill>
              <a:latin typeface="Arial" panose="020B0604020202090204" pitchFamily="34" charset="0"/>
              <a:cs typeface="Arial" panose="020B0604020202090204" pitchFamily="34" charset="0"/>
            </a:endParaRPr>
          </a:p>
          <a:p>
            <a:pPr>
              <a:lnSpc>
                <a:spcPct val="100000"/>
              </a:lnSpc>
            </a:pPr>
            <a:r>
              <a:rPr lang="zh-CN" altLang="en-US" sz="2800" dirty="0">
                <a:latin typeface="Arial" panose="020B0604020202090204" pitchFamily="34" charset="0"/>
                <a:cs typeface="Arial" panose="020B0604020202090204" pitchFamily="34" charset="0"/>
              </a:rPr>
              <a:t>使用户的外模式保持不变，用户应用程序通过视图仍然能够查找数据</a:t>
            </a:r>
            <a:endParaRPr lang="en-US" altLang="zh-CN" sz="2800" dirty="0">
              <a:latin typeface="Arial" panose="020B0604020202090204" pitchFamily="34" charset="0"/>
              <a:cs typeface="Arial" panose="020B0604020202090204" pitchFamily="34" charset="0"/>
            </a:endParaRPr>
          </a:p>
          <a:p>
            <a:pPr>
              <a:lnSpc>
                <a:spcPct val="100000"/>
              </a:lnSpc>
              <a:spcBef>
                <a:spcPts val="2000"/>
              </a:spcBef>
            </a:pPr>
            <a:r>
              <a:rPr lang="zh-CN" altLang="en-US" sz="2800" dirty="0">
                <a:latin typeface="Arial" panose="020B0604020202090204" pitchFamily="34" charset="0"/>
                <a:cs typeface="Arial" panose="020B0604020202090204" pitchFamily="34" charset="0"/>
              </a:rPr>
              <a:t>由于对视图的更新是有条件的，因此应用程序中修改数据的语句可能仍会因基本表结构的改变而改变。</a:t>
            </a:r>
            <a:endParaRPr lang="zh-CN" altLang="en-US" sz="2800" dirty="0">
              <a:latin typeface="Arial" panose="020B0604020202090204" pitchFamily="34" charset="0"/>
              <a:cs typeface="Arial" panose="020B0604020202090204" pitchFamily="34" charset="0"/>
            </a:endParaRPr>
          </a:p>
        </p:txBody>
      </p:sp>
      <p:sp>
        <p:nvSpPr>
          <p:cNvPr id="2" name="灯片编号占位符 1"/>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ch03_3_SQL数据更新</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6803">
                                            <p:txEl>
                                              <p:pRg st="3" end="3"/>
                                            </p:txEl>
                                          </p:spTgt>
                                        </p:tgtEl>
                                        <p:attrNameLst>
                                          <p:attrName>style.visibility</p:attrName>
                                        </p:attrNameLst>
                                      </p:cBhvr>
                                      <p:to>
                                        <p:strVal val="visible"/>
                                      </p:to>
                                    </p:set>
                                    <p:animEffect transition="in" filter="blinds(horizontal)">
                                      <p:cBhvr>
                                        <p:cTn id="7" dur="500"/>
                                        <p:tgtEl>
                                          <p:spTgt spid="76803">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6803">
                                            <p:txEl>
                                              <p:pRg st="4" end="4"/>
                                            </p:txEl>
                                          </p:spTgt>
                                        </p:tgtEl>
                                        <p:attrNameLst>
                                          <p:attrName>style.visibility</p:attrName>
                                        </p:attrNameLst>
                                      </p:cBhvr>
                                      <p:to>
                                        <p:strVal val="visible"/>
                                      </p:to>
                                    </p:set>
                                    <p:animEffect transition="in" filter="blinds(horizontal)">
                                      <p:cBhvr>
                                        <p:cTn id="10" dur="500"/>
                                        <p:tgtEl>
                                          <p:spTgt spid="76803">
                                            <p:txEl>
                                              <p:pRg st="4" end="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76803">
                                            <p:txEl>
                                              <p:pRg st="5" end="5"/>
                                            </p:txEl>
                                          </p:spTgt>
                                        </p:tgtEl>
                                        <p:attrNameLst>
                                          <p:attrName>style.visibility</p:attrName>
                                        </p:attrNameLst>
                                      </p:cBhvr>
                                      <p:to>
                                        <p:strVal val="visible"/>
                                      </p:to>
                                    </p:set>
                                    <p:animEffect transition="in" filter="blinds(horizontal)">
                                      <p:cBhvr>
                                        <p:cTn id="13" dur="500"/>
                                        <p:tgtEl>
                                          <p:spTgt spid="76803">
                                            <p:txEl>
                                              <p:pRg st="5" end="5"/>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76803">
                                            <p:txEl>
                                              <p:pRg st="6" end="6"/>
                                            </p:txEl>
                                          </p:spTgt>
                                        </p:tgtEl>
                                        <p:attrNameLst>
                                          <p:attrName>style.visibility</p:attrName>
                                        </p:attrNameLst>
                                      </p:cBhvr>
                                      <p:to>
                                        <p:strVal val="visible"/>
                                      </p:to>
                                    </p:set>
                                    <p:animEffect transition="in" filter="blinds(horizontal)">
                                      <p:cBhvr>
                                        <p:cTn id="16" dur="500"/>
                                        <p:tgtEl>
                                          <p:spTgt spid="76803">
                                            <p:txEl>
                                              <p:pRg st="6" end="6"/>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76803">
                                            <p:txEl>
                                              <p:pRg st="7" end="7"/>
                                            </p:txEl>
                                          </p:spTgt>
                                        </p:tgtEl>
                                        <p:attrNameLst>
                                          <p:attrName>style.visibility</p:attrName>
                                        </p:attrNameLst>
                                      </p:cBhvr>
                                      <p:to>
                                        <p:strVal val="visible"/>
                                      </p:to>
                                    </p:set>
                                    <p:animEffect transition="in" filter="blinds(horizontal)">
                                      <p:cBhvr>
                                        <p:cTn id="19" dur="500"/>
                                        <p:tgtEl>
                                          <p:spTgt spid="76803">
                                            <p:txEl>
                                              <p:pRg st="7" end="7"/>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76803">
                                            <p:txEl>
                                              <p:pRg st="8" end="8"/>
                                            </p:txEl>
                                          </p:spTgt>
                                        </p:tgtEl>
                                        <p:attrNameLst>
                                          <p:attrName>style.visibility</p:attrName>
                                        </p:attrNameLst>
                                      </p:cBhvr>
                                      <p:to>
                                        <p:strVal val="visible"/>
                                      </p:to>
                                    </p:set>
                                    <p:animEffect transition="in" filter="blinds(horizontal)">
                                      <p:cBhvr>
                                        <p:cTn id="22" dur="500"/>
                                        <p:tgtEl>
                                          <p:spTgt spid="76803">
                                            <p:txEl>
                                              <p:pRg st="8" end="8"/>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76803">
                                            <p:txEl>
                                              <p:pRg st="9" end="9"/>
                                            </p:txEl>
                                          </p:spTgt>
                                        </p:tgtEl>
                                        <p:attrNameLst>
                                          <p:attrName>style.visibility</p:attrName>
                                        </p:attrNameLst>
                                      </p:cBhvr>
                                      <p:to>
                                        <p:strVal val="visible"/>
                                      </p:to>
                                    </p:set>
                                    <p:animEffect transition="in" filter="blinds(horizontal)">
                                      <p:cBhvr>
                                        <p:cTn id="25" dur="500"/>
                                        <p:tgtEl>
                                          <p:spTgt spid="76803">
                                            <p:txEl>
                                              <p:pRg st="9" end="9"/>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76803">
                                            <p:txEl>
                                              <p:pRg st="10" end="10"/>
                                            </p:txEl>
                                          </p:spTgt>
                                        </p:tgtEl>
                                        <p:attrNameLst>
                                          <p:attrName>style.visibility</p:attrName>
                                        </p:attrNameLst>
                                      </p:cBhvr>
                                      <p:to>
                                        <p:strVal val="visible"/>
                                      </p:to>
                                    </p:set>
                                    <p:anim calcmode="lin" valueType="num">
                                      <p:cBhvr additive="base">
                                        <p:cTn id="30" dur="500" fill="hold"/>
                                        <p:tgtEl>
                                          <p:spTgt spid="76803">
                                            <p:txEl>
                                              <p:pRg st="10" end="10"/>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7680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normAutofit fontScale="90000"/>
          </a:bodyPr>
          <a:lstStyle/>
          <a:p>
            <a:r>
              <a:rPr lang="zh-CN" altLang="en-US" dirty="0"/>
              <a:t>视图的作用</a:t>
            </a:r>
            <a:r>
              <a:rPr lang="en-US" altLang="zh-CN" dirty="0"/>
              <a:t> - </a:t>
            </a:r>
            <a:r>
              <a:rPr lang="zh-CN" altLang="en-US" dirty="0"/>
              <a:t>视图能够对机密数据提供安全保护</a:t>
            </a:r>
            <a:endParaRPr lang="zh-CN" altLang="en-US" dirty="0"/>
          </a:p>
        </p:txBody>
      </p:sp>
      <p:sp>
        <p:nvSpPr>
          <p:cNvPr id="78851" name="Rectangle 3"/>
          <p:cNvSpPr>
            <a:spLocks noGrp="1" noChangeArrowheads="1"/>
          </p:cNvSpPr>
          <p:nvPr>
            <p:ph idx="1"/>
          </p:nvPr>
        </p:nvSpPr>
        <p:spPr/>
        <p:txBody>
          <a:bodyPr>
            <a:normAutofit/>
          </a:bodyPr>
          <a:lstStyle/>
          <a:p>
            <a:r>
              <a:rPr lang="zh-CN" altLang="en-US" dirty="0"/>
              <a:t>对不同用户定义不同视图，使每个用户只能看到他有权看到的数据</a:t>
            </a:r>
            <a:endParaRPr lang="zh-CN" altLang="en-US" dirty="0"/>
          </a:p>
        </p:txBody>
      </p:sp>
      <p:sp>
        <p:nvSpPr>
          <p:cNvPr id="2" name="灯片编号占位符 1"/>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ch03_3_SQL数据更新</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normAutofit fontScale="90000"/>
          </a:bodyPr>
          <a:lstStyle/>
          <a:p>
            <a:r>
              <a:rPr lang="zh-CN" altLang="en-US" dirty="0"/>
              <a:t>视图的作用</a:t>
            </a:r>
            <a:r>
              <a:rPr lang="en-US" altLang="zh-CN" dirty="0"/>
              <a:t> - </a:t>
            </a:r>
            <a:r>
              <a:rPr lang="zh-CN" altLang="en-US" dirty="0"/>
              <a:t>适当的利用视图可以更清晰的表达查询</a:t>
            </a:r>
            <a:endParaRPr lang="zh-CN" altLang="en-US" dirty="0"/>
          </a:p>
        </p:txBody>
      </p:sp>
      <p:sp>
        <p:nvSpPr>
          <p:cNvPr id="79875" name="Rectangle 3"/>
          <p:cNvSpPr>
            <a:spLocks noGrp="1" noChangeArrowheads="1"/>
          </p:cNvSpPr>
          <p:nvPr>
            <p:ph idx="1"/>
          </p:nvPr>
        </p:nvSpPr>
        <p:spPr/>
        <p:txBody>
          <a:bodyPr>
            <a:noAutofit/>
          </a:bodyPr>
          <a:lstStyle/>
          <a:p>
            <a:pPr>
              <a:lnSpc>
                <a:spcPct val="100000"/>
              </a:lnSpc>
              <a:spcBef>
                <a:spcPct val="0"/>
              </a:spcBef>
            </a:pPr>
            <a:r>
              <a:rPr lang="zh-CN" altLang="en-US" sz="2800" dirty="0">
                <a:latin typeface="Arial" panose="020B0604020202090204" pitchFamily="34" charset="0"/>
                <a:cs typeface="Arial" panose="020B0604020202090204" pitchFamily="34" charset="0"/>
              </a:rPr>
              <a:t>经常需要执行这样的查询</a:t>
            </a:r>
            <a:r>
              <a:rPr lang="en-US" altLang="zh-CN" sz="2800" dirty="0">
                <a:latin typeface="Arial" panose="020B0604020202090204" pitchFamily="34" charset="0"/>
                <a:cs typeface="Arial" panose="020B0604020202090204" pitchFamily="34" charset="0"/>
              </a:rPr>
              <a:t>“</a:t>
            </a:r>
            <a:r>
              <a:rPr lang="zh-CN" altLang="en-US" sz="2800" dirty="0">
                <a:highlight>
                  <a:srgbClr val="FFFF00"/>
                </a:highlight>
                <a:latin typeface="Arial" panose="020B0604020202090204" pitchFamily="34" charset="0"/>
                <a:cs typeface="Arial" panose="020B0604020202090204" pitchFamily="34" charset="0"/>
              </a:rPr>
              <a:t>对每个同学找出他获得最高成绩的课程号</a:t>
            </a:r>
            <a:r>
              <a:rPr lang="en-US" altLang="zh-CN" sz="2800" dirty="0">
                <a:latin typeface="Arial" panose="020B0604020202090204" pitchFamily="34" charset="0"/>
                <a:cs typeface="Arial" panose="020B0604020202090204" pitchFamily="34" charset="0"/>
              </a:rPr>
              <a:t>”</a:t>
            </a:r>
            <a:r>
              <a:rPr lang="zh-CN" altLang="en-US" sz="2800" dirty="0">
                <a:latin typeface="Arial" panose="020B0604020202090204" pitchFamily="34" charset="0"/>
                <a:cs typeface="Arial" panose="020B0604020202090204" pitchFamily="34" charset="0"/>
              </a:rPr>
              <a:t>。</a:t>
            </a:r>
            <a:endParaRPr lang="en-US" altLang="zh-CN" sz="2800" dirty="0">
              <a:latin typeface="Arial" panose="020B0604020202090204" pitchFamily="34" charset="0"/>
              <a:cs typeface="Arial" panose="020B0604020202090204" pitchFamily="34" charset="0"/>
            </a:endParaRPr>
          </a:p>
          <a:p>
            <a:pPr>
              <a:lnSpc>
                <a:spcPct val="100000"/>
              </a:lnSpc>
              <a:spcAft>
                <a:spcPts val="1000"/>
              </a:spcAft>
            </a:pPr>
            <a:r>
              <a:rPr lang="zh-CN" altLang="en-US" sz="2800" dirty="0">
                <a:latin typeface="Arial" panose="020B0604020202090204" pitchFamily="34" charset="0"/>
                <a:cs typeface="Arial" panose="020B0604020202090204" pitchFamily="34" charset="0"/>
              </a:rPr>
              <a:t>可以先定义一个视图，求出每个同学获得的最高成绩 </a:t>
            </a:r>
            <a:endParaRPr lang="zh-CN" altLang="en-US" sz="2800" dirty="0">
              <a:latin typeface="Arial" panose="020B0604020202090204" pitchFamily="34" charset="0"/>
              <a:cs typeface="Arial" panose="020B0604020202090204" pitchFamily="34" charset="0"/>
            </a:endParaRPr>
          </a:p>
          <a:p>
            <a:pPr marL="821055" lvl="2" indent="0">
              <a:lnSpc>
                <a:spcPct val="100000"/>
              </a:lnSpc>
              <a:spcBef>
                <a:spcPct val="0"/>
              </a:spcBef>
              <a:buNone/>
            </a:pPr>
            <a:r>
              <a:rPr lang="en-US" altLang="zh-CN" sz="2800">
                <a:solidFill>
                  <a:srgbClr val="C00000"/>
                </a:solidFill>
                <a:latin typeface="Arial" panose="020B0604020202090204" pitchFamily="34" charset="0"/>
                <a:cs typeface="Arial" panose="020B0604020202090204" pitchFamily="34" charset="0"/>
              </a:rPr>
              <a:t>CREATE </a:t>
            </a:r>
            <a:r>
              <a:rPr lang="en-US" altLang="zh-CN" sz="2800" dirty="0">
                <a:solidFill>
                  <a:srgbClr val="C00000"/>
                </a:solidFill>
                <a:latin typeface="Arial" panose="020B0604020202090204" pitchFamily="34" charset="0"/>
                <a:cs typeface="Arial" panose="020B0604020202090204" pitchFamily="34" charset="0"/>
              </a:rPr>
              <a:t>VIEW  VMGRADE</a:t>
            </a:r>
            <a:endParaRPr lang="en-US" altLang="zh-CN" sz="2800" dirty="0">
              <a:solidFill>
                <a:srgbClr val="C00000"/>
              </a:solidFill>
              <a:latin typeface="Arial" panose="020B0604020202090204" pitchFamily="34" charset="0"/>
              <a:cs typeface="Arial" panose="020B0604020202090204" pitchFamily="34" charset="0"/>
            </a:endParaRPr>
          </a:p>
          <a:p>
            <a:pPr marL="821055" lvl="2" indent="0">
              <a:lnSpc>
                <a:spcPct val="100000"/>
              </a:lnSpc>
              <a:spcBef>
                <a:spcPct val="0"/>
              </a:spcBef>
              <a:buNone/>
            </a:pPr>
            <a:r>
              <a:rPr lang="en-US" altLang="zh-CN" sz="2800" dirty="0">
                <a:solidFill>
                  <a:srgbClr val="C00000"/>
                </a:solidFill>
                <a:latin typeface="Arial" panose="020B0604020202090204" pitchFamily="34" charset="0"/>
                <a:cs typeface="Arial" panose="020B0604020202090204" pitchFamily="34" charset="0"/>
              </a:rPr>
              <a:t>AS</a:t>
            </a:r>
            <a:endParaRPr lang="en-US" altLang="zh-CN" sz="2800" dirty="0">
              <a:solidFill>
                <a:srgbClr val="C00000"/>
              </a:solidFill>
              <a:latin typeface="Arial" panose="020B0604020202090204" pitchFamily="34" charset="0"/>
              <a:cs typeface="Arial" panose="020B0604020202090204" pitchFamily="34" charset="0"/>
            </a:endParaRPr>
          </a:p>
          <a:p>
            <a:pPr marL="821055" lvl="2" indent="584835">
              <a:lnSpc>
                <a:spcPct val="100000"/>
              </a:lnSpc>
              <a:spcBef>
                <a:spcPct val="0"/>
              </a:spcBef>
              <a:buNone/>
            </a:pPr>
            <a:r>
              <a:rPr lang="en-US" altLang="zh-CN" sz="2800" dirty="0">
                <a:solidFill>
                  <a:srgbClr val="C00000"/>
                </a:solidFill>
                <a:latin typeface="Arial" panose="020B0604020202090204" pitchFamily="34" charset="0"/>
                <a:cs typeface="Arial" panose="020B0604020202090204" pitchFamily="34" charset="0"/>
              </a:rPr>
              <a:t>SELECT  </a:t>
            </a:r>
            <a:r>
              <a:rPr lang="en-US" altLang="zh-CN" sz="2800" dirty="0" err="1">
                <a:solidFill>
                  <a:srgbClr val="C00000"/>
                </a:solidFill>
                <a:latin typeface="Arial" panose="020B0604020202090204" pitchFamily="34" charset="0"/>
                <a:cs typeface="Arial" panose="020B0604020202090204" pitchFamily="34" charset="0"/>
              </a:rPr>
              <a:t>Sno</a:t>
            </a:r>
            <a:r>
              <a:rPr lang="en-US" altLang="zh-CN" sz="2800" dirty="0">
                <a:solidFill>
                  <a:srgbClr val="C00000"/>
                </a:solidFill>
                <a:latin typeface="Arial" panose="020B0604020202090204" pitchFamily="34" charset="0"/>
                <a:cs typeface="Arial" panose="020B0604020202090204" pitchFamily="34" charset="0"/>
              </a:rPr>
              <a:t>,</a:t>
            </a:r>
            <a:r>
              <a:rPr lang="zh-CN" altLang="en-US" sz="2800" dirty="0">
                <a:solidFill>
                  <a:srgbClr val="C00000"/>
                </a:solidFill>
                <a:latin typeface="Arial" panose="020B0604020202090204" pitchFamily="34" charset="0"/>
                <a:cs typeface="Arial" panose="020B0604020202090204" pitchFamily="34" charset="0"/>
              </a:rPr>
              <a:t> </a:t>
            </a:r>
            <a:r>
              <a:rPr lang="en-US" altLang="zh-CN" sz="2800" dirty="0">
                <a:solidFill>
                  <a:srgbClr val="C00000"/>
                </a:solidFill>
                <a:latin typeface="Arial" panose="020B0604020202090204" pitchFamily="34" charset="0"/>
                <a:cs typeface="Arial" panose="020B0604020202090204" pitchFamily="34" charset="0"/>
              </a:rPr>
              <a:t>MAX</a:t>
            </a:r>
            <a:r>
              <a:rPr lang="zh-CN" altLang="en-US" sz="2800" dirty="0">
                <a:solidFill>
                  <a:srgbClr val="C00000"/>
                </a:solidFill>
                <a:latin typeface="Arial" panose="020B0604020202090204" pitchFamily="34" charset="0"/>
                <a:cs typeface="Arial" panose="020B0604020202090204" pitchFamily="34" charset="0"/>
              </a:rPr>
              <a:t>(</a:t>
            </a:r>
            <a:r>
              <a:rPr lang="en-US" altLang="zh-CN" sz="2800" dirty="0">
                <a:solidFill>
                  <a:srgbClr val="C00000"/>
                </a:solidFill>
                <a:latin typeface="Arial" panose="020B0604020202090204" pitchFamily="34" charset="0"/>
                <a:cs typeface="Arial" panose="020B0604020202090204" pitchFamily="34" charset="0"/>
              </a:rPr>
              <a:t>Grade</a:t>
            </a:r>
            <a:r>
              <a:rPr lang="zh-CN" altLang="en-US" sz="2800" dirty="0">
                <a:solidFill>
                  <a:srgbClr val="C00000"/>
                </a:solidFill>
                <a:latin typeface="Arial" panose="020B0604020202090204" pitchFamily="34" charset="0"/>
                <a:cs typeface="Arial" panose="020B0604020202090204" pitchFamily="34" charset="0"/>
              </a:rPr>
              <a:t>)</a:t>
            </a:r>
            <a:r>
              <a:rPr lang="en-US" altLang="zh-CN" sz="2800" dirty="0">
                <a:solidFill>
                  <a:srgbClr val="C00000"/>
                </a:solidFill>
                <a:latin typeface="Arial" panose="020B0604020202090204" pitchFamily="34" charset="0"/>
                <a:cs typeface="Arial" panose="020B0604020202090204" pitchFamily="34" charset="0"/>
              </a:rPr>
              <a:t>  </a:t>
            </a:r>
            <a:r>
              <a:rPr lang="en-US" altLang="zh-CN" sz="2800" dirty="0" err="1">
                <a:solidFill>
                  <a:srgbClr val="C00000"/>
                </a:solidFill>
                <a:latin typeface="Arial" panose="020B0604020202090204" pitchFamily="34" charset="0"/>
                <a:cs typeface="Arial" panose="020B0604020202090204" pitchFamily="34" charset="0"/>
              </a:rPr>
              <a:t>Mgrade</a:t>
            </a:r>
            <a:endParaRPr lang="en-US" altLang="zh-CN" sz="2800" dirty="0">
              <a:solidFill>
                <a:srgbClr val="C00000"/>
              </a:solidFill>
              <a:latin typeface="Arial" panose="020B0604020202090204" pitchFamily="34" charset="0"/>
              <a:cs typeface="Arial" panose="020B0604020202090204" pitchFamily="34" charset="0"/>
            </a:endParaRPr>
          </a:p>
          <a:p>
            <a:pPr marL="821055" lvl="2" indent="584835">
              <a:lnSpc>
                <a:spcPct val="100000"/>
              </a:lnSpc>
              <a:spcBef>
                <a:spcPct val="0"/>
              </a:spcBef>
              <a:buNone/>
            </a:pPr>
            <a:r>
              <a:rPr lang="en-US" altLang="zh-CN" sz="2800" dirty="0">
                <a:solidFill>
                  <a:srgbClr val="C00000"/>
                </a:solidFill>
                <a:latin typeface="Arial" panose="020B0604020202090204" pitchFamily="34" charset="0"/>
                <a:cs typeface="Arial" panose="020B0604020202090204" pitchFamily="34" charset="0"/>
              </a:rPr>
              <a:t>FROM  SC</a:t>
            </a:r>
            <a:endParaRPr lang="en-US" altLang="zh-CN" sz="2800" dirty="0">
              <a:solidFill>
                <a:srgbClr val="C00000"/>
              </a:solidFill>
              <a:latin typeface="Arial" panose="020B0604020202090204" pitchFamily="34" charset="0"/>
              <a:cs typeface="Arial" panose="020B0604020202090204" pitchFamily="34" charset="0"/>
            </a:endParaRPr>
          </a:p>
          <a:p>
            <a:pPr marL="821055" lvl="2" indent="584835">
              <a:lnSpc>
                <a:spcPct val="100000"/>
              </a:lnSpc>
              <a:spcBef>
                <a:spcPct val="0"/>
              </a:spcBef>
              <a:buNone/>
            </a:pPr>
            <a:r>
              <a:rPr lang="en-US" altLang="zh-CN" sz="2800" dirty="0">
                <a:solidFill>
                  <a:srgbClr val="C00000"/>
                </a:solidFill>
                <a:latin typeface="Arial" panose="020B0604020202090204" pitchFamily="34" charset="0"/>
                <a:cs typeface="Arial" panose="020B0604020202090204" pitchFamily="34" charset="0"/>
              </a:rPr>
              <a:t>GROUP BY  </a:t>
            </a:r>
            <a:r>
              <a:rPr lang="en-US" altLang="zh-CN" sz="2800" dirty="0" err="1">
                <a:solidFill>
                  <a:srgbClr val="C00000"/>
                </a:solidFill>
                <a:latin typeface="Arial" panose="020B0604020202090204" pitchFamily="34" charset="0"/>
                <a:cs typeface="Arial" panose="020B0604020202090204" pitchFamily="34" charset="0"/>
              </a:rPr>
              <a:t>Sno</a:t>
            </a:r>
            <a:r>
              <a:rPr lang="en-US" altLang="zh-CN" sz="2800" dirty="0">
                <a:solidFill>
                  <a:srgbClr val="C00000"/>
                </a:solidFill>
                <a:latin typeface="Arial" panose="020B0604020202090204" pitchFamily="34" charset="0"/>
                <a:cs typeface="Arial" panose="020B0604020202090204" pitchFamily="34" charset="0"/>
              </a:rPr>
              <a:t>;</a:t>
            </a:r>
            <a:endParaRPr lang="en-US" altLang="zh-CN" sz="2800" dirty="0">
              <a:solidFill>
                <a:srgbClr val="C00000"/>
              </a:solidFill>
              <a:latin typeface="Arial" panose="020B0604020202090204" pitchFamily="34" charset="0"/>
              <a:cs typeface="Arial" panose="020B0604020202090204" pitchFamily="34" charset="0"/>
            </a:endParaRPr>
          </a:p>
          <a:p>
            <a:pPr>
              <a:lnSpc>
                <a:spcPct val="100000"/>
              </a:lnSpc>
              <a:spcAft>
                <a:spcPts val="1000"/>
              </a:spcAft>
            </a:pPr>
            <a:r>
              <a:rPr lang="zh-CN" altLang="en-US" sz="2800" dirty="0">
                <a:latin typeface="Arial" panose="020B0604020202090204" pitchFamily="34" charset="0"/>
                <a:cs typeface="Arial" panose="020B0604020202090204" pitchFamily="34" charset="0"/>
              </a:rPr>
              <a:t>然后用如下的查询语句完成查询：</a:t>
            </a:r>
            <a:endParaRPr lang="zh-CN" altLang="en-US" sz="2800" dirty="0">
              <a:latin typeface="Arial" panose="020B0604020202090204" pitchFamily="34" charset="0"/>
              <a:cs typeface="Arial" panose="020B0604020202090204" pitchFamily="34" charset="0"/>
            </a:endParaRPr>
          </a:p>
          <a:p>
            <a:pPr marL="914400" lvl="2" indent="0">
              <a:lnSpc>
                <a:spcPct val="100000"/>
              </a:lnSpc>
              <a:spcBef>
                <a:spcPct val="0"/>
              </a:spcBef>
              <a:buNone/>
            </a:pPr>
            <a:r>
              <a:rPr lang="en-US" altLang="zh-CN" sz="2800" dirty="0">
                <a:solidFill>
                  <a:srgbClr val="C00000"/>
                </a:solidFill>
                <a:latin typeface="Arial" panose="020B0604020202090204" pitchFamily="34" charset="0"/>
                <a:cs typeface="Arial" panose="020B0604020202090204" pitchFamily="34" charset="0"/>
              </a:rPr>
              <a:t>SELECT  </a:t>
            </a:r>
            <a:r>
              <a:rPr lang="en-US" altLang="zh-CN" sz="2800" dirty="0" err="1">
                <a:solidFill>
                  <a:srgbClr val="C00000"/>
                </a:solidFill>
                <a:latin typeface="Arial" panose="020B0604020202090204" pitchFamily="34" charset="0"/>
                <a:cs typeface="Arial" panose="020B0604020202090204" pitchFamily="34" charset="0"/>
              </a:rPr>
              <a:t>SC.Sno</a:t>
            </a:r>
            <a:r>
              <a:rPr lang="zh-CN" altLang="en-US" sz="2800" dirty="0">
                <a:solidFill>
                  <a:srgbClr val="C00000"/>
                </a:solidFill>
                <a:latin typeface="Arial" panose="020B0604020202090204" pitchFamily="34" charset="0"/>
                <a:cs typeface="Arial" panose="020B0604020202090204" pitchFamily="34" charset="0"/>
              </a:rPr>
              <a:t>,</a:t>
            </a:r>
            <a:r>
              <a:rPr lang="en-US" altLang="zh-CN" sz="2800" dirty="0" err="1">
                <a:solidFill>
                  <a:srgbClr val="C00000"/>
                </a:solidFill>
                <a:latin typeface="Arial" panose="020B0604020202090204" pitchFamily="34" charset="0"/>
                <a:cs typeface="Arial" panose="020B0604020202090204" pitchFamily="34" charset="0"/>
              </a:rPr>
              <a:t>Cno</a:t>
            </a:r>
            <a:endParaRPr lang="en-US" altLang="zh-CN" sz="2800" dirty="0">
              <a:solidFill>
                <a:srgbClr val="C00000"/>
              </a:solidFill>
              <a:latin typeface="Arial" panose="020B0604020202090204" pitchFamily="34" charset="0"/>
              <a:cs typeface="Arial" panose="020B0604020202090204" pitchFamily="34" charset="0"/>
            </a:endParaRPr>
          </a:p>
          <a:p>
            <a:pPr marL="914400" lvl="2" indent="0">
              <a:lnSpc>
                <a:spcPct val="100000"/>
              </a:lnSpc>
              <a:spcBef>
                <a:spcPct val="0"/>
              </a:spcBef>
              <a:buNone/>
            </a:pPr>
            <a:r>
              <a:rPr lang="en-US" altLang="zh-CN" sz="2800" dirty="0">
                <a:solidFill>
                  <a:srgbClr val="C00000"/>
                </a:solidFill>
                <a:latin typeface="Arial" panose="020B0604020202090204" pitchFamily="34" charset="0"/>
                <a:cs typeface="Arial" panose="020B0604020202090204" pitchFamily="34" charset="0"/>
              </a:rPr>
              <a:t>FROM  SC</a:t>
            </a:r>
            <a:r>
              <a:rPr lang="zh-CN" altLang="en-US" sz="2800" dirty="0">
                <a:solidFill>
                  <a:srgbClr val="C00000"/>
                </a:solidFill>
                <a:latin typeface="Arial" panose="020B0604020202090204" pitchFamily="34" charset="0"/>
                <a:cs typeface="Arial" panose="020B0604020202090204" pitchFamily="34" charset="0"/>
              </a:rPr>
              <a:t>,</a:t>
            </a:r>
            <a:r>
              <a:rPr lang="en-US" altLang="zh-CN" sz="2800" dirty="0">
                <a:solidFill>
                  <a:srgbClr val="C00000"/>
                </a:solidFill>
                <a:latin typeface="Arial" panose="020B0604020202090204" pitchFamily="34" charset="0"/>
                <a:cs typeface="Arial" panose="020B0604020202090204" pitchFamily="34" charset="0"/>
              </a:rPr>
              <a:t> VMGRADE </a:t>
            </a:r>
            <a:endParaRPr lang="en-US" altLang="zh-CN" sz="2800" dirty="0">
              <a:solidFill>
                <a:srgbClr val="C00000"/>
              </a:solidFill>
              <a:latin typeface="Arial" panose="020B0604020202090204" pitchFamily="34" charset="0"/>
              <a:cs typeface="Arial" panose="020B0604020202090204" pitchFamily="34" charset="0"/>
            </a:endParaRPr>
          </a:p>
          <a:p>
            <a:pPr marL="914400" lvl="2" indent="0">
              <a:lnSpc>
                <a:spcPct val="100000"/>
              </a:lnSpc>
              <a:spcBef>
                <a:spcPct val="0"/>
              </a:spcBef>
              <a:buNone/>
            </a:pPr>
            <a:r>
              <a:rPr lang="en-US" altLang="zh-CN" sz="2800" dirty="0">
                <a:solidFill>
                  <a:srgbClr val="C00000"/>
                </a:solidFill>
                <a:latin typeface="Arial" panose="020B0604020202090204" pitchFamily="34" charset="0"/>
                <a:cs typeface="Arial" panose="020B0604020202090204" pitchFamily="34" charset="0"/>
              </a:rPr>
              <a:t>WHERE  </a:t>
            </a:r>
            <a:r>
              <a:rPr lang="en-US" altLang="zh-CN" sz="2800" dirty="0" err="1">
                <a:solidFill>
                  <a:srgbClr val="C00000"/>
                </a:solidFill>
                <a:latin typeface="Arial" panose="020B0604020202090204" pitchFamily="34" charset="0"/>
                <a:cs typeface="Arial" panose="020B0604020202090204" pitchFamily="34" charset="0"/>
              </a:rPr>
              <a:t>SC.Sno</a:t>
            </a:r>
            <a:r>
              <a:rPr lang="en-US" altLang="zh-CN" sz="2800" dirty="0">
                <a:solidFill>
                  <a:srgbClr val="C00000"/>
                </a:solidFill>
                <a:latin typeface="Arial" panose="020B0604020202090204" pitchFamily="34" charset="0"/>
                <a:cs typeface="Arial" panose="020B0604020202090204" pitchFamily="34" charset="0"/>
              </a:rPr>
              <a:t>=</a:t>
            </a:r>
            <a:r>
              <a:rPr lang="en-US" altLang="zh-CN" sz="2800" dirty="0" err="1">
                <a:solidFill>
                  <a:srgbClr val="C00000"/>
                </a:solidFill>
                <a:latin typeface="Arial" panose="020B0604020202090204" pitchFamily="34" charset="0"/>
                <a:cs typeface="Arial" panose="020B0604020202090204" pitchFamily="34" charset="0"/>
              </a:rPr>
              <a:t>VMGRADE.Sno</a:t>
            </a:r>
            <a:r>
              <a:rPr lang="en-US" altLang="zh-CN" sz="2800" dirty="0">
                <a:solidFill>
                  <a:srgbClr val="C00000"/>
                </a:solidFill>
                <a:latin typeface="Arial" panose="020B0604020202090204" pitchFamily="34" charset="0"/>
                <a:cs typeface="Arial" panose="020B0604020202090204" pitchFamily="34" charset="0"/>
              </a:rPr>
              <a:t>  AND </a:t>
            </a:r>
            <a:endParaRPr lang="en-US" altLang="zh-CN" sz="2800" dirty="0">
              <a:solidFill>
                <a:srgbClr val="C00000"/>
              </a:solidFill>
              <a:latin typeface="Arial" panose="020B0604020202090204" pitchFamily="34" charset="0"/>
              <a:cs typeface="Arial" panose="020B0604020202090204" pitchFamily="34" charset="0"/>
            </a:endParaRPr>
          </a:p>
          <a:p>
            <a:pPr marL="914400" lvl="2" indent="1437005">
              <a:lnSpc>
                <a:spcPct val="100000"/>
              </a:lnSpc>
              <a:spcBef>
                <a:spcPct val="0"/>
              </a:spcBef>
              <a:buNone/>
            </a:pPr>
            <a:r>
              <a:rPr lang="en-US" altLang="zh-CN" sz="2800" dirty="0" err="1">
                <a:solidFill>
                  <a:srgbClr val="C00000"/>
                </a:solidFill>
                <a:latin typeface="Arial" panose="020B0604020202090204" pitchFamily="34" charset="0"/>
                <a:cs typeface="Arial" panose="020B0604020202090204" pitchFamily="34" charset="0"/>
              </a:rPr>
              <a:t>SC.Grade</a:t>
            </a:r>
            <a:r>
              <a:rPr lang="en-US" altLang="zh-CN" sz="2800" dirty="0">
                <a:solidFill>
                  <a:srgbClr val="C00000"/>
                </a:solidFill>
                <a:latin typeface="Arial" panose="020B0604020202090204" pitchFamily="34" charset="0"/>
                <a:cs typeface="Arial" panose="020B0604020202090204" pitchFamily="34" charset="0"/>
              </a:rPr>
              <a:t>=VMGRADE .</a:t>
            </a:r>
            <a:r>
              <a:rPr lang="en-US" altLang="zh-CN" sz="2800" dirty="0" err="1">
                <a:solidFill>
                  <a:srgbClr val="C00000"/>
                </a:solidFill>
                <a:latin typeface="Arial" panose="020B0604020202090204" pitchFamily="34" charset="0"/>
                <a:cs typeface="Arial" panose="020B0604020202090204" pitchFamily="34" charset="0"/>
              </a:rPr>
              <a:t>Mgrade</a:t>
            </a:r>
            <a:r>
              <a:rPr lang="en-US" altLang="zh-CN" sz="2800" dirty="0">
                <a:solidFill>
                  <a:srgbClr val="C00000"/>
                </a:solidFill>
                <a:latin typeface="Arial" panose="020B0604020202090204" pitchFamily="34" charset="0"/>
                <a:cs typeface="Arial" panose="020B0604020202090204" pitchFamily="34" charset="0"/>
              </a:rPr>
              <a:t>; </a:t>
            </a:r>
            <a:endParaRPr lang="en-US" altLang="zh-CN" sz="2800" dirty="0">
              <a:solidFill>
                <a:srgbClr val="C00000"/>
              </a:solidFill>
              <a:latin typeface="Arial" panose="020B0604020202090204" pitchFamily="34" charset="0"/>
              <a:cs typeface="Arial" panose="020B0604020202090204" pitchFamily="34" charset="0"/>
            </a:endParaRPr>
          </a:p>
        </p:txBody>
      </p:sp>
      <p:sp>
        <p:nvSpPr>
          <p:cNvPr id="2" name="灯片编号占位符 1"/>
          <p:cNvSpPr>
            <a:spLocks noGrp="1"/>
          </p:cNvSpPr>
          <p:nvPr>
            <p:ph type="sldNum" sz="quarter" idx="12"/>
          </p:nvPr>
        </p:nvSpPr>
        <p:spPr>
          <a:xfrm>
            <a:off x="11461115" y="6696000"/>
            <a:ext cx="730885" cy="153670"/>
          </a:xfrm>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ch03_3_SQL数据更新</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9875">
                                            <p:txEl>
                                              <p:pRg st="1" end="1"/>
                                            </p:txEl>
                                          </p:spTgt>
                                        </p:tgtEl>
                                        <p:attrNameLst>
                                          <p:attrName>style.visibility</p:attrName>
                                        </p:attrNameLst>
                                      </p:cBhvr>
                                      <p:to>
                                        <p:strVal val="visible"/>
                                      </p:to>
                                    </p:set>
                                    <p:animEffect transition="in" filter="blinds(horizontal)">
                                      <p:cBhvr>
                                        <p:cTn id="7" dur="500"/>
                                        <p:tgtEl>
                                          <p:spTgt spid="79875">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9875">
                                            <p:txEl>
                                              <p:pRg st="2" end="2"/>
                                            </p:txEl>
                                          </p:spTgt>
                                        </p:tgtEl>
                                        <p:attrNameLst>
                                          <p:attrName>style.visibility</p:attrName>
                                        </p:attrNameLst>
                                      </p:cBhvr>
                                      <p:to>
                                        <p:strVal val="visible"/>
                                      </p:to>
                                    </p:set>
                                    <p:animEffect transition="in" filter="blinds(horizontal)">
                                      <p:cBhvr>
                                        <p:cTn id="10" dur="500"/>
                                        <p:tgtEl>
                                          <p:spTgt spid="79875">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79875">
                                            <p:txEl>
                                              <p:pRg st="3" end="3"/>
                                            </p:txEl>
                                          </p:spTgt>
                                        </p:tgtEl>
                                        <p:attrNameLst>
                                          <p:attrName>style.visibility</p:attrName>
                                        </p:attrNameLst>
                                      </p:cBhvr>
                                      <p:to>
                                        <p:strVal val="visible"/>
                                      </p:to>
                                    </p:set>
                                    <p:animEffect transition="in" filter="blinds(horizontal)">
                                      <p:cBhvr>
                                        <p:cTn id="13" dur="500"/>
                                        <p:tgtEl>
                                          <p:spTgt spid="79875">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79875">
                                            <p:txEl>
                                              <p:pRg st="4" end="4"/>
                                            </p:txEl>
                                          </p:spTgt>
                                        </p:tgtEl>
                                        <p:attrNameLst>
                                          <p:attrName>style.visibility</p:attrName>
                                        </p:attrNameLst>
                                      </p:cBhvr>
                                      <p:to>
                                        <p:strVal val="visible"/>
                                      </p:to>
                                    </p:set>
                                    <p:animEffect transition="in" filter="blinds(horizontal)">
                                      <p:cBhvr>
                                        <p:cTn id="16" dur="500"/>
                                        <p:tgtEl>
                                          <p:spTgt spid="79875">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79875">
                                            <p:txEl>
                                              <p:pRg st="5" end="5"/>
                                            </p:txEl>
                                          </p:spTgt>
                                        </p:tgtEl>
                                        <p:attrNameLst>
                                          <p:attrName>style.visibility</p:attrName>
                                        </p:attrNameLst>
                                      </p:cBhvr>
                                      <p:to>
                                        <p:strVal val="visible"/>
                                      </p:to>
                                    </p:set>
                                    <p:animEffect transition="in" filter="blinds(horizontal)">
                                      <p:cBhvr>
                                        <p:cTn id="19" dur="500"/>
                                        <p:tgtEl>
                                          <p:spTgt spid="79875">
                                            <p:txEl>
                                              <p:pRg st="5" end="5"/>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79875">
                                            <p:txEl>
                                              <p:pRg st="6" end="6"/>
                                            </p:txEl>
                                          </p:spTgt>
                                        </p:tgtEl>
                                        <p:attrNameLst>
                                          <p:attrName>style.visibility</p:attrName>
                                        </p:attrNameLst>
                                      </p:cBhvr>
                                      <p:to>
                                        <p:strVal val="visible"/>
                                      </p:to>
                                    </p:set>
                                    <p:animEffect transition="in" filter="blinds(horizontal)">
                                      <p:cBhvr>
                                        <p:cTn id="22" dur="500"/>
                                        <p:tgtEl>
                                          <p:spTgt spid="79875">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79875">
                                            <p:txEl>
                                              <p:pRg st="7" end="7"/>
                                            </p:txEl>
                                          </p:spTgt>
                                        </p:tgtEl>
                                        <p:attrNameLst>
                                          <p:attrName>style.visibility</p:attrName>
                                        </p:attrNameLst>
                                      </p:cBhvr>
                                      <p:to>
                                        <p:strVal val="visible"/>
                                      </p:to>
                                    </p:set>
                                    <p:anim calcmode="lin" valueType="num">
                                      <p:cBhvr additive="base">
                                        <p:cTn id="27" dur="500" fill="hold"/>
                                        <p:tgtEl>
                                          <p:spTgt spid="79875">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9875">
                                            <p:txEl>
                                              <p:pRg st="7" end="7"/>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79875">
                                            <p:txEl>
                                              <p:pRg st="8" end="8"/>
                                            </p:txEl>
                                          </p:spTgt>
                                        </p:tgtEl>
                                        <p:attrNameLst>
                                          <p:attrName>style.visibility</p:attrName>
                                        </p:attrNameLst>
                                      </p:cBhvr>
                                      <p:to>
                                        <p:strVal val="visible"/>
                                      </p:to>
                                    </p:set>
                                    <p:anim calcmode="lin" valueType="num">
                                      <p:cBhvr additive="base">
                                        <p:cTn id="31" dur="500" fill="hold"/>
                                        <p:tgtEl>
                                          <p:spTgt spid="79875">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9875">
                                            <p:txEl>
                                              <p:pRg st="8" end="8"/>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79875">
                                            <p:txEl>
                                              <p:pRg st="9" end="9"/>
                                            </p:txEl>
                                          </p:spTgt>
                                        </p:tgtEl>
                                        <p:attrNameLst>
                                          <p:attrName>style.visibility</p:attrName>
                                        </p:attrNameLst>
                                      </p:cBhvr>
                                      <p:to>
                                        <p:strVal val="visible"/>
                                      </p:to>
                                    </p:set>
                                    <p:anim calcmode="lin" valueType="num">
                                      <p:cBhvr additive="base">
                                        <p:cTn id="35" dur="500" fill="hold"/>
                                        <p:tgtEl>
                                          <p:spTgt spid="79875">
                                            <p:txEl>
                                              <p:pRg st="9" end="9"/>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79875">
                                            <p:txEl>
                                              <p:pRg st="9" end="9"/>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79875">
                                            <p:txEl>
                                              <p:pRg st="10" end="10"/>
                                            </p:txEl>
                                          </p:spTgt>
                                        </p:tgtEl>
                                        <p:attrNameLst>
                                          <p:attrName>style.visibility</p:attrName>
                                        </p:attrNameLst>
                                      </p:cBhvr>
                                      <p:to>
                                        <p:strVal val="visible"/>
                                      </p:to>
                                    </p:set>
                                    <p:anim calcmode="lin" valueType="num">
                                      <p:cBhvr additive="base">
                                        <p:cTn id="39" dur="500" fill="hold"/>
                                        <p:tgtEl>
                                          <p:spTgt spid="79875">
                                            <p:txEl>
                                              <p:pRg st="10" end="1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79875">
                                            <p:txEl>
                                              <p:pRg st="10" end="10"/>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79875">
                                            <p:txEl>
                                              <p:pRg st="11" end="11"/>
                                            </p:txEl>
                                          </p:spTgt>
                                        </p:tgtEl>
                                        <p:attrNameLst>
                                          <p:attrName>style.visibility</p:attrName>
                                        </p:attrNameLst>
                                      </p:cBhvr>
                                      <p:to>
                                        <p:strVal val="visible"/>
                                      </p:to>
                                    </p:set>
                                    <p:anim calcmode="lin" valueType="num">
                                      <p:cBhvr additive="base">
                                        <p:cTn id="43" dur="500" fill="hold"/>
                                        <p:tgtEl>
                                          <p:spTgt spid="79875">
                                            <p:txEl>
                                              <p:pRg st="11" end="1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9875">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复习思考题</a:t>
            </a:r>
            <a:r>
              <a:rPr lang="en-US" altLang="zh-CN"/>
              <a:t> 1</a:t>
            </a:r>
            <a:endParaRPr lang="en-US" altLang="zh-CN"/>
          </a:p>
        </p:txBody>
      </p:sp>
      <p:sp>
        <p:nvSpPr>
          <p:cNvPr id="3" name="内容占位符 2"/>
          <p:cNvSpPr>
            <a:spLocks noGrp="1"/>
          </p:cNvSpPr>
          <p:nvPr>
            <p:ph idx="1"/>
          </p:nvPr>
        </p:nvSpPr>
        <p:spPr/>
        <p:txBody>
          <a:bodyPr/>
          <a:p>
            <a:pPr marL="571500" indent="-571500">
              <a:buFont typeface="+mj-lt"/>
              <a:buAutoNum type="arabicPeriod"/>
            </a:pPr>
            <a:r>
              <a:rPr lang="zh-CN" altLang="en-US">
                <a:solidFill>
                  <a:srgbClr val="1F2DA8"/>
                </a:solidFill>
                <a:latin typeface="Arial" panose="020B0604020202090204" pitchFamily="34" charset="0"/>
                <a:cs typeface="Arial" panose="020B0604020202090204" pitchFamily="34" charset="0"/>
              </a:rPr>
              <a:t>什么是子查询？</a:t>
            </a:r>
            <a:r>
              <a:rPr lang="zh-CN" altLang="en-US">
                <a:solidFill>
                  <a:srgbClr val="1F2DA8"/>
                </a:solidFill>
                <a:latin typeface="Arial" panose="020B0604020202090204" pitchFamily="34" charset="0"/>
                <a:ea typeface="华文楷体" panose="02010600040101010101" charset="-122"/>
                <a:cs typeface="Arial" panose="020B0604020202090204" pitchFamily="34" charset="0"/>
                <a:sym typeface="+mn-ea"/>
              </a:rPr>
              <a:t>什么是独立子查询？什么是相关子查询？它们之间的区别是什么？</a:t>
            </a:r>
            <a:endParaRPr lang="zh-CN" altLang="en-US">
              <a:solidFill>
                <a:srgbClr val="1F2DA8"/>
              </a:solidFill>
              <a:latin typeface="Arial" panose="020B0604020202090204" pitchFamily="34" charset="0"/>
              <a:ea typeface="华文楷体" panose="02010600040101010101" charset="-122"/>
              <a:cs typeface="Arial" panose="020B0604020202090204" pitchFamily="34" charset="0"/>
              <a:sym typeface="+mn-ea"/>
            </a:endParaRPr>
          </a:p>
          <a:p>
            <a:pPr marL="571500" indent="-571500">
              <a:buFont typeface="+mj-ea"/>
              <a:buAutoNum type="arabicPeriod"/>
            </a:pPr>
            <a:r>
              <a:rPr lang="zh-CN" altLang="en-US">
                <a:solidFill>
                  <a:srgbClr val="1F2DA8"/>
                </a:solidFill>
                <a:latin typeface="Arial" panose="020B0604020202090204" pitchFamily="34" charset="0"/>
                <a:ea typeface="华文楷体" panose="02010600040101010101" charset="-122"/>
                <a:cs typeface="Arial" panose="020B0604020202090204" pitchFamily="34" charset="0"/>
                <a:sym typeface="+mn-ea"/>
              </a:rPr>
              <a:t>关系代数中的</a:t>
            </a:r>
            <a:r>
              <a:rPr lang="en-US" altLang="zh-CN">
                <a:solidFill>
                  <a:srgbClr val="1F2DA8"/>
                </a:solidFill>
                <a:latin typeface="Arial" panose="020B0604020202090204" pitchFamily="34" charset="0"/>
                <a:ea typeface="华文楷体" panose="02010600040101010101" charset="-122"/>
                <a:cs typeface="Arial" panose="020B0604020202090204" pitchFamily="34" charset="0"/>
                <a:sym typeface="+mn-ea"/>
              </a:rPr>
              <a:t>‘</a:t>
            </a:r>
            <a:r>
              <a:rPr lang="zh-CN" altLang="en-US">
                <a:solidFill>
                  <a:srgbClr val="1F2DA8"/>
                </a:solidFill>
                <a:latin typeface="Arial" panose="020B0604020202090204" pitchFamily="34" charset="0"/>
                <a:ea typeface="华文楷体" panose="02010600040101010101" charset="-122"/>
                <a:cs typeface="Arial" panose="020B0604020202090204" pitchFamily="34" charset="0"/>
                <a:sym typeface="+mn-ea"/>
              </a:rPr>
              <a:t>差</a:t>
            </a:r>
            <a:r>
              <a:rPr lang="en-US" altLang="zh-CN">
                <a:solidFill>
                  <a:srgbClr val="1F2DA8"/>
                </a:solidFill>
                <a:latin typeface="Arial" panose="020B0604020202090204" pitchFamily="34" charset="0"/>
                <a:ea typeface="华文楷体" panose="02010600040101010101" charset="-122"/>
                <a:cs typeface="Arial" panose="020B0604020202090204" pitchFamily="34" charset="0"/>
                <a:sym typeface="+mn-ea"/>
              </a:rPr>
              <a:t>’</a:t>
            </a:r>
            <a:r>
              <a:rPr lang="zh-CN" altLang="en-US">
                <a:solidFill>
                  <a:srgbClr val="1F2DA8"/>
                </a:solidFill>
                <a:latin typeface="Arial" panose="020B0604020202090204" pitchFamily="34" charset="0"/>
                <a:ea typeface="华文楷体" panose="02010600040101010101" charset="-122"/>
                <a:cs typeface="Arial" panose="020B0604020202090204" pitchFamily="34" charset="0"/>
                <a:sym typeface="+mn-ea"/>
              </a:rPr>
              <a:t>运算在</a:t>
            </a:r>
            <a:r>
              <a:rPr lang="en-US" altLang="zh-CN">
                <a:solidFill>
                  <a:srgbClr val="1F2DA8"/>
                </a:solidFill>
                <a:latin typeface="Arial" panose="020B0604020202090204" pitchFamily="34" charset="0"/>
                <a:ea typeface="华文楷体" panose="02010600040101010101" charset="-122"/>
                <a:cs typeface="Arial" panose="020B0604020202090204" pitchFamily="34" charset="0"/>
                <a:sym typeface="+mn-ea"/>
              </a:rPr>
              <a:t>SQL</a:t>
            </a:r>
            <a:r>
              <a:rPr lang="zh-CN" altLang="en-US">
                <a:solidFill>
                  <a:srgbClr val="1F2DA8"/>
                </a:solidFill>
                <a:latin typeface="Arial" panose="020B0604020202090204" pitchFamily="34" charset="0"/>
                <a:ea typeface="华文楷体" panose="02010600040101010101" charset="-122"/>
                <a:cs typeface="Arial" panose="020B0604020202090204" pitchFamily="34" charset="0"/>
                <a:sym typeface="+mn-ea"/>
              </a:rPr>
              <a:t>中可以用什么查询谓词来表示？是否可以不使用子查询？</a:t>
            </a:r>
            <a:endParaRPr lang="zh-CN" altLang="en-US">
              <a:solidFill>
                <a:srgbClr val="1F2DA8"/>
              </a:solidFill>
              <a:latin typeface="Arial" panose="020B0604020202090204" pitchFamily="34" charset="0"/>
              <a:ea typeface="华文楷体" panose="02010600040101010101" charset="-122"/>
              <a:cs typeface="Arial" panose="020B0604020202090204" pitchFamily="34" charset="0"/>
              <a:sym typeface="+mn-ea"/>
            </a:endParaRPr>
          </a:p>
          <a:p>
            <a:pPr marL="571500" indent="-571500">
              <a:buFont typeface="+mj-ea"/>
              <a:buAutoNum type="arabicPeriod"/>
            </a:pPr>
            <a:r>
              <a:rPr lang="zh-CN" altLang="en-US">
                <a:solidFill>
                  <a:srgbClr val="1F2DA8"/>
                </a:solidFill>
                <a:latin typeface="Arial" panose="020B0604020202090204" pitchFamily="34" charset="0"/>
                <a:ea typeface="华文楷体" panose="02010600040101010101" charset="-122"/>
                <a:cs typeface="Arial" panose="020B0604020202090204" pitchFamily="34" charset="0"/>
                <a:sym typeface="+mn-ea"/>
              </a:rPr>
              <a:t>在关系代数中用</a:t>
            </a:r>
            <a:r>
              <a:rPr lang="en-US" altLang="zh-CN">
                <a:solidFill>
                  <a:srgbClr val="1F2DA8"/>
                </a:solidFill>
                <a:latin typeface="Arial" panose="020B0604020202090204" pitchFamily="34" charset="0"/>
                <a:ea typeface="华文楷体" panose="02010600040101010101" charset="-122"/>
                <a:cs typeface="Arial" panose="020B0604020202090204" pitchFamily="34" charset="0"/>
                <a:sym typeface="+mn-ea"/>
              </a:rPr>
              <a:t>‘</a:t>
            </a:r>
            <a:r>
              <a:rPr lang="zh-CN" altLang="en-US">
                <a:solidFill>
                  <a:srgbClr val="1F2DA8"/>
                </a:solidFill>
                <a:latin typeface="Arial" panose="020B0604020202090204" pitchFamily="34" charset="0"/>
                <a:ea typeface="华文楷体" panose="02010600040101010101" charset="-122"/>
                <a:cs typeface="Arial" panose="020B0604020202090204" pitchFamily="34" charset="0"/>
                <a:sym typeface="+mn-ea"/>
              </a:rPr>
              <a:t>除法</a:t>
            </a:r>
            <a:r>
              <a:rPr lang="en-US" altLang="zh-CN">
                <a:solidFill>
                  <a:srgbClr val="1F2DA8"/>
                </a:solidFill>
                <a:latin typeface="Arial" panose="020B0604020202090204" pitchFamily="34" charset="0"/>
                <a:ea typeface="华文楷体" panose="02010600040101010101" charset="-122"/>
                <a:cs typeface="Arial" panose="020B0604020202090204" pitchFamily="34" charset="0"/>
                <a:sym typeface="+mn-ea"/>
              </a:rPr>
              <a:t>’</a:t>
            </a:r>
            <a:r>
              <a:rPr lang="zh-CN" altLang="en-US">
                <a:solidFill>
                  <a:srgbClr val="1F2DA8"/>
                </a:solidFill>
                <a:latin typeface="Arial" panose="020B0604020202090204" pitchFamily="34" charset="0"/>
                <a:ea typeface="华文楷体" panose="02010600040101010101" charset="-122"/>
                <a:cs typeface="Arial" panose="020B0604020202090204" pitchFamily="34" charset="0"/>
                <a:sym typeface="+mn-ea"/>
              </a:rPr>
              <a:t>表示的查询，在</a:t>
            </a:r>
            <a:r>
              <a:rPr lang="en-US" altLang="zh-CN">
                <a:solidFill>
                  <a:srgbClr val="1F2DA8"/>
                </a:solidFill>
                <a:latin typeface="Arial" panose="020B0604020202090204" pitchFamily="34" charset="0"/>
                <a:ea typeface="华文楷体" panose="02010600040101010101" charset="-122"/>
                <a:cs typeface="Arial" panose="020B0604020202090204" pitchFamily="34" charset="0"/>
                <a:sym typeface="+mn-ea"/>
              </a:rPr>
              <a:t>SQL</a:t>
            </a:r>
            <a:r>
              <a:rPr lang="zh-CN" altLang="en-US">
                <a:solidFill>
                  <a:srgbClr val="1F2DA8"/>
                </a:solidFill>
                <a:latin typeface="Arial" panose="020B0604020202090204" pitchFamily="34" charset="0"/>
                <a:ea typeface="华文楷体" panose="02010600040101010101" charset="-122"/>
                <a:cs typeface="Arial" panose="020B0604020202090204" pitchFamily="34" charset="0"/>
                <a:sym typeface="+mn-ea"/>
              </a:rPr>
              <a:t>中如何表示？是否可以用</a:t>
            </a:r>
            <a:r>
              <a:rPr lang="en-US" altLang="zh-CN">
                <a:solidFill>
                  <a:srgbClr val="1F2DA8"/>
                </a:solidFill>
                <a:latin typeface="Arial" panose="020B0604020202090204" pitchFamily="34" charset="0"/>
                <a:ea typeface="华文楷体" panose="02010600040101010101" charset="-122"/>
                <a:cs typeface="Arial" panose="020B0604020202090204" pitchFamily="34" charset="0"/>
                <a:sym typeface="+mn-ea"/>
              </a:rPr>
              <a:t>SQL</a:t>
            </a:r>
            <a:r>
              <a:rPr lang="zh-CN" altLang="en-US">
                <a:solidFill>
                  <a:srgbClr val="1F2DA8"/>
                </a:solidFill>
                <a:latin typeface="Arial" panose="020B0604020202090204" pitchFamily="34" charset="0"/>
                <a:ea typeface="华文楷体" panose="02010600040101010101" charset="-122"/>
                <a:cs typeface="Arial" panose="020B0604020202090204" pitchFamily="34" charset="0"/>
                <a:sym typeface="+mn-ea"/>
              </a:rPr>
              <a:t>中的量化比较谓词</a:t>
            </a:r>
            <a:r>
              <a:rPr lang="en-US" altLang="zh-CN">
                <a:solidFill>
                  <a:srgbClr val="1F2DA8"/>
                </a:solidFill>
                <a:latin typeface="Arial" panose="020B0604020202090204" pitchFamily="34" charset="0"/>
                <a:ea typeface="华文楷体" panose="02010600040101010101" charset="-122"/>
                <a:cs typeface="Arial" panose="020B0604020202090204" pitchFamily="34" charset="0"/>
                <a:sym typeface="+mn-ea"/>
              </a:rPr>
              <a:t>ALL</a:t>
            </a:r>
            <a:r>
              <a:rPr lang="zh-CN" altLang="en-US">
                <a:solidFill>
                  <a:srgbClr val="1F2DA8"/>
                </a:solidFill>
                <a:latin typeface="Arial" panose="020B0604020202090204" pitchFamily="34" charset="0"/>
                <a:ea typeface="华文楷体" panose="02010600040101010101" charset="-122"/>
                <a:cs typeface="Arial" panose="020B0604020202090204" pitchFamily="34" charset="0"/>
                <a:sym typeface="+mn-ea"/>
              </a:rPr>
              <a:t>来描述</a:t>
            </a:r>
            <a:r>
              <a:rPr lang="en-US" altLang="zh-CN">
                <a:solidFill>
                  <a:srgbClr val="1F2DA8"/>
                </a:solidFill>
                <a:latin typeface="Arial" panose="020B0604020202090204" pitchFamily="34" charset="0"/>
                <a:ea typeface="华文楷体" panose="02010600040101010101" charset="-122"/>
                <a:cs typeface="Arial" panose="020B0604020202090204" pitchFamily="34" charset="0"/>
                <a:sym typeface="+mn-ea"/>
              </a:rPr>
              <a:t>‘</a:t>
            </a:r>
            <a:r>
              <a:rPr lang="zh-CN" altLang="en-US">
                <a:solidFill>
                  <a:srgbClr val="1F2DA8"/>
                </a:solidFill>
                <a:latin typeface="Arial" panose="020B0604020202090204" pitchFamily="34" charset="0"/>
                <a:ea typeface="华文楷体" panose="02010600040101010101" charset="-122"/>
                <a:cs typeface="Arial" panose="020B0604020202090204" pitchFamily="34" charset="0"/>
                <a:sym typeface="+mn-ea"/>
              </a:rPr>
              <a:t>除法</a:t>
            </a:r>
            <a:r>
              <a:rPr lang="en-US" altLang="zh-CN">
                <a:solidFill>
                  <a:srgbClr val="1F2DA8"/>
                </a:solidFill>
                <a:latin typeface="Arial" panose="020B0604020202090204" pitchFamily="34" charset="0"/>
                <a:ea typeface="华文楷体" panose="02010600040101010101" charset="-122"/>
                <a:cs typeface="Arial" panose="020B0604020202090204" pitchFamily="34" charset="0"/>
                <a:sym typeface="+mn-ea"/>
              </a:rPr>
              <a:t>’</a:t>
            </a:r>
            <a:r>
              <a:rPr lang="zh-CN" altLang="en-US">
                <a:solidFill>
                  <a:srgbClr val="1F2DA8"/>
                </a:solidFill>
                <a:latin typeface="Arial" panose="020B0604020202090204" pitchFamily="34" charset="0"/>
                <a:ea typeface="华文楷体" panose="02010600040101010101" charset="-122"/>
                <a:cs typeface="Arial" panose="020B0604020202090204" pitchFamily="34" charset="0"/>
                <a:sym typeface="+mn-ea"/>
              </a:rPr>
              <a:t>的语义？是否可以不使用子查询？</a:t>
            </a:r>
            <a:endParaRPr lang="zh-CN" altLang="en-US">
              <a:solidFill>
                <a:srgbClr val="1F2DA8"/>
              </a:solidFill>
              <a:latin typeface="Arial" panose="020B0604020202090204" pitchFamily="34" charset="0"/>
              <a:ea typeface="华文楷体" panose="02010600040101010101" charset="-122"/>
              <a:cs typeface="Arial" panose="020B0604020202090204" pitchFamily="34" charset="0"/>
              <a:sym typeface="+mn-ea"/>
            </a:endParaRPr>
          </a:p>
          <a:p>
            <a:pPr marL="571500" indent="-571500">
              <a:buFont typeface="+mj-ea"/>
              <a:buAutoNum type="arabicPeriod"/>
            </a:pPr>
            <a:r>
              <a:rPr lang="zh-CN" altLang="en-US">
                <a:solidFill>
                  <a:srgbClr val="1F2DA8"/>
                </a:solidFill>
                <a:latin typeface="Arial" panose="020B0604020202090204" pitchFamily="34" charset="0"/>
                <a:ea typeface="华文楷体" panose="02010600040101010101" charset="-122"/>
                <a:cs typeface="Arial" panose="020B0604020202090204" pitchFamily="34" charset="0"/>
                <a:sym typeface="+mn-ea"/>
              </a:rPr>
              <a:t>关于表的连接查询，在</a:t>
            </a:r>
            <a:r>
              <a:rPr lang="en-US" altLang="zh-CN">
                <a:solidFill>
                  <a:srgbClr val="1F2DA8"/>
                </a:solidFill>
                <a:latin typeface="Arial" panose="020B0604020202090204" pitchFamily="34" charset="0"/>
                <a:ea typeface="华文楷体" panose="02010600040101010101" charset="-122"/>
                <a:cs typeface="Arial" panose="020B0604020202090204" pitchFamily="34" charset="0"/>
                <a:sym typeface="+mn-ea"/>
              </a:rPr>
              <a:t>SQL</a:t>
            </a:r>
            <a:r>
              <a:rPr lang="zh-CN" altLang="en-US">
                <a:solidFill>
                  <a:srgbClr val="1F2DA8"/>
                </a:solidFill>
                <a:latin typeface="Arial" panose="020B0604020202090204" pitchFamily="34" charset="0"/>
                <a:ea typeface="华文楷体" panose="02010600040101010101" charset="-122"/>
                <a:cs typeface="Arial" panose="020B0604020202090204" pitchFamily="34" charset="0"/>
                <a:sym typeface="+mn-ea"/>
              </a:rPr>
              <a:t>语言中可以有哪几种表示方法？</a:t>
            </a:r>
            <a:endParaRPr lang="zh-CN" altLang="en-US">
              <a:solidFill>
                <a:srgbClr val="1F2DA8"/>
              </a:solidFill>
              <a:latin typeface="Arial" panose="020B0604020202090204" pitchFamily="34" charset="0"/>
              <a:ea typeface="华文楷体" panose="02010600040101010101" charset="-122"/>
              <a:cs typeface="Arial" panose="020B0604020202090204" pitchFamily="34" charset="0"/>
              <a:sym typeface="+mn-ea"/>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5" name="页脚占位符 4"/>
          <p:cNvSpPr>
            <a:spLocks noGrp="1"/>
          </p:cNvSpPr>
          <p:nvPr>
            <p:ph type="ftr" sz="quarter" idx="11"/>
          </p:nvPr>
        </p:nvSpPr>
        <p:spPr/>
        <p:txBody>
          <a:bodyPr/>
          <a:p>
            <a:r>
              <a:rPr lang="zh-CN" altLang="en-US"/>
              <a:t>ch03_SQL语言_复习思考题</a:t>
            </a:r>
            <a:endParaRPr lang="zh-CN"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标题 7"/>
          <p:cNvSpPr>
            <a:spLocks noGrp="1"/>
          </p:cNvSpPr>
          <p:nvPr>
            <p:ph type="title"/>
          </p:nvPr>
        </p:nvSpPr>
        <p:spPr/>
        <p:txBody>
          <a:bodyPr/>
          <a:p>
            <a:r>
              <a:rPr lang="zh-CN" altLang="en-US">
                <a:sym typeface="+mn-ea"/>
              </a:rPr>
              <a:t>复习思考题</a:t>
            </a:r>
            <a:r>
              <a:rPr lang="en-US" altLang="zh-CN">
                <a:sym typeface="+mn-ea"/>
              </a:rPr>
              <a:t> 2</a:t>
            </a:r>
            <a:endParaRPr lang="zh-CN" altLang="en-US"/>
          </a:p>
        </p:txBody>
      </p:sp>
      <p:sp>
        <p:nvSpPr>
          <p:cNvPr id="3" name="内容占位符 2"/>
          <p:cNvSpPr>
            <a:spLocks noGrp="1"/>
          </p:cNvSpPr>
          <p:nvPr>
            <p:ph idx="4294967295"/>
          </p:nvPr>
        </p:nvSpPr>
        <p:spPr>
          <a:xfrm>
            <a:off x="424815" y="4323715"/>
            <a:ext cx="11343005" cy="1714500"/>
          </a:xfrm>
        </p:spPr>
        <p:txBody>
          <a:bodyPr wrap="square">
            <a:spAutoFit/>
          </a:bodyPr>
          <a:p>
            <a:pPr marL="0" indent="0">
              <a:buNone/>
            </a:pPr>
            <a:r>
              <a:rPr lang="zh-CN" altLang="en-US" sz="2400">
                <a:latin typeface="华文楷体" panose="02010600040101010101" charset="-122"/>
                <a:ea typeface="华文楷体" panose="02010600040101010101" charset="-122"/>
                <a:cs typeface="华文楷体" panose="02010600040101010101" charset="-122"/>
              </a:rPr>
              <a:t>其中：</a:t>
            </a:r>
            <a:endParaRPr lang="zh-CN" altLang="en-US" sz="2400">
              <a:latin typeface="华文楷体" panose="02010600040101010101" charset="-122"/>
              <a:ea typeface="华文楷体" panose="02010600040101010101" charset="-122"/>
              <a:cs typeface="华文楷体" panose="02010600040101010101" charset="-122"/>
            </a:endParaRPr>
          </a:p>
          <a:p>
            <a:pPr marL="914400" lvl="1" indent="-457200">
              <a:buFont typeface="+mj-ea"/>
              <a:buAutoNum type="circleNumDbPlain"/>
            </a:pPr>
            <a:r>
              <a:rPr lang="en-US" altLang="zh-CN" sz="2400">
                <a:solidFill>
                  <a:srgbClr val="0000C8"/>
                </a:solidFill>
                <a:latin typeface="华文楷体" panose="02010600040101010101" charset="-122"/>
                <a:ea typeface="华文楷体" panose="02010600040101010101" charset="-122"/>
                <a:cs typeface="华文楷体" panose="02010600040101010101" charset="-122"/>
              </a:rPr>
              <a:t>cid, aid, pid, ordno</a:t>
            </a:r>
            <a:r>
              <a:rPr lang="zh-CN" altLang="en-US" sz="2400">
                <a:solidFill>
                  <a:srgbClr val="0000C8"/>
                </a:solidFill>
                <a:latin typeface="华文楷体" panose="02010600040101010101" charset="-122"/>
                <a:ea typeface="华文楷体" panose="02010600040101010101" charset="-122"/>
                <a:cs typeface="华文楷体" panose="02010600040101010101" charset="-122"/>
              </a:rPr>
              <a:t>分别是顾客、供应商、商品、订单表的</a:t>
            </a:r>
            <a:r>
              <a:rPr lang="zh-CN" altLang="en-US" sz="2400">
                <a:solidFill>
                  <a:srgbClr val="0000C8"/>
                </a:solidFill>
                <a:latin typeface="华文楷体" panose="02010600040101010101" charset="-122"/>
                <a:ea typeface="华文楷体" panose="02010600040101010101" charset="-122"/>
                <a:cs typeface="华文楷体" panose="02010600040101010101" charset="-122"/>
              </a:rPr>
              <a:t>码；</a:t>
            </a:r>
            <a:endParaRPr lang="zh-CN" altLang="en-US" sz="2400">
              <a:solidFill>
                <a:srgbClr val="0000C8"/>
              </a:solidFill>
              <a:latin typeface="华文楷体" panose="02010600040101010101" charset="-122"/>
              <a:ea typeface="华文楷体" panose="02010600040101010101" charset="-122"/>
              <a:cs typeface="华文楷体" panose="02010600040101010101" charset="-122"/>
            </a:endParaRPr>
          </a:p>
          <a:p>
            <a:pPr marL="914400" lvl="1" indent="-457200">
              <a:buFont typeface="+mj-ea"/>
              <a:buAutoNum type="circleNumDbPlain"/>
            </a:pPr>
            <a:r>
              <a:rPr lang="en-US" altLang="zh-CN" sz="2400">
                <a:solidFill>
                  <a:srgbClr val="0000C8"/>
                </a:solidFill>
                <a:latin typeface="华文楷体" panose="02010600040101010101" charset="-122"/>
                <a:ea typeface="华文楷体" panose="02010600040101010101" charset="-122"/>
                <a:cs typeface="华文楷体" panose="02010600040101010101" charset="-122"/>
              </a:rPr>
              <a:t>orddate</a:t>
            </a:r>
            <a:r>
              <a:rPr lang="zh-CN" altLang="en-US" sz="2400">
                <a:solidFill>
                  <a:srgbClr val="0000C8"/>
                </a:solidFill>
                <a:latin typeface="华文楷体" panose="02010600040101010101" charset="-122"/>
                <a:ea typeface="华文楷体" panose="02010600040101010101" charset="-122"/>
                <a:cs typeface="华文楷体" panose="02010600040101010101" charset="-122"/>
              </a:rPr>
              <a:t>是日期（</a:t>
            </a:r>
            <a:r>
              <a:rPr lang="en-US" altLang="zh-CN" sz="2400">
                <a:solidFill>
                  <a:srgbClr val="0000C8"/>
                </a:solidFill>
                <a:latin typeface="华文楷体" panose="02010600040101010101" charset="-122"/>
                <a:ea typeface="华文楷体" panose="02010600040101010101" charset="-122"/>
                <a:cs typeface="华文楷体" panose="02010600040101010101" charset="-122"/>
              </a:rPr>
              <a:t>DATE</a:t>
            </a:r>
            <a:r>
              <a:rPr lang="zh-CN" altLang="en-US" sz="2400">
                <a:solidFill>
                  <a:srgbClr val="0000C8"/>
                </a:solidFill>
                <a:latin typeface="华文楷体" panose="02010600040101010101" charset="-122"/>
                <a:ea typeface="华文楷体" panose="02010600040101010101" charset="-122"/>
                <a:cs typeface="华文楷体" panose="02010600040101010101" charset="-122"/>
              </a:rPr>
              <a:t>）类型的字段；</a:t>
            </a:r>
            <a:endParaRPr lang="zh-CN" altLang="en-US" sz="2400">
              <a:solidFill>
                <a:srgbClr val="0000C8"/>
              </a:solidFill>
              <a:latin typeface="华文楷体" panose="02010600040101010101" charset="-122"/>
              <a:ea typeface="华文楷体" panose="02010600040101010101" charset="-122"/>
              <a:cs typeface="华文楷体" panose="02010600040101010101" charset="-122"/>
            </a:endParaRPr>
          </a:p>
          <a:p>
            <a:pPr marL="914400" lvl="1" indent="-457200">
              <a:buFont typeface="+mj-ea"/>
              <a:buAutoNum type="circleNumDbPlain"/>
            </a:pPr>
            <a:r>
              <a:rPr lang="zh-CN" altLang="en-US" sz="2400">
                <a:solidFill>
                  <a:srgbClr val="0000C8"/>
                </a:solidFill>
                <a:latin typeface="华文楷体" panose="02010600040101010101" charset="-122"/>
                <a:ea typeface="华文楷体" panose="02010600040101010101" charset="-122"/>
                <a:cs typeface="华文楷体" panose="02010600040101010101" charset="-122"/>
              </a:rPr>
              <a:t>可以根据</a:t>
            </a:r>
            <a:r>
              <a:rPr lang="en-US" altLang="zh-CN" sz="2400">
                <a:solidFill>
                  <a:srgbClr val="0000C8"/>
                </a:solidFill>
                <a:latin typeface="华文楷体" panose="02010600040101010101" charset="-122"/>
                <a:ea typeface="华文楷体" panose="02010600040101010101" charset="-122"/>
                <a:cs typeface="华文楷体" panose="02010600040101010101" charset="-122"/>
              </a:rPr>
              <a:t>ordno</a:t>
            </a:r>
            <a:r>
              <a:rPr lang="zh-CN" altLang="en-US" sz="2400">
                <a:solidFill>
                  <a:srgbClr val="0000C8"/>
                </a:solidFill>
                <a:latin typeface="华文楷体" panose="02010600040101010101" charset="-122"/>
                <a:ea typeface="华文楷体" panose="02010600040101010101" charset="-122"/>
                <a:cs typeface="华文楷体" panose="02010600040101010101" charset="-122"/>
              </a:rPr>
              <a:t>的大小来区分订单的先后，编号小的订单在前。</a:t>
            </a:r>
            <a:endParaRPr lang="zh-CN" altLang="en-US" sz="2400">
              <a:solidFill>
                <a:srgbClr val="0000C8"/>
              </a:solidFill>
              <a:latin typeface="华文楷体" panose="02010600040101010101" charset="-122"/>
              <a:ea typeface="华文楷体" panose="02010600040101010101" charset="-122"/>
              <a:cs typeface="华文楷体" panose="02010600040101010101" charset="-122"/>
            </a:endParaRPr>
          </a:p>
        </p:txBody>
      </p:sp>
      <p:graphicFrame>
        <p:nvGraphicFramePr>
          <p:cNvPr id="5" name="表格 4"/>
          <p:cNvGraphicFramePr/>
          <p:nvPr>
            <p:custDataLst>
              <p:tags r:id="rId1"/>
            </p:custDataLst>
          </p:nvPr>
        </p:nvGraphicFramePr>
        <p:xfrm>
          <a:off x="425450" y="1212850"/>
          <a:ext cx="11342370" cy="3025140"/>
        </p:xfrm>
        <a:graphic>
          <a:graphicData uri="http://schemas.openxmlformats.org/drawingml/2006/table">
            <a:tbl>
              <a:tblPr firstRow="1" bandRow="1">
                <a:tableStyleId>{5C22544A-7EE6-4342-B048-85BDC9FD1C3A}</a:tableStyleId>
              </a:tblPr>
              <a:tblGrid>
                <a:gridCol w="928370"/>
                <a:gridCol w="5449570"/>
                <a:gridCol w="4964430"/>
              </a:tblGrid>
              <a:tr h="586740">
                <a:tc>
                  <a:txBody>
                    <a:bodyPr/>
                    <a:p>
                      <a:pPr algn="ctr">
                        <a:buNone/>
                      </a:pPr>
                      <a:r>
                        <a:rPr lang="zh-CN" altLang="zh-CN" sz="2000">
                          <a:solidFill>
                            <a:schemeClr val="tx1"/>
                          </a:solidFill>
                          <a:latin typeface="华文楷体" panose="02010600040101010101" charset="-122"/>
                          <a:ea typeface="华文楷体" panose="02010600040101010101" charset="-122"/>
                        </a:rPr>
                        <a:t>关系</a:t>
                      </a:r>
                      <a:endParaRPr lang="zh-CN" altLang="zh-CN" sz="2000">
                        <a:solidFill>
                          <a:schemeClr val="tx1"/>
                        </a:solidFill>
                        <a:latin typeface="华文楷体" panose="02010600040101010101" charset="-122"/>
                        <a:ea typeface="华文楷体" panose="02010600040101010101" charset="-122"/>
                      </a:endParaRPr>
                    </a:p>
                  </a:txBody>
                  <a:tcPr marL="68580" marR="68580" marT="34290" marB="34290" anchor="ctr" anchorCtr="0">
                    <a:lnL w="12700">
                      <a:solidFill>
                        <a:schemeClr val="tx1"/>
                      </a:solidFill>
                      <a:prstDash val="solid"/>
                    </a:lnL>
                    <a:lnR w="6350">
                      <a:solidFill>
                        <a:schemeClr val="tx1"/>
                      </a:solidFill>
                      <a:prstDash val="sysDash"/>
                    </a:lnR>
                    <a:lnT w="12700">
                      <a:solidFill>
                        <a:schemeClr val="tx1"/>
                      </a:solidFill>
                      <a:prstDash val="solid"/>
                    </a:lnT>
                    <a:lnB w="6350">
                      <a:solidFill>
                        <a:schemeClr val="tx1"/>
                      </a:solidFill>
                      <a:prstDash val="sysDash"/>
                    </a:lnB>
                    <a:noFill/>
                  </a:tcPr>
                </a:tc>
                <a:tc>
                  <a:txBody>
                    <a:bodyPr/>
                    <a:p>
                      <a:pPr algn="ctr">
                        <a:buNone/>
                      </a:pPr>
                      <a:r>
                        <a:rPr lang="zh-CN" altLang="en-US" sz="2000">
                          <a:solidFill>
                            <a:schemeClr val="tx1"/>
                          </a:solidFill>
                          <a:latin typeface="华文楷体" panose="02010600040101010101" charset="-122"/>
                          <a:ea typeface="华文楷体" panose="02010600040101010101" charset="-122"/>
                        </a:rPr>
                        <a:t>属性（列）</a:t>
                      </a:r>
                      <a:endParaRPr lang="zh-CN" altLang="en-US" sz="2000">
                        <a:solidFill>
                          <a:schemeClr val="tx1"/>
                        </a:solidFill>
                        <a:latin typeface="华文楷体" panose="02010600040101010101" charset="-122"/>
                        <a:ea typeface="华文楷体" panose="02010600040101010101" charset="-122"/>
                      </a:endParaRPr>
                    </a:p>
                  </a:txBody>
                  <a:tcPr marL="68580" marR="68580" marT="34290" marB="34290" anchor="ctr" anchorCtr="0">
                    <a:lnL w="6350">
                      <a:solidFill>
                        <a:schemeClr val="tx1"/>
                      </a:solidFill>
                      <a:prstDash val="sysDash"/>
                    </a:lnL>
                    <a:lnR w="6350">
                      <a:solidFill>
                        <a:schemeClr val="tx1"/>
                      </a:solidFill>
                      <a:prstDash val="sysDash"/>
                    </a:lnR>
                    <a:lnT w="12700">
                      <a:solidFill>
                        <a:schemeClr val="tx1"/>
                      </a:solidFill>
                      <a:prstDash val="solid"/>
                    </a:lnT>
                    <a:lnB w="6350">
                      <a:solidFill>
                        <a:schemeClr val="tx1"/>
                      </a:solidFill>
                      <a:prstDash val="sysDash"/>
                    </a:lnB>
                    <a:noFill/>
                  </a:tcPr>
                </a:tc>
                <a:tc>
                  <a:txBody>
                    <a:bodyPr/>
                    <a:p>
                      <a:pPr algn="ctr">
                        <a:buNone/>
                      </a:pPr>
                      <a:r>
                        <a:rPr lang="zh-CN" altLang="zh-CN" sz="2000">
                          <a:solidFill>
                            <a:schemeClr val="tx1"/>
                          </a:solidFill>
                          <a:latin typeface="华文楷体" panose="02010600040101010101" charset="-122"/>
                          <a:ea typeface="华文楷体" panose="02010600040101010101" charset="-122"/>
                        </a:rPr>
                        <a:t>关系模式</a:t>
                      </a:r>
                      <a:endParaRPr lang="zh-CN" altLang="zh-CN" sz="2000">
                        <a:solidFill>
                          <a:schemeClr val="tx1"/>
                        </a:solidFill>
                        <a:latin typeface="华文楷体" panose="02010600040101010101" charset="-122"/>
                        <a:ea typeface="华文楷体" panose="02010600040101010101" charset="-122"/>
                      </a:endParaRPr>
                    </a:p>
                  </a:txBody>
                  <a:tcPr marL="68580" marR="68580" marT="34290" marB="34290" anchor="ctr" anchorCtr="0">
                    <a:lnL w="6350">
                      <a:solidFill>
                        <a:schemeClr val="tx1"/>
                      </a:solidFill>
                      <a:prstDash val="sysDash"/>
                    </a:lnL>
                    <a:lnR w="12700">
                      <a:solidFill>
                        <a:schemeClr val="tx1"/>
                      </a:solidFill>
                      <a:prstDash val="solid"/>
                    </a:lnR>
                    <a:lnT w="12700">
                      <a:solidFill>
                        <a:schemeClr val="tx1"/>
                      </a:solidFill>
                      <a:prstDash val="solid"/>
                    </a:lnT>
                    <a:lnB w="6350">
                      <a:solidFill>
                        <a:schemeClr val="tx1"/>
                      </a:solidFill>
                      <a:prstDash val="sysDash"/>
                    </a:lnB>
                    <a:noFill/>
                  </a:tcPr>
                </a:tc>
              </a:tr>
              <a:tr h="586740">
                <a:tc>
                  <a:txBody>
                    <a:bodyPr/>
                    <a:p>
                      <a:pPr algn="ctr">
                        <a:buNone/>
                      </a:pPr>
                      <a:r>
                        <a:rPr lang="zh-CN" altLang="en-US" sz="2000" b="1">
                          <a:solidFill>
                            <a:srgbClr val="0000CC"/>
                          </a:solidFill>
                          <a:latin typeface="华文楷体" panose="02010600040101010101" charset="-122"/>
                          <a:ea typeface="华文楷体" panose="02010600040101010101" charset="-122"/>
                        </a:rPr>
                        <a:t>顾客</a:t>
                      </a:r>
                      <a:endParaRPr lang="zh-CN" altLang="en-US" sz="2000" b="1">
                        <a:solidFill>
                          <a:srgbClr val="0000CC"/>
                        </a:solidFill>
                        <a:latin typeface="华文楷体" panose="02010600040101010101" charset="-122"/>
                        <a:ea typeface="华文楷体" panose="02010600040101010101" charset="-122"/>
                      </a:endParaRPr>
                    </a:p>
                  </a:txBody>
                  <a:tcPr marL="68580" marR="68580" marT="34290" marB="34290" anchor="ctr" anchorCtr="0">
                    <a:lnL w="12700">
                      <a:solidFill>
                        <a:schemeClr val="tx1"/>
                      </a:solidFill>
                      <a:prstDash val="solid"/>
                    </a:lnL>
                    <a:lnR w="6350">
                      <a:solidFill>
                        <a:schemeClr val="tx1"/>
                      </a:solidFill>
                      <a:prstDash val="sysDash"/>
                    </a:lnR>
                    <a:lnT w="6350">
                      <a:solidFill>
                        <a:schemeClr val="tx1"/>
                      </a:solidFill>
                      <a:prstDash val="sysDash"/>
                    </a:lnT>
                    <a:lnB w="6350">
                      <a:solidFill>
                        <a:schemeClr val="tx1"/>
                      </a:solidFill>
                      <a:prstDash val="sysDash"/>
                    </a:lnB>
                    <a:noFill/>
                  </a:tcPr>
                </a:tc>
                <a:tc>
                  <a:txBody>
                    <a:bodyPr/>
                    <a:p>
                      <a:pPr algn="l">
                        <a:buNone/>
                      </a:pPr>
                      <a:r>
                        <a:rPr lang="zh-CN" sz="2000" b="1">
                          <a:solidFill>
                            <a:srgbClr val="0000CC"/>
                          </a:solidFill>
                          <a:latin typeface="华文楷体" panose="02010600040101010101" charset="-122"/>
                          <a:ea typeface="华文楷体" panose="02010600040101010101" charset="-122"/>
                          <a:sym typeface="+mn-ea"/>
                        </a:rPr>
                        <a:t>顾客编号</a:t>
                      </a:r>
                      <a:r>
                        <a:rPr sz="2000" b="1">
                          <a:solidFill>
                            <a:srgbClr val="0000CC"/>
                          </a:solidFill>
                          <a:latin typeface="华文楷体" panose="02010600040101010101" charset="-122"/>
                          <a:ea typeface="华文楷体" panose="02010600040101010101" charset="-122"/>
                          <a:sym typeface="+mn-ea"/>
                        </a:rPr>
                        <a:t>，姓名，</a:t>
                      </a:r>
                      <a:r>
                        <a:rPr lang="zh-CN" sz="2000" b="1">
                          <a:solidFill>
                            <a:srgbClr val="0000CC"/>
                          </a:solidFill>
                          <a:latin typeface="华文楷体" panose="02010600040101010101" charset="-122"/>
                          <a:ea typeface="华文楷体" panose="02010600040101010101" charset="-122"/>
                          <a:sym typeface="+mn-ea"/>
                        </a:rPr>
                        <a:t>所在城市，优惠折扣</a:t>
                      </a:r>
                      <a:endParaRPr lang="zh-CN" sz="2000" b="1">
                        <a:solidFill>
                          <a:srgbClr val="0000CC"/>
                        </a:solidFill>
                        <a:latin typeface="华文楷体" panose="02010600040101010101" charset="-122"/>
                        <a:ea typeface="华文楷体" panose="02010600040101010101" charset="-122"/>
                        <a:sym typeface="+mn-ea"/>
                      </a:endParaRPr>
                    </a:p>
                  </a:txBody>
                  <a:tcPr marL="68580" marR="68580" marT="34290" marB="34290" anchor="ctr" anchorCtr="0">
                    <a:lnL w="6350">
                      <a:solidFill>
                        <a:schemeClr val="tx1"/>
                      </a:solidFill>
                      <a:prstDash val="sysDash"/>
                    </a:lnL>
                    <a:lnR w="6350">
                      <a:solidFill>
                        <a:schemeClr val="tx1"/>
                      </a:solidFill>
                      <a:prstDash val="sysDash"/>
                    </a:lnR>
                    <a:lnT w="6350">
                      <a:solidFill>
                        <a:schemeClr val="tx1"/>
                      </a:solidFill>
                      <a:prstDash val="sysDash"/>
                    </a:lnT>
                    <a:lnB w="6350">
                      <a:solidFill>
                        <a:schemeClr val="tx1"/>
                      </a:solidFill>
                      <a:prstDash val="sysDash"/>
                    </a:lnB>
                    <a:noFill/>
                  </a:tcPr>
                </a:tc>
                <a:tc>
                  <a:txBody>
                    <a:bodyPr/>
                    <a:p>
                      <a:pPr algn="l">
                        <a:buNone/>
                      </a:pPr>
                      <a:r>
                        <a:rPr lang="en-US" altLang="zh-CN" sz="2000" b="1">
                          <a:solidFill>
                            <a:srgbClr val="FF0000"/>
                          </a:solidFill>
                          <a:latin typeface="华文楷体" panose="02010600040101010101" charset="-122"/>
                          <a:ea typeface="华文楷体" panose="02010600040101010101" charset="-122"/>
                          <a:sym typeface="+mn-ea"/>
                        </a:rPr>
                        <a:t>customers(cid, cname, city, discnt)</a:t>
                      </a:r>
                      <a:endParaRPr lang="en-US" altLang="zh-CN" sz="2000" b="1">
                        <a:solidFill>
                          <a:srgbClr val="FF0000"/>
                        </a:solidFill>
                        <a:latin typeface="华文楷体" panose="02010600040101010101" charset="-122"/>
                        <a:ea typeface="华文楷体" panose="02010600040101010101" charset="-122"/>
                        <a:sym typeface="+mn-ea"/>
                      </a:endParaRPr>
                    </a:p>
                  </a:txBody>
                  <a:tcPr marL="68580" marR="68580" marT="34290" marB="34290"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586740">
                <a:tc>
                  <a:txBody>
                    <a:bodyPr/>
                    <a:p>
                      <a:pPr algn="ctr">
                        <a:buNone/>
                      </a:pPr>
                      <a:r>
                        <a:rPr lang="zh-CN" altLang="en-US" sz="2000" b="1">
                          <a:solidFill>
                            <a:srgbClr val="0000CC"/>
                          </a:solidFill>
                          <a:latin typeface="华文楷体" panose="02010600040101010101" charset="-122"/>
                          <a:ea typeface="华文楷体" panose="02010600040101010101" charset="-122"/>
                        </a:rPr>
                        <a:t>供应商</a:t>
                      </a:r>
                      <a:endParaRPr lang="zh-CN" altLang="en-US" sz="2000" b="1">
                        <a:solidFill>
                          <a:srgbClr val="0000CC"/>
                        </a:solidFill>
                        <a:latin typeface="华文楷体" panose="02010600040101010101" charset="-122"/>
                        <a:ea typeface="华文楷体" panose="02010600040101010101" charset="-122"/>
                      </a:endParaRPr>
                    </a:p>
                  </a:txBody>
                  <a:tcPr marL="68580" marR="68580" marT="34290" marB="34290" anchor="ctr" anchorCtr="0">
                    <a:lnL w="12700">
                      <a:solidFill>
                        <a:schemeClr val="tx1"/>
                      </a:solidFill>
                      <a:prstDash val="solid"/>
                    </a:lnL>
                    <a:lnR w="6350">
                      <a:solidFill>
                        <a:schemeClr val="tx1"/>
                      </a:solidFill>
                      <a:prstDash val="sysDash"/>
                    </a:lnR>
                    <a:lnT w="6350">
                      <a:solidFill>
                        <a:schemeClr val="tx1"/>
                      </a:solidFill>
                      <a:prstDash val="sysDash"/>
                    </a:lnT>
                    <a:lnB w="6350">
                      <a:solidFill>
                        <a:schemeClr val="tx1"/>
                      </a:solidFill>
                      <a:prstDash val="sysDash"/>
                    </a:lnB>
                    <a:noFill/>
                  </a:tcPr>
                </a:tc>
                <a:tc>
                  <a:txBody>
                    <a:bodyPr/>
                    <a:p>
                      <a:pPr algn="l">
                        <a:buNone/>
                      </a:pPr>
                      <a:r>
                        <a:rPr lang="zh-CN" sz="2000" b="1">
                          <a:solidFill>
                            <a:srgbClr val="0000CC"/>
                          </a:solidFill>
                          <a:latin typeface="华文楷体" panose="02010600040101010101" charset="-122"/>
                          <a:ea typeface="华文楷体" panose="02010600040101010101" charset="-122"/>
                          <a:sym typeface="+mn-ea"/>
                        </a:rPr>
                        <a:t>供应商编号</a:t>
                      </a:r>
                      <a:r>
                        <a:rPr sz="2000" b="1">
                          <a:solidFill>
                            <a:srgbClr val="0000CC"/>
                          </a:solidFill>
                          <a:latin typeface="华文楷体" panose="02010600040101010101" charset="-122"/>
                          <a:ea typeface="华文楷体" panose="02010600040101010101" charset="-122"/>
                          <a:sym typeface="+mn-ea"/>
                        </a:rPr>
                        <a:t>，</a:t>
                      </a:r>
                      <a:r>
                        <a:rPr lang="zh-CN" sz="2000" b="1">
                          <a:solidFill>
                            <a:srgbClr val="0000CC"/>
                          </a:solidFill>
                          <a:latin typeface="华文楷体" panose="02010600040101010101" charset="-122"/>
                          <a:ea typeface="华文楷体" panose="02010600040101010101" charset="-122"/>
                          <a:sym typeface="+mn-ea"/>
                        </a:rPr>
                        <a:t>名称</a:t>
                      </a:r>
                      <a:r>
                        <a:rPr sz="2000" b="1">
                          <a:solidFill>
                            <a:srgbClr val="0000CC"/>
                          </a:solidFill>
                          <a:latin typeface="华文楷体" panose="02010600040101010101" charset="-122"/>
                          <a:ea typeface="华文楷体" panose="02010600040101010101" charset="-122"/>
                          <a:sym typeface="+mn-ea"/>
                        </a:rPr>
                        <a:t>，</a:t>
                      </a:r>
                      <a:r>
                        <a:rPr lang="zh-CN" sz="2000" b="1">
                          <a:solidFill>
                            <a:srgbClr val="0000CC"/>
                          </a:solidFill>
                          <a:latin typeface="华文楷体" panose="02010600040101010101" charset="-122"/>
                          <a:ea typeface="华文楷体" panose="02010600040101010101" charset="-122"/>
                          <a:sym typeface="+mn-ea"/>
                        </a:rPr>
                        <a:t>所在城市，销售提成比例</a:t>
                      </a:r>
                      <a:endParaRPr lang="zh-CN" sz="2000" b="1">
                        <a:solidFill>
                          <a:srgbClr val="0000CC"/>
                        </a:solidFill>
                        <a:latin typeface="华文楷体" panose="02010600040101010101" charset="-122"/>
                        <a:ea typeface="华文楷体" panose="02010600040101010101" charset="-122"/>
                        <a:sym typeface="+mn-ea"/>
                      </a:endParaRPr>
                    </a:p>
                  </a:txBody>
                  <a:tcPr marL="68580" marR="68580" marT="34290" marB="34290" anchor="ctr" anchorCtr="0">
                    <a:lnL w="6350">
                      <a:solidFill>
                        <a:schemeClr val="tx1"/>
                      </a:solidFill>
                      <a:prstDash val="sysDash"/>
                    </a:lnL>
                    <a:lnR w="6350">
                      <a:solidFill>
                        <a:schemeClr val="tx1"/>
                      </a:solidFill>
                      <a:prstDash val="sysDash"/>
                    </a:lnR>
                    <a:lnT w="6350">
                      <a:solidFill>
                        <a:schemeClr val="tx1"/>
                      </a:solidFill>
                      <a:prstDash val="sysDash"/>
                    </a:lnT>
                    <a:lnB w="6350">
                      <a:solidFill>
                        <a:schemeClr val="tx1"/>
                      </a:solidFill>
                      <a:prstDash val="sysDash"/>
                    </a:lnB>
                    <a:noFill/>
                  </a:tcPr>
                </a:tc>
                <a:tc>
                  <a:txBody>
                    <a:bodyPr/>
                    <a:p>
                      <a:pPr algn="l">
                        <a:buNone/>
                      </a:pPr>
                      <a:r>
                        <a:rPr lang="en-US" altLang="zh-CN" sz="2000" b="1">
                          <a:solidFill>
                            <a:srgbClr val="FF0000"/>
                          </a:solidFill>
                          <a:latin typeface="华文楷体" panose="02010600040101010101" charset="-122"/>
                          <a:ea typeface="华文楷体" panose="02010600040101010101" charset="-122"/>
                          <a:sym typeface="+mn-ea"/>
                        </a:rPr>
                        <a:t>agents(aid, aname, city, percent)</a:t>
                      </a:r>
                      <a:endParaRPr lang="en-US" altLang="zh-CN" sz="2000" b="1">
                        <a:solidFill>
                          <a:srgbClr val="FF0000"/>
                        </a:solidFill>
                        <a:latin typeface="华文楷体" panose="02010600040101010101" charset="-122"/>
                        <a:ea typeface="华文楷体" panose="02010600040101010101" charset="-122"/>
                        <a:sym typeface="+mn-ea"/>
                      </a:endParaRPr>
                    </a:p>
                  </a:txBody>
                  <a:tcPr marL="68580" marR="68580" marT="34290" marB="34290"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586740">
                <a:tc>
                  <a:txBody>
                    <a:bodyPr/>
                    <a:p>
                      <a:pPr algn="ctr">
                        <a:buNone/>
                      </a:pPr>
                      <a:r>
                        <a:rPr lang="zh-CN" altLang="en-US" sz="2000" b="1">
                          <a:solidFill>
                            <a:srgbClr val="0000CC"/>
                          </a:solidFill>
                          <a:latin typeface="华文楷体" panose="02010600040101010101" charset="-122"/>
                          <a:ea typeface="华文楷体" panose="02010600040101010101" charset="-122"/>
                        </a:rPr>
                        <a:t>商品</a:t>
                      </a:r>
                      <a:endParaRPr lang="zh-CN" altLang="en-US" sz="2000" b="1">
                        <a:solidFill>
                          <a:srgbClr val="0000CC"/>
                        </a:solidFill>
                        <a:latin typeface="华文楷体" panose="02010600040101010101" charset="-122"/>
                        <a:ea typeface="华文楷体" panose="02010600040101010101" charset="-122"/>
                      </a:endParaRPr>
                    </a:p>
                  </a:txBody>
                  <a:tcPr marL="68580" marR="68580" marT="34290" marB="34290" anchor="ctr" anchorCtr="0">
                    <a:lnL w="12700">
                      <a:solidFill>
                        <a:schemeClr val="tx1"/>
                      </a:solidFill>
                      <a:prstDash val="solid"/>
                    </a:lnL>
                    <a:lnR w="6350">
                      <a:solidFill>
                        <a:schemeClr val="tx1"/>
                      </a:solidFill>
                      <a:prstDash val="sysDash"/>
                    </a:lnR>
                    <a:lnT w="6350">
                      <a:solidFill>
                        <a:schemeClr val="tx1"/>
                      </a:solidFill>
                      <a:prstDash val="sysDash"/>
                    </a:lnT>
                    <a:lnB w="6350">
                      <a:solidFill>
                        <a:schemeClr val="tx1"/>
                      </a:solidFill>
                      <a:prstDash val="sysDash"/>
                    </a:lnB>
                    <a:noFill/>
                  </a:tcPr>
                </a:tc>
                <a:tc>
                  <a:txBody>
                    <a:bodyPr/>
                    <a:p>
                      <a:pPr algn="l">
                        <a:buNone/>
                      </a:pPr>
                      <a:r>
                        <a:rPr lang="zh-CN" sz="2000" b="1">
                          <a:solidFill>
                            <a:srgbClr val="0000CC"/>
                          </a:solidFill>
                          <a:latin typeface="华文楷体" panose="02010600040101010101" charset="-122"/>
                          <a:ea typeface="华文楷体" panose="02010600040101010101" charset="-122"/>
                          <a:sym typeface="+mn-ea"/>
                        </a:rPr>
                        <a:t>商品编</a:t>
                      </a:r>
                      <a:r>
                        <a:rPr sz="2000" b="1">
                          <a:solidFill>
                            <a:srgbClr val="0000CC"/>
                          </a:solidFill>
                          <a:latin typeface="华文楷体" panose="02010600040101010101" charset="-122"/>
                          <a:ea typeface="华文楷体" panose="02010600040101010101" charset="-122"/>
                          <a:sym typeface="+mn-ea"/>
                        </a:rPr>
                        <a:t>号，</a:t>
                      </a:r>
                      <a:r>
                        <a:rPr lang="zh-CN" sz="2000" b="1">
                          <a:solidFill>
                            <a:srgbClr val="0000CC"/>
                          </a:solidFill>
                          <a:latin typeface="华文楷体" panose="02010600040101010101" charset="-122"/>
                          <a:ea typeface="华文楷体" panose="02010600040101010101" charset="-122"/>
                          <a:sym typeface="+mn-ea"/>
                        </a:rPr>
                        <a:t>名称</a:t>
                      </a:r>
                      <a:r>
                        <a:rPr sz="2000" b="1">
                          <a:solidFill>
                            <a:srgbClr val="0000CC"/>
                          </a:solidFill>
                          <a:latin typeface="华文楷体" panose="02010600040101010101" charset="-122"/>
                          <a:ea typeface="华文楷体" panose="02010600040101010101" charset="-122"/>
                          <a:sym typeface="+mn-ea"/>
                        </a:rPr>
                        <a:t>，</a:t>
                      </a:r>
                      <a:r>
                        <a:rPr lang="zh-CN" sz="2000" b="1">
                          <a:solidFill>
                            <a:srgbClr val="0000CC"/>
                          </a:solidFill>
                          <a:latin typeface="华文楷体" panose="02010600040101010101" charset="-122"/>
                          <a:ea typeface="华文楷体" panose="02010600040101010101" charset="-122"/>
                          <a:sym typeface="+mn-ea"/>
                        </a:rPr>
                        <a:t>存放城市</a:t>
                      </a:r>
                      <a:r>
                        <a:rPr sz="2000" b="1">
                          <a:solidFill>
                            <a:srgbClr val="0000CC"/>
                          </a:solidFill>
                          <a:latin typeface="华文楷体" panose="02010600040101010101" charset="-122"/>
                          <a:ea typeface="华文楷体" panose="02010600040101010101" charset="-122"/>
                          <a:sym typeface="+mn-ea"/>
                        </a:rPr>
                        <a:t>，</a:t>
                      </a:r>
                      <a:r>
                        <a:rPr lang="zh-CN" sz="2000" b="1">
                          <a:solidFill>
                            <a:srgbClr val="0000CC"/>
                          </a:solidFill>
                          <a:latin typeface="华文楷体" panose="02010600040101010101" charset="-122"/>
                          <a:ea typeface="华文楷体" panose="02010600040101010101" charset="-122"/>
                          <a:sym typeface="+mn-ea"/>
                        </a:rPr>
                        <a:t>库存数量</a:t>
                      </a:r>
                      <a:r>
                        <a:rPr sz="2000" b="1">
                          <a:solidFill>
                            <a:srgbClr val="0000CC"/>
                          </a:solidFill>
                          <a:latin typeface="华文楷体" panose="02010600040101010101" charset="-122"/>
                          <a:ea typeface="华文楷体" panose="02010600040101010101" charset="-122"/>
                          <a:sym typeface="+mn-ea"/>
                        </a:rPr>
                        <a:t>，</a:t>
                      </a:r>
                      <a:r>
                        <a:rPr lang="zh-CN" sz="2000" b="1">
                          <a:solidFill>
                            <a:srgbClr val="0000CC"/>
                          </a:solidFill>
                          <a:latin typeface="华文楷体" panose="02010600040101010101" charset="-122"/>
                          <a:ea typeface="华文楷体" panose="02010600040101010101" charset="-122"/>
                          <a:sym typeface="+mn-ea"/>
                        </a:rPr>
                        <a:t>单价</a:t>
                      </a:r>
                      <a:endParaRPr lang="zh-CN" sz="2000" b="1">
                        <a:solidFill>
                          <a:srgbClr val="0000CC"/>
                        </a:solidFill>
                        <a:latin typeface="华文楷体" panose="02010600040101010101" charset="-122"/>
                        <a:ea typeface="华文楷体" panose="02010600040101010101" charset="-122"/>
                        <a:sym typeface="+mn-ea"/>
                      </a:endParaRPr>
                    </a:p>
                  </a:txBody>
                  <a:tcPr marL="68580" marR="68580" marT="34290" marB="34290" anchor="ctr" anchorCtr="0">
                    <a:lnL w="6350">
                      <a:solidFill>
                        <a:schemeClr val="tx1"/>
                      </a:solidFill>
                      <a:prstDash val="sysDash"/>
                    </a:lnL>
                    <a:lnR w="6350">
                      <a:solidFill>
                        <a:schemeClr val="tx1"/>
                      </a:solidFill>
                      <a:prstDash val="sysDash"/>
                    </a:lnR>
                    <a:lnT w="6350">
                      <a:solidFill>
                        <a:schemeClr val="tx1"/>
                      </a:solidFill>
                      <a:prstDash val="sysDash"/>
                    </a:lnT>
                    <a:lnB w="6350">
                      <a:solidFill>
                        <a:schemeClr val="tx1"/>
                      </a:solidFill>
                      <a:prstDash val="sysDash"/>
                    </a:lnB>
                    <a:noFill/>
                  </a:tcPr>
                </a:tc>
                <a:tc>
                  <a:txBody>
                    <a:bodyPr/>
                    <a:p>
                      <a:pPr algn="l">
                        <a:buNone/>
                      </a:pPr>
                      <a:r>
                        <a:rPr lang="en-US" altLang="zh-CN" sz="2000" b="1">
                          <a:solidFill>
                            <a:srgbClr val="FF0000"/>
                          </a:solidFill>
                          <a:latin typeface="华文楷体" panose="02010600040101010101" charset="-122"/>
                          <a:ea typeface="华文楷体" panose="02010600040101010101" charset="-122"/>
                          <a:sym typeface="+mn-ea"/>
                        </a:rPr>
                        <a:t>products(pid, pname, city, quantity, price)</a:t>
                      </a:r>
                      <a:endParaRPr lang="en-US" altLang="zh-CN" sz="2000" b="1">
                        <a:solidFill>
                          <a:srgbClr val="FF0000"/>
                        </a:solidFill>
                        <a:latin typeface="华文楷体" panose="02010600040101010101" charset="-122"/>
                        <a:ea typeface="华文楷体" panose="02010600040101010101" charset="-122"/>
                        <a:sym typeface="+mn-ea"/>
                      </a:endParaRPr>
                    </a:p>
                  </a:txBody>
                  <a:tcPr marL="68580" marR="68580" marT="34290" marB="34290"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586740">
                <a:tc>
                  <a:txBody>
                    <a:bodyPr/>
                    <a:p>
                      <a:pPr algn="ctr">
                        <a:buNone/>
                      </a:pPr>
                      <a:r>
                        <a:rPr lang="zh-CN" altLang="en-US" sz="2000" b="1">
                          <a:solidFill>
                            <a:srgbClr val="0000CC"/>
                          </a:solidFill>
                          <a:latin typeface="华文楷体" panose="02010600040101010101" charset="-122"/>
                          <a:ea typeface="华文楷体" panose="02010600040101010101" charset="-122"/>
                        </a:rPr>
                        <a:t>订单</a:t>
                      </a:r>
                      <a:endParaRPr lang="zh-CN" altLang="en-US" sz="2000" b="1">
                        <a:solidFill>
                          <a:srgbClr val="0000CC"/>
                        </a:solidFill>
                        <a:latin typeface="华文楷体" panose="02010600040101010101" charset="-122"/>
                        <a:ea typeface="华文楷体" panose="02010600040101010101" charset="-122"/>
                      </a:endParaRPr>
                    </a:p>
                  </a:txBody>
                  <a:tcPr marL="68580" marR="68580" marT="34290" marB="34290" anchor="ctr" anchorCtr="0">
                    <a:lnL w="12700">
                      <a:solidFill>
                        <a:schemeClr val="tx1"/>
                      </a:solidFill>
                      <a:prstDash val="solid"/>
                    </a:lnL>
                    <a:lnR w="6350">
                      <a:solidFill>
                        <a:schemeClr val="tx1"/>
                      </a:solidFill>
                      <a:prstDash val="sysDash"/>
                    </a:lnR>
                    <a:lnT w="6350">
                      <a:solidFill>
                        <a:schemeClr val="tx1"/>
                      </a:solidFill>
                      <a:prstDash val="sysDash"/>
                    </a:lnT>
                    <a:lnB w="6350">
                      <a:solidFill>
                        <a:schemeClr val="tx1"/>
                      </a:solidFill>
                      <a:prstDash val="sysDash"/>
                    </a:lnB>
                    <a:noFill/>
                  </a:tcPr>
                </a:tc>
                <a:tc>
                  <a:txBody>
                    <a:bodyPr/>
                    <a:p>
                      <a:pPr algn="l">
                        <a:buNone/>
                      </a:pPr>
                      <a:r>
                        <a:rPr lang="zh-CN" sz="2000" b="1">
                          <a:solidFill>
                            <a:srgbClr val="0000CC"/>
                          </a:solidFill>
                          <a:latin typeface="华文楷体" panose="02010600040101010101" charset="-122"/>
                          <a:ea typeface="华文楷体" panose="02010600040101010101" charset="-122"/>
                          <a:sym typeface="+mn-ea"/>
                        </a:rPr>
                        <a:t>订单编号</a:t>
                      </a:r>
                      <a:r>
                        <a:rPr sz="2000" b="1">
                          <a:solidFill>
                            <a:srgbClr val="0000CC"/>
                          </a:solidFill>
                          <a:latin typeface="华文楷体" panose="02010600040101010101" charset="-122"/>
                          <a:ea typeface="华文楷体" panose="02010600040101010101" charset="-122"/>
                          <a:sym typeface="+mn-ea"/>
                        </a:rPr>
                        <a:t>，</a:t>
                      </a:r>
                      <a:r>
                        <a:rPr lang="zh-CN" sz="2000" b="1">
                          <a:solidFill>
                            <a:srgbClr val="0000CC"/>
                          </a:solidFill>
                          <a:latin typeface="华文楷体" panose="02010600040101010101" charset="-122"/>
                          <a:ea typeface="华文楷体" panose="02010600040101010101" charset="-122"/>
                          <a:sym typeface="+mn-ea"/>
                        </a:rPr>
                        <a:t>销售日期</a:t>
                      </a:r>
                      <a:r>
                        <a:rPr sz="2000" b="1">
                          <a:solidFill>
                            <a:srgbClr val="0000CC"/>
                          </a:solidFill>
                          <a:latin typeface="华文楷体" panose="02010600040101010101" charset="-122"/>
                          <a:ea typeface="华文楷体" panose="02010600040101010101" charset="-122"/>
                          <a:sym typeface="+mn-ea"/>
                        </a:rPr>
                        <a:t>，</a:t>
                      </a:r>
                      <a:r>
                        <a:rPr lang="zh-CN" sz="2000" b="1">
                          <a:solidFill>
                            <a:srgbClr val="0000CC"/>
                          </a:solidFill>
                          <a:latin typeface="华文楷体" panose="02010600040101010101" charset="-122"/>
                          <a:ea typeface="华文楷体" panose="02010600040101010101" charset="-122"/>
                          <a:sym typeface="+mn-ea"/>
                        </a:rPr>
                        <a:t>顾客</a:t>
                      </a:r>
                      <a:r>
                        <a:rPr lang="zh-CN" sz="2000" b="1">
                          <a:solidFill>
                            <a:srgbClr val="0000CC"/>
                          </a:solidFill>
                          <a:latin typeface="华文楷体" panose="02010600040101010101" charset="-122"/>
                          <a:ea typeface="华文楷体" panose="02010600040101010101" charset="-122"/>
                          <a:sym typeface="+mn-ea"/>
                        </a:rPr>
                        <a:t>编号，供应商编号，商品编号，销售数量，销售金额</a:t>
                      </a:r>
                      <a:endParaRPr lang="zh-CN" sz="2000" b="1">
                        <a:solidFill>
                          <a:srgbClr val="0000CC"/>
                        </a:solidFill>
                        <a:latin typeface="华文楷体" panose="02010600040101010101" charset="-122"/>
                        <a:ea typeface="华文楷体" panose="02010600040101010101" charset="-122"/>
                        <a:sym typeface="+mn-ea"/>
                      </a:endParaRPr>
                    </a:p>
                  </a:txBody>
                  <a:tcPr marL="68580" marR="68580" marT="34290" marB="34290" anchor="ctr" anchorCtr="0">
                    <a:lnL w="6350">
                      <a:solidFill>
                        <a:schemeClr val="tx1"/>
                      </a:solidFill>
                      <a:prstDash val="sysDash"/>
                    </a:lnL>
                    <a:lnR w="6350">
                      <a:solidFill>
                        <a:schemeClr val="tx1"/>
                      </a:solidFill>
                      <a:prstDash val="sysDash"/>
                    </a:lnR>
                    <a:lnT w="6350">
                      <a:solidFill>
                        <a:schemeClr val="tx1"/>
                      </a:solidFill>
                      <a:prstDash val="sysDash"/>
                    </a:lnT>
                    <a:lnB w="6350">
                      <a:solidFill>
                        <a:schemeClr val="tx1"/>
                      </a:solidFill>
                      <a:prstDash val="sysDash"/>
                    </a:lnB>
                    <a:noFill/>
                  </a:tcPr>
                </a:tc>
                <a:tc>
                  <a:txBody>
                    <a:bodyPr/>
                    <a:p>
                      <a:pPr algn="l">
                        <a:buNone/>
                      </a:pPr>
                      <a:r>
                        <a:rPr lang="en-US" altLang="zh-CN" sz="2000" b="1">
                          <a:solidFill>
                            <a:srgbClr val="FF0000"/>
                          </a:solidFill>
                          <a:latin typeface="华文楷体" panose="02010600040101010101" charset="-122"/>
                          <a:ea typeface="华文楷体" panose="02010600040101010101" charset="-122"/>
                          <a:sym typeface="+mn-ea"/>
                        </a:rPr>
                        <a:t>orders(ordno, orddate, cid, aid, pid, qty, dols)</a:t>
                      </a:r>
                      <a:endParaRPr lang="en-US" altLang="zh-CN" sz="2000" b="1">
                        <a:solidFill>
                          <a:srgbClr val="FF0000"/>
                        </a:solidFill>
                        <a:latin typeface="华文楷体" panose="02010600040101010101" charset="-122"/>
                        <a:ea typeface="华文楷体" panose="02010600040101010101" charset="-122"/>
                        <a:sym typeface="+mn-ea"/>
                      </a:endParaRPr>
                    </a:p>
                  </a:txBody>
                  <a:tcPr marL="68580" marR="68580" marT="34290" marB="34290"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bl>
          </a:graphicData>
        </a:graphic>
      </p:graphicFrame>
      <p:sp>
        <p:nvSpPr>
          <p:cNvPr id="2" name="内容占位符 2"/>
          <p:cNvSpPr>
            <a:spLocks noGrp="1"/>
          </p:cNvSpPr>
          <p:nvPr/>
        </p:nvSpPr>
        <p:spPr>
          <a:xfrm>
            <a:off x="424815" y="643890"/>
            <a:ext cx="11342370" cy="460375"/>
          </a:xfrm>
          <a:prstGeom prst="rect">
            <a:avLst/>
          </a:prstGeom>
          <a:noFill/>
          <a:ln w="9525">
            <a:noFill/>
          </a:ln>
        </p:spPr>
        <p:txBody>
          <a:bodyPr wrap="square" anchor="t">
            <a:spAutoFit/>
          </a:bodyPr>
          <a:lstStyle>
            <a:lvl1pPr marL="342900" lvl="0" indent="-342900" algn="l" defTabSz="914400" eaLnBrk="0" fontAlgn="base" latinLnBrk="0" hangingPunct="0">
              <a:spcBef>
                <a:spcPct val="20000"/>
              </a:spcBef>
              <a:spcAft>
                <a:spcPct val="0"/>
              </a:spcAft>
              <a:buClr>
                <a:srgbClr val="CC9900"/>
              </a:buClr>
              <a:buFont typeface="Wingdings" panose="05000000000000000000" pitchFamily="2" charset="2"/>
              <a:buChar char="q"/>
              <a:defRPr sz="2400" b="1" u="none" kern="1200" baseline="0">
                <a:solidFill>
                  <a:schemeClr val="accent2"/>
                </a:solidFill>
                <a:latin typeface="+mn-lt"/>
                <a:ea typeface="+mn-ea"/>
                <a:cs typeface="+mn-cs"/>
              </a:defRPr>
            </a:lvl1pPr>
            <a:lvl2pPr marL="742950" lvl="1" indent="-28575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rgbClr val="FF0000"/>
                </a:solidFill>
                <a:latin typeface="+mn-lt"/>
                <a:ea typeface="+mn-ea"/>
                <a:cs typeface="+mn-cs"/>
              </a:defRPr>
            </a:lvl2pPr>
            <a:lvl3pPr marL="1143000" lvl="2"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3pPr>
            <a:lvl4pPr marL="1600200" lvl="3" indent="-228600" algn="l" defTabSz="914400" eaLnBrk="0" fontAlgn="base" latinLnBrk="0" hangingPunct="0">
              <a:spcBef>
                <a:spcPct val="20000"/>
              </a:spcBef>
              <a:spcAft>
                <a:spcPct val="0"/>
              </a:spcAft>
              <a:buClr>
                <a:srgbClr val="CC9900"/>
              </a:buClr>
              <a:buFont typeface="Wingdings" panose="05000000000000000000" pitchFamily="2" charset="2"/>
              <a:buChar char="Ø"/>
              <a:defRPr sz="2400" b="1" u="none" kern="1200" baseline="0">
                <a:solidFill>
                  <a:schemeClr val="tx1"/>
                </a:solidFill>
                <a:latin typeface="+mn-lt"/>
                <a:ea typeface="+mn-ea"/>
                <a:cs typeface="+mn-cs"/>
              </a:defRPr>
            </a:lvl4pPr>
            <a:lvl5pPr marL="2057400" lvl="4"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5pPr>
            <a:lvl6pPr marL="2514600" lvl="5"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6pPr>
            <a:lvl7pPr marL="2971800" lvl="6"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7pPr>
            <a:lvl8pPr marL="3429000" lvl="7"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8pPr>
            <a:lvl9pPr marL="3886200" lvl="8" indent="-228600" algn="l" defTabSz="914400" eaLnBrk="0" fontAlgn="base" latinLnBrk="0" hangingPunct="0">
              <a:spcBef>
                <a:spcPct val="20000"/>
              </a:spcBef>
              <a:spcAft>
                <a:spcPct val="0"/>
              </a:spcAft>
              <a:buClr>
                <a:srgbClr val="CC9900"/>
              </a:buClr>
              <a:buFont typeface="Wingdings" panose="05000000000000000000" pitchFamily="2" charset="2"/>
              <a:buChar char="»"/>
              <a:defRPr sz="2400" b="1" u="none" kern="1200" baseline="0">
                <a:solidFill>
                  <a:schemeClr val="accent2"/>
                </a:solidFill>
                <a:latin typeface="+mn-lt"/>
                <a:ea typeface="+mn-ea"/>
                <a:cs typeface="+mn-cs"/>
              </a:defRPr>
            </a:lvl9pPr>
          </a:lstStyle>
          <a:p>
            <a:pPr marL="457200" lvl="1" indent="0" fontAlgn="auto">
              <a:lnSpc>
                <a:spcPct val="100000"/>
              </a:lnSpc>
              <a:spcBef>
                <a:spcPts val="0"/>
              </a:spcBef>
              <a:spcAft>
                <a:spcPts val="0"/>
              </a:spcAft>
              <a:buClr>
                <a:srgbClr val="C00000"/>
              </a:buClr>
              <a:buFont typeface="+mj-ea"/>
              <a:buNone/>
            </a:pPr>
            <a:r>
              <a:rPr b="1">
                <a:solidFill>
                  <a:srgbClr val="0000CC"/>
                </a:solidFill>
                <a:latin typeface="华文楷体" panose="02010600040101010101" charset="-122"/>
                <a:ea typeface="华文楷体" panose="02010600040101010101" charset="-122"/>
                <a:cs typeface="华文楷体" panose="02010600040101010101" charset="-122"/>
              </a:rPr>
              <a:t>设有一个</a:t>
            </a:r>
            <a:r>
              <a:rPr lang="zh-CN" b="1">
                <a:solidFill>
                  <a:srgbClr val="0000CC"/>
                </a:solidFill>
                <a:latin typeface="华文楷体" panose="02010600040101010101" charset="-122"/>
                <a:ea typeface="华文楷体" panose="02010600040101010101" charset="-122"/>
                <a:cs typeface="华文楷体" panose="02010600040101010101" charset="-122"/>
              </a:rPr>
              <a:t>商品零售</a:t>
            </a:r>
            <a:r>
              <a:rPr b="1">
                <a:solidFill>
                  <a:srgbClr val="0000CC"/>
                </a:solidFill>
                <a:latin typeface="华文楷体" panose="02010600040101010101" charset="-122"/>
                <a:ea typeface="华文楷体" panose="02010600040101010101" charset="-122"/>
                <a:cs typeface="华文楷体" panose="02010600040101010101" charset="-122"/>
              </a:rPr>
              <a:t>管理数据库</a:t>
            </a:r>
            <a:r>
              <a:rPr lang="en-US" altLang="zh-CN">
                <a:solidFill>
                  <a:schemeClr val="accent6"/>
                </a:solidFill>
                <a:latin typeface="华文楷体" panose="02010600040101010101" charset="-122"/>
                <a:ea typeface="华文楷体" panose="02010600040101010101" charset="-122"/>
                <a:cs typeface="华文楷体" panose="02010600040101010101" charset="-122"/>
                <a:sym typeface="+mn-ea"/>
              </a:rPr>
              <a:t>MyCAP</a:t>
            </a:r>
            <a:r>
              <a:rPr b="1">
                <a:solidFill>
                  <a:srgbClr val="0000CC"/>
                </a:solidFill>
                <a:latin typeface="华文楷体" panose="02010600040101010101" charset="-122"/>
                <a:ea typeface="华文楷体" panose="02010600040101010101" charset="-122"/>
                <a:cs typeface="华文楷体" panose="02010600040101010101" charset="-122"/>
              </a:rPr>
              <a:t>，关系模式如下：</a:t>
            </a:r>
            <a:endParaRPr b="1">
              <a:solidFill>
                <a:srgbClr val="0000CC"/>
              </a:solidFill>
              <a:latin typeface="华文楷体" panose="02010600040101010101" charset="-122"/>
              <a:ea typeface="华文楷体" panose="02010600040101010101" charset="-122"/>
              <a:cs typeface="华文楷体" panose="02010600040101010101" charset="-122"/>
            </a:endParaRPr>
          </a:p>
        </p:txBody>
      </p:sp>
      <p:sp>
        <p:nvSpPr>
          <p:cNvPr id="7" name="灯片编号占位符 6"/>
          <p:cNvSpPr>
            <a:spLocks noGrp="1"/>
          </p:cNvSpPr>
          <p:nvPr>
            <p:ph type="sldNum" sz="quarter" idx="12"/>
          </p:nvPr>
        </p:nvSpPr>
        <p:spPr/>
        <p:txBody>
          <a:bodyPr/>
          <a:p>
            <a:fld id="{565CE74E-AB26-4998-AD42-012C4C1AD076}" type="slidenum">
              <a:rPr lang="zh-CN" altLang="en-US" smtClean="0"/>
            </a:fld>
            <a:endParaRPr lang="zh-CN" altLang="en-US"/>
          </a:p>
        </p:txBody>
      </p:sp>
      <p:sp>
        <p:nvSpPr>
          <p:cNvPr id="9" name="页脚占位符 8"/>
          <p:cNvSpPr>
            <a:spLocks noGrp="1"/>
          </p:cNvSpPr>
          <p:nvPr>
            <p:ph type="ftr" sz="quarter" idx="11"/>
          </p:nvPr>
        </p:nvSpPr>
        <p:spPr/>
        <p:txBody>
          <a:bodyPr/>
          <a:p>
            <a:r>
              <a:rPr lang="zh-CN" altLang="en-US"/>
              <a:t>ch03_SQL语言_复习思考题</a:t>
            </a:r>
            <a:endParaRPr lang="zh-CN" altLang="en-US"/>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r>
              <a:rPr lang="zh-CN" altLang="en-US">
                <a:sym typeface="+mn-ea"/>
              </a:rPr>
              <a:t>复习思考题</a:t>
            </a:r>
            <a:r>
              <a:rPr lang="en-US" altLang="zh-CN">
                <a:sym typeface="+mn-ea"/>
              </a:rPr>
              <a:t> 3</a:t>
            </a:r>
            <a:endParaRPr lang="zh-CN" altLang="en-US"/>
          </a:p>
        </p:txBody>
      </p:sp>
      <p:sp>
        <p:nvSpPr>
          <p:cNvPr id="3" name="内容占位符 2"/>
          <p:cNvSpPr>
            <a:spLocks noGrp="1"/>
          </p:cNvSpPr>
          <p:nvPr>
            <p:ph idx="1"/>
          </p:nvPr>
        </p:nvSpPr>
        <p:spPr>
          <a:xfrm>
            <a:off x="424180" y="687070"/>
            <a:ext cx="11343005" cy="5528945"/>
          </a:xfrm>
        </p:spPr>
        <p:txBody>
          <a:bodyPr wrap="square">
            <a:spAutoFit/>
          </a:bodyPr>
          <a:p>
            <a:pPr marL="514350" indent="-514350" fontAlgn="auto">
              <a:lnSpc>
                <a:spcPct val="100000"/>
              </a:lnSpc>
              <a:spcBef>
                <a:spcPts val="0"/>
              </a:spcBef>
              <a:spcAft>
                <a:spcPts val="0"/>
              </a:spcAft>
              <a:buFont typeface="+mj-lt"/>
              <a:buAutoNum type="arabicPeriod" startAt="5"/>
            </a:pPr>
            <a:r>
              <a:rPr lang="zh-CN" sz="2000">
                <a:solidFill>
                  <a:srgbClr val="0000C8"/>
                </a:solidFill>
                <a:latin typeface="Arial" panose="020B0604020202090204" pitchFamily="34" charset="0"/>
                <a:cs typeface="Arial" panose="020B0604020202090204" pitchFamily="34" charset="0"/>
                <a:sym typeface="+mn-ea"/>
              </a:rPr>
              <a:t>请用</a:t>
            </a:r>
            <a:r>
              <a:rPr lang="en-US" altLang="zh-CN" sz="2000">
                <a:solidFill>
                  <a:srgbClr val="0000C8"/>
                </a:solidFill>
                <a:latin typeface="Arial" panose="020B0604020202090204" pitchFamily="34" charset="0"/>
                <a:cs typeface="Arial" panose="020B0604020202090204" pitchFamily="34" charset="0"/>
                <a:sym typeface="+mn-ea"/>
              </a:rPr>
              <a:t>SQL</a:t>
            </a:r>
            <a:r>
              <a:rPr lang="zh-CN" altLang="en-US" sz="2000">
                <a:solidFill>
                  <a:srgbClr val="0000C8"/>
                </a:solidFill>
                <a:latin typeface="Arial" panose="020B0604020202090204" pitchFamily="34" charset="0"/>
                <a:cs typeface="Arial" panose="020B0604020202090204" pitchFamily="34" charset="0"/>
                <a:sym typeface="+mn-ea"/>
              </a:rPr>
              <a:t>语言来查询满足下述条件的顾客的</a:t>
            </a:r>
            <a:r>
              <a:rPr lang="en-US" altLang="zh-CN" sz="2000">
                <a:solidFill>
                  <a:srgbClr val="0000C8"/>
                </a:solidFill>
                <a:latin typeface="Arial" panose="020B0604020202090204" pitchFamily="34" charset="0"/>
                <a:cs typeface="Arial" panose="020B0604020202090204" pitchFamily="34" charset="0"/>
                <a:sym typeface="+mn-ea"/>
              </a:rPr>
              <a:t>cid</a:t>
            </a:r>
            <a:r>
              <a:rPr lang="zh-CN" altLang="en-US" sz="2000">
                <a:solidFill>
                  <a:srgbClr val="0000C8"/>
                </a:solidFill>
                <a:latin typeface="Arial" panose="020B0604020202090204" pitchFamily="34" charset="0"/>
                <a:cs typeface="Arial" panose="020B0604020202090204" pitchFamily="34" charset="0"/>
                <a:sym typeface="+mn-ea"/>
              </a:rPr>
              <a:t>和</a:t>
            </a:r>
            <a:r>
              <a:rPr lang="en-US" altLang="zh-CN" sz="2000">
                <a:solidFill>
                  <a:srgbClr val="0000C8"/>
                </a:solidFill>
                <a:latin typeface="Arial" panose="020B0604020202090204" pitchFamily="34" charset="0"/>
                <a:cs typeface="Arial" panose="020B0604020202090204" pitchFamily="34" charset="0"/>
                <a:sym typeface="+mn-ea"/>
              </a:rPr>
              <a:t>cname</a:t>
            </a:r>
            <a:r>
              <a:rPr lang="zh-CN" sz="2000">
                <a:solidFill>
                  <a:srgbClr val="0000C8"/>
                </a:solidFill>
                <a:latin typeface="Arial" panose="020B0604020202090204" pitchFamily="34" charset="0"/>
                <a:cs typeface="Arial" panose="020B0604020202090204" pitchFamily="34" charset="0"/>
                <a:sym typeface="+mn-ea"/>
              </a:rPr>
              <a:t>：</a:t>
            </a:r>
            <a:endParaRPr lang="zh-CN" sz="2000">
              <a:solidFill>
                <a:srgbClr val="0000C8"/>
              </a:solidFill>
              <a:latin typeface="Arial" panose="020B0604020202090204" pitchFamily="34" charset="0"/>
              <a:cs typeface="Arial" panose="020B0604020202090204" pitchFamily="34" charset="0"/>
            </a:endParaRPr>
          </a:p>
          <a:p>
            <a:pPr marL="457200" lvl="1" indent="-158115" defTabSz="914400" fontAlgn="auto">
              <a:lnSpc>
                <a:spcPct val="100000"/>
              </a:lnSpc>
              <a:spcBef>
                <a:spcPts val="0"/>
              </a:spcBef>
              <a:spcAft>
                <a:spcPts val="0"/>
              </a:spcAft>
              <a:buNone/>
              <a:tabLst>
                <a:tab pos="537210" algn="l"/>
              </a:tabLst>
            </a:pPr>
            <a:r>
              <a:rPr lang="en-US" altLang="zh-CN" sz="2000">
                <a:solidFill>
                  <a:srgbClr val="0000C8"/>
                </a:solidFill>
                <a:latin typeface="Arial" panose="020B0604020202090204" pitchFamily="34" charset="0"/>
                <a:cs typeface="Arial" panose="020B0604020202090204" pitchFamily="34" charset="0"/>
                <a:sym typeface="+mn-ea"/>
              </a:rPr>
              <a:t>Q</a:t>
            </a:r>
            <a:r>
              <a:rPr lang="en-US" altLang="zh-CN" sz="2000" baseline="-25000" dirty="0">
                <a:solidFill>
                  <a:srgbClr val="0000C8"/>
                </a:solidFill>
                <a:latin typeface="Arial" panose="020B0604020202090204" pitchFamily="34" charset="0"/>
                <a:cs typeface="Arial" panose="020B0604020202090204" pitchFamily="34" charset="0"/>
                <a:sym typeface="+mn-ea"/>
              </a:rPr>
              <a:t>1</a:t>
            </a:r>
            <a:r>
              <a:rPr lang="zh-CN" altLang="en-US" sz="2000">
                <a:solidFill>
                  <a:srgbClr val="0000C8"/>
                </a:solidFill>
                <a:latin typeface="Arial" panose="020B0604020202090204" pitchFamily="34" charset="0"/>
                <a:cs typeface="Arial" panose="020B0604020202090204" pitchFamily="34" charset="0"/>
                <a:sym typeface="+mn-ea"/>
              </a:rPr>
              <a:t>：</a:t>
            </a:r>
            <a:r>
              <a:rPr lang="zh-CN" altLang="zh-CN" sz="2000">
                <a:solidFill>
                  <a:srgbClr val="0000C8"/>
                </a:solidFill>
                <a:latin typeface="Arial" panose="020B0604020202090204" pitchFamily="34" charset="0"/>
                <a:cs typeface="Arial" panose="020B0604020202090204" pitchFamily="34" charset="0"/>
                <a:sym typeface="+mn-ea"/>
              </a:rPr>
              <a:t>没有通过纽约市的供应商去购买过商品</a:t>
            </a:r>
            <a:r>
              <a:rPr lang="en-US" altLang="zh-CN" sz="2000">
                <a:solidFill>
                  <a:srgbClr val="0000C8"/>
                </a:solidFill>
                <a:latin typeface="Arial" panose="020B0604020202090204" pitchFamily="34" charset="0"/>
                <a:cs typeface="Arial" panose="020B0604020202090204" pitchFamily="34" charset="0"/>
                <a:sym typeface="+mn-ea"/>
              </a:rPr>
              <a:t>;</a:t>
            </a:r>
            <a:endParaRPr lang="en-US" altLang="zh-CN" sz="2000">
              <a:solidFill>
                <a:srgbClr val="0000C8"/>
              </a:solidFill>
              <a:latin typeface="Arial" panose="020B0604020202090204" pitchFamily="34" charset="0"/>
              <a:cs typeface="Arial" panose="020B0604020202090204" pitchFamily="34" charset="0"/>
            </a:endParaRPr>
          </a:p>
          <a:p>
            <a:pPr marL="457200" lvl="1" indent="-158115" defTabSz="914400" fontAlgn="auto">
              <a:lnSpc>
                <a:spcPct val="100000"/>
              </a:lnSpc>
              <a:spcBef>
                <a:spcPts val="0"/>
              </a:spcBef>
              <a:spcAft>
                <a:spcPts val="0"/>
              </a:spcAft>
              <a:buNone/>
              <a:tabLst>
                <a:tab pos="537210" algn="l"/>
              </a:tabLst>
            </a:pPr>
            <a:r>
              <a:rPr lang="en-US" altLang="zh-CN" sz="2000">
                <a:solidFill>
                  <a:srgbClr val="0000C8"/>
                </a:solidFill>
                <a:latin typeface="Arial" panose="020B0604020202090204" pitchFamily="34" charset="0"/>
                <a:cs typeface="Arial" panose="020B0604020202090204" pitchFamily="34" charset="0"/>
                <a:sym typeface="+mn-ea"/>
              </a:rPr>
              <a:t>Q</a:t>
            </a:r>
            <a:r>
              <a:rPr lang="en-US" altLang="zh-CN" sz="2000" baseline="-25000" dirty="0">
                <a:solidFill>
                  <a:srgbClr val="0000C8"/>
                </a:solidFill>
                <a:latin typeface="Arial" panose="020B0604020202090204" pitchFamily="34" charset="0"/>
                <a:cs typeface="Arial" panose="020B0604020202090204" pitchFamily="34" charset="0"/>
                <a:sym typeface="+mn-ea"/>
              </a:rPr>
              <a:t>2</a:t>
            </a:r>
            <a:r>
              <a:rPr lang="zh-CN" altLang="en-US" sz="2000">
                <a:solidFill>
                  <a:srgbClr val="0000C8"/>
                </a:solidFill>
                <a:latin typeface="Arial" panose="020B0604020202090204" pitchFamily="34" charset="0"/>
                <a:cs typeface="Arial" panose="020B0604020202090204" pitchFamily="34" charset="0"/>
                <a:sym typeface="+mn-ea"/>
              </a:rPr>
              <a:t>：</a:t>
            </a:r>
            <a:r>
              <a:rPr lang="zh-CN" altLang="zh-CN" sz="2000">
                <a:solidFill>
                  <a:srgbClr val="0000C8"/>
                </a:solidFill>
                <a:latin typeface="Arial" panose="020B0604020202090204" pitchFamily="34" charset="0"/>
                <a:cs typeface="Arial" panose="020B0604020202090204" pitchFamily="34" charset="0"/>
                <a:sym typeface="+mn-ea"/>
              </a:rPr>
              <a:t>只购买过两种不同</a:t>
            </a:r>
            <a:r>
              <a:rPr lang="en-US" altLang="zh-CN" sz="2000">
                <a:solidFill>
                  <a:srgbClr val="0000C8"/>
                </a:solidFill>
                <a:latin typeface="Arial" panose="020B0604020202090204" pitchFamily="34" charset="0"/>
                <a:cs typeface="Arial" panose="020B0604020202090204" pitchFamily="34" charset="0"/>
                <a:sym typeface="+mn-ea"/>
              </a:rPr>
              <a:t>(pid)</a:t>
            </a:r>
            <a:r>
              <a:rPr lang="zh-CN" altLang="zh-CN" sz="2000">
                <a:solidFill>
                  <a:srgbClr val="0000C8"/>
                </a:solidFill>
                <a:latin typeface="Arial" panose="020B0604020202090204" pitchFamily="34" charset="0"/>
                <a:cs typeface="Arial" panose="020B0604020202090204" pitchFamily="34" charset="0"/>
                <a:sym typeface="+mn-ea"/>
              </a:rPr>
              <a:t>商品</a:t>
            </a:r>
            <a:r>
              <a:rPr lang="en-US" altLang="zh-CN" sz="2000">
                <a:solidFill>
                  <a:srgbClr val="0000C8"/>
                </a:solidFill>
                <a:latin typeface="Arial" panose="020B0604020202090204" pitchFamily="34" charset="0"/>
                <a:cs typeface="Arial" panose="020B0604020202090204" pitchFamily="34" charset="0"/>
                <a:sym typeface="+mn-ea"/>
              </a:rPr>
              <a:t>;</a:t>
            </a:r>
            <a:endParaRPr lang="en-US" altLang="zh-CN" sz="2000">
              <a:solidFill>
                <a:srgbClr val="0000C8"/>
              </a:solidFill>
              <a:latin typeface="Arial" panose="020B0604020202090204" pitchFamily="34" charset="0"/>
              <a:cs typeface="Arial" panose="020B0604020202090204" pitchFamily="34" charset="0"/>
            </a:endParaRPr>
          </a:p>
          <a:p>
            <a:pPr marL="457200" lvl="1" indent="-158115" defTabSz="914400" fontAlgn="auto">
              <a:lnSpc>
                <a:spcPct val="100000"/>
              </a:lnSpc>
              <a:spcBef>
                <a:spcPts val="0"/>
              </a:spcBef>
              <a:spcAft>
                <a:spcPts val="0"/>
              </a:spcAft>
              <a:buNone/>
              <a:tabLst>
                <a:tab pos="537210" algn="l"/>
              </a:tabLst>
            </a:pPr>
            <a:r>
              <a:rPr lang="en-US" altLang="zh-CN" sz="2000">
                <a:solidFill>
                  <a:srgbClr val="0000C8"/>
                </a:solidFill>
                <a:latin typeface="Arial" panose="020B0604020202090204" pitchFamily="34" charset="0"/>
                <a:cs typeface="Arial" panose="020B0604020202090204" pitchFamily="34" charset="0"/>
                <a:sym typeface="+mn-ea"/>
              </a:rPr>
              <a:t>Q</a:t>
            </a:r>
            <a:r>
              <a:rPr lang="en-US" altLang="zh-CN" sz="2000" baseline="-25000" dirty="0">
                <a:solidFill>
                  <a:srgbClr val="0000C8"/>
                </a:solidFill>
                <a:latin typeface="Arial" panose="020B0604020202090204" pitchFamily="34" charset="0"/>
                <a:cs typeface="Arial" panose="020B0604020202090204" pitchFamily="34" charset="0"/>
                <a:sym typeface="+mn-ea"/>
              </a:rPr>
              <a:t>3</a:t>
            </a:r>
            <a:r>
              <a:rPr lang="en-US" altLang="zh-CN" sz="2000">
                <a:solidFill>
                  <a:srgbClr val="0000C8"/>
                </a:solidFill>
                <a:latin typeface="Arial" panose="020B0604020202090204" pitchFamily="34" charset="0"/>
                <a:cs typeface="Arial" panose="020B0604020202090204" pitchFamily="34" charset="0"/>
                <a:sym typeface="+mn-ea"/>
              </a:rPr>
              <a:t>：</a:t>
            </a:r>
            <a:r>
              <a:rPr lang="zh-CN" altLang="en-US" sz="2000">
                <a:solidFill>
                  <a:srgbClr val="0000C8"/>
                </a:solidFill>
                <a:latin typeface="Arial" panose="020B0604020202090204" pitchFamily="34" charset="0"/>
                <a:cs typeface="Arial" panose="020B0604020202090204" pitchFamily="34" charset="0"/>
                <a:sym typeface="+mn-ea"/>
              </a:rPr>
              <a:t>所有订单的购买金额</a:t>
            </a:r>
            <a:r>
              <a:rPr lang="en-US" altLang="zh-CN" sz="2000">
                <a:solidFill>
                  <a:srgbClr val="0000C8"/>
                </a:solidFill>
                <a:latin typeface="Arial" panose="020B0604020202090204" pitchFamily="34" charset="0"/>
                <a:cs typeface="Arial" panose="020B0604020202090204" pitchFamily="34" charset="0"/>
                <a:sym typeface="+mn-ea"/>
              </a:rPr>
              <a:t>(dols)</a:t>
            </a:r>
            <a:r>
              <a:rPr lang="zh-CN" altLang="en-US" sz="2000">
                <a:solidFill>
                  <a:srgbClr val="0000C8"/>
                </a:solidFill>
                <a:latin typeface="Arial" panose="020B0604020202090204" pitchFamily="34" charset="0"/>
                <a:cs typeface="Arial" panose="020B0604020202090204" pitchFamily="34" charset="0"/>
                <a:sym typeface="+mn-ea"/>
              </a:rPr>
              <a:t>都超过</a:t>
            </a:r>
            <a:r>
              <a:rPr lang="en-US" altLang="zh-CN" sz="2000">
                <a:solidFill>
                  <a:srgbClr val="0000C8"/>
                </a:solidFill>
                <a:latin typeface="Arial" panose="020B0604020202090204" pitchFamily="34" charset="0"/>
                <a:cs typeface="Arial" panose="020B0604020202090204" pitchFamily="34" charset="0"/>
                <a:sym typeface="+mn-ea"/>
              </a:rPr>
              <a:t>1000</a:t>
            </a:r>
            <a:r>
              <a:rPr lang="zh-CN" altLang="en-US" sz="2000">
                <a:solidFill>
                  <a:srgbClr val="0000C8"/>
                </a:solidFill>
                <a:latin typeface="Arial" panose="020B0604020202090204" pitchFamily="34" charset="0"/>
                <a:cs typeface="Arial" panose="020B0604020202090204" pitchFamily="34" charset="0"/>
                <a:sym typeface="+mn-ea"/>
              </a:rPr>
              <a:t>美元</a:t>
            </a:r>
            <a:r>
              <a:rPr lang="en-US" altLang="zh-CN" sz="2000">
                <a:solidFill>
                  <a:srgbClr val="0000C8"/>
                </a:solidFill>
                <a:latin typeface="Arial" panose="020B0604020202090204" pitchFamily="34" charset="0"/>
                <a:cs typeface="Arial" panose="020B0604020202090204" pitchFamily="34" charset="0"/>
                <a:sym typeface="+mn-ea"/>
              </a:rPr>
              <a:t>;</a:t>
            </a:r>
            <a:endParaRPr lang="en-US" altLang="zh-CN" sz="2000">
              <a:solidFill>
                <a:srgbClr val="0000C8"/>
              </a:solidFill>
              <a:latin typeface="Arial" panose="020B0604020202090204" pitchFamily="34" charset="0"/>
              <a:cs typeface="Arial" panose="020B0604020202090204" pitchFamily="34" charset="0"/>
              <a:sym typeface="+mn-ea"/>
            </a:endParaRPr>
          </a:p>
          <a:p>
            <a:pPr marL="457200" lvl="1" indent="-158115" defTabSz="914400" fontAlgn="auto">
              <a:lnSpc>
                <a:spcPct val="100000"/>
              </a:lnSpc>
              <a:spcBef>
                <a:spcPts val="0"/>
              </a:spcBef>
              <a:spcAft>
                <a:spcPts val="0"/>
              </a:spcAft>
              <a:buNone/>
              <a:tabLst>
                <a:tab pos="537210" algn="l"/>
              </a:tabLst>
            </a:pPr>
            <a:r>
              <a:rPr lang="en-US" altLang="zh-CN" sz="2000">
                <a:solidFill>
                  <a:srgbClr val="0000C8"/>
                </a:solidFill>
                <a:latin typeface="Arial" panose="020B0604020202090204" pitchFamily="34" charset="0"/>
                <a:cs typeface="Arial" panose="020B0604020202090204" pitchFamily="34" charset="0"/>
                <a:sym typeface="+mn-ea"/>
              </a:rPr>
              <a:t>Q</a:t>
            </a:r>
            <a:r>
              <a:rPr lang="en-US" altLang="zh-CN" sz="2000" baseline="-25000" dirty="0">
                <a:solidFill>
                  <a:srgbClr val="0000C8"/>
                </a:solidFill>
                <a:latin typeface="Arial" panose="020B0604020202090204" pitchFamily="34" charset="0"/>
                <a:cs typeface="Arial" panose="020B0604020202090204" pitchFamily="34" charset="0"/>
                <a:sym typeface="+mn-ea"/>
              </a:rPr>
              <a:t>4</a:t>
            </a:r>
            <a:r>
              <a:rPr lang="en-US" altLang="zh-CN" sz="2000">
                <a:solidFill>
                  <a:srgbClr val="0000C8"/>
                </a:solidFill>
                <a:latin typeface="Arial" panose="020B0604020202090204" pitchFamily="34" charset="0"/>
                <a:cs typeface="Arial" panose="020B0604020202090204" pitchFamily="34" charset="0"/>
                <a:sym typeface="+mn-ea"/>
              </a:rPr>
              <a:t>：</a:t>
            </a:r>
            <a:r>
              <a:rPr lang="zh-CN" altLang="en-US" sz="2000">
                <a:solidFill>
                  <a:srgbClr val="0000C8"/>
                </a:solidFill>
                <a:latin typeface="Arial" panose="020B0604020202090204" pitchFamily="34" charset="0"/>
                <a:cs typeface="Arial" panose="020B0604020202090204" pitchFamily="34" charset="0"/>
                <a:sym typeface="+mn-ea"/>
              </a:rPr>
              <a:t>通过纽约市的供应商去购买过所有价格超过</a:t>
            </a:r>
            <a:r>
              <a:rPr lang="en-US" altLang="zh-CN" sz="2000">
                <a:solidFill>
                  <a:srgbClr val="0000C8"/>
                </a:solidFill>
                <a:latin typeface="Arial" panose="020B0604020202090204" pitchFamily="34" charset="0"/>
                <a:cs typeface="Arial" panose="020B0604020202090204" pitchFamily="34" charset="0"/>
                <a:sym typeface="+mn-ea"/>
              </a:rPr>
              <a:t>1</a:t>
            </a:r>
            <a:r>
              <a:rPr lang="zh-CN" altLang="en-US" sz="2000">
                <a:solidFill>
                  <a:srgbClr val="0000C8"/>
                </a:solidFill>
                <a:latin typeface="Arial" panose="020B0604020202090204" pitchFamily="34" charset="0"/>
                <a:cs typeface="Arial" panose="020B0604020202090204" pitchFamily="34" charset="0"/>
                <a:sym typeface="+mn-ea"/>
              </a:rPr>
              <a:t>美元的商品</a:t>
            </a:r>
            <a:r>
              <a:rPr lang="en-US" altLang="zh-CN" sz="2000">
                <a:solidFill>
                  <a:srgbClr val="0000C8"/>
                </a:solidFill>
                <a:latin typeface="Arial" panose="020B0604020202090204" pitchFamily="34" charset="0"/>
                <a:cs typeface="Arial" panose="020B0604020202090204" pitchFamily="34" charset="0"/>
                <a:sym typeface="+mn-ea"/>
              </a:rPr>
              <a:t>;</a:t>
            </a:r>
            <a:endParaRPr lang="zh-CN" altLang="en-US" sz="2000">
              <a:solidFill>
                <a:srgbClr val="0000C8"/>
              </a:solidFill>
              <a:latin typeface="Arial" panose="020B0604020202090204" pitchFamily="34" charset="0"/>
              <a:cs typeface="Arial" panose="020B0604020202090204" pitchFamily="34" charset="0"/>
            </a:endParaRPr>
          </a:p>
          <a:p>
            <a:pPr marL="514350" indent="-514350" fontAlgn="auto">
              <a:lnSpc>
                <a:spcPct val="100000"/>
              </a:lnSpc>
              <a:spcBef>
                <a:spcPts val="2000"/>
              </a:spcBef>
              <a:spcAft>
                <a:spcPts val="0"/>
              </a:spcAft>
              <a:buAutoNum type="arabicPeriod" startAt="5"/>
            </a:pPr>
            <a:r>
              <a:rPr lang="zh-CN" altLang="en-US" sz="2000">
                <a:solidFill>
                  <a:srgbClr val="0000C8"/>
                </a:solidFill>
                <a:latin typeface="Arial" panose="020B0604020202090204" pitchFamily="34" charset="0"/>
                <a:cs typeface="Arial" panose="020B0604020202090204" pitchFamily="34" charset="0"/>
                <a:sym typeface="+mn-ea"/>
              </a:rPr>
              <a:t>请用</a:t>
            </a:r>
            <a:r>
              <a:rPr lang="en-US" altLang="zh-CN" sz="2000">
                <a:solidFill>
                  <a:srgbClr val="0000C8"/>
                </a:solidFill>
                <a:latin typeface="Arial" panose="020B0604020202090204" pitchFamily="34" charset="0"/>
                <a:cs typeface="Arial" panose="020B0604020202090204" pitchFamily="34" charset="0"/>
                <a:sym typeface="+mn-ea"/>
              </a:rPr>
              <a:t>SQL</a:t>
            </a:r>
            <a:r>
              <a:rPr lang="zh-CN" altLang="en-US" sz="2000">
                <a:solidFill>
                  <a:srgbClr val="0000C8"/>
                </a:solidFill>
                <a:latin typeface="Arial" panose="020B0604020202090204" pitchFamily="34" charset="0"/>
                <a:cs typeface="Arial" panose="020B0604020202090204" pitchFamily="34" charset="0"/>
                <a:sym typeface="+mn-ea"/>
              </a:rPr>
              <a:t>语言来表示下述查询</a:t>
            </a:r>
            <a:r>
              <a:rPr lang="en-US" altLang="zh-CN" sz="2000">
                <a:solidFill>
                  <a:srgbClr val="0000C8"/>
                </a:solidFill>
                <a:latin typeface="Arial" panose="020B0604020202090204" pitchFamily="34" charset="0"/>
                <a:cs typeface="Arial" panose="020B0604020202090204" pitchFamily="34" charset="0"/>
                <a:sym typeface="+mn-ea"/>
              </a:rPr>
              <a:t> (</a:t>
            </a:r>
            <a:r>
              <a:rPr lang="zh-CN" altLang="en-US" sz="2000">
                <a:solidFill>
                  <a:srgbClr val="0000C8"/>
                </a:solidFill>
                <a:latin typeface="Arial" panose="020B0604020202090204" pitchFamily="34" charset="0"/>
                <a:cs typeface="Arial" panose="020B0604020202090204" pitchFamily="34" charset="0"/>
                <a:sym typeface="+mn-ea"/>
              </a:rPr>
              <a:t>结果返回</a:t>
            </a:r>
            <a:r>
              <a:rPr lang="en-US" altLang="zh-CN" sz="2000">
                <a:solidFill>
                  <a:srgbClr val="0000C8"/>
                </a:solidFill>
                <a:latin typeface="Arial" panose="020B0604020202090204" pitchFamily="34" charset="0"/>
                <a:cs typeface="Arial" panose="020B0604020202090204" pitchFamily="34" charset="0"/>
                <a:sym typeface="+mn-ea"/>
              </a:rPr>
              <a:t>cid</a:t>
            </a:r>
            <a:r>
              <a:rPr lang="zh-CN" altLang="en-US" sz="2000">
                <a:solidFill>
                  <a:srgbClr val="0000C8"/>
                </a:solidFill>
                <a:latin typeface="Arial" panose="020B0604020202090204" pitchFamily="34" charset="0"/>
                <a:cs typeface="Arial" panose="020B0604020202090204" pitchFamily="34" charset="0"/>
                <a:sym typeface="+mn-ea"/>
              </a:rPr>
              <a:t>和</a:t>
            </a:r>
            <a:r>
              <a:rPr lang="en-US" altLang="zh-CN" sz="2000">
                <a:solidFill>
                  <a:srgbClr val="0000C8"/>
                </a:solidFill>
                <a:latin typeface="Arial" panose="020B0604020202090204" pitchFamily="34" charset="0"/>
                <a:cs typeface="Arial" panose="020B0604020202090204" pitchFamily="34" charset="0"/>
                <a:sym typeface="+mn-ea"/>
              </a:rPr>
              <a:t>pid)</a:t>
            </a:r>
            <a:endParaRPr lang="zh-CN" altLang="en-US" sz="2000">
              <a:solidFill>
                <a:srgbClr val="0000C8"/>
              </a:solidFill>
              <a:latin typeface="Arial" panose="020B0604020202090204" pitchFamily="34" charset="0"/>
              <a:cs typeface="Arial" panose="020B0604020202090204" pitchFamily="34" charset="0"/>
            </a:endParaRPr>
          </a:p>
          <a:p>
            <a:pPr marL="457200" lvl="1" indent="-148590" fontAlgn="auto">
              <a:lnSpc>
                <a:spcPct val="100000"/>
              </a:lnSpc>
              <a:spcBef>
                <a:spcPts val="0"/>
              </a:spcBef>
              <a:spcAft>
                <a:spcPts val="0"/>
              </a:spcAft>
              <a:buNone/>
            </a:pPr>
            <a:r>
              <a:rPr lang="en-US" altLang="x-none" sz="2000" dirty="0">
                <a:solidFill>
                  <a:srgbClr val="0000C8"/>
                </a:solidFill>
                <a:latin typeface="Arial" panose="020B0604020202090204" pitchFamily="34" charset="0"/>
                <a:cs typeface="Arial" panose="020B0604020202090204" pitchFamily="34" charset="0"/>
                <a:sym typeface="+mn-ea"/>
              </a:rPr>
              <a:t>Q</a:t>
            </a:r>
            <a:r>
              <a:rPr lang="en-US" altLang="zh-CN" sz="2000" baseline="-25000" dirty="0">
                <a:solidFill>
                  <a:srgbClr val="0000C8"/>
                </a:solidFill>
                <a:latin typeface="Arial" panose="020B0604020202090204" pitchFamily="34" charset="0"/>
                <a:cs typeface="Arial" panose="020B0604020202090204" pitchFamily="34" charset="0"/>
                <a:sym typeface="+mn-ea"/>
              </a:rPr>
              <a:t>5</a:t>
            </a:r>
            <a:r>
              <a:rPr lang="en-US" altLang="x-none" sz="2000" dirty="0">
                <a:solidFill>
                  <a:srgbClr val="0000C8"/>
                </a:solidFill>
                <a:latin typeface="Arial" panose="020B0604020202090204" pitchFamily="34" charset="0"/>
                <a:cs typeface="Arial" panose="020B0604020202090204" pitchFamily="34" charset="0"/>
                <a:sym typeface="+mn-ea"/>
              </a:rPr>
              <a:t>：</a:t>
            </a:r>
            <a:r>
              <a:rPr lang="zh-CN" altLang="en-US" sz="2000" dirty="0">
                <a:solidFill>
                  <a:srgbClr val="0000C8"/>
                </a:solidFill>
                <a:latin typeface="Arial" panose="020B0604020202090204" pitchFamily="34" charset="0"/>
                <a:cs typeface="Arial" panose="020B0604020202090204" pitchFamily="34" charset="0"/>
                <a:sym typeface="+mn-ea"/>
              </a:rPr>
              <a:t>顾客</a:t>
            </a:r>
            <a:r>
              <a:rPr lang="en-US" altLang="zh-CN" sz="2000" dirty="0">
                <a:solidFill>
                  <a:srgbClr val="0000C8"/>
                </a:solidFill>
                <a:latin typeface="Arial" panose="020B0604020202090204" pitchFamily="34" charset="0"/>
                <a:cs typeface="Arial" panose="020B0604020202090204" pitchFamily="34" charset="0"/>
                <a:sym typeface="+mn-ea"/>
              </a:rPr>
              <a:t>C</a:t>
            </a:r>
            <a:r>
              <a:rPr lang="zh-CN" altLang="zh-CN" sz="2000" dirty="0">
                <a:solidFill>
                  <a:srgbClr val="0000C8"/>
                </a:solidFill>
                <a:latin typeface="Arial" panose="020B0604020202090204" pitchFamily="34" charset="0"/>
                <a:cs typeface="Arial" panose="020B0604020202090204" pitchFamily="34" charset="0"/>
                <a:sym typeface="+mn-ea"/>
              </a:rPr>
              <a:t>只</a:t>
            </a:r>
            <a:r>
              <a:rPr lang="zh-CN" altLang="x-none" sz="2000" dirty="0">
                <a:solidFill>
                  <a:srgbClr val="0000C8"/>
                </a:solidFill>
                <a:latin typeface="Arial" panose="020B0604020202090204" pitchFamily="34" charset="0"/>
                <a:cs typeface="Arial" panose="020B0604020202090204" pitchFamily="34" charset="0"/>
                <a:sym typeface="+mn-ea"/>
              </a:rPr>
              <a:t>购买过一次；</a:t>
            </a:r>
            <a:endParaRPr lang="en-US" altLang="x-none" sz="2000" dirty="0">
              <a:solidFill>
                <a:srgbClr val="0000C8"/>
              </a:solidFill>
              <a:latin typeface="Arial" panose="020B0604020202090204" pitchFamily="34" charset="0"/>
              <a:cs typeface="Arial" panose="020B0604020202090204" pitchFamily="34" charset="0"/>
              <a:sym typeface="+mn-ea"/>
            </a:endParaRPr>
          </a:p>
          <a:p>
            <a:pPr marL="457200" lvl="1" indent="-148590" fontAlgn="auto">
              <a:lnSpc>
                <a:spcPct val="100000"/>
              </a:lnSpc>
              <a:spcBef>
                <a:spcPts val="0"/>
              </a:spcBef>
              <a:spcAft>
                <a:spcPts val="0"/>
              </a:spcAft>
              <a:buNone/>
            </a:pPr>
            <a:r>
              <a:rPr lang="en-US" altLang="x-none" sz="2000" dirty="0">
                <a:solidFill>
                  <a:srgbClr val="0000C8"/>
                </a:solidFill>
                <a:latin typeface="Arial" panose="020B0604020202090204" pitchFamily="34" charset="0"/>
                <a:cs typeface="Arial" panose="020B0604020202090204" pitchFamily="34" charset="0"/>
                <a:sym typeface="+mn-ea"/>
              </a:rPr>
              <a:t>Q</a:t>
            </a:r>
            <a:r>
              <a:rPr lang="en-US" altLang="zh-CN" sz="2000" baseline="-25000" dirty="0">
                <a:solidFill>
                  <a:srgbClr val="0000C8"/>
                </a:solidFill>
                <a:latin typeface="Arial" panose="020B0604020202090204" pitchFamily="34" charset="0"/>
                <a:cs typeface="Arial" panose="020B0604020202090204" pitchFamily="34" charset="0"/>
                <a:sym typeface="+mn-ea"/>
              </a:rPr>
              <a:t>6</a:t>
            </a:r>
            <a:r>
              <a:rPr lang="en-US" altLang="x-none" sz="2000" dirty="0">
                <a:solidFill>
                  <a:srgbClr val="0000C8"/>
                </a:solidFill>
                <a:latin typeface="Arial" panose="020B0604020202090204" pitchFamily="34" charset="0"/>
                <a:cs typeface="Arial" panose="020B0604020202090204" pitchFamily="34" charset="0"/>
                <a:sym typeface="+mn-ea"/>
              </a:rPr>
              <a:t>：</a:t>
            </a:r>
            <a:r>
              <a:rPr lang="zh-CN" altLang="en-US" sz="2000" dirty="0">
                <a:solidFill>
                  <a:srgbClr val="0000C8"/>
                </a:solidFill>
                <a:latin typeface="Arial" panose="020B0604020202090204" pitchFamily="34" charset="0"/>
                <a:cs typeface="Arial" panose="020B0604020202090204" pitchFamily="34" charset="0"/>
                <a:sym typeface="+mn-ea"/>
              </a:rPr>
              <a:t>顾客</a:t>
            </a:r>
            <a:r>
              <a:rPr lang="en-US" altLang="zh-CN" sz="2000" dirty="0">
                <a:solidFill>
                  <a:srgbClr val="0000C8"/>
                </a:solidFill>
                <a:latin typeface="Arial" panose="020B0604020202090204" pitchFamily="34" charset="0"/>
                <a:cs typeface="Arial" panose="020B0604020202090204" pitchFamily="34" charset="0"/>
                <a:sym typeface="+mn-ea"/>
              </a:rPr>
              <a:t>C</a:t>
            </a:r>
            <a:r>
              <a:rPr lang="zh-CN" altLang="en-US" sz="2000" dirty="0">
                <a:solidFill>
                  <a:srgbClr val="0000C8"/>
                </a:solidFill>
                <a:latin typeface="Arial" panose="020B0604020202090204" pitchFamily="34" charset="0"/>
                <a:cs typeface="Arial" panose="020B0604020202090204" pitchFamily="34" charset="0"/>
                <a:sym typeface="+mn-ea"/>
              </a:rPr>
              <a:t>只</a:t>
            </a:r>
            <a:r>
              <a:rPr lang="zh-CN" altLang="x-none" sz="2000" dirty="0">
                <a:solidFill>
                  <a:srgbClr val="0000C8"/>
                </a:solidFill>
                <a:latin typeface="Arial" panose="020B0604020202090204" pitchFamily="34" charset="0"/>
                <a:cs typeface="Arial" panose="020B0604020202090204" pitchFamily="34" charset="0"/>
                <a:sym typeface="+mn-ea"/>
              </a:rPr>
              <a:t>购买过商品</a:t>
            </a:r>
            <a:r>
              <a:rPr lang="en-US" altLang="zh-CN" sz="2000" dirty="0">
                <a:solidFill>
                  <a:srgbClr val="0000C8"/>
                </a:solidFill>
                <a:latin typeface="Arial" panose="020B0604020202090204" pitchFamily="34" charset="0"/>
                <a:cs typeface="Arial" panose="020B0604020202090204" pitchFamily="34" charset="0"/>
                <a:sym typeface="+mn-ea"/>
              </a:rPr>
              <a:t>P 1 </a:t>
            </a:r>
            <a:r>
              <a:rPr lang="zh-CN" altLang="en-US" sz="2000" dirty="0">
                <a:solidFill>
                  <a:srgbClr val="0000C8"/>
                </a:solidFill>
                <a:latin typeface="Arial" panose="020B0604020202090204" pitchFamily="34" charset="0"/>
                <a:cs typeface="Arial" panose="020B0604020202090204" pitchFamily="34" charset="0"/>
                <a:sym typeface="+mn-ea"/>
              </a:rPr>
              <a:t>次；</a:t>
            </a:r>
            <a:endParaRPr lang="zh-CN" altLang="en-US" sz="2000" dirty="0">
              <a:solidFill>
                <a:srgbClr val="0000C8"/>
              </a:solidFill>
              <a:latin typeface="Arial" panose="020B0604020202090204" pitchFamily="34" charset="0"/>
              <a:cs typeface="Arial" panose="020B0604020202090204" pitchFamily="34" charset="0"/>
              <a:sym typeface="+mn-ea"/>
            </a:endParaRPr>
          </a:p>
          <a:p>
            <a:pPr marL="457200" lvl="1" indent="-148590" fontAlgn="auto">
              <a:lnSpc>
                <a:spcPct val="100000"/>
              </a:lnSpc>
              <a:spcBef>
                <a:spcPts val="0"/>
              </a:spcBef>
              <a:spcAft>
                <a:spcPts val="0"/>
              </a:spcAft>
              <a:buNone/>
            </a:pPr>
            <a:r>
              <a:rPr lang="en-US" altLang="zh-CN" sz="2000" dirty="0">
                <a:solidFill>
                  <a:srgbClr val="0000C8"/>
                </a:solidFill>
                <a:latin typeface="Arial" panose="020B0604020202090204" pitchFamily="34" charset="0"/>
                <a:cs typeface="Arial" panose="020B0604020202090204" pitchFamily="34" charset="0"/>
                <a:sym typeface="+mn-ea"/>
              </a:rPr>
              <a:t>Q</a:t>
            </a:r>
            <a:r>
              <a:rPr lang="en-US" altLang="zh-CN" sz="2000" baseline="-25000" dirty="0">
                <a:solidFill>
                  <a:srgbClr val="0000C8"/>
                </a:solidFill>
                <a:latin typeface="Arial" panose="020B0604020202090204" pitchFamily="34" charset="0"/>
                <a:cs typeface="Arial" panose="020B0604020202090204" pitchFamily="34" charset="0"/>
                <a:sym typeface="+mn-ea"/>
              </a:rPr>
              <a:t>7</a:t>
            </a:r>
            <a:r>
              <a:rPr lang="en-US" altLang="zh-CN" sz="2000" dirty="0">
                <a:solidFill>
                  <a:srgbClr val="0000C8"/>
                </a:solidFill>
                <a:latin typeface="Arial" panose="020B0604020202090204" pitchFamily="34" charset="0"/>
                <a:cs typeface="Arial" panose="020B0604020202090204" pitchFamily="34" charset="0"/>
                <a:sym typeface="+mn-ea"/>
              </a:rPr>
              <a:t>：</a:t>
            </a:r>
            <a:r>
              <a:rPr lang="zh-CN" altLang="en-US" sz="2000" dirty="0">
                <a:solidFill>
                  <a:srgbClr val="0000C8"/>
                </a:solidFill>
                <a:latin typeface="Arial" panose="020B0604020202090204" pitchFamily="34" charset="0"/>
                <a:cs typeface="Arial" panose="020B0604020202090204" pitchFamily="34" charset="0"/>
                <a:sym typeface="+mn-ea"/>
              </a:rPr>
              <a:t>顾客</a:t>
            </a:r>
            <a:r>
              <a:rPr lang="en-US" altLang="zh-CN" sz="2000" dirty="0">
                <a:solidFill>
                  <a:srgbClr val="0000C8"/>
                </a:solidFill>
                <a:latin typeface="Arial" panose="020B0604020202090204" pitchFamily="34" charset="0"/>
                <a:cs typeface="Arial" panose="020B0604020202090204" pitchFamily="34" charset="0"/>
                <a:sym typeface="+mn-ea"/>
              </a:rPr>
              <a:t>C</a:t>
            </a:r>
            <a:r>
              <a:rPr lang="zh-CN" altLang="en-US" sz="2000" dirty="0">
                <a:solidFill>
                  <a:srgbClr val="0000C8"/>
                </a:solidFill>
                <a:latin typeface="Arial" panose="020B0604020202090204" pitchFamily="34" charset="0"/>
                <a:cs typeface="Arial" panose="020B0604020202090204" pitchFamily="34" charset="0"/>
                <a:sym typeface="+mn-ea"/>
              </a:rPr>
              <a:t>只</a:t>
            </a:r>
            <a:r>
              <a:rPr lang="zh-CN" altLang="x-none" sz="2000" dirty="0">
                <a:solidFill>
                  <a:srgbClr val="0000C8"/>
                </a:solidFill>
                <a:latin typeface="Arial" panose="020B0604020202090204" pitchFamily="34" charset="0"/>
                <a:cs typeface="Arial" panose="020B0604020202090204" pitchFamily="34" charset="0"/>
                <a:sym typeface="+mn-ea"/>
              </a:rPr>
              <a:t>购买过商品</a:t>
            </a:r>
            <a:r>
              <a:rPr lang="en-US" altLang="zh-CN" sz="2000" dirty="0">
                <a:solidFill>
                  <a:srgbClr val="0000C8"/>
                </a:solidFill>
                <a:latin typeface="Arial" panose="020B0604020202090204" pitchFamily="34" charset="0"/>
                <a:cs typeface="Arial" panose="020B0604020202090204" pitchFamily="34" charset="0"/>
                <a:sym typeface="+mn-ea"/>
              </a:rPr>
              <a:t>P</a:t>
            </a:r>
            <a:r>
              <a:rPr lang="zh-CN" altLang="en-US" sz="2000" dirty="0">
                <a:solidFill>
                  <a:srgbClr val="0000C8"/>
                </a:solidFill>
                <a:latin typeface="Arial" panose="020B0604020202090204" pitchFamily="34" charset="0"/>
                <a:cs typeface="Arial" panose="020B0604020202090204" pitchFamily="34" charset="0"/>
                <a:sym typeface="+mn-ea"/>
              </a:rPr>
              <a:t>这一种商品；</a:t>
            </a:r>
            <a:endParaRPr lang="zh-CN" altLang="en-US" sz="2000" dirty="0">
              <a:solidFill>
                <a:srgbClr val="0000C8"/>
              </a:solidFill>
              <a:latin typeface="Arial" panose="020B0604020202090204" pitchFamily="34" charset="0"/>
              <a:cs typeface="Arial" panose="020B0604020202090204" pitchFamily="34" charset="0"/>
              <a:sym typeface="+mn-ea"/>
            </a:endParaRPr>
          </a:p>
          <a:p>
            <a:pPr marL="514350" indent="-514350" fontAlgn="auto">
              <a:lnSpc>
                <a:spcPct val="100000"/>
              </a:lnSpc>
              <a:spcBef>
                <a:spcPts val="2000"/>
              </a:spcBef>
              <a:spcAft>
                <a:spcPts val="0"/>
              </a:spcAft>
              <a:buAutoNum type="arabicPeriod" startAt="5"/>
            </a:pPr>
            <a:r>
              <a:rPr lang="zh-CN" altLang="en-US" sz="2000">
                <a:solidFill>
                  <a:srgbClr val="0000C8"/>
                </a:solidFill>
                <a:latin typeface="Arial" panose="020B0604020202090204" pitchFamily="34" charset="0"/>
                <a:cs typeface="Arial" panose="020B0604020202090204" pitchFamily="34" charset="0"/>
              </a:rPr>
              <a:t>按照下述要求写出对应的</a:t>
            </a:r>
            <a:r>
              <a:rPr lang="en-US" altLang="zh-CN" sz="2000">
                <a:solidFill>
                  <a:srgbClr val="0000C8"/>
                </a:solidFill>
                <a:latin typeface="Arial" panose="020B0604020202090204" pitchFamily="34" charset="0"/>
                <a:cs typeface="Arial" panose="020B0604020202090204" pitchFamily="34" charset="0"/>
              </a:rPr>
              <a:t>SQL</a:t>
            </a:r>
            <a:r>
              <a:rPr lang="zh-CN" altLang="en-US" sz="2000">
                <a:solidFill>
                  <a:srgbClr val="0000C8"/>
                </a:solidFill>
                <a:latin typeface="Arial" panose="020B0604020202090204" pitchFamily="34" charset="0"/>
                <a:cs typeface="Arial" panose="020B0604020202090204" pitchFamily="34" charset="0"/>
              </a:rPr>
              <a:t>查询语句：</a:t>
            </a:r>
            <a:endParaRPr lang="zh-CN" altLang="en-US" sz="2000">
              <a:solidFill>
                <a:srgbClr val="0000C8"/>
              </a:solidFill>
              <a:latin typeface="Arial" panose="020B0604020202090204" pitchFamily="34" charset="0"/>
              <a:cs typeface="Arial" panose="020B0604020202090204" pitchFamily="34" charset="0"/>
            </a:endParaRPr>
          </a:p>
          <a:p>
            <a:pPr marL="805815" lvl="1" indent="-495300" fontAlgn="auto">
              <a:lnSpc>
                <a:spcPct val="100000"/>
              </a:lnSpc>
              <a:spcBef>
                <a:spcPts val="0"/>
              </a:spcBef>
              <a:spcAft>
                <a:spcPts val="0"/>
              </a:spcAft>
              <a:buNone/>
            </a:pPr>
            <a:r>
              <a:rPr lang="en-US" altLang="zh-CN" sz="2000" dirty="0">
                <a:solidFill>
                  <a:srgbClr val="0000C8"/>
                </a:solidFill>
                <a:latin typeface="Arial" panose="020B0604020202090204" pitchFamily="34" charset="0"/>
                <a:cs typeface="Arial" panose="020B0604020202090204" pitchFamily="34" charset="0"/>
                <a:sym typeface="+mn-ea"/>
              </a:rPr>
              <a:t>Q</a:t>
            </a:r>
            <a:r>
              <a:rPr lang="en-US" altLang="zh-CN" sz="2000" baseline="-25000" dirty="0">
                <a:solidFill>
                  <a:srgbClr val="0000C8"/>
                </a:solidFill>
                <a:latin typeface="Arial" panose="020B0604020202090204" pitchFamily="34" charset="0"/>
                <a:cs typeface="Arial" panose="020B0604020202090204" pitchFamily="34" charset="0"/>
                <a:sym typeface="+mn-ea"/>
              </a:rPr>
              <a:t>8</a:t>
            </a:r>
            <a:r>
              <a:rPr lang="en-US" altLang="zh-CN" sz="2000" dirty="0">
                <a:solidFill>
                  <a:srgbClr val="0000C8"/>
                </a:solidFill>
                <a:latin typeface="Arial" panose="020B0604020202090204" pitchFamily="34" charset="0"/>
                <a:cs typeface="Arial" panose="020B0604020202090204" pitchFamily="34" charset="0"/>
                <a:sym typeface="+mn-ea"/>
              </a:rPr>
              <a:t>：</a:t>
            </a:r>
            <a:r>
              <a:rPr lang="zh-CN" altLang="en-US" sz="2000">
                <a:solidFill>
                  <a:srgbClr val="0000C8"/>
                </a:solidFill>
                <a:latin typeface="Arial" panose="020B0604020202090204" pitchFamily="34" charset="0"/>
                <a:cs typeface="Arial" panose="020B0604020202090204" pitchFamily="34" charset="0"/>
                <a:sym typeface="+mn-ea"/>
              </a:rPr>
              <a:t>在所有有顾客的城市中都被销售过的商品的编号；</a:t>
            </a:r>
            <a:endParaRPr lang="zh-CN" altLang="en-US" sz="2000">
              <a:solidFill>
                <a:srgbClr val="0000C8"/>
              </a:solidFill>
              <a:latin typeface="Arial" panose="020B0604020202090204" pitchFamily="34" charset="0"/>
              <a:cs typeface="Arial" panose="020B0604020202090204" pitchFamily="34" charset="0"/>
              <a:sym typeface="+mn-ea"/>
            </a:endParaRPr>
          </a:p>
          <a:p>
            <a:pPr marL="805815" lvl="1" indent="-495300" fontAlgn="auto">
              <a:lnSpc>
                <a:spcPct val="100000"/>
              </a:lnSpc>
              <a:spcBef>
                <a:spcPts val="0"/>
              </a:spcBef>
              <a:spcAft>
                <a:spcPts val="0"/>
              </a:spcAft>
              <a:buNone/>
            </a:pPr>
            <a:r>
              <a:rPr lang="en-US" altLang="zh-CN" sz="2000" dirty="0">
                <a:solidFill>
                  <a:srgbClr val="0000C8"/>
                </a:solidFill>
                <a:latin typeface="Arial" panose="020B0604020202090204" pitchFamily="34" charset="0"/>
                <a:cs typeface="Arial" panose="020B0604020202090204" pitchFamily="34" charset="0"/>
                <a:sym typeface="+mn-ea"/>
              </a:rPr>
              <a:t>Q</a:t>
            </a:r>
            <a:r>
              <a:rPr lang="en-US" altLang="zh-CN" sz="2000" baseline="-25000" dirty="0">
                <a:solidFill>
                  <a:srgbClr val="0000C8"/>
                </a:solidFill>
                <a:latin typeface="Arial" panose="020B0604020202090204" pitchFamily="34" charset="0"/>
                <a:cs typeface="Arial" panose="020B0604020202090204" pitchFamily="34" charset="0"/>
                <a:sym typeface="+mn-ea"/>
              </a:rPr>
              <a:t>9</a:t>
            </a:r>
            <a:r>
              <a:rPr lang="en-US" altLang="zh-CN" sz="2000" dirty="0">
                <a:solidFill>
                  <a:srgbClr val="0000C8"/>
                </a:solidFill>
                <a:latin typeface="Arial" panose="020B0604020202090204" pitchFamily="34" charset="0"/>
                <a:cs typeface="Arial" panose="020B0604020202090204" pitchFamily="34" charset="0"/>
                <a:sym typeface="+mn-ea"/>
              </a:rPr>
              <a:t>：</a:t>
            </a:r>
            <a:r>
              <a:rPr lang="zh-CN" altLang="en-US" sz="2000" dirty="0">
                <a:solidFill>
                  <a:srgbClr val="0000C8"/>
                </a:solidFill>
                <a:latin typeface="Arial" panose="020B0604020202090204" pitchFamily="34" charset="0"/>
                <a:cs typeface="Arial" panose="020B0604020202090204" pitchFamily="34" charset="0"/>
                <a:sym typeface="+mn-ea"/>
              </a:rPr>
              <a:t>返回每一个顾客的编号及其最后两份订单的订购日期；</a:t>
            </a:r>
            <a:endParaRPr lang="zh-CN" altLang="en-US" sz="2000" dirty="0">
              <a:solidFill>
                <a:srgbClr val="0000C8"/>
              </a:solidFill>
              <a:latin typeface="Arial" panose="020B0604020202090204" pitchFamily="34" charset="0"/>
              <a:cs typeface="Arial" panose="020B0604020202090204" pitchFamily="34" charset="0"/>
              <a:sym typeface="+mn-ea"/>
            </a:endParaRPr>
          </a:p>
          <a:p>
            <a:pPr marL="805815" lvl="1" indent="-495300" fontAlgn="auto">
              <a:lnSpc>
                <a:spcPct val="100000"/>
              </a:lnSpc>
              <a:spcBef>
                <a:spcPts val="0"/>
              </a:spcBef>
              <a:spcAft>
                <a:spcPts val="0"/>
              </a:spcAft>
              <a:buNone/>
            </a:pPr>
            <a:r>
              <a:rPr lang="en-US" altLang="zh-CN" sz="2000" dirty="0">
                <a:solidFill>
                  <a:srgbClr val="0000C8"/>
                </a:solidFill>
                <a:latin typeface="Arial" panose="020B0604020202090204" pitchFamily="34" charset="0"/>
                <a:cs typeface="Arial" panose="020B0604020202090204" pitchFamily="34" charset="0"/>
                <a:sym typeface="+mn-ea"/>
              </a:rPr>
              <a:t>Q</a:t>
            </a:r>
            <a:r>
              <a:rPr lang="en-US" altLang="zh-CN" sz="2000" baseline="-25000" dirty="0">
                <a:solidFill>
                  <a:srgbClr val="0000C8"/>
                </a:solidFill>
                <a:latin typeface="Arial" panose="020B0604020202090204" pitchFamily="34" charset="0"/>
                <a:cs typeface="Arial" panose="020B0604020202090204" pitchFamily="34" charset="0"/>
                <a:sym typeface="+mn-ea"/>
              </a:rPr>
              <a:t>10</a:t>
            </a:r>
            <a:r>
              <a:rPr lang="en-US" altLang="zh-CN" sz="2000" dirty="0">
                <a:solidFill>
                  <a:srgbClr val="0000C8"/>
                </a:solidFill>
                <a:latin typeface="Arial" panose="020B0604020202090204" pitchFamily="34" charset="0"/>
                <a:cs typeface="Arial" panose="020B0604020202090204" pitchFamily="34" charset="0"/>
                <a:sym typeface="+mn-ea"/>
              </a:rPr>
              <a:t>：</a:t>
            </a:r>
            <a:r>
              <a:rPr lang="zh-CN" altLang="en-US" sz="2000" dirty="0">
                <a:solidFill>
                  <a:srgbClr val="0000C8"/>
                </a:solidFill>
                <a:latin typeface="Arial" panose="020B0604020202090204" pitchFamily="34" charset="0"/>
                <a:cs typeface="Arial" panose="020B0604020202090204" pitchFamily="34" charset="0"/>
                <a:sym typeface="+mn-ea"/>
              </a:rPr>
              <a:t>查询满足下述条件的供应商</a:t>
            </a:r>
            <a:r>
              <a:rPr lang="zh-CN" altLang="en-US" sz="2000">
                <a:solidFill>
                  <a:srgbClr val="0000C8"/>
                </a:solidFill>
                <a:latin typeface="Arial" panose="020B0604020202090204" pitchFamily="34" charset="0"/>
                <a:cs typeface="Arial" panose="020B0604020202090204" pitchFamily="34" charset="0"/>
              </a:rPr>
              <a:t>编号和名称：向所有折扣</a:t>
            </a:r>
            <a:r>
              <a:rPr lang="en-US" altLang="zh-CN" sz="2000">
                <a:solidFill>
                  <a:srgbClr val="0000C8"/>
                </a:solidFill>
                <a:latin typeface="Arial" panose="020B0604020202090204" pitchFamily="34" charset="0"/>
                <a:cs typeface="Arial" panose="020B0604020202090204" pitchFamily="34" charset="0"/>
              </a:rPr>
              <a:t>discnt</a:t>
            </a:r>
            <a:r>
              <a:rPr lang="zh-CN" altLang="zh-CN" sz="2000">
                <a:solidFill>
                  <a:srgbClr val="0000C8"/>
                </a:solidFill>
                <a:latin typeface="Arial" panose="020B0604020202090204" pitchFamily="34" charset="0"/>
                <a:cs typeface="Arial" panose="020B0604020202090204" pitchFamily="34" charset="0"/>
              </a:rPr>
              <a:t>最高的顾客都销售过商品；</a:t>
            </a:r>
            <a:endParaRPr lang="zh-CN" altLang="zh-CN" sz="2000">
              <a:solidFill>
                <a:srgbClr val="0000C8"/>
              </a:solidFill>
              <a:latin typeface="Arial" panose="020B0604020202090204" pitchFamily="34" charset="0"/>
              <a:cs typeface="Arial" panose="020B0604020202090204" pitchFamily="34" charset="0"/>
            </a:endParaRPr>
          </a:p>
          <a:p>
            <a:pPr marL="805815" lvl="1" indent="-495300" fontAlgn="auto">
              <a:lnSpc>
                <a:spcPct val="100000"/>
              </a:lnSpc>
              <a:spcBef>
                <a:spcPts val="0"/>
              </a:spcBef>
              <a:spcAft>
                <a:spcPts val="0"/>
              </a:spcAft>
              <a:buNone/>
            </a:pPr>
            <a:r>
              <a:rPr lang="en-US" altLang="zh-CN" sz="2000" dirty="0">
                <a:solidFill>
                  <a:srgbClr val="0000C8"/>
                </a:solidFill>
                <a:latin typeface="Arial" panose="020B0604020202090204" pitchFamily="34" charset="0"/>
                <a:cs typeface="Arial" panose="020B0604020202090204" pitchFamily="34" charset="0"/>
                <a:sym typeface="+mn-ea"/>
              </a:rPr>
              <a:t>Q</a:t>
            </a:r>
            <a:r>
              <a:rPr lang="en-US" altLang="zh-CN" sz="2000" baseline="-25000" dirty="0">
                <a:solidFill>
                  <a:srgbClr val="0000C8"/>
                </a:solidFill>
                <a:latin typeface="Arial" panose="020B0604020202090204" pitchFamily="34" charset="0"/>
                <a:cs typeface="Arial" panose="020B0604020202090204" pitchFamily="34" charset="0"/>
                <a:sym typeface="+mn-ea"/>
              </a:rPr>
              <a:t>11</a:t>
            </a:r>
            <a:r>
              <a:rPr lang="zh-CN" altLang="en-US" sz="2000">
                <a:solidFill>
                  <a:srgbClr val="0000C8"/>
                </a:solidFill>
                <a:latin typeface="Arial" panose="020B0604020202090204" pitchFamily="34" charset="0"/>
                <a:cs typeface="Arial" panose="020B0604020202090204" pitchFamily="34" charset="0"/>
                <a:sym typeface="+mn-ea"/>
              </a:rPr>
              <a:t>：</a:t>
            </a:r>
            <a:r>
              <a:rPr lang="zh-CN" altLang="en-US" sz="2000" dirty="0">
                <a:solidFill>
                  <a:srgbClr val="0000C8"/>
                </a:solidFill>
                <a:latin typeface="Arial" panose="020B0604020202090204" pitchFamily="34" charset="0"/>
                <a:cs typeface="Arial" panose="020B0604020202090204" pitchFamily="34" charset="0"/>
                <a:sym typeface="+mn-ea"/>
              </a:rPr>
              <a:t>检索符合下述条件的商品的编号：至少有一个顾客通过与该顾客位于同一个城市的供应商订购过该商品；</a:t>
            </a:r>
            <a:endParaRPr lang="zh-CN" altLang="en-US" sz="2000" dirty="0">
              <a:solidFill>
                <a:srgbClr val="0000C8"/>
              </a:solidFill>
              <a:latin typeface="Arial" panose="020B0604020202090204" pitchFamily="34" charset="0"/>
              <a:cs typeface="Arial" panose="020B0604020202090204" pitchFamily="34" charset="0"/>
              <a:sym typeface="+mn-ea"/>
            </a:endParaRPr>
          </a:p>
          <a:p>
            <a:pPr marL="805815" lvl="1" indent="-495300" fontAlgn="auto">
              <a:lnSpc>
                <a:spcPct val="100000"/>
              </a:lnSpc>
              <a:spcBef>
                <a:spcPts val="0"/>
              </a:spcBef>
              <a:spcAft>
                <a:spcPts val="0"/>
              </a:spcAft>
              <a:buNone/>
            </a:pPr>
            <a:r>
              <a:rPr lang="zh-CN" altLang="en-US" sz="2000" dirty="0">
                <a:solidFill>
                  <a:srgbClr val="0000C8"/>
                </a:solidFill>
                <a:latin typeface="Arial" panose="020B0604020202090204" pitchFamily="34" charset="0"/>
                <a:cs typeface="Arial" panose="020B0604020202090204" pitchFamily="34" charset="0"/>
                <a:sym typeface="+mn-ea"/>
              </a:rPr>
              <a:t>Q</a:t>
            </a:r>
            <a:r>
              <a:rPr lang="en-US" altLang="zh-CN" sz="2000" baseline="-25000" dirty="0">
                <a:solidFill>
                  <a:srgbClr val="0000C8"/>
                </a:solidFill>
                <a:latin typeface="Arial" panose="020B0604020202090204" pitchFamily="34" charset="0"/>
                <a:cs typeface="Arial" panose="020B0604020202090204" pitchFamily="34" charset="0"/>
                <a:sym typeface="+mn-ea"/>
              </a:rPr>
              <a:t>12</a:t>
            </a:r>
            <a:r>
              <a:rPr lang="zh-CN" altLang="en-US" sz="2000">
                <a:solidFill>
                  <a:srgbClr val="0000C8"/>
                </a:solidFill>
                <a:latin typeface="Arial" panose="020B0604020202090204" pitchFamily="34" charset="0"/>
                <a:cs typeface="Arial" panose="020B0604020202090204" pitchFamily="34" charset="0"/>
                <a:sym typeface="+mn-ea"/>
              </a:rPr>
              <a:t>：</a:t>
            </a:r>
            <a:r>
              <a:rPr lang="zh-CN" altLang="en-US" sz="2000" dirty="0">
                <a:solidFill>
                  <a:srgbClr val="0000C8"/>
                </a:solidFill>
                <a:latin typeface="Arial" panose="020B0604020202090204" pitchFamily="34" charset="0"/>
                <a:cs typeface="Arial" panose="020B0604020202090204" pitchFamily="34" charset="0"/>
                <a:sym typeface="+mn-ea"/>
              </a:rPr>
              <a:t>检索为居住在南京市的所有顾客订购过同一种商品的供应商的编号；</a:t>
            </a:r>
            <a:endParaRPr lang="zh-CN" altLang="en-US" sz="2000" dirty="0">
              <a:solidFill>
                <a:srgbClr val="0000C8"/>
              </a:solidFill>
              <a:latin typeface="Arial" panose="020B0604020202090204" pitchFamily="34" charset="0"/>
              <a:cs typeface="Arial" panose="020B0604020202090204" pitchFamily="34" charset="0"/>
              <a:sym typeface="+mn-ea"/>
            </a:endParaRPr>
          </a:p>
        </p:txBody>
      </p:sp>
      <p:sp>
        <p:nvSpPr>
          <p:cNvPr id="6" name="灯片编号占位符 5"/>
          <p:cNvSpPr>
            <a:spLocks noGrp="1"/>
          </p:cNvSpPr>
          <p:nvPr>
            <p:ph type="sldNum" sz="quarter" idx="12"/>
          </p:nvPr>
        </p:nvSpPr>
        <p:spPr/>
        <p:txBody>
          <a:bodyPr/>
          <a:p>
            <a:fld id="{565CE74E-AB26-4998-AD42-012C4C1AD076}" type="slidenum">
              <a:rPr lang="zh-CN" altLang="en-US" smtClean="0"/>
            </a:fld>
            <a:endParaRPr lang="zh-CN" altLang="en-US"/>
          </a:p>
        </p:txBody>
      </p:sp>
      <p:sp>
        <p:nvSpPr>
          <p:cNvPr id="7" name="页脚占位符 6"/>
          <p:cNvSpPr>
            <a:spLocks noGrp="1"/>
          </p:cNvSpPr>
          <p:nvPr>
            <p:ph type="ftr" sz="quarter" idx="11"/>
          </p:nvPr>
        </p:nvSpPr>
        <p:spPr/>
        <p:txBody>
          <a:bodyPr/>
          <a:p>
            <a:r>
              <a:rPr lang="zh-CN" altLang="en-US"/>
              <a:t>ch03_SQL语言_复习思考题</a:t>
            </a:r>
            <a:endParaRPr lang="zh-CN" altLang="en-US"/>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复习思考题</a:t>
            </a:r>
            <a:r>
              <a:rPr lang="en-US" altLang="zh-CN"/>
              <a:t> 4</a:t>
            </a:r>
            <a:endParaRPr lang="en-US" altLang="zh-CN"/>
          </a:p>
        </p:txBody>
      </p:sp>
      <p:sp>
        <p:nvSpPr>
          <p:cNvPr id="3" name="内容占位符 2"/>
          <p:cNvSpPr>
            <a:spLocks noGrp="1"/>
          </p:cNvSpPr>
          <p:nvPr>
            <p:ph idx="1"/>
          </p:nvPr>
        </p:nvSpPr>
        <p:spPr/>
        <p:txBody>
          <a:bodyPr/>
          <a:p>
            <a:pPr marL="457200" indent="-457200">
              <a:lnSpc>
                <a:spcPct val="100000"/>
              </a:lnSpc>
              <a:spcBef>
                <a:spcPct val="0"/>
              </a:spcBef>
              <a:buFont typeface="+mj-lt"/>
              <a:buAutoNum type="arabicPeriod" startAt="8"/>
            </a:pPr>
            <a:r>
              <a:rPr lang="zh-CN" altLang="en-US" sz="2000">
                <a:solidFill>
                  <a:srgbClr val="0000CC"/>
                </a:solidFill>
                <a:latin typeface="Arial" panose="020B0604020202090204" pitchFamily="34" charset="0"/>
                <a:cs typeface="Arial" panose="020B0604020202090204" pitchFamily="34" charset="0"/>
                <a:sym typeface="+mn-ea"/>
              </a:rPr>
              <a:t>在使用字符匹配查询谓词</a:t>
            </a:r>
            <a:r>
              <a:rPr lang="en-US" altLang="zh-CN" sz="2000">
                <a:solidFill>
                  <a:srgbClr val="0000CC"/>
                </a:solidFill>
                <a:latin typeface="Arial" panose="020B0604020202090204" pitchFamily="34" charset="0"/>
                <a:cs typeface="Arial" panose="020B0604020202090204" pitchFamily="34" charset="0"/>
                <a:sym typeface="+mn-ea"/>
              </a:rPr>
              <a:t>like</a:t>
            </a:r>
            <a:r>
              <a:rPr lang="zh-CN" altLang="en-US" sz="2000">
                <a:solidFill>
                  <a:srgbClr val="0000CC"/>
                </a:solidFill>
                <a:latin typeface="Arial" panose="020B0604020202090204" pitchFamily="34" charset="0"/>
                <a:cs typeface="Arial" panose="020B0604020202090204" pitchFamily="34" charset="0"/>
                <a:sym typeface="+mn-ea"/>
              </a:rPr>
              <a:t>时，</a:t>
            </a:r>
            <a:r>
              <a:rPr lang="en-US" altLang="zh-CN" sz="2000">
                <a:solidFill>
                  <a:srgbClr val="0000CC"/>
                </a:solidFill>
                <a:latin typeface="Arial" panose="020B0604020202090204" pitchFamily="34" charset="0"/>
                <a:cs typeface="Arial" panose="020B0604020202090204" pitchFamily="34" charset="0"/>
                <a:sym typeface="+mn-ea"/>
              </a:rPr>
              <a:t>&lt;</a:t>
            </a:r>
            <a:r>
              <a:rPr lang="zh-CN" altLang="en-US" sz="2000">
                <a:solidFill>
                  <a:srgbClr val="0000CC"/>
                </a:solidFill>
                <a:latin typeface="Arial" panose="020B0604020202090204" pitchFamily="34" charset="0"/>
                <a:cs typeface="Arial" panose="020B0604020202090204" pitchFamily="34" charset="0"/>
                <a:sym typeface="+mn-ea"/>
              </a:rPr>
              <a:t>匹配串</a:t>
            </a:r>
            <a:r>
              <a:rPr lang="en-US" altLang="zh-CN" sz="2000">
                <a:solidFill>
                  <a:srgbClr val="0000CC"/>
                </a:solidFill>
                <a:latin typeface="Arial" panose="020B0604020202090204" pitchFamily="34" charset="0"/>
                <a:cs typeface="Arial" panose="020B0604020202090204" pitchFamily="34" charset="0"/>
                <a:sym typeface="+mn-ea"/>
              </a:rPr>
              <a:t>&gt;</a:t>
            </a:r>
            <a:r>
              <a:rPr lang="zh-CN" altLang="en-US" sz="2000">
                <a:solidFill>
                  <a:srgbClr val="0000CC"/>
                </a:solidFill>
                <a:latin typeface="Arial" panose="020B0604020202090204" pitchFamily="34" charset="0"/>
                <a:cs typeface="Arial" panose="020B0604020202090204" pitchFamily="34" charset="0"/>
                <a:sym typeface="+mn-ea"/>
              </a:rPr>
              <a:t>中可以使用哪些通配符？它们的含义分别是什么？</a:t>
            </a:r>
            <a:endParaRPr lang="zh-CN" altLang="en-US" sz="2000">
              <a:solidFill>
                <a:srgbClr val="0000CC"/>
              </a:solidFill>
              <a:latin typeface="Arial" panose="020B0604020202090204" pitchFamily="34" charset="0"/>
              <a:cs typeface="Arial" panose="020B0604020202090204" pitchFamily="34" charset="0"/>
              <a:sym typeface="+mn-ea"/>
            </a:endParaRPr>
          </a:p>
          <a:p>
            <a:pPr marL="381635" indent="-381635">
              <a:lnSpc>
                <a:spcPct val="100000"/>
              </a:lnSpc>
              <a:spcBef>
                <a:spcPct val="0"/>
              </a:spcBef>
              <a:buFont typeface="+mj-lt"/>
              <a:buAutoNum type="arabicPeriod" startAt="8"/>
            </a:pPr>
            <a:endParaRPr lang="zh-CN" altLang="en-US" sz="2000">
              <a:solidFill>
                <a:srgbClr val="0000CC"/>
              </a:solidFill>
              <a:latin typeface="Arial" panose="020B0604020202090204" pitchFamily="34" charset="0"/>
              <a:cs typeface="Arial" panose="020B0604020202090204" pitchFamily="34" charset="0"/>
            </a:endParaRPr>
          </a:p>
          <a:p>
            <a:pPr marL="331470" indent="-331470">
              <a:lnSpc>
                <a:spcPct val="100000"/>
              </a:lnSpc>
              <a:spcBef>
                <a:spcPts val="500"/>
              </a:spcBef>
              <a:buFont typeface="+mj-lt"/>
              <a:buAutoNum type="arabicPeriod" startAt="8"/>
            </a:pPr>
            <a:r>
              <a:rPr lang="zh-CN" altLang="en-US" sz="2000">
                <a:solidFill>
                  <a:srgbClr val="0000CC"/>
                </a:solidFill>
                <a:latin typeface="Arial" panose="020B0604020202090204" pitchFamily="34" charset="0"/>
                <a:cs typeface="Arial" panose="020B0604020202090204" pitchFamily="34" charset="0"/>
                <a:sym typeface="+mn-ea"/>
              </a:rPr>
              <a:t>关于聚集函数</a:t>
            </a:r>
            <a:endParaRPr lang="zh-CN" altLang="en-US" sz="2000">
              <a:solidFill>
                <a:srgbClr val="0000CC"/>
              </a:solidFill>
              <a:latin typeface="Arial" panose="020B0604020202090204" pitchFamily="34" charset="0"/>
              <a:cs typeface="Arial" panose="020B0604020202090204" pitchFamily="34" charset="0"/>
            </a:endParaRPr>
          </a:p>
          <a:p>
            <a:pPr marL="914400" lvl="1" indent="-457200">
              <a:lnSpc>
                <a:spcPct val="100000"/>
              </a:lnSpc>
              <a:spcBef>
                <a:spcPct val="0"/>
              </a:spcBef>
              <a:buFont typeface="+mj-ea"/>
              <a:buAutoNum type="circleNumDbPlain"/>
            </a:pPr>
            <a:r>
              <a:rPr lang="zh-CN" altLang="en-US" sz="2000">
                <a:solidFill>
                  <a:srgbClr val="0000CC"/>
                </a:solidFill>
                <a:latin typeface="Arial" panose="020B0604020202090204" pitchFamily="34" charset="0"/>
                <a:cs typeface="Arial" panose="020B0604020202090204" pitchFamily="34" charset="0"/>
                <a:sym typeface="+mn-ea"/>
              </a:rPr>
              <a:t>在</a:t>
            </a:r>
            <a:r>
              <a:rPr lang="en-US" altLang="zh-CN" sz="2000">
                <a:solidFill>
                  <a:srgbClr val="0000CC"/>
                </a:solidFill>
                <a:latin typeface="Arial" panose="020B0604020202090204" pitchFamily="34" charset="0"/>
                <a:cs typeface="Arial" panose="020B0604020202090204" pitchFamily="34" charset="0"/>
                <a:sym typeface="+mn-ea"/>
              </a:rPr>
              <a:t>SQL</a:t>
            </a:r>
            <a:r>
              <a:rPr lang="zh-CN" altLang="en-US" sz="2000">
                <a:solidFill>
                  <a:srgbClr val="0000CC"/>
                </a:solidFill>
                <a:latin typeface="Arial" panose="020B0604020202090204" pitchFamily="34" charset="0"/>
                <a:cs typeface="Arial" panose="020B0604020202090204" pitchFamily="34" charset="0"/>
                <a:sym typeface="+mn-ea"/>
              </a:rPr>
              <a:t>语言中，引入了哪几种</a:t>
            </a:r>
            <a:r>
              <a:rPr lang="zh-CN" altLang="en-US" sz="2000">
                <a:solidFill>
                  <a:srgbClr val="0000CC"/>
                </a:solidFill>
                <a:latin typeface="Arial" panose="020B0604020202090204" pitchFamily="34" charset="0"/>
                <a:cs typeface="Arial" panose="020B0604020202090204" pitchFamily="34" charset="0"/>
                <a:sym typeface="+mn-ea"/>
              </a:rPr>
              <a:t>聚集</a:t>
            </a:r>
            <a:r>
              <a:rPr lang="zh-CN" altLang="en-US" sz="2000">
                <a:solidFill>
                  <a:srgbClr val="0000CC"/>
                </a:solidFill>
                <a:latin typeface="Arial" panose="020B0604020202090204" pitchFamily="34" charset="0"/>
                <a:cs typeface="Arial" panose="020B0604020202090204" pitchFamily="34" charset="0"/>
                <a:sym typeface="+mn-ea"/>
              </a:rPr>
              <a:t>函数？</a:t>
            </a:r>
            <a:endParaRPr lang="zh-CN" altLang="en-US" sz="2000">
              <a:solidFill>
                <a:srgbClr val="0000CC"/>
              </a:solidFill>
              <a:latin typeface="Arial" panose="020B0604020202090204" pitchFamily="34" charset="0"/>
              <a:cs typeface="Arial" panose="020B0604020202090204" pitchFamily="34" charset="0"/>
            </a:endParaRPr>
          </a:p>
          <a:p>
            <a:pPr marL="914400" lvl="1" indent="-457200">
              <a:lnSpc>
                <a:spcPct val="100000"/>
              </a:lnSpc>
              <a:spcBef>
                <a:spcPct val="0"/>
              </a:spcBef>
              <a:buFont typeface="+mj-ea"/>
              <a:buAutoNum type="circleNumDbPlain"/>
            </a:pPr>
            <a:r>
              <a:rPr lang="zh-CN" altLang="en-US" sz="2000">
                <a:solidFill>
                  <a:srgbClr val="0000CC"/>
                </a:solidFill>
                <a:latin typeface="Arial" panose="020B0604020202090204" pitchFamily="34" charset="0"/>
                <a:cs typeface="Arial" panose="020B0604020202090204" pitchFamily="34" charset="0"/>
                <a:sym typeface="+mn-ea"/>
              </a:rPr>
              <a:t>哪一种</a:t>
            </a:r>
            <a:r>
              <a:rPr lang="zh-CN" altLang="en-US" sz="2000">
                <a:solidFill>
                  <a:srgbClr val="0000CC"/>
                </a:solidFill>
                <a:latin typeface="Arial" panose="020B0604020202090204" pitchFamily="34" charset="0"/>
                <a:cs typeface="Arial" panose="020B0604020202090204" pitchFamily="34" charset="0"/>
                <a:sym typeface="+mn-ea"/>
              </a:rPr>
              <a:t>聚集</a:t>
            </a:r>
            <a:r>
              <a:rPr lang="zh-CN" altLang="en-US" sz="2000">
                <a:solidFill>
                  <a:srgbClr val="0000CC"/>
                </a:solidFill>
                <a:latin typeface="Arial" panose="020B0604020202090204" pitchFamily="34" charset="0"/>
                <a:cs typeface="Arial" panose="020B0604020202090204" pitchFamily="34" charset="0"/>
                <a:sym typeface="+mn-ea"/>
              </a:rPr>
              <a:t>函数的统计结果是与被统计对象的元素类型无关？</a:t>
            </a:r>
            <a:endParaRPr lang="zh-CN" altLang="en-US" sz="2000">
              <a:solidFill>
                <a:srgbClr val="0000CC"/>
              </a:solidFill>
              <a:latin typeface="Arial" panose="020B0604020202090204" pitchFamily="34" charset="0"/>
              <a:cs typeface="Arial" panose="020B0604020202090204" pitchFamily="34" charset="0"/>
            </a:endParaRPr>
          </a:p>
          <a:p>
            <a:pPr marL="914400" lvl="1" indent="-457200">
              <a:lnSpc>
                <a:spcPct val="100000"/>
              </a:lnSpc>
              <a:spcBef>
                <a:spcPct val="0"/>
              </a:spcBef>
              <a:buFont typeface="+mj-ea"/>
              <a:buAutoNum type="circleNumDbPlain"/>
            </a:pPr>
            <a:r>
              <a:rPr lang="zh-CN" altLang="en-US" sz="2000">
                <a:solidFill>
                  <a:srgbClr val="0000CC"/>
                </a:solidFill>
                <a:latin typeface="Arial" panose="020B0604020202090204" pitchFamily="34" charset="0"/>
                <a:cs typeface="Arial" panose="020B0604020202090204" pitchFamily="34" charset="0"/>
                <a:sym typeface="+mn-ea"/>
              </a:rPr>
              <a:t>在被统计的对象集合中存在取值为空值的元素时，对</a:t>
            </a:r>
            <a:r>
              <a:rPr lang="zh-CN" altLang="en-US" sz="2000">
                <a:solidFill>
                  <a:srgbClr val="0000CC"/>
                </a:solidFill>
                <a:latin typeface="Arial" panose="020B0604020202090204" pitchFamily="34" charset="0"/>
                <a:cs typeface="Arial" panose="020B0604020202090204" pitchFamily="34" charset="0"/>
                <a:sym typeface="+mn-ea"/>
              </a:rPr>
              <a:t>聚集函数</a:t>
            </a:r>
            <a:r>
              <a:rPr lang="zh-CN" altLang="en-US" sz="2000">
                <a:solidFill>
                  <a:srgbClr val="0000CC"/>
                </a:solidFill>
                <a:latin typeface="Arial" panose="020B0604020202090204" pitchFamily="34" charset="0"/>
                <a:cs typeface="Arial" panose="020B0604020202090204" pitchFamily="34" charset="0"/>
                <a:sym typeface="+mn-ea"/>
              </a:rPr>
              <a:t>的计算将会产生什么样的影响？</a:t>
            </a:r>
            <a:endParaRPr lang="zh-CN" altLang="en-US" sz="2000">
              <a:solidFill>
                <a:srgbClr val="0000CC"/>
              </a:solidFill>
              <a:latin typeface="Arial" panose="020B0604020202090204" pitchFamily="34" charset="0"/>
              <a:cs typeface="Arial" panose="020B0604020202090204" pitchFamily="34" charset="0"/>
            </a:endParaRPr>
          </a:p>
          <a:p>
            <a:pPr marL="914400" lvl="1" indent="-457200">
              <a:lnSpc>
                <a:spcPct val="100000"/>
              </a:lnSpc>
              <a:spcBef>
                <a:spcPct val="0"/>
              </a:spcBef>
              <a:buFont typeface="+mj-ea"/>
              <a:buAutoNum type="circleNumDbPlain"/>
            </a:pPr>
            <a:r>
              <a:rPr lang="en-US" altLang="zh-CN" sz="2000">
                <a:solidFill>
                  <a:srgbClr val="0000CC"/>
                </a:solidFill>
                <a:latin typeface="Arial" panose="020B0604020202090204" pitchFamily="34" charset="0"/>
                <a:cs typeface="Arial" panose="020B0604020202090204" pitchFamily="34" charset="0"/>
                <a:sym typeface="+mn-ea"/>
              </a:rPr>
              <a:t>count(*)</a:t>
            </a:r>
            <a:r>
              <a:rPr lang="zh-CN" altLang="en-US" sz="2000">
                <a:solidFill>
                  <a:srgbClr val="0000CC"/>
                </a:solidFill>
                <a:latin typeface="Arial" panose="020B0604020202090204" pitchFamily="34" charset="0"/>
                <a:cs typeface="Arial" panose="020B0604020202090204" pitchFamily="34" charset="0"/>
                <a:sym typeface="+mn-ea"/>
              </a:rPr>
              <a:t>、</a:t>
            </a:r>
            <a:r>
              <a:rPr lang="en-US" altLang="zh-CN" sz="2000">
                <a:solidFill>
                  <a:srgbClr val="0000CC"/>
                </a:solidFill>
                <a:latin typeface="Arial" panose="020B0604020202090204" pitchFamily="34" charset="0"/>
                <a:cs typeface="Arial" panose="020B0604020202090204" pitchFamily="34" charset="0"/>
                <a:sym typeface="+mn-ea"/>
              </a:rPr>
              <a:t>count(cid)</a:t>
            </a:r>
            <a:r>
              <a:rPr lang="zh-CN" altLang="en-US" sz="2000">
                <a:solidFill>
                  <a:srgbClr val="0000CC"/>
                </a:solidFill>
                <a:latin typeface="Arial" panose="020B0604020202090204" pitchFamily="34" charset="0"/>
                <a:cs typeface="Arial" panose="020B0604020202090204" pitchFamily="34" charset="0"/>
                <a:sym typeface="+mn-ea"/>
              </a:rPr>
              <a:t>、</a:t>
            </a:r>
            <a:r>
              <a:rPr lang="en-US" altLang="zh-CN" sz="2000">
                <a:solidFill>
                  <a:srgbClr val="0000CC"/>
                </a:solidFill>
                <a:latin typeface="Arial" panose="020B0604020202090204" pitchFamily="34" charset="0"/>
                <a:cs typeface="Arial" panose="020B0604020202090204" pitchFamily="34" charset="0"/>
                <a:sym typeface="+mn-ea"/>
              </a:rPr>
              <a:t>count(distinct cid)</a:t>
            </a:r>
            <a:r>
              <a:rPr lang="zh-CN" altLang="en-US" sz="2000">
                <a:solidFill>
                  <a:srgbClr val="0000CC"/>
                </a:solidFill>
                <a:latin typeface="Arial" panose="020B0604020202090204" pitchFamily="34" charset="0"/>
                <a:cs typeface="Arial" panose="020B0604020202090204" pitchFamily="34" charset="0"/>
                <a:sym typeface="+mn-ea"/>
              </a:rPr>
              <a:t>三者之间有什么区别？</a:t>
            </a:r>
            <a:endParaRPr lang="zh-CN" altLang="en-US" sz="2000">
              <a:solidFill>
                <a:srgbClr val="0000CC"/>
              </a:solidFill>
              <a:latin typeface="Arial" panose="020B0604020202090204" pitchFamily="34" charset="0"/>
              <a:cs typeface="Arial" panose="020B0604020202090204" pitchFamily="34" charset="0"/>
              <a:sym typeface="+mn-ea"/>
            </a:endParaRPr>
          </a:p>
          <a:p>
            <a:pPr marL="914400" lvl="1" indent="-457200">
              <a:lnSpc>
                <a:spcPct val="100000"/>
              </a:lnSpc>
              <a:spcBef>
                <a:spcPct val="0"/>
              </a:spcBef>
              <a:buFont typeface="+mj-ea"/>
              <a:buAutoNum type="circleNumDbPlain"/>
            </a:pPr>
            <a:endParaRPr lang="zh-CN" altLang="en-US" sz="2000">
              <a:solidFill>
                <a:srgbClr val="0000CC"/>
              </a:solidFill>
              <a:latin typeface="Arial" panose="020B0604020202090204" pitchFamily="34" charset="0"/>
              <a:cs typeface="Arial" panose="020B0604020202090204" pitchFamily="34" charset="0"/>
              <a:sym typeface="+mn-ea"/>
            </a:endParaRPr>
          </a:p>
          <a:p>
            <a:pPr marL="457200" lvl="0" indent="-457200" algn="l">
              <a:lnSpc>
                <a:spcPct val="100000"/>
              </a:lnSpc>
              <a:spcBef>
                <a:spcPts val="500"/>
              </a:spcBef>
              <a:buFont typeface="+mj-lt"/>
              <a:buAutoNum type="arabicPeriod" startAt="8"/>
            </a:pPr>
            <a:r>
              <a:rPr lang="zh-CN" altLang="en-US" sz="2000">
                <a:solidFill>
                  <a:srgbClr val="0000CC"/>
                </a:solidFill>
                <a:latin typeface="Arial" panose="020B0604020202090204" pitchFamily="34" charset="0"/>
                <a:cs typeface="Arial" panose="020B0604020202090204" pitchFamily="34" charset="0"/>
                <a:sym typeface="+mn-ea"/>
              </a:rPr>
              <a:t>在使用到group by子句的</a:t>
            </a:r>
            <a:r>
              <a:rPr lang="en-US" altLang="zh-CN" sz="2000">
                <a:solidFill>
                  <a:srgbClr val="0000CC"/>
                </a:solidFill>
                <a:latin typeface="Arial" panose="020B0604020202090204" pitchFamily="34" charset="0"/>
                <a:cs typeface="Arial" panose="020B0604020202090204" pitchFamily="34" charset="0"/>
                <a:sym typeface="+mn-ea"/>
              </a:rPr>
              <a:t>SQL</a:t>
            </a:r>
            <a:r>
              <a:rPr lang="zh-CN" altLang="en-US" sz="2000">
                <a:solidFill>
                  <a:srgbClr val="0000CC"/>
                </a:solidFill>
                <a:latin typeface="Arial" panose="020B0604020202090204" pitchFamily="34" charset="0"/>
                <a:cs typeface="Arial" panose="020B0604020202090204" pitchFamily="34" charset="0"/>
                <a:sym typeface="+mn-ea"/>
              </a:rPr>
              <a:t>查询中，目标列可以由哪些部分组成？</a:t>
            </a:r>
            <a:endParaRPr lang="zh-CN" altLang="en-US" sz="2000">
              <a:solidFill>
                <a:srgbClr val="0000CC"/>
              </a:solidFill>
              <a:latin typeface="Arial" panose="020B0604020202090204" pitchFamily="34" charset="0"/>
              <a:cs typeface="Arial" panose="020B0604020202090204" pitchFamily="34" charset="0"/>
              <a:sym typeface="+mn-ea"/>
            </a:endParaRPr>
          </a:p>
          <a:p>
            <a:pPr marL="457200" lvl="0" indent="-457200" algn="l">
              <a:lnSpc>
                <a:spcPct val="100000"/>
              </a:lnSpc>
              <a:spcBef>
                <a:spcPts val="500"/>
              </a:spcBef>
              <a:buFont typeface="+mj-lt"/>
              <a:buAutoNum type="arabicPeriod" startAt="8"/>
            </a:pPr>
            <a:endParaRPr lang="zh-CN" altLang="en-US" sz="2000">
              <a:solidFill>
                <a:srgbClr val="0000CC"/>
              </a:solidFill>
              <a:latin typeface="Arial" panose="020B0604020202090204" pitchFamily="34" charset="0"/>
              <a:cs typeface="Arial" panose="020B0604020202090204" pitchFamily="34" charset="0"/>
              <a:sym typeface="+mn-ea"/>
            </a:endParaRPr>
          </a:p>
          <a:p>
            <a:pPr marL="457200" lvl="0" indent="-457200" algn="l">
              <a:lnSpc>
                <a:spcPct val="100000"/>
              </a:lnSpc>
              <a:spcBef>
                <a:spcPts val="500"/>
              </a:spcBef>
              <a:buFont typeface="+mj-lt"/>
              <a:buAutoNum type="arabicPeriod" startAt="8"/>
            </a:pPr>
            <a:r>
              <a:rPr lang="zh-CN" altLang="en-US" sz="2000">
                <a:solidFill>
                  <a:srgbClr val="0000CC"/>
                </a:solidFill>
                <a:latin typeface="Arial" panose="020B0604020202090204" pitchFamily="34" charset="0"/>
                <a:cs typeface="Arial" panose="020B0604020202090204" pitchFamily="34" charset="0"/>
                <a:sym typeface="+mn-ea"/>
              </a:rPr>
              <a:t>关于视图（</a:t>
            </a:r>
            <a:r>
              <a:rPr lang="en-US" altLang="zh-CN" sz="2000">
                <a:solidFill>
                  <a:srgbClr val="0000CC"/>
                </a:solidFill>
                <a:latin typeface="Arial" panose="020B0604020202090204" pitchFamily="34" charset="0"/>
                <a:cs typeface="Arial" panose="020B0604020202090204" pitchFamily="34" charset="0"/>
                <a:sym typeface="+mn-ea"/>
              </a:rPr>
              <a:t>view</a:t>
            </a:r>
            <a:r>
              <a:rPr lang="zh-CN" altLang="en-US" sz="2000">
                <a:solidFill>
                  <a:srgbClr val="0000CC"/>
                </a:solidFill>
                <a:latin typeface="Arial" panose="020B0604020202090204" pitchFamily="34" charset="0"/>
                <a:cs typeface="Arial" panose="020B0604020202090204" pitchFamily="34" charset="0"/>
                <a:sym typeface="+mn-ea"/>
              </a:rPr>
              <a:t>）</a:t>
            </a:r>
            <a:endParaRPr lang="zh-CN" altLang="en-US" sz="2000">
              <a:solidFill>
                <a:srgbClr val="0000CC"/>
              </a:solidFill>
              <a:latin typeface="Arial" panose="020B0604020202090204" pitchFamily="34" charset="0"/>
              <a:cs typeface="Arial" panose="020B0604020202090204" pitchFamily="34" charset="0"/>
            </a:endParaRPr>
          </a:p>
          <a:p>
            <a:pPr marL="914400" lvl="1" indent="-457200">
              <a:lnSpc>
                <a:spcPct val="100000"/>
              </a:lnSpc>
              <a:spcBef>
                <a:spcPct val="0"/>
              </a:spcBef>
              <a:buFont typeface="+mj-ea"/>
              <a:buAutoNum type="circleNumDbPlain"/>
            </a:pPr>
            <a:r>
              <a:rPr lang="en-US" altLang="zh-CN" sz="2000">
                <a:solidFill>
                  <a:srgbClr val="0000CC"/>
                </a:solidFill>
                <a:latin typeface="Arial" panose="020B0604020202090204" pitchFamily="34" charset="0"/>
                <a:cs typeface="Arial" panose="020B0604020202090204" pitchFamily="34" charset="0"/>
                <a:sym typeface="+mn-ea"/>
              </a:rPr>
              <a:t>SQL</a:t>
            </a:r>
            <a:r>
              <a:rPr lang="zh-CN" altLang="en-US" sz="2000">
                <a:solidFill>
                  <a:srgbClr val="0000CC"/>
                </a:solidFill>
                <a:latin typeface="Arial" panose="020B0604020202090204" pitchFamily="34" charset="0"/>
                <a:cs typeface="Arial" panose="020B0604020202090204" pitchFamily="34" charset="0"/>
                <a:sym typeface="+mn-ea"/>
              </a:rPr>
              <a:t>语言中的</a:t>
            </a:r>
            <a:r>
              <a:rPr lang="en-US" altLang="zh-CN" sz="2000">
                <a:solidFill>
                  <a:srgbClr val="0000CC"/>
                </a:solidFill>
                <a:latin typeface="Arial" panose="020B0604020202090204" pitchFamily="34" charset="0"/>
                <a:cs typeface="Arial" panose="020B0604020202090204" pitchFamily="34" charset="0"/>
                <a:sym typeface="+mn-ea"/>
              </a:rPr>
              <a:t>‘</a:t>
            </a:r>
            <a:r>
              <a:rPr lang="zh-CN" altLang="en-US" sz="2000">
                <a:solidFill>
                  <a:srgbClr val="0000CC"/>
                </a:solidFill>
                <a:latin typeface="Arial" panose="020B0604020202090204" pitchFamily="34" charset="0"/>
                <a:cs typeface="Arial" panose="020B0604020202090204" pitchFamily="34" charset="0"/>
                <a:sym typeface="+mn-ea"/>
              </a:rPr>
              <a:t>基本表</a:t>
            </a:r>
            <a:r>
              <a:rPr lang="en-US" altLang="zh-CN" sz="2000">
                <a:solidFill>
                  <a:srgbClr val="0000CC"/>
                </a:solidFill>
                <a:latin typeface="Arial" panose="020B0604020202090204" pitchFamily="34" charset="0"/>
                <a:cs typeface="Arial" panose="020B0604020202090204" pitchFamily="34" charset="0"/>
                <a:sym typeface="+mn-ea"/>
              </a:rPr>
              <a:t>’</a:t>
            </a:r>
            <a:r>
              <a:rPr lang="zh-CN" altLang="en-US" sz="2000">
                <a:solidFill>
                  <a:srgbClr val="0000CC"/>
                </a:solidFill>
                <a:latin typeface="Arial" panose="020B0604020202090204" pitchFamily="34" charset="0"/>
                <a:cs typeface="Arial" panose="020B0604020202090204" pitchFamily="34" charset="0"/>
                <a:sym typeface="+mn-ea"/>
              </a:rPr>
              <a:t>和关系模型中的</a:t>
            </a:r>
            <a:r>
              <a:rPr lang="en-US" altLang="zh-CN" sz="2000">
                <a:solidFill>
                  <a:srgbClr val="0000CC"/>
                </a:solidFill>
                <a:latin typeface="Arial" panose="020B0604020202090204" pitchFamily="34" charset="0"/>
                <a:cs typeface="Arial" panose="020B0604020202090204" pitchFamily="34" charset="0"/>
                <a:sym typeface="+mn-ea"/>
              </a:rPr>
              <a:t>‘</a:t>
            </a:r>
            <a:r>
              <a:rPr lang="zh-CN" altLang="en-US" sz="2000">
                <a:solidFill>
                  <a:srgbClr val="0000CC"/>
                </a:solidFill>
                <a:latin typeface="Arial" panose="020B0604020202090204" pitchFamily="34" charset="0"/>
                <a:cs typeface="Arial" panose="020B0604020202090204" pitchFamily="34" charset="0"/>
                <a:sym typeface="+mn-ea"/>
              </a:rPr>
              <a:t>关系</a:t>
            </a:r>
            <a:r>
              <a:rPr lang="en-US" altLang="zh-CN" sz="2000">
                <a:solidFill>
                  <a:srgbClr val="0000CC"/>
                </a:solidFill>
                <a:latin typeface="Arial" panose="020B0604020202090204" pitchFamily="34" charset="0"/>
                <a:cs typeface="Arial" panose="020B0604020202090204" pitchFamily="34" charset="0"/>
                <a:sym typeface="+mn-ea"/>
              </a:rPr>
              <a:t>’</a:t>
            </a:r>
            <a:r>
              <a:rPr lang="zh-CN" altLang="en-US" sz="2000">
                <a:solidFill>
                  <a:srgbClr val="0000CC"/>
                </a:solidFill>
                <a:latin typeface="Arial" panose="020B0604020202090204" pitchFamily="34" charset="0"/>
                <a:cs typeface="Arial" panose="020B0604020202090204" pitchFamily="34" charset="0"/>
                <a:sym typeface="+mn-ea"/>
              </a:rPr>
              <a:t>有什么区别？</a:t>
            </a:r>
            <a:endParaRPr lang="zh-CN" altLang="en-US" sz="2000">
              <a:solidFill>
                <a:srgbClr val="0000CC"/>
              </a:solidFill>
              <a:latin typeface="Arial" panose="020B0604020202090204" pitchFamily="34" charset="0"/>
              <a:cs typeface="Arial" panose="020B0604020202090204" pitchFamily="34" charset="0"/>
              <a:sym typeface="+mn-ea"/>
            </a:endParaRPr>
          </a:p>
          <a:p>
            <a:pPr marL="914400" lvl="1" indent="-457200">
              <a:lnSpc>
                <a:spcPct val="100000"/>
              </a:lnSpc>
              <a:spcBef>
                <a:spcPct val="0"/>
              </a:spcBef>
              <a:buFont typeface="+mj-ea"/>
              <a:buAutoNum type="circleNumDbPlain"/>
            </a:pPr>
            <a:r>
              <a:rPr lang="zh-CN" altLang="en-US" sz="2000">
                <a:solidFill>
                  <a:srgbClr val="0000CC"/>
                </a:solidFill>
                <a:latin typeface="Arial" panose="020B0604020202090204" pitchFamily="34" charset="0"/>
                <a:cs typeface="Arial" panose="020B0604020202090204" pitchFamily="34" charset="0"/>
                <a:sym typeface="+mn-ea"/>
              </a:rPr>
              <a:t>在</a:t>
            </a:r>
            <a:r>
              <a:rPr lang="en-US" altLang="zh-CN" sz="2000">
                <a:solidFill>
                  <a:srgbClr val="0000CC"/>
                </a:solidFill>
                <a:latin typeface="Arial" panose="020B0604020202090204" pitchFamily="34" charset="0"/>
                <a:cs typeface="Arial" panose="020B0604020202090204" pitchFamily="34" charset="0"/>
                <a:sym typeface="+mn-ea"/>
              </a:rPr>
              <a:t>SQL</a:t>
            </a:r>
            <a:r>
              <a:rPr lang="zh-CN" altLang="en-US" sz="2000">
                <a:solidFill>
                  <a:srgbClr val="0000CC"/>
                </a:solidFill>
                <a:latin typeface="Arial" panose="020B0604020202090204" pitchFamily="34" charset="0"/>
                <a:cs typeface="Arial" panose="020B0604020202090204" pitchFamily="34" charset="0"/>
                <a:sym typeface="+mn-ea"/>
              </a:rPr>
              <a:t>语言中</a:t>
            </a:r>
            <a:r>
              <a:rPr lang="zh-CN" altLang="en-US" sz="2000">
                <a:solidFill>
                  <a:srgbClr val="0000CC"/>
                </a:solidFill>
                <a:latin typeface="Arial" panose="020B0604020202090204" pitchFamily="34" charset="0"/>
                <a:cs typeface="Arial" panose="020B0604020202090204" pitchFamily="34" charset="0"/>
                <a:sym typeface="+mn-ea"/>
              </a:rPr>
              <a:t>，</a:t>
            </a:r>
            <a:r>
              <a:rPr lang="en-US" altLang="zh-CN" sz="2000">
                <a:solidFill>
                  <a:srgbClr val="0000CC"/>
                </a:solidFill>
                <a:latin typeface="Arial" panose="020B0604020202090204" pitchFamily="34" charset="0"/>
                <a:cs typeface="Arial" panose="020B0604020202090204" pitchFamily="34" charset="0"/>
                <a:sym typeface="+mn-ea"/>
              </a:rPr>
              <a:t>‘</a:t>
            </a:r>
            <a:r>
              <a:rPr lang="zh-CN" altLang="en-US" sz="2000">
                <a:solidFill>
                  <a:srgbClr val="0000CC"/>
                </a:solidFill>
                <a:latin typeface="Arial" panose="020B0604020202090204" pitchFamily="34" charset="0"/>
                <a:cs typeface="Arial" panose="020B0604020202090204" pitchFamily="34" charset="0"/>
                <a:sym typeface="+mn-ea"/>
              </a:rPr>
              <a:t>视图</a:t>
            </a:r>
            <a:r>
              <a:rPr lang="en-US" altLang="zh-CN" sz="2000">
                <a:solidFill>
                  <a:srgbClr val="0000CC"/>
                </a:solidFill>
                <a:latin typeface="Arial" panose="020B0604020202090204" pitchFamily="34" charset="0"/>
                <a:cs typeface="Arial" panose="020B0604020202090204" pitchFamily="34" charset="0"/>
                <a:sym typeface="+mn-ea"/>
              </a:rPr>
              <a:t>’</a:t>
            </a:r>
            <a:r>
              <a:rPr lang="zh-CN" altLang="en-US" sz="2000">
                <a:solidFill>
                  <a:srgbClr val="0000CC"/>
                </a:solidFill>
                <a:latin typeface="Arial" panose="020B0604020202090204" pitchFamily="34" charset="0"/>
                <a:cs typeface="Arial" panose="020B0604020202090204" pitchFamily="34" charset="0"/>
                <a:sym typeface="+mn-ea"/>
              </a:rPr>
              <a:t>和</a:t>
            </a:r>
            <a:r>
              <a:rPr lang="en-US" altLang="zh-CN" sz="2000">
                <a:solidFill>
                  <a:srgbClr val="0000CC"/>
                </a:solidFill>
                <a:latin typeface="Arial" panose="020B0604020202090204" pitchFamily="34" charset="0"/>
                <a:cs typeface="Arial" panose="020B0604020202090204" pitchFamily="34" charset="0"/>
                <a:sym typeface="+mn-ea"/>
              </a:rPr>
              <a:t>‘</a:t>
            </a:r>
            <a:r>
              <a:rPr lang="zh-CN" altLang="en-US" sz="2000">
                <a:solidFill>
                  <a:srgbClr val="0000CC"/>
                </a:solidFill>
                <a:latin typeface="Arial" panose="020B0604020202090204" pitchFamily="34" charset="0"/>
                <a:cs typeface="Arial" panose="020B0604020202090204" pitchFamily="34" charset="0"/>
                <a:sym typeface="+mn-ea"/>
              </a:rPr>
              <a:t>基本表</a:t>
            </a:r>
            <a:r>
              <a:rPr lang="en-US" altLang="zh-CN" sz="2000">
                <a:solidFill>
                  <a:srgbClr val="0000CC"/>
                </a:solidFill>
                <a:latin typeface="Arial" panose="020B0604020202090204" pitchFamily="34" charset="0"/>
                <a:cs typeface="Arial" panose="020B0604020202090204" pitchFamily="34" charset="0"/>
                <a:sym typeface="+mn-ea"/>
              </a:rPr>
              <a:t>’</a:t>
            </a:r>
            <a:r>
              <a:rPr lang="zh-CN" altLang="en-US" sz="2000">
                <a:solidFill>
                  <a:srgbClr val="0000CC"/>
                </a:solidFill>
                <a:latin typeface="Arial" panose="020B0604020202090204" pitchFamily="34" charset="0"/>
                <a:cs typeface="Arial" panose="020B0604020202090204" pitchFamily="34" charset="0"/>
                <a:sym typeface="+mn-ea"/>
              </a:rPr>
              <a:t>有什么联系与区别？</a:t>
            </a:r>
            <a:endParaRPr lang="zh-CN" altLang="en-US" sz="2000">
              <a:solidFill>
                <a:srgbClr val="0000CC"/>
              </a:solidFill>
              <a:latin typeface="Arial" panose="020B0604020202090204" pitchFamily="34" charset="0"/>
              <a:cs typeface="Arial" panose="020B0604020202090204" pitchFamily="34" charset="0"/>
            </a:endParaRPr>
          </a:p>
          <a:p>
            <a:pPr marL="914400" lvl="1" indent="-457200">
              <a:lnSpc>
                <a:spcPct val="100000"/>
              </a:lnSpc>
              <a:spcBef>
                <a:spcPct val="0"/>
              </a:spcBef>
              <a:buFont typeface="+mj-ea"/>
              <a:buAutoNum type="circleNumDbPlain"/>
            </a:pPr>
            <a:r>
              <a:rPr lang="zh-CN" altLang="en-US" sz="2000">
                <a:solidFill>
                  <a:srgbClr val="0000CC"/>
                </a:solidFill>
                <a:latin typeface="Arial" panose="020B0604020202090204" pitchFamily="34" charset="0"/>
                <a:cs typeface="Arial" panose="020B0604020202090204" pitchFamily="34" charset="0"/>
                <a:sym typeface="+mn-ea"/>
              </a:rPr>
              <a:t>在视图创建命令中，</a:t>
            </a:r>
            <a:r>
              <a:rPr lang="en-US" altLang="zh-CN" sz="2000">
                <a:solidFill>
                  <a:srgbClr val="0000CC"/>
                </a:solidFill>
                <a:latin typeface="Arial" panose="020B0604020202090204" pitchFamily="34" charset="0"/>
                <a:cs typeface="Arial" panose="020B0604020202090204" pitchFamily="34" charset="0"/>
                <a:sym typeface="+mn-ea"/>
              </a:rPr>
              <a:t>WITH CHECK OPTION</a:t>
            </a:r>
            <a:r>
              <a:rPr lang="zh-CN" altLang="en-US" sz="2000">
                <a:solidFill>
                  <a:srgbClr val="0000CC"/>
                </a:solidFill>
                <a:latin typeface="Arial" panose="020B0604020202090204" pitchFamily="34" charset="0"/>
                <a:cs typeface="Arial" panose="020B0604020202090204" pitchFamily="34" charset="0"/>
                <a:sym typeface="+mn-ea"/>
              </a:rPr>
              <a:t>选项的作用是什么？</a:t>
            </a:r>
            <a:endParaRPr lang="zh-CN" altLang="en-US" sz="2000">
              <a:solidFill>
                <a:srgbClr val="0000CC"/>
              </a:solidFill>
              <a:latin typeface="Arial" panose="020B0604020202090204" pitchFamily="34" charset="0"/>
              <a:cs typeface="Arial" panose="020B0604020202090204" pitchFamily="34" charset="0"/>
            </a:endParaRPr>
          </a:p>
          <a:p>
            <a:pPr marL="914400" lvl="1" indent="-457200">
              <a:lnSpc>
                <a:spcPct val="100000"/>
              </a:lnSpc>
              <a:spcBef>
                <a:spcPct val="0"/>
              </a:spcBef>
              <a:buFont typeface="+mj-ea"/>
              <a:buAutoNum type="circleNumDbPlain"/>
            </a:pPr>
            <a:r>
              <a:rPr lang="zh-CN" altLang="en-US" sz="2000">
                <a:solidFill>
                  <a:srgbClr val="0000CC"/>
                </a:solidFill>
                <a:latin typeface="Arial" panose="020B0604020202090204" pitchFamily="34" charset="0"/>
                <a:cs typeface="Arial" panose="020B0604020202090204" pitchFamily="34" charset="0"/>
                <a:sym typeface="+mn-ea"/>
              </a:rPr>
              <a:t>在视图创建命令和基表创建命令中，定义内容有什么区别？</a:t>
            </a:r>
            <a:endParaRPr lang="zh-CN" altLang="en-US" sz="2000">
              <a:solidFill>
                <a:srgbClr val="0000CC"/>
              </a:solidFill>
              <a:latin typeface="Arial" panose="020B0604020202090204" pitchFamily="34" charset="0"/>
              <a:cs typeface="Arial" panose="020B0604020202090204" pitchFamily="34" charset="0"/>
            </a:endParaRPr>
          </a:p>
          <a:p>
            <a:pPr marL="914400" lvl="1" indent="-457200">
              <a:lnSpc>
                <a:spcPct val="100000"/>
              </a:lnSpc>
              <a:spcBef>
                <a:spcPct val="0"/>
              </a:spcBef>
              <a:buFont typeface="+mj-ea"/>
              <a:buAutoNum type="circleNumDbPlain"/>
            </a:pPr>
            <a:r>
              <a:rPr lang="zh-CN" altLang="en-US" sz="2000">
                <a:solidFill>
                  <a:srgbClr val="0000CC"/>
                </a:solidFill>
                <a:latin typeface="Arial" panose="020B0604020202090204" pitchFamily="34" charset="0"/>
                <a:cs typeface="Arial" panose="020B0604020202090204" pitchFamily="34" charset="0"/>
                <a:sym typeface="+mn-ea"/>
              </a:rPr>
              <a:t>在</a:t>
            </a:r>
            <a:r>
              <a:rPr lang="en-US" altLang="zh-CN" sz="2000">
                <a:solidFill>
                  <a:srgbClr val="0000CC"/>
                </a:solidFill>
                <a:latin typeface="Arial" panose="020B0604020202090204" pitchFamily="34" charset="0"/>
                <a:cs typeface="Arial" panose="020B0604020202090204" pitchFamily="34" charset="0"/>
                <a:sym typeface="+mn-ea"/>
              </a:rPr>
              <a:t>SQL</a:t>
            </a:r>
            <a:r>
              <a:rPr lang="zh-CN" altLang="en-US" sz="2000">
                <a:solidFill>
                  <a:srgbClr val="0000CC"/>
                </a:solidFill>
                <a:latin typeface="Arial" panose="020B0604020202090204" pitchFamily="34" charset="0"/>
                <a:cs typeface="Arial" panose="020B0604020202090204" pitchFamily="34" charset="0"/>
                <a:sym typeface="+mn-ea"/>
              </a:rPr>
              <a:t>中创建视图的作用是什么？</a:t>
            </a:r>
            <a:endParaRPr lang="zh-CN" altLang="en-US" sz="2000">
              <a:latin typeface="Arial" panose="020B0604020202090204" pitchFamily="34" charset="0"/>
              <a:cs typeface="Arial" panose="020B0604020202090204" pitchFamily="3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6" name="页脚占位符 5"/>
          <p:cNvSpPr>
            <a:spLocks noGrp="1"/>
          </p:cNvSpPr>
          <p:nvPr>
            <p:ph type="ftr" sz="quarter" idx="11"/>
          </p:nvPr>
        </p:nvSpPr>
        <p:spPr/>
        <p:txBody>
          <a:bodyPr/>
          <a:p>
            <a:r>
              <a:rPr lang="zh-CN" altLang="en-US"/>
              <a:t>ch03_SQL语言_复习思考题</a:t>
            </a:r>
            <a:endParaRPr lang="zh-CN"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标题 7"/>
          <p:cNvSpPr>
            <a:spLocks noGrp="1"/>
          </p:cNvSpPr>
          <p:nvPr>
            <p:ph type="title"/>
          </p:nvPr>
        </p:nvSpPr>
        <p:spPr/>
        <p:txBody>
          <a:bodyPr/>
          <a:p>
            <a:r>
              <a:rPr lang="zh-CN" altLang="en-US">
                <a:sym typeface="+mn-ea"/>
              </a:rPr>
              <a:t>复习思考题</a:t>
            </a:r>
            <a:r>
              <a:rPr lang="en-US" altLang="zh-CN">
                <a:sym typeface="+mn-ea"/>
              </a:rPr>
              <a:t> 5</a:t>
            </a:r>
            <a:endParaRPr lang="zh-CN" altLang="en-US"/>
          </a:p>
        </p:txBody>
      </p:sp>
      <p:sp>
        <p:nvSpPr>
          <p:cNvPr id="3" name="内容占位符 2"/>
          <p:cNvSpPr>
            <a:spLocks noGrp="1"/>
          </p:cNvSpPr>
          <p:nvPr>
            <p:ph idx="1"/>
          </p:nvPr>
        </p:nvSpPr>
        <p:spPr>
          <a:xfrm>
            <a:off x="424180" y="687070"/>
            <a:ext cx="11343005" cy="398780"/>
          </a:xfrm>
        </p:spPr>
        <p:txBody>
          <a:bodyPr wrap="square">
            <a:spAutoFit/>
          </a:bodyPr>
          <a:p>
            <a:pPr marL="514350" indent="-514350" fontAlgn="auto">
              <a:lnSpc>
                <a:spcPct val="100000"/>
              </a:lnSpc>
              <a:spcBef>
                <a:spcPts val="0"/>
              </a:spcBef>
              <a:spcAft>
                <a:spcPts val="0"/>
              </a:spcAft>
              <a:buFont typeface="+mj-lt"/>
              <a:buAutoNum type="arabicPeriod" startAt="12"/>
            </a:pPr>
            <a:r>
              <a:rPr sz="2000" b="1">
                <a:solidFill>
                  <a:srgbClr val="0000CC"/>
                </a:solidFill>
                <a:latin typeface="Arial" panose="020B0604020202090204" pitchFamily="34" charset="0"/>
              </a:rPr>
              <a:t>设有一个教务管理数据库，其中的关系模式如下：</a:t>
            </a:r>
            <a:endParaRPr sz="2000" b="1">
              <a:solidFill>
                <a:srgbClr val="0000CC"/>
              </a:solidFill>
              <a:latin typeface="Arial" panose="020B0604020202090204" pitchFamily="34" charset="0"/>
            </a:endParaRPr>
          </a:p>
        </p:txBody>
      </p:sp>
      <p:graphicFrame>
        <p:nvGraphicFramePr>
          <p:cNvPr id="2" name="表格 1"/>
          <p:cNvGraphicFramePr/>
          <p:nvPr>
            <p:custDataLst>
              <p:tags r:id="rId1"/>
            </p:custDataLst>
          </p:nvPr>
        </p:nvGraphicFramePr>
        <p:xfrm>
          <a:off x="424815" y="1147445"/>
          <a:ext cx="11342370" cy="3002280"/>
        </p:xfrm>
        <a:graphic>
          <a:graphicData uri="http://schemas.openxmlformats.org/drawingml/2006/table">
            <a:tbl>
              <a:tblPr firstRow="1" bandRow="1">
                <a:tableStyleId>{5C22544A-7EE6-4342-B048-85BDC9FD1C3A}</a:tableStyleId>
              </a:tblPr>
              <a:tblGrid>
                <a:gridCol w="832485"/>
                <a:gridCol w="4839970"/>
                <a:gridCol w="5669915"/>
              </a:tblGrid>
              <a:tr h="360045">
                <a:tc>
                  <a:txBody>
                    <a:bodyPr/>
                    <a:p>
                      <a:pPr algn="ctr">
                        <a:buNone/>
                      </a:pPr>
                      <a:r>
                        <a:rPr lang="zh-CN" altLang="zh-CN" sz="2000">
                          <a:solidFill>
                            <a:schemeClr val="tx1"/>
                          </a:solidFill>
                          <a:latin typeface="Arial" panose="020B0604020202090204" pitchFamily="34" charset="0"/>
                          <a:ea typeface="楷体" charset="-122"/>
                        </a:rPr>
                        <a:t>关系</a:t>
                      </a:r>
                      <a:endParaRPr lang="zh-CN" altLang="zh-CN" sz="2000">
                        <a:solidFill>
                          <a:schemeClr val="tx1"/>
                        </a:solidFill>
                        <a:latin typeface="Arial" panose="020B0604020202090204" pitchFamily="34" charset="0"/>
                        <a:ea typeface="楷体" charset="-122"/>
                      </a:endParaRPr>
                    </a:p>
                  </a:txBody>
                  <a:tcPr marL="68580" marR="68580" marT="34290" marB="34290" anchor="ctr" anchorCtr="0">
                    <a:lnL w="12700">
                      <a:solidFill>
                        <a:schemeClr val="tx1"/>
                      </a:solidFill>
                      <a:prstDash val="solid"/>
                    </a:lnL>
                    <a:lnR w="6350">
                      <a:solidFill>
                        <a:schemeClr val="tx1"/>
                      </a:solidFill>
                      <a:prstDash val="sysDash"/>
                    </a:lnR>
                    <a:lnT w="12700">
                      <a:solidFill>
                        <a:schemeClr val="tx1"/>
                      </a:solidFill>
                      <a:prstDash val="solid"/>
                    </a:lnT>
                    <a:lnB w="6350">
                      <a:solidFill>
                        <a:schemeClr val="tx1"/>
                      </a:solidFill>
                      <a:prstDash val="sysDash"/>
                    </a:lnB>
                    <a:solidFill>
                      <a:schemeClr val="accent3">
                        <a:lumMod val="20000"/>
                        <a:lumOff val="80000"/>
                      </a:schemeClr>
                    </a:solidFill>
                  </a:tcPr>
                </a:tc>
                <a:tc>
                  <a:txBody>
                    <a:bodyPr/>
                    <a:p>
                      <a:pPr algn="ctr">
                        <a:buNone/>
                      </a:pPr>
                      <a:r>
                        <a:rPr lang="zh-CN" altLang="en-US" sz="2000">
                          <a:solidFill>
                            <a:schemeClr val="tx1"/>
                          </a:solidFill>
                          <a:latin typeface="Arial" panose="020B0604020202090204" pitchFamily="34" charset="0"/>
                          <a:ea typeface="楷体" charset="-122"/>
                        </a:rPr>
                        <a:t>属性</a:t>
                      </a:r>
                      <a:endParaRPr lang="zh-CN" altLang="en-US" sz="2000">
                        <a:solidFill>
                          <a:schemeClr val="tx1"/>
                        </a:solidFill>
                        <a:latin typeface="Arial" panose="020B0604020202090204" pitchFamily="34" charset="0"/>
                        <a:ea typeface="楷体" charset="-122"/>
                      </a:endParaRPr>
                    </a:p>
                  </a:txBody>
                  <a:tcPr marL="68580" marR="68580" marT="34290" marB="34290" anchor="ctr" anchorCtr="0">
                    <a:lnL w="6350">
                      <a:solidFill>
                        <a:schemeClr val="tx1"/>
                      </a:solidFill>
                      <a:prstDash val="sysDash"/>
                    </a:lnL>
                    <a:lnR w="6350">
                      <a:solidFill>
                        <a:schemeClr val="tx1"/>
                      </a:solidFill>
                      <a:prstDash val="sysDash"/>
                    </a:lnR>
                    <a:lnT w="12700">
                      <a:solidFill>
                        <a:schemeClr val="tx1"/>
                      </a:solidFill>
                      <a:prstDash val="solid"/>
                    </a:lnT>
                    <a:lnB w="6350">
                      <a:solidFill>
                        <a:schemeClr val="tx1"/>
                      </a:solidFill>
                      <a:prstDash val="sysDash"/>
                    </a:lnB>
                    <a:solidFill>
                      <a:schemeClr val="accent3">
                        <a:lumMod val="20000"/>
                        <a:lumOff val="80000"/>
                      </a:schemeClr>
                    </a:solidFill>
                  </a:tcPr>
                </a:tc>
                <a:tc>
                  <a:txBody>
                    <a:bodyPr/>
                    <a:p>
                      <a:pPr algn="ctr">
                        <a:buNone/>
                      </a:pPr>
                      <a:r>
                        <a:rPr lang="zh-CN" altLang="zh-CN" sz="2000">
                          <a:solidFill>
                            <a:schemeClr val="tx1"/>
                          </a:solidFill>
                          <a:latin typeface="Arial" panose="020B0604020202090204" pitchFamily="34" charset="0"/>
                          <a:ea typeface="楷体" charset="-122"/>
                        </a:rPr>
                        <a:t>关系模式</a:t>
                      </a:r>
                      <a:endParaRPr lang="zh-CN" altLang="zh-CN" sz="2000">
                        <a:solidFill>
                          <a:schemeClr val="tx1"/>
                        </a:solidFill>
                        <a:latin typeface="Arial" panose="020B0604020202090204" pitchFamily="34" charset="0"/>
                        <a:ea typeface="楷体" charset="-122"/>
                      </a:endParaRPr>
                    </a:p>
                  </a:txBody>
                  <a:tcPr marL="68580" marR="68580" marT="34290" marB="34290" anchor="ctr" anchorCtr="0">
                    <a:lnL w="6350">
                      <a:solidFill>
                        <a:schemeClr val="tx1"/>
                      </a:solidFill>
                      <a:prstDash val="sysDash"/>
                    </a:lnL>
                    <a:lnR w="12700">
                      <a:solidFill>
                        <a:schemeClr val="tx1"/>
                      </a:solidFill>
                      <a:prstDash val="solid"/>
                    </a:lnR>
                    <a:lnT w="12700">
                      <a:solidFill>
                        <a:schemeClr val="tx1"/>
                      </a:solidFill>
                      <a:prstDash val="solid"/>
                    </a:lnT>
                    <a:lnB w="6350">
                      <a:solidFill>
                        <a:schemeClr val="tx1"/>
                      </a:solidFill>
                      <a:prstDash val="sysDash"/>
                    </a:lnB>
                    <a:solidFill>
                      <a:schemeClr val="accent3">
                        <a:lumMod val="20000"/>
                        <a:lumOff val="80000"/>
                      </a:schemeClr>
                    </a:solidFill>
                  </a:tcPr>
                </a:tc>
              </a:tr>
              <a:tr h="373380">
                <a:tc>
                  <a:txBody>
                    <a:bodyPr/>
                    <a:p>
                      <a:pPr algn="ctr">
                        <a:buNone/>
                      </a:pPr>
                      <a:r>
                        <a:rPr lang="zh-CN" altLang="en-US" sz="2000" b="1">
                          <a:solidFill>
                            <a:srgbClr val="0000CC"/>
                          </a:solidFill>
                          <a:latin typeface="Arial" panose="020B0604020202090204" pitchFamily="34" charset="0"/>
                          <a:ea typeface="楷体" charset="-122"/>
                        </a:rPr>
                        <a:t>学生</a:t>
                      </a:r>
                      <a:endParaRPr lang="zh-CN" altLang="en-US" sz="2000" b="1">
                        <a:solidFill>
                          <a:srgbClr val="0000CC"/>
                        </a:solidFill>
                        <a:latin typeface="Arial" panose="020B0604020202090204" pitchFamily="34" charset="0"/>
                        <a:ea typeface="楷体" charset="-122"/>
                      </a:endParaRPr>
                    </a:p>
                  </a:txBody>
                  <a:tcPr marL="68580" marR="68580" marT="34290" marB="34290" anchor="ctr" anchorCtr="0">
                    <a:lnL w="12700">
                      <a:solidFill>
                        <a:schemeClr val="tx1"/>
                      </a:solidFill>
                      <a:prstDash val="solid"/>
                    </a:lnL>
                    <a:lnR w="6350">
                      <a:solidFill>
                        <a:schemeClr val="tx1"/>
                      </a:solidFill>
                      <a:prstDash val="sysDash"/>
                    </a:lnR>
                    <a:lnT w="6350">
                      <a:solidFill>
                        <a:schemeClr val="tx1"/>
                      </a:solidFill>
                      <a:prstDash val="sysDash"/>
                    </a:lnT>
                    <a:lnB w="6350">
                      <a:solidFill>
                        <a:schemeClr val="tx1"/>
                      </a:solidFill>
                      <a:prstDash val="sysDash"/>
                    </a:lnB>
                    <a:noFill/>
                  </a:tcPr>
                </a:tc>
                <a:tc>
                  <a:txBody>
                    <a:bodyPr/>
                    <a:p>
                      <a:pPr algn="l">
                        <a:buNone/>
                      </a:pPr>
                      <a:r>
                        <a:rPr sz="2000" b="1">
                          <a:solidFill>
                            <a:srgbClr val="0000CC"/>
                          </a:solidFill>
                          <a:latin typeface="Arial" panose="020B0604020202090204" pitchFamily="34" charset="0"/>
                          <a:ea typeface="楷体" charset="-122"/>
                          <a:cs typeface="Arial" panose="020B0604020202090204" pitchFamily="34" charset="0"/>
                          <a:sym typeface="+mn-ea"/>
                        </a:rPr>
                        <a:t>学号</a:t>
                      </a:r>
                      <a:r>
                        <a:rPr lang="en-US" sz="2000" b="1">
                          <a:solidFill>
                            <a:srgbClr val="0000CC"/>
                          </a:solidFill>
                          <a:latin typeface="Arial" panose="020B0604020202090204" pitchFamily="34" charset="0"/>
                          <a:ea typeface="楷体" charset="-122"/>
                          <a:cs typeface="Arial" panose="020B0604020202090204" pitchFamily="34" charset="0"/>
                          <a:sym typeface="+mn-ea"/>
                        </a:rPr>
                        <a:t>, </a:t>
                      </a:r>
                      <a:r>
                        <a:rPr sz="2000" b="1">
                          <a:solidFill>
                            <a:srgbClr val="0000CC"/>
                          </a:solidFill>
                          <a:latin typeface="Arial" panose="020B0604020202090204" pitchFamily="34" charset="0"/>
                          <a:ea typeface="楷体" charset="-122"/>
                          <a:cs typeface="Arial" panose="020B0604020202090204" pitchFamily="34" charset="0"/>
                          <a:sym typeface="+mn-ea"/>
                        </a:rPr>
                        <a:t>姓名</a:t>
                      </a:r>
                      <a:r>
                        <a:rPr lang="en-US" sz="2000" b="1">
                          <a:solidFill>
                            <a:srgbClr val="0000CC"/>
                          </a:solidFill>
                          <a:latin typeface="Arial" panose="020B0604020202090204" pitchFamily="34" charset="0"/>
                          <a:ea typeface="楷体" charset="-122"/>
                          <a:cs typeface="Arial" panose="020B0604020202090204" pitchFamily="34" charset="0"/>
                          <a:sym typeface="+mn-ea"/>
                        </a:rPr>
                        <a:t>, </a:t>
                      </a:r>
                      <a:r>
                        <a:rPr sz="2000" b="1">
                          <a:solidFill>
                            <a:srgbClr val="0000CC"/>
                          </a:solidFill>
                          <a:latin typeface="Arial" panose="020B0604020202090204" pitchFamily="34" charset="0"/>
                          <a:ea typeface="楷体" charset="-122"/>
                          <a:cs typeface="Arial" panose="020B0604020202090204" pitchFamily="34" charset="0"/>
                          <a:sym typeface="+mn-ea"/>
                        </a:rPr>
                        <a:t>就读院系</a:t>
                      </a:r>
                      <a:r>
                        <a:rPr lang="en-US" sz="2000" b="1">
                          <a:solidFill>
                            <a:srgbClr val="0000CC"/>
                          </a:solidFill>
                          <a:latin typeface="Arial" panose="020B0604020202090204" pitchFamily="34" charset="0"/>
                          <a:ea typeface="楷体" charset="-122"/>
                          <a:cs typeface="Arial" panose="020B0604020202090204" pitchFamily="34" charset="0"/>
                          <a:sym typeface="+mn-ea"/>
                        </a:rPr>
                        <a:t>, </a:t>
                      </a:r>
                      <a:r>
                        <a:rPr lang="zh-CN" altLang="en-US" sz="2000" b="1">
                          <a:solidFill>
                            <a:srgbClr val="0000CC"/>
                          </a:solidFill>
                          <a:latin typeface="Arial" panose="020B0604020202090204" pitchFamily="34" charset="0"/>
                          <a:ea typeface="楷体" charset="-122"/>
                          <a:cs typeface="Arial" panose="020B0604020202090204" pitchFamily="34" charset="0"/>
                          <a:sym typeface="+mn-ea"/>
                        </a:rPr>
                        <a:t>入学</a:t>
                      </a:r>
                      <a:r>
                        <a:rPr lang="zh-CN" altLang="en-US" sz="2000" b="1">
                          <a:solidFill>
                            <a:srgbClr val="0000CC"/>
                          </a:solidFill>
                          <a:latin typeface="Arial" panose="020B0604020202090204" pitchFamily="34" charset="0"/>
                          <a:ea typeface="楷体" charset="-122"/>
                          <a:cs typeface="Arial" panose="020B0604020202090204" pitchFamily="34" charset="0"/>
                          <a:sym typeface="+mn-ea"/>
                        </a:rPr>
                        <a:t>年份</a:t>
                      </a:r>
                      <a:endParaRPr lang="zh-CN" altLang="en-US" sz="2000" b="1">
                        <a:solidFill>
                          <a:srgbClr val="0000CC"/>
                        </a:solidFill>
                        <a:latin typeface="Arial" panose="020B0604020202090204" pitchFamily="34" charset="0"/>
                        <a:ea typeface="楷体" charset="-122"/>
                        <a:cs typeface="Arial" panose="020B0604020202090204" pitchFamily="34" charset="0"/>
                        <a:sym typeface="+mn-ea"/>
                      </a:endParaRPr>
                    </a:p>
                  </a:txBody>
                  <a:tcPr marL="68580" marR="68580" marT="34290" marB="34290" anchor="ctr" anchorCtr="0">
                    <a:lnL w="6350">
                      <a:solidFill>
                        <a:schemeClr val="tx1"/>
                      </a:solidFill>
                      <a:prstDash val="sysDash"/>
                    </a:lnL>
                    <a:lnR w="6350">
                      <a:solidFill>
                        <a:schemeClr val="tx1"/>
                      </a:solidFill>
                      <a:prstDash val="sysDash"/>
                    </a:lnR>
                    <a:lnT w="6350">
                      <a:solidFill>
                        <a:schemeClr val="tx1"/>
                      </a:solidFill>
                      <a:prstDash val="sysDash"/>
                    </a:lnT>
                    <a:lnB w="6350">
                      <a:solidFill>
                        <a:schemeClr val="tx1"/>
                      </a:solidFill>
                      <a:prstDash val="sysDash"/>
                    </a:lnB>
                    <a:noFill/>
                  </a:tcPr>
                </a:tc>
                <a:tc>
                  <a:txBody>
                    <a:bodyPr/>
                    <a:p>
                      <a:pPr algn="l">
                        <a:buNone/>
                      </a:pPr>
                      <a:r>
                        <a:rPr sz="2000" b="1">
                          <a:solidFill>
                            <a:srgbClr val="0000CC"/>
                          </a:solidFill>
                          <a:latin typeface="Arial" panose="020B0604020202090204" pitchFamily="34" charset="0"/>
                          <a:ea typeface="楷体" charset="-122"/>
                          <a:cs typeface="Arial" panose="020B0604020202090204" pitchFamily="34" charset="0"/>
                          <a:sym typeface="+mn-ea"/>
                        </a:rPr>
                        <a:t>Student</a:t>
                      </a:r>
                      <a:r>
                        <a:rPr lang="en-US" sz="2000" b="1">
                          <a:solidFill>
                            <a:srgbClr val="0000CC"/>
                          </a:solidFill>
                          <a:latin typeface="Arial" panose="020B0604020202090204" pitchFamily="34" charset="0"/>
                          <a:ea typeface="楷体" charset="-122"/>
                          <a:cs typeface="Arial" panose="020B0604020202090204" pitchFamily="34" charset="0"/>
                          <a:sym typeface="+mn-ea"/>
                        </a:rPr>
                        <a:t> </a:t>
                      </a:r>
                      <a:r>
                        <a:rPr sz="2000" b="1">
                          <a:solidFill>
                            <a:srgbClr val="0000CC"/>
                          </a:solidFill>
                          <a:latin typeface="Arial" panose="020B0604020202090204" pitchFamily="34" charset="0"/>
                          <a:ea typeface="楷体" charset="-122"/>
                          <a:cs typeface="Arial" panose="020B0604020202090204" pitchFamily="34" charset="0"/>
                          <a:sym typeface="+mn-ea"/>
                        </a:rPr>
                        <a:t>(sno, sname, dept</a:t>
                      </a:r>
                      <a:r>
                        <a:rPr lang="en-US" sz="2000" b="1">
                          <a:solidFill>
                            <a:srgbClr val="0000CC"/>
                          </a:solidFill>
                          <a:latin typeface="Arial" panose="020B0604020202090204" pitchFamily="34" charset="0"/>
                          <a:ea typeface="楷体" charset="-122"/>
                          <a:cs typeface="Arial" panose="020B0604020202090204" pitchFamily="34" charset="0"/>
                          <a:sym typeface="+mn-ea"/>
                        </a:rPr>
                        <a:t>, regyear</a:t>
                      </a:r>
                      <a:r>
                        <a:rPr sz="2000" b="1">
                          <a:solidFill>
                            <a:srgbClr val="0000CC"/>
                          </a:solidFill>
                          <a:latin typeface="Arial" panose="020B0604020202090204" pitchFamily="34" charset="0"/>
                          <a:ea typeface="楷体" charset="-122"/>
                          <a:cs typeface="Arial" panose="020B0604020202090204" pitchFamily="34" charset="0"/>
                          <a:sym typeface="+mn-ea"/>
                        </a:rPr>
                        <a:t>)</a:t>
                      </a:r>
                      <a:endParaRPr lang="zh-CN" altLang="en-US" sz="2000" b="1">
                        <a:solidFill>
                          <a:srgbClr val="0000CC"/>
                        </a:solidFill>
                        <a:latin typeface="Arial" panose="020B0604020202090204" pitchFamily="34" charset="0"/>
                        <a:ea typeface="楷体" charset="-122"/>
                        <a:cs typeface="Arial" panose="020B0604020202090204" pitchFamily="34" charset="0"/>
                        <a:sym typeface="+mn-ea"/>
                      </a:endParaRPr>
                    </a:p>
                  </a:txBody>
                  <a:tcPr marL="68580" marR="68580" marT="34290" marB="34290"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360045">
                <a:tc>
                  <a:txBody>
                    <a:bodyPr/>
                    <a:p>
                      <a:pPr algn="ctr">
                        <a:buNone/>
                      </a:pPr>
                      <a:r>
                        <a:rPr lang="zh-CN" altLang="en-US" sz="2000" b="1">
                          <a:solidFill>
                            <a:srgbClr val="0000CC"/>
                          </a:solidFill>
                          <a:latin typeface="Arial" panose="020B0604020202090204" pitchFamily="34" charset="0"/>
                          <a:ea typeface="楷体" charset="-122"/>
                        </a:rPr>
                        <a:t>教师</a:t>
                      </a:r>
                      <a:endParaRPr lang="zh-CN" altLang="en-US" sz="2000" b="1">
                        <a:solidFill>
                          <a:srgbClr val="0000CC"/>
                        </a:solidFill>
                        <a:latin typeface="Arial" panose="020B0604020202090204" pitchFamily="34" charset="0"/>
                        <a:ea typeface="楷体" charset="-122"/>
                      </a:endParaRPr>
                    </a:p>
                  </a:txBody>
                  <a:tcPr marL="68580" marR="68580" marT="34290" marB="34290" anchor="ctr" anchorCtr="0">
                    <a:lnL w="12700">
                      <a:solidFill>
                        <a:schemeClr val="tx1"/>
                      </a:solidFill>
                      <a:prstDash val="solid"/>
                    </a:lnL>
                    <a:lnR w="6350">
                      <a:solidFill>
                        <a:schemeClr val="tx1"/>
                      </a:solidFill>
                      <a:prstDash val="sysDash"/>
                    </a:lnR>
                    <a:lnT w="6350">
                      <a:solidFill>
                        <a:schemeClr val="tx1"/>
                      </a:solidFill>
                      <a:prstDash val="sysDash"/>
                    </a:lnT>
                    <a:lnB w="6350">
                      <a:solidFill>
                        <a:schemeClr val="tx1"/>
                      </a:solidFill>
                      <a:prstDash val="sysDash"/>
                    </a:lnB>
                    <a:noFill/>
                  </a:tcPr>
                </a:tc>
                <a:tc>
                  <a:txBody>
                    <a:bodyPr/>
                    <a:p>
                      <a:pPr algn="l">
                        <a:buNone/>
                      </a:pPr>
                      <a:r>
                        <a:rPr sz="2000" b="1">
                          <a:solidFill>
                            <a:srgbClr val="0000CC"/>
                          </a:solidFill>
                          <a:latin typeface="Arial" panose="020B0604020202090204" pitchFamily="34" charset="0"/>
                          <a:ea typeface="楷体" charset="-122"/>
                          <a:cs typeface="Arial" panose="020B0604020202090204" pitchFamily="34" charset="0"/>
                          <a:sym typeface="+mn-ea"/>
                        </a:rPr>
                        <a:t>工号</a:t>
                      </a:r>
                      <a:r>
                        <a:rPr lang="en-US" sz="2000" b="1">
                          <a:solidFill>
                            <a:srgbClr val="0000CC"/>
                          </a:solidFill>
                          <a:latin typeface="Arial" panose="020B0604020202090204" pitchFamily="34" charset="0"/>
                          <a:ea typeface="楷体" charset="-122"/>
                          <a:cs typeface="Arial" panose="020B0604020202090204" pitchFamily="34" charset="0"/>
                          <a:sym typeface="+mn-ea"/>
                        </a:rPr>
                        <a:t>, </a:t>
                      </a:r>
                      <a:r>
                        <a:rPr sz="2000" b="1">
                          <a:solidFill>
                            <a:srgbClr val="0000CC"/>
                          </a:solidFill>
                          <a:latin typeface="Arial" panose="020B0604020202090204" pitchFamily="34" charset="0"/>
                          <a:ea typeface="楷体" charset="-122"/>
                          <a:cs typeface="Arial" panose="020B0604020202090204" pitchFamily="34" charset="0"/>
                          <a:sym typeface="+mn-ea"/>
                        </a:rPr>
                        <a:t>姓名</a:t>
                      </a:r>
                      <a:r>
                        <a:rPr lang="en-US" sz="2000" b="1">
                          <a:solidFill>
                            <a:srgbClr val="0000CC"/>
                          </a:solidFill>
                          <a:latin typeface="Arial" panose="020B0604020202090204" pitchFamily="34" charset="0"/>
                          <a:ea typeface="楷体" charset="-122"/>
                          <a:cs typeface="Arial" panose="020B0604020202090204" pitchFamily="34" charset="0"/>
                          <a:sym typeface="+mn-ea"/>
                        </a:rPr>
                        <a:t>, </a:t>
                      </a:r>
                      <a:r>
                        <a:rPr sz="2000" b="1">
                          <a:solidFill>
                            <a:srgbClr val="0000CC"/>
                          </a:solidFill>
                          <a:latin typeface="Arial" panose="020B0604020202090204" pitchFamily="34" charset="0"/>
                          <a:ea typeface="楷体" charset="-122"/>
                          <a:cs typeface="Arial" panose="020B0604020202090204" pitchFamily="34" charset="0"/>
                          <a:sym typeface="+mn-ea"/>
                        </a:rPr>
                        <a:t>工作院系</a:t>
                      </a:r>
                      <a:endParaRPr lang="zh-CN" altLang="en-US" sz="2000" b="1">
                        <a:solidFill>
                          <a:srgbClr val="0000CC"/>
                        </a:solidFill>
                        <a:latin typeface="Arial" panose="020B0604020202090204" pitchFamily="34" charset="0"/>
                        <a:ea typeface="楷体" charset="-122"/>
                        <a:cs typeface="Arial" panose="020B0604020202090204" pitchFamily="34" charset="0"/>
                        <a:sym typeface="+mn-ea"/>
                      </a:endParaRPr>
                    </a:p>
                  </a:txBody>
                  <a:tcPr marL="68580" marR="68580" marT="34290" marB="34290" anchor="ctr" anchorCtr="0">
                    <a:lnL w="6350">
                      <a:solidFill>
                        <a:schemeClr val="tx1"/>
                      </a:solidFill>
                      <a:prstDash val="sysDash"/>
                    </a:lnL>
                    <a:lnR w="6350">
                      <a:solidFill>
                        <a:schemeClr val="tx1"/>
                      </a:solidFill>
                      <a:prstDash val="sysDash"/>
                    </a:lnR>
                    <a:lnT w="6350">
                      <a:solidFill>
                        <a:schemeClr val="tx1"/>
                      </a:solidFill>
                      <a:prstDash val="sysDash"/>
                    </a:lnT>
                    <a:lnB w="6350">
                      <a:solidFill>
                        <a:schemeClr val="tx1"/>
                      </a:solidFill>
                      <a:prstDash val="sysDash"/>
                    </a:lnB>
                    <a:noFill/>
                  </a:tcPr>
                </a:tc>
                <a:tc>
                  <a:txBody>
                    <a:bodyPr/>
                    <a:p>
                      <a:pPr algn="l">
                        <a:buNone/>
                      </a:pPr>
                      <a:r>
                        <a:rPr lang="en-US" sz="2000" b="1">
                          <a:solidFill>
                            <a:srgbClr val="0000CC"/>
                          </a:solidFill>
                          <a:latin typeface="Arial" panose="020B0604020202090204" pitchFamily="34" charset="0"/>
                          <a:ea typeface="楷体" charset="-122"/>
                          <a:cs typeface="Arial" panose="020B0604020202090204" pitchFamily="34" charset="0"/>
                          <a:sym typeface="+mn-ea"/>
                        </a:rPr>
                        <a:t>Teacher </a:t>
                      </a:r>
                      <a:r>
                        <a:rPr sz="2000" b="1">
                          <a:solidFill>
                            <a:srgbClr val="0000CC"/>
                          </a:solidFill>
                          <a:latin typeface="Arial" panose="020B0604020202090204" pitchFamily="34" charset="0"/>
                          <a:ea typeface="楷体" charset="-122"/>
                          <a:cs typeface="Arial" panose="020B0604020202090204" pitchFamily="34" charset="0"/>
                          <a:sym typeface="+mn-ea"/>
                        </a:rPr>
                        <a:t>(</a:t>
                      </a:r>
                      <a:r>
                        <a:rPr lang="en-US" sz="2000" b="1">
                          <a:solidFill>
                            <a:srgbClr val="0000CC"/>
                          </a:solidFill>
                          <a:latin typeface="Arial" panose="020B0604020202090204" pitchFamily="34" charset="0"/>
                          <a:ea typeface="楷体" charset="-122"/>
                          <a:cs typeface="Arial" panose="020B0604020202090204" pitchFamily="34" charset="0"/>
                          <a:sym typeface="+mn-ea"/>
                        </a:rPr>
                        <a:t>t</a:t>
                      </a:r>
                      <a:r>
                        <a:rPr sz="2000" b="1">
                          <a:solidFill>
                            <a:srgbClr val="0000CC"/>
                          </a:solidFill>
                          <a:latin typeface="Arial" panose="020B0604020202090204" pitchFamily="34" charset="0"/>
                          <a:ea typeface="楷体" charset="-122"/>
                          <a:cs typeface="Arial" panose="020B0604020202090204" pitchFamily="34" charset="0"/>
                          <a:sym typeface="+mn-ea"/>
                        </a:rPr>
                        <a:t>no, </a:t>
                      </a:r>
                      <a:r>
                        <a:rPr lang="en-US" sz="2000" b="1">
                          <a:solidFill>
                            <a:srgbClr val="0000CC"/>
                          </a:solidFill>
                          <a:latin typeface="Arial" panose="020B0604020202090204" pitchFamily="34" charset="0"/>
                          <a:ea typeface="楷体" charset="-122"/>
                          <a:cs typeface="Arial" panose="020B0604020202090204" pitchFamily="34" charset="0"/>
                          <a:sym typeface="+mn-ea"/>
                        </a:rPr>
                        <a:t>t</a:t>
                      </a:r>
                      <a:r>
                        <a:rPr sz="2000" b="1">
                          <a:solidFill>
                            <a:srgbClr val="0000CC"/>
                          </a:solidFill>
                          <a:latin typeface="Arial" panose="020B0604020202090204" pitchFamily="34" charset="0"/>
                          <a:ea typeface="楷体" charset="-122"/>
                          <a:cs typeface="Arial" panose="020B0604020202090204" pitchFamily="34" charset="0"/>
                          <a:sym typeface="+mn-ea"/>
                        </a:rPr>
                        <a:t>name, dept)</a:t>
                      </a:r>
                      <a:endParaRPr lang="zh-CN" altLang="en-US" sz="2000" b="1">
                        <a:solidFill>
                          <a:srgbClr val="0000CC"/>
                        </a:solidFill>
                        <a:latin typeface="Arial" panose="020B0604020202090204" pitchFamily="34" charset="0"/>
                        <a:ea typeface="楷体" charset="-122"/>
                        <a:cs typeface="Arial" panose="020B0604020202090204" pitchFamily="34" charset="0"/>
                        <a:sym typeface="+mn-ea"/>
                      </a:endParaRPr>
                    </a:p>
                  </a:txBody>
                  <a:tcPr marL="68580" marR="68580" marT="34290" marB="34290"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525780">
                <a:tc>
                  <a:txBody>
                    <a:bodyPr/>
                    <a:p>
                      <a:pPr algn="ctr">
                        <a:buNone/>
                      </a:pPr>
                      <a:r>
                        <a:rPr lang="zh-CN" altLang="en-US" sz="2000" b="1">
                          <a:solidFill>
                            <a:srgbClr val="0000CC"/>
                          </a:solidFill>
                          <a:latin typeface="Arial" panose="020B0604020202090204" pitchFamily="34" charset="0"/>
                          <a:ea typeface="楷体" charset="-122"/>
                        </a:rPr>
                        <a:t>课程</a:t>
                      </a:r>
                      <a:endParaRPr lang="zh-CN" altLang="en-US" sz="2000" b="1">
                        <a:solidFill>
                          <a:srgbClr val="0000CC"/>
                        </a:solidFill>
                        <a:latin typeface="Arial" panose="020B0604020202090204" pitchFamily="34" charset="0"/>
                        <a:ea typeface="楷体" charset="-122"/>
                      </a:endParaRPr>
                    </a:p>
                  </a:txBody>
                  <a:tcPr marL="68580" marR="68580" marT="34290" marB="34290" anchor="ctr" anchorCtr="0">
                    <a:lnL w="12700">
                      <a:solidFill>
                        <a:schemeClr val="tx1"/>
                      </a:solidFill>
                      <a:prstDash val="solid"/>
                    </a:lnL>
                    <a:lnR w="6350">
                      <a:solidFill>
                        <a:schemeClr val="tx1"/>
                      </a:solidFill>
                      <a:prstDash val="sysDash"/>
                    </a:lnR>
                    <a:lnT w="6350">
                      <a:solidFill>
                        <a:schemeClr val="tx1"/>
                      </a:solidFill>
                      <a:prstDash val="sysDash"/>
                    </a:lnT>
                    <a:lnB w="6350">
                      <a:solidFill>
                        <a:schemeClr val="tx1"/>
                      </a:solidFill>
                      <a:prstDash val="sysDash"/>
                    </a:lnB>
                    <a:noFill/>
                  </a:tcPr>
                </a:tc>
                <a:tc>
                  <a:txBody>
                    <a:bodyPr/>
                    <a:p>
                      <a:pPr algn="l">
                        <a:buNone/>
                      </a:pPr>
                      <a:r>
                        <a:rPr sz="2000" b="1">
                          <a:solidFill>
                            <a:srgbClr val="0000CC"/>
                          </a:solidFill>
                          <a:latin typeface="Arial" panose="020B0604020202090204" pitchFamily="34" charset="0"/>
                          <a:ea typeface="楷体" charset="-122"/>
                          <a:cs typeface="Arial" panose="020B0604020202090204" pitchFamily="34" charset="0"/>
                          <a:sym typeface="+mn-ea"/>
                        </a:rPr>
                        <a:t>课程号</a:t>
                      </a:r>
                      <a:r>
                        <a:rPr lang="en-US" sz="2000" b="1">
                          <a:solidFill>
                            <a:srgbClr val="0000CC"/>
                          </a:solidFill>
                          <a:latin typeface="Arial" panose="020B0604020202090204" pitchFamily="34" charset="0"/>
                          <a:ea typeface="楷体" charset="-122"/>
                          <a:cs typeface="Arial" panose="020B0604020202090204" pitchFamily="34" charset="0"/>
                          <a:sym typeface="+mn-ea"/>
                        </a:rPr>
                        <a:t>, </a:t>
                      </a:r>
                      <a:r>
                        <a:rPr sz="2000" b="1">
                          <a:solidFill>
                            <a:srgbClr val="0000CC"/>
                          </a:solidFill>
                          <a:latin typeface="Arial" panose="020B0604020202090204" pitchFamily="34" charset="0"/>
                          <a:ea typeface="楷体" charset="-122"/>
                          <a:cs typeface="Arial" panose="020B0604020202090204" pitchFamily="34" charset="0"/>
                          <a:sym typeface="+mn-ea"/>
                        </a:rPr>
                        <a:t>课程名</a:t>
                      </a:r>
                      <a:r>
                        <a:rPr lang="en-US" sz="2000" b="1">
                          <a:solidFill>
                            <a:srgbClr val="0000CC"/>
                          </a:solidFill>
                          <a:latin typeface="Arial" panose="020B0604020202090204" pitchFamily="34" charset="0"/>
                          <a:ea typeface="楷体" charset="-122"/>
                          <a:cs typeface="Arial" panose="020B0604020202090204" pitchFamily="34" charset="0"/>
                          <a:sym typeface="+mn-ea"/>
                        </a:rPr>
                        <a:t>, </a:t>
                      </a:r>
                      <a:r>
                        <a:rPr sz="2000" b="1">
                          <a:solidFill>
                            <a:srgbClr val="0000CC"/>
                          </a:solidFill>
                          <a:latin typeface="Arial" panose="020B0604020202090204" pitchFamily="34" charset="0"/>
                          <a:ea typeface="楷体" charset="-122"/>
                          <a:cs typeface="Arial" panose="020B0604020202090204" pitchFamily="34" charset="0"/>
                          <a:sym typeface="+mn-ea"/>
                        </a:rPr>
                        <a:t>开课院系</a:t>
                      </a:r>
                      <a:r>
                        <a:rPr lang="en-US" sz="2000" b="1">
                          <a:solidFill>
                            <a:srgbClr val="0000CC"/>
                          </a:solidFill>
                          <a:latin typeface="Arial" panose="020B0604020202090204" pitchFamily="34" charset="0"/>
                          <a:ea typeface="楷体" charset="-122"/>
                          <a:cs typeface="Arial" panose="020B0604020202090204" pitchFamily="34" charset="0"/>
                          <a:sym typeface="+mn-ea"/>
                        </a:rPr>
                        <a:t>, </a:t>
                      </a:r>
                      <a:r>
                        <a:rPr sz="2000" b="1">
                          <a:solidFill>
                            <a:srgbClr val="0000CC"/>
                          </a:solidFill>
                          <a:latin typeface="Arial" panose="020B0604020202090204" pitchFamily="34" charset="0"/>
                          <a:ea typeface="楷体" charset="-122"/>
                          <a:cs typeface="Arial" panose="020B0604020202090204" pitchFamily="34" charset="0"/>
                          <a:sym typeface="+mn-ea"/>
                        </a:rPr>
                        <a:t>学分</a:t>
                      </a:r>
                      <a:r>
                        <a:rPr lang="en-US" sz="2000" b="1">
                          <a:solidFill>
                            <a:srgbClr val="0000CC"/>
                          </a:solidFill>
                          <a:latin typeface="Arial" panose="020B0604020202090204" pitchFamily="34" charset="0"/>
                          <a:ea typeface="楷体" charset="-122"/>
                          <a:cs typeface="Arial" panose="020B0604020202090204" pitchFamily="34" charset="0"/>
                          <a:sym typeface="+mn-ea"/>
                        </a:rPr>
                        <a:t>, </a:t>
                      </a:r>
                      <a:r>
                        <a:rPr sz="2000" b="1">
                          <a:solidFill>
                            <a:srgbClr val="0000CC"/>
                          </a:solidFill>
                          <a:latin typeface="Arial" panose="020B0604020202090204" pitchFamily="34" charset="0"/>
                          <a:ea typeface="楷体" charset="-122"/>
                          <a:cs typeface="Arial" panose="020B0604020202090204" pitchFamily="34" charset="0"/>
                          <a:sym typeface="+mn-ea"/>
                        </a:rPr>
                        <a:t>课程类型</a:t>
                      </a:r>
                      <a:endParaRPr lang="zh-CN" altLang="en-US" sz="2000" b="1">
                        <a:solidFill>
                          <a:srgbClr val="0000CC"/>
                        </a:solidFill>
                        <a:latin typeface="Arial" panose="020B0604020202090204" pitchFamily="34" charset="0"/>
                        <a:ea typeface="楷体" charset="-122"/>
                        <a:cs typeface="Arial" panose="020B0604020202090204" pitchFamily="34" charset="0"/>
                        <a:sym typeface="+mn-ea"/>
                      </a:endParaRPr>
                    </a:p>
                  </a:txBody>
                  <a:tcPr marL="68580" marR="68580" marT="34290" marB="34290" anchor="ctr" anchorCtr="0">
                    <a:lnL w="6350">
                      <a:solidFill>
                        <a:schemeClr val="tx1"/>
                      </a:solidFill>
                      <a:prstDash val="sysDash"/>
                    </a:lnL>
                    <a:lnR w="6350">
                      <a:solidFill>
                        <a:schemeClr val="tx1"/>
                      </a:solidFill>
                      <a:prstDash val="sysDash"/>
                    </a:lnR>
                    <a:lnT w="6350">
                      <a:solidFill>
                        <a:schemeClr val="tx1"/>
                      </a:solidFill>
                      <a:prstDash val="sysDash"/>
                    </a:lnT>
                    <a:lnB w="6350">
                      <a:solidFill>
                        <a:schemeClr val="tx1"/>
                      </a:solidFill>
                      <a:prstDash val="sysDash"/>
                    </a:lnB>
                    <a:noFill/>
                  </a:tcPr>
                </a:tc>
                <a:tc>
                  <a:txBody>
                    <a:bodyPr/>
                    <a:p>
                      <a:pPr algn="l">
                        <a:buNone/>
                      </a:pPr>
                      <a:r>
                        <a:rPr sz="2000" b="1">
                          <a:solidFill>
                            <a:srgbClr val="0000CC"/>
                          </a:solidFill>
                          <a:latin typeface="Arial" panose="020B0604020202090204" pitchFamily="34" charset="0"/>
                          <a:ea typeface="楷体" charset="-122"/>
                          <a:cs typeface="Arial" panose="020B0604020202090204" pitchFamily="34" charset="0"/>
                          <a:sym typeface="+mn-ea"/>
                        </a:rPr>
                        <a:t>Course</a:t>
                      </a:r>
                      <a:r>
                        <a:rPr lang="en-US" sz="2000" b="1">
                          <a:solidFill>
                            <a:srgbClr val="0000CC"/>
                          </a:solidFill>
                          <a:latin typeface="Arial" panose="020B0604020202090204" pitchFamily="34" charset="0"/>
                          <a:ea typeface="楷体" charset="-122"/>
                          <a:cs typeface="Arial" panose="020B0604020202090204" pitchFamily="34" charset="0"/>
                          <a:sym typeface="+mn-ea"/>
                        </a:rPr>
                        <a:t> </a:t>
                      </a:r>
                      <a:r>
                        <a:rPr sz="2000" b="1">
                          <a:solidFill>
                            <a:srgbClr val="0000CC"/>
                          </a:solidFill>
                          <a:latin typeface="Arial" panose="020B0604020202090204" pitchFamily="34" charset="0"/>
                          <a:ea typeface="楷体" charset="-122"/>
                          <a:cs typeface="Arial" panose="020B0604020202090204" pitchFamily="34" charset="0"/>
                          <a:sym typeface="+mn-ea"/>
                        </a:rPr>
                        <a:t>(cno, cname, dept, credit, optional)</a:t>
                      </a:r>
                      <a:endParaRPr lang="zh-CN" altLang="en-US" sz="2000" b="1">
                        <a:solidFill>
                          <a:srgbClr val="0000CC"/>
                        </a:solidFill>
                        <a:latin typeface="Arial" panose="020B0604020202090204" pitchFamily="34" charset="0"/>
                        <a:ea typeface="楷体" charset="-122"/>
                        <a:cs typeface="Arial" panose="020B0604020202090204" pitchFamily="34" charset="0"/>
                        <a:sym typeface="+mn-ea"/>
                      </a:endParaRPr>
                    </a:p>
                  </a:txBody>
                  <a:tcPr marL="68580" marR="68580" marT="34290" marB="34290"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525780">
                <a:tc>
                  <a:txBody>
                    <a:bodyPr/>
                    <a:p>
                      <a:pPr algn="ctr">
                        <a:buNone/>
                      </a:pPr>
                      <a:r>
                        <a:rPr lang="zh-CN" altLang="en-US" sz="2000" b="1">
                          <a:solidFill>
                            <a:srgbClr val="0000CC"/>
                          </a:solidFill>
                          <a:latin typeface="Arial" panose="020B0604020202090204" pitchFamily="34" charset="0"/>
                          <a:ea typeface="楷体" charset="-122"/>
                        </a:rPr>
                        <a:t>选课</a:t>
                      </a:r>
                      <a:endParaRPr lang="zh-CN" altLang="en-US" sz="2000" b="1">
                        <a:solidFill>
                          <a:srgbClr val="0000CC"/>
                        </a:solidFill>
                        <a:latin typeface="Arial" panose="020B0604020202090204" pitchFamily="34" charset="0"/>
                        <a:ea typeface="楷体" charset="-122"/>
                      </a:endParaRPr>
                    </a:p>
                  </a:txBody>
                  <a:tcPr marL="68580" marR="68580" marT="34290" marB="34290" anchor="ctr" anchorCtr="0">
                    <a:lnL w="12700">
                      <a:solidFill>
                        <a:schemeClr val="tx1"/>
                      </a:solidFill>
                      <a:prstDash val="solid"/>
                    </a:lnL>
                    <a:lnR w="6350">
                      <a:solidFill>
                        <a:schemeClr val="tx1"/>
                      </a:solidFill>
                      <a:prstDash val="sysDash"/>
                    </a:lnR>
                    <a:lnT w="6350">
                      <a:solidFill>
                        <a:schemeClr val="tx1"/>
                      </a:solidFill>
                      <a:prstDash val="sysDash"/>
                    </a:lnT>
                    <a:lnB w="6350">
                      <a:solidFill>
                        <a:schemeClr val="tx1"/>
                      </a:solidFill>
                      <a:prstDash val="sysDash"/>
                    </a:lnB>
                    <a:noFill/>
                  </a:tcPr>
                </a:tc>
                <a:tc>
                  <a:txBody>
                    <a:bodyPr/>
                    <a:p>
                      <a:pPr algn="l">
                        <a:buNone/>
                      </a:pPr>
                      <a:r>
                        <a:rPr sz="2000" b="1">
                          <a:solidFill>
                            <a:srgbClr val="0000CC"/>
                          </a:solidFill>
                          <a:latin typeface="Arial" panose="020B0604020202090204" pitchFamily="34" charset="0"/>
                          <a:ea typeface="楷体" charset="-122"/>
                          <a:cs typeface="Arial" panose="020B0604020202090204" pitchFamily="34" charset="0"/>
                          <a:sym typeface="+mn-ea"/>
                        </a:rPr>
                        <a:t>学号</a:t>
                      </a:r>
                      <a:r>
                        <a:rPr lang="en-US" sz="2000" b="1">
                          <a:solidFill>
                            <a:srgbClr val="0000CC"/>
                          </a:solidFill>
                          <a:latin typeface="Arial" panose="020B0604020202090204" pitchFamily="34" charset="0"/>
                          <a:ea typeface="楷体" charset="-122"/>
                          <a:cs typeface="Arial" panose="020B0604020202090204" pitchFamily="34" charset="0"/>
                          <a:sym typeface="+mn-ea"/>
                        </a:rPr>
                        <a:t>, </a:t>
                      </a:r>
                      <a:r>
                        <a:rPr sz="2000" b="1">
                          <a:solidFill>
                            <a:srgbClr val="0000CC"/>
                          </a:solidFill>
                          <a:latin typeface="Arial" panose="020B0604020202090204" pitchFamily="34" charset="0"/>
                          <a:ea typeface="楷体" charset="-122"/>
                          <a:cs typeface="Arial" panose="020B0604020202090204" pitchFamily="34" charset="0"/>
                          <a:sym typeface="+mn-ea"/>
                        </a:rPr>
                        <a:t>课程号</a:t>
                      </a:r>
                      <a:r>
                        <a:rPr lang="en-US" sz="2000" b="1">
                          <a:solidFill>
                            <a:srgbClr val="0000CC"/>
                          </a:solidFill>
                          <a:latin typeface="Arial" panose="020B0604020202090204" pitchFamily="34" charset="0"/>
                          <a:ea typeface="楷体" charset="-122"/>
                          <a:cs typeface="Arial" panose="020B0604020202090204" pitchFamily="34" charset="0"/>
                          <a:sym typeface="+mn-ea"/>
                        </a:rPr>
                        <a:t>, </a:t>
                      </a:r>
                      <a:r>
                        <a:rPr lang="zh-CN" sz="2000" b="1">
                          <a:solidFill>
                            <a:srgbClr val="0000CC"/>
                          </a:solidFill>
                          <a:latin typeface="Arial" panose="020B0604020202090204" pitchFamily="34" charset="0"/>
                          <a:ea typeface="楷体" charset="-122"/>
                          <a:cs typeface="Arial" panose="020B0604020202090204" pitchFamily="34" charset="0"/>
                          <a:sym typeface="+mn-ea"/>
                        </a:rPr>
                        <a:t>授课教师工号</a:t>
                      </a:r>
                      <a:r>
                        <a:rPr lang="en-US" sz="2000" b="1">
                          <a:solidFill>
                            <a:srgbClr val="0000CC"/>
                          </a:solidFill>
                          <a:latin typeface="Arial" panose="020B0604020202090204" pitchFamily="34" charset="0"/>
                          <a:ea typeface="楷体" charset="-122"/>
                          <a:cs typeface="Arial" panose="020B0604020202090204" pitchFamily="34" charset="0"/>
                          <a:sym typeface="+mn-ea"/>
                        </a:rPr>
                        <a:t>, </a:t>
                      </a:r>
                      <a:r>
                        <a:rPr lang="zh-CN" sz="2000" b="1">
                          <a:solidFill>
                            <a:srgbClr val="0000CC"/>
                          </a:solidFill>
                          <a:latin typeface="Arial" panose="020B0604020202090204" pitchFamily="34" charset="0"/>
                          <a:ea typeface="楷体" charset="-122"/>
                          <a:cs typeface="Arial" panose="020B0604020202090204" pitchFamily="34" charset="0"/>
                          <a:sym typeface="+mn-ea"/>
                        </a:rPr>
                        <a:t>选修年份</a:t>
                      </a:r>
                      <a:r>
                        <a:rPr lang="en-US" sz="2000" b="1">
                          <a:solidFill>
                            <a:srgbClr val="0000CC"/>
                          </a:solidFill>
                          <a:latin typeface="Arial" panose="020B0604020202090204" pitchFamily="34" charset="0"/>
                          <a:ea typeface="楷体" charset="-122"/>
                          <a:cs typeface="Arial" panose="020B0604020202090204" pitchFamily="34" charset="0"/>
                          <a:sym typeface="+mn-ea"/>
                        </a:rPr>
                        <a:t>, </a:t>
                      </a:r>
                      <a:endParaRPr lang="en-US" sz="2000" b="1">
                        <a:solidFill>
                          <a:srgbClr val="0000CC"/>
                        </a:solidFill>
                        <a:latin typeface="Arial" panose="020B0604020202090204" pitchFamily="34" charset="0"/>
                        <a:ea typeface="楷体" charset="-122"/>
                        <a:cs typeface="Arial" panose="020B0604020202090204" pitchFamily="34" charset="0"/>
                        <a:sym typeface="+mn-ea"/>
                      </a:endParaRPr>
                    </a:p>
                    <a:p>
                      <a:pPr algn="l">
                        <a:buNone/>
                      </a:pPr>
                      <a:r>
                        <a:rPr lang="zh-CN" sz="2000" b="1">
                          <a:solidFill>
                            <a:srgbClr val="0000CC"/>
                          </a:solidFill>
                          <a:latin typeface="Arial" panose="020B0604020202090204" pitchFamily="34" charset="0"/>
                          <a:ea typeface="楷体" charset="-122"/>
                          <a:cs typeface="Arial" panose="020B0604020202090204" pitchFamily="34" charset="0"/>
                          <a:sym typeface="+mn-ea"/>
                        </a:rPr>
                        <a:t>选修学期</a:t>
                      </a:r>
                      <a:r>
                        <a:rPr lang="en-US" sz="2000" b="1">
                          <a:solidFill>
                            <a:srgbClr val="0000CC"/>
                          </a:solidFill>
                          <a:latin typeface="Arial" panose="020B0604020202090204" pitchFamily="34" charset="0"/>
                          <a:ea typeface="楷体" charset="-122"/>
                          <a:cs typeface="Arial" panose="020B0604020202090204" pitchFamily="34" charset="0"/>
                          <a:sym typeface="+mn-ea"/>
                        </a:rPr>
                        <a:t>, </a:t>
                      </a:r>
                      <a:r>
                        <a:rPr sz="2000" b="1">
                          <a:solidFill>
                            <a:srgbClr val="0000CC"/>
                          </a:solidFill>
                          <a:latin typeface="Arial" panose="020B0604020202090204" pitchFamily="34" charset="0"/>
                          <a:ea typeface="楷体" charset="-122"/>
                          <a:cs typeface="Arial" panose="020B0604020202090204" pitchFamily="34" charset="0"/>
                          <a:sym typeface="+mn-ea"/>
                        </a:rPr>
                        <a:t>成绩</a:t>
                      </a:r>
                      <a:endParaRPr lang="zh-CN" altLang="en-US" sz="2000" b="1">
                        <a:solidFill>
                          <a:srgbClr val="0000CC"/>
                        </a:solidFill>
                        <a:latin typeface="Arial" panose="020B0604020202090204" pitchFamily="34" charset="0"/>
                        <a:ea typeface="楷体" charset="-122"/>
                        <a:cs typeface="Arial" panose="020B0604020202090204" pitchFamily="34" charset="0"/>
                        <a:sym typeface="+mn-ea"/>
                      </a:endParaRPr>
                    </a:p>
                  </a:txBody>
                  <a:tcPr marL="68580" marR="68580" marT="34290" marB="34290" anchor="ctr" anchorCtr="0">
                    <a:lnL w="6350">
                      <a:solidFill>
                        <a:schemeClr val="tx1"/>
                      </a:solidFill>
                      <a:prstDash val="sysDash"/>
                    </a:lnL>
                    <a:lnR w="6350">
                      <a:solidFill>
                        <a:schemeClr val="tx1"/>
                      </a:solidFill>
                      <a:prstDash val="sysDash"/>
                    </a:lnR>
                    <a:lnT w="6350">
                      <a:solidFill>
                        <a:schemeClr val="tx1"/>
                      </a:solidFill>
                      <a:prstDash val="sysDash"/>
                    </a:lnT>
                    <a:lnB w="6350">
                      <a:solidFill>
                        <a:schemeClr val="tx1"/>
                      </a:solidFill>
                      <a:prstDash val="sysDash"/>
                    </a:lnB>
                    <a:noFill/>
                  </a:tcPr>
                </a:tc>
                <a:tc>
                  <a:txBody>
                    <a:bodyPr/>
                    <a:p>
                      <a:pPr algn="l">
                        <a:buNone/>
                      </a:pPr>
                      <a:r>
                        <a:rPr sz="2000" b="1">
                          <a:solidFill>
                            <a:srgbClr val="0000CC"/>
                          </a:solidFill>
                          <a:latin typeface="Arial" panose="020B0604020202090204" pitchFamily="34" charset="0"/>
                          <a:ea typeface="楷体" charset="-122"/>
                          <a:cs typeface="Arial" panose="020B0604020202090204" pitchFamily="34" charset="0"/>
                          <a:sym typeface="+mn-ea"/>
                        </a:rPr>
                        <a:t>S</a:t>
                      </a:r>
                      <a:r>
                        <a:rPr lang="en-US" sz="2000" b="1">
                          <a:solidFill>
                            <a:srgbClr val="0000CC"/>
                          </a:solidFill>
                          <a:latin typeface="Arial" panose="020B0604020202090204" pitchFamily="34" charset="0"/>
                          <a:ea typeface="楷体" charset="-122"/>
                          <a:cs typeface="Arial" panose="020B0604020202090204" pitchFamily="34" charset="0"/>
                          <a:sym typeface="+mn-ea"/>
                        </a:rPr>
                        <a:t>C </a:t>
                      </a:r>
                      <a:r>
                        <a:rPr sz="2000" b="1">
                          <a:solidFill>
                            <a:srgbClr val="0000CC"/>
                          </a:solidFill>
                          <a:latin typeface="Arial" panose="020B0604020202090204" pitchFamily="34" charset="0"/>
                          <a:ea typeface="楷体" charset="-122"/>
                          <a:cs typeface="Arial" panose="020B0604020202090204" pitchFamily="34" charset="0"/>
                          <a:sym typeface="+mn-ea"/>
                        </a:rPr>
                        <a:t>(sno, cno, </a:t>
                      </a:r>
                      <a:r>
                        <a:rPr lang="en-US" altLang="zh-CN" sz="2000" b="1">
                          <a:solidFill>
                            <a:srgbClr val="0000CC"/>
                          </a:solidFill>
                          <a:latin typeface="Arial" panose="020B0604020202090204" pitchFamily="34" charset="0"/>
                          <a:ea typeface="楷体" charset="-122"/>
                          <a:cs typeface="Arial" panose="020B0604020202090204" pitchFamily="34" charset="0"/>
                          <a:sym typeface="+mn-ea"/>
                        </a:rPr>
                        <a:t>t</a:t>
                      </a:r>
                      <a:r>
                        <a:rPr lang="en-US" altLang="zh-CN" sz="2000" b="1">
                          <a:solidFill>
                            <a:srgbClr val="0000CC"/>
                          </a:solidFill>
                          <a:latin typeface="Arial" panose="020B0604020202090204" pitchFamily="34" charset="0"/>
                          <a:ea typeface="楷体" charset="-122"/>
                          <a:cs typeface="Arial" panose="020B0604020202090204" pitchFamily="34" charset="0"/>
                          <a:sym typeface="+mn-ea"/>
                        </a:rPr>
                        <a:t>no, scyear, semester, </a:t>
                      </a:r>
                      <a:r>
                        <a:rPr sz="2000" b="1">
                          <a:solidFill>
                            <a:srgbClr val="0000CC"/>
                          </a:solidFill>
                          <a:latin typeface="Arial" panose="020B0604020202090204" pitchFamily="34" charset="0"/>
                          <a:ea typeface="楷体" charset="-122"/>
                          <a:cs typeface="Arial" panose="020B0604020202090204" pitchFamily="34" charset="0"/>
                          <a:sym typeface="+mn-ea"/>
                        </a:rPr>
                        <a:t>grade)</a:t>
                      </a:r>
                      <a:endParaRPr lang="zh-CN" altLang="en-US" sz="2000" b="1">
                        <a:solidFill>
                          <a:srgbClr val="0000CC"/>
                        </a:solidFill>
                        <a:latin typeface="Arial" panose="020B0604020202090204" pitchFamily="34" charset="0"/>
                        <a:ea typeface="楷体" charset="-122"/>
                        <a:cs typeface="Arial" panose="020B0604020202090204" pitchFamily="34" charset="0"/>
                        <a:sym typeface="+mn-ea"/>
                      </a:endParaRPr>
                    </a:p>
                  </a:txBody>
                  <a:tcPr marL="68580" marR="68580" marT="34290" marB="34290"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525780">
                <a:tc>
                  <a:txBody>
                    <a:bodyPr/>
                    <a:p>
                      <a:pPr algn="ctr">
                        <a:buNone/>
                      </a:pPr>
                      <a:r>
                        <a:rPr lang="zh-CN" altLang="en-US" sz="2000" b="1">
                          <a:solidFill>
                            <a:srgbClr val="0000CC"/>
                          </a:solidFill>
                          <a:latin typeface="Arial" panose="020B0604020202090204" pitchFamily="34" charset="0"/>
                          <a:ea typeface="楷体" charset="-122"/>
                        </a:rPr>
                        <a:t>授课</a:t>
                      </a:r>
                      <a:endParaRPr lang="zh-CN" altLang="en-US" sz="2000" b="1">
                        <a:solidFill>
                          <a:srgbClr val="0000CC"/>
                        </a:solidFill>
                        <a:latin typeface="Arial" panose="020B0604020202090204" pitchFamily="34" charset="0"/>
                        <a:ea typeface="楷体" charset="-122"/>
                      </a:endParaRPr>
                    </a:p>
                  </a:txBody>
                  <a:tcPr marL="68580" marR="68580" marT="34290" marB="34290" anchor="ctr" anchorCtr="0">
                    <a:lnL w="12700">
                      <a:solidFill>
                        <a:schemeClr val="tx1"/>
                      </a:solidFill>
                      <a:prstDash val="solid"/>
                    </a:lnL>
                    <a:lnR w="6350">
                      <a:solidFill>
                        <a:schemeClr val="tx1"/>
                      </a:solidFill>
                      <a:prstDash val="sysDash"/>
                    </a:lnR>
                    <a:lnT w="6350">
                      <a:solidFill>
                        <a:schemeClr val="tx1"/>
                      </a:solidFill>
                      <a:prstDash val="sysDash"/>
                    </a:lnT>
                    <a:lnB w="12700">
                      <a:solidFill>
                        <a:schemeClr val="tx1"/>
                      </a:solidFill>
                      <a:prstDash val="solid"/>
                    </a:lnB>
                    <a:noFill/>
                  </a:tcPr>
                </a:tc>
                <a:tc>
                  <a:txBody>
                    <a:bodyPr/>
                    <a:p>
                      <a:pPr algn="l">
                        <a:buNone/>
                      </a:pPr>
                      <a:r>
                        <a:rPr sz="2000" b="1">
                          <a:solidFill>
                            <a:srgbClr val="0000CC"/>
                          </a:solidFill>
                          <a:latin typeface="Arial" panose="020B0604020202090204" pitchFamily="34" charset="0"/>
                          <a:ea typeface="楷体" charset="-122"/>
                          <a:cs typeface="Arial" panose="020B0604020202090204" pitchFamily="34" charset="0"/>
                          <a:sym typeface="+mn-ea"/>
                        </a:rPr>
                        <a:t>主讲教师工号</a:t>
                      </a:r>
                      <a:r>
                        <a:rPr lang="en-US" sz="2000" b="1">
                          <a:solidFill>
                            <a:srgbClr val="0000CC"/>
                          </a:solidFill>
                          <a:latin typeface="Arial" panose="020B0604020202090204" pitchFamily="34" charset="0"/>
                          <a:ea typeface="楷体" charset="-122"/>
                          <a:cs typeface="Arial" panose="020B0604020202090204" pitchFamily="34" charset="0"/>
                          <a:sym typeface="+mn-ea"/>
                        </a:rPr>
                        <a:t>, </a:t>
                      </a:r>
                      <a:r>
                        <a:rPr sz="2000" b="1">
                          <a:solidFill>
                            <a:srgbClr val="0000CC"/>
                          </a:solidFill>
                          <a:latin typeface="Arial" panose="020B0604020202090204" pitchFamily="34" charset="0"/>
                          <a:ea typeface="楷体" charset="-122"/>
                          <a:cs typeface="Arial" panose="020B0604020202090204" pitchFamily="34" charset="0"/>
                          <a:sym typeface="+mn-ea"/>
                        </a:rPr>
                        <a:t>课程号</a:t>
                      </a:r>
                      <a:r>
                        <a:rPr lang="en-US" sz="2000" b="1">
                          <a:solidFill>
                            <a:srgbClr val="0000CC"/>
                          </a:solidFill>
                          <a:latin typeface="Arial" panose="020B0604020202090204" pitchFamily="34" charset="0"/>
                          <a:ea typeface="楷体" charset="-122"/>
                          <a:cs typeface="Arial" panose="020B0604020202090204" pitchFamily="34" charset="0"/>
                          <a:sym typeface="+mn-ea"/>
                        </a:rPr>
                        <a:t>, </a:t>
                      </a:r>
                      <a:r>
                        <a:rPr sz="2000" b="1">
                          <a:solidFill>
                            <a:srgbClr val="0000CC"/>
                          </a:solidFill>
                          <a:latin typeface="Arial" panose="020B0604020202090204" pitchFamily="34" charset="0"/>
                          <a:ea typeface="楷体" charset="-122"/>
                          <a:cs typeface="Arial" panose="020B0604020202090204" pitchFamily="34" charset="0"/>
                          <a:sym typeface="+mn-ea"/>
                        </a:rPr>
                        <a:t>授课年份</a:t>
                      </a:r>
                      <a:r>
                        <a:rPr lang="en-US" sz="2000" b="1">
                          <a:solidFill>
                            <a:srgbClr val="0000CC"/>
                          </a:solidFill>
                          <a:latin typeface="Arial" panose="020B0604020202090204" pitchFamily="34" charset="0"/>
                          <a:ea typeface="楷体" charset="-122"/>
                          <a:cs typeface="Arial" panose="020B0604020202090204" pitchFamily="34" charset="0"/>
                          <a:sym typeface="+mn-ea"/>
                        </a:rPr>
                        <a:t>, </a:t>
                      </a:r>
                      <a:endParaRPr lang="en-US" sz="2000" b="1">
                        <a:solidFill>
                          <a:srgbClr val="0000CC"/>
                        </a:solidFill>
                        <a:latin typeface="Arial" panose="020B0604020202090204" pitchFamily="34" charset="0"/>
                        <a:ea typeface="楷体" charset="-122"/>
                        <a:cs typeface="Arial" panose="020B0604020202090204" pitchFamily="34" charset="0"/>
                        <a:sym typeface="+mn-ea"/>
                      </a:endParaRPr>
                    </a:p>
                    <a:p>
                      <a:pPr algn="l">
                        <a:buNone/>
                      </a:pPr>
                      <a:r>
                        <a:rPr sz="2000" b="1">
                          <a:solidFill>
                            <a:srgbClr val="0000CC"/>
                          </a:solidFill>
                          <a:latin typeface="Arial" panose="020B0604020202090204" pitchFamily="34" charset="0"/>
                          <a:ea typeface="楷体" charset="-122"/>
                          <a:cs typeface="Arial" panose="020B0604020202090204" pitchFamily="34" charset="0"/>
                          <a:sym typeface="+mn-ea"/>
                        </a:rPr>
                        <a:t>授课学期</a:t>
                      </a:r>
                      <a:r>
                        <a:rPr lang="en-US" sz="2000" b="1">
                          <a:solidFill>
                            <a:srgbClr val="0000CC"/>
                          </a:solidFill>
                          <a:latin typeface="Arial" panose="020B0604020202090204" pitchFamily="34" charset="0"/>
                          <a:ea typeface="楷体" charset="-122"/>
                          <a:cs typeface="Arial" panose="020B0604020202090204" pitchFamily="34" charset="0"/>
                          <a:sym typeface="+mn-ea"/>
                        </a:rPr>
                        <a:t>, </a:t>
                      </a:r>
                      <a:r>
                        <a:rPr sz="2000" b="1">
                          <a:solidFill>
                            <a:srgbClr val="0000CC"/>
                          </a:solidFill>
                          <a:latin typeface="Arial" panose="020B0604020202090204" pitchFamily="34" charset="0"/>
                          <a:ea typeface="楷体" charset="-122"/>
                          <a:cs typeface="Arial" panose="020B0604020202090204" pitchFamily="34" charset="0"/>
                          <a:sym typeface="+mn-ea"/>
                        </a:rPr>
                        <a:t>课时数</a:t>
                      </a:r>
                      <a:endParaRPr lang="zh-CN" altLang="en-US" sz="2000" b="1">
                        <a:solidFill>
                          <a:srgbClr val="0000CC"/>
                        </a:solidFill>
                        <a:latin typeface="Arial" panose="020B0604020202090204" pitchFamily="34" charset="0"/>
                        <a:ea typeface="楷体" charset="-122"/>
                        <a:cs typeface="Arial" panose="020B0604020202090204" pitchFamily="34" charset="0"/>
                        <a:sym typeface="+mn-ea"/>
                      </a:endParaRPr>
                    </a:p>
                  </a:txBody>
                  <a:tcPr marL="68580" marR="68580" marT="34290" marB="34290" anchor="ctr" anchorCtr="0">
                    <a:lnL w="6350">
                      <a:solidFill>
                        <a:schemeClr val="tx1"/>
                      </a:solidFill>
                      <a:prstDash val="sysDash"/>
                    </a:lnL>
                    <a:lnR w="6350">
                      <a:solidFill>
                        <a:schemeClr val="tx1"/>
                      </a:solidFill>
                      <a:prstDash val="sysDash"/>
                    </a:lnR>
                    <a:lnT w="6350">
                      <a:solidFill>
                        <a:schemeClr val="tx1"/>
                      </a:solidFill>
                      <a:prstDash val="sysDash"/>
                    </a:lnT>
                    <a:lnB w="12700">
                      <a:solidFill>
                        <a:schemeClr val="tx1"/>
                      </a:solidFill>
                      <a:prstDash val="solid"/>
                    </a:lnB>
                    <a:noFill/>
                  </a:tcPr>
                </a:tc>
                <a:tc>
                  <a:txBody>
                    <a:bodyPr/>
                    <a:p>
                      <a:pPr algn="l">
                        <a:buNone/>
                      </a:pPr>
                      <a:r>
                        <a:rPr sz="2000" b="1">
                          <a:solidFill>
                            <a:srgbClr val="0000CC"/>
                          </a:solidFill>
                          <a:latin typeface="Arial" panose="020B0604020202090204" pitchFamily="34" charset="0"/>
                          <a:ea typeface="楷体" charset="-122"/>
                          <a:cs typeface="Arial" panose="020B0604020202090204" pitchFamily="34" charset="0"/>
                          <a:sym typeface="+mn-ea"/>
                        </a:rPr>
                        <a:t>T</a:t>
                      </a:r>
                      <a:r>
                        <a:rPr lang="en-US" sz="2000" b="1">
                          <a:solidFill>
                            <a:srgbClr val="0000CC"/>
                          </a:solidFill>
                          <a:latin typeface="Arial" panose="020B0604020202090204" pitchFamily="34" charset="0"/>
                          <a:ea typeface="楷体" charset="-122"/>
                          <a:cs typeface="Arial" panose="020B0604020202090204" pitchFamily="34" charset="0"/>
                          <a:sym typeface="+mn-ea"/>
                        </a:rPr>
                        <a:t>C </a:t>
                      </a:r>
                      <a:r>
                        <a:rPr sz="2000" b="1">
                          <a:solidFill>
                            <a:srgbClr val="0000CC"/>
                          </a:solidFill>
                          <a:latin typeface="Arial" panose="020B0604020202090204" pitchFamily="34" charset="0"/>
                          <a:ea typeface="楷体" charset="-122"/>
                          <a:cs typeface="Arial" panose="020B0604020202090204" pitchFamily="34" charset="0"/>
                          <a:sym typeface="+mn-ea"/>
                        </a:rPr>
                        <a:t>(</a:t>
                      </a:r>
                      <a:r>
                        <a:rPr lang="en-US" sz="2000" b="1">
                          <a:solidFill>
                            <a:srgbClr val="0000CC"/>
                          </a:solidFill>
                          <a:latin typeface="Arial" panose="020B0604020202090204" pitchFamily="34" charset="0"/>
                          <a:ea typeface="楷体" charset="-122"/>
                          <a:cs typeface="Arial" panose="020B0604020202090204" pitchFamily="34" charset="0"/>
                          <a:sym typeface="+mn-ea"/>
                        </a:rPr>
                        <a:t>t</a:t>
                      </a:r>
                      <a:r>
                        <a:rPr sz="2000" b="1">
                          <a:solidFill>
                            <a:srgbClr val="0000CC"/>
                          </a:solidFill>
                          <a:latin typeface="Arial" panose="020B0604020202090204" pitchFamily="34" charset="0"/>
                          <a:ea typeface="楷体" charset="-122"/>
                          <a:cs typeface="Arial" panose="020B0604020202090204" pitchFamily="34" charset="0"/>
                          <a:sym typeface="+mn-ea"/>
                        </a:rPr>
                        <a:t>no, cno, t</a:t>
                      </a:r>
                      <a:r>
                        <a:rPr lang="en-US" sz="2000" b="1">
                          <a:solidFill>
                            <a:srgbClr val="0000CC"/>
                          </a:solidFill>
                          <a:latin typeface="Arial" panose="020B0604020202090204" pitchFamily="34" charset="0"/>
                          <a:ea typeface="楷体" charset="-122"/>
                          <a:cs typeface="Arial" panose="020B0604020202090204" pitchFamily="34" charset="0"/>
                          <a:sym typeface="+mn-ea"/>
                        </a:rPr>
                        <a:t>c</a:t>
                      </a:r>
                      <a:r>
                        <a:rPr sz="2000" b="1">
                          <a:solidFill>
                            <a:srgbClr val="0000CC"/>
                          </a:solidFill>
                          <a:latin typeface="Arial" panose="020B0604020202090204" pitchFamily="34" charset="0"/>
                          <a:ea typeface="楷体" charset="-122"/>
                          <a:cs typeface="Arial" panose="020B0604020202090204" pitchFamily="34" charset="0"/>
                          <a:sym typeface="+mn-ea"/>
                        </a:rPr>
                        <a:t>year, semester, </a:t>
                      </a:r>
                      <a:r>
                        <a:rPr lang="en-US" sz="2000" b="1">
                          <a:solidFill>
                            <a:srgbClr val="0000CC"/>
                          </a:solidFill>
                          <a:latin typeface="Arial" panose="020B0604020202090204" pitchFamily="34" charset="0"/>
                          <a:ea typeface="楷体" charset="-122"/>
                          <a:cs typeface="Arial" panose="020B0604020202090204" pitchFamily="34" charset="0"/>
                          <a:sym typeface="+mn-ea"/>
                        </a:rPr>
                        <a:t>hour</a:t>
                      </a:r>
                      <a:r>
                        <a:rPr sz="2000" b="1">
                          <a:solidFill>
                            <a:srgbClr val="0000CC"/>
                          </a:solidFill>
                          <a:latin typeface="Arial" panose="020B0604020202090204" pitchFamily="34" charset="0"/>
                          <a:ea typeface="楷体" charset="-122"/>
                          <a:cs typeface="Arial" panose="020B0604020202090204" pitchFamily="34" charset="0"/>
                          <a:sym typeface="+mn-ea"/>
                        </a:rPr>
                        <a:t>s)</a:t>
                      </a:r>
                      <a:endParaRPr lang="zh-CN" altLang="en-US" sz="2000" b="1">
                        <a:solidFill>
                          <a:srgbClr val="0000CC"/>
                        </a:solidFill>
                        <a:latin typeface="Arial" panose="020B0604020202090204" pitchFamily="34" charset="0"/>
                        <a:ea typeface="楷体" charset="-122"/>
                        <a:cs typeface="Arial" panose="020B0604020202090204" pitchFamily="34" charset="0"/>
                        <a:sym typeface="+mn-ea"/>
                      </a:endParaRPr>
                    </a:p>
                  </a:txBody>
                  <a:tcPr marL="68580" marR="68580" marT="34290" marB="34290" anchor="ctr" anchorCtr="0">
                    <a:lnL w="6350">
                      <a:solidFill>
                        <a:schemeClr val="tx1"/>
                      </a:solidFill>
                      <a:prstDash val="sysDash"/>
                    </a:lnL>
                    <a:lnR w="12700">
                      <a:solidFill>
                        <a:schemeClr val="tx1"/>
                      </a:solidFill>
                      <a:prstDash val="solid"/>
                    </a:lnR>
                    <a:lnT w="6350">
                      <a:solidFill>
                        <a:schemeClr val="tx1"/>
                      </a:solidFill>
                      <a:prstDash val="sysDash"/>
                    </a:lnT>
                    <a:lnB w="12700">
                      <a:solidFill>
                        <a:schemeClr val="tx1"/>
                      </a:solidFill>
                      <a:prstDash val="solid"/>
                    </a:lnB>
                    <a:noFill/>
                  </a:tcPr>
                </a:tc>
              </a:tr>
            </a:tbl>
          </a:graphicData>
        </a:graphic>
      </p:graphicFrame>
      <mc:AlternateContent xmlns:mc="http://schemas.openxmlformats.org/markup-compatibility/2006">
        <mc:Choice xmlns:a14="http://schemas.microsoft.com/office/drawing/2010/main" Requires="a14">
          <p:sp>
            <p:nvSpPr>
              <p:cNvPr id="5" name="内容占位符 2"/>
              <p:cNvSpPr>
                <a:spLocks noGrp="1"/>
              </p:cNvSpPr>
              <p:nvPr/>
            </p:nvSpPr>
            <p:spPr>
              <a:xfrm>
                <a:off x="424180" y="4217035"/>
                <a:ext cx="11343640" cy="2513965"/>
              </a:xfrm>
              <a:prstGeom prst="rect">
                <a:avLst/>
              </a:prstGeom>
            </p:spPr>
            <p:txBody>
              <a:bodyPr vert="horz" wrap="square" lIns="68580" tIns="34290" rIns="68580" bIns="34290" rtlCol="0">
                <a:sp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spcAft>
                    <a:spcPts val="0"/>
                  </a:spcAft>
                  <a:buNone/>
                </a:pPr>
                <a:r>
                  <a:rPr sz="2000" b="1">
                    <a:solidFill>
                      <a:srgbClr val="0000CC"/>
                    </a:solidFill>
                    <a:latin typeface="Arial" panose="020B0604020202090204" pitchFamily="34" charset="0"/>
                    <a:ea typeface="楷体" charset="-122"/>
                    <a:cs typeface="Arial" panose="020B0604020202090204" pitchFamily="34" charset="0"/>
                  </a:rPr>
                  <a:t>其中：</a:t>
                </a:r>
                <a:endParaRPr sz="2000" b="1">
                  <a:solidFill>
                    <a:srgbClr val="0000CC"/>
                  </a:solidFill>
                  <a:latin typeface="Arial" panose="020B0604020202090204" pitchFamily="34" charset="0"/>
                  <a:ea typeface="楷体" charset="-122"/>
                  <a:cs typeface="Arial" panose="020B0604020202090204" pitchFamily="34" charset="0"/>
                </a:endParaRPr>
              </a:p>
              <a:p>
                <a:pPr lvl="1" fontAlgn="auto">
                  <a:lnSpc>
                    <a:spcPct val="115000"/>
                  </a:lnSpc>
                  <a:spcBef>
                    <a:spcPts val="0"/>
                  </a:spcBef>
                  <a:spcAft>
                    <a:spcPts val="0"/>
                  </a:spcAft>
                </a:pPr>
                <a:r>
                  <a:rPr lang="zh-CN" sz="2000" b="1">
                    <a:solidFill>
                      <a:srgbClr val="0000CC"/>
                    </a:solidFill>
                    <a:latin typeface="Arial" panose="020B0604020202090204" pitchFamily="34" charset="0"/>
                    <a:ea typeface="楷体" charset="-122"/>
                    <a:cs typeface="Arial" panose="020B0604020202090204" pitchFamily="34" charset="0"/>
                  </a:rPr>
                  <a:t>学号、工号、课程号分别是学生、教师、课程表的主码；</a:t>
                </a:r>
                <a:endParaRPr sz="2000" b="1">
                  <a:solidFill>
                    <a:srgbClr val="0000CC"/>
                  </a:solidFill>
                  <a:latin typeface="Arial" panose="020B0604020202090204" pitchFamily="34" charset="0"/>
                  <a:ea typeface="楷体" charset="-122"/>
                  <a:cs typeface="Arial" panose="020B0604020202090204" pitchFamily="34" charset="0"/>
                </a:endParaRPr>
              </a:p>
              <a:p>
                <a:pPr lvl="1" fontAlgn="auto">
                  <a:lnSpc>
                    <a:spcPct val="115000"/>
                  </a:lnSpc>
                  <a:spcBef>
                    <a:spcPts val="0"/>
                  </a:spcBef>
                  <a:spcAft>
                    <a:spcPts val="0"/>
                  </a:spcAft>
                </a:pPr>
                <a:r>
                  <a:rPr sz="2000" b="1">
                    <a:solidFill>
                      <a:srgbClr val="0000CC"/>
                    </a:solidFill>
                    <a:latin typeface="Arial" panose="020B0604020202090204" pitchFamily="34" charset="0"/>
                    <a:ea typeface="楷体" charset="-122"/>
                    <a:cs typeface="Arial" panose="020B0604020202090204" pitchFamily="34" charset="0"/>
                  </a:rPr>
                  <a:t>同一门课同一个学生只能有一条选课记录</a:t>
                </a:r>
                <a:r>
                  <a:rPr lang="zh-CN" sz="2000" b="1">
                    <a:solidFill>
                      <a:srgbClr val="0000CC"/>
                    </a:solidFill>
                    <a:latin typeface="Arial" panose="020B0604020202090204" pitchFamily="34" charset="0"/>
                    <a:ea typeface="楷体" charset="-122"/>
                    <a:cs typeface="Arial" panose="020B0604020202090204" pitchFamily="34" charset="0"/>
                  </a:rPr>
                  <a:t>，一门课一位教师在同一年的同一个学期内只能有一条授课记录</a:t>
                </a:r>
                <a:r>
                  <a:rPr sz="2000" b="1">
                    <a:solidFill>
                      <a:srgbClr val="0000CC"/>
                    </a:solidFill>
                    <a:latin typeface="Arial" panose="020B0604020202090204" pitchFamily="34" charset="0"/>
                    <a:ea typeface="楷体" charset="-122"/>
                    <a:cs typeface="Arial" panose="020B0604020202090204" pitchFamily="34" charset="0"/>
                  </a:rPr>
                  <a:t>；</a:t>
                </a:r>
                <a:endParaRPr sz="2000" b="1">
                  <a:solidFill>
                    <a:srgbClr val="0000CC"/>
                  </a:solidFill>
                  <a:latin typeface="Arial" panose="020B0604020202090204" pitchFamily="34" charset="0"/>
                  <a:ea typeface="楷体" charset="-122"/>
                  <a:cs typeface="Arial" panose="020B0604020202090204" pitchFamily="34" charset="0"/>
                </a:endParaRPr>
              </a:p>
              <a:p>
                <a:pPr lvl="1" fontAlgn="auto">
                  <a:lnSpc>
                    <a:spcPct val="115000"/>
                  </a:lnSpc>
                  <a:spcBef>
                    <a:spcPts val="0"/>
                  </a:spcBef>
                  <a:spcAft>
                    <a:spcPts val="0"/>
                  </a:spcAft>
                </a:pPr>
                <a:r>
                  <a:rPr sz="2000" b="1">
                    <a:solidFill>
                      <a:srgbClr val="0000CC"/>
                    </a:solidFill>
                    <a:latin typeface="Arial" panose="020B0604020202090204" pitchFamily="34" charset="0"/>
                    <a:ea typeface="楷体" charset="-122"/>
                    <a:cs typeface="Arial" panose="020B0604020202090204" pitchFamily="34" charset="0"/>
                  </a:rPr>
                  <a:t>成绩全部采用百分制</a:t>
                </a:r>
                <a:r>
                  <a:rPr lang="zh-CN" sz="2000" b="1">
                    <a:solidFill>
                      <a:srgbClr val="0000CC"/>
                    </a:solidFill>
                    <a:latin typeface="Arial" panose="020B0604020202090204" pitchFamily="34" charset="0"/>
                    <a:ea typeface="楷体" charset="-122"/>
                    <a:cs typeface="Arial" panose="020B0604020202090204" pitchFamily="34" charset="0"/>
                  </a:rPr>
                  <a:t>，</a:t>
                </a:r>
                <a:r>
                  <a:rPr sz="2000" b="1">
                    <a:solidFill>
                      <a:srgbClr val="0000CC"/>
                    </a:solidFill>
                    <a:latin typeface="Arial" panose="020B0604020202090204" pitchFamily="34" charset="0"/>
                    <a:ea typeface="楷体" charset="-122"/>
                    <a:cs typeface="Arial" panose="020B0604020202090204" pitchFamily="34" charset="0"/>
                  </a:rPr>
                  <a:t>成绩大于或等于60分才能获得该门课程的学分；</a:t>
                </a:r>
                <a:endParaRPr sz="2000" b="1">
                  <a:solidFill>
                    <a:srgbClr val="0000CC"/>
                  </a:solidFill>
                  <a:latin typeface="Arial" panose="020B0604020202090204" pitchFamily="34" charset="0"/>
                  <a:ea typeface="楷体" charset="-122"/>
                  <a:cs typeface="Arial" panose="020B0604020202090204" pitchFamily="34" charset="0"/>
                </a:endParaRPr>
              </a:p>
              <a:p>
                <a:pPr lvl="1" fontAlgn="auto">
                  <a:lnSpc>
                    <a:spcPct val="115000"/>
                  </a:lnSpc>
                  <a:spcBef>
                    <a:spcPts val="0"/>
                  </a:spcBef>
                  <a:spcAft>
                    <a:spcPts val="0"/>
                  </a:spcAft>
                </a:pPr>
                <a:r>
                  <a:rPr sz="2000" b="1">
                    <a:solidFill>
                      <a:srgbClr val="0000CC"/>
                    </a:solidFill>
                    <a:latin typeface="Arial" panose="020B0604020202090204" pitchFamily="34" charset="0"/>
                    <a:ea typeface="楷体" charset="-122"/>
                    <a:cs typeface="Arial" panose="020B0604020202090204" pitchFamily="34" charset="0"/>
                  </a:rPr>
                  <a:t>单门课程的学分绩计算公式是</a:t>
                </a:r>
                <a:r>
                  <a:rPr lang="zh-CN" sz="2000" b="1">
                    <a:solidFill>
                      <a:srgbClr val="0000CC"/>
                    </a:solidFill>
                    <a:latin typeface="Arial" panose="020B0604020202090204" pitchFamily="34" charset="0"/>
                    <a:ea typeface="楷体" charset="-122"/>
                    <a:cs typeface="Arial" panose="020B0604020202090204" pitchFamily="34" charset="0"/>
                  </a:rPr>
                  <a:t>：</a:t>
                </a:r>
                <a14:m>
                  <m:oMath xmlns:m="http://schemas.openxmlformats.org/officeDocument/2006/math">
                    <m:r>
                      <a:rPr lang="zh-CN" sz="2000" b="1" i="1">
                        <a:solidFill>
                          <a:srgbClr val="0000CC"/>
                        </a:solidFill>
                        <a:latin typeface="Cambria Math" panose="02040503050406030204" charset="0"/>
                        <a:ea typeface="楷体" charset="-122"/>
                        <a:cs typeface="Cambria Math" panose="02040503050406030204" charset="0"/>
                      </a:rPr>
                      <m:t>成绩</m:t>
                    </m:r>
                    <m:r>
                      <a:rPr lang="en-US" altLang="zh-CN" sz="2000" b="1" i="1">
                        <a:solidFill>
                          <a:srgbClr val="0000CC"/>
                        </a:solidFill>
                        <a:latin typeface="Cambria Math" panose="02040503050406030204" charset="0"/>
                        <a:ea typeface="楷体" charset="-122"/>
                        <a:cs typeface="Cambria Math" panose="02040503050406030204" charset="0"/>
                      </a:rPr>
                      <m:t>𝒈𝒓𝒂𝒅𝒆</m:t>
                    </m:r>
                    <m:r>
                      <a:rPr lang="en-US" altLang="zh-CN" sz="2000" b="1" i="1">
                        <a:solidFill>
                          <a:srgbClr val="0000CC"/>
                        </a:solidFill>
                        <a:latin typeface="Cambria Math" panose="02040503050406030204" charset="0"/>
                        <a:ea typeface="楷体" charset="-122"/>
                        <a:cs typeface="Cambria Math" panose="02040503050406030204" charset="0"/>
                      </a:rPr>
                      <m:t>×</m:t>
                    </m:r>
                    <m:r>
                      <a:rPr lang="en-US" altLang="zh-CN" sz="2000" b="1" i="1">
                        <a:solidFill>
                          <a:srgbClr val="0000CC"/>
                        </a:solidFill>
                        <a:latin typeface="Cambria Math" panose="02040503050406030204" charset="0"/>
                        <a:ea typeface="楷体" charset="-122"/>
                        <a:cs typeface="Cambria Math" panose="02040503050406030204" charset="0"/>
                      </a:rPr>
                      <m:t>𝟎</m:t>
                    </m:r>
                    <m:r>
                      <a:rPr lang="en-US" altLang="zh-CN" sz="2000" b="1" i="1">
                        <a:solidFill>
                          <a:srgbClr val="0000CC"/>
                        </a:solidFill>
                        <a:latin typeface="Cambria Math" panose="02040503050406030204" charset="0"/>
                        <a:ea typeface="楷体" charset="-122"/>
                        <a:cs typeface="Cambria Math" panose="02040503050406030204" charset="0"/>
                      </a:rPr>
                      <m:t>.</m:t>
                    </m:r>
                    <m:r>
                      <a:rPr lang="en-US" altLang="zh-CN" sz="2000" b="1" i="1">
                        <a:solidFill>
                          <a:srgbClr val="0000CC"/>
                        </a:solidFill>
                        <a:latin typeface="Cambria Math" panose="02040503050406030204" charset="0"/>
                        <a:ea typeface="楷体" charset="-122"/>
                        <a:cs typeface="Cambria Math" panose="02040503050406030204" charset="0"/>
                      </a:rPr>
                      <m:t>𝟎𝟓</m:t>
                    </m:r>
                    <m:r>
                      <a:rPr lang="en-US" altLang="zh-CN" sz="2000" b="1" i="1">
                        <a:solidFill>
                          <a:srgbClr val="0000CC"/>
                        </a:solidFill>
                        <a:latin typeface="Cambria Math" panose="02040503050406030204" charset="0"/>
                        <a:ea typeface="楷体" charset="-122"/>
                        <a:cs typeface="Cambria Math" panose="02040503050406030204" charset="0"/>
                      </a:rPr>
                      <m:t>×</m:t>
                    </m:r>
                    <m:r>
                      <a:rPr lang="zh-CN" altLang="en-US" sz="2000" b="1" i="1">
                        <a:solidFill>
                          <a:srgbClr val="0000CC"/>
                        </a:solidFill>
                        <a:latin typeface="Cambria Math" panose="02040503050406030204" charset="0"/>
                        <a:ea typeface="楷体" charset="-122"/>
                        <a:cs typeface="Cambria Math" panose="02040503050406030204" charset="0"/>
                      </a:rPr>
                      <m:t>学分</m:t>
                    </m:r>
                    <m:r>
                      <a:rPr lang="en-US" altLang="zh-CN" sz="2000" b="1" i="1">
                        <a:solidFill>
                          <a:srgbClr val="0000CC"/>
                        </a:solidFill>
                        <a:latin typeface="Cambria Math" panose="02040503050406030204" charset="0"/>
                        <a:ea typeface="楷体" charset="-122"/>
                        <a:cs typeface="Cambria Math" panose="02040503050406030204" charset="0"/>
                      </a:rPr>
                      <m:t>𝒄𝒓𝒆𝒅𝒊𝒕</m:t>
                    </m:r>
                  </m:oMath>
                </a14:m>
                <a:r>
                  <a:rPr sz="2000" b="1">
                    <a:solidFill>
                      <a:srgbClr val="0000CC"/>
                    </a:solidFill>
                    <a:latin typeface="Arial" panose="020B0604020202090204" pitchFamily="34" charset="0"/>
                    <a:ea typeface="楷体" charset="-122"/>
                    <a:cs typeface="Arial" panose="020B0604020202090204" pitchFamily="34" charset="0"/>
                  </a:rPr>
                  <a:t> ；</a:t>
                </a:r>
                <a:endParaRPr sz="2000" b="1">
                  <a:solidFill>
                    <a:srgbClr val="0000CC"/>
                  </a:solidFill>
                  <a:latin typeface="Arial" panose="020B0604020202090204" pitchFamily="34" charset="0"/>
                  <a:ea typeface="楷体" charset="-122"/>
                  <a:cs typeface="Arial" panose="020B0604020202090204" pitchFamily="34" charset="0"/>
                </a:endParaRPr>
              </a:p>
              <a:p>
                <a:pPr lvl="1" fontAlgn="auto">
                  <a:lnSpc>
                    <a:spcPct val="115000"/>
                  </a:lnSpc>
                  <a:spcBef>
                    <a:spcPts val="0"/>
                  </a:spcBef>
                  <a:spcAft>
                    <a:spcPts val="0"/>
                  </a:spcAft>
                </a:pPr>
                <a:r>
                  <a:rPr sz="2000" b="1">
                    <a:solidFill>
                      <a:srgbClr val="0000CC"/>
                    </a:solidFill>
                    <a:latin typeface="Arial" panose="020B0604020202090204" pitchFamily="34" charset="0"/>
                    <a:ea typeface="楷体" charset="-122"/>
                    <a:cs typeface="Arial" panose="020B0604020202090204" pitchFamily="34" charset="0"/>
                  </a:rPr>
                  <a:t>课程类型分</a:t>
                </a:r>
                <a:r>
                  <a:rPr lang="en-US" sz="2000" b="1">
                    <a:solidFill>
                      <a:srgbClr val="0000CC"/>
                    </a:solidFill>
                    <a:latin typeface="Arial" panose="020B0604020202090204" pitchFamily="34" charset="0"/>
                    <a:ea typeface="楷体" charset="-122"/>
                    <a:cs typeface="Arial" panose="020B0604020202090204" pitchFamily="34" charset="0"/>
                  </a:rPr>
                  <a:t> </a:t>
                </a:r>
                <a:r>
                  <a:rPr sz="2000" b="1">
                    <a:solidFill>
                      <a:srgbClr val="0000CC"/>
                    </a:solidFill>
                    <a:latin typeface="Arial" panose="020B0604020202090204" pitchFamily="34" charset="0"/>
                    <a:ea typeface="楷体" charset="-122"/>
                    <a:cs typeface="Arial" panose="020B0604020202090204" pitchFamily="34" charset="0"/>
                  </a:rPr>
                  <a:t>‘核心’</a:t>
                </a:r>
                <a:r>
                  <a:rPr lang="en-US" sz="2000" b="1">
                    <a:solidFill>
                      <a:srgbClr val="0000CC"/>
                    </a:solidFill>
                    <a:latin typeface="Arial" panose="020B0604020202090204" pitchFamily="34" charset="0"/>
                    <a:ea typeface="楷体" charset="-122"/>
                    <a:cs typeface="Arial" panose="020B0604020202090204" pitchFamily="34" charset="0"/>
                  </a:rPr>
                  <a:t> </a:t>
                </a:r>
                <a:r>
                  <a:rPr sz="2000" b="1">
                    <a:solidFill>
                      <a:srgbClr val="0000CC"/>
                    </a:solidFill>
                    <a:latin typeface="Arial" panose="020B0604020202090204" pitchFamily="34" charset="0"/>
                    <a:ea typeface="楷体" charset="-122"/>
                    <a:cs typeface="Arial" panose="020B0604020202090204" pitchFamily="34" charset="0"/>
                  </a:rPr>
                  <a:t>和</a:t>
                </a:r>
                <a:r>
                  <a:rPr lang="en-US" sz="2000" b="1">
                    <a:solidFill>
                      <a:srgbClr val="0000CC"/>
                    </a:solidFill>
                    <a:latin typeface="Arial" panose="020B0604020202090204" pitchFamily="34" charset="0"/>
                    <a:ea typeface="楷体" charset="-122"/>
                    <a:cs typeface="Arial" panose="020B0604020202090204" pitchFamily="34" charset="0"/>
                  </a:rPr>
                  <a:t> </a:t>
                </a:r>
                <a:r>
                  <a:rPr sz="2000" b="1">
                    <a:solidFill>
                      <a:srgbClr val="0000CC"/>
                    </a:solidFill>
                    <a:latin typeface="Arial" panose="020B0604020202090204" pitchFamily="34" charset="0"/>
                    <a:ea typeface="楷体" charset="-122"/>
                    <a:cs typeface="Arial" panose="020B0604020202090204" pitchFamily="34" charset="0"/>
                  </a:rPr>
                  <a:t>‘选修’</a:t>
                </a:r>
                <a:r>
                  <a:rPr lang="en-US" sz="2000" b="1">
                    <a:solidFill>
                      <a:srgbClr val="0000CC"/>
                    </a:solidFill>
                    <a:latin typeface="Arial" panose="020B0604020202090204" pitchFamily="34" charset="0"/>
                    <a:ea typeface="楷体" charset="-122"/>
                    <a:cs typeface="Arial" panose="020B0604020202090204" pitchFamily="34" charset="0"/>
                  </a:rPr>
                  <a:t> </a:t>
                </a:r>
                <a:r>
                  <a:rPr sz="2000" b="1">
                    <a:solidFill>
                      <a:srgbClr val="0000CC"/>
                    </a:solidFill>
                    <a:latin typeface="Arial" panose="020B0604020202090204" pitchFamily="34" charset="0"/>
                    <a:ea typeface="楷体" charset="-122"/>
                    <a:cs typeface="Arial" panose="020B0604020202090204" pitchFamily="34" charset="0"/>
                  </a:rPr>
                  <a:t>两种</a:t>
                </a:r>
                <a:r>
                  <a:rPr lang="zh-CN" sz="2000" b="1">
                    <a:solidFill>
                      <a:srgbClr val="0000CC"/>
                    </a:solidFill>
                    <a:latin typeface="Arial" panose="020B0604020202090204" pitchFamily="34" charset="0"/>
                    <a:ea typeface="楷体" charset="-122"/>
                    <a:cs typeface="Arial" panose="020B0604020202090204" pitchFamily="34" charset="0"/>
                  </a:rPr>
                  <a:t>。</a:t>
                </a:r>
                <a:endParaRPr lang="zh-CN" sz="2000" b="1">
                  <a:solidFill>
                    <a:srgbClr val="0000CC"/>
                  </a:solidFill>
                  <a:latin typeface="Arial" panose="020B0604020202090204" pitchFamily="34" charset="0"/>
                  <a:ea typeface="楷体" charset="-122"/>
                  <a:cs typeface="Arial" panose="020B0604020202090204" pitchFamily="34" charset="0"/>
                </a:endParaRPr>
              </a:p>
            </p:txBody>
          </p:sp>
        </mc:Choice>
        <mc:Fallback>
          <p:sp>
            <p:nvSpPr>
              <p:cNvPr id="5" name="内容占位符 2"/>
              <p:cNvSpPr>
                <a:spLocks noRot="1" noChangeAspect="1" noMove="1" noResize="1" noEditPoints="1" noAdjustHandles="1" noChangeArrowheads="1" noChangeShapeType="1" noTextEdit="1"/>
              </p:cNvSpPr>
              <p:nvPr/>
            </p:nvSpPr>
            <p:spPr>
              <a:xfrm>
                <a:off x="424180" y="4217035"/>
                <a:ext cx="11343640" cy="2513965"/>
              </a:xfrm>
              <a:prstGeom prst="rect">
                <a:avLst/>
              </a:prstGeom>
              <a:blipFill rotWithShape="1">
                <a:blip r:embed="rId2"/>
                <a:stretch>
                  <a:fillRect/>
                </a:stretch>
              </a:blipFill>
            </p:spPr>
            <p:txBody>
              <a:bodyPr/>
              <a:lstStyle/>
              <a:p>
                <a:r>
                  <a:rPr lang="zh-CN" altLang="en-US">
                    <a:noFill/>
                  </a:rPr>
                  <a:t> </a:t>
                </a:r>
              </a:p>
            </p:txBody>
          </p:sp>
        </mc:Fallback>
      </mc:AlternateContent>
      <p:sp>
        <p:nvSpPr>
          <p:cNvPr id="9" name="灯片编号占位符 8"/>
          <p:cNvSpPr>
            <a:spLocks noGrp="1"/>
          </p:cNvSpPr>
          <p:nvPr>
            <p:ph type="sldNum" sz="quarter" idx="12"/>
          </p:nvPr>
        </p:nvSpPr>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ch03_SQL语言_复习思考题</a:t>
            </a:r>
            <a:endParaRPr lang="zh-CN" altLang="en-US"/>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标题 5"/>
          <p:cNvSpPr>
            <a:spLocks noGrp="1"/>
          </p:cNvSpPr>
          <p:nvPr>
            <p:ph type="title"/>
          </p:nvPr>
        </p:nvSpPr>
        <p:spPr/>
        <p:txBody>
          <a:bodyPr/>
          <a:p>
            <a:r>
              <a:rPr lang="zh-CN" altLang="en-US">
                <a:sym typeface="+mn-ea"/>
              </a:rPr>
              <a:t>复习思考题</a:t>
            </a:r>
            <a:r>
              <a:rPr lang="en-US" altLang="zh-CN">
                <a:sym typeface="+mn-ea"/>
              </a:rPr>
              <a:t> 6</a:t>
            </a:r>
            <a:endParaRPr lang="zh-CN" altLang="en-US"/>
          </a:p>
        </p:txBody>
      </p:sp>
      <p:sp>
        <p:nvSpPr>
          <p:cNvPr id="3" name="内容占位符 2"/>
          <p:cNvSpPr>
            <a:spLocks noGrp="1"/>
          </p:cNvSpPr>
          <p:nvPr>
            <p:ph idx="1"/>
          </p:nvPr>
        </p:nvSpPr>
        <p:spPr>
          <a:xfrm>
            <a:off x="424180" y="687070"/>
            <a:ext cx="11343005" cy="5477510"/>
          </a:xfrm>
        </p:spPr>
        <p:txBody>
          <a:bodyPr wrap="square">
            <a:spAutoFit/>
          </a:bodyPr>
          <a:p>
            <a:pPr marL="0" indent="0" fontAlgn="auto">
              <a:lnSpc>
                <a:spcPct val="100000"/>
              </a:lnSpc>
              <a:spcBef>
                <a:spcPts val="0"/>
              </a:spcBef>
              <a:spcAft>
                <a:spcPts val="600"/>
              </a:spcAft>
              <a:buNone/>
            </a:pPr>
            <a:r>
              <a:rPr lang="zh-CN" sz="2000" b="1">
                <a:solidFill>
                  <a:srgbClr val="0000CC"/>
                </a:solidFill>
                <a:latin typeface="Arial" panose="020B0604020202090204" pitchFamily="34" charset="0"/>
                <a:cs typeface="Arial" panose="020B0604020202090204" pitchFamily="34" charset="0"/>
              </a:rPr>
              <a:t>（第</a:t>
            </a:r>
            <a:r>
              <a:rPr lang="en-US" altLang="zh-CN" sz="2000" b="1">
                <a:solidFill>
                  <a:srgbClr val="0000CC"/>
                </a:solidFill>
                <a:latin typeface="Arial" panose="020B0604020202090204" pitchFamily="34" charset="0"/>
                <a:cs typeface="Arial" panose="020B0604020202090204" pitchFamily="34" charset="0"/>
              </a:rPr>
              <a:t>12</a:t>
            </a:r>
            <a:r>
              <a:rPr lang="zh-CN" altLang="en-US" sz="2000" b="1">
                <a:solidFill>
                  <a:srgbClr val="0000CC"/>
                </a:solidFill>
                <a:latin typeface="Arial" panose="020B0604020202090204" pitchFamily="34" charset="0"/>
                <a:cs typeface="Arial" panose="020B0604020202090204" pitchFamily="34" charset="0"/>
              </a:rPr>
              <a:t>题）</a:t>
            </a:r>
            <a:r>
              <a:rPr sz="2000" b="1">
                <a:solidFill>
                  <a:srgbClr val="0000CC"/>
                </a:solidFill>
                <a:latin typeface="Arial" panose="020B0604020202090204" pitchFamily="34" charset="0"/>
                <a:cs typeface="Arial" panose="020B0604020202090204" pitchFamily="34" charset="0"/>
              </a:rPr>
              <a:t>请用SQL</a:t>
            </a:r>
            <a:r>
              <a:rPr lang="zh-CN" sz="2000" b="1">
                <a:solidFill>
                  <a:srgbClr val="0000CC"/>
                </a:solidFill>
                <a:latin typeface="Arial" panose="020B0604020202090204" pitchFamily="34" charset="0"/>
                <a:cs typeface="Arial" panose="020B0604020202090204" pitchFamily="34" charset="0"/>
              </a:rPr>
              <a:t>语言</a:t>
            </a:r>
            <a:r>
              <a:rPr sz="2000" b="1">
                <a:solidFill>
                  <a:srgbClr val="0000CC"/>
                </a:solidFill>
                <a:latin typeface="Arial" panose="020B0604020202090204" pitchFamily="34" charset="0"/>
                <a:cs typeface="Arial" panose="020B0604020202090204" pitchFamily="34" charset="0"/>
              </a:rPr>
              <a:t>来表示下述数据访问请求。</a:t>
            </a:r>
            <a:endParaRPr sz="2000" b="1">
              <a:solidFill>
                <a:srgbClr val="0000CC"/>
              </a:solidFill>
              <a:latin typeface="Arial" panose="020B0604020202090204" pitchFamily="34" charset="0"/>
              <a:cs typeface="Arial" panose="020B0604020202090204" pitchFamily="34" charset="0"/>
            </a:endParaRPr>
          </a:p>
          <a:p>
            <a:pPr marL="457200" indent="-457200" fontAlgn="auto">
              <a:lnSpc>
                <a:spcPct val="100000"/>
              </a:lnSpc>
              <a:spcBef>
                <a:spcPts val="0"/>
              </a:spcBef>
              <a:spcAft>
                <a:spcPts val="600"/>
              </a:spcAft>
              <a:buFont typeface="+mj-ea"/>
              <a:buAutoNum type="circleNumDbPlain"/>
            </a:pPr>
            <a:r>
              <a:rPr sz="2000" b="1">
                <a:solidFill>
                  <a:srgbClr val="0000CC"/>
                </a:solidFill>
                <a:latin typeface="Arial" panose="020B0604020202090204" pitchFamily="34" charset="0"/>
                <a:cs typeface="Arial" panose="020B0604020202090204" pitchFamily="34" charset="0"/>
              </a:rPr>
              <a:t>查询满足下述条件的课程的课程名及开课院系：课程名中</a:t>
            </a:r>
            <a:r>
              <a:rPr lang="zh-CN" sz="2000" b="1">
                <a:solidFill>
                  <a:srgbClr val="0000CC"/>
                </a:solidFill>
                <a:latin typeface="Arial" panose="020B0604020202090204" pitchFamily="34" charset="0"/>
                <a:cs typeface="Arial" panose="020B0604020202090204" pitchFamily="34" charset="0"/>
              </a:rPr>
              <a:t>包含有</a:t>
            </a:r>
            <a:r>
              <a:rPr lang="en-US" altLang="zh-CN" sz="2000" b="1">
                <a:solidFill>
                  <a:srgbClr val="0000CC"/>
                </a:solidFill>
                <a:latin typeface="Arial" panose="020B0604020202090204" pitchFamily="34" charset="0"/>
                <a:cs typeface="Arial" panose="020B0604020202090204" pitchFamily="34" charset="0"/>
              </a:rPr>
              <a:t> </a:t>
            </a:r>
            <a:r>
              <a:rPr sz="2000" b="1">
                <a:solidFill>
                  <a:srgbClr val="0000CC"/>
                </a:solidFill>
                <a:latin typeface="Arial" panose="020B0604020202090204" pitchFamily="34" charset="0"/>
                <a:cs typeface="Arial" panose="020B0604020202090204" pitchFamily="34" charset="0"/>
              </a:rPr>
              <a:t>‘数据库’；</a:t>
            </a:r>
            <a:endParaRPr sz="2000" b="1">
              <a:solidFill>
                <a:srgbClr val="0000CC"/>
              </a:solidFill>
              <a:latin typeface="Arial" panose="020B0604020202090204" pitchFamily="34" charset="0"/>
              <a:cs typeface="Arial" panose="020B0604020202090204" pitchFamily="34" charset="0"/>
            </a:endParaRPr>
          </a:p>
          <a:p>
            <a:pPr marL="457200" indent="-457200" fontAlgn="auto">
              <a:lnSpc>
                <a:spcPct val="100000"/>
              </a:lnSpc>
              <a:spcBef>
                <a:spcPts val="0"/>
              </a:spcBef>
              <a:spcAft>
                <a:spcPts val="600"/>
              </a:spcAft>
              <a:buFont typeface="+mj-ea"/>
              <a:buAutoNum type="circleNumDbPlain"/>
            </a:pPr>
            <a:r>
              <a:rPr sz="2000" b="1">
                <a:solidFill>
                  <a:srgbClr val="0000CC"/>
                </a:solidFill>
                <a:latin typeface="Arial" panose="020B0604020202090204" pitchFamily="34" charset="0"/>
                <a:cs typeface="Arial" panose="020B0604020202090204" pitchFamily="34" charset="0"/>
              </a:rPr>
              <a:t>查询满足下述条件的课程的课程号和课程名：‘开课院系’为空；</a:t>
            </a:r>
            <a:endParaRPr sz="2000" b="1">
              <a:solidFill>
                <a:srgbClr val="0000CC"/>
              </a:solidFill>
              <a:latin typeface="Arial" panose="020B0604020202090204" pitchFamily="34" charset="0"/>
              <a:cs typeface="Arial" panose="020B0604020202090204" pitchFamily="34" charset="0"/>
            </a:endParaRPr>
          </a:p>
          <a:p>
            <a:pPr marL="457200" indent="-457200" fontAlgn="auto">
              <a:lnSpc>
                <a:spcPct val="100000"/>
              </a:lnSpc>
              <a:spcBef>
                <a:spcPts val="0"/>
              </a:spcBef>
              <a:spcAft>
                <a:spcPts val="600"/>
              </a:spcAft>
              <a:buFont typeface="+mj-ea"/>
              <a:buAutoNum type="circleNumDbPlain"/>
            </a:pPr>
            <a:r>
              <a:rPr sz="2000" b="1">
                <a:solidFill>
                  <a:srgbClr val="0000CC"/>
                </a:solidFill>
                <a:latin typeface="Arial" panose="020B0604020202090204" pitchFamily="34" charset="0"/>
                <a:cs typeface="Arial" panose="020B0604020202090204" pitchFamily="34" charset="0"/>
              </a:rPr>
              <a:t>查询满足下述条件的教师的工号和姓名：在20</a:t>
            </a:r>
            <a:r>
              <a:rPr lang="en-US" sz="2000" b="1">
                <a:solidFill>
                  <a:srgbClr val="0000CC"/>
                </a:solidFill>
                <a:latin typeface="Arial" panose="020B0604020202090204" pitchFamily="34" charset="0"/>
                <a:cs typeface="Arial" panose="020B0604020202090204" pitchFamily="34" charset="0"/>
              </a:rPr>
              <a:t>21</a:t>
            </a:r>
            <a:r>
              <a:rPr sz="2000" b="1">
                <a:solidFill>
                  <a:srgbClr val="0000CC"/>
                </a:solidFill>
                <a:latin typeface="Arial" panose="020B0604020202090204" pitchFamily="34" charset="0"/>
                <a:cs typeface="Arial" panose="020B0604020202090204" pitchFamily="34" charset="0"/>
              </a:rPr>
              <a:t>至20</a:t>
            </a:r>
            <a:r>
              <a:rPr lang="en-US" sz="2000" b="1">
                <a:solidFill>
                  <a:srgbClr val="0000CC"/>
                </a:solidFill>
                <a:latin typeface="Arial" panose="020B0604020202090204" pitchFamily="34" charset="0"/>
                <a:cs typeface="Arial" panose="020B0604020202090204" pitchFamily="34" charset="0"/>
              </a:rPr>
              <a:t>23</a:t>
            </a:r>
            <a:r>
              <a:rPr sz="2000" b="1">
                <a:solidFill>
                  <a:srgbClr val="0000CC"/>
                </a:solidFill>
                <a:latin typeface="Arial" panose="020B0604020202090204" pitchFamily="34" charset="0"/>
                <a:cs typeface="Arial" panose="020B0604020202090204" pitchFamily="34" charset="0"/>
              </a:rPr>
              <a:t>年间没有承担过授课任务；</a:t>
            </a:r>
            <a:endParaRPr sz="2000" b="1">
              <a:solidFill>
                <a:srgbClr val="0000CC"/>
              </a:solidFill>
              <a:latin typeface="Arial" panose="020B0604020202090204" pitchFamily="34" charset="0"/>
              <a:cs typeface="Arial" panose="020B0604020202090204" pitchFamily="34" charset="0"/>
            </a:endParaRPr>
          </a:p>
          <a:p>
            <a:pPr marL="457200" indent="-457200" fontAlgn="auto">
              <a:lnSpc>
                <a:spcPct val="100000"/>
              </a:lnSpc>
              <a:spcBef>
                <a:spcPts val="0"/>
              </a:spcBef>
              <a:spcAft>
                <a:spcPts val="600"/>
              </a:spcAft>
              <a:buFont typeface="+mj-ea"/>
              <a:buAutoNum type="circleNumDbPlain"/>
            </a:pPr>
            <a:r>
              <a:rPr sz="2000" b="1">
                <a:solidFill>
                  <a:srgbClr val="0000CC"/>
                </a:solidFill>
                <a:latin typeface="Arial" panose="020B0604020202090204" pitchFamily="34" charset="0"/>
                <a:cs typeface="Arial" panose="020B0604020202090204" pitchFamily="34" charset="0"/>
              </a:rPr>
              <a:t>查询满足下述条件的教师的工号和姓名：只</a:t>
            </a:r>
            <a:r>
              <a:rPr lang="zh-CN" sz="2000" b="1">
                <a:solidFill>
                  <a:srgbClr val="0000CC"/>
                </a:solidFill>
                <a:latin typeface="Arial" panose="020B0604020202090204" pitchFamily="34" charset="0"/>
                <a:cs typeface="Arial" panose="020B0604020202090204" pitchFamily="34" charset="0"/>
              </a:rPr>
              <a:t>讲授</a:t>
            </a:r>
            <a:r>
              <a:rPr sz="2000" b="1">
                <a:solidFill>
                  <a:srgbClr val="0000CC"/>
                </a:solidFill>
                <a:latin typeface="Arial" panose="020B0604020202090204" pitchFamily="34" charset="0"/>
                <a:cs typeface="Arial" panose="020B0604020202090204" pitchFamily="34" charset="0"/>
              </a:rPr>
              <a:t>过自己</a:t>
            </a:r>
            <a:r>
              <a:rPr lang="zh-CN" sz="2000" b="1">
                <a:solidFill>
                  <a:srgbClr val="0000CC"/>
                </a:solidFill>
                <a:latin typeface="Arial" panose="020B0604020202090204" pitchFamily="34" charset="0"/>
                <a:cs typeface="Arial" panose="020B0604020202090204" pitchFamily="34" charset="0"/>
              </a:rPr>
              <a:t>工作</a:t>
            </a:r>
            <a:r>
              <a:rPr sz="2000" b="1">
                <a:solidFill>
                  <a:srgbClr val="0000CC"/>
                </a:solidFill>
                <a:latin typeface="Arial" panose="020B0604020202090204" pitchFamily="34" charset="0"/>
                <a:cs typeface="Arial" panose="020B0604020202090204" pitchFamily="34" charset="0"/>
              </a:rPr>
              <a:t>所在院系开设的课程；</a:t>
            </a:r>
            <a:endParaRPr sz="2000" b="1">
              <a:solidFill>
                <a:srgbClr val="0000CC"/>
              </a:solidFill>
              <a:latin typeface="Arial" panose="020B0604020202090204" pitchFamily="34" charset="0"/>
              <a:cs typeface="Arial" panose="020B0604020202090204" pitchFamily="34" charset="0"/>
            </a:endParaRPr>
          </a:p>
          <a:p>
            <a:pPr marL="457200" indent="-457200" fontAlgn="auto">
              <a:lnSpc>
                <a:spcPct val="100000"/>
              </a:lnSpc>
              <a:spcBef>
                <a:spcPts val="0"/>
              </a:spcBef>
              <a:spcAft>
                <a:spcPts val="600"/>
              </a:spcAft>
              <a:buFont typeface="+mj-ea"/>
              <a:buAutoNum type="circleNumDbPlain"/>
            </a:pPr>
            <a:r>
              <a:rPr sz="2000" b="1">
                <a:solidFill>
                  <a:srgbClr val="0000CC"/>
                </a:solidFill>
                <a:latin typeface="Arial" panose="020B0604020202090204" pitchFamily="34" charset="0"/>
                <a:cs typeface="Arial" panose="020B0604020202090204" pitchFamily="34" charset="0"/>
              </a:rPr>
              <a:t>查询满足下述条件的学生的学号和姓名：</a:t>
            </a:r>
            <a:r>
              <a:rPr lang="zh-CN" sz="2000" b="1">
                <a:solidFill>
                  <a:srgbClr val="0000CC"/>
                </a:solidFill>
                <a:latin typeface="Arial" panose="020B0604020202090204" pitchFamily="34" charset="0"/>
                <a:cs typeface="Arial" panose="020B0604020202090204" pitchFamily="34" charset="0"/>
              </a:rPr>
              <a:t>修读并</a:t>
            </a:r>
            <a:r>
              <a:rPr lang="zh-CN" sz="2000" b="1">
                <a:solidFill>
                  <a:srgbClr val="0000CC"/>
                </a:solidFill>
                <a:latin typeface="Arial" panose="020B0604020202090204" pitchFamily="34" charset="0"/>
                <a:cs typeface="Arial" panose="020B0604020202090204" pitchFamily="34" charset="0"/>
              </a:rPr>
              <a:t>获得</a:t>
            </a:r>
            <a:r>
              <a:rPr sz="2000" b="1">
                <a:solidFill>
                  <a:srgbClr val="0000CC"/>
                </a:solidFill>
                <a:latin typeface="Arial" panose="020B0604020202090204" pitchFamily="34" charset="0"/>
                <a:cs typeface="Arial" panose="020B0604020202090204" pitchFamily="34" charset="0"/>
              </a:rPr>
              <a:t>了‘计算机’系开设的所有‘核心’课</a:t>
            </a:r>
            <a:r>
              <a:rPr lang="zh-CN" sz="2000" b="1">
                <a:solidFill>
                  <a:srgbClr val="0000CC"/>
                </a:solidFill>
                <a:latin typeface="Arial" panose="020B0604020202090204" pitchFamily="34" charset="0"/>
                <a:cs typeface="Arial" panose="020B0604020202090204" pitchFamily="34" charset="0"/>
              </a:rPr>
              <a:t>的学分</a:t>
            </a:r>
            <a:r>
              <a:rPr sz="2000" b="1">
                <a:solidFill>
                  <a:srgbClr val="0000CC"/>
                </a:solidFill>
                <a:latin typeface="Arial" panose="020B0604020202090204" pitchFamily="34" charset="0"/>
                <a:cs typeface="Arial" panose="020B0604020202090204" pitchFamily="34" charset="0"/>
              </a:rPr>
              <a:t>；</a:t>
            </a:r>
            <a:endParaRPr sz="2000" b="1">
              <a:solidFill>
                <a:srgbClr val="0000CC"/>
              </a:solidFill>
              <a:latin typeface="Arial" panose="020B0604020202090204" pitchFamily="34" charset="0"/>
              <a:cs typeface="Arial" panose="020B0604020202090204" pitchFamily="34" charset="0"/>
            </a:endParaRPr>
          </a:p>
          <a:p>
            <a:pPr marL="457200" indent="-457200" fontAlgn="auto">
              <a:lnSpc>
                <a:spcPct val="100000"/>
              </a:lnSpc>
              <a:spcBef>
                <a:spcPts val="0"/>
              </a:spcBef>
              <a:spcAft>
                <a:spcPts val="600"/>
              </a:spcAft>
              <a:buFont typeface="+mj-ea"/>
              <a:buAutoNum type="circleNumDbPlain"/>
            </a:pPr>
            <a:r>
              <a:rPr sz="2000">
                <a:solidFill>
                  <a:srgbClr val="0000CC"/>
                </a:solidFill>
                <a:latin typeface="Arial" panose="020B0604020202090204" pitchFamily="34" charset="0"/>
                <a:cs typeface="Arial" panose="020B0604020202090204" pitchFamily="34" charset="0"/>
                <a:sym typeface="+mn-ea"/>
              </a:rPr>
              <a:t>查询满足下述条件的学生的学号</a:t>
            </a:r>
            <a:r>
              <a:rPr lang="zh-CN" sz="2000">
                <a:solidFill>
                  <a:srgbClr val="0000CC"/>
                </a:solidFill>
                <a:latin typeface="Arial" panose="020B0604020202090204" pitchFamily="34" charset="0"/>
                <a:cs typeface="Arial" panose="020B0604020202090204" pitchFamily="34" charset="0"/>
                <a:sym typeface="+mn-ea"/>
              </a:rPr>
              <a:t>、</a:t>
            </a:r>
            <a:r>
              <a:rPr sz="2000">
                <a:solidFill>
                  <a:srgbClr val="0000CC"/>
                </a:solidFill>
                <a:latin typeface="Arial" panose="020B0604020202090204" pitchFamily="34" charset="0"/>
                <a:cs typeface="Arial" panose="020B0604020202090204" pitchFamily="34" charset="0"/>
                <a:sym typeface="+mn-ea"/>
              </a:rPr>
              <a:t>姓名</a:t>
            </a:r>
            <a:r>
              <a:rPr lang="zh-CN" sz="2000">
                <a:solidFill>
                  <a:srgbClr val="0000CC"/>
                </a:solidFill>
                <a:latin typeface="Arial" panose="020B0604020202090204" pitchFamily="34" charset="0"/>
                <a:cs typeface="Arial" panose="020B0604020202090204" pitchFamily="34" charset="0"/>
                <a:sym typeface="+mn-ea"/>
              </a:rPr>
              <a:t>和就读院系</a:t>
            </a:r>
            <a:r>
              <a:rPr sz="2000">
                <a:solidFill>
                  <a:srgbClr val="0000CC"/>
                </a:solidFill>
                <a:latin typeface="Arial" panose="020B0604020202090204" pitchFamily="34" charset="0"/>
                <a:cs typeface="Arial" panose="020B0604020202090204" pitchFamily="34" charset="0"/>
                <a:sym typeface="+mn-ea"/>
              </a:rPr>
              <a:t>：</a:t>
            </a:r>
            <a:r>
              <a:rPr lang="en-US" sz="2000">
                <a:solidFill>
                  <a:srgbClr val="0000CC"/>
                </a:solidFill>
                <a:latin typeface="Arial" panose="020B0604020202090204" pitchFamily="34" charset="0"/>
                <a:cs typeface="Arial" panose="020B0604020202090204" pitchFamily="34" charset="0"/>
                <a:sym typeface="+mn-ea"/>
              </a:rPr>
              <a:t>2020</a:t>
            </a:r>
            <a:r>
              <a:rPr lang="zh-CN" altLang="en-US" sz="2000">
                <a:solidFill>
                  <a:srgbClr val="0000CC"/>
                </a:solidFill>
                <a:latin typeface="Arial" panose="020B0604020202090204" pitchFamily="34" charset="0"/>
                <a:cs typeface="Arial" panose="020B0604020202090204" pitchFamily="34" charset="0"/>
                <a:sym typeface="+mn-ea"/>
              </a:rPr>
              <a:t>年之前入学，但还没有修读完自己就读院系开设的所有</a:t>
            </a:r>
            <a:r>
              <a:rPr lang="en-US" altLang="zh-CN" sz="2000">
                <a:solidFill>
                  <a:srgbClr val="0000CC"/>
                </a:solidFill>
                <a:latin typeface="Arial" panose="020B0604020202090204" pitchFamily="34" charset="0"/>
                <a:cs typeface="Arial" panose="020B0604020202090204" pitchFamily="34" charset="0"/>
                <a:sym typeface="+mn-ea"/>
              </a:rPr>
              <a:t>‘</a:t>
            </a:r>
            <a:r>
              <a:rPr lang="zh-CN" altLang="en-US" sz="2000">
                <a:solidFill>
                  <a:srgbClr val="0000CC"/>
                </a:solidFill>
                <a:latin typeface="Arial" panose="020B0604020202090204" pitchFamily="34" charset="0"/>
                <a:cs typeface="Arial" panose="020B0604020202090204" pitchFamily="34" charset="0"/>
                <a:sym typeface="+mn-ea"/>
              </a:rPr>
              <a:t>核心</a:t>
            </a:r>
            <a:r>
              <a:rPr lang="en-US" altLang="zh-CN" sz="2000">
                <a:solidFill>
                  <a:srgbClr val="0000CC"/>
                </a:solidFill>
                <a:latin typeface="Arial" panose="020B0604020202090204" pitchFamily="34" charset="0"/>
                <a:cs typeface="Arial" panose="020B0604020202090204" pitchFamily="34" charset="0"/>
                <a:sym typeface="+mn-ea"/>
              </a:rPr>
              <a:t>’</a:t>
            </a:r>
            <a:r>
              <a:rPr lang="zh-CN" altLang="en-US" sz="2000">
                <a:solidFill>
                  <a:srgbClr val="0000CC"/>
                </a:solidFill>
                <a:latin typeface="Arial" panose="020B0604020202090204" pitchFamily="34" charset="0"/>
                <a:cs typeface="Arial" panose="020B0604020202090204" pitchFamily="34" charset="0"/>
                <a:sym typeface="+mn-ea"/>
              </a:rPr>
              <a:t>课；</a:t>
            </a:r>
            <a:endParaRPr lang="zh-CN" altLang="en-US" sz="2000">
              <a:solidFill>
                <a:srgbClr val="0000CC"/>
              </a:solidFill>
              <a:latin typeface="Arial" panose="020B0604020202090204" pitchFamily="34" charset="0"/>
              <a:cs typeface="Arial" panose="020B0604020202090204" pitchFamily="34" charset="0"/>
              <a:sym typeface="+mn-ea"/>
            </a:endParaRPr>
          </a:p>
          <a:p>
            <a:pPr marL="457200" indent="-457200" fontAlgn="auto">
              <a:lnSpc>
                <a:spcPct val="100000"/>
              </a:lnSpc>
              <a:spcBef>
                <a:spcPts val="0"/>
              </a:spcBef>
              <a:spcAft>
                <a:spcPts val="600"/>
              </a:spcAft>
              <a:buFont typeface="+mj-ea"/>
              <a:buAutoNum type="circleNumDbPlain"/>
            </a:pPr>
            <a:r>
              <a:rPr sz="2000" b="1">
                <a:solidFill>
                  <a:srgbClr val="0000CC"/>
                </a:solidFill>
                <a:latin typeface="Arial" panose="020B0604020202090204" pitchFamily="34" charset="0"/>
                <a:cs typeface="Arial" panose="020B0604020202090204" pitchFamily="34" charset="0"/>
                <a:sym typeface="+mn-ea"/>
              </a:rPr>
              <a:t>查询每一位教师</a:t>
            </a:r>
            <a:r>
              <a:rPr lang="zh-CN" sz="2000" b="1">
                <a:solidFill>
                  <a:srgbClr val="0000CC"/>
                </a:solidFill>
                <a:latin typeface="Arial" panose="020B0604020202090204" pitchFamily="34" charset="0"/>
                <a:cs typeface="Arial" panose="020B0604020202090204" pitchFamily="34" charset="0"/>
                <a:sym typeface="+mn-ea"/>
              </a:rPr>
              <a:t>第一次上课和</a:t>
            </a:r>
            <a:r>
              <a:rPr sz="2000" b="1">
                <a:solidFill>
                  <a:srgbClr val="0000CC"/>
                </a:solidFill>
                <a:latin typeface="Arial" panose="020B0604020202090204" pitchFamily="34" charset="0"/>
                <a:cs typeface="Arial" panose="020B0604020202090204" pitchFamily="34" charset="0"/>
                <a:sym typeface="+mn-ea"/>
              </a:rPr>
              <a:t>最</a:t>
            </a:r>
            <a:r>
              <a:rPr lang="zh-CN" sz="2000" b="1">
                <a:solidFill>
                  <a:srgbClr val="0000CC"/>
                </a:solidFill>
                <a:latin typeface="Arial" panose="020B0604020202090204" pitchFamily="34" charset="0"/>
                <a:cs typeface="Arial" panose="020B0604020202090204" pitchFamily="34" charset="0"/>
                <a:sym typeface="+mn-ea"/>
              </a:rPr>
              <a:t>后一次</a:t>
            </a:r>
            <a:r>
              <a:rPr sz="2000" b="1">
                <a:solidFill>
                  <a:srgbClr val="0000CC"/>
                </a:solidFill>
                <a:latin typeface="Arial" panose="020B0604020202090204" pitchFamily="34" charset="0"/>
                <a:cs typeface="Arial" panose="020B0604020202090204" pitchFamily="34" charset="0"/>
                <a:sym typeface="+mn-ea"/>
              </a:rPr>
              <a:t>上课的</a:t>
            </a:r>
            <a:r>
              <a:rPr lang="zh-CN" sz="2000" b="1">
                <a:solidFill>
                  <a:srgbClr val="0000CC"/>
                </a:solidFill>
                <a:latin typeface="Arial" panose="020B0604020202090204" pitchFamily="34" charset="0"/>
                <a:cs typeface="Arial" panose="020B0604020202090204" pitchFamily="34" charset="0"/>
                <a:sym typeface="+mn-ea"/>
              </a:rPr>
              <a:t>年份，结果返回教师工号</a:t>
            </a:r>
            <a:r>
              <a:rPr lang="zh-CN" sz="2000" b="1">
                <a:solidFill>
                  <a:srgbClr val="0000CC"/>
                </a:solidFill>
                <a:latin typeface="Arial" panose="020B0604020202090204" pitchFamily="34" charset="0"/>
                <a:cs typeface="Arial" panose="020B0604020202090204" pitchFamily="34" charset="0"/>
                <a:sym typeface="+mn-ea"/>
              </a:rPr>
              <a:t>和起、止授课年份</a:t>
            </a:r>
            <a:r>
              <a:rPr sz="2000" b="1">
                <a:solidFill>
                  <a:srgbClr val="0000CC"/>
                </a:solidFill>
                <a:latin typeface="Arial" panose="020B0604020202090204" pitchFamily="34" charset="0"/>
                <a:cs typeface="Arial" panose="020B0604020202090204" pitchFamily="34" charset="0"/>
                <a:sym typeface="+mn-ea"/>
              </a:rPr>
              <a:t>；</a:t>
            </a:r>
            <a:endParaRPr sz="2000" b="1">
              <a:solidFill>
                <a:srgbClr val="0000CC"/>
              </a:solidFill>
              <a:latin typeface="Arial" panose="020B0604020202090204" pitchFamily="34" charset="0"/>
              <a:cs typeface="Arial" panose="020B0604020202090204" pitchFamily="34" charset="0"/>
              <a:sym typeface="+mn-ea"/>
            </a:endParaRPr>
          </a:p>
          <a:p>
            <a:pPr marL="457200" indent="-457200" fontAlgn="auto">
              <a:lnSpc>
                <a:spcPct val="100000"/>
              </a:lnSpc>
              <a:spcBef>
                <a:spcPts val="0"/>
              </a:spcBef>
              <a:spcAft>
                <a:spcPts val="600"/>
              </a:spcAft>
              <a:buFont typeface="+mj-ea"/>
              <a:buAutoNum type="circleNumDbPlain"/>
            </a:pPr>
            <a:r>
              <a:rPr sz="2000" b="1">
                <a:solidFill>
                  <a:srgbClr val="0000CC"/>
                </a:solidFill>
                <a:latin typeface="Arial" panose="020B0604020202090204" pitchFamily="34" charset="0"/>
                <a:cs typeface="Arial" panose="020B0604020202090204" pitchFamily="34" charset="0"/>
                <a:sym typeface="+mn-ea"/>
              </a:rPr>
              <a:t>查询每一位教师的授课次数及累计课时数，结果只返回累计课时数</a:t>
            </a:r>
            <a:r>
              <a:rPr lang="zh-CN" sz="2000" b="1">
                <a:solidFill>
                  <a:srgbClr val="0000CC"/>
                </a:solidFill>
                <a:latin typeface="Arial" panose="020B0604020202090204" pitchFamily="34" charset="0"/>
                <a:cs typeface="Arial" panose="020B0604020202090204" pitchFamily="34" charset="0"/>
                <a:sym typeface="+mn-ea"/>
              </a:rPr>
              <a:t>满</a:t>
            </a:r>
            <a:r>
              <a:rPr sz="2000" b="1">
                <a:solidFill>
                  <a:srgbClr val="0000CC"/>
                </a:solidFill>
                <a:latin typeface="Arial" panose="020B0604020202090204" pitchFamily="34" charset="0"/>
                <a:cs typeface="Arial" panose="020B0604020202090204" pitchFamily="34" charset="0"/>
                <a:sym typeface="+mn-ea"/>
              </a:rPr>
              <a:t>1000小时的教师的工号</a:t>
            </a:r>
            <a:r>
              <a:rPr lang="zh-CN" sz="2000" b="1">
                <a:solidFill>
                  <a:srgbClr val="0000CC"/>
                </a:solidFill>
                <a:latin typeface="Arial" panose="020B0604020202090204" pitchFamily="34" charset="0"/>
                <a:cs typeface="Arial" panose="020B0604020202090204" pitchFamily="34" charset="0"/>
                <a:sym typeface="+mn-ea"/>
              </a:rPr>
              <a:t>、</a:t>
            </a:r>
            <a:r>
              <a:rPr sz="2000" b="1">
                <a:solidFill>
                  <a:srgbClr val="0000CC"/>
                </a:solidFill>
                <a:latin typeface="Arial" panose="020B0604020202090204" pitchFamily="34" charset="0"/>
                <a:cs typeface="Arial" panose="020B0604020202090204" pitchFamily="34" charset="0"/>
                <a:sym typeface="+mn-ea"/>
              </a:rPr>
              <a:t>授课次数</a:t>
            </a:r>
            <a:r>
              <a:rPr lang="zh-CN" sz="2000" b="1">
                <a:solidFill>
                  <a:srgbClr val="0000CC"/>
                </a:solidFill>
                <a:latin typeface="Arial" panose="020B0604020202090204" pitchFamily="34" charset="0"/>
                <a:cs typeface="Arial" panose="020B0604020202090204" pitchFamily="34" charset="0"/>
                <a:sym typeface="+mn-ea"/>
              </a:rPr>
              <a:t>、</a:t>
            </a:r>
            <a:r>
              <a:rPr sz="2000" b="1">
                <a:solidFill>
                  <a:srgbClr val="0000CC"/>
                </a:solidFill>
                <a:latin typeface="Arial" panose="020B0604020202090204" pitchFamily="34" charset="0"/>
                <a:cs typeface="Arial" panose="020B0604020202090204" pitchFamily="34" charset="0"/>
                <a:sym typeface="+mn-ea"/>
              </a:rPr>
              <a:t>累计课时数</a:t>
            </a:r>
            <a:r>
              <a:rPr lang="zh-CN" sz="2000" b="1">
                <a:solidFill>
                  <a:srgbClr val="0000CC"/>
                </a:solidFill>
                <a:latin typeface="Arial" panose="020B0604020202090204" pitchFamily="34" charset="0"/>
                <a:cs typeface="Arial" panose="020B0604020202090204" pitchFamily="34" charset="0"/>
                <a:sym typeface="+mn-ea"/>
              </a:rPr>
              <a:t>，并按照累计课时数的降序输出结果</a:t>
            </a:r>
            <a:r>
              <a:rPr sz="2000" b="1">
                <a:solidFill>
                  <a:srgbClr val="0000CC"/>
                </a:solidFill>
                <a:latin typeface="Arial" panose="020B0604020202090204" pitchFamily="34" charset="0"/>
                <a:cs typeface="Arial" panose="020B0604020202090204" pitchFamily="34" charset="0"/>
                <a:sym typeface="+mn-ea"/>
              </a:rPr>
              <a:t>；</a:t>
            </a:r>
            <a:endParaRPr sz="2000" b="1">
              <a:solidFill>
                <a:srgbClr val="0000CC"/>
              </a:solidFill>
              <a:latin typeface="Arial" panose="020B0604020202090204" pitchFamily="34" charset="0"/>
              <a:cs typeface="Arial" panose="020B0604020202090204" pitchFamily="34" charset="0"/>
              <a:sym typeface="+mn-ea"/>
            </a:endParaRPr>
          </a:p>
          <a:p>
            <a:pPr marL="457200" indent="-457200" fontAlgn="auto">
              <a:lnSpc>
                <a:spcPct val="100000"/>
              </a:lnSpc>
              <a:spcBef>
                <a:spcPts val="0"/>
              </a:spcBef>
              <a:spcAft>
                <a:spcPts val="600"/>
              </a:spcAft>
              <a:buFont typeface="+mj-ea"/>
              <a:buAutoNum type="circleNumDbPlain"/>
            </a:pPr>
            <a:r>
              <a:rPr sz="2000" b="1">
                <a:solidFill>
                  <a:srgbClr val="0000CC"/>
                </a:solidFill>
                <a:latin typeface="Arial" panose="020B0604020202090204" pitchFamily="34" charset="0"/>
                <a:cs typeface="Arial" panose="020B0604020202090204" pitchFamily="34" charset="0"/>
                <a:sym typeface="+mn-ea"/>
              </a:rPr>
              <a:t>针对所有‘核心’课程都及格的同学，统计每一个人的平均学分绩</a:t>
            </a:r>
            <a:r>
              <a:rPr lang="zh-CN" sz="2000" b="1">
                <a:solidFill>
                  <a:srgbClr val="0000CC"/>
                </a:solidFill>
                <a:latin typeface="Arial" panose="020B0604020202090204" pitchFamily="34" charset="0"/>
                <a:cs typeface="Arial" panose="020B0604020202090204" pitchFamily="34" charset="0"/>
                <a:sym typeface="+mn-ea"/>
              </a:rPr>
              <a:t>（不含不及格课程）</a:t>
            </a:r>
            <a:r>
              <a:rPr sz="2000" b="1">
                <a:solidFill>
                  <a:srgbClr val="0000CC"/>
                </a:solidFill>
                <a:latin typeface="Arial" panose="020B0604020202090204" pitchFamily="34" charset="0"/>
                <a:cs typeface="Arial" panose="020B0604020202090204" pitchFamily="34" charset="0"/>
                <a:sym typeface="+mn-ea"/>
              </a:rPr>
              <a:t>，结果返回学号</a:t>
            </a:r>
            <a:r>
              <a:rPr lang="zh-CN" sz="2000" b="1">
                <a:solidFill>
                  <a:srgbClr val="0000CC"/>
                </a:solidFill>
                <a:latin typeface="Arial" panose="020B0604020202090204" pitchFamily="34" charset="0"/>
                <a:cs typeface="Arial" panose="020B0604020202090204" pitchFamily="34" charset="0"/>
                <a:sym typeface="+mn-ea"/>
              </a:rPr>
              <a:t>、</a:t>
            </a:r>
            <a:r>
              <a:rPr sz="2000" b="1">
                <a:solidFill>
                  <a:srgbClr val="0000CC"/>
                </a:solidFill>
                <a:latin typeface="Arial" panose="020B0604020202090204" pitchFamily="34" charset="0"/>
                <a:cs typeface="Arial" panose="020B0604020202090204" pitchFamily="34" charset="0"/>
                <a:sym typeface="+mn-ea"/>
              </a:rPr>
              <a:t>就读院系</a:t>
            </a:r>
            <a:r>
              <a:rPr lang="zh-CN" sz="2000" b="1">
                <a:solidFill>
                  <a:srgbClr val="0000CC"/>
                </a:solidFill>
                <a:latin typeface="Arial" panose="020B0604020202090204" pitchFamily="34" charset="0"/>
                <a:cs typeface="Arial" panose="020B0604020202090204" pitchFamily="34" charset="0"/>
                <a:sym typeface="+mn-ea"/>
              </a:rPr>
              <a:t>、</a:t>
            </a:r>
            <a:r>
              <a:rPr sz="2000" b="1">
                <a:solidFill>
                  <a:srgbClr val="0000CC"/>
                </a:solidFill>
                <a:latin typeface="Arial" panose="020B0604020202090204" pitchFamily="34" charset="0"/>
                <a:cs typeface="Arial" panose="020B0604020202090204" pitchFamily="34" charset="0"/>
                <a:sym typeface="+mn-ea"/>
              </a:rPr>
              <a:t>平均学分绩，并按照‘就读院系的升序’和‘平均学分绩的降序’输出结果；</a:t>
            </a:r>
            <a:endParaRPr sz="2000" b="1">
              <a:solidFill>
                <a:srgbClr val="0000CC"/>
              </a:solidFill>
              <a:latin typeface="Arial" panose="020B0604020202090204" pitchFamily="34" charset="0"/>
              <a:cs typeface="Arial" panose="020B0604020202090204" pitchFamily="34" charset="0"/>
              <a:sym typeface="+mn-ea"/>
            </a:endParaRPr>
          </a:p>
          <a:p>
            <a:pPr marL="457200" indent="-457200" fontAlgn="auto">
              <a:lnSpc>
                <a:spcPct val="100000"/>
              </a:lnSpc>
              <a:spcBef>
                <a:spcPts val="0"/>
              </a:spcBef>
              <a:spcAft>
                <a:spcPts val="600"/>
              </a:spcAft>
              <a:buFont typeface="+mj-ea"/>
              <a:buAutoNum type="circleNumDbPlain"/>
            </a:pPr>
            <a:r>
              <a:rPr lang="zh-CN" sz="2000" b="1">
                <a:solidFill>
                  <a:srgbClr val="0000CC"/>
                </a:solidFill>
                <a:latin typeface="Arial" panose="020B0604020202090204" pitchFamily="34" charset="0"/>
                <a:cs typeface="Arial" panose="020B0604020202090204" pitchFamily="34" charset="0"/>
                <a:sym typeface="+mn-ea"/>
              </a:rPr>
              <a:t>创建一个学生学习情况统计视图，视图中的属性包括：</a:t>
            </a:r>
            <a:r>
              <a:rPr sz="2000" b="1">
                <a:solidFill>
                  <a:srgbClr val="0000CC"/>
                </a:solidFill>
                <a:latin typeface="Arial" panose="020B0604020202090204" pitchFamily="34" charset="0"/>
                <a:cs typeface="Arial" panose="020B0604020202090204" pitchFamily="34" charset="0"/>
                <a:sym typeface="+mn-ea"/>
              </a:rPr>
              <a:t>学号，姓名，就读院系，</a:t>
            </a:r>
            <a:r>
              <a:rPr lang="zh-CN" sz="2000" b="1">
                <a:solidFill>
                  <a:srgbClr val="0000CC"/>
                </a:solidFill>
                <a:latin typeface="Arial" panose="020B0604020202090204" pitchFamily="34" charset="0"/>
                <a:cs typeface="Arial" panose="020B0604020202090204" pitchFamily="34" charset="0"/>
                <a:sym typeface="+mn-ea"/>
              </a:rPr>
              <a:t>已获得</a:t>
            </a:r>
            <a:r>
              <a:rPr sz="2000" b="1">
                <a:solidFill>
                  <a:srgbClr val="0000CC"/>
                </a:solidFill>
                <a:latin typeface="Arial" panose="020B0604020202090204" pitchFamily="34" charset="0"/>
                <a:cs typeface="Arial" panose="020B0604020202090204" pitchFamily="34" charset="0"/>
                <a:sym typeface="+mn-ea"/>
              </a:rPr>
              <a:t>的学分总数，‘核心’课程的平均学分绩。</a:t>
            </a:r>
            <a:endParaRPr sz="2000" b="1">
              <a:solidFill>
                <a:srgbClr val="0000CC"/>
              </a:solidFill>
              <a:latin typeface="Arial" panose="020B0604020202090204" pitchFamily="34" charset="0"/>
              <a:cs typeface="Arial" panose="020B0604020202090204" pitchFamily="34" charset="0"/>
            </a:endParaRPr>
          </a:p>
        </p:txBody>
      </p:sp>
      <p:sp>
        <p:nvSpPr>
          <p:cNvPr id="7" name="灯片编号占位符 6"/>
          <p:cNvSpPr>
            <a:spLocks noGrp="1"/>
          </p:cNvSpPr>
          <p:nvPr>
            <p:ph type="sldNum" sz="quarter" idx="12"/>
          </p:nvPr>
        </p:nvSpPr>
        <p:spPr/>
        <p:txBody>
          <a:bodyPr/>
          <a:p>
            <a:fld id="{565CE74E-AB26-4998-AD42-012C4C1AD076}" type="slidenum">
              <a:rPr lang="zh-CN" altLang="en-US" smtClean="0"/>
            </a:fld>
            <a:endParaRPr lang="zh-CN" altLang="en-US"/>
          </a:p>
        </p:txBody>
      </p:sp>
      <p:sp>
        <p:nvSpPr>
          <p:cNvPr id="2" name="页脚占位符 1"/>
          <p:cNvSpPr>
            <a:spLocks noGrp="1"/>
          </p:cNvSpPr>
          <p:nvPr>
            <p:ph type="ftr" sz="quarter" idx="11"/>
          </p:nvPr>
        </p:nvSpPr>
        <p:spPr/>
        <p:txBody>
          <a:bodyPr/>
          <a:p>
            <a:r>
              <a:rPr lang="zh-CN" altLang="en-US"/>
              <a:t>ch03_SQL语言_复习思考题</a:t>
            </a:r>
            <a:endParaRPr lang="zh-CN" altLang="en-US"/>
          </a:p>
        </p:txBody>
      </p:sp>
    </p:spTree>
  </p:cSld>
  <p:clrMapOvr>
    <a:masterClrMapping/>
  </p:clrMapOvr>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wm#"/>
  <p:tag name="KSO_WM_TEMPLATE_CATEGORY" val="custom"/>
  <p:tag name="KSO_WM_TEMPLATE_INDEX" val="20205081"/>
</p:tagLst>
</file>

<file path=ppt/tags/tag7.xml><?xml version="1.0" encoding="utf-8"?>
<p:tagLst xmlns:p="http://schemas.openxmlformats.org/presentationml/2006/main">
  <p:tag name="KSO_WM_UNIT_TABLE_BEAUTIFY" val="smartTable{9f3093d9-9100-46b4-b0df-392da00c4048}"/>
  <p:tag name="TABLE_ENDDRAG_ORIGIN_RECT" val="893*327"/>
  <p:tag name="TABLE_ENDDRAG_RECT" val="33*85*893*327"/>
</p:tagLst>
</file>

<file path=ppt/tags/tag8.xml><?xml version="1.0" encoding="utf-8"?>
<p:tagLst xmlns:p="http://schemas.openxmlformats.org/presentationml/2006/main">
  <p:tag name="KSO_WM_UNIT_TABLE_BEAUTIFY" val="smartTable{40c8786f-cc4f-4090-a604-51afc06501db}"/>
  <p:tag name="TABLE_ENDDRAG_ORIGIN_RECT" val="864*272"/>
  <p:tag name="TABLE_ENDDRAG_RECT" val="33*90*864*272"/>
</p:tagLst>
</file>

<file path=ppt/tags/tag9.xml><?xml version="1.0" encoding="utf-8"?>
<p:tagLst xmlns:p="http://schemas.openxmlformats.org/presentationml/2006/main">
  <p:tag name="commondata" val="eyJoZGlkIjoiNDM3MTJmZWYzNGY4YmRiNTYxOWVmNTczZTFmNjFmODMifQ=="/>
  <p:tag name="resource_record_key" val="{&quot;70&quot;:[3314500]}"/>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12661</Words>
  <Application>WPS 演示</Application>
  <PresentationFormat>宽屏</PresentationFormat>
  <Paragraphs>1012</Paragraphs>
  <Slides>57</Slides>
  <Notes>0</Notes>
  <HiddenSlides>0</HiddenSlides>
  <MMClips>0</MMClips>
  <ScaleCrop>false</ScaleCrop>
  <HeadingPairs>
    <vt:vector size="6" baseType="variant">
      <vt:variant>
        <vt:lpstr>已用的字体</vt:lpstr>
      </vt:variant>
      <vt:variant>
        <vt:i4>23</vt:i4>
      </vt:variant>
      <vt:variant>
        <vt:lpstr>主题</vt:lpstr>
      </vt:variant>
      <vt:variant>
        <vt:i4>1</vt:i4>
      </vt:variant>
      <vt:variant>
        <vt:lpstr>幻灯片标题</vt:lpstr>
      </vt:variant>
      <vt:variant>
        <vt:i4>57</vt:i4>
      </vt:variant>
    </vt:vector>
  </HeadingPairs>
  <TitlesOfParts>
    <vt:vector size="81" baseType="lpstr">
      <vt:lpstr>Arial</vt:lpstr>
      <vt:lpstr>宋体</vt:lpstr>
      <vt:lpstr>Wingdings</vt:lpstr>
      <vt:lpstr>楷体</vt:lpstr>
      <vt:lpstr>Wingdings</vt:lpstr>
      <vt:lpstr>微软雅黑</vt:lpstr>
      <vt:lpstr>汉仪书宋二KW</vt:lpstr>
      <vt:lpstr>Calibri</vt:lpstr>
      <vt:lpstr>Times New Roman</vt:lpstr>
      <vt:lpstr>宋体</vt:lpstr>
      <vt:lpstr>Arial Unicode MS</vt:lpstr>
      <vt:lpstr>Cambria Math</vt:lpstr>
      <vt:lpstr>Symbol</vt:lpstr>
      <vt:lpstr>Symbol</vt:lpstr>
      <vt:lpstr>Tahoma</vt:lpstr>
      <vt:lpstr>Verdana</vt:lpstr>
      <vt:lpstr>华文楷体</vt:lpstr>
      <vt:lpstr>Kingsoft Math</vt:lpstr>
      <vt:lpstr>Kingsoft Sign</vt:lpstr>
      <vt:lpstr>Verdana</vt:lpstr>
      <vt:lpstr>微软雅黑</vt:lpstr>
      <vt:lpstr>楷体</vt:lpstr>
      <vt:lpstr>DejaVu Math TeX Gyre</vt:lpstr>
      <vt:lpstr>WPS</vt:lpstr>
      <vt:lpstr>PowerPoint 演示文稿</vt:lpstr>
      <vt:lpstr>数据更新 -- 插入、修改、删除 事务处理的基本概念 空值的处理 视图</vt:lpstr>
      <vt:lpstr>插入元组 1</vt:lpstr>
      <vt:lpstr>插入元组 2</vt:lpstr>
      <vt:lpstr>插入元组 3</vt:lpstr>
      <vt:lpstr>插入元组 4</vt:lpstr>
      <vt:lpstr>插入子查询结果 1</vt:lpstr>
      <vt:lpstr>插入子查询结果 2</vt:lpstr>
      <vt:lpstr>修改数据 1</vt:lpstr>
      <vt:lpstr>修改数据 2</vt:lpstr>
      <vt:lpstr>修改数据 3 -- 带子查询的修改语句</vt:lpstr>
      <vt:lpstr>修改数据 4 -- 修改数据与完整性</vt:lpstr>
      <vt:lpstr>删除数据  1</vt:lpstr>
      <vt:lpstr>删除数据  2</vt:lpstr>
      <vt:lpstr>删除数据  3 -- 带子查询的删除语句</vt:lpstr>
      <vt:lpstr>3.6  SQL中的空值</vt:lpstr>
      <vt:lpstr>空值的处理</vt:lpstr>
      <vt:lpstr>空值的产生 1</vt:lpstr>
      <vt:lpstr>空值的产生 2</vt:lpstr>
      <vt:lpstr>空值的判断</vt:lpstr>
      <vt:lpstr>空值相关的完整性约束</vt:lpstr>
      <vt:lpstr>空值的算术运算、比较运算和逻辑运算 1</vt:lpstr>
      <vt:lpstr>空值的算术运算、比较运算和逻辑运算 2</vt:lpstr>
      <vt:lpstr>空值的算术运算、比较运算和逻辑运算 3</vt:lpstr>
      <vt:lpstr>3.7  视图</vt:lpstr>
      <vt:lpstr>视图</vt:lpstr>
      <vt:lpstr>定义视图-建立视图 1</vt:lpstr>
      <vt:lpstr>定义视图-建立视图 2</vt:lpstr>
      <vt:lpstr>定义视图-建立视图 3</vt:lpstr>
      <vt:lpstr>定义视图-建立视图 4</vt:lpstr>
      <vt:lpstr>WITH CHECK OPTION 示例</vt:lpstr>
      <vt:lpstr>定义视图 - 行列子集视图</vt:lpstr>
      <vt:lpstr>定义视图-建立视图 5</vt:lpstr>
      <vt:lpstr>定义视图-建立视图 6</vt:lpstr>
      <vt:lpstr>定义视图-建立视图 7</vt:lpstr>
      <vt:lpstr>定义视图-删除视图 1</vt:lpstr>
      <vt:lpstr>定义视图-删除视图 2</vt:lpstr>
      <vt:lpstr>视图上的操作</vt:lpstr>
      <vt:lpstr>查询视图 1</vt:lpstr>
      <vt:lpstr>查询视图 2</vt:lpstr>
      <vt:lpstr>查询视图 3</vt:lpstr>
      <vt:lpstr>更新视图 1</vt:lpstr>
      <vt:lpstr>更新视图 2</vt:lpstr>
      <vt:lpstr>更新视图 3</vt:lpstr>
      <vt:lpstr>更新视图 4</vt:lpstr>
      <vt:lpstr>更新视图 5</vt:lpstr>
      <vt:lpstr>视图的作用 - 视图能够简化用户的操作</vt:lpstr>
      <vt:lpstr>视图的作用 - 视图使用户能以多种角度看待同一数据</vt:lpstr>
      <vt:lpstr>视图的作用 - 视图对重构数据库提供了一定程度的逻辑独立性</vt:lpstr>
      <vt:lpstr>视图的作用 - 视图能够对机密数据提供安全保护</vt:lpstr>
      <vt:lpstr>视图的作用 - 适当的利用视图可以更清晰的表达查询</vt:lpstr>
      <vt:lpstr>复习思考题 1</vt:lpstr>
      <vt:lpstr>复习思考题 2</vt:lpstr>
      <vt:lpstr>复习思考题 3</vt:lpstr>
      <vt:lpstr>复习思考题 4</vt:lpstr>
      <vt:lpstr>复习思考题 5</vt:lpstr>
      <vt:lpstr>复习思考题 6</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pc403</dc:creator>
  <cp:lastModifiedBy>胡伟</cp:lastModifiedBy>
  <cp:revision>281</cp:revision>
  <dcterms:created xsi:type="dcterms:W3CDTF">2026-04-19T01:00:33Z</dcterms:created>
  <dcterms:modified xsi:type="dcterms:W3CDTF">2026-04-19T01:00:33Z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CDCED74378D44AFD827170DA823760BE_13</vt:lpwstr>
  </property>
  <property fmtid="{D5CDD505-2E9C-101B-9397-08002B2CF9AE}" pid="3" name="KSOProductBuildVer">
    <vt:lpwstr>2052-12.1.24031.24031</vt:lpwstr>
  </property>
</Properties>
</file>